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6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C5-E06 · Area-weighted wall observer and dimensionless time</a:t>
            </a:r>
          </a:p>
        </p:txBody>
      </p:sp>
      <p:sp>
        <p:nvSpPr>
          <p:cNvPr id="3" name="C5-E06 ellipse 1" descr="sci-ppt:o001"/>
          <p:cNvSpPr/>
          <p:nvPr/>
        </p:nvSpPr>
        <p:spPr>
          <a:xfrm>
            <a:off x="1188719" y="1463040"/>
            <a:ext cx="3840480" cy="3840480"/>
          </a:xfrm>
          <a:prstGeom prst="ellipse">
            <a:avLst/>
          </a:prstGeom>
          <a:solidFill>
            <a:srgbClr val="213E4B"/>
          </a:solidFill>
          <a:ln w="3175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06 ellipse 2" descr="sci-ppt:o002"/>
          <p:cNvSpPr/>
          <p:nvPr/>
        </p:nvSpPr>
        <p:spPr>
          <a:xfrm>
            <a:off x="1918411" y="2192731"/>
            <a:ext cx="2381097" cy="2381097"/>
          </a:xfrm>
          <a:prstGeom prst="ellipse">
            <a:avLst/>
          </a:prstGeom>
          <a:solidFill>
            <a:srgbClr val="2B5560"/>
          </a:solidFill>
          <a:ln w="3175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5-E06 ellipse 3" descr="sci-ppt:o003"/>
          <p:cNvSpPr/>
          <p:nvPr/>
        </p:nvSpPr>
        <p:spPr>
          <a:xfrm>
            <a:off x="3054096" y="3328416"/>
            <a:ext cx="109728" cy="109728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5-E06 arrow 4" descr="sci-ppt:o004"/>
          <p:cNvCxnSpPr/>
          <p:nvPr/>
        </p:nvCxnSpPr>
        <p:spPr>
          <a:xfrm flipH="1">
            <a:off x="4306303" y="2442362"/>
            <a:ext cx="432374" cy="249631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5-E06 arrow 5" descr="sci-ppt:o005"/>
          <p:cNvCxnSpPr/>
          <p:nvPr/>
        </p:nvCxnSpPr>
        <p:spPr>
          <a:xfrm>
            <a:off x="1479242" y="2442362"/>
            <a:ext cx="432374" cy="249631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5-E06 arrow 6" descr="sci-ppt:o006"/>
          <p:cNvCxnSpPr/>
          <p:nvPr/>
        </p:nvCxnSpPr>
        <p:spPr>
          <a:xfrm flipV="1">
            <a:off x="3108959" y="4765852"/>
            <a:ext cx="0" cy="499263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5-E06 line 7" descr="sci-ppt:o007"/>
          <p:cNvCxnSpPr/>
          <p:nvPr/>
        </p:nvCxnSpPr>
        <p:spPr>
          <a:xfrm>
            <a:off x="3108960" y="3383280"/>
            <a:ext cx="1920240" cy="0"/>
          </a:xfrm>
          <a:prstGeom prst="line">
            <a:avLst/>
          </a:prstGeom>
          <a:ln w="17780">
            <a:solidFill>
              <a:srgbClr val="B4C7D2"/>
            </a:solidFill>
          </a:ln>
          <a:effectLst/>
        </p:spPr>
      </p:cxnSp>
      <p:sp>
        <p:nvSpPr>
          <p:cNvPr id="10" name="C5-E06 text 8" descr="sci-ppt:o008"/>
          <p:cNvSpPr txBox="1"/>
          <p:nvPr/>
        </p:nvSpPr>
        <p:spPr>
          <a:xfrm>
            <a:off x="3566160" y="3035808"/>
            <a:ext cx="109728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4C7D2"/>
                </a:solidFill>
                <a:latin typeface="Arial"/>
              </a:rPr>
              <a:t>a</a:t>
            </a:r>
          </a:p>
        </p:txBody>
      </p:sp>
      <p:sp>
        <p:nvSpPr>
          <p:cNvPr id="11" name="C5-E06 text 9" descr="sci-ppt:o009"/>
          <p:cNvSpPr txBox="1"/>
          <p:nvPr/>
        </p:nvSpPr>
        <p:spPr>
          <a:xfrm>
            <a:off x="2148839" y="3794760"/>
            <a:ext cx="109728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core</a:t>
            </a:r>
          </a:p>
        </p:txBody>
      </p:sp>
      <p:sp>
        <p:nvSpPr>
          <p:cNvPr id="12" name="C5-E06 text 10" descr="sci-ppt:o010"/>
          <p:cNvSpPr txBox="1"/>
          <p:nvPr/>
        </p:nvSpPr>
        <p:spPr>
          <a:xfrm>
            <a:off x="457200" y="914400"/>
            <a:ext cx="53035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Wall z = 0 seen from above</a:t>
            </a:r>
          </a:p>
        </p:txBody>
      </p:sp>
      <p:sp>
        <p:nvSpPr>
          <p:cNvPr id="13" name="C5-E06 text 11" descr="sci-ppt:o011"/>
          <p:cNvSpPr txBox="1"/>
          <p:nvPr/>
        </p:nvSpPr>
        <p:spPr>
          <a:xfrm>
            <a:off x="6675120" y="100584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Observer</a:t>
            </a:r>
          </a:p>
        </p:txBody>
      </p:sp>
      <p:sp>
        <p:nvSpPr>
          <p:cNvPr id="14" name="C5-E06 text 12" descr="sci-ppt:o012"/>
          <p:cNvSpPr txBox="1"/>
          <p:nvPr/>
        </p:nvSpPr>
        <p:spPr>
          <a:xfrm>
            <a:off x="6675120" y="1417320"/>
            <a:ext cx="5120640" cy="8229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p̄_R = (2 / R²) ∫₀ᴿ p r dr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weight 2r dr / R² is the disk area element</a:t>
            </a:r>
          </a:p>
        </p:txBody>
      </p:sp>
      <p:sp>
        <p:nvSpPr>
          <p:cNvPr id="15" name="C5-E06 text 13" descr="sci-ppt:o013"/>
          <p:cNvSpPr txBox="1"/>
          <p:nvPr/>
        </p:nvSpPr>
        <p:spPr>
          <a:xfrm>
            <a:off x="6675120" y="2468880"/>
            <a:ext cx="512064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R = a: full sensor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R = a/2: centre</a:t>
            </a:r>
          </a:p>
        </p:txBody>
      </p:sp>
      <p:sp>
        <p:nvSpPr>
          <p:cNvPr id="16" name="C5-E06 text 14" descr="sci-ppt:o014"/>
          <p:cNvSpPr txBox="1"/>
          <p:nvPr/>
        </p:nvSpPr>
        <p:spPr>
          <a:xfrm>
            <a:off x="6675120" y="3154680"/>
            <a:ext cx="5029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Edge release</a:t>
            </a:r>
          </a:p>
        </p:txBody>
      </p:sp>
      <p:sp>
        <p:nvSpPr>
          <p:cNvPr id="17" name="C5-E06 text 15" descr="sci-ppt:o015"/>
          <p:cNvSpPr txBox="1"/>
          <p:nvPr/>
        </p:nvSpPr>
        <p:spPr>
          <a:xfrm>
            <a:off x="6675120" y="3566160"/>
            <a:ext cx="5120640" cy="10972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Front moves inward from r = a at c_0.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At τ = c_0 t / a the annulus a(1−τ) &lt; r ≤ a has relaxed.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Area fraction f_rel = 1 − (1 − τ)².</a:t>
            </a:r>
          </a:p>
        </p:txBody>
      </p:sp>
      <p:sp>
        <p:nvSpPr>
          <p:cNvPr id="18" name="C5-E06 rect 16" descr="sci-ppt:o016"/>
          <p:cNvSpPr/>
          <p:nvPr/>
        </p:nvSpPr>
        <p:spPr>
          <a:xfrm>
            <a:off x="6675120" y="4937760"/>
            <a:ext cx="5029200" cy="91440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5-E06 text 17" descr="sci-ppt:o017"/>
          <p:cNvSpPr txBox="1"/>
          <p:nvPr/>
        </p:nvSpPr>
        <p:spPr>
          <a:xfrm>
            <a:off x="6766560" y="4983480"/>
            <a:ext cx="4846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At the peak: τ = 0.0472, f_rel = 0.0921</a:t>
            </a:r>
          </a:p>
        </p:txBody>
      </p:sp>
      <p:sp>
        <p:nvSpPr>
          <p:cNvPr id="20" name="C5-E06 text 18" descr="sci-ppt:o018"/>
          <p:cNvSpPr txBox="1"/>
          <p:nvPr/>
        </p:nvSpPr>
        <p:spPr>
          <a:xfrm>
            <a:off x="6766560" y="5394960"/>
            <a:ext cx="48463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Full release would give 0.908 p_H</a:t>
            </a:r>
          </a:p>
        </p:txBody>
      </p:sp>
      <p:sp>
        <p:nvSpPr>
          <p:cNvPr id="21" name="C5-E06 text 19" descr="sci-ppt:o019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Schematic; annulus width is exaggerated for legibility.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