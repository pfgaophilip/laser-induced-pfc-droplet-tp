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C5-E22 · Reference formulas: validity range and limits of the verification</a:t>
            </a:r>
          </a:p>
        </p:txBody>
      </p:sp>
      <p:cxnSp>
        <p:nvCxnSpPr>
          <p:cNvPr id="3" name="C5-E22 line 1" descr="sci-ppt:o001"/>
          <p:cNvCxnSpPr/>
          <p:nvPr/>
        </p:nvCxnSpPr>
        <p:spPr>
          <a:xfrm>
            <a:off x="914400" y="2377440"/>
            <a:ext cx="103327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5-E22 line 2" descr="sci-ppt:o002"/>
          <p:cNvCxnSpPr/>
          <p:nvPr/>
        </p:nvCxnSpPr>
        <p:spPr>
          <a:xfrm>
            <a:off x="914400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5" name="C5-E22 text 3" descr="sci-ppt:o003"/>
          <p:cNvSpPr txBox="1"/>
          <p:nvPr/>
        </p:nvSpPr>
        <p:spPr>
          <a:xfrm>
            <a:off x="548640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" name="C5-E22 line 4" descr="sci-ppt:o004"/>
          <p:cNvCxnSpPr/>
          <p:nvPr/>
        </p:nvCxnSpPr>
        <p:spPr>
          <a:xfrm>
            <a:off x="2390502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" name="C5-E22 text 5" descr="sci-ppt:o005"/>
          <p:cNvSpPr txBox="1"/>
          <p:nvPr/>
        </p:nvSpPr>
        <p:spPr>
          <a:xfrm>
            <a:off x="2024742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0.02</a:t>
            </a:r>
          </a:p>
        </p:txBody>
      </p:sp>
      <p:cxnSp>
        <p:nvCxnSpPr>
          <p:cNvPr id="8" name="C5-E22 line 6" descr="sci-ppt:o006"/>
          <p:cNvCxnSpPr/>
          <p:nvPr/>
        </p:nvCxnSpPr>
        <p:spPr>
          <a:xfrm>
            <a:off x="3866605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9" name="C5-E22 text 7" descr="sci-ppt:o007"/>
          <p:cNvSpPr txBox="1"/>
          <p:nvPr/>
        </p:nvSpPr>
        <p:spPr>
          <a:xfrm>
            <a:off x="3500845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0.04</a:t>
            </a:r>
          </a:p>
        </p:txBody>
      </p:sp>
      <p:cxnSp>
        <p:nvCxnSpPr>
          <p:cNvPr id="10" name="C5-E22 line 8" descr="sci-ppt:o008"/>
          <p:cNvCxnSpPr/>
          <p:nvPr/>
        </p:nvCxnSpPr>
        <p:spPr>
          <a:xfrm>
            <a:off x="5342708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1" name="C5-E22 text 9" descr="sci-ppt:o009"/>
          <p:cNvSpPr txBox="1"/>
          <p:nvPr/>
        </p:nvSpPr>
        <p:spPr>
          <a:xfrm>
            <a:off x="4976948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0.06</a:t>
            </a:r>
          </a:p>
        </p:txBody>
      </p:sp>
      <p:cxnSp>
        <p:nvCxnSpPr>
          <p:cNvPr id="12" name="C5-E22 line 10" descr="sci-ppt:o010"/>
          <p:cNvCxnSpPr/>
          <p:nvPr/>
        </p:nvCxnSpPr>
        <p:spPr>
          <a:xfrm>
            <a:off x="6818811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3" name="C5-E22 text 11" descr="sci-ppt:o011"/>
          <p:cNvSpPr txBox="1"/>
          <p:nvPr/>
        </p:nvSpPr>
        <p:spPr>
          <a:xfrm>
            <a:off x="6453051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0.08</a:t>
            </a:r>
          </a:p>
        </p:txBody>
      </p:sp>
      <p:cxnSp>
        <p:nvCxnSpPr>
          <p:cNvPr id="14" name="C5-E22 line 12" descr="sci-ppt:o012"/>
          <p:cNvCxnSpPr/>
          <p:nvPr/>
        </p:nvCxnSpPr>
        <p:spPr>
          <a:xfrm>
            <a:off x="8294914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5" name="C5-E22 text 13" descr="sci-ppt:o013"/>
          <p:cNvSpPr txBox="1"/>
          <p:nvPr/>
        </p:nvSpPr>
        <p:spPr>
          <a:xfrm>
            <a:off x="7929154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6" name="C5-E22 line 14" descr="sci-ppt:o014"/>
          <p:cNvCxnSpPr/>
          <p:nvPr/>
        </p:nvCxnSpPr>
        <p:spPr>
          <a:xfrm>
            <a:off x="9771017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7" name="C5-E22 text 15" descr="sci-ppt:o015"/>
          <p:cNvSpPr txBox="1"/>
          <p:nvPr/>
        </p:nvSpPr>
        <p:spPr>
          <a:xfrm>
            <a:off x="9405257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0.12</a:t>
            </a:r>
          </a:p>
        </p:txBody>
      </p:sp>
      <p:cxnSp>
        <p:nvCxnSpPr>
          <p:cNvPr id="18" name="C5-E22 line 16" descr="sci-ppt:o016"/>
          <p:cNvCxnSpPr/>
          <p:nvPr/>
        </p:nvCxnSpPr>
        <p:spPr>
          <a:xfrm>
            <a:off x="11247120" y="2377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9" name="C5-E22 text 17" descr="sci-ppt:o017"/>
          <p:cNvSpPr txBox="1"/>
          <p:nvPr/>
        </p:nvSpPr>
        <p:spPr>
          <a:xfrm>
            <a:off x="10881360" y="2468880"/>
            <a:ext cx="7315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0.14</a:t>
            </a:r>
          </a:p>
        </p:txBody>
      </p:sp>
      <p:sp>
        <p:nvSpPr>
          <p:cNvPr id="20" name="C5-E22 text 18" descr="sci-ppt:o018"/>
          <p:cNvSpPr txBox="1"/>
          <p:nvPr/>
        </p:nvSpPr>
        <p:spPr>
          <a:xfrm>
            <a:off x="914400" y="2743200"/>
            <a:ext cx="103327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Impact Mach number M = U / c_0</a:t>
            </a:r>
          </a:p>
        </p:txBody>
      </p:sp>
      <p:sp>
        <p:nvSpPr>
          <p:cNvPr id="21" name="C5-E22 rect 19" descr="sci-ppt:o019"/>
          <p:cNvSpPr/>
          <p:nvPr/>
        </p:nvSpPr>
        <p:spPr>
          <a:xfrm>
            <a:off x="3202359" y="1874519"/>
            <a:ext cx="4502113" cy="45720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5-E22 text 20" descr="sci-ppt:o020"/>
          <p:cNvSpPr txBox="1"/>
          <p:nvPr/>
        </p:nvSpPr>
        <p:spPr>
          <a:xfrm>
            <a:off x="3202359" y="1920240"/>
            <a:ext cx="4502113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tested: 0.031 to 0.092</a:t>
            </a:r>
          </a:p>
        </p:txBody>
      </p:sp>
      <p:cxnSp>
        <p:nvCxnSpPr>
          <p:cNvPr id="23" name="C5-E22 line 21" descr="sci-ppt:o021"/>
          <p:cNvCxnSpPr/>
          <p:nvPr/>
        </p:nvCxnSpPr>
        <p:spPr>
          <a:xfrm>
            <a:off x="5409133" y="1645920"/>
            <a:ext cx="0" cy="228599"/>
          </a:xfrm>
          <a:prstGeom prst="line">
            <a:avLst/>
          </a:prstGeom>
          <a:ln w="31750">
            <a:solidFill>
              <a:srgbClr val="F2B880"/>
            </a:solidFill>
          </a:ln>
          <a:effectLst/>
        </p:spPr>
      </p:cxnSp>
      <p:sp>
        <p:nvSpPr>
          <p:cNvPr id="24" name="C5-E22 text 22" descr="sci-ppt:o022"/>
          <p:cNvSpPr txBox="1"/>
          <p:nvPr/>
        </p:nvSpPr>
        <p:spPr>
          <a:xfrm>
            <a:off x="4494733" y="128016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nominal 0.0609</a:t>
            </a:r>
          </a:p>
        </p:txBody>
      </p:sp>
      <p:sp>
        <p:nvSpPr>
          <p:cNvPr id="25" name="C5-E22 text 23" descr="sci-ppt:o023"/>
          <p:cNvSpPr txBox="1"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Speed axis</a:t>
            </a:r>
          </a:p>
        </p:txBody>
      </p:sp>
      <p:sp>
        <p:nvSpPr>
          <p:cNvPr id="26" name="C5-E22 text 24" descr="sci-ppt:o024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U = 50 m/s → M = 0.031</a:t>
            </a:r>
          </a:p>
        </p:txBody>
      </p:sp>
      <p:sp>
        <p:nvSpPr>
          <p:cNvPr id="27" name="C5-E22 text 25" descr="sci-ppt:o025"/>
          <p:cNvSpPr txBox="1"/>
          <p:nvPr/>
        </p:nvSpPr>
        <p:spPr>
          <a:xfrm>
            <a:off x="6790073" y="3063240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U = 150 m/s → M = 0.092</a:t>
            </a:r>
          </a:p>
        </p:txBody>
      </p:sp>
      <p:sp>
        <p:nvSpPr>
          <p:cNvPr id="28" name="C5-E22 rect 26" descr="sci-ppt:o026"/>
          <p:cNvSpPr/>
          <p:nvPr/>
        </p:nvSpPr>
        <p:spPr>
          <a:xfrm>
            <a:off x="731520" y="3657600"/>
            <a:ext cx="5394960" cy="237744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5-E22 text 27" descr="sci-ppt:o027"/>
          <p:cNvSpPr txBox="1"/>
          <p:nvPr/>
        </p:nvSpPr>
        <p:spPr>
          <a:xfrm>
            <a:off x="868680" y="37033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Inside the model</a:t>
            </a:r>
          </a:p>
        </p:txBody>
      </p:sp>
      <p:sp>
        <p:nvSpPr>
          <p:cNvPr id="30" name="C5-E22 text 28" descr="sci-ppt:o028"/>
          <p:cNvSpPr txBox="1"/>
          <p:nvPr/>
        </p:nvSpPr>
        <p:spPr>
          <a:xfrm>
            <a:off x="914400" y="41605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Liquid only, barotropic stiffened-gas law</a:t>
            </a:r>
          </a:p>
        </p:txBody>
      </p:sp>
      <p:sp>
        <p:nvSpPr>
          <p:cNvPr id="31" name="C5-E22 text 29" descr="sci-ppt:o029"/>
          <p:cNvSpPr txBox="1"/>
          <p:nvPr/>
        </p:nvSpPr>
        <p:spPr>
          <a:xfrm>
            <a:off x="914400" y="46177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Rigid flat slip wall, free jet side</a:t>
            </a:r>
          </a:p>
        </p:txBody>
      </p:sp>
      <p:sp>
        <p:nvSpPr>
          <p:cNvPr id="32" name="C5-E22 text 30" descr="sci-ppt:o030"/>
          <p:cNvSpPr txBox="1"/>
          <p:nvPr/>
        </p:nvSpPr>
        <p:spPr>
          <a:xfrm>
            <a:off x="914400" y="50749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First arrival, τ = c_0 t / a ≤ 1</a:t>
            </a:r>
          </a:p>
        </p:txBody>
      </p:sp>
      <p:sp>
        <p:nvSpPr>
          <p:cNvPr id="33" name="C5-E22 text 31" descr="sci-ppt:o031"/>
          <p:cNvSpPr txBox="1"/>
          <p:nvPr/>
        </p:nvSpPr>
        <p:spPr>
          <a:xfrm>
            <a:off x="914400" y="55321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Jet radius 0.5 to 2 µm</a:t>
            </a:r>
          </a:p>
        </p:txBody>
      </p:sp>
      <p:sp>
        <p:nvSpPr>
          <p:cNvPr id="34" name="C5-E22 rect 32" descr="sci-ppt:o032"/>
          <p:cNvSpPr/>
          <p:nvPr/>
        </p:nvSpPr>
        <p:spPr>
          <a:xfrm>
            <a:off x="6400800" y="3657600"/>
            <a:ext cx="5394960" cy="237744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5-E22 text 33" descr="sci-ppt:o033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Outside the model</a:t>
            </a:r>
          </a:p>
        </p:txBody>
      </p:sp>
      <p:sp>
        <p:nvSpPr>
          <p:cNvPr id="36" name="C5-E22 text 34" descr="sci-ppt:o034"/>
          <p:cNvSpPr txBox="1"/>
          <p:nvPr/>
        </p:nvSpPr>
        <p:spPr>
          <a:xfrm>
            <a:off x="6583680" y="41605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Gas cushion, splash, cavitation</a:t>
            </a:r>
          </a:p>
        </p:txBody>
      </p:sp>
      <p:sp>
        <p:nvSpPr>
          <p:cNvPr id="37" name="C5-E22 text 35" descr="sci-ppt:o035"/>
          <p:cNvSpPr txBox="1"/>
          <p:nvPr/>
        </p:nvSpPr>
        <p:spPr>
          <a:xfrm>
            <a:off x="6583680" y="46177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Elastic wall; pressure after τ ≈ 1</a:t>
            </a:r>
          </a:p>
        </p:txBody>
      </p:sp>
      <p:sp>
        <p:nvSpPr>
          <p:cNvPr id="38" name="C5-E22 text 36" descr="sci-ppt:o036"/>
          <p:cNvSpPr txBox="1"/>
          <p:nvPr/>
        </p:nvSpPr>
        <p:spPr>
          <a:xfrm>
            <a:off x="6583680" y="50749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Bubble-to-jet physics upstream</a:t>
            </a:r>
          </a:p>
        </p:txBody>
      </p:sp>
      <p:sp>
        <p:nvSpPr>
          <p:cNvPr id="39" name="C5-E22 text 37" descr="sci-ppt:o037"/>
          <p:cNvSpPr txBox="1"/>
          <p:nvPr/>
        </p:nvSpPr>
        <p:spPr>
          <a:xfrm>
            <a:off x="6583680" y="5532120"/>
            <a:ext cx="51206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•  Any experiment: not established</a:t>
            </a:r>
          </a:p>
        </p:txBody>
      </p:sp>
      <p:sp>
        <p:nvSpPr>
          <p:cNvPr id="40" name="C5-E22 text 38" descr="sci-ppt:o03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Ranges taken from the five sensitivity cases and the model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