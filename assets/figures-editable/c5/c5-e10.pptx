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0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C5-E10 · One-dimensional conservative equations of the reference solver</a:t>
            </a:r>
          </a:p>
        </p:txBody>
      </p:sp>
      <p:cxnSp>
        <p:nvCxnSpPr>
          <p:cNvPr id="3" name="C5-E10 line 1" descr="sci-ppt:o001"/>
          <p:cNvCxnSpPr/>
          <p:nvPr/>
        </p:nvCxnSpPr>
        <p:spPr>
          <a:xfrm>
            <a:off x="1463040" y="530352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0 line 2" descr="sci-ppt:o002"/>
          <p:cNvCxnSpPr/>
          <p:nvPr/>
        </p:nvCxnSpPr>
        <p:spPr>
          <a:xfrm>
            <a:off x="146304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0 line 3" descr="sci-ppt:o003"/>
          <p:cNvCxnSpPr/>
          <p:nvPr/>
        </p:nvCxnSpPr>
        <p:spPr>
          <a:xfrm>
            <a:off x="14630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0 text 4" descr="sci-ppt:o004"/>
          <p:cNvSpPr txBox="1"/>
          <p:nvPr/>
        </p:nvSpPr>
        <p:spPr>
          <a:xfrm>
            <a:off x="10058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0 line 5" descr="sci-ppt:o005"/>
          <p:cNvCxnSpPr/>
          <p:nvPr/>
        </p:nvCxnSpPr>
        <p:spPr>
          <a:xfrm>
            <a:off x="35966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0 text 6" descr="sci-ppt:o006"/>
          <p:cNvSpPr txBox="1"/>
          <p:nvPr/>
        </p:nvSpPr>
        <p:spPr>
          <a:xfrm>
            <a:off x="31394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9" name="C5-E10 line 7" descr="sci-ppt:o007"/>
          <p:cNvCxnSpPr/>
          <p:nvPr/>
        </p:nvCxnSpPr>
        <p:spPr>
          <a:xfrm>
            <a:off x="573023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0 text 8" descr="sci-ppt:o008"/>
          <p:cNvSpPr txBox="1"/>
          <p:nvPr/>
        </p:nvSpPr>
        <p:spPr>
          <a:xfrm>
            <a:off x="527303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5-E10 line 9" descr="sci-ppt:o009"/>
          <p:cNvCxnSpPr/>
          <p:nvPr/>
        </p:nvCxnSpPr>
        <p:spPr>
          <a:xfrm>
            <a:off x="7863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0 text 10" descr="sci-ppt:o010"/>
          <p:cNvSpPr txBox="1"/>
          <p:nvPr/>
        </p:nvSpPr>
        <p:spPr>
          <a:xfrm>
            <a:off x="74066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3" name="C5-E10 line 11" descr="sci-ppt:o011"/>
          <p:cNvCxnSpPr/>
          <p:nvPr/>
        </p:nvCxnSpPr>
        <p:spPr>
          <a:xfrm>
            <a:off x="139903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10 line 12" descr="sci-ppt:o012"/>
          <p:cNvCxnSpPr/>
          <p:nvPr/>
        </p:nvCxnSpPr>
        <p:spPr>
          <a:xfrm>
            <a:off x="1463040" y="53035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C5-E10 text 13" descr="sci-ppt:o013"/>
          <p:cNvSpPr txBox="1"/>
          <p:nvPr/>
        </p:nvSpPr>
        <p:spPr>
          <a:xfrm>
            <a:off x="68580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6" name="C5-E10 line 14" descr="sci-ppt:o014"/>
          <p:cNvCxnSpPr/>
          <p:nvPr/>
        </p:nvCxnSpPr>
        <p:spPr>
          <a:xfrm>
            <a:off x="1399032" y="42748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10 line 15" descr="sci-ppt:o015"/>
          <p:cNvCxnSpPr/>
          <p:nvPr/>
        </p:nvCxnSpPr>
        <p:spPr>
          <a:xfrm>
            <a:off x="1463040" y="42748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8" name="C5-E10 text 16" descr="sci-ppt:o016"/>
          <p:cNvSpPr txBox="1"/>
          <p:nvPr/>
        </p:nvSpPr>
        <p:spPr>
          <a:xfrm>
            <a:off x="685800" y="41468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9" name="C5-E10 line 17" descr="sci-ppt:o017"/>
          <p:cNvCxnSpPr/>
          <p:nvPr/>
        </p:nvCxnSpPr>
        <p:spPr>
          <a:xfrm>
            <a:off x="1399032" y="3246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10 line 18" descr="sci-ppt:o018"/>
          <p:cNvCxnSpPr/>
          <p:nvPr/>
        </p:nvCxnSpPr>
        <p:spPr>
          <a:xfrm>
            <a:off x="1463040" y="32461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5-E10 text 19" descr="sci-ppt:o019"/>
          <p:cNvSpPr txBox="1"/>
          <p:nvPr/>
        </p:nvSpPr>
        <p:spPr>
          <a:xfrm>
            <a:off x="685800" y="31181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2" name="C5-E10 line 20" descr="sci-ppt:o020"/>
          <p:cNvCxnSpPr/>
          <p:nvPr/>
        </p:nvCxnSpPr>
        <p:spPr>
          <a:xfrm>
            <a:off x="1399032" y="22174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0 line 21" descr="sci-ppt:o021"/>
          <p:cNvCxnSpPr/>
          <p:nvPr/>
        </p:nvCxnSpPr>
        <p:spPr>
          <a:xfrm>
            <a:off x="1463040" y="22174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5-E10 text 22" descr="sci-ppt:o022"/>
          <p:cNvSpPr txBox="1"/>
          <p:nvPr/>
        </p:nvSpPr>
        <p:spPr>
          <a:xfrm>
            <a:off x="685800" y="20894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25" name="C5-E10 line 23" descr="sci-ppt:o023"/>
          <p:cNvCxnSpPr/>
          <p:nvPr/>
        </p:nvCxnSpPr>
        <p:spPr>
          <a:xfrm>
            <a:off x="139903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5-E10 line 24" descr="sci-ppt:o024"/>
          <p:cNvCxnSpPr/>
          <p:nvPr/>
        </p:nvCxnSpPr>
        <p:spPr>
          <a:xfrm>
            <a:off x="1463040" y="1188719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C5-E10 text 25" descr="sci-ppt:o025"/>
          <p:cNvSpPr txBox="1"/>
          <p:nvPr/>
        </p:nvSpPr>
        <p:spPr>
          <a:xfrm>
            <a:off x="68580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28" name="C5-E10 text 26" descr="sci-ppt:o026"/>
          <p:cNvSpPr txBox="1"/>
          <p:nvPr/>
        </p:nvSpPr>
        <p:spPr>
          <a:xfrm>
            <a:off x="1463040" y="5650992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29" name="C5-E10 text 27" descr="sci-ppt:o027"/>
          <p:cNvSpPr txBox="1"/>
          <p:nvPr/>
        </p:nvSpPr>
        <p:spPr>
          <a:xfrm>
            <a:off x="59436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z (µm)</a:t>
            </a:r>
          </a:p>
        </p:txBody>
      </p:sp>
      <p:sp>
        <p:nvSpPr>
          <p:cNvPr id="30" name="C5-E10 polygon 28" descr="sci-ppt:o028"/>
          <p:cNvSpPr/>
          <p:nvPr/>
        </p:nvSpPr>
        <p:spPr>
          <a:xfrm>
            <a:off x="1463040" y="1188720"/>
            <a:ext cx="6400800" cy="4114800"/>
          </a:xfrm>
          <a:custGeom>
            <a:avLst/>
            <a:gdLst/>
            <a:ahLst/>
            <a:cxnLst/>
            <a:rect l="l" t="t" r="r" b="b"/>
            <a:pathLst>
              <a:path w="6400800" h="4114800">
                <a:moveTo>
                  <a:pt x="0" y="4114800"/>
                </a:moveTo>
                <a:lnTo>
                  <a:pt x="5135455" y="0"/>
                </a:lnTo>
                <a:lnTo>
                  <a:pt x="6400800" y="0"/>
                </a:lnTo>
                <a:lnTo>
                  <a:pt x="6400800" y="4114800"/>
                </a:lnTo>
                <a:close/>
              </a:path>
            </a:pathLst>
          </a:custGeom>
          <a:solidFill>
            <a:srgbClr val="2B5560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5-E10 polygon 29" descr="sci-ppt:o029"/>
          <p:cNvSpPr/>
          <p:nvPr/>
        </p:nvSpPr>
        <p:spPr>
          <a:xfrm>
            <a:off x="1463040" y="1188720"/>
            <a:ext cx="5135455" cy="4114800"/>
          </a:xfrm>
          <a:custGeom>
            <a:avLst/>
            <a:gdLst/>
            <a:ahLst/>
            <a:cxnLst/>
            <a:rect l="l" t="t" r="r" b="b"/>
            <a:pathLst>
              <a:path w="5135455" h="4114800">
                <a:moveTo>
                  <a:pt x="0" y="4114800"/>
                </a:moveTo>
                <a:lnTo>
                  <a:pt x="5135455" y="0"/>
                </a:lnTo>
                <a:lnTo>
                  <a:pt x="0" y="0"/>
                </a:lnTo>
                <a:close/>
              </a:path>
            </a:pathLst>
          </a:custGeom>
          <a:solidFill>
            <a:srgbClr val="213E4B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5-E10 line 30" descr="sci-ppt:o030"/>
          <p:cNvCxnSpPr/>
          <p:nvPr/>
        </p:nvCxnSpPr>
        <p:spPr>
          <a:xfrm flipV="1">
            <a:off x="1463040" y="1188720"/>
            <a:ext cx="5135455" cy="4114800"/>
          </a:xfrm>
          <a:prstGeom prst="line">
            <a:avLst/>
          </a:prstGeom>
          <a:ln w="44450">
            <a:solidFill>
              <a:srgbClr val="F2B880"/>
            </a:solidFill>
          </a:ln>
          <a:effectLst/>
        </p:spPr>
      </p:cxnSp>
      <p:cxnSp>
        <p:nvCxnSpPr>
          <p:cNvPr id="33" name="C5-E10 line 31" descr="sci-ppt:o031"/>
          <p:cNvCxnSpPr/>
          <p:nvPr/>
        </p:nvCxnSpPr>
        <p:spPr>
          <a:xfrm>
            <a:off x="1463040" y="1188720"/>
            <a:ext cx="640080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sp>
        <p:nvSpPr>
          <p:cNvPr id="34" name="C5-E10 text 32" descr="sci-ppt:o032"/>
          <p:cNvSpPr txBox="1"/>
          <p:nvPr/>
        </p:nvSpPr>
        <p:spPr>
          <a:xfrm>
            <a:off x="1554480" y="123444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inflow boundary z = H</a:t>
            </a:r>
          </a:p>
        </p:txBody>
      </p:sp>
      <p:sp>
        <p:nvSpPr>
          <p:cNvPr id="35" name="C5-E10 text 33" descr="sci-ppt:o033"/>
          <p:cNvSpPr txBox="1"/>
          <p:nvPr/>
        </p:nvSpPr>
        <p:spPr>
          <a:xfrm>
            <a:off x="5029200" y="384048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behind the shock: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at rest</a:t>
            </a:r>
          </a:p>
        </p:txBody>
      </p:sp>
      <p:sp>
        <p:nvSpPr>
          <p:cNvPr id="36" name="C5-E10 text 34" descr="sci-ppt:o034"/>
          <p:cNvSpPr txBox="1"/>
          <p:nvPr/>
        </p:nvSpPr>
        <p:spPr>
          <a:xfrm>
            <a:off x="1600200" y="1691640"/>
            <a:ext cx="237744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ahead: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ρ_j, −U</a:t>
            </a:r>
          </a:p>
        </p:txBody>
      </p:sp>
      <p:sp>
        <p:nvSpPr>
          <p:cNvPr id="37" name="C5-E10 text 35" descr="sci-ppt:o035"/>
          <p:cNvSpPr txBox="1"/>
          <p:nvPr/>
        </p:nvSpPr>
        <p:spPr>
          <a:xfrm>
            <a:off x="8138160" y="1280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Wave pattern</a:t>
            </a:r>
          </a:p>
        </p:txBody>
      </p:sp>
      <p:sp>
        <p:nvSpPr>
          <p:cNvPr id="38" name="C5-E10 text 36" descr="sci-ppt:o036"/>
          <p:cNvSpPr txBox="1"/>
          <p:nvPr/>
        </p:nvSpPr>
        <p:spPr>
          <a:xfrm>
            <a:off x="8138160" y="1737360"/>
            <a:ext cx="3840480" cy="18288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Barotropic shock: S = 1661.9 m/s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reaches H = 4 µm at 2.41 ns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Wall: u = 0 (mirror ghost state)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Inflow: (ρ_j, −U)</a:t>
            </a:r>
          </a:p>
        </p:txBody>
      </p:sp>
      <p:sp>
        <p:nvSpPr>
          <p:cNvPr id="39" name="C5-E10 text 37" descr="sci-ppt:o037"/>
          <p:cNvSpPr txBox="1"/>
          <p:nvPr/>
        </p:nvSpPr>
        <p:spPr>
          <a:xfrm>
            <a:off x="8138160" y="3931920"/>
            <a:ext cx="38404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Conservative form lets the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shock move at the right speed.</a:t>
            </a:r>
          </a:p>
        </p:txBody>
      </p:sp>
      <p:sp>
        <p:nvSpPr>
          <p:cNvPr id="40" name="C5-E10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Space-time sketch of Eq. (C5-E10); S from Eq. (C5-E05).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