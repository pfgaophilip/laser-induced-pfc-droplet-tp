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5-E21 text 0" descr="sci-ppt:o000"/>
          <p:cNvSpPr txBox="1"/>
          <p:nvPr/>
        </p:nvSpPr>
        <p:spPr>
          <a:xfrm>
            <a:off x="274320" y="137160"/>
            <a:ext cx="11612880" cy="41148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C5-E21 · Reference formulas: edge-release explanation of the finite-area factor</a:t>
            </a:r>
          </a:p>
        </p:txBody>
      </p:sp>
      <p:cxnSp>
        <p:nvCxnSpPr>
          <p:cNvPr id="3" name="C5-E21 line 1" descr="sci-ppt:o001"/>
          <p:cNvCxnSpPr/>
          <p:nvPr/>
        </p:nvCxnSpPr>
        <p:spPr>
          <a:xfrm>
            <a:off x="1463040" y="5303520"/>
            <a:ext cx="621792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4" name="C5-E21 line 2" descr="sci-ppt:o002"/>
          <p:cNvCxnSpPr/>
          <p:nvPr/>
        </p:nvCxnSpPr>
        <p:spPr>
          <a:xfrm>
            <a:off x="1463040" y="1188720"/>
            <a:ext cx="0" cy="411480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5" name="C5-E21 line 3" descr="sci-ppt:o003"/>
          <p:cNvCxnSpPr/>
          <p:nvPr/>
        </p:nvCxnSpPr>
        <p:spPr>
          <a:xfrm>
            <a:off x="1463040" y="53035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6" name="C5-E21 text 4" descr="sci-ppt:o004"/>
          <p:cNvSpPr txBox="1"/>
          <p:nvPr/>
        </p:nvSpPr>
        <p:spPr>
          <a:xfrm>
            <a:off x="1005840" y="5376672"/>
            <a:ext cx="9144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0</a:t>
            </a:r>
          </a:p>
        </p:txBody>
      </p:sp>
      <p:cxnSp>
        <p:nvCxnSpPr>
          <p:cNvPr id="7" name="C5-E21 line 5" descr="sci-ppt:o005"/>
          <p:cNvCxnSpPr/>
          <p:nvPr/>
        </p:nvCxnSpPr>
        <p:spPr>
          <a:xfrm>
            <a:off x="3017520" y="53035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8" name="C5-E21 text 6" descr="sci-ppt:o006"/>
          <p:cNvSpPr txBox="1"/>
          <p:nvPr/>
        </p:nvSpPr>
        <p:spPr>
          <a:xfrm>
            <a:off x="2560320" y="5376672"/>
            <a:ext cx="9144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0.25</a:t>
            </a:r>
          </a:p>
        </p:txBody>
      </p:sp>
      <p:cxnSp>
        <p:nvCxnSpPr>
          <p:cNvPr id="9" name="C5-E21 line 7" descr="sci-ppt:o007"/>
          <p:cNvCxnSpPr/>
          <p:nvPr/>
        </p:nvCxnSpPr>
        <p:spPr>
          <a:xfrm>
            <a:off x="4572000" y="53035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10" name="C5-E21 text 8" descr="sci-ppt:o008"/>
          <p:cNvSpPr txBox="1"/>
          <p:nvPr/>
        </p:nvSpPr>
        <p:spPr>
          <a:xfrm>
            <a:off x="4114800" y="5376672"/>
            <a:ext cx="9144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0.5</a:t>
            </a:r>
          </a:p>
        </p:txBody>
      </p:sp>
      <p:cxnSp>
        <p:nvCxnSpPr>
          <p:cNvPr id="11" name="C5-E21 line 9" descr="sci-ppt:o009"/>
          <p:cNvCxnSpPr/>
          <p:nvPr/>
        </p:nvCxnSpPr>
        <p:spPr>
          <a:xfrm>
            <a:off x="6126479" y="53035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12" name="C5-E21 text 10" descr="sci-ppt:o010"/>
          <p:cNvSpPr txBox="1"/>
          <p:nvPr/>
        </p:nvSpPr>
        <p:spPr>
          <a:xfrm>
            <a:off x="5669279" y="5376672"/>
            <a:ext cx="9144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0.75</a:t>
            </a:r>
          </a:p>
        </p:txBody>
      </p:sp>
      <p:cxnSp>
        <p:nvCxnSpPr>
          <p:cNvPr id="13" name="C5-E21 line 11" descr="sci-ppt:o011"/>
          <p:cNvCxnSpPr/>
          <p:nvPr/>
        </p:nvCxnSpPr>
        <p:spPr>
          <a:xfrm>
            <a:off x="7680960" y="53035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14" name="C5-E21 text 12" descr="sci-ppt:o012"/>
          <p:cNvSpPr txBox="1"/>
          <p:nvPr/>
        </p:nvSpPr>
        <p:spPr>
          <a:xfrm>
            <a:off x="7223760" y="5376672"/>
            <a:ext cx="9144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1</a:t>
            </a:r>
          </a:p>
        </p:txBody>
      </p:sp>
      <p:cxnSp>
        <p:nvCxnSpPr>
          <p:cNvPr id="15" name="C5-E21 line 13" descr="sci-ppt:o013"/>
          <p:cNvCxnSpPr/>
          <p:nvPr/>
        </p:nvCxnSpPr>
        <p:spPr>
          <a:xfrm>
            <a:off x="1399032" y="530352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6" name="C5-E21 line 14" descr="sci-ppt:o014"/>
          <p:cNvCxnSpPr/>
          <p:nvPr/>
        </p:nvCxnSpPr>
        <p:spPr>
          <a:xfrm>
            <a:off x="1463040" y="5303520"/>
            <a:ext cx="621792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7" name="C5-E21 text 15" descr="sci-ppt:o015"/>
          <p:cNvSpPr txBox="1"/>
          <p:nvPr/>
        </p:nvSpPr>
        <p:spPr>
          <a:xfrm>
            <a:off x="685800" y="5175504"/>
            <a:ext cx="6858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0.90</a:t>
            </a:r>
          </a:p>
        </p:txBody>
      </p:sp>
      <p:cxnSp>
        <p:nvCxnSpPr>
          <p:cNvPr id="18" name="C5-E21 line 16" descr="sci-ppt:o016"/>
          <p:cNvCxnSpPr/>
          <p:nvPr/>
        </p:nvCxnSpPr>
        <p:spPr>
          <a:xfrm>
            <a:off x="1399032" y="4480559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9" name="C5-E21 line 17" descr="sci-ppt:o017"/>
          <p:cNvCxnSpPr/>
          <p:nvPr/>
        </p:nvCxnSpPr>
        <p:spPr>
          <a:xfrm>
            <a:off x="1463040" y="4480559"/>
            <a:ext cx="621792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0" name="C5-E21 text 18" descr="sci-ppt:o018"/>
          <p:cNvSpPr txBox="1"/>
          <p:nvPr/>
        </p:nvSpPr>
        <p:spPr>
          <a:xfrm>
            <a:off x="685800" y="4352543"/>
            <a:ext cx="6858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0.92</a:t>
            </a:r>
          </a:p>
        </p:txBody>
      </p:sp>
      <p:cxnSp>
        <p:nvCxnSpPr>
          <p:cNvPr id="21" name="C5-E21 line 19" descr="sci-ppt:o019"/>
          <p:cNvCxnSpPr/>
          <p:nvPr/>
        </p:nvCxnSpPr>
        <p:spPr>
          <a:xfrm>
            <a:off x="1399032" y="36576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2" name="C5-E21 line 20" descr="sci-ppt:o020"/>
          <p:cNvCxnSpPr/>
          <p:nvPr/>
        </p:nvCxnSpPr>
        <p:spPr>
          <a:xfrm>
            <a:off x="1463040" y="3657600"/>
            <a:ext cx="621792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3" name="C5-E21 text 21" descr="sci-ppt:o021"/>
          <p:cNvSpPr txBox="1"/>
          <p:nvPr/>
        </p:nvSpPr>
        <p:spPr>
          <a:xfrm>
            <a:off x="685800" y="3529584"/>
            <a:ext cx="6858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0.94</a:t>
            </a:r>
          </a:p>
        </p:txBody>
      </p:sp>
      <p:cxnSp>
        <p:nvCxnSpPr>
          <p:cNvPr id="24" name="C5-E21 line 22" descr="sci-ppt:o022"/>
          <p:cNvCxnSpPr/>
          <p:nvPr/>
        </p:nvCxnSpPr>
        <p:spPr>
          <a:xfrm>
            <a:off x="1399032" y="283464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5" name="C5-E21 line 23" descr="sci-ppt:o023"/>
          <p:cNvCxnSpPr/>
          <p:nvPr/>
        </p:nvCxnSpPr>
        <p:spPr>
          <a:xfrm>
            <a:off x="1463040" y="2834640"/>
            <a:ext cx="621792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6" name="C5-E21 text 24" descr="sci-ppt:o024"/>
          <p:cNvSpPr txBox="1"/>
          <p:nvPr/>
        </p:nvSpPr>
        <p:spPr>
          <a:xfrm>
            <a:off x="685800" y="2706624"/>
            <a:ext cx="6858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0.96</a:t>
            </a:r>
          </a:p>
        </p:txBody>
      </p:sp>
      <p:cxnSp>
        <p:nvCxnSpPr>
          <p:cNvPr id="27" name="C5-E21 line 25" descr="sci-ppt:o025"/>
          <p:cNvCxnSpPr/>
          <p:nvPr/>
        </p:nvCxnSpPr>
        <p:spPr>
          <a:xfrm>
            <a:off x="1399032" y="201168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8" name="C5-E21 line 26" descr="sci-ppt:o026"/>
          <p:cNvCxnSpPr/>
          <p:nvPr/>
        </p:nvCxnSpPr>
        <p:spPr>
          <a:xfrm>
            <a:off x="1463040" y="2011680"/>
            <a:ext cx="621792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9" name="C5-E21 text 27" descr="sci-ppt:o027"/>
          <p:cNvSpPr txBox="1"/>
          <p:nvPr/>
        </p:nvSpPr>
        <p:spPr>
          <a:xfrm>
            <a:off x="685800" y="1883664"/>
            <a:ext cx="6858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0.98</a:t>
            </a:r>
          </a:p>
        </p:txBody>
      </p:sp>
      <p:cxnSp>
        <p:nvCxnSpPr>
          <p:cNvPr id="30" name="C5-E21 line 28" descr="sci-ppt:o028"/>
          <p:cNvCxnSpPr/>
          <p:nvPr/>
        </p:nvCxnSpPr>
        <p:spPr>
          <a:xfrm>
            <a:off x="1399032" y="1188719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1" name="C5-E21 line 29" descr="sci-ppt:o029"/>
          <p:cNvCxnSpPr/>
          <p:nvPr/>
        </p:nvCxnSpPr>
        <p:spPr>
          <a:xfrm>
            <a:off x="1463040" y="1188719"/>
            <a:ext cx="621792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2" name="C5-E21 text 30" descr="sci-ppt:o030"/>
          <p:cNvSpPr txBox="1"/>
          <p:nvPr/>
        </p:nvSpPr>
        <p:spPr>
          <a:xfrm>
            <a:off x="685800" y="1060703"/>
            <a:ext cx="6858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1.00</a:t>
            </a:r>
          </a:p>
        </p:txBody>
      </p:sp>
      <p:sp>
        <p:nvSpPr>
          <p:cNvPr id="33" name="C5-E21 text 31" descr="sci-ppt:o031"/>
          <p:cNvSpPr txBox="1"/>
          <p:nvPr/>
        </p:nvSpPr>
        <p:spPr>
          <a:xfrm>
            <a:off x="1463040" y="5650992"/>
            <a:ext cx="621792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κ: share of the excess lost in the released annulus</a:t>
            </a:r>
          </a:p>
        </p:txBody>
      </p:sp>
      <p:sp>
        <p:nvSpPr>
          <p:cNvPr id="34" name="C5-E21 text 32" descr="sci-ppt:o032"/>
          <p:cNvSpPr txBox="1"/>
          <p:nvPr/>
        </p:nvSpPr>
        <p:spPr>
          <a:xfrm>
            <a:off x="594360" y="804672"/>
            <a:ext cx="310896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Λ</a:t>
            </a:r>
          </a:p>
        </p:txBody>
      </p:sp>
      <p:cxnSp>
        <p:nvCxnSpPr>
          <p:cNvPr id="35" name="C5-E21 line 33" descr="sci-ppt:o033"/>
          <p:cNvCxnSpPr/>
          <p:nvPr/>
        </p:nvCxnSpPr>
        <p:spPr>
          <a:xfrm>
            <a:off x="1463040" y="1188719"/>
            <a:ext cx="62179" cy="37928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36" name="C5-E21 line 34" descr="sci-ppt:o034"/>
          <p:cNvCxnSpPr/>
          <p:nvPr/>
        </p:nvCxnSpPr>
        <p:spPr>
          <a:xfrm>
            <a:off x="1525219" y="1226647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37" name="C5-E21 line 35" descr="sci-ppt:o035"/>
          <p:cNvCxnSpPr/>
          <p:nvPr/>
        </p:nvCxnSpPr>
        <p:spPr>
          <a:xfrm>
            <a:off x="1587398" y="1264574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38" name="C5-E21 line 36" descr="sci-ppt:o036"/>
          <p:cNvCxnSpPr/>
          <p:nvPr/>
        </p:nvCxnSpPr>
        <p:spPr>
          <a:xfrm>
            <a:off x="1649577" y="1302501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39" name="C5-E21 line 37" descr="sci-ppt:o037"/>
          <p:cNvCxnSpPr/>
          <p:nvPr/>
        </p:nvCxnSpPr>
        <p:spPr>
          <a:xfrm>
            <a:off x="1711756" y="1340428"/>
            <a:ext cx="62180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40" name="C5-E21 line 38" descr="sci-ppt:o038"/>
          <p:cNvCxnSpPr/>
          <p:nvPr/>
        </p:nvCxnSpPr>
        <p:spPr>
          <a:xfrm>
            <a:off x="1773936" y="1378355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41" name="C5-E21 line 39" descr="sci-ppt:o039"/>
          <p:cNvCxnSpPr/>
          <p:nvPr/>
        </p:nvCxnSpPr>
        <p:spPr>
          <a:xfrm>
            <a:off x="1836115" y="1416282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42" name="C5-E21 line 40" descr="sci-ppt:o040"/>
          <p:cNvCxnSpPr/>
          <p:nvPr/>
        </p:nvCxnSpPr>
        <p:spPr>
          <a:xfrm>
            <a:off x="1898294" y="1454209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43" name="C5-E21 line 41" descr="sci-ppt:o041"/>
          <p:cNvCxnSpPr/>
          <p:nvPr/>
        </p:nvCxnSpPr>
        <p:spPr>
          <a:xfrm>
            <a:off x="1960473" y="1492136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44" name="C5-E21 line 42" descr="sci-ppt:o042"/>
          <p:cNvCxnSpPr/>
          <p:nvPr/>
        </p:nvCxnSpPr>
        <p:spPr>
          <a:xfrm>
            <a:off x="2022652" y="1530063"/>
            <a:ext cx="62180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45" name="C5-E21 line 43" descr="sci-ppt:o043"/>
          <p:cNvCxnSpPr/>
          <p:nvPr/>
        </p:nvCxnSpPr>
        <p:spPr>
          <a:xfrm>
            <a:off x="2084832" y="1567990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46" name="C5-E21 line 44" descr="sci-ppt:o044"/>
          <p:cNvCxnSpPr/>
          <p:nvPr/>
        </p:nvCxnSpPr>
        <p:spPr>
          <a:xfrm>
            <a:off x="2147011" y="1605917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47" name="C5-E21 line 45" descr="sci-ppt:o045"/>
          <p:cNvCxnSpPr/>
          <p:nvPr/>
        </p:nvCxnSpPr>
        <p:spPr>
          <a:xfrm>
            <a:off x="2209190" y="1643844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48" name="C5-E21 line 46" descr="sci-ppt:o046"/>
          <p:cNvCxnSpPr/>
          <p:nvPr/>
        </p:nvCxnSpPr>
        <p:spPr>
          <a:xfrm>
            <a:off x="2271369" y="1681771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49" name="C5-E21 line 47" descr="sci-ppt:o047"/>
          <p:cNvCxnSpPr/>
          <p:nvPr/>
        </p:nvCxnSpPr>
        <p:spPr>
          <a:xfrm>
            <a:off x="2333548" y="1719698"/>
            <a:ext cx="62180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50" name="C5-E21 line 48" descr="sci-ppt:o048"/>
          <p:cNvCxnSpPr/>
          <p:nvPr/>
        </p:nvCxnSpPr>
        <p:spPr>
          <a:xfrm>
            <a:off x="2395728" y="1757625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51" name="C5-E21 line 49" descr="sci-ppt:o049"/>
          <p:cNvCxnSpPr/>
          <p:nvPr/>
        </p:nvCxnSpPr>
        <p:spPr>
          <a:xfrm>
            <a:off x="2457907" y="1795552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52" name="C5-E21 line 50" descr="sci-ppt:o050"/>
          <p:cNvCxnSpPr/>
          <p:nvPr/>
        </p:nvCxnSpPr>
        <p:spPr>
          <a:xfrm>
            <a:off x="2520086" y="1833479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53" name="C5-E21 line 51" descr="sci-ppt:o051"/>
          <p:cNvCxnSpPr/>
          <p:nvPr/>
        </p:nvCxnSpPr>
        <p:spPr>
          <a:xfrm>
            <a:off x="2582265" y="1871406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54" name="C5-E21 line 52" descr="sci-ppt:o052"/>
          <p:cNvCxnSpPr/>
          <p:nvPr/>
        </p:nvCxnSpPr>
        <p:spPr>
          <a:xfrm>
            <a:off x="2644444" y="1909333"/>
            <a:ext cx="62180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55" name="C5-E21 line 53" descr="sci-ppt:o053"/>
          <p:cNvCxnSpPr/>
          <p:nvPr/>
        </p:nvCxnSpPr>
        <p:spPr>
          <a:xfrm>
            <a:off x="2706624" y="1947260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56" name="C5-E21 line 54" descr="sci-ppt:o054"/>
          <p:cNvCxnSpPr/>
          <p:nvPr/>
        </p:nvCxnSpPr>
        <p:spPr>
          <a:xfrm>
            <a:off x="2768803" y="1985187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57" name="C5-E21 line 55" descr="sci-ppt:o055"/>
          <p:cNvCxnSpPr/>
          <p:nvPr/>
        </p:nvCxnSpPr>
        <p:spPr>
          <a:xfrm>
            <a:off x="2830982" y="2023114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58" name="C5-E21 line 56" descr="sci-ppt:o056"/>
          <p:cNvCxnSpPr/>
          <p:nvPr/>
        </p:nvCxnSpPr>
        <p:spPr>
          <a:xfrm>
            <a:off x="2893161" y="2061041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59" name="C5-E21 line 57" descr="sci-ppt:o057"/>
          <p:cNvCxnSpPr/>
          <p:nvPr/>
        </p:nvCxnSpPr>
        <p:spPr>
          <a:xfrm>
            <a:off x="2955340" y="2098968"/>
            <a:ext cx="62180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60" name="C5-E21 line 58" descr="sci-ppt:o058"/>
          <p:cNvCxnSpPr/>
          <p:nvPr/>
        </p:nvCxnSpPr>
        <p:spPr>
          <a:xfrm>
            <a:off x="3017520" y="2136895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61" name="C5-E21 line 59" descr="sci-ppt:o059"/>
          <p:cNvCxnSpPr/>
          <p:nvPr/>
        </p:nvCxnSpPr>
        <p:spPr>
          <a:xfrm>
            <a:off x="3079699" y="2174822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62" name="C5-E21 line 60" descr="sci-ppt:o060"/>
          <p:cNvCxnSpPr/>
          <p:nvPr/>
        </p:nvCxnSpPr>
        <p:spPr>
          <a:xfrm>
            <a:off x="3141878" y="2212749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63" name="C5-E21 line 61" descr="sci-ppt:o061"/>
          <p:cNvCxnSpPr/>
          <p:nvPr/>
        </p:nvCxnSpPr>
        <p:spPr>
          <a:xfrm>
            <a:off x="3204057" y="2250676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64" name="C5-E21 line 62" descr="sci-ppt:o062"/>
          <p:cNvCxnSpPr/>
          <p:nvPr/>
        </p:nvCxnSpPr>
        <p:spPr>
          <a:xfrm>
            <a:off x="3266236" y="2288603"/>
            <a:ext cx="62180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65" name="C5-E21 line 63" descr="sci-ppt:o063"/>
          <p:cNvCxnSpPr/>
          <p:nvPr/>
        </p:nvCxnSpPr>
        <p:spPr>
          <a:xfrm>
            <a:off x="3328416" y="2326530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66" name="C5-E21 line 64" descr="sci-ppt:o064"/>
          <p:cNvCxnSpPr/>
          <p:nvPr/>
        </p:nvCxnSpPr>
        <p:spPr>
          <a:xfrm>
            <a:off x="3390595" y="2364457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67" name="C5-E21 line 65" descr="sci-ppt:o065"/>
          <p:cNvCxnSpPr/>
          <p:nvPr/>
        </p:nvCxnSpPr>
        <p:spPr>
          <a:xfrm>
            <a:off x="3452774" y="2402384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68" name="C5-E21 line 66" descr="sci-ppt:o066"/>
          <p:cNvCxnSpPr/>
          <p:nvPr/>
        </p:nvCxnSpPr>
        <p:spPr>
          <a:xfrm>
            <a:off x="3514953" y="2440311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69" name="C5-E21 line 67" descr="sci-ppt:o067"/>
          <p:cNvCxnSpPr/>
          <p:nvPr/>
        </p:nvCxnSpPr>
        <p:spPr>
          <a:xfrm>
            <a:off x="3577132" y="2478238"/>
            <a:ext cx="62180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70" name="C5-E21 line 68" descr="sci-ppt:o068"/>
          <p:cNvCxnSpPr/>
          <p:nvPr/>
        </p:nvCxnSpPr>
        <p:spPr>
          <a:xfrm>
            <a:off x="3639312" y="2516165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71" name="C5-E21 line 69" descr="sci-ppt:o069"/>
          <p:cNvCxnSpPr/>
          <p:nvPr/>
        </p:nvCxnSpPr>
        <p:spPr>
          <a:xfrm>
            <a:off x="3701491" y="2554092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72" name="C5-E21 line 70" descr="sci-ppt:o070"/>
          <p:cNvCxnSpPr/>
          <p:nvPr/>
        </p:nvCxnSpPr>
        <p:spPr>
          <a:xfrm>
            <a:off x="3763670" y="2592019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73" name="C5-E21 line 71" descr="sci-ppt:o071"/>
          <p:cNvCxnSpPr/>
          <p:nvPr/>
        </p:nvCxnSpPr>
        <p:spPr>
          <a:xfrm>
            <a:off x="3825849" y="2629946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74" name="C5-E21 line 72" descr="sci-ppt:o072"/>
          <p:cNvCxnSpPr/>
          <p:nvPr/>
        </p:nvCxnSpPr>
        <p:spPr>
          <a:xfrm>
            <a:off x="3888028" y="2667873"/>
            <a:ext cx="62180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75" name="C5-E21 line 73" descr="sci-ppt:o073"/>
          <p:cNvCxnSpPr/>
          <p:nvPr/>
        </p:nvCxnSpPr>
        <p:spPr>
          <a:xfrm>
            <a:off x="3950208" y="2705800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76" name="C5-E21 line 74" descr="sci-ppt:o074"/>
          <p:cNvCxnSpPr/>
          <p:nvPr/>
        </p:nvCxnSpPr>
        <p:spPr>
          <a:xfrm>
            <a:off x="4012387" y="2743727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77" name="C5-E21 line 75" descr="sci-ppt:o075"/>
          <p:cNvCxnSpPr/>
          <p:nvPr/>
        </p:nvCxnSpPr>
        <p:spPr>
          <a:xfrm>
            <a:off x="4074566" y="2781654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78" name="C5-E21 line 76" descr="sci-ppt:o076"/>
          <p:cNvCxnSpPr/>
          <p:nvPr/>
        </p:nvCxnSpPr>
        <p:spPr>
          <a:xfrm>
            <a:off x="4136745" y="2819581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79" name="C5-E21 line 77" descr="sci-ppt:o077"/>
          <p:cNvCxnSpPr/>
          <p:nvPr/>
        </p:nvCxnSpPr>
        <p:spPr>
          <a:xfrm>
            <a:off x="4198924" y="2857508"/>
            <a:ext cx="62180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80" name="C5-E21 line 78" descr="sci-ppt:o078"/>
          <p:cNvCxnSpPr/>
          <p:nvPr/>
        </p:nvCxnSpPr>
        <p:spPr>
          <a:xfrm>
            <a:off x="4261104" y="2895435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81" name="C5-E21 line 79" descr="sci-ppt:o079"/>
          <p:cNvCxnSpPr/>
          <p:nvPr/>
        </p:nvCxnSpPr>
        <p:spPr>
          <a:xfrm>
            <a:off x="4323283" y="2933362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82" name="C5-E21 line 80" descr="sci-ppt:o080"/>
          <p:cNvCxnSpPr/>
          <p:nvPr/>
        </p:nvCxnSpPr>
        <p:spPr>
          <a:xfrm>
            <a:off x="4385462" y="2971289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83" name="C5-E21 line 81" descr="sci-ppt:o081"/>
          <p:cNvCxnSpPr/>
          <p:nvPr/>
        </p:nvCxnSpPr>
        <p:spPr>
          <a:xfrm>
            <a:off x="4447641" y="3009216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84" name="C5-E21 line 82" descr="sci-ppt:o082"/>
          <p:cNvCxnSpPr/>
          <p:nvPr/>
        </p:nvCxnSpPr>
        <p:spPr>
          <a:xfrm>
            <a:off x="4509820" y="3047143"/>
            <a:ext cx="62180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85" name="C5-E21 line 83" descr="sci-ppt:o083"/>
          <p:cNvCxnSpPr/>
          <p:nvPr/>
        </p:nvCxnSpPr>
        <p:spPr>
          <a:xfrm>
            <a:off x="4572000" y="3085070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86" name="C5-E21 line 84" descr="sci-ppt:o084"/>
          <p:cNvCxnSpPr/>
          <p:nvPr/>
        </p:nvCxnSpPr>
        <p:spPr>
          <a:xfrm>
            <a:off x="4634179" y="3122997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87" name="C5-E21 line 85" descr="sci-ppt:o085"/>
          <p:cNvCxnSpPr/>
          <p:nvPr/>
        </p:nvCxnSpPr>
        <p:spPr>
          <a:xfrm>
            <a:off x="4696358" y="3160924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88" name="C5-E21 line 86" descr="sci-ppt:o086"/>
          <p:cNvCxnSpPr/>
          <p:nvPr/>
        </p:nvCxnSpPr>
        <p:spPr>
          <a:xfrm>
            <a:off x="4758537" y="3198851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89" name="C5-E21 line 87" descr="sci-ppt:o087"/>
          <p:cNvCxnSpPr/>
          <p:nvPr/>
        </p:nvCxnSpPr>
        <p:spPr>
          <a:xfrm>
            <a:off x="4820716" y="3236778"/>
            <a:ext cx="62180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90" name="C5-E21 line 88" descr="sci-ppt:o088"/>
          <p:cNvCxnSpPr/>
          <p:nvPr/>
        </p:nvCxnSpPr>
        <p:spPr>
          <a:xfrm>
            <a:off x="4882896" y="3274705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91" name="C5-E21 line 89" descr="sci-ppt:o089"/>
          <p:cNvCxnSpPr/>
          <p:nvPr/>
        </p:nvCxnSpPr>
        <p:spPr>
          <a:xfrm>
            <a:off x="4945075" y="3312632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92" name="C5-E21 line 90" descr="sci-ppt:o090"/>
          <p:cNvCxnSpPr/>
          <p:nvPr/>
        </p:nvCxnSpPr>
        <p:spPr>
          <a:xfrm>
            <a:off x="5007254" y="3350559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93" name="C5-E21 line 91" descr="sci-ppt:o091"/>
          <p:cNvCxnSpPr/>
          <p:nvPr/>
        </p:nvCxnSpPr>
        <p:spPr>
          <a:xfrm>
            <a:off x="5069433" y="3388486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94" name="C5-E21 line 92" descr="sci-ppt:o092"/>
          <p:cNvCxnSpPr/>
          <p:nvPr/>
        </p:nvCxnSpPr>
        <p:spPr>
          <a:xfrm>
            <a:off x="5131612" y="3426413"/>
            <a:ext cx="62180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95" name="C5-E21 line 93" descr="sci-ppt:o093"/>
          <p:cNvCxnSpPr/>
          <p:nvPr/>
        </p:nvCxnSpPr>
        <p:spPr>
          <a:xfrm>
            <a:off x="5193792" y="3464340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96" name="C5-E21 line 94" descr="sci-ppt:o094"/>
          <p:cNvCxnSpPr/>
          <p:nvPr/>
        </p:nvCxnSpPr>
        <p:spPr>
          <a:xfrm>
            <a:off x="5255971" y="3502267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97" name="C5-E21 line 95" descr="sci-ppt:o095"/>
          <p:cNvCxnSpPr/>
          <p:nvPr/>
        </p:nvCxnSpPr>
        <p:spPr>
          <a:xfrm>
            <a:off x="5318150" y="3540194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98" name="C5-E21 line 96" descr="sci-ppt:o096"/>
          <p:cNvCxnSpPr/>
          <p:nvPr/>
        </p:nvCxnSpPr>
        <p:spPr>
          <a:xfrm>
            <a:off x="5380329" y="3578121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99" name="C5-E21 line 97" descr="sci-ppt:o097"/>
          <p:cNvCxnSpPr/>
          <p:nvPr/>
        </p:nvCxnSpPr>
        <p:spPr>
          <a:xfrm>
            <a:off x="5442508" y="3616048"/>
            <a:ext cx="62180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00" name="C5-E21 line 98" descr="sci-ppt:o098"/>
          <p:cNvCxnSpPr/>
          <p:nvPr/>
        </p:nvCxnSpPr>
        <p:spPr>
          <a:xfrm>
            <a:off x="5504688" y="3653975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01" name="C5-E21 line 99" descr="sci-ppt:o099"/>
          <p:cNvCxnSpPr/>
          <p:nvPr/>
        </p:nvCxnSpPr>
        <p:spPr>
          <a:xfrm>
            <a:off x="5566867" y="3691902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02" name="C5-E21 line 100" descr="sci-ppt:o100"/>
          <p:cNvCxnSpPr/>
          <p:nvPr/>
        </p:nvCxnSpPr>
        <p:spPr>
          <a:xfrm>
            <a:off x="5629046" y="3729829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03" name="C5-E21 line 101" descr="sci-ppt:o101"/>
          <p:cNvCxnSpPr/>
          <p:nvPr/>
        </p:nvCxnSpPr>
        <p:spPr>
          <a:xfrm>
            <a:off x="5691225" y="3767756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04" name="C5-E21 line 102" descr="sci-ppt:o102"/>
          <p:cNvCxnSpPr/>
          <p:nvPr/>
        </p:nvCxnSpPr>
        <p:spPr>
          <a:xfrm>
            <a:off x="5753404" y="3805683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05" name="C5-E21 line 103" descr="sci-ppt:o103"/>
          <p:cNvCxnSpPr/>
          <p:nvPr/>
        </p:nvCxnSpPr>
        <p:spPr>
          <a:xfrm>
            <a:off x="5815583" y="3843610"/>
            <a:ext cx="62180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06" name="C5-E21 line 104" descr="sci-ppt:o104"/>
          <p:cNvCxnSpPr/>
          <p:nvPr/>
        </p:nvCxnSpPr>
        <p:spPr>
          <a:xfrm>
            <a:off x="5877763" y="3881537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07" name="C5-E21 line 105" descr="sci-ppt:o105"/>
          <p:cNvCxnSpPr/>
          <p:nvPr/>
        </p:nvCxnSpPr>
        <p:spPr>
          <a:xfrm>
            <a:off x="5939942" y="3919464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08" name="C5-E21 line 106" descr="sci-ppt:o106"/>
          <p:cNvCxnSpPr/>
          <p:nvPr/>
        </p:nvCxnSpPr>
        <p:spPr>
          <a:xfrm>
            <a:off x="6002121" y="3957391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09" name="C5-E21 line 107" descr="sci-ppt:o107"/>
          <p:cNvCxnSpPr/>
          <p:nvPr/>
        </p:nvCxnSpPr>
        <p:spPr>
          <a:xfrm>
            <a:off x="6064300" y="3995318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10" name="C5-E21 line 108" descr="sci-ppt:o108"/>
          <p:cNvCxnSpPr/>
          <p:nvPr/>
        </p:nvCxnSpPr>
        <p:spPr>
          <a:xfrm>
            <a:off x="6126479" y="4033245"/>
            <a:ext cx="62180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11" name="C5-E21 line 109" descr="sci-ppt:o109"/>
          <p:cNvCxnSpPr/>
          <p:nvPr/>
        </p:nvCxnSpPr>
        <p:spPr>
          <a:xfrm>
            <a:off x="6188659" y="4071172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12" name="C5-E21 line 110" descr="sci-ppt:o110"/>
          <p:cNvCxnSpPr/>
          <p:nvPr/>
        </p:nvCxnSpPr>
        <p:spPr>
          <a:xfrm>
            <a:off x="6250838" y="4109099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13" name="C5-E21 line 111" descr="sci-ppt:o111"/>
          <p:cNvCxnSpPr/>
          <p:nvPr/>
        </p:nvCxnSpPr>
        <p:spPr>
          <a:xfrm>
            <a:off x="6313017" y="4147026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14" name="C5-E21 line 112" descr="sci-ppt:o112"/>
          <p:cNvCxnSpPr/>
          <p:nvPr/>
        </p:nvCxnSpPr>
        <p:spPr>
          <a:xfrm>
            <a:off x="6375196" y="4184953"/>
            <a:ext cx="62180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15" name="C5-E21 line 113" descr="sci-ppt:o113"/>
          <p:cNvCxnSpPr/>
          <p:nvPr/>
        </p:nvCxnSpPr>
        <p:spPr>
          <a:xfrm>
            <a:off x="6437376" y="4222880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16" name="C5-E21 line 114" descr="sci-ppt:o114"/>
          <p:cNvCxnSpPr/>
          <p:nvPr/>
        </p:nvCxnSpPr>
        <p:spPr>
          <a:xfrm>
            <a:off x="6499555" y="4260807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17" name="C5-E21 line 115" descr="sci-ppt:o115"/>
          <p:cNvCxnSpPr/>
          <p:nvPr/>
        </p:nvCxnSpPr>
        <p:spPr>
          <a:xfrm>
            <a:off x="6561734" y="4298734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18" name="C5-E21 line 116" descr="sci-ppt:o116"/>
          <p:cNvCxnSpPr/>
          <p:nvPr/>
        </p:nvCxnSpPr>
        <p:spPr>
          <a:xfrm>
            <a:off x="6623913" y="4336661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19" name="C5-E21 line 117" descr="sci-ppt:o117"/>
          <p:cNvCxnSpPr/>
          <p:nvPr/>
        </p:nvCxnSpPr>
        <p:spPr>
          <a:xfrm>
            <a:off x="6686092" y="4374588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20" name="C5-E21 line 118" descr="sci-ppt:o118"/>
          <p:cNvCxnSpPr/>
          <p:nvPr/>
        </p:nvCxnSpPr>
        <p:spPr>
          <a:xfrm>
            <a:off x="6748271" y="4412515"/>
            <a:ext cx="62180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21" name="C5-E21 line 119" descr="sci-ppt:o119"/>
          <p:cNvCxnSpPr/>
          <p:nvPr/>
        </p:nvCxnSpPr>
        <p:spPr>
          <a:xfrm>
            <a:off x="6810451" y="4450442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22" name="C5-E21 line 120" descr="sci-ppt:o120"/>
          <p:cNvCxnSpPr/>
          <p:nvPr/>
        </p:nvCxnSpPr>
        <p:spPr>
          <a:xfrm>
            <a:off x="6872630" y="4488369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23" name="C5-E21 line 121" descr="sci-ppt:o121"/>
          <p:cNvCxnSpPr/>
          <p:nvPr/>
        </p:nvCxnSpPr>
        <p:spPr>
          <a:xfrm>
            <a:off x="6934809" y="4526296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24" name="C5-E21 line 122" descr="sci-ppt:o122"/>
          <p:cNvCxnSpPr/>
          <p:nvPr/>
        </p:nvCxnSpPr>
        <p:spPr>
          <a:xfrm>
            <a:off x="6996988" y="4564223"/>
            <a:ext cx="62180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25" name="C5-E21 line 123" descr="sci-ppt:o123"/>
          <p:cNvCxnSpPr/>
          <p:nvPr/>
        </p:nvCxnSpPr>
        <p:spPr>
          <a:xfrm>
            <a:off x="7059168" y="4602150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26" name="C5-E21 line 124" descr="sci-ppt:o124"/>
          <p:cNvCxnSpPr/>
          <p:nvPr/>
        </p:nvCxnSpPr>
        <p:spPr>
          <a:xfrm>
            <a:off x="7121347" y="4640077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27" name="C5-E21 line 125" descr="sci-ppt:o125"/>
          <p:cNvCxnSpPr/>
          <p:nvPr/>
        </p:nvCxnSpPr>
        <p:spPr>
          <a:xfrm>
            <a:off x="7183526" y="4678004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28" name="C5-E21 line 126" descr="sci-ppt:o126"/>
          <p:cNvCxnSpPr/>
          <p:nvPr/>
        </p:nvCxnSpPr>
        <p:spPr>
          <a:xfrm>
            <a:off x="7245705" y="4715931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29" name="C5-E21 line 127" descr="sci-ppt:o127"/>
          <p:cNvCxnSpPr/>
          <p:nvPr/>
        </p:nvCxnSpPr>
        <p:spPr>
          <a:xfrm>
            <a:off x="7307884" y="4753858"/>
            <a:ext cx="62180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30" name="C5-E21 line 128" descr="sci-ppt:o128"/>
          <p:cNvCxnSpPr/>
          <p:nvPr/>
        </p:nvCxnSpPr>
        <p:spPr>
          <a:xfrm>
            <a:off x="7370064" y="4791785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31" name="C5-E21 line 129" descr="sci-ppt:o129"/>
          <p:cNvCxnSpPr/>
          <p:nvPr/>
        </p:nvCxnSpPr>
        <p:spPr>
          <a:xfrm>
            <a:off x="7432243" y="4829712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32" name="C5-E21 line 130" descr="sci-ppt:o130"/>
          <p:cNvCxnSpPr/>
          <p:nvPr/>
        </p:nvCxnSpPr>
        <p:spPr>
          <a:xfrm>
            <a:off x="7494422" y="4867639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33" name="C5-E21 line 131" descr="sci-ppt:o131"/>
          <p:cNvCxnSpPr/>
          <p:nvPr/>
        </p:nvCxnSpPr>
        <p:spPr>
          <a:xfrm>
            <a:off x="7556601" y="4905566"/>
            <a:ext cx="62179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cxnSp>
        <p:nvCxnSpPr>
          <p:cNvPr id="134" name="C5-E21 line 132" descr="sci-ppt:o132"/>
          <p:cNvCxnSpPr/>
          <p:nvPr/>
        </p:nvCxnSpPr>
        <p:spPr>
          <a:xfrm>
            <a:off x="7618780" y="4943493"/>
            <a:ext cx="62180" cy="37927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sp>
        <p:nvSpPr>
          <p:cNvPr id="135" name="C5-E21 ellipse 133" descr="sci-ppt:o133"/>
          <p:cNvSpPr/>
          <p:nvPr/>
        </p:nvSpPr>
        <p:spPr>
          <a:xfrm>
            <a:off x="6026329" y="3936491"/>
            <a:ext cx="182880" cy="182880"/>
          </a:xfrm>
          <a:prstGeom prst="ellipse">
            <a:avLst/>
          </a:prstGeom>
          <a:solidFill>
            <a:srgbClr val="F2B880"/>
          </a:solidFill>
          <a:ln w="127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36" name="C5-E21 line 134" descr="sci-ppt:o134"/>
          <p:cNvCxnSpPr/>
          <p:nvPr/>
        </p:nvCxnSpPr>
        <p:spPr>
          <a:xfrm>
            <a:off x="6117769" y="4027931"/>
            <a:ext cx="0" cy="1275589"/>
          </a:xfrm>
          <a:prstGeom prst="line">
            <a:avLst/>
          </a:prstGeom>
          <a:ln w="15240">
            <a:solidFill>
              <a:srgbClr val="F2B880"/>
            </a:solidFill>
            <a:prstDash val="dash"/>
          </a:ln>
          <a:effectLst/>
        </p:spPr>
      </p:cxnSp>
      <p:sp>
        <p:nvSpPr>
          <p:cNvPr id="137" name="C5-E21 text 135" descr="sci-ppt:o135"/>
          <p:cNvSpPr txBox="1"/>
          <p:nvPr/>
        </p:nvSpPr>
        <p:spPr>
          <a:xfrm>
            <a:off x="3100249" y="4137659"/>
            <a:ext cx="292608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F2B880"/>
                </a:solidFill>
                <a:latin typeface="Arial"/>
              </a:rPr>
              <a:t>computed Λ = 0.931,  κ = 0.75</a:t>
            </a:r>
          </a:p>
        </p:txBody>
      </p:sp>
      <p:sp>
        <p:nvSpPr>
          <p:cNvPr id="138" name="C5-E21 text 136" descr="sci-ppt:o136"/>
          <p:cNvSpPr txBox="1"/>
          <p:nvPr/>
        </p:nvSpPr>
        <p:spPr>
          <a:xfrm>
            <a:off x="4754880" y="5069890"/>
            <a:ext cx="292608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full release: 0.908</a:t>
            </a:r>
          </a:p>
        </p:txBody>
      </p:sp>
      <p:sp>
        <p:nvSpPr>
          <p:cNvPr id="139" name="C5-E21 text 137" descr="sci-ppt:o137"/>
          <p:cNvSpPr txBox="1"/>
          <p:nvPr/>
        </p:nvSpPr>
        <p:spPr>
          <a:xfrm>
            <a:off x="8046720" y="1280160"/>
            <a:ext cx="393192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E7F0F3"/>
                </a:solidFill>
                <a:latin typeface="Arial"/>
              </a:rPr>
              <a:t>Reading</a:t>
            </a:r>
          </a:p>
        </p:txBody>
      </p:sp>
      <p:sp>
        <p:nvSpPr>
          <p:cNvPr id="140" name="C5-E21 text 138" descr="sci-ppt:o138"/>
          <p:cNvSpPr txBox="1"/>
          <p:nvPr/>
        </p:nvSpPr>
        <p:spPr>
          <a:xfrm>
            <a:off x="8046720" y="1737360"/>
            <a:ext cx="3931920" cy="292608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E7F0F3"/>
                </a:solidFill>
                <a:latin typeface="Arial"/>
              </a:rPr>
              <a:t>Λ ≈ 1 − κ f_rel(τ_pk)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E7F0F3"/>
                </a:solidFill>
                <a:latin typeface="Arial"/>
              </a:rPr>
              <a:t>τ_pk = 0.0472, f_rel = 0.0921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E7F0F3"/>
                </a:solidFill>
                <a:latin typeface="Arial"/>
              </a:rPr>
              <a:t>κ = 0 : no loss, Λ = 1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E7F0F3"/>
                </a:solidFill>
                <a:latin typeface="Arial"/>
              </a:rPr>
              <a:t>κ = 1 : full release, Λ = 0.908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E7F0F3"/>
                </a:solidFill>
                <a:latin typeface="Arial"/>
              </a:rPr>
              <a:t>Simulation lies in between,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E7F0F3"/>
                </a:solidFill>
                <a:latin typeface="Arial"/>
              </a:rPr>
              <a:t>so about a quarter of the excess stays.</a:t>
            </a:r>
          </a:p>
        </p:txBody>
      </p:sp>
      <p:sp>
        <p:nvSpPr>
          <p:cNvPr id="141" name="C5-E21 text 139" descr="sci-ppt:o139"/>
          <p:cNvSpPr txBox="1"/>
          <p:nvPr/>
        </p:nvSpPr>
        <p:spPr>
          <a:xfrm>
            <a:off x="320040" y="6473952"/>
            <a:ext cx="114300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Line from Eq. (C5-E21); the computed Λ is from the converged band runs.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