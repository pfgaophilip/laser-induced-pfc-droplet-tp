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20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C5-E20 · Reference formulas: speed bound and pressure map together</a:t>
            </a:r>
          </a:p>
        </p:txBody>
      </p:sp>
      <p:sp>
        <p:nvSpPr>
          <p:cNvPr id="3" name="C5-E20 rect 1" descr="sci-ppt:o001"/>
          <p:cNvSpPr/>
          <p:nvPr/>
        </p:nvSpPr>
        <p:spPr>
          <a:xfrm>
            <a:off x="457200" y="2103120"/>
            <a:ext cx="265176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20 text 2" descr="sci-ppt:o002"/>
          <p:cNvSpPr txBox="1"/>
          <p:nvPr/>
        </p:nvSpPr>
        <p:spPr>
          <a:xfrm>
            <a:off x="502920" y="2176272"/>
            <a:ext cx="2560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4C7D2"/>
                </a:solidFill>
                <a:latin typeface="Arial"/>
              </a:rPr>
              <a:t>Chapter 3</a:t>
            </a:r>
          </a:p>
        </p:txBody>
      </p:sp>
      <p:sp>
        <p:nvSpPr>
          <p:cNvPr id="5" name="C5-E20 text 3" descr="sci-ppt:o003"/>
          <p:cNvSpPr txBox="1"/>
          <p:nvPr/>
        </p:nvSpPr>
        <p:spPr>
          <a:xfrm>
            <a:off x="502920" y="2697480"/>
            <a:ext cx="256032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energy E_av, mass m_j</a:t>
            </a:r>
          </a:p>
        </p:txBody>
      </p:sp>
      <p:sp>
        <p:nvSpPr>
          <p:cNvPr id="6" name="C5-E20 text 4" descr="sci-ppt:o004"/>
          <p:cNvSpPr txBox="1"/>
          <p:nvPr/>
        </p:nvSpPr>
        <p:spPr>
          <a:xfrm>
            <a:off x="502920" y="3246120"/>
            <a:ext cx="25603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bound</a:t>
            </a:r>
          </a:p>
        </p:txBody>
      </p:sp>
      <p:cxnSp>
        <p:nvCxnSpPr>
          <p:cNvPr id="7" name="C5-E20 arrow 5" descr="sci-ppt:o005"/>
          <p:cNvCxnSpPr/>
          <p:nvPr/>
        </p:nvCxnSpPr>
        <p:spPr>
          <a:xfrm>
            <a:off x="3108960" y="2880360"/>
            <a:ext cx="640079" cy="0"/>
          </a:xfrm>
          <a:prstGeom prst="line">
            <a:avLst/>
          </a:prstGeom>
          <a:ln w="3175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5-E20 rect 6" descr="sci-ppt:o006"/>
          <p:cNvSpPr/>
          <p:nvPr/>
        </p:nvSpPr>
        <p:spPr>
          <a:xfrm>
            <a:off x="3291840" y="2103120"/>
            <a:ext cx="265176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5-E20 text 7" descr="sci-ppt:o007"/>
          <p:cNvSpPr txBox="1"/>
          <p:nvPr/>
        </p:nvSpPr>
        <p:spPr>
          <a:xfrm>
            <a:off x="3337560" y="2176272"/>
            <a:ext cx="2560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4C7D2"/>
                </a:solidFill>
                <a:latin typeface="Arial"/>
              </a:rPr>
              <a:t>Speed ceiling</a:t>
            </a:r>
          </a:p>
        </p:txBody>
      </p:sp>
      <p:sp>
        <p:nvSpPr>
          <p:cNvPr id="10" name="C5-E20 text 8" descr="sci-ppt:o008"/>
          <p:cNvSpPr txBox="1"/>
          <p:nvPr/>
        </p:nvSpPr>
        <p:spPr>
          <a:xfrm>
            <a:off x="3337560" y="2697480"/>
            <a:ext cx="256032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U ≤ √(2 E_av / m_j)</a:t>
            </a:r>
          </a:p>
        </p:txBody>
      </p:sp>
      <p:sp>
        <p:nvSpPr>
          <p:cNvPr id="11" name="C5-E20 text 9" descr="sci-ppt:o009"/>
          <p:cNvSpPr txBox="1"/>
          <p:nvPr/>
        </p:nvSpPr>
        <p:spPr>
          <a:xfrm>
            <a:off x="3337560" y="3246120"/>
            <a:ext cx="25603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bound</a:t>
            </a:r>
          </a:p>
        </p:txBody>
      </p:sp>
      <p:cxnSp>
        <p:nvCxnSpPr>
          <p:cNvPr id="12" name="C5-E20 arrow 10" descr="sci-ppt:o010"/>
          <p:cNvCxnSpPr/>
          <p:nvPr/>
        </p:nvCxnSpPr>
        <p:spPr>
          <a:xfrm>
            <a:off x="5943600" y="2880360"/>
            <a:ext cx="640080" cy="0"/>
          </a:xfrm>
          <a:prstGeom prst="line">
            <a:avLst/>
          </a:prstGeom>
          <a:ln w="3175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C5-E20 rect 11" descr="sci-ppt:o011"/>
          <p:cNvSpPr/>
          <p:nvPr/>
        </p:nvSpPr>
        <p:spPr>
          <a:xfrm>
            <a:off x="6126480" y="2103120"/>
            <a:ext cx="265176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5-E20 text 12" descr="sci-ppt:o012"/>
          <p:cNvSpPr txBox="1"/>
          <p:nvPr/>
        </p:nvSpPr>
        <p:spPr>
          <a:xfrm>
            <a:off x="6172200" y="2176272"/>
            <a:ext cx="2560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Prescribed speed U</a:t>
            </a:r>
          </a:p>
        </p:txBody>
      </p:sp>
      <p:sp>
        <p:nvSpPr>
          <p:cNvPr id="15" name="C5-E20 text 13" descr="sci-ppt:o013"/>
          <p:cNvSpPr txBox="1"/>
          <p:nvPr/>
        </p:nvSpPr>
        <p:spPr>
          <a:xfrm>
            <a:off x="6172200" y="2697480"/>
            <a:ext cx="256032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taken as given here</a:t>
            </a:r>
          </a:p>
        </p:txBody>
      </p:sp>
      <p:sp>
        <p:nvSpPr>
          <p:cNvPr id="16" name="C5-E20 text 14" descr="sci-ppt:o014"/>
          <p:cNvSpPr txBox="1"/>
          <p:nvPr/>
        </p:nvSpPr>
        <p:spPr>
          <a:xfrm>
            <a:off x="6172200" y="3246120"/>
            <a:ext cx="25603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input</a:t>
            </a:r>
          </a:p>
        </p:txBody>
      </p:sp>
      <p:cxnSp>
        <p:nvCxnSpPr>
          <p:cNvPr id="17" name="C5-E20 arrow 15" descr="sci-ppt:o015"/>
          <p:cNvCxnSpPr/>
          <p:nvPr/>
        </p:nvCxnSpPr>
        <p:spPr>
          <a:xfrm>
            <a:off x="8778240" y="2880360"/>
            <a:ext cx="640080" cy="0"/>
          </a:xfrm>
          <a:prstGeom prst="line">
            <a:avLst/>
          </a:prstGeom>
          <a:ln w="3175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5-E20 rect 16" descr="sci-ppt:o016"/>
          <p:cNvSpPr/>
          <p:nvPr/>
        </p:nvSpPr>
        <p:spPr>
          <a:xfrm>
            <a:off x="8961120" y="2103120"/>
            <a:ext cx="265176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20 text 17" descr="sci-ppt:o017"/>
          <p:cNvSpPr txBox="1"/>
          <p:nvPr/>
        </p:nvSpPr>
        <p:spPr>
          <a:xfrm>
            <a:off x="9006840" y="2176272"/>
            <a:ext cx="2560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Pressure map</a:t>
            </a:r>
          </a:p>
        </p:txBody>
      </p:sp>
      <p:sp>
        <p:nvSpPr>
          <p:cNvPr id="20" name="C5-E20 text 18" descr="sci-ppt:o018"/>
          <p:cNvSpPr txBox="1"/>
          <p:nvPr/>
        </p:nvSpPr>
        <p:spPr>
          <a:xfrm>
            <a:off x="9006840" y="2697480"/>
            <a:ext cx="256032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p_wall = f(U)</a:t>
            </a:r>
          </a:p>
        </p:txBody>
      </p:sp>
      <p:sp>
        <p:nvSpPr>
          <p:cNvPr id="21" name="C5-E20 text 19" descr="sci-ppt:o019"/>
          <p:cNvSpPr txBox="1"/>
          <p:nvPr/>
        </p:nvSpPr>
        <p:spPr>
          <a:xfrm>
            <a:off x="9006840" y="3246120"/>
            <a:ext cx="25603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computed</a:t>
            </a:r>
          </a:p>
        </p:txBody>
      </p:sp>
      <p:sp>
        <p:nvSpPr>
          <p:cNvPr id="22" name="C5-E20 text 20" descr="sci-ppt:o020"/>
          <p:cNvSpPr txBox="1"/>
          <p:nvPr/>
        </p:nvSpPr>
        <p:spPr>
          <a:xfrm>
            <a:off x="8961120" y="3840480"/>
            <a:ext cx="2743200" cy="10972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centre: p_H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full sensor: 0.931 p_H</a:t>
            </a:r>
          </a:p>
        </p:txBody>
      </p:sp>
      <p:sp>
        <p:nvSpPr>
          <p:cNvPr id="23" name="C5-E20 text 21" descr="sci-ppt:o021"/>
          <p:cNvSpPr txBox="1"/>
          <p:nvPr/>
        </p:nvSpPr>
        <p:spPr>
          <a:xfrm>
            <a:off x="457200" y="4754880"/>
            <a:ext cx="804672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The bound limits the speed. The map converts a speed to a pressure.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The two claims meet only at the prescribed speed.</a:t>
            </a:r>
          </a:p>
        </p:txBody>
      </p:sp>
      <p:sp>
        <p:nvSpPr>
          <p:cNvPr id="24" name="C5-E20 text 22" descr="sci-ppt:o022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A bound is not a prediction; a map is not a measurement.</a:t>
            </a:r>
          </a:p>
        </p:txBody>
      </p:sp>
      <p:sp>
        <p:nvSpPr>
          <p:cNvPr id="25" name="C5-E20 text 23" descr="sci-ppt:o023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Chain of Eq. (C5-E20); Chapter 3 bound from Eq. (C3-E32).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