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4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C5-E14 · Observers evaluated in the COMSOL model</a:t>
            </a:r>
          </a:p>
        </p:txBody>
      </p:sp>
      <p:sp>
        <p:nvSpPr>
          <p:cNvPr id="3" name="C5-E14 rect 1" descr="sci-ppt:o001"/>
          <p:cNvSpPr/>
          <p:nvPr/>
        </p:nvSpPr>
        <p:spPr>
          <a:xfrm>
            <a:off x="1280160" y="5212080"/>
            <a:ext cx="4206240" cy="256032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5-E14 line 2" descr="sci-ppt:o002"/>
          <p:cNvCxnSpPr/>
          <p:nvPr/>
        </p:nvCxnSpPr>
        <p:spPr>
          <a:xfrm>
            <a:off x="1280160" y="546811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" name="C5-E14 line 3" descr="sci-ppt:o003"/>
          <p:cNvCxnSpPr/>
          <p:nvPr/>
        </p:nvCxnSpPr>
        <p:spPr>
          <a:xfrm>
            <a:off x="1481328" y="546811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5-E14 line 4" descr="sci-ppt:o004"/>
          <p:cNvCxnSpPr/>
          <p:nvPr/>
        </p:nvCxnSpPr>
        <p:spPr>
          <a:xfrm>
            <a:off x="1682495" y="546811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" name="C5-E14 line 5" descr="sci-ppt:o005"/>
          <p:cNvCxnSpPr/>
          <p:nvPr/>
        </p:nvCxnSpPr>
        <p:spPr>
          <a:xfrm>
            <a:off x="1883664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8" name="C5-E14 line 6" descr="sci-ppt:o006"/>
          <p:cNvCxnSpPr/>
          <p:nvPr/>
        </p:nvCxnSpPr>
        <p:spPr>
          <a:xfrm>
            <a:off x="2084831" y="546811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5-E14 line 7" descr="sci-ppt:o007"/>
          <p:cNvCxnSpPr/>
          <p:nvPr/>
        </p:nvCxnSpPr>
        <p:spPr>
          <a:xfrm>
            <a:off x="2286000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5-E14 line 8" descr="sci-ppt:o008"/>
          <p:cNvCxnSpPr/>
          <p:nvPr/>
        </p:nvCxnSpPr>
        <p:spPr>
          <a:xfrm>
            <a:off x="2487168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C5-E14 line 9" descr="sci-ppt:o009"/>
          <p:cNvCxnSpPr/>
          <p:nvPr/>
        </p:nvCxnSpPr>
        <p:spPr>
          <a:xfrm>
            <a:off x="2688336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5-E14 line 10" descr="sci-ppt:o010"/>
          <p:cNvCxnSpPr/>
          <p:nvPr/>
        </p:nvCxnSpPr>
        <p:spPr>
          <a:xfrm>
            <a:off x="2889504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C5-E14 line 11" descr="sci-ppt:o011"/>
          <p:cNvCxnSpPr/>
          <p:nvPr/>
        </p:nvCxnSpPr>
        <p:spPr>
          <a:xfrm>
            <a:off x="3090672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5-E14 line 12" descr="sci-ppt:o012"/>
          <p:cNvCxnSpPr/>
          <p:nvPr/>
        </p:nvCxnSpPr>
        <p:spPr>
          <a:xfrm>
            <a:off x="3291840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5-E14 line 13" descr="sci-ppt:o013"/>
          <p:cNvCxnSpPr/>
          <p:nvPr/>
        </p:nvCxnSpPr>
        <p:spPr>
          <a:xfrm>
            <a:off x="3493008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14 line 14" descr="sci-ppt:o014"/>
          <p:cNvCxnSpPr/>
          <p:nvPr/>
        </p:nvCxnSpPr>
        <p:spPr>
          <a:xfrm>
            <a:off x="3694176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5-E14 line 15" descr="sci-ppt:o015"/>
          <p:cNvCxnSpPr/>
          <p:nvPr/>
        </p:nvCxnSpPr>
        <p:spPr>
          <a:xfrm>
            <a:off x="3895344" y="546811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5-E14 line 16" descr="sci-ppt:o016"/>
          <p:cNvCxnSpPr/>
          <p:nvPr/>
        </p:nvCxnSpPr>
        <p:spPr>
          <a:xfrm>
            <a:off x="4096512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14 line 17" descr="sci-ppt:o017"/>
          <p:cNvCxnSpPr/>
          <p:nvPr/>
        </p:nvCxnSpPr>
        <p:spPr>
          <a:xfrm>
            <a:off x="4297679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5-E14 line 18" descr="sci-ppt:o018"/>
          <p:cNvCxnSpPr/>
          <p:nvPr/>
        </p:nvCxnSpPr>
        <p:spPr>
          <a:xfrm>
            <a:off x="4498848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14 line 19" descr="sci-ppt:o019"/>
          <p:cNvCxnSpPr/>
          <p:nvPr/>
        </p:nvCxnSpPr>
        <p:spPr>
          <a:xfrm>
            <a:off x="4700016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4 line 20" descr="sci-ppt:o020"/>
          <p:cNvCxnSpPr/>
          <p:nvPr/>
        </p:nvCxnSpPr>
        <p:spPr>
          <a:xfrm>
            <a:off x="4901183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14 line 21" descr="sci-ppt:o021"/>
          <p:cNvCxnSpPr/>
          <p:nvPr/>
        </p:nvCxnSpPr>
        <p:spPr>
          <a:xfrm>
            <a:off x="5102352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5-E14 line 22" descr="sci-ppt:o022"/>
          <p:cNvCxnSpPr/>
          <p:nvPr/>
        </p:nvCxnSpPr>
        <p:spPr>
          <a:xfrm>
            <a:off x="5303520" y="546811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25" name="C5-E14 rect 23" descr="sci-ppt:o023"/>
          <p:cNvSpPr/>
          <p:nvPr/>
        </p:nvSpPr>
        <p:spPr>
          <a:xfrm>
            <a:off x="2194560" y="1188720"/>
            <a:ext cx="2377440" cy="402336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5-E14 line 24" descr="sci-ppt:o024"/>
          <p:cNvCxnSpPr/>
          <p:nvPr/>
        </p:nvCxnSpPr>
        <p:spPr>
          <a:xfrm>
            <a:off x="3383280" y="914400"/>
            <a:ext cx="0" cy="4251960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cxnSp>
        <p:nvCxnSpPr>
          <p:cNvPr id="27" name="C5-E14 arrow 25" descr="sci-ppt:o025"/>
          <p:cNvCxnSpPr/>
          <p:nvPr/>
        </p:nvCxnSpPr>
        <p:spPr>
          <a:xfrm>
            <a:off x="3383280" y="1463040"/>
            <a:ext cx="0" cy="164592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8" name="C5-E14 text 26" descr="sci-ppt:o026"/>
          <p:cNvSpPr txBox="1"/>
          <p:nvPr/>
        </p:nvSpPr>
        <p:spPr>
          <a:xfrm>
            <a:off x="3520440" y="2011680"/>
            <a:ext cx="11887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2B880"/>
                </a:solidFill>
                <a:latin typeface="Arial"/>
              </a:rPr>
              <a:t>U</a:t>
            </a:r>
          </a:p>
        </p:txBody>
      </p:sp>
      <p:cxnSp>
        <p:nvCxnSpPr>
          <p:cNvPr id="29" name="C5-E14 line 27" descr="sci-ppt:o027"/>
          <p:cNvCxnSpPr/>
          <p:nvPr/>
        </p:nvCxnSpPr>
        <p:spPr>
          <a:xfrm>
            <a:off x="1920240" y="3566160"/>
            <a:ext cx="2926080" cy="0"/>
          </a:xfrm>
          <a:prstGeom prst="line">
            <a:avLst/>
          </a:prstGeom>
          <a:ln w="17780">
            <a:solidFill>
              <a:srgbClr val="B4C7D2"/>
            </a:solidFill>
            <a:prstDash val="dash"/>
          </a:ln>
          <a:effectLst/>
        </p:spPr>
      </p:cxnSp>
      <p:sp>
        <p:nvSpPr>
          <p:cNvPr id="30" name="C5-E14 text 28" descr="sci-ppt:o028"/>
          <p:cNvSpPr txBox="1"/>
          <p:nvPr/>
        </p:nvSpPr>
        <p:spPr>
          <a:xfrm>
            <a:off x="4892040" y="3419856"/>
            <a:ext cx="146304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plane z = 2a</a:t>
            </a:r>
          </a:p>
        </p:txBody>
      </p:sp>
      <p:cxnSp>
        <p:nvCxnSpPr>
          <p:cNvPr id="31" name="C5-E14 line 29" descr="sci-ppt:o029"/>
          <p:cNvCxnSpPr/>
          <p:nvPr/>
        </p:nvCxnSpPr>
        <p:spPr>
          <a:xfrm>
            <a:off x="1737360" y="1188720"/>
            <a:ext cx="0" cy="402336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32" name="C5-E14 text 30" descr="sci-ppt:o030"/>
          <p:cNvSpPr txBox="1"/>
          <p:nvPr/>
        </p:nvSpPr>
        <p:spPr>
          <a:xfrm>
            <a:off x="411480" y="1051560"/>
            <a:ext cx="12801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4a</a:t>
            </a:r>
          </a:p>
        </p:txBody>
      </p:sp>
      <p:sp>
        <p:nvSpPr>
          <p:cNvPr id="33" name="C5-E14 text 31" descr="sci-ppt:o031"/>
          <p:cNvSpPr txBox="1"/>
          <p:nvPr/>
        </p:nvSpPr>
        <p:spPr>
          <a:xfrm>
            <a:off x="411480" y="4892040"/>
            <a:ext cx="12801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0</a:t>
            </a:r>
          </a:p>
        </p:txBody>
      </p:sp>
      <p:cxnSp>
        <p:nvCxnSpPr>
          <p:cNvPr id="34" name="C5-E14 arrow 32" descr="sci-ppt:o032"/>
          <p:cNvCxnSpPr/>
          <p:nvPr/>
        </p:nvCxnSpPr>
        <p:spPr>
          <a:xfrm flipH="1">
            <a:off x="4069080" y="5074920"/>
            <a:ext cx="502920" cy="0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5" name="C5-E14 arrow 33" descr="sci-ppt:o033"/>
          <p:cNvCxnSpPr/>
          <p:nvPr/>
        </p:nvCxnSpPr>
        <p:spPr>
          <a:xfrm>
            <a:off x="2194560" y="5074920"/>
            <a:ext cx="502920" cy="0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36" name="C5-E14 text 34" descr="sci-ppt:o034"/>
          <p:cNvSpPr txBox="1"/>
          <p:nvPr/>
        </p:nvSpPr>
        <p:spPr>
          <a:xfrm>
            <a:off x="4663440" y="4663440"/>
            <a:ext cx="1737360" cy="5029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edge release</a:t>
            </a:r>
          </a:p>
        </p:txBody>
      </p:sp>
      <p:cxnSp>
        <p:nvCxnSpPr>
          <p:cNvPr id="37" name="C5-E14 line 35" descr="sci-ppt:o035"/>
          <p:cNvCxnSpPr/>
          <p:nvPr/>
        </p:nvCxnSpPr>
        <p:spPr>
          <a:xfrm>
            <a:off x="2194560" y="5806440"/>
            <a:ext cx="2377440" cy="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cxnSp>
        <p:nvCxnSpPr>
          <p:cNvPr id="38" name="C5-E14 line 36" descr="sci-ppt:o036"/>
          <p:cNvCxnSpPr/>
          <p:nvPr/>
        </p:nvCxnSpPr>
        <p:spPr>
          <a:xfrm>
            <a:off x="2788920" y="6053328"/>
            <a:ext cx="1188719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39" name="C5-E14 text 37" descr="sci-ppt:o037"/>
          <p:cNvSpPr txBox="1"/>
          <p:nvPr/>
        </p:nvSpPr>
        <p:spPr>
          <a:xfrm>
            <a:off x="1280160" y="6108192"/>
            <a:ext cx="28346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sensor r ≤ a (full)</a:t>
            </a:r>
          </a:p>
        </p:txBody>
      </p:sp>
      <p:sp>
        <p:nvSpPr>
          <p:cNvPr id="40" name="C5-E14 text 38" descr="sci-ppt:o038"/>
          <p:cNvSpPr txBox="1"/>
          <p:nvPr/>
        </p:nvSpPr>
        <p:spPr>
          <a:xfrm>
            <a:off x="4663440" y="5897880"/>
            <a:ext cx="23774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centre r ≤ a/2</a:t>
            </a:r>
          </a:p>
        </p:txBody>
      </p:sp>
      <p:cxnSp>
        <p:nvCxnSpPr>
          <p:cNvPr id="41" name="C5-E14 line 39" descr="sci-ppt:o039"/>
          <p:cNvCxnSpPr/>
          <p:nvPr/>
        </p:nvCxnSpPr>
        <p:spPr>
          <a:xfrm>
            <a:off x="2194560" y="868680"/>
            <a:ext cx="2377440" cy="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42" name="C5-E14 text 40" descr="sci-ppt:o040"/>
          <p:cNvSpPr txBox="1"/>
          <p:nvPr/>
        </p:nvSpPr>
        <p:spPr>
          <a:xfrm>
            <a:off x="2743200" y="566928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2a</a:t>
            </a:r>
          </a:p>
        </p:txBody>
      </p:sp>
      <p:sp>
        <p:nvSpPr>
          <p:cNvPr id="43" name="C5-E14 text 41" descr="sci-ppt:o041"/>
          <p:cNvSpPr txBox="1"/>
          <p:nvPr/>
        </p:nvSpPr>
        <p:spPr>
          <a:xfrm>
            <a:off x="7040880" y="1097280"/>
            <a:ext cx="4754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Axisymmetric: wall z = 0, axis r = 0</a:t>
            </a:r>
          </a:p>
        </p:txBody>
      </p:sp>
      <p:sp>
        <p:nvSpPr>
          <p:cNvPr id="44" name="C5-E14 ellipse 42" descr="sci-ppt:o042"/>
          <p:cNvSpPr/>
          <p:nvPr/>
        </p:nvSpPr>
        <p:spPr>
          <a:xfrm>
            <a:off x="7159752" y="1901952"/>
            <a:ext cx="128016" cy="12801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5-E14 text 43" descr="sci-ppt:o043"/>
          <p:cNvSpPr txBox="1"/>
          <p:nvPr/>
        </p:nvSpPr>
        <p:spPr>
          <a:xfrm>
            <a:off x="7406640" y="1810512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Liquid column radius a, length 4a</a:t>
            </a:r>
          </a:p>
        </p:txBody>
      </p:sp>
      <p:sp>
        <p:nvSpPr>
          <p:cNvPr id="46" name="C5-E14 ellipse 44" descr="sci-ppt:o044"/>
          <p:cNvSpPr/>
          <p:nvPr/>
        </p:nvSpPr>
        <p:spPr>
          <a:xfrm>
            <a:off x="7159752" y="2468880"/>
            <a:ext cx="128016" cy="128016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5-E14 text 45" descr="sci-ppt:o045"/>
          <p:cNvSpPr txBox="1"/>
          <p:nvPr/>
        </p:nvSpPr>
        <p:spPr>
          <a:xfrm>
            <a:off x="7406640" y="2377440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Incoming speed U toward −z</a:t>
            </a:r>
          </a:p>
        </p:txBody>
      </p:sp>
      <p:sp>
        <p:nvSpPr>
          <p:cNvPr id="48" name="C5-E14 ellipse 46" descr="sci-ppt:o046"/>
          <p:cNvSpPr/>
          <p:nvPr/>
        </p:nvSpPr>
        <p:spPr>
          <a:xfrm>
            <a:off x="7159752" y="3035808"/>
            <a:ext cx="128016" cy="128016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5-E14 text 47" descr="sci-ppt:o047"/>
          <p:cNvSpPr txBox="1"/>
          <p:nvPr/>
        </p:nvSpPr>
        <p:spPr>
          <a:xfrm>
            <a:off x="7406640" y="2944368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Rigid slip wall at z = 0</a:t>
            </a:r>
          </a:p>
        </p:txBody>
      </p:sp>
      <p:sp>
        <p:nvSpPr>
          <p:cNvPr id="50" name="C5-E14 ellipse 48" descr="sci-ppt:o048"/>
          <p:cNvSpPr/>
          <p:nvPr/>
        </p:nvSpPr>
        <p:spPr>
          <a:xfrm>
            <a:off x="7159752" y="3602736"/>
            <a:ext cx="128016" cy="12801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5-E14 text 49" descr="sci-ppt:o049"/>
          <p:cNvSpPr txBox="1"/>
          <p:nvPr/>
        </p:nvSpPr>
        <p:spPr>
          <a:xfrm>
            <a:off x="7406640" y="3511296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Free side at r = a: pressure released to p_j</a:t>
            </a:r>
          </a:p>
        </p:txBody>
      </p:sp>
      <p:sp>
        <p:nvSpPr>
          <p:cNvPr id="52" name="C5-E14 ellipse 50" descr="sci-ppt:o050"/>
          <p:cNvSpPr/>
          <p:nvPr/>
        </p:nvSpPr>
        <p:spPr>
          <a:xfrm>
            <a:off x="7159752" y="4169663"/>
            <a:ext cx="128016" cy="128016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5-E14 text 51" descr="sci-ppt:o051"/>
          <p:cNvSpPr txBox="1"/>
          <p:nvPr/>
        </p:nvSpPr>
        <p:spPr>
          <a:xfrm>
            <a:off x="7406640" y="4078224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Plane z = 2a: incident mass and energy flux</a:t>
            </a:r>
          </a:p>
        </p:txBody>
      </p:sp>
      <p:sp>
        <p:nvSpPr>
          <p:cNvPr id="54" name="C5-E14 ellipse 52" descr="sci-ppt:o052"/>
          <p:cNvSpPr/>
          <p:nvPr/>
        </p:nvSpPr>
        <p:spPr>
          <a:xfrm>
            <a:off x="7159752" y="4736592"/>
            <a:ext cx="128016" cy="12801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5-E14 text 53" descr="sci-ppt:o053"/>
          <p:cNvSpPr txBox="1"/>
          <p:nvPr/>
        </p:nvSpPr>
        <p:spPr>
          <a:xfrm>
            <a:off x="7406640" y="4645152"/>
            <a:ext cx="4480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Wall disk r ≤ a: area-weighted pressure</a:t>
            </a:r>
          </a:p>
        </p:txBody>
      </p:sp>
      <p:sp>
        <p:nvSpPr>
          <p:cNvPr id="56" name="C5-E14 text 54" descr="sci-ppt:o054"/>
          <p:cNvSpPr txBox="1"/>
          <p:nvPr/>
        </p:nvSpPr>
        <p:spPr>
          <a:xfrm>
            <a:off x="7040880" y="5394960"/>
            <a:ext cx="475488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First contact at t = 0. Liquid only; no gas, no cavitation.</a:t>
            </a:r>
          </a:p>
        </p:txBody>
      </p:sp>
      <p:sp>
        <p:nvSpPr>
          <p:cNvPr id="57" name="C5-E14 text 55" descr="sci-ppt:o055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