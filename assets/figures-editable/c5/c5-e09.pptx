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9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C5-E09 · Dimensionless groups and validity range of the model</a:t>
            </a:r>
          </a:p>
        </p:txBody>
      </p:sp>
      <p:sp>
        <p:nvSpPr>
          <p:cNvPr id="3" name="C5-E09 rect 1" descr="sci-ppt:o001"/>
          <p:cNvSpPr/>
          <p:nvPr/>
        </p:nvSpPr>
        <p:spPr>
          <a:xfrm>
            <a:off x="731520" y="137160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09 text 2" descr="sci-ppt:o002"/>
          <p:cNvSpPr txBox="1"/>
          <p:nvPr/>
        </p:nvSpPr>
        <p:spPr>
          <a:xfrm>
            <a:off x="822960" y="144475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Mach number</a:t>
            </a:r>
          </a:p>
        </p:txBody>
      </p:sp>
      <p:sp>
        <p:nvSpPr>
          <p:cNvPr id="5" name="C5-E09 text 3" descr="sci-ppt:o003"/>
          <p:cNvSpPr txBox="1"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M = U / c_0 = 0.0609</a:t>
            </a:r>
          </a:p>
        </p:txBody>
      </p:sp>
      <p:sp>
        <p:nvSpPr>
          <p:cNvPr id="6" name="C5-E09 text 4" descr="sci-ppt:o004"/>
          <p:cNvSpPr txBox="1"/>
          <p:nvPr/>
        </p:nvSpPr>
        <p:spPr>
          <a:xfrm>
            <a:off x="822960" y="251460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tested 0.031 to 0.092</a:t>
            </a:r>
          </a:p>
        </p:txBody>
      </p:sp>
      <p:sp>
        <p:nvSpPr>
          <p:cNvPr id="7" name="C5-E09 rect 5" descr="sci-ppt:o005"/>
          <p:cNvSpPr/>
          <p:nvPr/>
        </p:nvSpPr>
        <p:spPr>
          <a:xfrm>
            <a:off x="6309359" y="137160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5-E09 text 6" descr="sci-ppt:o006"/>
          <p:cNvSpPr txBox="1"/>
          <p:nvPr/>
        </p:nvSpPr>
        <p:spPr>
          <a:xfrm>
            <a:off x="6400799" y="144475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Sound crossing of the radius</a:t>
            </a:r>
          </a:p>
        </p:txBody>
      </p:sp>
      <p:sp>
        <p:nvSpPr>
          <p:cNvPr id="9" name="C5-E09 text 7" descr="sci-ppt:o007"/>
          <p:cNvSpPr txBox="1"/>
          <p:nvPr/>
        </p:nvSpPr>
        <p:spPr>
          <a:xfrm>
            <a:off x="6400799" y="1920240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t_a = a / c_0 = 0.615 ns</a:t>
            </a:r>
          </a:p>
        </p:txBody>
      </p:sp>
      <p:sp>
        <p:nvSpPr>
          <p:cNvPr id="10" name="C5-E09 text 8" descr="sci-ppt:o008"/>
          <p:cNvSpPr txBox="1"/>
          <p:nvPr/>
        </p:nvSpPr>
        <p:spPr>
          <a:xfrm>
            <a:off x="6400799" y="251460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for a = 1 µm</a:t>
            </a:r>
          </a:p>
        </p:txBody>
      </p:sp>
      <p:sp>
        <p:nvSpPr>
          <p:cNvPr id="11" name="C5-E09 rect 9" descr="sci-ppt:o009"/>
          <p:cNvSpPr/>
          <p:nvPr/>
        </p:nvSpPr>
        <p:spPr>
          <a:xfrm>
            <a:off x="731520" y="347472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5-E09 text 10" descr="sci-ppt:o010"/>
          <p:cNvSpPr txBox="1"/>
          <p:nvPr/>
        </p:nvSpPr>
        <p:spPr>
          <a:xfrm>
            <a:off x="822960" y="354787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Compression behind the shock</a:t>
            </a:r>
          </a:p>
        </p:txBody>
      </p:sp>
      <p:sp>
        <p:nvSpPr>
          <p:cNvPr id="13" name="C5-E09 text 11" descr="sci-ppt:o011"/>
          <p:cNvSpPr txBox="1"/>
          <p:nvPr/>
        </p:nvSpPr>
        <p:spPr>
          <a:xfrm>
            <a:off x="822960" y="4023359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ρ_1 / ρ_j = 1.0594</a:t>
            </a:r>
          </a:p>
        </p:txBody>
      </p:sp>
      <p:sp>
        <p:nvSpPr>
          <p:cNvPr id="14" name="C5-E09 text 12" descr="sci-ppt:o012"/>
          <p:cNvSpPr txBox="1"/>
          <p:nvPr/>
        </p:nvSpPr>
        <p:spPr>
          <a:xfrm>
            <a:off x="822960" y="461772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only 5.9% denser</a:t>
            </a:r>
          </a:p>
        </p:txBody>
      </p:sp>
      <p:sp>
        <p:nvSpPr>
          <p:cNvPr id="15" name="C5-E09 rect 13" descr="sci-ppt:o013"/>
          <p:cNvSpPr/>
          <p:nvPr/>
        </p:nvSpPr>
        <p:spPr>
          <a:xfrm>
            <a:off x="6309359" y="3474720"/>
            <a:ext cx="521208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5-E09 text 14" descr="sci-ppt:o014"/>
          <p:cNvSpPr txBox="1"/>
          <p:nvPr/>
        </p:nvSpPr>
        <p:spPr>
          <a:xfrm>
            <a:off x="6400799" y="3547872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Barotropic against energy law</a:t>
            </a:r>
          </a:p>
        </p:txBody>
      </p:sp>
      <p:sp>
        <p:nvSpPr>
          <p:cNvPr id="17" name="C5-E09 text 15" descr="sci-ppt:o015"/>
          <p:cNvSpPr txBox="1"/>
          <p:nvPr/>
        </p:nvSpPr>
        <p:spPr>
          <a:xfrm>
            <a:off x="6400799" y="4023359"/>
            <a:ext cx="5029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7F0F3"/>
                </a:solidFill>
                <a:latin typeface="Arial"/>
              </a:rPr>
              <a:t>(p_H − p_B) / p_H = 0.268%</a:t>
            </a:r>
          </a:p>
        </p:txBody>
      </p:sp>
      <p:sp>
        <p:nvSpPr>
          <p:cNvPr id="18" name="C5-E09 text 16" descr="sci-ppt:o016"/>
          <p:cNvSpPr txBox="1"/>
          <p:nvPr/>
        </p:nvSpPr>
        <p:spPr>
          <a:xfrm>
            <a:off x="6400799" y="461772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at the nominal speed</a:t>
            </a:r>
          </a:p>
        </p:txBody>
      </p:sp>
      <p:sp>
        <p:nvSpPr>
          <p:cNvPr id="19" name="C5-E09 text 17" descr="sci-ppt:o017"/>
          <p:cNvSpPr txBox="1"/>
          <p:nvPr/>
        </p:nvSpPr>
        <p:spPr>
          <a:xfrm>
            <a:off x="731520" y="5623560"/>
            <a:ext cx="10972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Small Mach number and small compression let the density-only law stand in for the energy law.</a:t>
            </a:r>
          </a:p>
        </p:txBody>
      </p:sp>
      <p:sp>
        <p:nvSpPr>
          <p:cNvPr id="20" name="C5-E09 text 18" descr="sci-ppt:o01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Eqs. (C5-E04) and (C5-E05) and the sensitivity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