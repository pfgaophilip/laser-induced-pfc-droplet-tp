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5-E15 text 0" descr="sci-ppt:o000"/>
          <p:cNvSpPr txBox="1"/>
          <p:nvPr/>
        </p:nvSpPr>
        <p:spPr>
          <a:xfrm>
            <a:off x="274320" y="137160"/>
            <a:ext cx="1161288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C5-E15 · Relative error and successive-refinement change</a:t>
            </a:r>
          </a:p>
        </p:txBody>
      </p:sp>
      <p:cxnSp>
        <p:nvCxnSpPr>
          <p:cNvPr id="3" name="C5-E15 line 1" descr="sci-ppt:o001"/>
          <p:cNvCxnSpPr/>
          <p:nvPr/>
        </p:nvCxnSpPr>
        <p:spPr>
          <a:xfrm>
            <a:off x="1371600" y="5303520"/>
            <a:ext cx="67665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5-E15 line 2" descr="sci-ppt:o002"/>
          <p:cNvCxnSpPr/>
          <p:nvPr/>
        </p:nvCxnSpPr>
        <p:spPr>
          <a:xfrm>
            <a:off x="1371600" y="1188720"/>
            <a:ext cx="0" cy="41148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5-E15 line 3" descr="sci-ppt:o003"/>
          <p:cNvCxnSpPr/>
          <p:nvPr/>
        </p:nvCxnSpPr>
        <p:spPr>
          <a:xfrm>
            <a:off x="1307592" y="53035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5-E15 line 4" descr="sci-ppt:o004"/>
          <p:cNvCxnSpPr/>
          <p:nvPr/>
        </p:nvCxnSpPr>
        <p:spPr>
          <a:xfrm>
            <a:off x="1371600" y="530352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5-E15 text 5" descr="sci-ppt:o005"/>
          <p:cNvSpPr txBox="1"/>
          <p:nvPr/>
        </p:nvSpPr>
        <p:spPr>
          <a:xfrm>
            <a:off x="594360" y="517550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155</a:t>
            </a:r>
          </a:p>
        </p:txBody>
      </p:sp>
      <p:cxnSp>
        <p:nvCxnSpPr>
          <p:cNvPr id="8" name="C5-E15 line 6" descr="sci-ppt:o006"/>
          <p:cNvCxnSpPr/>
          <p:nvPr/>
        </p:nvCxnSpPr>
        <p:spPr>
          <a:xfrm>
            <a:off x="1307592" y="448055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5-E15 line 7" descr="sci-ppt:o007"/>
          <p:cNvCxnSpPr/>
          <p:nvPr/>
        </p:nvCxnSpPr>
        <p:spPr>
          <a:xfrm>
            <a:off x="1371600" y="448055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5-E15 text 8" descr="sci-ppt:o008"/>
          <p:cNvSpPr txBox="1"/>
          <p:nvPr/>
        </p:nvSpPr>
        <p:spPr>
          <a:xfrm>
            <a:off x="594360" y="435254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160</a:t>
            </a:r>
          </a:p>
        </p:txBody>
      </p:sp>
      <p:cxnSp>
        <p:nvCxnSpPr>
          <p:cNvPr id="11" name="C5-E15 line 9" descr="sci-ppt:o009"/>
          <p:cNvCxnSpPr/>
          <p:nvPr/>
        </p:nvCxnSpPr>
        <p:spPr>
          <a:xfrm>
            <a:off x="1307592" y="3657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5-E15 line 10" descr="sci-ppt:o010"/>
          <p:cNvCxnSpPr/>
          <p:nvPr/>
        </p:nvCxnSpPr>
        <p:spPr>
          <a:xfrm>
            <a:off x="1371600" y="365760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5-E15 text 11" descr="sci-ppt:o011"/>
          <p:cNvSpPr txBox="1"/>
          <p:nvPr/>
        </p:nvSpPr>
        <p:spPr>
          <a:xfrm>
            <a:off x="594360" y="352958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165</a:t>
            </a:r>
          </a:p>
        </p:txBody>
      </p:sp>
      <p:cxnSp>
        <p:nvCxnSpPr>
          <p:cNvPr id="14" name="C5-E15 line 12" descr="sci-ppt:o012"/>
          <p:cNvCxnSpPr/>
          <p:nvPr/>
        </p:nvCxnSpPr>
        <p:spPr>
          <a:xfrm>
            <a:off x="1307592" y="28346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5-E15 line 13" descr="sci-ppt:o013"/>
          <p:cNvCxnSpPr/>
          <p:nvPr/>
        </p:nvCxnSpPr>
        <p:spPr>
          <a:xfrm>
            <a:off x="1371600" y="283464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5-E15 text 14" descr="sci-ppt:o014"/>
          <p:cNvSpPr txBox="1"/>
          <p:nvPr/>
        </p:nvSpPr>
        <p:spPr>
          <a:xfrm>
            <a:off x="594360" y="2706624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170</a:t>
            </a:r>
          </a:p>
        </p:txBody>
      </p:sp>
      <p:cxnSp>
        <p:nvCxnSpPr>
          <p:cNvPr id="17" name="C5-E15 line 15" descr="sci-ppt:o015"/>
          <p:cNvCxnSpPr/>
          <p:nvPr/>
        </p:nvCxnSpPr>
        <p:spPr>
          <a:xfrm>
            <a:off x="1307592" y="201167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5-E15 line 16" descr="sci-ppt:o016"/>
          <p:cNvCxnSpPr/>
          <p:nvPr/>
        </p:nvCxnSpPr>
        <p:spPr>
          <a:xfrm>
            <a:off x="1371600" y="201167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5-E15 text 17" descr="sci-ppt:o017"/>
          <p:cNvSpPr txBox="1"/>
          <p:nvPr/>
        </p:nvSpPr>
        <p:spPr>
          <a:xfrm>
            <a:off x="594360" y="188366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175</a:t>
            </a:r>
          </a:p>
        </p:txBody>
      </p:sp>
      <p:cxnSp>
        <p:nvCxnSpPr>
          <p:cNvPr id="20" name="C5-E15 line 18" descr="sci-ppt:o018"/>
          <p:cNvCxnSpPr/>
          <p:nvPr/>
        </p:nvCxnSpPr>
        <p:spPr>
          <a:xfrm>
            <a:off x="1307592" y="118871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5-E15 line 19" descr="sci-ppt:o019"/>
          <p:cNvCxnSpPr/>
          <p:nvPr/>
        </p:nvCxnSpPr>
        <p:spPr>
          <a:xfrm>
            <a:off x="1371600" y="118871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5-E15 text 20" descr="sci-ppt:o020"/>
          <p:cNvSpPr txBox="1"/>
          <p:nvPr/>
        </p:nvSpPr>
        <p:spPr>
          <a:xfrm>
            <a:off x="594360" y="1060703"/>
            <a:ext cx="6858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180</a:t>
            </a:r>
          </a:p>
        </p:txBody>
      </p:sp>
      <p:sp>
        <p:nvSpPr>
          <p:cNvPr id="23" name="C5-E15 text 21" descr="sci-ppt:o021"/>
          <p:cNvSpPr txBox="1"/>
          <p:nvPr/>
        </p:nvSpPr>
        <p:spPr>
          <a:xfrm>
            <a:off x="502920" y="804672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Peak full-sensor pressure (MPa)</a:t>
            </a:r>
          </a:p>
        </p:txBody>
      </p:sp>
      <p:sp>
        <p:nvSpPr>
          <p:cNvPr id="24" name="C5-E15 text 22" descr="sci-ppt:o022"/>
          <p:cNvSpPr txBox="1"/>
          <p:nvPr/>
        </p:nvSpPr>
        <p:spPr>
          <a:xfrm>
            <a:off x="1394460" y="5394959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band h = a/40</a:t>
            </a:r>
          </a:p>
        </p:txBody>
      </p:sp>
      <p:sp>
        <p:nvSpPr>
          <p:cNvPr id="25" name="C5-E15 text 23" descr="sci-ppt:o023"/>
          <p:cNvSpPr txBox="1"/>
          <p:nvPr/>
        </p:nvSpPr>
        <p:spPr>
          <a:xfrm>
            <a:off x="1394460" y="5650992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16,176 elements</a:t>
            </a:r>
          </a:p>
        </p:txBody>
      </p:sp>
      <p:sp>
        <p:nvSpPr>
          <p:cNvPr id="26" name="C5-E15 text 24" descr="sci-ppt:o024"/>
          <p:cNvSpPr txBox="1"/>
          <p:nvPr/>
        </p:nvSpPr>
        <p:spPr>
          <a:xfrm>
            <a:off x="1577339" y="2983965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166.593</a:t>
            </a:r>
          </a:p>
        </p:txBody>
      </p:sp>
      <p:sp>
        <p:nvSpPr>
          <p:cNvPr id="27" name="C5-E15 text 25" descr="sci-ppt:o025"/>
          <p:cNvSpPr txBox="1"/>
          <p:nvPr/>
        </p:nvSpPr>
        <p:spPr>
          <a:xfrm>
            <a:off x="3086100" y="5394959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band h = a/80</a:t>
            </a:r>
          </a:p>
        </p:txBody>
      </p:sp>
      <p:sp>
        <p:nvSpPr>
          <p:cNvPr id="28" name="C5-E15 text 26" descr="sci-ppt:o026"/>
          <p:cNvSpPr txBox="1"/>
          <p:nvPr/>
        </p:nvSpPr>
        <p:spPr>
          <a:xfrm>
            <a:off x="3086100" y="5650992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18,468 elements</a:t>
            </a:r>
          </a:p>
        </p:txBody>
      </p:sp>
      <p:sp>
        <p:nvSpPr>
          <p:cNvPr id="29" name="C5-E15 text 27" descr="sci-ppt:o027"/>
          <p:cNvSpPr txBox="1"/>
          <p:nvPr/>
        </p:nvSpPr>
        <p:spPr>
          <a:xfrm>
            <a:off x="3268980" y="3526132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163.299</a:t>
            </a:r>
          </a:p>
        </p:txBody>
      </p:sp>
      <p:sp>
        <p:nvSpPr>
          <p:cNvPr id="30" name="C5-E15 text 28" descr="sci-ppt:o028"/>
          <p:cNvSpPr txBox="1"/>
          <p:nvPr/>
        </p:nvSpPr>
        <p:spPr>
          <a:xfrm>
            <a:off x="4777740" y="5394959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band h = a/160</a:t>
            </a:r>
          </a:p>
        </p:txBody>
      </p:sp>
      <p:sp>
        <p:nvSpPr>
          <p:cNvPr id="31" name="C5-E15 text 29" descr="sci-ppt:o029"/>
          <p:cNvSpPr txBox="1"/>
          <p:nvPr/>
        </p:nvSpPr>
        <p:spPr>
          <a:xfrm>
            <a:off x="4777740" y="5650992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26,776 elements</a:t>
            </a:r>
          </a:p>
        </p:txBody>
      </p:sp>
      <p:sp>
        <p:nvSpPr>
          <p:cNvPr id="32" name="C5-E15 text 30" descr="sci-ppt:o030"/>
          <p:cNvSpPr txBox="1"/>
          <p:nvPr/>
        </p:nvSpPr>
        <p:spPr>
          <a:xfrm>
            <a:off x="4960620" y="3644548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162.579</a:t>
            </a:r>
          </a:p>
        </p:txBody>
      </p:sp>
      <p:sp>
        <p:nvSpPr>
          <p:cNvPr id="33" name="C5-E15 text 31" descr="sci-ppt:o031"/>
          <p:cNvSpPr txBox="1"/>
          <p:nvPr/>
        </p:nvSpPr>
        <p:spPr>
          <a:xfrm>
            <a:off x="6469380" y="5394959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band h = a/320</a:t>
            </a:r>
          </a:p>
        </p:txBody>
      </p:sp>
      <p:sp>
        <p:nvSpPr>
          <p:cNvPr id="34" name="C5-E15 text 32" descr="sci-ppt:o032"/>
          <p:cNvSpPr txBox="1"/>
          <p:nvPr/>
        </p:nvSpPr>
        <p:spPr>
          <a:xfrm>
            <a:off x="6469380" y="5650992"/>
            <a:ext cx="164592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4C7D2"/>
                </a:solidFill>
                <a:latin typeface="Arial"/>
              </a:rPr>
              <a:t>57,668 elements</a:t>
            </a:r>
          </a:p>
        </p:txBody>
      </p:sp>
      <p:sp>
        <p:nvSpPr>
          <p:cNvPr id="35" name="C5-E15 text 33" descr="sci-ppt:o033"/>
          <p:cNvSpPr txBox="1"/>
          <p:nvPr/>
        </p:nvSpPr>
        <p:spPr>
          <a:xfrm>
            <a:off x="6652260" y="3639814"/>
            <a:ext cx="128016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162.608</a:t>
            </a:r>
          </a:p>
        </p:txBody>
      </p:sp>
      <p:cxnSp>
        <p:nvCxnSpPr>
          <p:cNvPr id="36" name="C5-E15 line 34" descr="sci-ppt:o034"/>
          <p:cNvCxnSpPr/>
          <p:nvPr/>
        </p:nvCxnSpPr>
        <p:spPr>
          <a:xfrm>
            <a:off x="2217420" y="3395445"/>
            <a:ext cx="1691640" cy="542167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7" name="C5-E15 line 35" descr="sci-ppt:o035"/>
          <p:cNvCxnSpPr/>
          <p:nvPr/>
        </p:nvCxnSpPr>
        <p:spPr>
          <a:xfrm>
            <a:off x="3909060" y="3937612"/>
            <a:ext cx="1691640" cy="118416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cxnSp>
        <p:nvCxnSpPr>
          <p:cNvPr id="38" name="C5-E15 line 36" descr="sci-ppt:o036"/>
          <p:cNvCxnSpPr/>
          <p:nvPr/>
        </p:nvCxnSpPr>
        <p:spPr>
          <a:xfrm flipV="1">
            <a:off x="5600700" y="4051294"/>
            <a:ext cx="1691640" cy="4734"/>
          </a:xfrm>
          <a:prstGeom prst="line">
            <a:avLst/>
          </a:prstGeom>
          <a:ln w="31750">
            <a:solidFill>
              <a:srgbClr val="8EDBD4"/>
            </a:solidFill>
          </a:ln>
          <a:effectLst/>
        </p:spPr>
      </p:cxnSp>
      <p:sp>
        <p:nvSpPr>
          <p:cNvPr id="39" name="C5-E15 ellipse 37" descr="sci-ppt:o037"/>
          <p:cNvSpPr/>
          <p:nvPr/>
        </p:nvSpPr>
        <p:spPr>
          <a:xfrm>
            <a:off x="2144268" y="3322293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5-E15 ellipse 38" descr="sci-ppt:o038"/>
          <p:cNvSpPr/>
          <p:nvPr/>
        </p:nvSpPr>
        <p:spPr>
          <a:xfrm>
            <a:off x="3835908" y="3864460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5-E15 ellipse 39" descr="sci-ppt:o039"/>
          <p:cNvSpPr/>
          <p:nvPr/>
        </p:nvSpPr>
        <p:spPr>
          <a:xfrm>
            <a:off x="5527548" y="3982876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5-E15 ellipse 40" descr="sci-ppt:o040"/>
          <p:cNvSpPr/>
          <p:nvPr/>
        </p:nvSpPr>
        <p:spPr>
          <a:xfrm>
            <a:off x="7219188" y="3978142"/>
            <a:ext cx="146304" cy="146304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5-E15 line 41" descr="sci-ppt:o041"/>
          <p:cNvCxnSpPr/>
          <p:nvPr/>
        </p:nvCxnSpPr>
        <p:spPr>
          <a:xfrm>
            <a:off x="1371600" y="2073748"/>
            <a:ext cx="6766560" cy="0"/>
          </a:xfrm>
          <a:prstGeom prst="line">
            <a:avLst/>
          </a:prstGeom>
          <a:ln w="17780">
            <a:solidFill>
              <a:srgbClr val="F2B880"/>
            </a:solidFill>
            <a:prstDash val="dash"/>
          </a:ln>
          <a:effectLst/>
        </p:spPr>
      </p:cxnSp>
      <p:sp>
        <p:nvSpPr>
          <p:cNvPr id="44" name="C5-E15 text 42" descr="sci-ppt:o042"/>
          <p:cNvSpPr txBox="1"/>
          <p:nvPr/>
        </p:nvSpPr>
        <p:spPr>
          <a:xfrm>
            <a:off x="4206240" y="1799428"/>
            <a:ext cx="393192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F2B880"/>
                </a:solidFill>
                <a:latin typeface="Arial"/>
              </a:rPr>
              <a:t>p_H = 174.623 MPa</a:t>
            </a:r>
          </a:p>
        </p:txBody>
      </p:sp>
      <p:sp>
        <p:nvSpPr>
          <p:cNvPr id="45" name="C5-E15 text 43" descr="sci-ppt:o043"/>
          <p:cNvSpPr txBox="1"/>
          <p:nvPr/>
        </p:nvSpPr>
        <p:spPr>
          <a:xfrm>
            <a:off x="8503920" y="1280160"/>
            <a:ext cx="3383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7F0F3"/>
                </a:solidFill>
                <a:latin typeface="Arial"/>
              </a:rPr>
              <a:t>Successive change</a:t>
            </a:r>
          </a:p>
        </p:txBody>
      </p:sp>
      <p:sp>
        <p:nvSpPr>
          <p:cNvPr id="46" name="C5-E15 text 44" descr="sci-ppt:o044"/>
          <p:cNvSpPr txBox="1"/>
          <p:nvPr/>
        </p:nvSpPr>
        <p:spPr>
          <a:xfrm>
            <a:off x="8503920" y="1783080"/>
            <a:ext cx="3383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a/40 → a/80:  1.98%</a:t>
            </a:r>
          </a:p>
        </p:txBody>
      </p:sp>
      <p:sp>
        <p:nvSpPr>
          <p:cNvPr id="47" name="C5-E15 text 45" descr="sci-ppt:o045"/>
          <p:cNvSpPr txBox="1"/>
          <p:nvPr/>
        </p:nvSpPr>
        <p:spPr>
          <a:xfrm>
            <a:off x="8503920" y="2194560"/>
            <a:ext cx="3383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a/80 → a/160:  0.44%</a:t>
            </a:r>
          </a:p>
        </p:txBody>
      </p:sp>
      <p:sp>
        <p:nvSpPr>
          <p:cNvPr id="48" name="C5-E15 text 46" descr="sci-ppt:o046"/>
          <p:cNvSpPr txBox="1"/>
          <p:nvPr/>
        </p:nvSpPr>
        <p:spPr>
          <a:xfrm>
            <a:off x="8503920" y="2606040"/>
            <a:ext cx="3383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8EDBD4"/>
                </a:solidFill>
                <a:latin typeface="Arial"/>
              </a:rPr>
              <a:t>a/160 → a/320:  0.02%</a:t>
            </a:r>
          </a:p>
        </p:txBody>
      </p:sp>
      <p:sp>
        <p:nvSpPr>
          <p:cNvPr id="49" name="C5-E15 text 47" descr="sci-ppt:o047"/>
          <p:cNvSpPr txBox="1"/>
          <p:nvPr/>
        </p:nvSpPr>
        <p:spPr>
          <a:xfrm>
            <a:off x="8503920" y="3200400"/>
            <a:ext cx="33832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7F0F3"/>
                </a:solidFill>
                <a:latin typeface="Arial"/>
              </a:rPr>
              <a:t>Converged peak</a:t>
            </a:r>
          </a:p>
        </p:txBody>
      </p:sp>
      <p:sp>
        <p:nvSpPr>
          <p:cNvPr id="50" name="C5-E15 text 48" descr="sci-ppt:o048"/>
          <p:cNvSpPr txBox="1"/>
          <p:nvPr/>
        </p:nvSpPr>
        <p:spPr>
          <a:xfrm>
            <a:off x="8503920" y="3611880"/>
            <a:ext cx="3383280" cy="310896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7F0F3"/>
                </a:solidFill>
                <a:latin typeface="Arial"/>
              </a:rPr>
              <a:t>162.6 MPa = 0.931 p_H</a:t>
            </a:r>
          </a:p>
        </p:txBody>
      </p:sp>
      <p:sp>
        <p:nvSpPr>
          <p:cNvPr id="51" name="C5-E15 text 49" descr="sci-ppt:o049"/>
          <p:cNvSpPr txBox="1"/>
          <p:nvPr/>
        </p:nvSpPr>
        <p:spPr>
          <a:xfrm>
            <a:off x="8503920" y="3977639"/>
            <a:ext cx="3383280" cy="6400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Denominator of each change: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the previous, coarser value</a:t>
            </a:r>
          </a:p>
        </p:txBody>
      </p:sp>
      <p:sp>
        <p:nvSpPr>
          <p:cNvPr id="52" name="C5-E15 text 50" descr="sci-ppt:o050"/>
          <p:cNvSpPr txBox="1"/>
          <p:nvPr/>
        </p:nvSpPr>
        <p:spPr>
          <a:xfrm>
            <a:off x="320040" y="6473952"/>
            <a:ext cx="114300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Values read from B025, B0125, B00625 and B003125 history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