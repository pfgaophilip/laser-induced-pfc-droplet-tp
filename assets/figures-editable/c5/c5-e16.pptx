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6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C5-E16 · Time-integrated momentum and mass balance of the confined model</a:t>
            </a:r>
          </a:p>
        </p:txBody>
      </p:sp>
      <p:cxnSp>
        <p:nvCxnSpPr>
          <p:cNvPr id="3" name="C5-E16 line 1" descr="sci-ppt:o001"/>
          <p:cNvCxnSpPr/>
          <p:nvPr/>
        </p:nvCxnSpPr>
        <p:spPr>
          <a:xfrm>
            <a:off x="5364480" y="1280160"/>
            <a:ext cx="0" cy="397764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4" name="C5-E16 text 2" descr="sci-ppt:o002"/>
          <p:cNvSpPr txBox="1"/>
          <p:nvPr/>
        </p:nvSpPr>
        <p:spPr>
          <a:xfrm>
            <a:off x="4907280" y="53035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0.0001</a:t>
            </a:r>
          </a:p>
        </p:txBody>
      </p:sp>
      <p:cxnSp>
        <p:nvCxnSpPr>
          <p:cNvPr id="5" name="C5-E16 line 3" descr="sci-ppt:o003"/>
          <p:cNvCxnSpPr/>
          <p:nvPr/>
        </p:nvCxnSpPr>
        <p:spPr>
          <a:xfrm>
            <a:off x="6522720" y="1280160"/>
            <a:ext cx="0" cy="397764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6" name="C5-E16 text 4" descr="sci-ppt:o004"/>
          <p:cNvSpPr txBox="1"/>
          <p:nvPr/>
        </p:nvSpPr>
        <p:spPr>
          <a:xfrm>
            <a:off x="6065520" y="53035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0.001</a:t>
            </a:r>
          </a:p>
        </p:txBody>
      </p:sp>
      <p:cxnSp>
        <p:nvCxnSpPr>
          <p:cNvPr id="7" name="C5-E16 line 5" descr="sci-ppt:o005"/>
          <p:cNvCxnSpPr/>
          <p:nvPr/>
        </p:nvCxnSpPr>
        <p:spPr>
          <a:xfrm>
            <a:off x="7680959" y="1280160"/>
            <a:ext cx="0" cy="397764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8" name="C5-E16 text 6" descr="sci-ppt:o006"/>
          <p:cNvSpPr txBox="1"/>
          <p:nvPr/>
        </p:nvSpPr>
        <p:spPr>
          <a:xfrm>
            <a:off x="7223759" y="53035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0.01</a:t>
            </a:r>
          </a:p>
        </p:txBody>
      </p:sp>
      <p:cxnSp>
        <p:nvCxnSpPr>
          <p:cNvPr id="9" name="C5-E16 line 7" descr="sci-ppt:o007"/>
          <p:cNvCxnSpPr/>
          <p:nvPr/>
        </p:nvCxnSpPr>
        <p:spPr>
          <a:xfrm>
            <a:off x="8839200" y="1280160"/>
            <a:ext cx="0" cy="397764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0" name="C5-E16 text 8" descr="sci-ppt:o008"/>
          <p:cNvSpPr txBox="1"/>
          <p:nvPr/>
        </p:nvSpPr>
        <p:spPr>
          <a:xfrm>
            <a:off x="8381999" y="53035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11" name="C5-E16 line 9" descr="sci-ppt:o009"/>
          <p:cNvCxnSpPr/>
          <p:nvPr/>
        </p:nvCxnSpPr>
        <p:spPr>
          <a:xfrm>
            <a:off x="9997440" y="1280160"/>
            <a:ext cx="0" cy="397764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2" name="C5-E16 text 10" descr="sci-ppt:o010"/>
          <p:cNvSpPr txBox="1"/>
          <p:nvPr/>
        </p:nvSpPr>
        <p:spPr>
          <a:xfrm>
            <a:off x="9540240" y="53035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3" name="C5-E16 line 11" descr="sci-ppt:o011"/>
          <p:cNvCxnSpPr/>
          <p:nvPr/>
        </p:nvCxnSpPr>
        <p:spPr>
          <a:xfrm>
            <a:off x="11155680" y="1280160"/>
            <a:ext cx="0" cy="397764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4" name="C5-E16 text 12" descr="sci-ppt:o012"/>
          <p:cNvSpPr txBox="1"/>
          <p:nvPr/>
        </p:nvSpPr>
        <p:spPr>
          <a:xfrm>
            <a:off x="10698480" y="53035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sp>
        <p:nvSpPr>
          <p:cNvPr id="15" name="C5-E16 text 13" descr="sci-ppt:o013"/>
          <p:cNvSpPr txBox="1"/>
          <p:nvPr/>
        </p:nvSpPr>
        <p:spPr>
          <a:xfrm>
            <a:off x="4206240" y="5623560"/>
            <a:ext cx="69494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Relative size (%), logarithmic axis</a:t>
            </a:r>
          </a:p>
        </p:txBody>
      </p:sp>
      <p:cxnSp>
        <p:nvCxnSpPr>
          <p:cNvPr id="16" name="C5-E16 line 14" descr="sci-ppt:o014"/>
          <p:cNvCxnSpPr/>
          <p:nvPr/>
        </p:nvCxnSpPr>
        <p:spPr>
          <a:xfrm>
            <a:off x="10807015" y="1280160"/>
            <a:ext cx="0" cy="3977640"/>
          </a:xfrm>
          <a:prstGeom prst="line">
            <a:avLst/>
          </a:prstGeom>
          <a:ln w="25400">
            <a:solidFill>
              <a:srgbClr val="F2B880"/>
            </a:solidFill>
            <a:prstDash val="dash"/>
          </a:ln>
          <a:effectLst/>
        </p:spPr>
      </p:cxnSp>
      <p:sp>
        <p:nvSpPr>
          <p:cNvPr id="17" name="C5-E16 text 15" descr="sci-ppt:o015"/>
          <p:cNvSpPr txBox="1"/>
          <p:nvPr/>
        </p:nvSpPr>
        <p:spPr>
          <a:xfrm>
            <a:off x="9618295" y="960120"/>
            <a:ext cx="23774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5% engineering line</a:t>
            </a:r>
          </a:p>
        </p:txBody>
      </p:sp>
      <p:sp>
        <p:nvSpPr>
          <p:cNvPr id="18" name="C5-E16 text 16" descr="sci-ppt:o016"/>
          <p:cNvSpPr txBox="1"/>
          <p:nvPr/>
        </p:nvSpPr>
        <p:spPr>
          <a:xfrm>
            <a:off x="411480" y="14173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Time step (strict vs automatic)</a:t>
            </a:r>
          </a:p>
        </p:txBody>
      </p:sp>
      <p:sp>
        <p:nvSpPr>
          <p:cNvPr id="19" name="C5-E16 rect 17" descr="sci-ppt:o017"/>
          <p:cNvSpPr/>
          <p:nvPr/>
        </p:nvSpPr>
        <p:spPr>
          <a:xfrm>
            <a:off x="4206240" y="1453896"/>
            <a:ext cx="5639738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5-E16 text 18" descr="sci-ppt:o018"/>
          <p:cNvSpPr txBox="1"/>
          <p:nvPr/>
        </p:nvSpPr>
        <p:spPr>
          <a:xfrm>
            <a:off x="9937418" y="1453896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0.74%</a:t>
            </a:r>
          </a:p>
        </p:txBody>
      </p:sp>
      <p:sp>
        <p:nvSpPr>
          <p:cNvPr id="21" name="C5-E16 text 19" descr="sci-ppt:o019"/>
          <p:cNvSpPr txBox="1"/>
          <p:nvPr/>
        </p:nvSpPr>
        <p:spPr>
          <a:xfrm>
            <a:off x="411480" y="196596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Momentum balance (confined)</a:t>
            </a:r>
          </a:p>
        </p:txBody>
      </p:sp>
      <p:sp>
        <p:nvSpPr>
          <p:cNvPr id="22" name="C5-E16 rect 20" descr="sci-ppt:o020"/>
          <p:cNvSpPr/>
          <p:nvPr/>
        </p:nvSpPr>
        <p:spPr>
          <a:xfrm>
            <a:off x="4206240" y="2002536"/>
            <a:ext cx="4662270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5-E16 text 21" descr="sci-ppt:o021"/>
          <p:cNvSpPr txBox="1"/>
          <p:nvPr/>
        </p:nvSpPr>
        <p:spPr>
          <a:xfrm>
            <a:off x="8959950" y="2002536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0.106%</a:t>
            </a:r>
          </a:p>
        </p:txBody>
      </p:sp>
      <p:sp>
        <p:nvSpPr>
          <p:cNvPr id="24" name="C5-E16 text 22" descr="sci-ppt:o022"/>
          <p:cNvSpPr txBox="1"/>
          <p:nvPr/>
        </p:nvSpPr>
        <p:spPr>
          <a:xfrm>
            <a:off x="411480" y="251460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Mass balance (confined)</a:t>
            </a:r>
          </a:p>
        </p:txBody>
      </p:sp>
      <p:sp>
        <p:nvSpPr>
          <p:cNvPr id="25" name="C5-E16 rect 23" descr="sci-ppt:o023"/>
          <p:cNvSpPr/>
          <p:nvPr/>
        </p:nvSpPr>
        <p:spPr>
          <a:xfrm>
            <a:off x="4206240" y="2551176"/>
            <a:ext cx="3770386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5-E16 text 24" descr="sci-ppt:o024"/>
          <p:cNvSpPr txBox="1"/>
          <p:nvPr/>
        </p:nvSpPr>
        <p:spPr>
          <a:xfrm>
            <a:off x="8068066" y="2551176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0.018%</a:t>
            </a:r>
          </a:p>
        </p:txBody>
      </p:sp>
      <p:sp>
        <p:nvSpPr>
          <p:cNvPr id="27" name="C5-E16 text 25" descr="sci-ppt:o025"/>
          <p:cNvSpPr txBox="1"/>
          <p:nvPr/>
        </p:nvSpPr>
        <p:spPr>
          <a:xfrm>
            <a:off x="411480" y="3063239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Plateau, C++ vs COMSOL</a:t>
            </a:r>
          </a:p>
        </p:txBody>
      </p:sp>
      <p:sp>
        <p:nvSpPr>
          <p:cNvPr id="28" name="C5-E16 rect 26" descr="sci-ppt:o026"/>
          <p:cNvSpPr/>
          <p:nvPr/>
        </p:nvSpPr>
        <p:spPr>
          <a:xfrm>
            <a:off x="4206240" y="3099815"/>
            <a:ext cx="4059804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5-E16 text 27" descr="sci-ppt:o027"/>
          <p:cNvSpPr txBox="1"/>
          <p:nvPr/>
        </p:nvSpPr>
        <p:spPr>
          <a:xfrm>
            <a:off x="8357484" y="3099815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0.032%</a:t>
            </a:r>
          </a:p>
        </p:txBody>
      </p:sp>
      <p:sp>
        <p:nvSpPr>
          <p:cNvPr id="30" name="C5-E16 text 28" descr="sci-ppt:o028"/>
          <p:cNvSpPr txBox="1"/>
          <p:nvPr/>
        </p:nvSpPr>
        <p:spPr>
          <a:xfrm>
            <a:off x="411480" y="3611879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Wave history L2, C++ vs COMSOL</a:t>
            </a:r>
          </a:p>
        </p:txBody>
      </p:sp>
      <p:sp>
        <p:nvSpPr>
          <p:cNvPr id="31" name="C5-E16 rect 29" descr="sci-ppt:o029"/>
          <p:cNvSpPr/>
          <p:nvPr/>
        </p:nvSpPr>
        <p:spPr>
          <a:xfrm>
            <a:off x="4206240" y="3648456"/>
            <a:ext cx="4090300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5-E16 text 30" descr="sci-ppt:o030"/>
          <p:cNvSpPr txBox="1"/>
          <p:nvPr/>
        </p:nvSpPr>
        <p:spPr>
          <a:xfrm>
            <a:off x="8387980" y="3648456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0.034%</a:t>
            </a:r>
          </a:p>
        </p:txBody>
      </p:sp>
      <p:sp>
        <p:nvSpPr>
          <p:cNvPr id="33" name="C5-E16 text 31" descr="sci-ppt:o031"/>
          <p:cNvSpPr txBox="1"/>
          <p:nvPr/>
        </p:nvSpPr>
        <p:spPr>
          <a:xfrm>
            <a:off x="411480" y="41605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Centre disk vs p_H (converged)</a:t>
            </a:r>
          </a:p>
        </p:txBody>
      </p:sp>
      <p:sp>
        <p:nvSpPr>
          <p:cNvPr id="34" name="C5-E16 rect 32" descr="sci-ppt:o032"/>
          <p:cNvSpPr/>
          <p:nvPr/>
        </p:nvSpPr>
        <p:spPr>
          <a:xfrm>
            <a:off x="4206240" y="4197096"/>
            <a:ext cx="4812876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5-E16 text 33" descr="sci-ppt:o033"/>
          <p:cNvSpPr txBox="1"/>
          <p:nvPr/>
        </p:nvSpPr>
        <p:spPr>
          <a:xfrm>
            <a:off x="9110556" y="4197096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0.143%</a:t>
            </a:r>
          </a:p>
        </p:txBody>
      </p:sp>
      <p:sp>
        <p:nvSpPr>
          <p:cNvPr id="36" name="C5-E16 text 34" descr="sci-ppt:o034"/>
          <p:cNvSpPr txBox="1"/>
          <p:nvPr/>
        </p:nvSpPr>
        <p:spPr>
          <a:xfrm>
            <a:off x="411480" y="4709159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Incident speed, plane z = 2a</a:t>
            </a:r>
          </a:p>
        </p:txBody>
      </p:sp>
      <p:sp>
        <p:nvSpPr>
          <p:cNvPr id="37" name="C5-E16 rect 35" descr="sci-ppt:o035"/>
          <p:cNvSpPr/>
          <p:nvPr/>
        </p:nvSpPr>
        <p:spPr>
          <a:xfrm>
            <a:off x="4206240" y="4745736"/>
            <a:ext cx="27432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5-E16 text 36" descr="sci-ppt:o036"/>
          <p:cNvSpPr txBox="1"/>
          <p:nvPr/>
        </p:nvSpPr>
        <p:spPr>
          <a:xfrm>
            <a:off x="4297679" y="4745736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&lt; 1e-5</a:t>
            </a:r>
          </a:p>
        </p:txBody>
      </p:sp>
      <p:sp>
        <p:nvSpPr>
          <p:cNvPr id="39" name="C5-E16 text 37" descr="sci-ppt:o037"/>
          <p:cNvSpPr txBox="1"/>
          <p:nvPr/>
        </p:nvSpPr>
        <p:spPr>
          <a:xfrm>
            <a:off x="411480" y="6053328"/>
            <a:ext cx="113385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Every bar compares a result with its own stated reference; none compares a model with an experiment.</a:t>
            </a:r>
          </a:p>
        </p:txBody>
      </p:sp>
      <p:sp>
        <p:nvSpPr>
          <p:cNvPr id="40" name="C5-E16 text 38" descr="sci-ppt:o038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Values from CH6_CH8_RESULTS.json, CPP_vs_COMSOL_wall_history.json and BAND_RESULTS.json.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