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9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C5-E19 · Delivered rigid-wall relations and link to the Chapter 3 ceiling</a:t>
            </a:r>
          </a:p>
        </p:txBody>
      </p:sp>
      <p:cxnSp>
        <p:nvCxnSpPr>
          <p:cNvPr id="3" name="C5-E19 line 1" descr="sci-ppt:o001"/>
          <p:cNvCxnSpPr/>
          <p:nvPr/>
        </p:nvCxnSpPr>
        <p:spPr>
          <a:xfrm>
            <a:off x="1828800" y="4206240"/>
            <a:ext cx="7863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19 line 2" descr="sci-ppt:o002"/>
          <p:cNvCxnSpPr/>
          <p:nvPr/>
        </p:nvCxnSpPr>
        <p:spPr>
          <a:xfrm>
            <a:off x="1828800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5" name="C5-E19 text 3" descr="sci-ppt:o003"/>
          <p:cNvSpPr txBox="1"/>
          <p:nvPr/>
        </p:nvSpPr>
        <p:spPr>
          <a:xfrm>
            <a:off x="1463040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155</a:t>
            </a:r>
          </a:p>
        </p:txBody>
      </p:sp>
      <p:cxnSp>
        <p:nvCxnSpPr>
          <p:cNvPr id="6" name="C5-E19 line 4" descr="sci-ppt:o004"/>
          <p:cNvCxnSpPr/>
          <p:nvPr/>
        </p:nvCxnSpPr>
        <p:spPr>
          <a:xfrm>
            <a:off x="3401568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" name="C5-E19 text 5" descr="sci-ppt:o005"/>
          <p:cNvSpPr txBox="1"/>
          <p:nvPr/>
        </p:nvSpPr>
        <p:spPr>
          <a:xfrm>
            <a:off x="3035808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160</a:t>
            </a:r>
          </a:p>
        </p:txBody>
      </p:sp>
      <p:cxnSp>
        <p:nvCxnSpPr>
          <p:cNvPr id="8" name="C5-E19 line 6" descr="sci-ppt:o006"/>
          <p:cNvCxnSpPr/>
          <p:nvPr/>
        </p:nvCxnSpPr>
        <p:spPr>
          <a:xfrm>
            <a:off x="4974336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9" name="C5-E19 text 7" descr="sci-ppt:o007"/>
          <p:cNvSpPr txBox="1"/>
          <p:nvPr/>
        </p:nvSpPr>
        <p:spPr>
          <a:xfrm>
            <a:off x="4608575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165</a:t>
            </a:r>
          </a:p>
        </p:txBody>
      </p:sp>
      <p:cxnSp>
        <p:nvCxnSpPr>
          <p:cNvPr id="10" name="C5-E19 line 8" descr="sci-ppt:o008"/>
          <p:cNvCxnSpPr/>
          <p:nvPr/>
        </p:nvCxnSpPr>
        <p:spPr>
          <a:xfrm>
            <a:off x="6547103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1" name="C5-E19 text 9" descr="sci-ppt:o009"/>
          <p:cNvSpPr txBox="1"/>
          <p:nvPr/>
        </p:nvSpPr>
        <p:spPr>
          <a:xfrm>
            <a:off x="6181343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170</a:t>
            </a:r>
          </a:p>
        </p:txBody>
      </p:sp>
      <p:cxnSp>
        <p:nvCxnSpPr>
          <p:cNvPr id="12" name="C5-E19 line 10" descr="sci-ppt:o010"/>
          <p:cNvCxnSpPr/>
          <p:nvPr/>
        </p:nvCxnSpPr>
        <p:spPr>
          <a:xfrm>
            <a:off x="8119871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3" name="C5-E19 text 11" descr="sci-ppt:o011"/>
          <p:cNvSpPr txBox="1"/>
          <p:nvPr/>
        </p:nvSpPr>
        <p:spPr>
          <a:xfrm>
            <a:off x="7754111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175</a:t>
            </a:r>
          </a:p>
        </p:txBody>
      </p:sp>
      <p:cxnSp>
        <p:nvCxnSpPr>
          <p:cNvPr id="14" name="C5-E19 line 12" descr="sci-ppt:o012"/>
          <p:cNvCxnSpPr/>
          <p:nvPr/>
        </p:nvCxnSpPr>
        <p:spPr>
          <a:xfrm>
            <a:off x="9692640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5" name="C5-E19 text 13" descr="sci-ppt:o013"/>
          <p:cNvSpPr txBox="1"/>
          <p:nvPr/>
        </p:nvSpPr>
        <p:spPr>
          <a:xfrm>
            <a:off x="9326880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180</a:t>
            </a:r>
          </a:p>
        </p:txBody>
      </p:sp>
      <p:sp>
        <p:nvSpPr>
          <p:cNvPr id="16" name="C5-E19 text 14" descr="sci-ppt:o014"/>
          <p:cNvSpPr txBox="1"/>
          <p:nvPr/>
        </p:nvSpPr>
        <p:spPr>
          <a:xfrm>
            <a:off x="1828800" y="4617720"/>
            <a:ext cx="78638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Peak absolute wall pressure at U = 99.027 m/s (MPa)</a:t>
            </a:r>
          </a:p>
        </p:txBody>
      </p:sp>
      <p:cxnSp>
        <p:nvCxnSpPr>
          <p:cNvPr id="17" name="C5-E19 line 15" descr="sci-ppt:o015"/>
          <p:cNvCxnSpPr/>
          <p:nvPr/>
        </p:nvCxnSpPr>
        <p:spPr>
          <a:xfrm>
            <a:off x="1828800" y="1645920"/>
            <a:ext cx="1845341" cy="0"/>
          </a:xfrm>
          <a:prstGeom prst="line">
            <a:avLst/>
          </a:prstGeom>
          <a:ln w="50800">
            <a:solidFill>
              <a:srgbClr val="B4C7D2"/>
            </a:solidFill>
          </a:ln>
          <a:effectLst/>
        </p:spPr>
      </p:cxnSp>
      <p:sp>
        <p:nvSpPr>
          <p:cNvPr id="18" name="C5-E19 ellipse 16" descr="sci-ppt:o016"/>
          <p:cNvSpPr/>
          <p:nvPr/>
        </p:nvSpPr>
        <p:spPr>
          <a:xfrm>
            <a:off x="3582701" y="1554480"/>
            <a:ext cx="182880" cy="182880"/>
          </a:xfrm>
          <a:prstGeom prst="ellipse">
            <a:avLst/>
          </a:prstGeom>
          <a:solidFill>
            <a:srgbClr val="B4C7D2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5-E19 text 17" descr="sci-ppt:o017"/>
          <p:cNvSpPr txBox="1"/>
          <p:nvPr/>
        </p:nvSpPr>
        <p:spPr>
          <a:xfrm>
            <a:off x="182880" y="1481328"/>
            <a:ext cx="16002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Linear ceiling p_A</a:t>
            </a:r>
          </a:p>
        </p:txBody>
      </p:sp>
      <p:sp>
        <p:nvSpPr>
          <p:cNvPr id="20" name="C5-E19 text 18" descr="sci-ppt:o018"/>
          <p:cNvSpPr txBox="1"/>
          <p:nvPr/>
        </p:nvSpPr>
        <p:spPr>
          <a:xfrm>
            <a:off x="3857021" y="1389888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160.87 MPa</a:t>
            </a:r>
          </a:p>
        </p:txBody>
      </p:sp>
      <p:sp>
        <p:nvSpPr>
          <p:cNvPr id="21" name="C5-E19 text 19" descr="sci-ppt:o019"/>
          <p:cNvSpPr txBox="1"/>
          <p:nvPr/>
        </p:nvSpPr>
        <p:spPr>
          <a:xfrm>
            <a:off x="3857021" y="171907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acoustic</a:t>
            </a:r>
          </a:p>
        </p:txBody>
      </p:sp>
      <p:cxnSp>
        <p:nvCxnSpPr>
          <p:cNvPr id="22" name="C5-E19 line 20" descr="sci-ppt:o020"/>
          <p:cNvCxnSpPr/>
          <p:nvPr/>
        </p:nvCxnSpPr>
        <p:spPr>
          <a:xfrm>
            <a:off x="1828800" y="2606039"/>
            <a:ext cx="2384094" cy="0"/>
          </a:xfrm>
          <a:prstGeom prst="line">
            <a:avLst/>
          </a:prstGeom>
          <a:ln w="50800">
            <a:solidFill>
              <a:srgbClr val="8EDBD4"/>
            </a:solidFill>
          </a:ln>
          <a:effectLst/>
        </p:spPr>
      </p:cxnSp>
      <p:sp>
        <p:nvSpPr>
          <p:cNvPr id="23" name="C5-E19 ellipse 21" descr="sci-ppt:o021"/>
          <p:cNvSpPr/>
          <p:nvPr/>
        </p:nvSpPr>
        <p:spPr>
          <a:xfrm>
            <a:off x="4121454" y="2514599"/>
            <a:ext cx="182880" cy="182880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5-E19 text 22" descr="sci-ppt:o022"/>
          <p:cNvSpPr txBox="1"/>
          <p:nvPr/>
        </p:nvSpPr>
        <p:spPr>
          <a:xfrm>
            <a:off x="182880" y="2441448"/>
            <a:ext cx="16002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Full sensor, r ≤ a</a:t>
            </a:r>
          </a:p>
        </p:txBody>
      </p:sp>
      <p:sp>
        <p:nvSpPr>
          <p:cNvPr id="25" name="C5-E19 text 23" descr="sci-ppt:o023"/>
          <p:cNvSpPr txBox="1"/>
          <p:nvPr/>
        </p:nvSpPr>
        <p:spPr>
          <a:xfrm>
            <a:off x="4395774" y="2350008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162.58 MPa</a:t>
            </a:r>
          </a:p>
        </p:txBody>
      </p:sp>
      <p:sp>
        <p:nvSpPr>
          <p:cNvPr id="26" name="C5-E19 text 24" descr="sci-ppt:o024"/>
          <p:cNvSpPr txBox="1"/>
          <p:nvPr/>
        </p:nvSpPr>
        <p:spPr>
          <a:xfrm>
            <a:off x="4395774" y="2679191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0.931 p_H (band a/160)</a:t>
            </a:r>
          </a:p>
        </p:txBody>
      </p:sp>
      <p:cxnSp>
        <p:nvCxnSpPr>
          <p:cNvPr id="27" name="C5-E19 line 25" descr="sci-ppt:o025"/>
          <p:cNvCxnSpPr/>
          <p:nvPr/>
        </p:nvCxnSpPr>
        <p:spPr>
          <a:xfrm>
            <a:off x="1828800" y="3566160"/>
            <a:ext cx="6172452" cy="0"/>
          </a:xfrm>
          <a:prstGeom prst="line">
            <a:avLst/>
          </a:prstGeom>
          <a:ln w="50800">
            <a:solidFill>
              <a:srgbClr val="F2B880"/>
            </a:solidFill>
          </a:ln>
          <a:effectLst/>
        </p:spPr>
      </p:cxnSp>
      <p:sp>
        <p:nvSpPr>
          <p:cNvPr id="28" name="C5-E19 ellipse 26" descr="sci-ppt:o026"/>
          <p:cNvSpPr/>
          <p:nvPr/>
        </p:nvSpPr>
        <p:spPr>
          <a:xfrm>
            <a:off x="7909812" y="3474720"/>
            <a:ext cx="182880" cy="182880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5-E19 text 27" descr="sci-ppt:o027"/>
          <p:cNvSpPr txBox="1"/>
          <p:nvPr/>
        </p:nvSpPr>
        <p:spPr>
          <a:xfrm>
            <a:off x="182880" y="3401568"/>
            <a:ext cx="160020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Centre disk, r ≤ a/2</a:t>
            </a:r>
          </a:p>
        </p:txBody>
      </p:sp>
      <p:sp>
        <p:nvSpPr>
          <p:cNvPr id="30" name="C5-E19 text 28" descr="sci-ppt:o028"/>
          <p:cNvSpPr txBox="1"/>
          <p:nvPr/>
        </p:nvSpPr>
        <p:spPr>
          <a:xfrm>
            <a:off x="8184132" y="3310128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174.62 MPa</a:t>
            </a:r>
          </a:p>
        </p:txBody>
      </p:sp>
      <p:sp>
        <p:nvSpPr>
          <p:cNvPr id="31" name="C5-E19 text 29" descr="sci-ppt:o029"/>
          <p:cNvSpPr txBox="1"/>
          <p:nvPr/>
        </p:nvSpPr>
        <p:spPr>
          <a:xfrm>
            <a:off x="8184132" y="3639312"/>
            <a:ext cx="29260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p_H within 0.43%</a:t>
            </a:r>
          </a:p>
        </p:txBody>
      </p:sp>
      <p:sp>
        <p:nvSpPr>
          <p:cNvPr id="32" name="C5-E19 text 30" descr="sci-ppt:o030"/>
          <p:cNvSpPr txBox="1"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High-pressure interval lasts about a / c_0 = 0.61 ns for a = 1 µm.</a:t>
            </a:r>
          </a:p>
        </p:txBody>
      </p:sp>
      <p:sp>
        <p:nvSpPr>
          <p:cNvPr id="33" name="C5-E19 text 31" descr="sci-ppt:o031"/>
          <p:cNvSpPr txBox="1"/>
          <p:nvPr/>
        </p:nvSpPr>
        <p:spPr>
          <a:xfrm>
            <a:off x="731520" y="562356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Nonlinear factor over the linear ceiling: U_s / c_0 = 1.0856.</a:t>
            </a:r>
          </a:p>
        </p:txBody>
      </p:sp>
      <p:sp>
        <p:nvSpPr>
          <p:cNvPr id="34" name="C5-E19 text 32" descr="sci-ppt:o032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Values from Eq. (C5-E19) and the converged band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