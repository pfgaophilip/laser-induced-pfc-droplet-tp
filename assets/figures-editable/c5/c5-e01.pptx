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1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C5-E01 · Adopted barotropic stiffened-gas law and exact sound speed</a:t>
            </a:r>
          </a:p>
        </p:txBody>
      </p:sp>
      <p:cxnSp>
        <p:nvCxnSpPr>
          <p:cNvPr id="3" name="C5-E01 line 1" descr="sci-ppt:o001"/>
          <p:cNvCxnSpPr/>
          <p:nvPr/>
        </p:nvCxnSpPr>
        <p:spPr>
          <a:xfrm>
            <a:off x="1280160" y="5303520"/>
            <a:ext cx="60350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01 line 2" descr="sci-ppt:o002"/>
          <p:cNvCxnSpPr/>
          <p:nvPr/>
        </p:nvCxnSpPr>
        <p:spPr>
          <a:xfrm>
            <a:off x="1280160" y="1188720"/>
            <a:ext cx="0" cy="41148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01 line 3" descr="sci-ppt:o003"/>
          <p:cNvCxnSpPr/>
          <p:nvPr/>
        </p:nvCxnSpPr>
        <p:spPr>
          <a:xfrm>
            <a:off x="128016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01 text 4" descr="sci-ppt:o004"/>
          <p:cNvSpPr txBox="1"/>
          <p:nvPr/>
        </p:nvSpPr>
        <p:spPr>
          <a:xfrm>
            <a:off x="822959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7" name="C5-E01 line 5" descr="sci-ppt:o005"/>
          <p:cNvCxnSpPr/>
          <p:nvPr/>
        </p:nvCxnSpPr>
        <p:spPr>
          <a:xfrm>
            <a:off x="278892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8" name="C5-E01 text 6" descr="sci-ppt:o006"/>
          <p:cNvSpPr txBox="1"/>
          <p:nvPr/>
        </p:nvSpPr>
        <p:spPr>
          <a:xfrm>
            <a:off x="233172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1.02</a:t>
            </a:r>
          </a:p>
        </p:txBody>
      </p:sp>
      <p:cxnSp>
        <p:nvCxnSpPr>
          <p:cNvPr id="9" name="C5-E01 line 7" descr="sci-ppt:o007"/>
          <p:cNvCxnSpPr/>
          <p:nvPr/>
        </p:nvCxnSpPr>
        <p:spPr>
          <a:xfrm>
            <a:off x="4297679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0" name="C5-E01 text 8" descr="sci-ppt:o008"/>
          <p:cNvSpPr txBox="1"/>
          <p:nvPr/>
        </p:nvSpPr>
        <p:spPr>
          <a:xfrm>
            <a:off x="3840479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1.04</a:t>
            </a:r>
          </a:p>
        </p:txBody>
      </p:sp>
      <p:cxnSp>
        <p:nvCxnSpPr>
          <p:cNvPr id="11" name="C5-E01 line 9" descr="sci-ppt:o009"/>
          <p:cNvCxnSpPr/>
          <p:nvPr/>
        </p:nvCxnSpPr>
        <p:spPr>
          <a:xfrm>
            <a:off x="58064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01 text 10" descr="sci-ppt:o010"/>
          <p:cNvSpPr txBox="1"/>
          <p:nvPr/>
        </p:nvSpPr>
        <p:spPr>
          <a:xfrm>
            <a:off x="534924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1.06</a:t>
            </a:r>
          </a:p>
        </p:txBody>
      </p:sp>
      <p:cxnSp>
        <p:nvCxnSpPr>
          <p:cNvPr id="13" name="C5-E01 line 11" descr="sci-ppt:o011"/>
          <p:cNvCxnSpPr/>
          <p:nvPr/>
        </p:nvCxnSpPr>
        <p:spPr>
          <a:xfrm>
            <a:off x="731520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4" name="C5-E01 text 12" descr="sci-ppt:o012"/>
          <p:cNvSpPr txBox="1"/>
          <p:nvPr/>
        </p:nvSpPr>
        <p:spPr>
          <a:xfrm>
            <a:off x="685800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1.08</a:t>
            </a:r>
          </a:p>
        </p:txBody>
      </p:sp>
      <p:cxnSp>
        <p:nvCxnSpPr>
          <p:cNvPr id="15" name="C5-E01 line 13" descr="sci-ppt:o013"/>
          <p:cNvCxnSpPr/>
          <p:nvPr/>
        </p:nvCxnSpPr>
        <p:spPr>
          <a:xfrm>
            <a:off x="1216151" y="53035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5-E01 line 14" descr="sci-ppt:o014"/>
          <p:cNvCxnSpPr/>
          <p:nvPr/>
        </p:nvCxnSpPr>
        <p:spPr>
          <a:xfrm>
            <a:off x="1280160" y="530352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5-E01 text 15" descr="sci-ppt:o015"/>
          <p:cNvSpPr txBox="1"/>
          <p:nvPr/>
        </p:nvSpPr>
        <p:spPr>
          <a:xfrm>
            <a:off x="502919" y="517550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8" name="C5-E01 line 16" descr="sci-ppt:o016"/>
          <p:cNvCxnSpPr/>
          <p:nvPr/>
        </p:nvCxnSpPr>
        <p:spPr>
          <a:xfrm>
            <a:off x="1216151" y="448055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5-E01 line 17" descr="sci-ppt:o017"/>
          <p:cNvCxnSpPr/>
          <p:nvPr/>
        </p:nvCxnSpPr>
        <p:spPr>
          <a:xfrm>
            <a:off x="1280160" y="4480559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5-E01 text 18" descr="sci-ppt:o018"/>
          <p:cNvSpPr txBox="1"/>
          <p:nvPr/>
        </p:nvSpPr>
        <p:spPr>
          <a:xfrm>
            <a:off x="502919" y="435254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50</a:t>
            </a:r>
          </a:p>
        </p:txBody>
      </p:sp>
      <p:cxnSp>
        <p:nvCxnSpPr>
          <p:cNvPr id="21" name="C5-E01 line 19" descr="sci-ppt:o019"/>
          <p:cNvCxnSpPr/>
          <p:nvPr/>
        </p:nvCxnSpPr>
        <p:spPr>
          <a:xfrm>
            <a:off x="1216151" y="36576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5-E01 line 20" descr="sci-ppt:o020"/>
          <p:cNvCxnSpPr/>
          <p:nvPr/>
        </p:nvCxnSpPr>
        <p:spPr>
          <a:xfrm>
            <a:off x="1280160" y="36576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5-E01 text 21" descr="sci-ppt:o021"/>
          <p:cNvSpPr txBox="1"/>
          <p:nvPr/>
        </p:nvSpPr>
        <p:spPr>
          <a:xfrm>
            <a:off x="502919" y="352958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24" name="C5-E01 line 22" descr="sci-ppt:o022"/>
          <p:cNvCxnSpPr/>
          <p:nvPr/>
        </p:nvCxnSpPr>
        <p:spPr>
          <a:xfrm>
            <a:off x="1216151" y="283464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5-E01 line 23" descr="sci-ppt:o023"/>
          <p:cNvCxnSpPr/>
          <p:nvPr/>
        </p:nvCxnSpPr>
        <p:spPr>
          <a:xfrm>
            <a:off x="1280160" y="283464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5-E01 text 24" descr="sci-ppt:o024"/>
          <p:cNvSpPr txBox="1"/>
          <p:nvPr/>
        </p:nvSpPr>
        <p:spPr>
          <a:xfrm>
            <a:off x="502919" y="270662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150</a:t>
            </a:r>
          </a:p>
        </p:txBody>
      </p:sp>
      <p:cxnSp>
        <p:nvCxnSpPr>
          <p:cNvPr id="27" name="C5-E01 line 25" descr="sci-ppt:o025"/>
          <p:cNvCxnSpPr/>
          <p:nvPr/>
        </p:nvCxnSpPr>
        <p:spPr>
          <a:xfrm>
            <a:off x="1216151" y="201167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5-E01 line 26" descr="sci-ppt:o026"/>
          <p:cNvCxnSpPr/>
          <p:nvPr/>
        </p:nvCxnSpPr>
        <p:spPr>
          <a:xfrm>
            <a:off x="1280160" y="2011679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5-E01 text 27" descr="sci-ppt:o027"/>
          <p:cNvSpPr txBox="1"/>
          <p:nvPr/>
        </p:nvSpPr>
        <p:spPr>
          <a:xfrm>
            <a:off x="502919" y="188366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200</a:t>
            </a:r>
          </a:p>
        </p:txBody>
      </p:sp>
      <p:cxnSp>
        <p:nvCxnSpPr>
          <p:cNvPr id="30" name="C5-E01 line 28" descr="sci-ppt:o028"/>
          <p:cNvCxnSpPr/>
          <p:nvPr/>
        </p:nvCxnSpPr>
        <p:spPr>
          <a:xfrm>
            <a:off x="1216151" y="118871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5-E01 line 29" descr="sci-ppt:o029"/>
          <p:cNvCxnSpPr/>
          <p:nvPr/>
        </p:nvCxnSpPr>
        <p:spPr>
          <a:xfrm>
            <a:off x="1280160" y="1188719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5-E01 text 30" descr="sci-ppt:o030"/>
          <p:cNvSpPr txBox="1"/>
          <p:nvPr/>
        </p:nvSpPr>
        <p:spPr>
          <a:xfrm>
            <a:off x="502919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250</a:t>
            </a:r>
          </a:p>
        </p:txBody>
      </p:sp>
      <p:sp>
        <p:nvSpPr>
          <p:cNvPr id="33" name="C5-E01 text 31" descr="sci-ppt:o031"/>
          <p:cNvSpPr txBox="1"/>
          <p:nvPr/>
        </p:nvSpPr>
        <p:spPr>
          <a:xfrm>
            <a:off x="1280160" y="5650992"/>
            <a:ext cx="60350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Density ratio ρ / ρ_j</a:t>
            </a:r>
          </a:p>
        </p:txBody>
      </p:sp>
      <p:sp>
        <p:nvSpPr>
          <p:cNvPr id="34" name="C5-E01 text 32" descr="sci-ppt:o032"/>
          <p:cNvSpPr txBox="1"/>
          <p:nvPr/>
        </p:nvSpPr>
        <p:spPr>
          <a:xfrm>
            <a:off x="411479" y="804672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Absolute pressure (MPa)</a:t>
            </a:r>
          </a:p>
        </p:txBody>
      </p:sp>
      <p:cxnSp>
        <p:nvCxnSpPr>
          <p:cNvPr id="35" name="C5-E01 line 33" descr="sci-ppt:o033"/>
          <p:cNvCxnSpPr/>
          <p:nvPr/>
        </p:nvCxnSpPr>
        <p:spPr>
          <a:xfrm flipV="1">
            <a:off x="1280160" y="5267037"/>
            <a:ext cx="60350" cy="3481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6" name="C5-E01 line 34" descr="sci-ppt:o034"/>
          <p:cNvCxnSpPr/>
          <p:nvPr/>
        </p:nvCxnSpPr>
        <p:spPr>
          <a:xfrm flipV="1">
            <a:off x="1340510" y="5232127"/>
            <a:ext cx="60350" cy="3491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7" name="C5-E01 line 35" descr="sci-ppt:o035"/>
          <p:cNvCxnSpPr/>
          <p:nvPr/>
        </p:nvCxnSpPr>
        <p:spPr>
          <a:xfrm flipV="1">
            <a:off x="1400860" y="5197122"/>
            <a:ext cx="60351" cy="3500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8" name="C5-E01 line 36" descr="sci-ppt:o036"/>
          <p:cNvCxnSpPr/>
          <p:nvPr/>
        </p:nvCxnSpPr>
        <p:spPr>
          <a:xfrm flipV="1">
            <a:off x="1461211" y="5162022"/>
            <a:ext cx="60350" cy="3510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9" name="C5-E01 line 37" descr="sci-ppt:o037"/>
          <p:cNvCxnSpPr/>
          <p:nvPr/>
        </p:nvCxnSpPr>
        <p:spPr>
          <a:xfrm flipV="1">
            <a:off x="1521561" y="5126827"/>
            <a:ext cx="60351" cy="3519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0" name="C5-E01 line 38" descr="sci-ppt:o038"/>
          <p:cNvCxnSpPr/>
          <p:nvPr/>
        </p:nvCxnSpPr>
        <p:spPr>
          <a:xfrm flipV="1">
            <a:off x="1581912" y="5091537"/>
            <a:ext cx="60350" cy="3529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1" name="C5-E01 line 39" descr="sci-ppt:o039"/>
          <p:cNvCxnSpPr/>
          <p:nvPr/>
        </p:nvCxnSpPr>
        <p:spPr>
          <a:xfrm flipV="1">
            <a:off x="1642262" y="5056151"/>
            <a:ext cx="60350" cy="3538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2" name="C5-E01 line 40" descr="sci-ppt:o040"/>
          <p:cNvCxnSpPr/>
          <p:nvPr/>
        </p:nvCxnSpPr>
        <p:spPr>
          <a:xfrm flipV="1">
            <a:off x="1702612" y="5020668"/>
            <a:ext cx="60351" cy="3548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3" name="C5-E01 line 41" descr="sci-ppt:o041"/>
          <p:cNvCxnSpPr/>
          <p:nvPr/>
        </p:nvCxnSpPr>
        <p:spPr>
          <a:xfrm flipV="1">
            <a:off x="1762963" y="4985090"/>
            <a:ext cx="60350" cy="3557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4" name="C5-E01 line 42" descr="sci-ppt:o042"/>
          <p:cNvCxnSpPr/>
          <p:nvPr/>
        </p:nvCxnSpPr>
        <p:spPr>
          <a:xfrm flipV="1">
            <a:off x="1823313" y="4949416"/>
            <a:ext cx="60351" cy="35674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5" name="C5-E01 line 43" descr="sci-ppt:o043"/>
          <p:cNvCxnSpPr/>
          <p:nvPr/>
        </p:nvCxnSpPr>
        <p:spPr>
          <a:xfrm flipV="1">
            <a:off x="1883664" y="4913645"/>
            <a:ext cx="60350" cy="3577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6" name="C5-E01 line 44" descr="sci-ppt:o044"/>
          <p:cNvCxnSpPr/>
          <p:nvPr/>
        </p:nvCxnSpPr>
        <p:spPr>
          <a:xfrm flipV="1">
            <a:off x="1944014" y="4877778"/>
            <a:ext cx="60350" cy="3586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7" name="C5-E01 line 45" descr="sci-ppt:o045"/>
          <p:cNvCxnSpPr/>
          <p:nvPr/>
        </p:nvCxnSpPr>
        <p:spPr>
          <a:xfrm flipV="1">
            <a:off x="2004364" y="4841814"/>
            <a:ext cx="60351" cy="35964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8" name="C5-E01 line 46" descr="sci-ppt:o046"/>
          <p:cNvCxnSpPr/>
          <p:nvPr/>
        </p:nvCxnSpPr>
        <p:spPr>
          <a:xfrm flipV="1">
            <a:off x="2064715" y="4805753"/>
            <a:ext cx="60350" cy="3606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9" name="C5-E01 line 47" descr="sci-ppt:o047"/>
          <p:cNvCxnSpPr/>
          <p:nvPr/>
        </p:nvCxnSpPr>
        <p:spPr>
          <a:xfrm flipV="1">
            <a:off x="2125065" y="4769595"/>
            <a:ext cx="60350" cy="3615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0" name="C5-E01 line 48" descr="sci-ppt:o048"/>
          <p:cNvCxnSpPr/>
          <p:nvPr/>
        </p:nvCxnSpPr>
        <p:spPr>
          <a:xfrm flipV="1">
            <a:off x="2185415" y="4733339"/>
            <a:ext cx="60351" cy="3625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1" name="C5-E01 line 49" descr="sci-ppt:o049"/>
          <p:cNvCxnSpPr/>
          <p:nvPr/>
        </p:nvCxnSpPr>
        <p:spPr>
          <a:xfrm flipV="1">
            <a:off x="2245766" y="4696986"/>
            <a:ext cx="60350" cy="3635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2" name="C5-E01 line 50" descr="sci-ppt:o050"/>
          <p:cNvCxnSpPr/>
          <p:nvPr/>
        </p:nvCxnSpPr>
        <p:spPr>
          <a:xfrm flipV="1">
            <a:off x="2306116" y="4660536"/>
            <a:ext cx="60351" cy="3645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3" name="C5-E01 line 51" descr="sci-ppt:o051"/>
          <p:cNvCxnSpPr/>
          <p:nvPr/>
        </p:nvCxnSpPr>
        <p:spPr>
          <a:xfrm flipV="1">
            <a:off x="2366467" y="4623987"/>
            <a:ext cx="60350" cy="3654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4" name="C5-E01 line 52" descr="sci-ppt:o052"/>
          <p:cNvCxnSpPr/>
          <p:nvPr/>
        </p:nvCxnSpPr>
        <p:spPr>
          <a:xfrm flipV="1">
            <a:off x="2426817" y="4587341"/>
            <a:ext cx="60351" cy="3664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5" name="C5-E01 line 53" descr="sci-ppt:o053"/>
          <p:cNvCxnSpPr/>
          <p:nvPr/>
        </p:nvCxnSpPr>
        <p:spPr>
          <a:xfrm flipV="1">
            <a:off x="2487168" y="4550596"/>
            <a:ext cx="60350" cy="3674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6" name="C5-E01 line 54" descr="sci-ppt:o054"/>
          <p:cNvCxnSpPr/>
          <p:nvPr/>
        </p:nvCxnSpPr>
        <p:spPr>
          <a:xfrm flipV="1">
            <a:off x="2547518" y="4513753"/>
            <a:ext cx="60350" cy="3684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7" name="C5-E01 line 55" descr="sci-ppt:o055"/>
          <p:cNvCxnSpPr/>
          <p:nvPr/>
        </p:nvCxnSpPr>
        <p:spPr>
          <a:xfrm flipV="1">
            <a:off x="2607868" y="4476811"/>
            <a:ext cx="60351" cy="3694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8" name="C5-E01 line 56" descr="sci-ppt:o056"/>
          <p:cNvCxnSpPr/>
          <p:nvPr/>
        </p:nvCxnSpPr>
        <p:spPr>
          <a:xfrm flipV="1">
            <a:off x="2668219" y="4439770"/>
            <a:ext cx="60350" cy="3704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9" name="C5-E01 line 57" descr="sci-ppt:o057"/>
          <p:cNvCxnSpPr/>
          <p:nvPr/>
        </p:nvCxnSpPr>
        <p:spPr>
          <a:xfrm flipV="1">
            <a:off x="2728569" y="4402631"/>
            <a:ext cx="60351" cy="3713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0" name="C5-E01 line 58" descr="sci-ppt:o058"/>
          <p:cNvCxnSpPr/>
          <p:nvPr/>
        </p:nvCxnSpPr>
        <p:spPr>
          <a:xfrm flipV="1">
            <a:off x="2788920" y="4365392"/>
            <a:ext cx="60350" cy="3723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1" name="C5-E01 line 59" descr="sci-ppt:o059"/>
          <p:cNvCxnSpPr/>
          <p:nvPr/>
        </p:nvCxnSpPr>
        <p:spPr>
          <a:xfrm flipV="1">
            <a:off x="2849270" y="4328054"/>
            <a:ext cx="60350" cy="3733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2" name="C5-E01 line 60" descr="sci-ppt:o060"/>
          <p:cNvCxnSpPr/>
          <p:nvPr/>
        </p:nvCxnSpPr>
        <p:spPr>
          <a:xfrm flipV="1">
            <a:off x="2909620" y="4290616"/>
            <a:ext cx="60351" cy="3743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3" name="C5-E01 line 61" descr="sci-ppt:o061"/>
          <p:cNvCxnSpPr/>
          <p:nvPr/>
        </p:nvCxnSpPr>
        <p:spPr>
          <a:xfrm flipV="1">
            <a:off x="2969971" y="4253078"/>
            <a:ext cx="60350" cy="3753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4" name="C5-E01 line 62" descr="sci-ppt:o062"/>
          <p:cNvCxnSpPr/>
          <p:nvPr/>
        </p:nvCxnSpPr>
        <p:spPr>
          <a:xfrm flipV="1">
            <a:off x="3030321" y="4215441"/>
            <a:ext cx="60351" cy="3763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5" name="C5-E01 line 63" descr="sci-ppt:o063"/>
          <p:cNvCxnSpPr/>
          <p:nvPr/>
        </p:nvCxnSpPr>
        <p:spPr>
          <a:xfrm flipV="1">
            <a:off x="3090672" y="4177704"/>
            <a:ext cx="60350" cy="3773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6" name="C5-E01 line 64" descr="sci-ppt:o064"/>
          <p:cNvCxnSpPr/>
          <p:nvPr/>
        </p:nvCxnSpPr>
        <p:spPr>
          <a:xfrm flipV="1">
            <a:off x="3151022" y="4139866"/>
            <a:ext cx="60350" cy="3783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7" name="C5-E01 line 65" descr="sci-ppt:o065"/>
          <p:cNvCxnSpPr/>
          <p:nvPr/>
        </p:nvCxnSpPr>
        <p:spPr>
          <a:xfrm flipV="1">
            <a:off x="3211372" y="4101928"/>
            <a:ext cx="60351" cy="3793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8" name="C5-E01 line 66" descr="sci-ppt:o066"/>
          <p:cNvCxnSpPr/>
          <p:nvPr/>
        </p:nvCxnSpPr>
        <p:spPr>
          <a:xfrm flipV="1">
            <a:off x="3271723" y="4063889"/>
            <a:ext cx="60350" cy="3803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9" name="C5-E01 line 67" descr="sci-ppt:o067"/>
          <p:cNvCxnSpPr/>
          <p:nvPr/>
        </p:nvCxnSpPr>
        <p:spPr>
          <a:xfrm flipV="1">
            <a:off x="3332073" y="4025749"/>
            <a:ext cx="60350" cy="3814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0" name="C5-E01 line 68" descr="sci-ppt:o068"/>
          <p:cNvCxnSpPr/>
          <p:nvPr/>
        </p:nvCxnSpPr>
        <p:spPr>
          <a:xfrm flipV="1">
            <a:off x="3392423" y="3987508"/>
            <a:ext cx="60351" cy="3824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1" name="C5-E01 line 69" descr="sci-ppt:o069"/>
          <p:cNvCxnSpPr/>
          <p:nvPr/>
        </p:nvCxnSpPr>
        <p:spPr>
          <a:xfrm flipV="1">
            <a:off x="3452774" y="3949166"/>
            <a:ext cx="60350" cy="3834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2" name="C5-E01 line 70" descr="sci-ppt:o070"/>
          <p:cNvCxnSpPr/>
          <p:nvPr/>
        </p:nvCxnSpPr>
        <p:spPr>
          <a:xfrm flipV="1">
            <a:off x="3513124" y="3910723"/>
            <a:ext cx="60351" cy="3844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3" name="C5-E01 line 71" descr="sci-ppt:o071"/>
          <p:cNvCxnSpPr/>
          <p:nvPr/>
        </p:nvCxnSpPr>
        <p:spPr>
          <a:xfrm flipV="1">
            <a:off x="3573475" y="3872178"/>
            <a:ext cx="60350" cy="3854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4" name="C5-E01 line 72" descr="sci-ppt:o072"/>
          <p:cNvCxnSpPr/>
          <p:nvPr/>
        </p:nvCxnSpPr>
        <p:spPr>
          <a:xfrm flipV="1">
            <a:off x="3633825" y="3833531"/>
            <a:ext cx="60351" cy="3864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5" name="C5-E01 line 73" descr="sci-ppt:o073"/>
          <p:cNvCxnSpPr/>
          <p:nvPr/>
        </p:nvCxnSpPr>
        <p:spPr>
          <a:xfrm flipV="1">
            <a:off x="3694176" y="3794782"/>
            <a:ext cx="60350" cy="3874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6" name="C5-E01 line 74" descr="sci-ppt:o074"/>
          <p:cNvCxnSpPr/>
          <p:nvPr/>
        </p:nvCxnSpPr>
        <p:spPr>
          <a:xfrm flipV="1">
            <a:off x="3754526" y="3755931"/>
            <a:ext cx="60350" cy="3885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7" name="C5-E01 line 75" descr="sci-ppt:o075"/>
          <p:cNvCxnSpPr/>
          <p:nvPr/>
        </p:nvCxnSpPr>
        <p:spPr>
          <a:xfrm flipV="1">
            <a:off x="3814876" y="3716977"/>
            <a:ext cx="60351" cy="38954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8" name="C5-E01 line 76" descr="sci-ppt:o076"/>
          <p:cNvCxnSpPr/>
          <p:nvPr/>
        </p:nvCxnSpPr>
        <p:spPr>
          <a:xfrm flipV="1">
            <a:off x="3875227" y="3677921"/>
            <a:ext cx="60350" cy="3905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9" name="C5-E01 line 77" descr="sci-ppt:o077"/>
          <p:cNvCxnSpPr/>
          <p:nvPr/>
        </p:nvCxnSpPr>
        <p:spPr>
          <a:xfrm flipV="1">
            <a:off x="3935577" y="3638763"/>
            <a:ext cx="60350" cy="3915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0" name="C5-E01 line 78" descr="sci-ppt:o078"/>
          <p:cNvCxnSpPr/>
          <p:nvPr/>
        </p:nvCxnSpPr>
        <p:spPr>
          <a:xfrm flipV="1">
            <a:off x="3995927" y="3599501"/>
            <a:ext cx="60351" cy="3926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1" name="C5-E01 line 79" descr="sci-ppt:o079"/>
          <p:cNvCxnSpPr/>
          <p:nvPr/>
        </p:nvCxnSpPr>
        <p:spPr>
          <a:xfrm flipV="1">
            <a:off x="4056278" y="3560136"/>
            <a:ext cx="60350" cy="3936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2" name="C5-E01 line 80" descr="sci-ppt:o080"/>
          <p:cNvCxnSpPr/>
          <p:nvPr/>
        </p:nvCxnSpPr>
        <p:spPr>
          <a:xfrm flipV="1">
            <a:off x="4116628" y="3520668"/>
            <a:ext cx="60351" cy="3946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3" name="C5-E01 line 81" descr="sci-ppt:o081"/>
          <p:cNvCxnSpPr/>
          <p:nvPr/>
        </p:nvCxnSpPr>
        <p:spPr>
          <a:xfrm flipV="1">
            <a:off x="4176979" y="3481096"/>
            <a:ext cx="60350" cy="3957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4" name="C5-E01 line 82" descr="sci-ppt:o082"/>
          <p:cNvCxnSpPr/>
          <p:nvPr/>
        </p:nvCxnSpPr>
        <p:spPr>
          <a:xfrm flipV="1">
            <a:off x="4237329" y="3441421"/>
            <a:ext cx="60350" cy="3967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5" name="C5-E01 line 83" descr="sci-ppt:o083"/>
          <p:cNvCxnSpPr/>
          <p:nvPr/>
        </p:nvCxnSpPr>
        <p:spPr>
          <a:xfrm flipV="1">
            <a:off x="4297679" y="3401641"/>
            <a:ext cx="60351" cy="3978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6" name="C5-E01 line 84" descr="sci-ppt:o084"/>
          <p:cNvCxnSpPr/>
          <p:nvPr/>
        </p:nvCxnSpPr>
        <p:spPr>
          <a:xfrm flipV="1">
            <a:off x="4358030" y="3361758"/>
            <a:ext cx="60350" cy="3988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7" name="C5-E01 line 85" descr="sci-ppt:o085"/>
          <p:cNvCxnSpPr/>
          <p:nvPr/>
        </p:nvCxnSpPr>
        <p:spPr>
          <a:xfrm flipV="1">
            <a:off x="4418380" y="3321770"/>
            <a:ext cx="60351" cy="3998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8" name="C5-E01 line 86" descr="sci-ppt:o086"/>
          <p:cNvCxnSpPr/>
          <p:nvPr/>
        </p:nvCxnSpPr>
        <p:spPr>
          <a:xfrm flipV="1">
            <a:off x="4478731" y="3281678"/>
            <a:ext cx="60350" cy="4009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9" name="C5-E01 line 87" descr="sci-ppt:o087"/>
          <p:cNvCxnSpPr/>
          <p:nvPr/>
        </p:nvCxnSpPr>
        <p:spPr>
          <a:xfrm flipV="1">
            <a:off x="4539081" y="3241481"/>
            <a:ext cx="60350" cy="4019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0" name="C5-E01 line 88" descr="sci-ppt:o088"/>
          <p:cNvCxnSpPr/>
          <p:nvPr/>
        </p:nvCxnSpPr>
        <p:spPr>
          <a:xfrm flipV="1">
            <a:off x="4599431" y="3201180"/>
            <a:ext cx="60351" cy="4030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1" name="C5-E01 line 89" descr="sci-ppt:o089"/>
          <p:cNvCxnSpPr/>
          <p:nvPr/>
        </p:nvCxnSpPr>
        <p:spPr>
          <a:xfrm flipV="1">
            <a:off x="4659782" y="3160773"/>
            <a:ext cx="60350" cy="4040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2" name="C5-E01 line 90" descr="sci-ppt:o090"/>
          <p:cNvCxnSpPr/>
          <p:nvPr/>
        </p:nvCxnSpPr>
        <p:spPr>
          <a:xfrm flipV="1">
            <a:off x="4720132" y="3120261"/>
            <a:ext cx="60351" cy="4051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3" name="C5-E01 line 91" descr="sci-ppt:o091"/>
          <p:cNvCxnSpPr/>
          <p:nvPr/>
        </p:nvCxnSpPr>
        <p:spPr>
          <a:xfrm flipV="1">
            <a:off x="4780483" y="3079643"/>
            <a:ext cx="60350" cy="4061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4" name="C5-E01 line 92" descr="sci-ppt:o092"/>
          <p:cNvCxnSpPr/>
          <p:nvPr/>
        </p:nvCxnSpPr>
        <p:spPr>
          <a:xfrm flipV="1">
            <a:off x="4840833" y="3038920"/>
            <a:ext cx="60350" cy="4072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5" name="C5-E01 line 93" descr="sci-ppt:o093"/>
          <p:cNvCxnSpPr/>
          <p:nvPr/>
        </p:nvCxnSpPr>
        <p:spPr>
          <a:xfrm flipV="1">
            <a:off x="4901183" y="2998091"/>
            <a:ext cx="60351" cy="4082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6" name="C5-E01 line 94" descr="sci-ppt:o094"/>
          <p:cNvCxnSpPr/>
          <p:nvPr/>
        </p:nvCxnSpPr>
        <p:spPr>
          <a:xfrm flipV="1">
            <a:off x="4961534" y="2957156"/>
            <a:ext cx="60350" cy="4093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7" name="C5-E01 line 95" descr="sci-ppt:o095"/>
          <p:cNvCxnSpPr/>
          <p:nvPr/>
        </p:nvCxnSpPr>
        <p:spPr>
          <a:xfrm flipV="1">
            <a:off x="5021884" y="2916115"/>
            <a:ext cx="60351" cy="4104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8" name="C5-E01 line 96" descr="sci-ppt:o096"/>
          <p:cNvCxnSpPr/>
          <p:nvPr/>
        </p:nvCxnSpPr>
        <p:spPr>
          <a:xfrm flipV="1">
            <a:off x="5082235" y="2874968"/>
            <a:ext cx="60350" cy="4114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9" name="C5-E01 line 97" descr="sci-ppt:o097"/>
          <p:cNvCxnSpPr/>
          <p:nvPr/>
        </p:nvCxnSpPr>
        <p:spPr>
          <a:xfrm flipV="1">
            <a:off x="5142585" y="2833713"/>
            <a:ext cx="60351" cy="4125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0" name="C5-E01 line 98" descr="sci-ppt:o098"/>
          <p:cNvCxnSpPr/>
          <p:nvPr/>
        </p:nvCxnSpPr>
        <p:spPr>
          <a:xfrm flipV="1">
            <a:off x="5202936" y="2792352"/>
            <a:ext cx="60350" cy="4136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1" name="C5-E01 line 99" descr="sci-ppt:o099"/>
          <p:cNvCxnSpPr/>
          <p:nvPr/>
        </p:nvCxnSpPr>
        <p:spPr>
          <a:xfrm flipV="1">
            <a:off x="5263286" y="2750885"/>
            <a:ext cx="60350" cy="4146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2" name="C5-E01 line 100" descr="sci-ppt:o100"/>
          <p:cNvCxnSpPr/>
          <p:nvPr/>
        </p:nvCxnSpPr>
        <p:spPr>
          <a:xfrm flipV="1">
            <a:off x="5323636" y="2709309"/>
            <a:ext cx="60351" cy="4157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3" name="C5-E01 line 101" descr="sci-ppt:o101"/>
          <p:cNvCxnSpPr/>
          <p:nvPr/>
        </p:nvCxnSpPr>
        <p:spPr>
          <a:xfrm flipV="1">
            <a:off x="5383987" y="2667627"/>
            <a:ext cx="60350" cy="4168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4" name="C5-E01 line 102" descr="sci-ppt:o102"/>
          <p:cNvCxnSpPr/>
          <p:nvPr/>
        </p:nvCxnSpPr>
        <p:spPr>
          <a:xfrm flipV="1">
            <a:off x="5444337" y="2625837"/>
            <a:ext cx="60351" cy="4179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5" name="C5-E01 line 103" descr="sci-ppt:o103"/>
          <p:cNvCxnSpPr/>
          <p:nvPr/>
        </p:nvCxnSpPr>
        <p:spPr>
          <a:xfrm flipV="1">
            <a:off x="5504688" y="2583939"/>
            <a:ext cx="60350" cy="4189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6" name="C5-E01 line 104" descr="sci-ppt:o104"/>
          <p:cNvCxnSpPr/>
          <p:nvPr/>
        </p:nvCxnSpPr>
        <p:spPr>
          <a:xfrm flipV="1">
            <a:off x="5565038" y="2541933"/>
            <a:ext cx="60350" cy="4200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7" name="C5-E01 line 105" descr="sci-ppt:o105"/>
          <p:cNvCxnSpPr/>
          <p:nvPr/>
        </p:nvCxnSpPr>
        <p:spPr>
          <a:xfrm flipV="1">
            <a:off x="5625388" y="2499819"/>
            <a:ext cx="60351" cy="42114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8" name="C5-E01 line 106" descr="sci-ppt:o106"/>
          <p:cNvCxnSpPr/>
          <p:nvPr/>
        </p:nvCxnSpPr>
        <p:spPr>
          <a:xfrm flipV="1">
            <a:off x="5685739" y="2457596"/>
            <a:ext cx="60350" cy="4222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9" name="C5-E01 line 107" descr="sci-ppt:o107"/>
          <p:cNvCxnSpPr/>
          <p:nvPr/>
        </p:nvCxnSpPr>
        <p:spPr>
          <a:xfrm flipV="1">
            <a:off x="5746089" y="2415265"/>
            <a:ext cx="60351" cy="4233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0" name="C5-E01 line 108" descr="sci-ppt:o108"/>
          <p:cNvCxnSpPr/>
          <p:nvPr/>
        </p:nvCxnSpPr>
        <p:spPr>
          <a:xfrm flipV="1">
            <a:off x="5806440" y="2372825"/>
            <a:ext cx="60350" cy="4244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1" name="C5-E01 line 109" descr="sci-ppt:o109"/>
          <p:cNvCxnSpPr/>
          <p:nvPr/>
        </p:nvCxnSpPr>
        <p:spPr>
          <a:xfrm flipV="1">
            <a:off x="5866790" y="2330277"/>
            <a:ext cx="60350" cy="4254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2" name="C5-E01 line 110" descr="sci-ppt:o110"/>
          <p:cNvCxnSpPr/>
          <p:nvPr/>
        </p:nvCxnSpPr>
        <p:spPr>
          <a:xfrm flipV="1">
            <a:off x="5927140" y="2287619"/>
            <a:ext cx="60351" cy="4265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3" name="C5-E01 line 111" descr="sci-ppt:o111"/>
          <p:cNvCxnSpPr/>
          <p:nvPr/>
        </p:nvCxnSpPr>
        <p:spPr>
          <a:xfrm flipV="1">
            <a:off x="5987491" y="2244852"/>
            <a:ext cx="60350" cy="4276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4" name="C5-E01 line 112" descr="sci-ppt:o112"/>
          <p:cNvCxnSpPr/>
          <p:nvPr/>
        </p:nvCxnSpPr>
        <p:spPr>
          <a:xfrm flipV="1">
            <a:off x="6047841" y="2201975"/>
            <a:ext cx="60351" cy="4287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5" name="C5-E01 line 113" descr="sci-ppt:o113"/>
          <p:cNvCxnSpPr/>
          <p:nvPr/>
        </p:nvCxnSpPr>
        <p:spPr>
          <a:xfrm flipV="1">
            <a:off x="6108192" y="2158988"/>
            <a:ext cx="60350" cy="4298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6" name="C5-E01 line 114" descr="sci-ppt:o114"/>
          <p:cNvCxnSpPr/>
          <p:nvPr/>
        </p:nvCxnSpPr>
        <p:spPr>
          <a:xfrm flipV="1">
            <a:off x="6168542" y="2115892"/>
            <a:ext cx="60350" cy="4309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7" name="C5-E01 line 115" descr="sci-ppt:o115"/>
          <p:cNvCxnSpPr/>
          <p:nvPr/>
        </p:nvCxnSpPr>
        <p:spPr>
          <a:xfrm flipV="1">
            <a:off x="6228892" y="2072685"/>
            <a:ext cx="60351" cy="4320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8" name="C5-E01 line 116" descr="sci-ppt:o116"/>
          <p:cNvCxnSpPr/>
          <p:nvPr/>
        </p:nvCxnSpPr>
        <p:spPr>
          <a:xfrm flipV="1">
            <a:off x="6289243" y="2029368"/>
            <a:ext cx="60350" cy="4331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9" name="C5-E01 line 117" descr="sci-ppt:o117"/>
          <p:cNvCxnSpPr/>
          <p:nvPr/>
        </p:nvCxnSpPr>
        <p:spPr>
          <a:xfrm flipV="1">
            <a:off x="6349593" y="1985941"/>
            <a:ext cx="60351" cy="434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0" name="C5-E01 line 118" descr="sci-ppt:o118"/>
          <p:cNvCxnSpPr/>
          <p:nvPr/>
        </p:nvCxnSpPr>
        <p:spPr>
          <a:xfrm flipV="1">
            <a:off x="6409944" y="1942402"/>
            <a:ext cx="60350" cy="4353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1" name="C5-E01 line 119" descr="sci-ppt:o119"/>
          <p:cNvCxnSpPr/>
          <p:nvPr/>
        </p:nvCxnSpPr>
        <p:spPr>
          <a:xfrm flipV="1">
            <a:off x="6470294" y="1898753"/>
            <a:ext cx="60350" cy="4364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2" name="C5-E01 line 120" descr="sci-ppt:o120"/>
          <p:cNvCxnSpPr/>
          <p:nvPr/>
        </p:nvCxnSpPr>
        <p:spPr>
          <a:xfrm flipV="1">
            <a:off x="6530644" y="1854993"/>
            <a:ext cx="60351" cy="4376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3" name="C5-E01 line 121" descr="sci-ppt:o121"/>
          <p:cNvCxnSpPr/>
          <p:nvPr/>
        </p:nvCxnSpPr>
        <p:spPr>
          <a:xfrm flipV="1">
            <a:off x="6590995" y="1811121"/>
            <a:ext cx="60350" cy="4387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4" name="C5-E01 line 122" descr="sci-ppt:o122"/>
          <p:cNvCxnSpPr/>
          <p:nvPr/>
        </p:nvCxnSpPr>
        <p:spPr>
          <a:xfrm flipV="1">
            <a:off x="6651345" y="1767138"/>
            <a:ext cx="60351" cy="4398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5" name="C5-E01 line 123" descr="sci-ppt:o123"/>
          <p:cNvCxnSpPr/>
          <p:nvPr/>
        </p:nvCxnSpPr>
        <p:spPr>
          <a:xfrm flipV="1">
            <a:off x="6711696" y="1723043"/>
            <a:ext cx="60350" cy="4409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6" name="C5-E01 line 124" descr="sci-ppt:o124"/>
          <p:cNvCxnSpPr/>
          <p:nvPr/>
        </p:nvCxnSpPr>
        <p:spPr>
          <a:xfrm flipV="1">
            <a:off x="6772046" y="1678836"/>
            <a:ext cx="60350" cy="4420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7" name="C5-E01 line 125" descr="sci-ppt:o125"/>
          <p:cNvCxnSpPr/>
          <p:nvPr/>
        </p:nvCxnSpPr>
        <p:spPr>
          <a:xfrm flipV="1">
            <a:off x="6832396" y="1634517"/>
            <a:ext cx="60351" cy="4431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8" name="C5-E01 line 126" descr="sci-ppt:o126"/>
          <p:cNvCxnSpPr/>
          <p:nvPr/>
        </p:nvCxnSpPr>
        <p:spPr>
          <a:xfrm flipV="1">
            <a:off x="6892747" y="1590085"/>
            <a:ext cx="60350" cy="4443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9" name="C5-E01 line 127" descr="sci-ppt:o127"/>
          <p:cNvCxnSpPr/>
          <p:nvPr/>
        </p:nvCxnSpPr>
        <p:spPr>
          <a:xfrm flipV="1">
            <a:off x="6953097" y="1545541"/>
            <a:ext cx="60351" cy="44544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0" name="C5-E01 line 128" descr="sci-ppt:o128"/>
          <p:cNvCxnSpPr/>
          <p:nvPr/>
        </p:nvCxnSpPr>
        <p:spPr>
          <a:xfrm flipV="1">
            <a:off x="7013448" y="1500885"/>
            <a:ext cx="60350" cy="4465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1" name="C5-E01 line 129" descr="sci-ppt:o129"/>
          <p:cNvCxnSpPr/>
          <p:nvPr/>
        </p:nvCxnSpPr>
        <p:spPr>
          <a:xfrm flipV="1">
            <a:off x="7073798" y="1456115"/>
            <a:ext cx="60350" cy="4477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2" name="C5-E01 line 130" descr="sci-ppt:o130"/>
          <p:cNvCxnSpPr/>
          <p:nvPr/>
        </p:nvCxnSpPr>
        <p:spPr>
          <a:xfrm flipV="1">
            <a:off x="7134148" y="1411232"/>
            <a:ext cx="60351" cy="4488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3" name="C5-E01 line 131" descr="sci-ppt:o131"/>
          <p:cNvCxnSpPr/>
          <p:nvPr/>
        </p:nvCxnSpPr>
        <p:spPr>
          <a:xfrm flipV="1">
            <a:off x="7194499" y="1366236"/>
            <a:ext cx="60350" cy="4499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4" name="C5-E01 line 132" descr="sci-ppt:o132"/>
          <p:cNvCxnSpPr/>
          <p:nvPr/>
        </p:nvCxnSpPr>
        <p:spPr>
          <a:xfrm flipV="1">
            <a:off x="7254849" y="1321126"/>
            <a:ext cx="60351" cy="4511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sp>
        <p:nvSpPr>
          <p:cNvPr id="135" name="C5-E01 ellipse 133" descr="sci-ppt:o133"/>
          <p:cNvSpPr/>
          <p:nvPr/>
        </p:nvSpPr>
        <p:spPr>
          <a:xfrm>
            <a:off x="1207007" y="5228700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C5-E01 ellipse 134" descr="sci-ppt:o134"/>
          <p:cNvSpPr/>
          <p:nvPr/>
        </p:nvSpPr>
        <p:spPr>
          <a:xfrm>
            <a:off x="5702226" y="2363914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C5-E01 text 135" descr="sci-ppt:o135"/>
          <p:cNvSpPr txBox="1"/>
          <p:nvPr/>
        </p:nvSpPr>
        <p:spPr>
          <a:xfrm>
            <a:off x="1463039" y="4754880"/>
            <a:ext cx="27432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reference state (ρ_j, p_j)</a:t>
            </a:r>
          </a:p>
        </p:txBody>
      </p:sp>
      <p:sp>
        <p:nvSpPr>
          <p:cNvPr id="138" name="C5-E01 text 136" descr="sci-ppt:o136"/>
          <p:cNvSpPr txBox="1"/>
          <p:nvPr/>
        </p:nvSpPr>
        <p:spPr>
          <a:xfrm>
            <a:off x="1843458" y="2345626"/>
            <a:ext cx="3749039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behind the barotropic shock: ρ_1 / ρ_j = 1.0596</a:t>
            </a:r>
          </a:p>
        </p:txBody>
      </p:sp>
      <p:sp>
        <p:nvSpPr>
          <p:cNvPr id="139" name="C5-E01 text 137" descr="sci-ppt:o137"/>
          <p:cNvSpPr txBox="1"/>
          <p:nvPr/>
        </p:nvSpPr>
        <p:spPr>
          <a:xfrm>
            <a:off x="7772400" y="1280160"/>
            <a:ext cx="4114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Liquid law</a:t>
            </a:r>
          </a:p>
        </p:txBody>
      </p:sp>
      <p:sp>
        <p:nvSpPr>
          <p:cNvPr id="140" name="C5-E01 text 138" descr="sci-ppt:o138"/>
          <p:cNvSpPr txBox="1"/>
          <p:nvPr/>
        </p:nvSpPr>
        <p:spPr>
          <a:xfrm>
            <a:off x="7772400" y="1737360"/>
            <a:ext cx="42062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p(ρ) = (p_j + Π)(ρ / ρ_j)^γ − Π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γ = 4.4,  Π = 600 MPa</a:t>
            </a:r>
          </a:p>
        </p:txBody>
      </p:sp>
      <p:sp>
        <p:nvSpPr>
          <p:cNvPr id="141" name="C5-E01 text 139" descr="sci-ppt:o139"/>
          <p:cNvSpPr txBox="1"/>
          <p:nvPr/>
        </p:nvSpPr>
        <p:spPr>
          <a:xfrm>
            <a:off x="7772400" y="2834640"/>
            <a:ext cx="4114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Sound speed</a:t>
            </a:r>
          </a:p>
        </p:txBody>
      </p:sp>
      <p:sp>
        <p:nvSpPr>
          <p:cNvPr id="142" name="C5-E01 text 140" descr="sci-ppt:o140"/>
          <p:cNvSpPr txBox="1"/>
          <p:nvPr/>
        </p:nvSpPr>
        <p:spPr>
          <a:xfrm>
            <a:off x="7772400" y="3291840"/>
            <a:ext cx="42062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c² = dp/dρ = γ (p + Π) / ρ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c_0 = 1626.447 m/s</a:t>
            </a:r>
          </a:p>
        </p:txBody>
      </p:sp>
      <p:sp>
        <p:nvSpPr>
          <p:cNvPr id="143" name="C5-E01 text 141" descr="sci-ppt:o141"/>
          <p:cNvSpPr txBox="1"/>
          <p:nvPr/>
        </p:nvSpPr>
        <p:spPr>
          <a:xfrm>
            <a:off x="7772400" y="4480560"/>
            <a:ext cx="411480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Pressure depends on density alone;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not derived from first principles.</a:t>
            </a:r>
          </a:p>
        </p:txBody>
      </p:sp>
      <p:sp>
        <p:nvSpPr>
          <p:cNvPr id="144" name="C5-E01 text 142" descr="sci-ppt:o142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Curve computed from Eq. (C5-E01).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