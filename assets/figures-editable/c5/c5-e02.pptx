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02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C5-E02 · Rigid-wall limit of the Chapter 3 acoustic matching</a:t>
            </a:r>
          </a:p>
        </p:txBody>
      </p:sp>
      <p:sp>
        <p:nvSpPr>
          <p:cNvPr id="3" name="C5-E02 rect 1" descr="sci-ppt:o001"/>
          <p:cNvSpPr/>
          <p:nvPr/>
        </p:nvSpPr>
        <p:spPr>
          <a:xfrm>
            <a:off x="822960" y="1828800"/>
            <a:ext cx="4206240" cy="1463040"/>
          </a:xfrm>
          <a:prstGeom prst="rect">
            <a:avLst/>
          </a:prstGeom>
          <a:solidFill>
            <a:srgbClr val="213E4B"/>
          </a:solidFill>
          <a:ln w="254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5-E02 text 2" descr="sci-ppt:o002"/>
          <p:cNvSpPr txBox="1"/>
          <p:nvPr/>
        </p:nvSpPr>
        <p:spPr>
          <a:xfrm>
            <a:off x="914400" y="1874519"/>
            <a:ext cx="402336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7F0F3"/>
                </a:solidFill>
                <a:latin typeface="Arial"/>
              </a:rPr>
              <a:t>Liquid, Z_l = ρ c</a:t>
            </a:r>
          </a:p>
        </p:txBody>
      </p:sp>
      <p:cxnSp>
        <p:nvCxnSpPr>
          <p:cNvPr id="5" name="C5-E02 arrow 3" descr="sci-ppt:o003"/>
          <p:cNvCxnSpPr/>
          <p:nvPr/>
        </p:nvCxnSpPr>
        <p:spPr>
          <a:xfrm>
            <a:off x="1280160" y="2743200"/>
            <a:ext cx="292608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5-E02 text 4" descr="sci-ppt:o004"/>
          <p:cNvSpPr txBox="1"/>
          <p:nvPr/>
        </p:nvSpPr>
        <p:spPr>
          <a:xfrm>
            <a:off x="2194560" y="2788920"/>
            <a:ext cx="164592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2B880"/>
                </a:solidFill>
                <a:latin typeface="Arial"/>
              </a:rPr>
              <a:t>speed U</a:t>
            </a:r>
          </a:p>
        </p:txBody>
      </p:sp>
      <p:sp>
        <p:nvSpPr>
          <p:cNvPr id="7" name="C5-E02 rect 5" descr="sci-ppt:o005"/>
          <p:cNvSpPr/>
          <p:nvPr/>
        </p:nvSpPr>
        <p:spPr>
          <a:xfrm>
            <a:off x="5029200" y="1783080"/>
            <a:ext cx="822960" cy="155448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5-E02 line 6" descr="sci-ppt:o006"/>
          <p:cNvCxnSpPr/>
          <p:nvPr/>
        </p:nvCxnSpPr>
        <p:spPr>
          <a:xfrm>
            <a:off x="5029200" y="333756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5-E02 line 7" descr="sci-ppt:o007"/>
          <p:cNvCxnSpPr/>
          <p:nvPr/>
        </p:nvCxnSpPr>
        <p:spPr>
          <a:xfrm>
            <a:off x="5230368" y="3337560"/>
            <a:ext cx="164591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0" name="C5-E02 line 8" descr="sci-ppt:o008"/>
          <p:cNvCxnSpPr/>
          <p:nvPr/>
        </p:nvCxnSpPr>
        <p:spPr>
          <a:xfrm>
            <a:off x="5431536" y="333756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1" name="C5-E02 line 9" descr="sci-ppt:o009"/>
          <p:cNvCxnSpPr/>
          <p:nvPr/>
        </p:nvCxnSpPr>
        <p:spPr>
          <a:xfrm>
            <a:off x="5632704" y="3337560"/>
            <a:ext cx="164592" cy="18288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sp>
        <p:nvSpPr>
          <p:cNvPr id="12" name="C5-E02 rect 10" descr="sci-ppt:o010"/>
          <p:cNvSpPr/>
          <p:nvPr/>
        </p:nvSpPr>
        <p:spPr>
          <a:xfrm>
            <a:off x="5029200" y="1783080"/>
            <a:ext cx="822960" cy="1554480"/>
          </a:xfrm>
          <a:prstGeom prst="rect">
            <a:avLst/>
          </a:prstGeom>
          <a:solidFill>
            <a:srgbClr val="3A5362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C5-E02 text 11" descr="sci-ppt:o011"/>
          <p:cNvSpPr txBox="1"/>
          <p:nvPr/>
        </p:nvSpPr>
        <p:spPr>
          <a:xfrm>
            <a:off x="5943600" y="2194560"/>
            <a:ext cx="2926080" cy="7315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7F0F3"/>
                </a:solidFill>
                <a:latin typeface="Arial"/>
              </a:rPr>
              <a:t>Wall, Z_r → ∞</a:t>
            </a:r>
          </a:p>
        </p:txBody>
      </p:sp>
      <p:sp>
        <p:nvSpPr>
          <p:cNvPr id="14" name="C5-E02 text 12" descr="sci-ppt:o012"/>
          <p:cNvSpPr txBox="1"/>
          <p:nvPr/>
        </p:nvSpPr>
        <p:spPr>
          <a:xfrm>
            <a:off x="822960" y="3749039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F0F3"/>
                </a:solidFill>
                <a:latin typeface="Arial"/>
              </a:rPr>
              <a:t>Contact velocity v_i = Z_l U / (Z_l + Z_r)</a:t>
            </a:r>
          </a:p>
        </p:txBody>
      </p:sp>
      <p:sp>
        <p:nvSpPr>
          <p:cNvPr id="15" name="C5-E02 text 13" descr="sci-ppt:o013"/>
          <p:cNvSpPr txBox="1"/>
          <p:nvPr/>
        </p:nvSpPr>
        <p:spPr>
          <a:xfrm>
            <a:off x="822960" y="416052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v_i → 0  as  Z_r → ∞</a:t>
            </a:r>
          </a:p>
        </p:txBody>
      </p:sp>
      <p:sp>
        <p:nvSpPr>
          <p:cNvPr id="16" name="C5-E02 text 14" descr="sci-ppt:o014"/>
          <p:cNvSpPr txBox="1"/>
          <p:nvPr/>
        </p:nvSpPr>
        <p:spPr>
          <a:xfrm>
            <a:off x="822960" y="470916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7F0F3"/>
                </a:solidFill>
                <a:latin typeface="Arial"/>
              </a:rPr>
              <a:t>Contact pressure p = Z_l Z_r U / (Z_l + Z_r)</a:t>
            </a:r>
          </a:p>
        </p:txBody>
      </p:sp>
      <p:sp>
        <p:nvSpPr>
          <p:cNvPr id="17" name="C5-E02 text 15" descr="sci-ppt:o015"/>
          <p:cNvSpPr txBox="1"/>
          <p:nvPr/>
        </p:nvSpPr>
        <p:spPr>
          <a:xfrm>
            <a:off x="822960" y="5120640"/>
            <a:ext cx="493776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8EDBD4"/>
                </a:solidFill>
                <a:latin typeface="Arial"/>
              </a:rPr>
              <a:t>p → Z_0 U,  Z_0 = ρ_j c_0</a:t>
            </a:r>
          </a:p>
        </p:txBody>
      </p:sp>
      <p:sp>
        <p:nvSpPr>
          <p:cNvPr id="18" name="C5-E02 rect 16" descr="sci-ppt:o016"/>
          <p:cNvSpPr/>
          <p:nvPr/>
        </p:nvSpPr>
        <p:spPr>
          <a:xfrm>
            <a:off x="7315200" y="3840480"/>
            <a:ext cx="4389120" cy="1737360"/>
          </a:xfrm>
          <a:prstGeom prst="rect">
            <a:avLst/>
          </a:prstGeom>
          <a:solidFill>
            <a:srgbClr val="213E4B"/>
          </a:solidFill>
          <a:ln w="254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C5-E02 text 17" descr="sci-ppt:o017"/>
          <p:cNvSpPr txBox="1"/>
          <p:nvPr/>
        </p:nvSpPr>
        <p:spPr>
          <a:xfrm>
            <a:off x="7406640" y="3931920"/>
            <a:ext cx="420624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i="0">
                <a:solidFill>
                  <a:srgbClr val="F2B880"/>
                </a:solidFill>
                <a:latin typeface="Arial"/>
              </a:rPr>
              <a:t>Numbers at U = 99.027 m/s</a:t>
            </a:r>
          </a:p>
        </p:txBody>
      </p:sp>
      <p:sp>
        <p:nvSpPr>
          <p:cNvPr id="20" name="C5-E02 text 18" descr="sci-ppt:o018"/>
          <p:cNvSpPr txBox="1"/>
          <p:nvPr/>
        </p:nvSpPr>
        <p:spPr>
          <a:xfrm>
            <a:off x="7406640" y="4389120"/>
            <a:ext cx="42062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Z_0 = 1.6234 × 10⁶ Pa s/m</a:t>
            </a:r>
          </a:p>
        </p:txBody>
      </p:sp>
      <p:sp>
        <p:nvSpPr>
          <p:cNvPr id="21" name="C5-E02 text 19" descr="sci-ppt:o019"/>
          <p:cNvSpPr txBox="1"/>
          <p:nvPr/>
        </p:nvSpPr>
        <p:spPr>
          <a:xfrm>
            <a:off x="7406640" y="4754880"/>
            <a:ext cx="42062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Z_0 U = 160.765 MPa</a:t>
            </a:r>
          </a:p>
        </p:txBody>
      </p:sp>
      <p:sp>
        <p:nvSpPr>
          <p:cNvPr id="22" name="C5-E02 text 20" descr="sci-ppt:o020"/>
          <p:cNvSpPr txBox="1"/>
          <p:nvPr/>
        </p:nvSpPr>
        <p:spPr>
          <a:xfrm>
            <a:off x="7406640" y="5120640"/>
            <a:ext cx="42062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7F0F3"/>
                </a:solidFill>
                <a:latin typeface="Arial"/>
              </a:rPr>
              <a:t>p_A = p_j + Z_0 U = 160.867 MPa</a:t>
            </a:r>
          </a:p>
        </p:txBody>
      </p:sp>
      <p:sp>
        <p:nvSpPr>
          <p:cNvPr id="23" name="C5-E02 text 21" descr="sci-ppt:o021"/>
          <p:cNvSpPr txBox="1"/>
          <p:nvPr/>
        </p:nvSpPr>
        <p:spPr>
          <a:xfrm>
            <a:off x="5943600" y="2880360"/>
            <a:ext cx="5486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4C7D2"/>
                </a:solidFill>
                <a:latin typeface="Arial"/>
              </a:rPr>
              <a:t>Linear estimate: valid for U/c_0 ≪ 1</a:t>
            </a:r>
          </a:p>
        </p:txBody>
      </p:sp>
      <p:sp>
        <p:nvSpPr>
          <p:cNvPr id="24" name="C5-E02 text 22" descr="sci-ppt:o022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Schematic of Eq. (C3-E24) in the limit Z_r → ∞.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