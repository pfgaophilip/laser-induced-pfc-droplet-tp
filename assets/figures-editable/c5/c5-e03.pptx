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03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C5-E03 · Mass and momentum jump across the stopping shock</a:t>
            </a:r>
          </a:p>
        </p:txBody>
      </p:sp>
      <p:sp>
        <p:nvSpPr>
          <p:cNvPr id="3" name="C5-E03 rect 1" descr="sci-ppt:o001"/>
          <p:cNvSpPr/>
          <p:nvPr/>
        </p:nvSpPr>
        <p:spPr>
          <a:xfrm>
            <a:off x="822960" y="1463040"/>
            <a:ext cx="457200" cy="2926080"/>
          </a:xfrm>
          <a:prstGeom prst="rect">
            <a:avLst/>
          </a:prstGeom>
          <a:solidFill>
            <a:srgbClr val="3A5362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5-E03 line 2" descr="sci-ppt:o002"/>
          <p:cNvCxnSpPr/>
          <p:nvPr/>
        </p:nvCxnSpPr>
        <p:spPr>
          <a:xfrm>
            <a:off x="822960" y="4389120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" name="C5-E03 line 3" descr="sci-ppt:o003"/>
          <p:cNvCxnSpPr/>
          <p:nvPr/>
        </p:nvCxnSpPr>
        <p:spPr>
          <a:xfrm>
            <a:off x="1024128" y="4389120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6" name="C5-E03 rect 4" descr="sci-ppt:o004"/>
          <p:cNvSpPr/>
          <p:nvPr/>
        </p:nvSpPr>
        <p:spPr>
          <a:xfrm>
            <a:off x="822960" y="1417320"/>
            <a:ext cx="457200" cy="3017520"/>
          </a:xfrm>
          <a:prstGeom prst="rect">
            <a:avLst/>
          </a:prstGeom>
          <a:solidFill>
            <a:srgbClr val="3A5362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5-E03 text 5" descr="sci-ppt:o005"/>
          <p:cNvSpPr txBox="1"/>
          <p:nvPr/>
        </p:nvSpPr>
        <p:spPr>
          <a:xfrm>
            <a:off x="502920" y="4526280"/>
            <a:ext cx="12801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wall z = 0</a:t>
            </a:r>
          </a:p>
        </p:txBody>
      </p:sp>
      <p:sp>
        <p:nvSpPr>
          <p:cNvPr id="8" name="C5-E03 rect 6" descr="sci-ppt:o006"/>
          <p:cNvSpPr/>
          <p:nvPr/>
        </p:nvSpPr>
        <p:spPr>
          <a:xfrm>
            <a:off x="1280160" y="1463040"/>
            <a:ext cx="2926079" cy="2926080"/>
          </a:xfrm>
          <a:prstGeom prst="rect">
            <a:avLst/>
          </a:prstGeom>
          <a:solidFill>
            <a:srgbClr val="2B5560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5-E03 rect 7" descr="sci-ppt:o007"/>
          <p:cNvSpPr/>
          <p:nvPr/>
        </p:nvSpPr>
        <p:spPr>
          <a:xfrm>
            <a:off x="4206240" y="1463040"/>
            <a:ext cx="3931920" cy="29260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5-E03 line 8" descr="sci-ppt:o008"/>
          <p:cNvCxnSpPr/>
          <p:nvPr/>
        </p:nvCxnSpPr>
        <p:spPr>
          <a:xfrm>
            <a:off x="4206240" y="1234440"/>
            <a:ext cx="0" cy="3383280"/>
          </a:xfrm>
          <a:prstGeom prst="line">
            <a:avLst/>
          </a:prstGeom>
          <a:ln w="50800">
            <a:solidFill>
              <a:srgbClr val="F2B880"/>
            </a:solidFill>
          </a:ln>
          <a:effectLst/>
        </p:spPr>
      </p:cxnSp>
      <p:cxnSp>
        <p:nvCxnSpPr>
          <p:cNvPr id="11" name="C5-E03 arrow 9" descr="sci-ppt:o009"/>
          <p:cNvCxnSpPr/>
          <p:nvPr/>
        </p:nvCxnSpPr>
        <p:spPr>
          <a:xfrm>
            <a:off x="4206240" y="960120"/>
            <a:ext cx="1280160" cy="0"/>
          </a:xfrm>
          <a:prstGeom prst="line">
            <a:avLst/>
          </a:prstGeom>
          <a:ln w="381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C5-E03 text 10" descr="sci-ppt:o010"/>
          <p:cNvSpPr txBox="1"/>
          <p:nvPr/>
        </p:nvSpPr>
        <p:spPr>
          <a:xfrm>
            <a:off x="4114800" y="548640"/>
            <a:ext cx="40233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shock front, lab speed S = U_s − U</a:t>
            </a:r>
          </a:p>
        </p:txBody>
      </p:sp>
      <p:cxnSp>
        <p:nvCxnSpPr>
          <p:cNvPr id="13" name="C5-E03 arrow 11" descr="sci-ppt:o011"/>
          <p:cNvCxnSpPr/>
          <p:nvPr/>
        </p:nvCxnSpPr>
        <p:spPr>
          <a:xfrm flipH="1">
            <a:off x="5760720" y="2926080"/>
            <a:ext cx="2011680" cy="0"/>
          </a:xfrm>
          <a:prstGeom prst="line">
            <a:avLst/>
          </a:prstGeom>
          <a:ln w="381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C5-E03 text 12" descr="sci-ppt:o012"/>
          <p:cNvSpPr txBox="1"/>
          <p:nvPr/>
        </p:nvSpPr>
        <p:spPr>
          <a:xfrm>
            <a:off x="5989320" y="2468880"/>
            <a:ext cx="20116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incoming speed U</a:t>
            </a:r>
          </a:p>
        </p:txBody>
      </p:sp>
      <p:sp>
        <p:nvSpPr>
          <p:cNvPr id="15" name="C5-E03 text 13" descr="sci-ppt:o013"/>
          <p:cNvSpPr txBox="1"/>
          <p:nvPr/>
        </p:nvSpPr>
        <p:spPr>
          <a:xfrm>
            <a:off x="1371600" y="164592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Behind the shock</a:t>
            </a:r>
          </a:p>
        </p:txBody>
      </p:sp>
      <p:sp>
        <p:nvSpPr>
          <p:cNvPr id="16" name="C5-E03 text 14" descr="sci-ppt:o014"/>
          <p:cNvSpPr txBox="1"/>
          <p:nvPr/>
        </p:nvSpPr>
        <p:spPr>
          <a:xfrm>
            <a:off x="1371600" y="2103120"/>
            <a:ext cx="274320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at rest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ρ_1, p_1</a:t>
            </a:r>
          </a:p>
        </p:txBody>
      </p:sp>
      <p:sp>
        <p:nvSpPr>
          <p:cNvPr id="17" name="C5-E03 text 15" descr="sci-ppt:o015"/>
          <p:cNvSpPr txBox="1"/>
          <p:nvPr/>
        </p:nvSpPr>
        <p:spPr>
          <a:xfrm>
            <a:off x="4389120" y="1645920"/>
            <a:ext cx="3657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4C7D2"/>
                </a:solidFill>
                <a:latin typeface="Arial"/>
              </a:rPr>
              <a:t>Ahead of the shock</a:t>
            </a:r>
          </a:p>
        </p:txBody>
      </p:sp>
      <p:sp>
        <p:nvSpPr>
          <p:cNvPr id="18" name="C5-E03 text 16" descr="sci-ppt:o016"/>
          <p:cNvSpPr txBox="1"/>
          <p:nvPr/>
        </p:nvSpPr>
        <p:spPr>
          <a:xfrm>
            <a:off x="4389120" y="3154680"/>
            <a:ext cx="3657600" cy="7315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ρ_j, p_j</a:t>
            </a:r>
          </a:p>
        </p:txBody>
      </p:sp>
      <p:sp>
        <p:nvSpPr>
          <p:cNvPr id="19" name="C5-E03 text 17" descr="sci-ppt:o017"/>
          <p:cNvSpPr txBox="1"/>
          <p:nvPr/>
        </p:nvSpPr>
        <p:spPr>
          <a:xfrm>
            <a:off x="822960" y="502920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In the shock frame: liquid enters at U_s and leaves at U_s − U</a:t>
            </a:r>
          </a:p>
        </p:txBody>
      </p:sp>
      <p:sp>
        <p:nvSpPr>
          <p:cNvPr id="20" name="C5-E03 text 18" descr="sci-ppt:o018"/>
          <p:cNvSpPr txBox="1"/>
          <p:nvPr/>
        </p:nvSpPr>
        <p:spPr>
          <a:xfrm>
            <a:off x="822960" y="544068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EDBD4"/>
                </a:solidFill>
                <a:latin typeface="Arial"/>
              </a:rPr>
              <a:t>Mass: ρ_1 (U_s − U) = ρ_j U_s</a:t>
            </a:r>
          </a:p>
        </p:txBody>
      </p:sp>
      <p:sp>
        <p:nvSpPr>
          <p:cNvPr id="21" name="C5-E03 text 19" descr="sci-ppt:o019"/>
          <p:cNvSpPr txBox="1"/>
          <p:nvPr/>
        </p:nvSpPr>
        <p:spPr>
          <a:xfrm>
            <a:off x="822960" y="576072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EDBD4"/>
                </a:solidFill>
                <a:latin typeface="Arial"/>
              </a:rPr>
              <a:t>Momentum: p_1 − p_j = ρ_j U_s U</a:t>
            </a:r>
          </a:p>
        </p:txBody>
      </p:sp>
      <p:sp>
        <p:nvSpPr>
          <p:cNvPr id="22" name="C5-E03 text 20" descr="sci-ppt:o020"/>
          <p:cNvSpPr txBox="1"/>
          <p:nvPr/>
        </p:nvSpPr>
        <p:spPr>
          <a:xfrm>
            <a:off x="822960" y="608076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Velocity ratio x = U / U_s = 1 − ρ_j / ρ_1</a:t>
            </a:r>
          </a:p>
        </p:txBody>
      </p:sp>
      <p:sp>
        <p:nvSpPr>
          <p:cNvPr id="23" name="C5-E03 text 21" descr="sci-ppt:o021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Schematic of Eq. (C5-E03); distances are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