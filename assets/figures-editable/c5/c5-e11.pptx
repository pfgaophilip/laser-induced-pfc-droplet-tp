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1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C5-E11 · Rusanov flux with Heun time stepping</a:t>
            </a:r>
          </a:p>
        </p:txBody>
      </p:sp>
      <p:sp>
        <p:nvSpPr>
          <p:cNvPr id="3" name="C5-E11 rect 1" descr="sci-ppt:o001"/>
          <p:cNvSpPr/>
          <p:nvPr/>
        </p:nvSpPr>
        <p:spPr>
          <a:xfrm>
            <a:off x="731520" y="2103120"/>
            <a:ext cx="640080" cy="914400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5-E11 line 2" descr="sci-ppt:o002"/>
          <p:cNvCxnSpPr/>
          <p:nvPr/>
        </p:nvCxnSpPr>
        <p:spPr>
          <a:xfrm>
            <a:off x="731520" y="301752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" name="C5-E11 line 3" descr="sci-ppt:o003"/>
          <p:cNvCxnSpPr/>
          <p:nvPr/>
        </p:nvCxnSpPr>
        <p:spPr>
          <a:xfrm>
            <a:off x="932688" y="301752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5-E11 line 4" descr="sci-ppt:o004"/>
          <p:cNvCxnSpPr/>
          <p:nvPr/>
        </p:nvCxnSpPr>
        <p:spPr>
          <a:xfrm>
            <a:off x="1133856" y="301752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" name="C5-E11 rect 5" descr="sci-ppt:o005"/>
          <p:cNvSpPr/>
          <p:nvPr/>
        </p:nvSpPr>
        <p:spPr>
          <a:xfrm>
            <a:off x="731520" y="2057400"/>
            <a:ext cx="640080" cy="1005840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5-E11 text 6" descr="sci-ppt:o006"/>
          <p:cNvSpPr txBox="1"/>
          <p:nvPr/>
        </p:nvSpPr>
        <p:spPr>
          <a:xfrm>
            <a:off x="457200" y="3200400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wall</a:t>
            </a:r>
          </a:p>
        </p:txBody>
      </p:sp>
      <p:sp>
        <p:nvSpPr>
          <p:cNvPr id="9" name="C5-E11 rect 7" descr="sci-ppt:o007"/>
          <p:cNvSpPr/>
          <p:nvPr/>
        </p:nvSpPr>
        <p:spPr>
          <a:xfrm>
            <a:off x="141732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5-E11 rect 8" descr="sci-ppt:o008"/>
          <p:cNvSpPr/>
          <p:nvPr/>
        </p:nvSpPr>
        <p:spPr>
          <a:xfrm>
            <a:off x="219456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5-E11 rect 9" descr="sci-ppt:o009"/>
          <p:cNvSpPr/>
          <p:nvPr/>
        </p:nvSpPr>
        <p:spPr>
          <a:xfrm>
            <a:off x="297180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5-E11 rect 10" descr="sci-ppt:o010"/>
          <p:cNvSpPr/>
          <p:nvPr/>
        </p:nvSpPr>
        <p:spPr>
          <a:xfrm>
            <a:off x="3749039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5-E11 rect 11" descr="sci-ppt:o011"/>
          <p:cNvSpPr/>
          <p:nvPr/>
        </p:nvSpPr>
        <p:spPr>
          <a:xfrm>
            <a:off x="452628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5-E11 rect 12" descr="sci-ppt:o012"/>
          <p:cNvSpPr/>
          <p:nvPr/>
        </p:nvSpPr>
        <p:spPr>
          <a:xfrm>
            <a:off x="530352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5-E11 rect 13" descr="sci-ppt:o013"/>
          <p:cNvSpPr/>
          <p:nvPr/>
        </p:nvSpPr>
        <p:spPr>
          <a:xfrm>
            <a:off x="6080759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5-E11 rect 14" descr="sci-ppt:o014"/>
          <p:cNvSpPr/>
          <p:nvPr/>
        </p:nvSpPr>
        <p:spPr>
          <a:xfrm>
            <a:off x="685800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5-E11 rect 15" descr="sci-ppt:o015"/>
          <p:cNvSpPr/>
          <p:nvPr/>
        </p:nvSpPr>
        <p:spPr>
          <a:xfrm>
            <a:off x="763524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5-E11 rect 16" descr="sci-ppt:o016"/>
          <p:cNvSpPr/>
          <p:nvPr/>
        </p:nvSpPr>
        <p:spPr>
          <a:xfrm>
            <a:off x="841248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5-E11 text 17" descr="sci-ppt:o017"/>
          <p:cNvSpPr txBox="1"/>
          <p:nvPr/>
        </p:nvSpPr>
        <p:spPr>
          <a:xfrm>
            <a:off x="1417320" y="224028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cell 1</a:t>
            </a:r>
          </a:p>
        </p:txBody>
      </p:sp>
      <p:sp>
        <p:nvSpPr>
          <p:cNvPr id="20" name="C5-E11 text 18" descr="sci-ppt:o018"/>
          <p:cNvSpPr txBox="1"/>
          <p:nvPr/>
        </p:nvSpPr>
        <p:spPr>
          <a:xfrm>
            <a:off x="8412480" y="2240280"/>
            <a:ext cx="7772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N</a:t>
            </a:r>
          </a:p>
        </p:txBody>
      </p:sp>
      <p:cxnSp>
        <p:nvCxnSpPr>
          <p:cNvPr id="21" name="C5-E11 line 19" descr="sci-ppt:o019"/>
          <p:cNvCxnSpPr/>
          <p:nvPr/>
        </p:nvCxnSpPr>
        <p:spPr>
          <a:xfrm>
            <a:off x="502920" y="2560320"/>
            <a:ext cx="822960" cy="0"/>
          </a:xfrm>
          <a:prstGeom prst="line">
            <a:avLst/>
          </a:prstGeom>
          <a:ln w="12700">
            <a:solidFill>
              <a:srgbClr val="2E4756"/>
            </a:solidFill>
            <a:prstDash val="dash"/>
          </a:ln>
          <a:effectLst/>
        </p:spPr>
      </p:cxnSp>
      <p:sp>
        <p:nvSpPr>
          <p:cNvPr id="22" name="C5-E11 text 20" descr="sci-ppt:o020"/>
          <p:cNvSpPr txBox="1"/>
          <p:nvPr/>
        </p:nvSpPr>
        <p:spPr>
          <a:xfrm>
            <a:off x="182880" y="1691640"/>
            <a:ext cx="21945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mirror ghost state</a:t>
            </a:r>
          </a:p>
        </p:txBody>
      </p:sp>
      <p:cxnSp>
        <p:nvCxnSpPr>
          <p:cNvPr id="23" name="C5-E11 arrow 21" descr="sci-ppt:o021"/>
          <p:cNvCxnSpPr/>
          <p:nvPr/>
        </p:nvCxnSpPr>
        <p:spPr>
          <a:xfrm flipH="1">
            <a:off x="9235440" y="2560320"/>
            <a:ext cx="15087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24" name="C5-E11 text 22" descr="sci-ppt:o022"/>
          <p:cNvSpPr txBox="1"/>
          <p:nvPr/>
        </p:nvSpPr>
        <p:spPr>
          <a:xfrm>
            <a:off x="9281160" y="20116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inflow ρ_j, −U</a:t>
            </a:r>
          </a:p>
        </p:txBody>
      </p:sp>
      <p:cxnSp>
        <p:nvCxnSpPr>
          <p:cNvPr id="25" name="C5-E11 line 23" descr="sci-ppt:o023"/>
          <p:cNvCxnSpPr/>
          <p:nvPr/>
        </p:nvCxnSpPr>
        <p:spPr>
          <a:xfrm>
            <a:off x="1417320" y="3794760"/>
            <a:ext cx="7772400" cy="0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26" name="C5-E11 text 24" descr="sci-ppt:o024"/>
          <p:cNvSpPr txBox="1"/>
          <p:nvPr/>
        </p:nvSpPr>
        <p:spPr>
          <a:xfrm>
            <a:off x="2926080" y="3840480"/>
            <a:ext cx="45720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H = 4 µm,  N = 4000,  Δz = 1 nm</a:t>
            </a:r>
          </a:p>
        </p:txBody>
      </p:sp>
      <p:sp>
        <p:nvSpPr>
          <p:cNvPr id="27" name="C5-E11 text 25" descr="sci-ppt:o025"/>
          <p:cNvSpPr txBox="1"/>
          <p:nvPr/>
        </p:nvSpPr>
        <p:spPr>
          <a:xfrm>
            <a:off x="731520" y="4572000"/>
            <a:ext cx="53035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EDBD4"/>
                </a:solidFill>
                <a:latin typeface="Arial"/>
              </a:rPr>
              <a:t>Face flux (Rusanov)</a:t>
            </a:r>
          </a:p>
        </p:txBody>
      </p:sp>
      <p:sp>
        <p:nvSpPr>
          <p:cNvPr id="28" name="C5-E11 text 26" descr="sci-ppt:o026"/>
          <p:cNvSpPr txBox="1"/>
          <p:nvPr/>
        </p:nvSpPr>
        <p:spPr>
          <a:xfrm>
            <a:off x="731520" y="4983480"/>
            <a:ext cx="548640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F = ½(F_L + F_R) − ½ α (Q_R − Q_L)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α = max(|u_L| + c_L, |u_R| + c_R)</a:t>
            </a:r>
          </a:p>
        </p:txBody>
      </p:sp>
      <p:sp>
        <p:nvSpPr>
          <p:cNvPr id="29" name="C5-E11 text 27" descr="sci-ppt:o027"/>
          <p:cNvSpPr txBox="1"/>
          <p:nvPr/>
        </p:nvSpPr>
        <p:spPr>
          <a:xfrm>
            <a:off x="6675120" y="457200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EDBD4"/>
                </a:solidFill>
                <a:latin typeface="Arial"/>
              </a:rPr>
              <a:t>Time step (Heun)</a:t>
            </a:r>
          </a:p>
        </p:txBody>
      </p:sp>
      <p:sp>
        <p:nvSpPr>
          <p:cNvPr id="30" name="C5-E11 text 28" descr="sci-ppt:o028"/>
          <p:cNvSpPr txBox="1"/>
          <p:nvPr/>
        </p:nvSpPr>
        <p:spPr>
          <a:xfrm>
            <a:off x="6675120" y="4983480"/>
            <a:ext cx="512064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predictor Q* = Qⁿ + Δt L(Qⁿ)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Qⁿ⁺¹ = Qⁿ + ½ Δt [L(Qⁿ) + L(Q*)]</a:t>
            </a:r>
          </a:p>
        </p:txBody>
      </p:sp>
      <p:sp>
        <p:nvSpPr>
          <p:cNvPr id="31" name="C5-E11 text 29" descr="sci-ppt:o029"/>
          <p:cNvSpPr txBox="1"/>
          <p:nvPr/>
        </p:nvSpPr>
        <p:spPr>
          <a:xfrm>
            <a:off x="2926080" y="4206240"/>
            <a:ext cx="603504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Wall pressure read from the cell next to the wall</a:t>
            </a:r>
          </a:p>
        </p:txBody>
      </p:sp>
      <p:sp>
        <p:nvSpPr>
          <p:cNvPr id="32" name="C5-E11 text 30" descr="sci-ppt:o030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Schematic of the discretization of Eqs. (C5-E10) and (C5-E11); only ten of 4000 cells are drawn.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