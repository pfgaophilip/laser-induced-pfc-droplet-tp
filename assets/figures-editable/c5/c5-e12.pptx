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C5-E12 · Axisymmetric compressible flow equations of the COMSOL model</a:t>
            </a:r>
          </a:p>
        </p:txBody>
      </p:sp>
      <p:sp>
        <p:nvSpPr>
          <p:cNvPr id="3" name="C5-E12 rect 1" descr="sci-ppt:o001"/>
          <p:cNvSpPr/>
          <p:nvPr/>
        </p:nvSpPr>
        <p:spPr>
          <a:xfrm>
            <a:off x="731520" y="155448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12 text 2" descr="sci-ppt:o002"/>
          <p:cNvSpPr txBox="1"/>
          <p:nvPr/>
        </p:nvSpPr>
        <p:spPr>
          <a:xfrm>
            <a:off x="822960" y="160020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Mass</a:t>
            </a:r>
          </a:p>
        </p:txBody>
      </p:sp>
      <p:sp>
        <p:nvSpPr>
          <p:cNvPr id="5" name="C5-E12 text 3" descr="sci-ppt:o003"/>
          <p:cNvSpPr txBox="1"/>
          <p:nvPr/>
        </p:nvSpPr>
        <p:spPr>
          <a:xfrm>
            <a:off x="822960" y="201168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∂ₜρ + ∇·(ρu) = 0</a:t>
            </a:r>
          </a:p>
        </p:txBody>
      </p:sp>
      <p:cxnSp>
        <p:nvCxnSpPr>
          <p:cNvPr id="6" name="C5-E12 arrow 4" descr="sci-ppt:o004"/>
          <p:cNvCxnSpPr/>
          <p:nvPr/>
        </p:nvCxnSpPr>
        <p:spPr>
          <a:xfrm>
            <a:off x="6583680" y="2011680"/>
            <a:ext cx="1005840" cy="118872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C5-E12 rect 5" descr="sci-ppt:o005"/>
          <p:cNvSpPr/>
          <p:nvPr/>
        </p:nvSpPr>
        <p:spPr>
          <a:xfrm>
            <a:off x="731520" y="274320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5-E12 text 6" descr="sci-ppt:o006"/>
          <p:cNvSpPr txBox="1"/>
          <p:nvPr/>
        </p:nvSpPr>
        <p:spPr>
          <a:xfrm>
            <a:off x="822960" y="278892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Momentum</a:t>
            </a:r>
          </a:p>
        </p:txBody>
      </p:sp>
      <p:sp>
        <p:nvSpPr>
          <p:cNvPr id="9" name="C5-E12 text 7" descr="sci-ppt:o007"/>
          <p:cNvSpPr txBox="1"/>
          <p:nvPr/>
        </p:nvSpPr>
        <p:spPr>
          <a:xfrm>
            <a:off x="822960" y="320040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 Du/Dt = −∇p + ∇·(viscous stress)</a:t>
            </a:r>
          </a:p>
        </p:txBody>
      </p:sp>
      <p:cxnSp>
        <p:nvCxnSpPr>
          <p:cNvPr id="10" name="C5-E12 arrow 8" descr="sci-ppt:o008"/>
          <p:cNvCxnSpPr/>
          <p:nvPr/>
        </p:nvCxnSpPr>
        <p:spPr>
          <a:xfrm>
            <a:off x="6583680" y="3200400"/>
            <a:ext cx="1005840" cy="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5-E12 rect 9" descr="sci-ppt:o009"/>
          <p:cNvSpPr/>
          <p:nvPr/>
        </p:nvSpPr>
        <p:spPr>
          <a:xfrm>
            <a:off x="731520" y="3931920"/>
            <a:ext cx="585216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5-E12 text 10" descr="sci-ppt:o010"/>
          <p:cNvSpPr txBox="1"/>
          <p:nvPr/>
        </p:nvSpPr>
        <p:spPr>
          <a:xfrm>
            <a:off x="822960" y="3977639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Liquid law</a:t>
            </a:r>
          </a:p>
        </p:txBody>
      </p:sp>
      <p:sp>
        <p:nvSpPr>
          <p:cNvPr id="13" name="C5-E12 text 11" descr="sci-ppt:o011"/>
          <p:cNvSpPr txBox="1"/>
          <p:nvPr/>
        </p:nvSpPr>
        <p:spPr>
          <a:xfrm>
            <a:off x="822960" y="4389120"/>
            <a:ext cx="5669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ρ(p) = ρ_j [(p + Π)/(p_j + Π)]^(1/γ)</a:t>
            </a:r>
          </a:p>
        </p:txBody>
      </p:sp>
      <p:cxnSp>
        <p:nvCxnSpPr>
          <p:cNvPr id="14" name="C5-E12 arrow 12" descr="sci-ppt:o012"/>
          <p:cNvCxnSpPr/>
          <p:nvPr/>
        </p:nvCxnSpPr>
        <p:spPr>
          <a:xfrm flipV="1">
            <a:off x="6583680" y="3200400"/>
            <a:ext cx="1005840" cy="1188720"/>
          </a:xfrm>
          <a:prstGeom prst="line">
            <a:avLst/>
          </a:prstGeom>
          <a:ln w="2286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5-E12 rect 13" descr="sci-ppt:o013"/>
          <p:cNvSpPr/>
          <p:nvPr/>
        </p:nvSpPr>
        <p:spPr>
          <a:xfrm>
            <a:off x="7680960" y="2377440"/>
            <a:ext cx="4023360" cy="1645920"/>
          </a:xfrm>
          <a:prstGeom prst="rect">
            <a:avLst/>
          </a:prstGeom>
          <a:solidFill>
            <a:srgbClr val="2B556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5-E12 text 14" descr="sci-ppt:o014"/>
          <p:cNvSpPr txBox="1"/>
          <p:nvPr/>
        </p:nvSpPr>
        <p:spPr>
          <a:xfrm>
            <a:off x="7772400" y="2423160"/>
            <a:ext cx="3840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Fields (axisymmetric)</a:t>
            </a:r>
          </a:p>
        </p:txBody>
      </p:sp>
      <p:sp>
        <p:nvSpPr>
          <p:cNvPr id="17" name="C5-E12 text 15" descr="sci-ppt:o015"/>
          <p:cNvSpPr txBox="1"/>
          <p:nvPr/>
        </p:nvSpPr>
        <p:spPr>
          <a:xfrm>
            <a:off x="7772400" y="2880360"/>
            <a:ext cx="384048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ρ,  p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u_r,  w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viscosity μ = 1 mPa s</a:t>
            </a:r>
          </a:p>
        </p:txBody>
      </p:sp>
      <p:sp>
        <p:nvSpPr>
          <p:cNvPr id="18" name="C5-E12 text 16" descr="sci-ppt:o01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Same liquid as the C++ reference, plus radial motion and a small viscosity. No gas phase.</a:t>
            </a:r>
          </a:p>
        </p:txBody>
      </p:sp>
      <p:sp>
        <p:nvSpPr>
          <p:cNvPr id="19" name="C5-E12 text 17" descr="sci-ppt:o017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(C5-E12).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