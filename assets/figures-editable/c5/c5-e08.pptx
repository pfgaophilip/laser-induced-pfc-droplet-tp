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8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C5-E08 · Incident mass and kinetic-energy flux through the observation plane</a:t>
            </a:r>
          </a:p>
        </p:txBody>
      </p:sp>
      <p:cxnSp>
        <p:nvCxnSpPr>
          <p:cNvPr id="3" name="C5-E08 line 1" descr="sci-ppt:o001"/>
          <p:cNvCxnSpPr/>
          <p:nvPr/>
        </p:nvCxnSpPr>
        <p:spPr>
          <a:xfrm>
            <a:off x="1097280" y="2926080"/>
            <a:ext cx="95097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8 line 2" descr="sci-ppt:o002"/>
          <p:cNvCxnSpPr/>
          <p:nvPr/>
        </p:nvCxnSpPr>
        <p:spPr>
          <a:xfrm>
            <a:off x="109728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08 text 3" descr="sci-ppt:o003"/>
          <p:cNvSpPr txBox="1"/>
          <p:nvPr/>
        </p:nvSpPr>
        <p:spPr>
          <a:xfrm>
            <a:off x="731519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" name="C5-E08 line 4" descr="sci-ppt:o004"/>
          <p:cNvCxnSpPr/>
          <p:nvPr/>
        </p:nvCxnSpPr>
        <p:spPr>
          <a:xfrm>
            <a:off x="2455817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08 text 5" descr="sci-ppt:o005"/>
          <p:cNvSpPr txBox="1"/>
          <p:nvPr/>
        </p:nvSpPr>
        <p:spPr>
          <a:xfrm>
            <a:off x="2090057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8" name="C5-E08 line 6" descr="sci-ppt:o006"/>
          <p:cNvCxnSpPr/>
          <p:nvPr/>
        </p:nvCxnSpPr>
        <p:spPr>
          <a:xfrm>
            <a:off x="3814354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08 text 7" descr="sci-ppt:o007"/>
          <p:cNvSpPr txBox="1"/>
          <p:nvPr/>
        </p:nvSpPr>
        <p:spPr>
          <a:xfrm>
            <a:off x="3448594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0" name="C5-E08 line 8" descr="sci-ppt:o008"/>
          <p:cNvCxnSpPr/>
          <p:nvPr/>
        </p:nvCxnSpPr>
        <p:spPr>
          <a:xfrm>
            <a:off x="5172891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08 text 9" descr="sci-ppt:o009"/>
          <p:cNvSpPr txBox="1"/>
          <p:nvPr/>
        </p:nvSpPr>
        <p:spPr>
          <a:xfrm>
            <a:off x="4807131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cxnSp>
        <p:nvCxnSpPr>
          <p:cNvPr id="12" name="C5-E08 line 10" descr="sci-ppt:o010"/>
          <p:cNvCxnSpPr/>
          <p:nvPr/>
        </p:nvCxnSpPr>
        <p:spPr>
          <a:xfrm>
            <a:off x="6531428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08 text 11" descr="sci-ppt:o011"/>
          <p:cNvSpPr txBox="1"/>
          <p:nvPr/>
        </p:nvSpPr>
        <p:spPr>
          <a:xfrm>
            <a:off x="6165668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14" name="C5-E08 line 12" descr="sci-ppt:o012"/>
          <p:cNvCxnSpPr/>
          <p:nvPr/>
        </p:nvCxnSpPr>
        <p:spPr>
          <a:xfrm>
            <a:off x="7889965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08 text 13" descr="sci-ppt:o013"/>
          <p:cNvSpPr txBox="1"/>
          <p:nvPr/>
        </p:nvSpPr>
        <p:spPr>
          <a:xfrm>
            <a:off x="7524205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6" name="C5-E08 line 14" descr="sci-ppt:o014"/>
          <p:cNvCxnSpPr/>
          <p:nvPr/>
        </p:nvCxnSpPr>
        <p:spPr>
          <a:xfrm>
            <a:off x="9248502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7" name="C5-E08 text 15" descr="sci-ppt:o015"/>
          <p:cNvSpPr txBox="1"/>
          <p:nvPr/>
        </p:nvSpPr>
        <p:spPr>
          <a:xfrm>
            <a:off x="8882742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1.2</a:t>
            </a:r>
          </a:p>
        </p:txBody>
      </p:sp>
      <p:cxnSp>
        <p:nvCxnSpPr>
          <p:cNvPr id="18" name="C5-E08 line 16" descr="sci-ppt:o016"/>
          <p:cNvCxnSpPr/>
          <p:nvPr/>
        </p:nvCxnSpPr>
        <p:spPr>
          <a:xfrm>
            <a:off x="1060704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9" name="C5-E08 text 17" descr="sci-ppt:o017"/>
          <p:cNvSpPr txBox="1"/>
          <p:nvPr/>
        </p:nvSpPr>
        <p:spPr>
          <a:xfrm>
            <a:off x="10241280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1.4</a:t>
            </a:r>
          </a:p>
        </p:txBody>
      </p:sp>
      <p:sp>
        <p:nvSpPr>
          <p:cNvPr id="20" name="C5-E08 text 18" descr="sci-ppt:o018"/>
          <p:cNvSpPr txBox="1"/>
          <p:nvPr/>
        </p:nvSpPr>
        <p:spPr>
          <a:xfrm>
            <a:off x="1097280" y="3337560"/>
            <a:ext cx="95097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21" name="C5-E08 rect 19" descr="sci-ppt:o019"/>
          <p:cNvSpPr/>
          <p:nvPr/>
        </p:nvSpPr>
        <p:spPr>
          <a:xfrm>
            <a:off x="1097280" y="2103120"/>
            <a:ext cx="6792685" cy="54864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5-E08 text 20" descr="sci-ppt:o020"/>
          <p:cNvSpPr txBox="1"/>
          <p:nvPr/>
        </p:nvSpPr>
        <p:spPr>
          <a:xfrm>
            <a:off x="1097280" y="2148840"/>
            <a:ext cx="6792685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incident window t_w = 1 ns</a:t>
            </a:r>
          </a:p>
        </p:txBody>
      </p:sp>
      <p:cxnSp>
        <p:nvCxnSpPr>
          <p:cNvPr id="23" name="C5-E08 line 21" descr="sci-ppt:o021"/>
          <p:cNvCxnSpPr/>
          <p:nvPr/>
        </p:nvCxnSpPr>
        <p:spPr>
          <a:xfrm>
            <a:off x="9272086" y="1737360"/>
            <a:ext cx="0" cy="118872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24" name="C5-E08 text 22" descr="sci-ppt:o022"/>
          <p:cNvSpPr txBox="1"/>
          <p:nvPr/>
        </p:nvSpPr>
        <p:spPr>
          <a:xfrm>
            <a:off x="7260406" y="132588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reflected shock returns to z = 2a at about 1.20 ns</a:t>
            </a:r>
          </a:p>
        </p:txBody>
      </p:sp>
      <p:sp>
        <p:nvSpPr>
          <p:cNvPr id="25" name="C5-E08 rect 23" descr="sci-ppt:o023"/>
          <p:cNvSpPr/>
          <p:nvPr/>
        </p:nvSpPr>
        <p:spPr>
          <a:xfrm>
            <a:off x="822960" y="4023360"/>
            <a:ext cx="512064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5-E08 text 24" descr="sci-ppt:o024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Flux through the plane z = 2a</a:t>
            </a:r>
          </a:p>
        </p:txBody>
      </p:sp>
      <p:sp>
        <p:nvSpPr>
          <p:cNvPr id="27" name="C5-E08 text 25" descr="sci-ppt:o025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mass flow  ṁ = ρ_j U π a² = 3.1053 × 10⁻⁷ kg/s</a:t>
            </a:r>
          </a:p>
        </p:txBody>
      </p:sp>
      <p:sp>
        <p:nvSpPr>
          <p:cNvPr id="28" name="C5-E08 text 26" descr="sci-ppt:o026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energy flux  K̇ = ½ ρ_j U³ π a² = 1.5226 mW</a:t>
            </a:r>
          </a:p>
        </p:txBody>
      </p:sp>
      <p:sp>
        <p:nvSpPr>
          <p:cNvPr id="29" name="C5-E08 text 27" descr="sci-ppt:o027"/>
          <p:cNvSpPr txBox="1"/>
          <p:nvPr/>
        </p:nvSpPr>
        <p:spPr>
          <a:xfrm>
            <a:off x="914400" y="5212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K (1 ns) = K̇ · 1 ns = 1.5226 pJ</a:t>
            </a:r>
          </a:p>
        </p:txBody>
      </p:sp>
      <p:sp>
        <p:nvSpPr>
          <p:cNvPr id="30" name="C5-E08 rect 28" descr="sci-ppt:o028"/>
          <p:cNvSpPr/>
          <p:nvPr/>
        </p:nvSpPr>
        <p:spPr>
          <a:xfrm>
            <a:off x="6400800" y="4023360"/>
            <a:ext cx="512064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5-E08 text 29" descr="sci-ppt:o029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What the flux is not</a:t>
            </a:r>
          </a:p>
        </p:txBody>
      </p:sp>
      <p:sp>
        <p:nvSpPr>
          <p:cNvPr id="32" name="C5-E08 text 30" descr="sci-ppt:o030"/>
          <p:cNvSpPr txBox="1"/>
          <p:nvPr/>
        </p:nvSpPr>
        <p:spPr>
          <a:xfrm>
            <a:off x="6492240" y="4526280"/>
            <a:ext cx="4937760" cy="10058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Liquid energy crossing a plane.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 rigid wall does not move,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so it receives no work.</a:t>
            </a:r>
          </a:p>
        </p:txBody>
      </p:sp>
      <p:sp>
        <p:nvSpPr>
          <p:cNvPr id="33" name="C5-E08 text 31" descr="sci-ppt:o031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Numbers for a = 1 µm and U = 99.02724 m/s.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