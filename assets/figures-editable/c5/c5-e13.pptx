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3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C5-E13 · Boundary and initial conditions of the axisymmetric model</a:t>
            </a:r>
          </a:p>
        </p:txBody>
      </p:sp>
      <p:sp>
        <p:nvSpPr>
          <p:cNvPr id="3" name="C5-E13 rect 1" descr="sci-ppt:o001"/>
          <p:cNvSpPr/>
          <p:nvPr/>
        </p:nvSpPr>
        <p:spPr>
          <a:xfrm>
            <a:off x="1280160" y="1097280"/>
            <a:ext cx="2377440" cy="475488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5-E13 rect 2" descr="sci-ppt:o002"/>
          <p:cNvSpPr/>
          <p:nvPr/>
        </p:nvSpPr>
        <p:spPr>
          <a:xfrm>
            <a:off x="1280160" y="5673852"/>
            <a:ext cx="2377440" cy="178308"/>
          </a:xfrm>
          <a:prstGeom prst="rect">
            <a:avLst/>
          </a:prstGeom>
          <a:solidFill>
            <a:srgbClr val="2B5560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5-E13 line 3" descr="sci-ppt:o003"/>
          <p:cNvCxnSpPr/>
          <p:nvPr/>
        </p:nvCxnSpPr>
        <p:spPr>
          <a:xfrm>
            <a:off x="1463039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6" name="C5-E13 line 4" descr="sci-ppt:o004"/>
          <p:cNvCxnSpPr/>
          <p:nvPr/>
        </p:nvCxnSpPr>
        <p:spPr>
          <a:xfrm>
            <a:off x="1645919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7" name="C5-E13 line 5" descr="sci-ppt:o005"/>
          <p:cNvCxnSpPr/>
          <p:nvPr/>
        </p:nvCxnSpPr>
        <p:spPr>
          <a:xfrm>
            <a:off x="182880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8" name="C5-E13 line 6" descr="sci-ppt:o006"/>
          <p:cNvCxnSpPr/>
          <p:nvPr/>
        </p:nvCxnSpPr>
        <p:spPr>
          <a:xfrm>
            <a:off x="201168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9" name="C5-E13 line 7" descr="sci-ppt:o007"/>
          <p:cNvCxnSpPr/>
          <p:nvPr/>
        </p:nvCxnSpPr>
        <p:spPr>
          <a:xfrm>
            <a:off x="219456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10" name="C5-E13 line 8" descr="sci-ppt:o008"/>
          <p:cNvCxnSpPr/>
          <p:nvPr/>
        </p:nvCxnSpPr>
        <p:spPr>
          <a:xfrm>
            <a:off x="237744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11" name="C5-E13 line 9" descr="sci-ppt:o009"/>
          <p:cNvCxnSpPr/>
          <p:nvPr/>
        </p:nvCxnSpPr>
        <p:spPr>
          <a:xfrm>
            <a:off x="256032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12" name="C5-E13 line 10" descr="sci-ppt:o010"/>
          <p:cNvCxnSpPr/>
          <p:nvPr/>
        </p:nvCxnSpPr>
        <p:spPr>
          <a:xfrm>
            <a:off x="274320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13" name="C5-E13 line 11" descr="sci-ppt:o011"/>
          <p:cNvCxnSpPr/>
          <p:nvPr/>
        </p:nvCxnSpPr>
        <p:spPr>
          <a:xfrm>
            <a:off x="292608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14" name="C5-E13 line 12" descr="sci-ppt:o012"/>
          <p:cNvCxnSpPr/>
          <p:nvPr/>
        </p:nvCxnSpPr>
        <p:spPr>
          <a:xfrm>
            <a:off x="310896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15" name="C5-E13 line 13" descr="sci-ppt:o013"/>
          <p:cNvCxnSpPr/>
          <p:nvPr/>
        </p:nvCxnSpPr>
        <p:spPr>
          <a:xfrm>
            <a:off x="329184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16" name="C5-E13 line 14" descr="sci-ppt:o014"/>
          <p:cNvCxnSpPr/>
          <p:nvPr/>
        </p:nvCxnSpPr>
        <p:spPr>
          <a:xfrm>
            <a:off x="3474720" y="5673852"/>
            <a:ext cx="0" cy="178308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17" name="C5-E13 line 15" descr="sci-ppt:o015"/>
          <p:cNvCxnSpPr/>
          <p:nvPr/>
        </p:nvCxnSpPr>
        <p:spPr>
          <a:xfrm>
            <a:off x="1280160" y="5763006"/>
            <a:ext cx="2377440" cy="0"/>
          </a:xfrm>
          <a:prstGeom prst="line">
            <a:avLst/>
          </a:prstGeom>
          <a:ln w="10160">
            <a:solidFill>
              <a:srgbClr val="2E4756"/>
            </a:solidFill>
          </a:ln>
          <a:effectLst/>
        </p:spPr>
      </p:cxnSp>
      <p:cxnSp>
        <p:nvCxnSpPr>
          <p:cNvPr id="18" name="C5-E13 line 16" descr="sci-ppt:o016"/>
          <p:cNvCxnSpPr/>
          <p:nvPr/>
        </p:nvCxnSpPr>
        <p:spPr>
          <a:xfrm>
            <a:off x="1280160" y="3474720"/>
            <a:ext cx="2377440" cy="0"/>
          </a:xfrm>
          <a:prstGeom prst="line">
            <a:avLst/>
          </a:prstGeom>
          <a:ln w="15240">
            <a:solidFill>
              <a:srgbClr val="B4C7D2"/>
            </a:solidFill>
            <a:prstDash val="dash"/>
          </a:ln>
          <a:effectLst/>
        </p:spPr>
      </p:cxnSp>
      <p:sp>
        <p:nvSpPr>
          <p:cNvPr id="19" name="C5-E13 rect 17" descr="sci-ppt:o017"/>
          <p:cNvSpPr/>
          <p:nvPr/>
        </p:nvSpPr>
        <p:spPr>
          <a:xfrm>
            <a:off x="1280160" y="5852160"/>
            <a:ext cx="2377440" cy="256032"/>
          </a:xfrm>
          <a:prstGeom prst="rect">
            <a:avLst/>
          </a:prstGeom>
          <a:solidFill>
            <a:srgbClr val="3A5362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5-E13 line 18" descr="sci-ppt:o018"/>
          <p:cNvCxnSpPr/>
          <p:nvPr/>
        </p:nvCxnSpPr>
        <p:spPr>
          <a:xfrm>
            <a:off x="1280160" y="6108192"/>
            <a:ext cx="164591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5-E13 line 19" descr="sci-ppt:o019"/>
          <p:cNvCxnSpPr/>
          <p:nvPr/>
        </p:nvCxnSpPr>
        <p:spPr>
          <a:xfrm>
            <a:off x="1481328" y="6108192"/>
            <a:ext cx="164591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5-E13 line 20" descr="sci-ppt:o020"/>
          <p:cNvCxnSpPr/>
          <p:nvPr/>
        </p:nvCxnSpPr>
        <p:spPr>
          <a:xfrm>
            <a:off x="1682495" y="6108192"/>
            <a:ext cx="164593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3" name="C5-E13 line 21" descr="sci-ppt:o021"/>
          <p:cNvCxnSpPr/>
          <p:nvPr/>
        </p:nvCxnSpPr>
        <p:spPr>
          <a:xfrm>
            <a:off x="1883664" y="610819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5-E13 line 22" descr="sci-ppt:o022"/>
          <p:cNvCxnSpPr/>
          <p:nvPr/>
        </p:nvCxnSpPr>
        <p:spPr>
          <a:xfrm>
            <a:off x="2084831" y="6108192"/>
            <a:ext cx="164593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5-E13 line 23" descr="sci-ppt:o023"/>
          <p:cNvCxnSpPr/>
          <p:nvPr/>
        </p:nvCxnSpPr>
        <p:spPr>
          <a:xfrm>
            <a:off x="2286000" y="610819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6" name="C5-E13 line 24" descr="sci-ppt:o024"/>
          <p:cNvCxnSpPr/>
          <p:nvPr/>
        </p:nvCxnSpPr>
        <p:spPr>
          <a:xfrm>
            <a:off x="2487168" y="610819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5-E13 line 25" descr="sci-ppt:o025"/>
          <p:cNvCxnSpPr/>
          <p:nvPr/>
        </p:nvCxnSpPr>
        <p:spPr>
          <a:xfrm>
            <a:off x="2688336" y="610819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5-E13 line 26" descr="sci-ppt:o026"/>
          <p:cNvCxnSpPr/>
          <p:nvPr/>
        </p:nvCxnSpPr>
        <p:spPr>
          <a:xfrm>
            <a:off x="2889504" y="610819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9" name="C5-E13 line 27" descr="sci-ppt:o027"/>
          <p:cNvCxnSpPr/>
          <p:nvPr/>
        </p:nvCxnSpPr>
        <p:spPr>
          <a:xfrm>
            <a:off x="3090672" y="610819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C5-E13 line 28" descr="sci-ppt:o028"/>
          <p:cNvCxnSpPr/>
          <p:nvPr/>
        </p:nvCxnSpPr>
        <p:spPr>
          <a:xfrm>
            <a:off x="3291840" y="610819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5-E13 line 29" descr="sci-ppt:o029"/>
          <p:cNvCxnSpPr/>
          <p:nvPr/>
        </p:nvCxnSpPr>
        <p:spPr>
          <a:xfrm>
            <a:off x="3493008" y="6108192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32" name="C5-E13 text 30" descr="sci-ppt:o030"/>
          <p:cNvSpPr txBox="1"/>
          <p:nvPr/>
        </p:nvSpPr>
        <p:spPr>
          <a:xfrm>
            <a:off x="3749039" y="3319272"/>
            <a:ext cx="2194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plane z = 2a</a:t>
            </a:r>
          </a:p>
        </p:txBody>
      </p:sp>
      <p:sp>
        <p:nvSpPr>
          <p:cNvPr id="33" name="C5-E13 text 31" descr="sci-ppt:o031"/>
          <p:cNvSpPr txBox="1"/>
          <p:nvPr/>
        </p:nvSpPr>
        <p:spPr>
          <a:xfrm>
            <a:off x="3749039" y="5564124"/>
            <a:ext cx="237744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band z ≤ 0.15 a</a:t>
            </a:r>
          </a:p>
        </p:txBody>
      </p:sp>
      <p:sp>
        <p:nvSpPr>
          <p:cNvPr id="34" name="C5-E13 text 32" descr="sci-ppt:o032"/>
          <p:cNvSpPr txBox="1"/>
          <p:nvPr/>
        </p:nvSpPr>
        <p:spPr>
          <a:xfrm>
            <a:off x="411479" y="1051560"/>
            <a:ext cx="8229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z = 4a</a:t>
            </a:r>
          </a:p>
        </p:txBody>
      </p:sp>
      <p:sp>
        <p:nvSpPr>
          <p:cNvPr id="35" name="C5-E13 text 33" descr="sci-ppt:o033"/>
          <p:cNvSpPr txBox="1"/>
          <p:nvPr/>
        </p:nvSpPr>
        <p:spPr>
          <a:xfrm>
            <a:off x="411479" y="5715000"/>
            <a:ext cx="8229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z = 0</a:t>
            </a:r>
          </a:p>
        </p:txBody>
      </p:sp>
      <p:sp>
        <p:nvSpPr>
          <p:cNvPr id="36" name="C5-E13 text 34" descr="sci-ppt:o034"/>
          <p:cNvSpPr txBox="1"/>
          <p:nvPr/>
        </p:nvSpPr>
        <p:spPr>
          <a:xfrm>
            <a:off x="1097280" y="731519"/>
            <a:ext cx="54864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r = 0</a:t>
            </a:r>
          </a:p>
        </p:txBody>
      </p:sp>
      <p:sp>
        <p:nvSpPr>
          <p:cNvPr id="37" name="C5-E13 text 35" descr="sci-ppt:o035"/>
          <p:cNvSpPr txBox="1"/>
          <p:nvPr/>
        </p:nvSpPr>
        <p:spPr>
          <a:xfrm>
            <a:off x="3200400" y="731519"/>
            <a:ext cx="822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r = a</a:t>
            </a:r>
          </a:p>
        </p:txBody>
      </p:sp>
      <p:cxnSp>
        <p:nvCxnSpPr>
          <p:cNvPr id="38" name="C5-E13 arrow 36" descr="sci-ppt:o036"/>
          <p:cNvCxnSpPr/>
          <p:nvPr/>
        </p:nvCxnSpPr>
        <p:spPr>
          <a:xfrm>
            <a:off x="2468880" y="1280160"/>
            <a:ext cx="0" cy="822960"/>
          </a:xfrm>
          <a:prstGeom prst="line">
            <a:avLst/>
          </a:prstGeom>
          <a:ln w="3175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39" name="C5-E13 text 37" descr="sci-ppt:o037"/>
          <p:cNvSpPr txBox="1"/>
          <p:nvPr/>
        </p:nvSpPr>
        <p:spPr>
          <a:xfrm>
            <a:off x="2560320" y="1463040"/>
            <a:ext cx="73152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B880"/>
                </a:solidFill>
                <a:latin typeface="Arial"/>
              </a:rPr>
              <a:t>U</a:t>
            </a:r>
          </a:p>
        </p:txBody>
      </p:sp>
      <p:cxnSp>
        <p:nvCxnSpPr>
          <p:cNvPr id="40" name="C5-E13 arrow 38" descr="sci-ppt:o038"/>
          <p:cNvCxnSpPr/>
          <p:nvPr/>
        </p:nvCxnSpPr>
        <p:spPr>
          <a:xfrm flipH="1">
            <a:off x="3639312" y="2286000"/>
            <a:ext cx="566928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41" name="C5-E13 text 39" descr="sci-ppt:o039"/>
          <p:cNvSpPr txBox="1"/>
          <p:nvPr/>
        </p:nvSpPr>
        <p:spPr>
          <a:xfrm>
            <a:off x="4297680" y="2130552"/>
            <a:ext cx="228600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outlet at p_j</a:t>
            </a:r>
          </a:p>
        </p:txBody>
      </p:sp>
      <p:sp>
        <p:nvSpPr>
          <p:cNvPr id="42" name="C5-E13 text 40" descr="sci-ppt:o040"/>
          <p:cNvSpPr txBox="1"/>
          <p:nvPr/>
        </p:nvSpPr>
        <p:spPr>
          <a:xfrm>
            <a:off x="6400800" y="1097280"/>
            <a:ext cx="53949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Setup</a:t>
            </a:r>
          </a:p>
        </p:txBody>
      </p:sp>
      <p:sp>
        <p:nvSpPr>
          <p:cNvPr id="43" name="C5-E13 ellipse 41" descr="sci-ppt:o041"/>
          <p:cNvSpPr/>
          <p:nvPr/>
        </p:nvSpPr>
        <p:spPr>
          <a:xfrm>
            <a:off x="6437376" y="1636776"/>
            <a:ext cx="109728" cy="109728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5-E13 text 42" descr="sci-ppt:o042"/>
          <p:cNvSpPr txBox="1"/>
          <p:nvPr/>
        </p:nvSpPr>
        <p:spPr>
          <a:xfrm>
            <a:off x="6675120" y="1545336"/>
            <a:ext cx="5212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Compressible laminar flow, axisymmetric</a:t>
            </a:r>
          </a:p>
        </p:txBody>
      </p:sp>
      <p:sp>
        <p:nvSpPr>
          <p:cNvPr id="45" name="C5-E13 ellipse 43" descr="sci-ppt:o043"/>
          <p:cNvSpPr/>
          <p:nvPr/>
        </p:nvSpPr>
        <p:spPr>
          <a:xfrm>
            <a:off x="6437376" y="2048256"/>
            <a:ext cx="109728" cy="109728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C5-E13 text 44" descr="sci-ppt:o044"/>
          <p:cNvSpPr txBox="1"/>
          <p:nvPr/>
        </p:nvSpPr>
        <p:spPr>
          <a:xfrm>
            <a:off x="6675120" y="1956816"/>
            <a:ext cx="5212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Liquid law: Eq. (C5-E01), μ = 1 mPa s</a:t>
            </a:r>
          </a:p>
        </p:txBody>
      </p:sp>
      <p:sp>
        <p:nvSpPr>
          <p:cNvPr id="47" name="C5-E13 ellipse 45" descr="sci-ppt:o045"/>
          <p:cNvSpPr/>
          <p:nvPr/>
        </p:nvSpPr>
        <p:spPr>
          <a:xfrm>
            <a:off x="6437376" y="2459736"/>
            <a:ext cx="109728" cy="109728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C5-E13 text 46" descr="sci-ppt:o046"/>
          <p:cNvSpPr txBox="1"/>
          <p:nvPr/>
        </p:nvSpPr>
        <p:spPr>
          <a:xfrm>
            <a:off x="6675120" y="2368296"/>
            <a:ext cx="5212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Slip wall z = 0; inflow z = 4a</a:t>
            </a:r>
          </a:p>
        </p:txBody>
      </p:sp>
      <p:sp>
        <p:nvSpPr>
          <p:cNvPr id="49" name="C5-E13 ellipse 47" descr="sci-ppt:o047"/>
          <p:cNvSpPr/>
          <p:nvPr/>
        </p:nvSpPr>
        <p:spPr>
          <a:xfrm>
            <a:off x="6437376" y="2871216"/>
            <a:ext cx="109728" cy="109728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C5-E13 text 48" descr="sci-ppt:o048"/>
          <p:cNvSpPr txBox="1"/>
          <p:nvPr/>
        </p:nvSpPr>
        <p:spPr>
          <a:xfrm>
            <a:off x="6675120" y="2779776"/>
            <a:ext cx="5212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Free outlet r = a (confined case: slip)</a:t>
            </a:r>
          </a:p>
        </p:txBody>
      </p:sp>
      <p:sp>
        <p:nvSpPr>
          <p:cNvPr id="51" name="C5-E13 ellipse 49" descr="sci-ppt:o049"/>
          <p:cNvSpPr/>
          <p:nvPr/>
        </p:nvSpPr>
        <p:spPr>
          <a:xfrm>
            <a:off x="6437376" y="3282696"/>
            <a:ext cx="109728" cy="109728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C5-E13 text 50" descr="sci-ppt:o050"/>
          <p:cNvSpPr txBox="1"/>
          <p:nvPr/>
        </p:nvSpPr>
        <p:spPr>
          <a:xfrm>
            <a:off x="6675120" y="3191256"/>
            <a:ext cx="5212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Free triangles, global h_max = 0.025 a</a:t>
            </a:r>
          </a:p>
        </p:txBody>
      </p:sp>
      <p:sp>
        <p:nvSpPr>
          <p:cNvPr id="53" name="C5-E13 ellipse 51" descr="sci-ppt:o051"/>
          <p:cNvSpPr/>
          <p:nvPr/>
        </p:nvSpPr>
        <p:spPr>
          <a:xfrm>
            <a:off x="6437376" y="3694176"/>
            <a:ext cx="109728" cy="109728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C5-E13 text 52" descr="sci-ppt:o052"/>
          <p:cNvSpPr txBox="1"/>
          <p:nvPr/>
        </p:nvSpPr>
        <p:spPr>
          <a:xfrm>
            <a:off x="6675120" y="3602736"/>
            <a:ext cx="5212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Time output every 0.001 ns in the band runs</a:t>
            </a:r>
          </a:p>
        </p:txBody>
      </p:sp>
      <p:sp>
        <p:nvSpPr>
          <p:cNvPr id="55" name="C5-E13 text 53" descr="sci-ppt:o053"/>
          <p:cNvSpPr txBox="1"/>
          <p:nvPr/>
        </p:nvSpPr>
        <p:spPr>
          <a:xfrm>
            <a:off x="6400800" y="4114800"/>
            <a:ext cx="53949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B880"/>
                </a:solidFill>
                <a:latin typeface="Arial"/>
              </a:rPr>
              <a:t>Band refinement sequence</a:t>
            </a:r>
          </a:p>
        </p:txBody>
      </p:sp>
      <p:sp>
        <p:nvSpPr>
          <p:cNvPr id="56" name="C5-E13 text 54" descr="sci-ppt:o054"/>
          <p:cNvSpPr txBox="1"/>
          <p:nvPr/>
        </p:nvSpPr>
        <p:spPr>
          <a:xfrm>
            <a:off x="6583680" y="4553712"/>
            <a:ext cx="228600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band h = a/40</a:t>
            </a:r>
          </a:p>
        </p:txBody>
      </p:sp>
      <p:sp>
        <p:nvSpPr>
          <p:cNvPr id="57" name="C5-E13 text 55" descr="sci-ppt:o055"/>
          <p:cNvSpPr txBox="1"/>
          <p:nvPr/>
        </p:nvSpPr>
        <p:spPr>
          <a:xfrm>
            <a:off x="8778240" y="4553712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B4C7D2"/>
                </a:solidFill>
                <a:latin typeface="Arial"/>
              </a:rPr>
              <a:t>16,176 elements</a:t>
            </a:r>
          </a:p>
        </p:txBody>
      </p:sp>
      <p:sp>
        <p:nvSpPr>
          <p:cNvPr id="58" name="C5-E13 text 56" descr="sci-ppt:o056"/>
          <p:cNvSpPr txBox="1"/>
          <p:nvPr/>
        </p:nvSpPr>
        <p:spPr>
          <a:xfrm>
            <a:off x="6583680" y="4919472"/>
            <a:ext cx="228600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band h = a/80</a:t>
            </a:r>
          </a:p>
        </p:txBody>
      </p:sp>
      <p:sp>
        <p:nvSpPr>
          <p:cNvPr id="59" name="C5-E13 text 57" descr="sci-ppt:o057"/>
          <p:cNvSpPr txBox="1"/>
          <p:nvPr/>
        </p:nvSpPr>
        <p:spPr>
          <a:xfrm>
            <a:off x="8778240" y="4919472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B4C7D2"/>
                </a:solidFill>
                <a:latin typeface="Arial"/>
              </a:rPr>
              <a:t>18,468 elements</a:t>
            </a:r>
          </a:p>
        </p:txBody>
      </p:sp>
      <p:sp>
        <p:nvSpPr>
          <p:cNvPr id="60" name="C5-E13 text 58" descr="sci-ppt:o058"/>
          <p:cNvSpPr txBox="1"/>
          <p:nvPr/>
        </p:nvSpPr>
        <p:spPr>
          <a:xfrm>
            <a:off x="6583680" y="5285232"/>
            <a:ext cx="228600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band h = a/160</a:t>
            </a:r>
          </a:p>
        </p:txBody>
      </p:sp>
      <p:sp>
        <p:nvSpPr>
          <p:cNvPr id="61" name="C5-E13 text 59" descr="sci-ppt:o059"/>
          <p:cNvSpPr txBox="1"/>
          <p:nvPr/>
        </p:nvSpPr>
        <p:spPr>
          <a:xfrm>
            <a:off x="8778240" y="5285232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B4C7D2"/>
                </a:solidFill>
                <a:latin typeface="Arial"/>
              </a:rPr>
              <a:t>26,776 elements</a:t>
            </a:r>
          </a:p>
        </p:txBody>
      </p:sp>
      <p:sp>
        <p:nvSpPr>
          <p:cNvPr id="62" name="C5-E13 text 60" descr="sci-ppt:o060"/>
          <p:cNvSpPr txBox="1"/>
          <p:nvPr/>
        </p:nvSpPr>
        <p:spPr>
          <a:xfrm>
            <a:off x="6583680" y="5650992"/>
            <a:ext cx="228600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band h = a/320</a:t>
            </a:r>
          </a:p>
        </p:txBody>
      </p:sp>
      <p:sp>
        <p:nvSpPr>
          <p:cNvPr id="63" name="C5-E13 text 61" descr="sci-ppt:o061"/>
          <p:cNvSpPr txBox="1"/>
          <p:nvPr/>
        </p:nvSpPr>
        <p:spPr>
          <a:xfrm>
            <a:off x="8778240" y="5650992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B4C7D2"/>
                </a:solidFill>
                <a:latin typeface="Arial"/>
              </a:rPr>
              <a:t>57,668 elements</a:t>
            </a:r>
          </a:p>
        </p:txBody>
      </p:sp>
      <p:sp>
        <p:nvSpPr>
          <p:cNvPr id="64" name="C5-E13 text 62" descr="sci-ppt:o062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Schematic; mesh lines are indicative, not the actual triangulation.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