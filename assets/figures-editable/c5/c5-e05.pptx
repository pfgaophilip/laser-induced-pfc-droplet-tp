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5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C5-E05 · Barotropic shock pressure used by both solvers</a:t>
            </a:r>
          </a:p>
        </p:txBody>
      </p:sp>
      <p:cxnSp>
        <p:nvCxnSpPr>
          <p:cNvPr id="3" name="C5-E05 line 1" descr="sci-ppt:o001"/>
          <p:cNvCxnSpPr/>
          <p:nvPr/>
        </p:nvCxnSpPr>
        <p:spPr>
          <a:xfrm>
            <a:off x="1828800" y="4206240"/>
            <a:ext cx="7863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05 line 2" descr="sci-ppt:o002"/>
          <p:cNvCxnSpPr/>
          <p:nvPr/>
        </p:nvCxnSpPr>
        <p:spPr>
          <a:xfrm>
            <a:off x="1828800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5" name="C5-E05 text 3" descr="sci-ppt:o003"/>
          <p:cNvSpPr txBox="1"/>
          <p:nvPr/>
        </p:nvSpPr>
        <p:spPr>
          <a:xfrm>
            <a:off x="1463040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155</a:t>
            </a:r>
          </a:p>
        </p:txBody>
      </p:sp>
      <p:cxnSp>
        <p:nvCxnSpPr>
          <p:cNvPr id="6" name="C5-E05 line 4" descr="sci-ppt:o004"/>
          <p:cNvCxnSpPr/>
          <p:nvPr/>
        </p:nvCxnSpPr>
        <p:spPr>
          <a:xfrm>
            <a:off x="3616036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" name="C5-E05 text 5" descr="sci-ppt:o005"/>
          <p:cNvSpPr txBox="1"/>
          <p:nvPr/>
        </p:nvSpPr>
        <p:spPr>
          <a:xfrm>
            <a:off x="3250276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160</a:t>
            </a:r>
          </a:p>
        </p:txBody>
      </p:sp>
      <p:cxnSp>
        <p:nvCxnSpPr>
          <p:cNvPr id="8" name="C5-E05 line 6" descr="sci-ppt:o006"/>
          <p:cNvCxnSpPr/>
          <p:nvPr/>
        </p:nvCxnSpPr>
        <p:spPr>
          <a:xfrm>
            <a:off x="5403272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9" name="C5-E05 text 7" descr="sci-ppt:o007"/>
          <p:cNvSpPr txBox="1"/>
          <p:nvPr/>
        </p:nvSpPr>
        <p:spPr>
          <a:xfrm>
            <a:off x="5037512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165</a:t>
            </a:r>
          </a:p>
        </p:txBody>
      </p:sp>
      <p:cxnSp>
        <p:nvCxnSpPr>
          <p:cNvPr id="10" name="C5-E05 line 8" descr="sci-ppt:o008"/>
          <p:cNvCxnSpPr/>
          <p:nvPr/>
        </p:nvCxnSpPr>
        <p:spPr>
          <a:xfrm>
            <a:off x="7190509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1" name="C5-E05 text 9" descr="sci-ppt:o009"/>
          <p:cNvSpPr txBox="1"/>
          <p:nvPr/>
        </p:nvSpPr>
        <p:spPr>
          <a:xfrm>
            <a:off x="6824749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170</a:t>
            </a:r>
          </a:p>
        </p:txBody>
      </p:sp>
      <p:cxnSp>
        <p:nvCxnSpPr>
          <p:cNvPr id="12" name="C5-E05 line 10" descr="sci-ppt:o010"/>
          <p:cNvCxnSpPr/>
          <p:nvPr/>
        </p:nvCxnSpPr>
        <p:spPr>
          <a:xfrm>
            <a:off x="8977745" y="42062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3" name="C5-E05 text 11" descr="sci-ppt:o011"/>
          <p:cNvSpPr txBox="1"/>
          <p:nvPr/>
        </p:nvSpPr>
        <p:spPr>
          <a:xfrm>
            <a:off x="8611985" y="42976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175</a:t>
            </a:r>
          </a:p>
        </p:txBody>
      </p:sp>
      <p:sp>
        <p:nvSpPr>
          <p:cNvPr id="14" name="C5-E05 text 12" descr="sci-ppt:o012"/>
          <p:cNvSpPr txBox="1"/>
          <p:nvPr/>
        </p:nvSpPr>
        <p:spPr>
          <a:xfrm>
            <a:off x="1828800" y="4617720"/>
            <a:ext cx="786384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Absolute wall pressure at U = 99.027 m/s (MPa)</a:t>
            </a:r>
          </a:p>
        </p:txBody>
      </p:sp>
      <p:cxnSp>
        <p:nvCxnSpPr>
          <p:cNvPr id="15" name="C5-E05 line 13" descr="sci-ppt:o013"/>
          <p:cNvCxnSpPr/>
          <p:nvPr/>
        </p:nvCxnSpPr>
        <p:spPr>
          <a:xfrm>
            <a:off x="1828800" y="1645920"/>
            <a:ext cx="2096979" cy="0"/>
          </a:xfrm>
          <a:prstGeom prst="line">
            <a:avLst/>
          </a:prstGeom>
          <a:ln w="50800">
            <a:solidFill>
              <a:srgbClr val="B4C7D2"/>
            </a:solidFill>
          </a:ln>
          <a:effectLst/>
        </p:spPr>
      </p:cxnSp>
      <p:sp>
        <p:nvSpPr>
          <p:cNvPr id="16" name="C5-E05 ellipse 14" descr="sci-ppt:o014"/>
          <p:cNvSpPr/>
          <p:nvPr/>
        </p:nvSpPr>
        <p:spPr>
          <a:xfrm>
            <a:off x="3834339" y="1554480"/>
            <a:ext cx="182880" cy="182880"/>
          </a:xfrm>
          <a:prstGeom prst="ellipse">
            <a:avLst/>
          </a:prstGeom>
          <a:solidFill>
            <a:srgbClr val="B4C7D2"/>
          </a:solidFill>
          <a:ln w="127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5-E05 text 15" descr="sci-ppt:o015"/>
          <p:cNvSpPr txBox="1"/>
          <p:nvPr/>
        </p:nvSpPr>
        <p:spPr>
          <a:xfrm>
            <a:off x="274320" y="1481328"/>
            <a:ext cx="146304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Acoustic p_A</a:t>
            </a:r>
          </a:p>
        </p:txBody>
      </p:sp>
      <p:sp>
        <p:nvSpPr>
          <p:cNvPr id="18" name="C5-E05 text 16" descr="sci-ppt:o016"/>
          <p:cNvSpPr txBox="1"/>
          <p:nvPr/>
        </p:nvSpPr>
        <p:spPr>
          <a:xfrm>
            <a:off x="4108659" y="1481328"/>
            <a:ext cx="2194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160.867</a:t>
            </a:r>
          </a:p>
        </p:txBody>
      </p:sp>
      <p:cxnSp>
        <p:nvCxnSpPr>
          <p:cNvPr id="19" name="C5-E05 line 17" descr="sci-ppt:o017"/>
          <p:cNvCxnSpPr/>
          <p:nvPr/>
        </p:nvCxnSpPr>
        <p:spPr>
          <a:xfrm>
            <a:off x="1828800" y="2560320"/>
            <a:ext cx="6846934" cy="0"/>
          </a:xfrm>
          <a:prstGeom prst="line">
            <a:avLst/>
          </a:prstGeom>
          <a:ln w="50800">
            <a:solidFill>
              <a:srgbClr val="F2B880"/>
            </a:solidFill>
          </a:ln>
          <a:effectLst/>
        </p:spPr>
      </p:cxnSp>
      <p:sp>
        <p:nvSpPr>
          <p:cNvPr id="20" name="C5-E05 ellipse 18" descr="sci-ppt:o018"/>
          <p:cNvSpPr/>
          <p:nvPr/>
        </p:nvSpPr>
        <p:spPr>
          <a:xfrm>
            <a:off x="8584294" y="2468879"/>
            <a:ext cx="182880" cy="182880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5-E05 text 19" descr="sci-ppt:o019"/>
          <p:cNvSpPr txBox="1"/>
          <p:nvPr/>
        </p:nvSpPr>
        <p:spPr>
          <a:xfrm>
            <a:off x="274320" y="2395728"/>
            <a:ext cx="146304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Barotropic p_B</a:t>
            </a:r>
          </a:p>
        </p:txBody>
      </p:sp>
      <p:sp>
        <p:nvSpPr>
          <p:cNvPr id="22" name="C5-E05 text 20" descr="sci-ppt:o020"/>
          <p:cNvSpPr txBox="1"/>
          <p:nvPr/>
        </p:nvSpPr>
        <p:spPr>
          <a:xfrm>
            <a:off x="8858614" y="2395728"/>
            <a:ext cx="2194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174.155</a:t>
            </a:r>
          </a:p>
        </p:txBody>
      </p:sp>
      <p:cxnSp>
        <p:nvCxnSpPr>
          <p:cNvPr id="23" name="C5-E05 line 21" descr="sci-ppt:o021"/>
          <p:cNvCxnSpPr/>
          <p:nvPr/>
        </p:nvCxnSpPr>
        <p:spPr>
          <a:xfrm>
            <a:off x="1828800" y="3474720"/>
            <a:ext cx="7014150" cy="0"/>
          </a:xfrm>
          <a:prstGeom prst="line">
            <a:avLst/>
          </a:prstGeom>
          <a:ln w="50800">
            <a:solidFill>
              <a:srgbClr val="8EDBD4"/>
            </a:solidFill>
          </a:ln>
          <a:effectLst/>
        </p:spPr>
      </p:cxnSp>
      <p:sp>
        <p:nvSpPr>
          <p:cNvPr id="24" name="C5-E05 ellipse 22" descr="sci-ppt:o022"/>
          <p:cNvSpPr/>
          <p:nvPr/>
        </p:nvSpPr>
        <p:spPr>
          <a:xfrm>
            <a:off x="8751510" y="3383279"/>
            <a:ext cx="182880" cy="182880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5-E05 text 23" descr="sci-ppt:o023"/>
          <p:cNvSpPr txBox="1"/>
          <p:nvPr/>
        </p:nvSpPr>
        <p:spPr>
          <a:xfrm>
            <a:off x="274320" y="3310128"/>
            <a:ext cx="146304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Hugoniot p_H</a:t>
            </a:r>
          </a:p>
        </p:txBody>
      </p:sp>
      <p:sp>
        <p:nvSpPr>
          <p:cNvPr id="26" name="C5-E05 text 24" descr="sci-ppt:o024"/>
          <p:cNvSpPr txBox="1"/>
          <p:nvPr/>
        </p:nvSpPr>
        <p:spPr>
          <a:xfrm>
            <a:off x="9025830" y="3310128"/>
            <a:ext cx="21945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174.623</a:t>
            </a:r>
          </a:p>
        </p:txBody>
      </p:sp>
      <p:sp>
        <p:nvSpPr>
          <p:cNvPr id="27" name="C5-E05 text 25" descr="sci-ppt:o025"/>
          <p:cNvSpPr txBox="1"/>
          <p:nvPr/>
        </p:nvSpPr>
        <p:spPr>
          <a:xfrm>
            <a:off x="822960" y="521208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EDBD4"/>
                </a:solidFill>
                <a:latin typeface="Arial"/>
              </a:rPr>
              <a:t>p_B is 0.268% below p_H: the energy equation is dropped.</a:t>
            </a:r>
          </a:p>
        </p:txBody>
      </p:sp>
      <p:sp>
        <p:nvSpPr>
          <p:cNvPr id="28" name="C5-E05 text 26" descr="sci-ppt:o026"/>
          <p:cNvSpPr txBox="1"/>
          <p:nvPr/>
        </p:nvSpPr>
        <p:spPr>
          <a:xfrm>
            <a:off x="822960" y="562356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p_A is 7.9% below p_H: the linear estimate ignores compression.</a:t>
            </a:r>
          </a:p>
        </p:txBody>
      </p:sp>
      <p:sp>
        <p:nvSpPr>
          <p:cNvPr id="29" name="C5-E05 text 27" descr="sci-ppt:o027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Values from Eqs. (C5-E02), (C5-E04) and (C5-E05).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