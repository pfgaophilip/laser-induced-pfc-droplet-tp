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2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C2-E12 | Physical-variable diagram</a:t>
            </a:r>
          </a:p>
        </p:txBody>
      </p:sp>
      <p:sp>
        <p:nvSpPr>
          <p:cNvPr id="3" name="rect2" descr="sci-ppt:C2-E12-002"/>
          <p:cNvSpPr/>
          <p:nvPr/>
        </p:nvSpPr>
        <p:spPr>
          <a:xfrm>
            <a:off x="975360" y="1706880"/>
            <a:ext cx="3657600" cy="1219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2-E12-003"/>
          <p:cNvSpPr txBox="1"/>
          <p:nvPr/>
        </p:nvSpPr>
        <p:spPr>
          <a:xfrm>
            <a:off x="1097280" y="1828800"/>
            <a:ext cx="3474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Liquid | vapor equilibrium</a:t>
            </a:r>
          </a:p>
        </p:txBody>
      </p:sp>
      <p:cxnSp>
        <p:nvCxnSpPr>
          <p:cNvPr id="5" name="arrow4" descr="sci-ppt:C2-E12-004"/>
          <p:cNvCxnSpPr/>
          <p:nvPr/>
        </p:nvCxnSpPr>
        <p:spPr>
          <a:xfrm>
            <a:off x="6339840" y="3962399"/>
            <a:ext cx="44500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arrow5" descr="sci-ppt:C2-E12-005"/>
          <p:cNvCxnSpPr/>
          <p:nvPr/>
        </p:nvCxnSpPr>
        <p:spPr>
          <a:xfrm flipV="1">
            <a:off x="6339840" y="1524000"/>
            <a:ext cx="0" cy="2438399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text6" descr="sci-ppt:C2-E12-006"/>
          <p:cNvSpPr txBox="1"/>
          <p:nvPr/>
        </p:nvSpPr>
        <p:spPr>
          <a:xfrm>
            <a:off x="9814560" y="408432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Temperature</a:t>
            </a:r>
          </a:p>
        </p:txBody>
      </p:sp>
      <p:sp>
        <p:nvSpPr>
          <p:cNvPr id="8" name="text7" descr="sci-ppt:C2-E12-007"/>
          <p:cNvSpPr txBox="1"/>
          <p:nvPr/>
        </p:nvSpPr>
        <p:spPr>
          <a:xfrm>
            <a:off x="6217920" y="115824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Saturation pressure</a:t>
            </a:r>
          </a:p>
        </p:txBody>
      </p:sp>
      <p:cxnSp>
        <p:nvCxnSpPr>
          <p:cNvPr id="9" name="line8" descr="sci-ppt:C2-E12-008"/>
          <p:cNvCxnSpPr/>
          <p:nvPr/>
        </p:nvCxnSpPr>
        <p:spPr>
          <a:xfrm flipV="1">
            <a:off x="6400800" y="3838041"/>
            <a:ext cx="142239" cy="243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line9" descr="sci-ppt:C2-E12-009"/>
          <p:cNvCxnSpPr/>
          <p:nvPr/>
        </p:nvCxnSpPr>
        <p:spPr>
          <a:xfrm flipV="1">
            <a:off x="6543039" y="3830726"/>
            <a:ext cx="142241" cy="73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line10" descr="sci-ppt:C2-E12-010"/>
          <p:cNvCxnSpPr/>
          <p:nvPr/>
        </p:nvCxnSpPr>
        <p:spPr>
          <a:xfrm flipV="1">
            <a:off x="6685280" y="3818534"/>
            <a:ext cx="142240" cy="1219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line11" descr="sci-ppt:C2-E12-011"/>
          <p:cNvCxnSpPr/>
          <p:nvPr/>
        </p:nvCxnSpPr>
        <p:spPr>
          <a:xfrm flipV="1">
            <a:off x="6827520" y="3801465"/>
            <a:ext cx="142240" cy="1706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line12" descr="sci-ppt:C2-E12-012"/>
          <p:cNvCxnSpPr/>
          <p:nvPr/>
        </p:nvCxnSpPr>
        <p:spPr>
          <a:xfrm flipV="1">
            <a:off x="6969760" y="3779520"/>
            <a:ext cx="142240" cy="2194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line13" descr="sci-ppt:C2-E12-013"/>
          <p:cNvCxnSpPr/>
          <p:nvPr/>
        </p:nvCxnSpPr>
        <p:spPr>
          <a:xfrm flipV="1">
            <a:off x="7112000" y="3752697"/>
            <a:ext cx="142240" cy="2682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line14" descr="sci-ppt:C2-E12-014"/>
          <p:cNvCxnSpPr/>
          <p:nvPr/>
        </p:nvCxnSpPr>
        <p:spPr>
          <a:xfrm flipV="1">
            <a:off x="7254240" y="3720998"/>
            <a:ext cx="142240" cy="3169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line15" descr="sci-ppt:C2-E12-015"/>
          <p:cNvCxnSpPr/>
          <p:nvPr/>
        </p:nvCxnSpPr>
        <p:spPr>
          <a:xfrm flipV="1">
            <a:off x="7396480" y="3684422"/>
            <a:ext cx="142240" cy="365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line16" descr="sci-ppt:C2-E12-016"/>
          <p:cNvCxnSpPr/>
          <p:nvPr/>
        </p:nvCxnSpPr>
        <p:spPr>
          <a:xfrm flipV="1">
            <a:off x="7538720" y="3642969"/>
            <a:ext cx="142240" cy="414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line17" descr="sci-ppt:C2-E12-017"/>
          <p:cNvCxnSpPr/>
          <p:nvPr/>
        </p:nvCxnSpPr>
        <p:spPr>
          <a:xfrm flipV="1">
            <a:off x="7680960" y="3596640"/>
            <a:ext cx="142240" cy="463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line18" descr="sci-ppt:C2-E12-018"/>
          <p:cNvCxnSpPr/>
          <p:nvPr/>
        </p:nvCxnSpPr>
        <p:spPr>
          <a:xfrm flipV="1">
            <a:off x="7823200" y="3545433"/>
            <a:ext cx="142240" cy="5120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line19" descr="sci-ppt:C2-E12-019"/>
          <p:cNvCxnSpPr/>
          <p:nvPr/>
        </p:nvCxnSpPr>
        <p:spPr>
          <a:xfrm flipV="1">
            <a:off x="7965440" y="3489350"/>
            <a:ext cx="142240" cy="5608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line20" descr="sci-ppt:C2-E12-020"/>
          <p:cNvCxnSpPr/>
          <p:nvPr/>
        </p:nvCxnSpPr>
        <p:spPr>
          <a:xfrm flipV="1">
            <a:off x="8107680" y="3428390"/>
            <a:ext cx="142240" cy="609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line21" descr="sci-ppt:C2-E12-021"/>
          <p:cNvCxnSpPr/>
          <p:nvPr/>
        </p:nvCxnSpPr>
        <p:spPr>
          <a:xfrm flipV="1">
            <a:off x="8249920" y="3362553"/>
            <a:ext cx="142240" cy="658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line22" descr="sci-ppt:C2-E12-022"/>
          <p:cNvCxnSpPr/>
          <p:nvPr/>
        </p:nvCxnSpPr>
        <p:spPr>
          <a:xfrm flipV="1">
            <a:off x="8392160" y="3291840"/>
            <a:ext cx="142240" cy="707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line23" descr="sci-ppt:C2-E12-023"/>
          <p:cNvCxnSpPr/>
          <p:nvPr/>
        </p:nvCxnSpPr>
        <p:spPr>
          <a:xfrm flipV="1">
            <a:off x="8534400" y="3216249"/>
            <a:ext cx="142240" cy="755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line24" descr="sci-ppt:C2-E12-024"/>
          <p:cNvCxnSpPr/>
          <p:nvPr/>
        </p:nvCxnSpPr>
        <p:spPr>
          <a:xfrm flipV="1">
            <a:off x="8676640" y="3135782"/>
            <a:ext cx="142240" cy="804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line25" descr="sci-ppt:C2-E12-025"/>
          <p:cNvCxnSpPr/>
          <p:nvPr/>
        </p:nvCxnSpPr>
        <p:spPr>
          <a:xfrm flipV="1">
            <a:off x="8818880" y="3050438"/>
            <a:ext cx="142240" cy="8534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line26" descr="sci-ppt:C2-E12-026"/>
          <p:cNvCxnSpPr/>
          <p:nvPr/>
        </p:nvCxnSpPr>
        <p:spPr>
          <a:xfrm flipV="1">
            <a:off x="8961120" y="2960217"/>
            <a:ext cx="142240" cy="9022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line27" descr="sci-ppt:C2-E12-027"/>
          <p:cNvCxnSpPr/>
          <p:nvPr/>
        </p:nvCxnSpPr>
        <p:spPr>
          <a:xfrm flipV="1">
            <a:off x="9103360" y="2865120"/>
            <a:ext cx="142240" cy="950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line28" descr="sci-ppt:C2-E12-028"/>
          <p:cNvCxnSpPr/>
          <p:nvPr/>
        </p:nvCxnSpPr>
        <p:spPr>
          <a:xfrm flipV="1">
            <a:off x="9245600" y="2765145"/>
            <a:ext cx="142240" cy="9997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line29" descr="sci-ppt:C2-E12-029"/>
          <p:cNvCxnSpPr/>
          <p:nvPr/>
        </p:nvCxnSpPr>
        <p:spPr>
          <a:xfrm flipV="1">
            <a:off x="9387840" y="2660294"/>
            <a:ext cx="142240" cy="10485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line30" descr="sci-ppt:C2-E12-030"/>
          <p:cNvCxnSpPr/>
          <p:nvPr/>
        </p:nvCxnSpPr>
        <p:spPr>
          <a:xfrm flipV="1">
            <a:off x="9530080" y="2550566"/>
            <a:ext cx="142240" cy="10972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line31" descr="sci-ppt:C2-E12-031"/>
          <p:cNvCxnSpPr/>
          <p:nvPr/>
        </p:nvCxnSpPr>
        <p:spPr>
          <a:xfrm flipV="1">
            <a:off x="9672320" y="2435961"/>
            <a:ext cx="142240" cy="11460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line32" descr="sci-ppt:C2-E12-032"/>
          <p:cNvCxnSpPr/>
          <p:nvPr/>
        </p:nvCxnSpPr>
        <p:spPr>
          <a:xfrm flipV="1">
            <a:off x="9814560" y="2316480"/>
            <a:ext cx="142240" cy="1194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line33" descr="sci-ppt:C2-E12-033"/>
          <p:cNvCxnSpPr/>
          <p:nvPr/>
        </p:nvCxnSpPr>
        <p:spPr>
          <a:xfrm flipV="1">
            <a:off x="9956800" y="2192121"/>
            <a:ext cx="142240" cy="12435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line34" descr="sci-ppt:C2-E12-034"/>
          <p:cNvCxnSpPr/>
          <p:nvPr/>
        </p:nvCxnSpPr>
        <p:spPr>
          <a:xfrm flipV="1">
            <a:off x="10099040" y="2062886"/>
            <a:ext cx="142240" cy="12923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line35" descr="sci-ppt:C2-E12-035"/>
          <p:cNvCxnSpPr/>
          <p:nvPr/>
        </p:nvCxnSpPr>
        <p:spPr>
          <a:xfrm flipV="1">
            <a:off x="10241280" y="1928774"/>
            <a:ext cx="142240" cy="13411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line36" descr="sci-ppt:C2-E12-036"/>
          <p:cNvCxnSpPr/>
          <p:nvPr/>
        </p:nvCxnSpPr>
        <p:spPr>
          <a:xfrm flipV="1">
            <a:off x="10383520" y="1789785"/>
            <a:ext cx="142239" cy="1389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line37" descr="sci-ppt:C2-E12-037"/>
          <p:cNvCxnSpPr/>
          <p:nvPr/>
        </p:nvCxnSpPr>
        <p:spPr>
          <a:xfrm flipV="1">
            <a:off x="10525759" y="1645920"/>
            <a:ext cx="142241" cy="14386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39" name="text38" descr="sci-ppt:C2-E12-038"/>
          <p:cNvSpPr txBox="1"/>
          <p:nvPr/>
        </p:nvSpPr>
        <p:spPr>
          <a:xfrm>
            <a:off x="975360" y="3474720"/>
            <a:ext cx="52425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Schematic trend within stated fit ranges</a:t>
            </a:r>
          </a:p>
        </p:txBody>
      </p:sp>
      <p:sp>
        <p:nvSpPr>
          <p:cNvPr id="40" name="text39" descr="sci-ppt:C2-E12-039"/>
          <p:cNvSpPr txBox="1"/>
          <p:nvPr/>
        </p:nvSpPr>
        <p:spPr>
          <a:xfrm>
            <a:off x="975360" y="304800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F6BC77"/>
                </a:solidFill>
                <a:latin typeface="Arial"/>
              </a:rPr>
              <a:t>Not an activation threshold</a:t>
            </a:r>
          </a:p>
        </p:txBody>
      </p:sp>
      <p:sp>
        <p:nvSpPr>
          <p:cNvPr id="41" name="text40" descr="sci-ppt:C2-E12-040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T: interface temperature</a:t>
            </a:r>
          </a:p>
        </p:txBody>
      </p:sp>
      <p:sp>
        <p:nvSpPr>
          <p:cNvPr id="42" name="text41" descr="sci-ppt:C2-E12-041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282.82–337.94 K: fit domain</a:t>
            </a:r>
          </a:p>
        </p:txBody>
      </p:sp>
      <p:sp>
        <p:nvSpPr>
          <p:cNvPr id="43" name="text42" descr="sci-ppt:C2-E12-042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4.2063; 1103.454 K; 39.77 K: coefficients</a:t>
            </a:r>
          </a:p>
        </p:txBody>
      </p:sp>
      <p:sp>
        <p:nvSpPr>
          <p:cNvPr id="44" name="text43" descr="sci-ppt:C2-E12-043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p_sat,PFP: bulk equilibrium vapor pressure</a:t>
            </a:r>
          </a:p>
        </p:txBody>
      </p:sp>
      <p:sp>
        <p:nvSpPr>
          <p:cNvPr id="45" name="text44" descr="sci-ppt:C2-E12-044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1 bar = 10⁵ Pa</a:t>
            </a:r>
          </a:p>
        </p:txBody>
      </p:sp>
      <p:sp>
        <p:nvSpPr>
          <p:cNvPr id="46" name="text45" descr="sci-ppt:C2-E12-045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Liquid and vapor coexist only when inventory and exchange permit</a:t>
            </a:r>
          </a:p>
        </p:txBody>
      </p:sp>
      <p:sp>
        <p:nvSpPr>
          <p:cNvPr id="47" name="text46" descr="sci-ppt:C2-E12-046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This curve is not a laser-fluence threshold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