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1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C2-E12 · Verified empirical PFP property correlation</a:t>
            </a:r>
          </a:p>
        </p:txBody>
      </p:sp>
      <p:cxnSp>
        <p:nvCxnSpPr>
          <p:cNvPr id="3" name="C2-E12 line 1" descr="sci-ppt:o001"/>
          <p:cNvCxnSpPr/>
          <p:nvPr/>
        </p:nvCxnSpPr>
        <p:spPr>
          <a:xfrm>
            <a:off x="914400" y="5029200"/>
            <a:ext cx="658367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12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12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12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12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280</a:t>
            </a:r>
          </a:p>
        </p:txBody>
      </p:sp>
      <p:cxnSp>
        <p:nvCxnSpPr>
          <p:cNvPr id="8" name="C2-E12 line 6" descr="sci-ppt:o006"/>
          <p:cNvCxnSpPr/>
          <p:nvPr/>
        </p:nvCxnSpPr>
        <p:spPr>
          <a:xfrm>
            <a:off x="20116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12 line 7" descr="sci-ppt:o007"/>
          <p:cNvCxnSpPr/>
          <p:nvPr/>
        </p:nvCxnSpPr>
        <p:spPr>
          <a:xfrm>
            <a:off x="20116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12 text 8" descr="sci-ppt:o008"/>
          <p:cNvSpPr txBox="1"/>
          <p:nvPr/>
        </p:nvSpPr>
        <p:spPr>
          <a:xfrm>
            <a:off x="15544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290</a:t>
            </a:r>
          </a:p>
        </p:txBody>
      </p:sp>
      <p:cxnSp>
        <p:nvCxnSpPr>
          <p:cNvPr id="11" name="C2-E12 line 9" descr="sci-ppt:o009"/>
          <p:cNvCxnSpPr/>
          <p:nvPr/>
        </p:nvCxnSpPr>
        <p:spPr>
          <a:xfrm>
            <a:off x="31089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12 line 10" descr="sci-ppt:o010"/>
          <p:cNvCxnSpPr/>
          <p:nvPr/>
        </p:nvCxnSpPr>
        <p:spPr>
          <a:xfrm>
            <a:off x="31089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12 text 11" descr="sci-ppt:o011"/>
          <p:cNvSpPr txBox="1"/>
          <p:nvPr/>
        </p:nvSpPr>
        <p:spPr>
          <a:xfrm>
            <a:off x="26517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300</a:t>
            </a:r>
          </a:p>
        </p:txBody>
      </p:sp>
      <p:cxnSp>
        <p:nvCxnSpPr>
          <p:cNvPr id="14" name="C2-E12 line 12" descr="sci-ppt:o012"/>
          <p:cNvCxnSpPr/>
          <p:nvPr/>
        </p:nvCxnSpPr>
        <p:spPr>
          <a:xfrm>
            <a:off x="42062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12 line 13" descr="sci-ppt:o013"/>
          <p:cNvCxnSpPr/>
          <p:nvPr/>
        </p:nvCxnSpPr>
        <p:spPr>
          <a:xfrm>
            <a:off x="42062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12 text 14" descr="sci-ppt:o014"/>
          <p:cNvSpPr txBox="1"/>
          <p:nvPr/>
        </p:nvSpPr>
        <p:spPr>
          <a:xfrm>
            <a:off x="374903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310</a:t>
            </a:r>
          </a:p>
        </p:txBody>
      </p:sp>
      <p:cxnSp>
        <p:nvCxnSpPr>
          <p:cNvPr id="17" name="C2-E12 line 15" descr="sci-ppt:o015"/>
          <p:cNvCxnSpPr/>
          <p:nvPr/>
        </p:nvCxnSpPr>
        <p:spPr>
          <a:xfrm>
            <a:off x="53035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12 line 16" descr="sci-ppt:o016"/>
          <p:cNvCxnSpPr/>
          <p:nvPr/>
        </p:nvCxnSpPr>
        <p:spPr>
          <a:xfrm>
            <a:off x="53035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12 text 17" descr="sci-ppt:o017"/>
          <p:cNvSpPr txBox="1"/>
          <p:nvPr/>
        </p:nvSpPr>
        <p:spPr>
          <a:xfrm>
            <a:off x="48463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320</a:t>
            </a:r>
          </a:p>
        </p:txBody>
      </p:sp>
      <p:cxnSp>
        <p:nvCxnSpPr>
          <p:cNvPr id="20" name="C2-E12 line 18" descr="sci-ppt:o018"/>
          <p:cNvCxnSpPr/>
          <p:nvPr/>
        </p:nvCxnSpPr>
        <p:spPr>
          <a:xfrm>
            <a:off x="64008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12 line 19" descr="sci-ppt:o019"/>
          <p:cNvCxnSpPr/>
          <p:nvPr/>
        </p:nvCxnSpPr>
        <p:spPr>
          <a:xfrm>
            <a:off x="64008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12 text 20" descr="sci-ppt:o020"/>
          <p:cNvSpPr txBox="1"/>
          <p:nvPr/>
        </p:nvSpPr>
        <p:spPr>
          <a:xfrm>
            <a:off x="59436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330</a:t>
            </a:r>
          </a:p>
        </p:txBody>
      </p:sp>
      <p:cxnSp>
        <p:nvCxnSpPr>
          <p:cNvPr id="23" name="C2-E12 line 21" descr="sci-ppt:o021"/>
          <p:cNvCxnSpPr/>
          <p:nvPr/>
        </p:nvCxnSpPr>
        <p:spPr>
          <a:xfrm>
            <a:off x="749807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12 line 22" descr="sci-ppt:o022"/>
          <p:cNvCxnSpPr/>
          <p:nvPr/>
        </p:nvCxnSpPr>
        <p:spPr>
          <a:xfrm>
            <a:off x="749807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2-E12 text 23" descr="sci-ppt:o023"/>
          <p:cNvSpPr txBox="1"/>
          <p:nvPr/>
        </p:nvSpPr>
        <p:spPr>
          <a:xfrm>
            <a:off x="70408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340</a:t>
            </a:r>
          </a:p>
        </p:txBody>
      </p:sp>
      <p:cxnSp>
        <p:nvCxnSpPr>
          <p:cNvPr id="26" name="C2-E12 line 24" descr="sci-ppt:o024"/>
          <p:cNvCxnSpPr/>
          <p:nvPr/>
        </p:nvCxnSpPr>
        <p:spPr>
          <a:xfrm>
            <a:off x="850392" y="460605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2-E12 line 25" descr="sci-ppt:o025"/>
          <p:cNvCxnSpPr/>
          <p:nvPr/>
        </p:nvCxnSpPr>
        <p:spPr>
          <a:xfrm>
            <a:off x="914400" y="4606055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2-E12 text 26" descr="sci-ppt:o026"/>
          <p:cNvSpPr txBox="1"/>
          <p:nvPr/>
        </p:nvSpPr>
        <p:spPr>
          <a:xfrm>
            <a:off x="45720" y="452375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29" name="C2-E12 line 27" descr="sci-ppt:o027"/>
          <p:cNvCxnSpPr/>
          <p:nvPr/>
        </p:nvCxnSpPr>
        <p:spPr>
          <a:xfrm>
            <a:off x="850392" y="32004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2-E12 line 28" descr="sci-ppt:o028"/>
          <p:cNvCxnSpPr/>
          <p:nvPr/>
        </p:nvCxnSpPr>
        <p:spPr>
          <a:xfrm>
            <a:off x="914400" y="3200400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2-E12 text 29" descr="sci-ppt:o029"/>
          <p:cNvSpPr txBox="1"/>
          <p:nvPr/>
        </p:nvSpPr>
        <p:spPr>
          <a:xfrm>
            <a:off x="45720" y="3118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32" name="C2-E12 line 30" descr="sci-ppt:o030"/>
          <p:cNvCxnSpPr/>
          <p:nvPr/>
        </p:nvCxnSpPr>
        <p:spPr>
          <a:xfrm>
            <a:off x="850392" y="179474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2-E12 line 31" descr="sci-ppt:o031"/>
          <p:cNvCxnSpPr/>
          <p:nvPr/>
        </p:nvCxnSpPr>
        <p:spPr>
          <a:xfrm>
            <a:off x="914400" y="1794744"/>
            <a:ext cx="658367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2-E12 text 32" descr="sci-ppt:o032"/>
          <p:cNvSpPr txBox="1"/>
          <p:nvPr/>
        </p:nvSpPr>
        <p:spPr>
          <a:xfrm>
            <a:off x="45720" y="171244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sp>
        <p:nvSpPr>
          <p:cNvPr id="35" name="C2-E12 text 33" descr="sci-ppt:o033"/>
          <p:cNvSpPr txBox="1"/>
          <p:nvPr/>
        </p:nvSpPr>
        <p:spPr>
          <a:xfrm>
            <a:off x="914400" y="5312664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temperature T  (K)</a:t>
            </a:r>
          </a:p>
        </p:txBody>
      </p:sp>
      <p:sp>
        <p:nvSpPr>
          <p:cNvPr id="36" name="C2-E12 text 34" descr="sci-ppt:o034"/>
          <p:cNvSpPr txBox="1"/>
          <p:nvPr/>
        </p:nvSpPr>
        <p:spPr>
          <a:xfrm>
            <a:off x="365760" y="1024128"/>
            <a:ext cx="65836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pₛₐₜ,PFP  (bar)</a:t>
            </a:r>
          </a:p>
        </p:txBody>
      </p:sp>
      <p:sp>
        <p:nvSpPr>
          <p:cNvPr id="37" name="C2-E12 polygon 35" descr="sci-ppt:o035"/>
          <p:cNvSpPr/>
          <p:nvPr/>
        </p:nvSpPr>
        <p:spPr>
          <a:xfrm>
            <a:off x="1223832" y="2489777"/>
            <a:ext cx="6048208" cy="1179730"/>
          </a:xfrm>
          <a:custGeom>
            <a:avLst/>
            <a:gdLst/>
            <a:ahLst/>
            <a:cxnLst/>
            <a:rect l="l" t="t" r="r" b="b"/>
            <a:pathLst>
              <a:path w="6048208" h="1179730">
                <a:moveTo>
                  <a:pt x="0" y="1179730"/>
                </a:moveTo>
                <a:lnTo>
                  <a:pt x="30393" y="1172466"/>
                </a:lnTo>
                <a:lnTo>
                  <a:pt x="60786" y="1165218"/>
                </a:lnTo>
                <a:lnTo>
                  <a:pt x="91179" y="1157986"/>
                </a:lnTo>
                <a:lnTo>
                  <a:pt x="121572" y="1150771"/>
                </a:lnTo>
                <a:lnTo>
                  <a:pt x="151965" y="1143573"/>
                </a:lnTo>
                <a:lnTo>
                  <a:pt x="182358" y="1136390"/>
                </a:lnTo>
                <a:lnTo>
                  <a:pt x="212751" y="1129224"/>
                </a:lnTo>
                <a:lnTo>
                  <a:pt x="243144" y="1122074"/>
                </a:lnTo>
                <a:lnTo>
                  <a:pt x="273537" y="1114940"/>
                </a:lnTo>
                <a:lnTo>
                  <a:pt x="303930" y="1107822"/>
                </a:lnTo>
                <a:lnTo>
                  <a:pt x="334323" y="1100721"/>
                </a:lnTo>
                <a:lnTo>
                  <a:pt x="364716" y="1093635"/>
                </a:lnTo>
                <a:lnTo>
                  <a:pt x="395109" y="1086565"/>
                </a:lnTo>
                <a:lnTo>
                  <a:pt x="425502" y="1079511"/>
                </a:lnTo>
                <a:lnTo>
                  <a:pt x="455895" y="1072473"/>
                </a:lnTo>
                <a:lnTo>
                  <a:pt x="486288" y="1065450"/>
                </a:lnTo>
                <a:lnTo>
                  <a:pt x="516681" y="1058443"/>
                </a:lnTo>
                <a:lnTo>
                  <a:pt x="547074" y="1051452"/>
                </a:lnTo>
                <a:lnTo>
                  <a:pt x="577467" y="1044477"/>
                </a:lnTo>
                <a:lnTo>
                  <a:pt x="607860" y="1037517"/>
                </a:lnTo>
                <a:lnTo>
                  <a:pt x="638253" y="1030572"/>
                </a:lnTo>
                <a:lnTo>
                  <a:pt x="668646" y="1023643"/>
                </a:lnTo>
                <a:lnTo>
                  <a:pt x="699040" y="1016730"/>
                </a:lnTo>
                <a:lnTo>
                  <a:pt x="729433" y="1009831"/>
                </a:lnTo>
                <a:lnTo>
                  <a:pt x="759826" y="1002948"/>
                </a:lnTo>
                <a:lnTo>
                  <a:pt x="790219" y="996081"/>
                </a:lnTo>
                <a:lnTo>
                  <a:pt x="820612" y="989228"/>
                </a:lnTo>
                <a:lnTo>
                  <a:pt x="851005" y="982391"/>
                </a:lnTo>
                <a:lnTo>
                  <a:pt x="881398" y="975568"/>
                </a:lnTo>
                <a:lnTo>
                  <a:pt x="911791" y="968761"/>
                </a:lnTo>
                <a:lnTo>
                  <a:pt x="942184" y="961968"/>
                </a:lnTo>
                <a:lnTo>
                  <a:pt x="972577" y="955191"/>
                </a:lnTo>
                <a:lnTo>
                  <a:pt x="1002970" y="948429"/>
                </a:lnTo>
                <a:lnTo>
                  <a:pt x="1033363" y="941681"/>
                </a:lnTo>
                <a:lnTo>
                  <a:pt x="1063756" y="934948"/>
                </a:lnTo>
                <a:lnTo>
                  <a:pt x="1094149" y="928230"/>
                </a:lnTo>
                <a:lnTo>
                  <a:pt x="1124542" y="921526"/>
                </a:lnTo>
                <a:lnTo>
                  <a:pt x="1154935" y="914837"/>
                </a:lnTo>
                <a:lnTo>
                  <a:pt x="1185328" y="908163"/>
                </a:lnTo>
                <a:lnTo>
                  <a:pt x="1215721" y="901504"/>
                </a:lnTo>
                <a:lnTo>
                  <a:pt x="1246114" y="894858"/>
                </a:lnTo>
                <a:lnTo>
                  <a:pt x="1276507" y="888228"/>
                </a:lnTo>
                <a:lnTo>
                  <a:pt x="1306900" y="881611"/>
                </a:lnTo>
                <a:lnTo>
                  <a:pt x="1337293" y="875009"/>
                </a:lnTo>
                <a:lnTo>
                  <a:pt x="1367686" y="868422"/>
                </a:lnTo>
                <a:lnTo>
                  <a:pt x="1398079" y="861848"/>
                </a:lnTo>
                <a:lnTo>
                  <a:pt x="1428472" y="855289"/>
                </a:lnTo>
                <a:lnTo>
                  <a:pt x="1458865" y="848744"/>
                </a:lnTo>
                <a:lnTo>
                  <a:pt x="1489258" y="842213"/>
                </a:lnTo>
                <a:lnTo>
                  <a:pt x="1519651" y="835697"/>
                </a:lnTo>
                <a:lnTo>
                  <a:pt x="1550044" y="829194"/>
                </a:lnTo>
                <a:lnTo>
                  <a:pt x="1580437" y="822705"/>
                </a:lnTo>
                <a:lnTo>
                  <a:pt x="1610830" y="816230"/>
                </a:lnTo>
                <a:lnTo>
                  <a:pt x="1641223" y="809770"/>
                </a:lnTo>
                <a:lnTo>
                  <a:pt x="1671616" y="803322"/>
                </a:lnTo>
                <a:lnTo>
                  <a:pt x="1702009" y="796889"/>
                </a:lnTo>
                <a:lnTo>
                  <a:pt x="1732402" y="790470"/>
                </a:lnTo>
                <a:lnTo>
                  <a:pt x="1762795" y="784064"/>
                </a:lnTo>
                <a:lnTo>
                  <a:pt x="1793188" y="777672"/>
                </a:lnTo>
                <a:lnTo>
                  <a:pt x="1823581" y="771294"/>
                </a:lnTo>
                <a:lnTo>
                  <a:pt x="1853974" y="764929"/>
                </a:lnTo>
                <a:lnTo>
                  <a:pt x="1884367" y="758578"/>
                </a:lnTo>
                <a:lnTo>
                  <a:pt x="1914760" y="752240"/>
                </a:lnTo>
                <a:lnTo>
                  <a:pt x="1945153" y="745916"/>
                </a:lnTo>
                <a:lnTo>
                  <a:pt x="1975546" y="739605"/>
                </a:lnTo>
                <a:lnTo>
                  <a:pt x="2005939" y="733307"/>
                </a:lnTo>
                <a:lnTo>
                  <a:pt x="2036332" y="727023"/>
                </a:lnTo>
                <a:lnTo>
                  <a:pt x="2066725" y="720752"/>
                </a:lnTo>
                <a:lnTo>
                  <a:pt x="2097118" y="714495"/>
                </a:lnTo>
                <a:lnTo>
                  <a:pt x="2127511" y="708250"/>
                </a:lnTo>
                <a:lnTo>
                  <a:pt x="2157904" y="702019"/>
                </a:lnTo>
                <a:lnTo>
                  <a:pt x="2188297" y="695801"/>
                </a:lnTo>
                <a:lnTo>
                  <a:pt x="2218690" y="689596"/>
                </a:lnTo>
                <a:lnTo>
                  <a:pt x="2249083" y="683404"/>
                </a:lnTo>
                <a:lnTo>
                  <a:pt x="2279476" y="677225"/>
                </a:lnTo>
                <a:lnTo>
                  <a:pt x="2309869" y="671059"/>
                </a:lnTo>
                <a:lnTo>
                  <a:pt x="2340262" y="664906"/>
                </a:lnTo>
                <a:lnTo>
                  <a:pt x="2370655" y="658765"/>
                </a:lnTo>
                <a:lnTo>
                  <a:pt x="2401048" y="652638"/>
                </a:lnTo>
                <a:lnTo>
                  <a:pt x="2431441" y="646523"/>
                </a:lnTo>
                <a:lnTo>
                  <a:pt x="2461834" y="640422"/>
                </a:lnTo>
                <a:lnTo>
                  <a:pt x="2492227" y="634332"/>
                </a:lnTo>
                <a:lnTo>
                  <a:pt x="2522620" y="628256"/>
                </a:lnTo>
                <a:lnTo>
                  <a:pt x="2553013" y="622192"/>
                </a:lnTo>
                <a:lnTo>
                  <a:pt x="2583406" y="616141"/>
                </a:lnTo>
                <a:lnTo>
                  <a:pt x="2613799" y="610102"/>
                </a:lnTo>
                <a:lnTo>
                  <a:pt x="2644192" y="604076"/>
                </a:lnTo>
                <a:lnTo>
                  <a:pt x="2674585" y="598063"/>
                </a:lnTo>
                <a:lnTo>
                  <a:pt x="2704978" y="592061"/>
                </a:lnTo>
                <a:lnTo>
                  <a:pt x="2735371" y="586073"/>
                </a:lnTo>
                <a:lnTo>
                  <a:pt x="2765764" y="580096"/>
                </a:lnTo>
                <a:lnTo>
                  <a:pt x="2796157" y="574132"/>
                </a:lnTo>
                <a:lnTo>
                  <a:pt x="2826550" y="568180"/>
                </a:lnTo>
                <a:lnTo>
                  <a:pt x="2856943" y="562241"/>
                </a:lnTo>
                <a:lnTo>
                  <a:pt x="2887336" y="556314"/>
                </a:lnTo>
                <a:lnTo>
                  <a:pt x="2917729" y="550398"/>
                </a:lnTo>
                <a:lnTo>
                  <a:pt x="2948122" y="544495"/>
                </a:lnTo>
                <a:lnTo>
                  <a:pt x="2978515" y="538605"/>
                </a:lnTo>
                <a:lnTo>
                  <a:pt x="3008908" y="532726"/>
                </a:lnTo>
                <a:lnTo>
                  <a:pt x="3039301" y="526859"/>
                </a:lnTo>
                <a:lnTo>
                  <a:pt x="3069694" y="521004"/>
                </a:lnTo>
                <a:lnTo>
                  <a:pt x="3100087" y="515161"/>
                </a:lnTo>
                <a:lnTo>
                  <a:pt x="3130480" y="509330"/>
                </a:lnTo>
                <a:lnTo>
                  <a:pt x="3160873" y="503511"/>
                </a:lnTo>
                <a:lnTo>
                  <a:pt x="3191266" y="497704"/>
                </a:lnTo>
                <a:lnTo>
                  <a:pt x="3221659" y="491909"/>
                </a:lnTo>
                <a:lnTo>
                  <a:pt x="3252052" y="486125"/>
                </a:lnTo>
                <a:lnTo>
                  <a:pt x="3282445" y="480353"/>
                </a:lnTo>
                <a:lnTo>
                  <a:pt x="3312838" y="474593"/>
                </a:lnTo>
                <a:lnTo>
                  <a:pt x="3343231" y="468844"/>
                </a:lnTo>
                <a:lnTo>
                  <a:pt x="3373624" y="463107"/>
                </a:lnTo>
                <a:lnTo>
                  <a:pt x="3404017" y="457382"/>
                </a:lnTo>
                <a:lnTo>
                  <a:pt x="3434410" y="451668"/>
                </a:lnTo>
                <a:lnTo>
                  <a:pt x="3464803" y="445966"/>
                </a:lnTo>
                <a:lnTo>
                  <a:pt x="3495196" y="440276"/>
                </a:lnTo>
                <a:lnTo>
                  <a:pt x="3525589" y="434596"/>
                </a:lnTo>
                <a:lnTo>
                  <a:pt x="3555982" y="428928"/>
                </a:lnTo>
                <a:lnTo>
                  <a:pt x="3586375" y="423272"/>
                </a:lnTo>
                <a:lnTo>
                  <a:pt x="3616768" y="417627"/>
                </a:lnTo>
                <a:lnTo>
                  <a:pt x="3647161" y="411993"/>
                </a:lnTo>
                <a:lnTo>
                  <a:pt x="3677554" y="406371"/>
                </a:lnTo>
                <a:lnTo>
                  <a:pt x="3707947" y="400759"/>
                </a:lnTo>
                <a:lnTo>
                  <a:pt x="3738340" y="395159"/>
                </a:lnTo>
                <a:lnTo>
                  <a:pt x="3768733" y="389570"/>
                </a:lnTo>
                <a:lnTo>
                  <a:pt x="3799126" y="383993"/>
                </a:lnTo>
                <a:lnTo>
                  <a:pt x="3829519" y="378426"/>
                </a:lnTo>
                <a:lnTo>
                  <a:pt x="3859912" y="372871"/>
                </a:lnTo>
                <a:lnTo>
                  <a:pt x="3890305" y="367326"/>
                </a:lnTo>
                <a:lnTo>
                  <a:pt x="3920698" y="361793"/>
                </a:lnTo>
                <a:lnTo>
                  <a:pt x="3951091" y="356270"/>
                </a:lnTo>
                <a:lnTo>
                  <a:pt x="3981484" y="350759"/>
                </a:lnTo>
                <a:lnTo>
                  <a:pt x="4011877" y="345258"/>
                </a:lnTo>
                <a:lnTo>
                  <a:pt x="4042270" y="339769"/>
                </a:lnTo>
                <a:lnTo>
                  <a:pt x="4072663" y="334290"/>
                </a:lnTo>
                <a:lnTo>
                  <a:pt x="4103056" y="328822"/>
                </a:lnTo>
                <a:lnTo>
                  <a:pt x="4133449" y="323365"/>
                </a:lnTo>
                <a:lnTo>
                  <a:pt x="4163842" y="317918"/>
                </a:lnTo>
                <a:lnTo>
                  <a:pt x="4194235" y="312482"/>
                </a:lnTo>
                <a:lnTo>
                  <a:pt x="4224628" y="307057"/>
                </a:lnTo>
                <a:lnTo>
                  <a:pt x="4255021" y="301643"/>
                </a:lnTo>
                <a:lnTo>
                  <a:pt x="4285414" y="296239"/>
                </a:lnTo>
                <a:lnTo>
                  <a:pt x="4315807" y="290846"/>
                </a:lnTo>
                <a:lnTo>
                  <a:pt x="4346200" y="285463"/>
                </a:lnTo>
                <a:lnTo>
                  <a:pt x="4376593" y="280091"/>
                </a:lnTo>
                <a:lnTo>
                  <a:pt x="4406986" y="274730"/>
                </a:lnTo>
                <a:lnTo>
                  <a:pt x="4437379" y="269379"/>
                </a:lnTo>
                <a:lnTo>
                  <a:pt x="4467772" y="264038"/>
                </a:lnTo>
                <a:lnTo>
                  <a:pt x="4498165" y="258708"/>
                </a:lnTo>
                <a:lnTo>
                  <a:pt x="4528558" y="253388"/>
                </a:lnTo>
                <a:lnTo>
                  <a:pt x="4558951" y="248079"/>
                </a:lnTo>
                <a:lnTo>
                  <a:pt x="4589344" y="242780"/>
                </a:lnTo>
                <a:lnTo>
                  <a:pt x="4619737" y="237491"/>
                </a:lnTo>
                <a:lnTo>
                  <a:pt x="4650130" y="232212"/>
                </a:lnTo>
                <a:lnTo>
                  <a:pt x="4680523" y="226944"/>
                </a:lnTo>
                <a:lnTo>
                  <a:pt x="4710916" y="221686"/>
                </a:lnTo>
                <a:lnTo>
                  <a:pt x="4741309" y="216438"/>
                </a:lnTo>
                <a:lnTo>
                  <a:pt x="4771702" y="211200"/>
                </a:lnTo>
                <a:lnTo>
                  <a:pt x="4802095" y="205972"/>
                </a:lnTo>
                <a:lnTo>
                  <a:pt x="4832488" y="200755"/>
                </a:lnTo>
                <a:lnTo>
                  <a:pt x="4862881" y="195547"/>
                </a:lnTo>
                <a:lnTo>
                  <a:pt x="4893274" y="190350"/>
                </a:lnTo>
                <a:lnTo>
                  <a:pt x="4923667" y="185162"/>
                </a:lnTo>
                <a:lnTo>
                  <a:pt x="4954060" y="179985"/>
                </a:lnTo>
                <a:lnTo>
                  <a:pt x="4984453" y="174817"/>
                </a:lnTo>
                <a:lnTo>
                  <a:pt x="5014846" y="169659"/>
                </a:lnTo>
                <a:lnTo>
                  <a:pt x="5045239" y="164512"/>
                </a:lnTo>
                <a:lnTo>
                  <a:pt x="5075632" y="159374"/>
                </a:lnTo>
                <a:lnTo>
                  <a:pt x="5106025" y="154246"/>
                </a:lnTo>
                <a:lnTo>
                  <a:pt x="5136418" y="149127"/>
                </a:lnTo>
                <a:lnTo>
                  <a:pt x="5166811" y="144019"/>
                </a:lnTo>
                <a:lnTo>
                  <a:pt x="5197204" y="138920"/>
                </a:lnTo>
                <a:lnTo>
                  <a:pt x="5227597" y="133831"/>
                </a:lnTo>
                <a:lnTo>
                  <a:pt x="5257990" y="128751"/>
                </a:lnTo>
                <a:lnTo>
                  <a:pt x="5288383" y="123682"/>
                </a:lnTo>
                <a:lnTo>
                  <a:pt x="5318776" y="118622"/>
                </a:lnTo>
                <a:lnTo>
                  <a:pt x="5349169" y="113571"/>
                </a:lnTo>
                <a:lnTo>
                  <a:pt x="5379562" y="108530"/>
                </a:lnTo>
                <a:lnTo>
                  <a:pt x="5409955" y="103499"/>
                </a:lnTo>
                <a:lnTo>
                  <a:pt x="5440348" y="98477"/>
                </a:lnTo>
                <a:lnTo>
                  <a:pt x="5470741" y="93465"/>
                </a:lnTo>
                <a:lnTo>
                  <a:pt x="5501134" y="88462"/>
                </a:lnTo>
                <a:lnTo>
                  <a:pt x="5531527" y="83468"/>
                </a:lnTo>
                <a:lnTo>
                  <a:pt x="5561920" y="78484"/>
                </a:lnTo>
                <a:lnTo>
                  <a:pt x="5592313" y="73510"/>
                </a:lnTo>
                <a:lnTo>
                  <a:pt x="5622706" y="68545"/>
                </a:lnTo>
                <a:lnTo>
                  <a:pt x="5653099" y="63589"/>
                </a:lnTo>
                <a:lnTo>
                  <a:pt x="5683492" y="58642"/>
                </a:lnTo>
                <a:lnTo>
                  <a:pt x="5713885" y="53705"/>
                </a:lnTo>
                <a:lnTo>
                  <a:pt x="5744278" y="48777"/>
                </a:lnTo>
                <a:lnTo>
                  <a:pt x="5774671" y="43858"/>
                </a:lnTo>
                <a:lnTo>
                  <a:pt x="5805064" y="38948"/>
                </a:lnTo>
                <a:lnTo>
                  <a:pt x="5835457" y="34048"/>
                </a:lnTo>
                <a:lnTo>
                  <a:pt x="5865850" y="29157"/>
                </a:lnTo>
                <a:lnTo>
                  <a:pt x="5896243" y="24274"/>
                </a:lnTo>
                <a:lnTo>
                  <a:pt x="5926636" y="19401"/>
                </a:lnTo>
                <a:lnTo>
                  <a:pt x="5957029" y="14537"/>
                </a:lnTo>
                <a:lnTo>
                  <a:pt x="5987422" y="9683"/>
                </a:lnTo>
                <a:lnTo>
                  <a:pt x="6017815" y="4837"/>
                </a:lnTo>
                <a:lnTo>
                  <a:pt x="6048208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2-E12 line 36" descr="sci-ppt:o036"/>
          <p:cNvCxnSpPr/>
          <p:nvPr/>
        </p:nvCxnSpPr>
        <p:spPr>
          <a:xfrm>
            <a:off x="914400" y="3200400"/>
            <a:ext cx="6583679" cy="0"/>
          </a:xfrm>
          <a:prstGeom prst="line">
            <a:avLst/>
          </a:prstGeom>
          <a:ln w="16510">
            <a:solidFill>
              <a:srgbClr val="B4C7D2"/>
            </a:solidFill>
            <a:prstDash val="dash"/>
          </a:ln>
          <a:effectLst/>
        </p:spPr>
      </p:cxnSp>
      <p:sp>
        <p:nvSpPr>
          <p:cNvPr id="39" name="C2-E12 ellipse 37" descr="sci-ppt:o037"/>
          <p:cNvSpPr/>
          <p:nvPr/>
        </p:nvSpPr>
        <p:spPr>
          <a:xfrm>
            <a:off x="3266636" y="3127248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2-E12 text 38" descr="sci-ppt:o038"/>
          <p:cNvSpPr txBox="1"/>
          <p:nvPr/>
        </p:nvSpPr>
        <p:spPr>
          <a:xfrm>
            <a:off x="3449516" y="3273552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1 bar at 302.1 K</a:t>
            </a:r>
          </a:p>
        </p:txBody>
      </p:sp>
      <p:sp>
        <p:nvSpPr>
          <p:cNvPr id="41" name="C2-E12 ellipse 39" descr="sci-ppt:o039"/>
          <p:cNvSpPr/>
          <p:nvPr/>
        </p:nvSpPr>
        <p:spPr>
          <a:xfrm>
            <a:off x="2284171" y="3336180"/>
            <a:ext cx="146304" cy="146304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2-E12 text 40" descr="sci-ppt:o040"/>
          <p:cNvSpPr txBox="1"/>
          <p:nvPr/>
        </p:nvSpPr>
        <p:spPr>
          <a:xfrm>
            <a:off x="2467051" y="2997852"/>
            <a:ext cx="1828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FC8F8"/>
                </a:solidFill>
                <a:latin typeface="Arial"/>
              </a:rPr>
              <a:t>293 K: 0.71 bar</a:t>
            </a:r>
          </a:p>
        </p:txBody>
      </p:sp>
      <p:sp>
        <p:nvSpPr>
          <p:cNvPr id="43" name="C2-E12 ellipse 41" descr="sci-ppt:o041"/>
          <p:cNvSpPr/>
          <p:nvPr/>
        </p:nvSpPr>
        <p:spPr>
          <a:xfrm>
            <a:off x="5576011" y="2688124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2-E12 text 42" descr="sci-ppt:o042"/>
          <p:cNvSpPr txBox="1"/>
          <p:nvPr/>
        </p:nvSpPr>
        <p:spPr>
          <a:xfrm>
            <a:off x="5758891" y="2349796"/>
            <a:ext cx="1828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323 K: 2.05 bar</a:t>
            </a:r>
          </a:p>
        </p:txBody>
      </p:sp>
      <p:sp>
        <p:nvSpPr>
          <p:cNvPr id="45" name="C2-E12 round_rect 43" descr="sci-ppt:o043"/>
          <p:cNvSpPr/>
          <p:nvPr/>
        </p:nvSpPr>
        <p:spPr>
          <a:xfrm>
            <a:off x="7772400" y="1371600"/>
            <a:ext cx="406908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2-E12 text 44" descr="sci-ppt:o044"/>
          <p:cNvSpPr txBox="1"/>
          <p:nvPr/>
        </p:nvSpPr>
        <p:spPr>
          <a:xfrm>
            <a:off x="7882127" y="1426464"/>
            <a:ext cx="38496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What the curve says</a:t>
            </a:r>
          </a:p>
        </p:txBody>
      </p:sp>
      <p:sp>
        <p:nvSpPr>
          <p:cNvPr id="47" name="C2-E12 text 45" descr="sci-ppt:o045"/>
          <p:cNvSpPr txBox="1"/>
          <p:nvPr/>
        </p:nvSpPr>
        <p:spPr>
          <a:xfrm>
            <a:off x="7909560" y="1828800"/>
            <a:ext cx="38404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log₁₀(p/10⁵ Pa) = 4.2063 − 1103.454 K/(T −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39.77 K)</a:t>
            </a:r>
          </a:p>
        </p:txBody>
      </p:sp>
      <p:sp>
        <p:nvSpPr>
          <p:cNvPr id="48" name="C2-E12 text 46" descr="sci-ppt:o046"/>
          <p:cNvSpPr txBox="1"/>
          <p:nvPr/>
        </p:nvSpPr>
        <p:spPr>
          <a:xfrm>
            <a:off x="8110728" y="2651760"/>
            <a:ext cx="3639312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Valid only for 282.82 K ≤ T ≤ 337.94 K.</a:t>
            </a:r>
          </a:p>
        </p:txBody>
      </p:sp>
      <p:sp>
        <p:nvSpPr>
          <p:cNvPr id="49" name="C2-E12 ellipse 47" descr="sci-ppt:o047"/>
          <p:cNvSpPr/>
          <p:nvPr/>
        </p:nvSpPr>
        <p:spPr>
          <a:xfrm>
            <a:off x="7941564" y="270903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2-E12 text 48" descr="sci-ppt:o048"/>
          <p:cNvSpPr txBox="1"/>
          <p:nvPr/>
        </p:nvSpPr>
        <p:spPr>
          <a:xfrm>
            <a:off x="8110728" y="2936875"/>
            <a:ext cx="36393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It gives the equilibrium vapor pressure of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bulk liquid.</a:t>
            </a:r>
          </a:p>
        </p:txBody>
      </p:sp>
      <p:sp>
        <p:nvSpPr>
          <p:cNvPr id="51" name="C2-E12 ellipse 49" descr="sci-ppt:o049"/>
          <p:cNvSpPr/>
          <p:nvPr/>
        </p:nvSpPr>
        <p:spPr>
          <a:xfrm>
            <a:off x="7941564" y="299415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2-E12 text 50" descr="sci-ppt:o050"/>
          <p:cNvSpPr txBox="1"/>
          <p:nvPr/>
        </p:nvSpPr>
        <p:spPr>
          <a:xfrm>
            <a:off x="8110728" y="3415664"/>
            <a:ext cx="363931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Reaching it does not by itself start a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bubble: nucleation is a separate step.</a:t>
            </a:r>
          </a:p>
        </p:txBody>
      </p:sp>
      <p:sp>
        <p:nvSpPr>
          <p:cNvPr id="53" name="C2-E12 ellipse 51" descr="sci-ppt:o051"/>
          <p:cNvSpPr/>
          <p:nvPr/>
        </p:nvSpPr>
        <p:spPr>
          <a:xfrm>
            <a:off x="7941564" y="3472941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C2-E12 text 52" descr="sci-ppt:o052"/>
          <p:cNvSpPr txBox="1"/>
          <p:nvPr/>
        </p:nvSpPr>
        <p:spPr>
          <a:xfrm>
            <a:off x="914400" y="5733288"/>
            <a:ext cx="10972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At 293 K the saturation pressure is below 1 bar; the liquid is superheated only when the surroundings or the liquid pressure sit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below the curve.</a:t>
            </a:r>
          </a:p>
        </p:txBody>
      </p:sp>
      <p:sp>
        <p:nvSpPr>
          <p:cNvPr id="55" name="C2-E12 text 53" descr="sci-ppt:o05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Empirical PFP correlation of Eq. C2-E12 (log scale).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