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948160" cy="79247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1" descr="sci-ppt:C2-E04-001"/>
          <p:cNvSpPr txBox="1"/>
          <p:nvPr/>
        </p:nvSpPr>
        <p:spPr>
          <a:xfrm>
            <a:off x="316992" y="268224"/>
            <a:ext cx="112776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8EDBD4"/>
                </a:solidFill>
                <a:latin typeface="Arial"/>
              </a:rPr>
              <a:t>C2-E04 | Physical-variable diagram</a:t>
            </a:r>
          </a:p>
        </p:txBody>
      </p:sp>
      <p:cxnSp>
        <p:nvCxnSpPr>
          <p:cNvPr id="3" name="arrow2" descr="sci-ppt:C2-E04-002"/>
          <p:cNvCxnSpPr/>
          <p:nvPr/>
        </p:nvCxnSpPr>
        <p:spPr>
          <a:xfrm>
            <a:off x="1950720" y="4023360"/>
            <a:ext cx="7924800" cy="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cxnSp>
        <p:nvCxnSpPr>
          <p:cNvPr id="4" name="arrow3" descr="sci-ppt:C2-E04-003"/>
          <p:cNvCxnSpPr/>
          <p:nvPr/>
        </p:nvCxnSpPr>
        <p:spPr>
          <a:xfrm flipV="1">
            <a:off x="1950720" y="1341120"/>
            <a:ext cx="0" cy="2682240"/>
          </a:xfrm>
          <a:prstGeom prst="line">
            <a:avLst/>
          </a:prstGeom>
          <a:ln w="25400">
            <a:solidFill>
              <a:srgbClr val="8EDBD4"/>
            </a:solidFill>
            <a:headEnd type="none" w="med" len="med"/>
            <a:tailEnd type="triangle" w="med" len="med"/>
          </a:ln>
          <a:effectLst/>
        </p:spPr>
      </p:cxnSp>
      <p:sp>
        <p:nvSpPr>
          <p:cNvPr id="5" name="text4" descr="sci-ppt:C2-E04-004"/>
          <p:cNvSpPr txBox="1"/>
          <p:nvPr/>
        </p:nvSpPr>
        <p:spPr>
          <a:xfrm>
            <a:off x="8900160" y="4145280"/>
            <a:ext cx="18288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</a:t>
            </a:r>
          </a:p>
        </p:txBody>
      </p:sp>
      <p:sp>
        <p:nvSpPr>
          <p:cNvPr id="6" name="text5" descr="sci-ppt:C2-E04-005"/>
          <p:cNvSpPr txBox="1"/>
          <p:nvPr/>
        </p:nvSpPr>
        <p:spPr>
          <a:xfrm>
            <a:off x="1828800" y="975360"/>
            <a:ext cx="365760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f(t)</a:t>
            </a:r>
          </a:p>
        </p:txBody>
      </p:sp>
      <p:cxnSp>
        <p:nvCxnSpPr>
          <p:cNvPr id="7" name="line6" descr="sci-ppt:C2-E04-006"/>
          <p:cNvCxnSpPr/>
          <p:nvPr/>
        </p:nvCxnSpPr>
        <p:spPr>
          <a:xfrm>
            <a:off x="2011680" y="4023360"/>
            <a:ext cx="152400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8" name="line7" descr="sci-ppt:C2-E04-007"/>
          <p:cNvCxnSpPr/>
          <p:nvPr/>
        </p:nvCxnSpPr>
        <p:spPr>
          <a:xfrm flipV="1">
            <a:off x="3535680" y="1706880"/>
            <a:ext cx="0" cy="231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9" name="line8" descr="sci-ppt:C2-E04-008"/>
          <p:cNvCxnSpPr/>
          <p:nvPr/>
        </p:nvCxnSpPr>
        <p:spPr>
          <a:xfrm>
            <a:off x="3535680" y="1706880"/>
            <a:ext cx="40233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0" name="line9" descr="sci-ppt:C2-E04-009"/>
          <p:cNvCxnSpPr/>
          <p:nvPr/>
        </p:nvCxnSpPr>
        <p:spPr>
          <a:xfrm>
            <a:off x="7559040" y="1706880"/>
            <a:ext cx="0" cy="231648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cxnSp>
        <p:nvCxnSpPr>
          <p:cNvPr id="11" name="line10" descr="sci-ppt:C2-E04-010"/>
          <p:cNvCxnSpPr/>
          <p:nvPr/>
        </p:nvCxnSpPr>
        <p:spPr>
          <a:xfrm>
            <a:off x="7559040" y="4023360"/>
            <a:ext cx="2194560" cy="0"/>
          </a:xfrm>
          <a:prstGeom prst="line">
            <a:avLst/>
          </a:prstGeom>
          <a:ln w="25400">
            <a:solidFill>
              <a:srgbClr val="8EDBD4"/>
            </a:solidFill>
          </a:ln>
          <a:effectLst/>
        </p:spPr>
      </p:cxnSp>
      <p:sp>
        <p:nvSpPr>
          <p:cNvPr id="12" name="text11" descr="sci-ppt:C2-E04-011"/>
          <p:cNvSpPr txBox="1"/>
          <p:nvPr/>
        </p:nvSpPr>
        <p:spPr>
          <a:xfrm>
            <a:off x="3840480" y="2377440"/>
            <a:ext cx="3657600" cy="453542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304" b="0" i="0">
                <a:solidFill>
                  <a:srgbClr val="E7F0F3"/>
                </a:solidFill>
                <a:latin typeface="Arial"/>
              </a:rPr>
              <a:t>Area = 1</a:t>
            </a:r>
          </a:p>
        </p:txBody>
      </p:sp>
      <p:sp>
        <p:nvSpPr>
          <p:cNvPr id="13" name="text12" descr="sci-ppt:C2-E04-012"/>
          <p:cNvSpPr txBox="1"/>
          <p:nvPr/>
        </p:nvSpPr>
        <p:spPr>
          <a:xfrm>
            <a:off x="4145280" y="4206240"/>
            <a:ext cx="4267200" cy="359054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23" b="0" i="0">
                <a:solidFill>
                  <a:srgbClr val="E7F0F3"/>
                </a:solidFill>
                <a:latin typeface="Arial"/>
              </a:rPr>
              <a:t>Pulse duration τ_L</a:t>
            </a:r>
          </a:p>
        </p:txBody>
      </p:sp>
      <p:sp>
        <p:nvSpPr>
          <p:cNvPr id="14" name="text13" descr="sci-ppt:C2-E04-013"/>
          <p:cNvSpPr txBox="1"/>
          <p:nvPr/>
        </p:nvSpPr>
        <p:spPr>
          <a:xfrm>
            <a:off x="3657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t: pulse time</a:t>
            </a:r>
          </a:p>
        </p:txBody>
      </p:sp>
      <p:sp>
        <p:nvSpPr>
          <p:cNvPr id="15" name="text14" descr="sci-ppt:C2-E04-014"/>
          <p:cNvSpPr txBox="1"/>
          <p:nvPr/>
        </p:nvSpPr>
        <p:spPr>
          <a:xfrm>
            <a:off x="3657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f(t): normalized profile</a:t>
            </a:r>
          </a:p>
        </p:txBody>
      </p:sp>
      <p:sp>
        <p:nvSpPr>
          <p:cNvPr id="16" name="text15" descr="sci-ppt:C2-E04-015"/>
          <p:cNvSpPr txBox="1"/>
          <p:nvPr/>
        </p:nvSpPr>
        <p:spPr>
          <a:xfrm>
            <a:off x="3657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r: transverse position</a:t>
            </a:r>
          </a:p>
        </p:txBody>
      </p:sp>
      <p:sp>
        <p:nvSpPr>
          <p:cNvPr id="17" name="text16" descr="sci-ppt:C2-E04-016"/>
          <p:cNvSpPr txBox="1"/>
          <p:nvPr/>
        </p:nvSpPr>
        <p:spPr>
          <a:xfrm>
            <a:off x="6156960" y="4974336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τ_L: pulse width</a:t>
            </a:r>
          </a:p>
        </p:txBody>
      </p:sp>
      <p:sp>
        <p:nvSpPr>
          <p:cNvPr id="18" name="text17" descr="sci-ppt:C2-E04-017"/>
          <p:cNvSpPr txBox="1"/>
          <p:nvPr/>
        </p:nvSpPr>
        <p:spPr>
          <a:xfrm>
            <a:off x="6156960" y="5266944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I(r,t), I_peak: irradiance</a:t>
            </a:r>
          </a:p>
        </p:txBody>
      </p:sp>
      <p:sp>
        <p:nvSpPr>
          <p:cNvPr id="19" name="text18" descr="sci-ppt:C2-E04-018"/>
          <p:cNvSpPr txBox="1"/>
          <p:nvPr/>
        </p:nvSpPr>
        <p:spPr>
          <a:xfrm>
            <a:off x="6156960" y="5559552"/>
            <a:ext cx="5547360" cy="321259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32" b="0" i="0">
                <a:solidFill>
                  <a:srgbClr val="E7F0F3"/>
                </a:solidFill>
                <a:latin typeface="Arial"/>
              </a:rPr>
              <a:t>F(r), F₀: integrated fluence</a:t>
            </a:r>
          </a:p>
        </p:txBody>
      </p:sp>
      <p:sp>
        <p:nvSpPr>
          <p:cNvPr id="20" name="text19" descr="sci-ppt:C2-E04-019"/>
          <p:cNvSpPr txBox="1"/>
          <p:nvPr/>
        </p:nvSpPr>
        <p:spPr>
          <a:xfrm>
            <a:off x="365760" y="6278880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Area under f(t) is 1</a:t>
            </a:r>
          </a:p>
        </p:txBody>
      </p:sp>
      <p:sp>
        <p:nvSpPr>
          <p:cNvPr id="21" name="text20" descr="sci-ppt:C2-E04-020"/>
          <p:cNvSpPr txBox="1"/>
          <p:nvPr/>
        </p:nvSpPr>
        <p:spPr>
          <a:xfrm>
            <a:off x="365760" y="6571488"/>
            <a:ext cx="11277600" cy="302361"/>
          </a:xfrm>
          <a:prstGeom prst="rect">
            <a:avLst/>
          </a:prstGeom>
          <a:noFill/>
          <a:effectLst/>
        </p:spPr>
        <p:txBody>
          <a:bodyPr wrap="none" lIns="27432" rIns="27432" tIns="18288" bIns="18288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36" b="0" i="0">
                <a:solidFill>
                  <a:srgbClr val="B4C7D2"/>
                </a:solidFill>
                <a:latin typeface="Arial"/>
              </a:rPr>
              <a:t>Peak irradiance and pulse energy are different observables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