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48160" cy="79247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33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C2-E33 | Physical-variable diagram</a:t>
            </a:r>
          </a:p>
        </p:txBody>
      </p:sp>
      <p:sp>
        <p:nvSpPr>
          <p:cNvPr id="3" name="ellipse2" descr="sci-ppt:C2-E33-002"/>
          <p:cNvSpPr/>
          <p:nvPr/>
        </p:nvSpPr>
        <p:spPr>
          <a:xfrm>
            <a:off x="1341120" y="1280160"/>
            <a:ext cx="2804160" cy="2804160"/>
          </a:xfrm>
          <a:prstGeom prst="ellipse">
            <a:avLst/>
          </a:prstGeom>
          <a:solidFill>
            <a:srgbClr val="213E4B"/>
          </a:solidFill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3" descr="sci-ppt:C2-E33-003"/>
          <p:cNvSpPr/>
          <p:nvPr/>
        </p:nvSpPr>
        <p:spPr>
          <a:xfrm>
            <a:off x="2389632" y="2328672"/>
            <a:ext cx="707136" cy="707136"/>
          </a:xfrm>
          <a:prstGeom prst="ellipse">
            <a:avLst/>
          </a:prstGeom>
          <a:solidFill>
            <a:srgbClr val="F6BC77"/>
          </a:solidFill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4" descr="sci-ppt:C2-E33-004"/>
          <p:cNvSpPr txBox="1"/>
          <p:nvPr/>
        </p:nvSpPr>
        <p:spPr>
          <a:xfrm>
            <a:off x="1706880" y="853440"/>
            <a:ext cx="48768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Finite PFC liquid: p_d</a:t>
            </a:r>
          </a:p>
        </p:txBody>
      </p:sp>
      <p:sp>
        <p:nvSpPr>
          <p:cNvPr id="6" name="text5" descr="sci-ppt:C2-E33-005"/>
          <p:cNvSpPr txBox="1"/>
          <p:nvPr/>
        </p:nvSpPr>
        <p:spPr>
          <a:xfrm>
            <a:off x="1341120" y="4267200"/>
            <a:ext cx="560832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Inner interface σ_vp; outer σ_pc</a:t>
            </a:r>
          </a:p>
        </p:txBody>
      </p:sp>
      <p:cxnSp>
        <p:nvCxnSpPr>
          <p:cNvPr id="7" name="arrow6" descr="sci-ppt:C2-E33-006"/>
          <p:cNvCxnSpPr/>
          <p:nvPr/>
        </p:nvCxnSpPr>
        <p:spPr>
          <a:xfrm>
            <a:off x="6705600" y="3901440"/>
            <a:ext cx="42672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" name="arrow7" descr="sci-ppt:C2-E33-007"/>
          <p:cNvCxnSpPr/>
          <p:nvPr/>
        </p:nvCxnSpPr>
        <p:spPr>
          <a:xfrm flipV="1">
            <a:off x="6705600" y="1463040"/>
            <a:ext cx="0" cy="243840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" name="text8" descr="sci-ppt:C2-E33-008"/>
          <p:cNvSpPr txBox="1"/>
          <p:nvPr/>
        </p:nvSpPr>
        <p:spPr>
          <a:xfrm>
            <a:off x="9997440" y="4023360"/>
            <a:ext cx="18288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r_n</a:t>
            </a:r>
          </a:p>
        </p:txBody>
      </p:sp>
      <p:sp>
        <p:nvSpPr>
          <p:cNvPr id="10" name="text9" descr="sci-ppt:C2-E33-009"/>
          <p:cNvSpPr txBox="1"/>
          <p:nvPr/>
        </p:nvSpPr>
        <p:spPr>
          <a:xfrm>
            <a:off x="6583680" y="1097280"/>
            <a:ext cx="36576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W</a:t>
            </a:r>
          </a:p>
        </p:txBody>
      </p:sp>
      <p:cxnSp>
        <p:nvCxnSpPr>
          <p:cNvPr id="11" name="line10" descr="sci-ppt:C2-E33-010"/>
          <p:cNvCxnSpPr/>
          <p:nvPr/>
        </p:nvCxnSpPr>
        <p:spPr>
          <a:xfrm flipV="1">
            <a:off x="6766560" y="3896425"/>
            <a:ext cx="100584" cy="50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line11" descr="sci-ppt:C2-E33-011"/>
          <p:cNvCxnSpPr/>
          <p:nvPr/>
        </p:nvCxnSpPr>
        <p:spPr>
          <a:xfrm flipV="1">
            <a:off x="6867144" y="3881894"/>
            <a:ext cx="100584" cy="1453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line12" descr="sci-ppt:C2-E33-012"/>
          <p:cNvCxnSpPr/>
          <p:nvPr/>
        </p:nvCxnSpPr>
        <p:spPr>
          <a:xfrm flipV="1">
            <a:off x="6967728" y="3858620"/>
            <a:ext cx="100584" cy="23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line13" descr="sci-ppt:C2-E33-013"/>
          <p:cNvCxnSpPr/>
          <p:nvPr/>
        </p:nvCxnSpPr>
        <p:spPr>
          <a:xfrm flipV="1">
            <a:off x="7068312" y="3827373"/>
            <a:ext cx="100584" cy="3124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line14" descr="sci-ppt:C2-E33-014"/>
          <p:cNvCxnSpPr/>
          <p:nvPr/>
        </p:nvCxnSpPr>
        <p:spPr>
          <a:xfrm flipV="1">
            <a:off x="7168896" y="3788925"/>
            <a:ext cx="100584" cy="3844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line15" descr="sci-ppt:C2-E33-015"/>
          <p:cNvCxnSpPr/>
          <p:nvPr/>
        </p:nvCxnSpPr>
        <p:spPr>
          <a:xfrm flipV="1">
            <a:off x="7269480" y="3744048"/>
            <a:ext cx="100584" cy="4487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line16" descr="sci-ppt:C2-E33-016"/>
          <p:cNvCxnSpPr/>
          <p:nvPr/>
        </p:nvCxnSpPr>
        <p:spPr>
          <a:xfrm flipV="1">
            <a:off x="7370064" y="3693514"/>
            <a:ext cx="100584" cy="5053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line17" descr="sci-ppt:C2-E33-017"/>
          <p:cNvCxnSpPr/>
          <p:nvPr/>
        </p:nvCxnSpPr>
        <p:spPr>
          <a:xfrm flipV="1">
            <a:off x="7470648" y="3638092"/>
            <a:ext cx="100583" cy="5542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line18" descr="sci-ppt:C2-E33-018"/>
          <p:cNvCxnSpPr/>
          <p:nvPr/>
        </p:nvCxnSpPr>
        <p:spPr>
          <a:xfrm flipV="1">
            <a:off x="7571231" y="3578556"/>
            <a:ext cx="100585" cy="59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line19" descr="sci-ppt:C2-E33-019"/>
          <p:cNvCxnSpPr/>
          <p:nvPr/>
        </p:nvCxnSpPr>
        <p:spPr>
          <a:xfrm flipV="1">
            <a:off x="7671816" y="3515677"/>
            <a:ext cx="100584" cy="628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line20" descr="sci-ppt:C2-E33-020"/>
          <p:cNvCxnSpPr/>
          <p:nvPr/>
        </p:nvCxnSpPr>
        <p:spPr>
          <a:xfrm flipV="1">
            <a:off x="7772400" y="3450226"/>
            <a:ext cx="100583" cy="654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line21" descr="sci-ppt:C2-E33-021"/>
          <p:cNvCxnSpPr/>
          <p:nvPr/>
        </p:nvCxnSpPr>
        <p:spPr>
          <a:xfrm flipV="1">
            <a:off x="7872983" y="3382975"/>
            <a:ext cx="100585" cy="672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line22" descr="sci-ppt:C2-E33-022"/>
          <p:cNvCxnSpPr/>
          <p:nvPr/>
        </p:nvCxnSpPr>
        <p:spPr>
          <a:xfrm flipV="1">
            <a:off x="7973568" y="3314695"/>
            <a:ext cx="100584" cy="682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line23" descr="sci-ppt:C2-E33-023"/>
          <p:cNvCxnSpPr/>
          <p:nvPr/>
        </p:nvCxnSpPr>
        <p:spPr>
          <a:xfrm flipV="1">
            <a:off x="8074152" y="3246158"/>
            <a:ext cx="100584" cy="685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line24" descr="sci-ppt:C2-E33-024"/>
          <p:cNvCxnSpPr/>
          <p:nvPr/>
        </p:nvCxnSpPr>
        <p:spPr>
          <a:xfrm flipV="1">
            <a:off x="8174736" y="3178135"/>
            <a:ext cx="100584" cy="6802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line25" descr="sci-ppt:C2-E33-025"/>
          <p:cNvCxnSpPr/>
          <p:nvPr/>
        </p:nvCxnSpPr>
        <p:spPr>
          <a:xfrm flipV="1">
            <a:off x="8275320" y="3111398"/>
            <a:ext cx="100584" cy="667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line26" descr="sci-ppt:C2-E33-026"/>
          <p:cNvCxnSpPr/>
          <p:nvPr/>
        </p:nvCxnSpPr>
        <p:spPr>
          <a:xfrm flipV="1">
            <a:off x="8375904" y="3046718"/>
            <a:ext cx="100584" cy="646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line27" descr="sci-ppt:C2-E33-027"/>
          <p:cNvCxnSpPr/>
          <p:nvPr/>
        </p:nvCxnSpPr>
        <p:spPr>
          <a:xfrm flipV="1">
            <a:off x="8476488" y="2984868"/>
            <a:ext cx="100584" cy="6185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line28" descr="sci-ppt:C2-E33-028"/>
          <p:cNvCxnSpPr/>
          <p:nvPr/>
        </p:nvCxnSpPr>
        <p:spPr>
          <a:xfrm flipV="1">
            <a:off x="8577072" y="2926618"/>
            <a:ext cx="100584" cy="5825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line29" descr="sci-ppt:C2-E33-029"/>
          <p:cNvCxnSpPr/>
          <p:nvPr/>
        </p:nvCxnSpPr>
        <p:spPr>
          <a:xfrm flipV="1">
            <a:off x="8677656" y="2872740"/>
            <a:ext cx="100584" cy="538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line30" descr="sci-ppt:C2-E33-030"/>
          <p:cNvCxnSpPr/>
          <p:nvPr/>
        </p:nvCxnSpPr>
        <p:spPr>
          <a:xfrm flipV="1">
            <a:off x="8778240" y="2824005"/>
            <a:ext cx="100584" cy="4873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line31" descr="sci-ppt:C2-E33-031"/>
          <p:cNvCxnSpPr/>
          <p:nvPr/>
        </p:nvCxnSpPr>
        <p:spPr>
          <a:xfrm flipV="1">
            <a:off x="8878824" y="2781185"/>
            <a:ext cx="100584" cy="42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line32" descr="sci-ppt:C2-E33-032"/>
          <p:cNvCxnSpPr/>
          <p:nvPr/>
        </p:nvCxnSpPr>
        <p:spPr>
          <a:xfrm flipV="1">
            <a:off x="8979408" y="2745052"/>
            <a:ext cx="100584" cy="3613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line33" descr="sci-ppt:C2-E33-033"/>
          <p:cNvCxnSpPr/>
          <p:nvPr/>
        </p:nvCxnSpPr>
        <p:spPr>
          <a:xfrm flipV="1">
            <a:off x="9079992" y="2716377"/>
            <a:ext cx="100584" cy="2867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line34" descr="sci-ppt:C2-E33-034"/>
          <p:cNvCxnSpPr/>
          <p:nvPr/>
        </p:nvCxnSpPr>
        <p:spPr>
          <a:xfrm flipV="1">
            <a:off x="9180576" y="2695932"/>
            <a:ext cx="100584" cy="2044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line35" descr="sci-ppt:C2-E33-035"/>
          <p:cNvCxnSpPr/>
          <p:nvPr/>
        </p:nvCxnSpPr>
        <p:spPr>
          <a:xfrm flipV="1">
            <a:off x="9281160" y="2684487"/>
            <a:ext cx="100584" cy="1144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line36" descr="sci-ppt:C2-E33-036"/>
          <p:cNvCxnSpPr/>
          <p:nvPr/>
        </p:nvCxnSpPr>
        <p:spPr>
          <a:xfrm flipV="1">
            <a:off x="9381744" y="2682816"/>
            <a:ext cx="100584" cy="167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line37" descr="sci-ppt:C2-E33-037"/>
          <p:cNvCxnSpPr/>
          <p:nvPr/>
        </p:nvCxnSpPr>
        <p:spPr>
          <a:xfrm>
            <a:off x="9482328" y="2682816"/>
            <a:ext cx="100584" cy="887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line38" descr="sci-ppt:C2-E33-038"/>
          <p:cNvCxnSpPr/>
          <p:nvPr/>
        </p:nvCxnSpPr>
        <p:spPr>
          <a:xfrm>
            <a:off x="9582912" y="2691688"/>
            <a:ext cx="100584" cy="201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line39" descr="sci-ppt:C2-E33-039"/>
          <p:cNvCxnSpPr/>
          <p:nvPr/>
        </p:nvCxnSpPr>
        <p:spPr>
          <a:xfrm>
            <a:off x="9683496" y="2711877"/>
            <a:ext cx="100584" cy="3227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line40" descr="sci-ppt:C2-E33-040"/>
          <p:cNvCxnSpPr/>
          <p:nvPr/>
        </p:nvCxnSpPr>
        <p:spPr>
          <a:xfrm>
            <a:off x="9784080" y="2744152"/>
            <a:ext cx="100584" cy="4513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line41" descr="sci-ppt:C2-E33-041"/>
          <p:cNvCxnSpPr/>
          <p:nvPr/>
        </p:nvCxnSpPr>
        <p:spPr>
          <a:xfrm>
            <a:off x="9884664" y="2789286"/>
            <a:ext cx="100584" cy="5876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line42" descr="sci-ppt:C2-E33-042"/>
          <p:cNvCxnSpPr/>
          <p:nvPr/>
        </p:nvCxnSpPr>
        <p:spPr>
          <a:xfrm>
            <a:off x="9985248" y="2848051"/>
            <a:ext cx="100584" cy="7316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line43" descr="sci-ppt:C2-E33-043"/>
          <p:cNvCxnSpPr/>
          <p:nvPr/>
        </p:nvCxnSpPr>
        <p:spPr>
          <a:xfrm>
            <a:off x="10085832" y="2921217"/>
            <a:ext cx="100584" cy="8834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line44" descr="sci-ppt:C2-E33-044"/>
          <p:cNvCxnSpPr/>
          <p:nvPr/>
        </p:nvCxnSpPr>
        <p:spPr>
          <a:xfrm>
            <a:off x="10186416" y="3009557"/>
            <a:ext cx="100584" cy="10428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line45" descr="sci-ppt:C2-E33-045"/>
          <p:cNvCxnSpPr/>
          <p:nvPr/>
        </p:nvCxnSpPr>
        <p:spPr>
          <a:xfrm>
            <a:off x="10287000" y="3113841"/>
            <a:ext cx="100584" cy="1210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line46" descr="sci-ppt:C2-E33-046"/>
          <p:cNvCxnSpPr/>
          <p:nvPr/>
        </p:nvCxnSpPr>
        <p:spPr>
          <a:xfrm>
            <a:off x="10387584" y="3234842"/>
            <a:ext cx="100584" cy="1384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line47" descr="sci-ppt:C2-E33-047"/>
          <p:cNvCxnSpPr/>
          <p:nvPr/>
        </p:nvCxnSpPr>
        <p:spPr>
          <a:xfrm>
            <a:off x="10488168" y="3373331"/>
            <a:ext cx="100584" cy="15674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line48" descr="sci-ppt:C2-E33-048"/>
          <p:cNvCxnSpPr/>
          <p:nvPr/>
        </p:nvCxnSpPr>
        <p:spPr>
          <a:xfrm>
            <a:off x="10588752" y="3530079"/>
            <a:ext cx="100584" cy="1757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line49" descr="sci-ppt:C2-E33-049"/>
          <p:cNvCxnSpPr/>
          <p:nvPr/>
        </p:nvCxnSpPr>
        <p:spPr>
          <a:xfrm>
            <a:off x="10689336" y="3705858"/>
            <a:ext cx="100584" cy="19558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51" name="text50" descr="sci-ppt:C2-E33-050"/>
          <p:cNvSpPr txBox="1"/>
          <p:nvPr/>
        </p:nvSpPr>
        <p:spPr>
          <a:xfrm>
            <a:off x="8595360" y="2194560"/>
            <a:ext cx="219456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r*, W*</a:t>
            </a:r>
          </a:p>
        </p:txBody>
      </p:sp>
      <p:sp>
        <p:nvSpPr>
          <p:cNvPr id="52" name="text51" descr="sci-ppt:C2-E33-051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a: core outer radius</a:t>
            </a:r>
          </a:p>
        </p:txBody>
      </p:sp>
      <p:sp>
        <p:nvSpPr>
          <p:cNvPr id="53" name="text52" descr="sci-ppt:C2-E33-052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Π_shell, p_c: confinement</a:t>
            </a:r>
          </a:p>
        </p:txBody>
      </p:sp>
      <p:sp>
        <p:nvSpPr>
          <p:cNvPr id="54" name="text53" descr="sci-ppt:C2-E33-053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T_i, p_sat,PFC: thermal vapor driving</a:t>
            </a:r>
          </a:p>
        </p:txBody>
      </p:sp>
      <p:sp>
        <p:nvSpPr>
          <p:cNvPr id="55" name="text54" descr="sci-ppt:C2-E33-054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r_*, W_*: internal barrier</a:t>
            </a:r>
          </a:p>
        </p:txBody>
      </p:sp>
      <p:sp>
        <p:nvSpPr>
          <p:cNvPr id="56" name="text55" descr="sci-ppt:C2-E33-055"/>
          <p:cNvSpPr txBox="1"/>
          <p:nvPr/>
        </p:nvSpPr>
        <p:spPr>
          <a:xfrm>
            <a:off x="365760" y="6144768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π: spherical factors</a:t>
            </a:r>
          </a:p>
        </p:txBody>
      </p:sp>
      <p:sp>
        <p:nvSpPr>
          <p:cNvPr id="57" name="text56" descr="sci-ppt:C2-E33-056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σ_pc: outer interface</a:t>
            </a:r>
          </a:p>
        </p:txBody>
      </p:sp>
      <p:sp>
        <p:nvSpPr>
          <p:cNvPr id="58" name="text57" descr="sci-ppt:C2-E33-057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p_d: core liquid state</a:t>
            </a:r>
          </a:p>
        </p:txBody>
      </p:sp>
      <p:sp>
        <p:nvSpPr>
          <p:cNvPr id="59" name="text58" descr="sci-ppt:C2-E33-058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Δp_n: net driving</a:t>
            </a:r>
          </a:p>
        </p:txBody>
      </p:sp>
      <p:sp>
        <p:nvSpPr>
          <p:cNvPr id="60" name="text59" descr="sci-ppt:C2-E33-059"/>
          <p:cNvSpPr txBox="1"/>
          <p:nvPr/>
        </p:nvSpPr>
        <p:spPr>
          <a:xfrm>
            <a:off x="61569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σ_vp: internal nucleus interface</a:t>
            </a:r>
          </a:p>
        </p:txBody>
      </p:sp>
      <p:sp>
        <p:nvSpPr>
          <p:cNvPr id="61" name="text60" descr="sci-ppt:C2-E33-060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Outer confinement and internal barrier are separate</a:t>
            </a:r>
          </a:p>
        </p:txBody>
      </p:sp>
      <p:sp>
        <p:nvSpPr>
          <p:cNvPr id="62" name="text61" descr="sci-ppt:C2-E33-061"/>
          <p:cNvSpPr txBox="1"/>
          <p:nvPr/>
        </p:nvSpPr>
        <p:spPr>
          <a:xfrm>
            <a:off x="365760" y="6925056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Positive vapor driving is necessary in this control but not a guarantee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