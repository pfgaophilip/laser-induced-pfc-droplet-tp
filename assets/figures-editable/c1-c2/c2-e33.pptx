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3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C2-E33 · Original formulas for Defense 2</a:t>
            </a:r>
          </a:p>
        </p:txBody>
      </p:sp>
      <p:sp>
        <p:nvSpPr>
          <p:cNvPr id="3" name="C2-E33 round_rect 1" descr="sci-ppt:o001"/>
          <p:cNvSpPr/>
          <p:nvPr/>
        </p:nvSpPr>
        <p:spPr>
          <a:xfrm>
            <a:off x="457200" y="1097280"/>
            <a:ext cx="2468880" cy="1371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33 text 2" descr="sci-ppt:o002"/>
          <p:cNvSpPr txBox="1"/>
          <p:nvPr/>
        </p:nvSpPr>
        <p:spPr>
          <a:xfrm>
            <a:off x="530352" y="1152144"/>
            <a:ext cx="232257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Confinement</a:t>
            </a:r>
          </a:p>
        </p:txBody>
      </p:sp>
      <p:sp>
        <p:nvSpPr>
          <p:cNvPr id="5" name="C2-E33 text 3" descr="sci-ppt:o003"/>
          <p:cNvSpPr txBox="1"/>
          <p:nvPr/>
        </p:nvSpPr>
        <p:spPr>
          <a:xfrm>
            <a:off x="530352" y="1425321"/>
            <a:ext cx="2322576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p_d ≃ p_c + 2σ_pc/a +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Πₛₕₑₗₗ</a:t>
            </a:r>
          </a:p>
        </p:txBody>
      </p:sp>
      <p:cxnSp>
        <p:nvCxnSpPr>
          <p:cNvPr id="6" name="C2-E33 arrow 4" descr="sci-ppt:o004"/>
          <p:cNvCxnSpPr/>
          <p:nvPr/>
        </p:nvCxnSpPr>
        <p:spPr>
          <a:xfrm>
            <a:off x="2953512" y="1783080"/>
            <a:ext cx="40233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7" name="C2-E33 round_rect 5" descr="sci-ppt:o005"/>
          <p:cNvSpPr/>
          <p:nvPr/>
        </p:nvSpPr>
        <p:spPr>
          <a:xfrm>
            <a:off x="3383280" y="1097280"/>
            <a:ext cx="2468880" cy="1371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2-E33 text 6" descr="sci-ppt:o006"/>
          <p:cNvSpPr txBox="1"/>
          <p:nvPr/>
        </p:nvSpPr>
        <p:spPr>
          <a:xfrm>
            <a:off x="3456432" y="1152144"/>
            <a:ext cx="232257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Superheat</a:t>
            </a:r>
          </a:p>
        </p:txBody>
      </p:sp>
      <p:sp>
        <p:nvSpPr>
          <p:cNvPr id="9" name="C2-E33 text 7" descr="sci-ppt:o007"/>
          <p:cNvSpPr txBox="1"/>
          <p:nvPr/>
        </p:nvSpPr>
        <p:spPr>
          <a:xfrm>
            <a:off x="3456432" y="1425321"/>
            <a:ext cx="2322576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Δpₙ = pₛₐₜ(Tᵢ) − p_d</a:t>
            </a:r>
          </a:p>
        </p:txBody>
      </p:sp>
      <p:cxnSp>
        <p:nvCxnSpPr>
          <p:cNvPr id="10" name="C2-E33 arrow 8" descr="sci-ppt:o008"/>
          <p:cNvCxnSpPr/>
          <p:nvPr/>
        </p:nvCxnSpPr>
        <p:spPr>
          <a:xfrm>
            <a:off x="5879592" y="1783080"/>
            <a:ext cx="40233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C2-E33 round_rect 9" descr="sci-ppt:o009"/>
          <p:cNvSpPr/>
          <p:nvPr/>
        </p:nvSpPr>
        <p:spPr>
          <a:xfrm>
            <a:off x="6309360" y="1097280"/>
            <a:ext cx="2468880" cy="1371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2-E33 text 10" descr="sci-ppt:o010"/>
          <p:cNvSpPr txBox="1"/>
          <p:nvPr/>
        </p:nvSpPr>
        <p:spPr>
          <a:xfrm>
            <a:off x="6382512" y="1152144"/>
            <a:ext cx="232257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7FC8F8"/>
                </a:solidFill>
                <a:latin typeface="Arial"/>
              </a:rPr>
              <a:t>Critical radius</a:t>
            </a:r>
          </a:p>
        </p:txBody>
      </p:sp>
      <p:sp>
        <p:nvSpPr>
          <p:cNvPr id="13" name="C2-E33 text 11" descr="sci-ppt:o011"/>
          <p:cNvSpPr txBox="1"/>
          <p:nvPr/>
        </p:nvSpPr>
        <p:spPr>
          <a:xfrm>
            <a:off x="6382512" y="1425321"/>
            <a:ext cx="2322576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r* = 2σᵥₚ / Δpₙ</a:t>
            </a:r>
          </a:p>
        </p:txBody>
      </p:sp>
      <p:cxnSp>
        <p:nvCxnSpPr>
          <p:cNvPr id="14" name="C2-E33 arrow 12" descr="sci-ppt:o012"/>
          <p:cNvCxnSpPr/>
          <p:nvPr/>
        </p:nvCxnSpPr>
        <p:spPr>
          <a:xfrm>
            <a:off x="8805672" y="1783080"/>
            <a:ext cx="40233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C2-E33 round_rect 13" descr="sci-ppt:o013"/>
          <p:cNvSpPr/>
          <p:nvPr/>
        </p:nvSpPr>
        <p:spPr>
          <a:xfrm>
            <a:off x="9235440" y="1097280"/>
            <a:ext cx="2468880" cy="1371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2-E33 text 14" descr="sci-ppt:o014"/>
          <p:cNvSpPr txBox="1"/>
          <p:nvPr/>
        </p:nvSpPr>
        <p:spPr>
          <a:xfrm>
            <a:off x="9308592" y="1152144"/>
            <a:ext cx="232257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Barrier</a:t>
            </a:r>
          </a:p>
        </p:txBody>
      </p:sp>
      <p:sp>
        <p:nvSpPr>
          <p:cNvPr id="17" name="C2-E33 text 15" descr="sci-ppt:o015"/>
          <p:cNvSpPr txBox="1"/>
          <p:nvPr/>
        </p:nvSpPr>
        <p:spPr>
          <a:xfrm>
            <a:off x="9308592" y="1425321"/>
            <a:ext cx="2322576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W* = 16π σᵥₚ³ / (3 Δpₙ²)</a:t>
            </a:r>
          </a:p>
        </p:txBody>
      </p:sp>
      <p:cxnSp>
        <p:nvCxnSpPr>
          <p:cNvPr id="18" name="C2-E33 line 16" descr="sci-ppt:o016"/>
          <p:cNvCxnSpPr/>
          <p:nvPr/>
        </p:nvCxnSpPr>
        <p:spPr>
          <a:xfrm>
            <a:off x="914400" y="5394960"/>
            <a:ext cx="53035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9" name="C2-E33 line 17" descr="sci-ppt:o017"/>
          <p:cNvCxnSpPr/>
          <p:nvPr/>
        </p:nvCxnSpPr>
        <p:spPr>
          <a:xfrm>
            <a:off x="914400" y="3017520"/>
            <a:ext cx="0" cy="237744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0" name="C2-E33 line 18" descr="sci-ppt:o018"/>
          <p:cNvCxnSpPr/>
          <p:nvPr/>
        </p:nvCxnSpPr>
        <p:spPr>
          <a:xfrm>
            <a:off x="914400" y="53949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33 line 19" descr="sci-ppt:o019"/>
          <p:cNvCxnSpPr/>
          <p:nvPr/>
        </p:nvCxnSpPr>
        <p:spPr>
          <a:xfrm>
            <a:off x="914400" y="3017520"/>
            <a:ext cx="0" cy="23774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33 text 20" descr="sci-ppt:o020"/>
          <p:cNvSpPr txBox="1"/>
          <p:nvPr/>
        </p:nvSpPr>
        <p:spPr>
          <a:xfrm>
            <a:off x="457200" y="54772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23" name="C2-E33 line 21" descr="sci-ppt:o021"/>
          <p:cNvCxnSpPr/>
          <p:nvPr/>
        </p:nvCxnSpPr>
        <p:spPr>
          <a:xfrm>
            <a:off x="2571750" y="53949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2-E33 line 22" descr="sci-ppt:o022"/>
          <p:cNvCxnSpPr/>
          <p:nvPr/>
        </p:nvCxnSpPr>
        <p:spPr>
          <a:xfrm>
            <a:off x="2571750" y="3017520"/>
            <a:ext cx="0" cy="23774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2-E33 text 23" descr="sci-ppt:o023"/>
          <p:cNvSpPr txBox="1"/>
          <p:nvPr/>
        </p:nvSpPr>
        <p:spPr>
          <a:xfrm>
            <a:off x="2114550" y="54772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6" name="C2-E33 line 24" descr="sci-ppt:o024"/>
          <p:cNvCxnSpPr/>
          <p:nvPr/>
        </p:nvCxnSpPr>
        <p:spPr>
          <a:xfrm>
            <a:off x="4229100" y="53949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2-E33 line 25" descr="sci-ppt:o025"/>
          <p:cNvCxnSpPr/>
          <p:nvPr/>
        </p:nvCxnSpPr>
        <p:spPr>
          <a:xfrm>
            <a:off x="4229100" y="3017520"/>
            <a:ext cx="0" cy="23774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2-E33 text 26" descr="sci-ppt:o026"/>
          <p:cNvSpPr txBox="1"/>
          <p:nvPr/>
        </p:nvSpPr>
        <p:spPr>
          <a:xfrm>
            <a:off x="3771900" y="54772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29" name="C2-E33 line 27" descr="sci-ppt:o027"/>
          <p:cNvCxnSpPr/>
          <p:nvPr/>
        </p:nvCxnSpPr>
        <p:spPr>
          <a:xfrm>
            <a:off x="5886450" y="53949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2-E33 line 28" descr="sci-ppt:o028"/>
          <p:cNvCxnSpPr/>
          <p:nvPr/>
        </p:nvCxnSpPr>
        <p:spPr>
          <a:xfrm>
            <a:off x="5886450" y="3017520"/>
            <a:ext cx="0" cy="23774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2-E33 text 29" descr="sci-ppt:o029"/>
          <p:cNvSpPr txBox="1"/>
          <p:nvPr/>
        </p:nvSpPr>
        <p:spPr>
          <a:xfrm>
            <a:off x="5429250" y="54772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32" name="C2-E33 line 30" descr="sci-ppt:o030"/>
          <p:cNvCxnSpPr/>
          <p:nvPr/>
        </p:nvCxnSpPr>
        <p:spPr>
          <a:xfrm>
            <a:off x="850392" y="47345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2-E33 line 31" descr="sci-ppt:o031"/>
          <p:cNvCxnSpPr/>
          <p:nvPr/>
        </p:nvCxnSpPr>
        <p:spPr>
          <a:xfrm>
            <a:off x="914400" y="4734560"/>
            <a:ext cx="53035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2-E33 text 32" descr="sci-ppt:o032"/>
          <p:cNvSpPr txBox="1"/>
          <p:nvPr/>
        </p:nvSpPr>
        <p:spPr>
          <a:xfrm>
            <a:off x="45720" y="46522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35" name="C2-E33 line 33" descr="sci-ppt:o033"/>
          <p:cNvCxnSpPr/>
          <p:nvPr/>
        </p:nvCxnSpPr>
        <p:spPr>
          <a:xfrm>
            <a:off x="850392" y="3413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2-E33 line 34" descr="sci-ppt:o034"/>
          <p:cNvCxnSpPr/>
          <p:nvPr/>
        </p:nvCxnSpPr>
        <p:spPr>
          <a:xfrm>
            <a:off x="914400" y="3413760"/>
            <a:ext cx="53035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7" name="C2-E33 text 35" descr="sci-ppt:o035"/>
          <p:cNvSpPr txBox="1"/>
          <p:nvPr/>
        </p:nvSpPr>
        <p:spPr>
          <a:xfrm>
            <a:off x="45720" y="33314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38" name="C2-E33 text 36" descr="sci-ppt:o036"/>
          <p:cNvSpPr txBox="1"/>
          <p:nvPr/>
        </p:nvSpPr>
        <p:spPr>
          <a:xfrm>
            <a:off x="914400" y="5678424"/>
            <a:ext cx="5303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rₙ / r*</a:t>
            </a:r>
          </a:p>
        </p:txBody>
      </p:sp>
      <p:sp>
        <p:nvSpPr>
          <p:cNvPr id="39" name="C2-E33 text 37" descr="sci-ppt:o037"/>
          <p:cNvSpPr txBox="1"/>
          <p:nvPr/>
        </p:nvSpPr>
        <p:spPr>
          <a:xfrm>
            <a:off x="365760" y="2670048"/>
            <a:ext cx="5303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 / W*</a:t>
            </a:r>
          </a:p>
        </p:txBody>
      </p:sp>
      <p:sp>
        <p:nvSpPr>
          <p:cNvPr id="40" name="C2-E33 polygon 38" descr="sci-ppt:o038"/>
          <p:cNvSpPr/>
          <p:nvPr/>
        </p:nvSpPr>
        <p:spPr>
          <a:xfrm>
            <a:off x="914400" y="3413795"/>
            <a:ext cx="5276869" cy="1936408"/>
          </a:xfrm>
          <a:custGeom>
            <a:avLst/>
            <a:gdLst/>
            <a:ahLst/>
            <a:cxnLst/>
            <a:rect l="l" t="t" r="r" b="b"/>
            <a:pathLst>
              <a:path w="5276869" h="1936408">
                <a:moveTo>
                  <a:pt x="0" y="1320765"/>
                </a:moveTo>
                <a:lnTo>
                  <a:pt x="26650" y="1320510"/>
                </a:lnTo>
                <a:lnTo>
                  <a:pt x="53301" y="1319751"/>
                </a:lnTo>
                <a:lnTo>
                  <a:pt x="79952" y="1318496"/>
                </a:lnTo>
                <a:lnTo>
                  <a:pt x="106603" y="1316754"/>
                </a:lnTo>
                <a:lnTo>
                  <a:pt x="133254" y="1314532"/>
                </a:lnTo>
                <a:lnTo>
                  <a:pt x="159905" y="1311840"/>
                </a:lnTo>
                <a:lnTo>
                  <a:pt x="186555" y="1308684"/>
                </a:lnTo>
                <a:lnTo>
                  <a:pt x="213206" y="1305074"/>
                </a:lnTo>
                <a:lnTo>
                  <a:pt x="239857" y="1301017"/>
                </a:lnTo>
                <a:lnTo>
                  <a:pt x="266508" y="1296523"/>
                </a:lnTo>
                <a:lnTo>
                  <a:pt x="293159" y="1291598"/>
                </a:lnTo>
                <a:lnTo>
                  <a:pt x="319810" y="1286252"/>
                </a:lnTo>
                <a:lnTo>
                  <a:pt x="346461" y="1280492"/>
                </a:lnTo>
                <a:lnTo>
                  <a:pt x="373111" y="1274327"/>
                </a:lnTo>
                <a:lnTo>
                  <a:pt x="399762" y="1267765"/>
                </a:lnTo>
                <a:lnTo>
                  <a:pt x="426413" y="1260814"/>
                </a:lnTo>
                <a:lnTo>
                  <a:pt x="453064" y="1253483"/>
                </a:lnTo>
                <a:lnTo>
                  <a:pt x="479715" y="1245780"/>
                </a:lnTo>
                <a:lnTo>
                  <a:pt x="506366" y="1237712"/>
                </a:lnTo>
                <a:lnTo>
                  <a:pt x="533017" y="1229289"/>
                </a:lnTo>
                <a:lnTo>
                  <a:pt x="559667" y="1220518"/>
                </a:lnTo>
                <a:lnTo>
                  <a:pt x="586318" y="1211408"/>
                </a:lnTo>
                <a:lnTo>
                  <a:pt x="612969" y="1201967"/>
                </a:lnTo>
                <a:lnTo>
                  <a:pt x="639620" y="1192203"/>
                </a:lnTo>
                <a:lnTo>
                  <a:pt x="666271" y="1182125"/>
                </a:lnTo>
                <a:lnTo>
                  <a:pt x="692922" y="1171740"/>
                </a:lnTo>
                <a:lnTo>
                  <a:pt x="719573" y="1161057"/>
                </a:lnTo>
                <a:lnTo>
                  <a:pt x="746223" y="1150084"/>
                </a:lnTo>
                <a:lnTo>
                  <a:pt x="772874" y="1138829"/>
                </a:lnTo>
                <a:lnTo>
                  <a:pt x="799525" y="1127301"/>
                </a:lnTo>
                <a:lnTo>
                  <a:pt x="826176" y="1115508"/>
                </a:lnTo>
                <a:lnTo>
                  <a:pt x="852827" y="1103458"/>
                </a:lnTo>
                <a:lnTo>
                  <a:pt x="879478" y="1091160"/>
                </a:lnTo>
                <a:lnTo>
                  <a:pt x="906129" y="1078621"/>
                </a:lnTo>
                <a:lnTo>
                  <a:pt x="932779" y="1065849"/>
                </a:lnTo>
                <a:lnTo>
                  <a:pt x="959430" y="1052854"/>
                </a:lnTo>
                <a:lnTo>
                  <a:pt x="986081" y="1039643"/>
                </a:lnTo>
                <a:lnTo>
                  <a:pt x="1012732" y="1026225"/>
                </a:lnTo>
                <a:lnTo>
                  <a:pt x="1039383" y="1012607"/>
                </a:lnTo>
                <a:lnTo>
                  <a:pt x="1066034" y="998798"/>
                </a:lnTo>
                <a:lnTo>
                  <a:pt x="1092685" y="984806"/>
                </a:lnTo>
                <a:lnTo>
                  <a:pt x="1119335" y="970640"/>
                </a:lnTo>
                <a:lnTo>
                  <a:pt x="1145986" y="956308"/>
                </a:lnTo>
                <a:lnTo>
                  <a:pt x="1172637" y="941818"/>
                </a:lnTo>
                <a:lnTo>
                  <a:pt x="1199288" y="927177"/>
                </a:lnTo>
                <a:lnTo>
                  <a:pt x="1225939" y="912395"/>
                </a:lnTo>
                <a:lnTo>
                  <a:pt x="1252590" y="897480"/>
                </a:lnTo>
                <a:lnTo>
                  <a:pt x="1279241" y="882440"/>
                </a:lnTo>
                <a:lnTo>
                  <a:pt x="1305891" y="867283"/>
                </a:lnTo>
                <a:lnTo>
                  <a:pt x="1332542" y="852017"/>
                </a:lnTo>
                <a:lnTo>
                  <a:pt x="1359193" y="836650"/>
                </a:lnTo>
                <a:lnTo>
                  <a:pt x="1385844" y="821192"/>
                </a:lnTo>
                <a:lnTo>
                  <a:pt x="1412495" y="805650"/>
                </a:lnTo>
                <a:lnTo>
                  <a:pt x="1439146" y="790032"/>
                </a:lnTo>
                <a:lnTo>
                  <a:pt x="1465796" y="774346"/>
                </a:lnTo>
                <a:lnTo>
                  <a:pt x="1492447" y="758601"/>
                </a:lnTo>
                <a:lnTo>
                  <a:pt x="1519098" y="742806"/>
                </a:lnTo>
                <a:lnTo>
                  <a:pt x="1545749" y="726967"/>
                </a:lnTo>
                <a:lnTo>
                  <a:pt x="1572400" y="711095"/>
                </a:lnTo>
                <a:lnTo>
                  <a:pt x="1599051" y="695195"/>
                </a:lnTo>
                <a:lnTo>
                  <a:pt x="1625702" y="679278"/>
                </a:lnTo>
                <a:lnTo>
                  <a:pt x="1652352" y="663351"/>
                </a:lnTo>
                <a:lnTo>
                  <a:pt x="1679003" y="647423"/>
                </a:lnTo>
                <a:lnTo>
                  <a:pt x="1705654" y="631501"/>
                </a:lnTo>
                <a:lnTo>
                  <a:pt x="1732305" y="615594"/>
                </a:lnTo>
                <a:lnTo>
                  <a:pt x="1758956" y="599710"/>
                </a:lnTo>
                <a:lnTo>
                  <a:pt x="1785607" y="583858"/>
                </a:lnTo>
                <a:lnTo>
                  <a:pt x="1812258" y="568045"/>
                </a:lnTo>
                <a:lnTo>
                  <a:pt x="1838908" y="552281"/>
                </a:lnTo>
                <a:lnTo>
                  <a:pt x="1865559" y="536572"/>
                </a:lnTo>
                <a:lnTo>
                  <a:pt x="1892210" y="520928"/>
                </a:lnTo>
                <a:lnTo>
                  <a:pt x="1918861" y="505356"/>
                </a:lnTo>
                <a:lnTo>
                  <a:pt x="1945512" y="489865"/>
                </a:lnTo>
                <a:lnTo>
                  <a:pt x="1972163" y="474463"/>
                </a:lnTo>
                <a:lnTo>
                  <a:pt x="1998814" y="459159"/>
                </a:lnTo>
                <a:lnTo>
                  <a:pt x="2025464" y="443960"/>
                </a:lnTo>
                <a:lnTo>
                  <a:pt x="2052115" y="428875"/>
                </a:lnTo>
                <a:lnTo>
                  <a:pt x="2078766" y="413912"/>
                </a:lnTo>
                <a:lnTo>
                  <a:pt x="2105417" y="399079"/>
                </a:lnTo>
                <a:lnTo>
                  <a:pt x="2132068" y="384384"/>
                </a:lnTo>
                <a:lnTo>
                  <a:pt x="2158719" y="369837"/>
                </a:lnTo>
                <a:lnTo>
                  <a:pt x="2185370" y="355444"/>
                </a:lnTo>
                <a:lnTo>
                  <a:pt x="2212020" y="341215"/>
                </a:lnTo>
                <a:lnTo>
                  <a:pt x="2238671" y="327157"/>
                </a:lnTo>
                <a:lnTo>
                  <a:pt x="2265322" y="313279"/>
                </a:lnTo>
                <a:lnTo>
                  <a:pt x="2291973" y="299588"/>
                </a:lnTo>
                <a:lnTo>
                  <a:pt x="2318624" y="286094"/>
                </a:lnTo>
                <a:lnTo>
                  <a:pt x="2345275" y="272804"/>
                </a:lnTo>
                <a:lnTo>
                  <a:pt x="2371926" y="259727"/>
                </a:lnTo>
                <a:lnTo>
                  <a:pt x="2398576" y="246871"/>
                </a:lnTo>
                <a:lnTo>
                  <a:pt x="2425227" y="234244"/>
                </a:lnTo>
                <a:lnTo>
                  <a:pt x="2451878" y="221854"/>
                </a:lnTo>
                <a:lnTo>
                  <a:pt x="2478529" y="209710"/>
                </a:lnTo>
                <a:lnTo>
                  <a:pt x="2505180" y="197819"/>
                </a:lnTo>
                <a:lnTo>
                  <a:pt x="2531831" y="186191"/>
                </a:lnTo>
                <a:lnTo>
                  <a:pt x="2558482" y="174833"/>
                </a:lnTo>
                <a:lnTo>
                  <a:pt x="2585132" y="163754"/>
                </a:lnTo>
                <a:lnTo>
                  <a:pt x="2611783" y="152961"/>
                </a:lnTo>
                <a:lnTo>
                  <a:pt x="2638434" y="142463"/>
                </a:lnTo>
                <a:lnTo>
                  <a:pt x="2665085" y="132269"/>
                </a:lnTo>
                <a:lnTo>
                  <a:pt x="2691736" y="122386"/>
                </a:lnTo>
                <a:lnTo>
                  <a:pt x="2718387" y="112823"/>
                </a:lnTo>
                <a:lnTo>
                  <a:pt x="2745037" y="103588"/>
                </a:lnTo>
                <a:lnTo>
                  <a:pt x="2771688" y="94689"/>
                </a:lnTo>
                <a:lnTo>
                  <a:pt x="2798339" y="86134"/>
                </a:lnTo>
                <a:lnTo>
                  <a:pt x="2824990" y="77932"/>
                </a:lnTo>
                <a:lnTo>
                  <a:pt x="2851641" y="70092"/>
                </a:lnTo>
                <a:lnTo>
                  <a:pt x="2878292" y="62620"/>
                </a:lnTo>
                <a:lnTo>
                  <a:pt x="2904943" y="55526"/>
                </a:lnTo>
                <a:lnTo>
                  <a:pt x="2931593" y="48817"/>
                </a:lnTo>
                <a:lnTo>
                  <a:pt x="2958244" y="42502"/>
                </a:lnTo>
                <a:lnTo>
                  <a:pt x="2984895" y="36589"/>
                </a:lnTo>
                <a:lnTo>
                  <a:pt x="3011546" y="31087"/>
                </a:lnTo>
                <a:lnTo>
                  <a:pt x="3038197" y="26003"/>
                </a:lnTo>
                <a:lnTo>
                  <a:pt x="3064848" y="21346"/>
                </a:lnTo>
                <a:lnTo>
                  <a:pt x="3091499" y="17124"/>
                </a:lnTo>
                <a:lnTo>
                  <a:pt x="3118149" y="13346"/>
                </a:lnTo>
                <a:lnTo>
                  <a:pt x="3144800" y="10019"/>
                </a:lnTo>
                <a:lnTo>
                  <a:pt x="3171451" y="7152"/>
                </a:lnTo>
                <a:lnTo>
                  <a:pt x="3198102" y="4752"/>
                </a:lnTo>
                <a:lnTo>
                  <a:pt x="3224753" y="2829"/>
                </a:lnTo>
                <a:lnTo>
                  <a:pt x="3251404" y="1391"/>
                </a:lnTo>
                <a:lnTo>
                  <a:pt x="3278055" y="445"/>
                </a:lnTo>
                <a:lnTo>
                  <a:pt x="3304705" y="0"/>
                </a:lnTo>
                <a:lnTo>
                  <a:pt x="3331356" y="65"/>
                </a:lnTo>
                <a:lnTo>
                  <a:pt x="3358007" y="647"/>
                </a:lnTo>
                <a:lnTo>
                  <a:pt x="3384658" y="1754"/>
                </a:lnTo>
                <a:lnTo>
                  <a:pt x="3411309" y="3396"/>
                </a:lnTo>
                <a:lnTo>
                  <a:pt x="3437960" y="5580"/>
                </a:lnTo>
                <a:lnTo>
                  <a:pt x="3464611" y="8314"/>
                </a:lnTo>
                <a:lnTo>
                  <a:pt x="3491261" y="11606"/>
                </a:lnTo>
                <a:lnTo>
                  <a:pt x="3517912" y="15466"/>
                </a:lnTo>
                <a:lnTo>
                  <a:pt x="3544563" y="19900"/>
                </a:lnTo>
                <a:lnTo>
                  <a:pt x="3571214" y="24919"/>
                </a:lnTo>
                <a:lnTo>
                  <a:pt x="3597865" y="30528"/>
                </a:lnTo>
                <a:lnTo>
                  <a:pt x="3624516" y="36738"/>
                </a:lnTo>
                <a:lnTo>
                  <a:pt x="3651167" y="43555"/>
                </a:lnTo>
                <a:lnTo>
                  <a:pt x="3677817" y="50989"/>
                </a:lnTo>
                <a:lnTo>
                  <a:pt x="3704468" y="59047"/>
                </a:lnTo>
                <a:lnTo>
                  <a:pt x="3731119" y="67738"/>
                </a:lnTo>
                <a:lnTo>
                  <a:pt x="3757770" y="77070"/>
                </a:lnTo>
                <a:lnTo>
                  <a:pt x="3784421" y="87052"/>
                </a:lnTo>
                <a:lnTo>
                  <a:pt x="3811072" y="97691"/>
                </a:lnTo>
                <a:lnTo>
                  <a:pt x="3837723" y="108995"/>
                </a:lnTo>
                <a:lnTo>
                  <a:pt x="3864373" y="120974"/>
                </a:lnTo>
                <a:lnTo>
                  <a:pt x="3891024" y="133635"/>
                </a:lnTo>
                <a:lnTo>
                  <a:pt x="3917675" y="146986"/>
                </a:lnTo>
                <a:lnTo>
                  <a:pt x="3944326" y="161036"/>
                </a:lnTo>
                <a:lnTo>
                  <a:pt x="3970977" y="175793"/>
                </a:lnTo>
                <a:lnTo>
                  <a:pt x="3997628" y="191265"/>
                </a:lnTo>
                <a:lnTo>
                  <a:pt x="4024278" y="207460"/>
                </a:lnTo>
                <a:lnTo>
                  <a:pt x="4050929" y="224387"/>
                </a:lnTo>
                <a:lnTo>
                  <a:pt x="4077580" y="242054"/>
                </a:lnTo>
                <a:lnTo>
                  <a:pt x="4104231" y="260469"/>
                </a:lnTo>
                <a:lnTo>
                  <a:pt x="4130882" y="279640"/>
                </a:lnTo>
                <a:lnTo>
                  <a:pt x="4157533" y="299576"/>
                </a:lnTo>
                <a:lnTo>
                  <a:pt x="4184184" y="320285"/>
                </a:lnTo>
                <a:lnTo>
                  <a:pt x="4210834" y="341775"/>
                </a:lnTo>
                <a:lnTo>
                  <a:pt x="4237485" y="364054"/>
                </a:lnTo>
                <a:lnTo>
                  <a:pt x="4264136" y="387130"/>
                </a:lnTo>
                <a:lnTo>
                  <a:pt x="4290787" y="411013"/>
                </a:lnTo>
                <a:lnTo>
                  <a:pt x="4317438" y="435709"/>
                </a:lnTo>
                <a:lnTo>
                  <a:pt x="4344089" y="461228"/>
                </a:lnTo>
                <a:lnTo>
                  <a:pt x="4370740" y="487577"/>
                </a:lnTo>
                <a:lnTo>
                  <a:pt x="4397390" y="514765"/>
                </a:lnTo>
                <a:lnTo>
                  <a:pt x="4424041" y="542800"/>
                </a:lnTo>
                <a:lnTo>
                  <a:pt x="4450692" y="571690"/>
                </a:lnTo>
                <a:lnTo>
                  <a:pt x="4477343" y="601443"/>
                </a:lnTo>
                <a:lnTo>
                  <a:pt x="4503994" y="632069"/>
                </a:lnTo>
                <a:lnTo>
                  <a:pt x="4530645" y="663574"/>
                </a:lnTo>
                <a:lnTo>
                  <a:pt x="4557296" y="695967"/>
                </a:lnTo>
                <a:lnTo>
                  <a:pt x="4583946" y="729257"/>
                </a:lnTo>
                <a:lnTo>
                  <a:pt x="4610597" y="763451"/>
                </a:lnTo>
                <a:lnTo>
                  <a:pt x="4637248" y="798558"/>
                </a:lnTo>
                <a:lnTo>
                  <a:pt x="4663899" y="834586"/>
                </a:lnTo>
                <a:lnTo>
                  <a:pt x="4690550" y="871544"/>
                </a:lnTo>
                <a:lnTo>
                  <a:pt x="4717201" y="909439"/>
                </a:lnTo>
                <a:lnTo>
                  <a:pt x="4743852" y="948280"/>
                </a:lnTo>
                <a:lnTo>
                  <a:pt x="4770502" y="988075"/>
                </a:lnTo>
                <a:lnTo>
                  <a:pt x="4797153" y="1028832"/>
                </a:lnTo>
                <a:lnTo>
                  <a:pt x="4823804" y="1070560"/>
                </a:lnTo>
                <a:lnTo>
                  <a:pt x="4850455" y="1113267"/>
                </a:lnTo>
                <a:lnTo>
                  <a:pt x="4877106" y="1156960"/>
                </a:lnTo>
                <a:lnTo>
                  <a:pt x="4903757" y="1201649"/>
                </a:lnTo>
                <a:lnTo>
                  <a:pt x="4930408" y="1247342"/>
                </a:lnTo>
                <a:lnTo>
                  <a:pt x="4957058" y="1294046"/>
                </a:lnTo>
                <a:lnTo>
                  <a:pt x="4983709" y="1341770"/>
                </a:lnTo>
                <a:lnTo>
                  <a:pt x="5010360" y="1390522"/>
                </a:lnTo>
                <a:lnTo>
                  <a:pt x="5037011" y="1440311"/>
                </a:lnTo>
                <a:lnTo>
                  <a:pt x="5063662" y="1491144"/>
                </a:lnTo>
                <a:lnTo>
                  <a:pt x="5090313" y="1543030"/>
                </a:lnTo>
                <a:lnTo>
                  <a:pt x="5116964" y="1595978"/>
                </a:lnTo>
                <a:lnTo>
                  <a:pt x="5143614" y="1649995"/>
                </a:lnTo>
                <a:lnTo>
                  <a:pt x="5170265" y="1705089"/>
                </a:lnTo>
                <a:lnTo>
                  <a:pt x="5196916" y="1761269"/>
                </a:lnTo>
                <a:lnTo>
                  <a:pt x="5223567" y="1818544"/>
                </a:lnTo>
                <a:lnTo>
                  <a:pt x="5250218" y="1876921"/>
                </a:lnTo>
                <a:lnTo>
                  <a:pt x="5276869" y="1936408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2-E33 ellipse 39" descr="sci-ppt:o039"/>
          <p:cNvSpPr/>
          <p:nvPr/>
        </p:nvSpPr>
        <p:spPr>
          <a:xfrm>
            <a:off x="4155948" y="3340608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2-E33 text 40" descr="sci-ppt:o040"/>
          <p:cNvSpPr txBox="1"/>
          <p:nvPr/>
        </p:nvSpPr>
        <p:spPr>
          <a:xfrm>
            <a:off x="4320540" y="3048000"/>
            <a:ext cx="1097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r*, W*</a:t>
            </a:r>
          </a:p>
        </p:txBody>
      </p:sp>
      <p:sp>
        <p:nvSpPr>
          <p:cNvPr id="43" name="C2-E33 round_rect 41" descr="sci-ppt:o041"/>
          <p:cNvSpPr/>
          <p:nvPr/>
        </p:nvSpPr>
        <p:spPr>
          <a:xfrm>
            <a:off x="6583680" y="3017520"/>
            <a:ext cx="5212080" cy="2651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2-E33 text 42" descr="sci-ppt:o042"/>
          <p:cNvSpPr txBox="1"/>
          <p:nvPr/>
        </p:nvSpPr>
        <p:spPr>
          <a:xfrm>
            <a:off x="6693408" y="3072384"/>
            <a:ext cx="499262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Read it from left to right</a:t>
            </a:r>
          </a:p>
        </p:txBody>
      </p:sp>
      <p:sp>
        <p:nvSpPr>
          <p:cNvPr id="45" name="C2-E33 text 43" descr="sci-ppt:o043"/>
          <p:cNvSpPr txBox="1"/>
          <p:nvPr/>
        </p:nvSpPr>
        <p:spPr>
          <a:xfrm>
            <a:off x="6922007" y="3474720"/>
            <a:ext cx="473659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Confinement sets the liquid pressure p_d; a smaller core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raises it.</a:t>
            </a:r>
          </a:p>
        </p:txBody>
      </p:sp>
      <p:sp>
        <p:nvSpPr>
          <p:cNvPr id="46" name="C2-E33 ellipse 44" descr="sci-ppt:o044"/>
          <p:cNvSpPr/>
          <p:nvPr/>
        </p:nvSpPr>
        <p:spPr>
          <a:xfrm>
            <a:off x="6752844" y="352806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2-E33 text 45" descr="sci-ppt:o045"/>
          <p:cNvSpPr txBox="1"/>
          <p:nvPr/>
        </p:nvSpPr>
        <p:spPr>
          <a:xfrm>
            <a:off x="6922007" y="3938016"/>
            <a:ext cx="473659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Superheat is how far pₛₐₜ at the interface temperature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lies above p_d.</a:t>
            </a:r>
          </a:p>
        </p:txBody>
      </p:sp>
      <p:sp>
        <p:nvSpPr>
          <p:cNvPr id="48" name="C2-E33 ellipse 46" descr="sci-ppt:o046"/>
          <p:cNvSpPr/>
          <p:nvPr/>
        </p:nvSpPr>
        <p:spPr>
          <a:xfrm>
            <a:off x="6752844" y="399135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2-E33 text 47" descr="sci-ppt:o047"/>
          <p:cNvSpPr txBox="1"/>
          <p:nvPr/>
        </p:nvSpPr>
        <p:spPr>
          <a:xfrm>
            <a:off x="6922007" y="4401312"/>
            <a:ext cx="473659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More superheat shrinks r* and W*, but the barrier stays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positive.</a:t>
            </a:r>
          </a:p>
        </p:txBody>
      </p:sp>
      <p:sp>
        <p:nvSpPr>
          <p:cNvPr id="50" name="C2-E33 ellipse 48" descr="sci-ppt:o048"/>
          <p:cNvSpPr/>
          <p:nvPr/>
        </p:nvSpPr>
        <p:spPr>
          <a:xfrm>
            <a:off x="6752844" y="445465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2-E33 text 49" descr="sci-ppt:o049"/>
          <p:cNvSpPr txBox="1"/>
          <p:nvPr/>
        </p:nvSpPr>
        <p:spPr>
          <a:xfrm>
            <a:off x="914400" y="603504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formulas assume homogeneous nucleation, a locally isothermal small nucleus and Δpₙ &gt; 0.</a:t>
            </a:r>
          </a:p>
        </p:txBody>
      </p:sp>
      <p:sp>
        <p:nvSpPr>
          <p:cNvPr id="52" name="C2-E33 text 50" descr="sci-ppt:o050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Reference formulas of the Defence 2 answer: Eqs. C2-E11, E14, E15, E16.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