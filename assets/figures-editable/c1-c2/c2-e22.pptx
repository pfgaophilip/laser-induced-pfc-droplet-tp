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2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C2-E22 · Uniform-state open-bubble first-law model</a:t>
            </a:r>
          </a:p>
        </p:txBody>
      </p:sp>
      <p:sp>
        <p:nvSpPr>
          <p:cNvPr id="3" name="C2-E22 round_rect 1" descr="sci-ppt:o001"/>
          <p:cNvSpPr/>
          <p:nvPr/>
        </p:nvSpPr>
        <p:spPr>
          <a:xfrm>
            <a:off x="365760" y="914400"/>
            <a:ext cx="585216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2-E22 text 2" descr="sci-ppt:o002"/>
          <p:cNvSpPr txBox="1"/>
          <p:nvPr/>
        </p:nvSpPr>
        <p:spPr>
          <a:xfrm>
            <a:off x="475488" y="969264"/>
            <a:ext cx="56327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Open bubble as a control volume</a:t>
            </a:r>
          </a:p>
        </p:txBody>
      </p:sp>
      <p:sp>
        <p:nvSpPr>
          <p:cNvPr id="5" name="C2-E22 ellipse 3" descr="sci-ppt:o003"/>
          <p:cNvSpPr/>
          <p:nvPr/>
        </p:nvSpPr>
        <p:spPr>
          <a:xfrm>
            <a:off x="2011680" y="2286000"/>
            <a:ext cx="2194560" cy="2194560"/>
          </a:xfrm>
          <a:prstGeom prst="ellipse">
            <a:avLst/>
          </a:prstGeom>
          <a:solidFill>
            <a:srgbClr val="0C1820"/>
          </a:solidFill>
          <a:ln w="330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2-E22 text 4" descr="sci-ppt:o004"/>
          <p:cNvSpPr txBox="1"/>
          <p:nvPr/>
        </p:nvSpPr>
        <p:spPr>
          <a:xfrm>
            <a:off x="2377439" y="3108960"/>
            <a:ext cx="146304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U_b</a:t>
            </a:r>
          </a:p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uniform T_b, p_b</a:t>
            </a:r>
          </a:p>
        </p:txBody>
      </p:sp>
      <p:cxnSp>
        <p:nvCxnSpPr>
          <p:cNvPr id="7" name="C2-E22 arrow 5" descr="sci-ppt:o005"/>
          <p:cNvCxnSpPr/>
          <p:nvPr/>
        </p:nvCxnSpPr>
        <p:spPr>
          <a:xfrm>
            <a:off x="457200" y="3383280"/>
            <a:ext cx="1508760" cy="0"/>
          </a:xfrm>
          <a:prstGeom prst="line">
            <a:avLst/>
          </a:prstGeom>
          <a:ln w="508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2-E22 text 6" descr="sci-ppt:o006"/>
          <p:cNvSpPr txBox="1"/>
          <p:nvPr/>
        </p:nvSpPr>
        <p:spPr>
          <a:xfrm>
            <a:off x="502920" y="2788920"/>
            <a:ext cx="17373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heat in Q̇_b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(conduction)</a:t>
            </a:r>
          </a:p>
        </p:txBody>
      </p:sp>
      <p:cxnSp>
        <p:nvCxnSpPr>
          <p:cNvPr id="9" name="C2-E22 arrow 7" descr="sci-ppt:o007"/>
          <p:cNvCxnSpPr/>
          <p:nvPr/>
        </p:nvCxnSpPr>
        <p:spPr>
          <a:xfrm>
            <a:off x="2194560" y="1554480"/>
            <a:ext cx="365760" cy="713232"/>
          </a:xfrm>
          <a:prstGeom prst="line">
            <a:avLst/>
          </a:prstGeom>
          <a:ln w="508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2-E22 text 8" descr="sci-ppt:o008"/>
          <p:cNvSpPr txBox="1"/>
          <p:nvPr/>
        </p:nvSpPr>
        <p:spPr>
          <a:xfrm>
            <a:off x="822959" y="1188720"/>
            <a:ext cx="25603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vapor in:  Σ hᵥ,s ṁᵥ,s</a:t>
            </a:r>
          </a:p>
        </p:txBody>
      </p:sp>
      <p:cxnSp>
        <p:nvCxnSpPr>
          <p:cNvPr id="11" name="C2-E22 arrow 9" descr="sci-ppt:o009"/>
          <p:cNvCxnSpPr/>
          <p:nvPr/>
        </p:nvCxnSpPr>
        <p:spPr>
          <a:xfrm flipV="1">
            <a:off x="3984548" y="2119585"/>
            <a:ext cx="630424" cy="528988"/>
          </a:xfrm>
          <a:prstGeom prst="line">
            <a:avLst/>
          </a:prstGeom>
          <a:ln w="508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2-E22 text 10" descr="sci-ppt:o010"/>
          <p:cNvSpPr txBox="1"/>
          <p:nvPr/>
        </p:nvSpPr>
        <p:spPr>
          <a:xfrm>
            <a:off x="4297680" y="1234440"/>
            <a:ext cx="23774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work out: p_b V̇_b</a:t>
            </a:r>
          </a:p>
        </p:txBody>
      </p:sp>
      <p:sp>
        <p:nvSpPr>
          <p:cNvPr id="13" name="C2-E22 text 11" descr="sci-ppt:o011"/>
          <p:cNvSpPr txBox="1"/>
          <p:nvPr/>
        </p:nvSpPr>
        <p:spPr>
          <a:xfrm>
            <a:off x="502920" y="5212080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V_b = (4π/3)R³, V̇_b = 4πR²Ṙ</a:t>
            </a:r>
          </a:p>
        </p:txBody>
      </p:sp>
      <p:sp>
        <p:nvSpPr>
          <p:cNvPr id="14" name="C2-E22 text 12" descr="sci-ppt:o012"/>
          <p:cNvSpPr txBox="1"/>
          <p:nvPr/>
        </p:nvSpPr>
        <p:spPr>
          <a:xfrm>
            <a:off x="6492240" y="960120"/>
            <a:ext cx="53035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Power ledger (illustrative values, W)</a:t>
            </a:r>
          </a:p>
        </p:txBody>
      </p:sp>
      <p:cxnSp>
        <p:nvCxnSpPr>
          <p:cNvPr id="15" name="C2-E22 line 13" descr="sci-ppt:o013"/>
          <p:cNvCxnSpPr/>
          <p:nvPr/>
        </p:nvCxnSpPr>
        <p:spPr>
          <a:xfrm>
            <a:off x="6583680" y="4663440"/>
            <a:ext cx="51206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6" name="C2-E22 line 14" descr="sci-ppt:o014"/>
          <p:cNvCxnSpPr/>
          <p:nvPr/>
        </p:nvCxnSpPr>
        <p:spPr>
          <a:xfrm>
            <a:off x="6583680" y="1554480"/>
            <a:ext cx="0" cy="31089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7" name="C2-E22 line 15" descr="sci-ppt:o015"/>
          <p:cNvCxnSpPr/>
          <p:nvPr/>
        </p:nvCxnSpPr>
        <p:spPr>
          <a:xfrm>
            <a:off x="6519672" y="46634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2-E22 line 16" descr="sci-ppt:o016"/>
          <p:cNvCxnSpPr/>
          <p:nvPr/>
        </p:nvCxnSpPr>
        <p:spPr>
          <a:xfrm>
            <a:off x="6583680" y="4663440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2-E22 text 17" descr="sci-ppt:o017"/>
          <p:cNvSpPr txBox="1"/>
          <p:nvPr/>
        </p:nvSpPr>
        <p:spPr>
          <a:xfrm>
            <a:off x="5715000" y="45811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0" name="C2-E22 line 18" descr="sci-ppt:o018"/>
          <p:cNvCxnSpPr/>
          <p:nvPr/>
        </p:nvCxnSpPr>
        <p:spPr>
          <a:xfrm>
            <a:off x="6519672" y="37490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2-E22 line 19" descr="sci-ppt:o019"/>
          <p:cNvCxnSpPr/>
          <p:nvPr/>
        </p:nvCxnSpPr>
        <p:spPr>
          <a:xfrm>
            <a:off x="6583680" y="3749039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2-E22 text 20" descr="sci-ppt:o020"/>
          <p:cNvSpPr txBox="1"/>
          <p:nvPr/>
        </p:nvSpPr>
        <p:spPr>
          <a:xfrm>
            <a:off x="5715000" y="36667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3" name="C2-E22 line 21" descr="sci-ppt:o021"/>
          <p:cNvCxnSpPr/>
          <p:nvPr/>
        </p:nvCxnSpPr>
        <p:spPr>
          <a:xfrm>
            <a:off x="6519672" y="28346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2-E22 line 22" descr="sci-ppt:o022"/>
          <p:cNvCxnSpPr/>
          <p:nvPr/>
        </p:nvCxnSpPr>
        <p:spPr>
          <a:xfrm>
            <a:off x="6583680" y="2834639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2-E22 text 23" descr="sci-ppt:o023"/>
          <p:cNvSpPr txBox="1"/>
          <p:nvPr/>
        </p:nvSpPr>
        <p:spPr>
          <a:xfrm>
            <a:off x="5715000" y="27523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6" name="C2-E22 line 24" descr="sci-ppt:o024"/>
          <p:cNvCxnSpPr/>
          <p:nvPr/>
        </p:nvCxnSpPr>
        <p:spPr>
          <a:xfrm>
            <a:off x="6519672" y="19202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2-E22 line 25" descr="sci-ppt:o025"/>
          <p:cNvCxnSpPr/>
          <p:nvPr/>
        </p:nvCxnSpPr>
        <p:spPr>
          <a:xfrm>
            <a:off x="6583680" y="1920239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2-E22 text 26" descr="sci-ppt:o026"/>
          <p:cNvSpPr txBox="1"/>
          <p:nvPr/>
        </p:nvSpPr>
        <p:spPr>
          <a:xfrm>
            <a:off x="5715000" y="183794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sp>
        <p:nvSpPr>
          <p:cNvPr id="29" name="C2-E22 rect 27" descr="sci-ppt:o027"/>
          <p:cNvSpPr/>
          <p:nvPr/>
        </p:nvSpPr>
        <p:spPr>
          <a:xfrm>
            <a:off x="6762902" y="4114800"/>
            <a:ext cx="921715" cy="548639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2-E22 text 28" descr="sci-ppt:o028"/>
          <p:cNvSpPr txBox="1"/>
          <p:nvPr/>
        </p:nvSpPr>
        <p:spPr>
          <a:xfrm>
            <a:off x="6534302" y="3840480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0.3</a:t>
            </a:r>
          </a:p>
        </p:txBody>
      </p:sp>
      <p:sp>
        <p:nvSpPr>
          <p:cNvPr id="31" name="C2-E22 text 29" descr="sci-ppt:o029"/>
          <p:cNvSpPr txBox="1"/>
          <p:nvPr/>
        </p:nvSpPr>
        <p:spPr>
          <a:xfrm>
            <a:off x="6488582" y="473659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Q̇_b</a:t>
            </a:r>
          </a:p>
        </p:txBody>
      </p:sp>
      <p:sp>
        <p:nvSpPr>
          <p:cNvPr id="32" name="C2-E22 rect 30" descr="sci-ppt:o030"/>
          <p:cNvSpPr/>
          <p:nvPr/>
        </p:nvSpPr>
        <p:spPr>
          <a:xfrm>
            <a:off x="8043062" y="2103119"/>
            <a:ext cx="921715" cy="201168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2-E22 text 31" descr="sci-ppt:o031"/>
          <p:cNvSpPr txBox="1"/>
          <p:nvPr/>
        </p:nvSpPr>
        <p:spPr>
          <a:xfrm>
            <a:off x="7814462" y="1828799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+1.1</a:t>
            </a:r>
          </a:p>
        </p:txBody>
      </p:sp>
      <p:sp>
        <p:nvSpPr>
          <p:cNvPr id="34" name="C2-E22 text 32" descr="sci-ppt:o032"/>
          <p:cNvSpPr txBox="1"/>
          <p:nvPr/>
        </p:nvSpPr>
        <p:spPr>
          <a:xfrm>
            <a:off x="7768742" y="473659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Σ h ṁ</a:t>
            </a:r>
          </a:p>
        </p:txBody>
      </p:sp>
      <p:sp>
        <p:nvSpPr>
          <p:cNvPr id="35" name="C2-E22 rect 33" descr="sci-ppt:o033"/>
          <p:cNvSpPr/>
          <p:nvPr/>
        </p:nvSpPr>
        <p:spPr>
          <a:xfrm>
            <a:off x="9323222" y="2103119"/>
            <a:ext cx="921715" cy="164592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2-E22 text 34" descr="sci-ppt:o034"/>
          <p:cNvSpPr txBox="1"/>
          <p:nvPr/>
        </p:nvSpPr>
        <p:spPr>
          <a:xfrm>
            <a:off x="9094622" y="1828799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-0.9</a:t>
            </a:r>
          </a:p>
        </p:txBody>
      </p:sp>
      <p:sp>
        <p:nvSpPr>
          <p:cNvPr id="37" name="C2-E22 text 35" descr="sci-ppt:o035"/>
          <p:cNvSpPr txBox="1"/>
          <p:nvPr/>
        </p:nvSpPr>
        <p:spPr>
          <a:xfrm>
            <a:off x="9048902" y="473659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−p_b V̇_b</a:t>
            </a:r>
          </a:p>
        </p:txBody>
      </p:sp>
      <p:sp>
        <p:nvSpPr>
          <p:cNvPr id="38" name="C2-E22 rect 36" descr="sci-ppt:o036"/>
          <p:cNvSpPr/>
          <p:nvPr/>
        </p:nvSpPr>
        <p:spPr>
          <a:xfrm>
            <a:off x="10603382" y="3749039"/>
            <a:ext cx="921715" cy="91440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2-E22 text 37" descr="sci-ppt:o037"/>
          <p:cNvSpPr txBox="1"/>
          <p:nvPr/>
        </p:nvSpPr>
        <p:spPr>
          <a:xfrm>
            <a:off x="10374782" y="3474720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0.5</a:t>
            </a:r>
          </a:p>
        </p:txBody>
      </p:sp>
      <p:sp>
        <p:nvSpPr>
          <p:cNvPr id="40" name="C2-E22 text 38" descr="sci-ppt:o038"/>
          <p:cNvSpPr txBox="1"/>
          <p:nvPr/>
        </p:nvSpPr>
        <p:spPr>
          <a:xfrm>
            <a:off x="10329062" y="473659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= U̇_b</a:t>
            </a:r>
          </a:p>
        </p:txBody>
      </p:sp>
      <p:sp>
        <p:nvSpPr>
          <p:cNvPr id="41" name="C2-E22 text 39" descr="sci-ppt:o039"/>
          <p:cNvSpPr txBox="1"/>
          <p:nvPr/>
        </p:nvSpPr>
        <p:spPr>
          <a:xfrm>
            <a:off x="6492240" y="5349240"/>
            <a:ext cx="53035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U̇_b = Q̇_b − p_b V̇_b + Σ hᵥ,s ṁᵥ,s. Transported enthalpy and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conduction are different terms.</a:t>
            </a:r>
          </a:p>
        </p:txBody>
      </p:sp>
      <p:sp>
        <p:nvSpPr>
          <p:cNvPr id="42" name="C2-E22 text 40" descr="sci-ppt:o040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First law of Eq. C2-E22; the numbers in the ledger are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