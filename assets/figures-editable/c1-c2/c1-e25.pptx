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C1-E25 · Declared impulse calculation and applicability diagnostics</a:t>
            </a:r>
          </a:p>
        </p:txBody>
      </p:sp>
      <p:sp>
        <p:nvSpPr>
          <p:cNvPr id="3" name="C1-E25 text 1" descr="sci-ppt:o001"/>
          <p:cNvSpPr txBox="1"/>
          <p:nvPr/>
        </p:nvSpPr>
        <p:spPr>
          <a:xfrm>
            <a:off x="457200" y="914400"/>
            <a:ext cx="1124712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Time scales of the declared impulse case (log axis, µs)</a:t>
            </a:r>
          </a:p>
        </p:txBody>
      </p:sp>
      <p:cxnSp>
        <p:nvCxnSpPr>
          <p:cNvPr id="4" name="C1-E25 line 2" descr="sci-ppt:o002"/>
          <p:cNvCxnSpPr/>
          <p:nvPr/>
        </p:nvCxnSpPr>
        <p:spPr>
          <a:xfrm>
            <a:off x="914400" y="3108960"/>
            <a:ext cx="103327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5" name="C1-E25 line 3" descr="sci-ppt:o003"/>
          <p:cNvCxnSpPr/>
          <p:nvPr/>
        </p:nvCxnSpPr>
        <p:spPr>
          <a:xfrm>
            <a:off x="914400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6" name="C1-E25 text 4" descr="sci-ppt:o004"/>
          <p:cNvSpPr txBox="1"/>
          <p:nvPr/>
        </p:nvSpPr>
        <p:spPr>
          <a:xfrm>
            <a:off x="457200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10⁻²</a:t>
            </a:r>
          </a:p>
        </p:txBody>
      </p:sp>
      <p:cxnSp>
        <p:nvCxnSpPr>
          <p:cNvPr id="7" name="C1-E25 line 5" descr="sci-ppt:o005"/>
          <p:cNvCxnSpPr/>
          <p:nvPr/>
        </p:nvCxnSpPr>
        <p:spPr>
          <a:xfrm>
            <a:off x="2390502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8" name="C1-E25 text 6" descr="sci-ppt:o006"/>
          <p:cNvSpPr txBox="1"/>
          <p:nvPr/>
        </p:nvSpPr>
        <p:spPr>
          <a:xfrm>
            <a:off x="1933302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10⁻¹</a:t>
            </a:r>
          </a:p>
        </p:txBody>
      </p:sp>
      <p:cxnSp>
        <p:nvCxnSpPr>
          <p:cNvPr id="9" name="C1-E25 line 7" descr="sci-ppt:o007"/>
          <p:cNvCxnSpPr/>
          <p:nvPr/>
        </p:nvCxnSpPr>
        <p:spPr>
          <a:xfrm>
            <a:off x="3866605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0" name="C1-E25 text 8" descr="sci-ppt:o008"/>
          <p:cNvSpPr txBox="1"/>
          <p:nvPr/>
        </p:nvSpPr>
        <p:spPr>
          <a:xfrm>
            <a:off x="3409405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10⁰</a:t>
            </a:r>
          </a:p>
        </p:txBody>
      </p:sp>
      <p:cxnSp>
        <p:nvCxnSpPr>
          <p:cNvPr id="11" name="C1-E25 line 9" descr="sci-ppt:o009"/>
          <p:cNvCxnSpPr/>
          <p:nvPr/>
        </p:nvCxnSpPr>
        <p:spPr>
          <a:xfrm>
            <a:off x="5342708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2" name="C1-E25 text 10" descr="sci-ppt:o010"/>
          <p:cNvSpPr txBox="1"/>
          <p:nvPr/>
        </p:nvSpPr>
        <p:spPr>
          <a:xfrm>
            <a:off x="4885508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10¹</a:t>
            </a:r>
          </a:p>
        </p:txBody>
      </p:sp>
      <p:cxnSp>
        <p:nvCxnSpPr>
          <p:cNvPr id="13" name="C1-E25 line 11" descr="sci-ppt:o011"/>
          <p:cNvCxnSpPr/>
          <p:nvPr/>
        </p:nvCxnSpPr>
        <p:spPr>
          <a:xfrm>
            <a:off x="6818811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4" name="C1-E25 text 12" descr="sci-ppt:o012"/>
          <p:cNvSpPr txBox="1"/>
          <p:nvPr/>
        </p:nvSpPr>
        <p:spPr>
          <a:xfrm>
            <a:off x="6361611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10²</a:t>
            </a:r>
          </a:p>
        </p:txBody>
      </p:sp>
      <p:cxnSp>
        <p:nvCxnSpPr>
          <p:cNvPr id="15" name="C1-E25 line 13" descr="sci-ppt:o013"/>
          <p:cNvCxnSpPr/>
          <p:nvPr/>
        </p:nvCxnSpPr>
        <p:spPr>
          <a:xfrm>
            <a:off x="8294914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6" name="C1-E25 text 14" descr="sci-ppt:o014"/>
          <p:cNvSpPr txBox="1"/>
          <p:nvPr/>
        </p:nvSpPr>
        <p:spPr>
          <a:xfrm>
            <a:off x="7837714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10³</a:t>
            </a:r>
          </a:p>
        </p:txBody>
      </p:sp>
      <p:cxnSp>
        <p:nvCxnSpPr>
          <p:cNvPr id="17" name="C1-E25 line 15" descr="sci-ppt:o015"/>
          <p:cNvCxnSpPr/>
          <p:nvPr/>
        </p:nvCxnSpPr>
        <p:spPr>
          <a:xfrm>
            <a:off x="9771017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8" name="C1-E25 text 16" descr="sci-ppt:o016"/>
          <p:cNvSpPr txBox="1"/>
          <p:nvPr/>
        </p:nvSpPr>
        <p:spPr>
          <a:xfrm>
            <a:off x="9313817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10⁴</a:t>
            </a:r>
          </a:p>
        </p:txBody>
      </p:sp>
      <p:cxnSp>
        <p:nvCxnSpPr>
          <p:cNvPr id="19" name="C1-E25 line 17" descr="sci-ppt:o017"/>
          <p:cNvCxnSpPr/>
          <p:nvPr/>
        </p:nvCxnSpPr>
        <p:spPr>
          <a:xfrm>
            <a:off x="11247120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20" name="C1-E25 text 18" descr="sci-ppt:o018"/>
          <p:cNvSpPr txBox="1"/>
          <p:nvPr/>
        </p:nvSpPr>
        <p:spPr>
          <a:xfrm>
            <a:off x="10789920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10⁵</a:t>
            </a:r>
          </a:p>
        </p:txBody>
      </p:sp>
      <p:cxnSp>
        <p:nvCxnSpPr>
          <p:cNvPr id="21" name="C1-E25 line 19" descr="sci-ppt:o019"/>
          <p:cNvCxnSpPr/>
          <p:nvPr/>
        </p:nvCxnSpPr>
        <p:spPr>
          <a:xfrm flipV="1">
            <a:off x="2130894" y="2834640"/>
            <a:ext cx="0" cy="274320"/>
          </a:xfrm>
          <a:prstGeom prst="line">
            <a:avLst/>
          </a:prstGeom>
          <a:ln w="27940">
            <a:solidFill>
              <a:srgbClr val="7FC8F8"/>
            </a:solidFill>
          </a:ln>
          <a:effectLst/>
        </p:spPr>
      </p:cxnSp>
      <p:sp>
        <p:nvSpPr>
          <p:cNvPr id="22" name="C1-E25 ellipse 20" descr="sci-ppt:o020"/>
          <p:cNvSpPr/>
          <p:nvPr/>
        </p:nvSpPr>
        <p:spPr>
          <a:xfrm>
            <a:off x="2048598" y="3026664"/>
            <a:ext cx="164592" cy="164592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1-E25 text 21" descr="sci-ppt:o021"/>
          <p:cNvSpPr txBox="1"/>
          <p:nvPr/>
        </p:nvSpPr>
        <p:spPr>
          <a:xfrm>
            <a:off x="1033614" y="214884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acoustic crossing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tₐ = L/c = 0.067 µs</a:t>
            </a:r>
          </a:p>
        </p:txBody>
      </p:sp>
      <p:cxnSp>
        <p:nvCxnSpPr>
          <p:cNvPr id="24" name="C1-E25 line 22" descr="sci-ppt:o022"/>
          <p:cNvCxnSpPr/>
          <p:nvPr/>
        </p:nvCxnSpPr>
        <p:spPr>
          <a:xfrm flipV="1">
            <a:off x="3422254" y="2103120"/>
            <a:ext cx="0" cy="100584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sp>
        <p:nvSpPr>
          <p:cNvPr id="25" name="C1-E25 ellipse 23" descr="sci-ppt:o023"/>
          <p:cNvSpPr/>
          <p:nvPr/>
        </p:nvSpPr>
        <p:spPr>
          <a:xfrm>
            <a:off x="3339958" y="3026664"/>
            <a:ext cx="164592" cy="164592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1-E25 text 24" descr="sci-ppt:o024"/>
          <p:cNvSpPr txBox="1"/>
          <p:nvPr/>
        </p:nvSpPr>
        <p:spPr>
          <a:xfrm>
            <a:off x="2324974" y="141732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pulse duration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τ = 0.5 µs</a:t>
            </a:r>
          </a:p>
        </p:txBody>
      </p:sp>
      <p:cxnSp>
        <p:nvCxnSpPr>
          <p:cNvPr id="27" name="C1-E25 line 25" descr="sci-ppt:o025"/>
          <p:cNvCxnSpPr/>
          <p:nvPr/>
        </p:nvCxnSpPr>
        <p:spPr>
          <a:xfrm flipV="1">
            <a:off x="6113889" y="2834640"/>
            <a:ext cx="0" cy="274320"/>
          </a:xfrm>
          <a:prstGeom prst="line">
            <a:avLst/>
          </a:prstGeom>
          <a:ln w="27940">
            <a:solidFill>
              <a:srgbClr val="F2B880"/>
            </a:solidFill>
          </a:ln>
          <a:effectLst/>
        </p:spPr>
      </p:cxnSp>
      <p:sp>
        <p:nvSpPr>
          <p:cNvPr id="28" name="C1-E25 ellipse 26" descr="sci-ppt:o026"/>
          <p:cNvSpPr/>
          <p:nvPr/>
        </p:nvSpPr>
        <p:spPr>
          <a:xfrm>
            <a:off x="6031593" y="3026664"/>
            <a:ext cx="164592" cy="164592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25 text 27" descr="sci-ppt:o027"/>
          <p:cNvSpPr txBox="1"/>
          <p:nvPr/>
        </p:nvSpPr>
        <p:spPr>
          <a:xfrm>
            <a:off x="5016609" y="214884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convective time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L/U = 33 µs</a:t>
            </a:r>
          </a:p>
        </p:txBody>
      </p:sp>
      <p:cxnSp>
        <p:nvCxnSpPr>
          <p:cNvPr id="30" name="C1-E25 line 28" descr="sci-ppt:o028"/>
          <p:cNvCxnSpPr/>
          <p:nvPr/>
        </p:nvCxnSpPr>
        <p:spPr>
          <a:xfrm flipV="1">
            <a:off x="9771017" y="2103120"/>
            <a:ext cx="0" cy="1005840"/>
          </a:xfrm>
          <a:prstGeom prst="line">
            <a:avLst/>
          </a:prstGeom>
          <a:ln w="27940">
            <a:solidFill>
              <a:srgbClr val="F28BA0"/>
            </a:solidFill>
          </a:ln>
          <a:effectLst/>
        </p:spPr>
      </p:cxnSp>
      <p:sp>
        <p:nvSpPr>
          <p:cNvPr id="31" name="C1-E25 ellipse 29" descr="sci-ppt:o029"/>
          <p:cNvSpPr/>
          <p:nvPr/>
        </p:nvSpPr>
        <p:spPr>
          <a:xfrm>
            <a:off x="9688721" y="3026664"/>
            <a:ext cx="164592" cy="16459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25 text 30" descr="sci-ppt:o030"/>
          <p:cNvSpPr txBox="1"/>
          <p:nvPr/>
        </p:nvSpPr>
        <p:spPr>
          <a:xfrm>
            <a:off x="8673737" y="141732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viscous time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L²/ν = 10 ms</a:t>
            </a:r>
          </a:p>
        </p:txBody>
      </p:sp>
      <p:sp>
        <p:nvSpPr>
          <p:cNvPr id="33" name="C1-E25 text 31" descr="sci-ppt:o031"/>
          <p:cNvSpPr txBox="1"/>
          <p:nvPr/>
        </p:nvSpPr>
        <p:spPr>
          <a:xfrm>
            <a:off x="914400" y="3749039"/>
            <a:ext cx="103327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Ratios of the declared case</a:t>
            </a:r>
          </a:p>
        </p:txBody>
      </p:sp>
      <p:sp>
        <p:nvSpPr>
          <p:cNvPr id="34" name="C1-E25 round_rect 32" descr="sci-ppt:o032"/>
          <p:cNvSpPr/>
          <p:nvPr/>
        </p:nvSpPr>
        <p:spPr>
          <a:xfrm>
            <a:off x="914400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1-E25 text 33" descr="sci-ppt:o033"/>
          <p:cNvSpPr txBox="1"/>
          <p:nvPr/>
        </p:nvSpPr>
        <p:spPr>
          <a:xfrm>
            <a:off x="1005840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Uτ/L = 0.015</a:t>
            </a:r>
          </a:p>
        </p:txBody>
      </p:sp>
      <p:sp>
        <p:nvSpPr>
          <p:cNvPr id="36" name="C1-E25 text 34" descr="sci-ppt:o034"/>
          <p:cNvSpPr txBox="1"/>
          <p:nvPr/>
        </p:nvSpPr>
        <p:spPr>
          <a:xfrm>
            <a:off x="1005840" y="4617720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≪ convective time ✓</a:t>
            </a:r>
          </a:p>
        </p:txBody>
      </p:sp>
      <p:sp>
        <p:nvSpPr>
          <p:cNvPr id="37" name="C1-E25 round_rect 35" descr="sci-ppt:o035"/>
          <p:cNvSpPr/>
          <p:nvPr/>
        </p:nvSpPr>
        <p:spPr>
          <a:xfrm>
            <a:off x="4434840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25 text 36" descr="sci-ppt:o036"/>
          <p:cNvSpPr txBox="1"/>
          <p:nvPr/>
        </p:nvSpPr>
        <p:spPr>
          <a:xfrm>
            <a:off x="4526279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8BA0"/>
                </a:solidFill>
                <a:latin typeface="Arial"/>
              </a:rPr>
              <a:t>ντ/L² = 5×10⁻⁵</a:t>
            </a:r>
          </a:p>
        </p:txBody>
      </p:sp>
      <p:sp>
        <p:nvSpPr>
          <p:cNvPr id="39" name="C1-E25 text 37" descr="sci-ppt:o037"/>
          <p:cNvSpPr txBox="1"/>
          <p:nvPr/>
        </p:nvSpPr>
        <p:spPr>
          <a:xfrm>
            <a:off x="4526279" y="4617720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≪ viscous time ✓</a:t>
            </a:r>
          </a:p>
        </p:txBody>
      </p:sp>
      <p:sp>
        <p:nvSpPr>
          <p:cNvPr id="40" name="C1-E25 round_rect 38" descr="sci-ppt:o038"/>
          <p:cNvSpPr/>
          <p:nvPr/>
        </p:nvSpPr>
        <p:spPr>
          <a:xfrm>
            <a:off x="7955279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25 text 39" descr="sci-ppt:o039"/>
          <p:cNvSpPr txBox="1"/>
          <p:nvPr/>
        </p:nvSpPr>
        <p:spPr>
          <a:xfrm>
            <a:off x="8046719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FC8F8"/>
                </a:solidFill>
                <a:latin typeface="Arial"/>
              </a:rPr>
              <a:t>τ / tₐ = 7.5</a:t>
            </a:r>
          </a:p>
        </p:txBody>
      </p:sp>
      <p:sp>
        <p:nvSpPr>
          <p:cNvPr id="42" name="C1-E25 text 40" descr="sci-ppt:o040"/>
          <p:cNvSpPr txBox="1"/>
          <p:nvPr/>
        </p:nvSpPr>
        <p:spPr>
          <a:xfrm>
            <a:off x="8046719" y="4617720"/>
            <a:ext cx="310896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is longer than the acoustic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crossing, so pressure equalises along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column</a:t>
            </a:r>
          </a:p>
        </p:txBody>
      </p:sp>
      <p:sp>
        <p:nvSpPr>
          <p:cNvPr id="43" name="C1-E25 text 41" descr="sci-ppt:o041"/>
          <p:cNvSpPr txBox="1"/>
          <p:nvPr/>
        </p:nvSpPr>
        <p:spPr>
          <a:xfrm>
            <a:off x="457200" y="5806440"/>
            <a:ext cx="112471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Pressure impulse (Pa·s) and acoustic time (s) are different quantities: one measures the load delivered, the other how fast pressure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communicates.</a:t>
            </a:r>
          </a:p>
        </p:txBody>
      </p:sp>
      <p:sp>
        <p:nvSpPr>
          <p:cNvPr id="44" name="C1-E25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Π₀ = Δpτ = 0.60 MPa × 0.50 µs = 0.30 Pa·s; U = 3.0 m/s; c = 1500 m/s; L = 100 µm; ν = 10⁻⁶ m²/s.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