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0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C2-E08 · Thermal-contact boundary conditions</a:t>
            </a:r>
          </a:p>
        </p:txBody>
      </p:sp>
      <p:cxnSp>
        <p:nvCxnSpPr>
          <p:cNvPr id="3" name="C2-E08 line 1" descr="sci-ppt:o001"/>
          <p:cNvCxnSpPr/>
          <p:nvPr/>
        </p:nvCxnSpPr>
        <p:spPr>
          <a:xfrm>
            <a:off x="914400" y="502920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08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08 line 3" descr="sci-ppt:o003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08 line 4" descr="sci-ppt:o004"/>
          <p:cNvCxnSpPr/>
          <p:nvPr/>
        </p:nvCxnSpPr>
        <p:spPr>
          <a:xfrm>
            <a:off x="914400" y="502920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08 text 5" descr="sci-ppt:o005"/>
          <p:cNvSpPr txBox="1"/>
          <p:nvPr/>
        </p:nvSpPr>
        <p:spPr>
          <a:xfrm>
            <a:off x="45720" y="4946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2-E08 line 6" descr="sci-ppt:o006"/>
          <p:cNvCxnSpPr/>
          <p:nvPr/>
        </p:nvCxnSpPr>
        <p:spPr>
          <a:xfrm>
            <a:off x="850392" y="336665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08 line 7" descr="sci-ppt:o007"/>
          <p:cNvCxnSpPr/>
          <p:nvPr/>
        </p:nvCxnSpPr>
        <p:spPr>
          <a:xfrm>
            <a:off x="914400" y="3366654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08 text 8" descr="sci-ppt:o008"/>
          <p:cNvSpPr txBox="1"/>
          <p:nvPr/>
        </p:nvSpPr>
        <p:spPr>
          <a:xfrm>
            <a:off x="45720" y="328435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2-E08 line 9" descr="sci-ppt:o009"/>
          <p:cNvCxnSpPr/>
          <p:nvPr/>
        </p:nvCxnSpPr>
        <p:spPr>
          <a:xfrm>
            <a:off x="850392" y="170410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08 line 10" descr="sci-ppt:o010"/>
          <p:cNvCxnSpPr/>
          <p:nvPr/>
        </p:nvCxnSpPr>
        <p:spPr>
          <a:xfrm>
            <a:off x="914400" y="1704109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08 text 11" descr="sci-ppt:o011"/>
          <p:cNvSpPr txBox="1"/>
          <p:nvPr/>
        </p:nvSpPr>
        <p:spPr>
          <a:xfrm>
            <a:off x="45720" y="162181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14" name="C2-E08 text 12" descr="sci-ppt:o012"/>
          <p:cNvSpPr txBox="1"/>
          <p:nvPr/>
        </p:nvSpPr>
        <p:spPr>
          <a:xfrm>
            <a:off x="914400" y="5312664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position across the contact</a:t>
            </a:r>
          </a:p>
        </p:txBody>
      </p:sp>
      <p:sp>
        <p:nvSpPr>
          <p:cNvPr id="15" name="C2-E08 text 13" descr="sci-ppt:o013"/>
          <p:cNvSpPr txBox="1"/>
          <p:nvPr/>
        </p:nvSpPr>
        <p:spPr>
          <a:xfrm>
            <a:off x="365760" y="1024128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temperature (relative)</a:t>
            </a:r>
          </a:p>
        </p:txBody>
      </p:sp>
      <p:sp>
        <p:nvSpPr>
          <p:cNvPr id="16" name="C2-E08 polygon 14" descr="sci-ppt:o014"/>
          <p:cNvSpPr/>
          <p:nvPr/>
        </p:nvSpPr>
        <p:spPr>
          <a:xfrm>
            <a:off x="914400" y="1537854"/>
            <a:ext cx="3192378" cy="663352"/>
          </a:xfrm>
          <a:custGeom>
            <a:avLst/>
            <a:gdLst/>
            <a:ahLst/>
            <a:cxnLst/>
            <a:rect l="l" t="t" r="r" b="b"/>
            <a:pathLst>
              <a:path w="3192378" h="663352">
                <a:moveTo>
                  <a:pt x="0" y="0"/>
                </a:moveTo>
                <a:lnTo>
                  <a:pt x="16042" y="3333"/>
                </a:lnTo>
                <a:lnTo>
                  <a:pt x="32084" y="6667"/>
                </a:lnTo>
                <a:lnTo>
                  <a:pt x="48126" y="10000"/>
                </a:lnTo>
                <a:lnTo>
                  <a:pt x="64168" y="13334"/>
                </a:lnTo>
                <a:lnTo>
                  <a:pt x="80210" y="16667"/>
                </a:lnTo>
                <a:lnTo>
                  <a:pt x="96252" y="20001"/>
                </a:lnTo>
                <a:lnTo>
                  <a:pt x="112294" y="23334"/>
                </a:lnTo>
                <a:lnTo>
                  <a:pt x="128336" y="26667"/>
                </a:lnTo>
                <a:lnTo>
                  <a:pt x="144378" y="30001"/>
                </a:lnTo>
                <a:lnTo>
                  <a:pt x="160421" y="33334"/>
                </a:lnTo>
                <a:lnTo>
                  <a:pt x="176463" y="36668"/>
                </a:lnTo>
                <a:lnTo>
                  <a:pt x="192505" y="40001"/>
                </a:lnTo>
                <a:lnTo>
                  <a:pt x="208547" y="43335"/>
                </a:lnTo>
                <a:lnTo>
                  <a:pt x="224589" y="46668"/>
                </a:lnTo>
                <a:lnTo>
                  <a:pt x="240631" y="50001"/>
                </a:lnTo>
                <a:lnTo>
                  <a:pt x="256673" y="53335"/>
                </a:lnTo>
                <a:lnTo>
                  <a:pt x="272715" y="56668"/>
                </a:lnTo>
                <a:lnTo>
                  <a:pt x="288757" y="60002"/>
                </a:lnTo>
                <a:lnTo>
                  <a:pt x="304800" y="63335"/>
                </a:lnTo>
                <a:lnTo>
                  <a:pt x="320842" y="66669"/>
                </a:lnTo>
                <a:lnTo>
                  <a:pt x="336884" y="70002"/>
                </a:lnTo>
                <a:lnTo>
                  <a:pt x="352926" y="73335"/>
                </a:lnTo>
                <a:lnTo>
                  <a:pt x="368968" y="76669"/>
                </a:lnTo>
                <a:lnTo>
                  <a:pt x="385010" y="80002"/>
                </a:lnTo>
                <a:lnTo>
                  <a:pt x="401052" y="83336"/>
                </a:lnTo>
                <a:lnTo>
                  <a:pt x="417094" y="86669"/>
                </a:lnTo>
                <a:lnTo>
                  <a:pt x="433136" y="90003"/>
                </a:lnTo>
                <a:lnTo>
                  <a:pt x="449178" y="93336"/>
                </a:lnTo>
                <a:lnTo>
                  <a:pt x="465221" y="96669"/>
                </a:lnTo>
                <a:lnTo>
                  <a:pt x="481263" y="100003"/>
                </a:lnTo>
                <a:lnTo>
                  <a:pt x="497305" y="103336"/>
                </a:lnTo>
                <a:lnTo>
                  <a:pt x="513347" y="106670"/>
                </a:lnTo>
                <a:lnTo>
                  <a:pt x="529389" y="110003"/>
                </a:lnTo>
                <a:lnTo>
                  <a:pt x="545431" y="113336"/>
                </a:lnTo>
                <a:lnTo>
                  <a:pt x="561473" y="116670"/>
                </a:lnTo>
                <a:lnTo>
                  <a:pt x="577515" y="120003"/>
                </a:lnTo>
                <a:lnTo>
                  <a:pt x="593557" y="123337"/>
                </a:lnTo>
                <a:lnTo>
                  <a:pt x="609599" y="126670"/>
                </a:lnTo>
                <a:lnTo>
                  <a:pt x="625642" y="130004"/>
                </a:lnTo>
                <a:lnTo>
                  <a:pt x="641684" y="133337"/>
                </a:lnTo>
                <a:lnTo>
                  <a:pt x="657726" y="136670"/>
                </a:lnTo>
                <a:lnTo>
                  <a:pt x="673768" y="140004"/>
                </a:lnTo>
                <a:lnTo>
                  <a:pt x="689810" y="143337"/>
                </a:lnTo>
                <a:lnTo>
                  <a:pt x="705852" y="146671"/>
                </a:lnTo>
                <a:lnTo>
                  <a:pt x="721894" y="150004"/>
                </a:lnTo>
                <a:lnTo>
                  <a:pt x="737936" y="153338"/>
                </a:lnTo>
                <a:lnTo>
                  <a:pt x="753978" y="156671"/>
                </a:lnTo>
                <a:lnTo>
                  <a:pt x="770021" y="160004"/>
                </a:lnTo>
                <a:lnTo>
                  <a:pt x="786063" y="163338"/>
                </a:lnTo>
                <a:lnTo>
                  <a:pt x="802105" y="166671"/>
                </a:lnTo>
                <a:lnTo>
                  <a:pt x="818147" y="170005"/>
                </a:lnTo>
                <a:lnTo>
                  <a:pt x="834189" y="173338"/>
                </a:lnTo>
                <a:lnTo>
                  <a:pt x="850231" y="176672"/>
                </a:lnTo>
                <a:lnTo>
                  <a:pt x="866273" y="180005"/>
                </a:lnTo>
                <a:lnTo>
                  <a:pt x="882315" y="183338"/>
                </a:lnTo>
                <a:lnTo>
                  <a:pt x="898357" y="186672"/>
                </a:lnTo>
                <a:lnTo>
                  <a:pt x="914400" y="190005"/>
                </a:lnTo>
                <a:lnTo>
                  <a:pt x="930442" y="193339"/>
                </a:lnTo>
                <a:lnTo>
                  <a:pt x="946484" y="196672"/>
                </a:lnTo>
                <a:lnTo>
                  <a:pt x="962526" y="200006"/>
                </a:lnTo>
                <a:lnTo>
                  <a:pt x="978568" y="203339"/>
                </a:lnTo>
                <a:lnTo>
                  <a:pt x="994610" y="206672"/>
                </a:lnTo>
                <a:lnTo>
                  <a:pt x="1010652" y="210006"/>
                </a:lnTo>
                <a:lnTo>
                  <a:pt x="1026694" y="213339"/>
                </a:lnTo>
                <a:lnTo>
                  <a:pt x="1042736" y="216673"/>
                </a:lnTo>
                <a:lnTo>
                  <a:pt x="1058778" y="220006"/>
                </a:lnTo>
                <a:lnTo>
                  <a:pt x="1074821" y="223339"/>
                </a:lnTo>
                <a:lnTo>
                  <a:pt x="1090863" y="226673"/>
                </a:lnTo>
                <a:lnTo>
                  <a:pt x="1106905" y="230006"/>
                </a:lnTo>
                <a:lnTo>
                  <a:pt x="1122947" y="233340"/>
                </a:lnTo>
                <a:lnTo>
                  <a:pt x="1138989" y="236673"/>
                </a:lnTo>
                <a:lnTo>
                  <a:pt x="1155031" y="240007"/>
                </a:lnTo>
                <a:lnTo>
                  <a:pt x="1171073" y="243340"/>
                </a:lnTo>
                <a:lnTo>
                  <a:pt x="1187115" y="246673"/>
                </a:lnTo>
                <a:lnTo>
                  <a:pt x="1203157" y="250007"/>
                </a:lnTo>
                <a:lnTo>
                  <a:pt x="1219199" y="253340"/>
                </a:lnTo>
                <a:lnTo>
                  <a:pt x="1235242" y="256674"/>
                </a:lnTo>
                <a:lnTo>
                  <a:pt x="1251284" y="260007"/>
                </a:lnTo>
                <a:lnTo>
                  <a:pt x="1267326" y="263341"/>
                </a:lnTo>
                <a:lnTo>
                  <a:pt x="1283368" y="266674"/>
                </a:lnTo>
                <a:lnTo>
                  <a:pt x="1299410" y="270007"/>
                </a:lnTo>
                <a:lnTo>
                  <a:pt x="1315452" y="273341"/>
                </a:lnTo>
                <a:lnTo>
                  <a:pt x="1331494" y="276674"/>
                </a:lnTo>
                <a:lnTo>
                  <a:pt x="1347536" y="280008"/>
                </a:lnTo>
                <a:lnTo>
                  <a:pt x="1363578" y="283341"/>
                </a:lnTo>
                <a:lnTo>
                  <a:pt x="1379621" y="286675"/>
                </a:lnTo>
                <a:lnTo>
                  <a:pt x="1395663" y="290008"/>
                </a:lnTo>
                <a:lnTo>
                  <a:pt x="1411705" y="293341"/>
                </a:lnTo>
                <a:lnTo>
                  <a:pt x="1427747" y="296675"/>
                </a:lnTo>
                <a:lnTo>
                  <a:pt x="1443789" y="300008"/>
                </a:lnTo>
                <a:lnTo>
                  <a:pt x="1459831" y="303342"/>
                </a:lnTo>
                <a:lnTo>
                  <a:pt x="1475873" y="306675"/>
                </a:lnTo>
                <a:lnTo>
                  <a:pt x="1491915" y="310009"/>
                </a:lnTo>
                <a:lnTo>
                  <a:pt x="1507957" y="313342"/>
                </a:lnTo>
                <a:lnTo>
                  <a:pt x="1524000" y="316675"/>
                </a:lnTo>
                <a:lnTo>
                  <a:pt x="1540042" y="320009"/>
                </a:lnTo>
                <a:lnTo>
                  <a:pt x="1556084" y="323342"/>
                </a:lnTo>
                <a:lnTo>
                  <a:pt x="1572126" y="326676"/>
                </a:lnTo>
                <a:lnTo>
                  <a:pt x="1588168" y="330009"/>
                </a:lnTo>
                <a:lnTo>
                  <a:pt x="1604210" y="333342"/>
                </a:lnTo>
                <a:lnTo>
                  <a:pt x="1620252" y="336676"/>
                </a:lnTo>
                <a:lnTo>
                  <a:pt x="1636294" y="340009"/>
                </a:lnTo>
                <a:lnTo>
                  <a:pt x="1652336" y="343343"/>
                </a:lnTo>
                <a:lnTo>
                  <a:pt x="1668378" y="346676"/>
                </a:lnTo>
                <a:lnTo>
                  <a:pt x="1684421" y="350010"/>
                </a:lnTo>
                <a:lnTo>
                  <a:pt x="1700463" y="353343"/>
                </a:lnTo>
                <a:lnTo>
                  <a:pt x="1716505" y="356676"/>
                </a:lnTo>
                <a:lnTo>
                  <a:pt x="1732547" y="360010"/>
                </a:lnTo>
                <a:lnTo>
                  <a:pt x="1748589" y="363343"/>
                </a:lnTo>
                <a:lnTo>
                  <a:pt x="1764631" y="366677"/>
                </a:lnTo>
                <a:lnTo>
                  <a:pt x="1780673" y="370010"/>
                </a:lnTo>
                <a:lnTo>
                  <a:pt x="1796715" y="373344"/>
                </a:lnTo>
                <a:lnTo>
                  <a:pt x="1812757" y="376677"/>
                </a:lnTo>
                <a:lnTo>
                  <a:pt x="1828800" y="380010"/>
                </a:lnTo>
                <a:lnTo>
                  <a:pt x="1844842" y="383344"/>
                </a:lnTo>
                <a:lnTo>
                  <a:pt x="1860884" y="386677"/>
                </a:lnTo>
                <a:lnTo>
                  <a:pt x="1876926" y="390011"/>
                </a:lnTo>
                <a:lnTo>
                  <a:pt x="1892968" y="393344"/>
                </a:lnTo>
                <a:lnTo>
                  <a:pt x="1909010" y="396678"/>
                </a:lnTo>
                <a:lnTo>
                  <a:pt x="1925052" y="400011"/>
                </a:lnTo>
                <a:lnTo>
                  <a:pt x="1941094" y="403344"/>
                </a:lnTo>
                <a:lnTo>
                  <a:pt x="1957136" y="406678"/>
                </a:lnTo>
                <a:lnTo>
                  <a:pt x="1973178" y="410011"/>
                </a:lnTo>
                <a:lnTo>
                  <a:pt x="1989221" y="413345"/>
                </a:lnTo>
                <a:lnTo>
                  <a:pt x="2005263" y="416678"/>
                </a:lnTo>
                <a:lnTo>
                  <a:pt x="2021305" y="420012"/>
                </a:lnTo>
                <a:lnTo>
                  <a:pt x="2037347" y="423345"/>
                </a:lnTo>
                <a:lnTo>
                  <a:pt x="2053389" y="426678"/>
                </a:lnTo>
                <a:lnTo>
                  <a:pt x="2069431" y="430012"/>
                </a:lnTo>
                <a:lnTo>
                  <a:pt x="2085473" y="433345"/>
                </a:lnTo>
                <a:lnTo>
                  <a:pt x="2101515" y="436679"/>
                </a:lnTo>
                <a:lnTo>
                  <a:pt x="2117557" y="440012"/>
                </a:lnTo>
                <a:lnTo>
                  <a:pt x="2133599" y="443346"/>
                </a:lnTo>
                <a:lnTo>
                  <a:pt x="2149642" y="446679"/>
                </a:lnTo>
                <a:lnTo>
                  <a:pt x="2165684" y="450012"/>
                </a:lnTo>
                <a:lnTo>
                  <a:pt x="2181726" y="453346"/>
                </a:lnTo>
                <a:lnTo>
                  <a:pt x="2197768" y="456679"/>
                </a:lnTo>
                <a:lnTo>
                  <a:pt x="2213810" y="460013"/>
                </a:lnTo>
                <a:lnTo>
                  <a:pt x="2229852" y="463346"/>
                </a:lnTo>
                <a:lnTo>
                  <a:pt x="2245894" y="466679"/>
                </a:lnTo>
                <a:lnTo>
                  <a:pt x="2261936" y="470013"/>
                </a:lnTo>
                <a:lnTo>
                  <a:pt x="2277978" y="473346"/>
                </a:lnTo>
                <a:lnTo>
                  <a:pt x="2294021" y="476680"/>
                </a:lnTo>
                <a:lnTo>
                  <a:pt x="2310063" y="480013"/>
                </a:lnTo>
                <a:lnTo>
                  <a:pt x="2326105" y="483347"/>
                </a:lnTo>
                <a:lnTo>
                  <a:pt x="2342147" y="486680"/>
                </a:lnTo>
                <a:lnTo>
                  <a:pt x="2358189" y="490013"/>
                </a:lnTo>
                <a:lnTo>
                  <a:pt x="2374231" y="493347"/>
                </a:lnTo>
                <a:lnTo>
                  <a:pt x="2390273" y="496680"/>
                </a:lnTo>
                <a:lnTo>
                  <a:pt x="2406315" y="500014"/>
                </a:lnTo>
                <a:lnTo>
                  <a:pt x="2422357" y="503347"/>
                </a:lnTo>
                <a:lnTo>
                  <a:pt x="2438400" y="506681"/>
                </a:lnTo>
                <a:lnTo>
                  <a:pt x="2454442" y="510014"/>
                </a:lnTo>
                <a:lnTo>
                  <a:pt x="2470484" y="513347"/>
                </a:lnTo>
                <a:lnTo>
                  <a:pt x="2486526" y="516681"/>
                </a:lnTo>
                <a:lnTo>
                  <a:pt x="2502568" y="520014"/>
                </a:lnTo>
                <a:lnTo>
                  <a:pt x="2518610" y="523348"/>
                </a:lnTo>
                <a:lnTo>
                  <a:pt x="2534652" y="526681"/>
                </a:lnTo>
                <a:lnTo>
                  <a:pt x="2550694" y="530015"/>
                </a:lnTo>
                <a:lnTo>
                  <a:pt x="2566736" y="533348"/>
                </a:lnTo>
                <a:lnTo>
                  <a:pt x="2582778" y="536681"/>
                </a:lnTo>
                <a:lnTo>
                  <a:pt x="2598821" y="540015"/>
                </a:lnTo>
                <a:lnTo>
                  <a:pt x="2614863" y="543348"/>
                </a:lnTo>
                <a:lnTo>
                  <a:pt x="2630905" y="546682"/>
                </a:lnTo>
                <a:lnTo>
                  <a:pt x="2646947" y="550015"/>
                </a:lnTo>
                <a:lnTo>
                  <a:pt x="2662989" y="553349"/>
                </a:lnTo>
                <a:lnTo>
                  <a:pt x="2679031" y="556682"/>
                </a:lnTo>
                <a:lnTo>
                  <a:pt x="2695073" y="560015"/>
                </a:lnTo>
                <a:lnTo>
                  <a:pt x="2711115" y="563349"/>
                </a:lnTo>
                <a:lnTo>
                  <a:pt x="2727157" y="566682"/>
                </a:lnTo>
                <a:lnTo>
                  <a:pt x="2743200" y="570016"/>
                </a:lnTo>
                <a:lnTo>
                  <a:pt x="2759242" y="573349"/>
                </a:lnTo>
                <a:lnTo>
                  <a:pt x="2775284" y="576682"/>
                </a:lnTo>
                <a:lnTo>
                  <a:pt x="2791326" y="580016"/>
                </a:lnTo>
                <a:lnTo>
                  <a:pt x="2807368" y="583349"/>
                </a:lnTo>
                <a:lnTo>
                  <a:pt x="2823410" y="586683"/>
                </a:lnTo>
                <a:lnTo>
                  <a:pt x="2839452" y="590016"/>
                </a:lnTo>
                <a:lnTo>
                  <a:pt x="2855494" y="593350"/>
                </a:lnTo>
                <a:lnTo>
                  <a:pt x="2871536" y="596683"/>
                </a:lnTo>
                <a:lnTo>
                  <a:pt x="2887578" y="600016"/>
                </a:lnTo>
                <a:lnTo>
                  <a:pt x="2903621" y="603350"/>
                </a:lnTo>
                <a:lnTo>
                  <a:pt x="2919663" y="606683"/>
                </a:lnTo>
                <a:lnTo>
                  <a:pt x="2935705" y="610017"/>
                </a:lnTo>
                <a:lnTo>
                  <a:pt x="2951747" y="613350"/>
                </a:lnTo>
                <a:lnTo>
                  <a:pt x="2967789" y="616684"/>
                </a:lnTo>
                <a:lnTo>
                  <a:pt x="2983831" y="620017"/>
                </a:lnTo>
                <a:lnTo>
                  <a:pt x="2999873" y="623350"/>
                </a:lnTo>
                <a:lnTo>
                  <a:pt x="3015915" y="626684"/>
                </a:lnTo>
                <a:lnTo>
                  <a:pt x="3031957" y="630017"/>
                </a:lnTo>
                <a:lnTo>
                  <a:pt x="3047999" y="633351"/>
                </a:lnTo>
                <a:lnTo>
                  <a:pt x="3064042" y="636684"/>
                </a:lnTo>
                <a:lnTo>
                  <a:pt x="3080084" y="640018"/>
                </a:lnTo>
                <a:lnTo>
                  <a:pt x="3096126" y="643351"/>
                </a:lnTo>
                <a:lnTo>
                  <a:pt x="3112168" y="646684"/>
                </a:lnTo>
                <a:lnTo>
                  <a:pt x="3128210" y="650018"/>
                </a:lnTo>
                <a:lnTo>
                  <a:pt x="3144252" y="653351"/>
                </a:lnTo>
                <a:lnTo>
                  <a:pt x="3160294" y="656685"/>
                </a:lnTo>
                <a:lnTo>
                  <a:pt x="3176336" y="660018"/>
                </a:lnTo>
                <a:lnTo>
                  <a:pt x="3192378" y="663352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C2-E08 polygon 15" descr="sci-ppt:o015"/>
          <p:cNvSpPr/>
          <p:nvPr/>
        </p:nvSpPr>
        <p:spPr>
          <a:xfrm>
            <a:off x="4122821" y="3368321"/>
            <a:ext cx="3192379" cy="663351"/>
          </a:xfrm>
          <a:custGeom>
            <a:avLst/>
            <a:gdLst/>
            <a:ahLst/>
            <a:cxnLst/>
            <a:rect l="l" t="t" r="r" b="b"/>
            <a:pathLst>
              <a:path w="3192379" h="663351">
                <a:moveTo>
                  <a:pt x="0" y="0"/>
                </a:moveTo>
                <a:lnTo>
                  <a:pt x="16042" y="3333"/>
                </a:lnTo>
                <a:lnTo>
                  <a:pt x="32084" y="6667"/>
                </a:lnTo>
                <a:lnTo>
                  <a:pt x="48126" y="10000"/>
                </a:lnTo>
                <a:lnTo>
                  <a:pt x="64168" y="13333"/>
                </a:lnTo>
                <a:lnTo>
                  <a:pt x="80210" y="16667"/>
                </a:lnTo>
                <a:lnTo>
                  <a:pt x="96252" y="20000"/>
                </a:lnTo>
                <a:lnTo>
                  <a:pt x="112294" y="23334"/>
                </a:lnTo>
                <a:lnTo>
                  <a:pt x="128336" y="26667"/>
                </a:lnTo>
                <a:lnTo>
                  <a:pt x="144378" y="30001"/>
                </a:lnTo>
                <a:lnTo>
                  <a:pt x="160421" y="33334"/>
                </a:lnTo>
                <a:lnTo>
                  <a:pt x="176463" y="36667"/>
                </a:lnTo>
                <a:lnTo>
                  <a:pt x="192505" y="40001"/>
                </a:lnTo>
                <a:lnTo>
                  <a:pt x="208547" y="43334"/>
                </a:lnTo>
                <a:lnTo>
                  <a:pt x="224589" y="46668"/>
                </a:lnTo>
                <a:lnTo>
                  <a:pt x="240631" y="50001"/>
                </a:lnTo>
                <a:lnTo>
                  <a:pt x="256673" y="53335"/>
                </a:lnTo>
                <a:lnTo>
                  <a:pt x="272715" y="56668"/>
                </a:lnTo>
                <a:lnTo>
                  <a:pt x="288757" y="60001"/>
                </a:lnTo>
                <a:lnTo>
                  <a:pt x="304800" y="63335"/>
                </a:lnTo>
                <a:lnTo>
                  <a:pt x="320842" y="66668"/>
                </a:lnTo>
                <a:lnTo>
                  <a:pt x="336884" y="70002"/>
                </a:lnTo>
                <a:lnTo>
                  <a:pt x="352926" y="73335"/>
                </a:lnTo>
                <a:lnTo>
                  <a:pt x="368968" y="76669"/>
                </a:lnTo>
                <a:lnTo>
                  <a:pt x="385010" y="80002"/>
                </a:lnTo>
                <a:lnTo>
                  <a:pt x="401052" y="83335"/>
                </a:lnTo>
                <a:lnTo>
                  <a:pt x="417094" y="86669"/>
                </a:lnTo>
                <a:lnTo>
                  <a:pt x="433136" y="90002"/>
                </a:lnTo>
                <a:lnTo>
                  <a:pt x="449179" y="93336"/>
                </a:lnTo>
                <a:lnTo>
                  <a:pt x="465221" y="96669"/>
                </a:lnTo>
                <a:lnTo>
                  <a:pt x="481263" y="100002"/>
                </a:lnTo>
                <a:lnTo>
                  <a:pt x="497305" y="103336"/>
                </a:lnTo>
                <a:lnTo>
                  <a:pt x="513347" y="106669"/>
                </a:lnTo>
                <a:lnTo>
                  <a:pt x="529389" y="110003"/>
                </a:lnTo>
                <a:lnTo>
                  <a:pt x="545431" y="113336"/>
                </a:lnTo>
                <a:lnTo>
                  <a:pt x="561473" y="116670"/>
                </a:lnTo>
                <a:lnTo>
                  <a:pt x="577515" y="120003"/>
                </a:lnTo>
                <a:lnTo>
                  <a:pt x="593557" y="123336"/>
                </a:lnTo>
                <a:lnTo>
                  <a:pt x="609600" y="126670"/>
                </a:lnTo>
                <a:lnTo>
                  <a:pt x="625642" y="130003"/>
                </a:lnTo>
                <a:lnTo>
                  <a:pt x="641684" y="133337"/>
                </a:lnTo>
                <a:lnTo>
                  <a:pt x="657726" y="136670"/>
                </a:lnTo>
                <a:lnTo>
                  <a:pt x="673768" y="140004"/>
                </a:lnTo>
                <a:lnTo>
                  <a:pt x="689810" y="143337"/>
                </a:lnTo>
                <a:lnTo>
                  <a:pt x="705852" y="146670"/>
                </a:lnTo>
                <a:lnTo>
                  <a:pt x="721894" y="150004"/>
                </a:lnTo>
                <a:lnTo>
                  <a:pt x="737936" y="153337"/>
                </a:lnTo>
                <a:lnTo>
                  <a:pt x="753979" y="156671"/>
                </a:lnTo>
                <a:lnTo>
                  <a:pt x="770021" y="160004"/>
                </a:lnTo>
                <a:lnTo>
                  <a:pt x="786063" y="163338"/>
                </a:lnTo>
                <a:lnTo>
                  <a:pt x="802105" y="166671"/>
                </a:lnTo>
                <a:lnTo>
                  <a:pt x="818147" y="170004"/>
                </a:lnTo>
                <a:lnTo>
                  <a:pt x="834189" y="173338"/>
                </a:lnTo>
                <a:lnTo>
                  <a:pt x="850231" y="176671"/>
                </a:lnTo>
                <a:lnTo>
                  <a:pt x="866273" y="180005"/>
                </a:lnTo>
                <a:lnTo>
                  <a:pt x="882315" y="183338"/>
                </a:lnTo>
                <a:lnTo>
                  <a:pt x="898357" y="186672"/>
                </a:lnTo>
                <a:lnTo>
                  <a:pt x="914400" y="190005"/>
                </a:lnTo>
                <a:lnTo>
                  <a:pt x="930442" y="193338"/>
                </a:lnTo>
                <a:lnTo>
                  <a:pt x="946484" y="196672"/>
                </a:lnTo>
                <a:lnTo>
                  <a:pt x="962526" y="200005"/>
                </a:lnTo>
                <a:lnTo>
                  <a:pt x="978568" y="203339"/>
                </a:lnTo>
                <a:lnTo>
                  <a:pt x="994610" y="206672"/>
                </a:lnTo>
                <a:lnTo>
                  <a:pt x="1010652" y="210005"/>
                </a:lnTo>
                <a:lnTo>
                  <a:pt x="1026694" y="213339"/>
                </a:lnTo>
                <a:lnTo>
                  <a:pt x="1042736" y="216672"/>
                </a:lnTo>
                <a:lnTo>
                  <a:pt x="1058778" y="220006"/>
                </a:lnTo>
                <a:lnTo>
                  <a:pt x="1074821" y="223339"/>
                </a:lnTo>
                <a:lnTo>
                  <a:pt x="1090863" y="226673"/>
                </a:lnTo>
                <a:lnTo>
                  <a:pt x="1106905" y="230006"/>
                </a:lnTo>
                <a:lnTo>
                  <a:pt x="1122947" y="233339"/>
                </a:lnTo>
                <a:lnTo>
                  <a:pt x="1138989" y="236673"/>
                </a:lnTo>
                <a:lnTo>
                  <a:pt x="1155031" y="240006"/>
                </a:lnTo>
                <a:lnTo>
                  <a:pt x="1171073" y="243340"/>
                </a:lnTo>
                <a:lnTo>
                  <a:pt x="1187115" y="246673"/>
                </a:lnTo>
                <a:lnTo>
                  <a:pt x="1203157" y="250007"/>
                </a:lnTo>
                <a:lnTo>
                  <a:pt x="1219200" y="253340"/>
                </a:lnTo>
                <a:lnTo>
                  <a:pt x="1235242" y="256673"/>
                </a:lnTo>
                <a:lnTo>
                  <a:pt x="1251284" y="260007"/>
                </a:lnTo>
                <a:lnTo>
                  <a:pt x="1267326" y="263340"/>
                </a:lnTo>
                <a:lnTo>
                  <a:pt x="1283368" y="266674"/>
                </a:lnTo>
                <a:lnTo>
                  <a:pt x="1299410" y="270007"/>
                </a:lnTo>
                <a:lnTo>
                  <a:pt x="1315452" y="273341"/>
                </a:lnTo>
                <a:lnTo>
                  <a:pt x="1331494" y="276674"/>
                </a:lnTo>
                <a:lnTo>
                  <a:pt x="1347536" y="280007"/>
                </a:lnTo>
                <a:lnTo>
                  <a:pt x="1363578" y="283341"/>
                </a:lnTo>
                <a:lnTo>
                  <a:pt x="1379621" y="286674"/>
                </a:lnTo>
                <a:lnTo>
                  <a:pt x="1395663" y="290008"/>
                </a:lnTo>
                <a:lnTo>
                  <a:pt x="1411705" y="293341"/>
                </a:lnTo>
                <a:lnTo>
                  <a:pt x="1427747" y="296675"/>
                </a:lnTo>
                <a:lnTo>
                  <a:pt x="1443789" y="300008"/>
                </a:lnTo>
                <a:lnTo>
                  <a:pt x="1459831" y="303341"/>
                </a:lnTo>
                <a:lnTo>
                  <a:pt x="1475873" y="306675"/>
                </a:lnTo>
                <a:lnTo>
                  <a:pt x="1491915" y="310008"/>
                </a:lnTo>
                <a:lnTo>
                  <a:pt x="1507957" y="313342"/>
                </a:lnTo>
                <a:lnTo>
                  <a:pt x="1524000" y="316675"/>
                </a:lnTo>
                <a:lnTo>
                  <a:pt x="1540042" y="320009"/>
                </a:lnTo>
                <a:lnTo>
                  <a:pt x="1556084" y="323342"/>
                </a:lnTo>
                <a:lnTo>
                  <a:pt x="1572126" y="326675"/>
                </a:lnTo>
                <a:lnTo>
                  <a:pt x="1588168" y="330009"/>
                </a:lnTo>
                <a:lnTo>
                  <a:pt x="1604210" y="333342"/>
                </a:lnTo>
                <a:lnTo>
                  <a:pt x="1620252" y="336676"/>
                </a:lnTo>
                <a:lnTo>
                  <a:pt x="1636294" y="340009"/>
                </a:lnTo>
                <a:lnTo>
                  <a:pt x="1652336" y="343342"/>
                </a:lnTo>
                <a:lnTo>
                  <a:pt x="1668379" y="346676"/>
                </a:lnTo>
                <a:lnTo>
                  <a:pt x="1684421" y="350009"/>
                </a:lnTo>
                <a:lnTo>
                  <a:pt x="1700463" y="353343"/>
                </a:lnTo>
                <a:lnTo>
                  <a:pt x="1716505" y="356676"/>
                </a:lnTo>
                <a:lnTo>
                  <a:pt x="1732547" y="360010"/>
                </a:lnTo>
                <a:lnTo>
                  <a:pt x="1748589" y="363343"/>
                </a:lnTo>
                <a:lnTo>
                  <a:pt x="1764631" y="366676"/>
                </a:lnTo>
                <a:lnTo>
                  <a:pt x="1780673" y="370010"/>
                </a:lnTo>
                <a:lnTo>
                  <a:pt x="1796715" y="373343"/>
                </a:lnTo>
                <a:lnTo>
                  <a:pt x="1812757" y="376677"/>
                </a:lnTo>
                <a:lnTo>
                  <a:pt x="1828800" y="380010"/>
                </a:lnTo>
                <a:lnTo>
                  <a:pt x="1844842" y="383344"/>
                </a:lnTo>
                <a:lnTo>
                  <a:pt x="1860884" y="386677"/>
                </a:lnTo>
                <a:lnTo>
                  <a:pt x="1876926" y="390010"/>
                </a:lnTo>
                <a:lnTo>
                  <a:pt x="1892968" y="393344"/>
                </a:lnTo>
                <a:lnTo>
                  <a:pt x="1909010" y="396677"/>
                </a:lnTo>
                <a:lnTo>
                  <a:pt x="1925052" y="400011"/>
                </a:lnTo>
                <a:lnTo>
                  <a:pt x="1941094" y="403344"/>
                </a:lnTo>
                <a:lnTo>
                  <a:pt x="1957136" y="406678"/>
                </a:lnTo>
                <a:lnTo>
                  <a:pt x="1973179" y="410011"/>
                </a:lnTo>
                <a:lnTo>
                  <a:pt x="1989221" y="413344"/>
                </a:lnTo>
                <a:lnTo>
                  <a:pt x="2005263" y="416678"/>
                </a:lnTo>
                <a:lnTo>
                  <a:pt x="2021305" y="420011"/>
                </a:lnTo>
                <a:lnTo>
                  <a:pt x="2037347" y="423345"/>
                </a:lnTo>
                <a:lnTo>
                  <a:pt x="2053389" y="426678"/>
                </a:lnTo>
                <a:lnTo>
                  <a:pt x="2069431" y="430012"/>
                </a:lnTo>
                <a:lnTo>
                  <a:pt x="2085473" y="433345"/>
                </a:lnTo>
                <a:lnTo>
                  <a:pt x="2101515" y="436678"/>
                </a:lnTo>
                <a:lnTo>
                  <a:pt x="2117557" y="440012"/>
                </a:lnTo>
                <a:lnTo>
                  <a:pt x="2133600" y="443345"/>
                </a:lnTo>
                <a:lnTo>
                  <a:pt x="2149642" y="446679"/>
                </a:lnTo>
                <a:lnTo>
                  <a:pt x="2165684" y="450012"/>
                </a:lnTo>
                <a:lnTo>
                  <a:pt x="2181726" y="453345"/>
                </a:lnTo>
                <a:lnTo>
                  <a:pt x="2197768" y="456679"/>
                </a:lnTo>
                <a:lnTo>
                  <a:pt x="2213810" y="460012"/>
                </a:lnTo>
                <a:lnTo>
                  <a:pt x="2229852" y="463346"/>
                </a:lnTo>
                <a:lnTo>
                  <a:pt x="2245894" y="466679"/>
                </a:lnTo>
                <a:lnTo>
                  <a:pt x="2261936" y="470013"/>
                </a:lnTo>
                <a:lnTo>
                  <a:pt x="2277979" y="473346"/>
                </a:lnTo>
                <a:lnTo>
                  <a:pt x="2294021" y="476679"/>
                </a:lnTo>
                <a:lnTo>
                  <a:pt x="2310063" y="480013"/>
                </a:lnTo>
                <a:lnTo>
                  <a:pt x="2326105" y="483346"/>
                </a:lnTo>
                <a:lnTo>
                  <a:pt x="2342147" y="486680"/>
                </a:lnTo>
                <a:lnTo>
                  <a:pt x="2358189" y="490013"/>
                </a:lnTo>
                <a:lnTo>
                  <a:pt x="2374231" y="493347"/>
                </a:lnTo>
                <a:lnTo>
                  <a:pt x="2390273" y="496680"/>
                </a:lnTo>
                <a:lnTo>
                  <a:pt x="2406315" y="500013"/>
                </a:lnTo>
                <a:lnTo>
                  <a:pt x="2422357" y="503347"/>
                </a:lnTo>
                <a:lnTo>
                  <a:pt x="2438400" y="506680"/>
                </a:lnTo>
                <a:lnTo>
                  <a:pt x="2454442" y="510014"/>
                </a:lnTo>
                <a:lnTo>
                  <a:pt x="2470484" y="513347"/>
                </a:lnTo>
                <a:lnTo>
                  <a:pt x="2486526" y="516681"/>
                </a:lnTo>
                <a:lnTo>
                  <a:pt x="2502568" y="520014"/>
                </a:lnTo>
                <a:lnTo>
                  <a:pt x="2518610" y="523347"/>
                </a:lnTo>
                <a:lnTo>
                  <a:pt x="2534652" y="526681"/>
                </a:lnTo>
                <a:lnTo>
                  <a:pt x="2550694" y="530014"/>
                </a:lnTo>
                <a:lnTo>
                  <a:pt x="2566736" y="533348"/>
                </a:lnTo>
                <a:lnTo>
                  <a:pt x="2582778" y="536681"/>
                </a:lnTo>
                <a:lnTo>
                  <a:pt x="2598821" y="540015"/>
                </a:lnTo>
                <a:lnTo>
                  <a:pt x="2614863" y="543348"/>
                </a:lnTo>
                <a:lnTo>
                  <a:pt x="2630905" y="546681"/>
                </a:lnTo>
                <a:lnTo>
                  <a:pt x="2646947" y="550015"/>
                </a:lnTo>
                <a:lnTo>
                  <a:pt x="2662989" y="553348"/>
                </a:lnTo>
                <a:lnTo>
                  <a:pt x="2679031" y="556682"/>
                </a:lnTo>
                <a:lnTo>
                  <a:pt x="2695073" y="560015"/>
                </a:lnTo>
                <a:lnTo>
                  <a:pt x="2711115" y="563348"/>
                </a:lnTo>
                <a:lnTo>
                  <a:pt x="2727157" y="566682"/>
                </a:lnTo>
                <a:lnTo>
                  <a:pt x="2743200" y="570015"/>
                </a:lnTo>
                <a:lnTo>
                  <a:pt x="2759242" y="573349"/>
                </a:lnTo>
                <a:lnTo>
                  <a:pt x="2775284" y="576682"/>
                </a:lnTo>
                <a:lnTo>
                  <a:pt x="2791326" y="580016"/>
                </a:lnTo>
                <a:lnTo>
                  <a:pt x="2807368" y="583349"/>
                </a:lnTo>
                <a:lnTo>
                  <a:pt x="2823410" y="586682"/>
                </a:lnTo>
                <a:lnTo>
                  <a:pt x="2839452" y="590016"/>
                </a:lnTo>
                <a:lnTo>
                  <a:pt x="2855494" y="593349"/>
                </a:lnTo>
                <a:lnTo>
                  <a:pt x="2871536" y="596683"/>
                </a:lnTo>
                <a:lnTo>
                  <a:pt x="2887578" y="600016"/>
                </a:lnTo>
                <a:lnTo>
                  <a:pt x="2903621" y="603350"/>
                </a:lnTo>
                <a:lnTo>
                  <a:pt x="2919663" y="606683"/>
                </a:lnTo>
                <a:lnTo>
                  <a:pt x="2935705" y="610016"/>
                </a:lnTo>
                <a:lnTo>
                  <a:pt x="2951747" y="613350"/>
                </a:lnTo>
                <a:lnTo>
                  <a:pt x="2967789" y="616683"/>
                </a:lnTo>
                <a:lnTo>
                  <a:pt x="2983831" y="620017"/>
                </a:lnTo>
                <a:lnTo>
                  <a:pt x="2999873" y="623350"/>
                </a:lnTo>
                <a:lnTo>
                  <a:pt x="3015915" y="626684"/>
                </a:lnTo>
                <a:lnTo>
                  <a:pt x="3031957" y="630017"/>
                </a:lnTo>
                <a:lnTo>
                  <a:pt x="3048000" y="633350"/>
                </a:lnTo>
                <a:lnTo>
                  <a:pt x="3064042" y="636684"/>
                </a:lnTo>
                <a:lnTo>
                  <a:pt x="3080084" y="640017"/>
                </a:lnTo>
                <a:lnTo>
                  <a:pt x="3096126" y="643351"/>
                </a:lnTo>
                <a:lnTo>
                  <a:pt x="3112168" y="646684"/>
                </a:lnTo>
                <a:lnTo>
                  <a:pt x="3128210" y="650018"/>
                </a:lnTo>
                <a:lnTo>
                  <a:pt x="3144252" y="653351"/>
                </a:lnTo>
                <a:lnTo>
                  <a:pt x="3160294" y="656684"/>
                </a:lnTo>
                <a:lnTo>
                  <a:pt x="3176336" y="660018"/>
                </a:lnTo>
                <a:lnTo>
                  <a:pt x="3192379" y="663351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2-E08 line 16" descr="sci-ppt:o016"/>
          <p:cNvCxnSpPr/>
          <p:nvPr/>
        </p:nvCxnSpPr>
        <p:spPr>
          <a:xfrm>
            <a:off x="4114800" y="2201206"/>
            <a:ext cx="0" cy="1167115"/>
          </a:xfrm>
          <a:prstGeom prst="line">
            <a:avLst/>
          </a:prstGeom>
          <a:ln w="31750">
            <a:solidFill>
              <a:srgbClr val="F28BA0"/>
            </a:solidFill>
          </a:ln>
          <a:effectLst/>
        </p:spPr>
      </p:cxnSp>
      <p:cxnSp>
        <p:nvCxnSpPr>
          <p:cNvPr id="19" name="C2-E08 line 17" descr="sci-ppt:o017"/>
          <p:cNvCxnSpPr/>
          <p:nvPr/>
        </p:nvCxnSpPr>
        <p:spPr>
          <a:xfrm>
            <a:off x="4114800" y="1371600"/>
            <a:ext cx="0" cy="3657600"/>
          </a:xfrm>
          <a:prstGeom prst="line">
            <a:avLst/>
          </a:prstGeom>
          <a:ln w="16510">
            <a:solidFill>
              <a:srgbClr val="B4C7D2"/>
            </a:solidFill>
            <a:prstDash val="dash"/>
          </a:ln>
          <a:effectLst/>
        </p:spPr>
      </p:cxnSp>
      <p:sp>
        <p:nvSpPr>
          <p:cNvPr id="20" name="C2-E08 text 18" descr="sci-ppt:o018"/>
          <p:cNvSpPr txBox="1"/>
          <p:nvPr/>
        </p:nvSpPr>
        <p:spPr>
          <a:xfrm>
            <a:off x="1307592" y="1492134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material A</a:t>
            </a:r>
          </a:p>
        </p:txBody>
      </p:sp>
      <p:sp>
        <p:nvSpPr>
          <p:cNvPr id="21" name="C2-E08 text 19" descr="sci-ppt:o019"/>
          <p:cNvSpPr txBox="1"/>
          <p:nvPr/>
        </p:nvSpPr>
        <p:spPr>
          <a:xfrm>
            <a:off x="5948172" y="1492134"/>
            <a:ext cx="16459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EDBD4"/>
                </a:solidFill>
                <a:latin typeface="Arial"/>
              </a:rPr>
              <a:t>material B</a:t>
            </a:r>
          </a:p>
        </p:txBody>
      </p:sp>
      <p:sp>
        <p:nvSpPr>
          <p:cNvPr id="22" name="C2-E08 text 20" descr="sci-ppt:o020"/>
          <p:cNvSpPr txBox="1"/>
          <p:nvPr/>
        </p:nvSpPr>
        <p:spPr>
          <a:xfrm>
            <a:off x="4384548" y="2535381"/>
            <a:ext cx="25603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8BA0"/>
                </a:solidFill>
                <a:latin typeface="Arial"/>
              </a:rPr>
              <a:t>T_A − T_B = R_T qₙ</a:t>
            </a:r>
          </a:p>
        </p:txBody>
      </p:sp>
      <p:cxnSp>
        <p:nvCxnSpPr>
          <p:cNvPr id="23" name="C2-E08 arrow 21" descr="sci-ppt:o021"/>
          <p:cNvCxnSpPr/>
          <p:nvPr/>
        </p:nvCxnSpPr>
        <p:spPr>
          <a:xfrm>
            <a:off x="1554479" y="4630189"/>
            <a:ext cx="1920241" cy="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24" name="C2-E08 arrow 22" descr="sci-ppt:o022"/>
          <p:cNvCxnSpPr/>
          <p:nvPr/>
        </p:nvCxnSpPr>
        <p:spPr>
          <a:xfrm>
            <a:off x="4754880" y="4630189"/>
            <a:ext cx="1920240" cy="0"/>
          </a:xfrm>
          <a:prstGeom prst="line">
            <a:avLst/>
          </a:prstGeom>
          <a:ln w="3810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25" name="C2-E08 text 23" descr="sci-ppt:o023"/>
          <p:cNvSpPr txBox="1"/>
          <p:nvPr/>
        </p:nvSpPr>
        <p:spPr>
          <a:xfrm>
            <a:off x="2514600" y="4272741"/>
            <a:ext cx="7315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8BA0"/>
                </a:solidFill>
                <a:latin typeface="Arial"/>
              </a:rPr>
              <a:t>qₙ</a:t>
            </a:r>
          </a:p>
        </p:txBody>
      </p:sp>
      <p:sp>
        <p:nvSpPr>
          <p:cNvPr id="26" name="C2-E08 text 24" descr="sci-ppt:o024"/>
          <p:cNvSpPr txBox="1"/>
          <p:nvPr/>
        </p:nvSpPr>
        <p:spPr>
          <a:xfrm>
            <a:off x="5554980" y="4272741"/>
            <a:ext cx="1280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8BA0"/>
                </a:solidFill>
                <a:latin typeface="Arial"/>
              </a:rPr>
              <a:t>qₙ (same)</a:t>
            </a:r>
          </a:p>
        </p:txBody>
      </p:sp>
      <p:sp>
        <p:nvSpPr>
          <p:cNvPr id="27" name="C2-E08 round_rect 25" descr="sci-ppt:o025"/>
          <p:cNvSpPr/>
          <p:nvPr/>
        </p:nvSpPr>
        <p:spPr>
          <a:xfrm>
            <a:off x="7589520" y="1371600"/>
            <a:ext cx="425196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2-E08 text 26" descr="sci-ppt:o026"/>
          <p:cNvSpPr txBox="1"/>
          <p:nvPr/>
        </p:nvSpPr>
        <p:spPr>
          <a:xfrm>
            <a:off x="7699248" y="1426464"/>
            <a:ext cx="40325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Resistance at the contact</a:t>
            </a:r>
          </a:p>
        </p:txBody>
      </p:sp>
      <p:sp>
        <p:nvSpPr>
          <p:cNvPr id="29" name="C2-E08 text 27" descr="sci-ppt:o027"/>
          <p:cNvSpPr txBox="1"/>
          <p:nvPr/>
        </p:nvSpPr>
        <p:spPr>
          <a:xfrm>
            <a:off x="7726679" y="1828800"/>
            <a:ext cx="402336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Flux continuity: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q_A·n = q_B·n = qₙ</a:t>
            </a:r>
          </a:p>
        </p:txBody>
      </p:sp>
      <p:sp>
        <p:nvSpPr>
          <p:cNvPr id="30" name="C2-E08 text 28" descr="sci-ppt:o028"/>
          <p:cNvSpPr txBox="1"/>
          <p:nvPr/>
        </p:nvSpPr>
        <p:spPr>
          <a:xfrm>
            <a:off x="7726679" y="2606040"/>
            <a:ext cx="402336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Temperature jump: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T_A − T_B = R_T qₙ</a:t>
            </a:r>
          </a:p>
        </p:txBody>
      </p:sp>
      <p:sp>
        <p:nvSpPr>
          <p:cNvPr id="31" name="C2-E08 text 29" descr="sci-ppt:o029"/>
          <p:cNvSpPr txBox="1"/>
          <p:nvPr/>
        </p:nvSpPr>
        <p:spPr>
          <a:xfrm>
            <a:off x="7726679" y="3383280"/>
            <a:ext cx="4023360" cy="603504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R_T (m²K/W) is a property of the interface.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same heat flows, but a temperature step builds up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and delays heating of side B.</a:t>
            </a:r>
          </a:p>
        </p:txBody>
      </p:sp>
      <p:sp>
        <p:nvSpPr>
          <p:cNvPr id="32" name="C2-E08 text 30" descr="sci-ppt:o030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Light is absorbed in A, yet B warms only after heat crosses the contact: absorbed energy is not delivered energy.</a:t>
            </a:r>
          </a:p>
        </p:txBody>
      </p:sp>
      <p:sp>
        <p:nvSpPr>
          <p:cNvPr id="33" name="C2-E08 text 31" descr="sci-ppt:o03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Contact conditions of Eq. C2-E08; profile is schematic.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