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948160" cy="79247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1" descr="sci-ppt:C2-E14-001"/>
          <p:cNvSpPr txBox="1"/>
          <p:nvPr/>
        </p:nvSpPr>
        <p:spPr>
          <a:xfrm>
            <a:off x="316992" y="268224"/>
            <a:ext cx="11277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8EDBD4"/>
                </a:solidFill>
                <a:latin typeface="Arial"/>
              </a:rPr>
              <a:t>C2-E14 | Physical-variable diagram</a:t>
            </a:r>
          </a:p>
        </p:txBody>
      </p:sp>
      <p:sp>
        <p:nvSpPr>
          <p:cNvPr id="3" name="ellipse2" descr="sci-ppt:C2-E14-002"/>
          <p:cNvSpPr/>
          <p:nvPr/>
        </p:nvSpPr>
        <p:spPr>
          <a:xfrm>
            <a:off x="1341120" y="1280160"/>
            <a:ext cx="2804160" cy="2804160"/>
          </a:xfrm>
          <a:prstGeom prst="ellipse">
            <a:avLst/>
          </a:prstGeom>
          <a:solidFill>
            <a:srgbClr val="213E4B"/>
          </a:solidFill>
          <a:ln w="2159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ellipse3" descr="sci-ppt:C2-E14-003"/>
          <p:cNvSpPr/>
          <p:nvPr/>
        </p:nvSpPr>
        <p:spPr>
          <a:xfrm>
            <a:off x="2389632" y="2328672"/>
            <a:ext cx="707136" cy="707136"/>
          </a:xfrm>
          <a:prstGeom prst="ellipse">
            <a:avLst/>
          </a:prstGeom>
          <a:solidFill>
            <a:srgbClr val="F6BC77"/>
          </a:solidFill>
          <a:ln w="2159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4" descr="sci-ppt:C2-E14-004"/>
          <p:cNvSpPr txBox="1"/>
          <p:nvPr/>
        </p:nvSpPr>
        <p:spPr>
          <a:xfrm>
            <a:off x="1706880" y="853440"/>
            <a:ext cx="48768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E7F0F3"/>
                </a:solidFill>
                <a:latin typeface="Arial"/>
              </a:rPr>
              <a:t>Finite PFC liquid: p_d</a:t>
            </a:r>
          </a:p>
        </p:txBody>
      </p:sp>
      <p:sp>
        <p:nvSpPr>
          <p:cNvPr id="6" name="text5" descr="sci-ppt:C2-E14-005"/>
          <p:cNvSpPr txBox="1"/>
          <p:nvPr/>
        </p:nvSpPr>
        <p:spPr>
          <a:xfrm>
            <a:off x="1341120" y="4267200"/>
            <a:ext cx="560832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Inner interface σ_vp; outer σ_pc</a:t>
            </a:r>
          </a:p>
        </p:txBody>
      </p:sp>
      <p:cxnSp>
        <p:nvCxnSpPr>
          <p:cNvPr id="7" name="arrow6" descr="sci-ppt:C2-E14-006"/>
          <p:cNvCxnSpPr/>
          <p:nvPr/>
        </p:nvCxnSpPr>
        <p:spPr>
          <a:xfrm>
            <a:off x="6705600" y="3901440"/>
            <a:ext cx="426720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8" name="arrow7" descr="sci-ppt:C2-E14-007"/>
          <p:cNvCxnSpPr/>
          <p:nvPr/>
        </p:nvCxnSpPr>
        <p:spPr>
          <a:xfrm flipV="1">
            <a:off x="6705600" y="1463040"/>
            <a:ext cx="0" cy="243840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9" name="text8" descr="sci-ppt:C2-E14-008"/>
          <p:cNvSpPr txBox="1"/>
          <p:nvPr/>
        </p:nvSpPr>
        <p:spPr>
          <a:xfrm>
            <a:off x="9997440" y="4023360"/>
            <a:ext cx="182880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r_n</a:t>
            </a:r>
          </a:p>
        </p:txBody>
      </p:sp>
      <p:sp>
        <p:nvSpPr>
          <p:cNvPr id="10" name="text9" descr="sci-ppt:C2-E14-009"/>
          <p:cNvSpPr txBox="1"/>
          <p:nvPr/>
        </p:nvSpPr>
        <p:spPr>
          <a:xfrm>
            <a:off x="6583680" y="1097280"/>
            <a:ext cx="365760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W</a:t>
            </a:r>
          </a:p>
        </p:txBody>
      </p:sp>
      <p:cxnSp>
        <p:nvCxnSpPr>
          <p:cNvPr id="11" name="line10" descr="sci-ppt:C2-E14-010"/>
          <p:cNvCxnSpPr/>
          <p:nvPr/>
        </p:nvCxnSpPr>
        <p:spPr>
          <a:xfrm flipV="1">
            <a:off x="6766560" y="3896425"/>
            <a:ext cx="100584" cy="501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2" name="line11" descr="sci-ppt:C2-E14-011"/>
          <p:cNvCxnSpPr/>
          <p:nvPr/>
        </p:nvCxnSpPr>
        <p:spPr>
          <a:xfrm flipV="1">
            <a:off x="6867144" y="3881894"/>
            <a:ext cx="100584" cy="1453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3" name="line12" descr="sci-ppt:C2-E14-012"/>
          <p:cNvCxnSpPr/>
          <p:nvPr/>
        </p:nvCxnSpPr>
        <p:spPr>
          <a:xfrm flipV="1">
            <a:off x="6967728" y="3858620"/>
            <a:ext cx="100584" cy="2327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4" name="line13" descr="sci-ppt:C2-E14-013"/>
          <p:cNvCxnSpPr/>
          <p:nvPr/>
        </p:nvCxnSpPr>
        <p:spPr>
          <a:xfrm flipV="1">
            <a:off x="7068312" y="3827373"/>
            <a:ext cx="100584" cy="3124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5" name="line14" descr="sci-ppt:C2-E14-014"/>
          <p:cNvCxnSpPr/>
          <p:nvPr/>
        </p:nvCxnSpPr>
        <p:spPr>
          <a:xfrm flipV="1">
            <a:off x="7168896" y="3788925"/>
            <a:ext cx="100584" cy="3844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6" name="line15" descr="sci-ppt:C2-E14-015"/>
          <p:cNvCxnSpPr/>
          <p:nvPr/>
        </p:nvCxnSpPr>
        <p:spPr>
          <a:xfrm flipV="1">
            <a:off x="7269480" y="3744048"/>
            <a:ext cx="100584" cy="4487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7" name="line16" descr="sci-ppt:C2-E14-016"/>
          <p:cNvCxnSpPr/>
          <p:nvPr/>
        </p:nvCxnSpPr>
        <p:spPr>
          <a:xfrm flipV="1">
            <a:off x="7370064" y="3693514"/>
            <a:ext cx="100584" cy="5053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8" name="line17" descr="sci-ppt:C2-E14-017"/>
          <p:cNvCxnSpPr/>
          <p:nvPr/>
        </p:nvCxnSpPr>
        <p:spPr>
          <a:xfrm flipV="1">
            <a:off x="7470648" y="3638092"/>
            <a:ext cx="100583" cy="5542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9" name="line18" descr="sci-ppt:C2-E14-018"/>
          <p:cNvCxnSpPr/>
          <p:nvPr/>
        </p:nvCxnSpPr>
        <p:spPr>
          <a:xfrm flipV="1">
            <a:off x="7571231" y="3578556"/>
            <a:ext cx="100585" cy="5953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0" name="line19" descr="sci-ppt:C2-E14-019"/>
          <p:cNvCxnSpPr/>
          <p:nvPr/>
        </p:nvCxnSpPr>
        <p:spPr>
          <a:xfrm flipV="1">
            <a:off x="7671816" y="3515677"/>
            <a:ext cx="100584" cy="6287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1" name="line20" descr="sci-ppt:C2-E14-020"/>
          <p:cNvCxnSpPr/>
          <p:nvPr/>
        </p:nvCxnSpPr>
        <p:spPr>
          <a:xfrm flipV="1">
            <a:off x="7772400" y="3450226"/>
            <a:ext cx="100583" cy="6545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2" name="line21" descr="sci-ppt:C2-E14-021"/>
          <p:cNvCxnSpPr/>
          <p:nvPr/>
        </p:nvCxnSpPr>
        <p:spPr>
          <a:xfrm flipV="1">
            <a:off x="7872983" y="3382975"/>
            <a:ext cx="100585" cy="6725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3" name="line22" descr="sci-ppt:C2-E14-022"/>
          <p:cNvCxnSpPr/>
          <p:nvPr/>
        </p:nvCxnSpPr>
        <p:spPr>
          <a:xfrm flipV="1">
            <a:off x="7973568" y="3314695"/>
            <a:ext cx="100584" cy="6828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4" name="line23" descr="sci-ppt:C2-E14-023"/>
          <p:cNvCxnSpPr/>
          <p:nvPr/>
        </p:nvCxnSpPr>
        <p:spPr>
          <a:xfrm flipV="1">
            <a:off x="8074152" y="3246158"/>
            <a:ext cx="100584" cy="6853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5" name="line24" descr="sci-ppt:C2-E14-024"/>
          <p:cNvCxnSpPr/>
          <p:nvPr/>
        </p:nvCxnSpPr>
        <p:spPr>
          <a:xfrm flipV="1">
            <a:off x="8174736" y="3178135"/>
            <a:ext cx="100584" cy="6802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6" name="line25" descr="sci-ppt:C2-E14-025"/>
          <p:cNvCxnSpPr/>
          <p:nvPr/>
        </p:nvCxnSpPr>
        <p:spPr>
          <a:xfrm flipV="1">
            <a:off x="8275320" y="3111398"/>
            <a:ext cx="100584" cy="6673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7" name="line26" descr="sci-ppt:C2-E14-026"/>
          <p:cNvCxnSpPr/>
          <p:nvPr/>
        </p:nvCxnSpPr>
        <p:spPr>
          <a:xfrm flipV="1">
            <a:off x="8375904" y="3046718"/>
            <a:ext cx="100584" cy="6468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8" name="line27" descr="sci-ppt:C2-E14-027"/>
          <p:cNvCxnSpPr/>
          <p:nvPr/>
        </p:nvCxnSpPr>
        <p:spPr>
          <a:xfrm flipV="1">
            <a:off x="8476488" y="2984868"/>
            <a:ext cx="100584" cy="6185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9" name="line28" descr="sci-ppt:C2-E14-028"/>
          <p:cNvCxnSpPr/>
          <p:nvPr/>
        </p:nvCxnSpPr>
        <p:spPr>
          <a:xfrm flipV="1">
            <a:off x="8577072" y="2926618"/>
            <a:ext cx="100584" cy="5825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0" name="line29" descr="sci-ppt:C2-E14-029"/>
          <p:cNvCxnSpPr/>
          <p:nvPr/>
        </p:nvCxnSpPr>
        <p:spPr>
          <a:xfrm flipV="1">
            <a:off x="8677656" y="2872740"/>
            <a:ext cx="100584" cy="5387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1" name="line30" descr="sci-ppt:C2-E14-030"/>
          <p:cNvCxnSpPr/>
          <p:nvPr/>
        </p:nvCxnSpPr>
        <p:spPr>
          <a:xfrm flipV="1">
            <a:off x="8778240" y="2824005"/>
            <a:ext cx="100584" cy="4873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2" name="line31" descr="sci-ppt:C2-E14-031"/>
          <p:cNvCxnSpPr/>
          <p:nvPr/>
        </p:nvCxnSpPr>
        <p:spPr>
          <a:xfrm flipV="1">
            <a:off x="8878824" y="2781185"/>
            <a:ext cx="100584" cy="4282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3" name="line32" descr="sci-ppt:C2-E14-032"/>
          <p:cNvCxnSpPr/>
          <p:nvPr/>
        </p:nvCxnSpPr>
        <p:spPr>
          <a:xfrm flipV="1">
            <a:off x="8979408" y="2745052"/>
            <a:ext cx="100584" cy="3613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4" name="line33" descr="sci-ppt:C2-E14-033"/>
          <p:cNvCxnSpPr/>
          <p:nvPr/>
        </p:nvCxnSpPr>
        <p:spPr>
          <a:xfrm flipV="1">
            <a:off x="9079992" y="2716377"/>
            <a:ext cx="100584" cy="2867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5" name="line34" descr="sci-ppt:C2-E14-034"/>
          <p:cNvCxnSpPr/>
          <p:nvPr/>
        </p:nvCxnSpPr>
        <p:spPr>
          <a:xfrm flipV="1">
            <a:off x="9180576" y="2695932"/>
            <a:ext cx="100584" cy="2044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6" name="line35" descr="sci-ppt:C2-E14-035"/>
          <p:cNvCxnSpPr/>
          <p:nvPr/>
        </p:nvCxnSpPr>
        <p:spPr>
          <a:xfrm flipV="1">
            <a:off x="9281160" y="2684487"/>
            <a:ext cx="100584" cy="1144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7" name="line36" descr="sci-ppt:C2-E14-036"/>
          <p:cNvCxnSpPr/>
          <p:nvPr/>
        </p:nvCxnSpPr>
        <p:spPr>
          <a:xfrm flipV="1">
            <a:off x="9381744" y="2682816"/>
            <a:ext cx="100584" cy="167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8" name="line37" descr="sci-ppt:C2-E14-037"/>
          <p:cNvCxnSpPr/>
          <p:nvPr/>
        </p:nvCxnSpPr>
        <p:spPr>
          <a:xfrm>
            <a:off x="9482328" y="2682816"/>
            <a:ext cx="100584" cy="887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9" name="line38" descr="sci-ppt:C2-E14-038"/>
          <p:cNvCxnSpPr/>
          <p:nvPr/>
        </p:nvCxnSpPr>
        <p:spPr>
          <a:xfrm>
            <a:off x="9582912" y="2691688"/>
            <a:ext cx="100584" cy="201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0" name="line39" descr="sci-ppt:C2-E14-039"/>
          <p:cNvCxnSpPr/>
          <p:nvPr/>
        </p:nvCxnSpPr>
        <p:spPr>
          <a:xfrm>
            <a:off x="9683496" y="2711877"/>
            <a:ext cx="100584" cy="3227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1" name="line40" descr="sci-ppt:C2-E14-040"/>
          <p:cNvCxnSpPr/>
          <p:nvPr/>
        </p:nvCxnSpPr>
        <p:spPr>
          <a:xfrm>
            <a:off x="9784080" y="2744152"/>
            <a:ext cx="100584" cy="4513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2" name="line41" descr="sci-ppt:C2-E14-041"/>
          <p:cNvCxnSpPr/>
          <p:nvPr/>
        </p:nvCxnSpPr>
        <p:spPr>
          <a:xfrm>
            <a:off x="9884664" y="2789286"/>
            <a:ext cx="100584" cy="5876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3" name="line42" descr="sci-ppt:C2-E14-042"/>
          <p:cNvCxnSpPr/>
          <p:nvPr/>
        </p:nvCxnSpPr>
        <p:spPr>
          <a:xfrm>
            <a:off x="9985248" y="2848051"/>
            <a:ext cx="100584" cy="7316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4" name="line43" descr="sci-ppt:C2-E14-043"/>
          <p:cNvCxnSpPr/>
          <p:nvPr/>
        </p:nvCxnSpPr>
        <p:spPr>
          <a:xfrm>
            <a:off x="10085832" y="2921217"/>
            <a:ext cx="100584" cy="8834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5" name="line44" descr="sci-ppt:C2-E14-044"/>
          <p:cNvCxnSpPr/>
          <p:nvPr/>
        </p:nvCxnSpPr>
        <p:spPr>
          <a:xfrm>
            <a:off x="10186416" y="3009557"/>
            <a:ext cx="100584" cy="10428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6" name="line45" descr="sci-ppt:C2-E14-045"/>
          <p:cNvCxnSpPr/>
          <p:nvPr/>
        </p:nvCxnSpPr>
        <p:spPr>
          <a:xfrm>
            <a:off x="10287000" y="3113841"/>
            <a:ext cx="100584" cy="12100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7" name="line46" descr="sci-ppt:C2-E14-046"/>
          <p:cNvCxnSpPr/>
          <p:nvPr/>
        </p:nvCxnSpPr>
        <p:spPr>
          <a:xfrm>
            <a:off x="10387584" y="3234842"/>
            <a:ext cx="100584" cy="1384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8" name="line47" descr="sci-ppt:C2-E14-047"/>
          <p:cNvCxnSpPr/>
          <p:nvPr/>
        </p:nvCxnSpPr>
        <p:spPr>
          <a:xfrm>
            <a:off x="10488168" y="3373331"/>
            <a:ext cx="100584" cy="15674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9" name="line48" descr="sci-ppt:C2-E14-048"/>
          <p:cNvCxnSpPr/>
          <p:nvPr/>
        </p:nvCxnSpPr>
        <p:spPr>
          <a:xfrm>
            <a:off x="10588752" y="3530079"/>
            <a:ext cx="100584" cy="17577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0" name="line49" descr="sci-ppt:C2-E14-049"/>
          <p:cNvCxnSpPr/>
          <p:nvPr/>
        </p:nvCxnSpPr>
        <p:spPr>
          <a:xfrm>
            <a:off x="10689336" y="3705858"/>
            <a:ext cx="100584" cy="19558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51" name="text50" descr="sci-ppt:C2-E14-050"/>
          <p:cNvSpPr txBox="1"/>
          <p:nvPr/>
        </p:nvSpPr>
        <p:spPr>
          <a:xfrm>
            <a:off x="8595360" y="2194560"/>
            <a:ext cx="2194560" cy="377952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20" b="0" i="0">
                <a:solidFill>
                  <a:srgbClr val="E7F0F3"/>
                </a:solidFill>
                <a:latin typeface="Arial"/>
              </a:rPr>
              <a:t>r*, W*</a:t>
            </a:r>
          </a:p>
        </p:txBody>
      </p:sp>
      <p:sp>
        <p:nvSpPr>
          <p:cNvPr id="52" name="text51" descr="sci-ppt:C2-E14-051"/>
          <p:cNvSpPr txBox="1"/>
          <p:nvPr/>
        </p:nvSpPr>
        <p:spPr>
          <a:xfrm>
            <a:off x="3657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r_n: nucleus radius inside PFC</a:t>
            </a:r>
          </a:p>
        </p:txBody>
      </p:sp>
      <p:sp>
        <p:nvSpPr>
          <p:cNvPr id="53" name="text52" descr="sci-ppt:C2-E14-052"/>
          <p:cNvSpPr txBox="1"/>
          <p:nvPr/>
        </p:nvSpPr>
        <p:spPr>
          <a:xfrm>
            <a:off x="3657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T_i: local nucleus temperature</a:t>
            </a:r>
          </a:p>
        </p:txBody>
      </p:sp>
      <p:sp>
        <p:nvSpPr>
          <p:cNvPr id="54" name="text53" descr="sci-ppt:C2-E14-053"/>
          <p:cNvSpPr txBox="1"/>
          <p:nvPr/>
        </p:nvSpPr>
        <p:spPr>
          <a:xfrm>
            <a:off x="3657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p_sat,PFC: equilibrium vapor reference</a:t>
            </a:r>
          </a:p>
        </p:txBody>
      </p:sp>
      <p:sp>
        <p:nvSpPr>
          <p:cNvPr id="55" name="text54" descr="sci-ppt:C2-E14-054"/>
          <p:cNvSpPr txBox="1"/>
          <p:nvPr/>
        </p:nvSpPr>
        <p:spPr>
          <a:xfrm>
            <a:off x="365760" y="5852160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W: surface cost minus volume gain</a:t>
            </a:r>
          </a:p>
        </p:txBody>
      </p:sp>
      <p:sp>
        <p:nvSpPr>
          <p:cNvPr id="56" name="text55" descr="sci-ppt:C2-E14-055"/>
          <p:cNvSpPr txBox="1"/>
          <p:nvPr/>
        </p:nvSpPr>
        <p:spPr>
          <a:xfrm>
            <a:off x="61569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σ_vp: newly created vapor–PFC interface</a:t>
            </a:r>
          </a:p>
        </p:txBody>
      </p:sp>
      <p:sp>
        <p:nvSpPr>
          <p:cNvPr id="57" name="text56" descr="sci-ppt:C2-E14-056"/>
          <p:cNvSpPr txBox="1"/>
          <p:nvPr/>
        </p:nvSpPr>
        <p:spPr>
          <a:xfrm>
            <a:off x="61569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p_d: surrounding PFC liquid</a:t>
            </a:r>
          </a:p>
        </p:txBody>
      </p:sp>
      <p:sp>
        <p:nvSpPr>
          <p:cNvPr id="58" name="text57" descr="sci-ppt:C2-E14-057"/>
          <p:cNvSpPr txBox="1"/>
          <p:nvPr/>
        </p:nvSpPr>
        <p:spPr>
          <a:xfrm>
            <a:off x="61569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Δp_n: volume driving</a:t>
            </a:r>
          </a:p>
        </p:txBody>
      </p:sp>
      <p:sp>
        <p:nvSpPr>
          <p:cNvPr id="59" name="text58" descr="sci-ppt:C2-E14-058"/>
          <p:cNvSpPr txBox="1"/>
          <p:nvPr/>
        </p:nvSpPr>
        <p:spPr>
          <a:xfrm>
            <a:off x="6156960" y="5852160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π: spherical geometry</a:t>
            </a:r>
          </a:p>
        </p:txBody>
      </p:sp>
      <p:sp>
        <p:nvSpPr>
          <p:cNvPr id="60" name="text59" descr="sci-ppt:C2-E14-059"/>
          <p:cNvSpPr txBox="1"/>
          <p:nvPr/>
        </p:nvSpPr>
        <p:spPr>
          <a:xfrm>
            <a:off x="365760" y="6339840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The outer PFC–carrier tension is a different interface</a:t>
            </a:r>
          </a:p>
        </p:txBody>
      </p:sp>
      <p:sp>
        <p:nvSpPr>
          <p:cNvPr id="61" name="text60" descr="sci-ppt:C2-E14-060"/>
          <p:cNvSpPr txBox="1"/>
          <p:nvPr/>
        </p:nvSpPr>
        <p:spPr>
          <a:xfrm>
            <a:off x="365760" y="6632448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The whole core cannot be treated as an infinite liquid reservoir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