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C2-E14 · Classical homogeneous capillarity approximation</a:t>
            </a:r>
          </a:p>
        </p:txBody>
      </p:sp>
      <p:cxnSp>
        <p:nvCxnSpPr>
          <p:cNvPr id="3" name="C2-E14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14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14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14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14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2-E14 line 6" descr="sci-ppt:o006"/>
          <p:cNvCxnSpPr/>
          <p:nvPr/>
        </p:nvCxnSpPr>
        <p:spPr>
          <a:xfrm>
            <a:off x="27432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14 line 7" descr="sci-ppt:o007"/>
          <p:cNvCxnSpPr/>
          <p:nvPr/>
        </p:nvCxnSpPr>
        <p:spPr>
          <a:xfrm>
            <a:off x="27432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14 text 8" descr="sci-ppt:o008"/>
          <p:cNvSpPr txBox="1"/>
          <p:nvPr/>
        </p:nvSpPr>
        <p:spPr>
          <a:xfrm>
            <a:off x="22860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2-E14 line 9" descr="sci-ppt:o009"/>
          <p:cNvCxnSpPr/>
          <p:nvPr/>
        </p:nvCxnSpPr>
        <p:spPr>
          <a:xfrm>
            <a:off x="4572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14 line 10" descr="sci-ppt:o010"/>
          <p:cNvCxnSpPr/>
          <p:nvPr/>
        </p:nvCxnSpPr>
        <p:spPr>
          <a:xfrm>
            <a:off x="4572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14 text 11" descr="sci-ppt:o011"/>
          <p:cNvSpPr txBox="1"/>
          <p:nvPr/>
        </p:nvSpPr>
        <p:spPr>
          <a:xfrm>
            <a:off x="4114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2-E14 line 12" descr="sci-ppt:o012"/>
          <p:cNvCxnSpPr/>
          <p:nvPr/>
        </p:nvCxnSpPr>
        <p:spPr>
          <a:xfrm>
            <a:off x="6400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14 line 13" descr="sci-ppt:o013"/>
          <p:cNvCxnSpPr/>
          <p:nvPr/>
        </p:nvCxnSpPr>
        <p:spPr>
          <a:xfrm>
            <a:off x="6400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14 text 14" descr="sci-ppt:o014"/>
          <p:cNvSpPr txBox="1"/>
          <p:nvPr/>
        </p:nvSpPr>
        <p:spPr>
          <a:xfrm>
            <a:off x="5943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2-E14 line 15" descr="sci-ppt:o015"/>
          <p:cNvCxnSpPr/>
          <p:nvPr/>
        </p:nvCxnSpPr>
        <p:spPr>
          <a:xfrm>
            <a:off x="850392" y="45066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14 line 16" descr="sci-ppt:o016"/>
          <p:cNvCxnSpPr/>
          <p:nvPr/>
        </p:nvCxnSpPr>
        <p:spPr>
          <a:xfrm>
            <a:off x="914400" y="4506685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14 text 17" descr="sci-ppt:o017"/>
          <p:cNvSpPr txBox="1"/>
          <p:nvPr/>
        </p:nvSpPr>
        <p:spPr>
          <a:xfrm>
            <a:off x="45720" y="44243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-0.5</a:t>
            </a:r>
          </a:p>
        </p:txBody>
      </p:sp>
      <p:cxnSp>
        <p:nvCxnSpPr>
          <p:cNvPr id="20" name="C2-E14 line 18" descr="sci-ppt:o018"/>
          <p:cNvCxnSpPr/>
          <p:nvPr/>
        </p:nvCxnSpPr>
        <p:spPr>
          <a:xfrm>
            <a:off x="850392" y="36358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14 line 19" descr="sci-ppt:o019"/>
          <p:cNvCxnSpPr/>
          <p:nvPr/>
        </p:nvCxnSpPr>
        <p:spPr>
          <a:xfrm>
            <a:off x="914400" y="3635828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14 text 20" descr="sci-ppt:o020"/>
          <p:cNvSpPr txBox="1"/>
          <p:nvPr/>
        </p:nvSpPr>
        <p:spPr>
          <a:xfrm>
            <a:off x="45720" y="35535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23" name="C2-E14 line 21" descr="sci-ppt:o021"/>
          <p:cNvCxnSpPr/>
          <p:nvPr/>
        </p:nvCxnSpPr>
        <p:spPr>
          <a:xfrm>
            <a:off x="850392" y="27649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2-E14 line 22" descr="sci-ppt:o022"/>
          <p:cNvCxnSpPr/>
          <p:nvPr/>
        </p:nvCxnSpPr>
        <p:spPr>
          <a:xfrm>
            <a:off x="914400" y="2764971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2-E14 text 23" descr="sci-ppt:o023"/>
          <p:cNvSpPr txBox="1"/>
          <p:nvPr/>
        </p:nvSpPr>
        <p:spPr>
          <a:xfrm>
            <a:off x="45720" y="26826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6" name="C2-E14 line 24" descr="sci-ppt:o024"/>
          <p:cNvCxnSpPr/>
          <p:nvPr/>
        </p:nvCxnSpPr>
        <p:spPr>
          <a:xfrm>
            <a:off x="850392" y="18941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2-E14 line 25" descr="sci-ppt:o025"/>
          <p:cNvCxnSpPr/>
          <p:nvPr/>
        </p:nvCxnSpPr>
        <p:spPr>
          <a:xfrm>
            <a:off x="914400" y="1894114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2-E14 text 26" descr="sci-ppt:o026"/>
          <p:cNvSpPr txBox="1"/>
          <p:nvPr/>
        </p:nvSpPr>
        <p:spPr>
          <a:xfrm>
            <a:off x="45720" y="1811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9" name="C2-E14 text 27" descr="sci-ppt:o027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rₙ / r*</a:t>
            </a:r>
          </a:p>
        </p:txBody>
      </p:sp>
      <p:sp>
        <p:nvSpPr>
          <p:cNvPr id="30" name="C2-E14 text 28" descr="sci-ppt:o028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 / W*</a:t>
            </a:r>
          </a:p>
        </p:txBody>
      </p:sp>
      <p:cxnSp>
        <p:nvCxnSpPr>
          <p:cNvPr id="31" name="C2-E14 line 29" descr="sci-ppt:o029"/>
          <p:cNvCxnSpPr/>
          <p:nvPr/>
        </p:nvCxnSpPr>
        <p:spPr>
          <a:xfrm>
            <a:off x="914400" y="3635828"/>
            <a:ext cx="585216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2" name="C2-E14 polygon 30" descr="sci-ppt:o030"/>
          <p:cNvSpPr/>
          <p:nvPr/>
        </p:nvSpPr>
        <p:spPr>
          <a:xfrm>
            <a:off x="914400" y="1408853"/>
            <a:ext cx="2387837" cy="2226975"/>
          </a:xfrm>
          <a:custGeom>
            <a:avLst/>
            <a:gdLst/>
            <a:ahLst/>
            <a:cxnLst/>
            <a:rect l="l" t="t" r="r" b="b"/>
            <a:pathLst>
              <a:path w="2387837" h="2226975">
                <a:moveTo>
                  <a:pt x="0" y="2226975"/>
                </a:moveTo>
                <a:lnTo>
                  <a:pt x="39144" y="2226377"/>
                </a:lnTo>
                <a:lnTo>
                  <a:pt x="78289" y="2224581"/>
                </a:lnTo>
                <a:lnTo>
                  <a:pt x="117434" y="2221589"/>
                </a:lnTo>
                <a:lnTo>
                  <a:pt x="156579" y="2217399"/>
                </a:lnTo>
                <a:lnTo>
                  <a:pt x="195724" y="2212013"/>
                </a:lnTo>
                <a:lnTo>
                  <a:pt x="234869" y="2205429"/>
                </a:lnTo>
                <a:lnTo>
                  <a:pt x="274014" y="2197649"/>
                </a:lnTo>
                <a:lnTo>
                  <a:pt x="313159" y="2188672"/>
                </a:lnTo>
                <a:lnTo>
                  <a:pt x="352303" y="2178498"/>
                </a:lnTo>
                <a:lnTo>
                  <a:pt x="391448" y="2167126"/>
                </a:lnTo>
                <a:lnTo>
                  <a:pt x="430593" y="2154558"/>
                </a:lnTo>
                <a:lnTo>
                  <a:pt x="469738" y="2140793"/>
                </a:lnTo>
                <a:lnTo>
                  <a:pt x="508883" y="2125831"/>
                </a:lnTo>
                <a:lnTo>
                  <a:pt x="548028" y="2109671"/>
                </a:lnTo>
                <a:lnTo>
                  <a:pt x="587173" y="2092315"/>
                </a:lnTo>
                <a:lnTo>
                  <a:pt x="626318" y="2073762"/>
                </a:lnTo>
                <a:lnTo>
                  <a:pt x="665463" y="2054012"/>
                </a:lnTo>
                <a:lnTo>
                  <a:pt x="704607" y="2033065"/>
                </a:lnTo>
                <a:lnTo>
                  <a:pt x="743752" y="2010921"/>
                </a:lnTo>
                <a:lnTo>
                  <a:pt x="782897" y="1987580"/>
                </a:lnTo>
                <a:lnTo>
                  <a:pt x="822042" y="1963042"/>
                </a:lnTo>
                <a:lnTo>
                  <a:pt x="861187" y="1937307"/>
                </a:lnTo>
                <a:lnTo>
                  <a:pt x="900332" y="1910375"/>
                </a:lnTo>
                <a:lnTo>
                  <a:pt x="939477" y="1882246"/>
                </a:lnTo>
                <a:lnTo>
                  <a:pt x="978622" y="1852920"/>
                </a:lnTo>
                <a:lnTo>
                  <a:pt x="1017766" y="1822397"/>
                </a:lnTo>
                <a:lnTo>
                  <a:pt x="1056911" y="1790677"/>
                </a:lnTo>
                <a:lnTo>
                  <a:pt x="1096056" y="1757760"/>
                </a:lnTo>
                <a:lnTo>
                  <a:pt x="1135201" y="1723646"/>
                </a:lnTo>
                <a:lnTo>
                  <a:pt x="1174346" y="1688335"/>
                </a:lnTo>
                <a:lnTo>
                  <a:pt x="1213491" y="1651828"/>
                </a:lnTo>
                <a:lnTo>
                  <a:pt x="1252636" y="1614123"/>
                </a:lnTo>
                <a:lnTo>
                  <a:pt x="1291781" y="1575221"/>
                </a:lnTo>
                <a:lnTo>
                  <a:pt x="1330926" y="1535122"/>
                </a:lnTo>
                <a:lnTo>
                  <a:pt x="1370070" y="1493827"/>
                </a:lnTo>
                <a:lnTo>
                  <a:pt x="1409215" y="1451334"/>
                </a:lnTo>
                <a:lnTo>
                  <a:pt x="1448360" y="1407644"/>
                </a:lnTo>
                <a:lnTo>
                  <a:pt x="1487505" y="1362758"/>
                </a:lnTo>
                <a:lnTo>
                  <a:pt x="1526650" y="1316674"/>
                </a:lnTo>
                <a:lnTo>
                  <a:pt x="1565795" y="1269394"/>
                </a:lnTo>
                <a:lnTo>
                  <a:pt x="1604940" y="1220916"/>
                </a:lnTo>
                <a:lnTo>
                  <a:pt x="1644085" y="1171242"/>
                </a:lnTo>
                <a:lnTo>
                  <a:pt x="1683229" y="1120370"/>
                </a:lnTo>
                <a:lnTo>
                  <a:pt x="1722374" y="1068301"/>
                </a:lnTo>
                <a:lnTo>
                  <a:pt x="1761519" y="1015036"/>
                </a:lnTo>
                <a:lnTo>
                  <a:pt x="1800664" y="960574"/>
                </a:lnTo>
                <a:lnTo>
                  <a:pt x="1839809" y="904914"/>
                </a:lnTo>
                <a:lnTo>
                  <a:pt x="1878954" y="848058"/>
                </a:lnTo>
                <a:lnTo>
                  <a:pt x="1918099" y="790004"/>
                </a:lnTo>
                <a:lnTo>
                  <a:pt x="1957244" y="730754"/>
                </a:lnTo>
                <a:lnTo>
                  <a:pt x="1996389" y="670307"/>
                </a:lnTo>
                <a:lnTo>
                  <a:pt x="2035533" y="608662"/>
                </a:lnTo>
                <a:lnTo>
                  <a:pt x="2074678" y="545821"/>
                </a:lnTo>
                <a:lnTo>
                  <a:pt x="2113823" y="481783"/>
                </a:lnTo>
                <a:lnTo>
                  <a:pt x="2152968" y="416548"/>
                </a:lnTo>
                <a:lnTo>
                  <a:pt x="2192113" y="350115"/>
                </a:lnTo>
                <a:lnTo>
                  <a:pt x="2231258" y="282486"/>
                </a:lnTo>
                <a:lnTo>
                  <a:pt x="2270403" y="213660"/>
                </a:lnTo>
                <a:lnTo>
                  <a:pt x="2309548" y="143637"/>
                </a:lnTo>
                <a:lnTo>
                  <a:pt x="2348692" y="72417"/>
                </a:lnTo>
                <a:lnTo>
                  <a:pt x="2387837" y="0"/>
                </a:lnTo>
              </a:path>
            </a:pathLst>
          </a:custGeom>
          <a:noFill/>
          <a:ln w="27940">
            <a:solidFill>
              <a:srgbClr val="F28BA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2-E14 polygon 31" descr="sci-ppt:o031"/>
          <p:cNvSpPr/>
          <p:nvPr/>
        </p:nvSpPr>
        <p:spPr>
          <a:xfrm>
            <a:off x="914400" y="3635828"/>
            <a:ext cx="2661852" cy="1342672"/>
          </a:xfrm>
          <a:custGeom>
            <a:avLst/>
            <a:gdLst/>
            <a:ahLst/>
            <a:cxnLst/>
            <a:rect l="l" t="t" r="r" b="b"/>
            <a:pathLst>
              <a:path w="2661852" h="1342672">
                <a:moveTo>
                  <a:pt x="0" y="0"/>
                </a:moveTo>
                <a:lnTo>
                  <a:pt x="39144" y="4"/>
                </a:lnTo>
                <a:lnTo>
                  <a:pt x="78289" y="34"/>
                </a:lnTo>
                <a:lnTo>
                  <a:pt x="117434" y="115"/>
                </a:lnTo>
                <a:lnTo>
                  <a:pt x="156579" y="273"/>
                </a:lnTo>
                <a:lnTo>
                  <a:pt x="195724" y="534"/>
                </a:lnTo>
                <a:lnTo>
                  <a:pt x="234869" y="922"/>
                </a:lnTo>
                <a:lnTo>
                  <a:pt x="274014" y="1465"/>
                </a:lnTo>
                <a:lnTo>
                  <a:pt x="313159" y="2186"/>
                </a:lnTo>
                <a:lnTo>
                  <a:pt x="352303" y="3113"/>
                </a:lnTo>
                <a:lnTo>
                  <a:pt x="391448" y="4270"/>
                </a:lnTo>
                <a:lnTo>
                  <a:pt x="430593" y="5684"/>
                </a:lnTo>
                <a:lnTo>
                  <a:pt x="469738" y="7379"/>
                </a:lnTo>
                <a:lnTo>
                  <a:pt x="508883" y="9382"/>
                </a:lnTo>
                <a:lnTo>
                  <a:pt x="548028" y="11717"/>
                </a:lnTo>
                <a:lnTo>
                  <a:pt x="587173" y="14412"/>
                </a:lnTo>
                <a:lnTo>
                  <a:pt x="626318" y="17491"/>
                </a:lnTo>
                <a:lnTo>
                  <a:pt x="665463" y="20979"/>
                </a:lnTo>
                <a:lnTo>
                  <a:pt x="704607" y="24904"/>
                </a:lnTo>
                <a:lnTo>
                  <a:pt x="743752" y="29289"/>
                </a:lnTo>
                <a:lnTo>
                  <a:pt x="782897" y="34161"/>
                </a:lnTo>
                <a:lnTo>
                  <a:pt x="822042" y="39546"/>
                </a:lnTo>
                <a:lnTo>
                  <a:pt x="861187" y="45469"/>
                </a:lnTo>
                <a:lnTo>
                  <a:pt x="900332" y="51955"/>
                </a:lnTo>
                <a:lnTo>
                  <a:pt x="939477" y="59031"/>
                </a:lnTo>
                <a:lnTo>
                  <a:pt x="978622" y="66721"/>
                </a:lnTo>
                <a:lnTo>
                  <a:pt x="1017766" y="75052"/>
                </a:lnTo>
                <a:lnTo>
                  <a:pt x="1056911" y="84049"/>
                </a:lnTo>
                <a:lnTo>
                  <a:pt x="1096056" y="93738"/>
                </a:lnTo>
                <a:lnTo>
                  <a:pt x="1135201" y="104145"/>
                </a:lnTo>
                <a:lnTo>
                  <a:pt x="1174346" y="115294"/>
                </a:lnTo>
                <a:lnTo>
                  <a:pt x="1213491" y="127212"/>
                </a:lnTo>
                <a:lnTo>
                  <a:pt x="1252636" y="139924"/>
                </a:lnTo>
                <a:lnTo>
                  <a:pt x="1291781" y="153457"/>
                </a:lnTo>
                <a:lnTo>
                  <a:pt x="1330926" y="167834"/>
                </a:lnTo>
                <a:lnTo>
                  <a:pt x="1370070" y="183083"/>
                </a:lnTo>
                <a:lnTo>
                  <a:pt x="1409215" y="199228"/>
                </a:lnTo>
                <a:lnTo>
                  <a:pt x="1448360" y="216296"/>
                </a:lnTo>
                <a:lnTo>
                  <a:pt x="1487505" y="234312"/>
                </a:lnTo>
                <a:lnTo>
                  <a:pt x="1526650" y="253301"/>
                </a:lnTo>
                <a:lnTo>
                  <a:pt x="1565795" y="273290"/>
                </a:lnTo>
                <a:lnTo>
                  <a:pt x="1604940" y="294303"/>
                </a:lnTo>
                <a:lnTo>
                  <a:pt x="1644085" y="316367"/>
                </a:lnTo>
                <a:lnTo>
                  <a:pt x="1683229" y="339507"/>
                </a:lnTo>
                <a:lnTo>
                  <a:pt x="1722374" y="363749"/>
                </a:lnTo>
                <a:lnTo>
                  <a:pt x="1761519" y="389118"/>
                </a:lnTo>
                <a:lnTo>
                  <a:pt x="1800664" y="415640"/>
                </a:lnTo>
                <a:lnTo>
                  <a:pt x="1839809" y="443340"/>
                </a:lnTo>
                <a:lnTo>
                  <a:pt x="1878954" y="472245"/>
                </a:lnTo>
                <a:lnTo>
                  <a:pt x="1918099" y="502379"/>
                </a:lnTo>
                <a:lnTo>
                  <a:pt x="1957244" y="533769"/>
                </a:lnTo>
                <a:lnTo>
                  <a:pt x="1996389" y="566440"/>
                </a:lnTo>
                <a:lnTo>
                  <a:pt x="2035533" y="600418"/>
                </a:lnTo>
                <a:lnTo>
                  <a:pt x="2074678" y="635727"/>
                </a:lnTo>
                <a:lnTo>
                  <a:pt x="2113823" y="672395"/>
                </a:lnTo>
                <a:lnTo>
                  <a:pt x="2152968" y="710447"/>
                </a:lnTo>
                <a:lnTo>
                  <a:pt x="2192113" y="749907"/>
                </a:lnTo>
                <a:lnTo>
                  <a:pt x="2231258" y="790802"/>
                </a:lnTo>
                <a:lnTo>
                  <a:pt x="2270403" y="833158"/>
                </a:lnTo>
                <a:lnTo>
                  <a:pt x="2309548" y="877000"/>
                </a:lnTo>
                <a:lnTo>
                  <a:pt x="2348692" y="922353"/>
                </a:lnTo>
                <a:lnTo>
                  <a:pt x="2387837" y="969243"/>
                </a:lnTo>
                <a:lnTo>
                  <a:pt x="2426982" y="1017697"/>
                </a:lnTo>
                <a:lnTo>
                  <a:pt x="2466127" y="1067739"/>
                </a:lnTo>
                <a:lnTo>
                  <a:pt x="2505272" y="1119395"/>
                </a:lnTo>
                <a:lnTo>
                  <a:pt x="2544417" y="1172690"/>
                </a:lnTo>
                <a:lnTo>
                  <a:pt x="2583562" y="1227652"/>
                </a:lnTo>
                <a:lnTo>
                  <a:pt x="2622707" y="1284304"/>
                </a:lnTo>
                <a:lnTo>
                  <a:pt x="2661852" y="1342672"/>
                </a:lnTo>
              </a:path>
            </a:pathLst>
          </a:custGeom>
          <a:noFill/>
          <a:ln w="27940">
            <a:solidFill>
              <a:srgbClr val="7FC8F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2-E14 polygon 32" descr="sci-ppt:o032"/>
          <p:cNvSpPr/>
          <p:nvPr/>
        </p:nvSpPr>
        <p:spPr>
          <a:xfrm>
            <a:off x="914400" y="1894228"/>
            <a:ext cx="5852160" cy="2633358"/>
          </a:xfrm>
          <a:custGeom>
            <a:avLst/>
            <a:gdLst/>
            <a:ahLst/>
            <a:cxnLst/>
            <a:rect l="l" t="t" r="r" b="b"/>
            <a:pathLst>
              <a:path w="5852160" h="2633358">
                <a:moveTo>
                  <a:pt x="0" y="1741600"/>
                </a:moveTo>
                <a:lnTo>
                  <a:pt x="39144" y="1741006"/>
                </a:lnTo>
                <a:lnTo>
                  <a:pt x="78289" y="1739240"/>
                </a:lnTo>
                <a:lnTo>
                  <a:pt x="117434" y="1736329"/>
                </a:lnTo>
                <a:lnTo>
                  <a:pt x="156579" y="1732298"/>
                </a:lnTo>
                <a:lnTo>
                  <a:pt x="195724" y="1727172"/>
                </a:lnTo>
                <a:lnTo>
                  <a:pt x="234869" y="1720977"/>
                </a:lnTo>
                <a:lnTo>
                  <a:pt x="274014" y="1713739"/>
                </a:lnTo>
                <a:lnTo>
                  <a:pt x="313159" y="1705483"/>
                </a:lnTo>
                <a:lnTo>
                  <a:pt x="352303" y="1696235"/>
                </a:lnTo>
                <a:lnTo>
                  <a:pt x="391448" y="1686021"/>
                </a:lnTo>
                <a:lnTo>
                  <a:pt x="430593" y="1674867"/>
                </a:lnTo>
                <a:lnTo>
                  <a:pt x="469738" y="1662797"/>
                </a:lnTo>
                <a:lnTo>
                  <a:pt x="508883" y="1649837"/>
                </a:lnTo>
                <a:lnTo>
                  <a:pt x="548028" y="1636014"/>
                </a:lnTo>
                <a:lnTo>
                  <a:pt x="587173" y="1621352"/>
                </a:lnTo>
                <a:lnTo>
                  <a:pt x="626318" y="1605878"/>
                </a:lnTo>
                <a:lnTo>
                  <a:pt x="665463" y="1589616"/>
                </a:lnTo>
                <a:lnTo>
                  <a:pt x="704607" y="1572593"/>
                </a:lnTo>
                <a:lnTo>
                  <a:pt x="743752" y="1554835"/>
                </a:lnTo>
                <a:lnTo>
                  <a:pt x="782897" y="1536366"/>
                </a:lnTo>
                <a:lnTo>
                  <a:pt x="822042" y="1517213"/>
                </a:lnTo>
                <a:lnTo>
                  <a:pt x="861187" y="1497400"/>
                </a:lnTo>
                <a:lnTo>
                  <a:pt x="900332" y="1476955"/>
                </a:lnTo>
                <a:lnTo>
                  <a:pt x="939477" y="1455901"/>
                </a:lnTo>
                <a:lnTo>
                  <a:pt x="978622" y="1434266"/>
                </a:lnTo>
                <a:lnTo>
                  <a:pt x="1017766" y="1412074"/>
                </a:lnTo>
                <a:lnTo>
                  <a:pt x="1056911" y="1389351"/>
                </a:lnTo>
                <a:lnTo>
                  <a:pt x="1096056" y="1366124"/>
                </a:lnTo>
                <a:lnTo>
                  <a:pt x="1135201" y="1342416"/>
                </a:lnTo>
                <a:lnTo>
                  <a:pt x="1174346" y="1318255"/>
                </a:lnTo>
                <a:lnTo>
                  <a:pt x="1213491" y="1293665"/>
                </a:lnTo>
                <a:lnTo>
                  <a:pt x="1252636" y="1268672"/>
                </a:lnTo>
                <a:lnTo>
                  <a:pt x="1291781" y="1243303"/>
                </a:lnTo>
                <a:lnTo>
                  <a:pt x="1330926" y="1217581"/>
                </a:lnTo>
                <a:lnTo>
                  <a:pt x="1370070" y="1191535"/>
                </a:lnTo>
                <a:lnTo>
                  <a:pt x="1409215" y="1165187"/>
                </a:lnTo>
                <a:lnTo>
                  <a:pt x="1448360" y="1138565"/>
                </a:lnTo>
                <a:lnTo>
                  <a:pt x="1487505" y="1111695"/>
                </a:lnTo>
                <a:lnTo>
                  <a:pt x="1526650" y="1084600"/>
                </a:lnTo>
                <a:lnTo>
                  <a:pt x="1565795" y="1057308"/>
                </a:lnTo>
                <a:lnTo>
                  <a:pt x="1604940" y="1029844"/>
                </a:lnTo>
                <a:lnTo>
                  <a:pt x="1644085" y="1002233"/>
                </a:lnTo>
                <a:lnTo>
                  <a:pt x="1683229" y="974502"/>
                </a:lnTo>
                <a:lnTo>
                  <a:pt x="1722374" y="946675"/>
                </a:lnTo>
                <a:lnTo>
                  <a:pt x="1761519" y="918779"/>
                </a:lnTo>
                <a:lnTo>
                  <a:pt x="1800664" y="890838"/>
                </a:lnTo>
                <a:lnTo>
                  <a:pt x="1839809" y="862879"/>
                </a:lnTo>
                <a:lnTo>
                  <a:pt x="1878954" y="834927"/>
                </a:lnTo>
                <a:lnTo>
                  <a:pt x="1918099" y="807008"/>
                </a:lnTo>
                <a:lnTo>
                  <a:pt x="1957244" y="779148"/>
                </a:lnTo>
                <a:lnTo>
                  <a:pt x="1996389" y="751372"/>
                </a:lnTo>
                <a:lnTo>
                  <a:pt x="2035533" y="723705"/>
                </a:lnTo>
                <a:lnTo>
                  <a:pt x="2074678" y="696173"/>
                </a:lnTo>
                <a:lnTo>
                  <a:pt x="2113823" y="668803"/>
                </a:lnTo>
                <a:lnTo>
                  <a:pt x="2152968" y="641619"/>
                </a:lnTo>
                <a:lnTo>
                  <a:pt x="2192113" y="614647"/>
                </a:lnTo>
                <a:lnTo>
                  <a:pt x="2231258" y="587913"/>
                </a:lnTo>
                <a:lnTo>
                  <a:pt x="2270403" y="561443"/>
                </a:lnTo>
                <a:lnTo>
                  <a:pt x="2309548" y="535261"/>
                </a:lnTo>
                <a:lnTo>
                  <a:pt x="2348692" y="509394"/>
                </a:lnTo>
                <a:lnTo>
                  <a:pt x="2387837" y="483868"/>
                </a:lnTo>
                <a:lnTo>
                  <a:pt x="2426982" y="458707"/>
                </a:lnTo>
                <a:lnTo>
                  <a:pt x="2466127" y="433938"/>
                </a:lnTo>
                <a:lnTo>
                  <a:pt x="2505272" y="409586"/>
                </a:lnTo>
                <a:lnTo>
                  <a:pt x="2544417" y="385677"/>
                </a:lnTo>
                <a:lnTo>
                  <a:pt x="2583562" y="362236"/>
                </a:lnTo>
                <a:lnTo>
                  <a:pt x="2622707" y="339289"/>
                </a:lnTo>
                <a:lnTo>
                  <a:pt x="2661852" y="316862"/>
                </a:lnTo>
                <a:lnTo>
                  <a:pt x="2700996" y="294980"/>
                </a:lnTo>
                <a:lnTo>
                  <a:pt x="2740141" y="273669"/>
                </a:lnTo>
                <a:lnTo>
                  <a:pt x="2779286" y="252954"/>
                </a:lnTo>
                <a:lnTo>
                  <a:pt x="2818431" y="232862"/>
                </a:lnTo>
                <a:lnTo>
                  <a:pt x="2857576" y="213417"/>
                </a:lnTo>
                <a:lnTo>
                  <a:pt x="2896721" y="194645"/>
                </a:lnTo>
                <a:lnTo>
                  <a:pt x="2935866" y="176573"/>
                </a:lnTo>
                <a:lnTo>
                  <a:pt x="2975011" y="159225"/>
                </a:lnTo>
                <a:lnTo>
                  <a:pt x="3014155" y="142627"/>
                </a:lnTo>
                <a:lnTo>
                  <a:pt x="3053300" y="126805"/>
                </a:lnTo>
                <a:lnTo>
                  <a:pt x="3092445" y="111785"/>
                </a:lnTo>
                <a:lnTo>
                  <a:pt x="3131590" y="97592"/>
                </a:lnTo>
                <a:lnTo>
                  <a:pt x="3170735" y="84251"/>
                </a:lnTo>
                <a:lnTo>
                  <a:pt x="3209880" y="71789"/>
                </a:lnTo>
                <a:lnTo>
                  <a:pt x="3249025" y="60230"/>
                </a:lnTo>
                <a:lnTo>
                  <a:pt x="3288170" y="49602"/>
                </a:lnTo>
                <a:lnTo>
                  <a:pt x="3327315" y="39928"/>
                </a:lnTo>
                <a:lnTo>
                  <a:pt x="3366459" y="31235"/>
                </a:lnTo>
                <a:lnTo>
                  <a:pt x="3405604" y="23549"/>
                </a:lnTo>
                <a:lnTo>
                  <a:pt x="3444749" y="16894"/>
                </a:lnTo>
                <a:lnTo>
                  <a:pt x="3483894" y="11298"/>
                </a:lnTo>
                <a:lnTo>
                  <a:pt x="3523039" y="6784"/>
                </a:lnTo>
                <a:lnTo>
                  <a:pt x="3562184" y="3380"/>
                </a:lnTo>
                <a:lnTo>
                  <a:pt x="3601329" y="1110"/>
                </a:lnTo>
                <a:lnTo>
                  <a:pt x="3640474" y="0"/>
                </a:lnTo>
                <a:lnTo>
                  <a:pt x="3679618" y="76"/>
                </a:lnTo>
                <a:lnTo>
                  <a:pt x="3718763" y="1363"/>
                </a:lnTo>
                <a:lnTo>
                  <a:pt x="3757908" y="3888"/>
                </a:lnTo>
                <a:lnTo>
                  <a:pt x="3797053" y="7675"/>
                </a:lnTo>
                <a:lnTo>
                  <a:pt x="3836198" y="12750"/>
                </a:lnTo>
                <a:lnTo>
                  <a:pt x="3875343" y="19139"/>
                </a:lnTo>
                <a:lnTo>
                  <a:pt x="3914488" y="26867"/>
                </a:lnTo>
                <a:lnTo>
                  <a:pt x="3953633" y="35961"/>
                </a:lnTo>
                <a:lnTo>
                  <a:pt x="3992778" y="46445"/>
                </a:lnTo>
                <a:lnTo>
                  <a:pt x="4031922" y="58346"/>
                </a:lnTo>
                <a:lnTo>
                  <a:pt x="4071067" y="71689"/>
                </a:lnTo>
                <a:lnTo>
                  <a:pt x="4110212" y="86499"/>
                </a:lnTo>
                <a:lnTo>
                  <a:pt x="4149357" y="102803"/>
                </a:lnTo>
                <a:lnTo>
                  <a:pt x="4188502" y="120625"/>
                </a:lnTo>
                <a:lnTo>
                  <a:pt x="4227647" y="139992"/>
                </a:lnTo>
                <a:lnTo>
                  <a:pt x="4266792" y="160929"/>
                </a:lnTo>
                <a:lnTo>
                  <a:pt x="4305937" y="183462"/>
                </a:lnTo>
                <a:lnTo>
                  <a:pt x="4345082" y="207616"/>
                </a:lnTo>
                <a:lnTo>
                  <a:pt x="4384226" y="233417"/>
                </a:lnTo>
                <a:lnTo>
                  <a:pt x="4423371" y="260890"/>
                </a:lnTo>
                <a:lnTo>
                  <a:pt x="4462516" y="290062"/>
                </a:lnTo>
                <a:lnTo>
                  <a:pt x="4501661" y="320957"/>
                </a:lnTo>
                <a:lnTo>
                  <a:pt x="4540806" y="353602"/>
                </a:lnTo>
                <a:lnTo>
                  <a:pt x="4579951" y="388022"/>
                </a:lnTo>
                <a:lnTo>
                  <a:pt x="4619096" y="424243"/>
                </a:lnTo>
                <a:lnTo>
                  <a:pt x="4658241" y="462290"/>
                </a:lnTo>
                <a:lnTo>
                  <a:pt x="4697385" y="502189"/>
                </a:lnTo>
                <a:lnTo>
                  <a:pt x="4736530" y="543965"/>
                </a:lnTo>
                <a:lnTo>
                  <a:pt x="4775675" y="587644"/>
                </a:lnTo>
                <a:lnTo>
                  <a:pt x="4814820" y="633253"/>
                </a:lnTo>
                <a:lnTo>
                  <a:pt x="4853965" y="680815"/>
                </a:lnTo>
                <a:lnTo>
                  <a:pt x="4893110" y="730358"/>
                </a:lnTo>
                <a:lnTo>
                  <a:pt x="4932255" y="781906"/>
                </a:lnTo>
                <a:lnTo>
                  <a:pt x="4971400" y="835486"/>
                </a:lnTo>
                <a:lnTo>
                  <a:pt x="5010545" y="891123"/>
                </a:lnTo>
                <a:lnTo>
                  <a:pt x="5049689" y="948842"/>
                </a:lnTo>
                <a:lnTo>
                  <a:pt x="5088834" y="1008669"/>
                </a:lnTo>
                <a:lnTo>
                  <a:pt x="5127979" y="1070629"/>
                </a:lnTo>
                <a:lnTo>
                  <a:pt x="5167124" y="1134750"/>
                </a:lnTo>
                <a:lnTo>
                  <a:pt x="5206269" y="1201055"/>
                </a:lnTo>
                <a:lnTo>
                  <a:pt x="5245414" y="1269571"/>
                </a:lnTo>
                <a:lnTo>
                  <a:pt x="5284559" y="1340323"/>
                </a:lnTo>
                <a:lnTo>
                  <a:pt x="5323704" y="1413336"/>
                </a:lnTo>
                <a:lnTo>
                  <a:pt x="5362848" y="1488638"/>
                </a:lnTo>
                <a:lnTo>
                  <a:pt x="5401993" y="1566252"/>
                </a:lnTo>
                <a:lnTo>
                  <a:pt x="5441138" y="1646205"/>
                </a:lnTo>
                <a:lnTo>
                  <a:pt x="5480283" y="1728523"/>
                </a:lnTo>
                <a:lnTo>
                  <a:pt x="5519428" y="1813230"/>
                </a:lnTo>
                <a:lnTo>
                  <a:pt x="5558573" y="1900353"/>
                </a:lnTo>
                <a:lnTo>
                  <a:pt x="5597718" y="1989917"/>
                </a:lnTo>
                <a:lnTo>
                  <a:pt x="5636863" y="2081948"/>
                </a:lnTo>
                <a:lnTo>
                  <a:pt x="5676008" y="2176472"/>
                </a:lnTo>
                <a:lnTo>
                  <a:pt x="5715152" y="2273513"/>
                </a:lnTo>
                <a:lnTo>
                  <a:pt x="5754297" y="2373098"/>
                </a:lnTo>
                <a:lnTo>
                  <a:pt x="5793442" y="2475253"/>
                </a:lnTo>
                <a:lnTo>
                  <a:pt x="5832587" y="2580002"/>
                </a:lnTo>
                <a:lnTo>
                  <a:pt x="5852160" y="2633358"/>
                </a:lnTo>
              </a:path>
            </a:pathLst>
          </a:custGeom>
          <a:noFill/>
          <a:ln w="431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2-E14 ellipse 33" descr="sci-ppt:o033"/>
          <p:cNvSpPr/>
          <p:nvPr/>
        </p:nvSpPr>
        <p:spPr>
          <a:xfrm>
            <a:off x="4498848" y="182096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2-E14 line 34" descr="sci-ppt:o034"/>
          <p:cNvCxnSpPr/>
          <p:nvPr/>
        </p:nvCxnSpPr>
        <p:spPr>
          <a:xfrm>
            <a:off x="4572000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7" name="C2-E14 text 35" descr="sci-ppt:o035"/>
          <p:cNvSpPr txBox="1"/>
          <p:nvPr/>
        </p:nvSpPr>
        <p:spPr>
          <a:xfrm>
            <a:off x="4663440" y="1436914"/>
            <a:ext cx="2743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barrier W* at r* = 2σ/Δpₙ</a:t>
            </a:r>
          </a:p>
        </p:txBody>
      </p:sp>
      <p:sp>
        <p:nvSpPr>
          <p:cNvPr id="38" name="C2-E14 text 36" descr="sci-ppt:o036"/>
          <p:cNvSpPr txBox="1"/>
          <p:nvPr/>
        </p:nvSpPr>
        <p:spPr>
          <a:xfrm>
            <a:off x="1170432" y="1715588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surface cost 4πσr² (grows as r²)</a:t>
            </a:r>
          </a:p>
        </p:txBody>
      </p:sp>
      <p:sp>
        <p:nvSpPr>
          <p:cNvPr id="39" name="C2-E14 text 37" descr="sci-ppt:o037"/>
          <p:cNvSpPr txBox="1"/>
          <p:nvPr/>
        </p:nvSpPr>
        <p:spPr>
          <a:xfrm>
            <a:off x="3182112" y="4502331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7FC8F8"/>
                </a:solidFill>
                <a:latin typeface="Arial"/>
              </a:rPr>
              <a:t>volume gain −(4π/3)Δpₙ r³</a:t>
            </a:r>
          </a:p>
        </p:txBody>
      </p:sp>
      <p:sp>
        <p:nvSpPr>
          <p:cNvPr id="40" name="C2-E14 text 38" descr="sci-ppt:o038"/>
          <p:cNvSpPr txBox="1"/>
          <p:nvPr/>
        </p:nvSpPr>
        <p:spPr>
          <a:xfrm>
            <a:off x="5212079" y="2934788"/>
            <a:ext cx="9144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8EDBD4"/>
                </a:solidFill>
                <a:latin typeface="Arial"/>
              </a:rPr>
              <a:t>net W</a:t>
            </a:r>
          </a:p>
        </p:txBody>
      </p:sp>
      <p:sp>
        <p:nvSpPr>
          <p:cNvPr id="41" name="C2-E14 round_rect 39" descr="sci-ppt:o039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2-E14 text 40" descr="sci-ppt:o040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new interface costs energy first</a:t>
            </a:r>
          </a:p>
        </p:txBody>
      </p:sp>
      <p:sp>
        <p:nvSpPr>
          <p:cNvPr id="43" name="C2-E14 text 41" descr="sci-ppt:o041"/>
          <p:cNvSpPr txBox="1"/>
          <p:nvPr/>
        </p:nvSpPr>
        <p:spPr>
          <a:xfrm>
            <a:off x="7178040" y="1828800"/>
            <a:ext cx="4572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W(rₙ) = 4πσᵥₚ rₙ² − (4π/3) Δpₙ rₙ³</a:t>
            </a:r>
          </a:p>
        </p:txBody>
      </p:sp>
      <p:sp>
        <p:nvSpPr>
          <p:cNvPr id="44" name="C2-E14 text 42" descr="sci-ppt:o042"/>
          <p:cNvSpPr txBox="1"/>
          <p:nvPr/>
        </p:nvSpPr>
        <p:spPr>
          <a:xfrm>
            <a:off x="7379208" y="2423160"/>
            <a:ext cx="437083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Small nuclei: surface term wins, W rises.</a:t>
            </a:r>
          </a:p>
        </p:txBody>
      </p:sp>
      <p:sp>
        <p:nvSpPr>
          <p:cNvPr id="45" name="C2-E14 ellipse 43" descr="sci-ppt:o043"/>
          <p:cNvSpPr/>
          <p:nvPr/>
        </p:nvSpPr>
        <p:spPr>
          <a:xfrm>
            <a:off x="7210044" y="24804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2-E14 text 44" descr="sci-ppt:o044"/>
          <p:cNvSpPr txBox="1"/>
          <p:nvPr/>
        </p:nvSpPr>
        <p:spPr>
          <a:xfrm>
            <a:off x="7379208" y="2708275"/>
            <a:ext cx="437083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Large nuclei: volume term wins, W falls.</a:t>
            </a:r>
          </a:p>
        </p:txBody>
      </p:sp>
      <p:sp>
        <p:nvSpPr>
          <p:cNvPr id="47" name="C2-E14 ellipse 45" descr="sci-ppt:o045"/>
          <p:cNvSpPr/>
          <p:nvPr/>
        </p:nvSpPr>
        <p:spPr>
          <a:xfrm>
            <a:off x="7210044" y="276555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2-E14 text 46" descr="sci-ppt:o046"/>
          <p:cNvSpPr txBox="1"/>
          <p:nvPr/>
        </p:nvSpPr>
        <p:spPr>
          <a:xfrm>
            <a:off x="7379208" y="2993389"/>
            <a:ext cx="43708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crossover is a barrier: a nucleus must reach r*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before growth lowers its energy.</a:t>
            </a:r>
          </a:p>
        </p:txBody>
      </p:sp>
      <p:sp>
        <p:nvSpPr>
          <p:cNvPr id="49" name="C2-E14 ellipse 47" descr="sci-ppt:o047"/>
          <p:cNvSpPr/>
          <p:nvPr/>
        </p:nvSpPr>
        <p:spPr>
          <a:xfrm>
            <a:off x="7210044" y="305066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2-E14 text 48" descr="sci-ppt:o048"/>
          <p:cNvSpPr txBox="1"/>
          <p:nvPr/>
        </p:nvSpPr>
        <p:spPr>
          <a:xfrm>
            <a:off x="7379208" y="3472179"/>
            <a:ext cx="437083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Δpₙ = pₛₐₜ(Tᵢ) − p_d is the superheat that drives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volume gain.</a:t>
            </a:r>
          </a:p>
        </p:txBody>
      </p:sp>
      <p:sp>
        <p:nvSpPr>
          <p:cNvPr id="51" name="C2-E14 ellipse 49" descr="sci-ppt:o049"/>
          <p:cNvSpPr/>
          <p:nvPr/>
        </p:nvSpPr>
        <p:spPr>
          <a:xfrm>
            <a:off x="7210044" y="35294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2-E14 text 50" descr="sci-ppt:o05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All curves are scaled by W* and r*, so one picture holds for any σᵥₚ and Δpₙ (classical homogeneous capillarity).</a:t>
            </a:r>
          </a:p>
        </p:txBody>
      </p:sp>
      <p:sp>
        <p:nvSpPr>
          <p:cNvPr id="53" name="C2-E14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Free energy of Eq. C2-E14 in scaled form: W/W* = 3x² − 2x³, x = rₙ / r*.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