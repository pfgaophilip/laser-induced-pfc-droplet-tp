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2-E31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C2-E31 | Physical-variable diagram</a:t>
            </a:r>
          </a:p>
        </p:txBody>
      </p:sp>
      <p:sp>
        <p:nvSpPr>
          <p:cNvPr id="3" name="rect2" descr="sci-ppt:C2-E31-002"/>
          <p:cNvSpPr/>
          <p:nvPr/>
        </p:nvSpPr>
        <p:spPr>
          <a:xfrm>
            <a:off x="853440" y="1828800"/>
            <a:ext cx="3048000" cy="1219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3" descr="sci-ppt:C2-E31-003"/>
          <p:cNvSpPr txBox="1"/>
          <p:nvPr/>
        </p:nvSpPr>
        <p:spPr>
          <a:xfrm>
            <a:off x="975360" y="1950720"/>
            <a:ext cx="28651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Incident optical energy</a:t>
            </a:r>
          </a:p>
        </p:txBody>
      </p:sp>
      <p:sp>
        <p:nvSpPr>
          <p:cNvPr id="5" name="rect4" descr="sci-ppt:C2-E31-004"/>
          <p:cNvSpPr/>
          <p:nvPr/>
        </p:nvSpPr>
        <p:spPr>
          <a:xfrm>
            <a:off x="4450080" y="1828800"/>
            <a:ext cx="3048000" cy="1219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5" descr="sci-ppt:C2-E31-005"/>
          <p:cNvSpPr txBox="1"/>
          <p:nvPr/>
        </p:nvSpPr>
        <p:spPr>
          <a:xfrm>
            <a:off x="4572000" y="1950720"/>
            <a:ext cx="28651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Absorbed: 223.848 nJ</a:t>
            </a:r>
          </a:p>
        </p:txBody>
      </p:sp>
      <p:sp>
        <p:nvSpPr>
          <p:cNvPr id="7" name="rect6" descr="sci-ppt:C2-E31-006"/>
          <p:cNvSpPr/>
          <p:nvPr/>
        </p:nvSpPr>
        <p:spPr>
          <a:xfrm>
            <a:off x="8046720" y="1828800"/>
            <a:ext cx="3048000" cy="121920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7" descr="sci-ppt:C2-E31-007"/>
          <p:cNvSpPr txBox="1"/>
          <p:nvPr/>
        </p:nvSpPr>
        <p:spPr>
          <a:xfrm>
            <a:off x="8168640" y="1950720"/>
            <a:ext cx="28651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PFC prep: 97.8243 nJ</a:t>
            </a:r>
          </a:p>
        </p:txBody>
      </p:sp>
      <p:cxnSp>
        <p:nvCxnSpPr>
          <p:cNvPr id="9" name="arrow8" descr="sci-ppt:C2-E31-008"/>
          <p:cNvCxnSpPr/>
          <p:nvPr/>
        </p:nvCxnSpPr>
        <p:spPr>
          <a:xfrm>
            <a:off x="3962399" y="2438400"/>
            <a:ext cx="365761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0" name="arrow9" descr="sci-ppt:C2-E31-009"/>
          <p:cNvCxnSpPr/>
          <p:nvPr/>
        </p:nvCxnSpPr>
        <p:spPr>
          <a:xfrm>
            <a:off x="7559040" y="2438400"/>
            <a:ext cx="365759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text10" descr="sci-ppt:C2-E31-010"/>
          <p:cNvSpPr txBox="1"/>
          <p:nvPr/>
        </p:nvSpPr>
        <p:spPr>
          <a:xfrm>
            <a:off x="1219200" y="3840480"/>
            <a:ext cx="103632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Required thermal-transfer fraction: at least 0.437012.</a:t>
            </a:r>
          </a:p>
        </p:txBody>
      </p:sp>
      <p:sp>
        <p:nvSpPr>
          <p:cNvPr id="12" name="text11" descr="sci-ppt:C2-E31-011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E_L = 1 μJ: incident</a:t>
            </a:r>
          </a:p>
        </p:txBody>
      </p:sp>
      <p:sp>
        <p:nvSpPr>
          <p:cNvPr id="13" name="text12" descr="sci-ppt:C2-E31-012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A_λ = 0.568909: absorption</a:t>
            </a:r>
          </a:p>
        </p:txBody>
      </p:sp>
      <p:sp>
        <p:nvSpPr>
          <p:cNvPr id="14" name="text13" descr="sci-ppt:C2-E31-013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Q_prep = 97.8243 nJ: specified PFC preparation</a:t>
            </a:r>
          </a:p>
        </p:txBody>
      </p:sp>
      <p:sp>
        <p:nvSpPr>
          <p:cNvPr id="15" name="text14" descr="sci-ppt:C2-E31-014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b_a = 10 μm; w = 20 μm</a:t>
            </a:r>
          </a:p>
        </p:txBody>
      </p:sp>
      <p:sp>
        <p:nvSpPr>
          <p:cNvPr id="16" name="text15" descr="sci-ppt:C2-E31-015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f_geo = 0.393469: interception</a:t>
            </a:r>
          </a:p>
        </p:txBody>
      </p:sp>
      <p:sp>
        <p:nvSpPr>
          <p:cNvPr id="17" name="text16" descr="sci-ppt:C2-E31-016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E_abs = 223.848 nJ: absorber heat</a:t>
            </a:r>
          </a:p>
        </p:txBody>
      </p:sp>
      <p:sp>
        <p:nvSpPr>
          <p:cNvPr id="18" name="text17" descr="sci-ppt:C2-E31-017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η_th,min = 0.437012</a:t>
            </a:r>
          </a:p>
        </p:txBody>
      </p:sp>
      <p:sp>
        <p:nvSpPr>
          <p:cNvPr id="19" name="text18" descr="sci-ppt:C2-E31-018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μ_a = 2×10⁵ m⁻¹; h_a = 5 μm; ℛ_λ = 0.10</a:t>
            </a:r>
          </a:p>
        </p:txBody>
      </p:sp>
      <p:sp>
        <p:nvSpPr>
          <p:cNvPr id="20" name="text19" descr="sci-ppt:C2-E31-019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Not all absorbed energy reaches the PFC</a:t>
            </a:r>
          </a:p>
        </p:txBody>
      </p:sp>
      <p:sp>
        <p:nvSpPr>
          <p:cNvPr id="21" name="text20" descr="sci-ppt:C2-E31-020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A surplus absorber budget is not evidence of nucleation or jetting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