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3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C2-E31 · Declared optical-to-heat energy screen</a:t>
            </a:r>
          </a:p>
        </p:txBody>
      </p:sp>
      <p:sp>
        <p:nvSpPr>
          <p:cNvPr id="3" name="C2-E31 text 1" descr="sci-ppt:o001"/>
          <p:cNvSpPr txBox="1"/>
          <p:nvPr/>
        </p:nvSpPr>
        <p:spPr>
          <a:xfrm>
            <a:off x="457200" y="914400"/>
            <a:ext cx="109728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From 1 µJ of laser light to the 97.8 nJ the PFC must receive (nJ)</a:t>
            </a:r>
          </a:p>
        </p:txBody>
      </p:sp>
      <p:sp>
        <p:nvSpPr>
          <p:cNvPr id="4" name="C2-E31 text 2" descr="sci-ppt:o002"/>
          <p:cNvSpPr txBox="1"/>
          <p:nvPr/>
        </p:nvSpPr>
        <p:spPr>
          <a:xfrm>
            <a:off x="457200" y="148132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incident E_L</a:t>
            </a:r>
          </a:p>
        </p:txBody>
      </p:sp>
      <p:sp>
        <p:nvSpPr>
          <p:cNvPr id="5" name="C2-E31 rect 3" descr="sci-ppt:o003"/>
          <p:cNvSpPr/>
          <p:nvPr/>
        </p:nvSpPr>
        <p:spPr>
          <a:xfrm>
            <a:off x="4663440" y="1463040"/>
            <a:ext cx="5669279" cy="50292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2-E31 text 4" descr="sci-ppt:o004"/>
          <p:cNvSpPr txBox="1"/>
          <p:nvPr/>
        </p:nvSpPr>
        <p:spPr>
          <a:xfrm>
            <a:off x="10405872" y="150876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1000.0 nJ</a:t>
            </a:r>
          </a:p>
        </p:txBody>
      </p:sp>
      <p:sp>
        <p:nvSpPr>
          <p:cNvPr id="7" name="C2-E31 text 5" descr="sci-ppt:o005"/>
          <p:cNvSpPr txBox="1"/>
          <p:nvPr/>
        </p:nvSpPr>
        <p:spPr>
          <a:xfrm>
            <a:off x="457200" y="225856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absorbed E_abs = f_geo A_λ E_L</a:t>
            </a:r>
          </a:p>
        </p:txBody>
      </p:sp>
      <p:sp>
        <p:nvSpPr>
          <p:cNvPr id="8" name="C2-E31 rect 6" descr="sci-ppt:o006"/>
          <p:cNvSpPr/>
          <p:nvPr/>
        </p:nvSpPr>
        <p:spPr>
          <a:xfrm>
            <a:off x="4663440" y="2240280"/>
            <a:ext cx="1269057" cy="50292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2-E31 text 7" descr="sci-ppt:o007"/>
          <p:cNvSpPr txBox="1"/>
          <p:nvPr/>
        </p:nvSpPr>
        <p:spPr>
          <a:xfrm>
            <a:off x="6005649" y="228600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223.8 nJ</a:t>
            </a:r>
          </a:p>
        </p:txBody>
      </p:sp>
      <p:sp>
        <p:nvSpPr>
          <p:cNvPr id="10" name="C2-E31 text 8" descr="sci-ppt:o008"/>
          <p:cNvSpPr txBox="1"/>
          <p:nvPr/>
        </p:nvSpPr>
        <p:spPr>
          <a:xfrm>
            <a:off x="457200" y="3035808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7F0F3"/>
                </a:solidFill>
                <a:latin typeface="Arial"/>
              </a:rPr>
              <a:t>needed Qₚᵣₑₚ (constant-property)</a:t>
            </a:r>
          </a:p>
        </p:txBody>
      </p:sp>
      <p:sp>
        <p:nvSpPr>
          <p:cNvPr id="11" name="C2-E31 rect 9" descr="sci-ppt:o009"/>
          <p:cNvSpPr/>
          <p:nvPr/>
        </p:nvSpPr>
        <p:spPr>
          <a:xfrm>
            <a:off x="4663440" y="3017520"/>
            <a:ext cx="554593" cy="50292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C2-E31 text 10" descr="sci-ppt:o010"/>
          <p:cNvSpPr txBox="1"/>
          <p:nvPr/>
        </p:nvSpPr>
        <p:spPr>
          <a:xfrm>
            <a:off x="5291185" y="3063240"/>
            <a:ext cx="13716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97.8 nJ</a:t>
            </a:r>
          </a:p>
        </p:txBody>
      </p:sp>
      <p:sp>
        <p:nvSpPr>
          <p:cNvPr id="13" name="C2-E31 round_rect 11" descr="sci-ppt:o011"/>
          <p:cNvSpPr/>
          <p:nvPr/>
        </p:nvSpPr>
        <p:spPr>
          <a:xfrm>
            <a:off x="457200" y="3840480"/>
            <a:ext cx="5486400" cy="1920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C2-E31 text 12" descr="sci-ppt:o012"/>
          <p:cNvSpPr txBox="1"/>
          <p:nvPr/>
        </p:nvSpPr>
        <p:spPr>
          <a:xfrm>
            <a:off x="594360" y="3913632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f_geo = 1 − e^(−2(10/20)²) = 0.393469</a:t>
            </a:r>
          </a:p>
        </p:txBody>
      </p:sp>
      <p:sp>
        <p:nvSpPr>
          <p:cNvPr id="15" name="C2-E31 text 13" descr="sci-ppt:o013"/>
          <p:cNvSpPr txBox="1"/>
          <p:nvPr/>
        </p:nvSpPr>
        <p:spPr>
          <a:xfrm>
            <a:off x="594360" y="4279392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A_λ = 0.90 × (1 − e^(−1)) = 0.568909</a:t>
            </a:r>
          </a:p>
        </p:txBody>
      </p:sp>
      <p:sp>
        <p:nvSpPr>
          <p:cNvPr id="16" name="C2-E31 text 14" descr="sci-ppt:o014"/>
          <p:cNvSpPr txBox="1"/>
          <p:nvPr/>
        </p:nvSpPr>
        <p:spPr>
          <a:xfrm>
            <a:off x="594360" y="4645152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E_abs = 0.393469 × 0.568909 × 1 µJ = 223.848 nJ</a:t>
            </a:r>
          </a:p>
        </p:txBody>
      </p:sp>
      <p:sp>
        <p:nvSpPr>
          <p:cNvPr id="17" name="C2-E31 text 15" descr="sci-ppt:o015"/>
          <p:cNvSpPr txBox="1"/>
          <p:nvPr/>
        </p:nvSpPr>
        <p:spPr>
          <a:xfrm>
            <a:off x="594360" y="512064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No loss between absorption and PFC is included in this screen.</a:t>
            </a:r>
          </a:p>
        </p:txBody>
      </p:sp>
      <p:sp>
        <p:nvSpPr>
          <p:cNvPr id="18" name="C2-E31 round_rect 16" descr="sci-ppt:o016"/>
          <p:cNvSpPr/>
          <p:nvPr/>
        </p:nvSpPr>
        <p:spPr>
          <a:xfrm>
            <a:off x="6217920" y="3840480"/>
            <a:ext cx="5486400" cy="1920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2-E31 text 17" descr="sci-ppt:o017"/>
          <p:cNvSpPr txBox="1"/>
          <p:nvPr/>
        </p:nvSpPr>
        <p:spPr>
          <a:xfrm>
            <a:off x="6327648" y="3895344"/>
            <a:ext cx="526694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Minimum heat-delivery fraction</a:t>
            </a:r>
          </a:p>
        </p:txBody>
      </p:sp>
      <p:sp>
        <p:nvSpPr>
          <p:cNvPr id="20" name="C2-E31 text 18" descr="sci-ppt:o018"/>
          <p:cNvSpPr txBox="1"/>
          <p:nvPr/>
        </p:nvSpPr>
        <p:spPr>
          <a:xfrm>
            <a:off x="6355080" y="4224528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ηₜₕ,min = Qₚᵣₑₚ / E_abs = 97.8243 / 223.848 = 0.437012</a:t>
            </a:r>
          </a:p>
        </p:txBody>
      </p:sp>
      <p:sp>
        <p:nvSpPr>
          <p:cNvPr id="21" name="C2-E31 text 19" descr="sci-ppt:o019"/>
          <p:cNvSpPr txBox="1"/>
          <p:nvPr/>
        </p:nvSpPr>
        <p:spPr>
          <a:xfrm>
            <a:off x="6355080" y="4754880"/>
            <a:ext cx="5212080" cy="44856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At least 43.7 % of the declared absorbed energy must reach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the PFC as heat, even with no losses.</a:t>
            </a:r>
          </a:p>
        </p:txBody>
      </p:sp>
      <p:sp>
        <p:nvSpPr>
          <p:cNvPr id="22" name="C2-E31 text 20" descr="sci-ppt:o02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Energy screen of Eq. C2-E31; all inputs are declared teaching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