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0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C1-E05 · Derived inertial pressure</a:t>
            </a:r>
          </a:p>
        </p:txBody>
      </p:sp>
      <p:cxnSp>
        <p:nvCxnSpPr>
          <p:cNvPr id="3" name="C1-E05 line 1" descr="sci-ppt:o001"/>
          <p:cNvCxnSpPr/>
          <p:nvPr/>
        </p:nvCxnSpPr>
        <p:spPr>
          <a:xfrm>
            <a:off x="868680" y="5303520"/>
            <a:ext cx="53949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05 line 2" descr="sci-ppt:o002"/>
          <p:cNvCxnSpPr/>
          <p:nvPr/>
        </p:nvCxnSpPr>
        <p:spPr>
          <a:xfrm>
            <a:off x="868680" y="1371600"/>
            <a:ext cx="0" cy="39319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05 line 3" descr="sci-ppt:o003"/>
          <p:cNvCxnSpPr/>
          <p:nvPr/>
        </p:nvCxnSpPr>
        <p:spPr>
          <a:xfrm>
            <a:off x="86868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05 line 4" descr="sci-ppt:o004"/>
          <p:cNvCxnSpPr/>
          <p:nvPr/>
        </p:nvCxnSpPr>
        <p:spPr>
          <a:xfrm>
            <a:off x="86868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05 text 5" descr="sci-ppt:o005"/>
          <p:cNvSpPr txBox="1"/>
          <p:nvPr/>
        </p:nvSpPr>
        <p:spPr>
          <a:xfrm>
            <a:off x="411479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C1-E05 line 6" descr="sci-ppt:o006"/>
          <p:cNvCxnSpPr/>
          <p:nvPr/>
        </p:nvCxnSpPr>
        <p:spPr>
          <a:xfrm>
            <a:off x="266700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05 line 7" descr="sci-ppt:o007"/>
          <p:cNvCxnSpPr/>
          <p:nvPr/>
        </p:nvCxnSpPr>
        <p:spPr>
          <a:xfrm>
            <a:off x="266700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05 text 8" descr="sci-ppt:o008"/>
          <p:cNvSpPr txBox="1"/>
          <p:nvPr/>
        </p:nvSpPr>
        <p:spPr>
          <a:xfrm>
            <a:off x="220980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1" name="C1-E05 line 9" descr="sci-ppt:o009"/>
          <p:cNvCxnSpPr/>
          <p:nvPr/>
        </p:nvCxnSpPr>
        <p:spPr>
          <a:xfrm>
            <a:off x="446532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05 line 10" descr="sci-ppt:o010"/>
          <p:cNvCxnSpPr/>
          <p:nvPr/>
        </p:nvCxnSpPr>
        <p:spPr>
          <a:xfrm>
            <a:off x="446532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05 text 11" descr="sci-ppt:o011"/>
          <p:cNvSpPr txBox="1"/>
          <p:nvPr/>
        </p:nvSpPr>
        <p:spPr>
          <a:xfrm>
            <a:off x="400812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4" name="C1-E05 line 12" descr="sci-ppt:o012"/>
          <p:cNvCxnSpPr/>
          <p:nvPr/>
        </p:nvCxnSpPr>
        <p:spPr>
          <a:xfrm>
            <a:off x="6263640" y="53035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05 line 13" descr="sci-ppt:o013"/>
          <p:cNvCxnSpPr/>
          <p:nvPr/>
        </p:nvCxnSpPr>
        <p:spPr>
          <a:xfrm>
            <a:off x="6263640" y="1371600"/>
            <a:ext cx="0" cy="39319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05 text 14" descr="sci-ppt:o014"/>
          <p:cNvSpPr txBox="1"/>
          <p:nvPr/>
        </p:nvSpPr>
        <p:spPr>
          <a:xfrm>
            <a:off x="5806440" y="53858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17" name="C1-E05 line 15" descr="sci-ppt:o015"/>
          <p:cNvCxnSpPr/>
          <p:nvPr/>
        </p:nvCxnSpPr>
        <p:spPr>
          <a:xfrm>
            <a:off x="804671" y="530352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05 line 16" descr="sci-ppt:o016"/>
          <p:cNvCxnSpPr/>
          <p:nvPr/>
        </p:nvCxnSpPr>
        <p:spPr>
          <a:xfrm>
            <a:off x="804671" y="4517136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05 line 17" descr="sci-ppt:o017"/>
          <p:cNvCxnSpPr/>
          <p:nvPr/>
        </p:nvCxnSpPr>
        <p:spPr>
          <a:xfrm>
            <a:off x="868680" y="4517136"/>
            <a:ext cx="5394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05 text 18" descr="sci-ppt:o018"/>
          <p:cNvSpPr txBox="1"/>
          <p:nvPr/>
        </p:nvSpPr>
        <p:spPr>
          <a:xfrm>
            <a:off x="0" y="443484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1" name="C1-E05 line 19" descr="sci-ppt:o019"/>
          <p:cNvCxnSpPr/>
          <p:nvPr/>
        </p:nvCxnSpPr>
        <p:spPr>
          <a:xfrm>
            <a:off x="804671" y="3730752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05 line 20" descr="sci-ppt:o020"/>
          <p:cNvCxnSpPr/>
          <p:nvPr/>
        </p:nvCxnSpPr>
        <p:spPr>
          <a:xfrm>
            <a:off x="868680" y="3730752"/>
            <a:ext cx="5394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05 text 21" descr="sci-ppt:o021"/>
          <p:cNvSpPr txBox="1"/>
          <p:nvPr/>
        </p:nvSpPr>
        <p:spPr>
          <a:xfrm>
            <a:off x="0" y="364845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1-E05 line 22" descr="sci-ppt:o022"/>
          <p:cNvCxnSpPr/>
          <p:nvPr/>
        </p:nvCxnSpPr>
        <p:spPr>
          <a:xfrm>
            <a:off x="804671" y="2944368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05 line 23" descr="sci-ppt:o023"/>
          <p:cNvCxnSpPr/>
          <p:nvPr/>
        </p:nvCxnSpPr>
        <p:spPr>
          <a:xfrm>
            <a:off x="868680" y="2944368"/>
            <a:ext cx="5394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05 text 24" descr="sci-ppt:o024"/>
          <p:cNvSpPr txBox="1"/>
          <p:nvPr/>
        </p:nvSpPr>
        <p:spPr>
          <a:xfrm>
            <a:off x="0" y="286207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7" name="C1-E05 line 25" descr="sci-ppt:o025"/>
          <p:cNvCxnSpPr/>
          <p:nvPr/>
        </p:nvCxnSpPr>
        <p:spPr>
          <a:xfrm>
            <a:off x="804671" y="2157984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05 line 26" descr="sci-ppt:o026"/>
          <p:cNvCxnSpPr/>
          <p:nvPr/>
        </p:nvCxnSpPr>
        <p:spPr>
          <a:xfrm>
            <a:off x="868680" y="2157984"/>
            <a:ext cx="5394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05 text 27" descr="sci-ppt:o027"/>
          <p:cNvSpPr txBox="1"/>
          <p:nvPr/>
        </p:nvSpPr>
        <p:spPr>
          <a:xfrm>
            <a:off x="0" y="207568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0" name="C1-E05 line 28" descr="sci-ppt:o028"/>
          <p:cNvCxnSpPr/>
          <p:nvPr/>
        </p:nvCxnSpPr>
        <p:spPr>
          <a:xfrm>
            <a:off x="804671" y="13716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05 line 29" descr="sci-ppt:o029"/>
          <p:cNvCxnSpPr/>
          <p:nvPr/>
        </p:nvCxnSpPr>
        <p:spPr>
          <a:xfrm>
            <a:off x="868680" y="1371600"/>
            <a:ext cx="53949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05 text 30" descr="sci-ppt:o030"/>
          <p:cNvSpPr txBox="1"/>
          <p:nvPr/>
        </p:nvSpPr>
        <p:spPr>
          <a:xfrm>
            <a:off x="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sp>
        <p:nvSpPr>
          <p:cNvPr id="33" name="C1-E05 text 31" descr="sci-ppt:o031"/>
          <p:cNvSpPr txBox="1"/>
          <p:nvPr/>
        </p:nvSpPr>
        <p:spPr>
          <a:xfrm>
            <a:off x="868680" y="5586983"/>
            <a:ext cx="5394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</a:t>
            </a:r>
          </a:p>
        </p:txBody>
      </p:sp>
      <p:sp>
        <p:nvSpPr>
          <p:cNvPr id="34" name="C1-E05 text 32" descr="sci-ppt:o032"/>
          <p:cNvSpPr txBox="1"/>
          <p:nvPr/>
        </p:nvSpPr>
        <p:spPr>
          <a:xfrm>
            <a:off x="320040" y="1024128"/>
            <a:ext cx="5394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(p − p∞) / ρ</a:t>
            </a:r>
          </a:p>
        </p:txBody>
      </p:sp>
      <p:cxnSp>
        <p:nvCxnSpPr>
          <p:cNvPr id="35" name="C1-E05 line 33" descr="sci-ppt:o033"/>
          <p:cNvCxnSpPr/>
          <p:nvPr/>
        </p:nvCxnSpPr>
        <p:spPr>
          <a:xfrm>
            <a:off x="868680" y="4517136"/>
            <a:ext cx="539496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36" name="C1-E05 polygon 34" descr="sci-ppt:o034"/>
          <p:cNvSpPr/>
          <p:nvPr/>
        </p:nvSpPr>
        <p:spPr>
          <a:xfrm>
            <a:off x="868680" y="3713349"/>
            <a:ext cx="5394960" cy="510428"/>
          </a:xfrm>
          <a:custGeom>
            <a:avLst/>
            <a:gdLst/>
            <a:ahLst/>
            <a:cxnLst/>
            <a:rect l="l" t="t" r="r" b="b"/>
            <a:pathLst>
              <a:path w="5394960" h="510428">
                <a:moveTo>
                  <a:pt x="0" y="17403"/>
                </a:moveTo>
                <a:lnTo>
                  <a:pt x="36207" y="10549"/>
                </a:lnTo>
                <a:lnTo>
                  <a:pt x="72415" y="5627"/>
                </a:lnTo>
                <a:lnTo>
                  <a:pt x="108623" y="2374"/>
                </a:lnTo>
                <a:lnTo>
                  <a:pt x="144831" y="563"/>
                </a:lnTo>
                <a:lnTo>
                  <a:pt x="181038" y="0"/>
                </a:lnTo>
                <a:lnTo>
                  <a:pt x="217246" y="514"/>
                </a:lnTo>
                <a:lnTo>
                  <a:pt x="253454" y="1958"/>
                </a:lnTo>
                <a:lnTo>
                  <a:pt x="289662" y="4205"/>
                </a:lnTo>
                <a:lnTo>
                  <a:pt x="325870" y="7144"/>
                </a:lnTo>
                <a:lnTo>
                  <a:pt x="362077" y="10677"/>
                </a:lnTo>
                <a:lnTo>
                  <a:pt x="398285" y="14720"/>
                </a:lnTo>
                <a:lnTo>
                  <a:pt x="434493" y="19198"/>
                </a:lnTo>
                <a:lnTo>
                  <a:pt x="470701" y="24048"/>
                </a:lnTo>
                <a:lnTo>
                  <a:pt x="506908" y="29212"/>
                </a:lnTo>
                <a:lnTo>
                  <a:pt x="543116" y="34641"/>
                </a:lnTo>
                <a:lnTo>
                  <a:pt x="579324" y="40292"/>
                </a:lnTo>
                <a:lnTo>
                  <a:pt x="615532" y="46126"/>
                </a:lnTo>
                <a:lnTo>
                  <a:pt x="651740" y="52110"/>
                </a:lnTo>
                <a:lnTo>
                  <a:pt x="687947" y="58215"/>
                </a:lnTo>
                <a:lnTo>
                  <a:pt x="724155" y="64415"/>
                </a:lnTo>
                <a:lnTo>
                  <a:pt x="760363" y="70686"/>
                </a:lnTo>
                <a:lnTo>
                  <a:pt x="796571" y="77011"/>
                </a:lnTo>
                <a:lnTo>
                  <a:pt x="832779" y="83370"/>
                </a:lnTo>
                <a:lnTo>
                  <a:pt x="868986" y="89749"/>
                </a:lnTo>
                <a:lnTo>
                  <a:pt x="905194" y="96134"/>
                </a:lnTo>
                <a:lnTo>
                  <a:pt x="941402" y="102514"/>
                </a:lnTo>
                <a:lnTo>
                  <a:pt x="977610" y="108879"/>
                </a:lnTo>
                <a:lnTo>
                  <a:pt x="1013817" y="115220"/>
                </a:lnTo>
                <a:lnTo>
                  <a:pt x="1050025" y="121529"/>
                </a:lnTo>
                <a:lnTo>
                  <a:pt x="1086233" y="127798"/>
                </a:lnTo>
                <a:lnTo>
                  <a:pt x="1122441" y="134024"/>
                </a:lnTo>
                <a:lnTo>
                  <a:pt x="1158649" y="140200"/>
                </a:lnTo>
                <a:lnTo>
                  <a:pt x="1194856" y="146322"/>
                </a:lnTo>
                <a:lnTo>
                  <a:pt x="1231064" y="152387"/>
                </a:lnTo>
                <a:lnTo>
                  <a:pt x="1267272" y="158391"/>
                </a:lnTo>
                <a:lnTo>
                  <a:pt x="1303480" y="164332"/>
                </a:lnTo>
                <a:lnTo>
                  <a:pt x="1339688" y="170208"/>
                </a:lnTo>
                <a:lnTo>
                  <a:pt x="1375895" y="176016"/>
                </a:lnTo>
                <a:lnTo>
                  <a:pt x="1412103" y="181757"/>
                </a:lnTo>
                <a:lnTo>
                  <a:pt x="1448311" y="187427"/>
                </a:lnTo>
                <a:lnTo>
                  <a:pt x="1484519" y="193027"/>
                </a:lnTo>
                <a:lnTo>
                  <a:pt x="1520726" y="198557"/>
                </a:lnTo>
                <a:lnTo>
                  <a:pt x="1556934" y="204014"/>
                </a:lnTo>
                <a:lnTo>
                  <a:pt x="1593142" y="209400"/>
                </a:lnTo>
                <a:lnTo>
                  <a:pt x="1629350" y="214715"/>
                </a:lnTo>
                <a:lnTo>
                  <a:pt x="1665558" y="219958"/>
                </a:lnTo>
                <a:lnTo>
                  <a:pt x="1701765" y="225129"/>
                </a:lnTo>
                <a:lnTo>
                  <a:pt x="1737973" y="230229"/>
                </a:lnTo>
                <a:lnTo>
                  <a:pt x="1774181" y="235259"/>
                </a:lnTo>
                <a:lnTo>
                  <a:pt x="1810389" y="240218"/>
                </a:lnTo>
                <a:lnTo>
                  <a:pt x="1846597" y="245108"/>
                </a:lnTo>
                <a:lnTo>
                  <a:pt x="1882804" y="249930"/>
                </a:lnTo>
                <a:lnTo>
                  <a:pt x="1919012" y="254683"/>
                </a:lnTo>
                <a:lnTo>
                  <a:pt x="1955220" y="259368"/>
                </a:lnTo>
                <a:lnTo>
                  <a:pt x="1991428" y="263987"/>
                </a:lnTo>
                <a:lnTo>
                  <a:pt x="2027635" y="268540"/>
                </a:lnTo>
                <a:lnTo>
                  <a:pt x="2063843" y="273028"/>
                </a:lnTo>
                <a:lnTo>
                  <a:pt x="2100051" y="277453"/>
                </a:lnTo>
                <a:lnTo>
                  <a:pt x="2136259" y="281814"/>
                </a:lnTo>
                <a:lnTo>
                  <a:pt x="2172467" y="286112"/>
                </a:lnTo>
                <a:lnTo>
                  <a:pt x="2208674" y="290350"/>
                </a:lnTo>
                <a:lnTo>
                  <a:pt x="2244882" y="294527"/>
                </a:lnTo>
                <a:lnTo>
                  <a:pt x="2281090" y="298644"/>
                </a:lnTo>
                <a:lnTo>
                  <a:pt x="2317298" y="302703"/>
                </a:lnTo>
                <a:lnTo>
                  <a:pt x="2353506" y="306705"/>
                </a:lnTo>
                <a:lnTo>
                  <a:pt x="2389713" y="310650"/>
                </a:lnTo>
                <a:lnTo>
                  <a:pt x="2425921" y="314539"/>
                </a:lnTo>
                <a:lnTo>
                  <a:pt x="2462129" y="318373"/>
                </a:lnTo>
                <a:lnTo>
                  <a:pt x="2498337" y="322153"/>
                </a:lnTo>
                <a:lnTo>
                  <a:pt x="2534544" y="325881"/>
                </a:lnTo>
                <a:lnTo>
                  <a:pt x="2570752" y="329556"/>
                </a:lnTo>
                <a:lnTo>
                  <a:pt x="2606960" y="333180"/>
                </a:lnTo>
                <a:lnTo>
                  <a:pt x="2643168" y="336754"/>
                </a:lnTo>
                <a:lnTo>
                  <a:pt x="2679376" y="340278"/>
                </a:lnTo>
                <a:lnTo>
                  <a:pt x="2715583" y="343754"/>
                </a:lnTo>
                <a:lnTo>
                  <a:pt x="2751791" y="347182"/>
                </a:lnTo>
                <a:lnTo>
                  <a:pt x="2787999" y="350563"/>
                </a:lnTo>
                <a:lnTo>
                  <a:pt x="2824207" y="353898"/>
                </a:lnTo>
                <a:lnTo>
                  <a:pt x="2860415" y="357188"/>
                </a:lnTo>
                <a:lnTo>
                  <a:pt x="2896622" y="360433"/>
                </a:lnTo>
                <a:lnTo>
                  <a:pt x="2932830" y="363635"/>
                </a:lnTo>
                <a:lnTo>
                  <a:pt x="2969038" y="366793"/>
                </a:lnTo>
                <a:lnTo>
                  <a:pt x="3005246" y="369910"/>
                </a:lnTo>
                <a:lnTo>
                  <a:pt x="3041453" y="372985"/>
                </a:lnTo>
                <a:lnTo>
                  <a:pt x="3077661" y="376020"/>
                </a:lnTo>
                <a:lnTo>
                  <a:pt x="3113869" y="379014"/>
                </a:lnTo>
                <a:lnTo>
                  <a:pt x="3150077" y="381970"/>
                </a:lnTo>
                <a:lnTo>
                  <a:pt x="3186285" y="384886"/>
                </a:lnTo>
                <a:lnTo>
                  <a:pt x="3222492" y="387765"/>
                </a:lnTo>
                <a:lnTo>
                  <a:pt x="3258700" y="390607"/>
                </a:lnTo>
                <a:lnTo>
                  <a:pt x="3294908" y="393412"/>
                </a:lnTo>
                <a:lnTo>
                  <a:pt x="3331116" y="396181"/>
                </a:lnTo>
                <a:lnTo>
                  <a:pt x="3367324" y="398915"/>
                </a:lnTo>
                <a:lnTo>
                  <a:pt x="3403531" y="401614"/>
                </a:lnTo>
                <a:lnTo>
                  <a:pt x="3439739" y="404279"/>
                </a:lnTo>
                <a:lnTo>
                  <a:pt x="3475947" y="406911"/>
                </a:lnTo>
                <a:lnTo>
                  <a:pt x="3512155" y="409510"/>
                </a:lnTo>
                <a:lnTo>
                  <a:pt x="3548362" y="412076"/>
                </a:lnTo>
                <a:lnTo>
                  <a:pt x="3584570" y="414611"/>
                </a:lnTo>
                <a:lnTo>
                  <a:pt x="3620778" y="417114"/>
                </a:lnTo>
                <a:lnTo>
                  <a:pt x="3656986" y="419587"/>
                </a:lnTo>
                <a:lnTo>
                  <a:pt x="3693194" y="422029"/>
                </a:lnTo>
                <a:lnTo>
                  <a:pt x="3729401" y="424442"/>
                </a:lnTo>
                <a:lnTo>
                  <a:pt x="3765609" y="426826"/>
                </a:lnTo>
                <a:lnTo>
                  <a:pt x="3801817" y="429181"/>
                </a:lnTo>
                <a:lnTo>
                  <a:pt x="3838025" y="431508"/>
                </a:lnTo>
                <a:lnTo>
                  <a:pt x="3874233" y="433807"/>
                </a:lnTo>
                <a:lnTo>
                  <a:pt x="3910440" y="436079"/>
                </a:lnTo>
                <a:lnTo>
                  <a:pt x="3946648" y="438325"/>
                </a:lnTo>
                <a:lnTo>
                  <a:pt x="3982856" y="440543"/>
                </a:lnTo>
                <a:lnTo>
                  <a:pt x="4019064" y="442736"/>
                </a:lnTo>
                <a:lnTo>
                  <a:pt x="4055271" y="444904"/>
                </a:lnTo>
                <a:lnTo>
                  <a:pt x="4091479" y="447046"/>
                </a:lnTo>
                <a:lnTo>
                  <a:pt x="4127687" y="449164"/>
                </a:lnTo>
                <a:lnTo>
                  <a:pt x="4163895" y="451258"/>
                </a:lnTo>
                <a:lnTo>
                  <a:pt x="4200103" y="453327"/>
                </a:lnTo>
                <a:lnTo>
                  <a:pt x="4236310" y="455374"/>
                </a:lnTo>
                <a:lnTo>
                  <a:pt x="4272518" y="457397"/>
                </a:lnTo>
                <a:lnTo>
                  <a:pt x="4308726" y="459397"/>
                </a:lnTo>
                <a:lnTo>
                  <a:pt x="4344934" y="461375"/>
                </a:lnTo>
                <a:lnTo>
                  <a:pt x="4381142" y="463332"/>
                </a:lnTo>
                <a:lnTo>
                  <a:pt x="4417349" y="465266"/>
                </a:lnTo>
                <a:lnTo>
                  <a:pt x="4453557" y="467179"/>
                </a:lnTo>
                <a:lnTo>
                  <a:pt x="4489765" y="469072"/>
                </a:lnTo>
                <a:lnTo>
                  <a:pt x="4525973" y="470943"/>
                </a:lnTo>
                <a:lnTo>
                  <a:pt x="4562180" y="472795"/>
                </a:lnTo>
                <a:lnTo>
                  <a:pt x="4598388" y="474626"/>
                </a:lnTo>
                <a:lnTo>
                  <a:pt x="4634596" y="476438"/>
                </a:lnTo>
                <a:lnTo>
                  <a:pt x="4670804" y="478230"/>
                </a:lnTo>
                <a:lnTo>
                  <a:pt x="4707012" y="480003"/>
                </a:lnTo>
                <a:lnTo>
                  <a:pt x="4743219" y="481758"/>
                </a:lnTo>
                <a:lnTo>
                  <a:pt x="4779427" y="483494"/>
                </a:lnTo>
                <a:lnTo>
                  <a:pt x="4815635" y="485211"/>
                </a:lnTo>
                <a:lnTo>
                  <a:pt x="4851843" y="486911"/>
                </a:lnTo>
                <a:lnTo>
                  <a:pt x="4888051" y="488593"/>
                </a:lnTo>
                <a:lnTo>
                  <a:pt x="4924258" y="490258"/>
                </a:lnTo>
                <a:lnTo>
                  <a:pt x="4960466" y="491906"/>
                </a:lnTo>
                <a:lnTo>
                  <a:pt x="4996674" y="493536"/>
                </a:lnTo>
                <a:lnTo>
                  <a:pt x="5032882" y="495150"/>
                </a:lnTo>
                <a:lnTo>
                  <a:pt x="5069089" y="496748"/>
                </a:lnTo>
                <a:lnTo>
                  <a:pt x="5105297" y="498330"/>
                </a:lnTo>
                <a:lnTo>
                  <a:pt x="5141505" y="499895"/>
                </a:lnTo>
                <a:lnTo>
                  <a:pt x="5177713" y="501445"/>
                </a:lnTo>
                <a:lnTo>
                  <a:pt x="5213921" y="502980"/>
                </a:lnTo>
                <a:lnTo>
                  <a:pt x="5250128" y="504499"/>
                </a:lnTo>
                <a:lnTo>
                  <a:pt x="5286336" y="506003"/>
                </a:lnTo>
                <a:lnTo>
                  <a:pt x="5322544" y="507493"/>
                </a:lnTo>
                <a:lnTo>
                  <a:pt x="5358752" y="508968"/>
                </a:lnTo>
                <a:lnTo>
                  <a:pt x="5394960" y="510428"/>
                </a:lnTo>
              </a:path>
            </a:pathLst>
          </a:custGeom>
          <a:noFill/>
          <a:ln w="3556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05 polygon 35" descr="sci-ppt:o035"/>
          <p:cNvSpPr/>
          <p:nvPr/>
        </p:nvSpPr>
        <p:spPr>
          <a:xfrm>
            <a:off x="868680" y="1764791"/>
            <a:ext cx="5394960" cy="1967496"/>
          </a:xfrm>
          <a:custGeom>
            <a:avLst/>
            <a:gdLst/>
            <a:ahLst/>
            <a:cxnLst/>
            <a:rect l="l" t="t" r="r" b="b"/>
            <a:pathLst>
              <a:path w="5394960" h="1967496">
                <a:moveTo>
                  <a:pt x="0" y="0"/>
                </a:moveTo>
                <a:lnTo>
                  <a:pt x="36207" y="31949"/>
                </a:lnTo>
                <a:lnTo>
                  <a:pt x="72415" y="64327"/>
                </a:lnTo>
                <a:lnTo>
                  <a:pt x="108623" y="96957"/>
                </a:lnTo>
                <a:lnTo>
                  <a:pt x="144831" y="129692"/>
                </a:lnTo>
                <a:lnTo>
                  <a:pt x="181038" y="162411"/>
                </a:lnTo>
                <a:lnTo>
                  <a:pt x="217246" y="195011"/>
                </a:lnTo>
                <a:lnTo>
                  <a:pt x="253454" y="227410"/>
                </a:lnTo>
                <a:lnTo>
                  <a:pt x="289662" y="259538"/>
                </a:lnTo>
                <a:lnTo>
                  <a:pt x="325870" y="291338"/>
                </a:lnTo>
                <a:lnTo>
                  <a:pt x="362077" y="322765"/>
                </a:lnTo>
                <a:lnTo>
                  <a:pt x="398285" y="353783"/>
                </a:lnTo>
                <a:lnTo>
                  <a:pt x="434493" y="384361"/>
                </a:lnTo>
                <a:lnTo>
                  <a:pt x="470701" y="414478"/>
                </a:lnTo>
                <a:lnTo>
                  <a:pt x="506908" y="444115"/>
                </a:lnTo>
                <a:lnTo>
                  <a:pt x="543116" y="473261"/>
                </a:lnTo>
                <a:lnTo>
                  <a:pt x="579324" y="501906"/>
                </a:lnTo>
                <a:lnTo>
                  <a:pt x="615532" y="530044"/>
                </a:lnTo>
                <a:lnTo>
                  <a:pt x="651740" y="557673"/>
                </a:lnTo>
                <a:lnTo>
                  <a:pt x="687947" y="584792"/>
                </a:lnTo>
                <a:lnTo>
                  <a:pt x="724155" y="611403"/>
                </a:lnTo>
                <a:lnTo>
                  <a:pt x="760363" y="637508"/>
                </a:lnTo>
                <a:lnTo>
                  <a:pt x="796571" y="663113"/>
                </a:lnTo>
                <a:lnTo>
                  <a:pt x="832779" y="688221"/>
                </a:lnTo>
                <a:lnTo>
                  <a:pt x="868986" y="712841"/>
                </a:lnTo>
                <a:lnTo>
                  <a:pt x="905194" y="736978"/>
                </a:lnTo>
                <a:lnTo>
                  <a:pt x="941402" y="760641"/>
                </a:lnTo>
                <a:lnTo>
                  <a:pt x="977610" y="783837"/>
                </a:lnTo>
                <a:lnTo>
                  <a:pt x="1013817" y="806576"/>
                </a:lnTo>
                <a:lnTo>
                  <a:pt x="1050025" y="828866"/>
                </a:lnTo>
                <a:lnTo>
                  <a:pt x="1086233" y="850716"/>
                </a:lnTo>
                <a:lnTo>
                  <a:pt x="1122441" y="872135"/>
                </a:lnTo>
                <a:lnTo>
                  <a:pt x="1158649" y="893133"/>
                </a:lnTo>
                <a:lnTo>
                  <a:pt x="1194856" y="913718"/>
                </a:lnTo>
                <a:lnTo>
                  <a:pt x="1231064" y="933901"/>
                </a:lnTo>
                <a:lnTo>
                  <a:pt x="1267272" y="953689"/>
                </a:lnTo>
                <a:lnTo>
                  <a:pt x="1303480" y="973092"/>
                </a:lnTo>
                <a:lnTo>
                  <a:pt x="1339688" y="992119"/>
                </a:lnTo>
                <a:lnTo>
                  <a:pt x="1375895" y="1010779"/>
                </a:lnTo>
                <a:lnTo>
                  <a:pt x="1412103" y="1029081"/>
                </a:lnTo>
                <a:lnTo>
                  <a:pt x="1448311" y="1047033"/>
                </a:lnTo>
                <a:lnTo>
                  <a:pt x="1484519" y="1064644"/>
                </a:lnTo>
                <a:lnTo>
                  <a:pt x="1520726" y="1081922"/>
                </a:lnTo>
                <a:lnTo>
                  <a:pt x="1556934" y="1098874"/>
                </a:lnTo>
                <a:lnTo>
                  <a:pt x="1593142" y="1115510"/>
                </a:lnTo>
                <a:lnTo>
                  <a:pt x="1629350" y="1131836"/>
                </a:lnTo>
                <a:lnTo>
                  <a:pt x="1665558" y="1147860"/>
                </a:lnTo>
                <a:lnTo>
                  <a:pt x="1701765" y="1163590"/>
                </a:lnTo>
                <a:lnTo>
                  <a:pt x="1737973" y="1179033"/>
                </a:lnTo>
                <a:lnTo>
                  <a:pt x="1774181" y="1194195"/>
                </a:lnTo>
                <a:lnTo>
                  <a:pt x="1810389" y="1209084"/>
                </a:lnTo>
                <a:lnTo>
                  <a:pt x="1846597" y="1223706"/>
                </a:lnTo>
                <a:lnTo>
                  <a:pt x="1882804" y="1238068"/>
                </a:lnTo>
                <a:lnTo>
                  <a:pt x="1919012" y="1252175"/>
                </a:lnTo>
                <a:lnTo>
                  <a:pt x="1955220" y="1266035"/>
                </a:lnTo>
                <a:lnTo>
                  <a:pt x="1991428" y="1279653"/>
                </a:lnTo>
                <a:lnTo>
                  <a:pt x="2027635" y="1293035"/>
                </a:lnTo>
                <a:lnTo>
                  <a:pt x="2063843" y="1306186"/>
                </a:lnTo>
                <a:lnTo>
                  <a:pt x="2100051" y="1319113"/>
                </a:lnTo>
                <a:lnTo>
                  <a:pt x="2136259" y="1331819"/>
                </a:lnTo>
                <a:lnTo>
                  <a:pt x="2172467" y="1344312"/>
                </a:lnTo>
                <a:lnTo>
                  <a:pt x="2208674" y="1356594"/>
                </a:lnTo>
                <a:lnTo>
                  <a:pt x="2244882" y="1368673"/>
                </a:lnTo>
                <a:lnTo>
                  <a:pt x="2281090" y="1380551"/>
                </a:lnTo>
                <a:lnTo>
                  <a:pt x="2317298" y="1392235"/>
                </a:lnTo>
                <a:lnTo>
                  <a:pt x="2353506" y="1403728"/>
                </a:lnTo>
                <a:lnTo>
                  <a:pt x="2389713" y="1415035"/>
                </a:lnTo>
                <a:lnTo>
                  <a:pt x="2425921" y="1426159"/>
                </a:lnTo>
                <a:lnTo>
                  <a:pt x="2462129" y="1437106"/>
                </a:lnTo>
                <a:lnTo>
                  <a:pt x="2498337" y="1447880"/>
                </a:lnTo>
                <a:lnTo>
                  <a:pt x="2534544" y="1458483"/>
                </a:lnTo>
                <a:lnTo>
                  <a:pt x="2570752" y="1468920"/>
                </a:lnTo>
                <a:lnTo>
                  <a:pt x="2606960" y="1479195"/>
                </a:lnTo>
                <a:lnTo>
                  <a:pt x="2643168" y="1489311"/>
                </a:lnTo>
                <a:lnTo>
                  <a:pt x="2679376" y="1499272"/>
                </a:lnTo>
                <a:lnTo>
                  <a:pt x="2715583" y="1509082"/>
                </a:lnTo>
                <a:lnTo>
                  <a:pt x="2751791" y="1518742"/>
                </a:lnTo>
                <a:lnTo>
                  <a:pt x="2787999" y="1528258"/>
                </a:lnTo>
                <a:lnTo>
                  <a:pt x="2824207" y="1537631"/>
                </a:lnTo>
                <a:lnTo>
                  <a:pt x="2860415" y="1546865"/>
                </a:lnTo>
                <a:lnTo>
                  <a:pt x="2896622" y="1555963"/>
                </a:lnTo>
                <a:lnTo>
                  <a:pt x="2932830" y="1564927"/>
                </a:lnTo>
                <a:lnTo>
                  <a:pt x="2969038" y="1573761"/>
                </a:lnTo>
                <a:lnTo>
                  <a:pt x="3005246" y="1582468"/>
                </a:lnTo>
                <a:lnTo>
                  <a:pt x="3041453" y="1591049"/>
                </a:lnTo>
                <a:lnTo>
                  <a:pt x="3077661" y="1599508"/>
                </a:lnTo>
                <a:lnTo>
                  <a:pt x="3113869" y="1607847"/>
                </a:lnTo>
                <a:lnTo>
                  <a:pt x="3150077" y="1616069"/>
                </a:lnTo>
                <a:lnTo>
                  <a:pt x="3186285" y="1624175"/>
                </a:lnTo>
                <a:lnTo>
                  <a:pt x="3222492" y="1632169"/>
                </a:lnTo>
                <a:lnTo>
                  <a:pt x="3258700" y="1640053"/>
                </a:lnTo>
                <a:lnTo>
                  <a:pt x="3294908" y="1647828"/>
                </a:lnTo>
                <a:lnTo>
                  <a:pt x="3331116" y="1655497"/>
                </a:lnTo>
                <a:lnTo>
                  <a:pt x="3367324" y="1663062"/>
                </a:lnTo>
                <a:lnTo>
                  <a:pt x="3403531" y="1670525"/>
                </a:lnTo>
                <a:lnTo>
                  <a:pt x="3439739" y="1677888"/>
                </a:lnTo>
                <a:lnTo>
                  <a:pt x="3475947" y="1685153"/>
                </a:lnTo>
                <a:lnTo>
                  <a:pt x="3512155" y="1692322"/>
                </a:lnTo>
                <a:lnTo>
                  <a:pt x="3548362" y="1699397"/>
                </a:lnTo>
                <a:lnTo>
                  <a:pt x="3584570" y="1706379"/>
                </a:lnTo>
                <a:lnTo>
                  <a:pt x="3620778" y="1713271"/>
                </a:lnTo>
                <a:lnTo>
                  <a:pt x="3656986" y="1720074"/>
                </a:lnTo>
                <a:lnTo>
                  <a:pt x="3693194" y="1726790"/>
                </a:lnTo>
                <a:lnTo>
                  <a:pt x="3729401" y="1733420"/>
                </a:lnTo>
                <a:lnTo>
                  <a:pt x="3765609" y="1739965"/>
                </a:lnTo>
                <a:lnTo>
                  <a:pt x="3801817" y="1746429"/>
                </a:lnTo>
                <a:lnTo>
                  <a:pt x="3838025" y="1752811"/>
                </a:lnTo>
                <a:lnTo>
                  <a:pt x="3874233" y="1759114"/>
                </a:lnTo>
                <a:lnTo>
                  <a:pt x="3910440" y="1765339"/>
                </a:lnTo>
                <a:lnTo>
                  <a:pt x="3946648" y="1771487"/>
                </a:lnTo>
                <a:lnTo>
                  <a:pt x="3982856" y="1777561"/>
                </a:lnTo>
                <a:lnTo>
                  <a:pt x="4019064" y="1783560"/>
                </a:lnTo>
                <a:lnTo>
                  <a:pt x="4055271" y="1789486"/>
                </a:lnTo>
                <a:lnTo>
                  <a:pt x="4091479" y="1795342"/>
                </a:lnTo>
                <a:lnTo>
                  <a:pt x="4127687" y="1801127"/>
                </a:lnTo>
                <a:lnTo>
                  <a:pt x="4163895" y="1806844"/>
                </a:lnTo>
                <a:lnTo>
                  <a:pt x="4200103" y="1812493"/>
                </a:lnTo>
                <a:lnTo>
                  <a:pt x="4236310" y="1818076"/>
                </a:lnTo>
                <a:lnTo>
                  <a:pt x="4272518" y="1823593"/>
                </a:lnTo>
                <a:lnTo>
                  <a:pt x="4308726" y="1829046"/>
                </a:lnTo>
                <a:lnTo>
                  <a:pt x="4344934" y="1834436"/>
                </a:lnTo>
                <a:lnTo>
                  <a:pt x="4381142" y="1839765"/>
                </a:lnTo>
                <a:lnTo>
                  <a:pt x="4417349" y="1845032"/>
                </a:lnTo>
                <a:lnTo>
                  <a:pt x="4453557" y="1850239"/>
                </a:lnTo>
                <a:lnTo>
                  <a:pt x="4489765" y="1855388"/>
                </a:lnTo>
                <a:lnTo>
                  <a:pt x="4525973" y="1860478"/>
                </a:lnTo>
                <a:lnTo>
                  <a:pt x="4562180" y="1865512"/>
                </a:lnTo>
                <a:lnTo>
                  <a:pt x="4598388" y="1870490"/>
                </a:lnTo>
                <a:lnTo>
                  <a:pt x="4634596" y="1875412"/>
                </a:lnTo>
                <a:lnTo>
                  <a:pt x="4670804" y="1880280"/>
                </a:lnTo>
                <a:lnTo>
                  <a:pt x="4707012" y="1885095"/>
                </a:lnTo>
                <a:lnTo>
                  <a:pt x="4743219" y="1889858"/>
                </a:lnTo>
                <a:lnTo>
                  <a:pt x="4779427" y="1894569"/>
                </a:lnTo>
                <a:lnTo>
                  <a:pt x="4815635" y="1899229"/>
                </a:lnTo>
                <a:lnTo>
                  <a:pt x="4851843" y="1903839"/>
                </a:lnTo>
                <a:lnTo>
                  <a:pt x="4888051" y="1908400"/>
                </a:lnTo>
                <a:lnTo>
                  <a:pt x="4924258" y="1912913"/>
                </a:lnTo>
                <a:lnTo>
                  <a:pt x="4960466" y="1917378"/>
                </a:lnTo>
                <a:lnTo>
                  <a:pt x="4996674" y="1921796"/>
                </a:lnTo>
                <a:lnTo>
                  <a:pt x="5032882" y="1926168"/>
                </a:lnTo>
                <a:lnTo>
                  <a:pt x="5069089" y="1930494"/>
                </a:lnTo>
                <a:lnTo>
                  <a:pt x="5105297" y="1934776"/>
                </a:lnTo>
                <a:lnTo>
                  <a:pt x="5141505" y="1939013"/>
                </a:lnTo>
                <a:lnTo>
                  <a:pt x="5177713" y="1943207"/>
                </a:lnTo>
                <a:lnTo>
                  <a:pt x="5213921" y="1947359"/>
                </a:lnTo>
                <a:lnTo>
                  <a:pt x="5250128" y="1951468"/>
                </a:lnTo>
                <a:lnTo>
                  <a:pt x="5286336" y="1955536"/>
                </a:lnTo>
                <a:lnTo>
                  <a:pt x="5322544" y="1959563"/>
                </a:lnTo>
                <a:lnTo>
                  <a:pt x="5358752" y="1963549"/>
                </a:lnTo>
                <a:lnTo>
                  <a:pt x="5394960" y="1967496"/>
                </a:lnTo>
              </a:path>
            </a:pathLst>
          </a:custGeom>
          <a:noFill/>
          <a:ln w="3556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05 ellipse 36" descr="sci-ppt:o036"/>
          <p:cNvSpPr/>
          <p:nvPr/>
        </p:nvSpPr>
        <p:spPr>
          <a:xfrm>
            <a:off x="795528" y="3657600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1-E05 ellipse 37" descr="sci-ppt:o037"/>
          <p:cNvSpPr/>
          <p:nvPr/>
        </p:nvSpPr>
        <p:spPr>
          <a:xfrm>
            <a:off x="795528" y="1691639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1-E05 text 38" descr="sci-ppt:o038"/>
          <p:cNvSpPr txBox="1"/>
          <p:nvPr/>
        </p:nvSpPr>
        <p:spPr>
          <a:xfrm>
            <a:off x="3819144" y="3599992"/>
            <a:ext cx="20116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expanding, slowing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Ṙ = 1, R̈ = −0.5</a:t>
            </a:r>
          </a:p>
        </p:txBody>
      </p:sp>
      <p:sp>
        <p:nvSpPr>
          <p:cNvPr id="41" name="C1-E05 text 39" descr="sci-ppt:o039"/>
          <p:cNvSpPr txBox="1"/>
          <p:nvPr/>
        </p:nvSpPr>
        <p:spPr>
          <a:xfrm>
            <a:off x="2200656" y="1313078"/>
            <a:ext cx="237744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collapsing, decelerating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Ṙ = −1, R̈ = +2</a:t>
            </a:r>
          </a:p>
        </p:txBody>
      </p:sp>
      <p:sp>
        <p:nvSpPr>
          <p:cNvPr id="42" name="C1-E05 round_rect 40" descr="sci-ppt:o040"/>
          <p:cNvSpPr/>
          <p:nvPr/>
        </p:nvSpPr>
        <p:spPr>
          <a:xfrm>
            <a:off x="6583680" y="1325880"/>
            <a:ext cx="5257800" cy="3246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05 text 41" descr="sci-ppt:o041"/>
          <p:cNvSpPr txBox="1"/>
          <p:nvPr/>
        </p:nvSpPr>
        <p:spPr>
          <a:xfrm>
            <a:off x="6693408" y="1380744"/>
            <a:ext cx="50383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wall value has three pieces</a:t>
            </a:r>
          </a:p>
        </p:txBody>
      </p:sp>
      <p:sp>
        <p:nvSpPr>
          <p:cNvPr id="44" name="C1-E05 text 42" descr="sci-ppt:o042"/>
          <p:cNvSpPr txBox="1"/>
          <p:nvPr/>
        </p:nvSpPr>
        <p:spPr>
          <a:xfrm>
            <a:off x="6720840" y="1783080"/>
            <a:ext cx="50292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pₗ − p∞ = ρ [ R R̈ + 2Ṙ² − Ṙ²/2 ]</a:t>
            </a:r>
          </a:p>
        </p:txBody>
      </p:sp>
      <p:cxnSp>
        <p:nvCxnSpPr>
          <p:cNvPr id="45" name="C1-E05 line 43" descr="sci-ppt:o043"/>
          <p:cNvCxnSpPr/>
          <p:nvPr/>
        </p:nvCxnSpPr>
        <p:spPr>
          <a:xfrm>
            <a:off x="9966960" y="2286000"/>
            <a:ext cx="0" cy="1417320"/>
          </a:xfrm>
          <a:prstGeom prst="line">
            <a:avLst/>
          </a:prstGeom>
          <a:ln w="15240">
            <a:solidFill>
              <a:srgbClr val="B4C7D2"/>
            </a:solidFill>
          </a:ln>
          <a:effectLst/>
        </p:spPr>
      </p:cxnSp>
      <p:sp>
        <p:nvSpPr>
          <p:cNvPr id="46" name="C1-E05 text 44" descr="sci-ppt:o044"/>
          <p:cNvSpPr txBox="1"/>
          <p:nvPr/>
        </p:nvSpPr>
        <p:spPr>
          <a:xfrm>
            <a:off x="6720840" y="2286000"/>
            <a:ext cx="9144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R R̈</a:t>
            </a:r>
          </a:p>
        </p:txBody>
      </p:sp>
      <p:sp>
        <p:nvSpPr>
          <p:cNvPr id="47" name="C1-E05 text 45" descr="sci-ppt:o045"/>
          <p:cNvSpPr txBox="1"/>
          <p:nvPr/>
        </p:nvSpPr>
        <p:spPr>
          <a:xfrm>
            <a:off x="7589520" y="2304288"/>
            <a:ext cx="19202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wall acceleration</a:t>
            </a:r>
          </a:p>
        </p:txBody>
      </p:sp>
      <p:sp>
        <p:nvSpPr>
          <p:cNvPr id="48" name="C1-E05 rect 46" descr="sci-ppt:o046"/>
          <p:cNvSpPr/>
          <p:nvPr/>
        </p:nvSpPr>
        <p:spPr>
          <a:xfrm>
            <a:off x="9715500" y="2331720"/>
            <a:ext cx="251460" cy="274320"/>
          </a:xfrm>
          <a:prstGeom prst="rect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05 text 47" descr="sci-ppt:o047"/>
          <p:cNvSpPr txBox="1"/>
          <p:nvPr/>
        </p:nvSpPr>
        <p:spPr>
          <a:xfrm>
            <a:off x="6720840" y="2743200"/>
            <a:ext cx="9144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2Ṙ²</a:t>
            </a:r>
          </a:p>
        </p:txBody>
      </p:sp>
      <p:sp>
        <p:nvSpPr>
          <p:cNvPr id="50" name="C1-E05 text 48" descr="sci-ppt:o048"/>
          <p:cNvSpPr txBox="1"/>
          <p:nvPr/>
        </p:nvSpPr>
        <p:spPr>
          <a:xfrm>
            <a:off x="7589520" y="2761488"/>
            <a:ext cx="19202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unsteady potential</a:t>
            </a:r>
          </a:p>
        </p:txBody>
      </p:sp>
      <p:sp>
        <p:nvSpPr>
          <p:cNvPr id="51" name="C1-E05 rect 49" descr="sci-ppt:o049"/>
          <p:cNvSpPr/>
          <p:nvPr/>
        </p:nvSpPr>
        <p:spPr>
          <a:xfrm>
            <a:off x="9966960" y="2788920"/>
            <a:ext cx="1005840" cy="274320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05 text 50" descr="sci-ppt:o050"/>
          <p:cNvSpPr txBox="1"/>
          <p:nvPr/>
        </p:nvSpPr>
        <p:spPr>
          <a:xfrm>
            <a:off x="6720840" y="3200400"/>
            <a:ext cx="9144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−Ṙ²/2</a:t>
            </a:r>
          </a:p>
        </p:txBody>
      </p:sp>
      <p:sp>
        <p:nvSpPr>
          <p:cNvPr id="53" name="C1-E05 text 51" descr="sci-ppt:o051"/>
          <p:cNvSpPr txBox="1"/>
          <p:nvPr/>
        </p:nvSpPr>
        <p:spPr>
          <a:xfrm>
            <a:off x="7589520" y="3218688"/>
            <a:ext cx="19202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Bernoulli kinetic term</a:t>
            </a:r>
          </a:p>
        </p:txBody>
      </p:sp>
      <p:sp>
        <p:nvSpPr>
          <p:cNvPr id="54" name="C1-E05 rect 52" descr="sci-ppt:o052"/>
          <p:cNvSpPr/>
          <p:nvPr/>
        </p:nvSpPr>
        <p:spPr>
          <a:xfrm>
            <a:off x="9715500" y="3246120"/>
            <a:ext cx="251460" cy="274320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1-E05 text 53" descr="sci-ppt:o053"/>
          <p:cNvSpPr txBox="1"/>
          <p:nvPr/>
        </p:nvSpPr>
        <p:spPr>
          <a:xfrm>
            <a:off x="6720840" y="3840480"/>
            <a:ext cx="5029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Expanding case: −0.5 + 2 − 0.5 = 1.0 = R R̈ + 3Ṙ²/2</a:t>
            </a:r>
          </a:p>
        </p:txBody>
      </p:sp>
      <p:sp>
        <p:nvSpPr>
          <p:cNvPr id="56" name="C1-E05 text 54" descr="sci-ppt:o054"/>
          <p:cNvSpPr txBox="1"/>
          <p:nvPr/>
        </p:nvSpPr>
        <p:spPr>
          <a:xfrm>
            <a:off x="6583680" y="4754880"/>
            <a:ext cx="52578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The pressure is stored in the liquid by its inertia: pₗ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exceeds p∞ whenever R R̈ + 3Ṙ²/2 &gt; 0.</a:t>
            </a:r>
          </a:p>
        </p:txBody>
      </p:sp>
      <p:sp>
        <p:nvSpPr>
          <p:cNvPr id="57" name="C1-E05 text 55" descr="sci-ppt:o055"/>
          <p:cNvSpPr txBox="1"/>
          <p:nvPr/>
        </p:nvSpPr>
        <p:spPr>
          <a:xfrm>
            <a:off x="6583680" y="5577840"/>
            <a:ext cx="5257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Far away the acceleration term decays as 1/r, the Ṙ² term as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1/r⁴.</a:t>
            </a:r>
          </a:p>
        </p:txBody>
      </p:sp>
      <p:sp>
        <p:nvSpPr>
          <p:cNvPr id="58" name="C1-E05 text 56" descr="sci-ppt:o05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Profile: p − p∞ = ρ[(R²R̈ + 2RṘ²)/r − R⁴Ṙ²/(2r⁴)] from the unsteady Bernoulli equation, R =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