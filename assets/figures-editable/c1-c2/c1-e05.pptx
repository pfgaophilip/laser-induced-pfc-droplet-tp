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948160" cy="79247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1-E05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C1-E05 | Physical-variable diagram</a:t>
            </a:r>
          </a:p>
        </p:txBody>
      </p:sp>
      <p:sp>
        <p:nvSpPr>
          <p:cNvPr id="3" name="ellipse2" descr="sci-ppt:C1-E05-002"/>
          <p:cNvSpPr/>
          <p:nvPr/>
        </p:nvSpPr>
        <p:spPr>
          <a:xfrm>
            <a:off x="2072640" y="1402080"/>
            <a:ext cx="2438400" cy="2438400"/>
          </a:xfrm>
          <a:prstGeom prst="ellipse">
            <a:avLst/>
          </a:prstGeom>
          <a:solidFill>
            <a:srgbClr val="213E4B"/>
          </a:solidFill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arrow3" descr="sci-ppt:C1-E05-003"/>
          <p:cNvCxnSpPr/>
          <p:nvPr/>
        </p:nvCxnSpPr>
        <p:spPr>
          <a:xfrm>
            <a:off x="3291840" y="2621280"/>
            <a:ext cx="121920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5" name="text4" descr="sci-ppt:C1-E05-004"/>
          <p:cNvSpPr txBox="1"/>
          <p:nvPr/>
        </p:nvSpPr>
        <p:spPr>
          <a:xfrm>
            <a:off x="3474720" y="2133600"/>
            <a:ext cx="1584960" cy="39684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16" b="0" i="0">
                <a:solidFill>
                  <a:srgbClr val="E7F0F3"/>
                </a:solidFill>
                <a:latin typeface="Arial"/>
              </a:rPr>
              <a:t>R(t)</a:t>
            </a:r>
          </a:p>
        </p:txBody>
      </p:sp>
      <p:sp>
        <p:nvSpPr>
          <p:cNvPr id="6" name="text5" descr="sci-ppt:C1-E05-005"/>
          <p:cNvSpPr txBox="1"/>
          <p:nvPr/>
        </p:nvSpPr>
        <p:spPr>
          <a:xfrm>
            <a:off x="2682240" y="2804160"/>
            <a:ext cx="219456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p_b</a:t>
            </a:r>
          </a:p>
        </p:txBody>
      </p:sp>
      <p:sp>
        <p:nvSpPr>
          <p:cNvPr id="7" name="text6" descr="sci-ppt:C1-E05-006"/>
          <p:cNvSpPr txBox="1"/>
          <p:nvPr/>
        </p:nvSpPr>
        <p:spPr>
          <a:xfrm>
            <a:off x="5242560" y="1524000"/>
            <a:ext cx="4876800" cy="415747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11" b="0" i="0">
                <a:solidFill>
                  <a:srgbClr val="E7F0F3"/>
                </a:solidFill>
                <a:latin typeface="Arial"/>
              </a:rPr>
              <a:t>Surrounding liquid</a:t>
            </a:r>
          </a:p>
        </p:txBody>
      </p:sp>
      <p:sp>
        <p:nvSpPr>
          <p:cNvPr id="8" name="text7" descr="sci-ppt:C1-E05-007"/>
          <p:cNvSpPr txBox="1"/>
          <p:nvPr/>
        </p:nvSpPr>
        <p:spPr>
          <a:xfrm>
            <a:off x="5242560" y="1987296"/>
            <a:ext cx="585216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p∞, ρ, μ; interface: σ</a:t>
            </a:r>
          </a:p>
        </p:txBody>
      </p:sp>
      <p:cxnSp>
        <p:nvCxnSpPr>
          <p:cNvPr id="9" name="arrow8" descr="sci-ppt:C1-E05-008"/>
          <p:cNvCxnSpPr/>
          <p:nvPr/>
        </p:nvCxnSpPr>
        <p:spPr>
          <a:xfrm>
            <a:off x="3291840" y="2621280"/>
            <a:ext cx="1706880" cy="115824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text9" descr="sci-ppt:C1-E05-009"/>
          <p:cNvSpPr txBox="1"/>
          <p:nvPr/>
        </p:nvSpPr>
        <p:spPr>
          <a:xfrm>
            <a:off x="5364480" y="3657600"/>
            <a:ext cx="195072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r ≥ R</a:t>
            </a:r>
          </a:p>
        </p:txBody>
      </p:sp>
      <p:cxnSp>
        <p:nvCxnSpPr>
          <p:cNvPr id="11" name="arrow10" descr="sci-ppt:C1-E05-010"/>
          <p:cNvCxnSpPr/>
          <p:nvPr/>
        </p:nvCxnSpPr>
        <p:spPr>
          <a:xfrm>
            <a:off x="4998720" y="2621280"/>
            <a:ext cx="7924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text11" descr="sci-ppt:C1-E05-011"/>
          <p:cNvSpPr txBox="1"/>
          <p:nvPr/>
        </p:nvSpPr>
        <p:spPr>
          <a:xfrm>
            <a:off x="5059680" y="2865120"/>
            <a:ext cx="329184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+e_r (coordinate)</a:t>
            </a:r>
          </a:p>
        </p:txBody>
      </p:sp>
      <p:sp>
        <p:nvSpPr>
          <p:cNvPr id="13" name="text12" descr="sci-ppt:C1-E05-012"/>
          <p:cNvSpPr txBox="1"/>
          <p:nvPr/>
        </p:nvSpPr>
        <p:spPr>
          <a:xfrm>
            <a:off x="1219200" y="4206240"/>
            <a:ext cx="97536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Signed wall speed: Ṙ; acceleration: R̈</a:t>
            </a:r>
          </a:p>
        </p:txBody>
      </p:sp>
      <p:sp>
        <p:nvSpPr>
          <p:cNvPr id="14" name="text13" descr="sci-ppt:C1-E05-013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pl at r = R</a:t>
            </a:r>
          </a:p>
        </p:txBody>
      </p:sp>
      <p:sp>
        <p:nvSpPr>
          <p:cNvPr id="15" name="text14" descr="sci-ppt:C1-E05-014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ρ</a:t>
            </a:r>
          </a:p>
        </p:txBody>
      </p:sp>
      <p:sp>
        <p:nvSpPr>
          <p:cNvPr id="16" name="text15" descr="sci-ppt:C1-E05-015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u(R,t) = Ṙ</a:t>
            </a:r>
          </a:p>
        </p:txBody>
      </p:sp>
      <p:sp>
        <p:nvSpPr>
          <p:cNvPr id="17" name="text16" descr="sci-ppt:C1-E05-016"/>
          <p:cNvSpPr txBox="1"/>
          <p:nvPr/>
        </p:nvSpPr>
        <p:spPr>
          <a:xfrm>
            <a:off x="3657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sp>
        <p:nvSpPr>
          <p:cNvPr id="18" name="text17" descr="sci-ppt:C1-E05-017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p∞</a:t>
            </a:r>
          </a:p>
        </p:txBody>
      </p:sp>
      <p:sp>
        <p:nvSpPr>
          <p:cNvPr id="19" name="text18" descr="sci-ppt:C1-E05-018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φ</a:t>
            </a:r>
          </a:p>
        </p:txBody>
      </p:sp>
      <p:sp>
        <p:nvSpPr>
          <p:cNvPr id="20" name="text19" descr="sci-ppt:C1-E05-019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R̈</a:t>
            </a:r>
          </a:p>
        </p:txBody>
      </p:sp>
      <p:sp>
        <p:nvSpPr>
          <p:cNvPr id="21" name="text20" descr="sci-ppt:C1-E05-020"/>
          <p:cNvSpPr txBox="1"/>
          <p:nvPr/>
        </p:nvSpPr>
        <p:spPr>
          <a:xfrm>
            <a:off x="61569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</a:t>
            </a:r>
          </a:p>
        </p:txBody>
      </p:sp>
      <p:sp>
        <p:nvSpPr>
          <p:cNvPr id="22" name="text21" descr="sci-ppt:C1-E05-021"/>
          <p:cNvSpPr txBox="1"/>
          <p:nvPr/>
        </p:nvSpPr>
        <p:spPr>
          <a:xfrm>
            <a:off x="365760" y="633984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R R̈ and 3Ṙ²/2 each have units m²/s²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