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06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C1-E06 | Physical-variable diagram</a:t>
            </a:r>
          </a:p>
        </p:txBody>
      </p:sp>
      <p:sp>
        <p:nvSpPr>
          <p:cNvPr id="3" name="ellipse2" descr="sci-ppt:C1-E06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06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06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06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06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06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06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06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06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06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06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sp>
        <p:nvSpPr>
          <p:cNvPr id="14" name="text13" descr="sci-ppt:C1-E06-013"/>
          <p:cNvSpPr txBox="1"/>
          <p:nvPr/>
        </p:nvSpPr>
        <p:spPr>
          <a:xfrm>
            <a:off x="5486400" y="3352800"/>
            <a:ext cx="573024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p_l = p_b - 2σ/R - 4μ(Ṙ)/R</a:t>
            </a:r>
          </a:p>
        </p:txBody>
      </p:sp>
      <p:sp>
        <p:nvSpPr>
          <p:cNvPr id="15" name="text14" descr="sci-ppt:C1-E06-014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pb inside</a:t>
            </a:r>
          </a:p>
        </p:txBody>
      </p:sp>
      <p:sp>
        <p:nvSpPr>
          <p:cNvPr id="16" name="text15" descr="sci-ppt:C1-E06-015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17" name="text16" descr="sci-ppt:C1-E06-016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u</a:t>
            </a:r>
          </a:p>
        </p:txBody>
      </p:sp>
      <p:sp>
        <p:nvSpPr>
          <p:cNvPr id="18" name="text17" descr="sci-ppt:C1-E06-017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2σ/R</a:t>
            </a:r>
          </a:p>
        </p:txBody>
      </p:sp>
      <p:sp>
        <p:nvSpPr>
          <p:cNvPr id="19" name="text18" descr="sci-ppt:C1-E06-018"/>
          <p:cNvSpPr txBox="1"/>
          <p:nvPr/>
        </p:nvSpPr>
        <p:spPr>
          <a:xfrm>
            <a:off x="365760" y="6144768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∂ru = −2Ṙ/R</a:t>
            </a:r>
          </a:p>
        </p:txBody>
      </p:sp>
      <p:sp>
        <p:nvSpPr>
          <p:cNvPr id="20" name="text19" descr="sci-ppt:C1-E06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pl outside</a:t>
            </a:r>
          </a:p>
        </p:txBody>
      </p:sp>
      <p:sp>
        <p:nvSpPr>
          <p:cNvPr id="21" name="text20" descr="sci-ppt:C1-E06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</a:t>
            </a:r>
          </a:p>
        </p:txBody>
      </p:sp>
      <p:sp>
        <p:nvSpPr>
          <p:cNvPr id="22" name="text21" descr="sci-ppt:C1-E06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</a:t>
            </a:r>
          </a:p>
        </p:txBody>
      </p:sp>
      <p:sp>
        <p:nvSpPr>
          <p:cNvPr id="23" name="text22" descr="sci-ppt:C1-E06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4μṘ/R</a:t>
            </a:r>
          </a:p>
        </p:txBody>
      </p:sp>
      <p:sp>
        <p:nvSpPr>
          <p:cNvPr id="24" name="text23" descr="sci-ppt:C1-E06-023"/>
          <p:cNvSpPr txBox="1"/>
          <p:nvPr/>
        </p:nvSpPr>
        <p:spPr>
          <a:xfrm>
            <a:off x="365760" y="6632448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Viscous stress changes sign when the wall reverses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