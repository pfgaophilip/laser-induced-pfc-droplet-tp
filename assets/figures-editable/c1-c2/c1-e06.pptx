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0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C1-E06 · Newtonian stress and capillary boundary condition</a:t>
            </a:r>
          </a:p>
        </p:txBody>
      </p:sp>
      <p:sp>
        <p:nvSpPr>
          <p:cNvPr id="3" name="C1-E06 round_rect 1" descr="sci-ppt:o001"/>
          <p:cNvSpPr/>
          <p:nvPr/>
        </p:nvSpPr>
        <p:spPr>
          <a:xfrm>
            <a:off x="365760" y="914400"/>
            <a:ext cx="4023360" cy="4846320"/>
          </a:xfrm>
          <a:prstGeom prst="roundRect">
            <a:avLst/>
          </a:prstGeom>
          <a:solidFill>
            <a:srgbClr val="1E4A5A"/>
          </a:solidFill>
          <a:ln w="1905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1-E06 text 2" descr="sci-ppt:o002"/>
          <p:cNvSpPr txBox="1"/>
          <p:nvPr/>
        </p:nvSpPr>
        <p:spPr>
          <a:xfrm>
            <a:off x="502920" y="978408"/>
            <a:ext cx="3749039" cy="46405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Stresses on the wall of a collapsing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bubble</a:t>
            </a:r>
          </a:p>
        </p:txBody>
      </p:sp>
      <p:sp>
        <p:nvSpPr>
          <p:cNvPr id="5" name="C1-E06 ellipse 3" descr="sci-ppt:o003"/>
          <p:cNvSpPr/>
          <p:nvPr/>
        </p:nvSpPr>
        <p:spPr>
          <a:xfrm>
            <a:off x="1371600" y="2286000"/>
            <a:ext cx="1828800" cy="1828800"/>
          </a:xfrm>
          <a:prstGeom prst="ellipse">
            <a:avLst/>
          </a:prstGeom>
          <a:solidFill>
            <a:srgbClr val="0C1820"/>
          </a:solidFill>
          <a:ln w="2794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1-E06 text 4" descr="sci-ppt:o004"/>
          <p:cNvSpPr txBox="1"/>
          <p:nvPr/>
        </p:nvSpPr>
        <p:spPr>
          <a:xfrm>
            <a:off x="1737360" y="3090672"/>
            <a:ext cx="109728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p_b</a:t>
            </a:r>
          </a:p>
        </p:txBody>
      </p:sp>
      <p:cxnSp>
        <p:nvCxnSpPr>
          <p:cNvPr id="7" name="C1-E06 arrow 5" descr="sci-ppt:o005"/>
          <p:cNvCxnSpPr/>
          <p:nvPr/>
        </p:nvCxnSpPr>
        <p:spPr>
          <a:xfrm flipV="1">
            <a:off x="2636235" y="2583246"/>
            <a:ext cx="385259" cy="323271"/>
          </a:xfrm>
          <a:prstGeom prst="line">
            <a:avLst/>
          </a:prstGeom>
          <a:ln w="3556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1-E06 text 6" descr="sci-ppt:o006"/>
          <p:cNvSpPr txBox="1"/>
          <p:nvPr/>
        </p:nvSpPr>
        <p:spPr>
          <a:xfrm>
            <a:off x="3148998" y="1944530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2B880"/>
                </a:solidFill>
                <a:latin typeface="Arial"/>
              </a:rPr>
              <a:t>p_b</a:t>
            </a:r>
          </a:p>
        </p:txBody>
      </p:sp>
      <p:cxnSp>
        <p:nvCxnSpPr>
          <p:cNvPr id="9" name="C1-E06 arrow 7" descr="sci-ppt:o007"/>
          <p:cNvCxnSpPr/>
          <p:nvPr/>
        </p:nvCxnSpPr>
        <p:spPr>
          <a:xfrm>
            <a:off x="1165246" y="2259976"/>
            <a:ext cx="406273" cy="340903"/>
          </a:xfrm>
          <a:prstGeom prst="line">
            <a:avLst/>
          </a:prstGeom>
          <a:ln w="3556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1-E06 text 8" descr="sci-ppt:o008"/>
          <p:cNvSpPr txBox="1"/>
          <p:nvPr/>
        </p:nvSpPr>
        <p:spPr>
          <a:xfrm>
            <a:off x="417161" y="1944530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pₗ</a:t>
            </a:r>
          </a:p>
        </p:txBody>
      </p:sp>
      <p:cxnSp>
        <p:nvCxnSpPr>
          <p:cNvPr id="11" name="C1-E06 arrow 9" descr="sci-ppt:o009"/>
          <p:cNvCxnSpPr/>
          <p:nvPr/>
        </p:nvCxnSpPr>
        <p:spPr>
          <a:xfrm flipV="1">
            <a:off x="1165246" y="3799920"/>
            <a:ext cx="406273" cy="340903"/>
          </a:xfrm>
          <a:prstGeom prst="line">
            <a:avLst/>
          </a:prstGeom>
          <a:ln w="35560">
            <a:solidFill>
              <a:srgbClr val="F28BA0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C1-E06 text 10" descr="sci-ppt:o010"/>
          <p:cNvSpPr txBox="1"/>
          <p:nvPr/>
        </p:nvSpPr>
        <p:spPr>
          <a:xfrm>
            <a:off x="417161" y="4236813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2σ/R</a:t>
            </a:r>
          </a:p>
        </p:txBody>
      </p:sp>
      <p:cxnSp>
        <p:nvCxnSpPr>
          <p:cNvPr id="13" name="C1-E06 arrow 11" descr="sci-ppt:o011"/>
          <p:cNvCxnSpPr/>
          <p:nvPr/>
        </p:nvCxnSpPr>
        <p:spPr>
          <a:xfrm flipH="1" flipV="1">
            <a:off x="3000480" y="3799920"/>
            <a:ext cx="406273" cy="340903"/>
          </a:xfrm>
          <a:prstGeom prst="line">
            <a:avLst/>
          </a:prstGeom>
          <a:ln w="35560">
            <a:solidFill>
              <a:srgbClr val="7FC8F8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C1-E06 text 12" descr="sci-ppt:o012"/>
          <p:cNvSpPr txBox="1"/>
          <p:nvPr/>
        </p:nvSpPr>
        <p:spPr>
          <a:xfrm>
            <a:off x="3148998" y="4236813"/>
            <a:ext cx="100584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4μṘ/R</a:t>
            </a:r>
          </a:p>
        </p:txBody>
      </p:sp>
      <p:sp>
        <p:nvSpPr>
          <p:cNvPr id="15" name="C1-E06 text 13" descr="sci-ppt:o013"/>
          <p:cNvSpPr txBox="1"/>
          <p:nvPr/>
        </p:nvSpPr>
        <p:spPr>
          <a:xfrm>
            <a:off x="502920" y="4754880"/>
            <a:ext cx="3749039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Gas pushes out; tension pulls in; viscosity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resists the strain rate ∂u/∂r = −2Ṙ/R at the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wall.</a:t>
            </a:r>
          </a:p>
        </p:txBody>
      </p:sp>
      <p:cxnSp>
        <p:nvCxnSpPr>
          <p:cNvPr id="16" name="C1-E06 line 14" descr="sci-ppt:o014"/>
          <p:cNvCxnSpPr/>
          <p:nvPr/>
        </p:nvCxnSpPr>
        <p:spPr>
          <a:xfrm>
            <a:off x="5394960" y="5303520"/>
            <a:ext cx="63093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7" name="C1-E06 line 15" descr="sci-ppt:o015"/>
          <p:cNvCxnSpPr/>
          <p:nvPr/>
        </p:nvCxnSpPr>
        <p:spPr>
          <a:xfrm>
            <a:off x="5394960" y="1371600"/>
            <a:ext cx="0" cy="39319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18" name="C1-E06 line 16" descr="sci-ppt:o016"/>
          <p:cNvCxnSpPr/>
          <p:nvPr/>
        </p:nvCxnSpPr>
        <p:spPr>
          <a:xfrm>
            <a:off x="533095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06 line 17" descr="sci-ppt:o017"/>
          <p:cNvCxnSpPr/>
          <p:nvPr/>
        </p:nvCxnSpPr>
        <p:spPr>
          <a:xfrm>
            <a:off x="5394960" y="5303520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06 text 18" descr="sci-ppt:o018"/>
          <p:cNvSpPr txBox="1"/>
          <p:nvPr/>
        </p:nvSpPr>
        <p:spPr>
          <a:xfrm>
            <a:off x="4526280" y="52212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1" name="C1-E06 line 19" descr="sci-ppt:o019"/>
          <p:cNvCxnSpPr/>
          <p:nvPr/>
        </p:nvCxnSpPr>
        <p:spPr>
          <a:xfrm>
            <a:off x="5330952" y="4180114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06 line 20" descr="sci-ppt:o020"/>
          <p:cNvCxnSpPr/>
          <p:nvPr/>
        </p:nvCxnSpPr>
        <p:spPr>
          <a:xfrm>
            <a:off x="5394960" y="4180114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06 text 21" descr="sci-ppt:o021"/>
          <p:cNvSpPr txBox="1"/>
          <p:nvPr/>
        </p:nvSpPr>
        <p:spPr>
          <a:xfrm>
            <a:off x="4526280" y="4097818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40</a:t>
            </a:r>
          </a:p>
        </p:txBody>
      </p:sp>
      <p:cxnSp>
        <p:nvCxnSpPr>
          <p:cNvPr id="24" name="C1-E06 line 22" descr="sci-ppt:o022"/>
          <p:cNvCxnSpPr/>
          <p:nvPr/>
        </p:nvCxnSpPr>
        <p:spPr>
          <a:xfrm>
            <a:off x="5330952" y="305670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06 line 23" descr="sci-ppt:o023"/>
          <p:cNvCxnSpPr/>
          <p:nvPr/>
        </p:nvCxnSpPr>
        <p:spPr>
          <a:xfrm>
            <a:off x="5394960" y="3056708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06 text 24" descr="sci-ppt:o024"/>
          <p:cNvSpPr txBox="1"/>
          <p:nvPr/>
        </p:nvSpPr>
        <p:spPr>
          <a:xfrm>
            <a:off x="4526280" y="297441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80</a:t>
            </a:r>
          </a:p>
        </p:txBody>
      </p:sp>
      <p:cxnSp>
        <p:nvCxnSpPr>
          <p:cNvPr id="27" name="C1-E06 line 25" descr="sci-ppt:o025"/>
          <p:cNvCxnSpPr/>
          <p:nvPr/>
        </p:nvCxnSpPr>
        <p:spPr>
          <a:xfrm>
            <a:off x="5330952" y="193330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06 line 26" descr="sci-ppt:o026"/>
          <p:cNvCxnSpPr/>
          <p:nvPr/>
        </p:nvCxnSpPr>
        <p:spPr>
          <a:xfrm>
            <a:off x="5394960" y="1933302"/>
            <a:ext cx="63093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06 text 27" descr="sci-ppt:o027"/>
          <p:cNvSpPr txBox="1"/>
          <p:nvPr/>
        </p:nvSpPr>
        <p:spPr>
          <a:xfrm>
            <a:off x="4526280" y="185100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120</a:t>
            </a:r>
          </a:p>
        </p:txBody>
      </p:sp>
      <p:sp>
        <p:nvSpPr>
          <p:cNvPr id="30" name="C1-E06 text 28" descr="sci-ppt:o028"/>
          <p:cNvSpPr txBox="1"/>
          <p:nvPr/>
        </p:nvSpPr>
        <p:spPr>
          <a:xfrm>
            <a:off x="4846320" y="1024128"/>
            <a:ext cx="63093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pressure (kPa)</a:t>
            </a:r>
          </a:p>
        </p:txBody>
      </p:sp>
      <p:sp>
        <p:nvSpPr>
          <p:cNvPr id="31" name="C1-E06 rect 29" descr="sci-ppt:o029"/>
          <p:cNvSpPr/>
          <p:nvPr/>
        </p:nvSpPr>
        <p:spPr>
          <a:xfrm>
            <a:off x="5584240" y="1933302"/>
            <a:ext cx="1198778" cy="3370217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1-E06 text 30" descr="sci-ppt:o030"/>
          <p:cNvSpPr txBox="1"/>
          <p:nvPr/>
        </p:nvSpPr>
        <p:spPr>
          <a:xfrm>
            <a:off x="5309920" y="1640694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p_b = 120</a:t>
            </a:r>
          </a:p>
        </p:txBody>
      </p:sp>
      <p:sp>
        <p:nvSpPr>
          <p:cNvPr id="33" name="C1-E06 rect 31" descr="sci-ppt:o031"/>
          <p:cNvSpPr/>
          <p:nvPr/>
        </p:nvSpPr>
        <p:spPr>
          <a:xfrm>
            <a:off x="7161580" y="1933302"/>
            <a:ext cx="1198778" cy="404426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06 text 32" descr="sci-ppt:o032"/>
          <p:cNvSpPr txBox="1"/>
          <p:nvPr/>
        </p:nvSpPr>
        <p:spPr>
          <a:xfrm>
            <a:off x="6887260" y="1640694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−2σ/R = −14.4</a:t>
            </a:r>
          </a:p>
        </p:txBody>
      </p:sp>
      <p:sp>
        <p:nvSpPr>
          <p:cNvPr id="35" name="C1-E06 rect 33" descr="sci-ppt:o033"/>
          <p:cNvSpPr/>
          <p:nvPr/>
        </p:nvSpPr>
        <p:spPr>
          <a:xfrm>
            <a:off x="8738920" y="2281558"/>
            <a:ext cx="1198778" cy="56170"/>
          </a:xfrm>
          <a:prstGeom prst="rect">
            <a:avLst/>
          </a:prstGeom>
          <a:solidFill>
            <a:srgbClr val="7FC8F8">
              <a:alpha val="85000"/>
            </a:srgbClr>
          </a:solidFill>
          <a:ln w="12700">
            <a:solidFill>
              <a:srgbClr val="7FC8F8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1-E06 text 34" descr="sci-ppt:o034"/>
          <p:cNvSpPr txBox="1"/>
          <p:nvPr/>
        </p:nvSpPr>
        <p:spPr>
          <a:xfrm>
            <a:off x="8464600" y="1988950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−4μṘ/R = +2.0</a:t>
            </a:r>
          </a:p>
        </p:txBody>
      </p:sp>
      <p:sp>
        <p:nvSpPr>
          <p:cNvPr id="37" name="C1-E06 rect 35" descr="sci-ppt:o035"/>
          <p:cNvSpPr/>
          <p:nvPr/>
        </p:nvSpPr>
        <p:spPr>
          <a:xfrm>
            <a:off x="10316260" y="2281558"/>
            <a:ext cx="1198778" cy="3021961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06 text 36" descr="sci-ppt:o036"/>
          <p:cNvSpPr txBox="1"/>
          <p:nvPr/>
        </p:nvSpPr>
        <p:spPr>
          <a:xfrm>
            <a:off x="10041940" y="1988950"/>
            <a:ext cx="12801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E7F0F3"/>
                </a:solidFill>
                <a:latin typeface="Arial"/>
              </a:rPr>
              <a:t>pₗ = 107.6</a:t>
            </a:r>
          </a:p>
        </p:txBody>
      </p:sp>
      <p:sp>
        <p:nvSpPr>
          <p:cNvPr id="39" name="C1-E06 text 37" descr="sci-ppt:o037"/>
          <p:cNvSpPr txBox="1"/>
          <p:nvPr/>
        </p:nvSpPr>
        <p:spPr>
          <a:xfrm>
            <a:off x="5394960" y="5669280"/>
            <a:ext cx="6309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R = 10 µm, σ = 0.072 N/m, μ = 1 mPa·s, Ṙ = −5 m/s, p_b = 120 kPa</a:t>
            </a:r>
          </a:p>
        </p:txBody>
      </p:sp>
      <p:sp>
        <p:nvSpPr>
          <p:cNvPr id="40" name="C1-E06 text 38" descr="sci-ppt:o038"/>
          <p:cNvSpPr txBox="1"/>
          <p:nvPr/>
        </p:nvSpPr>
        <p:spPr>
          <a:xfrm>
            <a:off x="5394960" y="5989320"/>
            <a:ext cx="6309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Inward motion makes the viscous term raise pₗ; tension always lowers it.</a:t>
            </a:r>
          </a:p>
        </p:txBody>
      </p:sp>
      <p:sp>
        <p:nvSpPr>
          <p:cNvPr id="41" name="C1-E06 text 39" descr="sci-ppt:o03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Boundary condition pₗ = p_b − 2σ/R − 4μṘ/R (Eq. C1-E06); numbers computed from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