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02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C1-E02 · Exact continuity within the spherical model</a:t>
            </a:r>
          </a:p>
        </p:txBody>
      </p:sp>
      <p:sp>
        <p:nvSpPr>
          <p:cNvPr id="3" name="C1-E02 round_rect 1" descr="sci-ppt:o001"/>
          <p:cNvSpPr/>
          <p:nvPr/>
        </p:nvSpPr>
        <p:spPr>
          <a:xfrm>
            <a:off x="365760" y="914400"/>
            <a:ext cx="4297680" cy="4846320"/>
          </a:xfrm>
          <a:prstGeom prst="roundRect">
            <a:avLst/>
          </a:prstGeom>
          <a:solidFill>
            <a:srgbClr val="1E4A5A"/>
          </a:solidFill>
          <a:ln w="1905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1-E02 text 2" descr="sci-ppt:o002"/>
          <p:cNvSpPr txBox="1"/>
          <p:nvPr/>
        </p:nvSpPr>
        <p:spPr>
          <a:xfrm>
            <a:off x="502920" y="978408"/>
            <a:ext cx="402336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Concentric shells carry one flux</a:t>
            </a:r>
          </a:p>
        </p:txBody>
      </p:sp>
      <p:sp>
        <p:nvSpPr>
          <p:cNvPr id="5" name="C1-E02 ellipse 3" descr="sci-ppt:o003"/>
          <p:cNvSpPr/>
          <p:nvPr/>
        </p:nvSpPr>
        <p:spPr>
          <a:xfrm>
            <a:off x="1920240" y="2697480"/>
            <a:ext cx="1188720" cy="1188720"/>
          </a:xfrm>
          <a:prstGeom prst="ellipse">
            <a:avLst/>
          </a:prstGeom>
          <a:noFill/>
          <a:ln w="254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1-E02 ellipse 4" descr="sci-ppt:o004"/>
          <p:cNvSpPr/>
          <p:nvPr/>
        </p:nvSpPr>
        <p:spPr>
          <a:xfrm>
            <a:off x="1563624" y="2340864"/>
            <a:ext cx="1901952" cy="1901952"/>
          </a:xfrm>
          <a:prstGeom prst="ellipse">
            <a:avLst/>
          </a:prstGeom>
          <a:noFill/>
          <a:ln w="1651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1-E02 ellipse 5" descr="sci-ppt:o005"/>
          <p:cNvSpPr/>
          <p:nvPr/>
        </p:nvSpPr>
        <p:spPr>
          <a:xfrm>
            <a:off x="1147572" y="1924812"/>
            <a:ext cx="2734056" cy="2734056"/>
          </a:xfrm>
          <a:prstGeom prst="ellipse">
            <a:avLst/>
          </a:prstGeom>
          <a:noFill/>
          <a:ln w="1651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1-E02 ellipse 6" descr="sci-ppt:o006"/>
          <p:cNvSpPr/>
          <p:nvPr/>
        </p:nvSpPr>
        <p:spPr>
          <a:xfrm>
            <a:off x="612647" y="1389888"/>
            <a:ext cx="3803904" cy="3803904"/>
          </a:xfrm>
          <a:prstGeom prst="ellipse">
            <a:avLst/>
          </a:prstGeom>
          <a:noFill/>
          <a:ln w="1651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1-E02 ellipse 7" descr="sci-ppt:o007"/>
          <p:cNvSpPr/>
          <p:nvPr/>
        </p:nvSpPr>
        <p:spPr>
          <a:xfrm>
            <a:off x="1920240" y="2697480"/>
            <a:ext cx="1188720" cy="1188720"/>
          </a:xfrm>
          <a:prstGeom prst="ellipse">
            <a:avLst/>
          </a:prstGeom>
          <a:solidFill>
            <a:srgbClr val="0C1820"/>
          </a:solidFill>
          <a:ln w="2794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1-E02 arrow 8" descr="sci-ppt:o008"/>
          <p:cNvCxnSpPr/>
          <p:nvPr/>
        </p:nvCxnSpPr>
        <p:spPr>
          <a:xfrm flipV="1">
            <a:off x="2617809" y="1923067"/>
            <a:ext cx="138142" cy="783442"/>
          </a:xfrm>
          <a:prstGeom prst="line">
            <a:avLst/>
          </a:prstGeom>
          <a:ln w="3302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1" name="C1-E02 text 9" descr="sci-ppt:o009"/>
          <p:cNvSpPr txBox="1"/>
          <p:nvPr/>
        </p:nvSpPr>
        <p:spPr>
          <a:xfrm>
            <a:off x="2722934" y="1741298"/>
            <a:ext cx="10058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1.00 Ṙ</a:t>
            </a:r>
          </a:p>
        </p:txBody>
      </p:sp>
      <p:cxnSp>
        <p:nvCxnSpPr>
          <p:cNvPr id="12" name="C1-E02 arrow 10" descr="sci-ppt:o010"/>
          <p:cNvCxnSpPr/>
          <p:nvPr/>
        </p:nvCxnSpPr>
        <p:spPr>
          <a:xfrm flipV="1">
            <a:off x="3060057" y="2203518"/>
            <a:ext cx="216593" cy="309328"/>
          </a:xfrm>
          <a:prstGeom prst="line">
            <a:avLst/>
          </a:prstGeom>
          <a:ln w="3302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3" name="C1-E02 text 11" descr="sci-ppt:o011"/>
          <p:cNvSpPr txBox="1"/>
          <p:nvPr/>
        </p:nvSpPr>
        <p:spPr>
          <a:xfrm>
            <a:off x="3272888" y="2033868"/>
            <a:ext cx="10058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0.39 Ṙ</a:t>
            </a:r>
          </a:p>
        </p:txBody>
      </p:sp>
      <p:cxnSp>
        <p:nvCxnSpPr>
          <p:cNvPr id="14" name="C1-E02 arrow 12" descr="sci-ppt:o012"/>
          <p:cNvCxnSpPr/>
          <p:nvPr/>
        </p:nvCxnSpPr>
        <p:spPr>
          <a:xfrm flipV="1">
            <a:off x="3698480" y="2488641"/>
            <a:ext cx="207300" cy="119685"/>
          </a:xfrm>
          <a:prstGeom prst="line">
            <a:avLst/>
          </a:prstGeom>
          <a:ln w="3302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5" name="C1-E02 text 13" descr="sci-ppt:o013"/>
          <p:cNvSpPr txBox="1"/>
          <p:nvPr/>
        </p:nvSpPr>
        <p:spPr>
          <a:xfrm>
            <a:off x="3923411" y="2342337"/>
            <a:ext cx="10058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0.19 Ṙ</a:t>
            </a:r>
          </a:p>
        </p:txBody>
      </p:sp>
      <p:cxnSp>
        <p:nvCxnSpPr>
          <p:cNvPr id="16" name="C1-E02 arrow 14" descr="sci-ppt:o014"/>
          <p:cNvCxnSpPr/>
          <p:nvPr/>
        </p:nvCxnSpPr>
        <p:spPr>
          <a:xfrm flipV="1">
            <a:off x="4409314" y="3110673"/>
            <a:ext cx="176028" cy="15400"/>
          </a:xfrm>
          <a:prstGeom prst="line">
            <a:avLst/>
          </a:prstGeom>
          <a:ln w="3302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7" name="C1-E02 text 15" descr="sci-ppt:o015"/>
          <p:cNvSpPr txBox="1"/>
          <p:nvPr/>
        </p:nvSpPr>
        <p:spPr>
          <a:xfrm>
            <a:off x="4612496" y="2994569"/>
            <a:ext cx="10058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0.10 Ṙ</a:t>
            </a:r>
          </a:p>
        </p:txBody>
      </p:sp>
      <p:sp>
        <p:nvSpPr>
          <p:cNvPr id="18" name="C1-E02 text 16" descr="sci-ppt:o016"/>
          <p:cNvSpPr txBox="1"/>
          <p:nvPr/>
        </p:nvSpPr>
        <p:spPr>
          <a:xfrm>
            <a:off x="502920" y="5074920"/>
            <a:ext cx="402336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Shell area grows as r², so the radial speed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falls as 1/r². Arrow length = speed.</a:t>
            </a:r>
          </a:p>
        </p:txBody>
      </p:sp>
      <p:cxnSp>
        <p:nvCxnSpPr>
          <p:cNvPr id="19" name="C1-E02 line 17" descr="sci-ppt:o017"/>
          <p:cNvCxnSpPr/>
          <p:nvPr/>
        </p:nvCxnSpPr>
        <p:spPr>
          <a:xfrm>
            <a:off x="5577840" y="5303520"/>
            <a:ext cx="58521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20" name="C1-E02 line 18" descr="sci-ppt:o018"/>
          <p:cNvCxnSpPr/>
          <p:nvPr/>
        </p:nvCxnSpPr>
        <p:spPr>
          <a:xfrm>
            <a:off x="5577840" y="1371600"/>
            <a:ext cx="0" cy="39319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21" name="C1-E02 line 19" descr="sci-ppt:o019"/>
          <p:cNvCxnSpPr/>
          <p:nvPr/>
        </p:nvCxnSpPr>
        <p:spPr>
          <a:xfrm>
            <a:off x="557784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1-E02 line 20" descr="sci-ppt:o020"/>
          <p:cNvCxnSpPr/>
          <p:nvPr/>
        </p:nvCxnSpPr>
        <p:spPr>
          <a:xfrm>
            <a:off x="5577840" y="1371600"/>
            <a:ext cx="0" cy="39319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1-E02 text 21" descr="sci-ppt:o021"/>
          <p:cNvSpPr txBox="1"/>
          <p:nvPr/>
        </p:nvSpPr>
        <p:spPr>
          <a:xfrm>
            <a:off x="5120640" y="53858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24" name="C1-E02 line 22" descr="sci-ppt:o022"/>
          <p:cNvCxnSpPr/>
          <p:nvPr/>
        </p:nvCxnSpPr>
        <p:spPr>
          <a:xfrm>
            <a:off x="7528559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1-E02 line 23" descr="sci-ppt:o023"/>
          <p:cNvCxnSpPr/>
          <p:nvPr/>
        </p:nvCxnSpPr>
        <p:spPr>
          <a:xfrm>
            <a:off x="7528559" y="1371600"/>
            <a:ext cx="0" cy="39319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1-E02 text 24" descr="sci-ppt:o024"/>
          <p:cNvSpPr txBox="1"/>
          <p:nvPr/>
        </p:nvSpPr>
        <p:spPr>
          <a:xfrm>
            <a:off x="7071359" y="53858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27" name="C1-E02 line 25" descr="sci-ppt:o025"/>
          <p:cNvCxnSpPr/>
          <p:nvPr/>
        </p:nvCxnSpPr>
        <p:spPr>
          <a:xfrm>
            <a:off x="947928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1-E02 line 26" descr="sci-ppt:o026"/>
          <p:cNvCxnSpPr/>
          <p:nvPr/>
        </p:nvCxnSpPr>
        <p:spPr>
          <a:xfrm>
            <a:off x="9479280" y="1371600"/>
            <a:ext cx="0" cy="39319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1-E02 text 27" descr="sci-ppt:o027"/>
          <p:cNvSpPr txBox="1"/>
          <p:nvPr/>
        </p:nvSpPr>
        <p:spPr>
          <a:xfrm>
            <a:off x="9022080" y="53858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30" name="C1-E02 line 28" descr="sci-ppt:o028"/>
          <p:cNvCxnSpPr/>
          <p:nvPr/>
        </p:nvCxnSpPr>
        <p:spPr>
          <a:xfrm>
            <a:off x="1143000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C1-E02 line 29" descr="sci-ppt:o029"/>
          <p:cNvCxnSpPr/>
          <p:nvPr/>
        </p:nvCxnSpPr>
        <p:spPr>
          <a:xfrm>
            <a:off x="11430000" y="1371600"/>
            <a:ext cx="0" cy="39319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C1-E02 text 30" descr="sci-ppt:o030"/>
          <p:cNvSpPr txBox="1"/>
          <p:nvPr/>
        </p:nvSpPr>
        <p:spPr>
          <a:xfrm>
            <a:off x="10972800" y="53858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33" name="C1-E02 line 31" descr="sci-ppt:o031"/>
          <p:cNvCxnSpPr/>
          <p:nvPr/>
        </p:nvCxnSpPr>
        <p:spPr>
          <a:xfrm>
            <a:off x="5513831" y="530352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4" name="C1-E02 line 32" descr="sci-ppt:o032"/>
          <p:cNvCxnSpPr/>
          <p:nvPr/>
        </p:nvCxnSpPr>
        <p:spPr>
          <a:xfrm>
            <a:off x="5513831" y="4517136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5" name="C1-E02 line 33" descr="sci-ppt:o033"/>
          <p:cNvCxnSpPr/>
          <p:nvPr/>
        </p:nvCxnSpPr>
        <p:spPr>
          <a:xfrm>
            <a:off x="5577840" y="4517136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6" name="C1-E02 text 34" descr="sci-ppt:o034"/>
          <p:cNvSpPr txBox="1"/>
          <p:nvPr/>
        </p:nvSpPr>
        <p:spPr>
          <a:xfrm>
            <a:off x="4709159" y="4434840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37" name="C1-E02 line 35" descr="sci-ppt:o035"/>
          <p:cNvCxnSpPr/>
          <p:nvPr/>
        </p:nvCxnSpPr>
        <p:spPr>
          <a:xfrm>
            <a:off x="5513831" y="3730752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8" name="C1-E02 line 36" descr="sci-ppt:o036"/>
          <p:cNvCxnSpPr/>
          <p:nvPr/>
        </p:nvCxnSpPr>
        <p:spPr>
          <a:xfrm>
            <a:off x="5577840" y="3730752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9" name="C1-E02 text 37" descr="sci-ppt:o037"/>
          <p:cNvSpPr txBox="1"/>
          <p:nvPr/>
        </p:nvSpPr>
        <p:spPr>
          <a:xfrm>
            <a:off x="4709159" y="364845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0.50</a:t>
            </a:r>
          </a:p>
        </p:txBody>
      </p:sp>
      <p:cxnSp>
        <p:nvCxnSpPr>
          <p:cNvPr id="40" name="C1-E02 line 38" descr="sci-ppt:o038"/>
          <p:cNvCxnSpPr/>
          <p:nvPr/>
        </p:nvCxnSpPr>
        <p:spPr>
          <a:xfrm>
            <a:off x="5513831" y="2944368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1" name="C1-E02 line 39" descr="sci-ppt:o039"/>
          <p:cNvCxnSpPr/>
          <p:nvPr/>
        </p:nvCxnSpPr>
        <p:spPr>
          <a:xfrm>
            <a:off x="5577840" y="2944368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2" name="C1-E02 text 40" descr="sci-ppt:o040"/>
          <p:cNvSpPr txBox="1"/>
          <p:nvPr/>
        </p:nvSpPr>
        <p:spPr>
          <a:xfrm>
            <a:off x="4709159" y="286207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43" name="C1-E02 line 41" descr="sci-ppt:o041"/>
          <p:cNvCxnSpPr/>
          <p:nvPr/>
        </p:nvCxnSpPr>
        <p:spPr>
          <a:xfrm>
            <a:off x="5513831" y="2157984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4" name="C1-E02 line 42" descr="sci-ppt:o042"/>
          <p:cNvCxnSpPr/>
          <p:nvPr/>
        </p:nvCxnSpPr>
        <p:spPr>
          <a:xfrm>
            <a:off x="5577840" y="2157984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5" name="C1-E02 text 43" descr="sci-ppt:o043"/>
          <p:cNvSpPr txBox="1"/>
          <p:nvPr/>
        </p:nvSpPr>
        <p:spPr>
          <a:xfrm>
            <a:off x="4709159" y="2075688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1.00</a:t>
            </a:r>
          </a:p>
        </p:txBody>
      </p:sp>
      <p:sp>
        <p:nvSpPr>
          <p:cNvPr id="46" name="C1-E02 text 44" descr="sci-ppt:o044"/>
          <p:cNvSpPr txBox="1"/>
          <p:nvPr/>
        </p:nvSpPr>
        <p:spPr>
          <a:xfrm>
            <a:off x="5577840" y="5586983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</a:t>
            </a:r>
          </a:p>
        </p:txBody>
      </p:sp>
      <p:sp>
        <p:nvSpPr>
          <p:cNvPr id="47" name="C1-E02 text 45" descr="sci-ppt:o045"/>
          <p:cNvSpPr txBox="1"/>
          <p:nvPr/>
        </p:nvSpPr>
        <p:spPr>
          <a:xfrm>
            <a:off x="5029200" y="1024128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dimensionless</a:t>
            </a:r>
          </a:p>
        </p:txBody>
      </p:sp>
      <p:sp>
        <p:nvSpPr>
          <p:cNvPr id="48" name="C1-E02 polygon 46" descr="sci-ppt:o046"/>
          <p:cNvSpPr/>
          <p:nvPr/>
        </p:nvSpPr>
        <p:spPr>
          <a:xfrm>
            <a:off x="5577840" y="2157984"/>
            <a:ext cx="5852160" cy="2948940"/>
          </a:xfrm>
          <a:custGeom>
            <a:avLst/>
            <a:gdLst/>
            <a:ahLst/>
            <a:cxnLst/>
            <a:rect l="l" t="t" r="r" b="b"/>
            <a:pathLst>
              <a:path w="5852160" h="2948940">
                <a:moveTo>
                  <a:pt x="0" y="0"/>
                </a:moveTo>
                <a:lnTo>
                  <a:pt x="49177" y="152796"/>
                </a:lnTo>
                <a:lnTo>
                  <a:pt x="98355" y="294724"/>
                </a:lnTo>
                <a:lnTo>
                  <a:pt x="147533" y="426789"/>
                </a:lnTo>
                <a:lnTo>
                  <a:pt x="196711" y="549886"/>
                </a:lnTo>
                <a:lnTo>
                  <a:pt x="245889" y="664808"/>
                </a:lnTo>
                <a:lnTo>
                  <a:pt x="295066" y="772264"/>
                </a:lnTo>
                <a:lnTo>
                  <a:pt x="344244" y="872886"/>
                </a:lnTo>
                <a:lnTo>
                  <a:pt x="393422" y="967241"/>
                </a:lnTo>
                <a:lnTo>
                  <a:pt x="442600" y="1055841"/>
                </a:lnTo>
                <a:lnTo>
                  <a:pt x="491778" y="1139142"/>
                </a:lnTo>
                <a:lnTo>
                  <a:pt x="540955" y="1217560"/>
                </a:lnTo>
                <a:lnTo>
                  <a:pt x="590133" y="1291470"/>
                </a:lnTo>
                <a:lnTo>
                  <a:pt x="639311" y="1361209"/>
                </a:lnTo>
                <a:lnTo>
                  <a:pt x="688489" y="1427086"/>
                </a:lnTo>
                <a:lnTo>
                  <a:pt x="737667" y="1489381"/>
                </a:lnTo>
                <a:lnTo>
                  <a:pt x="786845" y="1548349"/>
                </a:lnTo>
                <a:lnTo>
                  <a:pt x="836022" y="1604223"/>
                </a:lnTo>
                <a:lnTo>
                  <a:pt x="885200" y="1657215"/>
                </a:lnTo>
                <a:lnTo>
                  <a:pt x="934378" y="1707521"/>
                </a:lnTo>
                <a:lnTo>
                  <a:pt x="983556" y="1755319"/>
                </a:lnTo>
                <a:lnTo>
                  <a:pt x="1032734" y="1800772"/>
                </a:lnTo>
                <a:lnTo>
                  <a:pt x="1081911" y="1844033"/>
                </a:lnTo>
                <a:lnTo>
                  <a:pt x="1131089" y="1885239"/>
                </a:lnTo>
                <a:lnTo>
                  <a:pt x="1180267" y="1924518"/>
                </a:lnTo>
                <a:lnTo>
                  <a:pt x="1229445" y="1961990"/>
                </a:lnTo>
                <a:lnTo>
                  <a:pt x="1278623" y="1997762"/>
                </a:lnTo>
                <a:lnTo>
                  <a:pt x="1327801" y="2031937"/>
                </a:lnTo>
                <a:lnTo>
                  <a:pt x="1376978" y="2064608"/>
                </a:lnTo>
                <a:lnTo>
                  <a:pt x="1426156" y="2095862"/>
                </a:lnTo>
                <a:lnTo>
                  <a:pt x="1475334" y="2125780"/>
                </a:lnTo>
                <a:lnTo>
                  <a:pt x="1524512" y="2154437"/>
                </a:lnTo>
                <a:lnTo>
                  <a:pt x="1573690" y="2181903"/>
                </a:lnTo>
                <a:lnTo>
                  <a:pt x="1622867" y="2208242"/>
                </a:lnTo>
                <a:lnTo>
                  <a:pt x="1672045" y="2233516"/>
                </a:lnTo>
                <a:lnTo>
                  <a:pt x="1721223" y="2257782"/>
                </a:lnTo>
                <a:lnTo>
                  <a:pt x="1770401" y="2281091"/>
                </a:lnTo>
                <a:lnTo>
                  <a:pt x="1819579" y="2303495"/>
                </a:lnTo>
                <a:lnTo>
                  <a:pt x="1868756" y="2325039"/>
                </a:lnTo>
                <a:lnTo>
                  <a:pt x="1917934" y="2345766"/>
                </a:lnTo>
                <a:lnTo>
                  <a:pt x="1967112" y="2365718"/>
                </a:lnTo>
                <a:lnTo>
                  <a:pt x="2016290" y="2384933"/>
                </a:lnTo>
                <a:lnTo>
                  <a:pt x="2065468" y="2403446"/>
                </a:lnTo>
                <a:lnTo>
                  <a:pt x="2114646" y="2421291"/>
                </a:lnTo>
                <a:lnTo>
                  <a:pt x="2163823" y="2438500"/>
                </a:lnTo>
                <a:lnTo>
                  <a:pt x="2213001" y="2455103"/>
                </a:lnTo>
                <a:lnTo>
                  <a:pt x="2262179" y="2471128"/>
                </a:lnTo>
                <a:lnTo>
                  <a:pt x="2311357" y="2486602"/>
                </a:lnTo>
                <a:lnTo>
                  <a:pt x="2360535" y="2501549"/>
                </a:lnTo>
                <a:lnTo>
                  <a:pt x="2409712" y="2515993"/>
                </a:lnTo>
                <a:lnTo>
                  <a:pt x="2458890" y="2529956"/>
                </a:lnTo>
                <a:lnTo>
                  <a:pt x="2508068" y="2543460"/>
                </a:lnTo>
                <a:lnTo>
                  <a:pt x="2557246" y="2556525"/>
                </a:lnTo>
                <a:lnTo>
                  <a:pt x="2606424" y="2569169"/>
                </a:lnTo>
                <a:lnTo>
                  <a:pt x="2655602" y="2581410"/>
                </a:lnTo>
                <a:lnTo>
                  <a:pt x="2704779" y="2593265"/>
                </a:lnTo>
                <a:lnTo>
                  <a:pt x="2753957" y="2604750"/>
                </a:lnTo>
                <a:lnTo>
                  <a:pt x="2803135" y="2615881"/>
                </a:lnTo>
                <a:lnTo>
                  <a:pt x="2852313" y="2626672"/>
                </a:lnTo>
                <a:lnTo>
                  <a:pt x="2901491" y="2637136"/>
                </a:lnTo>
                <a:lnTo>
                  <a:pt x="2950668" y="2647287"/>
                </a:lnTo>
                <a:lnTo>
                  <a:pt x="2999846" y="2657137"/>
                </a:lnTo>
                <a:lnTo>
                  <a:pt x="3049024" y="2666697"/>
                </a:lnTo>
                <a:lnTo>
                  <a:pt x="3098202" y="2675980"/>
                </a:lnTo>
                <a:lnTo>
                  <a:pt x="3147380" y="2684995"/>
                </a:lnTo>
                <a:lnTo>
                  <a:pt x="3196557" y="2693753"/>
                </a:lnTo>
                <a:lnTo>
                  <a:pt x="3245735" y="2702264"/>
                </a:lnTo>
                <a:lnTo>
                  <a:pt x="3294913" y="2710536"/>
                </a:lnTo>
                <a:lnTo>
                  <a:pt x="3344091" y="2718579"/>
                </a:lnTo>
                <a:lnTo>
                  <a:pt x="3393269" y="2726401"/>
                </a:lnTo>
                <a:lnTo>
                  <a:pt x="3442447" y="2734010"/>
                </a:lnTo>
                <a:lnTo>
                  <a:pt x="3491624" y="2741414"/>
                </a:lnTo>
                <a:lnTo>
                  <a:pt x="3540802" y="2748619"/>
                </a:lnTo>
                <a:lnTo>
                  <a:pt x="3589980" y="2755634"/>
                </a:lnTo>
                <a:lnTo>
                  <a:pt x="3639158" y="2762464"/>
                </a:lnTo>
                <a:lnTo>
                  <a:pt x="3688336" y="2769116"/>
                </a:lnTo>
                <a:lnTo>
                  <a:pt x="3737513" y="2775597"/>
                </a:lnTo>
                <a:lnTo>
                  <a:pt x="3786691" y="2781912"/>
                </a:lnTo>
                <a:lnTo>
                  <a:pt x="3835869" y="2788066"/>
                </a:lnTo>
                <a:lnTo>
                  <a:pt x="3885047" y="2794065"/>
                </a:lnTo>
                <a:lnTo>
                  <a:pt x="3934225" y="2799915"/>
                </a:lnTo>
                <a:lnTo>
                  <a:pt x="3983403" y="2805620"/>
                </a:lnTo>
                <a:lnTo>
                  <a:pt x="4032580" y="2811184"/>
                </a:lnTo>
                <a:lnTo>
                  <a:pt x="4081758" y="2816613"/>
                </a:lnTo>
                <a:lnTo>
                  <a:pt x="4130936" y="2821911"/>
                </a:lnTo>
                <a:lnTo>
                  <a:pt x="4180114" y="2827082"/>
                </a:lnTo>
                <a:lnTo>
                  <a:pt x="4229292" y="2832131"/>
                </a:lnTo>
                <a:lnTo>
                  <a:pt x="4278469" y="2837059"/>
                </a:lnTo>
                <a:lnTo>
                  <a:pt x="4327647" y="2841873"/>
                </a:lnTo>
                <a:lnTo>
                  <a:pt x="4376825" y="2846575"/>
                </a:lnTo>
                <a:lnTo>
                  <a:pt x="4426003" y="2851168"/>
                </a:lnTo>
                <a:lnTo>
                  <a:pt x="4475181" y="2855657"/>
                </a:lnTo>
                <a:lnTo>
                  <a:pt x="4524358" y="2860043"/>
                </a:lnTo>
                <a:lnTo>
                  <a:pt x="4573536" y="2864331"/>
                </a:lnTo>
                <a:lnTo>
                  <a:pt x="4622714" y="2868523"/>
                </a:lnTo>
                <a:lnTo>
                  <a:pt x="4671892" y="2872621"/>
                </a:lnTo>
                <a:lnTo>
                  <a:pt x="4721070" y="2876630"/>
                </a:lnTo>
                <a:lnTo>
                  <a:pt x="4770248" y="2880551"/>
                </a:lnTo>
                <a:lnTo>
                  <a:pt x="4819425" y="2884386"/>
                </a:lnTo>
                <a:lnTo>
                  <a:pt x="4868603" y="2888139"/>
                </a:lnTo>
                <a:lnTo>
                  <a:pt x="4917781" y="2891812"/>
                </a:lnTo>
                <a:lnTo>
                  <a:pt x="4966959" y="2895407"/>
                </a:lnTo>
                <a:lnTo>
                  <a:pt x="5016137" y="2898925"/>
                </a:lnTo>
                <a:lnTo>
                  <a:pt x="5065314" y="2902371"/>
                </a:lnTo>
                <a:lnTo>
                  <a:pt x="5114492" y="2905744"/>
                </a:lnTo>
                <a:lnTo>
                  <a:pt x="5163670" y="2909047"/>
                </a:lnTo>
                <a:lnTo>
                  <a:pt x="5212848" y="2912283"/>
                </a:lnTo>
                <a:lnTo>
                  <a:pt x="5262026" y="2915453"/>
                </a:lnTo>
                <a:lnTo>
                  <a:pt x="5311204" y="2918559"/>
                </a:lnTo>
                <a:lnTo>
                  <a:pt x="5360381" y="2921602"/>
                </a:lnTo>
                <a:lnTo>
                  <a:pt x="5409559" y="2924585"/>
                </a:lnTo>
                <a:lnTo>
                  <a:pt x="5458737" y="2927508"/>
                </a:lnTo>
                <a:lnTo>
                  <a:pt x="5507915" y="2930373"/>
                </a:lnTo>
                <a:lnTo>
                  <a:pt x="5557093" y="2933183"/>
                </a:lnTo>
                <a:lnTo>
                  <a:pt x="5606270" y="2935938"/>
                </a:lnTo>
                <a:lnTo>
                  <a:pt x="5655448" y="2938639"/>
                </a:lnTo>
                <a:lnTo>
                  <a:pt x="5704626" y="2941289"/>
                </a:lnTo>
                <a:lnTo>
                  <a:pt x="5753804" y="2943888"/>
                </a:lnTo>
                <a:lnTo>
                  <a:pt x="5802982" y="2946438"/>
                </a:lnTo>
                <a:lnTo>
                  <a:pt x="5852160" y="294894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1-E02 polygon 47" descr="sci-ppt:o047"/>
          <p:cNvSpPr/>
          <p:nvPr/>
        </p:nvSpPr>
        <p:spPr>
          <a:xfrm>
            <a:off x="5577840" y="2157984"/>
            <a:ext cx="5852160" cy="0"/>
          </a:xfrm>
          <a:custGeom>
            <a:avLst/>
            <a:gdLst/>
            <a:ahLst/>
            <a:cxnLst/>
            <a:rect l="l" t="t" r="r" b="b"/>
            <a:pathLst>
              <a:path w="5852160" h="0">
                <a:moveTo>
                  <a:pt x="0" y="0"/>
                </a:moveTo>
                <a:lnTo>
                  <a:pt x="49177" y="0"/>
                </a:lnTo>
                <a:lnTo>
                  <a:pt x="98355" y="0"/>
                </a:lnTo>
                <a:lnTo>
                  <a:pt x="147533" y="0"/>
                </a:lnTo>
                <a:lnTo>
                  <a:pt x="196711" y="0"/>
                </a:lnTo>
                <a:lnTo>
                  <a:pt x="245889" y="0"/>
                </a:lnTo>
                <a:lnTo>
                  <a:pt x="295066" y="0"/>
                </a:lnTo>
                <a:lnTo>
                  <a:pt x="344244" y="0"/>
                </a:lnTo>
                <a:lnTo>
                  <a:pt x="393422" y="0"/>
                </a:lnTo>
                <a:lnTo>
                  <a:pt x="442600" y="0"/>
                </a:lnTo>
                <a:lnTo>
                  <a:pt x="491778" y="0"/>
                </a:lnTo>
                <a:lnTo>
                  <a:pt x="540955" y="0"/>
                </a:lnTo>
                <a:lnTo>
                  <a:pt x="590133" y="0"/>
                </a:lnTo>
                <a:lnTo>
                  <a:pt x="639311" y="0"/>
                </a:lnTo>
                <a:lnTo>
                  <a:pt x="688489" y="0"/>
                </a:lnTo>
                <a:lnTo>
                  <a:pt x="737667" y="0"/>
                </a:lnTo>
                <a:lnTo>
                  <a:pt x="786845" y="0"/>
                </a:lnTo>
                <a:lnTo>
                  <a:pt x="836022" y="0"/>
                </a:lnTo>
                <a:lnTo>
                  <a:pt x="885200" y="0"/>
                </a:lnTo>
                <a:lnTo>
                  <a:pt x="934378" y="0"/>
                </a:lnTo>
                <a:lnTo>
                  <a:pt x="983556" y="0"/>
                </a:lnTo>
                <a:lnTo>
                  <a:pt x="1032734" y="0"/>
                </a:lnTo>
                <a:lnTo>
                  <a:pt x="1081911" y="0"/>
                </a:lnTo>
                <a:lnTo>
                  <a:pt x="1131089" y="0"/>
                </a:lnTo>
                <a:lnTo>
                  <a:pt x="1180267" y="0"/>
                </a:lnTo>
                <a:lnTo>
                  <a:pt x="1229445" y="0"/>
                </a:lnTo>
                <a:lnTo>
                  <a:pt x="1278623" y="0"/>
                </a:lnTo>
                <a:lnTo>
                  <a:pt x="1327801" y="0"/>
                </a:lnTo>
                <a:lnTo>
                  <a:pt x="1376978" y="0"/>
                </a:lnTo>
                <a:lnTo>
                  <a:pt x="1426156" y="0"/>
                </a:lnTo>
                <a:lnTo>
                  <a:pt x="1475334" y="0"/>
                </a:lnTo>
                <a:lnTo>
                  <a:pt x="1524512" y="0"/>
                </a:lnTo>
                <a:lnTo>
                  <a:pt x="1573690" y="0"/>
                </a:lnTo>
                <a:lnTo>
                  <a:pt x="1622867" y="0"/>
                </a:lnTo>
                <a:lnTo>
                  <a:pt x="1672045" y="0"/>
                </a:lnTo>
                <a:lnTo>
                  <a:pt x="1721223" y="0"/>
                </a:lnTo>
                <a:lnTo>
                  <a:pt x="1770401" y="0"/>
                </a:lnTo>
                <a:lnTo>
                  <a:pt x="1819579" y="0"/>
                </a:lnTo>
                <a:lnTo>
                  <a:pt x="1868756" y="0"/>
                </a:lnTo>
                <a:lnTo>
                  <a:pt x="1917934" y="0"/>
                </a:lnTo>
                <a:lnTo>
                  <a:pt x="1967112" y="0"/>
                </a:lnTo>
                <a:lnTo>
                  <a:pt x="2016290" y="0"/>
                </a:lnTo>
                <a:lnTo>
                  <a:pt x="2065468" y="0"/>
                </a:lnTo>
                <a:lnTo>
                  <a:pt x="2114646" y="0"/>
                </a:lnTo>
                <a:lnTo>
                  <a:pt x="2163823" y="0"/>
                </a:lnTo>
                <a:lnTo>
                  <a:pt x="2213001" y="0"/>
                </a:lnTo>
                <a:lnTo>
                  <a:pt x="2262179" y="0"/>
                </a:lnTo>
                <a:lnTo>
                  <a:pt x="2311357" y="0"/>
                </a:lnTo>
                <a:lnTo>
                  <a:pt x="2360535" y="0"/>
                </a:lnTo>
                <a:lnTo>
                  <a:pt x="2409712" y="0"/>
                </a:lnTo>
                <a:lnTo>
                  <a:pt x="2458890" y="0"/>
                </a:lnTo>
                <a:lnTo>
                  <a:pt x="2508068" y="0"/>
                </a:lnTo>
                <a:lnTo>
                  <a:pt x="2557246" y="0"/>
                </a:lnTo>
                <a:lnTo>
                  <a:pt x="2606424" y="0"/>
                </a:lnTo>
                <a:lnTo>
                  <a:pt x="2655602" y="0"/>
                </a:lnTo>
                <a:lnTo>
                  <a:pt x="2704779" y="0"/>
                </a:lnTo>
                <a:lnTo>
                  <a:pt x="2753957" y="0"/>
                </a:lnTo>
                <a:lnTo>
                  <a:pt x="2803135" y="0"/>
                </a:lnTo>
                <a:lnTo>
                  <a:pt x="2852313" y="0"/>
                </a:lnTo>
                <a:lnTo>
                  <a:pt x="2901491" y="0"/>
                </a:lnTo>
                <a:lnTo>
                  <a:pt x="2950668" y="0"/>
                </a:lnTo>
                <a:lnTo>
                  <a:pt x="2999846" y="0"/>
                </a:lnTo>
                <a:lnTo>
                  <a:pt x="3049024" y="0"/>
                </a:lnTo>
                <a:lnTo>
                  <a:pt x="3098202" y="0"/>
                </a:lnTo>
                <a:lnTo>
                  <a:pt x="3147380" y="0"/>
                </a:lnTo>
                <a:lnTo>
                  <a:pt x="3196557" y="0"/>
                </a:lnTo>
                <a:lnTo>
                  <a:pt x="3245735" y="0"/>
                </a:lnTo>
                <a:lnTo>
                  <a:pt x="3294913" y="0"/>
                </a:lnTo>
                <a:lnTo>
                  <a:pt x="3344091" y="0"/>
                </a:lnTo>
                <a:lnTo>
                  <a:pt x="3393269" y="0"/>
                </a:lnTo>
                <a:lnTo>
                  <a:pt x="3442447" y="0"/>
                </a:lnTo>
                <a:lnTo>
                  <a:pt x="3491624" y="0"/>
                </a:lnTo>
                <a:lnTo>
                  <a:pt x="3540802" y="0"/>
                </a:lnTo>
                <a:lnTo>
                  <a:pt x="3589980" y="0"/>
                </a:lnTo>
                <a:lnTo>
                  <a:pt x="3639158" y="0"/>
                </a:lnTo>
                <a:lnTo>
                  <a:pt x="3688336" y="0"/>
                </a:lnTo>
                <a:lnTo>
                  <a:pt x="3737513" y="0"/>
                </a:lnTo>
                <a:lnTo>
                  <a:pt x="3786691" y="0"/>
                </a:lnTo>
                <a:lnTo>
                  <a:pt x="3835869" y="0"/>
                </a:lnTo>
                <a:lnTo>
                  <a:pt x="3885047" y="0"/>
                </a:lnTo>
                <a:lnTo>
                  <a:pt x="3934225" y="0"/>
                </a:lnTo>
                <a:lnTo>
                  <a:pt x="3983403" y="0"/>
                </a:lnTo>
                <a:lnTo>
                  <a:pt x="4032580" y="0"/>
                </a:lnTo>
                <a:lnTo>
                  <a:pt x="4081758" y="0"/>
                </a:lnTo>
                <a:lnTo>
                  <a:pt x="4130936" y="0"/>
                </a:lnTo>
                <a:lnTo>
                  <a:pt x="4180114" y="0"/>
                </a:lnTo>
                <a:lnTo>
                  <a:pt x="4229292" y="0"/>
                </a:lnTo>
                <a:lnTo>
                  <a:pt x="4278469" y="0"/>
                </a:lnTo>
                <a:lnTo>
                  <a:pt x="4327647" y="0"/>
                </a:lnTo>
                <a:lnTo>
                  <a:pt x="4376825" y="0"/>
                </a:lnTo>
                <a:lnTo>
                  <a:pt x="4426003" y="0"/>
                </a:lnTo>
                <a:lnTo>
                  <a:pt x="4475181" y="0"/>
                </a:lnTo>
                <a:lnTo>
                  <a:pt x="4524358" y="0"/>
                </a:lnTo>
                <a:lnTo>
                  <a:pt x="4573536" y="0"/>
                </a:lnTo>
                <a:lnTo>
                  <a:pt x="4622714" y="0"/>
                </a:lnTo>
                <a:lnTo>
                  <a:pt x="4671892" y="0"/>
                </a:lnTo>
                <a:lnTo>
                  <a:pt x="4721070" y="0"/>
                </a:lnTo>
                <a:lnTo>
                  <a:pt x="4770248" y="0"/>
                </a:lnTo>
                <a:lnTo>
                  <a:pt x="4819425" y="0"/>
                </a:lnTo>
                <a:lnTo>
                  <a:pt x="4868603" y="0"/>
                </a:lnTo>
                <a:lnTo>
                  <a:pt x="4917781" y="0"/>
                </a:lnTo>
                <a:lnTo>
                  <a:pt x="4966959" y="0"/>
                </a:lnTo>
                <a:lnTo>
                  <a:pt x="5016137" y="0"/>
                </a:lnTo>
                <a:lnTo>
                  <a:pt x="5065314" y="0"/>
                </a:lnTo>
                <a:lnTo>
                  <a:pt x="5114492" y="0"/>
                </a:lnTo>
                <a:lnTo>
                  <a:pt x="5163670" y="0"/>
                </a:lnTo>
                <a:lnTo>
                  <a:pt x="5212848" y="0"/>
                </a:lnTo>
                <a:lnTo>
                  <a:pt x="5262026" y="0"/>
                </a:lnTo>
                <a:lnTo>
                  <a:pt x="5311204" y="0"/>
                </a:lnTo>
                <a:lnTo>
                  <a:pt x="5360381" y="0"/>
                </a:lnTo>
                <a:lnTo>
                  <a:pt x="5409559" y="0"/>
                </a:lnTo>
                <a:lnTo>
                  <a:pt x="5458737" y="0"/>
                </a:lnTo>
                <a:lnTo>
                  <a:pt x="5507915" y="0"/>
                </a:lnTo>
                <a:lnTo>
                  <a:pt x="5557093" y="0"/>
                </a:lnTo>
                <a:lnTo>
                  <a:pt x="5606270" y="0"/>
                </a:lnTo>
                <a:lnTo>
                  <a:pt x="5655448" y="0"/>
                </a:lnTo>
                <a:lnTo>
                  <a:pt x="5704626" y="0"/>
                </a:lnTo>
                <a:lnTo>
                  <a:pt x="5753804" y="0"/>
                </a:lnTo>
                <a:lnTo>
                  <a:pt x="5802982" y="0"/>
                </a:lnTo>
                <a:lnTo>
                  <a:pt x="5852160" y="0"/>
                </a:lnTo>
              </a:path>
            </a:pathLst>
          </a:custGeom>
          <a:noFill/>
          <a:ln w="30480">
            <a:solidFill>
              <a:srgbClr val="F2B88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C1-E02 ellipse 48" descr="sci-ppt:o048"/>
          <p:cNvSpPr/>
          <p:nvPr/>
        </p:nvSpPr>
        <p:spPr>
          <a:xfrm>
            <a:off x="7455407" y="4443983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C1-E02 text 49" descr="sci-ppt:o049"/>
          <p:cNvSpPr txBox="1"/>
          <p:nvPr/>
        </p:nvSpPr>
        <p:spPr>
          <a:xfrm>
            <a:off x="7656576" y="4151375"/>
            <a:ext cx="164592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EDBD4"/>
                </a:solidFill>
                <a:latin typeface="Arial"/>
              </a:rPr>
              <a:t>u(2R) = Ṙ/4</a:t>
            </a:r>
          </a:p>
        </p:txBody>
      </p:sp>
      <p:sp>
        <p:nvSpPr>
          <p:cNvPr id="52" name="C1-E02 text 50" descr="sci-ppt:o050"/>
          <p:cNvSpPr txBox="1"/>
          <p:nvPr/>
        </p:nvSpPr>
        <p:spPr>
          <a:xfrm>
            <a:off x="6041136" y="1483156"/>
            <a:ext cx="402336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r²u / (R²Ṙ) = 1 on every shell</a:t>
            </a:r>
          </a:p>
        </p:txBody>
      </p:sp>
      <p:sp>
        <p:nvSpPr>
          <p:cNvPr id="53" name="C1-E02 text 51" descr="sci-ppt:o051"/>
          <p:cNvSpPr txBox="1"/>
          <p:nvPr/>
        </p:nvSpPr>
        <p:spPr>
          <a:xfrm>
            <a:off x="8577072" y="3261847"/>
            <a:ext cx="21945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EDBD4"/>
                </a:solidFill>
                <a:latin typeface="Arial"/>
              </a:rPr>
              <a:t>u / Ṙ = (R/r)²</a:t>
            </a:r>
          </a:p>
        </p:txBody>
      </p:sp>
      <p:sp>
        <p:nvSpPr>
          <p:cNvPr id="54" name="C1-E02 text 52" descr="sci-ppt:o052"/>
          <p:cNvSpPr txBox="1"/>
          <p:nvPr/>
        </p:nvSpPr>
        <p:spPr>
          <a:xfrm>
            <a:off x="5577840" y="5897880"/>
            <a:ext cx="5852160" cy="44856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From ∇·u = 0: r²u = C(t). The wall condition u(R) = Ṙ gives C =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R²Ṙ.</a:t>
            </a:r>
          </a:p>
        </p:txBody>
      </p:sp>
      <p:sp>
        <p:nvSpPr>
          <p:cNvPr id="55" name="C1-E02 text 53" descr="sci-ppt:o053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Curves from u = R²Ṙ/r² (Eq. C1-E02).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