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C2-E01 | Physical-variable diagram</a:t>
            </a:r>
          </a:p>
        </p:txBody>
      </p:sp>
      <p:sp>
        <p:nvSpPr>
          <p:cNvPr id="3" name="ellipse2" descr="sci-ppt:C2-E01-002"/>
          <p:cNvSpPr/>
          <p:nvPr/>
        </p:nvSpPr>
        <p:spPr>
          <a:xfrm>
            <a:off x="1402080" y="1341120"/>
            <a:ext cx="2560320" cy="256032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01-003"/>
          <p:cNvSpPr/>
          <p:nvPr/>
        </p:nvSpPr>
        <p:spPr>
          <a:xfrm>
            <a:off x="1914144" y="1853184"/>
            <a:ext cx="1536192" cy="1536192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01-004"/>
          <p:cNvCxnSpPr/>
          <p:nvPr/>
        </p:nvCxnSpPr>
        <p:spPr>
          <a:xfrm>
            <a:off x="2682240" y="2621280"/>
            <a:ext cx="128015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01-005"/>
          <p:cNvSpPr txBox="1"/>
          <p:nvPr/>
        </p:nvSpPr>
        <p:spPr>
          <a:xfrm>
            <a:off x="2926080" y="2743200"/>
            <a:ext cx="9753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sp>
        <p:nvSpPr>
          <p:cNvPr id="7" name="text6" descr="sci-ppt:C2-E01-006"/>
          <p:cNvSpPr txBox="1"/>
          <p:nvPr/>
        </p:nvSpPr>
        <p:spPr>
          <a:xfrm>
            <a:off x="1402080" y="4084320"/>
            <a:ext cx="4876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Illuminated transverse plane</a:t>
            </a:r>
          </a:p>
        </p:txBody>
      </p:sp>
      <p:cxnSp>
        <p:nvCxnSpPr>
          <p:cNvPr id="8" name="arrow7" descr="sci-ppt:C2-E01-007"/>
          <p:cNvCxnSpPr/>
          <p:nvPr/>
        </p:nvCxnSpPr>
        <p:spPr>
          <a:xfrm>
            <a:off x="658368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arrow8" descr="sci-ppt:C2-E01-008"/>
          <p:cNvCxnSpPr/>
          <p:nvPr/>
        </p:nvCxnSpPr>
        <p:spPr>
          <a:xfrm flipV="1">
            <a:off x="6583680" y="1402080"/>
            <a:ext cx="0" cy="256031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01-009"/>
          <p:cNvSpPr txBox="1"/>
          <p:nvPr/>
        </p:nvSpPr>
        <p:spPr>
          <a:xfrm>
            <a:off x="987552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 / w</a:t>
            </a:r>
          </a:p>
        </p:txBody>
      </p:sp>
      <p:sp>
        <p:nvSpPr>
          <p:cNvPr id="11" name="text10" descr="sci-ppt:C2-E01-010"/>
          <p:cNvSpPr txBox="1"/>
          <p:nvPr/>
        </p:nvSpPr>
        <p:spPr>
          <a:xfrm>
            <a:off x="6461760" y="103632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 / F0</a:t>
            </a:r>
          </a:p>
        </p:txBody>
      </p:sp>
      <p:cxnSp>
        <p:nvCxnSpPr>
          <p:cNvPr id="12" name="line11" descr="sci-ppt:C2-E01-011"/>
          <p:cNvCxnSpPr/>
          <p:nvPr/>
        </p:nvCxnSpPr>
        <p:spPr>
          <a:xfrm>
            <a:off x="6644640" y="1524000"/>
            <a:ext cx="103632" cy="121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01-012"/>
          <p:cNvCxnSpPr/>
          <p:nvPr/>
        </p:nvCxnSpPr>
        <p:spPr>
          <a:xfrm>
            <a:off x="6748272" y="1536161"/>
            <a:ext cx="103632" cy="36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01-013"/>
          <p:cNvCxnSpPr/>
          <p:nvPr/>
        </p:nvCxnSpPr>
        <p:spPr>
          <a:xfrm>
            <a:off x="6851904" y="1572283"/>
            <a:ext cx="103632" cy="590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01-014"/>
          <p:cNvCxnSpPr/>
          <p:nvPr/>
        </p:nvCxnSpPr>
        <p:spPr>
          <a:xfrm>
            <a:off x="6955536" y="1631295"/>
            <a:ext cx="103632" cy="801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01-015"/>
          <p:cNvCxnSpPr/>
          <p:nvPr/>
        </p:nvCxnSpPr>
        <p:spPr>
          <a:xfrm>
            <a:off x="7059168" y="1711473"/>
            <a:ext cx="103632" cy="990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01-016"/>
          <p:cNvCxnSpPr/>
          <p:nvPr/>
        </p:nvCxnSpPr>
        <p:spPr>
          <a:xfrm>
            <a:off x="7162800" y="1810519"/>
            <a:ext cx="103632" cy="1151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01-017"/>
          <p:cNvCxnSpPr/>
          <p:nvPr/>
        </p:nvCxnSpPr>
        <p:spPr>
          <a:xfrm>
            <a:off x="7266432" y="1925677"/>
            <a:ext cx="103632" cy="1281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01-018"/>
          <p:cNvCxnSpPr/>
          <p:nvPr/>
        </p:nvCxnSpPr>
        <p:spPr>
          <a:xfrm>
            <a:off x="7370064" y="2053853"/>
            <a:ext cx="103632" cy="1379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01-019"/>
          <p:cNvCxnSpPr/>
          <p:nvPr/>
        </p:nvCxnSpPr>
        <p:spPr>
          <a:xfrm>
            <a:off x="7473696" y="2191758"/>
            <a:ext cx="103632" cy="14428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01-020"/>
          <p:cNvCxnSpPr/>
          <p:nvPr/>
        </p:nvCxnSpPr>
        <p:spPr>
          <a:xfrm>
            <a:off x="7577328" y="2336043"/>
            <a:ext cx="103632" cy="1473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01-021"/>
          <p:cNvCxnSpPr/>
          <p:nvPr/>
        </p:nvCxnSpPr>
        <p:spPr>
          <a:xfrm>
            <a:off x="7680960" y="2483435"/>
            <a:ext cx="103632" cy="14741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01-022"/>
          <p:cNvCxnSpPr/>
          <p:nvPr/>
        </p:nvCxnSpPr>
        <p:spPr>
          <a:xfrm>
            <a:off x="7784592" y="2630852"/>
            <a:ext cx="103632" cy="1446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01-023"/>
          <p:cNvCxnSpPr/>
          <p:nvPr/>
        </p:nvCxnSpPr>
        <p:spPr>
          <a:xfrm>
            <a:off x="7888224" y="2775503"/>
            <a:ext cx="103632" cy="1394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01-024"/>
          <p:cNvCxnSpPr/>
          <p:nvPr/>
        </p:nvCxnSpPr>
        <p:spPr>
          <a:xfrm>
            <a:off x="7991856" y="2914967"/>
            <a:ext cx="103632" cy="132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01-025"/>
          <p:cNvCxnSpPr/>
          <p:nvPr/>
        </p:nvCxnSpPr>
        <p:spPr>
          <a:xfrm>
            <a:off x="8095488" y="3047241"/>
            <a:ext cx="103632" cy="1235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01-026"/>
          <p:cNvCxnSpPr/>
          <p:nvPr/>
        </p:nvCxnSpPr>
        <p:spPr>
          <a:xfrm>
            <a:off x="8199120" y="3170767"/>
            <a:ext cx="103632" cy="1136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01-027"/>
          <p:cNvCxnSpPr/>
          <p:nvPr/>
        </p:nvCxnSpPr>
        <p:spPr>
          <a:xfrm>
            <a:off x="8302752" y="3284433"/>
            <a:ext cx="103632" cy="1031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01-028"/>
          <p:cNvCxnSpPr/>
          <p:nvPr/>
        </p:nvCxnSpPr>
        <p:spPr>
          <a:xfrm>
            <a:off x="8406384" y="3387556"/>
            <a:ext cx="103632" cy="922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01-029"/>
          <p:cNvCxnSpPr/>
          <p:nvPr/>
        </p:nvCxnSpPr>
        <p:spPr>
          <a:xfrm>
            <a:off x="8510016" y="3479843"/>
            <a:ext cx="103632" cy="81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01-030"/>
          <p:cNvCxnSpPr/>
          <p:nvPr/>
        </p:nvCxnSpPr>
        <p:spPr>
          <a:xfrm>
            <a:off x="8613648" y="3561345"/>
            <a:ext cx="103632" cy="710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01-031"/>
          <p:cNvCxnSpPr/>
          <p:nvPr/>
        </p:nvCxnSpPr>
        <p:spPr>
          <a:xfrm>
            <a:off x="8717280" y="3632398"/>
            <a:ext cx="103632" cy="611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01-032"/>
          <p:cNvCxnSpPr/>
          <p:nvPr/>
        </p:nvCxnSpPr>
        <p:spPr>
          <a:xfrm>
            <a:off x="8820912" y="3693565"/>
            <a:ext cx="103632" cy="520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01-033"/>
          <p:cNvCxnSpPr/>
          <p:nvPr/>
        </p:nvCxnSpPr>
        <p:spPr>
          <a:xfrm>
            <a:off x="8924544" y="3745573"/>
            <a:ext cx="103632" cy="436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01-034"/>
          <p:cNvCxnSpPr/>
          <p:nvPr/>
        </p:nvCxnSpPr>
        <p:spPr>
          <a:xfrm>
            <a:off x="9028176" y="3789260"/>
            <a:ext cx="103632" cy="362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01-035"/>
          <p:cNvCxnSpPr/>
          <p:nvPr/>
        </p:nvCxnSpPr>
        <p:spPr>
          <a:xfrm>
            <a:off x="9131808" y="3825520"/>
            <a:ext cx="103632" cy="297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01-036"/>
          <p:cNvCxnSpPr/>
          <p:nvPr/>
        </p:nvCxnSpPr>
        <p:spPr>
          <a:xfrm>
            <a:off x="9235440" y="3855264"/>
            <a:ext cx="103632" cy="241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01-037"/>
          <p:cNvCxnSpPr/>
          <p:nvPr/>
        </p:nvCxnSpPr>
        <p:spPr>
          <a:xfrm>
            <a:off x="9339072" y="3879378"/>
            <a:ext cx="103632" cy="193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01-038"/>
          <p:cNvCxnSpPr/>
          <p:nvPr/>
        </p:nvCxnSpPr>
        <p:spPr>
          <a:xfrm>
            <a:off x="9442704" y="3898705"/>
            <a:ext cx="103632" cy="15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01-039"/>
          <p:cNvCxnSpPr/>
          <p:nvPr/>
        </p:nvCxnSpPr>
        <p:spPr>
          <a:xfrm>
            <a:off x="9546336" y="3914019"/>
            <a:ext cx="103632" cy="119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01-040"/>
          <p:cNvCxnSpPr/>
          <p:nvPr/>
        </p:nvCxnSpPr>
        <p:spPr>
          <a:xfrm>
            <a:off x="9649968" y="3926017"/>
            <a:ext cx="103632" cy="92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01-041"/>
          <p:cNvCxnSpPr/>
          <p:nvPr/>
        </p:nvCxnSpPr>
        <p:spPr>
          <a:xfrm>
            <a:off x="9753600" y="3935311"/>
            <a:ext cx="103632" cy="71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01-042"/>
          <p:cNvCxnSpPr/>
          <p:nvPr/>
        </p:nvCxnSpPr>
        <p:spPr>
          <a:xfrm>
            <a:off x="9857232" y="3942432"/>
            <a:ext cx="103632" cy="53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01-043"/>
          <p:cNvCxnSpPr/>
          <p:nvPr/>
        </p:nvCxnSpPr>
        <p:spPr>
          <a:xfrm>
            <a:off x="9960864" y="3947828"/>
            <a:ext cx="103632" cy="40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01-044"/>
          <p:cNvCxnSpPr/>
          <p:nvPr/>
        </p:nvCxnSpPr>
        <p:spPr>
          <a:xfrm>
            <a:off x="10064496" y="3951871"/>
            <a:ext cx="103632" cy="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01-045"/>
          <p:cNvCxnSpPr/>
          <p:nvPr/>
        </p:nvCxnSpPr>
        <p:spPr>
          <a:xfrm>
            <a:off x="10168128" y="3954868"/>
            <a:ext cx="103632" cy="2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01-046"/>
          <p:cNvCxnSpPr/>
          <p:nvPr/>
        </p:nvCxnSpPr>
        <p:spPr>
          <a:xfrm>
            <a:off x="10271760" y="3957066"/>
            <a:ext cx="103632" cy="1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01-047"/>
          <p:cNvCxnSpPr/>
          <p:nvPr/>
        </p:nvCxnSpPr>
        <p:spPr>
          <a:xfrm>
            <a:off x="10375392" y="3958659"/>
            <a:ext cx="103632" cy="11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01-048"/>
          <p:cNvCxnSpPr/>
          <p:nvPr/>
        </p:nvCxnSpPr>
        <p:spPr>
          <a:xfrm>
            <a:off x="10479024" y="3959803"/>
            <a:ext cx="103632" cy="8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01-049"/>
          <p:cNvCxnSpPr/>
          <p:nvPr/>
        </p:nvCxnSpPr>
        <p:spPr>
          <a:xfrm>
            <a:off x="10582656" y="3960615"/>
            <a:ext cx="103632" cy="5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line50" descr="sci-ppt:C2-E01-050"/>
          <p:cNvCxnSpPr/>
          <p:nvPr/>
        </p:nvCxnSpPr>
        <p:spPr>
          <a:xfrm>
            <a:off x="10686288" y="3961185"/>
            <a:ext cx="103632" cy="3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2" name="text51" descr="sci-ppt:C2-E01-051"/>
          <p:cNvSpPr txBox="1"/>
          <p:nvPr/>
        </p:nvSpPr>
        <p:spPr>
          <a:xfrm>
            <a:off x="7254240" y="103632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Gaussian profile (prescribed)</a:t>
            </a:r>
          </a:p>
        </p:txBody>
      </p:sp>
      <p:sp>
        <p:nvSpPr>
          <p:cNvPr id="53" name="text52" descr="sci-ppt:C2-E01-05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r: transverse radius</a:t>
            </a:r>
          </a:p>
        </p:txBody>
      </p:sp>
      <p:sp>
        <p:nvSpPr>
          <p:cNvPr id="54" name="text53" descr="sci-ppt:C2-E01-05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F(r), F₀: fluence</a:t>
            </a:r>
          </a:p>
        </p:txBody>
      </p:sp>
      <p:sp>
        <p:nvSpPr>
          <p:cNvPr id="55" name="text54" descr="sci-ppt:C2-E01-054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e⁻² beam radius</a:t>
            </a:r>
          </a:p>
        </p:txBody>
      </p:sp>
      <p:sp>
        <p:nvSpPr>
          <p:cNvPr id="56" name="text55" descr="sci-ppt:C2-E01-055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Beam axis at r = 0</a:t>
            </a:r>
          </a:p>
        </p:txBody>
      </p:sp>
      <p:sp>
        <p:nvSpPr>
          <p:cNvPr id="57" name="text56" descr="sci-ppt:C2-E01-056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Gaussian profile across the illuminated plane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