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C2-E16 · Derived homogeneous barrier height</a:t>
            </a:r>
          </a:p>
        </p:txBody>
      </p:sp>
      <p:cxnSp>
        <p:nvCxnSpPr>
          <p:cNvPr id="3" name="C2-E16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6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6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6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cxnSp>
        <p:nvCxnSpPr>
          <p:cNvPr id="8" name="C2-E16 line 6" descr="sci-ppt:o006"/>
          <p:cNvCxnSpPr/>
          <p:nvPr/>
        </p:nvCxnSpPr>
        <p:spPr>
          <a:xfrm>
            <a:off x="2926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6 line 7" descr="sci-ppt:o007"/>
          <p:cNvCxnSpPr/>
          <p:nvPr/>
        </p:nvCxnSpPr>
        <p:spPr>
          <a:xfrm>
            <a:off x="2926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6 text 8" descr="sci-ppt:o008"/>
          <p:cNvSpPr txBox="1"/>
          <p:nvPr/>
        </p:nvSpPr>
        <p:spPr>
          <a:xfrm>
            <a:off x="2468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cxnSp>
        <p:nvCxnSpPr>
          <p:cNvPr id="11" name="C2-E16 line 9" descr="sci-ppt:o009"/>
          <p:cNvCxnSpPr/>
          <p:nvPr/>
        </p:nvCxnSpPr>
        <p:spPr>
          <a:xfrm>
            <a:off x="49377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6 line 10" descr="sci-ppt:o010"/>
          <p:cNvCxnSpPr/>
          <p:nvPr/>
        </p:nvCxnSpPr>
        <p:spPr>
          <a:xfrm>
            <a:off x="49377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6 text 11" descr="sci-ppt:o011"/>
          <p:cNvSpPr txBox="1"/>
          <p:nvPr/>
        </p:nvSpPr>
        <p:spPr>
          <a:xfrm>
            <a:off x="44805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1e+07</a:t>
            </a:r>
          </a:p>
        </p:txBody>
      </p:sp>
      <p:cxnSp>
        <p:nvCxnSpPr>
          <p:cNvPr id="14" name="C2-E16 line 12" descr="sci-ppt:o012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6 line 13" descr="sci-ppt:o013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6 text 14" descr="sci-ppt:o014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1e+08</a:t>
            </a:r>
          </a:p>
        </p:txBody>
      </p:sp>
      <p:cxnSp>
        <p:nvCxnSpPr>
          <p:cNvPr id="17" name="C2-E16 line 15" descr="sci-ppt:o015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6 line 16" descr="sci-ppt:o016"/>
          <p:cNvCxnSpPr/>
          <p:nvPr/>
        </p:nvCxnSpPr>
        <p:spPr>
          <a:xfrm>
            <a:off x="850392" y="39841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2-E16 line 17" descr="sci-ppt:o017"/>
          <p:cNvCxnSpPr/>
          <p:nvPr/>
        </p:nvCxnSpPr>
        <p:spPr>
          <a:xfrm>
            <a:off x="914400" y="3984171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2-E16 text 18" descr="sci-ppt:o018"/>
          <p:cNvSpPr txBox="1"/>
          <p:nvPr/>
        </p:nvSpPr>
        <p:spPr>
          <a:xfrm>
            <a:off x="45720" y="39018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1e+02</a:t>
            </a:r>
          </a:p>
        </p:txBody>
      </p:sp>
      <p:cxnSp>
        <p:nvCxnSpPr>
          <p:cNvPr id="21" name="C2-E16 line 19" descr="sci-ppt:o019"/>
          <p:cNvCxnSpPr/>
          <p:nvPr/>
        </p:nvCxnSpPr>
        <p:spPr>
          <a:xfrm>
            <a:off x="850392" y="29391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16 line 20" descr="sci-ppt:o020"/>
          <p:cNvCxnSpPr/>
          <p:nvPr/>
        </p:nvCxnSpPr>
        <p:spPr>
          <a:xfrm>
            <a:off x="914400" y="2939142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16 text 21" descr="sci-ppt:o021"/>
          <p:cNvSpPr txBox="1"/>
          <p:nvPr/>
        </p:nvSpPr>
        <p:spPr>
          <a:xfrm>
            <a:off x="45720" y="28568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24" name="C2-E16 line 22" descr="sci-ppt:o022"/>
          <p:cNvCxnSpPr/>
          <p:nvPr/>
        </p:nvCxnSpPr>
        <p:spPr>
          <a:xfrm>
            <a:off x="850392" y="18941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16 line 23" descr="sci-ppt:o023"/>
          <p:cNvCxnSpPr/>
          <p:nvPr/>
        </p:nvCxnSpPr>
        <p:spPr>
          <a:xfrm>
            <a:off x="914400" y="189411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16 text 24" descr="sci-ppt:o024"/>
          <p:cNvSpPr txBox="1"/>
          <p:nvPr/>
        </p:nvSpPr>
        <p:spPr>
          <a:xfrm>
            <a:off x="45720" y="1811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sp>
        <p:nvSpPr>
          <p:cNvPr id="27" name="C2-E16 text 25" descr="sci-ppt:o025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driving pressure Δpₙ  (Pa)</a:t>
            </a:r>
          </a:p>
        </p:txBody>
      </p:sp>
      <p:sp>
        <p:nvSpPr>
          <p:cNvPr id="28" name="C2-E16 text 26" descr="sci-ppt:o026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W* / k_B T</a:t>
            </a:r>
          </a:p>
        </p:txBody>
      </p:sp>
      <p:sp>
        <p:nvSpPr>
          <p:cNvPr id="29" name="C2-E16 polygon 27" descr="sci-ppt:o027"/>
          <p:cNvSpPr/>
          <p:nvPr/>
        </p:nvSpPr>
        <p:spPr>
          <a:xfrm>
            <a:off x="914400" y="2116254"/>
            <a:ext cx="5547360" cy="2881746"/>
          </a:xfrm>
          <a:custGeom>
            <a:avLst/>
            <a:gdLst/>
            <a:ahLst/>
            <a:cxnLst/>
            <a:rect l="l" t="t" r="r" b="b"/>
            <a:pathLst>
              <a:path w="5547360" h="2881746">
                <a:moveTo>
                  <a:pt x="0" y="0"/>
                </a:moveTo>
                <a:lnTo>
                  <a:pt x="60960" y="31668"/>
                </a:lnTo>
                <a:lnTo>
                  <a:pt x="121920" y="63335"/>
                </a:lnTo>
                <a:lnTo>
                  <a:pt x="182879" y="95003"/>
                </a:lnTo>
                <a:lnTo>
                  <a:pt x="243839" y="126670"/>
                </a:lnTo>
                <a:lnTo>
                  <a:pt x="304799" y="158338"/>
                </a:lnTo>
                <a:lnTo>
                  <a:pt x="365759" y="190005"/>
                </a:lnTo>
                <a:lnTo>
                  <a:pt x="426719" y="221673"/>
                </a:lnTo>
                <a:lnTo>
                  <a:pt x="487679" y="253340"/>
                </a:lnTo>
                <a:lnTo>
                  <a:pt x="548639" y="285008"/>
                </a:lnTo>
                <a:lnTo>
                  <a:pt x="609599" y="316675"/>
                </a:lnTo>
                <a:lnTo>
                  <a:pt x="670559" y="348343"/>
                </a:lnTo>
                <a:lnTo>
                  <a:pt x="731519" y="380010"/>
                </a:lnTo>
                <a:lnTo>
                  <a:pt x="792479" y="411678"/>
                </a:lnTo>
                <a:lnTo>
                  <a:pt x="853439" y="443346"/>
                </a:lnTo>
                <a:lnTo>
                  <a:pt x="914400" y="475013"/>
                </a:lnTo>
                <a:lnTo>
                  <a:pt x="975359" y="506681"/>
                </a:lnTo>
                <a:lnTo>
                  <a:pt x="1036320" y="538348"/>
                </a:lnTo>
                <a:lnTo>
                  <a:pt x="1097279" y="570016"/>
                </a:lnTo>
                <a:lnTo>
                  <a:pt x="1158240" y="601683"/>
                </a:lnTo>
                <a:lnTo>
                  <a:pt x="1219200" y="633351"/>
                </a:lnTo>
                <a:lnTo>
                  <a:pt x="1280160" y="665018"/>
                </a:lnTo>
                <a:lnTo>
                  <a:pt x="1341120" y="696686"/>
                </a:lnTo>
                <a:lnTo>
                  <a:pt x="1402080" y="728353"/>
                </a:lnTo>
                <a:lnTo>
                  <a:pt x="1463040" y="760021"/>
                </a:lnTo>
                <a:lnTo>
                  <a:pt x="1524000" y="791688"/>
                </a:lnTo>
                <a:lnTo>
                  <a:pt x="1584960" y="823356"/>
                </a:lnTo>
                <a:lnTo>
                  <a:pt x="1645920" y="855023"/>
                </a:lnTo>
                <a:lnTo>
                  <a:pt x="1706880" y="886691"/>
                </a:lnTo>
                <a:lnTo>
                  <a:pt x="1767840" y="918358"/>
                </a:lnTo>
                <a:lnTo>
                  <a:pt x="1828800" y="950026"/>
                </a:lnTo>
                <a:lnTo>
                  <a:pt x="1889760" y="981694"/>
                </a:lnTo>
                <a:lnTo>
                  <a:pt x="1950720" y="1013361"/>
                </a:lnTo>
                <a:lnTo>
                  <a:pt x="2011679" y="1045029"/>
                </a:lnTo>
                <a:lnTo>
                  <a:pt x="2072640" y="1076696"/>
                </a:lnTo>
                <a:lnTo>
                  <a:pt x="2133599" y="1108364"/>
                </a:lnTo>
                <a:lnTo>
                  <a:pt x="2194559" y="1140031"/>
                </a:lnTo>
                <a:lnTo>
                  <a:pt x="2255519" y="1171699"/>
                </a:lnTo>
                <a:lnTo>
                  <a:pt x="2316480" y="1203366"/>
                </a:lnTo>
                <a:lnTo>
                  <a:pt x="2377439" y="1235034"/>
                </a:lnTo>
                <a:lnTo>
                  <a:pt x="2438399" y="1266701"/>
                </a:lnTo>
                <a:lnTo>
                  <a:pt x="2499359" y="1298369"/>
                </a:lnTo>
                <a:lnTo>
                  <a:pt x="2560319" y="1330036"/>
                </a:lnTo>
                <a:lnTo>
                  <a:pt x="2621279" y="1361704"/>
                </a:lnTo>
                <a:lnTo>
                  <a:pt x="2682240" y="1393371"/>
                </a:lnTo>
                <a:lnTo>
                  <a:pt x="2743199" y="1425039"/>
                </a:lnTo>
                <a:lnTo>
                  <a:pt x="2804160" y="1456707"/>
                </a:lnTo>
                <a:lnTo>
                  <a:pt x="2865119" y="1488374"/>
                </a:lnTo>
                <a:lnTo>
                  <a:pt x="2926080" y="1520042"/>
                </a:lnTo>
                <a:lnTo>
                  <a:pt x="2987039" y="1551709"/>
                </a:lnTo>
                <a:lnTo>
                  <a:pt x="3048000" y="1583377"/>
                </a:lnTo>
                <a:lnTo>
                  <a:pt x="3108959" y="1615044"/>
                </a:lnTo>
                <a:lnTo>
                  <a:pt x="3169920" y="1646712"/>
                </a:lnTo>
                <a:lnTo>
                  <a:pt x="3230880" y="1678379"/>
                </a:lnTo>
                <a:lnTo>
                  <a:pt x="3291840" y="1710047"/>
                </a:lnTo>
                <a:lnTo>
                  <a:pt x="3352800" y="1741714"/>
                </a:lnTo>
                <a:lnTo>
                  <a:pt x="3413760" y="1773382"/>
                </a:lnTo>
                <a:lnTo>
                  <a:pt x="3474720" y="1805049"/>
                </a:lnTo>
                <a:lnTo>
                  <a:pt x="3535680" y="1836717"/>
                </a:lnTo>
                <a:lnTo>
                  <a:pt x="3596640" y="1868384"/>
                </a:lnTo>
                <a:lnTo>
                  <a:pt x="3657600" y="1900052"/>
                </a:lnTo>
                <a:lnTo>
                  <a:pt x="3718560" y="1931720"/>
                </a:lnTo>
                <a:lnTo>
                  <a:pt x="3779520" y="1963387"/>
                </a:lnTo>
                <a:lnTo>
                  <a:pt x="3840479" y="1995055"/>
                </a:lnTo>
                <a:lnTo>
                  <a:pt x="3901440" y="2026722"/>
                </a:lnTo>
                <a:lnTo>
                  <a:pt x="3962400" y="2058390"/>
                </a:lnTo>
                <a:lnTo>
                  <a:pt x="4023359" y="2090057"/>
                </a:lnTo>
                <a:lnTo>
                  <a:pt x="4084320" y="2121725"/>
                </a:lnTo>
                <a:lnTo>
                  <a:pt x="4145280" y="2153392"/>
                </a:lnTo>
                <a:lnTo>
                  <a:pt x="4206240" y="2185060"/>
                </a:lnTo>
                <a:lnTo>
                  <a:pt x="4267199" y="2216727"/>
                </a:lnTo>
                <a:lnTo>
                  <a:pt x="4328159" y="2248395"/>
                </a:lnTo>
                <a:lnTo>
                  <a:pt x="4389119" y="2280062"/>
                </a:lnTo>
                <a:lnTo>
                  <a:pt x="4450080" y="2311730"/>
                </a:lnTo>
                <a:lnTo>
                  <a:pt x="4511039" y="2343397"/>
                </a:lnTo>
                <a:lnTo>
                  <a:pt x="4572000" y="2375065"/>
                </a:lnTo>
                <a:lnTo>
                  <a:pt x="4632960" y="2406733"/>
                </a:lnTo>
                <a:lnTo>
                  <a:pt x="4693920" y="2438400"/>
                </a:lnTo>
                <a:lnTo>
                  <a:pt x="4754879" y="2470068"/>
                </a:lnTo>
                <a:lnTo>
                  <a:pt x="4815840" y="2501735"/>
                </a:lnTo>
                <a:lnTo>
                  <a:pt x="4876799" y="2533403"/>
                </a:lnTo>
                <a:lnTo>
                  <a:pt x="4937760" y="2565070"/>
                </a:lnTo>
                <a:lnTo>
                  <a:pt x="4998719" y="2596738"/>
                </a:lnTo>
                <a:lnTo>
                  <a:pt x="5059680" y="2628405"/>
                </a:lnTo>
                <a:lnTo>
                  <a:pt x="5120639" y="2660073"/>
                </a:lnTo>
                <a:lnTo>
                  <a:pt x="5181600" y="2691740"/>
                </a:lnTo>
                <a:lnTo>
                  <a:pt x="5242559" y="2723408"/>
                </a:lnTo>
                <a:lnTo>
                  <a:pt x="5303520" y="2755075"/>
                </a:lnTo>
                <a:lnTo>
                  <a:pt x="5364480" y="2786743"/>
                </a:lnTo>
                <a:lnTo>
                  <a:pt x="5425440" y="2818410"/>
                </a:lnTo>
                <a:lnTo>
                  <a:pt x="5486400" y="2850078"/>
                </a:lnTo>
                <a:lnTo>
                  <a:pt x="5547360" y="2881746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2-E16 ellipse 28" descr="sci-ppt:o028"/>
          <p:cNvSpPr/>
          <p:nvPr/>
        </p:nvSpPr>
        <p:spPr>
          <a:xfrm>
            <a:off x="2852927" y="3088131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16 text 29" descr="sci-ppt:o029"/>
          <p:cNvSpPr txBox="1"/>
          <p:nvPr/>
        </p:nvSpPr>
        <p:spPr>
          <a:xfrm>
            <a:off x="3017520" y="2704083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Δp = 10 bar: 3,757 k_BT</a:t>
            </a:r>
          </a:p>
        </p:txBody>
      </p:sp>
      <p:sp>
        <p:nvSpPr>
          <p:cNvPr id="32" name="C2-E16 ellipse 30" descr="sci-ppt:o030"/>
          <p:cNvSpPr/>
          <p:nvPr/>
        </p:nvSpPr>
        <p:spPr>
          <a:xfrm>
            <a:off x="4864607" y="4133159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16 text 31" descr="sci-ppt:o031"/>
          <p:cNvSpPr txBox="1"/>
          <p:nvPr/>
        </p:nvSpPr>
        <p:spPr>
          <a:xfrm>
            <a:off x="5029199" y="3749111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Δp = 100 bar: 38 k_BT</a:t>
            </a:r>
          </a:p>
        </p:txBody>
      </p:sp>
      <p:sp>
        <p:nvSpPr>
          <p:cNvPr id="34" name="C2-E16 text 32" descr="sci-ppt:o032"/>
          <p:cNvSpPr txBox="1"/>
          <p:nvPr/>
        </p:nvSpPr>
        <p:spPr>
          <a:xfrm>
            <a:off x="1593128" y="2075885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slope −2</a:t>
            </a:r>
          </a:p>
        </p:txBody>
      </p:sp>
      <p:sp>
        <p:nvSpPr>
          <p:cNvPr id="35" name="C2-E16 round_rect 33" descr="sci-ppt:o033"/>
          <p:cNvSpPr/>
          <p:nvPr/>
        </p:nvSpPr>
        <p:spPr>
          <a:xfrm>
            <a:off x="7498079" y="1371600"/>
            <a:ext cx="43434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2-E16 text 34" descr="sci-ppt:o034"/>
          <p:cNvSpPr txBox="1"/>
          <p:nvPr/>
        </p:nvSpPr>
        <p:spPr>
          <a:xfrm>
            <a:off x="7607807" y="1426464"/>
            <a:ext cx="4123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barrier does not vanish</a:t>
            </a:r>
          </a:p>
        </p:txBody>
      </p:sp>
      <p:sp>
        <p:nvSpPr>
          <p:cNvPr id="37" name="C2-E16 text 35" descr="sci-ppt:o035"/>
          <p:cNvSpPr txBox="1"/>
          <p:nvPr/>
        </p:nvSpPr>
        <p:spPr>
          <a:xfrm>
            <a:off x="7635240" y="1828800"/>
            <a:ext cx="41148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W* = 16π σᵥₚ³ / (3 Δpₙ²)</a:t>
            </a:r>
          </a:p>
        </p:txBody>
      </p:sp>
      <p:sp>
        <p:nvSpPr>
          <p:cNvPr id="38" name="C2-E16 text 36" descr="sci-ppt:o036"/>
          <p:cNvSpPr txBox="1"/>
          <p:nvPr/>
        </p:nvSpPr>
        <p:spPr>
          <a:xfrm>
            <a:off x="7635240" y="2377440"/>
            <a:ext cx="41148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Derivation: W(r*) = (16 − 32/3) π σ³/Δp² = (16/3)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π σ³/Δp²</a:t>
            </a:r>
          </a:p>
        </p:txBody>
      </p:sp>
      <p:sp>
        <p:nvSpPr>
          <p:cNvPr id="39" name="C2-E16 text 37" descr="sci-ppt:o037"/>
          <p:cNvSpPr txBox="1"/>
          <p:nvPr/>
        </p:nvSpPr>
        <p:spPr>
          <a:xfrm>
            <a:off x="7836408" y="3108960"/>
            <a:ext cx="39136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Positive superheat shrinks the barrier but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never removes it.</a:t>
            </a:r>
          </a:p>
        </p:txBody>
      </p:sp>
      <p:sp>
        <p:nvSpPr>
          <p:cNvPr id="40" name="C2-E16 ellipse 38" descr="sci-ppt:o038"/>
          <p:cNvSpPr/>
          <p:nvPr/>
        </p:nvSpPr>
        <p:spPr>
          <a:xfrm>
            <a:off x="7667244" y="31662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6 text 39" descr="sci-ppt:o039"/>
          <p:cNvSpPr txBox="1"/>
          <p:nvPr/>
        </p:nvSpPr>
        <p:spPr>
          <a:xfrm>
            <a:off x="7836408" y="3587749"/>
            <a:ext cx="39136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Relative to thermal energy k_B T the barrier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is still thousands of units at 10 bar.</a:t>
            </a:r>
          </a:p>
        </p:txBody>
      </p:sp>
      <p:sp>
        <p:nvSpPr>
          <p:cNvPr id="42" name="C2-E16 ellipse 40" descr="sci-ppt:o040"/>
          <p:cNvSpPr/>
          <p:nvPr/>
        </p:nvSpPr>
        <p:spPr>
          <a:xfrm>
            <a:off x="7667244" y="364502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6 text 41" descr="sci-ppt:o041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Illustrative σᵥₚ = 0.010 N/m (assumed), T = 323 K. Thermal fluctuations alone rarely cross barriers of many k_B T.</a:t>
            </a:r>
          </a:p>
        </p:txBody>
      </p:sp>
      <p:sp>
        <p:nvSpPr>
          <p:cNvPr id="44" name="C2-E16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Barrier height of Eq. C2-E16, homogeneous locally isothermal small-nucleus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