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2-E27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C2-E27 | Physical-variable diagram</a:t>
            </a:r>
          </a:p>
        </p:txBody>
      </p:sp>
      <p:sp>
        <p:nvSpPr>
          <p:cNvPr id="3" name="ellipse2" descr="sci-ppt:C2-E27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2-E27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2-E27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a</a:t>
            </a:r>
          </a:p>
        </p:txBody>
      </p:sp>
      <p:sp>
        <p:nvSpPr>
          <p:cNvPr id="6" name="text5" descr="sci-ppt:C2-E27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PFC liquid</a:t>
            </a:r>
          </a:p>
        </p:txBody>
      </p:sp>
      <p:sp>
        <p:nvSpPr>
          <p:cNvPr id="7" name="text6" descr="sci-ppt:C2-E27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Aqueous carrier</a:t>
            </a:r>
          </a:p>
        </p:txBody>
      </p:sp>
      <p:sp>
        <p:nvSpPr>
          <p:cNvPr id="8" name="text7" descr="sci-ppt:C2-E27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p_c; interface: σ_pc, shell</a:t>
            </a:r>
          </a:p>
        </p:txBody>
      </p:sp>
      <p:sp>
        <p:nvSpPr>
          <p:cNvPr id="9" name="text8" descr="sci-ppt:C2-E27-008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Finite liquid core: a differs from subsequent bubble radius R.</a:t>
            </a:r>
          </a:p>
        </p:txBody>
      </p:sp>
      <p:sp>
        <p:nvSpPr>
          <p:cNvPr id="10" name="text9" descr="sci-ppt:C2-E27-009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a₀ = 5 μm</a:t>
            </a:r>
          </a:p>
        </p:txBody>
      </p:sp>
      <p:sp>
        <p:nvSpPr>
          <p:cNvPr id="11" name="text10" descr="sci-ppt:C2-E27-010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m_PFC,0 = 0.853466 ng</a:t>
            </a:r>
          </a:p>
        </p:txBody>
      </p:sp>
      <p:sp>
        <p:nvSpPr>
          <p:cNvPr id="12" name="text11" descr="sci-ppt:C2-E27-011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ρ_d = 1630 kg/m³</a:t>
            </a:r>
          </a:p>
        </p:txBody>
      </p:sp>
      <p:sp>
        <p:nvSpPr>
          <p:cNvPr id="13" name="text12" descr="sci-ppt:C2-E27-012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π: spherical volume</a:t>
            </a:r>
          </a:p>
        </p:txBody>
      </p:sp>
      <p:sp>
        <p:nvSpPr>
          <p:cNvPr id="14" name="text13" descr="sci-ppt:C2-E27-013"/>
          <p:cNvSpPr txBox="1"/>
          <p:nvPr/>
        </p:nvSpPr>
        <p:spPr>
          <a:xfrm>
            <a:off x="365760" y="627888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This is a micron-scale teaching core</a:t>
            </a:r>
          </a:p>
        </p:txBody>
      </p:sp>
      <p:sp>
        <p:nvSpPr>
          <p:cNvPr id="15" name="text14" descr="sci-ppt:C2-E27-014"/>
          <p:cNvSpPr txBox="1"/>
          <p:nvPr/>
        </p:nvSpPr>
        <p:spPr>
          <a:xfrm>
            <a:off x="365760" y="657148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All later PFC phases share this mass inventory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