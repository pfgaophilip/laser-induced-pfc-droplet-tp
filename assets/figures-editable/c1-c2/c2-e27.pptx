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2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C2-E27 · Finite-mass worked calculation</a:t>
            </a:r>
          </a:p>
        </p:txBody>
      </p:sp>
      <p:cxnSp>
        <p:nvCxnSpPr>
          <p:cNvPr id="3" name="C2-E27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2-E27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2-E27 line 3" descr="sci-ppt:o003"/>
          <p:cNvCxnSpPr/>
          <p:nvPr/>
        </p:nvCxnSpPr>
        <p:spPr>
          <a:xfrm>
            <a:off x="190513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2-E27 line 4" descr="sci-ppt:o004"/>
          <p:cNvCxnSpPr/>
          <p:nvPr/>
        </p:nvCxnSpPr>
        <p:spPr>
          <a:xfrm>
            <a:off x="190513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2-E27 text 5" descr="sci-ppt:o005"/>
          <p:cNvSpPr txBox="1"/>
          <p:nvPr/>
        </p:nvSpPr>
        <p:spPr>
          <a:xfrm>
            <a:off x="144793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1e-06</a:t>
            </a:r>
          </a:p>
        </p:txBody>
      </p:sp>
      <p:cxnSp>
        <p:nvCxnSpPr>
          <p:cNvPr id="8" name="C2-E27 line 6" descr="sci-ppt:o006"/>
          <p:cNvCxnSpPr/>
          <p:nvPr/>
        </p:nvCxnSpPr>
        <p:spPr>
          <a:xfrm>
            <a:off x="5196283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2-E27 line 7" descr="sci-ppt:o007"/>
          <p:cNvCxnSpPr/>
          <p:nvPr/>
        </p:nvCxnSpPr>
        <p:spPr>
          <a:xfrm>
            <a:off x="5196283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2-E27 text 8" descr="sci-ppt:o008"/>
          <p:cNvSpPr txBox="1"/>
          <p:nvPr/>
        </p:nvSpPr>
        <p:spPr>
          <a:xfrm>
            <a:off x="4739083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1e-05</a:t>
            </a:r>
          </a:p>
        </p:txBody>
      </p:sp>
      <p:cxnSp>
        <p:nvCxnSpPr>
          <p:cNvPr id="11" name="C2-E27 line 9" descr="sci-ppt:o009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2-E27 line 10" descr="sci-ppt:o010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2-E27 text 11" descr="sci-ppt:o011"/>
          <p:cNvSpPr txBox="1"/>
          <p:nvPr/>
        </p:nvSpPr>
        <p:spPr>
          <a:xfrm>
            <a:off x="45720" y="49469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1e-15</a:t>
            </a:r>
          </a:p>
        </p:txBody>
      </p:sp>
      <p:cxnSp>
        <p:nvCxnSpPr>
          <p:cNvPr id="14" name="C2-E27 line 12" descr="sci-ppt:o012"/>
          <p:cNvCxnSpPr/>
          <p:nvPr/>
        </p:nvCxnSpPr>
        <p:spPr>
          <a:xfrm>
            <a:off x="850392" y="42976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2-E27 line 13" descr="sci-ppt:o013"/>
          <p:cNvCxnSpPr/>
          <p:nvPr/>
        </p:nvCxnSpPr>
        <p:spPr>
          <a:xfrm>
            <a:off x="914400" y="429768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2-E27 text 14" descr="sci-ppt:o014"/>
          <p:cNvSpPr txBox="1"/>
          <p:nvPr/>
        </p:nvSpPr>
        <p:spPr>
          <a:xfrm>
            <a:off x="45720" y="42153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1e-14</a:t>
            </a:r>
          </a:p>
        </p:txBody>
      </p:sp>
      <p:cxnSp>
        <p:nvCxnSpPr>
          <p:cNvPr id="17" name="C2-E27 line 15" descr="sci-ppt:o015"/>
          <p:cNvCxnSpPr/>
          <p:nvPr/>
        </p:nvCxnSpPr>
        <p:spPr>
          <a:xfrm>
            <a:off x="850392" y="35661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2-E27 line 16" descr="sci-ppt:o016"/>
          <p:cNvCxnSpPr/>
          <p:nvPr/>
        </p:nvCxnSpPr>
        <p:spPr>
          <a:xfrm>
            <a:off x="914400" y="356616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2-E27 text 17" descr="sci-ppt:o017"/>
          <p:cNvSpPr txBox="1"/>
          <p:nvPr/>
        </p:nvSpPr>
        <p:spPr>
          <a:xfrm>
            <a:off x="45720" y="34838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1e-13</a:t>
            </a:r>
          </a:p>
        </p:txBody>
      </p:sp>
      <p:cxnSp>
        <p:nvCxnSpPr>
          <p:cNvPr id="20" name="C2-E27 line 18" descr="sci-ppt:o018"/>
          <p:cNvCxnSpPr/>
          <p:nvPr/>
        </p:nvCxnSpPr>
        <p:spPr>
          <a:xfrm>
            <a:off x="850392" y="28346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2-E27 line 19" descr="sci-ppt:o019"/>
          <p:cNvCxnSpPr/>
          <p:nvPr/>
        </p:nvCxnSpPr>
        <p:spPr>
          <a:xfrm>
            <a:off x="914400" y="283464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2-E27 text 20" descr="sci-ppt:o020"/>
          <p:cNvSpPr txBox="1"/>
          <p:nvPr/>
        </p:nvSpPr>
        <p:spPr>
          <a:xfrm>
            <a:off x="45720" y="27523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1e-12</a:t>
            </a:r>
          </a:p>
        </p:txBody>
      </p:sp>
      <p:cxnSp>
        <p:nvCxnSpPr>
          <p:cNvPr id="23" name="C2-E27 line 21" descr="sci-ppt:o021"/>
          <p:cNvCxnSpPr/>
          <p:nvPr/>
        </p:nvCxnSpPr>
        <p:spPr>
          <a:xfrm>
            <a:off x="850392" y="21031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2-E27 line 22" descr="sci-ppt:o022"/>
          <p:cNvCxnSpPr/>
          <p:nvPr/>
        </p:nvCxnSpPr>
        <p:spPr>
          <a:xfrm>
            <a:off x="914400" y="210312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2-E27 text 23" descr="sci-ppt:o023"/>
          <p:cNvSpPr txBox="1"/>
          <p:nvPr/>
        </p:nvSpPr>
        <p:spPr>
          <a:xfrm>
            <a:off x="45720" y="20208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1e-11</a:t>
            </a:r>
          </a:p>
        </p:txBody>
      </p:sp>
      <p:cxnSp>
        <p:nvCxnSpPr>
          <p:cNvPr id="26" name="C2-E27 line 24" descr="sci-ppt:o024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2-E27 line 25" descr="sci-ppt:o025"/>
          <p:cNvCxnSpPr/>
          <p:nvPr/>
        </p:nvCxnSpPr>
        <p:spPr>
          <a:xfrm>
            <a:off x="914400" y="13716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2-E27 text 26" descr="sci-ppt:o026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1e-10</a:t>
            </a:r>
          </a:p>
        </p:txBody>
      </p:sp>
      <p:sp>
        <p:nvSpPr>
          <p:cNvPr id="29" name="C2-E27 text 27" descr="sci-ppt:o027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core radius a  (m)</a:t>
            </a:r>
          </a:p>
        </p:txBody>
      </p:sp>
      <p:sp>
        <p:nvSpPr>
          <p:cNvPr id="30" name="C2-E27 text 28" descr="sci-ppt:o028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PFC mass  (kg)</a:t>
            </a:r>
          </a:p>
        </p:txBody>
      </p:sp>
      <p:sp>
        <p:nvSpPr>
          <p:cNvPr id="31" name="C2-E27 polygon 29" descr="sci-ppt:o029"/>
          <p:cNvSpPr/>
          <p:nvPr/>
        </p:nvSpPr>
        <p:spPr>
          <a:xfrm>
            <a:off x="1030819" y="1384210"/>
            <a:ext cx="5425408" cy="3617699"/>
          </a:xfrm>
          <a:custGeom>
            <a:avLst/>
            <a:gdLst/>
            <a:ahLst/>
            <a:cxnLst/>
            <a:rect l="l" t="t" r="r" b="b"/>
            <a:pathLst>
              <a:path w="5425408" h="3617699">
                <a:moveTo>
                  <a:pt x="0" y="3617699"/>
                </a:moveTo>
                <a:lnTo>
                  <a:pt x="56514" y="3580015"/>
                </a:lnTo>
                <a:lnTo>
                  <a:pt x="113029" y="3542330"/>
                </a:lnTo>
                <a:lnTo>
                  <a:pt x="169544" y="3504646"/>
                </a:lnTo>
                <a:lnTo>
                  <a:pt x="226058" y="3466962"/>
                </a:lnTo>
                <a:lnTo>
                  <a:pt x="282573" y="3429277"/>
                </a:lnTo>
                <a:lnTo>
                  <a:pt x="339088" y="3391593"/>
                </a:lnTo>
                <a:lnTo>
                  <a:pt x="395602" y="3353908"/>
                </a:lnTo>
                <a:lnTo>
                  <a:pt x="452117" y="3316224"/>
                </a:lnTo>
                <a:lnTo>
                  <a:pt x="508632" y="3278540"/>
                </a:lnTo>
                <a:lnTo>
                  <a:pt x="565146" y="3240855"/>
                </a:lnTo>
                <a:lnTo>
                  <a:pt x="621661" y="3203171"/>
                </a:lnTo>
                <a:lnTo>
                  <a:pt x="678176" y="3165487"/>
                </a:lnTo>
                <a:lnTo>
                  <a:pt x="734690" y="3127802"/>
                </a:lnTo>
                <a:lnTo>
                  <a:pt x="791205" y="3090118"/>
                </a:lnTo>
                <a:lnTo>
                  <a:pt x="847720" y="3052434"/>
                </a:lnTo>
                <a:lnTo>
                  <a:pt x="904234" y="3014749"/>
                </a:lnTo>
                <a:lnTo>
                  <a:pt x="960749" y="2977065"/>
                </a:lnTo>
                <a:lnTo>
                  <a:pt x="1017264" y="2939380"/>
                </a:lnTo>
                <a:lnTo>
                  <a:pt x="1073779" y="2901696"/>
                </a:lnTo>
                <a:lnTo>
                  <a:pt x="1130293" y="2864012"/>
                </a:lnTo>
                <a:lnTo>
                  <a:pt x="1186808" y="2826327"/>
                </a:lnTo>
                <a:lnTo>
                  <a:pt x="1243323" y="2788643"/>
                </a:lnTo>
                <a:lnTo>
                  <a:pt x="1299837" y="2750959"/>
                </a:lnTo>
                <a:lnTo>
                  <a:pt x="1356352" y="2713274"/>
                </a:lnTo>
                <a:lnTo>
                  <a:pt x="1412867" y="2675590"/>
                </a:lnTo>
                <a:lnTo>
                  <a:pt x="1469381" y="2637906"/>
                </a:lnTo>
                <a:lnTo>
                  <a:pt x="1525896" y="2600221"/>
                </a:lnTo>
                <a:lnTo>
                  <a:pt x="1582411" y="2562537"/>
                </a:lnTo>
                <a:lnTo>
                  <a:pt x="1638925" y="2524852"/>
                </a:lnTo>
                <a:lnTo>
                  <a:pt x="1695440" y="2487168"/>
                </a:lnTo>
                <a:lnTo>
                  <a:pt x="1751955" y="2449484"/>
                </a:lnTo>
                <a:lnTo>
                  <a:pt x="1808469" y="2411799"/>
                </a:lnTo>
                <a:lnTo>
                  <a:pt x="1864984" y="2374115"/>
                </a:lnTo>
                <a:lnTo>
                  <a:pt x="1921499" y="2336431"/>
                </a:lnTo>
                <a:lnTo>
                  <a:pt x="1978013" y="2298746"/>
                </a:lnTo>
                <a:lnTo>
                  <a:pt x="2034528" y="2261062"/>
                </a:lnTo>
                <a:lnTo>
                  <a:pt x="2091043" y="2223378"/>
                </a:lnTo>
                <a:lnTo>
                  <a:pt x="2147557" y="2185693"/>
                </a:lnTo>
                <a:lnTo>
                  <a:pt x="2204072" y="2148009"/>
                </a:lnTo>
                <a:lnTo>
                  <a:pt x="2260587" y="2110324"/>
                </a:lnTo>
                <a:lnTo>
                  <a:pt x="2317101" y="2072640"/>
                </a:lnTo>
                <a:lnTo>
                  <a:pt x="2373616" y="2034956"/>
                </a:lnTo>
                <a:lnTo>
                  <a:pt x="2430131" y="1997271"/>
                </a:lnTo>
                <a:lnTo>
                  <a:pt x="2486645" y="1959587"/>
                </a:lnTo>
                <a:lnTo>
                  <a:pt x="2543160" y="1921903"/>
                </a:lnTo>
                <a:lnTo>
                  <a:pt x="2599675" y="1884218"/>
                </a:lnTo>
                <a:lnTo>
                  <a:pt x="2656189" y="1846534"/>
                </a:lnTo>
                <a:lnTo>
                  <a:pt x="2712704" y="1808850"/>
                </a:lnTo>
                <a:lnTo>
                  <a:pt x="2769219" y="1771165"/>
                </a:lnTo>
                <a:lnTo>
                  <a:pt x="2825733" y="1733481"/>
                </a:lnTo>
                <a:lnTo>
                  <a:pt x="2882248" y="1695796"/>
                </a:lnTo>
                <a:lnTo>
                  <a:pt x="2938763" y="1658112"/>
                </a:lnTo>
                <a:lnTo>
                  <a:pt x="2995277" y="1620428"/>
                </a:lnTo>
                <a:lnTo>
                  <a:pt x="3051792" y="1582743"/>
                </a:lnTo>
                <a:lnTo>
                  <a:pt x="3108307" y="1545059"/>
                </a:lnTo>
                <a:lnTo>
                  <a:pt x="3164821" y="1507375"/>
                </a:lnTo>
                <a:lnTo>
                  <a:pt x="3221336" y="1469690"/>
                </a:lnTo>
                <a:lnTo>
                  <a:pt x="3277851" y="1432006"/>
                </a:lnTo>
                <a:lnTo>
                  <a:pt x="3334365" y="1394322"/>
                </a:lnTo>
                <a:lnTo>
                  <a:pt x="3390880" y="1356637"/>
                </a:lnTo>
                <a:lnTo>
                  <a:pt x="3447395" y="1318953"/>
                </a:lnTo>
                <a:lnTo>
                  <a:pt x="3503909" y="1281268"/>
                </a:lnTo>
                <a:lnTo>
                  <a:pt x="3560424" y="1243584"/>
                </a:lnTo>
                <a:lnTo>
                  <a:pt x="3616939" y="1205900"/>
                </a:lnTo>
                <a:lnTo>
                  <a:pt x="3673453" y="1168215"/>
                </a:lnTo>
                <a:lnTo>
                  <a:pt x="3729968" y="1130531"/>
                </a:lnTo>
                <a:lnTo>
                  <a:pt x="3786483" y="1092847"/>
                </a:lnTo>
                <a:lnTo>
                  <a:pt x="3842997" y="1055162"/>
                </a:lnTo>
                <a:lnTo>
                  <a:pt x="3899512" y="1017478"/>
                </a:lnTo>
                <a:lnTo>
                  <a:pt x="3956027" y="979794"/>
                </a:lnTo>
                <a:lnTo>
                  <a:pt x="4012541" y="942109"/>
                </a:lnTo>
                <a:lnTo>
                  <a:pt x="4069056" y="904425"/>
                </a:lnTo>
                <a:lnTo>
                  <a:pt x="4125571" y="866740"/>
                </a:lnTo>
                <a:lnTo>
                  <a:pt x="4182086" y="829056"/>
                </a:lnTo>
                <a:lnTo>
                  <a:pt x="4238600" y="791372"/>
                </a:lnTo>
                <a:lnTo>
                  <a:pt x="4295115" y="753687"/>
                </a:lnTo>
                <a:lnTo>
                  <a:pt x="4351630" y="716003"/>
                </a:lnTo>
                <a:lnTo>
                  <a:pt x="4408144" y="678319"/>
                </a:lnTo>
                <a:lnTo>
                  <a:pt x="4464659" y="640634"/>
                </a:lnTo>
                <a:lnTo>
                  <a:pt x="4521174" y="602950"/>
                </a:lnTo>
                <a:lnTo>
                  <a:pt x="4577688" y="565266"/>
                </a:lnTo>
                <a:lnTo>
                  <a:pt x="4634203" y="527581"/>
                </a:lnTo>
                <a:lnTo>
                  <a:pt x="4690718" y="489897"/>
                </a:lnTo>
                <a:lnTo>
                  <a:pt x="4747232" y="452212"/>
                </a:lnTo>
                <a:lnTo>
                  <a:pt x="4803747" y="414528"/>
                </a:lnTo>
                <a:lnTo>
                  <a:pt x="4860262" y="376844"/>
                </a:lnTo>
                <a:lnTo>
                  <a:pt x="4916776" y="339159"/>
                </a:lnTo>
                <a:lnTo>
                  <a:pt x="4973291" y="301475"/>
                </a:lnTo>
                <a:lnTo>
                  <a:pt x="5029806" y="263791"/>
                </a:lnTo>
                <a:lnTo>
                  <a:pt x="5086320" y="226106"/>
                </a:lnTo>
                <a:lnTo>
                  <a:pt x="5142835" y="188422"/>
                </a:lnTo>
                <a:lnTo>
                  <a:pt x="5199350" y="150738"/>
                </a:lnTo>
                <a:lnTo>
                  <a:pt x="5255864" y="113053"/>
                </a:lnTo>
                <a:lnTo>
                  <a:pt x="5312379" y="75369"/>
                </a:lnTo>
                <a:lnTo>
                  <a:pt x="5368894" y="37684"/>
                </a:lnTo>
                <a:lnTo>
                  <a:pt x="5425408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2-E27 ellipse 30" descr="sci-ppt:o030"/>
          <p:cNvSpPr/>
          <p:nvPr/>
        </p:nvSpPr>
        <p:spPr>
          <a:xfrm>
            <a:off x="1831982" y="4345758"/>
            <a:ext cx="146304" cy="146304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2-E27 text 31" descr="sci-ppt:o031"/>
          <p:cNvSpPr txBox="1"/>
          <p:nvPr/>
        </p:nvSpPr>
        <p:spPr>
          <a:xfrm>
            <a:off x="2014862" y="3961710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FC8F8"/>
                </a:solidFill>
                <a:latin typeface="Arial"/>
              </a:rPr>
              <a:t>1 µm: 0.006828 ng</a:t>
            </a:r>
          </a:p>
        </p:txBody>
      </p:sp>
      <p:sp>
        <p:nvSpPr>
          <p:cNvPr id="34" name="C2-E27 ellipse 32" descr="sci-ppt:o032"/>
          <p:cNvSpPr/>
          <p:nvPr/>
        </p:nvSpPr>
        <p:spPr>
          <a:xfrm>
            <a:off x="4132396" y="2811826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2-E27 text 33" descr="sci-ppt:o033"/>
          <p:cNvSpPr txBox="1"/>
          <p:nvPr/>
        </p:nvSpPr>
        <p:spPr>
          <a:xfrm>
            <a:off x="4315276" y="2994706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5 µm: 0.8535 ng</a:t>
            </a:r>
          </a:p>
        </p:txBody>
      </p:sp>
      <p:sp>
        <p:nvSpPr>
          <p:cNvPr id="36" name="C2-E27 ellipse 34" descr="sci-ppt:o034"/>
          <p:cNvSpPr/>
          <p:nvPr/>
        </p:nvSpPr>
        <p:spPr>
          <a:xfrm>
            <a:off x="5123131" y="2151198"/>
            <a:ext cx="146304" cy="146304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2-E27 text 35" descr="sci-ppt:o035"/>
          <p:cNvSpPr txBox="1"/>
          <p:nvPr/>
        </p:nvSpPr>
        <p:spPr>
          <a:xfrm>
            <a:off x="3047443" y="1767150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10 µm: 6.828 ng</a:t>
            </a:r>
          </a:p>
        </p:txBody>
      </p:sp>
      <p:sp>
        <p:nvSpPr>
          <p:cNvPr id="38" name="C2-E27 round_rect 36" descr="sci-ppt:o036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2-E27 text 37" descr="sci-ppt:o037"/>
          <p:cNvSpPr txBox="1"/>
          <p:nvPr/>
        </p:nvSpPr>
        <p:spPr>
          <a:xfrm>
            <a:off x="7150608" y="1426464"/>
            <a:ext cx="45811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Start every ledger from the real volume</a:t>
            </a:r>
          </a:p>
        </p:txBody>
      </p:sp>
      <p:sp>
        <p:nvSpPr>
          <p:cNvPr id="40" name="C2-E27 text 38" descr="sci-ppt:o038"/>
          <p:cNvSpPr txBox="1"/>
          <p:nvPr/>
        </p:nvSpPr>
        <p:spPr>
          <a:xfrm>
            <a:off x="7178040" y="1828800"/>
            <a:ext cx="45720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7F0F3"/>
                </a:solidFill>
                <a:latin typeface="Arial"/>
              </a:rPr>
              <a:t>m_PFC,0 = (4π/3)(1630)(5×10⁻⁶)³</a:t>
            </a:r>
          </a:p>
        </p:txBody>
      </p:sp>
      <p:sp>
        <p:nvSpPr>
          <p:cNvPr id="41" name="C2-E27 text 39" descr="sci-ppt:o039"/>
          <p:cNvSpPr txBox="1"/>
          <p:nvPr/>
        </p:nvSpPr>
        <p:spPr>
          <a:xfrm>
            <a:off x="7178040" y="2331720"/>
            <a:ext cx="457200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= 8.5347×10⁻¹³ kg = 0.8535 ng</a:t>
            </a:r>
          </a:p>
        </p:txBody>
      </p:sp>
      <p:sp>
        <p:nvSpPr>
          <p:cNvPr id="42" name="C2-E27 ellipse 40" descr="sci-ppt:o040"/>
          <p:cNvSpPr/>
          <p:nvPr/>
        </p:nvSpPr>
        <p:spPr>
          <a:xfrm>
            <a:off x="7406640" y="2926079"/>
            <a:ext cx="1645920" cy="1645920"/>
          </a:xfrm>
          <a:prstGeom prst="ellipse">
            <a:avLst/>
          </a:prstGeom>
          <a:solidFill>
            <a:srgbClr val="1E4A5A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2-E27 text 41" descr="sci-ppt:o041"/>
          <p:cNvSpPr txBox="1"/>
          <p:nvPr/>
        </p:nvSpPr>
        <p:spPr>
          <a:xfrm>
            <a:off x="7315200" y="3611880"/>
            <a:ext cx="1828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5 µm</a:t>
            </a:r>
          </a:p>
        </p:txBody>
      </p:sp>
      <p:sp>
        <p:nvSpPr>
          <p:cNvPr id="44" name="C2-E27 text 42" descr="sci-ppt:o042"/>
          <p:cNvSpPr txBox="1"/>
          <p:nvPr/>
        </p:nvSpPr>
        <p:spPr>
          <a:xfrm>
            <a:off x="9326880" y="3291840"/>
            <a:ext cx="237744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about 0.85 nanogram,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 fixed, finite budget</a:t>
            </a:r>
          </a:p>
        </p:txBody>
      </p:sp>
      <p:sp>
        <p:nvSpPr>
          <p:cNvPr id="45" name="C2-E27 text 43" descr="sci-ppt:o043"/>
          <p:cNvSpPr txBox="1"/>
          <p:nvPr/>
        </p:nvSpPr>
        <p:spPr>
          <a:xfrm>
            <a:off x="914400" y="5733288"/>
            <a:ext cx="1097280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Mass scales as a³: a 10 µm core carries eight times as much PFC as a 5 µm core. Every later vapor amount is bounded by this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number.</a:t>
            </a:r>
          </a:p>
        </p:txBody>
      </p:sp>
      <p:sp>
        <p:nvSpPr>
          <p:cNvPr id="46" name="C2-E27 text 44" descr="sci-ppt:o04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Initial PFC mass of Eq. C2-E27 (ρ_d = 1630 kg/m³).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