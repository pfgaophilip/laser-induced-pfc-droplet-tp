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6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C1-E26 | Physical-variable diagram</a:t>
            </a:r>
          </a:p>
        </p:txBody>
      </p:sp>
      <p:sp>
        <p:nvSpPr>
          <p:cNvPr id="3" name="ellipse2" descr="sci-ppt:C1-E26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26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26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26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26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26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26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26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26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26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26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line13" descr="sci-ppt:C1-E26-013"/>
          <p:cNvCxnSpPr/>
          <p:nvPr/>
        </p:nvCxnSpPr>
        <p:spPr>
          <a:xfrm>
            <a:off x="975360" y="1158240"/>
            <a:ext cx="0" cy="298704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15" name="line14" descr="sci-ppt:C1-E26-014"/>
          <p:cNvCxnSpPr/>
          <p:nvPr/>
        </p:nvCxnSpPr>
        <p:spPr>
          <a:xfrm>
            <a:off x="975360" y="1219200"/>
            <a:ext cx="231648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16" name="text15" descr="sci-ppt:C1-E26-015"/>
          <p:cNvSpPr txBox="1"/>
          <p:nvPr/>
        </p:nvSpPr>
        <p:spPr>
          <a:xfrm>
            <a:off x="1584960" y="853440"/>
            <a:ext cx="14630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h</a:t>
            </a:r>
          </a:p>
        </p:txBody>
      </p:sp>
      <p:cxnSp>
        <p:nvCxnSpPr>
          <p:cNvPr id="17" name="arrow16" descr="sci-ppt:C1-E26-016"/>
          <p:cNvCxnSpPr/>
          <p:nvPr/>
        </p:nvCxnSpPr>
        <p:spPr>
          <a:xfrm>
            <a:off x="1645920" y="2621280"/>
            <a:ext cx="4267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text17" descr="sci-ppt:C1-E26-017"/>
          <p:cNvSpPr txBox="1"/>
          <p:nvPr/>
        </p:nvSpPr>
        <p:spPr>
          <a:xfrm>
            <a:off x="5852160" y="3291840"/>
            <a:ext cx="58521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Boundary type must be specified.</a:t>
            </a:r>
          </a:p>
        </p:txBody>
      </p:sp>
      <p:sp>
        <p:nvSpPr>
          <p:cNvPr id="19" name="text18" descr="sci-ppt:C1-E26-01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h: center to boundary</a:t>
            </a:r>
          </a:p>
        </p:txBody>
      </p:sp>
      <p:sp>
        <p:nvSpPr>
          <p:cNvPr id="20" name="text19" descr="sci-ppt:C1-E26-01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γ = h/Rmax</a:t>
            </a:r>
          </a:p>
        </p:txBody>
      </p:sp>
      <p:sp>
        <p:nvSpPr>
          <p:cNvPr id="21" name="text20" descr="sci-ppt:C1-E26-02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S²</a:t>
            </a:r>
          </a:p>
        </p:txBody>
      </p:sp>
      <p:sp>
        <p:nvSpPr>
          <p:cNvPr id="22" name="text21" descr="sci-ppt:C1-E26-021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Opposite directions cancel</a:t>
            </a:r>
          </a:p>
        </p:txBody>
      </p:sp>
      <p:sp>
        <p:nvSpPr>
          <p:cNvPr id="23" name="text22" descr="sci-ppt:C1-E26-022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24" name="text23" descr="sci-ppt:C1-E26-023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er</a:t>
            </a:r>
          </a:p>
        </p:txBody>
      </p:sp>
      <p:sp>
        <p:nvSpPr>
          <p:cNvPr id="25" name="text24" descr="sci-ppt:C1-E26-024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dΩ</a:t>
            </a:r>
          </a:p>
        </p:txBody>
      </p:sp>
      <p:sp>
        <p:nvSpPr>
          <p:cNvPr id="26" name="text25" descr="sci-ppt:C1-E26-025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relevant boundary type and curvature must also be specified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