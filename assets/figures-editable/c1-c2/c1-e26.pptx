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26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C1-E26 · Geometry definition and exact symmetry identity</a:t>
            </a:r>
          </a:p>
        </p:txBody>
      </p:sp>
      <p:sp>
        <p:nvSpPr>
          <p:cNvPr id="3" name="C1-E26 round_rect 1" descr="sci-ppt:o001"/>
          <p:cNvSpPr/>
          <p:nvPr/>
        </p:nvSpPr>
        <p:spPr>
          <a:xfrm>
            <a:off x="365760" y="914400"/>
            <a:ext cx="4023360" cy="49377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1-E26 text 2" descr="sci-ppt:o002"/>
          <p:cNvSpPr txBox="1"/>
          <p:nvPr/>
        </p:nvSpPr>
        <p:spPr>
          <a:xfrm>
            <a:off x="475488" y="969264"/>
            <a:ext cx="380390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Perfect symmetry picks no direction</a:t>
            </a:r>
          </a:p>
        </p:txBody>
      </p:sp>
      <p:sp>
        <p:nvSpPr>
          <p:cNvPr id="5" name="C1-E26 ellipse 3" descr="sci-ppt:o003"/>
          <p:cNvSpPr/>
          <p:nvPr/>
        </p:nvSpPr>
        <p:spPr>
          <a:xfrm>
            <a:off x="1554480" y="2560320"/>
            <a:ext cx="1645920" cy="164592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1-E26 arrow 4" descr="sci-ppt:o004"/>
          <p:cNvCxnSpPr/>
          <p:nvPr/>
        </p:nvCxnSpPr>
        <p:spPr>
          <a:xfrm>
            <a:off x="3246120" y="3383280"/>
            <a:ext cx="548640" cy="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" name="C1-E26 arrow 5" descr="sci-ppt:o005"/>
          <p:cNvCxnSpPr/>
          <p:nvPr/>
        </p:nvCxnSpPr>
        <p:spPr>
          <a:xfrm flipV="1">
            <a:off x="3129738" y="2674620"/>
            <a:ext cx="475137" cy="27432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C1-E26 arrow 6" descr="sci-ppt:o006"/>
          <p:cNvCxnSpPr/>
          <p:nvPr/>
        </p:nvCxnSpPr>
        <p:spPr>
          <a:xfrm flipV="1">
            <a:off x="2811780" y="2155844"/>
            <a:ext cx="274320" cy="475137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" name="C1-E26 arrow 7" descr="sci-ppt:o007"/>
          <p:cNvCxnSpPr/>
          <p:nvPr/>
        </p:nvCxnSpPr>
        <p:spPr>
          <a:xfrm flipV="1">
            <a:off x="2377440" y="1965960"/>
            <a:ext cx="0" cy="54864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0" name="C1-E26 arrow 8" descr="sci-ppt:o008"/>
          <p:cNvCxnSpPr/>
          <p:nvPr/>
        </p:nvCxnSpPr>
        <p:spPr>
          <a:xfrm flipH="1" flipV="1">
            <a:off x="1668780" y="2155844"/>
            <a:ext cx="274320" cy="475137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1" name="C1-E26 arrow 9" descr="sci-ppt:o009"/>
          <p:cNvCxnSpPr/>
          <p:nvPr/>
        </p:nvCxnSpPr>
        <p:spPr>
          <a:xfrm flipH="1" flipV="1">
            <a:off x="1150004" y="2674620"/>
            <a:ext cx="475137" cy="27432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2" name="C1-E26 arrow 10" descr="sci-ppt:o010"/>
          <p:cNvCxnSpPr/>
          <p:nvPr/>
        </p:nvCxnSpPr>
        <p:spPr>
          <a:xfrm flipH="1">
            <a:off x="960120" y="3383280"/>
            <a:ext cx="548640" cy="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3" name="C1-E26 arrow 11" descr="sci-ppt:o011"/>
          <p:cNvCxnSpPr/>
          <p:nvPr/>
        </p:nvCxnSpPr>
        <p:spPr>
          <a:xfrm flipH="1">
            <a:off x="1150004" y="3817620"/>
            <a:ext cx="475137" cy="274319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4" name="C1-E26 arrow 12" descr="sci-ppt:o012"/>
          <p:cNvCxnSpPr/>
          <p:nvPr/>
        </p:nvCxnSpPr>
        <p:spPr>
          <a:xfrm flipH="1">
            <a:off x="1668779" y="4135578"/>
            <a:ext cx="274320" cy="475137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5" name="C1-E26 arrow 13" descr="sci-ppt:o013"/>
          <p:cNvCxnSpPr/>
          <p:nvPr/>
        </p:nvCxnSpPr>
        <p:spPr>
          <a:xfrm flipH="1">
            <a:off x="2377439" y="4251960"/>
            <a:ext cx="1" cy="54864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6" name="C1-E26 arrow 14" descr="sci-ppt:o014"/>
          <p:cNvCxnSpPr/>
          <p:nvPr/>
        </p:nvCxnSpPr>
        <p:spPr>
          <a:xfrm>
            <a:off x="2811780" y="4135578"/>
            <a:ext cx="274320" cy="475137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7" name="C1-E26 arrow 15" descr="sci-ppt:o015"/>
          <p:cNvCxnSpPr/>
          <p:nvPr/>
        </p:nvCxnSpPr>
        <p:spPr>
          <a:xfrm>
            <a:off x="3129738" y="3817620"/>
            <a:ext cx="475137" cy="27432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8" name="C1-E26 text 16" descr="sci-ppt:o016"/>
          <p:cNvSpPr txBox="1"/>
          <p:nvPr/>
        </p:nvSpPr>
        <p:spPr>
          <a:xfrm>
            <a:off x="502920" y="5029200"/>
            <a:ext cx="3749039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∮ eᵣ dΩ = 0: outward unit vectors cancel in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pairs, so a lone sphere has no preferred jet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direction.</a:t>
            </a:r>
          </a:p>
        </p:txBody>
      </p:sp>
      <p:sp>
        <p:nvSpPr>
          <p:cNvPr id="19" name="C1-E26 rect 17" descr="sci-ppt:o017"/>
          <p:cNvSpPr/>
          <p:nvPr/>
        </p:nvSpPr>
        <p:spPr>
          <a:xfrm>
            <a:off x="4754880" y="5486400"/>
            <a:ext cx="7040880" cy="256032"/>
          </a:xfrm>
          <a:prstGeom prst="rect">
            <a:avLst/>
          </a:prstGeom>
          <a:solidFill>
            <a:srgbClr val="3A5362"/>
          </a:solidFill>
          <a:ln w="1651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1-E26 line 18" descr="sci-ppt:o018"/>
          <p:cNvCxnSpPr/>
          <p:nvPr/>
        </p:nvCxnSpPr>
        <p:spPr>
          <a:xfrm>
            <a:off x="48463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26 line 19" descr="sci-ppt:o019"/>
          <p:cNvCxnSpPr/>
          <p:nvPr/>
        </p:nvCxnSpPr>
        <p:spPr>
          <a:xfrm>
            <a:off x="50749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26 line 20" descr="sci-ppt:o020"/>
          <p:cNvCxnSpPr/>
          <p:nvPr/>
        </p:nvCxnSpPr>
        <p:spPr>
          <a:xfrm>
            <a:off x="53035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3" name="C1-E26 line 21" descr="sci-ppt:o021"/>
          <p:cNvCxnSpPr/>
          <p:nvPr/>
        </p:nvCxnSpPr>
        <p:spPr>
          <a:xfrm>
            <a:off x="55321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1-E26 line 22" descr="sci-ppt:o022"/>
          <p:cNvCxnSpPr/>
          <p:nvPr/>
        </p:nvCxnSpPr>
        <p:spPr>
          <a:xfrm>
            <a:off x="57607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26 line 23" descr="sci-ppt:o023"/>
          <p:cNvCxnSpPr/>
          <p:nvPr/>
        </p:nvCxnSpPr>
        <p:spPr>
          <a:xfrm>
            <a:off x="59893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6" name="C1-E26 line 24" descr="sci-ppt:o024"/>
          <p:cNvCxnSpPr/>
          <p:nvPr/>
        </p:nvCxnSpPr>
        <p:spPr>
          <a:xfrm>
            <a:off x="62179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1-E26 line 25" descr="sci-ppt:o025"/>
          <p:cNvCxnSpPr/>
          <p:nvPr/>
        </p:nvCxnSpPr>
        <p:spPr>
          <a:xfrm>
            <a:off x="64465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26 line 26" descr="sci-ppt:o026"/>
          <p:cNvCxnSpPr/>
          <p:nvPr/>
        </p:nvCxnSpPr>
        <p:spPr>
          <a:xfrm>
            <a:off x="66751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9" name="C1-E26 line 27" descr="sci-ppt:o027"/>
          <p:cNvCxnSpPr/>
          <p:nvPr/>
        </p:nvCxnSpPr>
        <p:spPr>
          <a:xfrm>
            <a:off x="69037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C1-E26 line 28" descr="sci-ppt:o028"/>
          <p:cNvCxnSpPr/>
          <p:nvPr/>
        </p:nvCxnSpPr>
        <p:spPr>
          <a:xfrm>
            <a:off x="71323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1-E26 line 29" descr="sci-ppt:o029"/>
          <p:cNvCxnSpPr/>
          <p:nvPr/>
        </p:nvCxnSpPr>
        <p:spPr>
          <a:xfrm>
            <a:off x="7360920" y="5742432"/>
            <a:ext cx="137159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2" name="C1-E26 line 30" descr="sci-ppt:o030"/>
          <p:cNvCxnSpPr/>
          <p:nvPr/>
        </p:nvCxnSpPr>
        <p:spPr>
          <a:xfrm>
            <a:off x="7589520" y="5742432"/>
            <a:ext cx="137159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3" name="C1-E26 line 31" descr="sci-ppt:o031"/>
          <p:cNvCxnSpPr/>
          <p:nvPr/>
        </p:nvCxnSpPr>
        <p:spPr>
          <a:xfrm>
            <a:off x="7818120" y="5742432"/>
            <a:ext cx="137159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C1-E26 line 32" descr="sci-ppt:o032"/>
          <p:cNvCxnSpPr/>
          <p:nvPr/>
        </p:nvCxnSpPr>
        <p:spPr>
          <a:xfrm>
            <a:off x="8046720" y="5742432"/>
            <a:ext cx="137159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5" name="C1-E26 line 33" descr="sci-ppt:o033"/>
          <p:cNvCxnSpPr/>
          <p:nvPr/>
        </p:nvCxnSpPr>
        <p:spPr>
          <a:xfrm>
            <a:off x="82753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6" name="C1-E26 line 34" descr="sci-ppt:o034"/>
          <p:cNvCxnSpPr/>
          <p:nvPr/>
        </p:nvCxnSpPr>
        <p:spPr>
          <a:xfrm>
            <a:off x="85039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7" name="C1-E26 line 35" descr="sci-ppt:o035"/>
          <p:cNvCxnSpPr/>
          <p:nvPr/>
        </p:nvCxnSpPr>
        <p:spPr>
          <a:xfrm>
            <a:off x="87325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8" name="C1-E26 line 36" descr="sci-ppt:o036"/>
          <p:cNvCxnSpPr/>
          <p:nvPr/>
        </p:nvCxnSpPr>
        <p:spPr>
          <a:xfrm>
            <a:off x="89611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9" name="C1-E26 line 37" descr="sci-ppt:o037"/>
          <p:cNvCxnSpPr/>
          <p:nvPr/>
        </p:nvCxnSpPr>
        <p:spPr>
          <a:xfrm>
            <a:off x="91897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0" name="C1-E26 line 38" descr="sci-ppt:o038"/>
          <p:cNvCxnSpPr/>
          <p:nvPr/>
        </p:nvCxnSpPr>
        <p:spPr>
          <a:xfrm>
            <a:off x="94183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1" name="C1-E26 line 39" descr="sci-ppt:o039"/>
          <p:cNvCxnSpPr/>
          <p:nvPr/>
        </p:nvCxnSpPr>
        <p:spPr>
          <a:xfrm>
            <a:off x="96469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2" name="C1-E26 line 40" descr="sci-ppt:o040"/>
          <p:cNvCxnSpPr/>
          <p:nvPr/>
        </p:nvCxnSpPr>
        <p:spPr>
          <a:xfrm>
            <a:off x="98755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3" name="C1-E26 line 41" descr="sci-ppt:o041"/>
          <p:cNvCxnSpPr/>
          <p:nvPr/>
        </p:nvCxnSpPr>
        <p:spPr>
          <a:xfrm>
            <a:off x="101041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4" name="C1-E26 line 42" descr="sci-ppt:o042"/>
          <p:cNvCxnSpPr/>
          <p:nvPr/>
        </p:nvCxnSpPr>
        <p:spPr>
          <a:xfrm>
            <a:off x="103327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5" name="C1-E26 line 43" descr="sci-ppt:o043"/>
          <p:cNvCxnSpPr/>
          <p:nvPr/>
        </p:nvCxnSpPr>
        <p:spPr>
          <a:xfrm>
            <a:off x="105613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6" name="C1-E26 line 44" descr="sci-ppt:o044"/>
          <p:cNvCxnSpPr/>
          <p:nvPr/>
        </p:nvCxnSpPr>
        <p:spPr>
          <a:xfrm>
            <a:off x="107899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7" name="C1-E26 line 45" descr="sci-ppt:o045"/>
          <p:cNvCxnSpPr/>
          <p:nvPr/>
        </p:nvCxnSpPr>
        <p:spPr>
          <a:xfrm>
            <a:off x="110185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8" name="C1-E26 line 46" descr="sci-ppt:o046"/>
          <p:cNvCxnSpPr/>
          <p:nvPr/>
        </p:nvCxnSpPr>
        <p:spPr>
          <a:xfrm>
            <a:off x="112471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9" name="C1-E26 line 47" descr="sci-ppt:o047"/>
          <p:cNvCxnSpPr/>
          <p:nvPr/>
        </p:nvCxnSpPr>
        <p:spPr>
          <a:xfrm>
            <a:off x="11475720" y="5742432"/>
            <a:ext cx="137160" cy="15544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50" name="C1-E26 text 48" descr="sci-ppt:o048"/>
          <p:cNvSpPr txBox="1"/>
          <p:nvPr/>
        </p:nvSpPr>
        <p:spPr>
          <a:xfrm>
            <a:off x="4754880" y="914400"/>
            <a:ext cx="704088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Stand-off γ = h / Rₘₐₓ locates the boundary</a:t>
            </a:r>
          </a:p>
        </p:txBody>
      </p:sp>
      <p:sp>
        <p:nvSpPr>
          <p:cNvPr id="51" name="C1-E26 ellipse 49" descr="sci-ppt:o049"/>
          <p:cNvSpPr/>
          <p:nvPr/>
        </p:nvSpPr>
        <p:spPr>
          <a:xfrm>
            <a:off x="5257800" y="4123944"/>
            <a:ext cx="1188720" cy="1188720"/>
          </a:xfrm>
          <a:prstGeom prst="ellipse">
            <a:avLst/>
          </a:prstGeom>
          <a:solidFill>
            <a:srgbClr val="0C1820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2" name="C1-E26 line 50" descr="sci-ppt:o050"/>
          <p:cNvCxnSpPr/>
          <p:nvPr/>
        </p:nvCxnSpPr>
        <p:spPr>
          <a:xfrm>
            <a:off x="5852160" y="4718304"/>
            <a:ext cx="0" cy="768096"/>
          </a:xfrm>
          <a:prstGeom prst="line">
            <a:avLst/>
          </a:prstGeom>
          <a:ln w="15240">
            <a:solidFill>
              <a:srgbClr val="B4C7D2"/>
            </a:solidFill>
            <a:prstDash val="dash"/>
          </a:ln>
          <a:effectLst/>
        </p:spPr>
      </p:cxnSp>
      <p:cxnSp>
        <p:nvCxnSpPr>
          <p:cNvPr id="53" name="C1-E26 line 51" descr="sci-ppt:o051"/>
          <p:cNvCxnSpPr/>
          <p:nvPr/>
        </p:nvCxnSpPr>
        <p:spPr>
          <a:xfrm>
            <a:off x="6583680" y="4718304"/>
            <a:ext cx="0" cy="768096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54" name="C1-E26 line 52" descr="sci-ppt:o052"/>
          <p:cNvCxnSpPr/>
          <p:nvPr/>
        </p:nvCxnSpPr>
        <p:spPr>
          <a:xfrm flipH="1">
            <a:off x="6519672" y="4718304"/>
            <a:ext cx="128016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55" name="C1-E26 line 53" descr="sci-ppt:o053"/>
          <p:cNvCxnSpPr/>
          <p:nvPr/>
        </p:nvCxnSpPr>
        <p:spPr>
          <a:xfrm flipH="1">
            <a:off x="6519672" y="5486400"/>
            <a:ext cx="128016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sp>
        <p:nvSpPr>
          <p:cNvPr id="56" name="C1-E26 text 54" descr="sci-ppt:o054"/>
          <p:cNvSpPr txBox="1"/>
          <p:nvPr/>
        </p:nvSpPr>
        <p:spPr>
          <a:xfrm>
            <a:off x="5486400" y="5018532"/>
            <a:ext cx="18288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57" name="C1-E26 text 55" descr="sci-ppt:o055"/>
          <p:cNvSpPr txBox="1"/>
          <p:nvPr/>
        </p:nvSpPr>
        <p:spPr>
          <a:xfrm>
            <a:off x="6693408" y="5010912"/>
            <a:ext cx="13716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h = 0.6 Rₘₐₓ</a:t>
            </a:r>
          </a:p>
        </p:txBody>
      </p:sp>
      <p:sp>
        <p:nvSpPr>
          <p:cNvPr id="58" name="C1-E26 text 56" descr="sci-ppt:o056"/>
          <p:cNvSpPr txBox="1"/>
          <p:nvPr/>
        </p:nvSpPr>
        <p:spPr>
          <a:xfrm>
            <a:off x="5120640" y="3712463"/>
            <a:ext cx="146304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γ = 0.6</a:t>
            </a:r>
          </a:p>
        </p:txBody>
      </p:sp>
      <p:sp>
        <p:nvSpPr>
          <p:cNvPr id="59" name="C1-E26 ellipse 57" descr="sci-ppt:o057"/>
          <p:cNvSpPr/>
          <p:nvPr/>
        </p:nvSpPr>
        <p:spPr>
          <a:xfrm>
            <a:off x="7694675" y="3568903"/>
            <a:ext cx="1069848" cy="1069848"/>
          </a:xfrm>
          <a:prstGeom prst="ellipse">
            <a:avLst/>
          </a:prstGeom>
          <a:solidFill>
            <a:srgbClr val="0C1820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0" name="C1-E26 line 58" descr="sci-ppt:o058"/>
          <p:cNvCxnSpPr/>
          <p:nvPr/>
        </p:nvCxnSpPr>
        <p:spPr>
          <a:xfrm>
            <a:off x="8229600" y="4103827"/>
            <a:ext cx="0" cy="1382573"/>
          </a:xfrm>
          <a:prstGeom prst="line">
            <a:avLst/>
          </a:prstGeom>
          <a:ln w="15240">
            <a:solidFill>
              <a:srgbClr val="B4C7D2"/>
            </a:solidFill>
            <a:prstDash val="dash"/>
          </a:ln>
          <a:effectLst/>
        </p:spPr>
      </p:cxnSp>
      <p:cxnSp>
        <p:nvCxnSpPr>
          <p:cNvPr id="61" name="C1-E26 line 59" descr="sci-ppt:o059"/>
          <p:cNvCxnSpPr/>
          <p:nvPr/>
        </p:nvCxnSpPr>
        <p:spPr>
          <a:xfrm>
            <a:off x="8887968" y="4103827"/>
            <a:ext cx="0" cy="1382573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62" name="C1-E26 line 60" descr="sci-ppt:o060"/>
          <p:cNvCxnSpPr/>
          <p:nvPr/>
        </p:nvCxnSpPr>
        <p:spPr>
          <a:xfrm flipH="1">
            <a:off x="8823960" y="4103827"/>
            <a:ext cx="128016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63" name="C1-E26 line 61" descr="sci-ppt:o061"/>
          <p:cNvCxnSpPr/>
          <p:nvPr/>
        </p:nvCxnSpPr>
        <p:spPr>
          <a:xfrm flipH="1">
            <a:off x="8823960" y="5486400"/>
            <a:ext cx="128016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sp>
        <p:nvSpPr>
          <p:cNvPr id="64" name="C1-E26 text 62" descr="sci-ppt:o062"/>
          <p:cNvSpPr txBox="1"/>
          <p:nvPr/>
        </p:nvSpPr>
        <p:spPr>
          <a:xfrm>
            <a:off x="7790688" y="4711293"/>
            <a:ext cx="18288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5" name="C1-E26 text 63" descr="sci-ppt:o063"/>
          <p:cNvSpPr txBox="1"/>
          <p:nvPr/>
        </p:nvSpPr>
        <p:spPr>
          <a:xfrm>
            <a:off x="8997696" y="4703673"/>
            <a:ext cx="13716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h = 1.2 Rₘₐₓ</a:t>
            </a:r>
          </a:p>
        </p:txBody>
      </p:sp>
      <p:sp>
        <p:nvSpPr>
          <p:cNvPr id="66" name="C1-E26 text 64" descr="sci-ppt:o064"/>
          <p:cNvSpPr txBox="1"/>
          <p:nvPr/>
        </p:nvSpPr>
        <p:spPr>
          <a:xfrm>
            <a:off x="7498079" y="3157423"/>
            <a:ext cx="146304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γ = 1.2</a:t>
            </a:r>
          </a:p>
        </p:txBody>
      </p:sp>
      <p:sp>
        <p:nvSpPr>
          <p:cNvPr id="67" name="C1-E26 ellipse 65" descr="sci-ppt:o065"/>
          <p:cNvSpPr/>
          <p:nvPr/>
        </p:nvSpPr>
        <p:spPr>
          <a:xfrm>
            <a:off x="10252709" y="2544318"/>
            <a:ext cx="891540" cy="891540"/>
          </a:xfrm>
          <a:prstGeom prst="ellipse">
            <a:avLst/>
          </a:prstGeom>
          <a:solidFill>
            <a:srgbClr val="0C1820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8" name="C1-E26 line 66" descr="sci-ppt:o066"/>
          <p:cNvCxnSpPr/>
          <p:nvPr/>
        </p:nvCxnSpPr>
        <p:spPr>
          <a:xfrm>
            <a:off x="10698480" y="2990088"/>
            <a:ext cx="0" cy="2496312"/>
          </a:xfrm>
          <a:prstGeom prst="line">
            <a:avLst/>
          </a:prstGeom>
          <a:ln w="15240">
            <a:solidFill>
              <a:srgbClr val="B4C7D2"/>
            </a:solidFill>
            <a:prstDash val="dash"/>
          </a:ln>
          <a:effectLst/>
        </p:spPr>
      </p:cxnSp>
      <p:cxnSp>
        <p:nvCxnSpPr>
          <p:cNvPr id="69" name="C1-E26 line 67" descr="sci-ppt:o067"/>
          <p:cNvCxnSpPr/>
          <p:nvPr/>
        </p:nvCxnSpPr>
        <p:spPr>
          <a:xfrm>
            <a:off x="11247119" y="2990088"/>
            <a:ext cx="0" cy="2496312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70" name="C1-E26 line 68" descr="sci-ppt:o068"/>
          <p:cNvCxnSpPr/>
          <p:nvPr/>
        </p:nvCxnSpPr>
        <p:spPr>
          <a:xfrm flipH="1">
            <a:off x="11183111" y="2990088"/>
            <a:ext cx="128017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71" name="C1-E26 line 69" descr="sci-ppt:o069"/>
          <p:cNvCxnSpPr/>
          <p:nvPr/>
        </p:nvCxnSpPr>
        <p:spPr>
          <a:xfrm flipH="1">
            <a:off x="11183111" y="5486400"/>
            <a:ext cx="128017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sp>
        <p:nvSpPr>
          <p:cNvPr id="72" name="C1-E26 text 70" descr="sci-ppt:o070"/>
          <p:cNvSpPr txBox="1"/>
          <p:nvPr/>
        </p:nvSpPr>
        <p:spPr>
          <a:xfrm>
            <a:off x="10149840" y="4154423"/>
            <a:ext cx="18288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3" name="C1-E26 text 71" descr="sci-ppt:o071"/>
          <p:cNvSpPr txBox="1"/>
          <p:nvPr/>
        </p:nvSpPr>
        <p:spPr>
          <a:xfrm>
            <a:off x="11356847" y="4146804"/>
            <a:ext cx="13716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h = 2.6 Rₘₐₓ</a:t>
            </a:r>
          </a:p>
        </p:txBody>
      </p:sp>
      <p:sp>
        <p:nvSpPr>
          <p:cNvPr id="74" name="C1-E26 text 72" descr="sci-ppt:o072"/>
          <p:cNvSpPr txBox="1"/>
          <p:nvPr/>
        </p:nvSpPr>
        <p:spPr>
          <a:xfrm>
            <a:off x="9966959" y="2132837"/>
            <a:ext cx="146304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γ = 2.6</a:t>
            </a:r>
          </a:p>
        </p:txBody>
      </p:sp>
      <p:sp>
        <p:nvSpPr>
          <p:cNvPr id="75" name="C1-E26 text 73" descr="sci-ppt:o073"/>
          <p:cNvSpPr txBox="1"/>
          <p:nvPr/>
        </p:nvSpPr>
        <p:spPr>
          <a:xfrm>
            <a:off x="4754880" y="1371600"/>
            <a:ext cx="704088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Small γ: boundary close, strong asymmetry.   Large γ: far boundary, nearly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spherical.</a:t>
            </a:r>
          </a:p>
        </p:txBody>
      </p:sp>
      <p:sp>
        <p:nvSpPr>
          <p:cNvPr id="76" name="C1-E26 text 74" descr="sci-ppt:o07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Definitions of Eq. C1-E26. Positions drawn to show the trend; radii are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