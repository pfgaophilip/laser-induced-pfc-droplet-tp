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C1-E01 · Prescribed initial and boundary conditions</a:t>
            </a:r>
          </a:p>
        </p:txBody>
      </p:sp>
      <p:sp>
        <p:nvSpPr>
          <p:cNvPr id="3" name="C1-E01 round_rect 1" descr="sci-ppt:o001"/>
          <p:cNvSpPr/>
          <p:nvPr/>
        </p:nvSpPr>
        <p:spPr>
          <a:xfrm>
            <a:off x="365760" y="914400"/>
            <a:ext cx="4297680" cy="4846320"/>
          </a:xfrm>
          <a:prstGeom prst="roundRect">
            <a:avLst/>
          </a:prstGeom>
          <a:solidFill>
            <a:srgbClr val="1E4A5A"/>
          </a:solidFill>
          <a:ln w="1905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01 text 2" descr="sci-ppt:o002"/>
          <p:cNvSpPr txBox="1"/>
          <p:nvPr/>
        </p:nvSpPr>
        <p:spPr>
          <a:xfrm>
            <a:off x="502920" y="978408"/>
            <a:ext cx="40233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State at t = 0</a:t>
            </a:r>
          </a:p>
        </p:txBody>
      </p:sp>
      <p:sp>
        <p:nvSpPr>
          <p:cNvPr id="5" name="C1-E01 ellipse 3" descr="sci-ppt:o003"/>
          <p:cNvSpPr/>
          <p:nvPr/>
        </p:nvSpPr>
        <p:spPr>
          <a:xfrm>
            <a:off x="1389888" y="2121408"/>
            <a:ext cx="2249424" cy="2249424"/>
          </a:xfrm>
          <a:prstGeom prst="ellipse">
            <a:avLst/>
          </a:prstGeom>
          <a:noFill/>
          <a:ln w="15240">
            <a:solidFill>
              <a:srgbClr val="2B6678">
                <a:alpha val="8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01 ellipse 4" descr="sci-ppt:o004"/>
          <p:cNvSpPr/>
          <p:nvPr/>
        </p:nvSpPr>
        <p:spPr>
          <a:xfrm>
            <a:off x="1042416" y="1773936"/>
            <a:ext cx="2944368" cy="2944368"/>
          </a:xfrm>
          <a:prstGeom prst="ellipse">
            <a:avLst/>
          </a:prstGeom>
          <a:noFill/>
          <a:ln w="15240">
            <a:solidFill>
              <a:srgbClr val="2B6678">
                <a:alpha val="6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1-E01 ellipse 5" descr="sci-ppt:o005"/>
          <p:cNvSpPr/>
          <p:nvPr/>
        </p:nvSpPr>
        <p:spPr>
          <a:xfrm>
            <a:off x="694943" y="1426463"/>
            <a:ext cx="3639312" cy="3639312"/>
          </a:xfrm>
          <a:prstGeom prst="ellipse">
            <a:avLst/>
          </a:prstGeom>
          <a:noFill/>
          <a:ln w="15240">
            <a:solidFill>
              <a:srgbClr val="2B6678">
                <a:alpha val="4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1-E01 ellipse 6" descr="sci-ppt:o006"/>
          <p:cNvSpPr/>
          <p:nvPr/>
        </p:nvSpPr>
        <p:spPr>
          <a:xfrm>
            <a:off x="347471" y="1078991"/>
            <a:ext cx="4334256" cy="4334256"/>
          </a:xfrm>
          <a:prstGeom prst="ellipse">
            <a:avLst/>
          </a:prstGeom>
          <a:noFill/>
          <a:ln w="15240">
            <a:solidFill>
              <a:srgbClr val="2B6678">
                <a:alpha val="26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1-E01 ellipse 7" descr="sci-ppt:o007"/>
          <p:cNvSpPr/>
          <p:nvPr/>
        </p:nvSpPr>
        <p:spPr>
          <a:xfrm>
            <a:off x="1737360" y="2468879"/>
            <a:ext cx="1554480" cy="155448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1-E01 text 8" descr="sci-ppt:o008"/>
          <p:cNvSpPr txBox="1"/>
          <p:nvPr/>
        </p:nvSpPr>
        <p:spPr>
          <a:xfrm>
            <a:off x="2148840" y="2788920"/>
            <a:ext cx="731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gas</a:t>
            </a:r>
          </a:p>
        </p:txBody>
      </p:sp>
      <p:cxnSp>
        <p:nvCxnSpPr>
          <p:cNvPr id="11" name="C1-E01 line 9" descr="sci-ppt:o009"/>
          <p:cNvCxnSpPr/>
          <p:nvPr/>
        </p:nvCxnSpPr>
        <p:spPr>
          <a:xfrm>
            <a:off x="2514600" y="3246120"/>
            <a:ext cx="777240" cy="0"/>
          </a:xfrm>
          <a:prstGeom prst="line">
            <a:avLst/>
          </a:prstGeom>
          <a:ln w="27940">
            <a:solidFill>
              <a:srgbClr val="F2B880"/>
            </a:solidFill>
          </a:ln>
          <a:effectLst/>
        </p:spPr>
      </p:cxnSp>
      <p:sp>
        <p:nvSpPr>
          <p:cNvPr id="12" name="C1-E01 text 10" descr="sci-ppt:o010"/>
          <p:cNvSpPr txBox="1"/>
          <p:nvPr/>
        </p:nvSpPr>
        <p:spPr>
          <a:xfrm>
            <a:off x="2697480" y="3291839"/>
            <a:ext cx="6400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R₀</a:t>
            </a:r>
          </a:p>
        </p:txBody>
      </p:sp>
      <p:cxnSp>
        <p:nvCxnSpPr>
          <p:cNvPr id="13" name="C1-E01 arrow 11" descr="sci-ppt:o011"/>
          <p:cNvCxnSpPr/>
          <p:nvPr/>
        </p:nvCxnSpPr>
        <p:spPr>
          <a:xfrm flipV="1">
            <a:off x="3014200" y="2090342"/>
            <a:ext cx="470212" cy="560377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C1-E01 text 12" descr="sci-ppt:o012"/>
          <p:cNvSpPr txBox="1"/>
          <p:nvPr/>
        </p:nvSpPr>
        <p:spPr>
          <a:xfrm>
            <a:off x="3429000" y="1417319"/>
            <a:ext cx="17373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Ṙ(0) = U₀</a:t>
            </a:r>
          </a:p>
        </p:txBody>
      </p:sp>
      <p:cxnSp>
        <p:nvCxnSpPr>
          <p:cNvPr id="15" name="C1-E01 arrow 13" descr="sci-ppt:o013"/>
          <p:cNvCxnSpPr/>
          <p:nvPr/>
        </p:nvCxnSpPr>
        <p:spPr>
          <a:xfrm flipV="1">
            <a:off x="640080" y="4754880"/>
            <a:ext cx="0" cy="411480"/>
          </a:xfrm>
          <a:prstGeom prst="line">
            <a:avLst/>
          </a:prstGeom>
          <a:ln w="19050">
            <a:solidFill>
              <a:srgbClr val="B4C7D2">
                <a:alpha val="60000"/>
              </a:srgbClr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6" name="C1-E01 arrow 14" descr="sci-ppt:o014"/>
          <p:cNvCxnSpPr/>
          <p:nvPr/>
        </p:nvCxnSpPr>
        <p:spPr>
          <a:xfrm flipV="1">
            <a:off x="1645920" y="4754880"/>
            <a:ext cx="0" cy="411480"/>
          </a:xfrm>
          <a:prstGeom prst="line">
            <a:avLst/>
          </a:prstGeom>
          <a:ln w="19050">
            <a:solidFill>
              <a:srgbClr val="B4C7D2">
                <a:alpha val="60000"/>
              </a:srgbClr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7" name="C1-E01 arrow 15" descr="sci-ppt:o015"/>
          <p:cNvCxnSpPr/>
          <p:nvPr/>
        </p:nvCxnSpPr>
        <p:spPr>
          <a:xfrm flipV="1">
            <a:off x="2651760" y="4754880"/>
            <a:ext cx="0" cy="411480"/>
          </a:xfrm>
          <a:prstGeom prst="line">
            <a:avLst/>
          </a:prstGeom>
          <a:ln w="19050">
            <a:solidFill>
              <a:srgbClr val="B4C7D2">
                <a:alpha val="60000"/>
              </a:srgbClr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8" name="C1-E01 arrow 16" descr="sci-ppt:o016"/>
          <p:cNvCxnSpPr/>
          <p:nvPr/>
        </p:nvCxnSpPr>
        <p:spPr>
          <a:xfrm flipV="1">
            <a:off x="3657600" y="4754880"/>
            <a:ext cx="0" cy="411480"/>
          </a:xfrm>
          <a:prstGeom prst="line">
            <a:avLst/>
          </a:prstGeom>
          <a:ln w="19050">
            <a:solidFill>
              <a:srgbClr val="B4C7D2">
                <a:alpha val="60000"/>
              </a:srgbClr>
            </a:solidFill>
            <a:headEnd type="none" w="med" len="med"/>
            <a:tailEnd type="triangle" w="med" len="med"/>
          </a:ln>
          <a:effectLst/>
        </p:spPr>
      </p:cxnSp>
      <p:sp>
        <p:nvSpPr>
          <p:cNvPr id="19" name="C1-E01 text 17" descr="sci-ppt:o017"/>
          <p:cNvSpPr txBox="1"/>
          <p:nvPr/>
        </p:nvSpPr>
        <p:spPr>
          <a:xfrm>
            <a:off x="502920" y="5212080"/>
            <a:ext cx="4023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far field r → ∞:  u → 0,  p → p∞(t)</a:t>
            </a:r>
          </a:p>
        </p:txBody>
      </p:sp>
      <p:cxnSp>
        <p:nvCxnSpPr>
          <p:cNvPr id="20" name="C1-E01 line 18" descr="sci-ppt:o018"/>
          <p:cNvCxnSpPr/>
          <p:nvPr/>
        </p:nvCxnSpPr>
        <p:spPr>
          <a:xfrm>
            <a:off x="5669280" y="5303520"/>
            <a:ext cx="57607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1" name="C1-E01 line 19" descr="sci-ppt:o019"/>
          <p:cNvCxnSpPr/>
          <p:nvPr/>
        </p:nvCxnSpPr>
        <p:spPr>
          <a:xfrm>
            <a:off x="5669280" y="1371600"/>
            <a:ext cx="0" cy="39319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2" name="C1-E01 line 20" descr="sci-ppt:o020"/>
          <p:cNvCxnSpPr/>
          <p:nvPr/>
        </p:nvCxnSpPr>
        <p:spPr>
          <a:xfrm>
            <a:off x="566928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1-E01 line 21" descr="sci-ppt:o021"/>
          <p:cNvCxnSpPr/>
          <p:nvPr/>
        </p:nvCxnSpPr>
        <p:spPr>
          <a:xfrm>
            <a:off x="566928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4" name="C1-E01 text 22" descr="sci-ppt:o022"/>
          <p:cNvSpPr txBox="1"/>
          <p:nvPr/>
        </p:nvSpPr>
        <p:spPr>
          <a:xfrm>
            <a:off x="521208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25" name="C1-E01 line 23" descr="sci-ppt:o023"/>
          <p:cNvCxnSpPr/>
          <p:nvPr/>
        </p:nvCxnSpPr>
        <p:spPr>
          <a:xfrm>
            <a:off x="710946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1-E01 line 24" descr="sci-ppt:o024"/>
          <p:cNvCxnSpPr/>
          <p:nvPr/>
        </p:nvCxnSpPr>
        <p:spPr>
          <a:xfrm>
            <a:off x="710946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7" name="C1-E01 text 25" descr="sci-ppt:o025"/>
          <p:cNvSpPr txBox="1"/>
          <p:nvPr/>
        </p:nvSpPr>
        <p:spPr>
          <a:xfrm>
            <a:off x="665226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28" name="C1-E01 line 26" descr="sci-ppt:o026"/>
          <p:cNvCxnSpPr/>
          <p:nvPr/>
        </p:nvCxnSpPr>
        <p:spPr>
          <a:xfrm>
            <a:off x="854964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1-E01 line 27" descr="sci-ppt:o027"/>
          <p:cNvCxnSpPr/>
          <p:nvPr/>
        </p:nvCxnSpPr>
        <p:spPr>
          <a:xfrm>
            <a:off x="854964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0" name="C1-E01 text 28" descr="sci-ppt:o028"/>
          <p:cNvSpPr txBox="1"/>
          <p:nvPr/>
        </p:nvSpPr>
        <p:spPr>
          <a:xfrm>
            <a:off x="809244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0.8</a:t>
            </a:r>
          </a:p>
        </p:txBody>
      </p:sp>
      <p:cxnSp>
        <p:nvCxnSpPr>
          <p:cNvPr id="31" name="C1-E01 line 29" descr="sci-ppt:o029"/>
          <p:cNvCxnSpPr/>
          <p:nvPr/>
        </p:nvCxnSpPr>
        <p:spPr>
          <a:xfrm>
            <a:off x="9989819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1-E01 line 30" descr="sci-ppt:o030"/>
          <p:cNvCxnSpPr/>
          <p:nvPr/>
        </p:nvCxnSpPr>
        <p:spPr>
          <a:xfrm>
            <a:off x="9989819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3" name="C1-E01 text 31" descr="sci-ppt:o031"/>
          <p:cNvSpPr txBox="1"/>
          <p:nvPr/>
        </p:nvSpPr>
        <p:spPr>
          <a:xfrm>
            <a:off x="9532619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1.2</a:t>
            </a:r>
          </a:p>
        </p:txBody>
      </p:sp>
      <p:cxnSp>
        <p:nvCxnSpPr>
          <p:cNvPr id="34" name="C1-E01 line 32" descr="sci-ppt:o032"/>
          <p:cNvCxnSpPr/>
          <p:nvPr/>
        </p:nvCxnSpPr>
        <p:spPr>
          <a:xfrm>
            <a:off x="1143000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1-E01 line 33" descr="sci-ppt:o033"/>
          <p:cNvCxnSpPr/>
          <p:nvPr/>
        </p:nvCxnSpPr>
        <p:spPr>
          <a:xfrm>
            <a:off x="1143000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6" name="C1-E01 text 34" descr="sci-ppt:o034"/>
          <p:cNvSpPr txBox="1"/>
          <p:nvPr/>
        </p:nvSpPr>
        <p:spPr>
          <a:xfrm>
            <a:off x="1097280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1.6</a:t>
            </a:r>
          </a:p>
        </p:txBody>
      </p:sp>
      <p:cxnSp>
        <p:nvCxnSpPr>
          <p:cNvPr id="37" name="C1-E01 line 35" descr="sci-ppt:o035"/>
          <p:cNvCxnSpPr/>
          <p:nvPr/>
        </p:nvCxnSpPr>
        <p:spPr>
          <a:xfrm>
            <a:off x="5605272" y="53035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8" name="C1-E01 line 36" descr="sci-ppt:o036"/>
          <p:cNvCxnSpPr/>
          <p:nvPr/>
        </p:nvCxnSpPr>
        <p:spPr>
          <a:xfrm>
            <a:off x="5605272" y="39928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1-E01 line 37" descr="sci-ppt:o037"/>
          <p:cNvCxnSpPr/>
          <p:nvPr/>
        </p:nvCxnSpPr>
        <p:spPr>
          <a:xfrm>
            <a:off x="5669280" y="399288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0" name="C1-E01 text 38" descr="sci-ppt:o038"/>
          <p:cNvSpPr txBox="1"/>
          <p:nvPr/>
        </p:nvSpPr>
        <p:spPr>
          <a:xfrm>
            <a:off x="4800600" y="39105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41" name="C1-E01 line 39" descr="sci-ppt:o039"/>
          <p:cNvCxnSpPr/>
          <p:nvPr/>
        </p:nvCxnSpPr>
        <p:spPr>
          <a:xfrm>
            <a:off x="5605272" y="26822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01 line 40" descr="sci-ppt:o040"/>
          <p:cNvCxnSpPr/>
          <p:nvPr/>
        </p:nvCxnSpPr>
        <p:spPr>
          <a:xfrm>
            <a:off x="5669280" y="268224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1-E01 text 41" descr="sci-ppt:o041"/>
          <p:cNvSpPr txBox="1"/>
          <p:nvPr/>
        </p:nvSpPr>
        <p:spPr>
          <a:xfrm>
            <a:off x="4800600" y="25999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44" name="C1-E01 line 42" descr="sci-ppt:o042"/>
          <p:cNvCxnSpPr/>
          <p:nvPr/>
        </p:nvCxnSpPr>
        <p:spPr>
          <a:xfrm>
            <a:off x="560527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01 line 43" descr="sci-ppt:o043"/>
          <p:cNvCxnSpPr/>
          <p:nvPr/>
        </p:nvCxnSpPr>
        <p:spPr>
          <a:xfrm>
            <a:off x="5669280" y="137160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6" name="C1-E01 text 44" descr="sci-ppt:o044"/>
          <p:cNvSpPr txBox="1"/>
          <p:nvPr/>
        </p:nvSpPr>
        <p:spPr>
          <a:xfrm>
            <a:off x="480060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sp>
        <p:nvSpPr>
          <p:cNvPr id="47" name="C1-E01 text 45" descr="sci-ppt:o045"/>
          <p:cNvSpPr txBox="1"/>
          <p:nvPr/>
        </p:nvSpPr>
        <p:spPr>
          <a:xfrm>
            <a:off x="5669280" y="5586983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48" name="C1-E01 text 46" descr="sci-ppt:o046"/>
          <p:cNvSpPr txBox="1"/>
          <p:nvPr/>
        </p:nvSpPr>
        <p:spPr>
          <a:xfrm>
            <a:off x="5120640" y="1024128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R(t) / R₀</a:t>
            </a:r>
          </a:p>
        </p:txBody>
      </p:sp>
      <p:sp>
        <p:nvSpPr>
          <p:cNvPr id="49" name="C1-E01 polygon 47" descr="sci-ppt:o047"/>
          <p:cNvSpPr/>
          <p:nvPr/>
        </p:nvSpPr>
        <p:spPr>
          <a:xfrm>
            <a:off x="5669280" y="2239673"/>
            <a:ext cx="5760720" cy="1753207"/>
          </a:xfrm>
          <a:custGeom>
            <a:avLst/>
            <a:gdLst/>
            <a:ahLst/>
            <a:cxnLst/>
            <a:rect l="l" t="t" r="r" b="b"/>
            <a:pathLst>
              <a:path w="5760720" h="1753207">
                <a:moveTo>
                  <a:pt x="0" y="1753207"/>
                </a:moveTo>
                <a:lnTo>
                  <a:pt x="38430" y="1723812"/>
                </a:lnTo>
                <a:lnTo>
                  <a:pt x="76860" y="1692015"/>
                </a:lnTo>
                <a:lnTo>
                  <a:pt x="115291" y="1658404"/>
                </a:lnTo>
                <a:lnTo>
                  <a:pt x="153721" y="1623487"/>
                </a:lnTo>
                <a:lnTo>
                  <a:pt x="192152" y="1587689"/>
                </a:lnTo>
                <a:lnTo>
                  <a:pt x="230582" y="1551357"/>
                </a:lnTo>
                <a:lnTo>
                  <a:pt x="269012" y="1514773"/>
                </a:lnTo>
                <a:lnTo>
                  <a:pt x="307443" y="1478162"/>
                </a:lnTo>
                <a:lnTo>
                  <a:pt x="345873" y="1441697"/>
                </a:lnTo>
                <a:lnTo>
                  <a:pt x="384304" y="1405517"/>
                </a:lnTo>
                <a:lnTo>
                  <a:pt x="422734" y="1369725"/>
                </a:lnTo>
                <a:lnTo>
                  <a:pt x="461165" y="1334401"/>
                </a:lnTo>
                <a:lnTo>
                  <a:pt x="499595" y="1299604"/>
                </a:lnTo>
                <a:lnTo>
                  <a:pt x="538025" y="1265378"/>
                </a:lnTo>
                <a:lnTo>
                  <a:pt x="576456" y="1231752"/>
                </a:lnTo>
                <a:lnTo>
                  <a:pt x="614886" y="1198748"/>
                </a:lnTo>
                <a:lnTo>
                  <a:pt x="653317" y="1166377"/>
                </a:lnTo>
                <a:lnTo>
                  <a:pt x="691747" y="1134646"/>
                </a:lnTo>
                <a:lnTo>
                  <a:pt x="730177" y="1103557"/>
                </a:lnTo>
                <a:lnTo>
                  <a:pt x="768608" y="1073109"/>
                </a:lnTo>
                <a:lnTo>
                  <a:pt x="807038" y="1043296"/>
                </a:lnTo>
                <a:lnTo>
                  <a:pt x="845469" y="1014111"/>
                </a:lnTo>
                <a:lnTo>
                  <a:pt x="883899" y="985547"/>
                </a:lnTo>
                <a:lnTo>
                  <a:pt x="922330" y="957594"/>
                </a:lnTo>
                <a:lnTo>
                  <a:pt x="960760" y="930242"/>
                </a:lnTo>
                <a:lnTo>
                  <a:pt x="999190" y="903479"/>
                </a:lnTo>
                <a:lnTo>
                  <a:pt x="1037621" y="877294"/>
                </a:lnTo>
                <a:lnTo>
                  <a:pt x="1076051" y="851676"/>
                </a:lnTo>
                <a:lnTo>
                  <a:pt x="1114482" y="826614"/>
                </a:lnTo>
                <a:lnTo>
                  <a:pt x="1152912" y="802095"/>
                </a:lnTo>
                <a:lnTo>
                  <a:pt x="1191343" y="778109"/>
                </a:lnTo>
                <a:lnTo>
                  <a:pt x="1229773" y="754644"/>
                </a:lnTo>
                <a:lnTo>
                  <a:pt x="1268203" y="731689"/>
                </a:lnTo>
                <a:lnTo>
                  <a:pt x="1306634" y="709234"/>
                </a:lnTo>
                <a:lnTo>
                  <a:pt x="1345064" y="687268"/>
                </a:lnTo>
                <a:lnTo>
                  <a:pt x="1383495" y="665781"/>
                </a:lnTo>
                <a:lnTo>
                  <a:pt x="1421925" y="644763"/>
                </a:lnTo>
                <a:lnTo>
                  <a:pt x="1460355" y="624204"/>
                </a:lnTo>
                <a:lnTo>
                  <a:pt x="1498786" y="604095"/>
                </a:lnTo>
                <a:lnTo>
                  <a:pt x="1537216" y="584428"/>
                </a:lnTo>
                <a:lnTo>
                  <a:pt x="1575647" y="565193"/>
                </a:lnTo>
                <a:lnTo>
                  <a:pt x="1614077" y="546383"/>
                </a:lnTo>
                <a:lnTo>
                  <a:pt x="1652508" y="527988"/>
                </a:lnTo>
                <a:lnTo>
                  <a:pt x="1690938" y="510002"/>
                </a:lnTo>
                <a:lnTo>
                  <a:pt x="1729368" y="492416"/>
                </a:lnTo>
                <a:lnTo>
                  <a:pt x="1767799" y="475225"/>
                </a:lnTo>
                <a:lnTo>
                  <a:pt x="1806229" y="458419"/>
                </a:lnTo>
                <a:lnTo>
                  <a:pt x="1844660" y="441994"/>
                </a:lnTo>
                <a:lnTo>
                  <a:pt x="1883090" y="425942"/>
                </a:lnTo>
                <a:lnTo>
                  <a:pt x="1921521" y="410258"/>
                </a:lnTo>
                <a:lnTo>
                  <a:pt x="1959951" y="394934"/>
                </a:lnTo>
                <a:lnTo>
                  <a:pt x="1998381" y="379967"/>
                </a:lnTo>
                <a:lnTo>
                  <a:pt x="2036812" y="365349"/>
                </a:lnTo>
                <a:lnTo>
                  <a:pt x="2075242" y="351075"/>
                </a:lnTo>
                <a:lnTo>
                  <a:pt x="2113673" y="337141"/>
                </a:lnTo>
                <a:lnTo>
                  <a:pt x="2152103" y="323542"/>
                </a:lnTo>
                <a:lnTo>
                  <a:pt x="2190533" y="310272"/>
                </a:lnTo>
                <a:lnTo>
                  <a:pt x="2228964" y="297327"/>
                </a:lnTo>
                <a:lnTo>
                  <a:pt x="2267394" y="284703"/>
                </a:lnTo>
                <a:lnTo>
                  <a:pt x="2305825" y="272395"/>
                </a:lnTo>
                <a:lnTo>
                  <a:pt x="2344255" y="260400"/>
                </a:lnTo>
                <a:lnTo>
                  <a:pt x="2382686" y="248713"/>
                </a:lnTo>
                <a:lnTo>
                  <a:pt x="2421116" y="237330"/>
                </a:lnTo>
                <a:lnTo>
                  <a:pt x="2459546" y="226248"/>
                </a:lnTo>
                <a:lnTo>
                  <a:pt x="2497977" y="215464"/>
                </a:lnTo>
                <a:lnTo>
                  <a:pt x="2536407" y="204973"/>
                </a:lnTo>
                <a:lnTo>
                  <a:pt x="2574838" y="194774"/>
                </a:lnTo>
                <a:lnTo>
                  <a:pt x="2613268" y="184861"/>
                </a:lnTo>
                <a:lnTo>
                  <a:pt x="2651698" y="175234"/>
                </a:lnTo>
                <a:lnTo>
                  <a:pt x="2690129" y="165887"/>
                </a:lnTo>
                <a:lnTo>
                  <a:pt x="2728559" y="156820"/>
                </a:lnTo>
                <a:lnTo>
                  <a:pt x="2766990" y="148029"/>
                </a:lnTo>
                <a:lnTo>
                  <a:pt x="2805420" y="139512"/>
                </a:lnTo>
                <a:lnTo>
                  <a:pt x="2843851" y="131265"/>
                </a:lnTo>
                <a:lnTo>
                  <a:pt x="2882281" y="123288"/>
                </a:lnTo>
                <a:lnTo>
                  <a:pt x="2920711" y="115576"/>
                </a:lnTo>
                <a:lnTo>
                  <a:pt x="2959142" y="108129"/>
                </a:lnTo>
                <a:lnTo>
                  <a:pt x="2997572" y="100945"/>
                </a:lnTo>
                <a:lnTo>
                  <a:pt x="3036003" y="94020"/>
                </a:lnTo>
                <a:lnTo>
                  <a:pt x="3074433" y="87354"/>
                </a:lnTo>
                <a:lnTo>
                  <a:pt x="3112864" y="80944"/>
                </a:lnTo>
                <a:lnTo>
                  <a:pt x="3151294" y="74789"/>
                </a:lnTo>
                <a:lnTo>
                  <a:pt x="3189724" y="68887"/>
                </a:lnTo>
                <a:lnTo>
                  <a:pt x="3228155" y="63236"/>
                </a:lnTo>
                <a:lnTo>
                  <a:pt x="3266585" y="57835"/>
                </a:lnTo>
                <a:lnTo>
                  <a:pt x="3305016" y="52682"/>
                </a:lnTo>
                <a:lnTo>
                  <a:pt x="3343446" y="47777"/>
                </a:lnTo>
                <a:lnTo>
                  <a:pt x="3381876" y="43117"/>
                </a:lnTo>
                <a:lnTo>
                  <a:pt x="3420307" y="38701"/>
                </a:lnTo>
                <a:lnTo>
                  <a:pt x="3458737" y="34529"/>
                </a:lnTo>
                <a:lnTo>
                  <a:pt x="3497168" y="30600"/>
                </a:lnTo>
                <a:lnTo>
                  <a:pt x="3535598" y="26911"/>
                </a:lnTo>
                <a:lnTo>
                  <a:pt x="3574029" y="23463"/>
                </a:lnTo>
                <a:lnTo>
                  <a:pt x="3612459" y="20253"/>
                </a:lnTo>
                <a:lnTo>
                  <a:pt x="3650889" y="17283"/>
                </a:lnTo>
                <a:lnTo>
                  <a:pt x="3689320" y="14549"/>
                </a:lnTo>
                <a:lnTo>
                  <a:pt x="3727750" y="12053"/>
                </a:lnTo>
                <a:lnTo>
                  <a:pt x="3766181" y="9793"/>
                </a:lnTo>
                <a:lnTo>
                  <a:pt x="3804611" y="7769"/>
                </a:lnTo>
                <a:lnTo>
                  <a:pt x="3843042" y="5979"/>
                </a:lnTo>
                <a:lnTo>
                  <a:pt x="3881472" y="4424"/>
                </a:lnTo>
                <a:lnTo>
                  <a:pt x="3919902" y="3104"/>
                </a:lnTo>
                <a:lnTo>
                  <a:pt x="3958333" y="2017"/>
                </a:lnTo>
                <a:lnTo>
                  <a:pt x="3996763" y="1163"/>
                </a:lnTo>
                <a:lnTo>
                  <a:pt x="4035194" y="543"/>
                </a:lnTo>
                <a:lnTo>
                  <a:pt x="4073624" y="155"/>
                </a:lnTo>
                <a:lnTo>
                  <a:pt x="4112054" y="0"/>
                </a:lnTo>
                <a:lnTo>
                  <a:pt x="4150485" y="78"/>
                </a:lnTo>
                <a:lnTo>
                  <a:pt x="4188915" y="388"/>
                </a:lnTo>
                <a:lnTo>
                  <a:pt x="4227346" y="931"/>
                </a:lnTo>
                <a:lnTo>
                  <a:pt x="4265776" y="1707"/>
                </a:lnTo>
                <a:lnTo>
                  <a:pt x="4304207" y="2715"/>
                </a:lnTo>
                <a:lnTo>
                  <a:pt x="4342637" y="3956"/>
                </a:lnTo>
                <a:lnTo>
                  <a:pt x="4381067" y="5430"/>
                </a:lnTo>
                <a:lnTo>
                  <a:pt x="4419498" y="7138"/>
                </a:lnTo>
                <a:lnTo>
                  <a:pt x="4457928" y="9080"/>
                </a:lnTo>
                <a:lnTo>
                  <a:pt x="4496359" y="11255"/>
                </a:lnTo>
                <a:lnTo>
                  <a:pt x="4534789" y="13665"/>
                </a:lnTo>
                <a:lnTo>
                  <a:pt x="4573220" y="16310"/>
                </a:lnTo>
                <a:lnTo>
                  <a:pt x="4611650" y="19191"/>
                </a:lnTo>
                <a:lnTo>
                  <a:pt x="4650080" y="22308"/>
                </a:lnTo>
                <a:lnTo>
                  <a:pt x="4688511" y="25662"/>
                </a:lnTo>
                <a:lnTo>
                  <a:pt x="4726941" y="29253"/>
                </a:lnTo>
                <a:lnTo>
                  <a:pt x="4765372" y="33083"/>
                </a:lnTo>
                <a:lnTo>
                  <a:pt x="4803802" y="37152"/>
                </a:lnTo>
                <a:lnTo>
                  <a:pt x="4842232" y="41461"/>
                </a:lnTo>
                <a:lnTo>
                  <a:pt x="4880663" y="46011"/>
                </a:lnTo>
                <a:lnTo>
                  <a:pt x="4919093" y="50804"/>
                </a:lnTo>
                <a:lnTo>
                  <a:pt x="4957524" y="55840"/>
                </a:lnTo>
                <a:lnTo>
                  <a:pt x="4995954" y="61120"/>
                </a:lnTo>
                <a:lnTo>
                  <a:pt x="5034385" y="66645"/>
                </a:lnTo>
                <a:lnTo>
                  <a:pt x="5072815" y="72418"/>
                </a:lnTo>
                <a:lnTo>
                  <a:pt x="5111245" y="78439"/>
                </a:lnTo>
                <a:lnTo>
                  <a:pt x="5149676" y="84709"/>
                </a:lnTo>
                <a:lnTo>
                  <a:pt x="5188106" y="91231"/>
                </a:lnTo>
                <a:lnTo>
                  <a:pt x="5226537" y="98006"/>
                </a:lnTo>
                <a:lnTo>
                  <a:pt x="5264967" y="105035"/>
                </a:lnTo>
                <a:lnTo>
                  <a:pt x="5303397" y="112320"/>
                </a:lnTo>
                <a:lnTo>
                  <a:pt x="5341828" y="119863"/>
                </a:lnTo>
                <a:lnTo>
                  <a:pt x="5380258" y="127666"/>
                </a:lnTo>
                <a:lnTo>
                  <a:pt x="5418689" y="135731"/>
                </a:lnTo>
                <a:lnTo>
                  <a:pt x="5457119" y="144060"/>
                </a:lnTo>
                <a:lnTo>
                  <a:pt x="5495550" y="152655"/>
                </a:lnTo>
                <a:lnTo>
                  <a:pt x="5533980" y="161517"/>
                </a:lnTo>
                <a:lnTo>
                  <a:pt x="5572410" y="170651"/>
                </a:lnTo>
                <a:lnTo>
                  <a:pt x="5610841" y="180057"/>
                </a:lnTo>
                <a:lnTo>
                  <a:pt x="5649271" y="189739"/>
                </a:lnTo>
                <a:lnTo>
                  <a:pt x="5687702" y="199699"/>
                </a:lnTo>
                <a:lnTo>
                  <a:pt x="5726132" y="209940"/>
                </a:lnTo>
                <a:lnTo>
                  <a:pt x="5760720" y="219399"/>
                </a:lnTo>
              </a:path>
            </a:pathLst>
          </a:custGeom>
          <a:noFill/>
          <a:ln w="3556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01 ellipse 48" descr="sci-ppt:o048"/>
          <p:cNvSpPr/>
          <p:nvPr/>
        </p:nvSpPr>
        <p:spPr>
          <a:xfrm>
            <a:off x="5596128" y="391972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1-E01 line 49" descr="sci-ppt:o049"/>
          <p:cNvCxnSpPr/>
          <p:nvPr/>
        </p:nvCxnSpPr>
        <p:spPr>
          <a:xfrm flipV="1">
            <a:off x="5669280" y="2420112"/>
            <a:ext cx="2160270" cy="1572768"/>
          </a:xfrm>
          <a:prstGeom prst="line">
            <a:avLst/>
          </a:prstGeom>
          <a:ln w="22860">
            <a:solidFill>
              <a:srgbClr val="F2B880"/>
            </a:solidFill>
            <a:prstDash val="dash"/>
          </a:ln>
          <a:effectLst/>
        </p:spPr>
      </p:cxnSp>
      <p:sp>
        <p:nvSpPr>
          <p:cNvPr id="52" name="C1-E01 text 50" descr="sci-ppt:o050"/>
          <p:cNvSpPr txBox="1"/>
          <p:nvPr/>
        </p:nvSpPr>
        <p:spPr>
          <a:xfrm>
            <a:off x="5986462" y="4102608"/>
            <a:ext cx="31089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start: R₀ and slope Ṙ(0) = U₀</a:t>
            </a:r>
          </a:p>
        </p:txBody>
      </p:sp>
      <p:sp>
        <p:nvSpPr>
          <p:cNvPr id="53" name="C1-E01 text 51" descr="sci-ppt:o051"/>
          <p:cNvSpPr txBox="1"/>
          <p:nvPr/>
        </p:nvSpPr>
        <p:spPr>
          <a:xfrm>
            <a:off x="8982837" y="3049523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R(t) afterwards</a:t>
            </a:r>
          </a:p>
        </p:txBody>
      </p:sp>
      <p:sp>
        <p:nvSpPr>
          <p:cNvPr id="54" name="C1-E01 text 52" descr="sci-ppt:o052"/>
          <p:cNvSpPr txBox="1"/>
          <p:nvPr/>
        </p:nvSpPr>
        <p:spPr>
          <a:xfrm>
            <a:off x="5669280" y="5897880"/>
            <a:ext cx="594360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Both initial values and the far-field pressure p∞(t) are inputs,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not results.</a:t>
            </a:r>
          </a:p>
        </p:txBody>
      </p:sp>
      <p:sp>
        <p:nvSpPr>
          <p:cNvPr id="55" name="C1-E01 text 53" descr="sci-ppt:o05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Trajectory: Rayleigh–Plesset solution for an illustrative 5 µm gas bubble (Eq. C1-E07), drawn only to mark the initial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