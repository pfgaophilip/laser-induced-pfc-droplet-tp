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2-E35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C2-E35 · Original inventory and pressure formulas for Defense 3</a:t>
            </a:r>
          </a:p>
        </p:txBody>
      </p:sp>
      <p:sp>
        <p:nvSpPr>
          <p:cNvPr id="3" name="C2-E35 round_rect 1" descr="sci-ppt:o001"/>
          <p:cNvSpPr/>
          <p:nvPr/>
        </p:nvSpPr>
        <p:spPr>
          <a:xfrm>
            <a:off x="457200" y="1097280"/>
            <a:ext cx="3657600" cy="283464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C2-E35 text 2" descr="sci-ppt:o002"/>
          <p:cNvSpPr txBox="1"/>
          <p:nvPr/>
        </p:nvSpPr>
        <p:spPr>
          <a:xfrm>
            <a:off x="548640" y="1188720"/>
            <a:ext cx="3474720" cy="27038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50" b="1" i="0">
                <a:solidFill>
                  <a:srgbClr val="8EDBD4"/>
                </a:solidFill>
                <a:latin typeface="Arial"/>
              </a:rPr>
              <a:t>Initial mass</a:t>
            </a:r>
          </a:p>
        </p:txBody>
      </p:sp>
      <p:sp>
        <p:nvSpPr>
          <p:cNvPr id="5" name="C2-E35 text 3" descr="sci-ppt:o003"/>
          <p:cNvSpPr txBox="1"/>
          <p:nvPr/>
        </p:nvSpPr>
        <p:spPr>
          <a:xfrm>
            <a:off x="548640" y="1920240"/>
            <a:ext cx="347472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E7F0F3"/>
                </a:solidFill>
                <a:latin typeface="Arial"/>
              </a:rPr>
              <a:t>m_PFC,0 = (4π/3) ρ_d a₀³</a:t>
            </a:r>
          </a:p>
        </p:txBody>
      </p:sp>
      <p:sp>
        <p:nvSpPr>
          <p:cNvPr id="6" name="C2-E35 text 4" descr="sci-ppt:o004"/>
          <p:cNvSpPr txBox="1"/>
          <p:nvPr/>
        </p:nvSpPr>
        <p:spPr>
          <a:xfrm>
            <a:off x="548640" y="3291840"/>
            <a:ext cx="34747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fixed by the real core volume</a:t>
            </a:r>
          </a:p>
        </p:txBody>
      </p:sp>
      <p:sp>
        <p:nvSpPr>
          <p:cNvPr id="7" name="C2-E35 round_rect 5" descr="sci-ppt:o005"/>
          <p:cNvSpPr/>
          <p:nvPr/>
        </p:nvSpPr>
        <p:spPr>
          <a:xfrm>
            <a:off x="4297680" y="1097280"/>
            <a:ext cx="3657600" cy="283464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C2-E35 text 6" descr="sci-ppt:o006"/>
          <p:cNvSpPr txBox="1"/>
          <p:nvPr/>
        </p:nvSpPr>
        <p:spPr>
          <a:xfrm>
            <a:off x="4389120" y="1188720"/>
            <a:ext cx="3474720" cy="27038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50" b="1" i="0">
                <a:solidFill>
                  <a:srgbClr val="F2B880"/>
                </a:solidFill>
                <a:latin typeface="Arial"/>
              </a:rPr>
              <a:t>Ledger</a:t>
            </a:r>
          </a:p>
        </p:txBody>
      </p:sp>
      <p:sp>
        <p:nvSpPr>
          <p:cNvPr id="9" name="C2-E35 text 7" descr="sci-ppt:o007"/>
          <p:cNvSpPr txBox="1"/>
          <p:nvPr/>
        </p:nvSpPr>
        <p:spPr>
          <a:xfrm>
            <a:off x="4389120" y="1920240"/>
            <a:ext cx="347472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E7F0F3"/>
                </a:solidFill>
                <a:latin typeface="Arial"/>
              </a:rPr>
              <a:t>mₗ + mᵥ + m_diss + m_esc = m_PFC,0</a:t>
            </a:r>
          </a:p>
        </p:txBody>
      </p:sp>
      <p:sp>
        <p:nvSpPr>
          <p:cNvPr id="10" name="C2-E35 text 8" descr="sci-ppt:o008"/>
          <p:cNvSpPr txBox="1"/>
          <p:nvPr/>
        </p:nvSpPr>
        <p:spPr>
          <a:xfrm>
            <a:off x="4389120" y="3291840"/>
            <a:ext cx="34747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no external compound supply</a:t>
            </a:r>
          </a:p>
        </p:txBody>
      </p:sp>
      <p:sp>
        <p:nvSpPr>
          <p:cNvPr id="11" name="C2-E35 round_rect 9" descr="sci-ppt:o009"/>
          <p:cNvSpPr/>
          <p:nvPr/>
        </p:nvSpPr>
        <p:spPr>
          <a:xfrm>
            <a:off x="8138160" y="1097280"/>
            <a:ext cx="3657600" cy="283464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7FC8F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C2-E35 text 10" descr="sci-ppt:o010"/>
          <p:cNvSpPr txBox="1"/>
          <p:nvPr/>
        </p:nvSpPr>
        <p:spPr>
          <a:xfrm>
            <a:off x="8229600" y="1188720"/>
            <a:ext cx="3474720" cy="27038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50" b="1" i="0">
                <a:solidFill>
                  <a:srgbClr val="7FC8F8"/>
                </a:solidFill>
                <a:latin typeface="Arial"/>
              </a:rPr>
              <a:t>Vapor pressure</a:t>
            </a:r>
          </a:p>
        </p:txBody>
      </p:sp>
      <p:sp>
        <p:nvSpPr>
          <p:cNvPr id="13" name="C2-E35 text 11" descr="sci-ppt:o011"/>
          <p:cNvSpPr txBox="1"/>
          <p:nvPr/>
        </p:nvSpPr>
        <p:spPr>
          <a:xfrm>
            <a:off x="8229600" y="1920240"/>
            <a:ext cx="347472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E7F0F3"/>
                </a:solidFill>
                <a:latin typeface="Arial"/>
              </a:rPr>
              <a:t>pᵥ,PFC V_b = (mᵥ / M_PFC) Rᵤ T_b</a:t>
            </a:r>
          </a:p>
        </p:txBody>
      </p:sp>
      <p:sp>
        <p:nvSpPr>
          <p:cNvPr id="14" name="C2-E35 text 12" descr="sci-ppt:o012"/>
          <p:cNvSpPr txBox="1"/>
          <p:nvPr/>
        </p:nvSpPr>
        <p:spPr>
          <a:xfrm>
            <a:off x="8229600" y="3291840"/>
            <a:ext cx="34747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ideal PFC partial pressure</a:t>
            </a:r>
          </a:p>
        </p:txBody>
      </p:sp>
      <p:sp>
        <p:nvSpPr>
          <p:cNvPr id="15" name="C2-E35 round_rect 13" descr="sci-ppt:o013"/>
          <p:cNvSpPr/>
          <p:nvPr/>
        </p:nvSpPr>
        <p:spPr>
          <a:xfrm>
            <a:off x="457200" y="4160520"/>
            <a:ext cx="11155680" cy="155448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C2-E35 text 14" descr="sci-ppt:o014"/>
          <p:cNvSpPr txBox="1"/>
          <p:nvPr/>
        </p:nvSpPr>
        <p:spPr>
          <a:xfrm>
            <a:off x="566928" y="4215383"/>
            <a:ext cx="1093622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How the three connect</a:t>
            </a:r>
          </a:p>
        </p:txBody>
      </p:sp>
      <p:sp>
        <p:nvSpPr>
          <p:cNvPr id="17" name="C2-E35 text 15" descr="sci-ppt:o015"/>
          <p:cNvSpPr txBox="1"/>
          <p:nvPr/>
        </p:nvSpPr>
        <p:spPr>
          <a:xfrm>
            <a:off x="594360" y="4572000"/>
            <a:ext cx="1088136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7F0F3"/>
                </a:solidFill>
                <a:latin typeface="Arial"/>
              </a:rPr>
              <a:t>The mass ledger caps mᵥ; the gas law turns mᵥ into a pressure; the pressure feeds the radius equation of Chapter 1.</a:t>
            </a:r>
          </a:p>
        </p:txBody>
      </p:sp>
      <p:sp>
        <p:nvSpPr>
          <p:cNvPr id="18" name="C2-E35 text 16" descr="sci-ppt:o016"/>
          <p:cNvSpPr txBox="1"/>
          <p:nvPr/>
        </p:nvSpPr>
        <p:spPr>
          <a:xfrm>
            <a:off x="594360" y="5120640"/>
            <a:ext cx="1088136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If mᵥ never exceeds m_PFC,0, then the vapor pressure at fixed V_b and T_b cannot exceed m_PFC,0 Rᵤ T_b / (M_PFC V_b).</a:t>
            </a:r>
          </a:p>
        </p:txBody>
      </p:sp>
      <p:sp>
        <p:nvSpPr>
          <p:cNvPr id="19" name="C2-E35 text 17" descr="sci-ppt:o017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Reference formulas of the Defence 3 answer: Eqs. C2-E18, E24, E27.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