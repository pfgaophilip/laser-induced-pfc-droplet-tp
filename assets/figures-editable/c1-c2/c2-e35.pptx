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80954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C2-E35 | Physical-variable diagram</a:t>
            </a:r>
          </a:p>
        </p:txBody>
      </p:sp>
      <p:sp>
        <p:nvSpPr>
          <p:cNvPr id="3" name="rect2" descr="sci-ppt:C2-E35-002"/>
          <p:cNvSpPr/>
          <p:nvPr/>
        </p:nvSpPr>
        <p:spPr>
          <a:xfrm>
            <a:off x="975360" y="1706880"/>
            <a:ext cx="3535680" cy="13411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35-003"/>
          <p:cNvSpPr txBox="1"/>
          <p:nvPr/>
        </p:nvSpPr>
        <p:spPr>
          <a:xfrm>
            <a:off x="1097280" y="1828800"/>
            <a:ext cx="33528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Initial PFC mass m_PFC,0</a:t>
            </a:r>
          </a:p>
        </p:txBody>
      </p:sp>
      <p:cxnSp>
        <p:nvCxnSpPr>
          <p:cNvPr id="5" name="arrow4" descr="sci-ppt:C2-E35-004"/>
          <p:cNvCxnSpPr/>
          <p:nvPr/>
        </p:nvCxnSpPr>
        <p:spPr>
          <a:xfrm>
            <a:off x="4632960" y="237744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rect5" descr="sci-ppt:C2-E35-005"/>
          <p:cNvSpPr/>
          <p:nvPr/>
        </p:nvSpPr>
        <p:spPr>
          <a:xfrm>
            <a:off x="6217920" y="121920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6" descr="sci-ppt:C2-E35-006"/>
          <p:cNvSpPr txBox="1"/>
          <p:nvPr/>
        </p:nvSpPr>
        <p:spPr>
          <a:xfrm>
            <a:off x="6339840" y="134112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m_l</a:t>
            </a:r>
          </a:p>
        </p:txBody>
      </p:sp>
      <p:sp>
        <p:nvSpPr>
          <p:cNvPr id="8" name="rect7" descr="sci-ppt:C2-E35-007"/>
          <p:cNvSpPr/>
          <p:nvPr/>
        </p:nvSpPr>
        <p:spPr>
          <a:xfrm>
            <a:off x="8900160" y="121920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8" descr="sci-ppt:C2-E35-008"/>
          <p:cNvSpPr txBox="1"/>
          <p:nvPr/>
        </p:nvSpPr>
        <p:spPr>
          <a:xfrm>
            <a:off x="9022080" y="134112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Vapor m_v</a:t>
            </a:r>
          </a:p>
        </p:txBody>
      </p:sp>
      <p:sp>
        <p:nvSpPr>
          <p:cNvPr id="10" name="rect9" descr="sci-ppt:C2-E35-009"/>
          <p:cNvSpPr/>
          <p:nvPr/>
        </p:nvSpPr>
        <p:spPr>
          <a:xfrm>
            <a:off x="6217920" y="280416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10" descr="sci-ppt:C2-E35-010"/>
          <p:cNvSpPr txBox="1"/>
          <p:nvPr/>
        </p:nvSpPr>
        <p:spPr>
          <a:xfrm>
            <a:off x="6339840" y="292608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Dissolved m_diss</a:t>
            </a:r>
          </a:p>
        </p:txBody>
      </p:sp>
      <p:sp>
        <p:nvSpPr>
          <p:cNvPr id="12" name="rect11" descr="sci-ppt:C2-E35-011"/>
          <p:cNvSpPr/>
          <p:nvPr/>
        </p:nvSpPr>
        <p:spPr>
          <a:xfrm>
            <a:off x="8900160" y="2804160"/>
            <a:ext cx="249936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35-012"/>
          <p:cNvSpPr txBox="1"/>
          <p:nvPr/>
        </p:nvSpPr>
        <p:spPr>
          <a:xfrm>
            <a:off x="9022080" y="2926080"/>
            <a:ext cx="231648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Escaped m_esc</a:t>
            </a:r>
          </a:p>
        </p:txBody>
      </p:sp>
      <p:sp>
        <p:nvSpPr>
          <p:cNvPr id="14" name="text13" descr="sci-ppt:C2-E35-013"/>
          <p:cNvSpPr txBox="1"/>
          <p:nvPr/>
        </p:nvSpPr>
        <p:spPr>
          <a:xfrm>
            <a:off x="1097280" y="4328160"/>
            <a:ext cx="103632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Sum of all compartments equals initial inventory.</a:t>
            </a:r>
          </a:p>
        </p:txBody>
      </p:sp>
      <p:sp>
        <p:nvSpPr>
          <p:cNvPr id="15" name="text14" descr="sci-ppt:C2-E35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a₀, ρ_d: initial core</a:t>
            </a:r>
          </a:p>
        </p:txBody>
      </p:sp>
      <p:sp>
        <p:nvSpPr>
          <p:cNvPr id="16" name="text15" descr="sci-ppt:C2-E35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m_l, m_v, m_diss, m_esc: compartments</a:t>
            </a:r>
          </a:p>
        </p:txBody>
      </p:sp>
      <p:sp>
        <p:nvSpPr>
          <p:cNvPr id="17" name="text16" descr="sci-ppt:C2-E35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V_b, T_b: bubble state</a:t>
            </a:r>
          </a:p>
        </p:txBody>
      </p:sp>
      <p:sp>
        <p:nvSpPr>
          <p:cNvPr id="18" name="text17" descr="sci-ppt:C2-E35-017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initial sphere</a:t>
            </a:r>
          </a:p>
        </p:txBody>
      </p:sp>
      <p:sp>
        <p:nvSpPr>
          <p:cNvPr id="19" name="text18" descr="sci-ppt:C2-E35-018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m_PFC,0: total supply</a:t>
            </a:r>
          </a:p>
        </p:txBody>
      </p:sp>
      <p:sp>
        <p:nvSpPr>
          <p:cNvPr id="20" name="text19" descr="sci-ppt:C2-E35-019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p_v,PFC: partial pressure</a:t>
            </a:r>
          </a:p>
        </p:txBody>
      </p:sp>
      <p:sp>
        <p:nvSpPr>
          <p:cNvPr id="21" name="text20" descr="sci-ppt:C2-E35-020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M_PFC, R_u: ideal conversion</a:t>
            </a:r>
          </a:p>
        </p:txBody>
      </p:sp>
      <p:sp>
        <p:nvSpPr>
          <p:cNvPr id="22" name="text21" descr="sci-ppt:C2-E35-021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All compound compartments sum to the original mass</a:t>
            </a:r>
          </a:p>
        </p:txBody>
      </p:sp>
      <p:sp>
        <p:nvSpPr>
          <p:cNvPr id="23" name="text22" descr="sci-ppt:C2-E35-022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Water cannot be a source of unlimited PFC vapor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