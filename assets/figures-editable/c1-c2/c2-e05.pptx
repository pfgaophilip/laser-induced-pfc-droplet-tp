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5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C2-E05 | Physical-variable diagram</a:t>
            </a:r>
          </a:p>
        </p:txBody>
      </p:sp>
      <p:sp>
        <p:nvSpPr>
          <p:cNvPr id="3" name="rect2" descr="sci-ppt:C2-E05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05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05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05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05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05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05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05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05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05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05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z: propagation depth</a:t>
            </a:r>
          </a:p>
        </p:txBody>
      </p:sp>
      <p:sp>
        <p:nvSpPr>
          <p:cNvPr id="14" name="text13" descr="sci-ppt:C2-E05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I(z): transmitted beam</a:t>
            </a:r>
          </a:p>
        </p:txBody>
      </p:sp>
      <p:sp>
        <p:nvSpPr>
          <p:cNvPr id="15" name="text14" descr="sci-ppt:C2-E05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Q_abs: heat inside slab</a:t>
            </a:r>
          </a:p>
        </p:txBody>
      </p:sp>
      <p:sp>
        <p:nvSpPr>
          <p:cNvPr id="16" name="text15" descr="sci-ppt:C2-E05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I_in: entry face</a:t>
            </a:r>
          </a:p>
        </p:txBody>
      </p:sp>
      <p:sp>
        <p:nvSpPr>
          <p:cNvPr id="17" name="text16" descr="sci-ppt:C2-E05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μ_a: absorption per depth</a:t>
            </a:r>
          </a:p>
        </p:txBody>
      </p:sp>
      <p:sp>
        <p:nvSpPr>
          <p:cNvPr id="18" name="text17" descr="sci-ppt:C2-E05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I′, z′: integration variables</a:t>
            </a:r>
          </a:p>
        </p:txBody>
      </p:sp>
      <p:sp>
        <p:nvSpPr>
          <p:cNvPr id="19" name="text18" descr="sci-ppt:C2-E05-018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Positive z points into absorber</a:t>
            </a:r>
          </a:p>
        </p:txBody>
      </p:sp>
      <p:sp>
        <p:nvSpPr>
          <p:cNvPr id="20" name="text19" descr="sci-ppt:C2-E05-019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Photon power lost from beam becomes thermal source under this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