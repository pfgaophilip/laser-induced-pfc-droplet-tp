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26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C2-E26 | Physical-variable diagram</a:t>
            </a:r>
          </a:p>
        </p:txBody>
      </p:sp>
      <p:cxnSp>
        <p:nvCxnSpPr>
          <p:cNvPr id="3" name="arrow2" descr="sci-ppt:C2-E26-002"/>
          <p:cNvCxnSpPr/>
          <p:nvPr/>
        </p:nvCxnSpPr>
        <p:spPr>
          <a:xfrm>
            <a:off x="2194560" y="3962399"/>
            <a:ext cx="79248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" name="arrow3" descr="sci-ppt:C2-E26-003"/>
          <p:cNvCxnSpPr/>
          <p:nvPr/>
        </p:nvCxnSpPr>
        <p:spPr>
          <a:xfrm flipV="1">
            <a:off x="2194560" y="1524000"/>
            <a:ext cx="0" cy="2438399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2-E26-004"/>
          <p:cNvSpPr txBox="1"/>
          <p:nvPr/>
        </p:nvSpPr>
        <p:spPr>
          <a:xfrm>
            <a:off x="9144000" y="4084320"/>
            <a:ext cx="18288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Vapor volume V_b</a:t>
            </a:r>
          </a:p>
        </p:txBody>
      </p:sp>
      <p:sp>
        <p:nvSpPr>
          <p:cNvPr id="6" name="text5" descr="sci-ppt:C2-E26-005"/>
          <p:cNvSpPr txBox="1"/>
          <p:nvPr/>
        </p:nvSpPr>
        <p:spPr>
          <a:xfrm>
            <a:off x="2072640" y="115824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PFC partial pressure</a:t>
            </a:r>
          </a:p>
        </p:txBody>
      </p:sp>
      <p:cxnSp>
        <p:nvCxnSpPr>
          <p:cNvPr id="7" name="line6" descr="sci-ppt:C2-E26-006"/>
          <p:cNvCxnSpPr/>
          <p:nvPr/>
        </p:nvCxnSpPr>
        <p:spPr>
          <a:xfrm>
            <a:off x="2255520" y="2011680"/>
            <a:ext cx="286512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line7" descr="sci-ppt:C2-E26-007"/>
          <p:cNvCxnSpPr/>
          <p:nvPr/>
        </p:nvCxnSpPr>
        <p:spPr>
          <a:xfrm>
            <a:off x="5120640" y="2011680"/>
            <a:ext cx="365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line8" descr="sci-ppt:C2-E26-008"/>
          <p:cNvCxnSpPr/>
          <p:nvPr/>
        </p:nvCxnSpPr>
        <p:spPr>
          <a:xfrm>
            <a:off x="5486400" y="2011680"/>
            <a:ext cx="609600" cy="4876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line9" descr="sci-ppt:C2-E26-009"/>
          <p:cNvCxnSpPr/>
          <p:nvPr/>
        </p:nvCxnSpPr>
        <p:spPr>
          <a:xfrm>
            <a:off x="6096000" y="2499360"/>
            <a:ext cx="1097280" cy="54864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line10" descr="sci-ppt:C2-E26-010"/>
          <p:cNvCxnSpPr/>
          <p:nvPr/>
        </p:nvCxnSpPr>
        <p:spPr>
          <a:xfrm>
            <a:off x="7193280" y="3048000"/>
            <a:ext cx="1341120" cy="3413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line11" descr="sci-ppt:C2-E26-011"/>
          <p:cNvCxnSpPr/>
          <p:nvPr/>
        </p:nvCxnSpPr>
        <p:spPr>
          <a:xfrm>
            <a:off x="8534400" y="3389376"/>
            <a:ext cx="1341120" cy="1828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13" name="text12" descr="sci-ppt:C2-E26-012"/>
          <p:cNvSpPr txBox="1"/>
          <p:nvPr/>
        </p:nvSpPr>
        <p:spPr>
          <a:xfrm>
            <a:off x="256032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Saturation branch</a:t>
            </a:r>
          </a:p>
        </p:txBody>
      </p:sp>
      <p:sp>
        <p:nvSpPr>
          <p:cNvPr id="14" name="text13" descr="sci-ppt:C2-E26-013"/>
          <p:cNvSpPr txBox="1"/>
          <p:nvPr/>
        </p:nvSpPr>
        <p:spPr>
          <a:xfrm>
            <a:off x="6096000" y="2133600"/>
            <a:ext cx="536448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Finite-mass branch: p ~ 1/V</a:t>
            </a:r>
          </a:p>
        </p:txBody>
      </p:sp>
      <p:sp>
        <p:nvSpPr>
          <p:cNvPr id="15" name="text14" descr="sci-ppt:C2-E26-014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m_PFC,0: total available compound</a:t>
            </a:r>
          </a:p>
        </p:txBody>
      </p:sp>
      <p:sp>
        <p:nvSpPr>
          <p:cNvPr id="16" name="text15" descr="sci-ppt:C2-E26-015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M_PFC, R_u: mole-to-mass conversion</a:t>
            </a:r>
          </a:p>
        </p:txBody>
      </p:sp>
      <p:sp>
        <p:nvSpPr>
          <p:cNvPr id="17" name="text16" descr="sci-ppt:C2-E26-016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V_b: available vapor volume</a:t>
            </a:r>
          </a:p>
        </p:txBody>
      </p:sp>
      <p:sp>
        <p:nvSpPr>
          <p:cNvPr id="18" name="text17" descr="sci-ppt:C2-E26-017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p_v,PFC,eq: inventory-limited pressure</a:t>
            </a:r>
          </a:p>
        </p:txBody>
      </p:sp>
      <p:sp>
        <p:nvSpPr>
          <p:cNvPr id="19" name="text18" descr="sci-ppt:C2-E26-018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m_v,eq: actual equilibrium vapor mass</a:t>
            </a:r>
          </a:p>
        </p:txBody>
      </p:sp>
      <p:sp>
        <p:nvSpPr>
          <p:cNvPr id="20" name="text19" descr="sci-ppt:C2-E26-019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T_b: prescribed thermal state</a:t>
            </a:r>
          </a:p>
        </p:txBody>
      </p:sp>
      <p:sp>
        <p:nvSpPr>
          <p:cNvPr id="21" name="text20" descr="sci-ppt:C2-E26-020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p_sat,PFC: coexistence ceiling</a:t>
            </a:r>
          </a:p>
        </p:txBody>
      </p:sp>
      <p:sp>
        <p:nvSpPr>
          <p:cNvPr id="22" name="text21" descr="sci-ppt:C2-E26-021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min: choose supply or saturation branch</a:t>
            </a:r>
          </a:p>
        </p:txBody>
      </p:sp>
      <p:sp>
        <p:nvSpPr>
          <p:cNvPr id="23" name="text22" descr="sci-ppt:C2-E26-022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Small vapor volume can coexist with remaining liquid</a:t>
            </a:r>
          </a:p>
        </p:txBody>
      </p:sp>
      <p:sp>
        <p:nvSpPr>
          <p:cNvPr id="24" name="text23" descr="sci-ppt:C2-E26-023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 fully vaporized large volume cannot maintain saturation without more PFC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