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2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C2-E26 · Finite-inventory equilibrium benchmark</a:t>
            </a:r>
          </a:p>
        </p:txBody>
      </p:sp>
      <p:cxnSp>
        <p:nvCxnSpPr>
          <p:cNvPr id="3" name="C2-E26 line 1" descr="sci-ppt:o001"/>
          <p:cNvCxnSpPr/>
          <p:nvPr/>
        </p:nvCxnSpPr>
        <p:spPr>
          <a:xfrm>
            <a:off x="914400" y="5029200"/>
            <a:ext cx="6400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2-E26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2-E26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2-E26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2-E26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8" name="C2-E26 line 6" descr="sci-ppt:o006"/>
          <p:cNvCxnSpPr/>
          <p:nvPr/>
        </p:nvCxnSpPr>
        <p:spPr>
          <a:xfrm>
            <a:off x="25146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2-E26 line 7" descr="sci-ppt:o007"/>
          <p:cNvCxnSpPr/>
          <p:nvPr/>
        </p:nvCxnSpPr>
        <p:spPr>
          <a:xfrm>
            <a:off x="25146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2-E26 text 8" descr="sci-ppt:o008"/>
          <p:cNvSpPr txBox="1"/>
          <p:nvPr/>
        </p:nvSpPr>
        <p:spPr>
          <a:xfrm>
            <a:off x="20574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11" name="C2-E26 line 9" descr="sci-ppt:o009"/>
          <p:cNvCxnSpPr/>
          <p:nvPr/>
        </p:nvCxnSpPr>
        <p:spPr>
          <a:xfrm>
            <a:off x="41148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2-E26 line 10" descr="sci-ppt:o010"/>
          <p:cNvCxnSpPr/>
          <p:nvPr/>
        </p:nvCxnSpPr>
        <p:spPr>
          <a:xfrm>
            <a:off x="41148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2-E26 text 11" descr="sci-ppt:o011"/>
          <p:cNvSpPr txBox="1"/>
          <p:nvPr/>
        </p:nvSpPr>
        <p:spPr>
          <a:xfrm>
            <a:off x="36576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14" name="C2-E26 line 12" descr="sci-ppt:o012"/>
          <p:cNvCxnSpPr/>
          <p:nvPr/>
        </p:nvCxnSpPr>
        <p:spPr>
          <a:xfrm>
            <a:off x="57150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2-E26 line 13" descr="sci-ppt:o013"/>
          <p:cNvCxnSpPr/>
          <p:nvPr/>
        </p:nvCxnSpPr>
        <p:spPr>
          <a:xfrm>
            <a:off x="57150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2-E26 text 14" descr="sci-ppt:o014"/>
          <p:cNvSpPr txBox="1"/>
          <p:nvPr/>
        </p:nvSpPr>
        <p:spPr>
          <a:xfrm>
            <a:off x="52578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40</a:t>
            </a:r>
          </a:p>
        </p:txBody>
      </p:sp>
      <p:cxnSp>
        <p:nvCxnSpPr>
          <p:cNvPr id="17" name="C2-E26 line 15" descr="sci-ppt:o015"/>
          <p:cNvCxnSpPr/>
          <p:nvPr/>
        </p:nvCxnSpPr>
        <p:spPr>
          <a:xfrm>
            <a:off x="73152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2-E26 line 16" descr="sci-ppt:o016"/>
          <p:cNvCxnSpPr/>
          <p:nvPr/>
        </p:nvCxnSpPr>
        <p:spPr>
          <a:xfrm>
            <a:off x="73152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2-E26 text 17" descr="sci-ppt:o017"/>
          <p:cNvSpPr txBox="1"/>
          <p:nvPr/>
        </p:nvSpPr>
        <p:spPr>
          <a:xfrm>
            <a:off x="68580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80</a:t>
            </a:r>
          </a:p>
        </p:txBody>
      </p:sp>
      <p:cxnSp>
        <p:nvCxnSpPr>
          <p:cNvPr id="20" name="C2-E26 line 18" descr="sci-ppt:o018"/>
          <p:cNvCxnSpPr/>
          <p:nvPr/>
        </p:nvCxnSpPr>
        <p:spPr>
          <a:xfrm>
            <a:off x="850392" y="416843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2-E26 line 19" descr="sci-ppt:o019"/>
          <p:cNvCxnSpPr/>
          <p:nvPr/>
        </p:nvCxnSpPr>
        <p:spPr>
          <a:xfrm>
            <a:off x="914400" y="4168438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2-E26 text 20" descr="sci-ppt:o020"/>
          <p:cNvSpPr txBox="1"/>
          <p:nvPr/>
        </p:nvSpPr>
        <p:spPr>
          <a:xfrm>
            <a:off x="45720" y="408614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1e+04</a:t>
            </a:r>
          </a:p>
        </p:txBody>
      </p:sp>
      <p:cxnSp>
        <p:nvCxnSpPr>
          <p:cNvPr id="23" name="C2-E26 line 21" descr="sci-ppt:o021"/>
          <p:cNvCxnSpPr/>
          <p:nvPr/>
        </p:nvCxnSpPr>
        <p:spPr>
          <a:xfrm>
            <a:off x="850392" y="25222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2-E26 line 22" descr="sci-ppt:o022"/>
          <p:cNvCxnSpPr/>
          <p:nvPr/>
        </p:nvCxnSpPr>
        <p:spPr>
          <a:xfrm>
            <a:off x="914400" y="2522242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2-E26 text 23" descr="sci-ppt:o023"/>
          <p:cNvSpPr txBox="1"/>
          <p:nvPr/>
        </p:nvSpPr>
        <p:spPr>
          <a:xfrm>
            <a:off x="45720" y="24399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1e+05</a:t>
            </a:r>
          </a:p>
        </p:txBody>
      </p:sp>
      <p:sp>
        <p:nvSpPr>
          <p:cNvPr id="26" name="C2-E26 text 24" descr="sci-ppt:o024"/>
          <p:cNvSpPr txBox="1"/>
          <p:nvPr/>
        </p:nvSpPr>
        <p:spPr>
          <a:xfrm>
            <a:off x="914400" y="5312664"/>
            <a:ext cx="6400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bubble radius R  (µm)</a:t>
            </a:r>
          </a:p>
        </p:txBody>
      </p:sp>
      <p:sp>
        <p:nvSpPr>
          <p:cNvPr id="27" name="C2-E26 text 25" descr="sci-ppt:o025"/>
          <p:cNvSpPr txBox="1"/>
          <p:nvPr/>
        </p:nvSpPr>
        <p:spPr>
          <a:xfrm>
            <a:off x="365760" y="1024128"/>
            <a:ext cx="6400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pᵥ,PFC,eq  (Pa)</a:t>
            </a:r>
          </a:p>
        </p:txBody>
      </p:sp>
      <p:sp>
        <p:nvSpPr>
          <p:cNvPr id="28" name="C2-E26 polygon 26" descr="sci-ppt:o026"/>
          <p:cNvSpPr/>
          <p:nvPr/>
        </p:nvSpPr>
        <p:spPr>
          <a:xfrm>
            <a:off x="914400" y="2242450"/>
            <a:ext cx="6368635" cy="2627066"/>
          </a:xfrm>
          <a:custGeom>
            <a:avLst/>
            <a:gdLst/>
            <a:ahLst/>
            <a:cxnLst/>
            <a:rect l="l" t="t" r="r" b="b"/>
            <a:pathLst>
              <a:path w="6368635" h="2627066">
                <a:moveTo>
                  <a:pt x="0" y="0"/>
                </a:moveTo>
                <a:lnTo>
                  <a:pt x="32164" y="0"/>
                </a:lnTo>
                <a:lnTo>
                  <a:pt x="64329" y="0"/>
                </a:lnTo>
                <a:lnTo>
                  <a:pt x="96494" y="0"/>
                </a:lnTo>
                <a:lnTo>
                  <a:pt x="128659" y="0"/>
                </a:lnTo>
                <a:lnTo>
                  <a:pt x="160824" y="0"/>
                </a:lnTo>
                <a:lnTo>
                  <a:pt x="192988" y="0"/>
                </a:lnTo>
                <a:lnTo>
                  <a:pt x="225153" y="0"/>
                </a:lnTo>
                <a:lnTo>
                  <a:pt x="257318" y="0"/>
                </a:lnTo>
                <a:lnTo>
                  <a:pt x="289483" y="0"/>
                </a:lnTo>
                <a:lnTo>
                  <a:pt x="321648" y="0"/>
                </a:lnTo>
                <a:lnTo>
                  <a:pt x="353813" y="0"/>
                </a:lnTo>
                <a:lnTo>
                  <a:pt x="385977" y="0"/>
                </a:lnTo>
                <a:lnTo>
                  <a:pt x="418142" y="0"/>
                </a:lnTo>
                <a:lnTo>
                  <a:pt x="450307" y="0"/>
                </a:lnTo>
                <a:lnTo>
                  <a:pt x="482472" y="0"/>
                </a:lnTo>
                <a:lnTo>
                  <a:pt x="514637" y="0"/>
                </a:lnTo>
                <a:lnTo>
                  <a:pt x="546802" y="0"/>
                </a:lnTo>
                <a:lnTo>
                  <a:pt x="578966" y="0"/>
                </a:lnTo>
                <a:lnTo>
                  <a:pt x="611131" y="0"/>
                </a:lnTo>
                <a:lnTo>
                  <a:pt x="643296" y="0"/>
                </a:lnTo>
                <a:lnTo>
                  <a:pt x="675461" y="0"/>
                </a:lnTo>
                <a:lnTo>
                  <a:pt x="707626" y="0"/>
                </a:lnTo>
                <a:lnTo>
                  <a:pt x="739790" y="0"/>
                </a:lnTo>
                <a:lnTo>
                  <a:pt x="771955" y="0"/>
                </a:lnTo>
                <a:lnTo>
                  <a:pt x="804120" y="0"/>
                </a:lnTo>
                <a:lnTo>
                  <a:pt x="836285" y="0"/>
                </a:lnTo>
                <a:lnTo>
                  <a:pt x="868450" y="0"/>
                </a:lnTo>
                <a:lnTo>
                  <a:pt x="900615" y="0"/>
                </a:lnTo>
                <a:lnTo>
                  <a:pt x="932779" y="0"/>
                </a:lnTo>
                <a:lnTo>
                  <a:pt x="964944" y="0"/>
                </a:lnTo>
                <a:lnTo>
                  <a:pt x="997109" y="0"/>
                </a:lnTo>
                <a:lnTo>
                  <a:pt x="1029274" y="0"/>
                </a:lnTo>
                <a:lnTo>
                  <a:pt x="1061439" y="0"/>
                </a:lnTo>
                <a:lnTo>
                  <a:pt x="1093604" y="0"/>
                </a:lnTo>
                <a:lnTo>
                  <a:pt x="1125768" y="0"/>
                </a:lnTo>
                <a:lnTo>
                  <a:pt x="1157933" y="0"/>
                </a:lnTo>
                <a:lnTo>
                  <a:pt x="1190098" y="0"/>
                </a:lnTo>
                <a:lnTo>
                  <a:pt x="1222263" y="0"/>
                </a:lnTo>
                <a:lnTo>
                  <a:pt x="1254428" y="0"/>
                </a:lnTo>
                <a:lnTo>
                  <a:pt x="1286592" y="0"/>
                </a:lnTo>
                <a:lnTo>
                  <a:pt x="1318757" y="0"/>
                </a:lnTo>
                <a:lnTo>
                  <a:pt x="1350922" y="0"/>
                </a:lnTo>
                <a:lnTo>
                  <a:pt x="1383087" y="0"/>
                </a:lnTo>
                <a:lnTo>
                  <a:pt x="1415252" y="0"/>
                </a:lnTo>
                <a:lnTo>
                  <a:pt x="1447417" y="0"/>
                </a:lnTo>
                <a:lnTo>
                  <a:pt x="1479581" y="0"/>
                </a:lnTo>
                <a:lnTo>
                  <a:pt x="1511746" y="0"/>
                </a:lnTo>
                <a:lnTo>
                  <a:pt x="1543911" y="0"/>
                </a:lnTo>
                <a:lnTo>
                  <a:pt x="1576076" y="0"/>
                </a:lnTo>
                <a:lnTo>
                  <a:pt x="1608241" y="0"/>
                </a:lnTo>
                <a:lnTo>
                  <a:pt x="1640406" y="0"/>
                </a:lnTo>
                <a:lnTo>
                  <a:pt x="1672570" y="0"/>
                </a:lnTo>
                <a:lnTo>
                  <a:pt x="1704735" y="0"/>
                </a:lnTo>
                <a:lnTo>
                  <a:pt x="1736900" y="0"/>
                </a:lnTo>
                <a:lnTo>
                  <a:pt x="1769065" y="0"/>
                </a:lnTo>
                <a:lnTo>
                  <a:pt x="1801230" y="0"/>
                </a:lnTo>
                <a:lnTo>
                  <a:pt x="1833394" y="0"/>
                </a:lnTo>
                <a:lnTo>
                  <a:pt x="1865559" y="0"/>
                </a:lnTo>
                <a:lnTo>
                  <a:pt x="1897724" y="0"/>
                </a:lnTo>
                <a:lnTo>
                  <a:pt x="1929889" y="0"/>
                </a:lnTo>
                <a:lnTo>
                  <a:pt x="1962054" y="0"/>
                </a:lnTo>
                <a:lnTo>
                  <a:pt x="1994219" y="0"/>
                </a:lnTo>
                <a:lnTo>
                  <a:pt x="2026383" y="0"/>
                </a:lnTo>
                <a:lnTo>
                  <a:pt x="2058548" y="0"/>
                </a:lnTo>
                <a:lnTo>
                  <a:pt x="2090713" y="0"/>
                </a:lnTo>
                <a:lnTo>
                  <a:pt x="2122878" y="0"/>
                </a:lnTo>
                <a:lnTo>
                  <a:pt x="2155043" y="0"/>
                </a:lnTo>
                <a:lnTo>
                  <a:pt x="2187208" y="0"/>
                </a:lnTo>
                <a:lnTo>
                  <a:pt x="2219372" y="0"/>
                </a:lnTo>
                <a:lnTo>
                  <a:pt x="2251537" y="0"/>
                </a:lnTo>
                <a:lnTo>
                  <a:pt x="2283702" y="0"/>
                </a:lnTo>
                <a:lnTo>
                  <a:pt x="2315867" y="0"/>
                </a:lnTo>
                <a:lnTo>
                  <a:pt x="2348032" y="0"/>
                </a:lnTo>
                <a:lnTo>
                  <a:pt x="2380196" y="0"/>
                </a:lnTo>
                <a:lnTo>
                  <a:pt x="2412361" y="0"/>
                </a:lnTo>
                <a:lnTo>
                  <a:pt x="2444526" y="0"/>
                </a:lnTo>
                <a:lnTo>
                  <a:pt x="2476691" y="0"/>
                </a:lnTo>
                <a:lnTo>
                  <a:pt x="2508856" y="0"/>
                </a:lnTo>
                <a:lnTo>
                  <a:pt x="2541021" y="0"/>
                </a:lnTo>
                <a:lnTo>
                  <a:pt x="2573185" y="0"/>
                </a:lnTo>
                <a:lnTo>
                  <a:pt x="2605350" y="0"/>
                </a:lnTo>
                <a:lnTo>
                  <a:pt x="2637515" y="0"/>
                </a:lnTo>
                <a:lnTo>
                  <a:pt x="2669680" y="0"/>
                </a:lnTo>
                <a:lnTo>
                  <a:pt x="2701845" y="0"/>
                </a:lnTo>
                <a:lnTo>
                  <a:pt x="2734010" y="0"/>
                </a:lnTo>
                <a:lnTo>
                  <a:pt x="2766174" y="0"/>
                </a:lnTo>
                <a:lnTo>
                  <a:pt x="2798339" y="0"/>
                </a:lnTo>
                <a:lnTo>
                  <a:pt x="2830504" y="0"/>
                </a:lnTo>
                <a:lnTo>
                  <a:pt x="2862669" y="0"/>
                </a:lnTo>
                <a:lnTo>
                  <a:pt x="2894834" y="0"/>
                </a:lnTo>
                <a:lnTo>
                  <a:pt x="2926998" y="0"/>
                </a:lnTo>
                <a:lnTo>
                  <a:pt x="2959163" y="0"/>
                </a:lnTo>
                <a:lnTo>
                  <a:pt x="2991328" y="0"/>
                </a:lnTo>
                <a:lnTo>
                  <a:pt x="3023493" y="0"/>
                </a:lnTo>
                <a:lnTo>
                  <a:pt x="3055658" y="0"/>
                </a:lnTo>
                <a:lnTo>
                  <a:pt x="3087823" y="0"/>
                </a:lnTo>
                <a:lnTo>
                  <a:pt x="3119987" y="0"/>
                </a:lnTo>
                <a:lnTo>
                  <a:pt x="3152152" y="0"/>
                </a:lnTo>
                <a:lnTo>
                  <a:pt x="3184317" y="0"/>
                </a:lnTo>
                <a:lnTo>
                  <a:pt x="3216482" y="0"/>
                </a:lnTo>
                <a:lnTo>
                  <a:pt x="3248647" y="0"/>
                </a:lnTo>
                <a:lnTo>
                  <a:pt x="3280812" y="0"/>
                </a:lnTo>
                <a:lnTo>
                  <a:pt x="3312976" y="0"/>
                </a:lnTo>
                <a:lnTo>
                  <a:pt x="3345141" y="0"/>
                </a:lnTo>
                <a:lnTo>
                  <a:pt x="3377306" y="0"/>
                </a:lnTo>
                <a:lnTo>
                  <a:pt x="3409471" y="0"/>
                </a:lnTo>
                <a:lnTo>
                  <a:pt x="3441636" y="0"/>
                </a:lnTo>
                <a:lnTo>
                  <a:pt x="3473801" y="0"/>
                </a:lnTo>
                <a:lnTo>
                  <a:pt x="3505965" y="0"/>
                </a:lnTo>
                <a:lnTo>
                  <a:pt x="3538130" y="0"/>
                </a:lnTo>
                <a:lnTo>
                  <a:pt x="3570295" y="27272"/>
                </a:lnTo>
                <a:lnTo>
                  <a:pt x="3602460" y="57155"/>
                </a:lnTo>
                <a:lnTo>
                  <a:pt x="3634625" y="87038"/>
                </a:lnTo>
                <a:lnTo>
                  <a:pt x="3666789" y="116920"/>
                </a:lnTo>
                <a:lnTo>
                  <a:pt x="3698954" y="146803"/>
                </a:lnTo>
                <a:lnTo>
                  <a:pt x="3731119" y="176686"/>
                </a:lnTo>
                <a:lnTo>
                  <a:pt x="3763284" y="206568"/>
                </a:lnTo>
                <a:lnTo>
                  <a:pt x="3795449" y="236451"/>
                </a:lnTo>
                <a:lnTo>
                  <a:pt x="3827614" y="266334"/>
                </a:lnTo>
                <a:lnTo>
                  <a:pt x="3859778" y="296217"/>
                </a:lnTo>
                <a:lnTo>
                  <a:pt x="3891943" y="326099"/>
                </a:lnTo>
                <a:lnTo>
                  <a:pt x="3924108" y="355982"/>
                </a:lnTo>
                <a:lnTo>
                  <a:pt x="3956273" y="385865"/>
                </a:lnTo>
                <a:lnTo>
                  <a:pt x="3988438" y="415747"/>
                </a:lnTo>
                <a:lnTo>
                  <a:pt x="4020603" y="445630"/>
                </a:lnTo>
                <a:lnTo>
                  <a:pt x="4052767" y="475513"/>
                </a:lnTo>
                <a:lnTo>
                  <a:pt x="4084932" y="505395"/>
                </a:lnTo>
                <a:lnTo>
                  <a:pt x="4117097" y="535278"/>
                </a:lnTo>
                <a:lnTo>
                  <a:pt x="4149262" y="565161"/>
                </a:lnTo>
                <a:lnTo>
                  <a:pt x="4181427" y="595043"/>
                </a:lnTo>
                <a:lnTo>
                  <a:pt x="4213591" y="624926"/>
                </a:lnTo>
                <a:lnTo>
                  <a:pt x="4245756" y="654809"/>
                </a:lnTo>
                <a:lnTo>
                  <a:pt x="4277921" y="684691"/>
                </a:lnTo>
                <a:lnTo>
                  <a:pt x="4310086" y="714574"/>
                </a:lnTo>
                <a:lnTo>
                  <a:pt x="4342251" y="744457"/>
                </a:lnTo>
                <a:lnTo>
                  <a:pt x="4374416" y="774340"/>
                </a:lnTo>
                <a:lnTo>
                  <a:pt x="4406580" y="804222"/>
                </a:lnTo>
                <a:lnTo>
                  <a:pt x="4438745" y="834105"/>
                </a:lnTo>
                <a:lnTo>
                  <a:pt x="4470910" y="863988"/>
                </a:lnTo>
                <a:lnTo>
                  <a:pt x="4503075" y="893870"/>
                </a:lnTo>
                <a:lnTo>
                  <a:pt x="4535240" y="923753"/>
                </a:lnTo>
                <a:lnTo>
                  <a:pt x="4567405" y="953636"/>
                </a:lnTo>
                <a:lnTo>
                  <a:pt x="4599569" y="983518"/>
                </a:lnTo>
                <a:lnTo>
                  <a:pt x="4631734" y="1013401"/>
                </a:lnTo>
                <a:lnTo>
                  <a:pt x="4663899" y="1043284"/>
                </a:lnTo>
                <a:lnTo>
                  <a:pt x="4696064" y="1073166"/>
                </a:lnTo>
                <a:lnTo>
                  <a:pt x="4728229" y="1103049"/>
                </a:lnTo>
                <a:lnTo>
                  <a:pt x="4760393" y="1132932"/>
                </a:lnTo>
                <a:lnTo>
                  <a:pt x="4792558" y="1162814"/>
                </a:lnTo>
                <a:lnTo>
                  <a:pt x="4824723" y="1192697"/>
                </a:lnTo>
                <a:lnTo>
                  <a:pt x="4856888" y="1222580"/>
                </a:lnTo>
                <a:lnTo>
                  <a:pt x="4889053" y="1252463"/>
                </a:lnTo>
                <a:lnTo>
                  <a:pt x="4921218" y="1282345"/>
                </a:lnTo>
                <a:lnTo>
                  <a:pt x="4953382" y="1312228"/>
                </a:lnTo>
                <a:lnTo>
                  <a:pt x="4985547" y="1342111"/>
                </a:lnTo>
                <a:lnTo>
                  <a:pt x="5017712" y="1371993"/>
                </a:lnTo>
                <a:lnTo>
                  <a:pt x="5049877" y="1401876"/>
                </a:lnTo>
                <a:lnTo>
                  <a:pt x="5082042" y="1431759"/>
                </a:lnTo>
                <a:lnTo>
                  <a:pt x="5114207" y="1461641"/>
                </a:lnTo>
                <a:lnTo>
                  <a:pt x="5146371" y="1491524"/>
                </a:lnTo>
                <a:lnTo>
                  <a:pt x="5178536" y="1521407"/>
                </a:lnTo>
                <a:lnTo>
                  <a:pt x="5210701" y="1551289"/>
                </a:lnTo>
                <a:lnTo>
                  <a:pt x="5242866" y="1581172"/>
                </a:lnTo>
                <a:lnTo>
                  <a:pt x="5275031" y="1611055"/>
                </a:lnTo>
                <a:lnTo>
                  <a:pt x="5307195" y="1640937"/>
                </a:lnTo>
                <a:lnTo>
                  <a:pt x="5339360" y="1670820"/>
                </a:lnTo>
                <a:lnTo>
                  <a:pt x="5371525" y="1700703"/>
                </a:lnTo>
                <a:lnTo>
                  <a:pt x="5403690" y="1730586"/>
                </a:lnTo>
                <a:lnTo>
                  <a:pt x="5435855" y="1760468"/>
                </a:lnTo>
                <a:lnTo>
                  <a:pt x="5468020" y="1790351"/>
                </a:lnTo>
                <a:lnTo>
                  <a:pt x="5500184" y="1820234"/>
                </a:lnTo>
                <a:lnTo>
                  <a:pt x="5532349" y="1850116"/>
                </a:lnTo>
                <a:lnTo>
                  <a:pt x="5564514" y="1879999"/>
                </a:lnTo>
                <a:lnTo>
                  <a:pt x="5596679" y="1909882"/>
                </a:lnTo>
                <a:lnTo>
                  <a:pt x="5628844" y="1939764"/>
                </a:lnTo>
                <a:lnTo>
                  <a:pt x="5661009" y="1969647"/>
                </a:lnTo>
                <a:lnTo>
                  <a:pt x="5693173" y="1999530"/>
                </a:lnTo>
                <a:lnTo>
                  <a:pt x="5725338" y="2029412"/>
                </a:lnTo>
                <a:lnTo>
                  <a:pt x="5757503" y="2059295"/>
                </a:lnTo>
                <a:lnTo>
                  <a:pt x="5789668" y="2089178"/>
                </a:lnTo>
                <a:lnTo>
                  <a:pt x="5821833" y="2119060"/>
                </a:lnTo>
                <a:lnTo>
                  <a:pt x="5853997" y="2148943"/>
                </a:lnTo>
                <a:lnTo>
                  <a:pt x="5886162" y="2178826"/>
                </a:lnTo>
                <a:lnTo>
                  <a:pt x="5918327" y="2208709"/>
                </a:lnTo>
                <a:lnTo>
                  <a:pt x="5950492" y="2238591"/>
                </a:lnTo>
                <a:lnTo>
                  <a:pt x="5982657" y="2268474"/>
                </a:lnTo>
                <a:lnTo>
                  <a:pt x="6014822" y="2298357"/>
                </a:lnTo>
                <a:lnTo>
                  <a:pt x="6046986" y="2328239"/>
                </a:lnTo>
                <a:lnTo>
                  <a:pt x="6079151" y="2358122"/>
                </a:lnTo>
                <a:lnTo>
                  <a:pt x="6111316" y="2388005"/>
                </a:lnTo>
                <a:lnTo>
                  <a:pt x="6143481" y="2417887"/>
                </a:lnTo>
                <a:lnTo>
                  <a:pt x="6175646" y="2447770"/>
                </a:lnTo>
                <a:lnTo>
                  <a:pt x="6207811" y="2477653"/>
                </a:lnTo>
                <a:lnTo>
                  <a:pt x="6239975" y="2507535"/>
                </a:lnTo>
                <a:lnTo>
                  <a:pt x="6272140" y="2537418"/>
                </a:lnTo>
                <a:lnTo>
                  <a:pt x="6304305" y="2567301"/>
                </a:lnTo>
                <a:lnTo>
                  <a:pt x="6336470" y="2597184"/>
                </a:lnTo>
                <a:lnTo>
                  <a:pt x="6368635" y="2627066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2-E26 ellipse 27" descr="sci-ppt:o027"/>
          <p:cNvSpPr/>
          <p:nvPr/>
        </p:nvSpPr>
        <p:spPr>
          <a:xfrm>
            <a:off x="4382188" y="2169298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2-E26 rect 28" descr="sci-ppt:o028"/>
          <p:cNvSpPr/>
          <p:nvPr/>
        </p:nvSpPr>
        <p:spPr>
          <a:xfrm>
            <a:off x="4846320" y="1947672"/>
            <a:ext cx="274320" cy="182880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2-E26 text 29" descr="sci-ppt:o029"/>
          <p:cNvSpPr txBox="1"/>
          <p:nvPr/>
        </p:nvSpPr>
        <p:spPr>
          <a:xfrm>
            <a:off x="5230368" y="1901952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40 °C: knee at 23 µm</a:t>
            </a:r>
          </a:p>
        </p:txBody>
      </p:sp>
      <p:sp>
        <p:nvSpPr>
          <p:cNvPr id="32" name="C2-E26 polygon 30" descr="sci-ppt:o030"/>
          <p:cNvSpPr/>
          <p:nvPr/>
        </p:nvSpPr>
        <p:spPr>
          <a:xfrm>
            <a:off x="914400" y="2007973"/>
            <a:ext cx="6368635" cy="2839070"/>
          </a:xfrm>
          <a:custGeom>
            <a:avLst/>
            <a:gdLst/>
            <a:ahLst/>
            <a:cxnLst/>
            <a:rect l="l" t="t" r="r" b="b"/>
            <a:pathLst>
              <a:path w="6368635" h="2839070">
                <a:moveTo>
                  <a:pt x="0" y="0"/>
                </a:moveTo>
                <a:lnTo>
                  <a:pt x="32164" y="0"/>
                </a:lnTo>
                <a:lnTo>
                  <a:pt x="64329" y="0"/>
                </a:lnTo>
                <a:lnTo>
                  <a:pt x="96494" y="0"/>
                </a:lnTo>
                <a:lnTo>
                  <a:pt x="128659" y="0"/>
                </a:lnTo>
                <a:lnTo>
                  <a:pt x="160824" y="0"/>
                </a:lnTo>
                <a:lnTo>
                  <a:pt x="192988" y="0"/>
                </a:lnTo>
                <a:lnTo>
                  <a:pt x="225153" y="0"/>
                </a:lnTo>
                <a:lnTo>
                  <a:pt x="257318" y="0"/>
                </a:lnTo>
                <a:lnTo>
                  <a:pt x="289483" y="0"/>
                </a:lnTo>
                <a:lnTo>
                  <a:pt x="321648" y="0"/>
                </a:lnTo>
                <a:lnTo>
                  <a:pt x="353813" y="0"/>
                </a:lnTo>
                <a:lnTo>
                  <a:pt x="385977" y="0"/>
                </a:lnTo>
                <a:lnTo>
                  <a:pt x="418142" y="0"/>
                </a:lnTo>
                <a:lnTo>
                  <a:pt x="450307" y="0"/>
                </a:lnTo>
                <a:lnTo>
                  <a:pt x="482472" y="0"/>
                </a:lnTo>
                <a:lnTo>
                  <a:pt x="514637" y="0"/>
                </a:lnTo>
                <a:lnTo>
                  <a:pt x="546802" y="0"/>
                </a:lnTo>
                <a:lnTo>
                  <a:pt x="578966" y="0"/>
                </a:lnTo>
                <a:lnTo>
                  <a:pt x="611131" y="0"/>
                </a:lnTo>
                <a:lnTo>
                  <a:pt x="643296" y="0"/>
                </a:lnTo>
                <a:lnTo>
                  <a:pt x="675461" y="0"/>
                </a:lnTo>
                <a:lnTo>
                  <a:pt x="707626" y="0"/>
                </a:lnTo>
                <a:lnTo>
                  <a:pt x="739790" y="0"/>
                </a:lnTo>
                <a:lnTo>
                  <a:pt x="771955" y="0"/>
                </a:lnTo>
                <a:lnTo>
                  <a:pt x="804120" y="0"/>
                </a:lnTo>
                <a:lnTo>
                  <a:pt x="836285" y="0"/>
                </a:lnTo>
                <a:lnTo>
                  <a:pt x="868450" y="0"/>
                </a:lnTo>
                <a:lnTo>
                  <a:pt x="900615" y="0"/>
                </a:lnTo>
                <a:lnTo>
                  <a:pt x="932779" y="0"/>
                </a:lnTo>
                <a:lnTo>
                  <a:pt x="964944" y="0"/>
                </a:lnTo>
                <a:lnTo>
                  <a:pt x="997109" y="0"/>
                </a:lnTo>
                <a:lnTo>
                  <a:pt x="1029274" y="0"/>
                </a:lnTo>
                <a:lnTo>
                  <a:pt x="1061439" y="0"/>
                </a:lnTo>
                <a:lnTo>
                  <a:pt x="1093604" y="0"/>
                </a:lnTo>
                <a:lnTo>
                  <a:pt x="1125768" y="0"/>
                </a:lnTo>
                <a:lnTo>
                  <a:pt x="1157933" y="0"/>
                </a:lnTo>
                <a:lnTo>
                  <a:pt x="1190098" y="0"/>
                </a:lnTo>
                <a:lnTo>
                  <a:pt x="1222263" y="0"/>
                </a:lnTo>
                <a:lnTo>
                  <a:pt x="1254428" y="0"/>
                </a:lnTo>
                <a:lnTo>
                  <a:pt x="1286592" y="0"/>
                </a:lnTo>
                <a:lnTo>
                  <a:pt x="1318757" y="0"/>
                </a:lnTo>
                <a:lnTo>
                  <a:pt x="1350922" y="0"/>
                </a:lnTo>
                <a:lnTo>
                  <a:pt x="1383087" y="0"/>
                </a:lnTo>
                <a:lnTo>
                  <a:pt x="1415252" y="0"/>
                </a:lnTo>
                <a:lnTo>
                  <a:pt x="1447417" y="0"/>
                </a:lnTo>
                <a:lnTo>
                  <a:pt x="1479581" y="0"/>
                </a:lnTo>
                <a:lnTo>
                  <a:pt x="1511746" y="0"/>
                </a:lnTo>
                <a:lnTo>
                  <a:pt x="1543911" y="0"/>
                </a:lnTo>
                <a:lnTo>
                  <a:pt x="1576076" y="0"/>
                </a:lnTo>
                <a:lnTo>
                  <a:pt x="1608241" y="0"/>
                </a:lnTo>
                <a:lnTo>
                  <a:pt x="1640406" y="0"/>
                </a:lnTo>
                <a:lnTo>
                  <a:pt x="1672570" y="0"/>
                </a:lnTo>
                <a:lnTo>
                  <a:pt x="1704735" y="0"/>
                </a:lnTo>
                <a:lnTo>
                  <a:pt x="1736900" y="0"/>
                </a:lnTo>
                <a:lnTo>
                  <a:pt x="1769065" y="0"/>
                </a:lnTo>
                <a:lnTo>
                  <a:pt x="1801230" y="0"/>
                </a:lnTo>
                <a:lnTo>
                  <a:pt x="1833394" y="0"/>
                </a:lnTo>
                <a:lnTo>
                  <a:pt x="1865559" y="0"/>
                </a:lnTo>
                <a:lnTo>
                  <a:pt x="1897724" y="0"/>
                </a:lnTo>
                <a:lnTo>
                  <a:pt x="1929889" y="0"/>
                </a:lnTo>
                <a:lnTo>
                  <a:pt x="1962054" y="0"/>
                </a:lnTo>
                <a:lnTo>
                  <a:pt x="1994219" y="0"/>
                </a:lnTo>
                <a:lnTo>
                  <a:pt x="2026383" y="0"/>
                </a:lnTo>
                <a:lnTo>
                  <a:pt x="2058548" y="0"/>
                </a:lnTo>
                <a:lnTo>
                  <a:pt x="2090713" y="0"/>
                </a:lnTo>
                <a:lnTo>
                  <a:pt x="2122878" y="0"/>
                </a:lnTo>
                <a:lnTo>
                  <a:pt x="2155043" y="0"/>
                </a:lnTo>
                <a:lnTo>
                  <a:pt x="2187208" y="0"/>
                </a:lnTo>
                <a:lnTo>
                  <a:pt x="2219372" y="0"/>
                </a:lnTo>
                <a:lnTo>
                  <a:pt x="2251537" y="0"/>
                </a:lnTo>
                <a:lnTo>
                  <a:pt x="2283702" y="0"/>
                </a:lnTo>
                <a:lnTo>
                  <a:pt x="2315867" y="0"/>
                </a:lnTo>
                <a:lnTo>
                  <a:pt x="2348032" y="0"/>
                </a:lnTo>
                <a:lnTo>
                  <a:pt x="2380196" y="0"/>
                </a:lnTo>
                <a:lnTo>
                  <a:pt x="2412361" y="0"/>
                </a:lnTo>
                <a:lnTo>
                  <a:pt x="2444526" y="0"/>
                </a:lnTo>
                <a:lnTo>
                  <a:pt x="2476691" y="0"/>
                </a:lnTo>
                <a:lnTo>
                  <a:pt x="2508856" y="0"/>
                </a:lnTo>
                <a:lnTo>
                  <a:pt x="2541021" y="0"/>
                </a:lnTo>
                <a:lnTo>
                  <a:pt x="2573185" y="0"/>
                </a:lnTo>
                <a:lnTo>
                  <a:pt x="2605350" y="0"/>
                </a:lnTo>
                <a:lnTo>
                  <a:pt x="2637515" y="0"/>
                </a:lnTo>
                <a:lnTo>
                  <a:pt x="2669680" y="0"/>
                </a:lnTo>
                <a:lnTo>
                  <a:pt x="2701845" y="0"/>
                </a:lnTo>
                <a:lnTo>
                  <a:pt x="2734010" y="0"/>
                </a:lnTo>
                <a:lnTo>
                  <a:pt x="2766174" y="0"/>
                </a:lnTo>
                <a:lnTo>
                  <a:pt x="2798339" y="0"/>
                </a:lnTo>
                <a:lnTo>
                  <a:pt x="2830504" y="0"/>
                </a:lnTo>
                <a:lnTo>
                  <a:pt x="2862669" y="0"/>
                </a:lnTo>
                <a:lnTo>
                  <a:pt x="2894834" y="0"/>
                </a:lnTo>
                <a:lnTo>
                  <a:pt x="2926998" y="0"/>
                </a:lnTo>
                <a:lnTo>
                  <a:pt x="2959163" y="0"/>
                </a:lnTo>
                <a:lnTo>
                  <a:pt x="2991328" y="0"/>
                </a:lnTo>
                <a:lnTo>
                  <a:pt x="3023493" y="0"/>
                </a:lnTo>
                <a:lnTo>
                  <a:pt x="3055658" y="0"/>
                </a:lnTo>
                <a:lnTo>
                  <a:pt x="3087823" y="0"/>
                </a:lnTo>
                <a:lnTo>
                  <a:pt x="3119987" y="0"/>
                </a:lnTo>
                <a:lnTo>
                  <a:pt x="3152152" y="0"/>
                </a:lnTo>
                <a:lnTo>
                  <a:pt x="3184317" y="0"/>
                </a:lnTo>
                <a:lnTo>
                  <a:pt x="3216482" y="0"/>
                </a:lnTo>
                <a:lnTo>
                  <a:pt x="3248647" y="0"/>
                </a:lnTo>
                <a:lnTo>
                  <a:pt x="3280812" y="0"/>
                </a:lnTo>
                <a:lnTo>
                  <a:pt x="3312976" y="214"/>
                </a:lnTo>
                <a:lnTo>
                  <a:pt x="3345141" y="30097"/>
                </a:lnTo>
                <a:lnTo>
                  <a:pt x="3377306" y="59980"/>
                </a:lnTo>
                <a:lnTo>
                  <a:pt x="3409471" y="89862"/>
                </a:lnTo>
                <a:lnTo>
                  <a:pt x="3441636" y="119745"/>
                </a:lnTo>
                <a:lnTo>
                  <a:pt x="3473801" y="149628"/>
                </a:lnTo>
                <a:lnTo>
                  <a:pt x="3505965" y="179511"/>
                </a:lnTo>
                <a:lnTo>
                  <a:pt x="3538130" y="209393"/>
                </a:lnTo>
                <a:lnTo>
                  <a:pt x="3570295" y="239276"/>
                </a:lnTo>
                <a:lnTo>
                  <a:pt x="3602460" y="269159"/>
                </a:lnTo>
                <a:lnTo>
                  <a:pt x="3634625" y="299041"/>
                </a:lnTo>
                <a:lnTo>
                  <a:pt x="3666789" y="328924"/>
                </a:lnTo>
                <a:lnTo>
                  <a:pt x="3698954" y="358807"/>
                </a:lnTo>
                <a:lnTo>
                  <a:pt x="3731119" y="388689"/>
                </a:lnTo>
                <a:lnTo>
                  <a:pt x="3763284" y="418572"/>
                </a:lnTo>
                <a:lnTo>
                  <a:pt x="3795449" y="448455"/>
                </a:lnTo>
                <a:lnTo>
                  <a:pt x="3827614" y="478337"/>
                </a:lnTo>
                <a:lnTo>
                  <a:pt x="3859778" y="508220"/>
                </a:lnTo>
                <a:lnTo>
                  <a:pt x="3891943" y="538103"/>
                </a:lnTo>
                <a:lnTo>
                  <a:pt x="3924108" y="567985"/>
                </a:lnTo>
                <a:lnTo>
                  <a:pt x="3956273" y="597868"/>
                </a:lnTo>
                <a:lnTo>
                  <a:pt x="3988438" y="627751"/>
                </a:lnTo>
                <a:lnTo>
                  <a:pt x="4020603" y="657634"/>
                </a:lnTo>
                <a:lnTo>
                  <a:pt x="4052767" y="687516"/>
                </a:lnTo>
                <a:lnTo>
                  <a:pt x="4084932" y="717399"/>
                </a:lnTo>
                <a:lnTo>
                  <a:pt x="4117097" y="747282"/>
                </a:lnTo>
                <a:lnTo>
                  <a:pt x="4149262" y="777164"/>
                </a:lnTo>
                <a:lnTo>
                  <a:pt x="4181427" y="807047"/>
                </a:lnTo>
                <a:lnTo>
                  <a:pt x="4213591" y="836930"/>
                </a:lnTo>
                <a:lnTo>
                  <a:pt x="4245756" y="866812"/>
                </a:lnTo>
                <a:lnTo>
                  <a:pt x="4277921" y="896695"/>
                </a:lnTo>
                <a:lnTo>
                  <a:pt x="4310086" y="926578"/>
                </a:lnTo>
                <a:lnTo>
                  <a:pt x="4342251" y="956460"/>
                </a:lnTo>
                <a:lnTo>
                  <a:pt x="4374416" y="986343"/>
                </a:lnTo>
                <a:lnTo>
                  <a:pt x="4406580" y="1016226"/>
                </a:lnTo>
                <a:lnTo>
                  <a:pt x="4438745" y="1046108"/>
                </a:lnTo>
                <a:lnTo>
                  <a:pt x="4470910" y="1075991"/>
                </a:lnTo>
                <a:lnTo>
                  <a:pt x="4503075" y="1105874"/>
                </a:lnTo>
                <a:lnTo>
                  <a:pt x="4535240" y="1135757"/>
                </a:lnTo>
                <a:lnTo>
                  <a:pt x="4567405" y="1165639"/>
                </a:lnTo>
                <a:lnTo>
                  <a:pt x="4599569" y="1195522"/>
                </a:lnTo>
                <a:lnTo>
                  <a:pt x="4631734" y="1225405"/>
                </a:lnTo>
                <a:lnTo>
                  <a:pt x="4663899" y="1255287"/>
                </a:lnTo>
                <a:lnTo>
                  <a:pt x="4696064" y="1285170"/>
                </a:lnTo>
                <a:lnTo>
                  <a:pt x="4728229" y="1315053"/>
                </a:lnTo>
                <a:lnTo>
                  <a:pt x="4760393" y="1344935"/>
                </a:lnTo>
                <a:lnTo>
                  <a:pt x="4792558" y="1374818"/>
                </a:lnTo>
                <a:lnTo>
                  <a:pt x="4824723" y="1404701"/>
                </a:lnTo>
                <a:lnTo>
                  <a:pt x="4856888" y="1434583"/>
                </a:lnTo>
                <a:lnTo>
                  <a:pt x="4889053" y="1464466"/>
                </a:lnTo>
                <a:lnTo>
                  <a:pt x="4921218" y="1494349"/>
                </a:lnTo>
                <a:lnTo>
                  <a:pt x="4953382" y="1524231"/>
                </a:lnTo>
                <a:lnTo>
                  <a:pt x="4985547" y="1554114"/>
                </a:lnTo>
                <a:lnTo>
                  <a:pt x="5017712" y="1583997"/>
                </a:lnTo>
                <a:lnTo>
                  <a:pt x="5049877" y="1613880"/>
                </a:lnTo>
                <a:lnTo>
                  <a:pt x="5082042" y="1643762"/>
                </a:lnTo>
                <a:lnTo>
                  <a:pt x="5114207" y="1673645"/>
                </a:lnTo>
                <a:lnTo>
                  <a:pt x="5146371" y="1703528"/>
                </a:lnTo>
                <a:lnTo>
                  <a:pt x="5178536" y="1733410"/>
                </a:lnTo>
                <a:lnTo>
                  <a:pt x="5210701" y="1763293"/>
                </a:lnTo>
                <a:lnTo>
                  <a:pt x="5242866" y="1793176"/>
                </a:lnTo>
                <a:lnTo>
                  <a:pt x="5275031" y="1823058"/>
                </a:lnTo>
                <a:lnTo>
                  <a:pt x="5307195" y="1852941"/>
                </a:lnTo>
                <a:lnTo>
                  <a:pt x="5339360" y="1882824"/>
                </a:lnTo>
                <a:lnTo>
                  <a:pt x="5371525" y="1912706"/>
                </a:lnTo>
                <a:lnTo>
                  <a:pt x="5403690" y="1942589"/>
                </a:lnTo>
                <a:lnTo>
                  <a:pt x="5435855" y="1972472"/>
                </a:lnTo>
                <a:lnTo>
                  <a:pt x="5468020" y="2002354"/>
                </a:lnTo>
                <a:lnTo>
                  <a:pt x="5500184" y="2032237"/>
                </a:lnTo>
                <a:lnTo>
                  <a:pt x="5532349" y="2062120"/>
                </a:lnTo>
                <a:lnTo>
                  <a:pt x="5564514" y="2092003"/>
                </a:lnTo>
                <a:lnTo>
                  <a:pt x="5596679" y="2121885"/>
                </a:lnTo>
                <a:lnTo>
                  <a:pt x="5628844" y="2151768"/>
                </a:lnTo>
                <a:lnTo>
                  <a:pt x="5661009" y="2181651"/>
                </a:lnTo>
                <a:lnTo>
                  <a:pt x="5693173" y="2211533"/>
                </a:lnTo>
                <a:lnTo>
                  <a:pt x="5725338" y="2241416"/>
                </a:lnTo>
                <a:lnTo>
                  <a:pt x="5757503" y="2271299"/>
                </a:lnTo>
                <a:lnTo>
                  <a:pt x="5789668" y="2301181"/>
                </a:lnTo>
                <a:lnTo>
                  <a:pt x="5821833" y="2331064"/>
                </a:lnTo>
                <a:lnTo>
                  <a:pt x="5853997" y="2360947"/>
                </a:lnTo>
                <a:lnTo>
                  <a:pt x="5886162" y="2390829"/>
                </a:lnTo>
                <a:lnTo>
                  <a:pt x="5918327" y="2420712"/>
                </a:lnTo>
                <a:lnTo>
                  <a:pt x="5950492" y="2450595"/>
                </a:lnTo>
                <a:lnTo>
                  <a:pt x="5982657" y="2480477"/>
                </a:lnTo>
                <a:lnTo>
                  <a:pt x="6014822" y="2510360"/>
                </a:lnTo>
                <a:lnTo>
                  <a:pt x="6046986" y="2540243"/>
                </a:lnTo>
                <a:lnTo>
                  <a:pt x="6079151" y="2570126"/>
                </a:lnTo>
                <a:lnTo>
                  <a:pt x="6111316" y="2600008"/>
                </a:lnTo>
                <a:lnTo>
                  <a:pt x="6143481" y="2629891"/>
                </a:lnTo>
                <a:lnTo>
                  <a:pt x="6175646" y="2659774"/>
                </a:lnTo>
                <a:lnTo>
                  <a:pt x="6207811" y="2689656"/>
                </a:lnTo>
                <a:lnTo>
                  <a:pt x="6239975" y="2719539"/>
                </a:lnTo>
                <a:lnTo>
                  <a:pt x="6272140" y="2749422"/>
                </a:lnTo>
                <a:lnTo>
                  <a:pt x="6304305" y="2779304"/>
                </a:lnTo>
                <a:lnTo>
                  <a:pt x="6336470" y="2809187"/>
                </a:lnTo>
                <a:lnTo>
                  <a:pt x="6368635" y="283907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2-E26 ellipse 31" descr="sci-ppt:o031"/>
          <p:cNvSpPr/>
          <p:nvPr/>
        </p:nvSpPr>
        <p:spPr>
          <a:xfrm>
            <a:off x="4153994" y="1934821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2-E26 rect 32" descr="sci-ppt:o032"/>
          <p:cNvSpPr/>
          <p:nvPr/>
        </p:nvSpPr>
        <p:spPr>
          <a:xfrm>
            <a:off x="4846320" y="1600200"/>
            <a:ext cx="274320" cy="182880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2-E26 text 33" descr="sci-ppt:o033"/>
          <p:cNvSpPr txBox="1"/>
          <p:nvPr/>
        </p:nvSpPr>
        <p:spPr>
          <a:xfrm>
            <a:off x="5230368" y="1554480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50 °C: knee at 21 µm</a:t>
            </a:r>
          </a:p>
        </p:txBody>
      </p:sp>
      <p:sp>
        <p:nvSpPr>
          <p:cNvPr id="36" name="C2-E26 text 34" descr="sci-ppt:o034"/>
          <p:cNvSpPr txBox="1"/>
          <p:nvPr/>
        </p:nvSpPr>
        <p:spPr>
          <a:xfrm>
            <a:off x="1122071" y="2454101"/>
            <a:ext cx="201168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liquid still present: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p = pₛₐₜ(T)</a:t>
            </a:r>
          </a:p>
        </p:txBody>
      </p:sp>
      <p:sp>
        <p:nvSpPr>
          <p:cNvPr id="37" name="C2-E26 text 35" descr="sci-ppt:o035"/>
          <p:cNvSpPr txBox="1"/>
          <p:nvPr/>
        </p:nvSpPr>
        <p:spPr>
          <a:xfrm>
            <a:off x="1764332" y="3889425"/>
            <a:ext cx="310896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inventory exhausted: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p = mR_uT/(MV) falls as 1/R³</a:t>
            </a:r>
          </a:p>
        </p:txBody>
      </p:sp>
      <p:sp>
        <p:nvSpPr>
          <p:cNvPr id="38" name="C2-E26 round_rect 36" descr="sci-ppt:o036"/>
          <p:cNvSpPr/>
          <p:nvPr/>
        </p:nvSpPr>
        <p:spPr>
          <a:xfrm>
            <a:off x="7589520" y="1371600"/>
            <a:ext cx="425196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2-E26 text 37" descr="sci-ppt:o037"/>
          <p:cNvSpPr txBox="1"/>
          <p:nvPr/>
        </p:nvSpPr>
        <p:spPr>
          <a:xfrm>
            <a:off x="7699248" y="1426464"/>
            <a:ext cx="40325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min[ saturation, inventory ]</a:t>
            </a:r>
          </a:p>
        </p:txBody>
      </p:sp>
      <p:sp>
        <p:nvSpPr>
          <p:cNvPr id="40" name="C2-E26 text 38" descr="sci-ppt:o038"/>
          <p:cNvSpPr txBox="1"/>
          <p:nvPr/>
        </p:nvSpPr>
        <p:spPr>
          <a:xfrm>
            <a:off x="7726679" y="1828800"/>
            <a:ext cx="402336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pᵥ,eq = min[ pₛₐₜ(T_b),  m_PFC,0 Rᵤ T_b /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(M_PFC V_b) ]</a:t>
            </a:r>
          </a:p>
        </p:txBody>
      </p:sp>
      <p:sp>
        <p:nvSpPr>
          <p:cNvPr id="41" name="C2-E26 text 39" descr="sci-ppt:o039"/>
          <p:cNvSpPr txBox="1"/>
          <p:nvPr/>
        </p:nvSpPr>
        <p:spPr>
          <a:xfrm>
            <a:off x="7927848" y="2606040"/>
            <a:ext cx="382219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Until all liquid evaporates the pressure is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pinned at pₛₐₜ.</a:t>
            </a:r>
          </a:p>
        </p:txBody>
      </p:sp>
      <p:sp>
        <p:nvSpPr>
          <p:cNvPr id="42" name="C2-E26 ellipse 40" descr="sci-ppt:o040"/>
          <p:cNvSpPr/>
          <p:nvPr/>
        </p:nvSpPr>
        <p:spPr>
          <a:xfrm>
            <a:off x="7758683" y="265938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2-E26 text 41" descr="sci-ppt:o041"/>
          <p:cNvSpPr txBox="1"/>
          <p:nvPr/>
        </p:nvSpPr>
        <p:spPr>
          <a:xfrm>
            <a:off x="7927848" y="3069336"/>
            <a:ext cx="382219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After that the finite inventory cannot supply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more vapor, so p falls as the bubble grows.</a:t>
            </a:r>
          </a:p>
        </p:txBody>
      </p:sp>
      <p:sp>
        <p:nvSpPr>
          <p:cNvPr id="44" name="C2-E26 ellipse 42" descr="sci-ppt:o042"/>
          <p:cNvSpPr/>
          <p:nvPr/>
        </p:nvSpPr>
        <p:spPr>
          <a:xfrm>
            <a:off x="7758683" y="312267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2-E26 text 43" descr="sci-ppt:o043"/>
          <p:cNvSpPr txBox="1"/>
          <p:nvPr/>
        </p:nvSpPr>
        <p:spPr>
          <a:xfrm>
            <a:off x="7927848" y="3532631"/>
            <a:ext cx="382219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Assumes a closed, non-dissolving supply and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fast mass exchange.</a:t>
            </a:r>
          </a:p>
        </p:txBody>
      </p:sp>
      <p:sp>
        <p:nvSpPr>
          <p:cNvPr id="46" name="C2-E26 ellipse 44" descr="sci-ppt:o044"/>
          <p:cNvSpPr/>
          <p:nvPr/>
        </p:nvSpPr>
        <p:spPr>
          <a:xfrm>
            <a:off x="7758683" y="3585972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2-E26 text 45" descr="sci-ppt:o045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Equilibrium benchmark for the 0.8535 ng inventory of a 5 µm core at two prescribed temperatures.</a:t>
            </a:r>
          </a:p>
        </p:txBody>
      </p:sp>
      <p:sp>
        <p:nvSpPr>
          <p:cNvPr id="48" name="C2-E26 text 46" descr="sci-ppt:o04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Finite-inventory benchmark of Eq. C2-E26 with pₛₐₜ from Eq. C2-E12.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