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15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C2-E15 · Derived critical radius and branch check</a:t>
            </a:r>
          </a:p>
        </p:txBody>
      </p:sp>
      <p:cxnSp>
        <p:nvCxnSpPr>
          <p:cNvPr id="3" name="C2-E15 line 1" descr="sci-ppt:o001"/>
          <p:cNvCxnSpPr/>
          <p:nvPr/>
        </p:nvCxnSpPr>
        <p:spPr>
          <a:xfrm>
            <a:off x="914400" y="5029200"/>
            <a:ext cx="60350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15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15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2-E15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2-E15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</a:t>
            </a:r>
          </a:p>
        </p:txBody>
      </p:sp>
      <p:cxnSp>
        <p:nvCxnSpPr>
          <p:cNvPr id="8" name="C2-E15 line 6" descr="sci-ppt:o006"/>
          <p:cNvCxnSpPr/>
          <p:nvPr/>
        </p:nvCxnSpPr>
        <p:spPr>
          <a:xfrm>
            <a:off x="22860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2-E15 line 7" descr="sci-ppt:o007"/>
          <p:cNvCxnSpPr/>
          <p:nvPr/>
        </p:nvCxnSpPr>
        <p:spPr>
          <a:xfrm>
            <a:off x="22860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2-E15 text 8" descr="sci-ppt:o008"/>
          <p:cNvSpPr txBox="1"/>
          <p:nvPr/>
        </p:nvSpPr>
        <p:spPr>
          <a:xfrm>
            <a:off x="18288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0.05</a:t>
            </a:r>
          </a:p>
        </p:txBody>
      </p:sp>
      <p:cxnSp>
        <p:nvCxnSpPr>
          <p:cNvPr id="11" name="C2-E15 line 9" descr="sci-ppt:o009"/>
          <p:cNvCxnSpPr/>
          <p:nvPr/>
        </p:nvCxnSpPr>
        <p:spPr>
          <a:xfrm>
            <a:off x="36576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2-E15 line 10" descr="sci-ppt:o010"/>
          <p:cNvCxnSpPr/>
          <p:nvPr/>
        </p:nvCxnSpPr>
        <p:spPr>
          <a:xfrm>
            <a:off x="36576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2-E15 text 11" descr="sci-ppt:o011"/>
          <p:cNvSpPr txBox="1"/>
          <p:nvPr/>
        </p:nvSpPr>
        <p:spPr>
          <a:xfrm>
            <a:off x="32004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0.10</a:t>
            </a:r>
          </a:p>
        </p:txBody>
      </p:sp>
      <p:cxnSp>
        <p:nvCxnSpPr>
          <p:cNvPr id="14" name="C2-E15 line 12" descr="sci-ppt:o012"/>
          <p:cNvCxnSpPr/>
          <p:nvPr/>
        </p:nvCxnSpPr>
        <p:spPr>
          <a:xfrm>
            <a:off x="502919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2-E15 line 13" descr="sci-ppt:o013"/>
          <p:cNvCxnSpPr/>
          <p:nvPr/>
        </p:nvCxnSpPr>
        <p:spPr>
          <a:xfrm>
            <a:off x="502919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2-E15 text 14" descr="sci-ppt:o014"/>
          <p:cNvSpPr txBox="1"/>
          <p:nvPr/>
        </p:nvSpPr>
        <p:spPr>
          <a:xfrm>
            <a:off x="457199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0.15</a:t>
            </a:r>
          </a:p>
        </p:txBody>
      </p:sp>
      <p:cxnSp>
        <p:nvCxnSpPr>
          <p:cNvPr id="17" name="C2-E15 line 15" descr="sci-ppt:o015"/>
          <p:cNvCxnSpPr/>
          <p:nvPr/>
        </p:nvCxnSpPr>
        <p:spPr>
          <a:xfrm>
            <a:off x="64008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2-E15 line 16" descr="sci-ppt:o016"/>
          <p:cNvCxnSpPr/>
          <p:nvPr/>
        </p:nvCxnSpPr>
        <p:spPr>
          <a:xfrm>
            <a:off x="64008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2-E15 text 17" descr="sci-ppt:o017"/>
          <p:cNvSpPr txBox="1"/>
          <p:nvPr/>
        </p:nvSpPr>
        <p:spPr>
          <a:xfrm>
            <a:off x="59436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0.20</a:t>
            </a:r>
          </a:p>
        </p:txBody>
      </p:sp>
      <p:cxnSp>
        <p:nvCxnSpPr>
          <p:cNvPr id="20" name="C2-E15 line 18" descr="sci-ppt:o018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2-E15 line 19" descr="sci-ppt:o019"/>
          <p:cNvCxnSpPr/>
          <p:nvPr/>
        </p:nvCxnSpPr>
        <p:spPr>
          <a:xfrm>
            <a:off x="850392" y="42164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2-E15 line 20" descr="sci-ppt:o020"/>
          <p:cNvCxnSpPr/>
          <p:nvPr/>
        </p:nvCxnSpPr>
        <p:spPr>
          <a:xfrm>
            <a:off x="914400" y="421640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2-E15 text 21" descr="sci-ppt:o021"/>
          <p:cNvSpPr txBox="1"/>
          <p:nvPr/>
        </p:nvSpPr>
        <p:spPr>
          <a:xfrm>
            <a:off x="45720" y="41341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-2</a:t>
            </a:r>
          </a:p>
        </p:txBody>
      </p:sp>
      <p:cxnSp>
        <p:nvCxnSpPr>
          <p:cNvPr id="24" name="C2-E15 line 22" descr="sci-ppt:o022"/>
          <p:cNvCxnSpPr/>
          <p:nvPr/>
        </p:nvCxnSpPr>
        <p:spPr>
          <a:xfrm>
            <a:off x="850392" y="3403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2-E15 line 23" descr="sci-ppt:o023"/>
          <p:cNvCxnSpPr/>
          <p:nvPr/>
        </p:nvCxnSpPr>
        <p:spPr>
          <a:xfrm>
            <a:off x="914400" y="340360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2-E15 text 24" descr="sci-ppt:o024"/>
          <p:cNvSpPr txBox="1"/>
          <p:nvPr/>
        </p:nvSpPr>
        <p:spPr>
          <a:xfrm>
            <a:off x="45720" y="3321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27" name="C2-E15 line 25" descr="sci-ppt:o025"/>
          <p:cNvCxnSpPr/>
          <p:nvPr/>
        </p:nvCxnSpPr>
        <p:spPr>
          <a:xfrm>
            <a:off x="850392" y="25908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2-E15 line 26" descr="sci-ppt:o026"/>
          <p:cNvCxnSpPr/>
          <p:nvPr/>
        </p:nvCxnSpPr>
        <p:spPr>
          <a:xfrm>
            <a:off x="914400" y="259080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2-E15 text 27" descr="sci-ppt:o027"/>
          <p:cNvSpPr txBox="1"/>
          <p:nvPr/>
        </p:nvSpPr>
        <p:spPr>
          <a:xfrm>
            <a:off x="45720" y="25085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30" name="C2-E15 line 28" descr="sci-ppt:o028"/>
          <p:cNvCxnSpPr/>
          <p:nvPr/>
        </p:nvCxnSpPr>
        <p:spPr>
          <a:xfrm>
            <a:off x="850392" y="17780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2-E15 line 29" descr="sci-ppt:o029"/>
          <p:cNvCxnSpPr/>
          <p:nvPr/>
        </p:nvCxnSpPr>
        <p:spPr>
          <a:xfrm>
            <a:off x="914400" y="177800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2-E15 text 30" descr="sci-ppt:o030"/>
          <p:cNvSpPr txBox="1"/>
          <p:nvPr/>
        </p:nvSpPr>
        <p:spPr>
          <a:xfrm>
            <a:off x="45720" y="16957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sp>
        <p:nvSpPr>
          <p:cNvPr id="33" name="C2-E15 text 31" descr="sci-ppt:o031"/>
          <p:cNvSpPr txBox="1"/>
          <p:nvPr/>
        </p:nvSpPr>
        <p:spPr>
          <a:xfrm>
            <a:off x="914400" y="5312664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nucleus radius rₙ  (µm)</a:t>
            </a:r>
          </a:p>
        </p:txBody>
      </p:sp>
      <p:sp>
        <p:nvSpPr>
          <p:cNvPr id="34" name="C2-E15 text 32" descr="sci-ppt:o032"/>
          <p:cNvSpPr txBox="1"/>
          <p:nvPr/>
        </p:nvSpPr>
        <p:spPr>
          <a:xfrm>
            <a:off x="365760" y="1024128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W  (10⁻¹⁶ J)</a:t>
            </a:r>
          </a:p>
        </p:txBody>
      </p:sp>
      <p:cxnSp>
        <p:nvCxnSpPr>
          <p:cNvPr id="35" name="C2-E15 line 33" descr="sci-ppt:o033"/>
          <p:cNvCxnSpPr/>
          <p:nvPr/>
        </p:nvCxnSpPr>
        <p:spPr>
          <a:xfrm>
            <a:off x="914400" y="3403600"/>
            <a:ext cx="6035040" cy="0"/>
          </a:xfrm>
          <a:prstGeom prst="line">
            <a:avLst/>
          </a:prstGeom>
          <a:ln w="15240">
            <a:solidFill>
              <a:srgbClr val="2E4756"/>
            </a:solidFill>
          </a:ln>
          <a:effectLst/>
        </p:spPr>
      </p:cxnSp>
      <p:sp>
        <p:nvSpPr>
          <p:cNvPr id="36" name="C2-E15 polygon 34" descr="sci-ppt:o034"/>
          <p:cNvSpPr/>
          <p:nvPr/>
        </p:nvSpPr>
        <p:spPr>
          <a:xfrm>
            <a:off x="914400" y="1701277"/>
            <a:ext cx="4561602" cy="3235703"/>
          </a:xfrm>
          <a:custGeom>
            <a:avLst/>
            <a:gdLst/>
            <a:ahLst/>
            <a:cxnLst/>
            <a:rect l="l" t="t" r="r" b="b"/>
            <a:pathLst>
              <a:path w="4561602" h="3235703">
                <a:moveTo>
                  <a:pt x="0" y="1702323"/>
                </a:moveTo>
                <a:lnTo>
                  <a:pt x="40368" y="1701227"/>
                </a:lnTo>
                <a:lnTo>
                  <a:pt x="80736" y="1697986"/>
                </a:lnTo>
                <a:lnTo>
                  <a:pt x="121104" y="1692662"/>
                </a:lnTo>
                <a:lnTo>
                  <a:pt x="161472" y="1685322"/>
                </a:lnTo>
                <a:lnTo>
                  <a:pt x="201840" y="1676031"/>
                </a:lnTo>
                <a:lnTo>
                  <a:pt x="242208" y="1664853"/>
                </a:lnTo>
                <a:lnTo>
                  <a:pt x="282577" y="1651854"/>
                </a:lnTo>
                <a:lnTo>
                  <a:pt x="322945" y="1637098"/>
                </a:lnTo>
                <a:lnTo>
                  <a:pt x="363313" y="1620652"/>
                </a:lnTo>
                <a:lnTo>
                  <a:pt x="403681" y="1602579"/>
                </a:lnTo>
                <a:lnTo>
                  <a:pt x="444049" y="1582946"/>
                </a:lnTo>
                <a:lnTo>
                  <a:pt x="484417" y="1561817"/>
                </a:lnTo>
                <a:lnTo>
                  <a:pt x="524786" y="1539258"/>
                </a:lnTo>
                <a:lnTo>
                  <a:pt x="565154" y="1515332"/>
                </a:lnTo>
                <a:lnTo>
                  <a:pt x="605522" y="1490107"/>
                </a:lnTo>
                <a:lnTo>
                  <a:pt x="645890" y="1463645"/>
                </a:lnTo>
                <a:lnTo>
                  <a:pt x="686258" y="1436014"/>
                </a:lnTo>
                <a:lnTo>
                  <a:pt x="726626" y="1407277"/>
                </a:lnTo>
                <a:lnTo>
                  <a:pt x="766995" y="1377501"/>
                </a:lnTo>
                <a:lnTo>
                  <a:pt x="807363" y="1346749"/>
                </a:lnTo>
                <a:lnTo>
                  <a:pt x="847731" y="1315087"/>
                </a:lnTo>
                <a:lnTo>
                  <a:pt x="888099" y="1282581"/>
                </a:lnTo>
                <a:lnTo>
                  <a:pt x="928467" y="1249295"/>
                </a:lnTo>
                <a:lnTo>
                  <a:pt x="968835" y="1215294"/>
                </a:lnTo>
                <a:lnTo>
                  <a:pt x="1009204" y="1180644"/>
                </a:lnTo>
                <a:lnTo>
                  <a:pt x="1049572" y="1145410"/>
                </a:lnTo>
                <a:lnTo>
                  <a:pt x="1089940" y="1109656"/>
                </a:lnTo>
                <a:lnTo>
                  <a:pt x="1130308" y="1073448"/>
                </a:lnTo>
                <a:lnTo>
                  <a:pt x="1170676" y="1036850"/>
                </a:lnTo>
                <a:lnTo>
                  <a:pt x="1211044" y="999929"/>
                </a:lnTo>
                <a:lnTo>
                  <a:pt x="1251412" y="962749"/>
                </a:lnTo>
                <a:lnTo>
                  <a:pt x="1291781" y="925375"/>
                </a:lnTo>
                <a:lnTo>
                  <a:pt x="1332149" y="887873"/>
                </a:lnTo>
                <a:lnTo>
                  <a:pt x="1372517" y="850306"/>
                </a:lnTo>
                <a:lnTo>
                  <a:pt x="1412885" y="812742"/>
                </a:lnTo>
                <a:lnTo>
                  <a:pt x="1453253" y="775243"/>
                </a:lnTo>
                <a:lnTo>
                  <a:pt x="1493621" y="737877"/>
                </a:lnTo>
                <a:lnTo>
                  <a:pt x="1533990" y="700707"/>
                </a:lnTo>
                <a:lnTo>
                  <a:pt x="1574358" y="663799"/>
                </a:lnTo>
                <a:lnTo>
                  <a:pt x="1614726" y="627218"/>
                </a:lnTo>
                <a:lnTo>
                  <a:pt x="1655094" y="591029"/>
                </a:lnTo>
                <a:lnTo>
                  <a:pt x="1695462" y="555298"/>
                </a:lnTo>
                <a:lnTo>
                  <a:pt x="1735830" y="520088"/>
                </a:lnTo>
                <a:lnTo>
                  <a:pt x="1776199" y="485466"/>
                </a:lnTo>
                <a:lnTo>
                  <a:pt x="1816567" y="451497"/>
                </a:lnTo>
                <a:lnTo>
                  <a:pt x="1856935" y="418245"/>
                </a:lnTo>
                <a:lnTo>
                  <a:pt x="1897303" y="385775"/>
                </a:lnTo>
                <a:lnTo>
                  <a:pt x="1937671" y="354154"/>
                </a:lnTo>
                <a:lnTo>
                  <a:pt x="1978039" y="323445"/>
                </a:lnTo>
                <a:lnTo>
                  <a:pt x="2018408" y="293714"/>
                </a:lnTo>
                <a:lnTo>
                  <a:pt x="2058776" y="265026"/>
                </a:lnTo>
                <a:lnTo>
                  <a:pt x="2099144" y="237447"/>
                </a:lnTo>
                <a:lnTo>
                  <a:pt x="2139512" y="211040"/>
                </a:lnTo>
                <a:lnTo>
                  <a:pt x="2179880" y="185872"/>
                </a:lnTo>
                <a:lnTo>
                  <a:pt x="2220248" y="162008"/>
                </a:lnTo>
                <a:lnTo>
                  <a:pt x="2260616" y="139511"/>
                </a:lnTo>
                <a:lnTo>
                  <a:pt x="2300985" y="118449"/>
                </a:lnTo>
                <a:lnTo>
                  <a:pt x="2341353" y="98885"/>
                </a:lnTo>
                <a:lnTo>
                  <a:pt x="2381721" y="80886"/>
                </a:lnTo>
                <a:lnTo>
                  <a:pt x="2422089" y="64515"/>
                </a:lnTo>
                <a:lnTo>
                  <a:pt x="2462457" y="49838"/>
                </a:lnTo>
                <a:lnTo>
                  <a:pt x="2502825" y="36920"/>
                </a:lnTo>
                <a:lnTo>
                  <a:pt x="2543194" y="25826"/>
                </a:lnTo>
                <a:lnTo>
                  <a:pt x="2583562" y="16622"/>
                </a:lnTo>
                <a:lnTo>
                  <a:pt x="2623930" y="9372"/>
                </a:lnTo>
                <a:lnTo>
                  <a:pt x="2664298" y="4142"/>
                </a:lnTo>
                <a:lnTo>
                  <a:pt x="2704666" y="996"/>
                </a:lnTo>
                <a:lnTo>
                  <a:pt x="2745034" y="0"/>
                </a:lnTo>
                <a:lnTo>
                  <a:pt x="2785403" y="1219"/>
                </a:lnTo>
                <a:lnTo>
                  <a:pt x="2825771" y="4718"/>
                </a:lnTo>
                <a:lnTo>
                  <a:pt x="2866139" y="10562"/>
                </a:lnTo>
                <a:lnTo>
                  <a:pt x="2906507" y="18816"/>
                </a:lnTo>
                <a:lnTo>
                  <a:pt x="2946875" y="29545"/>
                </a:lnTo>
                <a:lnTo>
                  <a:pt x="2987243" y="42814"/>
                </a:lnTo>
                <a:lnTo>
                  <a:pt x="3027612" y="58689"/>
                </a:lnTo>
                <a:lnTo>
                  <a:pt x="3067980" y="77234"/>
                </a:lnTo>
                <a:lnTo>
                  <a:pt x="3108348" y="98515"/>
                </a:lnTo>
                <a:lnTo>
                  <a:pt x="3148716" y="122597"/>
                </a:lnTo>
                <a:lnTo>
                  <a:pt x="3189084" y="149544"/>
                </a:lnTo>
                <a:lnTo>
                  <a:pt x="3229452" y="179423"/>
                </a:lnTo>
                <a:lnTo>
                  <a:pt x="3269821" y="212297"/>
                </a:lnTo>
                <a:lnTo>
                  <a:pt x="3310189" y="248232"/>
                </a:lnTo>
                <a:lnTo>
                  <a:pt x="3350557" y="287294"/>
                </a:lnTo>
                <a:lnTo>
                  <a:pt x="3390925" y="329547"/>
                </a:lnTo>
                <a:lnTo>
                  <a:pt x="3431293" y="375056"/>
                </a:lnTo>
                <a:lnTo>
                  <a:pt x="3471661" y="423886"/>
                </a:lnTo>
                <a:lnTo>
                  <a:pt x="3512029" y="476104"/>
                </a:lnTo>
                <a:lnTo>
                  <a:pt x="3552398" y="531773"/>
                </a:lnTo>
                <a:lnTo>
                  <a:pt x="3592766" y="590958"/>
                </a:lnTo>
                <a:lnTo>
                  <a:pt x="3633134" y="653726"/>
                </a:lnTo>
                <a:lnTo>
                  <a:pt x="3673502" y="720141"/>
                </a:lnTo>
                <a:lnTo>
                  <a:pt x="3713870" y="790267"/>
                </a:lnTo>
                <a:lnTo>
                  <a:pt x="3754238" y="864171"/>
                </a:lnTo>
                <a:lnTo>
                  <a:pt x="3794607" y="941917"/>
                </a:lnTo>
                <a:lnTo>
                  <a:pt x="3834975" y="1023570"/>
                </a:lnTo>
                <a:lnTo>
                  <a:pt x="3875343" y="1109196"/>
                </a:lnTo>
                <a:lnTo>
                  <a:pt x="3915711" y="1198860"/>
                </a:lnTo>
                <a:lnTo>
                  <a:pt x="3956079" y="1292626"/>
                </a:lnTo>
                <a:lnTo>
                  <a:pt x="3996447" y="1390560"/>
                </a:lnTo>
                <a:lnTo>
                  <a:pt x="4036816" y="1492726"/>
                </a:lnTo>
                <a:lnTo>
                  <a:pt x="4077184" y="1599191"/>
                </a:lnTo>
                <a:lnTo>
                  <a:pt x="4117552" y="1710019"/>
                </a:lnTo>
                <a:lnTo>
                  <a:pt x="4157920" y="1825275"/>
                </a:lnTo>
                <a:lnTo>
                  <a:pt x="4198288" y="1945024"/>
                </a:lnTo>
                <a:lnTo>
                  <a:pt x="4238656" y="2069331"/>
                </a:lnTo>
                <a:lnTo>
                  <a:pt x="4279025" y="2198262"/>
                </a:lnTo>
                <a:lnTo>
                  <a:pt x="4319393" y="2331882"/>
                </a:lnTo>
                <a:lnTo>
                  <a:pt x="4359761" y="2470255"/>
                </a:lnTo>
                <a:lnTo>
                  <a:pt x="4400129" y="2613446"/>
                </a:lnTo>
                <a:lnTo>
                  <a:pt x="4440497" y="2761522"/>
                </a:lnTo>
                <a:lnTo>
                  <a:pt x="4480865" y="2914547"/>
                </a:lnTo>
                <a:lnTo>
                  <a:pt x="4521233" y="3072585"/>
                </a:lnTo>
                <a:lnTo>
                  <a:pt x="4561602" y="3235703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2-E15 ellipse 35" descr="sci-ppt:o035"/>
          <p:cNvSpPr/>
          <p:nvPr/>
        </p:nvSpPr>
        <p:spPr>
          <a:xfrm>
            <a:off x="3584447" y="1628123"/>
            <a:ext cx="146304" cy="146304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2-E15 polygon 36" descr="sci-ppt:o036"/>
          <p:cNvSpPr/>
          <p:nvPr/>
        </p:nvSpPr>
        <p:spPr>
          <a:xfrm>
            <a:off x="914400" y="2978019"/>
            <a:ext cx="2704666" cy="1987435"/>
          </a:xfrm>
          <a:custGeom>
            <a:avLst/>
            <a:gdLst/>
            <a:ahLst/>
            <a:cxnLst/>
            <a:rect l="l" t="t" r="r" b="b"/>
            <a:pathLst>
              <a:path w="2704666" h="1987435">
                <a:moveTo>
                  <a:pt x="0" y="425581"/>
                </a:moveTo>
                <a:lnTo>
                  <a:pt x="40368" y="424496"/>
                </a:lnTo>
                <a:lnTo>
                  <a:pt x="80736" y="421330"/>
                </a:lnTo>
                <a:lnTo>
                  <a:pt x="121104" y="416213"/>
                </a:lnTo>
                <a:lnTo>
                  <a:pt x="161472" y="409274"/>
                </a:lnTo>
                <a:lnTo>
                  <a:pt x="201840" y="400645"/>
                </a:lnTo>
                <a:lnTo>
                  <a:pt x="242208" y="390454"/>
                </a:lnTo>
                <a:lnTo>
                  <a:pt x="282577" y="378833"/>
                </a:lnTo>
                <a:lnTo>
                  <a:pt x="322945" y="365911"/>
                </a:lnTo>
                <a:lnTo>
                  <a:pt x="363313" y="351819"/>
                </a:lnTo>
                <a:lnTo>
                  <a:pt x="403681" y="336687"/>
                </a:lnTo>
                <a:lnTo>
                  <a:pt x="444049" y="320645"/>
                </a:lnTo>
                <a:lnTo>
                  <a:pt x="484417" y="303823"/>
                </a:lnTo>
                <a:lnTo>
                  <a:pt x="524786" y="286352"/>
                </a:lnTo>
                <a:lnTo>
                  <a:pt x="565154" y="268362"/>
                </a:lnTo>
                <a:lnTo>
                  <a:pt x="605522" y="249982"/>
                </a:lnTo>
                <a:lnTo>
                  <a:pt x="645890" y="231344"/>
                </a:lnTo>
                <a:lnTo>
                  <a:pt x="686258" y="212576"/>
                </a:lnTo>
                <a:lnTo>
                  <a:pt x="726626" y="193811"/>
                </a:lnTo>
                <a:lnTo>
                  <a:pt x="766995" y="175177"/>
                </a:lnTo>
                <a:lnTo>
                  <a:pt x="807363" y="156804"/>
                </a:lnTo>
                <a:lnTo>
                  <a:pt x="847731" y="138824"/>
                </a:lnTo>
                <a:lnTo>
                  <a:pt x="888099" y="121366"/>
                </a:lnTo>
                <a:lnTo>
                  <a:pt x="928467" y="104561"/>
                </a:lnTo>
                <a:lnTo>
                  <a:pt x="968835" y="88538"/>
                </a:lnTo>
                <a:lnTo>
                  <a:pt x="1009204" y="73428"/>
                </a:lnTo>
                <a:lnTo>
                  <a:pt x="1049572" y="59362"/>
                </a:lnTo>
                <a:lnTo>
                  <a:pt x="1089940" y="46468"/>
                </a:lnTo>
                <a:lnTo>
                  <a:pt x="1130308" y="34878"/>
                </a:lnTo>
                <a:lnTo>
                  <a:pt x="1170676" y="24721"/>
                </a:lnTo>
                <a:lnTo>
                  <a:pt x="1211044" y="16129"/>
                </a:lnTo>
                <a:lnTo>
                  <a:pt x="1251412" y="9230"/>
                </a:lnTo>
                <a:lnTo>
                  <a:pt x="1291781" y="4155"/>
                </a:lnTo>
                <a:lnTo>
                  <a:pt x="1332149" y="1035"/>
                </a:lnTo>
                <a:lnTo>
                  <a:pt x="1372517" y="0"/>
                </a:lnTo>
                <a:lnTo>
                  <a:pt x="1412885" y="1179"/>
                </a:lnTo>
                <a:lnTo>
                  <a:pt x="1453253" y="4704"/>
                </a:lnTo>
                <a:lnTo>
                  <a:pt x="1493621" y="10703"/>
                </a:lnTo>
                <a:lnTo>
                  <a:pt x="1533990" y="19308"/>
                </a:lnTo>
                <a:lnTo>
                  <a:pt x="1574358" y="30649"/>
                </a:lnTo>
                <a:lnTo>
                  <a:pt x="1614726" y="44856"/>
                </a:lnTo>
                <a:lnTo>
                  <a:pt x="1655094" y="62058"/>
                </a:lnTo>
                <a:lnTo>
                  <a:pt x="1695462" y="82387"/>
                </a:lnTo>
                <a:lnTo>
                  <a:pt x="1735830" y="105971"/>
                </a:lnTo>
                <a:lnTo>
                  <a:pt x="1776199" y="132943"/>
                </a:lnTo>
                <a:lnTo>
                  <a:pt x="1816567" y="163431"/>
                </a:lnTo>
                <a:lnTo>
                  <a:pt x="1856935" y="197567"/>
                </a:lnTo>
                <a:lnTo>
                  <a:pt x="1897303" y="235479"/>
                </a:lnTo>
                <a:lnTo>
                  <a:pt x="1937671" y="277299"/>
                </a:lnTo>
                <a:lnTo>
                  <a:pt x="1978039" y="323156"/>
                </a:lnTo>
                <a:lnTo>
                  <a:pt x="2018408" y="373181"/>
                </a:lnTo>
                <a:lnTo>
                  <a:pt x="2058776" y="427505"/>
                </a:lnTo>
                <a:lnTo>
                  <a:pt x="2099144" y="486256"/>
                </a:lnTo>
                <a:lnTo>
                  <a:pt x="2139512" y="549565"/>
                </a:lnTo>
                <a:lnTo>
                  <a:pt x="2179880" y="617564"/>
                </a:lnTo>
                <a:lnTo>
                  <a:pt x="2220248" y="690380"/>
                </a:lnTo>
                <a:lnTo>
                  <a:pt x="2260616" y="768146"/>
                </a:lnTo>
                <a:lnTo>
                  <a:pt x="2300985" y="850991"/>
                </a:lnTo>
                <a:lnTo>
                  <a:pt x="2341353" y="939045"/>
                </a:lnTo>
                <a:lnTo>
                  <a:pt x="2381721" y="1032439"/>
                </a:lnTo>
                <a:lnTo>
                  <a:pt x="2422089" y="1131303"/>
                </a:lnTo>
                <a:lnTo>
                  <a:pt x="2462457" y="1235766"/>
                </a:lnTo>
                <a:lnTo>
                  <a:pt x="2502825" y="1345960"/>
                </a:lnTo>
                <a:lnTo>
                  <a:pt x="2543194" y="1462013"/>
                </a:lnTo>
                <a:lnTo>
                  <a:pt x="2583562" y="1584058"/>
                </a:lnTo>
                <a:lnTo>
                  <a:pt x="2623930" y="1712223"/>
                </a:lnTo>
                <a:lnTo>
                  <a:pt x="2664298" y="1846639"/>
                </a:lnTo>
                <a:lnTo>
                  <a:pt x="2704666" y="1987435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2-E15 ellipse 37" descr="sci-ppt:o037"/>
          <p:cNvSpPr/>
          <p:nvPr/>
        </p:nvSpPr>
        <p:spPr>
          <a:xfrm>
            <a:off x="2212848" y="2904866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C2-E15 polygon 38" descr="sci-ppt:o038"/>
          <p:cNvSpPr/>
          <p:nvPr/>
        </p:nvSpPr>
        <p:spPr>
          <a:xfrm>
            <a:off x="914400" y="3297204"/>
            <a:ext cx="1776199" cy="1662196"/>
          </a:xfrm>
          <a:custGeom>
            <a:avLst/>
            <a:gdLst/>
            <a:ahLst/>
            <a:cxnLst/>
            <a:rect l="l" t="t" r="r" b="b"/>
            <a:pathLst>
              <a:path w="1776199" h="1662196">
                <a:moveTo>
                  <a:pt x="0" y="106396"/>
                </a:moveTo>
                <a:lnTo>
                  <a:pt x="40368" y="105333"/>
                </a:lnTo>
                <a:lnTo>
                  <a:pt x="80736" y="102319"/>
                </a:lnTo>
                <a:lnTo>
                  <a:pt x="121104" y="97614"/>
                </a:lnTo>
                <a:lnTo>
                  <a:pt x="161472" y="91478"/>
                </a:lnTo>
                <a:lnTo>
                  <a:pt x="201840" y="84172"/>
                </a:lnTo>
                <a:lnTo>
                  <a:pt x="242208" y="75956"/>
                </a:lnTo>
                <a:lnTo>
                  <a:pt x="282577" y="67091"/>
                </a:lnTo>
                <a:lnTo>
                  <a:pt x="322945" y="57836"/>
                </a:lnTo>
                <a:lnTo>
                  <a:pt x="363313" y="48453"/>
                </a:lnTo>
                <a:lnTo>
                  <a:pt x="403681" y="39201"/>
                </a:lnTo>
                <a:lnTo>
                  <a:pt x="444049" y="30342"/>
                </a:lnTo>
                <a:lnTo>
                  <a:pt x="484417" y="22135"/>
                </a:lnTo>
                <a:lnTo>
                  <a:pt x="524786" y="14841"/>
                </a:lnTo>
                <a:lnTo>
                  <a:pt x="565154" y="8720"/>
                </a:lnTo>
                <a:lnTo>
                  <a:pt x="605522" y="4033"/>
                </a:lnTo>
                <a:lnTo>
                  <a:pt x="645890" y="1039"/>
                </a:lnTo>
                <a:lnTo>
                  <a:pt x="686258" y="0"/>
                </a:lnTo>
                <a:lnTo>
                  <a:pt x="726626" y="1176"/>
                </a:lnTo>
                <a:lnTo>
                  <a:pt x="766995" y="4827"/>
                </a:lnTo>
                <a:lnTo>
                  <a:pt x="807363" y="11214"/>
                </a:lnTo>
                <a:lnTo>
                  <a:pt x="847731" y="20597"/>
                </a:lnTo>
                <a:lnTo>
                  <a:pt x="888099" y="33236"/>
                </a:lnTo>
                <a:lnTo>
                  <a:pt x="928467" y="49392"/>
                </a:lnTo>
                <a:lnTo>
                  <a:pt x="968835" y="69325"/>
                </a:lnTo>
                <a:lnTo>
                  <a:pt x="1009204" y="93296"/>
                </a:lnTo>
                <a:lnTo>
                  <a:pt x="1049572" y="121564"/>
                </a:lnTo>
                <a:lnTo>
                  <a:pt x="1089940" y="154391"/>
                </a:lnTo>
                <a:lnTo>
                  <a:pt x="1130308" y="192037"/>
                </a:lnTo>
                <a:lnTo>
                  <a:pt x="1170676" y="234762"/>
                </a:lnTo>
                <a:lnTo>
                  <a:pt x="1211044" y="282826"/>
                </a:lnTo>
                <a:lnTo>
                  <a:pt x="1251412" y="336490"/>
                </a:lnTo>
                <a:lnTo>
                  <a:pt x="1291781" y="396015"/>
                </a:lnTo>
                <a:lnTo>
                  <a:pt x="1332149" y="461660"/>
                </a:lnTo>
                <a:lnTo>
                  <a:pt x="1372517" y="533686"/>
                </a:lnTo>
                <a:lnTo>
                  <a:pt x="1412885" y="612354"/>
                </a:lnTo>
                <a:lnTo>
                  <a:pt x="1453253" y="697924"/>
                </a:lnTo>
                <a:lnTo>
                  <a:pt x="1493621" y="790656"/>
                </a:lnTo>
                <a:lnTo>
                  <a:pt x="1533990" y="890810"/>
                </a:lnTo>
                <a:lnTo>
                  <a:pt x="1574358" y="998648"/>
                </a:lnTo>
                <a:lnTo>
                  <a:pt x="1614726" y="1114429"/>
                </a:lnTo>
                <a:lnTo>
                  <a:pt x="1655094" y="1238414"/>
                </a:lnTo>
                <a:lnTo>
                  <a:pt x="1695462" y="1370863"/>
                </a:lnTo>
                <a:lnTo>
                  <a:pt x="1735830" y="1512037"/>
                </a:lnTo>
                <a:lnTo>
                  <a:pt x="1776199" y="1662196"/>
                </a:lnTo>
              </a:path>
            </a:pathLst>
          </a:custGeom>
          <a:noFill/>
          <a:ln w="381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2-E15 ellipse 39" descr="sci-ppt:o039"/>
          <p:cNvSpPr/>
          <p:nvPr/>
        </p:nvSpPr>
        <p:spPr>
          <a:xfrm>
            <a:off x="1527048" y="3224052"/>
            <a:ext cx="146304" cy="146304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2-E15 rect 40" descr="sci-ppt:o040"/>
          <p:cNvSpPr/>
          <p:nvPr/>
        </p:nvSpPr>
        <p:spPr>
          <a:xfrm>
            <a:off x="4572000" y="1600200"/>
            <a:ext cx="274320" cy="182880"/>
          </a:xfrm>
          <a:prstGeom prst="rect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2-E15 text 41" descr="sci-ppt:o041"/>
          <p:cNvSpPr txBox="1"/>
          <p:nvPr/>
        </p:nvSpPr>
        <p:spPr>
          <a:xfrm>
            <a:off x="4956048" y="1554480"/>
            <a:ext cx="20116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Δp = 2 bar: r* = 0.100 µm</a:t>
            </a:r>
          </a:p>
        </p:txBody>
      </p:sp>
      <p:sp>
        <p:nvSpPr>
          <p:cNvPr id="44" name="C2-E15 rect 42" descr="sci-ppt:o042"/>
          <p:cNvSpPr/>
          <p:nvPr/>
        </p:nvSpPr>
        <p:spPr>
          <a:xfrm>
            <a:off x="4572000" y="1947672"/>
            <a:ext cx="274320" cy="182880"/>
          </a:xfrm>
          <a:prstGeom prst="rect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C2-E15 text 43" descr="sci-ppt:o043"/>
          <p:cNvSpPr txBox="1"/>
          <p:nvPr/>
        </p:nvSpPr>
        <p:spPr>
          <a:xfrm>
            <a:off x="4956048" y="1901952"/>
            <a:ext cx="20116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Δp = 4 bar: r* = 0.050 µm</a:t>
            </a:r>
          </a:p>
        </p:txBody>
      </p:sp>
      <p:sp>
        <p:nvSpPr>
          <p:cNvPr id="46" name="C2-E15 rect 44" descr="sci-ppt:o044"/>
          <p:cNvSpPr/>
          <p:nvPr/>
        </p:nvSpPr>
        <p:spPr>
          <a:xfrm>
            <a:off x="4572000" y="2295144"/>
            <a:ext cx="274320" cy="182880"/>
          </a:xfrm>
          <a:prstGeom prst="rect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C2-E15 text 45" descr="sci-ppt:o045"/>
          <p:cNvSpPr txBox="1"/>
          <p:nvPr/>
        </p:nvSpPr>
        <p:spPr>
          <a:xfrm>
            <a:off x="4956048" y="2249424"/>
            <a:ext cx="20116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8BA0"/>
                </a:solidFill>
                <a:latin typeface="Arial"/>
              </a:rPr>
              <a:t>Δp = 8 bar: r* = 0.025 µm</a:t>
            </a:r>
          </a:p>
        </p:txBody>
      </p:sp>
      <p:sp>
        <p:nvSpPr>
          <p:cNvPr id="48" name="C2-E15 round_rect 46" descr="sci-ppt:o046"/>
          <p:cNvSpPr/>
          <p:nvPr/>
        </p:nvSpPr>
        <p:spPr>
          <a:xfrm>
            <a:off x="7315200" y="1371600"/>
            <a:ext cx="452628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2-E15 text 47" descr="sci-ppt:o047"/>
          <p:cNvSpPr txBox="1"/>
          <p:nvPr/>
        </p:nvSpPr>
        <p:spPr>
          <a:xfrm>
            <a:off x="7424927" y="1426464"/>
            <a:ext cx="43068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Setting dW/drₙ = 0</a:t>
            </a:r>
          </a:p>
        </p:txBody>
      </p:sp>
      <p:sp>
        <p:nvSpPr>
          <p:cNvPr id="50" name="C2-E15 text 48" descr="sci-ppt:o048"/>
          <p:cNvSpPr txBox="1"/>
          <p:nvPr/>
        </p:nvSpPr>
        <p:spPr>
          <a:xfrm>
            <a:off x="7452360" y="1828800"/>
            <a:ext cx="42976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dW/drₙ = 4π rₙ (2σᵥₚ − Δpₙ rₙ)</a:t>
            </a:r>
          </a:p>
        </p:txBody>
      </p:sp>
      <p:sp>
        <p:nvSpPr>
          <p:cNvPr id="51" name="C2-E15 text 49" descr="sci-ppt:o049"/>
          <p:cNvSpPr txBox="1"/>
          <p:nvPr/>
        </p:nvSpPr>
        <p:spPr>
          <a:xfrm>
            <a:off x="7452360" y="2331720"/>
            <a:ext cx="42976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r* = 2σᵥₚ / Δpₙ   (Δpₙ &gt; 0)</a:t>
            </a:r>
          </a:p>
        </p:txBody>
      </p:sp>
      <p:sp>
        <p:nvSpPr>
          <p:cNvPr id="52" name="C2-E15 text 50" descr="sci-ppt:o050"/>
          <p:cNvSpPr txBox="1"/>
          <p:nvPr/>
        </p:nvSpPr>
        <p:spPr>
          <a:xfrm>
            <a:off x="7452360" y="2834640"/>
            <a:ext cx="42976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8BA0"/>
                </a:solidFill>
                <a:latin typeface="Arial"/>
              </a:rPr>
              <a:t>d²W/drₙ² at r* = −8πσᵥₚ &lt; 0</a:t>
            </a:r>
          </a:p>
        </p:txBody>
      </p:sp>
      <p:sp>
        <p:nvSpPr>
          <p:cNvPr id="53" name="C2-E15 text 51" descr="sci-ppt:o051"/>
          <p:cNvSpPr txBox="1"/>
          <p:nvPr/>
        </p:nvSpPr>
        <p:spPr>
          <a:xfrm>
            <a:off x="7452360" y="3429000"/>
            <a:ext cx="4297680" cy="603504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Negative curvature means a maximum, not a stable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nucleus: larger superheat only moves the peak to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smaller r.</a:t>
            </a:r>
          </a:p>
        </p:txBody>
      </p:sp>
      <p:sp>
        <p:nvSpPr>
          <p:cNvPr id="54" name="C2-E15 text 52" descr="sci-ppt:o052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Illustrative σᵥₚ = 0.010 N/m (assumed). Doubling Δpₙ halves r* and cuts the barrier by four.</a:t>
            </a:r>
          </a:p>
        </p:txBody>
      </p:sp>
      <p:sp>
        <p:nvSpPr>
          <p:cNvPr id="55" name="C2-E15 text 53" descr="sci-ppt:o053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Critical radius and branch check of Eq. C2-E15.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