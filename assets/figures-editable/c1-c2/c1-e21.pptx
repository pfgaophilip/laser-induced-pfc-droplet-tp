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21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C1-E21 · Exact fixed-position integrated incompressible momentum</a:t>
            </a:r>
          </a:p>
        </p:txBody>
      </p:sp>
      <p:sp>
        <p:nvSpPr>
          <p:cNvPr id="3" name="C1-E21 text 1" descr="sci-ppt:o001"/>
          <p:cNvSpPr txBox="1"/>
          <p:nvPr/>
        </p:nvSpPr>
        <p:spPr>
          <a:xfrm>
            <a:off x="457200" y="914400"/>
            <a:ext cx="713232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Size of each term in the integrated momentum equation (m/s, log scale)</a:t>
            </a:r>
          </a:p>
        </p:txBody>
      </p:sp>
      <p:cxnSp>
        <p:nvCxnSpPr>
          <p:cNvPr id="4" name="C1-E21 line 2" descr="sci-ppt:o002"/>
          <p:cNvCxnSpPr/>
          <p:nvPr/>
        </p:nvCxnSpPr>
        <p:spPr>
          <a:xfrm>
            <a:off x="3108960" y="1554480"/>
            <a:ext cx="0" cy="2423159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5" name="C1-E21 text 3" descr="sci-ppt:o003"/>
          <p:cNvSpPr txBox="1"/>
          <p:nvPr/>
        </p:nvSpPr>
        <p:spPr>
          <a:xfrm>
            <a:off x="2697479" y="4023360"/>
            <a:ext cx="82296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10⁻⁵</a:t>
            </a:r>
          </a:p>
        </p:txBody>
      </p:sp>
      <p:cxnSp>
        <p:nvCxnSpPr>
          <p:cNvPr id="6" name="C1-E21 line 4" descr="sci-ppt:o004"/>
          <p:cNvCxnSpPr/>
          <p:nvPr/>
        </p:nvCxnSpPr>
        <p:spPr>
          <a:xfrm>
            <a:off x="3870960" y="1554480"/>
            <a:ext cx="0" cy="2423159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7" name="C1-E21 text 5" descr="sci-ppt:o005"/>
          <p:cNvSpPr txBox="1"/>
          <p:nvPr/>
        </p:nvSpPr>
        <p:spPr>
          <a:xfrm>
            <a:off x="3459480" y="4023360"/>
            <a:ext cx="82296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10⁻⁴</a:t>
            </a:r>
          </a:p>
        </p:txBody>
      </p:sp>
      <p:cxnSp>
        <p:nvCxnSpPr>
          <p:cNvPr id="8" name="C1-E21 line 6" descr="sci-ppt:o006"/>
          <p:cNvCxnSpPr/>
          <p:nvPr/>
        </p:nvCxnSpPr>
        <p:spPr>
          <a:xfrm>
            <a:off x="4632960" y="1554480"/>
            <a:ext cx="0" cy="2423159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9" name="C1-E21 text 7" descr="sci-ppt:o007"/>
          <p:cNvSpPr txBox="1"/>
          <p:nvPr/>
        </p:nvSpPr>
        <p:spPr>
          <a:xfrm>
            <a:off x="4221480" y="4023360"/>
            <a:ext cx="82296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10⁻³</a:t>
            </a:r>
          </a:p>
        </p:txBody>
      </p:sp>
      <p:cxnSp>
        <p:nvCxnSpPr>
          <p:cNvPr id="10" name="C1-E21 line 8" descr="sci-ppt:o008"/>
          <p:cNvCxnSpPr/>
          <p:nvPr/>
        </p:nvCxnSpPr>
        <p:spPr>
          <a:xfrm>
            <a:off x="5394960" y="1554480"/>
            <a:ext cx="0" cy="2423159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11" name="C1-E21 text 9" descr="sci-ppt:o009"/>
          <p:cNvSpPr txBox="1"/>
          <p:nvPr/>
        </p:nvSpPr>
        <p:spPr>
          <a:xfrm>
            <a:off x="4983480" y="4023360"/>
            <a:ext cx="82296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10⁻²</a:t>
            </a:r>
          </a:p>
        </p:txBody>
      </p:sp>
      <p:cxnSp>
        <p:nvCxnSpPr>
          <p:cNvPr id="12" name="C1-E21 line 10" descr="sci-ppt:o010"/>
          <p:cNvCxnSpPr/>
          <p:nvPr/>
        </p:nvCxnSpPr>
        <p:spPr>
          <a:xfrm>
            <a:off x="6156959" y="1554480"/>
            <a:ext cx="0" cy="2423159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13" name="C1-E21 text 11" descr="sci-ppt:o011"/>
          <p:cNvSpPr txBox="1"/>
          <p:nvPr/>
        </p:nvSpPr>
        <p:spPr>
          <a:xfrm>
            <a:off x="5745479" y="4023360"/>
            <a:ext cx="82296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10⁻¹</a:t>
            </a:r>
          </a:p>
        </p:txBody>
      </p:sp>
      <p:cxnSp>
        <p:nvCxnSpPr>
          <p:cNvPr id="14" name="C1-E21 line 12" descr="sci-ppt:o012"/>
          <p:cNvCxnSpPr/>
          <p:nvPr/>
        </p:nvCxnSpPr>
        <p:spPr>
          <a:xfrm>
            <a:off x="6918960" y="1554480"/>
            <a:ext cx="0" cy="2423159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15" name="C1-E21 text 13" descr="sci-ppt:o013"/>
          <p:cNvSpPr txBox="1"/>
          <p:nvPr/>
        </p:nvSpPr>
        <p:spPr>
          <a:xfrm>
            <a:off x="6507480" y="4023360"/>
            <a:ext cx="82296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10⁰</a:t>
            </a:r>
          </a:p>
        </p:txBody>
      </p:sp>
      <p:cxnSp>
        <p:nvCxnSpPr>
          <p:cNvPr id="16" name="C1-E21 line 14" descr="sci-ppt:o014"/>
          <p:cNvCxnSpPr/>
          <p:nvPr/>
        </p:nvCxnSpPr>
        <p:spPr>
          <a:xfrm>
            <a:off x="7680960" y="1554480"/>
            <a:ext cx="0" cy="2423159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17" name="C1-E21 text 15" descr="sci-ppt:o015"/>
          <p:cNvSpPr txBox="1"/>
          <p:nvPr/>
        </p:nvSpPr>
        <p:spPr>
          <a:xfrm>
            <a:off x="7269480" y="4023360"/>
            <a:ext cx="82296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10¹</a:t>
            </a:r>
          </a:p>
        </p:txBody>
      </p:sp>
      <p:sp>
        <p:nvSpPr>
          <p:cNvPr id="18" name="C1-E21 text 16" descr="sci-ppt:o016"/>
          <p:cNvSpPr txBox="1"/>
          <p:nvPr/>
        </p:nvSpPr>
        <p:spPr>
          <a:xfrm>
            <a:off x="457200" y="1673352"/>
            <a:ext cx="256032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pressure-impulse term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Π / (ρL) = Δu</a:t>
            </a:r>
          </a:p>
        </p:txBody>
      </p:sp>
      <p:sp>
        <p:nvSpPr>
          <p:cNvPr id="19" name="C1-E21 rect 17" descr="sci-ppt:o017"/>
          <p:cNvSpPr/>
          <p:nvPr/>
        </p:nvSpPr>
        <p:spPr>
          <a:xfrm>
            <a:off x="3108960" y="1737360"/>
            <a:ext cx="4173566" cy="411480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1-E21 text 18" descr="sci-ppt:o018"/>
          <p:cNvSpPr txBox="1"/>
          <p:nvPr/>
        </p:nvSpPr>
        <p:spPr>
          <a:xfrm>
            <a:off x="7355678" y="1783080"/>
            <a:ext cx="2011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3 m/s</a:t>
            </a:r>
          </a:p>
        </p:txBody>
      </p:sp>
      <p:sp>
        <p:nvSpPr>
          <p:cNvPr id="21" name="C1-E21 text 19" descr="sci-ppt:o019"/>
          <p:cNvSpPr txBox="1"/>
          <p:nvPr/>
        </p:nvSpPr>
        <p:spPr>
          <a:xfrm>
            <a:off x="457200" y="2450592"/>
            <a:ext cx="256032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convective impulse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~ U²τ/L</a:t>
            </a:r>
          </a:p>
        </p:txBody>
      </p:sp>
      <p:sp>
        <p:nvSpPr>
          <p:cNvPr id="22" name="C1-E21 rect 20" descr="sci-ppt:o020"/>
          <p:cNvSpPr/>
          <p:nvPr/>
        </p:nvSpPr>
        <p:spPr>
          <a:xfrm>
            <a:off x="3108960" y="2514600"/>
            <a:ext cx="2783747" cy="411480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1-E21 text 21" descr="sci-ppt:o021"/>
          <p:cNvSpPr txBox="1"/>
          <p:nvPr/>
        </p:nvSpPr>
        <p:spPr>
          <a:xfrm>
            <a:off x="5965859" y="2560320"/>
            <a:ext cx="2011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0.045 m/s</a:t>
            </a:r>
          </a:p>
        </p:txBody>
      </p:sp>
      <p:sp>
        <p:nvSpPr>
          <p:cNvPr id="24" name="C1-E21 text 22" descr="sci-ppt:o022"/>
          <p:cNvSpPr txBox="1"/>
          <p:nvPr/>
        </p:nvSpPr>
        <p:spPr>
          <a:xfrm>
            <a:off x="457200" y="3227832"/>
            <a:ext cx="256032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viscous impulse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~ ν Δu τ/L²</a:t>
            </a:r>
          </a:p>
        </p:txBody>
      </p:sp>
      <p:sp>
        <p:nvSpPr>
          <p:cNvPr id="25" name="C1-E21 rect 23" descr="sci-ppt:o023"/>
          <p:cNvSpPr/>
          <p:nvPr/>
        </p:nvSpPr>
        <p:spPr>
          <a:xfrm>
            <a:off x="3108960" y="3291839"/>
            <a:ext cx="896181" cy="411480"/>
          </a:xfrm>
          <a:prstGeom prst="rect">
            <a:avLst/>
          </a:prstGeom>
          <a:solidFill>
            <a:srgbClr val="7FC8F8">
              <a:alpha val="85000"/>
            </a:srgbClr>
          </a:solidFill>
          <a:ln w="12700">
            <a:solidFill>
              <a:srgbClr val="7FC8F8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1-E21 text 24" descr="sci-ppt:o024"/>
          <p:cNvSpPr txBox="1"/>
          <p:nvPr/>
        </p:nvSpPr>
        <p:spPr>
          <a:xfrm>
            <a:off x="4078293" y="3337560"/>
            <a:ext cx="2011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0.00015 m/s</a:t>
            </a:r>
          </a:p>
        </p:txBody>
      </p:sp>
      <p:sp>
        <p:nvSpPr>
          <p:cNvPr id="27" name="C1-E21 round_rect 25" descr="sci-ppt:o025"/>
          <p:cNvSpPr/>
          <p:nvPr/>
        </p:nvSpPr>
        <p:spPr>
          <a:xfrm>
            <a:off x="8229600" y="1097280"/>
            <a:ext cx="3611880" cy="32918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1-E21 text 26" descr="sci-ppt:o026"/>
          <p:cNvSpPr txBox="1"/>
          <p:nvPr/>
        </p:nvSpPr>
        <p:spPr>
          <a:xfrm>
            <a:off x="8339327" y="1152144"/>
            <a:ext cx="339242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Why the short-event model works</a:t>
            </a:r>
          </a:p>
        </p:txBody>
      </p:sp>
      <p:sp>
        <p:nvSpPr>
          <p:cNvPr id="29" name="C1-E21 text 27" descr="sci-ppt:o027"/>
          <p:cNvSpPr txBox="1"/>
          <p:nvPr/>
        </p:nvSpPr>
        <p:spPr>
          <a:xfrm>
            <a:off x="8366760" y="1554480"/>
            <a:ext cx="33832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Δu = −∇Π/ρ − ∫(u·∇)u dt + ν∫∇²u dt</a:t>
            </a:r>
          </a:p>
        </p:txBody>
      </p:sp>
      <p:sp>
        <p:nvSpPr>
          <p:cNvPr id="30" name="C1-E21 text 28" descr="sci-ppt:o028"/>
          <p:cNvSpPr txBox="1"/>
          <p:nvPr/>
        </p:nvSpPr>
        <p:spPr>
          <a:xfrm>
            <a:off x="8567928" y="2286000"/>
            <a:ext cx="318211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Uτ/L = 0.015: convection moves the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fluid only 1.5 % of L.</a:t>
            </a:r>
          </a:p>
        </p:txBody>
      </p:sp>
      <p:sp>
        <p:nvSpPr>
          <p:cNvPr id="31" name="C1-E21 ellipse 29" descr="sci-ppt:o029"/>
          <p:cNvSpPr/>
          <p:nvPr/>
        </p:nvSpPr>
        <p:spPr>
          <a:xfrm>
            <a:off x="8398764" y="2339340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1-E21 text 30" descr="sci-ppt:o030"/>
          <p:cNvSpPr txBox="1"/>
          <p:nvPr/>
        </p:nvSpPr>
        <p:spPr>
          <a:xfrm>
            <a:off x="8567928" y="2749295"/>
            <a:ext cx="318211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ντ/L² = 5×10⁻⁵: viscosity has no time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to act.</a:t>
            </a:r>
          </a:p>
        </p:txBody>
      </p:sp>
      <p:sp>
        <p:nvSpPr>
          <p:cNvPr id="33" name="C1-E21 ellipse 31" descr="sci-ppt:o031"/>
          <p:cNvSpPr/>
          <p:nvPr/>
        </p:nvSpPr>
        <p:spPr>
          <a:xfrm>
            <a:off x="8398764" y="280263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C1-E21 text 32" descr="sci-ppt:o032"/>
          <p:cNvSpPr txBox="1"/>
          <p:nvPr/>
        </p:nvSpPr>
        <p:spPr>
          <a:xfrm>
            <a:off x="8567928" y="3212591"/>
            <a:ext cx="3182112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Dropping both leaves Δu ≃ −∇Π/ρ.</a:t>
            </a:r>
          </a:p>
        </p:txBody>
      </p:sp>
      <p:sp>
        <p:nvSpPr>
          <p:cNvPr id="35" name="C1-E21 ellipse 33" descr="sci-ppt:o033"/>
          <p:cNvSpPr/>
          <p:nvPr/>
        </p:nvSpPr>
        <p:spPr>
          <a:xfrm>
            <a:off x="8398764" y="3265931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1-E21 text 34" descr="sci-ppt:o034"/>
          <p:cNvSpPr txBox="1"/>
          <p:nvPr/>
        </p:nvSpPr>
        <p:spPr>
          <a:xfrm>
            <a:off x="457200" y="4434840"/>
            <a:ext cx="11338560" cy="46405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Bars start at 10⁻⁵ m/s. If either small ratio were near 1, the corresponding bar would be as long as the first and the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reduced model would fail.</a:t>
            </a:r>
          </a:p>
        </p:txBody>
      </p:sp>
      <p:sp>
        <p:nvSpPr>
          <p:cNvPr id="37" name="C1-E21 text 35" descr="sci-ppt:o035"/>
          <p:cNvSpPr txBox="1"/>
          <p:nvPr/>
        </p:nvSpPr>
        <p:spPr>
          <a:xfrm>
            <a:off x="457200" y="5349240"/>
            <a:ext cx="113385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Teaching case: Π₀ = 0.30 Pa·s, ρ = 1000 kg/m³, L = 100 µm, τ = 0.5 µs, ν = 10⁻⁶ m²/s.</a:t>
            </a:r>
          </a:p>
        </p:txBody>
      </p:sp>
      <p:sp>
        <p:nvSpPr>
          <p:cNvPr id="38" name="C1-E21 text 36" descr="sci-ppt:o036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Magnitudes from Eq. C1-E21 using the numbers of Eq. C1-E24.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