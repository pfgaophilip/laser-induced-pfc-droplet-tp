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1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C1-E21 | Physical-variable diagram</a:t>
            </a:r>
          </a:p>
        </p:txBody>
      </p:sp>
      <p:cxnSp>
        <p:nvCxnSpPr>
          <p:cNvPr id="3" name="arrow2" descr="sci-ppt:C1-E21-002"/>
          <p:cNvCxnSpPr/>
          <p:nvPr/>
        </p:nvCxnSpPr>
        <p:spPr>
          <a:xfrm>
            <a:off x="1950720" y="3962399"/>
            <a:ext cx="79248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" name="arrow3" descr="sci-ppt:C1-E21-003"/>
          <p:cNvCxnSpPr/>
          <p:nvPr/>
        </p:nvCxnSpPr>
        <p:spPr>
          <a:xfrm flipV="1">
            <a:off x="1950720" y="1402080"/>
            <a:ext cx="0" cy="2560319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21-004"/>
          <p:cNvSpPr txBox="1"/>
          <p:nvPr/>
        </p:nvSpPr>
        <p:spPr>
          <a:xfrm>
            <a:off x="8900160" y="4084320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6" name="text5" descr="sci-ppt:C1-E21-005"/>
          <p:cNvSpPr txBox="1"/>
          <p:nvPr/>
        </p:nvSpPr>
        <p:spPr>
          <a:xfrm>
            <a:off x="1828800" y="103632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 - p_ref</a:t>
            </a:r>
          </a:p>
        </p:txBody>
      </p:sp>
      <p:cxnSp>
        <p:nvCxnSpPr>
          <p:cNvPr id="7" name="line6" descr="sci-ppt:C1-E21-006"/>
          <p:cNvCxnSpPr/>
          <p:nvPr/>
        </p:nvCxnSpPr>
        <p:spPr>
          <a:xfrm>
            <a:off x="1950720" y="3962399"/>
            <a:ext cx="1158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line7" descr="sci-ppt:C1-E21-007"/>
          <p:cNvCxnSpPr/>
          <p:nvPr/>
        </p:nvCxnSpPr>
        <p:spPr>
          <a:xfrm flipV="1">
            <a:off x="3108960" y="1950720"/>
            <a:ext cx="0" cy="20116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line8" descr="sci-ppt:C1-E21-008"/>
          <p:cNvCxnSpPr/>
          <p:nvPr/>
        </p:nvCxnSpPr>
        <p:spPr>
          <a:xfrm>
            <a:off x="3108960" y="1950720"/>
            <a:ext cx="31089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line9" descr="sci-ppt:C1-E21-009"/>
          <p:cNvCxnSpPr/>
          <p:nvPr/>
        </p:nvCxnSpPr>
        <p:spPr>
          <a:xfrm>
            <a:off x="6217920" y="1950720"/>
            <a:ext cx="0" cy="20116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line10" descr="sci-ppt:C1-E21-010"/>
          <p:cNvCxnSpPr/>
          <p:nvPr/>
        </p:nvCxnSpPr>
        <p:spPr>
          <a:xfrm>
            <a:off x="6217920" y="3962399"/>
            <a:ext cx="365760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12" name="rect11" descr="sci-ppt:C1-E21-011"/>
          <p:cNvSpPr/>
          <p:nvPr/>
        </p:nvSpPr>
        <p:spPr>
          <a:xfrm>
            <a:off x="3121152" y="1975104"/>
            <a:ext cx="3072384" cy="1950720"/>
          </a:xfrm>
          <a:prstGeom prst="rect">
            <a:avLst/>
          </a:prstGeom>
          <a:solidFill>
            <a:srgbClr val="213E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12" descr="sci-ppt:C1-E21-012"/>
          <p:cNvSpPr txBox="1"/>
          <p:nvPr/>
        </p:nvSpPr>
        <p:spPr>
          <a:xfrm>
            <a:off x="3596640" y="2560320"/>
            <a:ext cx="390144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Area = Π(x)</a:t>
            </a:r>
          </a:p>
        </p:txBody>
      </p:sp>
      <p:sp>
        <p:nvSpPr>
          <p:cNvPr id="14" name="text13" descr="sci-ppt:C1-E21-013"/>
          <p:cNvSpPr txBox="1"/>
          <p:nvPr/>
        </p:nvSpPr>
        <p:spPr>
          <a:xfrm>
            <a:off x="2926080" y="4084320"/>
            <a:ext cx="9753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t0</a:t>
            </a:r>
          </a:p>
        </p:txBody>
      </p:sp>
      <p:sp>
        <p:nvSpPr>
          <p:cNvPr id="15" name="text14" descr="sci-ppt:C1-E21-014"/>
          <p:cNvSpPr txBox="1"/>
          <p:nvPr/>
        </p:nvSpPr>
        <p:spPr>
          <a:xfrm>
            <a:off x="6035040" y="4084320"/>
            <a:ext cx="9753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t1</a:t>
            </a:r>
          </a:p>
        </p:txBody>
      </p:sp>
      <p:sp>
        <p:nvSpPr>
          <p:cNvPr id="16" name="text15" descr="sci-ppt:C1-E21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Π(x)</a:t>
            </a:r>
          </a:p>
        </p:txBody>
      </p:sp>
      <p:sp>
        <p:nvSpPr>
          <p:cNvPr id="17" name="text16" descr="sci-ppt:C1-E21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x: position</a:t>
            </a:r>
          </a:p>
        </p:txBody>
      </p:sp>
      <p:sp>
        <p:nvSpPr>
          <p:cNvPr id="18" name="text17" descr="sci-ppt:C1-E21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t₁</a:t>
            </a:r>
          </a:p>
        </p:txBody>
      </p:sp>
      <p:sp>
        <p:nvSpPr>
          <p:cNvPr id="19" name="text18" descr="sci-ppt:C1-E21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Pa s</a:t>
            </a:r>
          </a:p>
        </p:txBody>
      </p:sp>
      <p:sp>
        <p:nvSpPr>
          <p:cNvPr id="20" name="text19" descr="sci-ppt:C1-E21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p(x,t) − pref(t)</a:t>
            </a:r>
          </a:p>
        </p:txBody>
      </p:sp>
      <p:sp>
        <p:nvSpPr>
          <p:cNvPr id="21" name="text20" descr="sci-ppt:C1-E21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t₀</a:t>
            </a:r>
          </a:p>
        </p:txBody>
      </p:sp>
      <p:sp>
        <p:nvSpPr>
          <p:cNvPr id="22" name="text21" descr="sci-ppt:C1-E21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 = t₁ − t₀</a:t>
            </a:r>
          </a:p>
        </p:txBody>
      </p:sp>
      <p:sp>
        <p:nvSpPr>
          <p:cNvPr id="23" name="text22" descr="sci-ppt:C1-E21-022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Shade the time integral of pressure at a selected 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