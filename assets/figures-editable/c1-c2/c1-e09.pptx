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C1-E09 · Exact kinetic-energy integral in the spherical model</a:t>
            </a:r>
          </a:p>
        </p:txBody>
      </p:sp>
      <p:cxnSp>
        <p:nvCxnSpPr>
          <p:cNvPr id="3" name="C1-E09 line 1" descr="sci-ppt:o001"/>
          <p:cNvCxnSpPr/>
          <p:nvPr/>
        </p:nvCxnSpPr>
        <p:spPr>
          <a:xfrm>
            <a:off x="868680" y="502920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09 line 2" descr="sci-ppt:o002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09 line 3" descr="sci-ppt:o003"/>
          <p:cNvCxnSpPr/>
          <p:nvPr/>
        </p:nvCxnSpPr>
        <p:spPr>
          <a:xfrm>
            <a:off x="8686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09 line 4" descr="sci-ppt:o004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09 text 5" descr="sci-ppt:o005"/>
          <p:cNvSpPr txBox="1"/>
          <p:nvPr/>
        </p:nvSpPr>
        <p:spPr>
          <a:xfrm>
            <a:off x="411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1-E09 line 6" descr="sci-ppt:o006"/>
          <p:cNvCxnSpPr/>
          <p:nvPr/>
        </p:nvCxnSpPr>
        <p:spPr>
          <a:xfrm>
            <a:off x="19659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09 line 7" descr="sci-ppt:o007"/>
          <p:cNvCxnSpPr/>
          <p:nvPr/>
        </p:nvCxnSpPr>
        <p:spPr>
          <a:xfrm>
            <a:off x="19659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09 text 8" descr="sci-ppt:o008"/>
          <p:cNvSpPr txBox="1"/>
          <p:nvPr/>
        </p:nvSpPr>
        <p:spPr>
          <a:xfrm>
            <a:off x="15087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1-E09 line 9" descr="sci-ppt:o009"/>
          <p:cNvCxnSpPr/>
          <p:nvPr/>
        </p:nvCxnSpPr>
        <p:spPr>
          <a:xfrm>
            <a:off x="30632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09 line 10" descr="sci-ppt:o010"/>
          <p:cNvCxnSpPr/>
          <p:nvPr/>
        </p:nvCxnSpPr>
        <p:spPr>
          <a:xfrm>
            <a:off x="30632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09 text 11" descr="sci-ppt:o011"/>
          <p:cNvSpPr txBox="1"/>
          <p:nvPr/>
        </p:nvSpPr>
        <p:spPr>
          <a:xfrm>
            <a:off x="26060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4" name="C1-E09 line 12" descr="sci-ppt:o012"/>
          <p:cNvCxnSpPr/>
          <p:nvPr/>
        </p:nvCxnSpPr>
        <p:spPr>
          <a:xfrm>
            <a:off x="4160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09 line 13" descr="sci-ppt:o013"/>
          <p:cNvCxnSpPr/>
          <p:nvPr/>
        </p:nvCxnSpPr>
        <p:spPr>
          <a:xfrm>
            <a:off x="4160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09 text 14" descr="sci-ppt:o014"/>
          <p:cNvSpPr txBox="1"/>
          <p:nvPr/>
        </p:nvSpPr>
        <p:spPr>
          <a:xfrm>
            <a:off x="3703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7" name="C1-E09 line 15" descr="sci-ppt:o015"/>
          <p:cNvCxnSpPr/>
          <p:nvPr/>
        </p:nvCxnSpPr>
        <p:spPr>
          <a:xfrm>
            <a:off x="5257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09 line 16" descr="sci-ppt:o016"/>
          <p:cNvCxnSpPr/>
          <p:nvPr/>
        </p:nvCxnSpPr>
        <p:spPr>
          <a:xfrm>
            <a:off x="5257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09 text 17" descr="sci-ppt:o017"/>
          <p:cNvSpPr txBox="1"/>
          <p:nvPr/>
        </p:nvSpPr>
        <p:spPr>
          <a:xfrm>
            <a:off x="4800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0" name="C1-E09 line 18" descr="sci-ppt:o018"/>
          <p:cNvCxnSpPr/>
          <p:nvPr/>
        </p:nvCxnSpPr>
        <p:spPr>
          <a:xfrm>
            <a:off x="63550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09 line 19" descr="sci-ppt:o019"/>
          <p:cNvCxnSpPr/>
          <p:nvPr/>
        </p:nvCxnSpPr>
        <p:spPr>
          <a:xfrm>
            <a:off x="63550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09 text 20" descr="sci-ppt:o020"/>
          <p:cNvSpPr txBox="1"/>
          <p:nvPr/>
        </p:nvSpPr>
        <p:spPr>
          <a:xfrm>
            <a:off x="58978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23" name="C1-E09 line 21" descr="sci-ppt:o021"/>
          <p:cNvCxnSpPr/>
          <p:nvPr/>
        </p:nvCxnSpPr>
        <p:spPr>
          <a:xfrm>
            <a:off x="804671" y="50292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09 line 22" descr="sci-ppt:o022"/>
          <p:cNvCxnSpPr/>
          <p:nvPr/>
        </p:nvCxnSpPr>
        <p:spPr>
          <a:xfrm>
            <a:off x="804671" y="415834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09 line 23" descr="sci-ppt:o023"/>
          <p:cNvCxnSpPr/>
          <p:nvPr/>
        </p:nvCxnSpPr>
        <p:spPr>
          <a:xfrm>
            <a:off x="868680" y="4158342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09 text 24" descr="sci-ppt:o024"/>
          <p:cNvSpPr txBox="1"/>
          <p:nvPr/>
        </p:nvSpPr>
        <p:spPr>
          <a:xfrm>
            <a:off x="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7" name="C1-E09 line 25" descr="sci-ppt:o025"/>
          <p:cNvCxnSpPr/>
          <p:nvPr/>
        </p:nvCxnSpPr>
        <p:spPr>
          <a:xfrm>
            <a:off x="804671" y="32874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09 line 26" descr="sci-ppt:o026"/>
          <p:cNvCxnSpPr/>
          <p:nvPr/>
        </p:nvCxnSpPr>
        <p:spPr>
          <a:xfrm>
            <a:off x="868680" y="3287485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09 text 27" descr="sci-ppt:o027"/>
          <p:cNvSpPr txBox="1"/>
          <p:nvPr/>
        </p:nvSpPr>
        <p:spPr>
          <a:xfrm>
            <a:off x="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30" name="C1-E09 line 28" descr="sci-ppt:o028"/>
          <p:cNvCxnSpPr/>
          <p:nvPr/>
        </p:nvCxnSpPr>
        <p:spPr>
          <a:xfrm>
            <a:off x="804671" y="241662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09 line 29" descr="sci-ppt:o029"/>
          <p:cNvCxnSpPr/>
          <p:nvPr/>
        </p:nvCxnSpPr>
        <p:spPr>
          <a:xfrm>
            <a:off x="868680" y="2416628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09 text 30" descr="sci-ppt:o030"/>
          <p:cNvSpPr txBox="1"/>
          <p:nvPr/>
        </p:nvSpPr>
        <p:spPr>
          <a:xfrm>
            <a:off x="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3" name="C1-E09 line 31" descr="sci-ppt:o031"/>
          <p:cNvCxnSpPr/>
          <p:nvPr/>
        </p:nvCxnSpPr>
        <p:spPr>
          <a:xfrm>
            <a:off x="804671" y="1545771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09 line 32" descr="sci-ppt:o032"/>
          <p:cNvCxnSpPr/>
          <p:nvPr/>
        </p:nvCxnSpPr>
        <p:spPr>
          <a:xfrm>
            <a:off x="868680" y="1545771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1-E09 text 33" descr="sci-ppt:o033"/>
          <p:cNvSpPr txBox="1"/>
          <p:nvPr/>
        </p:nvSpPr>
        <p:spPr>
          <a:xfrm>
            <a:off x="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6" name="C1-E09 text 34" descr="sci-ppt:o034"/>
          <p:cNvSpPr txBox="1"/>
          <p:nvPr/>
        </p:nvSpPr>
        <p:spPr>
          <a:xfrm>
            <a:off x="868680" y="5312664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37" name="C1-E09 text 35" descr="sci-ppt:o035"/>
          <p:cNvSpPr txBox="1"/>
          <p:nvPr/>
        </p:nvSpPr>
        <p:spPr>
          <a:xfrm>
            <a:off x="32004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K(&lt;r) / K(∞)</a:t>
            </a:r>
          </a:p>
        </p:txBody>
      </p:sp>
      <p:sp>
        <p:nvSpPr>
          <p:cNvPr id="38" name="C1-E09 polygon 36" descr="sci-ppt:o036"/>
          <p:cNvSpPr/>
          <p:nvPr/>
        </p:nvSpPr>
        <p:spPr>
          <a:xfrm>
            <a:off x="868680" y="2126342"/>
            <a:ext cx="5486400" cy="2902858"/>
          </a:xfrm>
          <a:custGeom>
            <a:avLst/>
            <a:gdLst/>
            <a:ahLst/>
            <a:cxnLst/>
            <a:rect l="l" t="t" r="r" b="b"/>
            <a:pathLst>
              <a:path w="5486400" h="2902858">
                <a:moveTo>
                  <a:pt x="0" y="2902858"/>
                </a:moveTo>
                <a:lnTo>
                  <a:pt x="27569" y="2817479"/>
                </a:lnTo>
                <a:lnTo>
                  <a:pt x="55139" y="2736186"/>
                </a:lnTo>
                <a:lnTo>
                  <a:pt x="82709" y="2658692"/>
                </a:lnTo>
                <a:lnTo>
                  <a:pt x="110279" y="2584736"/>
                </a:lnTo>
                <a:lnTo>
                  <a:pt x="137849" y="2514082"/>
                </a:lnTo>
                <a:lnTo>
                  <a:pt x="165419" y="2446513"/>
                </a:lnTo>
                <a:lnTo>
                  <a:pt x="192988" y="2381832"/>
                </a:lnTo>
                <a:lnTo>
                  <a:pt x="220558" y="2319857"/>
                </a:lnTo>
                <a:lnTo>
                  <a:pt x="248128" y="2260422"/>
                </a:lnTo>
                <a:lnTo>
                  <a:pt x="275698" y="2203374"/>
                </a:lnTo>
                <a:lnTo>
                  <a:pt x="303268" y="2148572"/>
                </a:lnTo>
                <a:lnTo>
                  <a:pt x="330838" y="2095886"/>
                </a:lnTo>
                <a:lnTo>
                  <a:pt x="358408" y="2045195"/>
                </a:lnTo>
                <a:lnTo>
                  <a:pt x="385977" y="1996389"/>
                </a:lnTo>
                <a:lnTo>
                  <a:pt x="413547" y="1949364"/>
                </a:lnTo>
                <a:lnTo>
                  <a:pt x="441117" y="1904025"/>
                </a:lnTo>
                <a:lnTo>
                  <a:pt x="468687" y="1860282"/>
                </a:lnTo>
                <a:lnTo>
                  <a:pt x="496257" y="1818053"/>
                </a:lnTo>
                <a:lnTo>
                  <a:pt x="523827" y="1777260"/>
                </a:lnTo>
                <a:lnTo>
                  <a:pt x="551396" y="1737831"/>
                </a:lnTo>
                <a:lnTo>
                  <a:pt x="578966" y="1699700"/>
                </a:lnTo>
                <a:lnTo>
                  <a:pt x="606536" y="1662802"/>
                </a:lnTo>
                <a:lnTo>
                  <a:pt x="634106" y="1627080"/>
                </a:lnTo>
                <a:lnTo>
                  <a:pt x="661676" y="1592477"/>
                </a:lnTo>
                <a:lnTo>
                  <a:pt x="689246" y="1558942"/>
                </a:lnTo>
                <a:lnTo>
                  <a:pt x="716816" y="1526427"/>
                </a:lnTo>
                <a:lnTo>
                  <a:pt x="744385" y="1494885"/>
                </a:lnTo>
                <a:lnTo>
                  <a:pt x="771955" y="1464273"/>
                </a:lnTo>
                <a:lnTo>
                  <a:pt x="799525" y="1434552"/>
                </a:lnTo>
                <a:lnTo>
                  <a:pt x="827095" y="1405682"/>
                </a:lnTo>
                <a:lnTo>
                  <a:pt x="854665" y="1377627"/>
                </a:lnTo>
                <a:lnTo>
                  <a:pt x="882235" y="1350355"/>
                </a:lnTo>
                <a:lnTo>
                  <a:pt x="909805" y="1323831"/>
                </a:lnTo>
                <a:lnTo>
                  <a:pt x="937374" y="1298026"/>
                </a:lnTo>
                <a:lnTo>
                  <a:pt x="964944" y="1272911"/>
                </a:lnTo>
                <a:lnTo>
                  <a:pt x="992514" y="1248459"/>
                </a:lnTo>
                <a:lnTo>
                  <a:pt x="1020084" y="1224643"/>
                </a:lnTo>
                <a:lnTo>
                  <a:pt x="1047654" y="1201440"/>
                </a:lnTo>
                <a:lnTo>
                  <a:pt x="1075224" y="1178826"/>
                </a:lnTo>
                <a:lnTo>
                  <a:pt x="1102793" y="1156778"/>
                </a:lnTo>
                <a:lnTo>
                  <a:pt x="1130363" y="1135276"/>
                </a:lnTo>
                <a:lnTo>
                  <a:pt x="1157933" y="1114300"/>
                </a:lnTo>
                <a:lnTo>
                  <a:pt x="1185503" y="1093831"/>
                </a:lnTo>
                <a:lnTo>
                  <a:pt x="1213073" y="1073850"/>
                </a:lnTo>
                <a:lnTo>
                  <a:pt x="1240643" y="1054340"/>
                </a:lnTo>
                <a:lnTo>
                  <a:pt x="1268213" y="1035285"/>
                </a:lnTo>
                <a:lnTo>
                  <a:pt x="1295782" y="1016669"/>
                </a:lnTo>
                <a:lnTo>
                  <a:pt x="1323352" y="998477"/>
                </a:lnTo>
                <a:lnTo>
                  <a:pt x="1350922" y="980695"/>
                </a:lnTo>
                <a:lnTo>
                  <a:pt x="1378492" y="963309"/>
                </a:lnTo>
                <a:lnTo>
                  <a:pt x="1406062" y="946306"/>
                </a:lnTo>
                <a:lnTo>
                  <a:pt x="1433632" y="929674"/>
                </a:lnTo>
                <a:lnTo>
                  <a:pt x="1461202" y="913399"/>
                </a:lnTo>
                <a:lnTo>
                  <a:pt x="1488771" y="897472"/>
                </a:lnTo>
                <a:lnTo>
                  <a:pt x="1516341" y="881881"/>
                </a:lnTo>
                <a:lnTo>
                  <a:pt x="1543911" y="866615"/>
                </a:lnTo>
                <a:lnTo>
                  <a:pt x="1571481" y="851665"/>
                </a:lnTo>
                <a:lnTo>
                  <a:pt x="1599051" y="837021"/>
                </a:lnTo>
                <a:lnTo>
                  <a:pt x="1626621" y="822672"/>
                </a:lnTo>
                <a:lnTo>
                  <a:pt x="1654190" y="808612"/>
                </a:lnTo>
                <a:lnTo>
                  <a:pt x="1681760" y="794830"/>
                </a:lnTo>
                <a:lnTo>
                  <a:pt x="1709330" y="781319"/>
                </a:lnTo>
                <a:lnTo>
                  <a:pt x="1736900" y="768072"/>
                </a:lnTo>
                <a:lnTo>
                  <a:pt x="1764470" y="755079"/>
                </a:lnTo>
                <a:lnTo>
                  <a:pt x="1792040" y="742334"/>
                </a:lnTo>
                <a:lnTo>
                  <a:pt x="1819610" y="729830"/>
                </a:lnTo>
                <a:lnTo>
                  <a:pt x="1847179" y="717561"/>
                </a:lnTo>
                <a:lnTo>
                  <a:pt x="1874749" y="705519"/>
                </a:lnTo>
                <a:lnTo>
                  <a:pt x="1902319" y="693698"/>
                </a:lnTo>
                <a:lnTo>
                  <a:pt x="1929889" y="682092"/>
                </a:lnTo>
                <a:lnTo>
                  <a:pt x="1957459" y="670697"/>
                </a:lnTo>
                <a:lnTo>
                  <a:pt x="1985029" y="659505"/>
                </a:lnTo>
                <a:lnTo>
                  <a:pt x="2012598" y="648511"/>
                </a:lnTo>
                <a:lnTo>
                  <a:pt x="2040168" y="637711"/>
                </a:lnTo>
                <a:lnTo>
                  <a:pt x="2067738" y="627098"/>
                </a:lnTo>
                <a:lnTo>
                  <a:pt x="2095308" y="616669"/>
                </a:lnTo>
                <a:lnTo>
                  <a:pt x="2122878" y="606419"/>
                </a:lnTo>
                <a:lnTo>
                  <a:pt x="2150448" y="596343"/>
                </a:lnTo>
                <a:lnTo>
                  <a:pt x="2178018" y="586436"/>
                </a:lnTo>
                <a:lnTo>
                  <a:pt x="2205587" y="576695"/>
                </a:lnTo>
                <a:lnTo>
                  <a:pt x="2233157" y="567115"/>
                </a:lnTo>
                <a:lnTo>
                  <a:pt x="2260727" y="557692"/>
                </a:lnTo>
                <a:lnTo>
                  <a:pt x="2288297" y="548423"/>
                </a:lnTo>
                <a:lnTo>
                  <a:pt x="2315867" y="539303"/>
                </a:lnTo>
                <a:lnTo>
                  <a:pt x="2343437" y="530330"/>
                </a:lnTo>
                <a:lnTo>
                  <a:pt x="2371007" y="521499"/>
                </a:lnTo>
                <a:lnTo>
                  <a:pt x="2398576" y="512808"/>
                </a:lnTo>
                <a:lnTo>
                  <a:pt x="2426146" y="504253"/>
                </a:lnTo>
                <a:lnTo>
                  <a:pt x="2453716" y="495830"/>
                </a:lnTo>
                <a:lnTo>
                  <a:pt x="2481286" y="487537"/>
                </a:lnTo>
                <a:lnTo>
                  <a:pt x="2508856" y="479371"/>
                </a:lnTo>
                <a:lnTo>
                  <a:pt x="2536426" y="471329"/>
                </a:lnTo>
                <a:lnTo>
                  <a:pt x="2563995" y="463408"/>
                </a:lnTo>
                <a:lnTo>
                  <a:pt x="2591565" y="455606"/>
                </a:lnTo>
                <a:lnTo>
                  <a:pt x="2619135" y="447919"/>
                </a:lnTo>
                <a:lnTo>
                  <a:pt x="2646705" y="440345"/>
                </a:lnTo>
                <a:lnTo>
                  <a:pt x="2674275" y="432883"/>
                </a:lnTo>
                <a:lnTo>
                  <a:pt x="2701845" y="425528"/>
                </a:lnTo>
                <a:lnTo>
                  <a:pt x="2729415" y="418279"/>
                </a:lnTo>
                <a:lnTo>
                  <a:pt x="2756984" y="411135"/>
                </a:lnTo>
                <a:lnTo>
                  <a:pt x="2784554" y="404091"/>
                </a:lnTo>
                <a:lnTo>
                  <a:pt x="2812124" y="397147"/>
                </a:lnTo>
                <a:lnTo>
                  <a:pt x="2839694" y="390300"/>
                </a:lnTo>
                <a:lnTo>
                  <a:pt x="2867264" y="383549"/>
                </a:lnTo>
                <a:lnTo>
                  <a:pt x="2894834" y="376891"/>
                </a:lnTo>
                <a:lnTo>
                  <a:pt x="2922404" y="370324"/>
                </a:lnTo>
                <a:lnTo>
                  <a:pt x="2949973" y="363846"/>
                </a:lnTo>
                <a:lnTo>
                  <a:pt x="2977543" y="357456"/>
                </a:lnTo>
                <a:lnTo>
                  <a:pt x="3005113" y="351152"/>
                </a:lnTo>
                <a:lnTo>
                  <a:pt x="3032683" y="344933"/>
                </a:lnTo>
                <a:lnTo>
                  <a:pt x="3060253" y="338795"/>
                </a:lnTo>
                <a:lnTo>
                  <a:pt x="3087823" y="332739"/>
                </a:lnTo>
                <a:lnTo>
                  <a:pt x="3115392" y="326762"/>
                </a:lnTo>
                <a:lnTo>
                  <a:pt x="3142962" y="320862"/>
                </a:lnTo>
                <a:lnTo>
                  <a:pt x="3170532" y="315039"/>
                </a:lnTo>
                <a:lnTo>
                  <a:pt x="3198102" y="309291"/>
                </a:lnTo>
                <a:lnTo>
                  <a:pt x="3225672" y="303616"/>
                </a:lnTo>
                <a:lnTo>
                  <a:pt x="3253242" y="298012"/>
                </a:lnTo>
                <a:lnTo>
                  <a:pt x="3280812" y="292480"/>
                </a:lnTo>
                <a:lnTo>
                  <a:pt x="3308381" y="287016"/>
                </a:lnTo>
                <a:lnTo>
                  <a:pt x="3335951" y="281621"/>
                </a:lnTo>
                <a:lnTo>
                  <a:pt x="3363521" y="276292"/>
                </a:lnTo>
                <a:lnTo>
                  <a:pt x="3391091" y="271029"/>
                </a:lnTo>
                <a:lnTo>
                  <a:pt x="3418661" y="265830"/>
                </a:lnTo>
                <a:lnTo>
                  <a:pt x="3446231" y="260694"/>
                </a:lnTo>
                <a:lnTo>
                  <a:pt x="3473801" y="255620"/>
                </a:lnTo>
                <a:lnTo>
                  <a:pt x="3501370" y="250607"/>
                </a:lnTo>
                <a:lnTo>
                  <a:pt x="3528940" y="245653"/>
                </a:lnTo>
                <a:lnTo>
                  <a:pt x="3556510" y="240759"/>
                </a:lnTo>
                <a:lnTo>
                  <a:pt x="3584080" y="235922"/>
                </a:lnTo>
                <a:lnTo>
                  <a:pt x="3611650" y="231141"/>
                </a:lnTo>
                <a:lnTo>
                  <a:pt x="3639220" y="226416"/>
                </a:lnTo>
                <a:lnTo>
                  <a:pt x="3666789" y="221746"/>
                </a:lnTo>
                <a:lnTo>
                  <a:pt x="3694359" y="217130"/>
                </a:lnTo>
                <a:lnTo>
                  <a:pt x="3721929" y="212567"/>
                </a:lnTo>
                <a:lnTo>
                  <a:pt x="3749499" y="208055"/>
                </a:lnTo>
                <a:lnTo>
                  <a:pt x="3777069" y="203594"/>
                </a:lnTo>
                <a:lnTo>
                  <a:pt x="3804639" y="199184"/>
                </a:lnTo>
                <a:lnTo>
                  <a:pt x="3832209" y="194823"/>
                </a:lnTo>
                <a:lnTo>
                  <a:pt x="3859778" y="190510"/>
                </a:lnTo>
                <a:lnTo>
                  <a:pt x="3887348" y="186246"/>
                </a:lnTo>
                <a:lnTo>
                  <a:pt x="3914918" y="182028"/>
                </a:lnTo>
                <a:lnTo>
                  <a:pt x="3942488" y="177856"/>
                </a:lnTo>
                <a:lnTo>
                  <a:pt x="3970058" y="173730"/>
                </a:lnTo>
                <a:lnTo>
                  <a:pt x="3997628" y="169648"/>
                </a:lnTo>
                <a:lnTo>
                  <a:pt x="4025197" y="165610"/>
                </a:lnTo>
                <a:lnTo>
                  <a:pt x="4052767" y="161616"/>
                </a:lnTo>
                <a:lnTo>
                  <a:pt x="4080337" y="157664"/>
                </a:lnTo>
                <a:lnTo>
                  <a:pt x="4107907" y="153753"/>
                </a:lnTo>
                <a:lnTo>
                  <a:pt x="4135477" y="149884"/>
                </a:lnTo>
                <a:lnTo>
                  <a:pt x="4163047" y="146056"/>
                </a:lnTo>
                <a:lnTo>
                  <a:pt x="4190617" y="142268"/>
                </a:lnTo>
                <a:lnTo>
                  <a:pt x="4218186" y="138518"/>
                </a:lnTo>
                <a:lnTo>
                  <a:pt x="4245756" y="134808"/>
                </a:lnTo>
                <a:lnTo>
                  <a:pt x="4273326" y="131136"/>
                </a:lnTo>
                <a:lnTo>
                  <a:pt x="4300896" y="127501"/>
                </a:lnTo>
                <a:lnTo>
                  <a:pt x="4328466" y="123903"/>
                </a:lnTo>
                <a:lnTo>
                  <a:pt x="4356036" y="120341"/>
                </a:lnTo>
                <a:lnTo>
                  <a:pt x="4383606" y="116816"/>
                </a:lnTo>
                <a:lnTo>
                  <a:pt x="4411175" y="113325"/>
                </a:lnTo>
                <a:lnTo>
                  <a:pt x="4438745" y="109869"/>
                </a:lnTo>
                <a:lnTo>
                  <a:pt x="4466315" y="106448"/>
                </a:lnTo>
                <a:lnTo>
                  <a:pt x="4493885" y="103060"/>
                </a:lnTo>
                <a:lnTo>
                  <a:pt x="4521455" y="99706"/>
                </a:lnTo>
                <a:lnTo>
                  <a:pt x="4549025" y="96384"/>
                </a:lnTo>
                <a:lnTo>
                  <a:pt x="4576594" y="93095"/>
                </a:lnTo>
                <a:lnTo>
                  <a:pt x="4604164" y="89837"/>
                </a:lnTo>
                <a:lnTo>
                  <a:pt x="4631734" y="86611"/>
                </a:lnTo>
                <a:lnTo>
                  <a:pt x="4659304" y="83416"/>
                </a:lnTo>
                <a:lnTo>
                  <a:pt x="4686874" y="80251"/>
                </a:lnTo>
                <a:lnTo>
                  <a:pt x="4714444" y="77116"/>
                </a:lnTo>
                <a:lnTo>
                  <a:pt x="4742014" y="74011"/>
                </a:lnTo>
                <a:lnTo>
                  <a:pt x="4769583" y="70935"/>
                </a:lnTo>
                <a:lnTo>
                  <a:pt x="4797153" y="67888"/>
                </a:lnTo>
                <a:lnTo>
                  <a:pt x="4824723" y="64869"/>
                </a:lnTo>
                <a:lnTo>
                  <a:pt x="4852293" y="61878"/>
                </a:lnTo>
                <a:lnTo>
                  <a:pt x="4879863" y="58914"/>
                </a:lnTo>
                <a:lnTo>
                  <a:pt x="4907433" y="55978"/>
                </a:lnTo>
                <a:lnTo>
                  <a:pt x="4935003" y="53069"/>
                </a:lnTo>
                <a:lnTo>
                  <a:pt x="4962572" y="50186"/>
                </a:lnTo>
                <a:lnTo>
                  <a:pt x="4990142" y="47330"/>
                </a:lnTo>
                <a:lnTo>
                  <a:pt x="5017712" y="44499"/>
                </a:lnTo>
                <a:lnTo>
                  <a:pt x="5045282" y="41693"/>
                </a:lnTo>
                <a:lnTo>
                  <a:pt x="5072852" y="38913"/>
                </a:lnTo>
                <a:lnTo>
                  <a:pt x="5100422" y="36157"/>
                </a:lnTo>
                <a:lnTo>
                  <a:pt x="5127991" y="33426"/>
                </a:lnTo>
                <a:lnTo>
                  <a:pt x="5155561" y="30718"/>
                </a:lnTo>
                <a:lnTo>
                  <a:pt x="5183131" y="28035"/>
                </a:lnTo>
                <a:lnTo>
                  <a:pt x="5210701" y="25375"/>
                </a:lnTo>
                <a:lnTo>
                  <a:pt x="5238271" y="22738"/>
                </a:lnTo>
                <a:lnTo>
                  <a:pt x="5265841" y="20124"/>
                </a:lnTo>
                <a:lnTo>
                  <a:pt x="5293411" y="17533"/>
                </a:lnTo>
                <a:lnTo>
                  <a:pt x="5320980" y="14964"/>
                </a:lnTo>
                <a:lnTo>
                  <a:pt x="5348550" y="12416"/>
                </a:lnTo>
                <a:lnTo>
                  <a:pt x="5376120" y="9891"/>
                </a:lnTo>
                <a:lnTo>
                  <a:pt x="5403690" y="7387"/>
                </a:lnTo>
                <a:lnTo>
                  <a:pt x="5431260" y="4904"/>
                </a:lnTo>
                <a:lnTo>
                  <a:pt x="5458830" y="2442"/>
                </a:lnTo>
                <a:lnTo>
                  <a:pt x="54864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1-E09 line 37" descr="sci-ppt:o037"/>
          <p:cNvCxnSpPr/>
          <p:nvPr/>
        </p:nvCxnSpPr>
        <p:spPr>
          <a:xfrm>
            <a:off x="868680" y="1545771"/>
            <a:ext cx="548640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40" name="C1-E09 ellipse 38" descr="sci-ppt:o038"/>
          <p:cNvSpPr/>
          <p:nvPr/>
        </p:nvSpPr>
        <p:spPr>
          <a:xfrm>
            <a:off x="1892808" y="3214333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09 text 39" descr="sci-ppt:o039"/>
          <p:cNvSpPr txBox="1"/>
          <p:nvPr/>
        </p:nvSpPr>
        <p:spPr>
          <a:xfrm>
            <a:off x="2093976" y="3324061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50 % inside r = 2R</a:t>
            </a:r>
          </a:p>
        </p:txBody>
      </p:sp>
      <p:sp>
        <p:nvSpPr>
          <p:cNvPr id="42" name="C1-E09 ellipse 40" descr="sci-ppt:o040"/>
          <p:cNvSpPr/>
          <p:nvPr/>
        </p:nvSpPr>
        <p:spPr>
          <a:xfrm>
            <a:off x="4087368" y="234347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09 text 41" descr="sci-ppt:o041"/>
          <p:cNvSpPr txBox="1"/>
          <p:nvPr/>
        </p:nvSpPr>
        <p:spPr>
          <a:xfrm>
            <a:off x="4288536" y="2453204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75 % inside r = 4R</a:t>
            </a:r>
          </a:p>
        </p:txBody>
      </p:sp>
      <p:sp>
        <p:nvSpPr>
          <p:cNvPr id="44" name="C1-E09 text 42" descr="sci-ppt:o042"/>
          <p:cNvSpPr txBox="1"/>
          <p:nvPr/>
        </p:nvSpPr>
        <p:spPr>
          <a:xfrm>
            <a:off x="2697480" y="1582347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K(∞) = 2πρR³Ṙ² is finite</a:t>
            </a:r>
          </a:p>
        </p:txBody>
      </p:sp>
      <p:sp>
        <p:nvSpPr>
          <p:cNvPr id="45" name="C1-E09 round_rect 43" descr="sci-ppt:o043"/>
          <p:cNvSpPr/>
          <p:nvPr/>
        </p:nvSpPr>
        <p:spPr>
          <a:xfrm>
            <a:off x="6675120" y="1325880"/>
            <a:ext cx="5166360" cy="42976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09 text 44" descr="sci-ppt:o044"/>
          <p:cNvSpPr txBox="1"/>
          <p:nvPr/>
        </p:nvSpPr>
        <p:spPr>
          <a:xfrm>
            <a:off x="6784848" y="1380744"/>
            <a:ext cx="4946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 lives in thin shells</a:t>
            </a:r>
          </a:p>
        </p:txBody>
      </p:sp>
      <p:sp>
        <p:nvSpPr>
          <p:cNvPr id="47" name="C1-E09 text 45" descr="sci-ppt:o045"/>
          <p:cNvSpPr txBox="1"/>
          <p:nvPr/>
        </p:nvSpPr>
        <p:spPr>
          <a:xfrm>
            <a:off x="6812280" y="1783080"/>
            <a:ext cx="49377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dK = ½ρu² · 4πr² dr  ∝  r⁻² dr</a:t>
            </a:r>
          </a:p>
        </p:txBody>
      </p:sp>
      <p:sp>
        <p:nvSpPr>
          <p:cNvPr id="48" name="C1-E09 ellipse 46" descr="sci-ppt:o046"/>
          <p:cNvSpPr/>
          <p:nvPr/>
        </p:nvSpPr>
        <p:spPr>
          <a:xfrm>
            <a:off x="7918704" y="2112263"/>
            <a:ext cx="2633472" cy="2633472"/>
          </a:xfrm>
          <a:prstGeom prst="ellipse">
            <a:avLst/>
          </a:prstGeom>
          <a:solidFill>
            <a:srgbClr val="1E4A5A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09 ellipse 47" descr="sci-ppt:o047"/>
          <p:cNvSpPr/>
          <p:nvPr/>
        </p:nvSpPr>
        <p:spPr>
          <a:xfrm>
            <a:off x="8206740" y="2400300"/>
            <a:ext cx="2057400" cy="2057400"/>
          </a:xfrm>
          <a:prstGeom prst="ellipse">
            <a:avLst/>
          </a:prstGeom>
          <a:solidFill>
            <a:srgbClr val="2B6678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09 ellipse 48" descr="sci-ppt:o048"/>
          <p:cNvSpPr/>
          <p:nvPr/>
        </p:nvSpPr>
        <p:spPr>
          <a:xfrm>
            <a:off x="8453628" y="2647188"/>
            <a:ext cx="1563624" cy="1563624"/>
          </a:xfrm>
          <a:prstGeom prst="ellipse">
            <a:avLst/>
          </a:prstGeom>
          <a:solidFill>
            <a:srgbClr val="1E4A5A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09 ellipse 49" descr="sci-ppt:o049"/>
          <p:cNvSpPr/>
          <p:nvPr/>
        </p:nvSpPr>
        <p:spPr>
          <a:xfrm>
            <a:off x="8638794" y="2832354"/>
            <a:ext cx="1193292" cy="1193292"/>
          </a:xfrm>
          <a:prstGeom prst="ellipse">
            <a:avLst/>
          </a:prstGeom>
          <a:solidFill>
            <a:srgbClr val="2B6678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09 ellipse 50" descr="sci-ppt:o050"/>
          <p:cNvSpPr/>
          <p:nvPr/>
        </p:nvSpPr>
        <p:spPr>
          <a:xfrm>
            <a:off x="8762238" y="2955798"/>
            <a:ext cx="946403" cy="946403"/>
          </a:xfrm>
          <a:prstGeom prst="ellipse">
            <a:avLst/>
          </a:prstGeom>
          <a:solidFill>
            <a:srgbClr val="1E4A5A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09 ellipse 51" descr="sci-ppt:o051"/>
          <p:cNvSpPr/>
          <p:nvPr/>
        </p:nvSpPr>
        <p:spPr>
          <a:xfrm>
            <a:off x="8823960" y="3017520"/>
            <a:ext cx="822960" cy="8229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1-E09 text 52" descr="sci-ppt:o052"/>
          <p:cNvSpPr txBox="1"/>
          <p:nvPr/>
        </p:nvSpPr>
        <p:spPr>
          <a:xfrm>
            <a:off x="6812280" y="4846320"/>
            <a:ext cx="49377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u² ∝ r⁻⁴ but shell volume ∝ r²: the integrand falls as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r⁻², so even an infinite liquid holds finite energy.</a:t>
            </a:r>
          </a:p>
        </p:txBody>
      </p:sp>
      <p:sp>
        <p:nvSpPr>
          <p:cNvPr id="55" name="C1-E09 text 53" descr="sci-ppt:o053"/>
          <p:cNvSpPr txBox="1"/>
          <p:nvPr/>
        </p:nvSpPr>
        <p:spPr>
          <a:xfrm>
            <a:off x="868680" y="5733288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Kₗ = ∫ ½ρu² 4πr² dr = 2πρR⁴Ṙ² ∫ r⁻² dr = 2πρR³Ṙ²</a:t>
            </a:r>
          </a:p>
        </p:txBody>
      </p:sp>
      <p:sp>
        <p:nvSpPr>
          <p:cNvPr id="56" name="C1-E09 text 54" descr="sci-ppt:o054"/>
          <p:cNvSpPr txBox="1"/>
          <p:nvPr/>
        </p:nvSpPr>
        <p:spPr>
          <a:xfrm>
            <a:off x="868680" y="6126480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Half of it is within one extra bubble radius of the wall.</a:t>
            </a:r>
          </a:p>
        </p:txBody>
      </p:sp>
      <p:sp>
        <p:nvSpPr>
          <p:cNvPr id="57" name="C1-E09 text 55" descr="sci-ppt:o05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Cumulative fraction K(&lt;r)/K = 1 − R/r from Eq. C1-E09.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