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1-E09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C1-E09 | Physical-variable diagram</a:t>
            </a:r>
          </a:p>
        </p:txBody>
      </p:sp>
      <p:sp>
        <p:nvSpPr>
          <p:cNvPr id="3" name="ellipse2" descr="sci-ppt:C1-E09-002"/>
          <p:cNvSpPr/>
          <p:nvPr/>
        </p:nvSpPr>
        <p:spPr>
          <a:xfrm>
            <a:off x="2438400" y="1645920"/>
            <a:ext cx="1950720" cy="1950720"/>
          </a:xfrm>
          <a:prstGeom prst="ellipse">
            <a:avLst/>
          </a:prstGeom>
          <a:solidFill>
            <a:srgbClr val="213E4B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3" descr="sci-ppt:C1-E09-003"/>
          <p:cNvSpPr/>
          <p:nvPr/>
        </p:nvSpPr>
        <p:spPr>
          <a:xfrm>
            <a:off x="1706880" y="914400"/>
            <a:ext cx="3413760" cy="3413760"/>
          </a:xfrm>
          <a:prstGeom prst="ellipse">
            <a:avLst/>
          </a:prstGeom>
          <a:noFill/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ellipse4" descr="sci-ppt:C1-E09-004"/>
          <p:cNvSpPr/>
          <p:nvPr/>
        </p:nvSpPr>
        <p:spPr>
          <a:xfrm>
            <a:off x="1524000" y="731520"/>
            <a:ext cx="3779520" cy="3779520"/>
          </a:xfrm>
          <a:prstGeom prst="ellipse">
            <a:avLst/>
          </a:prstGeom>
          <a:noFill/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5" descr="sci-ppt:C1-E09-005"/>
          <p:cNvSpPr txBox="1"/>
          <p:nvPr/>
        </p:nvSpPr>
        <p:spPr>
          <a:xfrm>
            <a:off x="2438400" y="2560320"/>
            <a:ext cx="2438400" cy="415747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11" b="0" i="0">
                <a:solidFill>
                  <a:srgbClr val="E7F0F3"/>
                </a:solidFill>
                <a:latin typeface="Arial"/>
              </a:rPr>
              <a:t>Cavity</a:t>
            </a:r>
          </a:p>
        </p:txBody>
      </p:sp>
      <p:cxnSp>
        <p:nvCxnSpPr>
          <p:cNvPr id="7" name="arrow6" descr="sci-ppt:C1-E09-006"/>
          <p:cNvCxnSpPr/>
          <p:nvPr/>
        </p:nvCxnSpPr>
        <p:spPr>
          <a:xfrm>
            <a:off x="3413760" y="2621280"/>
            <a:ext cx="17678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7" descr="sci-ppt:C1-E09-007"/>
          <p:cNvSpPr txBox="1"/>
          <p:nvPr/>
        </p:nvSpPr>
        <p:spPr>
          <a:xfrm>
            <a:off x="5486400" y="1950720"/>
            <a:ext cx="609600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Exterior liquid shells: 4π r² dr</a:t>
            </a:r>
          </a:p>
        </p:txBody>
      </p:sp>
      <p:sp>
        <p:nvSpPr>
          <p:cNvPr id="9" name="text8" descr="sci-ppt:C1-E09-008"/>
          <p:cNvSpPr txBox="1"/>
          <p:nvPr/>
        </p:nvSpPr>
        <p:spPr>
          <a:xfrm>
            <a:off x="5486400" y="2621280"/>
            <a:ext cx="585216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Integrate r from R to infinity</a:t>
            </a:r>
          </a:p>
        </p:txBody>
      </p:sp>
      <p:sp>
        <p:nvSpPr>
          <p:cNvPr id="10" name="text9" descr="sci-ppt:C1-E09-009"/>
          <p:cNvSpPr txBox="1"/>
          <p:nvPr/>
        </p:nvSpPr>
        <p:spPr>
          <a:xfrm>
            <a:off x="5486400" y="3352800"/>
            <a:ext cx="560832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Storage K_l</a:t>
            </a:r>
          </a:p>
        </p:txBody>
      </p:sp>
      <p:sp>
        <p:nvSpPr>
          <p:cNvPr id="11" name="text10" descr="sci-ppt:C1-E09-010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Kl</a:t>
            </a:r>
          </a:p>
        </p:txBody>
      </p:sp>
      <p:sp>
        <p:nvSpPr>
          <p:cNvPr id="12" name="text11" descr="sci-ppt:C1-E09-011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u(r,t)</a:t>
            </a:r>
          </a:p>
        </p:txBody>
      </p:sp>
      <p:sp>
        <p:nvSpPr>
          <p:cNvPr id="13" name="text12" descr="sci-ppt:C1-E09-012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Ṙ</a:t>
            </a:r>
          </a:p>
        </p:txBody>
      </p:sp>
      <p:sp>
        <p:nvSpPr>
          <p:cNvPr id="14" name="text13" descr="sci-ppt:C1-E09-013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4πr²dr</a:t>
            </a:r>
          </a:p>
        </p:txBody>
      </p:sp>
      <p:sp>
        <p:nvSpPr>
          <p:cNvPr id="15" name="text14" descr="sci-ppt:C1-E09-014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ρ</a:t>
            </a:r>
          </a:p>
        </p:txBody>
      </p:sp>
      <p:sp>
        <p:nvSpPr>
          <p:cNvPr id="16" name="text15" descr="sci-ppt:C1-E09-015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sp>
        <p:nvSpPr>
          <p:cNvPr id="17" name="text16" descr="sci-ppt:C1-E09-016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r: exterior shells</a:t>
            </a:r>
          </a:p>
        </p:txBody>
      </p:sp>
      <p:sp>
        <p:nvSpPr>
          <p:cNvPr id="18" name="text17" descr="sci-ppt:C1-E09-017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</a:t>
            </a:r>
          </a:p>
        </p:txBody>
      </p:sp>
      <p:sp>
        <p:nvSpPr>
          <p:cNvPr id="19" name="text18" descr="sci-ppt:C1-E09-018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Integrate liquid shells outside the cavity</a:t>
            </a:r>
          </a:p>
        </p:txBody>
      </p:sp>
      <p:sp>
        <p:nvSpPr>
          <p:cNvPr id="20" name="text19" descr="sci-ppt:C1-E09-019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The radial field decays enough for finite kinetic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