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36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C2-E36 | Physical-variable diagram</a:t>
            </a:r>
          </a:p>
        </p:txBody>
      </p:sp>
      <p:sp>
        <p:nvSpPr>
          <p:cNvPr id="3" name="rect2" descr="sci-ppt:C2-E36-002"/>
          <p:cNvSpPr/>
          <p:nvPr/>
        </p:nvSpPr>
        <p:spPr>
          <a:xfrm>
            <a:off x="975360" y="1463040"/>
            <a:ext cx="4267200" cy="26822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3" descr="sci-ppt:C2-E36-003"/>
          <p:cNvSpPr/>
          <p:nvPr/>
        </p:nvSpPr>
        <p:spPr>
          <a:xfrm>
            <a:off x="5242560" y="1463040"/>
            <a:ext cx="5242560" cy="2682240"/>
          </a:xfrm>
          <a:prstGeom prst="rect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4" descr="sci-ppt:C2-E36-004"/>
          <p:cNvSpPr txBox="1"/>
          <p:nvPr/>
        </p:nvSpPr>
        <p:spPr>
          <a:xfrm>
            <a:off x="2194560" y="1767840"/>
            <a:ext cx="2438400" cy="43464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8" b="0" i="0">
                <a:solidFill>
                  <a:srgbClr val="E7F0F3"/>
                </a:solidFill>
                <a:latin typeface="Arial"/>
              </a:rPr>
              <a:t>Vapor</a:t>
            </a:r>
          </a:p>
        </p:txBody>
      </p:sp>
      <p:sp>
        <p:nvSpPr>
          <p:cNvPr id="6" name="text5" descr="sci-ppt:C2-E36-005"/>
          <p:cNvSpPr txBox="1"/>
          <p:nvPr/>
        </p:nvSpPr>
        <p:spPr>
          <a:xfrm>
            <a:off x="7315200" y="1767840"/>
            <a:ext cx="2438400" cy="43464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8" b="0" i="0">
                <a:solidFill>
                  <a:srgbClr val="E7F0F3"/>
                </a:solidFill>
                <a:latin typeface="Arial"/>
              </a:rPr>
              <a:t>Liquid</a:t>
            </a:r>
          </a:p>
        </p:txBody>
      </p:sp>
      <p:cxnSp>
        <p:nvCxnSpPr>
          <p:cNvPr id="7" name="arrow6" descr="sci-ppt:C2-E36-006"/>
          <p:cNvCxnSpPr/>
          <p:nvPr/>
        </p:nvCxnSpPr>
        <p:spPr>
          <a:xfrm flipH="1">
            <a:off x="3657600" y="2804160"/>
            <a:ext cx="3779520" cy="0"/>
          </a:xfrm>
          <a:prstGeom prst="line">
            <a:avLst/>
          </a:prstGeom>
          <a:ln w="25400">
            <a:solidFill>
              <a:srgbClr val="F6BC77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7" descr="sci-ppt:C2-E36-007"/>
          <p:cNvSpPr txBox="1"/>
          <p:nvPr/>
        </p:nvSpPr>
        <p:spPr>
          <a:xfrm>
            <a:off x="5852160" y="3108960"/>
            <a:ext cx="414528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F6BC77"/>
                </a:solidFill>
                <a:latin typeface="Arial"/>
              </a:rPr>
              <a:t>n: liquid → vapor</a:t>
            </a:r>
          </a:p>
        </p:txBody>
      </p:sp>
      <p:cxnSp>
        <p:nvCxnSpPr>
          <p:cNvPr id="9" name="arrow8" descr="sci-ppt:C2-E36-008"/>
          <p:cNvCxnSpPr/>
          <p:nvPr/>
        </p:nvCxnSpPr>
        <p:spPr>
          <a:xfrm>
            <a:off x="5242560" y="3779520"/>
            <a:ext cx="1402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2-E36-009"/>
          <p:cNvSpPr txBox="1"/>
          <p:nvPr/>
        </p:nvSpPr>
        <p:spPr>
          <a:xfrm>
            <a:off x="5486400" y="4206240"/>
            <a:ext cx="4267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+e_r, wall motion</a:t>
            </a:r>
          </a:p>
        </p:txBody>
      </p:sp>
      <p:sp>
        <p:nvSpPr>
          <p:cNvPr id="11" name="text10" descr="sci-ppt:C2-E36-010"/>
          <p:cNvSpPr txBox="1"/>
          <p:nvPr/>
        </p:nvSpPr>
        <p:spPr>
          <a:xfrm>
            <a:off x="1219200" y="1036320"/>
            <a:ext cx="365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Interface Gamma</a:t>
            </a:r>
          </a:p>
        </p:txBody>
      </p:sp>
      <p:sp>
        <p:nvSpPr>
          <p:cNvPr id="12" name="text11" descr="sci-ppt:C2-E36-011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j_s, L_v,s: phase conversion</a:t>
            </a:r>
          </a:p>
        </p:txBody>
      </p:sp>
      <p:sp>
        <p:nvSpPr>
          <p:cNvPr id="13" name="text12" descr="sci-ppt:C2-E36-012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U_b, Q̇_b: bubble thermal ledger</a:t>
            </a:r>
          </a:p>
        </p:txBody>
      </p:sp>
      <p:sp>
        <p:nvSpPr>
          <p:cNvPr id="14" name="text13" descr="sci-ppt:C2-E36-013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h_v,s, ṁ_v,s: transported enthalpy</a:t>
            </a:r>
          </a:p>
        </p:txBody>
      </p:sp>
      <p:sp>
        <p:nvSpPr>
          <p:cNvPr id="15" name="text14" descr="sci-ppt:C2-E36-014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ρ_l: adjacent liquid density</a:t>
            </a:r>
          </a:p>
        </p:txBody>
      </p:sp>
      <p:sp>
        <p:nvSpPr>
          <p:cNvPr id="16" name="text15" descr="sci-ppt:C2-E36-015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q_l, q_v, n: heat jump signs</a:t>
            </a:r>
          </a:p>
        </p:txBody>
      </p:sp>
      <p:sp>
        <p:nvSpPr>
          <p:cNvPr id="17" name="text16" descr="sci-ppt:C2-E36-016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p_b V̇_b: pressure work</a:t>
            </a:r>
          </a:p>
        </p:txBody>
      </p:sp>
      <p:sp>
        <p:nvSpPr>
          <p:cNvPr id="18" name="text17" descr="sci-ppt:C2-E36-017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R, Ṙ, u_l(R): moving interface</a:t>
            </a:r>
          </a:p>
        </p:txBody>
      </p:sp>
      <p:sp>
        <p:nvSpPr>
          <p:cNvPr id="19" name="text18" descr="sci-ppt:C2-E36-018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s: species index</a:t>
            </a:r>
          </a:p>
        </p:txBody>
      </p:sp>
      <p:sp>
        <p:nvSpPr>
          <p:cNvPr id="20" name="text19" descr="sci-ppt:C2-E36-019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Latent conversion is already included consistently in phase and enthalpy balances</a:t>
            </a:r>
          </a:p>
        </p:txBody>
      </p:sp>
      <p:sp>
        <p:nvSpPr>
          <p:cNvPr id="21" name="text20" descr="sci-ppt:C2-E36-020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Evaporation and condensation have opposite signs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