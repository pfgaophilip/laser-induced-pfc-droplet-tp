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3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C2-E36 · Original phase-energy and velocity-slip formulas</a:t>
            </a:r>
          </a:p>
        </p:txBody>
      </p:sp>
      <p:sp>
        <p:nvSpPr>
          <p:cNvPr id="3" name="C2-E36 round_rect 1" descr="sci-ppt:o001"/>
          <p:cNvSpPr/>
          <p:nvPr/>
        </p:nvSpPr>
        <p:spPr>
          <a:xfrm>
            <a:off x="457200" y="1005840"/>
            <a:ext cx="3657600" cy="4480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2-E36 text 2" descr="sci-ppt:o002"/>
          <p:cNvSpPr txBox="1"/>
          <p:nvPr/>
        </p:nvSpPr>
        <p:spPr>
          <a:xfrm>
            <a:off x="566928" y="1060704"/>
            <a:ext cx="3438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Interface energy jump</a:t>
            </a:r>
          </a:p>
        </p:txBody>
      </p:sp>
      <p:sp>
        <p:nvSpPr>
          <p:cNvPr id="5" name="C2-E36 rect 3" descr="sci-ppt:o003"/>
          <p:cNvSpPr/>
          <p:nvPr/>
        </p:nvSpPr>
        <p:spPr>
          <a:xfrm>
            <a:off x="731520" y="1828800"/>
            <a:ext cx="1463040" cy="2194560"/>
          </a:xfrm>
          <a:prstGeom prst="rect">
            <a:avLst/>
          </a:prstGeom>
          <a:solidFill>
            <a:srgbClr val="1E4A5A"/>
          </a:solidFill>
          <a:ln w="1270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2-E36 rect 4" descr="sci-ppt:o004"/>
          <p:cNvSpPr/>
          <p:nvPr/>
        </p:nvSpPr>
        <p:spPr>
          <a:xfrm>
            <a:off x="2194560" y="1828800"/>
            <a:ext cx="1645920" cy="2194560"/>
          </a:xfrm>
          <a:prstGeom prst="rect">
            <a:avLst/>
          </a:prstGeom>
          <a:solidFill>
            <a:srgbClr val="0C1820"/>
          </a:solidFill>
          <a:ln w="1270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2-E36 line 5" descr="sci-ppt:o005"/>
          <p:cNvCxnSpPr/>
          <p:nvPr/>
        </p:nvCxnSpPr>
        <p:spPr>
          <a:xfrm>
            <a:off x="2194560" y="1737360"/>
            <a:ext cx="0" cy="237744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cxnSp>
        <p:nvCxnSpPr>
          <p:cNvPr id="8" name="C2-E36 arrow 6" descr="sci-ppt:o006"/>
          <p:cNvCxnSpPr/>
          <p:nvPr/>
        </p:nvCxnSpPr>
        <p:spPr>
          <a:xfrm>
            <a:off x="914400" y="2926080"/>
            <a:ext cx="1234440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2-E36 arrow 7" descr="sci-ppt:o007"/>
          <p:cNvCxnSpPr/>
          <p:nvPr/>
        </p:nvCxnSpPr>
        <p:spPr>
          <a:xfrm>
            <a:off x="2286000" y="2926080"/>
            <a:ext cx="9144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2-E36 text 8" descr="sci-ppt:o008"/>
          <p:cNvSpPr txBox="1"/>
          <p:nvPr/>
        </p:nvSpPr>
        <p:spPr>
          <a:xfrm>
            <a:off x="640080" y="1417320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EDBD4"/>
                </a:solidFill>
                <a:latin typeface="Arial"/>
              </a:rPr>
              <a:t>liquid</a:t>
            </a:r>
          </a:p>
        </p:txBody>
      </p:sp>
      <p:sp>
        <p:nvSpPr>
          <p:cNvPr id="11" name="C2-E36 text 9" descr="sci-ppt:o009"/>
          <p:cNvSpPr txBox="1"/>
          <p:nvPr/>
        </p:nvSpPr>
        <p:spPr>
          <a:xfrm>
            <a:off x="2377440" y="1417320"/>
            <a:ext cx="13716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4C7D2"/>
                </a:solidFill>
                <a:latin typeface="Arial"/>
              </a:rPr>
              <a:t>vapor</a:t>
            </a:r>
          </a:p>
        </p:txBody>
      </p:sp>
      <p:sp>
        <p:nvSpPr>
          <p:cNvPr id="12" name="C2-E36 text 10" descr="sci-ppt:o010"/>
          <p:cNvSpPr txBox="1"/>
          <p:nvPr/>
        </p:nvSpPr>
        <p:spPr>
          <a:xfrm>
            <a:off x="594360" y="4206240"/>
            <a:ext cx="33832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jₛ Lᵥ,s = (qₗ − qᵥ)·n</a:t>
            </a:r>
          </a:p>
        </p:txBody>
      </p:sp>
      <p:sp>
        <p:nvSpPr>
          <p:cNvPr id="13" name="C2-E36 text 11" descr="sci-ppt:o011"/>
          <p:cNvSpPr txBox="1"/>
          <p:nvPr/>
        </p:nvSpPr>
        <p:spPr>
          <a:xfrm>
            <a:off x="594360" y="475488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unbalanced heat becomes latent heat</a:t>
            </a:r>
          </a:p>
        </p:txBody>
      </p:sp>
      <p:sp>
        <p:nvSpPr>
          <p:cNvPr id="14" name="C2-E36 round_rect 12" descr="sci-ppt:o012"/>
          <p:cNvSpPr/>
          <p:nvPr/>
        </p:nvSpPr>
        <p:spPr>
          <a:xfrm>
            <a:off x="4297680" y="1005840"/>
            <a:ext cx="3657600" cy="4480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2-E36 text 13" descr="sci-ppt:o013"/>
          <p:cNvSpPr txBox="1"/>
          <p:nvPr/>
        </p:nvSpPr>
        <p:spPr>
          <a:xfrm>
            <a:off x="4407408" y="1060704"/>
            <a:ext cx="3438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Bubble ledger</a:t>
            </a:r>
          </a:p>
        </p:txBody>
      </p:sp>
      <p:sp>
        <p:nvSpPr>
          <p:cNvPr id="16" name="C2-E36 ellipse 14" descr="sci-ppt:o014"/>
          <p:cNvSpPr/>
          <p:nvPr/>
        </p:nvSpPr>
        <p:spPr>
          <a:xfrm>
            <a:off x="5349240" y="2148840"/>
            <a:ext cx="1554480" cy="1554480"/>
          </a:xfrm>
          <a:prstGeom prst="ellipse">
            <a:avLst/>
          </a:prstGeom>
          <a:solidFill>
            <a:srgbClr val="0C1820"/>
          </a:solidFill>
          <a:ln w="304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2-E36 text 15" descr="sci-ppt:o015"/>
          <p:cNvSpPr txBox="1"/>
          <p:nvPr/>
        </p:nvSpPr>
        <p:spPr>
          <a:xfrm>
            <a:off x="5486400" y="2788920"/>
            <a:ext cx="12801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U_b</a:t>
            </a:r>
          </a:p>
        </p:txBody>
      </p:sp>
      <p:cxnSp>
        <p:nvCxnSpPr>
          <p:cNvPr id="18" name="C2-E36 arrow 16" descr="sci-ppt:o016"/>
          <p:cNvCxnSpPr/>
          <p:nvPr/>
        </p:nvCxnSpPr>
        <p:spPr>
          <a:xfrm>
            <a:off x="4526280" y="2926080"/>
            <a:ext cx="777240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9" name="C2-E36 arrow 17" descr="sci-ppt:o017"/>
          <p:cNvCxnSpPr/>
          <p:nvPr/>
        </p:nvCxnSpPr>
        <p:spPr>
          <a:xfrm flipV="1">
            <a:off x="6949440" y="1920240"/>
            <a:ext cx="640080" cy="45720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0" name="C2-E36 arrow 18" descr="sci-ppt:o018"/>
          <p:cNvCxnSpPr/>
          <p:nvPr/>
        </p:nvCxnSpPr>
        <p:spPr>
          <a:xfrm>
            <a:off x="6126480" y="1645920"/>
            <a:ext cx="0" cy="45720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21" name="C2-E36 text 19" descr="sci-ppt:o019"/>
          <p:cNvSpPr txBox="1"/>
          <p:nvPr/>
        </p:nvSpPr>
        <p:spPr>
          <a:xfrm>
            <a:off x="4434840" y="4206240"/>
            <a:ext cx="33832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U̇_b = Q̇_b − p_b V̇_b + Σ hᵥ,s ṁᵥ,s</a:t>
            </a:r>
          </a:p>
        </p:txBody>
      </p:sp>
      <p:sp>
        <p:nvSpPr>
          <p:cNvPr id="22" name="C2-E36 text 20" descr="sci-ppt:o020"/>
          <p:cNvSpPr txBox="1"/>
          <p:nvPr/>
        </p:nvSpPr>
        <p:spPr>
          <a:xfrm>
            <a:off x="4434840" y="484632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heat, work and carried enthalpy</a:t>
            </a:r>
          </a:p>
        </p:txBody>
      </p:sp>
      <p:sp>
        <p:nvSpPr>
          <p:cNvPr id="23" name="C2-E36 round_rect 21" descr="sci-ppt:o021"/>
          <p:cNvSpPr/>
          <p:nvPr/>
        </p:nvSpPr>
        <p:spPr>
          <a:xfrm>
            <a:off x="8138160" y="1005840"/>
            <a:ext cx="3657600" cy="4480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2-E36 text 22" descr="sci-ppt:o022"/>
          <p:cNvSpPr txBox="1"/>
          <p:nvPr/>
        </p:nvSpPr>
        <p:spPr>
          <a:xfrm>
            <a:off x="8247888" y="1060704"/>
            <a:ext cx="3438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Velocity slip</a:t>
            </a:r>
          </a:p>
        </p:txBody>
      </p:sp>
      <p:cxnSp>
        <p:nvCxnSpPr>
          <p:cNvPr id="25" name="C2-E36 line 23" descr="sci-ppt:o023"/>
          <p:cNvCxnSpPr/>
          <p:nvPr/>
        </p:nvCxnSpPr>
        <p:spPr>
          <a:xfrm flipV="1">
            <a:off x="8412480" y="1737360"/>
            <a:ext cx="0" cy="1920240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cxnSp>
        <p:nvCxnSpPr>
          <p:cNvPr id="26" name="C2-E36 arrow 24" descr="sci-ppt:o024"/>
          <p:cNvCxnSpPr/>
          <p:nvPr/>
        </p:nvCxnSpPr>
        <p:spPr>
          <a:xfrm>
            <a:off x="8503920" y="2468880"/>
            <a:ext cx="2103120" cy="0"/>
          </a:xfrm>
          <a:prstGeom prst="line">
            <a:avLst/>
          </a:prstGeom>
          <a:ln w="4445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7" name="C2-E36 arrow 25" descr="sci-ppt:o025"/>
          <p:cNvCxnSpPr/>
          <p:nvPr/>
        </p:nvCxnSpPr>
        <p:spPr>
          <a:xfrm>
            <a:off x="8503920" y="3108960"/>
            <a:ext cx="1645920" cy="0"/>
          </a:xfrm>
          <a:prstGeom prst="line">
            <a:avLst/>
          </a:prstGeom>
          <a:ln w="444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28" name="C2-E36 text 26" descr="sci-ppt:o026"/>
          <p:cNvSpPr txBox="1"/>
          <p:nvPr/>
        </p:nvSpPr>
        <p:spPr>
          <a:xfrm>
            <a:off x="8549640" y="2011680"/>
            <a:ext cx="30175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wall: Ṙ</a:t>
            </a:r>
          </a:p>
        </p:txBody>
      </p:sp>
      <p:sp>
        <p:nvSpPr>
          <p:cNvPr id="29" name="C2-E36 text 27" descr="sci-ppt:o027"/>
          <p:cNvSpPr txBox="1"/>
          <p:nvPr/>
        </p:nvSpPr>
        <p:spPr>
          <a:xfrm>
            <a:off x="8549640" y="3154680"/>
            <a:ext cx="30175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EDBD4"/>
                </a:solidFill>
                <a:latin typeface="Arial"/>
              </a:rPr>
              <a:t>liquid: uₗ(R)</a:t>
            </a:r>
          </a:p>
        </p:txBody>
      </p:sp>
      <p:sp>
        <p:nvSpPr>
          <p:cNvPr id="30" name="C2-E36 text 28" descr="sci-ppt:o028"/>
          <p:cNvSpPr txBox="1"/>
          <p:nvPr/>
        </p:nvSpPr>
        <p:spPr>
          <a:xfrm>
            <a:off x="8275320" y="4206240"/>
            <a:ext cx="33832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uₗ(R) = Ṙ − jₛ / ρₗ</a:t>
            </a:r>
          </a:p>
        </p:txBody>
      </p:sp>
      <p:sp>
        <p:nvSpPr>
          <p:cNvPr id="31" name="C2-E36 text 29" descr="sci-ppt:o029"/>
          <p:cNvSpPr txBox="1"/>
          <p:nvPr/>
        </p:nvSpPr>
        <p:spPr>
          <a:xfrm>
            <a:off x="8275320" y="475488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evaporation separates them</a:t>
            </a:r>
          </a:p>
        </p:txBody>
      </p:sp>
      <p:sp>
        <p:nvSpPr>
          <p:cNvPr id="32" name="C2-E36 text 30" descr="sci-ppt:o030"/>
          <p:cNvSpPr txBox="1"/>
          <p:nvPr/>
        </p:nvSpPr>
        <p:spPr>
          <a:xfrm>
            <a:off x="457200" y="5669280"/>
            <a:ext cx="11247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Conserved energy and mass at the interface prevent unlimited vapor and double-counted latent heat.</a:t>
            </a:r>
          </a:p>
        </p:txBody>
      </p:sp>
      <p:sp>
        <p:nvSpPr>
          <p:cNvPr id="33" name="C2-E36 text 31" descr="sci-ppt:o03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Defence 4: Eqs. C2-E20, E21, E22.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