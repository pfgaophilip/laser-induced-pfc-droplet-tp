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C1-E08 · Pressure composition requiring thermodynamic closure</a:t>
            </a:r>
          </a:p>
        </p:txBody>
      </p:sp>
      <p:cxnSp>
        <p:nvCxnSpPr>
          <p:cNvPr id="3" name="C1-E08 line 1" descr="sci-ppt:o001"/>
          <p:cNvCxnSpPr/>
          <p:nvPr/>
        </p:nvCxnSpPr>
        <p:spPr>
          <a:xfrm>
            <a:off x="5486400" y="5029200"/>
            <a:ext cx="62179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08 line 2" descr="sci-ppt:o002"/>
          <p:cNvCxnSpPr/>
          <p:nvPr/>
        </p:nvCxnSpPr>
        <p:spPr>
          <a:xfrm>
            <a:off x="5486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08 line 3" descr="sci-ppt:o003"/>
          <p:cNvCxnSpPr/>
          <p:nvPr/>
        </p:nvCxnSpPr>
        <p:spPr>
          <a:xfrm>
            <a:off x="5422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08 line 4" descr="sci-ppt:o004"/>
          <p:cNvCxnSpPr/>
          <p:nvPr/>
        </p:nvCxnSpPr>
        <p:spPr>
          <a:xfrm>
            <a:off x="5486400" y="502920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08 text 5" descr="sci-ppt:o005"/>
          <p:cNvSpPr txBox="1"/>
          <p:nvPr/>
        </p:nvSpPr>
        <p:spPr>
          <a:xfrm>
            <a:off x="4617720" y="4946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1-E08 line 6" descr="sci-ppt:o006"/>
          <p:cNvCxnSpPr/>
          <p:nvPr/>
        </p:nvCxnSpPr>
        <p:spPr>
          <a:xfrm>
            <a:off x="5422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08 line 7" descr="sci-ppt:o007"/>
          <p:cNvCxnSpPr/>
          <p:nvPr/>
        </p:nvCxnSpPr>
        <p:spPr>
          <a:xfrm>
            <a:off x="5486400" y="4158342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08 text 8" descr="sci-ppt:o008"/>
          <p:cNvSpPr txBox="1"/>
          <p:nvPr/>
        </p:nvSpPr>
        <p:spPr>
          <a:xfrm>
            <a:off x="4617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1-E08 line 9" descr="sci-ppt:o009"/>
          <p:cNvCxnSpPr/>
          <p:nvPr/>
        </p:nvCxnSpPr>
        <p:spPr>
          <a:xfrm>
            <a:off x="5422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08 line 10" descr="sci-ppt:o010"/>
          <p:cNvCxnSpPr/>
          <p:nvPr/>
        </p:nvCxnSpPr>
        <p:spPr>
          <a:xfrm>
            <a:off x="5486400" y="3287485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08 text 11" descr="sci-ppt:o011"/>
          <p:cNvSpPr txBox="1"/>
          <p:nvPr/>
        </p:nvSpPr>
        <p:spPr>
          <a:xfrm>
            <a:off x="4617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1-E08 line 12" descr="sci-ppt:o012"/>
          <p:cNvCxnSpPr/>
          <p:nvPr/>
        </p:nvCxnSpPr>
        <p:spPr>
          <a:xfrm>
            <a:off x="5422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08 line 13" descr="sci-ppt:o013"/>
          <p:cNvCxnSpPr/>
          <p:nvPr/>
        </p:nvCxnSpPr>
        <p:spPr>
          <a:xfrm>
            <a:off x="5486400" y="2416628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08 text 14" descr="sci-ppt:o014"/>
          <p:cNvSpPr txBox="1"/>
          <p:nvPr/>
        </p:nvSpPr>
        <p:spPr>
          <a:xfrm>
            <a:off x="4617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C1-E08 line 15" descr="sci-ppt:o015"/>
          <p:cNvCxnSpPr/>
          <p:nvPr/>
        </p:nvCxnSpPr>
        <p:spPr>
          <a:xfrm>
            <a:off x="5422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08 line 16" descr="sci-ppt:o016"/>
          <p:cNvCxnSpPr/>
          <p:nvPr/>
        </p:nvCxnSpPr>
        <p:spPr>
          <a:xfrm>
            <a:off x="5486400" y="1545771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08 text 17" descr="sci-ppt:o017"/>
          <p:cNvSpPr txBox="1"/>
          <p:nvPr/>
        </p:nvSpPr>
        <p:spPr>
          <a:xfrm>
            <a:off x="4617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20" name="C1-E08 text 18" descr="sci-ppt:o018"/>
          <p:cNvSpPr txBox="1"/>
          <p:nvPr/>
        </p:nvSpPr>
        <p:spPr>
          <a:xfrm>
            <a:off x="4937760" y="1024128"/>
            <a:ext cx="6217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partial pressure (bar)</a:t>
            </a:r>
          </a:p>
        </p:txBody>
      </p:sp>
      <p:sp>
        <p:nvSpPr>
          <p:cNvPr id="21" name="C1-E08 rect 19" descr="sci-ppt:o019"/>
          <p:cNvSpPr/>
          <p:nvPr/>
        </p:nvSpPr>
        <p:spPr>
          <a:xfrm>
            <a:off x="5750661" y="4129142"/>
            <a:ext cx="1025956" cy="900057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1-E08 rect 20" descr="sci-ppt:o020"/>
          <p:cNvSpPr/>
          <p:nvPr/>
        </p:nvSpPr>
        <p:spPr>
          <a:xfrm>
            <a:off x="5750661" y="4092502"/>
            <a:ext cx="1025956" cy="3664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1-E08 rect 21" descr="sci-ppt:o021"/>
          <p:cNvSpPr/>
          <p:nvPr/>
        </p:nvSpPr>
        <p:spPr>
          <a:xfrm>
            <a:off x="5750661" y="4048959"/>
            <a:ext cx="1025956" cy="43542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1-E08 text 22" descr="sci-ppt:o022"/>
          <p:cNvSpPr txBox="1"/>
          <p:nvPr/>
        </p:nvSpPr>
        <p:spPr>
          <a:xfrm>
            <a:off x="5522061" y="3756351"/>
            <a:ext cx="148315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p_b = 1.13</a:t>
            </a:r>
          </a:p>
        </p:txBody>
      </p:sp>
      <p:sp>
        <p:nvSpPr>
          <p:cNvPr id="25" name="C1-E08 text 23" descr="sci-ppt:o023"/>
          <p:cNvSpPr txBox="1"/>
          <p:nvPr/>
        </p:nvSpPr>
        <p:spPr>
          <a:xfrm>
            <a:off x="5567781" y="5111496"/>
            <a:ext cx="13917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30 °C</a:t>
            </a:r>
          </a:p>
        </p:txBody>
      </p:sp>
      <p:sp>
        <p:nvSpPr>
          <p:cNvPr id="26" name="C1-E08 rect 24" descr="sci-ppt:o024"/>
          <p:cNvSpPr/>
          <p:nvPr/>
        </p:nvSpPr>
        <p:spPr>
          <a:xfrm>
            <a:off x="7305141" y="3747774"/>
            <a:ext cx="1025956" cy="1281425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1-E08 rect 25" descr="sci-ppt:o025"/>
          <p:cNvSpPr/>
          <p:nvPr/>
        </p:nvSpPr>
        <p:spPr>
          <a:xfrm>
            <a:off x="7305141" y="3684033"/>
            <a:ext cx="1025956" cy="6374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1-E08 rect 26" descr="sci-ppt:o026"/>
          <p:cNvSpPr/>
          <p:nvPr/>
        </p:nvSpPr>
        <p:spPr>
          <a:xfrm>
            <a:off x="7305141" y="3640490"/>
            <a:ext cx="1025956" cy="43542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08 text 27" descr="sci-ppt:o027"/>
          <p:cNvSpPr txBox="1"/>
          <p:nvPr/>
        </p:nvSpPr>
        <p:spPr>
          <a:xfrm>
            <a:off x="7076541" y="3347882"/>
            <a:ext cx="148315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p_b = 1.59</a:t>
            </a:r>
          </a:p>
        </p:txBody>
      </p:sp>
      <p:sp>
        <p:nvSpPr>
          <p:cNvPr id="30" name="C1-E08 text 28" descr="sci-ppt:o028"/>
          <p:cNvSpPr txBox="1"/>
          <p:nvPr/>
        </p:nvSpPr>
        <p:spPr>
          <a:xfrm>
            <a:off x="7122261" y="5111496"/>
            <a:ext cx="13917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40 °C</a:t>
            </a:r>
          </a:p>
        </p:txBody>
      </p:sp>
      <p:sp>
        <p:nvSpPr>
          <p:cNvPr id="31" name="C1-E08 rect 29" descr="sci-ppt:o029"/>
          <p:cNvSpPr/>
          <p:nvPr/>
        </p:nvSpPr>
        <p:spPr>
          <a:xfrm>
            <a:off x="8859621" y="3249763"/>
            <a:ext cx="1025956" cy="1779436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08 rect 30" descr="sci-ppt:o030"/>
          <p:cNvSpPr/>
          <p:nvPr/>
        </p:nvSpPr>
        <p:spPr>
          <a:xfrm>
            <a:off x="8859621" y="3143099"/>
            <a:ext cx="1025956" cy="106664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08 rect 31" descr="sci-ppt:o031"/>
          <p:cNvSpPr/>
          <p:nvPr/>
        </p:nvSpPr>
        <p:spPr>
          <a:xfrm>
            <a:off x="8859621" y="3099556"/>
            <a:ext cx="1025956" cy="43542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08 text 32" descr="sci-ppt:o032"/>
          <p:cNvSpPr txBox="1"/>
          <p:nvPr/>
        </p:nvSpPr>
        <p:spPr>
          <a:xfrm>
            <a:off x="8631021" y="2806948"/>
            <a:ext cx="148315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p_b = 2.22</a:t>
            </a:r>
          </a:p>
        </p:txBody>
      </p:sp>
      <p:sp>
        <p:nvSpPr>
          <p:cNvPr id="35" name="C1-E08 text 33" descr="sci-ppt:o033"/>
          <p:cNvSpPr txBox="1"/>
          <p:nvPr/>
        </p:nvSpPr>
        <p:spPr>
          <a:xfrm>
            <a:off x="8676741" y="5111496"/>
            <a:ext cx="13917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50 °C</a:t>
            </a:r>
          </a:p>
        </p:txBody>
      </p:sp>
      <p:sp>
        <p:nvSpPr>
          <p:cNvPr id="36" name="C1-E08 rect 34" descr="sci-ppt:o034"/>
          <p:cNvSpPr/>
          <p:nvPr/>
        </p:nvSpPr>
        <p:spPr>
          <a:xfrm>
            <a:off x="10414101" y="2612925"/>
            <a:ext cx="1025956" cy="2416274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08 rect 35" descr="sci-ppt:o035"/>
          <p:cNvSpPr/>
          <p:nvPr/>
        </p:nvSpPr>
        <p:spPr>
          <a:xfrm>
            <a:off x="10414101" y="2440586"/>
            <a:ext cx="1025956" cy="172339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8 rect 36" descr="sci-ppt:o036"/>
          <p:cNvSpPr/>
          <p:nvPr/>
        </p:nvSpPr>
        <p:spPr>
          <a:xfrm>
            <a:off x="10414101" y="2397043"/>
            <a:ext cx="1025956" cy="43542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1-E08 text 37" descr="sci-ppt:o037"/>
          <p:cNvSpPr txBox="1"/>
          <p:nvPr/>
        </p:nvSpPr>
        <p:spPr>
          <a:xfrm>
            <a:off x="10185501" y="2104435"/>
            <a:ext cx="1483156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p_b = 3.02</a:t>
            </a:r>
          </a:p>
        </p:txBody>
      </p:sp>
      <p:sp>
        <p:nvSpPr>
          <p:cNvPr id="40" name="C1-E08 text 38" descr="sci-ppt:o038"/>
          <p:cNvSpPr txBox="1"/>
          <p:nvPr/>
        </p:nvSpPr>
        <p:spPr>
          <a:xfrm>
            <a:off x="10231221" y="5111496"/>
            <a:ext cx="1391716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60 °C</a:t>
            </a:r>
          </a:p>
        </p:txBody>
      </p:sp>
      <p:sp>
        <p:nvSpPr>
          <p:cNvPr id="41" name="C1-E08 text 39" descr="sci-ppt:o039"/>
          <p:cNvSpPr txBox="1"/>
          <p:nvPr/>
        </p:nvSpPr>
        <p:spPr>
          <a:xfrm>
            <a:off x="5029200" y="5440680"/>
            <a:ext cx="6858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Bars are saturation values (upper bounds) from C2-E12 and C2-E13. The 0.05 bar gas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part is an assumed placeholder.</a:t>
            </a:r>
          </a:p>
        </p:txBody>
      </p:sp>
      <p:sp>
        <p:nvSpPr>
          <p:cNvPr id="42" name="C1-E08 rect 40" descr="sci-ppt:o040"/>
          <p:cNvSpPr/>
          <p:nvPr/>
        </p:nvSpPr>
        <p:spPr>
          <a:xfrm>
            <a:off x="5029200" y="6016752"/>
            <a:ext cx="228600" cy="201168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08 text 41" descr="sci-ppt:o041"/>
          <p:cNvSpPr txBox="1"/>
          <p:nvPr/>
        </p:nvSpPr>
        <p:spPr>
          <a:xfrm>
            <a:off x="5321808" y="5961888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PFC vapor</a:t>
            </a:r>
          </a:p>
        </p:txBody>
      </p:sp>
      <p:sp>
        <p:nvSpPr>
          <p:cNvPr id="44" name="C1-E08 rect 42" descr="sci-ppt:o042"/>
          <p:cNvSpPr/>
          <p:nvPr/>
        </p:nvSpPr>
        <p:spPr>
          <a:xfrm>
            <a:off x="7315200" y="6016752"/>
            <a:ext cx="228600" cy="201168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1-E08 text 43" descr="sci-ppt:o043"/>
          <p:cNvSpPr txBox="1"/>
          <p:nvPr/>
        </p:nvSpPr>
        <p:spPr>
          <a:xfrm>
            <a:off x="7607808" y="5961888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water vapor</a:t>
            </a:r>
          </a:p>
        </p:txBody>
      </p:sp>
      <p:sp>
        <p:nvSpPr>
          <p:cNvPr id="46" name="C1-E08 rect 44" descr="sci-ppt:o044"/>
          <p:cNvSpPr/>
          <p:nvPr/>
        </p:nvSpPr>
        <p:spPr>
          <a:xfrm>
            <a:off x="9601200" y="6016752"/>
            <a:ext cx="228600" cy="201168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1-E08 text 45" descr="sci-ppt:o045"/>
          <p:cNvSpPr txBox="1"/>
          <p:nvPr/>
        </p:nvSpPr>
        <p:spPr>
          <a:xfrm>
            <a:off x="9893808" y="5961888"/>
            <a:ext cx="2011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permanent gas</a:t>
            </a:r>
          </a:p>
        </p:txBody>
      </p:sp>
      <p:sp>
        <p:nvSpPr>
          <p:cNvPr id="48" name="C1-E08 round_rect 46" descr="sci-ppt:o046"/>
          <p:cNvSpPr/>
          <p:nvPr/>
        </p:nvSpPr>
        <p:spPr>
          <a:xfrm>
            <a:off x="365760" y="914400"/>
            <a:ext cx="4206240" cy="50292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08 text 47" descr="sci-ppt:o047"/>
          <p:cNvSpPr txBox="1"/>
          <p:nvPr/>
        </p:nvSpPr>
        <p:spPr>
          <a:xfrm>
            <a:off x="475488" y="969264"/>
            <a:ext cx="3986783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Dalton additivity in one bubble</a:t>
            </a:r>
          </a:p>
        </p:txBody>
      </p:sp>
      <p:sp>
        <p:nvSpPr>
          <p:cNvPr id="50" name="C1-E08 text 48" descr="sci-ppt:o048"/>
          <p:cNvSpPr txBox="1"/>
          <p:nvPr/>
        </p:nvSpPr>
        <p:spPr>
          <a:xfrm>
            <a:off x="502920" y="1417320"/>
            <a:ext cx="3931920" cy="27038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B880"/>
                </a:solidFill>
                <a:latin typeface="Arial"/>
              </a:rPr>
              <a:t>p_b = pᵥ,PFC + pᵥ,w + p_g</a:t>
            </a:r>
          </a:p>
        </p:txBody>
      </p:sp>
      <p:sp>
        <p:nvSpPr>
          <p:cNvPr id="51" name="C1-E08 ellipse 49" descr="sci-ppt:o049"/>
          <p:cNvSpPr/>
          <p:nvPr/>
        </p:nvSpPr>
        <p:spPr>
          <a:xfrm>
            <a:off x="1143000" y="2057400"/>
            <a:ext cx="2651760" cy="265176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1-E08 ellipse 50" descr="sci-ppt:o050"/>
          <p:cNvSpPr/>
          <p:nvPr/>
        </p:nvSpPr>
        <p:spPr>
          <a:xfrm>
            <a:off x="2425551" y="3646564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1-E08 ellipse 51" descr="sci-ppt:o051"/>
          <p:cNvSpPr/>
          <p:nvPr/>
        </p:nvSpPr>
        <p:spPr>
          <a:xfrm>
            <a:off x="2067271" y="3562082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1-E08 ellipse 52" descr="sci-ppt:o052"/>
          <p:cNvSpPr/>
          <p:nvPr/>
        </p:nvSpPr>
        <p:spPr>
          <a:xfrm>
            <a:off x="3004817" y="3580462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1-E08 ellipse 53" descr="sci-ppt:o053"/>
          <p:cNvSpPr/>
          <p:nvPr/>
        </p:nvSpPr>
        <p:spPr>
          <a:xfrm>
            <a:off x="3212914" y="2843942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1-E08 ellipse 54" descr="sci-ppt:o054"/>
          <p:cNvSpPr/>
          <p:nvPr/>
        </p:nvSpPr>
        <p:spPr>
          <a:xfrm>
            <a:off x="2441649" y="2816878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1-E08 ellipse 55" descr="sci-ppt:o055"/>
          <p:cNvSpPr/>
          <p:nvPr/>
        </p:nvSpPr>
        <p:spPr>
          <a:xfrm>
            <a:off x="1857010" y="3184696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C1-E08 ellipse 56" descr="sci-ppt:o056"/>
          <p:cNvSpPr/>
          <p:nvPr/>
        </p:nvSpPr>
        <p:spPr>
          <a:xfrm>
            <a:off x="2555921" y="3613035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C1-E08 ellipse 57" descr="sci-ppt:o057"/>
          <p:cNvSpPr/>
          <p:nvPr/>
        </p:nvSpPr>
        <p:spPr>
          <a:xfrm>
            <a:off x="2621039" y="4297456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C1-E08 ellipse 58" descr="sci-ppt:o058"/>
          <p:cNvSpPr/>
          <p:nvPr/>
        </p:nvSpPr>
        <p:spPr>
          <a:xfrm>
            <a:off x="2842897" y="2478251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C1-E08 ellipse 59" descr="sci-ppt:o059"/>
          <p:cNvSpPr/>
          <p:nvPr/>
        </p:nvSpPr>
        <p:spPr>
          <a:xfrm>
            <a:off x="2538761" y="2870311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1-E08 ellipse 60" descr="sci-ppt:o060"/>
          <p:cNvSpPr/>
          <p:nvPr/>
        </p:nvSpPr>
        <p:spPr>
          <a:xfrm>
            <a:off x="2090705" y="4084890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1-E08 ellipse 61" descr="sci-ppt:o061"/>
          <p:cNvSpPr/>
          <p:nvPr/>
        </p:nvSpPr>
        <p:spPr>
          <a:xfrm>
            <a:off x="2283125" y="2344533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C1-E08 ellipse 62" descr="sci-ppt:o062"/>
          <p:cNvSpPr/>
          <p:nvPr/>
        </p:nvSpPr>
        <p:spPr>
          <a:xfrm>
            <a:off x="2620935" y="3097588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C1-E08 ellipse 63" descr="sci-ppt:o063"/>
          <p:cNvSpPr/>
          <p:nvPr/>
        </p:nvSpPr>
        <p:spPr>
          <a:xfrm>
            <a:off x="1716559" y="2779577"/>
            <a:ext cx="146304" cy="146304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C1-E08 ellipse 64" descr="sci-ppt:o064"/>
          <p:cNvSpPr/>
          <p:nvPr/>
        </p:nvSpPr>
        <p:spPr>
          <a:xfrm>
            <a:off x="1952619" y="3294259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C1-E08 ellipse 65" descr="sci-ppt:o065"/>
          <p:cNvSpPr/>
          <p:nvPr/>
        </p:nvSpPr>
        <p:spPr>
          <a:xfrm>
            <a:off x="2085804" y="336251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1-E08 ellipse 66" descr="sci-ppt:o066"/>
          <p:cNvSpPr/>
          <p:nvPr/>
        </p:nvSpPr>
        <p:spPr>
          <a:xfrm>
            <a:off x="3291374" y="291661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1-E08 text 67" descr="sci-ppt:o067"/>
          <p:cNvSpPr txBox="1"/>
          <p:nvPr/>
        </p:nvSpPr>
        <p:spPr>
          <a:xfrm>
            <a:off x="502920" y="4892040"/>
            <a:ext cx="393192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PFC vapor, water vapor and permanent gas fill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one volume at one temperature; their pressures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add.</a:t>
            </a:r>
          </a:p>
        </p:txBody>
      </p:sp>
      <p:sp>
        <p:nvSpPr>
          <p:cNvPr id="70" name="C1-E08 text 68" descr="sci-ppt:o06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The radius equation needs p_b from the contents (a thermodynamic closure), not from R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