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08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C1-E08 | Physical-variable diagram</a:t>
            </a:r>
          </a:p>
        </p:txBody>
      </p:sp>
      <p:sp>
        <p:nvSpPr>
          <p:cNvPr id="3" name="ellipse2" descr="sci-ppt:C1-E08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3" descr="sci-ppt:C1-E08-003"/>
          <p:cNvSpPr txBox="1"/>
          <p:nvPr/>
        </p:nvSpPr>
        <p:spPr>
          <a:xfrm>
            <a:off x="2072640" y="2316480"/>
            <a:ext cx="42672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PFC vapor + water vapor</a:t>
            </a:r>
          </a:p>
        </p:txBody>
      </p:sp>
      <p:sp>
        <p:nvSpPr>
          <p:cNvPr id="5" name="text4" descr="sci-ppt:C1-E08-004"/>
          <p:cNvSpPr txBox="1"/>
          <p:nvPr/>
        </p:nvSpPr>
        <p:spPr>
          <a:xfrm>
            <a:off x="2194560" y="2804160"/>
            <a:ext cx="37795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+ permanent gas</a:t>
            </a:r>
          </a:p>
        </p:txBody>
      </p:sp>
      <p:sp>
        <p:nvSpPr>
          <p:cNvPr id="6" name="ellipse5" descr="sci-ppt:C1-E08-005"/>
          <p:cNvSpPr/>
          <p:nvPr/>
        </p:nvSpPr>
        <p:spPr>
          <a:xfrm>
            <a:off x="3474720" y="3108960"/>
            <a:ext cx="487680" cy="487680"/>
          </a:xfrm>
          <a:prstGeom prst="ellipse">
            <a:avLst/>
          </a:prstGeom>
          <a:solidFill>
            <a:srgbClr val="F6BC77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6" descr="sci-ppt:C1-E08-006"/>
          <p:cNvSpPr txBox="1"/>
          <p:nvPr/>
        </p:nvSpPr>
        <p:spPr>
          <a:xfrm>
            <a:off x="5486400" y="2194560"/>
            <a:ext cx="58521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p_b = p_v,PFC + p_v,w + p_g</a:t>
            </a:r>
          </a:p>
        </p:txBody>
      </p:sp>
      <p:sp>
        <p:nvSpPr>
          <p:cNvPr id="8" name="text7" descr="sci-ppt:C1-E08-007"/>
          <p:cNvSpPr txBox="1"/>
          <p:nvPr/>
        </p:nvSpPr>
        <p:spPr>
          <a:xfrm>
            <a:off x="5486400" y="2926080"/>
            <a:ext cx="585216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Residual PFC liquid: finite inventory</a:t>
            </a:r>
          </a:p>
        </p:txBody>
      </p:sp>
      <p:sp>
        <p:nvSpPr>
          <p:cNvPr id="9" name="text8" descr="sci-ppt:C1-E08-008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pb</a:t>
            </a:r>
          </a:p>
        </p:txBody>
      </p:sp>
      <p:sp>
        <p:nvSpPr>
          <p:cNvPr id="10" name="text9" descr="sci-ppt:C1-E08-009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pv,w</a:t>
            </a:r>
          </a:p>
        </p:txBody>
      </p:sp>
      <p:sp>
        <p:nvSpPr>
          <p:cNvPr id="11" name="text10" descr="sci-ppt:C1-E08-010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Finite PFC liquid inventory</a:t>
            </a:r>
          </a:p>
        </p:txBody>
      </p:sp>
      <p:sp>
        <p:nvSpPr>
          <p:cNvPr id="12" name="text11" descr="sci-ppt:C1-E08-011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pv,PFC</a:t>
            </a:r>
          </a:p>
        </p:txBody>
      </p:sp>
      <p:sp>
        <p:nvSpPr>
          <p:cNvPr id="13" name="text12" descr="sci-ppt:C1-E08-012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pg</a:t>
            </a:r>
          </a:p>
        </p:txBody>
      </p:sp>
      <p:sp>
        <p:nvSpPr>
          <p:cNvPr id="14" name="text13" descr="sci-ppt:C1-E08-013"/>
          <p:cNvSpPr txBox="1"/>
          <p:nvPr/>
        </p:nvSpPr>
        <p:spPr>
          <a:xfrm>
            <a:off x="365760" y="627888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Partial pressures need mass and energy histories</a:t>
            </a:r>
          </a:p>
        </p:txBody>
      </p:sp>
      <p:sp>
        <p:nvSpPr>
          <p:cNvPr id="15" name="text14" descr="sci-ppt:C1-E08-014"/>
          <p:cNvSpPr txBox="1"/>
          <p:nvPr/>
        </p:nvSpPr>
        <p:spPr>
          <a:xfrm>
            <a:off x="365760" y="657148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No fixed-mass gas law is automatically a vaporization law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