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3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C2-E34 · Original activation-probability formula</a:t>
            </a:r>
          </a:p>
        </p:txBody>
      </p:sp>
      <p:sp>
        <p:nvSpPr>
          <p:cNvPr id="3" name="C2-E34 text 1" descr="sci-ppt:o001"/>
          <p:cNvSpPr txBox="1"/>
          <p:nvPr/>
        </p:nvSpPr>
        <p:spPr>
          <a:xfrm>
            <a:off x="457200" y="914400"/>
            <a:ext cx="11247120" cy="35559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E7F0F3"/>
                </a:solidFill>
                <a:latin typeface="Arial"/>
              </a:rPr>
              <a:t>P_act = 1 − exp[ − ∫₀ᵗ ∫ J(T, p) dV dt′ ]    (V = V_d(t′))</a:t>
            </a:r>
          </a:p>
        </p:txBody>
      </p:sp>
      <p:sp>
        <p:nvSpPr>
          <p:cNvPr id="4" name="C2-E34 round_rect 2" descr="sci-ppt:o002"/>
          <p:cNvSpPr/>
          <p:nvPr/>
        </p:nvSpPr>
        <p:spPr>
          <a:xfrm>
            <a:off x="548640" y="1828800"/>
            <a:ext cx="3566160" cy="24688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2-E34 text 3" descr="sci-ppt:o003"/>
          <p:cNvSpPr txBox="1"/>
          <p:nvPr/>
        </p:nvSpPr>
        <p:spPr>
          <a:xfrm>
            <a:off x="640080" y="1920240"/>
            <a:ext cx="3383280" cy="30911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28BA0"/>
                </a:solidFill>
                <a:latin typeface="Arial"/>
              </a:rPr>
              <a:t>J(T, p)</a:t>
            </a:r>
          </a:p>
        </p:txBody>
      </p:sp>
      <p:sp>
        <p:nvSpPr>
          <p:cNvPr id="6" name="C2-E34 text 4" descr="sci-ppt:o004"/>
          <p:cNvSpPr txBox="1"/>
          <p:nvPr/>
        </p:nvSpPr>
        <p:spPr>
          <a:xfrm>
            <a:off x="640080" y="2606040"/>
            <a:ext cx="338328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nucleation rate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m⁻³ s⁻¹</a:t>
            </a:r>
          </a:p>
        </p:txBody>
      </p:sp>
      <p:sp>
        <p:nvSpPr>
          <p:cNvPr id="7" name="C2-E34 text 5" descr="sci-ppt:o005"/>
          <p:cNvSpPr txBox="1"/>
          <p:nvPr/>
        </p:nvSpPr>
        <p:spPr>
          <a:xfrm>
            <a:off x="640080" y="3657600"/>
            <a:ext cx="33832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must be supplied by the material</a:t>
            </a:r>
          </a:p>
        </p:txBody>
      </p:sp>
      <p:sp>
        <p:nvSpPr>
          <p:cNvPr id="8" name="C2-E34 text 6" descr="sci-ppt:o006"/>
          <p:cNvSpPr txBox="1"/>
          <p:nvPr/>
        </p:nvSpPr>
        <p:spPr>
          <a:xfrm>
            <a:off x="4096511" y="2743200"/>
            <a:ext cx="274320" cy="35559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B4C7D2"/>
                </a:solidFill>
                <a:latin typeface="Arial"/>
              </a:rPr>
              <a:t>×</a:t>
            </a:r>
          </a:p>
        </p:txBody>
      </p:sp>
      <p:sp>
        <p:nvSpPr>
          <p:cNvPr id="9" name="C2-E34 round_rect 7" descr="sci-ppt:o007"/>
          <p:cNvSpPr/>
          <p:nvPr/>
        </p:nvSpPr>
        <p:spPr>
          <a:xfrm>
            <a:off x="4343400" y="1828800"/>
            <a:ext cx="3566160" cy="24688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2-E34 text 8" descr="sci-ppt:o008"/>
          <p:cNvSpPr txBox="1"/>
          <p:nvPr/>
        </p:nvSpPr>
        <p:spPr>
          <a:xfrm>
            <a:off x="4434840" y="1920240"/>
            <a:ext cx="3383280" cy="30911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8EDBD4"/>
                </a:solidFill>
                <a:latin typeface="Arial"/>
              </a:rPr>
              <a:t>V_d(t′)</a:t>
            </a:r>
          </a:p>
        </p:txBody>
      </p:sp>
      <p:sp>
        <p:nvSpPr>
          <p:cNvPr id="11" name="C2-E34 text 9" descr="sci-ppt:o009"/>
          <p:cNvSpPr txBox="1"/>
          <p:nvPr/>
        </p:nvSpPr>
        <p:spPr>
          <a:xfrm>
            <a:off x="4434840" y="2606040"/>
            <a:ext cx="3383280" cy="64998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liquid volume that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can nucleate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m³</a:t>
            </a:r>
          </a:p>
        </p:txBody>
      </p:sp>
      <p:sp>
        <p:nvSpPr>
          <p:cNvPr id="12" name="C2-E34 text 10" descr="sci-ppt:o010"/>
          <p:cNvSpPr txBox="1"/>
          <p:nvPr/>
        </p:nvSpPr>
        <p:spPr>
          <a:xfrm>
            <a:off x="4434840" y="3657600"/>
            <a:ext cx="33832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shrinks as PFC leaves the liquid</a:t>
            </a:r>
          </a:p>
        </p:txBody>
      </p:sp>
      <p:sp>
        <p:nvSpPr>
          <p:cNvPr id="13" name="C2-E34 text 11" descr="sci-ppt:o011"/>
          <p:cNvSpPr txBox="1"/>
          <p:nvPr/>
        </p:nvSpPr>
        <p:spPr>
          <a:xfrm>
            <a:off x="7891271" y="2743200"/>
            <a:ext cx="274320" cy="35559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B4C7D2"/>
                </a:solidFill>
                <a:latin typeface="Arial"/>
              </a:rPr>
              <a:t>×</a:t>
            </a:r>
          </a:p>
        </p:txBody>
      </p:sp>
      <p:sp>
        <p:nvSpPr>
          <p:cNvPr id="14" name="C2-E34 round_rect 12" descr="sci-ppt:o012"/>
          <p:cNvSpPr/>
          <p:nvPr/>
        </p:nvSpPr>
        <p:spPr>
          <a:xfrm>
            <a:off x="8138160" y="1828800"/>
            <a:ext cx="3566160" cy="24688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2-E34 text 13" descr="sci-ppt:o013"/>
          <p:cNvSpPr txBox="1"/>
          <p:nvPr/>
        </p:nvSpPr>
        <p:spPr>
          <a:xfrm>
            <a:off x="8229600" y="1920240"/>
            <a:ext cx="3383280" cy="30911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2B880"/>
                </a:solidFill>
                <a:latin typeface="Arial"/>
              </a:rPr>
              <a:t>t′ from 0 to t</a:t>
            </a:r>
          </a:p>
        </p:txBody>
      </p:sp>
      <p:sp>
        <p:nvSpPr>
          <p:cNvPr id="16" name="C2-E34 text 14" descr="sci-ppt:o014"/>
          <p:cNvSpPr txBox="1"/>
          <p:nvPr/>
        </p:nvSpPr>
        <p:spPr>
          <a:xfrm>
            <a:off x="8229600" y="2606040"/>
            <a:ext cx="3383280" cy="64998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time spent in the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activating state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s</a:t>
            </a:r>
          </a:p>
        </p:txBody>
      </p:sp>
      <p:sp>
        <p:nvSpPr>
          <p:cNvPr id="17" name="C2-E34 text 15" descr="sci-ppt:o015"/>
          <p:cNvSpPr txBox="1"/>
          <p:nvPr/>
        </p:nvSpPr>
        <p:spPr>
          <a:xfrm>
            <a:off x="8229600" y="3657600"/>
            <a:ext cx="33832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set by the heating history</a:t>
            </a:r>
          </a:p>
        </p:txBody>
      </p:sp>
      <p:sp>
        <p:nvSpPr>
          <p:cNvPr id="18" name="C2-E34 text 16" descr="sci-ppt:o016"/>
          <p:cNvSpPr txBox="1"/>
          <p:nvPr/>
        </p:nvSpPr>
        <p:spPr>
          <a:xfrm>
            <a:off x="548640" y="4617720"/>
            <a:ext cx="1115568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The exponent is the expected number of events. Independent events and a finite integrated rate give a probability between 0 and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1.</a:t>
            </a:r>
          </a:p>
        </p:txBody>
      </p:sp>
      <p:sp>
        <p:nvSpPr>
          <p:cNvPr id="19" name="C2-E34 text 17" descr="sci-ppt:o017"/>
          <p:cNvSpPr txBox="1"/>
          <p:nvPr/>
        </p:nvSpPr>
        <p:spPr>
          <a:xfrm>
            <a:off x="548640" y="5212080"/>
            <a:ext cx="1115568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The formula organises the problem but does not replace the missing, material-specific J(T, p).</a:t>
            </a:r>
          </a:p>
        </p:txBody>
      </p:sp>
      <p:sp>
        <p:nvSpPr>
          <p:cNvPr id="20" name="C2-E34 text 18" descr="sci-ppt:o01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Activation probability of Eq. C2-E34 (Poisson model).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