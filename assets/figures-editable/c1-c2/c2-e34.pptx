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C2-E34 | Physical-variable diagram</a:t>
            </a:r>
          </a:p>
        </p:txBody>
      </p:sp>
      <p:sp>
        <p:nvSpPr>
          <p:cNvPr id="3" name="rect2" descr="sci-ppt:C2-E34-002"/>
          <p:cNvSpPr/>
          <p:nvPr/>
        </p:nvSpPr>
        <p:spPr>
          <a:xfrm>
            <a:off x="1097280" y="1706880"/>
            <a:ext cx="390144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34-003"/>
          <p:cNvSpPr txBox="1"/>
          <p:nvPr/>
        </p:nvSpPr>
        <p:spPr>
          <a:xfrm>
            <a:off x="1219200" y="1828800"/>
            <a:ext cx="37185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Local rate J(T,p) in V_d</a:t>
            </a:r>
          </a:p>
        </p:txBody>
      </p:sp>
      <p:cxnSp>
        <p:nvCxnSpPr>
          <p:cNvPr id="5" name="arrow4" descr="sci-ppt:C2-E34-004"/>
          <p:cNvCxnSpPr/>
          <p:nvPr/>
        </p:nvCxnSpPr>
        <p:spPr>
          <a:xfrm>
            <a:off x="5120640" y="2377440"/>
            <a:ext cx="1097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34-005"/>
          <p:cNvCxnSpPr/>
          <p:nvPr/>
        </p:nvCxnSpPr>
        <p:spPr>
          <a:xfrm>
            <a:off x="670560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arrow6" descr="sci-ppt:C2-E34-006"/>
          <p:cNvCxnSpPr/>
          <p:nvPr/>
        </p:nvCxnSpPr>
        <p:spPr>
          <a:xfrm flipV="1">
            <a:off x="6705600" y="1524000"/>
            <a:ext cx="0" cy="243839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34-007"/>
          <p:cNvSpPr txBox="1"/>
          <p:nvPr/>
        </p:nvSpPr>
        <p:spPr>
          <a:xfrm>
            <a:off x="999744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Integrated hazard</a:t>
            </a:r>
          </a:p>
        </p:txBody>
      </p:sp>
      <p:sp>
        <p:nvSpPr>
          <p:cNvPr id="9" name="text8" descr="sci-ppt:C2-E34-008"/>
          <p:cNvSpPr txBox="1"/>
          <p:nvPr/>
        </p:nvSpPr>
        <p:spPr>
          <a:xfrm>
            <a:off x="6583680" y="115824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P_act</a:t>
            </a:r>
          </a:p>
        </p:txBody>
      </p:sp>
      <p:cxnSp>
        <p:nvCxnSpPr>
          <p:cNvPr id="10" name="line9" descr="sci-ppt:C2-E34-009"/>
          <p:cNvCxnSpPr/>
          <p:nvPr/>
        </p:nvCxnSpPr>
        <p:spPr>
          <a:xfrm flipV="1">
            <a:off x="6766560" y="3716163"/>
            <a:ext cx="114953" cy="1852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34-010"/>
          <p:cNvCxnSpPr/>
          <p:nvPr/>
        </p:nvCxnSpPr>
        <p:spPr>
          <a:xfrm flipV="1">
            <a:off x="6881513" y="3546106"/>
            <a:ext cx="114953" cy="17005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34-011"/>
          <p:cNvCxnSpPr/>
          <p:nvPr/>
        </p:nvCxnSpPr>
        <p:spPr>
          <a:xfrm flipV="1">
            <a:off x="6996466" y="3390018"/>
            <a:ext cx="114953" cy="1560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34-012"/>
          <p:cNvCxnSpPr/>
          <p:nvPr/>
        </p:nvCxnSpPr>
        <p:spPr>
          <a:xfrm flipV="1">
            <a:off x="7111419" y="3246751"/>
            <a:ext cx="114953" cy="1432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34-013"/>
          <p:cNvCxnSpPr/>
          <p:nvPr/>
        </p:nvCxnSpPr>
        <p:spPr>
          <a:xfrm flipV="1">
            <a:off x="7226372" y="3115253"/>
            <a:ext cx="114953" cy="1314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34-014"/>
          <p:cNvCxnSpPr/>
          <p:nvPr/>
        </p:nvCxnSpPr>
        <p:spPr>
          <a:xfrm flipV="1">
            <a:off x="7341325" y="2994557"/>
            <a:ext cx="114953" cy="1206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34-015"/>
          <p:cNvCxnSpPr/>
          <p:nvPr/>
        </p:nvCxnSpPr>
        <p:spPr>
          <a:xfrm flipV="1">
            <a:off x="7456278" y="2883775"/>
            <a:ext cx="114953" cy="1107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34-016"/>
          <p:cNvCxnSpPr/>
          <p:nvPr/>
        </p:nvCxnSpPr>
        <p:spPr>
          <a:xfrm flipV="1">
            <a:off x="7571231" y="2782093"/>
            <a:ext cx="114954" cy="1016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34-017"/>
          <p:cNvCxnSpPr/>
          <p:nvPr/>
        </p:nvCxnSpPr>
        <p:spPr>
          <a:xfrm flipV="1">
            <a:off x="7686185" y="2688764"/>
            <a:ext cx="114953" cy="933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34-018"/>
          <p:cNvCxnSpPr/>
          <p:nvPr/>
        </p:nvCxnSpPr>
        <p:spPr>
          <a:xfrm flipV="1">
            <a:off x="7801138" y="2603101"/>
            <a:ext cx="114953" cy="856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34-019"/>
          <p:cNvCxnSpPr/>
          <p:nvPr/>
        </p:nvCxnSpPr>
        <p:spPr>
          <a:xfrm flipV="1">
            <a:off x="7916091" y="2524475"/>
            <a:ext cx="114953" cy="786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34-020"/>
          <p:cNvCxnSpPr/>
          <p:nvPr/>
        </p:nvCxnSpPr>
        <p:spPr>
          <a:xfrm flipV="1">
            <a:off x="8031044" y="2452307"/>
            <a:ext cx="114953" cy="7216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34-021"/>
          <p:cNvCxnSpPr/>
          <p:nvPr/>
        </p:nvCxnSpPr>
        <p:spPr>
          <a:xfrm flipV="1">
            <a:off x="8145997" y="2386067"/>
            <a:ext cx="114953" cy="662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34-022"/>
          <p:cNvCxnSpPr/>
          <p:nvPr/>
        </p:nvCxnSpPr>
        <p:spPr>
          <a:xfrm flipV="1">
            <a:off x="8260950" y="2325269"/>
            <a:ext cx="114954" cy="607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34-023"/>
          <p:cNvCxnSpPr/>
          <p:nvPr/>
        </p:nvCxnSpPr>
        <p:spPr>
          <a:xfrm flipV="1">
            <a:off x="8375904" y="2269465"/>
            <a:ext cx="114953" cy="558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34-024"/>
          <p:cNvCxnSpPr/>
          <p:nvPr/>
        </p:nvCxnSpPr>
        <p:spPr>
          <a:xfrm flipV="1">
            <a:off x="8490857" y="2218245"/>
            <a:ext cx="114953" cy="512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34-025"/>
          <p:cNvCxnSpPr/>
          <p:nvPr/>
        </p:nvCxnSpPr>
        <p:spPr>
          <a:xfrm flipV="1">
            <a:off x="8605810" y="2171232"/>
            <a:ext cx="114953" cy="470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34-026"/>
          <p:cNvCxnSpPr/>
          <p:nvPr/>
        </p:nvCxnSpPr>
        <p:spPr>
          <a:xfrm flipV="1">
            <a:off x="8720763" y="2128081"/>
            <a:ext cx="114953" cy="431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34-027"/>
          <p:cNvCxnSpPr/>
          <p:nvPr/>
        </p:nvCxnSpPr>
        <p:spPr>
          <a:xfrm flipV="1">
            <a:off x="8835716" y="2088474"/>
            <a:ext cx="114953" cy="396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34-028"/>
          <p:cNvCxnSpPr/>
          <p:nvPr/>
        </p:nvCxnSpPr>
        <p:spPr>
          <a:xfrm flipV="1">
            <a:off x="8950669" y="2052121"/>
            <a:ext cx="114953" cy="363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34-029"/>
          <p:cNvCxnSpPr/>
          <p:nvPr/>
        </p:nvCxnSpPr>
        <p:spPr>
          <a:xfrm flipV="1">
            <a:off x="9065622" y="2018754"/>
            <a:ext cx="114954" cy="333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34-030"/>
          <p:cNvCxnSpPr/>
          <p:nvPr/>
        </p:nvCxnSpPr>
        <p:spPr>
          <a:xfrm flipV="1">
            <a:off x="9180576" y="1988128"/>
            <a:ext cx="114953" cy="306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34-031"/>
          <p:cNvCxnSpPr/>
          <p:nvPr/>
        </p:nvCxnSpPr>
        <p:spPr>
          <a:xfrm flipV="1">
            <a:off x="9295529" y="1960018"/>
            <a:ext cx="114953" cy="281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34-032"/>
          <p:cNvCxnSpPr/>
          <p:nvPr/>
        </p:nvCxnSpPr>
        <p:spPr>
          <a:xfrm flipV="1">
            <a:off x="9410482" y="1934217"/>
            <a:ext cx="114953" cy="258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34-033"/>
          <p:cNvCxnSpPr/>
          <p:nvPr/>
        </p:nvCxnSpPr>
        <p:spPr>
          <a:xfrm flipV="1">
            <a:off x="9525435" y="1910535"/>
            <a:ext cx="114953" cy="236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34-034"/>
          <p:cNvCxnSpPr/>
          <p:nvPr/>
        </p:nvCxnSpPr>
        <p:spPr>
          <a:xfrm flipV="1">
            <a:off x="9640388" y="1888799"/>
            <a:ext cx="114953" cy="217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34-035"/>
          <p:cNvCxnSpPr/>
          <p:nvPr/>
        </p:nvCxnSpPr>
        <p:spPr>
          <a:xfrm flipV="1">
            <a:off x="9755341" y="1868848"/>
            <a:ext cx="114953" cy="199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34-036"/>
          <p:cNvCxnSpPr/>
          <p:nvPr/>
        </p:nvCxnSpPr>
        <p:spPr>
          <a:xfrm flipV="1">
            <a:off x="9870294" y="1850536"/>
            <a:ext cx="114954" cy="183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34-037"/>
          <p:cNvCxnSpPr/>
          <p:nvPr/>
        </p:nvCxnSpPr>
        <p:spPr>
          <a:xfrm flipV="1">
            <a:off x="9985248" y="1833728"/>
            <a:ext cx="114953" cy="168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34-038"/>
          <p:cNvCxnSpPr/>
          <p:nvPr/>
        </p:nvCxnSpPr>
        <p:spPr>
          <a:xfrm flipV="1">
            <a:off x="10100201" y="1818301"/>
            <a:ext cx="114953" cy="154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34-039"/>
          <p:cNvCxnSpPr/>
          <p:nvPr/>
        </p:nvCxnSpPr>
        <p:spPr>
          <a:xfrm flipV="1">
            <a:off x="10215154" y="1804141"/>
            <a:ext cx="114953" cy="141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34-040"/>
          <p:cNvCxnSpPr/>
          <p:nvPr/>
        </p:nvCxnSpPr>
        <p:spPr>
          <a:xfrm flipV="1">
            <a:off x="10330107" y="1791144"/>
            <a:ext cx="114953" cy="1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34-041"/>
          <p:cNvCxnSpPr/>
          <p:nvPr/>
        </p:nvCxnSpPr>
        <p:spPr>
          <a:xfrm flipV="1">
            <a:off x="10445060" y="1779214"/>
            <a:ext cx="114953" cy="119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34-042"/>
          <p:cNvCxnSpPr/>
          <p:nvPr/>
        </p:nvCxnSpPr>
        <p:spPr>
          <a:xfrm flipV="1">
            <a:off x="10560013" y="1768265"/>
            <a:ext cx="114953" cy="1094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34-043"/>
          <p:cNvCxnSpPr/>
          <p:nvPr/>
        </p:nvCxnSpPr>
        <p:spPr>
          <a:xfrm flipV="1">
            <a:off x="10674966" y="1758215"/>
            <a:ext cx="114954" cy="100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45" name="text44" descr="sci-ppt:C2-E34-044"/>
          <p:cNvSpPr txBox="1"/>
          <p:nvPr/>
        </p:nvSpPr>
        <p:spPr>
          <a:xfrm>
            <a:off x="1341120" y="3657600"/>
            <a:ext cx="95097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Integrate the local rate over space and time.</a:t>
            </a:r>
          </a:p>
        </p:txBody>
      </p:sp>
      <p:sp>
        <p:nvSpPr>
          <p:cNvPr id="46" name="text45" descr="sci-ppt:C2-E34-045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T, p: local hot state</a:t>
            </a:r>
          </a:p>
        </p:txBody>
      </p:sp>
      <p:sp>
        <p:nvSpPr>
          <p:cNvPr id="47" name="text46" descr="sci-ppt:C2-E34-046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V_d(t′): available liquid</a:t>
            </a:r>
          </a:p>
        </p:txBody>
      </p:sp>
      <p:sp>
        <p:nvSpPr>
          <p:cNvPr id="48" name="text47" descr="sci-ppt:C2-E34-047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P_act: activation probability</a:t>
            </a:r>
          </a:p>
        </p:txBody>
      </p:sp>
      <p:sp>
        <p:nvSpPr>
          <p:cNvPr id="49" name="text48" descr="sci-ppt:C2-E34-048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J: supplied event rate</a:t>
            </a:r>
          </a:p>
        </p:txBody>
      </p:sp>
      <p:sp>
        <p:nvSpPr>
          <p:cNvPr id="50" name="text49" descr="sci-ppt:C2-E34-049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t, t′, dV: event integration</a:t>
            </a:r>
          </a:p>
        </p:txBody>
      </p:sp>
      <p:sp>
        <p:nvSpPr>
          <p:cNvPr id="51" name="text50" descr="sci-ppt:C2-E34-050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 rate law or calibrated activation law is still required</a:t>
            </a:r>
          </a:p>
        </p:txBody>
      </p:sp>
      <p:sp>
        <p:nvSpPr>
          <p:cNvPr id="52" name="text51" descr="sci-ppt:C2-E34-051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One absent event does not prove impossibility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