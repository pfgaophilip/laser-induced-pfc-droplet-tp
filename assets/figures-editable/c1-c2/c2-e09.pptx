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0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C2-E09 · Diffusive scaling derived from the heat equation</a:t>
            </a:r>
          </a:p>
        </p:txBody>
      </p:sp>
      <p:cxnSp>
        <p:nvCxnSpPr>
          <p:cNvPr id="3" name="C2-E09 line 1" descr="sci-ppt:o001"/>
          <p:cNvCxnSpPr/>
          <p:nvPr/>
        </p:nvCxnSpPr>
        <p:spPr>
          <a:xfrm>
            <a:off x="914400" y="502920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0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0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0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0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1e-09</a:t>
            </a:r>
          </a:p>
        </p:txBody>
      </p:sp>
      <p:cxnSp>
        <p:nvCxnSpPr>
          <p:cNvPr id="8" name="C2-E09 line 6" descr="sci-ppt:o006"/>
          <p:cNvCxnSpPr/>
          <p:nvPr/>
        </p:nvCxnSpPr>
        <p:spPr>
          <a:xfrm>
            <a:off x="26212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09 line 7" descr="sci-ppt:o007"/>
          <p:cNvCxnSpPr/>
          <p:nvPr/>
        </p:nvCxnSpPr>
        <p:spPr>
          <a:xfrm>
            <a:off x="26212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09 text 8" descr="sci-ppt:o008"/>
          <p:cNvSpPr txBox="1"/>
          <p:nvPr/>
        </p:nvSpPr>
        <p:spPr>
          <a:xfrm>
            <a:off x="21640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1e-07</a:t>
            </a:r>
          </a:p>
        </p:txBody>
      </p:sp>
      <p:cxnSp>
        <p:nvCxnSpPr>
          <p:cNvPr id="11" name="C2-E09 line 9" descr="sci-ppt:o009"/>
          <p:cNvCxnSpPr/>
          <p:nvPr/>
        </p:nvCxnSpPr>
        <p:spPr>
          <a:xfrm>
            <a:off x="432815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09 line 10" descr="sci-ppt:o010"/>
          <p:cNvCxnSpPr/>
          <p:nvPr/>
        </p:nvCxnSpPr>
        <p:spPr>
          <a:xfrm>
            <a:off x="432815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09 text 11" descr="sci-ppt:o011"/>
          <p:cNvSpPr txBox="1"/>
          <p:nvPr/>
        </p:nvSpPr>
        <p:spPr>
          <a:xfrm>
            <a:off x="387095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4" name="C2-E09 line 12" descr="sci-ppt:o012"/>
          <p:cNvCxnSpPr/>
          <p:nvPr/>
        </p:nvCxnSpPr>
        <p:spPr>
          <a:xfrm>
            <a:off x="60350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09 line 13" descr="sci-ppt:o013"/>
          <p:cNvCxnSpPr/>
          <p:nvPr/>
        </p:nvCxnSpPr>
        <p:spPr>
          <a:xfrm>
            <a:off x="60350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09 text 14" descr="sci-ppt:o014"/>
          <p:cNvSpPr txBox="1"/>
          <p:nvPr/>
        </p:nvSpPr>
        <p:spPr>
          <a:xfrm>
            <a:off x="55778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17" name="C2-E09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09 line 16" descr="sci-ppt:o016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2-E09 line 17" descr="sci-ppt:o017"/>
          <p:cNvCxnSpPr/>
          <p:nvPr/>
        </p:nvCxnSpPr>
        <p:spPr>
          <a:xfrm>
            <a:off x="914400" y="411480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2-E09 text 18" descr="sci-ppt:o018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1e-08</a:t>
            </a:r>
          </a:p>
        </p:txBody>
      </p:sp>
      <p:cxnSp>
        <p:nvCxnSpPr>
          <p:cNvPr id="21" name="C2-E09 line 19" descr="sci-ppt:o019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2-E09 line 20" descr="sci-ppt:o020"/>
          <p:cNvCxnSpPr/>
          <p:nvPr/>
        </p:nvCxnSpPr>
        <p:spPr>
          <a:xfrm>
            <a:off x="914400" y="320040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2-E09 text 21" descr="sci-ppt:o021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1e-07</a:t>
            </a:r>
          </a:p>
        </p:txBody>
      </p:sp>
      <p:cxnSp>
        <p:nvCxnSpPr>
          <p:cNvPr id="24" name="C2-E09 line 22" descr="sci-ppt:o022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2-E09 line 23" descr="sci-ppt:o023"/>
          <p:cNvCxnSpPr/>
          <p:nvPr/>
        </p:nvCxnSpPr>
        <p:spPr>
          <a:xfrm>
            <a:off x="914400" y="228600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2-E09 text 24" descr="sci-ppt:o024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27" name="C2-E09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2-E09 line 26" descr="sci-ppt:o026"/>
          <p:cNvCxnSpPr/>
          <p:nvPr/>
        </p:nvCxnSpPr>
        <p:spPr>
          <a:xfrm>
            <a:off x="914400" y="137160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2-E09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sp>
        <p:nvSpPr>
          <p:cNvPr id="30" name="C2-E09 text 28" descr="sci-ppt:o028"/>
          <p:cNvSpPr txBox="1"/>
          <p:nvPr/>
        </p:nvSpPr>
        <p:spPr>
          <a:xfrm>
            <a:off x="914400" y="531266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heating time τₕ  (s)</a:t>
            </a:r>
          </a:p>
        </p:txBody>
      </p:sp>
      <p:sp>
        <p:nvSpPr>
          <p:cNvPr id="31" name="C2-E09 text 29" descr="sci-ppt:o029"/>
          <p:cNvSpPr txBox="1"/>
          <p:nvPr/>
        </p:nvSpPr>
        <p:spPr>
          <a:xfrm>
            <a:off x="365760" y="102412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penetration δ_T  (m)</a:t>
            </a:r>
          </a:p>
        </p:txBody>
      </p:sp>
      <p:sp>
        <p:nvSpPr>
          <p:cNvPr id="32" name="C2-E09 polygon 30" descr="sci-ppt:o030"/>
          <p:cNvSpPr/>
          <p:nvPr/>
        </p:nvSpPr>
        <p:spPr>
          <a:xfrm>
            <a:off x="914400" y="1521925"/>
            <a:ext cx="5120640" cy="2743200"/>
          </a:xfrm>
          <a:custGeom>
            <a:avLst/>
            <a:gdLst/>
            <a:ahLst/>
            <a:cxnLst/>
            <a:rect l="l" t="t" r="r" b="b"/>
            <a:pathLst>
              <a:path w="5120640" h="2743200">
                <a:moveTo>
                  <a:pt x="0" y="2743200"/>
                </a:moveTo>
                <a:lnTo>
                  <a:pt x="51723" y="2715491"/>
                </a:lnTo>
                <a:lnTo>
                  <a:pt x="103447" y="2687782"/>
                </a:lnTo>
                <a:lnTo>
                  <a:pt x="155170" y="2660072"/>
                </a:lnTo>
                <a:lnTo>
                  <a:pt x="206894" y="2632363"/>
                </a:lnTo>
                <a:lnTo>
                  <a:pt x="258618" y="2604654"/>
                </a:lnTo>
                <a:lnTo>
                  <a:pt x="310341" y="2576945"/>
                </a:lnTo>
                <a:lnTo>
                  <a:pt x="362065" y="2549236"/>
                </a:lnTo>
                <a:lnTo>
                  <a:pt x="413789" y="2521527"/>
                </a:lnTo>
                <a:lnTo>
                  <a:pt x="465512" y="2493818"/>
                </a:lnTo>
                <a:lnTo>
                  <a:pt x="517236" y="2466109"/>
                </a:lnTo>
                <a:lnTo>
                  <a:pt x="568959" y="2438400"/>
                </a:lnTo>
                <a:lnTo>
                  <a:pt x="620683" y="2410691"/>
                </a:lnTo>
                <a:lnTo>
                  <a:pt x="672407" y="2382982"/>
                </a:lnTo>
                <a:lnTo>
                  <a:pt x="724130" y="2355272"/>
                </a:lnTo>
                <a:lnTo>
                  <a:pt x="775854" y="2327563"/>
                </a:lnTo>
                <a:lnTo>
                  <a:pt x="827578" y="2299854"/>
                </a:lnTo>
                <a:lnTo>
                  <a:pt x="879301" y="2272145"/>
                </a:lnTo>
                <a:lnTo>
                  <a:pt x="931025" y="2244436"/>
                </a:lnTo>
                <a:lnTo>
                  <a:pt x="982749" y="2216727"/>
                </a:lnTo>
                <a:lnTo>
                  <a:pt x="1034472" y="2189018"/>
                </a:lnTo>
                <a:lnTo>
                  <a:pt x="1086196" y="2161309"/>
                </a:lnTo>
                <a:lnTo>
                  <a:pt x="1137920" y="2133600"/>
                </a:lnTo>
                <a:lnTo>
                  <a:pt x="1189643" y="2105891"/>
                </a:lnTo>
                <a:lnTo>
                  <a:pt x="1241367" y="2078182"/>
                </a:lnTo>
                <a:lnTo>
                  <a:pt x="1293090" y="2050472"/>
                </a:lnTo>
                <a:lnTo>
                  <a:pt x="1344814" y="2022763"/>
                </a:lnTo>
                <a:lnTo>
                  <a:pt x="1396538" y="1995054"/>
                </a:lnTo>
                <a:lnTo>
                  <a:pt x="1448261" y="1967345"/>
                </a:lnTo>
                <a:lnTo>
                  <a:pt x="1499985" y="1939636"/>
                </a:lnTo>
                <a:lnTo>
                  <a:pt x="1551709" y="1911927"/>
                </a:lnTo>
                <a:lnTo>
                  <a:pt x="1603432" y="1884218"/>
                </a:lnTo>
                <a:lnTo>
                  <a:pt x="1655156" y="1856509"/>
                </a:lnTo>
                <a:lnTo>
                  <a:pt x="1706879" y="1828800"/>
                </a:lnTo>
                <a:lnTo>
                  <a:pt x="1758603" y="1801091"/>
                </a:lnTo>
                <a:lnTo>
                  <a:pt x="1810327" y="1773382"/>
                </a:lnTo>
                <a:lnTo>
                  <a:pt x="1862050" y="1745672"/>
                </a:lnTo>
                <a:lnTo>
                  <a:pt x="1913774" y="1717963"/>
                </a:lnTo>
                <a:lnTo>
                  <a:pt x="1965498" y="1690254"/>
                </a:lnTo>
                <a:lnTo>
                  <a:pt x="2017221" y="1662545"/>
                </a:lnTo>
                <a:lnTo>
                  <a:pt x="2068945" y="1634836"/>
                </a:lnTo>
                <a:lnTo>
                  <a:pt x="2120669" y="1607127"/>
                </a:lnTo>
                <a:lnTo>
                  <a:pt x="2172392" y="1579418"/>
                </a:lnTo>
                <a:lnTo>
                  <a:pt x="2224116" y="1551709"/>
                </a:lnTo>
                <a:lnTo>
                  <a:pt x="2275840" y="1524000"/>
                </a:lnTo>
                <a:lnTo>
                  <a:pt x="2327563" y="1496291"/>
                </a:lnTo>
                <a:lnTo>
                  <a:pt x="2379287" y="1468582"/>
                </a:lnTo>
                <a:lnTo>
                  <a:pt x="2431010" y="1440872"/>
                </a:lnTo>
                <a:lnTo>
                  <a:pt x="2482734" y="1413163"/>
                </a:lnTo>
                <a:lnTo>
                  <a:pt x="2534458" y="1385454"/>
                </a:lnTo>
                <a:lnTo>
                  <a:pt x="2586181" y="1357745"/>
                </a:lnTo>
                <a:lnTo>
                  <a:pt x="2637905" y="1330036"/>
                </a:lnTo>
                <a:lnTo>
                  <a:pt x="2689629" y="1302327"/>
                </a:lnTo>
                <a:lnTo>
                  <a:pt x="2741352" y="1274618"/>
                </a:lnTo>
                <a:lnTo>
                  <a:pt x="2793076" y="1246909"/>
                </a:lnTo>
                <a:lnTo>
                  <a:pt x="2844800" y="1219200"/>
                </a:lnTo>
                <a:lnTo>
                  <a:pt x="2896523" y="1191491"/>
                </a:lnTo>
                <a:lnTo>
                  <a:pt x="2948247" y="1163782"/>
                </a:lnTo>
                <a:lnTo>
                  <a:pt x="2999970" y="1136072"/>
                </a:lnTo>
                <a:lnTo>
                  <a:pt x="3051694" y="1108363"/>
                </a:lnTo>
                <a:lnTo>
                  <a:pt x="3103418" y="1080654"/>
                </a:lnTo>
                <a:lnTo>
                  <a:pt x="3155141" y="1052945"/>
                </a:lnTo>
                <a:lnTo>
                  <a:pt x="3206865" y="1025236"/>
                </a:lnTo>
                <a:lnTo>
                  <a:pt x="3258589" y="997527"/>
                </a:lnTo>
                <a:lnTo>
                  <a:pt x="3310312" y="969818"/>
                </a:lnTo>
                <a:lnTo>
                  <a:pt x="3362036" y="942109"/>
                </a:lnTo>
                <a:lnTo>
                  <a:pt x="3413759" y="914400"/>
                </a:lnTo>
                <a:lnTo>
                  <a:pt x="3465483" y="886691"/>
                </a:lnTo>
                <a:lnTo>
                  <a:pt x="3517207" y="858982"/>
                </a:lnTo>
                <a:lnTo>
                  <a:pt x="3568930" y="831272"/>
                </a:lnTo>
                <a:lnTo>
                  <a:pt x="3620654" y="803563"/>
                </a:lnTo>
                <a:lnTo>
                  <a:pt x="3672378" y="775854"/>
                </a:lnTo>
                <a:lnTo>
                  <a:pt x="3724101" y="748145"/>
                </a:lnTo>
                <a:lnTo>
                  <a:pt x="3775825" y="720436"/>
                </a:lnTo>
                <a:lnTo>
                  <a:pt x="3827549" y="692727"/>
                </a:lnTo>
                <a:lnTo>
                  <a:pt x="3879272" y="665018"/>
                </a:lnTo>
                <a:lnTo>
                  <a:pt x="3930996" y="637309"/>
                </a:lnTo>
                <a:lnTo>
                  <a:pt x="3982720" y="609600"/>
                </a:lnTo>
                <a:lnTo>
                  <a:pt x="4034443" y="581891"/>
                </a:lnTo>
                <a:lnTo>
                  <a:pt x="4086167" y="554182"/>
                </a:lnTo>
                <a:lnTo>
                  <a:pt x="4137890" y="526472"/>
                </a:lnTo>
                <a:lnTo>
                  <a:pt x="4189614" y="498763"/>
                </a:lnTo>
                <a:lnTo>
                  <a:pt x="4241338" y="471054"/>
                </a:lnTo>
                <a:lnTo>
                  <a:pt x="4293061" y="443345"/>
                </a:lnTo>
                <a:lnTo>
                  <a:pt x="4344785" y="415636"/>
                </a:lnTo>
                <a:lnTo>
                  <a:pt x="4396509" y="387927"/>
                </a:lnTo>
                <a:lnTo>
                  <a:pt x="4448232" y="360218"/>
                </a:lnTo>
                <a:lnTo>
                  <a:pt x="4499956" y="332509"/>
                </a:lnTo>
                <a:lnTo>
                  <a:pt x="4551680" y="304800"/>
                </a:lnTo>
                <a:lnTo>
                  <a:pt x="4603403" y="277091"/>
                </a:lnTo>
                <a:lnTo>
                  <a:pt x="4655127" y="249382"/>
                </a:lnTo>
                <a:lnTo>
                  <a:pt x="4706850" y="221672"/>
                </a:lnTo>
                <a:lnTo>
                  <a:pt x="4758574" y="193963"/>
                </a:lnTo>
                <a:lnTo>
                  <a:pt x="4810298" y="166254"/>
                </a:lnTo>
                <a:lnTo>
                  <a:pt x="4862021" y="138545"/>
                </a:lnTo>
                <a:lnTo>
                  <a:pt x="4913745" y="110836"/>
                </a:lnTo>
                <a:lnTo>
                  <a:pt x="4965469" y="83127"/>
                </a:lnTo>
                <a:lnTo>
                  <a:pt x="5017192" y="55418"/>
                </a:lnTo>
                <a:lnTo>
                  <a:pt x="5068916" y="27709"/>
                </a:lnTo>
                <a:lnTo>
                  <a:pt x="51206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2-E09 ellipse 31" descr="sci-ppt:o031"/>
          <p:cNvSpPr/>
          <p:nvPr/>
        </p:nvSpPr>
        <p:spPr>
          <a:xfrm>
            <a:off x="1694687" y="3734773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2-E09 text 32" descr="sci-ppt:o032"/>
          <p:cNvSpPr txBox="1"/>
          <p:nvPr/>
        </p:nvSpPr>
        <p:spPr>
          <a:xfrm>
            <a:off x="1877568" y="3396445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δ_T ≈ 22 nm at 10 ns</a:t>
            </a:r>
          </a:p>
        </p:txBody>
      </p:sp>
      <p:sp>
        <p:nvSpPr>
          <p:cNvPr id="35" name="C2-E09 text 33" descr="sci-ppt:o033"/>
          <p:cNvSpPr txBox="1"/>
          <p:nvPr/>
        </p:nvSpPr>
        <p:spPr>
          <a:xfrm>
            <a:off x="3804783" y="3472836"/>
            <a:ext cx="2194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δ_T ~ √(α τₕ)</a:t>
            </a:r>
          </a:p>
        </p:txBody>
      </p:sp>
      <p:cxnSp>
        <p:nvCxnSpPr>
          <p:cNvPr id="36" name="C2-E09 line 34" descr="sci-ppt:o034"/>
          <p:cNvCxnSpPr/>
          <p:nvPr/>
        </p:nvCxnSpPr>
        <p:spPr>
          <a:xfrm>
            <a:off x="6766560" y="5029200"/>
            <a:ext cx="50292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7" name="C2-E09 line 35" descr="sci-ppt:o035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8" name="C2-E09 line 36" descr="sci-ppt:o036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2-E09 line 37" descr="sci-ppt:o037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2-E09 text 38" descr="sci-ppt:o038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1e-08</a:t>
            </a:r>
          </a:p>
        </p:txBody>
      </p:sp>
      <p:cxnSp>
        <p:nvCxnSpPr>
          <p:cNvPr id="41" name="C2-E09 line 39" descr="sci-ppt:o039"/>
          <p:cNvCxnSpPr/>
          <p:nvPr/>
        </p:nvCxnSpPr>
        <p:spPr>
          <a:xfrm>
            <a:off x="9281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2-E09 line 40" descr="sci-ppt:o040"/>
          <p:cNvCxnSpPr/>
          <p:nvPr/>
        </p:nvCxnSpPr>
        <p:spPr>
          <a:xfrm>
            <a:off x="9281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2-E09 text 41" descr="sci-ppt:o041"/>
          <p:cNvSpPr txBox="1"/>
          <p:nvPr/>
        </p:nvSpPr>
        <p:spPr>
          <a:xfrm>
            <a:off x="8823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44" name="C2-E09 line 42" descr="sci-ppt:o042"/>
          <p:cNvCxnSpPr/>
          <p:nvPr/>
        </p:nvCxnSpPr>
        <p:spPr>
          <a:xfrm>
            <a:off x="117957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2-E09 line 43" descr="sci-ppt:o043"/>
          <p:cNvCxnSpPr/>
          <p:nvPr/>
        </p:nvCxnSpPr>
        <p:spPr>
          <a:xfrm>
            <a:off x="117957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2-E09 text 44" descr="sci-ppt:o044"/>
          <p:cNvSpPr txBox="1"/>
          <p:nvPr/>
        </p:nvSpPr>
        <p:spPr>
          <a:xfrm>
            <a:off x="113385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1e-04</a:t>
            </a:r>
          </a:p>
        </p:txBody>
      </p:sp>
      <p:cxnSp>
        <p:nvCxnSpPr>
          <p:cNvPr id="47" name="C2-E09 line 45" descr="sci-ppt:o045"/>
          <p:cNvCxnSpPr/>
          <p:nvPr/>
        </p:nvCxnSpPr>
        <p:spPr>
          <a:xfrm>
            <a:off x="670255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2-E09 line 46" descr="sci-ppt:o046"/>
          <p:cNvCxnSpPr/>
          <p:nvPr/>
        </p:nvCxnSpPr>
        <p:spPr>
          <a:xfrm>
            <a:off x="6702552" y="3566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2-E09 line 47" descr="sci-ppt:o047"/>
          <p:cNvCxnSpPr/>
          <p:nvPr/>
        </p:nvCxnSpPr>
        <p:spPr>
          <a:xfrm>
            <a:off x="6766560" y="3566160"/>
            <a:ext cx="5029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2-E09 text 48" descr="sci-ppt:o048"/>
          <p:cNvSpPr txBox="1"/>
          <p:nvPr/>
        </p:nvSpPr>
        <p:spPr>
          <a:xfrm>
            <a:off x="5897880" y="34838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51" name="C2-E09 line 49" descr="sci-ppt:o049"/>
          <p:cNvCxnSpPr/>
          <p:nvPr/>
        </p:nvCxnSpPr>
        <p:spPr>
          <a:xfrm>
            <a:off x="6702552" y="21031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2-E09 line 50" descr="sci-ppt:o050"/>
          <p:cNvCxnSpPr/>
          <p:nvPr/>
        </p:nvCxnSpPr>
        <p:spPr>
          <a:xfrm>
            <a:off x="6766560" y="2103120"/>
            <a:ext cx="5029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2-E09 text 51" descr="sci-ppt:o051"/>
          <p:cNvSpPr txBox="1"/>
          <p:nvPr/>
        </p:nvSpPr>
        <p:spPr>
          <a:xfrm>
            <a:off x="5897880" y="20208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1e-01</a:t>
            </a:r>
          </a:p>
        </p:txBody>
      </p:sp>
      <p:sp>
        <p:nvSpPr>
          <p:cNvPr id="54" name="C2-E09 text 52" descr="sci-ppt:o052"/>
          <p:cNvSpPr txBox="1"/>
          <p:nvPr/>
        </p:nvSpPr>
        <p:spPr>
          <a:xfrm>
            <a:off x="6766560" y="5312664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distance Lₕ  (m)</a:t>
            </a:r>
          </a:p>
        </p:txBody>
      </p:sp>
      <p:sp>
        <p:nvSpPr>
          <p:cNvPr id="55" name="C2-E09 text 53" descr="sci-ppt:o053"/>
          <p:cNvSpPr txBox="1"/>
          <p:nvPr/>
        </p:nvSpPr>
        <p:spPr>
          <a:xfrm>
            <a:off x="6217920" y="1024128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diffusion time tₜₕ  (s)</a:t>
            </a:r>
          </a:p>
        </p:txBody>
      </p:sp>
      <p:sp>
        <p:nvSpPr>
          <p:cNvPr id="56" name="C2-E09 polygon 54" descr="sci-ppt:o054"/>
          <p:cNvSpPr/>
          <p:nvPr/>
        </p:nvSpPr>
        <p:spPr>
          <a:xfrm>
            <a:off x="6766560" y="1982859"/>
            <a:ext cx="5029200" cy="2926080"/>
          </a:xfrm>
          <a:custGeom>
            <a:avLst/>
            <a:gdLst/>
            <a:ahLst/>
            <a:cxnLst/>
            <a:rect l="l" t="t" r="r" b="b"/>
            <a:pathLst>
              <a:path w="5029200" h="2926080">
                <a:moveTo>
                  <a:pt x="0" y="2926080"/>
                </a:moveTo>
                <a:lnTo>
                  <a:pt x="50800" y="2896524"/>
                </a:lnTo>
                <a:lnTo>
                  <a:pt x="101600" y="2866968"/>
                </a:lnTo>
                <a:lnTo>
                  <a:pt x="152400" y="2837411"/>
                </a:lnTo>
                <a:lnTo>
                  <a:pt x="203200" y="2807855"/>
                </a:lnTo>
                <a:lnTo>
                  <a:pt x="254000" y="2778298"/>
                </a:lnTo>
                <a:lnTo>
                  <a:pt x="304800" y="2748742"/>
                </a:lnTo>
                <a:lnTo>
                  <a:pt x="355600" y="2719186"/>
                </a:lnTo>
                <a:lnTo>
                  <a:pt x="406400" y="2689629"/>
                </a:lnTo>
                <a:lnTo>
                  <a:pt x="457200" y="2660073"/>
                </a:lnTo>
                <a:lnTo>
                  <a:pt x="508000" y="2630517"/>
                </a:lnTo>
                <a:lnTo>
                  <a:pt x="558800" y="2600960"/>
                </a:lnTo>
                <a:lnTo>
                  <a:pt x="609600" y="2571404"/>
                </a:lnTo>
                <a:lnTo>
                  <a:pt x="660400" y="2541848"/>
                </a:lnTo>
                <a:lnTo>
                  <a:pt x="711200" y="2512291"/>
                </a:lnTo>
                <a:lnTo>
                  <a:pt x="762000" y="2482735"/>
                </a:lnTo>
                <a:lnTo>
                  <a:pt x="812800" y="2453178"/>
                </a:lnTo>
                <a:lnTo>
                  <a:pt x="863600" y="2423622"/>
                </a:lnTo>
                <a:lnTo>
                  <a:pt x="914400" y="2394066"/>
                </a:lnTo>
                <a:lnTo>
                  <a:pt x="965200" y="2364509"/>
                </a:lnTo>
                <a:lnTo>
                  <a:pt x="1016000" y="2334953"/>
                </a:lnTo>
                <a:lnTo>
                  <a:pt x="1066800" y="2305397"/>
                </a:lnTo>
                <a:lnTo>
                  <a:pt x="1117600" y="2275840"/>
                </a:lnTo>
                <a:lnTo>
                  <a:pt x="1168399" y="2246284"/>
                </a:lnTo>
                <a:lnTo>
                  <a:pt x="1219200" y="2216728"/>
                </a:lnTo>
                <a:lnTo>
                  <a:pt x="1270000" y="2187171"/>
                </a:lnTo>
                <a:lnTo>
                  <a:pt x="1320800" y="2157615"/>
                </a:lnTo>
                <a:lnTo>
                  <a:pt x="1371600" y="2128058"/>
                </a:lnTo>
                <a:lnTo>
                  <a:pt x="1422400" y="2098502"/>
                </a:lnTo>
                <a:lnTo>
                  <a:pt x="1473200" y="2068946"/>
                </a:lnTo>
                <a:lnTo>
                  <a:pt x="1524000" y="2039389"/>
                </a:lnTo>
                <a:lnTo>
                  <a:pt x="1574800" y="2009833"/>
                </a:lnTo>
                <a:lnTo>
                  <a:pt x="1625600" y="1980277"/>
                </a:lnTo>
                <a:lnTo>
                  <a:pt x="1676400" y="1950720"/>
                </a:lnTo>
                <a:lnTo>
                  <a:pt x="1727200" y="1921164"/>
                </a:lnTo>
                <a:lnTo>
                  <a:pt x="1778000" y="1891608"/>
                </a:lnTo>
                <a:lnTo>
                  <a:pt x="1828800" y="1862051"/>
                </a:lnTo>
                <a:lnTo>
                  <a:pt x="1879600" y="1832495"/>
                </a:lnTo>
                <a:lnTo>
                  <a:pt x="1930400" y="1802938"/>
                </a:lnTo>
                <a:lnTo>
                  <a:pt x="1981200" y="1773382"/>
                </a:lnTo>
                <a:lnTo>
                  <a:pt x="2032000" y="1743826"/>
                </a:lnTo>
                <a:lnTo>
                  <a:pt x="2082800" y="1714269"/>
                </a:lnTo>
                <a:lnTo>
                  <a:pt x="2133600" y="1684713"/>
                </a:lnTo>
                <a:lnTo>
                  <a:pt x="2184399" y="1655157"/>
                </a:lnTo>
                <a:lnTo>
                  <a:pt x="2235200" y="1625600"/>
                </a:lnTo>
                <a:lnTo>
                  <a:pt x="2286000" y="1596044"/>
                </a:lnTo>
                <a:lnTo>
                  <a:pt x="2336800" y="1566488"/>
                </a:lnTo>
                <a:lnTo>
                  <a:pt x="2387600" y="1536931"/>
                </a:lnTo>
                <a:lnTo>
                  <a:pt x="2438400" y="1507375"/>
                </a:lnTo>
                <a:lnTo>
                  <a:pt x="2489200" y="1477818"/>
                </a:lnTo>
                <a:lnTo>
                  <a:pt x="2540000" y="1448262"/>
                </a:lnTo>
                <a:lnTo>
                  <a:pt x="2590800" y="1418706"/>
                </a:lnTo>
                <a:lnTo>
                  <a:pt x="2641600" y="1389149"/>
                </a:lnTo>
                <a:lnTo>
                  <a:pt x="2692400" y="1359593"/>
                </a:lnTo>
                <a:lnTo>
                  <a:pt x="2743200" y="1330037"/>
                </a:lnTo>
                <a:lnTo>
                  <a:pt x="2794000" y="1300480"/>
                </a:lnTo>
                <a:lnTo>
                  <a:pt x="2844800" y="1270924"/>
                </a:lnTo>
                <a:lnTo>
                  <a:pt x="2895600" y="1241368"/>
                </a:lnTo>
                <a:lnTo>
                  <a:pt x="2946400" y="1211811"/>
                </a:lnTo>
                <a:lnTo>
                  <a:pt x="2997200" y="1182255"/>
                </a:lnTo>
                <a:lnTo>
                  <a:pt x="3048000" y="1152698"/>
                </a:lnTo>
                <a:lnTo>
                  <a:pt x="3098800" y="1123142"/>
                </a:lnTo>
                <a:lnTo>
                  <a:pt x="3149600" y="1093586"/>
                </a:lnTo>
                <a:lnTo>
                  <a:pt x="3200400" y="1064029"/>
                </a:lnTo>
                <a:lnTo>
                  <a:pt x="3251200" y="1034473"/>
                </a:lnTo>
                <a:lnTo>
                  <a:pt x="3302000" y="1004917"/>
                </a:lnTo>
                <a:lnTo>
                  <a:pt x="3352800" y="975360"/>
                </a:lnTo>
                <a:lnTo>
                  <a:pt x="3403600" y="945804"/>
                </a:lnTo>
                <a:lnTo>
                  <a:pt x="3454400" y="916248"/>
                </a:lnTo>
                <a:lnTo>
                  <a:pt x="3505200" y="886691"/>
                </a:lnTo>
                <a:lnTo>
                  <a:pt x="3556000" y="857135"/>
                </a:lnTo>
                <a:lnTo>
                  <a:pt x="3606800" y="827578"/>
                </a:lnTo>
                <a:lnTo>
                  <a:pt x="3657600" y="798022"/>
                </a:lnTo>
                <a:lnTo>
                  <a:pt x="3708400" y="768466"/>
                </a:lnTo>
                <a:lnTo>
                  <a:pt x="3759200" y="738909"/>
                </a:lnTo>
                <a:lnTo>
                  <a:pt x="3810000" y="709353"/>
                </a:lnTo>
                <a:lnTo>
                  <a:pt x="3860800" y="679797"/>
                </a:lnTo>
                <a:lnTo>
                  <a:pt x="3911600" y="650240"/>
                </a:lnTo>
                <a:lnTo>
                  <a:pt x="3962400" y="620684"/>
                </a:lnTo>
                <a:lnTo>
                  <a:pt x="4013200" y="591128"/>
                </a:lnTo>
                <a:lnTo>
                  <a:pt x="4064000" y="561571"/>
                </a:lnTo>
                <a:lnTo>
                  <a:pt x="4114800" y="532015"/>
                </a:lnTo>
                <a:lnTo>
                  <a:pt x="4165600" y="502458"/>
                </a:lnTo>
                <a:lnTo>
                  <a:pt x="4216400" y="472902"/>
                </a:lnTo>
                <a:lnTo>
                  <a:pt x="4267200" y="443346"/>
                </a:lnTo>
                <a:lnTo>
                  <a:pt x="4318000" y="413789"/>
                </a:lnTo>
                <a:lnTo>
                  <a:pt x="4368800" y="384233"/>
                </a:lnTo>
                <a:lnTo>
                  <a:pt x="4419600" y="354677"/>
                </a:lnTo>
                <a:lnTo>
                  <a:pt x="4470399" y="325120"/>
                </a:lnTo>
                <a:lnTo>
                  <a:pt x="4521200" y="295564"/>
                </a:lnTo>
                <a:lnTo>
                  <a:pt x="4572000" y="266008"/>
                </a:lnTo>
                <a:lnTo>
                  <a:pt x="4622800" y="236451"/>
                </a:lnTo>
                <a:lnTo>
                  <a:pt x="4673600" y="206895"/>
                </a:lnTo>
                <a:lnTo>
                  <a:pt x="4724400" y="177338"/>
                </a:lnTo>
                <a:lnTo>
                  <a:pt x="4775200" y="147782"/>
                </a:lnTo>
                <a:lnTo>
                  <a:pt x="4826000" y="118226"/>
                </a:lnTo>
                <a:lnTo>
                  <a:pt x="4876800" y="88669"/>
                </a:lnTo>
                <a:lnTo>
                  <a:pt x="4927600" y="59113"/>
                </a:lnTo>
                <a:lnTo>
                  <a:pt x="4978400" y="29557"/>
                </a:lnTo>
                <a:lnTo>
                  <a:pt x="502920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2-E09 ellipse 55" descr="sci-ppt:o055"/>
          <p:cNvSpPr/>
          <p:nvPr/>
        </p:nvSpPr>
        <p:spPr>
          <a:xfrm>
            <a:off x="10086822" y="2861437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2-E09 text 56" descr="sci-ppt:o056"/>
          <p:cNvSpPr txBox="1"/>
          <p:nvPr/>
        </p:nvSpPr>
        <p:spPr>
          <a:xfrm>
            <a:off x="7599654" y="2477389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tₜₕ ≈ 0.53 ms to cross 5 µm</a:t>
            </a:r>
          </a:p>
        </p:txBody>
      </p:sp>
      <p:sp>
        <p:nvSpPr>
          <p:cNvPr id="59" name="C2-E09 text 57" descr="sci-ppt:o057"/>
          <p:cNvSpPr txBox="1"/>
          <p:nvPr/>
        </p:nvSpPr>
        <p:spPr>
          <a:xfrm>
            <a:off x="7218197" y="3840480"/>
            <a:ext cx="2194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tₜₕ ~ Lₕ²/α</a:t>
            </a:r>
          </a:p>
        </p:txBody>
      </p:sp>
      <p:sp>
        <p:nvSpPr>
          <p:cNvPr id="60" name="C2-E09 text 58" descr="sci-ppt:o058"/>
          <p:cNvSpPr txBox="1"/>
          <p:nvPr/>
        </p:nvSpPr>
        <p:spPr>
          <a:xfrm>
            <a:off x="914400" y="5733288"/>
            <a:ext cx="10972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α = k/(ρcₚ) = 4.69×10⁻⁸ m²/s for the PFC liquid.  Heat travels a distance δ in a time ~ δ²/α, so doubling δ costs four times as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long.</a:t>
            </a:r>
          </a:p>
        </p:txBody>
      </p:sp>
      <p:sp>
        <p:nvSpPr>
          <p:cNvPr id="61" name="C2-E09 text 59" descr="sci-ppt:o05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Scalings of Eq. C2-E09 evaluated with the PFC liquid properties of Eq. C2-E10.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