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2-E13 text 0" descr="sci-ppt:o000"/>
          <p:cNvSpPr txBox="1"/>
          <p:nvPr/>
        </p:nvSpPr>
        <p:spPr>
          <a:xfrm>
            <a:off x="274320" y="118872"/>
            <a:ext cx="11612880" cy="34010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8EDBD4"/>
                </a:solidFill>
                <a:latin typeface="Arial"/>
              </a:rPr>
              <a:t>C2-E13 · Verified empirical water property correlations</a:t>
            </a:r>
          </a:p>
        </p:txBody>
      </p:sp>
      <p:cxnSp>
        <p:nvCxnSpPr>
          <p:cNvPr id="3" name="C2-E13 line 1" descr="sci-ppt:o001"/>
          <p:cNvCxnSpPr/>
          <p:nvPr/>
        </p:nvCxnSpPr>
        <p:spPr>
          <a:xfrm>
            <a:off x="914400" y="5029200"/>
            <a:ext cx="6583679" cy="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4" name="C2-E13 line 2" descr="sci-ppt:o002"/>
          <p:cNvCxnSpPr/>
          <p:nvPr/>
        </p:nvCxnSpPr>
        <p:spPr>
          <a:xfrm>
            <a:off x="914400" y="1371600"/>
            <a:ext cx="0" cy="365760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5" name="C2-E13 line 3" descr="sci-ppt:o003"/>
          <p:cNvCxnSpPr/>
          <p:nvPr/>
        </p:nvCxnSpPr>
        <p:spPr>
          <a:xfrm>
            <a:off x="914400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6" name="C2-E13 line 4" descr="sci-ppt:o004"/>
          <p:cNvCxnSpPr/>
          <p:nvPr/>
        </p:nvCxnSpPr>
        <p:spPr>
          <a:xfrm>
            <a:off x="914400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7" name="C2-E13 text 5" descr="sci-ppt:o005"/>
          <p:cNvSpPr txBox="1"/>
          <p:nvPr/>
        </p:nvSpPr>
        <p:spPr>
          <a:xfrm>
            <a:off x="457200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270</a:t>
            </a:r>
          </a:p>
        </p:txBody>
      </p:sp>
      <p:cxnSp>
        <p:nvCxnSpPr>
          <p:cNvPr id="8" name="C2-E13 line 6" descr="sci-ppt:o006"/>
          <p:cNvCxnSpPr/>
          <p:nvPr/>
        </p:nvCxnSpPr>
        <p:spPr>
          <a:xfrm>
            <a:off x="1854925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9" name="C2-E13 line 7" descr="sci-ppt:o007"/>
          <p:cNvCxnSpPr/>
          <p:nvPr/>
        </p:nvCxnSpPr>
        <p:spPr>
          <a:xfrm>
            <a:off x="1854925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0" name="C2-E13 text 8" descr="sci-ppt:o008"/>
          <p:cNvSpPr txBox="1"/>
          <p:nvPr/>
        </p:nvSpPr>
        <p:spPr>
          <a:xfrm>
            <a:off x="1397725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280</a:t>
            </a:r>
          </a:p>
        </p:txBody>
      </p:sp>
      <p:cxnSp>
        <p:nvCxnSpPr>
          <p:cNvPr id="11" name="C2-E13 line 9" descr="sci-ppt:o009"/>
          <p:cNvCxnSpPr/>
          <p:nvPr/>
        </p:nvCxnSpPr>
        <p:spPr>
          <a:xfrm>
            <a:off x="2795451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2" name="C2-E13 line 10" descr="sci-ppt:o010"/>
          <p:cNvCxnSpPr/>
          <p:nvPr/>
        </p:nvCxnSpPr>
        <p:spPr>
          <a:xfrm>
            <a:off x="2795451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3" name="C2-E13 text 11" descr="sci-ppt:o011"/>
          <p:cNvSpPr txBox="1"/>
          <p:nvPr/>
        </p:nvSpPr>
        <p:spPr>
          <a:xfrm>
            <a:off x="2338251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290</a:t>
            </a:r>
          </a:p>
        </p:txBody>
      </p:sp>
      <p:cxnSp>
        <p:nvCxnSpPr>
          <p:cNvPr id="14" name="C2-E13 line 12" descr="sci-ppt:o012"/>
          <p:cNvCxnSpPr/>
          <p:nvPr/>
        </p:nvCxnSpPr>
        <p:spPr>
          <a:xfrm>
            <a:off x="3735977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5" name="C2-E13 line 13" descr="sci-ppt:o013"/>
          <p:cNvCxnSpPr/>
          <p:nvPr/>
        </p:nvCxnSpPr>
        <p:spPr>
          <a:xfrm>
            <a:off x="3735977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6" name="C2-E13 text 14" descr="sci-ppt:o014"/>
          <p:cNvSpPr txBox="1"/>
          <p:nvPr/>
        </p:nvSpPr>
        <p:spPr>
          <a:xfrm>
            <a:off x="3278777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300</a:t>
            </a:r>
          </a:p>
        </p:txBody>
      </p:sp>
      <p:cxnSp>
        <p:nvCxnSpPr>
          <p:cNvPr id="17" name="C2-E13 line 15" descr="sci-ppt:o015"/>
          <p:cNvCxnSpPr/>
          <p:nvPr/>
        </p:nvCxnSpPr>
        <p:spPr>
          <a:xfrm>
            <a:off x="4676502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8" name="C2-E13 line 16" descr="sci-ppt:o016"/>
          <p:cNvCxnSpPr/>
          <p:nvPr/>
        </p:nvCxnSpPr>
        <p:spPr>
          <a:xfrm>
            <a:off x="4676502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9" name="C2-E13 text 17" descr="sci-ppt:o017"/>
          <p:cNvSpPr txBox="1"/>
          <p:nvPr/>
        </p:nvSpPr>
        <p:spPr>
          <a:xfrm>
            <a:off x="4219302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310</a:t>
            </a:r>
          </a:p>
        </p:txBody>
      </p:sp>
      <p:cxnSp>
        <p:nvCxnSpPr>
          <p:cNvPr id="20" name="C2-E13 line 18" descr="sci-ppt:o018"/>
          <p:cNvCxnSpPr/>
          <p:nvPr/>
        </p:nvCxnSpPr>
        <p:spPr>
          <a:xfrm>
            <a:off x="5617028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1" name="C2-E13 line 19" descr="sci-ppt:o019"/>
          <p:cNvCxnSpPr/>
          <p:nvPr/>
        </p:nvCxnSpPr>
        <p:spPr>
          <a:xfrm>
            <a:off x="5617028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2" name="C2-E13 text 20" descr="sci-ppt:o020"/>
          <p:cNvSpPr txBox="1"/>
          <p:nvPr/>
        </p:nvSpPr>
        <p:spPr>
          <a:xfrm>
            <a:off x="5159828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320</a:t>
            </a:r>
          </a:p>
        </p:txBody>
      </p:sp>
      <p:cxnSp>
        <p:nvCxnSpPr>
          <p:cNvPr id="23" name="C2-E13 line 21" descr="sci-ppt:o021"/>
          <p:cNvCxnSpPr/>
          <p:nvPr/>
        </p:nvCxnSpPr>
        <p:spPr>
          <a:xfrm>
            <a:off x="6557554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4" name="C2-E13 line 22" descr="sci-ppt:o022"/>
          <p:cNvCxnSpPr/>
          <p:nvPr/>
        </p:nvCxnSpPr>
        <p:spPr>
          <a:xfrm>
            <a:off x="6557554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5" name="C2-E13 text 23" descr="sci-ppt:o023"/>
          <p:cNvSpPr txBox="1"/>
          <p:nvPr/>
        </p:nvSpPr>
        <p:spPr>
          <a:xfrm>
            <a:off x="6100354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330</a:t>
            </a:r>
          </a:p>
        </p:txBody>
      </p:sp>
      <p:cxnSp>
        <p:nvCxnSpPr>
          <p:cNvPr id="26" name="C2-E13 line 24" descr="sci-ppt:o024"/>
          <p:cNvCxnSpPr/>
          <p:nvPr/>
        </p:nvCxnSpPr>
        <p:spPr>
          <a:xfrm>
            <a:off x="7498079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7" name="C2-E13 line 25" descr="sci-ppt:o025"/>
          <p:cNvCxnSpPr/>
          <p:nvPr/>
        </p:nvCxnSpPr>
        <p:spPr>
          <a:xfrm>
            <a:off x="7498079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8" name="C2-E13 text 26" descr="sci-ppt:o026"/>
          <p:cNvSpPr txBox="1"/>
          <p:nvPr/>
        </p:nvSpPr>
        <p:spPr>
          <a:xfrm>
            <a:off x="7040879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340</a:t>
            </a:r>
          </a:p>
        </p:txBody>
      </p:sp>
      <p:cxnSp>
        <p:nvCxnSpPr>
          <p:cNvPr id="29" name="C2-E13 line 27" descr="sci-ppt:o027"/>
          <p:cNvCxnSpPr/>
          <p:nvPr/>
        </p:nvCxnSpPr>
        <p:spPr>
          <a:xfrm>
            <a:off x="850392" y="4559213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30" name="C2-E13 line 28" descr="sci-ppt:o028"/>
          <p:cNvCxnSpPr/>
          <p:nvPr/>
        </p:nvCxnSpPr>
        <p:spPr>
          <a:xfrm>
            <a:off x="914400" y="4559213"/>
            <a:ext cx="6583679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31" name="C2-E13 text 29" descr="sci-ppt:o029"/>
          <p:cNvSpPr txBox="1"/>
          <p:nvPr/>
        </p:nvSpPr>
        <p:spPr>
          <a:xfrm>
            <a:off x="45720" y="4476917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0.01</a:t>
            </a:r>
          </a:p>
        </p:txBody>
      </p:sp>
      <p:cxnSp>
        <p:nvCxnSpPr>
          <p:cNvPr id="32" name="C2-E13 line 30" descr="sci-ppt:o030"/>
          <p:cNvCxnSpPr/>
          <p:nvPr/>
        </p:nvCxnSpPr>
        <p:spPr>
          <a:xfrm>
            <a:off x="850392" y="3378165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33" name="C2-E13 line 31" descr="sci-ppt:o031"/>
          <p:cNvCxnSpPr/>
          <p:nvPr/>
        </p:nvCxnSpPr>
        <p:spPr>
          <a:xfrm>
            <a:off x="914400" y="3378165"/>
            <a:ext cx="6583679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34" name="C2-E13 text 32" descr="sci-ppt:o032"/>
          <p:cNvSpPr txBox="1"/>
          <p:nvPr/>
        </p:nvSpPr>
        <p:spPr>
          <a:xfrm>
            <a:off x="45720" y="3295869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0.1</a:t>
            </a:r>
          </a:p>
        </p:txBody>
      </p:sp>
      <p:cxnSp>
        <p:nvCxnSpPr>
          <p:cNvPr id="35" name="C2-E13 line 33" descr="sci-ppt:o033"/>
          <p:cNvCxnSpPr/>
          <p:nvPr/>
        </p:nvCxnSpPr>
        <p:spPr>
          <a:xfrm>
            <a:off x="850392" y="2197117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36" name="C2-E13 line 34" descr="sci-ppt:o034"/>
          <p:cNvCxnSpPr/>
          <p:nvPr/>
        </p:nvCxnSpPr>
        <p:spPr>
          <a:xfrm>
            <a:off x="914400" y="2197117"/>
            <a:ext cx="6583679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37" name="C2-E13 text 35" descr="sci-ppt:o035"/>
          <p:cNvSpPr txBox="1"/>
          <p:nvPr/>
        </p:nvSpPr>
        <p:spPr>
          <a:xfrm>
            <a:off x="45720" y="2114821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</a:t>
            </a:r>
          </a:p>
        </p:txBody>
      </p:sp>
      <p:sp>
        <p:nvSpPr>
          <p:cNvPr id="38" name="C2-E13 text 36" descr="sci-ppt:o036"/>
          <p:cNvSpPr txBox="1"/>
          <p:nvPr/>
        </p:nvSpPr>
        <p:spPr>
          <a:xfrm>
            <a:off x="914400" y="5312664"/>
            <a:ext cx="658368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temperature T  (K)</a:t>
            </a:r>
          </a:p>
        </p:txBody>
      </p:sp>
      <p:sp>
        <p:nvSpPr>
          <p:cNvPr id="39" name="C2-E13 text 37" descr="sci-ppt:o037"/>
          <p:cNvSpPr txBox="1"/>
          <p:nvPr/>
        </p:nvSpPr>
        <p:spPr>
          <a:xfrm>
            <a:off x="365760" y="1024128"/>
            <a:ext cx="658368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pₛₐₜ  (bar)</a:t>
            </a:r>
          </a:p>
        </p:txBody>
      </p:sp>
      <p:sp>
        <p:nvSpPr>
          <p:cNvPr id="40" name="C2-E13 polygon 38" descr="sci-ppt:o038"/>
          <p:cNvSpPr/>
          <p:nvPr/>
        </p:nvSpPr>
        <p:spPr>
          <a:xfrm>
            <a:off x="1196557" y="3822228"/>
            <a:ext cx="2821577" cy="995434"/>
          </a:xfrm>
          <a:custGeom>
            <a:avLst/>
            <a:gdLst/>
            <a:ahLst/>
            <a:cxnLst/>
            <a:rect l="l" t="t" r="r" b="b"/>
            <a:pathLst>
              <a:path w="2821577" h="995434">
                <a:moveTo>
                  <a:pt x="0" y="995434"/>
                </a:moveTo>
                <a:lnTo>
                  <a:pt x="28501" y="984143"/>
                </a:lnTo>
                <a:lnTo>
                  <a:pt x="57002" y="972880"/>
                </a:lnTo>
                <a:lnTo>
                  <a:pt x="85503" y="961646"/>
                </a:lnTo>
                <a:lnTo>
                  <a:pt x="114003" y="950439"/>
                </a:lnTo>
                <a:lnTo>
                  <a:pt x="142504" y="939261"/>
                </a:lnTo>
                <a:lnTo>
                  <a:pt x="171005" y="928110"/>
                </a:lnTo>
                <a:lnTo>
                  <a:pt x="199506" y="916988"/>
                </a:lnTo>
                <a:lnTo>
                  <a:pt x="228006" y="905892"/>
                </a:lnTo>
                <a:lnTo>
                  <a:pt x="256507" y="894825"/>
                </a:lnTo>
                <a:lnTo>
                  <a:pt x="285008" y="883785"/>
                </a:lnTo>
                <a:lnTo>
                  <a:pt x="313509" y="872772"/>
                </a:lnTo>
                <a:lnTo>
                  <a:pt x="342010" y="861786"/>
                </a:lnTo>
                <a:lnTo>
                  <a:pt x="370510" y="850828"/>
                </a:lnTo>
                <a:lnTo>
                  <a:pt x="399011" y="839897"/>
                </a:lnTo>
                <a:lnTo>
                  <a:pt x="427512" y="828992"/>
                </a:lnTo>
                <a:lnTo>
                  <a:pt x="456013" y="818115"/>
                </a:lnTo>
                <a:lnTo>
                  <a:pt x="484513" y="807264"/>
                </a:lnTo>
                <a:lnTo>
                  <a:pt x="513014" y="796440"/>
                </a:lnTo>
                <a:lnTo>
                  <a:pt x="541515" y="785642"/>
                </a:lnTo>
                <a:lnTo>
                  <a:pt x="570016" y="774871"/>
                </a:lnTo>
                <a:lnTo>
                  <a:pt x="598517" y="764126"/>
                </a:lnTo>
                <a:lnTo>
                  <a:pt x="627017" y="753408"/>
                </a:lnTo>
                <a:lnTo>
                  <a:pt x="655518" y="742716"/>
                </a:lnTo>
                <a:lnTo>
                  <a:pt x="684019" y="732049"/>
                </a:lnTo>
                <a:lnTo>
                  <a:pt x="712520" y="721409"/>
                </a:lnTo>
                <a:lnTo>
                  <a:pt x="741020" y="710795"/>
                </a:lnTo>
                <a:lnTo>
                  <a:pt x="769521" y="700206"/>
                </a:lnTo>
                <a:lnTo>
                  <a:pt x="798022" y="689643"/>
                </a:lnTo>
                <a:lnTo>
                  <a:pt x="826523" y="679106"/>
                </a:lnTo>
                <a:lnTo>
                  <a:pt x="855024" y="668594"/>
                </a:lnTo>
                <a:lnTo>
                  <a:pt x="883524" y="658108"/>
                </a:lnTo>
                <a:lnTo>
                  <a:pt x="912025" y="647647"/>
                </a:lnTo>
                <a:lnTo>
                  <a:pt x="940526" y="637211"/>
                </a:lnTo>
                <a:lnTo>
                  <a:pt x="969027" y="626801"/>
                </a:lnTo>
                <a:lnTo>
                  <a:pt x="997527" y="616415"/>
                </a:lnTo>
                <a:lnTo>
                  <a:pt x="1026028" y="606054"/>
                </a:lnTo>
                <a:lnTo>
                  <a:pt x="1054529" y="595719"/>
                </a:lnTo>
                <a:lnTo>
                  <a:pt x="1083030" y="585408"/>
                </a:lnTo>
                <a:lnTo>
                  <a:pt x="1111531" y="575121"/>
                </a:lnTo>
                <a:lnTo>
                  <a:pt x="1140031" y="564860"/>
                </a:lnTo>
                <a:lnTo>
                  <a:pt x="1168532" y="554622"/>
                </a:lnTo>
                <a:lnTo>
                  <a:pt x="1197033" y="544410"/>
                </a:lnTo>
                <a:lnTo>
                  <a:pt x="1225534" y="534221"/>
                </a:lnTo>
                <a:lnTo>
                  <a:pt x="1254034" y="524057"/>
                </a:lnTo>
                <a:lnTo>
                  <a:pt x="1282535" y="513917"/>
                </a:lnTo>
                <a:lnTo>
                  <a:pt x="1311036" y="503801"/>
                </a:lnTo>
                <a:lnTo>
                  <a:pt x="1339537" y="493709"/>
                </a:lnTo>
                <a:lnTo>
                  <a:pt x="1368038" y="483641"/>
                </a:lnTo>
                <a:lnTo>
                  <a:pt x="1396538" y="473597"/>
                </a:lnTo>
                <a:lnTo>
                  <a:pt x="1425039" y="463577"/>
                </a:lnTo>
                <a:lnTo>
                  <a:pt x="1453540" y="453580"/>
                </a:lnTo>
                <a:lnTo>
                  <a:pt x="1482041" y="443607"/>
                </a:lnTo>
                <a:lnTo>
                  <a:pt x="1510542" y="433657"/>
                </a:lnTo>
                <a:lnTo>
                  <a:pt x="1539042" y="423730"/>
                </a:lnTo>
                <a:lnTo>
                  <a:pt x="1567543" y="413827"/>
                </a:lnTo>
                <a:lnTo>
                  <a:pt x="1596044" y="403948"/>
                </a:lnTo>
                <a:lnTo>
                  <a:pt x="1624545" y="394091"/>
                </a:lnTo>
                <a:lnTo>
                  <a:pt x="1653045" y="384258"/>
                </a:lnTo>
                <a:lnTo>
                  <a:pt x="1681546" y="374447"/>
                </a:lnTo>
                <a:lnTo>
                  <a:pt x="1710047" y="364660"/>
                </a:lnTo>
                <a:lnTo>
                  <a:pt x="1738548" y="354895"/>
                </a:lnTo>
                <a:lnTo>
                  <a:pt x="1767049" y="345153"/>
                </a:lnTo>
                <a:lnTo>
                  <a:pt x="1795549" y="335433"/>
                </a:lnTo>
                <a:lnTo>
                  <a:pt x="1824050" y="325737"/>
                </a:lnTo>
                <a:lnTo>
                  <a:pt x="1852551" y="316062"/>
                </a:lnTo>
                <a:lnTo>
                  <a:pt x="1881052" y="306411"/>
                </a:lnTo>
                <a:lnTo>
                  <a:pt x="1909552" y="296781"/>
                </a:lnTo>
                <a:lnTo>
                  <a:pt x="1938053" y="287174"/>
                </a:lnTo>
                <a:lnTo>
                  <a:pt x="1966554" y="277589"/>
                </a:lnTo>
                <a:lnTo>
                  <a:pt x="1995055" y="268026"/>
                </a:lnTo>
                <a:lnTo>
                  <a:pt x="2023556" y="258486"/>
                </a:lnTo>
                <a:lnTo>
                  <a:pt x="2052056" y="248967"/>
                </a:lnTo>
                <a:lnTo>
                  <a:pt x="2080557" y="239470"/>
                </a:lnTo>
                <a:lnTo>
                  <a:pt x="2109058" y="229995"/>
                </a:lnTo>
                <a:lnTo>
                  <a:pt x="2137559" y="220542"/>
                </a:lnTo>
                <a:lnTo>
                  <a:pt x="2166059" y="211110"/>
                </a:lnTo>
                <a:lnTo>
                  <a:pt x="2194560" y="201700"/>
                </a:lnTo>
                <a:lnTo>
                  <a:pt x="2223061" y="192312"/>
                </a:lnTo>
                <a:lnTo>
                  <a:pt x="2251562" y="182945"/>
                </a:lnTo>
                <a:lnTo>
                  <a:pt x="2280063" y="173599"/>
                </a:lnTo>
                <a:lnTo>
                  <a:pt x="2308563" y="164275"/>
                </a:lnTo>
                <a:lnTo>
                  <a:pt x="2337064" y="154972"/>
                </a:lnTo>
                <a:lnTo>
                  <a:pt x="2365565" y="145690"/>
                </a:lnTo>
                <a:lnTo>
                  <a:pt x="2394066" y="136429"/>
                </a:lnTo>
                <a:lnTo>
                  <a:pt x="2422566" y="127189"/>
                </a:lnTo>
                <a:lnTo>
                  <a:pt x="2451067" y="117971"/>
                </a:lnTo>
                <a:lnTo>
                  <a:pt x="2479568" y="108773"/>
                </a:lnTo>
                <a:lnTo>
                  <a:pt x="2508069" y="99595"/>
                </a:lnTo>
                <a:lnTo>
                  <a:pt x="2536570" y="90439"/>
                </a:lnTo>
                <a:lnTo>
                  <a:pt x="2565070" y="81303"/>
                </a:lnTo>
                <a:lnTo>
                  <a:pt x="2593571" y="72188"/>
                </a:lnTo>
                <a:lnTo>
                  <a:pt x="2622072" y="63093"/>
                </a:lnTo>
                <a:lnTo>
                  <a:pt x="2650573" y="54019"/>
                </a:lnTo>
                <a:lnTo>
                  <a:pt x="2679073" y="44965"/>
                </a:lnTo>
                <a:lnTo>
                  <a:pt x="2707574" y="35932"/>
                </a:lnTo>
                <a:lnTo>
                  <a:pt x="2736075" y="26919"/>
                </a:lnTo>
                <a:lnTo>
                  <a:pt x="2764576" y="17926"/>
                </a:lnTo>
                <a:lnTo>
                  <a:pt x="2793077" y="8953"/>
                </a:lnTo>
                <a:lnTo>
                  <a:pt x="2821577" y="0"/>
                </a:lnTo>
              </a:path>
            </a:pathLst>
          </a:custGeom>
          <a:noFill/>
          <a:ln w="38100">
            <a:solidFill>
              <a:srgbClr val="7FC8F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C2-E13 polygon 39" descr="sci-ppt:o039"/>
          <p:cNvSpPr/>
          <p:nvPr/>
        </p:nvSpPr>
        <p:spPr>
          <a:xfrm>
            <a:off x="4112187" y="3028058"/>
            <a:ext cx="2727525" cy="764920"/>
          </a:xfrm>
          <a:custGeom>
            <a:avLst/>
            <a:gdLst/>
            <a:ahLst/>
            <a:cxnLst/>
            <a:rect l="l" t="t" r="r" b="b"/>
            <a:pathLst>
              <a:path w="2727525" h="764920">
                <a:moveTo>
                  <a:pt x="0" y="764920"/>
                </a:moveTo>
                <a:lnTo>
                  <a:pt x="27551" y="756355"/>
                </a:lnTo>
                <a:lnTo>
                  <a:pt x="55101" y="747810"/>
                </a:lnTo>
                <a:lnTo>
                  <a:pt x="82652" y="739284"/>
                </a:lnTo>
                <a:lnTo>
                  <a:pt x="110203" y="730777"/>
                </a:lnTo>
                <a:lnTo>
                  <a:pt x="137754" y="722288"/>
                </a:lnTo>
                <a:lnTo>
                  <a:pt x="165304" y="713818"/>
                </a:lnTo>
                <a:lnTo>
                  <a:pt x="192855" y="705366"/>
                </a:lnTo>
                <a:lnTo>
                  <a:pt x="220406" y="696933"/>
                </a:lnTo>
                <a:lnTo>
                  <a:pt x="247957" y="688519"/>
                </a:lnTo>
                <a:lnTo>
                  <a:pt x="275507" y="680123"/>
                </a:lnTo>
                <a:lnTo>
                  <a:pt x="303058" y="671746"/>
                </a:lnTo>
                <a:lnTo>
                  <a:pt x="330609" y="663386"/>
                </a:lnTo>
                <a:lnTo>
                  <a:pt x="358160" y="655045"/>
                </a:lnTo>
                <a:lnTo>
                  <a:pt x="385710" y="646722"/>
                </a:lnTo>
                <a:lnTo>
                  <a:pt x="413261" y="638418"/>
                </a:lnTo>
                <a:lnTo>
                  <a:pt x="440812" y="630131"/>
                </a:lnTo>
                <a:lnTo>
                  <a:pt x="468363" y="621862"/>
                </a:lnTo>
                <a:lnTo>
                  <a:pt x="495913" y="613612"/>
                </a:lnTo>
                <a:lnTo>
                  <a:pt x="523464" y="605379"/>
                </a:lnTo>
                <a:lnTo>
                  <a:pt x="551015" y="597164"/>
                </a:lnTo>
                <a:lnTo>
                  <a:pt x="578566" y="588967"/>
                </a:lnTo>
                <a:lnTo>
                  <a:pt x="606117" y="580788"/>
                </a:lnTo>
                <a:lnTo>
                  <a:pt x="633667" y="572626"/>
                </a:lnTo>
                <a:lnTo>
                  <a:pt x="661218" y="564482"/>
                </a:lnTo>
                <a:lnTo>
                  <a:pt x="688769" y="556355"/>
                </a:lnTo>
                <a:lnTo>
                  <a:pt x="716320" y="548246"/>
                </a:lnTo>
                <a:lnTo>
                  <a:pt x="743870" y="540154"/>
                </a:lnTo>
                <a:lnTo>
                  <a:pt x="771421" y="532080"/>
                </a:lnTo>
                <a:lnTo>
                  <a:pt x="798972" y="524023"/>
                </a:lnTo>
                <a:lnTo>
                  <a:pt x="826523" y="515984"/>
                </a:lnTo>
                <a:lnTo>
                  <a:pt x="854073" y="507961"/>
                </a:lnTo>
                <a:lnTo>
                  <a:pt x="881624" y="499956"/>
                </a:lnTo>
                <a:lnTo>
                  <a:pt x="909175" y="491968"/>
                </a:lnTo>
                <a:lnTo>
                  <a:pt x="936726" y="483996"/>
                </a:lnTo>
                <a:lnTo>
                  <a:pt x="964276" y="476042"/>
                </a:lnTo>
                <a:lnTo>
                  <a:pt x="991827" y="468105"/>
                </a:lnTo>
                <a:lnTo>
                  <a:pt x="1019378" y="460185"/>
                </a:lnTo>
                <a:lnTo>
                  <a:pt x="1046929" y="452281"/>
                </a:lnTo>
                <a:lnTo>
                  <a:pt x="1074479" y="444395"/>
                </a:lnTo>
                <a:lnTo>
                  <a:pt x="1102030" y="436525"/>
                </a:lnTo>
                <a:lnTo>
                  <a:pt x="1129581" y="428671"/>
                </a:lnTo>
                <a:lnTo>
                  <a:pt x="1157132" y="420835"/>
                </a:lnTo>
                <a:lnTo>
                  <a:pt x="1184682" y="413015"/>
                </a:lnTo>
                <a:lnTo>
                  <a:pt x="1212233" y="405211"/>
                </a:lnTo>
                <a:lnTo>
                  <a:pt x="1239784" y="397424"/>
                </a:lnTo>
                <a:lnTo>
                  <a:pt x="1267335" y="389653"/>
                </a:lnTo>
                <a:lnTo>
                  <a:pt x="1294885" y="381899"/>
                </a:lnTo>
                <a:lnTo>
                  <a:pt x="1322436" y="374161"/>
                </a:lnTo>
                <a:lnTo>
                  <a:pt x="1349987" y="366439"/>
                </a:lnTo>
                <a:lnTo>
                  <a:pt x="1377538" y="358733"/>
                </a:lnTo>
                <a:lnTo>
                  <a:pt x="1405088" y="351044"/>
                </a:lnTo>
                <a:lnTo>
                  <a:pt x="1432639" y="343371"/>
                </a:lnTo>
                <a:lnTo>
                  <a:pt x="1460190" y="335713"/>
                </a:lnTo>
                <a:lnTo>
                  <a:pt x="1487741" y="328072"/>
                </a:lnTo>
                <a:lnTo>
                  <a:pt x="1515291" y="320447"/>
                </a:lnTo>
                <a:lnTo>
                  <a:pt x="1542842" y="312837"/>
                </a:lnTo>
                <a:lnTo>
                  <a:pt x="1570393" y="305244"/>
                </a:lnTo>
                <a:lnTo>
                  <a:pt x="1597944" y="297666"/>
                </a:lnTo>
                <a:lnTo>
                  <a:pt x="1625494" y="290104"/>
                </a:lnTo>
                <a:lnTo>
                  <a:pt x="1653045" y="282558"/>
                </a:lnTo>
                <a:lnTo>
                  <a:pt x="1680596" y="275027"/>
                </a:lnTo>
                <a:lnTo>
                  <a:pt x="1708147" y="267512"/>
                </a:lnTo>
                <a:lnTo>
                  <a:pt x="1735697" y="260012"/>
                </a:lnTo>
                <a:lnTo>
                  <a:pt x="1763248" y="252528"/>
                </a:lnTo>
                <a:lnTo>
                  <a:pt x="1790799" y="245060"/>
                </a:lnTo>
                <a:lnTo>
                  <a:pt x="1818350" y="237607"/>
                </a:lnTo>
                <a:lnTo>
                  <a:pt x="1845900" y="230169"/>
                </a:lnTo>
                <a:lnTo>
                  <a:pt x="1873451" y="222747"/>
                </a:lnTo>
                <a:lnTo>
                  <a:pt x="1901002" y="215340"/>
                </a:lnTo>
                <a:lnTo>
                  <a:pt x="1928553" y="207948"/>
                </a:lnTo>
                <a:lnTo>
                  <a:pt x="1956103" y="200571"/>
                </a:lnTo>
                <a:lnTo>
                  <a:pt x="1983654" y="193209"/>
                </a:lnTo>
                <a:lnTo>
                  <a:pt x="2011205" y="185863"/>
                </a:lnTo>
                <a:lnTo>
                  <a:pt x="2038756" y="178531"/>
                </a:lnTo>
                <a:lnTo>
                  <a:pt x="2066306" y="171215"/>
                </a:lnTo>
                <a:lnTo>
                  <a:pt x="2093857" y="163913"/>
                </a:lnTo>
                <a:lnTo>
                  <a:pt x="2121408" y="156627"/>
                </a:lnTo>
                <a:lnTo>
                  <a:pt x="2148959" y="149355"/>
                </a:lnTo>
                <a:lnTo>
                  <a:pt x="2176509" y="142098"/>
                </a:lnTo>
                <a:lnTo>
                  <a:pt x="2204060" y="134856"/>
                </a:lnTo>
                <a:lnTo>
                  <a:pt x="2231611" y="127628"/>
                </a:lnTo>
                <a:lnTo>
                  <a:pt x="2259162" y="120415"/>
                </a:lnTo>
                <a:lnTo>
                  <a:pt x="2286712" y="113217"/>
                </a:lnTo>
                <a:lnTo>
                  <a:pt x="2314263" y="106034"/>
                </a:lnTo>
                <a:lnTo>
                  <a:pt x="2341814" y="98865"/>
                </a:lnTo>
                <a:lnTo>
                  <a:pt x="2369365" y="91710"/>
                </a:lnTo>
                <a:lnTo>
                  <a:pt x="2396915" y="84570"/>
                </a:lnTo>
                <a:lnTo>
                  <a:pt x="2424466" y="77444"/>
                </a:lnTo>
                <a:lnTo>
                  <a:pt x="2452017" y="70333"/>
                </a:lnTo>
                <a:lnTo>
                  <a:pt x="2479568" y="63236"/>
                </a:lnTo>
                <a:lnTo>
                  <a:pt x="2507118" y="56153"/>
                </a:lnTo>
                <a:lnTo>
                  <a:pt x="2534669" y="49085"/>
                </a:lnTo>
                <a:lnTo>
                  <a:pt x="2562220" y="42030"/>
                </a:lnTo>
                <a:lnTo>
                  <a:pt x="2589771" y="34990"/>
                </a:lnTo>
                <a:lnTo>
                  <a:pt x="2617321" y="27964"/>
                </a:lnTo>
                <a:lnTo>
                  <a:pt x="2644872" y="20952"/>
                </a:lnTo>
                <a:lnTo>
                  <a:pt x="2672423" y="13954"/>
                </a:lnTo>
                <a:lnTo>
                  <a:pt x="2699974" y="6970"/>
                </a:lnTo>
                <a:lnTo>
                  <a:pt x="2727525" y="0"/>
                </a:lnTo>
              </a:path>
            </a:pathLst>
          </a:custGeom>
          <a:noFill/>
          <a:ln w="38100">
            <a:solidFill>
              <a:srgbClr val="7FC8F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C2-E13 polygon 40" descr="sci-ppt:o040"/>
          <p:cNvSpPr/>
          <p:nvPr/>
        </p:nvSpPr>
        <p:spPr>
          <a:xfrm>
            <a:off x="2120153" y="1600043"/>
            <a:ext cx="5184178" cy="991224"/>
          </a:xfrm>
          <a:custGeom>
            <a:avLst/>
            <a:gdLst/>
            <a:ahLst/>
            <a:cxnLst/>
            <a:rect l="l" t="t" r="r" b="b"/>
            <a:pathLst>
              <a:path w="5184178" h="991224">
                <a:moveTo>
                  <a:pt x="0" y="991224"/>
                </a:moveTo>
                <a:lnTo>
                  <a:pt x="52366" y="978969"/>
                </a:lnTo>
                <a:lnTo>
                  <a:pt x="104731" y="966770"/>
                </a:lnTo>
                <a:lnTo>
                  <a:pt x="157097" y="954626"/>
                </a:lnTo>
                <a:lnTo>
                  <a:pt x="209462" y="942538"/>
                </a:lnTo>
                <a:lnTo>
                  <a:pt x="261828" y="930504"/>
                </a:lnTo>
                <a:lnTo>
                  <a:pt x="314193" y="918525"/>
                </a:lnTo>
                <a:lnTo>
                  <a:pt x="366558" y="906600"/>
                </a:lnTo>
                <a:lnTo>
                  <a:pt x="418924" y="894728"/>
                </a:lnTo>
                <a:lnTo>
                  <a:pt x="471289" y="882910"/>
                </a:lnTo>
                <a:lnTo>
                  <a:pt x="523655" y="871144"/>
                </a:lnTo>
                <a:lnTo>
                  <a:pt x="576020" y="859431"/>
                </a:lnTo>
                <a:lnTo>
                  <a:pt x="628386" y="847771"/>
                </a:lnTo>
                <a:lnTo>
                  <a:pt x="680751" y="836162"/>
                </a:lnTo>
                <a:lnTo>
                  <a:pt x="733117" y="824605"/>
                </a:lnTo>
                <a:lnTo>
                  <a:pt x="785482" y="813099"/>
                </a:lnTo>
                <a:lnTo>
                  <a:pt x="837847" y="801644"/>
                </a:lnTo>
                <a:lnTo>
                  <a:pt x="890213" y="790239"/>
                </a:lnTo>
                <a:lnTo>
                  <a:pt x="942578" y="778885"/>
                </a:lnTo>
                <a:lnTo>
                  <a:pt x="994944" y="767580"/>
                </a:lnTo>
                <a:lnTo>
                  <a:pt x="1047309" y="756325"/>
                </a:lnTo>
                <a:lnTo>
                  <a:pt x="1099675" y="745120"/>
                </a:lnTo>
                <a:lnTo>
                  <a:pt x="1152040" y="733963"/>
                </a:lnTo>
                <a:lnTo>
                  <a:pt x="1204405" y="722854"/>
                </a:lnTo>
                <a:lnTo>
                  <a:pt x="1256771" y="711794"/>
                </a:lnTo>
                <a:lnTo>
                  <a:pt x="1309136" y="700782"/>
                </a:lnTo>
                <a:lnTo>
                  <a:pt x="1361502" y="689817"/>
                </a:lnTo>
                <a:lnTo>
                  <a:pt x="1413867" y="678900"/>
                </a:lnTo>
                <a:lnTo>
                  <a:pt x="1466233" y="668029"/>
                </a:lnTo>
                <a:lnTo>
                  <a:pt x="1518598" y="657206"/>
                </a:lnTo>
                <a:lnTo>
                  <a:pt x="1570963" y="646429"/>
                </a:lnTo>
                <a:lnTo>
                  <a:pt x="1623329" y="635698"/>
                </a:lnTo>
                <a:lnTo>
                  <a:pt x="1675694" y="625012"/>
                </a:lnTo>
                <a:lnTo>
                  <a:pt x="1728060" y="614372"/>
                </a:lnTo>
                <a:lnTo>
                  <a:pt x="1780425" y="603778"/>
                </a:lnTo>
                <a:lnTo>
                  <a:pt x="1832791" y="593228"/>
                </a:lnTo>
                <a:lnTo>
                  <a:pt x="1885156" y="582723"/>
                </a:lnTo>
                <a:lnTo>
                  <a:pt x="1937521" y="572263"/>
                </a:lnTo>
                <a:lnTo>
                  <a:pt x="1989887" y="561846"/>
                </a:lnTo>
                <a:lnTo>
                  <a:pt x="2042252" y="551473"/>
                </a:lnTo>
                <a:lnTo>
                  <a:pt x="2094618" y="541144"/>
                </a:lnTo>
                <a:lnTo>
                  <a:pt x="2146983" y="530858"/>
                </a:lnTo>
                <a:lnTo>
                  <a:pt x="2199349" y="520615"/>
                </a:lnTo>
                <a:lnTo>
                  <a:pt x="2251714" y="510415"/>
                </a:lnTo>
                <a:lnTo>
                  <a:pt x="2304079" y="500257"/>
                </a:lnTo>
                <a:lnTo>
                  <a:pt x="2356445" y="490142"/>
                </a:lnTo>
                <a:lnTo>
                  <a:pt x="2408810" y="480068"/>
                </a:lnTo>
                <a:lnTo>
                  <a:pt x="2461176" y="470036"/>
                </a:lnTo>
                <a:lnTo>
                  <a:pt x="2513541" y="460046"/>
                </a:lnTo>
                <a:lnTo>
                  <a:pt x="2565907" y="450096"/>
                </a:lnTo>
                <a:lnTo>
                  <a:pt x="2618272" y="440188"/>
                </a:lnTo>
                <a:lnTo>
                  <a:pt x="2670637" y="430320"/>
                </a:lnTo>
                <a:lnTo>
                  <a:pt x="2723003" y="420492"/>
                </a:lnTo>
                <a:lnTo>
                  <a:pt x="2775368" y="410705"/>
                </a:lnTo>
                <a:lnTo>
                  <a:pt x="2827734" y="400958"/>
                </a:lnTo>
                <a:lnTo>
                  <a:pt x="2880099" y="391250"/>
                </a:lnTo>
                <a:lnTo>
                  <a:pt x="2932465" y="381582"/>
                </a:lnTo>
                <a:lnTo>
                  <a:pt x="2984830" y="371952"/>
                </a:lnTo>
                <a:lnTo>
                  <a:pt x="3037196" y="362362"/>
                </a:lnTo>
                <a:lnTo>
                  <a:pt x="3089561" y="352811"/>
                </a:lnTo>
                <a:lnTo>
                  <a:pt x="3141926" y="343298"/>
                </a:lnTo>
                <a:lnTo>
                  <a:pt x="3194292" y="333823"/>
                </a:lnTo>
                <a:lnTo>
                  <a:pt x="3246657" y="324386"/>
                </a:lnTo>
                <a:lnTo>
                  <a:pt x="3299023" y="314987"/>
                </a:lnTo>
                <a:lnTo>
                  <a:pt x="3351388" y="305626"/>
                </a:lnTo>
                <a:lnTo>
                  <a:pt x="3403754" y="296301"/>
                </a:lnTo>
                <a:lnTo>
                  <a:pt x="3456119" y="287014"/>
                </a:lnTo>
                <a:lnTo>
                  <a:pt x="3508484" y="277764"/>
                </a:lnTo>
                <a:lnTo>
                  <a:pt x="3560850" y="268551"/>
                </a:lnTo>
                <a:lnTo>
                  <a:pt x="3613215" y="259374"/>
                </a:lnTo>
                <a:lnTo>
                  <a:pt x="3665581" y="250233"/>
                </a:lnTo>
                <a:lnTo>
                  <a:pt x="3717946" y="241128"/>
                </a:lnTo>
                <a:lnTo>
                  <a:pt x="3770312" y="232059"/>
                </a:lnTo>
                <a:lnTo>
                  <a:pt x="3822677" y="223026"/>
                </a:lnTo>
                <a:lnTo>
                  <a:pt x="3875042" y="214028"/>
                </a:lnTo>
                <a:lnTo>
                  <a:pt x="3927408" y="205065"/>
                </a:lnTo>
                <a:lnTo>
                  <a:pt x="3979773" y="196138"/>
                </a:lnTo>
                <a:lnTo>
                  <a:pt x="4032139" y="187244"/>
                </a:lnTo>
                <a:lnTo>
                  <a:pt x="4084504" y="178386"/>
                </a:lnTo>
                <a:lnTo>
                  <a:pt x="4136870" y="169562"/>
                </a:lnTo>
                <a:lnTo>
                  <a:pt x="4189235" y="160772"/>
                </a:lnTo>
                <a:lnTo>
                  <a:pt x="4241600" y="152016"/>
                </a:lnTo>
                <a:lnTo>
                  <a:pt x="4293966" y="143294"/>
                </a:lnTo>
                <a:lnTo>
                  <a:pt x="4346331" y="134605"/>
                </a:lnTo>
                <a:lnTo>
                  <a:pt x="4398697" y="125950"/>
                </a:lnTo>
                <a:lnTo>
                  <a:pt x="4451062" y="117328"/>
                </a:lnTo>
                <a:lnTo>
                  <a:pt x="4503428" y="108739"/>
                </a:lnTo>
                <a:lnTo>
                  <a:pt x="4555793" y="100183"/>
                </a:lnTo>
                <a:lnTo>
                  <a:pt x="4608158" y="91659"/>
                </a:lnTo>
                <a:lnTo>
                  <a:pt x="4660524" y="83168"/>
                </a:lnTo>
                <a:lnTo>
                  <a:pt x="4712889" y="74709"/>
                </a:lnTo>
                <a:lnTo>
                  <a:pt x="4765255" y="66282"/>
                </a:lnTo>
                <a:lnTo>
                  <a:pt x="4817620" y="57887"/>
                </a:lnTo>
                <a:lnTo>
                  <a:pt x="4869986" y="49524"/>
                </a:lnTo>
                <a:lnTo>
                  <a:pt x="4922351" y="41192"/>
                </a:lnTo>
                <a:lnTo>
                  <a:pt x="4974716" y="32892"/>
                </a:lnTo>
                <a:lnTo>
                  <a:pt x="5027082" y="24623"/>
                </a:lnTo>
                <a:lnTo>
                  <a:pt x="5079447" y="16384"/>
                </a:lnTo>
                <a:lnTo>
                  <a:pt x="5131813" y="8177"/>
                </a:lnTo>
                <a:lnTo>
                  <a:pt x="5184178" y="0"/>
                </a:lnTo>
              </a:path>
            </a:pathLst>
          </a:custGeom>
          <a:noFill/>
          <a:ln w="381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C2-E13 rect 41" descr="sci-ppt:o041"/>
          <p:cNvSpPr/>
          <p:nvPr/>
        </p:nvSpPr>
        <p:spPr>
          <a:xfrm>
            <a:off x="4018134" y="1371600"/>
            <a:ext cx="94052" cy="3657600"/>
          </a:xfrm>
          <a:prstGeom prst="rect">
            <a:avLst/>
          </a:prstGeom>
          <a:solidFill>
            <a:srgbClr val="F28BA0">
              <a:alpha val="25000"/>
            </a:srgbClr>
          </a:solidFill>
          <a:ln>
            <a:solidFill>
              <a:srgbClr val="F28BA0">
                <a:alpha val="25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C2-E13 text 42" descr="sci-ppt:o042"/>
          <p:cNvSpPr txBox="1"/>
          <p:nvPr/>
        </p:nvSpPr>
        <p:spPr>
          <a:xfrm>
            <a:off x="2464961" y="1776455"/>
            <a:ext cx="1554480" cy="402081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F28BA0"/>
                </a:solidFill>
                <a:latin typeface="Arial"/>
              </a:rPr>
              <a:t>gap 303–304 K:</a:t>
            </a:r>
          </a:p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F28BA0"/>
                </a:solidFill>
                <a:latin typeface="Arial"/>
              </a:rPr>
              <a:t>no value assigned</a:t>
            </a:r>
          </a:p>
        </p:txBody>
      </p:sp>
      <p:sp>
        <p:nvSpPr>
          <p:cNvPr id="45" name="C2-E13 text 43" descr="sci-ppt:o043"/>
          <p:cNvSpPr txBox="1"/>
          <p:nvPr/>
        </p:nvSpPr>
        <p:spPr>
          <a:xfrm>
            <a:off x="1175657" y="4112242"/>
            <a:ext cx="256032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7FC8F8"/>
                </a:solidFill>
                <a:latin typeface="Arial"/>
              </a:rPr>
              <a:t>water (two fitted branches)</a:t>
            </a:r>
          </a:p>
        </p:txBody>
      </p:sp>
      <p:sp>
        <p:nvSpPr>
          <p:cNvPr id="46" name="C2-E13 text 44" descr="sci-ppt:o044"/>
          <p:cNvSpPr txBox="1"/>
          <p:nvPr/>
        </p:nvSpPr>
        <p:spPr>
          <a:xfrm>
            <a:off x="5784233" y="1448657"/>
            <a:ext cx="914400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8EDBD4"/>
                </a:solidFill>
                <a:latin typeface="Arial"/>
              </a:rPr>
              <a:t>PFP</a:t>
            </a:r>
          </a:p>
        </p:txBody>
      </p:sp>
      <p:sp>
        <p:nvSpPr>
          <p:cNvPr id="47" name="C2-E13 ellipse 45" descr="sci-ppt:o045"/>
          <p:cNvSpPr/>
          <p:nvPr/>
        </p:nvSpPr>
        <p:spPr>
          <a:xfrm>
            <a:off x="5840142" y="3197176"/>
            <a:ext cx="146304" cy="146304"/>
          </a:xfrm>
          <a:prstGeom prst="ellipse">
            <a:avLst/>
          </a:prstGeom>
          <a:solidFill>
            <a:srgbClr val="7FC8F8"/>
          </a:solidFill>
          <a:ln w="12700">
            <a:solidFill>
              <a:srgbClr val="7FC8F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C2-E13 text 46" descr="sci-ppt:o046"/>
          <p:cNvSpPr txBox="1"/>
          <p:nvPr/>
        </p:nvSpPr>
        <p:spPr>
          <a:xfrm>
            <a:off x="4724574" y="2858848"/>
            <a:ext cx="109728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7FC8F8"/>
                </a:solidFill>
                <a:latin typeface="Arial"/>
              </a:rPr>
              <a:t>0.12 bar</a:t>
            </a:r>
          </a:p>
        </p:txBody>
      </p:sp>
      <p:sp>
        <p:nvSpPr>
          <p:cNvPr id="49" name="C2-E13 ellipse 47" descr="sci-ppt:o047"/>
          <p:cNvSpPr/>
          <p:nvPr/>
        </p:nvSpPr>
        <p:spPr>
          <a:xfrm>
            <a:off x="5840142" y="1755008"/>
            <a:ext cx="146304" cy="146304"/>
          </a:xfrm>
          <a:prstGeom prst="ellipse">
            <a:avLst/>
          </a:prstGeom>
          <a:solidFill>
            <a:srgbClr val="8EDBD4"/>
          </a:solidFill>
          <a:ln w="127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C2-E13 text 48" descr="sci-ppt:o048"/>
          <p:cNvSpPr txBox="1"/>
          <p:nvPr/>
        </p:nvSpPr>
        <p:spPr>
          <a:xfrm>
            <a:off x="4724574" y="1416680"/>
            <a:ext cx="109728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8EDBD4"/>
                </a:solidFill>
                <a:latin typeface="Arial"/>
              </a:rPr>
              <a:t>2.05 bar</a:t>
            </a:r>
          </a:p>
        </p:txBody>
      </p:sp>
      <p:sp>
        <p:nvSpPr>
          <p:cNvPr id="51" name="C2-E13 round_rect 49" descr="sci-ppt:o049"/>
          <p:cNvSpPr/>
          <p:nvPr/>
        </p:nvSpPr>
        <p:spPr>
          <a:xfrm>
            <a:off x="7772400" y="1371600"/>
            <a:ext cx="4069080" cy="365760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C2-E13 text 50" descr="sci-ppt:o050"/>
          <p:cNvSpPr txBox="1"/>
          <p:nvPr/>
        </p:nvSpPr>
        <p:spPr>
          <a:xfrm>
            <a:off x="7882127" y="1426464"/>
            <a:ext cx="3849624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8EDBD4"/>
                </a:solidFill>
                <a:latin typeface="Arial"/>
              </a:rPr>
              <a:t>A reference, not a reservoir</a:t>
            </a:r>
          </a:p>
        </p:txBody>
      </p:sp>
      <p:sp>
        <p:nvSpPr>
          <p:cNvPr id="53" name="C2-E13 text 51" descr="sci-ppt:o051"/>
          <p:cNvSpPr txBox="1"/>
          <p:nvPr/>
        </p:nvSpPr>
        <p:spPr>
          <a:xfrm>
            <a:off x="8110728" y="1828800"/>
            <a:ext cx="3639312" cy="62674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Water is the matched-temperature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comparison: 0.12 bar at 323 K against 2.05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bar for PFP.</a:t>
            </a:r>
          </a:p>
        </p:txBody>
      </p:sp>
      <p:sp>
        <p:nvSpPr>
          <p:cNvPr id="54" name="C2-E13 ellipse 52" descr="sci-ppt:o052"/>
          <p:cNvSpPr/>
          <p:nvPr/>
        </p:nvSpPr>
        <p:spPr>
          <a:xfrm>
            <a:off x="7941564" y="1886077"/>
            <a:ext cx="82296" cy="82296"/>
          </a:xfrm>
          <a:prstGeom prst="ellipse">
            <a:avLst/>
          </a:prstGeom>
          <a:solidFill>
            <a:srgbClr val="8EDBD4"/>
          </a:solidFill>
          <a:ln w="127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C2-E13 text 53" descr="sci-ppt:o053"/>
          <p:cNvSpPr txBox="1"/>
          <p:nvPr/>
        </p:nvSpPr>
        <p:spPr>
          <a:xfrm>
            <a:off x="8110728" y="2501265"/>
            <a:ext cx="3639312" cy="43307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Each water branch is valid only inside its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own interval, 273–303 K and 304–333 K.</a:t>
            </a:r>
          </a:p>
        </p:txBody>
      </p:sp>
      <p:sp>
        <p:nvSpPr>
          <p:cNvPr id="56" name="C2-E13 ellipse 54" descr="sci-ppt:o054"/>
          <p:cNvSpPr/>
          <p:nvPr/>
        </p:nvSpPr>
        <p:spPr>
          <a:xfrm>
            <a:off x="7941564" y="2558542"/>
            <a:ext cx="82296" cy="82296"/>
          </a:xfrm>
          <a:prstGeom prst="ellipse">
            <a:avLst/>
          </a:prstGeom>
          <a:solidFill>
            <a:srgbClr val="8EDBD4"/>
          </a:solidFill>
          <a:ln w="127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C2-E13 text 55" descr="sci-ppt:o055"/>
          <p:cNvSpPr txBox="1"/>
          <p:nvPr/>
        </p:nvSpPr>
        <p:spPr>
          <a:xfrm>
            <a:off x="8110728" y="2980054"/>
            <a:ext cx="3639312" cy="43307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The formulas give equilibrium values; they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do not promise that vapor is available.</a:t>
            </a:r>
          </a:p>
        </p:txBody>
      </p:sp>
      <p:sp>
        <p:nvSpPr>
          <p:cNvPr id="58" name="C2-E13 ellipse 56" descr="sci-ppt:o056"/>
          <p:cNvSpPr/>
          <p:nvPr/>
        </p:nvSpPr>
        <p:spPr>
          <a:xfrm>
            <a:off x="7941564" y="3037331"/>
            <a:ext cx="82296" cy="82296"/>
          </a:xfrm>
          <a:prstGeom prst="ellipse">
            <a:avLst/>
          </a:prstGeom>
          <a:solidFill>
            <a:srgbClr val="8EDBD4"/>
          </a:solidFill>
          <a:ln w="127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C2-E13 text 57" descr="sci-ppt:o057"/>
          <p:cNvSpPr txBox="1"/>
          <p:nvPr/>
        </p:nvSpPr>
        <p:spPr>
          <a:xfrm>
            <a:off x="914400" y="5733288"/>
            <a:ext cx="1097280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Both correlations use log₁₀(p / 10⁵ Pa) = A − B / (T − C) with different A, B, C for each substance and branch.</a:t>
            </a:r>
          </a:p>
        </p:txBody>
      </p:sp>
      <p:sp>
        <p:nvSpPr>
          <p:cNvPr id="60" name="C2-E13 text 58" descr="sci-ppt:o058"/>
          <p:cNvSpPr txBox="1"/>
          <p:nvPr/>
        </p:nvSpPr>
        <p:spPr>
          <a:xfrm>
            <a:off x="320040" y="6510528"/>
            <a:ext cx="11521440" cy="20066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Correlations of Eqs. C2-E12 and C2-E13 (log scale).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