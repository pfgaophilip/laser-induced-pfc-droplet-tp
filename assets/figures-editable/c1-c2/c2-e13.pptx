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3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C2-E13 | Physical-variable diagram</a:t>
            </a:r>
          </a:p>
        </p:txBody>
      </p:sp>
      <p:sp>
        <p:nvSpPr>
          <p:cNvPr id="3" name="rect2" descr="sci-ppt:C2-E13-002"/>
          <p:cNvSpPr/>
          <p:nvPr/>
        </p:nvSpPr>
        <p:spPr>
          <a:xfrm>
            <a:off x="975360" y="1706880"/>
            <a:ext cx="36576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13-003"/>
          <p:cNvSpPr txBox="1"/>
          <p:nvPr/>
        </p:nvSpPr>
        <p:spPr>
          <a:xfrm>
            <a:off x="1097280" y="182880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Liquid | vapor equilibrium</a:t>
            </a:r>
          </a:p>
        </p:txBody>
      </p:sp>
      <p:cxnSp>
        <p:nvCxnSpPr>
          <p:cNvPr id="5" name="arrow4" descr="sci-ppt:C2-E13-004"/>
          <p:cNvCxnSpPr/>
          <p:nvPr/>
        </p:nvCxnSpPr>
        <p:spPr>
          <a:xfrm>
            <a:off x="6339840" y="3962399"/>
            <a:ext cx="445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13-005"/>
          <p:cNvCxnSpPr/>
          <p:nvPr/>
        </p:nvCxnSpPr>
        <p:spPr>
          <a:xfrm flipV="1">
            <a:off x="6339840" y="1524000"/>
            <a:ext cx="0" cy="243839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13-006"/>
          <p:cNvSpPr txBox="1"/>
          <p:nvPr/>
        </p:nvSpPr>
        <p:spPr>
          <a:xfrm>
            <a:off x="981456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Temperature</a:t>
            </a:r>
          </a:p>
        </p:txBody>
      </p:sp>
      <p:sp>
        <p:nvSpPr>
          <p:cNvPr id="8" name="text7" descr="sci-ppt:C2-E13-007"/>
          <p:cNvSpPr txBox="1"/>
          <p:nvPr/>
        </p:nvSpPr>
        <p:spPr>
          <a:xfrm>
            <a:off x="6217920" y="115824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Saturation pressure</a:t>
            </a:r>
          </a:p>
        </p:txBody>
      </p:sp>
      <p:cxnSp>
        <p:nvCxnSpPr>
          <p:cNvPr id="9" name="line8" descr="sci-ppt:C2-E13-008"/>
          <p:cNvCxnSpPr/>
          <p:nvPr/>
        </p:nvCxnSpPr>
        <p:spPr>
          <a:xfrm flipV="1">
            <a:off x="6400800" y="3838041"/>
            <a:ext cx="142239" cy="243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line9" descr="sci-ppt:C2-E13-009"/>
          <p:cNvCxnSpPr/>
          <p:nvPr/>
        </p:nvCxnSpPr>
        <p:spPr>
          <a:xfrm flipV="1">
            <a:off x="6543039" y="3830726"/>
            <a:ext cx="142241" cy="73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13-010"/>
          <p:cNvCxnSpPr/>
          <p:nvPr/>
        </p:nvCxnSpPr>
        <p:spPr>
          <a:xfrm flipV="1">
            <a:off x="6685280" y="3818534"/>
            <a:ext cx="142240" cy="121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3-011"/>
          <p:cNvCxnSpPr/>
          <p:nvPr/>
        </p:nvCxnSpPr>
        <p:spPr>
          <a:xfrm flipV="1">
            <a:off x="6827520" y="3801465"/>
            <a:ext cx="142240" cy="170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3-012"/>
          <p:cNvCxnSpPr/>
          <p:nvPr/>
        </p:nvCxnSpPr>
        <p:spPr>
          <a:xfrm flipV="1">
            <a:off x="6969760" y="3779520"/>
            <a:ext cx="142240" cy="219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3-013"/>
          <p:cNvCxnSpPr/>
          <p:nvPr/>
        </p:nvCxnSpPr>
        <p:spPr>
          <a:xfrm flipV="1">
            <a:off x="7112000" y="3752697"/>
            <a:ext cx="142240" cy="268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3-014"/>
          <p:cNvCxnSpPr/>
          <p:nvPr/>
        </p:nvCxnSpPr>
        <p:spPr>
          <a:xfrm flipV="1">
            <a:off x="7254240" y="3720998"/>
            <a:ext cx="142240" cy="3169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3-015"/>
          <p:cNvCxnSpPr/>
          <p:nvPr/>
        </p:nvCxnSpPr>
        <p:spPr>
          <a:xfrm flipV="1">
            <a:off x="7396480" y="3684422"/>
            <a:ext cx="142240" cy="365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3-016"/>
          <p:cNvCxnSpPr/>
          <p:nvPr/>
        </p:nvCxnSpPr>
        <p:spPr>
          <a:xfrm flipV="1">
            <a:off x="7538720" y="3642969"/>
            <a:ext cx="142240" cy="414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3-017"/>
          <p:cNvCxnSpPr/>
          <p:nvPr/>
        </p:nvCxnSpPr>
        <p:spPr>
          <a:xfrm flipV="1">
            <a:off x="7680960" y="3596640"/>
            <a:ext cx="142240" cy="463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3-018"/>
          <p:cNvCxnSpPr/>
          <p:nvPr/>
        </p:nvCxnSpPr>
        <p:spPr>
          <a:xfrm flipV="1">
            <a:off x="7823200" y="3545433"/>
            <a:ext cx="142240" cy="512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3-019"/>
          <p:cNvCxnSpPr/>
          <p:nvPr/>
        </p:nvCxnSpPr>
        <p:spPr>
          <a:xfrm flipV="1">
            <a:off x="7965440" y="3489350"/>
            <a:ext cx="142240" cy="560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3-020"/>
          <p:cNvCxnSpPr/>
          <p:nvPr/>
        </p:nvCxnSpPr>
        <p:spPr>
          <a:xfrm flipV="1">
            <a:off x="8107680" y="3428390"/>
            <a:ext cx="142240" cy="609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3-021"/>
          <p:cNvCxnSpPr/>
          <p:nvPr/>
        </p:nvCxnSpPr>
        <p:spPr>
          <a:xfrm flipV="1">
            <a:off x="8249920" y="3362553"/>
            <a:ext cx="142240" cy="658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3-022"/>
          <p:cNvCxnSpPr/>
          <p:nvPr/>
        </p:nvCxnSpPr>
        <p:spPr>
          <a:xfrm flipV="1">
            <a:off x="8392160" y="3291840"/>
            <a:ext cx="142240" cy="7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3-023"/>
          <p:cNvCxnSpPr/>
          <p:nvPr/>
        </p:nvCxnSpPr>
        <p:spPr>
          <a:xfrm flipV="1">
            <a:off x="8534400" y="3216249"/>
            <a:ext cx="142240" cy="755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3-024"/>
          <p:cNvCxnSpPr/>
          <p:nvPr/>
        </p:nvCxnSpPr>
        <p:spPr>
          <a:xfrm flipV="1">
            <a:off x="8676640" y="3135782"/>
            <a:ext cx="142240" cy="804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3-025"/>
          <p:cNvCxnSpPr/>
          <p:nvPr/>
        </p:nvCxnSpPr>
        <p:spPr>
          <a:xfrm flipV="1">
            <a:off x="8818880" y="3050438"/>
            <a:ext cx="142240" cy="853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3-026"/>
          <p:cNvCxnSpPr/>
          <p:nvPr/>
        </p:nvCxnSpPr>
        <p:spPr>
          <a:xfrm flipV="1">
            <a:off x="8961120" y="2960217"/>
            <a:ext cx="142240" cy="902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3-027"/>
          <p:cNvCxnSpPr/>
          <p:nvPr/>
        </p:nvCxnSpPr>
        <p:spPr>
          <a:xfrm flipV="1">
            <a:off x="9103360" y="2865120"/>
            <a:ext cx="142240" cy="950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3-028"/>
          <p:cNvCxnSpPr/>
          <p:nvPr/>
        </p:nvCxnSpPr>
        <p:spPr>
          <a:xfrm flipV="1">
            <a:off x="9245600" y="2765145"/>
            <a:ext cx="142240" cy="999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3-029"/>
          <p:cNvCxnSpPr/>
          <p:nvPr/>
        </p:nvCxnSpPr>
        <p:spPr>
          <a:xfrm flipV="1">
            <a:off x="9387840" y="2660294"/>
            <a:ext cx="142240" cy="1048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3-030"/>
          <p:cNvCxnSpPr/>
          <p:nvPr/>
        </p:nvCxnSpPr>
        <p:spPr>
          <a:xfrm flipV="1">
            <a:off x="9530080" y="2550566"/>
            <a:ext cx="142240" cy="1097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3-031"/>
          <p:cNvCxnSpPr/>
          <p:nvPr/>
        </p:nvCxnSpPr>
        <p:spPr>
          <a:xfrm flipV="1">
            <a:off x="9672320" y="2435961"/>
            <a:ext cx="142240" cy="1146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3-032"/>
          <p:cNvCxnSpPr/>
          <p:nvPr/>
        </p:nvCxnSpPr>
        <p:spPr>
          <a:xfrm flipV="1">
            <a:off x="9814560" y="2316480"/>
            <a:ext cx="142240" cy="1194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3-033"/>
          <p:cNvCxnSpPr/>
          <p:nvPr/>
        </p:nvCxnSpPr>
        <p:spPr>
          <a:xfrm flipV="1">
            <a:off x="9956800" y="2192121"/>
            <a:ext cx="142240" cy="12435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3-034"/>
          <p:cNvCxnSpPr/>
          <p:nvPr/>
        </p:nvCxnSpPr>
        <p:spPr>
          <a:xfrm flipV="1">
            <a:off x="10099040" y="2062886"/>
            <a:ext cx="142240" cy="1292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3-035"/>
          <p:cNvCxnSpPr/>
          <p:nvPr/>
        </p:nvCxnSpPr>
        <p:spPr>
          <a:xfrm flipV="1">
            <a:off x="10241280" y="1928774"/>
            <a:ext cx="142240" cy="1341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3-036"/>
          <p:cNvCxnSpPr/>
          <p:nvPr/>
        </p:nvCxnSpPr>
        <p:spPr>
          <a:xfrm flipV="1">
            <a:off x="10383520" y="1789785"/>
            <a:ext cx="142239" cy="1389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3-037"/>
          <p:cNvCxnSpPr/>
          <p:nvPr/>
        </p:nvCxnSpPr>
        <p:spPr>
          <a:xfrm flipV="1">
            <a:off x="10525759" y="1645920"/>
            <a:ext cx="142241" cy="1438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39" name="text38" descr="sci-ppt:C2-E13-038"/>
          <p:cNvSpPr txBox="1"/>
          <p:nvPr/>
        </p:nvSpPr>
        <p:spPr>
          <a:xfrm>
            <a:off x="975360" y="3474720"/>
            <a:ext cx="52425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Schematic trend within stated fit ranges</a:t>
            </a:r>
          </a:p>
        </p:txBody>
      </p:sp>
      <p:sp>
        <p:nvSpPr>
          <p:cNvPr id="40" name="text39" descr="sci-ppt:C2-E13-039"/>
          <p:cNvSpPr txBox="1"/>
          <p:nvPr/>
        </p:nvSpPr>
        <p:spPr>
          <a:xfrm>
            <a:off x="975360" y="304800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F6BC77"/>
                </a:solidFill>
                <a:latin typeface="Arial"/>
              </a:rPr>
              <a:t>Not an activation threshold</a:t>
            </a:r>
          </a:p>
        </p:txBody>
      </p:sp>
      <p:sp>
        <p:nvSpPr>
          <p:cNvPr id="41" name="text40" descr="sci-ppt:C2-E13-040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T: water temperature</a:t>
            </a:r>
          </a:p>
        </p:txBody>
      </p:sp>
      <p:sp>
        <p:nvSpPr>
          <p:cNvPr id="42" name="text41" descr="sci-ppt:C2-E13-041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273–303 K; 304–333 K: separate branches</a:t>
            </a:r>
          </a:p>
        </p:txBody>
      </p:sp>
      <p:sp>
        <p:nvSpPr>
          <p:cNvPr id="43" name="text42" descr="sci-ppt:C2-E13-042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5.40221, 1838.675 K, 31.737 K</a:t>
            </a:r>
          </a:p>
        </p:txBody>
      </p:sp>
      <p:sp>
        <p:nvSpPr>
          <p:cNvPr id="44" name="text43" descr="sci-ppt:C2-E13-043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p_sat,w: water equilibrium pressure</a:t>
            </a:r>
          </a:p>
        </p:txBody>
      </p:sp>
      <p:sp>
        <p:nvSpPr>
          <p:cNvPr id="45" name="text44" descr="sci-ppt:C2-E13-044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10⁵ Pa: pressure reference</a:t>
            </a:r>
          </a:p>
        </p:txBody>
      </p:sp>
      <p:sp>
        <p:nvSpPr>
          <p:cNvPr id="46" name="text45" descr="sci-ppt:C2-E13-045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5.20389, 1733.926 K, 39.485 K</a:t>
            </a:r>
          </a:p>
        </p:txBody>
      </p:sp>
      <p:sp>
        <p:nvSpPr>
          <p:cNvPr id="47" name="text46" descr="sci-ppt:C2-E13-046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Use the coefficient branch belonging to the temperature</a:t>
            </a:r>
          </a:p>
        </p:txBody>
      </p:sp>
      <p:sp>
        <p:nvSpPr>
          <p:cNvPr id="48" name="text47" descr="sci-ppt:C2-E13-047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hot PFC and carrier may have different local temperatures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