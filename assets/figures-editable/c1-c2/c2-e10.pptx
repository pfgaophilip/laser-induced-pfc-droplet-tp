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0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C2-E10 | Physical-variable diagram</a:t>
            </a:r>
          </a:p>
        </p:txBody>
      </p:sp>
      <p:sp>
        <p:nvSpPr>
          <p:cNvPr id="3" name="rect2" descr="sci-ppt:C2-E10-002"/>
          <p:cNvSpPr/>
          <p:nvPr/>
        </p:nvSpPr>
        <p:spPr>
          <a:xfrm>
            <a:off x="1219200" y="1524000"/>
            <a:ext cx="3048000" cy="2438400"/>
          </a:xfrm>
          <a:prstGeom prst="rect">
            <a:avLst/>
          </a:prstGeom>
          <a:solidFill>
            <a:srgbClr val="F6BC77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3" descr="sci-ppt:C2-E10-003"/>
          <p:cNvSpPr/>
          <p:nvPr/>
        </p:nvSpPr>
        <p:spPr>
          <a:xfrm>
            <a:off x="4267200" y="1524000"/>
            <a:ext cx="4876800" cy="243840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4" descr="sci-ppt:C2-E10-004"/>
          <p:cNvSpPr txBox="1"/>
          <p:nvPr/>
        </p:nvSpPr>
        <p:spPr>
          <a:xfrm>
            <a:off x="152400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142632"/>
                </a:solidFill>
                <a:latin typeface="Arial"/>
              </a:rPr>
              <a:t>Absorber / side A</a:t>
            </a:r>
          </a:p>
        </p:txBody>
      </p:sp>
      <p:sp>
        <p:nvSpPr>
          <p:cNvPr id="6" name="text5" descr="sci-ppt:C2-E10-005"/>
          <p:cNvSpPr txBox="1"/>
          <p:nvPr/>
        </p:nvSpPr>
        <p:spPr>
          <a:xfrm>
            <a:off x="5669280" y="1828800"/>
            <a:ext cx="365760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PFC / side B</a:t>
            </a:r>
          </a:p>
        </p:txBody>
      </p:sp>
      <p:cxnSp>
        <p:nvCxnSpPr>
          <p:cNvPr id="7" name="arrow6" descr="sci-ppt:C2-E10-006"/>
          <p:cNvCxnSpPr/>
          <p:nvPr/>
        </p:nvCxnSpPr>
        <p:spPr>
          <a:xfrm>
            <a:off x="3048000" y="2865120"/>
            <a:ext cx="32918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7" descr="sci-ppt:C2-E10-007"/>
          <p:cNvSpPr txBox="1"/>
          <p:nvPr/>
        </p:nvSpPr>
        <p:spPr>
          <a:xfrm>
            <a:off x="4632960" y="3169920"/>
            <a:ext cx="48768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q; normal A → B</a:t>
            </a:r>
          </a:p>
        </p:txBody>
      </p:sp>
      <p:sp>
        <p:nvSpPr>
          <p:cNvPr id="9" name="text8" descr="sci-ppt:C2-E10-008"/>
          <p:cNvSpPr txBox="1"/>
          <p:nvPr/>
        </p:nvSpPr>
        <p:spPr>
          <a:xfrm>
            <a:off x="121920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T_A</a:t>
            </a:r>
          </a:p>
        </p:txBody>
      </p:sp>
      <p:sp>
        <p:nvSpPr>
          <p:cNvPr id="10" name="text9" descr="sci-ppt:C2-E10-009"/>
          <p:cNvSpPr txBox="1"/>
          <p:nvPr/>
        </p:nvSpPr>
        <p:spPr>
          <a:xfrm>
            <a:off x="7071360" y="1097280"/>
            <a:ext cx="182880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T_B</a:t>
            </a:r>
          </a:p>
        </p:txBody>
      </p:sp>
      <p:sp>
        <p:nvSpPr>
          <p:cNvPr id="11" name="text10" descr="sci-ppt:C2-E10-010"/>
          <p:cNvSpPr txBox="1"/>
          <p:nvPr/>
        </p:nvSpPr>
        <p:spPr>
          <a:xfrm>
            <a:off x="1402080" y="4206240"/>
            <a:ext cx="1036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Thermal path and contact are distinct from optical deposition.</a:t>
            </a:r>
          </a:p>
        </p:txBody>
      </p:sp>
      <p:sp>
        <p:nvSpPr>
          <p:cNvPr id="12" name="rect11" descr="sci-ppt:C2-E10-011"/>
          <p:cNvSpPr/>
          <p:nvPr/>
        </p:nvSpPr>
        <p:spPr>
          <a:xfrm>
            <a:off x="4279392" y="1536192"/>
            <a:ext cx="219456" cy="2414016"/>
          </a:xfrm>
          <a:prstGeom prst="rect">
            <a:avLst/>
          </a:prstGeom>
          <a:solidFill>
            <a:srgbClr val="F6BC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12" descr="sci-ppt:C2-E10-012"/>
          <p:cNvSpPr txBox="1"/>
          <p:nvPr/>
        </p:nvSpPr>
        <p:spPr>
          <a:xfrm>
            <a:off x="9387840" y="243840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δ_T</a:t>
            </a:r>
          </a:p>
        </p:txBody>
      </p:sp>
      <p:sp>
        <p:nvSpPr>
          <p:cNvPr id="14" name="text13" descr="sci-ppt:C2-E10-013"/>
          <p:cNvSpPr txBox="1"/>
          <p:nvPr/>
        </p:nvSpPr>
        <p:spPr>
          <a:xfrm>
            <a:off x="9387840" y="286512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≪ L_h</a:t>
            </a:r>
          </a:p>
        </p:txBody>
      </p:sp>
      <p:sp>
        <p:nvSpPr>
          <p:cNvPr id="15" name="text14" descr="sci-ppt:C2-E10-014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α_d = 4.69034×10⁻⁸ m²/s</a:t>
            </a:r>
          </a:p>
        </p:txBody>
      </p:sp>
      <p:sp>
        <p:nvSpPr>
          <p:cNvPr id="16" name="text15" descr="sci-ppt:C2-E10-015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τ_h = 10 ns</a:t>
            </a:r>
          </a:p>
        </p:txBody>
      </p:sp>
      <p:sp>
        <p:nvSpPr>
          <p:cNvPr id="17" name="text16" descr="sci-ppt:C2-E10-016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δ_T ≈ 21.66 nm</a:t>
            </a:r>
          </a:p>
        </p:txBody>
      </p:sp>
      <p:sp>
        <p:nvSpPr>
          <p:cNvPr id="18" name="text17" descr="sci-ppt:C2-E10-017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L_h = 5 μm</a:t>
            </a:r>
          </a:p>
        </p:txBody>
      </p:sp>
      <p:sp>
        <p:nvSpPr>
          <p:cNvPr id="19" name="text18" descr="sci-ppt:C2-E10-018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t_th ≈ 533 μs</a:t>
            </a:r>
          </a:p>
        </p:txBody>
      </p:sp>
      <p:sp>
        <p:nvSpPr>
          <p:cNvPr id="20" name="text19" descr="sci-ppt:C2-E10-019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k_d = 0.050, ρ_d = 1630, c_p,d = 654 (SI)</a:t>
            </a:r>
          </a:p>
        </p:txBody>
      </p:sp>
      <p:sp>
        <p:nvSpPr>
          <p:cNvPr id="21" name="text20" descr="sci-ppt:C2-E10-020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Heated shell is much thinner than the core</a:t>
            </a:r>
          </a:p>
        </p:txBody>
      </p:sp>
      <p:sp>
        <p:nvSpPr>
          <p:cNvPr id="22" name="text21" descr="sci-ppt:C2-E10-021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Distributed absorbers or later conduction must justify a uniform-core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