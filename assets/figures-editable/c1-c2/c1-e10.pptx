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1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C1-E10 | Physical-variable diagram</a:t>
            </a:r>
          </a:p>
        </p:txBody>
      </p:sp>
      <p:sp>
        <p:nvSpPr>
          <p:cNvPr id="3" name="rect2" descr="sci-ppt:C1-E10-002"/>
          <p:cNvSpPr/>
          <p:nvPr/>
        </p:nvSpPr>
        <p:spPr>
          <a:xfrm>
            <a:off x="609600" y="2011680"/>
            <a:ext cx="3048000" cy="12801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1-E10-003"/>
          <p:cNvSpPr txBox="1"/>
          <p:nvPr/>
        </p:nvSpPr>
        <p:spPr>
          <a:xfrm>
            <a:off x="731520" y="213360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Pressure work</a:t>
            </a:r>
          </a:p>
        </p:txBody>
      </p:sp>
      <p:sp>
        <p:nvSpPr>
          <p:cNvPr id="5" name="rect4" descr="sci-ppt:C1-E10-004"/>
          <p:cNvSpPr/>
          <p:nvPr/>
        </p:nvSpPr>
        <p:spPr>
          <a:xfrm>
            <a:off x="4511040" y="2011680"/>
            <a:ext cx="3048000" cy="12801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1-E10-005"/>
          <p:cNvSpPr txBox="1"/>
          <p:nvPr/>
        </p:nvSpPr>
        <p:spPr>
          <a:xfrm>
            <a:off x="4632960" y="213360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K_l + E_σ</a:t>
            </a:r>
          </a:p>
        </p:txBody>
      </p:sp>
      <p:sp>
        <p:nvSpPr>
          <p:cNvPr id="7" name="rect6" descr="sci-ppt:C1-E10-006"/>
          <p:cNvSpPr/>
          <p:nvPr/>
        </p:nvSpPr>
        <p:spPr>
          <a:xfrm>
            <a:off x="8412480" y="2011680"/>
            <a:ext cx="2926080" cy="12801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7" descr="sci-ppt:C1-E10-007"/>
          <p:cNvSpPr txBox="1"/>
          <p:nvPr/>
        </p:nvSpPr>
        <p:spPr>
          <a:xfrm>
            <a:off x="8534400" y="2133600"/>
            <a:ext cx="274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Viscous dissipation</a:t>
            </a:r>
          </a:p>
        </p:txBody>
      </p:sp>
      <p:cxnSp>
        <p:nvCxnSpPr>
          <p:cNvPr id="9" name="arrow8" descr="sci-ppt:C1-E10-008"/>
          <p:cNvCxnSpPr/>
          <p:nvPr/>
        </p:nvCxnSpPr>
        <p:spPr>
          <a:xfrm>
            <a:off x="3718560" y="2621280"/>
            <a:ext cx="6705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arrow9" descr="sci-ppt:C1-E10-009"/>
          <p:cNvCxnSpPr/>
          <p:nvPr/>
        </p:nvCxnSpPr>
        <p:spPr>
          <a:xfrm>
            <a:off x="7620000" y="2621280"/>
            <a:ext cx="6705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text10" descr="sci-ppt:C1-E10-010"/>
          <p:cNvSpPr txBox="1"/>
          <p:nvPr/>
        </p:nvSpPr>
        <p:spPr>
          <a:xfrm>
            <a:off x="1219200" y="3901440"/>
            <a:ext cx="103632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Storage can change sign; dissipation is nonnegative.</a:t>
            </a:r>
          </a:p>
        </p:txBody>
      </p:sp>
      <p:sp>
        <p:nvSpPr>
          <p:cNvPr id="12" name="text11" descr="sci-ppt:C1-E10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Kl</a:t>
            </a:r>
          </a:p>
        </p:txBody>
      </p:sp>
      <p:sp>
        <p:nvSpPr>
          <p:cNvPr id="13" name="text12" descr="sci-ppt:C1-E10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Vb</a:t>
            </a:r>
          </a:p>
        </p:txBody>
      </p:sp>
      <p:sp>
        <p:nvSpPr>
          <p:cNvPr id="14" name="text13" descr="sci-ppt:C1-E10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15" name="text14" descr="sci-ppt:C1-E10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R̈</a:t>
            </a:r>
          </a:p>
        </p:txBody>
      </p:sp>
      <p:sp>
        <p:nvSpPr>
          <p:cNvPr id="16" name="text15" descr="sci-ppt:C1-E10-015"/>
          <p:cNvSpPr txBox="1"/>
          <p:nvPr/>
        </p:nvSpPr>
        <p:spPr>
          <a:xfrm>
            <a:off x="3657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</a:t>
            </a:r>
          </a:p>
        </p:txBody>
      </p:sp>
      <p:sp>
        <p:nvSpPr>
          <p:cNvPr id="17" name="text16" descr="sci-ppt:C1-E10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Eσ</a:t>
            </a:r>
          </a:p>
        </p:txBody>
      </p:sp>
      <p:sp>
        <p:nvSpPr>
          <p:cNvPr id="18" name="text17" descr="sci-ppt:C1-E10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V̇b</a:t>
            </a:r>
          </a:p>
        </p:txBody>
      </p:sp>
      <p:sp>
        <p:nvSpPr>
          <p:cNvPr id="19" name="text18" descr="sci-ppt:C1-E10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Ṙ</a:t>
            </a:r>
          </a:p>
        </p:txBody>
      </p:sp>
      <p:sp>
        <p:nvSpPr>
          <p:cNvPr id="20" name="text19" descr="sci-ppt:C1-E10-019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21" name="text20" descr="sci-ppt:C1-E10-020"/>
          <p:cNvSpPr txBox="1"/>
          <p:nvPr/>
        </p:nvSpPr>
        <p:spPr>
          <a:xfrm>
            <a:off x="61569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</a:t>
            </a:r>
          </a:p>
        </p:txBody>
      </p:sp>
      <p:sp>
        <p:nvSpPr>
          <p:cNvPr id="22" name="text21" descr="sci-ppt:C1-E10-021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Surface energy is stored at the spherical boundary</a:t>
            </a:r>
          </a:p>
        </p:txBody>
      </p:sp>
      <p:sp>
        <p:nvSpPr>
          <p:cNvPr id="23" name="text22" descr="sci-ppt:C1-E10-022"/>
          <p:cNvSpPr txBox="1"/>
          <p:nvPr/>
        </p:nvSpPr>
        <p:spPr>
          <a:xfrm>
            <a:off x="365760" y="6925056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Volume work changes both liquid speed and effective inertia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