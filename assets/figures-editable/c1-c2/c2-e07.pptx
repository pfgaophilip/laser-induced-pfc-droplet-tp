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0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C2-E07 | Physical-variable diagram</a:t>
            </a:r>
          </a:p>
        </p:txBody>
      </p:sp>
      <p:sp>
        <p:nvSpPr>
          <p:cNvPr id="3" name="rect2" descr="sci-ppt:C2-E07-002"/>
          <p:cNvSpPr/>
          <p:nvPr/>
        </p:nvSpPr>
        <p:spPr>
          <a:xfrm>
            <a:off x="1219200" y="1524000"/>
            <a:ext cx="3048000" cy="2438400"/>
          </a:xfrm>
          <a:prstGeom prst="rect">
            <a:avLst/>
          </a:prstGeom>
          <a:solidFill>
            <a:srgbClr val="F6BC77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3" descr="sci-ppt:C2-E07-003"/>
          <p:cNvSpPr/>
          <p:nvPr/>
        </p:nvSpPr>
        <p:spPr>
          <a:xfrm>
            <a:off x="4267200" y="1524000"/>
            <a:ext cx="4876800" cy="24384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4" descr="sci-ppt:C2-E07-004"/>
          <p:cNvSpPr txBox="1"/>
          <p:nvPr/>
        </p:nvSpPr>
        <p:spPr>
          <a:xfrm>
            <a:off x="152400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142632"/>
                </a:solidFill>
                <a:latin typeface="Arial"/>
              </a:rPr>
              <a:t>Absorber / side A</a:t>
            </a:r>
          </a:p>
        </p:txBody>
      </p:sp>
      <p:sp>
        <p:nvSpPr>
          <p:cNvPr id="6" name="text5" descr="sci-ppt:C2-E07-005"/>
          <p:cNvSpPr txBox="1"/>
          <p:nvPr/>
        </p:nvSpPr>
        <p:spPr>
          <a:xfrm>
            <a:off x="5669280" y="1828800"/>
            <a:ext cx="365760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PFC / side B</a:t>
            </a:r>
          </a:p>
        </p:txBody>
      </p:sp>
      <p:cxnSp>
        <p:nvCxnSpPr>
          <p:cNvPr id="7" name="arrow6" descr="sci-ppt:C2-E07-006"/>
          <p:cNvCxnSpPr/>
          <p:nvPr/>
        </p:nvCxnSpPr>
        <p:spPr>
          <a:xfrm>
            <a:off x="3048000" y="2865120"/>
            <a:ext cx="3291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07-007"/>
          <p:cNvSpPr txBox="1"/>
          <p:nvPr/>
        </p:nvSpPr>
        <p:spPr>
          <a:xfrm>
            <a:off x="4632960" y="316992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q; normal A → B</a:t>
            </a:r>
          </a:p>
        </p:txBody>
      </p:sp>
      <p:sp>
        <p:nvSpPr>
          <p:cNvPr id="9" name="text8" descr="sci-ppt:C2-E07-008"/>
          <p:cNvSpPr txBox="1"/>
          <p:nvPr/>
        </p:nvSpPr>
        <p:spPr>
          <a:xfrm>
            <a:off x="121920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T_A</a:t>
            </a:r>
          </a:p>
        </p:txBody>
      </p:sp>
      <p:sp>
        <p:nvSpPr>
          <p:cNvPr id="10" name="text9" descr="sci-ppt:C2-E07-009"/>
          <p:cNvSpPr txBox="1"/>
          <p:nvPr/>
        </p:nvSpPr>
        <p:spPr>
          <a:xfrm>
            <a:off x="7071360" y="1097280"/>
            <a:ext cx="1828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T_B</a:t>
            </a:r>
          </a:p>
        </p:txBody>
      </p:sp>
      <p:sp>
        <p:nvSpPr>
          <p:cNvPr id="11" name="text10" descr="sci-ppt:C2-E07-010"/>
          <p:cNvSpPr txBox="1"/>
          <p:nvPr/>
        </p:nvSpPr>
        <p:spPr>
          <a:xfrm>
            <a:off x="1402080" y="4206240"/>
            <a:ext cx="1036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Thermal path and contact are distinct from optical deposition.</a:t>
            </a:r>
          </a:p>
        </p:txBody>
      </p:sp>
      <p:sp>
        <p:nvSpPr>
          <p:cNvPr id="12" name="text11" descr="sci-ppt:C2-E07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T: core temperature field</a:t>
            </a:r>
          </a:p>
        </p:txBody>
      </p:sp>
      <p:sp>
        <p:nvSpPr>
          <p:cNvPr id="13" name="text12" descr="sci-ppt:C2-E07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k, q: conduction toward colder material</a:t>
            </a:r>
          </a:p>
        </p:txBody>
      </p:sp>
      <p:sp>
        <p:nvSpPr>
          <p:cNvPr id="14" name="text13" descr="sci-ppt:C2-E07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Q_abs: absorber heating</a:t>
            </a:r>
          </a:p>
        </p:txBody>
      </p:sp>
      <p:sp>
        <p:nvSpPr>
          <p:cNvPr id="15" name="text14" descr="sci-ppt:C2-E07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∇, ∇·: spatial variation</a:t>
            </a:r>
          </a:p>
        </p:txBody>
      </p:sp>
      <p:sp>
        <p:nvSpPr>
          <p:cNvPr id="16" name="text15" descr="sci-ppt:C2-E07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ρ, c_p: stored sensible energy</a:t>
            </a:r>
          </a:p>
        </p:txBody>
      </p:sp>
      <p:sp>
        <p:nvSpPr>
          <p:cNvPr id="17" name="text16" descr="sci-ppt:C2-E07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u: parcel advection</a:t>
            </a:r>
          </a:p>
        </p:txBody>
      </p:sp>
      <p:sp>
        <p:nvSpPr>
          <p:cNvPr id="18" name="text17" descr="sci-ppt:C2-E07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t, D/Dt, ∂_t: time changes</a:t>
            </a:r>
          </a:p>
        </p:txBody>
      </p:sp>
      <p:sp>
        <p:nvSpPr>
          <p:cNvPr id="19" name="text18" descr="sci-ppt:C2-E07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Absorber and PFC can occupy different locations</a:t>
            </a:r>
          </a:p>
        </p:txBody>
      </p:sp>
      <p:sp>
        <p:nvSpPr>
          <p:cNvPr id="20" name="text19" descr="sci-ppt:C2-E07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This equation precedes phase change; latent transfer is added at the interface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