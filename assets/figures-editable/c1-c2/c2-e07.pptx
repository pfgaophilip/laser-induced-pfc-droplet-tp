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2-E0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C2-E07 · Reduced heat equation and Fourier constitutive law</a:t>
            </a:r>
          </a:p>
        </p:txBody>
      </p:sp>
      <p:sp>
        <p:nvSpPr>
          <p:cNvPr id="3" name="C2-E07 round_rect 1" descr="sci-ppt:o001"/>
          <p:cNvSpPr/>
          <p:nvPr/>
        </p:nvSpPr>
        <p:spPr>
          <a:xfrm>
            <a:off x="365760" y="914400"/>
            <a:ext cx="5852160" cy="49377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2-E07 text 2" descr="sci-ppt:o002"/>
          <p:cNvSpPr txBox="1"/>
          <p:nvPr/>
        </p:nvSpPr>
        <p:spPr>
          <a:xfrm>
            <a:off x="475488" y="969264"/>
            <a:ext cx="56327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Energy balance of a small parcel</a:t>
            </a:r>
          </a:p>
        </p:txBody>
      </p:sp>
      <p:sp>
        <p:nvSpPr>
          <p:cNvPr id="5" name="C2-E07 rect 3" descr="sci-ppt:o003"/>
          <p:cNvSpPr/>
          <p:nvPr/>
        </p:nvSpPr>
        <p:spPr>
          <a:xfrm>
            <a:off x="2286000" y="2468880"/>
            <a:ext cx="2011680" cy="1463040"/>
          </a:xfrm>
          <a:prstGeom prst="rect">
            <a:avLst/>
          </a:prstGeom>
          <a:solidFill>
            <a:srgbClr val="2B6678">
              <a:alpha val="90000"/>
            </a:srgbClr>
          </a:solidFill>
          <a:ln w="30480">
            <a:solidFill>
              <a:srgbClr val="8EDBD4">
                <a:alpha val="9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2-E07 text 4" descr="sci-ppt:o004"/>
          <p:cNvSpPr txBox="1"/>
          <p:nvPr/>
        </p:nvSpPr>
        <p:spPr>
          <a:xfrm>
            <a:off x="2286000" y="2926080"/>
            <a:ext cx="201168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E7F0F3"/>
                </a:solidFill>
                <a:latin typeface="Arial"/>
              </a:rPr>
              <a:t>ρ cₚ DT/Dt</a:t>
            </a:r>
          </a:p>
        </p:txBody>
      </p:sp>
      <p:cxnSp>
        <p:nvCxnSpPr>
          <p:cNvPr id="7" name="C2-E07 arrow 5" descr="sci-ppt:o005"/>
          <p:cNvCxnSpPr/>
          <p:nvPr/>
        </p:nvCxnSpPr>
        <p:spPr>
          <a:xfrm>
            <a:off x="914400" y="3200400"/>
            <a:ext cx="1325880" cy="0"/>
          </a:xfrm>
          <a:prstGeom prst="line">
            <a:avLst/>
          </a:prstGeom>
          <a:ln w="4445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2-E07 text 6" descr="sci-ppt:o006"/>
          <p:cNvSpPr txBox="1"/>
          <p:nvPr/>
        </p:nvSpPr>
        <p:spPr>
          <a:xfrm>
            <a:off x="502920" y="2743200"/>
            <a:ext cx="17373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conduction in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−∇·q</a:t>
            </a:r>
          </a:p>
        </p:txBody>
      </p:sp>
      <p:cxnSp>
        <p:nvCxnSpPr>
          <p:cNvPr id="9" name="C2-E07 arrow 7" descr="sci-ppt:o007"/>
          <p:cNvCxnSpPr/>
          <p:nvPr/>
        </p:nvCxnSpPr>
        <p:spPr>
          <a:xfrm>
            <a:off x="4343400" y="3200400"/>
            <a:ext cx="1325880" cy="0"/>
          </a:xfrm>
          <a:prstGeom prst="line">
            <a:avLst/>
          </a:prstGeom>
          <a:ln w="4445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2-E07 text 8" descr="sci-ppt:o008"/>
          <p:cNvSpPr txBox="1"/>
          <p:nvPr/>
        </p:nvSpPr>
        <p:spPr>
          <a:xfrm>
            <a:off x="4389120" y="2743200"/>
            <a:ext cx="17373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conduction out</a:t>
            </a:r>
          </a:p>
        </p:txBody>
      </p:sp>
      <p:cxnSp>
        <p:nvCxnSpPr>
          <p:cNvPr id="11" name="C2-E07 arrow 9" descr="sci-ppt:o009"/>
          <p:cNvCxnSpPr/>
          <p:nvPr/>
        </p:nvCxnSpPr>
        <p:spPr>
          <a:xfrm>
            <a:off x="3291840" y="1828800"/>
            <a:ext cx="0" cy="594360"/>
          </a:xfrm>
          <a:prstGeom prst="line">
            <a:avLst/>
          </a:prstGeom>
          <a:ln w="4445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C2-E07 text 10" descr="sci-ppt:o010"/>
          <p:cNvSpPr txBox="1"/>
          <p:nvPr/>
        </p:nvSpPr>
        <p:spPr>
          <a:xfrm>
            <a:off x="2377440" y="1417320"/>
            <a:ext cx="2194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absorbed light Q_abs</a:t>
            </a:r>
          </a:p>
        </p:txBody>
      </p:sp>
      <p:sp>
        <p:nvSpPr>
          <p:cNvPr id="13" name="C2-E07 text 11" descr="sci-ppt:o011"/>
          <p:cNvSpPr txBox="1"/>
          <p:nvPr/>
        </p:nvSpPr>
        <p:spPr>
          <a:xfrm>
            <a:off x="548640" y="4297680"/>
            <a:ext cx="548640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7F0F3"/>
                </a:solidFill>
                <a:latin typeface="Arial"/>
              </a:rPr>
              <a:t>Stored heat rate  =  net conduction  +  optical source</a:t>
            </a:r>
          </a:p>
        </p:txBody>
      </p:sp>
      <p:sp>
        <p:nvSpPr>
          <p:cNvPr id="14" name="C2-E07 text 12" descr="sci-ppt:o012"/>
          <p:cNvSpPr txBox="1"/>
          <p:nvPr/>
        </p:nvSpPr>
        <p:spPr>
          <a:xfrm>
            <a:off x="548640" y="4754880"/>
            <a:ext cx="54864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q = −k∇T (Fourier),   D/Dt = ∂/∂t + u·∇</a:t>
            </a:r>
          </a:p>
        </p:txBody>
      </p:sp>
      <p:sp>
        <p:nvSpPr>
          <p:cNvPr id="15" name="C2-E07 round_rect 13" descr="sci-ppt:o013"/>
          <p:cNvSpPr/>
          <p:nvPr/>
        </p:nvSpPr>
        <p:spPr>
          <a:xfrm>
            <a:off x="6492240" y="914400"/>
            <a:ext cx="5349240" cy="49377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2-E07 text 14" descr="sci-ppt:o014"/>
          <p:cNvSpPr txBox="1"/>
          <p:nvPr/>
        </p:nvSpPr>
        <p:spPr>
          <a:xfrm>
            <a:off x="6601968" y="969264"/>
            <a:ext cx="5129783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Two different heating jobs</a:t>
            </a:r>
          </a:p>
        </p:txBody>
      </p:sp>
      <p:sp>
        <p:nvSpPr>
          <p:cNvPr id="17" name="C2-E07 rect 15" descr="sci-ppt:o015"/>
          <p:cNvSpPr/>
          <p:nvPr/>
        </p:nvSpPr>
        <p:spPr>
          <a:xfrm>
            <a:off x="6766560" y="1828800"/>
            <a:ext cx="1463040" cy="3108960"/>
          </a:xfrm>
          <a:prstGeom prst="rect">
            <a:avLst/>
          </a:prstGeom>
          <a:solidFill>
            <a:srgbClr val="3A5362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2-E07 text 16" descr="sci-ppt:o016"/>
          <p:cNvSpPr txBox="1"/>
          <p:nvPr/>
        </p:nvSpPr>
        <p:spPr>
          <a:xfrm>
            <a:off x="6766560" y="3108960"/>
            <a:ext cx="146304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absorber</a:t>
            </a:r>
          </a:p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Q_abs ≠ 0</a:t>
            </a:r>
          </a:p>
        </p:txBody>
      </p:sp>
      <p:cxnSp>
        <p:nvCxnSpPr>
          <p:cNvPr id="19" name="C2-E07 arrow 17" descr="sci-ppt:o017"/>
          <p:cNvCxnSpPr/>
          <p:nvPr/>
        </p:nvCxnSpPr>
        <p:spPr>
          <a:xfrm>
            <a:off x="8275320" y="3383280"/>
            <a:ext cx="777240" cy="0"/>
          </a:xfrm>
          <a:prstGeom prst="line">
            <a:avLst/>
          </a:prstGeom>
          <a:ln w="4445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sp>
        <p:nvSpPr>
          <p:cNvPr id="20" name="C2-E07 ellipse 18" descr="sci-ppt:o018"/>
          <p:cNvSpPr/>
          <p:nvPr/>
        </p:nvSpPr>
        <p:spPr>
          <a:xfrm>
            <a:off x="9235440" y="2468880"/>
            <a:ext cx="1828800" cy="1828800"/>
          </a:xfrm>
          <a:prstGeom prst="ellipse">
            <a:avLst/>
          </a:prstGeom>
          <a:solidFill>
            <a:srgbClr val="1E4A5A"/>
          </a:solidFill>
          <a:ln w="2794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2-E07 text 19" descr="sci-ppt:o019"/>
          <p:cNvSpPr txBox="1"/>
          <p:nvPr/>
        </p:nvSpPr>
        <p:spPr>
          <a:xfrm>
            <a:off x="9326880" y="3246120"/>
            <a:ext cx="164592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8EDBD4"/>
                </a:solidFill>
                <a:latin typeface="Arial"/>
              </a:rPr>
              <a:t>PFC</a:t>
            </a:r>
          </a:p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8EDBD4"/>
                </a:solidFill>
                <a:latin typeface="Arial"/>
              </a:rPr>
              <a:t>Q_abs = 0</a:t>
            </a:r>
          </a:p>
        </p:txBody>
      </p:sp>
      <p:sp>
        <p:nvSpPr>
          <p:cNvPr id="22" name="C2-E07 text 20" descr="sci-ppt:o020"/>
          <p:cNvSpPr txBox="1"/>
          <p:nvPr/>
        </p:nvSpPr>
        <p:spPr>
          <a:xfrm>
            <a:off x="6675120" y="5074920"/>
            <a:ext cx="502920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Heating the absorber and heating the PFC are separate steps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joined only by conduction across the contact.</a:t>
            </a:r>
          </a:p>
        </p:txBody>
      </p:sp>
      <p:sp>
        <p:nvSpPr>
          <p:cNvPr id="23" name="C2-E07 text 21" descr="sci-ppt:o02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Reduced heat equation of Eq. C2-E07; sketch of the heat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