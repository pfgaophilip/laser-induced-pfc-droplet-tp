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C2-E01 · Prescribed optical profile</a:t>
            </a:r>
          </a:p>
        </p:txBody>
      </p:sp>
      <p:sp>
        <p:nvSpPr>
          <p:cNvPr id="3" name="C2-E01 round_rect 1" descr="sci-ppt:o001"/>
          <p:cNvSpPr/>
          <p:nvPr/>
        </p:nvSpPr>
        <p:spPr>
          <a:xfrm>
            <a:off x="365760" y="914400"/>
            <a:ext cx="42062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01 text 2" descr="sci-ppt:o002"/>
          <p:cNvSpPr txBox="1"/>
          <p:nvPr/>
        </p:nvSpPr>
        <p:spPr>
          <a:xfrm>
            <a:off x="475488" y="969264"/>
            <a:ext cx="3986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Beam spot on the target</a:t>
            </a:r>
          </a:p>
        </p:txBody>
      </p:sp>
      <p:sp>
        <p:nvSpPr>
          <p:cNvPr id="5" name="C2-E01 ellipse 3" descr="sci-ppt:o003"/>
          <p:cNvSpPr/>
          <p:nvPr/>
        </p:nvSpPr>
        <p:spPr>
          <a:xfrm>
            <a:off x="731520" y="1645920"/>
            <a:ext cx="3474720" cy="347472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01 ellipse 4" descr="sci-ppt:o004"/>
          <p:cNvSpPr/>
          <p:nvPr/>
        </p:nvSpPr>
        <p:spPr>
          <a:xfrm>
            <a:off x="810490" y="1724890"/>
            <a:ext cx="3316778" cy="3316778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2-E01 ellipse 5" descr="sci-ppt:o005"/>
          <p:cNvSpPr/>
          <p:nvPr/>
        </p:nvSpPr>
        <p:spPr>
          <a:xfrm>
            <a:off x="889461" y="1803861"/>
            <a:ext cx="3158836" cy="3158836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01 ellipse 6" descr="sci-ppt:o006"/>
          <p:cNvSpPr/>
          <p:nvPr/>
        </p:nvSpPr>
        <p:spPr>
          <a:xfrm>
            <a:off x="968432" y="1882832"/>
            <a:ext cx="3000894" cy="3000894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2-E01 ellipse 7" descr="sci-ppt:o007"/>
          <p:cNvSpPr/>
          <p:nvPr/>
        </p:nvSpPr>
        <p:spPr>
          <a:xfrm>
            <a:off x="1047403" y="1961803"/>
            <a:ext cx="2842952" cy="2842952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01 ellipse 8" descr="sci-ppt:o008"/>
          <p:cNvSpPr/>
          <p:nvPr/>
        </p:nvSpPr>
        <p:spPr>
          <a:xfrm>
            <a:off x="1126374" y="2040774"/>
            <a:ext cx="2685010" cy="268501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01 ellipse 9" descr="sci-ppt:o009"/>
          <p:cNvSpPr/>
          <p:nvPr/>
        </p:nvSpPr>
        <p:spPr>
          <a:xfrm>
            <a:off x="1205345" y="2119745"/>
            <a:ext cx="2527069" cy="2527069"/>
          </a:xfrm>
          <a:prstGeom prst="ellipse">
            <a:avLst/>
          </a:prstGeom>
          <a:solidFill>
            <a:srgbClr val="8EDBD4">
              <a:alpha val="5641"/>
            </a:srgbClr>
          </a:solidFill>
          <a:ln>
            <a:solidFill>
              <a:srgbClr val="8EDBD4">
                <a:alpha val="564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01 ellipse 10" descr="sci-ppt:o010"/>
          <p:cNvSpPr/>
          <p:nvPr/>
        </p:nvSpPr>
        <p:spPr>
          <a:xfrm>
            <a:off x="1284316" y="2198716"/>
            <a:ext cx="2369127" cy="2369127"/>
          </a:xfrm>
          <a:prstGeom prst="ellipse">
            <a:avLst/>
          </a:prstGeom>
          <a:solidFill>
            <a:srgbClr val="8EDBD4">
              <a:alpha val="7777"/>
            </a:srgbClr>
          </a:solidFill>
          <a:ln>
            <a:solidFill>
              <a:srgbClr val="8EDBD4">
                <a:alpha val="777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2-E01 ellipse 11" descr="sci-ppt:o011"/>
          <p:cNvSpPr/>
          <p:nvPr/>
        </p:nvSpPr>
        <p:spPr>
          <a:xfrm>
            <a:off x="1363287" y="2277687"/>
            <a:ext cx="2211185" cy="2211185"/>
          </a:xfrm>
          <a:prstGeom prst="ellipse">
            <a:avLst/>
          </a:prstGeom>
          <a:solidFill>
            <a:srgbClr val="8EDBD4">
              <a:alpha val="10502"/>
            </a:srgbClr>
          </a:solidFill>
          <a:ln>
            <a:solidFill>
              <a:srgbClr val="8EDBD4">
                <a:alpha val="1050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01 ellipse 12" descr="sci-ppt:o012"/>
          <p:cNvSpPr/>
          <p:nvPr/>
        </p:nvSpPr>
        <p:spPr>
          <a:xfrm>
            <a:off x="1442258" y="2356658"/>
            <a:ext cx="2053243" cy="2053243"/>
          </a:xfrm>
          <a:prstGeom prst="ellipse">
            <a:avLst/>
          </a:prstGeom>
          <a:solidFill>
            <a:srgbClr val="8EDBD4">
              <a:alpha val="13892"/>
            </a:srgbClr>
          </a:solidFill>
          <a:ln>
            <a:solidFill>
              <a:srgbClr val="8EDBD4">
                <a:alpha val="1389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01 ellipse 13" descr="sci-ppt:o013"/>
          <p:cNvSpPr/>
          <p:nvPr/>
        </p:nvSpPr>
        <p:spPr>
          <a:xfrm>
            <a:off x="1521229" y="2435629"/>
            <a:ext cx="1895301" cy="1895301"/>
          </a:xfrm>
          <a:prstGeom prst="ellipse">
            <a:avLst/>
          </a:prstGeom>
          <a:solidFill>
            <a:srgbClr val="8EDBD4">
              <a:alpha val="17999"/>
            </a:srgbClr>
          </a:solidFill>
          <a:ln>
            <a:solidFill>
              <a:srgbClr val="8EDBD4">
                <a:alpha val="1799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01 ellipse 14" descr="sci-ppt:o014"/>
          <p:cNvSpPr/>
          <p:nvPr/>
        </p:nvSpPr>
        <p:spPr>
          <a:xfrm>
            <a:off x="1600200" y="2514600"/>
            <a:ext cx="1737360" cy="1737360"/>
          </a:xfrm>
          <a:prstGeom prst="ellipse">
            <a:avLst/>
          </a:prstGeom>
          <a:solidFill>
            <a:srgbClr val="8EDBD4">
              <a:alpha val="22841"/>
            </a:srgbClr>
          </a:solidFill>
          <a:ln>
            <a:solidFill>
              <a:srgbClr val="8EDBD4">
                <a:alpha val="2284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01 ellipse 15" descr="sci-ppt:o015"/>
          <p:cNvSpPr/>
          <p:nvPr/>
        </p:nvSpPr>
        <p:spPr>
          <a:xfrm>
            <a:off x="1679170" y="2593570"/>
            <a:ext cx="1579418" cy="1579418"/>
          </a:xfrm>
          <a:prstGeom prst="ellipse">
            <a:avLst/>
          </a:prstGeom>
          <a:solidFill>
            <a:srgbClr val="8EDBD4">
              <a:alpha val="28392"/>
            </a:srgbClr>
          </a:solidFill>
          <a:ln>
            <a:solidFill>
              <a:srgbClr val="8EDBD4">
                <a:alpha val="2839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01 ellipse 16" descr="sci-ppt:o016"/>
          <p:cNvSpPr/>
          <p:nvPr/>
        </p:nvSpPr>
        <p:spPr>
          <a:xfrm>
            <a:off x="1758141" y="2672541"/>
            <a:ext cx="1421476" cy="1421476"/>
          </a:xfrm>
          <a:prstGeom prst="ellipse">
            <a:avLst/>
          </a:prstGeom>
          <a:solidFill>
            <a:srgbClr val="8EDBD4">
              <a:alpha val="34568"/>
            </a:srgbClr>
          </a:solidFill>
          <a:ln>
            <a:solidFill>
              <a:srgbClr val="8EDBD4">
                <a:alpha val="34568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2-E01 ellipse 17" descr="sci-ppt:o017"/>
          <p:cNvSpPr/>
          <p:nvPr/>
        </p:nvSpPr>
        <p:spPr>
          <a:xfrm>
            <a:off x="1837112" y="2751512"/>
            <a:ext cx="1263534" cy="1263534"/>
          </a:xfrm>
          <a:prstGeom prst="ellipse">
            <a:avLst/>
          </a:prstGeom>
          <a:solidFill>
            <a:srgbClr val="8EDBD4">
              <a:alpha val="41225"/>
            </a:srgbClr>
          </a:solidFill>
          <a:ln>
            <a:solidFill>
              <a:srgbClr val="8EDBD4">
                <a:alpha val="4122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2-E01 ellipse 18" descr="sci-ppt:o018"/>
          <p:cNvSpPr/>
          <p:nvPr/>
        </p:nvSpPr>
        <p:spPr>
          <a:xfrm>
            <a:off x="1916083" y="2830483"/>
            <a:ext cx="1105592" cy="1105592"/>
          </a:xfrm>
          <a:prstGeom prst="ellipse">
            <a:avLst/>
          </a:prstGeom>
          <a:solidFill>
            <a:srgbClr val="8EDBD4">
              <a:alpha val="48155"/>
            </a:srgbClr>
          </a:solidFill>
          <a:ln>
            <a:solidFill>
              <a:srgbClr val="8EDBD4">
                <a:alpha val="4815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2-E01 ellipse 19" descr="sci-ppt:o019"/>
          <p:cNvSpPr/>
          <p:nvPr/>
        </p:nvSpPr>
        <p:spPr>
          <a:xfrm>
            <a:off x="1995054" y="2909454"/>
            <a:ext cx="947650" cy="947650"/>
          </a:xfrm>
          <a:prstGeom prst="ellipse">
            <a:avLst/>
          </a:prstGeom>
          <a:solidFill>
            <a:srgbClr val="8EDBD4">
              <a:alpha val="55097"/>
            </a:srgbClr>
          </a:solidFill>
          <a:ln>
            <a:solidFill>
              <a:srgbClr val="8EDBD4">
                <a:alpha val="5509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01 ellipse 20" descr="sci-ppt:o020"/>
          <p:cNvSpPr/>
          <p:nvPr/>
        </p:nvSpPr>
        <p:spPr>
          <a:xfrm>
            <a:off x="2074025" y="2988425"/>
            <a:ext cx="789709" cy="789709"/>
          </a:xfrm>
          <a:prstGeom prst="ellipse">
            <a:avLst/>
          </a:prstGeom>
          <a:solidFill>
            <a:srgbClr val="8EDBD4">
              <a:alpha val="61747"/>
            </a:srgbClr>
          </a:solidFill>
          <a:ln>
            <a:solidFill>
              <a:srgbClr val="8EDBD4">
                <a:alpha val="6174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01 ellipse 21" descr="sci-ppt:o021"/>
          <p:cNvSpPr/>
          <p:nvPr/>
        </p:nvSpPr>
        <p:spPr>
          <a:xfrm>
            <a:off x="2152996" y="3067396"/>
            <a:ext cx="631767" cy="631767"/>
          </a:xfrm>
          <a:prstGeom prst="ellipse">
            <a:avLst/>
          </a:prstGeom>
          <a:solidFill>
            <a:srgbClr val="8EDBD4">
              <a:alpha val="67781"/>
            </a:srgbClr>
          </a:solidFill>
          <a:ln>
            <a:solidFill>
              <a:srgbClr val="8EDBD4">
                <a:alpha val="6778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2-E01 ellipse 22" descr="sci-ppt:o022"/>
          <p:cNvSpPr/>
          <p:nvPr/>
        </p:nvSpPr>
        <p:spPr>
          <a:xfrm>
            <a:off x="2231967" y="3146367"/>
            <a:ext cx="473825" cy="473825"/>
          </a:xfrm>
          <a:prstGeom prst="ellipse">
            <a:avLst/>
          </a:prstGeom>
          <a:solidFill>
            <a:srgbClr val="8EDBD4">
              <a:alpha val="72878"/>
            </a:srgbClr>
          </a:solidFill>
          <a:ln>
            <a:solidFill>
              <a:srgbClr val="8EDBD4">
                <a:alpha val="72878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01 ellipse 23" descr="sci-ppt:o023"/>
          <p:cNvSpPr/>
          <p:nvPr/>
        </p:nvSpPr>
        <p:spPr>
          <a:xfrm>
            <a:off x="2310938" y="3225338"/>
            <a:ext cx="315883" cy="315883"/>
          </a:xfrm>
          <a:prstGeom prst="ellipse">
            <a:avLst/>
          </a:prstGeom>
          <a:solidFill>
            <a:srgbClr val="8EDBD4">
              <a:alpha val="76753"/>
            </a:srgbClr>
          </a:solidFill>
          <a:ln>
            <a:solidFill>
              <a:srgbClr val="8EDBD4">
                <a:alpha val="7675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01 ellipse 24" descr="sci-ppt:o024"/>
          <p:cNvSpPr/>
          <p:nvPr/>
        </p:nvSpPr>
        <p:spPr>
          <a:xfrm>
            <a:off x="2389909" y="3304309"/>
            <a:ext cx="157941" cy="157941"/>
          </a:xfrm>
          <a:prstGeom prst="ellipse">
            <a:avLst/>
          </a:prstGeom>
          <a:solidFill>
            <a:srgbClr val="8EDBD4">
              <a:alpha val="79176"/>
            </a:srgbClr>
          </a:solidFill>
          <a:ln>
            <a:solidFill>
              <a:srgbClr val="8EDBD4">
                <a:alpha val="7917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2-E01 ellipse 25" descr="sci-ppt:o025"/>
          <p:cNvSpPr/>
          <p:nvPr/>
        </p:nvSpPr>
        <p:spPr>
          <a:xfrm>
            <a:off x="1371600" y="2286000"/>
            <a:ext cx="2194560" cy="2194560"/>
          </a:xfrm>
          <a:prstGeom prst="ellipse">
            <a:avLst/>
          </a:prstGeom>
          <a:noFill/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2-E01 line 26" descr="sci-ppt:o026"/>
          <p:cNvCxnSpPr/>
          <p:nvPr/>
        </p:nvCxnSpPr>
        <p:spPr>
          <a:xfrm>
            <a:off x="2468880" y="3383280"/>
            <a:ext cx="1097280" cy="0"/>
          </a:xfrm>
          <a:prstGeom prst="line">
            <a:avLst/>
          </a:prstGeom>
          <a:ln w="25400">
            <a:solidFill>
              <a:srgbClr val="F2B880"/>
            </a:solidFill>
          </a:ln>
          <a:effectLst/>
        </p:spPr>
      </p:cxnSp>
      <p:sp>
        <p:nvSpPr>
          <p:cNvPr id="29" name="C2-E01 text 27" descr="sci-ppt:o027"/>
          <p:cNvSpPr txBox="1"/>
          <p:nvPr/>
        </p:nvSpPr>
        <p:spPr>
          <a:xfrm>
            <a:off x="2743200" y="3401568"/>
            <a:ext cx="7315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w</a:t>
            </a:r>
          </a:p>
        </p:txBody>
      </p:sp>
      <p:sp>
        <p:nvSpPr>
          <p:cNvPr id="30" name="C2-E01 text 28" descr="sci-ppt:o028"/>
          <p:cNvSpPr txBox="1"/>
          <p:nvPr/>
        </p:nvSpPr>
        <p:spPr>
          <a:xfrm>
            <a:off x="502920" y="5257800"/>
            <a:ext cx="39319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Brightest on the axis, fading outward.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quoted radius w is where F drops to e⁻² of F₀.</a:t>
            </a:r>
          </a:p>
        </p:txBody>
      </p:sp>
      <p:cxnSp>
        <p:nvCxnSpPr>
          <p:cNvPr id="31" name="C2-E01 line 29" descr="sci-ppt:o029"/>
          <p:cNvCxnSpPr/>
          <p:nvPr/>
        </p:nvCxnSpPr>
        <p:spPr>
          <a:xfrm>
            <a:off x="5486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2-E01 line 30" descr="sci-ppt:o030"/>
          <p:cNvCxnSpPr/>
          <p:nvPr/>
        </p:nvCxnSpPr>
        <p:spPr>
          <a:xfrm>
            <a:off x="5486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3" name="C2-E01 line 31" descr="sci-ppt:o031"/>
          <p:cNvCxnSpPr/>
          <p:nvPr/>
        </p:nvCxnSpPr>
        <p:spPr>
          <a:xfrm>
            <a:off x="5486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01 line 32" descr="sci-ppt:o032"/>
          <p:cNvCxnSpPr/>
          <p:nvPr/>
        </p:nvCxnSpPr>
        <p:spPr>
          <a:xfrm>
            <a:off x="5486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01 text 33" descr="sci-ppt:o033"/>
          <p:cNvSpPr txBox="1"/>
          <p:nvPr/>
        </p:nvSpPr>
        <p:spPr>
          <a:xfrm>
            <a:off x="5029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36" name="C2-E01 line 34" descr="sci-ppt:o034"/>
          <p:cNvCxnSpPr/>
          <p:nvPr/>
        </p:nvCxnSpPr>
        <p:spPr>
          <a:xfrm>
            <a:off x="681643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01 line 35" descr="sci-ppt:o035"/>
          <p:cNvCxnSpPr/>
          <p:nvPr/>
        </p:nvCxnSpPr>
        <p:spPr>
          <a:xfrm>
            <a:off x="681643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01 text 36" descr="sci-ppt:o036"/>
          <p:cNvSpPr txBox="1"/>
          <p:nvPr/>
        </p:nvSpPr>
        <p:spPr>
          <a:xfrm>
            <a:off x="635923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9" name="C2-E01 line 37" descr="sci-ppt:o037"/>
          <p:cNvCxnSpPr/>
          <p:nvPr/>
        </p:nvCxnSpPr>
        <p:spPr>
          <a:xfrm>
            <a:off x="814647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1 line 38" descr="sci-ppt:o038"/>
          <p:cNvCxnSpPr/>
          <p:nvPr/>
        </p:nvCxnSpPr>
        <p:spPr>
          <a:xfrm>
            <a:off x="814647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1 text 39" descr="sci-ppt:o039"/>
          <p:cNvSpPr txBox="1"/>
          <p:nvPr/>
        </p:nvSpPr>
        <p:spPr>
          <a:xfrm>
            <a:off x="768927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42" name="C2-E01 line 40" descr="sci-ppt:o040"/>
          <p:cNvCxnSpPr/>
          <p:nvPr/>
        </p:nvCxnSpPr>
        <p:spPr>
          <a:xfrm>
            <a:off x="947650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1 line 41" descr="sci-ppt:o041"/>
          <p:cNvCxnSpPr/>
          <p:nvPr/>
        </p:nvCxnSpPr>
        <p:spPr>
          <a:xfrm>
            <a:off x="947650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1 text 42" descr="sci-ppt:o042"/>
          <p:cNvSpPr txBox="1"/>
          <p:nvPr/>
        </p:nvSpPr>
        <p:spPr>
          <a:xfrm>
            <a:off x="901930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45" name="C2-E01 line 43" descr="sci-ppt:o043"/>
          <p:cNvCxnSpPr/>
          <p:nvPr/>
        </p:nvCxnSpPr>
        <p:spPr>
          <a:xfrm>
            <a:off x="1080654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1 line 44" descr="sci-ppt:o044"/>
          <p:cNvCxnSpPr/>
          <p:nvPr/>
        </p:nvCxnSpPr>
        <p:spPr>
          <a:xfrm>
            <a:off x="1080654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1 text 45" descr="sci-ppt:o045"/>
          <p:cNvSpPr txBox="1"/>
          <p:nvPr/>
        </p:nvSpPr>
        <p:spPr>
          <a:xfrm>
            <a:off x="1034934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48" name="C2-E01 line 46" descr="sci-ppt:o046"/>
          <p:cNvCxnSpPr/>
          <p:nvPr/>
        </p:nvCxnSpPr>
        <p:spPr>
          <a:xfrm>
            <a:off x="5422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01 line 47" descr="sci-ppt:o047"/>
          <p:cNvCxnSpPr/>
          <p:nvPr/>
        </p:nvCxnSpPr>
        <p:spPr>
          <a:xfrm>
            <a:off x="5422392" y="419792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0" name="C2-E01 line 48" descr="sci-ppt:o048"/>
          <p:cNvCxnSpPr/>
          <p:nvPr/>
        </p:nvCxnSpPr>
        <p:spPr>
          <a:xfrm>
            <a:off x="5486400" y="4197927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1" name="C2-E01 text 49" descr="sci-ppt:o049"/>
          <p:cNvSpPr txBox="1"/>
          <p:nvPr/>
        </p:nvSpPr>
        <p:spPr>
          <a:xfrm>
            <a:off x="4617720" y="411563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52" name="C2-E01 line 50" descr="sci-ppt:o050"/>
          <p:cNvCxnSpPr/>
          <p:nvPr/>
        </p:nvCxnSpPr>
        <p:spPr>
          <a:xfrm>
            <a:off x="5422392" y="33666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2-E01 line 51" descr="sci-ppt:o051"/>
          <p:cNvCxnSpPr/>
          <p:nvPr/>
        </p:nvCxnSpPr>
        <p:spPr>
          <a:xfrm>
            <a:off x="5486400" y="3366654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2-E01 text 52" descr="sci-ppt:o052"/>
          <p:cNvSpPr txBox="1"/>
          <p:nvPr/>
        </p:nvSpPr>
        <p:spPr>
          <a:xfrm>
            <a:off x="4617720" y="32843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55" name="C2-E01 line 53" descr="sci-ppt:o053"/>
          <p:cNvCxnSpPr/>
          <p:nvPr/>
        </p:nvCxnSpPr>
        <p:spPr>
          <a:xfrm>
            <a:off x="5422392" y="253538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2-E01 line 54" descr="sci-ppt:o054"/>
          <p:cNvCxnSpPr/>
          <p:nvPr/>
        </p:nvCxnSpPr>
        <p:spPr>
          <a:xfrm>
            <a:off x="5486400" y="253538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2-E01 text 55" descr="sci-ppt:o055"/>
          <p:cNvSpPr txBox="1"/>
          <p:nvPr/>
        </p:nvSpPr>
        <p:spPr>
          <a:xfrm>
            <a:off x="4617720" y="245308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58" name="C2-E01 line 56" descr="sci-ppt:o056"/>
          <p:cNvCxnSpPr/>
          <p:nvPr/>
        </p:nvCxnSpPr>
        <p:spPr>
          <a:xfrm>
            <a:off x="5422392" y="1704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9" name="C2-E01 line 57" descr="sci-ppt:o057"/>
          <p:cNvCxnSpPr/>
          <p:nvPr/>
        </p:nvCxnSpPr>
        <p:spPr>
          <a:xfrm>
            <a:off x="5486400" y="170410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0" name="C2-E01 text 58" descr="sci-ppt:o058"/>
          <p:cNvSpPr txBox="1"/>
          <p:nvPr/>
        </p:nvSpPr>
        <p:spPr>
          <a:xfrm>
            <a:off x="4617720" y="1621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61" name="C2-E01 text 59" descr="sci-ppt:o059"/>
          <p:cNvSpPr txBox="1"/>
          <p:nvPr/>
        </p:nvSpPr>
        <p:spPr>
          <a:xfrm>
            <a:off x="5486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w</a:t>
            </a:r>
          </a:p>
        </p:txBody>
      </p:sp>
      <p:sp>
        <p:nvSpPr>
          <p:cNvPr id="62" name="C2-E01 text 60" descr="sci-ppt:o060"/>
          <p:cNvSpPr txBox="1"/>
          <p:nvPr/>
        </p:nvSpPr>
        <p:spPr>
          <a:xfrm>
            <a:off x="4937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F(r) / F₀</a:t>
            </a:r>
          </a:p>
        </p:txBody>
      </p:sp>
      <p:sp>
        <p:nvSpPr>
          <p:cNvPr id="63" name="C2-E01 polygon 61" descr="sci-ppt:o061"/>
          <p:cNvSpPr/>
          <p:nvPr/>
        </p:nvSpPr>
        <p:spPr>
          <a:xfrm>
            <a:off x="5486400" y="1704109"/>
            <a:ext cx="5852160" cy="3324883"/>
          </a:xfrm>
          <a:custGeom>
            <a:avLst/>
            <a:gdLst/>
            <a:ahLst/>
            <a:cxnLst/>
            <a:rect l="l" t="t" r="r" b="b"/>
            <a:pathLst>
              <a:path w="5852160" h="3324883">
                <a:moveTo>
                  <a:pt x="0" y="0"/>
                </a:moveTo>
                <a:lnTo>
                  <a:pt x="29407" y="812"/>
                </a:lnTo>
                <a:lnTo>
                  <a:pt x="58815" y="3249"/>
                </a:lnTo>
                <a:lnTo>
                  <a:pt x="88223" y="7307"/>
                </a:lnTo>
                <a:lnTo>
                  <a:pt x="117631" y="12979"/>
                </a:lnTo>
                <a:lnTo>
                  <a:pt x="147039" y="20257"/>
                </a:lnTo>
                <a:lnTo>
                  <a:pt x="176447" y="29131"/>
                </a:lnTo>
                <a:lnTo>
                  <a:pt x="205854" y="39588"/>
                </a:lnTo>
                <a:lnTo>
                  <a:pt x="235262" y="51613"/>
                </a:lnTo>
                <a:lnTo>
                  <a:pt x="264670" y="65187"/>
                </a:lnTo>
                <a:lnTo>
                  <a:pt x="294078" y="80292"/>
                </a:lnTo>
                <a:lnTo>
                  <a:pt x="323486" y="96906"/>
                </a:lnTo>
                <a:lnTo>
                  <a:pt x="352894" y="115004"/>
                </a:lnTo>
                <a:lnTo>
                  <a:pt x="382301" y="134561"/>
                </a:lnTo>
                <a:lnTo>
                  <a:pt x="411709" y="155548"/>
                </a:lnTo>
                <a:lnTo>
                  <a:pt x="441117" y="177937"/>
                </a:lnTo>
                <a:lnTo>
                  <a:pt x="470525" y="201695"/>
                </a:lnTo>
                <a:lnTo>
                  <a:pt x="499933" y="226788"/>
                </a:lnTo>
                <a:lnTo>
                  <a:pt x="529341" y="253182"/>
                </a:lnTo>
                <a:lnTo>
                  <a:pt x="558748" y="280840"/>
                </a:lnTo>
                <a:lnTo>
                  <a:pt x="588156" y="309723"/>
                </a:lnTo>
                <a:lnTo>
                  <a:pt x="617564" y="339792"/>
                </a:lnTo>
                <a:lnTo>
                  <a:pt x="646972" y="371006"/>
                </a:lnTo>
                <a:lnTo>
                  <a:pt x="676380" y="403322"/>
                </a:lnTo>
                <a:lnTo>
                  <a:pt x="705788" y="436697"/>
                </a:lnTo>
                <a:lnTo>
                  <a:pt x="735195" y="471086"/>
                </a:lnTo>
                <a:lnTo>
                  <a:pt x="764603" y="506444"/>
                </a:lnTo>
                <a:lnTo>
                  <a:pt x="794011" y="542725"/>
                </a:lnTo>
                <a:lnTo>
                  <a:pt x="823419" y="579881"/>
                </a:lnTo>
                <a:lnTo>
                  <a:pt x="852827" y="617865"/>
                </a:lnTo>
                <a:lnTo>
                  <a:pt x="882235" y="656628"/>
                </a:lnTo>
                <a:lnTo>
                  <a:pt x="911643" y="696121"/>
                </a:lnTo>
                <a:lnTo>
                  <a:pt x="941050" y="736296"/>
                </a:lnTo>
                <a:lnTo>
                  <a:pt x="970458" y="777103"/>
                </a:lnTo>
                <a:lnTo>
                  <a:pt x="999866" y="818493"/>
                </a:lnTo>
                <a:lnTo>
                  <a:pt x="1029274" y="860415"/>
                </a:lnTo>
                <a:lnTo>
                  <a:pt x="1058682" y="902821"/>
                </a:lnTo>
                <a:lnTo>
                  <a:pt x="1088090" y="945660"/>
                </a:lnTo>
                <a:lnTo>
                  <a:pt x="1117497" y="988885"/>
                </a:lnTo>
                <a:lnTo>
                  <a:pt x="1146905" y="1032445"/>
                </a:lnTo>
                <a:lnTo>
                  <a:pt x="1176313" y="1076293"/>
                </a:lnTo>
                <a:lnTo>
                  <a:pt x="1205721" y="1120380"/>
                </a:lnTo>
                <a:lnTo>
                  <a:pt x="1235129" y="1164659"/>
                </a:lnTo>
                <a:lnTo>
                  <a:pt x="1264537" y="1209084"/>
                </a:lnTo>
                <a:lnTo>
                  <a:pt x="1293944" y="1253608"/>
                </a:lnTo>
                <a:lnTo>
                  <a:pt x="1323352" y="1298186"/>
                </a:lnTo>
                <a:lnTo>
                  <a:pt x="1352760" y="1342775"/>
                </a:lnTo>
                <a:lnTo>
                  <a:pt x="1382168" y="1387330"/>
                </a:lnTo>
                <a:lnTo>
                  <a:pt x="1411576" y="1431810"/>
                </a:lnTo>
                <a:lnTo>
                  <a:pt x="1440984" y="1476172"/>
                </a:lnTo>
                <a:lnTo>
                  <a:pt x="1470391" y="1520378"/>
                </a:lnTo>
                <a:lnTo>
                  <a:pt x="1499799" y="1564388"/>
                </a:lnTo>
                <a:lnTo>
                  <a:pt x="1529207" y="1608164"/>
                </a:lnTo>
                <a:lnTo>
                  <a:pt x="1558615" y="1651670"/>
                </a:lnTo>
                <a:lnTo>
                  <a:pt x="1588023" y="1694870"/>
                </a:lnTo>
                <a:lnTo>
                  <a:pt x="1617431" y="1737732"/>
                </a:lnTo>
                <a:lnTo>
                  <a:pt x="1646838" y="1780222"/>
                </a:lnTo>
                <a:lnTo>
                  <a:pt x="1676246" y="1822310"/>
                </a:lnTo>
                <a:lnTo>
                  <a:pt x="1705654" y="1863966"/>
                </a:lnTo>
                <a:lnTo>
                  <a:pt x="1735062" y="1905161"/>
                </a:lnTo>
                <a:lnTo>
                  <a:pt x="1764470" y="1945869"/>
                </a:lnTo>
                <a:lnTo>
                  <a:pt x="1793878" y="1986065"/>
                </a:lnTo>
                <a:lnTo>
                  <a:pt x="1823286" y="2025725"/>
                </a:lnTo>
                <a:lnTo>
                  <a:pt x="1852693" y="2064826"/>
                </a:lnTo>
                <a:lnTo>
                  <a:pt x="1882101" y="2103348"/>
                </a:lnTo>
                <a:lnTo>
                  <a:pt x="1911509" y="2141272"/>
                </a:lnTo>
                <a:lnTo>
                  <a:pt x="1940917" y="2178579"/>
                </a:lnTo>
                <a:lnTo>
                  <a:pt x="1970325" y="2215253"/>
                </a:lnTo>
                <a:lnTo>
                  <a:pt x="1999733" y="2251279"/>
                </a:lnTo>
                <a:lnTo>
                  <a:pt x="2029140" y="2286643"/>
                </a:lnTo>
                <a:lnTo>
                  <a:pt x="2058548" y="2321334"/>
                </a:lnTo>
                <a:lnTo>
                  <a:pt x="2087956" y="2355340"/>
                </a:lnTo>
                <a:lnTo>
                  <a:pt x="2117364" y="2388652"/>
                </a:lnTo>
                <a:lnTo>
                  <a:pt x="2146772" y="2421261"/>
                </a:lnTo>
                <a:lnTo>
                  <a:pt x="2176180" y="2453161"/>
                </a:lnTo>
                <a:lnTo>
                  <a:pt x="2205587" y="2484347"/>
                </a:lnTo>
                <a:lnTo>
                  <a:pt x="2234995" y="2514813"/>
                </a:lnTo>
                <a:lnTo>
                  <a:pt x="2264403" y="2544557"/>
                </a:lnTo>
                <a:lnTo>
                  <a:pt x="2293811" y="2573576"/>
                </a:lnTo>
                <a:lnTo>
                  <a:pt x="2323219" y="2601871"/>
                </a:lnTo>
                <a:lnTo>
                  <a:pt x="2352627" y="2629440"/>
                </a:lnTo>
                <a:lnTo>
                  <a:pt x="2382034" y="2656285"/>
                </a:lnTo>
                <a:lnTo>
                  <a:pt x="2411442" y="2682409"/>
                </a:lnTo>
                <a:lnTo>
                  <a:pt x="2440850" y="2707814"/>
                </a:lnTo>
                <a:lnTo>
                  <a:pt x="2470258" y="2732505"/>
                </a:lnTo>
                <a:lnTo>
                  <a:pt x="2499666" y="2756486"/>
                </a:lnTo>
                <a:lnTo>
                  <a:pt x="2529074" y="2779763"/>
                </a:lnTo>
                <a:lnTo>
                  <a:pt x="2558482" y="2802343"/>
                </a:lnTo>
                <a:lnTo>
                  <a:pt x="2587889" y="2824233"/>
                </a:lnTo>
                <a:lnTo>
                  <a:pt x="2617297" y="2845440"/>
                </a:lnTo>
                <a:lnTo>
                  <a:pt x="2646705" y="2865975"/>
                </a:lnTo>
                <a:lnTo>
                  <a:pt x="2676113" y="2885845"/>
                </a:lnTo>
                <a:lnTo>
                  <a:pt x="2705521" y="2905060"/>
                </a:lnTo>
                <a:lnTo>
                  <a:pt x="2734929" y="2923631"/>
                </a:lnTo>
                <a:lnTo>
                  <a:pt x="2764336" y="2941569"/>
                </a:lnTo>
                <a:lnTo>
                  <a:pt x="2793744" y="2958884"/>
                </a:lnTo>
                <a:lnTo>
                  <a:pt x="2823152" y="2975589"/>
                </a:lnTo>
                <a:lnTo>
                  <a:pt x="2852560" y="2991694"/>
                </a:lnTo>
                <a:lnTo>
                  <a:pt x="2881968" y="3007213"/>
                </a:lnTo>
                <a:lnTo>
                  <a:pt x="2911376" y="3022157"/>
                </a:lnTo>
                <a:lnTo>
                  <a:pt x="2940783" y="3036540"/>
                </a:lnTo>
                <a:lnTo>
                  <a:pt x="2970191" y="3050375"/>
                </a:lnTo>
                <a:lnTo>
                  <a:pt x="2999599" y="3063674"/>
                </a:lnTo>
                <a:lnTo>
                  <a:pt x="3029007" y="3076450"/>
                </a:lnTo>
                <a:lnTo>
                  <a:pt x="3058415" y="3088718"/>
                </a:lnTo>
                <a:lnTo>
                  <a:pt x="3087823" y="3100491"/>
                </a:lnTo>
                <a:lnTo>
                  <a:pt x="3117230" y="3111781"/>
                </a:lnTo>
                <a:lnTo>
                  <a:pt x="3146638" y="3122603"/>
                </a:lnTo>
                <a:lnTo>
                  <a:pt x="3176046" y="3132970"/>
                </a:lnTo>
                <a:lnTo>
                  <a:pt x="3205454" y="3142895"/>
                </a:lnTo>
                <a:lnTo>
                  <a:pt x="3234862" y="3152392"/>
                </a:lnTo>
                <a:lnTo>
                  <a:pt x="3264270" y="3161473"/>
                </a:lnTo>
                <a:lnTo>
                  <a:pt x="3293677" y="3170153"/>
                </a:lnTo>
                <a:lnTo>
                  <a:pt x="3323085" y="3178445"/>
                </a:lnTo>
                <a:lnTo>
                  <a:pt x="3352493" y="3186360"/>
                </a:lnTo>
                <a:lnTo>
                  <a:pt x="3381901" y="3193912"/>
                </a:lnTo>
                <a:lnTo>
                  <a:pt x="3411309" y="3201114"/>
                </a:lnTo>
                <a:lnTo>
                  <a:pt x="3440717" y="3207978"/>
                </a:lnTo>
                <a:lnTo>
                  <a:pt x="3470125" y="3214516"/>
                </a:lnTo>
                <a:lnTo>
                  <a:pt x="3499532" y="3220739"/>
                </a:lnTo>
                <a:lnTo>
                  <a:pt x="3528940" y="3226661"/>
                </a:lnTo>
                <a:lnTo>
                  <a:pt x="3558348" y="3232292"/>
                </a:lnTo>
                <a:lnTo>
                  <a:pt x="3587756" y="3237643"/>
                </a:lnTo>
                <a:lnTo>
                  <a:pt x="3617164" y="3242727"/>
                </a:lnTo>
                <a:lnTo>
                  <a:pt x="3646572" y="3247552"/>
                </a:lnTo>
                <a:lnTo>
                  <a:pt x="3675979" y="3252131"/>
                </a:lnTo>
                <a:lnTo>
                  <a:pt x="3705387" y="3256473"/>
                </a:lnTo>
                <a:lnTo>
                  <a:pt x="3734795" y="3260588"/>
                </a:lnTo>
                <a:lnTo>
                  <a:pt x="3764203" y="3264486"/>
                </a:lnTo>
                <a:lnTo>
                  <a:pt x="3793611" y="3268176"/>
                </a:lnTo>
                <a:lnTo>
                  <a:pt x="3823019" y="3271667"/>
                </a:lnTo>
                <a:lnTo>
                  <a:pt x="3852426" y="3274969"/>
                </a:lnTo>
                <a:lnTo>
                  <a:pt x="3881834" y="3278090"/>
                </a:lnTo>
                <a:lnTo>
                  <a:pt x="3911242" y="3281038"/>
                </a:lnTo>
                <a:lnTo>
                  <a:pt x="3940650" y="3283821"/>
                </a:lnTo>
                <a:lnTo>
                  <a:pt x="3970058" y="3286448"/>
                </a:lnTo>
                <a:lnTo>
                  <a:pt x="3999466" y="3288924"/>
                </a:lnTo>
                <a:lnTo>
                  <a:pt x="4028873" y="3291259"/>
                </a:lnTo>
                <a:lnTo>
                  <a:pt x="4058281" y="3293458"/>
                </a:lnTo>
                <a:lnTo>
                  <a:pt x="4087689" y="3295529"/>
                </a:lnTo>
                <a:lnTo>
                  <a:pt x="4117097" y="3297478"/>
                </a:lnTo>
                <a:lnTo>
                  <a:pt x="4146505" y="3299311"/>
                </a:lnTo>
                <a:lnTo>
                  <a:pt x="4175913" y="3301034"/>
                </a:lnTo>
                <a:lnTo>
                  <a:pt x="4205321" y="3302653"/>
                </a:lnTo>
                <a:lnTo>
                  <a:pt x="4234728" y="3304173"/>
                </a:lnTo>
                <a:lnTo>
                  <a:pt x="4264136" y="3305600"/>
                </a:lnTo>
                <a:lnTo>
                  <a:pt x="4293544" y="3306938"/>
                </a:lnTo>
                <a:lnTo>
                  <a:pt x="4322952" y="3308193"/>
                </a:lnTo>
                <a:lnTo>
                  <a:pt x="4352360" y="3309368"/>
                </a:lnTo>
                <a:lnTo>
                  <a:pt x="4381768" y="3310469"/>
                </a:lnTo>
                <a:lnTo>
                  <a:pt x="4411175" y="3311500"/>
                </a:lnTo>
                <a:lnTo>
                  <a:pt x="4440583" y="3312464"/>
                </a:lnTo>
                <a:lnTo>
                  <a:pt x="4469991" y="3313365"/>
                </a:lnTo>
                <a:lnTo>
                  <a:pt x="4499399" y="3314208"/>
                </a:lnTo>
                <a:lnTo>
                  <a:pt x="4528807" y="3314994"/>
                </a:lnTo>
                <a:lnTo>
                  <a:pt x="4558215" y="3315729"/>
                </a:lnTo>
                <a:lnTo>
                  <a:pt x="4587622" y="3316414"/>
                </a:lnTo>
                <a:lnTo>
                  <a:pt x="4617030" y="3317053"/>
                </a:lnTo>
                <a:lnTo>
                  <a:pt x="4646438" y="3317649"/>
                </a:lnTo>
                <a:lnTo>
                  <a:pt x="4675846" y="3318204"/>
                </a:lnTo>
                <a:lnTo>
                  <a:pt x="4705254" y="3318720"/>
                </a:lnTo>
                <a:lnTo>
                  <a:pt x="4734662" y="3319201"/>
                </a:lnTo>
                <a:lnTo>
                  <a:pt x="4764069" y="3319648"/>
                </a:lnTo>
                <a:lnTo>
                  <a:pt x="4793477" y="3320064"/>
                </a:lnTo>
                <a:lnTo>
                  <a:pt x="4822885" y="3320450"/>
                </a:lnTo>
                <a:lnTo>
                  <a:pt x="4852293" y="3320808"/>
                </a:lnTo>
                <a:lnTo>
                  <a:pt x="4881701" y="3321141"/>
                </a:lnTo>
                <a:lnTo>
                  <a:pt x="4911109" y="3321450"/>
                </a:lnTo>
                <a:lnTo>
                  <a:pt x="4940516" y="3321736"/>
                </a:lnTo>
                <a:lnTo>
                  <a:pt x="4969924" y="3322001"/>
                </a:lnTo>
                <a:lnTo>
                  <a:pt x="4999332" y="3322247"/>
                </a:lnTo>
                <a:lnTo>
                  <a:pt x="5028740" y="3322475"/>
                </a:lnTo>
                <a:lnTo>
                  <a:pt x="5058148" y="3322685"/>
                </a:lnTo>
                <a:lnTo>
                  <a:pt x="5087556" y="3322879"/>
                </a:lnTo>
                <a:lnTo>
                  <a:pt x="5116964" y="3323059"/>
                </a:lnTo>
                <a:lnTo>
                  <a:pt x="5146371" y="3323225"/>
                </a:lnTo>
                <a:lnTo>
                  <a:pt x="5175779" y="3323379"/>
                </a:lnTo>
                <a:lnTo>
                  <a:pt x="5205187" y="3323520"/>
                </a:lnTo>
                <a:lnTo>
                  <a:pt x="5234595" y="3323651"/>
                </a:lnTo>
                <a:lnTo>
                  <a:pt x="5264003" y="3323771"/>
                </a:lnTo>
                <a:lnTo>
                  <a:pt x="5293411" y="3323882"/>
                </a:lnTo>
                <a:lnTo>
                  <a:pt x="5322818" y="3323984"/>
                </a:lnTo>
                <a:lnTo>
                  <a:pt x="5352226" y="3324078"/>
                </a:lnTo>
                <a:lnTo>
                  <a:pt x="5381634" y="3324164"/>
                </a:lnTo>
                <a:lnTo>
                  <a:pt x="5411042" y="3324244"/>
                </a:lnTo>
                <a:lnTo>
                  <a:pt x="5440450" y="3324317"/>
                </a:lnTo>
                <a:lnTo>
                  <a:pt x="5469858" y="3324384"/>
                </a:lnTo>
                <a:lnTo>
                  <a:pt x="5499265" y="3324446"/>
                </a:lnTo>
                <a:lnTo>
                  <a:pt x="5528673" y="3324502"/>
                </a:lnTo>
                <a:lnTo>
                  <a:pt x="5558081" y="3324554"/>
                </a:lnTo>
                <a:lnTo>
                  <a:pt x="5587489" y="3324601"/>
                </a:lnTo>
                <a:lnTo>
                  <a:pt x="5616897" y="3324645"/>
                </a:lnTo>
                <a:lnTo>
                  <a:pt x="5646305" y="3324685"/>
                </a:lnTo>
                <a:lnTo>
                  <a:pt x="5675712" y="3324721"/>
                </a:lnTo>
                <a:lnTo>
                  <a:pt x="5705120" y="3324754"/>
                </a:lnTo>
                <a:lnTo>
                  <a:pt x="5734528" y="3324785"/>
                </a:lnTo>
                <a:lnTo>
                  <a:pt x="5763936" y="3324813"/>
                </a:lnTo>
                <a:lnTo>
                  <a:pt x="5793344" y="3324838"/>
                </a:lnTo>
                <a:lnTo>
                  <a:pt x="5822752" y="3324861"/>
                </a:lnTo>
                <a:lnTo>
                  <a:pt x="5852160" y="332488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C2-E01 polygon 62" descr="sci-ppt:o062"/>
          <p:cNvSpPr/>
          <p:nvPr/>
        </p:nvSpPr>
        <p:spPr>
          <a:xfrm>
            <a:off x="5486400" y="1704109"/>
            <a:ext cx="5852160" cy="3325091"/>
          </a:xfrm>
          <a:custGeom>
            <a:avLst/>
            <a:gdLst/>
            <a:ahLst/>
            <a:cxnLst/>
            <a:rect l="l" t="t" r="r" b="b"/>
            <a:pathLst>
              <a:path w="5852160" h="3325091">
                <a:moveTo>
                  <a:pt x="0" y="0"/>
                </a:moveTo>
                <a:lnTo>
                  <a:pt x="29407" y="812"/>
                </a:lnTo>
                <a:lnTo>
                  <a:pt x="58815" y="3249"/>
                </a:lnTo>
                <a:lnTo>
                  <a:pt x="88223" y="7307"/>
                </a:lnTo>
                <a:lnTo>
                  <a:pt x="117631" y="12979"/>
                </a:lnTo>
                <a:lnTo>
                  <a:pt x="147039" y="20257"/>
                </a:lnTo>
                <a:lnTo>
                  <a:pt x="176447" y="29131"/>
                </a:lnTo>
                <a:lnTo>
                  <a:pt x="205854" y="39588"/>
                </a:lnTo>
                <a:lnTo>
                  <a:pt x="235262" y="51613"/>
                </a:lnTo>
                <a:lnTo>
                  <a:pt x="264670" y="65187"/>
                </a:lnTo>
                <a:lnTo>
                  <a:pt x="294078" y="80292"/>
                </a:lnTo>
                <a:lnTo>
                  <a:pt x="323486" y="96906"/>
                </a:lnTo>
                <a:lnTo>
                  <a:pt x="352894" y="115004"/>
                </a:lnTo>
                <a:lnTo>
                  <a:pt x="382301" y="134561"/>
                </a:lnTo>
                <a:lnTo>
                  <a:pt x="411709" y="155548"/>
                </a:lnTo>
                <a:lnTo>
                  <a:pt x="441117" y="177937"/>
                </a:lnTo>
                <a:lnTo>
                  <a:pt x="470525" y="201695"/>
                </a:lnTo>
                <a:lnTo>
                  <a:pt x="499933" y="226788"/>
                </a:lnTo>
                <a:lnTo>
                  <a:pt x="529341" y="253182"/>
                </a:lnTo>
                <a:lnTo>
                  <a:pt x="558748" y="280840"/>
                </a:lnTo>
                <a:lnTo>
                  <a:pt x="588156" y="309723"/>
                </a:lnTo>
                <a:lnTo>
                  <a:pt x="617564" y="339792"/>
                </a:lnTo>
                <a:lnTo>
                  <a:pt x="646972" y="371006"/>
                </a:lnTo>
                <a:lnTo>
                  <a:pt x="676380" y="403322"/>
                </a:lnTo>
                <a:lnTo>
                  <a:pt x="705788" y="436697"/>
                </a:lnTo>
                <a:lnTo>
                  <a:pt x="735195" y="471086"/>
                </a:lnTo>
                <a:lnTo>
                  <a:pt x="764603" y="506444"/>
                </a:lnTo>
                <a:lnTo>
                  <a:pt x="794011" y="542725"/>
                </a:lnTo>
                <a:lnTo>
                  <a:pt x="823419" y="579881"/>
                </a:lnTo>
                <a:lnTo>
                  <a:pt x="852827" y="617865"/>
                </a:lnTo>
                <a:lnTo>
                  <a:pt x="882235" y="656628"/>
                </a:lnTo>
                <a:lnTo>
                  <a:pt x="911643" y="696121"/>
                </a:lnTo>
                <a:lnTo>
                  <a:pt x="941050" y="736296"/>
                </a:lnTo>
                <a:lnTo>
                  <a:pt x="970458" y="777103"/>
                </a:lnTo>
                <a:lnTo>
                  <a:pt x="999866" y="818493"/>
                </a:lnTo>
                <a:lnTo>
                  <a:pt x="1029274" y="860415"/>
                </a:lnTo>
                <a:lnTo>
                  <a:pt x="1058682" y="902821"/>
                </a:lnTo>
                <a:lnTo>
                  <a:pt x="1088090" y="945660"/>
                </a:lnTo>
                <a:lnTo>
                  <a:pt x="1117497" y="988885"/>
                </a:lnTo>
                <a:lnTo>
                  <a:pt x="1146905" y="1032445"/>
                </a:lnTo>
                <a:lnTo>
                  <a:pt x="1176313" y="1076293"/>
                </a:lnTo>
                <a:lnTo>
                  <a:pt x="1205721" y="1120380"/>
                </a:lnTo>
                <a:lnTo>
                  <a:pt x="1235129" y="1164659"/>
                </a:lnTo>
                <a:lnTo>
                  <a:pt x="1264537" y="1209084"/>
                </a:lnTo>
                <a:lnTo>
                  <a:pt x="1293944" y="1253608"/>
                </a:lnTo>
                <a:lnTo>
                  <a:pt x="1323352" y="1298186"/>
                </a:lnTo>
                <a:lnTo>
                  <a:pt x="1352760" y="1342775"/>
                </a:lnTo>
                <a:lnTo>
                  <a:pt x="1382168" y="1387330"/>
                </a:lnTo>
                <a:lnTo>
                  <a:pt x="1411576" y="1431810"/>
                </a:lnTo>
                <a:lnTo>
                  <a:pt x="1440984" y="1476172"/>
                </a:lnTo>
                <a:lnTo>
                  <a:pt x="1470391" y="1520378"/>
                </a:lnTo>
                <a:lnTo>
                  <a:pt x="1499799" y="1564388"/>
                </a:lnTo>
                <a:lnTo>
                  <a:pt x="1529207" y="1608164"/>
                </a:lnTo>
                <a:lnTo>
                  <a:pt x="1558615" y="1651670"/>
                </a:lnTo>
                <a:lnTo>
                  <a:pt x="1588023" y="1694870"/>
                </a:lnTo>
                <a:lnTo>
                  <a:pt x="1617431" y="1737732"/>
                </a:lnTo>
                <a:lnTo>
                  <a:pt x="1646838" y="1780222"/>
                </a:lnTo>
                <a:lnTo>
                  <a:pt x="1676246" y="1822310"/>
                </a:lnTo>
                <a:lnTo>
                  <a:pt x="1705654" y="1863966"/>
                </a:lnTo>
                <a:lnTo>
                  <a:pt x="1735062" y="1905161"/>
                </a:lnTo>
                <a:lnTo>
                  <a:pt x="1764470" y="1945869"/>
                </a:lnTo>
                <a:lnTo>
                  <a:pt x="1793878" y="1986065"/>
                </a:lnTo>
                <a:lnTo>
                  <a:pt x="1823286" y="2025725"/>
                </a:lnTo>
                <a:lnTo>
                  <a:pt x="1852693" y="2064826"/>
                </a:lnTo>
                <a:lnTo>
                  <a:pt x="1882101" y="2103348"/>
                </a:lnTo>
                <a:lnTo>
                  <a:pt x="1911509" y="2141272"/>
                </a:lnTo>
                <a:lnTo>
                  <a:pt x="1940917" y="2178579"/>
                </a:lnTo>
                <a:lnTo>
                  <a:pt x="1970325" y="2215253"/>
                </a:lnTo>
                <a:lnTo>
                  <a:pt x="1999733" y="2251279"/>
                </a:lnTo>
                <a:lnTo>
                  <a:pt x="2029140" y="2286643"/>
                </a:lnTo>
                <a:lnTo>
                  <a:pt x="2058548" y="2321334"/>
                </a:lnTo>
                <a:lnTo>
                  <a:pt x="2087956" y="2355340"/>
                </a:lnTo>
                <a:lnTo>
                  <a:pt x="2117364" y="2388652"/>
                </a:lnTo>
                <a:lnTo>
                  <a:pt x="2146772" y="2421261"/>
                </a:lnTo>
                <a:lnTo>
                  <a:pt x="2176180" y="2453161"/>
                </a:lnTo>
                <a:lnTo>
                  <a:pt x="2205587" y="2484347"/>
                </a:lnTo>
                <a:lnTo>
                  <a:pt x="2234995" y="2514813"/>
                </a:lnTo>
                <a:lnTo>
                  <a:pt x="2264403" y="2544557"/>
                </a:lnTo>
                <a:lnTo>
                  <a:pt x="2293811" y="2573576"/>
                </a:lnTo>
                <a:lnTo>
                  <a:pt x="2323219" y="2601871"/>
                </a:lnTo>
                <a:lnTo>
                  <a:pt x="2352627" y="2629440"/>
                </a:lnTo>
                <a:lnTo>
                  <a:pt x="2382034" y="2656285"/>
                </a:lnTo>
                <a:lnTo>
                  <a:pt x="2411442" y="2682409"/>
                </a:lnTo>
                <a:lnTo>
                  <a:pt x="2440850" y="2707814"/>
                </a:lnTo>
                <a:lnTo>
                  <a:pt x="2470258" y="2732505"/>
                </a:lnTo>
                <a:lnTo>
                  <a:pt x="2499666" y="2756486"/>
                </a:lnTo>
                <a:lnTo>
                  <a:pt x="2529074" y="2779763"/>
                </a:lnTo>
                <a:lnTo>
                  <a:pt x="2558482" y="2802343"/>
                </a:lnTo>
                <a:lnTo>
                  <a:pt x="2587889" y="2824233"/>
                </a:lnTo>
                <a:lnTo>
                  <a:pt x="2617297" y="2845440"/>
                </a:lnTo>
                <a:lnTo>
                  <a:pt x="2646705" y="2865975"/>
                </a:lnTo>
                <a:lnTo>
                  <a:pt x="2676113" y="2885845"/>
                </a:lnTo>
                <a:lnTo>
                  <a:pt x="2705521" y="2905060"/>
                </a:lnTo>
                <a:lnTo>
                  <a:pt x="2734929" y="2923631"/>
                </a:lnTo>
                <a:lnTo>
                  <a:pt x="2764336" y="2941569"/>
                </a:lnTo>
                <a:lnTo>
                  <a:pt x="2793744" y="2958884"/>
                </a:lnTo>
                <a:lnTo>
                  <a:pt x="2823152" y="2975589"/>
                </a:lnTo>
                <a:lnTo>
                  <a:pt x="2852560" y="2991694"/>
                </a:lnTo>
                <a:lnTo>
                  <a:pt x="2881968" y="3007213"/>
                </a:lnTo>
                <a:lnTo>
                  <a:pt x="2911376" y="3022157"/>
                </a:lnTo>
                <a:lnTo>
                  <a:pt x="2940783" y="3036540"/>
                </a:lnTo>
                <a:lnTo>
                  <a:pt x="2970191" y="3050375"/>
                </a:lnTo>
                <a:lnTo>
                  <a:pt x="2999599" y="3063674"/>
                </a:lnTo>
                <a:lnTo>
                  <a:pt x="3029007" y="3076450"/>
                </a:lnTo>
                <a:lnTo>
                  <a:pt x="3058415" y="3088718"/>
                </a:lnTo>
                <a:lnTo>
                  <a:pt x="3087823" y="3100491"/>
                </a:lnTo>
                <a:lnTo>
                  <a:pt x="3117230" y="3111781"/>
                </a:lnTo>
                <a:lnTo>
                  <a:pt x="3146638" y="3122603"/>
                </a:lnTo>
                <a:lnTo>
                  <a:pt x="3176046" y="3132970"/>
                </a:lnTo>
                <a:lnTo>
                  <a:pt x="3205454" y="3142895"/>
                </a:lnTo>
                <a:lnTo>
                  <a:pt x="3234862" y="3152392"/>
                </a:lnTo>
                <a:lnTo>
                  <a:pt x="3264270" y="3161473"/>
                </a:lnTo>
                <a:lnTo>
                  <a:pt x="3293677" y="3170153"/>
                </a:lnTo>
                <a:lnTo>
                  <a:pt x="3323085" y="3178445"/>
                </a:lnTo>
                <a:lnTo>
                  <a:pt x="3352493" y="3186360"/>
                </a:lnTo>
                <a:lnTo>
                  <a:pt x="3381901" y="3193912"/>
                </a:lnTo>
                <a:lnTo>
                  <a:pt x="3411309" y="3201114"/>
                </a:lnTo>
                <a:lnTo>
                  <a:pt x="3440717" y="3207978"/>
                </a:lnTo>
                <a:lnTo>
                  <a:pt x="3470125" y="3214516"/>
                </a:lnTo>
                <a:lnTo>
                  <a:pt x="3499532" y="3220739"/>
                </a:lnTo>
                <a:lnTo>
                  <a:pt x="3528940" y="3226661"/>
                </a:lnTo>
                <a:lnTo>
                  <a:pt x="3558348" y="3232292"/>
                </a:lnTo>
                <a:lnTo>
                  <a:pt x="3587756" y="3237643"/>
                </a:lnTo>
                <a:lnTo>
                  <a:pt x="3617164" y="3242727"/>
                </a:lnTo>
                <a:lnTo>
                  <a:pt x="3646572" y="3247552"/>
                </a:lnTo>
                <a:lnTo>
                  <a:pt x="3675979" y="3252131"/>
                </a:lnTo>
                <a:lnTo>
                  <a:pt x="3705387" y="3256473"/>
                </a:lnTo>
                <a:lnTo>
                  <a:pt x="3734795" y="3260588"/>
                </a:lnTo>
                <a:lnTo>
                  <a:pt x="3764203" y="3264486"/>
                </a:lnTo>
                <a:lnTo>
                  <a:pt x="3793611" y="3268176"/>
                </a:lnTo>
                <a:lnTo>
                  <a:pt x="3823019" y="3271667"/>
                </a:lnTo>
                <a:lnTo>
                  <a:pt x="3852426" y="3274969"/>
                </a:lnTo>
                <a:lnTo>
                  <a:pt x="3881834" y="3278090"/>
                </a:lnTo>
                <a:lnTo>
                  <a:pt x="3911242" y="3281038"/>
                </a:lnTo>
                <a:lnTo>
                  <a:pt x="3940650" y="3283821"/>
                </a:lnTo>
                <a:lnTo>
                  <a:pt x="3970058" y="3286448"/>
                </a:lnTo>
                <a:lnTo>
                  <a:pt x="3999466" y="3288924"/>
                </a:lnTo>
                <a:lnTo>
                  <a:pt x="4028873" y="3291259"/>
                </a:lnTo>
                <a:lnTo>
                  <a:pt x="4058281" y="3293458"/>
                </a:lnTo>
                <a:lnTo>
                  <a:pt x="4087689" y="3295529"/>
                </a:lnTo>
                <a:lnTo>
                  <a:pt x="4117097" y="3297478"/>
                </a:lnTo>
                <a:lnTo>
                  <a:pt x="4146505" y="3299311"/>
                </a:lnTo>
                <a:lnTo>
                  <a:pt x="4175913" y="3301034"/>
                </a:lnTo>
                <a:lnTo>
                  <a:pt x="4205321" y="3302653"/>
                </a:lnTo>
                <a:lnTo>
                  <a:pt x="4234728" y="3304173"/>
                </a:lnTo>
                <a:lnTo>
                  <a:pt x="4264136" y="3305600"/>
                </a:lnTo>
                <a:lnTo>
                  <a:pt x="4293544" y="3306938"/>
                </a:lnTo>
                <a:lnTo>
                  <a:pt x="4322952" y="3308193"/>
                </a:lnTo>
                <a:lnTo>
                  <a:pt x="4352360" y="3309368"/>
                </a:lnTo>
                <a:lnTo>
                  <a:pt x="4381768" y="3310469"/>
                </a:lnTo>
                <a:lnTo>
                  <a:pt x="4411175" y="3311500"/>
                </a:lnTo>
                <a:lnTo>
                  <a:pt x="4440583" y="3312464"/>
                </a:lnTo>
                <a:lnTo>
                  <a:pt x="4469991" y="3313365"/>
                </a:lnTo>
                <a:lnTo>
                  <a:pt x="4499399" y="3314208"/>
                </a:lnTo>
                <a:lnTo>
                  <a:pt x="4528807" y="3314994"/>
                </a:lnTo>
                <a:lnTo>
                  <a:pt x="4558215" y="3315729"/>
                </a:lnTo>
                <a:lnTo>
                  <a:pt x="4587622" y="3316414"/>
                </a:lnTo>
                <a:lnTo>
                  <a:pt x="4617030" y="3317053"/>
                </a:lnTo>
                <a:lnTo>
                  <a:pt x="4646438" y="3317649"/>
                </a:lnTo>
                <a:lnTo>
                  <a:pt x="4675846" y="3318204"/>
                </a:lnTo>
                <a:lnTo>
                  <a:pt x="4705254" y="3318720"/>
                </a:lnTo>
                <a:lnTo>
                  <a:pt x="4734662" y="3319201"/>
                </a:lnTo>
                <a:lnTo>
                  <a:pt x="4764069" y="3319648"/>
                </a:lnTo>
                <a:lnTo>
                  <a:pt x="4793477" y="3320064"/>
                </a:lnTo>
                <a:lnTo>
                  <a:pt x="4822885" y="3320450"/>
                </a:lnTo>
                <a:lnTo>
                  <a:pt x="4852293" y="3320808"/>
                </a:lnTo>
                <a:lnTo>
                  <a:pt x="4881701" y="3321141"/>
                </a:lnTo>
                <a:lnTo>
                  <a:pt x="4911109" y="3321450"/>
                </a:lnTo>
                <a:lnTo>
                  <a:pt x="4940516" y="3321736"/>
                </a:lnTo>
                <a:lnTo>
                  <a:pt x="4969924" y="3322001"/>
                </a:lnTo>
                <a:lnTo>
                  <a:pt x="4999332" y="3322247"/>
                </a:lnTo>
                <a:lnTo>
                  <a:pt x="5028740" y="3322475"/>
                </a:lnTo>
                <a:lnTo>
                  <a:pt x="5058148" y="3322685"/>
                </a:lnTo>
                <a:lnTo>
                  <a:pt x="5087556" y="3322879"/>
                </a:lnTo>
                <a:lnTo>
                  <a:pt x="5116964" y="3323059"/>
                </a:lnTo>
                <a:lnTo>
                  <a:pt x="5146371" y="3323225"/>
                </a:lnTo>
                <a:lnTo>
                  <a:pt x="5175779" y="3323379"/>
                </a:lnTo>
                <a:lnTo>
                  <a:pt x="5205187" y="3323520"/>
                </a:lnTo>
                <a:lnTo>
                  <a:pt x="5234595" y="3323651"/>
                </a:lnTo>
                <a:lnTo>
                  <a:pt x="5264003" y="3323771"/>
                </a:lnTo>
                <a:lnTo>
                  <a:pt x="5293411" y="3323882"/>
                </a:lnTo>
                <a:lnTo>
                  <a:pt x="5322818" y="3323984"/>
                </a:lnTo>
                <a:lnTo>
                  <a:pt x="5352226" y="3324078"/>
                </a:lnTo>
                <a:lnTo>
                  <a:pt x="5381634" y="3324164"/>
                </a:lnTo>
                <a:lnTo>
                  <a:pt x="5411042" y="3324244"/>
                </a:lnTo>
                <a:lnTo>
                  <a:pt x="5440450" y="3324317"/>
                </a:lnTo>
                <a:lnTo>
                  <a:pt x="5469858" y="3324384"/>
                </a:lnTo>
                <a:lnTo>
                  <a:pt x="5499265" y="3324446"/>
                </a:lnTo>
                <a:lnTo>
                  <a:pt x="5528673" y="3324502"/>
                </a:lnTo>
                <a:lnTo>
                  <a:pt x="5558081" y="3324554"/>
                </a:lnTo>
                <a:lnTo>
                  <a:pt x="5587489" y="3324601"/>
                </a:lnTo>
                <a:lnTo>
                  <a:pt x="5616897" y="3324645"/>
                </a:lnTo>
                <a:lnTo>
                  <a:pt x="5646305" y="3324685"/>
                </a:lnTo>
                <a:lnTo>
                  <a:pt x="5675712" y="3324721"/>
                </a:lnTo>
                <a:lnTo>
                  <a:pt x="5705120" y="3324754"/>
                </a:lnTo>
                <a:lnTo>
                  <a:pt x="5734528" y="3324785"/>
                </a:lnTo>
                <a:lnTo>
                  <a:pt x="5763936" y="3324813"/>
                </a:lnTo>
                <a:lnTo>
                  <a:pt x="5793344" y="3324838"/>
                </a:lnTo>
                <a:lnTo>
                  <a:pt x="5822752" y="3324861"/>
                </a:lnTo>
                <a:lnTo>
                  <a:pt x="5852160" y="3324883"/>
                </a:lnTo>
                <a:lnTo>
                  <a:pt x="5852160" y="3325091"/>
                </a:lnTo>
                <a:lnTo>
                  <a:pt x="5822752" y="3325091"/>
                </a:lnTo>
                <a:lnTo>
                  <a:pt x="5793344" y="3325091"/>
                </a:lnTo>
                <a:lnTo>
                  <a:pt x="5763936" y="3325091"/>
                </a:lnTo>
                <a:lnTo>
                  <a:pt x="5734528" y="3325091"/>
                </a:lnTo>
                <a:lnTo>
                  <a:pt x="5705120" y="3325091"/>
                </a:lnTo>
                <a:lnTo>
                  <a:pt x="5675712" y="3325091"/>
                </a:lnTo>
                <a:lnTo>
                  <a:pt x="5646305" y="3325091"/>
                </a:lnTo>
                <a:lnTo>
                  <a:pt x="5616897" y="3325091"/>
                </a:lnTo>
                <a:lnTo>
                  <a:pt x="5587489" y="3325091"/>
                </a:lnTo>
                <a:lnTo>
                  <a:pt x="5558081" y="3325091"/>
                </a:lnTo>
                <a:lnTo>
                  <a:pt x="5528673" y="3325091"/>
                </a:lnTo>
                <a:lnTo>
                  <a:pt x="5499265" y="3325091"/>
                </a:lnTo>
                <a:lnTo>
                  <a:pt x="5469858" y="3325091"/>
                </a:lnTo>
                <a:lnTo>
                  <a:pt x="5440450" y="3325091"/>
                </a:lnTo>
                <a:lnTo>
                  <a:pt x="5411042" y="3325091"/>
                </a:lnTo>
                <a:lnTo>
                  <a:pt x="5381634" y="3325091"/>
                </a:lnTo>
                <a:lnTo>
                  <a:pt x="5352226" y="3325091"/>
                </a:lnTo>
                <a:lnTo>
                  <a:pt x="5322818" y="3325091"/>
                </a:lnTo>
                <a:lnTo>
                  <a:pt x="5293411" y="3325091"/>
                </a:lnTo>
                <a:lnTo>
                  <a:pt x="5264003" y="3325091"/>
                </a:lnTo>
                <a:lnTo>
                  <a:pt x="5234595" y="3325091"/>
                </a:lnTo>
                <a:lnTo>
                  <a:pt x="5205187" y="3325091"/>
                </a:lnTo>
                <a:lnTo>
                  <a:pt x="5175779" y="3325091"/>
                </a:lnTo>
                <a:lnTo>
                  <a:pt x="5146371" y="3325091"/>
                </a:lnTo>
                <a:lnTo>
                  <a:pt x="5116964" y="3325091"/>
                </a:lnTo>
                <a:lnTo>
                  <a:pt x="5087556" y="3325091"/>
                </a:lnTo>
                <a:lnTo>
                  <a:pt x="5058148" y="3325091"/>
                </a:lnTo>
                <a:lnTo>
                  <a:pt x="5028740" y="3325091"/>
                </a:lnTo>
                <a:lnTo>
                  <a:pt x="4999332" y="3325091"/>
                </a:lnTo>
                <a:lnTo>
                  <a:pt x="4969924" y="3325091"/>
                </a:lnTo>
                <a:lnTo>
                  <a:pt x="4940516" y="3325091"/>
                </a:lnTo>
                <a:lnTo>
                  <a:pt x="4911109" y="3325091"/>
                </a:lnTo>
                <a:lnTo>
                  <a:pt x="4881701" y="3325091"/>
                </a:lnTo>
                <a:lnTo>
                  <a:pt x="4852293" y="3325091"/>
                </a:lnTo>
                <a:lnTo>
                  <a:pt x="4822885" y="3325091"/>
                </a:lnTo>
                <a:lnTo>
                  <a:pt x="4793477" y="3325091"/>
                </a:lnTo>
                <a:lnTo>
                  <a:pt x="4764069" y="3325091"/>
                </a:lnTo>
                <a:lnTo>
                  <a:pt x="4734662" y="3325091"/>
                </a:lnTo>
                <a:lnTo>
                  <a:pt x="4705254" y="3325091"/>
                </a:lnTo>
                <a:lnTo>
                  <a:pt x="4675846" y="3325091"/>
                </a:lnTo>
                <a:lnTo>
                  <a:pt x="4646438" y="3325091"/>
                </a:lnTo>
                <a:lnTo>
                  <a:pt x="4617030" y="3325091"/>
                </a:lnTo>
                <a:lnTo>
                  <a:pt x="4587622" y="3325091"/>
                </a:lnTo>
                <a:lnTo>
                  <a:pt x="4558215" y="3325091"/>
                </a:lnTo>
                <a:lnTo>
                  <a:pt x="4528807" y="3325091"/>
                </a:lnTo>
                <a:lnTo>
                  <a:pt x="4499399" y="3325091"/>
                </a:lnTo>
                <a:lnTo>
                  <a:pt x="4469991" y="3325091"/>
                </a:lnTo>
                <a:lnTo>
                  <a:pt x="4440583" y="3325091"/>
                </a:lnTo>
                <a:lnTo>
                  <a:pt x="4411175" y="3325091"/>
                </a:lnTo>
                <a:lnTo>
                  <a:pt x="4381768" y="3325091"/>
                </a:lnTo>
                <a:lnTo>
                  <a:pt x="4352360" y="3325091"/>
                </a:lnTo>
                <a:lnTo>
                  <a:pt x="4322952" y="3325091"/>
                </a:lnTo>
                <a:lnTo>
                  <a:pt x="4293544" y="3325091"/>
                </a:lnTo>
                <a:lnTo>
                  <a:pt x="4264136" y="3325091"/>
                </a:lnTo>
                <a:lnTo>
                  <a:pt x="4234728" y="3325091"/>
                </a:lnTo>
                <a:lnTo>
                  <a:pt x="4205321" y="3325091"/>
                </a:lnTo>
                <a:lnTo>
                  <a:pt x="4175913" y="3325091"/>
                </a:lnTo>
                <a:lnTo>
                  <a:pt x="4146505" y="3325091"/>
                </a:lnTo>
                <a:lnTo>
                  <a:pt x="4117097" y="3325091"/>
                </a:lnTo>
                <a:lnTo>
                  <a:pt x="4087689" y="3325091"/>
                </a:lnTo>
                <a:lnTo>
                  <a:pt x="4058281" y="3325091"/>
                </a:lnTo>
                <a:lnTo>
                  <a:pt x="4028873" y="3325091"/>
                </a:lnTo>
                <a:lnTo>
                  <a:pt x="3999466" y="3325091"/>
                </a:lnTo>
                <a:lnTo>
                  <a:pt x="3970058" y="3325091"/>
                </a:lnTo>
                <a:lnTo>
                  <a:pt x="3940650" y="3325091"/>
                </a:lnTo>
                <a:lnTo>
                  <a:pt x="3911242" y="3325091"/>
                </a:lnTo>
                <a:lnTo>
                  <a:pt x="3881834" y="3325091"/>
                </a:lnTo>
                <a:lnTo>
                  <a:pt x="3852426" y="3325091"/>
                </a:lnTo>
                <a:lnTo>
                  <a:pt x="3823019" y="3325091"/>
                </a:lnTo>
                <a:lnTo>
                  <a:pt x="3793611" y="3325091"/>
                </a:lnTo>
                <a:lnTo>
                  <a:pt x="3764203" y="3325091"/>
                </a:lnTo>
                <a:lnTo>
                  <a:pt x="3734795" y="3325091"/>
                </a:lnTo>
                <a:lnTo>
                  <a:pt x="3705387" y="3325091"/>
                </a:lnTo>
                <a:lnTo>
                  <a:pt x="3675979" y="3325091"/>
                </a:lnTo>
                <a:lnTo>
                  <a:pt x="3646572" y="3325091"/>
                </a:lnTo>
                <a:lnTo>
                  <a:pt x="3617164" y="3325091"/>
                </a:lnTo>
                <a:lnTo>
                  <a:pt x="3587756" y="3325091"/>
                </a:lnTo>
                <a:lnTo>
                  <a:pt x="3558348" y="3325091"/>
                </a:lnTo>
                <a:lnTo>
                  <a:pt x="3528940" y="3325091"/>
                </a:lnTo>
                <a:lnTo>
                  <a:pt x="3499532" y="3325091"/>
                </a:lnTo>
                <a:lnTo>
                  <a:pt x="3470125" y="3325091"/>
                </a:lnTo>
                <a:lnTo>
                  <a:pt x="3440717" y="3325091"/>
                </a:lnTo>
                <a:lnTo>
                  <a:pt x="3411309" y="3325091"/>
                </a:lnTo>
                <a:lnTo>
                  <a:pt x="3381901" y="3325091"/>
                </a:lnTo>
                <a:lnTo>
                  <a:pt x="3352493" y="3325091"/>
                </a:lnTo>
                <a:lnTo>
                  <a:pt x="3323085" y="3325091"/>
                </a:lnTo>
                <a:lnTo>
                  <a:pt x="3293677" y="3325091"/>
                </a:lnTo>
                <a:lnTo>
                  <a:pt x="3264270" y="3325091"/>
                </a:lnTo>
                <a:lnTo>
                  <a:pt x="3234862" y="3325091"/>
                </a:lnTo>
                <a:lnTo>
                  <a:pt x="3205454" y="3325091"/>
                </a:lnTo>
                <a:lnTo>
                  <a:pt x="3176046" y="3325091"/>
                </a:lnTo>
                <a:lnTo>
                  <a:pt x="3146638" y="3325091"/>
                </a:lnTo>
                <a:lnTo>
                  <a:pt x="3117230" y="3325091"/>
                </a:lnTo>
                <a:lnTo>
                  <a:pt x="3087823" y="3325091"/>
                </a:lnTo>
                <a:lnTo>
                  <a:pt x="3058415" y="3325091"/>
                </a:lnTo>
                <a:lnTo>
                  <a:pt x="3029007" y="3325091"/>
                </a:lnTo>
                <a:lnTo>
                  <a:pt x="2999599" y="3325091"/>
                </a:lnTo>
                <a:lnTo>
                  <a:pt x="2970191" y="3325091"/>
                </a:lnTo>
                <a:lnTo>
                  <a:pt x="2940783" y="3325091"/>
                </a:lnTo>
                <a:lnTo>
                  <a:pt x="2911376" y="3325091"/>
                </a:lnTo>
                <a:lnTo>
                  <a:pt x="2881968" y="3325091"/>
                </a:lnTo>
                <a:lnTo>
                  <a:pt x="2852560" y="3325091"/>
                </a:lnTo>
                <a:lnTo>
                  <a:pt x="2823152" y="3325091"/>
                </a:lnTo>
                <a:lnTo>
                  <a:pt x="2793744" y="3325091"/>
                </a:lnTo>
                <a:lnTo>
                  <a:pt x="2764336" y="3325091"/>
                </a:lnTo>
                <a:lnTo>
                  <a:pt x="2734929" y="3325091"/>
                </a:lnTo>
                <a:lnTo>
                  <a:pt x="2705521" y="3325091"/>
                </a:lnTo>
                <a:lnTo>
                  <a:pt x="2676113" y="3325091"/>
                </a:lnTo>
                <a:lnTo>
                  <a:pt x="2646705" y="3325091"/>
                </a:lnTo>
                <a:lnTo>
                  <a:pt x="2617297" y="3325091"/>
                </a:lnTo>
                <a:lnTo>
                  <a:pt x="2587889" y="3325091"/>
                </a:lnTo>
                <a:lnTo>
                  <a:pt x="2558482" y="3325091"/>
                </a:lnTo>
                <a:lnTo>
                  <a:pt x="2529074" y="3325091"/>
                </a:lnTo>
                <a:lnTo>
                  <a:pt x="2499666" y="3325091"/>
                </a:lnTo>
                <a:lnTo>
                  <a:pt x="2470258" y="3325091"/>
                </a:lnTo>
                <a:lnTo>
                  <a:pt x="2440850" y="3325091"/>
                </a:lnTo>
                <a:lnTo>
                  <a:pt x="2411442" y="3325091"/>
                </a:lnTo>
                <a:lnTo>
                  <a:pt x="2382034" y="3325091"/>
                </a:lnTo>
                <a:lnTo>
                  <a:pt x="2352627" y="3325091"/>
                </a:lnTo>
                <a:lnTo>
                  <a:pt x="2323219" y="3325091"/>
                </a:lnTo>
                <a:lnTo>
                  <a:pt x="2293811" y="3325091"/>
                </a:lnTo>
                <a:lnTo>
                  <a:pt x="2264403" y="3325091"/>
                </a:lnTo>
                <a:lnTo>
                  <a:pt x="2234995" y="3325091"/>
                </a:lnTo>
                <a:lnTo>
                  <a:pt x="2205587" y="3325091"/>
                </a:lnTo>
                <a:lnTo>
                  <a:pt x="2176180" y="3325091"/>
                </a:lnTo>
                <a:lnTo>
                  <a:pt x="2146772" y="3325091"/>
                </a:lnTo>
                <a:lnTo>
                  <a:pt x="2117364" y="3325091"/>
                </a:lnTo>
                <a:lnTo>
                  <a:pt x="2087956" y="3325091"/>
                </a:lnTo>
                <a:lnTo>
                  <a:pt x="2058548" y="3325091"/>
                </a:lnTo>
                <a:lnTo>
                  <a:pt x="2029140" y="3325091"/>
                </a:lnTo>
                <a:lnTo>
                  <a:pt x="1999733" y="3325091"/>
                </a:lnTo>
                <a:lnTo>
                  <a:pt x="1970325" y="3325091"/>
                </a:lnTo>
                <a:lnTo>
                  <a:pt x="1940917" y="3325091"/>
                </a:lnTo>
                <a:lnTo>
                  <a:pt x="1911509" y="3325091"/>
                </a:lnTo>
                <a:lnTo>
                  <a:pt x="1882101" y="3325091"/>
                </a:lnTo>
                <a:lnTo>
                  <a:pt x="1852693" y="3325091"/>
                </a:lnTo>
                <a:lnTo>
                  <a:pt x="1823286" y="3325091"/>
                </a:lnTo>
                <a:lnTo>
                  <a:pt x="1793878" y="3325091"/>
                </a:lnTo>
                <a:lnTo>
                  <a:pt x="1764470" y="3325091"/>
                </a:lnTo>
                <a:lnTo>
                  <a:pt x="1735062" y="3325091"/>
                </a:lnTo>
                <a:lnTo>
                  <a:pt x="1705654" y="3325091"/>
                </a:lnTo>
                <a:lnTo>
                  <a:pt x="1676246" y="3325091"/>
                </a:lnTo>
                <a:lnTo>
                  <a:pt x="1646838" y="3325091"/>
                </a:lnTo>
                <a:lnTo>
                  <a:pt x="1617431" y="3325091"/>
                </a:lnTo>
                <a:lnTo>
                  <a:pt x="1588023" y="3325091"/>
                </a:lnTo>
                <a:lnTo>
                  <a:pt x="1558615" y="3325091"/>
                </a:lnTo>
                <a:lnTo>
                  <a:pt x="1529207" y="3325091"/>
                </a:lnTo>
                <a:lnTo>
                  <a:pt x="1499799" y="3325091"/>
                </a:lnTo>
                <a:lnTo>
                  <a:pt x="1470391" y="3325091"/>
                </a:lnTo>
                <a:lnTo>
                  <a:pt x="1440984" y="3325091"/>
                </a:lnTo>
                <a:lnTo>
                  <a:pt x="1411576" y="3325091"/>
                </a:lnTo>
                <a:lnTo>
                  <a:pt x="1382168" y="3325091"/>
                </a:lnTo>
                <a:lnTo>
                  <a:pt x="1352760" y="3325091"/>
                </a:lnTo>
                <a:lnTo>
                  <a:pt x="1323352" y="3325091"/>
                </a:lnTo>
                <a:lnTo>
                  <a:pt x="1293944" y="3325091"/>
                </a:lnTo>
                <a:lnTo>
                  <a:pt x="1264537" y="3325091"/>
                </a:lnTo>
                <a:lnTo>
                  <a:pt x="1235129" y="3325091"/>
                </a:lnTo>
                <a:lnTo>
                  <a:pt x="1205721" y="3325091"/>
                </a:lnTo>
                <a:lnTo>
                  <a:pt x="1176313" y="3325091"/>
                </a:lnTo>
                <a:lnTo>
                  <a:pt x="1146905" y="3325091"/>
                </a:lnTo>
                <a:lnTo>
                  <a:pt x="1117497" y="3325091"/>
                </a:lnTo>
                <a:lnTo>
                  <a:pt x="1088090" y="3325091"/>
                </a:lnTo>
                <a:lnTo>
                  <a:pt x="1058682" y="3325091"/>
                </a:lnTo>
                <a:lnTo>
                  <a:pt x="1029274" y="3325091"/>
                </a:lnTo>
                <a:lnTo>
                  <a:pt x="999866" y="3325091"/>
                </a:lnTo>
                <a:lnTo>
                  <a:pt x="970458" y="3325091"/>
                </a:lnTo>
                <a:lnTo>
                  <a:pt x="941050" y="3325091"/>
                </a:lnTo>
                <a:lnTo>
                  <a:pt x="911643" y="3325091"/>
                </a:lnTo>
                <a:lnTo>
                  <a:pt x="882235" y="3325091"/>
                </a:lnTo>
                <a:lnTo>
                  <a:pt x="852827" y="3325091"/>
                </a:lnTo>
                <a:lnTo>
                  <a:pt x="823419" y="3325091"/>
                </a:lnTo>
                <a:lnTo>
                  <a:pt x="794011" y="3325091"/>
                </a:lnTo>
                <a:lnTo>
                  <a:pt x="764603" y="3325091"/>
                </a:lnTo>
                <a:lnTo>
                  <a:pt x="735195" y="3325091"/>
                </a:lnTo>
                <a:lnTo>
                  <a:pt x="705788" y="3325091"/>
                </a:lnTo>
                <a:lnTo>
                  <a:pt x="676380" y="3325091"/>
                </a:lnTo>
                <a:lnTo>
                  <a:pt x="646972" y="3325091"/>
                </a:lnTo>
                <a:lnTo>
                  <a:pt x="617564" y="3325091"/>
                </a:lnTo>
                <a:lnTo>
                  <a:pt x="588156" y="3325091"/>
                </a:lnTo>
                <a:lnTo>
                  <a:pt x="558748" y="3325091"/>
                </a:lnTo>
                <a:lnTo>
                  <a:pt x="529341" y="3325091"/>
                </a:lnTo>
                <a:lnTo>
                  <a:pt x="499933" y="3325091"/>
                </a:lnTo>
                <a:lnTo>
                  <a:pt x="470525" y="3325091"/>
                </a:lnTo>
                <a:lnTo>
                  <a:pt x="441117" y="3325091"/>
                </a:lnTo>
                <a:lnTo>
                  <a:pt x="411709" y="3325091"/>
                </a:lnTo>
                <a:lnTo>
                  <a:pt x="382301" y="3325091"/>
                </a:lnTo>
                <a:lnTo>
                  <a:pt x="352894" y="3325091"/>
                </a:lnTo>
                <a:lnTo>
                  <a:pt x="323486" y="3325091"/>
                </a:lnTo>
                <a:lnTo>
                  <a:pt x="294078" y="3325091"/>
                </a:lnTo>
                <a:lnTo>
                  <a:pt x="264670" y="3325091"/>
                </a:lnTo>
                <a:lnTo>
                  <a:pt x="235262" y="3325091"/>
                </a:lnTo>
                <a:lnTo>
                  <a:pt x="205854" y="3325091"/>
                </a:lnTo>
                <a:lnTo>
                  <a:pt x="176447" y="3325091"/>
                </a:lnTo>
                <a:lnTo>
                  <a:pt x="147039" y="3325091"/>
                </a:lnTo>
                <a:lnTo>
                  <a:pt x="117631" y="3325091"/>
                </a:lnTo>
                <a:lnTo>
                  <a:pt x="88223" y="3325091"/>
                </a:lnTo>
                <a:lnTo>
                  <a:pt x="58815" y="3325091"/>
                </a:lnTo>
                <a:lnTo>
                  <a:pt x="29407" y="3325091"/>
                </a:lnTo>
                <a:lnTo>
                  <a:pt x="0" y="3325091"/>
                </a:lnTo>
                <a:close/>
              </a:path>
            </a:pathLst>
          </a:custGeom>
          <a:solidFill>
            <a:srgbClr val="8EDBD4">
              <a:alpha val="15000"/>
            </a:srgbClr>
          </a:solidFill>
          <a:ln w="10160">
            <a:solidFill>
              <a:srgbClr val="8EDBD4">
                <a:alpha val="1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2-E01 ellipse 63" descr="sci-ppt:o063"/>
          <p:cNvSpPr/>
          <p:nvPr/>
        </p:nvSpPr>
        <p:spPr>
          <a:xfrm>
            <a:off x="8073320" y="450604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6" name="C2-E01 line 64" descr="sci-ppt:o064"/>
          <p:cNvCxnSpPr/>
          <p:nvPr/>
        </p:nvCxnSpPr>
        <p:spPr>
          <a:xfrm>
            <a:off x="8146472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67" name="C2-E01 text 65" descr="sci-ppt:o065"/>
          <p:cNvSpPr txBox="1"/>
          <p:nvPr/>
        </p:nvSpPr>
        <p:spPr>
          <a:xfrm>
            <a:off x="8283632" y="4076277"/>
            <a:ext cx="2743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 = w:  F = F₀ e⁻² = 0.135 F₀</a:t>
            </a:r>
          </a:p>
        </p:txBody>
      </p:sp>
      <p:sp>
        <p:nvSpPr>
          <p:cNvPr id="68" name="C2-E01 text 66" descr="sci-ppt:o066"/>
          <p:cNvSpPr txBox="1"/>
          <p:nvPr/>
        </p:nvSpPr>
        <p:spPr>
          <a:xfrm>
            <a:off x="5825559" y="167917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F(r) = F₀ exp(−2r²/w²)</a:t>
            </a:r>
          </a:p>
        </p:txBody>
      </p:sp>
      <p:sp>
        <p:nvSpPr>
          <p:cNvPr id="69" name="C2-E01 text 67" descr="sci-ppt:o067"/>
          <p:cNvSpPr txBox="1"/>
          <p:nvPr/>
        </p:nvSpPr>
        <p:spPr>
          <a:xfrm>
            <a:off x="5486400" y="5733288"/>
            <a:ext cx="58521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same profile is called "radius w" only with this e⁻² definition;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other conventions differ by √2.</a:t>
            </a:r>
          </a:p>
        </p:txBody>
      </p:sp>
      <p:sp>
        <p:nvSpPr>
          <p:cNvPr id="70" name="C2-E01 text 68" descr="sci-ppt:o06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Gaussian fluence profile of Eq. C2-E01.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C2-E02 · Exact integral of the prescribed profile</a:t>
            </a:r>
          </a:p>
        </p:txBody>
      </p:sp>
      <p:cxnSp>
        <p:nvCxnSpPr>
          <p:cNvPr id="3" name="C2-E02 line 1" descr="sci-ppt:o001"/>
          <p:cNvCxnSpPr/>
          <p:nvPr/>
        </p:nvCxnSpPr>
        <p:spPr>
          <a:xfrm>
            <a:off x="868680" y="502920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2 line 2" descr="sci-ppt:o002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2 line 3" descr="sci-ppt:o003"/>
          <p:cNvCxnSpPr/>
          <p:nvPr/>
        </p:nvCxnSpPr>
        <p:spPr>
          <a:xfrm>
            <a:off x="8686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2 line 4" descr="sci-ppt:o004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2 text 5" descr="sci-ppt:o005"/>
          <p:cNvSpPr txBox="1"/>
          <p:nvPr/>
        </p:nvSpPr>
        <p:spPr>
          <a:xfrm>
            <a:off x="411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2-E02 line 6" descr="sci-ppt:o006"/>
          <p:cNvCxnSpPr/>
          <p:nvPr/>
        </p:nvCxnSpPr>
        <p:spPr>
          <a:xfrm>
            <a:off x="19354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2 line 7" descr="sci-ppt:o007"/>
          <p:cNvCxnSpPr/>
          <p:nvPr/>
        </p:nvCxnSpPr>
        <p:spPr>
          <a:xfrm>
            <a:off x="19354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2 text 8" descr="sci-ppt:o008"/>
          <p:cNvSpPr txBox="1"/>
          <p:nvPr/>
        </p:nvSpPr>
        <p:spPr>
          <a:xfrm>
            <a:off x="14782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2-E02 line 9" descr="sci-ppt:o009"/>
          <p:cNvCxnSpPr/>
          <p:nvPr/>
        </p:nvCxnSpPr>
        <p:spPr>
          <a:xfrm>
            <a:off x="30022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2 line 10" descr="sci-ppt:o010"/>
          <p:cNvCxnSpPr/>
          <p:nvPr/>
        </p:nvCxnSpPr>
        <p:spPr>
          <a:xfrm>
            <a:off x="30022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2 text 11" descr="sci-ppt:o011"/>
          <p:cNvSpPr txBox="1"/>
          <p:nvPr/>
        </p:nvSpPr>
        <p:spPr>
          <a:xfrm>
            <a:off x="25450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2-E02 line 12" descr="sci-ppt:o012"/>
          <p:cNvCxnSpPr/>
          <p:nvPr/>
        </p:nvCxnSpPr>
        <p:spPr>
          <a:xfrm>
            <a:off x="40690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02 line 13" descr="sci-ppt:o013"/>
          <p:cNvCxnSpPr/>
          <p:nvPr/>
        </p:nvCxnSpPr>
        <p:spPr>
          <a:xfrm>
            <a:off x="40690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02 text 14" descr="sci-ppt:o014"/>
          <p:cNvSpPr txBox="1"/>
          <p:nvPr/>
        </p:nvSpPr>
        <p:spPr>
          <a:xfrm>
            <a:off x="36118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2-E02 line 15" descr="sci-ppt:o015"/>
          <p:cNvCxnSpPr/>
          <p:nvPr/>
        </p:nvCxnSpPr>
        <p:spPr>
          <a:xfrm>
            <a:off x="51358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02 line 16" descr="sci-ppt:o016"/>
          <p:cNvCxnSpPr/>
          <p:nvPr/>
        </p:nvCxnSpPr>
        <p:spPr>
          <a:xfrm>
            <a:off x="51358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02 text 17" descr="sci-ppt:o017"/>
          <p:cNvSpPr txBox="1"/>
          <p:nvPr/>
        </p:nvSpPr>
        <p:spPr>
          <a:xfrm>
            <a:off x="46786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2-E02 line 18" descr="sci-ppt:o018"/>
          <p:cNvCxnSpPr/>
          <p:nvPr/>
        </p:nvCxnSpPr>
        <p:spPr>
          <a:xfrm>
            <a:off x="804671" y="50292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02 line 19" descr="sci-ppt:o019"/>
          <p:cNvCxnSpPr/>
          <p:nvPr/>
        </p:nvCxnSpPr>
        <p:spPr>
          <a:xfrm>
            <a:off x="804671" y="390378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02 line 20" descr="sci-ppt:o020"/>
          <p:cNvCxnSpPr/>
          <p:nvPr/>
        </p:nvCxnSpPr>
        <p:spPr>
          <a:xfrm>
            <a:off x="868680" y="3903784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02 text 21" descr="sci-ppt:o021"/>
          <p:cNvSpPr txBox="1"/>
          <p:nvPr/>
        </p:nvSpPr>
        <p:spPr>
          <a:xfrm>
            <a:off x="0" y="382148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2-E02 line 22" descr="sci-ppt:o022"/>
          <p:cNvCxnSpPr/>
          <p:nvPr/>
        </p:nvCxnSpPr>
        <p:spPr>
          <a:xfrm>
            <a:off x="804671" y="2778369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02 line 23" descr="sci-ppt:o023"/>
          <p:cNvCxnSpPr/>
          <p:nvPr/>
        </p:nvCxnSpPr>
        <p:spPr>
          <a:xfrm>
            <a:off x="868680" y="2778369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02 text 24" descr="sci-ppt:o024"/>
          <p:cNvSpPr txBox="1"/>
          <p:nvPr/>
        </p:nvSpPr>
        <p:spPr>
          <a:xfrm>
            <a:off x="0" y="269607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7" name="C2-E02 line 25" descr="sci-ppt:o025"/>
          <p:cNvCxnSpPr/>
          <p:nvPr/>
        </p:nvCxnSpPr>
        <p:spPr>
          <a:xfrm>
            <a:off x="804671" y="1652953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02 line 26" descr="sci-ppt:o026"/>
          <p:cNvCxnSpPr/>
          <p:nvPr/>
        </p:nvCxnSpPr>
        <p:spPr>
          <a:xfrm>
            <a:off x="868680" y="1652953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02 text 27" descr="sci-ppt:o027"/>
          <p:cNvSpPr txBox="1"/>
          <p:nvPr/>
        </p:nvSpPr>
        <p:spPr>
          <a:xfrm>
            <a:off x="0" y="157065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sp>
        <p:nvSpPr>
          <p:cNvPr id="30" name="C2-E02 text 28" descr="sci-ppt:o028"/>
          <p:cNvSpPr txBox="1"/>
          <p:nvPr/>
        </p:nvSpPr>
        <p:spPr>
          <a:xfrm>
            <a:off x="868680" y="531266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w</a:t>
            </a:r>
          </a:p>
        </p:txBody>
      </p:sp>
      <p:sp>
        <p:nvSpPr>
          <p:cNvPr id="31" name="C2-E02 text 29" descr="sci-ppt:o029"/>
          <p:cNvSpPr txBox="1"/>
          <p:nvPr/>
        </p:nvSpPr>
        <p:spPr>
          <a:xfrm>
            <a:off x="32004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ring energy 2πrF(r) / (π w F₀)</a:t>
            </a:r>
          </a:p>
        </p:txBody>
      </p:sp>
      <p:sp>
        <p:nvSpPr>
          <p:cNvPr id="32" name="C2-E02 polygon 30" descr="sci-ppt:o030"/>
          <p:cNvSpPr/>
          <p:nvPr/>
        </p:nvSpPr>
        <p:spPr>
          <a:xfrm>
            <a:off x="868680" y="3322740"/>
            <a:ext cx="5120640" cy="1706460"/>
          </a:xfrm>
          <a:custGeom>
            <a:avLst/>
            <a:gdLst/>
            <a:ahLst/>
            <a:cxnLst/>
            <a:rect l="l" t="t" r="r" b="b"/>
            <a:pathLst>
              <a:path w="5120640" h="1706460">
                <a:moveTo>
                  <a:pt x="0" y="1706460"/>
                </a:moveTo>
                <a:lnTo>
                  <a:pt x="17125" y="1661298"/>
                </a:lnTo>
                <a:lnTo>
                  <a:pt x="34251" y="1616172"/>
                </a:lnTo>
                <a:lnTo>
                  <a:pt x="51377" y="1571115"/>
                </a:lnTo>
                <a:lnTo>
                  <a:pt x="68503" y="1526163"/>
                </a:lnTo>
                <a:lnTo>
                  <a:pt x="85629" y="1481350"/>
                </a:lnTo>
                <a:lnTo>
                  <a:pt x="102755" y="1436711"/>
                </a:lnTo>
                <a:lnTo>
                  <a:pt x="119881" y="1392279"/>
                </a:lnTo>
                <a:lnTo>
                  <a:pt x="137007" y="1348090"/>
                </a:lnTo>
                <a:lnTo>
                  <a:pt x="154132" y="1304176"/>
                </a:lnTo>
                <a:lnTo>
                  <a:pt x="171258" y="1260571"/>
                </a:lnTo>
                <a:lnTo>
                  <a:pt x="188384" y="1217307"/>
                </a:lnTo>
                <a:lnTo>
                  <a:pt x="205510" y="1174418"/>
                </a:lnTo>
                <a:lnTo>
                  <a:pt x="222636" y="1131935"/>
                </a:lnTo>
                <a:lnTo>
                  <a:pt x="239762" y="1089890"/>
                </a:lnTo>
                <a:lnTo>
                  <a:pt x="256888" y="1048313"/>
                </a:lnTo>
                <a:lnTo>
                  <a:pt x="274014" y="1007235"/>
                </a:lnTo>
                <a:lnTo>
                  <a:pt x="291140" y="966686"/>
                </a:lnTo>
                <a:lnTo>
                  <a:pt x="308265" y="926695"/>
                </a:lnTo>
                <a:lnTo>
                  <a:pt x="325391" y="887289"/>
                </a:lnTo>
                <a:lnTo>
                  <a:pt x="342517" y="848498"/>
                </a:lnTo>
                <a:lnTo>
                  <a:pt x="359643" y="810346"/>
                </a:lnTo>
                <a:lnTo>
                  <a:pt x="376769" y="772862"/>
                </a:lnTo>
                <a:lnTo>
                  <a:pt x="393895" y="736068"/>
                </a:lnTo>
                <a:lnTo>
                  <a:pt x="411021" y="699992"/>
                </a:lnTo>
                <a:lnTo>
                  <a:pt x="428147" y="664654"/>
                </a:lnTo>
                <a:lnTo>
                  <a:pt x="445273" y="630079"/>
                </a:lnTo>
                <a:lnTo>
                  <a:pt x="462398" y="596288"/>
                </a:lnTo>
                <a:lnTo>
                  <a:pt x="479524" y="563301"/>
                </a:lnTo>
                <a:lnTo>
                  <a:pt x="496650" y="531138"/>
                </a:lnTo>
                <a:lnTo>
                  <a:pt x="513776" y="499818"/>
                </a:lnTo>
                <a:lnTo>
                  <a:pt x="530902" y="469359"/>
                </a:lnTo>
                <a:lnTo>
                  <a:pt x="548028" y="439777"/>
                </a:lnTo>
                <a:lnTo>
                  <a:pt x="565154" y="411089"/>
                </a:lnTo>
                <a:lnTo>
                  <a:pt x="582280" y="383308"/>
                </a:lnTo>
                <a:lnTo>
                  <a:pt x="599406" y="356448"/>
                </a:lnTo>
                <a:lnTo>
                  <a:pt x="616531" y="330523"/>
                </a:lnTo>
                <a:lnTo>
                  <a:pt x="633657" y="305542"/>
                </a:lnTo>
                <a:lnTo>
                  <a:pt x="650783" y="281518"/>
                </a:lnTo>
                <a:lnTo>
                  <a:pt x="667909" y="258458"/>
                </a:lnTo>
                <a:lnTo>
                  <a:pt x="685035" y="236371"/>
                </a:lnTo>
                <a:lnTo>
                  <a:pt x="702161" y="215265"/>
                </a:lnTo>
                <a:lnTo>
                  <a:pt x="719287" y="195145"/>
                </a:lnTo>
                <a:lnTo>
                  <a:pt x="736413" y="176016"/>
                </a:lnTo>
                <a:lnTo>
                  <a:pt x="753538" y="157882"/>
                </a:lnTo>
                <a:lnTo>
                  <a:pt x="770664" y="140747"/>
                </a:lnTo>
                <a:lnTo>
                  <a:pt x="787790" y="124611"/>
                </a:lnTo>
                <a:lnTo>
                  <a:pt x="804916" y="109476"/>
                </a:lnTo>
                <a:lnTo>
                  <a:pt x="822042" y="95342"/>
                </a:lnTo>
                <a:lnTo>
                  <a:pt x="839168" y="82206"/>
                </a:lnTo>
                <a:lnTo>
                  <a:pt x="856294" y="70067"/>
                </a:lnTo>
                <a:lnTo>
                  <a:pt x="873420" y="58921"/>
                </a:lnTo>
                <a:lnTo>
                  <a:pt x="890546" y="48765"/>
                </a:lnTo>
                <a:lnTo>
                  <a:pt x="907671" y="39592"/>
                </a:lnTo>
                <a:lnTo>
                  <a:pt x="924797" y="31397"/>
                </a:lnTo>
                <a:lnTo>
                  <a:pt x="941923" y="24173"/>
                </a:lnTo>
                <a:lnTo>
                  <a:pt x="959049" y="17911"/>
                </a:lnTo>
                <a:lnTo>
                  <a:pt x="976175" y="12603"/>
                </a:lnTo>
                <a:lnTo>
                  <a:pt x="993301" y="8238"/>
                </a:lnTo>
                <a:lnTo>
                  <a:pt x="1010427" y="4808"/>
                </a:lnTo>
                <a:lnTo>
                  <a:pt x="1027553" y="2299"/>
                </a:lnTo>
                <a:lnTo>
                  <a:pt x="1044679" y="701"/>
                </a:lnTo>
                <a:lnTo>
                  <a:pt x="1061804" y="0"/>
                </a:lnTo>
                <a:lnTo>
                  <a:pt x="1078930" y="182"/>
                </a:lnTo>
                <a:lnTo>
                  <a:pt x="1096056" y="1234"/>
                </a:lnTo>
                <a:lnTo>
                  <a:pt x="1113182" y="3140"/>
                </a:lnTo>
                <a:lnTo>
                  <a:pt x="1130308" y="5885"/>
                </a:lnTo>
                <a:lnTo>
                  <a:pt x="1147434" y="9453"/>
                </a:lnTo>
                <a:lnTo>
                  <a:pt x="1164560" y="13826"/>
                </a:lnTo>
                <a:lnTo>
                  <a:pt x="1181686" y="18989"/>
                </a:lnTo>
                <a:lnTo>
                  <a:pt x="1198812" y="24923"/>
                </a:lnTo>
                <a:lnTo>
                  <a:pt x="1215937" y="31609"/>
                </a:lnTo>
                <a:lnTo>
                  <a:pt x="1233063" y="39030"/>
                </a:lnTo>
                <a:lnTo>
                  <a:pt x="1250189" y="47165"/>
                </a:lnTo>
                <a:lnTo>
                  <a:pt x="1267315" y="55996"/>
                </a:lnTo>
                <a:lnTo>
                  <a:pt x="1284441" y="65503"/>
                </a:lnTo>
                <a:lnTo>
                  <a:pt x="1301567" y="75666"/>
                </a:lnTo>
                <a:lnTo>
                  <a:pt x="1318693" y="86463"/>
                </a:lnTo>
                <a:lnTo>
                  <a:pt x="1335819" y="97875"/>
                </a:lnTo>
                <a:lnTo>
                  <a:pt x="1352945" y="109881"/>
                </a:lnTo>
                <a:lnTo>
                  <a:pt x="1370070" y="122460"/>
                </a:lnTo>
                <a:lnTo>
                  <a:pt x="1387196" y="135590"/>
                </a:lnTo>
                <a:lnTo>
                  <a:pt x="1404322" y="149249"/>
                </a:lnTo>
                <a:lnTo>
                  <a:pt x="1421448" y="163418"/>
                </a:lnTo>
                <a:lnTo>
                  <a:pt x="1438574" y="178073"/>
                </a:lnTo>
                <a:lnTo>
                  <a:pt x="1455700" y="193193"/>
                </a:lnTo>
                <a:lnTo>
                  <a:pt x="1472826" y="208758"/>
                </a:lnTo>
                <a:lnTo>
                  <a:pt x="1489952" y="224745"/>
                </a:lnTo>
                <a:lnTo>
                  <a:pt x="1507077" y="241132"/>
                </a:lnTo>
                <a:lnTo>
                  <a:pt x="1524203" y="257899"/>
                </a:lnTo>
                <a:lnTo>
                  <a:pt x="1541329" y="275023"/>
                </a:lnTo>
                <a:lnTo>
                  <a:pt x="1558455" y="292485"/>
                </a:lnTo>
                <a:lnTo>
                  <a:pt x="1575581" y="310261"/>
                </a:lnTo>
                <a:lnTo>
                  <a:pt x="1592707" y="328333"/>
                </a:lnTo>
                <a:lnTo>
                  <a:pt x="1609833" y="346678"/>
                </a:lnTo>
                <a:lnTo>
                  <a:pt x="1626959" y="365276"/>
                </a:lnTo>
                <a:lnTo>
                  <a:pt x="1644085" y="384108"/>
                </a:lnTo>
                <a:lnTo>
                  <a:pt x="1661210" y="403152"/>
                </a:lnTo>
                <a:lnTo>
                  <a:pt x="1678336" y="422390"/>
                </a:lnTo>
                <a:lnTo>
                  <a:pt x="1695462" y="441802"/>
                </a:lnTo>
                <a:lnTo>
                  <a:pt x="1712588" y="461368"/>
                </a:lnTo>
                <a:lnTo>
                  <a:pt x="1729714" y="481069"/>
                </a:lnTo>
                <a:lnTo>
                  <a:pt x="1746840" y="500888"/>
                </a:lnTo>
                <a:lnTo>
                  <a:pt x="1763966" y="520806"/>
                </a:lnTo>
                <a:lnTo>
                  <a:pt x="1781092" y="540806"/>
                </a:lnTo>
                <a:lnTo>
                  <a:pt x="1798218" y="560869"/>
                </a:lnTo>
                <a:lnTo>
                  <a:pt x="1815343" y="580979"/>
                </a:lnTo>
                <a:lnTo>
                  <a:pt x="1832469" y="601119"/>
                </a:lnTo>
                <a:lnTo>
                  <a:pt x="1849595" y="621274"/>
                </a:lnTo>
                <a:lnTo>
                  <a:pt x="1866721" y="641426"/>
                </a:lnTo>
                <a:lnTo>
                  <a:pt x="1883847" y="661562"/>
                </a:lnTo>
                <a:lnTo>
                  <a:pt x="1900973" y="681666"/>
                </a:lnTo>
                <a:lnTo>
                  <a:pt x="1918099" y="701724"/>
                </a:lnTo>
                <a:lnTo>
                  <a:pt x="1935225" y="721722"/>
                </a:lnTo>
                <a:lnTo>
                  <a:pt x="1952351" y="741645"/>
                </a:lnTo>
                <a:lnTo>
                  <a:pt x="1969476" y="761482"/>
                </a:lnTo>
                <a:lnTo>
                  <a:pt x="1986602" y="781220"/>
                </a:lnTo>
                <a:lnTo>
                  <a:pt x="2003728" y="800846"/>
                </a:lnTo>
                <a:lnTo>
                  <a:pt x="2020854" y="820349"/>
                </a:lnTo>
                <a:lnTo>
                  <a:pt x="2037980" y="839718"/>
                </a:lnTo>
                <a:lnTo>
                  <a:pt x="2055106" y="858941"/>
                </a:lnTo>
                <a:lnTo>
                  <a:pt x="2072232" y="878009"/>
                </a:lnTo>
                <a:lnTo>
                  <a:pt x="2089358" y="896913"/>
                </a:lnTo>
                <a:lnTo>
                  <a:pt x="2106484" y="915641"/>
                </a:lnTo>
                <a:lnTo>
                  <a:pt x="2123609" y="934187"/>
                </a:lnTo>
                <a:lnTo>
                  <a:pt x="2140735" y="952541"/>
                </a:lnTo>
                <a:lnTo>
                  <a:pt x="2157861" y="970696"/>
                </a:lnTo>
                <a:lnTo>
                  <a:pt x="2174987" y="988644"/>
                </a:lnTo>
                <a:lnTo>
                  <a:pt x="2192113" y="1006377"/>
                </a:lnTo>
                <a:lnTo>
                  <a:pt x="2209239" y="1023891"/>
                </a:lnTo>
                <a:lnTo>
                  <a:pt x="2226365" y="1041177"/>
                </a:lnTo>
                <a:lnTo>
                  <a:pt x="2243491" y="1058232"/>
                </a:lnTo>
                <a:lnTo>
                  <a:pt x="2260616" y="1075048"/>
                </a:lnTo>
                <a:lnTo>
                  <a:pt x="2277742" y="1091622"/>
                </a:lnTo>
                <a:lnTo>
                  <a:pt x="2294868" y="1107950"/>
                </a:lnTo>
                <a:lnTo>
                  <a:pt x="2311994" y="1124026"/>
                </a:lnTo>
                <a:lnTo>
                  <a:pt x="2329120" y="1139847"/>
                </a:lnTo>
                <a:lnTo>
                  <a:pt x="2346246" y="1155411"/>
                </a:lnTo>
                <a:lnTo>
                  <a:pt x="2363372" y="1170714"/>
                </a:lnTo>
                <a:lnTo>
                  <a:pt x="2380498" y="1185753"/>
                </a:lnTo>
                <a:lnTo>
                  <a:pt x="2397624" y="1200527"/>
                </a:lnTo>
                <a:lnTo>
                  <a:pt x="2414749" y="1215033"/>
                </a:lnTo>
                <a:lnTo>
                  <a:pt x="2431875" y="1229271"/>
                </a:lnTo>
                <a:lnTo>
                  <a:pt x="2449001" y="1243238"/>
                </a:lnTo>
                <a:lnTo>
                  <a:pt x="2466127" y="1256934"/>
                </a:lnTo>
                <a:lnTo>
                  <a:pt x="2483253" y="1270359"/>
                </a:lnTo>
                <a:lnTo>
                  <a:pt x="2500379" y="1283512"/>
                </a:lnTo>
                <a:lnTo>
                  <a:pt x="2517505" y="1296393"/>
                </a:lnTo>
                <a:lnTo>
                  <a:pt x="2534631" y="1309003"/>
                </a:lnTo>
                <a:lnTo>
                  <a:pt x="2551757" y="1321342"/>
                </a:lnTo>
                <a:lnTo>
                  <a:pt x="2568882" y="1333411"/>
                </a:lnTo>
                <a:lnTo>
                  <a:pt x="2586008" y="1345210"/>
                </a:lnTo>
                <a:lnTo>
                  <a:pt x="2603134" y="1356742"/>
                </a:lnTo>
                <a:lnTo>
                  <a:pt x="2620260" y="1368008"/>
                </a:lnTo>
                <a:lnTo>
                  <a:pt x="2637386" y="1379009"/>
                </a:lnTo>
                <a:lnTo>
                  <a:pt x="2654512" y="1389748"/>
                </a:lnTo>
                <a:lnTo>
                  <a:pt x="2671638" y="1400226"/>
                </a:lnTo>
                <a:lnTo>
                  <a:pt x="2688764" y="1410446"/>
                </a:lnTo>
                <a:lnTo>
                  <a:pt x="2705890" y="1420410"/>
                </a:lnTo>
                <a:lnTo>
                  <a:pt x="2723015" y="1430121"/>
                </a:lnTo>
                <a:lnTo>
                  <a:pt x="2740141" y="1439582"/>
                </a:lnTo>
                <a:lnTo>
                  <a:pt x="2757267" y="1448795"/>
                </a:lnTo>
                <a:lnTo>
                  <a:pt x="2774393" y="1457764"/>
                </a:lnTo>
                <a:lnTo>
                  <a:pt x="2791519" y="1466492"/>
                </a:lnTo>
                <a:lnTo>
                  <a:pt x="2808645" y="1474982"/>
                </a:lnTo>
                <a:lnTo>
                  <a:pt x="2825771" y="1483237"/>
                </a:lnTo>
                <a:lnTo>
                  <a:pt x="2842897" y="1491262"/>
                </a:lnTo>
                <a:lnTo>
                  <a:pt x="2860023" y="1499058"/>
                </a:lnTo>
                <a:lnTo>
                  <a:pt x="2877148" y="1506631"/>
                </a:lnTo>
                <a:lnTo>
                  <a:pt x="2894274" y="1513984"/>
                </a:lnTo>
                <a:lnTo>
                  <a:pt x="2911400" y="1521121"/>
                </a:lnTo>
                <a:lnTo>
                  <a:pt x="2928526" y="1528045"/>
                </a:lnTo>
                <a:lnTo>
                  <a:pt x="2945652" y="1534761"/>
                </a:lnTo>
                <a:lnTo>
                  <a:pt x="2962778" y="1541272"/>
                </a:lnTo>
                <a:lnTo>
                  <a:pt x="2979904" y="1547582"/>
                </a:lnTo>
                <a:lnTo>
                  <a:pt x="2997030" y="1553696"/>
                </a:lnTo>
                <a:lnTo>
                  <a:pt x="3014155" y="1559617"/>
                </a:lnTo>
                <a:lnTo>
                  <a:pt x="3031281" y="1565349"/>
                </a:lnTo>
                <a:lnTo>
                  <a:pt x="3048407" y="1570897"/>
                </a:lnTo>
                <a:lnTo>
                  <a:pt x="3065533" y="1576265"/>
                </a:lnTo>
                <a:lnTo>
                  <a:pt x="3082659" y="1581456"/>
                </a:lnTo>
                <a:lnTo>
                  <a:pt x="3099785" y="1586475"/>
                </a:lnTo>
                <a:lnTo>
                  <a:pt x="3116911" y="1591325"/>
                </a:lnTo>
                <a:lnTo>
                  <a:pt x="3134037" y="1596012"/>
                </a:lnTo>
                <a:lnTo>
                  <a:pt x="3151163" y="1600538"/>
                </a:lnTo>
                <a:lnTo>
                  <a:pt x="3168288" y="1604907"/>
                </a:lnTo>
                <a:lnTo>
                  <a:pt x="3185414" y="1609124"/>
                </a:lnTo>
                <a:lnTo>
                  <a:pt x="3202540" y="1613193"/>
                </a:lnTo>
                <a:lnTo>
                  <a:pt x="3219666" y="1617118"/>
                </a:lnTo>
                <a:lnTo>
                  <a:pt x="3236792" y="1620901"/>
                </a:lnTo>
                <a:lnTo>
                  <a:pt x="3253918" y="1624548"/>
                </a:lnTo>
                <a:lnTo>
                  <a:pt x="3271044" y="1628062"/>
                </a:lnTo>
                <a:lnTo>
                  <a:pt x="3288170" y="1631447"/>
                </a:lnTo>
                <a:lnTo>
                  <a:pt x="3305296" y="1634706"/>
                </a:lnTo>
                <a:lnTo>
                  <a:pt x="3322421" y="1637842"/>
                </a:lnTo>
                <a:lnTo>
                  <a:pt x="3339547" y="1640861"/>
                </a:lnTo>
                <a:lnTo>
                  <a:pt x="3356673" y="1643764"/>
                </a:lnTo>
                <a:lnTo>
                  <a:pt x="3373799" y="1646556"/>
                </a:lnTo>
                <a:lnTo>
                  <a:pt x="3390925" y="1649240"/>
                </a:lnTo>
                <a:lnTo>
                  <a:pt x="3408051" y="1651818"/>
                </a:lnTo>
                <a:lnTo>
                  <a:pt x="3425177" y="1654296"/>
                </a:lnTo>
                <a:lnTo>
                  <a:pt x="3442303" y="1656675"/>
                </a:lnTo>
                <a:lnTo>
                  <a:pt x="3459429" y="1658959"/>
                </a:lnTo>
                <a:lnTo>
                  <a:pt x="3476554" y="1661152"/>
                </a:lnTo>
                <a:lnTo>
                  <a:pt x="3493680" y="1663255"/>
                </a:lnTo>
                <a:lnTo>
                  <a:pt x="3510806" y="1665272"/>
                </a:lnTo>
                <a:lnTo>
                  <a:pt x="3527932" y="1667206"/>
                </a:lnTo>
                <a:lnTo>
                  <a:pt x="3545058" y="1669060"/>
                </a:lnTo>
                <a:lnTo>
                  <a:pt x="3562184" y="1670836"/>
                </a:lnTo>
                <a:lnTo>
                  <a:pt x="3579310" y="1672537"/>
                </a:lnTo>
                <a:lnTo>
                  <a:pt x="3596436" y="1674166"/>
                </a:lnTo>
                <a:lnTo>
                  <a:pt x="3613562" y="1675726"/>
                </a:lnTo>
                <a:lnTo>
                  <a:pt x="3630687" y="1677218"/>
                </a:lnTo>
                <a:lnTo>
                  <a:pt x="3647813" y="1678646"/>
                </a:lnTo>
                <a:lnTo>
                  <a:pt x="3664939" y="1680011"/>
                </a:lnTo>
                <a:lnTo>
                  <a:pt x="3682065" y="1681317"/>
                </a:lnTo>
                <a:lnTo>
                  <a:pt x="3699191" y="1682565"/>
                </a:lnTo>
                <a:lnTo>
                  <a:pt x="3716317" y="1683757"/>
                </a:lnTo>
                <a:lnTo>
                  <a:pt x="3733443" y="1684895"/>
                </a:lnTo>
                <a:lnTo>
                  <a:pt x="3750569" y="1685983"/>
                </a:lnTo>
                <a:lnTo>
                  <a:pt x="3767694" y="1687020"/>
                </a:lnTo>
                <a:lnTo>
                  <a:pt x="3784820" y="1688011"/>
                </a:lnTo>
                <a:lnTo>
                  <a:pt x="3801946" y="1688956"/>
                </a:lnTo>
                <a:lnTo>
                  <a:pt x="3819072" y="1689857"/>
                </a:lnTo>
                <a:lnTo>
                  <a:pt x="3836198" y="1690716"/>
                </a:lnTo>
                <a:lnTo>
                  <a:pt x="3853324" y="1691534"/>
                </a:lnTo>
                <a:lnTo>
                  <a:pt x="3870450" y="1692314"/>
                </a:lnTo>
                <a:lnTo>
                  <a:pt x="3887576" y="1693057"/>
                </a:lnTo>
                <a:lnTo>
                  <a:pt x="3904702" y="1693765"/>
                </a:lnTo>
                <a:lnTo>
                  <a:pt x="3921827" y="1694438"/>
                </a:lnTo>
                <a:lnTo>
                  <a:pt x="3938953" y="1695079"/>
                </a:lnTo>
                <a:lnTo>
                  <a:pt x="3956079" y="1695689"/>
                </a:lnTo>
                <a:lnTo>
                  <a:pt x="3973205" y="1696269"/>
                </a:lnTo>
                <a:lnTo>
                  <a:pt x="3990331" y="1696820"/>
                </a:lnTo>
                <a:lnTo>
                  <a:pt x="4007457" y="1697344"/>
                </a:lnTo>
                <a:lnTo>
                  <a:pt x="4024583" y="1697842"/>
                </a:lnTo>
                <a:lnTo>
                  <a:pt x="4041709" y="1698315"/>
                </a:lnTo>
                <a:lnTo>
                  <a:pt x="4058835" y="1698764"/>
                </a:lnTo>
                <a:lnTo>
                  <a:pt x="4075960" y="1699190"/>
                </a:lnTo>
                <a:lnTo>
                  <a:pt x="4093086" y="1699595"/>
                </a:lnTo>
                <a:lnTo>
                  <a:pt x="4110212" y="1699979"/>
                </a:lnTo>
                <a:lnTo>
                  <a:pt x="4127338" y="1700343"/>
                </a:lnTo>
                <a:lnTo>
                  <a:pt x="4144464" y="1700688"/>
                </a:lnTo>
                <a:lnTo>
                  <a:pt x="4161590" y="1701015"/>
                </a:lnTo>
                <a:lnTo>
                  <a:pt x="4178716" y="1701326"/>
                </a:lnTo>
                <a:lnTo>
                  <a:pt x="4195842" y="1701619"/>
                </a:lnTo>
                <a:lnTo>
                  <a:pt x="4212968" y="1701898"/>
                </a:lnTo>
                <a:lnTo>
                  <a:pt x="4230093" y="1702161"/>
                </a:lnTo>
                <a:lnTo>
                  <a:pt x="4247219" y="1702410"/>
                </a:lnTo>
                <a:lnTo>
                  <a:pt x="4264345" y="1702646"/>
                </a:lnTo>
                <a:lnTo>
                  <a:pt x="4281471" y="1702869"/>
                </a:lnTo>
                <a:lnTo>
                  <a:pt x="4298597" y="1703080"/>
                </a:lnTo>
                <a:lnTo>
                  <a:pt x="4315723" y="1703280"/>
                </a:lnTo>
                <a:lnTo>
                  <a:pt x="4332849" y="1703468"/>
                </a:lnTo>
                <a:lnTo>
                  <a:pt x="4349975" y="1703646"/>
                </a:lnTo>
                <a:lnTo>
                  <a:pt x="4367101" y="1703815"/>
                </a:lnTo>
                <a:lnTo>
                  <a:pt x="4384226" y="1703973"/>
                </a:lnTo>
                <a:lnTo>
                  <a:pt x="4401352" y="1704123"/>
                </a:lnTo>
                <a:lnTo>
                  <a:pt x="4418478" y="1704265"/>
                </a:lnTo>
                <a:lnTo>
                  <a:pt x="4435604" y="1704398"/>
                </a:lnTo>
                <a:lnTo>
                  <a:pt x="4452730" y="1704524"/>
                </a:lnTo>
                <a:lnTo>
                  <a:pt x="4469856" y="1704643"/>
                </a:lnTo>
                <a:lnTo>
                  <a:pt x="4486982" y="1704755"/>
                </a:lnTo>
                <a:lnTo>
                  <a:pt x="4504108" y="1704860"/>
                </a:lnTo>
                <a:lnTo>
                  <a:pt x="4521233" y="1704960"/>
                </a:lnTo>
                <a:lnTo>
                  <a:pt x="4538359" y="1705053"/>
                </a:lnTo>
                <a:lnTo>
                  <a:pt x="4555485" y="1705141"/>
                </a:lnTo>
                <a:lnTo>
                  <a:pt x="4572611" y="1705224"/>
                </a:lnTo>
                <a:lnTo>
                  <a:pt x="4589737" y="1705302"/>
                </a:lnTo>
                <a:lnTo>
                  <a:pt x="4606863" y="1705375"/>
                </a:lnTo>
                <a:lnTo>
                  <a:pt x="4623989" y="1705444"/>
                </a:lnTo>
                <a:lnTo>
                  <a:pt x="4641115" y="1705509"/>
                </a:lnTo>
                <a:lnTo>
                  <a:pt x="4658241" y="1705570"/>
                </a:lnTo>
                <a:lnTo>
                  <a:pt x="4675366" y="1705627"/>
                </a:lnTo>
                <a:lnTo>
                  <a:pt x="4692492" y="1705681"/>
                </a:lnTo>
                <a:lnTo>
                  <a:pt x="4709618" y="1705732"/>
                </a:lnTo>
                <a:lnTo>
                  <a:pt x="4726744" y="1705779"/>
                </a:lnTo>
                <a:lnTo>
                  <a:pt x="4743870" y="1705824"/>
                </a:lnTo>
                <a:lnTo>
                  <a:pt x="4760996" y="1705865"/>
                </a:lnTo>
                <a:lnTo>
                  <a:pt x="4778122" y="1705905"/>
                </a:lnTo>
                <a:lnTo>
                  <a:pt x="4795248" y="1705941"/>
                </a:lnTo>
                <a:lnTo>
                  <a:pt x="4812374" y="1705976"/>
                </a:lnTo>
                <a:lnTo>
                  <a:pt x="4829499" y="1706008"/>
                </a:lnTo>
                <a:lnTo>
                  <a:pt x="4846625" y="1706038"/>
                </a:lnTo>
                <a:lnTo>
                  <a:pt x="4863751" y="1706066"/>
                </a:lnTo>
                <a:lnTo>
                  <a:pt x="4880877" y="1706093"/>
                </a:lnTo>
                <a:lnTo>
                  <a:pt x="4898003" y="1706118"/>
                </a:lnTo>
                <a:lnTo>
                  <a:pt x="4915129" y="1706141"/>
                </a:lnTo>
                <a:lnTo>
                  <a:pt x="4932255" y="1706163"/>
                </a:lnTo>
                <a:lnTo>
                  <a:pt x="4949381" y="1706183"/>
                </a:lnTo>
                <a:lnTo>
                  <a:pt x="4966507" y="1706202"/>
                </a:lnTo>
                <a:lnTo>
                  <a:pt x="4983632" y="1706220"/>
                </a:lnTo>
                <a:lnTo>
                  <a:pt x="5000758" y="1706236"/>
                </a:lnTo>
                <a:lnTo>
                  <a:pt x="5017884" y="1706252"/>
                </a:lnTo>
                <a:lnTo>
                  <a:pt x="5035010" y="1706266"/>
                </a:lnTo>
                <a:lnTo>
                  <a:pt x="5052136" y="1706280"/>
                </a:lnTo>
                <a:lnTo>
                  <a:pt x="5069262" y="1706292"/>
                </a:lnTo>
                <a:lnTo>
                  <a:pt x="5086388" y="1706304"/>
                </a:lnTo>
                <a:lnTo>
                  <a:pt x="5103514" y="1706315"/>
                </a:lnTo>
                <a:lnTo>
                  <a:pt x="5120640" y="1706325"/>
                </a:lnTo>
                <a:lnTo>
                  <a:pt x="5120640" y="1706460"/>
                </a:lnTo>
                <a:lnTo>
                  <a:pt x="5103514" y="1706460"/>
                </a:lnTo>
                <a:lnTo>
                  <a:pt x="5086388" y="1706460"/>
                </a:lnTo>
                <a:lnTo>
                  <a:pt x="5069262" y="1706460"/>
                </a:lnTo>
                <a:lnTo>
                  <a:pt x="5052136" y="1706460"/>
                </a:lnTo>
                <a:lnTo>
                  <a:pt x="5035010" y="1706460"/>
                </a:lnTo>
                <a:lnTo>
                  <a:pt x="5017884" y="1706460"/>
                </a:lnTo>
                <a:lnTo>
                  <a:pt x="5000758" y="1706460"/>
                </a:lnTo>
                <a:lnTo>
                  <a:pt x="4983632" y="1706460"/>
                </a:lnTo>
                <a:lnTo>
                  <a:pt x="4966507" y="1706460"/>
                </a:lnTo>
                <a:lnTo>
                  <a:pt x="4949381" y="1706460"/>
                </a:lnTo>
                <a:lnTo>
                  <a:pt x="4932255" y="1706460"/>
                </a:lnTo>
                <a:lnTo>
                  <a:pt x="4915129" y="1706460"/>
                </a:lnTo>
                <a:lnTo>
                  <a:pt x="4898003" y="1706460"/>
                </a:lnTo>
                <a:lnTo>
                  <a:pt x="4880877" y="1706460"/>
                </a:lnTo>
                <a:lnTo>
                  <a:pt x="4863751" y="1706460"/>
                </a:lnTo>
                <a:lnTo>
                  <a:pt x="4846625" y="1706460"/>
                </a:lnTo>
                <a:lnTo>
                  <a:pt x="4829499" y="1706460"/>
                </a:lnTo>
                <a:lnTo>
                  <a:pt x="4812374" y="1706460"/>
                </a:lnTo>
                <a:lnTo>
                  <a:pt x="4795248" y="1706460"/>
                </a:lnTo>
                <a:lnTo>
                  <a:pt x="4778122" y="1706460"/>
                </a:lnTo>
                <a:lnTo>
                  <a:pt x="4760996" y="1706460"/>
                </a:lnTo>
                <a:lnTo>
                  <a:pt x="4743870" y="1706460"/>
                </a:lnTo>
                <a:lnTo>
                  <a:pt x="4726744" y="1706460"/>
                </a:lnTo>
                <a:lnTo>
                  <a:pt x="4709618" y="1706460"/>
                </a:lnTo>
                <a:lnTo>
                  <a:pt x="4692492" y="1706460"/>
                </a:lnTo>
                <a:lnTo>
                  <a:pt x="4675366" y="1706460"/>
                </a:lnTo>
                <a:lnTo>
                  <a:pt x="4658241" y="1706460"/>
                </a:lnTo>
                <a:lnTo>
                  <a:pt x="4641115" y="1706460"/>
                </a:lnTo>
                <a:lnTo>
                  <a:pt x="4623989" y="1706460"/>
                </a:lnTo>
                <a:lnTo>
                  <a:pt x="4606863" y="1706460"/>
                </a:lnTo>
                <a:lnTo>
                  <a:pt x="4589737" y="1706460"/>
                </a:lnTo>
                <a:lnTo>
                  <a:pt x="4572611" y="1706460"/>
                </a:lnTo>
                <a:lnTo>
                  <a:pt x="4555485" y="1706460"/>
                </a:lnTo>
                <a:lnTo>
                  <a:pt x="4538359" y="1706460"/>
                </a:lnTo>
                <a:lnTo>
                  <a:pt x="4521233" y="1706460"/>
                </a:lnTo>
                <a:lnTo>
                  <a:pt x="4504108" y="1706460"/>
                </a:lnTo>
                <a:lnTo>
                  <a:pt x="4486982" y="1706460"/>
                </a:lnTo>
                <a:lnTo>
                  <a:pt x="4469856" y="1706460"/>
                </a:lnTo>
                <a:lnTo>
                  <a:pt x="4452730" y="1706460"/>
                </a:lnTo>
                <a:lnTo>
                  <a:pt x="4435604" y="1706460"/>
                </a:lnTo>
                <a:lnTo>
                  <a:pt x="4418478" y="1706460"/>
                </a:lnTo>
                <a:lnTo>
                  <a:pt x="4401352" y="1706460"/>
                </a:lnTo>
                <a:lnTo>
                  <a:pt x="4384226" y="1706460"/>
                </a:lnTo>
                <a:lnTo>
                  <a:pt x="4367101" y="1706460"/>
                </a:lnTo>
                <a:lnTo>
                  <a:pt x="4349975" y="1706460"/>
                </a:lnTo>
                <a:lnTo>
                  <a:pt x="4332849" y="1706460"/>
                </a:lnTo>
                <a:lnTo>
                  <a:pt x="4315723" y="1706460"/>
                </a:lnTo>
                <a:lnTo>
                  <a:pt x="4298597" y="1706460"/>
                </a:lnTo>
                <a:lnTo>
                  <a:pt x="4281471" y="1706460"/>
                </a:lnTo>
                <a:lnTo>
                  <a:pt x="4264345" y="1706460"/>
                </a:lnTo>
                <a:lnTo>
                  <a:pt x="4247219" y="1706460"/>
                </a:lnTo>
                <a:lnTo>
                  <a:pt x="4230093" y="1706460"/>
                </a:lnTo>
                <a:lnTo>
                  <a:pt x="4212968" y="1706460"/>
                </a:lnTo>
                <a:lnTo>
                  <a:pt x="4195842" y="1706460"/>
                </a:lnTo>
                <a:lnTo>
                  <a:pt x="4178716" y="1706460"/>
                </a:lnTo>
                <a:lnTo>
                  <a:pt x="4161590" y="1706460"/>
                </a:lnTo>
                <a:lnTo>
                  <a:pt x="4144464" y="1706460"/>
                </a:lnTo>
                <a:lnTo>
                  <a:pt x="4127338" y="1706460"/>
                </a:lnTo>
                <a:lnTo>
                  <a:pt x="4110212" y="1706460"/>
                </a:lnTo>
                <a:lnTo>
                  <a:pt x="4093086" y="1706460"/>
                </a:lnTo>
                <a:lnTo>
                  <a:pt x="4075960" y="1706460"/>
                </a:lnTo>
                <a:lnTo>
                  <a:pt x="4058835" y="1706460"/>
                </a:lnTo>
                <a:lnTo>
                  <a:pt x="4041709" y="1706460"/>
                </a:lnTo>
                <a:lnTo>
                  <a:pt x="4024583" y="1706460"/>
                </a:lnTo>
                <a:lnTo>
                  <a:pt x="4007457" y="1706460"/>
                </a:lnTo>
                <a:lnTo>
                  <a:pt x="3990331" y="1706460"/>
                </a:lnTo>
                <a:lnTo>
                  <a:pt x="3973205" y="1706460"/>
                </a:lnTo>
                <a:lnTo>
                  <a:pt x="3956079" y="1706460"/>
                </a:lnTo>
                <a:lnTo>
                  <a:pt x="3938953" y="1706460"/>
                </a:lnTo>
                <a:lnTo>
                  <a:pt x="3921827" y="1706460"/>
                </a:lnTo>
                <a:lnTo>
                  <a:pt x="3904702" y="1706460"/>
                </a:lnTo>
                <a:lnTo>
                  <a:pt x="3887576" y="1706460"/>
                </a:lnTo>
                <a:lnTo>
                  <a:pt x="3870450" y="1706460"/>
                </a:lnTo>
                <a:lnTo>
                  <a:pt x="3853324" y="1706460"/>
                </a:lnTo>
                <a:lnTo>
                  <a:pt x="3836198" y="1706460"/>
                </a:lnTo>
                <a:lnTo>
                  <a:pt x="3819072" y="1706460"/>
                </a:lnTo>
                <a:lnTo>
                  <a:pt x="3801946" y="1706460"/>
                </a:lnTo>
                <a:lnTo>
                  <a:pt x="3784820" y="1706460"/>
                </a:lnTo>
                <a:lnTo>
                  <a:pt x="3767694" y="1706460"/>
                </a:lnTo>
                <a:lnTo>
                  <a:pt x="3750569" y="1706460"/>
                </a:lnTo>
                <a:lnTo>
                  <a:pt x="3733443" y="1706460"/>
                </a:lnTo>
                <a:lnTo>
                  <a:pt x="3716317" y="1706460"/>
                </a:lnTo>
                <a:lnTo>
                  <a:pt x="3699191" y="1706460"/>
                </a:lnTo>
                <a:lnTo>
                  <a:pt x="3682065" y="1706460"/>
                </a:lnTo>
                <a:lnTo>
                  <a:pt x="3664939" y="1706460"/>
                </a:lnTo>
                <a:lnTo>
                  <a:pt x="3647813" y="1706460"/>
                </a:lnTo>
                <a:lnTo>
                  <a:pt x="3630687" y="1706460"/>
                </a:lnTo>
                <a:lnTo>
                  <a:pt x="3613562" y="1706460"/>
                </a:lnTo>
                <a:lnTo>
                  <a:pt x="3596436" y="1706460"/>
                </a:lnTo>
                <a:lnTo>
                  <a:pt x="3579310" y="1706460"/>
                </a:lnTo>
                <a:lnTo>
                  <a:pt x="3562184" y="1706460"/>
                </a:lnTo>
                <a:lnTo>
                  <a:pt x="3545058" y="1706460"/>
                </a:lnTo>
                <a:lnTo>
                  <a:pt x="3527932" y="1706460"/>
                </a:lnTo>
                <a:lnTo>
                  <a:pt x="3510806" y="1706460"/>
                </a:lnTo>
                <a:lnTo>
                  <a:pt x="3493680" y="1706460"/>
                </a:lnTo>
                <a:lnTo>
                  <a:pt x="3476554" y="1706460"/>
                </a:lnTo>
                <a:lnTo>
                  <a:pt x="3459429" y="1706460"/>
                </a:lnTo>
                <a:lnTo>
                  <a:pt x="3442303" y="1706460"/>
                </a:lnTo>
                <a:lnTo>
                  <a:pt x="3425177" y="1706460"/>
                </a:lnTo>
                <a:lnTo>
                  <a:pt x="3408051" y="1706460"/>
                </a:lnTo>
                <a:lnTo>
                  <a:pt x="3390925" y="1706460"/>
                </a:lnTo>
                <a:lnTo>
                  <a:pt x="3373799" y="1706460"/>
                </a:lnTo>
                <a:lnTo>
                  <a:pt x="3356673" y="1706460"/>
                </a:lnTo>
                <a:lnTo>
                  <a:pt x="3339547" y="1706460"/>
                </a:lnTo>
                <a:lnTo>
                  <a:pt x="3322421" y="1706460"/>
                </a:lnTo>
                <a:lnTo>
                  <a:pt x="3305296" y="1706460"/>
                </a:lnTo>
                <a:lnTo>
                  <a:pt x="3288170" y="1706460"/>
                </a:lnTo>
                <a:lnTo>
                  <a:pt x="3271044" y="1706460"/>
                </a:lnTo>
                <a:lnTo>
                  <a:pt x="3253918" y="1706460"/>
                </a:lnTo>
                <a:lnTo>
                  <a:pt x="3236792" y="1706460"/>
                </a:lnTo>
                <a:lnTo>
                  <a:pt x="3219666" y="1706460"/>
                </a:lnTo>
                <a:lnTo>
                  <a:pt x="3202540" y="1706460"/>
                </a:lnTo>
                <a:lnTo>
                  <a:pt x="3185414" y="1706460"/>
                </a:lnTo>
                <a:lnTo>
                  <a:pt x="3168288" y="1706460"/>
                </a:lnTo>
                <a:lnTo>
                  <a:pt x="3151163" y="1706460"/>
                </a:lnTo>
                <a:lnTo>
                  <a:pt x="3134037" y="1706460"/>
                </a:lnTo>
                <a:lnTo>
                  <a:pt x="3116911" y="1706460"/>
                </a:lnTo>
                <a:lnTo>
                  <a:pt x="3099785" y="1706460"/>
                </a:lnTo>
                <a:lnTo>
                  <a:pt x="3082659" y="1706460"/>
                </a:lnTo>
                <a:lnTo>
                  <a:pt x="3065533" y="1706460"/>
                </a:lnTo>
                <a:lnTo>
                  <a:pt x="3048407" y="1706460"/>
                </a:lnTo>
                <a:lnTo>
                  <a:pt x="3031281" y="1706460"/>
                </a:lnTo>
                <a:lnTo>
                  <a:pt x="3014155" y="1706460"/>
                </a:lnTo>
                <a:lnTo>
                  <a:pt x="2997030" y="1706460"/>
                </a:lnTo>
                <a:lnTo>
                  <a:pt x="2979904" y="1706460"/>
                </a:lnTo>
                <a:lnTo>
                  <a:pt x="2962778" y="1706460"/>
                </a:lnTo>
                <a:lnTo>
                  <a:pt x="2945652" y="1706460"/>
                </a:lnTo>
                <a:lnTo>
                  <a:pt x="2928526" y="1706460"/>
                </a:lnTo>
                <a:lnTo>
                  <a:pt x="2911400" y="1706460"/>
                </a:lnTo>
                <a:lnTo>
                  <a:pt x="2894274" y="1706460"/>
                </a:lnTo>
                <a:lnTo>
                  <a:pt x="2877148" y="1706460"/>
                </a:lnTo>
                <a:lnTo>
                  <a:pt x="2860023" y="1706460"/>
                </a:lnTo>
                <a:lnTo>
                  <a:pt x="2842897" y="1706460"/>
                </a:lnTo>
                <a:lnTo>
                  <a:pt x="2825771" y="1706460"/>
                </a:lnTo>
                <a:lnTo>
                  <a:pt x="2808645" y="1706460"/>
                </a:lnTo>
                <a:lnTo>
                  <a:pt x="2791519" y="1706460"/>
                </a:lnTo>
                <a:lnTo>
                  <a:pt x="2774393" y="1706460"/>
                </a:lnTo>
                <a:lnTo>
                  <a:pt x="2757267" y="1706460"/>
                </a:lnTo>
                <a:lnTo>
                  <a:pt x="2740141" y="1706460"/>
                </a:lnTo>
                <a:lnTo>
                  <a:pt x="2723015" y="1706460"/>
                </a:lnTo>
                <a:lnTo>
                  <a:pt x="2705890" y="1706460"/>
                </a:lnTo>
                <a:lnTo>
                  <a:pt x="2688764" y="1706460"/>
                </a:lnTo>
                <a:lnTo>
                  <a:pt x="2671638" y="1706460"/>
                </a:lnTo>
                <a:lnTo>
                  <a:pt x="2654512" y="1706460"/>
                </a:lnTo>
                <a:lnTo>
                  <a:pt x="2637386" y="1706460"/>
                </a:lnTo>
                <a:lnTo>
                  <a:pt x="2620260" y="1706460"/>
                </a:lnTo>
                <a:lnTo>
                  <a:pt x="2603134" y="1706460"/>
                </a:lnTo>
                <a:lnTo>
                  <a:pt x="2586008" y="1706460"/>
                </a:lnTo>
                <a:lnTo>
                  <a:pt x="2568882" y="1706460"/>
                </a:lnTo>
                <a:lnTo>
                  <a:pt x="2551757" y="1706460"/>
                </a:lnTo>
                <a:lnTo>
                  <a:pt x="2534631" y="1706460"/>
                </a:lnTo>
                <a:lnTo>
                  <a:pt x="2517505" y="1706460"/>
                </a:lnTo>
                <a:lnTo>
                  <a:pt x="2500379" y="1706460"/>
                </a:lnTo>
                <a:lnTo>
                  <a:pt x="2483253" y="1706460"/>
                </a:lnTo>
                <a:lnTo>
                  <a:pt x="2466127" y="1706460"/>
                </a:lnTo>
                <a:lnTo>
                  <a:pt x="2449001" y="1706460"/>
                </a:lnTo>
                <a:lnTo>
                  <a:pt x="2431875" y="1706460"/>
                </a:lnTo>
                <a:lnTo>
                  <a:pt x="2414749" y="1706460"/>
                </a:lnTo>
                <a:lnTo>
                  <a:pt x="2397624" y="1706460"/>
                </a:lnTo>
                <a:lnTo>
                  <a:pt x="2380498" y="1706460"/>
                </a:lnTo>
                <a:lnTo>
                  <a:pt x="2363372" y="1706460"/>
                </a:lnTo>
                <a:lnTo>
                  <a:pt x="2346246" y="1706460"/>
                </a:lnTo>
                <a:lnTo>
                  <a:pt x="2329120" y="1706460"/>
                </a:lnTo>
                <a:lnTo>
                  <a:pt x="2311994" y="1706460"/>
                </a:lnTo>
                <a:lnTo>
                  <a:pt x="2294868" y="1706460"/>
                </a:lnTo>
                <a:lnTo>
                  <a:pt x="2277742" y="1706460"/>
                </a:lnTo>
                <a:lnTo>
                  <a:pt x="2260616" y="1706460"/>
                </a:lnTo>
                <a:lnTo>
                  <a:pt x="2243491" y="1706460"/>
                </a:lnTo>
                <a:lnTo>
                  <a:pt x="2226365" y="1706460"/>
                </a:lnTo>
                <a:lnTo>
                  <a:pt x="2209239" y="1706460"/>
                </a:lnTo>
                <a:lnTo>
                  <a:pt x="2192113" y="1706460"/>
                </a:lnTo>
                <a:lnTo>
                  <a:pt x="2174987" y="1706460"/>
                </a:lnTo>
                <a:lnTo>
                  <a:pt x="2157861" y="1706460"/>
                </a:lnTo>
                <a:lnTo>
                  <a:pt x="2140735" y="1706460"/>
                </a:lnTo>
                <a:lnTo>
                  <a:pt x="2123609" y="1706460"/>
                </a:lnTo>
                <a:lnTo>
                  <a:pt x="2106484" y="1706460"/>
                </a:lnTo>
                <a:lnTo>
                  <a:pt x="2089358" y="1706460"/>
                </a:lnTo>
                <a:lnTo>
                  <a:pt x="2072232" y="1706460"/>
                </a:lnTo>
                <a:lnTo>
                  <a:pt x="2055106" y="1706460"/>
                </a:lnTo>
                <a:lnTo>
                  <a:pt x="2037980" y="1706460"/>
                </a:lnTo>
                <a:lnTo>
                  <a:pt x="2020854" y="1706460"/>
                </a:lnTo>
                <a:lnTo>
                  <a:pt x="2003728" y="1706460"/>
                </a:lnTo>
                <a:lnTo>
                  <a:pt x="1986602" y="1706460"/>
                </a:lnTo>
                <a:lnTo>
                  <a:pt x="1969476" y="1706460"/>
                </a:lnTo>
                <a:lnTo>
                  <a:pt x="1952351" y="1706460"/>
                </a:lnTo>
                <a:lnTo>
                  <a:pt x="1935225" y="1706460"/>
                </a:lnTo>
                <a:lnTo>
                  <a:pt x="1918099" y="1706460"/>
                </a:lnTo>
                <a:lnTo>
                  <a:pt x="1900973" y="1706460"/>
                </a:lnTo>
                <a:lnTo>
                  <a:pt x="1883847" y="1706460"/>
                </a:lnTo>
                <a:lnTo>
                  <a:pt x="1866721" y="1706460"/>
                </a:lnTo>
                <a:lnTo>
                  <a:pt x="1849595" y="1706460"/>
                </a:lnTo>
                <a:lnTo>
                  <a:pt x="1832469" y="1706460"/>
                </a:lnTo>
                <a:lnTo>
                  <a:pt x="1815343" y="1706460"/>
                </a:lnTo>
                <a:lnTo>
                  <a:pt x="1798218" y="1706460"/>
                </a:lnTo>
                <a:lnTo>
                  <a:pt x="1781092" y="1706460"/>
                </a:lnTo>
                <a:lnTo>
                  <a:pt x="1763966" y="1706460"/>
                </a:lnTo>
                <a:lnTo>
                  <a:pt x="1746840" y="1706460"/>
                </a:lnTo>
                <a:lnTo>
                  <a:pt x="1729714" y="1706460"/>
                </a:lnTo>
                <a:lnTo>
                  <a:pt x="1712588" y="1706460"/>
                </a:lnTo>
                <a:lnTo>
                  <a:pt x="1695462" y="1706460"/>
                </a:lnTo>
                <a:lnTo>
                  <a:pt x="1678336" y="1706460"/>
                </a:lnTo>
                <a:lnTo>
                  <a:pt x="1661210" y="1706460"/>
                </a:lnTo>
                <a:lnTo>
                  <a:pt x="1644085" y="1706460"/>
                </a:lnTo>
                <a:lnTo>
                  <a:pt x="1626959" y="1706460"/>
                </a:lnTo>
                <a:lnTo>
                  <a:pt x="1609833" y="1706460"/>
                </a:lnTo>
                <a:lnTo>
                  <a:pt x="1592707" y="1706460"/>
                </a:lnTo>
                <a:lnTo>
                  <a:pt x="1575581" y="1706460"/>
                </a:lnTo>
                <a:lnTo>
                  <a:pt x="1558455" y="1706460"/>
                </a:lnTo>
                <a:lnTo>
                  <a:pt x="1541329" y="1706460"/>
                </a:lnTo>
                <a:lnTo>
                  <a:pt x="1524203" y="1706460"/>
                </a:lnTo>
                <a:lnTo>
                  <a:pt x="1507077" y="1706460"/>
                </a:lnTo>
                <a:lnTo>
                  <a:pt x="1489952" y="1706460"/>
                </a:lnTo>
                <a:lnTo>
                  <a:pt x="1472826" y="1706460"/>
                </a:lnTo>
                <a:lnTo>
                  <a:pt x="1455700" y="1706460"/>
                </a:lnTo>
                <a:lnTo>
                  <a:pt x="1438574" y="1706460"/>
                </a:lnTo>
                <a:lnTo>
                  <a:pt x="1421448" y="1706460"/>
                </a:lnTo>
                <a:lnTo>
                  <a:pt x="1404322" y="1706460"/>
                </a:lnTo>
                <a:lnTo>
                  <a:pt x="1387196" y="1706460"/>
                </a:lnTo>
                <a:lnTo>
                  <a:pt x="1370070" y="1706460"/>
                </a:lnTo>
                <a:lnTo>
                  <a:pt x="1352945" y="1706460"/>
                </a:lnTo>
                <a:lnTo>
                  <a:pt x="1335819" y="1706460"/>
                </a:lnTo>
                <a:lnTo>
                  <a:pt x="1318693" y="1706460"/>
                </a:lnTo>
                <a:lnTo>
                  <a:pt x="1301567" y="1706460"/>
                </a:lnTo>
                <a:lnTo>
                  <a:pt x="1284441" y="1706460"/>
                </a:lnTo>
                <a:lnTo>
                  <a:pt x="1267315" y="1706460"/>
                </a:lnTo>
                <a:lnTo>
                  <a:pt x="1250189" y="1706460"/>
                </a:lnTo>
                <a:lnTo>
                  <a:pt x="1233063" y="1706460"/>
                </a:lnTo>
                <a:lnTo>
                  <a:pt x="1215937" y="1706460"/>
                </a:lnTo>
                <a:lnTo>
                  <a:pt x="1198812" y="1706460"/>
                </a:lnTo>
                <a:lnTo>
                  <a:pt x="1181686" y="1706460"/>
                </a:lnTo>
                <a:lnTo>
                  <a:pt x="1164560" y="1706460"/>
                </a:lnTo>
                <a:lnTo>
                  <a:pt x="1147434" y="1706460"/>
                </a:lnTo>
                <a:lnTo>
                  <a:pt x="1130308" y="1706460"/>
                </a:lnTo>
                <a:lnTo>
                  <a:pt x="1113182" y="1706460"/>
                </a:lnTo>
                <a:lnTo>
                  <a:pt x="1096056" y="1706460"/>
                </a:lnTo>
                <a:lnTo>
                  <a:pt x="1078930" y="1706460"/>
                </a:lnTo>
                <a:lnTo>
                  <a:pt x="1061804" y="1706460"/>
                </a:lnTo>
                <a:lnTo>
                  <a:pt x="1044679" y="1706460"/>
                </a:lnTo>
                <a:lnTo>
                  <a:pt x="1027553" y="1706460"/>
                </a:lnTo>
                <a:lnTo>
                  <a:pt x="1010427" y="1706460"/>
                </a:lnTo>
                <a:lnTo>
                  <a:pt x="993301" y="1706460"/>
                </a:lnTo>
                <a:lnTo>
                  <a:pt x="976175" y="1706460"/>
                </a:lnTo>
                <a:lnTo>
                  <a:pt x="959049" y="1706460"/>
                </a:lnTo>
                <a:lnTo>
                  <a:pt x="941923" y="1706460"/>
                </a:lnTo>
                <a:lnTo>
                  <a:pt x="924797" y="1706460"/>
                </a:lnTo>
                <a:lnTo>
                  <a:pt x="907671" y="1706460"/>
                </a:lnTo>
                <a:lnTo>
                  <a:pt x="890546" y="1706460"/>
                </a:lnTo>
                <a:lnTo>
                  <a:pt x="873420" y="1706460"/>
                </a:lnTo>
                <a:lnTo>
                  <a:pt x="856294" y="1706460"/>
                </a:lnTo>
                <a:lnTo>
                  <a:pt x="839168" y="1706460"/>
                </a:lnTo>
                <a:lnTo>
                  <a:pt x="822042" y="1706460"/>
                </a:lnTo>
                <a:lnTo>
                  <a:pt x="804916" y="1706460"/>
                </a:lnTo>
                <a:lnTo>
                  <a:pt x="787790" y="1706460"/>
                </a:lnTo>
                <a:lnTo>
                  <a:pt x="770664" y="1706460"/>
                </a:lnTo>
                <a:lnTo>
                  <a:pt x="753538" y="1706460"/>
                </a:lnTo>
                <a:lnTo>
                  <a:pt x="736413" y="1706460"/>
                </a:lnTo>
                <a:lnTo>
                  <a:pt x="719287" y="1706460"/>
                </a:lnTo>
                <a:lnTo>
                  <a:pt x="702161" y="1706460"/>
                </a:lnTo>
                <a:lnTo>
                  <a:pt x="685035" y="1706460"/>
                </a:lnTo>
                <a:lnTo>
                  <a:pt x="667909" y="1706460"/>
                </a:lnTo>
                <a:lnTo>
                  <a:pt x="650783" y="1706460"/>
                </a:lnTo>
                <a:lnTo>
                  <a:pt x="633657" y="1706460"/>
                </a:lnTo>
                <a:lnTo>
                  <a:pt x="616531" y="1706460"/>
                </a:lnTo>
                <a:lnTo>
                  <a:pt x="599406" y="1706460"/>
                </a:lnTo>
                <a:lnTo>
                  <a:pt x="582280" y="1706460"/>
                </a:lnTo>
                <a:lnTo>
                  <a:pt x="565154" y="1706460"/>
                </a:lnTo>
                <a:lnTo>
                  <a:pt x="548028" y="1706460"/>
                </a:lnTo>
                <a:lnTo>
                  <a:pt x="530902" y="1706460"/>
                </a:lnTo>
                <a:lnTo>
                  <a:pt x="513776" y="1706460"/>
                </a:lnTo>
                <a:lnTo>
                  <a:pt x="496650" y="1706460"/>
                </a:lnTo>
                <a:lnTo>
                  <a:pt x="479524" y="1706460"/>
                </a:lnTo>
                <a:lnTo>
                  <a:pt x="462398" y="1706460"/>
                </a:lnTo>
                <a:lnTo>
                  <a:pt x="445273" y="1706460"/>
                </a:lnTo>
                <a:lnTo>
                  <a:pt x="428147" y="1706460"/>
                </a:lnTo>
                <a:lnTo>
                  <a:pt x="411021" y="1706460"/>
                </a:lnTo>
                <a:lnTo>
                  <a:pt x="393895" y="1706460"/>
                </a:lnTo>
                <a:lnTo>
                  <a:pt x="376769" y="1706460"/>
                </a:lnTo>
                <a:lnTo>
                  <a:pt x="359643" y="1706460"/>
                </a:lnTo>
                <a:lnTo>
                  <a:pt x="342517" y="1706460"/>
                </a:lnTo>
                <a:lnTo>
                  <a:pt x="325391" y="1706460"/>
                </a:lnTo>
                <a:lnTo>
                  <a:pt x="308265" y="1706460"/>
                </a:lnTo>
                <a:lnTo>
                  <a:pt x="291140" y="1706460"/>
                </a:lnTo>
                <a:lnTo>
                  <a:pt x="274014" y="1706460"/>
                </a:lnTo>
                <a:lnTo>
                  <a:pt x="256888" y="1706460"/>
                </a:lnTo>
                <a:lnTo>
                  <a:pt x="239762" y="1706460"/>
                </a:lnTo>
                <a:lnTo>
                  <a:pt x="222636" y="1706460"/>
                </a:lnTo>
                <a:lnTo>
                  <a:pt x="205510" y="1706460"/>
                </a:lnTo>
                <a:lnTo>
                  <a:pt x="188384" y="1706460"/>
                </a:lnTo>
                <a:lnTo>
                  <a:pt x="171258" y="1706460"/>
                </a:lnTo>
                <a:lnTo>
                  <a:pt x="154132" y="1706460"/>
                </a:lnTo>
                <a:lnTo>
                  <a:pt x="137007" y="1706460"/>
                </a:lnTo>
                <a:lnTo>
                  <a:pt x="119881" y="1706460"/>
                </a:lnTo>
                <a:lnTo>
                  <a:pt x="102755" y="1706460"/>
                </a:lnTo>
                <a:lnTo>
                  <a:pt x="85629" y="1706460"/>
                </a:lnTo>
                <a:lnTo>
                  <a:pt x="68503" y="1706460"/>
                </a:lnTo>
                <a:lnTo>
                  <a:pt x="51377" y="1706460"/>
                </a:lnTo>
                <a:lnTo>
                  <a:pt x="34251" y="1706460"/>
                </a:lnTo>
                <a:lnTo>
                  <a:pt x="17125" y="1706460"/>
                </a:lnTo>
                <a:lnTo>
                  <a:pt x="0" y="1706460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02 polygon 31" descr="sci-ppt:o031"/>
          <p:cNvSpPr/>
          <p:nvPr/>
        </p:nvSpPr>
        <p:spPr>
          <a:xfrm>
            <a:off x="868680" y="3322740"/>
            <a:ext cx="5120640" cy="1706460"/>
          </a:xfrm>
          <a:custGeom>
            <a:avLst/>
            <a:gdLst/>
            <a:ahLst/>
            <a:cxnLst/>
            <a:rect l="l" t="t" r="r" b="b"/>
            <a:pathLst>
              <a:path w="5120640" h="1706460">
                <a:moveTo>
                  <a:pt x="0" y="1706460"/>
                </a:moveTo>
                <a:lnTo>
                  <a:pt x="34251" y="1616172"/>
                </a:lnTo>
                <a:lnTo>
                  <a:pt x="68503" y="1526163"/>
                </a:lnTo>
                <a:lnTo>
                  <a:pt x="102755" y="1436711"/>
                </a:lnTo>
                <a:lnTo>
                  <a:pt x="137007" y="1348090"/>
                </a:lnTo>
                <a:lnTo>
                  <a:pt x="171258" y="1260571"/>
                </a:lnTo>
                <a:lnTo>
                  <a:pt x="205510" y="1174418"/>
                </a:lnTo>
                <a:lnTo>
                  <a:pt x="239762" y="1089890"/>
                </a:lnTo>
                <a:lnTo>
                  <a:pt x="274014" y="1007235"/>
                </a:lnTo>
                <a:lnTo>
                  <a:pt x="308265" y="926695"/>
                </a:lnTo>
                <a:lnTo>
                  <a:pt x="342517" y="848498"/>
                </a:lnTo>
                <a:lnTo>
                  <a:pt x="376769" y="772862"/>
                </a:lnTo>
                <a:lnTo>
                  <a:pt x="411021" y="699992"/>
                </a:lnTo>
                <a:lnTo>
                  <a:pt x="445273" y="630079"/>
                </a:lnTo>
                <a:lnTo>
                  <a:pt x="479524" y="563301"/>
                </a:lnTo>
                <a:lnTo>
                  <a:pt x="513776" y="499818"/>
                </a:lnTo>
                <a:lnTo>
                  <a:pt x="548028" y="439777"/>
                </a:lnTo>
                <a:lnTo>
                  <a:pt x="582280" y="383308"/>
                </a:lnTo>
                <a:lnTo>
                  <a:pt x="616531" y="330523"/>
                </a:lnTo>
                <a:lnTo>
                  <a:pt x="650783" y="281518"/>
                </a:lnTo>
                <a:lnTo>
                  <a:pt x="685035" y="236371"/>
                </a:lnTo>
                <a:lnTo>
                  <a:pt x="719287" y="195145"/>
                </a:lnTo>
                <a:lnTo>
                  <a:pt x="753538" y="157882"/>
                </a:lnTo>
                <a:lnTo>
                  <a:pt x="787790" y="124611"/>
                </a:lnTo>
                <a:lnTo>
                  <a:pt x="822042" y="95342"/>
                </a:lnTo>
                <a:lnTo>
                  <a:pt x="856294" y="70067"/>
                </a:lnTo>
                <a:lnTo>
                  <a:pt x="890546" y="48765"/>
                </a:lnTo>
                <a:lnTo>
                  <a:pt x="924797" y="31397"/>
                </a:lnTo>
                <a:lnTo>
                  <a:pt x="959049" y="17911"/>
                </a:lnTo>
                <a:lnTo>
                  <a:pt x="993301" y="8238"/>
                </a:lnTo>
                <a:lnTo>
                  <a:pt x="1027553" y="2299"/>
                </a:lnTo>
                <a:lnTo>
                  <a:pt x="1061804" y="0"/>
                </a:lnTo>
                <a:lnTo>
                  <a:pt x="1096056" y="1234"/>
                </a:lnTo>
                <a:lnTo>
                  <a:pt x="1130308" y="5885"/>
                </a:lnTo>
                <a:lnTo>
                  <a:pt x="1164560" y="13826"/>
                </a:lnTo>
                <a:lnTo>
                  <a:pt x="1198812" y="24923"/>
                </a:lnTo>
                <a:lnTo>
                  <a:pt x="1233063" y="39030"/>
                </a:lnTo>
                <a:lnTo>
                  <a:pt x="1267315" y="55996"/>
                </a:lnTo>
                <a:lnTo>
                  <a:pt x="1301567" y="75666"/>
                </a:lnTo>
                <a:lnTo>
                  <a:pt x="1335819" y="97875"/>
                </a:lnTo>
                <a:lnTo>
                  <a:pt x="1370070" y="122460"/>
                </a:lnTo>
                <a:lnTo>
                  <a:pt x="1404322" y="149249"/>
                </a:lnTo>
                <a:lnTo>
                  <a:pt x="1438574" y="178073"/>
                </a:lnTo>
                <a:lnTo>
                  <a:pt x="1472826" y="208758"/>
                </a:lnTo>
                <a:lnTo>
                  <a:pt x="1507077" y="241132"/>
                </a:lnTo>
                <a:lnTo>
                  <a:pt x="1541329" y="275023"/>
                </a:lnTo>
                <a:lnTo>
                  <a:pt x="1575581" y="310261"/>
                </a:lnTo>
                <a:lnTo>
                  <a:pt x="1609833" y="346678"/>
                </a:lnTo>
                <a:lnTo>
                  <a:pt x="1644085" y="384108"/>
                </a:lnTo>
                <a:lnTo>
                  <a:pt x="1678336" y="422390"/>
                </a:lnTo>
                <a:lnTo>
                  <a:pt x="1712588" y="461368"/>
                </a:lnTo>
                <a:lnTo>
                  <a:pt x="1746840" y="500888"/>
                </a:lnTo>
                <a:lnTo>
                  <a:pt x="1781092" y="540806"/>
                </a:lnTo>
                <a:lnTo>
                  <a:pt x="1815343" y="580979"/>
                </a:lnTo>
                <a:lnTo>
                  <a:pt x="1849595" y="621274"/>
                </a:lnTo>
                <a:lnTo>
                  <a:pt x="1883847" y="661562"/>
                </a:lnTo>
                <a:lnTo>
                  <a:pt x="1918099" y="701724"/>
                </a:lnTo>
                <a:lnTo>
                  <a:pt x="1952351" y="741645"/>
                </a:lnTo>
                <a:lnTo>
                  <a:pt x="1986602" y="781220"/>
                </a:lnTo>
                <a:lnTo>
                  <a:pt x="2020854" y="820349"/>
                </a:lnTo>
                <a:lnTo>
                  <a:pt x="2055106" y="858941"/>
                </a:lnTo>
                <a:lnTo>
                  <a:pt x="2089358" y="896913"/>
                </a:lnTo>
                <a:lnTo>
                  <a:pt x="2123609" y="934187"/>
                </a:lnTo>
                <a:lnTo>
                  <a:pt x="2157861" y="970696"/>
                </a:lnTo>
                <a:lnTo>
                  <a:pt x="2192113" y="1006377"/>
                </a:lnTo>
                <a:lnTo>
                  <a:pt x="2226365" y="1041177"/>
                </a:lnTo>
                <a:lnTo>
                  <a:pt x="2260616" y="1075048"/>
                </a:lnTo>
                <a:lnTo>
                  <a:pt x="2294868" y="1107950"/>
                </a:lnTo>
                <a:lnTo>
                  <a:pt x="2329120" y="1139847"/>
                </a:lnTo>
                <a:lnTo>
                  <a:pt x="2363372" y="1170714"/>
                </a:lnTo>
                <a:lnTo>
                  <a:pt x="2397624" y="1200527"/>
                </a:lnTo>
                <a:lnTo>
                  <a:pt x="2431875" y="1229271"/>
                </a:lnTo>
                <a:lnTo>
                  <a:pt x="2466127" y="1256934"/>
                </a:lnTo>
                <a:lnTo>
                  <a:pt x="2500379" y="1283512"/>
                </a:lnTo>
                <a:lnTo>
                  <a:pt x="2534631" y="1309003"/>
                </a:lnTo>
                <a:lnTo>
                  <a:pt x="2568882" y="1333411"/>
                </a:lnTo>
                <a:lnTo>
                  <a:pt x="2603134" y="1356742"/>
                </a:lnTo>
                <a:lnTo>
                  <a:pt x="2637386" y="1379009"/>
                </a:lnTo>
                <a:lnTo>
                  <a:pt x="2671638" y="1400226"/>
                </a:lnTo>
                <a:lnTo>
                  <a:pt x="2705890" y="1420410"/>
                </a:lnTo>
                <a:lnTo>
                  <a:pt x="2740141" y="1439582"/>
                </a:lnTo>
                <a:lnTo>
                  <a:pt x="2774393" y="1457764"/>
                </a:lnTo>
                <a:lnTo>
                  <a:pt x="2808645" y="1474982"/>
                </a:lnTo>
                <a:lnTo>
                  <a:pt x="2842897" y="1491262"/>
                </a:lnTo>
                <a:lnTo>
                  <a:pt x="2877148" y="1506631"/>
                </a:lnTo>
                <a:lnTo>
                  <a:pt x="2911400" y="1521121"/>
                </a:lnTo>
                <a:lnTo>
                  <a:pt x="2945652" y="1534761"/>
                </a:lnTo>
                <a:lnTo>
                  <a:pt x="2979904" y="1547582"/>
                </a:lnTo>
                <a:lnTo>
                  <a:pt x="3014155" y="1559617"/>
                </a:lnTo>
                <a:lnTo>
                  <a:pt x="3048407" y="1570897"/>
                </a:lnTo>
                <a:lnTo>
                  <a:pt x="3082659" y="1581456"/>
                </a:lnTo>
                <a:lnTo>
                  <a:pt x="3116911" y="1591325"/>
                </a:lnTo>
                <a:lnTo>
                  <a:pt x="3151163" y="1600538"/>
                </a:lnTo>
                <a:lnTo>
                  <a:pt x="3185414" y="1609124"/>
                </a:lnTo>
                <a:lnTo>
                  <a:pt x="3219666" y="1617118"/>
                </a:lnTo>
                <a:lnTo>
                  <a:pt x="3253918" y="1624548"/>
                </a:lnTo>
                <a:lnTo>
                  <a:pt x="3288170" y="1631447"/>
                </a:lnTo>
                <a:lnTo>
                  <a:pt x="3322421" y="1637842"/>
                </a:lnTo>
                <a:lnTo>
                  <a:pt x="3356673" y="1643764"/>
                </a:lnTo>
                <a:lnTo>
                  <a:pt x="3390925" y="1649240"/>
                </a:lnTo>
                <a:lnTo>
                  <a:pt x="3425177" y="1654296"/>
                </a:lnTo>
                <a:lnTo>
                  <a:pt x="3459429" y="1658959"/>
                </a:lnTo>
                <a:lnTo>
                  <a:pt x="3493680" y="1663255"/>
                </a:lnTo>
                <a:lnTo>
                  <a:pt x="3527932" y="1667206"/>
                </a:lnTo>
                <a:lnTo>
                  <a:pt x="3562184" y="1670836"/>
                </a:lnTo>
                <a:lnTo>
                  <a:pt x="3596436" y="1674166"/>
                </a:lnTo>
                <a:lnTo>
                  <a:pt x="3630687" y="1677218"/>
                </a:lnTo>
                <a:lnTo>
                  <a:pt x="3664939" y="1680011"/>
                </a:lnTo>
                <a:lnTo>
                  <a:pt x="3699191" y="1682565"/>
                </a:lnTo>
                <a:lnTo>
                  <a:pt x="3733443" y="1684895"/>
                </a:lnTo>
                <a:lnTo>
                  <a:pt x="3767694" y="1687020"/>
                </a:lnTo>
                <a:lnTo>
                  <a:pt x="3801946" y="1688956"/>
                </a:lnTo>
                <a:lnTo>
                  <a:pt x="3836198" y="1690716"/>
                </a:lnTo>
                <a:lnTo>
                  <a:pt x="3870450" y="1692314"/>
                </a:lnTo>
                <a:lnTo>
                  <a:pt x="3904702" y="1693765"/>
                </a:lnTo>
                <a:lnTo>
                  <a:pt x="3938953" y="1695079"/>
                </a:lnTo>
                <a:lnTo>
                  <a:pt x="3973205" y="1696269"/>
                </a:lnTo>
                <a:lnTo>
                  <a:pt x="4007457" y="1697344"/>
                </a:lnTo>
                <a:lnTo>
                  <a:pt x="4041709" y="1698315"/>
                </a:lnTo>
                <a:lnTo>
                  <a:pt x="4075960" y="1699190"/>
                </a:lnTo>
                <a:lnTo>
                  <a:pt x="4110212" y="1699979"/>
                </a:lnTo>
                <a:lnTo>
                  <a:pt x="4144464" y="1700688"/>
                </a:lnTo>
                <a:lnTo>
                  <a:pt x="4178716" y="1701326"/>
                </a:lnTo>
                <a:lnTo>
                  <a:pt x="4212968" y="1701898"/>
                </a:lnTo>
                <a:lnTo>
                  <a:pt x="4247219" y="1702410"/>
                </a:lnTo>
                <a:lnTo>
                  <a:pt x="4281471" y="1702869"/>
                </a:lnTo>
                <a:lnTo>
                  <a:pt x="4315723" y="1703280"/>
                </a:lnTo>
                <a:lnTo>
                  <a:pt x="4349975" y="1703646"/>
                </a:lnTo>
                <a:lnTo>
                  <a:pt x="4384226" y="1703973"/>
                </a:lnTo>
                <a:lnTo>
                  <a:pt x="4418478" y="1704265"/>
                </a:lnTo>
                <a:lnTo>
                  <a:pt x="4452730" y="1704524"/>
                </a:lnTo>
                <a:lnTo>
                  <a:pt x="4486982" y="1704755"/>
                </a:lnTo>
                <a:lnTo>
                  <a:pt x="4521233" y="1704960"/>
                </a:lnTo>
                <a:lnTo>
                  <a:pt x="4555485" y="1705141"/>
                </a:lnTo>
                <a:lnTo>
                  <a:pt x="4589737" y="1705302"/>
                </a:lnTo>
                <a:lnTo>
                  <a:pt x="4623989" y="1705444"/>
                </a:lnTo>
                <a:lnTo>
                  <a:pt x="4658241" y="1705570"/>
                </a:lnTo>
                <a:lnTo>
                  <a:pt x="4692492" y="1705681"/>
                </a:lnTo>
                <a:lnTo>
                  <a:pt x="4726744" y="1705779"/>
                </a:lnTo>
                <a:lnTo>
                  <a:pt x="4760996" y="1705865"/>
                </a:lnTo>
                <a:lnTo>
                  <a:pt x="4795248" y="1705941"/>
                </a:lnTo>
                <a:lnTo>
                  <a:pt x="4829499" y="1706008"/>
                </a:lnTo>
                <a:lnTo>
                  <a:pt x="4863751" y="1706066"/>
                </a:lnTo>
                <a:lnTo>
                  <a:pt x="4898003" y="1706118"/>
                </a:lnTo>
                <a:lnTo>
                  <a:pt x="4932255" y="1706163"/>
                </a:lnTo>
                <a:lnTo>
                  <a:pt x="4966507" y="1706202"/>
                </a:lnTo>
                <a:lnTo>
                  <a:pt x="5000758" y="1706236"/>
                </a:lnTo>
                <a:lnTo>
                  <a:pt x="5035010" y="1706266"/>
                </a:lnTo>
                <a:lnTo>
                  <a:pt x="5069262" y="1706292"/>
                </a:lnTo>
                <a:lnTo>
                  <a:pt x="5103514" y="1706315"/>
                </a:lnTo>
                <a:lnTo>
                  <a:pt x="5120640" y="170632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2-E02 line 32" descr="sci-ppt:o032"/>
          <p:cNvCxnSpPr/>
          <p:nvPr/>
        </p:nvCxnSpPr>
        <p:spPr>
          <a:xfrm>
            <a:off x="1935480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5" name="C2-E02 text 33" descr="sci-ppt:o033"/>
          <p:cNvSpPr txBox="1"/>
          <p:nvPr/>
        </p:nvSpPr>
        <p:spPr>
          <a:xfrm>
            <a:off x="2045208" y="1607233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peak ring at r = w/2</a:t>
            </a:r>
          </a:p>
        </p:txBody>
      </p:sp>
      <p:sp>
        <p:nvSpPr>
          <p:cNvPr id="36" name="C2-E02 text 34" descr="sci-ppt:o034"/>
          <p:cNvSpPr txBox="1"/>
          <p:nvPr/>
        </p:nvSpPr>
        <p:spPr>
          <a:xfrm>
            <a:off x="3288792" y="3249636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area under the curve = E_L</a:t>
            </a:r>
          </a:p>
        </p:txBody>
      </p:sp>
      <p:cxnSp>
        <p:nvCxnSpPr>
          <p:cNvPr id="37" name="C2-E02 line 35" descr="sci-ppt:o035"/>
          <p:cNvCxnSpPr/>
          <p:nvPr/>
        </p:nvCxnSpPr>
        <p:spPr>
          <a:xfrm>
            <a:off x="6675120" y="5029200"/>
            <a:ext cx="512063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8" name="C2-E02 line 36" descr="sci-ppt:o036"/>
          <p:cNvCxnSpPr/>
          <p:nvPr/>
        </p:nvCxnSpPr>
        <p:spPr>
          <a:xfrm>
            <a:off x="667512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9" name="C2-E02 line 37" descr="sci-ppt:o037"/>
          <p:cNvCxnSpPr/>
          <p:nvPr/>
        </p:nvCxnSpPr>
        <p:spPr>
          <a:xfrm>
            <a:off x="6675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2 line 38" descr="sci-ppt:o038"/>
          <p:cNvCxnSpPr/>
          <p:nvPr/>
        </p:nvCxnSpPr>
        <p:spPr>
          <a:xfrm>
            <a:off x="66751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2 text 39" descr="sci-ppt:o039"/>
          <p:cNvSpPr txBox="1"/>
          <p:nvPr/>
        </p:nvSpPr>
        <p:spPr>
          <a:xfrm>
            <a:off x="6217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42" name="C2-E02 line 40" descr="sci-ppt:o040"/>
          <p:cNvCxnSpPr/>
          <p:nvPr/>
        </p:nvCxnSpPr>
        <p:spPr>
          <a:xfrm>
            <a:off x="774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2 line 41" descr="sci-ppt:o041"/>
          <p:cNvCxnSpPr/>
          <p:nvPr/>
        </p:nvCxnSpPr>
        <p:spPr>
          <a:xfrm>
            <a:off x="774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2 text 42" descr="sci-ppt:o042"/>
          <p:cNvSpPr txBox="1"/>
          <p:nvPr/>
        </p:nvSpPr>
        <p:spPr>
          <a:xfrm>
            <a:off x="728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45" name="C2-E02 line 43" descr="sci-ppt:o043"/>
          <p:cNvCxnSpPr/>
          <p:nvPr/>
        </p:nvCxnSpPr>
        <p:spPr>
          <a:xfrm>
            <a:off x="8808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2 line 44" descr="sci-ppt:o044"/>
          <p:cNvCxnSpPr/>
          <p:nvPr/>
        </p:nvCxnSpPr>
        <p:spPr>
          <a:xfrm>
            <a:off x="88087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2 text 45" descr="sci-ppt:o045"/>
          <p:cNvSpPr txBox="1"/>
          <p:nvPr/>
        </p:nvSpPr>
        <p:spPr>
          <a:xfrm>
            <a:off x="8351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48" name="C2-E02 line 46" descr="sci-ppt:o046"/>
          <p:cNvCxnSpPr/>
          <p:nvPr/>
        </p:nvCxnSpPr>
        <p:spPr>
          <a:xfrm>
            <a:off x="9875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02 line 47" descr="sci-ppt:o047"/>
          <p:cNvCxnSpPr/>
          <p:nvPr/>
        </p:nvCxnSpPr>
        <p:spPr>
          <a:xfrm>
            <a:off x="9875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2-E02 text 48" descr="sci-ppt:o048"/>
          <p:cNvSpPr txBox="1"/>
          <p:nvPr/>
        </p:nvSpPr>
        <p:spPr>
          <a:xfrm>
            <a:off x="9418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51" name="C2-E02 line 49" descr="sci-ppt:o049"/>
          <p:cNvCxnSpPr/>
          <p:nvPr/>
        </p:nvCxnSpPr>
        <p:spPr>
          <a:xfrm>
            <a:off x="10942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2-E02 line 50" descr="sci-ppt:o050"/>
          <p:cNvCxnSpPr/>
          <p:nvPr/>
        </p:nvCxnSpPr>
        <p:spPr>
          <a:xfrm>
            <a:off x="10942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2-E02 text 51" descr="sci-ppt:o051"/>
          <p:cNvSpPr txBox="1"/>
          <p:nvPr/>
        </p:nvSpPr>
        <p:spPr>
          <a:xfrm>
            <a:off x="10485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54" name="C2-E02 line 52" descr="sci-ppt:o052"/>
          <p:cNvCxnSpPr/>
          <p:nvPr/>
        </p:nvCxnSpPr>
        <p:spPr>
          <a:xfrm>
            <a:off x="66111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5" name="C2-E02 line 53" descr="sci-ppt:o053"/>
          <p:cNvCxnSpPr/>
          <p:nvPr/>
        </p:nvCxnSpPr>
        <p:spPr>
          <a:xfrm>
            <a:off x="661111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2-E02 line 54" descr="sci-ppt:o054"/>
          <p:cNvCxnSpPr/>
          <p:nvPr/>
        </p:nvCxnSpPr>
        <p:spPr>
          <a:xfrm>
            <a:off x="6675120" y="4158342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2-E02 text 55" descr="sci-ppt:o055"/>
          <p:cNvSpPr txBox="1"/>
          <p:nvPr/>
        </p:nvSpPr>
        <p:spPr>
          <a:xfrm>
            <a:off x="580644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58" name="C2-E02 line 56" descr="sci-ppt:o056"/>
          <p:cNvCxnSpPr/>
          <p:nvPr/>
        </p:nvCxnSpPr>
        <p:spPr>
          <a:xfrm>
            <a:off x="661111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9" name="C2-E02 line 57" descr="sci-ppt:o057"/>
          <p:cNvCxnSpPr/>
          <p:nvPr/>
        </p:nvCxnSpPr>
        <p:spPr>
          <a:xfrm>
            <a:off x="6675120" y="3287485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0" name="C2-E02 text 58" descr="sci-ppt:o058"/>
          <p:cNvSpPr txBox="1"/>
          <p:nvPr/>
        </p:nvSpPr>
        <p:spPr>
          <a:xfrm>
            <a:off x="580644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61" name="C2-E02 line 59" descr="sci-ppt:o059"/>
          <p:cNvCxnSpPr/>
          <p:nvPr/>
        </p:nvCxnSpPr>
        <p:spPr>
          <a:xfrm>
            <a:off x="661111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2" name="C2-E02 line 60" descr="sci-ppt:o060"/>
          <p:cNvCxnSpPr/>
          <p:nvPr/>
        </p:nvCxnSpPr>
        <p:spPr>
          <a:xfrm>
            <a:off x="6675120" y="2416628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3" name="C2-E02 text 61" descr="sci-ppt:o061"/>
          <p:cNvSpPr txBox="1"/>
          <p:nvPr/>
        </p:nvSpPr>
        <p:spPr>
          <a:xfrm>
            <a:off x="580644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64" name="C2-E02 line 62" descr="sci-ppt:o062"/>
          <p:cNvCxnSpPr/>
          <p:nvPr/>
        </p:nvCxnSpPr>
        <p:spPr>
          <a:xfrm>
            <a:off x="661111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5" name="C2-E02 line 63" descr="sci-ppt:o063"/>
          <p:cNvCxnSpPr/>
          <p:nvPr/>
        </p:nvCxnSpPr>
        <p:spPr>
          <a:xfrm>
            <a:off x="6675120" y="1545771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6" name="C2-E02 text 64" descr="sci-ppt:o064"/>
          <p:cNvSpPr txBox="1"/>
          <p:nvPr/>
        </p:nvSpPr>
        <p:spPr>
          <a:xfrm>
            <a:off x="580644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67" name="C2-E02 text 65" descr="sci-ppt:o065"/>
          <p:cNvSpPr txBox="1"/>
          <p:nvPr/>
        </p:nvSpPr>
        <p:spPr>
          <a:xfrm>
            <a:off x="6675120" y="531266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w</a:t>
            </a:r>
          </a:p>
        </p:txBody>
      </p:sp>
      <p:sp>
        <p:nvSpPr>
          <p:cNvPr id="68" name="C2-E02 text 66" descr="sci-ppt:o066"/>
          <p:cNvSpPr txBox="1"/>
          <p:nvPr/>
        </p:nvSpPr>
        <p:spPr>
          <a:xfrm>
            <a:off x="612648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inside r  /  E_L</a:t>
            </a:r>
          </a:p>
        </p:txBody>
      </p:sp>
      <p:sp>
        <p:nvSpPr>
          <p:cNvPr id="69" name="C2-E02 polygon 67" descr="sci-ppt:o067"/>
          <p:cNvSpPr/>
          <p:nvPr/>
        </p:nvSpPr>
        <p:spPr>
          <a:xfrm>
            <a:off x="6675120" y="1545806"/>
            <a:ext cx="5120639" cy="3483394"/>
          </a:xfrm>
          <a:custGeom>
            <a:avLst/>
            <a:gdLst/>
            <a:ahLst/>
            <a:cxnLst/>
            <a:rect l="l" t="t" r="r" b="b"/>
            <a:pathLst>
              <a:path w="5120639" h="3483394">
                <a:moveTo>
                  <a:pt x="0" y="3483394"/>
                </a:moveTo>
                <a:lnTo>
                  <a:pt x="34251" y="3481598"/>
                </a:lnTo>
                <a:lnTo>
                  <a:pt x="68503" y="3476219"/>
                </a:lnTo>
                <a:lnTo>
                  <a:pt x="102755" y="3467272"/>
                </a:lnTo>
                <a:lnTo>
                  <a:pt x="137007" y="3454784"/>
                </a:lnTo>
                <a:lnTo>
                  <a:pt x="171258" y="3438795"/>
                </a:lnTo>
                <a:lnTo>
                  <a:pt x="205510" y="3419353"/>
                </a:lnTo>
                <a:lnTo>
                  <a:pt x="239762" y="3396517"/>
                </a:lnTo>
                <a:lnTo>
                  <a:pt x="274014" y="3370358"/>
                </a:lnTo>
                <a:lnTo>
                  <a:pt x="308265" y="3340955"/>
                </a:lnTo>
                <a:lnTo>
                  <a:pt x="342517" y="3308396"/>
                </a:lnTo>
                <a:lnTo>
                  <a:pt x="376769" y="3272778"/>
                </a:lnTo>
                <a:lnTo>
                  <a:pt x="411021" y="3234208"/>
                </a:lnTo>
                <a:lnTo>
                  <a:pt x="445273" y="3192800"/>
                </a:lnTo>
                <a:lnTo>
                  <a:pt x="479524" y="3148674"/>
                </a:lnTo>
                <a:lnTo>
                  <a:pt x="513776" y="3101959"/>
                </a:lnTo>
                <a:lnTo>
                  <a:pt x="548028" y="3052788"/>
                </a:lnTo>
                <a:lnTo>
                  <a:pt x="582280" y="3001301"/>
                </a:lnTo>
                <a:lnTo>
                  <a:pt x="616531" y="2947642"/>
                </a:lnTo>
                <a:lnTo>
                  <a:pt x="650783" y="2891960"/>
                </a:lnTo>
                <a:lnTo>
                  <a:pt x="685035" y="2834406"/>
                </a:lnTo>
                <a:lnTo>
                  <a:pt x="719287" y="2775135"/>
                </a:lnTo>
                <a:lnTo>
                  <a:pt x="753538" y="2714305"/>
                </a:lnTo>
                <a:lnTo>
                  <a:pt x="787790" y="2652072"/>
                </a:lnTo>
                <a:lnTo>
                  <a:pt x="822042" y="2588596"/>
                </a:lnTo>
                <a:lnTo>
                  <a:pt x="856294" y="2524036"/>
                </a:lnTo>
                <a:lnTo>
                  <a:pt x="890546" y="2458550"/>
                </a:lnTo>
                <a:lnTo>
                  <a:pt x="924797" y="2392296"/>
                </a:lnTo>
                <a:lnTo>
                  <a:pt x="959049" y="2325429"/>
                </a:lnTo>
                <a:lnTo>
                  <a:pt x="993301" y="2258102"/>
                </a:lnTo>
                <a:lnTo>
                  <a:pt x="1027553" y="2190464"/>
                </a:lnTo>
                <a:lnTo>
                  <a:pt x="1061804" y="2122664"/>
                </a:lnTo>
                <a:lnTo>
                  <a:pt x="1096056" y="2054842"/>
                </a:lnTo>
                <a:lnTo>
                  <a:pt x="1130308" y="1987138"/>
                </a:lnTo>
                <a:lnTo>
                  <a:pt x="1164560" y="1919685"/>
                </a:lnTo>
                <a:lnTo>
                  <a:pt x="1198812" y="1852611"/>
                </a:lnTo>
                <a:lnTo>
                  <a:pt x="1233063" y="1786038"/>
                </a:lnTo>
                <a:lnTo>
                  <a:pt x="1267315" y="1720083"/>
                </a:lnTo>
                <a:lnTo>
                  <a:pt x="1301567" y="1654856"/>
                </a:lnTo>
                <a:lnTo>
                  <a:pt x="1335819" y="1590463"/>
                </a:lnTo>
                <a:lnTo>
                  <a:pt x="1370070" y="1527000"/>
                </a:lnTo>
                <a:lnTo>
                  <a:pt x="1404322" y="1464559"/>
                </a:lnTo>
                <a:lnTo>
                  <a:pt x="1438574" y="1403224"/>
                </a:lnTo>
                <a:lnTo>
                  <a:pt x="1472826" y="1343073"/>
                </a:lnTo>
                <a:lnTo>
                  <a:pt x="1507077" y="1284175"/>
                </a:lnTo>
                <a:lnTo>
                  <a:pt x="1541329" y="1226595"/>
                </a:lnTo>
                <a:lnTo>
                  <a:pt x="1575581" y="1170389"/>
                </a:lnTo>
                <a:lnTo>
                  <a:pt x="1609833" y="1115608"/>
                </a:lnTo>
                <a:lnTo>
                  <a:pt x="1644085" y="1062296"/>
                </a:lnTo>
                <a:lnTo>
                  <a:pt x="1678336" y="1010488"/>
                </a:lnTo>
                <a:lnTo>
                  <a:pt x="1712588" y="960217"/>
                </a:lnTo>
                <a:lnTo>
                  <a:pt x="1746840" y="911507"/>
                </a:lnTo>
                <a:lnTo>
                  <a:pt x="1781092" y="864376"/>
                </a:lnTo>
                <a:lnTo>
                  <a:pt x="1815343" y="818837"/>
                </a:lnTo>
                <a:lnTo>
                  <a:pt x="1849595" y="774898"/>
                </a:lnTo>
                <a:lnTo>
                  <a:pt x="1883847" y="732561"/>
                </a:lnTo>
                <a:lnTo>
                  <a:pt x="1918099" y="691824"/>
                </a:lnTo>
                <a:lnTo>
                  <a:pt x="1952351" y="652679"/>
                </a:lnTo>
                <a:lnTo>
                  <a:pt x="1986602" y="615114"/>
                </a:lnTo>
                <a:lnTo>
                  <a:pt x="2020854" y="579113"/>
                </a:lnTo>
                <a:lnTo>
                  <a:pt x="2055106" y="544658"/>
                </a:lnTo>
                <a:lnTo>
                  <a:pt x="2089358" y="511725"/>
                </a:lnTo>
                <a:lnTo>
                  <a:pt x="2123609" y="480287"/>
                </a:lnTo>
                <a:lnTo>
                  <a:pt x="2157861" y="450317"/>
                </a:lnTo>
                <a:lnTo>
                  <a:pt x="2192113" y="421781"/>
                </a:lnTo>
                <a:lnTo>
                  <a:pt x="2226365" y="394646"/>
                </a:lnTo>
                <a:lnTo>
                  <a:pt x="2260616" y="368877"/>
                </a:lnTo>
                <a:lnTo>
                  <a:pt x="2294868" y="344434"/>
                </a:lnTo>
                <a:lnTo>
                  <a:pt x="2329120" y="321280"/>
                </a:lnTo>
                <a:lnTo>
                  <a:pt x="2363372" y="299373"/>
                </a:lnTo>
                <a:lnTo>
                  <a:pt x="2397624" y="278672"/>
                </a:lnTo>
                <a:lnTo>
                  <a:pt x="2431875" y="259136"/>
                </a:lnTo>
                <a:lnTo>
                  <a:pt x="2466127" y="240720"/>
                </a:lnTo>
                <a:lnTo>
                  <a:pt x="2500379" y="223383"/>
                </a:lnTo>
                <a:lnTo>
                  <a:pt x="2534631" y="207080"/>
                </a:lnTo>
                <a:lnTo>
                  <a:pt x="2568882" y="191769"/>
                </a:lnTo>
                <a:lnTo>
                  <a:pt x="2603134" y="177407"/>
                </a:lnTo>
                <a:lnTo>
                  <a:pt x="2637386" y="163952"/>
                </a:lnTo>
                <a:lnTo>
                  <a:pt x="2671638" y="151360"/>
                </a:lnTo>
                <a:lnTo>
                  <a:pt x="2705890" y="139591"/>
                </a:lnTo>
                <a:lnTo>
                  <a:pt x="2740141" y="128605"/>
                </a:lnTo>
                <a:lnTo>
                  <a:pt x="2774393" y="118361"/>
                </a:lnTo>
                <a:lnTo>
                  <a:pt x="2808645" y="108820"/>
                </a:lnTo>
                <a:lnTo>
                  <a:pt x="2842897" y="99945"/>
                </a:lnTo>
                <a:lnTo>
                  <a:pt x="2877148" y="91699"/>
                </a:lnTo>
                <a:lnTo>
                  <a:pt x="2911400" y="84046"/>
                </a:lnTo>
                <a:lnTo>
                  <a:pt x="2945652" y="76953"/>
                </a:lnTo>
                <a:lnTo>
                  <a:pt x="2979904" y="70385"/>
                </a:lnTo>
                <a:lnTo>
                  <a:pt x="3014155" y="64311"/>
                </a:lnTo>
                <a:lnTo>
                  <a:pt x="3048407" y="58701"/>
                </a:lnTo>
                <a:lnTo>
                  <a:pt x="3082659" y="53524"/>
                </a:lnTo>
                <a:lnTo>
                  <a:pt x="3116911" y="48753"/>
                </a:lnTo>
                <a:lnTo>
                  <a:pt x="3151163" y="44362"/>
                </a:lnTo>
                <a:lnTo>
                  <a:pt x="3185414" y="40324"/>
                </a:lnTo>
                <a:lnTo>
                  <a:pt x="3219666" y="36615"/>
                </a:lnTo>
                <a:lnTo>
                  <a:pt x="3253918" y="33214"/>
                </a:lnTo>
                <a:lnTo>
                  <a:pt x="3288170" y="30096"/>
                </a:lnTo>
                <a:lnTo>
                  <a:pt x="3322421" y="27243"/>
                </a:lnTo>
                <a:lnTo>
                  <a:pt x="3356673" y="24635"/>
                </a:lnTo>
                <a:lnTo>
                  <a:pt x="3390925" y="22253"/>
                </a:lnTo>
                <a:lnTo>
                  <a:pt x="3425177" y="20080"/>
                </a:lnTo>
                <a:lnTo>
                  <a:pt x="3459429" y="18100"/>
                </a:lnTo>
                <a:lnTo>
                  <a:pt x="3493680" y="16299"/>
                </a:lnTo>
                <a:lnTo>
                  <a:pt x="3527932" y="14661"/>
                </a:lnTo>
                <a:lnTo>
                  <a:pt x="3562184" y="13174"/>
                </a:lnTo>
                <a:lnTo>
                  <a:pt x="3596436" y="11825"/>
                </a:lnTo>
                <a:lnTo>
                  <a:pt x="3630687" y="10603"/>
                </a:lnTo>
                <a:lnTo>
                  <a:pt x="3664939" y="9496"/>
                </a:lnTo>
                <a:lnTo>
                  <a:pt x="3699191" y="8497"/>
                </a:lnTo>
                <a:lnTo>
                  <a:pt x="3733443" y="7594"/>
                </a:lnTo>
                <a:lnTo>
                  <a:pt x="3767694" y="6780"/>
                </a:lnTo>
                <a:lnTo>
                  <a:pt x="3801946" y="6046"/>
                </a:lnTo>
                <a:lnTo>
                  <a:pt x="3836198" y="5386"/>
                </a:lnTo>
                <a:lnTo>
                  <a:pt x="3870450" y="4792"/>
                </a:lnTo>
                <a:lnTo>
                  <a:pt x="3904702" y="4259"/>
                </a:lnTo>
                <a:lnTo>
                  <a:pt x="3938953" y="3781"/>
                </a:lnTo>
                <a:lnTo>
                  <a:pt x="3973205" y="3353"/>
                </a:lnTo>
                <a:lnTo>
                  <a:pt x="4007457" y="2969"/>
                </a:lnTo>
                <a:lnTo>
                  <a:pt x="4041709" y="2627"/>
                </a:lnTo>
                <a:lnTo>
                  <a:pt x="4075960" y="2320"/>
                </a:lnTo>
                <a:lnTo>
                  <a:pt x="4110212" y="2047"/>
                </a:lnTo>
                <a:lnTo>
                  <a:pt x="4144464" y="1804"/>
                </a:lnTo>
                <a:lnTo>
                  <a:pt x="4178716" y="1588"/>
                </a:lnTo>
                <a:lnTo>
                  <a:pt x="4212968" y="1395"/>
                </a:lnTo>
                <a:lnTo>
                  <a:pt x="4247219" y="1224"/>
                </a:lnTo>
                <a:lnTo>
                  <a:pt x="4281471" y="1073"/>
                </a:lnTo>
                <a:lnTo>
                  <a:pt x="4315723" y="938"/>
                </a:lnTo>
                <a:lnTo>
                  <a:pt x="4349975" y="819"/>
                </a:lnTo>
                <a:lnTo>
                  <a:pt x="4384226" y="714"/>
                </a:lnTo>
                <a:lnTo>
                  <a:pt x="4418478" y="621"/>
                </a:lnTo>
                <a:lnTo>
                  <a:pt x="4452730" y="539"/>
                </a:lnTo>
                <a:lnTo>
                  <a:pt x="4486982" y="467"/>
                </a:lnTo>
                <a:lnTo>
                  <a:pt x="4521233" y="403"/>
                </a:lnTo>
                <a:lnTo>
                  <a:pt x="4555485" y="347"/>
                </a:lnTo>
                <a:lnTo>
                  <a:pt x="4589737" y="298"/>
                </a:lnTo>
                <a:lnTo>
                  <a:pt x="4623989" y="255"/>
                </a:lnTo>
                <a:lnTo>
                  <a:pt x="4658241" y="217"/>
                </a:lnTo>
                <a:lnTo>
                  <a:pt x="4692492" y="184"/>
                </a:lnTo>
                <a:lnTo>
                  <a:pt x="4726744" y="155"/>
                </a:lnTo>
                <a:lnTo>
                  <a:pt x="4760996" y="130"/>
                </a:lnTo>
                <a:lnTo>
                  <a:pt x="4795248" y="108"/>
                </a:lnTo>
                <a:lnTo>
                  <a:pt x="4829499" y="88"/>
                </a:lnTo>
                <a:lnTo>
                  <a:pt x="4863751" y="72"/>
                </a:lnTo>
                <a:lnTo>
                  <a:pt x="4898003" y="57"/>
                </a:lnTo>
                <a:lnTo>
                  <a:pt x="4932255" y="44"/>
                </a:lnTo>
                <a:lnTo>
                  <a:pt x="4966507" y="33"/>
                </a:lnTo>
                <a:lnTo>
                  <a:pt x="5000758" y="24"/>
                </a:lnTo>
                <a:lnTo>
                  <a:pt x="5035010" y="16"/>
                </a:lnTo>
                <a:lnTo>
                  <a:pt x="5069262" y="8"/>
                </a:lnTo>
                <a:lnTo>
                  <a:pt x="5103514" y="2"/>
                </a:lnTo>
                <a:lnTo>
                  <a:pt x="5120639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2-E02 ellipse 68" descr="sci-ppt:o068"/>
          <p:cNvSpPr/>
          <p:nvPr/>
        </p:nvSpPr>
        <p:spPr>
          <a:xfrm>
            <a:off x="7668768" y="3585425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C2-E02 text 69" descr="sci-ppt:o069"/>
          <p:cNvSpPr txBox="1"/>
          <p:nvPr/>
        </p:nvSpPr>
        <p:spPr>
          <a:xfrm>
            <a:off x="7851647" y="3704297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39 % inside w/2</a:t>
            </a:r>
          </a:p>
        </p:txBody>
      </p:sp>
      <p:sp>
        <p:nvSpPr>
          <p:cNvPr id="72" name="C2-E02 ellipse 70" descr="sci-ppt:o070"/>
          <p:cNvSpPr/>
          <p:nvPr/>
        </p:nvSpPr>
        <p:spPr>
          <a:xfrm>
            <a:off x="8735568" y="1944050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C2-E02 text 71" descr="sci-ppt:o071"/>
          <p:cNvSpPr txBox="1"/>
          <p:nvPr/>
        </p:nvSpPr>
        <p:spPr>
          <a:xfrm>
            <a:off x="8918447" y="2108642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86.5 % inside w</a:t>
            </a:r>
          </a:p>
        </p:txBody>
      </p:sp>
      <p:sp>
        <p:nvSpPr>
          <p:cNvPr id="74" name="C2-E02 text 72" descr="sci-ppt:o072"/>
          <p:cNvSpPr txBox="1"/>
          <p:nvPr/>
        </p:nvSpPr>
        <p:spPr>
          <a:xfrm>
            <a:off x="868680" y="5733288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E_L = 2πF₀ ∫ r e^(−2r²/w²) dr = (πw²F₀/2) ∫ e^(−x) dx = π w² F₀ / 2     (x = 2r²/w²)</a:t>
            </a:r>
          </a:p>
        </p:txBody>
      </p:sp>
      <p:sp>
        <p:nvSpPr>
          <p:cNvPr id="75" name="C2-E02 text 73" descr="sci-ppt:o073"/>
          <p:cNvSpPr txBox="1"/>
          <p:nvPr/>
        </p:nvSpPr>
        <p:spPr>
          <a:xfrm>
            <a:off x="868680" y="61264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Summing annular rings 2πr dr reproduces the closed form; the total is finite although the Gaussian never ends.</a:t>
            </a:r>
          </a:p>
        </p:txBody>
      </p:sp>
      <p:sp>
        <p:nvSpPr>
          <p:cNvPr id="76" name="C2-E02 text 74" descr="sci-ppt:o07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Ring weights and cumulative energy from Eq. C2-E02.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C2-E03 · Derived interception fraction</a:t>
            </a:r>
          </a:p>
        </p:txBody>
      </p:sp>
      <p:sp>
        <p:nvSpPr>
          <p:cNvPr id="3" name="C2-E03 round_rect 1" descr="sci-ppt:o001"/>
          <p:cNvSpPr/>
          <p:nvPr/>
        </p:nvSpPr>
        <p:spPr>
          <a:xfrm>
            <a:off x="365760" y="914400"/>
            <a:ext cx="457200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03 text 2" descr="sci-ppt:o002"/>
          <p:cNvSpPr txBox="1"/>
          <p:nvPr/>
        </p:nvSpPr>
        <p:spPr>
          <a:xfrm>
            <a:off x="475488" y="969264"/>
            <a:ext cx="43525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An aperture keeps the inner part</a:t>
            </a:r>
          </a:p>
        </p:txBody>
      </p:sp>
      <p:sp>
        <p:nvSpPr>
          <p:cNvPr id="5" name="C2-E03 ellipse 3" descr="sci-ppt:o003"/>
          <p:cNvSpPr/>
          <p:nvPr/>
        </p:nvSpPr>
        <p:spPr>
          <a:xfrm>
            <a:off x="822959" y="1463040"/>
            <a:ext cx="3657600" cy="365760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03 ellipse 4" descr="sci-ppt:o004"/>
          <p:cNvSpPr/>
          <p:nvPr/>
        </p:nvSpPr>
        <p:spPr>
          <a:xfrm>
            <a:off x="906087" y="1546167"/>
            <a:ext cx="3491345" cy="3491345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2-E03 ellipse 5" descr="sci-ppt:o005"/>
          <p:cNvSpPr/>
          <p:nvPr/>
        </p:nvSpPr>
        <p:spPr>
          <a:xfrm>
            <a:off x="989214" y="1629294"/>
            <a:ext cx="3325090" cy="332509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03 ellipse 6" descr="sci-ppt:o006"/>
          <p:cNvSpPr/>
          <p:nvPr/>
        </p:nvSpPr>
        <p:spPr>
          <a:xfrm>
            <a:off x="1072341" y="1712421"/>
            <a:ext cx="3158836" cy="3158836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2-E03 ellipse 7" descr="sci-ppt:o007"/>
          <p:cNvSpPr/>
          <p:nvPr/>
        </p:nvSpPr>
        <p:spPr>
          <a:xfrm>
            <a:off x="1155469" y="1795549"/>
            <a:ext cx="2992581" cy="2992581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03 ellipse 8" descr="sci-ppt:o008"/>
          <p:cNvSpPr/>
          <p:nvPr/>
        </p:nvSpPr>
        <p:spPr>
          <a:xfrm>
            <a:off x="1238596" y="1878676"/>
            <a:ext cx="2826327" cy="2826327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03 ellipse 9" descr="sci-ppt:o009"/>
          <p:cNvSpPr/>
          <p:nvPr/>
        </p:nvSpPr>
        <p:spPr>
          <a:xfrm>
            <a:off x="1321723" y="1961803"/>
            <a:ext cx="2660072" cy="2660072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03 ellipse 10" descr="sci-ppt:o010"/>
          <p:cNvSpPr/>
          <p:nvPr/>
        </p:nvSpPr>
        <p:spPr>
          <a:xfrm>
            <a:off x="1404850" y="2044930"/>
            <a:ext cx="2493818" cy="2493818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2-E03 ellipse 11" descr="sci-ppt:o011"/>
          <p:cNvSpPr/>
          <p:nvPr/>
        </p:nvSpPr>
        <p:spPr>
          <a:xfrm>
            <a:off x="1487978" y="2128058"/>
            <a:ext cx="2327563" cy="2327563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03 ellipse 12" descr="sci-ppt:o012"/>
          <p:cNvSpPr/>
          <p:nvPr/>
        </p:nvSpPr>
        <p:spPr>
          <a:xfrm>
            <a:off x="1571105" y="2211185"/>
            <a:ext cx="2161309" cy="2161309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03 ellipse 13" descr="sci-ppt:o013"/>
          <p:cNvSpPr/>
          <p:nvPr/>
        </p:nvSpPr>
        <p:spPr>
          <a:xfrm>
            <a:off x="1654232" y="2294312"/>
            <a:ext cx="1995054" cy="1995054"/>
          </a:xfrm>
          <a:prstGeom prst="ellipse">
            <a:avLst/>
          </a:prstGeom>
          <a:solidFill>
            <a:srgbClr val="8EDBD4">
              <a:alpha val="7403"/>
            </a:srgbClr>
          </a:solidFill>
          <a:ln>
            <a:solidFill>
              <a:srgbClr val="8EDBD4">
                <a:alpha val="740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03 ellipse 14" descr="sci-ppt:o014"/>
          <p:cNvSpPr/>
          <p:nvPr/>
        </p:nvSpPr>
        <p:spPr>
          <a:xfrm>
            <a:off x="1737360" y="2377440"/>
            <a:ext cx="1828800" cy="1828800"/>
          </a:xfrm>
          <a:prstGeom prst="ellipse">
            <a:avLst/>
          </a:prstGeom>
          <a:solidFill>
            <a:srgbClr val="8EDBD4">
              <a:alpha val="10827"/>
            </a:srgbClr>
          </a:solidFill>
          <a:ln>
            <a:solidFill>
              <a:srgbClr val="8EDBD4">
                <a:alpha val="1082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03 ellipse 15" descr="sci-ppt:o015"/>
          <p:cNvSpPr/>
          <p:nvPr/>
        </p:nvSpPr>
        <p:spPr>
          <a:xfrm>
            <a:off x="1820487" y="2460567"/>
            <a:ext cx="1662545" cy="1662545"/>
          </a:xfrm>
          <a:prstGeom prst="ellipse">
            <a:avLst/>
          </a:prstGeom>
          <a:solidFill>
            <a:srgbClr val="8EDBD4">
              <a:alpha val="15320"/>
            </a:srgbClr>
          </a:solidFill>
          <a:ln>
            <a:solidFill>
              <a:srgbClr val="8EDBD4">
                <a:alpha val="1532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03 ellipse 16" descr="sci-ppt:o016"/>
          <p:cNvSpPr/>
          <p:nvPr/>
        </p:nvSpPr>
        <p:spPr>
          <a:xfrm>
            <a:off x="1903614" y="2543694"/>
            <a:ext cx="1496290" cy="1496290"/>
          </a:xfrm>
          <a:prstGeom prst="ellipse">
            <a:avLst/>
          </a:prstGeom>
          <a:solidFill>
            <a:srgbClr val="8EDBD4">
              <a:alpha val="20972"/>
            </a:srgbClr>
          </a:solidFill>
          <a:ln>
            <a:solidFill>
              <a:srgbClr val="8EDBD4">
                <a:alpha val="2097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2-E03 ellipse 17" descr="sci-ppt:o017"/>
          <p:cNvSpPr/>
          <p:nvPr/>
        </p:nvSpPr>
        <p:spPr>
          <a:xfrm>
            <a:off x="1986741" y="2626821"/>
            <a:ext cx="1330036" cy="1330036"/>
          </a:xfrm>
          <a:prstGeom prst="ellipse">
            <a:avLst/>
          </a:prstGeom>
          <a:solidFill>
            <a:srgbClr val="8EDBD4">
              <a:alpha val="27776"/>
            </a:srgbClr>
          </a:solidFill>
          <a:ln>
            <a:solidFill>
              <a:srgbClr val="8EDBD4">
                <a:alpha val="2777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2-E03 ellipse 18" descr="sci-ppt:o018"/>
          <p:cNvSpPr/>
          <p:nvPr/>
        </p:nvSpPr>
        <p:spPr>
          <a:xfrm>
            <a:off x="2069869" y="2709949"/>
            <a:ext cx="1163781" cy="1163781"/>
          </a:xfrm>
          <a:prstGeom prst="ellipse">
            <a:avLst/>
          </a:prstGeom>
          <a:solidFill>
            <a:srgbClr val="8EDBD4">
              <a:alpha val="35592"/>
            </a:srgbClr>
          </a:solidFill>
          <a:ln>
            <a:solidFill>
              <a:srgbClr val="8EDBD4">
                <a:alpha val="3559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2-E03 ellipse 19" descr="sci-ppt:o019"/>
          <p:cNvSpPr/>
          <p:nvPr/>
        </p:nvSpPr>
        <p:spPr>
          <a:xfrm>
            <a:off x="2152996" y="2793076"/>
            <a:ext cx="997527" cy="997527"/>
          </a:xfrm>
          <a:prstGeom prst="ellipse">
            <a:avLst/>
          </a:prstGeom>
          <a:solidFill>
            <a:srgbClr val="8EDBD4">
              <a:alpha val="44123"/>
            </a:srgbClr>
          </a:solidFill>
          <a:ln>
            <a:solidFill>
              <a:srgbClr val="8EDBD4">
                <a:alpha val="4412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03 ellipse 20" descr="sci-ppt:o020"/>
          <p:cNvSpPr/>
          <p:nvPr/>
        </p:nvSpPr>
        <p:spPr>
          <a:xfrm>
            <a:off x="2236123" y="2876203"/>
            <a:ext cx="831272" cy="831272"/>
          </a:xfrm>
          <a:prstGeom prst="ellipse">
            <a:avLst/>
          </a:prstGeom>
          <a:solidFill>
            <a:srgbClr val="8EDBD4">
              <a:alpha val="52921"/>
            </a:srgbClr>
          </a:solidFill>
          <a:ln>
            <a:solidFill>
              <a:srgbClr val="8EDBD4">
                <a:alpha val="5292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03 ellipse 21" descr="sci-ppt:o021"/>
          <p:cNvSpPr/>
          <p:nvPr/>
        </p:nvSpPr>
        <p:spPr>
          <a:xfrm>
            <a:off x="2319250" y="2959330"/>
            <a:ext cx="665018" cy="665018"/>
          </a:xfrm>
          <a:prstGeom prst="ellipse">
            <a:avLst/>
          </a:prstGeom>
          <a:solidFill>
            <a:srgbClr val="8EDBD4">
              <a:alpha val="61409"/>
            </a:srgbClr>
          </a:solidFill>
          <a:ln>
            <a:solidFill>
              <a:srgbClr val="8EDBD4">
                <a:alpha val="6140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2-E03 ellipse 22" descr="sci-ppt:o022"/>
          <p:cNvSpPr/>
          <p:nvPr/>
        </p:nvSpPr>
        <p:spPr>
          <a:xfrm>
            <a:off x="2402378" y="3042458"/>
            <a:ext cx="498763" cy="498763"/>
          </a:xfrm>
          <a:prstGeom prst="ellipse">
            <a:avLst/>
          </a:prstGeom>
          <a:solidFill>
            <a:srgbClr val="8EDBD4">
              <a:alpha val="68942"/>
            </a:srgbClr>
          </a:solidFill>
          <a:ln>
            <a:solidFill>
              <a:srgbClr val="8EDBD4">
                <a:alpha val="6894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03 ellipse 23" descr="sci-ppt:o023"/>
          <p:cNvSpPr/>
          <p:nvPr/>
        </p:nvSpPr>
        <p:spPr>
          <a:xfrm>
            <a:off x="2485505" y="3125585"/>
            <a:ext cx="332509" cy="332509"/>
          </a:xfrm>
          <a:prstGeom prst="ellipse">
            <a:avLst/>
          </a:prstGeom>
          <a:solidFill>
            <a:srgbClr val="8EDBD4">
              <a:alpha val="74882"/>
            </a:srgbClr>
          </a:solidFill>
          <a:ln>
            <a:solidFill>
              <a:srgbClr val="8EDBD4">
                <a:alpha val="7488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03 ellipse 24" descr="sci-ppt:o024"/>
          <p:cNvSpPr/>
          <p:nvPr/>
        </p:nvSpPr>
        <p:spPr>
          <a:xfrm>
            <a:off x="2568632" y="3208712"/>
            <a:ext cx="166254" cy="166254"/>
          </a:xfrm>
          <a:prstGeom prst="ellipse">
            <a:avLst/>
          </a:prstGeom>
          <a:solidFill>
            <a:srgbClr val="8EDBD4">
              <a:alpha val="78689"/>
            </a:srgbClr>
          </a:solidFill>
          <a:ln>
            <a:solidFill>
              <a:srgbClr val="8EDBD4">
                <a:alpha val="7868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2-E03 ellipse 25" descr="sci-ppt:o025"/>
          <p:cNvSpPr/>
          <p:nvPr/>
        </p:nvSpPr>
        <p:spPr>
          <a:xfrm>
            <a:off x="2194560" y="2834640"/>
            <a:ext cx="914400" cy="914400"/>
          </a:xfrm>
          <a:prstGeom prst="ellipse">
            <a:avLst/>
          </a:prstGeom>
          <a:noFill/>
          <a:ln w="279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03 ellipse 26" descr="sci-ppt:o026"/>
          <p:cNvSpPr/>
          <p:nvPr/>
        </p:nvSpPr>
        <p:spPr>
          <a:xfrm>
            <a:off x="1737360" y="2377440"/>
            <a:ext cx="1828800" cy="1828800"/>
          </a:xfrm>
          <a:prstGeom prst="ellipse">
            <a:avLst/>
          </a:prstGeom>
          <a:noFill/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2-E03 ellipse 27" descr="sci-ppt:o027"/>
          <p:cNvSpPr/>
          <p:nvPr/>
        </p:nvSpPr>
        <p:spPr>
          <a:xfrm>
            <a:off x="1280160" y="1920240"/>
            <a:ext cx="2743200" cy="2743200"/>
          </a:xfrm>
          <a:prstGeom prst="ellipse">
            <a:avLst/>
          </a:prstGeom>
          <a:noFill/>
          <a:ln w="2794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2-E03 text 28" descr="sci-ppt:o028"/>
          <p:cNvSpPr txBox="1"/>
          <p:nvPr/>
        </p:nvSpPr>
        <p:spPr>
          <a:xfrm>
            <a:off x="502920" y="5257800"/>
            <a:ext cx="4297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Circles: absorber apertures bₐ = 0.5w, w, 1.5w. Light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outside is not used.</a:t>
            </a:r>
          </a:p>
        </p:txBody>
      </p:sp>
      <p:cxnSp>
        <p:nvCxnSpPr>
          <p:cNvPr id="31" name="C2-E03 line 29" descr="sci-ppt:o029"/>
          <p:cNvCxnSpPr/>
          <p:nvPr/>
        </p:nvCxnSpPr>
        <p:spPr>
          <a:xfrm>
            <a:off x="5760720" y="502920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2-E03 line 30" descr="sci-ppt:o030"/>
          <p:cNvCxnSpPr/>
          <p:nvPr/>
        </p:nvCxnSpPr>
        <p:spPr>
          <a:xfrm>
            <a:off x="576072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3" name="C2-E03 line 31" descr="sci-ppt:o031"/>
          <p:cNvCxnSpPr/>
          <p:nvPr/>
        </p:nvCxnSpPr>
        <p:spPr>
          <a:xfrm>
            <a:off x="5760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03 line 32" descr="sci-ppt:o032"/>
          <p:cNvCxnSpPr/>
          <p:nvPr/>
        </p:nvCxnSpPr>
        <p:spPr>
          <a:xfrm>
            <a:off x="57607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03 text 33" descr="sci-ppt:o033"/>
          <p:cNvSpPr txBox="1"/>
          <p:nvPr/>
        </p:nvSpPr>
        <p:spPr>
          <a:xfrm>
            <a:off x="5303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36" name="C2-E03 line 34" descr="sci-ppt:o034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03 line 35" descr="sci-ppt:o035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03 text 36" descr="sci-ppt:o036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9" name="C2-E03 line 37" descr="sci-ppt:o037"/>
          <p:cNvCxnSpPr/>
          <p:nvPr/>
        </p:nvCxnSpPr>
        <p:spPr>
          <a:xfrm>
            <a:off x="8138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3 line 38" descr="sci-ppt:o038"/>
          <p:cNvCxnSpPr/>
          <p:nvPr/>
        </p:nvCxnSpPr>
        <p:spPr>
          <a:xfrm>
            <a:off x="8138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3 text 39" descr="sci-ppt:o039"/>
          <p:cNvSpPr txBox="1"/>
          <p:nvPr/>
        </p:nvSpPr>
        <p:spPr>
          <a:xfrm>
            <a:off x="7680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42" name="C2-E03 line 40" descr="sci-ppt:o040"/>
          <p:cNvCxnSpPr/>
          <p:nvPr/>
        </p:nvCxnSpPr>
        <p:spPr>
          <a:xfrm>
            <a:off x="93268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3 line 41" descr="sci-ppt:o041"/>
          <p:cNvCxnSpPr/>
          <p:nvPr/>
        </p:nvCxnSpPr>
        <p:spPr>
          <a:xfrm>
            <a:off x="93268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3 text 42" descr="sci-ppt:o042"/>
          <p:cNvSpPr txBox="1"/>
          <p:nvPr/>
        </p:nvSpPr>
        <p:spPr>
          <a:xfrm>
            <a:off x="88696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45" name="C2-E03 line 43" descr="sci-ppt:o043"/>
          <p:cNvCxnSpPr/>
          <p:nvPr/>
        </p:nvCxnSpPr>
        <p:spPr>
          <a:xfrm>
            <a:off x="10515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3 line 44" descr="sci-ppt:o044"/>
          <p:cNvCxnSpPr/>
          <p:nvPr/>
        </p:nvCxnSpPr>
        <p:spPr>
          <a:xfrm>
            <a:off x="10515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3 text 45" descr="sci-ppt:o045"/>
          <p:cNvSpPr txBox="1"/>
          <p:nvPr/>
        </p:nvSpPr>
        <p:spPr>
          <a:xfrm>
            <a:off x="10058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48" name="C2-E03 line 46" descr="sci-ppt:o046"/>
          <p:cNvCxnSpPr/>
          <p:nvPr/>
        </p:nvCxnSpPr>
        <p:spPr>
          <a:xfrm>
            <a:off x="11704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03 line 47" descr="sci-ppt:o047"/>
          <p:cNvCxnSpPr/>
          <p:nvPr/>
        </p:nvCxnSpPr>
        <p:spPr>
          <a:xfrm>
            <a:off x="11704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2-E03 text 48" descr="sci-ppt:o048"/>
          <p:cNvSpPr txBox="1"/>
          <p:nvPr/>
        </p:nvSpPr>
        <p:spPr>
          <a:xfrm>
            <a:off x="11247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2.5</a:t>
            </a:r>
          </a:p>
        </p:txBody>
      </p:sp>
      <p:cxnSp>
        <p:nvCxnSpPr>
          <p:cNvPr id="51" name="C2-E03 line 49" descr="sci-ppt:o049"/>
          <p:cNvCxnSpPr/>
          <p:nvPr/>
        </p:nvCxnSpPr>
        <p:spPr>
          <a:xfrm>
            <a:off x="56967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2-E03 line 50" descr="sci-ppt:o050"/>
          <p:cNvCxnSpPr/>
          <p:nvPr/>
        </p:nvCxnSpPr>
        <p:spPr>
          <a:xfrm>
            <a:off x="569671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2-E03 line 51" descr="sci-ppt:o051"/>
          <p:cNvCxnSpPr/>
          <p:nvPr/>
        </p:nvCxnSpPr>
        <p:spPr>
          <a:xfrm>
            <a:off x="5760720" y="4158342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2-E03 text 52" descr="sci-ppt:o052"/>
          <p:cNvSpPr txBox="1"/>
          <p:nvPr/>
        </p:nvSpPr>
        <p:spPr>
          <a:xfrm>
            <a:off x="489204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55" name="C2-E03 line 53" descr="sci-ppt:o053"/>
          <p:cNvCxnSpPr/>
          <p:nvPr/>
        </p:nvCxnSpPr>
        <p:spPr>
          <a:xfrm>
            <a:off x="569671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2-E03 line 54" descr="sci-ppt:o054"/>
          <p:cNvCxnSpPr/>
          <p:nvPr/>
        </p:nvCxnSpPr>
        <p:spPr>
          <a:xfrm>
            <a:off x="5760720" y="3287485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2-E03 text 55" descr="sci-ppt:o055"/>
          <p:cNvSpPr txBox="1"/>
          <p:nvPr/>
        </p:nvSpPr>
        <p:spPr>
          <a:xfrm>
            <a:off x="489204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58" name="C2-E03 line 56" descr="sci-ppt:o056"/>
          <p:cNvCxnSpPr/>
          <p:nvPr/>
        </p:nvCxnSpPr>
        <p:spPr>
          <a:xfrm>
            <a:off x="569671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9" name="C2-E03 line 57" descr="sci-ppt:o057"/>
          <p:cNvCxnSpPr/>
          <p:nvPr/>
        </p:nvCxnSpPr>
        <p:spPr>
          <a:xfrm>
            <a:off x="5760720" y="2416628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0" name="C2-E03 text 58" descr="sci-ppt:o058"/>
          <p:cNvSpPr txBox="1"/>
          <p:nvPr/>
        </p:nvSpPr>
        <p:spPr>
          <a:xfrm>
            <a:off x="489204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61" name="C2-E03 line 59" descr="sci-ppt:o059"/>
          <p:cNvCxnSpPr/>
          <p:nvPr/>
        </p:nvCxnSpPr>
        <p:spPr>
          <a:xfrm>
            <a:off x="569671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2" name="C2-E03 line 60" descr="sci-ppt:o060"/>
          <p:cNvCxnSpPr/>
          <p:nvPr/>
        </p:nvCxnSpPr>
        <p:spPr>
          <a:xfrm>
            <a:off x="5760720" y="1545771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3" name="C2-E03 text 61" descr="sci-ppt:o061"/>
          <p:cNvSpPr txBox="1"/>
          <p:nvPr/>
        </p:nvSpPr>
        <p:spPr>
          <a:xfrm>
            <a:off x="489204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64" name="C2-E03 text 62" descr="sci-ppt:o062"/>
          <p:cNvSpPr txBox="1"/>
          <p:nvPr/>
        </p:nvSpPr>
        <p:spPr>
          <a:xfrm>
            <a:off x="5760720" y="531266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bₐ / w</a:t>
            </a:r>
          </a:p>
        </p:txBody>
      </p:sp>
      <p:sp>
        <p:nvSpPr>
          <p:cNvPr id="65" name="C2-E03 text 63" descr="sci-ppt:o063"/>
          <p:cNvSpPr txBox="1"/>
          <p:nvPr/>
        </p:nvSpPr>
        <p:spPr>
          <a:xfrm>
            <a:off x="521208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f_geo</a:t>
            </a:r>
          </a:p>
        </p:txBody>
      </p:sp>
      <p:sp>
        <p:nvSpPr>
          <p:cNvPr id="66" name="C2-E03 polygon 64" descr="sci-ppt:o064"/>
          <p:cNvSpPr/>
          <p:nvPr/>
        </p:nvSpPr>
        <p:spPr>
          <a:xfrm>
            <a:off x="5760720" y="1545784"/>
            <a:ext cx="5943600" cy="3483416"/>
          </a:xfrm>
          <a:custGeom>
            <a:avLst/>
            <a:gdLst/>
            <a:ahLst/>
            <a:cxnLst/>
            <a:rect l="l" t="t" r="r" b="b"/>
            <a:pathLst>
              <a:path w="5943600" h="3483416">
                <a:moveTo>
                  <a:pt x="0" y="3483416"/>
                </a:moveTo>
                <a:lnTo>
                  <a:pt x="39756" y="3481468"/>
                </a:lnTo>
                <a:lnTo>
                  <a:pt x="79513" y="3475631"/>
                </a:lnTo>
                <a:lnTo>
                  <a:pt x="119269" y="3465926"/>
                </a:lnTo>
                <a:lnTo>
                  <a:pt x="159026" y="3452383"/>
                </a:lnTo>
                <a:lnTo>
                  <a:pt x="198782" y="3435049"/>
                </a:lnTo>
                <a:lnTo>
                  <a:pt x="238539" y="3413981"/>
                </a:lnTo>
                <a:lnTo>
                  <a:pt x="278295" y="3389250"/>
                </a:lnTo>
                <a:lnTo>
                  <a:pt x="318052" y="3360936"/>
                </a:lnTo>
                <a:lnTo>
                  <a:pt x="357808" y="3329132"/>
                </a:lnTo>
                <a:lnTo>
                  <a:pt x="397565" y="3293943"/>
                </a:lnTo>
                <a:lnTo>
                  <a:pt x="437321" y="3255482"/>
                </a:lnTo>
                <a:lnTo>
                  <a:pt x="477078" y="3213874"/>
                </a:lnTo>
                <a:lnTo>
                  <a:pt x="516834" y="3169250"/>
                </a:lnTo>
                <a:lnTo>
                  <a:pt x="556591" y="3121752"/>
                </a:lnTo>
                <a:lnTo>
                  <a:pt x="596347" y="3071528"/>
                </a:lnTo>
                <a:lnTo>
                  <a:pt x="636104" y="3018734"/>
                </a:lnTo>
                <a:lnTo>
                  <a:pt x="675860" y="2963531"/>
                </a:lnTo>
                <a:lnTo>
                  <a:pt x="715617" y="2906084"/>
                </a:lnTo>
                <a:lnTo>
                  <a:pt x="755373" y="2846565"/>
                </a:lnTo>
                <a:lnTo>
                  <a:pt x="795130" y="2785148"/>
                </a:lnTo>
                <a:lnTo>
                  <a:pt x="834886" y="2722010"/>
                </a:lnTo>
                <a:lnTo>
                  <a:pt x="874643" y="2657329"/>
                </a:lnTo>
                <a:lnTo>
                  <a:pt x="914400" y="2591285"/>
                </a:lnTo>
                <a:lnTo>
                  <a:pt x="954156" y="2524058"/>
                </a:lnTo>
                <a:lnTo>
                  <a:pt x="993913" y="2455826"/>
                </a:lnTo>
                <a:lnTo>
                  <a:pt x="1033669" y="2386767"/>
                </a:lnTo>
                <a:lnTo>
                  <a:pt x="1073426" y="2317057"/>
                </a:lnTo>
                <a:lnTo>
                  <a:pt x="1113182" y="2246868"/>
                </a:lnTo>
                <a:lnTo>
                  <a:pt x="1152939" y="2176370"/>
                </a:lnTo>
                <a:lnTo>
                  <a:pt x="1192695" y="2105727"/>
                </a:lnTo>
                <a:lnTo>
                  <a:pt x="1232452" y="2035099"/>
                </a:lnTo>
                <a:lnTo>
                  <a:pt x="1272208" y="1964642"/>
                </a:lnTo>
                <a:lnTo>
                  <a:pt x="1311965" y="1894503"/>
                </a:lnTo>
                <a:lnTo>
                  <a:pt x="1351721" y="1824826"/>
                </a:lnTo>
                <a:lnTo>
                  <a:pt x="1391478" y="1755747"/>
                </a:lnTo>
                <a:lnTo>
                  <a:pt x="1431234" y="1687394"/>
                </a:lnTo>
                <a:lnTo>
                  <a:pt x="1470991" y="1619889"/>
                </a:lnTo>
                <a:lnTo>
                  <a:pt x="1510747" y="1553346"/>
                </a:lnTo>
                <a:lnTo>
                  <a:pt x="1550504" y="1487872"/>
                </a:lnTo>
                <a:lnTo>
                  <a:pt x="1590260" y="1423564"/>
                </a:lnTo>
                <a:lnTo>
                  <a:pt x="1630017" y="1360512"/>
                </a:lnTo>
                <a:lnTo>
                  <a:pt x="1669773" y="1298800"/>
                </a:lnTo>
                <a:lnTo>
                  <a:pt x="1709530" y="1238501"/>
                </a:lnTo>
                <a:lnTo>
                  <a:pt x="1749286" y="1179681"/>
                </a:lnTo>
                <a:lnTo>
                  <a:pt x="1789043" y="1122398"/>
                </a:lnTo>
                <a:lnTo>
                  <a:pt x="1828799" y="1066703"/>
                </a:lnTo>
                <a:lnTo>
                  <a:pt x="1868556" y="1012639"/>
                </a:lnTo>
                <a:lnTo>
                  <a:pt x="1908313" y="960239"/>
                </a:lnTo>
                <a:lnTo>
                  <a:pt x="1948069" y="909533"/>
                </a:lnTo>
                <a:lnTo>
                  <a:pt x="1987826" y="860542"/>
                </a:lnTo>
                <a:lnTo>
                  <a:pt x="2027582" y="813279"/>
                </a:lnTo>
                <a:lnTo>
                  <a:pt x="2067339" y="767753"/>
                </a:lnTo>
                <a:lnTo>
                  <a:pt x="2107095" y="723965"/>
                </a:lnTo>
                <a:lnTo>
                  <a:pt x="2146852" y="681911"/>
                </a:lnTo>
                <a:lnTo>
                  <a:pt x="2186608" y="641582"/>
                </a:lnTo>
                <a:lnTo>
                  <a:pt x="2226365" y="602963"/>
                </a:lnTo>
                <a:lnTo>
                  <a:pt x="2266121" y="566035"/>
                </a:lnTo>
                <a:lnTo>
                  <a:pt x="2305878" y="530774"/>
                </a:lnTo>
                <a:lnTo>
                  <a:pt x="2345634" y="497154"/>
                </a:lnTo>
                <a:lnTo>
                  <a:pt x="2385391" y="465143"/>
                </a:lnTo>
                <a:lnTo>
                  <a:pt x="2425147" y="434706"/>
                </a:lnTo>
                <a:lnTo>
                  <a:pt x="2464904" y="405806"/>
                </a:lnTo>
                <a:lnTo>
                  <a:pt x="2504660" y="378405"/>
                </a:lnTo>
                <a:lnTo>
                  <a:pt x="2544417" y="352459"/>
                </a:lnTo>
                <a:lnTo>
                  <a:pt x="2584173" y="327925"/>
                </a:lnTo>
                <a:lnTo>
                  <a:pt x="2623930" y="304757"/>
                </a:lnTo>
                <a:lnTo>
                  <a:pt x="2663686" y="282910"/>
                </a:lnTo>
                <a:lnTo>
                  <a:pt x="2703443" y="262335"/>
                </a:lnTo>
                <a:lnTo>
                  <a:pt x="2743200" y="242984"/>
                </a:lnTo>
                <a:lnTo>
                  <a:pt x="2782956" y="224809"/>
                </a:lnTo>
                <a:lnTo>
                  <a:pt x="2822713" y="207761"/>
                </a:lnTo>
                <a:lnTo>
                  <a:pt x="2862469" y="191791"/>
                </a:lnTo>
                <a:lnTo>
                  <a:pt x="2902226" y="176851"/>
                </a:lnTo>
                <a:lnTo>
                  <a:pt x="2941982" y="162892"/>
                </a:lnTo>
                <a:lnTo>
                  <a:pt x="2981739" y="149867"/>
                </a:lnTo>
                <a:lnTo>
                  <a:pt x="3021495" y="137729"/>
                </a:lnTo>
                <a:lnTo>
                  <a:pt x="3061252" y="126433"/>
                </a:lnTo>
                <a:lnTo>
                  <a:pt x="3101008" y="115933"/>
                </a:lnTo>
                <a:lnTo>
                  <a:pt x="3140765" y="106186"/>
                </a:lnTo>
                <a:lnTo>
                  <a:pt x="3180521" y="97150"/>
                </a:lnTo>
                <a:lnTo>
                  <a:pt x="3220278" y="88784"/>
                </a:lnTo>
                <a:lnTo>
                  <a:pt x="3260034" y="81047"/>
                </a:lnTo>
                <a:lnTo>
                  <a:pt x="3299791" y="73901"/>
                </a:lnTo>
                <a:lnTo>
                  <a:pt x="3339547" y="67310"/>
                </a:lnTo>
                <a:lnTo>
                  <a:pt x="3379304" y="61239"/>
                </a:lnTo>
                <a:lnTo>
                  <a:pt x="3419060" y="55652"/>
                </a:lnTo>
                <a:lnTo>
                  <a:pt x="3458817" y="50518"/>
                </a:lnTo>
                <a:lnTo>
                  <a:pt x="3498573" y="45807"/>
                </a:lnTo>
                <a:lnTo>
                  <a:pt x="3538330" y="41489"/>
                </a:lnTo>
                <a:lnTo>
                  <a:pt x="3578086" y="37535"/>
                </a:lnTo>
                <a:lnTo>
                  <a:pt x="3617843" y="33920"/>
                </a:lnTo>
                <a:lnTo>
                  <a:pt x="3657599" y="30619"/>
                </a:lnTo>
                <a:lnTo>
                  <a:pt x="3697356" y="27608"/>
                </a:lnTo>
                <a:lnTo>
                  <a:pt x="3737113" y="24865"/>
                </a:lnTo>
                <a:lnTo>
                  <a:pt x="3776869" y="22370"/>
                </a:lnTo>
                <a:lnTo>
                  <a:pt x="3816626" y="20102"/>
                </a:lnTo>
                <a:lnTo>
                  <a:pt x="3856382" y="18044"/>
                </a:lnTo>
                <a:lnTo>
                  <a:pt x="3896139" y="16178"/>
                </a:lnTo>
                <a:lnTo>
                  <a:pt x="3935895" y="14489"/>
                </a:lnTo>
                <a:lnTo>
                  <a:pt x="3975652" y="12962"/>
                </a:lnTo>
                <a:lnTo>
                  <a:pt x="4015408" y="11582"/>
                </a:lnTo>
                <a:lnTo>
                  <a:pt x="4055165" y="10338"/>
                </a:lnTo>
                <a:lnTo>
                  <a:pt x="4094921" y="9216"/>
                </a:lnTo>
                <a:lnTo>
                  <a:pt x="4134678" y="8207"/>
                </a:lnTo>
                <a:lnTo>
                  <a:pt x="4174434" y="7301"/>
                </a:lnTo>
                <a:lnTo>
                  <a:pt x="4214191" y="6486"/>
                </a:lnTo>
                <a:lnTo>
                  <a:pt x="4253947" y="5757"/>
                </a:lnTo>
                <a:lnTo>
                  <a:pt x="4293704" y="5103"/>
                </a:lnTo>
                <a:lnTo>
                  <a:pt x="4333460" y="4518"/>
                </a:lnTo>
                <a:lnTo>
                  <a:pt x="4373217" y="3996"/>
                </a:lnTo>
                <a:lnTo>
                  <a:pt x="4412973" y="3530"/>
                </a:lnTo>
                <a:lnTo>
                  <a:pt x="4452730" y="3114"/>
                </a:lnTo>
                <a:lnTo>
                  <a:pt x="4492486" y="2745"/>
                </a:lnTo>
                <a:lnTo>
                  <a:pt x="4532243" y="2416"/>
                </a:lnTo>
                <a:lnTo>
                  <a:pt x="4572000" y="2124"/>
                </a:lnTo>
                <a:lnTo>
                  <a:pt x="4611756" y="1865"/>
                </a:lnTo>
                <a:lnTo>
                  <a:pt x="4651513" y="1635"/>
                </a:lnTo>
                <a:lnTo>
                  <a:pt x="4691269" y="1432"/>
                </a:lnTo>
                <a:lnTo>
                  <a:pt x="4731026" y="1253"/>
                </a:lnTo>
                <a:lnTo>
                  <a:pt x="4770782" y="1095"/>
                </a:lnTo>
                <a:lnTo>
                  <a:pt x="4810539" y="955"/>
                </a:lnTo>
                <a:lnTo>
                  <a:pt x="4850295" y="832"/>
                </a:lnTo>
                <a:lnTo>
                  <a:pt x="4890052" y="724"/>
                </a:lnTo>
                <a:lnTo>
                  <a:pt x="4929808" y="629"/>
                </a:lnTo>
                <a:lnTo>
                  <a:pt x="4969565" y="545"/>
                </a:lnTo>
                <a:lnTo>
                  <a:pt x="5009321" y="472"/>
                </a:lnTo>
                <a:lnTo>
                  <a:pt x="5049078" y="408"/>
                </a:lnTo>
                <a:lnTo>
                  <a:pt x="5088834" y="352"/>
                </a:lnTo>
                <a:lnTo>
                  <a:pt x="5128591" y="303"/>
                </a:lnTo>
                <a:lnTo>
                  <a:pt x="5168347" y="261"/>
                </a:lnTo>
                <a:lnTo>
                  <a:pt x="5208104" y="223"/>
                </a:lnTo>
                <a:lnTo>
                  <a:pt x="5247860" y="191"/>
                </a:lnTo>
                <a:lnTo>
                  <a:pt x="5287617" y="163"/>
                </a:lnTo>
                <a:lnTo>
                  <a:pt x="5327373" y="139"/>
                </a:lnTo>
                <a:lnTo>
                  <a:pt x="5367130" y="117"/>
                </a:lnTo>
                <a:lnTo>
                  <a:pt x="5406886" y="99"/>
                </a:lnTo>
                <a:lnTo>
                  <a:pt x="5446643" y="83"/>
                </a:lnTo>
                <a:lnTo>
                  <a:pt x="5486400" y="69"/>
                </a:lnTo>
                <a:lnTo>
                  <a:pt x="5526156" y="58"/>
                </a:lnTo>
                <a:lnTo>
                  <a:pt x="5565913" y="47"/>
                </a:lnTo>
                <a:lnTo>
                  <a:pt x="5605669" y="39"/>
                </a:lnTo>
                <a:lnTo>
                  <a:pt x="5645426" y="31"/>
                </a:lnTo>
                <a:lnTo>
                  <a:pt x="5685182" y="25"/>
                </a:lnTo>
                <a:lnTo>
                  <a:pt x="5724939" y="19"/>
                </a:lnTo>
                <a:lnTo>
                  <a:pt x="5764695" y="14"/>
                </a:lnTo>
                <a:lnTo>
                  <a:pt x="5804452" y="10"/>
                </a:lnTo>
                <a:lnTo>
                  <a:pt x="5844208" y="7"/>
                </a:lnTo>
                <a:lnTo>
                  <a:pt x="5883965" y="4"/>
                </a:lnTo>
                <a:lnTo>
                  <a:pt x="5923721" y="1"/>
                </a:lnTo>
                <a:lnTo>
                  <a:pt x="59436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C2-E03 ellipse 65" descr="sci-ppt:o065"/>
          <p:cNvSpPr/>
          <p:nvPr/>
        </p:nvSpPr>
        <p:spPr>
          <a:xfrm>
            <a:off x="6876288" y="3585425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C2-E03 text 66" descr="sci-ppt:o066"/>
          <p:cNvSpPr txBox="1"/>
          <p:nvPr/>
        </p:nvSpPr>
        <p:spPr>
          <a:xfrm>
            <a:off x="7040879" y="3247097"/>
            <a:ext cx="914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8BA0"/>
                </a:solidFill>
                <a:latin typeface="Arial"/>
              </a:rPr>
              <a:t>0.393</a:t>
            </a:r>
          </a:p>
        </p:txBody>
      </p:sp>
      <p:sp>
        <p:nvSpPr>
          <p:cNvPr id="69" name="C2-E03 ellipse 67" descr="sci-ppt:o067"/>
          <p:cNvSpPr/>
          <p:nvPr/>
        </p:nvSpPr>
        <p:spPr>
          <a:xfrm>
            <a:off x="8065008" y="1944050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2-E03 text 68" descr="sci-ppt:o068"/>
          <p:cNvSpPr txBox="1"/>
          <p:nvPr/>
        </p:nvSpPr>
        <p:spPr>
          <a:xfrm>
            <a:off x="8229600" y="2062922"/>
            <a:ext cx="914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0.865</a:t>
            </a:r>
          </a:p>
        </p:txBody>
      </p:sp>
      <p:sp>
        <p:nvSpPr>
          <p:cNvPr id="71" name="C2-E03 ellipse 69" descr="sci-ppt:o069"/>
          <p:cNvSpPr/>
          <p:nvPr/>
        </p:nvSpPr>
        <p:spPr>
          <a:xfrm>
            <a:off x="9253728" y="1511316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2-E03 text 70" descr="sci-ppt:o070"/>
          <p:cNvSpPr txBox="1"/>
          <p:nvPr/>
        </p:nvSpPr>
        <p:spPr>
          <a:xfrm>
            <a:off x="9418319" y="1630188"/>
            <a:ext cx="914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7FC8F8"/>
                </a:solidFill>
                <a:latin typeface="Arial"/>
              </a:rPr>
              <a:t>0.989</a:t>
            </a:r>
          </a:p>
        </p:txBody>
      </p:sp>
      <p:sp>
        <p:nvSpPr>
          <p:cNvPr id="73" name="C2-E03 text 71" descr="sci-ppt:o071"/>
          <p:cNvSpPr txBox="1"/>
          <p:nvPr/>
        </p:nvSpPr>
        <p:spPr>
          <a:xfrm>
            <a:off x="5760720" y="5733288"/>
            <a:ext cx="59436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f_geo = 1 − exp(−2 bₐ² / w²):  the outer annuli are removed from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the useful energy.</a:t>
            </a:r>
          </a:p>
        </p:txBody>
      </p:sp>
      <p:sp>
        <p:nvSpPr>
          <p:cNvPr id="74" name="C2-E03 text 72" descr="sci-ppt:o07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Interception fraction of Eq. C2-E03; bₐ = w/2 gives the 0.3935 used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C2-E04 · Temporal profile definition</a:t>
            </a:r>
          </a:p>
        </p:txBody>
      </p:sp>
      <p:cxnSp>
        <p:nvCxnSpPr>
          <p:cNvPr id="3" name="C2-E04 line 1" descr="sci-ppt:o001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4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4 line 3" descr="sci-ppt:o003"/>
          <p:cNvCxnSpPr/>
          <p:nvPr/>
        </p:nvCxnSpPr>
        <p:spPr>
          <a:xfrm>
            <a:off x="198119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4 line 4" descr="sci-ppt:o004"/>
          <p:cNvCxnSpPr/>
          <p:nvPr/>
        </p:nvCxnSpPr>
        <p:spPr>
          <a:xfrm>
            <a:off x="198119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4 text 5" descr="sci-ppt:o005"/>
          <p:cNvSpPr txBox="1"/>
          <p:nvPr/>
        </p:nvSpPr>
        <p:spPr>
          <a:xfrm>
            <a:off x="152399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04 line 6" descr="sci-ppt:o006"/>
          <p:cNvCxnSpPr/>
          <p:nvPr/>
        </p:nvCxnSpPr>
        <p:spPr>
          <a:xfrm>
            <a:off x="4114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4 line 7" descr="sci-ppt:o007"/>
          <p:cNvCxnSpPr/>
          <p:nvPr/>
        </p:nvCxnSpPr>
        <p:spPr>
          <a:xfrm>
            <a:off x="4114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4 text 8" descr="sci-ppt:o008"/>
          <p:cNvSpPr txBox="1"/>
          <p:nvPr/>
        </p:nvSpPr>
        <p:spPr>
          <a:xfrm>
            <a:off x="3657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2-E04 line 9" descr="sci-ppt:o009"/>
          <p:cNvCxnSpPr/>
          <p:nvPr/>
        </p:nvCxnSpPr>
        <p:spPr>
          <a:xfrm>
            <a:off x="6248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4 line 10" descr="sci-ppt:o010"/>
          <p:cNvCxnSpPr/>
          <p:nvPr/>
        </p:nvCxnSpPr>
        <p:spPr>
          <a:xfrm>
            <a:off x="6248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4 text 11" descr="sci-ppt:o011"/>
          <p:cNvSpPr txBox="1"/>
          <p:nvPr/>
        </p:nvSpPr>
        <p:spPr>
          <a:xfrm>
            <a:off x="5791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2-E04 line 12" descr="sci-ppt:o012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04 line 13" descr="sci-ppt:o013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04 text 14" descr="sci-ppt:o014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17" name="C2-E04 line 15" descr="sci-ppt:o015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04 line 16" descr="sci-ppt:o016"/>
          <p:cNvCxnSpPr/>
          <p:nvPr/>
        </p:nvCxnSpPr>
        <p:spPr>
          <a:xfrm>
            <a:off x="914400" y="320040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04 text 17" descr="sci-ppt:o017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2-E04 line 18" descr="sci-ppt:o01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04 line 19" descr="sci-ppt:o019"/>
          <p:cNvCxnSpPr/>
          <p:nvPr/>
        </p:nvCxnSpPr>
        <p:spPr>
          <a:xfrm>
            <a:off x="914400" y="137160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04 text 20" descr="sci-ppt:o02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3" name="C2-E04 text 21" descr="sci-ppt:o021"/>
          <p:cNvSpPr txBox="1"/>
          <p:nvPr/>
        </p:nvSpPr>
        <p:spPr>
          <a:xfrm>
            <a:off x="91440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/ τ_L</a:t>
            </a:r>
          </a:p>
        </p:txBody>
      </p:sp>
      <p:sp>
        <p:nvSpPr>
          <p:cNvPr id="24" name="C2-E04 text 22" descr="sci-ppt:o022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f(t)  (1/τ_L)</a:t>
            </a:r>
          </a:p>
        </p:txBody>
      </p:sp>
      <p:sp>
        <p:nvSpPr>
          <p:cNvPr id="25" name="C2-E04 polygon 23" descr="sci-ppt:o023"/>
          <p:cNvSpPr/>
          <p:nvPr/>
        </p:nvSpPr>
        <p:spPr>
          <a:xfrm>
            <a:off x="-152399" y="1371600"/>
            <a:ext cx="8534399" cy="3657600"/>
          </a:xfrm>
          <a:custGeom>
            <a:avLst/>
            <a:gdLst/>
            <a:ahLst/>
            <a:cxnLst/>
            <a:rect l="l" t="t" r="r" b="b"/>
            <a:pathLst>
              <a:path w="8534399" h="3657600">
                <a:moveTo>
                  <a:pt x="0" y="3657600"/>
                </a:moveTo>
                <a:lnTo>
                  <a:pt x="10681" y="3657600"/>
                </a:lnTo>
                <a:lnTo>
                  <a:pt x="21362" y="3657600"/>
                </a:lnTo>
                <a:lnTo>
                  <a:pt x="32044" y="3657600"/>
                </a:lnTo>
                <a:lnTo>
                  <a:pt x="42725" y="3657600"/>
                </a:lnTo>
                <a:lnTo>
                  <a:pt x="53406" y="3657600"/>
                </a:lnTo>
                <a:lnTo>
                  <a:pt x="64088" y="3657600"/>
                </a:lnTo>
                <a:lnTo>
                  <a:pt x="74769" y="3657600"/>
                </a:lnTo>
                <a:lnTo>
                  <a:pt x="85450" y="3657600"/>
                </a:lnTo>
                <a:lnTo>
                  <a:pt x="96132" y="3657600"/>
                </a:lnTo>
                <a:lnTo>
                  <a:pt x="106813" y="3657600"/>
                </a:lnTo>
                <a:lnTo>
                  <a:pt x="117494" y="3657600"/>
                </a:lnTo>
                <a:lnTo>
                  <a:pt x="128176" y="3657600"/>
                </a:lnTo>
                <a:lnTo>
                  <a:pt x="138857" y="3657600"/>
                </a:lnTo>
                <a:lnTo>
                  <a:pt x="149538" y="3657600"/>
                </a:lnTo>
                <a:lnTo>
                  <a:pt x="160219" y="3657600"/>
                </a:lnTo>
                <a:lnTo>
                  <a:pt x="170900" y="3657600"/>
                </a:lnTo>
                <a:lnTo>
                  <a:pt x="181581" y="3657600"/>
                </a:lnTo>
                <a:lnTo>
                  <a:pt x="192263" y="3657600"/>
                </a:lnTo>
                <a:lnTo>
                  <a:pt x="202944" y="3657600"/>
                </a:lnTo>
                <a:lnTo>
                  <a:pt x="213626" y="3657600"/>
                </a:lnTo>
                <a:lnTo>
                  <a:pt x="224307" y="3657600"/>
                </a:lnTo>
                <a:lnTo>
                  <a:pt x="234988" y="3657600"/>
                </a:lnTo>
                <a:lnTo>
                  <a:pt x="245670" y="3657600"/>
                </a:lnTo>
                <a:lnTo>
                  <a:pt x="256351" y="3657600"/>
                </a:lnTo>
                <a:lnTo>
                  <a:pt x="267032" y="3657600"/>
                </a:lnTo>
                <a:lnTo>
                  <a:pt x="277714" y="3657600"/>
                </a:lnTo>
                <a:lnTo>
                  <a:pt x="288395" y="3657600"/>
                </a:lnTo>
                <a:lnTo>
                  <a:pt x="299076" y="3657600"/>
                </a:lnTo>
                <a:lnTo>
                  <a:pt x="309758" y="3657600"/>
                </a:lnTo>
                <a:lnTo>
                  <a:pt x="320439" y="3657600"/>
                </a:lnTo>
                <a:lnTo>
                  <a:pt x="331120" y="3657600"/>
                </a:lnTo>
                <a:lnTo>
                  <a:pt x="341802" y="3657600"/>
                </a:lnTo>
                <a:lnTo>
                  <a:pt x="352483" y="3657600"/>
                </a:lnTo>
                <a:lnTo>
                  <a:pt x="363164" y="3657600"/>
                </a:lnTo>
                <a:lnTo>
                  <a:pt x="373846" y="3657600"/>
                </a:lnTo>
                <a:lnTo>
                  <a:pt x="384527" y="3657600"/>
                </a:lnTo>
                <a:lnTo>
                  <a:pt x="395209" y="3657600"/>
                </a:lnTo>
                <a:lnTo>
                  <a:pt x="405890" y="3657600"/>
                </a:lnTo>
                <a:lnTo>
                  <a:pt x="416571" y="3657600"/>
                </a:lnTo>
                <a:lnTo>
                  <a:pt x="427253" y="3657600"/>
                </a:lnTo>
                <a:lnTo>
                  <a:pt x="437934" y="3657600"/>
                </a:lnTo>
                <a:lnTo>
                  <a:pt x="448615" y="3657600"/>
                </a:lnTo>
                <a:lnTo>
                  <a:pt x="459297" y="3657600"/>
                </a:lnTo>
                <a:lnTo>
                  <a:pt x="469978" y="3657600"/>
                </a:lnTo>
                <a:lnTo>
                  <a:pt x="480659" y="3657600"/>
                </a:lnTo>
                <a:lnTo>
                  <a:pt x="491341" y="3657600"/>
                </a:lnTo>
                <a:lnTo>
                  <a:pt x="502022" y="3657600"/>
                </a:lnTo>
                <a:lnTo>
                  <a:pt x="512703" y="3657600"/>
                </a:lnTo>
                <a:lnTo>
                  <a:pt x="523385" y="3657600"/>
                </a:lnTo>
                <a:lnTo>
                  <a:pt x="534066" y="3657600"/>
                </a:lnTo>
                <a:lnTo>
                  <a:pt x="544747" y="3657600"/>
                </a:lnTo>
                <a:lnTo>
                  <a:pt x="555429" y="3657600"/>
                </a:lnTo>
                <a:lnTo>
                  <a:pt x="566110" y="3657600"/>
                </a:lnTo>
                <a:lnTo>
                  <a:pt x="576791" y="3657600"/>
                </a:lnTo>
                <a:lnTo>
                  <a:pt x="587473" y="3657600"/>
                </a:lnTo>
                <a:lnTo>
                  <a:pt x="598154" y="3657600"/>
                </a:lnTo>
                <a:lnTo>
                  <a:pt x="608836" y="3657600"/>
                </a:lnTo>
                <a:lnTo>
                  <a:pt x="619517" y="3657600"/>
                </a:lnTo>
                <a:lnTo>
                  <a:pt x="630198" y="3657600"/>
                </a:lnTo>
                <a:lnTo>
                  <a:pt x="640880" y="3657600"/>
                </a:lnTo>
                <a:lnTo>
                  <a:pt x="651561" y="3657600"/>
                </a:lnTo>
                <a:lnTo>
                  <a:pt x="662242" y="3657600"/>
                </a:lnTo>
                <a:lnTo>
                  <a:pt x="672924" y="3657600"/>
                </a:lnTo>
                <a:lnTo>
                  <a:pt x="683605" y="3657600"/>
                </a:lnTo>
                <a:lnTo>
                  <a:pt x="694286" y="3657600"/>
                </a:lnTo>
                <a:lnTo>
                  <a:pt x="704968" y="3657600"/>
                </a:lnTo>
                <a:lnTo>
                  <a:pt x="715649" y="3657600"/>
                </a:lnTo>
                <a:lnTo>
                  <a:pt x="726330" y="3657600"/>
                </a:lnTo>
                <a:lnTo>
                  <a:pt x="737012" y="3657600"/>
                </a:lnTo>
                <a:lnTo>
                  <a:pt x="747693" y="3657600"/>
                </a:lnTo>
                <a:lnTo>
                  <a:pt x="758374" y="3657600"/>
                </a:lnTo>
                <a:lnTo>
                  <a:pt x="769056" y="3657600"/>
                </a:lnTo>
                <a:lnTo>
                  <a:pt x="779737" y="3657600"/>
                </a:lnTo>
                <a:lnTo>
                  <a:pt x="790419" y="3657600"/>
                </a:lnTo>
                <a:lnTo>
                  <a:pt x="801100" y="3657600"/>
                </a:lnTo>
                <a:lnTo>
                  <a:pt x="811781" y="3657600"/>
                </a:lnTo>
                <a:lnTo>
                  <a:pt x="822463" y="3657600"/>
                </a:lnTo>
                <a:lnTo>
                  <a:pt x="833144" y="3657600"/>
                </a:lnTo>
                <a:lnTo>
                  <a:pt x="843825" y="3657600"/>
                </a:lnTo>
                <a:lnTo>
                  <a:pt x="854507" y="3657600"/>
                </a:lnTo>
                <a:lnTo>
                  <a:pt x="865188" y="3657600"/>
                </a:lnTo>
                <a:lnTo>
                  <a:pt x="875869" y="3657600"/>
                </a:lnTo>
                <a:lnTo>
                  <a:pt x="886551" y="3657600"/>
                </a:lnTo>
                <a:lnTo>
                  <a:pt x="897232" y="3657600"/>
                </a:lnTo>
                <a:lnTo>
                  <a:pt x="907913" y="3657600"/>
                </a:lnTo>
                <a:lnTo>
                  <a:pt x="918595" y="3657600"/>
                </a:lnTo>
                <a:lnTo>
                  <a:pt x="929276" y="3657600"/>
                </a:lnTo>
                <a:lnTo>
                  <a:pt x="939957" y="3657600"/>
                </a:lnTo>
                <a:lnTo>
                  <a:pt x="950639" y="3657600"/>
                </a:lnTo>
                <a:lnTo>
                  <a:pt x="961320" y="3657600"/>
                </a:lnTo>
                <a:lnTo>
                  <a:pt x="972002" y="3657600"/>
                </a:lnTo>
                <a:lnTo>
                  <a:pt x="982683" y="3657600"/>
                </a:lnTo>
                <a:lnTo>
                  <a:pt x="993364" y="3657600"/>
                </a:lnTo>
                <a:lnTo>
                  <a:pt x="1004046" y="3657600"/>
                </a:lnTo>
                <a:lnTo>
                  <a:pt x="1014727" y="3657600"/>
                </a:lnTo>
                <a:lnTo>
                  <a:pt x="1025408" y="3657600"/>
                </a:lnTo>
                <a:lnTo>
                  <a:pt x="1036090" y="3657600"/>
                </a:lnTo>
                <a:lnTo>
                  <a:pt x="1046771" y="3657600"/>
                </a:lnTo>
                <a:lnTo>
                  <a:pt x="1057452" y="3657600"/>
                </a:lnTo>
                <a:lnTo>
                  <a:pt x="1068134" y="3657600"/>
                </a:lnTo>
                <a:lnTo>
                  <a:pt x="1078815" y="3657600"/>
                </a:lnTo>
                <a:lnTo>
                  <a:pt x="1089496" y="3657600"/>
                </a:lnTo>
                <a:lnTo>
                  <a:pt x="1100178" y="3657600"/>
                </a:lnTo>
                <a:lnTo>
                  <a:pt x="1110859" y="3657600"/>
                </a:lnTo>
                <a:lnTo>
                  <a:pt x="1121540" y="3657600"/>
                </a:lnTo>
                <a:lnTo>
                  <a:pt x="1132222" y="3657600"/>
                </a:lnTo>
                <a:lnTo>
                  <a:pt x="1142903" y="3657600"/>
                </a:lnTo>
                <a:lnTo>
                  <a:pt x="1153584" y="3657600"/>
                </a:lnTo>
                <a:lnTo>
                  <a:pt x="1164266" y="3657600"/>
                </a:lnTo>
                <a:lnTo>
                  <a:pt x="1174947" y="3657600"/>
                </a:lnTo>
                <a:lnTo>
                  <a:pt x="1185629" y="3657600"/>
                </a:lnTo>
                <a:lnTo>
                  <a:pt x="1196310" y="3657600"/>
                </a:lnTo>
                <a:lnTo>
                  <a:pt x="1206991" y="3657600"/>
                </a:lnTo>
                <a:lnTo>
                  <a:pt x="1217673" y="3657600"/>
                </a:lnTo>
                <a:lnTo>
                  <a:pt x="1228354" y="3657600"/>
                </a:lnTo>
                <a:lnTo>
                  <a:pt x="1239035" y="3657600"/>
                </a:lnTo>
                <a:lnTo>
                  <a:pt x="1249717" y="3657600"/>
                </a:lnTo>
                <a:lnTo>
                  <a:pt x="1260398" y="3657600"/>
                </a:lnTo>
                <a:lnTo>
                  <a:pt x="1271079" y="3657600"/>
                </a:lnTo>
                <a:lnTo>
                  <a:pt x="1281761" y="3657600"/>
                </a:lnTo>
                <a:lnTo>
                  <a:pt x="1292442" y="3657600"/>
                </a:lnTo>
                <a:lnTo>
                  <a:pt x="1303123" y="3657600"/>
                </a:lnTo>
                <a:lnTo>
                  <a:pt x="1313805" y="3657600"/>
                </a:lnTo>
                <a:lnTo>
                  <a:pt x="1324486" y="3657600"/>
                </a:lnTo>
                <a:lnTo>
                  <a:pt x="1335167" y="3657600"/>
                </a:lnTo>
                <a:lnTo>
                  <a:pt x="1345849" y="3657600"/>
                </a:lnTo>
                <a:lnTo>
                  <a:pt x="1356530" y="3657600"/>
                </a:lnTo>
                <a:lnTo>
                  <a:pt x="1367212" y="3657600"/>
                </a:lnTo>
                <a:lnTo>
                  <a:pt x="1377893" y="3657600"/>
                </a:lnTo>
                <a:lnTo>
                  <a:pt x="1388574" y="3657600"/>
                </a:lnTo>
                <a:lnTo>
                  <a:pt x="1399256" y="3657600"/>
                </a:lnTo>
                <a:lnTo>
                  <a:pt x="1409937" y="3657600"/>
                </a:lnTo>
                <a:lnTo>
                  <a:pt x="1420618" y="3657600"/>
                </a:lnTo>
                <a:lnTo>
                  <a:pt x="1431300" y="3657600"/>
                </a:lnTo>
                <a:lnTo>
                  <a:pt x="1441981" y="3657600"/>
                </a:lnTo>
                <a:lnTo>
                  <a:pt x="1452662" y="3657600"/>
                </a:lnTo>
                <a:lnTo>
                  <a:pt x="1463344" y="3657600"/>
                </a:lnTo>
                <a:lnTo>
                  <a:pt x="1474025" y="3657600"/>
                </a:lnTo>
                <a:lnTo>
                  <a:pt x="1484706" y="3657600"/>
                </a:lnTo>
                <a:lnTo>
                  <a:pt x="1495388" y="3657600"/>
                </a:lnTo>
                <a:lnTo>
                  <a:pt x="1506069" y="3657600"/>
                </a:lnTo>
                <a:lnTo>
                  <a:pt x="1516750" y="3657600"/>
                </a:lnTo>
                <a:lnTo>
                  <a:pt x="1527432" y="3657600"/>
                </a:lnTo>
                <a:lnTo>
                  <a:pt x="1538113" y="3657600"/>
                </a:lnTo>
                <a:lnTo>
                  <a:pt x="1548794" y="3657600"/>
                </a:lnTo>
                <a:lnTo>
                  <a:pt x="1559476" y="3657600"/>
                </a:lnTo>
                <a:lnTo>
                  <a:pt x="1570157" y="3657600"/>
                </a:lnTo>
                <a:lnTo>
                  <a:pt x="1580839" y="3657600"/>
                </a:lnTo>
                <a:lnTo>
                  <a:pt x="1591520" y="3657600"/>
                </a:lnTo>
                <a:lnTo>
                  <a:pt x="1602201" y="3657600"/>
                </a:lnTo>
                <a:lnTo>
                  <a:pt x="1612883" y="3657600"/>
                </a:lnTo>
                <a:lnTo>
                  <a:pt x="1623564" y="3657600"/>
                </a:lnTo>
                <a:lnTo>
                  <a:pt x="1634245" y="3657600"/>
                </a:lnTo>
                <a:lnTo>
                  <a:pt x="1644927" y="3657600"/>
                </a:lnTo>
                <a:lnTo>
                  <a:pt x="1655608" y="3657600"/>
                </a:lnTo>
                <a:lnTo>
                  <a:pt x="1666289" y="3657600"/>
                </a:lnTo>
                <a:lnTo>
                  <a:pt x="1676971" y="3657600"/>
                </a:lnTo>
                <a:lnTo>
                  <a:pt x="1687652" y="3657600"/>
                </a:lnTo>
                <a:lnTo>
                  <a:pt x="1698333" y="3657600"/>
                </a:lnTo>
                <a:lnTo>
                  <a:pt x="1709015" y="3657600"/>
                </a:lnTo>
                <a:lnTo>
                  <a:pt x="1719696" y="3657600"/>
                </a:lnTo>
                <a:lnTo>
                  <a:pt x="1730377" y="3657600"/>
                </a:lnTo>
                <a:lnTo>
                  <a:pt x="1741059" y="3657600"/>
                </a:lnTo>
                <a:lnTo>
                  <a:pt x="1751740" y="3657600"/>
                </a:lnTo>
                <a:lnTo>
                  <a:pt x="1762422" y="3657600"/>
                </a:lnTo>
                <a:lnTo>
                  <a:pt x="1773103" y="3657600"/>
                </a:lnTo>
                <a:lnTo>
                  <a:pt x="1783784" y="3657600"/>
                </a:lnTo>
                <a:lnTo>
                  <a:pt x="1794466" y="3657600"/>
                </a:lnTo>
                <a:lnTo>
                  <a:pt x="1805147" y="3657600"/>
                </a:lnTo>
                <a:lnTo>
                  <a:pt x="1815828" y="3657600"/>
                </a:lnTo>
                <a:lnTo>
                  <a:pt x="1826510" y="3657600"/>
                </a:lnTo>
                <a:lnTo>
                  <a:pt x="1837191" y="3657600"/>
                </a:lnTo>
                <a:lnTo>
                  <a:pt x="1847872" y="3657600"/>
                </a:lnTo>
                <a:lnTo>
                  <a:pt x="1858554" y="3657600"/>
                </a:lnTo>
                <a:lnTo>
                  <a:pt x="1869235" y="3657600"/>
                </a:lnTo>
                <a:lnTo>
                  <a:pt x="1879916" y="3657600"/>
                </a:lnTo>
                <a:lnTo>
                  <a:pt x="1890598" y="3657600"/>
                </a:lnTo>
                <a:lnTo>
                  <a:pt x="1901279" y="3657600"/>
                </a:lnTo>
                <a:lnTo>
                  <a:pt x="1911960" y="3657600"/>
                </a:lnTo>
                <a:lnTo>
                  <a:pt x="1922642" y="3657600"/>
                </a:lnTo>
                <a:lnTo>
                  <a:pt x="1933323" y="3657600"/>
                </a:lnTo>
                <a:lnTo>
                  <a:pt x="1944005" y="3657600"/>
                </a:lnTo>
                <a:lnTo>
                  <a:pt x="1954686" y="3657600"/>
                </a:lnTo>
                <a:lnTo>
                  <a:pt x="1965367" y="3657600"/>
                </a:lnTo>
                <a:lnTo>
                  <a:pt x="1976049" y="3657600"/>
                </a:lnTo>
                <a:lnTo>
                  <a:pt x="1986730" y="3657600"/>
                </a:lnTo>
                <a:lnTo>
                  <a:pt x="1997411" y="3657600"/>
                </a:lnTo>
                <a:lnTo>
                  <a:pt x="2008093" y="3657600"/>
                </a:lnTo>
                <a:lnTo>
                  <a:pt x="2018774" y="3657600"/>
                </a:lnTo>
                <a:lnTo>
                  <a:pt x="2029455" y="3657600"/>
                </a:lnTo>
                <a:lnTo>
                  <a:pt x="2040137" y="3657600"/>
                </a:lnTo>
                <a:lnTo>
                  <a:pt x="2050818" y="3657600"/>
                </a:lnTo>
                <a:lnTo>
                  <a:pt x="2061499" y="3657600"/>
                </a:lnTo>
                <a:lnTo>
                  <a:pt x="2072181" y="3657600"/>
                </a:lnTo>
                <a:lnTo>
                  <a:pt x="2082862" y="3657600"/>
                </a:lnTo>
                <a:lnTo>
                  <a:pt x="2093543" y="3657600"/>
                </a:lnTo>
                <a:lnTo>
                  <a:pt x="2104225" y="3657600"/>
                </a:lnTo>
                <a:lnTo>
                  <a:pt x="2114906" y="3657600"/>
                </a:lnTo>
                <a:lnTo>
                  <a:pt x="2125587" y="3657600"/>
                </a:lnTo>
                <a:lnTo>
                  <a:pt x="2136269" y="0"/>
                </a:lnTo>
                <a:lnTo>
                  <a:pt x="2146950" y="0"/>
                </a:lnTo>
                <a:lnTo>
                  <a:pt x="2157632" y="0"/>
                </a:lnTo>
                <a:lnTo>
                  <a:pt x="2168313" y="0"/>
                </a:lnTo>
                <a:lnTo>
                  <a:pt x="2178994" y="0"/>
                </a:lnTo>
                <a:lnTo>
                  <a:pt x="2189676" y="0"/>
                </a:lnTo>
                <a:lnTo>
                  <a:pt x="2200357" y="0"/>
                </a:lnTo>
                <a:lnTo>
                  <a:pt x="2211038" y="0"/>
                </a:lnTo>
                <a:lnTo>
                  <a:pt x="2221720" y="0"/>
                </a:lnTo>
                <a:lnTo>
                  <a:pt x="2232401" y="0"/>
                </a:lnTo>
                <a:lnTo>
                  <a:pt x="2243082" y="0"/>
                </a:lnTo>
                <a:lnTo>
                  <a:pt x="2253764" y="0"/>
                </a:lnTo>
                <a:lnTo>
                  <a:pt x="2264445" y="0"/>
                </a:lnTo>
                <a:lnTo>
                  <a:pt x="2275126" y="0"/>
                </a:lnTo>
                <a:lnTo>
                  <a:pt x="2285808" y="0"/>
                </a:lnTo>
                <a:lnTo>
                  <a:pt x="2296489" y="0"/>
                </a:lnTo>
                <a:lnTo>
                  <a:pt x="2307170" y="0"/>
                </a:lnTo>
                <a:lnTo>
                  <a:pt x="2317852" y="0"/>
                </a:lnTo>
                <a:lnTo>
                  <a:pt x="2328533" y="0"/>
                </a:lnTo>
                <a:lnTo>
                  <a:pt x="2339215" y="0"/>
                </a:lnTo>
                <a:lnTo>
                  <a:pt x="2349896" y="0"/>
                </a:lnTo>
                <a:lnTo>
                  <a:pt x="2360577" y="0"/>
                </a:lnTo>
                <a:lnTo>
                  <a:pt x="2371259" y="0"/>
                </a:lnTo>
                <a:lnTo>
                  <a:pt x="2381940" y="0"/>
                </a:lnTo>
                <a:lnTo>
                  <a:pt x="2392621" y="0"/>
                </a:lnTo>
                <a:lnTo>
                  <a:pt x="2403303" y="0"/>
                </a:lnTo>
                <a:lnTo>
                  <a:pt x="2413984" y="0"/>
                </a:lnTo>
                <a:lnTo>
                  <a:pt x="2424665" y="0"/>
                </a:lnTo>
                <a:lnTo>
                  <a:pt x="2435347" y="0"/>
                </a:lnTo>
                <a:lnTo>
                  <a:pt x="2446028" y="0"/>
                </a:lnTo>
                <a:lnTo>
                  <a:pt x="2456709" y="0"/>
                </a:lnTo>
                <a:lnTo>
                  <a:pt x="2467391" y="0"/>
                </a:lnTo>
                <a:lnTo>
                  <a:pt x="2478072" y="0"/>
                </a:lnTo>
                <a:lnTo>
                  <a:pt x="2488753" y="0"/>
                </a:lnTo>
                <a:lnTo>
                  <a:pt x="2499435" y="0"/>
                </a:lnTo>
                <a:lnTo>
                  <a:pt x="2510116" y="0"/>
                </a:lnTo>
                <a:lnTo>
                  <a:pt x="2520797" y="0"/>
                </a:lnTo>
                <a:lnTo>
                  <a:pt x="2531479" y="0"/>
                </a:lnTo>
                <a:lnTo>
                  <a:pt x="2542160" y="0"/>
                </a:lnTo>
                <a:lnTo>
                  <a:pt x="2552842" y="0"/>
                </a:lnTo>
                <a:lnTo>
                  <a:pt x="2563523" y="0"/>
                </a:lnTo>
                <a:lnTo>
                  <a:pt x="2574204" y="0"/>
                </a:lnTo>
                <a:lnTo>
                  <a:pt x="2584886" y="0"/>
                </a:lnTo>
                <a:lnTo>
                  <a:pt x="2595567" y="0"/>
                </a:lnTo>
                <a:lnTo>
                  <a:pt x="2606248" y="0"/>
                </a:lnTo>
                <a:lnTo>
                  <a:pt x="2616930" y="0"/>
                </a:lnTo>
                <a:lnTo>
                  <a:pt x="2627611" y="0"/>
                </a:lnTo>
                <a:lnTo>
                  <a:pt x="2638292" y="0"/>
                </a:lnTo>
                <a:lnTo>
                  <a:pt x="2648974" y="0"/>
                </a:lnTo>
                <a:lnTo>
                  <a:pt x="2659655" y="0"/>
                </a:lnTo>
                <a:lnTo>
                  <a:pt x="2670336" y="0"/>
                </a:lnTo>
                <a:lnTo>
                  <a:pt x="2681018" y="0"/>
                </a:lnTo>
                <a:lnTo>
                  <a:pt x="2691699" y="0"/>
                </a:lnTo>
                <a:lnTo>
                  <a:pt x="2702380" y="0"/>
                </a:lnTo>
                <a:lnTo>
                  <a:pt x="2713062" y="0"/>
                </a:lnTo>
                <a:lnTo>
                  <a:pt x="2723743" y="0"/>
                </a:lnTo>
                <a:lnTo>
                  <a:pt x="2734425" y="0"/>
                </a:lnTo>
                <a:lnTo>
                  <a:pt x="2745106" y="0"/>
                </a:lnTo>
                <a:lnTo>
                  <a:pt x="2755787" y="0"/>
                </a:lnTo>
                <a:lnTo>
                  <a:pt x="2766469" y="0"/>
                </a:lnTo>
                <a:lnTo>
                  <a:pt x="2777150" y="0"/>
                </a:lnTo>
                <a:lnTo>
                  <a:pt x="2787831" y="0"/>
                </a:lnTo>
                <a:lnTo>
                  <a:pt x="2798513" y="0"/>
                </a:lnTo>
                <a:lnTo>
                  <a:pt x="2809194" y="0"/>
                </a:lnTo>
                <a:lnTo>
                  <a:pt x="2819875" y="0"/>
                </a:lnTo>
                <a:lnTo>
                  <a:pt x="2830557" y="0"/>
                </a:lnTo>
                <a:lnTo>
                  <a:pt x="2841238" y="0"/>
                </a:lnTo>
                <a:lnTo>
                  <a:pt x="2851919" y="0"/>
                </a:lnTo>
                <a:lnTo>
                  <a:pt x="2862601" y="0"/>
                </a:lnTo>
                <a:lnTo>
                  <a:pt x="2873282" y="0"/>
                </a:lnTo>
                <a:lnTo>
                  <a:pt x="2883963" y="0"/>
                </a:lnTo>
                <a:lnTo>
                  <a:pt x="2894645" y="0"/>
                </a:lnTo>
                <a:lnTo>
                  <a:pt x="2905326" y="0"/>
                </a:lnTo>
                <a:lnTo>
                  <a:pt x="2916008" y="0"/>
                </a:lnTo>
                <a:lnTo>
                  <a:pt x="2926689" y="0"/>
                </a:lnTo>
                <a:lnTo>
                  <a:pt x="2937370" y="0"/>
                </a:lnTo>
                <a:lnTo>
                  <a:pt x="2948052" y="0"/>
                </a:lnTo>
                <a:lnTo>
                  <a:pt x="2958733" y="0"/>
                </a:lnTo>
                <a:lnTo>
                  <a:pt x="2969414" y="0"/>
                </a:lnTo>
                <a:lnTo>
                  <a:pt x="2980096" y="0"/>
                </a:lnTo>
                <a:lnTo>
                  <a:pt x="2990777" y="0"/>
                </a:lnTo>
                <a:lnTo>
                  <a:pt x="3001458" y="0"/>
                </a:lnTo>
                <a:lnTo>
                  <a:pt x="3012140" y="0"/>
                </a:lnTo>
                <a:lnTo>
                  <a:pt x="3022821" y="0"/>
                </a:lnTo>
                <a:lnTo>
                  <a:pt x="3033502" y="0"/>
                </a:lnTo>
                <a:lnTo>
                  <a:pt x="3044184" y="0"/>
                </a:lnTo>
                <a:lnTo>
                  <a:pt x="3054865" y="0"/>
                </a:lnTo>
                <a:lnTo>
                  <a:pt x="3065546" y="0"/>
                </a:lnTo>
                <a:lnTo>
                  <a:pt x="3076228" y="0"/>
                </a:lnTo>
                <a:lnTo>
                  <a:pt x="3086909" y="0"/>
                </a:lnTo>
                <a:lnTo>
                  <a:pt x="3097590" y="0"/>
                </a:lnTo>
                <a:lnTo>
                  <a:pt x="3108272" y="0"/>
                </a:lnTo>
                <a:lnTo>
                  <a:pt x="3118953" y="0"/>
                </a:lnTo>
                <a:lnTo>
                  <a:pt x="3129635" y="0"/>
                </a:lnTo>
                <a:lnTo>
                  <a:pt x="3140316" y="0"/>
                </a:lnTo>
                <a:lnTo>
                  <a:pt x="3150997" y="0"/>
                </a:lnTo>
                <a:lnTo>
                  <a:pt x="3161679" y="0"/>
                </a:lnTo>
                <a:lnTo>
                  <a:pt x="3172360" y="0"/>
                </a:lnTo>
                <a:lnTo>
                  <a:pt x="3183041" y="0"/>
                </a:lnTo>
                <a:lnTo>
                  <a:pt x="3193723" y="0"/>
                </a:lnTo>
                <a:lnTo>
                  <a:pt x="3204404" y="0"/>
                </a:lnTo>
                <a:lnTo>
                  <a:pt x="3215085" y="0"/>
                </a:lnTo>
                <a:lnTo>
                  <a:pt x="3225767" y="0"/>
                </a:lnTo>
                <a:lnTo>
                  <a:pt x="3236448" y="0"/>
                </a:lnTo>
                <a:lnTo>
                  <a:pt x="3247129" y="0"/>
                </a:lnTo>
                <a:lnTo>
                  <a:pt x="3257811" y="0"/>
                </a:lnTo>
                <a:lnTo>
                  <a:pt x="3268492" y="0"/>
                </a:lnTo>
                <a:lnTo>
                  <a:pt x="3279173" y="0"/>
                </a:lnTo>
                <a:lnTo>
                  <a:pt x="3289855" y="0"/>
                </a:lnTo>
                <a:lnTo>
                  <a:pt x="3300536" y="0"/>
                </a:lnTo>
                <a:lnTo>
                  <a:pt x="3311218" y="0"/>
                </a:lnTo>
                <a:lnTo>
                  <a:pt x="3321899" y="0"/>
                </a:lnTo>
                <a:lnTo>
                  <a:pt x="3332580" y="0"/>
                </a:lnTo>
                <a:lnTo>
                  <a:pt x="3343262" y="0"/>
                </a:lnTo>
                <a:lnTo>
                  <a:pt x="3353943" y="0"/>
                </a:lnTo>
                <a:lnTo>
                  <a:pt x="3364624" y="0"/>
                </a:lnTo>
                <a:lnTo>
                  <a:pt x="3375306" y="0"/>
                </a:lnTo>
                <a:lnTo>
                  <a:pt x="3385987" y="0"/>
                </a:lnTo>
                <a:lnTo>
                  <a:pt x="3396668" y="0"/>
                </a:lnTo>
                <a:lnTo>
                  <a:pt x="3407350" y="0"/>
                </a:lnTo>
                <a:lnTo>
                  <a:pt x="3418031" y="0"/>
                </a:lnTo>
                <a:lnTo>
                  <a:pt x="3428712" y="0"/>
                </a:lnTo>
                <a:lnTo>
                  <a:pt x="3439394" y="0"/>
                </a:lnTo>
                <a:lnTo>
                  <a:pt x="3450075" y="0"/>
                </a:lnTo>
                <a:lnTo>
                  <a:pt x="3460756" y="0"/>
                </a:lnTo>
                <a:lnTo>
                  <a:pt x="3471438" y="0"/>
                </a:lnTo>
                <a:lnTo>
                  <a:pt x="3482119" y="0"/>
                </a:lnTo>
                <a:lnTo>
                  <a:pt x="3492801" y="0"/>
                </a:lnTo>
                <a:lnTo>
                  <a:pt x="3503482" y="0"/>
                </a:lnTo>
                <a:lnTo>
                  <a:pt x="3514163" y="0"/>
                </a:lnTo>
                <a:lnTo>
                  <a:pt x="3524845" y="0"/>
                </a:lnTo>
                <a:lnTo>
                  <a:pt x="3535526" y="0"/>
                </a:lnTo>
                <a:lnTo>
                  <a:pt x="3546207" y="0"/>
                </a:lnTo>
                <a:lnTo>
                  <a:pt x="3556889" y="0"/>
                </a:lnTo>
                <a:lnTo>
                  <a:pt x="3567570" y="0"/>
                </a:lnTo>
                <a:lnTo>
                  <a:pt x="3578251" y="0"/>
                </a:lnTo>
                <a:lnTo>
                  <a:pt x="3588933" y="0"/>
                </a:lnTo>
                <a:lnTo>
                  <a:pt x="3599614" y="0"/>
                </a:lnTo>
                <a:lnTo>
                  <a:pt x="3610295" y="0"/>
                </a:lnTo>
                <a:lnTo>
                  <a:pt x="3620977" y="0"/>
                </a:lnTo>
                <a:lnTo>
                  <a:pt x="3631658" y="0"/>
                </a:lnTo>
                <a:lnTo>
                  <a:pt x="3642339" y="0"/>
                </a:lnTo>
                <a:lnTo>
                  <a:pt x="3653021" y="0"/>
                </a:lnTo>
                <a:lnTo>
                  <a:pt x="3663702" y="0"/>
                </a:lnTo>
                <a:lnTo>
                  <a:pt x="3674383" y="0"/>
                </a:lnTo>
                <a:lnTo>
                  <a:pt x="3685065" y="0"/>
                </a:lnTo>
                <a:lnTo>
                  <a:pt x="3695746" y="0"/>
                </a:lnTo>
                <a:lnTo>
                  <a:pt x="3706428" y="0"/>
                </a:lnTo>
                <a:lnTo>
                  <a:pt x="3717109" y="0"/>
                </a:lnTo>
                <a:lnTo>
                  <a:pt x="3727790" y="0"/>
                </a:lnTo>
                <a:lnTo>
                  <a:pt x="3738472" y="0"/>
                </a:lnTo>
                <a:lnTo>
                  <a:pt x="3749153" y="0"/>
                </a:lnTo>
                <a:lnTo>
                  <a:pt x="3759834" y="0"/>
                </a:lnTo>
                <a:lnTo>
                  <a:pt x="3770516" y="0"/>
                </a:lnTo>
                <a:lnTo>
                  <a:pt x="3781197" y="0"/>
                </a:lnTo>
                <a:lnTo>
                  <a:pt x="3791878" y="0"/>
                </a:lnTo>
                <a:lnTo>
                  <a:pt x="3802560" y="0"/>
                </a:lnTo>
                <a:lnTo>
                  <a:pt x="3813241" y="0"/>
                </a:lnTo>
                <a:lnTo>
                  <a:pt x="3823922" y="0"/>
                </a:lnTo>
                <a:lnTo>
                  <a:pt x="3834604" y="0"/>
                </a:lnTo>
                <a:lnTo>
                  <a:pt x="3845285" y="0"/>
                </a:lnTo>
                <a:lnTo>
                  <a:pt x="3855966" y="0"/>
                </a:lnTo>
                <a:lnTo>
                  <a:pt x="3866648" y="0"/>
                </a:lnTo>
                <a:lnTo>
                  <a:pt x="3877329" y="0"/>
                </a:lnTo>
                <a:lnTo>
                  <a:pt x="3888011" y="0"/>
                </a:lnTo>
                <a:lnTo>
                  <a:pt x="3898692" y="0"/>
                </a:lnTo>
                <a:lnTo>
                  <a:pt x="3909373" y="0"/>
                </a:lnTo>
                <a:lnTo>
                  <a:pt x="3920055" y="0"/>
                </a:lnTo>
                <a:lnTo>
                  <a:pt x="3930736" y="0"/>
                </a:lnTo>
                <a:lnTo>
                  <a:pt x="3941417" y="0"/>
                </a:lnTo>
                <a:lnTo>
                  <a:pt x="3952099" y="0"/>
                </a:lnTo>
                <a:lnTo>
                  <a:pt x="3962780" y="0"/>
                </a:lnTo>
                <a:lnTo>
                  <a:pt x="3973461" y="0"/>
                </a:lnTo>
                <a:lnTo>
                  <a:pt x="3984143" y="0"/>
                </a:lnTo>
                <a:lnTo>
                  <a:pt x="3994824" y="0"/>
                </a:lnTo>
                <a:lnTo>
                  <a:pt x="4005505" y="0"/>
                </a:lnTo>
                <a:lnTo>
                  <a:pt x="4016187" y="0"/>
                </a:lnTo>
                <a:lnTo>
                  <a:pt x="4026868" y="0"/>
                </a:lnTo>
                <a:lnTo>
                  <a:pt x="4037549" y="0"/>
                </a:lnTo>
                <a:lnTo>
                  <a:pt x="4048231" y="0"/>
                </a:lnTo>
                <a:lnTo>
                  <a:pt x="4058912" y="0"/>
                </a:lnTo>
                <a:lnTo>
                  <a:pt x="4069593" y="0"/>
                </a:lnTo>
                <a:lnTo>
                  <a:pt x="4080275" y="0"/>
                </a:lnTo>
                <a:lnTo>
                  <a:pt x="4090956" y="0"/>
                </a:lnTo>
                <a:lnTo>
                  <a:pt x="4101638" y="0"/>
                </a:lnTo>
                <a:lnTo>
                  <a:pt x="4112319" y="0"/>
                </a:lnTo>
                <a:lnTo>
                  <a:pt x="4123000" y="0"/>
                </a:lnTo>
                <a:lnTo>
                  <a:pt x="4133682" y="0"/>
                </a:lnTo>
                <a:lnTo>
                  <a:pt x="4144363" y="0"/>
                </a:lnTo>
                <a:lnTo>
                  <a:pt x="4155044" y="0"/>
                </a:lnTo>
                <a:lnTo>
                  <a:pt x="4165726" y="0"/>
                </a:lnTo>
                <a:lnTo>
                  <a:pt x="4176407" y="0"/>
                </a:lnTo>
                <a:lnTo>
                  <a:pt x="4187088" y="0"/>
                </a:lnTo>
                <a:lnTo>
                  <a:pt x="4197770" y="0"/>
                </a:lnTo>
                <a:lnTo>
                  <a:pt x="4208451" y="0"/>
                </a:lnTo>
                <a:lnTo>
                  <a:pt x="4219132" y="0"/>
                </a:lnTo>
                <a:lnTo>
                  <a:pt x="4229814" y="0"/>
                </a:lnTo>
                <a:lnTo>
                  <a:pt x="4240495" y="0"/>
                </a:lnTo>
                <a:lnTo>
                  <a:pt x="4251176" y="0"/>
                </a:lnTo>
                <a:lnTo>
                  <a:pt x="4261858" y="0"/>
                </a:lnTo>
                <a:lnTo>
                  <a:pt x="4272539" y="3657600"/>
                </a:lnTo>
                <a:lnTo>
                  <a:pt x="4283221" y="3657600"/>
                </a:lnTo>
                <a:lnTo>
                  <a:pt x="4293902" y="3657600"/>
                </a:lnTo>
                <a:lnTo>
                  <a:pt x="4304583" y="3657600"/>
                </a:lnTo>
                <a:lnTo>
                  <a:pt x="4315265" y="3657600"/>
                </a:lnTo>
                <a:lnTo>
                  <a:pt x="4325946" y="3657600"/>
                </a:lnTo>
                <a:lnTo>
                  <a:pt x="4336627" y="3657600"/>
                </a:lnTo>
                <a:lnTo>
                  <a:pt x="4347309" y="3657600"/>
                </a:lnTo>
                <a:lnTo>
                  <a:pt x="4357990" y="3657600"/>
                </a:lnTo>
                <a:lnTo>
                  <a:pt x="4368671" y="3657600"/>
                </a:lnTo>
                <a:lnTo>
                  <a:pt x="4379353" y="3657600"/>
                </a:lnTo>
                <a:lnTo>
                  <a:pt x="4390034" y="3657600"/>
                </a:lnTo>
                <a:lnTo>
                  <a:pt x="4400715" y="3657600"/>
                </a:lnTo>
                <a:lnTo>
                  <a:pt x="4411397" y="3657600"/>
                </a:lnTo>
                <a:lnTo>
                  <a:pt x="4422078" y="3657600"/>
                </a:lnTo>
                <a:lnTo>
                  <a:pt x="4432759" y="3657600"/>
                </a:lnTo>
                <a:lnTo>
                  <a:pt x="4443441" y="3657600"/>
                </a:lnTo>
                <a:lnTo>
                  <a:pt x="4454122" y="3657600"/>
                </a:lnTo>
                <a:lnTo>
                  <a:pt x="4464804" y="3657600"/>
                </a:lnTo>
                <a:lnTo>
                  <a:pt x="4475485" y="3657600"/>
                </a:lnTo>
                <a:lnTo>
                  <a:pt x="4486166" y="3657600"/>
                </a:lnTo>
                <a:lnTo>
                  <a:pt x="4496848" y="3657600"/>
                </a:lnTo>
                <a:lnTo>
                  <a:pt x="4507529" y="3657600"/>
                </a:lnTo>
                <a:lnTo>
                  <a:pt x="4518210" y="3657600"/>
                </a:lnTo>
                <a:lnTo>
                  <a:pt x="4528892" y="3657600"/>
                </a:lnTo>
                <a:lnTo>
                  <a:pt x="4539573" y="3657600"/>
                </a:lnTo>
                <a:lnTo>
                  <a:pt x="4550254" y="3657600"/>
                </a:lnTo>
                <a:lnTo>
                  <a:pt x="4560936" y="3657600"/>
                </a:lnTo>
                <a:lnTo>
                  <a:pt x="4571617" y="3657600"/>
                </a:lnTo>
                <a:lnTo>
                  <a:pt x="4582298" y="3657600"/>
                </a:lnTo>
                <a:lnTo>
                  <a:pt x="4592980" y="3657600"/>
                </a:lnTo>
                <a:lnTo>
                  <a:pt x="4603661" y="3657600"/>
                </a:lnTo>
                <a:lnTo>
                  <a:pt x="4614342" y="3657600"/>
                </a:lnTo>
                <a:lnTo>
                  <a:pt x="4625024" y="3657600"/>
                </a:lnTo>
                <a:lnTo>
                  <a:pt x="4635705" y="3657600"/>
                </a:lnTo>
                <a:lnTo>
                  <a:pt x="4646386" y="3657600"/>
                </a:lnTo>
                <a:lnTo>
                  <a:pt x="4657068" y="3657600"/>
                </a:lnTo>
                <a:lnTo>
                  <a:pt x="4667749" y="3657600"/>
                </a:lnTo>
                <a:lnTo>
                  <a:pt x="4678431" y="3657600"/>
                </a:lnTo>
                <a:lnTo>
                  <a:pt x="4689112" y="3657600"/>
                </a:lnTo>
                <a:lnTo>
                  <a:pt x="4699793" y="3657600"/>
                </a:lnTo>
                <a:lnTo>
                  <a:pt x="4710475" y="3657600"/>
                </a:lnTo>
                <a:lnTo>
                  <a:pt x="4721156" y="3657600"/>
                </a:lnTo>
                <a:lnTo>
                  <a:pt x="4731837" y="3657600"/>
                </a:lnTo>
                <a:lnTo>
                  <a:pt x="4742519" y="3657600"/>
                </a:lnTo>
                <a:lnTo>
                  <a:pt x="4753200" y="3657600"/>
                </a:lnTo>
                <a:lnTo>
                  <a:pt x="4763881" y="3657600"/>
                </a:lnTo>
                <a:lnTo>
                  <a:pt x="4774563" y="3657600"/>
                </a:lnTo>
                <a:lnTo>
                  <a:pt x="4785244" y="3657600"/>
                </a:lnTo>
                <a:lnTo>
                  <a:pt x="4795925" y="3657600"/>
                </a:lnTo>
                <a:lnTo>
                  <a:pt x="4806607" y="3657600"/>
                </a:lnTo>
                <a:lnTo>
                  <a:pt x="4817288" y="3657600"/>
                </a:lnTo>
                <a:lnTo>
                  <a:pt x="4827969" y="3657600"/>
                </a:lnTo>
                <a:lnTo>
                  <a:pt x="4838651" y="3657600"/>
                </a:lnTo>
                <a:lnTo>
                  <a:pt x="4849332" y="3657600"/>
                </a:lnTo>
                <a:lnTo>
                  <a:pt x="4860014" y="3657600"/>
                </a:lnTo>
                <a:lnTo>
                  <a:pt x="4870695" y="3657600"/>
                </a:lnTo>
                <a:lnTo>
                  <a:pt x="4881376" y="3657600"/>
                </a:lnTo>
                <a:lnTo>
                  <a:pt x="4892058" y="3657600"/>
                </a:lnTo>
                <a:lnTo>
                  <a:pt x="4902739" y="3657600"/>
                </a:lnTo>
                <a:lnTo>
                  <a:pt x="4913420" y="3657600"/>
                </a:lnTo>
                <a:lnTo>
                  <a:pt x="4924102" y="3657600"/>
                </a:lnTo>
                <a:lnTo>
                  <a:pt x="4934783" y="3657600"/>
                </a:lnTo>
                <a:lnTo>
                  <a:pt x="4945464" y="3657600"/>
                </a:lnTo>
                <a:lnTo>
                  <a:pt x="4956146" y="3657600"/>
                </a:lnTo>
                <a:lnTo>
                  <a:pt x="4966827" y="3657600"/>
                </a:lnTo>
                <a:lnTo>
                  <a:pt x="4977508" y="3657600"/>
                </a:lnTo>
                <a:lnTo>
                  <a:pt x="4988190" y="3657600"/>
                </a:lnTo>
                <a:lnTo>
                  <a:pt x="4998871" y="3657600"/>
                </a:lnTo>
                <a:lnTo>
                  <a:pt x="5009552" y="3657600"/>
                </a:lnTo>
                <a:lnTo>
                  <a:pt x="5020234" y="3657600"/>
                </a:lnTo>
                <a:lnTo>
                  <a:pt x="5030915" y="3657600"/>
                </a:lnTo>
                <a:lnTo>
                  <a:pt x="5041596" y="3657600"/>
                </a:lnTo>
                <a:lnTo>
                  <a:pt x="5052278" y="3657600"/>
                </a:lnTo>
                <a:lnTo>
                  <a:pt x="5062959" y="3657600"/>
                </a:lnTo>
                <a:lnTo>
                  <a:pt x="5073641" y="3657600"/>
                </a:lnTo>
                <a:lnTo>
                  <a:pt x="5084322" y="3657600"/>
                </a:lnTo>
                <a:lnTo>
                  <a:pt x="5095003" y="3657600"/>
                </a:lnTo>
                <a:lnTo>
                  <a:pt x="5105685" y="3657600"/>
                </a:lnTo>
                <a:lnTo>
                  <a:pt x="5116366" y="3657600"/>
                </a:lnTo>
                <a:lnTo>
                  <a:pt x="5127047" y="3657600"/>
                </a:lnTo>
                <a:lnTo>
                  <a:pt x="5137729" y="3657600"/>
                </a:lnTo>
                <a:lnTo>
                  <a:pt x="5148410" y="3657600"/>
                </a:lnTo>
                <a:lnTo>
                  <a:pt x="5159091" y="3657600"/>
                </a:lnTo>
                <a:lnTo>
                  <a:pt x="5169773" y="3657600"/>
                </a:lnTo>
                <a:lnTo>
                  <a:pt x="5180454" y="3657600"/>
                </a:lnTo>
                <a:lnTo>
                  <a:pt x="5191135" y="3657600"/>
                </a:lnTo>
                <a:lnTo>
                  <a:pt x="5201817" y="3657600"/>
                </a:lnTo>
                <a:lnTo>
                  <a:pt x="5212498" y="3657600"/>
                </a:lnTo>
                <a:lnTo>
                  <a:pt x="5223179" y="3657600"/>
                </a:lnTo>
                <a:lnTo>
                  <a:pt x="5233861" y="3657600"/>
                </a:lnTo>
                <a:lnTo>
                  <a:pt x="5244542" y="3657600"/>
                </a:lnTo>
                <a:lnTo>
                  <a:pt x="5255224" y="3657600"/>
                </a:lnTo>
                <a:lnTo>
                  <a:pt x="5265905" y="3657600"/>
                </a:lnTo>
                <a:lnTo>
                  <a:pt x="5276586" y="3657600"/>
                </a:lnTo>
                <a:lnTo>
                  <a:pt x="5287268" y="3657600"/>
                </a:lnTo>
                <a:lnTo>
                  <a:pt x="5297949" y="3657600"/>
                </a:lnTo>
                <a:lnTo>
                  <a:pt x="5308630" y="3657600"/>
                </a:lnTo>
                <a:lnTo>
                  <a:pt x="5319312" y="3657600"/>
                </a:lnTo>
                <a:lnTo>
                  <a:pt x="5329993" y="3657600"/>
                </a:lnTo>
                <a:lnTo>
                  <a:pt x="5340674" y="3657600"/>
                </a:lnTo>
                <a:lnTo>
                  <a:pt x="5351356" y="3657600"/>
                </a:lnTo>
                <a:lnTo>
                  <a:pt x="5362037" y="3657600"/>
                </a:lnTo>
                <a:lnTo>
                  <a:pt x="5372718" y="3657600"/>
                </a:lnTo>
                <a:lnTo>
                  <a:pt x="5383400" y="3657600"/>
                </a:lnTo>
                <a:lnTo>
                  <a:pt x="5394081" y="3657600"/>
                </a:lnTo>
                <a:lnTo>
                  <a:pt x="5404762" y="3657600"/>
                </a:lnTo>
                <a:lnTo>
                  <a:pt x="5415444" y="3657600"/>
                </a:lnTo>
                <a:lnTo>
                  <a:pt x="5426125" y="3657600"/>
                </a:lnTo>
                <a:lnTo>
                  <a:pt x="5436807" y="3657600"/>
                </a:lnTo>
                <a:lnTo>
                  <a:pt x="5447488" y="3657600"/>
                </a:lnTo>
                <a:lnTo>
                  <a:pt x="5458169" y="3657600"/>
                </a:lnTo>
                <a:lnTo>
                  <a:pt x="5468851" y="3657600"/>
                </a:lnTo>
                <a:lnTo>
                  <a:pt x="5479532" y="3657600"/>
                </a:lnTo>
                <a:lnTo>
                  <a:pt x="5490213" y="3657600"/>
                </a:lnTo>
                <a:lnTo>
                  <a:pt x="5500895" y="3657600"/>
                </a:lnTo>
                <a:lnTo>
                  <a:pt x="5511576" y="3657600"/>
                </a:lnTo>
                <a:lnTo>
                  <a:pt x="5522257" y="3657600"/>
                </a:lnTo>
                <a:lnTo>
                  <a:pt x="5532939" y="3657600"/>
                </a:lnTo>
                <a:lnTo>
                  <a:pt x="5543620" y="3657600"/>
                </a:lnTo>
                <a:lnTo>
                  <a:pt x="5554301" y="3657600"/>
                </a:lnTo>
                <a:lnTo>
                  <a:pt x="5564983" y="3657600"/>
                </a:lnTo>
                <a:lnTo>
                  <a:pt x="5575664" y="3657600"/>
                </a:lnTo>
                <a:lnTo>
                  <a:pt x="5586345" y="3657600"/>
                </a:lnTo>
                <a:lnTo>
                  <a:pt x="5597027" y="3657600"/>
                </a:lnTo>
                <a:lnTo>
                  <a:pt x="5607708" y="3657600"/>
                </a:lnTo>
                <a:lnTo>
                  <a:pt x="5618389" y="3657600"/>
                </a:lnTo>
                <a:lnTo>
                  <a:pt x="5629071" y="3657600"/>
                </a:lnTo>
                <a:lnTo>
                  <a:pt x="5639752" y="3657600"/>
                </a:lnTo>
                <a:lnTo>
                  <a:pt x="5650434" y="3657600"/>
                </a:lnTo>
                <a:lnTo>
                  <a:pt x="5661115" y="3657600"/>
                </a:lnTo>
                <a:lnTo>
                  <a:pt x="5671796" y="3657600"/>
                </a:lnTo>
                <a:lnTo>
                  <a:pt x="5682478" y="3657600"/>
                </a:lnTo>
                <a:lnTo>
                  <a:pt x="5693159" y="3657600"/>
                </a:lnTo>
                <a:lnTo>
                  <a:pt x="5703840" y="3657600"/>
                </a:lnTo>
                <a:lnTo>
                  <a:pt x="5714522" y="3657600"/>
                </a:lnTo>
                <a:lnTo>
                  <a:pt x="5725203" y="3657600"/>
                </a:lnTo>
                <a:lnTo>
                  <a:pt x="5735884" y="3657600"/>
                </a:lnTo>
                <a:lnTo>
                  <a:pt x="5746566" y="3657600"/>
                </a:lnTo>
                <a:lnTo>
                  <a:pt x="5757247" y="3657600"/>
                </a:lnTo>
                <a:lnTo>
                  <a:pt x="5767928" y="3657600"/>
                </a:lnTo>
                <a:lnTo>
                  <a:pt x="5778610" y="3657600"/>
                </a:lnTo>
                <a:lnTo>
                  <a:pt x="5789291" y="3657600"/>
                </a:lnTo>
                <a:lnTo>
                  <a:pt x="5799972" y="3657600"/>
                </a:lnTo>
                <a:lnTo>
                  <a:pt x="5810654" y="3657600"/>
                </a:lnTo>
                <a:lnTo>
                  <a:pt x="5821335" y="3657600"/>
                </a:lnTo>
                <a:lnTo>
                  <a:pt x="5832017" y="3657600"/>
                </a:lnTo>
                <a:lnTo>
                  <a:pt x="5842698" y="3657600"/>
                </a:lnTo>
                <a:lnTo>
                  <a:pt x="5853379" y="3657600"/>
                </a:lnTo>
                <a:lnTo>
                  <a:pt x="5864061" y="3657600"/>
                </a:lnTo>
                <a:lnTo>
                  <a:pt x="5874742" y="3657600"/>
                </a:lnTo>
                <a:lnTo>
                  <a:pt x="5885423" y="3657600"/>
                </a:lnTo>
                <a:lnTo>
                  <a:pt x="5896105" y="3657600"/>
                </a:lnTo>
                <a:lnTo>
                  <a:pt x="5906786" y="3657600"/>
                </a:lnTo>
                <a:lnTo>
                  <a:pt x="5917467" y="3657600"/>
                </a:lnTo>
                <a:lnTo>
                  <a:pt x="5928149" y="3657600"/>
                </a:lnTo>
                <a:lnTo>
                  <a:pt x="5938830" y="3657600"/>
                </a:lnTo>
                <a:lnTo>
                  <a:pt x="5949511" y="3657600"/>
                </a:lnTo>
                <a:lnTo>
                  <a:pt x="5960193" y="3657600"/>
                </a:lnTo>
                <a:lnTo>
                  <a:pt x="5970874" y="3657600"/>
                </a:lnTo>
                <a:lnTo>
                  <a:pt x="5981555" y="3657600"/>
                </a:lnTo>
                <a:lnTo>
                  <a:pt x="5992237" y="3657600"/>
                </a:lnTo>
                <a:lnTo>
                  <a:pt x="6002918" y="3657600"/>
                </a:lnTo>
                <a:lnTo>
                  <a:pt x="6013600" y="3657600"/>
                </a:lnTo>
                <a:lnTo>
                  <a:pt x="6024281" y="3657600"/>
                </a:lnTo>
                <a:lnTo>
                  <a:pt x="6034962" y="3657600"/>
                </a:lnTo>
                <a:lnTo>
                  <a:pt x="6045644" y="3657600"/>
                </a:lnTo>
                <a:lnTo>
                  <a:pt x="6056325" y="3657600"/>
                </a:lnTo>
                <a:lnTo>
                  <a:pt x="6067006" y="3657600"/>
                </a:lnTo>
                <a:lnTo>
                  <a:pt x="6077688" y="3657600"/>
                </a:lnTo>
                <a:lnTo>
                  <a:pt x="6088369" y="3657600"/>
                </a:lnTo>
                <a:lnTo>
                  <a:pt x="6099050" y="3657600"/>
                </a:lnTo>
                <a:lnTo>
                  <a:pt x="6109732" y="3657600"/>
                </a:lnTo>
                <a:lnTo>
                  <a:pt x="6120413" y="3657600"/>
                </a:lnTo>
                <a:lnTo>
                  <a:pt x="6131094" y="3657600"/>
                </a:lnTo>
                <a:lnTo>
                  <a:pt x="6141776" y="3657600"/>
                </a:lnTo>
                <a:lnTo>
                  <a:pt x="6152457" y="3657600"/>
                </a:lnTo>
                <a:lnTo>
                  <a:pt x="6163138" y="3657600"/>
                </a:lnTo>
                <a:lnTo>
                  <a:pt x="6173820" y="3657600"/>
                </a:lnTo>
                <a:lnTo>
                  <a:pt x="6184501" y="3657600"/>
                </a:lnTo>
                <a:lnTo>
                  <a:pt x="6195182" y="3657600"/>
                </a:lnTo>
                <a:lnTo>
                  <a:pt x="6205864" y="3657600"/>
                </a:lnTo>
                <a:lnTo>
                  <a:pt x="6216545" y="3657600"/>
                </a:lnTo>
                <a:lnTo>
                  <a:pt x="6227227" y="3657600"/>
                </a:lnTo>
                <a:lnTo>
                  <a:pt x="6237908" y="3657600"/>
                </a:lnTo>
                <a:lnTo>
                  <a:pt x="6248589" y="3657600"/>
                </a:lnTo>
                <a:lnTo>
                  <a:pt x="6259271" y="3657600"/>
                </a:lnTo>
                <a:lnTo>
                  <a:pt x="6269952" y="3657600"/>
                </a:lnTo>
                <a:lnTo>
                  <a:pt x="6280633" y="3657600"/>
                </a:lnTo>
                <a:lnTo>
                  <a:pt x="6291315" y="3657600"/>
                </a:lnTo>
                <a:lnTo>
                  <a:pt x="6301996" y="3657600"/>
                </a:lnTo>
                <a:lnTo>
                  <a:pt x="6312677" y="3657600"/>
                </a:lnTo>
                <a:lnTo>
                  <a:pt x="6323359" y="3657600"/>
                </a:lnTo>
                <a:lnTo>
                  <a:pt x="6334040" y="3657600"/>
                </a:lnTo>
                <a:lnTo>
                  <a:pt x="6344721" y="3657600"/>
                </a:lnTo>
                <a:lnTo>
                  <a:pt x="6355403" y="3657600"/>
                </a:lnTo>
                <a:lnTo>
                  <a:pt x="6366084" y="3657600"/>
                </a:lnTo>
                <a:lnTo>
                  <a:pt x="6376765" y="3657600"/>
                </a:lnTo>
                <a:lnTo>
                  <a:pt x="6387447" y="3657600"/>
                </a:lnTo>
                <a:lnTo>
                  <a:pt x="6398128" y="3657600"/>
                </a:lnTo>
                <a:lnTo>
                  <a:pt x="6408810" y="3657600"/>
                </a:lnTo>
                <a:lnTo>
                  <a:pt x="6419491" y="3657600"/>
                </a:lnTo>
                <a:lnTo>
                  <a:pt x="6430172" y="3657600"/>
                </a:lnTo>
                <a:lnTo>
                  <a:pt x="6440854" y="3657600"/>
                </a:lnTo>
                <a:lnTo>
                  <a:pt x="6451535" y="3657600"/>
                </a:lnTo>
                <a:lnTo>
                  <a:pt x="6462216" y="3657600"/>
                </a:lnTo>
                <a:lnTo>
                  <a:pt x="6472898" y="3657600"/>
                </a:lnTo>
                <a:lnTo>
                  <a:pt x="6483579" y="3657600"/>
                </a:lnTo>
                <a:lnTo>
                  <a:pt x="6494260" y="3657600"/>
                </a:lnTo>
                <a:lnTo>
                  <a:pt x="6504942" y="3657600"/>
                </a:lnTo>
                <a:lnTo>
                  <a:pt x="6515623" y="3657600"/>
                </a:lnTo>
                <a:lnTo>
                  <a:pt x="6526304" y="3657600"/>
                </a:lnTo>
                <a:lnTo>
                  <a:pt x="6536986" y="3657600"/>
                </a:lnTo>
                <a:lnTo>
                  <a:pt x="6547667" y="3657600"/>
                </a:lnTo>
                <a:lnTo>
                  <a:pt x="6558348" y="3657600"/>
                </a:lnTo>
                <a:lnTo>
                  <a:pt x="6569030" y="3657600"/>
                </a:lnTo>
                <a:lnTo>
                  <a:pt x="6579711" y="3657600"/>
                </a:lnTo>
                <a:lnTo>
                  <a:pt x="6590392" y="3657600"/>
                </a:lnTo>
                <a:lnTo>
                  <a:pt x="6601074" y="3657600"/>
                </a:lnTo>
                <a:lnTo>
                  <a:pt x="6611755" y="3657600"/>
                </a:lnTo>
                <a:lnTo>
                  <a:pt x="6622437" y="3657600"/>
                </a:lnTo>
                <a:lnTo>
                  <a:pt x="6633118" y="3657600"/>
                </a:lnTo>
                <a:lnTo>
                  <a:pt x="6643799" y="3657600"/>
                </a:lnTo>
                <a:lnTo>
                  <a:pt x="6654481" y="3657600"/>
                </a:lnTo>
                <a:lnTo>
                  <a:pt x="6665162" y="3657600"/>
                </a:lnTo>
                <a:lnTo>
                  <a:pt x="6675843" y="3657600"/>
                </a:lnTo>
                <a:lnTo>
                  <a:pt x="6686525" y="3657600"/>
                </a:lnTo>
                <a:lnTo>
                  <a:pt x="6697206" y="3657600"/>
                </a:lnTo>
                <a:lnTo>
                  <a:pt x="6707887" y="3657600"/>
                </a:lnTo>
                <a:lnTo>
                  <a:pt x="6718569" y="3657600"/>
                </a:lnTo>
                <a:lnTo>
                  <a:pt x="6729250" y="3657600"/>
                </a:lnTo>
                <a:lnTo>
                  <a:pt x="6739931" y="3657600"/>
                </a:lnTo>
                <a:lnTo>
                  <a:pt x="6750613" y="3657600"/>
                </a:lnTo>
                <a:lnTo>
                  <a:pt x="6761294" y="3657600"/>
                </a:lnTo>
                <a:lnTo>
                  <a:pt x="6771975" y="3657600"/>
                </a:lnTo>
                <a:lnTo>
                  <a:pt x="6782657" y="3657600"/>
                </a:lnTo>
                <a:lnTo>
                  <a:pt x="6793338" y="3657600"/>
                </a:lnTo>
                <a:lnTo>
                  <a:pt x="6804020" y="3657600"/>
                </a:lnTo>
                <a:lnTo>
                  <a:pt x="6814701" y="3657600"/>
                </a:lnTo>
                <a:lnTo>
                  <a:pt x="6825382" y="3657600"/>
                </a:lnTo>
                <a:lnTo>
                  <a:pt x="6836064" y="3657600"/>
                </a:lnTo>
                <a:lnTo>
                  <a:pt x="6846745" y="3657600"/>
                </a:lnTo>
                <a:lnTo>
                  <a:pt x="6857426" y="3657600"/>
                </a:lnTo>
                <a:lnTo>
                  <a:pt x="6868108" y="3657600"/>
                </a:lnTo>
                <a:lnTo>
                  <a:pt x="6878789" y="3657600"/>
                </a:lnTo>
                <a:lnTo>
                  <a:pt x="6889470" y="3657600"/>
                </a:lnTo>
                <a:lnTo>
                  <a:pt x="6900152" y="3657600"/>
                </a:lnTo>
                <a:lnTo>
                  <a:pt x="6910833" y="3657600"/>
                </a:lnTo>
                <a:lnTo>
                  <a:pt x="6921514" y="3657600"/>
                </a:lnTo>
                <a:lnTo>
                  <a:pt x="6932196" y="3657600"/>
                </a:lnTo>
                <a:lnTo>
                  <a:pt x="6942877" y="3657600"/>
                </a:lnTo>
                <a:lnTo>
                  <a:pt x="6953558" y="3657600"/>
                </a:lnTo>
                <a:lnTo>
                  <a:pt x="6964240" y="3657600"/>
                </a:lnTo>
                <a:lnTo>
                  <a:pt x="6974921" y="3657600"/>
                </a:lnTo>
                <a:lnTo>
                  <a:pt x="6985603" y="3657600"/>
                </a:lnTo>
                <a:lnTo>
                  <a:pt x="6996284" y="3657600"/>
                </a:lnTo>
                <a:lnTo>
                  <a:pt x="7006965" y="3657600"/>
                </a:lnTo>
                <a:lnTo>
                  <a:pt x="7017647" y="3657600"/>
                </a:lnTo>
                <a:lnTo>
                  <a:pt x="7028328" y="3657600"/>
                </a:lnTo>
                <a:lnTo>
                  <a:pt x="7039009" y="3657600"/>
                </a:lnTo>
                <a:lnTo>
                  <a:pt x="7049691" y="3657600"/>
                </a:lnTo>
                <a:lnTo>
                  <a:pt x="7060372" y="3657600"/>
                </a:lnTo>
                <a:lnTo>
                  <a:pt x="7071053" y="3657600"/>
                </a:lnTo>
                <a:lnTo>
                  <a:pt x="7081735" y="3657600"/>
                </a:lnTo>
                <a:lnTo>
                  <a:pt x="7092416" y="3657600"/>
                </a:lnTo>
                <a:lnTo>
                  <a:pt x="7103097" y="3657600"/>
                </a:lnTo>
                <a:lnTo>
                  <a:pt x="7113779" y="3657600"/>
                </a:lnTo>
                <a:lnTo>
                  <a:pt x="7124460" y="3657600"/>
                </a:lnTo>
                <a:lnTo>
                  <a:pt x="7135141" y="3657600"/>
                </a:lnTo>
                <a:lnTo>
                  <a:pt x="7145823" y="3657600"/>
                </a:lnTo>
                <a:lnTo>
                  <a:pt x="7156504" y="3657600"/>
                </a:lnTo>
                <a:lnTo>
                  <a:pt x="7167185" y="3657600"/>
                </a:lnTo>
                <a:lnTo>
                  <a:pt x="7177867" y="3657600"/>
                </a:lnTo>
                <a:lnTo>
                  <a:pt x="7188548" y="3657600"/>
                </a:lnTo>
                <a:lnTo>
                  <a:pt x="7199230" y="3657600"/>
                </a:lnTo>
                <a:lnTo>
                  <a:pt x="7209911" y="3657600"/>
                </a:lnTo>
                <a:lnTo>
                  <a:pt x="7220592" y="3657600"/>
                </a:lnTo>
                <a:lnTo>
                  <a:pt x="7231274" y="3657600"/>
                </a:lnTo>
                <a:lnTo>
                  <a:pt x="7241955" y="3657600"/>
                </a:lnTo>
                <a:lnTo>
                  <a:pt x="7252636" y="3657600"/>
                </a:lnTo>
                <a:lnTo>
                  <a:pt x="7263318" y="3657600"/>
                </a:lnTo>
                <a:lnTo>
                  <a:pt x="7273999" y="3657600"/>
                </a:lnTo>
                <a:lnTo>
                  <a:pt x="7284680" y="3657600"/>
                </a:lnTo>
                <a:lnTo>
                  <a:pt x="7295362" y="3657600"/>
                </a:lnTo>
                <a:lnTo>
                  <a:pt x="7306043" y="3657600"/>
                </a:lnTo>
                <a:lnTo>
                  <a:pt x="7316724" y="3657600"/>
                </a:lnTo>
                <a:lnTo>
                  <a:pt x="7327406" y="3657600"/>
                </a:lnTo>
                <a:lnTo>
                  <a:pt x="7338087" y="3657600"/>
                </a:lnTo>
                <a:lnTo>
                  <a:pt x="7348768" y="3657600"/>
                </a:lnTo>
                <a:lnTo>
                  <a:pt x="7359450" y="3657600"/>
                </a:lnTo>
                <a:lnTo>
                  <a:pt x="7370131" y="3657600"/>
                </a:lnTo>
                <a:lnTo>
                  <a:pt x="7380813" y="3657600"/>
                </a:lnTo>
                <a:lnTo>
                  <a:pt x="7391494" y="3657600"/>
                </a:lnTo>
                <a:lnTo>
                  <a:pt x="7402175" y="3657600"/>
                </a:lnTo>
                <a:lnTo>
                  <a:pt x="7412857" y="3657600"/>
                </a:lnTo>
                <a:lnTo>
                  <a:pt x="7423538" y="3657600"/>
                </a:lnTo>
                <a:lnTo>
                  <a:pt x="7434219" y="3657600"/>
                </a:lnTo>
                <a:lnTo>
                  <a:pt x="7444901" y="3657600"/>
                </a:lnTo>
                <a:lnTo>
                  <a:pt x="7455582" y="3657600"/>
                </a:lnTo>
                <a:lnTo>
                  <a:pt x="7466263" y="3657600"/>
                </a:lnTo>
                <a:lnTo>
                  <a:pt x="7476945" y="3657600"/>
                </a:lnTo>
                <a:lnTo>
                  <a:pt x="7487626" y="3657600"/>
                </a:lnTo>
                <a:lnTo>
                  <a:pt x="7498307" y="3657600"/>
                </a:lnTo>
                <a:lnTo>
                  <a:pt x="7508989" y="3657600"/>
                </a:lnTo>
                <a:lnTo>
                  <a:pt x="7519670" y="3657600"/>
                </a:lnTo>
                <a:lnTo>
                  <a:pt x="7530351" y="3657600"/>
                </a:lnTo>
                <a:lnTo>
                  <a:pt x="7541033" y="3657600"/>
                </a:lnTo>
                <a:lnTo>
                  <a:pt x="7551714" y="3657600"/>
                </a:lnTo>
                <a:lnTo>
                  <a:pt x="7562395" y="3657600"/>
                </a:lnTo>
                <a:lnTo>
                  <a:pt x="7573077" y="3657600"/>
                </a:lnTo>
                <a:lnTo>
                  <a:pt x="7583758" y="3657600"/>
                </a:lnTo>
                <a:lnTo>
                  <a:pt x="7594440" y="3657600"/>
                </a:lnTo>
                <a:lnTo>
                  <a:pt x="7605121" y="3657600"/>
                </a:lnTo>
                <a:lnTo>
                  <a:pt x="7615802" y="3657600"/>
                </a:lnTo>
                <a:lnTo>
                  <a:pt x="7626484" y="3657600"/>
                </a:lnTo>
                <a:lnTo>
                  <a:pt x="7637165" y="3657600"/>
                </a:lnTo>
                <a:lnTo>
                  <a:pt x="7647846" y="3657600"/>
                </a:lnTo>
                <a:lnTo>
                  <a:pt x="7658528" y="3657600"/>
                </a:lnTo>
                <a:lnTo>
                  <a:pt x="7669209" y="3657600"/>
                </a:lnTo>
                <a:lnTo>
                  <a:pt x="7679890" y="3657600"/>
                </a:lnTo>
                <a:lnTo>
                  <a:pt x="7690572" y="3657600"/>
                </a:lnTo>
                <a:lnTo>
                  <a:pt x="7701253" y="3657600"/>
                </a:lnTo>
                <a:lnTo>
                  <a:pt x="7711934" y="3657600"/>
                </a:lnTo>
                <a:lnTo>
                  <a:pt x="7722616" y="3657600"/>
                </a:lnTo>
                <a:lnTo>
                  <a:pt x="7733297" y="3657600"/>
                </a:lnTo>
                <a:lnTo>
                  <a:pt x="7743978" y="3657600"/>
                </a:lnTo>
                <a:lnTo>
                  <a:pt x="7754660" y="3657600"/>
                </a:lnTo>
                <a:lnTo>
                  <a:pt x="7765341" y="3657600"/>
                </a:lnTo>
                <a:lnTo>
                  <a:pt x="7776023" y="3657600"/>
                </a:lnTo>
                <a:lnTo>
                  <a:pt x="7786704" y="3657600"/>
                </a:lnTo>
                <a:lnTo>
                  <a:pt x="7797385" y="3657600"/>
                </a:lnTo>
                <a:lnTo>
                  <a:pt x="7808067" y="3657600"/>
                </a:lnTo>
                <a:lnTo>
                  <a:pt x="7818748" y="3657600"/>
                </a:lnTo>
                <a:lnTo>
                  <a:pt x="7829429" y="3657600"/>
                </a:lnTo>
                <a:lnTo>
                  <a:pt x="7840111" y="3657600"/>
                </a:lnTo>
                <a:lnTo>
                  <a:pt x="7850792" y="3657600"/>
                </a:lnTo>
                <a:lnTo>
                  <a:pt x="7861473" y="3657600"/>
                </a:lnTo>
                <a:lnTo>
                  <a:pt x="7872155" y="3657600"/>
                </a:lnTo>
                <a:lnTo>
                  <a:pt x="7882836" y="3657600"/>
                </a:lnTo>
                <a:lnTo>
                  <a:pt x="7893517" y="3657600"/>
                </a:lnTo>
                <a:lnTo>
                  <a:pt x="7904199" y="3657600"/>
                </a:lnTo>
                <a:lnTo>
                  <a:pt x="7914880" y="3657600"/>
                </a:lnTo>
                <a:lnTo>
                  <a:pt x="7925561" y="3657600"/>
                </a:lnTo>
                <a:lnTo>
                  <a:pt x="7936243" y="3657600"/>
                </a:lnTo>
                <a:lnTo>
                  <a:pt x="7946924" y="3657600"/>
                </a:lnTo>
                <a:lnTo>
                  <a:pt x="7957606" y="3657600"/>
                </a:lnTo>
                <a:lnTo>
                  <a:pt x="7968287" y="3657600"/>
                </a:lnTo>
                <a:lnTo>
                  <a:pt x="7978968" y="3657600"/>
                </a:lnTo>
                <a:lnTo>
                  <a:pt x="7989650" y="3657600"/>
                </a:lnTo>
                <a:lnTo>
                  <a:pt x="8000331" y="3657600"/>
                </a:lnTo>
                <a:lnTo>
                  <a:pt x="8011012" y="3657600"/>
                </a:lnTo>
                <a:lnTo>
                  <a:pt x="8021694" y="3657600"/>
                </a:lnTo>
                <a:lnTo>
                  <a:pt x="8032375" y="3657600"/>
                </a:lnTo>
                <a:lnTo>
                  <a:pt x="8043056" y="3657600"/>
                </a:lnTo>
                <a:lnTo>
                  <a:pt x="8053738" y="3657600"/>
                </a:lnTo>
                <a:lnTo>
                  <a:pt x="8064419" y="3657600"/>
                </a:lnTo>
                <a:lnTo>
                  <a:pt x="8075100" y="3657600"/>
                </a:lnTo>
                <a:lnTo>
                  <a:pt x="8085782" y="3657600"/>
                </a:lnTo>
                <a:lnTo>
                  <a:pt x="8096463" y="3657600"/>
                </a:lnTo>
                <a:lnTo>
                  <a:pt x="8107144" y="3657600"/>
                </a:lnTo>
                <a:lnTo>
                  <a:pt x="8117826" y="3657600"/>
                </a:lnTo>
                <a:lnTo>
                  <a:pt x="8128507" y="3657600"/>
                </a:lnTo>
                <a:lnTo>
                  <a:pt x="8139188" y="3657600"/>
                </a:lnTo>
                <a:lnTo>
                  <a:pt x="8149870" y="3657600"/>
                </a:lnTo>
                <a:lnTo>
                  <a:pt x="8160551" y="3657600"/>
                </a:lnTo>
                <a:lnTo>
                  <a:pt x="8171233" y="3657600"/>
                </a:lnTo>
                <a:lnTo>
                  <a:pt x="8181914" y="3657600"/>
                </a:lnTo>
                <a:lnTo>
                  <a:pt x="8192595" y="3657600"/>
                </a:lnTo>
                <a:lnTo>
                  <a:pt x="8203277" y="3657600"/>
                </a:lnTo>
                <a:lnTo>
                  <a:pt x="8213958" y="3657600"/>
                </a:lnTo>
                <a:lnTo>
                  <a:pt x="8224639" y="3657600"/>
                </a:lnTo>
                <a:lnTo>
                  <a:pt x="8235321" y="3657600"/>
                </a:lnTo>
                <a:lnTo>
                  <a:pt x="8246002" y="3657600"/>
                </a:lnTo>
                <a:lnTo>
                  <a:pt x="8256683" y="3657600"/>
                </a:lnTo>
                <a:lnTo>
                  <a:pt x="8267365" y="3657600"/>
                </a:lnTo>
                <a:lnTo>
                  <a:pt x="8278046" y="3657600"/>
                </a:lnTo>
                <a:lnTo>
                  <a:pt x="8288727" y="3657600"/>
                </a:lnTo>
                <a:lnTo>
                  <a:pt x="8299409" y="3657600"/>
                </a:lnTo>
                <a:lnTo>
                  <a:pt x="8310090" y="3657600"/>
                </a:lnTo>
                <a:lnTo>
                  <a:pt x="8320771" y="3657600"/>
                </a:lnTo>
                <a:lnTo>
                  <a:pt x="8331453" y="3657600"/>
                </a:lnTo>
                <a:lnTo>
                  <a:pt x="8342134" y="3657600"/>
                </a:lnTo>
                <a:lnTo>
                  <a:pt x="8352816" y="3657600"/>
                </a:lnTo>
                <a:lnTo>
                  <a:pt x="8363497" y="3657600"/>
                </a:lnTo>
                <a:lnTo>
                  <a:pt x="8374178" y="3657600"/>
                </a:lnTo>
                <a:lnTo>
                  <a:pt x="8384860" y="3657600"/>
                </a:lnTo>
                <a:lnTo>
                  <a:pt x="8395541" y="3657600"/>
                </a:lnTo>
                <a:lnTo>
                  <a:pt x="8406222" y="3657600"/>
                </a:lnTo>
                <a:lnTo>
                  <a:pt x="8416904" y="3657600"/>
                </a:lnTo>
                <a:lnTo>
                  <a:pt x="8427585" y="3657600"/>
                </a:lnTo>
                <a:lnTo>
                  <a:pt x="8438266" y="3657600"/>
                </a:lnTo>
                <a:lnTo>
                  <a:pt x="8448948" y="3657600"/>
                </a:lnTo>
                <a:lnTo>
                  <a:pt x="8459629" y="3657600"/>
                </a:lnTo>
                <a:lnTo>
                  <a:pt x="8470310" y="3657600"/>
                </a:lnTo>
                <a:lnTo>
                  <a:pt x="8480992" y="3657600"/>
                </a:lnTo>
                <a:lnTo>
                  <a:pt x="8491673" y="3657600"/>
                </a:lnTo>
                <a:lnTo>
                  <a:pt x="8502354" y="3657600"/>
                </a:lnTo>
                <a:lnTo>
                  <a:pt x="8513036" y="3657600"/>
                </a:lnTo>
                <a:lnTo>
                  <a:pt x="8523717" y="3657600"/>
                </a:lnTo>
                <a:lnTo>
                  <a:pt x="8534399" y="3657600"/>
                </a:lnTo>
                <a:lnTo>
                  <a:pt x="8534399" y="3657600"/>
                </a:lnTo>
                <a:lnTo>
                  <a:pt x="8523717" y="3657600"/>
                </a:lnTo>
                <a:lnTo>
                  <a:pt x="8513036" y="3657600"/>
                </a:lnTo>
                <a:lnTo>
                  <a:pt x="8502354" y="3657600"/>
                </a:lnTo>
                <a:lnTo>
                  <a:pt x="8491673" y="3657600"/>
                </a:lnTo>
                <a:lnTo>
                  <a:pt x="8480992" y="3657600"/>
                </a:lnTo>
                <a:lnTo>
                  <a:pt x="8470310" y="3657600"/>
                </a:lnTo>
                <a:lnTo>
                  <a:pt x="8459629" y="3657600"/>
                </a:lnTo>
                <a:lnTo>
                  <a:pt x="8448948" y="3657600"/>
                </a:lnTo>
                <a:lnTo>
                  <a:pt x="8438266" y="3657600"/>
                </a:lnTo>
                <a:lnTo>
                  <a:pt x="8427585" y="3657600"/>
                </a:lnTo>
                <a:lnTo>
                  <a:pt x="8416904" y="3657600"/>
                </a:lnTo>
                <a:lnTo>
                  <a:pt x="8406222" y="3657600"/>
                </a:lnTo>
                <a:lnTo>
                  <a:pt x="8395541" y="3657600"/>
                </a:lnTo>
                <a:lnTo>
                  <a:pt x="8384860" y="3657600"/>
                </a:lnTo>
                <a:lnTo>
                  <a:pt x="8374178" y="3657600"/>
                </a:lnTo>
                <a:lnTo>
                  <a:pt x="8363497" y="3657600"/>
                </a:lnTo>
                <a:lnTo>
                  <a:pt x="8352816" y="3657600"/>
                </a:lnTo>
                <a:lnTo>
                  <a:pt x="8342134" y="3657600"/>
                </a:lnTo>
                <a:lnTo>
                  <a:pt x="8331453" y="3657600"/>
                </a:lnTo>
                <a:lnTo>
                  <a:pt x="8320771" y="3657600"/>
                </a:lnTo>
                <a:lnTo>
                  <a:pt x="8310090" y="3657600"/>
                </a:lnTo>
                <a:lnTo>
                  <a:pt x="8299409" y="3657600"/>
                </a:lnTo>
                <a:lnTo>
                  <a:pt x="8288727" y="3657600"/>
                </a:lnTo>
                <a:lnTo>
                  <a:pt x="8278046" y="3657600"/>
                </a:lnTo>
                <a:lnTo>
                  <a:pt x="8267365" y="3657600"/>
                </a:lnTo>
                <a:lnTo>
                  <a:pt x="8256683" y="3657600"/>
                </a:lnTo>
                <a:lnTo>
                  <a:pt x="8246002" y="3657600"/>
                </a:lnTo>
                <a:lnTo>
                  <a:pt x="8235321" y="3657600"/>
                </a:lnTo>
                <a:lnTo>
                  <a:pt x="8224639" y="3657600"/>
                </a:lnTo>
                <a:lnTo>
                  <a:pt x="8213958" y="3657600"/>
                </a:lnTo>
                <a:lnTo>
                  <a:pt x="8203277" y="3657600"/>
                </a:lnTo>
                <a:lnTo>
                  <a:pt x="8192595" y="3657600"/>
                </a:lnTo>
                <a:lnTo>
                  <a:pt x="8181914" y="3657600"/>
                </a:lnTo>
                <a:lnTo>
                  <a:pt x="8171233" y="3657600"/>
                </a:lnTo>
                <a:lnTo>
                  <a:pt x="8160551" y="3657600"/>
                </a:lnTo>
                <a:lnTo>
                  <a:pt x="8149870" y="3657600"/>
                </a:lnTo>
                <a:lnTo>
                  <a:pt x="8139188" y="3657600"/>
                </a:lnTo>
                <a:lnTo>
                  <a:pt x="8128507" y="3657600"/>
                </a:lnTo>
                <a:lnTo>
                  <a:pt x="8117826" y="3657600"/>
                </a:lnTo>
                <a:lnTo>
                  <a:pt x="8107144" y="3657600"/>
                </a:lnTo>
                <a:lnTo>
                  <a:pt x="8096463" y="3657600"/>
                </a:lnTo>
                <a:lnTo>
                  <a:pt x="8085782" y="3657600"/>
                </a:lnTo>
                <a:lnTo>
                  <a:pt x="8075100" y="3657600"/>
                </a:lnTo>
                <a:lnTo>
                  <a:pt x="8064419" y="3657600"/>
                </a:lnTo>
                <a:lnTo>
                  <a:pt x="8053738" y="3657600"/>
                </a:lnTo>
                <a:lnTo>
                  <a:pt x="8043056" y="3657600"/>
                </a:lnTo>
                <a:lnTo>
                  <a:pt x="8032375" y="3657600"/>
                </a:lnTo>
                <a:lnTo>
                  <a:pt x="8021694" y="3657600"/>
                </a:lnTo>
                <a:lnTo>
                  <a:pt x="8011012" y="3657600"/>
                </a:lnTo>
                <a:lnTo>
                  <a:pt x="8000331" y="3657600"/>
                </a:lnTo>
                <a:lnTo>
                  <a:pt x="7989650" y="3657600"/>
                </a:lnTo>
                <a:lnTo>
                  <a:pt x="7978968" y="3657600"/>
                </a:lnTo>
                <a:lnTo>
                  <a:pt x="7968287" y="3657600"/>
                </a:lnTo>
                <a:lnTo>
                  <a:pt x="7957606" y="3657600"/>
                </a:lnTo>
                <a:lnTo>
                  <a:pt x="7946924" y="3657600"/>
                </a:lnTo>
                <a:lnTo>
                  <a:pt x="7936243" y="3657600"/>
                </a:lnTo>
                <a:lnTo>
                  <a:pt x="7925561" y="3657600"/>
                </a:lnTo>
                <a:lnTo>
                  <a:pt x="7914880" y="3657600"/>
                </a:lnTo>
                <a:lnTo>
                  <a:pt x="7904199" y="3657600"/>
                </a:lnTo>
                <a:lnTo>
                  <a:pt x="7893517" y="3657600"/>
                </a:lnTo>
                <a:lnTo>
                  <a:pt x="7882836" y="3657600"/>
                </a:lnTo>
                <a:lnTo>
                  <a:pt x="7872155" y="3657600"/>
                </a:lnTo>
                <a:lnTo>
                  <a:pt x="7861473" y="3657600"/>
                </a:lnTo>
                <a:lnTo>
                  <a:pt x="7850792" y="3657600"/>
                </a:lnTo>
                <a:lnTo>
                  <a:pt x="7840111" y="3657600"/>
                </a:lnTo>
                <a:lnTo>
                  <a:pt x="7829429" y="3657600"/>
                </a:lnTo>
                <a:lnTo>
                  <a:pt x="7818748" y="3657600"/>
                </a:lnTo>
                <a:lnTo>
                  <a:pt x="7808067" y="3657600"/>
                </a:lnTo>
                <a:lnTo>
                  <a:pt x="7797385" y="3657600"/>
                </a:lnTo>
                <a:lnTo>
                  <a:pt x="7786704" y="3657600"/>
                </a:lnTo>
                <a:lnTo>
                  <a:pt x="7776023" y="3657600"/>
                </a:lnTo>
                <a:lnTo>
                  <a:pt x="7765341" y="3657600"/>
                </a:lnTo>
                <a:lnTo>
                  <a:pt x="7754660" y="3657600"/>
                </a:lnTo>
                <a:lnTo>
                  <a:pt x="7743978" y="3657600"/>
                </a:lnTo>
                <a:lnTo>
                  <a:pt x="7733297" y="3657600"/>
                </a:lnTo>
                <a:lnTo>
                  <a:pt x="7722616" y="3657600"/>
                </a:lnTo>
                <a:lnTo>
                  <a:pt x="7711934" y="3657600"/>
                </a:lnTo>
                <a:lnTo>
                  <a:pt x="7701253" y="3657600"/>
                </a:lnTo>
                <a:lnTo>
                  <a:pt x="7690572" y="3657600"/>
                </a:lnTo>
                <a:lnTo>
                  <a:pt x="7679890" y="3657600"/>
                </a:lnTo>
                <a:lnTo>
                  <a:pt x="7669209" y="3657600"/>
                </a:lnTo>
                <a:lnTo>
                  <a:pt x="7658528" y="3657600"/>
                </a:lnTo>
                <a:lnTo>
                  <a:pt x="7647846" y="3657600"/>
                </a:lnTo>
                <a:lnTo>
                  <a:pt x="7637165" y="3657600"/>
                </a:lnTo>
                <a:lnTo>
                  <a:pt x="7626484" y="3657600"/>
                </a:lnTo>
                <a:lnTo>
                  <a:pt x="7615802" y="3657600"/>
                </a:lnTo>
                <a:lnTo>
                  <a:pt x="7605121" y="3657600"/>
                </a:lnTo>
                <a:lnTo>
                  <a:pt x="7594440" y="3657600"/>
                </a:lnTo>
                <a:lnTo>
                  <a:pt x="7583758" y="3657600"/>
                </a:lnTo>
                <a:lnTo>
                  <a:pt x="7573077" y="3657600"/>
                </a:lnTo>
                <a:lnTo>
                  <a:pt x="7562395" y="3657600"/>
                </a:lnTo>
                <a:lnTo>
                  <a:pt x="7551714" y="3657600"/>
                </a:lnTo>
                <a:lnTo>
                  <a:pt x="7541033" y="3657600"/>
                </a:lnTo>
                <a:lnTo>
                  <a:pt x="7530351" y="3657600"/>
                </a:lnTo>
                <a:lnTo>
                  <a:pt x="7519670" y="3657600"/>
                </a:lnTo>
                <a:lnTo>
                  <a:pt x="7508989" y="3657600"/>
                </a:lnTo>
                <a:lnTo>
                  <a:pt x="7498307" y="3657600"/>
                </a:lnTo>
                <a:lnTo>
                  <a:pt x="7487626" y="3657600"/>
                </a:lnTo>
                <a:lnTo>
                  <a:pt x="7476945" y="3657600"/>
                </a:lnTo>
                <a:lnTo>
                  <a:pt x="7466263" y="3657600"/>
                </a:lnTo>
                <a:lnTo>
                  <a:pt x="7455582" y="3657600"/>
                </a:lnTo>
                <a:lnTo>
                  <a:pt x="7444901" y="3657600"/>
                </a:lnTo>
                <a:lnTo>
                  <a:pt x="7434219" y="3657600"/>
                </a:lnTo>
                <a:lnTo>
                  <a:pt x="7423538" y="3657600"/>
                </a:lnTo>
                <a:lnTo>
                  <a:pt x="7412857" y="3657600"/>
                </a:lnTo>
                <a:lnTo>
                  <a:pt x="7402175" y="3657600"/>
                </a:lnTo>
                <a:lnTo>
                  <a:pt x="7391494" y="3657600"/>
                </a:lnTo>
                <a:lnTo>
                  <a:pt x="7380813" y="3657600"/>
                </a:lnTo>
                <a:lnTo>
                  <a:pt x="7370131" y="3657600"/>
                </a:lnTo>
                <a:lnTo>
                  <a:pt x="7359450" y="3657600"/>
                </a:lnTo>
                <a:lnTo>
                  <a:pt x="7348768" y="3657600"/>
                </a:lnTo>
                <a:lnTo>
                  <a:pt x="7338087" y="3657600"/>
                </a:lnTo>
                <a:lnTo>
                  <a:pt x="7327406" y="3657600"/>
                </a:lnTo>
                <a:lnTo>
                  <a:pt x="7316724" y="3657600"/>
                </a:lnTo>
                <a:lnTo>
                  <a:pt x="7306043" y="3657600"/>
                </a:lnTo>
                <a:lnTo>
                  <a:pt x="7295362" y="3657600"/>
                </a:lnTo>
                <a:lnTo>
                  <a:pt x="7284680" y="3657600"/>
                </a:lnTo>
                <a:lnTo>
                  <a:pt x="7273999" y="3657600"/>
                </a:lnTo>
                <a:lnTo>
                  <a:pt x="7263318" y="3657600"/>
                </a:lnTo>
                <a:lnTo>
                  <a:pt x="7252636" y="3657600"/>
                </a:lnTo>
                <a:lnTo>
                  <a:pt x="7241955" y="3657600"/>
                </a:lnTo>
                <a:lnTo>
                  <a:pt x="7231274" y="3657600"/>
                </a:lnTo>
                <a:lnTo>
                  <a:pt x="7220592" y="3657600"/>
                </a:lnTo>
                <a:lnTo>
                  <a:pt x="7209911" y="3657600"/>
                </a:lnTo>
                <a:lnTo>
                  <a:pt x="7199230" y="3657600"/>
                </a:lnTo>
                <a:lnTo>
                  <a:pt x="7188548" y="3657600"/>
                </a:lnTo>
                <a:lnTo>
                  <a:pt x="7177867" y="3657600"/>
                </a:lnTo>
                <a:lnTo>
                  <a:pt x="7167185" y="3657600"/>
                </a:lnTo>
                <a:lnTo>
                  <a:pt x="7156504" y="3657600"/>
                </a:lnTo>
                <a:lnTo>
                  <a:pt x="7145823" y="3657600"/>
                </a:lnTo>
                <a:lnTo>
                  <a:pt x="7135141" y="3657600"/>
                </a:lnTo>
                <a:lnTo>
                  <a:pt x="7124460" y="3657600"/>
                </a:lnTo>
                <a:lnTo>
                  <a:pt x="7113779" y="3657600"/>
                </a:lnTo>
                <a:lnTo>
                  <a:pt x="7103097" y="3657600"/>
                </a:lnTo>
                <a:lnTo>
                  <a:pt x="7092416" y="3657600"/>
                </a:lnTo>
                <a:lnTo>
                  <a:pt x="7081735" y="3657600"/>
                </a:lnTo>
                <a:lnTo>
                  <a:pt x="7071053" y="3657600"/>
                </a:lnTo>
                <a:lnTo>
                  <a:pt x="7060372" y="3657600"/>
                </a:lnTo>
                <a:lnTo>
                  <a:pt x="7049691" y="3657600"/>
                </a:lnTo>
                <a:lnTo>
                  <a:pt x="7039009" y="3657600"/>
                </a:lnTo>
                <a:lnTo>
                  <a:pt x="7028328" y="3657600"/>
                </a:lnTo>
                <a:lnTo>
                  <a:pt x="7017647" y="3657600"/>
                </a:lnTo>
                <a:lnTo>
                  <a:pt x="7006965" y="3657600"/>
                </a:lnTo>
                <a:lnTo>
                  <a:pt x="6996284" y="3657600"/>
                </a:lnTo>
                <a:lnTo>
                  <a:pt x="6985603" y="3657600"/>
                </a:lnTo>
                <a:lnTo>
                  <a:pt x="6974921" y="3657600"/>
                </a:lnTo>
                <a:lnTo>
                  <a:pt x="6964240" y="3657600"/>
                </a:lnTo>
                <a:lnTo>
                  <a:pt x="6953558" y="3657600"/>
                </a:lnTo>
                <a:lnTo>
                  <a:pt x="6942877" y="3657600"/>
                </a:lnTo>
                <a:lnTo>
                  <a:pt x="6932196" y="3657600"/>
                </a:lnTo>
                <a:lnTo>
                  <a:pt x="6921514" y="3657600"/>
                </a:lnTo>
                <a:lnTo>
                  <a:pt x="6910833" y="3657600"/>
                </a:lnTo>
                <a:lnTo>
                  <a:pt x="6900152" y="3657600"/>
                </a:lnTo>
                <a:lnTo>
                  <a:pt x="6889470" y="3657600"/>
                </a:lnTo>
                <a:lnTo>
                  <a:pt x="6878789" y="3657600"/>
                </a:lnTo>
                <a:lnTo>
                  <a:pt x="6868108" y="3657600"/>
                </a:lnTo>
                <a:lnTo>
                  <a:pt x="6857426" y="3657600"/>
                </a:lnTo>
                <a:lnTo>
                  <a:pt x="6846745" y="3657600"/>
                </a:lnTo>
                <a:lnTo>
                  <a:pt x="6836064" y="3657600"/>
                </a:lnTo>
                <a:lnTo>
                  <a:pt x="6825382" y="3657600"/>
                </a:lnTo>
                <a:lnTo>
                  <a:pt x="6814701" y="3657600"/>
                </a:lnTo>
                <a:lnTo>
                  <a:pt x="6804020" y="3657600"/>
                </a:lnTo>
                <a:lnTo>
                  <a:pt x="6793338" y="3657600"/>
                </a:lnTo>
                <a:lnTo>
                  <a:pt x="6782657" y="3657600"/>
                </a:lnTo>
                <a:lnTo>
                  <a:pt x="6771975" y="3657600"/>
                </a:lnTo>
                <a:lnTo>
                  <a:pt x="6761294" y="3657600"/>
                </a:lnTo>
                <a:lnTo>
                  <a:pt x="6750613" y="3657600"/>
                </a:lnTo>
                <a:lnTo>
                  <a:pt x="6739931" y="3657600"/>
                </a:lnTo>
                <a:lnTo>
                  <a:pt x="6729250" y="3657600"/>
                </a:lnTo>
                <a:lnTo>
                  <a:pt x="6718569" y="3657600"/>
                </a:lnTo>
                <a:lnTo>
                  <a:pt x="6707887" y="3657600"/>
                </a:lnTo>
                <a:lnTo>
                  <a:pt x="6697206" y="3657600"/>
                </a:lnTo>
                <a:lnTo>
                  <a:pt x="6686525" y="3657600"/>
                </a:lnTo>
                <a:lnTo>
                  <a:pt x="6675843" y="3657600"/>
                </a:lnTo>
                <a:lnTo>
                  <a:pt x="6665162" y="3657600"/>
                </a:lnTo>
                <a:lnTo>
                  <a:pt x="6654481" y="3657600"/>
                </a:lnTo>
                <a:lnTo>
                  <a:pt x="6643799" y="3657600"/>
                </a:lnTo>
                <a:lnTo>
                  <a:pt x="6633118" y="3657600"/>
                </a:lnTo>
                <a:lnTo>
                  <a:pt x="6622437" y="3657600"/>
                </a:lnTo>
                <a:lnTo>
                  <a:pt x="6611755" y="3657600"/>
                </a:lnTo>
                <a:lnTo>
                  <a:pt x="6601074" y="3657600"/>
                </a:lnTo>
                <a:lnTo>
                  <a:pt x="6590392" y="3657600"/>
                </a:lnTo>
                <a:lnTo>
                  <a:pt x="6579711" y="3657600"/>
                </a:lnTo>
                <a:lnTo>
                  <a:pt x="6569030" y="3657600"/>
                </a:lnTo>
                <a:lnTo>
                  <a:pt x="6558348" y="3657600"/>
                </a:lnTo>
                <a:lnTo>
                  <a:pt x="6547667" y="3657600"/>
                </a:lnTo>
                <a:lnTo>
                  <a:pt x="6536986" y="3657600"/>
                </a:lnTo>
                <a:lnTo>
                  <a:pt x="6526304" y="3657600"/>
                </a:lnTo>
                <a:lnTo>
                  <a:pt x="6515623" y="3657600"/>
                </a:lnTo>
                <a:lnTo>
                  <a:pt x="6504942" y="3657600"/>
                </a:lnTo>
                <a:lnTo>
                  <a:pt x="6494260" y="3657600"/>
                </a:lnTo>
                <a:lnTo>
                  <a:pt x="6483579" y="3657600"/>
                </a:lnTo>
                <a:lnTo>
                  <a:pt x="6472898" y="3657600"/>
                </a:lnTo>
                <a:lnTo>
                  <a:pt x="6462216" y="3657600"/>
                </a:lnTo>
                <a:lnTo>
                  <a:pt x="6451535" y="3657600"/>
                </a:lnTo>
                <a:lnTo>
                  <a:pt x="6440854" y="3657600"/>
                </a:lnTo>
                <a:lnTo>
                  <a:pt x="6430172" y="3657600"/>
                </a:lnTo>
                <a:lnTo>
                  <a:pt x="6419491" y="3657600"/>
                </a:lnTo>
                <a:lnTo>
                  <a:pt x="6408810" y="3657600"/>
                </a:lnTo>
                <a:lnTo>
                  <a:pt x="6398128" y="3657600"/>
                </a:lnTo>
                <a:lnTo>
                  <a:pt x="6387447" y="3657600"/>
                </a:lnTo>
                <a:lnTo>
                  <a:pt x="6376765" y="3657600"/>
                </a:lnTo>
                <a:lnTo>
                  <a:pt x="6366084" y="3657600"/>
                </a:lnTo>
                <a:lnTo>
                  <a:pt x="6355403" y="3657600"/>
                </a:lnTo>
                <a:lnTo>
                  <a:pt x="6344721" y="3657600"/>
                </a:lnTo>
                <a:lnTo>
                  <a:pt x="6334040" y="3657600"/>
                </a:lnTo>
                <a:lnTo>
                  <a:pt x="6323359" y="3657600"/>
                </a:lnTo>
                <a:lnTo>
                  <a:pt x="6312677" y="3657600"/>
                </a:lnTo>
                <a:lnTo>
                  <a:pt x="6301996" y="3657600"/>
                </a:lnTo>
                <a:lnTo>
                  <a:pt x="6291315" y="3657600"/>
                </a:lnTo>
                <a:lnTo>
                  <a:pt x="6280633" y="3657600"/>
                </a:lnTo>
                <a:lnTo>
                  <a:pt x="6269952" y="3657600"/>
                </a:lnTo>
                <a:lnTo>
                  <a:pt x="6259271" y="3657600"/>
                </a:lnTo>
                <a:lnTo>
                  <a:pt x="6248589" y="3657600"/>
                </a:lnTo>
                <a:lnTo>
                  <a:pt x="6237908" y="3657600"/>
                </a:lnTo>
                <a:lnTo>
                  <a:pt x="6227227" y="3657600"/>
                </a:lnTo>
                <a:lnTo>
                  <a:pt x="6216545" y="3657600"/>
                </a:lnTo>
                <a:lnTo>
                  <a:pt x="6205864" y="3657600"/>
                </a:lnTo>
                <a:lnTo>
                  <a:pt x="6195182" y="3657600"/>
                </a:lnTo>
                <a:lnTo>
                  <a:pt x="6184501" y="3657600"/>
                </a:lnTo>
                <a:lnTo>
                  <a:pt x="6173820" y="3657600"/>
                </a:lnTo>
                <a:lnTo>
                  <a:pt x="6163138" y="3657600"/>
                </a:lnTo>
                <a:lnTo>
                  <a:pt x="6152457" y="3657600"/>
                </a:lnTo>
                <a:lnTo>
                  <a:pt x="6141776" y="3657600"/>
                </a:lnTo>
                <a:lnTo>
                  <a:pt x="6131094" y="3657600"/>
                </a:lnTo>
                <a:lnTo>
                  <a:pt x="6120413" y="3657600"/>
                </a:lnTo>
                <a:lnTo>
                  <a:pt x="6109732" y="3657600"/>
                </a:lnTo>
                <a:lnTo>
                  <a:pt x="6099050" y="3657600"/>
                </a:lnTo>
                <a:lnTo>
                  <a:pt x="6088369" y="3657600"/>
                </a:lnTo>
                <a:lnTo>
                  <a:pt x="6077688" y="3657600"/>
                </a:lnTo>
                <a:lnTo>
                  <a:pt x="6067006" y="3657600"/>
                </a:lnTo>
                <a:lnTo>
                  <a:pt x="6056325" y="3657600"/>
                </a:lnTo>
                <a:lnTo>
                  <a:pt x="6045644" y="3657600"/>
                </a:lnTo>
                <a:lnTo>
                  <a:pt x="6034962" y="3657600"/>
                </a:lnTo>
                <a:lnTo>
                  <a:pt x="6024281" y="3657600"/>
                </a:lnTo>
                <a:lnTo>
                  <a:pt x="6013600" y="3657600"/>
                </a:lnTo>
                <a:lnTo>
                  <a:pt x="6002918" y="3657600"/>
                </a:lnTo>
                <a:lnTo>
                  <a:pt x="5992237" y="3657600"/>
                </a:lnTo>
                <a:lnTo>
                  <a:pt x="5981555" y="3657600"/>
                </a:lnTo>
                <a:lnTo>
                  <a:pt x="5970874" y="3657600"/>
                </a:lnTo>
                <a:lnTo>
                  <a:pt x="5960193" y="3657600"/>
                </a:lnTo>
                <a:lnTo>
                  <a:pt x="5949511" y="3657600"/>
                </a:lnTo>
                <a:lnTo>
                  <a:pt x="5938830" y="3657600"/>
                </a:lnTo>
                <a:lnTo>
                  <a:pt x="5928149" y="3657600"/>
                </a:lnTo>
                <a:lnTo>
                  <a:pt x="5917467" y="3657600"/>
                </a:lnTo>
                <a:lnTo>
                  <a:pt x="5906786" y="3657600"/>
                </a:lnTo>
                <a:lnTo>
                  <a:pt x="5896105" y="3657600"/>
                </a:lnTo>
                <a:lnTo>
                  <a:pt x="5885423" y="3657600"/>
                </a:lnTo>
                <a:lnTo>
                  <a:pt x="5874742" y="3657600"/>
                </a:lnTo>
                <a:lnTo>
                  <a:pt x="5864061" y="3657600"/>
                </a:lnTo>
                <a:lnTo>
                  <a:pt x="5853379" y="3657600"/>
                </a:lnTo>
                <a:lnTo>
                  <a:pt x="5842698" y="3657600"/>
                </a:lnTo>
                <a:lnTo>
                  <a:pt x="5832017" y="3657600"/>
                </a:lnTo>
                <a:lnTo>
                  <a:pt x="5821335" y="3657600"/>
                </a:lnTo>
                <a:lnTo>
                  <a:pt x="5810654" y="3657600"/>
                </a:lnTo>
                <a:lnTo>
                  <a:pt x="5799972" y="3657600"/>
                </a:lnTo>
                <a:lnTo>
                  <a:pt x="5789291" y="3657600"/>
                </a:lnTo>
                <a:lnTo>
                  <a:pt x="5778610" y="3657600"/>
                </a:lnTo>
                <a:lnTo>
                  <a:pt x="5767928" y="3657600"/>
                </a:lnTo>
                <a:lnTo>
                  <a:pt x="5757247" y="3657600"/>
                </a:lnTo>
                <a:lnTo>
                  <a:pt x="5746566" y="3657600"/>
                </a:lnTo>
                <a:lnTo>
                  <a:pt x="5735884" y="3657600"/>
                </a:lnTo>
                <a:lnTo>
                  <a:pt x="5725203" y="3657600"/>
                </a:lnTo>
                <a:lnTo>
                  <a:pt x="5714522" y="3657600"/>
                </a:lnTo>
                <a:lnTo>
                  <a:pt x="5703840" y="3657600"/>
                </a:lnTo>
                <a:lnTo>
                  <a:pt x="5693159" y="3657600"/>
                </a:lnTo>
                <a:lnTo>
                  <a:pt x="5682478" y="3657600"/>
                </a:lnTo>
                <a:lnTo>
                  <a:pt x="5671796" y="3657600"/>
                </a:lnTo>
                <a:lnTo>
                  <a:pt x="5661115" y="3657600"/>
                </a:lnTo>
                <a:lnTo>
                  <a:pt x="5650434" y="3657600"/>
                </a:lnTo>
                <a:lnTo>
                  <a:pt x="5639752" y="3657600"/>
                </a:lnTo>
                <a:lnTo>
                  <a:pt x="5629071" y="3657600"/>
                </a:lnTo>
                <a:lnTo>
                  <a:pt x="5618389" y="3657600"/>
                </a:lnTo>
                <a:lnTo>
                  <a:pt x="5607708" y="3657600"/>
                </a:lnTo>
                <a:lnTo>
                  <a:pt x="5597027" y="3657600"/>
                </a:lnTo>
                <a:lnTo>
                  <a:pt x="5586345" y="3657600"/>
                </a:lnTo>
                <a:lnTo>
                  <a:pt x="5575664" y="3657600"/>
                </a:lnTo>
                <a:lnTo>
                  <a:pt x="5564983" y="3657600"/>
                </a:lnTo>
                <a:lnTo>
                  <a:pt x="5554301" y="3657600"/>
                </a:lnTo>
                <a:lnTo>
                  <a:pt x="5543620" y="3657600"/>
                </a:lnTo>
                <a:lnTo>
                  <a:pt x="5532939" y="3657600"/>
                </a:lnTo>
                <a:lnTo>
                  <a:pt x="5522257" y="3657600"/>
                </a:lnTo>
                <a:lnTo>
                  <a:pt x="5511576" y="3657600"/>
                </a:lnTo>
                <a:lnTo>
                  <a:pt x="5500895" y="3657600"/>
                </a:lnTo>
                <a:lnTo>
                  <a:pt x="5490213" y="3657600"/>
                </a:lnTo>
                <a:lnTo>
                  <a:pt x="5479532" y="3657600"/>
                </a:lnTo>
                <a:lnTo>
                  <a:pt x="5468851" y="3657600"/>
                </a:lnTo>
                <a:lnTo>
                  <a:pt x="5458169" y="3657600"/>
                </a:lnTo>
                <a:lnTo>
                  <a:pt x="5447488" y="3657600"/>
                </a:lnTo>
                <a:lnTo>
                  <a:pt x="5436807" y="3657600"/>
                </a:lnTo>
                <a:lnTo>
                  <a:pt x="5426125" y="3657600"/>
                </a:lnTo>
                <a:lnTo>
                  <a:pt x="5415444" y="3657600"/>
                </a:lnTo>
                <a:lnTo>
                  <a:pt x="5404762" y="3657600"/>
                </a:lnTo>
                <a:lnTo>
                  <a:pt x="5394081" y="3657600"/>
                </a:lnTo>
                <a:lnTo>
                  <a:pt x="5383400" y="3657600"/>
                </a:lnTo>
                <a:lnTo>
                  <a:pt x="5372718" y="3657600"/>
                </a:lnTo>
                <a:lnTo>
                  <a:pt x="5362037" y="3657600"/>
                </a:lnTo>
                <a:lnTo>
                  <a:pt x="5351356" y="3657600"/>
                </a:lnTo>
                <a:lnTo>
                  <a:pt x="5340674" y="3657600"/>
                </a:lnTo>
                <a:lnTo>
                  <a:pt x="5329993" y="3657600"/>
                </a:lnTo>
                <a:lnTo>
                  <a:pt x="5319312" y="3657600"/>
                </a:lnTo>
                <a:lnTo>
                  <a:pt x="5308630" y="3657600"/>
                </a:lnTo>
                <a:lnTo>
                  <a:pt x="5297949" y="3657600"/>
                </a:lnTo>
                <a:lnTo>
                  <a:pt x="5287268" y="3657600"/>
                </a:lnTo>
                <a:lnTo>
                  <a:pt x="5276586" y="3657600"/>
                </a:lnTo>
                <a:lnTo>
                  <a:pt x="5265905" y="3657600"/>
                </a:lnTo>
                <a:lnTo>
                  <a:pt x="5255224" y="3657600"/>
                </a:lnTo>
                <a:lnTo>
                  <a:pt x="5244542" y="3657600"/>
                </a:lnTo>
                <a:lnTo>
                  <a:pt x="5233861" y="3657600"/>
                </a:lnTo>
                <a:lnTo>
                  <a:pt x="5223179" y="3657600"/>
                </a:lnTo>
                <a:lnTo>
                  <a:pt x="5212498" y="3657600"/>
                </a:lnTo>
                <a:lnTo>
                  <a:pt x="5201817" y="3657600"/>
                </a:lnTo>
                <a:lnTo>
                  <a:pt x="5191135" y="3657600"/>
                </a:lnTo>
                <a:lnTo>
                  <a:pt x="5180454" y="3657600"/>
                </a:lnTo>
                <a:lnTo>
                  <a:pt x="5169773" y="3657600"/>
                </a:lnTo>
                <a:lnTo>
                  <a:pt x="5159091" y="3657600"/>
                </a:lnTo>
                <a:lnTo>
                  <a:pt x="5148410" y="3657600"/>
                </a:lnTo>
                <a:lnTo>
                  <a:pt x="5137729" y="3657600"/>
                </a:lnTo>
                <a:lnTo>
                  <a:pt x="5127047" y="3657600"/>
                </a:lnTo>
                <a:lnTo>
                  <a:pt x="5116366" y="3657600"/>
                </a:lnTo>
                <a:lnTo>
                  <a:pt x="5105685" y="3657600"/>
                </a:lnTo>
                <a:lnTo>
                  <a:pt x="5095003" y="3657600"/>
                </a:lnTo>
                <a:lnTo>
                  <a:pt x="5084322" y="3657600"/>
                </a:lnTo>
                <a:lnTo>
                  <a:pt x="5073641" y="3657600"/>
                </a:lnTo>
                <a:lnTo>
                  <a:pt x="5062959" y="3657600"/>
                </a:lnTo>
                <a:lnTo>
                  <a:pt x="5052278" y="3657600"/>
                </a:lnTo>
                <a:lnTo>
                  <a:pt x="5041596" y="3657600"/>
                </a:lnTo>
                <a:lnTo>
                  <a:pt x="5030915" y="3657600"/>
                </a:lnTo>
                <a:lnTo>
                  <a:pt x="5020234" y="3657600"/>
                </a:lnTo>
                <a:lnTo>
                  <a:pt x="5009552" y="3657600"/>
                </a:lnTo>
                <a:lnTo>
                  <a:pt x="4998871" y="3657600"/>
                </a:lnTo>
                <a:lnTo>
                  <a:pt x="4988190" y="3657600"/>
                </a:lnTo>
                <a:lnTo>
                  <a:pt x="4977508" y="3657600"/>
                </a:lnTo>
                <a:lnTo>
                  <a:pt x="4966827" y="3657600"/>
                </a:lnTo>
                <a:lnTo>
                  <a:pt x="4956146" y="3657600"/>
                </a:lnTo>
                <a:lnTo>
                  <a:pt x="4945464" y="3657600"/>
                </a:lnTo>
                <a:lnTo>
                  <a:pt x="4934783" y="3657600"/>
                </a:lnTo>
                <a:lnTo>
                  <a:pt x="4924102" y="3657600"/>
                </a:lnTo>
                <a:lnTo>
                  <a:pt x="4913420" y="3657600"/>
                </a:lnTo>
                <a:lnTo>
                  <a:pt x="4902739" y="3657600"/>
                </a:lnTo>
                <a:lnTo>
                  <a:pt x="4892058" y="3657600"/>
                </a:lnTo>
                <a:lnTo>
                  <a:pt x="4881376" y="3657600"/>
                </a:lnTo>
                <a:lnTo>
                  <a:pt x="4870695" y="3657600"/>
                </a:lnTo>
                <a:lnTo>
                  <a:pt x="4860014" y="3657600"/>
                </a:lnTo>
                <a:lnTo>
                  <a:pt x="4849332" y="3657600"/>
                </a:lnTo>
                <a:lnTo>
                  <a:pt x="4838651" y="3657600"/>
                </a:lnTo>
                <a:lnTo>
                  <a:pt x="4827969" y="3657600"/>
                </a:lnTo>
                <a:lnTo>
                  <a:pt x="4817288" y="3657600"/>
                </a:lnTo>
                <a:lnTo>
                  <a:pt x="4806607" y="3657600"/>
                </a:lnTo>
                <a:lnTo>
                  <a:pt x="4795925" y="3657600"/>
                </a:lnTo>
                <a:lnTo>
                  <a:pt x="4785244" y="3657600"/>
                </a:lnTo>
                <a:lnTo>
                  <a:pt x="4774563" y="3657600"/>
                </a:lnTo>
                <a:lnTo>
                  <a:pt x="4763881" y="3657600"/>
                </a:lnTo>
                <a:lnTo>
                  <a:pt x="4753200" y="3657600"/>
                </a:lnTo>
                <a:lnTo>
                  <a:pt x="4742519" y="3657600"/>
                </a:lnTo>
                <a:lnTo>
                  <a:pt x="4731837" y="3657600"/>
                </a:lnTo>
                <a:lnTo>
                  <a:pt x="4721156" y="3657600"/>
                </a:lnTo>
                <a:lnTo>
                  <a:pt x="4710475" y="3657600"/>
                </a:lnTo>
                <a:lnTo>
                  <a:pt x="4699793" y="3657600"/>
                </a:lnTo>
                <a:lnTo>
                  <a:pt x="4689112" y="3657600"/>
                </a:lnTo>
                <a:lnTo>
                  <a:pt x="4678431" y="3657600"/>
                </a:lnTo>
                <a:lnTo>
                  <a:pt x="4667749" y="3657600"/>
                </a:lnTo>
                <a:lnTo>
                  <a:pt x="4657068" y="3657600"/>
                </a:lnTo>
                <a:lnTo>
                  <a:pt x="4646386" y="3657600"/>
                </a:lnTo>
                <a:lnTo>
                  <a:pt x="4635705" y="3657600"/>
                </a:lnTo>
                <a:lnTo>
                  <a:pt x="4625024" y="3657600"/>
                </a:lnTo>
                <a:lnTo>
                  <a:pt x="4614342" y="3657600"/>
                </a:lnTo>
                <a:lnTo>
                  <a:pt x="4603661" y="3657600"/>
                </a:lnTo>
                <a:lnTo>
                  <a:pt x="4592980" y="3657600"/>
                </a:lnTo>
                <a:lnTo>
                  <a:pt x="4582298" y="3657600"/>
                </a:lnTo>
                <a:lnTo>
                  <a:pt x="4571617" y="3657600"/>
                </a:lnTo>
                <a:lnTo>
                  <a:pt x="4560936" y="3657600"/>
                </a:lnTo>
                <a:lnTo>
                  <a:pt x="4550254" y="3657600"/>
                </a:lnTo>
                <a:lnTo>
                  <a:pt x="4539573" y="3657600"/>
                </a:lnTo>
                <a:lnTo>
                  <a:pt x="4528892" y="3657600"/>
                </a:lnTo>
                <a:lnTo>
                  <a:pt x="4518210" y="3657600"/>
                </a:lnTo>
                <a:lnTo>
                  <a:pt x="4507529" y="3657600"/>
                </a:lnTo>
                <a:lnTo>
                  <a:pt x="4496848" y="3657600"/>
                </a:lnTo>
                <a:lnTo>
                  <a:pt x="4486166" y="3657600"/>
                </a:lnTo>
                <a:lnTo>
                  <a:pt x="4475485" y="3657600"/>
                </a:lnTo>
                <a:lnTo>
                  <a:pt x="4464804" y="3657600"/>
                </a:lnTo>
                <a:lnTo>
                  <a:pt x="4454122" y="3657600"/>
                </a:lnTo>
                <a:lnTo>
                  <a:pt x="4443441" y="3657600"/>
                </a:lnTo>
                <a:lnTo>
                  <a:pt x="4432759" y="3657600"/>
                </a:lnTo>
                <a:lnTo>
                  <a:pt x="4422078" y="3657600"/>
                </a:lnTo>
                <a:lnTo>
                  <a:pt x="4411397" y="3657600"/>
                </a:lnTo>
                <a:lnTo>
                  <a:pt x="4400715" y="3657600"/>
                </a:lnTo>
                <a:lnTo>
                  <a:pt x="4390034" y="3657600"/>
                </a:lnTo>
                <a:lnTo>
                  <a:pt x="4379353" y="3657600"/>
                </a:lnTo>
                <a:lnTo>
                  <a:pt x="4368671" y="3657600"/>
                </a:lnTo>
                <a:lnTo>
                  <a:pt x="4357990" y="3657600"/>
                </a:lnTo>
                <a:lnTo>
                  <a:pt x="4347309" y="3657600"/>
                </a:lnTo>
                <a:lnTo>
                  <a:pt x="4336627" y="3657600"/>
                </a:lnTo>
                <a:lnTo>
                  <a:pt x="4325946" y="3657600"/>
                </a:lnTo>
                <a:lnTo>
                  <a:pt x="4315265" y="3657600"/>
                </a:lnTo>
                <a:lnTo>
                  <a:pt x="4304583" y="3657600"/>
                </a:lnTo>
                <a:lnTo>
                  <a:pt x="4293902" y="3657600"/>
                </a:lnTo>
                <a:lnTo>
                  <a:pt x="4283221" y="3657600"/>
                </a:lnTo>
                <a:lnTo>
                  <a:pt x="4272539" y="3657600"/>
                </a:lnTo>
                <a:lnTo>
                  <a:pt x="4261858" y="3657600"/>
                </a:lnTo>
                <a:lnTo>
                  <a:pt x="4251176" y="3657600"/>
                </a:lnTo>
                <a:lnTo>
                  <a:pt x="4240495" y="3657600"/>
                </a:lnTo>
                <a:lnTo>
                  <a:pt x="4229814" y="3657600"/>
                </a:lnTo>
                <a:lnTo>
                  <a:pt x="4219132" y="3657600"/>
                </a:lnTo>
                <a:lnTo>
                  <a:pt x="4208451" y="3657600"/>
                </a:lnTo>
                <a:lnTo>
                  <a:pt x="4197770" y="3657600"/>
                </a:lnTo>
                <a:lnTo>
                  <a:pt x="4187088" y="3657600"/>
                </a:lnTo>
                <a:lnTo>
                  <a:pt x="4176407" y="3657600"/>
                </a:lnTo>
                <a:lnTo>
                  <a:pt x="4165726" y="3657600"/>
                </a:lnTo>
                <a:lnTo>
                  <a:pt x="4155044" y="3657600"/>
                </a:lnTo>
                <a:lnTo>
                  <a:pt x="4144363" y="3657600"/>
                </a:lnTo>
                <a:lnTo>
                  <a:pt x="4133682" y="3657600"/>
                </a:lnTo>
                <a:lnTo>
                  <a:pt x="4123000" y="3657600"/>
                </a:lnTo>
                <a:lnTo>
                  <a:pt x="4112319" y="3657600"/>
                </a:lnTo>
                <a:lnTo>
                  <a:pt x="4101638" y="3657600"/>
                </a:lnTo>
                <a:lnTo>
                  <a:pt x="4090956" y="3657600"/>
                </a:lnTo>
                <a:lnTo>
                  <a:pt x="4080275" y="3657600"/>
                </a:lnTo>
                <a:lnTo>
                  <a:pt x="4069593" y="3657600"/>
                </a:lnTo>
                <a:lnTo>
                  <a:pt x="4058912" y="3657600"/>
                </a:lnTo>
                <a:lnTo>
                  <a:pt x="4048231" y="3657600"/>
                </a:lnTo>
                <a:lnTo>
                  <a:pt x="4037549" y="3657600"/>
                </a:lnTo>
                <a:lnTo>
                  <a:pt x="4026868" y="3657600"/>
                </a:lnTo>
                <a:lnTo>
                  <a:pt x="4016187" y="3657600"/>
                </a:lnTo>
                <a:lnTo>
                  <a:pt x="4005505" y="3657600"/>
                </a:lnTo>
                <a:lnTo>
                  <a:pt x="3994824" y="3657600"/>
                </a:lnTo>
                <a:lnTo>
                  <a:pt x="3984143" y="3657600"/>
                </a:lnTo>
                <a:lnTo>
                  <a:pt x="3973461" y="3657600"/>
                </a:lnTo>
                <a:lnTo>
                  <a:pt x="3962780" y="3657600"/>
                </a:lnTo>
                <a:lnTo>
                  <a:pt x="3952099" y="3657600"/>
                </a:lnTo>
                <a:lnTo>
                  <a:pt x="3941417" y="3657600"/>
                </a:lnTo>
                <a:lnTo>
                  <a:pt x="3930736" y="3657600"/>
                </a:lnTo>
                <a:lnTo>
                  <a:pt x="3920055" y="3657600"/>
                </a:lnTo>
                <a:lnTo>
                  <a:pt x="3909373" y="3657600"/>
                </a:lnTo>
                <a:lnTo>
                  <a:pt x="3898692" y="3657600"/>
                </a:lnTo>
                <a:lnTo>
                  <a:pt x="3888011" y="3657600"/>
                </a:lnTo>
                <a:lnTo>
                  <a:pt x="3877329" y="3657600"/>
                </a:lnTo>
                <a:lnTo>
                  <a:pt x="3866648" y="3657600"/>
                </a:lnTo>
                <a:lnTo>
                  <a:pt x="3855966" y="3657600"/>
                </a:lnTo>
                <a:lnTo>
                  <a:pt x="3845285" y="3657600"/>
                </a:lnTo>
                <a:lnTo>
                  <a:pt x="3834604" y="3657600"/>
                </a:lnTo>
                <a:lnTo>
                  <a:pt x="3823922" y="3657600"/>
                </a:lnTo>
                <a:lnTo>
                  <a:pt x="3813241" y="3657600"/>
                </a:lnTo>
                <a:lnTo>
                  <a:pt x="3802560" y="3657600"/>
                </a:lnTo>
                <a:lnTo>
                  <a:pt x="3791878" y="3657600"/>
                </a:lnTo>
                <a:lnTo>
                  <a:pt x="3781197" y="3657600"/>
                </a:lnTo>
                <a:lnTo>
                  <a:pt x="3770516" y="3657600"/>
                </a:lnTo>
                <a:lnTo>
                  <a:pt x="3759834" y="3657600"/>
                </a:lnTo>
                <a:lnTo>
                  <a:pt x="3749153" y="3657600"/>
                </a:lnTo>
                <a:lnTo>
                  <a:pt x="3738472" y="3657600"/>
                </a:lnTo>
                <a:lnTo>
                  <a:pt x="3727790" y="3657600"/>
                </a:lnTo>
                <a:lnTo>
                  <a:pt x="3717109" y="3657600"/>
                </a:lnTo>
                <a:lnTo>
                  <a:pt x="3706428" y="3657600"/>
                </a:lnTo>
                <a:lnTo>
                  <a:pt x="3695746" y="3657600"/>
                </a:lnTo>
                <a:lnTo>
                  <a:pt x="3685065" y="3657600"/>
                </a:lnTo>
                <a:lnTo>
                  <a:pt x="3674383" y="3657600"/>
                </a:lnTo>
                <a:lnTo>
                  <a:pt x="3663702" y="3657600"/>
                </a:lnTo>
                <a:lnTo>
                  <a:pt x="3653021" y="3657600"/>
                </a:lnTo>
                <a:lnTo>
                  <a:pt x="3642339" y="3657600"/>
                </a:lnTo>
                <a:lnTo>
                  <a:pt x="3631658" y="3657600"/>
                </a:lnTo>
                <a:lnTo>
                  <a:pt x="3620977" y="3657600"/>
                </a:lnTo>
                <a:lnTo>
                  <a:pt x="3610295" y="3657600"/>
                </a:lnTo>
                <a:lnTo>
                  <a:pt x="3599614" y="3657600"/>
                </a:lnTo>
                <a:lnTo>
                  <a:pt x="3588933" y="3657600"/>
                </a:lnTo>
                <a:lnTo>
                  <a:pt x="3578251" y="3657600"/>
                </a:lnTo>
                <a:lnTo>
                  <a:pt x="3567570" y="3657600"/>
                </a:lnTo>
                <a:lnTo>
                  <a:pt x="3556889" y="3657600"/>
                </a:lnTo>
                <a:lnTo>
                  <a:pt x="3546207" y="3657600"/>
                </a:lnTo>
                <a:lnTo>
                  <a:pt x="3535526" y="3657600"/>
                </a:lnTo>
                <a:lnTo>
                  <a:pt x="3524845" y="3657600"/>
                </a:lnTo>
                <a:lnTo>
                  <a:pt x="3514163" y="3657600"/>
                </a:lnTo>
                <a:lnTo>
                  <a:pt x="3503482" y="3657600"/>
                </a:lnTo>
                <a:lnTo>
                  <a:pt x="3492801" y="3657600"/>
                </a:lnTo>
                <a:lnTo>
                  <a:pt x="3482119" y="3657600"/>
                </a:lnTo>
                <a:lnTo>
                  <a:pt x="3471438" y="3657600"/>
                </a:lnTo>
                <a:lnTo>
                  <a:pt x="3460756" y="3657600"/>
                </a:lnTo>
                <a:lnTo>
                  <a:pt x="3450075" y="3657600"/>
                </a:lnTo>
                <a:lnTo>
                  <a:pt x="3439394" y="3657600"/>
                </a:lnTo>
                <a:lnTo>
                  <a:pt x="3428712" y="3657600"/>
                </a:lnTo>
                <a:lnTo>
                  <a:pt x="3418031" y="3657600"/>
                </a:lnTo>
                <a:lnTo>
                  <a:pt x="3407350" y="3657600"/>
                </a:lnTo>
                <a:lnTo>
                  <a:pt x="3396668" y="3657600"/>
                </a:lnTo>
                <a:lnTo>
                  <a:pt x="3385987" y="3657600"/>
                </a:lnTo>
                <a:lnTo>
                  <a:pt x="3375306" y="3657600"/>
                </a:lnTo>
                <a:lnTo>
                  <a:pt x="3364624" y="3657600"/>
                </a:lnTo>
                <a:lnTo>
                  <a:pt x="3353943" y="3657600"/>
                </a:lnTo>
                <a:lnTo>
                  <a:pt x="3343262" y="3657600"/>
                </a:lnTo>
                <a:lnTo>
                  <a:pt x="3332580" y="3657600"/>
                </a:lnTo>
                <a:lnTo>
                  <a:pt x="3321899" y="3657600"/>
                </a:lnTo>
                <a:lnTo>
                  <a:pt x="3311218" y="3657600"/>
                </a:lnTo>
                <a:lnTo>
                  <a:pt x="3300536" y="3657600"/>
                </a:lnTo>
                <a:lnTo>
                  <a:pt x="3289855" y="3657600"/>
                </a:lnTo>
                <a:lnTo>
                  <a:pt x="3279173" y="3657600"/>
                </a:lnTo>
                <a:lnTo>
                  <a:pt x="3268492" y="3657600"/>
                </a:lnTo>
                <a:lnTo>
                  <a:pt x="3257811" y="3657600"/>
                </a:lnTo>
                <a:lnTo>
                  <a:pt x="3247129" y="3657600"/>
                </a:lnTo>
                <a:lnTo>
                  <a:pt x="3236448" y="3657600"/>
                </a:lnTo>
                <a:lnTo>
                  <a:pt x="3225767" y="3657600"/>
                </a:lnTo>
                <a:lnTo>
                  <a:pt x="3215085" y="3657600"/>
                </a:lnTo>
                <a:lnTo>
                  <a:pt x="3204404" y="3657600"/>
                </a:lnTo>
                <a:lnTo>
                  <a:pt x="3193723" y="3657600"/>
                </a:lnTo>
                <a:lnTo>
                  <a:pt x="3183041" y="3657600"/>
                </a:lnTo>
                <a:lnTo>
                  <a:pt x="3172360" y="3657600"/>
                </a:lnTo>
                <a:lnTo>
                  <a:pt x="3161679" y="3657600"/>
                </a:lnTo>
                <a:lnTo>
                  <a:pt x="3150997" y="3657600"/>
                </a:lnTo>
                <a:lnTo>
                  <a:pt x="3140316" y="3657600"/>
                </a:lnTo>
                <a:lnTo>
                  <a:pt x="3129635" y="3657600"/>
                </a:lnTo>
                <a:lnTo>
                  <a:pt x="3118953" y="3657600"/>
                </a:lnTo>
                <a:lnTo>
                  <a:pt x="3108272" y="3657600"/>
                </a:lnTo>
                <a:lnTo>
                  <a:pt x="3097590" y="3657600"/>
                </a:lnTo>
                <a:lnTo>
                  <a:pt x="3086909" y="3657600"/>
                </a:lnTo>
                <a:lnTo>
                  <a:pt x="3076228" y="3657600"/>
                </a:lnTo>
                <a:lnTo>
                  <a:pt x="3065546" y="3657600"/>
                </a:lnTo>
                <a:lnTo>
                  <a:pt x="3054865" y="3657600"/>
                </a:lnTo>
                <a:lnTo>
                  <a:pt x="3044184" y="3657600"/>
                </a:lnTo>
                <a:lnTo>
                  <a:pt x="3033502" y="3657600"/>
                </a:lnTo>
                <a:lnTo>
                  <a:pt x="3022821" y="3657600"/>
                </a:lnTo>
                <a:lnTo>
                  <a:pt x="3012140" y="3657600"/>
                </a:lnTo>
                <a:lnTo>
                  <a:pt x="3001458" y="3657600"/>
                </a:lnTo>
                <a:lnTo>
                  <a:pt x="2990777" y="3657600"/>
                </a:lnTo>
                <a:lnTo>
                  <a:pt x="2980096" y="3657600"/>
                </a:lnTo>
                <a:lnTo>
                  <a:pt x="2969414" y="3657600"/>
                </a:lnTo>
                <a:lnTo>
                  <a:pt x="2958733" y="3657600"/>
                </a:lnTo>
                <a:lnTo>
                  <a:pt x="2948052" y="3657600"/>
                </a:lnTo>
                <a:lnTo>
                  <a:pt x="2937370" y="3657600"/>
                </a:lnTo>
                <a:lnTo>
                  <a:pt x="2926689" y="3657600"/>
                </a:lnTo>
                <a:lnTo>
                  <a:pt x="2916008" y="3657600"/>
                </a:lnTo>
                <a:lnTo>
                  <a:pt x="2905326" y="3657600"/>
                </a:lnTo>
                <a:lnTo>
                  <a:pt x="2894645" y="3657600"/>
                </a:lnTo>
                <a:lnTo>
                  <a:pt x="2883963" y="3657600"/>
                </a:lnTo>
                <a:lnTo>
                  <a:pt x="2873282" y="3657600"/>
                </a:lnTo>
                <a:lnTo>
                  <a:pt x="2862601" y="3657600"/>
                </a:lnTo>
                <a:lnTo>
                  <a:pt x="2851919" y="3657600"/>
                </a:lnTo>
                <a:lnTo>
                  <a:pt x="2841238" y="3657600"/>
                </a:lnTo>
                <a:lnTo>
                  <a:pt x="2830557" y="3657600"/>
                </a:lnTo>
                <a:lnTo>
                  <a:pt x="2819875" y="3657600"/>
                </a:lnTo>
                <a:lnTo>
                  <a:pt x="2809194" y="3657600"/>
                </a:lnTo>
                <a:lnTo>
                  <a:pt x="2798513" y="3657600"/>
                </a:lnTo>
                <a:lnTo>
                  <a:pt x="2787831" y="3657600"/>
                </a:lnTo>
                <a:lnTo>
                  <a:pt x="2777150" y="3657600"/>
                </a:lnTo>
                <a:lnTo>
                  <a:pt x="2766469" y="3657600"/>
                </a:lnTo>
                <a:lnTo>
                  <a:pt x="2755787" y="3657600"/>
                </a:lnTo>
                <a:lnTo>
                  <a:pt x="2745106" y="3657600"/>
                </a:lnTo>
                <a:lnTo>
                  <a:pt x="2734425" y="3657600"/>
                </a:lnTo>
                <a:lnTo>
                  <a:pt x="2723743" y="3657600"/>
                </a:lnTo>
                <a:lnTo>
                  <a:pt x="2713062" y="3657600"/>
                </a:lnTo>
                <a:lnTo>
                  <a:pt x="2702380" y="3657600"/>
                </a:lnTo>
                <a:lnTo>
                  <a:pt x="2691699" y="3657600"/>
                </a:lnTo>
                <a:lnTo>
                  <a:pt x="2681018" y="3657600"/>
                </a:lnTo>
                <a:lnTo>
                  <a:pt x="2670336" y="3657600"/>
                </a:lnTo>
                <a:lnTo>
                  <a:pt x="2659655" y="3657600"/>
                </a:lnTo>
                <a:lnTo>
                  <a:pt x="2648974" y="3657600"/>
                </a:lnTo>
                <a:lnTo>
                  <a:pt x="2638292" y="3657600"/>
                </a:lnTo>
                <a:lnTo>
                  <a:pt x="2627611" y="3657600"/>
                </a:lnTo>
                <a:lnTo>
                  <a:pt x="2616930" y="3657600"/>
                </a:lnTo>
                <a:lnTo>
                  <a:pt x="2606248" y="3657600"/>
                </a:lnTo>
                <a:lnTo>
                  <a:pt x="2595567" y="3657600"/>
                </a:lnTo>
                <a:lnTo>
                  <a:pt x="2584886" y="3657600"/>
                </a:lnTo>
                <a:lnTo>
                  <a:pt x="2574204" y="3657600"/>
                </a:lnTo>
                <a:lnTo>
                  <a:pt x="2563523" y="3657600"/>
                </a:lnTo>
                <a:lnTo>
                  <a:pt x="2552842" y="3657600"/>
                </a:lnTo>
                <a:lnTo>
                  <a:pt x="2542160" y="3657600"/>
                </a:lnTo>
                <a:lnTo>
                  <a:pt x="2531479" y="3657600"/>
                </a:lnTo>
                <a:lnTo>
                  <a:pt x="2520797" y="3657600"/>
                </a:lnTo>
                <a:lnTo>
                  <a:pt x="2510116" y="3657600"/>
                </a:lnTo>
                <a:lnTo>
                  <a:pt x="2499435" y="3657600"/>
                </a:lnTo>
                <a:lnTo>
                  <a:pt x="2488753" y="3657600"/>
                </a:lnTo>
                <a:lnTo>
                  <a:pt x="2478072" y="3657600"/>
                </a:lnTo>
                <a:lnTo>
                  <a:pt x="2467391" y="3657600"/>
                </a:lnTo>
                <a:lnTo>
                  <a:pt x="2456709" y="3657600"/>
                </a:lnTo>
                <a:lnTo>
                  <a:pt x="2446028" y="3657600"/>
                </a:lnTo>
                <a:lnTo>
                  <a:pt x="2435347" y="3657600"/>
                </a:lnTo>
                <a:lnTo>
                  <a:pt x="2424665" y="3657600"/>
                </a:lnTo>
                <a:lnTo>
                  <a:pt x="2413984" y="3657600"/>
                </a:lnTo>
                <a:lnTo>
                  <a:pt x="2403303" y="3657600"/>
                </a:lnTo>
                <a:lnTo>
                  <a:pt x="2392621" y="3657600"/>
                </a:lnTo>
                <a:lnTo>
                  <a:pt x="2381940" y="3657600"/>
                </a:lnTo>
                <a:lnTo>
                  <a:pt x="2371259" y="3657600"/>
                </a:lnTo>
                <a:lnTo>
                  <a:pt x="2360577" y="3657600"/>
                </a:lnTo>
                <a:lnTo>
                  <a:pt x="2349896" y="3657600"/>
                </a:lnTo>
                <a:lnTo>
                  <a:pt x="2339215" y="3657600"/>
                </a:lnTo>
                <a:lnTo>
                  <a:pt x="2328533" y="3657600"/>
                </a:lnTo>
                <a:lnTo>
                  <a:pt x="2317852" y="3657600"/>
                </a:lnTo>
                <a:lnTo>
                  <a:pt x="2307170" y="3657600"/>
                </a:lnTo>
                <a:lnTo>
                  <a:pt x="2296489" y="3657600"/>
                </a:lnTo>
                <a:lnTo>
                  <a:pt x="2285808" y="3657600"/>
                </a:lnTo>
                <a:lnTo>
                  <a:pt x="2275126" y="3657600"/>
                </a:lnTo>
                <a:lnTo>
                  <a:pt x="2264445" y="3657600"/>
                </a:lnTo>
                <a:lnTo>
                  <a:pt x="2253764" y="3657600"/>
                </a:lnTo>
                <a:lnTo>
                  <a:pt x="2243082" y="3657600"/>
                </a:lnTo>
                <a:lnTo>
                  <a:pt x="2232401" y="3657600"/>
                </a:lnTo>
                <a:lnTo>
                  <a:pt x="2221720" y="3657600"/>
                </a:lnTo>
                <a:lnTo>
                  <a:pt x="2211038" y="3657600"/>
                </a:lnTo>
                <a:lnTo>
                  <a:pt x="2200357" y="3657600"/>
                </a:lnTo>
                <a:lnTo>
                  <a:pt x="2189676" y="3657600"/>
                </a:lnTo>
                <a:lnTo>
                  <a:pt x="2178994" y="3657600"/>
                </a:lnTo>
                <a:lnTo>
                  <a:pt x="2168313" y="3657600"/>
                </a:lnTo>
                <a:lnTo>
                  <a:pt x="2157632" y="3657600"/>
                </a:lnTo>
                <a:lnTo>
                  <a:pt x="2146950" y="3657600"/>
                </a:lnTo>
                <a:lnTo>
                  <a:pt x="2136269" y="3657600"/>
                </a:lnTo>
                <a:lnTo>
                  <a:pt x="2125587" y="3657600"/>
                </a:lnTo>
                <a:lnTo>
                  <a:pt x="2114906" y="3657600"/>
                </a:lnTo>
                <a:lnTo>
                  <a:pt x="2104225" y="3657600"/>
                </a:lnTo>
                <a:lnTo>
                  <a:pt x="2093543" y="3657600"/>
                </a:lnTo>
                <a:lnTo>
                  <a:pt x="2082862" y="3657600"/>
                </a:lnTo>
                <a:lnTo>
                  <a:pt x="2072181" y="3657600"/>
                </a:lnTo>
                <a:lnTo>
                  <a:pt x="2061499" y="3657600"/>
                </a:lnTo>
                <a:lnTo>
                  <a:pt x="2050818" y="3657600"/>
                </a:lnTo>
                <a:lnTo>
                  <a:pt x="2040137" y="3657600"/>
                </a:lnTo>
                <a:lnTo>
                  <a:pt x="2029455" y="3657600"/>
                </a:lnTo>
                <a:lnTo>
                  <a:pt x="2018774" y="3657600"/>
                </a:lnTo>
                <a:lnTo>
                  <a:pt x="2008093" y="3657600"/>
                </a:lnTo>
                <a:lnTo>
                  <a:pt x="1997411" y="3657600"/>
                </a:lnTo>
                <a:lnTo>
                  <a:pt x="1986730" y="3657600"/>
                </a:lnTo>
                <a:lnTo>
                  <a:pt x="1976049" y="3657600"/>
                </a:lnTo>
                <a:lnTo>
                  <a:pt x="1965367" y="3657600"/>
                </a:lnTo>
                <a:lnTo>
                  <a:pt x="1954686" y="3657600"/>
                </a:lnTo>
                <a:lnTo>
                  <a:pt x="1944005" y="3657600"/>
                </a:lnTo>
                <a:lnTo>
                  <a:pt x="1933323" y="3657600"/>
                </a:lnTo>
                <a:lnTo>
                  <a:pt x="1922642" y="3657600"/>
                </a:lnTo>
                <a:lnTo>
                  <a:pt x="1911960" y="3657600"/>
                </a:lnTo>
                <a:lnTo>
                  <a:pt x="1901279" y="3657600"/>
                </a:lnTo>
                <a:lnTo>
                  <a:pt x="1890598" y="3657600"/>
                </a:lnTo>
                <a:lnTo>
                  <a:pt x="1879916" y="3657600"/>
                </a:lnTo>
                <a:lnTo>
                  <a:pt x="1869235" y="3657600"/>
                </a:lnTo>
                <a:lnTo>
                  <a:pt x="1858554" y="3657600"/>
                </a:lnTo>
                <a:lnTo>
                  <a:pt x="1847872" y="3657600"/>
                </a:lnTo>
                <a:lnTo>
                  <a:pt x="1837191" y="3657600"/>
                </a:lnTo>
                <a:lnTo>
                  <a:pt x="1826510" y="3657600"/>
                </a:lnTo>
                <a:lnTo>
                  <a:pt x="1815828" y="3657600"/>
                </a:lnTo>
                <a:lnTo>
                  <a:pt x="1805147" y="3657600"/>
                </a:lnTo>
                <a:lnTo>
                  <a:pt x="1794466" y="3657600"/>
                </a:lnTo>
                <a:lnTo>
                  <a:pt x="1783784" y="3657600"/>
                </a:lnTo>
                <a:lnTo>
                  <a:pt x="1773103" y="3657600"/>
                </a:lnTo>
                <a:lnTo>
                  <a:pt x="1762422" y="3657600"/>
                </a:lnTo>
                <a:lnTo>
                  <a:pt x="1751740" y="3657600"/>
                </a:lnTo>
                <a:lnTo>
                  <a:pt x="1741059" y="3657600"/>
                </a:lnTo>
                <a:lnTo>
                  <a:pt x="1730377" y="3657600"/>
                </a:lnTo>
                <a:lnTo>
                  <a:pt x="1719696" y="3657600"/>
                </a:lnTo>
                <a:lnTo>
                  <a:pt x="1709015" y="3657600"/>
                </a:lnTo>
                <a:lnTo>
                  <a:pt x="1698333" y="3657600"/>
                </a:lnTo>
                <a:lnTo>
                  <a:pt x="1687652" y="3657600"/>
                </a:lnTo>
                <a:lnTo>
                  <a:pt x="1676971" y="3657600"/>
                </a:lnTo>
                <a:lnTo>
                  <a:pt x="1666289" y="3657600"/>
                </a:lnTo>
                <a:lnTo>
                  <a:pt x="1655608" y="3657600"/>
                </a:lnTo>
                <a:lnTo>
                  <a:pt x="1644927" y="3657600"/>
                </a:lnTo>
                <a:lnTo>
                  <a:pt x="1634245" y="3657600"/>
                </a:lnTo>
                <a:lnTo>
                  <a:pt x="1623564" y="3657600"/>
                </a:lnTo>
                <a:lnTo>
                  <a:pt x="1612883" y="3657600"/>
                </a:lnTo>
                <a:lnTo>
                  <a:pt x="1602201" y="3657600"/>
                </a:lnTo>
                <a:lnTo>
                  <a:pt x="1591520" y="3657600"/>
                </a:lnTo>
                <a:lnTo>
                  <a:pt x="1580839" y="3657600"/>
                </a:lnTo>
                <a:lnTo>
                  <a:pt x="1570157" y="3657600"/>
                </a:lnTo>
                <a:lnTo>
                  <a:pt x="1559476" y="3657600"/>
                </a:lnTo>
                <a:lnTo>
                  <a:pt x="1548794" y="3657600"/>
                </a:lnTo>
                <a:lnTo>
                  <a:pt x="1538113" y="3657600"/>
                </a:lnTo>
                <a:lnTo>
                  <a:pt x="1527432" y="3657600"/>
                </a:lnTo>
                <a:lnTo>
                  <a:pt x="1516750" y="3657600"/>
                </a:lnTo>
                <a:lnTo>
                  <a:pt x="1506069" y="3657600"/>
                </a:lnTo>
                <a:lnTo>
                  <a:pt x="1495388" y="3657600"/>
                </a:lnTo>
                <a:lnTo>
                  <a:pt x="1484706" y="3657600"/>
                </a:lnTo>
                <a:lnTo>
                  <a:pt x="1474025" y="3657600"/>
                </a:lnTo>
                <a:lnTo>
                  <a:pt x="1463344" y="3657600"/>
                </a:lnTo>
                <a:lnTo>
                  <a:pt x="1452662" y="3657600"/>
                </a:lnTo>
                <a:lnTo>
                  <a:pt x="1441981" y="3657600"/>
                </a:lnTo>
                <a:lnTo>
                  <a:pt x="1431300" y="3657600"/>
                </a:lnTo>
                <a:lnTo>
                  <a:pt x="1420618" y="3657600"/>
                </a:lnTo>
                <a:lnTo>
                  <a:pt x="1409937" y="3657600"/>
                </a:lnTo>
                <a:lnTo>
                  <a:pt x="1399256" y="3657600"/>
                </a:lnTo>
                <a:lnTo>
                  <a:pt x="1388574" y="3657600"/>
                </a:lnTo>
                <a:lnTo>
                  <a:pt x="1377893" y="3657600"/>
                </a:lnTo>
                <a:lnTo>
                  <a:pt x="1367212" y="3657600"/>
                </a:lnTo>
                <a:lnTo>
                  <a:pt x="1356530" y="3657600"/>
                </a:lnTo>
                <a:lnTo>
                  <a:pt x="1345849" y="3657600"/>
                </a:lnTo>
                <a:lnTo>
                  <a:pt x="1335167" y="3657600"/>
                </a:lnTo>
                <a:lnTo>
                  <a:pt x="1324486" y="3657600"/>
                </a:lnTo>
                <a:lnTo>
                  <a:pt x="1313805" y="3657600"/>
                </a:lnTo>
                <a:lnTo>
                  <a:pt x="1303123" y="3657600"/>
                </a:lnTo>
                <a:lnTo>
                  <a:pt x="1292442" y="3657600"/>
                </a:lnTo>
                <a:lnTo>
                  <a:pt x="1281761" y="3657600"/>
                </a:lnTo>
                <a:lnTo>
                  <a:pt x="1271079" y="3657600"/>
                </a:lnTo>
                <a:lnTo>
                  <a:pt x="1260398" y="3657600"/>
                </a:lnTo>
                <a:lnTo>
                  <a:pt x="1249717" y="3657600"/>
                </a:lnTo>
                <a:lnTo>
                  <a:pt x="1239035" y="3657600"/>
                </a:lnTo>
                <a:lnTo>
                  <a:pt x="1228354" y="3657600"/>
                </a:lnTo>
                <a:lnTo>
                  <a:pt x="1217673" y="3657600"/>
                </a:lnTo>
                <a:lnTo>
                  <a:pt x="1206991" y="3657600"/>
                </a:lnTo>
                <a:lnTo>
                  <a:pt x="1196310" y="3657600"/>
                </a:lnTo>
                <a:lnTo>
                  <a:pt x="1185629" y="3657600"/>
                </a:lnTo>
                <a:lnTo>
                  <a:pt x="1174947" y="3657600"/>
                </a:lnTo>
                <a:lnTo>
                  <a:pt x="1164266" y="3657600"/>
                </a:lnTo>
                <a:lnTo>
                  <a:pt x="1153584" y="3657600"/>
                </a:lnTo>
                <a:lnTo>
                  <a:pt x="1142903" y="3657600"/>
                </a:lnTo>
                <a:lnTo>
                  <a:pt x="1132222" y="3657600"/>
                </a:lnTo>
                <a:lnTo>
                  <a:pt x="1121540" y="3657600"/>
                </a:lnTo>
                <a:lnTo>
                  <a:pt x="1110859" y="3657600"/>
                </a:lnTo>
                <a:lnTo>
                  <a:pt x="1100178" y="3657600"/>
                </a:lnTo>
                <a:lnTo>
                  <a:pt x="1089496" y="3657600"/>
                </a:lnTo>
                <a:lnTo>
                  <a:pt x="1078815" y="3657600"/>
                </a:lnTo>
                <a:lnTo>
                  <a:pt x="1068134" y="3657600"/>
                </a:lnTo>
                <a:lnTo>
                  <a:pt x="1057452" y="3657600"/>
                </a:lnTo>
                <a:lnTo>
                  <a:pt x="1046771" y="3657600"/>
                </a:lnTo>
                <a:lnTo>
                  <a:pt x="1036090" y="3657600"/>
                </a:lnTo>
                <a:lnTo>
                  <a:pt x="1025408" y="3657600"/>
                </a:lnTo>
                <a:lnTo>
                  <a:pt x="1014727" y="3657600"/>
                </a:lnTo>
                <a:lnTo>
                  <a:pt x="1004046" y="3657600"/>
                </a:lnTo>
                <a:lnTo>
                  <a:pt x="993364" y="3657600"/>
                </a:lnTo>
                <a:lnTo>
                  <a:pt x="982683" y="3657600"/>
                </a:lnTo>
                <a:lnTo>
                  <a:pt x="972002" y="3657600"/>
                </a:lnTo>
                <a:lnTo>
                  <a:pt x="961320" y="3657600"/>
                </a:lnTo>
                <a:lnTo>
                  <a:pt x="950639" y="3657600"/>
                </a:lnTo>
                <a:lnTo>
                  <a:pt x="939957" y="3657600"/>
                </a:lnTo>
                <a:lnTo>
                  <a:pt x="929276" y="3657600"/>
                </a:lnTo>
                <a:lnTo>
                  <a:pt x="918595" y="3657600"/>
                </a:lnTo>
                <a:lnTo>
                  <a:pt x="907913" y="3657600"/>
                </a:lnTo>
                <a:lnTo>
                  <a:pt x="897232" y="3657600"/>
                </a:lnTo>
                <a:lnTo>
                  <a:pt x="886551" y="3657600"/>
                </a:lnTo>
                <a:lnTo>
                  <a:pt x="875869" y="3657600"/>
                </a:lnTo>
                <a:lnTo>
                  <a:pt x="865188" y="3657600"/>
                </a:lnTo>
                <a:lnTo>
                  <a:pt x="854507" y="3657600"/>
                </a:lnTo>
                <a:lnTo>
                  <a:pt x="843825" y="3657600"/>
                </a:lnTo>
                <a:lnTo>
                  <a:pt x="833144" y="3657600"/>
                </a:lnTo>
                <a:lnTo>
                  <a:pt x="822463" y="3657600"/>
                </a:lnTo>
                <a:lnTo>
                  <a:pt x="811781" y="3657600"/>
                </a:lnTo>
                <a:lnTo>
                  <a:pt x="801100" y="3657600"/>
                </a:lnTo>
                <a:lnTo>
                  <a:pt x="790419" y="3657600"/>
                </a:lnTo>
                <a:lnTo>
                  <a:pt x="779737" y="3657600"/>
                </a:lnTo>
                <a:lnTo>
                  <a:pt x="769056" y="3657600"/>
                </a:lnTo>
                <a:lnTo>
                  <a:pt x="758374" y="3657600"/>
                </a:lnTo>
                <a:lnTo>
                  <a:pt x="747693" y="3657600"/>
                </a:lnTo>
                <a:lnTo>
                  <a:pt x="737012" y="3657600"/>
                </a:lnTo>
                <a:lnTo>
                  <a:pt x="726330" y="3657600"/>
                </a:lnTo>
                <a:lnTo>
                  <a:pt x="715649" y="3657600"/>
                </a:lnTo>
                <a:lnTo>
                  <a:pt x="704968" y="3657600"/>
                </a:lnTo>
                <a:lnTo>
                  <a:pt x="694286" y="3657600"/>
                </a:lnTo>
                <a:lnTo>
                  <a:pt x="683605" y="3657600"/>
                </a:lnTo>
                <a:lnTo>
                  <a:pt x="672924" y="3657600"/>
                </a:lnTo>
                <a:lnTo>
                  <a:pt x="662242" y="3657600"/>
                </a:lnTo>
                <a:lnTo>
                  <a:pt x="651561" y="3657600"/>
                </a:lnTo>
                <a:lnTo>
                  <a:pt x="640880" y="3657600"/>
                </a:lnTo>
                <a:lnTo>
                  <a:pt x="630198" y="3657600"/>
                </a:lnTo>
                <a:lnTo>
                  <a:pt x="619517" y="3657600"/>
                </a:lnTo>
                <a:lnTo>
                  <a:pt x="608836" y="3657600"/>
                </a:lnTo>
                <a:lnTo>
                  <a:pt x="598154" y="3657600"/>
                </a:lnTo>
                <a:lnTo>
                  <a:pt x="587473" y="3657600"/>
                </a:lnTo>
                <a:lnTo>
                  <a:pt x="576791" y="3657600"/>
                </a:lnTo>
                <a:lnTo>
                  <a:pt x="566110" y="3657600"/>
                </a:lnTo>
                <a:lnTo>
                  <a:pt x="555429" y="3657600"/>
                </a:lnTo>
                <a:lnTo>
                  <a:pt x="544747" y="3657600"/>
                </a:lnTo>
                <a:lnTo>
                  <a:pt x="534066" y="3657600"/>
                </a:lnTo>
                <a:lnTo>
                  <a:pt x="523385" y="3657600"/>
                </a:lnTo>
                <a:lnTo>
                  <a:pt x="512703" y="3657600"/>
                </a:lnTo>
                <a:lnTo>
                  <a:pt x="502022" y="3657600"/>
                </a:lnTo>
                <a:lnTo>
                  <a:pt x="491341" y="3657600"/>
                </a:lnTo>
                <a:lnTo>
                  <a:pt x="480659" y="3657600"/>
                </a:lnTo>
                <a:lnTo>
                  <a:pt x="469978" y="3657600"/>
                </a:lnTo>
                <a:lnTo>
                  <a:pt x="459297" y="3657600"/>
                </a:lnTo>
                <a:lnTo>
                  <a:pt x="448615" y="3657600"/>
                </a:lnTo>
                <a:lnTo>
                  <a:pt x="437934" y="3657600"/>
                </a:lnTo>
                <a:lnTo>
                  <a:pt x="427253" y="3657600"/>
                </a:lnTo>
                <a:lnTo>
                  <a:pt x="416571" y="3657600"/>
                </a:lnTo>
                <a:lnTo>
                  <a:pt x="405890" y="3657600"/>
                </a:lnTo>
                <a:lnTo>
                  <a:pt x="395209" y="3657600"/>
                </a:lnTo>
                <a:lnTo>
                  <a:pt x="384527" y="3657600"/>
                </a:lnTo>
                <a:lnTo>
                  <a:pt x="373846" y="3657600"/>
                </a:lnTo>
                <a:lnTo>
                  <a:pt x="363164" y="3657600"/>
                </a:lnTo>
                <a:lnTo>
                  <a:pt x="352483" y="3657600"/>
                </a:lnTo>
                <a:lnTo>
                  <a:pt x="341802" y="3657600"/>
                </a:lnTo>
                <a:lnTo>
                  <a:pt x="331120" y="3657600"/>
                </a:lnTo>
                <a:lnTo>
                  <a:pt x="320439" y="3657600"/>
                </a:lnTo>
                <a:lnTo>
                  <a:pt x="309758" y="3657600"/>
                </a:lnTo>
                <a:lnTo>
                  <a:pt x="299076" y="3657600"/>
                </a:lnTo>
                <a:lnTo>
                  <a:pt x="288395" y="3657600"/>
                </a:lnTo>
                <a:lnTo>
                  <a:pt x="277714" y="3657600"/>
                </a:lnTo>
                <a:lnTo>
                  <a:pt x="267032" y="3657600"/>
                </a:lnTo>
                <a:lnTo>
                  <a:pt x="256351" y="3657600"/>
                </a:lnTo>
                <a:lnTo>
                  <a:pt x="245670" y="3657600"/>
                </a:lnTo>
                <a:lnTo>
                  <a:pt x="234988" y="3657600"/>
                </a:lnTo>
                <a:lnTo>
                  <a:pt x="224307" y="3657600"/>
                </a:lnTo>
                <a:lnTo>
                  <a:pt x="213626" y="3657600"/>
                </a:lnTo>
                <a:lnTo>
                  <a:pt x="202944" y="3657600"/>
                </a:lnTo>
                <a:lnTo>
                  <a:pt x="192263" y="3657600"/>
                </a:lnTo>
                <a:lnTo>
                  <a:pt x="181581" y="3657600"/>
                </a:lnTo>
                <a:lnTo>
                  <a:pt x="170900" y="3657600"/>
                </a:lnTo>
                <a:lnTo>
                  <a:pt x="160219" y="3657600"/>
                </a:lnTo>
                <a:lnTo>
                  <a:pt x="149538" y="3657600"/>
                </a:lnTo>
                <a:lnTo>
                  <a:pt x="138857" y="3657600"/>
                </a:lnTo>
                <a:lnTo>
                  <a:pt x="128176" y="3657600"/>
                </a:lnTo>
                <a:lnTo>
                  <a:pt x="117494" y="3657600"/>
                </a:lnTo>
                <a:lnTo>
                  <a:pt x="106813" y="3657600"/>
                </a:lnTo>
                <a:lnTo>
                  <a:pt x="96132" y="3657600"/>
                </a:lnTo>
                <a:lnTo>
                  <a:pt x="85450" y="3657600"/>
                </a:lnTo>
                <a:lnTo>
                  <a:pt x="74769" y="3657600"/>
                </a:lnTo>
                <a:lnTo>
                  <a:pt x="64088" y="3657600"/>
                </a:lnTo>
                <a:lnTo>
                  <a:pt x="53406" y="3657600"/>
                </a:lnTo>
                <a:lnTo>
                  <a:pt x="42725" y="3657600"/>
                </a:lnTo>
                <a:lnTo>
                  <a:pt x="32044" y="3657600"/>
                </a:lnTo>
                <a:lnTo>
                  <a:pt x="21362" y="3657600"/>
                </a:lnTo>
                <a:lnTo>
                  <a:pt x="10681" y="3657600"/>
                </a:lnTo>
                <a:lnTo>
                  <a:pt x="0" y="3657600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04 polygon 24" descr="sci-ppt:o024"/>
          <p:cNvSpPr/>
          <p:nvPr/>
        </p:nvSpPr>
        <p:spPr>
          <a:xfrm>
            <a:off x="914400" y="1371600"/>
            <a:ext cx="6400800" cy="3657600"/>
          </a:xfrm>
          <a:custGeom>
            <a:avLst/>
            <a:gdLst/>
            <a:ahLst/>
            <a:cxnLst/>
            <a:rect l="l" t="t" r="r" b="b"/>
            <a:pathLst>
              <a:path w="6400800" h="3657600">
                <a:moveTo>
                  <a:pt x="0" y="3657600"/>
                </a:moveTo>
                <a:lnTo>
                  <a:pt x="1066799" y="3657600"/>
                </a:lnTo>
                <a:lnTo>
                  <a:pt x="1066799" y="0"/>
                </a:lnTo>
                <a:lnTo>
                  <a:pt x="3200400" y="0"/>
                </a:lnTo>
                <a:lnTo>
                  <a:pt x="3200400" y="3657600"/>
                </a:lnTo>
                <a:lnTo>
                  <a:pt x="6400800" y="36576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2-E04 polygon 25" descr="sci-ppt:o025"/>
          <p:cNvSpPr/>
          <p:nvPr/>
        </p:nvSpPr>
        <p:spPr>
          <a:xfrm>
            <a:off x="915735" y="1786647"/>
            <a:ext cx="6355404" cy="3229959"/>
          </a:xfrm>
          <a:custGeom>
            <a:avLst/>
            <a:gdLst/>
            <a:ahLst/>
            <a:cxnLst/>
            <a:rect l="l" t="t" r="r" b="b"/>
            <a:pathLst>
              <a:path w="6355404" h="3229959">
                <a:moveTo>
                  <a:pt x="0" y="3229959"/>
                </a:moveTo>
                <a:lnTo>
                  <a:pt x="53406" y="3227418"/>
                </a:lnTo>
                <a:lnTo>
                  <a:pt x="106813" y="3224420"/>
                </a:lnTo>
                <a:lnTo>
                  <a:pt x="160220" y="3220896"/>
                </a:lnTo>
                <a:lnTo>
                  <a:pt x="213627" y="3216767"/>
                </a:lnTo>
                <a:lnTo>
                  <a:pt x="267033" y="3211945"/>
                </a:lnTo>
                <a:lnTo>
                  <a:pt x="320440" y="3206335"/>
                </a:lnTo>
                <a:lnTo>
                  <a:pt x="373847" y="3199828"/>
                </a:lnTo>
                <a:lnTo>
                  <a:pt x="427254" y="3192307"/>
                </a:lnTo>
                <a:lnTo>
                  <a:pt x="480660" y="3183646"/>
                </a:lnTo>
                <a:lnTo>
                  <a:pt x="534067" y="3173705"/>
                </a:lnTo>
                <a:lnTo>
                  <a:pt x="587474" y="3162334"/>
                </a:lnTo>
                <a:lnTo>
                  <a:pt x="640881" y="3149375"/>
                </a:lnTo>
                <a:lnTo>
                  <a:pt x="694288" y="3134656"/>
                </a:lnTo>
                <a:lnTo>
                  <a:pt x="747694" y="3117999"/>
                </a:lnTo>
                <a:lnTo>
                  <a:pt x="801101" y="3099213"/>
                </a:lnTo>
                <a:lnTo>
                  <a:pt x="854508" y="3078105"/>
                </a:lnTo>
                <a:lnTo>
                  <a:pt x="907915" y="3054470"/>
                </a:lnTo>
                <a:lnTo>
                  <a:pt x="961321" y="3028104"/>
                </a:lnTo>
                <a:lnTo>
                  <a:pt x="1014728" y="2998796"/>
                </a:lnTo>
                <a:lnTo>
                  <a:pt x="1068135" y="2966339"/>
                </a:lnTo>
                <a:lnTo>
                  <a:pt x="1121542" y="2930528"/>
                </a:lnTo>
                <a:lnTo>
                  <a:pt x="1174948" y="2891162"/>
                </a:lnTo>
                <a:lnTo>
                  <a:pt x="1228355" y="2848053"/>
                </a:lnTo>
                <a:lnTo>
                  <a:pt x="1281762" y="2801023"/>
                </a:lnTo>
                <a:lnTo>
                  <a:pt x="1335169" y="2749913"/>
                </a:lnTo>
                <a:lnTo>
                  <a:pt x="1388575" y="2694584"/>
                </a:lnTo>
                <a:lnTo>
                  <a:pt x="1441982" y="2634925"/>
                </a:lnTo>
                <a:lnTo>
                  <a:pt x="1495389" y="2570852"/>
                </a:lnTo>
                <a:lnTo>
                  <a:pt x="1548796" y="2502317"/>
                </a:lnTo>
                <a:lnTo>
                  <a:pt x="1602202" y="2429309"/>
                </a:lnTo>
                <a:lnTo>
                  <a:pt x="1655609" y="2351860"/>
                </a:lnTo>
                <a:lnTo>
                  <a:pt x="1709016" y="2270050"/>
                </a:lnTo>
                <a:lnTo>
                  <a:pt x="1762423" y="2184005"/>
                </a:lnTo>
                <a:lnTo>
                  <a:pt x="1815829" y="2093908"/>
                </a:lnTo>
                <a:lnTo>
                  <a:pt x="1869236" y="1999992"/>
                </a:lnTo>
                <a:lnTo>
                  <a:pt x="1922643" y="1902550"/>
                </a:lnTo>
                <a:lnTo>
                  <a:pt x="1976050" y="1801931"/>
                </a:lnTo>
                <a:lnTo>
                  <a:pt x="2029456" y="1698541"/>
                </a:lnTo>
                <a:lnTo>
                  <a:pt x="2082863" y="1592844"/>
                </a:lnTo>
                <a:lnTo>
                  <a:pt x="2136270" y="1485357"/>
                </a:lnTo>
                <a:lnTo>
                  <a:pt x="2189677" y="1376649"/>
                </a:lnTo>
                <a:lnTo>
                  <a:pt x="2243084" y="1267336"/>
                </a:lnTo>
                <a:lnTo>
                  <a:pt x="2296490" y="1158079"/>
                </a:lnTo>
                <a:lnTo>
                  <a:pt x="2349897" y="1049575"/>
                </a:lnTo>
                <a:lnTo>
                  <a:pt x="2403304" y="942550"/>
                </a:lnTo>
                <a:lnTo>
                  <a:pt x="2456711" y="837754"/>
                </a:lnTo>
                <a:lnTo>
                  <a:pt x="2510117" y="735952"/>
                </a:lnTo>
                <a:lnTo>
                  <a:pt x="2563524" y="637911"/>
                </a:lnTo>
                <a:lnTo>
                  <a:pt x="2616931" y="544397"/>
                </a:lnTo>
                <a:lnTo>
                  <a:pt x="2670338" y="456161"/>
                </a:lnTo>
                <a:lnTo>
                  <a:pt x="2723744" y="373928"/>
                </a:lnTo>
                <a:lnTo>
                  <a:pt x="2777151" y="298393"/>
                </a:lnTo>
                <a:lnTo>
                  <a:pt x="2830558" y="230204"/>
                </a:lnTo>
                <a:lnTo>
                  <a:pt x="2883965" y="169957"/>
                </a:lnTo>
                <a:lnTo>
                  <a:pt x="2937371" y="118187"/>
                </a:lnTo>
                <a:lnTo>
                  <a:pt x="2990778" y="75361"/>
                </a:lnTo>
                <a:lnTo>
                  <a:pt x="3044185" y="41866"/>
                </a:lnTo>
                <a:lnTo>
                  <a:pt x="3097592" y="18009"/>
                </a:lnTo>
                <a:lnTo>
                  <a:pt x="3150998" y="4011"/>
                </a:lnTo>
                <a:lnTo>
                  <a:pt x="3204405" y="0"/>
                </a:lnTo>
                <a:lnTo>
                  <a:pt x="3257812" y="6014"/>
                </a:lnTo>
                <a:lnTo>
                  <a:pt x="3311219" y="21997"/>
                </a:lnTo>
                <a:lnTo>
                  <a:pt x="3364625" y="47802"/>
                </a:lnTo>
                <a:lnTo>
                  <a:pt x="3418032" y="83191"/>
                </a:lnTo>
                <a:lnTo>
                  <a:pt x="3471439" y="127840"/>
                </a:lnTo>
                <a:lnTo>
                  <a:pt x="3524846" y="181344"/>
                </a:lnTo>
                <a:lnTo>
                  <a:pt x="3578252" y="243224"/>
                </a:lnTo>
                <a:lnTo>
                  <a:pt x="3631659" y="312932"/>
                </a:lnTo>
                <a:lnTo>
                  <a:pt x="3685066" y="389861"/>
                </a:lnTo>
                <a:lnTo>
                  <a:pt x="3738473" y="473350"/>
                </a:lnTo>
                <a:lnTo>
                  <a:pt x="3791880" y="562701"/>
                </a:lnTo>
                <a:lnTo>
                  <a:pt x="3845286" y="657181"/>
                </a:lnTo>
                <a:lnTo>
                  <a:pt x="3898693" y="756036"/>
                </a:lnTo>
                <a:lnTo>
                  <a:pt x="3952100" y="858499"/>
                </a:lnTo>
                <a:lnTo>
                  <a:pt x="4005507" y="963801"/>
                </a:lnTo>
                <a:lnTo>
                  <a:pt x="4058913" y="1071181"/>
                </a:lnTo>
                <a:lnTo>
                  <a:pt x="4112320" y="1179893"/>
                </a:lnTo>
                <a:lnTo>
                  <a:pt x="4165727" y="1289216"/>
                </a:lnTo>
                <a:lnTo>
                  <a:pt x="4219134" y="1398459"/>
                </a:lnTo>
                <a:lnTo>
                  <a:pt x="4272540" y="1506971"/>
                </a:lnTo>
                <a:lnTo>
                  <a:pt x="4325947" y="1614144"/>
                </a:lnTo>
                <a:lnTo>
                  <a:pt x="4379354" y="1719420"/>
                </a:lnTo>
                <a:lnTo>
                  <a:pt x="4432761" y="1822290"/>
                </a:lnTo>
                <a:lnTo>
                  <a:pt x="4486167" y="1922304"/>
                </a:lnTo>
                <a:lnTo>
                  <a:pt x="4539574" y="2019067"/>
                </a:lnTo>
                <a:lnTo>
                  <a:pt x="4592981" y="2112241"/>
                </a:lnTo>
                <a:lnTo>
                  <a:pt x="4646388" y="2201545"/>
                </a:lnTo>
                <a:lnTo>
                  <a:pt x="4699794" y="2286755"/>
                </a:lnTo>
                <a:lnTo>
                  <a:pt x="4753201" y="2367702"/>
                </a:lnTo>
                <a:lnTo>
                  <a:pt x="4806608" y="2444267"/>
                </a:lnTo>
                <a:lnTo>
                  <a:pt x="4860015" y="2516382"/>
                </a:lnTo>
                <a:lnTo>
                  <a:pt x="4913421" y="2584023"/>
                </a:lnTo>
                <a:lnTo>
                  <a:pt x="4966828" y="2647208"/>
                </a:lnTo>
                <a:lnTo>
                  <a:pt x="5020235" y="2705993"/>
                </a:lnTo>
                <a:lnTo>
                  <a:pt x="5073642" y="2760468"/>
                </a:lnTo>
                <a:lnTo>
                  <a:pt x="5127048" y="2810750"/>
                </a:lnTo>
                <a:lnTo>
                  <a:pt x="5180455" y="2856983"/>
                </a:lnTo>
                <a:lnTo>
                  <a:pt x="5233862" y="2899329"/>
                </a:lnTo>
                <a:lnTo>
                  <a:pt x="5287269" y="2937968"/>
                </a:lnTo>
                <a:lnTo>
                  <a:pt x="5340676" y="2973093"/>
                </a:lnTo>
                <a:lnTo>
                  <a:pt x="5394082" y="3004903"/>
                </a:lnTo>
                <a:lnTo>
                  <a:pt x="5447489" y="3033606"/>
                </a:lnTo>
                <a:lnTo>
                  <a:pt x="5500896" y="3059409"/>
                </a:lnTo>
                <a:lnTo>
                  <a:pt x="5554303" y="3082522"/>
                </a:lnTo>
                <a:lnTo>
                  <a:pt x="5607709" y="3103150"/>
                </a:lnTo>
                <a:lnTo>
                  <a:pt x="5661116" y="3121494"/>
                </a:lnTo>
                <a:lnTo>
                  <a:pt x="5714523" y="3137749"/>
                </a:lnTo>
                <a:lnTo>
                  <a:pt x="5767930" y="3152102"/>
                </a:lnTo>
                <a:lnTo>
                  <a:pt x="5821336" y="3164730"/>
                </a:lnTo>
                <a:lnTo>
                  <a:pt x="5874743" y="3175802"/>
                </a:lnTo>
                <a:lnTo>
                  <a:pt x="5928150" y="3185476"/>
                </a:lnTo>
                <a:lnTo>
                  <a:pt x="5981557" y="3193898"/>
                </a:lnTo>
                <a:lnTo>
                  <a:pt x="6034963" y="3201206"/>
                </a:lnTo>
                <a:lnTo>
                  <a:pt x="6088370" y="3207525"/>
                </a:lnTo>
                <a:lnTo>
                  <a:pt x="6141777" y="3212970"/>
                </a:lnTo>
                <a:lnTo>
                  <a:pt x="6195184" y="3217645"/>
                </a:lnTo>
                <a:lnTo>
                  <a:pt x="6248590" y="3221647"/>
                </a:lnTo>
                <a:lnTo>
                  <a:pt x="6301997" y="3225059"/>
                </a:lnTo>
                <a:lnTo>
                  <a:pt x="6355404" y="3227960"/>
                </a:lnTo>
              </a:path>
            </a:pathLst>
          </a:custGeom>
          <a:noFill/>
          <a:ln w="3810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04 text 26" descr="sci-ppt:o026"/>
          <p:cNvSpPr txBox="1"/>
          <p:nvPr/>
        </p:nvSpPr>
        <p:spPr>
          <a:xfrm>
            <a:off x="4312920" y="1353312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rectangular pulse: f = 1/τ_L</a:t>
            </a:r>
          </a:p>
        </p:txBody>
      </p:sp>
      <p:sp>
        <p:nvSpPr>
          <p:cNvPr id="29" name="C2-E04 text 27" descr="sci-ppt:o027"/>
          <p:cNvSpPr txBox="1"/>
          <p:nvPr/>
        </p:nvSpPr>
        <p:spPr>
          <a:xfrm>
            <a:off x="5148072" y="2743200"/>
            <a:ext cx="23774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Gaussian pulse, same area</a:t>
            </a:r>
          </a:p>
        </p:txBody>
      </p:sp>
      <p:sp>
        <p:nvSpPr>
          <p:cNvPr id="30" name="C2-E04 round_rect 28" descr="sci-ppt:o028"/>
          <p:cNvSpPr/>
          <p:nvPr/>
        </p:nvSpPr>
        <p:spPr>
          <a:xfrm>
            <a:off x="7589520" y="1371600"/>
            <a:ext cx="42519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04 text 29" descr="sci-ppt:o029"/>
          <p:cNvSpPr txBox="1"/>
          <p:nvPr/>
        </p:nvSpPr>
        <p:spPr>
          <a:xfrm>
            <a:off x="7699248" y="1426464"/>
            <a:ext cx="4032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Energy, shape and timing</a:t>
            </a:r>
          </a:p>
        </p:txBody>
      </p:sp>
      <p:sp>
        <p:nvSpPr>
          <p:cNvPr id="32" name="C2-E04 text 30" descr="sci-ppt:o030"/>
          <p:cNvSpPr txBox="1"/>
          <p:nvPr/>
        </p:nvSpPr>
        <p:spPr>
          <a:xfrm>
            <a:off x="7726679" y="1828800"/>
            <a:ext cx="4023360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∫ f(t) dt = 1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I(r,t) = F(r) f(t)</a:t>
            </a:r>
          </a:p>
        </p:txBody>
      </p:sp>
      <p:sp>
        <p:nvSpPr>
          <p:cNvPr id="33" name="C2-E04 text 31" descr="sci-ppt:o031"/>
          <p:cNvSpPr txBox="1"/>
          <p:nvPr/>
        </p:nvSpPr>
        <p:spPr>
          <a:xfrm>
            <a:off x="7726679" y="2606040"/>
            <a:ext cx="402336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Peak irradiance for a rectangular pulse: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Iₚₑₐₖ = F₀ / τ_L</a:t>
            </a:r>
          </a:p>
        </p:txBody>
      </p:sp>
      <p:sp>
        <p:nvSpPr>
          <p:cNvPr id="34" name="C2-E04 text 32" descr="sci-ppt:o032"/>
          <p:cNvSpPr txBox="1"/>
          <p:nvPr/>
        </p:nvSpPr>
        <p:spPr>
          <a:xfrm>
            <a:off x="7726679" y="3474720"/>
            <a:ext cx="40233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Example: F₀ = 1 J/cm², τ_L = 10 ns gives Iₚₑₐₖ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10⁸ W/cm². The same energy in a shorter 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raises the peak.</a:t>
            </a:r>
          </a:p>
        </p:txBody>
      </p:sp>
      <p:sp>
        <p:nvSpPr>
          <p:cNvPr id="35" name="C2-E04 text 33" descr="sci-ppt:o033"/>
          <p:cNvSpPr txBox="1"/>
          <p:nvPr/>
        </p:nvSpPr>
        <p:spPr>
          <a:xfrm>
            <a:off x="914400" y="5733288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Normalised so that f only says when the energy arrives, never how much: F(r) carries the amount.</a:t>
            </a:r>
          </a:p>
        </p:txBody>
      </p:sp>
      <p:sp>
        <p:nvSpPr>
          <p:cNvPr id="36" name="C2-E04 text 34" descr="sci-ppt:o03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Pulse shapes of Eq. C2-E04.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C2-E05 · Beer–Lambert constitutive model and solution</a:t>
            </a:r>
          </a:p>
        </p:txBody>
      </p:sp>
      <p:sp>
        <p:nvSpPr>
          <p:cNvPr id="3" name="C2-E05 round_rect 1" descr="sci-ppt:o001"/>
          <p:cNvSpPr/>
          <p:nvPr/>
        </p:nvSpPr>
        <p:spPr>
          <a:xfrm>
            <a:off x="365760" y="914400"/>
            <a:ext cx="40233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05 text 2" descr="sci-ppt:o002"/>
          <p:cNvSpPr txBox="1"/>
          <p:nvPr/>
        </p:nvSpPr>
        <p:spPr>
          <a:xfrm>
            <a:off x="475488" y="969264"/>
            <a:ext cx="3803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Light entering an absorber</a:t>
            </a:r>
          </a:p>
        </p:txBody>
      </p:sp>
      <p:sp>
        <p:nvSpPr>
          <p:cNvPr id="5" name="C2-E05 rect 3" descr="sci-ppt:o003"/>
          <p:cNvSpPr/>
          <p:nvPr/>
        </p:nvSpPr>
        <p:spPr>
          <a:xfrm>
            <a:off x="914400" y="1828800"/>
            <a:ext cx="2926080" cy="3291840"/>
          </a:xfrm>
          <a:prstGeom prst="rect">
            <a:avLst/>
          </a:pr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05 rect 4" descr="sci-ppt:o004"/>
          <p:cNvSpPr/>
          <p:nvPr/>
        </p:nvSpPr>
        <p:spPr>
          <a:xfrm>
            <a:off x="914400" y="1828800"/>
            <a:ext cx="2926080" cy="457200"/>
          </a:xfrm>
          <a:prstGeom prst="rect">
            <a:avLst/>
          </a:prstGeom>
          <a:solidFill>
            <a:srgbClr val="F2B880">
              <a:alpha val="55000"/>
            </a:srgbClr>
          </a:solidFill>
          <a:ln>
            <a:solidFill>
              <a:srgbClr val="F2B880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2-E05 rect 5" descr="sci-ppt:o005"/>
          <p:cNvSpPr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solidFill>
            <a:srgbClr val="F2B880">
              <a:alpha val="31556"/>
            </a:srgbClr>
          </a:solidFill>
          <a:ln>
            <a:solidFill>
              <a:srgbClr val="F2B880">
                <a:alpha val="3155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05 rect 6" descr="sci-ppt:o006"/>
          <p:cNvSpPr/>
          <p:nvPr/>
        </p:nvSpPr>
        <p:spPr>
          <a:xfrm>
            <a:off x="914400" y="2743200"/>
            <a:ext cx="2926080" cy="457200"/>
          </a:xfrm>
          <a:prstGeom prst="rect">
            <a:avLst/>
          </a:prstGeom>
          <a:solidFill>
            <a:srgbClr val="F2B880">
              <a:alpha val="18106"/>
            </a:srgbClr>
          </a:solidFill>
          <a:ln>
            <a:solidFill>
              <a:srgbClr val="F2B880">
                <a:alpha val="1810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2-E05 rect 7" descr="sci-ppt:o007"/>
          <p:cNvSpPr/>
          <p:nvPr/>
        </p:nvSpPr>
        <p:spPr>
          <a:xfrm>
            <a:off x="914400" y="3200400"/>
            <a:ext cx="2926080" cy="457200"/>
          </a:xfrm>
          <a:prstGeom prst="rect">
            <a:avLst/>
          </a:prstGeom>
          <a:solidFill>
            <a:srgbClr val="F2B880">
              <a:alpha val="10388"/>
            </a:srgbClr>
          </a:solidFill>
          <a:ln>
            <a:solidFill>
              <a:srgbClr val="F2B880">
                <a:alpha val="10388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05 rect 8" descr="sci-ppt:o008"/>
          <p:cNvSpPr/>
          <p:nvPr/>
        </p:nvSpPr>
        <p:spPr>
          <a:xfrm>
            <a:off x="914400" y="3657600"/>
            <a:ext cx="2926080" cy="457200"/>
          </a:xfrm>
          <a:prstGeom prst="rect">
            <a:avLst/>
          </a:prstGeom>
          <a:solidFill>
            <a:srgbClr val="F2B880">
              <a:alpha val="5960"/>
            </a:srgbClr>
          </a:solidFill>
          <a:ln>
            <a:solidFill>
              <a:srgbClr val="F2B880">
                <a:alpha val="596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05 rect 9" descr="sci-ppt:o009"/>
          <p:cNvSpPr/>
          <p:nvPr/>
        </p:nvSpPr>
        <p:spPr>
          <a:xfrm>
            <a:off x="914400" y="4114800"/>
            <a:ext cx="2926080" cy="457200"/>
          </a:xfrm>
          <a:prstGeom prst="rect">
            <a:avLst/>
          </a:prstGeom>
          <a:solidFill>
            <a:srgbClr val="F2B880">
              <a:alpha val="3420"/>
            </a:srgbClr>
          </a:solidFill>
          <a:ln>
            <a:solidFill>
              <a:srgbClr val="F2B880">
                <a:alpha val="342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05 rect 10" descr="sci-ppt:o010"/>
          <p:cNvSpPr/>
          <p:nvPr/>
        </p:nvSpPr>
        <p:spPr>
          <a:xfrm>
            <a:off x="914400" y="4572000"/>
            <a:ext cx="2926080" cy="457200"/>
          </a:xfrm>
          <a:prstGeom prst="rect">
            <a:avLst/>
          </a:prstGeom>
          <a:solidFill>
            <a:srgbClr val="F2B880">
              <a:alpha val="1962"/>
            </a:srgbClr>
          </a:solidFill>
          <a:ln>
            <a:solidFill>
              <a:srgbClr val="F2B880">
                <a:alpha val="196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2-E05 arrow 11" descr="sci-ppt:o011"/>
          <p:cNvCxnSpPr/>
          <p:nvPr/>
        </p:nvCxnSpPr>
        <p:spPr>
          <a:xfrm>
            <a:off x="1371600" y="1371600"/>
            <a:ext cx="0" cy="41148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2-E05 arrow 12" descr="sci-ppt:o012"/>
          <p:cNvCxnSpPr/>
          <p:nvPr/>
        </p:nvCxnSpPr>
        <p:spPr>
          <a:xfrm>
            <a:off x="2057400" y="1371600"/>
            <a:ext cx="0" cy="289965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5" name="C2-E05 arrow 13" descr="sci-ppt:o013"/>
          <p:cNvCxnSpPr/>
          <p:nvPr/>
        </p:nvCxnSpPr>
        <p:spPr>
          <a:xfrm>
            <a:off x="2743200" y="1371600"/>
            <a:ext cx="0" cy="204334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2-E05 arrow 14" descr="sci-ppt:o014"/>
          <p:cNvCxnSpPr/>
          <p:nvPr/>
        </p:nvCxnSpPr>
        <p:spPr>
          <a:xfrm>
            <a:off x="3429000" y="1371600"/>
            <a:ext cx="0" cy="143992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7" name="C2-E05 text 15" descr="sci-ppt:o015"/>
          <p:cNvSpPr txBox="1"/>
          <p:nvPr/>
        </p:nvSpPr>
        <p:spPr>
          <a:xfrm>
            <a:off x="502920" y="5212080"/>
            <a:ext cx="3749039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Deeper layers see less light, so they heat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less: Q_abs = μₐ I(z).</a:t>
            </a:r>
          </a:p>
        </p:txBody>
      </p:sp>
      <p:cxnSp>
        <p:nvCxnSpPr>
          <p:cNvPr id="18" name="C2-E05 line 16" descr="sci-ppt:o016"/>
          <p:cNvCxnSpPr/>
          <p:nvPr/>
        </p:nvCxnSpPr>
        <p:spPr>
          <a:xfrm>
            <a:off x="557784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9" name="C2-E05 line 17" descr="sci-ppt:o017"/>
          <p:cNvCxnSpPr/>
          <p:nvPr/>
        </p:nvCxnSpPr>
        <p:spPr>
          <a:xfrm>
            <a:off x="557784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0" name="C2-E05 line 18" descr="sci-ppt:o018"/>
          <p:cNvCxnSpPr/>
          <p:nvPr/>
        </p:nvCxnSpPr>
        <p:spPr>
          <a:xfrm>
            <a:off x="55778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05 line 19" descr="sci-ppt:o019"/>
          <p:cNvCxnSpPr/>
          <p:nvPr/>
        </p:nvCxnSpPr>
        <p:spPr>
          <a:xfrm>
            <a:off x="55778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05 text 20" descr="sci-ppt:o020"/>
          <p:cNvSpPr txBox="1"/>
          <p:nvPr/>
        </p:nvSpPr>
        <p:spPr>
          <a:xfrm>
            <a:off x="51206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3" name="C2-E05 line 21" descr="sci-ppt:o021"/>
          <p:cNvCxnSpPr/>
          <p:nvPr/>
        </p:nvCxnSpPr>
        <p:spPr>
          <a:xfrm>
            <a:off x="7086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05 line 22" descr="sci-ppt:o022"/>
          <p:cNvCxnSpPr/>
          <p:nvPr/>
        </p:nvCxnSpPr>
        <p:spPr>
          <a:xfrm>
            <a:off x="7086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05 text 23" descr="sci-ppt:o023"/>
          <p:cNvSpPr txBox="1"/>
          <p:nvPr/>
        </p:nvSpPr>
        <p:spPr>
          <a:xfrm>
            <a:off x="6629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6" name="C2-E05 line 24" descr="sci-ppt:o024"/>
          <p:cNvCxnSpPr/>
          <p:nvPr/>
        </p:nvCxnSpPr>
        <p:spPr>
          <a:xfrm>
            <a:off x="85953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05 line 25" descr="sci-ppt:o025"/>
          <p:cNvCxnSpPr/>
          <p:nvPr/>
        </p:nvCxnSpPr>
        <p:spPr>
          <a:xfrm>
            <a:off x="85953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05 text 26" descr="sci-ppt:o026"/>
          <p:cNvSpPr txBox="1"/>
          <p:nvPr/>
        </p:nvSpPr>
        <p:spPr>
          <a:xfrm>
            <a:off x="81381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9" name="C2-E05 line 27" descr="sci-ppt:o027"/>
          <p:cNvCxnSpPr/>
          <p:nvPr/>
        </p:nvCxnSpPr>
        <p:spPr>
          <a:xfrm>
            <a:off x="1010411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05 line 28" descr="sci-ppt:o028"/>
          <p:cNvCxnSpPr/>
          <p:nvPr/>
        </p:nvCxnSpPr>
        <p:spPr>
          <a:xfrm>
            <a:off x="1010411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05 text 29" descr="sci-ppt:o029"/>
          <p:cNvSpPr txBox="1"/>
          <p:nvPr/>
        </p:nvSpPr>
        <p:spPr>
          <a:xfrm>
            <a:off x="964691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32" name="C2-E05 line 30" descr="sci-ppt:o030"/>
          <p:cNvCxnSpPr/>
          <p:nvPr/>
        </p:nvCxnSpPr>
        <p:spPr>
          <a:xfrm>
            <a:off x="116128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05 line 31" descr="sci-ppt:o031"/>
          <p:cNvCxnSpPr/>
          <p:nvPr/>
        </p:nvCxnSpPr>
        <p:spPr>
          <a:xfrm>
            <a:off x="116128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05 text 32" descr="sci-ppt:o032"/>
          <p:cNvSpPr txBox="1"/>
          <p:nvPr/>
        </p:nvSpPr>
        <p:spPr>
          <a:xfrm>
            <a:off x="111556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35" name="C2-E05 line 33" descr="sci-ppt:o033"/>
          <p:cNvCxnSpPr/>
          <p:nvPr/>
        </p:nvCxnSpPr>
        <p:spPr>
          <a:xfrm>
            <a:off x="5513831" y="50292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2-E05 line 34" descr="sci-ppt:o034"/>
          <p:cNvCxnSpPr/>
          <p:nvPr/>
        </p:nvCxnSpPr>
        <p:spPr>
          <a:xfrm>
            <a:off x="5513831" y="415834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05 line 35" descr="sci-ppt:o035"/>
          <p:cNvCxnSpPr/>
          <p:nvPr/>
        </p:nvCxnSpPr>
        <p:spPr>
          <a:xfrm>
            <a:off x="5577840" y="4158342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05 text 36" descr="sci-ppt:o036"/>
          <p:cNvSpPr txBox="1"/>
          <p:nvPr/>
        </p:nvSpPr>
        <p:spPr>
          <a:xfrm>
            <a:off x="4709159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9" name="C2-E05 line 37" descr="sci-ppt:o037"/>
          <p:cNvCxnSpPr/>
          <p:nvPr/>
        </p:nvCxnSpPr>
        <p:spPr>
          <a:xfrm>
            <a:off x="5513831" y="32874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5 line 38" descr="sci-ppt:o038"/>
          <p:cNvCxnSpPr/>
          <p:nvPr/>
        </p:nvCxnSpPr>
        <p:spPr>
          <a:xfrm>
            <a:off x="5577840" y="3287485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5 text 39" descr="sci-ppt:o039"/>
          <p:cNvSpPr txBox="1"/>
          <p:nvPr/>
        </p:nvSpPr>
        <p:spPr>
          <a:xfrm>
            <a:off x="4709159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2" name="C2-E05 line 40" descr="sci-ppt:o040"/>
          <p:cNvCxnSpPr/>
          <p:nvPr/>
        </p:nvCxnSpPr>
        <p:spPr>
          <a:xfrm>
            <a:off x="5513831" y="241662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5 line 41" descr="sci-ppt:o041"/>
          <p:cNvCxnSpPr/>
          <p:nvPr/>
        </p:nvCxnSpPr>
        <p:spPr>
          <a:xfrm>
            <a:off x="5577840" y="2416628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5 text 42" descr="sci-ppt:o042"/>
          <p:cNvSpPr txBox="1"/>
          <p:nvPr/>
        </p:nvSpPr>
        <p:spPr>
          <a:xfrm>
            <a:off x="4709159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5" name="C2-E05 line 43" descr="sci-ppt:o043"/>
          <p:cNvCxnSpPr/>
          <p:nvPr/>
        </p:nvCxnSpPr>
        <p:spPr>
          <a:xfrm>
            <a:off x="5513831" y="1545771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5 line 44" descr="sci-ppt:o044"/>
          <p:cNvCxnSpPr/>
          <p:nvPr/>
        </p:nvCxnSpPr>
        <p:spPr>
          <a:xfrm>
            <a:off x="5577840" y="1545771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5 text 45" descr="sci-ppt:o045"/>
          <p:cNvSpPr txBox="1"/>
          <p:nvPr/>
        </p:nvSpPr>
        <p:spPr>
          <a:xfrm>
            <a:off x="4709159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48" name="C2-E05 text 46" descr="sci-ppt:o046"/>
          <p:cNvSpPr txBox="1"/>
          <p:nvPr/>
        </p:nvSpPr>
        <p:spPr>
          <a:xfrm>
            <a:off x="557784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depth z  (µm)</a:t>
            </a:r>
          </a:p>
        </p:txBody>
      </p:sp>
      <p:sp>
        <p:nvSpPr>
          <p:cNvPr id="49" name="C2-E05 text 47" descr="sci-ppt:o047"/>
          <p:cNvSpPr txBox="1"/>
          <p:nvPr/>
        </p:nvSpPr>
        <p:spPr>
          <a:xfrm>
            <a:off x="502920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I(z) / Iᵢₙ</a:t>
            </a:r>
          </a:p>
        </p:txBody>
      </p:sp>
      <p:sp>
        <p:nvSpPr>
          <p:cNvPr id="50" name="C2-E05 polygon 48" descr="sci-ppt:o048"/>
          <p:cNvSpPr/>
          <p:nvPr/>
        </p:nvSpPr>
        <p:spPr>
          <a:xfrm>
            <a:off x="5577840" y="1545771"/>
            <a:ext cx="6035040" cy="3419627"/>
          </a:xfrm>
          <a:custGeom>
            <a:avLst/>
            <a:gdLst/>
            <a:ahLst/>
            <a:cxnLst/>
            <a:rect l="l" t="t" r="r" b="b"/>
            <a:pathLst>
              <a:path w="6035040" h="3419627">
                <a:moveTo>
                  <a:pt x="0" y="0"/>
                </a:moveTo>
                <a:lnTo>
                  <a:pt x="40368" y="91966"/>
                </a:lnTo>
                <a:lnTo>
                  <a:pt x="80736" y="181505"/>
                </a:lnTo>
                <a:lnTo>
                  <a:pt x="121104" y="268679"/>
                </a:lnTo>
                <a:lnTo>
                  <a:pt x="161472" y="353552"/>
                </a:lnTo>
                <a:lnTo>
                  <a:pt x="201840" y="436184"/>
                </a:lnTo>
                <a:lnTo>
                  <a:pt x="242208" y="516634"/>
                </a:lnTo>
                <a:lnTo>
                  <a:pt x="282577" y="594961"/>
                </a:lnTo>
                <a:lnTo>
                  <a:pt x="322945" y="671220"/>
                </a:lnTo>
                <a:lnTo>
                  <a:pt x="363313" y="745465"/>
                </a:lnTo>
                <a:lnTo>
                  <a:pt x="403681" y="817750"/>
                </a:lnTo>
                <a:lnTo>
                  <a:pt x="444049" y="888127"/>
                </a:lnTo>
                <a:lnTo>
                  <a:pt x="484417" y="956646"/>
                </a:lnTo>
                <a:lnTo>
                  <a:pt x="524786" y="1023356"/>
                </a:lnTo>
                <a:lnTo>
                  <a:pt x="565154" y="1088304"/>
                </a:lnTo>
                <a:lnTo>
                  <a:pt x="605522" y="1151538"/>
                </a:lnTo>
                <a:lnTo>
                  <a:pt x="645890" y="1213103"/>
                </a:lnTo>
                <a:lnTo>
                  <a:pt x="686258" y="1273042"/>
                </a:lnTo>
                <a:lnTo>
                  <a:pt x="726626" y="1331398"/>
                </a:lnTo>
                <a:lnTo>
                  <a:pt x="766995" y="1388214"/>
                </a:lnTo>
                <a:lnTo>
                  <a:pt x="807363" y="1443530"/>
                </a:lnTo>
                <a:lnTo>
                  <a:pt x="847731" y="1497386"/>
                </a:lnTo>
                <a:lnTo>
                  <a:pt x="888099" y="1549819"/>
                </a:lnTo>
                <a:lnTo>
                  <a:pt x="928467" y="1600869"/>
                </a:lnTo>
                <a:lnTo>
                  <a:pt x="968835" y="1650570"/>
                </a:lnTo>
                <a:lnTo>
                  <a:pt x="1009204" y="1698960"/>
                </a:lnTo>
                <a:lnTo>
                  <a:pt x="1049572" y="1746072"/>
                </a:lnTo>
                <a:lnTo>
                  <a:pt x="1089940" y="1791940"/>
                </a:lnTo>
                <a:lnTo>
                  <a:pt x="1130308" y="1836597"/>
                </a:lnTo>
                <a:lnTo>
                  <a:pt x="1170676" y="1880075"/>
                </a:lnTo>
                <a:lnTo>
                  <a:pt x="1211044" y="1922405"/>
                </a:lnTo>
                <a:lnTo>
                  <a:pt x="1251412" y="1963618"/>
                </a:lnTo>
                <a:lnTo>
                  <a:pt x="1291781" y="2003743"/>
                </a:lnTo>
                <a:lnTo>
                  <a:pt x="1332149" y="2042808"/>
                </a:lnTo>
                <a:lnTo>
                  <a:pt x="1372517" y="2080842"/>
                </a:lnTo>
                <a:lnTo>
                  <a:pt x="1412885" y="2117872"/>
                </a:lnTo>
                <a:lnTo>
                  <a:pt x="1453253" y="2153924"/>
                </a:lnTo>
                <a:lnTo>
                  <a:pt x="1493621" y="2189024"/>
                </a:lnTo>
                <a:lnTo>
                  <a:pt x="1533990" y="2223198"/>
                </a:lnTo>
                <a:lnTo>
                  <a:pt x="1574358" y="2256469"/>
                </a:lnTo>
                <a:lnTo>
                  <a:pt x="1614726" y="2288863"/>
                </a:lnTo>
                <a:lnTo>
                  <a:pt x="1655094" y="2320400"/>
                </a:lnTo>
                <a:lnTo>
                  <a:pt x="1695462" y="2351106"/>
                </a:lnTo>
                <a:lnTo>
                  <a:pt x="1735830" y="2381000"/>
                </a:lnTo>
                <a:lnTo>
                  <a:pt x="1776199" y="2410105"/>
                </a:lnTo>
                <a:lnTo>
                  <a:pt x="1816567" y="2438442"/>
                </a:lnTo>
                <a:lnTo>
                  <a:pt x="1856935" y="2466031"/>
                </a:lnTo>
                <a:lnTo>
                  <a:pt x="1897303" y="2492891"/>
                </a:lnTo>
                <a:lnTo>
                  <a:pt x="1937671" y="2519043"/>
                </a:lnTo>
                <a:lnTo>
                  <a:pt x="1978039" y="2544504"/>
                </a:lnTo>
                <a:lnTo>
                  <a:pt x="2018408" y="2569292"/>
                </a:lnTo>
                <a:lnTo>
                  <a:pt x="2058776" y="2593426"/>
                </a:lnTo>
                <a:lnTo>
                  <a:pt x="2099144" y="2616923"/>
                </a:lnTo>
                <a:lnTo>
                  <a:pt x="2139512" y="2639800"/>
                </a:lnTo>
                <a:lnTo>
                  <a:pt x="2179880" y="2662073"/>
                </a:lnTo>
                <a:lnTo>
                  <a:pt x="2220248" y="2683757"/>
                </a:lnTo>
                <a:lnTo>
                  <a:pt x="2260616" y="2704870"/>
                </a:lnTo>
                <a:lnTo>
                  <a:pt x="2300985" y="2725424"/>
                </a:lnTo>
                <a:lnTo>
                  <a:pt x="2341353" y="2745437"/>
                </a:lnTo>
                <a:lnTo>
                  <a:pt x="2381721" y="2764920"/>
                </a:lnTo>
                <a:lnTo>
                  <a:pt x="2422089" y="2783890"/>
                </a:lnTo>
                <a:lnTo>
                  <a:pt x="2462457" y="2802358"/>
                </a:lnTo>
                <a:lnTo>
                  <a:pt x="2502825" y="2820339"/>
                </a:lnTo>
                <a:lnTo>
                  <a:pt x="2543194" y="2837846"/>
                </a:lnTo>
                <a:lnTo>
                  <a:pt x="2583562" y="2854890"/>
                </a:lnTo>
                <a:lnTo>
                  <a:pt x="2623930" y="2871484"/>
                </a:lnTo>
                <a:lnTo>
                  <a:pt x="2664298" y="2887640"/>
                </a:lnTo>
                <a:lnTo>
                  <a:pt x="2704666" y="2903369"/>
                </a:lnTo>
                <a:lnTo>
                  <a:pt x="2745034" y="2918683"/>
                </a:lnTo>
                <a:lnTo>
                  <a:pt x="2785403" y="2933593"/>
                </a:lnTo>
                <a:lnTo>
                  <a:pt x="2825771" y="2948110"/>
                </a:lnTo>
                <a:lnTo>
                  <a:pt x="2866139" y="2962243"/>
                </a:lnTo>
                <a:lnTo>
                  <a:pt x="2906507" y="2976002"/>
                </a:lnTo>
                <a:lnTo>
                  <a:pt x="2946875" y="2989399"/>
                </a:lnTo>
                <a:lnTo>
                  <a:pt x="2987243" y="3002442"/>
                </a:lnTo>
                <a:lnTo>
                  <a:pt x="3027612" y="3015141"/>
                </a:lnTo>
                <a:lnTo>
                  <a:pt x="3067980" y="3027504"/>
                </a:lnTo>
                <a:lnTo>
                  <a:pt x="3108348" y="3039541"/>
                </a:lnTo>
                <a:lnTo>
                  <a:pt x="3148716" y="3051260"/>
                </a:lnTo>
                <a:lnTo>
                  <a:pt x="3189084" y="3062670"/>
                </a:lnTo>
                <a:lnTo>
                  <a:pt x="3229452" y="3073778"/>
                </a:lnTo>
                <a:lnTo>
                  <a:pt x="3269821" y="3084593"/>
                </a:lnTo>
                <a:lnTo>
                  <a:pt x="3310189" y="3095123"/>
                </a:lnTo>
                <a:lnTo>
                  <a:pt x="3350557" y="3105375"/>
                </a:lnTo>
                <a:lnTo>
                  <a:pt x="3390925" y="3115356"/>
                </a:lnTo>
                <a:lnTo>
                  <a:pt x="3431293" y="3125073"/>
                </a:lnTo>
                <a:lnTo>
                  <a:pt x="3471661" y="3134534"/>
                </a:lnTo>
                <a:lnTo>
                  <a:pt x="3512029" y="3143745"/>
                </a:lnTo>
                <a:lnTo>
                  <a:pt x="3552398" y="3152713"/>
                </a:lnTo>
                <a:lnTo>
                  <a:pt x="3592766" y="3161445"/>
                </a:lnTo>
                <a:lnTo>
                  <a:pt x="3633134" y="3169945"/>
                </a:lnTo>
                <a:lnTo>
                  <a:pt x="3673502" y="3178222"/>
                </a:lnTo>
                <a:lnTo>
                  <a:pt x="3713870" y="3186279"/>
                </a:lnTo>
                <a:lnTo>
                  <a:pt x="3754238" y="3194125"/>
                </a:lnTo>
                <a:lnTo>
                  <a:pt x="3794607" y="3201762"/>
                </a:lnTo>
                <a:lnTo>
                  <a:pt x="3834975" y="3209199"/>
                </a:lnTo>
                <a:lnTo>
                  <a:pt x="3875343" y="3216439"/>
                </a:lnTo>
                <a:lnTo>
                  <a:pt x="3915711" y="3223488"/>
                </a:lnTo>
                <a:lnTo>
                  <a:pt x="3956079" y="3230350"/>
                </a:lnTo>
                <a:lnTo>
                  <a:pt x="3996447" y="3237032"/>
                </a:lnTo>
                <a:lnTo>
                  <a:pt x="4036816" y="3243537"/>
                </a:lnTo>
                <a:lnTo>
                  <a:pt x="4077184" y="3249870"/>
                </a:lnTo>
                <a:lnTo>
                  <a:pt x="4117552" y="3256037"/>
                </a:lnTo>
                <a:lnTo>
                  <a:pt x="4157920" y="3262040"/>
                </a:lnTo>
                <a:lnTo>
                  <a:pt x="4198288" y="3267885"/>
                </a:lnTo>
                <a:lnTo>
                  <a:pt x="4238656" y="3273575"/>
                </a:lnTo>
                <a:lnTo>
                  <a:pt x="4279025" y="3279116"/>
                </a:lnTo>
                <a:lnTo>
                  <a:pt x="4319393" y="3284510"/>
                </a:lnTo>
                <a:lnTo>
                  <a:pt x="4359761" y="3289761"/>
                </a:lnTo>
                <a:lnTo>
                  <a:pt x="4400129" y="3294875"/>
                </a:lnTo>
                <a:lnTo>
                  <a:pt x="4440497" y="3299853"/>
                </a:lnTo>
                <a:lnTo>
                  <a:pt x="4480865" y="3304699"/>
                </a:lnTo>
                <a:lnTo>
                  <a:pt x="4521233" y="3309418"/>
                </a:lnTo>
                <a:lnTo>
                  <a:pt x="4561602" y="3314012"/>
                </a:lnTo>
                <a:lnTo>
                  <a:pt x="4601970" y="3318485"/>
                </a:lnTo>
                <a:lnTo>
                  <a:pt x="4642338" y="3322839"/>
                </a:lnTo>
                <a:lnTo>
                  <a:pt x="4682706" y="3327079"/>
                </a:lnTo>
                <a:lnTo>
                  <a:pt x="4723074" y="3331207"/>
                </a:lnTo>
                <a:lnTo>
                  <a:pt x="4763442" y="3335226"/>
                </a:lnTo>
                <a:lnTo>
                  <a:pt x="4803811" y="3339138"/>
                </a:lnTo>
                <a:lnTo>
                  <a:pt x="4844179" y="3342948"/>
                </a:lnTo>
                <a:lnTo>
                  <a:pt x="4884547" y="3346657"/>
                </a:lnTo>
                <a:lnTo>
                  <a:pt x="4924915" y="3350268"/>
                </a:lnTo>
                <a:lnTo>
                  <a:pt x="4965283" y="3353783"/>
                </a:lnTo>
                <a:lnTo>
                  <a:pt x="5005651" y="3357206"/>
                </a:lnTo>
                <a:lnTo>
                  <a:pt x="5046020" y="3360538"/>
                </a:lnTo>
                <a:lnTo>
                  <a:pt x="5086388" y="3363783"/>
                </a:lnTo>
                <a:lnTo>
                  <a:pt x="5126756" y="3366942"/>
                </a:lnTo>
                <a:lnTo>
                  <a:pt x="5167124" y="3370017"/>
                </a:lnTo>
                <a:lnTo>
                  <a:pt x="5207492" y="3373011"/>
                </a:lnTo>
                <a:lnTo>
                  <a:pt x="5247860" y="3375926"/>
                </a:lnTo>
                <a:lnTo>
                  <a:pt x="5288229" y="3378764"/>
                </a:lnTo>
                <a:lnTo>
                  <a:pt x="5328597" y="3381528"/>
                </a:lnTo>
                <a:lnTo>
                  <a:pt x="5368965" y="3384218"/>
                </a:lnTo>
                <a:lnTo>
                  <a:pt x="5409333" y="3386837"/>
                </a:lnTo>
                <a:lnTo>
                  <a:pt x="5449701" y="3389387"/>
                </a:lnTo>
                <a:lnTo>
                  <a:pt x="5490069" y="3391870"/>
                </a:lnTo>
                <a:lnTo>
                  <a:pt x="5530437" y="3394287"/>
                </a:lnTo>
                <a:lnTo>
                  <a:pt x="5570806" y="3396641"/>
                </a:lnTo>
                <a:lnTo>
                  <a:pt x="5611174" y="3398932"/>
                </a:lnTo>
                <a:lnTo>
                  <a:pt x="5651542" y="3401163"/>
                </a:lnTo>
                <a:lnTo>
                  <a:pt x="5691910" y="3403335"/>
                </a:lnTo>
                <a:lnTo>
                  <a:pt x="5732278" y="3405449"/>
                </a:lnTo>
                <a:lnTo>
                  <a:pt x="5772646" y="3407508"/>
                </a:lnTo>
                <a:lnTo>
                  <a:pt x="5813015" y="3409512"/>
                </a:lnTo>
                <a:lnTo>
                  <a:pt x="5853383" y="3411464"/>
                </a:lnTo>
                <a:lnTo>
                  <a:pt x="5893751" y="3413364"/>
                </a:lnTo>
                <a:lnTo>
                  <a:pt x="5934119" y="3415214"/>
                </a:lnTo>
                <a:lnTo>
                  <a:pt x="5974487" y="3417015"/>
                </a:lnTo>
                <a:lnTo>
                  <a:pt x="6014855" y="3418768"/>
                </a:lnTo>
                <a:lnTo>
                  <a:pt x="6035040" y="341962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2-E05 polygon 49" descr="sci-ppt:o049"/>
          <p:cNvSpPr/>
          <p:nvPr/>
        </p:nvSpPr>
        <p:spPr>
          <a:xfrm>
            <a:off x="5577840" y="1545771"/>
            <a:ext cx="6035040" cy="3483429"/>
          </a:xfrm>
          <a:custGeom>
            <a:avLst/>
            <a:gdLst/>
            <a:ahLst/>
            <a:cxnLst/>
            <a:rect l="l" t="t" r="r" b="b"/>
            <a:pathLst>
              <a:path w="6035040" h="3483429">
                <a:moveTo>
                  <a:pt x="0" y="0"/>
                </a:moveTo>
                <a:lnTo>
                  <a:pt x="20184" y="46291"/>
                </a:lnTo>
                <a:lnTo>
                  <a:pt x="40368" y="91966"/>
                </a:lnTo>
                <a:lnTo>
                  <a:pt x="60552" y="137035"/>
                </a:lnTo>
                <a:lnTo>
                  <a:pt x="80736" y="181505"/>
                </a:lnTo>
                <a:lnTo>
                  <a:pt x="100920" y="225383"/>
                </a:lnTo>
                <a:lnTo>
                  <a:pt x="121104" y="268679"/>
                </a:lnTo>
                <a:lnTo>
                  <a:pt x="141288" y="311399"/>
                </a:lnTo>
                <a:lnTo>
                  <a:pt x="161472" y="353552"/>
                </a:lnTo>
                <a:lnTo>
                  <a:pt x="181656" y="395144"/>
                </a:lnTo>
                <a:lnTo>
                  <a:pt x="201840" y="436184"/>
                </a:lnTo>
                <a:lnTo>
                  <a:pt x="222024" y="476678"/>
                </a:lnTo>
                <a:lnTo>
                  <a:pt x="242208" y="516634"/>
                </a:lnTo>
                <a:lnTo>
                  <a:pt x="262393" y="556060"/>
                </a:lnTo>
                <a:lnTo>
                  <a:pt x="282577" y="594961"/>
                </a:lnTo>
                <a:lnTo>
                  <a:pt x="302761" y="633345"/>
                </a:lnTo>
                <a:lnTo>
                  <a:pt x="322945" y="671220"/>
                </a:lnTo>
                <a:lnTo>
                  <a:pt x="343129" y="708591"/>
                </a:lnTo>
                <a:lnTo>
                  <a:pt x="363313" y="745465"/>
                </a:lnTo>
                <a:lnTo>
                  <a:pt x="383497" y="781849"/>
                </a:lnTo>
                <a:lnTo>
                  <a:pt x="403681" y="817750"/>
                </a:lnTo>
                <a:lnTo>
                  <a:pt x="423865" y="853174"/>
                </a:lnTo>
                <a:lnTo>
                  <a:pt x="444049" y="888127"/>
                </a:lnTo>
                <a:lnTo>
                  <a:pt x="464233" y="922616"/>
                </a:lnTo>
                <a:lnTo>
                  <a:pt x="484417" y="956646"/>
                </a:lnTo>
                <a:lnTo>
                  <a:pt x="504602" y="990224"/>
                </a:lnTo>
                <a:lnTo>
                  <a:pt x="524786" y="1023356"/>
                </a:lnTo>
                <a:lnTo>
                  <a:pt x="544970" y="1056047"/>
                </a:lnTo>
                <a:lnTo>
                  <a:pt x="565154" y="1088304"/>
                </a:lnTo>
                <a:lnTo>
                  <a:pt x="585338" y="1120133"/>
                </a:lnTo>
                <a:lnTo>
                  <a:pt x="605522" y="1151538"/>
                </a:lnTo>
                <a:lnTo>
                  <a:pt x="625706" y="1182526"/>
                </a:lnTo>
                <a:lnTo>
                  <a:pt x="645890" y="1213103"/>
                </a:lnTo>
                <a:lnTo>
                  <a:pt x="666074" y="1243273"/>
                </a:lnTo>
                <a:lnTo>
                  <a:pt x="686258" y="1273042"/>
                </a:lnTo>
                <a:lnTo>
                  <a:pt x="706442" y="1302415"/>
                </a:lnTo>
                <a:lnTo>
                  <a:pt x="726626" y="1331398"/>
                </a:lnTo>
                <a:lnTo>
                  <a:pt x="746810" y="1359996"/>
                </a:lnTo>
                <a:lnTo>
                  <a:pt x="766995" y="1388214"/>
                </a:lnTo>
                <a:lnTo>
                  <a:pt x="787179" y="1416057"/>
                </a:lnTo>
                <a:lnTo>
                  <a:pt x="807363" y="1443530"/>
                </a:lnTo>
                <a:lnTo>
                  <a:pt x="827547" y="1470638"/>
                </a:lnTo>
                <a:lnTo>
                  <a:pt x="847731" y="1497386"/>
                </a:lnTo>
                <a:lnTo>
                  <a:pt x="867915" y="1523778"/>
                </a:lnTo>
                <a:lnTo>
                  <a:pt x="888099" y="1549819"/>
                </a:lnTo>
                <a:lnTo>
                  <a:pt x="908283" y="1575515"/>
                </a:lnTo>
                <a:lnTo>
                  <a:pt x="928467" y="1600869"/>
                </a:lnTo>
                <a:lnTo>
                  <a:pt x="948651" y="1625886"/>
                </a:lnTo>
                <a:lnTo>
                  <a:pt x="968835" y="1650570"/>
                </a:lnTo>
                <a:lnTo>
                  <a:pt x="989019" y="1674927"/>
                </a:lnTo>
                <a:lnTo>
                  <a:pt x="1009204" y="1698960"/>
                </a:lnTo>
                <a:lnTo>
                  <a:pt x="1029388" y="1722673"/>
                </a:lnTo>
                <a:lnTo>
                  <a:pt x="1049572" y="1746072"/>
                </a:lnTo>
                <a:lnTo>
                  <a:pt x="1069756" y="1769159"/>
                </a:lnTo>
                <a:lnTo>
                  <a:pt x="1089940" y="1791940"/>
                </a:lnTo>
                <a:lnTo>
                  <a:pt x="1110124" y="1814418"/>
                </a:lnTo>
                <a:lnTo>
                  <a:pt x="1130308" y="1836597"/>
                </a:lnTo>
                <a:lnTo>
                  <a:pt x="1150492" y="1858481"/>
                </a:lnTo>
                <a:lnTo>
                  <a:pt x="1170676" y="1880075"/>
                </a:lnTo>
                <a:lnTo>
                  <a:pt x="1190860" y="1901382"/>
                </a:lnTo>
                <a:lnTo>
                  <a:pt x="1211044" y="1922405"/>
                </a:lnTo>
                <a:lnTo>
                  <a:pt x="1231228" y="1943150"/>
                </a:lnTo>
                <a:lnTo>
                  <a:pt x="1251412" y="1963618"/>
                </a:lnTo>
                <a:lnTo>
                  <a:pt x="1271597" y="1983815"/>
                </a:lnTo>
                <a:lnTo>
                  <a:pt x="1291781" y="2003743"/>
                </a:lnTo>
                <a:lnTo>
                  <a:pt x="1311965" y="2023406"/>
                </a:lnTo>
                <a:lnTo>
                  <a:pt x="1332149" y="2042808"/>
                </a:lnTo>
                <a:lnTo>
                  <a:pt x="1352333" y="2061952"/>
                </a:lnTo>
                <a:lnTo>
                  <a:pt x="1372517" y="2080842"/>
                </a:lnTo>
                <a:lnTo>
                  <a:pt x="1392701" y="2099481"/>
                </a:lnTo>
                <a:lnTo>
                  <a:pt x="1412885" y="2117872"/>
                </a:lnTo>
                <a:lnTo>
                  <a:pt x="1433069" y="2136018"/>
                </a:lnTo>
                <a:lnTo>
                  <a:pt x="1453253" y="2153924"/>
                </a:lnTo>
                <a:lnTo>
                  <a:pt x="1473437" y="2171592"/>
                </a:lnTo>
                <a:lnTo>
                  <a:pt x="1493621" y="2189024"/>
                </a:lnTo>
                <a:lnTo>
                  <a:pt x="1513806" y="2206225"/>
                </a:lnTo>
                <a:lnTo>
                  <a:pt x="1533990" y="2223198"/>
                </a:lnTo>
                <a:lnTo>
                  <a:pt x="1554174" y="2239945"/>
                </a:lnTo>
                <a:lnTo>
                  <a:pt x="1574358" y="2256469"/>
                </a:lnTo>
                <a:lnTo>
                  <a:pt x="1594542" y="2272774"/>
                </a:lnTo>
                <a:lnTo>
                  <a:pt x="1614726" y="2288863"/>
                </a:lnTo>
                <a:lnTo>
                  <a:pt x="1634910" y="2304737"/>
                </a:lnTo>
                <a:lnTo>
                  <a:pt x="1655094" y="2320400"/>
                </a:lnTo>
                <a:lnTo>
                  <a:pt x="1675278" y="2335856"/>
                </a:lnTo>
                <a:lnTo>
                  <a:pt x="1695462" y="2351106"/>
                </a:lnTo>
                <a:lnTo>
                  <a:pt x="1715646" y="2366153"/>
                </a:lnTo>
                <a:lnTo>
                  <a:pt x="1735830" y="2381000"/>
                </a:lnTo>
                <a:lnTo>
                  <a:pt x="1756014" y="2395650"/>
                </a:lnTo>
                <a:lnTo>
                  <a:pt x="1776199" y="2410105"/>
                </a:lnTo>
                <a:lnTo>
                  <a:pt x="1796383" y="2424369"/>
                </a:lnTo>
                <a:lnTo>
                  <a:pt x="1816567" y="2438442"/>
                </a:lnTo>
                <a:lnTo>
                  <a:pt x="1836751" y="2452329"/>
                </a:lnTo>
                <a:lnTo>
                  <a:pt x="1856935" y="2466031"/>
                </a:lnTo>
                <a:lnTo>
                  <a:pt x="1877119" y="2479551"/>
                </a:lnTo>
                <a:lnTo>
                  <a:pt x="1897303" y="2492891"/>
                </a:lnTo>
                <a:lnTo>
                  <a:pt x="1917487" y="2506055"/>
                </a:lnTo>
                <a:lnTo>
                  <a:pt x="1937671" y="2519043"/>
                </a:lnTo>
                <a:lnTo>
                  <a:pt x="1957855" y="2531858"/>
                </a:lnTo>
                <a:lnTo>
                  <a:pt x="1978039" y="2544504"/>
                </a:lnTo>
                <a:lnTo>
                  <a:pt x="1998223" y="2556981"/>
                </a:lnTo>
                <a:lnTo>
                  <a:pt x="2018408" y="2569292"/>
                </a:lnTo>
                <a:lnTo>
                  <a:pt x="2038592" y="2581440"/>
                </a:lnTo>
                <a:lnTo>
                  <a:pt x="2058776" y="2593426"/>
                </a:lnTo>
                <a:lnTo>
                  <a:pt x="2078960" y="2605254"/>
                </a:lnTo>
                <a:lnTo>
                  <a:pt x="2099144" y="2616923"/>
                </a:lnTo>
                <a:lnTo>
                  <a:pt x="2119328" y="2628438"/>
                </a:lnTo>
                <a:lnTo>
                  <a:pt x="2139512" y="2639800"/>
                </a:lnTo>
                <a:lnTo>
                  <a:pt x="2159696" y="2651011"/>
                </a:lnTo>
                <a:lnTo>
                  <a:pt x="2179880" y="2662073"/>
                </a:lnTo>
                <a:lnTo>
                  <a:pt x="2200064" y="2672988"/>
                </a:lnTo>
                <a:lnTo>
                  <a:pt x="2220248" y="2683757"/>
                </a:lnTo>
                <a:lnTo>
                  <a:pt x="2240432" y="2694384"/>
                </a:lnTo>
                <a:lnTo>
                  <a:pt x="2260616" y="2704870"/>
                </a:lnTo>
                <a:lnTo>
                  <a:pt x="2280801" y="2715216"/>
                </a:lnTo>
                <a:lnTo>
                  <a:pt x="2300985" y="2725424"/>
                </a:lnTo>
                <a:lnTo>
                  <a:pt x="2321169" y="2735497"/>
                </a:lnTo>
                <a:lnTo>
                  <a:pt x="2341353" y="2745437"/>
                </a:lnTo>
                <a:lnTo>
                  <a:pt x="2361537" y="2755244"/>
                </a:lnTo>
                <a:lnTo>
                  <a:pt x="2381721" y="2764920"/>
                </a:lnTo>
                <a:lnTo>
                  <a:pt x="2401905" y="2774469"/>
                </a:lnTo>
                <a:lnTo>
                  <a:pt x="2422089" y="2783890"/>
                </a:lnTo>
                <a:lnTo>
                  <a:pt x="2442273" y="2793186"/>
                </a:lnTo>
                <a:lnTo>
                  <a:pt x="2462457" y="2802358"/>
                </a:lnTo>
                <a:lnTo>
                  <a:pt x="2482641" y="2811409"/>
                </a:lnTo>
                <a:lnTo>
                  <a:pt x="2502825" y="2820339"/>
                </a:lnTo>
                <a:lnTo>
                  <a:pt x="2523010" y="2829151"/>
                </a:lnTo>
                <a:lnTo>
                  <a:pt x="2543194" y="2837846"/>
                </a:lnTo>
                <a:lnTo>
                  <a:pt x="2563378" y="2846425"/>
                </a:lnTo>
                <a:lnTo>
                  <a:pt x="2583562" y="2854890"/>
                </a:lnTo>
                <a:lnTo>
                  <a:pt x="2603746" y="2863242"/>
                </a:lnTo>
                <a:lnTo>
                  <a:pt x="2623930" y="2871484"/>
                </a:lnTo>
                <a:lnTo>
                  <a:pt x="2644114" y="2879616"/>
                </a:lnTo>
                <a:lnTo>
                  <a:pt x="2664298" y="2887640"/>
                </a:lnTo>
                <a:lnTo>
                  <a:pt x="2684482" y="2895557"/>
                </a:lnTo>
                <a:lnTo>
                  <a:pt x="2704666" y="2903369"/>
                </a:lnTo>
                <a:lnTo>
                  <a:pt x="2724850" y="2911078"/>
                </a:lnTo>
                <a:lnTo>
                  <a:pt x="2745034" y="2918683"/>
                </a:lnTo>
                <a:lnTo>
                  <a:pt x="2765218" y="2926188"/>
                </a:lnTo>
                <a:lnTo>
                  <a:pt x="2785403" y="2933593"/>
                </a:lnTo>
                <a:lnTo>
                  <a:pt x="2805587" y="2940900"/>
                </a:lnTo>
                <a:lnTo>
                  <a:pt x="2825771" y="2948110"/>
                </a:lnTo>
                <a:lnTo>
                  <a:pt x="2845955" y="2955223"/>
                </a:lnTo>
                <a:lnTo>
                  <a:pt x="2866139" y="2962243"/>
                </a:lnTo>
                <a:lnTo>
                  <a:pt x="2886323" y="2969169"/>
                </a:lnTo>
                <a:lnTo>
                  <a:pt x="2906507" y="2976002"/>
                </a:lnTo>
                <a:lnTo>
                  <a:pt x="2926691" y="2982746"/>
                </a:lnTo>
                <a:lnTo>
                  <a:pt x="2946875" y="2989399"/>
                </a:lnTo>
                <a:lnTo>
                  <a:pt x="2967059" y="2995964"/>
                </a:lnTo>
                <a:lnTo>
                  <a:pt x="2987243" y="3002442"/>
                </a:lnTo>
                <a:lnTo>
                  <a:pt x="3007427" y="3008834"/>
                </a:lnTo>
                <a:lnTo>
                  <a:pt x="3027612" y="3015141"/>
                </a:lnTo>
                <a:lnTo>
                  <a:pt x="3047796" y="3021364"/>
                </a:lnTo>
                <a:lnTo>
                  <a:pt x="3067980" y="3027504"/>
                </a:lnTo>
                <a:lnTo>
                  <a:pt x="3088164" y="3033563"/>
                </a:lnTo>
                <a:lnTo>
                  <a:pt x="3108348" y="3039541"/>
                </a:lnTo>
                <a:lnTo>
                  <a:pt x="3128532" y="3045440"/>
                </a:lnTo>
                <a:lnTo>
                  <a:pt x="3148716" y="3051260"/>
                </a:lnTo>
                <a:lnTo>
                  <a:pt x="3168900" y="3057003"/>
                </a:lnTo>
                <a:lnTo>
                  <a:pt x="3189084" y="3062670"/>
                </a:lnTo>
                <a:lnTo>
                  <a:pt x="3209268" y="3068261"/>
                </a:lnTo>
                <a:lnTo>
                  <a:pt x="3229452" y="3073778"/>
                </a:lnTo>
                <a:lnTo>
                  <a:pt x="3249636" y="3079222"/>
                </a:lnTo>
                <a:lnTo>
                  <a:pt x="3269821" y="3084593"/>
                </a:lnTo>
                <a:lnTo>
                  <a:pt x="3290005" y="3089893"/>
                </a:lnTo>
                <a:lnTo>
                  <a:pt x="3310189" y="3095123"/>
                </a:lnTo>
                <a:lnTo>
                  <a:pt x="3330373" y="3100283"/>
                </a:lnTo>
                <a:lnTo>
                  <a:pt x="3350557" y="3105375"/>
                </a:lnTo>
                <a:lnTo>
                  <a:pt x="3370741" y="3110399"/>
                </a:lnTo>
                <a:lnTo>
                  <a:pt x="3390925" y="3115356"/>
                </a:lnTo>
                <a:lnTo>
                  <a:pt x="3411109" y="3120247"/>
                </a:lnTo>
                <a:lnTo>
                  <a:pt x="3431293" y="3125073"/>
                </a:lnTo>
                <a:lnTo>
                  <a:pt x="3451477" y="3129835"/>
                </a:lnTo>
                <a:lnTo>
                  <a:pt x="3471661" y="3134534"/>
                </a:lnTo>
                <a:lnTo>
                  <a:pt x="3491845" y="3139171"/>
                </a:lnTo>
                <a:lnTo>
                  <a:pt x="3512029" y="3143745"/>
                </a:lnTo>
                <a:lnTo>
                  <a:pt x="3532214" y="3148259"/>
                </a:lnTo>
                <a:lnTo>
                  <a:pt x="3552398" y="3152713"/>
                </a:lnTo>
                <a:lnTo>
                  <a:pt x="3572582" y="3157108"/>
                </a:lnTo>
                <a:lnTo>
                  <a:pt x="3592766" y="3161445"/>
                </a:lnTo>
                <a:lnTo>
                  <a:pt x="3612950" y="3165723"/>
                </a:lnTo>
                <a:lnTo>
                  <a:pt x="3633134" y="3169945"/>
                </a:lnTo>
                <a:lnTo>
                  <a:pt x="3653318" y="3174111"/>
                </a:lnTo>
                <a:lnTo>
                  <a:pt x="3673502" y="3178222"/>
                </a:lnTo>
                <a:lnTo>
                  <a:pt x="3693686" y="3182278"/>
                </a:lnTo>
                <a:lnTo>
                  <a:pt x="3713870" y="3186279"/>
                </a:lnTo>
                <a:lnTo>
                  <a:pt x="3734054" y="3190228"/>
                </a:lnTo>
                <a:lnTo>
                  <a:pt x="3754238" y="3194125"/>
                </a:lnTo>
                <a:lnTo>
                  <a:pt x="3774423" y="3197969"/>
                </a:lnTo>
                <a:lnTo>
                  <a:pt x="3794607" y="3201762"/>
                </a:lnTo>
                <a:lnTo>
                  <a:pt x="3814791" y="3205505"/>
                </a:lnTo>
                <a:lnTo>
                  <a:pt x="3834975" y="3209199"/>
                </a:lnTo>
                <a:lnTo>
                  <a:pt x="3855159" y="3212843"/>
                </a:lnTo>
                <a:lnTo>
                  <a:pt x="3875343" y="3216439"/>
                </a:lnTo>
                <a:lnTo>
                  <a:pt x="3895527" y="3219987"/>
                </a:lnTo>
                <a:lnTo>
                  <a:pt x="3915711" y="3223488"/>
                </a:lnTo>
                <a:lnTo>
                  <a:pt x="3935895" y="3226942"/>
                </a:lnTo>
                <a:lnTo>
                  <a:pt x="3956079" y="3230350"/>
                </a:lnTo>
                <a:lnTo>
                  <a:pt x="3976263" y="3233713"/>
                </a:lnTo>
                <a:lnTo>
                  <a:pt x="3996447" y="3237032"/>
                </a:lnTo>
                <a:lnTo>
                  <a:pt x="4016631" y="3240306"/>
                </a:lnTo>
                <a:lnTo>
                  <a:pt x="4036816" y="3243537"/>
                </a:lnTo>
                <a:lnTo>
                  <a:pt x="4057000" y="3246725"/>
                </a:lnTo>
                <a:lnTo>
                  <a:pt x="4077184" y="3249870"/>
                </a:lnTo>
                <a:lnTo>
                  <a:pt x="4097368" y="3252974"/>
                </a:lnTo>
                <a:lnTo>
                  <a:pt x="4117552" y="3256037"/>
                </a:lnTo>
                <a:lnTo>
                  <a:pt x="4137736" y="3259058"/>
                </a:lnTo>
                <a:lnTo>
                  <a:pt x="4157920" y="3262040"/>
                </a:lnTo>
                <a:lnTo>
                  <a:pt x="4178104" y="3264982"/>
                </a:lnTo>
                <a:lnTo>
                  <a:pt x="4198288" y="3267885"/>
                </a:lnTo>
                <a:lnTo>
                  <a:pt x="4218472" y="3270749"/>
                </a:lnTo>
                <a:lnTo>
                  <a:pt x="4238656" y="3273575"/>
                </a:lnTo>
                <a:lnTo>
                  <a:pt x="4258840" y="3276364"/>
                </a:lnTo>
                <a:lnTo>
                  <a:pt x="4279025" y="3279116"/>
                </a:lnTo>
                <a:lnTo>
                  <a:pt x="4299209" y="3281831"/>
                </a:lnTo>
                <a:lnTo>
                  <a:pt x="4319393" y="3284510"/>
                </a:lnTo>
                <a:lnTo>
                  <a:pt x="4339577" y="3287153"/>
                </a:lnTo>
                <a:lnTo>
                  <a:pt x="4359761" y="3289761"/>
                </a:lnTo>
                <a:lnTo>
                  <a:pt x="4379945" y="3292335"/>
                </a:lnTo>
                <a:lnTo>
                  <a:pt x="4400129" y="3294875"/>
                </a:lnTo>
                <a:lnTo>
                  <a:pt x="4420313" y="3297380"/>
                </a:lnTo>
                <a:lnTo>
                  <a:pt x="4440497" y="3299853"/>
                </a:lnTo>
                <a:lnTo>
                  <a:pt x="4460681" y="3302292"/>
                </a:lnTo>
                <a:lnTo>
                  <a:pt x="4480865" y="3304699"/>
                </a:lnTo>
                <a:lnTo>
                  <a:pt x="4501049" y="3307074"/>
                </a:lnTo>
                <a:lnTo>
                  <a:pt x="4521233" y="3309418"/>
                </a:lnTo>
                <a:lnTo>
                  <a:pt x="4541418" y="3311730"/>
                </a:lnTo>
                <a:lnTo>
                  <a:pt x="4561602" y="3314012"/>
                </a:lnTo>
                <a:lnTo>
                  <a:pt x="4581786" y="3316263"/>
                </a:lnTo>
                <a:lnTo>
                  <a:pt x="4601970" y="3318485"/>
                </a:lnTo>
                <a:lnTo>
                  <a:pt x="4622154" y="3320677"/>
                </a:lnTo>
                <a:lnTo>
                  <a:pt x="4642338" y="3322839"/>
                </a:lnTo>
                <a:lnTo>
                  <a:pt x="4662522" y="3324973"/>
                </a:lnTo>
                <a:lnTo>
                  <a:pt x="4682706" y="3327079"/>
                </a:lnTo>
                <a:lnTo>
                  <a:pt x="4702890" y="3329157"/>
                </a:lnTo>
                <a:lnTo>
                  <a:pt x="4723074" y="3331207"/>
                </a:lnTo>
                <a:lnTo>
                  <a:pt x="4743258" y="3333230"/>
                </a:lnTo>
                <a:lnTo>
                  <a:pt x="4763442" y="3335226"/>
                </a:lnTo>
                <a:lnTo>
                  <a:pt x="4783627" y="3337195"/>
                </a:lnTo>
                <a:lnTo>
                  <a:pt x="4803811" y="3339138"/>
                </a:lnTo>
                <a:lnTo>
                  <a:pt x="4823995" y="3341056"/>
                </a:lnTo>
                <a:lnTo>
                  <a:pt x="4844179" y="3342948"/>
                </a:lnTo>
                <a:lnTo>
                  <a:pt x="4864363" y="3344815"/>
                </a:lnTo>
                <a:lnTo>
                  <a:pt x="4884547" y="3346657"/>
                </a:lnTo>
                <a:lnTo>
                  <a:pt x="4904731" y="3348474"/>
                </a:lnTo>
                <a:lnTo>
                  <a:pt x="4924915" y="3350268"/>
                </a:lnTo>
                <a:lnTo>
                  <a:pt x="4945099" y="3352037"/>
                </a:lnTo>
                <a:lnTo>
                  <a:pt x="4965283" y="3353783"/>
                </a:lnTo>
                <a:lnTo>
                  <a:pt x="4985467" y="3355506"/>
                </a:lnTo>
                <a:lnTo>
                  <a:pt x="5005651" y="3357206"/>
                </a:lnTo>
                <a:lnTo>
                  <a:pt x="5025835" y="3358883"/>
                </a:lnTo>
                <a:lnTo>
                  <a:pt x="5046020" y="3360538"/>
                </a:lnTo>
                <a:lnTo>
                  <a:pt x="5066204" y="3362171"/>
                </a:lnTo>
                <a:lnTo>
                  <a:pt x="5086388" y="3363783"/>
                </a:lnTo>
                <a:lnTo>
                  <a:pt x="5106572" y="3365373"/>
                </a:lnTo>
                <a:lnTo>
                  <a:pt x="5126756" y="3366942"/>
                </a:lnTo>
                <a:lnTo>
                  <a:pt x="5146940" y="3368490"/>
                </a:lnTo>
                <a:lnTo>
                  <a:pt x="5167124" y="3370017"/>
                </a:lnTo>
                <a:lnTo>
                  <a:pt x="5187308" y="3371524"/>
                </a:lnTo>
                <a:lnTo>
                  <a:pt x="5207492" y="3373011"/>
                </a:lnTo>
                <a:lnTo>
                  <a:pt x="5227676" y="3374478"/>
                </a:lnTo>
                <a:lnTo>
                  <a:pt x="5247860" y="3375926"/>
                </a:lnTo>
                <a:lnTo>
                  <a:pt x="5268044" y="3377355"/>
                </a:lnTo>
                <a:lnTo>
                  <a:pt x="5288229" y="3378764"/>
                </a:lnTo>
                <a:lnTo>
                  <a:pt x="5308413" y="3380155"/>
                </a:lnTo>
                <a:lnTo>
                  <a:pt x="5328597" y="3381528"/>
                </a:lnTo>
                <a:lnTo>
                  <a:pt x="5348781" y="3382882"/>
                </a:lnTo>
                <a:lnTo>
                  <a:pt x="5368965" y="3384218"/>
                </a:lnTo>
                <a:lnTo>
                  <a:pt x="5389149" y="3385536"/>
                </a:lnTo>
                <a:lnTo>
                  <a:pt x="5409333" y="3386837"/>
                </a:lnTo>
                <a:lnTo>
                  <a:pt x="5429517" y="3388121"/>
                </a:lnTo>
                <a:lnTo>
                  <a:pt x="5449701" y="3389387"/>
                </a:lnTo>
                <a:lnTo>
                  <a:pt x="5469885" y="3390637"/>
                </a:lnTo>
                <a:lnTo>
                  <a:pt x="5490069" y="3391870"/>
                </a:lnTo>
                <a:lnTo>
                  <a:pt x="5510253" y="3393087"/>
                </a:lnTo>
                <a:lnTo>
                  <a:pt x="5530437" y="3394287"/>
                </a:lnTo>
                <a:lnTo>
                  <a:pt x="5550622" y="3395472"/>
                </a:lnTo>
                <a:lnTo>
                  <a:pt x="5570806" y="3396641"/>
                </a:lnTo>
                <a:lnTo>
                  <a:pt x="5590990" y="3397794"/>
                </a:lnTo>
                <a:lnTo>
                  <a:pt x="5611174" y="3398932"/>
                </a:lnTo>
                <a:lnTo>
                  <a:pt x="5631358" y="3400055"/>
                </a:lnTo>
                <a:lnTo>
                  <a:pt x="5651542" y="3401163"/>
                </a:lnTo>
                <a:lnTo>
                  <a:pt x="5671726" y="3402256"/>
                </a:lnTo>
                <a:lnTo>
                  <a:pt x="5691910" y="3403335"/>
                </a:lnTo>
                <a:lnTo>
                  <a:pt x="5712094" y="3404399"/>
                </a:lnTo>
                <a:lnTo>
                  <a:pt x="5732278" y="3405449"/>
                </a:lnTo>
                <a:lnTo>
                  <a:pt x="5752462" y="3406486"/>
                </a:lnTo>
                <a:lnTo>
                  <a:pt x="5772646" y="3407508"/>
                </a:lnTo>
                <a:lnTo>
                  <a:pt x="5792831" y="3408517"/>
                </a:lnTo>
                <a:lnTo>
                  <a:pt x="5813015" y="3409512"/>
                </a:lnTo>
                <a:lnTo>
                  <a:pt x="5833199" y="3410495"/>
                </a:lnTo>
                <a:lnTo>
                  <a:pt x="5853383" y="3411464"/>
                </a:lnTo>
                <a:lnTo>
                  <a:pt x="5873567" y="3412420"/>
                </a:lnTo>
                <a:lnTo>
                  <a:pt x="5893751" y="3413364"/>
                </a:lnTo>
                <a:lnTo>
                  <a:pt x="5913935" y="3414295"/>
                </a:lnTo>
                <a:lnTo>
                  <a:pt x="5934119" y="3415214"/>
                </a:lnTo>
                <a:lnTo>
                  <a:pt x="5954303" y="3416120"/>
                </a:lnTo>
                <a:lnTo>
                  <a:pt x="5974487" y="3417015"/>
                </a:lnTo>
                <a:lnTo>
                  <a:pt x="5994671" y="3417897"/>
                </a:lnTo>
                <a:lnTo>
                  <a:pt x="6014855" y="3418768"/>
                </a:lnTo>
                <a:lnTo>
                  <a:pt x="6035040" y="3419627"/>
                </a:lnTo>
                <a:lnTo>
                  <a:pt x="6035040" y="3483429"/>
                </a:lnTo>
                <a:lnTo>
                  <a:pt x="6014855" y="3483429"/>
                </a:lnTo>
                <a:lnTo>
                  <a:pt x="5994671" y="3483429"/>
                </a:lnTo>
                <a:lnTo>
                  <a:pt x="5974487" y="3483429"/>
                </a:lnTo>
                <a:lnTo>
                  <a:pt x="5954303" y="3483429"/>
                </a:lnTo>
                <a:lnTo>
                  <a:pt x="5934119" y="3483429"/>
                </a:lnTo>
                <a:lnTo>
                  <a:pt x="5913935" y="3483429"/>
                </a:lnTo>
                <a:lnTo>
                  <a:pt x="5893751" y="3483429"/>
                </a:lnTo>
                <a:lnTo>
                  <a:pt x="5873567" y="3483429"/>
                </a:lnTo>
                <a:lnTo>
                  <a:pt x="5853383" y="3483429"/>
                </a:lnTo>
                <a:lnTo>
                  <a:pt x="5833199" y="3483429"/>
                </a:lnTo>
                <a:lnTo>
                  <a:pt x="5813015" y="3483429"/>
                </a:lnTo>
                <a:lnTo>
                  <a:pt x="5792831" y="3483429"/>
                </a:lnTo>
                <a:lnTo>
                  <a:pt x="5772646" y="3483429"/>
                </a:lnTo>
                <a:lnTo>
                  <a:pt x="5752462" y="3483429"/>
                </a:lnTo>
                <a:lnTo>
                  <a:pt x="5732278" y="3483429"/>
                </a:lnTo>
                <a:lnTo>
                  <a:pt x="5712094" y="3483429"/>
                </a:lnTo>
                <a:lnTo>
                  <a:pt x="5691910" y="3483429"/>
                </a:lnTo>
                <a:lnTo>
                  <a:pt x="5671726" y="3483429"/>
                </a:lnTo>
                <a:lnTo>
                  <a:pt x="5651542" y="3483429"/>
                </a:lnTo>
                <a:lnTo>
                  <a:pt x="5631358" y="3483429"/>
                </a:lnTo>
                <a:lnTo>
                  <a:pt x="5611174" y="3483429"/>
                </a:lnTo>
                <a:lnTo>
                  <a:pt x="5590990" y="3483429"/>
                </a:lnTo>
                <a:lnTo>
                  <a:pt x="5570806" y="3483429"/>
                </a:lnTo>
                <a:lnTo>
                  <a:pt x="5550622" y="3483429"/>
                </a:lnTo>
                <a:lnTo>
                  <a:pt x="5530437" y="3483429"/>
                </a:lnTo>
                <a:lnTo>
                  <a:pt x="5510253" y="3483429"/>
                </a:lnTo>
                <a:lnTo>
                  <a:pt x="5490069" y="3483429"/>
                </a:lnTo>
                <a:lnTo>
                  <a:pt x="5469885" y="3483429"/>
                </a:lnTo>
                <a:lnTo>
                  <a:pt x="5449701" y="3483429"/>
                </a:lnTo>
                <a:lnTo>
                  <a:pt x="5429517" y="3483429"/>
                </a:lnTo>
                <a:lnTo>
                  <a:pt x="5409333" y="3483429"/>
                </a:lnTo>
                <a:lnTo>
                  <a:pt x="5389149" y="3483429"/>
                </a:lnTo>
                <a:lnTo>
                  <a:pt x="5368965" y="3483429"/>
                </a:lnTo>
                <a:lnTo>
                  <a:pt x="5348781" y="3483429"/>
                </a:lnTo>
                <a:lnTo>
                  <a:pt x="5328597" y="3483429"/>
                </a:lnTo>
                <a:lnTo>
                  <a:pt x="5308413" y="3483429"/>
                </a:lnTo>
                <a:lnTo>
                  <a:pt x="5288229" y="3483429"/>
                </a:lnTo>
                <a:lnTo>
                  <a:pt x="5268044" y="3483429"/>
                </a:lnTo>
                <a:lnTo>
                  <a:pt x="5247860" y="3483429"/>
                </a:lnTo>
                <a:lnTo>
                  <a:pt x="5227676" y="3483429"/>
                </a:lnTo>
                <a:lnTo>
                  <a:pt x="5207492" y="3483429"/>
                </a:lnTo>
                <a:lnTo>
                  <a:pt x="5187308" y="3483429"/>
                </a:lnTo>
                <a:lnTo>
                  <a:pt x="5167124" y="3483429"/>
                </a:lnTo>
                <a:lnTo>
                  <a:pt x="5146940" y="3483429"/>
                </a:lnTo>
                <a:lnTo>
                  <a:pt x="5126756" y="3483429"/>
                </a:lnTo>
                <a:lnTo>
                  <a:pt x="5106572" y="3483429"/>
                </a:lnTo>
                <a:lnTo>
                  <a:pt x="5086388" y="3483429"/>
                </a:lnTo>
                <a:lnTo>
                  <a:pt x="5066204" y="3483429"/>
                </a:lnTo>
                <a:lnTo>
                  <a:pt x="5046020" y="3483429"/>
                </a:lnTo>
                <a:lnTo>
                  <a:pt x="5025835" y="3483429"/>
                </a:lnTo>
                <a:lnTo>
                  <a:pt x="5005651" y="3483429"/>
                </a:lnTo>
                <a:lnTo>
                  <a:pt x="4985467" y="3483429"/>
                </a:lnTo>
                <a:lnTo>
                  <a:pt x="4965283" y="3483429"/>
                </a:lnTo>
                <a:lnTo>
                  <a:pt x="4945099" y="3483429"/>
                </a:lnTo>
                <a:lnTo>
                  <a:pt x="4924915" y="3483429"/>
                </a:lnTo>
                <a:lnTo>
                  <a:pt x="4904731" y="3483429"/>
                </a:lnTo>
                <a:lnTo>
                  <a:pt x="4884547" y="3483429"/>
                </a:lnTo>
                <a:lnTo>
                  <a:pt x="4864363" y="3483429"/>
                </a:lnTo>
                <a:lnTo>
                  <a:pt x="4844179" y="3483429"/>
                </a:lnTo>
                <a:lnTo>
                  <a:pt x="4823995" y="3483429"/>
                </a:lnTo>
                <a:lnTo>
                  <a:pt x="4803811" y="3483429"/>
                </a:lnTo>
                <a:lnTo>
                  <a:pt x="4783627" y="3483429"/>
                </a:lnTo>
                <a:lnTo>
                  <a:pt x="4763442" y="3483429"/>
                </a:lnTo>
                <a:lnTo>
                  <a:pt x="4743258" y="3483429"/>
                </a:lnTo>
                <a:lnTo>
                  <a:pt x="4723074" y="3483429"/>
                </a:lnTo>
                <a:lnTo>
                  <a:pt x="4702890" y="3483429"/>
                </a:lnTo>
                <a:lnTo>
                  <a:pt x="4682706" y="3483429"/>
                </a:lnTo>
                <a:lnTo>
                  <a:pt x="4662522" y="3483429"/>
                </a:lnTo>
                <a:lnTo>
                  <a:pt x="4642338" y="3483429"/>
                </a:lnTo>
                <a:lnTo>
                  <a:pt x="4622154" y="3483429"/>
                </a:lnTo>
                <a:lnTo>
                  <a:pt x="4601970" y="3483429"/>
                </a:lnTo>
                <a:lnTo>
                  <a:pt x="4581786" y="3483429"/>
                </a:lnTo>
                <a:lnTo>
                  <a:pt x="4561602" y="3483429"/>
                </a:lnTo>
                <a:lnTo>
                  <a:pt x="4541418" y="3483429"/>
                </a:lnTo>
                <a:lnTo>
                  <a:pt x="4521233" y="3483429"/>
                </a:lnTo>
                <a:lnTo>
                  <a:pt x="4501049" y="3483429"/>
                </a:lnTo>
                <a:lnTo>
                  <a:pt x="4480865" y="3483429"/>
                </a:lnTo>
                <a:lnTo>
                  <a:pt x="4460681" y="3483429"/>
                </a:lnTo>
                <a:lnTo>
                  <a:pt x="4440497" y="3483429"/>
                </a:lnTo>
                <a:lnTo>
                  <a:pt x="4420313" y="3483429"/>
                </a:lnTo>
                <a:lnTo>
                  <a:pt x="4400129" y="3483429"/>
                </a:lnTo>
                <a:lnTo>
                  <a:pt x="4379945" y="3483429"/>
                </a:lnTo>
                <a:lnTo>
                  <a:pt x="4359761" y="3483429"/>
                </a:lnTo>
                <a:lnTo>
                  <a:pt x="4339577" y="3483429"/>
                </a:lnTo>
                <a:lnTo>
                  <a:pt x="4319393" y="3483429"/>
                </a:lnTo>
                <a:lnTo>
                  <a:pt x="4299209" y="3483429"/>
                </a:lnTo>
                <a:lnTo>
                  <a:pt x="4279025" y="3483429"/>
                </a:lnTo>
                <a:lnTo>
                  <a:pt x="4258840" y="3483429"/>
                </a:lnTo>
                <a:lnTo>
                  <a:pt x="4238656" y="3483429"/>
                </a:lnTo>
                <a:lnTo>
                  <a:pt x="4218472" y="3483429"/>
                </a:lnTo>
                <a:lnTo>
                  <a:pt x="4198288" y="3483429"/>
                </a:lnTo>
                <a:lnTo>
                  <a:pt x="4178104" y="3483429"/>
                </a:lnTo>
                <a:lnTo>
                  <a:pt x="4157920" y="3483429"/>
                </a:lnTo>
                <a:lnTo>
                  <a:pt x="4137736" y="3483429"/>
                </a:lnTo>
                <a:lnTo>
                  <a:pt x="4117552" y="3483429"/>
                </a:lnTo>
                <a:lnTo>
                  <a:pt x="4097368" y="3483429"/>
                </a:lnTo>
                <a:lnTo>
                  <a:pt x="4077184" y="3483429"/>
                </a:lnTo>
                <a:lnTo>
                  <a:pt x="4057000" y="3483429"/>
                </a:lnTo>
                <a:lnTo>
                  <a:pt x="4036816" y="3483429"/>
                </a:lnTo>
                <a:lnTo>
                  <a:pt x="4016631" y="3483429"/>
                </a:lnTo>
                <a:lnTo>
                  <a:pt x="3996447" y="3483429"/>
                </a:lnTo>
                <a:lnTo>
                  <a:pt x="3976263" y="3483429"/>
                </a:lnTo>
                <a:lnTo>
                  <a:pt x="3956079" y="3483429"/>
                </a:lnTo>
                <a:lnTo>
                  <a:pt x="3935895" y="3483429"/>
                </a:lnTo>
                <a:lnTo>
                  <a:pt x="3915711" y="3483429"/>
                </a:lnTo>
                <a:lnTo>
                  <a:pt x="3895527" y="3483429"/>
                </a:lnTo>
                <a:lnTo>
                  <a:pt x="3875343" y="3483429"/>
                </a:lnTo>
                <a:lnTo>
                  <a:pt x="3855159" y="3483429"/>
                </a:lnTo>
                <a:lnTo>
                  <a:pt x="3834975" y="3483429"/>
                </a:lnTo>
                <a:lnTo>
                  <a:pt x="3814791" y="3483429"/>
                </a:lnTo>
                <a:lnTo>
                  <a:pt x="3794607" y="3483429"/>
                </a:lnTo>
                <a:lnTo>
                  <a:pt x="3774423" y="3483429"/>
                </a:lnTo>
                <a:lnTo>
                  <a:pt x="3754238" y="3483429"/>
                </a:lnTo>
                <a:lnTo>
                  <a:pt x="3734054" y="3483429"/>
                </a:lnTo>
                <a:lnTo>
                  <a:pt x="3713870" y="3483429"/>
                </a:lnTo>
                <a:lnTo>
                  <a:pt x="3693686" y="3483429"/>
                </a:lnTo>
                <a:lnTo>
                  <a:pt x="3673502" y="3483429"/>
                </a:lnTo>
                <a:lnTo>
                  <a:pt x="3653318" y="3483429"/>
                </a:lnTo>
                <a:lnTo>
                  <a:pt x="3633134" y="3483429"/>
                </a:lnTo>
                <a:lnTo>
                  <a:pt x="3612950" y="3483429"/>
                </a:lnTo>
                <a:lnTo>
                  <a:pt x="3592766" y="3483429"/>
                </a:lnTo>
                <a:lnTo>
                  <a:pt x="3572582" y="3483429"/>
                </a:lnTo>
                <a:lnTo>
                  <a:pt x="3552398" y="3483429"/>
                </a:lnTo>
                <a:lnTo>
                  <a:pt x="3532214" y="3483429"/>
                </a:lnTo>
                <a:lnTo>
                  <a:pt x="3512029" y="3483429"/>
                </a:lnTo>
                <a:lnTo>
                  <a:pt x="3491845" y="3483429"/>
                </a:lnTo>
                <a:lnTo>
                  <a:pt x="3471661" y="3483429"/>
                </a:lnTo>
                <a:lnTo>
                  <a:pt x="3451477" y="3483429"/>
                </a:lnTo>
                <a:lnTo>
                  <a:pt x="3431293" y="3483429"/>
                </a:lnTo>
                <a:lnTo>
                  <a:pt x="3411109" y="3483429"/>
                </a:lnTo>
                <a:lnTo>
                  <a:pt x="3390925" y="3483429"/>
                </a:lnTo>
                <a:lnTo>
                  <a:pt x="3370741" y="3483429"/>
                </a:lnTo>
                <a:lnTo>
                  <a:pt x="3350557" y="3483429"/>
                </a:lnTo>
                <a:lnTo>
                  <a:pt x="3330373" y="3483429"/>
                </a:lnTo>
                <a:lnTo>
                  <a:pt x="3310189" y="3483429"/>
                </a:lnTo>
                <a:lnTo>
                  <a:pt x="3290005" y="3483429"/>
                </a:lnTo>
                <a:lnTo>
                  <a:pt x="3269821" y="3483429"/>
                </a:lnTo>
                <a:lnTo>
                  <a:pt x="3249636" y="3483429"/>
                </a:lnTo>
                <a:lnTo>
                  <a:pt x="3229452" y="3483429"/>
                </a:lnTo>
                <a:lnTo>
                  <a:pt x="3209268" y="3483429"/>
                </a:lnTo>
                <a:lnTo>
                  <a:pt x="3189084" y="3483429"/>
                </a:lnTo>
                <a:lnTo>
                  <a:pt x="3168900" y="3483429"/>
                </a:lnTo>
                <a:lnTo>
                  <a:pt x="3148716" y="3483429"/>
                </a:lnTo>
                <a:lnTo>
                  <a:pt x="3128532" y="3483429"/>
                </a:lnTo>
                <a:lnTo>
                  <a:pt x="3108348" y="3483429"/>
                </a:lnTo>
                <a:lnTo>
                  <a:pt x="3088164" y="3483429"/>
                </a:lnTo>
                <a:lnTo>
                  <a:pt x="3067980" y="3483429"/>
                </a:lnTo>
                <a:lnTo>
                  <a:pt x="3047796" y="3483429"/>
                </a:lnTo>
                <a:lnTo>
                  <a:pt x="3027612" y="3483429"/>
                </a:lnTo>
                <a:lnTo>
                  <a:pt x="3007427" y="3483429"/>
                </a:lnTo>
                <a:lnTo>
                  <a:pt x="2987243" y="3483429"/>
                </a:lnTo>
                <a:lnTo>
                  <a:pt x="2967059" y="3483429"/>
                </a:lnTo>
                <a:lnTo>
                  <a:pt x="2946875" y="3483429"/>
                </a:lnTo>
                <a:lnTo>
                  <a:pt x="2926691" y="3483429"/>
                </a:lnTo>
                <a:lnTo>
                  <a:pt x="2906507" y="3483429"/>
                </a:lnTo>
                <a:lnTo>
                  <a:pt x="2886323" y="3483429"/>
                </a:lnTo>
                <a:lnTo>
                  <a:pt x="2866139" y="3483429"/>
                </a:lnTo>
                <a:lnTo>
                  <a:pt x="2845955" y="3483429"/>
                </a:lnTo>
                <a:lnTo>
                  <a:pt x="2825771" y="3483429"/>
                </a:lnTo>
                <a:lnTo>
                  <a:pt x="2805587" y="3483429"/>
                </a:lnTo>
                <a:lnTo>
                  <a:pt x="2785403" y="3483429"/>
                </a:lnTo>
                <a:lnTo>
                  <a:pt x="2765218" y="3483429"/>
                </a:lnTo>
                <a:lnTo>
                  <a:pt x="2745034" y="3483429"/>
                </a:lnTo>
                <a:lnTo>
                  <a:pt x="2724850" y="3483429"/>
                </a:lnTo>
                <a:lnTo>
                  <a:pt x="2704666" y="3483429"/>
                </a:lnTo>
                <a:lnTo>
                  <a:pt x="2684482" y="3483429"/>
                </a:lnTo>
                <a:lnTo>
                  <a:pt x="2664298" y="3483429"/>
                </a:lnTo>
                <a:lnTo>
                  <a:pt x="2644114" y="3483429"/>
                </a:lnTo>
                <a:lnTo>
                  <a:pt x="2623930" y="3483429"/>
                </a:lnTo>
                <a:lnTo>
                  <a:pt x="2603746" y="3483429"/>
                </a:lnTo>
                <a:lnTo>
                  <a:pt x="2583562" y="3483429"/>
                </a:lnTo>
                <a:lnTo>
                  <a:pt x="2563378" y="3483429"/>
                </a:lnTo>
                <a:lnTo>
                  <a:pt x="2543194" y="3483429"/>
                </a:lnTo>
                <a:lnTo>
                  <a:pt x="2523010" y="3483429"/>
                </a:lnTo>
                <a:lnTo>
                  <a:pt x="2502825" y="3483429"/>
                </a:lnTo>
                <a:lnTo>
                  <a:pt x="2482641" y="3483429"/>
                </a:lnTo>
                <a:lnTo>
                  <a:pt x="2462457" y="3483429"/>
                </a:lnTo>
                <a:lnTo>
                  <a:pt x="2442273" y="3483429"/>
                </a:lnTo>
                <a:lnTo>
                  <a:pt x="2422089" y="3483429"/>
                </a:lnTo>
                <a:lnTo>
                  <a:pt x="2401905" y="3483429"/>
                </a:lnTo>
                <a:lnTo>
                  <a:pt x="2381721" y="3483429"/>
                </a:lnTo>
                <a:lnTo>
                  <a:pt x="2361537" y="3483429"/>
                </a:lnTo>
                <a:lnTo>
                  <a:pt x="2341353" y="3483429"/>
                </a:lnTo>
                <a:lnTo>
                  <a:pt x="2321169" y="3483429"/>
                </a:lnTo>
                <a:lnTo>
                  <a:pt x="2300985" y="3483429"/>
                </a:lnTo>
                <a:lnTo>
                  <a:pt x="2280801" y="3483429"/>
                </a:lnTo>
                <a:lnTo>
                  <a:pt x="2260616" y="3483429"/>
                </a:lnTo>
                <a:lnTo>
                  <a:pt x="2240432" y="3483429"/>
                </a:lnTo>
                <a:lnTo>
                  <a:pt x="2220248" y="3483429"/>
                </a:lnTo>
                <a:lnTo>
                  <a:pt x="2200064" y="3483429"/>
                </a:lnTo>
                <a:lnTo>
                  <a:pt x="2179880" y="3483429"/>
                </a:lnTo>
                <a:lnTo>
                  <a:pt x="2159696" y="3483429"/>
                </a:lnTo>
                <a:lnTo>
                  <a:pt x="2139512" y="3483429"/>
                </a:lnTo>
                <a:lnTo>
                  <a:pt x="2119328" y="3483429"/>
                </a:lnTo>
                <a:lnTo>
                  <a:pt x="2099144" y="3483429"/>
                </a:lnTo>
                <a:lnTo>
                  <a:pt x="2078960" y="3483429"/>
                </a:lnTo>
                <a:lnTo>
                  <a:pt x="2058776" y="3483429"/>
                </a:lnTo>
                <a:lnTo>
                  <a:pt x="2038592" y="3483429"/>
                </a:lnTo>
                <a:lnTo>
                  <a:pt x="2018408" y="3483429"/>
                </a:lnTo>
                <a:lnTo>
                  <a:pt x="1998223" y="3483429"/>
                </a:lnTo>
                <a:lnTo>
                  <a:pt x="1978039" y="3483429"/>
                </a:lnTo>
                <a:lnTo>
                  <a:pt x="1957855" y="3483429"/>
                </a:lnTo>
                <a:lnTo>
                  <a:pt x="1937671" y="3483429"/>
                </a:lnTo>
                <a:lnTo>
                  <a:pt x="1917487" y="3483429"/>
                </a:lnTo>
                <a:lnTo>
                  <a:pt x="1897303" y="3483429"/>
                </a:lnTo>
                <a:lnTo>
                  <a:pt x="1877119" y="3483429"/>
                </a:lnTo>
                <a:lnTo>
                  <a:pt x="1856935" y="3483429"/>
                </a:lnTo>
                <a:lnTo>
                  <a:pt x="1836751" y="3483429"/>
                </a:lnTo>
                <a:lnTo>
                  <a:pt x="1816567" y="3483429"/>
                </a:lnTo>
                <a:lnTo>
                  <a:pt x="1796383" y="3483429"/>
                </a:lnTo>
                <a:lnTo>
                  <a:pt x="1776199" y="3483429"/>
                </a:lnTo>
                <a:lnTo>
                  <a:pt x="1756014" y="3483429"/>
                </a:lnTo>
                <a:lnTo>
                  <a:pt x="1735830" y="3483429"/>
                </a:lnTo>
                <a:lnTo>
                  <a:pt x="1715646" y="3483429"/>
                </a:lnTo>
                <a:lnTo>
                  <a:pt x="1695462" y="3483429"/>
                </a:lnTo>
                <a:lnTo>
                  <a:pt x="1675278" y="3483429"/>
                </a:lnTo>
                <a:lnTo>
                  <a:pt x="1655094" y="3483429"/>
                </a:lnTo>
                <a:lnTo>
                  <a:pt x="1634910" y="3483429"/>
                </a:lnTo>
                <a:lnTo>
                  <a:pt x="1614726" y="3483429"/>
                </a:lnTo>
                <a:lnTo>
                  <a:pt x="1594542" y="3483429"/>
                </a:lnTo>
                <a:lnTo>
                  <a:pt x="1574358" y="3483429"/>
                </a:lnTo>
                <a:lnTo>
                  <a:pt x="1554174" y="3483429"/>
                </a:lnTo>
                <a:lnTo>
                  <a:pt x="1533990" y="3483429"/>
                </a:lnTo>
                <a:lnTo>
                  <a:pt x="1513806" y="3483429"/>
                </a:lnTo>
                <a:lnTo>
                  <a:pt x="1493621" y="3483429"/>
                </a:lnTo>
                <a:lnTo>
                  <a:pt x="1473437" y="3483429"/>
                </a:lnTo>
                <a:lnTo>
                  <a:pt x="1453253" y="3483429"/>
                </a:lnTo>
                <a:lnTo>
                  <a:pt x="1433069" y="3483429"/>
                </a:lnTo>
                <a:lnTo>
                  <a:pt x="1412885" y="3483429"/>
                </a:lnTo>
                <a:lnTo>
                  <a:pt x="1392701" y="3483429"/>
                </a:lnTo>
                <a:lnTo>
                  <a:pt x="1372517" y="3483429"/>
                </a:lnTo>
                <a:lnTo>
                  <a:pt x="1352333" y="3483429"/>
                </a:lnTo>
                <a:lnTo>
                  <a:pt x="1332149" y="3483429"/>
                </a:lnTo>
                <a:lnTo>
                  <a:pt x="1311965" y="3483429"/>
                </a:lnTo>
                <a:lnTo>
                  <a:pt x="1291781" y="3483429"/>
                </a:lnTo>
                <a:lnTo>
                  <a:pt x="1271597" y="3483429"/>
                </a:lnTo>
                <a:lnTo>
                  <a:pt x="1251412" y="3483429"/>
                </a:lnTo>
                <a:lnTo>
                  <a:pt x="1231228" y="3483429"/>
                </a:lnTo>
                <a:lnTo>
                  <a:pt x="1211044" y="3483429"/>
                </a:lnTo>
                <a:lnTo>
                  <a:pt x="1190860" y="3483429"/>
                </a:lnTo>
                <a:lnTo>
                  <a:pt x="1170676" y="3483429"/>
                </a:lnTo>
                <a:lnTo>
                  <a:pt x="1150492" y="3483429"/>
                </a:lnTo>
                <a:lnTo>
                  <a:pt x="1130308" y="3483429"/>
                </a:lnTo>
                <a:lnTo>
                  <a:pt x="1110124" y="3483429"/>
                </a:lnTo>
                <a:lnTo>
                  <a:pt x="1089940" y="3483429"/>
                </a:lnTo>
                <a:lnTo>
                  <a:pt x="1069756" y="3483429"/>
                </a:lnTo>
                <a:lnTo>
                  <a:pt x="1049572" y="3483429"/>
                </a:lnTo>
                <a:lnTo>
                  <a:pt x="1029388" y="3483429"/>
                </a:lnTo>
                <a:lnTo>
                  <a:pt x="1009204" y="3483429"/>
                </a:lnTo>
                <a:lnTo>
                  <a:pt x="989019" y="3483429"/>
                </a:lnTo>
                <a:lnTo>
                  <a:pt x="968835" y="3483429"/>
                </a:lnTo>
                <a:lnTo>
                  <a:pt x="948651" y="3483429"/>
                </a:lnTo>
                <a:lnTo>
                  <a:pt x="928467" y="3483429"/>
                </a:lnTo>
                <a:lnTo>
                  <a:pt x="908283" y="3483429"/>
                </a:lnTo>
                <a:lnTo>
                  <a:pt x="888099" y="3483429"/>
                </a:lnTo>
                <a:lnTo>
                  <a:pt x="867915" y="3483429"/>
                </a:lnTo>
                <a:lnTo>
                  <a:pt x="847731" y="3483429"/>
                </a:lnTo>
                <a:lnTo>
                  <a:pt x="827547" y="3483429"/>
                </a:lnTo>
                <a:lnTo>
                  <a:pt x="807363" y="3483429"/>
                </a:lnTo>
                <a:lnTo>
                  <a:pt x="787179" y="3483429"/>
                </a:lnTo>
                <a:lnTo>
                  <a:pt x="766995" y="3483429"/>
                </a:lnTo>
                <a:lnTo>
                  <a:pt x="746810" y="3483429"/>
                </a:lnTo>
                <a:lnTo>
                  <a:pt x="726626" y="3483429"/>
                </a:lnTo>
                <a:lnTo>
                  <a:pt x="706442" y="3483429"/>
                </a:lnTo>
                <a:lnTo>
                  <a:pt x="686258" y="3483429"/>
                </a:lnTo>
                <a:lnTo>
                  <a:pt x="666074" y="3483429"/>
                </a:lnTo>
                <a:lnTo>
                  <a:pt x="645890" y="3483429"/>
                </a:lnTo>
                <a:lnTo>
                  <a:pt x="625706" y="3483429"/>
                </a:lnTo>
                <a:lnTo>
                  <a:pt x="605522" y="3483429"/>
                </a:lnTo>
                <a:lnTo>
                  <a:pt x="585338" y="3483429"/>
                </a:lnTo>
                <a:lnTo>
                  <a:pt x="565154" y="3483429"/>
                </a:lnTo>
                <a:lnTo>
                  <a:pt x="544970" y="3483429"/>
                </a:lnTo>
                <a:lnTo>
                  <a:pt x="524786" y="3483429"/>
                </a:lnTo>
                <a:lnTo>
                  <a:pt x="504602" y="3483429"/>
                </a:lnTo>
                <a:lnTo>
                  <a:pt x="484417" y="3483429"/>
                </a:lnTo>
                <a:lnTo>
                  <a:pt x="464233" y="3483429"/>
                </a:lnTo>
                <a:lnTo>
                  <a:pt x="444049" y="3483429"/>
                </a:lnTo>
                <a:lnTo>
                  <a:pt x="423865" y="3483429"/>
                </a:lnTo>
                <a:lnTo>
                  <a:pt x="403681" y="3483429"/>
                </a:lnTo>
                <a:lnTo>
                  <a:pt x="383497" y="3483429"/>
                </a:lnTo>
                <a:lnTo>
                  <a:pt x="363313" y="3483429"/>
                </a:lnTo>
                <a:lnTo>
                  <a:pt x="343129" y="3483429"/>
                </a:lnTo>
                <a:lnTo>
                  <a:pt x="322945" y="3483429"/>
                </a:lnTo>
                <a:lnTo>
                  <a:pt x="302761" y="3483429"/>
                </a:lnTo>
                <a:lnTo>
                  <a:pt x="282577" y="3483429"/>
                </a:lnTo>
                <a:lnTo>
                  <a:pt x="262393" y="3483429"/>
                </a:lnTo>
                <a:lnTo>
                  <a:pt x="242208" y="3483429"/>
                </a:lnTo>
                <a:lnTo>
                  <a:pt x="222024" y="3483429"/>
                </a:lnTo>
                <a:lnTo>
                  <a:pt x="201840" y="3483429"/>
                </a:lnTo>
                <a:lnTo>
                  <a:pt x="181656" y="3483429"/>
                </a:lnTo>
                <a:lnTo>
                  <a:pt x="161472" y="3483429"/>
                </a:lnTo>
                <a:lnTo>
                  <a:pt x="141288" y="3483429"/>
                </a:lnTo>
                <a:lnTo>
                  <a:pt x="121104" y="3483429"/>
                </a:lnTo>
                <a:lnTo>
                  <a:pt x="100920" y="3483429"/>
                </a:lnTo>
                <a:lnTo>
                  <a:pt x="80736" y="3483429"/>
                </a:lnTo>
                <a:lnTo>
                  <a:pt x="60552" y="3483429"/>
                </a:lnTo>
                <a:lnTo>
                  <a:pt x="40368" y="3483429"/>
                </a:lnTo>
                <a:lnTo>
                  <a:pt x="20184" y="3483429"/>
                </a:lnTo>
                <a:lnTo>
                  <a:pt x="0" y="3483429"/>
                </a:lnTo>
                <a:close/>
              </a:path>
            </a:pathLst>
          </a:custGeom>
          <a:solidFill>
            <a:srgbClr val="F2B880">
              <a:alpha val="18000"/>
            </a:srgbClr>
          </a:solidFill>
          <a:ln w="10160">
            <a:solidFill>
              <a:srgbClr val="F2B880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05 ellipse 50" descr="sci-ppt:o050"/>
          <p:cNvSpPr/>
          <p:nvPr/>
        </p:nvSpPr>
        <p:spPr>
          <a:xfrm>
            <a:off x="7013448" y="367456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2-E05 line 51" descr="sci-ppt:o051"/>
          <p:cNvCxnSpPr/>
          <p:nvPr/>
        </p:nvCxnSpPr>
        <p:spPr>
          <a:xfrm>
            <a:off x="7086600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54" name="C2-E05 text 52" descr="sci-ppt:o052"/>
          <p:cNvSpPr txBox="1"/>
          <p:nvPr/>
        </p:nvSpPr>
        <p:spPr>
          <a:xfrm>
            <a:off x="7223760" y="3244798"/>
            <a:ext cx="3291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1/μₐ = 5 µm: I = Iᵢₙ/e = 0.37 Iᵢₙ</a:t>
            </a:r>
          </a:p>
        </p:txBody>
      </p:sp>
      <p:sp>
        <p:nvSpPr>
          <p:cNvPr id="55" name="C2-E05 text 53" descr="sci-ppt:o053"/>
          <p:cNvSpPr txBox="1"/>
          <p:nvPr/>
        </p:nvSpPr>
        <p:spPr>
          <a:xfrm>
            <a:off x="8366760" y="2325188"/>
            <a:ext cx="27432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I(z) = Iᵢₙ e^(−μₐ z)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μₐ = 2×10⁵ m⁻¹</a:t>
            </a:r>
          </a:p>
        </p:txBody>
      </p:sp>
      <p:sp>
        <p:nvSpPr>
          <p:cNvPr id="56" name="C2-E05 text 54" descr="sci-ppt:o054"/>
          <p:cNvSpPr txBox="1"/>
          <p:nvPr/>
        </p:nvSpPr>
        <p:spPr>
          <a:xfrm>
            <a:off x="5577840" y="5733288"/>
            <a:ext cx="603504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Heat deposition follows the same curve: most of it lands within a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few 1/μₐ of the surface.</a:t>
            </a:r>
          </a:p>
        </p:txBody>
      </p:sp>
      <p:sp>
        <p:nvSpPr>
          <p:cNvPr id="57" name="C2-E05 text 55" descr="sci-ppt:o05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Beer–Lambert decay of Eq. C2-E05 with the teaching absorption coefficient.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C2-E06 · Derived optical-energy balance</a:t>
            </a:r>
          </a:p>
        </p:txBody>
      </p:sp>
      <p:cxnSp>
        <p:nvCxnSpPr>
          <p:cNvPr id="3" name="C2-E06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6 line 3" descr="sci-ppt:o003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6 line 4" descr="sci-ppt:o004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6 text 5" descr="sci-ppt:o005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06 line 6" descr="sci-ppt:o006"/>
          <p:cNvCxnSpPr/>
          <p:nvPr/>
        </p:nvCxnSpPr>
        <p:spPr>
          <a:xfrm>
            <a:off x="850392" y="419792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6 line 7" descr="sci-ppt:o007"/>
          <p:cNvCxnSpPr/>
          <p:nvPr/>
        </p:nvCxnSpPr>
        <p:spPr>
          <a:xfrm>
            <a:off x="914400" y="4197927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6 text 8" descr="sci-ppt:o008"/>
          <p:cNvSpPr txBox="1"/>
          <p:nvPr/>
        </p:nvSpPr>
        <p:spPr>
          <a:xfrm>
            <a:off x="45720" y="411563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250</a:t>
            </a:r>
          </a:p>
        </p:txBody>
      </p:sp>
      <p:cxnSp>
        <p:nvCxnSpPr>
          <p:cNvPr id="11" name="C2-E06 line 9" descr="sci-ppt:o009"/>
          <p:cNvCxnSpPr/>
          <p:nvPr/>
        </p:nvCxnSpPr>
        <p:spPr>
          <a:xfrm>
            <a:off x="850392" y="33666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6 line 10" descr="sci-ppt:o010"/>
          <p:cNvCxnSpPr/>
          <p:nvPr/>
        </p:nvCxnSpPr>
        <p:spPr>
          <a:xfrm>
            <a:off x="914400" y="3366654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6 text 11" descr="sci-ppt:o011"/>
          <p:cNvSpPr txBox="1"/>
          <p:nvPr/>
        </p:nvSpPr>
        <p:spPr>
          <a:xfrm>
            <a:off x="45720" y="32843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500</a:t>
            </a:r>
          </a:p>
        </p:txBody>
      </p:sp>
      <p:cxnSp>
        <p:nvCxnSpPr>
          <p:cNvPr id="14" name="C2-E06 line 12" descr="sci-ppt:o012"/>
          <p:cNvCxnSpPr/>
          <p:nvPr/>
        </p:nvCxnSpPr>
        <p:spPr>
          <a:xfrm>
            <a:off x="850392" y="253538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06 line 13" descr="sci-ppt:o013"/>
          <p:cNvCxnSpPr/>
          <p:nvPr/>
        </p:nvCxnSpPr>
        <p:spPr>
          <a:xfrm>
            <a:off x="914400" y="2535381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06 text 14" descr="sci-ppt:o014"/>
          <p:cNvSpPr txBox="1"/>
          <p:nvPr/>
        </p:nvSpPr>
        <p:spPr>
          <a:xfrm>
            <a:off x="45720" y="245308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750</a:t>
            </a:r>
          </a:p>
        </p:txBody>
      </p:sp>
      <p:cxnSp>
        <p:nvCxnSpPr>
          <p:cNvPr id="17" name="C2-E06 line 15" descr="sci-ppt:o015"/>
          <p:cNvCxnSpPr/>
          <p:nvPr/>
        </p:nvCxnSpPr>
        <p:spPr>
          <a:xfrm>
            <a:off x="850392" y="1704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06 line 16" descr="sci-ppt:o016"/>
          <p:cNvCxnSpPr/>
          <p:nvPr/>
        </p:nvCxnSpPr>
        <p:spPr>
          <a:xfrm>
            <a:off x="914400" y="1704109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06 text 17" descr="sci-ppt:o017"/>
          <p:cNvSpPr txBox="1"/>
          <p:nvPr/>
        </p:nvSpPr>
        <p:spPr>
          <a:xfrm>
            <a:off x="45720" y="1621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20" name="C2-E06 text 18" descr="sci-ppt:o018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(nJ)</a:t>
            </a:r>
          </a:p>
        </p:txBody>
      </p:sp>
      <p:sp>
        <p:nvSpPr>
          <p:cNvPr id="21" name="C2-E06 rect 19" descr="sci-ppt:o019"/>
          <p:cNvSpPr/>
          <p:nvPr/>
        </p:nvSpPr>
        <p:spPr>
          <a:xfrm>
            <a:off x="1098743" y="1704109"/>
            <a:ext cx="948049" cy="332509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06 text 20" descr="sci-ppt:o020"/>
          <p:cNvSpPr txBox="1"/>
          <p:nvPr/>
        </p:nvSpPr>
        <p:spPr>
          <a:xfrm>
            <a:off x="870143" y="1429789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1000</a:t>
            </a:r>
          </a:p>
        </p:txBody>
      </p:sp>
      <p:sp>
        <p:nvSpPr>
          <p:cNvPr id="23" name="C2-E06 text 21" descr="sci-ppt:o021"/>
          <p:cNvSpPr txBox="1"/>
          <p:nvPr/>
        </p:nvSpPr>
        <p:spPr>
          <a:xfrm>
            <a:off x="824423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incident E_L</a:t>
            </a:r>
          </a:p>
        </p:txBody>
      </p:sp>
      <p:sp>
        <p:nvSpPr>
          <p:cNvPr id="24" name="C2-E06 rect 22" descr="sci-ppt:o022"/>
          <p:cNvSpPr/>
          <p:nvPr/>
        </p:nvSpPr>
        <p:spPr>
          <a:xfrm>
            <a:off x="2415479" y="1704109"/>
            <a:ext cx="948049" cy="2016769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06 text 23" descr="sci-ppt:o023"/>
          <p:cNvSpPr txBox="1"/>
          <p:nvPr/>
        </p:nvSpPr>
        <p:spPr>
          <a:xfrm>
            <a:off x="2186879" y="1429789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-607</a:t>
            </a:r>
          </a:p>
        </p:txBody>
      </p:sp>
      <p:sp>
        <p:nvSpPr>
          <p:cNvPr id="26" name="C2-E06 text 24" descr="sci-ppt:o024"/>
          <p:cNvSpPr txBox="1"/>
          <p:nvPr/>
        </p:nvSpPr>
        <p:spPr>
          <a:xfrm>
            <a:off x="2141159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outside aperture</a:t>
            </a:r>
          </a:p>
        </p:txBody>
      </p:sp>
      <p:sp>
        <p:nvSpPr>
          <p:cNvPr id="27" name="C2-E06 rect 25" descr="sci-ppt:o025"/>
          <p:cNvSpPr/>
          <p:nvPr/>
        </p:nvSpPr>
        <p:spPr>
          <a:xfrm>
            <a:off x="3732215" y="3720878"/>
            <a:ext cx="948049" cy="130832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06 text 26" descr="sci-ppt:o026"/>
          <p:cNvSpPr txBox="1"/>
          <p:nvPr/>
        </p:nvSpPr>
        <p:spPr>
          <a:xfrm>
            <a:off x="3503615" y="3446558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-39</a:t>
            </a:r>
          </a:p>
        </p:txBody>
      </p:sp>
      <p:sp>
        <p:nvSpPr>
          <p:cNvPr id="29" name="C2-E06 text 27" descr="sci-ppt:o027"/>
          <p:cNvSpPr txBox="1"/>
          <p:nvPr/>
        </p:nvSpPr>
        <p:spPr>
          <a:xfrm>
            <a:off x="3457895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reflected 10 %</a:t>
            </a:r>
          </a:p>
        </p:txBody>
      </p:sp>
      <p:sp>
        <p:nvSpPr>
          <p:cNvPr id="30" name="C2-E06 rect 28" descr="sci-ppt:o028"/>
          <p:cNvSpPr/>
          <p:nvPr/>
        </p:nvSpPr>
        <p:spPr>
          <a:xfrm>
            <a:off x="5048951" y="3851710"/>
            <a:ext cx="948049" cy="433174"/>
          </a:xfrm>
          <a:prstGeom prst="rect">
            <a:avLst/>
          </a:prstGeom>
          <a:solidFill>
            <a:srgbClr val="B4A0F0">
              <a:alpha val="85000"/>
            </a:srgbClr>
          </a:solidFill>
          <a:ln w="12700">
            <a:solidFill>
              <a:srgbClr val="B4A0F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06 text 29" descr="sci-ppt:o029"/>
          <p:cNvSpPr txBox="1"/>
          <p:nvPr/>
        </p:nvSpPr>
        <p:spPr>
          <a:xfrm>
            <a:off x="4820351" y="3577390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-130</a:t>
            </a:r>
          </a:p>
        </p:txBody>
      </p:sp>
      <p:sp>
        <p:nvSpPr>
          <p:cNvPr id="32" name="C2-E06 text 30" descr="sci-ppt:o030"/>
          <p:cNvSpPr txBox="1"/>
          <p:nvPr/>
        </p:nvSpPr>
        <p:spPr>
          <a:xfrm>
            <a:off x="4774631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transmitted</a:t>
            </a:r>
          </a:p>
        </p:txBody>
      </p:sp>
      <p:sp>
        <p:nvSpPr>
          <p:cNvPr id="33" name="C2-E06 rect 31" descr="sci-ppt:o031"/>
          <p:cNvSpPr/>
          <p:nvPr/>
        </p:nvSpPr>
        <p:spPr>
          <a:xfrm>
            <a:off x="6365687" y="4284884"/>
            <a:ext cx="948049" cy="744315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06 text 32" descr="sci-ppt:o032"/>
          <p:cNvSpPr txBox="1"/>
          <p:nvPr/>
        </p:nvSpPr>
        <p:spPr>
          <a:xfrm>
            <a:off x="6137087" y="4010564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224</a:t>
            </a:r>
          </a:p>
        </p:txBody>
      </p:sp>
      <p:sp>
        <p:nvSpPr>
          <p:cNvPr id="35" name="C2-E06 text 33" descr="sci-ppt:o033"/>
          <p:cNvSpPr txBox="1"/>
          <p:nvPr/>
        </p:nvSpPr>
        <p:spPr>
          <a:xfrm>
            <a:off x="6091367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absorbed E_abs</a:t>
            </a:r>
          </a:p>
        </p:txBody>
      </p:sp>
      <p:sp>
        <p:nvSpPr>
          <p:cNvPr id="36" name="C2-E06 round_rect 34" descr="sci-ppt:o034"/>
          <p:cNvSpPr/>
          <p:nvPr/>
        </p:nvSpPr>
        <p:spPr>
          <a:xfrm>
            <a:off x="7772400" y="1371600"/>
            <a:ext cx="40690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06 text 35" descr="sci-ppt:o035"/>
          <p:cNvSpPr txBox="1"/>
          <p:nvPr/>
        </p:nvSpPr>
        <p:spPr>
          <a:xfrm>
            <a:off x="7882127" y="1426464"/>
            <a:ext cx="38496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Each factor acts once</a:t>
            </a:r>
          </a:p>
        </p:txBody>
      </p:sp>
      <p:sp>
        <p:nvSpPr>
          <p:cNvPr id="38" name="C2-E06 text 36" descr="sci-ppt:o036"/>
          <p:cNvSpPr txBox="1"/>
          <p:nvPr/>
        </p:nvSpPr>
        <p:spPr>
          <a:xfrm>
            <a:off x="7909560" y="1828800"/>
            <a:ext cx="38404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f_geo = 1 − e^(−2(10/20)²) = 0.3935</a:t>
            </a:r>
          </a:p>
        </p:txBody>
      </p:sp>
      <p:sp>
        <p:nvSpPr>
          <p:cNvPr id="39" name="C2-E06 text 37" descr="sci-ppt:o037"/>
          <p:cNvSpPr txBox="1"/>
          <p:nvPr/>
        </p:nvSpPr>
        <p:spPr>
          <a:xfrm>
            <a:off x="7909560" y="2331720"/>
            <a:ext cx="38404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A_λ = (1 − 0.10)(1 − e^(−1)) = 0.5689</a:t>
            </a:r>
          </a:p>
        </p:txBody>
      </p:sp>
      <p:sp>
        <p:nvSpPr>
          <p:cNvPr id="40" name="C2-E06 text 38" descr="sci-ppt:o038"/>
          <p:cNvSpPr txBox="1"/>
          <p:nvPr/>
        </p:nvSpPr>
        <p:spPr>
          <a:xfrm>
            <a:off x="7909560" y="2834640"/>
            <a:ext cx="38404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E_abs = f_geo A_λ E_L = 223.8 nJ</a:t>
            </a:r>
          </a:p>
        </p:txBody>
      </p:sp>
      <p:sp>
        <p:nvSpPr>
          <p:cNvPr id="41" name="C2-E06 text 39" descr="sci-ppt:o039"/>
          <p:cNvSpPr txBox="1"/>
          <p:nvPr/>
        </p:nvSpPr>
        <p:spPr>
          <a:xfrm>
            <a:off x="7909560" y="3474720"/>
            <a:ext cx="384048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Interception, front-face reflection and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internal absorption are separate, multiplied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losses; none is counted twice.</a:t>
            </a:r>
          </a:p>
        </p:txBody>
      </p:sp>
      <p:sp>
        <p:nvSpPr>
          <p:cNvPr id="42" name="C2-E06 text 40" descr="sci-ppt:o04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Energy accounting for E_L = 1 µJ, aperture 10 µm, beam radius 20 µm, μₐ hₐ = 1, R_λ = 0.10 (declared inputs).</a:t>
            </a:r>
          </a:p>
        </p:txBody>
      </p:sp>
      <p:sp>
        <p:nvSpPr>
          <p:cNvPr id="43" name="C2-E06 text 41" descr="sci-ppt:o04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 balance of Eq. C2-E06, numbers as in Eq. C2-E31.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C2-E07 · Reduced heat equation and Fourier constitutive law</a:t>
            </a:r>
          </a:p>
        </p:txBody>
      </p:sp>
      <p:sp>
        <p:nvSpPr>
          <p:cNvPr id="3" name="C2-E07 round_rect 1" descr="sci-ppt:o001"/>
          <p:cNvSpPr/>
          <p:nvPr/>
        </p:nvSpPr>
        <p:spPr>
          <a:xfrm>
            <a:off x="365760" y="914400"/>
            <a:ext cx="58521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07 text 2" descr="sci-ppt:o002"/>
          <p:cNvSpPr txBox="1"/>
          <p:nvPr/>
        </p:nvSpPr>
        <p:spPr>
          <a:xfrm>
            <a:off x="475488" y="969264"/>
            <a:ext cx="5632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 balance of a small parcel</a:t>
            </a:r>
          </a:p>
        </p:txBody>
      </p:sp>
      <p:sp>
        <p:nvSpPr>
          <p:cNvPr id="5" name="C2-E07 rect 3" descr="sci-ppt:o003"/>
          <p:cNvSpPr/>
          <p:nvPr/>
        </p:nvSpPr>
        <p:spPr>
          <a:xfrm>
            <a:off x="2286000" y="2468880"/>
            <a:ext cx="2011680" cy="1463040"/>
          </a:xfrm>
          <a:prstGeom prst="rect">
            <a:avLst/>
          </a:prstGeom>
          <a:solidFill>
            <a:srgbClr val="2B6678">
              <a:alpha val="90000"/>
            </a:srgbClr>
          </a:solidFill>
          <a:ln w="30480">
            <a:solidFill>
              <a:srgbClr val="8EDBD4">
                <a:alpha val="9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07 text 4" descr="sci-ppt:o004"/>
          <p:cNvSpPr txBox="1"/>
          <p:nvPr/>
        </p:nvSpPr>
        <p:spPr>
          <a:xfrm>
            <a:off x="2286000" y="2926080"/>
            <a:ext cx="201168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ρ cₚ DT/Dt</a:t>
            </a:r>
          </a:p>
        </p:txBody>
      </p:sp>
      <p:cxnSp>
        <p:nvCxnSpPr>
          <p:cNvPr id="7" name="C2-E07 arrow 5" descr="sci-ppt:o005"/>
          <p:cNvCxnSpPr/>
          <p:nvPr/>
        </p:nvCxnSpPr>
        <p:spPr>
          <a:xfrm>
            <a:off x="914400" y="3200400"/>
            <a:ext cx="1325880" cy="0"/>
          </a:xfrm>
          <a:prstGeom prst="line">
            <a:avLst/>
          </a:prstGeom>
          <a:ln w="4445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2-E07 text 6" descr="sci-ppt:o006"/>
          <p:cNvSpPr txBox="1"/>
          <p:nvPr/>
        </p:nvSpPr>
        <p:spPr>
          <a:xfrm>
            <a:off x="502920" y="2743200"/>
            <a:ext cx="17373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conduction in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−∇·q</a:t>
            </a:r>
          </a:p>
        </p:txBody>
      </p:sp>
      <p:cxnSp>
        <p:nvCxnSpPr>
          <p:cNvPr id="9" name="C2-E07 arrow 7" descr="sci-ppt:o007"/>
          <p:cNvCxnSpPr/>
          <p:nvPr/>
        </p:nvCxnSpPr>
        <p:spPr>
          <a:xfrm>
            <a:off x="4343400" y="3200400"/>
            <a:ext cx="1325880" cy="0"/>
          </a:xfrm>
          <a:prstGeom prst="line">
            <a:avLst/>
          </a:prstGeom>
          <a:ln w="4445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2-E07 text 8" descr="sci-ppt:o008"/>
          <p:cNvSpPr txBox="1"/>
          <p:nvPr/>
        </p:nvSpPr>
        <p:spPr>
          <a:xfrm>
            <a:off x="4389120" y="2743200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conduction out</a:t>
            </a:r>
          </a:p>
        </p:txBody>
      </p:sp>
      <p:cxnSp>
        <p:nvCxnSpPr>
          <p:cNvPr id="11" name="C2-E07 arrow 9" descr="sci-ppt:o009"/>
          <p:cNvCxnSpPr/>
          <p:nvPr/>
        </p:nvCxnSpPr>
        <p:spPr>
          <a:xfrm>
            <a:off x="3291840" y="1828800"/>
            <a:ext cx="0" cy="59436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2-E07 text 10" descr="sci-ppt:o010"/>
          <p:cNvSpPr txBox="1"/>
          <p:nvPr/>
        </p:nvSpPr>
        <p:spPr>
          <a:xfrm>
            <a:off x="2377440" y="1417320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absorbed light Q_abs</a:t>
            </a:r>
          </a:p>
        </p:txBody>
      </p:sp>
      <p:sp>
        <p:nvSpPr>
          <p:cNvPr id="13" name="C2-E07 text 11" descr="sci-ppt:o011"/>
          <p:cNvSpPr txBox="1"/>
          <p:nvPr/>
        </p:nvSpPr>
        <p:spPr>
          <a:xfrm>
            <a:off x="548640" y="4297680"/>
            <a:ext cx="54864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Stored heat rate  =  net conduction  +  optical source</a:t>
            </a:r>
          </a:p>
        </p:txBody>
      </p:sp>
      <p:sp>
        <p:nvSpPr>
          <p:cNvPr id="14" name="C2-E07 text 12" descr="sci-ppt:o012"/>
          <p:cNvSpPr txBox="1"/>
          <p:nvPr/>
        </p:nvSpPr>
        <p:spPr>
          <a:xfrm>
            <a:off x="548640" y="4754880"/>
            <a:ext cx="5486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q = −k∇T (Fourier),   D/Dt = ∂/∂t + u·∇</a:t>
            </a:r>
          </a:p>
        </p:txBody>
      </p:sp>
      <p:sp>
        <p:nvSpPr>
          <p:cNvPr id="15" name="C2-E07 round_rect 13" descr="sci-ppt:o013"/>
          <p:cNvSpPr/>
          <p:nvPr/>
        </p:nvSpPr>
        <p:spPr>
          <a:xfrm>
            <a:off x="6492240" y="914400"/>
            <a:ext cx="534924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07 text 14" descr="sci-ppt:o014"/>
          <p:cNvSpPr txBox="1"/>
          <p:nvPr/>
        </p:nvSpPr>
        <p:spPr>
          <a:xfrm>
            <a:off x="6601968" y="969264"/>
            <a:ext cx="5129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different heating jobs</a:t>
            </a:r>
          </a:p>
        </p:txBody>
      </p:sp>
      <p:sp>
        <p:nvSpPr>
          <p:cNvPr id="17" name="C2-E07 rect 15" descr="sci-ppt:o015"/>
          <p:cNvSpPr/>
          <p:nvPr/>
        </p:nvSpPr>
        <p:spPr>
          <a:xfrm>
            <a:off x="6766560" y="1828800"/>
            <a:ext cx="1463040" cy="310896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07 text 16" descr="sci-ppt:o016"/>
          <p:cNvSpPr txBox="1"/>
          <p:nvPr/>
        </p:nvSpPr>
        <p:spPr>
          <a:xfrm>
            <a:off x="6766560" y="3108960"/>
            <a:ext cx="1463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absorber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Q_abs ≠ 0</a:t>
            </a:r>
          </a:p>
        </p:txBody>
      </p:sp>
      <p:cxnSp>
        <p:nvCxnSpPr>
          <p:cNvPr id="19" name="C2-E07 arrow 17" descr="sci-ppt:o017"/>
          <p:cNvCxnSpPr/>
          <p:nvPr/>
        </p:nvCxnSpPr>
        <p:spPr>
          <a:xfrm>
            <a:off x="8275320" y="3383280"/>
            <a:ext cx="777240" cy="0"/>
          </a:xfrm>
          <a:prstGeom prst="line">
            <a:avLst/>
          </a:prstGeom>
          <a:ln w="4445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20" name="C2-E07 ellipse 18" descr="sci-ppt:o018"/>
          <p:cNvSpPr/>
          <p:nvPr/>
        </p:nvSpPr>
        <p:spPr>
          <a:xfrm>
            <a:off x="9235440" y="2468880"/>
            <a:ext cx="1828800" cy="1828800"/>
          </a:xfrm>
          <a:prstGeom prst="ellipse">
            <a:avLst/>
          </a:pr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2-E07 text 19" descr="sci-ppt:o019"/>
          <p:cNvSpPr txBox="1"/>
          <p:nvPr/>
        </p:nvSpPr>
        <p:spPr>
          <a:xfrm>
            <a:off x="9326880" y="3246120"/>
            <a:ext cx="1645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PFC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Q_abs = 0</a:t>
            </a:r>
          </a:p>
        </p:txBody>
      </p:sp>
      <p:sp>
        <p:nvSpPr>
          <p:cNvPr id="22" name="C2-E07 text 20" descr="sci-ppt:o020"/>
          <p:cNvSpPr txBox="1"/>
          <p:nvPr/>
        </p:nvSpPr>
        <p:spPr>
          <a:xfrm>
            <a:off x="6675120" y="5074920"/>
            <a:ext cx="50292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Heating the absorber and heating the PFC are separate steps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joined only by conduction across the contact.</a:t>
            </a:r>
          </a:p>
        </p:txBody>
      </p:sp>
      <p:sp>
        <p:nvSpPr>
          <p:cNvPr id="23" name="C2-E07 text 21" descr="sci-ppt:o02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Reduced heat equation of Eq. C2-E07; sketch of the heat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C2-E08 · Thermal-contact boundary conditions</a:t>
            </a:r>
          </a:p>
        </p:txBody>
      </p:sp>
      <p:cxnSp>
        <p:nvCxnSpPr>
          <p:cNvPr id="3" name="C2-E08 line 1" descr="sci-ppt:o001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8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8 line 3" descr="sci-ppt:o003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8 line 4" descr="sci-ppt:o004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8 text 5" descr="sci-ppt:o005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2-E08 line 6" descr="sci-ppt:o006"/>
          <p:cNvCxnSpPr/>
          <p:nvPr/>
        </p:nvCxnSpPr>
        <p:spPr>
          <a:xfrm>
            <a:off x="850392" y="33666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8 line 7" descr="sci-ppt:o007"/>
          <p:cNvCxnSpPr/>
          <p:nvPr/>
        </p:nvCxnSpPr>
        <p:spPr>
          <a:xfrm>
            <a:off x="914400" y="3366654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8 text 8" descr="sci-ppt:o008"/>
          <p:cNvSpPr txBox="1"/>
          <p:nvPr/>
        </p:nvSpPr>
        <p:spPr>
          <a:xfrm>
            <a:off x="45720" y="32843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2-E08 line 9" descr="sci-ppt:o009"/>
          <p:cNvCxnSpPr/>
          <p:nvPr/>
        </p:nvCxnSpPr>
        <p:spPr>
          <a:xfrm>
            <a:off x="850392" y="1704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8 line 10" descr="sci-ppt:o010"/>
          <p:cNvCxnSpPr/>
          <p:nvPr/>
        </p:nvCxnSpPr>
        <p:spPr>
          <a:xfrm>
            <a:off x="914400" y="1704109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8 text 11" descr="sci-ppt:o011"/>
          <p:cNvSpPr txBox="1"/>
          <p:nvPr/>
        </p:nvSpPr>
        <p:spPr>
          <a:xfrm>
            <a:off x="45720" y="1621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14" name="C2-E08 text 12" descr="sci-ppt:o012"/>
          <p:cNvSpPr txBox="1"/>
          <p:nvPr/>
        </p:nvSpPr>
        <p:spPr>
          <a:xfrm>
            <a:off x="91440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position across the contact</a:t>
            </a:r>
          </a:p>
        </p:txBody>
      </p:sp>
      <p:sp>
        <p:nvSpPr>
          <p:cNvPr id="15" name="C2-E08 text 13" descr="sci-ppt:o013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(relative)</a:t>
            </a:r>
          </a:p>
        </p:txBody>
      </p:sp>
      <p:sp>
        <p:nvSpPr>
          <p:cNvPr id="16" name="C2-E08 polygon 14" descr="sci-ppt:o014"/>
          <p:cNvSpPr/>
          <p:nvPr/>
        </p:nvSpPr>
        <p:spPr>
          <a:xfrm>
            <a:off x="914400" y="1537854"/>
            <a:ext cx="3192378" cy="663352"/>
          </a:xfrm>
          <a:custGeom>
            <a:avLst/>
            <a:gdLst/>
            <a:ahLst/>
            <a:cxnLst/>
            <a:rect l="l" t="t" r="r" b="b"/>
            <a:pathLst>
              <a:path w="3192378" h="663352">
                <a:moveTo>
                  <a:pt x="0" y="0"/>
                </a:moveTo>
                <a:lnTo>
                  <a:pt x="16042" y="3333"/>
                </a:lnTo>
                <a:lnTo>
                  <a:pt x="32084" y="6667"/>
                </a:lnTo>
                <a:lnTo>
                  <a:pt x="48126" y="10000"/>
                </a:lnTo>
                <a:lnTo>
                  <a:pt x="64168" y="13334"/>
                </a:lnTo>
                <a:lnTo>
                  <a:pt x="80210" y="16667"/>
                </a:lnTo>
                <a:lnTo>
                  <a:pt x="96252" y="20001"/>
                </a:lnTo>
                <a:lnTo>
                  <a:pt x="112294" y="23334"/>
                </a:lnTo>
                <a:lnTo>
                  <a:pt x="128336" y="26667"/>
                </a:lnTo>
                <a:lnTo>
                  <a:pt x="144378" y="30001"/>
                </a:lnTo>
                <a:lnTo>
                  <a:pt x="160421" y="33334"/>
                </a:lnTo>
                <a:lnTo>
                  <a:pt x="176463" y="36668"/>
                </a:lnTo>
                <a:lnTo>
                  <a:pt x="192505" y="40001"/>
                </a:lnTo>
                <a:lnTo>
                  <a:pt x="208547" y="43335"/>
                </a:lnTo>
                <a:lnTo>
                  <a:pt x="224589" y="46668"/>
                </a:lnTo>
                <a:lnTo>
                  <a:pt x="240631" y="50001"/>
                </a:lnTo>
                <a:lnTo>
                  <a:pt x="256673" y="53335"/>
                </a:lnTo>
                <a:lnTo>
                  <a:pt x="272715" y="56668"/>
                </a:lnTo>
                <a:lnTo>
                  <a:pt x="288757" y="60002"/>
                </a:lnTo>
                <a:lnTo>
                  <a:pt x="304800" y="63335"/>
                </a:lnTo>
                <a:lnTo>
                  <a:pt x="320842" y="66669"/>
                </a:lnTo>
                <a:lnTo>
                  <a:pt x="336884" y="70002"/>
                </a:lnTo>
                <a:lnTo>
                  <a:pt x="352926" y="73335"/>
                </a:lnTo>
                <a:lnTo>
                  <a:pt x="368968" y="76669"/>
                </a:lnTo>
                <a:lnTo>
                  <a:pt x="385010" y="80002"/>
                </a:lnTo>
                <a:lnTo>
                  <a:pt x="401052" y="83336"/>
                </a:lnTo>
                <a:lnTo>
                  <a:pt x="417094" y="86669"/>
                </a:lnTo>
                <a:lnTo>
                  <a:pt x="433136" y="90003"/>
                </a:lnTo>
                <a:lnTo>
                  <a:pt x="449178" y="93336"/>
                </a:lnTo>
                <a:lnTo>
                  <a:pt x="465221" y="96669"/>
                </a:lnTo>
                <a:lnTo>
                  <a:pt x="481263" y="100003"/>
                </a:lnTo>
                <a:lnTo>
                  <a:pt x="497305" y="103336"/>
                </a:lnTo>
                <a:lnTo>
                  <a:pt x="513347" y="106670"/>
                </a:lnTo>
                <a:lnTo>
                  <a:pt x="529389" y="110003"/>
                </a:lnTo>
                <a:lnTo>
                  <a:pt x="545431" y="113336"/>
                </a:lnTo>
                <a:lnTo>
                  <a:pt x="561473" y="116670"/>
                </a:lnTo>
                <a:lnTo>
                  <a:pt x="577515" y="120003"/>
                </a:lnTo>
                <a:lnTo>
                  <a:pt x="593557" y="123337"/>
                </a:lnTo>
                <a:lnTo>
                  <a:pt x="609599" y="126670"/>
                </a:lnTo>
                <a:lnTo>
                  <a:pt x="625642" y="130004"/>
                </a:lnTo>
                <a:lnTo>
                  <a:pt x="641684" y="133337"/>
                </a:lnTo>
                <a:lnTo>
                  <a:pt x="657726" y="136670"/>
                </a:lnTo>
                <a:lnTo>
                  <a:pt x="673768" y="140004"/>
                </a:lnTo>
                <a:lnTo>
                  <a:pt x="689810" y="143337"/>
                </a:lnTo>
                <a:lnTo>
                  <a:pt x="705852" y="146671"/>
                </a:lnTo>
                <a:lnTo>
                  <a:pt x="721894" y="150004"/>
                </a:lnTo>
                <a:lnTo>
                  <a:pt x="737936" y="153338"/>
                </a:lnTo>
                <a:lnTo>
                  <a:pt x="753978" y="156671"/>
                </a:lnTo>
                <a:lnTo>
                  <a:pt x="770021" y="160004"/>
                </a:lnTo>
                <a:lnTo>
                  <a:pt x="786063" y="163338"/>
                </a:lnTo>
                <a:lnTo>
                  <a:pt x="802105" y="166671"/>
                </a:lnTo>
                <a:lnTo>
                  <a:pt x="818147" y="170005"/>
                </a:lnTo>
                <a:lnTo>
                  <a:pt x="834189" y="173338"/>
                </a:lnTo>
                <a:lnTo>
                  <a:pt x="850231" y="176672"/>
                </a:lnTo>
                <a:lnTo>
                  <a:pt x="866273" y="180005"/>
                </a:lnTo>
                <a:lnTo>
                  <a:pt x="882315" y="183338"/>
                </a:lnTo>
                <a:lnTo>
                  <a:pt x="898357" y="186672"/>
                </a:lnTo>
                <a:lnTo>
                  <a:pt x="914400" y="190005"/>
                </a:lnTo>
                <a:lnTo>
                  <a:pt x="930442" y="193339"/>
                </a:lnTo>
                <a:lnTo>
                  <a:pt x="946484" y="196672"/>
                </a:lnTo>
                <a:lnTo>
                  <a:pt x="962526" y="200006"/>
                </a:lnTo>
                <a:lnTo>
                  <a:pt x="978568" y="203339"/>
                </a:lnTo>
                <a:lnTo>
                  <a:pt x="994610" y="206672"/>
                </a:lnTo>
                <a:lnTo>
                  <a:pt x="1010652" y="210006"/>
                </a:lnTo>
                <a:lnTo>
                  <a:pt x="1026694" y="213339"/>
                </a:lnTo>
                <a:lnTo>
                  <a:pt x="1042736" y="216673"/>
                </a:lnTo>
                <a:lnTo>
                  <a:pt x="1058778" y="220006"/>
                </a:lnTo>
                <a:lnTo>
                  <a:pt x="1074821" y="223339"/>
                </a:lnTo>
                <a:lnTo>
                  <a:pt x="1090863" y="226673"/>
                </a:lnTo>
                <a:lnTo>
                  <a:pt x="1106905" y="230006"/>
                </a:lnTo>
                <a:lnTo>
                  <a:pt x="1122947" y="233340"/>
                </a:lnTo>
                <a:lnTo>
                  <a:pt x="1138989" y="236673"/>
                </a:lnTo>
                <a:lnTo>
                  <a:pt x="1155031" y="240007"/>
                </a:lnTo>
                <a:lnTo>
                  <a:pt x="1171073" y="243340"/>
                </a:lnTo>
                <a:lnTo>
                  <a:pt x="1187115" y="246673"/>
                </a:lnTo>
                <a:lnTo>
                  <a:pt x="1203157" y="250007"/>
                </a:lnTo>
                <a:lnTo>
                  <a:pt x="1219199" y="253340"/>
                </a:lnTo>
                <a:lnTo>
                  <a:pt x="1235242" y="256674"/>
                </a:lnTo>
                <a:lnTo>
                  <a:pt x="1251284" y="260007"/>
                </a:lnTo>
                <a:lnTo>
                  <a:pt x="1267326" y="263341"/>
                </a:lnTo>
                <a:lnTo>
                  <a:pt x="1283368" y="266674"/>
                </a:lnTo>
                <a:lnTo>
                  <a:pt x="1299410" y="270007"/>
                </a:lnTo>
                <a:lnTo>
                  <a:pt x="1315452" y="273341"/>
                </a:lnTo>
                <a:lnTo>
                  <a:pt x="1331494" y="276674"/>
                </a:lnTo>
                <a:lnTo>
                  <a:pt x="1347536" y="280008"/>
                </a:lnTo>
                <a:lnTo>
                  <a:pt x="1363578" y="283341"/>
                </a:lnTo>
                <a:lnTo>
                  <a:pt x="1379621" y="286675"/>
                </a:lnTo>
                <a:lnTo>
                  <a:pt x="1395663" y="290008"/>
                </a:lnTo>
                <a:lnTo>
                  <a:pt x="1411705" y="293341"/>
                </a:lnTo>
                <a:lnTo>
                  <a:pt x="1427747" y="296675"/>
                </a:lnTo>
                <a:lnTo>
                  <a:pt x="1443789" y="300008"/>
                </a:lnTo>
                <a:lnTo>
                  <a:pt x="1459831" y="303342"/>
                </a:lnTo>
                <a:lnTo>
                  <a:pt x="1475873" y="306675"/>
                </a:lnTo>
                <a:lnTo>
                  <a:pt x="1491915" y="310009"/>
                </a:lnTo>
                <a:lnTo>
                  <a:pt x="1507957" y="313342"/>
                </a:lnTo>
                <a:lnTo>
                  <a:pt x="1524000" y="316675"/>
                </a:lnTo>
                <a:lnTo>
                  <a:pt x="1540042" y="320009"/>
                </a:lnTo>
                <a:lnTo>
                  <a:pt x="1556084" y="323342"/>
                </a:lnTo>
                <a:lnTo>
                  <a:pt x="1572126" y="326676"/>
                </a:lnTo>
                <a:lnTo>
                  <a:pt x="1588168" y="330009"/>
                </a:lnTo>
                <a:lnTo>
                  <a:pt x="1604210" y="333342"/>
                </a:lnTo>
                <a:lnTo>
                  <a:pt x="1620252" y="336676"/>
                </a:lnTo>
                <a:lnTo>
                  <a:pt x="1636294" y="340009"/>
                </a:lnTo>
                <a:lnTo>
                  <a:pt x="1652336" y="343343"/>
                </a:lnTo>
                <a:lnTo>
                  <a:pt x="1668378" y="346676"/>
                </a:lnTo>
                <a:lnTo>
                  <a:pt x="1684421" y="350010"/>
                </a:lnTo>
                <a:lnTo>
                  <a:pt x="1700463" y="353343"/>
                </a:lnTo>
                <a:lnTo>
                  <a:pt x="1716505" y="356676"/>
                </a:lnTo>
                <a:lnTo>
                  <a:pt x="1732547" y="360010"/>
                </a:lnTo>
                <a:lnTo>
                  <a:pt x="1748589" y="363343"/>
                </a:lnTo>
                <a:lnTo>
                  <a:pt x="1764631" y="366677"/>
                </a:lnTo>
                <a:lnTo>
                  <a:pt x="1780673" y="370010"/>
                </a:lnTo>
                <a:lnTo>
                  <a:pt x="1796715" y="373344"/>
                </a:lnTo>
                <a:lnTo>
                  <a:pt x="1812757" y="376677"/>
                </a:lnTo>
                <a:lnTo>
                  <a:pt x="1828800" y="380010"/>
                </a:lnTo>
                <a:lnTo>
                  <a:pt x="1844842" y="383344"/>
                </a:lnTo>
                <a:lnTo>
                  <a:pt x="1860884" y="386677"/>
                </a:lnTo>
                <a:lnTo>
                  <a:pt x="1876926" y="390011"/>
                </a:lnTo>
                <a:lnTo>
                  <a:pt x="1892968" y="393344"/>
                </a:lnTo>
                <a:lnTo>
                  <a:pt x="1909010" y="396678"/>
                </a:lnTo>
                <a:lnTo>
                  <a:pt x="1925052" y="400011"/>
                </a:lnTo>
                <a:lnTo>
                  <a:pt x="1941094" y="403344"/>
                </a:lnTo>
                <a:lnTo>
                  <a:pt x="1957136" y="406678"/>
                </a:lnTo>
                <a:lnTo>
                  <a:pt x="1973178" y="410011"/>
                </a:lnTo>
                <a:lnTo>
                  <a:pt x="1989221" y="413345"/>
                </a:lnTo>
                <a:lnTo>
                  <a:pt x="2005263" y="416678"/>
                </a:lnTo>
                <a:lnTo>
                  <a:pt x="2021305" y="420012"/>
                </a:lnTo>
                <a:lnTo>
                  <a:pt x="2037347" y="423345"/>
                </a:lnTo>
                <a:lnTo>
                  <a:pt x="2053389" y="426678"/>
                </a:lnTo>
                <a:lnTo>
                  <a:pt x="2069431" y="430012"/>
                </a:lnTo>
                <a:lnTo>
                  <a:pt x="2085473" y="433345"/>
                </a:lnTo>
                <a:lnTo>
                  <a:pt x="2101515" y="436679"/>
                </a:lnTo>
                <a:lnTo>
                  <a:pt x="2117557" y="440012"/>
                </a:lnTo>
                <a:lnTo>
                  <a:pt x="2133599" y="443346"/>
                </a:lnTo>
                <a:lnTo>
                  <a:pt x="2149642" y="446679"/>
                </a:lnTo>
                <a:lnTo>
                  <a:pt x="2165684" y="450012"/>
                </a:lnTo>
                <a:lnTo>
                  <a:pt x="2181726" y="453346"/>
                </a:lnTo>
                <a:lnTo>
                  <a:pt x="2197768" y="456679"/>
                </a:lnTo>
                <a:lnTo>
                  <a:pt x="2213810" y="460013"/>
                </a:lnTo>
                <a:lnTo>
                  <a:pt x="2229852" y="463346"/>
                </a:lnTo>
                <a:lnTo>
                  <a:pt x="2245894" y="466679"/>
                </a:lnTo>
                <a:lnTo>
                  <a:pt x="2261936" y="470013"/>
                </a:lnTo>
                <a:lnTo>
                  <a:pt x="2277978" y="473346"/>
                </a:lnTo>
                <a:lnTo>
                  <a:pt x="2294021" y="476680"/>
                </a:lnTo>
                <a:lnTo>
                  <a:pt x="2310063" y="480013"/>
                </a:lnTo>
                <a:lnTo>
                  <a:pt x="2326105" y="483347"/>
                </a:lnTo>
                <a:lnTo>
                  <a:pt x="2342147" y="486680"/>
                </a:lnTo>
                <a:lnTo>
                  <a:pt x="2358189" y="490013"/>
                </a:lnTo>
                <a:lnTo>
                  <a:pt x="2374231" y="493347"/>
                </a:lnTo>
                <a:lnTo>
                  <a:pt x="2390273" y="496680"/>
                </a:lnTo>
                <a:lnTo>
                  <a:pt x="2406315" y="500014"/>
                </a:lnTo>
                <a:lnTo>
                  <a:pt x="2422357" y="503347"/>
                </a:lnTo>
                <a:lnTo>
                  <a:pt x="2438400" y="506681"/>
                </a:lnTo>
                <a:lnTo>
                  <a:pt x="2454442" y="510014"/>
                </a:lnTo>
                <a:lnTo>
                  <a:pt x="2470484" y="513347"/>
                </a:lnTo>
                <a:lnTo>
                  <a:pt x="2486526" y="516681"/>
                </a:lnTo>
                <a:lnTo>
                  <a:pt x="2502568" y="520014"/>
                </a:lnTo>
                <a:lnTo>
                  <a:pt x="2518610" y="523348"/>
                </a:lnTo>
                <a:lnTo>
                  <a:pt x="2534652" y="526681"/>
                </a:lnTo>
                <a:lnTo>
                  <a:pt x="2550694" y="530015"/>
                </a:lnTo>
                <a:lnTo>
                  <a:pt x="2566736" y="533348"/>
                </a:lnTo>
                <a:lnTo>
                  <a:pt x="2582778" y="536681"/>
                </a:lnTo>
                <a:lnTo>
                  <a:pt x="2598821" y="540015"/>
                </a:lnTo>
                <a:lnTo>
                  <a:pt x="2614863" y="543348"/>
                </a:lnTo>
                <a:lnTo>
                  <a:pt x="2630905" y="546682"/>
                </a:lnTo>
                <a:lnTo>
                  <a:pt x="2646947" y="550015"/>
                </a:lnTo>
                <a:lnTo>
                  <a:pt x="2662989" y="553349"/>
                </a:lnTo>
                <a:lnTo>
                  <a:pt x="2679031" y="556682"/>
                </a:lnTo>
                <a:lnTo>
                  <a:pt x="2695073" y="560015"/>
                </a:lnTo>
                <a:lnTo>
                  <a:pt x="2711115" y="563349"/>
                </a:lnTo>
                <a:lnTo>
                  <a:pt x="2727157" y="566682"/>
                </a:lnTo>
                <a:lnTo>
                  <a:pt x="2743200" y="570016"/>
                </a:lnTo>
                <a:lnTo>
                  <a:pt x="2759242" y="573349"/>
                </a:lnTo>
                <a:lnTo>
                  <a:pt x="2775284" y="576682"/>
                </a:lnTo>
                <a:lnTo>
                  <a:pt x="2791326" y="580016"/>
                </a:lnTo>
                <a:lnTo>
                  <a:pt x="2807368" y="583349"/>
                </a:lnTo>
                <a:lnTo>
                  <a:pt x="2823410" y="586683"/>
                </a:lnTo>
                <a:lnTo>
                  <a:pt x="2839452" y="590016"/>
                </a:lnTo>
                <a:lnTo>
                  <a:pt x="2855494" y="593350"/>
                </a:lnTo>
                <a:lnTo>
                  <a:pt x="2871536" y="596683"/>
                </a:lnTo>
                <a:lnTo>
                  <a:pt x="2887578" y="600016"/>
                </a:lnTo>
                <a:lnTo>
                  <a:pt x="2903621" y="603350"/>
                </a:lnTo>
                <a:lnTo>
                  <a:pt x="2919663" y="606683"/>
                </a:lnTo>
                <a:lnTo>
                  <a:pt x="2935705" y="610017"/>
                </a:lnTo>
                <a:lnTo>
                  <a:pt x="2951747" y="613350"/>
                </a:lnTo>
                <a:lnTo>
                  <a:pt x="2967789" y="616684"/>
                </a:lnTo>
                <a:lnTo>
                  <a:pt x="2983831" y="620017"/>
                </a:lnTo>
                <a:lnTo>
                  <a:pt x="2999873" y="623350"/>
                </a:lnTo>
                <a:lnTo>
                  <a:pt x="3015915" y="626684"/>
                </a:lnTo>
                <a:lnTo>
                  <a:pt x="3031957" y="630017"/>
                </a:lnTo>
                <a:lnTo>
                  <a:pt x="3047999" y="633351"/>
                </a:lnTo>
                <a:lnTo>
                  <a:pt x="3064042" y="636684"/>
                </a:lnTo>
                <a:lnTo>
                  <a:pt x="3080084" y="640018"/>
                </a:lnTo>
                <a:lnTo>
                  <a:pt x="3096126" y="643351"/>
                </a:lnTo>
                <a:lnTo>
                  <a:pt x="3112168" y="646684"/>
                </a:lnTo>
                <a:lnTo>
                  <a:pt x="3128210" y="650018"/>
                </a:lnTo>
                <a:lnTo>
                  <a:pt x="3144252" y="653351"/>
                </a:lnTo>
                <a:lnTo>
                  <a:pt x="3160294" y="656685"/>
                </a:lnTo>
                <a:lnTo>
                  <a:pt x="3176336" y="660018"/>
                </a:lnTo>
                <a:lnTo>
                  <a:pt x="3192378" y="663352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08 polygon 15" descr="sci-ppt:o015"/>
          <p:cNvSpPr/>
          <p:nvPr/>
        </p:nvSpPr>
        <p:spPr>
          <a:xfrm>
            <a:off x="4122821" y="3368321"/>
            <a:ext cx="3192379" cy="663351"/>
          </a:xfrm>
          <a:custGeom>
            <a:avLst/>
            <a:gdLst/>
            <a:ahLst/>
            <a:cxnLst/>
            <a:rect l="l" t="t" r="r" b="b"/>
            <a:pathLst>
              <a:path w="3192379" h="663351">
                <a:moveTo>
                  <a:pt x="0" y="0"/>
                </a:moveTo>
                <a:lnTo>
                  <a:pt x="16042" y="3333"/>
                </a:lnTo>
                <a:lnTo>
                  <a:pt x="32084" y="6667"/>
                </a:lnTo>
                <a:lnTo>
                  <a:pt x="48126" y="10000"/>
                </a:lnTo>
                <a:lnTo>
                  <a:pt x="64168" y="13333"/>
                </a:lnTo>
                <a:lnTo>
                  <a:pt x="80210" y="16667"/>
                </a:lnTo>
                <a:lnTo>
                  <a:pt x="96252" y="20000"/>
                </a:lnTo>
                <a:lnTo>
                  <a:pt x="112294" y="23334"/>
                </a:lnTo>
                <a:lnTo>
                  <a:pt x="128336" y="26667"/>
                </a:lnTo>
                <a:lnTo>
                  <a:pt x="144378" y="30001"/>
                </a:lnTo>
                <a:lnTo>
                  <a:pt x="160421" y="33334"/>
                </a:lnTo>
                <a:lnTo>
                  <a:pt x="176463" y="36667"/>
                </a:lnTo>
                <a:lnTo>
                  <a:pt x="192505" y="40001"/>
                </a:lnTo>
                <a:lnTo>
                  <a:pt x="208547" y="43334"/>
                </a:lnTo>
                <a:lnTo>
                  <a:pt x="224589" y="46668"/>
                </a:lnTo>
                <a:lnTo>
                  <a:pt x="240631" y="50001"/>
                </a:lnTo>
                <a:lnTo>
                  <a:pt x="256673" y="53335"/>
                </a:lnTo>
                <a:lnTo>
                  <a:pt x="272715" y="56668"/>
                </a:lnTo>
                <a:lnTo>
                  <a:pt x="288757" y="60001"/>
                </a:lnTo>
                <a:lnTo>
                  <a:pt x="304800" y="63335"/>
                </a:lnTo>
                <a:lnTo>
                  <a:pt x="320842" y="66668"/>
                </a:lnTo>
                <a:lnTo>
                  <a:pt x="336884" y="70002"/>
                </a:lnTo>
                <a:lnTo>
                  <a:pt x="352926" y="73335"/>
                </a:lnTo>
                <a:lnTo>
                  <a:pt x="368968" y="76669"/>
                </a:lnTo>
                <a:lnTo>
                  <a:pt x="385010" y="80002"/>
                </a:lnTo>
                <a:lnTo>
                  <a:pt x="401052" y="83335"/>
                </a:lnTo>
                <a:lnTo>
                  <a:pt x="417094" y="86669"/>
                </a:lnTo>
                <a:lnTo>
                  <a:pt x="433136" y="90002"/>
                </a:lnTo>
                <a:lnTo>
                  <a:pt x="449179" y="93336"/>
                </a:lnTo>
                <a:lnTo>
                  <a:pt x="465221" y="96669"/>
                </a:lnTo>
                <a:lnTo>
                  <a:pt x="481263" y="100002"/>
                </a:lnTo>
                <a:lnTo>
                  <a:pt x="497305" y="103336"/>
                </a:lnTo>
                <a:lnTo>
                  <a:pt x="513347" y="106669"/>
                </a:lnTo>
                <a:lnTo>
                  <a:pt x="529389" y="110003"/>
                </a:lnTo>
                <a:lnTo>
                  <a:pt x="545431" y="113336"/>
                </a:lnTo>
                <a:lnTo>
                  <a:pt x="561473" y="116670"/>
                </a:lnTo>
                <a:lnTo>
                  <a:pt x="577515" y="120003"/>
                </a:lnTo>
                <a:lnTo>
                  <a:pt x="593557" y="123336"/>
                </a:lnTo>
                <a:lnTo>
                  <a:pt x="609600" y="126670"/>
                </a:lnTo>
                <a:lnTo>
                  <a:pt x="625642" y="130003"/>
                </a:lnTo>
                <a:lnTo>
                  <a:pt x="641684" y="133337"/>
                </a:lnTo>
                <a:lnTo>
                  <a:pt x="657726" y="136670"/>
                </a:lnTo>
                <a:lnTo>
                  <a:pt x="673768" y="140004"/>
                </a:lnTo>
                <a:lnTo>
                  <a:pt x="689810" y="143337"/>
                </a:lnTo>
                <a:lnTo>
                  <a:pt x="705852" y="146670"/>
                </a:lnTo>
                <a:lnTo>
                  <a:pt x="721894" y="150004"/>
                </a:lnTo>
                <a:lnTo>
                  <a:pt x="737936" y="153337"/>
                </a:lnTo>
                <a:lnTo>
                  <a:pt x="753979" y="156671"/>
                </a:lnTo>
                <a:lnTo>
                  <a:pt x="770021" y="160004"/>
                </a:lnTo>
                <a:lnTo>
                  <a:pt x="786063" y="163338"/>
                </a:lnTo>
                <a:lnTo>
                  <a:pt x="802105" y="166671"/>
                </a:lnTo>
                <a:lnTo>
                  <a:pt x="818147" y="170004"/>
                </a:lnTo>
                <a:lnTo>
                  <a:pt x="834189" y="173338"/>
                </a:lnTo>
                <a:lnTo>
                  <a:pt x="850231" y="176671"/>
                </a:lnTo>
                <a:lnTo>
                  <a:pt x="866273" y="180005"/>
                </a:lnTo>
                <a:lnTo>
                  <a:pt x="882315" y="183338"/>
                </a:lnTo>
                <a:lnTo>
                  <a:pt x="898357" y="186672"/>
                </a:lnTo>
                <a:lnTo>
                  <a:pt x="914400" y="190005"/>
                </a:lnTo>
                <a:lnTo>
                  <a:pt x="930442" y="193338"/>
                </a:lnTo>
                <a:lnTo>
                  <a:pt x="946484" y="196672"/>
                </a:lnTo>
                <a:lnTo>
                  <a:pt x="962526" y="200005"/>
                </a:lnTo>
                <a:lnTo>
                  <a:pt x="978568" y="203339"/>
                </a:lnTo>
                <a:lnTo>
                  <a:pt x="994610" y="206672"/>
                </a:lnTo>
                <a:lnTo>
                  <a:pt x="1010652" y="210005"/>
                </a:lnTo>
                <a:lnTo>
                  <a:pt x="1026694" y="213339"/>
                </a:lnTo>
                <a:lnTo>
                  <a:pt x="1042736" y="216672"/>
                </a:lnTo>
                <a:lnTo>
                  <a:pt x="1058778" y="220006"/>
                </a:lnTo>
                <a:lnTo>
                  <a:pt x="1074821" y="223339"/>
                </a:lnTo>
                <a:lnTo>
                  <a:pt x="1090863" y="226673"/>
                </a:lnTo>
                <a:lnTo>
                  <a:pt x="1106905" y="230006"/>
                </a:lnTo>
                <a:lnTo>
                  <a:pt x="1122947" y="233339"/>
                </a:lnTo>
                <a:lnTo>
                  <a:pt x="1138989" y="236673"/>
                </a:lnTo>
                <a:lnTo>
                  <a:pt x="1155031" y="240006"/>
                </a:lnTo>
                <a:lnTo>
                  <a:pt x="1171073" y="243340"/>
                </a:lnTo>
                <a:lnTo>
                  <a:pt x="1187115" y="246673"/>
                </a:lnTo>
                <a:lnTo>
                  <a:pt x="1203157" y="250007"/>
                </a:lnTo>
                <a:lnTo>
                  <a:pt x="1219200" y="253340"/>
                </a:lnTo>
                <a:lnTo>
                  <a:pt x="1235242" y="256673"/>
                </a:lnTo>
                <a:lnTo>
                  <a:pt x="1251284" y="260007"/>
                </a:lnTo>
                <a:lnTo>
                  <a:pt x="1267326" y="263340"/>
                </a:lnTo>
                <a:lnTo>
                  <a:pt x="1283368" y="266674"/>
                </a:lnTo>
                <a:lnTo>
                  <a:pt x="1299410" y="270007"/>
                </a:lnTo>
                <a:lnTo>
                  <a:pt x="1315452" y="273341"/>
                </a:lnTo>
                <a:lnTo>
                  <a:pt x="1331494" y="276674"/>
                </a:lnTo>
                <a:lnTo>
                  <a:pt x="1347536" y="280007"/>
                </a:lnTo>
                <a:lnTo>
                  <a:pt x="1363578" y="283341"/>
                </a:lnTo>
                <a:lnTo>
                  <a:pt x="1379621" y="286674"/>
                </a:lnTo>
                <a:lnTo>
                  <a:pt x="1395663" y="290008"/>
                </a:lnTo>
                <a:lnTo>
                  <a:pt x="1411705" y="293341"/>
                </a:lnTo>
                <a:lnTo>
                  <a:pt x="1427747" y="296675"/>
                </a:lnTo>
                <a:lnTo>
                  <a:pt x="1443789" y="300008"/>
                </a:lnTo>
                <a:lnTo>
                  <a:pt x="1459831" y="303341"/>
                </a:lnTo>
                <a:lnTo>
                  <a:pt x="1475873" y="306675"/>
                </a:lnTo>
                <a:lnTo>
                  <a:pt x="1491915" y="310008"/>
                </a:lnTo>
                <a:lnTo>
                  <a:pt x="1507957" y="313342"/>
                </a:lnTo>
                <a:lnTo>
                  <a:pt x="1524000" y="316675"/>
                </a:lnTo>
                <a:lnTo>
                  <a:pt x="1540042" y="320009"/>
                </a:lnTo>
                <a:lnTo>
                  <a:pt x="1556084" y="323342"/>
                </a:lnTo>
                <a:lnTo>
                  <a:pt x="1572126" y="326675"/>
                </a:lnTo>
                <a:lnTo>
                  <a:pt x="1588168" y="330009"/>
                </a:lnTo>
                <a:lnTo>
                  <a:pt x="1604210" y="333342"/>
                </a:lnTo>
                <a:lnTo>
                  <a:pt x="1620252" y="336676"/>
                </a:lnTo>
                <a:lnTo>
                  <a:pt x="1636294" y="340009"/>
                </a:lnTo>
                <a:lnTo>
                  <a:pt x="1652336" y="343342"/>
                </a:lnTo>
                <a:lnTo>
                  <a:pt x="1668379" y="346676"/>
                </a:lnTo>
                <a:lnTo>
                  <a:pt x="1684421" y="350009"/>
                </a:lnTo>
                <a:lnTo>
                  <a:pt x="1700463" y="353343"/>
                </a:lnTo>
                <a:lnTo>
                  <a:pt x="1716505" y="356676"/>
                </a:lnTo>
                <a:lnTo>
                  <a:pt x="1732547" y="360010"/>
                </a:lnTo>
                <a:lnTo>
                  <a:pt x="1748589" y="363343"/>
                </a:lnTo>
                <a:lnTo>
                  <a:pt x="1764631" y="366676"/>
                </a:lnTo>
                <a:lnTo>
                  <a:pt x="1780673" y="370010"/>
                </a:lnTo>
                <a:lnTo>
                  <a:pt x="1796715" y="373343"/>
                </a:lnTo>
                <a:lnTo>
                  <a:pt x="1812757" y="376677"/>
                </a:lnTo>
                <a:lnTo>
                  <a:pt x="1828800" y="380010"/>
                </a:lnTo>
                <a:lnTo>
                  <a:pt x="1844842" y="383344"/>
                </a:lnTo>
                <a:lnTo>
                  <a:pt x="1860884" y="386677"/>
                </a:lnTo>
                <a:lnTo>
                  <a:pt x="1876926" y="390010"/>
                </a:lnTo>
                <a:lnTo>
                  <a:pt x="1892968" y="393344"/>
                </a:lnTo>
                <a:lnTo>
                  <a:pt x="1909010" y="396677"/>
                </a:lnTo>
                <a:lnTo>
                  <a:pt x="1925052" y="400011"/>
                </a:lnTo>
                <a:lnTo>
                  <a:pt x="1941094" y="403344"/>
                </a:lnTo>
                <a:lnTo>
                  <a:pt x="1957136" y="406678"/>
                </a:lnTo>
                <a:lnTo>
                  <a:pt x="1973179" y="410011"/>
                </a:lnTo>
                <a:lnTo>
                  <a:pt x="1989221" y="413344"/>
                </a:lnTo>
                <a:lnTo>
                  <a:pt x="2005263" y="416678"/>
                </a:lnTo>
                <a:lnTo>
                  <a:pt x="2021305" y="420011"/>
                </a:lnTo>
                <a:lnTo>
                  <a:pt x="2037347" y="423345"/>
                </a:lnTo>
                <a:lnTo>
                  <a:pt x="2053389" y="426678"/>
                </a:lnTo>
                <a:lnTo>
                  <a:pt x="2069431" y="430012"/>
                </a:lnTo>
                <a:lnTo>
                  <a:pt x="2085473" y="433345"/>
                </a:lnTo>
                <a:lnTo>
                  <a:pt x="2101515" y="436678"/>
                </a:lnTo>
                <a:lnTo>
                  <a:pt x="2117557" y="440012"/>
                </a:lnTo>
                <a:lnTo>
                  <a:pt x="2133600" y="443345"/>
                </a:lnTo>
                <a:lnTo>
                  <a:pt x="2149642" y="446679"/>
                </a:lnTo>
                <a:lnTo>
                  <a:pt x="2165684" y="450012"/>
                </a:lnTo>
                <a:lnTo>
                  <a:pt x="2181726" y="453345"/>
                </a:lnTo>
                <a:lnTo>
                  <a:pt x="2197768" y="456679"/>
                </a:lnTo>
                <a:lnTo>
                  <a:pt x="2213810" y="460012"/>
                </a:lnTo>
                <a:lnTo>
                  <a:pt x="2229852" y="463346"/>
                </a:lnTo>
                <a:lnTo>
                  <a:pt x="2245894" y="466679"/>
                </a:lnTo>
                <a:lnTo>
                  <a:pt x="2261936" y="470013"/>
                </a:lnTo>
                <a:lnTo>
                  <a:pt x="2277979" y="473346"/>
                </a:lnTo>
                <a:lnTo>
                  <a:pt x="2294021" y="476679"/>
                </a:lnTo>
                <a:lnTo>
                  <a:pt x="2310063" y="480013"/>
                </a:lnTo>
                <a:lnTo>
                  <a:pt x="2326105" y="483346"/>
                </a:lnTo>
                <a:lnTo>
                  <a:pt x="2342147" y="486680"/>
                </a:lnTo>
                <a:lnTo>
                  <a:pt x="2358189" y="490013"/>
                </a:lnTo>
                <a:lnTo>
                  <a:pt x="2374231" y="493347"/>
                </a:lnTo>
                <a:lnTo>
                  <a:pt x="2390273" y="496680"/>
                </a:lnTo>
                <a:lnTo>
                  <a:pt x="2406315" y="500013"/>
                </a:lnTo>
                <a:lnTo>
                  <a:pt x="2422357" y="503347"/>
                </a:lnTo>
                <a:lnTo>
                  <a:pt x="2438400" y="506680"/>
                </a:lnTo>
                <a:lnTo>
                  <a:pt x="2454442" y="510014"/>
                </a:lnTo>
                <a:lnTo>
                  <a:pt x="2470484" y="513347"/>
                </a:lnTo>
                <a:lnTo>
                  <a:pt x="2486526" y="516681"/>
                </a:lnTo>
                <a:lnTo>
                  <a:pt x="2502568" y="520014"/>
                </a:lnTo>
                <a:lnTo>
                  <a:pt x="2518610" y="523347"/>
                </a:lnTo>
                <a:lnTo>
                  <a:pt x="2534652" y="526681"/>
                </a:lnTo>
                <a:lnTo>
                  <a:pt x="2550694" y="530014"/>
                </a:lnTo>
                <a:lnTo>
                  <a:pt x="2566736" y="533348"/>
                </a:lnTo>
                <a:lnTo>
                  <a:pt x="2582778" y="536681"/>
                </a:lnTo>
                <a:lnTo>
                  <a:pt x="2598821" y="540015"/>
                </a:lnTo>
                <a:lnTo>
                  <a:pt x="2614863" y="543348"/>
                </a:lnTo>
                <a:lnTo>
                  <a:pt x="2630905" y="546681"/>
                </a:lnTo>
                <a:lnTo>
                  <a:pt x="2646947" y="550015"/>
                </a:lnTo>
                <a:lnTo>
                  <a:pt x="2662989" y="553348"/>
                </a:lnTo>
                <a:lnTo>
                  <a:pt x="2679031" y="556682"/>
                </a:lnTo>
                <a:lnTo>
                  <a:pt x="2695073" y="560015"/>
                </a:lnTo>
                <a:lnTo>
                  <a:pt x="2711115" y="563348"/>
                </a:lnTo>
                <a:lnTo>
                  <a:pt x="2727157" y="566682"/>
                </a:lnTo>
                <a:lnTo>
                  <a:pt x="2743200" y="570015"/>
                </a:lnTo>
                <a:lnTo>
                  <a:pt x="2759242" y="573349"/>
                </a:lnTo>
                <a:lnTo>
                  <a:pt x="2775284" y="576682"/>
                </a:lnTo>
                <a:lnTo>
                  <a:pt x="2791326" y="580016"/>
                </a:lnTo>
                <a:lnTo>
                  <a:pt x="2807368" y="583349"/>
                </a:lnTo>
                <a:lnTo>
                  <a:pt x="2823410" y="586682"/>
                </a:lnTo>
                <a:lnTo>
                  <a:pt x="2839452" y="590016"/>
                </a:lnTo>
                <a:lnTo>
                  <a:pt x="2855494" y="593349"/>
                </a:lnTo>
                <a:lnTo>
                  <a:pt x="2871536" y="596683"/>
                </a:lnTo>
                <a:lnTo>
                  <a:pt x="2887578" y="600016"/>
                </a:lnTo>
                <a:lnTo>
                  <a:pt x="2903621" y="603350"/>
                </a:lnTo>
                <a:lnTo>
                  <a:pt x="2919663" y="606683"/>
                </a:lnTo>
                <a:lnTo>
                  <a:pt x="2935705" y="610016"/>
                </a:lnTo>
                <a:lnTo>
                  <a:pt x="2951747" y="613350"/>
                </a:lnTo>
                <a:lnTo>
                  <a:pt x="2967789" y="616683"/>
                </a:lnTo>
                <a:lnTo>
                  <a:pt x="2983831" y="620017"/>
                </a:lnTo>
                <a:lnTo>
                  <a:pt x="2999873" y="623350"/>
                </a:lnTo>
                <a:lnTo>
                  <a:pt x="3015915" y="626684"/>
                </a:lnTo>
                <a:lnTo>
                  <a:pt x="3031957" y="630017"/>
                </a:lnTo>
                <a:lnTo>
                  <a:pt x="3048000" y="633350"/>
                </a:lnTo>
                <a:lnTo>
                  <a:pt x="3064042" y="636684"/>
                </a:lnTo>
                <a:lnTo>
                  <a:pt x="3080084" y="640017"/>
                </a:lnTo>
                <a:lnTo>
                  <a:pt x="3096126" y="643351"/>
                </a:lnTo>
                <a:lnTo>
                  <a:pt x="3112168" y="646684"/>
                </a:lnTo>
                <a:lnTo>
                  <a:pt x="3128210" y="650018"/>
                </a:lnTo>
                <a:lnTo>
                  <a:pt x="3144252" y="653351"/>
                </a:lnTo>
                <a:lnTo>
                  <a:pt x="3160294" y="656684"/>
                </a:lnTo>
                <a:lnTo>
                  <a:pt x="3176336" y="660018"/>
                </a:lnTo>
                <a:lnTo>
                  <a:pt x="3192379" y="66335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" name="C2-E08 line 16" descr="sci-ppt:o016"/>
          <p:cNvCxnSpPr/>
          <p:nvPr/>
        </p:nvCxnSpPr>
        <p:spPr>
          <a:xfrm>
            <a:off x="4114800" y="2201206"/>
            <a:ext cx="0" cy="1167115"/>
          </a:xfrm>
          <a:prstGeom prst="line">
            <a:avLst/>
          </a:prstGeom>
          <a:ln w="31750">
            <a:solidFill>
              <a:srgbClr val="F28BA0"/>
            </a:solidFill>
          </a:ln>
          <a:effectLst/>
        </p:spPr>
      </p:cxnSp>
      <p:cxnSp>
        <p:nvCxnSpPr>
          <p:cNvPr id="19" name="C2-E08 line 17" descr="sci-ppt:o017"/>
          <p:cNvCxnSpPr/>
          <p:nvPr/>
        </p:nvCxnSpPr>
        <p:spPr>
          <a:xfrm>
            <a:off x="4114800" y="1371600"/>
            <a:ext cx="0" cy="365760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20" name="C2-E08 text 18" descr="sci-ppt:o018"/>
          <p:cNvSpPr txBox="1"/>
          <p:nvPr/>
        </p:nvSpPr>
        <p:spPr>
          <a:xfrm>
            <a:off x="1307592" y="1492134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material A</a:t>
            </a:r>
          </a:p>
        </p:txBody>
      </p:sp>
      <p:sp>
        <p:nvSpPr>
          <p:cNvPr id="21" name="C2-E08 text 19" descr="sci-ppt:o019"/>
          <p:cNvSpPr txBox="1"/>
          <p:nvPr/>
        </p:nvSpPr>
        <p:spPr>
          <a:xfrm>
            <a:off x="5948172" y="1492134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material B</a:t>
            </a:r>
          </a:p>
        </p:txBody>
      </p:sp>
      <p:sp>
        <p:nvSpPr>
          <p:cNvPr id="22" name="C2-E08 text 20" descr="sci-ppt:o020"/>
          <p:cNvSpPr txBox="1"/>
          <p:nvPr/>
        </p:nvSpPr>
        <p:spPr>
          <a:xfrm>
            <a:off x="4384548" y="2535381"/>
            <a:ext cx="25603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8BA0"/>
                </a:solidFill>
                <a:latin typeface="Arial"/>
              </a:rPr>
              <a:t>T_A − T_B = R_T qₙ</a:t>
            </a:r>
          </a:p>
        </p:txBody>
      </p:sp>
      <p:cxnSp>
        <p:nvCxnSpPr>
          <p:cNvPr id="23" name="C2-E08 arrow 21" descr="sci-ppt:o021"/>
          <p:cNvCxnSpPr/>
          <p:nvPr/>
        </p:nvCxnSpPr>
        <p:spPr>
          <a:xfrm>
            <a:off x="1554479" y="4630189"/>
            <a:ext cx="1920241" cy="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24" name="C2-E08 arrow 22" descr="sci-ppt:o022"/>
          <p:cNvCxnSpPr/>
          <p:nvPr/>
        </p:nvCxnSpPr>
        <p:spPr>
          <a:xfrm>
            <a:off x="4754880" y="4630189"/>
            <a:ext cx="1920240" cy="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25" name="C2-E08 text 23" descr="sci-ppt:o023"/>
          <p:cNvSpPr txBox="1"/>
          <p:nvPr/>
        </p:nvSpPr>
        <p:spPr>
          <a:xfrm>
            <a:off x="2514600" y="4272741"/>
            <a:ext cx="7315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8BA0"/>
                </a:solidFill>
                <a:latin typeface="Arial"/>
              </a:rPr>
              <a:t>qₙ</a:t>
            </a:r>
          </a:p>
        </p:txBody>
      </p:sp>
      <p:sp>
        <p:nvSpPr>
          <p:cNvPr id="26" name="C2-E08 text 24" descr="sci-ppt:o024"/>
          <p:cNvSpPr txBox="1"/>
          <p:nvPr/>
        </p:nvSpPr>
        <p:spPr>
          <a:xfrm>
            <a:off x="5554980" y="4272741"/>
            <a:ext cx="1280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qₙ (same)</a:t>
            </a:r>
          </a:p>
        </p:txBody>
      </p:sp>
      <p:sp>
        <p:nvSpPr>
          <p:cNvPr id="27" name="C2-E08 round_rect 25" descr="sci-ppt:o025"/>
          <p:cNvSpPr/>
          <p:nvPr/>
        </p:nvSpPr>
        <p:spPr>
          <a:xfrm>
            <a:off x="7589520" y="1371600"/>
            <a:ext cx="42519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08 text 26" descr="sci-ppt:o026"/>
          <p:cNvSpPr txBox="1"/>
          <p:nvPr/>
        </p:nvSpPr>
        <p:spPr>
          <a:xfrm>
            <a:off x="7699248" y="1426464"/>
            <a:ext cx="4032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Resistance at the contact</a:t>
            </a:r>
          </a:p>
        </p:txBody>
      </p:sp>
      <p:sp>
        <p:nvSpPr>
          <p:cNvPr id="29" name="C2-E08 text 27" descr="sci-ppt:o027"/>
          <p:cNvSpPr txBox="1"/>
          <p:nvPr/>
        </p:nvSpPr>
        <p:spPr>
          <a:xfrm>
            <a:off x="7726679" y="1828800"/>
            <a:ext cx="402336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Flux continuity: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q_A·n = q_B·n = qₙ</a:t>
            </a:r>
          </a:p>
        </p:txBody>
      </p:sp>
      <p:sp>
        <p:nvSpPr>
          <p:cNvPr id="30" name="C2-E08 text 28" descr="sci-ppt:o028"/>
          <p:cNvSpPr txBox="1"/>
          <p:nvPr/>
        </p:nvSpPr>
        <p:spPr>
          <a:xfrm>
            <a:off x="7726679" y="2606040"/>
            <a:ext cx="402336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Temperature jump: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T_A − T_B = R_T qₙ</a:t>
            </a:r>
          </a:p>
        </p:txBody>
      </p:sp>
      <p:sp>
        <p:nvSpPr>
          <p:cNvPr id="31" name="C2-E08 text 29" descr="sci-ppt:o029"/>
          <p:cNvSpPr txBox="1"/>
          <p:nvPr/>
        </p:nvSpPr>
        <p:spPr>
          <a:xfrm>
            <a:off x="7726679" y="3383280"/>
            <a:ext cx="40233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R_T (m²K/W) is a property of the interface.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same heat flows, but a temperature step builds up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and delays heating of side B.</a:t>
            </a:r>
          </a:p>
        </p:txBody>
      </p:sp>
      <p:sp>
        <p:nvSpPr>
          <p:cNvPr id="32" name="C2-E08 text 30" descr="sci-ppt:o03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Light is absorbed in A, yet B warms only after heat crosses the contact: absorbed energy is not delivered energy.</a:t>
            </a:r>
          </a:p>
        </p:txBody>
      </p:sp>
      <p:sp>
        <p:nvSpPr>
          <p:cNvPr id="33" name="C2-E08 text 31" descr="sci-ppt:o03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Contact conditions of Eq. C2-E08; profile is schematic.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C2-E09 · Diffusive scaling derived from the heat equation</a:t>
            </a:r>
          </a:p>
        </p:txBody>
      </p:sp>
      <p:cxnSp>
        <p:nvCxnSpPr>
          <p:cNvPr id="3" name="C2-E09 line 1" descr="sci-ppt:o001"/>
          <p:cNvCxnSpPr/>
          <p:nvPr/>
        </p:nvCxnSpPr>
        <p:spPr>
          <a:xfrm>
            <a:off x="914400" y="502920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9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9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9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9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1e-09</a:t>
            </a:r>
          </a:p>
        </p:txBody>
      </p:sp>
      <p:cxnSp>
        <p:nvCxnSpPr>
          <p:cNvPr id="8" name="C2-E09 line 6" descr="sci-ppt:o006"/>
          <p:cNvCxnSpPr/>
          <p:nvPr/>
        </p:nvCxnSpPr>
        <p:spPr>
          <a:xfrm>
            <a:off x="26212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9 line 7" descr="sci-ppt:o007"/>
          <p:cNvCxnSpPr/>
          <p:nvPr/>
        </p:nvCxnSpPr>
        <p:spPr>
          <a:xfrm>
            <a:off x="26212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9 text 8" descr="sci-ppt:o008"/>
          <p:cNvSpPr txBox="1"/>
          <p:nvPr/>
        </p:nvSpPr>
        <p:spPr>
          <a:xfrm>
            <a:off x="21640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1e-07</a:t>
            </a:r>
          </a:p>
        </p:txBody>
      </p:sp>
      <p:cxnSp>
        <p:nvCxnSpPr>
          <p:cNvPr id="11" name="C2-E09 line 9" descr="sci-ppt:o009"/>
          <p:cNvCxnSpPr/>
          <p:nvPr/>
        </p:nvCxnSpPr>
        <p:spPr>
          <a:xfrm>
            <a:off x="43281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9 line 10" descr="sci-ppt:o010"/>
          <p:cNvCxnSpPr/>
          <p:nvPr/>
        </p:nvCxnSpPr>
        <p:spPr>
          <a:xfrm>
            <a:off x="43281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9 text 11" descr="sci-ppt:o011"/>
          <p:cNvSpPr txBox="1"/>
          <p:nvPr/>
        </p:nvSpPr>
        <p:spPr>
          <a:xfrm>
            <a:off x="38709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cxnSp>
        <p:nvCxnSpPr>
          <p:cNvPr id="14" name="C2-E09 line 12" descr="sci-ppt:o012"/>
          <p:cNvCxnSpPr/>
          <p:nvPr/>
        </p:nvCxnSpPr>
        <p:spPr>
          <a:xfrm>
            <a:off x="60350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09 line 13" descr="sci-ppt:o013"/>
          <p:cNvCxnSpPr/>
          <p:nvPr/>
        </p:nvCxnSpPr>
        <p:spPr>
          <a:xfrm>
            <a:off x="60350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09 text 14" descr="sci-ppt:o014"/>
          <p:cNvSpPr txBox="1"/>
          <p:nvPr/>
        </p:nvSpPr>
        <p:spPr>
          <a:xfrm>
            <a:off x="55778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1e-03</a:t>
            </a:r>
          </a:p>
        </p:txBody>
      </p:sp>
      <p:cxnSp>
        <p:nvCxnSpPr>
          <p:cNvPr id="17" name="C2-E09 line 15" descr="sci-ppt:o015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09 line 16" descr="sci-ppt:o016"/>
          <p:cNvCxnSpPr/>
          <p:nvPr/>
        </p:nvCxnSpPr>
        <p:spPr>
          <a:xfrm>
            <a:off x="850392" y="4114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2-E09 line 17" descr="sci-ppt:o017"/>
          <p:cNvCxnSpPr/>
          <p:nvPr/>
        </p:nvCxnSpPr>
        <p:spPr>
          <a:xfrm>
            <a:off x="914400" y="411480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2-E09 text 18" descr="sci-ppt:o018"/>
          <p:cNvSpPr txBox="1"/>
          <p:nvPr/>
        </p:nvSpPr>
        <p:spPr>
          <a:xfrm>
            <a:off x="45720" y="4032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1e-08</a:t>
            </a:r>
          </a:p>
        </p:txBody>
      </p:sp>
      <p:cxnSp>
        <p:nvCxnSpPr>
          <p:cNvPr id="21" name="C2-E09 line 19" descr="sci-ppt:o019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09 line 20" descr="sci-ppt:o020"/>
          <p:cNvCxnSpPr/>
          <p:nvPr/>
        </p:nvCxnSpPr>
        <p:spPr>
          <a:xfrm>
            <a:off x="914400" y="320040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09 text 21" descr="sci-ppt:o021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1e-07</a:t>
            </a:r>
          </a:p>
        </p:txBody>
      </p:sp>
      <p:cxnSp>
        <p:nvCxnSpPr>
          <p:cNvPr id="24" name="C2-E09 line 22" descr="sci-ppt:o022"/>
          <p:cNvCxnSpPr/>
          <p:nvPr/>
        </p:nvCxnSpPr>
        <p:spPr>
          <a:xfrm>
            <a:off x="850392" y="2286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09 line 23" descr="sci-ppt:o023"/>
          <p:cNvCxnSpPr/>
          <p:nvPr/>
        </p:nvCxnSpPr>
        <p:spPr>
          <a:xfrm>
            <a:off x="914400" y="228600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09 text 24" descr="sci-ppt:o024"/>
          <p:cNvSpPr txBox="1"/>
          <p:nvPr/>
        </p:nvSpPr>
        <p:spPr>
          <a:xfrm>
            <a:off x="45720" y="2203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1e-06</a:t>
            </a:r>
          </a:p>
        </p:txBody>
      </p:sp>
      <p:cxnSp>
        <p:nvCxnSpPr>
          <p:cNvPr id="27" name="C2-E09 line 25" descr="sci-ppt:o025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09 line 26" descr="sci-ppt:o026"/>
          <p:cNvCxnSpPr/>
          <p:nvPr/>
        </p:nvCxnSpPr>
        <p:spPr>
          <a:xfrm>
            <a:off x="914400" y="137160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09 text 27" descr="sci-ppt:o027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sp>
        <p:nvSpPr>
          <p:cNvPr id="30" name="C2-E09 text 28" descr="sci-ppt:o028"/>
          <p:cNvSpPr txBox="1"/>
          <p:nvPr/>
        </p:nvSpPr>
        <p:spPr>
          <a:xfrm>
            <a:off x="914400" y="531266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heating time τₕ  (s)</a:t>
            </a:r>
          </a:p>
        </p:txBody>
      </p:sp>
      <p:sp>
        <p:nvSpPr>
          <p:cNvPr id="31" name="C2-E09 text 29" descr="sci-ppt:o029"/>
          <p:cNvSpPr txBox="1"/>
          <p:nvPr/>
        </p:nvSpPr>
        <p:spPr>
          <a:xfrm>
            <a:off x="36576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penetration δ_T  (m)</a:t>
            </a:r>
          </a:p>
        </p:txBody>
      </p:sp>
      <p:sp>
        <p:nvSpPr>
          <p:cNvPr id="32" name="C2-E09 polygon 30" descr="sci-ppt:o030"/>
          <p:cNvSpPr/>
          <p:nvPr/>
        </p:nvSpPr>
        <p:spPr>
          <a:xfrm>
            <a:off x="914400" y="1521925"/>
            <a:ext cx="5120640" cy="2743200"/>
          </a:xfrm>
          <a:custGeom>
            <a:avLst/>
            <a:gdLst/>
            <a:ahLst/>
            <a:cxnLst/>
            <a:rect l="l" t="t" r="r" b="b"/>
            <a:pathLst>
              <a:path w="5120640" h="2743200">
                <a:moveTo>
                  <a:pt x="0" y="2743200"/>
                </a:moveTo>
                <a:lnTo>
                  <a:pt x="51723" y="2715491"/>
                </a:lnTo>
                <a:lnTo>
                  <a:pt x="103447" y="2687782"/>
                </a:lnTo>
                <a:lnTo>
                  <a:pt x="155170" y="2660072"/>
                </a:lnTo>
                <a:lnTo>
                  <a:pt x="206894" y="2632363"/>
                </a:lnTo>
                <a:lnTo>
                  <a:pt x="258618" y="2604654"/>
                </a:lnTo>
                <a:lnTo>
                  <a:pt x="310341" y="2576945"/>
                </a:lnTo>
                <a:lnTo>
                  <a:pt x="362065" y="2549236"/>
                </a:lnTo>
                <a:lnTo>
                  <a:pt x="413789" y="2521527"/>
                </a:lnTo>
                <a:lnTo>
                  <a:pt x="465512" y="2493818"/>
                </a:lnTo>
                <a:lnTo>
                  <a:pt x="517236" y="2466109"/>
                </a:lnTo>
                <a:lnTo>
                  <a:pt x="568959" y="2438400"/>
                </a:lnTo>
                <a:lnTo>
                  <a:pt x="620683" y="2410691"/>
                </a:lnTo>
                <a:lnTo>
                  <a:pt x="672407" y="2382982"/>
                </a:lnTo>
                <a:lnTo>
                  <a:pt x="724130" y="2355272"/>
                </a:lnTo>
                <a:lnTo>
                  <a:pt x="775854" y="2327563"/>
                </a:lnTo>
                <a:lnTo>
                  <a:pt x="827578" y="2299854"/>
                </a:lnTo>
                <a:lnTo>
                  <a:pt x="879301" y="2272145"/>
                </a:lnTo>
                <a:lnTo>
                  <a:pt x="931025" y="2244436"/>
                </a:lnTo>
                <a:lnTo>
                  <a:pt x="982749" y="2216727"/>
                </a:lnTo>
                <a:lnTo>
                  <a:pt x="1034472" y="2189018"/>
                </a:lnTo>
                <a:lnTo>
                  <a:pt x="1086196" y="2161309"/>
                </a:lnTo>
                <a:lnTo>
                  <a:pt x="1137920" y="2133600"/>
                </a:lnTo>
                <a:lnTo>
                  <a:pt x="1189643" y="2105891"/>
                </a:lnTo>
                <a:lnTo>
                  <a:pt x="1241367" y="2078182"/>
                </a:lnTo>
                <a:lnTo>
                  <a:pt x="1293090" y="2050472"/>
                </a:lnTo>
                <a:lnTo>
                  <a:pt x="1344814" y="2022763"/>
                </a:lnTo>
                <a:lnTo>
                  <a:pt x="1396538" y="1995054"/>
                </a:lnTo>
                <a:lnTo>
                  <a:pt x="1448261" y="1967345"/>
                </a:lnTo>
                <a:lnTo>
                  <a:pt x="1499985" y="1939636"/>
                </a:lnTo>
                <a:lnTo>
                  <a:pt x="1551709" y="1911927"/>
                </a:lnTo>
                <a:lnTo>
                  <a:pt x="1603432" y="1884218"/>
                </a:lnTo>
                <a:lnTo>
                  <a:pt x="1655156" y="1856509"/>
                </a:lnTo>
                <a:lnTo>
                  <a:pt x="1706879" y="1828800"/>
                </a:lnTo>
                <a:lnTo>
                  <a:pt x="1758603" y="1801091"/>
                </a:lnTo>
                <a:lnTo>
                  <a:pt x="1810327" y="1773382"/>
                </a:lnTo>
                <a:lnTo>
                  <a:pt x="1862050" y="1745672"/>
                </a:lnTo>
                <a:lnTo>
                  <a:pt x="1913774" y="1717963"/>
                </a:lnTo>
                <a:lnTo>
                  <a:pt x="1965498" y="1690254"/>
                </a:lnTo>
                <a:lnTo>
                  <a:pt x="2017221" y="1662545"/>
                </a:lnTo>
                <a:lnTo>
                  <a:pt x="2068945" y="1634836"/>
                </a:lnTo>
                <a:lnTo>
                  <a:pt x="2120669" y="1607127"/>
                </a:lnTo>
                <a:lnTo>
                  <a:pt x="2172392" y="1579418"/>
                </a:lnTo>
                <a:lnTo>
                  <a:pt x="2224116" y="1551709"/>
                </a:lnTo>
                <a:lnTo>
                  <a:pt x="2275840" y="1524000"/>
                </a:lnTo>
                <a:lnTo>
                  <a:pt x="2327563" y="1496291"/>
                </a:lnTo>
                <a:lnTo>
                  <a:pt x="2379287" y="1468582"/>
                </a:lnTo>
                <a:lnTo>
                  <a:pt x="2431010" y="1440872"/>
                </a:lnTo>
                <a:lnTo>
                  <a:pt x="2482734" y="1413163"/>
                </a:lnTo>
                <a:lnTo>
                  <a:pt x="2534458" y="1385454"/>
                </a:lnTo>
                <a:lnTo>
                  <a:pt x="2586181" y="1357745"/>
                </a:lnTo>
                <a:lnTo>
                  <a:pt x="2637905" y="1330036"/>
                </a:lnTo>
                <a:lnTo>
                  <a:pt x="2689629" y="1302327"/>
                </a:lnTo>
                <a:lnTo>
                  <a:pt x="2741352" y="1274618"/>
                </a:lnTo>
                <a:lnTo>
                  <a:pt x="2793076" y="1246909"/>
                </a:lnTo>
                <a:lnTo>
                  <a:pt x="2844800" y="1219200"/>
                </a:lnTo>
                <a:lnTo>
                  <a:pt x="2896523" y="1191491"/>
                </a:lnTo>
                <a:lnTo>
                  <a:pt x="2948247" y="1163782"/>
                </a:lnTo>
                <a:lnTo>
                  <a:pt x="2999970" y="1136072"/>
                </a:lnTo>
                <a:lnTo>
                  <a:pt x="3051694" y="1108363"/>
                </a:lnTo>
                <a:lnTo>
                  <a:pt x="3103418" y="1080654"/>
                </a:lnTo>
                <a:lnTo>
                  <a:pt x="3155141" y="1052945"/>
                </a:lnTo>
                <a:lnTo>
                  <a:pt x="3206865" y="1025236"/>
                </a:lnTo>
                <a:lnTo>
                  <a:pt x="3258589" y="997527"/>
                </a:lnTo>
                <a:lnTo>
                  <a:pt x="3310312" y="969818"/>
                </a:lnTo>
                <a:lnTo>
                  <a:pt x="3362036" y="942109"/>
                </a:lnTo>
                <a:lnTo>
                  <a:pt x="3413759" y="914400"/>
                </a:lnTo>
                <a:lnTo>
                  <a:pt x="3465483" y="886691"/>
                </a:lnTo>
                <a:lnTo>
                  <a:pt x="3517207" y="858982"/>
                </a:lnTo>
                <a:lnTo>
                  <a:pt x="3568930" y="831272"/>
                </a:lnTo>
                <a:lnTo>
                  <a:pt x="3620654" y="803563"/>
                </a:lnTo>
                <a:lnTo>
                  <a:pt x="3672378" y="775854"/>
                </a:lnTo>
                <a:lnTo>
                  <a:pt x="3724101" y="748145"/>
                </a:lnTo>
                <a:lnTo>
                  <a:pt x="3775825" y="720436"/>
                </a:lnTo>
                <a:lnTo>
                  <a:pt x="3827549" y="692727"/>
                </a:lnTo>
                <a:lnTo>
                  <a:pt x="3879272" y="665018"/>
                </a:lnTo>
                <a:lnTo>
                  <a:pt x="3930996" y="637309"/>
                </a:lnTo>
                <a:lnTo>
                  <a:pt x="3982720" y="609600"/>
                </a:lnTo>
                <a:lnTo>
                  <a:pt x="4034443" y="581891"/>
                </a:lnTo>
                <a:lnTo>
                  <a:pt x="4086167" y="554182"/>
                </a:lnTo>
                <a:lnTo>
                  <a:pt x="4137890" y="526472"/>
                </a:lnTo>
                <a:lnTo>
                  <a:pt x="4189614" y="498763"/>
                </a:lnTo>
                <a:lnTo>
                  <a:pt x="4241338" y="471054"/>
                </a:lnTo>
                <a:lnTo>
                  <a:pt x="4293061" y="443345"/>
                </a:lnTo>
                <a:lnTo>
                  <a:pt x="4344785" y="415636"/>
                </a:lnTo>
                <a:lnTo>
                  <a:pt x="4396509" y="387927"/>
                </a:lnTo>
                <a:lnTo>
                  <a:pt x="4448232" y="360218"/>
                </a:lnTo>
                <a:lnTo>
                  <a:pt x="4499956" y="332509"/>
                </a:lnTo>
                <a:lnTo>
                  <a:pt x="4551680" y="304800"/>
                </a:lnTo>
                <a:lnTo>
                  <a:pt x="4603403" y="277091"/>
                </a:lnTo>
                <a:lnTo>
                  <a:pt x="4655127" y="249382"/>
                </a:lnTo>
                <a:lnTo>
                  <a:pt x="4706850" y="221672"/>
                </a:lnTo>
                <a:lnTo>
                  <a:pt x="4758574" y="193963"/>
                </a:lnTo>
                <a:lnTo>
                  <a:pt x="4810298" y="166254"/>
                </a:lnTo>
                <a:lnTo>
                  <a:pt x="4862021" y="138545"/>
                </a:lnTo>
                <a:lnTo>
                  <a:pt x="4913745" y="110836"/>
                </a:lnTo>
                <a:lnTo>
                  <a:pt x="4965469" y="83127"/>
                </a:lnTo>
                <a:lnTo>
                  <a:pt x="5017192" y="55418"/>
                </a:lnTo>
                <a:lnTo>
                  <a:pt x="5068916" y="27709"/>
                </a:lnTo>
                <a:lnTo>
                  <a:pt x="512064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09 ellipse 31" descr="sci-ppt:o031"/>
          <p:cNvSpPr/>
          <p:nvPr/>
        </p:nvSpPr>
        <p:spPr>
          <a:xfrm>
            <a:off x="1694687" y="3734773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09 text 32" descr="sci-ppt:o032"/>
          <p:cNvSpPr txBox="1"/>
          <p:nvPr/>
        </p:nvSpPr>
        <p:spPr>
          <a:xfrm>
            <a:off x="1877568" y="3396445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δ_T ≈ 22 nm at 10 ns</a:t>
            </a:r>
          </a:p>
        </p:txBody>
      </p:sp>
      <p:sp>
        <p:nvSpPr>
          <p:cNvPr id="35" name="C2-E09 text 33" descr="sci-ppt:o033"/>
          <p:cNvSpPr txBox="1"/>
          <p:nvPr/>
        </p:nvSpPr>
        <p:spPr>
          <a:xfrm>
            <a:off x="3804783" y="3472836"/>
            <a:ext cx="2194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δ_T ~ √(α τₕ)</a:t>
            </a:r>
          </a:p>
        </p:txBody>
      </p:sp>
      <p:cxnSp>
        <p:nvCxnSpPr>
          <p:cNvPr id="36" name="C2-E09 line 34" descr="sci-ppt:o034"/>
          <p:cNvCxnSpPr/>
          <p:nvPr/>
        </p:nvCxnSpPr>
        <p:spPr>
          <a:xfrm>
            <a:off x="6766560" y="5029200"/>
            <a:ext cx="50292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7" name="C2-E09 line 35" descr="sci-ppt:o035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8" name="C2-E09 line 36" descr="sci-ppt:o036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2-E09 line 37" descr="sci-ppt:o037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2-E09 text 38" descr="sci-ppt:o038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1e-08</a:t>
            </a:r>
          </a:p>
        </p:txBody>
      </p:sp>
      <p:cxnSp>
        <p:nvCxnSpPr>
          <p:cNvPr id="41" name="C2-E09 line 39" descr="sci-ppt:o039"/>
          <p:cNvCxnSpPr/>
          <p:nvPr/>
        </p:nvCxnSpPr>
        <p:spPr>
          <a:xfrm>
            <a:off x="9281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2-E09 line 40" descr="sci-ppt:o040"/>
          <p:cNvCxnSpPr/>
          <p:nvPr/>
        </p:nvCxnSpPr>
        <p:spPr>
          <a:xfrm>
            <a:off x="9281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2-E09 text 41" descr="sci-ppt:o041"/>
          <p:cNvSpPr txBox="1"/>
          <p:nvPr/>
        </p:nvSpPr>
        <p:spPr>
          <a:xfrm>
            <a:off x="8823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1e-06</a:t>
            </a:r>
          </a:p>
        </p:txBody>
      </p:sp>
      <p:cxnSp>
        <p:nvCxnSpPr>
          <p:cNvPr id="44" name="C2-E09 line 42" descr="sci-ppt:o042"/>
          <p:cNvCxnSpPr/>
          <p:nvPr/>
        </p:nvCxnSpPr>
        <p:spPr>
          <a:xfrm>
            <a:off x="117957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2-E09 line 43" descr="sci-ppt:o043"/>
          <p:cNvCxnSpPr/>
          <p:nvPr/>
        </p:nvCxnSpPr>
        <p:spPr>
          <a:xfrm>
            <a:off x="117957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2-E09 text 44" descr="sci-ppt:o044"/>
          <p:cNvSpPr txBox="1"/>
          <p:nvPr/>
        </p:nvSpPr>
        <p:spPr>
          <a:xfrm>
            <a:off x="113385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1e-04</a:t>
            </a:r>
          </a:p>
        </p:txBody>
      </p:sp>
      <p:cxnSp>
        <p:nvCxnSpPr>
          <p:cNvPr id="47" name="C2-E09 line 45" descr="sci-ppt:o045"/>
          <p:cNvCxnSpPr/>
          <p:nvPr/>
        </p:nvCxnSpPr>
        <p:spPr>
          <a:xfrm>
            <a:off x="670255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2-E09 line 46" descr="sci-ppt:o046"/>
          <p:cNvCxnSpPr/>
          <p:nvPr/>
        </p:nvCxnSpPr>
        <p:spPr>
          <a:xfrm>
            <a:off x="6702552" y="3566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09 line 47" descr="sci-ppt:o047"/>
          <p:cNvCxnSpPr/>
          <p:nvPr/>
        </p:nvCxnSpPr>
        <p:spPr>
          <a:xfrm>
            <a:off x="6766560" y="3566160"/>
            <a:ext cx="50292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2-E09 text 48" descr="sci-ppt:o048"/>
          <p:cNvSpPr txBox="1"/>
          <p:nvPr/>
        </p:nvSpPr>
        <p:spPr>
          <a:xfrm>
            <a:off x="5897880" y="3483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cxnSp>
        <p:nvCxnSpPr>
          <p:cNvPr id="51" name="C2-E09 line 49" descr="sci-ppt:o049"/>
          <p:cNvCxnSpPr/>
          <p:nvPr/>
        </p:nvCxnSpPr>
        <p:spPr>
          <a:xfrm>
            <a:off x="6702552" y="2103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2-E09 line 50" descr="sci-ppt:o050"/>
          <p:cNvCxnSpPr/>
          <p:nvPr/>
        </p:nvCxnSpPr>
        <p:spPr>
          <a:xfrm>
            <a:off x="6766560" y="2103120"/>
            <a:ext cx="50292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2-E09 text 51" descr="sci-ppt:o051"/>
          <p:cNvSpPr txBox="1"/>
          <p:nvPr/>
        </p:nvSpPr>
        <p:spPr>
          <a:xfrm>
            <a:off x="5897880" y="20208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1e-01</a:t>
            </a:r>
          </a:p>
        </p:txBody>
      </p:sp>
      <p:sp>
        <p:nvSpPr>
          <p:cNvPr id="54" name="C2-E09 text 52" descr="sci-ppt:o052"/>
          <p:cNvSpPr txBox="1"/>
          <p:nvPr/>
        </p:nvSpPr>
        <p:spPr>
          <a:xfrm>
            <a:off x="6766560" y="5312664"/>
            <a:ext cx="5029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distance Lₕ  (m)</a:t>
            </a:r>
          </a:p>
        </p:txBody>
      </p:sp>
      <p:sp>
        <p:nvSpPr>
          <p:cNvPr id="55" name="C2-E09 text 53" descr="sci-ppt:o053"/>
          <p:cNvSpPr txBox="1"/>
          <p:nvPr/>
        </p:nvSpPr>
        <p:spPr>
          <a:xfrm>
            <a:off x="6217920" y="1024128"/>
            <a:ext cx="5029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diffusion time tₜₕ  (s)</a:t>
            </a:r>
          </a:p>
        </p:txBody>
      </p:sp>
      <p:sp>
        <p:nvSpPr>
          <p:cNvPr id="56" name="C2-E09 polygon 54" descr="sci-ppt:o054"/>
          <p:cNvSpPr/>
          <p:nvPr/>
        </p:nvSpPr>
        <p:spPr>
          <a:xfrm>
            <a:off x="6766560" y="1982859"/>
            <a:ext cx="5029200" cy="2926080"/>
          </a:xfrm>
          <a:custGeom>
            <a:avLst/>
            <a:gdLst/>
            <a:ahLst/>
            <a:cxnLst/>
            <a:rect l="l" t="t" r="r" b="b"/>
            <a:pathLst>
              <a:path w="5029200" h="2926080">
                <a:moveTo>
                  <a:pt x="0" y="2926080"/>
                </a:moveTo>
                <a:lnTo>
                  <a:pt x="50800" y="2896524"/>
                </a:lnTo>
                <a:lnTo>
                  <a:pt x="101600" y="2866968"/>
                </a:lnTo>
                <a:lnTo>
                  <a:pt x="152400" y="2837411"/>
                </a:lnTo>
                <a:lnTo>
                  <a:pt x="203200" y="2807855"/>
                </a:lnTo>
                <a:lnTo>
                  <a:pt x="254000" y="2778298"/>
                </a:lnTo>
                <a:lnTo>
                  <a:pt x="304800" y="2748742"/>
                </a:lnTo>
                <a:lnTo>
                  <a:pt x="355600" y="2719186"/>
                </a:lnTo>
                <a:lnTo>
                  <a:pt x="406400" y="2689629"/>
                </a:lnTo>
                <a:lnTo>
                  <a:pt x="457200" y="2660073"/>
                </a:lnTo>
                <a:lnTo>
                  <a:pt x="508000" y="2630517"/>
                </a:lnTo>
                <a:lnTo>
                  <a:pt x="558800" y="2600960"/>
                </a:lnTo>
                <a:lnTo>
                  <a:pt x="609600" y="2571404"/>
                </a:lnTo>
                <a:lnTo>
                  <a:pt x="660400" y="2541848"/>
                </a:lnTo>
                <a:lnTo>
                  <a:pt x="711200" y="2512291"/>
                </a:lnTo>
                <a:lnTo>
                  <a:pt x="762000" y="2482735"/>
                </a:lnTo>
                <a:lnTo>
                  <a:pt x="812800" y="2453178"/>
                </a:lnTo>
                <a:lnTo>
                  <a:pt x="863600" y="2423622"/>
                </a:lnTo>
                <a:lnTo>
                  <a:pt x="914400" y="2394066"/>
                </a:lnTo>
                <a:lnTo>
                  <a:pt x="965200" y="2364509"/>
                </a:lnTo>
                <a:lnTo>
                  <a:pt x="1016000" y="2334953"/>
                </a:lnTo>
                <a:lnTo>
                  <a:pt x="1066800" y="2305397"/>
                </a:lnTo>
                <a:lnTo>
                  <a:pt x="1117600" y="2275840"/>
                </a:lnTo>
                <a:lnTo>
                  <a:pt x="1168399" y="2246284"/>
                </a:lnTo>
                <a:lnTo>
                  <a:pt x="1219200" y="2216728"/>
                </a:lnTo>
                <a:lnTo>
                  <a:pt x="1270000" y="2187171"/>
                </a:lnTo>
                <a:lnTo>
                  <a:pt x="1320800" y="2157615"/>
                </a:lnTo>
                <a:lnTo>
                  <a:pt x="1371600" y="2128058"/>
                </a:lnTo>
                <a:lnTo>
                  <a:pt x="1422400" y="2098502"/>
                </a:lnTo>
                <a:lnTo>
                  <a:pt x="1473200" y="2068946"/>
                </a:lnTo>
                <a:lnTo>
                  <a:pt x="1524000" y="2039389"/>
                </a:lnTo>
                <a:lnTo>
                  <a:pt x="1574800" y="2009833"/>
                </a:lnTo>
                <a:lnTo>
                  <a:pt x="1625600" y="1980277"/>
                </a:lnTo>
                <a:lnTo>
                  <a:pt x="1676400" y="1950720"/>
                </a:lnTo>
                <a:lnTo>
                  <a:pt x="1727200" y="1921164"/>
                </a:lnTo>
                <a:lnTo>
                  <a:pt x="1778000" y="1891608"/>
                </a:lnTo>
                <a:lnTo>
                  <a:pt x="1828800" y="1862051"/>
                </a:lnTo>
                <a:lnTo>
                  <a:pt x="1879600" y="1832495"/>
                </a:lnTo>
                <a:lnTo>
                  <a:pt x="1930400" y="1802938"/>
                </a:lnTo>
                <a:lnTo>
                  <a:pt x="1981200" y="1773382"/>
                </a:lnTo>
                <a:lnTo>
                  <a:pt x="2032000" y="1743826"/>
                </a:lnTo>
                <a:lnTo>
                  <a:pt x="2082800" y="1714269"/>
                </a:lnTo>
                <a:lnTo>
                  <a:pt x="2133600" y="1684713"/>
                </a:lnTo>
                <a:lnTo>
                  <a:pt x="2184399" y="1655157"/>
                </a:lnTo>
                <a:lnTo>
                  <a:pt x="2235200" y="1625600"/>
                </a:lnTo>
                <a:lnTo>
                  <a:pt x="2286000" y="1596044"/>
                </a:lnTo>
                <a:lnTo>
                  <a:pt x="2336800" y="1566488"/>
                </a:lnTo>
                <a:lnTo>
                  <a:pt x="2387600" y="1536931"/>
                </a:lnTo>
                <a:lnTo>
                  <a:pt x="2438400" y="1507375"/>
                </a:lnTo>
                <a:lnTo>
                  <a:pt x="2489200" y="1477818"/>
                </a:lnTo>
                <a:lnTo>
                  <a:pt x="2540000" y="1448262"/>
                </a:lnTo>
                <a:lnTo>
                  <a:pt x="2590800" y="1418706"/>
                </a:lnTo>
                <a:lnTo>
                  <a:pt x="2641600" y="1389149"/>
                </a:lnTo>
                <a:lnTo>
                  <a:pt x="2692400" y="1359593"/>
                </a:lnTo>
                <a:lnTo>
                  <a:pt x="2743200" y="1330037"/>
                </a:lnTo>
                <a:lnTo>
                  <a:pt x="2794000" y="1300480"/>
                </a:lnTo>
                <a:lnTo>
                  <a:pt x="2844800" y="1270924"/>
                </a:lnTo>
                <a:lnTo>
                  <a:pt x="2895600" y="1241368"/>
                </a:lnTo>
                <a:lnTo>
                  <a:pt x="2946400" y="1211811"/>
                </a:lnTo>
                <a:lnTo>
                  <a:pt x="2997200" y="1182255"/>
                </a:lnTo>
                <a:lnTo>
                  <a:pt x="3048000" y="1152698"/>
                </a:lnTo>
                <a:lnTo>
                  <a:pt x="3098800" y="1123142"/>
                </a:lnTo>
                <a:lnTo>
                  <a:pt x="3149600" y="1093586"/>
                </a:lnTo>
                <a:lnTo>
                  <a:pt x="3200400" y="1064029"/>
                </a:lnTo>
                <a:lnTo>
                  <a:pt x="3251200" y="1034473"/>
                </a:lnTo>
                <a:lnTo>
                  <a:pt x="3302000" y="1004917"/>
                </a:lnTo>
                <a:lnTo>
                  <a:pt x="3352800" y="975360"/>
                </a:lnTo>
                <a:lnTo>
                  <a:pt x="3403600" y="945804"/>
                </a:lnTo>
                <a:lnTo>
                  <a:pt x="3454400" y="916248"/>
                </a:lnTo>
                <a:lnTo>
                  <a:pt x="3505200" y="886691"/>
                </a:lnTo>
                <a:lnTo>
                  <a:pt x="3556000" y="857135"/>
                </a:lnTo>
                <a:lnTo>
                  <a:pt x="3606800" y="827578"/>
                </a:lnTo>
                <a:lnTo>
                  <a:pt x="3657600" y="798022"/>
                </a:lnTo>
                <a:lnTo>
                  <a:pt x="3708400" y="768466"/>
                </a:lnTo>
                <a:lnTo>
                  <a:pt x="3759200" y="738909"/>
                </a:lnTo>
                <a:lnTo>
                  <a:pt x="3810000" y="709353"/>
                </a:lnTo>
                <a:lnTo>
                  <a:pt x="3860800" y="679797"/>
                </a:lnTo>
                <a:lnTo>
                  <a:pt x="3911600" y="650240"/>
                </a:lnTo>
                <a:lnTo>
                  <a:pt x="3962400" y="620684"/>
                </a:lnTo>
                <a:lnTo>
                  <a:pt x="4013200" y="591128"/>
                </a:lnTo>
                <a:lnTo>
                  <a:pt x="4064000" y="561571"/>
                </a:lnTo>
                <a:lnTo>
                  <a:pt x="4114800" y="532015"/>
                </a:lnTo>
                <a:lnTo>
                  <a:pt x="4165600" y="502458"/>
                </a:lnTo>
                <a:lnTo>
                  <a:pt x="4216400" y="472902"/>
                </a:lnTo>
                <a:lnTo>
                  <a:pt x="4267200" y="443346"/>
                </a:lnTo>
                <a:lnTo>
                  <a:pt x="4318000" y="413789"/>
                </a:lnTo>
                <a:lnTo>
                  <a:pt x="4368800" y="384233"/>
                </a:lnTo>
                <a:lnTo>
                  <a:pt x="4419600" y="354677"/>
                </a:lnTo>
                <a:lnTo>
                  <a:pt x="4470399" y="325120"/>
                </a:lnTo>
                <a:lnTo>
                  <a:pt x="4521200" y="295564"/>
                </a:lnTo>
                <a:lnTo>
                  <a:pt x="4572000" y="266008"/>
                </a:lnTo>
                <a:lnTo>
                  <a:pt x="4622800" y="236451"/>
                </a:lnTo>
                <a:lnTo>
                  <a:pt x="4673600" y="206895"/>
                </a:lnTo>
                <a:lnTo>
                  <a:pt x="4724400" y="177338"/>
                </a:lnTo>
                <a:lnTo>
                  <a:pt x="4775200" y="147782"/>
                </a:lnTo>
                <a:lnTo>
                  <a:pt x="4826000" y="118226"/>
                </a:lnTo>
                <a:lnTo>
                  <a:pt x="4876800" y="88669"/>
                </a:lnTo>
                <a:lnTo>
                  <a:pt x="4927600" y="59113"/>
                </a:lnTo>
                <a:lnTo>
                  <a:pt x="4978400" y="29557"/>
                </a:lnTo>
                <a:lnTo>
                  <a:pt x="502920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2-E09 ellipse 55" descr="sci-ppt:o055"/>
          <p:cNvSpPr/>
          <p:nvPr/>
        </p:nvSpPr>
        <p:spPr>
          <a:xfrm>
            <a:off x="10086822" y="2861437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2-E09 text 56" descr="sci-ppt:o056"/>
          <p:cNvSpPr txBox="1"/>
          <p:nvPr/>
        </p:nvSpPr>
        <p:spPr>
          <a:xfrm>
            <a:off x="7599654" y="2477389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tₜₕ ≈ 0.53 ms to cross 5 µm</a:t>
            </a:r>
          </a:p>
        </p:txBody>
      </p:sp>
      <p:sp>
        <p:nvSpPr>
          <p:cNvPr id="59" name="C2-E09 text 57" descr="sci-ppt:o057"/>
          <p:cNvSpPr txBox="1"/>
          <p:nvPr/>
        </p:nvSpPr>
        <p:spPr>
          <a:xfrm>
            <a:off x="7218197" y="3840480"/>
            <a:ext cx="2194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tₜₕ ~ Lₕ²/α</a:t>
            </a:r>
          </a:p>
        </p:txBody>
      </p:sp>
      <p:sp>
        <p:nvSpPr>
          <p:cNvPr id="60" name="C2-E09 text 58" descr="sci-ppt:o058"/>
          <p:cNvSpPr txBox="1"/>
          <p:nvPr/>
        </p:nvSpPr>
        <p:spPr>
          <a:xfrm>
            <a:off x="914400" y="5733288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α = k/(ρcₚ) = 4.69×10⁻⁸ m²/s for the PFC liquid.  Heat travels a distance δ in a time ~ δ²/α, so doubling δ costs four times as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long.</a:t>
            </a:r>
          </a:p>
        </p:txBody>
      </p:sp>
      <p:sp>
        <p:nvSpPr>
          <p:cNvPr id="61" name="C2-E09 text 59" descr="sci-ppt:o05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Scalings of Eq. C2-E09 evaluated with the PFC liquid properties of Eq. C2-E10.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C2-E10 · Declared-input thermal calculation</a:t>
            </a:r>
          </a:p>
        </p:txBody>
      </p:sp>
      <p:cxnSp>
        <p:nvCxnSpPr>
          <p:cNvPr id="3" name="C2-E10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10 line 6" descr="sci-ppt:o006"/>
          <p:cNvCxnSpPr/>
          <p:nvPr/>
        </p:nvCxnSpPr>
        <p:spPr>
          <a:xfrm>
            <a:off x="18897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0 line 7" descr="sci-ppt:o007"/>
          <p:cNvCxnSpPr/>
          <p:nvPr/>
        </p:nvCxnSpPr>
        <p:spPr>
          <a:xfrm>
            <a:off x="18897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0 text 8" descr="sci-ppt:o008"/>
          <p:cNvSpPr txBox="1"/>
          <p:nvPr/>
        </p:nvSpPr>
        <p:spPr>
          <a:xfrm>
            <a:off x="14325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2-E10 line 9" descr="sci-ppt:o009"/>
          <p:cNvCxnSpPr/>
          <p:nvPr/>
        </p:nvCxnSpPr>
        <p:spPr>
          <a:xfrm>
            <a:off x="2865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0 line 10" descr="sci-ppt:o010"/>
          <p:cNvCxnSpPr/>
          <p:nvPr/>
        </p:nvCxnSpPr>
        <p:spPr>
          <a:xfrm>
            <a:off x="28651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0 text 11" descr="sci-ppt:o011"/>
          <p:cNvSpPr txBox="1"/>
          <p:nvPr/>
        </p:nvSpPr>
        <p:spPr>
          <a:xfrm>
            <a:off x="2407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2-E10 line 12" descr="sci-ppt:o012"/>
          <p:cNvCxnSpPr/>
          <p:nvPr/>
        </p:nvCxnSpPr>
        <p:spPr>
          <a:xfrm>
            <a:off x="38404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0 line 13" descr="sci-ppt:o013"/>
          <p:cNvCxnSpPr/>
          <p:nvPr/>
        </p:nvCxnSpPr>
        <p:spPr>
          <a:xfrm>
            <a:off x="38404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0 text 14" descr="sci-ppt:o014"/>
          <p:cNvSpPr txBox="1"/>
          <p:nvPr/>
        </p:nvSpPr>
        <p:spPr>
          <a:xfrm>
            <a:off x="33832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2-E10 line 15" descr="sci-ppt:o015"/>
          <p:cNvCxnSpPr/>
          <p:nvPr/>
        </p:nvCxnSpPr>
        <p:spPr>
          <a:xfrm>
            <a:off x="48158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0 line 16" descr="sci-ppt:o016"/>
          <p:cNvCxnSpPr/>
          <p:nvPr/>
        </p:nvCxnSpPr>
        <p:spPr>
          <a:xfrm>
            <a:off x="48158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0 text 17" descr="sci-ppt:o017"/>
          <p:cNvSpPr txBox="1"/>
          <p:nvPr/>
        </p:nvSpPr>
        <p:spPr>
          <a:xfrm>
            <a:off x="43586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2-E10 line 18" descr="sci-ppt:o018"/>
          <p:cNvCxnSpPr/>
          <p:nvPr/>
        </p:nvCxnSpPr>
        <p:spPr>
          <a:xfrm>
            <a:off x="5791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0 line 19" descr="sci-ppt:o019"/>
          <p:cNvCxnSpPr/>
          <p:nvPr/>
        </p:nvCxnSpPr>
        <p:spPr>
          <a:xfrm>
            <a:off x="5791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0 text 20" descr="sci-ppt:o020"/>
          <p:cNvSpPr txBox="1"/>
          <p:nvPr/>
        </p:nvSpPr>
        <p:spPr>
          <a:xfrm>
            <a:off x="5334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3" name="C2-E10 line 21" descr="sci-ppt:o021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0 line 22" descr="sci-ppt:o022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0 text 23" descr="sci-ppt:o023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26" name="C2-E10 line 24" descr="sci-ppt:o024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0 line 25" descr="sci-ppt:o025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10 line 26" descr="sci-ppt:o026"/>
          <p:cNvCxnSpPr/>
          <p:nvPr/>
        </p:nvCxnSpPr>
        <p:spPr>
          <a:xfrm>
            <a:off x="914400" y="4158342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10 text 27" descr="sci-ppt:o027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0" name="C2-E10 line 28" descr="sci-ppt:o028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2-E10 line 29" descr="sci-ppt:o029"/>
          <p:cNvCxnSpPr/>
          <p:nvPr/>
        </p:nvCxnSpPr>
        <p:spPr>
          <a:xfrm>
            <a:off x="914400" y="3287485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2-E10 text 30" descr="sci-ppt:o030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33" name="C2-E10 line 31" descr="sci-ppt:o031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10 line 32" descr="sci-ppt:o032"/>
          <p:cNvCxnSpPr/>
          <p:nvPr/>
        </p:nvCxnSpPr>
        <p:spPr>
          <a:xfrm>
            <a:off x="914400" y="2416628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10 text 33" descr="sci-ppt:o033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6" name="C2-E10 line 34" descr="sci-ppt:o034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10 line 35" descr="sci-ppt:o035"/>
          <p:cNvCxnSpPr/>
          <p:nvPr/>
        </p:nvCxnSpPr>
        <p:spPr>
          <a:xfrm>
            <a:off x="914400" y="154577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10 text 36" descr="sci-ppt:o036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9" name="C2-E10 text 37" descr="sci-ppt:o037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depth into the droplet  z  (µm)</a:t>
            </a:r>
          </a:p>
        </p:txBody>
      </p:sp>
      <p:sp>
        <p:nvSpPr>
          <p:cNvPr id="40" name="C2-E10 text 38" descr="sci-ppt:o038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− T₀ (relative to surface)</a:t>
            </a:r>
          </a:p>
        </p:txBody>
      </p:sp>
      <p:sp>
        <p:nvSpPr>
          <p:cNvPr id="41" name="C2-E10 polygon 39" descr="sci-ppt:o039"/>
          <p:cNvSpPr/>
          <p:nvPr/>
        </p:nvSpPr>
        <p:spPr>
          <a:xfrm>
            <a:off x="914400" y="1545771"/>
            <a:ext cx="5852160" cy="3483429"/>
          </a:xfrm>
          <a:custGeom>
            <a:avLst/>
            <a:gdLst/>
            <a:ahLst/>
            <a:cxnLst/>
            <a:rect l="l" t="t" r="r" b="b"/>
            <a:pathLst>
              <a:path w="5852160" h="3483429">
                <a:moveTo>
                  <a:pt x="0" y="0"/>
                </a:moveTo>
                <a:lnTo>
                  <a:pt x="39144" y="2821327"/>
                </a:lnTo>
                <a:lnTo>
                  <a:pt x="78289" y="3452865"/>
                </a:lnTo>
                <a:lnTo>
                  <a:pt x="117434" y="3483134"/>
                </a:lnTo>
                <a:lnTo>
                  <a:pt x="156579" y="3483428"/>
                </a:lnTo>
                <a:lnTo>
                  <a:pt x="195724" y="3483428"/>
                </a:lnTo>
                <a:lnTo>
                  <a:pt x="234869" y="3483428"/>
                </a:lnTo>
                <a:lnTo>
                  <a:pt x="274014" y="3483429"/>
                </a:lnTo>
                <a:lnTo>
                  <a:pt x="313159" y="3483429"/>
                </a:lnTo>
                <a:lnTo>
                  <a:pt x="352303" y="3483429"/>
                </a:lnTo>
                <a:lnTo>
                  <a:pt x="391448" y="3483429"/>
                </a:lnTo>
                <a:lnTo>
                  <a:pt x="430593" y="3483429"/>
                </a:lnTo>
                <a:lnTo>
                  <a:pt x="469738" y="3483429"/>
                </a:lnTo>
                <a:lnTo>
                  <a:pt x="508883" y="3483429"/>
                </a:lnTo>
                <a:lnTo>
                  <a:pt x="548028" y="3483429"/>
                </a:lnTo>
                <a:lnTo>
                  <a:pt x="587173" y="3483429"/>
                </a:lnTo>
                <a:lnTo>
                  <a:pt x="626318" y="3483429"/>
                </a:lnTo>
                <a:lnTo>
                  <a:pt x="665463" y="3483429"/>
                </a:lnTo>
                <a:lnTo>
                  <a:pt x="704607" y="3483429"/>
                </a:lnTo>
                <a:lnTo>
                  <a:pt x="743752" y="3483429"/>
                </a:lnTo>
                <a:lnTo>
                  <a:pt x="782897" y="3483429"/>
                </a:lnTo>
                <a:lnTo>
                  <a:pt x="822042" y="3483429"/>
                </a:lnTo>
                <a:lnTo>
                  <a:pt x="861187" y="3483429"/>
                </a:lnTo>
                <a:lnTo>
                  <a:pt x="900332" y="3483429"/>
                </a:lnTo>
                <a:lnTo>
                  <a:pt x="939477" y="3483429"/>
                </a:lnTo>
                <a:lnTo>
                  <a:pt x="978622" y="3483429"/>
                </a:lnTo>
                <a:lnTo>
                  <a:pt x="1017766" y="3483429"/>
                </a:lnTo>
                <a:lnTo>
                  <a:pt x="1056911" y="3483429"/>
                </a:lnTo>
                <a:lnTo>
                  <a:pt x="1096056" y="3483429"/>
                </a:lnTo>
                <a:lnTo>
                  <a:pt x="1135201" y="3483429"/>
                </a:lnTo>
                <a:lnTo>
                  <a:pt x="1174346" y="3483429"/>
                </a:lnTo>
                <a:lnTo>
                  <a:pt x="1213491" y="3483429"/>
                </a:lnTo>
                <a:lnTo>
                  <a:pt x="1252636" y="3483429"/>
                </a:lnTo>
                <a:lnTo>
                  <a:pt x="1291781" y="3483429"/>
                </a:lnTo>
                <a:lnTo>
                  <a:pt x="1330926" y="3483429"/>
                </a:lnTo>
                <a:lnTo>
                  <a:pt x="1370070" y="3483429"/>
                </a:lnTo>
                <a:lnTo>
                  <a:pt x="1409215" y="3483429"/>
                </a:lnTo>
                <a:lnTo>
                  <a:pt x="1448360" y="3483429"/>
                </a:lnTo>
                <a:lnTo>
                  <a:pt x="1487505" y="3483429"/>
                </a:lnTo>
                <a:lnTo>
                  <a:pt x="1526650" y="3483429"/>
                </a:lnTo>
                <a:lnTo>
                  <a:pt x="1565795" y="3483429"/>
                </a:lnTo>
                <a:lnTo>
                  <a:pt x="1604940" y="3483429"/>
                </a:lnTo>
                <a:lnTo>
                  <a:pt x="1644085" y="3483429"/>
                </a:lnTo>
                <a:lnTo>
                  <a:pt x="1683229" y="3483429"/>
                </a:lnTo>
                <a:lnTo>
                  <a:pt x="1722374" y="3483429"/>
                </a:lnTo>
                <a:lnTo>
                  <a:pt x="1761519" y="3483429"/>
                </a:lnTo>
                <a:lnTo>
                  <a:pt x="1800664" y="3483429"/>
                </a:lnTo>
                <a:lnTo>
                  <a:pt x="1839809" y="3483429"/>
                </a:lnTo>
                <a:lnTo>
                  <a:pt x="1878954" y="3483429"/>
                </a:lnTo>
                <a:lnTo>
                  <a:pt x="1918099" y="3483429"/>
                </a:lnTo>
                <a:lnTo>
                  <a:pt x="1957244" y="3483429"/>
                </a:lnTo>
                <a:lnTo>
                  <a:pt x="1996389" y="3483429"/>
                </a:lnTo>
                <a:lnTo>
                  <a:pt x="2035533" y="3483429"/>
                </a:lnTo>
                <a:lnTo>
                  <a:pt x="2074678" y="3483429"/>
                </a:lnTo>
                <a:lnTo>
                  <a:pt x="2113823" y="3483429"/>
                </a:lnTo>
                <a:lnTo>
                  <a:pt x="2152968" y="3483429"/>
                </a:lnTo>
                <a:lnTo>
                  <a:pt x="2192113" y="3483429"/>
                </a:lnTo>
                <a:lnTo>
                  <a:pt x="2231258" y="3483429"/>
                </a:lnTo>
                <a:lnTo>
                  <a:pt x="2270403" y="3483429"/>
                </a:lnTo>
                <a:lnTo>
                  <a:pt x="2309548" y="3483429"/>
                </a:lnTo>
                <a:lnTo>
                  <a:pt x="2348692" y="3483429"/>
                </a:lnTo>
                <a:lnTo>
                  <a:pt x="2387837" y="3483429"/>
                </a:lnTo>
                <a:lnTo>
                  <a:pt x="2426982" y="3483429"/>
                </a:lnTo>
                <a:lnTo>
                  <a:pt x="2466127" y="3483429"/>
                </a:lnTo>
                <a:lnTo>
                  <a:pt x="2505272" y="3483429"/>
                </a:lnTo>
                <a:lnTo>
                  <a:pt x="2544417" y="3483429"/>
                </a:lnTo>
                <a:lnTo>
                  <a:pt x="2583562" y="3483429"/>
                </a:lnTo>
                <a:lnTo>
                  <a:pt x="2622707" y="3483429"/>
                </a:lnTo>
                <a:lnTo>
                  <a:pt x="2661852" y="3483429"/>
                </a:lnTo>
                <a:lnTo>
                  <a:pt x="2700996" y="3483429"/>
                </a:lnTo>
                <a:lnTo>
                  <a:pt x="2740141" y="3483429"/>
                </a:lnTo>
                <a:lnTo>
                  <a:pt x="2779286" y="3483429"/>
                </a:lnTo>
                <a:lnTo>
                  <a:pt x="2818431" y="3483429"/>
                </a:lnTo>
                <a:lnTo>
                  <a:pt x="2857576" y="3483429"/>
                </a:lnTo>
                <a:lnTo>
                  <a:pt x="2896721" y="3483429"/>
                </a:lnTo>
                <a:lnTo>
                  <a:pt x="2935866" y="3483429"/>
                </a:lnTo>
                <a:lnTo>
                  <a:pt x="2975011" y="3483429"/>
                </a:lnTo>
                <a:lnTo>
                  <a:pt x="3014155" y="3483429"/>
                </a:lnTo>
                <a:lnTo>
                  <a:pt x="3053300" y="3483429"/>
                </a:lnTo>
                <a:lnTo>
                  <a:pt x="3092445" y="3483429"/>
                </a:lnTo>
                <a:lnTo>
                  <a:pt x="3131590" y="3483429"/>
                </a:lnTo>
                <a:lnTo>
                  <a:pt x="3170735" y="3483429"/>
                </a:lnTo>
                <a:lnTo>
                  <a:pt x="3209880" y="3483429"/>
                </a:lnTo>
                <a:lnTo>
                  <a:pt x="3249025" y="3483429"/>
                </a:lnTo>
                <a:lnTo>
                  <a:pt x="3288170" y="3483429"/>
                </a:lnTo>
                <a:lnTo>
                  <a:pt x="3327315" y="3483429"/>
                </a:lnTo>
                <a:lnTo>
                  <a:pt x="3366459" y="3483429"/>
                </a:lnTo>
                <a:lnTo>
                  <a:pt x="3405604" y="3483429"/>
                </a:lnTo>
                <a:lnTo>
                  <a:pt x="3444749" y="3483429"/>
                </a:lnTo>
                <a:lnTo>
                  <a:pt x="3483894" y="3483429"/>
                </a:lnTo>
                <a:lnTo>
                  <a:pt x="3523039" y="3483429"/>
                </a:lnTo>
                <a:lnTo>
                  <a:pt x="3562184" y="3483429"/>
                </a:lnTo>
                <a:lnTo>
                  <a:pt x="3601329" y="3483429"/>
                </a:lnTo>
                <a:lnTo>
                  <a:pt x="3640474" y="3483429"/>
                </a:lnTo>
                <a:lnTo>
                  <a:pt x="3679618" y="3483429"/>
                </a:lnTo>
                <a:lnTo>
                  <a:pt x="3718763" y="3483429"/>
                </a:lnTo>
                <a:lnTo>
                  <a:pt x="3757908" y="3483429"/>
                </a:lnTo>
                <a:lnTo>
                  <a:pt x="3797053" y="3483429"/>
                </a:lnTo>
                <a:lnTo>
                  <a:pt x="3836198" y="3483429"/>
                </a:lnTo>
                <a:lnTo>
                  <a:pt x="3875343" y="3483429"/>
                </a:lnTo>
                <a:lnTo>
                  <a:pt x="3914488" y="3483429"/>
                </a:lnTo>
                <a:lnTo>
                  <a:pt x="3953633" y="3483429"/>
                </a:lnTo>
                <a:lnTo>
                  <a:pt x="3992778" y="3483429"/>
                </a:lnTo>
                <a:lnTo>
                  <a:pt x="4031922" y="3483429"/>
                </a:lnTo>
                <a:lnTo>
                  <a:pt x="4071067" y="3483429"/>
                </a:lnTo>
                <a:lnTo>
                  <a:pt x="4110212" y="3483429"/>
                </a:lnTo>
                <a:lnTo>
                  <a:pt x="4149357" y="3483429"/>
                </a:lnTo>
                <a:lnTo>
                  <a:pt x="4188502" y="3483429"/>
                </a:lnTo>
                <a:lnTo>
                  <a:pt x="4227647" y="3483429"/>
                </a:lnTo>
                <a:lnTo>
                  <a:pt x="4266792" y="3483429"/>
                </a:lnTo>
                <a:lnTo>
                  <a:pt x="4305937" y="3483429"/>
                </a:lnTo>
                <a:lnTo>
                  <a:pt x="4345082" y="3483429"/>
                </a:lnTo>
                <a:lnTo>
                  <a:pt x="4384226" y="3483429"/>
                </a:lnTo>
                <a:lnTo>
                  <a:pt x="4423371" y="3483429"/>
                </a:lnTo>
                <a:lnTo>
                  <a:pt x="4462516" y="3483429"/>
                </a:lnTo>
                <a:lnTo>
                  <a:pt x="4501661" y="3483429"/>
                </a:lnTo>
                <a:lnTo>
                  <a:pt x="4540806" y="3483429"/>
                </a:lnTo>
                <a:lnTo>
                  <a:pt x="4579951" y="3483429"/>
                </a:lnTo>
                <a:lnTo>
                  <a:pt x="4619096" y="3483429"/>
                </a:lnTo>
                <a:lnTo>
                  <a:pt x="4658241" y="3483429"/>
                </a:lnTo>
                <a:lnTo>
                  <a:pt x="4697385" y="3483429"/>
                </a:lnTo>
                <a:lnTo>
                  <a:pt x="4736530" y="3483429"/>
                </a:lnTo>
                <a:lnTo>
                  <a:pt x="4775675" y="3483429"/>
                </a:lnTo>
                <a:lnTo>
                  <a:pt x="4814820" y="3483429"/>
                </a:lnTo>
                <a:lnTo>
                  <a:pt x="4853965" y="3483429"/>
                </a:lnTo>
                <a:lnTo>
                  <a:pt x="4893110" y="3483429"/>
                </a:lnTo>
                <a:lnTo>
                  <a:pt x="4932255" y="3483429"/>
                </a:lnTo>
                <a:lnTo>
                  <a:pt x="4971400" y="3483429"/>
                </a:lnTo>
                <a:lnTo>
                  <a:pt x="5010545" y="3483429"/>
                </a:lnTo>
                <a:lnTo>
                  <a:pt x="5049689" y="3483429"/>
                </a:lnTo>
                <a:lnTo>
                  <a:pt x="5088834" y="3483429"/>
                </a:lnTo>
                <a:lnTo>
                  <a:pt x="5127979" y="3483429"/>
                </a:lnTo>
                <a:lnTo>
                  <a:pt x="5167124" y="3483429"/>
                </a:lnTo>
                <a:lnTo>
                  <a:pt x="5206269" y="3483429"/>
                </a:lnTo>
                <a:lnTo>
                  <a:pt x="5245414" y="3483429"/>
                </a:lnTo>
                <a:lnTo>
                  <a:pt x="5284559" y="3483429"/>
                </a:lnTo>
                <a:lnTo>
                  <a:pt x="5323704" y="3483429"/>
                </a:lnTo>
                <a:lnTo>
                  <a:pt x="5362848" y="3483429"/>
                </a:lnTo>
                <a:lnTo>
                  <a:pt x="5401993" y="3483429"/>
                </a:lnTo>
                <a:lnTo>
                  <a:pt x="5441138" y="3483429"/>
                </a:lnTo>
                <a:lnTo>
                  <a:pt x="5480283" y="3483429"/>
                </a:lnTo>
                <a:lnTo>
                  <a:pt x="5519428" y="3483429"/>
                </a:lnTo>
                <a:lnTo>
                  <a:pt x="5558573" y="3483429"/>
                </a:lnTo>
                <a:lnTo>
                  <a:pt x="5597718" y="3483429"/>
                </a:lnTo>
                <a:lnTo>
                  <a:pt x="5636863" y="3483429"/>
                </a:lnTo>
                <a:lnTo>
                  <a:pt x="5676008" y="3483429"/>
                </a:lnTo>
                <a:lnTo>
                  <a:pt x="5715152" y="3483429"/>
                </a:lnTo>
                <a:lnTo>
                  <a:pt x="5754297" y="3483429"/>
                </a:lnTo>
                <a:lnTo>
                  <a:pt x="5793442" y="3483429"/>
                </a:lnTo>
                <a:lnTo>
                  <a:pt x="5832587" y="3483429"/>
                </a:lnTo>
                <a:lnTo>
                  <a:pt x="5852160" y="348342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0 polygon 40" descr="sci-ppt:o040"/>
          <p:cNvSpPr/>
          <p:nvPr/>
        </p:nvSpPr>
        <p:spPr>
          <a:xfrm>
            <a:off x="914400" y="1545771"/>
            <a:ext cx="5852160" cy="3483429"/>
          </a:xfrm>
          <a:custGeom>
            <a:avLst/>
            <a:gdLst/>
            <a:ahLst/>
            <a:cxnLst/>
            <a:rect l="l" t="t" r="r" b="b"/>
            <a:pathLst>
              <a:path w="5852160" h="3483429">
                <a:moveTo>
                  <a:pt x="0" y="0"/>
                </a:moveTo>
                <a:lnTo>
                  <a:pt x="39144" y="363160"/>
                </a:lnTo>
                <a:lnTo>
                  <a:pt x="78289" y="720147"/>
                </a:lnTo>
                <a:lnTo>
                  <a:pt x="117434" y="1065099"/>
                </a:lnTo>
                <a:lnTo>
                  <a:pt x="156579" y="1392756"/>
                </a:lnTo>
                <a:lnTo>
                  <a:pt x="195724" y="1698694"/>
                </a:lnTo>
                <a:lnTo>
                  <a:pt x="234869" y="1979498"/>
                </a:lnTo>
                <a:lnTo>
                  <a:pt x="274014" y="2232849"/>
                </a:lnTo>
                <a:lnTo>
                  <a:pt x="313159" y="2457546"/>
                </a:lnTo>
                <a:lnTo>
                  <a:pt x="352303" y="2653443"/>
                </a:lnTo>
                <a:lnTo>
                  <a:pt x="391448" y="2821327"/>
                </a:lnTo>
                <a:lnTo>
                  <a:pt x="430593" y="2962757"/>
                </a:lnTo>
                <a:lnTo>
                  <a:pt x="469738" y="3079878"/>
                </a:lnTo>
                <a:lnTo>
                  <a:pt x="508883" y="3175218"/>
                </a:lnTo>
                <a:lnTo>
                  <a:pt x="548028" y="3251509"/>
                </a:lnTo>
                <a:lnTo>
                  <a:pt x="587173" y="3311519"/>
                </a:lnTo>
                <a:lnTo>
                  <a:pt x="626318" y="3357920"/>
                </a:lnTo>
                <a:lnTo>
                  <a:pt x="665463" y="3393188"/>
                </a:lnTo>
                <a:lnTo>
                  <a:pt x="704607" y="3419539"/>
                </a:lnTo>
                <a:lnTo>
                  <a:pt x="743752" y="3438892"/>
                </a:lnTo>
                <a:lnTo>
                  <a:pt x="782897" y="3452865"/>
                </a:lnTo>
                <a:lnTo>
                  <a:pt x="822042" y="3462781"/>
                </a:lnTo>
                <a:lnTo>
                  <a:pt x="861187" y="3469699"/>
                </a:lnTo>
                <a:lnTo>
                  <a:pt x="900332" y="3474443"/>
                </a:lnTo>
                <a:lnTo>
                  <a:pt x="939477" y="3477641"/>
                </a:lnTo>
                <a:lnTo>
                  <a:pt x="978622" y="3479760"/>
                </a:lnTo>
                <a:lnTo>
                  <a:pt x="1017766" y="3481140"/>
                </a:lnTo>
                <a:lnTo>
                  <a:pt x="1056911" y="3482024"/>
                </a:lnTo>
                <a:lnTo>
                  <a:pt x="1096056" y="3482580"/>
                </a:lnTo>
                <a:lnTo>
                  <a:pt x="1135201" y="3482925"/>
                </a:lnTo>
                <a:lnTo>
                  <a:pt x="1174346" y="3483134"/>
                </a:lnTo>
                <a:lnTo>
                  <a:pt x="1213491" y="3483259"/>
                </a:lnTo>
                <a:lnTo>
                  <a:pt x="1252636" y="3483333"/>
                </a:lnTo>
                <a:lnTo>
                  <a:pt x="1291781" y="3483375"/>
                </a:lnTo>
                <a:lnTo>
                  <a:pt x="1330926" y="3483399"/>
                </a:lnTo>
                <a:lnTo>
                  <a:pt x="1370070" y="3483413"/>
                </a:lnTo>
                <a:lnTo>
                  <a:pt x="1409215" y="3483420"/>
                </a:lnTo>
                <a:lnTo>
                  <a:pt x="1448360" y="3483424"/>
                </a:lnTo>
                <a:lnTo>
                  <a:pt x="1487505" y="3483426"/>
                </a:lnTo>
                <a:lnTo>
                  <a:pt x="1526650" y="3483427"/>
                </a:lnTo>
                <a:lnTo>
                  <a:pt x="1565795" y="3483428"/>
                </a:lnTo>
                <a:lnTo>
                  <a:pt x="1604940" y="3483428"/>
                </a:lnTo>
                <a:lnTo>
                  <a:pt x="1644085" y="3483428"/>
                </a:lnTo>
                <a:lnTo>
                  <a:pt x="1683229" y="3483428"/>
                </a:lnTo>
                <a:lnTo>
                  <a:pt x="1722374" y="3483428"/>
                </a:lnTo>
                <a:lnTo>
                  <a:pt x="1761519" y="3483428"/>
                </a:lnTo>
                <a:lnTo>
                  <a:pt x="1800664" y="3483428"/>
                </a:lnTo>
                <a:lnTo>
                  <a:pt x="1839809" y="3483428"/>
                </a:lnTo>
                <a:lnTo>
                  <a:pt x="1878954" y="3483428"/>
                </a:lnTo>
                <a:lnTo>
                  <a:pt x="1918099" y="3483428"/>
                </a:lnTo>
                <a:lnTo>
                  <a:pt x="1957244" y="3483428"/>
                </a:lnTo>
                <a:lnTo>
                  <a:pt x="1996389" y="3483428"/>
                </a:lnTo>
                <a:lnTo>
                  <a:pt x="2035533" y="3483428"/>
                </a:lnTo>
                <a:lnTo>
                  <a:pt x="2074678" y="3483428"/>
                </a:lnTo>
                <a:lnTo>
                  <a:pt x="2113823" y="3483428"/>
                </a:lnTo>
                <a:lnTo>
                  <a:pt x="2152968" y="3483428"/>
                </a:lnTo>
                <a:lnTo>
                  <a:pt x="2192113" y="3483428"/>
                </a:lnTo>
                <a:lnTo>
                  <a:pt x="2231258" y="3483428"/>
                </a:lnTo>
                <a:lnTo>
                  <a:pt x="2270403" y="3483428"/>
                </a:lnTo>
                <a:lnTo>
                  <a:pt x="2309548" y="3483428"/>
                </a:lnTo>
                <a:lnTo>
                  <a:pt x="2348692" y="3483428"/>
                </a:lnTo>
                <a:lnTo>
                  <a:pt x="2387837" y="3483428"/>
                </a:lnTo>
                <a:lnTo>
                  <a:pt x="2426982" y="3483428"/>
                </a:lnTo>
                <a:lnTo>
                  <a:pt x="2466127" y="3483428"/>
                </a:lnTo>
                <a:lnTo>
                  <a:pt x="2505272" y="3483429"/>
                </a:lnTo>
                <a:lnTo>
                  <a:pt x="2544417" y="3483429"/>
                </a:lnTo>
                <a:lnTo>
                  <a:pt x="2583562" y="3483429"/>
                </a:lnTo>
                <a:lnTo>
                  <a:pt x="2622707" y="3483429"/>
                </a:lnTo>
                <a:lnTo>
                  <a:pt x="2661852" y="3483429"/>
                </a:lnTo>
                <a:lnTo>
                  <a:pt x="2700996" y="3483429"/>
                </a:lnTo>
                <a:lnTo>
                  <a:pt x="2740141" y="3483429"/>
                </a:lnTo>
                <a:lnTo>
                  <a:pt x="2779286" y="3483429"/>
                </a:lnTo>
                <a:lnTo>
                  <a:pt x="2818431" y="3483429"/>
                </a:lnTo>
                <a:lnTo>
                  <a:pt x="2857576" y="3483429"/>
                </a:lnTo>
                <a:lnTo>
                  <a:pt x="2896721" y="3483429"/>
                </a:lnTo>
                <a:lnTo>
                  <a:pt x="2935866" y="3483429"/>
                </a:lnTo>
                <a:lnTo>
                  <a:pt x="2975011" y="3483429"/>
                </a:lnTo>
                <a:lnTo>
                  <a:pt x="3014155" y="3483429"/>
                </a:lnTo>
                <a:lnTo>
                  <a:pt x="3053300" y="3483429"/>
                </a:lnTo>
                <a:lnTo>
                  <a:pt x="3092445" y="3483429"/>
                </a:lnTo>
                <a:lnTo>
                  <a:pt x="3131590" y="3483429"/>
                </a:lnTo>
                <a:lnTo>
                  <a:pt x="3170735" y="3483429"/>
                </a:lnTo>
                <a:lnTo>
                  <a:pt x="3209880" y="3483429"/>
                </a:lnTo>
                <a:lnTo>
                  <a:pt x="3249025" y="3483429"/>
                </a:lnTo>
                <a:lnTo>
                  <a:pt x="3288170" y="3483429"/>
                </a:lnTo>
                <a:lnTo>
                  <a:pt x="3327315" y="3483429"/>
                </a:lnTo>
                <a:lnTo>
                  <a:pt x="3366459" y="3483429"/>
                </a:lnTo>
                <a:lnTo>
                  <a:pt x="3405604" y="3483429"/>
                </a:lnTo>
                <a:lnTo>
                  <a:pt x="3444749" y="3483429"/>
                </a:lnTo>
                <a:lnTo>
                  <a:pt x="3483894" y="3483429"/>
                </a:lnTo>
                <a:lnTo>
                  <a:pt x="3523039" y="3483429"/>
                </a:lnTo>
                <a:lnTo>
                  <a:pt x="3562184" y="3483429"/>
                </a:lnTo>
                <a:lnTo>
                  <a:pt x="3601329" y="3483429"/>
                </a:lnTo>
                <a:lnTo>
                  <a:pt x="3640474" y="3483429"/>
                </a:lnTo>
                <a:lnTo>
                  <a:pt x="3679618" y="3483429"/>
                </a:lnTo>
                <a:lnTo>
                  <a:pt x="3718763" y="3483429"/>
                </a:lnTo>
                <a:lnTo>
                  <a:pt x="3757908" y="3483429"/>
                </a:lnTo>
                <a:lnTo>
                  <a:pt x="3797053" y="3483429"/>
                </a:lnTo>
                <a:lnTo>
                  <a:pt x="3836198" y="3483429"/>
                </a:lnTo>
                <a:lnTo>
                  <a:pt x="3875343" y="3483429"/>
                </a:lnTo>
                <a:lnTo>
                  <a:pt x="3914488" y="3483429"/>
                </a:lnTo>
                <a:lnTo>
                  <a:pt x="3953633" y="3483429"/>
                </a:lnTo>
                <a:lnTo>
                  <a:pt x="3992778" y="3483429"/>
                </a:lnTo>
                <a:lnTo>
                  <a:pt x="4031922" y="3483429"/>
                </a:lnTo>
                <a:lnTo>
                  <a:pt x="4071067" y="3483429"/>
                </a:lnTo>
                <a:lnTo>
                  <a:pt x="4110212" y="3483429"/>
                </a:lnTo>
                <a:lnTo>
                  <a:pt x="4149357" y="3483429"/>
                </a:lnTo>
                <a:lnTo>
                  <a:pt x="4188502" y="3483429"/>
                </a:lnTo>
                <a:lnTo>
                  <a:pt x="4227647" y="3483429"/>
                </a:lnTo>
                <a:lnTo>
                  <a:pt x="4266792" y="3483429"/>
                </a:lnTo>
                <a:lnTo>
                  <a:pt x="4305937" y="3483429"/>
                </a:lnTo>
                <a:lnTo>
                  <a:pt x="4345082" y="3483429"/>
                </a:lnTo>
                <a:lnTo>
                  <a:pt x="4384226" y="3483429"/>
                </a:lnTo>
                <a:lnTo>
                  <a:pt x="4423371" y="3483429"/>
                </a:lnTo>
                <a:lnTo>
                  <a:pt x="4462516" y="3483429"/>
                </a:lnTo>
                <a:lnTo>
                  <a:pt x="4501661" y="3483429"/>
                </a:lnTo>
                <a:lnTo>
                  <a:pt x="4540806" y="3483429"/>
                </a:lnTo>
                <a:lnTo>
                  <a:pt x="4579951" y="3483429"/>
                </a:lnTo>
                <a:lnTo>
                  <a:pt x="4619096" y="3483429"/>
                </a:lnTo>
                <a:lnTo>
                  <a:pt x="4658241" y="3483429"/>
                </a:lnTo>
                <a:lnTo>
                  <a:pt x="4697385" y="3483429"/>
                </a:lnTo>
                <a:lnTo>
                  <a:pt x="4736530" y="3483429"/>
                </a:lnTo>
                <a:lnTo>
                  <a:pt x="4775675" y="3483429"/>
                </a:lnTo>
                <a:lnTo>
                  <a:pt x="4814820" y="3483429"/>
                </a:lnTo>
                <a:lnTo>
                  <a:pt x="4853965" y="3483429"/>
                </a:lnTo>
                <a:lnTo>
                  <a:pt x="4893110" y="3483429"/>
                </a:lnTo>
                <a:lnTo>
                  <a:pt x="4932255" y="3483429"/>
                </a:lnTo>
                <a:lnTo>
                  <a:pt x="4971400" y="3483429"/>
                </a:lnTo>
                <a:lnTo>
                  <a:pt x="5010545" y="3483429"/>
                </a:lnTo>
                <a:lnTo>
                  <a:pt x="5049689" y="3483429"/>
                </a:lnTo>
                <a:lnTo>
                  <a:pt x="5088834" y="3483429"/>
                </a:lnTo>
                <a:lnTo>
                  <a:pt x="5127979" y="3483429"/>
                </a:lnTo>
                <a:lnTo>
                  <a:pt x="5167124" y="3483429"/>
                </a:lnTo>
                <a:lnTo>
                  <a:pt x="5206269" y="3483429"/>
                </a:lnTo>
                <a:lnTo>
                  <a:pt x="5245414" y="3483429"/>
                </a:lnTo>
                <a:lnTo>
                  <a:pt x="5284559" y="3483429"/>
                </a:lnTo>
                <a:lnTo>
                  <a:pt x="5323704" y="3483429"/>
                </a:lnTo>
                <a:lnTo>
                  <a:pt x="5362848" y="3483429"/>
                </a:lnTo>
                <a:lnTo>
                  <a:pt x="5401993" y="3483429"/>
                </a:lnTo>
                <a:lnTo>
                  <a:pt x="5441138" y="3483429"/>
                </a:lnTo>
                <a:lnTo>
                  <a:pt x="5480283" y="3483429"/>
                </a:lnTo>
                <a:lnTo>
                  <a:pt x="5519428" y="3483429"/>
                </a:lnTo>
                <a:lnTo>
                  <a:pt x="5558573" y="3483429"/>
                </a:lnTo>
                <a:lnTo>
                  <a:pt x="5597718" y="3483429"/>
                </a:lnTo>
                <a:lnTo>
                  <a:pt x="5636863" y="3483429"/>
                </a:lnTo>
                <a:lnTo>
                  <a:pt x="5676008" y="3483429"/>
                </a:lnTo>
                <a:lnTo>
                  <a:pt x="5715152" y="3483429"/>
                </a:lnTo>
                <a:lnTo>
                  <a:pt x="5754297" y="3483429"/>
                </a:lnTo>
                <a:lnTo>
                  <a:pt x="5793442" y="3483429"/>
                </a:lnTo>
                <a:lnTo>
                  <a:pt x="5832587" y="3483429"/>
                </a:lnTo>
                <a:lnTo>
                  <a:pt x="5852160" y="3483429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0 polygon 41" descr="sci-ppt:o041"/>
          <p:cNvSpPr/>
          <p:nvPr/>
        </p:nvSpPr>
        <p:spPr>
          <a:xfrm>
            <a:off x="914400" y="1545771"/>
            <a:ext cx="5852160" cy="3308863"/>
          </a:xfrm>
          <a:custGeom>
            <a:avLst/>
            <a:gdLst/>
            <a:ahLst/>
            <a:cxnLst/>
            <a:rect l="l" t="t" r="r" b="b"/>
            <a:pathLst>
              <a:path w="5852160" h="3308863">
                <a:moveTo>
                  <a:pt x="0" y="0"/>
                </a:moveTo>
                <a:lnTo>
                  <a:pt x="39144" y="36419"/>
                </a:lnTo>
                <a:lnTo>
                  <a:pt x="78289" y="72832"/>
                </a:lnTo>
                <a:lnTo>
                  <a:pt x="117434" y="109232"/>
                </a:lnTo>
                <a:lnTo>
                  <a:pt x="156579" y="145613"/>
                </a:lnTo>
                <a:lnTo>
                  <a:pt x="195724" y="181970"/>
                </a:lnTo>
                <a:lnTo>
                  <a:pt x="234869" y="218295"/>
                </a:lnTo>
                <a:lnTo>
                  <a:pt x="274014" y="254583"/>
                </a:lnTo>
                <a:lnTo>
                  <a:pt x="313159" y="290827"/>
                </a:lnTo>
                <a:lnTo>
                  <a:pt x="352303" y="327022"/>
                </a:lnTo>
                <a:lnTo>
                  <a:pt x="391448" y="363160"/>
                </a:lnTo>
                <a:lnTo>
                  <a:pt x="430593" y="399237"/>
                </a:lnTo>
                <a:lnTo>
                  <a:pt x="469738" y="435245"/>
                </a:lnTo>
                <a:lnTo>
                  <a:pt x="508883" y="471180"/>
                </a:lnTo>
                <a:lnTo>
                  <a:pt x="548028" y="507034"/>
                </a:lnTo>
                <a:lnTo>
                  <a:pt x="587173" y="542802"/>
                </a:lnTo>
                <a:lnTo>
                  <a:pt x="626318" y="578479"/>
                </a:lnTo>
                <a:lnTo>
                  <a:pt x="665463" y="614057"/>
                </a:lnTo>
                <a:lnTo>
                  <a:pt x="704607" y="649532"/>
                </a:lnTo>
                <a:lnTo>
                  <a:pt x="743752" y="684897"/>
                </a:lnTo>
                <a:lnTo>
                  <a:pt x="782897" y="720147"/>
                </a:lnTo>
                <a:lnTo>
                  <a:pt x="822042" y="755276"/>
                </a:lnTo>
                <a:lnTo>
                  <a:pt x="861187" y="790279"/>
                </a:lnTo>
                <a:lnTo>
                  <a:pt x="900332" y="825149"/>
                </a:lnTo>
                <a:lnTo>
                  <a:pt x="939477" y="859883"/>
                </a:lnTo>
                <a:lnTo>
                  <a:pt x="978622" y="894473"/>
                </a:lnTo>
                <a:lnTo>
                  <a:pt x="1017766" y="928915"/>
                </a:lnTo>
                <a:lnTo>
                  <a:pt x="1056911" y="963204"/>
                </a:lnTo>
                <a:lnTo>
                  <a:pt x="1096056" y="997334"/>
                </a:lnTo>
                <a:lnTo>
                  <a:pt x="1135201" y="1031301"/>
                </a:lnTo>
                <a:lnTo>
                  <a:pt x="1174346" y="1065099"/>
                </a:lnTo>
                <a:lnTo>
                  <a:pt x="1213491" y="1098723"/>
                </a:lnTo>
                <a:lnTo>
                  <a:pt x="1252636" y="1132169"/>
                </a:lnTo>
                <a:lnTo>
                  <a:pt x="1291781" y="1165431"/>
                </a:lnTo>
                <a:lnTo>
                  <a:pt x="1330926" y="1198506"/>
                </a:lnTo>
                <a:lnTo>
                  <a:pt x="1370070" y="1231388"/>
                </a:lnTo>
                <a:lnTo>
                  <a:pt x="1409215" y="1264073"/>
                </a:lnTo>
                <a:lnTo>
                  <a:pt x="1448360" y="1296556"/>
                </a:lnTo>
                <a:lnTo>
                  <a:pt x="1487505" y="1328834"/>
                </a:lnTo>
                <a:lnTo>
                  <a:pt x="1526650" y="1360902"/>
                </a:lnTo>
                <a:lnTo>
                  <a:pt x="1565795" y="1392756"/>
                </a:lnTo>
                <a:lnTo>
                  <a:pt x="1604940" y="1424392"/>
                </a:lnTo>
                <a:lnTo>
                  <a:pt x="1644085" y="1455806"/>
                </a:lnTo>
                <a:lnTo>
                  <a:pt x="1683229" y="1486994"/>
                </a:lnTo>
                <a:lnTo>
                  <a:pt x="1722374" y="1517953"/>
                </a:lnTo>
                <a:lnTo>
                  <a:pt x="1761519" y="1548679"/>
                </a:lnTo>
                <a:lnTo>
                  <a:pt x="1800664" y="1579168"/>
                </a:lnTo>
                <a:lnTo>
                  <a:pt x="1839809" y="1609418"/>
                </a:lnTo>
                <a:lnTo>
                  <a:pt x="1878954" y="1639424"/>
                </a:lnTo>
                <a:lnTo>
                  <a:pt x="1918099" y="1669184"/>
                </a:lnTo>
                <a:lnTo>
                  <a:pt x="1957244" y="1698694"/>
                </a:lnTo>
                <a:lnTo>
                  <a:pt x="1996389" y="1727953"/>
                </a:lnTo>
                <a:lnTo>
                  <a:pt x="2035533" y="1756956"/>
                </a:lnTo>
                <a:lnTo>
                  <a:pt x="2074678" y="1785702"/>
                </a:lnTo>
                <a:lnTo>
                  <a:pt x="2113823" y="1814187"/>
                </a:lnTo>
                <a:lnTo>
                  <a:pt x="2152968" y="1842409"/>
                </a:lnTo>
                <a:lnTo>
                  <a:pt x="2192113" y="1870366"/>
                </a:lnTo>
                <a:lnTo>
                  <a:pt x="2231258" y="1898055"/>
                </a:lnTo>
                <a:lnTo>
                  <a:pt x="2270403" y="1925475"/>
                </a:lnTo>
                <a:lnTo>
                  <a:pt x="2309548" y="1952623"/>
                </a:lnTo>
                <a:lnTo>
                  <a:pt x="2348692" y="1979498"/>
                </a:lnTo>
                <a:lnTo>
                  <a:pt x="2387837" y="2006096"/>
                </a:lnTo>
                <a:lnTo>
                  <a:pt x="2426982" y="2032418"/>
                </a:lnTo>
                <a:lnTo>
                  <a:pt x="2466127" y="2058461"/>
                </a:lnTo>
                <a:lnTo>
                  <a:pt x="2505272" y="2084224"/>
                </a:lnTo>
                <a:lnTo>
                  <a:pt x="2544417" y="2109706"/>
                </a:lnTo>
                <a:lnTo>
                  <a:pt x="2583562" y="2134904"/>
                </a:lnTo>
                <a:lnTo>
                  <a:pt x="2622707" y="2159819"/>
                </a:lnTo>
                <a:lnTo>
                  <a:pt x="2661852" y="2184448"/>
                </a:lnTo>
                <a:lnTo>
                  <a:pt x="2700996" y="2208792"/>
                </a:lnTo>
                <a:lnTo>
                  <a:pt x="2740141" y="2232849"/>
                </a:lnTo>
                <a:lnTo>
                  <a:pt x="2779286" y="2256618"/>
                </a:lnTo>
                <a:lnTo>
                  <a:pt x="2818431" y="2280100"/>
                </a:lnTo>
                <a:lnTo>
                  <a:pt x="2857576" y="2303293"/>
                </a:lnTo>
                <a:lnTo>
                  <a:pt x="2896721" y="2326197"/>
                </a:lnTo>
                <a:lnTo>
                  <a:pt x="2935866" y="2348812"/>
                </a:lnTo>
                <a:lnTo>
                  <a:pt x="2975011" y="2371138"/>
                </a:lnTo>
                <a:lnTo>
                  <a:pt x="3014155" y="2393174"/>
                </a:lnTo>
                <a:lnTo>
                  <a:pt x="3053300" y="2414921"/>
                </a:lnTo>
                <a:lnTo>
                  <a:pt x="3092445" y="2436378"/>
                </a:lnTo>
                <a:lnTo>
                  <a:pt x="3131590" y="2457546"/>
                </a:lnTo>
                <a:lnTo>
                  <a:pt x="3170735" y="2478426"/>
                </a:lnTo>
                <a:lnTo>
                  <a:pt x="3209880" y="2499017"/>
                </a:lnTo>
                <a:lnTo>
                  <a:pt x="3249025" y="2519320"/>
                </a:lnTo>
                <a:lnTo>
                  <a:pt x="3288170" y="2539336"/>
                </a:lnTo>
                <a:lnTo>
                  <a:pt x="3327315" y="2559066"/>
                </a:lnTo>
                <a:lnTo>
                  <a:pt x="3366459" y="2578509"/>
                </a:lnTo>
                <a:lnTo>
                  <a:pt x="3405604" y="2597668"/>
                </a:lnTo>
                <a:lnTo>
                  <a:pt x="3444749" y="2616542"/>
                </a:lnTo>
                <a:lnTo>
                  <a:pt x="3483894" y="2635133"/>
                </a:lnTo>
                <a:lnTo>
                  <a:pt x="3523039" y="2653443"/>
                </a:lnTo>
                <a:lnTo>
                  <a:pt x="3562184" y="2671471"/>
                </a:lnTo>
                <a:lnTo>
                  <a:pt x="3601329" y="2689221"/>
                </a:lnTo>
                <a:lnTo>
                  <a:pt x="3640474" y="2706692"/>
                </a:lnTo>
                <a:lnTo>
                  <a:pt x="3679618" y="2723886"/>
                </a:lnTo>
                <a:lnTo>
                  <a:pt x="3718763" y="2740805"/>
                </a:lnTo>
                <a:lnTo>
                  <a:pt x="3757908" y="2757450"/>
                </a:lnTo>
                <a:lnTo>
                  <a:pt x="3797053" y="2773823"/>
                </a:lnTo>
                <a:lnTo>
                  <a:pt x="3836198" y="2789926"/>
                </a:lnTo>
                <a:lnTo>
                  <a:pt x="3875343" y="2805759"/>
                </a:lnTo>
                <a:lnTo>
                  <a:pt x="3914488" y="2821327"/>
                </a:lnTo>
                <a:lnTo>
                  <a:pt x="3953633" y="2836629"/>
                </a:lnTo>
                <a:lnTo>
                  <a:pt x="3992778" y="2851668"/>
                </a:lnTo>
                <a:lnTo>
                  <a:pt x="4031922" y="2866445"/>
                </a:lnTo>
                <a:lnTo>
                  <a:pt x="4071067" y="2880964"/>
                </a:lnTo>
                <a:lnTo>
                  <a:pt x="4110212" y="2895226"/>
                </a:lnTo>
                <a:lnTo>
                  <a:pt x="4149357" y="2909233"/>
                </a:lnTo>
                <a:lnTo>
                  <a:pt x="4188502" y="2922987"/>
                </a:lnTo>
                <a:lnTo>
                  <a:pt x="4227647" y="2936491"/>
                </a:lnTo>
                <a:lnTo>
                  <a:pt x="4266792" y="2949747"/>
                </a:lnTo>
                <a:lnTo>
                  <a:pt x="4305937" y="2962757"/>
                </a:lnTo>
                <a:lnTo>
                  <a:pt x="4345082" y="2975524"/>
                </a:lnTo>
                <a:lnTo>
                  <a:pt x="4384226" y="2988050"/>
                </a:lnTo>
                <a:lnTo>
                  <a:pt x="4423371" y="3000337"/>
                </a:lnTo>
                <a:lnTo>
                  <a:pt x="4462516" y="3012388"/>
                </a:lnTo>
                <a:lnTo>
                  <a:pt x="4501661" y="3024205"/>
                </a:lnTo>
                <a:lnTo>
                  <a:pt x="4540806" y="3035792"/>
                </a:lnTo>
                <a:lnTo>
                  <a:pt x="4579951" y="3047149"/>
                </a:lnTo>
                <a:lnTo>
                  <a:pt x="4619096" y="3058281"/>
                </a:lnTo>
                <a:lnTo>
                  <a:pt x="4658241" y="3069190"/>
                </a:lnTo>
                <a:lnTo>
                  <a:pt x="4697385" y="3079878"/>
                </a:lnTo>
                <a:lnTo>
                  <a:pt x="4736530" y="3090348"/>
                </a:lnTo>
                <a:lnTo>
                  <a:pt x="4775675" y="3100603"/>
                </a:lnTo>
                <a:lnTo>
                  <a:pt x="4814820" y="3110645"/>
                </a:lnTo>
                <a:lnTo>
                  <a:pt x="4853965" y="3120477"/>
                </a:lnTo>
                <a:lnTo>
                  <a:pt x="4893110" y="3130103"/>
                </a:lnTo>
                <a:lnTo>
                  <a:pt x="4932255" y="3139524"/>
                </a:lnTo>
                <a:lnTo>
                  <a:pt x="4971400" y="3148743"/>
                </a:lnTo>
                <a:lnTo>
                  <a:pt x="5010545" y="3157763"/>
                </a:lnTo>
                <a:lnTo>
                  <a:pt x="5049689" y="3166587"/>
                </a:lnTo>
                <a:lnTo>
                  <a:pt x="5088834" y="3175218"/>
                </a:lnTo>
                <a:lnTo>
                  <a:pt x="5127979" y="3183659"/>
                </a:lnTo>
                <a:lnTo>
                  <a:pt x="5167124" y="3191911"/>
                </a:lnTo>
                <a:lnTo>
                  <a:pt x="5206269" y="3199979"/>
                </a:lnTo>
                <a:lnTo>
                  <a:pt x="5245414" y="3207865"/>
                </a:lnTo>
                <a:lnTo>
                  <a:pt x="5284559" y="3215571"/>
                </a:lnTo>
                <a:lnTo>
                  <a:pt x="5323704" y="3223101"/>
                </a:lnTo>
                <a:lnTo>
                  <a:pt x="5362848" y="3230457"/>
                </a:lnTo>
                <a:lnTo>
                  <a:pt x="5401993" y="3237641"/>
                </a:lnTo>
                <a:lnTo>
                  <a:pt x="5441138" y="3244658"/>
                </a:lnTo>
                <a:lnTo>
                  <a:pt x="5480283" y="3251509"/>
                </a:lnTo>
                <a:lnTo>
                  <a:pt x="5519428" y="3258198"/>
                </a:lnTo>
                <a:lnTo>
                  <a:pt x="5558573" y="3264726"/>
                </a:lnTo>
                <a:lnTo>
                  <a:pt x="5597718" y="3271097"/>
                </a:lnTo>
                <a:lnTo>
                  <a:pt x="5636863" y="3277314"/>
                </a:lnTo>
                <a:lnTo>
                  <a:pt x="5676008" y="3283379"/>
                </a:lnTo>
                <a:lnTo>
                  <a:pt x="5715152" y="3289294"/>
                </a:lnTo>
                <a:lnTo>
                  <a:pt x="5754297" y="3295064"/>
                </a:lnTo>
                <a:lnTo>
                  <a:pt x="5793442" y="3300689"/>
                </a:lnTo>
                <a:lnTo>
                  <a:pt x="5832587" y="3306173"/>
                </a:lnTo>
                <a:lnTo>
                  <a:pt x="5852160" y="3308863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2-E10 line 42" descr="sci-ppt:o042"/>
          <p:cNvCxnSpPr/>
          <p:nvPr/>
        </p:nvCxnSpPr>
        <p:spPr>
          <a:xfrm>
            <a:off x="5791200" y="1371600"/>
            <a:ext cx="0" cy="365760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45" name="C2-E10 text 43" descr="sci-ppt:o043"/>
          <p:cNvSpPr txBox="1"/>
          <p:nvPr/>
        </p:nvSpPr>
        <p:spPr>
          <a:xfrm>
            <a:off x="4328160" y="2242457"/>
            <a:ext cx="13716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PFC core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radius 5 µm</a:t>
            </a:r>
          </a:p>
        </p:txBody>
      </p:sp>
      <p:sp>
        <p:nvSpPr>
          <p:cNvPr id="46" name="C2-E10 text 44" descr="sci-ppt:o044"/>
          <p:cNvSpPr txBox="1"/>
          <p:nvPr/>
        </p:nvSpPr>
        <p:spPr>
          <a:xfrm>
            <a:off x="1065580" y="3021874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at 10 ns only the outer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~22 nm is warm</a:t>
            </a:r>
          </a:p>
        </p:txBody>
      </p:sp>
      <p:sp>
        <p:nvSpPr>
          <p:cNvPr id="47" name="C2-E10 text 45" descr="sci-ppt:o045"/>
          <p:cNvSpPr txBox="1"/>
          <p:nvPr/>
        </p:nvSpPr>
        <p:spPr>
          <a:xfrm>
            <a:off x="1670304" y="4032068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1 µs: 0.2 µm</a:t>
            </a:r>
          </a:p>
        </p:txBody>
      </p:sp>
      <p:sp>
        <p:nvSpPr>
          <p:cNvPr id="48" name="C2-E10 text 46" descr="sci-ppt:o046"/>
          <p:cNvSpPr txBox="1"/>
          <p:nvPr/>
        </p:nvSpPr>
        <p:spPr>
          <a:xfrm>
            <a:off x="3425952" y="2778034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100 µs: 2 µm</a:t>
            </a:r>
          </a:p>
        </p:txBody>
      </p:sp>
      <p:sp>
        <p:nvSpPr>
          <p:cNvPr id="49" name="C2-E10 round_rect 47" descr="sci-ppt:o047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0 text 48" descr="sci-ppt:o048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Declared numbers</a:t>
            </a:r>
          </a:p>
        </p:txBody>
      </p:sp>
      <p:sp>
        <p:nvSpPr>
          <p:cNvPr id="51" name="C2-E10 text 49" descr="sci-ppt:o049"/>
          <p:cNvSpPr txBox="1"/>
          <p:nvPr/>
        </p:nvSpPr>
        <p:spPr>
          <a:xfrm>
            <a:off x="7178040" y="182880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α = 0.050 / (1630 × 654)</a:t>
            </a:r>
          </a:p>
        </p:txBody>
      </p:sp>
      <p:sp>
        <p:nvSpPr>
          <p:cNvPr id="52" name="C2-E10 text 50" descr="sci-ppt:o050"/>
          <p:cNvSpPr txBox="1"/>
          <p:nvPr/>
        </p:nvSpPr>
        <p:spPr>
          <a:xfrm>
            <a:off x="7315200" y="2068195"/>
            <a:ext cx="4480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= 4.690×10⁻⁸ m²/s</a:t>
            </a:r>
          </a:p>
        </p:txBody>
      </p:sp>
      <p:sp>
        <p:nvSpPr>
          <p:cNvPr id="53" name="C2-E10 text 51" descr="sci-ppt:o051"/>
          <p:cNvSpPr txBox="1"/>
          <p:nvPr/>
        </p:nvSpPr>
        <p:spPr>
          <a:xfrm>
            <a:off x="7178040" y="2467991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tₜₕ ~ (5 µm)² / α</a:t>
            </a:r>
          </a:p>
        </p:txBody>
      </p:sp>
      <p:sp>
        <p:nvSpPr>
          <p:cNvPr id="54" name="C2-E10 text 52" descr="sci-ppt:o052"/>
          <p:cNvSpPr txBox="1"/>
          <p:nvPr/>
        </p:nvSpPr>
        <p:spPr>
          <a:xfrm>
            <a:off x="7315200" y="2707386"/>
            <a:ext cx="4480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= 5.33×10⁻⁴ s</a:t>
            </a:r>
          </a:p>
        </p:txBody>
      </p:sp>
      <p:sp>
        <p:nvSpPr>
          <p:cNvPr id="55" name="C2-E10 text 53" descr="sci-ppt:o053"/>
          <p:cNvSpPr txBox="1"/>
          <p:nvPr/>
        </p:nvSpPr>
        <p:spPr>
          <a:xfrm>
            <a:off x="7178040" y="3107182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δ_T ~ √(α × 10 ns)</a:t>
            </a:r>
          </a:p>
        </p:txBody>
      </p:sp>
      <p:sp>
        <p:nvSpPr>
          <p:cNvPr id="56" name="C2-E10 text 54" descr="sci-ppt:o054"/>
          <p:cNvSpPr txBox="1"/>
          <p:nvPr/>
        </p:nvSpPr>
        <p:spPr>
          <a:xfrm>
            <a:off x="7315200" y="3346577"/>
            <a:ext cx="4480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= 2.17×10⁻⁸ m</a:t>
            </a:r>
          </a:p>
        </p:txBody>
      </p:sp>
      <p:sp>
        <p:nvSpPr>
          <p:cNvPr id="57" name="C2-E10 text 55" descr="sci-ppt:o055"/>
          <p:cNvSpPr txBox="1"/>
          <p:nvPr/>
        </p:nvSpPr>
        <p:spPr>
          <a:xfrm>
            <a:off x="7178040" y="3837813"/>
            <a:ext cx="457200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10 ns pulse heats a layer 230 times thinner than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droplet radius. Uniform temperature in a micron-scale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core is not implied by a short pulse.</a:t>
            </a:r>
          </a:p>
        </p:txBody>
      </p:sp>
      <p:sp>
        <p:nvSpPr>
          <p:cNvPr id="58" name="C2-E10 text 56" descr="sci-ppt:o056"/>
          <p:cNvSpPr txBox="1"/>
          <p:nvPr/>
        </p:nvSpPr>
        <p:spPr>
          <a:xfrm>
            <a:off x="914400" y="5733288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Profiles: erfc(z / 2√(αt)), the conduction solution for a surface held at fixed temperature (scale illustration).</a:t>
            </a:r>
          </a:p>
        </p:txBody>
      </p:sp>
      <p:sp>
        <p:nvSpPr>
          <p:cNvPr id="59" name="C2-E10 text 57" descr="sci-ppt:o05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Numbers of Eq. C2-E10; profile shapes use the same 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C2-E11 · Static capillary and shell-pressure control</a:t>
            </a:r>
          </a:p>
        </p:txBody>
      </p:sp>
      <p:cxnSp>
        <p:nvCxnSpPr>
          <p:cNvPr id="3" name="C2-E11 line 1" descr="sci-ppt:o001"/>
          <p:cNvCxnSpPr/>
          <p:nvPr/>
        </p:nvCxnSpPr>
        <p:spPr>
          <a:xfrm>
            <a:off x="6126480" y="502920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1 line 2" descr="sci-ppt:o002"/>
          <p:cNvCxnSpPr/>
          <p:nvPr/>
        </p:nvCxnSpPr>
        <p:spPr>
          <a:xfrm>
            <a:off x="612648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1 line 3" descr="sci-ppt:o003"/>
          <p:cNvCxnSpPr/>
          <p:nvPr/>
        </p:nvCxnSpPr>
        <p:spPr>
          <a:xfrm>
            <a:off x="667700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1 line 4" descr="sci-ppt:o004"/>
          <p:cNvCxnSpPr/>
          <p:nvPr/>
        </p:nvCxnSpPr>
        <p:spPr>
          <a:xfrm>
            <a:off x="667700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1 text 5" descr="sci-ppt:o005"/>
          <p:cNvSpPr txBox="1"/>
          <p:nvPr/>
        </p:nvSpPr>
        <p:spPr>
          <a:xfrm>
            <a:off x="621980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1e-07</a:t>
            </a:r>
          </a:p>
        </p:txBody>
      </p:sp>
      <p:cxnSp>
        <p:nvCxnSpPr>
          <p:cNvPr id="8" name="C2-E11 line 6" descr="sci-ppt:o006"/>
          <p:cNvCxnSpPr/>
          <p:nvPr/>
        </p:nvCxnSpPr>
        <p:spPr>
          <a:xfrm>
            <a:off x="850580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1 line 7" descr="sci-ppt:o007"/>
          <p:cNvCxnSpPr/>
          <p:nvPr/>
        </p:nvCxnSpPr>
        <p:spPr>
          <a:xfrm>
            <a:off x="850580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1 text 8" descr="sci-ppt:o008"/>
          <p:cNvSpPr txBox="1"/>
          <p:nvPr/>
        </p:nvSpPr>
        <p:spPr>
          <a:xfrm>
            <a:off x="804860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1e-06</a:t>
            </a:r>
          </a:p>
        </p:txBody>
      </p:sp>
      <p:cxnSp>
        <p:nvCxnSpPr>
          <p:cNvPr id="11" name="C2-E11 line 9" descr="sci-ppt:o009"/>
          <p:cNvCxnSpPr/>
          <p:nvPr/>
        </p:nvCxnSpPr>
        <p:spPr>
          <a:xfrm>
            <a:off x="1033460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1 line 10" descr="sci-ppt:o010"/>
          <p:cNvCxnSpPr/>
          <p:nvPr/>
        </p:nvCxnSpPr>
        <p:spPr>
          <a:xfrm>
            <a:off x="1033460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1 text 11" descr="sci-ppt:o011"/>
          <p:cNvSpPr txBox="1"/>
          <p:nvPr/>
        </p:nvSpPr>
        <p:spPr>
          <a:xfrm>
            <a:off x="987740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cxnSp>
        <p:nvCxnSpPr>
          <p:cNvPr id="14" name="C2-E11 line 12" descr="sci-ppt:o012"/>
          <p:cNvCxnSpPr/>
          <p:nvPr/>
        </p:nvCxnSpPr>
        <p:spPr>
          <a:xfrm>
            <a:off x="606247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1 line 13" descr="sci-ppt:o013"/>
          <p:cNvCxnSpPr/>
          <p:nvPr/>
        </p:nvCxnSpPr>
        <p:spPr>
          <a:xfrm>
            <a:off x="6126480" y="50292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1 text 14" descr="sci-ppt:o014"/>
          <p:cNvSpPr txBox="1"/>
          <p:nvPr/>
        </p:nvSpPr>
        <p:spPr>
          <a:xfrm>
            <a:off x="525780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1e+03</a:t>
            </a:r>
          </a:p>
        </p:txBody>
      </p:sp>
      <p:cxnSp>
        <p:nvCxnSpPr>
          <p:cNvPr id="17" name="C2-E11 line 15" descr="sci-ppt:o015"/>
          <p:cNvCxnSpPr/>
          <p:nvPr/>
        </p:nvCxnSpPr>
        <p:spPr>
          <a:xfrm>
            <a:off x="6062472" y="4114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1 line 16" descr="sci-ppt:o016"/>
          <p:cNvCxnSpPr/>
          <p:nvPr/>
        </p:nvCxnSpPr>
        <p:spPr>
          <a:xfrm>
            <a:off x="6126480" y="41148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1 text 17" descr="sci-ppt:o017"/>
          <p:cNvSpPr txBox="1"/>
          <p:nvPr/>
        </p:nvSpPr>
        <p:spPr>
          <a:xfrm>
            <a:off x="5257800" y="4032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20" name="C2-E11 line 18" descr="sci-ppt:o018"/>
          <p:cNvCxnSpPr/>
          <p:nvPr/>
        </p:nvCxnSpPr>
        <p:spPr>
          <a:xfrm>
            <a:off x="606247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1 line 19" descr="sci-ppt:o019"/>
          <p:cNvCxnSpPr/>
          <p:nvPr/>
        </p:nvCxnSpPr>
        <p:spPr>
          <a:xfrm>
            <a:off x="6126480" y="32004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1 text 20" descr="sci-ppt:o020"/>
          <p:cNvSpPr txBox="1"/>
          <p:nvPr/>
        </p:nvSpPr>
        <p:spPr>
          <a:xfrm>
            <a:off x="525780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cxnSp>
        <p:nvCxnSpPr>
          <p:cNvPr id="23" name="C2-E11 line 21" descr="sci-ppt:o021"/>
          <p:cNvCxnSpPr/>
          <p:nvPr/>
        </p:nvCxnSpPr>
        <p:spPr>
          <a:xfrm>
            <a:off x="6062472" y="2286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1 line 22" descr="sci-ppt:o022"/>
          <p:cNvCxnSpPr/>
          <p:nvPr/>
        </p:nvCxnSpPr>
        <p:spPr>
          <a:xfrm>
            <a:off x="6126480" y="22860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1 text 23" descr="sci-ppt:o023"/>
          <p:cNvSpPr txBox="1"/>
          <p:nvPr/>
        </p:nvSpPr>
        <p:spPr>
          <a:xfrm>
            <a:off x="5257800" y="2203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cxnSp>
        <p:nvCxnSpPr>
          <p:cNvPr id="26" name="C2-E11 line 24" descr="sci-ppt:o024"/>
          <p:cNvCxnSpPr/>
          <p:nvPr/>
        </p:nvCxnSpPr>
        <p:spPr>
          <a:xfrm>
            <a:off x="606247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1 line 25" descr="sci-ppt:o025"/>
          <p:cNvCxnSpPr/>
          <p:nvPr/>
        </p:nvCxnSpPr>
        <p:spPr>
          <a:xfrm>
            <a:off x="6126480" y="13716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1 text 26" descr="sci-ppt:o026"/>
          <p:cNvSpPr txBox="1"/>
          <p:nvPr/>
        </p:nvSpPr>
        <p:spPr>
          <a:xfrm>
            <a:off x="525780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1e+07</a:t>
            </a:r>
          </a:p>
        </p:txBody>
      </p:sp>
      <p:sp>
        <p:nvSpPr>
          <p:cNvPr id="29" name="C2-E11 text 27" descr="sci-ppt:o027"/>
          <p:cNvSpPr txBox="1"/>
          <p:nvPr/>
        </p:nvSpPr>
        <p:spPr>
          <a:xfrm>
            <a:off x="6126480" y="5312664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core radius a  (m)</a:t>
            </a:r>
          </a:p>
        </p:txBody>
      </p:sp>
      <p:sp>
        <p:nvSpPr>
          <p:cNvPr id="30" name="C2-E11 text 28" descr="sci-ppt:o028"/>
          <p:cNvSpPr txBox="1"/>
          <p:nvPr/>
        </p:nvSpPr>
        <p:spPr>
          <a:xfrm>
            <a:off x="557784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2σ_pc / a  (Pa)</a:t>
            </a:r>
          </a:p>
        </p:txBody>
      </p:sp>
      <p:sp>
        <p:nvSpPr>
          <p:cNvPr id="31" name="C2-E11 polygon 29" descr="sci-ppt:o029"/>
          <p:cNvSpPr/>
          <p:nvPr/>
        </p:nvSpPr>
        <p:spPr>
          <a:xfrm>
            <a:off x="6128363" y="2375556"/>
            <a:ext cx="5264727" cy="2632363"/>
          </a:xfrm>
          <a:custGeom>
            <a:avLst/>
            <a:gdLst/>
            <a:ahLst/>
            <a:cxnLst/>
            <a:rect l="l" t="t" r="r" b="b"/>
            <a:pathLst>
              <a:path w="5264727" h="2632363">
                <a:moveTo>
                  <a:pt x="0" y="0"/>
                </a:moveTo>
                <a:lnTo>
                  <a:pt x="55418" y="27709"/>
                </a:lnTo>
                <a:lnTo>
                  <a:pt x="110837" y="55418"/>
                </a:lnTo>
                <a:lnTo>
                  <a:pt x="166255" y="83127"/>
                </a:lnTo>
                <a:lnTo>
                  <a:pt x="221673" y="110836"/>
                </a:lnTo>
                <a:lnTo>
                  <a:pt x="277091" y="138545"/>
                </a:lnTo>
                <a:lnTo>
                  <a:pt x="332509" y="166254"/>
                </a:lnTo>
                <a:lnTo>
                  <a:pt x="387927" y="193963"/>
                </a:lnTo>
                <a:lnTo>
                  <a:pt x="443346" y="221673"/>
                </a:lnTo>
                <a:lnTo>
                  <a:pt x="498764" y="249382"/>
                </a:lnTo>
                <a:lnTo>
                  <a:pt x="554182" y="277091"/>
                </a:lnTo>
                <a:lnTo>
                  <a:pt x="609600" y="304800"/>
                </a:lnTo>
                <a:lnTo>
                  <a:pt x="665018" y="332509"/>
                </a:lnTo>
                <a:lnTo>
                  <a:pt x="720437" y="360218"/>
                </a:lnTo>
                <a:lnTo>
                  <a:pt x="775855" y="387927"/>
                </a:lnTo>
                <a:lnTo>
                  <a:pt x="831273" y="415636"/>
                </a:lnTo>
                <a:lnTo>
                  <a:pt x="886691" y="443345"/>
                </a:lnTo>
                <a:lnTo>
                  <a:pt x="942109" y="471054"/>
                </a:lnTo>
                <a:lnTo>
                  <a:pt x="997527" y="498763"/>
                </a:lnTo>
                <a:lnTo>
                  <a:pt x="1052946" y="526473"/>
                </a:lnTo>
                <a:lnTo>
                  <a:pt x="1108364" y="554182"/>
                </a:lnTo>
                <a:lnTo>
                  <a:pt x="1163782" y="581891"/>
                </a:lnTo>
                <a:lnTo>
                  <a:pt x="1219200" y="609600"/>
                </a:lnTo>
                <a:lnTo>
                  <a:pt x="1274618" y="637309"/>
                </a:lnTo>
                <a:lnTo>
                  <a:pt x="1330037" y="665018"/>
                </a:lnTo>
                <a:lnTo>
                  <a:pt x="1385455" y="692727"/>
                </a:lnTo>
                <a:lnTo>
                  <a:pt x="1440873" y="720436"/>
                </a:lnTo>
                <a:lnTo>
                  <a:pt x="1496291" y="748145"/>
                </a:lnTo>
                <a:lnTo>
                  <a:pt x="1551709" y="775854"/>
                </a:lnTo>
                <a:lnTo>
                  <a:pt x="1607127" y="803563"/>
                </a:lnTo>
                <a:lnTo>
                  <a:pt x="1662546" y="831273"/>
                </a:lnTo>
                <a:lnTo>
                  <a:pt x="1717964" y="858982"/>
                </a:lnTo>
                <a:lnTo>
                  <a:pt x="1773382" y="886691"/>
                </a:lnTo>
                <a:lnTo>
                  <a:pt x="1828800" y="914400"/>
                </a:lnTo>
                <a:lnTo>
                  <a:pt x="1884218" y="942109"/>
                </a:lnTo>
                <a:lnTo>
                  <a:pt x="1939637" y="969818"/>
                </a:lnTo>
                <a:lnTo>
                  <a:pt x="1995055" y="997527"/>
                </a:lnTo>
                <a:lnTo>
                  <a:pt x="2050473" y="1025236"/>
                </a:lnTo>
                <a:lnTo>
                  <a:pt x="2105891" y="1052945"/>
                </a:lnTo>
                <a:lnTo>
                  <a:pt x="2161309" y="1080654"/>
                </a:lnTo>
                <a:lnTo>
                  <a:pt x="2216727" y="1108363"/>
                </a:lnTo>
                <a:lnTo>
                  <a:pt x="2272146" y="1136073"/>
                </a:lnTo>
                <a:lnTo>
                  <a:pt x="2327564" y="1163782"/>
                </a:lnTo>
                <a:lnTo>
                  <a:pt x="2382982" y="1191491"/>
                </a:lnTo>
                <a:lnTo>
                  <a:pt x="2438400" y="1219200"/>
                </a:lnTo>
                <a:lnTo>
                  <a:pt x="2493818" y="1246909"/>
                </a:lnTo>
                <a:lnTo>
                  <a:pt x="2549237" y="1274618"/>
                </a:lnTo>
                <a:lnTo>
                  <a:pt x="2604655" y="1302327"/>
                </a:lnTo>
                <a:lnTo>
                  <a:pt x="2660073" y="1330036"/>
                </a:lnTo>
                <a:lnTo>
                  <a:pt x="2715491" y="1357745"/>
                </a:lnTo>
                <a:lnTo>
                  <a:pt x="2770909" y="1385454"/>
                </a:lnTo>
                <a:lnTo>
                  <a:pt x="2826327" y="1413163"/>
                </a:lnTo>
                <a:lnTo>
                  <a:pt x="2881746" y="1440873"/>
                </a:lnTo>
                <a:lnTo>
                  <a:pt x="2937164" y="1468582"/>
                </a:lnTo>
                <a:lnTo>
                  <a:pt x="2992582" y="1496291"/>
                </a:lnTo>
                <a:lnTo>
                  <a:pt x="3048000" y="1524000"/>
                </a:lnTo>
                <a:lnTo>
                  <a:pt x="3103418" y="1551709"/>
                </a:lnTo>
                <a:lnTo>
                  <a:pt x="3158837" y="1579418"/>
                </a:lnTo>
                <a:lnTo>
                  <a:pt x="3214255" y="1607127"/>
                </a:lnTo>
                <a:lnTo>
                  <a:pt x="3269673" y="1634836"/>
                </a:lnTo>
                <a:lnTo>
                  <a:pt x="3325091" y="1662545"/>
                </a:lnTo>
                <a:lnTo>
                  <a:pt x="3380509" y="1690254"/>
                </a:lnTo>
                <a:lnTo>
                  <a:pt x="3435927" y="1717963"/>
                </a:lnTo>
                <a:lnTo>
                  <a:pt x="3491346" y="1745673"/>
                </a:lnTo>
                <a:lnTo>
                  <a:pt x="3546764" y="1773382"/>
                </a:lnTo>
                <a:lnTo>
                  <a:pt x="3602182" y="1801091"/>
                </a:lnTo>
                <a:lnTo>
                  <a:pt x="3657600" y="1828800"/>
                </a:lnTo>
                <a:lnTo>
                  <a:pt x="3713018" y="1856509"/>
                </a:lnTo>
                <a:lnTo>
                  <a:pt x="3768437" y="1884218"/>
                </a:lnTo>
                <a:lnTo>
                  <a:pt x="3823855" y="1911927"/>
                </a:lnTo>
                <a:lnTo>
                  <a:pt x="3879273" y="1939636"/>
                </a:lnTo>
                <a:lnTo>
                  <a:pt x="3934691" y="1967345"/>
                </a:lnTo>
                <a:lnTo>
                  <a:pt x="3990109" y="1995054"/>
                </a:lnTo>
                <a:lnTo>
                  <a:pt x="4045527" y="2022763"/>
                </a:lnTo>
                <a:lnTo>
                  <a:pt x="4100946" y="2050473"/>
                </a:lnTo>
                <a:lnTo>
                  <a:pt x="4156364" y="2078182"/>
                </a:lnTo>
                <a:lnTo>
                  <a:pt x="4211782" y="2105891"/>
                </a:lnTo>
                <a:lnTo>
                  <a:pt x="4267200" y="2133600"/>
                </a:lnTo>
                <a:lnTo>
                  <a:pt x="4322618" y="2161309"/>
                </a:lnTo>
                <a:lnTo>
                  <a:pt x="4378037" y="2189018"/>
                </a:lnTo>
                <a:lnTo>
                  <a:pt x="4433455" y="2216727"/>
                </a:lnTo>
                <a:lnTo>
                  <a:pt x="4488873" y="2244436"/>
                </a:lnTo>
                <a:lnTo>
                  <a:pt x="4544291" y="2272145"/>
                </a:lnTo>
                <a:lnTo>
                  <a:pt x="4599709" y="2299854"/>
                </a:lnTo>
                <a:lnTo>
                  <a:pt x="4655127" y="2327563"/>
                </a:lnTo>
                <a:lnTo>
                  <a:pt x="4710546" y="2355273"/>
                </a:lnTo>
                <a:lnTo>
                  <a:pt x="4765964" y="2382982"/>
                </a:lnTo>
                <a:lnTo>
                  <a:pt x="4821382" y="2410691"/>
                </a:lnTo>
                <a:lnTo>
                  <a:pt x="4876800" y="2438400"/>
                </a:lnTo>
                <a:lnTo>
                  <a:pt x="4932218" y="2466109"/>
                </a:lnTo>
                <a:lnTo>
                  <a:pt x="4987637" y="2493818"/>
                </a:lnTo>
                <a:lnTo>
                  <a:pt x="5043055" y="2521527"/>
                </a:lnTo>
                <a:lnTo>
                  <a:pt x="5098473" y="2549236"/>
                </a:lnTo>
                <a:lnTo>
                  <a:pt x="5153891" y="2576945"/>
                </a:lnTo>
                <a:lnTo>
                  <a:pt x="5209309" y="2604654"/>
                </a:lnTo>
                <a:lnTo>
                  <a:pt x="5264727" y="263236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2-E11 ellipse 30" descr="sci-ppt:o030"/>
          <p:cNvSpPr/>
          <p:nvPr/>
        </p:nvSpPr>
        <p:spPr>
          <a:xfrm>
            <a:off x="9710928" y="413026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11 text 31" descr="sci-ppt:o031"/>
          <p:cNvSpPr txBox="1"/>
          <p:nvPr/>
        </p:nvSpPr>
        <p:spPr>
          <a:xfrm>
            <a:off x="9893807" y="3746214"/>
            <a:ext cx="17373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5 µm: 8 kPa</a:t>
            </a:r>
          </a:p>
        </p:txBody>
      </p:sp>
      <p:sp>
        <p:nvSpPr>
          <p:cNvPr id="34" name="C2-E11 ellipse 32" descr="sci-ppt:o032"/>
          <p:cNvSpPr/>
          <p:nvPr/>
        </p:nvSpPr>
        <p:spPr>
          <a:xfrm>
            <a:off x="6603851" y="2576724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2-E11 text 33" descr="sci-ppt:o033"/>
          <p:cNvSpPr txBox="1"/>
          <p:nvPr/>
        </p:nvSpPr>
        <p:spPr>
          <a:xfrm>
            <a:off x="6786731" y="2558436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8BA0"/>
                </a:solidFill>
                <a:latin typeface="Arial"/>
              </a:rPr>
              <a:t>0.1 µm: 400 kPa</a:t>
            </a:r>
          </a:p>
        </p:txBody>
      </p:sp>
      <p:sp>
        <p:nvSpPr>
          <p:cNvPr id="36" name="C2-E11 round_rect 34" descr="sci-ppt:o034"/>
          <p:cNvSpPr/>
          <p:nvPr/>
        </p:nvSpPr>
        <p:spPr>
          <a:xfrm>
            <a:off x="365760" y="914400"/>
            <a:ext cx="49377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11 text 35" descr="sci-ppt:o035"/>
          <p:cNvSpPr txBox="1"/>
          <p:nvPr/>
        </p:nvSpPr>
        <p:spPr>
          <a:xfrm>
            <a:off x="475488" y="969264"/>
            <a:ext cx="47183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Smaller inclusion, larger capillary pressure</a:t>
            </a:r>
          </a:p>
        </p:txBody>
      </p:sp>
      <p:sp>
        <p:nvSpPr>
          <p:cNvPr id="38" name="C2-E11 ellipse 36" descr="sci-ppt:o036"/>
          <p:cNvSpPr/>
          <p:nvPr/>
        </p:nvSpPr>
        <p:spPr>
          <a:xfrm>
            <a:off x="685800" y="1874520"/>
            <a:ext cx="2103120" cy="2103120"/>
          </a:xfrm>
          <a:prstGeom prst="ellipse">
            <a:avLst/>
          </a:pr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11 text 37" descr="sci-ppt:o037"/>
          <p:cNvSpPr txBox="1"/>
          <p:nvPr/>
        </p:nvSpPr>
        <p:spPr>
          <a:xfrm>
            <a:off x="1005840" y="2743200"/>
            <a:ext cx="1463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a = 5 µm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8 kPa</a:t>
            </a:r>
          </a:p>
        </p:txBody>
      </p:sp>
      <p:sp>
        <p:nvSpPr>
          <p:cNvPr id="40" name="C2-E11 ellipse 38" descr="sci-ppt:o038"/>
          <p:cNvSpPr/>
          <p:nvPr/>
        </p:nvSpPr>
        <p:spPr>
          <a:xfrm>
            <a:off x="3703320" y="2606040"/>
            <a:ext cx="640080" cy="640080"/>
          </a:xfrm>
          <a:prstGeom prst="ellipse">
            <a:avLst/>
          </a:prstGeom>
          <a:solidFill>
            <a:srgbClr val="1E4A5A"/>
          </a:solidFill>
          <a:ln w="279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1 text 39" descr="sci-ppt:o039"/>
          <p:cNvSpPr txBox="1"/>
          <p:nvPr/>
        </p:nvSpPr>
        <p:spPr>
          <a:xfrm>
            <a:off x="3474720" y="3383280"/>
            <a:ext cx="12801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a = 0.1 µm</a:t>
            </a:r>
          </a:p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400 kPa</a:t>
            </a:r>
          </a:p>
        </p:txBody>
      </p:sp>
      <p:sp>
        <p:nvSpPr>
          <p:cNvPr id="42" name="C2-E11 text 40" descr="sci-ppt:o040"/>
          <p:cNvSpPr txBox="1"/>
          <p:nvPr/>
        </p:nvSpPr>
        <p:spPr>
          <a:xfrm>
            <a:off x="502920" y="4160520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p_d ≃ p_c + 2σ_pc/a + Πₛₕₑₗₗ</a:t>
            </a:r>
          </a:p>
        </p:txBody>
      </p:sp>
      <p:sp>
        <p:nvSpPr>
          <p:cNvPr id="43" name="C2-E11 text 41" descr="sci-ppt:o041"/>
          <p:cNvSpPr txBox="1"/>
          <p:nvPr/>
        </p:nvSpPr>
        <p:spPr>
          <a:xfrm>
            <a:off x="502920" y="457200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σ_pc = 0.020 N/m (teaching value); the shell term is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added separately.</a:t>
            </a:r>
          </a:p>
        </p:txBody>
      </p:sp>
      <p:sp>
        <p:nvSpPr>
          <p:cNvPr id="44" name="C2-E11 text 42" descr="sci-ppt:o042"/>
          <p:cNvSpPr txBox="1"/>
          <p:nvPr/>
        </p:nvSpPr>
        <p:spPr>
          <a:xfrm>
            <a:off x="5577840" y="5733288"/>
            <a:ext cx="6217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Same tension, 50 times smaller radius: capillary pressure 50 times larger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(2σ/a is inversely proportional to a).</a:t>
            </a:r>
          </a:p>
        </p:txBody>
      </p:sp>
      <p:sp>
        <p:nvSpPr>
          <p:cNvPr id="45" name="C2-E11 text 43" descr="sci-ppt:o04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Static capillary control of Eq. C2-E11.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C2-E12 · Verified empirical PFP property correlation</a:t>
            </a:r>
          </a:p>
        </p:txBody>
      </p:sp>
      <p:cxnSp>
        <p:nvCxnSpPr>
          <p:cNvPr id="3" name="C2-E12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2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2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2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2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280</a:t>
            </a:r>
          </a:p>
        </p:txBody>
      </p:sp>
      <p:cxnSp>
        <p:nvCxnSpPr>
          <p:cNvPr id="8" name="C2-E12 line 6" descr="sci-ppt:o006"/>
          <p:cNvCxnSpPr/>
          <p:nvPr/>
        </p:nvCxnSpPr>
        <p:spPr>
          <a:xfrm>
            <a:off x="20116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2 line 7" descr="sci-ppt:o007"/>
          <p:cNvCxnSpPr/>
          <p:nvPr/>
        </p:nvCxnSpPr>
        <p:spPr>
          <a:xfrm>
            <a:off x="20116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2 text 8" descr="sci-ppt:o008"/>
          <p:cNvSpPr txBox="1"/>
          <p:nvPr/>
        </p:nvSpPr>
        <p:spPr>
          <a:xfrm>
            <a:off x="15544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290</a:t>
            </a:r>
          </a:p>
        </p:txBody>
      </p:sp>
      <p:cxnSp>
        <p:nvCxnSpPr>
          <p:cNvPr id="11" name="C2-E12 line 9" descr="sci-ppt:o009"/>
          <p:cNvCxnSpPr/>
          <p:nvPr/>
        </p:nvCxnSpPr>
        <p:spPr>
          <a:xfrm>
            <a:off x="31089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2 line 10" descr="sci-ppt:o010"/>
          <p:cNvCxnSpPr/>
          <p:nvPr/>
        </p:nvCxnSpPr>
        <p:spPr>
          <a:xfrm>
            <a:off x="31089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2 text 11" descr="sci-ppt:o011"/>
          <p:cNvSpPr txBox="1"/>
          <p:nvPr/>
        </p:nvSpPr>
        <p:spPr>
          <a:xfrm>
            <a:off x="26517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cxnSp>
        <p:nvCxnSpPr>
          <p:cNvPr id="14" name="C2-E12 line 12" descr="sci-ppt:o012"/>
          <p:cNvCxnSpPr/>
          <p:nvPr/>
        </p:nvCxnSpPr>
        <p:spPr>
          <a:xfrm>
            <a:off x="42062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2 line 13" descr="sci-ppt:o013"/>
          <p:cNvCxnSpPr/>
          <p:nvPr/>
        </p:nvCxnSpPr>
        <p:spPr>
          <a:xfrm>
            <a:off x="42062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2 text 14" descr="sci-ppt:o014"/>
          <p:cNvSpPr txBox="1"/>
          <p:nvPr/>
        </p:nvSpPr>
        <p:spPr>
          <a:xfrm>
            <a:off x="374903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310</a:t>
            </a:r>
          </a:p>
        </p:txBody>
      </p:sp>
      <p:cxnSp>
        <p:nvCxnSpPr>
          <p:cNvPr id="17" name="C2-E12 line 15" descr="sci-ppt:o015"/>
          <p:cNvCxnSpPr/>
          <p:nvPr/>
        </p:nvCxnSpPr>
        <p:spPr>
          <a:xfrm>
            <a:off x="5303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2 line 16" descr="sci-ppt:o016"/>
          <p:cNvCxnSpPr/>
          <p:nvPr/>
        </p:nvCxnSpPr>
        <p:spPr>
          <a:xfrm>
            <a:off x="5303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2 text 17" descr="sci-ppt:o017"/>
          <p:cNvSpPr txBox="1"/>
          <p:nvPr/>
        </p:nvSpPr>
        <p:spPr>
          <a:xfrm>
            <a:off x="4846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320</a:t>
            </a:r>
          </a:p>
        </p:txBody>
      </p:sp>
      <p:cxnSp>
        <p:nvCxnSpPr>
          <p:cNvPr id="20" name="C2-E12 line 18" descr="sci-ppt:o018"/>
          <p:cNvCxnSpPr/>
          <p:nvPr/>
        </p:nvCxnSpPr>
        <p:spPr>
          <a:xfrm>
            <a:off x="6400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2 line 19" descr="sci-ppt:o019"/>
          <p:cNvCxnSpPr/>
          <p:nvPr/>
        </p:nvCxnSpPr>
        <p:spPr>
          <a:xfrm>
            <a:off x="6400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2 text 20" descr="sci-ppt:o020"/>
          <p:cNvSpPr txBox="1"/>
          <p:nvPr/>
        </p:nvSpPr>
        <p:spPr>
          <a:xfrm>
            <a:off x="5943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330</a:t>
            </a:r>
          </a:p>
        </p:txBody>
      </p:sp>
      <p:cxnSp>
        <p:nvCxnSpPr>
          <p:cNvPr id="23" name="C2-E12 line 21" descr="sci-ppt:o021"/>
          <p:cNvCxnSpPr/>
          <p:nvPr/>
        </p:nvCxnSpPr>
        <p:spPr>
          <a:xfrm>
            <a:off x="7498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2 line 22" descr="sci-ppt:o022"/>
          <p:cNvCxnSpPr/>
          <p:nvPr/>
        </p:nvCxnSpPr>
        <p:spPr>
          <a:xfrm>
            <a:off x="7498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2 text 23" descr="sci-ppt:o023"/>
          <p:cNvSpPr txBox="1"/>
          <p:nvPr/>
        </p:nvSpPr>
        <p:spPr>
          <a:xfrm>
            <a:off x="7040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340</a:t>
            </a:r>
          </a:p>
        </p:txBody>
      </p:sp>
      <p:cxnSp>
        <p:nvCxnSpPr>
          <p:cNvPr id="26" name="C2-E12 line 24" descr="sci-ppt:o024"/>
          <p:cNvCxnSpPr/>
          <p:nvPr/>
        </p:nvCxnSpPr>
        <p:spPr>
          <a:xfrm>
            <a:off x="850392" y="460605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2 line 25" descr="sci-ppt:o025"/>
          <p:cNvCxnSpPr/>
          <p:nvPr/>
        </p:nvCxnSpPr>
        <p:spPr>
          <a:xfrm>
            <a:off x="914400" y="4606055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2 text 26" descr="sci-ppt:o026"/>
          <p:cNvSpPr txBox="1"/>
          <p:nvPr/>
        </p:nvSpPr>
        <p:spPr>
          <a:xfrm>
            <a:off x="45720" y="452375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29" name="C2-E12 line 27" descr="sci-ppt:o027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12 line 28" descr="sci-ppt:o028"/>
          <p:cNvCxnSpPr/>
          <p:nvPr/>
        </p:nvCxnSpPr>
        <p:spPr>
          <a:xfrm>
            <a:off x="914400" y="320040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12 text 29" descr="sci-ppt:o029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32" name="C2-E12 line 30" descr="sci-ppt:o030"/>
          <p:cNvCxnSpPr/>
          <p:nvPr/>
        </p:nvCxnSpPr>
        <p:spPr>
          <a:xfrm>
            <a:off x="850392" y="179474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12 line 31" descr="sci-ppt:o031"/>
          <p:cNvCxnSpPr/>
          <p:nvPr/>
        </p:nvCxnSpPr>
        <p:spPr>
          <a:xfrm>
            <a:off x="914400" y="1794744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12 text 32" descr="sci-ppt:o032"/>
          <p:cNvSpPr txBox="1"/>
          <p:nvPr/>
        </p:nvSpPr>
        <p:spPr>
          <a:xfrm>
            <a:off x="45720" y="17124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35" name="C2-E12 text 33" descr="sci-ppt:o033"/>
          <p:cNvSpPr txBox="1"/>
          <p:nvPr/>
        </p:nvSpPr>
        <p:spPr>
          <a:xfrm>
            <a:off x="914400" y="531266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T  (K)</a:t>
            </a:r>
          </a:p>
        </p:txBody>
      </p:sp>
      <p:sp>
        <p:nvSpPr>
          <p:cNvPr id="36" name="C2-E12 text 34" descr="sci-ppt:o034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pₛₐₜ,PFP  (bar)</a:t>
            </a:r>
          </a:p>
        </p:txBody>
      </p:sp>
      <p:sp>
        <p:nvSpPr>
          <p:cNvPr id="37" name="C2-E12 polygon 35" descr="sci-ppt:o035"/>
          <p:cNvSpPr/>
          <p:nvPr/>
        </p:nvSpPr>
        <p:spPr>
          <a:xfrm>
            <a:off x="1223832" y="2489777"/>
            <a:ext cx="6048208" cy="1179730"/>
          </a:xfrm>
          <a:custGeom>
            <a:avLst/>
            <a:gdLst/>
            <a:ahLst/>
            <a:cxnLst/>
            <a:rect l="l" t="t" r="r" b="b"/>
            <a:pathLst>
              <a:path w="6048208" h="1179730">
                <a:moveTo>
                  <a:pt x="0" y="1179730"/>
                </a:moveTo>
                <a:lnTo>
                  <a:pt x="30393" y="1172466"/>
                </a:lnTo>
                <a:lnTo>
                  <a:pt x="60786" y="1165218"/>
                </a:lnTo>
                <a:lnTo>
                  <a:pt x="91179" y="1157986"/>
                </a:lnTo>
                <a:lnTo>
                  <a:pt x="121572" y="1150771"/>
                </a:lnTo>
                <a:lnTo>
                  <a:pt x="151965" y="1143573"/>
                </a:lnTo>
                <a:lnTo>
                  <a:pt x="182358" y="1136390"/>
                </a:lnTo>
                <a:lnTo>
                  <a:pt x="212751" y="1129224"/>
                </a:lnTo>
                <a:lnTo>
                  <a:pt x="243144" y="1122074"/>
                </a:lnTo>
                <a:lnTo>
                  <a:pt x="273537" y="1114940"/>
                </a:lnTo>
                <a:lnTo>
                  <a:pt x="303930" y="1107822"/>
                </a:lnTo>
                <a:lnTo>
                  <a:pt x="334323" y="1100721"/>
                </a:lnTo>
                <a:lnTo>
                  <a:pt x="364716" y="1093635"/>
                </a:lnTo>
                <a:lnTo>
                  <a:pt x="395109" y="1086565"/>
                </a:lnTo>
                <a:lnTo>
                  <a:pt x="425502" y="1079511"/>
                </a:lnTo>
                <a:lnTo>
                  <a:pt x="455895" y="1072473"/>
                </a:lnTo>
                <a:lnTo>
                  <a:pt x="486288" y="1065450"/>
                </a:lnTo>
                <a:lnTo>
                  <a:pt x="516681" y="1058443"/>
                </a:lnTo>
                <a:lnTo>
                  <a:pt x="547074" y="1051452"/>
                </a:lnTo>
                <a:lnTo>
                  <a:pt x="577467" y="1044477"/>
                </a:lnTo>
                <a:lnTo>
                  <a:pt x="607860" y="1037517"/>
                </a:lnTo>
                <a:lnTo>
                  <a:pt x="638253" y="1030572"/>
                </a:lnTo>
                <a:lnTo>
                  <a:pt x="668646" y="1023643"/>
                </a:lnTo>
                <a:lnTo>
                  <a:pt x="699040" y="1016730"/>
                </a:lnTo>
                <a:lnTo>
                  <a:pt x="729433" y="1009831"/>
                </a:lnTo>
                <a:lnTo>
                  <a:pt x="759826" y="1002948"/>
                </a:lnTo>
                <a:lnTo>
                  <a:pt x="790219" y="996081"/>
                </a:lnTo>
                <a:lnTo>
                  <a:pt x="820612" y="989228"/>
                </a:lnTo>
                <a:lnTo>
                  <a:pt x="851005" y="982391"/>
                </a:lnTo>
                <a:lnTo>
                  <a:pt x="881398" y="975568"/>
                </a:lnTo>
                <a:lnTo>
                  <a:pt x="911791" y="968761"/>
                </a:lnTo>
                <a:lnTo>
                  <a:pt x="942184" y="961968"/>
                </a:lnTo>
                <a:lnTo>
                  <a:pt x="972577" y="955191"/>
                </a:lnTo>
                <a:lnTo>
                  <a:pt x="1002970" y="948429"/>
                </a:lnTo>
                <a:lnTo>
                  <a:pt x="1033363" y="941681"/>
                </a:lnTo>
                <a:lnTo>
                  <a:pt x="1063756" y="934948"/>
                </a:lnTo>
                <a:lnTo>
                  <a:pt x="1094149" y="928230"/>
                </a:lnTo>
                <a:lnTo>
                  <a:pt x="1124542" y="921526"/>
                </a:lnTo>
                <a:lnTo>
                  <a:pt x="1154935" y="914837"/>
                </a:lnTo>
                <a:lnTo>
                  <a:pt x="1185328" y="908163"/>
                </a:lnTo>
                <a:lnTo>
                  <a:pt x="1215721" y="901504"/>
                </a:lnTo>
                <a:lnTo>
                  <a:pt x="1246114" y="894858"/>
                </a:lnTo>
                <a:lnTo>
                  <a:pt x="1276507" y="888228"/>
                </a:lnTo>
                <a:lnTo>
                  <a:pt x="1306900" y="881611"/>
                </a:lnTo>
                <a:lnTo>
                  <a:pt x="1337293" y="875009"/>
                </a:lnTo>
                <a:lnTo>
                  <a:pt x="1367686" y="868422"/>
                </a:lnTo>
                <a:lnTo>
                  <a:pt x="1398079" y="861848"/>
                </a:lnTo>
                <a:lnTo>
                  <a:pt x="1428472" y="855289"/>
                </a:lnTo>
                <a:lnTo>
                  <a:pt x="1458865" y="848744"/>
                </a:lnTo>
                <a:lnTo>
                  <a:pt x="1489258" y="842213"/>
                </a:lnTo>
                <a:lnTo>
                  <a:pt x="1519651" y="835697"/>
                </a:lnTo>
                <a:lnTo>
                  <a:pt x="1550044" y="829194"/>
                </a:lnTo>
                <a:lnTo>
                  <a:pt x="1580437" y="822705"/>
                </a:lnTo>
                <a:lnTo>
                  <a:pt x="1610830" y="816230"/>
                </a:lnTo>
                <a:lnTo>
                  <a:pt x="1641223" y="809770"/>
                </a:lnTo>
                <a:lnTo>
                  <a:pt x="1671616" y="803322"/>
                </a:lnTo>
                <a:lnTo>
                  <a:pt x="1702009" y="796889"/>
                </a:lnTo>
                <a:lnTo>
                  <a:pt x="1732402" y="790470"/>
                </a:lnTo>
                <a:lnTo>
                  <a:pt x="1762795" y="784064"/>
                </a:lnTo>
                <a:lnTo>
                  <a:pt x="1793188" y="777672"/>
                </a:lnTo>
                <a:lnTo>
                  <a:pt x="1823581" y="771294"/>
                </a:lnTo>
                <a:lnTo>
                  <a:pt x="1853974" y="764929"/>
                </a:lnTo>
                <a:lnTo>
                  <a:pt x="1884367" y="758578"/>
                </a:lnTo>
                <a:lnTo>
                  <a:pt x="1914760" y="752240"/>
                </a:lnTo>
                <a:lnTo>
                  <a:pt x="1945153" y="745916"/>
                </a:lnTo>
                <a:lnTo>
                  <a:pt x="1975546" y="739605"/>
                </a:lnTo>
                <a:lnTo>
                  <a:pt x="2005939" y="733307"/>
                </a:lnTo>
                <a:lnTo>
                  <a:pt x="2036332" y="727023"/>
                </a:lnTo>
                <a:lnTo>
                  <a:pt x="2066725" y="720752"/>
                </a:lnTo>
                <a:lnTo>
                  <a:pt x="2097118" y="714495"/>
                </a:lnTo>
                <a:lnTo>
                  <a:pt x="2127511" y="708250"/>
                </a:lnTo>
                <a:lnTo>
                  <a:pt x="2157904" y="702019"/>
                </a:lnTo>
                <a:lnTo>
                  <a:pt x="2188297" y="695801"/>
                </a:lnTo>
                <a:lnTo>
                  <a:pt x="2218690" y="689596"/>
                </a:lnTo>
                <a:lnTo>
                  <a:pt x="2249083" y="683404"/>
                </a:lnTo>
                <a:lnTo>
                  <a:pt x="2279476" y="677225"/>
                </a:lnTo>
                <a:lnTo>
                  <a:pt x="2309869" y="671059"/>
                </a:lnTo>
                <a:lnTo>
                  <a:pt x="2340262" y="664906"/>
                </a:lnTo>
                <a:lnTo>
                  <a:pt x="2370655" y="658765"/>
                </a:lnTo>
                <a:lnTo>
                  <a:pt x="2401048" y="652638"/>
                </a:lnTo>
                <a:lnTo>
                  <a:pt x="2431441" y="646523"/>
                </a:lnTo>
                <a:lnTo>
                  <a:pt x="2461834" y="640422"/>
                </a:lnTo>
                <a:lnTo>
                  <a:pt x="2492227" y="634332"/>
                </a:lnTo>
                <a:lnTo>
                  <a:pt x="2522620" y="628256"/>
                </a:lnTo>
                <a:lnTo>
                  <a:pt x="2553013" y="622192"/>
                </a:lnTo>
                <a:lnTo>
                  <a:pt x="2583406" y="616141"/>
                </a:lnTo>
                <a:lnTo>
                  <a:pt x="2613799" y="610102"/>
                </a:lnTo>
                <a:lnTo>
                  <a:pt x="2644192" y="604076"/>
                </a:lnTo>
                <a:lnTo>
                  <a:pt x="2674585" y="598063"/>
                </a:lnTo>
                <a:lnTo>
                  <a:pt x="2704978" y="592061"/>
                </a:lnTo>
                <a:lnTo>
                  <a:pt x="2735371" y="586073"/>
                </a:lnTo>
                <a:lnTo>
                  <a:pt x="2765764" y="580096"/>
                </a:lnTo>
                <a:lnTo>
                  <a:pt x="2796157" y="574132"/>
                </a:lnTo>
                <a:lnTo>
                  <a:pt x="2826550" y="568180"/>
                </a:lnTo>
                <a:lnTo>
                  <a:pt x="2856943" y="562241"/>
                </a:lnTo>
                <a:lnTo>
                  <a:pt x="2887336" y="556314"/>
                </a:lnTo>
                <a:lnTo>
                  <a:pt x="2917729" y="550398"/>
                </a:lnTo>
                <a:lnTo>
                  <a:pt x="2948122" y="544495"/>
                </a:lnTo>
                <a:lnTo>
                  <a:pt x="2978515" y="538605"/>
                </a:lnTo>
                <a:lnTo>
                  <a:pt x="3008908" y="532726"/>
                </a:lnTo>
                <a:lnTo>
                  <a:pt x="3039301" y="526859"/>
                </a:lnTo>
                <a:lnTo>
                  <a:pt x="3069694" y="521004"/>
                </a:lnTo>
                <a:lnTo>
                  <a:pt x="3100087" y="515161"/>
                </a:lnTo>
                <a:lnTo>
                  <a:pt x="3130480" y="509330"/>
                </a:lnTo>
                <a:lnTo>
                  <a:pt x="3160873" y="503511"/>
                </a:lnTo>
                <a:lnTo>
                  <a:pt x="3191266" y="497704"/>
                </a:lnTo>
                <a:lnTo>
                  <a:pt x="3221659" y="491909"/>
                </a:lnTo>
                <a:lnTo>
                  <a:pt x="3252052" y="486125"/>
                </a:lnTo>
                <a:lnTo>
                  <a:pt x="3282445" y="480353"/>
                </a:lnTo>
                <a:lnTo>
                  <a:pt x="3312838" y="474593"/>
                </a:lnTo>
                <a:lnTo>
                  <a:pt x="3343231" y="468844"/>
                </a:lnTo>
                <a:lnTo>
                  <a:pt x="3373624" y="463107"/>
                </a:lnTo>
                <a:lnTo>
                  <a:pt x="3404017" y="457382"/>
                </a:lnTo>
                <a:lnTo>
                  <a:pt x="3434410" y="451668"/>
                </a:lnTo>
                <a:lnTo>
                  <a:pt x="3464803" y="445966"/>
                </a:lnTo>
                <a:lnTo>
                  <a:pt x="3495196" y="440276"/>
                </a:lnTo>
                <a:lnTo>
                  <a:pt x="3525589" y="434596"/>
                </a:lnTo>
                <a:lnTo>
                  <a:pt x="3555982" y="428928"/>
                </a:lnTo>
                <a:lnTo>
                  <a:pt x="3586375" y="423272"/>
                </a:lnTo>
                <a:lnTo>
                  <a:pt x="3616768" y="417627"/>
                </a:lnTo>
                <a:lnTo>
                  <a:pt x="3647161" y="411993"/>
                </a:lnTo>
                <a:lnTo>
                  <a:pt x="3677554" y="406371"/>
                </a:lnTo>
                <a:lnTo>
                  <a:pt x="3707947" y="400759"/>
                </a:lnTo>
                <a:lnTo>
                  <a:pt x="3738340" y="395159"/>
                </a:lnTo>
                <a:lnTo>
                  <a:pt x="3768733" y="389570"/>
                </a:lnTo>
                <a:lnTo>
                  <a:pt x="3799126" y="383993"/>
                </a:lnTo>
                <a:lnTo>
                  <a:pt x="3829519" y="378426"/>
                </a:lnTo>
                <a:lnTo>
                  <a:pt x="3859912" y="372871"/>
                </a:lnTo>
                <a:lnTo>
                  <a:pt x="3890305" y="367326"/>
                </a:lnTo>
                <a:lnTo>
                  <a:pt x="3920698" y="361793"/>
                </a:lnTo>
                <a:lnTo>
                  <a:pt x="3951091" y="356270"/>
                </a:lnTo>
                <a:lnTo>
                  <a:pt x="3981484" y="350759"/>
                </a:lnTo>
                <a:lnTo>
                  <a:pt x="4011877" y="345258"/>
                </a:lnTo>
                <a:lnTo>
                  <a:pt x="4042270" y="339769"/>
                </a:lnTo>
                <a:lnTo>
                  <a:pt x="4072663" y="334290"/>
                </a:lnTo>
                <a:lnTo>
                  <a:pt x="4103056" y="328822"/>
                </a:lnTo>
                <a:lnTo>
                  <a:pt x="4133449" y="323365"/>
                </a:lnTo>
                <a:lnTo>
                  <a:pt x="4163842" y="317918"/>
                </a:lnTo>
                <a:lnTo>
                  <a:pt x="4194235" y="312482"/>
                </a:lnTo>
                <a:lnTo>
                  <a:pt x="4224628" y="307057"/>
                </a:lnTo>
                <a:lnTo>
                  <a:pt x="4255021" y="301643"/>
                </a:lnTo>
                <a:lnTo>
                  <a:pt x="4285414" y="296239"/>
                </a:lnTo>
                <a:lnTo>
                  <a:pt x="4315807" y="290846"/>
                </a:lnTo>
                <a:lnTo>
                  <a:pt x="4346200" y="285463"/>
                </a:lnTo>
                <a:lnTo>
                  <a:pt x="4376593" y="280091"/>
                </a:lnTo>
                <a:lnTo>
                  <a:pt x="4406986" y="274730"/>
                </a:lnTo>
                <a:lnTo>
                  <a:pt x="4437379" y="269379"/>
                </a:lnTo>
                <a:lnTo>
                  <a:pt x="4467772" y="264038"/>
                </a:lnTo>
                <a:lnTo>
                  <a:pt x="4498165" y="258708"/>
                </a:lnTo>
                <a:lnTo>
                  <a:pt x="4528558" y="253388"/>
                </a:lnTo>
                <a:lnTo>
                  <a:pt x="4558951" y="248079"/>
                </a:lnTo>
                <a:lnTo>
                  <a:pt x="4589344" y="242780"/>
                </a:lnTo>
                <a:lnTo>
                  <a:pt x="4619737" y="237491"/>
                </a:lnTo>
                <a:lnTo>
                  <a:pt x="4650130" y="232212"/>
                </a:lnTo>
                <a:lnTo>
                  <a:pt x="4680523" y="226944"/>
                </a:lnTo>
                <a:lnTo>
                  <a:pt x="4710916" y="221686"/>
                </a:lnTo>
                <a:lnTo>
                  <a:pt x="4741309" y="216438"/>
                </a:lnTo>
                <a:lnTo>
                  <a:pt x="4771702" y="211200"/>
                </a:lnTo>
                <a:lnTo>
                  <a:pt x="4802095" y="205972"/>
                </a:lnTo>
                <a:lnTo>
                  <a:pt x="4832488" y="200755"/>
                </a:lnTo>
                <a:lnTo>
                  <a:pt x="4862881" y="195547"/>
                </a:lnTo>
                <a:lnTo>
                  <a:pt x="4893274" y="190350"/>
                </a:lnTo>
                <a:lnTo>
                  <a:pt x="4923667" y="185162"/>
                </a:lnTo>
                <a:lnTo>
                  <a:pt x="4954060" y="179985"/>
                </a:lnTo>
                <a:lnTo>
                  <a:pt x="4984453" y="174817"/>
                </a:lnTo>
                <a:lnTo>
                  <a:pt x="5014846" y="169659"/>
                </a:lnTo>
                <a:lnTo>
                  <a:pt x="5045239" y="164512"/>
                </a:lnTo>
                <a:lnTo>
                  <a:pt x="5075632" y="159374"/>
                </a:lnTo>
                <a:lnTo>
                  <a:pt x="5106025" y="154246"/>
                </a:lnTo>
                <a:lnTo>
                  <a:pt x="5136418" y="149127"/>
                </a:lnTo>
                <a:lnTo>
                  <a:pt x="5166811" y="144019"/>
                </a:lnTo>
                <a:lnTo>
                  <a:pt x="5197204" y="138920"/>
                </a:lnTo>
                <a:lnTo>
                  <a:pt x="5227597" y="133831"/>
                </a:lnTo>
                <a:lnTo>
                  <a:pt x="5257990" y="128751"/>
                </a:lnTo>
                <a:lnTo>
                  <a:pt x="5288383" y="123682"/>
                </a:lnTo>
                <a:lnTo>
                  <a:pt x="5318776" y="118622"/>
                </a:lnTo>
                <a:lnTo>
                  <a:pt x="5349169" y="113571"/>
                </a:lnTo>
                <a:lnTo>
                  <a:pt x="5379562" y="108530"/>
                </a:lnTo>
                <a:lnTo>
                  <a:pt x="5409955" y="103499"/>
                </a:lnTo>
                <a:lnTo>
                  <a:pt x="5440348" y="98477"/>
                </a:lnTo>
                <a:lnTo>
                  <a:pt x="5470741" y="93465"/>
                </a:lnTo>
                <a:lnTo>
                  <a:pt x="5501134" y="88462"/>
                </a:lnTo>
                <a:lnTo>
                  <a:pt x="5531527" y="83468"/>
                </a:lnTo>
                <a:lnTo>
                  <a:pt x="5561920" y="78484"/>
                </a:lnTo>
                <a:lnTo>
                  <a:pt x="5592313" y="73510"/>
                </a:lnTo>
                <a:lnTo>
                  <a:pt x="5622706" y="68545"/>
                </a:lnTo>
                <a:lnTo>
                  <a:pt x="5653099" y="63589"/>
                </a:lnTo>
                <a:lnTo>
                  <a:pt x="5683492" y="58642"/>
                </a:lnTo>
                <a:lnTo>
                  <a:pt x="5713885" y="53705"/>
                </a:lnTo>
                <a:lnTo>
                  <a:pt x="5744278" y="48777"/>
                </a:lnTo>
                <a:lnTo>
                  <a:pt x="5774671" y="43858"/>
                </a:lnTo>
                <a:lnTo>
                  <a:pt x="5805064" y="38948"/>
                </a:lnTo>
                <a:lnTo>
                  <a:pt x="5835457" y="34048"/>
                </a:lnTo>
                <a:lnTo>
                  <a:pt x="5865850" y="29157"/>
                </a:lnTo>
                <a:lnTo>
                  <a:pt x="5896243" y="24274"/>
                </a:lnTo>
                <a:lnTo>
                  <a:pt x="5926636" y="19401"/>
                </a:lnTo>
                <a:lnTo>
                  <a:pt x="5957029" y="14537"/>
                </a:lnTo>
                <a:lnTo>
                  <a:pt x="5987422" y="9683"/>
                </a:lnTo>
                <a:lnTo>
                  <a:pt x="6017815" y="4837"/>
                </a:lnTo>
                <a:lnTo>
                  <a:pt x="6048208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2-E12 line 36" descr="sci-ppt:o036"/>
          <p:cNvCxnSpPr/>
          <p:nvPr/>
        </p:nvCxnSpPr>
        <p:spPr>
          <a:xfrm>
            <a:off x="914400" y="3200400"/>
            <a:ext cx="6583679" cy="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39" name="C2-E12 ellipse 37" descr="sci-ppt:o037"/>
          <p:cNvSpPr/>
          <p:nvPr/>
        </p:nvSpPr>
        <p:spPr>
          <a:xfrm>
            <a:off x="3266636" y="312724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2-E12 text 38" descr="sci-ppt:o038"/>
          <p:cNvSpPr txBox="1"/>
          <p:nvPr/>
        </p:nvSpPr>
        <p:spPr>
          <a:xfrm>
            <a:off x="3449516" y="3273552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1 bar at 302.1 K</a:t>
            </a:r>
          </a:p>
        </p:txBody>
      </p:sp>
      <p:sp>
        <p:nvSpPr>
          <p:cNvPr id="41" name="C2-E12 ellipse 39" descr="sci-ppt:o039"/>
          <p:cNvSpPr/>
          <p:nvPr/>
        </p:nvSpPr>
        <p:spPr>
          <a:xfrm>
            <a:off x="2284171" y="3336180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2 text 40" descr="sci-ppt:o040"/>
          <p:cNvSpPr txBox="1"/>
          <p:nvPr/>
        </p:nvSpPr>
        <p:spPr>
          <a:xfrm>
            <a:off x="2467051" y="2997852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293 K: 0.71 bar</a:t>
            </a:r>
          </a:p>
        </p:txBody>
      </p:sp>
      <p:sp>
        <p:nvSpPr>
          <p:cNvPr id="43" name="C2-E12 ellipse 41" descr="sci-ppt:o041"/>
          <p:cNvSpPr/>
          <p:nvPr/>
        </p:nvSpPr>
        <p:spPr>
          <a:xfrm>
            <a:off x="5576011" y="2688124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12 text 42" descr="sci-ppt:o042"/>
          <p:cNvSpPr txBox="1"/>
          <p:nvPr/>
        </p:nvSpPr>
        <p:spPr>
          <a:xfrm>
            <a:off x="5758891" y="2349796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323 K: 2.05 bar</a:t>
            </a:r>
          </a:p>
        </p:txBody>
      </p:sp>
      <p:sp>
        <p:nvSpPr>
          <p:cNvPr id="45" name="C2-E12 round_rect 43" descr="sci-ppt:o043"/>
          <p:cNvSpPr/>
          <p:nvPr/>
        </p:nvSpPr>
        <p:spPr>
          <a:xfrm>
            <a:off x="7772400" y="1371600"/>
            <a:ext cx="40690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2-E12 text 44" descr="sci-ppt:o044"/>
          <p:cNvSpPr txBox="1"/>
          <p:nvPr/>
        </p:nvSpPr>
        <p:spPr>
          <a:xfrm>
            <a:off x="7882127" y="1426464"/>
            <a:ext cx="38496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What the curve says</a:t>
            </a:r>
          </a:p>
        </p:txBody>
      </p:sp>
      <p:sp>
        <p:nvSpPr>
          <p:cNvPr id="47" name="C2-E12 text 45" descr="sci-ppt:o045"/>
          <p:cNvSpPr txBox="1"/>
          <p:nvPr/>
        </p:nvSpPr>
        <p:spPr>
          <a:xfrm>
            <a:off x="7909560" y="1828800"/>
            <a:ext cx="38404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log₁₀(p/10⁵ Pa) = 4.2063 − 1103.454 K/(T −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39.77 K)</a:t>
            </a:r>
          </a:p>
        </p:txBody>
      </p:sp>
      <p:sp>
        <p:nvSpPr>
          <p:cNvPr id="48" name="C2-E12 text 46" descr="sci-ppt:o046"/>
          <p:cNvSpPr txBox="1"/>
          <p:nvPr/>
        </p:nvSpPr>
        <p:spPr>
          <a:xfrm>
            <a:off x="8110728" y="2651760"/>
            <a:ext cx="363931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Valid only for 282.82 K ≤ T ≤ 337.94 K.</a:t>
            </a:r>
          </a:p>
        </p:txBody>
      </p:sp>
      <p:sp>
        <p:nvSpPr>
          <p:cNvPr id="49" name="C2-E12 ellipse 47" descr="sci-ppt:o047"/>
          <p:cNvSpPr/>
          <p:nvPr/>
        </p:nvSpPr>
        <p:spPr>
          <a:xfrm>
            <a:off x="7941564" y="27090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2 text 48" descr="sci-ppt:o048"/>
          <p:cNvSpPr txBox="1"/>
          <p:nvPr/>
        </p:nvSpPr>
        <p:spPr>
          <a:xfrm>
            <a:off x="8110728" y="2936875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It gives the equilibrium vapor pressure of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bulk liquid.</a:t>
            </a:r>
          </a:p>
        </p:txBody>
      </p:sp>
      <p:sp>
        <p:nvSpPr>
          <p:cNvPr id="51" name="C2-E12 ellipse 49" descr="sci-ppt:o049"/>
          <p:cNvSpPr/>
          <p:nvPr/>
        </p:nvSpPr>
        <p:spPr>
          <a:xfrm>
            <a:off x="7941564" y="299415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12 text 50" descr="sci-ppt:o050"/>
          <p:cNvSpPr txBox="1"/>
          <p:nvPr/>
        </p:nvSpPr>
        <p:spPr>
          <a:xfrm>
            <a:off x="8110728" y="3415664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Reaching it does not by itself start a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bubble: nucleation is a separate step.</a:t>
            </a:r>
          </a:p>
        </p:txBody>
      </p:sp>
      <p:sp>
        <p:nvSpPr>
          <p:cNvPr id="53" name="C2-E12 ellipse 51" descr="sci-ppt:o051"/>
          <p:cNvSpPr/>
          <p:nvPr/>
        </p:nvSpPr>
        <p:spPr>
          <a:xfrm>
            <a:off x="7941564" y="347294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2-E12 text 52" descr="sci-ppt:o052"/>
          <p:cNvSpPr txBox="1"/>
          <p:nvPr/>
        </p:nvSpPr>
        <p:spPr>
          <a:xfrm>
            <a:off x="914400" y="5733288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At 293 K the saturation pressure is below 1 bar; the liquid is superheated only when the surroundings or the liquid pressure sit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below the curve.</a:t>
            </a:r>
          </a:p>
        </p:txBody>
      </p:sp>
      <p:sp>
        <p:nvSpPr>
          <p:cNvPr id="55" name="C2-E12 text 53" descr="sci-ppt:o05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Empirical PFP correlation of Eq. C2-E12 (log scale).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C2-E13 · Verified empirical water property correlations</a:t>
            </a:r>
          </a:p>
        </p:txBody>
      </p:sp>
      <p:cxnSp>
        <p:nvCxnSpPr>
          <p:cNvPr id="3" name="C2-E13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3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3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3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3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270</a:t>
            </a:r>
          </a:p>
        </p:txBody>
      </p:sp>
      <p:cxnSp>
        <p:nvCxnSpPr>
          <p:cNvPr id="8" name="C2-E13 line 6" descr="sci-ppt:o006"/>
          <p:cNvCxnSpPr/>
          <p:nvPr/>
        </p:nvCxnSpPr>
        <p:spPr>
          <a:xfrm>
            <a:off x="185492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3 line 7" descr="sci-ppt:o007"/>
          <p:cNvCxnSpPr/>
          <p:nvPr/>
        </p:nvCxnSpPr>
        <p:spPr>
          <a:xfrm>
            <a:off x="185492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3 text 8" descr="sci-ppt:o008"/>
          <p:cNvSpPr txBox="1"/>
          <p:nvPr/>
        </p:nvSpPr>
        <p:spPr>
          <a:xfrm>
            <a:off x="139772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280</a:t>
            </a:r>
          </a:p>
        </p:txBody>
      </p:sp>
      <p:cxnSp>
        <p:nvCxnSpPr>
          <p:cNvPr id="11" name="C2-E13 line 9" descr="sci-ppt:o009"/>
          <p:cNvCxnSpPr/>
          <p:nvPr/>
        </p:nvCxnSpPr>
        <p:spPr>
          <a:xfrm>
            <a:off x="2795451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3 line 10" descr="sci-ppt:o010"/>
          <p:cNvCxnSpPr/>
          <p:nvPr/>
        </p:nvCxnSpPr>
        <p:spPr>
          <a:xfrm>
            <a:off x="2795451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3 text 11" descr="sci-ppt:o011"/>
          <p:cNvSpPr txBox="1"/>
          <p:nvPr/>
        </p:nvSpPr>
        <p:spPr>
          <a:xfrm>
            <a:off x="2338251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290</a:t>
            </a:r>
          </a:p>
        </p:txBody>
      </p:sp>
      <p:cxnSp>
        <p:nvCxnSpPr>
          <p:cNvPr id="14" name="C2-E13 line 12" descr="sci-ppt:o012"/>
          <p:cNvCxnSpPr/>
          <p:nvPr/>
        </p:nvCxnSpPr>
        <p:spPr>
          <a:xfrm>
            <a:off x="373597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3 line 13" descr="sci-ppt:o013"/>
          <p:cNvCxnSpPr/>
          <p:nvPr/>
        </p:nvCxnSpPr>
        <p:spPr>
          <a:xfrm>
            <a:off x="373597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3 text 14" descr="sci-ppt:o014"/>
          <p:cNvSpPr txBox="1"/>
          <p:nvPr/>
        </p:nvSpPr>
        <p:spPr>
          <a:xfrm>
            <a:off x="327877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cxnSp>
        <p:nvCxnSpPr>
          <p:cNvPr id="17" name="C2-E13 line 15" descr="sci-ppt:o015"/>
          <p:cNvCxnSpPr/>
          <p:nvPr/>
        </p:nvCxnSpPr>
        <p:spPr>
          <a:xfrm>
            <a:off x="467650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3 line 16" descr="sci-ppt:o016"/>
          <p:cNvCxnSpPr/>
          <p:nvPr/>
        </p:nvCxnSpPr>
        <p:spPr>
          <a:xfrm>
            <a:off x="467650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3 text 17" descr="sci-ppt:o017"/>
          <p:cNvSpPr txBox="1"/>
          <p:nvPr/>
        </p:nvSpPr>
        <p:spPr>
          <a:xfrm>
            <a:off x="421930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310</a:t>
            </a:r>
          </a:p>
        </p:txBody>
      </p:sp>
      <p:cxnSp>
        <p:nvCxnSpPr>
          <p:cNvPr id="20" name="C2-E13 line 18" descr="sci-ppt:o018"/>
          <p:cNvCxnSpPr/>
          <p:nvPr/>
        </p:nvCxnSpPr>
        <p:spPr>
          <a:xfrm>
            <a:off x="561702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3 line 19" descr="sci-ppt:o019"/>
          <p:cNvCxnSpPr/>
          <p:nvPr/>
        </p:nvCxnSpPr>
        <p:spPr>
          <a:xfrm>
            <a:off x="561702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3 text 20" descr="sci-ppt:o020"/>
          <p:cNvSpPr txBox="1"/>
          <p:nvPr/>
        </p:nvSpPr>
        <p:spPr>
          <a:xfrm>
            <a:off x="515982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320</a:t>
            </a:r>
          </a:p>
        </p:txBody>
      </p:sp>
      <p:cxnSp>
        <p:nvCxnSpPr>
          <p:cNvPr id="23" name="C2-E13 line 21" descr="sci-ppt:o021"/>
          <p:cNvCxnSpPr/>
          <p:nvPr/>
        </p:nvCxnSpPr>
        <p:spPr>
          <a:xfrm>
            <a:off x="655755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3 line 22" descr="sci-ppt:o022"/>
          <p:cNvCxnSpPr/>
          <p:nvPr/>
        </p:nvCxnSpPr>
        <p:spPr>
          <a:xfrm>
            <a:off x="655755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3 text 23" descr="sci-ppt:o023"/>
          <p:cNvSpPr txBox="1"/>
          <p:nvPr/>
        </p:nvSpPr>
        <p:spPr>
          <a:xfrm>
            <a:off x="610035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330</a:t>
            </a:r>
          </a:p>
        </p:txBody>
      </p:sp>
      <p:cxnSp>
        <p:nvCxnSpPr>
          <p:cNvPr id="26" name="C2-E13 line 24" descr="sci-ppt:o024"/>
          <p:cNvCxnSpPr/>
          <p:nvPr/>
        </p:nvCxnSpPr>
        <p:spPr>
          <a:xfrm>
            <a:off x="7498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3 line 25" descr="sci-ppt:o025"/>
          <p:cNvCxnSpPr/>
          <p:nvPr/>
        </p:nvCxnSpPr>
        <p:spPr>
          <a:xfrm>
            <a:off x="7498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3 text 26" descr="sci-ppt:o026"/>
          <p:cNvSpPr txBox="1"/>
          <p:nvPr/>
        </p:nvSpPr>
        <p:spPr>
          <a:xfrm>
            <a:off x="7040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340</a:t>
            </a:r>
          </a:p>
        </p:txBody>
      </p:sp>
      <p:cxnSp>
        <p:nvCxnSpPr>
          <p:cNvPr id="29" name="C2-E13 line 27" descr="sci-ppt:o027"/>
          <p:cNvCxnSpPr/>
          <p:nvPr/>
        </p:nvCxnSpPr>
        <p:spPr>
          <a:xfrm>
            <a:off x="850392" y="455921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13 line 28" descr="sci-ppt:o028"/>
          <p:cNvCxnSpPr/>
          <p:nvPr/>
        </p:nvCxnSpPr>
        <p:spPr>
          <a:xfrm>
            <a:off x="914400" y="4559213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13 text 29" descr="sci-ppt:o029"/>
          <p:cNvSpPr txBox="1"/>
          <p:nvPr/>
        </p:nvSpPr>
        <p:spPr>
          <a:xfrm>
            <a:off x="45720" y="447691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32" name="C2-E13 line 30" descr="sci-ppt:o030"/>
          <p:cNvCxnSpPr/>
          <p:nvPr/>
        </p:nvCxnSpPr>
        <p:spPr>
          <a:xfrm>
            <a:off x="850392" y="337816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13 line 31" descr="sci-ppt:o031"/>
          <p:cNvCxnSpPr/>
          <p:nvPr/>
        </p:nvCxnSpPr>
        <p:spPr>
          <a:xfrm>
            <a:off x="914400" y="3378165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13 text 32" descr="sci-ppt:o032"/>
          <p:cNvSpPr txBox="1"/>
          <p:nvPr/>
        </p:nvSpPr>
        <p:spPr>
          <a:xfrm>
            <a:off x="45720" y="329586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35" name="C2-E13 line 33" descr="sci-ppt:o033"/>
          <p:cNvCxnSpPr/>
          <p:nvPr/>
        </p:nvCxnSpPr>
        <p:spPr>
          <a:xfrm>
            <a:off x="850392" y="219711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2-E13 line 34" descr="sci-ppt:o034"/>
          <p:cNvCxnSpPr/>
          <p:nvPr/>
        </p:nvCxnSpPr>
        <p:spPr>
          <a:xfrm>
            <a:off x="914400" y="2197117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2-E13 text 35" descr="sci-ppt:o035"/>
          <p:cNvSpPr txBox="1"/>
          <p:nvPr/>
        </p:nvSpPr>
        <p:spPr>
          <a:xfrm>
            <a:off x="45720" y="211482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8" name="C2-E13 text 36" descr="sci-ppt:o036"/>
          <p:cNvSpPr txBox="1"/>
          <p:nvPr/>
        </p:nvSpPr>
        <p:spPr>
          <a:xfrm>
            <a:off x="914400" y="531266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T  (K)</a:t>
            </a:r>
          </a:p>
        </p:txBody>
      </p:sp>
      <p:sp>
        <p:nvSpPr>
          <p:cNvPr id="39" name="C2-E13 text 37" descr="sci-ppt:o037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pₛₐₜ  (bar)</a:t>
            </a:r>
          </a:p>
        </p:txBody>
      </p:sp>
      <p:sp>
        <p:nvSpPr>
          <p:cNvPr id="40" name="C2-E13 polygon 38" descr="sci-ppt:o038"/>
          <p:cNvSpPr/>
          <p:nvPr/>
        </p:nvSpPr>
        <p:spPr>
          <a:xfrm>
            <a:off x="1196557" y="3822228"/>
            <a:ext cx="2821577" cy="995434"/>
          </a:xfrm>
          <a:custGeom>
            <a:avLst/>
            <a:gdLst/>
            <a:ahLst/>
            <a:cxnLst/>
            <a:rect l="l" t="t" r="r" b="b"/>
            <a:pathLst>
              <a:path w="2821577" h="995434">
                <a:moveTo>
                  <a:pt x="0" y="995434"/>
                </a:moveTo>
                <a:lnTo>
                  <a:pt x="28501" y="984143"/>
                </a:lnTo>
                <a:lnTo>
                  <a:pt x="57002" y="972880"/>
                </a:lnTo>
                <a:lnTo>
                  <a:pt x="85503" y="961646"/>
                </a:lnTo>
                <a:lnTo>
                  <a:pt x="114003" y="950439"/>
                </a:lnTo>
                <a:lnTo>
                  <a:pt x="142504" y="939261"/>
                </a:lnTo>
                <a:lnTo>
                  <a:pt x="171005" y="928110"/>
                </a:lnTo>
                <a:lnTo>
                  <a:pt x="199506" y="916988"/>
                </a:lnTo>
                <a:lnTo>
                  <a:pt x="228006" y="905892"/>
                </a:lnTo>
                <a:lnTo>
                  <a:pt x="256507" y="894825"/>
                </a:lnTo>
                <a:lnTo>
                  <a:pt x="285008" y="883785"/>
                </a:lnTo>
                <a:lnTo>
                  <a:pt x="313509" y="872772"/>
                </a:lnTo>
                <a:lnTo>
                  <a:pt x="342010" y="861786"/>
                </a:lnTo>
                <a:lnTo>
                  <a:pt x="370510" y="850828"/>
                </a:lnTo>
                <a:lnTo>
                  <a:pt x="399011" y="839897"/>
                </a:lnTo>
                <a:lnTo>
                  <a:pt x="427512" y="828992"/>
                </a:lnTo>
                <a:lnTo>
                  <a:pt x="456013" y="818115"/>
                </a:lnTo>
                <a:lnTo>
                  <a:pt x="484513" y="807264"/>
                </a:lnTo>
                <a:lnTo>
                  <a:pt x="513014" y="796440"/>
                </a:lnTo>
                <a:lnTo>
                  <a:pt x="541515" y="785642"/>
                </a:lnTo>
                <a:lnTo>
                  <a:pt x="570016" y="774871"/>
                </a:lnTo>
                <a:lnTo>
                  <a:pt x="598517" y="764126"/>
                </a:lnTo>
                <a:lnTo>
                  <a:pt x="627017" y="753408"/>
                </a:lnTo>
                <a:lnTo>
                  <a:pt x="655518" y="742716"/>
                </a:lnTo>
                <a:lnTo>
                  <a:pt x="684019" y="732049"/>
                </a:lnTo>
                <a:lnTo>
                  <a:pt x="712520" y="721409"/>
                </a:lnTo>
                <a:lnTo>
                  <a:pt x="741020" y="710795"/>
                </a:lnTo>
                <a:lnTo>
                  <a:pt x="769521" y="700206"/>
                </a:lnTo>
                <a:lnTo>
                  <a:pt x="798022" y="689643"/>
                </a:lnTo>
                <a:lnTo>
                  <a:pt x="826523" y="679106"/>
                </a:lnTo>
                <a:lnTo>
                  <a:pt x="855024" y="668594"/>
                </a:lnTo>
                <a:lnTo>
                  <a:pt x="883524" y="658108"/>
                </a:lnTo>
                <a:lnTo>
                  <a:pt x="912025" y="647647"/>
                </a:lnTo>
                <a:lnTo>
                  <a:pt x="940526" y="637211"/>
                </a:lnTo>
                <a:lnTo>
                  <a:pt x="969027" y="626801"/>
                </a:lnTo>
                <a:lnTo>
                  <a:pt x="997527" y="616415"/>
                </a:lnTo>
                <a:lnTo>
                  <a:pt x="1026028" y="606054"/>
                </a:lnTo>
                <a:lnTo>
                  <a:pt x="1054529" y="595719"/>
                </a:lnTo>
                <a:lnTo>
                  <a:pt x="1083030" y="585408"/>
                </a:lnTo>
                <a:lnTo>
                  <a:pt x="1111531" y="575121"/>
                </a:lnTo>
                <a:lnTo>
                  <a:pt x="1140031" y="564860"/>
                </a:lnTo>
                <a:lnTo>
                  <a:pt x="1168532" y="554622"/>
                </a:lnTo>
                <a:lnTo>
                  <a:pt x="1197033" y="544410"/>
                </a:lnTo>
                <a:lnTo>
                  <a:pt x="1225534" y="534221"/>
                </a:lnTo>
                <a:lnTo>
                  <a:pt x="1254034" y="524057"/>
                </a:lnTo>
                <a:lnTo>
                  <a:pt x="1282535" y="513917"/>
                </a:lnTo>
                <a:lnTo>
                  <a:pt x="1311036" y="503801"/>
                </a:lnTo>
                <a:lnTo>
                  <a:pt x="1339537" y="493709"/>
                </a:lnTo>
                <a:lnTo>
                  <a:pt x="1368038" y="483641"/>
                </a:lnTo>
                <a:lnTo>
                  <a:pt x="1396538" y="473597"/>
                </a:lnTo>
                <a:lnTo>
                  <a:pt x="1425039" y="463577"/>
                </a:lnTo>
                <a:lnTo>
                  <a:pt x="1453540" y="453580"/>
                </a:lnTo>
                <a:lnTo>
                  <a:pt x="1482041" y="443607"/>
                </a:lnTo>
                <a:lnTo>
                  <a:pt x="1510542" y="433657"/>
                </a:lnTo>
                <a:lnTo>
                  <a:pt x="1539042" y="423730"/>
                </a:lnTo>
                <a:lnTo>
                  <a:pt x="1567543" y="413827"/>
                </a:lnTo>
                <a:lnTo>
                  <a:pt x="1596044" y="403948"/>
                </a:lnTo>
                <a:lnTo>
                  <a:pt x="1624545" y="394091"/>
                </a:lnTo>
                <a:lnTo>
                  <a:pt x="1653045" y="384258"/>
                </a:lnTo>
                <a:lnTo>
                  <a:pt x="1681546" y="374447"/>
                </a:lnTo>
                <a:lnTo>
                  <a:pt x="1710047" y="364660"/>
                </a:lnTo>
                <a:lnTo>
                  <a:pt x="1738548" y="354895"/>
                </a:lnTo>
                <a:lnTo>
                  <a:pt x="1767049" y="345153"/>
                </a:lnTo>
                <a:lnTo>
                  <a:pt x="1795549" y="335433"/>
                </a:lnTo>
                <a:lnTo>
                  <a:pt x="1824050" y="325737"/>
                </a:lnTo>
                <a:lnTo>
                  <a:pt x="1852551" y="316062"/>
                </a:lnTo>
                <a:lnTo>
                  <a:pt x="1881052" y="306411"/>
                </a:lnTo>
                <a:lnTo>
                  <a:pt x="1909552" y="296781"/>
                </a:lnTo>
                <a:lnTo>
                  <a:pt x="1938053" y="287174"/>
                </a:lnTo>
                <a:lnTo>
                  <a:pt x="1966554" y="277589"/>
                </a:lnTo>
                <a:lnTo>
                  <a:pt x="1995055" y="268026"/>
                </a:lnTo>
                <a:lnTo>
                  <a:pt x="2023556" y="258486"/>
                </a:lnTo>
                <a:lnTo>
                  <a:pt x="2052056" y="248967"/>
                </a:lnTo>
                <a:lnTo>
                  <a:pt x="2080557" y="239470"/>
                </a:lnTo>
                <a:lnTo>
                  <a:pt x="2109058" y="229995"/>
                </a:lnTo>
                <a:lnTo>
                  <a:pt x="2137559" y="220542"/>
                </a:lnTo>
                <a:lnTo>
                  <a:pt x="2166059" y="211110"/>
                </a:lnTo>
                <a:lnTo>
                  <a:pt x="2194560" y="201700"/>
                </a:lnTo>
                <a:lnTo>
                  <a:pt x="2223061" y="192312"/>
                </a:lnTo>
                <a:lnTo>
                  <a:pt x="2251562" y="182945"/>
                </a:lnTo>
                <a:lnTo>
                  <a:pt x="2280063" y="173599"/>
                </a:lnTo>
                <a:lnTo>
                  <a:pt x="2308563" y="164275"/>
                </a:lnTo>
                <a:lnTo>
                  <a:pt x="2337064" y="154972"/>
                </a:lnTo>
                <a:lnTo>
                  <a:pt x="2365565" y="145690"/>
                </a:lnTo>
                <a:lnTo>
                  <a:pt x="2394066" y="136429"/>
                </a:lnTo>
                <a:lnTo>
                  <a:pt x="2422566" y="127189"/>
                </a:lnTo>
                <a:lnTo>
                  <a:pt x="2451067" y="117971"/>
                </a:lnTo>
                <a:lnTo>
                  <a:pt x="2479568" y="108773"/>
                </a:lnTo>
                <a:lnTo>
                  <a:pt x="2508069" y="99595"/>
                </a:lnTo>
                <a:lnTo>
                  <a:pt x="2536570" y="90439"/>
                </a:lnTo>
                <a:lnTo>
                  <a:pt x="2565070" y="81303"/>
                </a:lnTo>
                <a:lnTo>
                  <a:pt x="2593571" y="72188"/>
                </a:lnTo>
                <a:lnTo>
                  <a:pt x="2622072" y="63093"/>
                </a:lnTo>
                <a:lnTo>
                  <a:pt x="2650573" y="54019"/>
                </a:lnTo>
                <a:lnTo>
                  <a:pt x="2679073" y="44965"/>
                </a:lnTo>
                <a:lnTo>
                  <a:pt x="2707574" y="35932"/>
                </a:lnTo>
                <a:lnTo>
                  <a:pt x="2736075" y="26919"/>
                </a:lnTo>
                <a:lnTo>
                  <a:pt x="2764576" y="17926"/>
                </a:lnTo>
                <a:lnTo>
                  <a:pt x="2793077" y="8953"/>
                </a:lnTo>
                <a:lnTo>
                  <a:pt x="2821577" y="0"/>
                </a:lnTo>
              </a:path>
            </a:pathLst>
          </a:custGeom>
          <a:noFill/>
          <a:ln w="381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3 polygon 39" descr="sci-ppt:o039"/>
          <p:cNvSpPr/>
          <p:nvPr/>
        </p:nvSpPr>
        <p:spPr>
          <a:xfrm>
            <a:off x="4112187" y="3028058"/>
            <a:ext cx="2727525" cy="764920"/>
          </a:xfrm>
          <a:custGeom>
            <a:avLst/>
            <a:gdLst/>
            <a:ahLst/>
            <a:cxnLst/>
            <a:rect l="l" t="t" r="r" b="b"/>
            <a:pathLst>
              <a:path w="2727525" h="764920">
                <a:moveTo>
                  <a:pt x="0" y="764920"/>
                </a:moveTo>
                <a:lnTo>
                  <a:pt x="27551" y="756355"/>
                </a:lnTo>
                <a:lnTo>
                  <a:pt x="55101" y="747810"/>
                </a:lnTo>
                <a:lnTo>
                  <a:pt x="82652" y="739284"/>
                </a:lnTo>
                <a:lnTo>
                  <a:pt x="110203" y="730777"/>
                </a:lnTo>
                <a:lnTo>
                  <a:pt x="137754" y="722288"/>
                </a:lnTo>
                <a:lnTo>
                  <a:pt x="165304" y="713818"/>
                </a:lnTo>
                <a:lnTo>
                  <a:pt x="192855" y="705366"/>
                </a:lnTo>
                <a:lnTo>
                  <a:pt x="220406" y="696933"/>
                </a:lnTo>
                <a:lnTo>
                  <a:pt x="247957" y="688519"/>
                </a:lnTo>
                <a:lnTo>
                  <a:pt x="275507" y="680123"/>
                </a:lnTo>
                <a:lnTo>
                  <a:pt x="303058" y="671746"/>
                </a:lnTo>
                <a:lnTo>
                  <a:pt x="330609" y="663386"/>
                </a:lnTo>
                <a:lnTo>
                  <a:pt x="358160" y="655045"/>
                </a:lnTo>
                <a:lnTo>
                  <a:pt x="385710" y="646722"/>
                </a:lnTo>
                <a:lnTo>
                  <a:pt x="413261" y="638418"/>
                </a:lnTo>
                <a:lnTo>
                  <a:pt x="440812" y="630131"/>
                </a:lnTo>
                <a:lnTo>
                  <a:pt x="468363" y="621862"/>
                </a:lnTo>
                <a:lnTo>
                  <a:pt x="495913" y="613612"/>
                </a:lnTo>
                <a:lnTo>
                  <a:pt x="523464" y="605379"/>
                </a:lnTo>
                <a:lnTo>
                  <a:pt x="551015" y="597164"/>
                </a:lnTo>
                <a:lnTo>
                  <a:pt x="578566" y="588967"/>
                </a:lnTo>
                <a:lnTo>
                  <a:pt x="606117" y="580788"/>
                </a:lnTo>
                <a:lnTo>
                  <a:pt x="633667" y="572626"/>
                </a:lnTo>
                <a:lnTo>
                  <a:pt x="661218" y="564482"/>
                </a:lnTo>
                <a:lnTo>
                  <a:pt x="688769" y="556355"/>
                </a:lnTo>
                <a:lnTo>
                  <a:pt x="716320" y="548246"/>
                </a:lnTo>
                <a:lnTo>
                  <a:pt x="743870" y="540154"/>
                </a:lnTo>
                <a:lnTo>
                  <a:pt x="771421" y="532080"/>
                </a:lnTo>
                <a:lnTo>
                  <a:pt x="798972" y="524023"/>
                </a:lnTo>
                <a:lnTo>
                  <a:pt x="826523" y="515984"/>
                </a:lnTo>
                <a:lnTo>
                  <a:pt x="854073" y="507961"/>
                </a:lnTo>
                <a:lnTo>
                  <a:pt x="881624" y="499956"/>
                </a:lnTo>
                <a:lnTo>
                  <a:pt x="909175" y="491968"/>
                </a:lnTo>
                <a:lnTo>
                  <a:pt x="936726" y="483996"/>
                </a:lnTo>
                <a:lnTo>
                  <a:pt x="964276" y="476042"/>
                </a:lnTo>
                <a:lnTo>
                  <a:pt x="991827" y="468105"/>
                </a:lnTo>
                <a:lnTo>
                  <a:pt x="1019378" y="460185"/>
                </a:lnTo>
                <a:lnTo>
                  <a:pt x="1046929" y="452281"/>
                </a:lnTo>
                <a:lnTo>
                  <a:pt x="1074479" y="444395"/>
                </a:lnTo>
                <a:lnTo>
                  <a:pt x="1102030" y="436525"/>
                </a:lnTo>
                <a:lnTo>
                  <a:pt x="1129581" y="428671"/>
                </a:lnTo>
                <a:lnTo>
                  <a:pt x="1157132" y="420835"/>
                </a:lnTo>
                <a:lnTo>
                  <a:pt x="1184682" y="413015"/>
                </a:lnTo>
                <a:lnTo>
                  <a:pt x="1212233" y="405211"/>
                </a:lnTo>
                <a:lnTo>
                  <a:pt x="1239784" y="397424"/>
                </a:lnTo>
                <a:lnTo>
                  <a:pt x="1267335" y="389653"/>
                </a:lnTo>
                <a:lnTo>
                  <a:pt x="1294885" y="381899"/>
                </a:lnTo>
                <a:lnTo>
                  <a:pt x="1322436" y="374161"/>
                </a:lnTo>
                <a:lnTo>
                  <a:pt x="1349987" y="366439"/>
                </a:lnTo>
                <a:lnTo>
                  <a:pt x="1377538" y="358733"/>
                </a:lnTo>
                <a:lnTo>
                  <a:pt x="1405088" y="351044"/>
                </a:lnTo>
                <a:lnTo>
                  <a:pt x="1432639" y="343371"/>
                </a:lnTo>
                <a:lnTo>
                  <a:pt x="1460190" y="335713"/>
                </a:lnTo>
                <a:lnTo>
                  <a:pt x="1487741" y="328072"/>
                </a:lnTo>
                <a:lnTo>
                  <a:pt x="1515291" y="320447"/>
                </a:lnTo>
                <a:lnTo>
                  <a:pt x="1542842" y="312837"/>
                </a:lnTo>
                <a:lnTo>
                  <a:pt x="1570393" y="305244"/>
                </a:lnTo>
                <a:lnTo>
                  <a:pt x="1597944" y="297666"/>
                </a:lnTo>
                <a:lnTo>
                  <a:pt x="1625494" y="290104"/>
                </a:lnTo>
                <a:lnTo>
                  <a:pt x="1653045" y="282558"/>
                </a:lnTo>
                <a:lnTo>
                  <a:pt x="1680596" y="275027"/>
                </a:lnTo>
                <a:lnTo>
                  <a:pt x="1708147" y="267512"/>
                </a:lnTo>
                <a:lnTo>
                  <a:pt x="1735697" y="260012"/>
                </a:lnTo>
                <a:lnTo>
                  <a:pt x="1763248" y="252528"/>
                </a:lnTo>
                <a:lnTo>
                  <a:pt x="1790799" y="245060"/>
                </a:lnTo>
                <a:lnTo>
                  <a:pt x="1818350" y="237607"/>
                </a:lnTo>
                <a:lnTo>
                  <a:pt x="1845900" y="230169"/>
                </a:lnTo>
                <a:lnTo>
                  <a:pt x="1873451" y="222747"/>
                </a:lnTo>
                <a:lnTo>
                  <a:pt x="1901002" y="215340"/>
                </a:lnTo>
                <a:lnTo>
                  <a:pt x="1928553" y="207948"/>
                </a:lnTo>
                <a:lnTo>
                  <a:pt x="1956103" y="200571"/>
                </a:lnTo>
                <a:lnTo>
                  <a:pt x="1983654" y="193209"/>
                </a:lnTo>
                <a:lnTo>
                  <a:pt x="2011205" y="185863"/>
                </a:lnTo>
                <a:lnTo>
                  <a:pt x="2038756" y="178531"/>
                </a:lnTo>
                <a:lnTo>
                  <a:pt x="2066306" y="171215"/>
                </a:lnTo>
                <a:lnTo>
                  <a:pt x="2093857" y="163913"/>
                </a:lnTo>
                <a:lnTo>
                  <a:pt x="2121408" y="156627"/>
                </a:lnTo>
                <a:lnTo>
                  <a:pt x="2148959" y="149355"/>
                </a:lnTo>
                <a:lnTo>
                  <a:pt x="2176509" y="142098"/>
                </a:lnTo>
                <a:lnTo>
                  <a:pt x="2204060" y="134856"/>
                </a:lnTo>
                <a:lnTo>
                  <a:pt x="2231611" y="127628"/>
                </a:lnTo>
                <a:lnTo>
                  <a:pt x="2259162" y="120415"/>
                </a:lnTo>
                <a:lnTo>
                  <a:pt x="2286712" y="113217"/>
                </a:lnTo>
                <a:lnTo>
                  <a:pt x="2314263" y="106034"/>
                </a:lnTo>
                <a:lnTo>
                  <a:pt x="2341814" y="98865"/>
                </a:lnTo>
                <a:lnTo>
                  <a:pt x="2369365" y="91710"/>
                </a:lnTo>
                <a:lnTo>
                  <a:pt x="2396915" y="84570"/>
                </a:lnTo>
                <a:lnTo>
                  <a:pt x="2424466" y="77444"/>
                </a:lnTo>
                <a:lnTo>
                  <a:pt x="2452017" y="70333"/>
                </a:lnTo>
                <a:lnTo>
                  <a:pt x="2479568" y="63236"/>
                </a:lnTo>
                <a:lnTo>
                  <a:pt x="2507118" y="56153"/>
                </a:lnTo>
                <a:lnTo>
                  <a:pt x="2534669" y="49085"/>
                </a:lnTo>
                <a:lnTo>
                  <a:pt x="2562220" y="42030"/>
                </a:lnTo>
                <a:lnTo>
                  <a:pt x="2589771" y="34990"/>
                </a:lnTo>
                <a:lnTo>
                  <a:pt x="2617321" y="27964"/>
                </a:lnTo>
                <a:lnTo>
                  <a:pt x="2644872" y="20952"/>
                </a:lnTo>
                <a:lnTo>
                  <a:pt x="2672423" y="13954"/>
                </a:lnTo>
                <a:lnTo>
                  <a:pt x="2699974" y="6970"/>
                </a:lnTo>
                <a:lnTo>
                  <a:pt x="2727525" y="0"/>
                </a:lnTo>
              </a:path>
            </a:pathLst>
          </a:custGeom>
          <a:noFill/>
          <a:ln w="381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3 polygon 40" descr="sci-ppt:o040"/>
          <p:cNvSpPr/>
          <p:nvPr/>
        </p:nvSpPr>
        <p:spPr>
          <a:xfrm>
            <a:off x="2120153" y="1600043"/>
            <a:ext cx="5184178" cy="991224"/>
          </a:xfrm>
          <a:custGeom>
            <a:avLst/>
            <a:gdLst/>
            <a:ahLst/>
            <a:cxnLst/>
            <a:rect l="l" t="t" r="r" b="b"/>
            <a:pathLst>
              <a:path w="5184178" h="991224">
                <a:moveTo>
                  <a:pt x="0" y="991224"/>
                </a:moveTo>
                <a:lnTo>
                  <a:pt x="52366" y="978969"/>
                </a:lnTo>
                <a:lnTo>
                  <a:pt x="104731" y="966770"/>
                </a:lnTo>
                <a:lnTo>
                  <a:pt x="157097" y="954626"/>
                </a:lnTo>
                <a:lnTo>
                  <a:pt x="209462" y="942538"/>
                </a:lnTo>
                <a:lnTo>
                  <a:pt x="261828" y="930504"/>
                </a:lnTo>
                <a:lnTo>
                  <a:pt x="314193" y="918525"/>
                </a:lnTo>
                <a:lnTo>
                  <a:pt x="366558" y="906600"/>
                </a:lnTo>
                <a:lnTo>
                  <a:pt x="418924" y="894728"/>
                </a:lnTo>
                <a:lnTo>
                  <a:pt x="471289" y="882910"/>
                </a:lnTo>
                <a:lnTo>
                  <a:pt x="523655" y="871144"/>
                </a:lnTo>
                <a:lnTo>
                  <a:pt x="576020" y="859431"/>
                </a:lnTo>
                <a:lnTo>
                  <a:pt x="628386" y="847771"/>
                </a:lnTo>
                <a:lnTo>
                  <a:pt x="680751" y="836162"/>
                </a:lnTo>
                <a:lnTo>
                  <a:pt x="733117" y="824605"/>
                </a:lnTo>
                <a:lnTo>
                  <a:pt x="785482" y="813099"/>
                </a:lnTo>
                <a:lnTo>
                  <a:pt x="837847" y="801644"/>
                </a:lnTo>
                <a:lnTo>
                  <a:pt x="890213" y="790239"/>
                </a:lnTo>
                <a:lnTo>
                  <a:pt x="942578" y="778885"/>
                </a:lnTo>
                <a:lnTo>
                  <a:pt x="994944" y="767580"/>
                </a:lnTo>
                <a:lnTo>
                  <a:pt x="1047309" y="756325"/>
                </a:lnTo>
                <a:lnTo>
                  <a:pt x="1099675" y="745120"/>
                </a:lnTo>
                <a:lnTo>
                  <a:pt x="1152040" y="733963"/>
                </a:lnTo>
                <a:lnTo>
                  <a:pt x="1204405" y="722854"/>
                </a:lnTo>
                <a:lnTo>
                  <a:pt x="1256771" y="711794"/>
                </a:lnTo>
                <a:lnTo>
                  <a:pt x="1309136" y="700782"/>
                </a:lnTo>
                <a:lnTo>
                  <a:pt x="1361502" y="689817"/>
                </a:lnTo>
                <a:lnTo>
                  <a:pt x="1413867" y="678900"/>
                </a:lnTo>
                <a:lnTo>
                  <a:pt x="1466233" y="668029"/>
                </a:lnTo>
                <a:lnTo>
                  <a:pt x="1518598" y="657206"/>
                </a:lnTo>
                <a:lnTo>
                  <a:pt x="1570963" y="646429"/>
                </a:lnTo>
                <a:lnTo>
                  <a:pt x="1623329" y="635698"/>
                </a:lnTo>
                <a:lnTo>
                  <a:pt x="1675694" y="625012"/>
                </a:lnTo>
                <a:lnTo>
                  <a:pt x="1728060" y="614372"/>
                </a:lnTo>
                <a:lnTo>
                  <a:pt x="1780425" y="603778"/>
                </a:lnTo>
                <a:lnTo>
                  <a:pt x="1832791" y="593228"/>
                </a:lnTo>
                <a:lnTo>
                  <a:pt x="1885156" y="582723"/>
                </a:lnTo>
                <a:lnTo>
                  <a:pt x="1937521" y="572263"/>
                </a:lnTo>
                <a:lnTo>
                  <a:pt x="1989887" y="561846"/>
                </a:lnTo>
                <a:lnTo>
                  <a:pt x="2042252" y="551473"/>
                </a:lnTo>
                <a:lnTo>
                  <a:pt x="2094618" y="541144"/>
                </a:lnTo>
                <a:lnTo>
                  <a:pt x="2146983" y="530858"/>
                </a:lnTo>
                <a:lnTo>
                  <a:pt x="2199349" y="520615"/>
                </a:lnTo>
                <a:lnTo>
                  <a:pt x="2251714" y="510415"/>
                </a:lnTo>
                <a:lnTo>
                  <a:pt x="2304079" y="500257"/>
                </a:lnTo>
                <a:lnTo>
                  <a:pt x="2356445" y="490142"/>
                </a:lnTo>
                <a:lnTo>
                  <a:pt x="2408810" y="480068"/>
                </a:lnTo>
                <a:lnTo>
                  <a:pt x="2461176" y="470036"/>
                </a:lnTo>
                <a:lnTo>
                  <a:pt x="2513541" y="460046"/>
                </a:lnTo>
                <a:lnTo>
                  <a:pt x="2565907" y="450096"/>
                </a:lnTo>
                <a:lnTo>
                  <a:pt x="2618272" y="440188"/>
                </a:lnTo>
                <a:lnTo>
                  <a:pt x="2670637" y="430320"/>
                </a:lnTo>
                <a:lnTo>
                  <a:pt x="2723003" y="420492"/>
                </a:lnTo>
                <a:lnTo>
                  <a:pt x="2775368" y="410705"/>
                </a:lnTo>
                <a:lnTo>
                  <a:pt x="2827734" y="400958"/>
                </a:lnTo>
                <a:lnTo>
                  <a:pt x="2880099" y="391250"/>
                </a:lnTo>
                <a:lnTo>
                  <a:pt x="2932465" y="381582"/>
                </a:lnTo>
                <a:lnTo>
                  <a:pt x="2984830" y="371952"/>
                </a:lnTo>
                <a:lnTo>
                  <a:pt x="3037196" y="362362"/>
                </a:lnTo>
                <a:lnTo>
                  <a:pt x="3089561" y="352811"/>
                </a:lnTo>
                <a:lnTo>
                  <a:pt x="3141926" y="343298"/>
                </a:lnTo>
                <a:lnTo>
                  <a:pt x="3194292" y="333823"/>
                </a:lnTo>
                <a:lnTo>
                  <a:pt x="3246657" y="324386"/>
                </a:lnTo>
                <a:lnTo>
                  <a:pt x="3299023" y="314987"/>
                </a:lnTo>
                <a:lnTo>
                  <a:pt x="3351388" y="305626"/>
                </a:lnTo>
                <a:lnTo>
                  <a:pt x="3403754" y="296301"/>
                </a:lnTo>
                <a:lnTo>
                  <a:pt x="3456119" y="287014"/>
                </a:lnTo>
                <a:lnTo>
                  <a:pt x="3508484" y="277764"/>
                </a:lnTo>
                <a:lnTo>
                  <a:pt x="3560850" y="268551"/>
                </a:lnTo>
                <a:lnTo>
                  <a:pt x="3613215" y="259374"/>
                </a:lnTo>
                <a:lnTo>
                  <a:pt x="3665581" y="250233"/>
                </a:lnTo>
                <a:lnTo>
                  <a:pt x="3717946" y="241128"/>
                </a:lnTo>
                <a:lnTo>
                  <a:pt x="3770312" y="232059"/>
                </a:lnTo>
                <a:lnTo>
                  <a:pt x="3822677" y="223026"/>
                </a:lnTo>
                <a:lnTo>
                  <a:pt x="3875042" y="214028"/>
                </a:lnTo>
                <a:lnTo>
                  <a:pt x="3927408" y="205065"/>
                </a:lnTo>
                <a:lnTo>
                  <a:pt x="3979773" y="196138"/>
                </a:lnTo>
                <a:lnTo>
                  <a:pt x="4032139" y="187244"/>
                </a:lnTo>
                <a:lnTo>
                  <a:pt x="4084504" y="178386"/>
                </a:lnTo>
                <a:lnTo>
                  <a:pt x="4136870" y="169562"/>
                </a:lnTo>
                <a:lnTo>
                  <a:pt x="4189235" y="160772"/>
                </a:lnTo>
                <a:lnTo>
                  <a:pt x="4241600" y="152016"/>
                </a:lnTo>
                <a:lnTo>
                  <a:pt x="4293966" y="143294"/>
                </a:lnTo>
                <a:lnTo>
                  <a:pt x="4346331" y="134605"/>
                </a:lnTo>
                <a:lnTo>
                  <a:pt x="4398697" y="125950"/>
                </a:lnTo>
                <a:lnTo>
                  <a:pt x="4451062" y="117328"/>
                </a:lnTo>
                <a:lnTo>
                  <a:pt x="4503428" y="108739"/>
                </a:lnTo>
                <a:lnTo>
                  <a:pt x="4555793" y="100183"/>
                </a:lnTo>
                <a:lnTo>
                  <a:pt x="4608158" y="91659"/>
                </a:lnTo>
                <a:lnTo>
                  <a:pt x="4660524" y="83168"/>
                </a:lnTo>
                <a:lnTo>
                  <a:pt x="4712889" y="74709"/>
                </a:lnTo>
                <a:lnTo>
                  <a:pt x="4765255" y="66282"/>
                </a:lnTo>
                <a:lnTo>
                  <a:pt x="4817620" y="57887"/>
                </a:lnTo>
                <a:lnTo>
                  <a:pt x="4869986" y="49524"/>
                </a:lnTo>
                <a:lnTo>
                  <a:pt x="4922351" y="41192"/>
                </a:lnTo>
                <a:lnTo>
                  <a:pt x="4974716" y="32892"/>
                </a:lnTo>
                <a:lnTo>
                  <a:pt x="5027082" y="24623"/>
                </a:lnTo>
                <a:lnTo>
                  <a:pt x="5079447" y="16384"/>
                </a:lnTo>
                <a:lnTo>
                  <a:pt x="5131813" y="8177"/>
                </a:lnTo>
                <a:lnTo>
                  <a:pt x="5184178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3 rect 41" descr="sci-ppt:o041"/>
          <p:cNvSpPr/>
          <p:nvPr/>
        </p:nvSpPr>
        <p:spPr>
          <a:xfrm>
            <a:off x="4018134" y="1371600"/>
            <a:ext cx="94052" cy="3657600"/>
          </a:xfrm>
          <a:prstGeom prst="rect">
            <a:avLst/>
          </a:prstGeom>
          <a:solidFill>
            <a:srgbClr val="F28BA0">
              <a:alpha val="25000"/>
            </a:srgbClr>
          </a:solidFill>
          <a:ln>
            <a:solidFill>
              <a:srgbClr val="F28BA0">
                <a:alpha val="2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13 text 42" descr="sci-ppt:o042"/>
          <p:cNvSpPr txBox="1"/>
          <p:nvPr/>
        </p:nvSpPr>
        <p:spPr>
          <a:xfrm>
            <a:off x="2464961" y="1776455"/>
            <a:ext cx="15544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gap 303–304 K: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no value assigned</a:t>
            </a:r>
          </a:p>
        </p:txBody>
      </p:sp>
      <p:sp>
        <p:nvSpPr>
          <p:cNvPr id="45" name="C2-E13 text 43" descr="sci-ppt:o043"/>
          <p:cNvSpPr txBox="1"/>
          <p:nvPr/>
        </p:nvSpPr>
        <p:spPr>
          <a:xfrm>
            <a:off x="1175657" y="4112242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7FC8F8"/>
                </a:solidFill>
                <a:latin typeface="Arial"/>
              </a:rPr>
              <a:t>water (two fitted branches)</a:t>
            </a:r>
          </a:p>
        </p:txBody>
      </p:sp>
      <p:sp>
        <p:nvSpPr>
          <p:cNvPr id="46" name="C2-E13 text 44" descr="sci-ppt:o044"/>
          <p:cNvSpPr txBox="1"/>
          <p:nvPr/>
        </p:nvSpPr>
        <p:spPr>
          <a:xfrm>
            <a:off x="5784233" y="1448657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PFP</a:t>
            </a:r>
          </a:p>
        </p:txBody>
      </p:sp>
      <p:sp>
        <p:nvSpPr>
          <p:cNvPr id="47" name="C2-E13 ellipse 45" descr="sci-ppt:o045"/>
          <p:cNvSpPr/>
          <p:nvPr/>
        </p:nvSpPr>
        <p:spPr>
          <a:xfrm>
            <a:off x="5840142" y="3197176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2-E13 text 46" descr="sci-ppt:o046"/>
          <p:cNvSpPr txBox="1"/>
          <p:nvPr/>
        </p:nvSpPr>
        <p:spPr>
          <a:xfrm>
            <a:off x="4724574" y="2858848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0.12 bar</a:t>
            </a:r>
          </a:p>
        </p:txBody>
      </p:sp>
      <p:sp>
        <p:nvSpPr>
          <p:cNvPr id="49" name="C2-E13 ellipse 47" descr="sci-ppt:o047"/>
          <p:cNvSpPr/>
          <p:nvPr/>
        </p:nvSpPr>
        <p:spPr>
          <a:xfrm>
            <a:off x="5840142" y="1755008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3 text 48" descr="sci-ppt:o048"/>
          <p:cNvSpPr txBox="1"/>
          <p:nvPr/>
        </p:nvSpPr>
        <p:spPr>
          <a:xfrm>
            <a:off x="4724574" y="141668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2.05 bar</a:t>
            </a:r>
          </a:p>
        </p:txBody>
      </p:sp>
      <p:sp>
        <p:nvSpPr>
          <p:cNvPr id="51" name="C2-E13 round_rect 49" descr="sci-ppt:o049"/>
          <p:cNvSpPr/>
          <p:nvPr/>
        </p:nvSpPr>
        <p:spPr>
          <a:xfrm>
            <a:off x="7772400" y="1371600"/>
            <a:ext cx="40690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13 text 50" descr="sci-ppt:o050"/>
          <p:cNvSpPr txBox="1"/>
          <p:nvPr/>
        </p:nvSpPr>
        <p:spPr>
          <a:xfrm>
            <a:off x="7882127" y="1426464"/>
            <a:ext cx="38496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reference, not a reservoir</a:t>
            </a:r>
          </a:p>
        </p:txBody>
      </p:sp>
      <p:sp>
        <p:nvSpPr>
          <p:cNvPr id="53" name="C2-E13 text 51" descr="sci-ppt:o051"/>
          <p:cNvSpPr txBox="1"/>
          <p:nvPr/>
        </p:nvSpPr>
        <p:spPr>
          <a:xfrm>
            <a:off x="8110728" y="1828800"/>
            <a:ext cx="363931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Water is the matched-temperature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comparison: 0.12 bar at 323 K against 2.05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bar for PFP.</a:t>
            </a:r>
          </a:p>
        </p:txBody>
      </p:sp>
      <p:sp>
        <p:nvSpPr>
          <p:cNvPr id="54" name="C2-E13 ellipse 52" descr="sci-ppt:o052"/>
          <p:cNvSpPr/>
          <p:nvPr/>
        </p:nvSpPr>
        <p:spPr>
          <a:xfrm>
            <a:off x="7941564" y="188607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2-E13 text 53" descr="sci-ppt:o053"/>
          <p:cNvSpPr txBox="1"/>
          <p:nvPr/>
        </p:nvSpPr>
        <p:spPr>
          <a:xfrm>
            <a:off x="8110728" y="2501265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Each water branch is valid only inside its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own interval, 273–303 K and 304–333 K.</a:t>
            </a:r>
          </a:p>
        </p:txBody>
      </p:sp>
      <p:sp>
        <p:nvSpPr>
          <p:cNvPr id="56" name="C2-E13 ellipse 54" descr="sci-ppt:o054"/>
          <p:cNvSpPr/>
          <p:nvPr/>
        </p:nvSpPr>
        <p:spPr>
          <a:xfrm>
            <a:off x="7941564" y="255854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2-E13 text 55" descr="sci-ppt:o055"/>
          <p:cNvSpPr txBox="1"/>
          <p:nvPr/>
        </p:nvSpPr>
        <p:spPr>
          <a:xfrm>
            <a:off x="8110728" y="2980054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formulas give equilibrium values; they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do not promise that vapor is available.</a:t>
            </a:r>
          </a:p>
        </p:txBody>
      </p:sp>
      <p:sp>
        <p:nvSpPr>
          <p:cNvPr id="58" name="C2-E13 ellipse 56" descr="sci-ppt:o056"/>
          <p:cNvSpPr/>
          <p:nvPr/>
        </p:nvSpPr>
        <p:spPr>
          <a:xfrm>
            <a:off x="7941564" y="303733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C2-E13 text 57" descr="sci-ppt:o057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Both correlations use log₁₀(p / 10⁵ Pa) = A − B / (T − C) with different A, B, C for each substance and branch.</a:t>
            </a:r>
          </a:p>
        </p:txBody>
      </p:sp>
      <p:sp>
        <p:nvSpPr>
          <p:cNvPr id="60" name="C2-E13 text 58" descr="sci-ppt:o05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Correlations of Eqs. C2-E12 and C2-E13 (log scale).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C2-E14 · Classical homogeneous capillarity approximation</a:t>
            </a:r>
          </a:p>
        </p:txBody>
      </p:sp>
      <p:cxnSp>
        <p:nvCxnSpPr>
          <p:cNvPr id="3" name="C2-E14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4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4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4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4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2-E14 line 6" descr="sci-ppt:o006"/>
          <p:cNvCxnSpPr/>
          <p:nvPr/>
        </p:nvCxnSpPr>
        <p:spPr>
          <a:xfrm>
            <a:off x="2743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4 line 7" descr="sci-ppt:o007"/>
          <p:cNvCxnSpPr/>
          <p:nvPr/>
        </p:nvCxnSpPr>
        <p:spPr>
          <a:xfrm>
            <a:off x="2743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4 text 8" descr="sci-ppt:o008"/>
          <p:cNvSpPr txBox="1"/>
          <p:nvPr/>
        </p:nvSpPr>
        <p:spPr>
          <a:xfrm>
            <a:off x="2286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2-E14 line 9" descr="sci-ppt:o009"/>
          <p:cNvCxnSpPr/>
          <p:nvPr/>
        </p:nvCxnSpPr>
        <p:spPr>
          <a:xfrm>
            <a:off x="4572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4 line 10" descr="sci-ppt:o010"/>
          <p:cNvCxnSpPr/>
          <p:nvPr/>
        </p:nvCxnSpPr>
        <p:spPr>
          <a:xfrm>
            <a:off x="4572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4 text 11" descr="sci-ppt:o011"/>
          <p:cNvSpPr txBox="1"/>
          <p:nvPr/>
        </p:nvSpPr>
        <p:spPr>
          <a:xfrm>
            <a:off x="4114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2-E14 line 12" descr="sci-ppt:o012"/>
          <p:cNvCxnSpPr/>
          <p:nvPr/>
        </p:nvCxnSpPr>
        <p:spPr>
          <a:xfrm>
            <a:off x="6400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4 line 13" descr="sci-ppt:o013"/>
          <p:cNvCxnSpPr/>
          <p:nvPr/>
        </p:nvCxnSpPr>
        <p:spPr>
          <a:xfrm>
            <a:off x="6400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4 text 14" descr="sci-ppt:o014"/>
          <p:cNvSpPr txBox="1"/>
          <p:nvPr/>
        </p:nvSpPr>
        <p:spPr>
          <a:xfrm>
            <a:off x="5943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2-E14 line 15" descr="sci-ppt:o015"/>
          <p:cNvCxnSpPr/>
          <p:nvPr/>
        </p:nvCxnSpPr>
        <p:spPr>
          <a:xfrm>
            <a:off x="850392" y="45066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4 line 16" descr="sci-ppt:o016"/>
          <p:cNvCxnSpPr/>
          <p:nvPr/>
        </p:nvCxnSpPr>
        <p:spPr>
          <a:xfrm>
            <a:off x="914400" y="4506685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4 text 17" descr="sci-ppt:o017"/>
          <p:cNvSpPr txBox="1"/>
          <p:nvPr/>
        </p:nvSpPr>
        <p:spPr>
          <a:xfrm>
            <a:off x="45720" y="44243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-0.5</a:t>
            </a:r>
          </a:p>
        </p:txBody>
      </p:sp>
      <p:cxnSp>
        <p:nvCxnSpPr>
          <p:cNvPr id="20" name="C2-E14 line 18" descr="sci-ppt:o018"/>
          <p:cNvCxnSpPr/>
          <p:nvPr/>
        </p:nvCxnSpPr>
        <p:spPr>
          <a:xfrm>
            <a:off x="850392" y="36358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4 line 19" descr="sci-ppt:o019"/>
          <p:cNvCxnSpPr/>
          <p:nvPr/>
        </p:nvCxnSpPr>
        <p:spPr>
          <a:xfrm>
            <a:off x="914400" y="3635828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4 text 20" descr="sci-ppt:o020"/>
          <p:cNvSpPr txBox="1"/>
          <p:nvPr/>
        </p:nvSpPr>
        <p:spPr>
          <a:xfrm>
            <a:off x="45720" y="35535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23" name="C2-E14 line 21" descr="sci-ppt:o021"/>
          <p:cNvCxnSpPr/>
          <p:nvPr/>
        </p:nvCxnSpPr>
        <p:spPr>
          <a:xfrm>
            <a:off x="850392" y="27649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4 line 22" descr="sci-ppt:o022"/>
          <p:cNvCxnSpPr/>
          <p:nvPr/>
        </p:nvCxnSpPr>
        <p:spPr>
          <a:xfrm>
            <a:off x="914400" y="276497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4 text 23" descr="sci-ppt:o023"/>
          <p:cNvSpPr txBox="1"/>
          <p:nvPr/>
        </p:nvSpPr>
        <p:spPr>
          <a:xfrm>
            <a:off x="45720" y="26826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6" name="C2-E14 line 24" descr="sci-ppt:o024"/>
          <p:cNvCxnSpPr/>
          <p:nvPr/>
        </p:nvCxnSpPr>
        <p:spPr>
          <a:xfrm>
            <a:off x="850392" y="18941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4 line 25" descr="sci-ppt:o025"/>
          <p:cNvCxnSpPr/>
          <p:nvPr/>
        </p:nvCxnSpPr>
        <p:spPr>
          <a:xfrm>
            <a:off x="914400" y="1894114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4 text 26" descr="sci-ppt:o026"/>
          <p:cNvSpPr txBox="1"/>
          <p:nvPr/>
        </p:nvSpPr>
        <p:spPr>
          <a:xfrm>
            <a:off x="45720" y="1811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9" name="C2-E14 text 27" descr="sci-ppt:o027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rₙ / r*</a:t>
            </a:r>
          </a:p>
        </p:txBody>
      </p:sp>
      <p:sp>
        <p:nvSpPr>
          <p:cNvPr id="30" name="C2-E14 text 28" descr="sci-ppt:o028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 / W*</a:t>
            </a:r>
          </a:p>
        </p:txBody>
      </p:sp>
      <p:cxnSp>
        <p:nvCxnSpPr>
          <p:cNvPr id="31" name="C2-E14 line 29" descr="sci-ppt:o029"/>
          <p:cNvCxnSpPr/>
          <p:nvPr/>
        </p:nvCxnSpPr>
        <p:spPr>
          <a:xfrm>
            <a:off x="914400" y="3635828"/>
            <a:ext cx="585216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2" name="C2-E14 polygon 30" descr="sci-ppt:o030"/>
          <p:cNvSpPr/>
          <p:nvPr/>
        </p:nvSpPr>
        <p:spPr>
          <a:xfrm>
            <a:off x="914400" y="1408853"/>
            <a:ext cx="2387837" cy="2226975"/>
          </a:xfrm>
          <a:custGeom>
            <a:avLst/>
            <a:gdLst/>
            <a:ahLst/>
            <a:cxnLst/>
            <a:rect l="l" t="t" r="r" b="b"/>
            <a:pathLst>
              <a:path w="2387837" h="2226975">
                <a:moveTo>
                  <a:pt x="0" y="2226975"/>
                </a:moveTo>
                <a:lnTo>
                  <a:pt x="39144" y="2226377"/>
                </a:lnTo>
                <a:lnTo>
                  <a:pt x="78289" y="2224581"/>
                </a:lnTo>
                <a:lnTo>
                  <a:pt x="117434" y="2221589"/>
                </a:lnTo>
                <a:lnTo>
                  <a:pt x="156579" y="2217399"/>
                </a:lnTo>
                <a:lnTo>
                  <a:pt x="195724" y="2212013"/>
                </a:lnTo>
                <a:lnTo>
                  <a:pt x="234869" y="2205429"/>
                </a:lnTo>
                <a:lnTo>
                  <a:pt x="274014" y="2197649"/>
                </a:lnTo>
                <a:lnTo>
                  <a:pt x="313159" y="2188672"/>
                </a:lnTo>
                <a:lnTo>
                  <a:pt x="352303" y="2178498"/>
                </a:lnTo>
                <a:lnTo>
                  <a:pt x="391448" y="2167126"/>
                </a:lnTo>
                <a:lnTo>
                  <a:pt x="430593" y="2154558"/>
                </a:lnTo>
                <a:lnTo>
                  <a:pt x="469738" y="2140793"/>
                </a:lnTo>
                <a:lnTo>
                  <a:pt x="508883" y="2125831"/>
                </a:lnTo>
                <a:lnTo>
                  <a:pt x="548028" y="2109671"/>
                </a:lnTo>
                <a:lnTo>
                  <a:pt x="587173" y="2092315"/>
                </a:lnTo>
                <a:lnTo>
                  <a:pt x="626318" y="2073762"/>
                </a:lnTo>
                <a:lnTo>
                  <a:pt x="665463" y="2054012"/>
                </a:lnTo>
                <a:lnTo>
                  <a:pt x="704607" y="2033065"/>
                </a:lnTo>
                <a:lnTo>
                  <a:pt x="743752" y="2010921"/>
                </a:lnTo>
                <a:lnTo>
                  <a:pt x="782897" y="1987580"/>
                </a:lnTo>
                <a:lnTo>
                  <a:pt x="822042" y="1963042"/>
                </a:lnTo>
                <a:lnTo>
                  <a:pt x="861187" y="1937307"/>
                </a:lnTo>
                <a:lnTo>
                  <a:pt x="900332" y="1910375"/>
                </a:lnTo>
                <a:lnTo>
                  <a:pt x="939477" y="1882246"/>
                </a:lnTo>
                <a:lnTo>
                  <a:pt x="978622" y="1852920"/>
                </a:lnTo>
                <a:lnTo>
                  <a:pt x="1017766" y="1822397"/>
                </a:lnTo>
                <a:lnTo>
                  <a:pt x="1056911" y="1790677"/>
                </a:lnTo>
                <a:lnTo>
                  <a:pt x="1096056" y="1757760"/>
                </a:lnTo>
                <a:lnTo>
                  <a:pt x="1135201" y="1723646"/>
                </a:lnTo>
                <a:lnTo>
                  <a:pt x="1174346" y="1688335"/>
                </a:lnTo>
                <a:lnTo>
                  <a:pt x="1213491" y="1651828"/>
                </a:lnTo>
                <a:lnTo>
                  <a:pt x="1252636" y="1614123"/>
                </a:lnTo>
                <a:lnTo>
                  <a:pt x="1291781" y="1575221"/>
                </a:lnTo>
                <a:lnTo>
                  <a:pt x="1330926" y="1535122"/>
                </a:lnTo>
                <a:lnTo>
                  <a:pt x="1370070" y="1493827"/>
                </a:lnTo>
                <a:lnTo>
                  <a:pt x="1409215" y="1451334"/>
                </a:lnTo>
                <a:lnTo>
                  <a:pt x="1448360" y="1407644"/>
                </a:lnTo>
                <a:lnTo>
                  <a:pt x="1487505" y="1362758"/>
                </a:lnTo>
                <a:lnTo>
                  <a:pt x="1526650" y="1316674"/>
                </a:lnTo>
                <a:lnTo>
                  <a:pt x="1565795" y="1269394"/>
                </a:lnTo>
                <a:lnTo>
                  <a:pt x="1604940" y="1220916"/>
                </a:lnTo>
                <a:lnTo>
                  <a:pt x="1644085" y="1171242"/>
                </a:lnTo>
                <a:lnTo>
                  <a:pt x="1683229" y="1120370"/>
                </a:lnTo>
                <a:lnTo>
                  <a:pt x="1722374" y="1068301"/>
                </a:lnTo>
                <a:lnTo>
                  <a:pt x="1761519" y="1015036"/>
                </a:lnTo>
                <a:lnTo>
                  <a:pt x="1800664" y="960574"/>
                </a:lnTo>
                <a:lnTo>
                  <a:pt x="1839809" y="904914"/>
                </a:lnTo>
                <a:lnTo>
                  <a:pt x="1878954" y="848058"/>
                </a:lnTo>
                <a:lnTo>
                  <a:pt x="1918099" y="790004"/>
                </a:lnTo>
                <a:lnTo>
                  <a:pt x="1957244" y="730754"/>
                </a:lnTo>
                <a:lnTo>
                  <a:pt x="1996389" y="670307"/>
                </a:lnTo>
                <a:lnTo>
                  <a:pt x="2035533" y="608662"/>
                </a:lnTo>
                <a:lnTo>
                  <a:pt x="2074678" y="545821"/>
                </a:lnTo>
                <a:lnTo>
                  <a:pt x="2113823" y="481783"/>
                </a:lnTo>
                <a:lnTo>
                  <a:pt x="2152968" y="416548"/>
                </a:lnTo>
                <a:lnTo>
                  <a:pt x="2192113" y="350115"/>
                </a:lnTo>
                <a:lnTo>
                  <a:pt x="2231258" y="282486"/>
                </a:lnTo>
                <a:lnTo>
                  <a:pt x="2270403" y="213660"/>
                </a:lnTo>
                <a:lnTo>
                  <a:pt x="2309548" y="143637"/>
                </a:lnTo>
                <a:lnTo>
                  <a:pt x="2348692" y="72417"/>
                </a:lnTo>
                <a:lnTo>
                  <a:pt x="2387837" y="0"/>
                </a:lnTo>
              </a:path>
            </a:pathLst>
          </a:custGeom>
          <a:noFill/>
          <a:ln w="27940">
            <a:solidFill>
              <a:srgbClr val="F28BA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14 polygon 31" descr="sci-ppt:o031"/>
          <p:cNvSpPr/>
          <p:nvPr/>
        </p:nvSpPr>
        <p:spPr>
          <a:xfrm>
            <a:off x="914400" y="3635828"/>
            <a:ext cx="2661852" cy="1342672"/>
          </a:xfrm>
          <a:custGeom>
            <a:avLst/>
            <a:gdLst/>
            <a:ahLst/>
            <a:cxnLst/>
            <a:rect l="l" t="t" r="r" b="b"/>
            <a:pathLst>
              <a:path w="2661852" h="1342672">
                <a:moveTo>
                  <a:pt x="0" y="0"/>
                </a:moveTo>
                <a:lnTo>
                  <a:pt x="39144" y="4"/>
                </a:lnTo>
                <a:lnTo>
                  <a:pt x="78289" y="34"/>
                </a:lnTo>
                <a:lnTo>
                  <a:pt x="117434" y="115"/>
                </a:lnTo>
                <a:lnTo>
                  <a:pt x="156579" y="273"/>
                </a:lnTo>
                <a:lnTo>
                  <a:pt x="195724" y="534"/>
                </a:lnTo>
                <a:lnTo>
                  <a:pt x="234869" y="922"/>
                </a:lnTo>
                <a:lnTo>
                  <a:pt x="274014" y="1465"/>
                </a:lnTo>
                <a:lnTo>
                  <a:pt x="313159" y="2186"/>
                </a:lnTo>
                <a:lnTo>
                  <a:pt x="352303" y="3113"/>
                </a:lnTo>
                <a:lnTo>
                  <a:pt x="391448" y="4270"/>
                </a:lnTo>
                <a:lnTo>
                  <a:pt x="430593" y="5684"/>
                </a:lnTo>
                <a:lnTo>
                  <a:pt x="469738" y="7379"/>
                </a:lnTo>
                <a:lnTo>
                  <a:pt x="508883" y="9382"/>
                </a:lnTo>
                <a:lnTo>
                  <a:pt x="548028" y="11717"/>
                </a:lnTo>
                <a:lnTo>
                  <a:pt x="587173" y="14412"/>
                </a:lnTo>
                <a:lnTo>
                  <a:pt x="626318" y="17491"/>
                </a:lnTo>
                <a:lnTo>
                  <a:pt x="665463" y="20979"/>
                </a:lnTo>
                <a:lnTo>
                  <a:pt x="704607" y="24904"/>
                </a:lnTo>
                <a:lnTo>
                  <a:pt x="743752" y="29289"/>
                </a:lnTo>
                <a:lnTo>
                  <a:pt x="782897" y="34161"/>
                </a:lnTo>
                <a:lnTo>
                  <a:pt x="822042" y="39546"/>
                </a:lnTo>
                <a:lnTo>
                  <a:pt x="861187" y="45469"/>
                </a:lnTo>
                <a:lnTo>
                  <a:pt x="900332" y="51955"/>
                </a:lnTo>
                <a:lnTo>
                  <a:pt x="939477" y="59031"/>
                </a:lnTo>
                <a:lnTo>
                  <a:pt x="978622" y="66721"/>
                </a:lnTo>
                <a:lnTo>
                  <a:pt x="1017766" y="75052"/>
                </a:lnTo>
                <a:lnTo>
                  <a:pt x="1056911" y="84049"/>
                </a:lnTo>
                <a:lnTo>
                  <a:pt x="1096056" y="93738"/>
                </a:lnTo>
                <a:lnTo>
                  <a:pt x="1135201" y="104145"/>
                </a:lnTo>
                <a:lnTo>
                  <a:pt x="1174346" y="115294"/>
                </a:lnTo>
                <a:lnTo>
                  <a:pt x="1213491" y="127212"/>
                </a:lnTo>
                <a:lnTo>
                  <a:pt x="1252636" y="139924"/>
                </a:lnTo>
                <a:lnTo>
                  <a:pt x="1291781" y="153457"/>
                </a:lnTo>
                <a:lnTo>
                  <a:pt x="1330926" y="167834"/>
                </a:lnTo>
                <a:lnTo>
                  <a:pt x="1370070" y="183083"/>
                </a:lnTo>
                <a:lnTo>
                  <a:pt x="1409215" y="199228"/>
                </a:lnTo>
                <a:lnTo>
                  <a:pt x="1448360" y="216296"/>
                </a:lnTo>
                <a:lnTo>
                  <a:pt x="1487505" y="234312"/>
                </a:lnTo>
                <a:lnTo>
                  <a:pt x="1526650" y="253301"/>
                </a:lnTo>
                <a:lnTo>
                  <a:pt x="1565795" y="273290"/>
                </a:lnTo>
                <a:lnTo>
                  <a:pt x="1604940" y="294303"/>
                </a:lnTo>
                <a:lnTo>
                  <a:pt x="1644085" y="316367"/>
                </a:lnTo>
                <a:lnTo>
                  <a:pt x="1683229" y="339507"/>
                </a:lnTo>
                <a:lnTo>
                  <a:pt x="1722374" y="363749"/>
                </a:lnTo>
                <a:lnTo>
                  <a:pt x="1761519" y="389118"/>
                </a:lnTo>
                <a:lnTo>
                  <a:pt x="1800664" y="415640"/>
                </a:lnTo>
                <a:lnTo>
                  <a:pt x="1839809" y="443340"/>
                </a:lnTo>
                <a:lnTo>
                  <a:pt x="1878954" y="472245"/>
                </a:lnTo>
                <a:lnTo>
                  <a:pt x="1918099" y="502379"/>
                </a:lnTo>
                <a:lnTo>
                  <a:pt x="1957244" y="533769"/>
                </a:lnTo>
                <a:lnTo>
                  <a:pt x="1996389" y="566440"/>
                </a:lnTo>
                <a:lnTo>
                  <a:pt x="2035533" y="600418"/>
                </a:lnTo>
                <a:lnTo>
                  <a:pt x="2074678" y="635727"/>
                </a:lnTo>
                <a:lnTo>
                  <a:pt x="2113823" y="672395"/>
                </a:lnTo>
                <a:lnTo>
                  <a:pt x="2152968" y="710447"/>
                </a:lnTo>
                <a:lnTo>
                  <a:pt x="2192113" y="749907"/>
                </a:lnTo>
                <a:lnTo>
                  <a:pt x="2231258" y="790802"/>
                </a:lnTo>
                <a:lnTo>
                  <a:pt x="2270403" y="833158"/>
                </a:lnTo>
                <a:lnTo>
                  <a:pt x="2309548" y="877000"/>
                </a:lnTo>
                <a:lnTo>
                  <a:pt x="2348692" y="922353"/>
                </a:lnTo>
                <a:lnTo>
                  <a:pt x="2387837" y="969243"/>
                </a:lnTo>
                <a:lnTo>
                  <a:pt x="2426982" y="1017697"/>
                </a:lnTo>
                <a:lnTo>
                  <a:pt x="2466127" y="1067739"/>
                </a:lnTo>
                <a:lnTo>
                  <a:pt x="2505272" y="1119395"/>
                </a:lnTo>
                <a:lnTo>
                  <a:pt x="2544417" y="1172690"/>
                </a:lnTo>
                <a:lnTo>
                  <a:pt x="2583562" y="1227652"/>
                </a:lnTo>
                <a:lnTo>
                  <a:pt x="2622707" y="1284304"/>
                </a:lnTo>
                <a:lnTo>
                  <a:pt x="2661852" y="1342672"/>
                </a:lnTo>
              </a:path>
            </a:pathLst>
          </a:custGeom>
          <a:noFill/>
          <a:ln w="27940">
            <a:solidFill>
              <a:srgbClr val="7FC8F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14 polygon 32" descr="sci-ppt:o032"/>
          <p:cNvSpPr/>
          <p:nvPr/>
        </p:nvSpPr>
        <p:spPr>
          <a:xfrm>
            <a:off x="914400" y="1894228"/>
            <a:ext cx="5852160" cy="2633358"/>
          </a:xfrm>
          <a:custGeom>
            <a:avLst/>
            <a:gdLst/>
            <a:ahLst/>
            <a:cxnLst/>
            <a:rect l="l" t="t" r="r" b="b"/>
            <a:pathLst>
              <a:path w="5852160" h="2633358">
                <a:moveTo>
                  <a:pt x="0" y="1741600"/>
                </a:moveTo>
                <a:lnTo>
                  <a:pt x="39144" y="1741006"/>
                </a:lnTo>
                <a:lnTo>
                  <a:pt x="78289" y="1739240"/>
                </a:lnTo>
                <a:lnTo>
                  <a:pt x="117434" y="1736329"/>
                </a:lnTo>
                <a:lnTo>
                  <a:pt x="156579" y="1732298"/>
                </a:lnTo>
                <a:lnTo>
                  <a:pt x="195724" y="1727172"/>
                </a:lnTo>
                <a:lnTo>
                  <a:pt x="234869" y="1720977"/>
                </a:lnTo>
                <a:lnTo>
                  <a:pt x="274014" y="1713739"/>
                </a:lnTo>
                <a:lnTo>
                  <a:pt x="313159" y="1705483"/>
                </a:lnTo>
                <a:lnTo>
                  <a:pt x="352303" y="1696235"/>
                </a:lnTo>
                <a:lnTo>
                  <a:pt x="391448" y="1686021"/>
                </a:lnTo>
                <a:lnTo>
                  <a:pt x="430593" y="1674867"/>
                </a:lnTo>
                <a:lnTo>
                  <a:pt x="469738" y="1662797"/>
                </a:lnTo>
                <a:lnTo>
                  <a:pt x="508883" y="1649837"/>
                </a:lnTo>
                <a:lnTo>
                  <a:pt x="548028" y="1636014"/>
                </a:lnTo>
                <a:lnTo>
                  <a:pt x="587173" y="1621352"/>
                </a:lnTo>
                <a:lnTo>
                  <a:pt x="626318" y="1605878"/>
                </a:lnTo>
                <a:lnTo>
                  <a:pt x="665463" y="1589616"/>
                </a:lnTo>
                <a:lnTo>
                  <a:pt x="704607" y="1572593"/>
                </a:lnTo>
                <a:lnTo>
                  <a:pt x="743752" y="1554835"/>
                </a:lnTo>
                <a:lnTo>
                  <a:pt x="782897" y="1536366"/>
                </a:lnTo>
                <a:lnTo>
                  <a:pt x="822042" y="1517213"/>
                </a:lnTo>
                <a:lnTo>
                  <a:pt x="861187" y="1497400"/>
                </a:lnTo>
                <a:lnTo>
                  <a:pt x="900332" y="1476955"/>
                </a:lnTo>
                <a:lnTo>
                  <a:pt x="939477" y="1455901"/>
                </a:lnTo>
                <a:lnTo>
                  <a:pt x="978622" y="1434266"/>
                </a:lnTo>
                <a:lnTo>
                  <a:pt x="1017766" y="1412074"/>
                </a:lnTo>
                <a:lnTo>
                  <a:pt x="1056911" y="1389351"/>
                </a:lnTo>
                <a:lnTo>
                  <a:pt x="1096056" y="1366124"/>
                </a:lnTo>
                <a:lnTo>
                  <a:pt x="1135201" y="1342416"/>
                </a:lnTo>
                <a:lnTo>
                  <a:pt x="1174346" y="1318255"/>
                </a:lnTo>
                <a:lnTo>
                  <a:pt x="1213491" y="1293665"/>
                </a:lnTo>
                <a:lnTo>
                  <a:pt x="1252636" y="1268672"/>
                </a:lnTo>
                <a:lnTo>
                  <a:pt x="1291781" y="1243303"/>
                </a:lnTo>
                <a:lnTo>
                  <a:pt x="1330926" y="1217581"/>
                </a:lnTo>
                <a:lnTo>
                  <a:pt x="1370070" y="1191535"/>
                </a:lnTo>
                <a:lnTo>
                  <a:pt x="1409215" y="1165187"/>
                </a:lnTo>
                <a:lnTo>
                  <a:pt x="1448360" y="1138565"/>
                </a:lnTo>
                <a:lnTo>
                  <a:pt x="1487505" y="1111695"/>
                </a:lnTo>
                <a:lnTo>
                  <a:pt x="1526650" y="1084600"/>
                </a:lnTo>
                <a:lnTo>
                  <a:pt x="1565795" y="1057308"/>
                </a:lnTo>
                <a:lnTo>
                  <a:pt x="1604940" y="1029844"/>
                </a:lnTo>
                <a:lnTo>
                  <a:pt x="1644085" y="1002233"/>
                </a:lnTo>
                <a:lnTo>
                  <a:pt x="1683229" y="974502"/>
                </a:lnTo>
                <a:lnTo>
                  <a:pt x="1722374" y="946675"/>
                </a:lnTo>
                <a:lnTo>
                  <a:pt x="1761519" y="918779"/>
                </a:lnTo>
                <a:lnTo>
                  <a:pt x="1800664" y="890838"/>
                </a:lnTo>
                <a:lnTo>
                  <a:pt x="1839809" y="862879"/>
                </a:lnTo>
                <a:lnTo>
                  <a:pt x="1878954" y="834927"/>
                </a:lnTo>
                <a:lnTo>
                  <a:pt x="1918099" y="807008"/>
                </a:lnTo>
                <a:lnTo>
                  <a:pt x="1957244" y="779148"/>
                </a:lnTo>
                <a:lnTo>
                  <a:pt x="1996389" y="751372"/>
                </a:lnTo>
                <a:lnTo>
                  <a:pt x="2035533" y="723705"/>
                </a:lnTo>
                <a:lnTo>
                  <a:pt x="2074678" y="696173"/>
                </a:lnTo>
                <a:lnTo>
                  <a:pt x="2113823" y="668803"/>
                </a:lnTo>
                <a:lnTo>
                  <a:pt x="2152968" y="641619"/>
                </a:lnTo>
                <a:lnTo>
                  <a:pt x="2192113" y="614647"/>
                </a:lnTo>
                <a:lnTo>
                  <a:pt x="2231258" y="587913"/>
                </a:lnTo>
                <a:lnTo>
                  <a:pt x="2270403" y="561443"/>
                </a:lnTo>
                <a:lnTo>
                  <a:pt x="2309548" y="535261"/>
                </a:lnTo>
                <a:lnTo>
                  <a:pt x="2348692" y="509394"/>
                </a:lnTo>
                <a:lnTo>
                  <a:pt x="2387837" y="483868"/>
                </a:lnTo>
                <a:lnTo>
                  <a:pt x="2426982" y="458707"/>
                </a:lnTo>
                <a:lnTo>
                  <a:pt x="2466127" y="433938"/>
                </a:lnTo>
                <a:lnTo>
                  <a:pt x="2505272" y="409586"/>
                </a:lnTo>
                <a:lnTo>
                  <a:pt x="2544417" y="385677"/>
                </a:lnTo>
                <a:lnTo>
                  <a:pt x="2583562" y="362236"/>
                </a:lnTo>
                <a:lnTo>
                  <a:pt x="2622707" y="339289"/>
                </a:lnTo>
                <a:lnTo>
                  <a:pt x="2661852" y="316862"/>
                </a:lnTo>
                <a:lnTo>
                  <a:pt x="2700996" y="294980"/>
                </a:lnTo>
                <a:lnTo>
                  <a:pt x="2740141" y="273669"/>
                </a:lnTo>
                <a:lnTo>
                  <a:pt x="2779286" y="252954"/>
                </a:lnTo>
                <a:lnTo>
                  <a:pt x="2818431" y="232862"/>
                </a:lnTo>
                <a:lnTo>
                  <a:pt x="2857576" y="213417"/>
                </a:lnTo>
                <a:lnTo>
                  <a:pt x="2896721" y="194645"/>
                </a:lnTo>
                <a:lnTo>
                  <a:pt x="2935866" y="176573"/>
                </a:lnTo>
                <a:lnTo>
                  <a:pt x="2975011" y="159225"/>
                </a:lnTo>
                <a:lnTo>
                  <a:pt x="3014155" y="142627"/>
                </a:lnTo>
                <a:lnTo>
                  <a:pt x="3053300" y="126805"/>
                </a:lnTo>
                <a:lnTo>
                  <a:pt x="3092445" y="111785"/>
                </a:lnTo>
                <a:lnTo>
                  <a:pt x="3131590" y="97592"/>
                </a:lnTo>
                <a:lnTo>
                  <a:pt x="3170735" y="84251"/>
                </a:lnTo>
                <a:lnTo>
                  <a:pt x="3209880" y="71789"/>
                </a:lnTo>
                <a:lnTo>
                  <a:pt x="3249025" y="60230"/>
                </a:lnTo>
                <a:lnTo>
                  <a:pt x="3288170" y="49602"/>
                </a:lnTo>
                <a:lnTo>
                  <a:pt x="3327315" y="39928"/>
                </a:lnTo>
                <a:lnTo>
                  <a:pt x="3366459" y="31235"/>
                </a:lnTo>
                <a:lnTo>
                  <a:pt x="3405604" y="23549"/>
                </a:lnTo>
                <a:lnTo>
                  <a:pt x="3444749" y="16894"/>
                </a:lnTo>
                <a:lnTo>
                  <a:pt x="3483894" y="11298"/>
                </a:lnTo>
                <a:lnTo>
                  <a:pt x="3523039" y="6784"/>
                </a:lnTo>
                <a:lnTo>
                  <a:pt x="3562184" y="3380"/>
                </a:lnTo>
                <a:lnTo>
                  <a:pt x="3601329" y="1110"/>
                </a:lnTo>
                <a:lnTo>
                  <a:pt x="3640474" y="0"/>
                </a:lnTo>
                <a:lnTo>
                  <a:pt x="3679618" y="76"/>
                </a:lnTo>
                <a:lnTo>
                  <a:pt x="3718763" y="1363"/>
                </a:lnTo>
                <a:lnTo>
                  <a:pt x="3757908" y="3888"/>
                </a:lnTo>
                <a:lnTo>
                  <a:pt x="3797053" y="7675"/>
                </a:lnTo>
                <a:lnTo>
                  <a:pt x="3836198" y="12750"/>
                </a:lnTo>
                <a:lnTo>
                  <a:pt x="3875343" y="19139"/>
                </a:lnTo>
                <a:lnTo>
                  <a:pt x="3914488" y="26867"/>
                </a:lnTo>
                <a:lnTo>
                  <a:pt x="3953633" y="35961"/>
                </a:lnTo>
                <a:lnTo>
                  <a:pt x="3992778" y="46445"/>
                </a:lnTo>
                <a:lnTo>
                  <a:pt x="4031922" y="58346"/>
                </a:lnTo>
                <a:lnTo>
                  <a:pt x="4071067" y="71689"/>
                </a:lnTo>
                <a:lnTo>
                  <a:pt x="4110212" y="86499"/>
                </a:lnTo>
                <a:lnTo>
                  <a:pt x="4149357" y="102803"/>
                </a:lnTo>
                <a:lnTo>
                  <a:pt x="4188502" y="120625"/>
                </a:lnTo>
                <a:lnTo>
                  <a:pt x="4227647" y="139992"/>
                </a:lnTo>
                <a:lnTo>
                  <a:pt x="4266792" y="160929"/>
                </a:lnTo>
                <a:lnTo>
                  <a:pt x="4305937" y="183462"/>
                </a:lnTo>
                <a:lnTo>
                  <a:pt x="4345082" y="207616"/>
                </a:lnTo>
                <a:lnTo>
                  <a:pt x="4384226" y="233417"/>
                </a:lnTo>
                <a:lnTo>
                  <a:pt x="4423371" y="260890"/>
                </a:lnTo>
                <a:lnTo>
                  <a:pt x="4462516" y="290062"/>
                </a:lnTo>
                <a:lnTo>
                  <a:pt x="4501661" y="320957"/>
                </a:lnTo>
                <a:lnTo>
                  <a:pt x="4540806" y="353602"/>
                </a:lnTo>
                <a:lnTo>
                  <a:pt x="4579951" y="388022"/>
                </a:lnTo>
                <a:lnTo>
                  <a:pt x="4619096" y="424243"/>
                </a:lnTo>
                <a:lnTo>
                  <a:pt x="4658241" y="462290"/>
                </a:lnTo>
                <a:lnTo>
                  <a:pt x="4697385" y="502189"/>
                </a:lnTo>
                <a:lnTo>
                  <a:pt x="4736530" y="543965"/>
                </a:lnTo>
                <a:lnTo>
                  <a:pt x="4775675" y="587644"/>
                </a:lnTo>
                <a:lnTo>
                  <a:pt x="4814820" y="633253"/>
                </a:lnTo>
                <a:lnTo>
                  <a:pt x="4853965" y="680815"/>
                </a:lnTo>
                <a:lnTo>
                  <a:pt x="4893110" y="730358"/>
                </a:lnTo>
                <a:lnTo>
                  <a:pt x="4932255" y="781906"/>
                </a:lnTo>
                <a:lnTo>
                  <a:pt x="4971400" y="835486"/>
                </a:lnTo>
                <a:lnTo>
                  <a:pt x="5010545" y="891123"/>
                </a:lnTo>
                <a:lnTo>
                  <a:pt x="5049689" y="948842"/>
                </a:lnTo>
                <a:lnTo>
                  <a:pt x="5088834" y="1008669"/>
                </a:lnTo>
                <a:lnTo>
                  <a:pt x="5127979" y="1070629"/>
                </a:lnTo>
                <a:lnTo>
                  <a:pt x="5167124" y="1134750"/>
                </a:lnTo>
                <a:lnTo>
                  <a:pt x="5206269" y="1201055"/>
                </a:lnTo>
                <a:lnTo>
                  <a:pt x="5245414" y="1269571"/>
                </a:lnTo>
                <a:lnTo>
                  <a:pt x="5284559" y="1340323"/>
                </a:lnTo>
                <a:lnTo>
                  <a:pt x="5323704" y="1413336"/>
                </a:lnTo>
                <a:lnTo>
                  <a:pt x="5362848" y="1488638"/>
                </a:lnTo>
                <a:lnTo>
                  <a:pt x="5401993" y="1566252"/>
                </a:lnTo>
                <a:lnTo>
                  <a:pt x="5441138" y="1646205"/>
                </a:lnTo>
                <a:lnTo>
                  <a:pt x="5480283" y="1728523"/>
                </a:lnTo>
                <a:lnTo>
                  <a:pt x="5519428" y="1813230"/>
                </a:lnTo>
                <a:lnTo>
                  <a:pt x="5558573" y="1900353"/>
                </a:lnTo>
                <a:lnTo>
                  <a:pt x="5597718" y="1989917"/>
                </a:lnTo>
                <a:lnTo>
                  <a:pt x="5636863" y="2081948"/>
                </a:lnTo>
                <a:lnTo>
                  <a:pt x="5676008" y="2176472"/>
                </a:lnTo>
                <a:lnTo>
                  <a:pt x="5715152" y="2273513"/>
                </a:lnTo>
                <a:lnTo>
                  <a:pt x="5754297" y="2373098"/>
                </a:lnTo>
                <a:lnTo>
                  <a:pt x="5793442" y="2475253"/>
                </a:lnTo>
                <a:lnTo>
                  <a:pt x="5832587" y="2580002"/>
                </a:lnTo>
                <a:lnTo>
                  <a:pt x="5852160" y="2633358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2-E14 ellipse 33" descr="sci-ppt:o033"/>
          <p:cNvSpPr/>
          <p:nvPr/>
        </p:nvSpPr>
        <p:spPr>
          <a:xfrm>
            <a:off x="4498848" y="182096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2-E14 line 34" descr="sci-ppt:o034"/>
          <p:cNvCxnSpPr/>
          <p:nvPr/>
        </p:nvCxnSpPr>
        <p:spPr>
          <a:xfrm>
            <a:off x="4572000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7" name="C2-E14 text 35" descr="sci-ppt:o035"/>
          <p:cNvSpPr txBox="1"/>
          <p:nvPr/>
        </p:nvSpPr>
        <p:spPr>
          <a:xfrm>
            <a:off x="4663440" y="1436914"/>
            <a:ext cx="2743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barrier W* at r* = 2σ/Δpₙ</a:t>
            </a:r>
          </a:p>
        </p:txBody>
      </p:sp>
      <p:sp>
        <p:nvSpPr>
          <p:cNvPr id="38" name="C2-E14 text 36" descr="sci-ppt:o036"/>
          <p:cNvSpPr txBox="1"/>
          <p:nvPr/>
        </p:nvSpPr>
        <p:spPr>
          <a:xfrm>
            <a:off x="1170432" y="1715588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surface cost 4πσr² (grows as r²)</a:t>
            </a:r>
          </a:p>
        </p:txBody>
      </p:sp>
      <p:sp>
        <p:nvSpPr>
          <p:cNvPr id="39" name="C2-E14 text 37" descr="sci-ppt:o037"/>
          <p:cNvSpPr txBox="1"/>
          <p:nvPr/>
        </p:nvSpPr>
        <p:spPr>
          <a:xfrm>
            <a:off x="3182112" y="4502331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7FC8F8"/>
                </a:solidFill>
                <a:latin typeface="Arial"/>
              </a:rPr>
              <a:t>volume gain −(4π/3)Δpₙ r³</a:t>
            </a:r>
          </a:p>
        </p:txBody>
      </p:sp>
      <p:sp>
        <p:nvSpPr>
          <p:cNvPr id="40" name="C2-E14 text 38" descr="sci-ppt:o038"/>
          <p:cNvSpPr txBox="1"/>
          <p:nvPr/>
        </p:nvSpPr>
        <p:spPr>
          <a:xfrm>
            <a:off x="5212079" y="2934788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net W</a:t>
            </a:r>
          </a:p>
        </p:txBody>
      </p:sp>
      <p:sp>
        <p:nvSpPr>
          <p:cNvPr id="41" name="C2-E14 round_rect 39" descr="sci-ppt:o039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4 text 40" descr="sci-ppt:o040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new interface costs energy first</a:t>
            </a:r>
          </a:p>
        </p:txBody>
      </p:sp>
      <p:sp>
        <p:nvSpPr>
          <p:cNvPr id="43" name="C2-E14 text 41" descr="sci-ppt:o041"/>
          <p:cNvSpPr txBox="1"/>
          <p:nvPr/>
        </p:nvSpPr>
        <p:spPr>
          <a:xfrm>
            <a:off x="7178040" y="18288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W(rₙ) = 4πσᵥₚ rₙ² − (4π/3) Δpₙ rₙ³</a:t>
            </a:r>
          </a:p>
        </p:txBody>
      </p:sp>
      <p:sp>
        <p:nvSpPr>
          <p:cNvPr id="44" name="C2-E14 text 42" descr="sci-ppt:o042"/>
          <p:cNvSpPr txBox="1"/>
          <p:nvPr/>
        </p:nvSpPr>
        <p:spPr>
          <a:xfrm>
            <a:off x="7379208" y="2423160"/>
            <a:ext cx="437083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Small nuclei: surface term wins, W rises.</a:t>
            </a:r>
          </a:p>
        </p:txBody>
      </p:sp>
      <p:sp>
        <p:nvSpPr>
          <p:cNvPr id="45" name="C2-E14 ellipse 43" descr="sci-ppt:o043"/>
          <p:cNvSpPr/>
          <p:nvPr/>
        </p:nvSpPr>
        <p:spPr>
          <a:xfrm>
            <a:off x="7210044" y="24804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2-E14 text 44" descr="sci-ppt:o044"/>
          <p:cNvSpPr txBox="1"/>
          <p:nvPr/>
        </p:nvSpPr>
        <p:spPr>
          <a:xfrm>
            <a:off x="7379208" y="2708275"/>
            <a:ext cx="437083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Large nuclei: volume term wins, W falls.</a:t>
            </a:r>
          </a:p>
        </p:txBody>
      </p:sp>
      <p:sp>
        <p:nvSpPr>
          <p:cNvPr id="47" name="C2-E14 ellipse 45" descr="sci-ppt:o045"/>
          <p:cNvSpPr/>
          <p:nvPr/>
        </p:nvSpPr>
        <p:spPr>
          <a:xfrm>
            <a:off x="7210044" y="276555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2-E14 text 46" descr="sci-ppt:o046"/>
          <p:cNvSpPr txBox="1"/>
          <p:nvPr/>
        </p:nvSpPr>
        <p:spPr>
          <a:xfrm>
            <a:off x="7379208" y="2993389"/>
            <a:ext cx="43708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crossover is a barrier: a nucleus must reach r*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before growth lowers its energy.</a:t>
            </a:r>
          </a:p>
        </p:txBody>
      </p:sp>
      <p:sp>
        <p:nvSpPr>
          <p:cNvPr id="49" name="C2-E14 ellipse 47" descr="sci-ppt:o047"/>
          <p:cNvSpPr/>
          <p:nvPr/>
        </p:nvSpPr>
        <p:spPr>
          <a:xfrm>
            <a:off x="7210044" y="305066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4 text 48" descr="sci-ppt:o048"/>
          <p:cNvSpPr txBox="1"/>
          <p:nvPr/>
        </p:nvSpPr>
        <p:spPr>
          <a:xfrm>
            <a:off x="7379208" y="3472179"/>
            <a:ext cx="43708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Δpₙ = pₛₐₜ(Tᵢ) − p_d is the superheat that drives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volume gain.</a:t>
            </a:r>
          </a:p>
        </p:txBody>
      </p:sp>
      <p:sp>
        <p:nvSpPr>
          <p:cNvPr id="51" name="C2-E14 ellipse 49" descr="sci-ppt:o049"/>
          <p:cNvSpPr/>
          <p:nvPr/>
        </p:nvSpPr>
        <p:spPr>
          <a:xfrm>
            <a:off x="7210044" y="35294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14 text 50" descr="sci-ppt:o05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All curves are scaled by W* and r*, so one picture holds for any σᵥₚ and Δpₙ (classical homogeneous capillarity).</a:t>
            </a:r>
          </a:p>
        </p:txBody>
      </p:sp>
      <p:sp>
        <p:nvSpPr>
          <p:cNvPr id="53" name="C2-E14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Free energy of Eq. C2-E14 in scaled form: W/W* = 3x² − 2x³, x = rₙ / r*.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C2-E15 · Derived critical radius and branch check</a:t>
            </a:r>
          </a:p>
        </p:txBody>
      </p:sp>
      <p:cxnSp>
        <p:nvCxnSpPr>
          <p:cNvPr id="3" name="C2-E15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5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5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5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5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2-E15 line 6" descr="sci-ppt:o006"/>
          <p:cNvCxnSpPr/>
          <p:nvPr/>
        </p:nvCxnSpPr>
        <p:spPr>
          <a:xfrm>
            <a:off x="2286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5 line 7" descr="sci-ppt:o007"/>
          <p:cNvCxnSpPr/>
          <p:nvPr/>
        </p:nvCxnSpPr>
        <p:spPr>
          <a:xfrm>
            <a:off x="2286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5 text 8" descr="sci-ppt:o008"/>
          <p:cNvSpPr txBox="1"/>
          <p:nvPr/>
        </p:nvSpPr>
        <p:spPr>
          <a:xfrm>
            <a:off x="1828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1" name="C2-E15 line 9" descr="sci-ppt:o009"/>
          <p:cNvCxnSpPr/>
          <p:nvPr/>
        </p:nvCxnSpPr>
        <p:spPr>
          <a:xfrm>
            <a:off x="3657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5 line 10" descr="sci-ppt:o010"/>
          <p:cNvCxnSpPr/>
          <p:nvPr/>
        </p:nvCxnSpPr>
        <p:spPr>
          <a:xfrm>
            <a:off x="3657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5 text 11" descr="sci-ppt:o011"/>
          <p:cNvSpPr txBox="1"/>
          <p:nvPr/>
        </p:nvSpPr>
        <p:spPr>
          <a:xfrm>
            <a:off x="3200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cxnSp>
        <p:nvCxnSpPr>
          <p:cNvPr id="14" name="C2-E15 line 12" descr="sci-ppt:o012"/>
          <p:cNvCxnSpPr/>
          <p:nvPr/>
        </p:nvCxnSpPr>
        <p:spPr>
          <a:xfrm>
            <a:off x="502919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5 line 13" descr="sci-ppt:o013"/>
          <p:cNvCxnSpPr/>
          <p:nvPr/>
        </p:nvCxnSpPr>
        <p:spPr>
          <a:xfrm>
            <a:off x="502919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5 text 14" descr="sci-ppt:o014"/>
          <p:cNvSpPr txBox="1"/>
          <p:nvPr/>
        </p:nvSpPr>
        <p:spPr>
          <a:xfrm>
            <a:off x="457199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0.15</a:t>
            </a:r>
          </a:p>
        </p:txBody>
      </p:sp>
      <p:cxnSp>
        <p:nvCxnSpPr>
          <p:cNvPr id="17" name="C2-E15 line 15" descr="sci-ppt:o015"/>
          <p:cNvCxnSpPr/>
          <p:nvPr/>
        </p:nvCxnSpPr>
        <p:spPr>
          <a:xfrm>
            <a:off x="6400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5 line 16" descr="sci-ppt:o016"/>
          <p:cNvCxnSpPr/>
          <p:nvPr/>
        </p:nvCxnSpPr>
        <p:spPr>
          <a:xfrm>
            <a:off x="6400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5 text 17" descr="sci-ppt:o017"/>
          <p:cNvSpPr txBox="1"/>
          <p:nvPr/>
        </p:nvSpPr>
        <p:spPr>
          <a:xfrm>
            <a:off x="5943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0.20</a:t>
            </a:r>
          </a:p>
        </p:txBody>
      </p:sp>
      <p:cxnSp>
        <p:nvCxnSpPr>
          <p:cNvPr id="20" name="C2-E15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5 line 19" descr="sci-ppt:o019"/>
          <p:cNvCxnSpPr/>
          <p:nvPr/>
        </p:nvCxnSpPr>
        <p:spPr>
          <a:xfrm>
            <a:off x="850392" y="4216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15 line 20" descr="sci-ppt:o020"/>
          <p:cNvCxnSpPr/>
          <p:nvPr/>
        </p:nvCxnSpPr>
        <p:spPr>
          <a:xfrm>
            <a:off x="914400" y="42164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15 text 21" descr="sci-ppt:o021"/>
          <p:cNvSpPr txBox="1"/>
          <p:nvPr/>
        </p:nvSpPr>
        <p:spPr>
          <a:xfrm>
            <a:off x="45720" y="4134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-2</a:t>
            </a:r>
          </a:p>
        </p:txBody>
      </p:sp>
      <p:cxnSp>
        <p:nvCxnSpPr>
          <p:cNvPr id="24" name="C2-E15 line 22" descr="sci-ppt:o022"/>
          <p:cNvCxnSpPr/>
          <p:nvPr/>
        </p:nvCxnSpPr>
        <p:spPr>
          <a:xfrm>
            <a:off x="850392" y="3403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15 line 23" descr="sci-ppt:o023"/>
          <p:cNvCxnSpPr/>
          <p:nvPr/>
        </p:nvCxnSpPr>
        <p:spPr>
          <a:xfrm>
            <a:off x="914400" y="3403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15 text 24" descr="sci-ppt:o024"/>
          <p:cNvSpPr txBox="1"/>
          <p:nvPr/>
        </p:nvSpPr>
        <p:spPr>
          <a:xfrm>
            <a:off x="45720" y="3321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7" name="C2-E15 line 25" descr="sci-ppt:o025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15 line 26" descr="sci-ppt:o026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15 text 27" descr="sci-ppt:o027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0" name="C2-E15 line 28" descr="sci-ppt:o028"/>
          <p:cNvCxnSpPr/>
          <p:nvPr/>
        </p:nvCxnSpPr>
        <p:spPr>
          <a:xfrm>
            <a:off x="850392" y="1778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2-E15 line 29" descr="sci-ppt:o029"/>
          <p:cNvCxnSpPr/>
          <p:nvPr/>
        </p:nvCxnSpPr>
        <p:spPr>
          <a:xfrm>
            <a:off x="914400" y="17780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2-E15 text 30" descr="sci-ppt:o030"/>
          <p:cNvSpPr txBox="1"/>
          <p:nvPr/>
        </p:nvSpPr>
        <p:spPr>
          <a:xfrm>
            <a:off x="45720" y="1695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33" name="C2-E15 text 31" descr="sci-ppt:o031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nucleus radius rₙ  (µm)</a:t>
            </a:r>
          </a:p>
        </p:txBody>
      </p:sp>
      <p:sp>
        <p:nvSpPr>
          <p:cNvPr id="34" name="C2-E15 text 32" descr="sci-ppt:o032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  (10⁻¹⁶ J)</a:t>
            </a:r>
          </a:p>
        </p:txBody>
      </p:sp>
      <p:cxnSp>
        <p:nvCxnSpPr>
          <p:cNvPr id="35" name="C2-E15 line 33" descr="sci-ppt:o033"/>
          <p:cNvCxnSpPr/>
          <p:nvPr/>
        </p:nvCxnSpPr>
        <p:spPr>
          <a:xfrm>
            <a:off x="914400" y="3403600"/>
            <a:ext cx="603504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6" name="C2-E15 polygon 34" descr="sci-ppt:o034"/>
          <p:cNvSpPr/>
          <p:nvPr/>
        </p:nvSpPr>
        <p:spPr>
          <a:xfrm>
            <a:off x="914400" y="1701277"/>
            <a:ext cx="4561602" cy="3235703"/>
          </a:xfrm>
          <a:custGeom>
            <a:avLst/>
            <a:gdLst/>
            <a:ahLst/>
            <a:cxnLst/>
            <a:rect l="l" t="t" r="r" b="b"/>
            <a:pathLst>
              <a:path w="4561602" h="3235703">
                <a:moveTo>
                  <a:pt x="0" y="1702323"/>
                </a:moveTo>
                <a:lnTo>
                  <a:pt x="40368" y="1701227"/>
                </a:lnTo>
                <a:lnTo>
                  <a:pt x="80736" y="1697986"/>
                </a:lnTo>
                <a:lnTo>
                  <a:pt x="121104" y="1692662"/>
                </a:lnTo>
                <a:lnTo>
                  <a:pt x="161472" y="1685322"/>
                </a:lnTo>
                <a:lnTo>
                  <a:pt x="201840" y="1676031"/>
                </a:lnTo>
                <a:lnTo>
                  <a:pt x="242208" y="1664853"/>
                </a:lnTo>
                <a:lnTo>
                  <a:pt x="282577" y="1651854"/>
                </a:lnTo>
                <a:lnTo>
                  <a:pt x="322945" y="1637098"/>
                </a:lnTo>
                <a:lnTo>
                  <a:pt x="363313" y="1620652"/>
                </a:lnTo>
                <a:lnTo>
                  <a:pt x="403681" y="1602579"/>
                </a:lnTo>
                <a:lnTo>
                  <a:pt x="444049" y="1582946"/>
                </a:lnTo>
                <a:lnTo>
                  <a:pt x="484417" y="1561817"/>
                </a:lnTo>
                <a:lnTo>
                  <a:pt x="524786" y="1539258"/>
                </a:lnTo>
                <a:lnTo>
                  <a:pt x="565154" y="1515332"/>
                </a:lnTo>
                <a:lnTo>
                  <a:pt x="605522" y="1490107"/>
                </a:lnTo>
                <a:lnTo>
                  <a:pt x="645890" y="1463645"/>
                </a:lnTo>
                <a:lnTo>
                  <a:pt x="686258" y="1436014"/>
                </a:lnTo>
                <a:lnTo>
                  <a:pt x="726626" y="1407277"/>
                </a:lnTo>
                <a:lnTo>
                  <a:pt x="766995" y="1377501"/>
                </a:lnTo>
                <a:lnTo>
                  <a:pt x="807363" y="1346749"/>
                </a:lnTo>
                <a:lnTo>
                  <a:pt x="847731" y="1315087"/>
                </a:lnTo>
                <a:lnTo>
                  <a:pt x="888099" y="1282581"/>
                </a:lnTo>
                <a:lnTo>
                  <a:pt x="928467" y="1249295"/>
                </a:lnTo>
                <a:lnTo>
                  <a:pt x="968835" y="1215294"/>
                </a:lnTo>
                <a:lnTo>
                  <a:pt x="1009204" y="1180644"/>
                </a:lnTo>
                <a:lnTo>
                  <a:pt x="1049572" y="1145410"/>
                </a:lnTo>
                <a:lnTo>
                  <a:pt x="1089940" y="1109656"/>
                </a:lnTo>
                <a:lnTo>
                  <a:pt x="1130308" y="1073448"/>
                </a:lnTo>
                <a:lnTo>
                  <a:pt x="1170676" y="1036850"/>
                </a:lnTo>
                <a:lnTo>
                  <a:pt x="1211044" y="999929"/>
                </a:lnTo>
                <a:lnTo>
                  <a:pt x="1251412" y="962749"/>
                </a:lnTo>
                <a:lnTo>
                  <a:pt x="1291781" y="925375"/>
                </a:lnTo>
                <a:lnTo>
                  <a:pt x="1332149" y="887873"/>
                </a:lnTo>
                <a:lnTo>
                  <a:pt x="1372517" y="850306"/>
                </a:lnTo>
                <a:lnTo>
                  <a:pt x="1412885" y="812742"/>
                </a:lnTo>
                <a:lnTo>
                  <a:pt x="1453253" y="775243"/>
                </a:lnTo>
                <a:lnTo>
                  <a:pt x="1493621" y="737877"/>
                </a:lnTo>
                <a:lnTo>
                  <a:pt x="1533990" y="700707"/>
                </a:lnTo>
                <a:lnTo>
                  <a:pt x="1574358" y="663799"/>
                </a:lnTo>
                <a:lnTo>
                  <a:pt x="1614726" y="627218"/>
                </a:lnTo>
                <a:lnTo>
                  <a:pt x="1655094" y="591029"/>
                </a:lnTo>
                <a:lnTo>
                  <a:pt x="1695462" y="555298"/>
                </a:lnTo>
                <a:lnTo>
                  <a:pt x="1735830" y="520088"/>
                </a:lnTo>
                <a:lnTo>
                  <a:pt x="1776199" y="485466"/>
                </a:lnTo>
                <a:lnTo>
                  <a:pt x="1816567" y="451497"/>
                </a:lnTo>
                <a:lnTo>
                  <a:pt x="1856935" y="418245"/>
                </a:lnTo>
                <a:lnTo>
                  <a:pt x="1897303" y="385775"/>
                </a:lnTo>
                <a:lnTo>
                  <a:pt x="1937671" y="354154"/>
                </a:lnTo>
                <a:lnTo>
                  <a:pt x="1978039" y="323445"/>
                </a:lnTo>
                <a:lnTo>
                  <a:pt x="2018408" y="293714"/>
                </a:lnTo>
                <a:lnTo>
                  <a:pt x="2058776" y="265026"/>
                </a:lnTo>
                <a:lnTo>
                  <a:pt x="2099144" y="237447"/>
                </a:lnTo>
                <a:lnTo>
                  <a:pt x="2139512" y="211040"/>
                </a:lnTo>
                <a:lnTo>
                  <a:pt x="2179880" y="185872"/>
                </a:lnTo>
                <a:lnTo>
                  <a:pt x="2220248" y="162008"/>
                </a:lnTo>
                <a:lnTo>
                  <a:pt x="2260616" y="139511"/>
                </a:lnTo>
                <a:lnTo>
                  <a:pt x="2300985" y="118449"/>
                </a:lnTo>
                <a:lnTo>
                  <a:pt x="2341353" y="98885"/>
                </a:lnTo>
                <a:lnTo>
                  <a:pt x="2381721" y="80886"/>
                </a:lnTo>
                <a:lnTo>
                  <a:pt x="2422089" y="64515"/>
                </a:lnTo>
                <a:lnTo>
                  <a:pt x="2462457" y="49838"/>
                </a:lnTo>
                <a:lnTo>
                  <a:pt x="2502825" y="36920"/>
                </a:lnTo>
                <a:lnTo>
                  <a:pt x="2543194" y="25826"/>
                </a:lnTo>
                <a:lnTo>
                  <a:pt x="2583562" y="16622"/>
                </a:lnTo>
                <a:lnTo>
                  <a:pt x="2623930" y="9372"/>
                </a:lnTo>
                <a:lnTo>
                  <a:pt x="2664298" y="4142"/>
                </a:lnTo>
                <a:lnTo>
                  <a:pt x="2704666" y="996"/>
                </a:lnTo>
                <a:lnTo>
                  <a:pt x="2745034" y="0"/>
                </a:lnTo>
                <a:lnTo>
                  <a:pt x="2785403" y="1219"/>
                </a:lnTo>
                <a:lnTo>
                  <a:pt x="2825771" y="4718"/>
                </a:lnTo>
                <a:lnTo>
                  <a:pt x="2866139" y="10562"/>
                </a:lnTo>
                <a:lnTo>
                  <a:pt x="2906507" y="18816"/>
                </a:lnTo>
                <a:lnTo>
                  <a:pt x="2946875" y="29545"/>
                </a:lnTo>
                <a:lnTo>
                  <a:pt x="2987243" y="42814"/>
                </a:lnTo>
                <a:lnTo>
                  <a:pt x="3027612" y="58689"/>
                </a:lnTo>
                <a:lnTo>
                  <a:pt x="3067980" y="77234"/>
                </a:lnTo>
                <a:lnTo>
                  <a:pt x="3108348" y="98515"/>
                </a:lnTo>
                <a:lnTo>
                  <a:pt x="3148716" y="122597"/>
                </a:lnTo>
                <a:lnTo>
                  <a:pt x="3189084" y="149544"/>
                </a:lnTo>
                <a:lnTo>
                  <a:pt x="3229452" y="179423"/>
                </a:lnTo>
                <a:lnTo>
                  <a:pt x="3269821" y="212297"/>
                </a:lnTo>
                <a:lnTo>
                  <a:pt x="3310189" y="248232"/>
                </a:lnTo>
                <a:lnTo>
                  <a:pt x="3350557" y="287294"/>
                </a:lnTo>
                <a:lnTo>
                  <a:pt x="3390925" y="329547"/>
                </a:lnTo>
                <a:lnTo>
                  <a:pt x="3431293" y="375056"/>
                </a:lnTo>
                <a:lnTo>
                  <a:pt x="3471661" y="423886"/>
                </a:lnTo>
                <a:lnTo>
                  <a:pt x="3512029" y="476104"/>
                </a:lnTo>
                <a:lnTo>
                  <a:pt x="3552398" y="531773"/>
                </a:lnTo>
                <a:lnTo>
                  <a:pt x="3592766" y="590958"/>
                </a:lnTo>
                <a:lnTo>
                  <a:pt x="3633134" y="653726"/>
                </a:lnTo>
                <a:lnTo>
                  <a:pt x="3673502" y="720141"/>
                </a:lnTo>
                <a:lnTo>
                  <a:pt x="3713870" y="790267"/>
                </a:lnTo>
                <a:lnTo>
                  <a:pt x="3754238" y="864171"/>
                </a:lnTo>
                <a:lnTo>
                  <a:pt x="3794607" y="941917"/>
                </a:lnTo>
                <a:lnTo>
                  <a:pt x="3834975" y="1023570"/>
                </a:lnTo>
                <a:lnTo>
                  <a:pt x="3875343" y="1109196"/>
                </a:lnTo>
                <a:lnTo>
                  <a:pt x="3915711" y="1198860"/>
                </a:lnTo>
                <a:lnTo>
                  <a:pt x="3956079" y="1292626"/>
                </a:lnTo>
                <a:lnTo>
                  <a:pt x="3996447" y="1390560"/>
                </a:lnTo>
                <a:lnTo>
                  <a:pt x="4036816" y="1492726"/>
                </a:lnTo>
                <a:lnTo>
                  <a:pt x="4077184" y="1599191"/>
                </a:lnTo>
                <a:lnTo>
                  <a:pt x="4117552" y="1710019"/>
                </a:lnTo>
                <a:lnTo>
                  <a:pt x="4157920" y="1825275"/>
                </a:lnTo>
                <a:lnTo>
                  <a:pt x="4198288" y="1945024"/>
                </a:lnTo>
                <a:lnTo>
                  <a:pt x="4238656" y="2069331"/>
                </a:lnTo>
                <a:lnTo>
                  <a:pt x="4279025" y="2198262"/>
                </a:lnTo>
                <a:lnTo>
                  <a:pt x="4319393" y="2331882"/>
                </a:lnTo>
                <a:lnTo>
                  <a:pt x="4359761" y="2470255"/>
                </a:lnTo>
                <a:lnTo>
                  <a:pt x="4400129" y="2613446"/>
                </a:lnTo>
                <a:lnTo>
                  <a:pt x="4440497" y="2761522"/>
                </a:lnTo>
                <a:lnTo>
                  <a:pt x="4480865" y="2914547"/>
                </a:lnTo>
                <a:lnTo>
                  <a:pt x="4521233" y="3072585"/>
                </a:lnTo>
                <a:lnTo>
                  <a:pt x="4561602" y="323570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15 ellipse 35" descr="sci-ppt:o035"/>
          <p:cNvSpPr/>
          <p:nvPr/>
        </p:nvSpPr>
        <p:spPr>
          <a:xfrm>
            <a:off x="3584447" y="1628123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2-E15 polygon 36" descr="sci-ppt:o036"/>
          <p:cNvSpPr/>
          <p:nvPr/>
        </p:nvSpPr>
        <p:spPr>
          <a:xfrm>
            <a:off x="914400" y="2978019"/>
            <a:ext cx="2704666" cy="1987435"/>
          </a:xfrm>
          <a:custGeom>
            <a:avLst/>
            <a:gdLst/>
            <a:ahLst/>
            <a:cxnLst/>
            <a:rect l="l" t="t" r="r" b="b"/>
            <a:pathLst>
              <a:path w="2704666" h="1987435">
                <a:moveTo>
                  <a:pt x="0" y="425581"/>
                </a:moveTo>
                <a:lnTo>
                  <a:pt x="40368" y="424496"/>
                </a:lnTo>
                <a:lnTo>
                  <a:pt x="80736" y="421330"/>
                </a:lnTo>
                <a:lnTo>
                  <a:pt x="121104" y="416213"/>
                </a:lnTo>
                <a:lnTo>
                  <a:pt x="161472" y="409274"/>
                </a:lnTo>
                <a:lnTo>
                  <a:pt x="201840" y="400645"/>
                </a:lnTo>
                <a:lnTo>
                  <a:pt x="242208" y="390454"/>
                </a:lnTo>
                <a:lnTo>
                  <a:pt x="282577" y="378833"/>
                </a:lnTo>
                <a:lnTo>
                  <a:pt x="322945" y="365911"/>
                </a:lnTo>
                <a:lnTo>
                  <a:pt x="363313" y="351819"/>
                </a:lnTo>
                <a:lnTo>
                  <a:pt x="403681" y="336687"/>
                </a:lnTo>
                <a:lnTo>
                  <a:pt x="444049" y="320645"/>
                </a:lnTo>
                <a:lnTo>
                  <a:pt x="484417" y="303823"/>
                </a:lnTo>
                <a:lnTo>
                  <a:pt x="524786" y="286352"/>
                </a:lnTo>
                <a:lnTo>
                  <a:pt x="565154" y="268362"/>
                </a:lnTo>
                <a:lnTo>
                  <a:pt x="605522" y="249982"/>
                </a:lnTo>
                <a:lnTo>
                  <a:pt x="645890" y="231344"/>
                </a:lnTo>
                <a:lnTo>
                  <a:pt x="686258" y="212576"/>
                </a:lnTo>
                <a:lnTo>
                  <a:pt x="726626" y="193811"/>
                </a:lnTo>
                <a:lnTo>
                  <a:pt x="766995" y="175177"/>
                </a:lnTo>
                <a:lnTo>
                  <a:pt x="807363" y="156804"/>
                </a:lnTo>
                <a:lnTo>
                  <a:pt x="847731" y="138824"/>
                </a:lnTo>
                <a:lnTo>
                  <a:pt x="888099" y="121366"/>
                </a:lnTo>
                <a:lnTo>
                  <a:pt x="928467" y="104561"/>
                </a:lnTo>
                <a:lnTo>
                  <a:pt x="968835" y="88538"/>
                </a:lnTo>
                <a:lnTo>
                  <a:pt x="1009204" y="73428"/>
                </a:lnTo>
                <a:lnTo>
                  <a:pt x="1049572" y="59362"/>
                </a:lnTo>
                <a:lnTo>
                  <a:pt x="1089940" y="46468"/>
                </a:lnTo>
                <a:lnTo>
                  <a:pt x="1130308" y="34878"/>
                </a:lnTo>
                <a:lnTo>
                  <a:pt x="1170676" y="24721"/>
                </a:lnTo>
                <a:lnTo>
                  <a:pt x="1211044" y="16129"/>
                </a:lnTo>
                <a:lnTo>
                  <a:pt x="1251412" y="9230"/>
                </a:lnTo>
                <a:lnTo>
                  <a:pt x="1291781" y="4155"/>
                </a:lnTo>
                <a:lnTo>
                  <a:pt x="1332149" y="1035"/>
                </a:lnTo>
                <a:lnTo>
                  <a:pt x="1372517" y="0"/>
                </a:lnTo>
                <a:lnTo>
                  <a:pt x="1412885" y="1179"/>
                </a:lnTo>
                <a:lnTo>
                  <a:pt x="1453253" y="4704"/>
                </a:lnTo>
                <a:lnTo>
                  <a:pt x="1493621" y="10703"/>
                </a:lnTo>
                <a:lnTo>
                  <a:pt x="1533990" y="19308"/>
                </a:lnTo>
                <a:lnTo>
                  <a:pt x="1574358" y="30649"/>
                </a:lnTo>
                <a:lnTo>
                  <a:pt x="1614726" y="44856"/>
                </a:lnTo>
                <a:lnTo>
                  <a:pt x="1655094" y="62058"/>
                </a:lnTo>
                <a:lnTo>
                  <a:pt x="1695462" y="82387"/>
                </a:lnTo>
                <a:lnTo>
                  <a:pt x="1735830" y="105971"/>
                </a:lnTo>
                <a:lnTo>
                  <a:pt x="1776199" y="132943"/>
                </a:lnTo>
                <a:lnTo>
                  <a:pt x="1816567" y="163431"/>
                </a:lnTo>
                <a:lnTo>
                  <a:pt x="1856935" y="197567"/>
                </a:lnTo>
                <a:lnTo>
                  <a:pt x="1897303" y="235479"/>
                </a:lnTo>
                <a:lnTo>
                  <a:pt x="1937671" y="277299"/>
                </a:lnTo>
                <a:lnTo>
                  <a:pt x="1978039" y="323156"/>
                </a:lnTo>
                <a:lnTo>
                  <a:pt x="2018408" y="373181"/>
                </a:lnTo>
                <a:lnTo>
                  <a:pt x="2058776" y="427505"/>
                </a:lnTo>
                <a:lnTo>
                  <a:pt x="2099144" y="486256"/>
                </a:lnTo>
                <a:lnTo>
                  <a:pt x="2139512" y="549565"/>
                </a:lnTo>
                <a:lnTo>
                  <a:pt x="2179880" y="617564"/>
                </a:lnTo>
                <a:lnTo>
                  <a:pt x="2220248" y="690380"/>
                </a:lnTo>
                <a:lnTo>
                  <a:pt x="2260616" y="768146"/>
                </a:lnTo>
                <a:lnTo>
                  <a:pt x="2300985" y="850991"/>
                </a:lnTo>
                <a:lnTo>
                  <a:pt x="2341353" y="939045"/>
                </a:lnTo>
                <a:lnTo>
                  <a:pt x="2381721" y="1032439"/>
                </a:lnTo>
                <a:lnTo>
                  <a:pt x="2422089" y="1131303"/>
                </a:lnTo>
                <a:lnTo>
                  <a:pt x="2462457" y="1235766"/>
                </a:lnTo>
                <a:lnTo>
                  <a:pt x="2502825" y="1345960"/>
                </a:lnTo>
                <a:lnTo>
                  <a:pt x="2543194" y="1462013"/>
                </a:lnTo>
                <a:lnTo>
                  <a:pt x="2583562" y="1584058"/>
                </a:lnTo>
                <a:lnTo>
                  <a:pt x="2623930" y="1712223"/>
                </a:lnTo>
                <a:lnTo>
                  <a:pt x="2664298" y="1846639"/>
                </a:lnTo>
                <a:lnTo>
                  <a:pt x="2704666" y="1987435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15 ellipse 37" descr="sci-ppt:o037"/>
          <p:cNvSpPr/>
          <p:nvPr/>
        </p:nvSpPr>
        <p:spPr>
          <a:xfrm>
            <a:off x="2212848" y="290486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2-E15 polygon 38" descr="sci-ppt:o038"/>
          <p:cNvSpPr/>
          <p:nvPr/>
        </p:nvSpPr>
        <p:spPr>
          <a:xfrm>
            <a:off x="914400" y="3297204"/>
            <a:ext cx="1776199" cy="1662196"/>
          </a:xfrm>
          <a:custGeom>
            <a:avLst/>
            <a:gdLst/>
            <a:ahLst/>
            <a:cxnLst/>
            <a:rect l="l" t="t" r="r" b="b"/>
            <a:pathLst>
              <a:path w="1776199" h="1662196">
                <a:moveTo>
                  <a:pt x="0" y="106396"/>
                </a:moveTo>
                <a:lnTo>
                  <a:pt x="40368" y="105333"/>
                </a:lnTo>
                <a:lnTo>
                  <a:pt x="80736" y="102319"/>
                </a:lnTo>
                <a:lnTo>
                  <a:pt x="121104" y="97614"/>
                </a:lnTo>
                <a:lnTo>
                  <a:pt x="161472" y="91478"/>
                </a:lnTo>
                <a:lnTo>
                  <a:pt x="201840" y="84172"/>
                </a:lnTo>
                <a:lnTo>
                  <a:pt x="242208" y="75956"/>
                </a:lnTo>
                <a:lnTo>
                  <a:pt x="282577" y="67091"/>
                </a:lnTo>
                <a:lnTo>
                  <a:pt x="322945" y="57836"/>
                </a:lnTo>
                <a:lnTo>
                  <a:pt x="363313" y="48453"/>
                </a:lnTo>
                <a:lnTo>
                  <a:pt x="403681" y="39201"/>
                </a:lnTo>
                <a:lnTo>
                  <a:pt x="444049" y="30342"/>
                </a:lnTo>
                <a:lnTo>
                  <a:pt x="484417" y="22135"/>
                </a:lnTo>
                <a:lnTo>
                  <a:pt x="524786" y="14841"/>
                </a:lnTo>
                <a:lnTo>
                  <a:pt x="565154" y="8720"/>
                </a:lnTo>
                <a:lnTo>
                  <a:pt x="605522" y="4033"/>
                </a:lnTo>
                <a:lnTo>
                  <a:pt x="645890" y="1039"/>
                </a:lnTo>
                <a:lnTo>
                  <a:pt x="686258" y="0"/>
                </a:lnTo>
                <a:lnTo>
                  <a:pt x="726626" y="1176"/>
                </a:lnTo>
                <a:lnTo>
                  <a:pt x="766995" y="4827"/>
                </a:lnTo>
                <a:lnTo>
                  <a:pt x="807363" y="11214"/>
                </a:lnTo>
                <a:lnTo>
                  <a:pt x="847731" y="20597"/>
                </a:lnTo>
                <a:lnTo>
                  <a:pt x="888099" y="33236"/>
                </a:lnTo>
                <a:lnTo>
                  <a:pt x="928467" y="49392"/>
                </a:lnTo>
                <a:lnTo>
                  <a:pt x="968835" y="69325"/>
                </a:lnTo>
                <a:lnTo>
                  <a:pt x="1009204" y="93296"/>
                </a:lnTo>
                <a:lnTo>
                  <a:pt x="1049572" y="121564"/>
                </a:lnTo>
                <a:lnTo>
                  <a:pt x="1089940" y="154391"/>
                </a:lnTo>
                <a:lnTo>
                  <a:pt x="1130308" y="192037"/>
                </a:lnTo>
                <a:lnTo>
                  <a:pt x="1170676" y="234762"/>
                </a:lnTo>
                <a:lnTo>
                  <a:pt x="1211044" y="282826"/>
                </a:lnTo>
                <a:lnTo>
                  <a:pt x="1251412" y="336490"/>
                </a:lnTo>
                <a:lnTo>
                  <a:pt x="1291781" y="396015"/>
                </a:lnTo>
                <a:lnTo>
                  <a:pt x="1332149" y="461660"/>
                </a:lnTo>
                <a:lnTo>
                  <a:pt x="1372517" y="533686"/>
                </a:lnTo>
                <a:lnTo>
                  <a:pt x="1412885" y="612354"/>
                </a:lnTo>
                <a:lnTo>
                  <a:pt x="1453253" y="697924"/>
                </a:lnTo>
                <a:lnTo>
                  <a:pt x="1493621" y="790656"/>
                </a:lnTo>
                <a:lnTo>
                  <a:pt x="1533990" y="890810"/>
                </a:lnTo>
                <a:lnTo>
                  <a:pt x="1574358" y="998648"/>
                </a:lnTo>
                <a:lnTo>
                  <a:pt x="1614726" y="1114429"/>
                </a:lnTo>
                <a:lnTo>
                  <a:pt x="1655094" y="1238414"/>
                </a:lnTo>
                <a:lnTo>
                  <a:pt x="1695462" y="1370863"/>
                </a:lnTo>
                <a:lnTo>
                  <a:pt x="1735830" y="1512037"/>
                </a:lnTo>
                <a:lnTo>
                  <a:pt x="1776199" y="1662196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5 ellipse 39" descr="sci-ppt:o039"/>
          <p:cNvSpPr/>
          <p:nvPr/>
        </p:nvSpPr>
        <p:spPr>
          <a:xfrm>
            <a:off x="1527048" y="3224052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5 rect 40" descr="sci-ppt:o040"/>
          <p:cNvSpPr/>
          <p:nvPr/>
        </p:nvSpPr>
        <p:spPr>
          <a:xfrm>
            <a:off x="4572000" y="1600200"/>
            <a:ext cx="274320" cy="1828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5 text 41" descr="sci-ppt:o041"/>
          <p:cNvSpPr txBox="1"/>
          <p:nvPr/>
        </p:nvSpPr>
        <p:spPr>
          <a:xfrm>
            <a:off x="4956048" y="155448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Δp = 2 bar: r* = 0.100 µm</a:t>
            </a:r>
          </a:p>
        </p:txBody>
      </p:sp>
      <p:sp>
        <p:nvSpPr>
          <p:cNvPr id="44" name="C2-E15 rect 42" descr="sci-ppt:o042"/>
          <p:cNvSpPr/>
          <p:nvPr/>
        </p:nvSpPr>
        <p:spPr>
          <a:xfrm>
            <a:off x="4572000" y="1947672"/>
            <a:ext cx="274320" cy="1828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2-E15 text 43" descr="sci-ppt:o043"/>
          <p:cNvSpPr txBox="1"/>
          <p:nvPr/>
        </p:nvSpPr>
        <p:spPr>
          <a:xfrm>
            <a:off x="4956048" y="1901952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Δp = 4 bar: r* = 0.050 µm</a:t>
            </a:r>
          </a:p>
        </p:txBody>
      </p:sp>
      <p:sp>
        <p:nvSpPr>
          <p:cNvPr id="46" name="C2-E15 rect 44" descr="sci-ppt:o044"/>
          <p:cNvSpPr/>
          <p:nvPr/>
        </p:nvSpPr>
        <p:spPr>
          <a:xfrm>
            <a:off x="4572000" y="2295144"/>
            <a:ext cx="274320" cy="182880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15 text 45" descr="sci-ppt:o045"/>
          <p:cNvSpPr txBox="1"/>
          <p:nvPr/>
        </p:nvSpPr>
        <p:spPr>
          <a:xfrm>
            <a:off x="4956048" y="2249424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Δp = 8 bar: r* = 0.025 µm</a:t>
            </a:r>
          </a:p>
        </p:txBody>
      </p:sp>
      <p:sp>
        <p:nvSpPr>
          <p:cNvPr id="48" name="C2-E15 round_rect 46" descr="sci-ppt:o046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2-E15 text 47" descr="sci-ppt:o047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Setting dW/drₙ = 0</a:t>
            </a:r>
          </a:p>
        </p:txBody>
      </p:sp>
      <p:sp>
        <p:nvSpPr>
          <p:cNvPr id="50" name="C2-E15 text 48" descr="sci-ppt:o048"/>
          <p:cNvSpPr txBox="1"/>
          <p:nvPr/>
        </p:nvSpPr>
        <p:spPr>
          <a:xfrm>
            <a:off x="7452360" y="182880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dW/drₙ = 4π rₙ (2σᵥₚ − Δpₙ rₙ)</a:t>
            </a:r>
          </a:p>
        </p:txBody>
      </p:sp>
      <p:sp>
        <p:nvSpPr>
          <p:cNvPr id="51" name="C2-E15 text 49" descr="sci-ppt:o049"/>
          <p:cNvSpPr txBox="1"/>
          <p:nvPr/>
        </p:nvSpPr>
        <p:spPr>
          <a:xfrm>
            <a:off x="7452360" y="233172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r* = 2σᵥₚ / Δpₙ   (Δpₙ &gt; 0)</a:t>
            </a:r>
          </a:p>
        </p:txBody>
      </p:sp>
      <p:sp>
        <p:nvSpPr>
          <p:cNvPr id="52" name="C2-E15 text 50" descr="sci-ppt:o050"/>
          <p:cNvSpPr txBox="1"/>
          <p:nvPr/>
        </p:nvSpPr>
        <p:spPr>
          <a:xfrm>
            <a:off x="7452360" y="283464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d²W/drₙ² at r* = −8πσᵥₚ &lt; 0</a:t>
            </a:r>
          </a:p>
        </p:txBody>
      </p:sp>
      <p:sp>
        <p:nvSpPr>
          <p:cNvPr id="53" name="C2-E15 text 51" descr="sci-ppt:o051"/>
          <p:cNvSpPr txBox="1"/>
          <p:nvPr/>
        </p:nvSpPr>
        <p:spPr>
          <a:xfrm>
            <a:off x="7452360" y="3429000"/>
            <a:ext cx="429768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Negative curvature means a maximum, not a stable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nucleus: larger superheat only moves the peak to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smaller r.</a:t>
            </a:r>
          </a:p>
        </p:txBody>
      </p:sp>
      <p:sp>
        <p:nvSpPr>
          <p:cNvPr id="54" name="C2-E15 text 52" descr="sci-ppt:o052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Illustrative σᵥₚ = 0.010 N/m (assumed). Doubling Δpₙ halves r* and cuts the barrier by four.</a:t>
            </a:r>
          </a:p>
        </p:txBody>
      </p:sp>
      <p:sp>
        <p:nvSpPr>
          <p:cNvPr id="55" name="C2-E15 text 53" descr="sci-ppt:o05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Critical radius and branch check of Eq. C2-E15.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C2-E16 · Derived homogeneous barrier height</a:t>
            </a:r>
          </a:p>
        </p:txBody>
      </p:sp>
      <p:cxnSp>
        <p:nvCxnSpPr>
          <p:cNvPr id="3" name="C2-E16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6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6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6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cxnSp>
        <p:nvCxnSpPr>
          <p:cNvPr id="8" name="C2-E16 line 6" descr="sci-ppt:o006"/>
          <p:cNvCxnSpPr/>
          <p:nvPr/>
        </p:nvCxnSpPr>
        <p:spPr>
          <a:xfrm>
            <a:off x="2926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6 line 7" descr="sci-ppt:o007"/>
          <p:cNvCxnSpPr/>
          <p:nvPr/>
        </p:nvCxnSpPr>
        <p:spPr>
          <a:xfrm>
            <a:off x="2926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6 text 8" descr="sci-ppt:o008"/>
          <p:cNvSpPr txBox="1"/>
          <p:nvPr/>
        </p:nvSpPr>
        <p:spPr>
          <a:xfrm>
            <a:off x="2468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cxnSp>
        <p:nvCxnSpPr>
          <p:cNvPr id="11" name="C2-E16 line 9" descr="sci-ppt:o009"/>
          <p:cNvCxnSpPr/>
          <p:nvPr/>
        </p:nvCxnSpPr>
        <p:spPr>
          <a:xfrm>
            <a:off x="49377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6 line 10" descr="sci-ppt:o010"/>
          <p:cNvCxnSpPr/>
          <p:nvPr/>
        </p:nvCxnSpPr>
        <p:spPr>
          <a:xfrm>
            <a:off x="49377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6 text 11" descr="sci-ppt:o011"/>
          <p:cNvSpPr txBox="1"/>
          <p:nvPr/>
        </p:nvSpPr>
        <p:spPr>
          <a:xfrm>
            <a:off x="44805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1e+07</a:t>
            </a:r>
          </a:p>
        </p:txBody>
      </p:sp>
      <p:cxnSp>
        <p:nvCxnSpPr>
          <p:cNvPr id="14" name="C2-E16 line 12" descr="sci-ppt:o012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6 line 13" descr="sci-ppt:o013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6 text 14" descr="sci-ppt:o014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1e+08</a:t>
            </a:r>
          </a:p>
        </p:txBody>
      </p:sp>
      <p:cxnSp>
        <p:nvCxnSpPr>
          <p:cNvPr id="17" name="C2-E16 line 15" descr="sci-ppt:o015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6 line 16" descr="sci-ppt:o016"/>
          <p:cNvCxnSpPr/>
          <p:nvPr/>
        </p:nvCxnSpPr>
        <p:spPr>
          <a:xfrm>
            <a:off x="850392" y="39841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2-E16 line 17" descr="sci-ppt:o017"/>
          <p:cNvCxnSpPr/>
          <p:nvPr/>
        </p:nvCxnSpPr>
        <p:spPr>
          <a:xfrm>
            <a:off x="914400" y="3984171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2-E16 text 18" descr="sci-ppt:o018"/>
          <p:cNvSpPr txBox="1"/>
          <p:nvPr/>
        </p:nvSpPr>
        <p:spPr>
          <a:xfrm>
            <a:off x="45720" y="39018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1e+02</a:t>
            </a:r>
          </a:p>
        </p:txBody>
      </p:sp>
      <p:cxnSp>
        <p:nvCxnSpPr>
          <p:cNvPr id="21" name="C2-E16 line 19" descr="sci-ppt:o019"/>
          <p:cNvCxnSpPr/>
          <p:nvPr/>
        </p:nvCxnSpPr>
        <p:spPr>
          <a:xfrm>
            <a:off x="850392" y="29391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16 line 20" descr="sci-ppt:o020"/>
          <p:cNvCxnSpPr/>
          <p:nvPr/>
        </p:nvCxnSpPr>
        <p:spPr>
          <a:xfrm>
            <a:off x="914400" y="2939142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16 text 21" descr="sci-ppt:o021"/>
          <p:cNvSpPr txBox="1"/>
          <p:nvPr/>
        </p:nvSpPr>
        <p:spPr>
          <a:xfrm>
            <a:off x="45720" y="28568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24" name="C2-E16 line 22" descr="sci-ppt:o022"/>
          <p:cNvCxnSpPr/>
          <p:nvPr/>
        </p:nvCxnSpPr>
        <p:spPr>
          <a:xfrm>
            <a:off x="850392" y="18941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16 line 23" descr="sci-ppt:o023"/>
          <p:cNvCxnSpPr/>
          <p:nvPr/>
        </p:nvCxnSpPr>
        <p:spPr>
          <a:xfrm>
            <a:off x="914400" y="189411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16 text 24" descr="sci-ppt:o024"/>
          <p:cNvSpPr txBox="1"/>
          <p:nvPr/>
        </p:nvSpPr>
        <p:spPr>
          <a:xfrm>
            <a:off x="45720" y="1811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sp>
        <p:nvSpPr>
          <p:cNvPr id="27" name="C2-E16 text 25" descr="sci-ppt:o025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driving pressure Δpₙ  (Pa)</a:t>
            </a:r>
          </a:p>
        </p:txBody>
      </p:sp>
      <p:sp>
        <p:nvSpPr>
          <p:cNvPr id="28" name="C2-E16 text 26" descr="sci-ppt:o026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W* / k_B T</a:t>
            </a:r>
          </a:p>
        </p:txBody>
      </p:sp>
      <p:sp>
        <p:nvSpPr>
          <p:cNvPr id="29" name="C2-E16 polygon 27" descr="sci-ppt:o027"/>
          <p:cNvSpPr/>
          <p:nvPr/>
        </p:nvSpPr>
        <p:spPr>
          <a:xfrm>
            <a:off x="914400" y="2116254"/>
            <a:ext cx="5547360" cy="2881746"/>
          </a:xfrm>
          <a:custGeom>
            <a:avLst/>
            <a:gdLst/>
            <a:ahLst/>
            <a:cxnLst/>
            <a:rect l="l" t="t" r="r" b="b"/>
            <a:pathLst>
              <a:path w="5547360" h="2881746">
                <a:moveTo>
                  <a:pt x="0" y="0"/>
                </a:moveTo>
                <a:lnTo>
                  <a:pt x="60960" y="31668"/>
                </a:lnTo>
                <a:lnTo>
                  <a:pt x="121920" y="63335"/>
                </a:lnTo>
                <a:lnTo>
                  <a:pt x="182879" y="95003"/>
                </a:lnTo>
                <a:lnTo>
                  <a:pt x="243839" y="126670"/>
                </a:lnTo>
                <a:lnTo>
                  <a:pt x="304799" y="158338"/>
                </a:lnTo>
                <a:lnTo>
                  <a:pt x="365759" y="190005"/>
                </a:lnTo>
                <a:lnTo>
                  <a:pt x="426719" y="221673"/>
                </a:lnTo>
                <a:lnTo>
                  <a:pt x="487679" y="253340"/>
                </a:lnTo>
                <a:lnTo>
                  <a:pt x="548639" y="285008"/>
                </a:lnTo>
                <a:lnTo>
                  <a:pt x="609599" y="316675"/>
                </a:lnTo>
                <a:lnTo>
                  <a:pt x="670559" y="348343"/>
                </a:lnTo>
                <a:lnTo>
                  <a:pt x="731519" y="380010"/>
                </a:lnTo>
                <a:lnTo>
                  <a:pt x="792479" y="411678"/>
                </a:lnTo>
                <a:lnTo>
                  <a:pt x="853439" y="443346"/>
                </a:lnTo>
                <a:lnTo>
                  <a:pt x="914400" y="475013"/>
                </a:lnTo>
                <a:lnTo>
                  <a:pt x="975359" y="506681"/>
                </a:lnTo>
                <a:lnTo>
                  <a:pt x="1036320" y="538348"/>
                </a:lnTo>
                <a:lnTo>
                  <a:pt x="1097279" y="570016"/>
                </a:lnTo>
                <a:lnTo>
                  <a:pt x="1158240" y="601683"/>
                </a:lnTo>
                <a:lnTo>
                  <a:pt x="1219200" y="633351"/>
                </a:lnTo>
                <a:lnTo>
                  <a:pt x="1280160" y="665018"/>
                </a:lnTo>
                <a:lnTo>
                  <a:pt x="1341120" y="696686"/>
                </a:lnTo>
                <a:lnTo>
                  <a:pt x="1402080" y="728353"/>
                </a:lnTo>
                <a:lnTo>
                  <a:pt x="1463040" y="760021"/>
                </a:lnTo>
                <a:lnTo>
                  <a:pt x="1524000" y="791688"/>
                </a:lnTo>
                <a:lnTo>
                  <a:pt x="1584960" y="823356"/>
                </a:lnTo>
                <a:lnTo>
                  <a:pt x="1645920" y="855023"/>
                </a:lnTo>
                <a:lnTo>
                  <a:pt x="1706880" y="886691"/>
                </a:lnTo>
                <a:lnTo>
                  <a:pt x="1767840" y="918358"/>
                </a:lnTo>
                <a:lnTo>
                  <a:pt x="1828800" y="950026"/>
                </a:lnTo>
                <a:lnTo>
                  <a:pt x="1889760" y="981694"/>
                </a:lnTo>
                <a:lnTo>
                  <a:pt x="1950720" y="1013361"/>
                </a:lnTo>
                <a:lnTo>
                  <a:pt x="2011679" y="1045029"/>
                </a:lnTo>
                <a:lnTo>
                  <a:pt x="2072640" y="1076696"/>
                </a:lnTo>
                <a:lnTo>
                  <a:pt x="2133599" y="1108364"/>
                </a:lnTo>
                <a:lnTo>
                  <a:pt x="2194559" y="1140031"/>
                </a:lnTo>
                <a:lnTo>
                  <a:pt x="2255519" y="1171699"/>
                </a:lnTo>
                <a:lnTo>
                  <a:pt x="2316480" y="1203366"/>
                </a:lnTo>
                <a:lnTo>
                  <a:pt x="2377439" y="1235034"/>
                </a:lnTo>
                <a:lnTo>
                  <a:pt x="2438399" y="1266701"/>
                </a:lnTo>
                <a:lnTo>
                  <a:pt x="2499359" y="1298369"/>
                </a:lnTo>
                <a:lnTo>
                  <a:pt x="2560319" y="1330036"/>
                </a:lnTo>
                <a:lnTo>
                  <a:pt x="2621279" y="1361704"/>
                </a:lnTo>
                <a:lnTo>
                  <a:pt x="2682240" y="1393371"/>
                </a:lnTo>
                <a:lnTo>
                  <a:pt x="2743199" y="1425039"/>
                </a:lnTo>
                <a:lnTo>
                  <a:pt x="2804160" y="1456707"/>
                </a:lnTo>
                <a:lnTo>
                  <a:pt x="2865119" y="1488374"/>
                </a:lnTo>
                <a:lnTo>
                  <a:pt x="2926080" y="1520042"/>
                </a:lnTo>
                <a:lnTo>
                  <a:pt x="2987039" y="1551709"/>
                </a:lnTo>
                <a:lnTo>
                  <a:pt x="3048000" y="1583377"/>
                </a:lnTo>
                <a:lnTo>
                  <a:pt x="3108959" y="1615044"/>
                </a:lnTo>
                <a:lnTo>
                  <a:pt x="3169920" y="1646712"/>
                </a:lnTo>
                <a:lnTo>
                  <a:pt x="3230880" y="1678379"/>
                </a:lnTo>
                <a:lnTo>
                  <a:pt x="3291840" y="1710047"/>
                </a:lnTo>
                <a:lnTo>
                  <a:pt x="3352800" y="1741714"/>
                </a:lnTo>
                <a:lnTo>
                  <a:pt x="3413760" y="1773382"/>
                </a:lnTo>
                <a:lnTo>
                  <a:pt x="3474720" y="1805049"/>
                </a:lnTo>
                <a:lnTo>
                  <a:pt x="3535680" y="1836717"/>
                </a:lnTo>
                <a:lnTo>
                  <a:pt x="3596640" y="1868384"/>
                </a:lnTo>
                <a:lnTo>
                  <a:pt x="3657600" y="1900052"/>
                </a:lnTo>
                <a:lnTo>
                  <a:pt x="3718560" y="1931720"/>
                </a:lnTo>
                <a:lnTo>
                  <a:pt x="3779520" y="1963387"/>
                </a:lnTo>
                <a:lnTo>
                  <a:pt x="3840479" y="1995055"/>
                </a:lnTo>
                <a:lnTo>
                  <a:pt x="3901440" y="2026722"/>
                </a:lnTo>
                <a:lnTo>
                  <a:pt x="3962400" y="2058390"/>
                </a:lnTo>
                <a:lnTo>
                  <a:pt x="4023359" y="2090057"/>
                </a:lnTo>
                <a:lnTo>
                  <a:pt x="4084320" y="2121725"/>
                </a:lnTo>
                <a:lnTo>
                  <a:pt x="4145280" y="2153392"/>
                </a:lnTo>
                <a:lnTo>
                  <a:pt x="4206240" y="2185060"/>
                </a:lnTo>
                <a:lnTo>
                  <a:pt x="4267199" y="2216727"/>
                </a:lnTo>
                <a:lnTo>
                  <a:pt x="4328159" y="2248395"/>
                </a:lnTo>
                <a:lnTo>
                  <a:pt x="4389119" y="2280062"/>
                </a:lnTo>
                <a:lnTo>
                  <a:pt x="4450080" y="2311730"/>
                </a:lnTo>
                <a:lnTo>
                  <a:pt x="4511039" y="2343397"/>
                </a:lnTo>
                <a:lnTo>
                  <a:pt x="4572000" y="2375065"/>
                </a:lnTo>
                <a:lnTo>
                  <a:pt x="4632960" y="2406733"/>
                </a:lnTo>
                <a:lnTo>
                  <a:pt x="4693920" y="2438400"/>
                </a:lnTo>
                <a:lnTo>
                  <a:pt x="4754879" y="2470068"/>
                </a:lnTo>
                <a:lnTo>
                  <a:pt x="4815840" y="2501735"/>
                </a:lnTo>
                <a:lnTo>
                  <a:pt x="4876799" y="2533403"/>
                </a:lnTo>
                <a:lnTo>
                  <a:pt x="4937760" y="2565070"/>
                </a:lnTo>
                <a:lnTo>
                  <a:pt x="4998719" y="2596738"/>
                </a:lnTo>
                <a:lnTo>
                  <a:pt x="5059680" y="2628405"/>
                </a:lnTo>
                <a:lnTo>
                  <a:pt x="5120639" y="2660073"/>
                </a:lnTo>
                <a:lnTo>
                  <a:pt x="5181600" y="2691740"/>
                </a:lnTo>
                <a:lnTo>
                  <a:pt x="5242559" y="2723408"/>
                </a:lnTo>
                <a:lnTo>
                  <a:pt x="5303520" y="2755075"/>
                </a:lnTo>
                <a:lnTo>
                  <a:pt x="5364480" y="2786743"/>
                </a:lnTo>
                <a:lnTo>
                  <a:pt x="5425440" y="2818410"/>
                </a:lnTo>
                <a:lnTo>
                  <a:pt x="5486400" y="2850078"/>
                </a:lnTo>
                <a:lnTo>
                  <a:pt x="5547360" y="2881746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2-E16 ellipse 28" descr="sci-ppt:o028"/>
          <p:cNvSpPr/>
          <p:nvPr/>
        </p:nvSpPr>
        <p:spPr>
          <a:xfrm>
            <a:off x="2852927" y="3088131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16 text 29" descr="sci-ppt:o029"/>
          <p:cNvSpPr txBox="1"/>
          <p:nvPr/>
        </p:nvSpPr>
        <p:spPr>
          <a:xfrm>
            <a:off x="3017520" y="2704083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Δp = 10 bar: 3,757 k_BT</a:t>
            </a:r>
          </a:p>
        </p:txBody>
      </p:sp>
      <p:sp>
        <p:nvSpPr>
          <p:cNvPr id="32" name="C2-E16 ellipse 30" descr="sci-ppt:o030"/>
          <p:cNvSpPr/>
          <p:nvPr/>
        </p:nvSpPr>
        <p:spPr>
          <a:xfrm>
            <a:off x="4864607" y="4133159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16 text 31" descr="sci-ppt:o031"/>
          <p:cNvSpPr txBox="1"/>
          <p:nvPr/>
        </p:nvSpPr>
        <p:spPr>
          <a:xfrm>
            <a:off x="5029199" y="3749111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Δp = 100 bar: 38 k_BT</a:t>
            </a:r>
          </a:p>
        </p:txBody>
      </p:sp>
      <p:sp>
        <p:nvSpPr>
          <p:cNvPr id="34" name="C2-E16 text 32" descr="sci-ppt:o032"/>
          <p:cNvSpPr txBox="1"/>
          <p:nvPr/>
        </p:nvSpPr>
        <p:spPr>
          <a:xfrm>
            <a:off x="1593128" y="2075885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slope −2</a:t>
            </a:r>
          </a:p>
        </p:txBody>
      </p:sp>
      <p:sp>
        <p:nvSpPr>
          <p:cNvPr id="35" name="C2-E16 round_rect 33" descr="sci-ppt:o033"/>
          <p:cNvSpPr/>
          <p:nvPr/>
        </p:nvSpPr>
        <p:spPr>
          <a:xfrm>
            <a:off x="7498079" y="1371600"/>
            <a:ext cx="43434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2-E16 text 34" descr="sci-ppt:o034"/>
          <p:cNvSpPr txBox="1"/>
          <p:nvPr/>
        </p:nvSpPr>
        <p:spPr>
          <a:xfrm>
            <a:off x="7607807" y="1426464"/>
            <a:ext cx="4123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barrier does not vanish</a:t>
            </a:r>
          </a:p>
        </p:txBody>
      </p:sp>
      <p:sp>
        <p:nvSpPr>
          <p:cNvPr id="37" name="C2-E16 text 35" descr="sci-ppt:o035"/>
          <p:cNvSpPr txBox="1"/>
          <p:nvPr/>
        </p:nvSpPr>
        <p:spPr>
          <a:xfrm>
            <a:off x="7635240" y="1828800"/>
            <a:ext cx="41148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W* = 16π σᵥₚ³ / (3 Δpₙ²)</a:t>
            </a:r>
          </a:p>
        </p:txBody>
      </p:sp>
      <p:sp>
        <p:nvSpPr>
          <p:cNvPr id="38" name="C2-E16 text 36" descr="sci-ppt:o036"/>
          <p:cNvSpPr txBox="1"/>
          <p:nvPr/>
        </p:nvSpPr>
        <p:spPr>
          <a:xfrm>
            <a:off x="7635240" y="2377440"/>
            <a:ext cx="41148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Derivation: W(r*) = (16 − 32/3) π σ³/Δp² = (16/3)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π σ³/Δp²</a:t>
            </a:r>
          </a:p>
        </p:txBody>
      </p:sp>
      <p:sp>
        <p:nvSpPr>
          <p:cNvPr id="39" name="C2-E16 text 37" descr="sci-ppt:o037"/>
          <p:cNvSpPr txBox="1"/>
          <p:nvPr/>
        </p:nvSpPr>
        <p:spPr>
          <a:xfrm>
            <a:off x="7836408" y="3108960"/>
            <a:ext cx="39136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Positive superheat shrinks the barrier but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never removes it.</a:t>
            </a:r>
          </a:p>
        </p:txBody>
      </p:sp>
      <p:sp>
        <p:nvSpPr>
          <p:cNvPr id="40" name="C2-E16 ellipse 38" descr="sci-ppt:o038"/>
          <p:cNvSpPr/>
          <p:nvPr/>
        </p:nvSpPr>
        <p:spPr>
          <a:xfrm>
            <a:off x="7667244" y="31662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6 text 39" descr="sci-ppt:o039"/>
          <p:cNvSpPr txBox="1"/>
          <p:nvPr/>
        </p:nvSpPr>
        <p:spPr>
          <a:xfrm>
            <a:off x="7836408" y="3587749"/>
            <a:ext cx="39136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Relative to thermal energy k_B T the barrier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is still thousands of units at 10 bar.</a:t>
            </a:r>
          </a:p>
        </p:txBody>
      </p:sp>
      <p:sp>
        <p:nvSpPr>
          <p:cNvPr id="42" name="C2-E16 ellipse 40" descr="sci-ppt:o040"/>
          <p:cNvSpPr/>
          <p:nvPr/>
        </p:nvSpPr>
        <p:spPr>
          <a:xfrm>
            <a:off x="7667244" y="364502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6 text 41" descr="sci-ppt:o041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Illustrative σᵥₚ = 0.010 N/m (assumed), T = 323 K. Thermal fluctuations alone rarely cross barriers of many k_B T.</a:t>
            </a:r>
          </a:p>
        </p:txBody>
      </p:sp>
      <p:sp>
        <p:nvSpPr>
          <p:cNvPr id="44" name="C2-E16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Barrier height of Eq. C2-E16, homogeneous locally isothermal small-nucleus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C2-E17 · Derived probability under a prescribed Poisson rate</a:t>
            </a:r>
          </a:p>
        </p:txBody>
      </p:sp>
      <p:cxnSp>
        <p:nvCxnSpPr>
          <p:cNvPr id="3" name="C2-E17 line 1" descr="sci-ppt:o001"/>
          <p:cNvCxnSpPr/>
          <p:nvPr/>
        </p:nvCxnSpPr>
        <p:spPr>
          <a:xfrm>
            <a:off x="914400" y="292608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7 line 2" descr="sci-ppt:o002"/>
          <p:cNvCxnSpPr/>
          <p:nvPr/>
        </p:nvCxnSpPr>
        <p:spPr>
          <a:xfrm>
            <a:off x="914400" y="1371600"/>
            <a:ext cx="0" cy="155448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7 line 3" descr="sci-ppt:o003"/>
          <p:cNvCxnSpPr/>
          <p:nvPr/>
        </p:nvCxnSpPr>
        <p:spPr>
          <a:xfrm>
            <a:off x="914400" y="2926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7 line 4" descr="sci-ppt:o004"/>
          <p:cNvCxnSpPr/>
          <p:nvPr/>
        </p:nvCxnSpPr>
        <p:spPr>
          <a:xfrm>
            <a:off x="914400" y="137160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7 text 5" descr="sci-ppt:o005"/>
          <p:cNvSpPr txBox="1"/>
          <p:nvPr/>
        </p:nvSpPr>
        <p:spPr>
          <a:xfrm>
            <a:off x="457200" y="3008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17 line 6" descr="sci-ppt:o006"/>
          <p:cNvCxnSpPr/>
          <p:nvPr/>
        </p:nvCxnSpPr>
        <p:spPr>
          <a:xfrm>
            <a:off x="1938528" y="2926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7 line 7" descr="sci-ppt:o007"/>
          <p:cNvCxnSpPr/>
          <p:nvPr/>
        </p:nvCxnSpPr>
        <p:spPr>
          <a:xfrm>
            <a:off x="1938528" y="137160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7 text 8" descr="sci-ppt:o008"/>
          <p:cNvSpPr txBox="1"/>
          <p:nvPr/>
        </p:nvSpPr>
        <p:spPr>
          <a:xfrm>
            <a:off x="1481328" y="3008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2-E17 line 9" descr="sci-ppt:o009"/>
          <p:cNvCxnSpPr/>
          <p:nvPr/>
        </p:nvCxnSpPr>
        <p:spPr>
          <a:xfrm>
            <a:off x="2962656" y="2926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7 line 10" descr="sci-ppt:o010"/>
          <p:cNvCxnSpPr/>
          <p:nvPr/>
        </p:nvCxnSpPr>
        <p:spPr>
          <a:xfrm>
            <a:off x="2962656" y="137160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7 text 11" descr="sci-ppt:o011"/>
          <p:cNvSpPr txBox="1"/>
          <p:nvPr/>
        </p:nvSpPr>
        <p:spPr>
          <a:xfrm>
            <a:off x="2505456" y="3008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2-E17 line 12" descr="sci-ppt:o012"/>
          <p:cNvCxnSpPr/>
          <p:nvPr/>
        </p:nvCxnSpPr>
        <p:spPr>
          <a:xfrm>
            <a:off x="3986783" y="2926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7 line 13" descr="sci-ppt:o013"/>
          <p:cNvCxnSpPr/>
          <p:nvPr/>
        </p:nvCxnSpPr>
        <p:spPr>
          <a:xfrm>
            <a:off x="3986783" y="137160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7 text 14" descr="sci-ppt:o014"/>
          <p:cNvSpPr txBox="1"/>
          <p:nvPr/>
        </p:nvSpPr>
        <p:spPr>
          <a:xfrm>
            <a:off x="3529583" y="3008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2-E17 line 15" descr="sci-ppt:o015"/>
          <p:cNvCxnSpPr/>
          <p:nvPr/>
        </p:nvCxnSpPr>
        <p:spPr>
          <a:xfrm>
            <a:off x="5010912" y="2926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7 line 16" descr="sci-ppt:o016"/>
          <p:cNvCxnSpPr/>
          <p:nvPr/>
        </p:nvCxnSpPr>
        <p:spPr>
          <a:xfrm>
            <a:off x="5010912" y="137160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7 text 17" descr="sci-ppt:o017"/>
          <p:cNvSpPr txBox="1"/>
          <p:nvPr/>
        </p:nvSpPr>
        <p:spPr>
          <a:xfrm>
            <a:off x="4553712" y="3008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2-E17 line 18" descr="sci-ppt:o018"/>
          <p:cNvCxnSpPr/>
          <p:nvPr/>
        </p:nvCxnSpPr>
        <p:spPr>
          <a:xfrm>
            <a:off x="6035040" y="2926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7 line 19" descr="sci-ppt:o019"/>
          <p:cNvCxnSpPr/>
          <p:nvPr/>
        </p:nvCxnSpPr>
        <p:spPr>
          <a:xfrm>
            <a:off x="6035040" y="137160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7 text 20" descr="sci-ppt:o020"/>
          <p:cNvSpPr txBox="1"/>
          <p:nvPr/>
        </p:nvSpPr>
        <p:spPr>
          <a:xfrm>
            <a:off x="5577840" y="3008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3" name="C2-E17 line 21" descr="sci-ppt:o021"/>
          <p:cNvCxnSpPr/>
          <p:nvPr/>
        </p:nvCxnSpPr>
        <p:spPr>
          <a:xfrm>
            <a:off x="850392" y="2926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7 line 22" descr="sci-ppt:o022"/>
          <p:cNvCxnSpPr/>
          <p:nvPr/>
        </p:nvCxnSpPr>
        <p:spPr>
          <a:xfrm>
            <a:off x="850392" y="232820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17 line 23" descr="sci-ppt:o023"/>
          <p:cNvCxnSpPr/>
          <p:nvPr/>
        </p:nvCxnSpPr>
        <p:spPr>
          <a:xfrm>
            <a:off x="914400" y="2328203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17 text 24" descr="sci-ppt:o024"/>
          <p:cNvSpPr txBox="1"/>
          <p:nvPr/>
        </p:nvSpPr>
        <p:spPr>
          <a:xfrm>
            <a:off x="45720" y="224590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7" name="C2-E17 line 25" descr="sci-ppt:o025"/>
          <p:cNvCxnSpPr/>
          <p:nvPr/>
        </p:nvCxnSpPr>
        <p:spPr>
          <a:xfrm>
            <a:off x="850392" y="173032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17 line 26" descr="sci-ppt:o026"/>
          <p:cNvCxnSpPr/>
          <p:nvPr/>
        </p:nvCxnSpPr>
        <p:spPr>
          <a:xfrm>
            <a:off x="914400" y="1730326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17 text 27" descr="sci-ppt:o027"/>
          <p:cNvSpPr txBox="1"/>
          <p:nvPr/>
        </p:nvSpPr>
        <p:spPr>
          <a:xfrm>
            <a:off x="45720" y="164803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sp>
        <p:nvSpPr>
          <p:cNvPr id="30" name="C2-E17 text 28" descr="sci-ppt:o028"/>
          <p:cNvSpPr txBox="1"/>
          <p:nvPr/>
        </p:nvSpPr>
        <p:spPr>
          <a:xfrm>
            <a:off x="36576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Λ(t)  (1/µs)</a:t>
            </a:r>
          </a:p>
        </p:txBody>
      </p:sp>
      <p:cxnSp>
        <p:nvCxnSpPr>
          <p:cNvPr id="31" name="C2-E17 line 29" descr="sci-ppt:o029"/>
          <p:cNvCxnSpPr/>
          <p:nvPr/>
        </p:nvCxnSpPr>
        <p:spPr>
          <a:xfrm>
            <a:off x="914400" y="521208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2-E17 line 30" descr="sci-ppt:o030"/>
          <p:cNvCxnSpPr/>
          <p:nvPr/>
        </p:nvCxnSpPr>
        <p:spPr>
          <a:xfrm>
            <a:off x="914400" y="3611880"/>
            <a:ext cx="0" cy="16002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3" name="C2-E17 line 31" descr="sci-ppt:o031"/>
          <p:cNvCxnSpPr/>
          <p:nvPr/>
        </p:nvCxnSpPr>
        <p:spPr>
          <a:xfrm>
            <a:off x="914400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17 line 32" descr="sci-ppt:o032"/>
          <p:cNvCxnSpPr/>
          <p:nvPr/>
        </p:nvCxnSpPr>
        <p:spPr>
          <a:xfrm>
            <a:off x="914400" y="3611880"/>
            <a:ext cx="0" cy="1600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17 text 33" descr="sci-ppt:o033"/>
          <p:cNvSpPr txBox="1"/>
          <p:nvPr/>
        </p:nvSpPr>
        <p:spPr>
          <a:xfrm>
            <a:off x="457200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6" name="C2-E17 line 34" descr="sci-ppt:o034"/>
          <p:cNvCxnSpPr/>
          <p:nvPr/>
        </p:nvCxnSpPr>
        <p:spPr>
          <a:xfrm>
            <a:off x="1938528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17 line 35" descr="sci-ppt:o035"/>
          <p:cNvCxnSpPr/>
          <p:nvPr/>
        </p:nvCxnSpPr>
        <p:spPr>
          <a:xfrm>
            <a:off x="1938528" y="3611880"/>
            <a:ext cx="0" cy="1600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17 text 36" descr="sci-ppt:o036"/>
          <p:cNvSpPr txBox="1"/>
          <p:nvPr/>
        </p:nvSpPr>
        <p:spPr>
          <a:xfrm>
            <a:off x="1481328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39" name="C2-E17 line 37" descr="sci-ppt:o037"/>
          <p:cNvCxnSpPr/>
          <p:nvPr/>
        </p:nvCxnSpPr>
        <p:spPr>
          <a:xfrm>
            <a:off x="2962656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17 line 38" descr="sci-ppt:o038"/>
          <p:cNvCxnSpPr/>
          <p:nvPr/>
        </p:nvCxnSpPr>
        <p:spPr>
          <a:xfrm>
            <a:off x="2962656" y="3611880"/>
            <a:ext cx="0" cy="1600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17 text 39" descr="sci-ppt:o039"/>
          <p:cNvSpPr txBox="1"/>
          <p:nvPr/>
        </p:nvSpPr>
        <p:spPr>
          <a:xfrm>
            <a:off x="2505456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2" name="C2-E17 line 40" descr="sci-ppt:o040"/>
          <p:cNvCxnSpPr/>
          <p:nvPr/>
        </p:nvCxnSpPr>
        <p:spPr>
          <a:xfrm>
            <a:off x="3986783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17 line 41" descr="sci-ppt:o041"/>
          <p:cNvCxnSpPr/>
          <p:nvPr/>
        </p:nvCxnSpPr>
        <p:spPr>
          <a:xfrm>
            <a:off x="3986783" y="3611880"/>
            <a:ext cx="0" cy="1600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17 text 42" descr="sci-ppt:o042"/>
          <p:cNvSpPr txBox="1"/>
          <p:nvPr/>
        </p:nvSpPr>
        <p:spPr>
          <a:xfrm>
            <a:off x="3529583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45" name="C2-E17 line 43" descr="sci-ppt:o043"/>
          <p:cNvCxnSpPr/>
          <p:nvPr/>
        </p:nvCxnSpPr>
        <p:spPr>
          <a:xfrm>
            <a:off x="5010912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17 line 44" descr="sci-ppt:o044"/>
          <p:cNvCxnSpPr/>
          <p:nvPr/>
        </p:nvCxnSpPr>
        <p:spPr>
          <a:xfrm>
            <a:off x="5010912" y="3611880"/>
            <a:ext cx="0" cy="1600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17 text 45" descr="sci-ppt:o045"/>
          <p:cNvSpPr txBox="1"/>
          <p:nvPr/>
        </p:nvSpPr>
        <p:spPr>
          <a:xfrm>
            <a:off x="4553712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48" name="C2-E17 line 46" descr="sci-ppt:o046"/>
          <p:cNvCxnSpPr/>
          <p:nvPr/>
        </p:nvCxnSpPr>
        <p:spPr>
          <a:xfrm>
            <a:off x="6035040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17 line 47" descr="sci-ppt:o047"/>
          <p:cNvCxnSpPr/>
          <p:nvPr/>
        </p:nvCxnSpPr>
        <p:spPr>
          <a:xfrm>
            <a:off x="6035040" y="3611880"/>
            <a:ext cx="0" cy="1600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2-E17 text 48" descr="sci-ppt:o048"/>
          <p:cNvSpPr txBox="1"/>
          <p:nvPr/>
        </p:nvSpPr>
        <p:spPr>
          <a:xfrm>
            <a:off x="5577840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51" name="C2-E17 line 49" descr="sci-ppt:o049"/>
          <p:cNvCxnSpPr/>
          <p:nvPr/>
        </p:nvCxnSpPr>
        <p:spPr>
          <a:xfrm>
            <a:off x="850392" y="5212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2-E17 line 50" descr="sci-ppt:o050"/>
          <p:cNvCxnSpPr/>
          <p:nvPr/>
        </p:nvCxnSpPr>
        <p:spPr>
          <a:xfrm>
            <a:off x="850392" y="4450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2-E17 line 51" descr="sci-ppt:o051"/>
          <p:cNvCxnSpPr/>
          <p:nvPr/>
        </p:nvCxnSpPr>
        <p:spPr>
          <a:xfrm>
            <a:off x="914400" y="445008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2-E17 text 52" descr="sci-ppt:o052"/>
          <p:cNvSpPr txBox="1"/>
          <p:nvPr/>
        </p:nvSpPr>
        <p:spPr>
          <a:xfrm>
            <a:off x="45720" y="4367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55" name="C2-E17 line 53" descr="sci-ppt:o053"/>
          <p:cNvCxnSpPr/>
          <p:nvPr/>
        </p:nvCxnSpPr>
        <p:spPr>
          <a:xfrm>
            <a:off x="850392" y="3688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2-E17 line 54" descr="sci-ppt:o054"/>
          <p:cNvCxnSpPr/>
          <p:nvPr/>
        </p:nvCxnSpPr>
        <p:spPr>
          <a:xfrm>
            <a:off x="914400" y="368808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2-E17 text 55" descr="sci-ppt:o055"/>
          <p:cNvSpPr txBox="1"/>
          <p:nvPr/>
        </p:nvSpPr>
        <p:spPr>
          <a:xfrm>
            <a:off x="45720" y="3605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58" name="C2-E17 text 56" descr="sci-ppt:o056"/>
          <p:cNvSpPr txBox="1"/>
          <p:nvPr/>
        </p:nvSpPr>
        <p:spPr>
          <a:xfrm>
            <a:off x="914400" y="549554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59" name="C2-E17 text 57" descr="sci-ppt:o057"/>
          <p:cNvSpPr txBox="1"/>
          <p:nvPr/>
        </p:nvSpPr>
        <p:spPr>
          <a:xfrm>
            <a:off x="365760" y="326440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P_act</a:t>
            </a:r>
          </a:p>
        </p:txBody>
      </p:sp>
      <p:sp>
        <p:nvSpPr>
          <p:cNvPr id="60" name="C2-E17 polygon 58" descr="sci-ppt:o058"/>
          <p:cNvSpPr/>
          <p:nvPr/>
        </p:nvSpPr>
        <p:spPr>
          <a:xfrm>
            <a:off x="914400" y="1730326"/>
            <a:ext cx="5120640" cy="1195754"/>
          </a:xfrm>
          <a:custGeom>
            <a:avLst/>
            <a:gdLst/>
            <a:ahLst/>
            <a:cxnLst/>
            <a:rect l="l" t="t" r="r" b="b"/>
            <a:pathLst>
              <a:path w="5120640" h="1195754">
                <a:moveTo>
                  <a:pt x="0" y="0"/>
                </a:moveTo>
                <a:lnTo>
                  <a:pt x="30785" y="0"/>
                </a:lnTo>
                <a:lnTo>
                  <a:pt x="61570" y="0"/>
                </a:lnTo>
                <a:lnTo>
                  <a:pt x="92356" y="0"/>
                </a:lnTo>
                <a:lnTo>
                  <a:pt x="123141" y="0"/>
                </a:lnTo>
                <a:lnTo>
                  <a:pt x="153927" y="0"/>
                </a:lnTo>
                <a:lnTo>
                  <a:pt x="184712" y="0"/>
                </a:lnTo>
                <a:lnTo>
                  <a:pt x="215497" y="0"/>
                </a:lnTo>
                <a:lnTo>
                  <a:pt x="246283" y="0"/>
                </a:lnTo>
                <a:lnTo>
                  <a:pt x="277068" y="0"/>
                </a:lnTo>
                <a:lnTo>
                  <a:pt x="307854" y="0"/>
                </a:lnTo>
                <a:lnTo>
                  <a:pt x="338639" y="0"/>
                </a:lnTo>
                <a:lnTo>
                  <a:pt x="369424" y="0"/>
                </a:lnTo>
                <a:lnTo>
                  <a:pt x="400210" y="0"/>
                </a:lnTo>
                <a:lnTo>
                  <a:pt x="430995" y="0"/>
                </a:lnTo>
                <a:lnTo>
                  <a:pt x="461781" y="0"/>
                </a:lnTo>
                <a:lnTo>
                  <a:pt x="492566" y="0"/>
                </a:lnTo>
                <a:lnTo>
                  <a:pt x="523351" y="0"/>
                </a:lnTo>
                <a:lnTo>
                  <a:pt x="554137" y="0"/>
                </a:lnTo>
                <a:lnTo>
                  <a:pt x="584922" y="0"/>
                </a:lnTo>
                <a:lnTo>
                  <a:pt x="615708" y="0"/>
                </a:lnTo>
                <a:lnTo>
                  <a:pt x="646493" y="0"/>
                </a:lnTo>
                <a:lnTo>
                  <a:pt x="677279" y="0"/>
                </a:lnTo>
                <a:lnTo>
                  <a:pt x="708064" y="0"/>
                </a:lnTo>
                <a:lnTo>
                  <a:pt x="738849" y="0"/>
                </a:lnTo>
                <a:lnTo>
                  <a:pt x="769635" y="0"/>
                </a:lnTo>
                <a:lnTo>
                  <a:pt x="800420" y="0"/>
                </a:lnTo>
                <a:lnTo>
                  <a:pt x="831206" y="0"/>
                </a:lnTo>
                <a:lnTo>
                  <a:pt x="861991" y="0"/>
                </a:lnTo>
                <a:lnTo>
                  <a:pt x="892776" y="0"/>
                </a:lnTo>
                <a:lnTo>
                  <a:pt x="923562" y="0"/>
                </a:lnTo>
                <a:lnTo>
                  <a:pt x="954347" y="0"/>
                </a:lnTo>
                <a:lnTo>
                  <a:pt x="985133" y="0"/>
                </a:lnTo>
                <a:lnTo>
                  <a:pt x="1015918" y="0"/>
                </a:lnTo>
                <a:lnTo>
                  <a:pt x="1046703" y="1195754"/>
                </a:lnTo>
                <a:lnTo>
                  <a:pt x="1077489" y="1195754"/>
                </a:lnTo>
                <a:lnTo>
                  <a:pt x="1108274" y="1195754"/>
                </a:lnTo>
                <a:lnTo>
                  <a:pt x="1139060" y="1195754"/>
                </a:lnTo>
                <a:lnTo>
                  <a:pt x="1169845" y="1195754"/>
                </a:lnTo>
                <a:lnTo>
                  <a:pt x="1200631" y="1195754"/>
                </a:lnTo>
                <a:lnTo>
                  <a:pt x="1231416" y="1195754"/>
                </a:lnTo>
                <a:lnTo>
                  <a:pt x="1262201" y="1195754"/>
                </a:lnTo>
                <a:lnTo>
                  <a:pt x="1292987" y="1195754"/>
                </a:lnTo>
                <a:lnTo>
                  <a:pt x="1323772" y="1195754"/>
                </a:lnTo>
                <a:lnTo>
                  <a:pt x="1354558" y="1195754"/>
                </a:lnTo>
                <a:lnTo>
                  <a:pt x="1385343" y="1195754"/>
                </a:lnTo>
                <a:lnTo>
                  <a:pt x="1416128" y="1195754"/>
                </a:lnTo>
                <a:lnTo>
                  <a:pt x="1446914" y="1195754"/>
                </a:lnTo>
                <a:lnTo>
                  <a:pt x="1477699" y="1195754"/>
                </a:lnTo>
                <a:lnTo>
                  <a:pt x="1508485" y="1195754"/>
                </a:lnTo>
                <a:lnTo>
                  <a:pt x="1539270" y="1195754"/>
                </a:lnTo>
                <a:lnTo>
                  <a:pt x="1570055" y="1195754"/>
                </a:lnTo>
                <a:lnTo>
                  <a:pt x="1600841" y="1195754"/>
                </a:lnTo>
                <a:lnTo>
                  <a:pt x="1631626" y="1195754"/>
                </a:lnTo>
                <a:lnTo>
                  <a:pt x="1662412" y="1195754"/>
                </a:lnTo>
                <a:lnTo>
                  <a:pt x="1693197" y="1195754"/>
                </a:lnTo>
                <a:lnTo>
                  <a:pt x="1723983" y="1195754"/>
                </a:lnTo>
                <a:lnTo>
                  <a:pt x="1754768" y="1195754"/>
                </a:lnTo>
                <a:lnTo>
                  <a:pt x="1785553" y="1195754"/>
                </a:lnTo>
                <a:lnTo>
                  <a:pt x="1816339" y="1195754"/>
                </a:lnTo>
                <a:lnTo>
                  <a:pt x="1847124" y="1195754"/>
                </a:lnTo>
                <a:lnTo>
                  <a:pt x="1877910" y="1195754"/>
                </a:lnTo>
                <a:lnTo>
                  <a:pt x="1908695" y="1195754"/>
                </a:lnTo>
                <a:lnTo>
                  <a:pt x="1939480" y="1195754"/>
                </a:lnTo>
                <a:lnTo>
                  <a:pt x="1970266" y="1195754"/>
                </a:lnTo>
                <a:lnTo>
                  <a:pt x="2001051" y="1195754"/>
                </a:lnTo>
                <a:lnTo>
                  <a:pt x="2031837" y="1195754"/>
                </a:lnTo>
                <a:lnTo>
                  <a:pt x="2062622" y="1195754"/>
                </a:lnTo>
                <a:lnTo>
                  <a:pt x="2093407" y="1195754"/>
                </a:lnTo>
                <a:lnTo>
                  <a:pt x="2124193" y="1195754"/>
                </a:lnTo>
                <a:lnTo>
                  <a:pt x="2154978" y="1195754"/>
                </a:lnTo>
                <a:lnTo>
                  <a:pt x="2185764" y="1195754"/>
                </a:lnTo>
                <a:lnTo>
                  <a:pt x="2216549" y="1195754"/>
                </a:lnTo>
                <a:lnTo>
                  <a:pt x="2247334" y="1195754"/>
                </a:lnTo>
                <a:lnTo>
                  <a:pt x="2278120" y="1195754"/>
                </a:lnTo>
                <a:lnTo>
                  <a:pt x="2308905" y="1195754"/>
                </a:lnTo>
                <a:lnTo>
                  <a:pt x="2339691" y="1195754"/>
                </a:lnTo>
                <a:lnTo>
                  <a:pt x="2370476" y="1195754"/>
                </a:lnTo>
                <a:lnTo>
                  <a:pt x="2401262" y="1195754"/>
                </a:lnTo>
                <a:lnTo>
                  <a:pt x="2432047" y="1195754"/>
                </a:lnTo>
                <a:lnTo>
                  <a:pt x="2462832" y="1195754"/>
                </a:lnTo>
                <a:lnTo>
                  <a:pt x="2493618" y="1195754"/>
                </a:lnTo>
                <a:lnTo>
                  <a:pt x="2524403" y="1195754"/>
                </a:lnTo>
                <a:lnTo>
                  <a:pt x="2555189" y="1195754"/>
                </a:lnTo>
                <a:lnTo>
                  <a:pt x="2585974" y="1195754"/>
                </a:lnTo>
                <a:lnTo>
                  <a:pt x="2616759" y="1195754"/>
                </a:lnTo>
                <a:lnTo>
                  <a:pt x="2647545" y="1195754"/>
                </a:lnTo>
                <a:lnTo>
                  <a:pt x="2678330" y="1195754"/>
                </a:lnTo>
                <a:lnTo>
                  <a:pt x="2709116" y="1195754"/>
                </a:lnTo>
                <a:lnTo>
                  <a:pt x="2739901" y="1195754"/>
                </a:lnTo>
                <a:lnTo>
                  <a:pt x="2770686" y="1195754"/>
                </a:lnTo>
                <a:lnTo>
                  <a:pt x="2801472" y="1195754"/>
                </a:lnTo>
                <a:lnTo>
                  <a:pt x="2832257" y="1195754"/>
                </a:lnTo>
                <a:lnTo>
                  <a:pt x="2863043" y="1195754"/>
                </a:lnTo>
                <a:lnTo>
                  <a:pt x="2893828" y="1195754"/>
                </a:lnTo>
                <a:lnTo>
                  <a:pt x="2924614" y="1195754"/>
                </a:lnTo>
                <a:lnTo>
                  <a:pt x="2955399" y="1195754"/>
                </a:lnTo>
                <a:lnTo>
                  <a:pt x="2986184" y="1195754"/>
                </a:lnTo>
                <a:lnTo>
                  <a:pt x="3016970" y="1195754"/>
                </a:lnTo>
                <a:lnTo>
                  <a:pt x="3047755" y="1195754"/>
                </a:lnTo>
                <a:lnTo>
                  <a:pt x="3078541" y="1195754"/>
                </a:lnTo>
                <a:lnTo>
                  <a:pt x="3109326" y="1195754"/>
                </a:lnTo>
                <a:lnTo>
                  <a:pt x="3140111" y="1195754"/>
                </a:lnTo>
                <a:lnTo>
                  <a:pt x="3170897" y="1195754"/>
                </a:lnTo>
                <a:lnTo>
                  <a:pt x="3201682" y="1195754"/>
                </a:lnTo>
                <a:lnTo>
                  <a:pt x="3232468" y="1195754"/>
                </a:lnTo>
                <a:lnTo>
                  <a:pt x="3263253" y="1195754"/>
                </a:lnTo>
                <a:lnTo>
                  <a:pt x="3294038" y="1195754"/>
                </a:lnTo>
                <a:lnTo>
                  <a:pt x="3324824" y="1195754"/>
                </a:lnTo>
                <a:lnTo>
                  <a:pt x="3355609" y="1195754"/>
                </a:lnTo>
                <a:lnTo>
                  <a:pt x="3386395" y="1195754"/>
                </a:lnTo>
                <a:lnTo>
                  <a:pt x="3417180" y="1195754"/>
                </a:lnTo>
                <a:lnTo>
                  <a:pt x="3447966" y="1195754"/>
                </a:lnTo>
                <a:lnTo>
                  <a:pt x="3478751" y="1195754"/>
                </a:lnTo>
                <a:lnTo>
                  <a:pt x="3509536" y="1195754"/>
                </a:lnTo>
                <a:lnTo>
                  <a:pt x="3540322" y="1195754"/>
                </a:lnTo>
                <a:lnTo>
                  <a:pt x="3571107" y="1195754"/>
                </a:lnTo>
                <a:lnTo>
                  <a:pt x="3601893" y="1195754"/>
                </a:lnTo>
                <a:lnTo>
                  <a:pt x="3632678" y="1195754"/>
                </a:lnTo>
                <a:lnTo>
                  <a:pt x="3663463" y="1195754"/>
                </a:lnTo>
                <a:lnTo>
                  <a:pt x="3694249" y="1195754"/>
                </a:lnTo>
                <a:lnTo>
                  <a:pt x="3725034" y="1195754"/>
                </a:lnTo>
                <a:lnTo>
                  <a:pt x="3755820" y="1195754"/>
                </a:lnTo>
                <a:lnTo>
                  <a:pt x="3786605" y="1195754"/>
                </a:lnTo>
                <a:lnTo>
                  <a:pt x="3817390" y="1195754"/>
                </a:lnTo>
                <a:lnTo>
                  <a:pt x="3848176" y="1195754"/>
                </a:lnTo>
                <a:lnTo>
                  <a:pt x="3878961" y="1195754"/>
                </a:lnTo>
                <a:lnTo>
                  <a:pt x="3909747" y="1195754"/>
                </a:lnTo>
                <a:lnTo>
                  <a:pt x="3940532" y="1195754"/>
                </a:lnTo>
                <a:lnTo>
                  <a:pt x="3971317" y="1195754"/>
                </a:lnTo>
                <a:lnTo>
                  <a:pt x="4002103" y="1195754"/>
                </a:lnTo>
                <a:lnTo>
                  <a:pt x="4032888" y="1195754"/>
                </a:lnTo>
                <a:lnTo>
                  <a:pt x="4063674" y="1195754"/>
                </a:lnTo>
                <a:lnTo>
                  <a:pt x="4094459" y="1195754"/>
                </a:lnTo>
                <a:lnTo>
                  <a:pt x="4125245" y="1195754"/>
                </a:lnTo>
                <a:lnTo>
                  <a:pt x="4156030" y="1195754"/>
                </a:lnTo>
                <a:lnTo>
                  <a:pt x="4186815" y="1195754"/>
                </a:lnTo>
                <a:lnTo>
                  <a:pt x="4217601" y="1195754"/>
                </a:lnTo>
                <a:lnTo>
                  <a:pt x="4248386" y="1195754"/>
                </a:lnTo>
                <a:lnTo>
                  <a:pt x="4279172" y="1195754"/>
                </a:lnTo>
                <a:lnTo>
                  <a:pt x="4309957" y="1195754"/>
                </a:lnTo>
                <a:lnTo>
                  <a:pt x="4340742" y="1195754"/>
                </a:lnTo>
                <a:lnTo>
                  <a:pt x="4371528" y="1195754"/>
                </a:lnTo>
                <a:lnTo>
                  <a:pt x="4402313" y="1195754"/>
                </a:lnTo>
                <a:lnTo>
                  <a:pt x="4433099" y="1195754"/>
                </a:lnTo>
                <a:lnTo>
                  <a:pt x="4463884" y="1195754"/>
                </a:lnTo>
                <a:lnTo>
                  <a:pt x="4494669" y="1195754"/>
                </a:lnTo>
                <a:lnTo>
                  <a:pt x="4525455" y="1195754"/>
                </a:lnTo>
                <a:lnTo>
                  <a:pt x="4556240" y="1195754"/>
                </a:lnTo>
                <a:lnTo>
                  <a:pt x="4587026" y="1195754"/>
                </a:lnTo>
                <a:lnTo>
                  <a:pt x="4617811" y="1195754"/>
                </a:lnTo>
                <a:lnTo>
                  <a:pt x="4648597" y="1195754"/>
                </a:lnTo>
                <a:lnTo>
                  <a:pt x="4679382" y="1195754"/>
                </a:lnTo>
                <a:lnTo>
                  <a:pt x="4710167" y="1195754"/>
                </a:lnTo>
                <a:lnTo>
                  <a:pt x="4740953" y="1195754"/>
                </a:lnTo>
                <a:lnTo>
                  <a:pt x="4771738" y="1195754"/>
                </a:lnTo>
                <a:lnTo>
                  <a:pt x="4802524" y="1195754"/>
                </a:lnTo>
                <a:lnTo>
                  <a:pt x="4833309" y="1195754"/>
                </a:lnTo>
                <a:lnTo>
                  <a:pt x="4864094" y="1195754"/>
                </a:lnTo>
                <a:lnTo>
                  <a:pt x="4894880" y="1195754"/>
                </a:lnTo>
                <a:lnTo>
                  <a:pt x="4925665" y="1195754"/>
                </a:lnTo>
                <a:lnTo>
                  <a:pt x="4956451" y="1195754"/>
                </a:lnTo>
                <a:lnTo>
                  <a:pt x="4987236" y="1195754"/>
                </a:lnTo>
                <a:lnTo>
                  <a:pt x="5018021" y="1195754"/>
                </a:lnTo>
                <a:lnTo>
                  <a:pt x="5048807" y="1195754"/>
                </a:lnTo>
                <a:lnTo>
                  <a:pt x="5079592" y="1195754"/>
                </a:lnTo>
                <a:lnTo>
                  <a:pt x="5110378" y="1195754"/>
                </a:lnTo>
                <a:lnTo>
                  <a:pt x="5120640" y="1195754"/>
                </a:lnTo>
              </a:path>
            </a:pathLst>
          </a:custGeom>
          <a:noFill/>
          <a:ln w="330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C2-E17 polygon 59" descr="sci-ppt:o059"/>
          <p:cNvSpPr/>
          <p:nvPr/>
        </p:nvSpPr>
        <p:spPr>
          <a:xfrm>
            <a:off x="914400" y="3893505"/>
            <a:ext cx="5120640" cy="1288337"/>
          </a:xfrm>
          <a:custGeom>
            <a:avLst/>
            <a:gdLst/>
            <a:ahLst/>
            <a:cxnLst/>
            <a:rect l="l" t="t" r="r" b="b"/>
            <a:pathLst>
              <a:path w="5120640" h="1288337">
                <a:moveTo>
                  <a:pt x="0" y="1288337"/>
                </a:moveTo>
                <a:lnTo>
                  <a:pt x="30785" y="1201178"/>
                </a:lnTo>
                <a:lnTo>
                  <a:pt x="61570" y="1119105"/>
                </a:lnTo>
                <a:lnTo>
                  <a:pt x="92356" y="1041820"/>
                </a:lnTo>
                <a:lnTo>
                  <a:pt x="123141" y="969045"/>
                </a:lnTo>
                <a:lnTo>
                  <a:pt x="153927" y="900516"/>
                </a:lnTo>
                <a:lnTo>
                  <a:pt x="184712" y="835986"/>
                </a:lnTo>
                <a:lnTo>
                  <a:pt x="215497" y="775221"/>
                </a:lnTo>
                <a:lnTo>
                  <a:pt x="246283" y="718001"/>
                </a:lnTo>
                <a:lnTo>
                  <a:pt x="277068" y="664121"/>
                </a:lnTo>
                <a:lnTo>
                  <a:pt x="307854" y="613384"/>
                </a:lnTo>
                <a:lnTo>
                  <a:pt x="338639" y="565607"/>
                </a:lnTo>
                <a:lnTo>
                  <a:pt x="369424" y="520619"/>
                </a:lnTo>
                <a:lnTo>
                  <a:pt x="400210" y="478255"/>
                </a:lnTo>
                <a:lnTo>
                  <a:pt x="430995" y="438363"/>
                </a:lnTo>
                <a:lnTo>
                  <a:pt x="461781" y="400799"/>
                </a:lnTo>
                <a:lnTo>
                  <a:pt x="492566" y="365426"/>
                </a:lnTo>
                <a:lnTo>
                  <a:pt x="523351" y="332118"/>
                </a:lnTo>
                <a:lnTo>
                  <a:pt x="554137" y="300753"/>
                </a:lnTo>
                <a:lnTo>
                  <a:pt x="584922" y="271218"/>
                </a:lnTo>
                <a:lnTo>
                  <a:pt x="615708" y="243407"/>
                </a:lnTo>
                <a:lnTo>
                  <a:pt x="646493" y="217218"/>
                </a:lnTo>
                <a:lnTo>
                  <a:pt x="677279" y="192557"/>
                </a:lnTo>
                <a:lnTo>
                  <a:pt x="708064" y="169335"/>
                </a:lnTo>
                <a:lnTo>
                  <a:pt x="738849" y="147469"/>
                </a:lnTo>
                <a:lnTo>
                  <a:pt x="769635" y="126878"/>
                </a:lnTo>
                <a:lnTo>
                  <a:pt x="800420" y="107488"/>
                </a:lnTo>
                <a:lnTo>
                  <a:pt x="831206" y="89230"/>
                </a:lnTo>
                <a:lnTo>
                  <a:pt x="861991" y="72037"/>
                </a:lnTo>
                <a:lnTo>
                  <a:pt x="892776" y="55848"/>
                </a:lnTo>
                <a:lnTo>
                  <a:pt x="923562" y="40603"/>
                </a:lnTo>
                <a:lnTo>
                  <a:pt x="954347" y="26247"/>
                </a:lnTo>
                <a:lnTo>
                  <a:pt x="985133" y="12730"/>
                </a:lnTo>
                <a:lnTo>
                  <a:pt x="1015918" y="0"/>
                </a:lnTo>
                <a:lnTo>
                  <a:pt x="1046703" y="0"/>
                </a:lnTo>
                <a:lnTo>
                  <a:pt x="1077489" y="0"/>
                </a:lnTo>
                <a:lnTo>
                  <a:pt x="1108274" y="0"/>
                </a:lnTo>
                <a:lnTo>
                  <a:pt x="1139060" y="0"/>
                </a:lnTo>
                <a:lnTo>
                  <a:pt x="1169845" y="0"/>
                </a:lnTo>
                <a:lnTo>
                  <a:pt x="1200631" y="0"/>
                </a:lnTo>
                <a:lnTo>
                  <a:pt x="1231416" y="0"/>
                </a:lnTo>
                <a:lnTo>
                  <a:pt x="1262201" y="0"/>
                </a:lnTo>
                <a:lnTo>
                  <a:pt x="1292987" y="0"/>
                </a:lnTo>
                <a:lnTo>
                  <a:pt x="1323772" y="0"/>
                </a:lnTo>
                <a:lnTo>
                  <a:pt x="1354558" y="0"/>
                </a:lnTo>
                <a:lnTo>
                  <a:pt x="1385343" y="0"/>
                </a:lnTo>
                <a:lnTo>
                  <a:pt x="1416128" y="0"/>
                </a:lnTo>
                <a:lnTo>
                  <a:pt x="1446914" y="0"/>
                </a:lnTo>
                <a:lnTo>
                  <a:pt x="1477699" y="0"/>
                </a:lnTo>
                <a:lnTo>
                  <a:pt x="1508485" y="0"/>
                </a:lnTo>
                <a:lnTo>
                  <a:pt x="1539270" y="0"/>
                </a:lnTo>
                <a:lnTo>
                  <a:pt x="1570055" y="0"/>
                </a:lnTo>
                <a:lnTo>
                  <a:pt x="1600841" y="0"/>
                </a:lnTo>
                <a:lnTo>
                  <a:pt x="1631626" y="0"/>
                </a:lnTo>
                <a:lnTo>
                  <a:pt x="1662412" y="0"/>
                </a:lnTo>
                <a:lnTo>
                  <a:pt x="1693197" y="0"/>
                </a:lnTo>
                <a:lnTo>
                  <a:pt x="1723983" y="0"/>
                </a:lnTo>
                <a:lnTo>
                  <a:pt x="1754768" y="0"/>
                </a:lnTo>
                <a:lnTo>
                  <a:pt x="1785553" y="0"/>
                </a:lnTo>
                <a:lnTo>
                  <a:pt x="1816339" y="0"/>
                </a:lnTo>
                <a:lnTo>
                  <a:pt x="1847124" y="0"/>
                </a:lnTo>
                <a:lnTo>
                  <a:pt x="1877910" y="0"/>
                </a:lnTo>
                <a:lnTo>
                  <a:pt x="1908695" y="0"/>
                </a:lnTo>
                <a:lnTo>
                  <a:pt x="1939480" y="0"/>
                </a:lnTo>
                <a:lnTo>
                  <a:pt x="1970266" y="0"/>
                </a:lnTo>
                <a:lnTo>
                  <a:pt x="2001051" y="0"/>
                </a:lnTo>
                <a:lnTo>
                  <a:pt x="2031837" y="0"/>
                </a:lnTo>
                <a:lnTo>
                  <a:pt x="2062622" y="0"/>
                </a:lnTo>
                <a:lnTo>
                  <a:pt x="2093407" y="0"/>
                </a:lnTo>
                <a:lnTo>
                  <a:pt x="2124193" y="0"/>
                </a:lnTo>
                <a:lnTo>
                  <a:pt x="2154978" y="0"/>
                </a:lnTo>
                <a:lnTo>
                  <a:pt x="2185764" y="0"/>
                </a:lnTo>
                <a:lnTo>
                  <a:pt x="2216549" y="0"/>
                </a:lnTo>
                <a:lnTo>
                  <a:pt x="2247334" y="0"/>
                </a:lnTo>
                <a:lnTo>
                  <a:pt x="2278120" y="0"/>
                </a:lnTo>
                <a:lnTo>
                  <a:pt x="2308905" y="0"/>
                </a:lnTo>
                <a:lnTo>
                  <a:pt x="2339691" y="0"/>
                </a:lnTo>
                <a:lnTo>
                  <a:pt x="2370476" y="0"/>
                </a:lnTo>
                <a:lnTo>
                  <a:pt x="2401262" y="0"/>
                </a:lnTo>
                <a:lnTo>
                  <a:pt x="2432047" y="0"/>
                </a:lnTo>
                <a:lnTo>
                  <a:pt x="2462832" y="0"/>
                </a:lnTo>
                <a:lnTo>
                  <a:pt x="2493618" y="0"/>
                </a:lnTo>
                <a:lnTo>
                  <a:pt x="2524403" y="0"/>
                </a:lnTo>
                <a:lnTo>
                  <a:pt x="2555189" y="0"/>
                </a:lnTo>
                <a:lnTo>
                  <a:pt x="2585974" y="0"/>
                </a:lnTo>
                <a:lnTo>
                  <a:pt x="2616759" y="0"/>
                </a:lnTo>
                <a:lnTo>
                  <a:pt x="2647545" y="0"/>
                </a:lnTo>
                <a:lnTo>
                  <a:pt x="2678330" y="0"/>
                </a:lnTo>
                <a:lnTo>
                  <a:pt x="2709116" y="0"/>
                </a:lnTo>
                <a:lnTo>
                  <a:pt x="2739901" y="0"/>
                </a:lnTo>
                <a:lnTo>
                  <a:pt x="2770686" y="0"/>
                </a:lnTo>
                <a:lnTo>
                  <a:pt x="2801472" y="0"/>
                </a:lnTo>
                <a:lnTo>
                  <a:pt x="2832257" y="0"/>
                </a:lnTo>
                <a:lnTo>
                  <a:pt x="2863043" y="0"/>
                </a:lnTo>
                <a:lnTo>
                  <a:pt x="2893828" y="0"/>
                </a:lnTo>
                <a:lnTo>
                  <a:pt x="2924614" y="0"/>
                </a:lnTo>
                <a:lnTo>
                  <a:pt x="2955399" y="0"/>
                </a:lnTo>
                <a:lnTo>
                  <a:pt x="2986184" y="0"/>
                </a:lnTo>
                <a:lnTo>
                  <a:pt x="3016970" y="0"/>
                </a:lnTo>
                <a:lnTo>
                  <a:pt x="3047755" y="0"/>
                </a:lnTo>
                <a:lnTo>
                  <a:pt x="3078541" y="0"/>
                </a:lnTo>
                <a:lnTo>
                  <a:pt x="3109326" y="0"/>
                </a:lnTo>
                <a:lnTo>
                  <a:pt x="3140111" y="0"/>
                </a:lnTo>
                <a:lnTo>
                  <a:pt x="3170897" y="0"/>
                </a:lnTo>
                <a:lnTo>
                  <a:pt x="3201682" y="0"/>
                </a:lnTo>
                <a:lnTo>
                  <a:pt x="3232468" y="0"/>
                </a:lnTo>
                <a:lnTo>
                  <a:pt x="3263253" y="0"/>
                </a:lnTo>
                <a:lnTo>
                  <a:pt x="3294038" y="0"/>
                </a:lnTo>
                <a:lnTo>
                  <a:pt x="3324824" y="0"/>
                </a:lnTo>
                <a:lnTo>
                  <a:pt x="3355609" y="0"/>
                </a:lnTo>
                <a:lnTo>
                  <a:pt x="3386395" y="0"/>
                </a:lnTo>
                <a:lnTo>
                  <a:pt x="3417180" y="0"/>
                </a:lnTo>
                <a:lnTo>
                  <a:pt x="3447966" y="0"/>
                </a:lnTo>
                <a:lnTo>
                  <a:pt x="3478751" y="0"/>
                </a:lnTo>
                <a:lnTo>
                  <a:pt x="3509536" y="0"/>
                </a:lnTo>
                <a:lnTo>
                  <a:pt x="3540322" y="0"/>
                </a:lnTo>
                <a:lnTo>
                  <a:pt x="3571107" y="0"/>
                </a:lnTo>
                <a:lnTo>
                  <a:pt x="3601893" y="0"/>
                </a:lnTo>
                <a:lnTo>
                  <a:pt x="3632678" y="0"/>
                </a:lnTo>
                <a:lnTo>
                  <a:pt x="3663463" y="0"/>
                </a:lnTo>
                <a:lnTo>
                  <a:pt x="3694249" y="0"/>
                </a:lnTo>
                <a:lnTo>
                  <a:pt x="3725034" y="0"/>
                </a:lnTo>
                <a:lnTo>
                  <a:pt x="3755820" y="0"/>
                </a:lnTo>
                <a:lnTo>
                  <a:pt x="3786605" y="0"/>
                </a:lnTo>
                <a:lnTo>
                  <a:pt x="3817390" y="0"/>
                </a:lnTo>
                <a:lnTo>
                  <a:pt x="3848176" y="0"/>
                </a:lnTo>
                <a:lnTo>
                  <a:pt x="3878961" y="0"/>
                </a:lnTo>
                <a:lnTo>
                  <a:pt x="3909747" y="0"/>
                </a:lnTo>
                <a:lnTo>
                  <a:pt x="3940532" y="0"/>
                </a:lnTo>
                <a:lnTo>
                  <a:pt x="3971317" y="0"/>
                </a:lnTo>
                <a:lnTo>
                  <a:pt x="4002103" y="0"/>
                </a:lnTo>
                <a:lnTo>
                  <a:pt x="4032888" y="0"/>
                </a:lnTo>
                <a:lnTo>
                  <a:pt x="4063674" y="0"/>
                </a:lnTo>
                <a:lnTo>
                  <a:pt x="4094459" y="0"/>
                </a:lnTo>
                <a:lnTo>
                  <a:pt x="4125245" y="0"/>
                </a:lnTo>
                <a:lnTo>
                  <a:pt x="4156030" y="0"/>
                </a:lnTo>
                <a:lnTo>
                  <a:pt x="4186815" y="0"/>
                </a:lnTo>
                <a:lnTo>
                  <a:pt x="4217601" y="0"/>
                </a:lnTo>
                <a:lnTo>
                  <a:pt x="4248386" y="0"/>
                </a:lnTo>
                <a:lnTo>
                  <a:pt x="4279172" y="0"/>
                </a:lnTo>
                <a:lnTo>
                  <a:pt x="4309957" y="0"/>
                </a:lnTo>
                <a:lnTo>
                  <a:pt x="4340742" y="0"/>
                </a:lnTo>
                <a:lnTo>
                  <a:pt x="4371528" y="0"/>
                </a:lnTo>
                <a:lnTo>
                  <a:pt x="4402313" y="0"/>
                </a:lnTo>
                <a:lnTo>
                  <a:pt x="4433099" y="0"/>
                </a:lnTo>
                <a:lnTo>
                  <a:pt x="4463884" y="0"/>
                </a:lnTo>
                <a:lnTo>
                  <a:pt x="4494669" y="0"/>
                </a:lnTo>
                <a:lnTo>
                  <a:pt x="4525455" y="0"/>
                </a:lnTo>
                <a:lnTo>
                  <a:pt x="4556240" y="0"/>
                </a:lnTo>
                <a:lnTo>
                  <a:pt x="4587026" y="0"/>
                </a:lnTo>
                <a:lnTo>
                  <a:pt x="4617811" y="0"/>
                </a:lnTo>
                <a:lnTo>
                  <a:pt x="4648597" y="0"/>
                </a:lnTo>
                <a:lnTo>
                  <a:pt x="4679382" y="0"/>
                </a:lnTo>
                <a:lnTo>
                  <a:pt x="4710167" y="0"/>
                </a:lnTo>
                <a:lnTo>
                  <a:pt x="4740953" y="0"/>
                </a:lnTo>
                <a:lnTo>
                  <a:pt x="4771738" y="0"/>
                </a:lnTo>
                <a:lnTo>
                  <a:pt x="4802524" y="0"/>
                </a:lnTo>
                <a:lnTo>
                  <a:pt x="4833309" y="0"/>
                </a:lnTo>
                <a:lnTo>
                  <a:pt x="4864094" y="0"/>
                </a:lnTo>
                <a:lnTo>
                  <a:pt x="4894880" y="0"/>
                </a:lnTo>
                <a:lnTo>
                  <a:pt x="4925665" y="0"/>
                </a:lnTo>
                <a:lnTo>
                  <a:pt x="4956451" y="0"/>
                </a:lnTo>
                <a:lnTo>
                  <a:pt x="4987236" y="0"/>
                </a:lnTo>
                <a:lnTo>
                  <a:pt x="5018021" y="0"/>
                </a:lnTo>
                <a:lnTo>
                  <a:pt x="5048807" y="0"/>
                </a:lnTo>
                <a:lnTo>
                  <a:pt x="5079592" y="0"/>
                </a:lnTo>
                <a:lnTo>
                  <a:pt x="5110378" y="0"/>
                </a:lnTo>
                <a:lnTo>
                  <a:pt x="512064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C2-E17 ellipse 60" descr="sci-ppt:o060"/>
          <p:cNvSpPr/>
          <p:nvPr/>
        </p:nvSpPr>
        <p:spPr>
          <a:xfrm>
            <a:off x="5980176" y="3839466"/>
            <a:ext cx="109728" cy="109728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2-E17 polygon 61" descr="sci-ppt:o061"/>
          <p:cNvSpPr/>
          <p:nvPr/>
        </p:nvSpPr>
        <p:spPr>
          <a:xfrm>
            <a:off x="914400" y="2627141"/>
            <a:ext cx="5120640" cy="298939"/>
          </a:xfrm>
          <a:custGeom>
            <a:avLst/>
            <a:gdLst/>
            <a:ahLst/>
            <a:cxnLst/>
            <a:rect l="l" t="t" r="r" b="b"/>
            <a:pathLst>
              <a:path w="5120640" h="298939">
                <a:moveTo>
                  <a:pt x="0" y="0"/>
                </a:moveTo>
                <a:lnTo>
                  <a:pt x="30785" y="0"/>
                </a:lnTo>
                <a:lnTo>
                  <a:pt x="61570" y="0"/>
                </a:lnTo>
                <a:lnTo>
                  <a:pt x="92356" y="0"/>
                </a:lnTo>
                <a:lnTo>
                  <a:pt x="123141" y="0"/>
                </a:lnTo>
                <a:lnTo>
                  <a:pt x="153927" y="0"/>
                </a:lnTo>
                <a:lnTo>
                  <a:pt x="184712" y="0"/>
                </a:lnTo>
                <a:lnTo>
                  <a:pt x="215497" y="0"/>
                </a:lnTo>
                <a:lnTo>
                  <a:pt x="246283" y="0"/>
                </a:lnTo>
                <a:lnTo>
                  <a:pt x="277068" y="0"/>
                </a:lnTo>
                <a:lnTo>
                  <a:pt x="307854" y="0"/>
                </a:lnTo>
                <a:lnTo>
                  <a:pt x="338639" y="0"/>
                </a:lnTo>
                <a:lnTo>
                  <a:pt x="369424" y="0"/>
                </a:lnTo>
                <a:lnTo>
                  <a:pt x="400210" y="0"/>
                </a:lnTo>
                <a:lnTo>
                  <a:pt x="430995" y="0"/>
                </a:lnTo>
                <a:lnTo>
                  <a:pt x="461781" y="0"/>
                </a:lnTo>
                <a:lnTo>
                  <a:pt x="492566" y="0"/>
                </a:lnTo>
                <a:lnTo>
                  <a:pt x="523351" y="0"/>
                </a:lnTo>
                <a:lnTo>
                  <a:pt x="554137" y="0"/>
                </a:lnTo>
                <a:lnTo>
                  <a:pt x="584922" y="0"/>
                </a:lnTo>
                <a:lnTo>
                  <a:pt x="615708" y="0"/>
                </a:lnTo>
                <a:lnTo>
                  <a:pt x="646493" y="0"/>
                </a:lnTo>
                <a:lnTo>
                  <a:pt x="677279" y="0"/>
                </a:lnTo>
                <a:lnTo>
                  <a:pt x="708064" y="0"/>
                </a:lnTo>
                <a:lnTo>
                  <a:pt x="738849" y="0"/>
                </a:lnTo>
                <a:lnTo>
                  <a:pt x="769635" y="0"/>
                </a:lnTo>
                <a:lnTo>
                  <a:pt x="800420" y="0"/>
                </a:lnTo>
                <a:lnTo>
                  <a:pt x="831206" y="0"/>
                </a:lnTo>
                <a:lnTo>
                  <a:pt x="861991" y="0"/>
                </a:lnTo>
                <a:lnTo>
                  <a:pt x="892776" y="0"/>
                </a:lnTo>
                <a:lnTo>
                  <a:pt x="923562" y="0"/>
                </a:lnTo>
                <a:lnTo>
                  <a:pt x="954347" y="0"/>
                </a:lnTo>
                <a:lnTo>
                  <a:pt x="985133" y="0"/>
                </a:lnTo>
                <a:lnTo>
                  <a:pt x="1015918" y="0"/>
                </a:lnTo>
                <a:lnTo>
                  <a:pt x="1046703" y="0"/>
                </a:lnTo>
                <a:lnTo>
                  <a:pt x="1077489" y="0"/>
                </a:lnTo>
                <a:lnTo>
                  <a:pt x="1108274" y="0"/>
                </a:lnTo>
                <a:lnTo>
                  <a:pt x="1139060" y="0"/>
                </a:lnTo>
                <a:lnTo>
                  <a:pt x="1169845" y="0"/>
                </a:lnTo>
                <a:lnTo>
                  <a:pt x="1200631" y="0"/>
                </a:lnTo>
                <a:lnTo>
                  <a:pt x="1231416" y="0"/>
                </a:lnTo>
                <a:lnTo>
                  <a:pt x="1262201" y="0"/>
                </a:lnTo>
                <a:lnTo>
                  <a:pt x="1292987" y="0"/>
                </a:lnTo>
                <a:lnTo>
                  <a:pt x="1323772" y="0"/>
                </a:lnTo>
                <a:lnTo>
                  <a:pt x="1354558" y="0"/>
                </a:lnTo>
                <a:lnTo>
                  <a:pt x="1385343" y="0"/>
                </a:lnTo>
                <a:lnTo>
                  <a:pt x="1416128" y="0"/>
                </a:lnTo>
                <a:lnTo>
                  <a:pt x="1446914" y="0"/>
                </a:lnTo>
                <a:lnTo>
                  <a:pt x="1477699" y="0"/>
                </a:lnTo>
                <a:lnTo>
                  <a:pt x="1508485" y="0"/>
                </a:lnTo>
                <a:lnTo>
                  <a:pt x="1539270" y="0"/>
                </a:lnTo>
                <a:lnTo>
                  <a:pt x="1570055" y="0"/>
                </a:lnTo>
                <a:lnTo>
                  <a:pt x="1600841" y="0"/>
                </a:lnTo>
                <a:lnTo>
                  <a:pt x="1631626" y="0"/>
                </a:lnTo>
                <a:lnTo>
                  <a:pt x="1662412" y="0"/>
                </a:lnTo>
                <a:lnTo>
                  <a:pt x="1693197" y="0"/>
                </a:lnTo>
                <a:lnTo>
                  <a:pt x="1723983" y="0"/>
                </a:lnTo>
                <a:lnTo>
                  <a:pt x="1754768" y="0"/>
                </a:lnTo>
                <a:lnTo>
                  <a:pt x="1785553" y="0"/>
                </a:lnTo>
                <a:lnTo>
                  <a:pt x="1816339" y="0"/>
                </a:lnTo>
                <a:lnTo>
                  <a:pt x="1847124" y="0"/>
                </a:lnTo>
                <a:lnTo>
                  <a:pt x="1877910" y="0"/>
                </a:lnTo>
                <a:lnTo>
                  <a:pt x="1908695" y="0"/>
                </a:lnTo>
                <a:lnTo>
                  <a:pt x="1939480" y="0"/>
                </a:lnTo>
                <a:lnTo>
                  <a:pt x="1970266" y="0"/>
                </a:lnTo>
                <a:lnTo>
                  <a:pt x="2001051" y="0"/>
                </a:lnTo>
                <a:lnTo>
                  <a:pt x="2031837" y="0"/>
                </a:lnTo>
                <a:lnTo>
                  <a:pt x="2062622" y="0"/>
                </a:lnTo>
                <a:lnTo>
                  <a:pt x="2093407" y="0"/>
                </a:lnTo>
                <a:lnTo>
                  <a:pt x="2124193" y="0"/>
                </a:lnTo>
                <a:lnTo>
                  <a:pt x="2154978" y="0"/>
                </a:lnTo>
                <a:lnTo>
                  <a:pt x="2185764" y="0"/>
                </a:lnTo>
                <a:lnTo>
                  <a:pt x="2216549" y="0"/>
                </a:lnTo>
                <a:lnTo>
                  <a:pt x="2247334" y="0"/>
                </a:lnTo>
                <a:lnTo>
                  <a:pt x="2278120" y="0"/>
                </a:lnTo>
                <a:lnTo>
                  <a:pt x="2308905" y="0"/>
                </a:lnTo>
                <a:lnTo>
                  <a:pt x="2339691" y="0"/>
                </a:lnTo>
                <a:lnTo>
                  <a:pt x="2370476" y="0"/>
                </a:lnTo>
                <a:lnTo>
                  <a:pt x="2401262" y="0"/>
                </a:lnTo>
                <a:lnTo>
                  <a:pt x="2432047" y="0"/>
                </a:lnTo>
                <a:lnTo>
                  <a:pt x="2462832" y="0"/>
                </a:lnTo>
                <a:lnTo>
                  <a:pt x="2493618" y="0"/>
                </a:lnTo>
                <a:lnTo>
                  <a:pt x="2524403" y="0"/>
                </a:lnTo>
                <a:lnTo>
                  <a:pt x="2555189" y="0"/>
                </a:lnTo>
                <a:lnTo>
                  <a:pt x="2585974" y="0"/>
                </a:lnTo>
                <a:lnTo>
                  <a:pt x="2616759" y="0"/>
                </a:lnTo>
                <a:lnTo>
                  <a:pt x="2647545" y="0"/>
                </a:lnTo>
                <a:lnTo>
                  <a:pt x="2678330" y="0"/>
                </a:lnTo>
                <a:lnTo>
                  <a:pt x="2709116" y="0"/>
                </a:lnTo>
                <a:lnTo>
                  <a:pt x="2739901" y="0"/>
                </a:lnTo>
                <a:lnTo>
                  <a:pt x="2770686" y="0"/>
                </a:lnTo>
                <a:lnTo>
                  <a:pt x="2801472" y="0"/>
                </a:lnTo>
                <a:lnTo>
                  <a:pt x="2832257" y="0"/>
                </a:lnTo>
                <a:lnTo>
                  <a:pt x="2863043" y="0"/>
                </a:lnTo>
                <a:lnTo>
                  <a:pt x="2893828" y="0"/>
                </a:lnTo>
                <a:lnTo>
                  <a:pt x="2924614" y="0"/>
                </a:lnTo>
                <a:lnTo>
                  <a:pt x="2955399" y="0"/>
                </a:lnTo>
                <a:lnTo>
                  <a:pt x="2986184" y="0"/>
                </a:lnTo>
                <a:lnTo>
                  <a:pt x="3016970" y="0"/>
                </a:lnTo>
                <a:lnTo>
                  <a:pt x="3047755" y="0"/>
                </a:lnTo>
                <a:lnTo>
                  <a:pt x="3078541" y="0"/>
                </a:lnTo>
                <a:lnTo>
                  <a:pt x="3109326" y="0"/>
                </a:lnTo>
                <a:lnTo>
                  <a:pt x="3140111" y="0"/>
                </a:lnTo>
                <a:lnTo>
                  <a:pt x="3170897" y="0"/>
                </a:lnTo>
                <a:lnTo>
                  <a:pt x="3201682" y="0"/>
                </a:lnTo>
                <a:lnTo>
                  <a:pt x="3232468" y="0"/>
                </a:lnTo>
                <a:lnTo>
                  <a:pt x="3263253" y="0"/>
                </a:lnTo>
                <a:lnTo>
                  <a:pt x="3294038" y="0"/>
                </a:lnTo>
                <a:lnTo>
                  <a:pt x="3324824" y="0"/>
                </a:lnTo>
                <a:lnTo>
                  <a:pt x="3355609" y="0"/>
                </a:lnTo>
                <a:lnTo>
                  <a:pt x="3386395" y="0"/>
                </a:lnTo>
                <a:lnTo>
                  <a:pt x="3417180" y="0"/>
                </a:lnTo>
                <a:lnTo>
                  <a:pt x="3447966" y="0"/>
                </a:lnTo>
                <a:lnTo>
                  <a:pt x="3478751" y="0"/>
                </a:lnTo>
                <a:lnTo>
                  <a:pt x="3509536" y="0"/>
                </a:lnTo>
                <a:lnTo>
                  <a:pt x="3540322" y="0"/>
                </a:lnTo>
                <a:lnTo>
                  <a:pt x="3571107" y="0"/>
                </a:lnTo>
                <a:lnTo>
                  <a:pt x="3601893" y="0"/>
                </a:lnTo>
                <a:lnTo>
                  <a:pt x="3632678" y="0"/>
                </a:lnTo>
                <a:lnTo>
                  <a:pt x="3663463" y="0"/>
                </a:lnTo>
                <a:lnTo>
                  <a:pt x="3694249" y="0"/>
                </a:lnTo>
                <a:lnTo>
                  <a:pt x="3725034" y="0"/>
                </a:lnTo>
                <a:lnTo>
                  <a:pt x="3755820" y="0"/>
                </a:lnTo>
                <a:lnTo>
                  <a:pt x="3786605" y="0"/>
                </a:lnTo>
                <a:lnTo>
                  <a:pt x="3817390" y="0"/>
                </a:lnTo>
                <a:lnTo>
                  <a:pt x="3848176" y="0"/>
                </a:lnTo>
                <a:lnTo>
                  <a:pt x="3878961" y="0"/>
                </a:lnTo>
                <a:lnTo>
                  <a:pt x="3909747" y="0"/>
                </a:lnTo>
                <a:lnTo>
                  <a:pt x="3940532" y="0"/>
                </a:lnTo>
                <a:lnTo>
                  <a:pt x="3971317" y="0"/>
                </a:lnTo>
                <a:lnTo>
                  <a:pt x="4002103" y="0"/>
                </a:lnTo>
                <a:lnTo>
                  <a:pt x="4032888" y="0"/>
                </a:lnTo>
                <a:lnTo>
                  <a:pt x="4063674" y="0"/>
                </a:lnTo>
                <a:lnTo>
                  <a:pt x="4094459" y="0"/>
                </a:lnTo>
                <a:lnTo>
                  <a:pt x="4125245" y="298939"/>
                </a:lnTo>
                <a:lnTo>
                  <a:pt x="4156030" y="298939"/>
                </a:lnTo>
                <a:lnTo>
                  <a:pt x="4186815" y="298939"/>
                </a:lnTo>
                <a:lnTo>
                  <a:pt x="4217601" y="298939"/>
                </a:lnTo>
                <a:lnTo>
                  <a:pt x="4248386" y="298939"/>
                </a:lnTo>
                <a:lnTo>
                  <a:pt x="4279172" y="298939"/>
                </a:lnTo>
                <a:lnTo>
                  <a:pt x="4309957" y="298939"/>
                </a:lnTo>
                <a:lnTo>
                  <a:pt x="4340742" y="298939"/>
                </a:lnTo>
                <a:lnTo>
                  <a:pt x="4371528" y="298939"/>
                </a:lnTo>
                <a:lnTo>
                  <a:pt x="4402313" y="298939"/>
                </a:lnTo>
                <a:lnTo>
                  <a:pt x="4433099" y="298939"/>
                </a:lnTo>
                <a:lnTo>
                  <a:pt x="4463884" y="298939"/>
                </a:lnTo>
                <a:lnTo>
                  <a:pt x="4494669" y="298939"/>
                </a:lnTo>
                <a:lnTo>
                  <a:pt x="4525455" y="298939"/>
                </a:lnTo>
                <a:lnTo>
                  <a:pt x="4556240" y="298939"/>
                </a:lnTo>
                <a:lnTo>
                  <a:pt x="4587026" y="298939"/>
                </a:lnTo>
                <a:lnTo>
                  <a:pt x="4617811" y="298939"/>
                </a:lnTo>
                <a:lnTo>
                  <a:pt x="4648597" y="298939"/>
                </a:lnTo>
                <a:lnTo>
                  <a:pt x="4679382" y="298939"/>
                </a:lnTo>
                <a:lnTo>
                  <a:pt x="4710167" y="298939"/>
                </a:lnTo>
                <a:lnTo>
                  <a:pt x="4740953" y="298939"/>
                </a:lnTo>
                <a:lnTo>
                  <a:pt x="4771738" y="298939"/>
                </a:lnTo>
                <a:lnTo>
                  <a:pt x="4802524" y="298939"/>
                </a:lnTo>
                <a:lnTo>
                  <a:pt x="4833309" y="298939"/>
                </a:lnTo>
                <a:lnTo>
                  <a:pt x="4864094" y="298939"/>
                </a:lnTo>
                <a:lnTo>
                  <a:pt x="4894880" y="298939"/>
                </a:lnTo>
                <a:lnTo>
                  <a:pt x="4925665" y="298939"/>
                </a:lnTo>
                <a:lnTo>
                  <a:pt x="4956451" y="298939"/>
                </a:lnTo>
                <a:lnTo>
                  <a:pt x="4987236" y="298939"/>
                </a:lnTo>
                <a:lnTo>
                  <a:pt x="5018021" y="298939"/>
                </a:lnTo>
                <a:lnTo>
                  <a:pt x="5048807" y="298939"/>
                </a:lnTo>
                <a:lnTo>
                  <a:pt x="5079592" y="298939"/>
                </a:lnTo>
                <a:lnTo>
                  <a:pt x="5110378" y="298939"/>
                </a:lnTo>
                <a:lnTo>
                  <a:pt x="5120640" y="298939"/>
                </a:lnTo>
              </a:path>
            </a:pathLst>
          </a:custGeom>
          <a:noFill/>
          <a:ln w="330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C2-E17 polygon 62" descr="sci-ppt:o062"/>
          <p:cNvSpPr/>
          <p:nvPr/>
        </p:nvSpPr>
        <p:spPr>
          <a:xfrm>
            <a:off x="914400" y="3893505"/>
            <a:ext cx="5120640" cy="1310958"/>
          </a:xfrm>
          <a:custGeom>
            <a:avLst/>
            <a:gdLst/>
            <a:ahLst/>
            <a:cxnLst/>
            <a:rect l="l" t="t" r="r" b="b"/>
            <a:pathLst>
              <a:path w="5120640" h="1310958">
                <a:moveTo>
                  <a:pt x="0" y="1310958"/>
                </a:moveTo>
                <a:lnTo>
                  <a:pt x="30785" y="1288337"/>
                </a:lnTo>
                <a:lnTo>
                  <a:pt x="61570" y="1266054"/>
                </a:lnTo>
                <a:lnTo>
                  <a:pt x="92356" y="1244103"/>
                </a:lnTo>
                <a:lnTo>
                  <a:pt x="123141" y="1222479"/>
                </a:lnTo>
                <a:lnTo>
                  <a:pt x="153927" y="1201178"/>
                </a:lnTo>
                <a:lnTo>
                  <a:pt x="184712" y="1180195"/>
                </a:lnTo>
                <a:lnTo>
                  <a:pt x="215497" y="1159525"/>
                </a:lnTo>
                <a:lnTo>
                  <a:pt x="246283" y="1139163"/>
                </a:lnTo>
                <a:lnTo>
                  <a:pt x="277068" y="1119105"/>
                </a:lnTo>
                <a:lnTo>
                  <a:pt x="307854" y="1099346"/>
                </a:lnTo>
                <a:lnTo>
                  <a:pt x="338639" y="1079882"/>
                </a:lnTo>
                <a:lnTo>
                  <a:pt x="369424" y="1060708"/>
                </a:lnTo>
                <a:lnTo>
                  <a:pt x="400210" y="1041820"/>
                </a:lnTo>
                <a:lnTo>
                  <a:pt x="430995" y="1023214"/>
                </a:lnTo>
                <a:lnTo>
                  <a:pt x="461781" y="1004886"/>
                </a:lnTo>
                <a:lnTo>
                  <a:pt x="492566" y="986831"/>
                </a:lnTo>
                <a:lnTo>
                  <a:pt x="523351" y="969045"/>
                </a:lnTo>
                <a:lnTo>
                  <a:pt x="554137" y="951525"/>
                </a:lnTo>
                <a:lnTo>
                  <a:pt x="584922" y="934266"/>
                </a:lnTo>
                <a:lnTo>
                  <a:pt x="615708" y="917264"/>
                </a:lnTo>
                <a:lnTo>
                  <a:pt x="646493" y="900516"/>
                </a:lnTo>
                <a:lnTo>
                  <a:pt x="677279" y="884018"/>
                </a:lnTo>
                <a:lnTo>
                  <a:pt x="708064" y="867766"/>
                </a:lnTo>
                <a:lnTo>
                  <a:pt x="738849" y="851757"/>
                </a:lnTo>
                <a:lnTo>
                  <a:pt x="769635" y="835986"/>
                </a:lnTo>
                <a:lnTo>
                  <a:pt x="800420" y="820450"/>
                </a:lnTo>
                <a:lnTo>
                  <a:pt x="831206" y="805147"/>
                </a:lnTo>
                <a:lnTo>
                  <a:pt x="861991" y="790071"/>
                </a:lnTo>
                <a:lnTo>
                  <a:pt x="892776" y="775221"/>
                </a:lnTo>
                <a:lnTo>
                  <a:pt x="923562" y="760592"/>
                </a:lnTo>
                <a:lnTo>
                  <a:pt x="954347" y="746181"/>
                </a:lnTo>
                <a:lnTo>
                  <a:pt x="985133" y="731985"/>
                </a:lnTo>
                <a:lnTo>
                  <a:pt x="1015918" y="718001"/>
                </a:lnTo>
                <a:lnTo>
                  <a:pt x="1046703" y="704226"/>
                </a:lnTo>
                <a:lnTo>
                  <a:pt x="1077489" y="690656"/>
                </a:lnTo>
                <a:lnTo>
                  <a:pt x="1108274" y="677289"/>
                </a:lnTo>
                <a:lnTo>
                  <a:pt x="1139060" y="664121"/>
                </a:lnTo>
                <a:lnTo>
                  <a:pt x="1169845" y="651149"/>
                </a:lnTo>
                <a:lnTo>
                  <a:pt x="1200631" y="638371"/>
                </a:lnTo>
                <a:lnTo>
                  <a:pt x="1231416" y="625784"/>
                </a:lnTo>
                <a:lnTo>
                  <a:pt x="1262201" y="613384"/>
                </a:lnTo>
                <a:lnTo>
                  <a:pt x="1292987" y="601169"/>
                </a:lnTo>
                <a:lnTo>
                  <a:pt x="1323772" y="589137"/>
                </a:lnTo>
                <a:lnTo>
                  <a:pt x="1354558" y="577284"/>
                </a:lnTo>
                <a:lnTo>
                  <a:pt x="1385343" y="565607"/>
                </a:lnTo>
                <a:lnTo>
                  <a:pt x="1416128" y="554105"/>
                </a:lnTo>
                <a:lnTo>
                  <a:pt x="1446914" y="542775"/>
                </a:lnTo>
                <a:lnTo>
                  <a:pt x="1477699" y="531614"/>
                </a:lnTo>
                <a:lnTo>
                  <a:pt x="1508485" y="520619"/>
                </a:lnTo>
                <a:lnTo>
                  <a:pt x="1539270" y="509788"/>
                </a:lnTo>
                <a:lnTo>
                  <a:pt x="1570055" y="499118"/>
                </a:lnTo>
                <a:lnTo>
                  <a:pt x="1600841" y="488608"/>
                </a:lnTo>
                <a:lnTo>
                  <a:pt x="1631626" y="478255"/>
                </a:lnTo>
                <a:lnTo>
                  <a:pt x="1662412" y="468056"/>
                </a:lnTo>
                <a:lnTo>
                  <a:pt x="1693197" y="458009"/>
                </a:lnTo>
                <a:lnTo>
                  <a:pt x="1723983" y="448112"/>
                </a:lnTo>
                <a:lnTo>
                  <a:pt x="1754768" y="438363"/>
                </a:lnTo>
                <a:lnTo>
                  <a:pt x="1785553" y="428759"/>
                </a:lnTo>
                <a:lnTo>
                  <a:pt x="1816339" y="419299"/>
                </a:lnTo>
                <a:lnTo>
                  <a:pt x="1847124" y="409979"/>
                </a:lnTo>
                <a:lnTo>
                  <a:pt x="1877910" y="400799"/>
                </a:lnTo>
                <a:lnTo>
                  <a:pt x="1908695" y="391755"/>
                </a:lnTo>
                <a:lnTo>
                  <a:pt x="1939480" y="382847"/>
                </a:lnTo>
                <a:lnTo>
                  <a:pt x="1970266" y="374071"/>
                </a:lnTo>
                <a:lnTo>
                  <a:pt x="2001051" y="365426"/>
                </a:lnTo>
                <a:lnTo>
                  <a:pt x="2031837" y="356911"/>
                </a:lnTo>
                <a:lnTo>
                  <a:pt x="2062622" y="348522"/>
                </a:lnTo>
                <a:lnTo>
                  <a:pt x="2093407" y="340258"/>
                </a:lnTo>
                <a:lnTo>
                  <a:pt x="2124193" y="332118"/>
                </a:lnTo>
                <a:lnTo>
                  <a:pt x="2154978" y="324099"/>
                </a:lnTo>
                <a:lnTo>
                  <a:pt x="2185764" y="316200"/>
                </a:lnTo>
                <a:lnTo>
                  <a:pt x="2216549" y="308418"/>
                </a:lnTo>
                <a:lnTo>
                  <a:pt x="2247334" y="300753"/>
                </a:lnTo>
                <a:lnTo>
                  <a:pt x="2278120" y="293202"/>
                </a:lnTo>
                <a:lnTo>
                  <a:pt x="2308905" y="285764"/>
                </a:lnTo>
                <a:lnTo>
                  <a:pt x="2339691" y="278436"/>
                </a:lnTo>
                <a:lnTo>
                  <a:pt x="2370476" y="271218"/>
                </a:lnTo>
                <a:lnTo>
                  <a:pt x="2401262" y="264108"/>
                </a:lnTo>
                <a:lnTo>
                  <a:pt x="2432047" y="257103"/>
                </a:lnTo>
                <a:lnTo>
                  <a:pt x="2462832" y="250204"/>
                </a:lnTo>
                <a:lnTo>
                  <a:pt x="2493618" y="243407"/>
                </a:lnTo>
                <a:lnTo>
                  <a:pt x="2524403" y="236711"/>
                </a:lnTo>
                <a:lnTo>
                  <a:pt x="2555189" y="230115"/>
                </a:lnTo>
                <a:lnTo>
                  <a:pt x="2585974" y="223618"/>
                </a:lnTo>
                <a:lnTo>
                  <a:pt x="2616759" y="217218"/>
                </a:lnTo>
                <a:lnTo>
                  <a:pt x="2647545" y="210913"/>
                </a:lnTo>
                <a:lnTo>
                  <a:pt x="2678330" y="204702"/>
                </a:lnTo>
                <a:lnTo>
                  <a:pt x="2709116" y="198584"/>
                </a:lnTo>
                <a:lnTo>
                  <a:pt x="2739901" y="192557"/>
                </a:lnTo>
                <a:lnTo>
                  <a:pt x="2770686" y="186620"/>
                </a:lnTo>
                <a:lnTo>
                  <a:pt x="2801472" y="180772"/>
                </a:lnTo>
                <a:lnTo>
                  <a:pt x="2832257" y="175011"/>
                </a:lnTo>
                <a:lnTo>
                  <a:pt x="2863043" y="169335"/>
                </a:lnTo>
                <a:lnTo>
                  <a:pt x="2893828" y="163745"/>
                </a:lnTo>
                <a:lnTo>
                  <a:pt x="2924614" y="158238"/>
                </a:lnTo>
                <a:lnTo>
                  <a:pt x="2955399" y="152813"/>
                </a:lnTo>
                <a:lnTo>
                  <a:pt x="2986184" y="147469"/>
                </a:lnTo>
                <a:lnTo>
                  <a:pt x="3016970" y="142204"/>
                </a:lnTo>
                <a:lnTo>
                  <a:pt x="3047755" y="137018"/>
                </a:lnTo>
                <a:lnTo>
                  <a:pt x="3078541" y="131910"/>
                </a:lnTo>
                <a:lnTo>
                  <a:pt x="3109326" y="126878"/>
                </a:lnTo>
                <a:lnTo>
                  <a:pt x="3140111" y="121920"/>
                </a:lnTo>
                <a:lnTo>
                  <a:pt x="3170897" y="117037"/>
                </a:lnTo>
                <a:lnTo>
                  <a:pt x="3201682" y="112227"/>
                </a:lnTo>
                <a:lnTo>
                  <a:pt x="3232468" y="107488"/>
                </a:lnTo>
                <a:lnTo>
                  <a:pt x="3263253" y="102820"/>
                </a:lnTo>
                <a:lnTo>
                  <a:pt x="3294038" y="98222"/>
                </a:lnTo>
                <a:lnTo>
                  <a:pt x="3324824" y="93692"/>
                </a:lnTo>
                <a:lnTo>
                  <a:pt x="3355609" y="89230"/>
                </a:lnTo>
                <a:lnTo>
                  <a:pt x="3386395" y="84835"/>
                </a:lnTo>
                <a:lnTo>
                  <a:pt x="3417180" y="80505"/>
                </a:lnTo>
                <a:lnTo>
                  <a:pt x="3447966" y="76239"/>
                </a:lnTo>
                <a:lnTo>
                  <a:pt x="3478751" y="72037"/>
                </a:lnTo>
                <a:lnTo>
                  <a:pt x="3509536" y="67898"/>
                </a:lnTo>
                <a:lnTo>
                  <a:pt x="3540322" y="63821"/>
                </a:lnTo>
                <a:lnTo>
                  <a:pt x="3571107" y="59804"/>
                </a:lnTo>
                <a:lnTo>
                  <a:pt x="3601893" y="55848"/>
                </a:lnTo>
                <a:lnTo>
                  <a:pt x="3632678" y="51950"/>
                </a:lnTo>
                <a:lnTo>
                  <a:pt x="3663463" y="48111"/>
                </a:lnTo>
                <a:lnTo>
                  <a:pt x="3694249" y="44329"/>
                </a:lnTo>
                <a:lnTo>
                  <a:pt x="3725034" y="40603"/>
                </a:lnTo>
                <a:lnTo>
                  <a:pt x="3755820" y="36933"/>
                </a:lnTo>
                <a:lnTo>
                  <a:pt x="3786605" y="33317"/>
                </a:lnTo>
                <a:lnTo>
                  <a:pt x="3817390" y="29756"/>
                </a:lnTo>
                <a:lnTo>
                  <a:pt x="3848176" y="26247"/>
                </a:lnTo>
                <a:lnTo>
                  <a:pt x="3878961" y="22791"/>
                </a:lnTo>
                <a:lnTo>
                  <a:pt x="3909747" y="19387"/>
                </a:lnTo>
                <a:lnTo>
                  <a:pt x="3940532" y="16033"/>
                </a:lnTo>
                <a:lnTo>
                  <a:pt x="3971317" y="12730"/>
                </a:lnTo>
                <a:lnTo>
                  <a:pt x="4002103" y="9475"/>
                </a:lnTo>
                <a:lnTo>
                  <a:pt x="4032888" y="6269"/>
                </a:lnTo>
                <a:lnTo>
                  <a:pt x="4063674" y="3111"/>
                </a:lnTo>
                <a:lnTo>
                  <a:pt x="4094459" y="0"/>
                </a:lnTo>
                <a:lnTo>
                  <a:pt x="4125245" y="0"/>
                </a:lnTo>
                <a:lnTo>
                  <a:pt x="4156030" y="0"/>
                </a:lnTo>
                <a:lnTo>
                  <a:pt x="4186815" y="0"/>
                </a:lnTo>
                <a:lnTo>
                  <a:pt x="4217601" y="0"/>
                </a:lnTo>
                <a:lnTo>
                  <a:pt x="4248386" y="0"/>
                </a:lnTo>
                <a:lnTo>
                  <a:pt x="4279172" y="0"/>
                </a:lnTo>
                <a:lnTo>
                  <a:pt x="4309957" y="0"/>
                </a:lnTo>
                <a:lnTo>
                  <a:pt x="4340742" y="0"/>
                </a:lnTo>
                <a:lnTo>
                  <a:pt x="4371528" y="0"/>
                </a:lnTo>
                <a:lnTo>
                  <a:pt x="4402313" y="0"/>
                </a:lnTo>
                <a:lnTo>
                  <a:pt x="4433099" y="0"/>
                </a:lnTo>
                <a:lnTo>
                  <a:pt x="4463884" y="0"/>
                </a:lnTo>
                <a:lnTo>
                  <a:pt x="4494669" y="0"/>
                </a:lnTo>
                <a:lnTo>
                  <a:pt x="4525455" y="0"/>
                </a:lnTo>
                <a:lnTo>
                  <a:pt x="4556240" y="0"/>
                </a:lnTo>
                <a:lnTo>
                  <a:pt x="4587026" y="0"/>
                </a:lnTo>
                <a:lnTo>
                  <a:pt x="4617811" y="0"/>
                </a:lnTo>
                <a:lnTo>
                  <a:pt x="4648597" y="0"/>
                </a:lnTo>
                <a:lnTo>
                  <a:pt x="4679382" y="0"/>
                </a:lnTo>
                <a:lnTo>
                  <a:pt x="4710167" y="0"/>
                </a:lnTo>
                <a:lnTo>
                  <a:pt x="4740953" y="0"/>
                </a:lnTo>
                <a:lnTo>
                  <a:pt x="4771738" y="0"/>
                </a:lnTo>
                <a:lnTo>
                  <a:pt x="4802524" y="0"/>
                </a:lnTo>
                <a:lnTo>
                  <a:pt x="4833309" y="0"/>
                </a:lnTo>
                <a:lnTo>
                  <a:pt x="4864094" y="0"/>
                </a:lnTo>
                <a:lnTo>
                  <a:pt x="4894880" y="0"/>
                </a:lnTo>
                <a:lnTo>
                  <a:pt x="4925665" y="0"/>
                </a:lnTo>
                <a:lnTo>
                  <a:pt x="4956451" y="0"/>
                </a:lnTo>
                <a:lnTo>
                  <a:pt x="4987236" y="0"/>
                </a:lnTo>
                <a:lnTo>
                  <a:pt x="5018021" y="0"/>
                </a:lnTo>
                <a:lnTo>
                  <a:pt x="5048807" y="0"/>
                </a:lnTo>
                <a:lnTo>
                  <a:pt x="5079592" y="0"/>
                </a:lnTo>
                <a:lnTo>
                  <a:pt x="5110378" y="0"/>
                </a:lnTo>
                <a:lnTo>
                  <a:pt x="512064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2-E17 ellipse 63" descr="sci-ppt:o063"/>
          <p:cNvSpPr/>
          <p:nvPr/>
        </p:nvSpPr>
        <p:spPr>
          <a:xfrm>
            <a:off x="5980176" y="3839466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C2-E17 polygon 64" descr="sci-ppt:o064"/>
          <p:cNvSpPr/>
          <p:nvPr/>
        </p:nvSpPr>
        <p:spPr>
          <a:xfrm>
            <a:off x="914400" y="1730326"/>
            <a:ext cx="5120640" cy="1195754"/>
          </a:xfrm>
          <a:custGeom>
            <a:avLst/>
            <a:gdLst/>
            <a:ahLst/>
            <a:cxnLst/>
            <a:rect l="l" t="t" r="r" b="b"/>
            <a:pathLst>
              <a:path w="5120640" h="1195754">
                <a:moveTo>
                  <a:pt x="0" y="0"/>
                </a:moveTo>
                <a:lnTo>
                  <a:pt x="30785" y="0"/>
                </a:lnTo>
                <a:lnTo>
                  <a:pt x="61570" y="0"/>
                </a:lnTo>
                <a:lnTo>
                  <a:pt x="92356" y="0"/>
                </a:lnTo>
                <a:lnTo>
                  <a:pt x="123141" y="0"/>
                </a:lnTo>
                <a:lnTo>
                  <a:pt x="153927" y="0"/>
                </a:lnTo>
                <a:lnTo>
                  <a:pt x="184712" y="0"/>
                </a:lnTo>
                <a:lnTo>
                  <a:pt x="215497" y="1195754"/>
                </a:lnTo>
                <a:lnTo>
                  <a:pt x="246283" y="1195754"/>
                </a:lnTo>
                <a:lnTo>
                  <a:pt x="277068" y="1195754"/>
                </a:lnTo>
                <a:lnTo>
                  <a:pt x="307854" y="1195754"/>
                </a:lnTo>
                <a:lnTo>
                  <a:pt x="338639" y="1195754"/>
                </a:lnTo>
                <a:lnTo>
                  <a:pt x="369424" y="1195754"/>
                </a:lnTo>
                <a:lnTo>
                  <a:pt x="400210" y="1195754"/>
                </a:lnTo>
                <a:lnTo>
                  <a:pt x="430995" y="1195754"/>
                </a:lnTo>
                <a:lnTo>
                  <a:pt x="461781" y="1195754"/>
                </a:lnTo>
                <a:lnTo>
                  <a:pt x="492566" y="1195754"/>
                </a:lnTo>
                <a:lnTo>
                  <a:pt x="523351" y="1195754"/>
                </a:lnTo>
                <a:lnTo>
                  <a:pt x="554137" y="1195754"/>
                </a:lnTo>
                <a:lnTo>
                  <a:pt x="584922" y="1195754"/>
                </a:lnTo>
                <a:lnTo>
                  <a:pt x="615708" y="1195754"/>
                </a:lnTo>
                <a:lnTo>
                  <a:pt x="646493" y="1195754"/>
                </a:lnTo>
                <a:lnTo>
                  <a:pt x="677279" y="1195754"/>
                </a:lnTo>
                <a:lnTo>
                  <a:pt x="708064" y="1195754"/>
                </a:lnTo>
                <a:lnTo>
                  <a:pt x="738849" y="1195754"/>
                </a:lnTo>
                <a:lnTo>
                  <a:pt x="769635" y="1195754"/>
                </a:lnTo>
                <a:lnTo>
                  <a:pt x="800420" y="1195754"/>
                </a:lnTo>
                <a:lnTo>
                  <a:pt x="831206" y="1195754"/>
                </a:lnTo>
                <a:lnTo>
                  <a:pt x="861991" y="1195754"/>
                </a:lnTo>
                <a:lnTo>
                  <a:pt x="892776" y="1195754"/>
                </a:lnTo>
                <a:lnTo>
                  <a:pt x="923562" y="1195754"/>
                </a:lnTo>
                <a:lnTo>
                  <a:pt x="954347" y="1195754"/>
                </a:lnTo>
                <a:lnTo>
                  <a:pt x="985133" y="1195754"/>
                </a:lnTo>
                <a:lnTo>
                  <a:pt x="1015918" y="1195754"/>
                </a:lnTo>
                <a:lnTo>
                  <a:pt x="1046703" y="1195754"/>
                </a:lnTo>
                <a:lnTo>
                  <a:pt x="1077489" y="1195754"/>
                </a:lnTo>
                <a:lnTo>
                  <a:pt x="1108274" y="1195754"/>
                </a:lnTo>
                <a:lnTo>
                  <a:pt x="1139060" y="1195754"/>
                </a:lnTo>
                <a:lnTo>
                  <a:pt x="1169845" y="1195754"/>
                </a:lnTo>
                <a:lnTo>
                  <a:pt x="1200631" y="1195754"/>
                </a:lnTo>
                <a:lnTo>
                  <a:pt x="1231416" y="1195754"/>
                </a:lnTo>
                <a:lnTo>
                  <a:pt x="1262201" y="1195754"/>
                </a:lnTo>
                <a:lnTo>
                  <a:pt x="1292987" y="1195754"/>
                </a:lnTo>
                <a:lnTo>
                  <a:pt x="1323772" y="1195754"/>
                </a:lnTo>
                <a:lnTo>
                  <a:pt x="1354558" y="1195754"/>
                </a:lnTo>
                <a:lnTo>
                  <a:pt x="1385343" y="1195754"/>
                </a:lnTo>
                <a:lnTo>
                  <a:pt x="1416128" y="1195754"/>
                </a:lnTo>
                <a:lnTo>
                  <a:pt x="1446914" y="1195754"/>
                </a:lnTo>
                <a:lnTo>
                  <a:pt x="1477699" y="1195754"/>
                </a:lnTo>
                <a:lnTo>
                  <a:pt x="1508485" y="1195754"/>
                </a:lnTo>
                <a:lnTo>
                  <a:pt x="1539270" y="1195754"/>
                </a:lnTo>
                <a:lnTo>
                  <a:pt x="1570055" y="1195754"/>
                </a:lnTo>
                <a:lnTo>
                  <a:pt x="1600841" y="1195754"/>
                </a:lnTo>
                <a:lnTo>
                  <a:pt x="1631626" y="1195754"/>
                </a:lnTo>
                <a:lnTo>
                  <a:pt x="1662412" y="1195754"/>
                </a:lnTo>
                <a:lnTo>
                  <a:pt x="1693197" y="1195754"/>
                </a:lnTo>
                <a:lnTo>
                  <a:pt x="1723983" y="1195754"/>
                </a:lnTo>
                <a:lnTo>
                  <a:pt x="1754768" y="1195754"/>
                </a:lnTo>
                <a:lnTo>
                  <a:pt x="1785553" y="1195754"/>
                </a:lnTo>
                <a:lnTo>
                  <a:pt x="1816339" y="1195754"/>
                </a:lnTo>
                <a:lnTo>
                  <a:pt x="1847124" y="1195754"/>
                </a:lnTo>
                <a:lnTo>
                  <a:pt x="1877910" y="1195754"/>
                </a:lnTo>
                <a:lnTo>
                  <a:pt x="1908695" y="1195754"/>
                </a:lnTo>
                <a:lnTo>
                  <a:pt x="1939480" y="1195754"/>
                </a:lnTo>
                <a:lnTo>
                  <a:pt x="1970266" y="1195754"/>
                </a:lnTo>
                <a:lnTo>
                  <a:pt x="2001051" y="1195754"/>
                </a:lnTo>
                <a:lnTo>
                  <a:pt x="2031837" y="1195754"/>
                </a:lnTo>
                <a:lnTo>
                  <a:pt x="2062622" y="1195754"/>
                </a:lnTo>
                <a:lnTo>
                  <a:pt x="2093407" y="1195754"/>
                </a:lnTo>
                <a:lnTo>
                  <a:pt x="2124193" y="1195754"/>
                </a:lnTo>
                <a:lnTo>
                  <a:pt x="2154978" y="1195754"/>
                </a:lnTo>
                <a:lnTo>
                  <a:pt x="2185764" y="1195754"/>
                </a:lnTo>
                <a:lnTo>
                  <a:pt x="2216549" y="1195754"/>
                </a:lnTo>
                <a:lnTo>
                  <a:pt x="2247334" y="1195754"/>
                </a:lnTo>
                <a:lnTo>
                  <a:pt x="2278120" y="1195754"/>
                </a:lnTo>
                <a:lnTo>
                  <a:pt x="2308905" y="1195754"/>
                </a:lnTo>
                <a:lnTo>
                  <a:pt x="2339691" y="1195754"/>
                </a:lnTo>
                <a:lnTo>
                  <a:pt x="2370476" y="1195754"/>
                </a:lnTo>
                <a:lnTo>
                  <a:pt x="2401262" y="1195754"/>
                </a:lnTo>
                <a:lnTo>
                  <a:pt x="2432047" y="1195754"/>
                </a:lnTo>
                <a:lnTo>
                  <a:pt x="2462832" y="1195754"/>
                </a:lnTo>
                <a:lnTo>
                  <a:pt x="2493618" y="1195754"/>
                </a:lnTo>
                <a:lnTo>
                  <a:pt x="2524403" y="1195754"/>
                </a:lnTo>
                <a:lnTo>
                  <a:pt x="2555189" y="1195754"/>
                </a:lnTo>
                <a:lnTo>
                  <a:pt x="2585974" y="1195754"/>
                </a:lnTo>
                <a:lnTo>
                  <a:pt x="2616759" y="1195754"/>
                </a:lnTo>
                <a:lnTo>
                  <a:pt x="2647545" y="1195754"/>
                </a:lnTo>
                <a:lnTo>
                  <a:pt x="2678330" y="1195754"/>
                </a:lnTo>
                <a:lnTo>
                  <a:pt x="2709116" y="1195754"/>
                </a:lnTo>
                <a:lnTo>
                  <a:pt x="2739901" y="1195754"/>
                </a:lnTo>
                <a:lnTo>
                  <a:pt x="2770686" y="1195754"/>
                </a:lnTo>
                <a:lnTo>
                  <a:pt x="2801472" y="1195754"/>
                </a:lnTo>
                <a:lnTo>
                  <a:pt x="2832257" y="1195754"/>
                </a:lnTo>
                <a:lnTo>
                  <a:pt x="2863043" y="1195754"/>
                </a:lnTo>
                <a:lnTo>
                  <a:pt x="2893828" y="1195754"/>
                </a:lnTo>
                <a:lnTo>
                  <a:pt x="2924614" y="1195754"/>
                </a:lnTo>
                <a:lnTo>
                  <a:pt x="2955399" y="1195754"/>
                </a:lnTo>
                <a:lnTo>
                  <a:pt x="2986184" y="1195754"/>
                </a:lnTo>
                <a:lnTo>
                  <a:pt x="3016970" y="1195754"/>
                </a:lnTo>
                <a:lnTo>
                  <a:pt x="3047755" y="1195754"/>
                </a:lnTo>
                <a:lnTo>
                  <a:pt x="3078541" y="1195754"/>
                </a:lnTo>
                <a:lnTo>
                  <a:pt x="3109326" y="1195754"/>
                </a:lnTo>
                <a:lnTo>
                  <a:pt x="3140111" y="1195754"/>
                </a:lnTo>
                <a:lnTo>
                  <a:pt x="3170897" y="1195754"/>
                </a:lnTo>
                <a:lnTo>
                  <a:pt x="3201682" y="1195754"/>
                </a:lnTo>
                <a:lnTo>
                  <a:pt x="3232468" y="1195754"/>
                </a:lnTo>
                <a:lnTo>
                  <a:pt x="3263253" y="1195754"/>
                </a:lnTo>
                <a:lnTo>
                  <a:pt x="3294038" y="1195754"/>
                </a:lnTo>
                <a:lnTo>
                  <a:pt x="3324824" y="1195754"/>
                </a:lnTo>
                <a:lnTo>
                  <a:pt x="3355609" y="1195754"/>
                </a:lnTo>
                <a:lnTo>
                  <a:pt x="3386395" y="1195754"/>
                </a:lnTo>
                <a:lnTo>
                  <a:pt x="3417180" y="1195754"/>
                </a:lnTo>
                <a:lnTo>
                  <a:pt x="3447966" y="1195754"/>
                </a:lnTo>
                <a:lnTo>
                  <a:pt x="3478751" y="1195754"/>
                </a:lnTo>
                <a:lnTo>
                  <a:pt x="3509536" y="1195754"/>
                </a:lnTo>
                <a:lnTo>
                  <a:pt x="3540322" y="1195754"/>
                </a:lnTo>
                <a:lnTo>
                  <a:pt x="3571107" y="1195754"/>
                </a:lnTo>
                <a:lnTo>
                  <a:pt x="3601893" y="1195754"/>
                </a:lnTo>
                <a:lnTo>
                  <a:pt x="3632678" y="1195754"/>
                </a:lnTo>
                <a:lnTo>
                  <a:pt x="3663463" y="1195754"/>
                </a:lnTo>
                <a:lnTo>
                  <a:pt x="3694249" y="1195754"/>
                </a:lnTo>
                <a:lnTo>
                  <a:pt x="3725034" y="1195754"/>
                </a:lnTo>
                <a:lnTo>
                  <a:pt x="3755820" y="1195754"/>
                </a:lnTo>
                <a:lnTo>
                  <a:pt x="3786605" y="1195754"/>
                </a:lnTo>
                <a:lnTo>
                  <a:pt x="3817390" y="1195754"/>
                </a:lnTo>
                <a:lnTo>
                  <a:pt x="3848176" y="1195754"/>
                </a:lnTo>
                <a:lnTo>
                  <a:pt x="3878961" y="1195754"/>
                </a:lnTo>
                <a:lnTo>
                  <a:pt x="3909747" y="1195754"/>
                </a:lnTo>
                <a:lnTo>
                  <a:pt x="3940532" y="1195754"/>
                </a:lnTo>
                <a:lnTo>
                  <a:pt x="3971317" y="1195754"/>
                </a:lnTo>
                <a:lnTo>
                  <a:pt x="4002103" y="1195754"/>
                </a:lnTo>
                <a:lnTo>
                  <a:pt x="4032888" y="1195754"/>
                </a:lnTo>
                <a:lnTo>
                  <a:pt x="4063674" y="1195754"/>
                </a:lnTo>
                <a:lnTo>
                  <a:pt x="4094459" y="1195754"/>
                </a:lnTo>
                <a:lnTo>
                  <a:pt x="4125245" y="1195754"/>
                </a:lnTo>
                <a:lnTo>
                  <a:pt x="4156030" y="1195754"/>
                </a:lnTo>
                <a:lnTo>
                  <a:pt x="4186815" y="1195754"/>
                </a:lnTo>
                <a:lnTo>
                  <a:pt x="4217601" y="1195754"/>
                </a:lnTo>
                <a:lnTo>
                  <a:pt x="4248386" y="1195754"/>
                </a:lnTo>
                <a:lnTo>
                  <a:pt x="4279172" y="1195754"/>
                </a:lnTo>
                <a:lnTo>
                  <a:pt x="4309957" y="1195754"/>
                </a:lnTo>
                <a:lnTo>
                  <a:pt x="4340742" y="1195754"/>
                </a:lnTo>
                <a:lnTo>
                  <a:pt x="4371528" y="1195754"/>
                </a:lnTo>
                <a:lnTo>
                  <a:pt x="4402313" y="1195754"/>
                </a:lnTo>
                <a:lnTo>
                  <a:pt x="4433099" y="1195754"/>
                </a:lnTo>
                <a:lnTo>
                  <a:pt x="4463884" y="1195754"/>
                </a:lnTo>
                <a:lnTo>
                  <a:pt x="4494669" y="1195754"/>
                </a:lnTo>
                <a:lnTo>
                  <a:pt x="4525455" y="1195754"/>
                </a:lnTo>
                <a:lnTo>
                  <a:pt x="4556240" y="1195754"/>
                </a:lnTo>
                <a:lnTo>
                  <a:pt x="4587026" y="1195754"/>
                </a:lnTo>
                <a:lnTo>
                  <a:pt x="4617811" y="1195754"/>
                </a:lnTo>
                <a:lnTo>
                  <a:pt x="4648597" y="1195754"/>
                </a:lnTo>
                <a:lnTo>
                  <a:pt x="4679382" y="1195754"/>
                </a:lnTo>
                <a:lnTo>
                  <a:pt x="4710167" y="1195754"/>
                </a:lnTo>
                <a:lnTo>
                  <a:pt x="4740953" y="1195754"/>
                </a:lnTo>
                <a:lnTo>
                  <a:pt x="4771738" y="1195754"/>
                </a:lnTo>
                <a:lnTo>
                  <a:pt x="4802524" y="1195754"/>
                </a:lnTo>
                <a:lnTo>
                  <a:pt x="4833309" y="1195754"/>
                </a:lnTo>
                <a:lnTo>
                  <a:pt x="4864094" y="1195754"/>
                </a:lnTo>
                <a:lnTo>
                  <a:pt x="4894880" y="1195754"/>
                </a:lnTo>
                <a:lnTo>
                  <a:pt x="4925665" y="1195754"/>
                </a:lnTo>
                <a:lnTo>
                  <a:pt x="4956451" y="1195754"/>
                </a:lnTo>
                <a:lnTo>
                  <a:pt x="4987236" y="1195754"/>
                </a:lnTo>
                <a:lnTo>
                  <a:pt x="5018021" y="1195754"/>
                </a:lnTo>
                <a:lnTo>
                  <a:pt x="5048807" y="1195754"/>
                </a:lnTo>
                <a:lnTo>
                  <a:pt x="5079592" y="1195754"/>
                </a:lnTo>
                <a:lnTo>
                  <a:pt x="5110378" y="1195754"/>
                </a:lnTo>
                <a:lnTo>
                  <a:pt x="5120640" y="1195754"/>
                </a:lnTo>
              </a:path>
            </a:pathLst>
          </a:custGeom>
          <a:noFill/>
          <a:ln w="330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C2-E17 polygon 65" descr="sci-ppt:o065"/>
          <p:cNvSpPr/>
          <p:nvPr/>
        </p:nvSpPr>
        <p:spPr>
          <a:xfrm>
            <a:off x="914400" y="4708829"/>
            <a:ext cx="5120640" cy="473013"/>
          </a:xfrm>
          <a:custGeom>
            <a:avLst/>
            <a:gdLst/>
            <a:ahLst/>
            <a:cxnLst/>
            <a:rect l="l" t="t" r="r" b="b"/>
            <a:pathLst>
              <a:path w="5120640" h="473013">
                <a:moveTo>
                  <a:pt x="0" y="473013"/>
                </a:moveTo>
                <a:lnTo>
                  <a:pt x="30785" y="385854"/>
                </a:lnTo>
                <a:lnTo>
                  <a:pt x="61570" y="303781"/>
                </a:lnTo>
                <a:lnTo>
                  <a:pt x="92356" y="226496"/>
                </a:lnTo>
                <a:lnTo>
                  <a:pt x="123141" y="153721"/>
                </a:lnTo>
                <a:lnTo>
                  <a:pt x="153927" y="85192"/>
                </a:lnTo>
                <a:lnTo>
                  <a:pt x="184712" y="20662"/>
                </a:lnTo>
                <a:lnTo>
                  <a:pt x="215497" y="0"/>
                </a:lnTo>
                <a:lnTo>
                  <a:pt x="246283" y="0"/>
                </a:lnTo>
                <a:lnTo>
                  <a:pt x="277068" y="0"/>
                </a:lnTo>
                <a:lnTo>
                  <a:pt x="307854" y="0"/>
                </a:lnTo>
                <a:lnTo>
                  <a:pt x="338639" y="0"/>
                </a:lnTo>
                <a:lnTo>
                  <a:pt x="369424" y="0"/>
                </a:lnTo>
                <a:lnTo>
                  <a:pt x="400210" y="0"/>
                </a:lnTo>
                <a:lnTo>
                  <a:pt x="430995" y="0"/>
                </a:lnTo>
                <a:lnTo>
                  <a:pt x="461781" y="0"/>
                </a:lnTo>
                <a:lnTo>
                  <a:pt x="492566" y="0"/>
                </a:lnTo>
                <a:lnTo>
                  <a:pt x="523351" y="0"/>
                </a:lnTo>
                <a:lnTo>
                  <a:pt x="554137" y="0"/>
                </a:lnTo>
                <a:lnTo>
                  <a:pt x="584922" y="0"/>
                </a:lnTo>
                <a:lnTo>
                  <a:pt x="615708" y="0"/>
                </a:lnTo>
                <a:lnTo>
                  <a:pt x="646493" y="0"/>
                </a:lnTo>
                <a:lnTo>
                  <a:pt x="677279" y="0"/>
                </a:lnTo>
                <a:lnTo>
                  <a:pt x="708064" y="0"/>
                </a:lnTo>
                <a:lnTo>
                  <a:pt x="738849" y="0"/>
                </a:lnTo>
                <a:lnTo>
                  <a:pt x="769635" y="0"/>
                </a:lnTo>
                <a:lnTo>
                  <a:pt x="800420" y="0"/>
                </a:lnTo>
                <a:lnTo>
                  <a:pt x="831206" y="0"/>
                </a:lnTo>
                <a:lnTo>
                  <a:pt x="861991" y="0"/>
                </a:lnTo>
                <a:lnTo>
                  <a:pt x="892776" y="0"/>
                </a:lnTo>
                <a:lnTo>
                  <a:pt x="923562" y="0"/>
                </a:lnTo>
                <a:lnTo>
                  <a:pt x="954347" y="0"/>
                </a:lnTo>
                <a:lnTo>
                  <a:pt x="985133" y="0"/>
                </a:lnTo>
                <a:lnTo>
                  <a:pt x="1015918" y="0"/>
                </a:lnTo>
                <a:lnTo>
                  <a:pt x="1046703" y="0"/>
                </a:lnTo>
                <a:lnTo>
                  <a:pt x="1077489" y="0"/>
                </a:lnTo>
                <a:lnTo>
                  <a:pt x="1108274" y="0"/>
                </a:lnTo>
                <a:lnTo>
                  <a:pt x="1139060" y="0"/>
                </a:lnTo>
                <a:lnTo>
                  <a:pt x="1169845" y="0"/>
                </a:lnTo>
                <a:lnTo>
                  <a:pt x="1200631" y="0"/>
                </a:lnTo>
                <a:lnTo>
                  <a:pt x="1231416" y="0"/>
                </a:lnTo>
                <a:lnTo>
                  <a:pt x="1262201" y="0"/>
                </a:lnTo>
                <a:lnTo>
                  <a:pt x="1292987" y="0"/>
                </a:lnTo>
                <a:lnTo>
                  <a:pt x="1323772" y="0"/>
                </a:lnTo>
                <a:lnTo>
                  <a:pt x="1354558" y="0"/>
                </a:lnTo>
                <a:lnTo>
                  <a:pt x="1385343" y="0"/>
                </a:lnTo>
                <a:lnTo>
                  <a:pt x="1416128" y="0"/>
                </a:lnTo>
                <a:lnTo>
                  <a:pt x="1446914" y="0"/>
                </a:lnTo>
                <a:lnTo>
                  <a:pt x="1477699" y="0"/>
                </a:lnTo>
                <a:lnTo>
                  <a:pt x="1508485" y="0"/>
                </a:lnTo>
                <a:lnTo>
                  <a:pt x="1539270" y="0"/>
                </a:lnTo>
                <a:lnTo>
                  <a:pt x="1570055" y="0"/>
                </a:lnTo>
                <a:lnTo>
                  <a:pt x="1600841" y="0"/>
                </a:lnTo>
                <a:lnTo>
                  <a:pt x="1631626" y="0"/>
                </a:lnTo>
                <a:lnTo>
                  <a:pt x="1662412" y="0"/>
                </a:lnTo>
                <a:lnTo>
                  <a:pt x="1693197" y="0"/>
                </a:lnTo>
                <a:lnTo>
                  <a:pt x="1723983" y="0"/>
                </a:lnTo>
                <a:lnTo>
                  <a:pt x="1754768" y="0"/>
                </a:lnTo>
                <a:lnTo>
                  <a:pt x="1785553" y="0"/>
                </a:lnTo>
                <a:lnTo>
                  <a:pt x="1816339" y="0"/>
                </a:lnTo>
                <a:lnTo>
                  <a:pt x="1847124" y="0"/>
                </a:lnTo>
                <a:lnTo>
                  <a:pt x="1877910" y="0"/>
                </a:lnTo>
                <a:lnTo>
                  <a:pt x="1908695" y="0"/>
                </a:lnTo>
                <a:lnTo>
                  <a:pt x="1939480" y="0"/>
                </a:lnTo>
                <a:lnTo>
                  <a:pt x="1970266" y="0"/>
                </a:lnTo>
                <a:lnTo>
                  <a:pt x="2001051" y="0"/>
                </a:lnTo>
                <a:lnTo>
                  <a:pt x="2031837" y="0"/>
                </a:lnTo>
                <a:lnTo>
                  <a:pt x="2062622" y="0"/>
                </a:lnTo>
                <a:lnTo>
                  <a:pt x="2093407" y="0"/>
                </a:lnTo>
                <a:lnTo>
                  <a:pt x="2124193" y="0"/>
                </a:lnTo>
                <a:lnTo>
                  <a:pt x="2154978" y="0"/>
                </a:lnTo>
                <a:lnTo>
                  <a:pt x="2185764" y="0"/>
                </a:lnTo>
                <a:lnTo>
                  <a:pt x="2216549" y="0"/>
                </a:lnTo>
                <a:lnTo>
                  <a:pt x="2247334" y="0"/>
                </a:lnTo>
                <a:lnTo>
                  <a:pt x="2278120" y="0"/>
                </a:lnTo>
                <a:lnTo>
                  <a:pt x="2308905" y="0"/>
                </a:lnTo>
                <a:lnTo>
                  <a:pt x="2339691" y="0"/>
                </a:lnTo>
                <a:lnTo>
                  <a:pt x="2370476" y="0"/>
                </a:lnTo>
                <a:lnTo>
                  <a:pt x="2401262" y="0"/>
                </a:lnTo>
                <a:lnTo>
                  <a:pt x="2432047" y="0"/>
                </a:lnTo>
                <a:lnTo>
                  <a:pt x="2462832" y="0"/>
                </a:lnTo>
                <a:lnTo>
                  <a:pt x="2493618" y="0"/>
                </a:lnTo>
                <a:lnTo>
                  <a:pt x="2524403" y="0"/>
                </a:lnTo>
                <a:lnTo>
                  <a:pt x="2555189" y="0"/>
                </a:lnTo>
                <a:lnTo>
                  <a:pt x="2585974" y="0"/>
                </a:lnTo>
                <a:lnTo>
                  <a:pt x="2616759" y="0"/>
                </a:lnTo>
                <a:lnTo>
                  <a:pt x="2647545" y="0"/>
                </a:lnTo>
                <a:lnTo>
                  <a:pt x="2678330" y="0"/>
                </a:lnTo>
                <a:lnTo>
                  <a:pt x="2709116" y="0"/>
                </a:lnTo>
                <a:lnTo>
                  <a:pt x="2739901" y="0"/>
                </a:lnTo>
                <a:lnTo>
                  <a:pt x="2770686" y="0"/>
                </a:lnTo>
                <a:lnTo>
                  <a:pt x="2801472" y="0"/>
                </a:lnTo>
                <a:lnTo>
                  <a:pt x="2832257" y="0"/>
                </a:lnTo>
                <a:lnTo>
                  <a:pt x="2863043" y="0"/>
                </a:lnTo>
                <a:lnTo>
                  <a:pt x="2893828" y="0"/>
                </a:lnTo>
                <a:lnTo>
                  <a:pt x="2924614" y="0"/>
                </a:lnTo>
                <a:lnTo>
                  <a:pt x="2955399" y="0"/>
                </a:lnTo>
                <a:lnTo>
                  <a:pt x="2986184" y="0"/>
                </a:lnTo>
                <a:lnTo>
                  <a:pt x="3016970" y="0"/>
                </a:lnTo>
                <a:lnTo>
                  <a:pt x="3047755" y="0"/>
                </a:lnTo>
                <a:lnTo>
                  <a:pt x="3078541" y="0"/>
                </a:lnTo>
                <a:lnTo>
                  <a:pt x="3109326" y="0"/>
                </a:lnTo>
                <a:lnTo>
                  <a:pt x="3140111" y="0"/>
                </a:lnTo>
                <a:lnTo>
                  <a:pt x="3170897" y="0"/>
                </a:lnTo>
                <a:lnTo>
                  <a:pt x="3201682" y="0"/>
                </a:lnTo>
                <a:lnTo>
                  <a:pt x="3232468" y="0"/>
                </a:lnTo>
                <a:lnTo>
                  <a:pt x="3263253" y="0"/>
                </a:lnTo>
                <a:lnTo>
                  <a:pt x="3294038" y="0"/>
                </a:lnTo>
                <a:lnTo>
                  <a:pt x="3324824" y="0"/>
                </a:lnTo>
                <a:lnTo>
                  <a:pt x="3355609" y="0"/>
                </a:lnTo>
                <a:lnTo>
                  <a:pt x="3386395" y="0"/>
                </a:lnTo>
                <a:lnTo>
                  <a:pt x="3417180" y="0"/>
                </a:lnTo>
                <a:lnTo>
                  <a:pt x="3447966" y="0"/>
                </a:lnTo>
                <a:lnTo>
                  <a:pt x="3478751" y="0"/>
                </a:lnTo>
                <a:lnTo>
                  <a:pt x="3509536" y="0"/>
                </a:lnTo>
                <a:lnTo>
                  <a:pt x="3540322" y="0"/>
                </a:lnTo>
                <a:lnTo>
                  <a:pt x="3571107" y="0"/>
                </a:lnTo>
                <a:lnTo>
                  <a:pt x="3601893" y="0"/>
                </a:lnTo>
                <a:lnTo>
                  <a:pt x="3632678" y="0"/>
                </a:lnTo>
                <a:lnTo>
                  <a:pt x="3663463" y="0"/>
                </a:lnTo>
                <a:lnTo>
                  <a:pt x="3694249" y="0"/>
                </a:lnTo>
                <a:lnTo>
                  <a:pt x="3725034" y="0"/>
                </a:lnTo>
                <a:lnTo>
                  <a:pt x="3755820" y="0"/>
                </a:lnTo>
                <a:lnTo>
                  <a:pt x="3786605" y="0"/>
                </a:lnTo>
                <a:lnTo>
                  <a:pt x="3817390" y="0"/>
                </a:lnTo>
                <a:lnTo>
                  <a:pt x="3848176" y="0"/>
                </a:lnTo>
                <a:lnTo>
                  <a:pt x="3878961" y="0"/>
                </a:lnTo>
                <a:lnTo>
                  <a:pt x="3909747" y="0"/>
                </a:lnTo>
                <a:lnTo>
                  <a:pt x="3940532" y="0"/>
                </a:lnTo>
                <a:lnTo>
                  <a:pt x="3971317" y="0"/>
                </a:lnTo>
                <a:lnTo>
                  <a:pt x="4002103" y="0"/>
                </a:lnTo>
                <a:lnTo>
                  <a:pt x="4032888" y="0"/>
                </a:lnTo>
                <a:lnTo>
                  <a:pt x="4063674" y="0"/>
                </a:lnTo>
                <a:lnTo>
                  <a:pt x="4094459" y="0"/>
                </a:lnTo>
                <a:lnTo>
                  <a:pt x="4125245" y="0"/>
                </a:lnTo>
                <a:lnTo>
                  <a:pt x="4156030" y="0"/>
                </a:lnTo>
                <a:lnTo>
                  <a:pt x="4186815" y="0"/>
                </a:lnTo>
                <a:lnTo>
                  <a:pt x="4217601" y="0"/>
                </a:lnTo>
                <a:lnTo>
                  <a:pt x="4248386" y="0"/>
                </a:lnTo>
                <a:lnTo>
                  <a:pt x="4279172" y="0"/>
                </a:lnTo>
                <a:lnTo>
                  <a:pt x="4309957" y="0"/>
                </a:lnTo>
                <a:lnTo>
                  <a:pt x="4340742" y="0"/>
                </a:lnTo>
                <a:lnTo>
                  <a:pt x="4371528" y="0"/>
                </a:lnTo>
                <a:lnTo>
                  <a:pt x="4402313" y="0"/>
                </a:lnTo>
                <a:lnTo>
                  <a:pt x="4433099" y="0"/>
                </a:lnTo>
                <a:lnTo>
                  <a:pt x="4463884" y="0"/>
                </a:lnTo>
                <a:lnTo>
                  <a:pt x="4494669" y="0"/>
                </a:lnTo>
                <a:lnTo>
                  <a:pt x="4525455" y="0"/>
                </a:lnTo>
                <a:lnTo>
                  <a:pt x="4556240" y="0"/>
                </a:lnTo>
                <a:lnTo>
                  <a:pt x="4587026" y="0"/>
                </a:lnTo>
                <a:lnTo>
                  <a:pt x="4617811" y="0"/>
                </a:lnTo>
                <a:lnTo>
                  <a:pt x="4648597" y="0"/>
                </a:lnTo>
                <a:lnTo>
                  <a:pt x="4679382" y="0"/>
                </a:lnTo>
                <a:lnTo>
                  <a:pt x="4710167" y="0"/>
                </a:lnTo>
                <a:lnTo>
                  <a:pt x="4740953" y="0"/>
                </a:lnTo>
                <a:lnTo>
                  <a:pt x="4771738" y="0"/>
                </a:lnTo>
                <a:lnTo>
                  <a:pt x="4802524" y="0"/>
                </a:lnTo>
                <a:lnTo>
                  <a:pt x="4833309" y="0"/>
                </a:lnTo>
                <a:lnTo>
                  <a:pt x="4864094" y="0"/>
                </a:lnTo>
                <a:lnTo>
                  <a:pt x="4894880" y="0"/>
                </a:lnTo>
                <a:lnTo>
                  <a:pt x="4925665" y="0"/>
                </a:lnTo>
                <a:lnTo>
                  <a:pt x="4956451" y="0"/>
                </a:lnTo>
                <a:lnTo>
                  <a:pt x="4987236" y="0"/>
                </a:lnTo>
                <a:lnTo>
                  <a:pt x="5018021" y="0"/>
                </a:lnTo>
                <a:lnTo>
                  <a:pt x="5048807" y="0"/>
                </a:lnTo>
                <a:lnTo>
                  <a:pt x="5079592" y="0"/>
                </a:lnTo>
                <a:lnTo>
                  <a:pt x="5110378" y="0"/>
                </a:lnTo>
                <a:lnTo>
                  <a:pt x="5120640" y="0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C2-E17 ellipse 66" descr="sci-ppt:o066"/>
          <p:cNvSpPr/>
          <p:nvPr/>
        </p:nvSpPr>
        <p:spPr>
          <a:xfrm>
            <a:off x="5980176" y="4654783"/>
            <a:ext cx="109728" cy="109728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C2-E17 round_rect 67" descr="sci-ppt:o067"/>
          <p:cNvSpPr/>
          <p:nvPr/>
        </p:nvSpPr>
        <p:spPr>
          <a:xfrm>
            <a:off x="6675120" y="1371600"/>
            <a:ext cx="5166360" cy="3840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2-E17 text 68" descr="sci-ppt:o068"/>
          <p:cNvSpPr txBox="1"/>
          <p:nvPr/>
        </p:nvSpPr>
        <p:spPr>
          <a:xfrm>
            <a:off x="6784848" y="1426464"/>
            <a:ext cx="4946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P_act = 1 − exp(−∫∫ J dV dt)</a:t>
            </a:r>
          </a:p>
        </p:txBody>
      </p:sp>
      <p:sp>
        <p:nvSpPr>
          <p:cNvPr id="71" name="C2-E17 rect 69" descr="sci-ppt:o069"/>
          <p:cNvSpPr/>
          <p:nvPr/>
        </p:nvSpPr>
        <p:spPr>
          <a:xfrm>
            <a:off x="6858000" y="1965960"/>
            <a:ext cx="274320" cy="201168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2-E17 text 70" descr="sci-ppt:o070"/>
          <p:cNvSpPr txBox="1"/>
          <p:nvPr/>
        </p:nvSpPr>
        <p:spPr>
          <a:xfrm>
            <a:off x="7269480" y="192024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A: Λ = 2/µs for 1 µs</a:t>
            </a:r>
          </a:p>
        </p:txBody>
      </p:sp>
      <p:sp>
        <p:nvSpPr>
          <p:cNvPr id="73" name="C2-E17 text 71" descr="sci-ppt:o071"/>
          <p:cNvSpPr txBox="1"/>
          <p:nvPr/>
        </p:nvSpPr>
        <p:spPr>
          <a:xfrm>
            <a:off x="9966960" y="1920240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∫Λ dt = 2.0  →  P = 0.86</a:t>
            </a:r>
          </a:p>
        </p:txBody>
      </p:sp>
      <p:sp>
        <p:nvSpPr>
          <p:cNvPr id="74" name="C2-E17 rect 72" descr="sci-ppt:o072"/>
          <p:cNvSpPr/>
          <p:nvPr/>
        </p:nvSpPr>
        <p:spPr>
          <a:xfrm>
            <a:off x="6858000" y="2532888"/>
            <a:ext cx="274320" cy="201168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C2-E17 text 73" descr="sci-ppt:o073"/>
          <p:cNvSpPr txBox="1"/>
          <p:nvPr/>
        </p:nvSpPr>
        <p:spPr>
          <a:xfrm>
            <a:off x="7269480" y="2487168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B: Λ = 0.5/µs for 4 µs</a:t>
            </a:r>
          </a:p>
        </p:txBody>
      </p:sp>
      <p:sp>
        <p:nvSpPr>
          <p:cNvPr id="76" name="C2-E17 text 74" descr="sci-ppt:o074"/>
          <p:cNvSpPr txBox="1"/>
          <p:nvPr/>
        </p:nvSpPr>
        <p:spPr>
          <a:xfrm>
            <a:off x="9966960" y="2487168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∫Λ dt = 2.0  →  P = 0.86</a:t>
            </a:r>
          </a:p>
        </p:txBody>
      </p:sp>
      <p:sp>
        <p:nvSpPr>
          <p:cNvPr id="77" name="C2-E17 rect 75" descr="sci-ppt:o075"/>
          <p:cNvSpPr/>
          <p:nvPr/>
        </p:nvSpPr>
        <p:spPr>
          <a:xfrm>
            <a:off x="6858000" y="3099815"/>
            <a:ext cx="274320" cy="201168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C2-E17 text 76" descr="sci-ppt:o076"/>
          <p:cNvSpPr txBox="1"/>
          <p:nvPr/>
        </p:nvSpPr>
        <p:spPr>
          <a:xfrm>
            <a:off x="7269480" y="3054096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C: Λ = 2/µs for 0.2 µs</a:t>
            </a:r>
          </a:p>
        </p:txBody>
      </p:sp>
      <p:sp>
        <p:nvSpPr>
          <p:cNvPr id="79" name="C2-E17 text 77" descr="sci-ppt:o077"/>
          <p:cNvSpPr txBox="1"/>
          <p:nvPr/>
        </p:nvSpPr>
        <p:spPr>
          <a:xfrm>
            <a:off x="9966960" y="3054096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∫Λ dt = 0.4  →  P = 0.33</a:t>
            </a:r>
          </a:p>
        </p:txBody>
      </p:sp>
      <p:sp>
        <p:nvSpPr>
          <p:cNvPr id="80" name="C2-E17 text 78" descr="sci-ppt:o078"/>
          <p:cNvSpPr txBox="1"/>
          <p:nvPr/>
        </p:nvSpPr>
        <p:spPr>
          <a:xfrm>
            <a:off x="6858000" y="3749039"/>
            <a:ext cx="484632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and B have different rates and durations but the same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integral, so they end at the same activation probability.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 has the high rate but too little time.</a:t>
            </a:r>
          </a:p>
        </p:txBody>
      </p:sp>
      <p:sp>
        <p:nvSpPr>
          <p:cNvPr id="81" name="C2-E17 text 79" descr="sci-ppt:o079"/>
          <p:cNvSpPr txBox="1"/>
          <p:nvPr/>
        </p:nvSpPr>
        <p:spPr>
          <a:xfrm>
            <a:off x="914400" y="5733288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Rate alone does not decide activation: the product of rate and time spent in the activating state does. J(T, p) must be supplied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by the material.</a:t>
            </a:r>
          </a:p>
        </p:txBody>
      </p:sp>
      <p:sp>
        <p:nvSpPr>
          <p:cNvPr id="82" name="C2-E17 text 80" descr="sci-ppt:o08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Independent Poisson events; survival S = exp(−∫Λ dt) (Eq. C2-E17). Rates are illustrative.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C2-E18 · Exact compound-mass ledger under the stated closed supply</a:t>
            </a:r>
          </a:p>
        </p:txBody>
      </p:sp>
      <p:cxnSp>
        <p:nvCxnSpPr>
          <p:cNvPr id="3" name="C2-E18 line 1" descr="sci-ppt:o001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8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8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8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8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18 line 6" descr="sci-ppt:o006"/>
          <p:cNvCxnSpPr/>
          <p:nvPr/>
        </p:nvCxnSpPr>
        <p:spPr>
          <a:xfrm>
            <a:off x="2514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8 line 7" descr="sci-ppt:o007"/>
          <p:cNvCxnSpPr/>
          <p:nvPr/>
        </p:nvCxnSpPr>
        <p:spPr>
          <a:xfrm>
            <a:off x="2514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8 text 8" descr="sci-ppt:o008"/>
          <p:cNvSpPr txBox="1"/>
          <p:nvPr/>
        </p:nvSpPr>
        <p:spPr>
          <a:xfrm>
            <a:off x="2057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2-E18 line 9" descr="sci-ppt:o009"/>
          <p:cNvCxnSpPr/>
          <p:nvPr/>
        </p:nvCxnSpPr>
        <p:spPr>
          <a:xfrm>
            <a:off x="4114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8 line 10" descr="sci-ppt:o010"/>
          <p:cNvCxnSpPr/>
          <p:nvPr/>
        </p:nvCxnSpPr>
        <p:spPr>
          <a:xfrm>
            <a:off x="4114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8 text 11" descr="sci-ppt:o011"/>
          <p:cNvSpPr txBox="1"/>
          <p:nvPr/>
        </p:nvSpPr>
        <p:spPr>
          <a:xfrm>
            <a:off x="3657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2-E18 line 12" descr="sci-ppt:o012"/>
          <p:cNvCxnSpPr/>
          <p:nvPr/>
        </p:nvCxnSpPr>
        <p:spPr>
          <a:xfrm>
            <a:off x="5715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8 line 13" descr="sci-ppt:o013"/>
          <p:cNvCxnSpPr/>
          <p:nvPr/>
        </p:nvCxnSpPr>
        <p:spPr>
          <a:xfrm>
            <a:off x="5715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8 text 14" descr="sci-ppt:o014"/>
          <p:cNvSpPr txBox="1"/>
          <p:nvPr/>
        </p:nvSpPr>
        <p:spPr>
          <a:xfrm>
            <a:off x="5257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2-E18 line 15" descr="sci-ppt:o015"/>
          <p:cNvCxnSpPr/>
          <p:nvPr/>
        </p:nvCxnSpPr>
        <p:spPr>
          <a:xfrm>
            <a:off x="7315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8 line 16" descr="sci-ppt:o016"/>
          <p:cNvCxnSpPr/>
          <p:nvPr/>
        </p:nvCxnSpPr>
        <p:spPr>
          <a:xfrm>
            <a:off x="7315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8 text 17" descr="sci-ppt:o017"/>
          <p:cNvSpPr txBox="1"/>
          <p:nvPr/>
        </p:nvSpPr>
        <p:spPr>
          <a:xfrm>
            <a:off x="6858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2-E18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8 line 19" descr="sci-ppt:o019"/>
          <p:cNvCxnSpPr/>
          <p:nvPr/>
        </p:nvCxnSpPr>
        <p:spPr>
          <a:xfrm>
            <a:off x="850392" y="423557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18 line 20" descr="sci-ppt:o020"/>
          <p:cNvCxnSpPr/>
          <p:nvPr/>
        </p:nvCxnSpPr>
        <p:spPr>
          <a:xfrm>
            <a:off x="914400" y="4235573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18 text 21" descr="sci-ppt:o021"/>
          <p:cNvSpPr txBox="1"/>
          <p:nvPr/>
        </p:nvSpPr>
        <p:spPr>
          <a:xfrm>
            <a:off x="45720" y="415327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2-E18 line 22" descr="sci-ppt:o022"/>
          <p:cNvCxnSpPr/>
          <p:nvPr/>
        </p:nvCxnSpPr>
        <p:spPr>
          <a:xfrm>
            <a:off x="850392" y="344194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18 line 23" descr="sci-ppt:o023"/>
          <p:cNvCxnSpPr/>
          <p:nvPr/>
        </p:nvCxnSpPr>
        <p:spPr>
          <a:xfrm>
            <a:off x="914400" y="3441946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18 text 24" descr="sci-ppt:o024"/>
          <p:cNvSpPr txBox="1"/>
          <p:nvPr/>
        </p:nvSpPr>
        <p:spPr>
          <a:xfrm>
            <a:off x="45720" y="335965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7" name="C2-E18 line 25" descr="sci-ppt:o025"/>
          <p:cNvCxnSpPr/>
          <p:nvPr/>
        </p:nvCxnSpPr>
        <p:spPr>
          <a:xfrm>
            <a:off x="850392" y="2648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18 line 26" descr="sci-ppt:o026"/>
          <p:cNvCxnSpPr/>
          <p:nvPr/>
        </p:nvCxnSpPr>
        <p:spPr>
          <a:xfrm>
            <a:off x="914400" y="264832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18 text 27" descr="sci-ppt:o027"/>
          <p:cNvSpPr txBox="1"/>
          <p:nvPr/>
        </p:nvSpPr>
        <p:spPr>
          <a:xfrm>
            <a:off x="45720" y="25660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cxnSp>
        <p:nvCxnSpPr>
          <p:cNvPr id="30" name="C2-E18 line 28" descr="sci-ppt:o028"/>
          <p:cNvCxnSpPr/>
          <p:nvPr/>
        </p:nvCxnSpPr>
        <p:spPr>
          <a:xfrm>
            <a:off x="850392" y="185469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2-E18 line 29" descr="sci-ppt:o029"/>
          <p:cNvCxnSpPr/>
          <p:nvPr/>
        </p:nvCxnSpPr>
        <p:spPr>
          <a:xfrm>
            <a:off x="914400" y="1854693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2-E18 text 30" descr="sci-ppt:o030"/>
          <p:cNvSpPr txBox="1"/>
          <p:nvPr/>
        </p:nvSpPr>
        <p:spPr>
          <a:xfrm>
            <a:off x="45720" y="177239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0.8</a:t>
            </a:r>
          </a:p>
        </p:txBody>
      </p:sp>
      <p:sp>
        <p:nvSpPr>
          <p:cNvPr id="33" name="C2-E18 text 31" descr="sci-ppt:o031"/>
          <p:cNvSpPr txBox="1"/>
          <p:nvPr/>
        </p:nvSpPr>
        <p:spPr>
          <a:xfrm>
            <a:off x="91440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 (arbitrary units)</a:t>
            </a:r>
          </a:p>
        </p:txBody>
      </p:sp>
      <p:sp>
        <p:nvSpPr>
          <p:cNvPr id="34" name="C2-E18 text 32" descr="sci-ppt:o032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PFC mass  (ng)</a:t>
            </a:r>
          </a:p>
        </p:txBody>
      </p:sp>
      <p:sp>
        <p:nvSpPr>
          <p:cNvPr id="35" name="C2-E18 polygon 33" descr="sci-ppt:o033"/>
          <p:cNvSpPr/>
          <p:nvPr/>
        </p:nvSpPr>
        <p:spPr>
          <a:xfrm>
            <a:off x="914400" y="1964451"/>
            <a:ext cx="6400800" cy="3064749"/>
          </a:xfrm>
          <a:custGeom>
            <a:avLst/>
            <a:gdLst/>
            <a:ahLst/>
            <a:cxnLst/>
            <a:rect l="l" t="t" r="r" b="b"/>
            <a:pathLst>
              <a:path w="6400800" h="3064749">
                <a:moveTo>
                  <a:pt x="0" y="0"/>
                </a:moveTo>
                <a:lnTo>
                  <a:pt x="16042" y="4431"/>
                </a:lnTo>
                <a:lnTo>
                  <a:pt x="32084" y="8985"/>
                </a:lnTo>
                <a:lnTo>
                  <a:pt x="48126" y="13663"/>
                </a:lnTo>
                <a:lnTo>
                  <a:pt x="64168" y="18469"/>
                </a:lnTo>
                <a:lnTo>
                  <a:pt x="80210" y="23406"/>
                </a:lnTo>
                <a:lnTo>
                  <a:pt x="96252" y="28477"/>
                </a:lnTo>
                <a:lnTo>
                  <a:pt x="112294" y="33685"/>
                </a:lnTo>
                <a:lnTo>
                  <a:pt x="128336" y="39033"/>
                </a:lnTo>
                <a:lnTo>
                  <a:pt x="144378" y="44525"/>
                </a:lnTo>
                <a:lnTo>
                  <a:pt x="160421" y="50164"/>
                </a:lnTo>
                <a:lnTo>
                  <a:pt x="176463" y="55953"/>
                </a:lnTo>
                <a:lnTo>
                  <a:pt x="192505" y="61896"/>
                </a:lnTo>
                <a:lnTo>
                  <a:pt x="208547" y="67996"/>
                </a:lnTo>
                <a:lnTo>
                  <a:pt x="224589" y="74255"/>
                </a:lnTo>
                <a:lnTo>
                  <a:pt x="240631" y="80679"/>
                </a:lnTo>
                <a:lnTo>
                  <a:pt x="256673" y="87270"/>
                </a:lnTo>
                <a:lnTo>
                  <a:pt x="272715" y="94032"/>
                </a:lnTo>
                <a:lnTo>
                  <a:pt x="288757" y="100968"/>
                </a:lnTo>
                <a:lnTo>
                  <a:pt x="304800" y="108083"/>
                </a:lnTo>
                <a:lnTo>
                  <a:pt x="320842" y="115379"/>
                </a:lnTo>
                <a:lnTo>
                  <a:pt x="336884" y="122860"/>
                </a:lnTo>
                <a:lnTo>
                  <a:pt x="352926" y="130529"/>
                </a:lnTo>
                <a:lnTo>
                  <a:pt x="368968" y="138392"/>
                </a:lnTo>
                <a:lnTo>
                  <a:pt x="385010" y="146450"/>
                </a:lnTo>
                <a:lnTo>
                  <a:pt x="401052" y="154708"/>
                </a:lnTo>
                <a:lnTo>
                  <a:pt x="417094" y="163170"/>
                </a:lnTo>
                <a:lnTo>
                  <a:pt x="433136" y="171838"/>
                </a:lnTo>
                <a:lnTo>
                  <a:pt x="449178" y="180717"/>
                </a:lnTo>
                <a:lnTo>
                  <a:pt x="465221" y="189811"/>
                </a:lnTo>
                <a:lnTo>
                  <a:pt x="481263" y="199122"/>
                </a:lnTo>
                <a:lnTo>
                  <a:pt x="497305" y="208655"/>
                </a:lnTo>
                <a:lnTo>
                  <a:pt x="513347" y="218412"/>
                </a:lnTo>
                <a:lnTo>
                  <a:pt x="529389" y="228398"/>
                </a:lnTo>
                <a:lnTo>
                  <a:pt x="545431" y="238616"/>
                </a:lnTo>
                <a:lnTo>
                  <a:pt x="561473" y="249069"/>
                </a:lnTo>
                <a:lnTo>
                  <a:pt x="577515" y="259761"/>
                </a:lnTo>
                <a:lnTo>
                  <a:pt x="593557" y="270694"/>
                </a:lnTo>
                <a:lnTo>
                  <a:pt x="609599" y="281872"/>
                </a:lnTo>
                <a:lnTo>
                  <a:pt x="625642" y="293299"/>
                </a:lnTo>
                <a:lnTo>
                  <a:pt x="641684" y="304976"/>
                </a:lnTo>
                <a:lnTo>
                  <a:pt x="657726" y="316908"/>
                </a:lnTo>
                <a:lnTo>
                  <a:pt x="673768" y="329097"/>
                </a:lnTo>
                <a:lnTo>
                  <a:pt x="689810" y="341545"/>
                </a:lnTo>
                <a:lnTo>
                  <a:pt x="705852" y="354255"/>
                </a:lnTo>
                <a:lnTo>
                  <a:pt x="721894" y="367229"/>
                </a:lnTo>
                <a:lnTo>
                  <a:pt x="737936" y="380471"/>
                </a:lnTo>
                <a:lnTo>
                  <a:pt x="753978" y="393981"/>
                </a:lnTo>
                <a:lnTo>
                  <a:pt x="770021" y="407762"/>
                </a:lnTo>
                <a:lnTo>
                  <a:pt x="786063" y="421817"/>
                </a:lnTo>
                <a:lnTo>
                  <a:pt x="802105" y="436145"/>
                </a:lnTo>
                <a:lnTo>
                  <a:pt x="818147" y="450749"/>
                </a:lnTo>
                <a:lnTo>
                  <a:pt x="834189" y="465631"/>
                </a:lnTo>
                <a:lnTo>
                  <a:pt x="850231" y="480790"/>
                </a:lnTo>
                <a:lnTo>
                  <a:pt x="866273" y="496229"/>
                </a:lnTo>
                <a:lnTo>
                  <a:pt x="882315" y="511947"/>
                </a:lnTo>
                <a:lnTo>
                  <a:pt x="898357" y="527944"/>
                </a:lnTo>
                <a:lnTo>
                  <a:pt x="914400" y="544222"/>
                </a:lnTo>
                <a:lnTo>
                  <a:pt x="930442" y="560780"/>
                </a:lnTo>
                <a:lnTo>
                  <a:pt x="946484" y="577617"/>
                </a:lnTo>
                <a:lnTo>
                  <a:pt x="962526" y="594733"/>
                </a:lnTo>
                <a:lnTo>
                  <a:pt x="978568" y="612127"/>
                </a:lnTo>
                <a:lnTo>
                  <a:pt x="994610" y="629798"/>
                </a:lnTo>
                <a:lnTo>
                  <a:pt x="1010652" y="647743"/>
                </a:lnTo>
                <a:lnTo>
                  <a:pt x="1026694" y="665962"/>
                </a:lnTo>
                <a:lnTo>
                  <a:pt x="1042736" y="684452"/>
                </a:lnTo>
                <a:lnTo>
                  <a:pt x="1058778" y="703210"/>
                </a:lnTo>
                <a:lnTo>
                  <a:pt x="1074821" y="722235"/>
                </a:lnTo>
                <a:lnTo>
                  <a:pt x="1090863" y="741522"/>
                </a:lnTo>
                <a:lnTo>
                  <a:pt x="1106905" y="761068"/>
                </a:lnTo>
                <a:lnTo>
                  <a:pt x="1122947" y="780871"/>
                </a:lnTo>
                <a:lnTo>
                  <a:pt x="1138989" y="800924"/>
                </a:lnTo>
                <a:lnTo>
                  <a:pt x="1155031" y="821225"/>
                </a:lnTo>
                <a:lnTo>
                  <a:pt x="1171073" y="841769"/>
                </a:lnTo>
                <a:lnTo>
                  <a:pt x="1187115" y="862549"/>
                </a:lnTo>
                <a:lnTo>
                  <a:pt x="1203157" y="883561"/>
                </a:lnTo>
                <a:lnTo>
                  <a:pt x="1219199" y="904800"/>
                </a:lnTo>
                <a:lnTo>
                  <a:pt x="1235242" y="926258"/>
                </a:lnTo>
                <a:lnTo>
                  <a:pt x="1251284" y="947931"/>
                </a:lnTo>
                <a:lnTo>
                  <a:pt x="1267326" y="969810"/>
                </a:lnTo>
                <a:lnTo>
                  <a:pt x="1283368" y="991888"/>
                </a:lnTo>
                <a:lnTo>
                  <a:pt x="1299410" y="1014160"/>
                </a:lnTo>
                <a:lnTo>
                  <a:pt x="1315452" y="1036615"/>
                </a:lnTo>
                <a:lnTo>
                  <a:pt x="1331494" y="1059248"/>
                </a:lnTo>
                <a:lnTo>
                  <a:pt x="1347536" y="1082049"/>
                </a:lnTo>
                <a:lnTo>
                  <a:pt x="1363578" y="1105011"/>
                </a:lnTo>
                <a:lnTo>
                  <a:pt x="1379621" y="1128123"/>
                </a:lnTo>
                <a:lnTo>
                  <a:pt x="1395663" y="1151378"/>
                </a:lnTo>
                <a:lnTo>
                  <a:pt x="1411705" y="1174765"/>
                </a:lnTo>
                <a:lnTo>
                  <a:pt x="1427747" y="1198276"/>
                </a:lnTo>
                <a:lnTo>
                  <a:pt x="1443789" y="1221900"/>
                </a:lnTo>
                <a:lnTo>
                  <a:pt x="1459831" y="1245628"/>
                </a:lnTo>
                <a:lnTo>
                  <a:pt x="1475873" y="1269450"/>
                </a:lnTo>
                <a:lnTo>
                  <a:pt x="1491915" y="1293355"/>
                </a:lnTo>
                <a:lnTo>
                  <a:pt x="1507957" y="1317332"/>
                </a:lnTo>
                <a:lnTo>
                  <a:pt x="1524000" y="1341372"/>
                </a:lnTo>
                <a:lnTo>
                  <a:pt x="1540042" y="1365464"/>
                </a:lnTo>
                <a:lnTo>
                  <a:pt x="1556084" y="1389596"/>
                </a:lnTo>
                <a:lnTo>
                  <a:pt x="1572126" y="1413758"/>
                </a:lnTo>
                <a:lnTo>
                  <a:pt x="1588168" y="1437940"/>
                </a:lnTo>
                <a:lnTo>
                  <a:pt x="1604210" y="1462129"/>
                </a:lnTo>
                <a:lnTo>
                  <a:pt x="1620252" y="1486316"/>
                </a:lnTo>
                <a:lnTo>
                  <a:pt x="1636294" y="1510490"/>
                </a:lnTo>
                <a:lnTo>
                  <a:pt x="1652336" y="1534638"/>
                </a:lnTo>
                <a:lnTo>
                  <a:pt x="1668378" y="1558752"/>
                </a:lnTo>
                <a:lnTo>
                  <a:pt x="1684421" y="1582819"/>
                </a:lnTo>
                <a:lnTo>
                  <a:pt x="1700463" y="1606829"/>
                </a:lnTo>
                <a:lnTo>
                  <a:pt x="1716505" y="1630771"/>
                </a:lnTo>
                <a:lnTo>
                  <a:pt x="1732547" y="1654636"/>
                </a:lnTo>
                <a:lnTo>
                  <a:pt x="1748589" y="1678412"/>
                </a:lnTo>
                <a:lnTo>
                  <a:pt x="1764631" y="1702089"/>
                </a:lnTo>
                <a:lnTo>
                  <a:pt x="1780673" y="1725658"/>
                </a:lnTo>
                <a:lnTo>
                  <a:pt x="1796715" y="1749108"/>
                </a:lnTo>
                <a:lnTo>
                  <a:pt x="1812757" y="1772430"/>
                </a:lnTo>
                <a:lnTo>
                  <a:pt x="1828800" y="1795615"/>
                </a:lnTo>
                <a:lnTo>
                  <a:pt x="1844842" y="1818653"/>
                </a:lnTo>
                <a:lnTo>
                  <a:pt x="1860884" y="1841535"/>
                </a:lnTo>
                <a:lnTo>
                  <a:pt x="1876926" y="1864253"/>
                </a:lnTo>
                <a:lnTo>
                  <a:pt x="1892968" y="1886799"/>
                </a:lnTo>
                <a:lnTo>
                  <a:pt x="1909010" y="1909163"/>
                </a:lnTo>
                <a:lnTo>
                  <a:pt x="1925052" y="1931339"/>
                </a:lnTo>
                <a:lnTo>
                  <a:pt x="1941094" y="1953319"/>
                </a:lnTo>
                <a:lnTo>
                  <a:pt x="1957136" y="1975095"/>
                </a:lnTo>
                <a:lnTo>
                  <a:pt x="1973178" y="1996662"/>
                </a:lnTo>
                <a:lnTo>
                  <a:pt x="1989221" y="2018011"/>
                </a:lnTo>
                <a:lnTo>
                  <a:pt x="2005263" y="2039137"/>
                </a:lnTo>
                <a:lnTo>
                  <a:pt x="2021305" y="2060034"/>
                </a:lnTo>
                <a:lnTo>
                  <a:pt x="2037347" y="2080697"/>
                </a:lnTo>
                <a:lnTo>
                  <a:pt x="2053389" y="2101119"/>
                </a:lnTo>
                <a:lnTo>
                  <a:pt x="2069431" y="2121297"/>
                </a:lnTo>
                <a:lnTo>
                  <a:pt x="2085473" y="2141226"/>
                </a:lnTo>
                <a:lnTo>
                  <a:pt x="2101515" y="2160901"/>
                </a:lnTo>
                <a:lnTo>
                  <a:pt x="2117557" y="2180318"/>
                </a:lnTo>
                <a:lnTo>
                  <a:pt x="2133599" y="2199474"/>
                </a:lnTo>
                <a:lnTo>
                  <a:pt x="2149642" y="2218366"/>
                </a:lnTo>
                <a:lnTo>
                  <a:pt x="2165684" y="2236991"/>
                </a:lnTo>
                <a:lnTo>
                  <a:pt x="2181726" y="2255345"/>
                </a:lnTo>
                <a:lnTo>
                  <a:pt x="2197768" y="2273428"/>
                </a:lnTo>
                <a:lnTo>
                  <a:pt x="2213810" y="2291236"/>
                </a:lnTo>
                <a:lnTo>
                  <a:pt x="2229852" y="2308768"/>
                </a:lnTo>
                <a:lnTo>
                  <a:pt x="2245894" y="2326023"/>
                </a:lnTo>
                <a:lnTo>
                  <a:pt x="2261936" y="2343000"/>
                </a:lnTo>
                <a:lnTo>
                  <a:pt x="2277978" y="2359697"/>
                </a:lnTo>
                <a:lnTo>
                  <a:pt x="2294021" y="2376115"/>
                </a:lnTo>
                <a:lnTo>
                  <a:pt x="2310063" y="2392253"/>
                </a:lnTo>
                <a:lnTo>
                  <a:pt x="2326105" y="2408111"/>
                </a:lnTo>
                <a:lnTo>
                  <a:pt x="2342147" y="2423689"/>
                </a:lnTo>
                <a:lnTo>
                  <a:pt x="2358189" y="2438988"/>
                </a:lnTo>
                <a:lnTo>
                  <a:pt x="2374231" y="2454008"/>
                </a:lnTo>
                <a:lnTo>
                  <a:pt x="2390273" y="2468751"/>
                </a:lnTo>
                <a:lnTo>
                  <a:pt x="2406315" y="2483217"/>
                </a:lnTo>
                <a:lnTo>
                  <a:pt x="2422357" y="2497408"/>
                </a:lnTo>
                <a:lnTo>
                  <a:pt x="2438400" y="2511326"/>
                </a:lnTo>
                <a:lnTo>
                  <a:pt x="2454442" y="2524972"/>
                </a:lnTo>
                <a:lnTo>
                  <a:pt x="2470484" y="2538347"/>
                </a:lnTo>
                <a:lnTo>
                  <a:pt x="2486526" y="2551455"/>
                </a:lnTo>
                <a:lnTo>
                  <a:pt x="2502568" y="2564297"/>
                </a:lnTo>
                <a:lnTo>
                  <a:pt x="2518610" y="2576876"/>
                </a:lnTo>
                <a:lnTo>
                  <a:pt x="2534652" y="2589194"/>
                </a:lnTo>
                <a:lnTo>
                  <a:pt x="2550694" y="2601253"/>
                </a:lnTo>
                <a:lnTo>
                  <a:pt x="2566736" y="2613058"/>
                </a:lnTo>
                <a:lnTo>
                  <a:pt x="2582778" y="2624609"/>
                </a:lnTo>
                <a:lnTo>
                  <a:pt x="2598821" y="2635911"/>
                </a:lnTo>
                <a:lnTo>
                  <a:pt x="2614863" y="2646967"/>
                </a:lnTo>
                <a:lnTo>
                  <a:pt x="2630905" y="2657779"/>
                </a:lnTo>
                <a:lnTo>
                  <a:pt x="2646947" y="2668351"/>
                </a:lnTo>
                <a:lnTo>
                  <a:pt x="2662989" y="2678686"/>
                </a:lnTo>
                <a:lnTo>
                  <a:pt x="2679031" y="2688787"/>
                </a:lnTo>
                <a:lnTo>
                  <a:pt x="2695073" y="2698659"/>
                </a:lnTo>
                <a:lnTo>
                  <a:pt x="2711115" y="2708303"/>
                </a:lnTo>
                <a:lnTo>
                  <a:pt x="2727157" y="2717725"/>
                </a:lnTo>
                <a:lnTo>
                  <a:pt x="2743200" y="2726927"/>
                </a:lnTo>
                <a:lnTo>
                  <a:pt x="2759242" y="2735912"/>
                </a:lnTo>
                <a:lnTo>
                  <a:pt x="2775284" y="2744686"/>
                </a:lnTo>
                <a:lnTo>
                  <a:pt x="2791326" y="2753250"/>
                </a:lnTo>
                <a:lnTo>
                  <a:pt x="2807368" y="2761610"/>
                </a:lnTo>
                <a:lnTo>
                  <a:pt x="2823410" y="2769767"/>
                </a:lnTo>
                <a:lnTo>
                  <a:pt x="2839452" y="2777727"/>
                </a:lnTo>
                <a:lnTo>
                  <a:pt x="2855494" y="2785493"/>
                </a:lnTo>
                <a:lnTo>
                  <a:pt x="2871536" y="2793068"/>
                </a:lnTo>
                <a:lnTo>
                  <a:pt x="2887578" y="2800456"/>
                </a:lnTo>
                <a:lnTo>
                  <a:pt x="2903621" y="2807661"/>
                </a:lnTo>
                <a:lnTo>
                  <a:pt x="2919663" y="2814685"/>
                </a:lnTo>
                <a:lnTo>
                  <a:pt x="2935705" y="2821534"/>
                </a:lnTo>
                <a:lnTo>
                  <a:pt x="2951747" y="2828210"/>
                </a:lnTo>
                <a:lnTo>
                  <a:pt x="2967789" y="2834717"/>
                </a:lnTo>
                <a:lnTo>
                  <a:pt x="2983831" y="2841058"/>
                </a:lnTo>
                <a:lnTo>
                  <a:pt x="2999873" y="2847238"/>
                </a:lnTo>
                <a:lnTo>
                  <a:pt x="3015915" y="2853258"/>
                </a:lnTo>
                <a:lnTo>
                  <a:pt x="3031957" y="2859124"/>
                </a:lnTo>
                <a:lnTo>
                  <a:pt x="3047999" y="2864837"/>
                </a:lnTo>
                <a:lnTo>
                  <a:pt x="3064042" y="2870403"/>
                </a:lnTo>
                <a:lnTo>
                  <a:pt x="3080084" y="2875822"/>
                </a:lnTo>
                <a:lnTo>
                  <a:pt x="3096126" y="2881100"/>
                </a:lnTo>
                <a:lnTo>
                  <a:pt x="3112168" y="2886239"/>
                </a:lnTo>
                <a:lnTo>
                  <a:pt x="3128210" y="2891243"/>
                </a:lnTo>
                <a:lnTo>
                  <a:pt x="3144252" y="2896114"/>
                </a:lnTo>
                <a:lnTo>
                  <a:pt x="3160294" y="2900856"/>
                </a:lnTo>
                <a:lnTo>
                  <a:pt x="3176336" y="2905471"/>
                </a:lnTo>
                <a:lnTo>
                  <a:pt x="3192378" y="2909963"/>
                </a:lnTo>
                <a:lnTo>
                  <a:pt x="3208421" y="2914335"/>
                </a:lnTo>
                <a:lnTo>
                  <a:pt x="3224463" y="2918588"/>
                </a:lnTo>
                <a:lnTo>
                  <a:pt x="3240505" y="2922728"/>
                </a:lnTo>
                <a:lnTo>
                  <a:pt x="3256547" y="2926755"/>
                </a:lnTo>
                <a:lnTo>
                  <a:pt x="3272589" y="2930673"/>
                </a:lnTo>
                <a:lnTo>
                  <a:pt x="3288631" y="2934484"/>
                </a:lnTo>
                <a:lnTo>
                  <a:pt x="3304673" y="2938192"/>
                </a:lnTo>
                <a:lnTo>
                  <a:pt x="3320715" y="2941798"/>
                </a:lnTo>
                <a:lnTo>
                  <a:pt x="3336757" y="2945306"/>
                </a:lnTo>
                <a:lnTo>
                  <a:pt x="3352799" y="2948717"/>
                </a:lnTo>
                <a:lnTo>
                  <a:pt x="3368842" y="2952034"/>
                </a:lnTo>
                <a:lnTo>
                  <a:pt x="3384884" y="2955260"/>
                </a:lnTo>
                <a:lnTo>
                  <a:pt x="3400926" y="2958397"/>
                </a:lnTo>
                <a:lnTo>
                  <a:pt x="3416968" y="2961446"/>
                </a:lnTo>
                <a:lnTo>
                  <a:pt x="3433010" y="2964411"/>
                </a:lnTo>
                <a:lnTo>
                  <a:pt x="3449052" y="2967294"/>
                </a:lnTo>
                <a:lnTo>
                  <a:pt x="3465094" y="2970097"/>
                </a:lnTo>
                <a:lnTo>
                  <a:pt x="3481136" y="2972821"/>
                </a:lnTo>
                <a:lnTo>
                  <a:pt x="3497178" y="2975469"/>
                </a:lnTo>
                <a:lnTo>
                  <a:pt x="3513221" y="2978043"/>
                </a:lnTo>
                <a:lnTo>
                  <a:pt x="3529263" y="2980544"/>
                </a:lnTo>
                <a:lnTo>
                  <a:pt x="3545305" y="2982976"/>
                </a:lnTo>
                <a:lnTo>
                  <a:pt x="3561347" y="2985338"/>
                </a:lnTo>
                <a:lnTo>
                  <a:pt x="3577389" y="2987635"/>
                </a:lnTo>
                <a:lnTo>
                  <a:pt x="3593431" y="2989866"/>
                </a:lnTo>
                <a:lnTo>
                  <a:pt x="3609473" y="2992035"/>
                </a:lnTo>
                <a:lnTo>
                  <a:pt x="3625515" y="2994142"/>
                </a:lnTo>
                <a:lnTo>
                  <a:pt x="3641557" y="2996189"/>
                </a:lnTo>
                <a:lnTo>
                  <a:pt x="3657600" y="2998178"/>
                </a:lnTo>
                <a:lnTo>
                  <a:pt x="3673642" y="3000111"/>
                </a:lnTo>
                <a:lnTo>
                  <a:pt x="3689684" y="3001989"/>
                </a:lnTo>
                <a:lnTo>
                  <a:pt x="3705726" y="3003813"/>
                </a:lnTo>
                <a:lnTo>
                  <a:pt x="3721768" y="3005585"/>
                </a:lnTo>
                <a:lnTo>
                  <a:pt x="3737810" y="3007307"/>
                </a:lnTo>
                <a:lnTo>
                  <a:pt x="3753852" y="3008979"/>
                </a:lnTo>
                <a:lnTo>
                  <a:pt x="3769894" y="3010603"/>
                </a:lnTo>
                <a:lnTo>
                  <a:pt x="3785936" y="3012181"/>
                </a:lnTo>
                <a:lnTo>
                  <a:pt x="3801978" y="3013714"/>
                </a:lnTo>
                <a:lnTo>
                  <a:pt x="3818021" y="3015203"/>
                </a:lnTo>
                <a:lnTo>
                  <a:pt x="3834063" y="3016649"/>
                </a:lnTo>
                <a:lnTo>
                  <a:pt x="3850105" y="3018053"/>
                </a:lnTo>
                <a:lnTo>
                  <a:pt x="3866147" y="3019417"/>
                </a:lnTo>
                <a:lnTo>
                  <a:pt x="3882189" y="3020742"/>
                </a:lnTo>
                <a:lnTo>
                  <a:pt x="3898231" y="3022028"/>
                </a:lnTo>
                <a:lnTo>
                  <a:pt x="3914273" y="3023278"/>
                </a:lnTo>
                <a:lnTo>
                  <a:pt x="3930315" y="3024491"/>
                </a:lnTo>
                <a:lnTo>
                  <a:pt x="3946357" y="3025669"/>
                </a:lnTo>
                <a:lnTo>
                  <a:pt x="3962400" y="3026813"/>
                </a:lnTo>
                <a:lnTo>
                  <a:pt x="3978442" y="3027924"/>
                </a:lnTo>
                <a:lnTo>
                  <a:pt x="3994484" y="3029003"/>
                </a:lnTo>
                <a:lnTo>
                  <a:pt x="4010526" y="3030051"/>
                </a:lnTo>
                <a:lnTo>
                  <a:pt x="4026568" y="3031068"/>
                </a:lnTo>
                <a:lnTo>
                  <a:pt x="4042610" y="3032056"/>
                </a:lnTo>
                <a:lnTo>
                  <a:pt x="4058652" y="3033015"/>
                </a:lnTo>
                <a:lnTo>
                  <a:pt x="4074694" y="3033946"/>
                </a:lnTo>
                <a:lnTo>
                  <a:pt x="4090736" y="3034850"/>
                </a:lnTo>
                <a:lnTo>
                  <a:pt x="4106778" y="3035728"/>
                </a:lnTo>
                <a:lnTo>
                  <a:pt x="4122821" y="3036580"/>
                </a:lnTo>
                <a:lnTo>
                  <a:pt x="4138863" y="3037408"/>
                </a:lnTo>
                <a:lnTo>
                  <a:pt x="4154905" y="3038211"/>
                </a:lnTo>
                <a:lnTo>
                  <a:pt x="4170947" y="3038991"/>
                </a:lnTo>
                <a:lnTo>
                  <a:pt x="4186989" y="3039748"/>
                </a:lnTo>
                <a:lnTo>
                  <a:pt x="4203031" y="3040483"/>
                </a:lnTo>
                <a:lnTo>
                  <a:pt x="4219073" y="3041197"/>
                </a:lnTo>
                <a:lnTo>
                  <a:pt x="4235115" y="3041890"/>
                </a:lnTo>
                <a:lnTo>
                  <a:pt x="4251157" y="3042562"/>
                </a:lnTo>
                <a:lnTo>
                  <a:pt x="4267199" y="3043215"/>
                </a:lnTo>
                <a:lnTo>
                  <a:pt x="4283242" y="3043849"/>
                </a:lnTo>
                <a:lnTo>
                  <a:pt x="4299284" y="3044464"/>
                </a:lnTo>
                <a:lnTo>
                  <a:pt x="4315326" y="3045062"/>
                </a:lnTo>
                <a:lnTo>
                  <a:pt x="4331368" y="3045642"/>
                </a:lnTo>
                <a:lnTo>
                  <a:pt x="4347410" y="3046204"/>
                </a:lnTo>
                <a:lnTo>
                  <a:pt x="4363452" y="3046751"/>
                </a:lnTo>
                <a:lnTo>
                  <a:pt x="4379494" y="3047281"/>
                </a:lnTo>
                <a:lnTo>
                  <a:pt x="4395536" y="3047796"/>
                </a:lnTo>
                <a:lnTo>
                  <a:pt x="4411578" y="3048296"/>
                </a:lnTo>
                <a:lnTo>
                  <a:pt x="4427621" y="3048781"/>
                </a:lnTo>
                <a:lnTo>
                  <a:pt x="4443663" y="3049251"/>
                </a:lnTo>
                <a:lnTo>
                  <a:pt x="4459705" y="3049708"/>
                </a:lnTo>
                <a:lnTo>
                  <a:pt x="4475747" y="3050152"/>
                </a:lnTo>
                <a:lnTo>
                  <a:pt x="4491789" y="3050583"/>
                </a:lnTo>
                <a:lnTo>
                  <a:pt x="4507831" y="3051000"/>
                </a:lnTo>
                <a:lnTo>
                  <a:pt x="4523873" y="3051406"/>
                </a:lnTo>
                <a:lnTo>
                  <a:pt x="4539915" y="3051800"/>
                </a:lnTo>
                <a:lnTo>
                  <a:pt x="4555957" y="3052182"/>
                </a:lnTo>
                <a:lnTo>
                  <a:pt x="4571999" y="3052553"/>
                </a:lnTo>
                <a:lnTo>
                  <a:pt x="4588042" y="3052913"/>
                </a:lnTo>
                <a:lnTo>
                  <a:pt x="4604084" y="3053262"/>
                </a:lnTo>
                <a:lnTo>
                  <a:pt x="4620126" y="3053601"/>
                </a:lnTo>
                <a:lnTo>
                  <a:pt x="4636168" y="3053931"/>
                </a:lnTo>
                <a:lnTo>
                  <a:pt x="4652210" y="3054250"/>
                </a:lnTo>
                <a:lnTo>
                  <a:pt x="4668252" y="3054560"/>
                </a:lnTo>
                <a:lnTo>
                  <a:pt x="4684294" y="3054861"/>
                </a:lnTo>
                <a:lnTo>
                  <a:pt x="4700336" y="3055153"/>
                </a:lnTo>
                <a:lnTo>
                  <a:pt x="4716378" y="3055436"/>
                </a:lnTo>
                <a:lnTo>
                  <a:pt x="4732421" y="3055712"/>
                </a:lnTo>
                <a:lnTo>
                  <a:pt x="4748463" y="3055979"/>
                </a:lnTo>
                <a:lnTo>
                  <a:pt x="4764505" y="3056238"/>
                </a:lnTo>
                <a:lnTo>
                  <a:pt x="4780547" y="3056489"/>
                </a:lnTo>
                <a:lnTo>
                  <a:pt x="4796589" y="3056733"/>
                </a:lnTo>
                <a:lnTo>
                  <a:pt x="4812631" y="3056970"/>
                </a:lnTo>
                <a:lnTo>
                  <a:pt x="4828673" y="3057200"/>
                </a:lnTo>
                <a:lnTo>
                  <a:pt x="4844715" y="3057423"/>
                </a:lnTo>
                <a:lnTo>
                  <a:pt x="4860757" y="3057640"/>
                </a:lnTo>
                <a:lnTo>
                  <a:pt x="4876800" y="3057850"/>
                </a:lnTo>
                <a:lnTo>
                  <a:pt x="4892842" y="3058054"/>
                </a:lnTo>
                <a:lnTo>
                  <a:pt x="4908884" y="3058252"/>
                </a:lnTo>
                <a:lnTo>
                  <a:pt x="4924926" y="3058444"/>
                </a:lnTo>
                <a:lnTo>
                  <a:pt x="4940968" y="3058630"/>
                </a:lnTo>
                <a:lnTo>
                  <a:pt x="4957010" y="3058811"/>
                </a:lnTo>
                <a:lnTo>
                  <a:pt x="4973052" y="3058987"/>
                </a:lnTo>
                <a:lnTo>
                  <a:pt x="4989094" y="3059157"/>
                </a:lnTo>
                <a:lnTo>
                  <a:pt x="5005136" y="3059323"/>
                </a:lnTo>
                <a:lnTo>
                  <a:pt x="5021178" y="3059483"/>
                </a:lnTo>
                <a:lnTo>
                  <a:pt x="5037221" y="3059639"/>
                </a:lnTo>
                <a:lnTo>
                  <a:pt x="5053263" y="3059790"/>
                </a:lnTo>
                <a:lnTo>
                  <a:pt x="5069305" y="3059937"/>
                </a:lnTo>
                <a:lnTo>
                  <a:pt x="5085347" y="3060079"/>
                </a:lnTo>
                <a:lnTo>
                  <a:pt x="5101389" y="3060217"/>
                </a:lnTo>
                <a:lnTo>
                  <a:pt x="5117431" y="3060351"/>
                </a:lnTo>
                <a:lnTo>
                  <a:pt x="5133473" y="3060481"/>
                </a:lnTo>
                <a:lnTo>
                  <a:pt x="5149515" y="3060608"/>
                </a:lnTo>
                <a:lnTo>
                  <a:pt x="5165557" y="3060730"/>
                </a:lnTo>
                <a:lnTo>
                  <a:pt x="5181600" y="3060849"/>
                </a:lnTo>
                <a:lnTo>
                  <a:pt x="5197642" y="3060965"/>
                </a:lnTo>
                <a:lnTo>
                  <a:pt x="5213684" y="3061077"/>
                </a:lnTo>
                <a:lnTo>
                  <a:pt x="5229726" y="3061185"/>
                </a:lnTo>
                <a:lnTo>
                  <a:pt x="5245768" y="3061291"/>
                </a:lnTo>
                <a:lnTo>
                  <a:pt x="5261810" y="3061393"/>
                </a:lnTo>
                <a:lnTo>
                  <a:pt x="5277852" y="3061492"/>
                </a:lnTo>
                <a:lnTo>
                  <a:pt x="5293894" y="3061589"/>
                </a:lnTo>
                <a:lnTo>
                  <a:pt x="5309936" y="3061682"/>
                </a:lnTo>
                <a:lnTo>
                  <a:pt x="5325978" y="3061773"/>
                </a:lnTo>
                <a:lnTo>
                  <a:pt x="5342021" y="3061861"/>
                </a:lnTo>
                <a:lnTo>
                  <a:pt x="5358063" y="3061947"/>
                </a:lnTo>
                <a:lnTo>
                  <a:pt x="5374105" y="3062029"/>
                </a:lnTo>
                <a:lnTo>
                  <a:pt x="5390147" y="3062110"/>
                </a:lnTo>
                <a:lnTo>
                  <a:pt x="5406189" y="3062188"/>
                </a:lnTo>
                <a:lnTo>
                  <a:pt x="5422231" y="3062264"/>
                </a:lnTo>
                <a:lnTo>
                  <a:pt x="5438273" y="3062337"/>
                </a:lnTo>
                <a:lnTo>
                  <a:pt x="5454315" y="3062409"/>
                </a:lnTo>
                <a:lnTo>
                  <a:pt x="5470357" y="3062478"/>
                </a:lnTo>
                <a:lnTo>
                  <a:pt x="5486400" y="3062545"/>
                </a:lnTo>
                <a:lnTo>
                  <a:pt x="5502442" y="3062611"/>
                </a:lnTo>
                <a:lnTo>
                  <a:pt x="5518484" y="3062674"/>
                </a:lnTo>
                <a:lnTo>
                  <a:pt x="5534526" y="3062735"/>
                </a:lnTo>
                <a:lnTo>
                  <a:pt x="5550568" y="3062795"/>
                </a:lnTo>
                <a:lnTo>
                  <a:pt x="5566610" y="3062853"/>
                </a:lnTo>
                <a:lnTo>
                  <a:pt x="5582652" y="3062909"/>
                </a:lnTo>
                <a:lnTo>
                  <a:pt x="5598694" y="3062963"/>
                </a:lnTo>
                <a:lnTo>
                  <a:pt x="5614736" y="3063016"/>
                </a:lnTo>
                <a:lnTo>
                  <a:pt x="5630778" y="3063067"/>
                </a:lnTo>
                <a:lnTo>
                  <a:pt x="5646821" y="3063117"/>
                </a:lnTo>
                <a:lnTo>
                  <a:pt x="5662863" y="3063166"/>
                </a:lnTo>
                <a:lnTo>
                  <a:pt x="5678905" y="3063212"/>
                </a:lnTo>
                <a:lnTo>
                  <a:pt x="5694947" y="3063258"/>
                </a:lnTo>
                <a:lnTo>
                  <a:pt x="5710989" y="3063302"/>
                </a:lnTo>
                <a:lnTo>
                  <a:pt x="5727031" y="3063345"/>
                </a:lnTo>
                <a:lnTo>
                  <a:pt x="5743073" y="3063386"/>
                </a:lnTo>
                <a:lnTo>
                  <a:pt x="5759115" y="3063427"/>
                </a:lnTo>
                <a:lnTo>
                  <a:pt x="5775157" y="3063466"/>
                </a:lnTo>
                <a:lnTo>
                  <a:pt x="5791199" y="3063504"/>
                </a:lnTo>
                <a:lnTo>
                  <a:pt x="5807242" y="3063541"/>
                </a:lnTo>
                <a:lnTo>
                  <a:pt x="5823284" y="3063577"/>
                </a:lnTo>
                <a:lnTo>
                  <a:pt x="5839326" y="3063611"/>
                </a:lnTo>
                <a:lnTo>
                  <a:pt x="5855368" y="3063645"/>
                </a:lnTo>
                <a:lnTo>
                  <a:pt x="5871410" y="3063678"/>
                </a:lnTo>
                <a:lnTo>
                  <a:pt x="5887452" y="3063709"/>
                </a:lnTo>
                <a:lnTo>
                  <a:pt x="5903494" y="3063740"/>
                </a:lnTo>
                <a:lnTo>
                  <a:pt x="5919536" y="3063770"/>
                </a:lnTo>
                <a:lnTo>
                  <a:pt x="5935578" y="3063799"/>
                </a:lnTo>
                <a:lnTo>
                  <a:pt x="5951621" y="3063827"/>
                </a:lnTo>
                <a:lnTo>
                  <a:pt x="5967663" y="3063854"/>
                </a:lnTo>
                <a:lnTo>
                  <a:pt x="5983705" y="3063881"/>
                </a:lnTo>
                <a:lnTo>
                  <a:pt x="5999747" y="3063907"/>
                </a:lnTo>
                <a:lnTo>
                  <a:pt x="6015789" y="3063932"/>
                </a:lnTo>
                <a:lnTo>
                  <a:pt x="6031831" y="3063956"/>
                </a:lnTo>
                <a:lnTo>
                  <a:pt x="6047873" y="3063979"/>
                </a:lnTo>
                <a:lnTo>
                  <a:pt x="6063915" y="3064002"/>
                </a:lnTo>
                <a:lnTo>
                  <a:pt x="6079957" y="3064024"/>
                </a:lnTo>
                <a:lnTo>
                  <a:pt x="6095999" y="3064046"/>
                </a:lnTo>
                <a:lnTo>
                  <a:pt x="6112042" y="3064066"/>
                </a:lnTo>
                <a:lnTo>
                  <a:pt x="6128084" y="3064087"/>
                </a:lnTo>
                <a:lnTo>
                  <a:pt x="6144126" y="3064106"/>
                </a:lnTo>
                <a:lnTo>
                  <a:pt x="6160168" y="3064125"/>
                </a:lnTo>
                <a:lnTo>
                  <a:pt x="6176210" y="3064144"/>
                </a:lnTo>
                <a:lnTo>
                  <a:pt x="6192252" y="3064162"/>
                </a:lnTo>
                <a:lnTo>
                  <a:pt x="6208294" y="3064179"/>
                </a:lnTo>
                <a:lnTo>
                  <a:pt x="6224336" y="3064196"/>
                </a:lnTo>
                <a:lnTo>
                  <a:pt x="6240378" y="3064212"/>
                </a:lnTo>
                <a:lnTo>
                  <a:pt x="6256421" y="3064228"/>
                </a:lnTo>
                <a:lnTo>
                  <a:pt x="6272463" y="3064244"/>
                </a:lnTo>
                <a:lnTo>
                  <a:pt x="6288505" y="3064258"/>
                </a:lnTo>
                <a:lnTo>
                  <a:pt x="6304547" y="3064273"/>
                </a:lnTo>
                <a:lnTo>
                  <a:pt x="6320589" y="3064287"/>
                </a:lnTo>
                <a:lnTo>
                  <a:pt x="6336631" y="3064301"/>
                </a:lnTo>
                <a:lnTo>
                  <a:pt x="6352673" y="3064314"/>
                </a:lnTo>
                <a:lnTo>
                  <a:pt x="6368715" y="3064327"/>
                </a:lnTo>
                <a:lnTo>
                  <a:pt x="6384757" y="3064339"/>
                </a:lnTo>
                <a:lnTo>
                  <a:pt x="6400800" y="3064351"/>
                </a:lnTo>
                <a:lnTo>
                  <a:pt x="6400800" y="3064749"/>
                </a:lnTo>
                <a:lnTo>
                  <a:pt x="6384757" y="3064749"/>
                </a:lnTo>
                <a:lnTo>
                  <a:pt x="6368715" y="3064749"/>
                </a:lnTo>
                <a:lnTo>
                  <a:pt x="6352673" y="3064749"/>
                </a:lnTo>
                <a:lnTo>
                  <a:pt x="6336631" y="3064749"/>
                </a:lnTo>
                <a:lnTo>
                  <a:pt x="6320589" y="3064749"/>
                </a:lnTo>
                <a:lnTo>
                  <a:pt x="6304547" y="3064749"/>
                </a:lnTo>
                <a:lnTo>
                  <a:pt x="6288505" y="3064749"/>
                </a:lnTo>
                <a:lnTo>
                  <a:pt x="6272463" y="3064749"/>
                </a:lnTo>
                <a:lnTo>
                  <a:pt x="6256421" y="3064749"/>
                </a:lnTo>
                <a:lnTo>
                  <a:pt x="6240378" y="3064749"/>
                </a:lnTo>
                <a:lnTo>
                  <a:pt x="6224336" y="3064749"/>
                </a:lnTo>
                <a:lnTo>
                  <a:pt x="6208294" y="3064749"/>
                </a:lnTo>
                <a:lnTo>
                  <a:pt x="6192252" y="3064749"/>
                </a:lnTo>
                <a:lnTo>
                  <a:pt x="6176210" y="3064749"/>
                </a:lnTo>
                <a:lnTo>
                  <a:pt x="6160168" y="3064749"/>
                </a:lnTo>
                <a:lnTo>
                  <a:pt x="6144126" y="3064749"/>
                </a:lnTo>
                <a:lnTo>
                  <a:pt x="6128084" y="3064749"/>
                </a:lnTo>
                <a:lnTo>
                  <a:pt x="6112042" y="3064749"/>
                </a:lnTo>
                <a:lnTo>
                  <a:pt x="6095999" y="3064749"/>
                </a:lnTo>
                <a:lnTo>
                  <a:pt x="6079957" y="3064749"/>
                </a:lnTo>
                <a:lnTo>
                  <a:pt x="6063915" y="3064749"/>
                </a:lnTo>
                <a:lnTo>
                  <a:pt x="6047873" y="3064749"/>
                </a:lnTo>
                <a:lnTo>
                  <a:pt x="6031831" y="3064749"/>
                </a:lnTo>
                <a:lnTo>
                  <a:pt x="6015789" y="3064749"/>
                </a:lnTo>
                <a:lnTo>
                  <a:pt x="5999747" y="3064749"/>
                </a:lnTo>
                <a:lnTo>
                  <a:pt x="5983705" y="3064749"/>
                </a:lnTo>
                <a:lnTo>
                  <a:pt x="5967663" y="3064749"/>
                </a:lnTo>
                <a:lnTo>
                  <a:pt x="5951621" y="3064749"/>
                </a:lnTo>
                <a:lnTo>
                  <a:pt x="5935578" y="3064749"/>
                </a:lnTo>
                <a:lnTo>
                  <a:pt x="5919536" y="3064749"/>
                </a:lnTo>
                <a:lnTo>
                  <a:pt x="5903494" y="3064749"/>
                </a:lnTo>
                <a:lnTo>
                  <a:pt x="5887452" y="3064749"/>
                </a:lnTo>
                <a:lnTo>
                  <a:pt x="5871410" y="3064749"/>
                </a:lnTo>
                <a:lnTo>
                  <a:pt x="5855368" y="3064749"/>
                </a:lnTo>
                <a:lnTo>
                  <a:pt x="5839326" y="3064749"/>
                </a:lnTo>
                <a:lnTo>
                  <a:pt x="5823284" y="3064749"/>
                </a:lnTo>
                <a:lnTo>
                  <a:pt x="5807242" y="3064749"/>
                </a:lnTo>
                <a:lnTo>
                  <a:pt x="5791199" y="3064749"/>
                </a:lnTo>
                <a:lnTo>
                  <a:pt x="5775157" y="3064749"/>
                </a:lnTo>
                <a:lnTo>
                  <a:pt x="5759115" y="3064749"/>
                </a:lnTo>
                <a:lnTo>
                  <a:pt x="5743073" y="3064749"/>
                </a:lnTo>
                <a:lnTo>
                  <a:pt x="5727031" y="3064749"/>
                </a:lnTo>
                <a:lnTo>
                  <a:pt x="5710989" y="3064749"/>
                </a:lnTo>
                <a:lnTo>
                  <a:pt x="5694947" y="3064749"/>
                </a:lnTo>
                <a:lnTo>
                  <a:pt x="5678905" y="3064749"/>
                </a:lnTo>
                <a:lnTo>
                  <a:pt x="5662863" y="3064749"/>
                </a:lnTo>
                <a:lnTo>
                  <a:pt x="5646821" y="3064749"/>
                </a:lnTo>
                <a:lnTo>
                  <a:pt x="5630778" y="3064749"/>
                </a:lnTo>
                <a:lnTo>
                  <a:pt x="5614736" y="3064749"/>
                </a:lnTo>
                <a:lnTo>
                  <a:pt x="5598694" y="3064749"/>
                </a:lnTo>
                <a:lnTo>
                  <a:pt x="5582652" y="3064749"/>
                </a:lnTo>
                <a:lnTo>
                  <a:pt x="5566610" y="3064749"/>
                </a:lnTo>
                <a:lnTo>
                  <a:pt x="5550568" y="3064749"/>
                </a:lnTo>
                <a:lnTo>
                  <a:pt x="5534526" y="3064749"/>
                </a:lnTo>
                <a:lnTo>
                  <a:pt x="5518484" y="3064749"/>
                </a:lnTo>
                <a:lnTo>
                  <a:pt x="5502442" y="3064749"/>
                </a:lnTo>
                <a:lnTo>
                  <a:pt x="5486400" y="3064749"/>
                </a:lnTo>
                <a:lnTo>
                  <a:pt x="5470357" y="3064749"/>
                </a:lnTo>
                <a:lnTo>
                  <a:pt x="5454315" y="3064749"/>
                </a:lnTo>
                <a:lnTo>
                  <a:pt x="5438273" y="3064749"/>
                </a:lnTo>
                <a:lnTo>
                  <a:pt x="5422231" y="3064749"/>
                </a:lnTo>
                <a:lnTo>
                  <a:pt x="5406189" y="3064749"/>
                </a:lnTo>
                <a:lnTo>
                  <a:pt x="5390147" y="3064749"/>
                </a:lnTo>
                <a:lnTo>
                  <a:pt x="5374105" y="3064749"/>
                </a:lnTo>
                <a:lnTo>
                  <a:pt x="5358063" y="3064749"/>
                </a:lnTo>
                <a:lnTo>
                  <a:pt x="5342021" y="3064749"/>
                </a:lnTo>
                <a:lnTo>
                  <a:pt x="5325978" y="3064749"/>
                </a:lnTo>
                <a:lnTo>
                  <a:pt x="5309936" y="3064749"/>
                </a:lnTo>
                <a:lnTo>
                  <a:pt x="5293894" y="3064749"/>
                </a:lnTo>
                <a:lnTo>
                  <a:pt x="5277852" y="3064749"/>
                </a:lnTo>
                <a:lnTo>
                  <a:pt x="5261810" y="3064749"/>
                </a:lnTo>
                <a:lnTo>
                  <a:pt x="5245768" y="3064749"/>
                </a:lnTo>
                <a:lnTo>
                  <a:pt x="5229726" y="3064749"/>
                </a:lnTo>
                <a:lnTo>
                  <a:pt x="5213684" y="3064749"/>
                </a:lnTo>
                <a:lnTo>
                  <a:pt x="5197642" y="3064749"/>
                </a:lnTo>
                <a:lnTo>
                  <a:pt x="5181600" y="3064749"/>
                </a:lnTo>
                <a:lnTo>
                  <a:pt x="5165557" y="3064749"/>
                </a:lnTo>
                <a:lnTo>
                  <a:pt x="5149515" y="3064749"/>
                </a:lnTo>
                <a:lnTo>
                  <a:pt x="5133473" y="3064749"/>
                </a:lnTo>
                <a:lnTo>
                  <a:pt x="5117431" y="3064749"/>
                </a:lnTo>
                <a:lnTo>
                  <a:pt x="5101389" y="3064749"/>
                </a:lnTo>
                <a:lnTo>
                  <a:pt x="5085347" y="3064749"/>
                </a:lnTo>
                <a:lnTo>
                  <a:pt x="5069305" y="3064749"/>
                </a:lnTo>
                <a:lnTo>
                  <a:pt x="5053263" y="3064749"/>
                </a:lnTo>
                <a:lnTo>
                  <a:pt x="5037221" y="3064749"/>
                </a:lnTo>
                <a:lnTo>
                  <a:pt x="5021178" y="3064749"/>
                </a:lnTo>
                <a:lnTo>
                  <a:pt x="5005136" y="3064749"/>
                </a:lnTo>
                <a:lnTo>
                  <a:pt x="4989094" y="3064749"/>
                </a:lnTo>
                <a:lnTo>
                  <a:pt x="4973052" y="3064749"/>
                </a:lnTo>
                <a:lnTo>
                  <a:pt x="4957010" y="3064749"/>
                </a:lnTo>
                <a:lnTo>
                  <a:pt x="4940968" y="3064749"/>
                </a:lnTo>
                <a:lnTo>
                  <a:pt x="4924926" y="3064749"/>
                </a:lnTo>
                <a:lnTo>
                  <a:pt x="4908884" y="3064749"/>
                </a:lnTo>
                <a:lnTo>
                  <a:pt x="4892842" y="3064749"/>
                </a:lnTo>
                <a:lnTo>
                  <a:pt x="4876800" y="3064749"/>
                </a:lnTo>
                <a:lnTo>
                  <a:pt x="4860757" y="3064749"/>
                </a:lnTo>
                <a:lnTo>
                  <a:pt x="4844715" y="3064749"/>
                </a:lnTo>
                <a:lnTo>
                  <a:pt x="4828673" y="3064749"/>
                </a:lnTo>
                <a:lnTo>
                  <a:pt x="4812631" y="3064749"/>
                </a:lnTo>
                <a:lnTo>
                  <a:pt x="4796589" y="3064749"/>
                </a:lnTo>
                <a:lnTo>
                  <a:pt x="4780547" y="3064749"/>
                </a:lnTo>
                <a:lnTo>
                  <a:pt x="4764505" y="3064749"/>
                </a:lnTo>
                <a:lnTo>
                  <a:pt x="4748463" y="3064749"/>
                </a:lnTo>
                <a:lnTo>
                  <a:pt x="4732421" y="3064749"/>
                </a:lnTo>
                <a:lnTo>
                  <a:pt x="4716378" y="3064749"/>
                </a:lnTo>
                <a:lnTo>
                  <a:pt x="4700336" y="3064749"/>
                </a:lnTo>
                <a:lnTo>
                  <a:pt x="4684294" y="3064749"/>
                </a:lnTo>
                <a:lnTo>
                  <a:pt x="4668252" y="3064749"/>
                </a:lnTo>
                <a:lnTo>
                  <a:pt x="4652210" y="3064749"/>
                </a:lnTo>
                <a:lnTo>
                  <a:pt x="4636168" y="3064749"/>
                </a:lnTo>
                <a:lnTo>
                  <a:pt x="4620126" y="3064749"/>
                </a:lnTo>
                <a:lnTo>
                  <a:pt x="4604084" y="3064749"/>
                </a:lnTo>
                <a:lnTo>
                  <a:pt x="4588042" y="3064749"/>
                </a:lnTo>
                <a:lnTo>
                  <a:pt x="4571999" y="3064749"/>
                </a:lnTo>
                <a:lnTo>
                  <a:pt x="4555957" y="3064749"/>
                </a:lnTo>
                <a:lnTo>
                  <a:pt x="4539915" y="3064749"/>
                </a:lnTo>
                <a:lnTo>
                  <a:pt x="4523873" y="3064749"/>
                </a:lnTo>
                <a:lnTo>
                  <a:pt x="4507831" y="3064749"/>
                </a:lnTo>
                <a:lnTo>
                  <a:pt x="4491789" y="3064749"/>
                </a:lnTo>
                <a:lnTo>
                  <a:pt x="4475747" y="3064749"/>
                </a:lnTo>
                <a:lnTo>
                  <a:pt x="4459705" y="3064749"/>
                </a:lnTo>
                <a:lnTo>
                  <a:pt x="4443663" y="3064749"/>
                </a:lnTo>
                <a:lnTo>
                  <a:pt x="4427621" y="3064749"/>
                </a:lnTo>
                <a:lnTo>
                  <a:pt x="4411578" y="3064749"/>
                </a:lnTo>
                <a:lnTo>
                  <a:pt x="4395536" y="3064749"/>
                </a:lnTo>
                <a:lnTo>
                  <a:pt x="4379494" y="3064749"/>
                </a:lnTo>
                <a:lnTo>
                  <a:pt x="4363452" y="3064749"/>
                </a:lnTo>
                <a:lnTo>
                  <a:pt x="4347410" y="3064749"/>
                </a:lnTo>
                <a:lnTo>
                  <a:pt x="4331368" y="3064749"/>
                </a:lnTo>
                <a:lnTo>
                  <a:pt x="4315326" y="3064749"/>
                </a:lnTo>
                <a:lnTo>
                  <a:pt x="4299284" y="3064749"/>
                </a:lnTo>
                <a:lnTo>
                  <a:pt x="4283242" y="3064749"/>
                </a:lnTo>
                <a:lnTo>
                  <a:pt x="4267199" y="3064749"/>
                </a:lnTo>
                <a:lnTo>
                  <a:pt x="4251157" y="3064749"/>
                </a:lnTo>
                <a:lnTo>
                  <a:pt x="4235115" y="3064749"/>
                </a:lnTo>
                <a:lnTo>
                  <a:pt x="4219073" y="3064749"/>
                </a:lnTo>
                <a:lnTo>
                  <a:pt x="4203031" y="3064749"/>
                </a:lnTo>
                <a:lnTo>
                  <a:pt x="4186989" y="3064749"/>
                </a:lnTo>
                <a:lnTo>
                  <a:pt x="4170947" y="3064749"/>
                </a:lnTo>
                <a:lnTo>
                  <a:pt x="4154905" y="3064749"/>
                </a:lnTo>
                <a:lnTo>
                  <a:pt x="4138863" y="3064749"/>
                </a:lnTo>
                <a:lnTo>
                  <a:pt x="4122821" y="3064749"/>
                </a:lnTo>
                <a:lnTo>
                  <a:pt x="4106778" y="3064749"/>
                </a:lnTo>
                <a:lnTo>
                  <a:pt x="4090736" y="3064749"/>
                </a:lnTo>
                <a:lnTo>
                  <a:pt x="4074694" y="3064749"/>
                </a:lnTo>
                <a:lnTo>
                  <a:pt x="4058652" y="3064749"/>
                </a:lnTo>
                <a:lnTo>
                  <a:pt x="4042610" y="3064749"/>
                </a:lnTo>
                <a:lnTo>
                  <a:pt x="4026568" y="3064749"/>
                </a:lnTo>
                <a:lnTo>
                  <a:pt x="4010526" y="3064749"/>
                </a:lnTo>
                <a:lnTo>
                  <a:pt x="3994484" y="3064749"/>
                </a:lnTo>
                <a:lnTo>
                  <a:pt x="3978442" y="3064749"/>
                </a:lnTo>
                <a:lnTo>
                  <a:pt x="3962400" y="3064749"/>
                </a:lnTo>
                <a:lnTo>
                  <a:pt x="3946357" y="3064749"/>
                </a:lnTo>
                <a:lnTo>
                  <a:pt x="3930315" y="3064749"/>
                </a:lnTo>
                <a:lnTo>
                  <a:pt x="3914273" y="3064749"/>
                </a:lnTo>
                <a:lnTo>
                  <a:pt x="3898231" y="3064749"/>
                </a:lnTo>
                <a:lnTo>
                  <a:pt x="3882189" y="3064749"/>
                </a:lnTo>
                <a:lnTo>
                  <a:pt x="3866147" y="3064749"/>
                </a:lnTo>
                <a:lnTo>
                  <a:pt x="3850105" y="3064749"/>
                </a:lnTo>
                <a:lnTo>
                  <a:pt x="3834063" y="3064749"/>
                </a:lnTo>
                <a:lnTo>
                  <a:pt x="3818021" y="3064749"/>
                </a:lnTo>
                <a:lnTo>
                  <a:pt x="3801978" y="3064749"/>
                </a:lnTo>
                <a:lnTo>
                  <a:pt x="3785936" y="3064749"/>
                </a:lnTo>
                <a:lnTo>
                  <a:pt x="3769894" y="3064749"/>
                </a:lnTo>
                <a:lnTo>
                  <a:pt x="3753852" y="3064749"/>
                </a:lnTo>
                <a:lnTo>
                  <a:pt x="3737810" y="3064749"/>
                </a:lnTo>
                <a:lnTo>
                  <a:pt x="3721768" y="3064749"/>
                </a:lnTo>
                <a:lnTo>
                  <a:pt x="3705726" y="3064749"/>
                </a:lnTo>
                <a:lnTo>
                  <a:pt x="3689684" y="3064749"/>
                </a:lnTo>
                <a:lnTo>
                  <a:pt x="3673642" y="3064749"/>
                </a:lnTo>
                <a:lnTo>
                  <a:pt x="3657600" y="3064749"/>
                </a:lnTo>
                <a:lnTo>
                  <a:pt x="3641557" y="3064749"/>
                </a:lnTo>
                <a:lnTo>
                  <a:pt x="3625515" y="3064749"/>
                </a:lnTo>
                <a:lnTo>
                  <a:pt x="3609473" y="3064749"/>
                </a:lnTo>
                <a:lnTo>
                  <a:pt x="3593431" y="3064749"/>
                </a:lnTo>
                <a:lnTo>
                  <a:pt x="3577389" y="3064749"/>
                </a:lnTo>
                <a:lnTo>
                  <a:pt x="3561347" y="3064749"/>
                </a:lnTo>
                <a:lnTo>
                  <a:pt x="3545305" y="3064749"/>
                </a:lnTo>
                <a:lnTo>
                  <a:pt x="3529263" y="3064749"/>
                </a:lnTo>
                <a:lnTo>
                  <a:pt x="3513221" y="3064749"/>
                </a:lnTo>
                <a:lnTo>
                  <a:pt x="3497178" y="3064749"/>
                </a:lnTo>
                <a:lnTo>
                  <a:pt x="3481136" y="3064749"/>
                </a:lnTo>
                <a:lnTo>
                  <a:pt x="3465094" y="3064749"/>
                </a:lnTo>
                <a:lnTo>
                  <a:pt x="3449052" y="3064749"/>
                </a:lnTo>
                <a:lnTo>
                  <a:pt x="3433010" y="3064749"/>
                </a:lnTo>
                <a:lnTo>
                  <a:pt x="3416968" y="3064749"/>
                </a:lnTo>
                <a:lnTo>
                  <a:pt x="3400926" y="3064749"/>
                </a:lnTo>
                <a:lnTo>
                  <a:pt x="3384884" y="3064749"/>
                </a:lnTo>
                <a:lnTo>
                  <a:pt x="3368842" y="3064749"/>
                </a:lnTo>
                <a:lnTo>
                  <a:pt x="3352799" y="3064749"/>
                </a:lnTo>
                <a:lnTo>
                  <a:pt x="3336757" y="3064749"/>
                </a:lnTo>
                <a:lnTo>
                  <a:pt x="3320715" y="3064749"/>
                </a:lnTo>
                <a:lnTo>
                  <a:pt x="3304673" y="3064749"/>
                </a:lnTo>
                <a:lnTo>
                  <a:pt x="3288631" y="3064749"/>
                </a:lnTo>
                <a:lnTo>
                  <a:pt x="3272589" y="3064749"/>
                </a:lnTo>
                <a:lnTo>
                  <a:pt x="3256547" y="3064749"/>
                </a:lnTo>
                <a:lnTo>
                  <a:pt x="3240505" y="3064749"/>
                </a:lnTo>
                <a:lnTo>
                  <a:pt x="3224463" y="3064749"/>
                </a:lnTo>
                <a:lnTo>
                  <a:pt x="3208421" y="3064749"/>
                </a:lnTo>
                <a:lnTo>
                  <a:pt x="3192378" y="3064749"/>
                </a:lnTo>
                <a:lnTo>
                  <a:pt x="3176336" y="3064749"/>
                </a:lnTo>
                <a:lnTo>
                  <a:pt x="3160294" y="3064749"/>
                </a:lnTo>
                <a:lnTo>
                  <a:pt x="3144252" y="3064749"/>
                </a:lnTo>
                <a:lnTo>
                  <a:pt x="3128210" y="3064749"/>
                </a:lnTo>
                <a:lnTo>
                  <a:pt x="3112168" y="3064749"/>
                </a:lnTo>
                <a:lnTo>
                  <a:pt x="3096126" y="3064749"/>
                </a:lnTo>
                <a:lnTo>
                  <a:pt x="3080084" y="3064749"/>
                </a:lnTo>
                <a:lnTo>
                  <a:pt x="3064042" y="3064749"/>
                </a:lnTo>
                <a:lnTo>
                  <a:pt x="3047999" y="3064749"/>
                </a:lnTo>
                <a:lnTo>
                  <a:pt x="3031957" y="3064749"/>
                </a:lnTo>
                <a:lnTo>
                  <a:pt x="3015915" y="3064749"/>
                </a:lnTo>
                <a:lnTo>
                  <a:pt x="2999873" y="3064749"/>
                </a:lnTo>
                <a:lnTo>
                  <a:pt x="2983831" y="3064749"/>
                </a:lnTo>
                <a:lnTo>
                  <a:pt x="2967789" y="3064749"/>
                </a:lnTo>
                <a:lnTo>
                  <a:pt x="2951747" y="3064749"/>
                </a:lnTo>
                <a:lnTo>
                  <a:pt x="2935705" y="3064749"/>
                </a:lnTo>
                <a:lnTo>
                  <a:pt x="2919663" y="3064749"/>
                </a:lnTo>
                <a:lnTo>
                  <a:pt x="2903621" y="3064749"/>
                </a:lnTo>
                <a:lnTo>
                  <a:pt x="2887578" y="3064749"/>
                </a:lnTo>
                <a:lnTo>
                  <a:pt x="2871536" y="3064749"/>
                </a:lnTo>
                <a:lnTo>
                  <a:pt x="2855494" y="3064749"/>
                </a:lnTo>
                <a:lnTo>
                  <a:pt x="2839452" y="3064749"/>
                </a:lnTo>
                <a:lnTo>
                  <a:pt x="2823410" y="3064749"/>
                </a:lnTo>
                <a:lnTo>
                  <a:pt x="2807368" y="3064749"/>
                </a:lnTo>
                <a:lnTo>
                  <a:pt x="2791326" y="3064749"/>
                </a:lnTo>
                <a:lnTo>
                  <a:pt x="2775284" y="3064749"/>
                </a:lnTo>
                <a:lnTo>
                  <a:pt x="2759242" y="3064749"/>
                </a:lnTo>
                <a:lnTo>
                  <a:pt x="2743200" y="3064749"/>
                </a:lnTo>
                <a:lnTo>
                  <a:pt x="2727157" y="3064749"/>
                </a:lnTo>
                <a:lnTo>
                  <a:pt x="2711115" y="3064749"/>
                </a:lnTo>
                <a:lnTo>
                  <a:pt x="2695073" y="3064749"/>
                </a:lnTo>
                <a:lnTo>
                  <a:pt x="2679031" y="3064749"/>
                </a:lnTo>
                <a:lnTo>
                  <a:pt x="2662989" y="3064749"/>
                </a:lnTo>
                <a:lnTo>
                  <a:pt x="2646947" y="3064749"/>
                </a:lnTo>
                <a:lnTo>
                  <a:pt x="2630905" y="3064749"/>
                </a:lnTo>
                <a:lnTo>
                  <a:pt x="2614863" y="3064749"/>
                </a:lnTo>
                <a:lnTo>
                  <a:pt x="2598821" y="3064749"/>
                </a:lnTo>
                <a:lnTo>
                  <a:pt x="2582778" y="3064749"/>
                </a:lnTo>
                <a:lnTo>
                  <a:pt x="2566736" y="3064749"/>
                </a:lnTo>
                <a:lnTo>
                  <a:pt x="2550694" y="3064749"/>
                </a:lnTo>
                <a:lnTo>
                  <a:pt x="2534652" y="3064749"/>
                </a:lnTo>
                <a:lnTo>
                  <a:pt x="2518610" y="3064749"/>
                </a:lnTo>
                <a:lnTo>
                  <a:pt x="2502568" y="3064749"/>
                </a:lnTo>
                <a:lnTo>
                  <a:pt x="2486526" y="3064749"/>
                </a:lnTo>
                <a:lnTo>
                  <a:pt x="2470484" y="3064749"/>
                </a:lnTo>
                <a:lnTo>
                  <a:pt x="2454442" y="3064749"/>
                </a:lnTo>
                <a:lnTo>
                  <a:pt x="2438400" y="3064749"/>
                </a:lnTo>
                <a:lnTo>
                  <a:pt x="2422357" y="3064749"/>
                </a:lnTo>
                <a:lnTo>
                  <a:pt x="2406315" y="3064749"/>
                </a:lnTo>
                <a:lnTo>
                  <a:pt x="2390273" y="3064749"/>
                </a:lnTo>
                <a:lnTo>
                  <a:pt x="2374231" y="3064749"/>
                </a:lnTo>
                <a:lnTo>
                  <a:pt x="2358189" y="3064749"/>
                </a:lnTo>
                <a:lnTo>
                  <a:pt x="2342147" y="3064749"/>
                </a:lnTo>
                <a:lnTo>
                  <a:pt x="2326105" y="3064749"/>
                </a:lnTo>
                <a:lnTo>
                  <a:pt x="2310063" y="3064749"/>
                </a:lnTo>
                <a:lnTo>
                  <a:pt x="2294021" y="3064749"/>
                </a:lnTo>
                <a:lnTo>
                  <a:pt x="2277978" y="3064749"/>
                </a:lnTo>
                <a:lnTo>
                  <a:pt x="2261936" y="3064749"/>
                </a:lnTo>
                <a:lnTo>
                  <a:pt x="2245894" y="3064749"/>
                </a:lnTo>
                <a:lnTo>
                  <a:pt x="2229852" y="3064749"/>
                </a:lnTo>
                <a:lnTo>
                  <a:pt x="2213810" y="3064749"/>
                </a:lnTo>
                <a:lnTo>
                  <a:pt x="2197768" y="3064749"/>
                </a:lnTo>
                <a:lnTo>
                  <a:pt x="2181726" y="3064749"/>
                </a:lnTo>
                <a:lnTo>
                  <a:pt x="2165684" y="3064749"/>
                </a:lnTo>
                <a:lnTo>
                  <a:pt x="2149642" y="3064749"/>
                </a:lnTo>
                <a:lnTo>
                  <a:pt x="2133599" y="3064749"/>
                </a:lnTo>
                <a:lnTo>
                  <a:pt x="2117557" y="3064749"/>
                </a:lnTo>
                <a:lnTo>
                  <a:pt x="2101515" y="3064749"/>
                </a:lnTo>
                <a:lnTo>
                  <a:pt x="2085473" y="3064749"/>
                </a:lnTo>
                <a:lnTo>
                  <a:pt x="2069431" y="3064749"/>
                </a:lnTo>
                <a:lnTo>
                  <a:pt x="2053389" y="3064749"/>
                </a:lnTo>
                <a:lnTo>
                  <a:pt x="2037347" y="3064749"/>
                </a:lnTo>
                <a:lnTo>
                  <a:pt x="2021305" y="3064749"/>
                </a:lnTo>
                <a:lnTo>
                  <a:pt x="2005263" y="3064749"/>
                </a:lnTo>
                <a:lnTo>
                  <a:pt x="1989221" y="3064749"/>
                </a:lnTo>
                <a:lnTo>
                  <a:pt x="1973178" y="3064749"/>
                </a:lnTo>
                <a:lnTo>
                  <a:pt x="1957136" y="3064749"/>
                </a:lnTo>
                <a:lnTo>
                  <a:pt x="1941094" y="3064749"/>
                </a:lnTo>
                <a:lnTo>
                  <a:pt x="1925052" y="3064749"/>
                </a:lnTo>
                <a:lnTo>
                  <a:pt x="1909010" y="3064749"/>
                </a:lnTo>
                <a:lnTo>
                  <a:pt x="1892968" y="3064749"/>
                </a:lnTo>
                <a:lnTo>
                  <a:pt x="1876926" y="3064749"/>
                </a:lnTo>
                <a:lnTo>
                  <a:pt x="1860884" y="3064749"/>
                </a:lnTo>
                <a:lnTo>
                  <a:pt x="1844842" y="3064749"/>
                </a:lnTo>
                <a:lnTo>
                  <a:pt x="1828800" y="3064749"/>
                </a:lnTo>
                <a:lnTo>
                  <a:pt x="1812757" y="3064749"/>
                </a:lnTo>
                <a:lnTo>
                  <a:pt x="1796715" y="3064749"/>
                </a:lnTo>
                <a:lnTo>
                  <a:pt x="1780673" y="3064749"/>
                </a:lnTo>
                <a:lnTo>
                  <a:pt x="1764631" y="3064749"/>
                </a:lnTo>
                <a:lnTo>
                  <a:pt x="1748589" y="3064749"/>
                </a:lnTo>
                <a:lnTo>
                  <a:pt x="1732547" y="3064749"/>
                </a:lnTo>
                <a:lnTo>
                  <a:pt x="1716505" y="3064749"/>
                </a:lnTo>
                <a:lnTo>
                  <a:pt x="1700463" y="3064749"/>
                </a:lnTo>
                <a:lnTo>
                  <a:pt x="1684421" y="3064749"/>
                </a:lnTo>
                <a:lnTo>
                  <a:pt x="1668378" y="3064749"/>
                </a:lnTo>
                <a:lnTo>
                  <a:pt x="1652336" y="3064749"/>
                </a:lnTo>
                <a:lnTo>
                  <a:pt x="1636294" y="3064749"/>
                </a:lnTo>
                <a:lnTo>
                  <a:pt x="1620252" y="3064749"/>
                </a:lnTo>
                <a:lnTo>
                  <a:pt x="1604210" y="3064749"/>
                </a:lnTo>
                <a:lnTo>
                  <a:pt x="1588168" y="3064749"/>
                </a:lnTo>
                <a:lnTo>
                  <a:pt x="1572126" y="3064749"/>
                </a:lnTo>
                <a:lnTo>
                  <a:pt x="1556084" y="3064749"/>
                </a:lnTo>
                <a:lnTo>
                  <a:pt x="1540042" y="3064749"/>
                </a:lnTo>
                <a:lnTo>
                  <a:pt x="1524000" y="3064749"/>
                </a:lnTo>
                <a:lnTo>
                  <a:pt x="1507957" y="3064749"/>
                </a:lnTo>
                <a:lnTo>
                  <a:pt x="1491915" y="3064749"/>
                </a:lnTo>
                <a:lnTo>
                  <a:pt x="1475873" y="3064749"/>
                </a:lnTo>
                <a:lnTo>
                  <a:pt x="1459831" y="3064749"/>
                </a:lnTo>
                <a:lnTo>
                  <a:pt x="1443789" y="3064749"/>
                </a:lnTo>
                <a:lnTo>
                  <a:pt x="1427747" y="3064749"/>
                </a:lnTo>
                <a:lnTo>
                  <a:pt x="1411705" y="3064749"/>
                </a:lnTo>
                <a:lnTo>
                  <a:pt x="1395663" y="3064749"/>
                </a:lnTo>
                <a:lnTo>
                  <a:pt x="1379621" y="3064749"/>
                </a:lnTo>
                <a:lnTo>
                  <a:pt x="1363578" y="3064749"/>
                </a:lnTo>
                <a:lnTo>
                  <a:pt x="1347536" y="3064749"/>
                </a:lnTo>
                <a:lnTo>
                  <a:pt x="1331494" y="3064749"/>
                </a:lnTo>
                <a:lnTo>
                  <a:pt x="1315452" y="3064749"/>
                </a:lnTo>
                <a:lnTo>
                  <a:pt x="1299410" y="3064749"/>
                </a:lnTo>
                <a:lnTo>
                  <a:pt x="1283368" y="3064749"/>
                </a:lnTo>
                <a:lnTo>
                  <a:pt x="1267326" y="3064749"/>
                </a:lnTo>
                <a:lnTo>
                  <a:pt x="1251284" y="3064749"/>
                </a:lnTo>
                <a:lnTo>
                  <a:pt x="1235242" y="3064749"/>
                </a:lnTo>
                <a:lnTo>
                  <a:pt x="1219199" y="3064749"/>
                </a:lnTo>
                <a:lnTo>
                  <a:pt x="1203157" y="3064749"/>
                </a:lnTo>
                <a:lnTo>
                  <a:pt x="1187115" y="3064749"/>
                </a:lnTo>
                <a:lnTo>
                  <a:pt x="1171073" y="3064749"/>
                </a:lnTo>
                <a:lnTo>
                  <a:pt x="1155031" y="3064749"/>
                </a:lnTo>
                <a:lnTo>
                  <a:pt x="1138989" y="3064749"/>
                </a:lnTo>
                <a:lnTo>
                  <a:pt x="1122947" y="3064749"/>
                </a:lnTo>
                <a:lnTo>
                  <a:pt x="1106905" y="3064749"/>
                </a:lnTo>
                <a:lnTo>
                  <a:pt x="1090863" y="3064749"/>
                </a:lnTo>
                <a:lnTo>
                  <a:pt x="1074821" y="3064749"/>
                </a:lnTo>
                <a:lnTo>
                  <a:pt x="1058778" y="3064749"/>
                </a:lnTo>
                <a:lnTo>
                  <a:pt x="1042736" y="3064749"/>
                </a:lnTo>
                <a:lnTo>
                  <a:pt x="1026694" y="3064749"/>
                </a:lnTo>
                <a:lnTo>
                  <a:pt x="1010652" y="3064749"/>
                </a:lnTo>
                <a:lnTo>
                  <a:pt x="994610" y="3064749"/>
                </a:lnTo>
                <a:lnTo>
                  <a:pt x="978568" y="3064749"/>
                </a:lnTo>
                <a:lnTo>
                  <a:pt x="962526" y="3064749"/>
                </a:lnTo>
                <a:lnTo>
                  <a:pt x="946484" y="3064749"/>
                </a:lnTo>
                <a:lnTo>
                  <a:pt x="930442" y="3064749"/>
                </a:lnTo>
                <a:lnTo>
                  <a:pt x="914400" y="3064749"/>
                </a:lnTo>
                <a:lnTo>
                  <a:pt x="898357" y="3064749"/>
                </a:lnTo>
                <a:lnTo>
                  <a:pt x="882315" y="3064749"/>
                </a:lnTo>
                <a:lnTo>
                  <a:pt x="866273" y="3064749"/>
                </a:lnTo>
                <a:lnTo>
                  <a:pt x="850231" y="3064749"/>
                </a:lnTo>
                <a:lnTo>
                  <a:pt x="834189" y="3064749"/>
                </a:lnTo>
                <a:lnTo>
                  <a:pt x="818147" y="3064749"/>
                </a:lnTo>
                <a:lnTo>
                  <a:pt x="802105" y="3064749"/>
                </a:lnTo>
                <a:lnTo>
                  <a:pt x="786063" y="3064749"/>
                </a:lnTo>
                <a:lnTo>
                  <a:pt x="770021" y="3064749"/>
                </a:lnTo>
                <a:lnTo>
                  <a:pt x="753978" y="3064749"/>
                </a:lnTo>
                <a:lnTo>
                  <a:pt x="737936" y="3064749"/>
                </a:lnTo>
                <a:lnTo>
                  <a:pt x="721894" y="3064749"/>
                </a:lnTo>
                <a:lnTo>
                  <a:pt x="705852" y="3064749"/>
                </a:lnTo>
                <a:lnTo>
                  <a:pt x="689810" y="3064749"/>
                </a:lnTo>
                <a:lnTo>
                  <a:pt x="673768" y="3064749"/>
                </a:lnTo>
                <a:lnTo>
                  <a:pt x="657726" y="3064749"/>
                </a:lnTo>
                <a:lnTo>
                  <a:pt x="641684" y="3064749"/>
                </a:lnTo>
                <a:lnTo>
                  <a:pt x="625642" y="3064749"/>
                </a:lnTo>
                <a:lnTo>
                  <a:pt x="609599" y="3064749"/>
                </a:lnTo>
                <a:lnTo>
                  <a:pt x="593557" y="3064749"/>
                </a:lnTo>
                <a:lnTo>
                  <a:pt x="577515" y="3064749"/>
                </a:lnTo>
                <a:lnTo>
                  <a:pt x="561473" y="3064749"/>
                </a:lnTo>
                <a:lnTo>
                  <a:pt x="545431" y="3064749"/>
                </a:lnTo>
                <a:lnTo>
                  <a:pt x="529389" y="3064749"/>
                </a:lnTo>
                <a:lnTo>
                  <a:pt x="513347" y="3064749"/>
                </a:lnTo>
                <a:lnTo>
                  <a:pt x="497305" y="3064749"/>
                </a:lnTo>
                <a:lnTo>
                  <a:pt x="481263" y="3064749"/>
                </a:lnTo>
                <a:lnTo>
                  <a:pt x="465221" y="3064749"/>
                </a:lnTo>
                <a:lnTo>
                  <a:pt x="449178" y="3064749"/>
                </a:lnTo>
                <a:lnTo>
                  <a:pt x="433136" y="3064749"/>
                </a:lnTo>
                <a:lnTo>
                  <a:pt x="417094" y="3064749"/>
                </a:lnTo>
                <a:lnTo>
                  <a:pt x="401052" y="3064749"/>
                </a:lnTo>
                <a:lnTo>
                  <a:pt x="385010" y="3064749"/>
                </a:lnTo>
                <a:lnTo>
                  <a:pt x="368968" y="3064749"/>
                </a:lnTo>
                <a:lnTo>
                  <a:pt x="352926" y="3064749"/>
                </a:lnTo>
                <a:lnTo>
                  <a:pt x="336884" y="3064749"/>
                </a:lnTo>
                <a:lnTo>
                  <a:pt x="320842" y="3064749"/>
                </a:lnTo>
                <a:lnTo>
                  <a:pt x="304800" y="3064749"/>
                </a:lnTo>
                <a:lnTo>
                  <a:pt x="288757" y="3064749"/>
                </a:lnTo>
                <a:lnTo>
                  <a:pt x="272715" y="3064749"/>
                </a:lnTo>
                <a:lnTo>
                  <a:pt x="256673" y="3064749"/>
                </a:lnTo>
                <a:lnTo>
                  <a:pt x="240631" y="3064749"/>
                </a:lnTo>
                <a:lnTo>
                  <a:pt x="224589" y="3064749"/>
                </a:lnTo>
                <a:lnTo>
                  <a:pt x="208547" y="3064749"/>
                </a:lnTo>
                <a:lnTo>
                  <a:pt x="192505" y="3064749"/>
                </a:lnTo>
                <a:lnTo>
                  <a:pt x="176463" y="3064749"/>
                </a:lnTo>
                <a:lnTo>
                  <a:pt x="160421" y="3064749"/>
                </a:lnTo>
                <a:lnTo>
                  <a:pt x="144378" y="3064749"/>
                </a:lnTo>
                <a:lnTo>
                  <a:pt x="128336" y="3064749"/>
                </a:lnTo>
                <a:lnTo>
                  <a:pt x="112294" y="3064749"/>
                </a:lnTo>
                <a:lnTo>
                  <a:pt x="96252" y="3064749"/>
                </a:lnTo>
                <a:lnTo>
                  <a:pt x="80210" y="3064749"/>
                </a:lnTo>
                <a:lnTo>
                  <a:pt x="64168" y="3064749"/>
                </a:lnTo>
                <a:lnTo>
                  <a:pt x="48126" y="3064749"/>
                </a:lnTo>
                <a:lnTo>
                  <a:pt x="32084" y="3064749"/>
                </a:lnTo>
                <a:lnTo>
                  <a:pt x="16042" y="3064749"/>
                </a:lnTo>
                <a:lnTo>
                  <a:pt x="0" y="3064749"/>
                </a:lnTo>
                <a:close/>
              </a:path>
            </a:pathLst>
          </a:custGeom>
          <a:solidFill>
            <a:srgbClr val="7FC8F8">
              <a:alpha val="55000"/>
            </a:srgbClr>
          </a:solidFill>
          <a:ln w="10160">
            <a:solidFill>
              <a:srgbClr val="7FC8F8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2-E18 polygon 34" descr="sci-ppt:o034"/>
          <p:cNvSpPr/>
          <p:nvPr/>
        </p:nvSpPr>
        <p:spPr>
          <a:xfrm>
            <a:off x="914400" y="1642533"/>
            <a:ext cx="6400800" cy="3386269"/>
          </a:xfrm>
          <a:custGeom>
            <a:avLst/>
            <a:gdLst/>
            <a:ahLst/>
            <a:cxnLst/>
            <a:rect l="l" t="t" r="r" b="b"/>
            <a:pathLst>
              <a:path w="6400800" h="3386269">
                <a:moveTo>
                  <a:pt x="0" y="0"/>
                </a:moveTo>
                <a:lnTo>
                  <a:pt x="16042" y="261"/>
                </a:lnTo>
                <a:lnTo>
                  <a:pt x="32084" y="527"/>
                </a:lnTo>
                <a:lnTo>
                  <a:pt x="48126" y="799"/>
                </a:lnTo>
                <a:lnTo>
                  <a:pt x="64168" y="1077"/>
                </a:lnTo>
                <a:lnTo>
                  <a:pt x="80210" y="1362"/>
                </a:lnTo>
                <a:lnTo>
                  <a:pt x="96252" y="1653"/>
                </a:lnTo>
                <a:lnTo>
                  <a:pt x="112294" y="1950"/>
                </a:lnTo>
                <a:lnTo>
                  <a:pt x="128336" y="2255"/>
                </a:lnTo>
                <a:lnTo>
                  <a:pt x="144378" y="2567"/>
                </a:lnTo>
                <a:lnTo>
                  <a:pt x="160421" y="2886"/>
                </a:lnTo>
                <a:lnTo>
                  <a:pt x="176463" y="3214"/>
                </a:lnTo>
                <a:lnTo>
                  <a:pt x="192505" y="3549"/>
                </a:lnTo>
                <a:lnTo>
                  <a:pt x="208547" y="3894"/>
                </a:lnTo>
                <a:lnTo>
                  <a:pt x="224589" y="4246"/>
                </a:lnTo>
                <a:lnTo>
                  <a:pt x="240631" y="4608"/>
                </a:lnTo>
                <a:lnTo>
                  <a:pt x="256673" y="4980"/>
                </a:lnTo>
                <a:lnTo>
                  <a:pt x="272715" y="5361"/>
                </a:lnTo>
                <a:lnTo>
                  <a:pt x="288757" y="5752"/>
                </a:lnTo>
                <a:lnTo>
                  <a:pt x="304800" y="6153"/>
                </a:lnTo>
                <a:lnTo>
                  <a:pt x="320842" y="6566"/>
                </a:lnTo>
                <a:lnTo>
                  <a:pt x="336884" y="6989"/>
                </a:lnTo>
                <a:lnTo>
                  <a:pt x="352926" y="7424"/>
                </a:lnTo>
                <a:lnTo>
                  <a:pt x="368968" y="7870"/>
                </a:lnTo>
                <a:lnTo>
                  <a:pt x="385010" y="8329"/>
                </a:lnTo>
                <a:lnTo>
                  <a:pt x="401052" y="8801"/>
                </a:lnTo>
                <a:lnTo>
                  <a:pt x="417094" y="9285"/>
                </a:lnTo>
                <a:lnTo>
                  <a:pt x="433136" y="9783"/>
                </a:lnTo>
                <a:lnTo>
                  <a:pt x="449178" y="10294"/>
                </a:lnTo>
                <a:lnTo>
                  <a:pt x="465221" y="10819"/>
                </a:lnTo>
                <a:lnTo>
                  <a:pt x="481263" y="11359"/>
                </a:lnTo>
                <a:lnTo>
                  <a:pt x="497305" y="11914"/>
                </a:lnTo>
                <a:lnTo>
                  <a:pt x="513347" y="12484"/>
                </a:lnTo>
                <a:lnTo>
                  <a:pt x="529389" y="13070"/>
                </a:lnTo>
                <a:lnTo>
                  <a:pt x="545431" y="13672"/>
                </a:lnTo>
                <a:lnTo>
                  <a:pt x="561473" y="14291"/>
                </a:lnTo>
                <a:lnTo>
                  <a:pt x="577515" y="14927"/>
                </a:lnTo>
                <a:lnTo>
                  <a:pt x="593557" y="15579"/>
                </a:lnTo>
                <a:lnTo>
                  <a:pt x="609599" y="16250"/>
                </a:lnTo>
                <a:lnTo>
                  <a:pt x="625642" y="16939"/>
                </a:lnTo>
                <a:lnTo>
                  <a:pt x="641684" y="17647"/>
                </a:lnTo>
                <a:lnTo>
                  <a:pt x="657726" y="18374"/>
                </a:lnTo>
                <a:lnTo>
                  <a:pt x="673768" y="19120"/>
                </a:lnTo>
                <a:lnTo>
                  <a:pt x="689810" y="19886"/>
                </a:lnTo>
                <a:lnTo>
                  <a:pt x="705852" y="20672"/>
                </a:lnTo>
                <a:lnTo>
                  <a:pt x="721894" y="21480"/>
                </a:lnTo>
                <a:lnTo>
                  <a:pt x="737936" y="22308"/>
                </a:lnTo>
                <a:lnTo>
                  <a:pt x="753978" y="23158"/>
                </a:lnTo>
                <a:lnTo>
                  <a:pt x="770021" y="24030"/>
                </a:lnTo>
                <a:lnTo>
                  <a:pt x="786063" y="24924"/>
                </a:lnTo>
                <a:lnTo>
                  <a:pt x="802105" y="25841"/>
                </a:lnTo>
                <a:lnTo>
                  <a:pt x="818147" y="26781"/>
                </a:lnTo>
                <a:lnTo>
                  <a:pt x="834189" y="27744"/>
                </a:lnTo>
                <a:lnTo>
                  <a:pt x="850231" y="28732"/>
                </a:lnTo>
                <a:lnTo>
                  <a:pt x="866273" y="29743"/>
                </a:lnTo>
                <a:lnTo>
                  <a:pt x="882315" y="30779"/>
                </a:lnTo>
                <a:lnTo>
                  <a:pt x="898357" y="31840"/>
                </a:lnTo>
                <a:lnTo>
                  <a:pt x="914400" y="32926"/>
                </a:lnTo>
                <a:lnTo>
                  <a:pt x="930442" y="34037"/>
                </a:lnTo>
                <a:lnTo>
                  <a:pt x="946484" y="35175"/>
                </a:lnTo>
                <a:lnTo>
                  <a:pt x="962526" y="36338"/>
                </a:lnTo>
                <a:lnTo>
                  <a:pt x="978568" y="37527"/>
                </a:lnTo>
                <a:lnTo>
                  <a:pt x="994610" y="38743"/>
                </a:lnTo>
                <a:lnTo>
                  <a:pt x="1010652" y="39986"/>
                </a:lnTo>
                <a:lnTo>
                  <a:pt x="1026694" y="41256"/>
                </a:lnTo>
                <a:lnTo>
                  <a:pt x="1042736" y="42552"/>
                </a:lnTo>
                <a:lnTo>
                  <a:pt x="1058778" y="43876"/>
                </a:lnTo>
                <a:lnTo>
                  <a:pt x="1074821" y="45227"/>
                </a:lnTo>
                <a:lnTo>
                  <a:pt x="1090863" y="46606"/>
                </a:lnTo>
                <a:lnTo>
                  <a:pt x="1106905" y="48012"/>
                </a:lnTo>
                <a:lnTo>
                  <a:pt x="1122947" y="49446"/>
                </a:lnTo>
                <a:lnTo>
                  <a:pt x="1138989" y="50907"/>
                </a:lnTo>
                <a:lnTo>
                  <a:pt x="1155031" y="52396"/>
                </a:lnTo>
                <a:lnTo>
                  <a:pt x="1171073" y="53913"/>
                </a:lnTo>
                <a:lnTo>
                  <a:pt x="1187115" y="55457"/>
                </a:lnTo>
                <a:lnTo>
                  <a:pt x="1203157" y="57028"/>
                </a:lnTo>
                <a:lnTo>
                  <a:pt x="1219199" y="58627"/>
                </a:lnTo>
                <a:lnTo>
                  <a:pt x="1235242" y="60253"/>
                </a:lnTo>
                <a:lnTo>
                  <a:pt x="1251284" y="61906"/>
                </a:lnTo>
                <a:lnTo>
                  <a:pt x="1267326" y="63585"/>
                </a:lnTo>
                <a:lnTo>
                  <a:pt x="1283368" y="65291"/>
                </a:lnTo>
                <a:lnTo>
                  <a:pt x="1299410" y="67024"/>
                </a:lnTo>
                <a:lnTo>
                  <a:pt x="1315452" y="68782"/>
                </a:lnTo>
                <a:lnTo>
                  <a:pt x="1331494" y="70566"/>
                </a:lnTo>
                <a:lnTo>
                  <a:pt x="1347536" y="72376"/>
                </a:lnTo>
                <a:lnTo>
                  <a:pt x="1363578" y="74210"/>
                </a:lnTo>
                <a:lnTo>
                  <a:pt x="1379621" y="76069"/>
                </a:lnTo>
                <a:lnTo>
                  <a:pt x="1395663" y="77952"/>
                </a:lnTo>
                <a:lnTo>
                  <a:pt x="1411705" y="79858"/>
                </a:lnTo>
                <a:lnTo>
                  <a:pt x="1427747" y="81787"/>
                </a:lnTo>
                <a:lnTo>
                  <a:pt x="1443789" y="83739"/>
                </a:lnTo>
                <a:lnTo>
                  <a:pt x="1459831" y="85713"/>
                </a:lnTo>
                <a:lnTo>
                  <a:pt x="1475873" y="87708"/>
                </a:lnTo>
                <a:lnTo>
                  <a:pt x="1491915" y="89723"/>
                </a:lnTo>
                <a:lnTo>
                  <a:pt x="1507957" y="91759"/>
                </a:lnTo>
                <a:lnTo>
                  <a:pt x="1524000" y="93814"/>
                </a:lnTo>
                <a:lnTo>
                  <a:pt x="1540042" y="95888"/>
                </a:lnTo>
                <a:lnTo>
                  <a:pt x="1556084" y="97979"/>
                </a:lnTo>
                <a:lnTo>
                  <a:pt x="1572126" y="100088"/>
                </a:lnTo>
                <a:lnTo>
                  <a:pt x="1588168" y="102213"/>
                </a:lnTo>
                <a:lnTo>
                  <a:pt x="1604210" y="104354"/>
                </a:lnTo>
                <a:lnTo>
                  <a:pt x="1620252" y="106509"/>
                </a:lnTo>
                <a:lnTo>
                  <a:pt x="1636294" y="108679"/>
                </a:lnTo>
                <a:lnTo>
                  <a:pt x="1652336" y="110862"/>
                </a:lnTo>
                <a:lnTo>
                  <a:pt x="1668378" y="113057"/>
                </a:lnTo>
                <a:lnTo>
                  <a:pt x="1684421" y="115263"/>
                </a:lnTo>
                <a:lnTo>
                  <a:pt x="1700463" y="117481"/>
                </a:lnTo>
                <a:lnTo>
                  <a:pt x="1716505" y="119708"/>
                </a:lnTo>
                <a:lnTo>
                  <a:pt x="1732547" y="121943"/>
                </a:lnTo>
                <a:lnTo>
                  <a:pt x="1748589" y="124187"/>
                </a:lnTo>
                <a:lnTo>
                  <a:pt x="1764631" y="126438"/>
                </a:lnTo>
                <a:lnTo>
                  <a:pt x="1780673" y="128695"/>
                </a:lnTo>
                <a:lnTo>
                  <a:pt x="1796715" y="130957"/>
                </a:lnTo>
                <a:lnTo>
                  <a:pt x="1812757" y="133224"/>
                </a:lnTo>
                <a:lnTo>
                  <a:pt x="1828800" y="135494"/>
                </a:lnTo>
                <a:lnTo>
                  <a:pt x="1844842" y="137767"/>
                </a:lnTo>
                <a:lnTo>
                  <a:pt x="1860884" y="140041"/>
                </a:lnTo>
                <a:lnTo>
                  <a:pt x="1876926" y="142317"/>
                </a:lnTo>
                <a:lnTo>
                  <a:pt x="1892968" y="144592"/>
                </a:lnTo>
                <a:lnTo>
                  <a:pt x="1909010" y="146867"/>
                </a:lnTo>
                <a:lnTo>
                  <a:pt x="1925052" y="149140"/>
                </a:lnTo>
                <a:lnTo>
                  <a:pt x="1941094" y="151410"/>
                </a:lnTo>
                <a:lnTo>
                  <a:pt x="1957136" y="153677"/>
                </a:lnTo>
                <a:lnTo>
                  <a:pt x="1973178" y="155940"/>
                </a:lnTo>
                <a:lnTo>
                  <a:pt x="1989221" y="158198"/>
                </a:lnTo>
                <a:lnTo>
                  <a:pt x="2005263" y="160450"/>
                </a:lnTo>
                <a:lnTo>
                  <a:pt x="2021305" y="162696"/>
                </a:lnTo>
                <a:lnTo>
                  <a:pt x="2037347" y="164935"/>
                </a:lnTo>
                <a:lnTo>
                  <a:pt x="2053389" y="167165"/>
                </a:lnTo>
                <a:lnTo>
                  <a:pt x="2069431" y="169388"/>
                </a:lnTo>
                <a:lnTo>
                  <a:pt x="2085473" y="171601"/>
                </a:lnTo>
                <a:lnTo>
                  <a:pt x="2101515" y="173804"/>
                </a:lnTo>
                <a:lnTo>
                  <a:pt x="2117557" y="175996"/>
                </a:lnTo>
                <a:lnTo>
                  <a:pt x="2133599" y="178178"/>
                </a:lnTo>
                <a:lnTo>
                  <a:pt x="2149642" y="180348"/>
                </a:lnTo>
                <a:lnTo>
                  <a:pt x="2165684" y="182505"/>
                </a:lnTo>
                <a:lnTo>
                  <a:pt x="2181726" y="184650"/>
                </a:lnTo>
                <a:lnTo>
                  <a:pt x="2197768" y="186781"/>
                </a:lnTo>
                <a:lnTo>
                  <a:pt x="2213810" y="188899"/>
                </a:lnTo>
                <a:lnTo>
                  <a:pt x="2229852" y="191003"/>
                </a:lnTo>
                <a:lnTo>
                  <a:pt x="2245894" y="193091"/>
                </a:lnTo>
                <a:lnTo>
                  <a:pt x="2261936" y="195165"/>
                </a:lnTo>
                <a:lnTo>
                  <a:pt x="2277978" y="197223"/>
                </a:lnTo>
                <a:lnTo>
                  <a:pt x="2294021" y="199266"/>
                </a:lnTo>
                <a:lnTo>
                  <a:pt x="2310063" y="201292"/>
                </a:lnTo>
                <a:lnTo>
                  <a:pt x="2326105" y="203301"/>
                </a:lnTo>
                <a:lnTo>
                  <a:pt x="2342147" y="205294"/>
                </a:lnTo>
                <a:lnTo>
                  <a:pt x="2358189" y="207270"/>
                </a:lnTo>
                <a:lnTo>
                  <a:pt x="2374231" y="209228"/>
                </a:lnTo>
                <a:lnTo>
                  <a:pt x="2390273" y="211169"/>
                </a:lnTo>
                <a:lnTo>
                  <a:pt x="2406315" y="213092"/>
                </a:lnTo>
                <a:lnTo>
                  <a:pt x="2422357" y="214997"/>
                </a:lnTo>
                <a:lnTo>
                  <a:pt x="2438400" y="216884"/>
                </a:lnTo>
                <a:lnTo>
                  <a:pt x="2454442" y="218752"/>
                </a:lnTo>
                <a:lnTo>
                  <a:pt x="2470484" y="220602"/>
                </a:lnTo>
                <a:lnTo>
                  <a:pt x="2486526" y="222434"/>
                </a:lnTo>
                <a:lnTo>
                  <a:pt x="2502568" y="224247"/>
                </a:lnTo>
                <a:lnTo>
                  <a:pt x="2518610" y="226041"/>
                </a:lnTo>
                <a:lnTo>
                  <a:pt x="2534652" y="227816"/>
                </a:lnTo>
                <a:lnTo>
                  <a:pt x="2550694" y="229573"/>
                </a:lnTo>
                <a:lnTo>
                  <a:pt x="2566736" y="231311"/>
                </a:lnTo>
                <a:lnTo>
                  <a:pt x="2582778" y="233029"/>
                </a:lnTo>
                <a:lnTo>
                  <a:pt x="2598821" y="234729"/>
                </a:lnTo>
                <a:lnTo>
                  <a:pt x="2614863" y="236410"/>
                </a:lnTo>
                <a:lnTo>
                  <a:pt x="2630905" y="238073"/>
                </a:lnTo>
                <a:lnTo>
                  <a:pt x="2646947" y="239716"/>
                </a:lnTo>
                <a:lnTo>
                  <a:pt x="2662989" y="241341"/>
                </a:lnTo>
                <a:lnTo>
                  <a:pt x="2679031" y="242947"/>
                </a:lnTo>
                <a:lnTo>
                  <a:pt x="2695073" y="244534"/>
                </a:lnTo>
                <a:lnTo>
                  <a:pt x="2711115" y="246103"/>
                </a:lnTo>
                <a:lnTo>
                  <a:pt x="2727157" y="247653"/>
                </a:lnTo>
                <a:lnTo>
                  <a:pt x="2743200" y="249186"/>
                </a:lnTo>
                <a:lnTo>
                  <a:pt x="2759242" y="250700"/>
                </a:lnTo>
                <a:lnTo>
                  <a:pt x="2775284" y="252195"/>
                </a:lnTo>
                <a:lnTo>
                  <a:pt x="2791326" y="253673"/>
                </a:lnTo>
                <a:lnTo>
                  <a:pt x="2807368" y="255133"/>
                </a:lnTo>
                <a:lnTo>
                  <a:pt x="2823410" y="256575"/>
                </a:lnTo>
                <a:lnTo>
                  <a:pt x="2839452" y="258000"/>
                </a:lnTo>
                <a:lnTo>
                  <a:pt x="2855494" y="259408"/>
                </a:lnTo>
                <a:lnTo>
                  <a:pt x="2871536" y="260798"/>
                </a:lnTo>
                <a:lnTo>
                  <a:pt x="2887578" y="262171"/>
                </a:lnTo>
                <a:lnTo>
                  <a:pt x="2903621" y="263527"/>
                </a:lnTo>
                <a:lnTo>
                  <a:pt x="2919663" y="264866"/>
                </a:lnTo>
                <a:lnTo>
                  <a:pt x="2935705" y="266189"/>
                </a:lnTo>
                <a:lnTo>
                  <a:pt x="2951747" y="267496"/>
                </a:lnTo>
                <a:lnTo>
                  <a:pt x="2967789" y="268786"/>
                </a:lnTo>
                <a:lnTo>
                  <a:pt x="2983831" y="270060"/>
                </a:lnTo>
                <a:lnTo>
                  <a:pt x="2999873" y="271318"/>
                </a:lnTo>
                <a:lnTo>
                  <a:pt x="3015915" y="272561"/>
                </a:lnTo>
                <a:lnTo>
                  <a:pt x="3031957" y="273788"/>
                </a:lnTo>
                <a:lnTo>
                  <a:pt x="3047999" y="275000"/>
                </a:lnTo>
                <a:lnTo>
                  <a:pt x="3064042" y="276197"/>
                </a:lnTo>
                <a:lnTo>
                  <a:pt x="3080084" y="277379"/>
                </a:lnTo>
                <a:lnTo>
                  <a:pt x="3096126" y="278547"/>
                </a:lnTo>
                <a:lnTo>
                  <a:pt x="3112168" y="279700"/>
                </a:lnTo>
                <a:lnTo>
                  <a:pt x="3128210" y="280838"/>
                </a:lnTo>
                <a:lnTo>
                  <a:pt x="3144252" y="281963"/>
                </a:lnTo>
                <a:lnTo>
                  <a:pt x="3160294" y="283073"/>
                </a:lnTo>
                <a:lnTo>
                  <a:pt x="3176336" y="284170"/>
                </a:lnTo>
                <a:lnTo>
                  <a:pt x="3192378" y="285254"/>
                </a:lnTo>
                <a:lnTo>
                  <a:pt x="3208421" y="293398"/>
                </a:lnTo>
                <a:lnTo>
                  <a:pt x="3224463" y="308501"/>
                </a:lnTo>
                <a:lnTo>
                  <a:pt x="3240505" y="323450"/>
                </a:lnTo>
                <a:lnTo>
                  <a:pt x="3256547" y="338248"/>
                </a:lnTo>
                <a:lnTo>
                  <a:pt x="3272589" y="352894"/>
                </a:lnTo>
                <a:lnTo>
                  <a:pt x="3288631" y="367388"/>
                </a:lnTo>
                <a:lnTo>
                  <a:pt x="3304673" y="381732"/>
                </a:lnTo>
                <a:lnTo>
                  <a:pt x="3320715" y="395925"/>
                </a:lnTo>
                <a:lnTo>
                  <a:pt x="3336757" y="409968"/>
                </a:lnTo>
                <a:lnTo>
                  <a:pt x="3352799" y="423862"/>
                </a:lnTo>
                <a:lnTo>
                  <a:pt x="3368842" y="437608"/>
                </a:lnTo>
                <a:lnTo>
                  <a:pt x="3384884" y="451205"/>
                </a:lnTo>
                <a:lnTo>
                  <a:pt x="3400926" y="464656"/>
                </a:lnTo>
                <a:lnTo>
                  <a:pt x="3416968" y="477960"/>
                </a:lnTo>
                <a:lnTo>
                  <a:pt x="3433010" y="491119"/>
                </a:lnTo>
                <a:lnTo>
                  <a:pt x="3449052" y="504133"/>
                </a:lnTo>
                <a:lnTo>
                  <a:pt x="3465094" y="517004"/>
                </a:lnTo>
                <a:lnTo>
                  <a:pt x="3481136" y="529731"/>
                </a:lnTo>
                <a:lnTo>
                  <a:pt x="3497178" y="542317"/>
                </a:lnTo>
                <a:lnTo>
                  <a:pt x="3513221" y="554762"/>
                </a:lnTo>
                <a:lnTo>
                  <a:pt x="3529263" y="567067"/>
                </a:lnTo>
                <a:lnTo>
                  <a:pt x="3545305" y="579233"/>
                </a:lnTo>
                <a:lnTo>
                  <a:pt x="3561347" y="591261"/>
                </a:lnTo>
                <a:lnTo>
                  <a:pt x="3577389" y="603152"/>
                </a:lnTo>
                <a:lnTo>
                  <a:pt x="3593431" y="614908"/>
                </a:lnTo>
                <a:lnTo>
                  <a:pt x="3609473" y="626529"/>
                </a:lnTo>
                <a:lnTo>
                  <a:pt x="3625515" y="638017"/>
                </a:lnTo>
                <a:lnTo>
                  <a:pt x="3641557" y="649372"/>
                </a:lnTo>
                <a:lnTo>
                  <a:pt x="3657600" y="660596"/>
                </a:lnTo>
                <a:lnTo>
                  <a:pt x="3673642" y="671690"/>
                </a:lnTo>
                <a:lnTo>
                  <a:pt x="3689684" y="682655"/>
                </a:lnTo>
                <a:lnTo>
                  <a:pt x="3705726" y="693492"/>
                </a:lnTo>
                <a:lnTo>
                  <a:pt x="3721768" y="704203"/>
                </a:lnTo>
                <a:lnTo>
                  <a:pt x="3737810" y="714788"/>
                </a:lnTo>
                <a:lnTo>
                  <a:pt x="3753852" y="725249"/>
                </a:lnTo>
                <a:lnTo>
                  <a:pt x="3769894" y="735587"/>
                </a:lnTo>
                <a:lnTo>
                  <a:pt x="3785936" y="745803"/>
                </a:lnTo>
                <a:lnTo>
                  <a:pt x="3801978" y="755899"/>
                </a:lnTo>
                <a:lnTo>
                  <a:pt x="3818021" y="765875"/>
                </a:lnTo>
                <a:lnTo>
                  <a:pt x="3834063" y="775733"/>
                </a:lnTo>
                <a:lnTo>
                  <a:pt x="3850105" y="785474"/>
                </a:lnTo>
                <a:lnTo>
                  <a:pt x="3866147" y="795098"/>
                </a:lnTo>
                <a:lnTo>
                  <a:pt x="3882189" y="804609"/>
                </a:lnTo>
                <a:lnTo>
                  <a:pt x="3898231" y="814006"/>
                </a:lnTo>
                <a:lnTo>
                  <a:pt x="3914273" y="823290"/>
                </a:lnTo>
                <a:lnTo>
                  <a:pt x="3930315" y="832463"/>
                </a:lnTo>
                <a:lnTo>
                  <a:pt x="3946357" y="841527"/>
                </a:lnTo>
                <a:lnTo>
                  <a:pt x="3962400" y="850482"/>
                </a:lnTo>
                <a:lnTo>
                  <a:pt x="3978442" y="859329"/>
                </a:lnTo>
                <a:lnTo>
                  <a:pt x="3994484" y="868070"/>
                </a:lnTo>
                <a:lnTo>
                  <a:pt x="4010526" y="876706"/>
                </a:lnTo>
                <a:lnTo>
                  <a:pt x="4026568" y="885237"/>
                </a:lnTo>
                <a:lnTo>
                  <a:pt x="4042610" y="893666"/>
                </a:lnTo>
                <a:lnTo>
                  <a:pt x="4058652" y="901993"/>
                </a:lnTo>
                <a:lnTo>
                  <a:pt x="4074694" y="910219"/>
                </a:lnTo>
                <a:lnTo>
                  <a:pt x="4090736" y="918346"/>
                </a:lnTo>
                <a:lnTo>
                  <a:pt x="4106778" y="926375"/>
                </a:lnTo>
                <a:lnTo>
                  <a:pt x="4122821" y="934306"/>
                </a:lnTo>
                <a:lnTo>
                  <a:pt x="4138863" y="942141"/>
                </a:lnTo>
                <a:lnTo>
                  <a:pt x="4154905" y="949882"/>
                </a:lnTo>
                <a:lnTo>
                  <a:pt x="4170947" y="957528"/>
                </a:lnTo>
                <a:lnTo>
                  <a:pt x="4186989" y="965081"/>
                </a:lnTo>
                <a:lnTo>
                  <a:pt x="4203031" y="972543"/>
                </a:lnTo>
                <a:lnTo>
                  <a:pt x="4219073" y="979914"/>
                </a:lnTo>
                <a:lnTo>
                  <a:pt x="4235115" y="987196"/>
                </a:lnTo>
                <a:lnTo>
                  <a:pt x="4251157" y="994389"/>
                </a:lnTo>
                <a:lnTo>
                  <a:pt x="4267199" y="1001494"/>
                </a:lnTo>
                <a:lnTo>
                  <a:pt x="4283242" y="1008513"/>
                </a:lnTo>
                <a:lnTo>
                  <a:pt x="4299284" y="1015446"/>
                </a:lnTo>
                <a:lnTo>
                  <a:pt x="4315326" y="1022295"/>
                </a:lnTo>
                <a:lnTo>
                  <a:pt x="4331368" y="1029061"/>
                </a:lnTo>
                <a:lnTo>
                  <a:pt x="4347410" y="1035744"/>
                </a:lnTo>
                <a:lnTo>
                  <a:pt x="4363452" y="1042346"/>
                </a:lnTo>
                <a:lnTo>
                  <a:pt x="4379494" y="1048867"/>
                </a:lnTo>
                <a:lnTo>
                  <a:pt x="4395536" y="1055309"/>
                </a:lnTo>
                <a:lnTo>
                  <a:pt x="4411578" y="1061672"/>
                </a:lnTo>
                <a:lnTo>
                  <a:pt x="4427621" y="1067957"/>
                </a:lnTo>
                <a:lnTo>
                  <a:pt x="4443663" y="1074166"/>
                </a:lnTo>
                <a:lnTo>
                  <a:pt x="4459705" y="1080299"/>
                </a:lnTo>
                <a:lnTo>
                  <a:pt x="4475747" y="1086357"/>
                </a:lnTo>
                <a:lnTo>
                  <a:pt x="4491789" y="1092342"/>
                </a:lnTo>
                <a:lnTo>
                  <a:pt x="4507831" y="1098253"/>
                </a:lnTo>
                <a:lnTo>
                  <a:pt x="4523873" y="1104092"/>
                </a:lnTo>
                <a:lnTo>
                  <a:pt x="4539915" y="1109860"/>
                </a:lnTo>
                <a:lnTo>
                  <a:pt x="4555957" y="1115558"/>
                </a:lnTo>
                <a:lnTo>
                  <a:pt x="4571999" y="1121186"/>
                </a:lnTo>
                <a:lnTo>
                  <a:pt x="4588042" y="1126746"/>
                </a:lnTo>
                <a:lnTo>
                  <a:pt x="4604084" y="1132237"/>
                </a:lnTo>
                <a:lnTo>
                  <a:pt x="4620126" y="1137662"/>
                </a:lnTo>
                <a:lnTo>
                  <a:pt x="4636168" y="1143020"/>
                </a:lnTo>
                <a:lnTo>
                  <a:pt x="4652210" y="1148314"/>
                </a:lnTo>
                <a:lnTo>
                  <a:pt x="4668252" y="1153542"/>
                </a:lnTo>
                <a:lnTo>
                  <a:pt x="4684294" y="1158707"/>
                </a:lnTo>
                <a:lnTo>
                  <a:pt x="4700336" y="1163809"/>
                </a:lnTo>
                <a:lnTo>
                  <a:pt x="4716378" y="1168849"/>
                </a:lnTo>
                <a:lnTo>
                  <a:pt x="4732421" y="1173827"/>
                </a:lnTo>
                <a:lnTo>
                  <a:pt x="4748463" y="1178745"/>
                </a:lnTo>
                <a:lnTo>
                  <a:pt x="4764505" y="1183602"/>
                </a:lnTo>
                <a:lnTo>
                  <a:pt x="4780547" y="1188401"/>
                </a:lnTo>
                <a:lnTo>
                  <a:pt x="4796589" y="1193141"/>
                </a:lnTo>
                <a:lnTo>
                  <a:pt x="4812631" y="1197824"/>
                </a:lnTo>
                <a:lnTo>
                  <a:pt x="4828673" y="1202449"/>
                </a:lnTo>
                <a:lnTo>
                  <a:pt x="4844715" y="1207018"/>
                </a:lnTo>
                <a:lnTo>
                  <a:pt x="4860757" y="1211532"/>
                </a:lnTo>
                <a:lnTo>
                  <a:pt x="4876800" y="1215991"/>
                </a:lnTo>
                <a:lnTo>
                  <a:pt x="4892842" y="1220395"/>
                </a:lnTo>
                <a:lnTo>
                  <a:pt x="4908884" y="1224746"/>
                </a:lnTo>
                <a:lnTo>
                  <a:pt x="4924926" y="1229044"/>
                </a:lnTo>
                <a:lnTo>
                  <a:pt x="4940968" y="1233290"/>
                </a:lnTo>
                <a:lnTo>
                  <a:pt x="4957010" y="1237484"/>
                </a:lnTo>
                <a:lnTo>
                  <a:pt x="4973052" y="1241627"/>
                </a:lnTo>
                <a:lnTo>
                  <a:pt x="4989094" y="1245720"/>
                </a:lnTo>
                <a:lnTo>
                  <a:pt x="5005136" y="1249764"/>
                </a:lnTo>
                <a:lnTo>
                  <a:pt x="5021178" y="1253758"/>
                </a:lnTo>
                <a:lnTo>
                  <a:pt x="5037221" y="1257704"/>
                </a:lnTo>
                <a:lnTo>
                  <a:pt x="5053263" y="1261602"/>
                </a:lnTo>
                <a:lnTo>
                  <a:pt x="5069305" y="1265452"/>
                </a:lnTo>
                <a:lnTo>
                  <a:pt x="5085347" y="1269256"/>
                </a:lnTo>
                <a:lnTo>
                  <a:pt x="5101389" y="1273014"/>
                </a:lnTo>
                <a:lnTo>
                  <a:pt x="5117431" y="1276727"/>
                </a:lnTo>
                <a:lnTo>
                  <a:pt x="5133473" y="1280394"/>
                </a:lnTo>
                <a:lnTo>
                  <a:pt x="5149515" y="1284018"/>
                </a:lnTo>
                <a:lnTo>
                  <a:pt x="5165557" y="1287597"/>
                </a:lnTo>
                <a:lnTo>
                  <a:pt x="5181600" y="1291133"/>
                </a:lnTo>
                <a:lnTo>
                  <a:pt x="5197642" y="1294626"/>
                </a:lnTo>
                <a:lnTo>
                  <a:pt x="5213684" y="1298077"/>
                </a:lnTo>
                <a:lnTo>
                  <a:pt x="5229726" y="1301487"/>
                </a:lnTo>
                <a:lnTo>
                  <a:pt x="5245768" y="1304855"/>
                </a:lnTo>
                <a:lnTo>
                  <a:pt x="5261810" y="1308182"/>
                </a:lnTo>
                <a:lnTo>
                  <a:pt x="5277852" y="1311470"/>
                </a:lnTo>
                <a:lnTo>
                  <a:pt x="5293894" y="1314717"/>
                </a:lnTo>
                <a:lnTo>
                  <a:pt x="5309936" y="1317926"/>
                </a:lnTo>
                <a:lnTo>
                  <a:pt x="5325978" y="1321096"/>
                </a:lnTo>
                <a:lnTo>
                  <a:pt x="5342021" y="1324227"/>
                </a:lnTo>
                <a:lnTo>
                  <a:pt x="5358063" y="1327321"/>
                </a:lnTo>
                <a:lnTo>
                  <a:pt x="5374105" y="1330378"/>
                </a:lnTo>
                <a:lnTo>
                  <a:pt x="5390147" y="1333398"/>
                </a:lnTo>
                <a:lnTo>
                  <a:pt x="5406189" y="1336381"/>
                </a:lnTo>
                <a:lnTo>
                  <a:pt x="5422231" y="1339329"/>
                </a:lnTo>
                <a:lnTo>
                  <a:pt x="5438273" y="1342241"/>
                </a:lnTo>
                <a:lnTo>
                  <a:pt x="5454315" y="1345118"/>
                </a:lnTo>
                <a:lnTo>
                  <a:pt x="5470357" y="1347961"/>
                </a:lnTo>
                <a:lnTo>
                  <a:pt x="5486400" y="1350769"/>
                </a:lnTo>
                <a:lnTo>
                  <a:pt x="5502442" y="1353544"/>
                </a:lnTo>
                <a:lnTo>
                  <a:pt x="5518484" y="1356285"/>
                </a:lnTo>
                <a:lnTo>
                  <a:pt x="5534526" y="1358994"/>
                </a:lnTo>
                <a:lnTo>
                  <a:pt x="5550568" y="1361670"/>
                </a:lnTo>
                <a:lnTo>
                  <a:pt x="5566610" y="1364314"/>
                </a:lnTo>
                <a:lnTo>
                  <a:pt x="5582652" y="1366926"/>
                </a:lnTo>
                <a:lnTo>
                  <a:pt x="5598694" y="1369507"/>
                </a:lnTo>
                <a:lnTo>
                  <a:pt x="5614736" y="1372057"/>
                </a:lnTo>
                <a:lnTo>
                  <a:pt x="5630778" y="1374576"/>
                </a:lnTo>
                <a:lnTo>
                  <a:pt x="5646821" y="1377066"/>
                </a:lnTo>
                <a:lnTo>
                  <a:pt x="5662863" y="1379525"/>
                </a:lnTo>
                <a:lnTo>
                  <a:pt x="5678905" y="1381956"/>
                </a:lnTo>
                <a:lnTo>
                  <a:pt x="5694947" y="1384357"/>
                </a:lnTo>
                <a:lnTo>
                  <a:pt x="5710989" y="1386729"/>
                </a:lnTo>
                <a:lnTo>
                  <a:pt x="5727031" y="1389073"/>
                </a:lnTo>
                <a:lnTo>
                  <a:pt x="5743073" y="1391390"/>
                </a:lnTo>
                <a:lnTo>
                  <a:pt x="5759115" y="1393678"/>
                </a:lnTo>
                <a:lnTo>
                  <a:pt x="5775157" y="1395939"/>
                </a:lnTo>
                <a:lnTo>
                  <a:pt x="5791199" y="1398174"/>
                </a:lnTo>
                <a:lnTo>
                  <a:pt x="5807242" y="1400381"/>
                </a:lnTo>
                <a:lnTo>
                  <a:pt x="5823284" y="1402562"/>
                </a:lnTo>
                <a:lnTo>
                  <a:pt x="5839326" y="1404718"/>
                </a:lnTo>
                <a:lnTo>
                  <a:pt x="5855368" y="1406847"/>
                </a:lnTo>
                <a:lnTo>
                  <a:pt x="5871410" y="1408952"/>
                </a:lnTo>
                <a:lnTo>
                  <a:pt x="5887452" y="1411031"/>
                </a:lnTo>
                <a:lnTo>
                  <a:pt x="5903494" y="1413086"/>
                </a:lnTo>
                <a:lnTo>
                  <a:pt x="5919536" y="1415116"/>
                </a:lnTo>
                <a:lnTo>
                  <a:pt x="5935578" y="1417122"/>
                </a:lnTo>
                <a:lnTo>
                  <a:pt x="5951621" y="1419104"/>
                </a:lnTo>
                <a:lnTo>
                  <a:pt x="5967663" y="1421063"/>
                </a:lnTo>
                <a:lnTo>
                  <a:pt x="5983705" y="1422998"/>
                </a:lnTo>
                <a:lnTo>
                  <a:pt x="5999747" y="1424911"/>
                </a:lnTo>
                <a:lnTo>
                  <a:pt x="6015789" y="1426800"/>
                </a:lnTo>
                <a:lnTo>
                  <a:pt x="6031831" y="1428668"/>
                </a:lnTo>
                <a:lnTo>
                  <a:pt x="6047873" y="1430513"/>
                </a:lnTo>
                <a:lnTo>
                  <a:pt x="6063915" y="1432337"/>
                </a:lnTo>
                <a:lnTo>
                  <a:pt x="6079957" y="1434138"/>
                </a:lnTo>
                <a:lnTo>
                  <a:pt x="6095999" y="1435919"/>
                </a:lnTo>
                <a:lnTo>
                  <a:pt x="6112042" y="1437678"/>
                </a:lnTo>
                <a:lnTo>
                  <a:pt x="6128084" y="1439417"/>
                </a:lnTo>
                <a:lnTo>
                  <a:pt x="6144126" y="1441135"/>
                </a:lnTo>
                <a:lnTo>
                  <a:pt x="6160168" y="1442833"/>
                </a:lnTo>
                <a:lnTo>
                  <a:pt x="6176210" y="1444511"/>
                </a:lnTo>
                <a:lnTo>
                  <a:pt x="6192252" y="1446168"/>
                </a:lnTo>
                <a:lnTo>
                  <a:pt x="6208294" y="1447807"/>
                </a:lnTo>
                <a:lnTo>
                  <a:pt x="6224336" y="1449426"/>
                </a:lnTo>
                <a:lnTo>
                  <a:pt x="6240378" y="1451026"/>
                </a:lnTo>
                <a:lnTo>
                  <a:pt x="6256421" y="1452607"/>
                </a:lnTo>
                <a:lnTo>
                  <a:pt x="6272463" y="1454169"/>
                </a:lnTo>
                <a:lnTo>
                  <a:pt x="6288505" y="1455713"/>
                </a:lnTo>
                <a:lnTo>
                  <a:pt x="6304547" y="1457239"/>
                </a:lnTo>
                <a:lnTo>
                  <a:pt x="6320589" y="1458747"/>
                </a:lnTo>
                <a:lnTo>
                  <a:pt x="6336631" y="1460237"/>
                </a:lnTo>
                <a:lnTo>
                  <a:pt x="6352673" y="1461710"/>
                </a:lnTo>
                <a:lnTo>
                  <a:pt x="6368715" y="1463165"/>
                </a:lnTo>
                <a:lnTo>
                  <a:pt x="6384757" y="1464604"/>
                </a:lnTo>
                <a:lnTo>
                  <a:pt x="6400800" y="1466025"/>
                </a:lnTo>
                <a:lnTo>
                  <a:pt x="6400800" y="3386269"/>
                </a:lnTo>
                <a:lnTo>
                  <a:pt x="6384757" y="3386257"/>
                </a:lnTo>
                <a:lnTo>
                  <a:pt x="6368715" y="3386245"/>
                </a:lnTo>
                <a:lnTo>
                  <a:pt x="6352673" y="3386232"/>
                </a:lnTo>
                <a:lnTo>
                  <a:pt x="6336631" y="3386219"/>
                </a:lnTo>
                <a:lnTo>
                  <a:pt x="6320589" y="3386205"/>
                </a:lnTo>
                <a:lnTo>
                  <a:pt x="6304547" y="3386191"/>
                </a:lnTo>
                <a:lnTo>
                  <a:pt x="6288505" y="3386176"/>
                </a:lnTo>
                <a:lnTo>
                  <a:pt x="6272463" y="3386162"/>
                </a:lnTo>
                <a:lnTo>
                  <a:pt x="6256421" y="3386146"/>
                </a:lnTo>
                <a:lnTo>
                  <a:pt x="6240378" y="3386130"/>
                </a:lnTo>
                <a:lnTo>
                  <a:pt x="6224336" y="3386114"/>
                </a:lnTo>
                <a:lnTo>
                  <a:pt x="6208294" y="3386097"/>
                </a:lnTo>
                <a:lnTo>
                  <a:pt x="6192252" y="3386080"/>
                </a:lnTo>
                <a:lnTo>
                  <a:pt x="6176210" y="3386062"/>
                </a:lnTo>
                <a:lnTo>
                  <a:pt x="6160168" y="3386043"/>
                </a:lnTo>
                <a:lnTo>
                  <a:pt x="6144126" y="3386024"/>
                </a:lnTo>
                <a:lnTo>
                  <a:pt x="6128084" y="3386005"/>
                </a:lnTo>
                <a:lnTo>
                  <a:pt x="6112042" y="3385984"/>
                </a:lnTo>
                <a:lnTo>
                  <a:pt x="6095999" y="3385964"/>
                </a:lnTo>
                <a:lnTo>
                  <a:pt x="6079957" y="3385942"/>
                </a:lnTo>
                <a:lnTo>
                  <a:pt x="6063915" y="3385920"/>
                </a:lnTo>
                <a:lnTo>
                  <a:pt x="6047873" y="3385897"/>
                </a:lnTo>
                <a:lnTo>
                  <a:pt x="6031831" y="3385874"/>
                </a:lnTo>
                <a:lnTo>
                  <a:pt x="6015789" y="3385850"/>
                </a:lnTo>
                <a:lnTo>
                  <a:pt x="5999747" y="3385825"/>
                </a:lnTo>
                <a:lnTo>
                  <a:pt x="5983705" y="3385799"/>
                </a:lnTo>
                <a:lnTo>
                  <a:pt x="5967663" y="3385772"/>
                </a:lnTo>
                <a:lnTo>
                  <a:pt x="5951621" y="3385745"/>
                </a:lnTo>
                <a:lnTo>
                  <a:pt x="5935578" y="3385717"/>
                </a:lnTo>
                <a:lnTo>
                  <a:pt x="5919536" y="3385688"/>
                </a:lnTo>
                <a:lnTo>
                  <a:pt x="5903494" y="3385658"/>
                </a:lnTo>
                <a:lnTo>
                  <a:pt x="5887452" y="3385627"/>
                </a:lnTo>
                <a:lnTo>
                  <a:pt x="5871410" y="3385596"/>
                </a:lnTo>
                <a:lnTo>
                  <a:pt x="5855368" y="3385563"/>
                </a:lnTo>
                <a:lnTo>
                  <a:pt x="5839326" y="3385529"/>
                </a:lnTo>
                <a:lnTo>
                  <a:pt x="5823284" y="3385495"/>
                </a:lnTo>
                <a:lnTo>
                  <a:pt x="5807242" y="3385459"/>
                </a:lnTo>
                <a:lnTo>
                  <a:pt x="5791199" y="3385422"/>
                </a:lnTo>
                <a:lnTo>
                  <a:pt x="5775157" y="3385384"/>
                </a:lnTo>
                <a:lnTo>
                  <a:pt x="5759115" y="3385345"/>
                </a:lnTo>
                <a:lnTo>
                  <a:pt x="5743073" y="3385304"/>
                </a:lnTo>
                <a:lnTo>
                  <a:pt x="5727031" y="3385263"/>
                </a:lnTo>
                <a:lnTo>
                  <a:pt x="5710989" y="3385220"/>
                </a:lnTo>
                <a:lnTo>
                  <a:pt x="5694947" y="3385176"/>
                </a:lnTo>
                <a:lnTo>
                  <a:pt x="5678905" y="3385130"/>
                </a:lnTo>
                <a:lnTo>
                  <a:pt x="5662863" y="3385084"/>
                </a:lnTo>
                <a:lnTo>
                  <a:pt x="5646821" y="3385035"/>
                </a:lnTo>
                <a:lnTo>
                  <a:pt x="5630778" y="3384985"/>
                </a:lnTo>
                <a:lnTo>
                  <a:pt x="5614736" y="3384934"/>
                </a:lnTo>
                <a:lnTo>
                  <a:pt x="5598694" y="3384881"/>
                </a:lnTo>
                <a:lnTo>
                  <a:pt x="5582652" y="3384827"/>
                </a:lnTo>
                <a:lnTo>
                  <a:pt x="5566610" y="3384771"/>
                </a:lnTo>
                <a:lnTo>
                  <a:pt x="5550568" y="3384713"/>
                </a:lnTo>
                <a:lnTo>
                  <a:pt x="5534526" y="3384653"/>
                </a:lnTo>
                <a:lnTo>
                  <a:pt x="5518484" y="3384592"/>
                </a:lnTo>
                <a:lnTo>
                  <a:pt x="5502442" y="3384529"/>
                </a:lnTo>
                <a:lnTo>
                  <a:pt x="5486400" y="3384463"/>
                </a:lnTo>
                <a:lnTo>
                  <a:pt x="5470357" y="3384396"/>
                </a:lnTo>
                <a:lnTo>
                  <a:pt x="5454315" y="3384327"/>
                </a:lnTo>
                <a:lnTo>
                  <a:pt x="5438273" y="3384255"/>
                </a:lnTo>
                <a:lnTo>
                  <a:pt x="5422231" y="3384182"/>
                </a:lnTo>
                <a:lnTo>
                  <a:pt x="5406189" y="3384106"/>
                </a:lnTo>
                <a:lnTo>
                  <a:pt x="5390147" y="3384028"/>
                </a:lnTo>
                <a:lnTo>
                  <a:pt x="5374105" y="3383947"/>
                </a:lnTo>
                <a:lnTo>
                  <a:pt x="5358063" y="3383865"/>
                </a:lnTo>
                <a:lnTo>
                  <a:pt x="5342021" y="3383779"/>
                </a:lnTo>
                <a:lnTo>
                  <a:pt x="5325978" y="3383691"/>
                </a:lnTo>
                <a:lnTo>
                  <a:pt x="5309936" y="3383600"/>
                </a:lnTo>
                <a:lnTo>
                  <a:pt x="5293894" y="3383507"/>
                </a:lnTo>
                <a:lnTo>
                  <a:pt x="5277852" y="3383410"/>
                </a:lnTo>
                <a:lnTo>
                  <a:pt x="5261810" y="3383311"/>
                </a:lnTo>
                <a:lnTo>
                  <a:pt x="5245768" y="3383209"/>
                </a:lnTo>
                <a:lnTo>
                  <a:pt x="5229726" y="3383103"/>
                </a:lnTo>
                <a:lnTo>
                  <a:pt x="5213684" y="3382995"/>
                </a:lnTo>
                <a:lnTo>
                  <a:pt x="5197642" y="3382883"/>
                </a:lnTo>
                <a:lnTo>
                  <a:pt x="5181600" y="3382767"/>
                </a:lnTo>
                <a:lnTo>
                  <a:pt x="5165557" y="3382648"/>
                </a:lnTo>
                <a:lnTo>
                  <a:pt x="5149515" y="3382526"/>
                </a:lnTo>
                <a:lnTo>
                  <a:pt x="5133473" y="3382399"/>
                </a:lnTo>
                <a:lnTo>
                  <a:pt x="5117431" y="3382269"/>
                </a:lnTo>
                <a:lnTo>
                  <a:pt x="5101389" y="3382135"/>
                </a:lnTo>
                <a:lnTo>
                  <a:pt x="5085347" y="3381997"/>
                </a:lnTo>
                <a:lnTo>
                  <a:pt x="5069305" y="3381855"/>
                </a:lnTo>
                <a:lnTo>
                  <a:pt x="5053263" y="3381708"/>
                </a:lnTo>
                <a:lnTo>
                  <a:pt x="5037221" y="3381557"/>
                </a:lnTo>
                <a:lnTo>
                  <a:pt x="5021178" y="3381401"/>
                </a:lnTo>
                <a:lnTo>
                  <a:pt x="5005136" y="3381241"/>
                </a:lnTo>
                <a:lnTo>
                  <a:pt x="4989094" y="3381075"/>
                </a:lnTo>
                <a:lnTo>
                  <a:pt x="4973052" y="3380905"/>
                </a:lnTo>
                <a:lnTo>
                  <a:pt x="4957010" y="3380729"/>
                </a:lnTo>
                <a:lnTo>
                  <a:pt x="4940968" y="3380548"/>
                </a:lnTo>
                <a:lnTo>
                  <a:pt x="4924926" y="3380362"/>
                </a:lnTo>
                <a:lnTo>
                  <a:pt x="4908884" y="3380170"/>
                </a:lnTo>
                <a:lnTo>
                  <a:pt x="4892842" y="3379972"/>
                </a:lnTo>
                <a:lnTo>
                  <a:pt x="4876800" y="3379768"/>
                </a:lnTo>
                <a:lnTo>
                  <a:pt x="4860757" y="3379558"/>
                </a:lnTo>
                <a:lnTo>
                  <a:pt x="4844715" y="3379341"/>
                </a:lnTo>
                <a:lnTo>
                  <a:pt x="4828673" y="3379118"/>
                </a:lnTo>
                <a:lnTo>
                  <a:pt x="4812631" y="3378888"/>
                </a:lnTo>
                <a:lnTo>
                  <a:pt x="4796589" y="3378651"/>
                </a:lnTo>
                <a:lnTo>
                  <a:pt x="4780547" y="3378407"/>
                </a:lnTo>
                <a:lnTo>
                  <a:pt x="4764505" y="3378156"/>
                </a:lnTo>
                <a:lnTo>
                  <a:pt x="4748463" y="3377897"/>
                </a:lnTo>
                <a:lnTo>
                  <a:pt x="4732421" y="3377630"/>
                </a:lnTo>
                <a:lnTo>
                  <a:pt x="4716378" y="3377354"/>
                </a:lnTo>
                <a:lnTo>
                  <a:pt x="4700336" y="3377071"/>
                </a:lnTo>
                <a:lnTo>
                  <a:pt x="4684294" y="3376779"/>
                </a:lnTo>
                <a:lnTo>
                  <a:pt x="4668252" y="3376478"/>
                </a:lnTo>
                <a:lnTo>
                  <a:pt x="4652210" y="3376168"/>
                </a:lnTo>
                <a:lnTo>
                  <a:pt x="4636168" y="3375849"/>
                </a:lnTo>
                <a:lnTo>
                  <a:pt x="4620126" y="3375519"/>
                </a:lnTo>
                <a:lnTo>
                  <a:pt x="4604084" y="3375180"/>
                </a:lnTo>
                <a:lnTo>
                  <a:pt x="4588042" y="3374831"/>
                </a:lnTo>
                <a:lnTo>
                  <a:pt x="4571999" y="3374471"/>
                </a:lnTo>
                <a:lnTo>
                  <a:pt x="4555957" y="3374100"/>
                </a:lnTo>
                <a:lnTo>
                  <a:pt x="4539915" y="3373718"/>
                </a:lnTo>
                <a:lnTo>
                  <a:pt x="4523873" y="3373324"/>
                </a:lnTo>
                <a:lnTo>
                  <a:pt x="4507831" y="3372918"/>
                </a:lnTo>
                <a:lnTo>
                  <a:pt x="4491789" y="3372501"/>
                </a:lnTo>
                <a:lnTo>
                  <a:pt x="4475747" y="3372070"/>
                </a:lnTo>
                <a:lnTo>
                  <a:pt x="4459705" y="3371626"/>
                </a:lnTo>
                <a:lnTo>
                  <a:pt x="4443663" y="3371169"/>
                </a:lnTo>
                <a:lnTo>
                  <a:pt x="4427621" y="3370699"/>
                </a:lnTo>
                <a:lnTo>
                  <a:pt x="4411578" y="3370214"/>
                </a:lnTo>
                <a:lnTo>
                  <a:pt x="4395536" y="3369714"/>
                </a:lnTo>
                <a:lnTo>
                  <a:pt x="4379494" y="3369199"/>
                </a:lnTo>
                <a:lnTo>
                  <a:pt x="4363452" y="3368669"/>
                </a:lnTo>
                <a:lnTo>
                  <a:pt x="4347410" y="3368122"/>
                </a:lnTo>
                <a:lnTo>
                  <a:pt x="4331368" y="3367560"/>
                </a:lnTo>
                <a:lnTo>
                  <a:pt x="4315326" y="3366980"/>
                </a:lnTo>
                <a:lnTo>
                  <a:pt x="4299284" y="3366382"/>
                </a:lnTo>
                <a:lnTo>
                  <a:pt x="4283242" y="3365767"/>
                </a:lnTo>
                <a:lnTo>
                  <a:pt x="4267199" y="3365133"/>
                </a:lnTo>
                <a:lnTo>
                  <a:pt x="4251157" y="3364480"/>
                </a:lnTo>
                <a:lnTo>
                  <a:pt x="4235115" y="3363808"/>
                </a:lnTo>
                <a:lnTo>
                  <a:pt x="4219073" y="3363115"/>
                </a:lnTo>
                <a:lnTo>
                  <a:pt x="4203031" y="3362401"/>
                </a:lnTo>
                <a:lnTo>
                  <a:pt x="4186989" y="3361666"/>
                </a:lnTo>
                <a:lnTo>
                  <a:pt x="4170947" y="3360909"/>
                </a:lnTo>
                <a:lnTo>
                  <a:pt x="4154905" y="3360129"/>
                </a:lnTo>
                <a:lnTo>
                  <a:pt x="4138863" y="3359326"/>
                </a:lnTo>
                <a:lnTo>
                  <a:pt x="4122821" y="3358498"/>
                </a:lnTo>
                <a:lnTo>
                  <a:pt x="4106778" y="3357646"/>
                </a:lnTo>
                <a:lnTo>
                  <a:pt x="4090736" y="3356768"/>
                </a:lnTo>
                <a:lnTo>
                  <a:pt x="4074694" y="3355864"/>
                </a:lnTo>
                <a:lnTo>
                  <a:pt x="4058652" y="3354933"/>
                </a:lnTo>
                <a:lnTo>
                  <a:pt x="4042610" y="3353974"/>
                </a:lnTo>
                <a:lnTo>
                  <a:pt x="4026568" y="3352986"/>
                </a:lnTo>
                <a:lnTo>
                  <a:pt x="4010526" y="3351969"/>
                </a:lnTo>
                <a:lnTo>
                  <a:pt x="3994484" y="3350921"/>
                </a:lnTo>
                <a:lnTo>
                  <a:pt x="3978442" y="3349842"/>
                </a:lnTo>
                <a:lnTo>
                  <a:pt x="3962400" y="3348731"/>
                </a:lnTo>
                <a:lnTo>
                  <a:pt x="3946357" y="3347587"/>
                </a:lnTo>
                <a:lnTo>
                  <a:pt x="3930315" y="3346409"/>
                </a:lnTo>
                <a:lnTo>
                  <a:pt x="3914273" y="3345196"/>
                </a:lnTo>
                <a:lnTo>
                  <a:pt x="3898231" y="3343946"/>
                </a:lnTo>
                <a:lnTo>
                  <a:pt x="3882189" y="3342660"/>
                </a:lnTo>
                <a:lnTo>
                  <a:pt x="3866147" y="3341335"/>
                </a:lnTo>
                <a:lnTo>
                  <a:pt x="3850105" y="3339971"/>
                </a:lnTo>
                <a:lnTo>
                  <a:pt x="3834063" y="3338567"/>
                </a:lnTo>
                <a:lnTo>
                  <a:pt x="3818021" y="3337121"/>
                </a:lnTo>
                <a:lnTo>
                  <a:pt x="3801978" y="3335632"/>
                </a:lnTo>
                <a:lnTo>
                  <a:pt x="3785936" y="3334099"/>
                </a:lnTo>
                <a:lnTo>
                  <a:pt x="3769894" y="3332521"/>
                </a:lnTo>
                <a:lnTo>
                  <a:pt x="3753852" y="3330897"/>
                </a:lnTo>
                <a:lnTo>
                  <a:pt x="3737810" y="3329225"/>
                </a:lnTo>
                <a:lnTo>
                  <a:pt x="3721768" y="3327503"/>
                </a:lnTo>
                <a:lnTo>
                  <a:pt x="3705726" y="3325731"/>
                </a:lnTo>
                <a:lnTo>
                  <a:pt x="3689684" y="3323907"/>
                </a:lnTo>
                <a:lnTo>
                  <a:pt x="3673642" y="3322029"/>
                </a:lnTo>
                <a:lnTo>
                  <a:pt x="3657600" y="3320096"/>
                </a:lnTo>
                <a:lnTo>
                  <a:pt x="3641557" y="3318107"/>
                </a:lnTo>
                <a:lnTo>
                  <a:pt x="3625515" y="3316060"/>
                </a:lnTo>
                <a:lnTo>
                  <a:pt x="3609473" y="3313953"/>
                </a:lnTo>
                <a:lnTo>
                  <a:pt x="3593431" y="3311784"/>
                </a:lnTo>
                <a:lnTo>
                  <a:pt x="3577389" y="3309553"/>
                </a:lnTo>
                <a:lnTo>
                  <a:pt x="3561347" y="3307256"/>
                </a:lnTo>
                <a:lnTo>
                  <a:pt x="3545305" y="3304894"/>
                </a:lnTo>
                <a:lnTo>
                  <a:pt x="3529263" y="3302462"/>
                </a:lnTo>
                <a:lnTo>
                  <a:pt x="3513221" y="3299961"/>
                </a:lnTo>
                <a:lnTo>
                  <a:pt x="3497178" y="3297387"/>
                </a:lnTo>
                <a:lnTo>
                  <a:pt x="3481136" y="3294739"/>
                </a:lnTo>
                <a:lnTo>
                  <a:pt x="3465094" y="3292015"/>
                </a:lnTo>
                <a:lnTo>
                  <a:pt x="3449052" y="3289212"/>
                </a:lnTo>
                <a:lnTo>
                  <a:pt x="3433010" y="3286329"/>
                </a:lnTo>
                <a:lnTo>
                  <a:pt x="3416968" y="3283364"/>
                </a:lnTo>
                <a:lnTo>
                  <a:pt x="3400926" y="3280315"/>
                </a:lnTo>
                <a:lnTo>
                  <a:pt x="3384884" y="3277178"/>
                </a:lnTo>
                <a:lnTo>
                  <a:pt x="3368842" y="3273952"/>
                </a:lnTo>
                <a:lnTo>
                  <a:pt x="3352799" y="3270635"/>
                </a:lnTo>
                <a:lnTo>
                  <a:pt x="3336757" y="3267224"/>
                </a:lnTo>
                <a:lnTo>
                  <a:pt x="3320715" y="3263716"/>
                </a:lnTo>
                <a:lnTo>
                  <a:pt x="3304673" y="3260110"/>
                </a:lnTo>
                <a:lnTo>
                  <a:pt x="3288631" y="3256402"/>
                </a:lnTo>
                <a:lnTo>
                  <a:pt x="3272589" y="3252591"/>
                </a:lnTo>
                <a:lnTo>
                  <a:pt x="3256547" y="3248673"/>
                </a:lnTo>
                <a:lnTo>
                  <a:pt x="3240505" y="3244646"/>
                </a:lnTo>
                <a:lnTo>
                  <a:pt x="3224463" y="3240506"/>
                </a:lnTo>
                <a:lnTo>
                  <a:pt x="3208421" y="3236253"/>
                </a:lnTo>
                <a:lnTo>
                  <a:pt x="3192378" y="3231881"/>
                </a:lnTo>
                <a:lnTo>
                  <a:pt x="3176336" y="3227389"/>
                </a:lnTo>
                <a:lnTo>
                  <a:pt x="3160294" y="3222774"/>
                </a:lnTo>
                <a:lnTo>
                  <a:pt x="3144252" y="3218032"/>
                </a:lnTo>
                <a:lnTo>
                  <a:pt x="3128210" y="3213161"/>
                </a:lnTo>
                <a:lnTo>
                  <a:pt x="3112168" y="3208157"/>
                </a:lnTo>
                <a:lnTo>
                  <a:pt x="3096126" y="3203018"/>
                </a:lnTo>
                <a:lnTo>
                  <a:pt x="3080084" y="3197740"/>
                </a:lnTo>
                <a:lnTo>
                  <a:pt x="3064042" y="3192321"/>
                </a:lnTo>
                <a:lnTo>
                  <a:pt x="3047999" y="3186755"/>
                </a:lnTo>
                <a:lnTo>
                  <a:pt x="3031957" y="3181042"/>
                </a:lnTo>
                <a:lnTo>
                  <a:pt x="3015915" y="3175176"/>
                </a:lnTo>
                <a:lnTo>
                  <a:pt x="2999873" y="3169156"/>
                </a:lnTo>
                <a:lnTo>
                  <a:pt x="2983831" y="3162976"/>
                </a:lnTo>
                <a:lnTo>
                  <a:pt x="2967789" y="3156635"/>
                </a:lnTo>
                <a:lnTo>
                  <a:pt x="2951747" y="3150128"/>
                </a:lnTo>
                <a:lnTo>
                  <a:pt x="2935705" y="3143452"/>
                </a:lnTo>
                <a:lnTo>
                  <a:pt x="2919663" y="3136603"/>
                </a:lnTo>
                <a:lnTo>
                  <a:pt x="2903621" y="3129579"/>
                </a:lnTo>
                <a:lnTo>
                  <a:pt x="2887578" y="3122374"/>
                </a:lnTo>
                <a:lnTo>
                  <a:pt x="2871536" y="3114986"/>
                </a:lnTo>
                <a:lnTo>
                  <a:pt x="2855494" y="3107411"/>
                </a:lnTo>
                <a:lnTo>
                  <a:pt x="2839452" y="3099645"/>
                </a:lnTo>
                <a:lnTo>
                  <a:pt x="2823410" y="3091685"/>
                </a:lnTo>
                <a:lnTo>
                  <a:pt x="2807368" y="3083528"/>
                </a:lnTo>
                <a:lnTo>
                  <a:pt x="2791326" y="3075168"/>
                </a:lnTo>
                <a:lnTo>
                  <a:pt x="2775284" y="3066604"/>
                </a:lnTo>
                <a:lnTo>
                  <a:pt x="2759242" y="3057830"/>
                </a:lnTo>
                <a:lnTo>
                  <a:pt x="2743200" y="3048845"/>
                </a:lnTo>
                <a:lnTo>
                  <a:pt x="2727157" y="3039643"/>
                </a:lnTo>
                <a:lnTo>
                  <a:pt x="2711115" y="3030221"/>
                </a:lnTo>
                <a:lnTo>
                  <a:pt x="2695073" y="3020577"/>
                </a:lnTo>
                <a:lnTo>
                  <a:pt x="2679031" y="3010705"/>
                </a:lnTo>
                <a:lnTo>
                  <a:pt x="2662989" y="3000604"/>
                </a:lnTo>
                <a:lnTo>
                  <a:pt x="2646947" y="2990269"/>
                </a:lnTo>
                <a:lnTo>
                  <a:pt x="2630905" y="2979697"/>
                </a:lnTo>
                <a:lnTo>
                  <a:pt x="2614863" y="2968885"/>
                </a:lnTo>
                <a:lnTo>
                  <a:pt x="2598821" y="2957829"/>
                </a:lnTo>
                <a:lnTo>
                  <a:pt x="2582778" y="2946527"/>
                </a:lnTo>
                <a:lnTo>
                  <a:pt x="2566736" y="2934976"/>
                </a:lnTo>
                <a:lnTo>
                  <a:pt x="2550694" y="2923171"/>
                </a:lnTo>
                <a:lnTo>
                  <a:pt x="2534652" y="2911112"/>
                </a:lnTo>
                <a:lnTo>
                  <a:pt x="2518610" y="2898794"/>
                </a:lnTo>
                <a:lnTo>
                  <a:pt x="2502568" y="2886215"/>
                </a:lnTo>
                <a:lnTo>
                  <a:pt x="2486526" y="2873373"/>
                </a:lnTo>
                <a:lnTo>
                  <a:pt x="2470484" y="2860265"/>
                </a:lnTo>
                <a:lnTo>
                  <a:pt x="2454442" y="2846890"/>
                </a:lnTo>
                <a:lnTo>
                  <a:pt x="2438400" y="2833244"/>
                </a:lnTo>
                <a:lnTo>
                  <a:pt x="2422357" y="2819326"/>
                </a:lnTo>
                <a:lnTo>
                  <a:pt x="2406315" y="2805135"/>
                </a:lnTo>
                <a:lnTo>
                  <a:pt x="2390273" y="2790669"/>
                </a:lnTo>
                <a:lnTo>
                  <a:pt x="2374231" y="2775926"/>
                </a:lnTo>
                <a:lnTo>
                  <a:pt x="2358189" y="2760906"/>
                </a:lnTo>
                <a:lnTo>
                  <a:pt x="2342147" y="2745607"/>
                </a:lnTo>
                <a:lnTo>
                  <a:pt x="2326105" y="2730029"/>
                </a:lnTo>
                <a:lnTo>
                  <a:pt x="2310063" y="2714171"/>
                </a:lnTo>
                <a:lnTo>
                  <a:pt x="2294021" y="2698033"/>
                </a:lnTo>
                <a:lnTo>
                  <a:pt x="2277978" y="2681615"/>
                </a:lnTo>
                <a:lnTo>
                  <a:pt x="2261936" y="2664918"/>
                </a:lnTo>
                <a:lnTo>
                  <a:pt x="2245894" y="2647941"/>
                </a:lnTo>
                <a:lnTo>
                  <a:pt x="2229852" y="2630686"/>
                </a:lnTo>
                <a:lnTo>
                  <a:pt x="2213810" y="2613154"/>
                </a:lnTo>
                <a:lnTo>
                  <a:pt x="2197768" y="2595346"/>
                </a:lnTo>
                <a:lnTo>
                  <a:pt x="2181726" y="2577263"/>
                </a:lnTo>
                <a:lnTo>
                  <a:pt x="2165684" y="2558909"/>
                </a:lnTo>
                <a:lnTo>
                  <a:pt x="2149642" y="2540284"/>
                </a:lnTo>
                <a:lnTo>
                  <a:pt x="2133599" y="2521392"/>
                </a:lnTo>
                <a:lnTo>
                  <a:pt x="2117557" y="2502236"/>
                </a:lnTo>
                <a:lnTo>
                  <a:pt x="2101515" y="2482819"/>
                </a:lnTo>
                <a:lnTo>
                  <a:pt x="2085473" y="2463144"/>
                </a:lnTo>
                <a:lnTo>
                  <a:pt x="2069431" y="2443215"/>
                </a:lnTo>
                <a:lnTo>
                  <a:pt x="2053389" y="2423037"/>
                </a:lnTo>
                <a:lnTo>
                  <a:pt x="2037347" y="2402615"/>
                </a:lnTo>
                <a:lnTo>
                  <a:pt x="2021305" y="2381952"/>
                </a:lnTo>
                <a:lnTo>
                  <a:pt x="2005263" y="2361055"/>
                </a:lnTo>
                <a:lnTo>
                  <a:pt x="1989221" y="2339929"/>
                </a:lnTo>
                <a:lnTo>
                  <a:pt x="1973178" y="2318580"/>
                </a:lnTo>
                <a:lnTo>
                  <a:pt x="1957136" y="2297013"/>
                </a:lnTo>
                <a:lnTo>
                  <a:pt x="1941094" y="2275237"/>
                </a:lnTo>
                <a:lnTo>
                  <a:pt x="1925052" y="2253257"/>
                </a:lnTo>
                <a:lnTo>
                  <a:pt x="1909010" y="2231081"/>
                </a:lnTo>
                <a:lnTo>
                  <a:pt x="1892968" y="2208717"/>
                </a:lnTo>
                <a:lnTo>
                  <a:pt x="1876926" y="2186171"/>
                </a:lnTo>
                <a:lnTo>
                  <a:pt x="1860884" y="2163453"/>
                </a:lnTo>
                <a:lnTo>
                  <a:pt x="1844842" y="2140571"/>
                </a:lnTo>
                <a:lnTo>
                  <a:pt x="1828800" y="2117533"/>
                </a:lnTo>
                <a:lnTo>
                  <a:pt x="1812757" y="2094348"/>
                </a:lnTo>
                <a:lnTo>
                  <a:pt x="1796715" y="2071026"/>
                </a:lnTo>
                <a:lnTo>
                  <a:pt x="1780673" y="2047576"/>
                </a:lnTo>
                <a:lnTo>
                  <a:pt x="1764631" y="2024007"/>
                </a:lnTo>
                <a:lnTo>
                  <a:pt x="1748589" y="2000330"/>
                </a:lnTo>
                <a:lnTo>
                  <a:pt x="1732547" y="1976554"/>
                </a:lnTo>
                <a:lnTo>
                  <a:pt x="1716505" y="1952689"/>
                </a:lnTo>
                <a:lnTo>
                  <a:pt x="1700463" y="1928747"/>
                </a:lnTo>
                <a:lnTo>
                  <a:pt x="1684421" y="1904737"/>
                </a:lnTo>
                <a:lnTo>
                  <a:pt x="1668378" y="1880670"/>
                </a:lnTo>
                <a:lnTo>
                  <a:pt x="1652336" y="1856556"/>
                </a:lnTo>
                <a:lnTo>
                  <a:pt x="1636294" y="1832408"/>
                </a:lnTo>
                <a:lnTo>
                  <a:pt x="1620252" y="1808234"/>
                </a:lnTo>
                <a:lnTo>
                  <a:pt x="1604210" y="1784047"/>
                </a:lnTo>
                <a:lnTo>
                  <a:pt x="1588168" y="1759858"/>
                </a:lnTo>
                <a:lnTo>
                  <a:pt x="1572126" y="1735676"/>
                </a:lnTo>
                <a:lnTo>
                  <a:pt x="1556084" y="1711514"/>
                </a:lnTo>
                <a:lnTo>
                  <a:pt x="1540042" y="1687382"/>
                </a:lnTo>
                <a:lnTo>
                  <a:pt x="1524000" y="1663290"/>
                </a:lnTo>
                <a:lnTo>
                  <a:pt x="1507957" y="1639250"/>
                </a:lnTo>
                <a:lnTo>
                  <a:pt x="1491915" y="1615273"/>
                </a:lnTo>
                <a:lnTo>
                  <a:pt x="1475873" y="1591368"/>
                </a:lnTo>
                <a:lnTo>
                  <a:pt x="1459831" y="1567546"/>
                </a:lnTo>
                <a:lnTo>
                  <a:pt x="1443789" y="1543818"/>
                </a:lnTo>
                <a:lnTo>
                  <a:pt x="1427747" y="1520194"/>
                </a:lnTo>
                <a:lnTo>
                  <a:pt x="1411705" y="1496683"/>
                </a:lnTo>
                <a:lnTo>
                  <a:pt x="1395663" y="1473296"/>
                </a:lnTo>
                <a:lnTo>
                  <a:pt x="1379621" y="1450041"/>
                </a:lnTo>
                <a:lnTo>
                  <a:pt x="1363578" y="1426929"/>
                </a:lnTo>
                <a:lnTo>
                  <a:pt x="1347536" y="1403967"/>
                </a:lnTo>
                <a:lnTo>
                  <a:pt x="1331494" y="1381166"/>
                </a:lnTo>
                <a:lnTo>
                  <a:pt x="1315452" y="1358533"/>
                </a:lnTo>
                <a:lnTo>
                  <a:pt x="1299410" y="1336078"/>
                </a:lnTo>
                <a:lnTo>
                  <a:pt x="1283368" y="1313806"/>
                </a:lnTo>
                <a:lnTo>
                  <a:pt x="1267326" y="1291728"/>
                </a:lnTo>
                <a:lnTo>
                  <a:pt x="1251284" y="1269849"/>
                </a:lnTo>
                <a:lnTo>
                  <a:pt x="1235242" y="1248176"/>
                </a:lnTo>
                <a:lnTo>
                  <a:pt x="1219199" y="1226718"/>
                </a:lnTo>
                <a:lnTo>
                  <a:pt x="1203157" y="1205479"/>
                </a:lnTo>
                <a:lnTo>
                  <a:pt x="1187115" y="1184467"/>
                </a:lnTo>
                <a:lnTo>
                  <a:pt x="1171073" y="1163687"/>
                </a:lnTo>
                <a:lnTo>
                  <a:pt x="1155031" y="1143143"/>
                </a:lnTo>
                <a:lnTo>
                  <a:pt x="1138989" y="1122842"/>
                </a:lnTo>
                <a:lnTo>
                  <a:pt x="1122947" y="1102789"/>
                </a:lnTo>
                <a:lnTo>
                  <a:pt x="1106905" y="1082986"/>
                </a:lnTo>
                <a:lnTo>
                  <a:pt x="1090863" y="1063440"/>
                </a:lnTo>
                <a:lnTo>
                  <a:pt x="1074821" y="1044153"/>
                </a:lnTo>
                <a:lnTo>
                  <a:pt x="1058778" y="1025128"/>
                </a:lnTo>
                <a:lnTo>
                  <a:pt x="1042736" y="1006370"/>
                </a:lnTo>
                <a:lnTo>
                  <a:pt x="1026694" y="987880"/>
                </a:lnTo>
                <a:lnTo>
                  <a:pt x="1010652" y="969661"/>
                </a:lnTo>
                <a:lnTo>
                  <a:pt x="994610" y="951716"/>
                </a:lnTo>
                <a:lnTo>
                  <a:pt x="978568" y="934045"/>
                </a:lnTo>
                <a:lnTo>
                  <a:pt x="962526" y="916651"/>
                </a:lnTo>
                <a:lnTo>
                  <a:pt x="946484" y="899535"/>
                </a:lnTo>
                <a:lnTo>
                  <a:pt x="930442" y="882698"/>
                </a:lnTo>
                <a:lnTo>
                  <a:pt x="914400" y="866140"/>
                </a:lnTo>
                <a:lnTo>
                  <a:pt x="898357" y="849862"/>
                </a:lnTo>
                <a:lnTo>
                  <a:pt x="882315" y="833865"/>
                </a:lnTo>
                <a:lnTo>
                  <a:pt x="866273" y="818147"/>
                </a:lnTo>
                <a:lnTo>
                  <a:pt x="850231" y="802708"/>
                </a:lnTo>
                <a:lnTo>
                  <a:pt x="834189" y="787549"/>
                </a:lnTo>
                <a:lnTo>
                  <a:pt x="818147" y="772667"/>
                </a:lnTo>
                <a:lnTo>
                  <a:pt x="802105" y="758063"/>
                </a:lnTo>
                <a:lnTo>
                  <a:pt x="786063" y="743735"/>
                </a:lnTo>
                <a:lnTo>
                  <a:pt x="770021" y="729680"/>
                </a:lnTo>
                <a:lnTo>
                  <a:pt x="753978" y="715899"/>
                </a:lnTo>
                <a:lnTo>
                  <a:pt x="737936" y="702389"/>
                </a:lnTo>
                <a:lnTo>
                  <a:pt x="721894" y="689147"/>
                </a:lnTo>
                <a:lnTo>
                  <a:pt x="705852" y="676173"/>
                </a:lnTo>
                <a:lnTo>
                  <a:pt x="689810" y="663463"/>
                </a:lnTo>
                <a:lnTo>
                  <a:pt x="673768" y="651015"/>
                </a:lnTo>
                <a:lnTo>
                  <a:pt x="657726" y="638826"/>
                </a:lnTo>
                <a:lnTo>
                  <a:pt x="641684" y="626894"/>
                </a:lnTo>
                <a:lnTo>
                  <a:pt x="625642" y="615217"/>
                </a:lnTo>
                <a:lnTo>
                  <a:pt x="609599" y="603790"/>
                </a:lnTo>
                <a:lnTo>
                  <a:pt x="593557" y="592612"/>
                </a:lnTo>
                <a:lnTo>
                  <a:pt x="577515" y="581679"/>
                </a:lnTo>
                <a:lnTo>
                  <a:pt x="561473" y="570987"/>
                </a:lnTo>
                <a:lnTo>
                  <a:pt x="545431" y="560534"/>
                </a:lnTo>
                <a:lnTo>
                  <a:pt x="529389" y="550316"/>
                </a:lnTo>
                <a:lnTo>
                  <a:pt x="513347" y="540330"/>
                </a:lnTo>
                <a:lnTo>
                  <a:pt x="497305" y="530573"/>
                </a:lnTo>
                <a:lnTo>
                  <a:pt x="481263" y="521040"/>
                </a:lnTo>
                <a:lnTo>
                  <a:pt x="465221" y="511729"/>
                </a:lnTo>
                <a:lnTo>
                  <a:pt x="449178" y="502635"/>
                </a:lnTo>
                <a:lnTo>
                  <a:pt x="433136" y="493756"/>
                </a:lnTo>
                <a:lnTo>
                  <a:pt x="417094" y="485088"/>
                </a:lnTo>
                <a:lnTo>
                  <a:pt x="401052" y="476626"/>
                </a:lnTo>
                <a:lnTo>
                  <a:pt x="385010" y="468368"/>
                </a:lnTo>
                <a:lnTo>
                  <a:pt x="368968" y="460310"/>
                </a:lnTo>
                <a:lnTo>
                  <a:pt x="352926" y="452447"/>
                </a:lnTo>
                <a:lnTo>
                  <a:pt x="336884" y="444778"/>
                </a:lnTo>
                <a:lnTo>
                  <a:pt x="320842" y="437297"/>
                </a:lnTo>
                <a:lnTo>
                  <a:pt x="304800" y="430001"/>
                </a:lnTo>
                <a:lnTo>
                  <a:pt x="288757" y="422886"/>
                </a:lnTo>
                <a:lnTo>
                  <a:pt x="272715" y="415950"/>
                </a:lnTo>
                <a:lnTo>
                  <a:pt x="256673" y="409188"/>
                </a:lnTo>
                <a:lnTo>
                  <a:pt x="240631" y="402597"/>
                </a:lnTo>
                <a:lnTo>
                  <a:pt x="224589" y="396173"/>
                </a:lnTo>
                <a:lnTo>
                  <a:pt x="208547" y="389914"/>
                </a:lnTo>
                <a:lnTo>
                  <a:pt x="192505" y="383814"/>
                </a:lnTo>
                <a:lnTo>
                  <a:pt x="176463" y="377871"/>
                </a:lnTo>
                <a:lnTo>
                  <a:pt x="160421" y="372082"/>
                </a:lnTo>
                <a:lnTo>
                  <a:pt x="144378" y="366443"/>
                </a:lnTo>
                <a:lnTo>
                  <a:pt x="128336" y="360951"/>
                </a:lnTo>
                <a:lnTo>
                  <a:pt x="112294" y="355603"/>
                </a:lnTo>
                <a:lnTo>
                  <a:pt x="96252" y="350395"/>
                </a:lnTo>
                <a:lnTo>
                  <a:pt x="80210" y="345324"/>
                </a:lnTo>
                <a:lnTo>
                  <a:pt x="64168" y="340387"/>
                </a:lnTo>
                <a:lnTo>
                  <a:pt x="48126" y="335581"/>
                </a:lnTo>
                <a:lnTo>
                  <a:pt x="32084" y="330903"/>
                </a:lnTo>
                <a:lnTo>
                  <a:pt x="16042" y="326349"/>
                </a:lnTo>
                <a:lnTo>
                  <a:pt x="0" y="321918"/>
                </a:lnTo>
                <a:close/>
              </a:path>
            </a:pathLst>
          </a:custGeom>
          <a:solidFill>
            <a:srgbClr val="8EDBD4">
              <a:alpha val="55000"/>
            </a:srgbClr>
          </a:solidFill>
          <a:ln w="10160">
            <a:solidFill>
              <a:srgbClr val="8EDBD4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18 polygon 35" descr="sci-ppt:o035"/>
          <p:cNvSpPr/>
          <p:nvPr/>
        </p:nvSpPr>
        <p:spPr>
          <a:xfrm>
            <a:off x="914400" y="1642533"/>
            <a:ext cx="6400800" cy="1466025"/>
          </a:xfrm>
          <a:custGeom>
            <a:avLst/>
            <a:gdLst/>
            <a:ahLst/>
            <a:cxnLst/>
            <a:rect l="l" t="t" r="r" b="b"/>
            <a:pathLst>
              <a:path w="6400800" h="1466025">
                <a:moveTo>
                  <a:pt x="0" y="0"/>
                </a:moveTo>
                <a:lnTo>
                  <a:pt x="16042" y="0"/>
                </a:lnTo>
                <a:lnTo>
                  <a:pt x="32084" y="0"/>
                </a:lnTo>
                <a:lnTo>
                  <a:pt x="48126" y="0"/>
                </a:lnTo>
                <a:lnTo>
                  <a:pt x="64168" y="0"/>
                </a:lnTo>
                <a:lnTo>
                  <a:pt x="80210" y="0"/>
                </a:lnTo>
                <a:lnTo>
                  <a:pt x="96252" y="0"/>
                </a:lnTo>
                <a:lnTo>
                  <a:pt x="112294" y="0"/>
                </a:lnTo>
                <a:lnTo>
                  <a:pt x="128336" y="0"/>
                </a:lnTo>
                <a:lnTo>
                  <a:pt x="144378" y="0"/>
                </a:lnTo>
                <a:lnTo>
                  <a:pt x="160421" y="0"/>
                </a:lnTo>
                <a:lnTo>
                  <a:pt x="176463" y="0"/>
                </a:lnTo>
                <a:lnTo>
                  <a:pt x="192505" y="0"/>
                </a:lnTo>
                <a:lnTo>
                  <a:pt x="208547" y="0"/>
                </a:lnTo>
                <a:lnTo>
                  <a:pt x="224589" y="0"/>
                </a:lnTo>
                <a:lnTo>
                  <a:pt x="240631" y="0"/>
                </a:lnTo>
                <a:lnTo>
                  <a:pt x="256673" y="0"/>
                </a:lnTo>
                <a:lnTo>
                  <a:pt x="272715" y="0"/>
                </a:lnTo>
                <a:lnTo>
                  <a:pt x="288757" y="0"/>
                </a:lnTo>
                <a:lnTo>
                  <a:pt x="304800" y="0"/>
                </a:lnTo>
                <a:lnTo>
                  <a:pt x="320842" y="0"/>
                </a:lnTo>
                <a:lnTo>
                  <a:pt x="336884" y="0"/>
                </a:lnTo>
                <a:lnTo>
                  <a:pt x="352926" y="0"/>
                </a:lnTo>
                <a:lnTo>
                  <a:pt x="368968" y="0"/>
                </a:lnTo>
                <a:lnTo>
                  <a:pt x="385010" y="0"/>
                </a:lnTo>
                <a:lnTo>
                  <a:pt x="401052" y="0"/>
                </a:lnTo>
                <a:lnTo>
                  <a:pt x="417094" y="0"/>
                </a:lnTo>
                <a:lnTo>
                  <a:pt x="433136" y="0"/>
                </a:lnTo>
                <a:lnTo>
                  <a:pt x="449178" y="0"/>
                </a:lnTo>
                <a:lnTo>
                  <a:pt x="465221" y="0"/>
                </a:lnTo>
                <a:lnTo>
                  <a:pt x="481263" y="0"/>
                </a:lnTo>
                <a:lnTo>
                  <a:pt x="497305" y="0"/>
                </a:lnTo>
                <a:lnTo>
                  <a:pt x="513347" y="0"/>
                </a:lnTo>
                <a:lnTo>
                  <a:pt x="529389" y="0"/>
                </a:lnTo>
                <a:lnTo>
                  <a:pt x="545431" y="0"/>
                </a:lnTo>
                <a:lnTo>
                  <a:pt x="561473" y="0"/>
                </a:lnTo>
                <a:lnTo>
                  <a:pt x="577515" y="0"/>
                </a:lnTo>
                <a:lnTo>
                  <a:pt x="593557" y="0"/>
                </a:lnTo>
                <a:lnTo>
                  <a:pt x="609599" y="0"/>
                </a:lnTo>
                <a:lnTo>
                  <a:pt x="625642" y="0"/>
                </a:lnTo>
                <a:lnTo>
                  <a:pt x="641684" y="0"/>
                </a:lnTo>
                <a:lnTo>
                  <a:pt x="657726" y="0"/>
                </a:lnTo>
                <a:lnTo>
                  <a:pt x="673768" y="0"/>
                </a:lnTo>
                <a:lnTo>
                  <a:pt x="689810" y="0"/>
                </a:lnTo>
                <a:lnTo>
                  <a:pt x="705852" y="0"/>
                </a:lnTo>
                <a:lnTo>
                  <a:pt x="721894" y="0"/>
                </a:lnTo>
                <a:lnTo>
                  <a:pt x="737936" y="0"/>
                </a:lnTo>
                <a:lnTo>
                  <a:pt x="753978" y="0"/>
                </a:lnTo>
                <a:lnTo>
                  <a:pt x="770021" y="0"/>
                </a:lnTo>
                <a:lnTo>
                  <a:pt x="786063" y="0"/>
                </a:lnTo>
                <a:lnTo>
                  <a:pt x="802105" y="0"/>
                </a:lnTo>
                <a:lnTo>
                  <a:pt x="818147" y="0"/>
                </a:lnTo>
                <a:lnTo>
                  <a:pt x="834189" y="0"/>
                </a:lnTo>
                <a:lnTo>
                  <a:pt x="850231" y="0"/>
                </a:lnTo>
                <a:lnTo>
                  <a:pt x="866273" y="0"/>
                </a:lnTo>
                <a:lnTo>
                  <a:pt x="882315" y="0"/>
                </a:lnTo>
                <a:lnTo>
                  <a:pt x="898357" y="0"/>
                </a:lnTo>
                <a:lnTo>
                  <a:pt x="914400" y="0"/>
                </a:lnTo>
                <a:lnTo>
                  <a:pt x="930442" y="0"/>
                </a:lnTo>
                <a:lnTo>
                  <a:pt x="946484" y="0"/>
                </a:lnTo>
                <a:lnTo>
                  <a:pt x="962526" y="0"/>
                </a:lnTo>
                <a:lnTo>
                  <a:pt x="978568" y="0"/>
                </a:lnTo>
                <a:lnTo>
                  <a:pt x="994610" y="0"/>
                </a:lnTo>
                <a:lnTo>
                  <a:pt x="1010652" y="0"/>
                </a:lnTo>
                <a:lnTo>
                  <a:pt x="1026694" y="0"/>
                </a:lnTo>
                <a:lnTo>
                  <a:pt x="1042736" y="0"/>
                </a:lnTo>
                <a:lnTo>
                  <a:pt x="1058778" y="0"/>
                </a:lnTo>
                <a:lnTo>
                  <a:pt x="1074821" y="0"/>
                </a:lnTo>
                <a:lnTo>
                  <a:pt x="1090863" y="0"/>
                </a:lnTo>
                <a:lnTo>
                  <a:pt x="1106905" y="0"/>
                </a:lnTo>
                <a:lnTo>
                  <a:pt x="1122947" y="0"/>
                </a:lnTo>
                <a:lnTo>
                  <a:pt x="1138989" y="0"/>
                </a:lnTo>
                <a:lnTo>
                  <a:pt x="1155031" y="0"/>
                </a:lnTo>
                <a:lnTo>
                  <a:pt x="1171073" y="0"/>
                </a:lnTo>
                <a:lnTo>
                  <a:pt x="1187115" y="0"/>
                </a:lnTo>
                <a:lnTo>
                  <a:pt x="1203157" y="0"/>
                </a:lnTo>
                <a:lnTo>
                  <a:pt x="1219199" y="0"/>
                </a:lnTo>
                <a:lnTo>
                  <a:pt x="1235242" y="0"/>
                </a:lnTo>
                <a:lnTo>
                  <a:pt x="1251284" y="0"/>
                </a:lnTo>
                <a:lnTo>
                  <a:pt x="1267326" y="0"/>
                </a:lnTo>
                <a:lnTo>
                  <a:pt x="1283368" y="0"/>
                </a:lnTo>
                <a:lnTo>
                  <a:pt x="1299410" y="0"/>
                </a:lnTo>
                <a:lnTo>
                  <a:pt x="1315452" y="0"/>
                </a:lnTo>
                <a:lnTo>
                  <a:pt x="1331494" y="0"/>
                </a:lnTo>
                <a:lnTo>
                  <a:pt x="1347536" y="0"/>
                </a:lnTo>
                <a:lnTo>
                  <a:pt x="1363578" y="0"/>
                </a:lnTo>
                <a:lnTo>
                  <a:pt x="1379621" y="0"/>
                </a:lnTo>
                <a:lnTo>
                  <a:pt x="1395663" y="0"/>
                </a:lnTo>
                <a:lnTo>
                  <a:pt x="1411705" y="0"/>
                </a:lnTo>
                <a:lnTo>
                  <a:pt x="1427747" y="0"/>
                </a:lnTo>
                <a:lnTo>
                  <a:pt x="1443789" y="0"/>
                </a:lnTo>
                <a:lnTo>
                  <a:pt x="1459831" y="0"/>
                </a:lnTo>
                <a:lnTo>
                  <a:pt x="1475873" y="0"/>
                </a:lnTo>
                <a:lnTo>
                  <a:pt x="1491915" y="0"/>
                </a:lnTo>
                <a:lnTo>
                  <a:pt x="1507957" y="0"/>
                </a:lnTo>
                <a:lnTo>
                  <a:pt x="1524000" y="0"/>
                </a:lnTo>
                <a:lnTo>
                  <a:pt x="1540042" y="0"/>
                </a:lnTo>
                <a:lnTo>
                  <a:pt x="1556084" y="0"/>
                </a:lnTo>
                <a:lnTo>
                  <a:pt x="1572126" y="0"/>
                </a:lnTo>
                <a:lnTo>
                  <a:pt x="1588168" y="0"/>
                </a:lnTo>
                <a:lnTo>
                  <a:pt x="1604210" y="0"/>
                </a:lnTo>
                <a:lnTo>
                  <a:pt x="1620252" y="0"/>
                </a:lnTo>
                <a:lnTo>
                  <a:pt x="1636294" y="0"/>
                </a:lnTo>
                <a:lnTo>
                  <a:pt x="1652336" y="0"/>
                </a:lnTo>
                <a:lnTo>
                  <a:pt x="1668378" y="0"/>
                </a:lnTo>
                <a:lnTo>
                  <a:pt x="1684421" y="0"/>
                </a:lnTo>
                <a:lnTo>
                  <a:pt x="1700463" y="0"/>
                </a:lnTo>
                <a:lnTo>
                  <a:pt x="1716505" y="0"/>
                </a:lnTo>
                <a:lnTo>
                  <a:pt x="1732547" y="0"/>
                </a:lnTo>
                <a:lnTo>
                  <a:pt x="1748589" y="0"/>
                </a:lnTo>
                <a:lnTo>
                  <a:pt x="1764631" y="0"/>
                </a:lnTo>
                <a:lnTo>
                  <a:pt x="1780673" y="0"/>
                </a:lnTo>
                <a:lnTo>
                  <a:pt x="1796715" y="0"/>
                </a:lnTo>
                <a:lnTo>
                  <a:pt x="1812757" y="0"/>
                </a:lnTo>
                <a:lnTo>
                  <a:pt x="1828800" y="0"/>
                </a:lnTo>
                <a:lnTo>
                  <a:pt x="1844842" y="0"/>
                </a:lnTo>
                <a:lnTo>
                  <a:pt x="1860884" y="0"/>
                </a:lnTo>
                <a:lnTo>
                  <a:pt x="1876926" y="0"/>
                </a:lnTo>
                <a:lnTo>
                  <a:pt x="1892968" y="0"/>
                </a:lnTo>
                <a:lnTo>
                  <a:pt x="1909010" y="0"/>
                </a:lnTo>
                <a:lnTo>
                  <a:pt x="1925052" y="0"/>
                </a:lnTo>
                <a:lnTo>
                  <a:pt x="1941094" y="0"/>
                </a:lnTo>
                <a:lnTo>
                  <a:pt x="1957136" y="0"/>
                </a:lnTo>
                <a:lnTo>
                  <a:pt x="1973178" y="0"/>
                </a:lnTo>
                <a:lnTo>
                  <a:pt x="1989221" y="0"/>
                </a:lnTo>
                <a:lnTo>
                  <a:pt x="2005263" y="0"/>
                </a:lnTo>
                <a:lnTo>
                  <a:pt x="2021305" y="0"/>
                </a:lnTo>
                <a:lnTo>
                  <a:pt x="2037347" y="0"/>
                </a:lnTo>
                <a:lnTo>
                  <a:pt x="2053389" y="0"/>
                </a:lnTo>
                <a:lnTo>
                  <a:pt x="2069431" y="0"/>
                </a:lnTo>
                <a:lnTo>
                  <a:pt x="2085473" y="0"/>
                </a:lnTo>
                <a:lnTo>
                  <a:pt x="2101515" y="0"/>
                </a:lnTo>
                <a:lnTo>
                  <a:pt x="2117557" y="0"/>
                </a:lnTo>
                <a:lnTo>
                  <a:pt x="2133599" y="0"/>
                </a:lnTo>
                <a:lnTo>
                  <a:pt x="2149642" y="0"/>
                </a:lnTo>
                <a:lnTo>
                  <a:pt x="2165684" y="0"/>
                </a:lnTo>
                <a:lnTo>
                  <a:pt x="2181726" y="0"/>
                </a:lnTo>
                <a:lnTo>
                  <a:pt x="2197768" y="0"/>
                </a:lnTo>
                <a:lnTo>
                  <a:pt x="2213810" y="0"/>
                </a:lnTo>
                <a:lnTo>
                  <a:pt x="2229852" y="0"/>
                </a:lnTo>
                <a:lnTo>
                  <a:pt x="2245894" y="0"/>
                </a:lnTo>
                <a:lnTo>
                  <a:pt x="2261936" y="0"/>
                </a:lnTo>
                <a:lnTo>
                  <a:pt x="2277978" y="0"/>
                </a:lnTo>
                <a:lnTo>
                  <a:pt x="2294021" y="0"/>
                </a:lnTo>
                <a:lnTo>
                  <a:pt x="2310063" y="0"/>
                </a:lnTo>
                <a:lnTo>
                  <a:pt x="2326105" y="0"/>
                </a:lnTo>
                <a:lnTo>
                  <a:pt x="2342147" y="0"/>
                </a:lnTo>
                <a:lnTo>
                  <a:pt x="2358189" y="0"/>
                </a:lnTo>
                <a:lnTo>
                  <a:pt x="2374231" y="0"/>
                </a:lnTo>
                <a:lnTo>
                  <a:pt x="2390273" y="0"/>
                </a:lnTo>
                <a:lnTo>
                  <a:pt x="2406315" y="0"/>
                </a:lnTo>
                <a:lnTo>
                  <a:pt x="2422357" y="0"/>
                </a:lnTo>
                <a:lnTo>
                  <a:pt x="2438400" y="0"/>
                </a:lnTo>
                <a:lnTo>
                  <a:pt x="2454442" y="0"/>
                </a:lnTo>
                <a:lnTo>
                  <a:pt x="2470484" y="0"/>
                </a:lnTo>
                <a:lnTo>
                  <a:pt x="2486526" y="0"/>
                </a:lnTo>
                <a:lnTo>
                  <a:pt x="2502568" y="0"/>
                </a:lnTo>
                <a:lnTo>
                  <a:pt x="2518610" y="0"/>
                </a:lnTo>
                <a:lnTo>
                  <a:pt x="2534652" y="0"/>
                </a:lnTo>
                <a:lnTo>
                  <a:pt x="2550694" y="0"/>
                </a:lnTo>
                <a:lnTo>
                  <a:pt x="2566736" y="0"/>
                </a:lnTo>
                <a:lnTo>
                  <a:pt x="2582778" y="0"/>
                </a:lnTo>
                <a:lnTo>
                  <a:pt x="2598821" y="0"/>
                </a:lnTo>
                <a:lnTo>
                  <a:pt x="2614863" y="0"/>
                </a:lnTo>
                <a:lnTo>
                  <a:pt x="2630905" y="0"/>
                </a:lnTo>
                <a:lnTo>
                  <a:pt x="2646947" y="0"/>
                </a:lnTo>
                <a:lnTo>
                  <a:pt x="2662989" y="0"/>
                </a:lnTo>
                <a:lnTo>
                  <a:pt x="2679031" y="0"/>
                </a:lnTo>
                <a:lnTo>
                  <a:pt x="2695073" y="0"/>
                </a:lnTo>
                <a:lnTo>
                  <a:pt x="2711115" y="0"/>
                </a:lnTo>
                <a:lnTo>
                  <a:pt x="2727157" y="0"/>
                </a:lnTo>
                <a:lnTo>
                  <a:pt x="2743200" y="0"/>
                </a:lnTo>
                <a:lnTo>
                  <a:pt x="2759242" y="0"/>
                </a:lnTo>
                <a:lnTo>
                  <a:pt x="2775284" y="0"/>
                </a:lnTo>
                <a:lnTo>
                  <a:pt x="2791326" y="0"/>
                </a:lnTo>
                <a:lnTo>
                  <a:pt x="2807368" y="0"/>
                </a:lnTo>
                <a:lnTo>
                  <a:pt x="2823410" y="0"/>
                </a:lnTo>
                <a:lnTo>
                  <a:pt x="2839452" y="0"/>
                </a:lnTo>
                <a:lnTo>
                  <a:pt x="2855494" y="0"/>
                </a:lnTo>
                <a:lnTo>
                  <a:pt x="2871536" y="0"/>
                </a:lnTo>
                <a:lnTo>
                  <a:pt x="2887578" y="0"/>
                </a:lnTo>
                <a:lnTo>
                  <a:pt x="2903621" y="0"/>
                </a:lnTo>
                <a:lnTo>
                  <a:pt x="2919663" y="0"/>
                </a:lnTo>
                <a:lnTo>
                  <a:pt x="2935705" y="0"/>
                </a:lnTo>
                <a:lnTo>
                  <a:pt x="2951747" y="0"/>
                </a:lnTo>
                <a:lnTo>
                  <a:pt x="2967789" y="0"/>
                </a:lnTo>
                <a:lnTo>
                  <a:pt x="2983831" y="0"/>
                </a:lnTo>
                <a:lnTo>
                  <a:pt x="2999873" y="0"/>
                </a:lnTo>
                <a:lnTo>
                  <a:pt x="3015915" y="0"/>
                </a:lnTo>
                <a:lnTo>
                  <a:pt x="3031957" y="0"/>
                </a:lnTo>
                <a:lnTo>
                  <a:pt x="3047999" y="0"/>
                </a:lnTo>
                <a:lnTo>
                  <a:pt x="3064042" y="0"/>
                </a:lnTo>
                <a:lnTo>
                  <a:pt x="3080084" y="0"/>
                </a:lnTo>
                <a:lnTo>
                  <a:pt x="3096126" y="0"/>
                </a:lnTo>
                <a:lnTo>
                  <a:pt x="3112168" y="0"/>
                </a:lnTo>
                <a:lnTo>
                  <a:pt x="3128210" y="0"/>
                </a:lnTo>
                <a:lnTo>
                  <a:pt x="3144252" y="0"/>
                </a:lnTo>
                <a:lnTo>
                  <a:pt x="3160294" y="0"/>
                </a:lnTo>
                <a:lnTo>
                  <a:pt x="3176336" y="0"/>
                </a:lnTo>
                <a:lnTo>
                  <a:pt x="3192378" y="0"/>
                </a:lnTo>
                <a:lnTo>
                  <a:pt x="3208421" y="7075"/>
                </a:lnTo>
                <a:lnTo>
                  <a:pt x="3224463" y="21120"/>
                </a:lnTo>
                <a:lnTo>
                  <a:pt x="3240505" y="35026"/>
                </a:lnTo>
                <a:lnTo>
                  <a:pt x="3256547" y="48792"/>
                </a:lnTo>
                <a:lnTo>
                  <a:pt x="3272589" y="62419"/>
                </a:lnTo>
                <a:lnTo>
                  <a:pt x="3288631" y="75907"/>
                </a:lnTo>
                <a:lnTo>
                  <a:pt x="3304673" y="89257"/>
                </a:lnTo>
                <a:lnTo>
                  <a:pt x="3320715" y="102468"/>
                </a:lnTo>
                <a:lnTo>
                  <a:pt x="3336757" y="115541"/>
                </a:lnTo>
                <a:lnTo>
                  <a:pt x="3352799" y="128477"/>
                </a:lnTo>
                <a:lnTo>
                  <a:pt x="3368842" y="141276"/>
                </a:lnTo>
                <a:lnTo>
                  <a:pt x="3384884" y="153938"/>
                </a:lnTo>
                <a:lnTo>
                  <a:pt x="3400926" y="166464"/>
                </a:lnTo>
                <a:lnTo>
                  <a:pt x="3416968" y="178855"/>
                </a:lnTo>
                <a:lnTo>
                  <a:pt x="3433010" y="191111"/>
                </a:lnTo>
                <a:lnTo>
                  <a:pt x="3449052" y="203233"/>
                </a:lnTo>
                <a:lnTo>
                  <a:pt x="3465094" y="215221"/>
                </a:lnTo>
                <a:lnTo>
                  <a:pt x="3481136" y="227077"/>
                </a:lnTo>
                <a:lnTo>
                  <a:pt x="3497178" y="238802"/>
                </a:lnTo>
                <a:lnTo>
                  <a:pt x="3513221" y="250395"/>
                </a:lnTo>
                <a:lnTo>
                  <a:pt x="3529263" y="261859"/>
                </a:lnTo>
                <a:lnTo>
                  <a:pt x="3545305" y="273193"/>
                </a:lnTo>
                <a:lnTo>
                  <a:pt x="3561347" y="284398"/>
                </a:lnTo>
                <a:lnTo>
                  <a:pt x="3577389" y="295477"/>
                </a:lnTo>
                <a:lnTo>
                  <a:pt x="3593431" y="306429"/>
                </a:lnTo>
                <a:lnTo>
                  <a:pt x="3609473" y="317255"/>
                </a:lnTo>
                <a:lnTo>
                  <a:pt x="3625515" y="327957"/>
                </a:lnTo>
                <a:lnTo>
                  <a:pt x="3641557" y="338535"/>
                </a:lnTo>
                <a:lnTo>
                  <a:pt x="3657600" y="348990"/>
                </a:lnTo>
                <a:lnTo>
                  <a:pt x="3673642" y="359324"/>
                </a:lnTo>
                <a:lnTo>
                  <a:pt x="3689684" y="369538"/>
                </a:lnTo>
                <a:lnTo>
                  <a:pt x="3705726" y="379632"/>
                </a:lnTo>
                <a:lnTo>
                  <a:pt x="3721768" y="389607"/>
                </a:lnTo>
                <a:lnTo>
                  <a:pt x="3737810" y="399465"/>
                </a:lnTo>
                <a:lnTo>
                  <a:pt x="3753852" y="409207"/>
                </a:lnTo>
                <a:lnTo>
                  <a:pt x="3769894" y="418833"/>
                </a:lnTo>
                <a:lnTo>
                  <a:pt x="3785936" y="428345"/>
                </a:lnTo>
                <a:lnTo>
                  <a:pt x="3801978" y="437744"/>
                </a:lnTo>
                <a:lnTo>
                  <a:pt x="3818021" y="447031"/>
                </a:lnTo>
                <a:lnTo>
                  <a:pt x="3834063" y="456207"/>
                </a:lnTo>
                <a:lnTo>
                  <a:pt x="3850105" y="465273"/>
                </a:lnTo>
                <a:lnTo>
                  <a:pt x="3866147" y="474230"/>
                </a:lnTo>
                <a:lnTo>
                  <a:pt x="3882189" y="483079"/>
                </a:lnTo>
                <a:lnTo>
                  <a:pt x="3898231" y="491822"/>
                </a:lnTo>
                <a:lnTo>
                  <a:pt x="3914273" y="500459"/>
                </a:lnTo>
                <a:lnTo>
                  <a:pt x="3930315" y="508991"/>
                </a:lnTo>
                <a:lnTo>
                  <a:pt x="3946357" y="517421"/>
                </a:lnTo>
                <a:lnTo>
                  <a:pt x="3962400" y="525748"/>
                </a:lnTo>
                <a:lnTo>
                  <a:pt x="3978442" y="533973"/>
                </a:lnTo>
                <a:lnTo>
                  <a:pt x="3994484" y="542099"/>
                </a:lnTo>
                <a:lnTo>
                  <a:pt x="4010526" y="550125"/>
                </a:lnTo>
                <a:lnTo>
                  <a:pt x="4026568" y="558054"/>
                </a:lnTo>
                <a:lnTo>
                  <a:pt x="4042610" y="565885"/>
                </a:lnTo>
                <a:lnTo>
                  <a:pt x="4058652" y="573621"/>
                </a:lnTo>
                <a:lnTo>
                  <a:pt x="4074694" y="581261"/>
                </a:lnTo>
                <a:lnTo>
                  <a:pt x="4090736" y="588808"/>
                </a:lnTo>
                <a:lnTo>
                  <a:pt x="4106778" y="596262"/>
                </a:lnTo>
                <a:lnTo>
                  <a:pt x="4122821" y="603625"/>
                </a:lnTo>
                <a:lnTo>
                  <a:pt x="4138863" y="610897"/>
                </a:lnTo>
                <a:lnTo>
                  <a:pt x="4154905" y="618079"/>
                </a:lnTo>
                <a:lnTo>
                  <a:pt x="4170947" y="625172"/>
                </a:lnTo>
                <a:lnTo>
                  <a:pt x="4186989" y="632178"/>
                </a:lnTo>
                <a:lnTo>
                  <a:pt x="4203031" y="639097"/>
                </a:lnTo>
                <a:lnTo>
                  <a:pt x="4219073" y="645931"/>
                </a:lnTo>
                <a:lnTo>
                  <a:pt x="4235115" y="652680"/>
                </a:lnTo>
                <a:lnTo>
                  <a:pt x="4251157" y="659346"/>
                </a:lnTo>
                <a:lnTo>
                  <a:pt x="4267199" y="665928"/>
                </a:lnTo>
                <a:lnTo>
                  <a:pt x="4283242" y="672429"/>
                </a:lnTo>
                <a:lnTo>
                  <a:pt x="4299284" y="678849"/>
                </a:lnTo>
                <a:lnTo>
                  <a:pt x="4315326" y="685190"/>
                </a:lnTo>
                <a:lnTo>
                  <a:pt x="4331368" y="691452"/>
                </a:lnTo>
                <a:lnTo>
                  <a:pt x="4347410" y="697635"/>
                </a:lnTo>
                <a:lnTo>
                  <a:pt x="4363452" y="703742"/>
                </a:lnTo>
                <a:lnTo>
                  <a:pt x="4379494" y="709772"/>
                </a:lnTo>
                <a:lnTo>
                  <a:pt x="4395536" y="715728"/>
                </a:lnTo>
                <a:lnTo>
                  <a:pt x="4411578" y="721609"/>
                </a:lnTo>
                <a:lnTo>
                  <a:pt x="4427621" y="727417"/>
                </a:lnTo>
                <a:lnTo>
                  <a:pt x="4443663" y="733152"/>
                </a:lnTo>
                <a:lnTo>
                  <a:pt x="4459705" y="738816"/>
                </a:lnTo>
                <a:lnTo>
                  <a:pt x="4475747" y="744409"/>
                </a:lnTo>
                <a:lnTo>
                  <a:pt x="4491789" y="749932"/>
                </a:lnTo>
                <a:lnTo>
                  <a:pt x="4507831" y="755386"/>
                </a:lnTo>
                <a:lnTo>
                  <a:pt x="4523873" y="760771"/>
                </a:lnTo>
                <a:lnTo>
                  <a:pt x="4539915" y="766090"/>
                </a:lnTo>
                <a:lnTo>
                  <a:pt x="4555957" y="771342"/>
                </a:lnTo>
                <a:lnTo>
                  <a:pt x="4571999" y="776528"/>
                </a:lnTo>
                <a:lnTo>
                  <a:pt x="4588042" y="781649"/>
                </a:lnTo>
                <a:lnTo>
                  <a:pt x="4604084" y="786706"/>
                </a:lnTo>
                <a:lnTo>
                  <a:pt x="4620126" y="791699"/>
                </a:lnTo>
                <a:lnTo>
                  <a:pt x="4636168" y="796631"/>
                </a:lnTo>
                <a:lnTo>
                  <a:pt x="4652210" y="801500"/>
                </a:lnTo>
                <a:lnTo>
                  <a:pt x="4668252" y="806308"/>
                </a:lnTo>
                <a:lnTo>
                  <a:pt x="4684294" y="811056"/>
                </a:lnTo>
                <a:lnTo>
                  <a:pt x="4700336" y="815744"/>
                </a:lnTo>
                <a:lnTo>
                  <a:pt x="4716378" y="820374"/>
                </a:lnTo>
                <a:lnTo>
                  <a:pt x="4732421" y="824945"/>
                </a:lnTo>
                <a:lnTo>
                  <a:pt x="4748463" y="829460"/>
                </a:lnTo>
                <a:lnTo>
                  <a:pt x="4764505" y="833917"/>
                </a:lnTo>
                <a:lnTo>
                  <a:pt x="4780547" y="838319"/>
                </a:lnTo>
                <a:lnTo>
                  <a:pt x="4796589" y="842665"/>
                </a:lnTo>
                <a:lnTo>
                  <a:pt x="4812631" y="846957"/>
                </a:lnTo>
                <a:lnTo>
                  <a:pt x="4828673" y="851194"/>
                </a:lnTo>
                <a:lnTo>
                  <a:pt x="4844715" y="855379"/>
                </a:lnTo>
                <a:lnTo>
                  <a:pt x="4860757" y="859511"/>
                </a:lnTo>
                <a:lnTo>
                  <a:pt x="4876800" y="863591"/>
                </a:lnTo>
                <a:lnTo>
                  <a:pt x="4892842" y="867620"/>
                </a:lnTo>
                <a:lnTo>
                  <a:pt x="4908884" y="871599"/>
                </a:lnTo>
                <a:lnTo>
                  <a:pt x="4924926" y="875527"/>
                </a:lnTo>
                <a:lnTo>
                  <a:pt x="4940968" y="879406"/>
                </a:lnTo>
                <a:lnTo>
                  <a:pt x="4957010" y="883237"/>
                </a:lnTo>
                <a:lnTo>
                  <a:pt x="4973052" y="887019"/>
                </a:lnTo>
                <a:lnTo>
                  <a:pt x="4989094" y="890754"/>
                </a:lnTo>
                <a:lnTo>
                  <a:pt x="5005136" y="894441"/>
                </a:lnTo>
                <a:lnTo>
                  <a:pt x="5021178" y="898083"/>
                </a:lnTo>
                <a:lnTo>
                  <a:pt x="5037221" y="901679"/>
                </a:lnTo>
                <a:lnTo>
                  <a:pt x="5053263" y="905229"/>
                </a:lnTo>
                <a:lnTo>
                  <a:pt x="5069305" y="908735"/>
                </a:lnTo>
                <a:lnTo>
                  <a:pt x="5085347" y="912197"/>
                </a:lnTo>
                <a:lnTo>
                  <a:pt x="5101389" y="915616"/>
                </a:lnTo>
                <a:lnTo>
                  <a:pt x="5117431" y="918991"/>
                </a:lnTo>
                <a:lnTo>
                  <a:pt x="5133473" y="922324"/>
                </a:lnTo>
                <a:lnTo>
                  <a:pt x="5149515" y="925615"/>
                </a:lnTo>
                <a:lnTo>
                  <a:pt x="5165557" y="928865"/>
                </a:lnTo>
                <a:lnTo>
                  <a:pt x="5181600" y="932074"/>
                </a:lnTo>
                <a:lnTo>
                  <a:pt x="5197642" y="935243"/>
                </a:lnTo>
                <a:lnTo>
                  <a:pt x="5213684" y="938372"/>
                </a:lnTo>
                <a:lnTo>
                  <a:pt x="5229726" y="941462"/>
                </a:lnTo>
                <a:lnTo>
                  <a:pt x="5245768" y="944513"/>
                </a:lnTo>
                <a:lnTo>
                  <a:pt x="5261810" y="947525"/>
                </a:lnTo>
                <a:lnTo>
                  <a:pt x="5277852" y="950500"/>
                </a:lnTo>
                <a:lnTo>
                  <a:pt x="5293894" y="953437"/>
                </a:lnTo>
                <a:lnTo>
                  <a:pt x="5309936" y="956338"/>
                </a:lnTo>
                <a:lnTo>
                  <a:pt x="5325978" y="959202"/>
                </a:lnTo>
                <a:lnTo>
                  <a:pt x="5342021" y="962030"/>
                </a:lnTo>
                <a:lnTo>
                  <a:pt x="5358063" y="964823"/>
                </a:lnTo>
                <a:lnTo>
                  <a:pt x="5374105" y="967580"/>
                </a:lnTo>
                <a:lnTo>
                  <a:pt x="5390147" y="970303"/>
                </a:lnTo>
                <a:lnTo>
                  <a:pt x="5406189" y="972992"/>
                </a:lnTo>
                <a:lnTo>
                  <a:pt x="5422231" y="975647"/>
                </a:lnTo>
                <a:lnTo>
                  <a:pt x="5438273" y="978269"/>
                </a:lnTo>
                <a:lnTo>
                  <a:pt x="5454315" y="980857"/>
                </a:lnTo>
                <a:lnTo>
                  <a:pt x="5470357" y="983414"/>
                </a:lnTo>
                <a:lnTo>
                  <a:pt x="5486400" y="985938"/>
                </a:lnTo>
                <a:lnTo>
                  <a:pt x="5502442" y="988430"/>
                </a:lnTo>
                <a:lnTo>
                  <a:pt x="5518484" y="990892"/>
                </a:lnTo>
                <a:lnTo>
                  <a:pt x="5534526" y="993322"/>
                </a:lnTo>
                <a:lnTo>
                  <a:pt x="5550568" y="995722"/>
                </a:lnTo>
                <a:lnTo>
                  <a:pt x="5566610" y="998092"/>
                </a:lnTo>
                <a:lnTo>
                  <a:pt x="5582652" y="1000432"/>
                </a:lnTo>
                <a:lnTo>
                  <a:pt x="5598694" y="1002743"/>
                </a:lnTo>
                <a:lnTo>
                  <a:pt x="5614736" y="1005024"/>
                </a:lnTo>
                <a:lnTo>
                  <a:pt x="5630778" y="1007277"/>
                </a:lnTo>
                <a:lnTo>
                  <a:pt x="5646821" y="1009502"/>
                </a:lnTo>
                <a:lnTo>
                  <a:pt x="5662863" y="1011699"/>
                </a:lnTo>
                <a:lnTo>
                  <a:pt x="5678905" y="1013869"/>
                </a:lnTo>
                <a:lnTo>
                  <a:pt x="5694947" y="1016011"/>
                </a:lnTo>
                <a:lnTo>
                  <a:pt x="5710989" y="1018126"/>
                </a:lnTo>
                <a:lnTo>
                  <a:pt x="5727031" y="1020215"/>
                </a:lnTo>
                <a:lnTo>
                  <a:pt x="5743073" y="1022278"/>
                </a:lnTo>
                <a:lnTo>
                  <a:pt x="5759115" y="1024315"/>
                </a:lnTo>
                <a:lnTo>
                  <a:pt x="5775157" y="1026326"/>
                </a:lnTo>
                <a:lnTo>
                  <a:pt x="5791199" y="1028312"/>
                </a:lnTo>
                <a:lnTo>
                  <a:pt x="5807242" y="1030273"/>
                </a:lnTo>
                <a:lnTo>
                  <a:pt x="5823284" y="1032210"/>
                </a:lnTo>
                <a:lnTo>
                  <a:pt x="5839326" y="1034122"/>
                </a:lnTo>
                <a:lnTo>
                  <a:pt x="5855368" y="1036011"/>
                </a:lnTo>
                <a:lnTo>
                  <a:pt x="5871410" y="1037875"/>
                </a:lnTo>
                <a:lnTo>
                  <a:pt x="5887452" y="1039717"/>
                </a:lnTo>
                <a:lnTo>
                  <a:pt x="5903494" y="1041535"/>
                </a:lnTo>
                <a:lnTo>
                  <a:pt x="5919536" y="1043331"/>
                </a:lnTo>
                <a:lnTo>
                  <a:pt x="5935578" y="1045104"/>
                </a:lnTo>
                <a:lnTo>
                  <a:pt x="5951621" y="1046855"/>
                </a:lnTo>
                <a:lnTo>
                  <a:pt x="5967663" y="1048583"/>
                </a:lnTo>
                <a:lnTo>
                  <a:pt x="5983705" y="1050291"/>
                </a:lnTo>
                <a:lnTo>
                  <a:pt x="5999747" y="1051977"/>
                </a:lnTo>
                <a:lnTo>
                  <a:pt x="6015789" y="1053641"/>
                </a:lnTo>
                <a:lnTo>
                  <a:pt x="6031831" y="1055285"/>
                </a:lnTo>
                <a:lnTo>
                  <a:pt x="6047873" y="1056909"/>
                </a:lnTo>
                <a:lnTo>
                  <a:pt x="6063915" y="1058512"/>
                </a:lnTo>
                <a:lnTo>
                  <a:pt x="6079957" y="1060095"/>
                </a:lnTo>
                <a:lnTo>
                  <a:pt x="6095999" y="1061658"/>
                </a:lnTo>
                <a:lnTo>
                  <a:pt x="6112042" y="1063202"/>
                </a:lnTo>
                <a:lnTo>
                  <a:pt x="6128084" y="1064726"/>
                </a:lnTo>
                <a:lnTo>
                  <a:pt x="6144126" y="1066231"/>
                </a:lnTo>
                <a:lnTo>
                  <a:pt x="6160168" y="1067718"/>
                </a:lnTo>
                <a:lnTo>
                  <a:pt x="6176210" y="1069185"/>
                </a:lnTo>
                <a:lnTo>
                  <a:pt x="6192252" y="1070635"/>
                </a:lnTo>
                <a:lnTo>
                  <a:pt x="6208294" y="1072066"/>
                </a:lnTo>
                <a:lnTo>
                  <a:pt x="6224336" y="1073479"/>
                </a:lnTo>
                <a:lnTo>
                  <a:pt x="6240378" y="1074875"/>
                </a:lnTo>
                <a:lnTo>
                  <a:pt x="6256421" y="1076253"/>
                </a:lnTo>
                <a:lnTo>
                  <a:pt x="6272463" y="1077614"/>
                </a:lnTo>
                <a:lnTo>
                  <a:pt x="6288505" y="1078958"/>
                </a:lnTo>
                <a:lnTo>
                  <a:pt x="6304547" y="1080286"/>
                </a:lnTo>
                <a:lnTo>
                  <a:pt x="6320589" y="1081596"/>
                </a:lnTo>
                <a:lnTo>
                  <a:pt x="6336631" y="1082890"/>
                </a:lnTo>
                <a:lnTo>
                  <a:pt x="6352673" y="1084169"/>
                </a:lnTo>
                <a:lnTo>
                  <a:pt x="6368715" y="1085431"/>
                </a:lnTo>
                <a:lnTo>
                  <a:pt x="6384757" y="1086677"/>
                </a:lnTo>
                <a:lnTo>
                  <a:pt x="6400800" y="1087908"/>
                </a:lnTo>
                <a:lnTo>
                  <a:pt x="6400800" y="1466025"/>
                </a:lnTo>
                <a:lnTo>
                  <a:pt x="6384757" y="1464604"/>
                </a:lnTo>
                <a:lnTo>
                  <a:pt x="6368715" y="1463165"/>
                </a:lnTo>
                <a:lnTo>
                  <a:pt x="6352673" y="1461710"/>
                </a:lnTo>
                <a:lnTo>
                  <a:pt x="6336631" y="1460237"/>
                </a:lnTo>
                <a:lnTo>
                  <a:pt x="6320589" y="1458747"/>
                </a:lnTo>
                <a:lnTo>
                  <a:pt x="6304547" y="1457239"/>
                </a:lnTo>
                <a:lnTo>
                  <a:pt x="6288505" y="1455713"/>
                </a:lnTo>
                <a:lnTo>
                  <a:pt x="6272463" y="1454169"/>
                </a:lnTo>
                <a:lnTo>
                  <a:pt x="6256421" y="1452607"/>
                </a:lnTo>
                <a:lnTo>
                  <a:pt x="6240378" y="1451026"/>
                </a:lnTo>
                <a:lnTo>
                  <a:pt x="6224336" y="1449426"/>
                </a:lnTo>
                <a:lnTo>
                  <a:pt x="6208294" y="1447807"/>
                </a:lnTo>
                <a:lnTo>
                  <a:pt x="6192252" y="1446168"/>
                </a:lnTo>
                <a:lnTo>
                  <a:pt x="6176210" y="1444511"/>
                </a:lnTo>
                <a:lnTo>
                  <a:pt x="6160168" y="1442833"/>
                </a:lnTo>
                <a:lnTo>
                  <a:pt x="6144126" y="1441135"/>
                </a:lnTo>
                <a:lnTo>
                  <a:pt x="6128084" y="1439417"/>
                </a:lnTo>
                <a:lnTo>
                  <a:pt x="6112042" y="1437678"/>
                </a:lnTo>
                <a:lnTo>
                  <a:pt x="6095999" y="1435919"/>
                </a:lnTo>
                <a:lnTo>
                  <a:pt x="6079957" y="1434138"/>
                </a:lnTo>
                <a:lnTo>
                  <a:pt x="6063915" y="1432337"/>
                </a:lnTo>
                <a:lnTo>
                  <a:pt x="6047873" y="1430513"/>
                </a:lnTo>
                <a:lnTo>
                  <a:pt x="6031831" y="1428668"/>
                </a:lnTo>
                <a:lnTo>
                  <a:pt x="6015789" y="1426800"/>
                </a:lnTo>
                <a:lnTo>
                  <a:pt x="5999747" y="1424911"/>
                </a:lnTo>
                <a:lnTo>
                  <a:pt x="5983705" y="1422998"/>
                </a:lnTo>
                <a:lnTo>
                  <a:pt x="5967663" y="1421063"/>
                </a:lnTo>
                <a:lnTo>
                  <a:pt x="5951621" y="1419104"/>
                </a:lnTo>
                <a:lnTo>
                  <a:pt x="5935578" y="1417122"/>
                </a:lnTo>
                <a:lnTo>
                  <a:pt x="5919536" y="1415116"/>
                </a:lnTo>
                <a:lnTo>
                  <a:pt x="5903494" y="1413086"/>
                </a:lnTo>
                <a:lnTo>
                  <a:pt x="5887452" y="1411031"/>
                </a:lnTo>
                <a:lnTo>
                  <a:pt x="5871410" y="1408952"/>
                </a:lnTo>
                <a:lnTo>
                  <a:pt x="5855368" y="1406847"/>
                </a:lnTo>
                <a:lnTo>
                  <a:pt x="5839326" y="1404718"/>
                </a:lnTo>
                <a:lnTo>
                  <a:pt x="5823284" y="1402562"/>
                </a:lnTo>
                <a:lnTo>
                  <a:pt x="5807242" y="1400381"/>
                </a:lnTo>
                <a:lnTo>
                  <a:pt x="5791199" y="1398174"/>
                </a:lnTo>
                <a:lnTo>
                  <a:pt x="5775157" y="1395939"/>
                </a:lnTo>
                <a:lnTo>
                  <a:pt x="5759115" y="1393678"/>
                </a:lnTo>
                <a:lnTo>
                  <a:pt x="5743073" y="1391390"/>
                </a:lnTo>
                <a:lnTo>
                  <a:pt x="5727031" y="1389073"/>
                </a:lnTo>
                <a:lnTo>
                  <a:pt x="5710989" y="1386729"/>
                </a:lnTo>
                <a:lnTo>
                  <a:pt x="5694947" y="1384357"/>
                </a:lnTo>
                <a:lnTo>
                  <a:pt x="5678905" y="1381956"/>
                </a:lnTo>
                <a:lnTo>
                  <a:pt x="5662863" y="1379525"/>
                </a:lnTo>
                <a:lnTo>
                  <a:pt x="5646821" y="1377066"/>
                </a:lnTo>
                <a:lnTo>
                  <a:pt x="5630778" y="1374576"/>
                </a:lnTo>
                <a:lnTo>
                  <a:pt x="5614736" y="1372057"/>
                </a:lnTo>
                <a:lnTo>
                  <a:pt x="5598694" y="1369507"/>
                </a:lnTo>
                <a:lnTo>
                  <a:pt x="5582652" y="1366926"/>
                </a:lnTo>
                <a:lnTo>
                  <a:pt x="5566610" y="1364314"/>
                </a:lnTo>
                <a:lnTo>
                  <a:pt x="5550568" y="1361670"/>
                </a:lnTo>
                <a:lnTo>
                  <a:pt x="5534526" y="1358994"/>
                </a:lnTo>
                <a:lnTo>
                  <a:pt x="5518484" y="1356285"/>
                </a:lnTo>
                <a:lnTo>
                  <a:pt x="5502442" y="1353544"/>
                </a:lnTo>
                <a:lnTo>
                  <a:pt x="5486400" y="1350769"/>
                </a:lnTo>
                <a:lnTo>
                  <a:pt x="5470357" y="1347961"/>
                </a:lnTo>
                <a:lnTo>
                  <a:pt x="5454315" y="1345118"/>
                </a:lnTo>
                <a:lnTo>
                  <a:pt x="5438273" y="1342241"/>
                </a:lnTo>
                <a:lnTo>
                  <a:pt x="5422231" y="1339329"/>
                </a:lnTo>
                <a:lnTo>
                  <a:pt x="5406189" y="1336381"/>
                </a:lnTo>
                <a:lnTo>
                  <a:pt x="5390147" y="1333398"/>
                </a:lnTo>
                <a:lnTo>
                  <a:pt x="5374105" y="1330378"/>
                </a:lnTo>
                <a:lnTo>
                  <a:pt x="5358063" y="1327321"/>
                </a:lnTo>
                <a:lnTo>
                  <a:pt x="5342021" y="1324227"/>
                </a:lnTo>
                <a:lnTo>
                  <a:pt x="5325978" y="1321096"/>
                </a:lnTo>
                <a:lnTo>
                  <a:pt x="5309936" y="1317926"/>
                </a:lnTo>
                <a:lnTo>
                  <a:pt x="5293894" y="1314717"/>
                </a:lnTo>
                <a:lnTo>
                  <a:pt x="5277852" y="1311470"/>
                </a:lnTo>
                <a:lnTo>
                  <a:pt x="5261810" y="1308182"/>
                </a:lnTo>
                <a:lnTo>
                  <a:pt x="5245768" y="1304855"/>
                </a:lnTo>
                <a:lnTo>
                  <a:pt x="5229726" y="1301487"/>
                </a:lnTo>
                <a:lnTo>
                  <a:pt x="5213684" y="1298077"/>
                </a:lnTo>
                <a:lnTo>
                  <a:pt x="5197642" y="1294626"/>
                </a:lnTo>
                <a:lnTo>
                  <a:pt x="5181600" y="1291133"/>
                </a:lnTo>
                <a:lnTo>
                  <a:pt x="5165557" y="1287597"/>
                </a:lnTo>
                <a:lnTo>
                  <a:pt x="5149515" y="1284018"/>
                </a:lnTo>
                <a:lnTo>
                  <a:pt x="5133473" y="1280394"/>
                </a:lnTo>
                <a:lnTo>
                  <a:pt x="5117431" y="1276727"/>
                </a:lnTo>
                <a:lnTo>
                  <a:pt x="5101389" y="1273014"/>
                </a:lnTo>
                <a:lnTo>
                  <a:pt x="5085347" y="1269256"/>
                </a:lnTo>
                <a:lnTo>
                  <a:pt x="5069305" y="1265452"/>
                </a:lnTo>
                <a:lnTo>
                  <a:pt x="5053263" y="1261602"/>
                </a:lnTo>
                <a:lnTo>
                  <a:pt x="5037221" y="1257704"/>
                </a:lnTo>
                <a:lnTo>
                  <a:pt x="5021178" y="1253758"/>
                </a:lnTo>
                <a:lnTo>
                  <a:pt x="5005136" y="1249764"/>
                </a:lnTo>
                <a:lnTo>
                  <a:pt x="4989094" y="1245720"/>
                </a:lnTo>
                <a:lnTo>
                  <a:pt x="4973052" y="1241627"/>
                </a:lnTo>
                <a:lnTo>
                  <a:pt x="4957010" y="1237484"/>
                </a:lnTo>
                <a:lnTo>
                  <a:pt x="4940968" y="1233290"/>
                </a:lnTo>
                <a:lnTo>
                  <a:pt x="4924926" y="1229044"/>
                </a:lnTo>
                <a:lnTo>
                  <a:pt x="4908884" y="1224746"/>
                </a:lnTo>
                <a:lnTo>
                  <a:pt x="4892842" y="1220395"/>
                </a:lnTo>
                <a:lnTo>
                  <a:pt x="4876800" y="1215991"/>
                </a:lnTo>
                <a:lnTo>
                  <a:pt x="4860757" y="1211532"/>
                </a:lnTo>
                <a:lnTo>
                  <a:pt x="4844715" y="1207018"/>
                </a:lnTo>
                <a:lnTo>
                  <a:pt x="4828673" y="1202449"/>
                </a:lnTo>
                <a:lnTo>
                  <a:pt x="4812631" y="1197824"/>
                </a:lnTo>
                <a:lnTo>
                  <a:pt x="4796589" y="1193141"/>
                </a:lnTo>
                <a:lnTo>
                  <a:pt x="4780547" y="1188401"/>
                </a:lnTo>
                <a:lnTo>
                  <a:pt x="4764505" y="1183602"/>
                </a:lnTo>
                <a:lnTo>
                  <a:pt x="4748463" y="1178745"/>
                </a:lnTo>
                <a:lnTo>
                  <a:pt x="4732421" y="1173827"/>
                </a:lnTo>
                <a:lnTo>
                  <a:pt x="4716378" y="1168849"/>
                </a:lnTo>
                <a:lnTo>
                  <a:pt x="4700336" y="1163809"/>
                </a:lnTo>
                <a:lnTo>
                  <a:pt x="4684294" y="1158707"/>
                </a:lnTo>
                <a:lnTo>
                  <a:pt x="4668252" y="1153542"/>
                </a:lnTo>
                <a:lnTo>
                  <a:pt x="4652210" y="1148314"/>
                </a:lnTo>
                <a:lnTo>
                  <a:pt x="4636168" y="1143020"/>
                </a:lnTo>
                <a:lnTo>
                  <a:pt x="4620126" y="1137662"/>
                </a:lnTo>
                <a:lnTo>
                  <a:pt x="4604084" y="1132237"/>
                </a:lnTo>
                <a:lnTo>
                  <a:pt x="4588042" y="1126746"/>
                </a:lnTo>
                <a:lnTo>
                  <a:pt x="4571999" y="1121186"/>
                </a:lnTo>
                <a:lnTo>
                  <a:pt x="4555957" y="1115558"/>
                </a:lnTo>
                <a:lnTo>
                  <a:pt x="4539915" y="1109860"/>
                </a:lnTo>
                <a:lnTo>
                  <a:pt x="4523873" y="1104092"/>
                </a:lnTo>
                <a:lnTo>
                  <a:pt x="4507831" y="1098253"/>
                </a:lnTo>
                <a:lnTo>
                  <a:pt x="4491789" y="1092342"/>
                </a:lnTo>
                <a:lnTo>
                  <a:pt x="4475747" y="1086357"/>
                </a:lnTo>
                <a:lnTo>
                  <a:pt x="4459705" y="1080299"/>
                </a:lnTo>
                <a:lnTo>
                  <a:pt x="4443663" y="1074166"/>
                </a:lnTo>
                <a:lnTo>
                  <a:pt x="4427621" y="1067957"/>
                </a:lnTo>
                <a:lnTo>
                  <a:pt x="4411578" y="1061672"/>
                </a:lnTo>
                <a:lnTo>
                  <a:pt x="4395536" y="1055309"/>
                </a:lnTo>
                <a:lnTo>
                  <a:pt x="4379494" y="1048867"/>
                </a:lnTo>
                <a:lnTo>
                  <a:pt x="4363452" y="1042346"/>
                </a:lnTo>
                <a:lnTo>
                  <a:pt x="4347410" y="1035744"/>
                </a:lnTo>
                <a:lnTo>
                  <a:pt x="4331368" y="1029061"/>
                </a:lnTo>
                <a:lnTo>
                  <a:pt x="4315326" y="1022295"/>
                </a:lnTo>
                <a:lnTo>
                  <a:pt x="4299284" y="1015446"/>
                </a:lnTo>
                <a:lnTo>
                  <a:pt x="4283242" y="1008513"/>
                </a:lnTo>
                <a:lnTo>
                  <a:pt x="4267199" y="1001494"/>
                </a:lnTo>
                <a:lnTo>
                  <a:pt x="4251157" y="994389"/>
                </a:lnTo>
                <a:lnTo>
                  <a:pt x="4235115" y="987196"/>
                </a:lnTo>
                <a:lnTo>
                  <a:pt x="4219073" y="979914"/>
                </a:lnTo>
                <a:lnTo>
                  <a:pt x="4203031" y="972543"/>
                </a:lnTo>
                <a:lnTo>
                  <a:pt x="4186989" y="965081"/>
                </a:lnTo>
                <a:lnTo>
                  <a:pt x="4170947" y="957528"/>
                </a:lnTo>
                <a:lnTo>
                  <a:pt x="4154905" y="949882"/>
                </a:lnTo>
                <a:lnTo>
                  <a:pt x="4138863" y="942141"/>
                </a:lnTo>
                <a:lnTo>
                  <a:pt x="4122821" y="934306"/>
                </a:lnTo>
                <a:lnTo>
                  <a:pt x="4106778" y="926375"/>
                </a:lnTo>
                <a:lnTo>
                  <a:pt x="4090736" y="918346"/>
                </a:lnTo>
                <a:lnTo>
                  <a:pt x="4074694" y="910219"/>
                </a:lnTo>
                <a:lnTo>
                  <a:pt x="4058652" y="901993"/>
                </a:lnTo>
                <a:lnTo>
                  <a:pt x="4042610" y="893666"/>
                </a:lnTo>
                <a:lnTo>
                  <a:pt x="4026568" y="885237"/>
                </a:lnTo>
                <a:lnTo>
                  <a:pt x="4010526" y="876706"/>
                </a:lnTo>
                <a:lnTo>
                  <a:pt x="3994484" y="868070"/>
                </a:lnTo>
                <a:lnTo>
                  <a:pt x="3978442" y="859329"/>
                </a:lnTo>
                <a:lnTo>
                  <a:pt x="3962400" y="850482"/>
                </a:lnTo>
                <a:lnTo>
                  <a:pt x="3946357" y="841527"/>
                </a:lnTo>
                <a:lnTo>
                  <a:pt x="3930315" y="832463"/>
                </a:lnTo>
                <a:lnTo>
                  <a:pt x="3914273" y="823290"/>
                </a:lnTo>
                <a:lnTo>
                  <a:pt x="3898231" y="814006"/>
                </a:lnTo>
                <a:lnTo>
                  <a:pt x="3882189" y="804609"/>
                </a:lnTo>
                <a:lnTo>
                  <a:pt x="3866147" y="795098"/>
                </a:lnTo>
                <a:lnTo>
                  <a:pt x="3850105" y="785474"/>
                </a:lnTo>
                <a:lnTo>
                  <a:pt x="3834063" y="775733"/>
                </a:lnTo>
                <a:lnTo>
                  <a:pt x="3818021" y="765875"/>
                </a:lnTo>
                <a:lnTo>
                  <a:pt x="3801978" y="755899"/>
                </a:lnTo>
                <a:lnTo>
                  <a:pt x="3785936" y="745803"/>
                </a:lnTo>
                <a:lnTo>
                  <a:pt x="3769894" y="735587"/>
                </a:lnTo>
                <a:lnTo>
                  <a:pt x="3753852" y="725249"/>
                </a:lnTo>
                <a:lnTo>
                  <a:pt x="3737810" y="714788"/>
                </a:lnTo>
                <a:lnTo>
                  <a:pt x="3721768" y="704203"/>
                </a:lnTo>
                <a:lnTo>
                  <a:pt x="3705726" y="693492"/>
                </a:lnTo>
                <a:lnTo>
                  <a:pt x="3689684" y="682655"/>
                </a:lnTo>
                <a:lnTo>
                  <a:pt x="3673642" y="671690"/>
                </a:lnTo>
                <a:lnTo>
                  <a:pt x="3657600" y="660596"/>
                </a:lnTo>
                <a:lnTo>
                  <a:pt x="3641557" y="649372"/>
                </a:lnTo>
                <a:lnTo>
                  <a:pt x="3625515" y="638017"/>
                </a:lnTo>
                <a:lnTo>
                  <a:pt x="3609473" y="626529"/>
                </a:lnTo>
                <a:lnTo>
                  <a:pt x="3593431" y="614908"/>
                </a:lnTo>
                <a:lnTo>
                  <a:pt x="3577389" y="603152"/>
                </a:lnTo>
                <a:lnTo>
                  <a:pt x="3561347" y="591261"/>
                </a:lnTo>
                <a:lnTo>
                  <a:pt x="3545305" y="579233"/>
                </a:lnTo>
                <a:lnTo>
                  <a:pt x="3529263" y="567067"/>
                </a:lnTo>
                <a:lnTo>
                  <a:pt x="3513221" y="554762"/>
                </a:lnTo>
                <a:lnTo>
                  <a:pt x="3497178" y="542317"/>
                </a:lnTo>
                <a:lnTo>
                  <a:pt x="3481136" y="529731"/>
                </a:lnTo>
                <a:lnTo>
                  <a:pt x="3465094" y="517004"/>
                </a:lnTo>
                <a:lnTo>
                  <a:pt x="3449052" y="504133"/>
                </a:lnTo>
                <a:lnTo>
                  <a:pt x="3433010" y="491119"/>
                </a:lnTo>
                <a:lnTo>
                  <a:pt x="3416968" y="477960"/>
                </a:lnTo>
                <a:lnTo>
                  <a:pt x="3400926" y="464656"/>
                </a:lnTo>
                <a:lnTo>
                  <a:pt x="3384884" y="451205"/>
                </a:lnTo>
                <a:lnTo>
                  <a:pt x="3368842" y="437608"/>
                </a:lnTo>
                <a:lnTo>
                  <a:pt x="3352799" y="423862"/>
                </a:lnTo>
                <a:lnTo>
                  <a:pt x="3336757" y="409968"/>
                </a:lnTo>
                <a:lnTo>
                  <a:pt x="3320715" y="395925"/>
                </a:lnTo>
                <a:lnTo>
                  <a:pt x="3304673" y="381732"/>
                </a:lnTo>
                <a:lnTo>
                  <a:pt x="3288631" y="367388"/>
                </a:lnTo>
                <a:lnTo>
                  <a:pt x="3272589" y="352894"/>
                </a:lnTo>
                <a:lnTo>
                  <a:pt x="3256547" y="338248"/>
                </a:lnTo>
                <a:lnTo>
                  <a:pt x="3240505" y="323450"/>
                </a:lnTo>
                <a:lnTo>
                  <a:pt x="3224463" y="308501"/>
                </a:lnTo>
                <a:lnTo>
                  <a:pt x="3208421" y="293398"/>
                </a:lnTo>
                <a:lnTo>
                  <a:pt x="3192378" y="285254"/>
                </a:lnTo>
                <a:lnTo>
                  <a:pt x="3176336" y="284170"/>
                </a:lnTo>
                <a:lnTo>
                  <a:pt x="3160294" y="283073"/>
                </a:lnTo>
                <a:lnTo>
                  <a:pt x="3144252" y="281963"/>
                </a:lnTo>
                <a:lnTo>
                  <a:pt x="3128210" y="280838"/>
                </a:lnTo>
                <a:lnTo>
                  <a:pt x="3112168" y="279700"/>
                </a:lnTo>
                <a:lnTo>
                  <a:pt x="3096126" y="278547"/>
                </a:lnTo>
                <a:lnTo>
                  <a:pt x="3080084" y="277379"/>
                </a:lnTo>
                <a:lnTo>
                  <a:pt x="3064042" y="276197"/>
                </a:lnTo>
                <a:lnTo>
                  <a:pt x="3047999" y="275000"/>
                </a:lnTo>
                <a:lnTo>
                  <a:pt x="3031957" y="273788"/>
                </a:lnTo>
                <a:lnTo>
                  <a:pt x="3015915" y="272561"/>
                </a:lnTo>
                <a:lnTo>
                  <a:pt x="2999873" y="271318"/>
                </a:lnTo>
                <a:lnTo>
                  <a:pt x="2983831" y="270060"/>
                </a:lnTo>
                <a:lnTo>
                  <a:pt x="2967789" y="268786"/>
                </a:lnTo>
                <a:lnTo>
                  <a:pt x="2951747" y="267496"/>
                </a:lnTo>
                <a:lnTo>
                  <a:pt x="2935705" y="266189"/>
                </a:lnTo>
                <a:lnTo>
                  <a:pt x="2919663" y="264866"/>
                </a:lnTo>
                <a:lnTo>
                  <a:pt x="2903621" y="263527"/>
                </a:lnTo>
                <a:lnTo>
                  <a:pt x="2887578" y="262171"/>
                </a:lnTo>
                <a:lnTo>
                  <a:pt x="2871536" y="260798"/>
                </a:lnTo>
                <a:lnTo>
                  <a:pt x="2855494" y="259408"/>
                </a:lnTo>
                <a:lnTo>
                  <a:pt x="2839452" y="258000"/>
                </a:lnTo>
                <a:lnTo>
                  <a:pt x="2823410" y="256575"/>
                </a:lnTo>
                <a:lnTo>
                  <a:pt x="2807368" y="255133"/>
                </a:lnTo>
                <a:lnTo>
                  <a:pt x="2791326" y="253673"/>
                </a:lnTo>
                <a:lnTo>
                  <a:pt x="2775284" y="252195"/>
                </a:lnTo>
                <a:lnTo>
                  <a:pt x="2759242" y="250700"/>
                </a:lnTo>
                <a:lnTo>
                  <a:pt x="2743200" y="249186"/>
                </a:lnTo>
                <a:lnTo>
                  <a:pt x="2727157" y="247653"/>
                </a:lnTo>
                <a:lnTo>
                  <a:pt x="2711115" y="246103"/>
                </a:lnTo>
                <a:lnTo>
                  <a:pt x="2695073" y="244534"/>
                </a:lnTo>
                <a:lnTo>
                  <a:pt x="2679031" y="242947"/>
                </a:lnTo>
                <a:lnTo>
                  <a:pt x="2662989" y="241341"/>
                </a:lnTo>
                <a:lnTo>
                  <a:pt x="2646947" y="239716"/>
                </a:lnTo>
                <a:lnTo>
                  <a:pt x="2630905" y="238073"/>
                </a:lnTo>
                <a:lnTo>
                  <a:pt x="2614863" y="236410"/>
                </a:lnTo>
                <a:lnTo>
                  <a:pt x="2598821" y="234729"/>
                </a:lnTo>
                <a:lnTo>
                  <a:pt x="2582778" y="233029"/>
                </a:lnTo>
                <a:lnTo>
                  <a:pt x="2566736" y="231311"/>
                </a:lnTo>
                <a:lnTo>
                  <a:pt x="2550694" y="229573"/>
                </a:lnTo>
                <a:lnTo>
                  <a:pt x="2534652" y="227816"/>
                </a:lnTo>
                <a:lnTo>
                  <a:pt x="2518610" y="226041"/>
                </a:lnTo>
                <a:lnTo>
                  <a:pt x="2502568" y="224247"/>
                </a:lnTo>
                <a:lnTo>
                  <a:pt x="2486526" y="222434"/>
                </a:lnTo>
                <a:lnTo>
                  <a:pt x="2470484" y="220602"/>
                </a:lnTo>
                <a:lnTo>
                  <a:pt x="2454442" y="218752"/>
                </a:lnTo>
                <a:lnTo>
                  <a:pt x="2438400" y="216884"/>
                </a:lnTo>
                <a:lnTo>
                  <a:pt x="2422357" y="214997"/>
                </a:lnTo>
                <a:lnTo>
                  <a:pt x="2406315" y="213092"/>
                </a:lnTo>
                <a:lnTo>
                  <a:pt x="2390273" y="211169"/>
                </a:lnTo>
                <a:lnTo>
                  <a:pt x="2374231" y="209228"/>
                </a:lnTo>
                <a:lnTo>
                  <a:pt x="2358189" y="207270"/>
                </a:lnTo>
                <a:lnTo>
                  <a:pt x="2342147" y="205294"/>
                </a:lnTo>
                <a:lnTo>
                  <a:pt x="2326105" y="203301"/>
                </a:lnTo>
                <a:lnTo>
                  <a:pt x="2310063" y="201292"/>
                </a:lnTo>
                <a:lnTo>
                  <a:pt x="2294021" y="199266"/>
                </a:lnTo>
                <a:lnTo>
                  <a:pt x="2277978" y="197223"/>
                </a:lnTo>
                <a:lnTo>
                  <a:pt x="2261936" y="195165"/>
                </a:lnTo>
                <a:lnTo>
                  <a:pt x="2245894" y="193091"/>
                </a:lnTo>
                <a:lnTo>
                  <a:pt x="2229852" y="191003"/>
                </a:lnTo>
                <a:lnTo>
                  <a:pt x="2213810" y="188899"/>
                </a:lnTo>
                <a:lnTo>
                  <a:pt x="2197768" y="186781"/>
                </a:lnTo>
                <a:lnTo>
                  <a:pt x="2181726" y="184650"/>
                </a:lnTo>
                <a:lnTo>
                  <a:pt x="2165684" y="182505"/>
                </a:lnTo>
                <a:lnTo>
                  <a:pt x="2149642" y="180348"/>
                </a:lnTo>
                <a:lnTo>
                  <a:pt x="2133599" y="178178"/>
                </a:lnTo>
                <a:lnTo>
                  <a:pt x="2117557" y="175996"/>
                </a:lnTo>
                <a:lnTo>
                  <a:pt x="2101515" y="173804"/>
                </a:lnTo>
                <a:lnTo>
                  <a:pt x="2085473" y="171601"/>
                </a:lnTo>
                <a:lnTo>
                  <a:pt x="2069431" y="169388"/>
                </a:lnTo>
                <a:lnTo>
                  <a:pt x="2053389" y="167165"/>
                </a:lnTo>
                <a:lnTo>
                  <a:pt x="2037347" y="164935"/>
                </a:lnTo>
                <a:lnTo>
                  <a:pt x="2021305" y="162696"/>
                </a:lnTo>
                <a:lnTo>
                  <a:pt x="2005263" y="160450"/>
                </a:lnTo>
                <a:lnTo>
                  <a:pt x="1989221" y="158198"/>
                </a:lnTo>
                <a:lnTo>
                  <a:pt x="1973178" y="155940"/>
                </a:lnTo>
                <a:lnTo>
                  <a:pt x="1957136" y="153677"/>
                </a:lnTo>
                <a:lnTo>
                  <a:pt x="1941094" y="151410"/>
                </a:lnTo>
                <a:lnTo>
                  <a:pt x="1925052" y="149140"/>
                </a:lnTo>
                <a:lnTo>
                  <a:pt x="1909010" y="146867"/>
                </a:lnTo>
                <a:lnTo>
                  <a:pt x="1892968" y="144592"/>
                </a:lnTo>
                <a:lnTo>
                  <a:pt x="1876926" y="142317"/>
                </a:lnTo>
                <a:lnTo>
                  <a:pt x="1860884" y="140041"/>
                </a:lnTo>
                <a:lnTo>
                  <a:pt x="1844842" y="137767"/>
                </a:lnTo>
                <a:lnTo>
                  <a:pt x="1828800" y="135494"/>
                </a:lnTo>
                <a:lnTo>
                  <a:pt x="1812757" y="133224"/>
                </a:lnTo>
                <a:lnTo>
                  <a:pt x="1796715" y="130957"/>
                </a:lnTo>
                <a:lnTo>
                  <a:pt x="1780673" y="128695"/>
                </a:lnTo>
                <a:lnTo>
                  <a:pt x="1764631" y="126438"/>
                </a:lnTo>
                <a:lnTo>
                  <a:pt x="1748589" y="124187"/>
                </a:lnTo>
                <a:lnTo>
                  <a:pt x="1732547" y="121943"/>
                </a:lnTo>
                <a:lnTo>
                  <a:pt x="1716505" y="119708"/>
                </a:lnTo>
                <a:lnTo>
                  <a:pt x="1700463" y="117481"/>
                </a:lnTo>
                <a:lnTo>
                  <a:pt x="1684421" y="115263"/>
                </a:lnTo>
                <a:lnTo>
                  <a:pt x="1668378" y="113057"/>
                </a:lnTo>
                <a:lnTo>
                  <a:pt x="1652336" y="110862"/>
                </a:lnTo>
                <a:lnTo>
                  <a:pt x="1636294" y="108679"/>
                </a:lnTo>
                <a:lnTo>
                  <a:pt x="1620252" y="106509"/>
                </a:lnTo>
                <a:lnTo>
                  <a:pt x="1604210" y="104354"/>
                </a:lnTo>
                <a:lnTo>
                  <a:pt x="1588168" y="102213"/>
                </a:lnTo>
                <a:lnTo>
                  <a:pt x="1572126" y="100088"/>
                </a:lnTo>
                <a:lnTo>
                  <a:pt x="1556084" y="97979"/>
                </a:lnTo>
                <a:lnTo>
                  <a:pt x="1540042" y="95888"/>
                </a:lnTo>
                <a:lnTo>
                  <a:pt x="1524000" y="93814"/>
                </a:lnTo>
                <a:lnTo>
                  <a:pt x="1507957" y="91759"/>
                </a:lnTo>
                <a:lnTo>
                  <a:pt x="1491915" y="89723"/>
                </a:lnTo>
                <a:lnTo>
                  <a:pt x="1475873" y="87708"/>
                </a:lnTo>
                <a:lnTo>
                  <a:pt x="1459831" y="85713"/>
                </a:lnTo>
                <a:lnTo>
                  <a:pt x="1443789" y="83739"/>
                </a:lnTo>
                <a:lnTo>
                  <a:pt x="1427747" y="81787"/>
                </a:lnTo>
                <a:lnTo>
                  <a:pt x="1411705" y="79858"/>
                </a:lnTo>
                <a:lnTo>
                  <a:pt x="1395663" y="77952"/>
                </a:lnTo>
                <a:lnTo>
                  <a:pt x="1379621" y="76069"/>
                </a:lnTo>
                <a:lnTo>
                  <a:pt x="1363578" y="74210"/>
                </a:lnTo>
                <a:lnTo>
                  <a:pt x="1347536" y="72376"/>
                </a:lnTo>
                <a:lnTo>
                  <a:pt x="1331494" y="70566"/>
                </a:lnTo>
                <a:lnTo>
                  <a:pt x="1315452" y="68782"/>
                </a:lnTo>
                <a:lnTo>
                  <a:pt x="1299410" y="67024"/>
                </a:lnTo>
                <a:lnTo>
                  <a:pt x="1283368" y="65291"/>
                </a:lnTo>
                <a:lnTo>
                  <a:pt x="1267326" y="63585"/>
                </a:lnTo>
                <a:lnTo>
                  <a:pt x="1251284" y="61906"/>
                </a:lnTo>
                <a:lnTo>
                  <a:pt x="1235242" y="60253"/>
                </a:lnTo>
                <a:lnTo>
                  <a:pt x="1219199" y="58627"/>
                </a:lnTo>
                <a:lnTo>
                  <a:pt x="1203157" y="57028"/>
                </a:lnTo>
                <a:lnTo>
                  <a:pt x="1187115" y="55457"/>
                </a:lnTo>
                <a:lnTo>
                  <a:pt x="1171073" y="53913"/>
                </a:lnTo>
                <a:lnTo>
                  <a:pt x="1155031" y="52396"/>
                </a:lnTo>
                <a:lnTo>
                  <a:pt x="1138989" y="50907"/>
                </a:lnTo>
                <a:lnTo>
                  <a:pt x="1122947" y="49446"/>
                </a:lnTo>
                <a:lnTo>
                  <a:pt x="1106905" y="48012"/>
                </a:lnTo>
                <a:lnTo>
                  <a:pt x="1090863" y="46606"/>
                </a:lnTo>
                <a:lnTo>
                  <a:pt x="1074821" y="45227"/>
                </a:lnTo>
                <a:lnTo>
                  <a:pt x="1058778" y="43876"/>
                </a:lnTo>
                <a:lnTo>
                  <a:pt x="1042736" y="42552"/>
                </a:lnTo>
                <a:lnTo>
                  <a:pt x="1026694" y="41256"/>
                </a:lnTo>
                <a:lnTo>
                  <a:pt x="1010652" y="39986"/>
                </a:lnTo>
                <a:lnTo>
                  <a:pt x="994610" y="38743"/>
                </a:lnTo>
                <a:lnTo>
                  <a:pt x="978568" y="37527"/>
                </a:lnTo>
                <a:lnTo>
                  <a:pt x="962526" y="36338"/>
                </a:lnTo>
                <a:lnTo>
                  <a:pt x="946484" y="35175"/>
                </a:lnTo>
                <a:lnTo>
                  <a:pt x="930442" y="34037"/>
                </a:lnTo>
                <a:lnTo>
                  <a:pt x="914400" y="32926"/>
                </a:lnTo>
                <a:lnTo>
                  <a:pt x="898357" y="31840"/>
                </a:lnTo>
                <a:lnTo>
                  <a:pt x="882315" y="30779"/>
                </a:lnTo>
                <a:lnTo>
                  <a:pt x="866273" y="29743"/>
                </a:lnTo>
                <a:lnTo>
                  <a:pt x="850231" y="28732"/>
                </a:lnTo>
                <a:lnTo>
                  <a:pt x="834189" y="27744"/>
                </a:lnTo>
                <a:lnTo>
                  <a:pt x="818147" y="26781"/>
                </a:lnTo>
                <a:lnTo>
                  <a:pt x="802105" y="25841"/>
                </a:lnTo>
                <a:lnTo>
                  <a:pt x="786063" y="24924"/>
                </a:lnTo>
                <a:lnTo>
                  <a:pt x="770021" y="24030"/>
                </a:lnTo>
                <a:lnTo>
                  <a:pt x="753978" y="23158"/>
                </a:lnTo>
                <a:lnTo>
                  <a:pt x="737936" y="22308"/>
                </a:lnTo>
                <a:lnTo>
                  <a:pt x="721894" y="21480"/>
                </a:lnTo>
                <a:lnTo>
                  <a:pt x="705852" y="20672"/>
                </a:lnTo>
                <a:lnTo>
                  <a:pt x="689810" y="19886"/>
                </a:lnTo>
                <a:lnTo>
                  <a:pt x="673768" y="19120"/>
                </a:lnTo>
                <a:lnTo>
                  <a:pt x="657726" y="18374"/>
                </a:lnTo>
                <a:lnTo>
                  <a:pt x="641684" y="17647"/>
                </a:lnTo>
                <a:lnTo>
                  <a:pt x="625642" y="16939"/>
                </a:lnTo>
                <a:lnTo>
                  <a:pt x="609599" y="16250"/>
                </a:lnTo>
                <a:lnTo>
                  <a:pt x="593557" y="15579"/>
                </a:lnTo>
                <a:lnTo>
                  <a:pt x="577515" y="14927"/>
                </a:lnTo>
                <a:lnTo>
                  <a:pt x="561473" y="14291"/>
                </a:lnTo>
                <a:lnTo>
                  <a:pt x="545431" y="13672"/>
                </a:lnTo>
                <a:lnTo>
                  <a:pt x="529389" y="13070"/>
                </a:lnTo>
                <a:lnTo>
                  <a:pt x="513347" y="12484"/>
                </a:lnTo>
                <a:lnTo>
                  <a:pt x="497305" y="11914"/>
                </a:lnTo>
                <a:lnTo>
                  <a:pt x="481263" y="11359"/>
                </a:lnTo>
                <a:lnTo>
                  <a:pt x="465221" y="10819"/>
                </a:lnTo>
                <a:lnTo>
                  <a:pt x="449178" y="10294"/>
                </a:lnTo>
                <a:lnTo>
                  <a:pt x="433136" y="9783"/>
                </a:lnTo>
                <a:lnTo>
                  <a:pt x="417094" y="9285"/>
                </a:lnTo>
                <a:lnTo>
                  <a:pt x="401052" y="8801"/>
                </a:lnTo>
                <a:lnTo>
                  <a:pt x="385010" y="8329"/>
                </a:lnTo>
                <a:lnTo>
                  <a:pt x="368968" y="7870"/>
                </a:lnTo>
                <a:lnTo>
                  <a:pt x="352926" y="7424"/>
                </a:lnTo>
                <a:lnTo>
                  <a:pt x="336884" y="6989"/>
                </a:lnTo>
                <a:lnTo>
                  <a:pt x="320842" y="6566"/>
                </a:lnTo>
                <a:lnTo>
                  <a:pt x="304800" y="6153"/>
                </a:lnTo>
                <a:lnTo>
                  <a:pt x="288757" y="5752"/>
                </a:lnTo>
                <a:lnTo>
                  <a:pt x="272715" y="5361"/>
                </a:lnTo>
                <a:lnTo>
                  <a:pt x="256673" y="4980"/>
                </a:lnTo>
                <a:lnTo>
                  <a:pt x="240631" y="4608"/>
                </a:lnTo>
                <a:lnTo>
                  <a:pt x="224589" y="4246"/>
                </a:lnTo>
                <a:lnTo>
                  <a:pt x="208547" y="3894"/>
                </a:lnTo>
                <a:lnTo>
                  <a:pt x="192505" y="3549"/>
                </a:lnTo>
                <a:lnTo>
                  <a:pt x="176463" y="3214"/>
                </a:lnTo>
                <a:lnTo>
                  <a:pt x="160421" y="2886"/>
                </a:lnTo>
                <a:lnTo>
                  <a:pt x="144378" y="2567"/>
                </a:lnTo>
                <a:lnTo>
                  <a:pt x="128336" y="2255"/>
                </a:lnTo>
                <a:lnTo>
                  <a:pt x="112294" y="1950"/>
                </a:lnTo>
                <a:lnTo>
                  <a:pt x="96252" y="1653"/>
                </a:lnTo>
                <a:lnTo>
                  <a:pt x="80210" y="1362"/>
                </a:lnTo>
                <a:lnTo>
                  <a:pt x="64168" y="1077"/>
                </a:lnTo>
                <a:lnTo>
                  <a:pt x="48126" y="799"/>
                </a:lnTo>
                <a:lnTo>
                  <a:pt x="32084" y="527"/>
                </a:lnTo>
                <a:lnTo>
                  <a:pt x="16042" y="261"/>
                </a:lnTo>
                <a:lnTo>
                  <a:pt x="0" y="0"/>
                </a:lnTo>
                <a:close/>
              </a:path>
            </a:pathLst>
          </a:custGeom>
          <a:solidFill>
            <a:srgbClr val="F2B880">
              <a:alpha val="55000"/>
            </a:srgbClr>
          </a:solidFill>
          <a:ln w="10160">
            <a:solidFill>
              <a:srgbClr val="F2B880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2-E18 polygon 36" descr="sci-ppt:o036"/>
          <p:cNvSpPr/>
          <p:nvPr/>
        </p:nvSpPr>
        <p:spPr>
          <a:xfrm>
            <a:off x="914400" y="1642533"/>
            <a:ext cx="6400800" cy="1087908"/>
          </a:xfrm>
          <a:custGeom>
            <a:avLst/>
            <a:gdLst/>
            <a:ahLst/>
            <a:cxnLst/>
            <a:rect l="l" t="t" r="r" b="b"/>
            <a:pathLst>
              <a:path w="6400800" h="1087908">
                <a:moveTo>
                  <a:pt x="0" y="0"/>
                </a:moveTo>
                <a:lnTo>
                  <a:pt x="16042" y="0"/>
                </a:lnTo>
                <a:lnTo>
                  <a:pt x="32084" y="0"/>
                </a:lnTo>
                <a:lnTo>
                  <a:pt x="48126" y="0"/>
                </a:lnTo>
                <a:lnTo>
                  <a:pt x="64168" y="0"/>
                </a:lnTo>
                <a:lnTo>
                  <a:pt x="80210" y="0"/>
                </a:lnTo>
                <a:lnTo>
                  <a:pt x="96252" y="0"/>
                </a:lnTo>
                <a:lnTo>
                  <a:pt x="112294" y="0"/>
                </a:lnTo>
                <a:lnTo>
                  <a:pt x="128336" y="0"/>
                </a:lnTo>
                <a:lnTo>
                  <a:pt x="144378" y="0"/>
                </a:lnTo>
                <a:lnTo>
                  <a:pt x="160421" y="0"/>
                </a:lnTo>
                <a:lnTo>
                  <a:pt x="176463" y="0"/>
                </a:lnTo>
                <a:lnTo>
                  <a:pt x="192505" y="0"/>
                </a:lnTo>
                <a:lnTo>
                  <a:pt x="208547" y="0"/>
                </a:lnTo>
                <a:lnTo>
                  <a:pt x="224589" y="0"/>
                </a:lnTo>
                <a:lnTo>
                  <a:pt x="240631" y="0"/>
                </a:lnTo>
                <a:lnTo>
                  <a:pt x="256673" y="0"/>
                </a:lnTo>
                <a:lnTo>
                  <a:pt x="272715" y="0"/>
                </a:lnTo>
                <a:lnTo>
                  <a:pt x="288757" y="0"/>
                </a:lnTo>
                <a:lnTo>
                  <a:pt x="304800" y="0"/>
                </a:lnTo>
                <a:lnTo>
                  <a:pt x="320842" y="0"/>
                </a:lnTo>
                <a:lnTo>
                  <a:pt x="336884" y="0"/>
                </a:lnTo>
                <a:lnTo>
                  <a:pt x="352926" y="0"/>
                </a:lnTo>
                <a:lnTo>
                  <a:pt x="368968" y="0"/>
                </a:lnTo>
                <a:lnTo>
                  <a:pt x="385010" y="0"/>
                </a:lnTo>
                <a:lnTo>
                  <a:pt x="401052" y="0"/>
                </a:lnTo>
                <a:lnTo>
                  <a:pt x="417094" y="0"/>
                </a:lnTo>
                <a:lnTo>
                  <a:pt x="433136" y="0"/>
                </a:lnTo>
                <a:lnTo>
                  <a:pt x="449178" y="0"/>
                </a:lnTo>
                <a:lnTo>
                  <a:pt x="465221" y="0"/>
                </a:lnTo>
                <a:lnTo>
                  <a:pt x="481263" y="0"/>
                </a:lnTo>
                <a:lnTo>
                  <a:pt x="497305" y="0"/>
                </a:lnTo>
                <a:lnTo>
                  <a:pt x="513347" y="0"/>
                </a:lnTo>
                <a:lnTo>
                  <a:pt x="529389" y="0"/>
                </a:lnTo>
                <a:lnTo>
                  <a:pt x="545431" y="0"/>
                </a:lnTo>
                <a:lnTo>
                  <a:pt x="561473" y="0"/>
                </a:lnTo>
                <a:lnTo>
                  <a:pt x="577515" y="0"/>
                </a:lnTo>
                <a:lnTo>
                  <a:pt x="593557" y="0"/>
                </a:lnTo>
                <a:lnTo>
                  <a:pt x="609599" y="0"/>
                </a:lnTo>
                <a:lnTo>
                  <a:pt x="625642" y="0"/>
                </a:lnTo>
                <a:lnTo>
                  <a:pt x="641684" y="0"/>
                </a:lnTo>
                <a:lnTo>
                  <a:pt x="657726" y="0"/>
                </a:lnTo>
                <a:lnTo>
                  <a:pt x="673768" y="0"/>
                </a:lnTo>
                <a:lnTo>
                  <a:pt x="689810" y="0"/>
                </a:lnTo>
                <a:lnTo>
                  <a:pt x="705852" y="0"/>
                </a:lnTo>
                <a:lnTo>
                  <a:pt x="721894" y="0"/>
                </a:lnTo>
                <a:lnTo>
                  <a:pt x="737936" y="0"/>
                </a:lnTo>
                <a:lnTo>
                  <a:pt x="753978" y="0"/>
                </a:lnTo>
                <a:lnTo>
                  <a:pt x="770021" y="0"/>
                </a:lnTo>
                <a:lnTo>
                  <a:pt x="786063" y="0"/>
                </a:lnTo>
                <a:lnTo>
                  <a:pt x="802105" y="0"/>
                </a:lnTo>
                <a:lnTo>
                  <a:pt x="818147" y="0"/>
                </a:lnTo>
                <a:lnTo>
                  <a:pt x="834189" y="0"/>
                </a:lnTo>
                <a:lnTo>
                  <a:pt x="850231" y="0"/>
                </a:lnTo>
                <a:lnTo>
                  <a:pt x="866273" y="0"/>
                </a:lnTo>
                <a:lnTo>
                  <a:pt x="882315" y="0"/>
                </a:lnTo>
                <a:lnTo>
                  <a:pt x="898357" y="0"/>
                </a:lnTo>
                <a:lnTo>
                  <a:pt x="914400" y="0"/>
                </a:lnTo>
                <a:lnTo>
                  <a:pt x="930442" y="0"/>
                </a:lnTo>
                <a:lnTo>
                  <a:pt x="946484" y="0"/>
                </a:lnTo>
                <a:lnTo>
                  <a:pt x="962526" y="0"/>
                </a:lnTo>
                <a:lnTo>
                  <a:pt x="978568" y="0"/>
                </a:lnTo>
                <a:lnTo>
                  <a:pt x="994610" y="0"/>
                </a:lnTo>
                <a:lnTo>
                  <a:pt x="1010652" y="0"/>
                </a:lnTo>
                <a:lnTo>
                  <a:pt x="1026694" y="0"/>
                </a:lnTo>
                <a:lnTo>
                  <a:pt x="1042736" y="0"/>
                </a:lnTo>
                <a:lnTo>
                  <a:pt x="1058778" y="0"/>
                </a:lnTo>
                <a:lnTo>
                  <a:pt x="1074821" y="0"/>
                </a:lnTo>
                <a:lnTo>
                  <a:pt x="1090863" y="0"/>
                </a:lnTo>
                <a:lnTo>
                  <a:pt x="1106905" y="0"/>
                </a:lnTo>
                <a:lnTo>
                  <a:pt x="1122947" y="0"/>
                </a:lnTo>
                <a:lnTo>
                  <a:pt x="1138989" y="0"/>
                </a:lnTo>
                <a:lnTo>
                  <a:pt x="1155031" y="0"/>
                </a:lnTo>
                <a:lnTo>
                  <a:pt x="1171073" y="0"/>
                </a:lnTo>
                <a:lnTo>
                  <a:pt x="1187115" y="0"/>
                </a:lnTo>
                <a:lnTo>
                  <a:pt x="1203157" y="0"/>
                </a:lnTo>
                <a:lnTo>
                  <a:pt x="1219199" y="0"/>
                </a:lnTo>
                <a:lnTo>
                  <a:pt x="1235242" y="0"/>
                </a:lnTo>
                <a:lnTo>
                  <a:pt x="1251284" y="0"/>
                </a:lnTo>
                <a:lnTo>
                  <a:pt x="1267326" y="0"/>
                </a:lnTo>
                <a:lnTo>
                  <a:pt x="1283368" y="0"/>
                </a:lnTo>
                <a:lnTo>
                  <a:pt x="1299410" y="0"/>
                </a:lnTo>
                <a:lnTo>
                  <a:pt x="1315452" y="0"/>
                </a:lnTo>
                <a:lnTo>
                  <a:pt x="1331494" y="0"/>
                </a:lnTo>
                <a:lnTo>
                  <a:pt x="1347536" y="0"/>
                </a:lnTo>
                <a:lnTo>
                  <a:pt x="1363578" y="0"/>
                </a:lnTo>
                <a:lnTo>
                  <a:pt x="1379621" y="0"/>
                </a:lnTo>
                <a:lnTo>
                  <a:pt x="1395663" y="0"/>
                </a:lnTo>
                <a:lnTo>
                  <a:pt x="1411705" y="0"/>
                </a:lnTo>
                <a:lnTo>
                  <a:pt x="1427747" y="0"/>
                </a:lnTo>
                <a:lnTo>
                  <a:pt x="1443789" y="0"/>
                </a:lnTo>
                <a:lnTo>
                  <a:pt x="1459831" y="0"/>
                </a:lnTo>
                <a:lnTo>
                  <a:pt x="1475873" y="0"/>
                </a:lnTo>
                <a:lnTo>
                  <a:pt x="1491915" y="0"/>
                </a:lnTo>
                <a:lnTo>
                  <a:pt x="1507957" y="0"/>
                </a:lnTo>
                <a:lnTo>
                  <a:pt x="1524000" y="0"/>
                </a:lnTo>
                <a:lnTo>
                  <a:pt x="1540042" y="0"/>
                </a:lnTo>
                <a:lnTo>
                  <a:pt x="1556084" y="0"/>
                </a:lnTo>
                <a:lnTo>
                  <a:pt x="1572126" y="0"/>
                </a:lnTo>
                <a:lnTo>
                  <a:pt x="1588168" y="0"/>
                </a:lnTo>
                <a:lnTo>
                  <a:pt x="1604210" y="0"/>
                </a:lnTo>
                <a:lnTo>
                  <a:pt x="1620252" y="0"/>
                </a:lnTo>
                <a:lnTo>
                  <a:pt x="1636294" y="0"/>
                </a:lnTo>
                <a:lnTo>
                  <a:pt x="1652336" y="0"/>
                </a:lnTo>
                <a:lnTo>
                  <a:pt x="1668378" y="0"/>
                </a:lnTo>
                <a:lnTo>
                  <a:pt x="1684421" y="0"/>
                </a:lnTo>
                <a:lnTo>
                  <a:pt x="1700463" y="0"/>
                </a:lnTo>
                <a:lnTo>
                  <a:pt x="1716505" y="0"/>
                </a:lnTo>
                <a:lnTo>
                  <a:pt x="1732547" y="0"/>
                </a:lnTo>
                <a:lnTo>
                  <a:pt x="1748589" y="0"/>
                </a:lnTo>
                <a:lnTo>
                  <a:pt x="1764631" y="0"/>
                </a:lnTo>
                <a:lnTo>
                  <a:pt x="1780673" y="0"/>
                </a:lnTo>
                <a:lnTo>
                  <a:pt x="1796715" y="0"/>
                </a:lnTo>
                <a:lnTo>
                  <a:pt x="1812757" y="0"/>
                </a:lnTo>
                <a:lnTo>
                  <a:pt x="1828800" y="0"/>
                </a:lnTo>
                <a:lnTo>
                  <a:pt x="1844842" y="0"/>
                </a:lnTo>
                <a:lnTo>
                  <a:pt x="1860884" y="0"/>
                </a:lnTo>
                <a:lnTo>
                  <a:pt x="1876926" y="0"/>
                </a:lnTo>
                <a:lnTo>
                  <a:pt x="1892968" y="0"/>
                </a:lnTo>
                <a:lnTo>
                  <a:pt x="1909010" y="0"/>
                </a:lnTo>
                <a:lnTo>
                  <a:pt x="1925052" y="0"/>
                </a:lnTo>
                <a:lnTo>
                  <a:pt x="1941094" y="0"/>
                </a:lnTo>
                <a:lnTo>
                  <a:pt x="1957136" y="0"/>
                </a:lnTo>
                <a:lnTo>
                  <a:pt x="1973178" y="0"/>
                </a:lnTo>
                <a:lnTo>
                  <a:pt x="1989221" y="0"/>
                </a:lnTo>
                <a:lnTo>
                  <a:pt x="2005263" y="0"/>
                </a:lnTo>
                <a:lnTo>
                  <a:pt x="2021305" y="0"/>
                </a:lnTo>
                <a:lnTo>
                  <a:pt x="2037347" y="0"/>
                </a:lnTo>
                <a:lnTo>
                  <a:pt x="2053389" y="0"/>
                </a:lnTo>
                <a:lnTo>
                  <a:pt x="2069431" y="0"/>
                </a:lnTo>
                <a:lnTo>
                  <a:pt x="2085473" y="0"/>
                </a:lnTo>
                <a:lnTo>
                  <a:pt x="2101515" y="0"/>
                </a:lnTo>
                <a:lnTo>
                  <a:pt x="2117557" y="0"/>
                </a:lnTo>
                <a:lnTo>
                  <a:pt x="2133599" y="0"/>
                </a:lnTo>
                <a:lnTo>
                  <a:pt x="2149642" y="0"/>
                </a:lnTo>
                <a:lnTo>
                  <a:pt x="2165684" y="0"/>
                </a:lnTo>
                <a:lnTo>
                  <a:pt x="2181726" y="0"/>
                </a:lnTo>
                <a:lnTo>
                  <a:pt x="2197768" y="0"/>
                </a:lnTo>
                <a:lnTo>
                  <a:pt x="2213810" y="0"/>
                </a:lnTo>
                <a:lnTo>
                  <a:pt x="2229852" y="0"/>
                </a:lnTo>
                <a:lnTo>
                  <a:pt x="2245894" y="0"/>
                </a:lnTo>
                <a:lnTo>
                  <a:pt x="2261936" y="0"/>
                </a:lnTo>
                <a:lnTo>
                  <a:pt x="2277978" y="0"/>
                </a:lnTo>
                <a:lnTo>
                  <a:pt x="2294021" y="0"/>
                </a:lnTo>
                <a:lnTo>
                  <a:pt x="2310063" y="0"/>
                </a:lnTo>
                <a:lnTo>
                  <a:pt x="2326105" y="0"/>
                </a:lnTo>
                <a:lnTo>
                  <a:pt x="2342147" y="0"/>
                </a:lnTo>
                <a:lnTo>
                  <a:pt x="2358189" y="0"/>
                </a:lnTo>
                <a:lnTo>
                  <a:pt x="2374231" y="0"/>
                </a:lnTo>
                <a:lnTo>
                  <a:pt x="2390273" y="0"/>
                </a:lnTo>
                <a:lnTo>
                  <a:pt x="2406315" y="0"/>
                </a:lnTo>
                <a:lnTo>
                  <a:pt x="2422357" y="0"/>
                </a:lnTo>
                <a:lnTo>
                  <a:pt x="2438400" y="0"/>
                </a:lnTo>
                <a:lnTo>
                  <a:pt x="2454442" y="0"/>
                </a:lnTo>
                <a:lnTo>
                  <a:pt x="2470484" y="0"/>
                </a:lnTo>
                <a:lnTo>
                  <a:pt x="2486526" y="0"/>
                </a:lnTo>
                <a:lnTo>
                  <a:pt x="2502568" y="0"/>
                </a:lnTo>
                <a:lnTo>
                  <a:pt x="2518610" y="0"/>
                </a:lnTo>
                <a:lnTo>
                  <a:pt x="2534652" y="0"/>
                </a:lnTo>
                <a:lnTo>
                  <a:pt x="2550694" y="0"/>
                </a:lnTo>
                <a:lnTo>
                  <a:pt x="2566736" y="0"/>
                </a:lnTo>
                <a:lnTo>
                  <a:pt x="2582778" y="0"/>
                </a:lnTo>
                <a:lnTo>
                  <a:pt x="2598821" y="0"/>
                </a:lnTo>
                <a:lnTo>
                  <a:pt x="2614863" y="0"/>
                </a:lnTo>
                <a:lnTo>
                  <a:pt x="2630905" y="0"/>
                </a:lnTo>
                <a:lnTo>
                  <a:pt x="2646947" y="0"/>
                </a:lnTo>
                <a:lnTo>
                  <a:pt x="2662989" y="0"/>
                </a:lnTo>
                <a:lnTo>
                  <a:pt x="2679031" y="0"/>
                </a:lnTo>
                <a:lnTo>
                  <a:pt x="2695073" y="0"/>
                </a:lnTo>
                <a:lnTo>
                  <a:pt x="2711115" y="0"/>
                </a:lnTo>
                <a:lnTo>
                  <a:pt x="2727157" y="0"/>
                </a:lnTo>
                <a:lnTo>
                  <a:pt x="2743200" y="0"/>
                </a:lnTo>
                <a:lnTo>
                  <a:pt x="2759242" y="0"/>
                </a:lnTo>
                <a:lnTo>
                  <a:pt x="2775284" y="0"/>
                </a:lnTo>
                <a:lnTo>
                  <a:pt x="2791326" y="0"/>
                </a:lnTo>
                <a:lnTo>
                  <a:pt x="2807368" y="0"/>
                </a:lnTo>
                <a:lnTo>
                  <a:pt x="2823410" y="0"/>
                </a:lnTo>
                <a:lnTo>
                  <a:pt x="2839452" y="0"/>
                </a:lnTo>
                <a:lnTo>
                  <a:pt x="2855494" y="0"/>
                </a:lnTo>
                <a:lnTo>
                  <a:pt x="2871536" y="0"/>
                </a:lnTo>
                <a:lnTo>
                  <a:pt x="2887578" y="0"/>
                </a:lnTo>
                <a:lnTo>
                  <a:pt x="2903621" y="0"/>
                </a:lnTo>
                <a:lnTo>
                  <a:pt x="2919663" y="0"/>
                </a:lnTo>
                <a:lnTo>
                  <a:pt x="2935705" y="0"/>
                </a:lnTo>
                <a:lnTo>
                  <a:pt x="2951747" y="0"/>
                </a:lnTo>
                <a:lnTo>
                  <a:pt x="2967789" y="0"/>
                </a:lnTo>
                <a:lnTo>
                  <a:pt x="2983831" y="0"/>
                </a:lnTo>
                <a:lnTo>
                  <a:pt x="2999873" y="0"/>
                </a:lnTo>
                <a:lnTo>
                  <a:pt x="3015915" y="0"/>
                </a:lnTo>
                <a:lnTo>
                  <a:pt x="3031957" y="0"/>
                </a:lnTo>
                <a:lnTo>
                  <a:pt x="3047999" y="0"/>
                </a:lnTo>
                <a:lnTo>
                  <a:pt x="3064042" y="0"/>
                </a:lnTo>
                <a:lnTo>
                  <a:pt x="3080084" y="0"/>
                </a:lnTo>
                <a:lnTo>
                  <a:pt x="3096126" y="0"/>
                </a:lnTo>
                <a:lnTo>
                  <a:pt x="3112168" y="0"/>
                </a:lnTo>
                <a:lnTo>
                  <a:pt x="3128210" y="0"/>
                </a:lnTo>
                <a:lnTo>
                  <a:pt x="3144252" y="0"/>
                </a:lnTo>
                <a:lnTo>
                  <a:pt x="3160294" y="0"/>
                </a:lnTo>
                <a:lnTo>
                  <a:pt x="3176336" y="0"/>
                </a:lnTo>
                <a:lnTo>
                  <a:pt x="3192378" y="0"/>
                </a:lnTo>
                <a:lnTo>
                  <a:pt x="3208421" y="0"/>
                </a:lnTo>
                <a:lnTo>
                  <a:pt x="3224463" y="0"/>
                </a:lnTo>
                <a:lnTo>
                  <a:pt x="3240505" y="0"/>
                </a:lnTo>
                <a:lnTo>
                  <a:pt x="3256547" y="0"/>
                </a:lnTo>
                <a:lnTo>
                  <a:pt x="3272589" y="0"/>
                </a:lnTo>
                <a:lnTo>
                  <a:pt x="3288631" y="0"/>
                </a:lnTo>
                <a:lnTo>
                  <a:pt x="3304673" y="0"/>
                </a:lnTo>
                <a:lnTo>
                  <a:pt x="3320715" y="0"/>
                </a:lnTo>
                <a:lnTo>
                  <a:pt x="3336757" y="0"/>
                </a:lnTo>
                <a:lnTo>
                  <a:pt x="3352799" y="0"/>
                </a:lnTo>
                <a:lnTo>
                  <a:pt x="3368842" y="0"/>
                </a:lnTo>
                <a:lnTo>
                  <a:pt x="3384884" y="0"/>
                </a:lnTo>
                <a:lnTo>
                  <a:pt x="3400926" y="0"/>
                </a:lnTo>
                <a:lnTo>
                  <a:pt x="3416968" y="0"/>
                </a:lnTo>
                <a:lnTo>
                  <a:pt x="3433010" y="0"/>
                </a:lnTo>
                <a:lnTo>
                  <a:pt x="3449052" y="0"/>
                </a:lnTo>
                <a:lnTo>
                  <a:pt x="3465094" y="0"/>
                </a:lnTo>
                <a:lnTo>
                  <a:pt x="3481136" y="0"/>
                </a:lnTo>
                <a:lnTo>
                  <a:pt x="3497178" y="0"/>
                </a:lnTo>
                <a:lnTo>
                  <a:pt x="3513221" y="0"/>
                </a:lnTo>
                <a:lnTo>
                  <a:pt x="3529263" y="0"/>
                </a:lnTo>
                <a:lnTo>
                  <a:pt x="3545305" y="0"/>
                </a:lnTo>
                <a:lnTo>
                  <a:pt x="3561347" y="0"/>
                </a:lnTo>
                <a:lnTo>
                  <a:pt x="3577389" y="0"/>
                </a:lnTo>
                <a:lnTo>
                  <a:pt x="3593431" y="0"/>
                </a:lnTo>
                <a:lnTo>
                  <a:pt x="3609473" y="0"/>
                </a:lnTo>
                <a:lnTo>
                  <a:pt x="3625515" y="0"/>
                </a:lnTo>
                <a:lnTo>
                  <a:pt x="3641557" y="0"/>
                </a:lnTo>
                <a:lnTo>
                  <a:pt x="3657600" y="0"/>
                </a:lnTo>
                <a:lnTo>
                  <a:pt x="3673642" y="0"/>
                </a:lnTo>
                <a:lnTo>
                  <a:pt x="3689684" y="0"/>
                </a:lnTo>
                <a:lnTo>
                  <a:pt x="3705726" y="0"/>
                </a:lnTo>
                <a:lnTo>
                  <a:pt x="3721768" y="0"/>
                </a:lnTo>
                <a:lnTo>
                  <a:pt x="3737810" y="0"/>
                </a:lnTo>
                <a:lnTo>
                  <a:pt x="3753852" y="0"/>
                </a:lnTo>
                <a:lnTo>
                  <a:pt x="3769894" y="0"/>
                </a:lnTo>
                <a:lnTo>
                  <a:pt x="3785936" y="0"/>
                </a:lnTo>
                <a:lnTo>
                  <a:pt x="3801978" y="0"/>
                </a:lnTo>
                <a:lnTo>
                  <a:pt x="3818021" y="0"/>
                </a:lnTo>
                <a:lnTo>
                  <a:pt x="3834063" y="0"/>
                </a:lnTo>
                <a:lnTo>
                  <a:pt x="3850105" y="0"/>
                </a:lnTo>
                <a:lnTo>
                  <a:pt x="3866147" y="0"/>
                </a:lnTo>
                <a:lnTo>
                  <a:pt x="3882189" y="0"/>
                </a:lnTo>
                <a:lnTo>
                  <a:pt x="3898231" y="0"/>
                </a:lnTo>
                <a:lnTo>
                  <a:pt x="3914273" y="0"/>
                </a:lnTo>
                <a:lnTo>
                  <a:pt x="3930315" y="0"/>
                </a:lnTo>
                <a:lnTo>
                  <a:pt x="3946357" y="0"/>
                </a:lnTo>
                <a:lnTo>
                  <a:pt x="3962400" y="0"/>
                </a:lnTo>
                <a:lnTo>
                  <a:pt x="3978442" y="0"/>
                </a:lnTo>
                <a:lnTo>
                  <a:pt x="3994484" y="0"/>
                </a:lnTo>
                <a:lnTo>
                  <a:pt x="4010526" y="0"/>
                </a:lnTo>
                <a:lnTo>
                  <a:pt x="4026568" y="0"/>
                </a:lnTo>
                <a:lnTo>
                  <a:pt x="4042610" y="0"/>
                </a:lnTo>
                <a:lnTo>
                  <a:pt x="4058652" y="0"/>
                </a:lnTo>
                <a:lnTo>
                  <a:pt x="4074694" y="0"/>
                </a:lnTo>
                <a:lnTo>
                  <a:pt x="4090736" y="0"/>
                </a:lnTo>
                <a:lnTo>
                  <a:pt x="4106778" y="0"/>
                </a:lnTo>
                <a:lnTo>
                  <a:pt x="4122821" y="0"/>
                </a:lnTo>
                <a:lnTo>
                  <a:pt x="4138863" y="0"/>
                </a:lnTo>
                <a:lnTo>
                  <a:pt x="4154905" y="0"/>
                </a:lnTo>
                <a:lnTo>
                  <a:pt x="4170947" y="0"/>
                </a:lnTo>
                <a:lnTo>
                  <a:pt x="4186989" y="0"/>
                </a:lnTo>
                <a:lnTo>
                  <a:pt x="4203031" y="0"/>
                </a:lnTo>
                <a:lnTo>
                  <a:pt x="4219073" y="0"/>
                </a:lnTo>
                <a:lnTo>
                  <a:pt x="4235115" y="0"/>
                </a:lnTo>
                <a:lnTo>
                  <a:pt x="4251157" y="0"/>
                </a:lnTo>
                <a:lnTo>
                  <a:pt x="4267199" y="0"/>
                </a:lnTo>
                <a:lnTo>
                  <a:pt x="4283242" y="0"/>
                </a:lnTo>
                <a:lnTo>
                  <a:pt x="4299284" y="0"/>
                </a:lnTo>
                <a:lnTo>
                  <a:pt x="4315326" y="0"/>
                </a:lnTo>
                <a:lnTo>
                  <a:pt x="4331368" y="0"/>
                </a:lnTo>
                <a:lnTo>
                  <a:pt x="4347410" y="0"/>
                </a:lnTo>
                <a:lnTo>
                  <a:pt x="4363452" y="0"/>
                </a:lnTo>
                <a:lnTo>
                  <a:pt x="4379494" y="0"/>
                </a:lnTo>
                <a:lnTo>
                  <a:pt x="4395536" y="0"/>
                </a:lnTo>
                <a:lnTo>
                  <a:pt x="4411578" y="0"/>
                </a:lnTo>
                <a:lnTo>
                  <a:pt x="4427621" y="0"/>
                </a:lnTo>
                <a:lnTo>
                  <a:pt x="4443663" y="0"/>
                </a:lnTo>
                <a:lnTo>
                  <a:pt x="4459705" y="0"/>
                </a:lnTo>
                <a:lnTo>
                  <a:pt x="4475747" y="0"/>
                </a:lnTo>
                <a:lnTo>
                  <a:pt x="4491789" y="0"/>
                </a:lnTo>
                <a:lnTo>
                  <a:pt x="4507831" y="0"/>
                </a:lnTo>
                <a:lnTo>
                  <a:pt x="4523873" y="0"/>
                </a:lnTo>
                <a:lnTo>
                  <a:pt x="4539915" y="0"/>
                </a:lnTo>
                <a:lnTo>
                  <a:pt x="4555957" y="0"/>
                </a:lnTo>
                <a:lnTo>
                  <a:pt x="4571999" y="0"/>
                </a:lnTo>
                <a:lnTo>
                  <a:pt x="4588042" y="0"/>
                </a:lnTo>
                <a:lnTo>
                  <a:pt x="4604084" y="0"/>
                </a:lnTo>
                <a:lnTo>
                  <a:pt x="4620126" y="0"/>
                </a:lnTo>
                <a:lnTo>
                  <a:pt x="4636168" y="0"/>
                </a:lnTo>
                <a:lnTo>
                  <a:pt x="4652210" y="0"/>
                </a:lnTo>
                <a:lnTo>
                  <a:pt x="4668252" y="0"/>
                </a:lnTo>
                <a:lnTo>
                  <a:pt x="4684294" y="0"/>
                </a:lnTo>
                <a:lnTo>
                  <a:pt x="4700336" y="0"/>
                </a:lnTo>
                <a:lnTo>
                  <a:pt x="4716378" y="0"/>
                </a:lnTo>
                <a:lnTo>
                  <a:pt x="4732421" y="0"/>
                </a:lnTo>
                <a:lnTo>
                  <a:pt x="4748463" y="0"/>
                </a:lnTo>
                <a:lnTo>
                  <a:pt x="4764505" y="0"/>
                </a:lnTo>
                <a:lnTo>
                  <a:pt x="4780547" y="0"/>
                </a:lnTo>
                <a:lnTo>
                  <a:pt x="4796589" y="0"/>
                </a:lnTo>
                <a:lnTo>
                  <a:pt x="4812631" y="0"/>
                </a:lnTo>
                <a:lnTo>
                  <a:pt x="4828673" y="0"/>
                </a:lnTo>
                <a:lnTo>
                  <a:pt x="4844715" y="0"/>
                </a:lnTo>
                <a:lnTo>
                  <a:pt x="4860757" y="0"/>
                </a:lnTo>
                <a:lnTo>
                  <a:pt x="4876800" y="0"/>
                </a:lnTo>
                <a:lnTo>
                  <a:pt x="4892842" y="0"/>
                </a:lnTo>
                <a:lnTo>
                  <a:pt x="4908884" y="0"/>
                </a:lnTo>
                <a:lnTo>
                  <a:pt x="4924926" y="0"/>
                </a:lnTo>
                <a:lnTo>
                  <a:pt x="4940968" y="0"/>
                </a:lnTo>
                <a:lnTo>
                  <a:pt x="4957010" y="0"/>
                </a:lnTo>
                <a:lnTo>
                  <a:pt x="4973052" y="0"/>
                </a:lnTo>
                <a:lnTo>
                  <a:pt x="4989094" y="0"/>
                </a:lnTo>
                <a:lnTo>
                  <a:pt x="5005136" y="0"/>
                </a:lnTo>
                <a:lnTo>
                  <a:pt x="5021178" y="0"/>
                </a:lnTo>
                <a:lnTo>
                  <a:pt x="5037221" y="0"/>
                </a:lnTo>
                <a:lnTo>
                  <a:pt x="5053263" y="0"/>
                </a:lnTo>
                <a:lnTo>
                  <a:pt x="5069305" y="0"/>
                </a:lnTo>
                <a:lnTo>
                  <a:pt x="5085347" y="0"/>
                </a:lnTo>
                <a:lnTo>
                  <a:pt x="5101389" y="0"/>
                </a:lnTo>
                <a:lnTo>
                  <a:pt x="5117431" y="0"/>
                </a:lnTo>
                <a:lnTo>
                  <a:pt x="5133473" y="0"/>
                </a:lnTo>
                <a:lnTo>
                  <a:pt x="5149515" y="0"/>
                </a:lnTo>
                <a:lnTo>
                  <a:pt x="5165557" y="0"/>
                </a:lnTo>
                <a:lnTo>
                  <a:pt x="5181600" y="0"/>
                </a:lnTo>
                <a:lnTo>
                  <a:pt x="5197642" y="0"/>
                </a:lnTo>
                <a:lnTo>
                  <a:pt x="5213684" y="0"/>
                </a:lnTo>
                <a:lnTo>
                  <a:pt x="5229726" y="0"/>
                </a:lnTo>
                <a:lnTo>
                  <a:pt x="5245768" y="0"/>
                </a:lnTo>
                <a:lnTo>
                  <a:pt x="5261810" y="0"/>
                </a:lnTo>
                <a:lnTo>
                  <a:pt x="5277852" y="0"/>
                </a:lnTo>
                <a:lnTo>
                  <a:pt x="5293894" y="0"/>
                </a:lnTo>
                <a:lnTo>
                  <a:pt x="5309936" y="0"/>
                </a:lnTo>
                <a:lnTo>
                  <a:pt x="5325978" y="0"/>
                </a:lnTo>
                <a:lnTo>
                  <a:pt x="5342021" y="0"/>
                </a:lnTo>
                <a:lnTo>
                  <a:pt x="5358063" y="0"/>
                </a:lnTo>
                <a:lnTo>
                  <a:pt x="5374105" y="0"/>
                </a:lnTo>
                <a:lnTo>
                  <a:pt x="5390147" y="0"/>
                </a:lnTo>
                <a:lnTo>
                  <a:pt x="5406189" y="0"/>
                </a:lnTo>
                <a:lnTo>
                  <a:pt x="5422231" y="0"/>
                </a:lnTo>
                <a:lnTo>
                  <a:pt x="5438273" y="0"/>
                </a:lnTo>
                <a:lnTo>
                  <a:pt x="5454315" y="0"/>
                </a:lnTo>
                <a:lnTo>
                  <a:pt x="5470357" y="0"/>
                </a:lnTo>
                <a:lnTo>
                  <a:pt x="5486400" y="0"/>
                </a:lnTo>
                <a:lnTo>
                  <a:pt x="5502442" y="0"/>
                </a:lnTo>
                <a:lnTo>
                  <a:pt x="5518484" y="0"/>
                </a:lnTo>
                <a:lnTo>
                  <a:pt x="5534526" y="0"/>
                </a:lnTo>
                <a:lnTo>
                  <a:pt x="5550568" y="0"/>
                </a:lnTo>
                <a:lnTo>
                  <a:pt x="5566610" y="0"/>
                </a:lnTo>
                <a:lnTo>
                  <a:pt x="5582652" y="0"/>
                </a:lnTo>
                <a:lnTo>
                  <a:pt x="5598694" y="0"/>
                </a:lnTo>
                <a:lnTo>
                  <a:pt x="5614736" y="0"/>
                </a:lnTo>
                <a:lnTo>
                  <a:pt x="5630778" y="0"/>
                </a:lnTo>
                <a:lnTo>
                  <a:pt x="5646821" y="0"/>
                </a:lnTo>
                <a:lnTo>
                  <a:pt x="5662863" y="0"/>
                </a:lnTo>
                <a:lnTo>
                  <a:pt x="5678905" y="0"/>
                </a:lnTo>
                <a:lnTo>
                  <a:pt x="5694947" y="0"/>
                </a:lnTo>
                <a:lnTo>
                  <a:pt x="5710989" y="0"/>
                </a:lnTo>
                <a:lnTo>
                  <a:pt x="5727031" y="0"/>
                </a:lnTo>
                <a:lnTo>
                  <a:pt x="5743073" y="0"/>
                </a:lnTo>
                <a:lnTo>
                  <a:pt x="5759115" y="0"/>
                </a:lnTo>
                <a:lnTo>
                  <a:pt x="5775157" y="0"/>
                </a:lnTo>
                <a:lnTo>
                  <a:pt x="5791199" y="0"/>
                </a:lnTo>
                <a:lnTo>
                  <a:pt x="5807242" y="0"/>
                </a:lnTo>
                <a:lnTo>
                  <a:pt x="5823284" y="0"/>
                </a:lnTo>
                <a:lnTo>
                  <a:pt x="5839326" y="0"/>
                </a:lnTo>
                <a:lnTo>
                  <a:pt x="5855368" y="0"/>
                </a:lnTo>
                <a:lnTo>
                  <a:pt x="5871410" y="0"/>
                </a:lnTo>
                <a:lnTo>
                  <a:pt x="5887452" y="0"/>
                </a:lnTo>
                <a:lnTo>
                  <a:pt x="5903494" y="0"/>
                </a:lnTo>
                <a:lnTo>
                  <a:pt x="5919536" y="0"/>
                </a:lnTo>
                <a:lnTo>
                  <a:pt x="5935578" y="0"/>
                </a:lnTo>
                <a:lnTo>
                  <a:pt x="5951621" y="0"/>
                </a:lnTo>
                <a:lnTo>
                  <a:pt x="5967663" y="0"/>
                </a:lnTo>
                <a:lnTo>
                  <a:pt x="5983705" y="0"/>
                </a:lnTo>
                <a:lnTo>
                  <a:pt x="5999747" y="0"/>
                </a:lnTo>
                <a:lnTo>
                  <a:pt x="6015789" y="0"/>
                </a:lnTo>
                <a:lnTo>
                  <a:pt x="6031831" y="0"/>
                </a:lnTo>
                <a:lnTo>
                  <a:pt x="6047873" y="0"/>
                </a:lnTo>
                <a:lnTo>
                  <a:pt x="6063915" y="0"/>
                </a:lnTo>
                <a:lnTo>
                  <a:pt x="6079957" y="0"/>
                </a:lnTo>
                <a:lnTo>
                  <a:pt x="6095999" y="0"/>
                </a:lnTo>
                <a:lnTo>
                  <a:pt x="6112042" y="0"/>
                </a:lnTo>
                <a:lnTo>
                  <a:pt x="6128084" y="0"/>
                </a:lnTo>
                <a:lnTo>
                  <a:pt x="6144126" y="0"/>
                </a:lnTo>
                <a:lnTo>
                  <a:pt x="6160168" y="0"/>
                </a:lnTo>
                <a:lnTo>
                  <a:pt x="6176210" y="0"/>
                </a:lnTo>
                <a:lnTo>
                  <a:pt x="6192252" y="0"/>
                </a:lnTo>
                <a:lnTo>
                  <a:pt x="6208294" y="0"/>
                </a:lnTo>
                <a:lnTo>
                  <a:pt x="6224336" y="0"/>
                </a:lnTo>
                <a:lnTo>
                  <a:pt x="6240378" y="0"/>
                </a:lnTo>
                <a:lnTo>
                  <a:pt x="6256421" y="0"/>
                </a:lnTo>
                <a:lnTo>
                  <a:pt x="6272463" y="0"/>
                </a:lnTo>
                <a:lnTo>
                  <a:pt x="6288505" y="0"/>
                </a:lnTo>
                <a:lnTo>
                  <a:pt x="6304547" y="0"/>
                </a:lnTo>
                <a:lnTo>
                  <a:pt x="6320589" y="0"/>
                </a:lnTo>
                <a:lnTo>
                  <a:pt x="6336631" y="0"/>
                </a:lnTo>
                <a:lnTo>
                  <a:pt x="6352673" y="0"/>
                </a:lnTo>
                <a:lnTo>
                  <a:pt x="6368715" y="0"/>
                </a:lnTo>
                <a:lnTo>
                  <a:pt x="6384757" y="0"/>
                </a:lnTo>
                <a:lnTo>
                  <a:pt x="6400800" y="0"/>
                </a:lnTo>
                <a:lnTo>
                  <a:pt x="6400800" y="1087908"/>
                </a:lnTo>
                <a:lnTo>
                  <a:pt x="6384757" y="1086677"/>
                </a:lnTo>
                <a:lnTo>
                  <a:pt x="6368715" y="1085431"/>
                </a:lnTo>
                <a:lnTo>
                  <a:pt x="6352673" y="1084169"/>
                </a:lnTo>
                <a:lnTo>
                  <a:pt x="6336631" y="1082890"/>
                </a:lnTo>
                <a:lnTo>
                  <a:pt x="6320589" y="1081596"/>
                </a:lnTo>
                <a:lnTo>
                  <a:pt x="6304547" y="1080286"/>
                </a:lnTo>
                <a:lnTo>
                  <a:pt x="6288505" y="1078958"/>
                </a:lnTo>
                <a:lnTo>
                  <a:pt x="6272463" y="1077614"/>
                </a:lnTo>
                <a:lnTo>
                  <a:pt x="6256421" y="1076253"/>
                </a:lnTo>
                <a:lnTo>
                  <a:pt x="6240378" y="1074875"/>
                </a:lnTo>
                <a:lnTo>
                  <a:pt x="6224336" y="1073479"/>
                </a:lnTo>
                <a:lnTo>
                  <a:pt x="6208294" y="1072066"/>
                </a:lnTo>
                <a:lnTo>
                  <a:pt x="6192252" y="1070635"/>
                </a:lnTo>
                <a:lnTo>
                  <a:pt x="6176210" y="1069185"/>
                </a:lnTo>
                <a:lnTo>
                  <a:pt x="6160168" y="1067718"/>
                </a:lnTo>
                <a:lnTo>
                  <a:pt x="6144126" y="1066231"/>
                </a:lnTo>
                <a:lnTo>
                  <a:pt x="6128084" y="1064726"/>
                </a:lnTo>
                <a:lnTo>
                  <a:pt x="6112042" y="1063202"/>
                </a:lnTo>
                <a:lnTo>
                  <a:pt x="6095999" y="1061658"/>
                </a:lnTo>
                <a:lnTo>
                  <a:pt x="6079957" y="1060095"/>
                </a:lnTo>
                <a:lnTo>
                  <a:pt x="6063915" y="1058512"/>
                </a:lnTo>
                <a:lnTo>
                  <a:pt x="6047873" y="1056909"/>
                </a:lnTo>
                <a:lnTo>
                  <a:pt x="6031831" y="1055285"/>
                </a:lnTo>
                <a:lnTo>
                  <a:pt x="6015789" y="1053641"/>
                </a:lnTo>
                <a:lnTo>
                  <a:pt x="5999747" y="1051977"/>
                </a:lnTo>
                <a:lnTo>
                  <a:pt x="5983705" y="1050291"/>
                </a:lnTo>
                <a:lnTo>
                  <a:pt x="5967663" y="1048583"/>
                </a:lnTo>
                <a:lnTo>
                  <a:pt x="5951621" y="1046855"/>
                </a:lnTo>
                <a:lnTo>
                  <a:pt x="5935578" y="1045104"/>
                </a:lnTo>
                <a:lnTo>
                  <a:pt x="5919536" y="1043331"/>
                </a:lnTo>
                <a:lnTo>
                  <a:pt x="5903494" y="1041535"/>
                </a:lnTo>
                <a:lnTo>
                  <a:pt x="5887452" y="1039717"/>
                </a:lnTo>
                <a:lnTo>
                  <a:pt x="5871410" y="1037875"/>
                </a:lnTo>
                <a:lnTo>
                  <a:pt x="5855368" y="1036011"/>
                </a:lnTo>
                <a:lnTo>
                  <a:pt x="5839326" y="1034122"/>
                </a:lnTo>
                <a:lnTo>
                  <a:pt x="5823284" y="1032210"/>
                </a:lnTo>
                <a:lnTo>
                  <a:pt x="5807242" y="1030273"/>
                </a:lnTo>
                <a:lnTo>
                  <a:pt x="5791199" y="1028312"/>
                </a:lnTo>
                <a:lnTo>
                  <a:pt x="5775157" y="1026326"/>
                </a:lnTo>
                <a:lnTo>
                  <a:pt x="5759115" y="1024315"/>
                </a:lnTo>
                <a:lnTo>
                  <a:pt x="5743073" y="1022278"/>
                </a:lnTo>
                <a:lnTo>
                  <a:pt x="5727031" y="1020215"/>
                </a:lnTo>
                <a:lnTo>
                  <a:pt x="5710989" y="1018126"/>
                </a:lnTo>
                <a:lnTo>
                  <a:pt x="5694947" y="1016011"/>
                </a:lnTo>
                <a:lnTo>
                  <a:pt x="5678905" y="1013869"/>
                </a:lnTo>
                <a:lnTo>
                  <a:pt x="5662863" y="1011699"/>
                </a:lnTo>
                <a:lnTo>
                  <a:pt x="5646821" y="1009502"/>
                </a:lnTo>
                <a:lnTo>
                  <a:pt x="5630778" y="1007277"/>
                </a:lnTo>
                <a:lnTo>
                  <a:pt x="5614736" y="1005024"/>
                </a:lnTo>
                <a:lnTo>
                  <a:pt x="5598694" y="1002743"/>
                </a:lnTo>
                <a:lnTo>
                  <a:pt x="5582652" y="1000432"/>
                </a:lnTo>
                <a:lnTo>
                  <a:pt x="5566610" y="998092"/>
                </a:lnTo>
                <a:lnTo>
                  <a:pt x="5550568" y="995722"/>
                </a:lnTo>
                <a:lnTo>
                  <a:pt x="5534526" y="993322"/>
                </a:lnTo>
                <a:lnTo>
                  <a:pt x="5518484" y="990892"/>
                </a:lnTo>
                <a:lnTo>
                  <a:pt x="5502442" y="988430"/>
                </a:lnTo>
                <a:lnTo>
                  <a:pt x="5486400" y="985938"/>
                </a:lnTo>
                <a:lnTo>
                  <a:pt x="5470357" y="983414"/>
                </a:lnTo>
                <a:lnTo>
                  <a:pt x="5454315" y="980857"/>
                </a:lnTo>
                <a:lnTo>
                  <a:pt x="5438273" y="978269"/>
                </a:lnTo>
                <a:lnTo>
                  <a:pt x="5422231" y="975647"/>
                </a:lnTo>
                <a:lnTo>
                  <a:pt x="5406189" y="972992"/>
                </a:lnTo>
                <a:lnTo>
                  <a:pt x="5390147" y="970303"/>
                </a:lnTo>
                <a:lnTo>
                  <a:pt x="5374105" y="967580"/>
                </a:lnTo>
                <a:lnTo>
                  <a:pt x="5358063" y="964823"/>
                </a:lnTo>
                <a:lnTo>
                  <a:pt x="5342021" y="962030"/>
                </a:lnTo>
                <a:lnTo>
                  <a:pt x="5325978" y="959202"/>
                </a:lnTo>
                <a:lnTo>
                  <a:pt x="5309936" y="956338"/>
                </a:lnTo>
                <a:lnTo>
                  <a:pt x="5293894" y="953437"/>
                </a:lnTo>
                <a:lnTo>
                  <a:pt x="5277852" y="950500"/>
                </a:lnTo>
                <a:lnTo>
                  <a:pt x="5261810" y="947525"/>
                </a:lnTo>
                <a:lnTo>
                  <a:pt x="5245768" y="944513"/>
                </a:lnTo>
                <a:lnTo>
                  <a:pt x="5229726" y="941462"/>
                </a:lnTo>
                <a:lnTo>
                  <a:pt x="5213684" y="938372"/>
                </a:lnTo>
                <a:lnTo>
                  <a:pt x="5197642" y="935243"/>
                </a:lnTo>
                <a:lnTo>
                  <a:pt x="5181600" y="932074"/>
                </a:lnTo>
                <a:lnTo>
                  <a:pt x="5165557" y="928865"/>
                </a:lnTo>
                <a:lnTo>
                  <a:pt x="5149515" y="925615"/>
                </a:lnTo>
                <a:lnTo>
                  <a:pt x="5133473" y="922324"/>
                </a:lnTo>
                <a:lnTo>
                  <a:pt x="5117431" y="918991"/>
                </a:lnTo>
                <a:lnTo>
                  <a:pt x="5101389" y="915616"/>
                </a:lnTo>
                <a:lnTo>
                  <a:pt x="5085347" y="912197"/>
                </a:lnTo>
                <a:lnTo>
                  <a:pt x="5069305" y="908735"/>
                </a:lnTo>
                <a:lnTo>
                  <a:pt x="5053263" y="905229"/>
                </a:lnTo>
                <a:lnTo>
                  <a:pt x="5037221" y="901679"/>
                </a:lnTo>
                <a:lnTo>
                  <a:pt x="5021178" y="898083"/>
                </a:lnTo>
                <a:lnTo>
                  <a:pt x="5005136" y="894441"/>
                </a:lnTo>
                <a:lnTo>
                  <a:pt x="4989094" y="890754"/>
                </a:lnTo>
                <a:lnTo>
                  <a:pt x="4973052" y="887019"/>
                </a:lnTo>
                <a:lnTo>
                  <a:pt x="4957010" y="883237"/>
                </a:lnTo>
                <a:lnTo>
                  <a:pt x="4940968" y="879406"/>
                </a:lnTo>
                <a:lnTo>
                  <a:pt x="4924926" y="875527"/>
                </a:lnTo>
                <a:lnTo>
                  <a:pt x="4908884" y="871599"/>
                </a:lnTo>
                <a:lnTo>
                  <a:pt x="4892842" y="867620"/>
                </a:lnTo>
                <a:lnTo>
                  <a:pt x="4876800" y="863591"/>
                </a:lnTo>
                <a:lnTo>
                  <a:pt x="4860757" y="859511"/>
                </a:lnTo>
                <a:lnTo>
                  <a:pt x="4844715" y="855379"/>
                </a:lnTo>
                <a:lnTo>
                  <a:pt x="4828673" y="851194"/>
                </a:lnTo>
                <a:lnTo>
                  <a:pt x="4812631" y="846957"/>
                </a:lnTo>
                <a:lnTo>
                  <a:pt x="4796589" y="842665"/>
                </a:lnTo>
                <a:lnTo>
                  <a:pt x="4780547" y="838319"/>
                </a:lnTo>
                <a:lnTo>
                  <a:pt x="4764505" y="833917"/>
                </a:lnTo>
                <a:lnTo>
                  <a:pt x="4748463" y="829460"/>
                </a:lnTo>
                <a:lnTo>
                  <a:pt x="4732421" y="824945"/>
                </a:lnTo>
                <a:lnTo>
                  <a:pt x="4716378" y="820374"/>
                </a:lnTo>
                <a:lnTo>
                  <a:pt x="4700336" y="815744"/>
                </a:lnTo>
                <a:lnTo>
                  <a:pt x="4684294" y="811056"/>
                </a:lnTo>
                <a:lnTo>
                  <a:pt x="4668252" y="806308"/>
                </a:lnTo>
                <a:lnTo>
                  <a:pt x="4652210" y="801500"/>
                </a:lnTo>
                <a:lnTo>
                  <a:pt x="4636168" y="796631"/>
                </a:lnTo>
                <a:lnTo>
                  <a:pt x="4620126" y="791699"/>
                </a:lnTo>
                <a:lnTo>
                  <a:pt x="4604084" y="786706"/>
                </a:lnTo>
                <a:lnTo>
                  <a:pt x="4588042" y="781649"/>
                </a:lnTo>
                <a:lnTo>
                  <a:pt x="4571999" y="776528"/>
                </a:lnTo>
                <a:lnTo>
                  <a:pt x="4555957" y="771342"/>
                </a:lnTo>
                <a:lnTo>
                  <a:pt x="4539915" y="766090"/>
                </a:lnTo>
                <a:lnTo>
                  <a:pt x="4523873" y="760771"/>
                </a:lnTo>
                <a:lnTo>
                  <a:pt x="4507831" y="755386"/>
                </a:lnTo>
                <a:lnTo>
                  <a:pt x="4491789" y="749932"/>
                </a:lnTo>
                <a:lnTo>
                  <a:pt x="4475747" y="744409"/>
                </a:lnTo>
                <a:lnTo>
                  <a:pt x="4459705" y="738816"/>
                </a:lnTo>
                <a:lnTo>
                  <a:pt x="4443663" y="733152"/>
                </a:lnTo>
                <a:lnTo>
                  <a:pt x="4427621" y="727417"/>
                </a:lnTo>
                <a:lnTo>
                  <a:pt x="4411578" y="721609"/>
                </a:lnTo>
                <a:lnTo>
                  <a:pt x="4395536" y="715728"/>
                </a:lnTo>
                <a:lnTo>
                  <a:pt x="4379494" y="709772"/>
                </a:lnTo>
                <a:lnTo>
                  <a:pt x="4363452" y="703742"/>
                </a:lnTo>
                <a:lnTo>
                  <a:pt x="4347410" y="697635"/>
                </a:lnTo>
                <a:lnTo>
                  <a:pt x="4331368" y="691452"/>
                </a:lnTo>
                <a:lnTo>
                  <a:pt x="4315326" y="685190"/>
                </a:lnTo>
                <a:lnTo>
                  <a:pt x="4299284" y="678849"/>
                </a:lnTo>
                <a:lnTo>
                  <a:pt x="4283242" y="672429"/>
                </a:lnTo>
                <a:lnTo>
                  <a:pt x="4267199" y="665928"/>
                </a:lnTo>
                <a:lnTo>
                  <a:pt x="4251157" y="659346"/>
                </a:lnTo>
                <a:lnTo>
                  <a:pt x="4235115" y="652680"/>
                </a:lnTo>
                <a:lnTo>
                  <a:pt x="4219073" y="645931"/>
                </a:lnTo>
                <a:lnTo>
                  <a:pt x="4203031" y="639097"/>
                </a:lnTo>
                <a:lnTo>
                  <a:pt x="4186989" y="632178"/>
                </a:lnTo>
                <a:lnTo>
                  <a:pt x="4170947" y="625172"/>
                </a:lnTo>
                <a:lnTo>
                  <a:pt x="4154905" y="618079"/>
                </a:lnTo>
                <a:lnTo>
                  <a:pt x="4138863" y="610897"/>
                </a:lnTo>
                <a:lnTo>
                  <a:pt x="4122821" y="603625"/>
                </a:lnTo>
                <a:lnTo>
                  <a:pt x="4106778" y="596262"/>
                </a:lnTo>
                <a:lnTo>
                  <a:pt x="4090736" y="588808"/>
                </a:lnTo>
                <a:lnTo>
                  <a:pt x="4074694" y="581261"/>
                </a:lnTo>
                <a:lnTo>
                  <a:pt x="4058652" y="573621"/>
                </a:lnTo>
                <a:lnTo>
                  <a:pt x="4042610" y="565885"/>
                </a:lnTo>
                <a:lnTo>
                  <a:pt x="4026568" y="558054"/>
                </a:lnTo>
                <a:lnTo>
                  <a:pt x="4010526" y="550125"/>
                </a:lnTo>
                <a:lnTo>
                  <a:pt x="3994484" y="542099"/>
                </a:lnTo>
                <a:lnTo>
                  <a:pt x="3978442" y="533973"/>
                </a:lnTo>
                <a:lnTo>
                  <a:pt x="3962400" y="525748"/>
                </a:lnTo>
                <a:lnTo>
                  <a:pt x="3946357" y="517421"/>
                </a:lnTo>
                <a:lnTo>
                  <a:pt x="3930315" y="508991"/>
                </a:lnTo>
                <a:lnTo>
                  <a:pt x="3914273" y="500459"/>
                </a:lnTo>
                <a:lnTo>
                  <a:pt x="3898231" y="491822"/>
                </a:lnTo>
                <a:lnTo>
                  <a:pt x="3882189" y="483079"/>
                </a:lnTo>
                <a:lnTo>
                  <a:pt x="3866147" y="474230"/>
                </a:lnTo>
                <a:lnTo>
                  <a:pt x="3850105" y="465273"/>
                </a:lnTo>
                <a:lnTo>
                  <a:pt x="3834063" y="456207"/>
                </a:lnTo>
                <a:lnTo>
                  <a:pt x="3818021" y="447031"/>
                </a:lnTo>
                <a:lnTo>
                  <a:pt x="3801978" y="437744"/>
                </a:lnTo>
                <a:lnTo>
                  <a:pt x="3785936" y="428345"/>
                </a:lnTo>
                <a:lnTo>
                  <a:pt x="3769894" y="418833"/>
                </a:lnTo>
                <a:lnTo>
                  <a:pt x="3753852" y="409207"/>
                </a:lnTo>
                <a:lnTo>
                  <a:pt x="3737810" y="399465"/>
                </a:lnTo>
                <a:lnTo>
                  <a:pt x="3721768" y="389607"/>
                </a:lnTo>
                <a:lnTo>
                  <a:pt x="3705726" y="379632"/>
                </a:lnTo>
                <a:lnTo>
                  <a:pt x="3689684" y="369538"/>
                </a:lnTo>
                <a:lnTo>
                  <a:pt x="3673642" y="359324"/>
                </a:lnTo>
                <a:lnTo>
                  <a:pt x="3657600" y="348990"/>
                </a:lnTo>
                <a:lnTo>
                  <a:pt x="3641557" y="338535"/>
                </a:lnTo>
                <a:lnTo>
                  <a:pt x="3625515" y="327957"/>
                </a:lnTo>
                <a:lnTo>
                  <a:pt x="3609473" y="317255"/>
                </a:lnTo>
                <a:lnTo>
                  <a:pt x="3593431" y="306429"/>
                </a:lnTo>
                <a:lnTo>
                  <a:pt x="3577389" y="295477"/>
                </a:lnTo>
                <a:lnTo>
                  <a:pt x="3561347" y="284398"/>
                </a:lnTo>
                <a:lnTo>
                  <a:pt x="3545305" y="273193"/>
                </a:lnTo>
                <a:lnTo>
                  <a:pt x="3529263" y="261859"/>
                </a:lnTo>
                <a:lnTo>
                  <a:pt x="3513221" y="250395"/>
                </a:lnTo>
                <a:lnTo>
                  <a:pt x="3497178" y="238802"/>
                </a:lnTo>
                <a:lnTo>
                  <a:pt x="3481136" y="227077"/>
                </a:lnTo>
                <a:lnTo>
                  <a:pt x="3465094" y="215221"/>
                </a:lnTo>
                <a:lnTo>
                  <a:pt x="3449052" y="203233"/>
                </a:lnTo>
                <a:lnTo>
                  <a:pt x="3433010" y="191111"/>
                </a:lnTo>
                <a:lnTo>
                  <a:pt x="3416968" y="178855"/>
                </a:lnTo>
                <a:lnTo>
                  <a:pt x="3400926" y="166464"/>
                </a:lnTo>
                <a:lnTo>
                  <a:pt x="3384884" y="153938"/>
                </a:lnTo>
                <a:lnTo>
                  <a:pt x="3368842" y="141276"/>
                </a:lnTo>
                <a:lnTo>
                  <a:pt x="3352799" y="128477"/>
                </a:lnTo>
                <a:lnTo>
                  <a:pt x="3336757" y="115541"/>
                </a:lnTo>
                <a:lnTo>
                  <a:pt x="3320715" y="102468"/>
                </a:lnTo>
                <a:lnTo>
                  <a:pt x="3304673" y="89257"/>
                </a:lnTo>
                <a:lnTo>
                  <a:pt x="3288631" y="75907"/>
                </a:lnTo>
                <a:lnTo>
                  <a:pt x="3272589" y="62419"/>
                </a:lnTo>
                <a:lnTo>
                  <a:pt x="3256547" y="48792"/>
                </a:lnTo>
                <a:lnTo>
                  <a:pt x="3240505" y="35026"/>
                </a:lnTo>
                <a:lnTo>
                  <a:pt x="3224463" y="21120"/>
                </a:lnTo>
                <a:lnTo>
                  <a:pt x="3208421" y="7075"/>
                </a:lnTo>
                <a:lnTo>
                  <a:pt x="3192378" y="0"/>
                </a:lnTo>
                <a:lnTo>
                  <a:pt x="3176336" y="0"/>
                </a:lnTo>
                <a:lnTo>
                  <a:pt x="3160294" y="0"/>
                </a:lnTo>
                <a:lnTo>
                  <a:pt x="3144252" y="0"/>
                </a:lnTo>
                <a:lnTo>
                  <a:pt x="3128210" y="0"/>
                </a:lnTo>
                <a:lnTo>
                  <a:pt x="3112168" y="0"/>
                </a:lnTo>
                <a:lnTo>
                  <a:pt x="3096126" y="0"/>
                </a:lnTo>
                <a:lnTo>
                  <a:pt x="3080084" y="0"/>
                </a:lnTo>
                <a:lnTo>
                  <a:pt x="3064042" y="0"/>
                </a:lnTo>
                <a:lnTo>
                  <a:pt x="3047999" y="0"/>
                </a:lnTo>
                <a:lnTo>
                  <a:pt x="3031957" y="0"/>
                </a:lnTo>
                <a:lnTo>
                  <a:pt x="3015915" y="0"/>
                </a:lnTo>
                <a:lnTo>
                  <a:pt x="2999873" y="0"/>
                </a:lnTo>
                <a:lnTo>
                  <a:pt x="2983831" y="0"/>
                </a:lnTo>
                <a:lnTo>
                  <a:pt x="2967789" y="0"/>
                </a:lnTo>
                <a:lnTo>
                  <a:pt x="2951747" y="0"/>
                </a:lnTo>
                <a:lnTo>
                  <a:pt x="2935705" y="0"/>
                </a:lnTo>
                <a:lnTo>
                  <a:pt x="2919663" y="0"/>
                </a:lnTo>
                <a:lnTo>
                  <a:pt x="2903621" y="0"/>
                </a:lnTo>
                <a:lnTo>
                  <a:pt x="2887578" y="0"/>
                </a:lnTo>
                <a:lnTo>
                  <a:pt x="2871536" y="0"/>
                </a:lnTo>
                <a:lnTo>
                  <a:pt x="2855494" y="0"/>
                </a:lnTo>
                <a:lnTo>
                  <a:pt x="2839452" y="0"/>
                </a:lnTo>
                <a:lnTo>
                  <a:pt x="2823410" y="0"/>
                </a:lnTo>
                <a:lnTo>
                  <a:pt x="2807368" y="0"/>
                </a:lnTo>
                <a:lnTo>
                  <a:pt x="2791326" y="0"/>
                </a:lnTo>
                <a:lnTo>
                  <a:pt x="2775284" y="0"/>
                </a:lnTo>
                <a:lnTo>
                  <a:pt x="2759242" y="0"/>
                </a:lnTo>
                <a:lnTo>
                  <a:pt x="2743200" y="0"/>
                </a:lnTo>
                <a:lnTo>
                  <a:pt x="2727157" y="0"/>
                </a:lnTo>
                <a:lnTo>
                  <a:pt x="2711115" y="0"/>
                </a:lnTo>
                <a:lnTo>
                  <a:pt x="2695073" y="0"/>
                </a:lnTo>
                <a:lnTo>
                  <a:pt x="2679031" y="0"/>
                </a:lnTo>
                <a:lnTo>
                  <a:pt x="2662989" y="0"/>
                </a:lnTo>
                <a:lnTo>
                  <a:pt x="2646947" y="0"/>
                </a:lnTo>
                <a:lnTo>
                  <a:pt x="2630905" y="0"/>
                </a:lnTo>
                <a:lnTo>
                  <a:pt x="2614863" y="0"/>
                </a:lnTo>
                <a:lnTo>
                  <a:pt x="2598821" y="0"/>
                </a:lnTo>
                <a:lnTo>
                  <a:pt x="2582778" y="0"/>
                </a:lnTo>
                <a:lnTo>
                  <a:pt x="2566736" y="0"/>
                </a:lnTo>
                <a:lnTo>
                  <a:pt x="2550694" y="0"/>
                </a:lnTo>
                <a:lnTo>
                  <a:pt x="2534652" y="0"/>
                </a:lnTo>
                <a:lnTo>
                  <a:pt x="2518610" y="0"/>
                </a:lnTo>
                <a:lnTo>
                  <a:pt x="2502568" y="0"/>
                </a:lnTo>
                <a:lnTo>
                  <a:pt x="2486526" y="0"/>
                </a:lnTo>
                <a:lnTo>
                  <a:pt x="2470484" y="0"/>
                </a:lnTo>
                <a:lnTo>
                  <a:pt x="2454442" y="0"/>
                </a:lnTo>
                <a:lnTo>
                  <a:pt x="2438400" y="0"/>
                </a:lnTo>
                <a:lnTo>
                  <a:pt x="2422357" y="0"/>
                </a:lnTo>
                <a:lnTo>
                  <a:pt x="2406315" y="0"/>
                </a:lnTo>
                <a:lnTo>
                  <a:pt x="2390273" y="0"/>
                </a:lnTo>
                <a:lnTo>
                  <a:pt x="2374231" y="0"/>
                </a:lnTo>
                <a:lnTo>
                  <a:pt x="2358189" y="0"/>
                </a:lnTo>
                <a:lnTo>
                  <a:pt x="2342147" y="0"/>
                </a:lnTo>
                <a:lnTo>
                  <a:pt x="2326105" y="0"/>
                </a:lnTo>
                <a:lnTo>
                  <a:pt x="2310063" y="0"/>
                </a:lnTo>
                <a:lnTo>
                  <a:pt x="2294021" y="0"/>
                </a:lnTo>
                <a:lnTo>
                  <a:pt x="2277978" y="0"/>
                </a:lnTo>
                <a:lnTo>
                  <a:pt x="2261936" y="0"/>
                </a:lnTo>
                <a:lnTo>
                  <a:pt x="2245894" y="0"/>
                </a:lnTo>
                <a:lnTo>
                  <a:pt x="2229852" y="0"/>
                </a:lnTo>
                <a:lnTo>
                  <a:pt x="2213810" y="0"/>
                </a:lnTo>
                <a:lnTo>
                  <a:pt x="2197768" y="0"/>
                </a:lnTo>
                <a:lnTo>
                  <a:pt x="2181726" y="0"/>
                </a:lnTo>
                <a:lnTo>
                  <a:pt x="2165684" y="0"/>
                </a:lnTo>
                <a:lnTo>
                  <a:pt x="2149642" y="0"/>
                </a:lnTo>
                <a:lnTo>
                  <a:pt x="2133599" y="0"/>
                </a:lnTo>
                <a:lnTo>
                  <a:pt x="2117557" y="0"/>
                </a:lnTo>
                <a:lnTo>
                  <a:pt x="2101515" y="0"/>
                </a:lnTo>
                <a:lnTo>
                  <a:pt x="2085473" y="0"/>
                </a:lnTo>
                <a:lnTo>
                  <a:pt x="2069431" y="0"/>
                </a:lnTo>
                <a:lnTo>
                  <a:pt x="2053389" y="0"/>
                </a:lnTo>
                <a:lnTo>
                  <a:pt x="2037347" y="0"/>
                </a:lnTo>
                <a:lnTo>
                  <a:pt x="2021305" y="0"/>
                </a:lnTo>
                <a:lnTo>
                  <a:pt x="2005263" y="0"/>
                </a:lnTo>
                <a:lnTo>
                  <a:pt x="1989221" y="0"/>
                </a:lnTo>
                <a:lnTo>
                  <a:pt x="1973178" y="0"/>
                </a:lnTo>
                <a:lnTo>
                  <a:pt x="1957136" y="0"/>
                </a:lnTo>
                <a:lnTo>
                  <a:pt x="1941094" y="0"/>
                </a:lnTo>
                <a:lnTo>
                  <a:pt x="1925052" y="0"/>
                </a:lnTo>
                <a:lnTo>
                  <a:pt x="1909010" y="0"/>
                </a:lnTo>
                <a:lnTo>
                  <a:pt x="1892968" y="0"/>
                </a:lnTo>
                <a:lnTo>
                  <a:pt x="1876926" y="0"/>
                </a:lnTo>
                <a:lnTo>
                  <a:pt x="1860884" y="0"/>
                </a:lnTo>
                <a:lnTo>
                  <a:pt x="1844842" y="0"/>
                </a:lnTo>
                <a:lnTo>
                  <a:pt x="1828800" y="0"/>
                </a:lnTo>
                <a:lnTo>
                  <a:pt x="1812757" y="0"/>
                </a:lnTo>
                <a:lnTo>
                  <a:pt x="1796715" y="0"/>
                </a:lnTo>
                <a:lnTo>
                  <a:pt x="1780673" y="0"/>
                </a:lnTo>
                <a:lnTo>
                  <a:pt x="1764631" y="0"/>
                </a:lnTo>
                <a:lnTo>
                  <a:pt x="1748589" y="0"/>
                </a:lnTo>
                <a:lnTo>
                  <a:pt x="1732547" y="0"/>
                </a:lnTo>
                <a:lnTo>
                  <a:pt x="1716505" y="0"/>
                </a:lnTo>
                <a:lnTo>
                  <a:pt x="1700463" y="0"/>
                </a:lnTo>
                <a:lnTo>
                  <a:pt x="1684421" y="0"/>
                </a:lnTo>
                <a:lnTo>
                  <a:pt x="1668378" y="0"/>
                </a:lnTo>
                <a:lnTo>
                  <a:pt x="1652336" y="0"/>
                </a:lnTo>
                <a:lnTo>
                  <a:pt x="1636294" y="0"/>
                </a:lnTo>
                <a:lnTo>
                  <a:pt x="1620252" y="0"/>
                </a:lnTo>
                <a:lnTo>
                  <a:pt x="1604210" y="0"/>
                </a:lnTo>
                <a:lnTo>
                  <a:pt x="1588168" y="0"/>
                </a:lnTo>
                <a:lnTo>
                  <a:pt x="1572126" y="0"/>
                </a:lnTo>
                <a:lnTo>
                  <a:pt x="1556084" y="0"/>
                </a:lnTo>
                <a:lnTo>
                  <a:pt x="1540042" y="0"/>
                </a:lnTo>
                <a:lnTo>
                  <a:pt x="1524000" y="0"/>
                </a:lnTo>
                <a:lnTo>
                  <a:pt x="1507957" y="0"/>
                </a:lnTo>
                <a:lnTo>
                  <a:pt x="1491915" y="0"/>
                </a:lnTo>
                <a:lnTo>
                  <a:pt x="1475873" y="0"/>
                </a:lnTo>
                <a:lnTo>
                  <a:pt x="1459831" y="0"/>
                </a:lnTo>
                <a:lnTo>
                  <a:pt x="1443789" y="0"/>
                </a:lnTo>
                <a:lnTo>
                  <a:pt x="1427747" y="0"/>
                </a:lnTo>
                <a:lnTo>
                  <a:pt x="1411705" y="0"/>
                </a:lnTo>
                <a:lnTo>
                  <a:pt x="1395663" y="0"/>
                </a:lnTo>
                <a:lnTo>
                  <a:pt x="1379621" y="0"/>
                </a:lnTo>
                <a:lnTo>
                  <a:pt x="1363578" y="0"/>
                </a:lnTo>
                <a:lnTo>
                  <a:pt x="1347536" y="0"/>
                </a:lnTo>
                <a:lnTo>
                  <a:pt x="1331494" y="0"/>
                </a:lnTo>
                <a:lnTo>
                  <a:pt x="1315452" y="0"/>
                </a:lnTo>
                <a:lnTo>
                  <a:pt x="1299410" y="0"/>
                </a:lnTo>
                <a:lnTo>
                  <a:pt x="1283368" y="0"/>
                </a:lnTo>
                <a:lnTo>
                  <a:pt x="1267326" y="0"/>
                </a:lnTo>
                <a:lnTo>
                  <a:pt x="1251284" y="0"/>
                </a:lnTo>
                <a:lnTo>
                  <a:pt x="1235242" y="0"/>
                </a:lnTo>
                <a:lnTo>
                  <a:pt x="1219199" y="0"/>
                </a:lnTo>
                <a:lnTo>
                  <a:pt x="1203157" y="0"/>
                </a:lnTo>
                <a:lnTo>
                  <a:pt x="1187115" y="0"/>
                </a:lnTo>
                <a:lnTo>
                  <a:pt x="1171073" y="0"/>
                </a:lnTo>
                <a:lnTo>
                  <a:pt x="1155031" y="0"/>
                </a:lnTo>
                <a:lnTo>
                  <a:pt x="1138989" y="0"/>
                </a:lnTo>
                <a:lnTo>
                  <a:pt x="1122947" y="0"/>
                </a:lnTo>
                <a:lnTo>
                  <a:pt x="1106905" y="0"/>
                </a:lnTo>
                <a:lnTo>
                  <a:pt x="1090863" y="0"/>
                </a:lnTo>
                <a:lnTo>
                  <a:pt x="1074821" y="0"/>
                </a:lnTo>
                <a:lnTo>
                  <a:pt x="1058778" y="0"/>
                </a:lnTo>
                <a:lnTo>
                  <a:pt x="1042736" y="0"/>
                </a:lnTo>
                <a:lnTo>
                  <a:pt x="1026694" y="0"/>
                </a:lnTo>
                <a:lnTo>
                  <a:pt x="1010652" y="0"/>
                </a:lnTo>
                <a:lnTo>
                  <a:pt x="994610" y="0"/>
                </a:lnTo>
                <a:lnTo>
                  <a:pt x="978568" y="0"/>
                </a:lnTo>
                <a:lnTo>
                  <a:pt x="962526" y="0"/>
                </a:lnTo>
                <a:lnTo>
                  <a:pt x="946484" y="0"/>
                </a:lnTo>
                <a:lnTo>
                  <a:pt x="930442" y="0"/>
                </a:lnTo>
                <a:lnTo>
                  <a:pt x="914400" y="0"/>
                </a:lnTo>
                <a:lnTo>
                  <a:pt x="898357" y="0"/>
                </a:lnTo>
                <a:lnTo>
                  <a:pt x="882315" y="0"/>
                </a:lnTo>
                <a:lnTo>
                  <a:pt x="866273" y="0"/>
                </a:lnTo>
                <a:lnTo>
                  <a:pt x="850231" y="0"/>
                </a:lnTo>
                <a:lnTo>
                  <a:pt x="834189" y="0"/>
                </a:lnTo>
                <a:lnTo>
                  <a:pt x="818147" y="0"/>
                </a:lnTo>
                <a:lnTo>
                  <a:pt x="802105" y="0"/>
                </a:lnTo>
                <a:lnTo>
                  <a:pt x="786063" y="0"/>
                </a:lnTo>
                <a:lnTo>
                  <a:pt x="770021" y="0"/>
                </a:lnTo>
                <a:lnTo>
                  <a:pt x="753978" y="0"/>
                </a:lnTo>
                <a:lnTo>
                  <a:pt x="737936" y="0"/>
                </a:lnTo>
                <a:lnTo>
                  <a:pt x="721894" y="0"/>
                </a:lnTo>
                <a:lnTo>
                  <a:pt x="705852" y="0"/>
                </a:lnTo>
                <a:lnTo>
                  <a:pt x="689810" y="0"/>
                </a:lnTo>
                <a:lnTo>
                  <a:pt x="673768" y="0"/>
                </a:lnTo>
                <a:lnTo>
                  <a:pt x="657726" y="0"/>
                </a:lnTo>
                <a:lnTo>
                  <a:pt x="641684" y="0"/>
                </a:lnTo>
                <a:lnTo>
                  <a:pt x="625642" y="0"/>
                </a:lnTo>
                <a:lnTo>
                  <a:pt x="609599" y="0"/>
                </a:lnTo>
                <a:lnTo>
                  <a:pt x="593557" y="0"/>
                </a:lnTo>
                <a:lnTo>
                  <a:pt x="577515" y="0"/>
                </a:lnTo>
                <a:lnTo>
                  <a:pt x="561473" y="0"/>
                </a:lnTo>
                <a:lnTo>
                  <a:pt x="545431" y="0"/>
                </a:lnTo>
                <a:lnTo>
                  <a:pt x="529389" y="0"/>
                </a:lnTo>
                <a:lnTo>
                  <a:pt x="513347" y="0"/>
                </a:lnTo>
                <a:lnTo>
                  <a:pt x="497305" y="0"/>
                </a:lnTo>
                <a:lnTo>
                  <a:pt x="481263" y="0"/>
                </a:lnTo>
                <a:lnTo>
                  <a:pt x="465221" y="0"/>
                </a:lnTo>
                <a:lnTo>
                  <a:pt x="449178" y="0"/>
                </a:lnTo>
                <a:lnTo>
                  <a:pt x="433136" y="0"/>
                </a:lnTo>
                <a:lnTo>
                  <a:pt x="417094" y="0"/>
                </a:lnTo>
                <a:lnTo>
                  <a:pt x="401052" y="0"/>
                </a:lnTo>
                <a:lnTo>
                  <a:pt x="385010" y="0"/>
                </a:lnTo>
                <a:lnTo>
                  <a:pt x="368968" y="0"/>
                </a:lnTo>
                <a:lnTo>
                  <a:pt x="352926" y="0"/>
                </a:lnTo>
                <a:lnTo>
                  <a:pt x="336884" y="0"/>
                </a:lnTo>
                <a:lnTo>
                  <a:pt x="320842" y="0"/>
                </a:lnTo>
                <a:lnTo>
                  <a:pt x="304800" y="0"/>
                </a:lnTo>
                <a:lnTo>
                  <a:pt x="288757" y="0"/>
                </a:lnTo>
                <a:lnTo>
                  <a:pt x="272715" y="0"/>
                </a:lnTo>
                <a:lnTo>
                  <a:pt x="256673" y="0"/>
                </a:lnTo>
                <a:lnTo>
                  <a:pt x="240631" y="0"/>
                </a:lnTo>
                <a:lnTo>
                  <a:pt x="224589" y="0"/>
                </a:lnTo>
                <a:lnTo>
                  <a:pt x="208547" y="0"/>
                </a:lnTo>
                <a:lnTo>
                  <a:pt x="192505" y="0"/>
                </a:lnTo>
                <a:lnTo>
                  <a:pt x="176463" y="0"/>
                </a:lnTo>
                <a:lnTo>
                  <a:pt x="160421" y="0"/>
                </a:lnTo>
                <a:lnTo>
                  <a:pt x="144378" y="0"/>
                </a:lnTo>
                <a:lnTo>
                  <a:pt x="128336" y="0"/>
                </a:lnTo>
                <a:lnTo>
                  <a:pt x="112294" y="0"/>
                </a:lnTo>
                <a:lnTo>
                  <a:pt x="96252" y="0"/>
                </a:lnTo>
                <a:lnTo>
                  <a:pt x="80210" y="0"/>
                </a:lnTo>
                <a:lnTo>
                  <a:pt x="64168" y="0"/>
                </a:lnTo>
                <a:lnTo>
                  <a:pt x="48126" y="0"/>
                </a:lnTo>
                <a:lnTo>
                  <a:pt x="32084" y="0"/>
                </a:lnTo>
                <a:lnTo>
                  <a:pt x="1604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8BA0">
              <a:alpha val="55000"/>
            </a:srgbClr>
          </a:solidFill>
          <a:ln w="10160">
            <a:solidFill>
              <a:srgbClr val="F28BA0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2-E18 line 37" descr="sci-ppt:o037"/>
          <p:cNvCxnSpPr/>
          <p:nvPr/>
        </p:nvCxnSpPr>
        <p:spPr>
          <a:xfrm>
            <a:off x="914400" y="1642533"/>
            <a:ext cx="6400800" cy="0"/>
          </a:xfrm>
          <a:prstGeom prst="line">
            <a:avLst/>
          </a:prstGeom>
          <a:ln w="16510">
            <a:solidFill>
              <a:srgbClr val="FFFFFF"/>
            </a:solidFill>
            <a:prstDash val="dash"/>
          </a:ln>
          <a:effectLst/>
        </p:spPr>
      </p:cxnSp>
      <p:sp>
        <p:nvSpPr>
          <p:cNvPr id="40" name="C2-E18 text 38" descr="sci-ppt:o038"/>
          <p:cNvSpPr txBox="1"/>
          <p:nvPr/>
        </p:nvSpPr>
        <p:spPr>
          <a:xfrm>
            <a:off x="1147572" y="1349925"/>
            <a:ext cx="3657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m_PFC,0 = 0.853 ng (never exceeded)</a:t>
            </a:r>
          </a:p>
        </p:txBody>
      </p:sp>
      <p:sp>
        <p:nvSpPr>
          <p:cNvPr id="41" name="C2-E18 round_rect 39" descr="sci-ppt:o039"/>
          <p:cNvSpPr/>
          <p:nvPr/>
        </p:nvSpPr>
        <p:spPr>
          <a:xfrm>
            <a:off x="7589520" y="1371600"/>
            <a:ext cx="42519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8 text 40" descr="sci-ppt:o040"/>
          <p:cNvSpPr txBox="1"/>
          <p:nvPr/>
        </p:nvSpPr>
        <p:spPr>
          <a:xfrm>
            <a:off x="7699248" y="1426464"/>
            <a:ext cx="4032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Four compartments, one total</a:t>
            </a:r>
          </a:p>
        </p:txBody>
      </p:sp>
      <p:sp>
        <p:nvSpPr>
          <p:cNvPr id="43" name="C2-E18 rect 41" descr="sci-ppt:o041"/>
          <p:cNvSpPr/>
          <p:nvPr/>
        </p:nvSpPr>
        <p:spPr>
          <a:xfrm>
            <a:off x="7772400" y="1956816"/>
            <a:ext cx="274320" cy="201168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18 text 42" descr="sci-ppt:o042"/>
          <p:cNvSpPr txBox="1"/>
          <p:nvPr/>
        </p:nvSpPr>
        <p:spPr>
          <a:xfrm>
            <a:off x="8156448" y="1920240"/>
            <a:ext cx="3566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mₗ  liquid PFC remaining</a:t>
            </a:r>
          </a:p>
        </p:txBody>
      </p:sp>
      <p:sp>
        <p:nvSpPr>
          <p:cNvPr id="45" name="C2-E18 rect 43" descr="sci-ppt:o043"/>
          <p:cNvSpPr/>
          <p:nvPr/>
        </p:nvSpPr>
        <p:spPr>
          <a:xfrm>
            <a:off x="7772400" y="2414016"/>
            <a:ext cx="274320" cy="201168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2-E18 text 44" descr="sci-ppt:o044"/>
          <p:cNvSpPr txBox="1"/>
          <p:nvPr/>
        </p:nvSpPr>
        <p:spPr>
          <a:xfrm>
            <a:off x="8156448" y="2377440"/>
            <a:ext cx="3566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mᵥ  vapor inside the domain</a:t>
            </a:r>
          </a:p>
        </p:txBody>
      </p:sp>
      <p:sp>
        <p:nvSpPr>
          <p:cNvPr id="47" name="C2-E18 rect 45" descr="sci-ppt:o045"/>
          <p:cNvSpPr/>
          <p:nvPr/>
        </p:nvSpPr>
        <p:spPr>
          <a:xfrm>
            <a:off x="7772400" y="2871216"/>
            <a:ext cx="274320" cy="201168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2-E18 text 46" descr="sci-ppt:o046"/>
          <p:cNvSpPr txBox="1"/>
          <p:nvPr/>
        </p:nvSpPr>
        <p:spPr>
          <a:xfrm>
            <a:off x="8156448" y="2834640"/>
            <a:ext cx="3566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m_diss  dissolved PFC</a:t>
            </a:r>
          </a:p>
        </p:txBody>
      </p:sp>
      <p:sp>
        <p:nvSpPr>
          <p:cNvPr id="49" name="C2-E18 rect 47" descr="sci-ppt:o047"/>
          <p:cNvSpPr/>
          <p:nvPr/>
        </p:nvSpPr>
        <p:spPr>
          <a:xfrm>
            <a:off x="7772400" y="3328416"/>
            <a:ext cx="274320" cy="201168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8 text 48" descr="sci-ppt:o048"/>
          <p:cNvSpPr txBox="1"/>
          <p:nvPr/>
        </p:nvSpPr>
        <p:spPr>
          <a:xfrm>
            <a:off x="8156448" y="3291840"/>
            <a:ext cx="3566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m_esc  escaped (vented) PFC</a:t>
            </a:r>
          </a:p>
        </p:txBody>
      </p:sp>
      <p:sp>
        <p:nvSpPr>
          <p:cNvPr id="51" name="C2-E18 text 49" descr="sci-ppt:o049"/>
          <p:cNvSpPr txBox="1"/>
          <p:nvPr/>
        </p:nvSpPr>
        <p:spPr>
          <a:xfrm>
            <a:off x="7726679" y="3840480"/>
            <a:ext cx="40233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mₗ + mᵥ + m_diss + m_esc = m_PFC,0 at every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instant (no external supply).</a:t>
            </a:r>
          </a:p>
        </p:txBody>
      </p:sp>
      <p:sp>
        <p:nvSpPr>
          <p:cNvPr id="52" name="C2-E18 text 50" descr="sci-ppt:o05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m_PFC,0 = (4π/3) ρ_d a₀³ = 0.8535 ng for a 5 µm core.  The split among compartments is a schematic here, not a calculation.</a:t>
            </a:r>
          </a:p>
        </p:txBody>
      </p:sp>
      <p:sp>
        <p:nvSpPr>
          <p:cNvPr id="53" name="C2-E18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Mass ledger of Eq. C2-E18; compartment histories are illustrative.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C2-E19 · Species phase-mass balance</a:t>
            </a:r>
          </a:p>
        </p:txBody>
      </p:sp>
      <p:sp>
        <p:nvSpPr>
          <p:cNvPr id="3" name="C2-E19 round_rect 1" descr="sci-ppt:o001"/>
          <p:cNvSpPr/>
          <p:nvPr/>
        </p:nvSpPr>
        <p:spPr>
          <a:xfrm>
            <a:off x="365760" y="914400"/>
            <a:ext cx="58521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19 text 2" descr="sci-ppt:o002"/>
          <p:cNvSpPr txBox="1"/>
          <p:nvPr/>
        </p:nvSpPr>
        <p:spPr>
          <a:xfrm>
            <a:off x="475488" y="969264"/>
            <a:ext cx="5632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Which surface evaporates PFC?</a:t>
            </a:r>
          </a:p>
        </p:txBody>
      </p:sp>
      <p:sp>
        <p:nvSpPr>
          <p:cNvPr id="5" name="C2-E19 ellipse 3" descr="sci-ppt:o003"/>
          <p:cNvSpPr/>
          <p:nvPr/>
        </p:nvSpPr>
        <p:spPr>
          <a:xfrm>
            <a:off x="1645919" y="2103120"/>
            <a:ext cx="2743200" cy="2743200"/>
          </a:xfrm>
          <a:prstGeom prst="ellipse">
            <a:avLst/>
          </a:prstGeom>
          <a:solidFill>
            <a:srgbClr val="1E4A5A"/>
          </a:solidFill>
          <a:ln w="304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19 ellipse 4" descr="sci-ppt:o004"/>
          <p:cNvSpPr/>
          <p:nvPr/>
        </p:nvSpPr>
        <p:spPr>
          <a:xfrm>
            <a:off x="2743200" y="2194559"/>
            <a:ext cx="2377440" cy="2377440"/>
          </a:xfrm>
          <a:prstGeom prst="ellipse">
            <a:avLst/>
          </a:prstGeom>
          <a:solidFill>
            <a:srgbClr val="0C1820">
              <a:alpha val="95000"/>
            </a:srgbClr>
          </a:solidFill>
          <a:ln w="30480">
            <a:solidFill>
              <a:srgbClr val="F2B880">
                <a:alpha val="9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2-E19 polygon 5" descr="sci-ppt:o005"/>
          <p:cNvSpPr/>
          <p:nvPr/>
        </p:nvSpPr>
        <p:spPr>
          <a:xfrm>
            <a:off x="3627188" y="2246065"/>
            <a:ext cx="761889" cy="2320914"/>
          </a:xfrm>
          <a:custGeom>
            <a:avLst/>
            <a:gdLst/>
            <a:ahLst/>
            <a:cxnLst/>
            <a:rect l="l" t="t" r="r" b="b"/>
            <a:pathLst>
              <a:path w="761889" h="2320914">
                <a:moveTo>
                  <a:pt x="219944" y="2320914"/>
                </a:moveTo>
                <a:lnTo>
                  <a:pt x="237040" y="2307715"/>
                </a:lnTo>
                <a:lnTo>
                  <a:pt x="253927" y="2294248"/>
                </a:lnTo>
                <a:lnTo>
                  <a:pt x="270599" y="2280517"/>
                </a:lnTo>
                <a:lnTo>
                  <a:pt x="287054" y="2266525"/>
                </a:lnTo>
                <a:lnTo>
                  <a:pt x="303285" y="2252276"/>
                </a:lnTo>
                <a:lnTo>
                  <a:pt x="319291" y="2237773"/>
                </a:lnTo>
                <a:lnTo>
                  <a:pt x="335066" y="2223020"/>
                </a:lnTo>
                <a:lnTo>
                  <a:pt x="350607" y="2208021"/>
                </a:lnTo>
                <a:lnTo>
                  <a:pt x="365910" y="2192778"/>
                </a:lnTo>
                <a:lnTo>
                  <a:pt x="380970" y="2177296"/>
                </a:lnTo>
                <a:lnTo>
                  <a:pt x="395785" y="2161579"/>
                </a:lnTo>
                <a:lnTo>
                  <a:pt x="410351" y="2145631"/>
                </a:lnTo>
                <a:lnTo>
                  <a:pt x="424664" y="2129456"/>
                </a:lnTo>
                <a:lnTo>
                  <a:pt x="438721" y="2113057"/>
                </a:lnTo>
                <a:lnTo>
                  <a:pt x="452517" y="2096438"/>
                </a:lnTo>
                <a:lnTo>
                  <a:pt x="466050" y="2079605"/>
                </a:lnTo>
                <a:lnTo>
                  <a:pt x="479316" y="2062560"/>
                </a:lnTo>
                <a:lnTo>
                  <a:pt x="492312" y="2045309"/>
                </a:lnTo>
                <a:lnTo>
                  <a:pt x="505035" y="2027855"/>
                </a:lnTo>
                <a:lnTo>
                  <a:pt x="517482" y="2010203"/>
                </a:lnTo>
                <a:lnTo>
                  <a:pt x="529649" y="1992357"/>
                </a:lnTo>
                <a:lnTo>
                  <a:pt x="541534" y="1974322"/>
                </a:lnTo>
                <a:lnTo>
                  <a:pt x="553133" y="1956102"/>
                </a:lnTo>
                <a:lnTo>
                  <a:pt x="564443" y="1937702"/>
                </a:lnTo>
                <a:lnTo>
                  <a:pt x="575463" y="1919126"/>
                </a:lnTo>
                <a:lnTo>
                  <a:pt x="586189" y="1900378"/>
                </a:lnTo>
                <a:lnTo>
                  <a:pt x="596618" y="1881464"/>
                </a:lnTo>
                <a:lnTo>
                  <a:pt x="606748" y="1862388"/>
                </a:lnTo>
                <a:lnTo>
                  <a:pt x="616576" y="1843155"/>
                </a:lnTo>
                <a:lnTo>
                  <a:pt x="626100" y="1823769"/>
                </a:lnTo>
                <a:lnTo>
                  <a:pt x="635318" y="1804236"/>
                </a:lnTo>
                <a:lnTo>
                  <a:pt x="644227" y="1784561"/>
                </a:lnTo>
                <a:lnTo>
                  <a:pt x="652826" y="1764747"/>
                </a:lnTo>
                <a:lnTo>
                  <a:pt x="661111" y="1744800"/>
                </a:lnTo>
                <a:lnTo>
                  <a:pt x="669081" y="1724726"/>
                </a:lnTo>
                <a:lnTo>
                  <a:pt x="676734" y="1704528"/>
                </a:lnTo>
                <a:lnTo>
                  <a:pt x="684068" y="1684213"/>
                </a:lnTo>
                <a:lnTo>
                  <a:pt x="691081" y="1663784"/>
                </a:lnTo>
                <a:lnTo>
                  <a:pt x="697771" y="1643248"/>
                </a:lnTo>
                <a:lnTo>
                  <a:pt x="704138" y="1622609"/>
                </a:lnTo>
                <a:lnTo>
                  <a:pt x="710178" y="1601872"/>
                </a:lnTo>
                <a:lnTo>
                  <a:pt x="715892" y="1581042"/>
                </a:lnTo>
                <a:lnTo>
                  <a:pt x="721276" y="1560125"/>
                </a:lnTo>
                <a:lnTo>
                  <a:pt x="726331" y="1539126"/>
                </a:lnTo>
                <a:lnTo>
                  <a:pt x="731054" y="1518050"/>
                </a:lnTo>
                <a:lnTo>
                  <a:pt x="735445" y="1496902"/>
                </a:lnTo>
                <a:lnTo>
                  <a:pt x="739502" y="1475688"/>
                </a:lnTo>
                <a:lnTo>
                  <a:pt x="743225" y="1454412"/>
                </a:lnTo>
                <a:lnTo>
                  <a:pt x="746612" y="1433081"/>
                </a:lnTo>
                <a:lnTo>
                  <a:pt x="749663" y="1411699"/>
                </a:lnTo>
                <a:lnTo>
                  <a:pt x="752377" y="1390271"/>
                </a:lnTo>
                <a:lnTo>
                  <a:pt x="754753" y="1368803"/>
                </a:lnTo>
                <a:lnTo>
                  <a:pt x="756790" y="1347301"/>
                </a:lnTo>
                <a:lnTo>
                  <a:pt x="758489" y="1325769"/>
                </a:lnTo>
                <a:lnTo>
                  <a:pt x="759849" y="1304213"/>
                </a:lnTo>
                <a:lnTo>
                  <a:pt x="760869" y="1282638"/>
                </a:lnTo>
                <a:lnTo>
                  <a:pt x="761549" y="1261050"/>
                </a:lnTo>
                <a:lnTo>
                  <a:pt x="761889" y="1239454"/>
                </a:lnTo>
                <a:lnTo>
                  <a:pt x="761889" y="1217855"/>
                </a:lnTo>
                <a:lnTo>
                  <a:pt x="761549" y="1196259"/>
                </a:lnTo>
                <a:lnTo>
                  <a:pt x="760869" y="1174671"/>
                </a:lnTo>
                <a:lnTo>
                  <a:pt x="759849" y="1153096"/>
                </a:lnTo>
                <a:lnTo>
                  <a:pt x="758489" y="1131540"/>
                </a:lnTo>
                <a:lnTo>
                  <a:pt x="756790" y="1110008"/>
                </a:lnTo>
                <a:lnTo>
                  <a:pt x="754753" y="1088506"/>
                </a:lnTo>
                <a:lnTo>
                  <a:pt x="752377" y="1067038"/>
                </a:lnTo>
                <a:lnTo>
                  <a:pt x="749663" y="1045610"/>
                </a:lnTo>
                <a:lnTo>
                  <a:pt x="746612" y="1024228"/>
                </a:lnTo>
                <a:lnTo>
                  <a:pt x="743225" y="1002897"/>
                </a:lnTo>
                <a:lnTo>
                  <a:pt x="739502" y="981621"/>
                </a:lnTo>
                <a:lnTo>
                  <a:pt x="735445" y="960407"/>
                </a:lnTo>
                <a:lnTo>
                  <a:pt x="731054" y="939259"/>
                </a:lnTo>
                <a:lnTo>
                  <a:pt x="726331" y="918183"/>
                </a:lnTo>
                <a:lnTo>
                  <a:pt x="721276" y="897184"/>
                </a:lnTo>
                <a:lnTo>
                  <a:pt x="715892" y="876267"/>
                </a:lnTo>
                <a:lnTo>
                  <a:pt x="710178" y="855437"/>
                </a:lnTo>
                <a:lnTo>
                  <a:pt x="704138" y="834700"/>
                </a:lnTo>
                <a:lnTo>
                  <a:pt x="697771" y="814061"/>
                </a:lnTo>
                <a:lnTo>
                  <a:pt x="691081" y="793525"/>
                </a:lnTo>
                <a:lnTo>
                  <a:pt x="684068" y="773096"/>
                </a:lnTo>
                <a:lnTo>
                  <a:pt x="676734" y="752781"/>
                </a:lnTo>
                <a:lnTo>
                  <a:pt x="669081" y="732583"/>
                </a:lnTo>
                <a:lnTo>
                  <a:pt x="661111" y="712509"/>
                </a:lnTo>
                <a:lnTo>
                  <a:pt x="652826" y="692562"/>
                </a:lnTo>
                <a:lnTo>
                  <a:pt x="644227" y="672748"/>
                </a:lnTo>
                <a:lnTo>
                  <a:pt x="635318" y="653073"/>
                </a:lnTo>
                <a:lnTo>
                  <a:pt x="626100" y="633540"/>
                </a:lnTo>
                <a:lnTo>
                  <a:pt x="616576" y="614154"/>
                </a:lnTo>
                <a:lnTo>
                  <a:pt x="606748" y="594921"/>
                </a:lnTo>
                <a:lnTo>
                  <a:pt x="596618" y="575845"/>
                </a:lnTo>
                <a:lnTo>
                  <a:pt x="586189" y="556931"/>
                </a:lnTo>
                <a:lnTo>
                  <a:pt x="575463" y="538183"/>
                </a:lnTo>
                <a:lnTo>
                  <a:pt x="564443" y="519607"/>
                </a:lnTo>
                <a:lnTo>
                  <a:pt x="553133" y="501207"/>
                </a:lnTo>
                <a:lnTo>
                  <a:pt x="541534" y="482987"/>
                </a:lnTo>
                <a:lnTo>
                  <a:pt x="529649" y="464952"/>
                </a:lnTo>
                <a:lnTo>
                  <a:pt x="517482" y="447106"/>
                </a:lnTo>
                <a:lnTo>
                  <a:pt x="505035" y="429454"/>
                </a:lnTo>
                <a:lnTo>
                  <a:pt x="492312" y="412000"/>
                </a:lnTo>
                <a:lnTo>
                  <a:pt x="479316" y="394749"/>
                </a:lnTo>
                <a:lnTo>
                  <a:pt x="466050" y="377704"/>
                </a:lnTo>
                <a:lnTo>
                  <a:pt x="452517" y="360871"/>
                </a:lnTo>
                <a:lnTo>
                  <a:pt x="438721" y="344252"/>
                </a:lnTo>
                <a:lnTo>
                  <a:pt x="424664" y="327853"/>
                </a:lnTo>
                <a:lnTo>
                  <a:pt x="410351" y="311678"/>
                </a:lnTo>
                <a:lnTo>
                  <a:pt x="395785" y="295730"/>
                </a:lnTo>
                <a:lnTo>
                  <a:pt x="380970" y="280013"/>
                </a:lnTo>
                <a:lnTo>
                  <a:pt x="365910" y="264531"/>
                </a:lnTo>
                <a:lnTo>
                  <a:pt x="350607" y="249288"/>
                </a:lnTo>
                <a:lnTo>
                  <a:pt x="335066" y="234289"/>
                </a:lnTo>
                <a:lnTo>
                  <a:pt x="319291" y="219536"/>
                </a:lnTo>
                <a:lnTo>
                  <a:pt x="303285" y="205033"/>
                </a:lnTo>
                <a:lnTo>
                  <a:pt x="287054" y="190784"/>
                </a:lnTo>
                <a:lnTo>
                  <a:pt x="270599" y="176792"/>
                </a:lnTo>
                <a:lnTo>
                  <a:pt x="253927" y="163061"/>
                </a:lnTo>
                <a:lnTo>
                  <a:pt x="237040" y="149594"/>
                </a:lnTo>
                <a:lnTo>
                  <a:pt x="219944" y="136395"/>
                </a:lnTo>
                <a:lnTo>
                  <a:pt x="202641" y="123467"/>
                </a:lnTo>
                <a:lnTo>
                  <a:pt x="185138" y="110813"/>
                </a:lnTo>
                <a:lnTo>
                  <a:pt x="167437" y="98436"/>
                </a:lnTo>
                <a:lnTo>
                  <a:pt x="149543" y="86339"/>
                </a:lnTo>
                <a:lnTo>
                  <a:pt x="131461" y="74526"/>
                </a:lnTo>
                <a:lnTo>
                  <a:pt x="113196" y="62999"/>
                </a:lnTo>
                <a:lnTo>
                  <a:pt x="94751" y="51760"/>
                </a:lnTo>
                <a:lnTo>
                  <a:pt x="76132" y="40814"/>
                </a:lnTo>
                <a:lnTo>
                  <a:pt x="57342" y="30162"/>
                </a:lnTo>
                <a:lnTo>
                  <a:pt x="38387" y="19808"/>
                </a:lnTo>
                <a:lnTo>
                  <a:pt x="19271" y="9753"/>
                </a:lnTo>
                <a:lnTo>
                  <a:pt x="0" y="0"/>
                </a:lnTo>
              </a:path>
            </a:pathLst>
          </a:custGeom>
          <a:noFill/>
          <a:ln w="635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19 text 6" descr="sci-ppt:o006"/>
          <p:cNvSpPr txBox="1"/>
          <p:nvPr/>
        </p:nvSpPr>
        <p:spPr>
          <a:xfrm>
            <a:off x="4480560" y="4617720"/>
            <a:ext cx="182880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Γₛ: droplet surface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in contact with vapor</a:t>
            </a:r>
          </a:p>
        </p:txBody>
      </p:sp>
      <p:sp>
        <p:nvSpPr>
          <p:cNvPr id="9" name="C2-E19 text 7" descr="sci-ppt:o007"/>
          <p:cNvSpPr txBox="1"/>
          <p:nvPr/>
        </p:nvSpPr>
        <p:spPr>
          <a:xfrm>
            <a:off x="1188720" y="1828800"/>
            <a:ext cx="2286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PFC droplet</a:t>
            </a:r>
          </a:p>
        </p:txBody>
      </p:sp>
      <p:sp>
        <p:nvSpPr>
          <p:cNvPr id="10" name="C2-E19 text 8" descr="sci-ppt:o008"/>
          <p:cNvSpPr txBox="1"/>
          <p:nvPr/>
        </p:nvSpPr>
        <p:spPr>
          <a:xfrm>
            <a:off x="3566160" y="1828800"/>
            <a:ext cx="23774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vapor bubble</a:t>
            </a:r>
          </a:p>
        </p:txBody>
      </p:sp>
      <p:cxnSp>
        <p:nvCxnSpPr>
          <p:cNvPr id="11" name="C2-E19 arrow 9" descr="sci-ppt:o009"/>
          <p:cNvCxnSpPr/>
          <p:nvPr/>
        </p:nvCxnSpPr>
        <p:spPr>
          <a:xfrm flipH="1">
            <a:off x="1920240" y="3383280"/>
            <a:ext cx="3657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2-E19 text 10" descr="sci-ppt:o010"/>
          <p:cNvSpPr txBox="1"/>
          <p:nvPr/>
        </p:nvSpPr>
        <p:spPr>
          <a:xfrm>
            <a:off x="502920" y="5074920"/>
            <a:ext cx="55778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Evaporation occurs on the part of the droplet surface that touches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vapor, Γₛ. It need not coincide with the whole bubble surface.</a:t>
            </a:r>
          </a:p>
        </p:txBody>
      </p:sp>
      <p:sp>
        <p:nvSpPr>
          <p:cNvPr id="13" name="C2-E19 round_rect 11" descr="sci-ppt:o011"/>
          <p:cNvSpPr/>
          <p:nvPr/>
        </p:nvSpPr>
        <p:spPr>
          <a:xfrm>
            <a:off x="6492240" y="914400"/>
            <a:ext cx="534924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19 text 12" descr="sci-ppt:o012"/>
          <p:cNvSpPr txBox="1"/>
          <p:nvPr/>
        </p:nvSpPr>
        <p:spPr>
          <a:xfrm>
            <a:off x="6601968" y="969264"/>
            <a:ext cx="5129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Mass balance of species s</a:t>
            </a:r>
          </a:p>
        </p:txBody>
      </p:sp>
      <p:sp>
        <p:nvSpPr>
          <p:cNvPr id="15" name="C2-E19 text 13" descr="sci-ppt:o013"/>
          <p:cNvSpPr txBox="1"/>
          <p:nvPr/>
        </p:nvSpPr>
        <p:spPr>
          <a:xfrm>
            <a:off x="6629400" y="1371600"/>
            <a:ext cx="512064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ṁᵥ,s |phase = ∫ over Γₛ of jₛ dA</a:t>
            </a:r>
          </a:p>
        </p:txBody>
      </p:sp>
      <p:sp>
        <p:nvSpPr>
          <p:cNvPr id="16" name="C2-E19 text 14" descr="sci-ppt:o014"/>
          <p:cNvSpPr txBox="1"/>
          <p:nvPr/>
        </p:nvSpPr>
        <p:spPr>
          <a:xfrm>
            <a:off x="6629400" y="2011680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jₛ: signed liquid-to-vapor mass flux (kg m⁻² s⁻¹)</a:t>
            </a:r>
          </a:p>
        </p:txBody>
      </p:sp>
      <p:sp>
        <p:nvSpPr>
          <p:cNvPr id="17" name="C2-E19 round_rect 15" descr="sci-ppt:o015"/>
          <p:cNvSpPr/>
          <p:nvPr/>
        </p:nvSpPr>
        <p:spPr>
          <a:xfrm>
            <a:off x="6629400" y="2606040"/>
            <a:ext cx="507492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19 text 16" descr="sci-ppt:o016"/>
          <p:cNvSpPr txBox="1"/>
          <p:nvPr/>
        </p:nvSpPr>
        <p:spPr>
          <a:xfrm>
            <a:off x="6766560" y="2679192"/>
            <a:ext cx="48463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Special case only</a:t>
            </a:r>
          </a:p>
        </p:txBody>
      </p:sp>
      <p:sp>
        <p:nvSpPr>
          <p:cNvPr id="19" name="C2-E19 text 17" descr="sci-ppt:o017"/>
          <p:cNvSpPr txBox="1"/>
          <p:nvPr/>
        </p:nvSpPr>
        <p:spPr>
          <a:xfrm>
            <a:off x="6766560" y="3063240"/>
            <a:ext cx="48463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ṁ = 4πR² jₛ   when the whole spherical bubble wall of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radius R is in uniform contact with the PFC.</a:t>
            </a:r>
          </a:p>
        </p:txBody>
      </p:sp>
      <p:sp>
        <p:nvSpPr>
          <p:cNvPr id="20" name="C2-E19 text 18" descr="sci-ppt:o018"/>
          <p:cNvSpPr txBox="1"/>
          <p:nvPr/>
        </p:nvSpPr>
        <p:spPr>
          <a:xfrm>
            <a:off x="6629400" y="4251960"/>
            <a:ext cx="51206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Phase change is only one term: escape and dissolution are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accounted for separately in the ledger of Eq. C2-E18.</a:t>
            </a:r>
          </a:p>
        </p:txBody>
      </p:sp>
      <p:sp>
        <p:nvSpPr>
          <p:cNvPr id="21" name="C2-E19 text 19" descr="sci-ppt:o01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Area integral of Eq. C2-E19; sketch is schematic.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C2-E20 · Exact single-component interface mass jump</a:t>
            </a:r>
          </a:p>
        </p:txBody>
      </p:sp>
      <p:sp>
        <p:nvSpPr>
          <p:cNvPr id="3" name="C2-E20 round_rect 1" descr="sci-ppt:o001"/>
          <p:cNvSpPr/>
          <p:nvPr/>
        </p:nvSpPr>
        <p:spPr>
          <a:xfrm>
            <a:off x="365760" y="914400"/>
            <a:ext cx="566928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20 text 2" descr="sci-ppt:o002"/>
          <p:cNvSpPr txBox="1"/>
          <p:nvPr/>
        </p:nvSpPr>
        <p:spPr>
          <a:xfrm>
            <a:off x="475488" y="969264"/>
            <a:ext cx="5449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Interface speed is not liquid speed</a:t>
            </a:r>
          </a:p>
        </p:txBody>
      </p:sp>
      <p:sp>
        <p:nvSpPr>
          <p:cNvPr id="5" name="C2-E20 rect 3" descr="sci-ppt:o003"/>
          <p:cNvSpPr/>
          <p:nvPr/>
        </p:nvSpPr>
        <p:spPr>
          <a:xfrm>
            <a:off x="640080" y="2011680"/>
            <a:ext cx="2377439" cy="2834640"/>
          </a:xfrm>
          <a:prstGeom prst="rect">
            <a:avLst/>
          </a:prstGeom>
          <a:solidFill>
            <a:srgbClr val="0C1820">
              <a:alpha val="90000"/>
            </a:srgbClr>
          </a:solidFill>
          <a:ln w="12700">
            <a:solidFill>
              <a:srgbClr val="B4C7D2">
                <a:alpha val="9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20 rect 4" descr="sci-ppt:o004"/>
          <p:cNvSpPr/>
          <p:nvPr/>
        </p:nvSpPr>
        <p:spPr>
          <a:xfrm>
            <a:off x="3017520" y="2011680"/>
            <a:ext cx="2468880" cy="2834640"/>
          </a:xfrm>
          <a:prstGeom prst="rect">
            <a:avLst/>
          </a:prstGeom>
          <a:solidFill>
            <a:srgbClr val="1E4A5A"/>
          </a:solidFill>
          <a:ln w="1270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2-E20 line 5" descr="sci-ppt:o005"/>
          <p:cNvCxnSpPr/>
          <p:nvPr/>
        </p:nvCxnSpPr>
        <p:spPr>
          <a:xfrm>
            <a:off x="3017520" y="1920240"/>
            <a:ext cx="0" cy="3017520"/>
          </a:xfrm>
          <a:prstGeom prst="line">
            <a:avLst/>
          </a:prstGeom>
          <a:ln w="50800">
            <a:solidFill>
              <a:srgbClr val="F2B880"/>
            </a:solidFill>
          </a:ln>
          <a:effectLst/>
        </p:spPr>
      </p:cxnSp>
      <p:sp>
        <p:nvSpPr>
          <p:cNvPr id="8" name="C2-E20 text 6" descr="sci-ppt:o006"/>
          <p:cNvSpPr txBox="1"/>
          <p:nvPr/>
        </p:nvSpPr>
        <p:spPr>
          <a:xfrm>
            <a:off x="914400" y="2103120"/>
            <a:ext cx="1828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B4C7D2"/>
                </a:solidFill>
                <a:latin typeface="Arial"/>
              </a:rPr>
              <a:t>vapor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B4C7D2"/>
                </a:solidFill>
                <a:latin typeface="Arial"/>
              </a:rPr>
              <a:t>(bubble)</a:t>
            </a:r>
          </a:p>
        </p:txBody>
      </p:sp>
      <p:sp>
        <p:nvSpPr>
          <p:cNvPr id="9" name="C2-E20 text 7" descr="sci-ppt:o007"/>
          <p:cNvSpPr txBox="1"/>
          <p:nvPr/>
        </p:nvSpPr>
        <p:spPr>
          <a:xfrm>
            <a:off x="4114800" y="2103120"/>
            <a:ext cx="16459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liquid</a:t>
            </a:r>
          </a:p>
        </p:txBody>
      </p:sp>
      <p:cxnSp>
        <p:nvCxnSpPr>
          <p:cNvPr id="10" name="C2-E20 arrow 8" descr="sci-ppt:o008"/>
          <p:cNvCxnSpPr/>
          <p:nvPr/>
        </p:nvCxnSpPr>
        <p:spPr>
          <a:xfrm>
            <a:off x="3017520" y="2926080"/>
            <a:ext cx="2194559" cy="0"/>
          </a:xfrm>
          <a:prstGeom prst="line">
            <a:avLst/>
          </a:prstGeom>
          <a:ln w="508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2-E20 text 9" descr="sci-ppt:o009"/>
          <p:cNvSpPr txBox="1"/>
          <p:nvPr/>
        </p:nvSpPr>
        <p:spPr>
          <a:xfrm>
            <a:off x="3108960" y="2468880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v_Γ = Ṙ  (10 m/s)</a:t>
            </a:r>
          </a:p>
        </p:txBody>
      </p:sp>
      <p:cxnSp>
        <p:nvCxnSpPr>
          <p:cNvPr id="12" name="C2-E20 arrow 10" descr="sci-ppt:o010"/>
          <p:cNvCxnSpPr/>
          <p:nvPr/>
        </p:nvCxnSpPr>
        <p:spPr>
          <a:xfrm>
            <a:off x="3566160" y="3657600"/>
            <a:ext cx="1755648" cy="0"/>
          </a:xfrm>
          <a:prstGeom prst="line">
            <a:avLst/>
          </a:prstGeom>
          <a:ln w="508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3" name="C2-E20 text 11" descr="sci-ppt:o011"/>
          <p:cNvSpPr txBox="1"/>
          <p:nvPr/>
        </p:nvSpPr>
        <p:spPr>
          <a:xfrm>
            <a:off x="3108960" y="3749039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uₗ(R) = 8 m/s</a:t>
            </a:r>
          </a:p>
        </p:txBody>
      </p:sp>
      <p:cxnSp>
        <p:nvCxnSpPr>
          <p:cNvPr id="14" name="C2-E20 line 12" descr="sci-ppt:o012"/>
          <p:cNvCxnSpPr/>
          <p:nvPr/>
        </p:nvCxnSpPr>
        <p:spPr>
          <a:xfrm flipH="1">
            <a:off x="5212079" y="3657600"/>
            <a:ext cx="109729" cy="0"/>
          </a:xfrm>
          <a:prstGeom prst="line">
            <a:avLst/>
          </a:prstGeom>
          <a:ln w="12700">
            <a:solidFill>
              <a:srgbClr val="F28BA0"/>
            </a:solidFill>
          </a:ln>
          <a:effectLst/>
        </p:spPr>
      </p:cxnSp>
      <p:cxnSp>
        <p:nvCxnSpPr>
          <p:cNvPr id="15" name="C2-E20 line 13" descr="sci-ppt:o013"/>
          <p:cNvCxnSpPr/>
          <p:nvPr/>
        </p:nvCxnSpPr>
        <p:spPr>
          <a:xfrm>
            <a:off x="4773167" y="4297680"/>
            <a:ext cx="438912" cy="0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16" name="C2-E20 line 14" descr="sci-ppt:o014"/>
          <p:cNvCxnSpPr/>
          <p:nvPr/>
        </p:nvCxnSpPr>
        <p:spPr>
          <a:xfrm>
            <a:off x="4773167" y="42336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17" name="C2-E20 line 15" descr="sci-ppt:o015"/>
          <p:cNvCxnSpPr/>
          <p:nvPr/>
        </p:nvCxnSpPr>
        <p:spPr>
          <a:xfrm>
            <a:off x="5212079" y="42336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sp>
        <p:nvSpPr>
          <p:cNvPr id="18" name="C2-E20 text 16" descr="sci-ppt:o016"/>
          <p:cNvSpPr txBox="1"/>
          <p:nvPr/>
        </p:nvSpPr>
        <p:spPr>
          <a:xfrm>
            <a:off x="4078223" y="4396740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19" name="C2-E20 text 17" descr="sci-ppt:o017"/>
          <p:cNvSpPr txBox="1"/>
          <p:nvPr/>
        </p:nvSpPr>
        <p:spPr>
          <a:xfrm>
            <a:off x="2743200" y="443484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Ṙ − uₗ = 2 m/s</a:t>
            </a:r>
          </a:p>
        </p:txBody>
      </p:sp>
      <p:sp>
        <p:nvSpPr>
          <p:cNvPr id="20" name="C2-E20 text 18" descr="sci-ppt:o018"/>
          <p:cNvSpPr txBox="1"/>
          <p:nvPr/>
        </p:nvSpPr>
        <p:spPr>
          <a:xfrm>
            <a:off x="502920" y="5074920"/>
            <a:ext cx="53949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interface outruns the adjacent liquid: liquid is converted to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vapor at the surface.</a:t>
            </a:r>
          </a:p>
        </p:txBody>
      </p:sp>
      <p:sp>
        <p:nvSpPr>
          <p:cNvPr id="21" name="C2-E20 round_rect 19" descr="sci-ppt:o019"/>
          <p:cNvSpPr/>
          <p:nvPr/>
        </p:nvSpPr>
        <p:spPr>
          <a:xfrm>
            <a:off x="6309360" y="914400"/>
            <a:ext cx="553212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20 text 20" descr="sci-ppt:o020"/>
          <p:cNvSpPr txBox="1"/>
          <p:nvPr/>
        </p:nvSpPr>
        <p:spPr>
          <a:xfrm>
            <a:off x="6419088" y="969264"/>
            <a:ext cx="53126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Single-component jump condition</a:t>
            </a:r>
          </a:p>
        </p:txBody>
      </p:sp>
      <p:sp>
        <p:nvSpPr>
          <p:cNvPr id="23" name="C2-E20 text 21" descr="sci-ppt:o021"/>
          <p:cNvSpPr txBox="1"/>
          <p:nvPr/>
        </p:nvSpPr>
        <p:spPr>
          <a:xfrm>
            <a:off x="6446520" y="1371600"/>
            <a:ext cx="53035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jₛ = ρₗ (uₗ − v_Γ)·n = ρᵥ (uᵥ − v_Γ)·n</a:t>
            </a:r>
          </a:p>
        </p:txBody>
      </p:sp>
      <p:sp>
        <p:nvSpPr>
          <p:cNvPr id="24" name="C2-E20 text 22" descr="sci-ppt:o022"/>
          <p:cNvSpPr txBox="1"/>
          <p:nvPr/>
        </p:nvSpPr>
        <p:spPr>
          <a:xfrm>
            <a:off x="6446520" y="2011680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n = −eᵣ (liquid → vapor),  v_Γ = Ṙ eᵣ</a:t>
            </a:r>
          </a:p>
        </p:txBody>
      </p:sp>
      <p:sp>
        <p:nvSpPr>
          <p:cNvPr id="25" name="C2-E20 text 23" descr="sci-ppt:o023"/>
          <p:cNvSpPr txBox="1"/>
          <p:nvPr/>
        </p:nvSpPr>
        <p:spPr>
          <a:xfrm>
            <a:off x="6446520" y="2606040"/>
            <a:ext cx="53035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jₛ = ρₗ [Ṙ − uₗ(R)]</a:t>
            </a:r>
          </a:p>
        </p:txBody>
      </p:sp>
      <p:sp>
        <p:nvSpPr>
          <p:cNvPr id="26" name="C2-E20 text 24" descr="sci-ppt:o024"/>
          <p:cNvSpPr txBox="1"/>
          <p:nvPr/>
        </p:nvSpPr>
        <p:spPr>
          <a:xfrm>
            <a:off x="6446520" y="3200400"/>
            <a:ext cx="53035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uₗ(R) = Ṙ − jₛ / ρₗ</a:t>
            </a:r>
          </a:p>
        </p:txBody>
      </p:sp>
      <p:sp>
        <p:nvSpPr>
          <p:cNvPr id="27" name="C2-E20 text 25" descr="sci-ppt:o025"/>
          <p:cNvSpPr txBox="1"/>
          <p:nvPr/>
        </p:nvSpPr>
        <p:spPr>
          <a:xfrm>
            <a:off x="6446520" y="3840480"/>
            <a:ext cx="53035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no phase change, jₛ = 0 and the liquid at the wall moves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the wall (uₗ = Ṙ). Evaporation breaks that equality.</a:t>
            </a:r>
          </a:p>
        </p:txBody>
      </p:sp>
      <p:sp>
        <p:nvSpPr>
          <p:cNvPr id="28" name="C2-E20 text 26" descr="sci-ppt:o026"/>
          <p:cNvSpPr txBox="1"/>
          <p:nvPr/>
        </p:nvSpPr>
        <p:spPr>
          <a:xfrm>
            <a:off x="6446520" y="4892040"/>
            <a:ext cx="53035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Speeds in the left panel are illustrative.</a:t>
            </a:r>
          </a:p>
        </p:txBody>
      </p:sp>
      <p:sp>
        <p:nvSpPr>
          <p:cNvPr id="29" name="C2-E20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Mass jump of Eq. C2-E20.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C2-E21 · Reduced interfacial energy jump and Fourier law</a:t>
            </a:r>
          </a:p>
        </p:txBody>
      </p:sp>
      <p:cxnSp>
        <p:nvCxnSpPr>
          <p:cNvPr id="3" name="C2-E21 line 1" descr="sci-ppt:o001"/>
          <p:cNvCxnSpPr/>
          <p:nvPr/>
        </p:nvCxnSpPr>
        <p:spPr>
          <a:xfrm>
            <a:off x="914400" y="484632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21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sp>
        <p:nvSpPr>
          <p:cNvPr id="5" name="C2-E21 text 3" descr="sci-ppt:o003"/>
          <p:cNvSpPr txBox="1"/>
          <p:nvPr/>
        </p:nvSpPr>
        <p:spPr>
          <a:xfrm>
            <a:off x="914400" y="512978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distance from the interface (liquid | vapor)</a:t>
            </a:r>
          </a:p>
        </p:txBody>
      </p:sp>
      <p:sp>
        <p:nvSpPr>
          <p:cNvPr id="6" name="C2-E21 text 4" descr="sci-ppt:o004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(relative)</a:t>
            </a:r>
          </a:p>
        </p:txBody>
      </p:sp>
      <p:sp>
        <p:nvSpPr>
          <p:cNvPr id="7" name="C2-E21 polygon 5" descr="sci-ppt:o005"/>
          <p:cNvSpPr/>
          <p:nvPr/>
        </p:nvSpPr>
        <p:spPr>
          <a:xfrm>
            <a:off x="914400" y="2006138"/>
            <a:ext cx="2918746" cy="1102822"/>
          </a:xfrm>
          <a:custGeom>
            <a:avLst/>
            <a:gdLst/>
            <a:ahLst/>
            <a:cxnLst/>
            <a:rect l="l" t="t" r="r" b="b"/>
            <a:pathLst>
              <a:path w="2918746" h="1102822">
                <a:moveTo>
                  <a:pt x="0" y="1102822"/>
                </a:moveTo>
                <a:lnTo>
                  <a:pt x="14667" y="1097280"/>
                </a:lnTo>
                <a:lnTo>
                  <a:pt x="29334" y="1091738"/>
                </a:lnTo>
                <a:lnTo>
                  <a:pt x="44001" y="1086196"/>
                </a:lnTo>
                <a:lnTo>
                  <a:pt x="58668" y="1080654"/>
                </a:lnTo>
                <a:lnTo>
                  <a:pt x="73335" y="1075112"/>
                </a:lnTo>
                <a:lnTo>
                  <a:pt x="88002" y="1069571"/>
                </a:lnTo>
                <a:lnTo>
                  <a:pt x="102669" y="1064029"/>
                </a:lnTo>
                <a:lnTo>
                  <a:pt x="117336" y="1058487"/>
                </a:lnTo>
                <a:lnTo>
                  <a:pt x="132003" y="1052945"/>
                </a:lnTo>
                <a:lnTo>
                  <a:pt x="146670" y="1047403"/>
                </a:lnTo>
                <a:lnTo>
                  <a:pt x="161337" y="1041861"/>
                </a:lnTo>
                <a:lnTo>
                  <a:pt x="176004" y="1036320"/>
                </a:lnTo>
                <a:lnTo>
                  <a:pt x="190671" y="1030778"/>
                </a:lnTo>
                <a:lnTo>
                  <a:pt x="205338" y="1025236"/>
                </a:lnTo>
                <a:lnTo>
                  <a:pt x="220006" y="1019694"/>
                </a:lnTo>
                <a:lnTo>
                  <a:pt x="234673" y="1014152"/>
                </a:lnTo>
                <a:lnTo>
                  <a:pt x="249340" y="1008611"/>
                </a:lnTo>
                <a:lnTo>
                  <a:pt x="264007" y="1003069"/>
                </a:lnTo>
                <a:lnTo>
                  <a:pt x="278674" y="997527"/>
                </a:lnTo>
                <a:lnTo>
                  <a:pt x="293341" y="991985"/>
                </a:lnTo>
                <a:lnTo>
                  <a:pt x="308008" y="986443"/>
                </a:lnTo>
                <a:lnTo>
                  <a:pt x="322675" y="980902"/>
                </a:lnTo>
                <a:lnTo>
                  <a:pt x="337342" y="975360"/>
                </a:lnTo>
                <a:lnTo>
                  <a:pt x="352009" y="969818"/>
                </a:lnTo>
                <a:lnTo>
                  <a:pt x="366676" y="964276"/>
                </a:lnTo>
                <a:lnTo>
                  <a:pt x="381343" y="958734"/>
                </a:lnTo>
                <a:lnTo>
                  <a:pt x="396010" y="953192"/>
                </a:lnTo>
                <a:lnTo>
                  <a:pt x="410677" y="947651"/>
                </a:lnTo>
                <a:lnTo>
                  <a:pt x="425344" y="942109"/>
                </a:lnTo>
                <a:lnTo>
                  <a:pt x="440012" y="936567"/>
                </a:lnTo>
                <a:lnTo>
                  <a:pt x="454679" y="931025"/>
                </a:lnTo>
                <a:lnTo>
                  <a:pt x="469346" y="925483"/>
                </a:lnTo>
                <a:lnTo>
                  <a:pt x="484013" y="919942"/>
                </a:lnTo>
                <a:lnTo>
                  <a:pt x="498680" y="914400"/>
                </a:lnTo>
                <a:lnTo>
                  <a:pt x="513347" y="908858"/>
                </a:lnTo>
                <a:lnTo>
                  <a:pt x="528014" y="903316"/>
                </a:lnTo>
                <a:lnTo>
                  <a:pt x="542681" y="897774"/>
                </a:lnTo>
                <a:lnTo>
                  <a:pt x="557348" y="892232"/>
                </a:lnTo>
                <a:lnTo>
                  <a:pt x="572015" y="886691"/>
                </a:lnTo>
                <a:lnTo>
                  <a:pt x="586682" y="881149"/>
                </a:lnTo>
                <a:lnTo>
                  <a:pt x="601349" y="875607"/>
                </a:lnTo>
                <a:lnTo>
                  <a:pt x="616016" y="870065"/>
                </a:lnTo>
                <a:lnTo>
                  <a:pt x="630683" y="864523"/>
                </a:lnTo>
                <a:lnTo>
                  <a:pt x="645350" y="858982"/>
                </a:lnTo>
                <a:lnTo>
                  <a:pt x="660018" y="853440"/>
                </a:lnTo>
                <a:lnTo>
                  <a:pt x="674685" y="847898"/>
                </a:lnTo>
                <a:lnTo>
                  <a:pt x="689352" y="842356"/>
                </a:lnTo>
                <a:lnTo>
                  <a:pt x="704019" y="836814"/>
                </a:lnTo>
                <a:lnTo>
                  <a:pt x="718686" y="831272"/>
                </a:lnTo>
                <a:lnTo>
                  <a:pt x="733353" y="825731"/>
                </a:lnTo>
                <a:lnTo>
                  <a:pt x="748020" y="820189"/>
                </a:lnTo>
                <a:lnTo>
                  <a:pt x="762687" y="814647"/>
                </a:lnTo>
                <a:lnTo>
                  <a:pt x="777354" y="809105"/>
                </a:lnTo>
                <a:lnTo>
                  <a:pt x="792021" y="803563"/>
                </a:lnTo>
                <a:lnTo>
                  <a:pt x="806688" y="798022"/>
                </a:lnTo>
                <a:lnTo>
                  <a:pt x="821355" y="792480"/>
                </a:lnTo>
                <a:lnTo>
                  <a:pt x="836022" y="786938"/>
                </a:lnTo>
                <a:lnTo>
                  <a:pt x="850689" y="781396"/>
                </a:lnTo>
                <a:lnTo>
                  <a:pt x="865356" y="775854"/>
                </a:lnTo>
                <a:lnTo>
                  <a:pt x="880024" y="770312"/>
                </a:lnTo>
                <a:lnTo>
                  <a:pt x="894691" y="764771"/>
                </a:lnTo>
                <a:lnTo>
                  <a:pt x="909358" y="759229"/>
                </a:lnTo>
                <a:lnTo>
                  <a:pt x="924025" y="753687"/>
                </a:lnTo>
                <a:lnTo>
                  <a:pt x="938692" y="748145"/>
                </a:lnTo>
                <a:lnTo>
                  <a:pt x="953359" y="742603"/>
                </a:lnTo>
                <a:lnTo>
                  <a:pt x="968026" y="737062"/>
                </a:lnTo>
                <a:lnTo>
                  <a:pt x="982693" y="731520"/>
                </a:lnTo>
                <a:lnTo>
                  <a:pt x="997360" y="725978"/>
                </a:lnTo>
                <a:lnTo>
                  <a:pt x="1012027" y="720436"/>
                </a:lnTo>
                <a:lnTo>
                  <a:pt x="1026694" y="714894"/>
                </a:lnTo>
                <a:lnTo>
                  <a:pt x="1041361" y="709352"/>
                </a:lnTo>
                <a:lnTo>
                  <a:pt x="1056028" y="703811"/>
                </a:lnTo>
                <a:lnTo>
                  <a:pt x="1070695" y="698269"/>
                </a:lnTo>
                <a:lnTo>
                  <a:pt x="1085363" y="692727"/>
                </a:lnTo>
                <a:lnTo>
                  <a:pt x="1100030" y="687185"/>
                </a:lnTo>
                <a:lnTo>
                  <a:pt x="1114697" y="681643"/>
                </a:lnTo>
                <a:lnTo>
                  <a:pt x="1129364" y="676102"/>
                </a:lnTo>
                <a:lnTo>
                  <a:pt x="1144031" y="670560"/>
                </a:lnTo>
                <a:lnTo>
                  <a:pt x="1158698" y="665018"/>
                </a:lnTo>
                <a:lnTo>
                  <a:pt x="1173365" y="659476"/>
                </a:lnTo>
                <a:lnTo>
                  <a:pt x="1188032" y="653934"/>
                </a:lnTo>
                <a:lnTo>
                  <a:pt x="1202699" y="648392"/>
                </a:lnTo>
                <a:lnTo>
                  <a:pt x="1217366" y="642851"/>
                </a:lnTo>
                <a:lnTo>
                  <a:pt x="1232033" y="637309"/>
                </a:lnTo>
                <a:lnTo>
                  <a:pt x="1246700" y="631767"/>
                </a:lnTo>
                <a:lnTo>
                  <a:pt x="1261367" y="626225"/>
                </a:lnTo>
                <a:lnTo>
                  <a:pt x="1276034" y="620683"/>
                </a:lnTo>
                <a:lnTo>
                  <a:pt x="1290701" y="615142"/>
                </a:lnTo>
                <a:lnTo>
                  <a:pt x="1305369" y="609600"/>
                </a:lnTo>
                <a:lnTo>
                  <a:pt x="1320036" y="604058"/>
                </a:lnTo>
                <a:lnTo>
                  <a:pt x="1334703" y="598516"/>
                </a:lnTo>
                <a:lnTo>
                  <a:pt x="1349370" y="592974"/>
                </a:lnTo>
                <a:lnTo>
                  <a:pt x="1364037" y="587432"/>
                </a:lnTo>
                <a:lnTo>
                  <a:pt x="1378704" y="581891"/>
                </a:lnTo>
                <a:lnTo>
                  <a:pt x="1393371" y="576349"/>
                </a:lnTo>
                <a:lnTo>
                  <a:pt x="1408038" y="570807"/>
                </a:lnTo>
                <a:lnTo>
                  <a:pt x="1422705" y="565265"/>
                </a:lnTo>
                <a:lnTo>
                  <a:pt x="1437372" y="559723"/>
                </a:lnTo>
                <a:lnTo>
                  <a:pt x="1452039" y="554182"/>
                </a:lnTo>
                <a:lnTo>
                  <a:pt x="1466706" y="548640"/>
                </a:lnTo>
                <a:lnTo>
                  <a:pt x="1481373" y="543098"/>
                </a:lnTo>
                <a:lnTo>
                  <a:pt x="1496040" y="537556"/>
                </a:lnTo>
                <a:lnTo>
                  <a:pt x="1510707" y="532014"/>
                </a:lnTo>
                <a:lnTo>
                  <a:pt x="1525375" y="526472"/>
                </a:lnTo>
                <a:lnTo>
                  <a:pt x="1540042" y="520931"/>
                </a:lnTo>
                <a:lnTo>
                  <a:pt x="1554709" y="515389"/>
                </a:lnTo>
                <a:lnTo>
                  <a:pt x="1569376" y="509847"/>
                </a:lnTo>
                <a:lnTo>
                  <a:pt x="1584043" y="504305"/>
                </a:lnTo>
                <a:lnTo>
                  <a:pt x="1598710" y="498763"/>
                </a:lnTo>
                <a:lnTo>
                  <a:pt x="1613377" y="493222"/>
                </a:lnTo>
                <a:lnTo>
                  <a:pt x="1628044" y="487680"/>
                </a:lnTo>
                <a:lnTo>
                  <a:pt x="1642711" y="482138"/>
                </a:lnTo>
                <a:lnTo>
                  <a:pt x="1657378" y="476596"/>
                </a:lnTo>
                <a:lnTo>
                  <a:pt x="1672045" y="471054"/>
                </a:lnTo>
                <a:lnTo>
                  <a:pt x="1686712" y="465512"/>
                </a:lnTo>
                <a:lnTo>
                  <a:pt x="1701379" y="459971"/>
                </a:lnTo>
                <a:lnTo>
                  <a:pt x="1716046" y="454429"/>
                </a:lnTo>
                <a:lnTo>
                  <a:pt x="1730713" y="448887"/>
                </a:lnTo>
                <a:lnTo>
                  <a:pt x="1745381" y="443345"/>
                </a:lnTo>
                <a:lnTo>
                  <a:pt x="1760048" y="437803"/>
                </a:lnTo>
                <a:lnTo>
                  <a:pt x="1774715" y="432262"/>
                </a:lnTo>
                <a:lnTo>
                  <a:pt x="1789382" y="426720"/>
                </a:lnTo>
                <a:lnTo>
                  <a:pt x="1804049" y="421178"/>
                </a:lnTo>
                <a:lnTo>
                  <a:pt x="1818716" y="415636"/>
                </a:lnTo>
                <a:lnTo>
                  <a:pt x="1833383" y="410094"/>
                </a:lnTo>
                <a:lnTo>
                  <a:pt x="1848050" y="404552"/>
                </a:lnTo>
                <a:lnTo>
                  <a:pt x="1862717" y="399011"/>
                </a:lnTo>
                <a:lnTo>
                  <a:pt x="1877384" y="393469"/>
                </a:lnTo>
                <a:lnTo>
                  <a:pt x="1892051" y="387927"/>
                </a:lnTo>
                <a:lnTo>
                  <a:pt x="1906718" y="382385"/>
                </a:lnTo>
                <a:lnTo>
                  <a:pt x="1921385" y="376843"/>
                </a:lnTo>
                <a:lnTo>
                  <a:pt x="1936052" y="371302"/>
                </a:lnTo>
                <a:lnTo>
                  <a:pt x="1950720" y="365760"/>
                </a:lnTo>
                <a:lnTo>
                  <a:pt x="1965387" y="360218"/>
                </a:lnTo>
                <a:lnTo>
                  <a:pt x="1980054" y="354676"/>
                </a:lnTo>
                <a:lnTo>
                  <a:pt x="1994721" y="349134"/>
                </a:lnTo>
                <a:lnTo>
                  <a:pt x="2009388" y="343592"/>
                </a:lnTo>
                <a:lnTo>
                  <a:pt x="2024055" y="338051"/>
                </a:lnTo>
                <a:lnTo>
                  <a:pt x="2038722" y="332509"/>
                </a:lnTo>
                <a:lnTo>
                  <a:pt x="2053389" y="326967"/>
                </a:lnTo>
                <a:lnTo>
                  <a:pt x="2068056" y="321425"/>
                </a:lnTo>
                <a:lnTo>
                  <a:pt x="2082723" y="315883"/>
                </a:lnTo>
                <a:lnTo>
                  <a:pt x="2097390" y="310342"/>
                </a:lnTo>
                <a:lnTo>
                  <a:pt x="2112057" y="304800"/>
                </a:lnTo>
                <a:lnTo>
                  <a:pt x="2126724" y="299258"/>
                </a:lnTo>
                <a:lnTo>
                  <a:pt x="2141391" y="293716"/>
                </a:lnTo>
                <a:lnTo>
                  <a:pt x="2156058" y="288174"/>
                </a:lnTo>
                <a:lnTo>
                  <a:pt x="2170726" y="282632"/>
                </a:lnTo>
                <a:lnTo>
                  <a:pt x="2185393" y="277091"/>
                </a:lnTo>
                <a:lnTo>
                  <a:pt x="2200060" y="271549"/>
                </a:lnTo>
                <a:lnTo>
                  <a:pt x="2214727" y="266007"/>
                </a:lnTo>
                <a:lnTo>
                  <a:pt x="2229394" y="260465"/>
                </a:lnTo>
                <a:lnTo>
                  <a:pt x="2244061" y="254923"/>
                </a:lnTo>
                <a:lnTo>
                  <a:pt x="2258728" y="249382"/>
                </a:lnTo>
                <a:lnTo>
                  <a:pt x="2273395" y="243840"/>
                </a:lnTo>
                <a:lnTo>
                  <a:pt x="2288062" y="238298"/>
                </a:lnTo>
                <a:lnTo>
                  <a:pt x="2302729" y="232756"/>
                </a:lnTo>
                <a:lnTo>
                  <a:pt x="2317396" y="227214"/>
                </a:lnTo>
                <a:lnTo>
                  <a:pt x="2332063" y="221672"/>
                </a:lnTo>
                <a:lnTo>
                  <a:pt x="2346730" y="216131"/>
                </a:lnTo>
                <a:lnTo>
                  <a:pt x="2361397" y="210589"/>
                </a:lnTo>
                <a:lnTo>
                  <a:pt x="2376064" y="205047"/>
                </a:lnTo>
                <a:lnTo>
                  <a:pt x="2390732" y="199505"/>
                </a:lnTo>
                <a:lnTo>
                  <a:pt x="2405399" y="193963"/>
                </a:lnTo>
                <a:lnTo>
                  <a:pt x="2420066" y="188422"/>
                </a:lnTo>
                <a:lnTo>
                  <a:pt x="2434733" y="182880"/>
                </a:lnTo>
                <a:lnTo>
                  <a:pt x="2449400" y="177338"/>
                </a:lnTo>
                <a:lnTo>
                  <a:pt x="2464067" y="171796"/>
                </a:lnTo>
                <a:lnTo>
                  <a:pt x="2478734" y="166254"/>
                </a:lnTo>
                <a:lnTo>
                  <a:pt x="2493401" y="160712"/>
                </a:lnTo>
                <a:lnTo>
                  <a:pt x="2508068" y="155171"/>
                </a:lnTo>
                <a:lnTo>
                  <a:pt x="2522735" y="149629"/>
                </a:lnTo>
                <a:lnTo>
                  <a:pt x="2537402" y="144087"/>
                </a:lnTo>
                <a:lnTo>
                  <a:pt x="2552069" y="138545"/>
                </a:lnTo>
                <a:lnTo>
                  <a:pt x="2566736" y="133003"/>
                </a:lnTo>
                <a:lnTo>
                  <a:pt x="2581403" y="127462"/>
                </a:lnTo>
                <a:lnTo>
                  <a:pt x="2596070" y="121920"/>
                </a:lnTo>
                <a:lnTo>
                  <a:pt x="2610738" y="116378"/>
                </a:lnTo>
                <a:lnTo>
                  <a:pt x="2625405" y="110836"/>
                </a:lnTo>
                <a:lnTo>
                  <a:pt x="2640072" y="105294"/>
                </a:lnTo>
                <a:lnTo>
                  <a:pt x="2654739" y="99752"/>
                </a:lnTo>
                <a:lnTo>
                  <a:pt x="2669406" y="94211"/>
                </a:lnTo>
                <a:lnTo>
                  <a:pt x="2684073" y="88669"/>
                </a:lnTo>
                <a:lnTo>
                  <a:pt x="2698740" y="83127"/>
                </a:lnTo>
                <a:lnTo>
                  <a:pt x="2713407" y="77585"/>
                </a:lnTo>
                <a:lnTo>
                  <a:pt x="2728074" y="72043"/>
                </a:lnTo>
                <a:lnTo>
                  <a:pt x="2742741" y="66502"/>
                </a:lnTo>
                <a:lnTo>
                  <a:pt x="2757408" y="60960"/>
                </a:lnTo>
                <a:lnTo>
                  <a:pt x="2772075" y="55418"/>
                </a:lnTo>
                <a:lnTo>
                  <a:pt x="2786742" y="49876"/>
                </a:lnTo>
                <a:lnTo>
                  <a:pt x="2801409" y="44334"/>
                </a:lnTo>
                <a:lnTo>
                  <a:pt x="2816076" y="38792"/>
                </a:lnTo>
                <a:lnTo>
                  <a:pt x="2830744" y="33251"/>
                </a:lnTo>
                <a:lnTo>
                  <a:pt x="2845411" y="27709"/>
                </a:lnTo>
                <a:lnTo>
                  <a:pt x="2860078" y="22167"/>
                </a:lnTo>
                <a:lnTo>
                  <a:pt x="2874745" y="16625"/>
                </a:lnTo>
                <a:lnTo>
                  <a:pt x="2889412" y="11083"/>
                </a:lnTo>
                <a:lnTo>
                  <a:pt x="2904079" y="5542"/>
                </a:lnTo>
                <a:lnTo>
                  <a:pt x="2918746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21 polygon 6" descr="sci-ppt:o006"/>
          <p:cNvSpPr/>
          <p:nvPr/>
        </p:nvSpPr>
        <p:spPr>
          <a:xfrm>
            <a:off x="3847813" y="2004000"/>
            <a:ext cx="2918747" cy="252074"/>
          </a:xfrm>
          <a:custGeom>
            <a:avLst/>
            <a:gdLst/>
            <a:ahLst/>
            <a:cxnLst/>
            <a:rect l="l" t="t" r="r" b="b"/>
            <a:pathLst>
              <a:path w="2918747" h="252074">
                <a:moveTo>
                  <a:pt x="0" y="0"/>
                </a:moveTo>
                <a:lnTo>
                  <a:pt x="14667" y="1267"/>
                </a:lnTo>
                <a:lnTo>
                  <a:pt x="29334" y="2534"/>
                </a:lnTo>
                <a:lnTo>
                  <a:pt x="44001" y="3800"/>
                </a:lnTo>
                <a:lnTo>
                  <a:pt x="58668" y="5067"/>
                </a:lnTo>
                <a:lnTo>
                  <a:pt x="73335" y="6334"/>
                </a:lnTo>
                <a:lnTo>
                  <a:pt x="88002" y="7600"/>
                </a:lnTo>
                <a:lnTo>
                  <a:pt x="102670" y="8867"/>
                </a:lnTo>
                <a:lnTo>
                  <a:pt x="117337" y="10134"/>
                </a:lnTo>
                <a:lnTo>
                  <a:pt x="132004" y="11400"/>
                </a:lnTo>
                <a:lnTo>
                  <a:pt x="146671" y="12667"/>
                </a:lnTo>
                <a:lnTo>
                  <a:pt x="161338" y="13934"/>
                </a:lnTo>
                <a:lnTo>
                  <a:pt x="176005" y="15201"/>
                </a:lnTo>
                <a:lnTo>
                  <a:pt x="190672" y="16467"/>
                </a:lnTo>
                <a:lnTo>
                  <a:pt x="205339" y="17734"/>
                </a:lnTo>
                <a:lnTo>
                  <a:pt x="220006" y="19001"/>
                </a:lnTo>
                <a:lnTo>
                  <a:pt x="234673" y="20267"/>
                </a:lnTo>
                <a:lnTo>
                  <a:pt x="249340" y="21534"/>
                </a:lnTo>
                <a:lnTo>
                  <a:pt x="264007" y="22801"/>
                </a:lnTo>
                <a:lnTo>
                  <a:pt x="278674" y="24067"/>
                </a:lnTo>
                <a:lnTo>
                  <a:pt x="293341" y="25334"/>
                </a:lnTo>
                <a:lnTo>
                  <a:pt x="308008" y="26601"/>
                </a:lnTo>
                <a:lnTo>
                  <a:pt x="322676" y="27868"/>
                </a:lnTo>
                <a:lnTo>
                  <a:pt x="337343" y="29134"/>
                </a:lnTo>
                <a:lnTo>
                  <a:pt x="352010" y="30401"/>
                </a:lnTo>
                <a:lnTo>
                  <a:pt x="366677" y="31668"/>
                </a:lnTo>
                <a:lnTo>
                  <a:pt x="381344" y="32934"/>
                </a:lnTo>
                <a:lnTo>
                  <a:pt x="396011" y="34201"/>
                </a:lnTo>
                <a:lnTo>
                  <a:pt x="410678" y="35468"/>
                </a:lnTo>
                <a:lnTo>
                  <a:pt x="425345" y="36734"/>
                </a:lnTo>
                <a:lnTo>
                  <a:pt x="440012" y="38001"/>
                </a:lnTo>
                <a:lnTo>
                  <a:pt x="454679" y="39268"/>
                </a:lnTo>
                <a:lnTo>
                  <a:pt x="469346" y="40535"/>
                </a:lnTo>
                <a:lnTo>
                  <a:pt x="484013" y="41801"/>
                </a:lnTo>
                <a:lnTo>
                  <a:pt x="498680" y="43068"/>
                </a:lnTo>
                <a:lnTo>
                  <a:pt x="513347" y="44335"/>
                </a:lnTo>
                <a:lnTo>
                  <a:pt x="528014" y="45601"/>
                </a:lnTo>
                <a:lnTo>
                  <a:pt x="542682" y="46868"/>
                </a:lnTo>
                <a:lnTo>
                  <a:pt x="557349" y="48135"/>
                </a:lnTo>
                <a:lnTo>
                  <a:pt x="572016" y="49401"/>
                </a:lnTo>
                <a:lnTo>
                  <a:pt x="586683" y="50668"/>
                </a:lnTo>
                <a:lnTo>
                  <a:pt x="601350" y="51935"/>
                </a:lnTo>
                <a:lnTo>
                  <a:pt x="616017" y="53202"/>
                </a:lnTo>
                <a:lnTo>
                  <a:pt x="630684" y="54468"/>
                </a:lnTo>
                <a:lnTo>
                  <a:pt x="645351" y="55735"/>
                </a:lnTo>
                <a:lnTo>
                  <a:pt x="660018" y="57002"/>
                </a:lnTo>
                <a:lnTo>
                  <a:pt x="674685" y="58268"/>
                </a:lnTo>
                <a:lnTo>
                  <a:pt x="689352" y="59535"/>
                </a:lnTo>
                <a:lnTo>
                  <a:pt x="704019" y="60802"/>
                </a:lnTo>
                <a:lnTo>
                  <a:pt x="718686" y="62068"/>
                </a:lnTo>
                <a:lnTo>
                  <a:pt x="733353" y="63335"/>
                </a:lnTo>
                <a:lnTo>
                  <a:pt x="748020" y="64602"/>
                </a:lnTo>
                <a:lnTo>
                  <a:pt x="762688" y="65869"/>
                </a:lnTo>
                <a:lnTo>
                  <a:pt x="777355" y="67135"/>
                </a:lnTo>
                <a:lnTo>
                  <a:pt x="792022" y="68402"/>
                </a:lnTo>
                <a:lnTo>
                  <a:pt x="806689" y="69669"/>
                </a:lnTo>
                <a:lnTo>
                  <a:pt x="821356" y="70935"/>
                </a:lnTo>
                <a:lnTo>
                  <a:pt x="836023" y="72202"/>
                </a:lnTo>
                <a:lnTo>
                  <a:pt x="850690" y="73469"/>
                </a:lnTo>
                <a:lnTo>
                  <a:pt x="865357" y="74736"/>
                </a:lnTo>
                <a:lnTo>
                  <a:pt x="880024" y="76002"/>
                </a:lnTo>
                <a:lnTo>
                  <a:pt x="894691" y="77269"/>
                </a:lnTo>
                <a:lnTo>
                  <a:pt x="909358" y="78536"/>
                </a:lnTo>
                <a:lnTo>
                  <a:pt x="924025" y="79802"/>
                </a:lnTo>
                <a:lnTo>
                  <a:pt x="938692" y="81069"/>
                </a:lnTo>
                <a:lnTo>
                  <a:pt x="953359" y="82336"/>
                </a:lnTo>
                <a:lnTo>
                  <a:pt x="968027" y="83602"/>
                </a:lnTo>
                <a:lnTo>
                  <a:pt x="982694" y="84869"/>
                </a:lnTo>
                <a:lnTo>
                  <a:pt x="997361" y="86136"/>
                </a:lnTo>
                <a:lnTo>
                  <a:pt x="1012028" y="87403"/>
                </a:lnTo>
                <a:lnTo>
                  <a:pt x="1026695" y="88669"/>
                </a:lnTo>
                <a:lnTo>
                  <a:pt x="1041362" y="89936"/>
                </a:lnTo>
                <a:lnTo>
                  <a:pt x="1056029" y="91203"/>
                </a:lnTo>
                <a:lnTo>
                  <a:pt x="1070696" y="92469"/>
                </a:lnTo>
                <a:lnTo>
                  <a:pt x="1085363" y="93736"/>
                </a:lnTo>
                <a:lnTo>
                  <a:pt x="1100030" y="95003"/>
                </a:lnTo>
                <a:lnTo>
                  <a:pt x="1114697" y="96269"/>
                </a:lnTo>
                <a:lnTo>
                  <a:pt x="1129364" y="97536"/>
                </a:lnTo>
                <a:lnTo>
                  <a:pt x="1144031" y="98803"/>
                </a:lnTo>
                <a:lnTo>
                  <a:pt x="1158698" y="100070"/>
                </a:lnTo>
                <a:lnTo>
                  <a:pt x="1173365" y="101336"/>
                </a:lnTo>
                <a:lnTo>
                  <a:pt x="1188033" y="102603"/>
                </a:lnTo>
                <a:lnTo>
                  <a:pt x="1202700" y="103870"/>
                </a:lnTo>
                <a:lnTo>
                  <a:pt x="1217367" y="105136"/>
                </a:lnTo>
                <a:lnTo>
                  <a:pt x="1232034" y="106403"/>
                </a:lnTo>
                <a:lnTo>
                  <a:pt x="1246701" y="107670"/>
                </a:lnTo>
                <a:lnTo>
                  <a:pt x="1261368" y="108936"/>
                </a:lnTo>
                <a:lnTo>
                  <a:pt x="1276035" y="110203"/>
                </a:lnTo>
                <a:lnTo>
                  <a:pt x="1290702" y="111470"/>
                </a:lnTo>
                <a:lnTo>
                  <a:pt x="1305369" y="112737"/>
                </a:lnTo>
                <a:lnTo>
                  <a:pt x="1320036" y="114003"/>
                </a:lnTo>
                <a:lnTo>
                  <a:pt x="1334703" y="115270"/>
                </a:lnTo>
                <a:lnTo>
                  <a:pt x="1349370" y="116537"/>
                </a:lnTo>
                <a:lnTo>
                  <a:pt x="1364037" y="117803"/>
                </a:lnTo>
                <a:lnTo>
                  <a:pt x="1378704" y="119070"/>
                </a:lnTo>
                <a:lnTo>
                  <a:pt x="1393371" y="120337"/>
                </a:lnTo>
                <a:lnTo>
                  <a:pt x="1408039" y="121603"/>
                </a:lnTo>
                <a:lnTo>
                  <a:pt x="1422706" y="122870"/>
                </a:lnTo>
                <a:lnTo>
                  <a:pt x="1437373" y="124137"/>
                </a:lnTo>
                <a:lnTo>
                  <a:pt x="1452040" y="125404"/>
                </a:lnTo>
                <a:lnTo>
                  <a:pt x="1466707" y="126670"/>
                </a:lnTo>
                <a:lnTo>
                  <a:pt x="1481374" y="127937"/>
                </a:lnTo>
                <a:lnTo>
                  <a:pt x="1496041" y="129204"/>
                </a:lnTo>
                <a:lnTo>
                  <a:pt x="1510708" y="130470"/>
                </a:lnTo>
                <a:lnTo>
                  <a:pt x="1525375" y="131737"/>
                </a:lnTo>
                <a:lnTo>
                  <a:pt x="1540042" y="133004"/>
                </a:lnTo>
                <a:lnTo>
                  <a:pt x="1554709" y="134270"/>
                </a:lnTo>
                <a:lnTo>
                  <a:pt x="1569376" y="135537"/>
                </a:lnTo>
                <a:lnTo>
                  <a:pt x="1584043" y="136804"/>
                </a:lnTo>
                <a:lnTo>
                  <a:pt x="1598710" y="138071"/>
                </a:lnTo>
                <a:lnTo>
                  <a:pt x="1613377" y="139337"/>
                </a:lnTo>
                <a:lnTo>
                  <a:pt x="1628045" y="140604"/>
                </a:lnTo>
                <a:lnTo>
                  <a:pt x="1642712" y="141871"/>
                </a:lnTo>
                <a:lnTo>
                  <a:pt x="1657379" y="143137"/>
                </a:lnTo>
                <a:lnTo>
                  <a:pt x="1672046" y="144404"/>
                </a:lnTo>
                <a:lnTo>
                  <a:pt x="1686713" y="145671"/>
                </a:lnTo>
                <a:lnTo>
                  <a:pt x="1701380" y="146937"/>
                </a:lnTo>
                <a:lnTo>
                  <a:pt x="1716047" y="148204"/>
                </a:lnTo>
                <a:lnTo>
                  <a:pt x="1730714" y="149471"/>
                </a:lnTo>
                <a:lnTo>
                  <a:pt x="1745381" y="150738"/>
                </a:lnTo>
                <a:lnTo>
                  <a:pt x="1760048" y="152004"/>
                </a:lnTo>
                <a:lnTo>
                  <a:pt x="1774715" y="153271"/>
                </a:lnTo>
                <a:lnTo>
                  <a:pt x="1789382" y="154538"/>
                </a:lnTo>
                <a:lnTo>
                  <a:pt x="1804049" y="155804"/>
                </a:lnTo>
                <a:lnTo>
                  <a:pt x="1818716" y="157071"/>
                </a:lnTo>
                <a:lnTo>
                  <a:pt x="1833383" y="158338"/>
                </a:lnTo>
                <a:lnTo>
                  <a:pt x="1848051" y="159604"/>
                </a:lnTo>
                <a:lnTo>
                  <a:pt x="1862718" y="160871"/>
                </a:lnTo>
                <a:lnTo>
                  <a:pt x="1877385" y="162138"/>
                </a:lnTo>
                <a:lnTo>
                  <a:pt x="1892052" y="163405"/>
                </a:lnTo>
                <a:lnTo>
                  <a:pt x="1906719" y="164671"/>
                </a:lnTo>
                <a:lnTo>
                  <a:pt x="1921386" y="165938"/>
                </a:lnTo>
                <a:lnTo>
                  <a:pt x="1936053" y="167205"/>
                </a:lnTo>
                <a:lnTo>
                  <a:pt x="1950720" y="168471"/>
                </a:lnTo>
                <a:lnTo>
                  <a:pt x="1965387" y="169738"/>
                </a:lnTo>
                <a:lnTo>
                  <a:pt x="1980054" y="171005"/>
                </a:lnTo>
                <a:lnTo>
                  <a:pt x="1994721" y="172272"/>
                </a:lnTo>
                <a:lnTo>
                  <a:pt x="2009388" y="173538"/>
                </a:lnTo>
                <a:lnTo>
                  <a:pt x="2024055" y="174805"/>
                </a:lnTo>
                <a:lnTo>
                  <a:pt x="2038722" y="176072"/>
                </a:lnTo>
                <a:lnTo>
                  <a:pt x="2053390" y="177338"/>
                </a:lnTo>
                <a:lnTo>
                  <a:pt x="2068057" y="178605"/>
                </a:lnTo>
                <a:lnTo>
                  <a:pt x="2082724" y="179872"/>
                </a:lnTo>
                <a:lnTo>
                  <a:pt x="2097391" y="181138"/>
                </a:lnTo>
                <a:lnTo>
                  <a:pt x="2112058" y="182405"/>
                </a:lnTo>
                <a:lnTo>
                  <a:pt x="2126725" y="183672"/>
                </a:lnTo>
                <a:lnTo>
                  <a:pt x="2141392" y="184939"/>
                </a:lnTo>
                <a:lnTo>
                  <a:pt x="2156059" y="186205"/>
                </a:lnTo>
                <a:lnTo>
                  <a:pt x="2170726" y="187472"/>
                </a:lnTo>
                <a:lnTo>
                  <a:pt x="2185393" y="188739"/>
                </a:lnTo>
                <a:lnTo>
                  <a:pt x="2200060" y="190005"/>
                </a:lnTo>
                <a:lnTo>
                  <a:pt x="2214727" y="191272"/>
                </a:lnTo>
                <a:lnTo>
                  <a:pt x="2229394" y="192539"/>
                </a:lnTo>
                <a:lnTo>
                  <a:pt x="2244061" y="193805"/>
                </a:lnTo>
                <a:lnTo>
                  <a:pt x="2258728" y="195072"/>
                </a:lnTo>
                <a:lnTo>
                  <a:pt x="2273396" y="196339"/>
                </a:lnTo>
                <a:lnTo>
                  <a:pt x="2288063" y="197606"/>
                </a:lnTo>
                <a:lnTo>
                  <a:pt x="2302730" y="198872"/>
                </a:lnTo>
                <a:lnTo>
                  <a:pt x="2317397" y="200139"/>
                </a:lnTo>
                <a:lnTo>
                  <a:pt x="2332064" y="201406"/>
                </a:lnTo>
                <a:lnTo>
                  <a:pt x="2346731" y="202672"/>
                </a:lnTo>
                <a:lnTo>
                  <a:pt x="2361398" y="203939"/>
                </a:lnTo>
                <a:lnTo>
                  <a:pt x="2376065" y="205206"/>
                </a:lnTo>
                <a:lnTo>
                  <a:pt x="2390732" y="206472"/>
                </a:lnTo>
                <a:lnTo>
                  <a:pt x="2405399" y="207739"/>
                </a:lnTo>
                <a:lnTo>
                  <a:pt x="2420066" y="209006"/>
                </a:lnTo>
                <a:lnTo>
                  <a:pt x="2434733" y="210273"/>
                </a:lnTo>
                <a:lnTo>
                  <a:pt x="2449400" y="211539"/>
                </a:lnTo>
                <a:lnTo>
                  <a:pt x="2464067" y="212806"/>
                </a:lnTo>
                <a:lnTo>
                  <a:pt x="2478734" y="214073"/>
                </a:lnTo>
                <a:lnTo>
                  <a:pt x="2493402" y="215339"/>
                </a:lnTo>
                <a:lnTo>
                  <a:pt x="2508069" y="216606"/>
                </a:lnTo>
                <a:lnTo>
                  <a:pt x="2522736" y="217873"/>
                </a:lnTo>
                <a:lnTo>
                  <a:pt x="2537403" y="219139"/>
                </a:lnTo>
                <a:lnTo>
                  <a:pt x="2552070" y="220406"/>
                </a:lnTo>
                <a:lnTo>
                  <a:pt x="2566737" y="221673"/>
                </a:lnTo>
                <a:lnTo>
                  <a:pt x="2581404" y="222940"/>
                </a:lnTo>
                <a:lnTo>
                  <a:pt x="2596071" y="224206"/>
                </a:lnTo>
                <a:lnTo>
                  <a:pt x="2610738" y="225473"/>
                </a:lnTo>
                <a:lnTo>
                  <a:pt x="2625405" y="226740"/>
                </a:lnTo>
                <a:lnTo>
                  <a:pt x="2640072" y="228006"/>
                </a:lnTo>
                <a:lnTo>
                  <a:pt x="2654739" y="229273"/>
                </a:lnTo>
                <a:lnTo>
                  <a:pt x="2669406" y="230540"/>
                </a:lnTo>
                <a:lnTo>
                  <a:pt x="2684073" y="231806"/>
                </a:lnTo>
                <a:lnTo>
                  <a:pt x="2698740" y="233073"/>
                </a:lnTo>
                <a:lnTo>
                  <a:pt x="2713408" y="234340"/>
                </a:lnTo>
                <a:lnTo>
                  <a:pt x="2728075" y="235607"/>
                </a:lnTo>
                <a:lnTo>
                  <a:pt x="2742742" y="236873"/>
                </a:lnTo>
                <a:lnTo>
                  <a:pt x="2757409" y="238140"/>
                </a:lnTo>
                <a:lnTo>
                  <a:pt x="2772076" y="239407"/>
                </a:lnTo>
                <a:lnTo>
                  <a:pt x="2786743" y="240673"/>
                </a:lnTo>
                <a:lnTo>
                  <a:pt x="2801410" y="241940"/>
                </a:lnTo>
                <a:lnTo>
                  <a:pt x="2816077" y="243207"/>
                </a:lnTo>
                <a:lnTo>
                  <a:pt x="2830744" y="244473"/>
                </a:lnTo>
                <a:lnTo>
                  <a:pt x="2845411" y="245740"/>
                </a:lnTo>
                <a:lnTo>
                  <a:pt x="2860078" y="247007"/>
                </a:lnTo>
                <a:lnTo>
                  <a:pt x="2874745" y="248274"/>
                </a:lnTo>
                <a:lnTo>
                  <a:pt x="2889412" y="249540"/>
                </a:lnTo>
                <a:lnTo>
                  <a:pt x="2904079" y="250807"/>
                </a:lnTo>
                <a:lnTo>
                  <a:pt x="2918747" y="252074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C2-E21 line 7" descr="sci-ppt:o007"/>
          <p:cNvCxnSpPr/>
          <p:nvPr/>
        </p:nvCxnSpPr>
        <p:spPr>
          <a:xfrm>
            <a:off x="3840480" y="1371600"/>
            <a:ext cx="0" cy="347472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10" name="C2-E21 ellipse 8" descr="sci-ppt:o008"/>
          <p:cNvSpPr/>
          <p:nvPr/>
        </p:nvSpPr>
        <p:spPr>
          <a:xfrm>
            <a:off x="3767328" y="1930215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21 text 9" descr="sci-ppt:o009"/>
          <p:cNvSpPr txBox="1"/>
          <p:nvPr/>
        </p:nvSpPr>
        <p:spPr>
          <a:xfrm>
            <a:off x="1280160" y="1438101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liquid: steep gradient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(larger qₗ)</a:t>
            </a:r>
          </a:p>
        </p:txBody>
      </p:sp>
      <p:sp>
        <p:nvSpPr>
          <p:cNvPr id="12" name="C2-E21 text 10" descr="sci-ppt:o010"/>
          <p:cNvSpPr txBox="1"/>
          <p:nvPr/>
        </p:nvSpPr>
        <p:spPr>
          <a:xfrm>
            <a:off x="4352544" y="1438101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vapor: gentle gradient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(smaller qᵥ)</a:t>
            </a:r>
          </a:p>
        </p:txBody>
      </p:sp>
      <p:cxnSp>
        <p:nvCxnSpPr>
          <p:cNvPr id="13" name="C2-E21 arrow 11" descr="sci-ppt:o011"/>
          <p:cNvCxnSpPr/>
          <p:nvPr/>
        </p:nvCxnSpPr>
        <p:spPr>
          <a:xfrm>
            <a:off x="2377440" y="4056610"/>
            <a:ext cx="1316736" cy="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2-E21 arrow 12" descr="sci-ppt:o012"/>
          <p:cNvCxnSpPr/>
          <p:nvPr/>
        </p:nvCxnSpPr>
        <p:spPr>
          <a:xfrm>
            <a:off x="3986784" y="4056610"/>
            <a:ext cx="1316736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2-E21 text 13" descr="sci-ppt:o013"/>
          <p:cNvSpPr txBox="1"/>
          <p:nvPr/>
        </p:nvSpPr>
        <p:spPr>
          <a:xfrm>
            <a:off x="2304288" y="3712464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qₗ·n</a:t>
            </a:r>
          </a:p>
        </p:txBody>
      </p:sp>
      <p:sp>
        <p:nvSpPr>
          <p:cNvPr id="16" name="C2-E21 text 14" descr="sci-ppt:o014"/>
          <p:cNvSpPr txBox="1"/>
          <p:nvPr/>
        </p:nvSpPr>
        <p:spPr>
          <a:xfrm>
            <a:off x="4352544" y="3712464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qᵥ·n</a:t>
            </a:r>
          </a:p>
        </p:txBody>
      </p:sp>
      <p:sp>
        <p:nvSpPr>
          <p:cNvPr id="17" name="C2-E21 round_rect 15" descr="sci-ppt:o015"/>
          <p:cNvSpPr/>
          <p:nvPr/>
        </p:nvSpPr>
        <p:spPr>
          <a:xfrm>
            <a:off x="7040880" y="1371600"/>
            <a:ext cx="480060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21 text 16" descr="sci-ppt:o016"/>
          <p:cNvSpPr txBox="1"/>
          <p:nvPr/>
        </p:nvSpPr>
        <p:spPr>
          <a:xfrm>
            <a:off x="7150608" y="1426464"/>
            <a:ext cx="45811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Heat that is not passed on becomes latent heat</a:t>
            </a:r>
          </a:p>
        </p:txBody>
      </p:sp>
      <p:sp>
        <p:nvSpPr>
          <p:cNvPr id="19" name="C2-E21 text 17" descr="sci-ppt:o017"/>
          <p:cNvSpPr txBox="1"/>
          <p:nvPr/>
        </p:nvSpPr>
        <p:spPr>
          <a:xfrm>
            <a:off x="7178040" y="1828800"/>
            <a:ext cx="45720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jₛ Lᵥ,s = (qₗ − qᵥ)·n</a:t>
            </a:r>
          </a:p>
        </p:txBody>
      </p:sp>
      <p:sp>
        <p:nvSpPr>
          <p:cNvPr id="20" name="C2-E21 text 18" descr="sci-ppt:o018"/>
          <p:cNvSpPr txBox="1"/>
          <p:nvPr/>
        </p:nvSpPr>
        <p:spPr>
          <a:xfrm>
            <a:off x="7178040" y="237744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Lᵥ,s = hᵥ,s − hₗ,s &gt; 0 (J/kg)</a:t>
            </a:r>
          </a:p>
        </p:txBody>
      </p:sp>
      <p:sp>
        <p:nvSpPr>
          <p:cNvPr id="21" name="C2-E21 text 19" descr="sci-ppt:o019"/>
          <p:cNvSpPr txBox="1"/>
          <p:nvPr/>
        </p:nvSpPr>
        <p:spPr>
          <a:xfrm>
            <a:off x="7178040" y="2898648"/>
            <a:ext cx="1737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qₗ·n arriving</a:t>
            </a:r>
          </a:p>
        </p:txBody>
      </p:sp>
      <p:sp>
        <p:nvSpPr>
          <p:cNvPr id="22" name="C2-E21 rect 20" descr="sci-ppt:o020"/>
          <p:cNvSpPr/>
          <p:nvPr/>
        </p:nvSpPr>
        <p:spPr>
          <a:xfrm>
            <a:off x="9006840" y="2880360"/>
            <a:ext cx="1371600" cy="292608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21 text 21" descr="sci-ppt:o021"/>
          <p:cNvSpPr txBox="1"/>
          <p:nvPr/>
        </p:nvSpPr>
        <p:spPr>
          <a:xfrm>
            <a:off x="10451592" y="2926079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1000 W/m²</a:t>
            </a:r>
          </a:p>
        </p:txBody>
      </p:sp>
      <p:sp>
        <p:nvSpPr>
          <p:cNvPr id="24" name="C2-E21 text 22" descr="sci-ppt:o022"/>
          <p:cNvSpPr txBox="1"/>
          <p:nvPr/>
        </p:nvSpPr>
        <p:spPr>
          <a:xfrm>
            <a:off x="7178040" y="3319272"/>
            <a:ext cx="1737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qᵥ·n leaving</a:t>
            </a:r>
          </a:p>
        </p:txBody>
      </p:sp>
      <p:sp>
        <p:nvSpPr>
          <p:cNvPr id="25" name="C2-E21 rect 23" descr="sci-ppt:o023"/>
          <p:cNvSpPr/>
          <p:nvPr/>
        </p:nvSpPr>
        <p:spPr>
          <a:xfrm>
            <a:off x="9006840" y="3300984"/>
            <a:ext cx="274320" cy="292608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21 text 24" descr="sci-ppt:o024"/>
          <p:cNvSpPr txBox="1"/>
          <p:nvPr/>
        </p:nvSpPr>
        <p:spPr>
          <a:xfrm>
            <a:off x="9354312" y="3346703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200 W/m²</a:t>
            </a:r>
          </a:p>
        </p:txBody>
      </p:sp>
      <p:sp>
        <p:nvSpPr>
          <p:cNvPr id="27" name="C2-E21 text 25" descr="sci-ppt:o025"/>
          <p:cNvSpPr txBox="1"/>
          <p:nvPr/>
        </p:nvSpPr>
        <p:spPr>
          <a:xfrm>
            <a:off x="7178040" y="3739896"/>
            <a:ext cx="1737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j Lᵥ = difference</a:t>
            </a:r>
          </a:p>
        </p:txBody>
      </p:sp>
      <p:sp>
        <p:nvSpPr>
          <p:cNvPr id="28" name="C2-E21 rect 26" descr="sci-ppt:o026"/>
          <p:cNvSpPr/>
          <p:nvPr/>
        </p:nvSpPr>
        <p:spPr>
          <a:xfrm>
            <a:off x="9006840" y="3721608"/>
            <a:ext cx="1097280" cy="292608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2-E21 text 27" descr="sci-ppt:o027"/>
          <p:cNvSpPr txBox="1"/>
          <p:nvPr/>
        </p:nvSpPr>
        <p:spPr>
          <a:xfrm>
            <a:off x="10177272" y="3767328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800 W/m²</a:t>
            </a:r>
          </a:p>
        </p:txBody>
      </p:sp>
      <p:sp>
        <p:nvSpPr>
          <p:cNvPr id="30" name="C2-E21 text 28" descr="sci-ppt:o028"/>
          <p:cNvSpPr txBox="1"/>
          <p:nvPr/>
        </p:nvSpPr>
        <p:spPr>
          <a:xfrm>
            <a:off x="914400" y="54406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Fourier law on each side: q_η = −k_η ∇T_η, η = l, v. Signs are fixed by n pointing liquid → vapor.</a:t>
            </a:r>
          </a:p>
        </p:txBody>
      </p:sp>
      <p:sp>
        <p:nvSpPr>
          <p:cNvPr id="31" name="C2-E21 text 29" descr="sci-ppt:o029"/>
          <p:cNvSpPr txBox="1"/>
          <p:nvPr/>
        </p:nvSpPr>
        <p:spPr>
          <a:xfrm>
            <a:off x="914400" y="58978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Example: 800 W/m² of unbalanced heat with Lᵥ = 95 kJ/kg evaporates j = 8.4 g m⁻² s⁻¹. Fluxes shown are illustrative.</a:t>
            </a:r>
          </a:p>
        </p:txBody>
      </p:sp>
      <p:sp>
        <p:nvSpPr>
          <p:cNvPr id="32" name="C2-E21 text 30" descr="sci-ppt:o03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Reduced energy jump of Eq. C2-E21.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C2-E22 · Uniform-state open-bubble first-law model</a:t>
            </a:r>
          </a:p>
        </p:txBody>
      </p:sp>
      <p:sp>
        <p:nvSpPr>
          <p:cNvPr id="3" name="C2-E22 round_rect 1" descr="sci-ppt:o001"/>
          <p:cNvSpPr/>
          <p:nvPr/>
        </p:nvSpPr>
        <p:spPr>
          <a:xfrm>
            <a:off x="365760" y="914400"/>
            <a:ext cx="58521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22 text 2" descr="sci-ppt:o002"/>
          <p:cNvSpPr txBox="1"/>
          <p:nvPr/>
        </p:nvSpPr>
        <p:spPr>
          <a:xfrm>
            <a:off x="475488" y="969264"/>
            <a:ext cx="5632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Open bubble as a control volume</a:t>
            </a:r>
          </a:p>
        </p:txBody>
      </p:sp>
      <p:sp>
        <p:nvSpPr>
          <p:cNvPr id="5" name="C2-E22 ellipse 3" descr="sci-ppt:o003"/>
          <p:cNvSpPr/>
          <p:nvPr/>
        </p:nvSpPr>
        <p:spPr>
          <a:xfrm>
            <a:off x="2011680" y="2286000"/>
            <a:ext cx="2194560" cy="2194560"/>
          </a:xfrm>
          <a:prstGeom prst="ellipse">
            <a:avLst/>
          </a:prstGeom>
          <a:solidFill>
            <a:srgbClr val="0C1820"/>
          </a:solidFill>
          <a:ln w="330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22 text 4" descr="sci-ppt:o004"/>
          <p:cNvSpPr txBox="1"/>
          <p:nvPr/>
        </p:nvSpPr>
        <p:spPr>
          <a:xfrm>
            <a:off x="2377439" y="3108960"/>
            <a:ext cx="1463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U_b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uniform T_b, p_b</a:t>
            </a:r>
          </a:p>
        </p:txBody>
      </p:sp>
      <p:cxnSp>
        <p:nvCxnSpPr>
          <p:cNvPr id="7" name="C2-E22 arrow 5" descr="sci-ppt:o005"/>
          <p:cNvCxnSpPr/>
          <p:nvPr/>
        </p:nvCxnSpPr>
        <p:spPr>
          <a:xfrm>
            <a:off x="457200" y="3383280"/>
            <a:ext cx="1508760" cy="0"/>
          </a:xfrm>
          <a:prstGeom prst="line">
            <a:avLst/>
          </a:prstGeom>
          <a:ln w="508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2-E22 text 6" descr="sci-ppt:o006"/>
          <p:cNvSpPr txBox="1"/>
          <p:nvPr/>
        </p:nvSpPr>
        <p:spPr>
          <a:xfrm>
            <a:off x="502920" y="2788920"/>
            <a:ext cx="17373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heat in Q̇_b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(conduction)</a:t>
            </a:r>
          </a:p>
        </p:txBody>
      </p:sp>
      <p:cxnSp>
        <p:nvCxnSpPr>
          <p:cNvPr id="9" name="C2-E22 arrow 7" descr="sci-ppt:o007"/>
          <p:cNvCxnSpPr/>
          <p:nvPr/>
        </p:nvCxnSpPr>
        <p:spPr>
          <a:xfrm>
            <a:off x="2194560" y="1554480"/>
            <a:ext cx="365760" cy="713232"/>
          </a:xfrm>
          <a:prstGeom prst="line">
            <a:avLst/>
          </a:prstGeom>
          <a:ln w="508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2-E22 text 8" descr="sci-ppt:o008"/>
          <p:cNvSpPr txBox="1"/>
          <p:nvPr/>
        </p:nvSpPr>
        <p:spPr>
          <a:xfrm>
            <a:off x="822959" y="1188720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vapor in:  Σ hᵥ,s ṁᵥ,s</a:t>
            </a:r>
          </a:p>
        </p:txBody>
      </p:sp>
      <p:cxnSp>
        <p:nvCxnSpPr>
          <p:cNvPr id="11" name="C2-E22 arrow 9" descr="sci-ppt:o009"/>
          <p:cNvCxnSpPr/>
          <p:nvPr/>
        </p:nvCxnSpPr>
        <p:spPr>
          <a:xfrm flipV="1">
            <a:off x="3984548" y="2119585"/>
            <a:ext cx="630424" cy="528988"/>
          </a:xfrm>
          <a:prstGeom prst="line">
            <a:avLst/>
          </a:prstGeom>
          <a:ln w="508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2-E22 text 10" descr="sci-ppt:o010"/>
          <p:cNvSpPr txBox="1"/>
          <p:nvPr/>
        </p:nvSpPr>
        <p:spPr>
          <a:xfrm>
            <a:off x="4297680" y="1234440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work out: p_b V̇_b</a:t>
            </a:r>
          </a:p>
        </p:txBody>
      </p:sp>
      <p:sp>
        <p:nvSpPr>
          <p:cNvPr id="13" name="C2-E22 text 11" descr="sci-ppt:o011"/>
          <p:cNvSpPr txBox="1"/>
          <p:nvPr/>
        </p:nvSpPr>
        <p:spPr>
          <a:xfrm>
            <a:off x="502920" y="5212080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V_b = (4π/3)R³, V̇_b = 4πR²Ṙ</a:t>
            </a:r>
          </a:p>
        </p:txBody>
      </p:sp>
      <p:sp>
        <p:nvSpPr>
          <p:cNvPr id="14" name="C2-E22 text 12" descr="sci-ppt:o012"/>
          <p:cNvSpPr txBox="1"/>
          <p:nvPr/>
        </p:nvSpPr>
        <p:spPr>
          <a:xfrm>
            <a:off x="6492240" y="960120"/>
            <a:ext cx="53035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Power ledger (illustrative values, W)</a:t>
            </a:r>
          </a:p>
        </p:txBody>
      </p:sp>
      <p:cxnSp>
        <p:nvCxnSpPr>
          <p:cNvPr id="15" name="C2-E22 line 13" descr="sci-ppt:o013"/>
          <p:cNvCxnSpPr/>
          <p:nvPr/>
        </p:nvCxnSpPr>
        <p:spPr>
          <a:xfrm>
            <a:off x="6583680" y="466344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2-E22 line 14" descr="sci-ppt:o014"/>
          <p:cNvCxnSpPr/>
          <p:nvPr/>
        </p:nvCxnSpPr>
        <p:spPr>
          <a:xfrm>
            <a:off x="6583680" y="1554480"/>
            <a:ext cx="0" cy="31089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2-E22 line 15" descr="sci-ppt:o015"/>
          <p:cNvCxnSpPr/>
          <p:nvPr/>
        </p:nvCxnSpPr>
        <p:spPr>
          <a:xfrm>
            <a:off x="651967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22 line 16" descr="sci-ppt:o016"/>
          <p:cNvCxnSpPr/>
          <p:nvPr/>
        </p:nvCxnSpPr>
        <p:spPr>
          <a:xfrm>
            <a:off x="6583680" y="466344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22 text 17" descr="sci-ppt:o017"/>
          <p:cNvSpPr txBox="1"/>
          <p:nvPr/>
        </p:nvSpPr>
        <p:spPr>
          <a:xfrm>
            <a:off x="5715000" y="45811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0" name="C2-E22 line 18" descr="sci-ppt:o018"/>
          <p:cNvCxnSpPr/>
          <p:nvPr/>
        </p:nvCxnSpPr>
        <p:spPr>
          <a:xfrm>
            <a:off x="6519672" y="37490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22 line 19" descr="sci-ppt:o019"/>
          <p:cNvCxnSpPr/>
          <p:nvPr/>
        </p:nvCxnSpPr>
        <p:spPr>
          <a:xfrm>
            <a:off x="6583680" y="3749039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22 text 20" descr="sci-ppt:o020"/>
          <p:cNvSpPr txBox="1"/>
          <p:nvPr/>
        </p:nvSpPr>
        <p:spPr>
          <a:xfrm>
            <a:off x="5715000" y="36667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3" name="C2-E22 line 21" descr="sci-ppt:o021"/>
          <p:cNvCxnSpPr/>
          <p:nvPr/>
        </p:nvCxnSpPr>
        <p:spPr>
          <a:xfrm>
            <a:off x="6519672" y="28346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22 line 22" descr="sci-ppt:o022"/>
          <p:cNvCxnSpPr/>
          <p:nvPr/>
        </p:nvCxnSpPr>
        <p:spPr>
          <a:xfrm>
            <a:off x="6583680" y="2834639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22 text 23" descr="sci-ppt:o023"/>
          <p:cNvSpPr txBox="1"/>
          <p:nvPr/>
        </p:nvSpPr>
        <p:spPr>
          <a:xfrm>
            <a:off x="5715000" y="27523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6" name="C2-E22 line 24" descr="sci-ppt:o024"/>
          <p:cNvCxnSpPr/>
          <p:nvPr/>
        </p:nvCxnSpPr>
        <p:spPr>
          <a:xfrm>
            <a:off x="6519672" y="1920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22 line 25" descr="sci-ppt:o025"/>
          <p:cNvCxnSpPr/>
          <p:nvPr/>
        </p:nvCxnSpPr>
        <p:spPr>
          <a:xfrm>
            <a:off x="6583680" y="1920239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22 text 26" descr="sci-ppt:o026"/>
          <p:cNvSpPr txBox="1"/>
          <p:nvPr/>
        </p:nvSpPr>
        <p:spPr>
          <a:xfrm>
            <a:off x="5715000" y="18379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sp>
        <p:nvSpPr>
          <p:cNvPr id="29" name="C2-E22 rect 27" descr="sci-ppt:o027"/>
          <p:cNvSpPr/>
          <p:nvPr/>
        </p:nvSpPr>
        <p:spPr>
          <a:xfrm>
            <a:off x="6762902" y="4114800"/>
            <a:ext cx="921715" cy="548639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2-E22 text 28" descr="sci-ppt:o028"/>
          <p:cNvSpPr txBox="1"/>
          <p:nvPr/>
        </p:nvSpPr>
        <p:spPr>
          <a:xfrm>
            <a:off x="6534302" y="3840480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0.3</a:t>
            </a:r>
          </a:p>
        </p:txBody>
      </p:sp>
      <p:sp>
        <p:nvSpPr>
          <p:cNvPr id="31" name="C2-E22 text 29" descr="sci-ppt:o029"/>
          <p:cNvSpPr txBox="1"/>
          <p:nvPr/>
        </p:nvSpPr>
        <p:spPr>
          <a:xfrm>
            <a:off x="6488582" y="473659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Q̇_b</a:t>
            </a:r>
          </a:p>
        </p:txBody>
      </p:sp>
      <p:sp>
        <p:nvSpPr>
          <p:cNvPr id="32" name="C2-E22 rect 30" descr="sci-ppt:o030"/>
          <p:cNvSpPr/>
          <p:nvPr/>
        </p:nvSpPr>
        <p:spPr>
          <a:xfrm>
            <a:off x="8043062" y="2103119"/>
            <a:ext cx="921715" cy="201168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22 text 31" descr="sci-ppt:o031"/>
          <p:cNvSpPr txBox="1"/>
          <p:nvPr/>
        </p:nvSpPr>
        <p:spPr>
          <a:xfrm>
            <a:off x="7814462" y="1828799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+1.1</a:t>
            </a:r>
          </a:p>
        </p:txBody>
      </p:sp>
      <p:sp>
        <p:nvSpPr>
          <p:cNvPr id="34" name="C2-E22 text 32" descr="sci-ppt:o032"/>
          <p:cNvSpPr txBox="1"/>
          <p:nvPr/>
        </p:nvSpPr>
        <p:spPr>
          <a:xfrm>
            <a:off x="7768742" y="473659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Σ h ṁ</a:t>
            </a:r>
          </a:p>
        </p:txBody>
      </p:sp>
      <p:sp>
        <p:nvSpPr>
          <p:cNvPr id="35" name="C2-E22 rect 33" descr="sci-ppt:o033"/>
          <p:cNvSpPr/>
          <p:nvPr/>
        </p:nvSpPr>
        <p:spPr>
          <a:xfrm>
            <a:off x="9323222" y="2103119"/>
            <a:ext cx="921715" cy="164592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2-E22 text 34" descr="sci-ppt:o034"/>
          <p:cNvSpPr txBox="1"/>
          <p:nvPr/>
        </p:nvSpPr>
        <p:spPr>
          <a:xfrm>
            <a:off x="9094622" y="1828799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-0.9</a:t>
            </a:r>
          </a:p>
        </p:txBody>
      </p:sp>
      <p:sp>
        <p:nvSpPr>
          <p:cNvPr id="37" name="C2-E22 text 35" descr="sci-ppt:o035"/>
          <p:cNvSpPr txBox="1"/>
          <p:nvPr/>
        </p:nvSpPr>
        <p:spPr>
          <a:xfrm>
            <a:off x="9048902" y="473659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−p_b V̇_b</a:t>
            </a:r>
          </a:p>
        </p:txBody>
      </p:sp>
      <p:sp>
        <p:nvSpPr>
          <p:cNvPr id="38" name="C2-E22 rect 36" descr="sci-ppt:o036"/>
          <p:cNvSpPr/>
          <p:nvPr/>
        </p:nvSpPr>
        <p:spPr>
          <a:xfrm>
            <a:off x="10603382" y="3749039"/>
            <a:ext cx="921715" cy="91440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22 text 37" descr="sci-ppt:o037"/>
          <p:cNvSpPr txBox="1"/>
          <p:nvPr/>
        </p:nvSpPr>
        <p:spPr>
          <a:xfrm>
            <a:off x="10374782" y="3474720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0.5</a:t>
            </a:r>
          </a:p>
        </p:txBody>
      </p:sp>
      <p:sp>
        <p:nvSpPr>
          <p:cNvPr id="40" name="C2-E22 text 38" descr="sci-ppt:o038"/>
          <p:cNvSpPr txBox="1"/>
          <p:nvPr/>
        </p:nvSpPr>
        <p:spPr>
          <a:xfrm>
            <a:off x="10329062" y="473659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U̇_b</a:t>
            </a:r>
          </a:p>
        </p:txBody>
      </p:sp>
      <p:sp>
        <p:nvSpPr>
          <p:cNvPr id="41" name="C2-E22 text 39" descr="sci-ppt:o039"/>
          <p:cNvSpPr txBox="1"/>
          <p:nvPr/>
        </p:nvSpPr>
        <p:spPr>
          <a:xfrm>
            <a:off x="6492240" y="534924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U̇_b = Q̇_b − p_b V̇_b + Σ hᵥ,s ṁᵥ,s. Transported enthalpy and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conduction are different terms.</a:t>
            </a:r>
          </a:p>
        </p:txBody>
      </p:sp>
      <p:sp>
        <p:nvSpPr>
          <p:cNvPr id="42" name="C2-E22 text 40" descr="sci-ppt:o04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First law of Eq. C2-E22; the numbers in the ledger are illustrative.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C2-E23 · Product-rule derivation of thermal closure</a:t>
            </a:r>
          </a:p>
        </p:txBody>
      </p:sp>
      <p:sp>
        <p:nvSpPr>
          <p:cNvPr id="3" name="C2-E23 round_rect 1" descr="sci-ppt:o001"/>
          <p:cNvSpPr/>
          <p:nvPr/>
        </p:nvSpPr>
        <p:spPr>
          <a:xfrm>
            <a:off x="365760" y="914400"/>
            <a:ext cx="512064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23 text 2" descr="sci-ppt:o002"/>
          <p:cNvSpPr txBox="1"/>
          <p:nvPr/>
        </p:nvSpPr>
        <p:spPr>
          <a:xfrm>
            <a:off x="475488" y="969264"/>
            <a:ext cx="49011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From U_b to a temperature equation</a:t>
            </a:r>
          </a:p>
        </p:txBody>
      </p:sp>
      <p:sp>
        <p:nvSpPr>
          <p:cNvPr id="5" name="C2-E23 text 3" descr="sci-ppt:o003"/>
          <p:cNvSpPr txBox="1"/>
          <p:nvPr/>
        </p:nvSpPr>
        <p:spPr>
          <a:xfrm>
            <a:off x="548640" y="137160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Internal energy</a:t>
            </a:r>
          </a:p>
        </p:txBody>
      </p:sp>
      <p:sp>
        <p:nvSpPr>
          <p:cNvPr id="6" name="C2-E23 text 4" descr="sci-ppt:o004"/>
          <p:cNvSpPr txBox="1"/>
          <p:nvPr/>
        </p:nvSpPr>
        <p:spPr>
          <a:xfrm>
            <a:off x="777240" y="1673352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U_b = Σ mᵥ,s eₛ(T_b)</a:t>
            </a:r>
          </a:p>
        </p:txBody>
      </p:sp>
      <p:sp>
        <p:nvSpPr>
          <p:cNvPr id="7" name="C2-E23 text 5" descr="sci-ppt:o005"/>
          <p:cNvSpPr txBox="1"/>
          <p:nvPr/>
        </p:nvSpPr>
        <p:spPr>
          <a:xfrm>
            <a:off x="548640" y="2187067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Product rule</a:t>
            </a:r>
          </a:p>
        </p:txBody>
      </p:sp>
      <p:sp>
        <p:nvSpPr>
          <p:cNvPr id="8" name="C2-E23 text 6" descr="sci-ppt:o006"/>
          <p:cNvSpPr txBox="1"/>
          <p:nvPr/>
        </p:nvSpPr>
        <p:spPr>
          <a:xfrm>
            <a:off x="777240" y="2488819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U̇_b = (Σ m cᵥ) Ṫ_b + Σ eₛ ṁᵥ,s</a:t>
            </a:r>
          </a:p>
        </p:txBody>
      </p:sp>
      <p:sp>
        <p:nvSpPr>
          <p:cNvPr id="9" name="C2-E23 text 7" descr="sci-ppt:o007"/>
          <p:cNvSpPr txBox="1"/>
          <p:nvPr/>
        </p:nvSpPr>
        <p:spPr>
          <a:xfrm>
            <a:off x="548640" y="3002534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Insert the first law</a:t>
            </a:r>
          </a:p>
        </p:txBody>
      </p:sp>
      <p:sp>
        <p:nvSpPr>
          <p:cNvPr id="10" name="C2-E23 text 8" descr="sci-ppt:o008"/>
          <p:cNvSpPr txBox="1"/>
          <p:nvPr/>
        </p:nvSpPr>
        <p:spPr>
          <a:xfrm>
            <a:off x="777240" y="3304286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(Σ m cᵥ) Ṫ_b = Q̇_b − p_b V̇_b + Σ (hᵥ,s − eₛ) ṁᵥ,s</a:t>
            </a:r>
          </a:p>
        </p:txBody>
      </p:sp>
      <p:sp>
        <p:nvSpPr>
          <p:cNvPr id="11" name="C2-E23 text 9" descr="sci-ppt:o009"/>
          <p:cNvSpPr txBox="1"/>
          <p:nvPr/>
        </p:nvSpPr>
        <p:spPr>
          <a:xfrm>
            <a:off x="548640" y="3818001"/>
            <a:ext cx="47548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For an ideal vapor h − e = Rᵤ T / M = 9.3 kJ/kg at 323 K,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so every mass added also carries the work term.</a:t>
            </a:r>
          </a:p>
        </p:txBody>
      </p:sp>
      <p:sp>
        <p:nvSpPr>
          <p:cNvPr id="12" name="C2-E23 text 10" descr="sci-ppt:o010"/>
          <p:cNvSpPr txBox="1"/>
          <p:nvPr/>
        </p:nvSpPr>
        <p:spPr>
          <a:xfrm>
            <a:off x="5760720" y="960120"/>
            <a:ext cx="6035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Terms that change the bubble temperature (illustrative, W)</a:t>
            </a:r>
          </a:p>
        </p:txBody>
      </p:sp>
      <p:cxnSp>
        <p:nvCxnSpPr>
          <p:cNvPr id="13" name="C2-E23 line 11" descr="sci-ppt:o011"/>
          <p:cNvCxnSpPr/>
          <p:nvPr/>
        </p:nvCxnSpPr>
        <p:spPr>
          <a:xfrm>
            <a:off x="5943600" y="466344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4" name="C2-E23 line 12" descr="sci-ppt:o012"/>
          <p:cNvCxnSpPr/>
          <p:nvPr/>
        </p:nvCxnSpPr>
        <p:spPr>
          <a:xfrm>
            <a:off x="5943600" y="1554480"/>
            <a:ext cx="0" cy="31089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5" name="C2-E23 line 13" descr="sci-ppt:o013"/>
          <p:cNvCxnSpPr/>
          <p:nvPr/>
        </p:nvCxnSpPr>
        <p:spPr>
          <a:xfrm>
            <a:off x="58795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2-E23 line 14" descr="sci-ppt:o014"/>
          <p:cNvCxnSpPr/>
          <p:nvPr/>
        </p:nvCxnSpPr>
        <p:spPr>
          <a:xfrm>
            <a:off x="5943600" y="466344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2-E23 text 15" descr="sci-ppt:o015"/>
          <p:cNvSpPr txBox="1"/>
          <p:nvPr/>
        </p:nvSpPr>
        <p:spPr>
          <a:xfrm>
            <a:off x="5074920" y="45811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8" name="C2-E23 line 16" descr="sci-ppt:o016"/>
          <p:cNvCxnSpPr/>
          <p:nvPr/>
        </p:nvCxnSpPr>
        <p:spPr>
          <a:xfrm>
            <a:off x="5879592" y="384529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2-E23 line 17" descr="sci-ppt:o017"/>
          <p:cNvCxnSpPr/>
          <p:nvPr/>
        </p:nvCxnSpPr>
        <p:spPr>
          <a:xfrm>
            <a:off x="5943600" y="3845292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2-E23 text 18" descr="sci-ppt:o018"/>
          <p:cNvSpPr txBox="1"/>
          <p:nvPr/>
        </p:nvSpPr>
        <p:spPr>
          <a:xfrm>
            <a:off x="5074920" y="376299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1" name="C2-E23 line 19" descr="sci-ppt:o019"/>
          <p:cNvCxnSpPr/>
          <p:nvPr/>
        </p:nvCxnSpPr>
        <p:spPr>
          <a:xfrm>
            <a:off x="5879592" y="302714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23 line 20" descr="sci-ppt:o020"/>
          <p:cNvCxnSpPr/>
          <p:nvPr/>
        </p:nvCxnSpPr>
        <p:spPr>
          <a:xfrm>
            <a:off x="5943600" y="3027145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23 text 21" descr="sci-ppt:o021"/>
          <p:cNvSpPr txBox="1"/>
          <p:nvPr/>
        </p:nvSpPr>
        <p:spPr>
          <a:xfrm>
            <a:off x="5074920" y="294484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2-E23 line 22" descr="sci-ppt:o022"/>
          <p:cNvCxnSpPr/>
          <p:nvPr/>
        </p:nvCxnSpPr>
        <p:spPr>
          <a:xfrm>
            <a:off x="5879592" y="220899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23 line 23" descr="sci-ppt:o023"/>
          <p:cNvCxnSpPr/>
          <p:nvPr/>
        </p:nvCxnSpPr>
        <p:spPr>
          <a:xfrm>
            <a:off x="5943600" y="2208997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23 text 24" descr="sci-ppt:o024"/>
          <p:cNvSpPr txBox="1"/>
          <p:nvPr/>
        </p:nvSpPr>
        <p:spPr>
          <a:xfrm>
            <a:off x="5074920" y="212670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sp>
        <p:nvSpPr>
          <p:cNvPr id="27" name="C2-E23 rect 25" descr="sci-ppt:o025"/>
          <p:cNvSpPr/>
          <p:nvPr/>
        </p:nvSpPr>
        <p:spPr>
          <a:xfrm>
            <a:off x="6145225" y="2536256"/>
            <a:ext cx="1036929" cy="2127183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23 text 26" descr="sci-ppt:o026"/>
          <p:cNvSpPr txBox="1"/>
          <p:nvPr/>
        </p:nvSpPr>
        <p:spPr>
          <a:xfrm>
            <a:off x="5916625" y="2261936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1.30</a:t>
            </a:r>
          </a:p>
        </p:txBody>
      </p:sp>
      <p:sp>
        <p:nvSpPr>
          <p:cNvPr id="29" name="C2-E23 text 27" descr="sci-ppt:o027"/>
          <p:cNvSpPr txBox="1"/>
          <p:nvPr/>
        </p:nvSpPr>
        <p:spPr>
          <a:xfrm>
            <a:off x="587090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Σ(h−e)ṁ</a:t>
            </a:r>
          </a:p>
        </p:txBody>
      </p:sp>
      <p:sp>
        <p:nvSpPr>
          <p:cNvPr id="30" name="C2-E23 rect 28" descr="sci-ppt:o028"/>
          <p:cNvSpPr/>
          <p:nvPr/>
        </p:nvSpPr>
        <p:spPr>
          <a:xfrm>
            <a:off x="7585405" y="2045368"/>
            <a:ext cx="1036929" cy="490888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23 text 29" descr="sci-ppt:o029"/>
          <p:cNvSpPr txBox="1"/>
          <p:nvPr/>
        </p:nvSpPr>
        <p:spPr>
          <a:xfrm>
            <a:off x="7356805" y="1771048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+0.30</a:t>
            </a:r>
          </a:p>
        </p:txBody>
      </p:sp>
      <p:sp>
        <p:nvSpPr>
          <p:cNvPr id="32" name="C2-E23 text 30" descr="sci-ppt:o030"/>
          <p:cNvSpPr txBox="1"/>
          <p:nvPr/>
        </p:nvSpPr>
        <p:spPr>
          <a:xfrm>
            <a:off x="731108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Q̇_b</a:t>
            </a:r>
          </a:p>
        </p:txBody>
      </p:sp>
      <p:sp>
        <p:nvSpPr>
          <p:cNvPr id="33" name="C2-E23 rect 31" descr="sci-ppt:o031"/>
          <p:cNvSpPr/>
          <p:nvPr/>
        </p:nvSpPr>
        <p:spPr>
          <a:xfrm>
            <a:off x="9025585" y="2045368"/>
            <a:ext cx="1036929" cy="1472665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23 text 32" descr="sci-ppt:o032"/>
          <p:cNvSpPr txBox="1"/>
          <p:nvPr/>
        </p:nvSpPr>
        <p:spPr>
          <a:xfrm>
            <a:off x="8796985" y="1771048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-0.90</a:t>
            </a:r>
          </a:p>
        </p:txBody>
      </p:sp>
      <p:sp>
        <p:nvSpPr>
          <p:cNvPr id="35" name="C2-E23 text 33" descr="sci-ppt:o033"/>
          <p:cNvSpPr txBox="1"/>
          <p:nvPr/>
        </p:nvSpPr>
        <p:spPr>
          <a:xfrm>
            <a:off x="875126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−p V̇</a:t>
            </a:r>
          </a:p>
        </p:txBody>
      </p:sp>
      <p:sp>
        <p:nvSpPr>
          <p:cNvPr id="36" name="C2-E23 rect 34" descr="sci-ppt:o034"/>
          <p:cNvSpPr/>
          <p:nvPr/>
        </p:nvSpPr>
        <p:spPr>
          <a:xfrm>
            <a:off x="10465765" y="3518033"/>
            <a:ext cx="1036929" cy="1145406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23 text 35" descr="sci-ppt:o035"/>
          <p:cNvSpPr txBox="1"/>
          <p:nvPr/>
        </p:nvSpPr>
        <p:spPr>
          <a:xfrm>
            <a:off x="10237165" y="3243713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0.70</a:t>
            </a:r>
          </a:p>
        </p:txBody>
      </p:sp>
      <p:sp>
        <p:nvSpPr>
          <p:cNvPr id="38" name="C2-E23 text 36" descr="sci-ppt:o036"/>
          <p:cNvSpPr txBox="1"/>
          <p:nvPr/>
        </p:nvSpPr>
        <p:spPr>
          <a:xfrm>
            <a:off x="1019144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(Σmcᵥ) Ṫ</a:t>
            </a:r>
          </a:p>
        </p:txBody>
      </p:sp>
      <p:sp>
        <p:nvSpPr>
          <p:cNvPr id="39" name="C2-E23 text 37" descr="sci-ppt:o037"/>
          <p:cNvSpPr txBox="1"/>
          <p:nvPr/>
        </p:nvSpPr>
        <p:spPr>
          <a:xfrm>
            <a:off x="5760720" y="5349240"/>
            <a:ext cx="6035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fixed-mass polytropic law cannot hold while ṁᵥ,s ≠ 0: the mass terms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change the temperature as well.</a:t>
            </a:r>
          </a:p>
        </p:txBody>
      </p:sp>
      <p:sp>
        <p:nvSpPr>
          <p:cNvPr id="40" name="C2-E23 text 38" descr="sci-ppt:o03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Thermal closure of Eq. C2-E23; waterfall values are illustrative.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C2-E24 · Ideal-mixture constitutive control and required refinement</a:t>
            </a:r>
          </a:p>
        </p:txBody>
      </p:sp>
      <p:cxnSp>
        <p:nvCxnSpPr>
          <p:cNvPr id="3" name="C2-E24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24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24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24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24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8" name="C2-E24 line 6" descr="sci-ppt:o006"/>
          <p:cNvCxnSpPr/>
          <p:nvPr/>
        </p:nvCxnSpPr>
        <p:spPr>
          <a:xfrm>
            <a:off x="2423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24 line 7" descr="sci-ppt:o007"/>
          <p:cNvCxnSpPr/>
          <p:nvPr/>
        </p:nvCxnSpPr>
        <p:spPr>
          <a:xfrm>
            <a:off x="2423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24 text 8" descr="sci-ppt:o008"/>
          <p:cNvSpPr txBox="1"/>
          <p:nvPr/>
        </p:nvSpPr>
        <p:spPr>
          <a:xfrm>
            <a:off x="1965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2-E24 line 9" descr="sci-ppt:o009"/>
          <p:cNvCxnSpPr/>
          <p:nvPr/>
        </p:nvCxnSpPr>
        <p:spPr>
          <a:xfrm>
            <a:off x="393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24 line 10" descr="sci-ppt:o010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24 text 11" descr="sci-ppt:o011"/>
          <p:cNvSpPr txBox="1"/>
          <p:nvPr/>
        </p:nvSpPr>
        <p:spPr>
          <a:xfrm>
            <a:off x="347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2-E24 line 12" descr="sci-ppt:o012"/>
          <p:cNvCxnSpPr/>
          <p:nvPr/>
        </p:nvCxnSpPr>
        <p:spPr>
          <a:xfrm>
            <a:off x="54406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24 line 13" descr="sci-ppt:o013"/>
          <p:cNvCxnSpPr/>
          <p:nvPr/>
        </p:nvCxnSpPr>
        <p:spPr>
          <a:xfrm>
            <a:off x="54406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24 text 14" descr="sci-ppt:o014"/>
          <p:cNvSpPr txBox="1"/>
          <p:nvPr/>
        </p:nvSpPr>
        <p:spPr>
          <a:xfrm>
            <a:off x="4983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17" name="C2-E24 line 15" descr="sci-ppt:o015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24 line 16" descr="sci-ppt:o016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24 text 17" descr="sci-ppt:o017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20" name="C2-E24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24 line 19" descr="sci-ppt:o019"/>
          <p:cNvCxnSpPr/>
          <p:nvPr/>
        </p:nvCxnSpPr>
        <p:spPr>
          <a:xfrm>
            <a:off x="850392" y="4297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24 line 20" descr="sci-ppt:o020"/>
          <p:cNvCxnSpPr/>
          <p:nvPr/>
        </p:nvCxnSpPr>
        <p:spPr>
          <a:xfrm>
            <a:off x="914400" y="429768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24 text 21" descr="sci-ppt:o021"/>
          <p:cNvSpPr txBox="1"/>
          <p:nvPr/>
        </p:nvSpPr>
        <p:spPr>
          <a:xfrm>
            <a:off x="45720" y="4215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24" name="C2-E24 line 22" descr="sci-ppt:o022"/>
          <p:cNvCxnSpPr/>
          <p:nvPr/>
        </p:nvCxnSpPr>
        <p:spPr>
          <a:xfrm>
            <a:off x="850392" y="3566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24 line 23" descr="sci-ppt:o023"/>
          <p:cNvCxnSpPr/>
          <p:nvPr/>
        </p:nvCxnSpPr>
        <p:spPr>
          <a:xfrm>
            <a:off x="914400" y="356616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24 text 24" descr="sci-ppt:o024"/>
          <p:cNvSpPr txBox="1"/>
          <p:nvPr/>
        </p:nvSpPr>
        <p:spPr>
          <a:xfrm>
            <a:off x="45720" y="3483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cxnSp>
        <p:nvCxnSpPr>
          <p:cNvPr id="27" name="C2-E24 line 25" descr="sci-ppt:o025"/>
          <p:cNvCxnSpPr/>
          <p:nvPr/>
        </p:nvCxnSpPr>
        <p:spPr>
          <a:xfrm>
            <a:off x="850392" y="28346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24 line 26" descr="sci-ppt:o026"/>
          <p:cNvCxnSpPr/>
          <p:nvPr/>
        </p:nvCxnSpPr>
        <p:spPr>
          <a:xfrm>
            <a:off x="914400" y="283464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24 text 27" descr="sci-ppt:o027"/>
          <p:cNvSpPr txBox="1"/>
          <p:nvPr/>
        </p:nvSpPr>
        <p:spPr>
          <a:xfrm>
            <a:off x="45720" y="27523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cxnSp>
        <p:nvCxnSpPr>
          <p:cNvPr id="30" name="C2-E24 line 28" descr="sci-ppt:o028"/>
          <p:cNvCxnSpPr/>
          <p:nvPr/>
        </p:nvCxnSpPr>
        <p:spPr>
          <a:xfrm>
            <a:off x="850392" y="2103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2-E24 line 29" descr="sci-ppt:o029"/>
          <p:cNvCxnSpPr/>
          <p:nvPr/>
        </p:nvCxnSpPr>
        <p:spPr>
          <a:xfrm>
            <a:off x="914400" y="210312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2-E24 text 30" descr="sci-ppt:o030"/>
          <p:cNvSpPr txBox="1"/>
          <p:nvPr/>
        </p:nvSpPr>
        <p:spPr>
          <a:xfrm>
            <a:off x="45720" y="20208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1e+07</a:t>
            </a:r>
          </a:p>
        </p:txBody>
      </p:sp>
      <p:cxnSp>
        <p:nvCxnSpPr>
          <p:cNvPr id="33" name="C2-E24 line 31" descr="sci-ppt:o031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24 line 32" descr="sci-ppt:o032"/>
          <p:cNvCxnSpPr/>
          <p:nvPr/>
        </p:nvCxnSpPr>
        <p:spPr>
          <a:xfrm>
            <a:off x="914400" y="1371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24 text 33" descr="sci-ppt:o033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1e+08</a:t>
            </a:r>
          </a:p>
        </p:txBody>
      </p:sp>
      <p:sp>
        <p:nvSpPr>
          <p:cNvPr id="36" name="C2-E24 text 34" descr="sci-ppt:o034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bubble radius R  (µm)</a:t>
            </a:r>
          </a:p>
        </p:txBody>
      </p:sp>
      <p:sp>
        <p:nvSpPr>
          <p:cNvPr id="37" name="C2-E24 text 35" descr="sci-ppt:o035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ideal pᵥ,PFC  (Pa)</a:t>
            </a:r>
          </a:p>
        </p:txBody>
      </p:sp>
      <p:sp>
        <p:nvSpPr>
          <p:cNvPr id="38" name="C2-E24 polygon 36" descr="sci-ppt:o036"/>
          <p:cNvSpPr/>
          <p:nvPr/>
        </p:nvSpPr>
        <p:spPr>
          <a:xfrm>
            <a:off x="914400" y="1969996"/>
            <a:ext cx="5974080" cy="2615822"/>
          </a:xfrm>
          <a:custGeom>
            <a:avLst/>
            <a:gdLst/>
            <a:ahLst/>
            <a:cxnLst/>
            <a:rect l="l" t="t" r="r" b="b"/>
            <a:pathLst>
              <a:path w="5974080" h="2615822">
                <a:moveTo>
                  <a:pt x="0" y="0"/>
                </a:moveTo>
                <a:lnTo>
                  <a:pt x="60960" y="26692"/>
                </a:lnTo>
                <a:lnTo>
                  <a:pt x="121920" y="53384"/>
                </a:lnTo>
                <a:lnTo>
                  <a:pt x="182879" y="80076"/>
                </a:lnTo>
                <a:lnTo>
                  <a:pt x="243839" y="106768"/>
                </a:lnTo>
                <a:lnTo>
                  <a:pt x="304800" y="133460"/>
                </a:lnTo>
                <a:lnTo>
                  <a:pt x="365760" y="160153"/>
                </a:lnTo>
                <a:lnTo>
                  <a:pt x="426719" y="186845"/>
                </a:lnTo>
                <a:lnTo>
                  <a:pt x="487679" y="213537"/>
                </a:lnTo>
                <a:lnTo>
                  <a:pt x="548639" y="240229"/>
                </a:lnTo>
                <a:lnTo>
                  <a:pt x="609600" y="266921"/>
                </a:lnTo>
                <a:lnTo>
                  <a:pt x="670560" y="293613"/>
                </a:lnTo>
                <a:lnTo>
                  <a:pt x="731519" y="320305"/>
                </a:lnTo>
                <a:lnTo>
                  <a:pt x="792479" y="346997"/>
                </a:lnTo>
                <a:lnTo>
                  <a:pt x="853440" y="373689"/>
                </a:lnTo>
                <a:lnTo>
                  <a:pt x="914400" y="400381"/>
                </a:lnTo>
                <a:lnTo>
                  <a:pt x="975359" y="427073"/>
                </a:lnTo>
                <a:lnTo>
                  <a:pt x="1036319" y="453765"/>
                </a:lnTo>
                <a:lnTo>
                  <a:pt x="1097279" y="480457"/>
                </a:lnTo>
                <a:lnTo>
                  <a:pt x="1158240" y="507149"/>
                </a:lnTo>
                <a:lnTo>
                  <a:pt x="1219200" y="533841"/>
                </a:lnTo>
                <a:lnTo>
                  <a:pt x="1280159" y="560533"/>
                </a:lnTo>
                <a:lnTo>
                  <a:pt x="1341119" y="587225"/>
                </a:lnTo>
                <a:lnTo>
                  <a:pt x="1402080" y="613918"/>
                </a:lnTo>
                <a:lnTo>
                  <a:pt x="1463040" y="640610"/>
                </a:lnTo>
                <a:lnTo>
                  <a:pt x="1523999" y="667302"/>
                </a:lnTo>
                <a:lnTo>
                  <a:pt x="1584959" y="693994"/>
                </a:lnTo>
                <a:lnTo>
                  <a:pt x="1645920" y="720686"/>
                </a:lnTo>
                <a:lnTo>
                  <a:pt x="1706880" y="747378"/>
                </a:lnTo>
                <a:lnTo>
                  <a:pt x="1767840" y="774070"/>
                </a:lnTo>
                <a:lnTo>
                  <a:pt x="1828799" y="800762"/>
                </a:lnTo>
                <a:lnTo>
                  <a:pt x="1889760" y="827454"/>
                </a:lnTo>
                <a:lnTo>
                  <a:pt x="1950720" y="854146"/>
                </a:lnTo>
                <a:lnTo>
                  <a:pt x="2011680" y="880838"/>
                </a:lnTo>
                <a:lnTo>
                  <a:pt x="2072639" y="907530"/>
                </a:lnTo>
                <a:lnTo>
                  <a:pt x="2133599" y="934222"/>
                </a:lnTo>
                <a:lnTo>
                  <a:pt x="2194560" y="960914"/>
                </a:lnTo>
                <a:lnTo>
                  <a:pt x="2255520" y="987606"/>
                </a:lnTo>
                <a:lnTo>
                  <a:pt x="2316480" y="1014298"/>
                </a:lnTo>
                <a:lnTo>
                  <a:pt x="2377439" y="1040990"/>
                </a:lnTo>
                <a:lnTo>
                  <a:pt x="2438400" y="1067682"/>
                </a:lnTo>
                <a:lnTo>
                  <a:pt x="2499360" y="1094375"/>
                </a:lnTo>
                <a:lnTo>
                  <a:pt x="2560320" y="1121067"/>
                </a:lnTo>
                <a:lnTo>
                  <a:pt x="2621279" y="1147759"/>
                </a:lnTo>
                <a:lnTo>
                  <a:pt x="2682239" y="1174451"/>
                </a:lnTo>
                <a:lnTo>
                  <a:pt x="2743200" y="1201143"/>
                </a:lnTo>
                <a:lnTo>
                  <a:pt x="2804160" y="1227835"/>
                </a:lnTo>
                <a:lnTo>
                  <a:pt x="2865120" y="1254527"/>
                </a:lnTo>
                <a:lnTo>
                  <a:pt x="2926079" y="1281219"/>
                </a:lnTo>
                <a:lnTo>
                  <a:pt x="2987040" y="1307911"/>
                </a:lnTo>
                <a:lnTo>
                  <a:pt x="3048000" y="1334603"/>
                </a:lnTo>
                <a:lnTo>
                  <a:pt x="3108960" y="1361295"/>
                </a:lnTo>
                <a:lnTo>
                  <a:pt x="3169919" y="1387987"/>
                </a:lnTo>
                <a:lnTo>
                  <a:pt x="3230879" y="1414679"/>
                </a:lnTo>
                <a:lnTo>
                  <a:pt x="3291840" y="1441371"/>
                </a:lnTo>
                <a:lnTo>
                  <a:pt x="3352800" y="1468063"/>
                </a:lnTo>
                <a:lnTo>
                  <a:pt x="3413760" y="1494755"/>
                </a:lnTo>
                <a:lnTo>
                  <a:pt x="3474719" y="1521447"/>
                </a:lnTo>
                <a:lnTo>
                  <a:pt x="3535680" y="1548139"/>
                </a:lnTo>
                <a:lnTo>
                  <a:pt x="3596640" y="1574832"/>
                </a:lnTo>
                <a:lnTo>
                  <a:pt x="3657600" y="1601524"/>
                </a:lnTo>
                <a:lnTo>
                  <a:pt x="3718559" y="1628216"/>
                </a:lnTo>
                <a:lnTo>
                  <a:pt x="3779520" y="1654908"/>
                </a:lnTo>
                <a:lnTo>
                  <a:pt x="3840480" y="1681600"/>
                </a:lnTo>
                <a:lnTo>
                  <a:pt x="3901440" y="1708292"/>
                </a:lnTo>
                <a:lnTo>
                  <a:pt x="3962400" y="1734984"/>
                </a:lnTo>
                <a:lnTo>
                  <a:pt x="4023359" y="1761676"/>
                </a:lnTo>
                <a:lnTo>
                  <a:pt x="4084320" y="1788368"/>
                </a:lnTo>
                <a:lnTo>
                  <a:pt x="4145280" y="1815060"/>
                </a:lnTo>
                <a:lnTo>
                  <a:pt x="4206240" y="1841752"/>
                </a:lnTo>
                <a:lnTo>
                  <a:pt x="4267199" y="1868444"/>
                </a:lnTo>
                <a:lnTo>
                  <a:pt x="4328159" y="1895136"/>
                </a:lnTo>
                <a:lnTo>
                  <a:pt x="4389120" y="1921828"/>
                </a:lnTo>
                <a:lnTo>
                  <a:pt x="4450080" y="1948520"/>
                </a:lnTo>
                <a:lnTo>
                  <a:pt x="4511040" y="1975212"/>
                </a:lnTo>
                <a:lnTo>
                  <a:pt x="4572000" y="2001904"/>
                </a:lnTo>
                <a:lnTo>
                  <a:pt x="4632960" y="2028596"/>
                </a:lnTo>
                <a:lnTo>
                  <a:pt x="4693920" y="2055289"/>
                </a:lnTo>
                <a:lnTo>
                  <a:pt x="4754880" y="2081981"/>
                </a:lnTo>
                <a:lnTo>
                  <a:pt x="4815839" y="2108673"/>
                </a:lnTo>
                <a:lnTo>
                  <a:pt x="4876800" y="2135365"/>
                </a:lnTo>
                <a:lnTo>
                  <a:pt x="4937760" y="2162057"/>
                </a:lnTo>
                <a:lnTo>
                  <a:pt x="4998720" y="2188749"/>
                </a:lnTo>
                <a:lnTo>
                  <a:pt x="5059680" y="2215441"/>
                </a:lnTo>
                <a:lnTo>
                  <a:pt x="5120640" y="2242133"/>
                </a:lnTo>
                <a:lnTo>
                  <a:pt x="5181600" y="2268825"/>
                </a:lnTo>
                <a:lnTo>
                  <a:pt x="5242560" y="2295517"/>
                </a:lnTo>
                <a:lnTo>
                  <a:pt x="5303520" y="2322209"/>
                </a:lnTo>
                <a:lnTo>
                  <a:pt x="5364480" y="2348901"/>
                </a:lnTo>
                <a:lnTo>
                  <a:pt x="5425440" y="2375593"/>
                </a:lnTo>
                <a:lnTo>
                  <a:pt x="5486400" y="2402285"/>
                </a:lnTo>
                <a:lnTo>
                  <a:pt x="5547360" y="2428977"/>
                </a:lnTo>
                <a:lnTo>
                  <a:pt x="5608320" y="2455669"/>
                </a:lnTo>
                <a:lnTo>
                  <a:pt x="5669280" y="2482361"/>
                </a:lnTo>
                <a:lnTo>
                  <a:pt x="5730240" y="2509053"/>
                </a:lnTo>
                <a:lnTo>
                  <a:pt x="5791200" y="2535746"/>
                </a:lnTo>
                <a:lnTo>
                  <a:pt x="5852159" y="2562438"/>
                </a:lnTo>
                <a:lnTo>
                  <a:pt x="5913119" y="2589130"/>
                </a:lnTo>
                <a:lnTo>
                  <a:pt x="5974080" y="2615822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24 ellipse 37" descr="sci-ppt:o037"/>
          <p:cNvSpPr/>
          <p:nvPr/>
        </p:nvSpPr>
        <p:spPr>
          <a:xfrm>
            <a:off x="4486268" y="349300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2-E24 text 38" descr="sci-ppt:o038"/>
          <p:cNvSpPr txBox="1"/>
          <p:nvPr/>
        </p:nvSpPr>
        <p:spPr>
          <a:xfrm>
            <a:off x="4650860" y="3108960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R = 26.7 µm: p = 1 bar</a:t>
            </a:r>
          </a:p>
        </p:txBody>
      </p:sp>
      <p:sp>
        <p:nvSpPr>
          <p:cNvPr id="41" name="C2-E24 text 39" descr="sci-ppt:o039"/>
          <p:cNvSpPr txBox="1"/>
          <p:nvPr/>
        </p:nvSpPr>
        <p:spPr>
          <a:xfrm>
            <a:off x="2703771" y="1837190"/>
            <a:ext cx="2743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p ∝ m T / R³ for fixed m, T</a:t>
            </a:r>
          </a:p>
        </p:txBody>
      </p:sp>
      <p:sp>
        <p:nvSpPr>
          <p:cNvPr id="42" name="C2-E24 round_rect 40" descr="sci-ppt:o040"/>
          <p:cNvSpPr/>
          <p:nvPr/>
        </p:nvSpPr>
        <p:spPr>
          <a:xfrm>
            <a:off x="7589520" y="1371600"/>
            <a:ext cx="42519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24 text 41" descr="sci-ppt:o041"/>
          <p:cNvSpPr txBox="1"/>
          <p:nvPr/>
        </p:nvSpPr>
        <p:spPr>
          <a:xfrm>
            <a:off x="7699248" y="1426464"/>
            <a:ext cx="4032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Pressure responds to three things</a:t>
            </a:r>
          </a:p>
        </p:txBody>
      </p:sp>
      <p:sp>
        <p:nvSpPr>
          <p:cNvPr id="44" name="C2-E24 text 42" descr="sci-ppt:o042"/>
          <p:cNvSpPr txBox="1"/>
          <p:nvPr/>
        </p:nvSpPr>
        <p:spPr>
          <a:xfrm>
            <a:off x="7726679" y="1828800"/>
            <a:ext cx="40233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pᵥ,s V_b = (mᵥ,s / Mₛ) Rᵤ T_b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p_b = Σ pᵥ,s</a:t>
            </a:r>
          </a:p>
        </p:txBody>
      </p:sp>
      <p:sp>
        <p:nvSpPr>
          <p:cNvPr id="45" name="C2-E24 text 43" descr="sci-ppt:o043"/>
          <p:cNvSpPr txBox="1"/>
          <p:nvPr/>
        </p:nvSpPr>
        <p:spPr>
          <a:xfrm>
            <a:off x="7927848" y="2606040"/>
            <a:ext cx="382219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species mass mᵥ,s (evaporation raises p)</a:t>
            </a:r>
          </a:p>
        </p:txBody>
      </p:sp>
      <p:sp>
        <p:nvSpPr>
          <p:cNvPr id="46" name="C2-E24 ellipse 44" descr="sci-ppt:o044"/>
          <p:cNvSpPr/>
          <p:nvPr/>
        </p:nvSpPr>
        <p:spPr>
          <a:xfrm>
            <a:off x="7758683" y="266331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24 text 45" descr="sci-ppt:o045"/>
          <p:cNvSpPr txBox="1"/>
          <p:nvPr/>
        </p:nvSpPr>
        <p:spPr>
          <a:xfrm>
            <a:off x="7927848" y="2891155"/>
            <a:ext cx="382219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temperature T_b (heating raises p)</a:t>
            </a:r>
          </a:p>
        </p:txBody>
      </p:sp>
      <p:sp>
        <p:nvSpPr>
          <p:cNvPr id="48" name="C2-E24 ellipse 46" descr="sci-ppt:o046"/>
          <p:cNvSpPr/>
          <p:nvPr/>
        </p:nvSpPr>
        <p:spPr>
          <a:xfrm>
            <a:off x="7758683" y="294843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2-E24 text 47" descr="sci-ppt:o047"/>
          <p:cNvSpPr txBox="1"/>
          <p:nvPr/>
        </p:nvSpPr>
        <p:spPr>
          <a:xfrm>
            <a:off x="7927848" y="3176270"/>
            <a:ext cx="382219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volume V_b (expansion lowers p)</a:t>
            </a:r>
          </a:p>
        </p:txBody>
      </p:sp>
      <p:sp>
        <p:nvSpPr>
          <p:cNvPr id="50" name="C2-E24 ellipse 48" descr="sci-ppt:o048"/>
          <p:cNvSpPr/>
          <p:nvPr/>
        </p:nvSpPr>
        <p:spPr>
          <a:xfrm>
            <a:off x="7758683" y="323354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2-E24 text 49" descr="sci-ppt:o049"/>
          <p:cNvSpPr txBox="1"/>
          <p:nvPr/>
        </p:nvSpPr>
        <p:spPr>
          <a:xfrm>
            <a:off x="7726679" y="3977639"/>
            <a:ext cx="40233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This ideal-mixture control is a first model; 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real-mixture equation of state p = 𝒫(ρ_b, e_b, Y)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is the required refinement.</a:t>
            </a:r>
          </a:p>
        </p:txBody>
      </p:sp>
      <p:sp>
        <p:nvSpPr>
          <p:cNvPr id="52" name="C2-E24 text 50" descr="sci-ppt:o050"/>
          <p:cNvSpPr txBox="1"/>
          <p:nvPr/>
        </p:nvSpPr>
        <p:spPr>
          <a:xfrm>
            <a:off x="914400" y="5733288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Curve for the fixed PFP inventory of a 5 µm droplet (0.8535 ng) at 323 K. Expansion alone drops p by a factor 1000 for a tenfold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radius.</a:t>
            </a:r>
          </a:p>
        </p:txBody>
      </p:sp>
      <p:sp>
        <p:nvSpPr>
          <p:cNvPr id="53" name="C2-E24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Ideal-gas control of Eq. C2-E24 with M_PFC = 0.2880343 kg/mol.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C2-E25 · Derived ideal-pressure evolution identity</a:t>
            </a:r>
          </a:p>
        </p:txBody>
      </p:sp>
      <p:cxnSp>
        <p:nvCxnSpPr>
          <p:cNvPr id="3" name="C2-E25 line 1" descr="sci-ppt:o001"/>
          <p:cNvCxnSpPr/>
          <p:nvPr/>
        </p:nvCxnSpPr>
        <p:spPr>
          <a:xfrm>
            <a:off x="914400" y="5029200"/>
            <a:ext cx="67665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25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25 line 3" descr="sci-ppt:o003"/>
          <p:cNvCxnSpPr/>
          <p:nvPr/>
        </p:nvCxnSpPr>
        <p:spPr>
          <a:xfrm>
            <a:off x="850392" y="4907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25 line 4" descr="sci-ppt:o004"/>
          <p:cNvCxnSpPr/>
          <p:nvPr/>
        </p:nvCxnSpPr>
        <p:spPr>
          <a:xfrm>
            <a:off x="914400" y="4907280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25 text 5" descr="sci-ppt:o005"/>
          <p:cNvSpPr txBox="1"/>
          <p:nvPr/>
        </p:nvSpPr>
        <p:spPr>
          <a:xfrm>
            <a:off x="45720" y="48249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-2</a:t>
            </a:r>
          </a:p>
        </p:txBody>
      </p:sp>
      <p:cxnSp>
        <p:nvCxnSpPr>
          <p:cNvPr id="8" name="C2-E25 line 6" descr="sci-ppt:o006"/>
          <p:cNvCxnSpPr/>
          <p:nvPr/>
        </p:nvCxnSpPr>
        <p:spPr>
          <a:xfrm>
            <a:off x="850392" y="4297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25 line 7" descr="sci-ppt:o007"/>
          <p:cNvCxnSpPr/>
          <p:nvPr/>
        </p:nvCxnSpPr>
        <p:spPr>
          <a:xfrm>
            <a:off x="914400" y="4297680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25 text 8" descr="sci-ppt:o008"/>
          <p:cNvSpPr txBox="1"/>
          <p:nvPr/>
        </p:nvSpPr>
        <p:spPr>
          <a:xfrm>
            <a:off x="45720" y="4215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</a:t>
            </a:r>
          </a:p>
        </p:txBody>
      </p:sp>
      <p:cxnSp>
        <p:nvCxnSpPr>
          <p:cNvPr id="11" name="C2-E25 line 9" descr="sci-ppt:o009"/>
          <p:cNvCxnSpPr/>
          <p:nvPr/>
        </p:nvCxnSpPr>
        <p:spPr>
          <a:xfrm>
            <a:off x="850392" y="3688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25 line 10" descr="sci-ppt:o010"/>
          <p:cNvCxnSpPr/>
          <p:nvPr/>
        </p:nvCxnSpPr>
        <p:spPr>
          <a:xfrm>
            <a:off x="914400" y="3688080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25 text 11" descr="sci-ppt:o011"/>
          <p:cNvSpPr txBox="1"/>
          <p:nvPr/>
        </p:nvSpPr>
        <p:spPr>
          <a:xfrm>
            <a:off x="45720" y="3605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4" name="C2-E25 line 12" descr="sci-ppt:o012"/>
          <p:cNvCxnSpPr/>
          <p:nvPr/>
        </p:nvCxnSpPr>
        <p:spPr>
          <a:xfrm>
            <a:off x="850392" y="3078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25 line 13" descr="sci-ppt:o013"/>
          <p:cNvCxnSpPr/>
          <p:nvPr/>
        </p:nvCxnSpPr>
        <p:spPr>
          <a:xfrm>
            <a:off x="914400" y="3078480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25 text 14" descr="sci-ppt:o014"/>
          <p:cNvSpPr txBox="1"/>
          <p:nvPr/>
        </p:nvSpPr>
        <p:spPr>
          <a:xfrm>
            <a:off x="45720" y="2996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7" name="C2-E25 line 15" descr="sci-ppt:o015"/>
          <p:cNvCxnSpPr/>
          <p:nvPr/>
        </p:nvCxnSpPr>
        <p:spPr>
          <a:xfrm>
            <a:off x="850392" y="246887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25 line 16" descr="sci-ppt:o016"/>
          <p:cNvCxnSpPr/>
          <p:nvPr/>
        </p:nvCxnSpPr>
        <p:spPr>
          <a:xfrm>
            <a:off x="914400" y="2468879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25 text 17" descr="sci-ppt:o017"/>
          <p:cNvSpPr txBox="1"/>
          <p:nvPr/>
        </p:nvSpPr>
        <p:spPr>
          <a:xfrm>
            <a:off x="45720" y="23865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0" name="C2-E25 line 18" descr="sci-ppt:o018"/>
          <p:cNvCxnSpPr/>
          <p:nvPr/>
        </p:nvCxnSpPr>
        <p:spPr>
          <a:xfrm>
            <a:off x="850392" y="1859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25 line 19" descr="sci-ppt:o019"/>
          <p:cNvCxnSpPr/>
          <p:nvPr/>
        </p:nvCxnSpPr>
        <p:spPr>
          <a:xfrm>
            <a:off x="914400" y="1859280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25 text 20" descr="sci-ppt:o020"/>
          <p:cNvSpPr txBox="1"/>
          <p:nvPr/>
        </p:nvSpPr>
        <p:spPr>
          <a:xfrm>
            <a:off x="45720" y="177698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sp>
        <p:nvSpPr>
          <p:cNvPr id="23" name="C2-E25 text 21" descr="sci-ppt:o021"/>
          <p:cNvSpPr txBox="1"/>
          <p:nvPr/>
        </p:nvSpPr>
        <p:spPr>
          <a:xfrm>
            <a:off x="365760" y="1024128"/>
            <a:ext cx="6766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relative rate  (1/µs)</a:t>
            </a:r>
          </a:p>
        </p:txBody>
      </p:sp>
      <p:cxnSp>
        <p:nvCxnSpPr>
          <p:cNvPr id="24" name="C2-E25 line 22" descr="sci-ppt:o022"/>
          <p:cNvCxnSpPr/>
          <p:nvPr/>
        </p:nvCxnSpPr>
        <p:spPr>
          <a:xfrm>
            <a:off x="914400" y="3688080"/>
            <a:ext cx="676656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25" name="C2-E25 rect 23" descr="sci-ppt:o023"/>
          <p:cNvSpPr/>
          <p:nvPr/>
        </p:nvSpPr>
        <p:spPr>
          <a:xfrm>
            <a:off x="1049731" y="3200400"/>
            <a:ext cx="405993" cy="487679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25 text 24" descr="sci-ppt:o024"/>
          <p:cNvSpPr txBox="1"/>
          <p:nvPr/>
        </p:nvSpPr>
        <p:spPr>
          <a:xfrm>
            <a:off x="866851" y="295351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+0.8</a:t>
            </a:r>
          </a:p>
        </p:txBody>
      </p:sp>
      <p:sp>
        <p:nvSpPr>
          <p:cNvPr id="27" name="C2-E25 rect 25" descr="sci-ppt:o025"/>
          <p:cNvSpPr/>
          <p:nvPr/>
        </p:nvSpPr>
        <p:spPr>
          <a:xfrm>
            <a:off x="1545945" y="3688080"/>
            <a:ext cx="405993" cy="18288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25 text 26" descr="sci-ppt:o026"/>
          <p:cNvSpPr txBox="1"/>
          <p:nvPr/>
        </p:nvSpPr>
        <p:spPr>
          <a:xfrm>
            <a:off x="1363065" y="389839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-0.3</a:t>
            </a:r>
          </a:p>
        </p:txBody>
      </p:sp>
      <p:sp>
        <p:nvSpPr>
          <p:cNvPr id="29" name="C2-E25 rect 27" descr="sci-ppt:o027"/>
          <p:cNvSpPr/>
          <p:nvPr/>
        </p:nvSpPr>
        <p:spPr>
          <a:xfrm>
            <a:off x="2042160" y="3688080"/>
            <a:ext cx="405993" cy="9144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2-E25 text 28" descr="sci-ppt:o028"/>
          <p:cNvSpPr txBox="1"/>
          <p:nvPr/>
        </p:nvSpPr>
        <p:spPr>
          <a:xfrm>
            <a:off x="1859280" y="462991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-1.5</a:t>
            </a:r>
          </a:p>
        </p:txBody>
      </p:sp>
      <p:sp>
        <p:nvSpPr>
          <p:cNvPr id="31" name="C2-E25 rect 29" descr="sci-ppt:o029"/>
          <p:cNvSpPr/>
          <p:nvPr/>
        </p:nvSpPr>
        <p:spPr>
          <a:xfrm>
            <a:off x="2538374" y="3688080"/>
            <a:ext cx="405993" cy="609600"/>
          </a:xfrm>
          <a:prstGeom prst="rect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>
                <a:alpha val="3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2-E25 text 30" descr="sci-ppt:o030"/>
          <p:cNvSpPr txBox="1"/>
          <p:nvPr/>
        </p:nvSpPr>
        <p:spPr>
          <a:xfrm>
            <a:off x="2355494" y="432511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-1.0</a:t>
            </a:r>
          </a:p>
        </p:txBody>
      </p:sp>
      <p:sp>
        <p:nvSpPr>
          <p:cNvPr id="33" name="C2-E25 text 31" descr="sci-ppt:o031"/>
          <p:cNvSpPr txBox="1"/>
          <p:nvPr/>
        </p:nvSpPr>
        <p:spPr>
          <a:xfrm>
            <a:off x="1005840" y="4907280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B4C7D2"/>
                </a:solidFill>
                <a:latin typeface="Arial"/>
              </a:rPr>
              <a:t>rapid growth</a:t>
            </a:r>
          </a:p>
        </p:txBody>
      </p:sp>
      <p:sp>
        <p:nvSpPr>
          <p:cNvPr id="34" name="C2-E25 rect 32" descr="sci-ppt:o032"/>
          <p:cNvSpPr/>
          <p:nvPr/>
        </p:nvSpPr>
        <p:spPr>
          <a:xfrm>
            <a:off x="3305251" y="3627120"/>
            <a:ext cx="405993" cy="60959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2-E25 text 33" descr="sci-ppt:o033"/>
          <p:cNvSpPr txBox="1"/>
          <p:nvPr/>
        </p:nvSpPr>
        <p:spPr>
          <a:xfrm>
            <a:off x="3122371" y="338023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+0.1</a:t>
            </a:r>
          </a:p>
        </p:txBody>
      </p:sp>
      <p:sp>
        <p:nvSpPr>
          <p:cNvPr id="36" name="C2-E25 rect 34" descr="sci-ppt:o034"/>
          <p:cNvSpPr/>
          <p:nvPr/>
        </p:nvSpPr>
        <p:spPr>
          <a:xfrm>
            <a:off x="3801465" y="3688080"/>
            <a:ext cx="405993" cy="60959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25 text 35" descr="sci-ppt:o035"/>
          <p:cNvSpPr txBox="1"/>
          <p:nvPr/>
        </p:nvSpPr>
        <p:spPr>
          <a:xfrm>
            <a:off x="3618585" y="377647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-0.1</a:t>
            </a:r>
          </a:p>
        </p:txBody>
      </p:sp>
      <p:sp>
        <p:nvSpPr>
          <p:cNvPr id="38" name="C2-E25 rect 36" descr="sci-ppt:o036"/>
          <p:cNvSpPr/>
          <p:nvPr/>
        </p:nvSpPr>
        <p:spPr>
          <a:xfrm>
            <a:off x="4297680" y="3688080"/>
            <a:ext cx="405993" cy="36576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25 text 37" descr="sci-ppt:o037"/>
          <p:cNvSpPr txBox="1"/>
          <p:nvPr/>
        </p:nvSpPr>
        <p:spPr>
          <a:xfrm>
            <a:off x="4114800" y="408127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-0.6</a:t>
            </a:r>
          </a:p>
        </p:txBody>
      </p:sp>
      <p:sp>
        <p:nvSpPr>
          <p:cNvPr id="40" name="C2-E25 rect 38" descr="sci-ppt:o038"/>
          <p:cNvSpPr/>
          <p:nvPr/>
        </p:nvSpPr>
        <p:spPr>
          <a:xfrm>
            <a:off x="4793894" y="3688080"/>
            <a:ext cx="405993" cy="365760"/>
          </a:xfrm>
          <a:prstGeom prst="rect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>
                <a:alpha val="3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25 text 39" descr="sci-ppt:o039"/>
          <p:cNvSpPr txBox="1"/>
          <p:nvPr/>
        </p:nvSpPr>
        <p:spPr>
          <a:xfrm>
            <a:off x="4611014" y="408127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-0.6</a:t>
            </a:r>
          </a:p>
        </p:txBody>
      </p:sp>
      <p:sp>
        <p:nvSpPr>
          <p:cNvPr id="42" name="C2-E25 text 40" descr="sci-ppt:o040"/>
          <p:cNvSpPr txBox="1"/>
          <p:nvPr/>
        </p:nvSpPr>
        <p:spPr>
          <a:xfrm>
            <a:off x="3261360" y="4907280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B4C7D2"/>
                </a:solidFill>
                <a:latin typeface="Arial"/>
              </a:rPr>
              <a:t>slow growth</a:t>
            </a:r>
          </a:p>
        </p:txBody>
      </p:sp>
      <p:sp>
        <p:nvSpPr>
          <p:cNvPr id="43" name="C2-E25 rect 41" descr="sci-ppt:o041"/>
          <p:cNvSpPr/>
          <p:nvPr/>
        </p:nvSpPr>
        <p:spPr>
          <a:xfrm>
            <a:off x="5560771" y="3688080"/>
            <a:ext cx="405993" cy="18288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25 text 42" descr="sci-ppt:o042"/>
          <p:cNvSpPr txBox="1"/>
          <p:nvPr/>
        </p:nvSpPr>
        <p:spPr>
          <a:xfrm>
            <a:off x="5377891" y="344119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+0.0</a:t>
            </a:r>
          </a:p>
        </p:txBody>
      </p:sp>
      <p:sp>
        <p:nvSpPr>
          <p:cNvPr id="45" name="C2-E25 rect 43" descr="sci-ppt:o043"/>
          <p:cNvSpPr/>
          <p:nvPr/>
        </p:nvSpPr>
        <p:spPr>
          <a:xfrm>
            <a:off x="6056985" y="3566159"/>
            <a:ext cx="405993" cy="12192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2-E25 text 44" descr="sci-ppt:o044"/>
          <p:cNvSpPr txBox="1"/>
          <p:nvPr/>
        </p:nvSpPr>
        <p:spPr>
          <a:xfrm>
            <a:off x="5874105" y="3319271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+0.2</a:t>
            </a:r>
          </a:p>
        </p:txBody>
      </p:sp>
      <p:sp>
        <p:nvSpPr>
          <p:cNvPr id="47" name="C2-E25 rect 45" descr="sci-ppt:o045"/>
          <p:cNvSpPr/>
          <p:nvPr/>
        </p:nvSpPr>
        <p:spPr>
          <a:xfrm>
            <a:off x="6553200" y="1859280"/>
            <a:ext cx="405993" cy="18288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2-E25 text 46" descr="sci-ppt:o046"/>
          <p:cNvSpPr txBox="1"/>
          <p:nvPr/>
        </p:nvSpPr>
        <p:spPr>
          <a:xfrm>
            <a:off x="6370320" y="1612391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+3.0</a:t>
            </a:r>
          </a:p>
        </p:txBody>
      </p:sp>
      <p:sp>
        <p:nvSpPr>
          <p:cNvPr id="49" name="C2-E25 rect 47" descr="sci-ppt:o047"/>
          <p:cNvSpPr/>
          <p:nvPr/>
        </p:nvSpPr>
        <p:spPr>
          <a:xfrm>
            <a:off x="7049414" y="1737360"/>
            <a:ext cx="405993" cy="1950720"/>
          </a:xfrm>
          <a:prstGeom prst="rect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>
                <a:alpha val="3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25 text 48" descr="sci-ppt:o048"/>
          <p:cNvSpPr txBox="1"/>
          <p:nvPr/>
        </p:nvSpPr>
        <p:spPr>
          <a:xfrm>
            <a:off x="6866534" y="1490472"/>
            <a:ext cx="771753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+3.2</a:t>
            </a:r>
          </a:p>
        </p:txBody>
      </p:sp>
      <p:sp>
        <p:nvSpPr>
          <p:cNvPr id="51" name="C2-E25 text 49" descr="sci-ppt:o049"/>
          <p:cNvSpPr txBox="1"/>
          <p:nvPr/>
        </p:nvSpPr>
        <p:spPr>
          <a:xfrm>
            <a:off x="5516880" y="4907280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B4C7D2"/>
                </a:solidFill>
                <a:latin typeface="Arial"/>
              </a:rPr>
              <a:t>collapse</a:t>
            </a:r>
          </a:p>
        </p:txBody>
      </p:sp>
      <p:sp>
        <p:nvSpPr>
          <p:cNvPr id="52" name="C2-E25 rect 50" descr="sci-ppt:o050"/>
          <p:cNvSpPr/>
          <p:nvPr/>
        </p:nvSpPr>
        <p:spPr>
          <a:xfrm>
            <a:off x="1005840" y="5440680"/>
            <a:ext cx="228600" cy="18288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2-E25 text 51" descr="sci-ppt:o051"/>
          <p:cNvSpPr txBox="1"/>
          <p:nvPr/>
        </p:nvSpPr>
        <p:spPr>
          <a:xfrm>
            <a:off x="1298448" y="5394960"/>
            <a:ext cx="1463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ṁ/m (mass)</a:t>
            </a:r>
          </a:p>
        </p:txBody>
      </p:sp>
      <p:sp>
        <p:nvSpPr>
          <p:cNvPr id="54" name="C2-E25 rect 52" descr="sci-ppt:o052"/>
          <p:cNvSpPr/>
          <p:nvPr/>
        </p:nvSpPr>
        <p:spPr>
          <a:xfrm>
            <a:off x="2743200" y="5440680"/>
            <a:ext cx="228600" cy="18288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2-E25 text 53" descr="sci-ppt:o053"/>
          <p:cNvSpPr txBox="1"/>
          <p:nvPr/>
        </p:nvSpPr>
        <p:spPr>
          <a:xfrm>
            <a:off x="3035808" y="5394960"/>
            <a:ext cx="1463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Ṫ/T (temperature)</a:t>
            </a:r>
          </a:p>
        </p:txBody>
      </p:sp>
      <p:sp>
        <p:nvSpPr>
          <p:cNvPr id="56" name="C2-E25 rect 54" descr="sci-ppt:o054"/>
          <p:cNvSpPr/>
          <p:nvPr/>
        </p:nvSpPr>
        <p:spPr>
          <a:xfrm>
            <a:off x="4480560" y="5440680"/>
            <a:ext cx="228600" cy="18288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2-E25 text 55" descr="sci-ppt:o055"/>
          <p:cNvSpPr txBox="1"/>
          <p:nvPr/>
        </p:nvSpPr>
        <p:spPr>
          <a:xfrm>
            <a:off x="4773168" y="5394960"/>
            <a:ext cx="1463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−3Ṙ/R (volume)</a:t>
            </a:r>
          </a:p>
        </p:txBody>
      </p:sp>
      <p:sp>
        <p:nvSpPr>
          <p:cNvPr id="58" name="C2-E25 rect 56" descr="sci-ppt:o056"/>
          <p:cNvSpPr/>
          <p:nvPr/>
        </p:nvSpPr>
        <p:spPr>
          <a:xfrm>
            <a:off x="6217919" y="5440680"/>
            <a:ext cx="228600" cy="1828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C2-E25 text 57" descr="sci-ppt:o057"/>
          <p:cNvSpPr txBox="1"/>
          <p:nvPr/>
        </p:nvSpPr>
        <p:spPr>
          <a:xfrm>
            <a:off x="6510527" y="5394960"/>
            <a:ext cx="1463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ṗ/p (total)</a:t>
            </a:r>
          </a:p>
        </p:txBody>
      </p:sp>
      <p:sp>
        <p:nvSpPr>
          <p:cNvPr id="60" name="C2-E25 round_rect 58" descr="sci-ppt:o058"/>
          <p:cNvSpPr/>
          <p:nvPr/>
        </p:nvSpPr>
        <p:spPr>
          <a:xfrm>
            <a:off x="7955279" y="1371600"/>
            <a:ext cx="38862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C2-E25 text 59" descr="sci-ppt:o059"/>
          <p:cNvSpPr txBox="1"/>
          <p:nvPr/>
        </p:nvSpPr>
        <p:spPr>
          <a:xfrm>
            <a:off x="8065007" y="1426464"/>
            <a:ext cx="36667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drivers of pressure</a:t>
            </a:r>
          </a:p>
        </p:txBody>
      </p:sp>
      <p:sp>
        <p:nvSpPr>
          <p:cNvPr id="62" name="C2-E25 text 60" descr="sci-ppt:o060"/>
          <p:cNvSpPr txBox="1"/>
          <p:nvPr/>
        </p:nvSpPr>
        <p:spPr>
          <a:xfrm>
            <a:off x="8092440" y="1828800"/>
            <a:ext cx="3657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ṗᵥ,s / pᵥ,s = ṁᵥ,s/mᵥ,s + Ṫ_b/T_b − 3Ṙ/R</a:t>
            </a:r>
          </a:p>
        </p:txBody>
      </p:sp>
      <p:sp>
        <p:nvSpPr>
          <p:cNvPr id="63" name="C2-E25 text 61" descr="sci-ppt:o061"/>
          <p:cNvSpPr txBox="1"/>
          <p:nvPr/>
        </p:nvSpPr>
        <p:spPr>
          <a:xfrm>
            <a:off x="8293608" y="2606040"/>
            <a:ext cx="345643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Evaporation raises p; cooling lowers it;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volume growth lowers it quickly.</a:t>
            </a:r>
          </a:p>
        </p:txBody>
      </p:sp>
      <p:sp>
        <p:nvSpPr>
          <p:cNvPr id="64" name="C2-E25 ellipse 62" descr="sci-ppt:o062"/>
          <p:cNvSpPr/>
          <p:nvPr/>
        </p:nvSpPr>
        <p:spPr>
          <a:xfrm>
            <a:off x="8124444" y="26593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2-E25 text 63" descr="sci-ppt:o063"/>
          <p:cNvSpPr txBox="1"/>
          <p:nvPr/>
        </p:nvSpPr>
        <p:spPr>
          <a:xfrm>
            <a:off x="8293608" y="3069336"/>
            <a:ext cx="345643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law written in R alone keeps only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third term.</a:t>
            </a:r>
          </a:p>
        </p:txBody>
      </p:sp>
      <p:sp>
        <p:nvSpPr>
          <p:cNvPr id="66" name="C2-E25 ellipse 64" descr="sci-ppt:o064"/>
          <p:cNvSpPr/>
          <p:nvPr/>
        </p:nvSpPr>
        <p:spPr>
          <a:xfrm>
            <a:off x="8124444" y="312267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C2-E25 text 65" descr="sci-ppt:o065"/>
          <p:cNvSpPr txBox="1"/>
          <p:nvPr/>
        </p:nvSpPr>
        <p:spPr>
          <a:xfrm>
            <a:off x="8293608" y="3532631"/>
            <a:ext cx="345643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bubble can lose pressure while still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evaporating if the volume term dominates.</a:t>
            </a:r>
          </a:p>
        </p:txBody>
      </p:sp>
      <p:sp>
        <p:nvSpPr>
          <p:cNvPr id="68" name="C2-E25 ellipse 66" descr="sci-ppt:o066"/>
          <p:cNvSpPr/>
          <p:nvPr/>
        </p:nvSpPr>
        <p:spPr>
          <a:xfrm>
            <a:off x="8124444" y="358597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C2-E25 text 67" descr="sci-ppt:o067"/>
          <p:cNvSpPr txBox="1"/>
          <p:nvPr/>
        </p:nvSpPr>
        <p:spPr>
          <a:xfrm>
            <a:off x="914400" y="585216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Rates are illustrative, chosen only to show how the three terms can compete. Identity valid for a spherical bubble (V_b = 4πR³/3).</a:t>
            </a:r>
          </a:p>
        </p:txBody>
      </p:sp>
      <p:sp>
        <p:nvSpPr>
          <p:cNvPr id="70" name="C2-E25 text 68" descr="sci-ppt:o06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Logarithmic derivative of the ideal-gas law, Eq. C2-E25.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C2-E26 · Finite-inventory equilibrium benchmark</a:t>
            </a:r>
          </a:p>
        </p:txBody>
      </p:sp>
      <p:cxnSp>
        <p:nvCxnSpPr>
          <p:cNvPr id="3" name="C2-E26 line 1" descr="sci-ppt:o001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2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26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26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26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8" name="C2-E26 line 6" descr="sci-ppt:o006"/>
          <p:cNvCxnSpPr/>
          <p:nvPr/>
        </p:nvCxnSpPr>
        <p:spPr>
          <a:xfrm>
            <a:off x="2514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26 line 7" descr="sci-ppt:o007"/>
          <p:cNvCxnSpPr/>
          <p:nvPr/>
        </p:nvCxnSpPr>
        <p:spPr>
          <a:xfrm>
            <a:off x="2514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26 text 8" descr="sci-ppt:o008"/>
          <p:cNvSpPr txBox="1"/>
          <p:nvPr/>
        </p:nvSpPr>
        <p:spPr>
          <a:xfrm>
            <a:off x="2057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2-E26 line 9" descr="sci-ppt:o009"/>
          <p:cNvCxnSpPr/>
          <p:nvPr/>
        </p:nvCxnSpPr>
        <p:spPr>
          <a:xfrm>
            <a:off x="4114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26 line 10" descr="sci-ppt:o010"/>
          <p:cNvCxnSpPr/>
          <p:nvPr/>
        </p:nvCxnSpPr>
        <p:spPr>
          <a:xfrm>
            <a:off x="4114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26 text 11" descr="sci-ppt:o011"/>
          <p:cNvSpPr txBox="1"/>
          <p:nvPr/>
        </p:nvSpPr>
        <p:spPr>
          <a:xfrm>
            <a:off x="3657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2-E26 line 12" descr="sci-ppt:o012"/>
          <p:cNvCxnSpPr/>
          <p:nvPr/>
        </p:nvCxnSpPr>
        <p:spPr>
          <a:xfrm>
            <a:off x="5715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26 line 13" descr="sci-ppt:o013"/>
          <p:cNvCxnSpPr/>
          <p:nvPr/>
        </p:nvCxnSpPr>
        <p:spPr>
          <a:xfrm>
            <a:off x="5715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26 text 14" descr="sci-ppt:o014"/>
          <p:cNvSpPr txBox="1"/>
          <p:nvPr/>
        </p:nvSpPr>
        <p:spPr>
          <a:xfrm>
            <a:off x="5257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17" name="C2-E26 line 15" descr="sci-ppt:o015"/>
          <p:cNvCxnSpPr/>
          <p:nvPr/>
        </p:nvCxnSpPr>
        <p:spPr>
          <a:xfrm>
            <a:off x="7315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26 line 16" descr="sci-ppt:o016"/>
          <p:cNvCxnSpPr/>
          <p:nvPr/>
        </p:nvCxnSpPr>
        <p:spPr>
          <a:xfrm>
            <a:off x="7315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26 text 17" descr="sci-ppt:o017"/>
          <p:cNvSpPr txBox="1"/>
          <p:nvPr/>
        </p:nvSpPr>
        <p:spPr>
          <a:xfrm>
            <a:off x="6858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20" name="C2-E26 line 18" descr="sci-ppt:o018"/>
          <p:cNvCxnSpPr/>
          <p:nvPr/>
        </p:nvCxnSpPr>
        <p:spPr>
          <a:xfrm>
            <a:off x="850392" y="416843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26 line 19" descr="sci-ppt:o019"/>
          <p:cNvCxnSpPr/>
          <p:nvPr/>
        </p:nvCxnSpPr>
        <p:spPr>
          <a:xfrm>
            <a:off x="914400" y="4168438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26 text 20" descr="sci-ppt:o020"/>
          <p:cNvSpPr txBox="1"/>
          <p:nvPr/>
        </p:nvSpPr>
        <p:spPr>
          <a:xfrm>
            <a:off x="45720" y="408614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23" name="C2-E26 line 21" descr="sci-ppt:o021"/>
          <p:cNvCxnSpPr/>
          <p:nvPr/>
        </p:nvCxnSpPr>
        <p:spPr>
          <a:xfrm>
            <a:off x="850392" y="25222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26 line 22" descr="sci-ppt:o022"/>
          <p:cNvCxnSpPr/>
          <p:nvPr/>
        </p:nvCxnSpPr>
        <p:spPr>
          <a:xfrm>
            <a:off x="914400" y="2522242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26 text 23" descr="sci-ppt:o023"/>
          <p:cNvSpPr txBox="1"/>
          <p:nvPr/>
        </p:nvSpPr>
        <p:spPr>
          <a:xfrm>
            <a:off x="45720" y="24399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sp>
        <p:nvSpPr>
          <p:cNvPr id="26" name="C2-E26 text 24" descr="sci-ppt:o024"/>
          <p:cNvSpPr txBox="1"/>
          <p:nvPr/>
        </p:nvSpPr>
        <p:spPr>
          <a:xfrm>
            <a:off x="91440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bubble radius R  (µm)</a:t>
            </a:r>
          </a:p>
        </p:txBody>
      </p:sp>
      <p:sp>
        <p:nvSpPr>
          <p:cNvPr id="27" name="C2-E26 text 25" descr="sci-ppt:o025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pᵥ,PFC,eq  (Pa)</a:t>
            </a:r>
          </a:p>
        </p:txBody>
      </p:sp>
      <p:sp>
        <p:nvSpPr>
          <p:cNvPr id="28" name="C2-E26 polygon 26" descr="sci-ppt:o026"/>
          <p:cNvSpPr/>
          <p:nvPr/>
        </p:nvSpPr>
        <p:spPr>
          <a:xfrm>
            <a:off x="914400" y="2242450"/>
            <a:ext cx="6368635" cy="2627066"/>
          </a:xfrm>
          <a:custGeom>
            <a:avLst/>
            <a:gdLst/>
            <a:ahLst/>
            <a:cxnLst/>
            <a:rect l="l" t="t" r="r" b="b"/>
            <a:pathLst>
              <a:path w="6368635" h="2627066">
                <a:moveTo>
                  <a:pt x="0" y="0"/>
                </a:moveTo>
                <a:lnTo>
                  <a:pt x="32164" y="0"/>
                </a:lnTo>
                <a:lnTo>
                  <a:pt x="64329" y="0"/>
                </a:lnTo>
                <a:lnTo>
                  <a:pt x="96494" y="0"/>
                </a:lnTo>
                <a:lnTo>
                  <a:pt x="128659" y="0"/>
                </a:lnTo>
                <a:lnTo>
                  <a:pt x="160824" y="0"/>
                </a:lnTo>
                <a:lnTo>
                  <a:pt x="192988" y="0"/>
                </a:lnTo>
                <a:lnTo>
                  <a:pt x="225153" y="0"/>
                </a:lnTo>
                <a:lnTo>
                  <a:pt x="257318" y="0"/>
                </a:lnTo>
                <a:lnTo>
                  <a:pt x="289483" y="0"/>
                </a:lnTo>
                <a:lnTo>
                  <a:pt x="321648" y="0"/>
                </a:lnTo>
                <a:lnTo>
                  <a:pt x="353813" y="0"/>
                </a:lnTo>
                <a:lnTo>
                  <a:pt x="385977" y="0"/>
                </a:lnTo>
                <a:lnTo>
                  <a:pt x="418142" y="0"/>
                </a:lnTo>
                <a:lnTo>
                  <a:pt x="450307" y="0"/>
                </a:lnTo>
                <a:lnTo>
                  <a:pt x="482472" y="0"/>
                </a:lnTo>
                <a:lnTo>
                  <a:pt x="514637" y="0"/>
                </a:lnTo>
                <a:lnTo>
                  <a:pt x="546802" y="0"/>
                </a:lnTo>
                <a:lnTo>
                  <a:pt x="578966" y="0"/>
                </a:lnTo>
                <a:lnTo>
                  <a:pt x="611131" y="0"/>
                </a:lnTo>
                <a:lnTo>
                  <a:pt x="643296" y="0"/>
                </a:lnTo>
                <a:lnTo>
                  <a:pt x="675461" y="0"/>
                </a:lnTo>
                <a:lnTo>
                  <a:pt x="707626" y="0"/>
                </a:lnTo>
                <a:lnTo>
                  <a:pt x="739790" y="0"/>
                </a:lnTo>
                <a:lnTo>
                  <a:pt x="771955" y="0"/>
                </a:lnTo>
                <a:lnTo>
                  <a:pt x="804120" y="0"/>
                </a:lnTo>
                <a:lnTo>
                  <a:pt x="836285" y="0"/>
                </a:lnTo>
                <a:lnTo>
                  <a:pt x="868450" y="0"/>
                </a:lnTo>
                <a:lnTo>
                  <a:pt x="900615" y="0"/>
                </a:lnTo>
                <a:lnTo>
                  <a:pt x="932779" y="0"/>
                </a:lnTo>
                <a:lnTo>
                  <a:pt x="964944" y="0"/>
                </a:lnTo>
                <a:lnTo>
                  <a:pt x="997109" y="0"/>
                </a:lnTo>
                <a:lnTo>
                  <a:pt x="1029274" y="0"/>
                </a:lnTo>
                <a:lnTo>
                  <a:pt x="1061439" y="0"/>
                </a:lnTo>
                <a:lnTo>
                  <a:pt x="1093604" y="0"/>
                </a:lnTo>
                <a:lnTo>
                  <a:pt x="1125768" y="0"/>
                </a:lnTo>
                <a:lnTo>
                  <a:pt x="1157933" y="0"/>
                </a:lnTo>
                <a:lnTo>
                  <a:pt x="1190098" y="0"/>
                </a:lnTo>
                <a:lnTo>
                  <a:pt x="1222263" y="0"/>
                </a:lnTo>
                <a:lnTo>
                  <a:pt x="1254428" y="0"/>
                </a:lnTo>
                <a:lnTo>
                  <a:pt x="1286592" y="0"/>
                </a:lnTo>
                <a:lnTo>
                  <a:pt x="1318757" y="0"/>
                </a:lnTo>
                <a:lnTo>
                  <a:pt x="1350922" y="0"/>
                </a:lnTo>
                <a:lnTo>
                  <a:pt x="1383087" y="0"/>
                </a:lnTo>
                <a:lnTo>
                  <a:pt x="1415252" y="0"/>
                </a:lnTo>
                <a:lnTo>
                  <a:pt x="1447417" y="0"/>
                </a:lnTo>
                <a:lnTo>
                  <a:pt x="1479581" y="0"/>
                </a:lnTo>
                <a:lnTo>
                  <a:pt x="1511746" y="0"/>
                </a:lnTo>
                <a:lnTo>
                  <a:pt x="1543911" y="0"/>
                </a:lnTo>
                <a:lnTo>
                  <a:pt x="1576076" y="0"/>
                </a:lnTo>
                <a:lnTo>
                  <a:pt x="1608241" y="0"/>
                </a:lnTo>
                <a:lnTo>
                  <a:pt x="1640406" y="0"/>
                </a:lnTo>
                <a:lnTo>
                  <a:pt x="1672570" y="0"/>
                </a:lnTo>
                <a:lnTo>
                  <a:pt x="1704735" y="0"/>
                </a:lnTo>
                <a:lnTo>
                  <a:pt x="1736900" y="0"/>
                </a:lnTo>
                <a:lnTo>
                  <a:pt x="1769065" y="0"/>
                </a:lnTo>
                <a:lnTo>
                  <a:pt x="1801230" y="0"/>
                </a:lnTo>
                <a:lnTo>
                  <a:pt x="1833394" y="0"/>
                </a:lnTo>
                <a:lnTo>
                  <a:pt x="1865559" y="0"/>
                </a:lnTo>
                <a:lnTo>
                  <a:pt x="1897724" y="0"/>
                </a:lnTo>
                <a:lnTo>
                  <a:pt x="1929889" y="0"/>
                </a:lnTo>
                <a:lnTo>
                  <a:pt x="1962054" y="0"/>
                </a:lnTo>
                <a:lnTo>
                  <a:pt x="1994219" y="0"/>
                </a:lnTo>
                <a:lnTo>
                  <a:pt x="2026383" y="0"/>
                </a:lnTo>
                <a:lnTo>
                  <a:pt x="2058548" y="0"/>
                </a:lnTo>
                <a:lnTo>
                  <a:pt x="2090713" y="0"/>
                </a:lnTo>
                <a:lnTo>
                  <a:pt x="2122878" y="0"/>
                </a:lnTo>
                <a:lnTo>
                  <a:pt x="2155043" y="0"/>
                </a:lnTo>
                <a:lnTo>
                  <a:pt x="2187208" y="0"/>
                </a:lnTo>
                <a:lnTo>
                  <a:pt x="2219372" y="0"/>
                </a:lnTo>
                <a:lnTo>
                  <a:pt x="2251537" y="0"/>
                </a:lnTo>
                <a:lnTo>
                  <a:pt x="2283702" y="0"/>
                </a:lnTo>
                <a:lnTo>
                  <a:pt x="2315867" y="0"/>
                </a:lnTo>
                <a:lnTo>
                  <a:pt x="2348032" y="0"/>
                </a:lnTo>
                <a:lnTo>
                  <a:pt x="2380196" y="0"/>
                </a:lnTo>
                <a:lnTo>
                  <a:pt x="2412361" y="0"/>
                </a:lnTo>
                <a:lnTo>
                  <a:pt x="2444526" y="0"/>
                </a:lnTo>
                <a:lnTo>
                  <a:pt x="2476691" y="0"/>
                </a:lnTo>
                <a:lnTo>
                  <a:pt x="2508856" y="0"/>
                </a:lnTo>
                <a:lnTo>
                  <a:pt x="2541021" y="0"/>
                </a:lnTo>
                <a:lnTo>
                  <a:pt x="2573185" y="0"/>
                </a:lnTo>
                <a:lnTo>
                  <a:pt x="2605350" y="0"/>
                </a:lnTo>
                <a:lnTo>
                  <a:pt x="2637515" y="0"/>
                </a:lnTo>
                <a:lnTo>
                  <a:pt x="2669680" y="0"/>
                </a:lnTo>
                <a:lnTo>
                  <a:pt x="2701845" y="0"/>
                </a:lnTo>
                <a:lnTo>
                  <a:pt x="2734010" y="0"/>
                </a:lnTo>
                <a:lnTo>
                  <a:pt x="2766174" y="0"/>
                </a:lnTo>
                <a:lnTo>
                  <a:pt x="2798339" y="0"/>
                </a:lnTo>
                <a:lnTo>
                  <a:pt x="2830504" y="0"/>
                </a:lnTo>
                <a:lnTo>
                  <a:pt x="2862669" y="0"/>
                </a:lnTo>
                <a:lnTo>
                  <a:pt x="2894834" y="0"/>
                </a:lnTo>
                <a:lnTo>
                  <a:pt x="2926998" y="0"/>
                </a:lnTo>
                <a:lnTo>
                  <a:pt x="2959163" y="0"/>
                </a:lnTo>
                <a:lnTo>
                  <a:pt x="2991328" y="0"/>
                </a:lnTo>
                <a:lnTo>
                  <a:pt x="3023493" y="0"/>
                </a:lnTo>
                <a:lnTo>
                  <a:pt x="3055658" y="0"/>
                </a:lnTo>
                <a:lnTo>
                  <a:pt x="3087823" y="0"/>
                </a:lnTo>
                <a:lnTo>
                  <a:pt x="3119987" y="0"/>
                </a:lnTo>
                <a:lnTo>
                  <a:pt x="3152152" y="0"/>
                </a:lnTo>
                <a:lnTo>
                  <a:pt x="3184317" y="0"/>
                </a:lnTo>
                <a:lnTo>
                  <a:pt x="3216482" y="0"/>
                </a:lnTo>
                <a:lnTo>
                  <a:pt x="3248647" y="0"/>
                </a:lnTo>
                <a:lnTo>
                  <a:pt x="3280812" y="0"/>
                </a:lnTo>
                <a:lnTo>
                  <a:pt x="3312976" y="0"/>
                </a:lnTo>
                <a:lnTo>
                  <a:pt x="3345141" y="0"/>
                </a:lnTo>
                <a:lnTo>
                  <a:pt x="3377306" y="0"/>
                </a:lnTo>
                <a:lnTo>
                  <a:pt x="3409471" y="0"/>
                </a:lnTo>
                <a:lnTo>
                  <a:pt x="3441636" y="0"/>
                </a:lnTo>
                <a:lnTo>
                  <a:pt x="3473801" y="0"/>
                </a:lnTo>
                <a:lnTo>
                  <a:pt x="3505965" y="0"/>
                </a:lnTo>
                <a:lnTo>
                  <a:pt x="3538130" y="0"/>
                </a:lnTo>
                <a:lnTo>
                  <a:pt x="3570295" y="27272"/>
                </a:lnTo>
                <a:lnTo>
                  <a:pt x="3602460" y="57155"/>
                </a:lnTo>
                <a:lnTo>
                  <a:pt x="3634625" y="87038"/>
                </a:lnTo>
                <a:lnTo>
                  <a:pt x="3666789" y="116920"/>
                </a:lnTo>
                <a:lnTo>
                  <a:pt x="3698954" y="146803"/>
                </a:lnTo>
                <a:lnTo>
                  <a:pt x="3731119" y="176686"/>
                </a:lnTo>
                <a:lnTo>
                  <a:pt x="3763284" y="206568"/>
                </a:lnTo>
                <a:lnTo>
                  <a:pt x="3795449" y="236451"/>
                </a:lnTo>
                <a:lnTo>
                  <a:pt x="3827614" y="266334"/>
                </a:lnTo>
                <a:lnTo>
                  <a:pt x="3859778" y="296217"/>
                </a:lnTo>
                <a:lnTo>
                  <a:pt x="3891943" y="326099"/>
                </a:lnTo>
                <a:lnTo>
                  <a:pt x="3924108" y="355982"/>
                </a:lnTo>
                <a:lnTo>
                  <a:pt x="3956273" y="385865"/>
                </a:lnTo>
                <a:lnTo>
                  <a:pt x="3988438" y="415747"/>
                </a:lnTo>
                <a:lnTo>
                  <a:pt x="4020603" y="445630"/>
                </a:lnTo>
                <a:lnTo>
                  <a:pt x="4052767" y="475513"/>
                </a:lnTo>
                <a:lnTo>
                  <a:pt x="4084932" y="505395"/>
                </a:lnTo>
                <a:lnTo>
                  <a:pt x="4117097" y="535278"/>
                </a:lnTo>
                <a:lnTo>
                  <a:pt x="4149262" y="565161"/>
                </a:lnTo>
                <a:lnTo>
                  <a:pt x="4181427" y="595043"/>
                </a:lnTo>
                <a:lnTo>
                  <a:pt x="4213591" y="624926"/>
                </a:lnTo>
                <a:lnTo>
                  <a:pt x="4245756" y="654809"/>
                </a:lnTo>
                <a:lnTo>
                  <a:pt x="4277921" y="684691"/>
                </a:lnTo>
                <a:lnTo>
                  <a:pt x="4310086" y="714574"/>
                </a:lnTo>
                <a:lnTo>
                  <a:pt x="4342251" y="744457"/>
                </a:lnTo>
                <a:lnTo>
                  <a:pt x="4374416" y="774340"/>
                </a:lnTo>
                <a:lnTo>
                  <a:pt x="4406580" y="804222"/>
                </a:lnTo>
                <a:lnTo>
                  <a:pt x="4438745" y="834105"/>
                </a:lnTo>
                <a:lnTo>
                  <a:pt x="4470910" y="863988"/>
                </a:lnTo>
                <a:lnTo>
                  <a:pt x="4503075" y="893870"/>
                </a:lnTo>
                <a:lnTo>
                  <a:pt x="4535240" y="923753"/>
                </a:lnTo>
                <a:lnTo>
                  <a:pt x="4567405" y="953636"/>
                </a:lnTo>
                <a:lnTo>
                  <a:pt x="4599569" y="983518"/>
                </a:lnTo>
                <a:lnTo>
                  <a:pt x="4631734" y="1013401"/>
                </a:lnTo>
                <a:lnTo>
                  <a:pt x="4663899" y="1043284"/>
                </a:lnTo>
                <a:lnTo>
                  <a:pt x="4696064" y="1073166"/>
                </a:lnTo>
                <a:lnTo>
                  <a:pt x="4728229" y="1103049"/>
                </a:lnTo>
                <a:lnTo>
                  <a:pt x="4760393" y="1132932"/>
                </a:lnTo>
                <a:lnTo>
                  <a:pt x="4792558" y="1162814"/>
                </a:lnTo>
                <a:lnTo>
                  <a:pt x="4824723" y="1192697"/>
                </a:lnTo>
                <a:lnTo>
                  <a:pt x="4856888" y="1222580"/>
                </a:lnTo>
                <a:lnTo>
                  <a:pt x="4889053" y="1252463"/>
                </a:lnTo>
                <a:lnTo>
                  <a:pt x="4921218" y="1282345"/>
                </a:lnTo>
                <a:lnTo>
                  <a:pt x="4953382" y="1312228"/>
                </a:lnTo>
                <a:lnTo>
                  <a:pt x="4985547" y="1342111"/>
                </a:lnTo>
                <a:lnTo>
                  <a:pt x="5017712" y="1371993"/>
                </a:lnTo>
                <a:lnTo>
                  <a:pt x="5049877" y="1401876"/>
                </a:lnTo>
                <a:lnTo>
                  <a:pt x="5082042" y="1431759"/>
                </a:lnTo>
                <a:lnTo>
                  <a:pt x="5114207" y="1461641"/>
                </a:lnTo>
                <a:lnTo>
                  <a:pt x="5146371" y="1491524"/>
                </a:lnTo>
                <a:lnTo>
                  <a:pt x="5178536" y="1521407"/>
                </a:lnTo>
                <a:lnTo>
                  <a:pt x="5210701" y="1551289"/>
                </a:lnTo>
                <a:lnTo>
                  <a:pt x="5242866" y="1581172"/>
                </a:lnTo>
                <a:lnTo>
                  <a:pt x="5275031" y="1611055"/>
                </a:lnTo>
                <a:lnTo>
                  <a:pt x="5307195" y="1640937"/>
                </a:lnTo>
                <a:lnTo>
                  <a:pt x="5339360" y="1670820"/>
                </a:lnTo>
                <a:lnTo>
                  <a:pt x="5371525" y="1700703"/>
                </a:lnTo>
                <a:lnTo>
                  <a:pt x="5403690" y="1730586"/>
                </a:lnTo>
                <a:lnTo>
                  <a:pt x="5435855" y="1760468"/>
                </a:lnTo>
                <a:lnTo>
                  <a:pt x="5468020" y="1790351"/>
                </a:lnTo>
                <a:lnTo>
                  <a:pt x="5500184" y="1820234"/>
                </a:lnTo>
                <a:lnTo>
                  <a:pt x="5532349" y="1850116"/>
                </a:lnTo>
                <a:lnTo>
                  <a:pt x="5564514" y="1879999"/>
                </a:lnTo>
                <a:lnTo>
                  <a:pt x="5596679" y="1909882"/>
                </a:lnTo>
                <a:lnTo>
                  <a:pt x="5628844" y="1939764"/>
                </a:lnTo>
                <a:lnTo>
                  <a:pt x="5661009" y="1969647"/>
                </a:lnTo>
                <a:lnTo>
                  <a:pt x="5693173" y="1999530"/>
                </a:lnTo>
                <a:lnTo>
                  <a:pt x="5725338" y="2029412"/>
                </a:lnTo>
                <a:lnTo>
                  <a:pt x="5757503" y="2059295"/>
                </a:lnTo>
                <a:lnTo>
                  <a:pt x="5789668" y="2089178"/>
                </a:lnTo>
                <a:lnTo>
                  <a:pt x="5821833" y="2119060"/>
                </a:lnTo>
                <a:lnTo>
                  <a:pt x="5853997" y="2148943"/>
                </a:lnTo>
                <a:lnTo>
                  <a:pt x="5886162" y="2178826"/>
                </a:lnTo>
                <a:lnTo>
                  <a:pt x="5918327" y="2208709"/>
                </a:lnTo>
                <a:lnTo>
                  <a:pt x="5950492" y="2238591"/>
                </a:lnTo>
                <a:lnTo>
                  <a:pt x="5982657" y="2268474"/>
                </a:lnTo>
                <a:lnTo>
                  <a:pt x="6014822" y="2298357"/>
                </a:lnTo>
                <a:lnTo>
                  <a:pt x="6046986" y="2328239"/>
                </a:lnTo>
                <a:lnTo>
                  <a:pt x="6079151" y="2358122"/>
                </a:lnTo>
                <a:lnTo>
                  <a:pt x="6111316" y="2388005"/>
                </a:lnTo>
                <a:lnTo>
                  <a:pt x="6143481" y="2417887"/>
                </a:lnTo>
                <a:lnTo>
                  <a:pt x="6175646" y="2447770"/>
                </a:lnTo>
                <a:lnTo>
                  <a:pt x="6207811" y="2477653"/>
                </a:lnTo>
                <a:lnTo>
                  <a:pt x="6239975" y="2507535"/>
                </a:lnTo>
                <a:lnTo>
                  <a:pt x="6272140" y="2537418"/>
                </a:lnTo>
                <a:lnTo>
                  <a:pt x="6304305" y="2567301"/>
                </a:lnTo>
                <a:lnTo>
                  <a:pt x="6336470" y="2597184"/>
                </a:lnTo>
                <a:lnTo>
                  <a:pt x="6368635" y="2627066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2-E26 ellipse 27" descr="sci-ppt:o027"/>
          <p:cNvSpPr/>
          <p:nvPr/>
        </p:nvSpPr>
        <p:spPr>
          <a:xfrm>
            <a:off x="4382188" y="216929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2-E26 rect 28" descr="sci-ppt:o028"/>
          <p:cNvSpPr/>
          <p:nvPr/>
        </p:nvSpPr>
        <p:spPr>
          <a:xfrm>
            <a:off x="4846320" y="1947672"/>
            <a:ext cx="274320" cy="1828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26 text 29" descr="sci-ppt:o029"/>
          <p:cNvSpPr txBox="1"/>
          <p:nvPr/>
        </p:nvSpPr>
        <p:spPr>
          <a:xfrm>
            <a:off x="5230368" y="1901952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40 °C: knee at 23 µm</a:t>
            </a:r>
          </a:p>
        </p:txBody>
      </p:sp>
      <p:sp>
        <p:nvSpPr>
          <p:cNvPr id="32" name="C2-E26 polygon 30" descr="sci-ppt:o030"/>
          <p:cNvSpPr/>
          <p:nvPr/>
        </p:nvSpPr>
        <p:spPr>
          <a:xfrm>
            <a:off x="914400" y="2007973"/>
            <a:ext cx="6368635" cy="2839070"/>
          </a:xfrm>
          <a:custGeom>
            <a:avLst/>
            <a:gdLst/>
            <a:ahLst/>
            <a:cxnLst/>
            <a:rect l="l" t="t" r="r" b="b"/>
            <a:pathLst>
              <a:path w="6368635" h="2839070">
                <a:moveTo>
                  <a:pt x="0" y="0"/>
                </a:moveTo>
                <a:lnTo>
                  <a:pt x="32164" y="0"/>
                </a:lnTo>
                <a:lnTo>
                  <a:pt x="64329" y="0"/>
                </a:lnTo>
                <a:lnTo>
                  <a:pt x="96494" y="0"/>
                </a:lnTo>
                <a:lnTo>
                  <a:pt x="128659" y="0"/>
                </a:lnTo>
                <a:lnTo>
                  <a:pt x="160824" y="0"/>
                </a:lnTo>
                <a:lnTo>
                  <a:pt x="192988" y="0"/>
                </a:lnTo>
                <a:lnTo>
                  <a:pt x="225153" y="0"/>
                </a:lnTo>
                <a:lnTo>
                  <a:pt x="257318" y="0"/>
                </a:lnTo>
                <a:lnTo>
                  <a:pt x="289483" y="0"/>
                </a:lnTo>
                <a:lnTo>
                  <a:pt x="321648" y="0"/>
                </a:lnTo>
                <a:lnTo>
                  <a:pt x="353813" y="0"/>
                </a:lnTo>
                <a:lnTo>
                  <a:pt x="385977" y="0"/>
                </a:lnTo>
                <a:lnTo>
                  <a:pt x="418142" y="0"/>
                </a:lnTo>
                <a:lnTo>
                  <a:pt x="450307" y="0"/>
                </a:lnTo>
                <a:lnTo>
                  <a:pt x="482472" y="0"/>
                </a:lnTo>
                <a:lnTo>
                  <a:pt x="514637" y="0"/>
                </a:lnTo>
                <a:lnTo>
                  <a:pt x="546802" y="0"/>
                </a:lnTo>
                <a:lnTo>
                  <a:pt x="578966" y="0"/>
                </a:lnTo>
                <a:lnTo>
                  <a:pt x="611131" y="0"/>
                </a:lnTo>
                <a:lnTo>
                  <a:pt x="643296" y="0"/>
                </a:lnTo>
                <a:lnTo>
                  <a:pt x="675461" y="0"/>
                </a:lnTo>
                <a:lnTo>
                  <a:pt x="707626" y="0"/>
                </a:lnTo>
                <a:lnTo>
                  <a:pt x="739790" y="0"/>
                </a:lnTo>
                <a:lnTo>
                  <a:pt x="771955" y="0"/>
                </a:lnTo>
                <a:lnTo>
                  <a:pt x="804120" y="0"/>
                </a:lnTo>
                <a:lnTo>
                  <a:pt x="836285" y="0"/>
                </a:lnTo>
                <a:lnTo>
                  <a:pt x="868450" y="0"/>
                </a:lnTo>
                <a:lnTo>
                  <a:pt x="900615" y="0"/>
                </a:lnTo>
                <a:lnTo>
                  <a:pt x="932779" y="0"/>
                </a:lnTo>
                <a:lnTo>
                  <a:pt x="964944" y="0"/>
                </a:lnTo>
                <a:lnTo>
                  <a:pt x="997109" y="0"/>
                </a:lnTo>
                <a:lnTo>
                  <a:pt x="1029274" y="0"/>
                </a:lnTo>
                <a:lnTo>
                  <a:pt x="1061439" y="0"/>
                </a:lnTo>
                <a:lnTo>
                  <a:pt x="1093604" y="0"/>
                </a:lnTo>
                <a:lnTo>
                  <a:pt x="1125768" y="0"/>
                </a:lnTo>
                <a:lnTo>
                  <a:pt x="1157933" y="0"/>
                </a:lnTo>
                <a:lnTo>
                  <a:pt x="1190098" y="0"/>
                </a:lnTo>
                <a:lnTo>
                  <a:pt x="1222263" y="0"/>
                </a:lnTo>
                <a:lnTo>
                  <a:pt x="1254428" y="0"/>
                </a:lnTo>
                <a:lnTo>
                  <a:pt x="1286592" y="0"/>
                </a:lnTo>
                <a:lnTo>
                  <a:pt x="1318757" y="0"/>
                </a:lnTo>
                <a:lnTo>
                  <a:pt x="1350922" y="0"/>
                </a:lnTo>
                <a:lnTo>
                  <a:pt x="1383087" y="0"/>
                </a:lnTo>
                <a:lnTo>
                  <a:pt x="1415252" y="0"/>
                </a:lnTo>
                <a:lnTo>
                  <a:pt x="1447417" y="0"/>
                </a:lnTo>
                <a:lnTo>
                  <a:pt x="1479581" y="0"/>
                </a:lnTo>
                <a:lnTo>
                  <a:pt x="1511746" y="0"/>
                </a:lnTo>
                <a:lnTo>
                  <a:pt x="1543911" y="0"/>
                </a:lnTo>
                <a:lnTo>
                  <a:pt x="1576076" y="0"/>
                </a:lnTo>
                <a:lnTo>
                  <a:pt x="1608241" y="0"/>
                </a:lnTo>
                <a:lnTo>
                  <a:pt x="1640406" y="0"/>
                </a:lnTo>
                <a:lnTo>
                  <a:pt x="1672570" y="0"/>
                </a:lnTo>
                <a:lnTo>
                  <a:pt x="1704735" y="0"/>
                </a:lnTo>
                <a:lnTo>
                  <a:pt x="1736900" y="0"/>
                </a:lnTo>
                <a:lnTo>
                  <a:pt x="1769065" y="0"/>
                </a:lnTo>
                <a:lnTo>
                  <a:pt x="1801230" y="0"/>
                </a:lnTo>
                <a:lnTo>
                  <a:pt x="1833394" y="0"/>
                </a:lnTo>
                <a:lnTo>
                  <a:pt x="1865559" y="0"/>
                </a:lnTo>
                <a:lnTo>
                  <a:pt x="1897724" y="0"/>
                </a:lnTo>
                <a:lnTo>
                  <a:pt x="1929889" y="0"/>
                </a:lnTo>
                <a:lnTo>
                  <a:pt x="1962054" y="0"/>
                </a:lnTo>
                <a:lnTo>
                  <a:pt x="1994219" y="0"/>
                </a:lnTo>
                <a:lnTo>
                  <a:pt x="2026383" y="0"/>
                </a:lnTo>
                <a:lnTo>
                  <a:pt x="2058548" y="0"/>
                </a:lnTo>
                <a:lnTo>
                  <a:pt x="2090713" y="0"/>
                </a:lnTo>
                <a:lnTo>
                  <a:pt x="2122878" y="0"/>
                </a:lnTo>
                <a:lnTo>
                  <a:pt x="2155043" y="0"/>
                </a:lnTo>
                <a:lnTo>
                  <a:pt x="2187208" y="0"/>
                </a:lnTo>
                <a:lnTo>
                  <a:pt x="2219372" y="0"/>
                </a:lnTo>
                <a:lnTo>
                  <a:pt x="2251537" y="0"/>
                </a:lnTo>
                <a:lnTo>
                  <a:pt x="2283702" y="0"/>
                </a:lnTo>
                <a:lnTo>
                  <a:pt x="2315867" y="0"/>
                </a:lnTo>
                <a:lnTo>
                  <a:pt x="2348032" y="0"/>
                </a:lnTo>
                <a:lnTo>
                  <a:pt x="2380196" y="0"/>
                </a:lnTo>
                <a:lnTo>
                  <a:pt x="2412361" y="0"/>
                </a:lnTo>
                <a:lnTo>
                  <a:pt x="2444526" y="0"/>
                </a:lnTo>
                <a:lnTo>
                  <a:pt x="2476691" y="0"/>
                </a:lnTo>
                <a:lnTo>
                  <a:pt x="2508856" y="0"/>
                </a:lnTo>
                <a:lnTo>
                  <a:pt x="2541021" y="0"/>
                </a:lnTo>
                <a:lnTo>
                  <a:pt x="2573185" y="0"/>
                </a:lnTo>
                <a:lnTo>
                  <a:pt x="2605350" y="0"/>
                </a:lnTo>
                <a:lnTo>
                  <a:pt x="2637515" y="0"/>
                </a:lnTo>
                <a:lnTo>
                  <a:pt x="2669680" y="0"/>
                </a:lnTo>
                <a:lnTo>
                  <a:pt x="2701845" y="0"/>
                </a:lnTo>
                <a:lnTo>
                  <a:pt x="2734010" y="0"/>
                </a:lnTo>
                <a:lnTo>
                  <a:pt x="2766174" y="0"/>
                </a:lnTo>
                <a:lnTo>
                  <a:pt x="2798339" y="0"/>
                </a:lnTo>
                <a:lnTo>
                  <a:pt x="2830504" y="0"/>
                </a:lnTo>
                <a:lnTo>
                  <a:pt x="2862669" y="0"/>
                </a:lnTo>
                <a:lnTo>
                  <a:pt x="2894834" y="0"/>
                </a:lnTo>
                <a:lnTo>
                  <a:pt x="2926998" y="0"/>
                </a:lnTo>
                <a:lnTo>
                  <a:pt x="2959163" y="0"/>
                </a:lnTo>
                <a:lnTo>
                  <a:pt x="2991328" y="0"/>
                </a:lnTo>
                <a:lnTo>
                  <a:pt x="3023493" y="0"/>
                </a:lnTo>
                <a:lnTo>
                  <a:pt x="3055658" y="0"/>
                </a:lnTo>
                <a:lnTo>
                  <a:pt x="3087823" y="0"/>
                </a:lnTo>
                <a:lnTo>
                  <a:pt x="3119987" y="0"/>
                </a:lnTo>
                <a:lnTo>
                  <a:pt x="3152152" y="0"/>
                </a:lnTo>
                <a:lnTo>
                  <a:pt x="3184317" y="0"/>
                </a:lnTo>
                <a:lnTo>
                  <a:pt x="3216482" y="0"/>
                </a:lnTo>
                <a:lnTo>
                  <a:pt x="3248647" y="0"/>
                </a:lnTo>
                <a:lnTo>
                  <a:pt x="3280812" y="0"/>
                </a:lnTo>
                <a:lnTo>
                  <a:pt x="3312976" y="214"/>
                </a:lnTo>
                <a:lnTo>
                  <a:pt x="3345141" y="30097"/>
                </a:lnTo>
                <a:lnTo>
                  <a:pt x="3377306" y="59980"/>
                </a:lnTo>
                <a:lnTo>
                  <a:pt x="3409471" y="89862"/>
                </a:lnTo>
                <a:lnTo>
                  <a:pt x="3441636" y="119745"/>
                </a:lnTo>
                <a:lnTo>
                  <a:pt x="3473801" y="149628"/>
                </a:lnTo>
                <a:lnTo>
                  <a:pt x="3505965" y="179511"/>
                </a:lnTo>
                <a:lnTo>
                  <a:pt x="3538130" y="209393"/>
                </a:lnTo>
                <a:lnTo>
                  <a:pt x="3570295" y="239276"/>
                </a:lnTo>
                <a:lnTo>
                  <a:pt x="3602460" y="269159"/>
                </a:lnTo>
                <a:lnTo>
                  <a:pt x="3634625" y="299041"/>
                </a:lnTo>
                <a:lnTo>
                  <a:pt x="3666789" y="328924"/>
                </a:lnTo>
                <a:lnTo>
                  <a:pt x="3698954" y="358807"/>
                </a:lnTo>
                <a:lnTo>
                  <a:pt x="3731119" y="388689"/>
                </a:lnTo>
                <a:lnTo>
                  <a:pt x="3763284" y="418572"/>
                </a:lnTo>
                <a:lnTo>
                  <a:pt x="3795449" y="448455"/>
                </a:lnTo>
                <a:lnTo>
                  <a:pt x="3827614" y="478337"/>
                </a:lnTo>
                <a:lnTo>
                  <a:pt x="3859778" y="508220"/>
                </a:lnTo>
                <a:lnTo>
                  <a:pt x="3891943" y="538103"/>
                </a:lnTo>
                <a:lnTo>
                  <a:pt x="3924108" y="567985"/>
                </a:lnTo>
                <a:lnTo>
                  <a:pt x="3956273" y="597868"/>
                </a:lnTo>
                <a:lnTo>
                  <a:pt x="3988438" y="627751"/>
                </a:lnTo>
                <a:lnTo>
                  <a:pt x="4020603" y="657634"/>
                </a:lnTo>
                <a:lnTo>
                  <a:pt x="4052767" y="687516"/>
                </a:lnTo>
                <a:lnTo>
                  <a:pt x="4084932" y="717399"/>
                </a:lnTo>
                <a:lnTo>
                  <a:pt x="4117097" y="747282"/>
                </a:lnTo>
                <a:lnTo>
                  <a:pt x="4149262" y="777164"/>
                </a:lnTo>
                <a:lnTo>
                  <a:pt x="4181427" y="807047"/>
                </a:lnTo>
                <a:lnTo>
                  <a:pt x="4213591" y="836930"/>
                </a:lnTo>
                <a:lnTo>
                  <a:pt x="4245756" y="866812"/>
                </a:lnTo>
                <a:lnTo>
                  <a:pt x="4277921" y="896695"/>
                </a:lnTo>
                <a:lnTo>
                  <a:pt x="4310086" y="926578"/>
                </a:lnTo>
                <a:lnTo>
                  <a:pt x="4342251" y="956460"/>
                </a:lnTo>
                <a:lnTo>
                  <a:pt x="4374416" y="986343"/>
                </a:lnTo>
                <a:lnTo>
                  <a:pt x="4406580" y="1016226"/>
                </a:lnTo>
                <a:lnTo>
                  <a:pt x="4438745" y="1046108"/>
                </a:lnTo>
                <a:lnTo>
                  <a:pt x="4470910" y="1075991"/>
                </a:lnTo>
                <a:lnTo>
                  <a:pt x="4503075" y="1105874"/>
                </a:lnTo>
                <a:lnTo>
                  <a:pt x="4535240" y="1135757"/>
                </a:lnTo>
                <a:lnTo>
                  <a:pt x="4567405" y="1165639"/>
                </a:lnTo>
                <a:lnTo>
                  <a:pt x="4599569" y="1195522"/>
                </a:lnTo>
                <a:lnTo>
                  <a:pt x="4631734" y="1225405"/>
                </a:lnTo>
                <a:lnTo>
                  <a:pt x="4663899" y="1255287"/>
                </a:lnTo>
                <a:lnTo>
                  <a:pt x="4696064" y="1285170"/>
                </a:lnTo>
                <a:lnTo>
                  <a:pt x="4728229" y="1315053"/>
                </a:lnTo>
                <a:lnTo>
                  <a:pt x="4760393" y="1344935"/>
                </a:lnTo>
                <a:lnTo>
                  <a:pt x="4792558" y="1374818"/>
                </a:lnTo>
                <a:lnTo>
                  <a:pt x="4824723" y="1404701"/>
                </a:lnTo>
                <a:lnTo>
                  <a:pt x="4856888" y="1434583"/>
                </a:lnTo>
                <a:lnTo>
                  <a:pt x="4889053" y="1464466"/>
                </a:lnTo>
                <a:lnTo>
                  <a:pt x="4921218" y="1494349"/>
                </a:lnTo>
                <a:lnTo>
                  <a:pt x="4953382" y="1524231"/>
                </a:lnTo>
                <a:lnTo>
                  <a:pt x="4985547" y="1554114"/>
                </a:lnTo>
                <a:lnTo>
                  <a:pt x="5017712" y="1583997"/>
                </a:lnTo>
                <a:lnTo>
                  <a:pt x="5049877" y="1613880"/>
                </a:lnTo>
                <a:lnTo>
                  <a:pt x="5082042" y="1643762"/>
                </a:lnTo>
                <a:lnTo>
                  <a:pt x="5114207" y="1673645"/>
                </a:lnTo>
                <a:lnTo>
                  <a:pt x="5146371" y="1703528"/>
                </a:lnTo>
                <a:lnTo>
                  <a:pt x="5178536" y="1733410"/>
                </a:lnTo>
                <a:lnTo>
                  <a:pt x="5210701" y="1763293"/>
                </a:lnTo>
                <a:lnTo>
                  <a:pt x="5242866" y="1793176"/>
                </a:lnTo>
                <a:lnTo>
                  <a:pt x="5275031" y="1823058"/>
                </a:lnTo>
                <a:lnTo>
                  <a:pt x="5307195" y="1852941"/>
                </a:lnTo>
                <a:lnTo>
                  <a:pt x="5339360" y="1882824"/>
                </a:lnTo>
                <a:lnTo>
                  <a:pt x="5371525" y="1912706"/>
                </a:lnTo>
                <a:lnTo>
                  <a:pt x="5403690" y="1942589"/>
                </a:lnTo>
                <a:lnTo>
                  <a:pt x="5435855" y="1972472"/>
                </a:lnTo>
                <a:lnTo>
                  <a:pt x="5468020" y="2002354"/>
                </a:lnTo>
                <a:lnTo>
                  <a:pt x="5500184" y="2032237"/>
                </a:lnTo>
                <a:lnTo>
                  <a:pt x="5532349" y="2062120"/>
                </a:lnTo>
                <a:lnTo>
                  <a:pt x="5564514" y="2092003"/>
                </a:lnTo>
                <a:lnTo>
                  <a:pt x="5596679" y="2121885"/>
                </a:lnTo>
                <a:lnTo>
                  <a:pt x="5628844" y="2151768"/>
                </a:lnTo>
                <a:lnTo>
                  <a:pt x="5661009" y="2181651"/>
                </a:lnTo>
                <a:lnTo>
                  <a:pt x="5693173" y="2211533"/>
                </a:lnTo>
                <a:lnTo>
                  <a:pt x="5725338" y="2241416"/>
                </a:lnTo>
                <a:lnTo>
                  <a:pt x="5757503" y="2271299"/>
                </a:lnTo>
                <a:lnTo>
                  <a:pt x="5789668" y="2301181"/>
                </a:lnTo>
                <a:lnTo>
                  <a:pt x="5821833" y="2331064"/>
                </a:lnTo>
                <a:lnTo>
                  <a:pt x="5853997" y="2360947"/>
                </a:lnTo>
                <a:lnTo>
                  <a:pt x="5886162" y="2390829"/>
                </a:lnTo>
                <a:lnTo>
                  <a:pt x="5918327" y="2420712"/>
                </a:lnTo>
                <a:lnTo>
                  <a:pt x="5950492" y="2450595"/>
                </a:lnTo>
                <a:lnTo>
                  <a:pt x="5982657" y="2480477"/>
                </a:lnTo>
                <a:lnTo>
                  <a:pt x="6014822" y="2510360"/>
                </a:lnTo>
                <a:lnTo>
                  <a:pt x="6046986" y="2540243"/>
                </a:lnTo>
                <a:lnTo>
                  <a:pt x="6079151" y="2570126"/>
                </a:lnTo>
                <a:lnTo>
                  <a:pt x="6111316" y="2600008"/>
                </a:lnTo>
                <a:lnTo>
                  <a:pt x="6143481" y="2629891"/>
                </a:lnTo>
                <a:lnTo>
                  <a:pt x="6175646" y="2659774"/>
                </a:lnTo>
                <a:lnTo>
                  <a:pt x="6207811" y="2689656"/>
                </a:lnTo>
                <a:lnTo>
                  <a:pt x="6239975" y="2719539"/>
                </a:lnTo>
                <a:lnTo>
                  <a:pt x="6272140" y="2749422"/>
                </a:lnTo>
                <a:lnTo>
                  <a:pt x="6304305" y="2779304"/>
                </a:lnTo>
                <a:lnTo>
                  <a:pt x="6336470" y="2809187"/>
                </a:lnTo>
                <a:lnTo>
                  <a:pt x="6368635" y="283907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26 ellipse 31" descr="sci-ppt:o031"/>
          <p:cNvSpPr/>
          <p:nvPr/>
        </p:nvSpPr>
        <p:spPr>
          <a:xfrm>
            <a:off x="4153994" y="1934821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26 rect 32" descr="sci-ppt:o032"/>
          <p:cNvSpPr/>
          <p:nvPr/>
        </p:nvSpPr>
        <p:spPr>
          <a:xfrm>
            <a:off x="4846320" y="1600200"/>
            <a:ext cx="274320" cy="1828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2-E26 text 33" descr="sci-ppt:o033"/>
          <p:cNvSpPr txBox="1"/>
          <p:nvPr/>
        </p:nvSpPr>
        <p:spPr>
          <a:xfrm>
            <a:off x="5230368" y="155448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50 °C: knee at 21 µm</a:t>
            </a:r>
          </a:p>
        </p:txBody>
      </p:sp>
      <p:sp>
        <p:nvSpPr>
          <p:cNvPr id="36" name="C2-E26 text 34" descr="sci-ppt:o034"/>
          <p:cNvSpPr txBox="1"/>
          <p:nvPr/>
        </p:nvSpPr>
        <p:spPr>
          <a:xfrm>
            <a:off x="1122071" y="2454101"/>
            <a:ext cx="20116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liquid still present: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p = pₛₐₜ(T)</a:t>
            </a:r>
          </a:p>
        </p:txBody>
      </p:sp>
      <p:sp>
        <p:nvSpPr>
          <p:cNvPr id="37" name="C2-E26 text 35" descr="sci-ppt:o035"/>
          <p:cNvSpPr txBox="1"/>
          <p:nvPr/>
        </p:nvSpPr>
        <p:spPr>
          <a:xfrm>
            <a:off x="1764332" y="3889425"/>
            <a:ext cx="31089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inventory exhausted: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p = mR_uT/(MV) falls as 1/R³</a:t>
            </a:r>
          </a:p>
        </p:txBody>
      </p:sp>
      <p:sp>
        <p:nvSpPr>
          <p:cNvPr id="38" name="C2-E26 round_rect 36" descr="sci-ppt:o036"/>
          <p:cNvSpPr/>
          <p:nvPr/>
        </p:nvSpPr>
        <p:spPr>
          <a:xfrm>
            <a:off x="7589520" y="1371600"/>
            <a:ext cx="42519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26 text 37" descr="sci-ppt:o037"/>
          <p:cNvSpPr txBox="1"/>
          <p:nvPr/>
        </p:nvSpPr>
        <p:spPr>
          <a:xfrm>
            <a:off x="7699248" y="1426464"/>
            <a:ext cx="4032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min[ saturation, inventory ]</a:t>
            </a:r>
          </a:p>
        </p:txBody>
      </p:sp>
      <p:sp>
        <p:nvSpPr>
          <p:cNvPr id="40" name="C2-E26 text 38" descr="sci-ppt:o038"/>
          <p:cNvSpPr txBox="1"/>
          <p:nvPr/>
        </p:nvSpPr>
        <p:spPr>
          <a:xfrm>
            <a:off x="7726679" y="1828800"/>
            <a:ext cx="40233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pᵥ,eq = min[ pₛₐₜ(T_b),  m_PFC,0 Rᵤ T_b /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(M_PFC V_b) ]</a:t>
            </a:r>
          </a:p>
        </p:txBody>
      </p:sp>
      <p:sp>
        <p:nvSpPr>
          <p:cNvPr id="41" name="C2-E26 text 39" descr="sci-ppt:o039"/>
          <p:cNvSpPr txBox="1"/>
          <p:nvPr/>
        </p:nvSpPr>
        <p:spPr>
          <a:xfrm>
            <a:off x="7927848" y="2606040"/>
            <a:ext cx="38221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Until all liquid evaporates the pressure is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pinned at pₛₐₜ.</a:t>
            </a:r>
          </a:p>
        </p:txBody>
      </p:sp>
      <p:sp>
        <p:nvSpPr>
          <p:cNvPr id="42" name="C2-E26 ellipse 40" descr="sci-ppt:o040"/>
          <p:cNvSpPr/>
          <p:nvPr/>
        </p:nvSpPr>
        <p:spPr>
          <a:xfrm>
            <a:off x="7758683" y="26593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26 text 41" descr="sci-ppt:o041"/>
          <p:cNvSpPr txBox="1"/>
          <p:nvPr/>
        </p:nvSpPr>
        <p:spPr>
          <a:xfrm>
            <a:off x="7927848" y="3069336"/>
            <a:ext cx="38221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After that the finite inventory cannot supply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more vapor, so p falls as the bubble grows.</a:t>
            </a:r>
          </a:p>
        </p:txBody>
      </p:sp>
      <p:sp>
        <p:nvSpPr>
          <p:cNvPr id="44" name="C2-E26 ellipse 42" descr="sci-ppt:o042"/>
          <p:cNvSpPr/>
          <p:nvPr/>
        </p:nvSpPr>
        <p:spPr>
          <a:xfrm>
            <a:off x="7758683" y="312267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2-E26 text 43" descr="sci-ppt:o043"/>
          <p:cNvSpPr txBox="1"/>
          <p:nvPr/>
        </p:nvSpPr>
        <p:spPr>
          <a:xfrm>
            <a:off x="7927848" y="3532631"/>
            <a:ext cx="38221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Assumes a closed, non-dissolving supply and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fast mass exchange.</a:t>
            </a:r>
          </a:p>
        </p:txBody>
      </p:sp>
      <p:sp>
        <p:nvSpPr>
          <p:cNvPr id="46" name="C2-E26 ellipse 44" descr="sci-ppt:o044"/>
          <p:cNvSpPr/>
          <p:nvPr/>
        </p:nvSpPr>
        <p:spPr>
          <a:xfrm>
            <a:off x="7758683" y="358597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26 text 45" descr="sci-ppt:o045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Equilibrium benchmark for the 0.8535 ng inventory of a 5 µm core at two prescribed temperatures.</a:t>
            </a:r>
          </a:p>
        </p:txBody>
      </p:sp>
      <p:sp>
        <p:nvSpPr>
          <p:cNvPr id="48" name="C2-E26 text 46" descr="sci-ppt:o04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Finite-inventory benchmark of Eq. C2-E26 with pₛₐₜ from Eq. C2-E12.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C2-E27 · Finite-mass worked calculation</a:t>
            </a:r>
          </a:p>
        </p:txBody>
      </p:sp>
      <p:cxnSp>
        <p:nvCxnSpPr>
          <p:cNvPr id="3" name="C2-E27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27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27 line 3" descr="sci-ppt:o003"/>
          <p:cNvCxnSpPr/>
          <p:nvPr/>
        </p:nvCxnSpPr>
        <p:spPr>
          <a:xfrm>
            <a:off x="190513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27 line 4" descr="sci-ppt:o004"/>
          <p:cNvCxnSpPr/>
          <p:nvPr/>
        </p:nvCxnSpPr>
        <p:spPr>
          <a:xfrm>
            <a:off x="190513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27 text 5" descr="sci-ppt:o005"/>
          <p:cNvSpPr txBox="1"/>
          <p:nvPr/>
        </p:nvSpPr>
        <p:spPr>
          <a:xfrm>
            <a:off x="144793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1e-06</a:t>
            </a:r>
          </a:p>
        </p:txBody>
      </p:sp>
      <p:cxnSp>
        <p:nvCxnSpPr>
          <p:cNvPr id="8" name="C2-E27 line 6" descr="sci-ppt:o006"/>
          <p:cNvCxnSpPr/>
          <p:nvPr/>
        </p:nvCxnSpPr>
        <p:spPr>
          <a:xfrm>
            <a:off x="519628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27 line 7" descr="sci-ppt:o007"/>
          <p:cNvCxnSpPr/>
          <p:nvPr/>
        </p:nvCxnSpPr>
        <p:spPr>
          <a:xfrm>
            <a:off x="519628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27 text 8" descr="sci-ppt:o008"/>
          <p:cNvSpPr txBox="1"/>
          <p:nvPr/>
        </p:nvSpPr>
        <p:spPr>
          <a:xfrm>
            <a:off x="473908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cxnSp>
        <p:nvCxnSpPr>
          <p:cNvPr id="11" name="C2-E27 line 9" descr="sci-ppt:o009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27 line 10" descr="sci-ppt:o010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27 text 11" descr="sci-ppt:o011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1e-15</a:t>
            </a:r>
          </a:p>
        </p:txBody>
      </p:sp>
      <p:cxnSp>
        <p:nvCxnSpPr>
          <p:cNvPr id="14" name="C2-E27 line 12" descr="sci-ppt:o012"/>
          <p:cNvCxnSpPr/>
          <p:nvPr/>
        </p:nvCxnSpPr>
        <p:spPr>
          <a:xfrm>
            <a:off x="850392" y="4297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27 line 13" descr="sci-ppt:o013"/>
          <p:cNvCxnSpPr/>
          <p:nvPr/>
        </p:nvCxnSpPr>
        <p:spPr>
          <a:xfrm>
            <a:off x="914400" y="429768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27 text 14" descr="sci-ppt:o014"/>
          <p:cNvSpPr txBox="1"/>
          <p:nvPr/>
        </p:nvSpPr>
        <p:spPr>
          <a:xfrm>
            <a:off x="45720" y="4215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1e-14</a:t>
            </a:r>
          </a:p>
        </p:txBody>
      </p:sp>
      <p:cxnSp>
        <p:nvCxnSpPr>
          <p:cNvPr id="17" name="C2-E27 line 15" descr="sci-ppt:o015"/>
          <p:cNvCxnSpPr/>
          <p:nvPr/>
        </p:nvCxnSpPr>
        <p:spPr>
          <a:xfrm>
            <a:off x="850392" y="3566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27 line 16" descr="sci-ppt:o016"/>
          <p:cNvCxnSpPr/>
          <p:nvPr/>
        </p:nvCxnSpPr>
        <p:spPr>
          <a:xfrm>
            <a:off x="914400" y="356616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27 text 17" descr="sci-ppt:o017"/>
          <p:cNvSpPr txBox="1"/>
          <p:nvPr/>
        </p:nvSpPr>
        <p:spPr>
          <a:xfrm>
            <a:off x="45720" y="3483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1e-13</a:t>
            </a:r>
          </a:p>
        </p:txBody>
      </p:sp>
      <p:cxnSp>
        <p:nvCxnSpPr>
          <p:cNvPr id="20" name="C2-E27 line 18" descr="sci-ppt:o018"/>
          <p:cNvCxnSpPr/>
          <p:nvPr/>
        </p:nvCxnSpPr>
        <p:spPr>
          <a:xfrm>
            <a:off x="850392" y="28346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27 line 19" descr="sci-ppt:o019"/>
          <p:cNvCxnSpPr/>
          <p:nvPr/>
        </p:nvCxnSpPr>
        <p:spPr>
          <a:xfrm>
            <a:off x="914400" y="283464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27 text 20" descr="sci-ppt:o020"/>
          <p:cNvSpPr txBox="1"/>
          <p:nvPr/>
        </p:nvSpPr>
        <p:spPr>
          <a:xfrm>
            <a:off x="45720" y="27523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1e-12</a:t>
            </a:r>
          </a:p>
        </p:txBody>
      </p:sp>
      <p:cxnSp>
        <p:nvCxnSpPr>
          <p:cNvPr id="23" name="C2-E27 line 21" descr="sci-ppt:o021"/>
          <p:cNvCxnSpPr/>
          <p:nvPr/>
        </p:nvCxnSpPr>
        <p:spPr>
          <a:xfrm>
            <a:off x="850392" y="2103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27 line 22" descr="sci-ppt:o022"/>
          <p:cNvCxnSpPr/>
          <p:nvPr/>
        </p:nvCxnSpPr>
        <p:spPr>
          <a:xfrm>
            <a:off x="914400" y="210312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27 text 23" descr="sci-ppt:o023"/>
          <p:cNvSpPr txBox="1"/>
          <p:nvPr/>
        </p:nvSpPr>
        <p:spPr>
          <a:xfrm>
            <a:off x="45720" y="20208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1e-11</a:t>
            </a:r>
          </a:p>
        </p:txBody>
      </p:sp>
      <p:cxnSp>
        <p:nvCxnSpPr>
          <p:cNvPr id="26" name="C2-E27 line 24" descr="sci-ppt:o024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27 line 25" descr="sci-ppt:o025"/>
          <p:cNvCxnSpPr/>
          <p:nvPr/>
        </p:nvCxnSpPr>
        <p:spPr>
          <a:xfrm>
            <a:off x="914400" y="13716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27 text 26" descr="sci-ppt:o026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1e-10</a:t>
            </a:r>
          </a:p>
        </p:txBody>
      </p:sp>
      <p:sp>
        <p:nvSpPr>
          <p:cNvPr id="29" name="C2-E27 text 27" descr="sci-ppt:o027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core radius a  (m)</a:t>
            </a:r>
          </a:p>
        </p:txBody>
      </p:sp>
      <p:sp>
        <p:nvSpPr>
          <p:cNvPr id="30" name="C2-E27 text 28" descr="sci-ppt:o028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PFC mass  (kg)</a:t>
            </a:r>
          </a:p>
        </p:txBody>
      </p:sp>
      <p:sp>
        <p:nvSpPr>
          <p:cNvPr id="31" name="C2-E27 polygon 29" descr="sci-ppt:o029"/>
          <p:cNvSpPr/>
          <p:nvPr/>
        </p:nvSpPr>
        <p:spPr>
          <a:xfrm>
            <a:off x="1030819" y="1384210"/>
            <a:ext cx="5425408" cy="3617699"/>
          </a:xfrm>
          <a:custGeom>
            <a:avLst/>
            <a:gdLst/>
            <a:ahLst/>
            <a:cxnLst/>
            <a:rect l="l" t="t" r="r" b="b"/>
            <a:pathLst>
              <a:path w="5425408" h="3617699">
                <a:moveTo>
                  <a:pt x="0" y="3617699"/>
                </a:moveTo>
                <a:lnTo>
                  <a:pt x="56514" y="3580015"/>
                </a:lnTo>
                <a:lnTo>
                  <a:pt x="113029" y="3542330"/>
                </a:lnTo>
                <a:lnTo>
                  <a:pt x="169544" y="3504646"/>
                </a:lnTo>
                <a:lnTo>
                  <a:pt x="226058" y="3466962"/>
                </a:lnTo>
                <a:lnTo>
                  <a:pt x="282573" y="3429277"/>
                </a:lnTo>
                <a:lnTo>
                  <a:pt x="339088" y="3391593"/>
                </a:lnTo>
                <a:lnTo>
                  <a:pt x="395602" y="3353908"/>
                </a:lnTo>
                <a:lnTo>
                  <a:pt x="452117" y="3316224"/>
                </a:lnTo>
                <a:lnTo>
                  <a:pt x="508632" y="3278540"/>
                </a:lnTo>
                <a:lnTo>
                  <a:pt x="565146" y="3240855"/>
                </a:lnTo>
                <a:lnTo>
                  <a:pt x="621661" y="3203171"/>
                </a:lnTo>
                <a:lnTo>
                  <a:pt x="678176" y="3165487"/>
                </a:lnTo>
                <a:lnTo>
                  <a:pt x="734690" y="3127802"/>
                </a:lnTo>
                <a:lnTo>
                  <a:pt x="791205" y="3090118"/>
                </a:lnTo>
                <a:lnTo>
                  <a:pt x="847720" y="3052434"/>
                </a:lnTo>
                <a:lnTo>
                  <a:pt x="904234" y="3014749"/>
                </a:lnTo>
                <a:lnTo>
                  <a:pt x="960749" y="2977065"/>
                </a:lnTo>
                <a:lnTo>
                  <a:pt x="1017264" y="2939380"/>
                </a:lnTo>
                <a:lnTo>
                  <a:pt x="1073779" y="2901696"/>
                </a:lnTo>
                <a:lnTo>
                  <a:pt x="1130293" y="2864012"/>
                </a:lnTo>
                <a:lnTo>
                  <a:pt x="1186808" y="2826327"/>
                </a:lnTo>
                <a:lnTo>
                  <a:pt x="1243323" y="2788643"/>
                </a:lnTo>
                <a:lnTo>
                  <a:pt x="1299837" y="2750959"/>
                </a:lnTo>
                <a:lnTo>
                  <a:pt x="1356352" y="2713274"/>
                </a:lnTo>
                <a:lnTo>
                  <a:pt x="1412867" y="2675590"/>
                </a:lnTo>
                <a:lnTo>
                  <a:pt x="1469381" y="2637906"/>
                </a:lnTo>
                <a:lnTo>
                  <a:pt x="1525896" y="2600221"/>
                </a:lnTo>
                <a:lnTo>
                  <a:pt x="1582411" y="2562537"/>
                </a:lnTo>
                <a:lnTo>
                  <a:pt x="1638925" y="2524852"/>
                </a:lnTo>
                <a:lnTo>
                  <a:pt x="1695440" y="2487168"/>
                </a:lnTo>
                <a:lnTo>
                  <a:pt x="1751955" y="2449484"/>
                </a:lnTo>
                <a:lnTo>
                  <a:pt x="1808469" y="2411799"/>
                </a:lnTo>
                <a:lnTo>
                  <a:pt x="1864984" y="2374115"/>
                </a:lnTo>
                <a:lnTo>
                  <a:pt x="1921499" y="2336431"/>
                </a:lnTo>
                <a:lnTo>
                  <a:pt x="1978013" y="2298746"/>
                </a:lnTo>
                <a:lnTo>
                  <a:pt x="2034528" y="2261062"/>
                </a:lnTo>
                <a:lnTo>
                  <a:pt x="2091043" y="2223378"/>
                </a:lnTo>
                <a:lnTo>
                  <a:pt x="2147557" y="2185693"/>
                </a:lnTo>
                <a:lnTo>
                  <a:pt x="2204072" y="2148009"/>
                </a:lnTo>
                <a:lnTo>
                  <a:pt x="2260587" y="2110324"/>
                </a:lnTo>
                <a:lnTo>
                  <a:pt x="2317101" y="2072640"/>
                </a:lnTo>
                <a:lnTo>
                  <a:pt x="2373616" y="2034956"/>
                </a:lnTo>
                <a:lnTo>
                  <a:pt x="2430131" y="1997271"/>
                </a:lnTo>
                <a:lnTo>
                  <a:pt x="2486645" y="1959587"/>
                </a:lnTo>
                <a:lnTo>
                  <a:pt x="2543160" y="1921903"/>
                </a:lnTo>
                <a:lnTo>
                  <a:pt x="2599675" y="1884218"/>
                </a:lnTo>
                <a:lnTo>
                  <a:pt x="2656189" y="1846534"/>
                </a:lnTo>
                <a:lnTo>
                  <a:pt x="2712704" y="1808850"/>
                </a:lnTo>
                <a:lnTo>
                  <a:pt x="2769219" y="1771165"/>
                </a:lnTo>
                <a:lnTo>
                  <a:pt x="2825733" y="1733481"/>
                </a:lnTo>
                <a:lnTo>
                  <a:pt x="2882248" y="1695796"/>
                </a:lnTo>
                <a:lnTo>
                  <a:pt x="2938763" y="1658112"/>
                </a:lnTo>
                <a:lnTo>
                  <a:pt x="2995277" y="1620428"/>
                </a:lnTo>
                <a:lnTo>
                  <a:pt x="3051792" y="1582743"/>
                </a:lnTo>
                <a:lnTo>
                  <a:pt x="3108307" y="1545059"/>
                </a:lnTo>
                <a:lnTo>
                  <a:pt x="3164821" y="1507375"/>
                </a:lnTo>
                <a:lnTo>
                  <a:pt x="3221336" y="1469690"/>
                </a:lnTo>
                <a:lnTo>
                  <a:pt x="3277851" y="1432006"/>
                </a:lnTo>
                <a:lnTo>
                  <a:pt x="3334365" y="1394322"/>
                </a:lnTo>
                <a:lnTo>
                  <a:pt x="3390880" y="1356637"/>
                </a:lnTo>
                <a:lnTo>
                  <a:pt x="3447395" y="1318953"/>
                </a:lnTo>
                <a:lnTo>
                  <a:pt x="3503909" y="1281268"/>
                </a:lnTo>
                <a:lnTo>
                  <a:pt x="3560424" y="1243584"/>
                </a:lnTo>
                <a:lnTo>
                  <a:pt x="3616939" y="1205900"/>
                </a:lnTo>
                <a:lnTo>
                  <a:pt x="3673453" y="1168215"/>
                </a:lnTo>
                <a:lnTo>
                  <a:pt x="3729968" y="1130531"/>
                </a:lnTo>
                <a:lnTo>
                  <a:pt x="3786483" y="1092847"/>
                </a:lnTo>
                <a:lnTo>
                  <a:pt x="3842997" y="1055162"/>
                </a:lnTo>
                <a:lnTo>
                  <a:pt x="3899512" y="1017478"/>
                </a:lnTo>
                <a:lnTo>
                  <a:pt x="3956027" y="979794"/>
                </a:lnTo>
                <a:lnTo>
                  <a:pt x="4012541" y="942109"/>
                </a:lnTo>
                <a:lnTo>
                  <a:pt x="4069056" y="904425"/>
                </a:lnTo>
                <a:lnTo>
                  <a:pt x="4125571" y="866740"/>
                </a:lnTo>
                <a:lnTo>
                  <a:pt x="4182086" y="829056"/>
                </a:lnTo>
                <a:lnTo>
                  <a:pt x="4238600" y="791372"/>
                </a:lnTo>
                <a:lnTo>
                  <a:pt x="4295115" y="753687"/>
                </a:lnTo>
                <a:lnTo>
                  <a:pt x="4351630" y="716003"/>
                </a:lnTo>
                <a:lnTo>
                  <a:pt x="4408144" y="678319"/>
                </a:lnTo>
                <a:lnTo>
                  <a:pt x="4464659" y="640634"/>
                </a:lnTo>
                <a:lnTo>
                  <a:pt x="4521174" y="602950"/>
                </a:lnTo>
                <a:lnTo>
                  <a:pt x="4577688" y="565266"/>
                </a:lnTo>
                <a:lnTo>
                  <a:pt x="4634203" y="527581"/>
                </a:lnTo>
                <a:lnTo>
                  <a:pt x="4690718" y="489897"/>
                </a:lnTo>
                <a:lnTo>
                  <a:pt x="4747232" y="452212"/>
                </a:lnTo>
                <a:lnTo>
                  <a:pt x="4803747" y="414528"/>
                </a:lnTo>
                <a:lnTo>
                  <a:pt x="4860262" y="376844"/>
                </a:lnTo>
                <a:lnTo>
                  <a:pt x="4916776" y="339159"/>
                </a:lnTo>
                <a:lnTo>
                  <a:pt x="4973291" y="301475"/>
                </a:lnTo>
                <a:lnTo>
                  <a:pt x="5029806" y="263791"/>
                </a:lnTo>
                <a:lnTo>
                  <a:pt x="5086320" y="226106"/>
                </a:lnTo>
                <a:lnTo>
                  <a:pt x="5142835" y="188422"/>
                </a:lnTo>
                <a:lnTo>
                  <a:pt x="5199350" y="150738"/>
                </a:lnTo>
                <a:lnTo>
                  <a:pt x="5255864" y="113053"/>
                </a:lnTo>
                <a:lnTo>
                  <a:pt x="5312379" y="75369"/>
                </a:lnTo>
                <a:lnTo>
                  <a:pt x="5368894" y="37684"/>
                </a:lnTo>
                <a:lnTo>
                  <a:pt x="5425408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2-E27 ellipse 30" descr="sci-ppt:o030"/>
          <p:cNvSpPr/>
          <p:nvPr/>
        </p:nvSpPr>
        <p:spPr>
          <a:xfrm>
            <a:off x="1831982" y="4345758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27 text 31" descr="sci-ppt:o031"/>
          <p:cNvSpPr txBox="1"/>
          <p:nvPr/>
        </p:nvSpPr>
        <p:spPr>
          <a:xfrm>
            <a:off x="2014862" y="3961710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1 µm: 0.006828 ng</a:t>
            </a:r>
          </a:p>
        </p:txBody>
      </p:sp>
      <p:sp>
        <p:nvSpPr>
          <p:cNvPr id="34" name="C2-E27 ellipse 32" descr="sci-ppt:o032"/>
          <p:cNvSpPr/>
          <p:nvPr/>
        </p:nvSpPr>
        <p:spPr>
          <a:xfrm>
            <a:off x="4132396" y="281182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2-E27 text 33" descr="sci-ppt:o033"/>
          <p:cNvSpPr txBox="1"/>
          <p:nvPr/>
        </p:nvSpPr>
        <p:spPr>
          <a:xfrm>
            <a:off x="4315276" y="2994706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5 µm: 0.8535 ng</a:t>
            </a:r>
          </a:p>
        </p:txBody>
      </p:sp>
      <p:sp>
        <p:nvSpPr>
          <p:cNvPr id="36" name="C2-E27 ellipse 34" descr="sci-ppt:o034"/>
          <p:cNvSpPr/>
          <p:nvPr/>
        </p:nvSpPr>
        <p:spPr>
          <a:xfrm>
            <a:off x="5123131" y="215119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27 text 35" descr="sci-ppt:o035"/>
          <p:cNvSpPr txBox="1"/>
          <p:nvPr/>
        </p:nvSpPr>
        <p:spPr>
          <a:xfrm>
            <a:off x="3047443" y="1767150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10 µm: 6.828 ng</a:t>
            </a:r>
          </a:p>
        </p:txBody>
      </p:sp>
      <p:sp>
        <p:nvSpPr>
          <p:cNvPr id="38" name="C2-E27 round_rect 36" descr="sci-ppt:o036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27 text 37" descr="sci-ppt:o037"/>
          <p:cNvSpPr txBox="1"/>
          <p:nvPr/>
        </p:nvSpPr>
        <p:spPr>
          <a:xfrm>
            <a:off x="7150608" y="1426464"/>
            <a:ext cx="45811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Start every ledger from the real volume</a:t>
            </a:r>
          </a:p>
        </p:txBody>
      </p:sp>
      <p:sp>
        <p:nvSpPr>
          <p:cNvPr id="40" name="C2-E27 text 38" descr="sci-ppt:o038"/>
          <p:cNvSpPr txBox="1"/>
          <p:nvPr/>
        </p:nvSpPr>
        <p:spPr>
          <a:xfrm>
            <a:off x="7178040" y="1828800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m_PFC,0 = (4π/3)(1630)(5×10⁻⁶)³</a:t>
            </a:r>
          </a:p>
        </p:txBody>
      </p:sp>
      <p:sp>
        <p:nvSpPr>
          <p:cNvPr id="41" name="C2-E27 text 39" descr="sci-ppt:o039"/>
          <p:cNvSpPr txBox="1"/>
          <p:nvPr/>
        </p:nvSpPr>
        <p:spPr>
          <a:xfrm>
            <a:off x="7178040" y="2331720"/>
            <a:ext cx="457200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= 8.5347×10⁻¹³ kg = 0.8535 ng</a:t>
            </a:r>
          </a:p>
        </p:txBody>
      </p:sp>
      <p:sp>
        <p:nvSpPr>
          <p:cNvPr id="42" name="C2-E27 ellipse 40" descr="sci-ppt:o040"/>
          <p:cNvSpPr/>
          <p:nvPr/>
        </p:nvSpPr>
        <p:spPr>
          <a:xfrm>
            <a:off x="7406640" y="2926079"/>
            <a:ext cx="1645920" cy="1645920"/>
          </a:xfrm>
          <a:prstGeom prst="ellipse">
            <a:avLst/>
          </a:prstGeom>
          <a:solidFill>
            <a:srgbClr val="1E4A5A"/>
          </a:solidFill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27 text 41" descr="sci-ppt:o041"/>
          <p:cNvSpPr txBox="1"/>
          <p:nvPr/>
        </p:nvSpPr>
        <p:spPr>
          <a:xfrm>
            <a:off x="7315200" y="3611880"/>
            <a:ext cx="1828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5 µm</a:t>
            </a:r>
          </a:p>
        </p:txBody>
      </p:sp>
      <p:sp>
        <p:nvSpPr>
          <p:cNvPr id="44" name="C2-E27 text 42" descr="sci-ppt:o042"/>
          <p:cNvSpPr txBox="1"/>
          <p:nvPr/>
        </p:nvSpPr>
        <p:spPr>
          <a:xfrm>
            <a:off x="9326880" y="3291840"/>
            <a:ext cx="23774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about 0.85 nanogram,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fixed, finite budget</a:t>
            </a:r>
          </a:p>
        </p:txBody>
      </p:sp>
      <p:sp>
        <p:nvSpPr>
          <p:cNvPr id="45" name="C2-E27 text 43" descr="sci-ppt:o043"/>
          <p:cNvSpPr txBox="1"/>
          <p:nvPr/>
        </p:nvSpPr>
        <p:spPr>
          <a:xfrm>
            <a:off x="914400" y="5733288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Mass scales as a³: a 10 µm core carries eight times as much PFC as a 5 µm core. Every later vapor amount is bounded by this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number.</a:t>
            </a:r>
          </a:p>
        </p:txBody>
      </p:sp>
      <p:sp>
        <p:nvSpPr>
          <p:cNvPr id="46" name="C2-E27 text 44" descr="sci-ppt:o04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Initial PFC mass of Eq. C2-E27 (ρ_d = 1630 kg/m³).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C2-E28 · Declared preparation-path enthalpy estimate</a:t>
            </a:r>
          </a:p>
        </p:txBody>
      </p:sp>
      <p:sp>
        <p:nvSpPr>
          <p:cNvPr id="3" name="C2-E28 round_rect 1" descr="sci-ppt:o001"/>
          <p:cNvSpPr/>
          <p:nvPr/>
        </p:nvSpPr>
        <p:spPr>
          <a:xfrm>
            <a:off x="365760" y="914400"/>
            <a:ext cx="548640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28 text 2" descr="sci-ppt:o002"/>
          <p:cNvSpPr txBox="1"/>
          <p:nvPr/>
        </p:nvSpPr>
        <p:spPr>
          <a:xfrm>
            <a:off x="475488" y="9692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Enthalpy path (schematic)</a:t>
            </a:r>
          </a:p>
        </p:txBody>
      </p:sp>
      <p:cxnSp>
        <p:nvCxnSpPr>
          <p:cNvPr id="5" name="C2-E28 arrow 3" descr="sci-ppt:o003"/>
          <p:cNvCxnSpPr/>
          <p:nvPr/>
        </p:nvCxnSpPr>
        <p:spPr>
          <a:xfrm flipV="1">
            <a:off x="914400" y="1645920"/>
            <a:ext cx="0" cy="3383280"/>
          </a:xfrm>
          <a:prstGeom prst="line">
            <a:avLst/>
          </a:prstGeom>
          <a:ln w="1905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6" name="C2-E28 arrow 4" descr="sci-ppt:o004"/>
          <p:cNvCxnSpPr/>
          <p:nvPr/>
        </p:nvCxnSpPr>
        <p:spPr>
          <a:xfrm>
            <a:off x="914400" y="5029200"/>
            <a:ext cx="4572000" cy="0"/>
          </a:xfrm>
          <a:prstGeom prst="line">
            <a:avLst/>
          </a:prstGeom>
          <a:ln w="1905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2-E28 text 5" descr="sci-ppt:o005"/>
          <p:cNvSpPr txBox="1"/>
          <p:nvPr/>
        </p:nvSpPr>
        <p:spPr>
          <a:xfrm>
            <a:off x="1005840" y="1463040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enthalpy H</a:t>
            </a:r>
          </a:p>
        </p:txBody>
      </p:sp>
      <p:sp>
        <p:nvSpPr>
          <p:cNvPr id="8" name="C2-E28 text 6" descr="sci-ppt:o006"/>
          <p:cNvSpPr txBox="1"/>
          <p:nvPr/>
        </p:nvSpPr>
        <p:spPr>
          <a:xfrm>
            <a:off x="4572000" y="50749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</a:t>
            </a:r>
          </a:p>
        </p:txBody>
      </p:sp>
      <p:cxnSp>
        <p:nvCxnSpPr>
          <p:cNvPr id="9" name="C2-E28 line 7" descr="sci-ppt:o007"/>
          <p:cNvCxnSpPr/>
          <p:nvPr/>
        </p:nvCxnSpPr>
        <p:spPr>
          <a:xfrm flipV="1">
            <a:off x="1280160" y="3931920"/>
            <a:ext cx="1828800" cy="640080"/>
          </a:xfrm>
          <a:prstGeom prst="line">
            <a:avLst/>
          </a:prstGeom>
          <a:ln w="50800">
            <a:solidFill>
              <a:srgbClr val="7FC8F8"/>
            </a:solidFill>
          </a:ln>
          <a:effectLst/>
        </p:spPr>
      </p:cxnSp>
      <p:cxnSp>
        <p:nvCxnSpPr>
          <p:cNvPr id="10" name="C2-E28 line 8" descr="sci-ppt:o008"/>
          <p:cNvCxnSpPr/>
          <p:nvPr/>
        </p:nvCxnSpPr>
        <p:spPr>
          <a:xfrm flipV="1">
            <a:off x="3108960" y="2468880"/>
            <a:ext cx="0" cy="1463040"/>
          </a:xfrm>
          <a:prstGeom prst="line">
            <a:avLst/>
          </a:prstGeom>
          <a:ln w="50800">
            <a:solidFill>
              <a:srgbClr val="F28BA0"/>
            </a:solidFill>
          </a:ln>
          <a:effectLst/>
        </p:spPr>
      </p:cxnSp>
      <p:sp>
        <p:nvSpPr>
          <p:cNvPr id="11" name="C2-E28 text 9" descr="sci-ppt:o009"/>
          <p:cNvSpPr txBox="1"/>
          <p:nvPr/>
        </p:nvSpPr>
        <p:spPr>
          <a:xfrm>
            <a:off x="1371600" y="4480560"/>
            <a:ext cx="21945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sensible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293 → 323 K</a:t>
            </a:r>
          </a:p>
        </p:txBody>
      </p:sp>
      <p:sp>
        <p:nvSpPr>
          <p:cNvPr id="12" name="C2-E28 text 10" descr="sci-ppt:o010"/>
          <p:cNvSpPr txBox="1"/>
          <p:nvPr/>
        </p:nvSpPr>
        <p:spPr>
          <a:xfrm>
            <a:off x="3246120" y="301752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latent step Lᵥ</a:t>
            </a:r>
          </a:p>
        </p:txBody>
      </p:sp>
      <p:sp>
        <p:nvSpPr>
          <p:cNvPr id="13" name="C2-E28 ellipse 11" descr="sci-ppt:o011"/>
          <p:cNvSpPr/>
          <p:nvPr/>
        </p:nvSpPr>
        <p:spPr>
          <a:xfrm>
            <a:off x="1216151" y="4507992"/>
            <a:ext cx="128016" cy="128016"/>
          </a:xfrm>
          <a:prstGeom prst="ellipse">
            <a:avLst/>
          </a:prstGeom>
          <a:solidFill>
            <a:srgbClr val="B4C7D2"/>
          </a:solidFill>
          <a:ln w="1270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28 ellipse 12" descr="sci-ppt:o012"/>
          <p:cNvSpPr/>
          <p:nvPr/>
        </p:nvSpPr>
        <p:spPr>
          <a:xfrm>
            <a:off x="3044952" y="2404872"/>
            <a:ext cx="128016" cy="128016"/>
          </a:xfrm>
          <a:prstGeom prst="ellipse">
            <a:avLst/>
          </a:prstGeom>
          <a:solidFill>
            <a:srgbClr val="B4C7D2"/>
          </a:solidFill>
          <a:ln w="1270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28 text 13" descr="sci-ppt:o013"/>
          <p:cNvSpPr txBox="1"/>
          <p:nvPr/>
        </p:nvSpPr>
        <p:spPr>
          <a:xfrm>
            <a:off x="502920" y="5303520"/>
            <a:ext cx="52120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Constant-property estimate: heat the liquid to T*, then add one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latent step.</a:t>
            </a:r>
          </a:p>
        </p:txBody>
      </p:sp>
      <p:sp>
        <p:nvSpPr>
          <p:cNvPr id="16" name="C2-E28 text 14" descr="sci-ppt:o014"/>
          <p:cNvSpPr txBox="1"/>
          <p:nvPr/>
        </p:nvSpPr>
        <p:spPr>
          <a:xfrm>
            <a:off x="6217920" y="960120"/>
            <a:ext cx="557784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Energy to prepare the PFC (nJ)</a:t>
            </a:r>
          </a:p>
        </p:txBody>
      </p:sp>
      <p:sp>
        <p:nvSpPr>
          <p:cNvPr id="17" name="C2-E28 text 15" descr="sci-ppt:o015"/>
          <p:cNvSpPr txBox="1"/>
          <p:nvPr/>
        </p:nvSpPr>
        <p:spPr>
          <a:xfrm>
            <a:off x="6217920" y="1572768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sensible  m cₚ (T* − T₀)</a:t>
            </a:r>
          </a:p>
        </p:txBody>
      </p:sp>
      <p:sp>
        <p:nvSpPr>
          <p:cNvPr id="18" name="C2-E28 rect 16" descr="sci-ppt:o016"/>
          <p:cNvSpPr/>
          <p:nvPr/>
        </p:nvSpPr>
        <p:spPr>
          <a:xfrm>
            <a:off x="8595360" y="1554480"/>
            <a:ext cx="292312" cy="45720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2-E28 text 17" descr="sci-ppt:o017"/>
          <p:cNvSpPr txBox="1"/>
          <p:nvPr/>
        </p:nvSpPr>
        <p:spPr>
          <a:xfrm>
            <a:off x="8960824" y="160020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16.75 nJ</a:t>
            </a:r>
          </a:p>
        </p:txBody>
      </p:sp>
      <p:sp>
        <p:nvSpPr>
          <p:cNvPr id="20" name="C2-E28 text 18" descr="sci-ppt:o018"/>
          <p:cNvSpPr txBox="1"/>
          <p:nvPr/>
        </p:nvSpPr>
        <p:spPr>
          <a:xfrm>
            <a:off x="6217920" y="2304288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latent  m Lᵥ</a:t>
            </a:r>
          </a:p>
        </p:txBody>
      </p:sp>
      <p:sp>
        <p:nvSpPr>
          <p:cNvPr id="21" name="C2-E28 rect 19" descr="sci-ppt:o019"/>
          <p:cNvSpPr/>
          <p:nvPr/>
        </p:nvSpPr>
        <p:spPr>
          <a:xfrm>
            <a:off x="8595360" y="2286000"/>
            <a:ext cx="1415378" cy="45720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28 text 20" descr="sci-ppt:o020"/>
          <p:cNvSpPr txBox="1"/>
          <p:nvPr/>
        </p:nvSpPr>
        <p:spPr>
          <a:xfrm>
            <a:off x="10083890" y="23317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81.08 nJ</a:t>
            </a:r>
          </a:p>
        </p:txBody>
      </p:sp>
      <p:sp>
        <p:nvSpPr>
          <p:cNvPr id="23" name="C2-E28 text 21" descr="sci-ppt:o021"/>
          <p:cNvSpPr txBox="1"/>
          <p:nvPr/>
        </p:nvSpPr>
        <p:spPr>
          <a:xfrm>
            <a:off x="6217920" y="3035808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total  Qₚᵣₑₚ</a:t>
            </a:r>
          </a:p>
        </p:txBody>
      </p:sp>
      <p:sp>
        <p:nvSpPr>
          <p:cNvPr id="24" name="C2-E28 rect 22" descr="sci-ppt:o022"/>
          <p:cNvSpPr/>
          <p:nvPr/>
        </p:nvSpPr>
        <p:spPr>
          <a:xfrm>
            <a:off x="8595360" y="3017520"/>
            <a:ext cx="1707691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28 text 23" descr="sci-ppt:o023"/>
          <p:cNvSpPr txBox="1"/>
          <p:nvPr/>
        </p:nvSpPr>
        <p:spPr>
          <a:xfrm>
            <a:off x="10376203" y="3063239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97.82 nJ</a:t>
            </a:r>
          </a:p>
        </p:txBody>
      </p:sp>
      <p:sp>
        <p:nvSpPr>
          <p:cNvPr id="26" name="C2-E28 text 24" descr="sci-ppt:o024"/>
          <p:cNvSpPr txBox="1"/>
          <p:nvPr/>
        </p:nvSpPr>
        <p:spPr>
          <a:xfrm>
            <a:off x="6217920" y="3749039"/>
            <a:ext cx="557784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16.745 + 81.079 = 97.824 nJ</a:t>
            </a:r>
          </a:p>
        </p:txBody>
      </p:sp>
      <p:sp>
        <p:nvSpPr>
          <p:cNvPr id="27" name="C2-E28 text 25" descr="sci-ppt:o025"/>
          <p:cNvSpPr txBox="1"/>
          <p:nvPr/>
        </p:nvSpPr>
        <p:spPr>
          <a:xfrm>
            <a:off x="6217920" y="4251960"/>
            <a:ext cx="55778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Latent heat is 83 % of this estimate, so evaporating the droplet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costs far more than warming it.</a:t>
            </a:r>
          </a:p>
        </p:txBody>
      </p:sp>
      <p:sp>
        <p:nvSpPr>
          <p:cNvPr id="28" name="C2-E28 text 26" descr="sci-ppt:o026"/>
          <p:cNvSpPr txBox="1"/>
          <p:nvPr/>
        </p:nvSpPr>
        <p:spPr>
          <a:xfrm>
            <a:off x="914400" y="5943600"/>
            <a:ext cx="10972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Inputs: m = 0.8535 ng, cₚ = 654 J/(kg K), Lᵥ = 95 kJ/kg, T₀ = 293 K, T* = 323 K (declared, constant-property).</a:t>
            </a:r>
          </a:p>
        </p:txBody>
      </p:sp>
      <p:sp>
        <p:nvSpPr>
          <p:cNvPr id="29" name="C2-E28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Preparation-path estimate of Eq. C2-E28.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C2-E29 · Refined constant-pressure enthalpy path</a:t>
            </a:r>
          </a:p>
        </p:txBody>
      </p:sp>
      <p:sp>
        <p:nvSpPr>
          <p:cNvPr id="3" name="C2-E29 text 1" descr="sci-ppt:o001"/>
          <p:cNvSpPr txBox="1"/>
          <p:nvPr/>
        </p:nvSpPr>
        <p:spPr>
          <a:xfrm>
            <a:off x="457200" y="914400"/>
            <a:ext cx="6858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Specific enthalpy gained along the constant-pressure path (kJ/kg)</a:t>
            </a:r>
          </a:p>
        </p:txBody>
      </p:sp>
      <p:cxnSp>
        <p:nvCxnSpPr>
          <p:cNvPr id="4" name="C2-E29 line 2" descr="sci-ppt:o002"/>
          <p:cNvCxnSpPr/>
          <p:nvPr/>
        </p:nvCxnSpPr>
        <p:spPr>
          <a:xfrm>
            <a:off x="914400" y="4983480"/>
            <a:ext cx="61264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29 line 3" descr="sci-ppt:o003"/>
          <p:cNvCxnSpPr/>
          <p:nvPr/>
        </p:nvCxnSpPr>
        <p:spPr>
          <a:xfrm>
            <a:off x="914400" y="169164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C2-E29 line 4" descr="sci-ppt:o004"/>
          <p:cNvCxnSpPr/>
          <p:nvPr/>
        </p:nvCxnSpPr>
        <p:spPr>
          <a:xfrm>
            <a:off x="914400" y="49834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2-E29 line 5" descr="sci-ppt:o005"/>
          <p:cNvCxnSpPr/>
          <p:nvPr/>
        </p:nvCxnSpPr>
        <p:spPr>
          <a:xfrm>
            <a:off x="914400" y="169164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C2-E29 text 6" descr="sci-ppt:o006"/>
          <p:cNvSpPr txBox="1"/>
          <p:nvPr/>
        </p:nvSpPr>
        <p:spPr>
          <a:xfrm>
            <a:off x="457200" y="50657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290</a:t>
            </a:r>
          </a:p>
        </p:txBody>
      </p:sp>
      <p:cxnSp>
        <p:nvCxnSpPr>
          <p:cNvPr id="9" name="C2-E29 line 7" descr="sci-ppt:o007"/>
          <p:cNvCxnSpPr/>
          <p:nvPr/>
        </p:nvCxnSpPr>
        <p:spPr>
          <a:xfrm>
            <a:off x="2616200" y="49834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2-E29 line 8" descr="sci-ppt:o008"/>
          <p:cNvCxnSpPr/>
          <p:nvPr/>
        </p:nvCxnSpPr>
        <p:spPr>
          <a:xfrm>
            <a:off x="2616200" y="169164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C2-E29 text 9" descr="sci-ppt:o009"/>
          <p:cNvSpPr txBox="1"/>
          <p:nvPr/>
        </p:nvSpPr>
        <p:spPr>
          <a:xfrm>
            <a:off x="2159000" y="50657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cxnSp>
        <p:nvCxnSpPr>
          <p:cNvPr id="12" name="C2-E29 line 10" descr="sci-ppt:o010"/>
          <p:cNvCxnSpPr/>
          <p:nvPr/>
        </p:nvCxnSpPr>
        <p:spPr>
          <a:xfrm>
            <a:off x="4318000" y="49834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2-E29 line 11" descr="sci-ppt:o011"/>
          <p:cNvCxnSpPr/>
          <p:nvPr/>
        </p:nvCxnSpPr>
        <p:spPr>
          <a:xfrm>
            <a:off x="4318000" y="169164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C2-E29 text 12" descr="sci-ppt:o012"/>
          <p:cNvSpPr txBox="1"/>
          <p:nvPr/>
        </p:nvSpPr>
        <p:spPr>
          <a:xfrm>
            <a:off x="3860800" y="50657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310</a:t>
            </a:r>
          </a:p>
        </p:txBody>
      </p:sp>
      <p:cxnSp>
        <p:nvCxnSpPr>
          <p:cNvPr id="15" name="C2-E29 line 13" descr="sci-ppt:o013"/>
          <p:cNvCxnSpPr/>
          <p:nvPr/>
        </p:nvCxnSpPr>
        <p:spPr>
          <a:xfrm>
            <a:off x="6019800" y="49834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2-E29 line 14" descr="sci-ppt:o014"/>
          <p:cNvCxnSpPr/>
          <p:nvPr/>
        </p:nvCxnSpPr>
        <p:spPr>
          <a:xfrm>
            <a:off x="6019800" y="169164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2-E29 text 15" descr="sci-ppt:o015"/>
          <p:cNvSpPr txBox="1"/>
          <p:nvPr/>
        </p:nvSpPr>
        <p:spPr>
          <a:xfrm>
            <a:off x="5562600" y="50657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320</a:t>
            </a:r>
          </a:p>
        </p:txBody>
      </p:sp>
      <p:cxnSp>
        <p:nvCxnSpPr>
          <p:cNvPr id="18" name="C2-E29 line 16" descr="sci-ppt:o016"/>
          <p:cNvCxnSpPr/>
          <p:nvPr/>
        </p:nvCxnSpPr>
        <p:spPr>
          <a:xfrm>
            <a:off x="850392" y="4983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2-E29 line 17" descr="sci-ppt:o017"/>
          <p:cNvCxnSpPr/>
          <p:nvPr/>
        </p:nvCxnSpPr>
        <p:spPr>
          <a:xfrm>
            <a:off x="850392" y="432511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2-E29 line 18" descr="sci-ppt:o018"/>
          <p:cNvCxnSpPr/>
          <p:nvPr/>
        </p:nvCxnSpPr>
        <p:spPr>
          <a:xfrm>
            <a:off x="914400" y="4325112"/>
            <a:ext cx="61264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1" name="C2-E29 text 19" descr="sci-ppt:o019"/>
          <p:cNvSpPr txBox="1"/>
          <p:nvPr/>
        </p:nvSpPr>
        <p:spPr>
          <a:xfrm>
            <a:off x="45720" y="424281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</a:t>
            </a:r>
          </a:p>
        </p:txBody>
      </p:sp>
      <p:cxnSp>
        <p:nvCxnSpPr>
          <p:cNvPr id="22" name="C2-E29 line 20" descr="sci-ppt:o020"/>
          <p:cNvCxnSpPr/>
          <p:nvPr/>
        </p:nvCxnSpPr>
        <p:spPr>
          <a:xfrm>
            <a:off x="850392" y="366674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2-E29 line 21" descr="sci-ppt:o021"/>
          <p:cNvCxnSpPr/>
          <p:nvPr/>
        </p:nvCxnSpPr>
        <p:spPr>
          <a:xfrm>
            <a:off x="914400" y="3666744"/>
            <a:ext cx="61264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2-E29 text 22" descr="sci-ppt:o022"/>
          <p:cNvSpPr txBox="1"/>
          <p:nvPr/>
        </p:nvSpPr>
        <p:spPr>
          <a:xfrm>
            <a:off x="45720" y="35844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</a:t>
            </a:r>
          </a:p>
        </p:txBody>
      </p:sp>
      <p:cxnSp>
        <p:nvCxnSpPr>
          <p:cNvPr id="25" name="C2-E29 line 23" descr="sci-ppt:o023"/>
          <p:cNvCxnSpPr/>
          <p:nvPr/>
        </p:nvCxnSpPr>
        <p:spPr>
          <a:xfrm>
            <a:off x="850392" y="300837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2-E29 line 24" descr="sci-ppt:o024"/>
          <p:cNvCxnSpPr/>
          <p:nvPr/>
        </p:nvCxnSpPr>
        <p:spPr>
          <a:xfrm>
            <a:off x="914400" y="3008376"/>
            <a:ext cx="61264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7" name="C2-E29 text 25" descr="sci-ppt:o025"/>
          <p:cNvSpPr txBox="1"/>
          <p:nvPr/>
        </p:nvSpPr>
        <p:spPr>
          <a:xfrm>
            <a:off x="45720" y="292608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75</a:t>
            </a:r>
          </a:p>
        </p:txBody>
      </p:sp>
      <p:cxnSp>
        <p:nvCxnSpPr>
          <p:cNvPr id="28" name="C2-E29 line 26" descr="sci-ppt:o026"/>
          <p:cNvCxnSpPr/>
          <p:nvPr/>
        </p:nvCxnSpPr>
        <p:spPr>
          <a:xfrm>
            <a:off x="850392" y="235000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2-E29 line 27" descr="sci-ppt:o027"/>
          <p:cNvCxnSpPr/>
          <p:nvPr/>
        </p:nvCxnSpPr>
        <p:spPr>
          <a:xfrm>
            <a:off x="914400" y="2350008"/>
            <a:ext cx="61264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0" name="C2-E29 text 28" descr="sci-ppt:o028"/>
          <p:cNvSpPr txBox="1"/>
          <p:nvPr/>
        </p:nvSpPr>
        <p:spPr>
          <a:xfrm>
            <a:off x="45720" y="226771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31" name="C2-E29 line 29" descr="sci-ppt:o029"/>
          <p:cNvCxnSpPr/>
          <p:nvPr/>
        </p:nvCxnSpPr>
        <p:spPr>
          <a:xfrm>
            <a:off x="850392" y="16916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2-E29 line 30" descr="sci-ppt:o030"/>
          <p:cNvCxnSpPr/>
          <p:nvPr/>
        </p:nvCxnSpPr>
        <p:spPr>
          <a:xfrm>
            <a:off x="914400" y="1691640"/>
            <a:ext cx="61264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3" name="C2-E29 text 31" descr="sci-ppt:o031"/>
          <p:cNvSpPr txBox="1"/>
          <p:nvPr/>
        </p:nvSpPr>
        <p:spPr>
          <a:xfrm>
            <a:off x="45720" y="16093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125</a:t>
            </a:r>
          </a:p>
        </p:txBody>
      </p:sp>
      <p:sp>
        <p:nvSpPr>
          <p:cNvPr id="34" name="C2-E29 text 32" descr="sci-ppt:o032"/>
          <p:cNvSpPr txBox="1"/>
          <p:nvPr/>
        </p:nvSpPr>
        <p:spPr>
          <a:xfrm>
            <a:off x="914400" y="5266944"/>
            <a:ext cx="6126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T  (K)</a:t>
            </a:r>
          </a:p>
        </p:txBody>
      </p:sp>
      <p:sp>
        <p:nvSpPr>
          <p:cNvPr id="35" name="C2-E29 text 33" descr="sci-ppt:o033"/>
          <p:cNvSpPr txBox="1"/>
          <p:nvPr/>
        </p:nvSpPr>
        <p:spPr>
          <a:xfrm>
            <a:off x="365760" y="1344168"/>
            <a:ext cx="6126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H − H₀  (kJ/kg)</a:t>
            </a:r>
          </a:p>
        </p:txBody>
      </p:sp>
      <p:sp>
        <p:nvSpPr>
          <p:cNvPr id="36" name="C2-E29 polygon 34" descr="sci-ppt:o034"/>
          <p:cNvSpPr/>
          <p:nvPr/>
        </p:nvSpPr>
        <p:spPr>
          <a:xfrm>
            <a:off x="1450466" y="4829272"/>
            <a:ext cx="1523731" cy="154208"/>
          </a:xfrm>
          <a:custGeom>
            <a:avLst/>
            <a:gdLst/>
            <a:ahLst/>
            <a:cxnLst/>
            <a:rect l="l" t="t" r="r" b="b"/>
            <a:pathLst>
              <a:path w="1523731" h="154208">
                <a:moveTo>
                  <a:pt x="0" y="154208"/>
                </a:moveTo>
                <a:lnTo>
                  <a:pt x="80197" y="146091"/>
                </a:lnTo>
                <a:lnTo>
                  <a:pt x="160393" y="137975"/>
                </a:lnTo>
                <a:lnTo>
                  <a:pt x="240590" y="129859"/>
                </a:lnTo>
                <a:lnTo>
                  <a:pt x="320786" y="121743"/>
                </a:lnTo>
                <a:lnTo>
                  <a:pt x="400982" y="113627"/>
                </a:lnTo>
                <a:lnTo>
                  <a:pt x="481179" y="105510"/>
                </a:lnTo>
                <a:lnTo>
                  <a:pt x="561375" y="97394"/>
                </a:lnTo>
                <a:lnTo>
                  <a:pt x="641571" y="89278"/>
                </a:lnTo>
                <a:lnTo>
                  <a:pt x="721768" y="81162"/>
                </a:lnTo>
                <a:lnTo>
                  <a:pt x="801964" y="73046"/>
                </a:lnTo>
                <a:lnTo>
                  <a:pt x="882160" y="64929"/>
                </a:lnTo>
                <a:lnTo>
                  <a:pt x="962357" y="56813"/>
                </a:lnTo>
                <a:lnTo>
                  <a:pt x="1042553" y="48697"/>
                </a:lnTo>
                <a:lnTo>
                  <a:pt x="1122750" y="40581"/>
                </a:lnTo>
                <a:lnTo>
                  <a:pt x="1202946" y="32465"/>
                </a:lnTo>
                <a:lnTo>
                  <a:pt x="1283142" y="24348"/>
                </a:lnTo>
                <a:lnTo>
                  <a:pt x="1363339" y="16232"/>
                </a:lnTo>
                <a:lnTo>
                  <a:pt x="1443535" y="8116"/>
                </a:lnTo>
                <a:lnTo>
                  <a:pt x="1523731" y="0"/>
                </a:lnTo>
              </a:path>
            </a:pathLst>
          </a:custGeom>
          <a:noFill/>
          <a:ln w="4318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2-E29 line 35" descr="sci-ppt:o035"/>
          <p:cNvCxnSpPr/>
          <p:nvPr/>
        </p:nvCxnSpPr>
        <p:spPr>
          <a:xfrm flipV="1">
            <a:off x="2974197" y="2327473"/>
            <a:ext cx="0" cy="2501799"/>
          </a:xfrm>
          <a:prstGeom prst="line">
            <a:avLst/>
          </a:prstGeom>
          <a:ln w="43180">
            <a:solidFill>
              <a:srgbClr val="F28BA0"/>
            </a:solidFill>
          </a:ln>
          <a:effectLst/>
        </p:spPr>
      </p:cxnSp>
      <p:sp>
        <p:nvSpPr>
          <p:cNvPr id="38" name="C2-E29 polygon 36" descr="sci-ppt:o036"/>
          <p:cNvSpPr/>
          <p:nvPr/>
        </p:nvSpPr>
        <p:spPr>
          <a:xfrm>
            <a:off x="2974197" y="1828648"/>
            <a:ext cx="3581669" cy="498825"/>
          </a:xfrm>
          <a:custGeom>
            <a:avLst/>
            <a:gdLst/>
            <a:ahLst/>
            <a:cxnLst/>
            <a:rect l="l" t="t" r="r" b="b"/>
            <a:pathLst>
              <a:path w="3581669" h="498825">
                <a:moveTo>
                  <a:pt x="0" y="498825"/>
                </a:moveTo>
                <a:lnTo>
                  <a:pt x="188509" y="472571"/>
                </a:lnTo>
                <a:lnTo>
                  <a:pt x="377018" y="446317"/>
                </a:lnTo>
                <a:lnTo>
                  <a:pt x="565527" y="420064"/>
                </a:lnTo>
                <a:lnTo>
                  <a:pt x="754036" y="393810"/>
                </a:lnTo>
                <a:lnTo>
                  <a:pt x="942545" y="367556"/>
                </a:lnTo>
                <a:lnTo>
                  <a:pt x="1131054" y="341302"/>
                </a:lnTo>
                <a:lnTo>
                  <a:pt x="1319563" y="315048"/>
                </a:lnTo>
                <a:lnTo>
                  <a:pt x="1508072" y="288794"/>
                </a:lnTo>
                <a:lnTo>
                  <a:pt x="1696580" y="262540"/>
                </a:lnTo>
                <a:lnTo>
                  <a:pt x="1885089" y="236286"/>
                </a:lnTo>
                <a:lnTo>
                  <a:pt x="2073598" y="210032"/>
                </a:lnTo>
                <a:lnTo>
                  <a:pt x="2262107" y="183778"/>
                </a:lnTo>
                <a:lnTo>
                  <a:pt x="2450616" y="157524"/>
                </a:lnTo>
                <a:lnTo>
                  <a:pt x="2639125" y="131270"/>
                </a:lnTo>
                <a:lnTo>
                  <a:pt x="2827634" y="105016"/>
                </a:lnTo>
                <a:lnTo>
                  <a:pt x="3016143" y="78762"/>
                </a:lnTo>
                <a:lnTo>
                  <a:pt x="3204652" y="52508"/>
                </a:lnTo>
                <a:lnTo>
                  <a:pt x="3393161" y="26254"/>
                </a:lnTo>
                <a:lnTo>
                  <a:pt x="3581669" y="0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29 text 37" descr="sci-ppt:o037"/>
          <p:cNvSpPr txBox="1"/>
          <p:nvPr/>
        </p:nvSpPr>
        <p:spPr>
          <a:xfrm>
            <a:off x="1498092" y="4576023"/>
            <a:ext cx="25603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7FC8F8"/>
                </a:solidFill>
                <a:latin typeface="Arial"/>
              </a:rPr>
              <a:t>liquid: cₚ,l = 654 J/(kg K)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7FC8F8"/>
                </a:solidFill>
                <a:latin typeface="Arial"/>
              </a:rPr>
              <a:t>to Tₛₐₜ = 302.1 K</a:t>
            </a:r>
          </a:p>
        </p:txBody>
      </p:sp>
      <p:sp>
        <p:nvSpPr>
          <p:cNvPr id="40" name="C2-E29 text 38" descr="sci-ppt:o038"/>
          <p:cNvSpPr txBox="1"/>
          <p:nvPr/>
        </p:nvSpPr>
        <p:spPr>
          <a:xfrm>
            <a:off x="3083925" y="3443630"/>
            <a:ext cx="16459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latent step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Lᵥ = 95 kJ/kg</a:t>
            </a:r>
          </a:p>
        </p:txBody>
      </p:sp>
      <p:sp>
        <p:nvSpPr>
          <p:cNvPr id="41" name="C2-E29 text 39" descr="sci-ppt:o039"/>
          <p:cNvSpPr txBox="1"/>
          <p:nvPr/>
        </p:nvSpPr>
        <p:spPr>
          <a:xfrm>
            <a:off x="4561332" y="1784543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vapor: cₚ,v (assumed 0.9 kJ/(kg K))</a:t>
            </a:r>
          </a:p>
        </p:txBody>
      </p:sp>
      <p:sp>
        <p:nvSpPr>
          <p:cNvPr id="42" name="C2-E29 round_rect 40" descr="sci-ppt:o040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29 text 41" descr="sci-ppt:o041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Each phase uses its own cₚ</a:t>
            </a:r>
          </a:p>
        </p:txBody>
      </p:sp>
      <p:sp>
        <p:nvSpPr>
          <p:cNvPr id="44" name="C2-E29 text 42" descr="sci-ppt:o042"/>
          <p:cNvSpPr txBox="1"/>
          <p:nvPr/>
        </p:nvSpPr>
        <p:spPr>
          <a:xfrm>
            <a:off x="7452360" y="1828800"/>
            <a:ext cx="4297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Qᵢₛₒ = m [ ∫cₚ,l dT + Lᵥ(Tₛₐₜ, p) + ∫cₚ,v dT ]</a:t>
            </a:r>
          </a:p>
        </p:txBody>
      </p:sp>
      <p:sp>
        <p:nvSpPr>
          <p:cNvPr id="45" name="C2-E29 text 43" descr="sci-ppt:o043"/>
          <p:cNvSpPr txBox="1"/>
          <p:nvPr/>
        </p:nvSpPr>
        <p:spPr>
          <a:xfrm>
            <a:off x="7653528" y="2606040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Liquid heating stops at Tₛₐₜ = 302.1 K (1 bar),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not at T*.</a:t>
            </a:r>
          </a:p>
        </p:txBody>
      </p:sp>
      <p:sp>
        <p:nvSpPr>
          <p:cNvPr id="46" name="C2-E29 ellipse 44" descr="sci-ppt:o044"/>
          <p:cNvSpPr/>
          <p:nvPr/>
        </p:nvSpPr>
        <p:spPr>
          <a:xfrm>
            <a:off x="7484364" y="26593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29 text 45" descr="sci-ppt:o045"/>
          <p:cNvSpPr txBox="1"/>
          <p:nvPr/>
        </p:nvSpPr>
        <p:spPr>
          <a:xfrm>
            <a:off x="7653528" y="3069336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Vapor heating from Tₛₐₜ to T* uses cₚ,v, 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different number.</a:t>
            </a:r>
          </a:p>
        </p:txBody>
      </p:sp>
      <p:sp>
        <p:nvSpPr>
          <p:cNvPr id="48" name="C2-E29 ellipse 46" descr="sci-ppt:o046"/>
          <p:cNvSpPr/>
          <p:nvPr/>
        </p:nvSpPr>
        <p:spPr>
          <a:xfrm>
            <a:off x="7484364" y="312267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2-E29 text 47" descr="sci-ppt:o047"/>
          <p:cNvSpPr txBox="1"/>
          <p:nvPr/>
        </p:nvSpPr>
        <p:spPr>
          <a:xfrm>
            <a:off x="7653528" y="3532631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earlier estimate heated the liquid all the way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to T*.</a:t>
            </a:r>
          </a:p>
        </p:txBody>
      </p:sp>
      <p:sp>
        <p:nvSpPr>
          <p:cNvPr id="50" name="C2-E29 ellipse 48" descr="sci-ppt:o048"/>
          <p:cNvSpPr/>
          <p:nvPr/>
        </p:nvSpPr>
        <p:spPr>
          <a:xfrm>
            <a:off x="7484364" y="358597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2-E29 text 49" descr="sci-ppt:o049"/>
          <p:cNvSpPr txBox="1"/>
          <p:nvPr/>
        </p:nvSpPr>
        <p:spPr>
          <a:xfrm>
            <a:off x="914400" y="548640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Per kilogram: 5.9 kJ liquid + 95 kJ latent + 18.9 kJ vapor (cₚ,v is an assumed illustration).</a:t>
            </a:r>
          </a:p>
        </p:txBody>
      </p:sp>
      <p:sp>
        <p:nvSpPr>
          <p:cNvPr id="52" name="C2-E29 text 50" descr="sci-ppt:o050"/>
          <p:cNvSpPr txBox="1"/>
          <p:nvPr/>
        </p:nvSpPr>
        <p:spPr>
          <a:xfrm>
            <a:off x="914400" y="58978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Latent enthalpy still dominates, but the sensible parts must follow the phase actually being heated.</a:t>
            </a:r>
          </a:p>
        </p:txBody>
      </p:sp>
      <p:sp>
        <p:nvSpPr>
          <p:cNvPr id="53" name="C2-E29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Refined constant-pressure path of Eq. C2-E29; Tₛₐₜ from Eq. C2-E12 at 1 bar.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C2-E30 · Derived ideal-vapor inventory radius</a:t>
            </a:r>
          </a:p>
        </p:txBody>
      </p:sp>
      <p:cxnSp>
        <p:nvCxnSpPr>
          <p:cNvPr id="3" name="C2-E30 line 1" descr="sci-ppt:o001"/>
          <p:cNvCxnSpPr/>
          <p:nvPr/>
        </p:nvCxnSpPr>
        <p:spPr>
          <a:xfrm>
            <a:off x="914400" y="502920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3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3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3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3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8" name="C2-E30 line 6" descr="sci-ppt:o006"/>
          <p:cNvCxnSpPr/>
          <p:nvPr/>
        </p:nvCxnSpPr>
        <p:spPr>
          <a:xfrm>
            <a:off x="329872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30 line 7" descr="sci-ppt:o007"/>
          <p:cNvCxnSpPr/>
          <p:nvPr/>
        </p:nvCxnSpPr>
        <p:spPr>
          <a:xfrm>
            <a:off x="329872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30 text 8" descr="sci-ppt:o008"/>
          <p:cNvSpPr txBox="1"/>
          <p:nvPr/>
        </p:nvSpPr>
        <p:spPr>
          <a:xfrm>
            <a:off x="284152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cxnSp>
        <p:nvCxnSpPr>
          <p:cNvPr id="11" name="C2-E30 line 9" descr="sci-ppt:o009"/>
          <p:cNvCxnSpPr/>
          <p:nvPr/>
        </p:nvCxnSpPr>
        <p:spPr>
          <a:xfrm>
            <a:off x="568304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30 line 10" descr="sci-ppt:o010"/>
          <p:cNvCxnSpPr/>
          <p:nvPr/>
        </p:nvCxnSpPr>
        <p:spPr>
          <a:xfrm>
            <a:off x="568304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30 text 11" descr="sci-ppt:o011"/>
          <p:cNvSpPr txBox="1"/>
          <p:nvPr/>
        </p:nvSpPr>
        <p:spPr>
          <a:xfrm>
            <a:off x="522584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cxnSp>
        <p:nvCxnSpPr>
          <p:cNvPr id="14" name="C2-E30 line 12" descr="sci-ppt:o012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30 line 13" descr="sci-ppt:o013"/>
          <p:cNvCxnSpPr/>
          <p:nvPr/>
        </p:nvCxnSpPr>
        <p:spPr>
          <a:xfrm>
            <a:off x="850392" y="409300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2-E30 line 14" descr="sci-ppt:o014"/>
          <p:cNvCxnSpPr/>
          <p:nvPr/>
        </p:nvCxnSpPr>
        <p:spPr>
          <a:xfrm>
            <a:off x="914400" y="4093007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2-E30 text 15" descr="sci-ppt:o015"/>
          <p:cNvSpPr txBox="1"/>
          <p:nvPr/>
        </p:nvSpPr>
        <p:spPr>
          <a:xfrm>
            <a:off x="45720" y="401071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8" name="C2-E30 line 16" descr="sci-ppt:o016"/>
          <p:cNvCxnSpPr/>
          <p:nvPr/>
        </p:nvCxnSpPr>
        <p:spPr>
          <a:xfrm>
            <a:off x="850392" y="285542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2-E30 line 17" descr="sci-ppt:o017"/>
          <p:cNvCxnSpPr/>
          <p:nvPr/>
        </p:nvCxnSpPr>
        <p:spPr>
          <a:xfrm>
            <a:off x="914400" y="2855429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2-E30 text 18" descr="sci-ppt:o018"/>
          <p:cNvSpPr txBox="1"/>
          <p:nvPr/>
        </p:nvSpPr>
        <p:spPr>
          <a:xfrm>
            <a:off x="45720" y="277313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1" name="C2-E30 line 19" descr="sci-ppt:o019"/>
          <p:cNvCxnSpPr/>
          <p:nvPr/>
        </p:nvCxnSpPr>
        <p:spPr>
          <a:xfrm>
            <a:off x="850392" y="191923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30 line 20" descr="sci-ppt:o020"/>
          <p:cNvCxnSpPr/>
          <p:nvPr/>
        </p:nvCxnSpPr>
        <p:spPr>
          <a:xfrm>
            <a:off x="914400" y="1919237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30 text 21" descr="sci-ppt:o021"/>
          <p:cNvSpPr txBox="1"/>
          <p:nvPr/>
        </p:nvSpPr>
        <p:spPr>
          <a:xfrm>
            <a:off x="45720" y="183694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24" name="C2-E30 text 22" descr="sci-ppt:o022"/>
          <p:cNvSpPr txBox="1"/>
          <p:nvPr/>
        </p:nvSpPr>
        <p:spPr>
          <a:xfrm>
            <a:off x="914400" y="5312664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PFC partial pressure pᵥ,PFC  (Pa)</a:t>
            </a:r>
          </a:p>
        </p:txBody>
      </p:sp>
      <p:sp>
        <p:nvSpPr>
          <p:cNvPr id="25" name="C2-E30 text 23" descr="sci-ppt:o023"/>
          <p:cNvSpPr txBox="1"/>
          <p:nvPr/>
        </p:nvSpPr>
        <p:spPr>
          <a:xfrm>
            <a:off x="36576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R_b,inv / a₀</a:t>
            </a:r>
          </a:p>
        </p:txBody>
      </p:sp>
      <p:sp>
        <p:nvSpPr>
          <p:cNvPr id="26" name="C2-E30 polygon 24" descr="sci-ppt:o024"/>
          <p:cNvSpPr/>
          <p:nvPr/>
        </p:nvSpPr>
        <p:spPr>
          <a:xfrm>
            <a:off x="914400" y="1730585"/>
            <a:ext cx="5483944" cy="2384304"/>
          </a:xfrm>
          <a:custGeom>
            <a:avLst/>
            <a:gdLst/>
            <a:ahLst/>
            <a:cxnLst/>
            <a:rect l="l" t="t" r="r" b="b"/>
            <a:pathLst>
              <a:path w="5483944" h="2384304">
                <a:moveTo>
                  <a:pt x="0" y="0"/>
                </a:moveTo>
                <a:lnTo>
                  <a:pt x="55393" y="24083"/>
                </a:lnTo>
                <a:lnTo>
                  <a:pt x="110786" y="48167"/>
                </a:lnTo>
                <a:lnTo>
                  <a:pt x="166180" y="72251"/>
                </a:lnTo>
                <a:lnTo>
                  <a:pt x="221573" y="96335"/>
                </a:lnTo>
                <a:lnTo>
                  <a:pt x="276966" y="120419"/>
                </a:lnTo>
                <a:lnTo>
                  <a:pt x="332360" y="144503"/>
                </a:lnTo>
                <a:lnTo>
                  <a:pt x="387753" y="168587"/>
                </a:lnTo>
                <a:lnTo>
                  <a:pt x="443147" y="192671"/>
                </a:lnTo>
                <a:lnTo>
                  <a:pt x="498540" y="216755"/>
                </a:lnTo>
                <a:lnTo>
                  <a:pt x="553933" y="240838"/>
                </a:lnTo>
                <a:lnTo>
                  <a:pt x="609327" y="264922"/>
                </a:lnTo>
                <a:lnTo>
                  <a:pt x="664720" y="289006"/>
                </a:lnTo>
                <a:lnTo>
                  <a:pt x="720113" y="313090"/>
                </a:lnTo>
                <a:lnTo>
                  <a:pt x="775507" y="337174"/>
                </a:lnTo>
                <a:lnTo>
                  <a:pt x="830900" y="361258"/>
                </a:lnTo>
                <a:lnTo>
                  <a:pt x="886294" y="385342"/>
                </a:lnTo>
                <a:lnTo>
                  <a:pt x="941687" y="409426"/>
                </a:lnTo>
                <a:lnTo>
                  <a:pt x="997080" y="433510"/>
                </a:lnTo>
                <a:lnTo>
                  <a:pt x="1052474" y="457593"/>
                </a:lnTo>
                <a:lnTo>
                  <a:pt x="1107867" y="481677"/>
                </a:lnTo>
                <a:lnTo>
                  <a:pt x="1163260" y="505761"/>
                </a:lnTo>
                <a:lnTo>
                  <a:pt x="1218654" y="529845"/>
                </a:lnTo>
                <a:lnTo>
                  <a:pt x="1274047" y="553929"/>
                </a:lnTo>
                <a:lnTo>
                  <a:pt x="1329441" y="578013"/>
                </a:lnTo>
                <a:lnTo>
                  <a:pt x="1384834" y="602097"/>
                </a:lnTo>
                <a:lnTo>
                  <a:pt x="1440227" y="626181"/>
                </a:lnTo>
                <a:lnTo>
                  <a:pt x="1495621" y="650265"/>
                </a:lnTo>
                <a:lnTo>
                  <a:pt x="1551014" y="674348"/>
                </a:lnTo>
                <a:lnTo>
                  <a:pt x="1606407" y="698432"/>
                </a:lnTo>
                <a:lnTo>
                  <a:pt x="1661801" y="722516"/>
                </a:lnTo>
                <a:lnTo>
                  <a:pt x="1717194" y="746600"/>
                </a:lnTo>
                <a:lnTo>
                  <a:pt x="1772588" y="770684"/>
                </a:lnTo>
                <a:lnTo>
                  <a:pt x="1827981" y="794768"/>
                </a:lnTo>
                <a:lnTo>
                  <a:pt x="1883374" y="818852"/>
                </a:lnTo>
                <a:lnTo>
                  <a:pt x="1938768" y="842936"/>
                </a:lnTo>
                <a:lnTo>
                  <a:pt x="1994161" y="867020"/>
                </a:lnTo>
                <a:lnTo>
                  <a:pt x="2049554" y="891103"/>
                </a:lnTo>
                <a:lnTo>
                  <a:pt x="2104948" y="915187"/>
                </a:lnTo>
                <a:lnTo>
                  <a:pt x="2160341" y="939271"/>
                </a:lnTo>
                <a:lnTo>
                  <a:pt x="2215735" y="963355"/>
                </a:lnTo>
                <a:lnTo>
                  <a:pt x="2271128" y="987439"/>
                </a:lnTo>
                <a:lnTo>
                  <a:pt x="2326521" y="1011523"/>
                </a:lnTo>
                <a:lnTo>
                  <a:pt x="2381915" y="1035607"/>
                </a:lnTo>
                <a:lnTo>
                  <a:pt x="2437308" y="1059691"/>
                </a:lnTo>
                <a:lnTo>
                  <a:pt x="2492701" y="1083775"/>
                </a:lnTo>
                <a:lnTo>
                  <a:pt x="2548095" y="1107858"/>
                </a:lnTo>
                <a:lnTo>
                  <a:pt x="2603488" y="1131942"/>
                </a:lnTo>
                <a:lnTo>
                  <a:pt x="2658882" y="1156026"/>
                </a:lnTo>
                <a:lnTo>
                  <a:pt x="2714275" y="1180110"/>
                </a:lnTo>
                <a:lnTo>
                  <a:pt x="2769668" y="1204194"/>
                </a:lnTo>
                <a:lnTo>
                  <a:pt x="2825062" y="1228278"/>
                </a:lnTo>
                <a:lnTo>
                  <a:pt x="2880455" y="1252362"/>
                </a:lnTo>
                <a:lnTo>
                  <a:pt x="2935848" y="1276446"/>
                </a:lnTo>
                <a:lnTo>
                  <a:pt x="2991242" y="1300529"/>
                </a:lnTo>
                <a:lnTo>
                  <a:pt x="3046635" y="1324613"/>
                </a:lnTo>
                <a:lnTo>
                  <a:pt x="3102029" y="1348697"/>
                </a:lnTo>
                <a:lnTo>
                  <a:pt x="3157422" y="1372781"/>
                </a:lnTo>
                <a:lnTo>
                  <a:pt x="3212815" y="1396865"/>
                </a:lnTo>
                <a:lnTo>
                  <a:pt x="3268209" y="1420949"/>
                </a:lnTo>
                <a:lnTo>
                  <a:pt x="3323602" y="1445033"/>
                </a:lnTo>
                <a:lnTo>
                  <a:pt x="3378995" y="1469117"/>
                </a:lnTo>
                <a:lnTo>
                  <a:pt x="3434389" y="1493201"/>
                </a:lnTo>
                <a:lnTo>
                  <a:pt x="3489782" y="1517284"/>
                </a:lnTo>
                <a:lnTo>
                  <a:pt x="3545176" y="1541368"/>
                </a:lnTo>
                <a:lnTo>
                  <a:pt x="3600569" y="1565452"/>
                </a:lnTo>
                <a:lnTo>
                  <a:pt x="3655962" y="1589536"/>
                </a:lnTo>
                <a:lnTo>
                  <a:pt x="3711356" y="1613620"/>
                </a:lnTo>
                <a:lnTo>
                  <a:pt x="3766749" y="1637704"/>
                </a:lnTo>
                <a:lnTo>
                  <a:pt x="3822142" y="1661788"/>
                </a:lnTo>
                <a:lnTo>
                  <a:pt x="3877536" y="1685872"/>
                </a:lnTo>
                <a:lnTo>
                  <a:pt x="3932929" y="1709956"/>
                </a:lnTo>
                <a:lnTo>
                  <a:pt x="3988323" y="1734039"/>
                </a:lnTo>
                <a:lnTo>
                  <a:pt x="4043716" y="1758123"/>
                </a:lnTo>
                <a:lnTo>
                  <a:pt x="4099109" y="1782207"/>
                </a:lnTo>
                <a:lnTo>
                  <a:pt x="4154503" y="1806291"/>
                </a:lnTo>
                <a:lnTo>
                  <a:pt x="4209896" y="1830375"/>
                </a:lnTo>
                <a:lnTo>
                  <a:pt x="4265289" y="1854459"/>
                </a:lnTo>
                <a:lnTo>
                  <a:pt x="4320683" y="1878543"/>
                </a:lnTo>
                <a:lnTo>
                  <a:pt x="4376076" y="1902627"/>
                </a:lnTo>
                <a:lnTo>
                  <a:pt x="4431470" y="1926711"/>
                </a:lnTo>
                <a:lnTo>
                  <a:pt x="4486863" y="1950794"/>
                </a:lnTo>
                <a:lnTo>
                  <a:pt x="4542256" y="1974878"/>
                </a:lnTo>
                <a:lnTo>
                  <a:pt x="4597650" y="1998962"/>
                </a:lnTo>
                <a:lnTo>
                  <a:pt x="4653043" y="2023046"/>
                </a:lnTo>
                <a:lnTo>
                  <a:pt x="4708436" y="2047130"/>
                </a:lnTo>
                <a:lnTo>
                  <a:pt x="4763830" y="2071214"/>
                </a:lnTo>
                <a:lnTo>
                  <a:pt x="4819223" y="2095298"/>
                </a:lnTo>
                <a:lnTo>
                  <a:pt x="4874617" y="2119382"/>
                </a:lnTo>
                <a:lnTo>
                  <a:pt x="4930010" y="2143466"/>
                </a:lnTo>
                <a:lnTo>
                  <a:pt x="4985403" y="2167549"/>
                </a:lnTo>
                <a:lnTo>
                  <a:pt x="5040797" y="2191633"/>
                </a:lnTo>
                <a:lnTo>
                  <a:pt x="5096190" y="2215717"/>
                </a:lnTo>
                <a:lnTo>
                  <a:pt x="5151583" y="2239801"/>
                </a:lnTo>
                <a:lnTo>
                  <a:pt x="5206977" y="2263885"/>
                </a:lnTo>
                <a:lnTo>
                  <a:pt x="5262370" y="2287969"/>
                </a:lnTo>
                <a:lnTo>
                  <a:pt x="5317764" y="2312053"/>
                </a:lnTo>
                <a:lnTo>
                  <a:pt x="5373157" y="2336137"/>
                </a:lnTo>
                <a:lnTo>
                  <a:pt x="5428550" y="2360220"/>
                </a:lnTo>
                <a:lnTo>
                  <a:pt x="5483944" y="2384304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2-E30 ellipse 25" descr="sci-ppt:o025"/>
          <p:cNvSpPr/>
          <p:nvPr/>
        </p:nvSpPr>
        <p:spPr>
          <a:xfrm>
            <a:off x="3225571" y="2694087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30 text 26" descr="sci-ppt:o026"/>
          <p:cNvSpPr txBox="1"/>
          <p:nvPr/>
        </p:nvSpPr>
        <p:spPr>
          <a:xfrm>
            <a:off x="3408451" y="2310039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1 bar: 5.337 a₀ = 26.69 µm</a:t>
            </a:r>
          </a:p>
        </p:txBody>
      </p:sp>
      <p:sp>
        <p:nvSpPr>
          <p:cNvPr id="29" name="C2-E30 text 27" descr="sci-ppt:o027"/>
          <p:cNvSpPr txBox="1"/>
          <p:nvPr/>
        </p:nvSpPr>
        <p:spPr>
          <a:xfrm>
            <a:off x="1705304" y="2047301"/>
            <a:ext cx="16459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R ∝ p^(−1/3)</a:t>
            </a:r>
          </a:p>
        </p:txBody>
      </p:sp>
      <p:sp>
        <p:nvSpPr>
          <p:cNvPr id="30" name="C2-E30 round_rect 28" descr="sci-ppt:o028"/>
          <p:cNvSpPr/>
          <p:nvPr/>
        </p:nvSpPr>
        <p:spPr>
          <a:xfrm>
            <a:off x="6766560" y="1371600"/>
            <a:ext cx="50749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30 text 29" descr="sci-ppt:o029"/>
          <p:cNvSpPr txBox="1"/>
          <p:nvPr/>
        </p:nvSpPr>
        <p:spPr>
          <a:xfrm>
            <a:off x="6876288" y="1426464"/>
            <a:ext cx="48554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To scale at 1 bar and 323 K</a:t>
            </a:r>
          </a:p>
        </p:txBody>
      </p:sp>
      <p:sp>
        <p:nvSpPr>
          <p:cNvPr id="32" name="C2-E30 ellipse 30" descr="sci-ppt:o030"/>
          <p:cNvSpPr/>
          <p:nvPr/>
        </p:nvSpPr>
        <p:spPr>
          <a:xfrm>
            <a:off x="8686800" y="2788920"/>
            <a:ext cx="2194560" cy="2194560"/>
          </a:xfrm>
          <a:prstGeom prst="ellipse">
            <a:avLst/>
          </a:prstGeom>
          <a:solidFill>
            <a:srgbClr val="0C1820"/>
          </a:solidFill>
          <a:ln w="3048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30 ellipse 31" descr="sci-ppt:o031"/>
          <p:cNvSpPr/>
          <p:nvPr/>
        </p:nvSpPr>
        <p:spPr>
          <a:xfrm>
            <a:off x="9578495" y="3680615"/>
            <a:ext cx="411168" cy="411168"/>
          </a:xfrm>
          <a:prstGeom prst="ellipse">
            <a:avLst/>
          </a:pr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30 text 32" descr="sci-ppt:o032"/>
          <p:cNvSpPr txBox="1"/>
          <p:nvPr/>
        </p:nvSpPr>
        <p:spPr>
          <a:xfrm>
            <a:off x="6903720" y="1828800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(R_b,inv / a₀)³ = ρ_d Rᵤ T* / (M_PFC pᵥ,PFC) = 151.98</a:t>
            </a:r>
          </a:p>
        </p:txBody>
      </p:sp>
      <p:sp>
        <p:nvSpPr>
          <p:cNvPr id="35" name="C2-E30 text 33" descr="sci-ppt:o033"/>
          <p:cNvSpPr txBox="1"/>
          <p:nvPr/>
        </p:nvSpPr>
        <p:spPr>
          <a:xfrm>
            <a:off x="6903720" y="2468880"/>
            <a:ext cx="26517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bubble R = 26.69 µm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(radius ratio 5.34)</a:t>
            </a:r>
          </a:p>
        </p:txBody>
      </p:sp>
      <p:sp>
        <p:nvSpPr>
          <p:cNvPr id="36" name="C2-E30 text 34" descr="sci-ppt:o034"/>
          <p:cNvSpPr txBox="1"/>
          <p:nvPr/>
        </p:nvSpPr>
        <p:spPr>
          <a:xfrm>
            <a:off x="6903720" y="3566160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droplet a₀ = 5 µm</a:t>
            </a:r>
          </a:p>
        </p:txBody>
      </p:sp>
      <p:sp>
        <p:nvSpPr>
          <p:cNvPr id="37" name="C2-E30 text 35" descr="sci-ppt:o035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If every PFC molecule becomes ideal vapor at 1 bar, the bubble is 5.3 times the droplet radius, 152 times its volume.</a:t>
            </a:r>
          </a:p>
        </p:txBody>
      </p:sp>
      <p:sp>
        <p:nvSpPr>
          <p:cNvPr id="38" name="C2-E30 text 36" descr="sci-ppt:o03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Inventory radius of Eq. C2-E30 (M_PFC = 0.2880343 kg/mol, ρ_d = 1630 kg/m³).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C2-E31 · Declared optical-to-heat energy screen</a:t>
            </a:r>
          </a:p>
        </p:txBody>
      </p:sp>
      <p:sp>
        <p:nvSpPr>
          <p:cNvPr id="3" name="C2-E31 text 1" descr="sci-ppt:o001"/>
          <p:cNvSpPr txBox="1"/>
          <p:nvPr/>
        </p:nvSpPr>
        <p:spPr>
          <a:xfrm>
            <a:off x="457200" y="914400"/>
            <a:ext cx="109728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From 1 µJ of laser light to the 97.8 nJ the PFC must receive (nJ)</a:t>
            </a:r>
          </a:p>
        </p:txBody>
      </p:sp>
      <p:sp>
        <p:nvSpPr>
          <p:cNvPr id="4" name="C2-E31 text 2" descr="sci-ppt:o002"/>
          <p:cNvSpPr txBox="1"/>
          <p:nvPr/>
        </p:nvSpPr>
        <p:spPr>
          <a:xfrm>
            <a:off x="457200" y="1481328"/>
            <a:ext cx="4114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incident E_L</a:t>
            </a:r>
          </a:p>
        </p:txBody>
      </p:sp>
      <p:sp>
        <p:nvSpPr>
          <p:cNvPr id="5" name="C2-E31 rect 3" descr="sci-ppt:o003"/>
          <p:cNvSpPr/>
          <p:nvPr/>
        </p:nvSpPr>
        <p:spPr>
          <a:xfrm>
            <a:off x="4663440" y="1463040"/>
            <a:ext cx="5669279" cy="50292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31 text 4" descr="sci-ppt:o004"/>
          <p:cNvSpPr txBox="1"/>
          <p:nvPr/>
        </p:nvSpPr>
        <p:spPr>
          <a:xfrm>
            <a:off x="10405872" y="150876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1000.0 nJ</a:t>
            </a:r>
          </a:p>
        </p:txBody>
      </p:sp>
      <p:sp>
        <p:nvSpPr>
          <p:cNvPr id="7" name="C2-E31 text 5" descr="sci-ppt:o005"/>
          <p:cNvSpPr txBox="1"/>
          <p:nvPr/>
        </p:nvSpPr>
        <p:spPr>
          <a:xfrm>
            <a:off x="457200" y="2258568"/>
            <a:ext cx="4114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absorbed E_abs = f_geo A_λ E_L</a:t>
            </a:r>
          </a:p>
        </p:txBody>
      </p:sp>
      <p:sp>
        <p:nvSpPr>
          <p:cNvPr id="8" name="C2-E31 rect 6" descr="sci-ppt:o006"/>
          <p:cNvSpPr/>
          <p:nvPr/>
        </p:nvSpPr>
        <p:spPr>
          <a:xfrm>
            <a:off x="4663440" y="2240280"/>
            <a:ext cx="1269057" cy="50292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2-E31 text 7" descr="sci-ppt:o007"/>
          <p:cNvSpPr txBox="1"/>
          <p:nvPr/>
        </p:nvSpPr>
        <p:spPr>
          <a:xfrm>
            <a:off x="6005649" y="228600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223.8 nJ</a:t>
            </a:r>
          </a:p>
        </p:txBody>
      </p:sp>
      <p:sp>
        <p:nvSpPr>
          <p:cNvPr id="10" name="C2-E31 text 8" descr="sci-ppt:o008"/>
          <p:cNvSpPr txBox="1"/>
          <p:nvPr/>
        </p:nvSpPr>
        <p:spPr>
          <a:xfrm>
            <a:off x="457200" y="3035808"/>
            <a:ext cx="4114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needed Qₚᵣₑₚ (constant-property)</a:t>
            </a:r>
          </a:p>
        </p:txBody>
      </p:sp>
      <p:sp>
        <p:nvSpPr>
          <p:cNvPr id="11" name="C2-E31 rect 9" descr="sci-ppt:o009"/>
          <p:cNvSpPr/>
          <p:nvPr/>
        </p:nvSpPr>
        <p:spPr>
          <a:xfrm>
            <a:off x="4663440" y="3017520"/>
            <a:ext cx="554593" cy="50292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31 text 10" descr="sci-ppt:o010"/>
          <p:cNvSpPr txBox="1"/>
          <p:nvPr/>
        </p:nvSpPr>
        <p:spPr>
          <a:xfrm>
            <a:off x="5291185" y="306324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97.8 nJ</a:t>
            </a:r>
          </a:p>
        </p:txBody>
      </p:sp>
      <p:sp>
        <p:nvSpPr>
          <p:cNvPr id="13" name="C2-E31 round_rect 11" descr="sci-ppt:o011"/>
          <p:cNvSpPr/>
          <p:nvPr/>
        </p:nvSpPr>
        <p:spPr>
          <a:xfrm>
            <a:off x="457200" y="3840480"/>
            <a:ext cx="548640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31 text 12" descr="sci-ppt:o012"/>
          <p:cNvSpPr txBox="1"/>
          <p:nvPr/>
        </p:nvSpPr>
        <p:spPr>
          <a:xfrm>
            <a:off x="594360" y="3913632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f_geo = 1 − e^(−2(10/20)²) = 0.393469</a:t>
            </a:r>
          </a:p>
        </p:txBody>
      </p:sp>
      <p:sp>
        <p:nvSpPr>
          <p:cNvPr id="15" name="C2-E31 text 13" descr="sci-ppt:o013"/>
          <p:cNvSpPr txBox="1"/>
          <p:nvPr/>
        </p:nvSpPr>
        <p:spPr>
          <a:xfrm>
            <a:off x="594360" y="4279392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A_λ = 0.90 × (1 − e^(−1)) = 0.568909</a:t>
            </a:r>
          </a:p>
        </p:txBody>
      </p:sp>
      <p:sp>
        <p:nvSpPr>
          <p:cNvPr id="16" name="C2-E31 text 14" descr="sci-ppt:o014"/>
          <p:cNvSpPr txBox="1"/>
          <p:nvPr/>
        </p:nvSpPr>
        <p:spPr>
          <a:xfrm>
            <a:off x="594360" y="4645152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E_abs = 0.393469 × 0.568909 × 1 µJ = 223.848 nJ</a:t>
            </a:r>
          </a:p>
        </p:txBody>
      </p:sp>
      <p:sp>
        <p:nvSpPr>
          <p:cNvPr id="17" name="C2-E31 text 15" descr="sci-ppt:o015"/>
          <p:cNvSpPr txBox="1"/>
          <p:nvPr/>
        </p:nvSpPr>
        <p:spPr>
          <a:xfrm>
            <a:off x="594360" y="5120640"/>
            <a:ext cx="5212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No loss between absorption and PFC is included in this screen.</a:t>
            </a:r>
          </a:p>
        </p:txBody>
      </p:sp>
      <p:sp>
        <p:nvSpPr>
          <p:cNvPr id="18" name="C2-E31 round_rect 16" descr="sci-ppt:o016"/>
          <p:cNvSpPr/>
          <p:nvPr/>
        </p:nvSpPr>
        <p:spPr>
          <a:xfrm>
            <a:off x="6217920" y="3840480"/>
            <a:ext cx="548640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2-E31 text 17" descr="sci-ppt:o017"/>
          <p:cNvSpPr txBox="1"/>
          <p:nvPr/>
        </p:nvSpPr>
        <p:spPr>
          <a:xfrm>
            <a:off x="6327648" y="389534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Minimum heat-delivery fraction</a:t>
            </a:r>
          </a:p>
        </p:txBody>
      </p:sp>
      <p:sp>
        <p:nvSpPr>
          <p:cNvPr id="20" name="C2-E31 text 18" descr="sci-ppt:o018"/>
          <p:cNvSpPr txBox="1"/>
          <p:nvPr/>
        </p:nvSpPr>
        <p:spPr>
          <a:xfrm>
            <a:off x="6355080" y="4224528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ηₜₕ,min = Qₚᵣₑₚ / E_abs = 97.8243 / 223.848 = 0.437012</a:t>
            </a:r>
          </a:p>
        </p:txBody>
      </p:sp>
      <p:sp>
        <p:nvSpPr>
          <p:cNvPr id="21" name="C2-E31 text 19" descr="sci-ppt:o019"/>
          <p:cNvSpPr txBox="1"/>
          <p:nvPr/>
        </p:nvSpPr>
        <p:spPr>
          <a:xfrm>
            <a:off x="6355080" y="4754880"/>
            <a:ext cx="52120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At least 43.7 % of the declared absorbed energy must reach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the PFC as heat, even with no losses.</a:t>
            </a:r>
          </a:p>
        </p:txBody>
      </p:sp>
      <p:sp>
        <p:nvSpPr>
          <p:cNvPr id="22" name="C2-E31 text 20" descr="sci-ppt:o02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 screen of Eq. C2-E31; all inputs are declared teaching values.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C2-E32 · Original formulas for Defense 1</a:t>
            </a:r>
          </a:p>
        </p:txBody>
      </p:sp>
      <p:sp>
        <p:nvSpPr>
          <p:cNvPr id="3" name="C2-E32 round_rect 1" descr="sci-ppt:o001"/>
          <p:cNvSpPr/>
          <p:nvPr/>
        </p:nvSpPr>
        <p:spPr>
          <a:xfrm>
            <a:off x="457200" y="1097280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32 ellipse 2" descr="sci-ppt:o002"/>
          <p:cNvSpPr/>
          <p:nvPr/>
        </p:nvSpPr>
        <p:spPr>
          <a:xfrm>
            <a:off x="621792" y="1307592"/>
            <a:ext cx="493776" cy="49377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2-E32 text 3" descr="sci-ppt:o003"/>
          <p:cNvSpPr txBox="1"/>
          <p:nvPr/>
        </p:nvSpPr>
        <p:spPr>
          <a:xfrm>
            <a:off x="758952" y="1371600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1</a:t>
            </a:r>
          </a:p>
        </p:txBody>
      </p:sp>
      <p:sp>
        <p:nvSpPr>
          <p:cNvPr id="6" name="C2-E32 text 4" descr="sci-ppt:o004"/>
          <p:cNvSpPr txBox="1"/>
          <p:nvPr/>
        </p:nvSpPr>
        <p:spPr>
          <a:xfrm>
            <a:off x="1280160" y="1207007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Optical energy</a:t>
            </a:r>
          </a:p>
        </p:txBody>
      </p:sp>
      <p:sp>
        <p:nvSpPr>
          <p:cNvPr id="7" name="C2-E32 text 5" descr="sci-ppt:o005"/>
          <p:cNvSpPr txBox="1"/>
          <p:nvPr/>
        </p:nvSpPr>
        <p:spPr>
          <a:xfrm>
            <a:off x="1280160" y="1691640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E_L = π w² F₀ / 2</a:t>
            </a:r>
          </a:p>
        </p:txBody>
      </p:sp>
      <p:sp>
        <p:nvSpPr>
          <p:cNvPr id="8" name="C2-E32 text 6" descr="sci-ppt:o006"/>
          <p:cNvSpPr txBox="1"/>
          <p:nvPr/>
        </p:nvSpPr>
        <p:spPr>
          <a:xfrm>
            <a:off x="1280160" y="2286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Gaussian beam energy</a:t>
            </a:r>
          </a:p>
        </p:txBody>
      </p:sp>
      <p:sp>
        <p:nvSpPr>
          <p:cNvPr id="9" name="C2-E32 round_rect 7" descr="sci-ppt:o007"/>
          <p:cNvSpPr/>
          <p:nvPr/>
        </p:nvSpPr>
        <p:spPr>
          <a:xfrm>
            <a:off x="6172200" y="1097280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32 ellipse 8" descr="sci-ppt:o008"/>
          <p:cNvSpPr/>
          <p:nvPr/>
        </p:nvSpPr>
        <p:spPr>
          <a:xfrm>
            <a:off x="6336792" y="1307592"/>
            <a:ext cx="493776" cy="493776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32 text 9" descr="sci-ppt:o009"/>
          <p:cNvSpPr txBox="1"/>
          <p:nvPr/>
        </p:nvSpPr>
        <p:spPr>
          <a:xfrm>
            <a:off x="6473952" y="1371600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2</a:t>
            </a:r>
          </a:p>
        </p:txBody>
      </p:sp>
      <p:sp>
        <p:nvSpPr>
          <p:cNvPr id="12" name="C2-E32 text 10" descr="sci-ppt:o010"/>
          <p:cNvSpPr txBox="1"/>
          <p:nvPr/>
        </p:nvSpPr>
        <p:spPr>
          <a:xfrm>
            <a:off x="6995160" y="1207007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Absorbed share</a:t>
            </a:r>
          </a:p>
        </p:txBody>
      </p:sp>
      <p:sp>
        <p:nvSpPr>
          <p:cNvPr id="13" name="C2-E32 text 11" descr="sci-ppt:o011"/>
          <p:cNvSpPr txBox="1"/>
          <p:nvPr/>
        </p:nvSpPr>
        <p:spPr>
          <a:xfrm>
            <a:off x="6995160" y="1691640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E_abs = f_geo A_λ E_L</a:t>
            </a:r>
          </a:p>
        </p:txBody>
      </p:sp>
      <p:sp>
        <p:nvSpPr>
          <p:cNvPr id="14" name="C2-E32 text 12" descr="sci-ppt:o012"/>
          <p:cNvSpPr txBox="1"/>
          <p:nvPr/>
        </p:nvSpPr>
        <p:spPr>
          <a:xfrm>
            <a:off x="6995160" y="2286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aperture × absorptance</a:t>
            </a:r>
          </a:p>
        </p:txBody>
      </p:sp>
      <p:sp>
        <p:nvSpPr>
          <p:cNvPr id="15" name="C2-E32 round_rect 13" descr="sci-ppt:o013"/>
          <p:cNvSpPr/>
          <p:nvPr/>
        </p:nvSpPr>
        <p:spPr>
          <a:xfrm>
            <a:off x="457200" y="3063239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32 ellipse 14" descr="sci-ppt:o014"/>
          <p:cNvSpPr/>
          <p:nvPr/>
        </p:nvSpPr>
        <p:spPr>
          <a:xfrm>
            <a:off x="621792" y="3273551"/>
            <a:ext cx="493776" cy="493776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32 text 15" descr="sci-ppt:o015"/>
          <p:cNvSpPr txBox="1"/>
          <p:nvPr/>
        </p:nvSpPr>
        <p:spPr>
          <a:xfrm>
            <a:off x="758952" y="3337559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3</a:t>
            </a:r>
          </a:p>
        </p:txBody>
      </p:sp>
      <p:sp>
        <p:nvSpPr>
          <p:cNvPr id="18" name="C2-E32 text 16" descr="sci-ppt:o016"/>
          <p:cNvSpPr txBox="1"/>
          <p:nvPr/>
        </p:nvSpPr>
        <p:spPr>
          <a:xfrm>
            <a:off x="1280160" y="3172968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Where the heat goes</a:t>
            </a:r>
          </a:p>
        </p:txBody>
      </p:sp>
      <p:sp>
        <p:nvSpPr>
          <p:cNvPr id="19" name="C2-E32 text 17" descr="sci-ppt:o017"/>
          <p:cNvSpPr txBox="1"/>
          <p:nvPr/>
        </p:nvSpPr>
        <p:spPr>
          <a:xfrm>
            <a:off x="1280160" y="3657599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tₜₕ ~ Lₕ² / α</a:t>
            </a:r>
          </a:p>
        </p:txBody>
      </p:sp>
      <p:sp>
        <p:nvSpPr>
          <p:cNvPr id="20" name="C2-E32 text 18" descr="sci-ppt:o018"/>
          <p:cNvSpPr txBox="1"/>
          <p:nvPr/>
        </p:nvSpPr>
        <p:spPr>
          <a:xfrm>
            <a:off x="1280160" y="4251959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time to cross a distance</a:t>
            </a:r>
          </a:p>
        </p:txBody>
      </p:sp>
      <p:sp>
        <p:nvSpPr>
          <p:cNvPr id="21" name="C2-E32 round_rect 19" descr="sci-ppt:o019"/>
          <p:cNvSpPr/>
          <p:nvPr/>
        </p:nvSpPr>
        <p:spPr>
          <a:xfrm>
            <a:off x="6172200" y="3063239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32 ellipse 20" descr="sci-ppt:o020"/>
          <p:cNvSpPr/>
          <p:nvPr/>
        </p:nvSpPr>
        <p:spPr>
          <a:xfrm>
            <a:off x="6336792" y="3273551"/>
            <a:ext cx="493776" cy="493776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32 text 21" descr="sci-ppt:o021"/>
          <p:cNvSpPr txBox="1"/>
          <p:nvPr/>
        </p:nvSpPr>
        <p:spPr>
          <a:xfrm>
            <a:off x="6473952" y="3337559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4</a:t>
            </a:r>
          </a:p>
        </p:txBody>
      </p:sp>
      <p:sp>
        <p:nvSpPr>
          <p:cNvPr id="24" name="C2-E32 text 22" descr="sci-ppt:o022"/>
          <p:cNvSpPr txBox="1"/>
          <p:nvPr/>
        </p:nvSpPr>
        <p:spPr>
          <a:xfrm>
            <a:off x="6995160" y="3172968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Penetration</a:t>
            </a:r>
          </a:p>
        </p:txBody>
      </p:sp>
      <p:sp>
        <p:nvSpPr>
          <p:cNvPr id="25" name="C2-E32 text 23" descr="sci-ppt:o023"/>
          <p:cNvSpPr txBox="1"/>
          <p:nvPr/>
        </p:nvSpPr>
        <p:spPr>
          <a:xfrm>
            <a:off x="6995160" y="3657599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δ_T ~ √(α τₕ)</a:t>
            </a:r>
          </a:p>
        </p:txBody>
      </p:sp>
      <p:sp>
        <p:nvSpPr>
          <p:cNvPr id="26" name="C2-E32 text 24" descr="sci-ppt:o024"/>
          <p:cNvSpPr txBox="1"/>
          <p:nvPr/>
        </p:nvSpPr>
        <p:spPr>
          <a:xfrm>
            <a:off x="6995160" y="4251959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distance reached in the pulse</a:t>
            </a:r>
          </a:p>
        </p:txBody>
      </p:sp>
      <p:sp>
        <p:nvSpPr>
          <p:cNvPr id="27" name="C2-E32 text 25" descr="sci-ppt:o025"/>
          <p:cNvSpPr txBox="1"/>
          <p:nvPr/>
        </p:nvSpPr>
        <p:spPr>
          <a:xfrm>
            <a:off x="457200" y="516636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Light must be intercepted, absorbed, and then conducted to the PFC. Each step has its own formula and its own limit.</a:t>
            </a:r>
          </a:p>
        </p:txBody>
      </p:sp>
      <p:sp>
        <p:nvSpPr>
          <p:cNvPr id="28" name="C2-E32 text 26" descr="sci-ppt:o026"/>
          <p:cNvSpPr txBox="1"/>
          <p:nvPr/>
        </p:nvSpPr>
        <p:spPr>
          <a:xfrm>
            <a:off x="457200" y="56692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short pulse does not imply uniform temperature: compare the heat penetration δ_T with the distance to the PFC.</a:t>
            </a:r>
          </a:p>
        </p:txBody>
      </p:sp>
      <p:sp>
        <p:nvSpPr>
          <p:cNvPr id="29" name="C2-E32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1 answer: Eqs. C2-E02, E06, E09.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C2-E33 · Original formulas for Defense 2</a:t>
            </a:r>
          </a:p>
        </p:txBody>
      </p:sp>
      <p:sp>
        <p:nvSpPr>
          <p:cNvPr id="3" name="C2-E33 round_rect 1" descr="sci-ppt:o001"/>
          <p:cNvSpPr/>
          <p:nvPr/>
        </p:nvSpPr>
        <p:spPr>
          <a:xfrm>
            <a:off x="45720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33 text 2" descr="sci-ppt:o002"/>
          <p:cNvSpPr txBox="1"/>
          <p:nvPr/>
        </p:nvSpPr>
        <p:spPr>
          <a:xfrm>
            <a:off x="53035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Confinement</a:t>
            </a:r>
          </a:p>
        </p:txBody>
      </p:sp>
      <p:sp>
        <p:nvSpPr>
          <p:cNvPr id="5" name="C2-E33 text 3" descr="sci-ppt:o003"/>
          <p:cNvSpPr txBox="1"/>
          <p:nvPr/>
        </p:nvSpPr>
        <p:spPr>
          <a:xfrm>
            <a:off x="530352" y="1425321"/>
            <a:ext cx="2322576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p_d ≃ p_c + 2σ_pc/a +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Πₛₕₑₗₗ</a:t>
            </a:r>
          </a:p>
        </p:txBody>
      </p:sp>
      <p:cxnSp>
        <p:nvCxnSpPr>
          <p:cNvPr id="6" name="C2-E33 arrow 4" descr="sci-ppt:o004"/>
          <p:cNvCxnSpPr/>
          <p:nvPr/>
        </p:nvCxnSpPr>
        <p:spPr>
          <a:xfrm>
            <a:off x="2953512" y="178308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2-E33 round_rect 5" descr="sci-ppt:o005"/>
          <p:cNvSpPr/>
          <p:nvPr/>
        </p:nvSpPr>
        <p:spPr>
          <a:xfrm>
            <a:off x="338328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33 text 6" descr="sci-ppt:o006"/>
          <p:cNvSpPr txBox="1"/>
          <p:nvPr/>
        </p:nvSpPr>
        <p:spPr>
          <a:xfrm>
            <a:off x="345643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Superheat</a:t>
            </a:r>
          </a:p>
        </p:txBody>
      </p:sp>
      <p:sp>
        <p:nvSpPr>
          <p:cNvPr id="9" name="C2-E33 text 7" descr="sci-ppt:o007"/>
          <p:cNvSpPr txBox="1"/>
          <p:nvPr/>
        </p:nvSpPr>
        <p:spPr>
          <a:xfrm>
            <a:off x="3456432" y="1425321"/>
            <a:ext cx="2322576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Δpₙ = pₛₐₜ(Tᵢ) − p_d</a:t>
            </a:r>
          </a:p>
        </p:txBody>
      </p:sp>
      <p:cxnSp>
        <p:nvCxnSpPr>
          <p:cNvPr id="10" name="C2-E33 arrow 8" descr="sci-ppt:o008"/>
          <p:cNvCxnSpPr/>
          <p:nvPr/>
        </p:nvCxnSpPr>
        <p:spPr>
          <a:xfrm>
            <a:off x="5879592" y="178308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2-E33 round_rect 9" descr="sci-ppt:o009"/>
          <p:cNvSpPr/>
          <p:nvPr/>
        </p:nvSpPr>
        <p:spPr>
          <a:xfrm>
            <a:off x="630936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33 text 10" descr="sci-ppt:o010"/>
          <p:cNvSpPr txBox="1"/>
          <p:nvPr/>
        </p:nvSpPr>
        <p:spPr>
          <a:xfrm>
            <a:off x="638251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Critical radius</a:t>
            </a:r>
          </a:p>
        </p:txBody>
      </p:sp>
      <p:sp>
        <p:nvSpPr>
          <p:cNvPr id="13" name="C2-E33 text 11" descr="sci-ppt:o011"/>
          <p:cNvSpPr txBox="1"/>
          <p:nvPr/>
        </p:nvSpPr>
        <p:spPr>
          <a:xfrm>
            <a:off x="6382512" y="1425321"/>
            <a:ext cx="2322576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r* = 2σᵥₚ / Δpₙ</a:t>
            </a:r>
          </a:p>
        </p:txBody>
      </p:sp>
      <p:cxnSp>
        <p:nvCxnSpPr>
          <p:cNvPr id="14" name="C2-E33 arrow 12" descr="sci-ppt:o012"/>
          <p:cNvCxnSpPr/>
          <p:nvPr/>
        </p:nvCxnSpPr>
        <p:spPr>
          <a:xfrm>
            <a:off x="8805672" y="178308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2-E33 round_rect 13" descr="sci-ppt:o013"/>
          <p:cNvSpPr/>
          <p:nvPr/>
        </p:nvSpPr>
        <p:spPr>
          <a:xfrm>
            <a:off x="923544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33 text 14" descr="sci-ppt:o014"/>
          <p:cNvSpPr txBox="1"/>
          <p:nvPr/>
        </p:nvSpPr>
        <p:spPr>
          <a:xfrm>
            <a:off x="930859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Barrier</a:t>
            </a:r>
          </a:p>
        </p:txBody>
      </p:sp>
      <p:sp>
        <p:nvSpPr>
          <p:cNvPr id="17" name="C2-E33 text 15" descr="sci-ppt:o015"/>
          <p:cNvSpPr txBox="1"/>
          <p:nvPr/>
        </p:nvSpPr>
        <p:spPr>
          <a:xfrm>
            <a:off x="9308592" y="1425321"/>
            <a:ext cx="2322576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W* = 16π σᵥₚ³ / (3 Δpₙ²)</a:t>
            </a:r>
          </a:p>
        </p:txBody>
      </p:sp>
      <p:cxnSp>
        <p:nvCxnSpPr>
          <p:cNvPr id="18" name="C2-E33 line 16" descr="sci-ppt:o016"/>
          <p:cNvCxnSpPr/>
          <p:nvPr/>
        </p:nvCxnSpPr>
        <p:spPr>
          <a:xfrm>
            <a:off x="914400" y="5394960"/>
            <a:ext cx="53035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9" name="C2-E33 line 17" descr="sci-ppt:o017"/>
          <p:cNvCxnSpPr/>
          <p:nvPr/>
        </p:nvCxnSpPr>
        <p:spPr>
          <a:xfrm>
            <a:off x="914400" y="3017520"/>
            <a:ext cx="0" cy="23774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0" name="C2-E33 line 18" descr="sci-ppt:o018"/>
          <p:cNvCxnSpPr/>
          <p:nvPr/>
        </p:nvCxnSpPr>
        <p:spPr>
          <a:xfrm>
            <a:off x="91440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33 line 19" descr="sci-ppt:o019"/>
          <p:cNvCxnSpPr/>
          <p:nvPr/>
        </p:nvCxnSpPr>
        <p:spPr>
          <a:xfrm>
            <a:off x="91440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33 text 20" descr="sci-ppt:o020"/>
          <p:cNvSpPr txBox="1"/>
          <p:nvPr/>
        </p:nvSpPr>
        <p:spPr>
          <a:xfrm>
            <a:off x="45720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23" name="C2-E33 line 21" descr="sci-ppt:o021"/>
          <p:cNvCxnSpPr/>
          <p:nvPr/>
        </p:nvCxnSpPr>
        <p:spPr>
          <a:xfrm>
            <a:off x="257175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33 line 22" descr="sci-ppt:o022"/>
          <p:cNvCxnSpPr/>
          <p:nvPr/>
        </p:nvCxnSpPr>
        <p:spPr>
          <a:xfrm>
            <a:off x="257175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33 text 23" descr="sci-ppt:o023"/>
          <p:cNvSpPr txBox="1"/>
          <p:nvPr/>
        </p:nvSpPr>
        <p:spPr>
          <a:xfrm>
            <a:off x="211455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6" name="C2-E33 line 24" descr="sci-ppt:o024"/>
          <p:cNvCxnSpPr/>
          <p:nvPr/>
        </p:nvCxnSpPr>
        <p:spPr>
          <a:xfrm>
            <a:off x="422910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33 line 25" descr="sci-ppt:o025"/>
          <p:cNvCxnSpPr/>
          <p:nvPr/>
        </p:nvCxnSpPr>
        <p:spPr>
          <a:xfrm>
            <a:off x="422910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33 text 26" descr="sci-ppt:o026"/>
          <p:cNvSpPr txBox="1"/>
          <p:nvPr/>
        </p:nvSpPr>
        <p:spPr>
          <a:xfrm>
            <a:off x="377190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29" name="C2-E33 line 27" descr="sci-ppt:o027"/>
          <p:cNvCxnSpPr/>
          <p:nvPr/>
        </p:nvCxnSpPr>
        <p:spPr>
          <a:xfrm>
            <a:off x="588645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33 line 28" descr="sci-ppt:o028"/>
          <p:cNvCxnSpPr/>
          <p:nvPr/>
        </p:nvCxnSpPr>
        <p:spPr>
          <a:xfrm>
            <a:off x="588645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33 text 29" descr="sci-ppt:o029"/>
          <p:cNvSpPr txBox="1"/>
          <p:nvPr/>
        </p:nvSpPr>
        <p:spPr>
          <a:xfrm>
            <a:off x="542925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32" name="C2-E33 line 30" descr="sci-ppt:o030"/>
          <p:cNvCxnSpPr/>
          <p:nvPr/>
        </p:nvCxnSpPr>
        <p:spPr>
          <a:xfrm>
            <a:off x="850392" y="47345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33 line 31" descr="sci-ppt:o031"/>
          <p:cNvCxnSpPr/>
          <p:nvPr/>
        </p:nvCxnSpPr>
        <p:spPr>
          <a:xfrm>
            <a:off x="914400" y="4734560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33 text 32" descr="sci-ppt:o032"/>
          <p:cNvSpPr txBox="1"/>
          <p:nvPr/>
        </p:nvSpPr>
        <p:spPr>
          <a:xfrm>
            <a:off x="45720" y="46522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5" name="C2-E33 line 33" descr="sci-ppt:o033"/>
          <p:cNvCxnSpPr/>
          <p:nvPr/>
        </p:nvCxnSpPr>
        <p:spPr>
          <a:xfrm>
            <a:off x="850392" y="3413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2-E33 line 34" descr="sci-ppt:o034"/>
          <p:cNvCxnSpPr/>
          <p:nvPr/>
        </p:nvCxnSpPr>
        <p:spPr>
          <a:xfrm>
            <a:off x="914400" y="3413760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2-E33 text 35" descr="sci-ppt:o035"/>
          <p:cNvSpPr txBox="1"/>
          <p:nvPr/>
        </p:nvSpPr>
        <p:spPr>
          <a:xfrm>
            <a:off x="45720" y="33314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8" name="C2-E33 text 36" descr="sci-ppt:o036"/>
          <p:cNvSpPr txBox="1"/>
          <p:nvPr/>
        </p:nvSpPr>
        <p:spPr>
          <a:xfrm>
            <a:off x="914400" y="5678424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rₙ / r*</a:t>
            </a:r>
          </a:p>
        </p:txBody>
      </p:sp>
      <p:sp>
        <p:nvSpPr>
          <p:cNvPr id="39" name="C2-E33 text 37" descr="sci-ppt:o037"/>
          <p:cNvSpPr txBox="1"/>
          <p:nvPr/>
        </p:nvSpPr>
        <p:spPr>
          <a:xfrm>
            <a:off x="365760" y="2670048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 / W*</a:t>
            </a:r>
          </a:p>
        </p:txBody>
      </p:sp>
      <p:sp>
        <p:nvSpPr>
          <p:cNvPr id="40" name="C2-E33 polygon 38" descr="sci-ppt:o038"/>
          <p:cNvSpPr/>
          <p:nvPr/>
        </p:nvSpPr>
        <p:spPr>
          <a:xfrm>
            <a:off x="914400" y="3413795"/>
            <a:ext cx="5276869" cy="1936408"/>
          </a:xfrm>
          <a:custGeom>
            <a:avLst/>
            <a:gdLst/>
            <a:ahLst/>
            <a:cxnLst/>
            <a:rect l="l" t="t" r="r" b="b"/>
            <a:pathLst>
              <a:path w="5276869" h="1936408">
                <a:moveTo>
                  <a:pt x="0" y="1320765"/>
                </a:moveTo>
                <a:lnTo>
                  <a:pt x="26650" y="1320510"/>
                </a:lnTo>
                <a:lnTo>
                  <a:pt x="53301" y="1319751"/>
                </a:lnTo>
                <a:lnTo>
                  <a:pt x="79952" y="1318496"/>
                </a:lnTo>
                <a:lnTo>
                  <a:pt x="106603" y="1316754"/>
                </a:lnTo>
                <a:lnTo>
                  <a:pt x="133254" y="1314532"/>
                </a:lnTo>
                <a:lnTo>
                  <a:pt x="159905" y="1311840"/>
                </a:lnTo>
                <a:lnTo>
                  <a:pt x="186555" y="1308684"/>
                </a:lnTo>
                <a:lnTo>
                  <a:pt x="213206" y="1305074"/>
                </a:lnTo>
                <a:lnTo>
                  <a:pt x="239857" y="1301017"/>
                </a:lnTo>
                <a:lnTo>
                  <a:pt x="266508" y="1296523"/>
                </a:lnTo>
                <a:lnTo>
                  <a:pt x="293159" y="1291598"/>
                </a:lnTo>
                <a:lnTo>
                  <a:pt x="319810" y="1286252"/>
                </a:lnTo>
                <a:lnTo>
                  <a:pt x="346461" y="1280492"/>
                </a:lnTo>
                <a:lnTo>
                  <a:pt x="373111" y="1274327"/>
                </a:lnTo>
                <a:lnTo>
                  <a:pt x="399762" y="1267765"/>
                </a:lnTo>
                <a:lnTo>
                  <a:pt x="426413" y="1260814"/>
                </a:lnTo>
                <a:lnTo>
                  <a:pt x="453064" y="1253483"/>
                </a:lnTo>
                <a:lnTo>
                  <a:pt x="479715" y="1245780"/>
                </a:lnTo>
                <a:lnTo>
                  <a:pt x="506366" y="1237712"/>
                </a:lnTo>
                <a:lnTo>
                  <a:pt x="533017" y="1229289"/>
                </a:lnTo>
                <a:lnTo>
                  <a:pt x="559667" y="1220518"/>
                </a:lnTo>
                <a:lnTo>
                  <a:pt x="586318" y="1211408"/>
                </a:lnTo>
                <a:lnTo>
                  <a:pt x="612969" y="1201967"/>
                </a:lnTo>
                <a:lnTo>
                  <a:pt x="639620" y="1192203"/>
                </a:lnTo>
                <a:lnTo>
                  <a:pt x="666271" y="1182125"/>
                </a:lnTo>
                <a:lnTo>
                  <a:pt x="692922" y="1171740"/>
                </a:lnTo>
                <a:lnTo>
                  <a:pt x="719573" y="1161057"/>
                </a:lnTo>
                <a:lnTo>
                  <a:pt x="746223" y="1150084"/>
                </a:lnTo>
                <a:lnTo>
                  <a:pt x="772874" y="1138829"/>
                </a:lnTo>
                <a:lnTo>
                  <a:pt x="799525" y="1127301"/>
                </a:lnTo>
                <a:lnTo>
                  <a:pt x="826176" y="1115508"/>
                </a:lnTo>
                <a:lnTo>
                  <a:pt x="852827" y="1103458"/>
                </a:lnTo>
                <a:lnTo>
                  <a:pt x="879478" y="1091160"/>
                </a:lnTo>
                <a:lnTo>
                  <a:pt x="906129" y="1078621"/>
                </a:lnTo>
                <a:lnTo>
                  <a:pt x="932779" y="1065849"/>
                </a:lnTo>
                <a:lnTo>
                  <a:pt x="959430" y="1052854"/>
                </a:lnTo>
                <a:lnTo>
                  <a:pt x="986081" y="1039643"/>
                </a:lnTo>
                <a:lnTo>
                  <a:pt x="1012732" y="1026225"/>
                </a:lnTo>
                <a:lnTo>
                  <a:pt x="1039383" y="1012607"/>
                </a:lnTo>
                <a:lnTo>
                  <a:pt x="1066034" y="998798"/>
                </a:lnTo>
                <a:lnTo>
                  <a:pt x="1092685" y="984806"/>
                </a:lnTo>
                <a:lnTo>
                  <a:pt x="1119335" y="970640"/>
                </a:lnTo>
                <a:lnTo>
                  <a:pt x="1145986" y="956308"/>
                </a:lnTo>
                <a:lnTo>
                  <a:pt x="1172637" y="941818"/>
                </a:lnTo>
                <a:lnTo>
                  <a:pt x="1199288" y="927177"/>
                </a:lnTo>
                <a:lnTo>
                  <a:pt x="1225939" y="912395"/>
                </a:lnTo>
                <a:lnTo>
                  <a:pt x="1252590" y="897480"/>
                </a:lnTo>
                <a:lnTo>
                  <a:pt x="1279241" y="882440"/>
                </a:lnTo>
                <a:lnTo>
                  <a:pt x="1305891" y="867283"/>
                </a:lnTo>
                <a:lnTo>
                  <a:pt x="1332542" y="852017"/>
                </a:lnTo>
                <a:lnTo>
                  <a:pt x="1359193" y="836650"/>
                </a:lnTo>
                <a:lnTo>
                  <a:pt x="1385844" y="821192"/>
                </a:lnTo>
                <a:lnTo>
                  <a:pt x="1412495" y="805650"/>
                </a:lnTo>
                <a:lnTo>
                  <a:pt x="1439146" y="790032"/>
                </a:lnTo>
                <a:lnTo>
                  <a:pt x="1465796" y="774346"/>
                </a:lnTo>
                <a:lnTo>
                  <a:pt x="1492447" y="758601"/>
                </a:lnTo>
                <a:lnTo>
                  <a:pt x="1519098" y="742806"/>
                </a:lnTo>
                <a:lnTo>
                  <a:pt x="1545749" y="726967"/>
                </a:lnTo>
                <a:lnTo>
                  <a:pt x="1572400" y="711095"/>
                </a:lnTo>
                <a:lnTo>
                  <a:pt x="1599051" y="695195"/>
                </a:lnTo>
                <a:lnTo>
                  <a:pt x="1625702" y="679278"/>
                </a:lnTo>
                <a:lnTo>
                  <a:pt x="1652352" y="663351"/>
                </a:lnTo>
                <a:lnTo>
                  <a:pt x="1679003" y="647423"/>
                </a:lnTo>
                <a:lnTo>
                  <a:pt x="1705654" y="631501"/>
                </a:lnTo>
                <a:lnTo>
                  <a:pt x="1732305" y="615594"/>
                </a:lnTo>
                <a:lnTo>
                  <a:pt x="1758956" y="599710"/>
                </a:lnTo>
                <a:lnTo>
                  <a:pt x="1785607" y="583858"/>
                </a:lnTo>
                <a:lnTo>
                  <a:pt x="1812258" y="568045"/>
                </a:lnTo>
                <a:lnTo>
                  <a:pt x="1838908" y="552281"/>
                </a:lnTo>
                <a:lnTo>
                  <a:pt x="1865559" y="536572"/>
                </a:lnTo>
                <a:lnTo>
                  <a:pt x="1892210" y="520928"/>
                </a:lnTo>
                <a:lnTo>
                  <a:pt x="1918861" y="505356"/>
                </a:lnTo>
                <a:lnTo>
                  <a:pt x="1945512" y="489865"/>
                </a:lnTo>
                <a:lnTo>
                  <a:pt x="1972163" y="474463"/>
                </a:lnTo>
                <a:lnTo>
                  <a:pt x="1998814" y="459159"/>
                </a:lnTo>
                <a:lnTo>
                  <a:pt x="2025464" y="443960"/>
                </a:lnTo>
                <a:lnTo>
                  <a:pt x="2052115" y="428875"/>
                </a:lnTo>
                <a:lnTo>
                  <a:pt x="2078766" y="413912"/>
                </a:lnTo>
                <a:lnTo>
                  <a:pt x="2105417" y="399079"/>
                </a:lnTo>
                <a:lnTo>
                  <a:pt x="2132068" y="384384"/>
                </a:lnTo>
                <a:lnTo>
                  <a:pt x="2158719" y="369837"/>
                </a:lnTo>
                <a:lnTo>
                  <a:pt x="2185370" y="355444"/>
                </a:lnTo>
                <a:lnTo>
                  <a:pt x="2212020" y="341215"/>
                </a:lnTo>
                <a:lnTo>
                  <a:pt x="2238671" y="327157"/>
                </a:lnTo>
                <a:lnTo>
                  <a:pt x="2265322" y="313279"/>
                </a:lnTo>
                <a:lnTo>
                  <a:pt x="2291973" y="299588"/>
                </a:lnTo>
                <a:lnTo>
                  <a:pt x="2318624" y="286094"/>
                </a:lnTo>
                <a:lnTo>
                  <a:pt x="2345275" y="272804"/>
                </a:lnTo>
                <a:lnTo>
                  <a:pt x="2371926" y="259727"/>
                </a:lnTo>
                <a:lnTo>
                  <a:pt x="2398576" y="246871"/>
                </a:lnTo>
                <a:lnTo>
                  <a:pt x="2425227" y="234244"/>
                </a:lnTo>
                <a:lnTo>
                  <a:pt x="2451878" y="221854"/>
                </a:lnTo>
                <a:lnTo>
                  <a:pt x="2478529" y="209710"/>
                </a:lnTo>
                <a:lnTo>
                  <a:pt x="2505180" y="197819"/>
                </a:lnTo>
                <a:lnTo>
                  <a:pt x="2531831" y="186191"/>
                </a:lnTo>
                <a:lnTo>
                  <a:pt x="2558482" y="174833"/>
                </a:lnTo>
                <a:lnTo>
                  <a:pt x="2585132" y="163754"/>
                </a:lnTo>
                <a:lnTo>
                  <a:pt x="2611783" y="152961"/>
                </a:lnTo>
                <a:lnTo>
                  <a:pt x="2638434" y="142463"/>
                </a:lnTo>
                <a:lnTo>
                  <a:pt x="2665085" y="132269"/>
                </a:lnTo>
                <a:lnTo>
                  <a:pt x="2691736" y="122386"/>
                </a:lnTo>
                <a:lnTo>
                  <a:pt x="2718387" y="112823"/>
                </a:lnTo>
                <a:lnTo>
                  <a:pt x="2745037" y="103588"/>
                </a:lnTo>
                <a:lnTo>
                  <a:pt x="2771688" y="94689"/>
                </a:lnTo>
                <a:lnTo>
                  <a:pt x="2798339" y="86134"/>
                </a:lnTo>
                <a:lnTo>
                  <a:pt x="2824990" y="77932"/>
                </a:lnTo>
                <a:lnTo>
                  <a:pt x="2851641" y="70092"/>
                </a:lnTo>
                <a:lnTo>
                  <a:pt x="2878292" y="62620"/>
                </a:lnTo>
                <a:lnTo>
                  <a:pt x="2904943" y="55526"/>
                </a:lnTo>
                <a:lnTo>
                  <a:pt x="2931593" y="48817"/>
                </a:lnTo>
                <a:lnTo>
                  <a:pt x="2958244" y="42502"/>
                </a:lnTo>
                <a:lnTo>
                  <a:pt x="2984895" y="36589"/>
                </a:lnTo>
                <a:lnTo>
                  <a:pt x="3011546" y="31087"/>
                </a:lnTo>
                <a:lnTo>
                  <a:pt x="3038197" y="26003"/>
                </a:lnTo>
                <a:lnTo>
                  <a:pt x="3064848" y="21346"/>
                </a:lnTo>
                <a:lnTo>
                  <a:pt x="3091499" y="17124"/>
                </a:lnTo>
                <a:lnTo>
                  <a:pt x="3118149" y="13346"/>
                </a:lnTo>
                <a:lnTo>
                  <a:pt x="3144800" y="10019"/>
                </a:lnTo>
                <a:lnTo>
                  <a:pt x="3171451" y="7152"/>
                </a:lnTo>
                <a:lnTo>
                  <a:pt x="3198102" y="4752"/>
                </a:lnTo>
                <a:lnTo>
                  <a:pt x="3224753" y="2829"/>
                </a:lnTo>
                <a:lnTo>
                  <a:pt x="3251404" y="1391"/>
                </a:lnTo>
                <a:lnTo>
                  <a:pt x="3278055" y="445"/>
                </a:lnTo>
                <a:lnTo>
                  <a:pt x="3304705" y="0"/>
                </a:lnTo>
                <a:lnTo>
                  <a:pt x="3331356" y="65"/>
                </a:lnTo>
                <a:lnTo>
                  <a:pt x="3358007" y="647"/>
                </a:lnTo>
                <a:lnTo>
                  <a:pt x="3384658" y="1754"/>
                </a:lnTo>
                <a:lnTo>
                  <a:pt x="3411309" y="3396"/>
                </a:lnTo>
                <a:lnTo>
                  <a:pt x="3437960" y="5580"/>
                </a:lnTo>
                <a:lnTo>
                  <a:pt x="3464611" y="8314"/>
                </a:lnTo>
                <a:lnTo>
                  <a:pt x="3491261" y="11606"/>
                </a:lnTo>
                <a:lnTo>
                  <a:pt x="3517912" y="15466"/>
                </a:lnTo>
                <a:lnTo>
                  <a:pt x="3544563" y="19900"/>
                </a:lnTo>
                <a:lnTo>
                  <a:pt x="3571214" y="24919"/>
                </a:lnTo>
                <a:lnTo>
                  <a:pt x="3597865" y="30528"/>
                </a:lnTo>
                <a:lnTo>
                  <a:pt x="3624516" y="36738"/>
                </a:lnTo>
                <a:lnTo>
                  <a:pt x="3651167" y="43555"/>
                </a:lnTo>
                <a:lnTo>
                  <a:pt x="3677817" y="50989"/>
                </a:lnTo>
                <a:lnTo>
                  <a:pt x="3704468" y="59047"/>
                </a:lnTo>
                <a:lnTo>
                  <a:pt x="3731119" y="67738"/>
                </a:lnTo>
                <a:lnTo>
                  <a:pt x="3757770" y="77070"/>
                </a:lnTo>
                <a:lnTo>
                  <a:pt x="3784421" y="87052"/>
                </a:lnTo>
                <a:lnTo>
                  <a:pt x="3811072" y="97691"/>
                </a:lnTo>
                <a:lnTo>
                  <a:pt x="3837723" y="108995"/>
                </a:lnTo>
                <a:lnTo>
                  <a:pt x="3864373" y="120974"/>
                </a:lnTo>
                <a:lnTo>
                  <a:pt x="3891024" y="133635"/>
                </a:lnTo>
                <a:lnTo>
                  <a:pt x="3917675" y="146986"/>
                </a:lnTo>
                <a:lnTo>
                  <a:pt x="3944326" y="161036"/>
                </a:lnTo>
                <a:lnTo>
                  <a:pt x="3970977" y="175793"/>
                </a:lnTo>
                <a:lnTo>
                  <a:pt x="3997628" y="191265"/>
                </a:lnTo>
                <a:lnTo>
                  <a:pt x="4024278" y="207460"/>
                </a:lnTo>
                <a:lnTo>
                  <a:pt x="4050929" y="224387"/>
                </a:lnTo>
                <a:lnTo>
                  <a:pt x="4077580" y="242054"/>
                </a:lnTo>
                <a:lnTo>
                  <a:pt x="4104231" y="260469"/>
                </a:lnTo>
                <a:lnTo>
                  <a:pt x="4130882" y="279640"/>
                </a:lnTo>
                <a:lnTo>
                  <a:pt x="4157533" y="299576"/>
                </a:lnTo>
                <a:lnTo>
                  <a:pt x="4184184" y="320285"/>
                </a:lnTo>
                <a:lnTo>
                  <a:pt x="4210834" y="341775"/>
                </a:lnTo>
                <a:lnTo>
                  <a:pt x="4237485" y="364054"/>
                </a:lnTo>
                <a:lnTo>
                  <a:pt x="4264136" y="387130"/>
                </a:lnTo>
                <a:lnTo>
                  <a:pt x="4290787" y="411013"/>
                </a:lnTo>
                <a:lnTo>
                  <a:pt x="4317438" y="435709"/>
                </a:lnTo>
                <a:lnTo>
                  <a:pt x="4344089" y="461228"/>
                </a:lnTo>
                <a:lnTo>
                  <a:pt x="4370740" y="487577"/>
                </a:lnTo>
                <a:lnTo>
                  <a:pt x="4397390" y="514765"/>
                </a:lnTo>
                <a:lnTo>
                  <a:pt x="4424041" y="542800"/>
                </a:lnTo>
                <a:lnTo>
                  <a:pt x="4450692" y="571690"/>
                </a:lnTo>
                <a:lnTo>
                  <a:pt x="4477343" y="601443"/>
                </a:lnTo>
                <a:lnTo>
                  <a:pt x="4503994" y="632069"/>
                </a:lnTo>
                <a:lnTo>
                  <a:pt x="4530645" y="663574"/>
                </a:lnTo>
                <a:lnTo>
                  <a:pt x="4557296" y="695967"/>
                </a:lnTo>
                <a:lnTo>
                  <a:pt x="4583946" y="729257"/>
                </a:lnTo>
                <a:lnTo>
                  <a:pt x="4610597" y="763451"/>
                </a:lnTo>
                <a:lnTo>
                  <a:pt x="4637248" y="798558"/>
                </a:lnTo>
                <a:lnTo>
                  <a:pt x="4663899" y="834586"/>
                </a:lnTo>
                <a:lnTo>
                  <a:pt x="4690550" y="871544"/>
                </a:lnTo>
                <a:lnTo>
                  <a:pt x="4717201" y="909439"/>
                </a:lnTo>
                <a:lnTo>
                  <a:pt x="4743852" y="948280"/>
                </a:lnTo>
                <a:lnTo>
                  <a:pt x="4770502" y="988075"/>
                </a:lnTo>
                <a:lnTo>
                  <a:pt x="4797153" y="1028832"/>
                </a:lnTo>
                <a:lnTo>
                  <a:pt x="4823804" y="1070560"/>
                </a:lnTo>
                <a:lnTo>
                  <a:pt x="4850455" y="1113267"/>
                </a:lnTo>
                <a:lnTo>
                  <a:pt x="4877106" y="1156960"/>
                </a:lnTo>
                <a:lnTo>
                  <a:pt x="4903757" y="1201649"/>
                </a:lnTo>
                <a:lnTo>
                  <a:pt x="4930408" y="1247342"/>
                </a:lnTo>
                <a:lnTo>
                  <a:pt x="4957058" y="1294046"/>
                </a:lnTo>
                <a:lnTo>
                  <a:pt x="4983709" y="1341770"/>
                </a:lnTo>
                <a:lnTo>
                  <a:pt x="5010360" y="1390522"/>
                </a:lnTo>
                <a:lnTo>
                  <a:pt x="5037011" y="1440311"/>
                </a:lnTo>
                <a:lnTo>
                  <a:pt x="5063662" y="1491144"/>
                </a:lnTo>
                <a:lnTo>
                  <a:pt x="5090313" y="1543030"/>
                </a:lnTo>
                <a:lnTo>
                  <a:pt x="5116964" y="1595978"/>
                </a:lnTo>
                <a:lnTo>
                  <a:pt x="5143614" y="1649995"/>
                </a:lnTo>
                <a:lnTo>
                  <a:pt x="5170265" y="1705089"/>
                </a:lnTo>
                <a:lnTo>
                  <a:pt x="5196916" y="1761269"/>
                </a:lnTo>
                <a:lnTo>
                  <a:pt x="5223567" y="1818544"/>
                </a:lnTo>
                <a:lnTo>
                  <a:pt x="5250218" y="1876921"/>
                </a:lnTo>
                <a:lnTo>
                  <a:pt x="5276869" y="1936408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33 ellipse 39" descr="sci-ppt:o039"/>
          <p:cNvSpPr/>
          <p:nvPr/>
        </p:nvSpPr>
        <p:spPr>
          <a:xfrm>
            <a:off x="4155948" y="334060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33 text 40" descr="sci-ppt:o040"/>
          <p:cNvSpPr txBox="1"/>
          <p:nvPr/>
        </p:nvSpPr>
        <p:spPr>
          <a:xfrm>
            <a:off x="4320540" y="3048000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r*, W*</a:t>
            </a:r>
          </a:p>
        </p:txBody>
      </p:sp>
      <p:sp>
        <p:nvSpPr>
          <p:cNvPr id="43" name="C2-E33 round_rect 41" descr="sci-ppt:o041"/>
          <p:cNvSpPr/>
          <p:nvPr/>
        </p:nvSpPr>
        <p:spPr>
          <a:xfrm>
            <a:off x="6583680" y="3017520"/>
            <a:ext cx="5212080" cy="2651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33 text 42" descr="sci-ppt:o042"/>
          <p:cNvSpPr txBox="1"/>
          <p:nvPr/>
        </p:nvSpPr>
        <p:spPr>
          <a:xfrm>
            <a:off x="6693408" y="3072384"/>
            <a:ext cx="49926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Read it from left to right</a:t>
            </a:r>
          </a:p>
        </p:txBody>
      </p:sp>
      <p:sp>
        <p:nvSpPr>
          <p:cNvPr id="45" name="C2-E33 text 43" descr="sci-ppt:o043"/>
          <p:cNvSpPr txBox="1"/>
          <p:nvPr/>
        </p:nvSpPr>
        <p:spPr>
          <a:xfrm>
            <a:off x="6922007" y="3474720"/>
            <a:ext cx="47365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Confinement sets the liquid pressure p_d; a smaller core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raises it.</a:t>
            </a:r>
          </a:p>
        </p:txBody>
      </p:sp>
      <p:sp>
        <p:nvSpPr>
          <p:cNvPr id="46" name="C2-E33 ellipse 44" descr="sci-ppt:o044"/>
          <p:cNvSpPr/>
          <p:nvPr/>
        </p:nvSpPr>
        <p:spPr>
          <a:xfrm>
            <a:off x="6752844" y="352806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33 text 45" descr="sci-ppt:o045"/>
          <p:cNvSpPr txBox="1"/>
          <p:nvPr/>
        </p:nvSpPr>
        <p:spPr>
          <a:xfrm>
            <a:off x="6922007" y="3938016"/>
            <a:ext cx="47365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Superheat is how far pₛₐₜ at the interface temperature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lies above p_d.</a:t>
            </a:r>
          </a:p>
        </p:txBody>
      </p:sp>
      <p:sp>
        <p:nvSpPr>
          <p:cNvPr id="48" name="C2-E33 ellipse 46" descr="sci-ppt:o046"/>
          <p:cNvSpPr/>
          <p:nvPr/>
        </p:nvSpPr>
        <p:spPr>
          <a:xfrm>
            <a:off x="6752844" y="39913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2-E33 text 47" descr="sci-ppt:o047"/>
          <p:cNvSpPr txBox="1"/>
          <p:nvPr/>
        </p:nvSpPr>
        <p:spPr>
          <a:xfrm>
            <a:off x="6922007" y="4401312"/>
            <a:ext cx="47365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More superheat shrinks r* and W*, but the barrier stays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positive.</a:t>
            </a:r>
          </a:p>
        </p:txBody>
      </p:sp>
      <p:sp>
        <p:nvSpPr>
          <p:cNvPr id="50" name="C2-E33 ellipse 48" descr="sci-ppt:o048"/>
          <p:cNvSpPr/>
          <p:nvPr/>
        </p:nvSpPr>
        <p:spPr>
          <a:xfrm>
            <a:off x="6752844" y="445465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2-E33 text 49" descr="sci-ppt:o049"/>
          <p:cNvSpPr txBox="1"/>
          <p:nvPr/>
        </p:nvSpPr>
        <p:spPr>
          <a:xfrm>
            <a:off x="914400" y="603504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formulas assume homogeneous nucleation, a locally isothermal small nucleus and Δpₙ &gt; 0.</a:t>
            </a:r>
          </a:p>
        </p:txBody>
      </p:sp>
      <p:sp>
        <p:nvSpPr>
          <p:cNvPr id="52" name="C2-E33 text 50" descr="sci-ppt:o05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2 answer: Eqs. C2-E11, E14, E15, E16.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C2-E34 · Original activation-probability formula</a:t>
            </a:r>
          </a:p>
        </p:txBody>
      </p:sp>
      <p:sp>
        <p:nvSpPr>
          <p:cNvPr id="3" name="C2-E34 text 1" descr="sci-ppt:o001"/>
          <p:cNvSpPr txBox="1"/>
          <p:nvPr/>
        </p:nvSpPr>
        <p:spPr>
          <a:xfrm>
            <a:off x="457200" y="914400"/>
            <a:ext cx="112471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E7F0F3"/>
                </a:solidFill>
                <a:latin typeface="Arial"/>
              </a:rPr>
              <a:t>P_act = 1 − exp[ − ∫₀ᵗ ∫ J(T, p) dV dt′ ]    (V = V_d(t′))</a:t>
            </a:r>
          </a:p>
        </p:txBody>
      </p:sp>
      <p:sp>
        <p:nvSpPr>
          <p:cNvPr id="4" name="C2-E34 round_rect 2" descr="sci-ppt:o002"/>
          <p:cNvSpPr/>
          <p:nvPr/>
        </p:nvSpPr>
        <p:spPr>
          <a:xfrm>
            <a:off x="548640" y="1828800"/>
            <a:ext cx="3566160" cy="2468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2-E34 text 3" descr="sci-ppt:o003"/>
          <p:cNvSpPr txBox="1"/>
          <p:nvPr/>
        </p:nvSpPr>
        <p:spPr>
          <a:xfrm>
            <a:off x="640080" y="1920240"/>
            <a:ext cx="338328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8BA0"/>
                </a:solidFill>
                <a:latin typeface="Arial"/>
              </a:rPr>
              <a:t>J(T, p)</a:t>
            </a:r>
          </a:p>
        </p:txBody>
      </p:sp>
      <p:sp>
        <p:nvSpPr>
          <p:cNvPr id="6" name="C2-E34 text 4" descr="sci-ppt:o004"/>
          <p:cNvSpPr txBox="1"/>
          <p:nvPr/>
        </p:nvSpPr>
        <p:spPr>
          <a:xfrm>
            <a:off x="640080" y="2606040"/>
            <a:ext cx="33832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nucleation rate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m⁻³ s⁻¹</a:t>
            </a:r>
          </a:p>
        </p:txBody>
      </p:sp>
      <p:sp>
        <p:nvSpPr>
          <p:cNvPr id="7" name="C2-E34 text 5" descr="sci-ppt:o005"/>
          <p:cNvSpPr txBox="1"/>
          <p:nvPr/>
        </p:nvSpPr>
        <p:spPr>
          <a:xfrm>
            <a:off x="640080" y="36576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must be supplied by the material</a:t>
            </a:r>
          </a:p>
        </p:txBody>
      </p:sp>
      <p:sp>
        <p:nvSpPr>
          <p:cNvPr id="8" name="C2-E34 text 6" descr="sci-ppt:o006"/>
          <p:cNvSpPr txBox="1"/>
          <p:nvPr/>
        </p:nvSpPr>
        <p:spPr>
          <a:xfrm>
            <a:off x="4096511" y="2743200"/>
            <a:ext cx="2743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4C7D2"/>
                </a:solidFill>
                <a:latin typeface="Arial"/>
              </a:rPr>
              <a:t>×</a:t>
            </a:r>
          </a:p>
        </p:txBody>
      </p:sp>
      <p:sp>
        <p:nvSpPr>
          <p:cNvPr id="9" name="C2-E34 round_rect 7" descr="sci-ppt:o007"/>
          <p:cNvSpPr/>
          <p:nvPr/>
        </p:nvSpPr>
        <p:spPr>
          <a:xfrm>
            <a:off x="4343400" y="1828800"/>
            <a:ext cx="3566160" cy="2468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34 text 8" descr="sci-ppt:o008"/>
          <p:cNvSpPr txBox="1"/>
          <p:nvPr/>
        </p:nvSpPr>
        <p:spPr>
          <a:xfrm>
            <a:off x="4434840" y="1920240"/>
            <a:ext cx="338328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8EDBD4"/>
                </a:solidFill>
                <a:latin typeface="Arial"/>
              </a:rPr>
              <a:t>V_d(t′)</a:t>
            </a:r>
          </a:p>
        </p:txBody>
      </p:sp>
      <p:sp>
        <p:nvSpPr>
          <p:cNvPr id="11" name="C2-E34 text 9" descr="sci-ppt:o009"/>
          <p:cNvSpPr txBox="1"/>
          <p:nvPr/>
        </p:nvSpPr>
        <p:spPr>
          <a:xfrm>
            <a:off x="4434840" y="2606040"/>
            <a:ext cx="3383280" cy="64998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liquid volume that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can nucleate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m³</a:t>
            </a:r>
          </a:p>
        </p:txBody>
      </p:sp>
      <p:sp>
        <p:nvSpPr>
          <p:cNvPr id="12" name="C2-E34 text 10" descr="sci-ppt:o010"/>
          <p:cNvSpPr txBox="1"/>
          <p:nvPr/>
        </p:nvSpPr>
        <p:spPr>
          <a:xfrm>
            <a:off x="4434840" y="36576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shrinks as PFC leaves the liquid</a:t>
            </a:r>
          </a:p>
        </p:txBody>
      </p:sp>
      <p:sp>
        <p:nvSpPr>
          <p:cNvPr id="13" name="C2-E34 text 11" descr="sci-ppt:o011"/>
          <p:cNvSpPr txBox="1"/>
          <p:nvPr/>
        </p:nvSpPr>
        <p:spPr>
          <a:xfrm>
            <a:off x="7891271" y="2743200"/>
            <a:ext cx="2743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4C7D2"/>
                </a:solidFill>
                <a:latin typeface="Arial"/>
              </a:rPr>
              <a:t>×</a:t>
            </a:r>
          </a:p>
        </p:txBody>
      </p:sp>
      <p:sp>
        <p:nvSpPr>
          <p:cNvPr id="14" name="C2-E34 round_rect 12" descr="sci-ppt:o012"/>
          <p:cNvSpPr/>
          <p:nvPr/>
        </p:nvSpPr>
        <p:spPr>
          <a:xfrm>
            <a:off x="8138160" y="1828800"/>
            <a:ext cx="3566160" cy="2468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34 text 13" descr="sci-ppt:o013"/>
          <p:cNvSpPr txBox="1"/>
          <p:nvPr/>
        </p:nvSpPr>
        <p:spPr>
          <a:xfrm>
            <a:off x="8229600" y="1920240"/>
            <a:ext cx="338328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B880"/>
                </a:solidFill>
                <a:latin typeface="Arial"/>
              </a:rPr>
              <a:t>t′ from 0 to t</a:t>
            </a:r>
          </a:p>
        </p:txBody>
      </p:sp>
      <p:sp>
        <p:nvSpPr>
          <p:cNvPr id="16" name="C2-E34 text 14" descr="sci-ppt:o014"/>
          <p:cNvSpPr txBox="1"/>
          <p:nvPr/>
        </p:nvSpPr>
        <p:spPr>
          <a:xfrm>
            <a:off x="8229600" y="2606040"/>
            <a:ext cx="3383280" cy="64998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time spent in the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activating state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s</a:t>
            </a:r>
          </a:p>
        </p:txBody>
      </p:sp>
      <p:sp>
        <p:nvSpPr>
          <p:cNvPr id="17" name="C2-E34 text 15" descr="sci-ppt:o015"/>
          <p:cNvSpPr txBox="1"/>
          <p:nvPr/>
        </p:nvSpPr>
        <p:spPr>
          <a:xfrm>
            <a:off x="8229600" y="36576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set by the heating history</a:t>
            </a:r>
          </a:p>
        </p:txBody>
      </p:sp>
      <p:sp>
        <p:nvSpPr>
          <p:cNvPr id="18" name="C2-E34 text 16" descr="sci-ppt:o016"/>
          <p:cNvSpPr txBox="1"/>
          <p:nvPr/>
        </p:nvSpPr>
        <p:spPr>
          <a:xfrm>
            <a:off x="548640" y="4617720"/>
            <a:ext cx="111556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exponent is the expected number of events. Independent events and a finite integrated rate give a probability between 0 and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1.</a:t>
            </a:r>
          </a:p>
        </p:txBody>
      </p:sp>
      <p:sp>
        <p:nvSpPr>
          <p:cNvPr id="19" name="C2-E34 text 17" descr="sci-ppt:o017"/>
          <p:cNvSpPr txBox="1"/>
          <p:nvPr/>
        </p:nvSpPr>
        <p:spPr>
          <a:xfrm>
            <a:off x="548640" y="5212080"/>
            <a:ext cx="1115568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The formula organises the problem but does not replace the missing, material-specific J(T, p).</a:t>
            </a:r>
          </a:p>
        </p:txBody>
      </p:sp>
      <p:sp>
        <p:nvSpPr>
          <p:cNvPr id="20" name="C2-E34 text 18" descr="sci-ppt:o01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Activation probability of Eq. C2-E34 (Poisson model).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C2-E35 · Original inventory and pressure formulas for Defense 3</a:t>
            </a:r>
          </a:p>
        </p:txBody>
      </p:sp>
      <p:sp>
        <p:nvSpPr>
          <p:cNvPr id="3" name="C2-E35 round_rect 1" descr="sci-ppt:o001"/>
          <p:cNvSpPr/>
          <p:nvPr/>
        </p:nvSpPr>
        <p:spPr>
          <a:xfrm>
            <a:off x="457200" y="1097280"/>
            <a:ext cx="3657600" cy="2834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35 text 2" descr="sci-ppt:o002"/>
          <p:cNvSpPr txBox="1"/>
          <p:nvPr/>
        </p:nvSpPr>
        <p:spPr>
          <a:xfrm>
            <a:off x="548640" y="1188720"/>
            <a:ext cx="347472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i="0">
                <a:solidFill>
                  <a:srgbClr val="8EDBD4"/>
                </a:solidFill>
                <a:latin typeface="Arial"/>
              </a:rPr>
              <a:t>Initial mass</a:t>
            </a:r>
          </a:p>
        </p:txBody>
      </p:sp>
      <p:sp>
        <p:nvSpPr>
          <p:cNvPr id="5" name="C2-E35 text 3" descr="sci-ppt:o003"/>
          <p:cNvSpPr txBox="1"/>
          <p:nvPr/>
        </p:nvSpPr>
        <p:spPr>
          <a:xfrm>
            <a:off x="548640" y="1920240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m_PFC,0 = (4π/3) ρ_d a₀³</a:t>
            </a:r>
          </a:p>
        </p:txBody>
      </p:sp>
      <p:sp>
        <p:nvSpPr>
          <p:cNvPr id="6" name="C2-E35 text 4" descr="sci-ppt:o004"/>
          <p:cNvSpPr txBox="1"/>
          <p:nvPr/>
        </p:nvSpPr>
        <p:spPr>
          <a:xfrm>
            <a:off x="548640" y="3291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fixed by the real core volume</a:t>
            </a:r>
          </a:p>
        </p:txBody>
      </p:sp>
      <p:sp>
        <p:nvSpPr>
          <p:cNvPr id="7" name="C2-E35 round_rect 5" descr="sci-ppt:o005"/>
          <p:cNvSpPr/>
          <p:nvPr/>
        </p:nvSpPr>
        <p:spPr>
          <a:xfrm>
            <a:off x="4297680" y="1097280"/>
            <a:ext cx="3657600" cy="2834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35 text 6" descr="sci-ppt:o006"/>
          <p:cNvSpPr txBox="1"/>
          <p:nvPr/>
        </p:nvSpPr>
        <p:spPr>
          <a:xfrm>
            <a:off x="4389120" y="1188720"/>
            <a:ext cx="347472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i="0">
                <a:solidFill>
                  <a:srgbClr val="F2B880"/>
                </a:solidFill>
                <a:latin typeface="Arial"/>
              </a:rPr>
              <a:t>Ledger</a:t>
            </a:r>
          </a:p>
        </p:txBody>
      </p:sp>
      <p:sp>
        <p:nvSpPr>
          <p:cNvPr id="9" name="C2-E35 text 7" descr="sci-ppt:o007"/>
          <p:cNvSpPr txBox="1"/>
          <p:nvPr/>
        </p:nvSpPr>
        <p:spPr>
          <a:xfrm>
            <a:off x="4389120" y="1920240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mₗ + mᵥ + m_diss + m_esc = m_PFC,0</a:t>
            </a:r>
          </a:p>
        </p:txBody>
      </p:sp>
      <p:sp>
        <p:nvSpPr>
          <p:cNvPr id="10" name="C2-E35 text 8" descr="sci-ppt:o008"/>
          <p:cNvSpPr txBox="1"/>
          <p:nvPr/>
        </p:nvSpPr>
        <p:spPr>
          <a:xfrm>
            <a:off x="4389120" y="3291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no external compound supply</a:t>
            </a:r>
          </a:p>
        </p:txBody>
      </p:sp>
      <p:sp>
        <p:nvSpPr>
          <p:cNvPr id="11" name="C2-E35 round_rect 9" descr="sci-ppt:o009"/>
          <p:cNvSpPr/>
          <p:nvPr/>
        </p:nvSpPr>
        <p:spPr>
          <a:xfrm>
            <a:off x="8138160" y="1097280"/>
            <a:ext cx="3657600" cy="2834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35 text 10" descr="sci-ppt:o010"/>
          <p:cNvSpPr txBox="1"/>
          <p:nvPr/>
        </p:nvSpPr>
        <p:spPr>
          <a:xfrm>
            <a:off x="8229600" y="1188720"/>
            <a:ext cx="347472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i="0">
                <a:solidFill>
                  <a:srgbClr val="7FC8F8"/>
                </a:solidFill>
                <a:latin typeface="Arial"/>
              </a:rPr>
              <a:t>Vapor pressure</a:t>
            </a:r>
          </a:p>
        </p:txBody>
      </p:sp>
      <p:sp>
        <p:nvSpPr>
          <p:cNvPr id="13" name="C2-E35 text 11" descr="sci-ppt:o011"/>
          <p:cNvSpPr txBox="1"/>
          <p:nvPr/>
        </p:nvSpPr>
        <p:spPr>
          <a:xfrm>
            <a:off x="8229600" y="1920240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pᵥ,PFC V_b = (mᵥ / M_PFC) Rᵤ T_b</a:t>
            </a:r>
          </a:p>
        </p:txBody>
      </p:sp>
      <p:sp>
        <p:nvSpPr>
          <p:cNvPr id="14" name="C2-E35 text 12" descr="sci-ppt:o012"/>
          <p:cNvSpPr txBox="1"/>
          <p:nvPr/>
        </p:nvSpPr>
        <p:spPr>
          <a:xfrm>
            <a:off x="8229600" y="3291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ideal PFC partial pressure</a:t>
            </a:r>
          </a:p>
        </p:txBody>
      </p:sp>
      <p:sp>
        <p:nvSpPr>
          <p:cNvPr id="15" name="C2-E35 round_rect 13" descr="sci-ppt:o013"/>
          <p:cNvSpPr/>
          <p:nvPr/>
        </p:nvSpPr>
        <p:spPr>
          <a:xfrm>
            <a:off x="457200" y="4160520"/>
            <a:ext cx="1115568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35 text 14" descr="sci-ppt:o014"/>
          <p:cNvSpPr txBox="1"/>
          <p:nvPr/>
        </p:nvSpPr>
        <p:spPr>
          <a:xfrm>
            <a:off x="566928" y="4215383"/>
            <a:ext cx="109362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How the three connect</a:t>
            </a:r>
          </a:p>
        </p:txBody>
      </p:sp>
      <p:sp>
        <p:nvSpPr>
          <p:cNvPr id="17" name="C2-E35 text 15" descr="sci-ppt:o015"/>
          <p:cNvSpPr txBox="1"/>
          <p:nvPr/>
        </p:nvSpPr>
        <p:spPr>
          <a:xfrm>
            <a:off x="594360" y="4572000"/>
            <a:ext cx="10881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mass ledger caps mᵥ; the gas law turns mᵥ into a pressure; the pressure feeds the radius equation of Chapter 1.</a:t>
            </a:r>
          </a:p>
        </p:txBody>
      </p:sp>
      <p:sp>
        <p:nvSpPr>
          <p:cNvPr id="18" name="C2-E35 text 16" descr="sci-ppt:o016"/>
          <p:cNvSpPr txBox="1"/>
          <p:nvPr/>
        </p:nvSpPr>
        <p:spPr>
          <a:xfrm>
            <a:off x="594360" y="5120640"/>
            <a:ext cx="108813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If mᵥ never exceeds m_PFC,0, then the vapor pressure at fixed V_b and T_b cannot exceed m_PFC,0 Rᵤ T_b / (M_PFC V_b).</a:t>
            </a:r>
          </a:p>
        </p:txBody>
      </p:sp>
      <p:sp>
        <p:nvSpPr>
          <p:cNvPr id="19" name="C2-E35 text 17" descr="sci-ppt:o01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3 answer: Eqs. C2-E18, E24, E27.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C2-E36 · Original phase-energy and velocity-slip formulas</a:t>
            </a:r>
          </a:p>
        </p:txBody>
      </p:sp>
      <p:sp>
        <p:nvSpPr>
          <p:cNvPr id="3" name="C2-E36 round_rect 1" descr="sci-ppt:o001"/>
          <p:cNvSpPr/>
          <p:nvPr/>
        </p:nvSpPr>
        <p:spPr>
          <a:xfrm>
            <a:off x="457200" y="1005840"/>
            <a:ext cx="3657600" cy="4480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36 text 2" descr="sci-ppt:o002"/>
          <p:cNvSpPr txBox="1"/>
          <p:nvPr/>
        </p:nvSpPr>
        <p:spPr>
          <a:xfrm>
            <a:off x="566928" y="106070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Interface energy jump</a:t>
            </a:r>
          </a:p>
        </p:txBody>
      </p:sp>
      <p:sp>
        <p:nvSpPr>
          <p:cNvPr id="5" name="C2-E36 rect 3" descr="sci-ppt:o003"/>
          <p:cNvSpPr/>
          <p:nvPr/>
        </p:nvSpPr>
        <p:spPr>
          <a:xfrm>
            <a:off x="731520" y="1828800"/>
            <a:ext cx="1463040" cy="2194560"/>
          </a:xfrm>
          <a:prstGeom prst="rect">
            <a:avLst/>
          </a:prstGeom>
          <a:solidFill>
            <a:srgbClr val="1E4A5A"/>
          </a:solidFill>
          <a:ln w="1270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36 rect 4" descr="sci-ppt:o004"/>
          <p:cNvSpPr/>
          <p:nvPr/>
        </p:nvSpPr>
        <p:spPr>
          <a:xfrm>
            <a:off x="2194560" y="1828800"/>
            <a:ext cx="1645920" cy="2194560"/>
          </a:xfrm>
          <a:prstGeom prst="rect">
            <a:avLst/>
          </a:prstGeom>
          <a:solidFill>
            <a:srgbClr val="0C1820"/>
          </a:solidFill>
          <a:ln w="1270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2-E36 line 5" descr="sci-ppt:o005"/>
          <p:cNvCxnSpPr/>
          <p:nvPr/>
        </p:nvCxnSpPr>
        <p:spPr>
          <a:xfrm>
            <a:off x="2194560" y="1737360"/>
            <a:ext cx="0" cy="2377440"/>
          </a:xfrm>
          <a:prstGeom prst="line">
            <a:avLst/>
          </a:prstGeom>
          <a:ln w="38100">
            <a:solidFill>
              <a:srgbClr val="F2B880"/>
            </a:solidFill>
          </a:ln>
          <a:effectLst/>
        </p:spPr>
      </p:cxnSp>
      <p:cxnSp>
        <p:nvCxnSpPr>
          <p:cNvPr id="8" name="C2-E36 arrow 6" descr="sci-ppt:o006"/>
          <p:cNvCxnSpPr/>
          <p:nvPr/>
        </p:nvCxnSpPr>
        <p:spPr>
          <a:xfrm>
            <a:off x="914400" y="2926080"/>
            <a:ext cx="1234440" cy="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2-E36 arrow 7" descr="sci-ppt:o007"/>
          <p:cNvCxnSpPr/>
          <p:nvPr/>
        </p:nvCxnSpPr>
        <p:spPr>
          <a:xfrm>
            <a:off x="2286000" y="2926080"/>
            <a:ext cx="9144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2-E36 text 8" descr="sci-ppt:o008"/>
          <p:cNvSpPr txBox="1"/>
          <p:nvPr/>
        </p:nvSpPr>
        <p:spPr>
          <a:xfrm>
            <a:off x="640080" y="1417320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8EDBD4"/>
                </a:solidFill>
                <a:latin typeface="Arial"/>
              </a:rPr>
              <a:t>liquid</a:t>
            </a:r>
          </a:p>
        </p:txBody>
      </p:sp>
      <p:sp>
        <p:nvSpPr>
          <p:cNvPr id="11" name="C2-E36 text 9" descr="sci-ppt:o009"/>
          <p:cNvSpPr txBox="1"/>
          <p:nvPr/>
        </p:nvSpPr>
        <p:spPr>
          <a:xfrm>
            <a:off x="2377440" y="1417320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B4C7D2"/>
                </a:solidFill>
                <a:latin typeface="Arial"/>
              </a:rPr>
              <a:t>vapor</a:t>
            </a:r>
          </a:p>
        </p:txBody>
      </p:sp>
      <p:sp>
        <p:nvSpPr>
          <p:cNvPr id="12" name="C2-E36 text 10" descr="sci-ppt:o010"/>
          <p:cNvSpPr txBox="1"/>
          <p:nvPr/>
        </p:nvSpPr>
        <p:spPr>
          <a:xfrm>
            <a:off x="594360" y="4206240"/>
            <a:ext cx="33832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jₛ Lᵥ,s = (qₗ − qᵥ)·n</a:t>
            </a:r>
          </a:p>
        </p:txBody>
      </p:sp>
      <p:sp>
        <p:nvSpPr>
          <p:cNvPr id="13" name="C2-E36 text 11" descr="sci-ppt:o011"/>
          <p:cNvSpPr txBox="1"/>
          <p:nvPr/>
        </p:nvSpPr>
        <p:spPr>
          <a:xfrm>
            <a:off x="594360" y="475488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unbalanced heat becomes latent heat</a:t>
            </a:r>
          </a:p>
        </p:txBody>
      </p:sp>
      <p:sp>
        <p:nvSpPr>
          <p:cNvPr id="14" name="C2-E36 round_rect 12" descr="sci-ppt:o012"/>
          <p:cNvSpPr/>
          <p:nvPr/>
        </p:nvSpPr>
        <p:spPr>
          <a:xfrm>
            <a:off x="4297680" y="1005840"/>
            <a:ext cx="3657600" cy="4480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36 text 13" descr="sci-ppt:o013"/>
          <p:cNvSpPr txBox="1"/>
          <p:nvPr/>
        </p:nvSpPr>
        <p:spPr>
          <a:xfrm>
            <a:off x="4407408" y="106070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Bubble ledger</a:t>
            </a:r>
          </a:p>
        </p:txBody>
      </p:sp>
      <p:sp>
        <p:nvSpPr>
          <p:cNvPr id="16" name="C2-E36 ellipse 14" descr="sci-ppt:o014"/>
          <p:cNvSpPr/>
          <p:nvPr/>
        </p:nvSpPr>
        <p:spPr>
          <a:xfrm>
            <a:off x="5349240" y="2148840"/>
            <a:ext cx="1554480" cy="1554480"/>
          </a:xfrm>
          <a:prstGeom prst="ellipse">
            <a:avLst/>
          </a:prstGeom>
          <a:solidFill>
            <a:srgbClr val="0C1820"/>
          </a:solidFill>
          <a:ln w="3048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36 text 15" descr="sci-ppt:o015"/>
          <p:cNvSpPr txBox="1"/>
          <p:nvPr/>
        </p:nvSpPr>
        <p:spPr>
          <a:xfrm>
            <a:off x="5486400" y="2788920"/>
            <a:ext cx="128016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7F0F3"/>
                </a:solidFill>
                <a:latin typeface="Arial"/>
              </a:rPr>
              <a:t>U_b</a:t>
            </a:r>
          </a:p>
        </p:txBody>
      </p:sp>
      <p:cxnSp>
        <p:nvCxnSpPr>
          <p:cNvPr id="18" name="C2-E36 arrow 16" descr="sci-ppt:o016"/>
          <p:cNvCxnSpPr/>
          <p:nvPr/>
        </p:nvCxnSpPr>
        <p:spPr>
          <a:xfrm>
            <a:off x="4526280" y="2926080"/>
            <a:ext cx="777240" cy="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9" name="C2-E36 arrow 17" descr="sci-ppt:o017"/>
          <p:cNvCxnSpPr/>
          <p:nvPr/>
        </p:nvCxnSpPr>
        <p:spPr>
          <a:xfrm flipV="1">
            <a:off x="6949440" y="1920240"/>
            <a:ext cx="640080" cy="45720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20" name="C2-E36 arrow 18" descr="sci-ppt:o018"/>
          <p:cNvCxnSpPr/>
          <p:nvPr/>
        </p:nvCxnSpPr>
        <p:spPr>
          <a:xfrm>
            <a:off x="6126480" y="1645920"/>
            <a:ext cx="0" cy="45720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21" name="C2-E36 text 19" descr="sci-ppt:o019"/>
          <p:cNvSpPr txBox="1"/>
          <p:nvPr/>
        </p:nvSpPr>
        <p:spPr>
          <a:xfrm>
            <a:off x="4434840" y="4206240"/>
            <a:ext cx="3383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U̇_b = Q̇_b − p_b V̇_b + Σ hᵥ,s ṁᵥ,s</a:t>
            </a:r>
          </a:p>
        </p:txBody>
      </p:sp>
      <p:sp>
        <p:nvSpPr>
          <p:cNvPr id="22" name="C2-E36 text 20" descr="sci-ppt:o020"/>
          <p:cNvSpPr txBox="1"/>
          <p:nvPr/>
        </p:nvSpPr>
        <p:spPr>
          <a:xfrm>
            <a:off x="4434840" y="484632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heat, work and carried enthalpy</a:t>
            </a:r>
          </a:p>
        </p:txBody>
      </p:sp>
      <p:sp>
        <p:nvSpPr>
          <p:cNvPr id="23" name="C2-E36 round_rect 21" descr="sci-ppt:o021"/>
          <p:cNvSpPr/>
          <p:nvPr/>
        </p:nvSpPr>
        <p:spPr>
          <a:xfrm>
            <a:off x="8138160" y="1005840"/>
            <a:ext cx="3657600" cy="4480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2-E36 text 22" descr="sci-ppt:o022"/>
          <p:cNvSpPr txBox="1"/>
          <p:nvPr/>
        </p:nvSpPr>
        <p:spPr>
          <a:xfrm>
            <a:off x="8247888" y="106070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Velocity slip</a:t>
            </a:r>
          </a:p>
        </p:txBody>
      </p:sp>
      <p:cxnSp>
        <p:nvCxnSpPr>
          <p:cNvPr id="25" name="C2-E36 line 23" descr="sci-ppt:o023"/>
          <p:cNvCxnSpPr/>
          <p:nvPr/>
        </p:nvCxnSpPr>
        <p:spPr>
          <a:xfrm flipV="1">
            <a:off x="8412480" y="1737360"/>
            <a:ext cx="0" cy="1920240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cxnSp>
        <p:nvCxnSpPr>
          <p:cNvPr id="26" name="C2-E36 arrow 24" descr="sci-ppt:o024"/>
          <p:cNvCxnSpPr/>
          <p:nvPr/>
        </p:nvCxnSpPr>
        <p:spPr>
          <a:xfrm>
            <a:off x="8503920" y="2468880"/>
            <a:ext cx="2103120" cy="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27" name="C2-E36 arrow 25" descr="sci-ppt:o025"/>
          <p:cNvCxnSpPr/>
          <p:nvPr/>
        </p:nvCxnSpPr>
        <p:spPr>
          <a:xfrm>
            <a:off x="8503920" y="3108960"/>
            <a:ext cx="1645920" cy="0"/>
          </a:xfrm>
          <a:prstGeom prst="line">
            <a:avLst/>
          </a:prstGeom>
          <a:ln w="4445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28" name="C2-E36 text 26" descr="sci-ppt:o026"/>
          <p:cNvSpPr txBox="1"/>
          <p:nvPr/>
        </p:nvSpPr>
        <p:spPr>
          <a:xfrm>
            <a:off x="8549640" y="2011680"/>
            <a:ext cx="30175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wall: Ṙ</a:t>
            </a:r>
          </a:p>
        </p:txBody>
      </p:sp>
      <p:sp>
        <p:nvSpPr>
          <p:cNvPr id="29" name="C2-E36 text 27" descr="sci-ppt:o027"/>
          <p:cNvSpPr txBox="1"/>
          <p:nvPr/>
        </p:nvSpPr>
        <p:spPr>
          <a:xfrm>
            <a:off x="8549640" y="3154680"/>
            <a:ext cx="30175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8EDBD4"/>
                </a:solidFill>
                <a:latin typeface="Arial"/>
              </a:rPr>
              <a:t>liquid: uₗ(R)</a:t>
            </a:r>
          </a:p>
        </p:txBody>
      </p:sp>
      <p:sp>
        <p:nvSpPr>
          <p:cNvPr id="30" name="C2-E36 text 28" descr="sci-ppt:o028"/>
          <p:cNvSpPr txBox="1"/>
          <p:nvPr/>
        </p:nvSpPr>
        <p:spPr>
          <a:xfrm>
            <a:off x="8275320" y="4206240"/>
            <a:ext cx="33832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uₗ(R) = Ṙ − jₛ / ρₗ</a:t>
            </a:r>
          </a:p>
        </p:txBody>
      </p:sp>
      <p:sp>
        <p:nvSpPr>
          <p:cNvPr id="31" name="C2-E36 text 29" descr="sci-ppt:o029"/>
          <p:cNvSpPr txBox="1"/>
          <p:nvPr/>
        </p:nvSpPr>
        <p:spPr>
          <a:xfrm>
            <a:off x="8275320" y="475488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evaporation separates them</a:t>
            </a:r>
          </a:p>
        </p:txBody>
      </p:sp>
      <p:sp>
        <p:nvSpPr>
          <p:cNvPr id="32" name="C2-E36 text 30" descr="sci-ppt:o030"/>
          <p:cNvSpPr txBox="1"/>
          <p:nvPr/>
        </p:nvSpPr>
        <p:spPr>
          <a:xfrm>
            <a:off x="457200" y="566928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Conserved energy and mass at the interface prevent unlimited vapor and double-counted latent heat.</a:t>
            </a:r>
          </a:p>
        </p:txBody>
      </p:sp>
      <p:sp>
        <p:nvSpPr>
          <p:cNvPr id="33" name="C2-E36 text 31" descr="sci-ppt:o03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Defence 4: Eqs. C2-E20, E21, E22.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