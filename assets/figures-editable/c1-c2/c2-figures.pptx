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1948160" cy="80954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C2-E01 | Physical-variable diagram</a:t>
            </a:r>
          </a:p>
        </p:txBody>
      </p:sp>
      <p:sp>
        <p:nvSpPr>
          <p:cNvPr id="3" name="ellipse2" descr="sci-ppt:C2-E01-002"/>
          <p:cNvSpPr/>
          <p:nvPr/>
        </p:nvSpPr>
        <p:spPr>
          <a:xfrm>
            <a:off x="1402080" y="1341120"/>
            <a:ext cx="2560320" cy="2560320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01-003"/>
          <p:cNvSpPr/>
          <p:nvPr/>
        </p:nvSpPr>
        <p:spPr>
          <a:xfrm>
            <a:off x="1914144" y="1853184"/>
            <a:ext cx="1536192" cy="1536192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2-E01-004"/>
          <p:cNvCxnSpPr/>
          <p:nvPr/>
        </p:nvCxnSpPr>
        <p:spPr>
          <a:xfrm>
            <a:off x="2682240" y="2621280"/>
            <a:ext cx="128015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01-005"/>
          <p:cNvSpPr txBox="1"/>
          <p:nvPr/>
        </p:nvSpPr>
        <p:spPr>
          <a:xfrm>
            <a:off x="2926080" y="2743200"/>
            <a:ext cx="9753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sp>
        <p:nvSpPr>
          <p:cNvPr id="7" name="text6" descr="sci-ppt:C2-E01-006"/>
          <p:cNvSpPr txBox="1"/>
          <p:nvPr/>
        </p:nvSpPr>
        <p:spPr>
          <a:xfrm>
            <a:off x="1402080" y="4084320"/>
            <a:ext cx="4876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Illuminated transverse plane</a:t>
            </a:r>
          </a:p>
        </p:txBody>
      </p:sp>
      <p:cxnSp>
        <p:nvCxnSpPr>
          <p:cNvPr id="8" name="arrow7" descr="sci-ppt:C2-E01-007"/>
          <p:cNvCxnSpPr/>
          <p:nvPr/>
        </p:nvCxnSpPr>
        <p:spPr>
          <a:xfrm>
            <a:off x="658368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arrow8" descr="sci-ppt:C2-E01-008"/>
          <p:cNvCxnSpPr/>
          <p:nvPr/>
        </p:nvCxnSpPr>
        <p:spPr>
          <a:xfrm flipV="1">
            <a:off x="6583680" y="1402080"/>
            <a:ext cx="0" cy="256031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01-009"/>
          <p:cNvSpPr txBox="1"/>
          <p:nvPr/>
        </p:nvSpPr>
        <p:spPr>
          <a:xfrm>
            <a:off x="987552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 / w</a:t>
            </a:r>
          </a:p>
        </p:txBody>
      </p:sp>
      <p:sp>
        <p:nvSpPr>
          <p:cNvPr id="11" name="text10" descr="sci-ppt:C2-E01-010"/>
          <p:cNvSpPr txBox="1"/>
          <p:nvPr/>
        </p:nvSpPr>
        <p:spPr>
          <a:xfrm>
            <a:off x="6461760" y="103632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 / F0</a:t>
            </a:r>
          </a:p>
        </p:txBody>
      </p:sp>
      <p:cxnSp>
        <p:nvCxnSpPr>
          <p:cNvPr id="12" name="line11" descr="sci-ppt:C2-E01-011"/>
          <p:cNvCxnSpPr/>
          <p:nvPr/>
        </p:nvCxnSpPr>
        <p:spPr>
          <a:xfrm>
            <a:off x="6644640" y="1524000"/>
            <a:ext cx="103632" cy="121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01-012"/>
          <p:cNvCxnSpPr/>
          <p:nvPr/>
        </p:nvCxnSpPr>
        <p:spPr>
          <a:xfrm>
            <a:off x="6748272" y="1536161"/>
            <a:ext cx="103632" cy="36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01-013"/>
          <p:cNvCxnSpPr/>
          <p:nvPr/>
        </p:nvCxnSpPr>
        <p:spPr>
          <a:xfrm>
            <a:off x="6851904" y="1572283"/>
            <a:ext cx="103632" cy="590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01-014"/>
          <p:cNvCxnSpPr/>
          <p:nvPr/>
        </p:nvCxnSpPr>
        <p:spPr>
          <a:xfrm>
            <a:off x="6955536" y="1631295"/>
            <a:ext cx="103632" cy="801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01-015"/>
          <p:cNvCxnSpPr/>
          <p:nvPr/>
        </p:nvCxnSpPr>
        <p:spPr>
          <a:xfrm>
            <a:off x="7059168" y="1711473"/>
            <a:ext cx="103632" cy="990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01-016"/>
          <p:cNvCxnSpPr/>
          <p:nvPr/>
        </p:nvCxnSpPr>
        <p:spPr>
          <a:xfrm>
            <a:off x="7162800" y="1810519"/>
            <a:ext cx="103632" cy="1151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01-017"/>
          <p:cNvCxnSpPr/>
          <p:nvPr/>
        </p:nvCxnSpPr>
        <p:spPr>
          <a:xfrm>
            <a:off x="7266432" y="1925677"/>
            <a:ext cx="103632" cy="1281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01-018"/>
          <p:cNvCxnSpPr/>
          <p:nvPr/>
        </p:nvCxnSpPr>
        <p:spPr>
          <a:xfrm>
            <a:off x="7370064" y="2053853"/>
            <a:ext cx="103632" cy="1379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01-019"/>
          <p:cNvCxnSpPr/>
          <p:nvPr/>
        </p:nvCxnSpPr>
        <p:spPr>
          <a:xfrm>
            <a:off x="7473696" y="2191758"/>
            <a:ext cx="103632" cy="14428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01-020"/>
          <p:cNvCxnSpPr/>
          <p:nvPr/>
        </p:nvCxnSpPr>
        <p:spPr>
          <a:xfrm>
            <a:off x="7577328" y="2336043"/>
            <a:ext cx="103632" cy="1473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01-021"/>
          <p:cNvCxnSpPr/>
          <p:nvPr/>
        </p:nvCxnSpPr>
        <p:spPr>
          <a:xfrm>
            <a:off x="7680960" y="2483435"/>
            <a:ext cx="103632" cy="14741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01-022"/>
          <p:cNvCxnSpPr/>
          <p:nvPr/>
        </p:nvCxnSpPr>
        <p:spPr>
          <a:xfrm>
            <a:off x="7784592" y="2630852"/>
            <a:ext cx="103632" cy="1446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01-023"/>
          <p:cNvCxnSpPr/>
          <p:nvPr/>
        </p:nvCxnSpPr>
        <p:spPr>
          <a:xfrm>
            <a:off x="7888224" y="2775503"/>
            <a:ext cx="103632" cy="1394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01-024"/>
          <p:cNvCxnSpPr/>
          <p:nvPr/>
        </p:nvCxnSpPr>
        <p:spPr>
          <a:xfrm>
            <a:off x="7991856" y="2914967"/>
            <a:ext cx="103632" cy="132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01-025"/>
          <p:cNvCxnSpPr/>
          <p:nvPr/>
        </p:nvCxnSpPr>
        <p:spPr>
          <a:xfrm>
            <a:off x="8095488" y="3047241"/>
            <a:ext cx="103632" cy="1235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01-026"/>
          <p:cNvCxnSpPr/>
          <p:nvPr/>
        </p:nvCxnSpPr>
        <p:spPr>
          <a:xfrm>
            <a:off x="8199120" y="3170767"/>
            <a:ext cx="103632" cy="1136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01-027"/>
          <p:cNvCxnSpPr/>
          <p:nvPr/>
        </p:nvCxnSpPr>
        <p:spPr>
          <a:xfrm>
            <a:off x="8302752" y="3284433"/>
            <a:ext cx="103632" cy="1031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01-028"/>
          <p:cNvCxnSpPr/>
          <p:nvPr/>
        </p:nvCxnSpPr>
        <p:spPr>
          <a:xfrm>
            <a:off x="8406384" y="3387556"/>
            <a:ext cx="103632" cy="922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01-029"/>
          <p:cNvCxnSpPr/>
          <p:nvPr/>
        </p:nvCxnSpPr>
        <p:spPr>
          <a:xfrm>
            <a:off x="8510016" y="3479843"/>
            <a:ext cx="103632" cy="815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01-030"/>
          <p:cNvCxnSpPr/>
          <p:nvPr/>
        </p:nvCxnSpPr>
        <p:spPr>
          <a:xfrm>
            <a:off x="8613648" y="3561345"/>
            <a:ext cx="103632" cy="710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01-031"/>
          <p:cNvCxnSpPr/>
          <p:nvPr/>
        </p:nvCxnSpPr>
        <p:spPr>
          <a:xfrm>
            <a:off x="8717280" y="3632398"/>
            <a:ext cx="103632" cy="611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01-032"/>
          <p:cNvCxnSpPr/>
          <p:nvPr/>
        </p:nvCxnSpPr>
        <p:spPr>
          <a:xfrm>
            <a:off x="8820912" y="3693565"/>
            <a:ext cx="103632" cy="520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01-033"/>
          <p:cNvCxnSpPr/>
          <p:nvPr/>
        </p:nvCxnSpPr>
        <p:spPr>
          <a:xfrm>
            <a:off x="8924544" y="3745573"/>
            <a:ext cx="103632" cy="436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01-034"/>
          <p:cNvCxnSpPr/>
          <p:nvPr/>
        </p:nvCxnSpPr>
        <p:spPr>
          <a:xfrm>
            <a:off x="9028176" y="3789260"/>
            <a:ext cx="103632" cy="362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01-035"/>
          <p:cNvCxnSpPr/>
          <p:nvPr/>
        </p:nvCxnSpPr>
        <p:spPr>
          <a:xfrm>
            <a:off x="9131808" y="3825520"/>
            <a:ext cx="103632" cy="297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01-036"/>
          <p:cNvCxnSpPr/>
          <p:nvPr/>
        </p:nvCxnSpPr>
        <p:spPr>
          <a:xfrm>
            <a:off x="9235440" y="3855264"/>
            <a:ext cx="103632" cy="241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01-037"/>
          <p:cNvCxnSpPr/>
          <p:nvPr/>
        </p:nvCxnSpPr>
        <p:spPr>
          <a:xfrm>
            <a:off x="9339072" y="3879378"/>
            <a:ext cx="103632" cy="193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01-038"/>
          <p:cNvCxnSpPr/>
          <p:nvPr/>
        </p:nvCxnSpPr>
        <p:spPr>
          <a:xfrm>
            <a:off x="9442704" y="3898705"/>
            <a:ext cx="103632" cy="15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01-039"/>
          <p:cNvCxnSpPr/>
          <p:nvPr/>
        </p:nvCxnSpPr>
        <p:spPr>
          <a:xfrm>
            <a:off x="9546336" y="3914019"/>
            <a:ext cx="103632" cy="119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01-040"/>
          <p:cNvCxnSpPr/>
          <p:nvPr/>
        </p:nvCxnSpPr>
        <p:spPr>
          <a:xfrm>
            <a:off x="9649968" y="3926017"/>
            <a:ext cx="103632" cy="92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01-041"/>
          <p:cNvCxnSpPr/>
          <p:nvPr/>
        </p:nvCxnSpPr>
        <p:spPr>
          <a:xfrm>
            <a:off x="9753600" y="3935311"/>
            <a:ext cx="103632" cy="71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01-042"/>
          <p:cNvCxnSpPr/>
          <p:nvPr/>
        </p:nvCxnSpPr>
        <p:spPr>
          <a:xfrm>
            <a:off x="9857232" y="3942432"/>
            <a:ext cx="103632" cy="53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01-043"/>
          <p:cNvCxnSpPr/>
          <p:nvPr/>
        </p:nvCxnSpPr>
        <p:spPr>
          <a:xfrm>
            <a:off x="9960864" y="3947828"/>
            <a:ext cx="103632" cy="404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01-044"/>
          <p:cNvCxnSpPr/>
          <p:nvPr/>
        </p:nvCxnSpPr>
        <p:spPr>
          <a:xfrm>
            <a:off x="10064496" y="3951871"/>
            <a:ext cx="103632" cy="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01-045"/>
          <p:cNvCxnSpPr/>
          <p:nvPr/>
        </p:nvCxnSpPr>
        <p:spPr>
          <a:xfrm>
            <a:off x="10168128" y="3954868"/>
            <a:ext cx="103632" cy="2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01-046"/>
          <p:cNvCxnSpPr/>
          <p:nvPr/>
        </p:nvCxnSpPr>
        <p:spPr>
          <a:xfrm>
            <a:off x="10271760" y="3957066"/>
            <a:ext cx="103632" cy="1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01-047"/>
          <p:cNvCxnSpPr/>
          <p:nvPr/>
        </p:nvCxnSpPr>
        <p:spPr>
          <a:xfrm>
            <a:off x="10375392" y="3958659"/>
            <a:ext cx="103632" cy="11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01-048"/>
          <p:cNvCxnSpPr/>
          <p:nvPr/>
        </p:nvCxnSpPr>
        <p:spPr>
          <a:xfrm>
            <a:off x="10479024" y="3959803"/>
            <a:ext cx="103632" cy="8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01-049"/>
          <p:cNvCxnSpPr/>
          <p:nvPr/>
        </p:nvCxnSpPr>
        <p:spPr>
          <a:xfrm>
            <a:off x="10582656" y="3960615"/>
            <a:ext cx="103632" cy="5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line50" descr="sci-ppt:C2-E01-050"/>
          <p:cNvCxnSpPr/>
          <p:nvPr/>
        </p:nvCxnSpPr>
        <p:spPr>
          <a:xfrm>
            <a:off x="10686288" y="3961185"/>
            <a:ext cx="103632" cy="3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2" name="text51" descr="sci-ppt:C2-E01-051"/>
          <p:cNvSpPr txBox="1"/>
          <p:nvPr/>
        </p:nvSpPr>
        <p:spPr>
          <a:xfrm>
            <a:off x="7254240" y="103632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Gaussian profile (prescribed)</a:t>
            </a:r>
          </a:p>
        </p:txBody>
      </p:sp>
      <p:sp>
        <p:nvSpPr>
          <p:cNvPr id="53" name="text52" descr="sci-ppt:C2-E01-05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r: transverse radius</a:t>
            </a:r>
          </a:p>
        </p:txBody>
      </p:sp>
      <p:sp>
        <p:nvSpPr>
          <p:cNvPr id="54" name="text53" descr="sci-ppt:C2-E01-05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F(r), F₀: fluence</a:t>
            </a:r>
          </a:p>
        </p:txBody>
      </p:sp>
      <p:sp>
        <p:nvSpPr>
          <p:cNvPr id="55" name="text54" descr="sci-ppt:C2-E01-054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w: e⁻² beam radius</a:t>
            </a:r>
          </a:p>
        </p:txBody>
      </p:sp>
      <p:sp>
        <p:nvSpPr>
          <p:cNvPr id="56" name="text55" descr="sci-ppt:C2-E01-055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Beam axis at r = 0</a:t>
            </a:r>
          </a:p>
        </p:txBody>
      </p:sp>
      <p:sp>
        <p:nvSpPr>
          <p:cNvPr id="57" name="text56" descr="sci-ppt:C2-E01-056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Gaussian profile across the illuminated plane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2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C2-E02 | Physical-variable diagram</a:t>
            </a:r>
          </a:p>
        </p:txBody>
      </p:sp>
      <p:sp>
        <p:nvSpPr>
          <p:cNvPr id="3" name="ellipse2" descr="sci-ppt:C2-E02-002"/>
          <p:cNvSpPr/>
          <p:nvPr/>
        </p:nvSpPr>
        <p:spPr>
          <a:xfrm>
            <a:off x="1402080" y="1341120"/>
            <a:ext cx="2560320" cy="2560320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02-003"/>
          <p:cNvSpPr/>
          <p:nvPr/>
        </p:nvSpPr>
        <p:spPr>
          <a:xfrm>
            <a:off x="1914144" y="1853184"/>
            <a:ext cx="1536192" cy="1536192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2-E02-004"/>
          <p:cNvCxnSpPr/>
          <p:nvPr/>
        </p:nvCxnSpPr>
        <p:spPr>
          <a:xfrm>
            <a:off x="2682240" y="2621280"/>
            <a:ext cx="128015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02-005"/>
          <p:cNvSpPr txBox="1"/>
          <p:nvPr/>
        </p:nvSpPr>
        <p:spPr>
          <a:xfrm>
            <a:off x="2926080" y="2743200"/>
            <a:ext cx="9753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sp>
        <p:nvSpPr>
          <p:cNvPr id="7" name="text6" descr="sci-ppt:C2-E02-006"/>
          <p:cNvSpPr txBox="1"/>
          <p:nvPr/>
        </p:nvSpPr>
        <p:spPr>
          <a:xfrm>
            <a:off x="1402080" y="4084320"/>
            <a:ext cx="4876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Illuminated transverse plane</a:t>
            </a:r>
          </a:p>
        </p:txBody>
      </p:sp>
      <p:cxnSp>
        <p:nvCxnSpPr>
          <p:cNvPr id="8" name="arrow7" descr="sci-ppt:C2-E02-007"/>
          <p:cNvCxnSpPr/>
          <p:nvPr/>
        </p:nvCxnSpPr>
        <p:spPr>
          <a:xfrm>
            <a:off x="658368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arrow8" descr="sci-ppt:C2-E02-008"/>
          <p:cNvCxnSpPr/>
          <p:nvPr/>
        </p:nvCxnSpPr>
        <p:spPr>
          <a:xfrm flipV="1">
            <a:off x="6583680" y="1402080"/>
            <a:ext cx="0" cy="256031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02-009"/>
          <p:cNvSpPr txBox="1"/>
          <p:nvPr/>
        </p:nvSpPr>
        <p:spPr>
          <a:xfrm>
            <a:off x="987552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 / w</a:t>
            </a:r>
          </a:p>
        </p:txBody>
      </p:sp>
      <p:sp>
        <p:nvSpPr>
          <p:cNvPr id="11" name="text10" descr="sci-ppt:C2-E02-010"/>
          <p:cNvSpPr txBox="1"/>
          <p:nvPr/>
        </p:nvSpPr>
        <p:spPr>
          <a:xfrm>
            <a:off x="6461760" y="103632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 / F0</a:t>
            </a:r>
          </a:p>
        </p:txBody>
      </p:sp>
      <p:cxnSp>
        <p:nvCxnSpPr>
          <p:cNvPr id="12" name="line11" descr="sci-ppt:C2-E02-011"/>
          <p:cNvCxnSpPr/>
          <p:nvPr/>
        </p:nvCxnSpPr>
        <p:spPr>
          <a:xfrm>
            <a:off x="6644640" y="1524000"/>
            <a:ext cx="103632" cy="121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02-012"/>
          <p:cNvCxnSpPr/>
          <p:nvPr/>
        </p:nvCxnSpPr>
        <p:spPr>
          <a:xfrm>
            <a:off x="6748272" y="1536161"/>
            <a:ext cx="103632" cy="36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02-013"/>
          <p:cNvCxnSpPr/>
          <p:nvPr/>
        </p:nvCxnSpPr>
        <p:spPr>
          <a:xfrm>
            <a:off x="6851904" y="1572283"/>
            <a:ext cx="103632" cy="590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02-014"/>
          <p:cNvCxnSpPr/>
          <p:nvPr/>
        </p:nvCxnSpPr>
        <p:spPr>
          <a:xfrm>
            <a:off x="6955536" y="1631295"/>
            <a:ext cx="103632" cy="801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02-015"/>
          <p:cNvCxnSpPr/>
          <p:nvPr/>
        </p:nvCxnSpPr>
        <p:spPr>
          <a:xfrm>
            <a:off x="7059168" y="1711473"/>
            <a:ext cx="103632" cy="990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02-016"/>
          <p:cNvCxnSpPr/>
          <p:nvPr/>
        </p:nvCxnSpPr>
        <p:spPr>
          <a:xfrm>
            <a:off x="7162800" y="1810519"/>
            <a:ext cx="103632" cy="1151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02-017"/>
          <p:cNvCxnSpPr/>
          <p:nvPr/>
        </p:nvCxnSpPr>
        <p:spPr>
          <a:xfrm>
            <a:off x="7266432" y="1925677"/>
            <a:ext cx="103632" cy="1281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02-018"/>
          <p:cNvCxnSpPr/>
          <p:nvPr/>
        </p:nvCxnSpPr>
        <p:spPr>
          <a:xfrm>
            <a:off x="7370064" y="2053853"/>
            <a:ext cx="103632" cy="1379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02-019"/>
          <p:cNvCxnSpPr/>
          <p:nvPr/>
        </p:nvCxnSpPr>
        <p:spPr>
          <a:xfrm>
            <a:off x="7473696" y="2191758"/>
            <a:ext cx="103632" cy="14428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02-020"/>
          <p:cNvCxnSpPr/>
          <p:nvPr/>
        </p:nvCxnSpPr>
        <p:spPr>
          <a:xfrm>
            <a:off x="7577328" y="2336043"/>
            <a:ext cx="103632" cy="1473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02-021"/>
          <p:cNvCxnSpPr/>
          <p:nvPr/>
        </p:nvCxnSpPr>
        <p:spPr>
          <a:xfrm>
            <a:off x="7680960" y="2483435"/>
            <a:ext cx="103632" cy="14741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02-022"/>
          <p:cNvCxnSpPr/>
          <p:nvPr/>
        </p:nvCxnSpPr>
        <p:spPr>
          <a:xfrm>
            <a:off x="7784592" y="2630852"/>
            <a:ext cx="103632" cy="1446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02-023"/>
          <p:cNvCxnSpPr/>
          <p:nvPr/>
        </p:nvCxnSpPr>
        <p:spPr>
          <a:xfrm>
            <a:off x="7888224" y="2775503"/>
            <a:ext cx="103632" cy="1394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02-024"/>
          <p:cNvCxnSpPr/>
          <p:nvPr/>
        </p:nvCxnSpPr>
        <p:spPr>
          <a:xfrm>
            <a:off x="7991856" y="2914967"/>
            <a:ext cx="103632" cy="132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02-025"/>
          <p:cNvCxnSpPr/>
          <p:nvPr/>
        </p:nvCxnSpPr>
        <p:spPr>
          <a:xfrm>
            <a:off x="8095488" y="3047241"/>
            <a:ext cx="103632" cy="1235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02-026"/>
          <p:cNvCxnSpPr/>
          <p:nvPr/>
        </p:nvCxnSpPr>
        <p:spPr>
          <a:xfrm>
            <a:off x="8199120" y="3170767"/>
            <a:ext cx="103632" cy="1136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02-027"/>
          <p:cNvCxnSpPr/>
          <p:nvPr/>
        </p:nvCxnSpPr>
        <p:spPr>
          <a:xfrm>
            <a:off x="8302752" y="3284433"/>
            <a:ext cx="103632" cy="1031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02-028"/>
          <p:cNvCxnSpPr/>
          <p:nvPr/>
        </p:nvCxnSpPr>
        <p:spPr>
          <a:xfrm>
            <a:off x="8406384" y="3387556"/>
            <a:ext cx="103632" cy="922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02-029"/>
          <p:cNvCxnSpPr/>
          <p:nvPr/>
        </p:nvCxnSpPr>
        <p:spPr>
          <a:xfrm>
            <a:off x="8510016" y="3479843"/>
            <a:ext cx="103632" cy="815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02-030"/>
          <p:cNvCxnSpPr/>
          <p:nvPr/>
        </p:nvCxnSpPr>
        <p:spPr>
          <a:xfrm>
            <a:off x="8613648" y="3561345"/>
            <a:ext cx="103632" cy="710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02-031"/>
          <p:cNvCxnSpPr/>
          <p:nvPr/>
        </p:nvCxnSpPr>
        <p:spPr>
          <a:xfrm>
            <a:off x="8717280" y="3632398"/>
            <a:ext cx="103632" cy="611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02-032"/>
          <p:cNvCxnSpPr/>
          <p:nvPr/>
        </p:nvCxnSpPr>
        <p:spPr>
          <a:xfrm>
            <a:off x="8820912" y="3693565"/>
            <a:ext cx="103632" cy="520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02-033"/>
          <p:cNvCxnSpPr/>
          <p:nvPr/>
        </p:nvCxnSpPr>
        <p:spPr>
          <a:xfrm>
            <a:off x="8924544" y="3745573"/>
            <a:ext cx="103632" cy="436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02-034"/>
          <p:cNvCxnSpPr/>
          <p:nvPr/>
        </p:nvCxnSpPr>
        <p:spPr>
          <a:xfrm>
            <a:off x="9028176" y="3789260"/>
            <a:ext cx="103632" cy="362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02-035"/>
          <p:cNvCxnSpPr/>
          <p:nvPr/>
        </p:nvCxnSpPr>
        <p:spPr>
          <a:xfrm>
            <a:off x="9131808" y="3825520"/>
            <a:ext cx="103632" cy="297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02-036"/>
          <p:cNvCxnSpPr/>
          <p:nvPr/>
        </p:nvCxnSpPr>
        <p:spPr>
          <a:xfrm>
            <a:off x="9235440" y="3855264"/>
            <a:ext cx="103632" cy="241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02-037"/>
          <p:cNvCxnSpPr/>
          <p:nvPr/>
        </p:nvCxnSpPr>
        <p:spPr>
          <a:xfrm>
            <a:off x="9339072" y="3879378"/>
            <a:ext cx="103632" cy="193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02-038"/>
          <p:cNvCxnSpPr/>
          <p:nvPr/>
        </p:nvCxnSpPr>
        <p:spPr>
          <a:xfrm>
            <a:off x="9442704" y="3898705"/>
            <a:ext cx="103632" cy="15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02-039"/>
          <p:cNvCxnSpPr/>
          <p:nvPr/>
        </p:nvCxnSpPr>
        <p:spPr>
          <a:xfrm>
            <a:off x="9546336" y="3914019"/>
            <a:ext cx="103632" cy="119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02-040"/>
          <p:cNvCxnSpPr/>
          <p:nvPr/>
        </p:nvCxnSpPr>
        <p:spPr>
          <a:xfrm>
            <a:off x="9649968" y="3926017"/>
            <a:ext cx="103632" cy="92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02-041"/>
          <p:cNvCxnSpPr/>
          <p:nvPr/>
        </p:nvCxnSpPr>
        <p:spPr>
          <a:xfrm>
            <a:off x="9753600" y="3935311"/>
            <a:ext cx="103632" cy="71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02-042"/>
          <p:cNvCxnSpPr/>
          <p:nvPr/>
        </p:nvCxnSpPr>
        <p:spPr>
          <a:xfrm>
            <a:off x="9857232" y="3942432"/>
            <a:ext cx="103632" cy="53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02-043"/>
          <p:cNvCxnSpPr/>
          <p:nvPr/>
        </p:nvCxnSpPr>
        <p:spPr>
          <a:xfrm>
            <a:off x="9960864" y="3947828"/>
            <a:ext cx="103632" cy="404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02-044"/>
          <p:cNvCxnSpPr/>
          <p:nvPr/>
        </p:nvCxnSpPr>
        <p:spPr>
          <a:xfrm>
            <a:off x="10064496" y="3951871"/>
            <a:ext cx="103632" cy="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02-045"/>
          <p:cNvCxnSpPr/>
          <p:nvPr/>
        </p:nvCxnSpPr>
        <p:spPr>
          <a:xfrm>
            <a:off x="10168128" y="3954868"/>
            <a:ext cx="103632" cy="2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02-046"/>
          <p:cNvCxnSpPr/>
          <p:nvPr/>
        </p:nvCxnSpPr>
        <p:spPr>
          <a:xfrm>
            <a:off x="10271760" y="3957066"/>
            <a:ext cx="103632" cy="1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02-047"/>
          <p:cNvCxnSpPr/>
          <p:nvPr/>
        </p:nvCxnSpPr>
        <p:spPr>
          <a:xfrm>
            <a:off x="10375392" y="3958659"/>
            <a:ext cx="103632" cy="11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02-048"/>
          <p:cNvCxnSpPr/>
          <p:nvPr/>
        </p:nvCxnSpPr>
        <p:spPr>
          <a:xfrm>
            <a:off x="10479024" y="3959803"/>
            <a:ext cx="103632" cy="8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02-049"/>
          <p:cNvCxnSpPr/>
          <p:nvPr/>
        </p:nvCxnSpPr>
        <p:spPr>
          <a:xfrm>
            <a:off x="10582656" y="3960615"/>
            <a:ext cx="103632" cy="5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line50" descr="sci-ppt:C2-E02-050"/>
          <p:cNvCxnSpPr/>
          <p:nvPr/>
        </p:nvCxnSpPr>
        <p:spPr>
          <a:xfrm>
            <a:off x="10686288" y="3961185"/>
            <a:ext cx="103632" cy="3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2" name="text51" descr="sci-ppt:C2-E02-051"/>
          <p:cNvSpPr txBox="1"/>
          <p:nvPr/>
        </p:nvSpPr>
        <p:spPr>
          <a:xfrm>
            <a:off x="7254240" y="103632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Gaussian profile (prescribed)</a:t>
            </a:r>
          </a:p>
        </p:txBody>
      </p:sp>
      <p:sp>
        <p:nvSpPr>
          <p:cNvPr id="53" name="text52" descr="sci-ppt:C2-E02-05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E_L: sum over annuli</a:t>
            </a:r>
          </a:p>
        </p:txBody>
      </p:sp>
      <p:sp>
        <p:nvSpPr>
          <p:cNvPr id="54" name="text53" descr="sci-ppt:C2-E02-05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w: transverse geometry</a:t>
            </a:r>
          </a:p>
        </p:txBody>
      </p:sp>
      <p:sp>
        <p:nvSpPr>
          <p:cNvPr id="55" name="text54" descr="sci-ppt:C2-E02-054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circular annuli</a:t>
            </a:r>
          </a:p>
        </p:txBody>
      </p:sp>
      <p:sp>
        <p:nvSpPr>
          <p:cNvPr id="56" name="text55" descr="sci-ppt:C2-E02-05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F₀: central fluence</a:t>
            </a:r>
          </a:p>
        </p:txBody>
      </p:sp>
      <p:sp>
        <p:nvSpPr>
          <p:cNvPr id="57" name="text56" descr="sci-ppt:C2-E02-05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x = 2r²/w²</a:t>
            </a:r>
          </a:p>
        </p:txBody>
      </p:sp>
      <p:sp>
        <p:nvSpPr>
          <p:cNvPr id="58" name="text57" descr="sci-ppt:C2-E02-057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Annulus area = 2πr dr</a:t>
            </a:r>
          </a:p>
        </p:txBody>
      </p:sp>
      <p:sp>
        <p:nvSpPr>
          <p:cNvPr id="59" name="text58" descr="sci-ppt:C2-E02-058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Integral of e⁻ˣ from 0 to infinity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3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C2-E03 | Physical-variable diagram</a:t>
            </a:r>
          </a:p>
        </p:txBody>
      </p:sp>
      <p:sp>
        <p:nvSpPr>
          <p:cNvPr id="3" name="ellipse2" descr="sci-ppt:C2-E03-002"/>
          <p:cNvSpPr/>
          <p:nvPr/>
        </p:nvSpPr>
        <p:spPr>
          <a:xfrm>
            <a:off x="1402080" y="1341120"/>
            <a:ext cx="2560320" cy="2560320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03-003"/>
          <p:cNvSpPr/>
          <p:nvPr/>
        </p:nvSpPr>
        <p:spPr>
          <a:xfrm>
            <a:off x="1914144" y="1853184"/>
            <a:ext cx="1536192" cy="1536192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2-E03-004"/>
          <p:cNvCxnSpPr/>
          <p:nvPr/>
        </p:nvCxnSpPr>
        <p:spPr>
          <a:xfrm>
            <a:off x="2682240" y="2621280"/>
            <a:ext cx="128015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03-005"/>
          <p:cNvSpPr txBox="1"/>
          <p:nvPr/>
        </p:nvSpPr>
        <p:spPr>
          <a:xfrm>
            <a:off x="2926080" y="2743200"/>
            <a:ext cx="9753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sp>
        <p:nvSpPr>
          <p:cNvPr id="7" name="text6" descr="sci-ppt:C2-E03-006"/>
          <p:cNvSpPr txBox="1"/>
          <p:nvPr/>
        </p:nvSpPr>
        <p:spPr>
          <a:xfrm>
            <a:off x="1402080" y="4084320"/>
            <a:ext cx="4876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Illuminated transverse plane</a:t>
            </a:r>
          </a:p>
        </p:txBody>
      </p:sp>
      <p:cxnSp>
        <p:nvCxnSpPr>
          <p:cNvPr id="8" name="arrow7" descr="sci-ppt:C2-E03-007"/>
          <p:cNvCxnSpPr/>
          <p:nvPr/>
        </p:nvCxnSpPr>
        <p:spPr>
          <a:xfrm>
            <a:off x="658368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arrow8" descr="sci-ppt:C2-E03-008"/>
          <p:cNvCxnSpPr/>
          <p:nvPr/>
        </p:nvCxnSpPr>
        <p:spPr>
          <a:xfrm flipV="1">
            <a:off x="6583680" y="1402080"/>
            <a:ext cx="0" cy="256031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03-009"/>
          <p:cNvSpPr txBox="1"/>
          <p:nvPr/>
        </p:nvSpPr>
        <p:spPr>
          <a:xfrm>
            <a:off x="987552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 / w</a:t>
            </a:r>
          </a:p>
        </p:txBody>
      </p:sp>
      <p:sp>
        <p:nvSpPr>
          <p:cNvPr id="11" name="text10" descr="sci-ppt:C2-E03-010"/>
          <p:cNvSpPr txBox="1"/>
          <p:nvPr/>
        </p:nvSpPr>
        <p:spPr>
          <a:xfrm>
            <a:off x="6461760" y="103632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 / F0</a:t>
            </a:r>
          </a:p>
        </p:txBody>
      </p:sp>
      <p:cxnSp>
        <p:nvCxnSpPr>
          <p:cNvPr id="12" name="line11" descr="sci-ppt:C2-E03-011"/>
          <p:cNvCxnSpPr/>
          <p:nvPr/>
        </p:nvCxnSpPr>
        <p:spPr>
          <a:xfrm>
            <a:off x="6644640" y="1524000"/>
            <a:ext cx="103632" cy="1216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03-012"/>
          <p:cNvCxnSpPr/>
          <p:nvPr/>
        </p:nvCxnSpPr>
        <p:spPr>
          <a:xfrm>
            <a:off x="6748272" y="1536161"/>
            <a:ext cx="103632" cy="361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03-013"/>
          <p:cNvCxnSpPr/>
          <p:nvPr/>
        </p:nvCxnSpPr>
        <p:spPr>
          <a:xfrm>
            <a:off x="6851904" y="1572283"/>
            <a:ext cx="103632" cy="590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03-014"/>
          <p:cNvCxnSpPr/>
          <p:nvPr/>
        </p:nvCxnSpPr>
        <p:spPr>
          <a:xfrm>
            <a:off x="6955536" y="1631295"/>
            <a:ext cx="103632" cy="801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03-015"/>
          <p:cNvCxnSpPr/>
          <p:nvPr/>
        </p:nvCxnSpPr>
        <p:spPr>
          <a:xfrm>
            <a:off x="7059168" y="1711473"/>
            <a:ext cx="103632" cy="9904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03-016"/>
          <p:cNvCxnSpPr/>
          <p:nvPr/>
        </p:nvCxnSpPr>
        <p:spPr>
          <a:xfrm>
            <a:off x="7162800" y="1810519"/>
            <a:ext cx="103632" cy="11515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03-017"/>
          <p:cNvCxnSpPr/>
          <p:nvPr/>
        </p:nvCxnSpPr>
        <p:spPr>
          <a:xfrm>
            <a:off x="7266432" y="1925677"/>
            <a:ext cx="103632" cy="1281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03-018"/>
          <p:cNvCxnSpPr/>
          <p:nvPr/>
        </p:nvCxnSpPr>
        <p:spPr>
          <a:xfrm>
            <a:off x="7370064" y="2053853"/>
            <a:ext cx="103632" cy="1379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03-019"/>
          <p:cNvCxnSpPr/>
          <p:nvPr/>
        </p:nvCxnSpPr>
        <p:spPr>
          <a:xfrm>
            <a:off x="7473696" y="2191758"/>
            <a:ext cx="103632" cy="14428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03-020"/>
          <p:cNvCxnSpPr/>
          <p:nvPr/>
        </p:nvCxnSpPr>
        <p:spPr>
          <a:xfrm>
            <a:off x="7577328" y="2336043"/>
            <a:ext cx="103632" cy="1473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03-021"/>
          <p:cNvCxnSpPr/>
          <p:nvPr/>
        </p:nvCxnSpPr>
        <p:spPr>
          <a:xfrm>
            <a:off x="7680960" y="2483435"/>
            <a:ext cx="103632" cy="14741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03-022"/>
          <p:cNvCxnSpPr/>
          <p:nvPr/>
        </p:nvCxnSpPr>
        <p:spPr>
          <a:xfrm>
            <a:off x="7784592" y="2630852"/>
            <a:ext cx="103632" cy="1446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03-023"/>
          <p:cNvCxnSpPr/>
          <p:nvPr/>
        </p:nvCxnSpPr>
        <p:spPr>
          <a:xfrm>
            <a:off x="7888224" y="2775503"/>
            <a:ext cx="103632" cy="13946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03-024"/>
          <p:cNvCxnSpPr/>
          <p:nvPr/>
        </p:nvCxnSpPr>
        <p:spPr>
          <a:xfrm>
            <a:off x="7991856" y="2914967"/>
            <a:ext cx="103632" cy="132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03-025"/>
          <p:cNvCxnSpPr/>
          <p:nvPr/>
        </p:nvCxnSpPr>
        <p:spPr>
          <a:xfrm>
            <a:off x="8095488" y="3047241"/>
            <a:ext cx="103632" cy="1235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03-026"/>
          <p:cNvCxnSpPr/>
          <p:nvPr/>
        </p:nvCxnSpPr>
        <p:spPr>
          <a:xfrm>
            <a:off x="8199120" y="3170767"/>
            <a:ext cx="103632" cy="1136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03-027"/>
          <p:cNvCxnSpPr/>
          <p:nvPr/>
        </p:nvCxnSpPr>
        <p:spPr>
          <a:xfrm>
            <a:off x="8302752" y="3284433"/>
            <a:ext cx="103632" cy="1031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03-028"/>
          <p:cNvCxnSpPr/>
          <p:nvPr/>
        </p:nvCxnSpPr>
        <p:spPr>
          <a:xfrm>
            <a:off x="8406384" y="3387556"/>
            <a:ext cx="103632" cy="922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03-029"/>
          <p:cNvCxnSpPr/>
          <p:nvPr/>
        </p:nvCxnSpPr>
        <p:spPr>
          <a:xfrm>
            <a:off x="8510016" y="3479843"/>
            <a:ext cx="103632" cy="815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03-030"/>
          <p:cNvCxnSpPr/>
          <p:nvPr/>
        </p:nvCxnSpPr>
        <p:spPr>
          <a:xfrm>
            <a:off x="8613648" y="3561345"/>
            <a:ext cx="103632" cy="710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03-031"/>
          <p:cNvCxnSpPr/>
          <p:nvPr/>
        </p:nvCxnSpPr>
        <p:spPr>
          <a:xfrm>
            <a:off x="8717280" y="3632398"/>
            <a:ext cx="103632" cy="611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03-032"/>
          <p:cNvCxnSpPr/>
          <p:nvPr/>
        </p:nvCxnSpPr>
        <p:spPr>
          <a:xfrm>
            <a:off x="8820912" y="3693565"/>
            <a:ext cx="103632" cy="520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03-033"/>
          <p:cNvCxnSpPr/>
          <p:nvPr/>
        </p:nvCxnSpPr>
        <p:spPr>
          <a:xfrm>
            <a:off x="8924544" y="3745573"/>
            <a:ext cx="103632" cy="436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03-034"/>
          <p:cNvCxnSpPr/>
          <p:nvPr/>
        </p:nvCxnSpPr>
        <p:spPr>
          <a:xfrm>
            <a:off x="9028176" y="3789260"/>
            <a:ext cx="103632" cy="362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03-035"/>
          <p:cNvCxnSpPr/>
          <p:nvPr/>
        </p:nvCxnSpPr>
        <p:spPr>
          <a:xfrm>
            <a:off x="9131808" y="3825520"/>
            <a:ext cx="103632" cy="297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03-036"/>
          <p:cNvCxnSpPr/>
          <p:nvPr/>
        </p:nvCxnSpPr>
        <p:spPr>
          <a:xfrm>
            <a:off x="9235440" y="3855264"/>
            <a:ext cx="103632" cy="241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03-037"/>
          <p:cNvCxnSpPr/>
          <p:nvPr/>
        </p:nvCxnSpPr>
        <p:spPr>
          <a:xfrm>
            <a:off x="9339072" y="3879378"/>
            <a:ext cx="103632" cy="193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03-038"/>
          <p:cNvCxnSpPr/>
          <p:nvPr/>
        </p:nvCxnSpPr>
        <p:spPr>
          <a:xfrm>
            <a:off x="9442704" y="3898705"/>
            <a:ext cx="103632" cy="15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03-039"/>
          <p:cNvCxnSpPr/>
          <p:nvPr/>
        </p:nvCxnSpPr>
        <p:spPr>
          <a:xfrm>
            <a:off x="9546336" y="3914019"/>
            <a:ext cx="103632" cy="119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03-040"/>
          <p:cNvCxnSpPr/>
          <p:nvPr/>
        </p:nvCxnSpPr>
        <p:spPr>
          <a:xfrm>
            <a:off x="9649968" y="3926017"/>
            <a:ext cx="103632" cy="929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03-041"/>
          <p:cNvCxnSpPr/>
          <p:nvPr/>
        </p:nvCxnSpPr>
        <p:spPr>
          <a:xfrm>
            <a:off x="9753600" y="3935311"/>
            <a:ext cx="103632" cy="71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03-042"/>
          <p:cNvCxnSpPr/>
          <p:nvPr/>
        </p:nvCxnSpPr>
        <p:spPr>
          <a:xfrm>
            <a:off x="9857232" y="3942432"/>
            <a:ext cx="103632" cy="53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03-043"/>
          <p:cNvCxnSpPr/>
          <p:nvPr/>
        </p:nvCxnSpPr>
        <p:spPr>
          <a:xfrm>
            <a:off x="9960864" y="3947828"/>
            <a:ext cx="103632" cy="404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03-044"/>
          <p:cNvCxnSpPr/>
          <p:nvPr/>
        </p:nvCxnSpPr>
        <p:spPr>
          <a:xfrm>
            <a:off x="10064496" y="3951871"/>
            <a:ext cx="103632" cy="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03-045"/>
          <p:cNvCxnSpPr/>
          <p:nvPr/>
        </p:nvCxnSpPr>
        <p:spPr>
          <a:xfrm>
            <a:off x="10168128" y="3954868"/>
            <a:ext cx="103632" cy="21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03-046"/>
          <p:cNvCxnSpPr/>
          <p:nvPr/>
        </p:nvCxnSpPr>
        <p:spPr>
          <a:xfrm>
            <a:off x="10271760" y="3957066"/>
            <a:ext cx="103632" cy="159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03-047"/>
          <p:cNvCxnSpPr/>
          <p:nvPr/>
        </p:nvCxnSpPr>
        <p:spPr>
          <a:xfrm>
            <a:off x="10375392" y="3958659"/>
            <a:ext cx="103632" cy="11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03-048"/>
          <p:cNvCxnSpPr/>
          <p:nvPr/>
        </p:nvCxnSpPr>
        <p:spPr>
          <a:xfrm>
            <a:off x="10479024" y="3959803"/>
            <a:ext cx="103632" cy="8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03-049"/>
          <p:cNvCxnSpPr/>
          <p:nvPr/>
        </p:nvCxnSpPr>
        <p:spPr>
          <a:xfrm>
            <a:off x="10582656" y="3960615"/>
            <a:ext cx="103632" cy="5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line50" descr="sci-ppt:C2-E03-050"/>
          <p:cNvCxnSpPr/>
          <p:nvPr/>
        </p:nvCxnSpPr>
        <p:spPr>
          <a:xfrm>
            <a:off x="10686288" y="3961185"/>
            <a:ext cx="103632" cy="3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2" name="text51" descr="sci-ppt:C2-E03-051"/>
          <p:cNvSpPr txBox="1"/>
          <p:nvPr/>
        </p:nvSpPr>
        <p:spPr>
          <a:xfrm>
            <a:off x="7254240" y="103632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Gaussian profile (prescribed)</a:t>
            </a:r>
          </a:p>
        </p:txBody>
      </p:sp>
      <p:sp>
        <p:nvSpPr>
          <p:cNvPr id="53" name="ellipse52" descr="sci-ppt:C2-E03-052"/>
          <p:cNvSpPr/>
          <p:nvPr/>
        </p:nvSpPr>
        <p:spPr>
          <a:xfrm>
            <a:off x="2072640" y="2011680"/>
            <a:ext cx="1219200" cy="1219200"/>
          </a:xfrm>
          <a:prstGeom prst="ellipse">
            <a:avLst/>
          </a:prstGeom>
          <a:noFill/>
          <a:ln w="21590">
            <a:solidFill>
              <a:srgbClr val="F6BC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53" descr="sci-ppt:C2-E03-053"/>
          <p:cNvSpPr txBox="1"/>
          <p:nvPr/>
        </p:nvSpPr>
        <p:spPr>
          <a:xfrm>
            <a:off x="1036320" y="853440"/>
            <a:ext cx="4267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F6BC77"/>
                </a:solidFill>
                <a:latin typeface="Arial"/>
              </a:rPr>
              <a:t>Centered aperture b_a</a:t>
            </a:r>
          </a:p>
        </p:txBody>
      </p:sp>
      <p:sp>
        <p:nvSpPr>
          <p:cNvPr id="55" name="text54" descr="sci-ppt:C2-E03-05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b_a: absorber aperture edge</a:t>
            </a:r>
          </a:p>
        </p:txBody>
      </p:sp>
      <p:sp>
        <p:nvSpPr>
          <p:cNvPr id="56" name="text55" descr="sci-ppt:C2-E03-05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F(r): intercepted annuli</a:t>
            </a:r>
          </a:p>
        </p:txBody>
      </p:sp>
      <p:sp>
        <p:nvSpPr>
          <p:cNvPr id="57" name="text56" descr="sci-ppt:C2-E03-05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f_geo: intercepted fraction</a:t>
            </a:r>
          </a:p>
        </p:txBody>
      </p:sp>
      <p:sp>
        <p:nvSpPr>
          <p:cNvPr id="58" name="text57" descr="sci-ppt:C2-E03-05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w: beam radius</a:t>
            </a:r>
          </a:p>
        </p:txBody>
      </p:sp>
      <p:sp>
        <p:nvSpPr>
          <p:cNvPr id="59" name="text58" descr="sci-ppt:C2-E03-05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E_L: full incident energy</a:t>
            </a:r>
          </a:p>
        </p:txBody>
      </p:sp>
      <p:sp>
        <p:nvSpPr>
          <p:cNvPr id="60" name="text59" descr="sci-ppt:C2-E03-05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annulus geometry</a:t>
            </a:r>
          </a:p>
        </p:txBody>
      </p:sp>
      <p:sp>
        <p:nvSpPr>
          <p:cNvPr id="61" name="text60" descr="sci-ppt:C2-E03-060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b_a → 0 gives no interception</a:t>
            </a:r>
          </a:p>
        </p:txBody>
      </p:sp>
      <p:sp>
        <p:nvSpPr>
          <p:cNvPr id="62" name="text61" descr="sci-ppt:C2-E03-061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b_a ≫ w captures nearly all beam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C2-E04 | Physical-variable diagram</a:t>
            </a:r>
          </a:p>
        </p:txBody>
      </p:sp>
      <p:cxnSp>
        <p:nvCxnSpPr>
          <p:cNvPr id="3" name="arrow2" descr="sci-ppt:C2-E04-002"/>
          <p:cNvCxnSpPr/>
          <p:nvPr/>
        </p:nvCxnSpPr>
        <p:spPr>
          <a:xfrm>
            <a:off x="1950720" y="4023360"/>
            <a:ext cx="79248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arrow3" descr="sci-ppt:C2-E04-003"/>
          <p:cNvCxnSpPr/>
          <p:nvPr/>
        </p:nvCxnSpPr>
        <p:spPr>
          <a:xfrm flipV="1">
            <a:off x="1950720" y="1341120"/>
            <a:ext cx="0" cy="26822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2-E04-004"/>
          <p:cNvSpPr txBox="1"/>
          <p:nvPr/>
        </p:nvSpPr>
        <p:spPr>
          <a:xfrm>
            <a:off x="8900160" y="414528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</a:t>
            </a:r>
          </a:p>
        </p:txBody>
      </p:sp>
      <p:sp>
        <p:nvSpPr>
          <p:cNvPr id="6" name="text5" descr="sci-ppt:C2-E04-005"/>
          <p:cNvSpPr txBox="1"/>
          <p:nvPr/>
        </p:nvSpPr>
        <p:spPr>
          <a:xfrm>
            <a:off x="1828800" y="97536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f(t)</a:t>
            </a:r>
          </a:p>
        </p:txBody>
      </p:sp>
      <p:cxnSp>
        <p:nvCxnSpPr>
          <p:cNvPr id="7" name="line6" descr="sci-ppt:C2-E04-006"/>
          <p:cNvCxnSpPr/>
          <p:nvPr/>
        </p:nvCxnSpPr>
        <p:spPr>
          <a:xfrm>
            <a:off x="2011680" y="4023360"/>
            <a:ext cx="152400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line7" descr="sci-ppt:C2-E04-007"/>
          <p:cNvCxnSpPr/>
          <p:nvPr/>
        </p:nvCxnSpPr>
        <p:spPr>
          <a:xfrm flipV="1">
            <a:off x="3535680" y="1706880"/>
            <a:ext cx="0" cy="231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line8" descr="sci-ppt:C2-E04-008"/>
          <p:cNvCxnSpPr/>
          <p:nvPr/>
        </p:nvCxnSpPr>
        <p:spPr>
          <a:xfrm>
            <a:off x="3535680" y="1706880"/>
            <a:ext cx="40233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line9" descr="sci-ppt:C2-E04-009"/>
          <p:cNvCxnSpPr/>
          <p:nvPr/>
        </p:nvCxnSpPr>
        <p:spPr>
          <a:xfrm>
            <a:off x="7559040" y="1706880"/>
            <a:ext cx="0" cy="231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04-010"/>
          <p:cNvCxnSpPr/>
          <p:nvPr/>
        </p:nvCxnSpPr>
        <p:spPr>
          <a:xfrm>
            <a:off x="7559040" y="4023360"/>
            <a:ext cx="21945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12" name="text11" descr="sci-ppt:C2-E04-011"/>
          <p:cNvSpPr txBox="1"/>
          <p:nvPr/>
        </p:nvSpPr>
        <p:spPr>
          <a:xfrm>
            <a:off x="3840480" y="2377440"/>
            <a:ext cx="3657600" cy="45354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4" b="0" i="0">
                <a:solidFill>
                  <a:srgbClr val="E7F0F3"/>
                </a:solidFill>
                <a:latin typeface="Arial"/>
              </a:rPr>
              <a:t>Area = 1</a:t>
            </a:r>
          </a:p>
        </p:txBody>
      </p:sp>
      <p:sp>
        <p:nvSpPr>
          <p:cNvPr id="13" name="text12" descr="sci-ppt:C2-E04-012"/>
          <p:cNvSpPr txBox="1"/>
          <p:nvPr/>
        </p:nvSpPr>
        <p:spPr>
          <a:xfrm>
            <a:off x="4145280" y="4206240"/>
            <a:ext cx="4267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Pulse duration τ_L</a:t>
            </a:r>
          </a:p>
        </p:txBody>
      </p:sp>
      <p:sp>
        <p:nvSpPr>
          <p:cNvPr id="14" name="text13" descr="sci-ppt:C2-E04-013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pulse time</a:t>
            </a:r>
          </a:p>
        </p:txBody>
      </p:sp>
      <p:sp>
        <p:nvSpPr>
          <p:cNvPr id="15" name="text14" descr="sci-ppt:C2-E04-014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f(t): normalized profile</a:t>
            </a:r>
          </a:p>
        </p:txBody>
      </p:sp>
      <p:sp>
        <p:nvSpPr>
          <p:cNvPr id="16" name="text15" descr="sci-ppt:C2-E04-015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r: transverse position</a:t>
            </a:r>
          </a:p>
        </p:txBody>
      </p:sp>
      <p:sp>
        <p:nvSpPr>
          <p:cNvPr id="17" name="text16" descr="sci-ppt:C2-E04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τ_L: pulse width</a:t>
            </a:r>
          </a:p>
        </p:txBody>
      </p:sp>
      <p:sp>
        <p:nvSpPr>
          <p:cNvPr id="18" name="text17" descr="sci-ppt:C2-E04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I(r,t), I_peak: irradiance</a:t>
            </a:r>
          </a:p>
        </p:txBody>
      </p:sp>
      <p:sp>
        <p:nvSpPr>
          <p:cNvPr id="19" name="text18" descr="sci-ppt:C2-E04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F(r), F₀: integrated fluence</a:t>
            </a:r>
          </a:p>
        </p:txBody>
      </p:sp>
      <p:sp>
        <p:nvSpPr>
          <p:cNvPr id="20" name="text19" descr="sci-ppt:C2-E04-019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Area under f(t) is 1</a:t>
            </a:r>
          </a:p>
        </p:txBody>
      </p:sp>
      <p:sp>
        <p:nvSpPr>
          <p:cNvPr id="21" name="text20" descr="sci-ppt:C2-E04-020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Peak irradiance and pulse energy are different observables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5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C2-E05 | Physical-variable diagram</a:t>
            </a:r>
          </a:p>
        </p:txBody>
      </p:sp>
      <p:sp>
        <p:nvSpPr>
          <p:cNvPr id="3" name="rect2" descr="sci-ppt:C2-E05-002"/>
          <p:cNvSpPr/>
          <p:nvPr/>
        </p:nvSpPr>
        <p:spPr>
          <a:xfrm>
            <a:off x="3779520" y="1341120"/>
            <a:ext cx="3169920" cy="2743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05-003"/>
          <p:cNvCxnSpPr/>
          <p:nvPr/>
        </p:nvCxnSpPr>
        <p:spPr>
          <a:xfrm>
            <a:off x="1097280" y="2499360"/>
            <a:ext cx="25603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arrow4" descr="sci-ppt:C2-E05-004"/>
          <p:cNvCxnSpPr/>
          <p:nvPr/>
        </p:nvCxnSpPr>
        <p:spPr>
          <a:xfrm>
            <a:off x="7010400" y="2499360"/>
            <a:ext cx="2621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05-005"/>
          <p:cNvCxnSpPr/>
          <p:nvPr/>
        </p:nvCxnSpPr>
        <p:spPr>
          <a:xfrm flipH="1" flipV="1">
            <a:off x="2316480" y="1402080"/>
            <a:ext cx="146304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05-006"/>
          <p:cNvSpPr txBox="1"/>
          <p:nvPr/>
        </p:nvSpPr>
        <p:spPr>
          <a:xfrm>
            <a:off x="853440" y="292608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Incident light</a:t>
            </a:r>
          </a:p>
        </p:txBody>
      </p:sp>
      <p:sp>
        <p:nvSpPr>
          <p:cNvPr id="8" name="text7" descr="sci-ppt:C2-E05-007"/>
          <p:cNvSpPr txBox="1"/>
          <p:nvPr/>
        </p:nvSpPr>
        <p:spPr>
          <a:xfrm>
            <a:off x="853440" y="975360"/>
            <a:ext cx="28041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Reflection</a:t>
            </a:r>
          </a:p>
        </p:txBody>
      </p:sp>
      <p:sp>
        <p:nvSpPr>
          <p:cNvPr id="9" name="text8" descr="sci-ppt:C2-E05-008"/>
          <p:cNvSpPr txBox="1"/>
          <p:nvPr/>
        </p:nvSpPr>
        <p:spPr>
          <a:xfrm>
            <a:off x="4084320" y="3048000"/>
            <a:ext cx="30480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Absorber: Q_abs</a:t>
            </a:r>
          </a:p>
        </p:txBody>
      </p:sp>
      <p:sp>
        <p:nvSpPr>
          <p:cNvPr id="10" name="text9" descr="sci-ppt:C2-E05-009"/>
          <p:cNvSpPr txBox="1"/>
          <p:nvPr/>
        </p:nvSpPr>
        <p:spPr>
          <a:xfrm>
            <a:off x="7315200" y="292608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Transmitted light</a:t>
            </a:r>
          </a:p>
        </p:txBody>
      </p:sp>
      <p:cxnSp>
        <p:nvCxnSpPr>
          <p:cNvPr id="11" name="arrow10" descr="sci-ppt:C2-E05-010"/>
          <p:cNvCxnSpPr/>
          <p:nvPr/>
        </p:nvCxnSpPr>
        <p:spPr>
          <a:xfrm>
            <a:off x="4023360" y="37795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2-E05-011"/>
          <p:cNvSpPr txBox="1"/>
          <p:nvPr/>
        </p:nvSpPr>
        <p:spPr>
          <a:xfrm>
            <a:off x="4511040" y="402336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+z; thickness h_a</a:t>
            </a:r>
          </a:p>
        </p:txBody>
      </p:sp>
      <p:sp>
        <p:nvSpPr>
          <p:cNvPr id="13" name="text12" descr="sci-ppt:C2-E05-01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z: propagation depth</a:t>
            </a:r>
          </a:p>
        </p:txBody>
      </p:sp>
      <p:sp>
        <p:nvSpPr>
          <p:cNvPr id="14" name="text13" descr="sci-ppt:C2-E05-01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I(z): transmitted beam</a:t>
            </a:r>
          </a:p>
        </p:txBody>
      </p:sp>
      <p:sp>
        <p:nvSpPr>
          <p:cNvPr id="15" name="text14" descr="sci-ppt:C2-E05-014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Q_abs: heat inside slab</a:t>
            </a:r>
          </a:p>
        </p:txBody>
      </p:sp>
      <p:sp>
        <p:nvSpPr>
          <p:cNvPr id="16" name="text15" descr="sci-ppt:C2-E05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I_in: entry face</a:t>
            </a:r>
          </a:p>
        </p:txBody>
      </p:sp>
      <p:sp>
        <p:nvSpPr>
          <p:cNvPr id="17" name="text16" descr="sci-ppt:C2-E05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μ_a: absorption per depth</a:t>
            </a:r>
          </a:p>
        </p:txBody>
      </p:sp>
      <p:sp>
        <p:nvSpPr>
          <p:cNvPr id="18" name="text17" descr="sci-ppt:C2-E05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I′, z′: integration variables</a:t>
            </a:r>
          </a:p>
        </p:txBody>
      </p:sp>
      <p:sp>
        <p:nvSpPr>
          <p:cNvPr id="19" name="text18" descr="sci-ppt:C2-E05-018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Positive z points into absorber</a:t>
            </a:r>
          </a:p>
        </p:txBody>
      </p:sp>
      <p:sp>
        <p:nvSpPr>
          <p:cNvPr id="20" name="text19" descr="sci-ppt:C2-E05-019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Photon power lost from beam becomes thermal source under this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6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C2-E06 | Physical-variable diagram</a:t>
            </a:r>
          </a:p>
        </p:txBody>
      </p:sp>
      <p:sp>
        <p:nvSpPr>
          <p:cNvPr id="3" name="rect2" descr="sci-ppt:C2-E06-002"/>
          <p:cNvSpPr/>
          <p:nvPr/>
        </p:nvSpPr>
        <p:spPr>
          <a:xfrm>
            <a:off x="3779520" y="1341120"/>
            <a:ext cx="3169920" cy="2743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06-003"/>
          <p:cNvCxnSpPr/>
          <p:nvPr/>
        </p:nvCxnSpPr>
        <p:spPr>
          <a:xfrm>
            <a:off x="1097280" y="2499360"/>
            <a:ext cx="25603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arrow4" descr="sci-ppt:C2-E06-004"/>
          <p:cNvCxnSpPr/>
          <p:nvPr/>
        </p:nvCxnSpPr>
        <p:spPr>
          <a:xfrm>
            <a:off x="7010400" y="2499360"/>
            <a:ext cx="2621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06-005"/>
          <p:cNvCxnSpPr/>
          <p:nvPr/>
        </p:nvCxnSpPr>
        <p:spPr>
          <a:xfrm flipH="1" flipV="1">
            <a:off x="2316480" y="1402080"/>
            <a:ext cx="146304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06-006"/>
          <p:cNvSpPr txBox="1"/>
          <p:nvPr/>
        </p:nvSpPr>
        <p:spPr>
          <a:xfrm>
            <a:off x="853440" y="292608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Incident light</a:t>
            </a:r>
          </a:p>
        </p:txBody>
      </p:sp>
      <p:sp>
        <p:nvSpPr>
          <p:cNvPr id="8" name="text7" descr="sci-ppt:C2-E06-007"/>
          <p:cNvSpPr txBox="1"/>
          <p:nvPr/>
        </p:nvSpPr>
        <p:spPr>
          <a:xfrm>
            <a:off x="853440" y="975360"/>
            <a:ext cx="28041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Reflection</a:t>
            </a:r>
          </a:p>
        </p:txBody>
      </p:sp>
      <p:sp>
        <p:nvSpPr>
          <p:cNvPr id="9" name="text8" descr="sci-ppt:C2-E06-008"/>
          <p:cNvSpPr txBox="1"/>
          <p:nvPr/>
        </p:nvSpPr>
        <p:spPr>
          <a:xfrm>
            <a:off x="4084320" y="3048000"/>
            <a:ext cx="30480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Absorber: Q_abs</a:t>
            </a:r>
          </a:p>
        </p:txBody>
      </p:sp>
      <p:sp>
        <p:nvSpPr>
          <p:cNvPr id="10" name="text9" descr="sci-ppt:C2-E06-009"/>
          <p:cNvSpPr txBox="1"/>
          <p:nvPr/>
        </p:nvSpPr>
        <p:spPr>
          <a:xfrm>
            <a:off x="7315200" y="292608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Transmitted light</a:t>
            </a:r>
          </a:p>
        </p:txBody>
      </p:sp>
      <p:cxnSp>
        <p:nvCxnSpPr>
          <p:cNvPr id="11" name="arrow10" descr="sci-ppt:C2-E06-010"/>
          <p:cNvCxnSpPr/>
          <p:nvPr/>
        </p:nvCxnSpPr>
        <p:spPr>
          <a:xfrm>
            <a:off x="4023360" y="37795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2-E06-011"/>
          <p:cNvSpPr txBox="1"/>
          <p:nvPr/>
        </p:nvSpPr>
        <p:spPr>
          <a:xfrm>
            <a:off x="4511040" y="402336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+z; thickness h_a</a:t>
            </a:r>
          </a:p>
        </p:txBody>
      </p:sp>
      <p:sp>
        <p:nvSpPr>
          <p:cNvPr id="13" name="text12" descr="sci-ppt:C2-E06-01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h_a: slab thickness</a:t>
            </a:r>
          </a:p>
        </p:txBody>
      </p:sp>
      <p:sp>
        <p:nvSpPr>
          <p:cNvPr id="14" name="text13" descr="sci-ppt:C2-E06-01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Ω_a, dV: absorbing volume</a:t>
            </a:r>
          </a:p>
        </p:txBody>
      </p:sp>
      <p:sp>
        <p:nvSpPr>
          <p:cNvPr id="15" name="text14" descr="sci-ppt:C2-E06-014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μ_a, Q_abs: optical heating</a:t>
            </a:r>
          </a:p>
        </p:txBody>
      </p:sp>
      <p:sp>
        <p:nvSpPr>
          <p:cNvPr id="16" name="text15" descr="sci-ppt:C2-E06-015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f_geo, E_L, E_abs: energy accounting</a:t>
            </a:r>
          </a:p>
        </p:txBody>
      </p:sp>
      <p:sp>
        <p:nvSpPr>
          <p:cNvPr id="17" name="text16" descr="sci-ppt:C2-E06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z: depth</a:t>
            </a:r>
          </a:p>
        </p:txBody>
      </p:sp>
      <p:sp>
        <p:nvSpPr>
          <p:cNvPr id="18" name="text17" descr="sci-ppt:C2-E06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I_in: light after reflection</a:t>
            </a:r>
          </a:p>
        </p:txBody>
      </p:sp>
      <p:sp>
        <p:nvSpPr>
          <p:cNvPr id="19" name="text18" descr="sci-ppt:C2-E06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λ, ℛ_λ, A_λ: wavelength and fractions</a:t>
            </a:r>
          </a:p>
        </p:txBody>
      </p:sp>
      <p:sp>
        <p:nvSpPr>
          <p:cNvPr id="20" name="text19" descr="sci-ppt:C2-E06-019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pulse integration</a:t>
            </a:r>
          </a:p>
        </p:txBody>
      </p:sp>
      <p:sp>
        <p:nvSpPr>
          <p:cNvPr id="21" name="text20" descr="sci-ppt:C2-E06-020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Reflection occurs before entry</a:t>
            </a:r>
          </a:p>
        </p:txBody>
      </p:sp>
      <p:sp>
        <p:nvSpPr>
          <p:cNvPr id="22" name="text21" descr="sci-ppt:C2-E06-021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Integrate the source once; do not add equivalent boundary heating again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7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C2-E07 | Physical-variable diagram</a:t>
            </a:r>
          </a:p>
        </p:txBody>
      </p:sp>
      <p:sp>
        <p:nvSpPr>
          <p:cNvPr id="3" name="rect2" descr="sci-ppt:C2-E07-002"/>
          <p:cNvSpPr/>
          <p:nvPr/>
        </p:nvSpPr>
        <p:spPr>
          <a:xfrm>
            <a:off x="1219200" y="1524000"/>
            <a:ext cx="3048000" cy="2438400"/>
          </a:xfrm>
          <a:prstGeom prst="rect">
            <a:avLst/>
          </a:prstGeom>
          <a:solidFill>
            <a:srgbClr val="F6BC77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07-003"/>
          <p:cNvSpPr/>
          <p:nvPr/>
        </p:nvSpPr>
        <p:spPr>
          <a:xfrm>
            <a:off x="4267200" y="1524000"/>
            <a:ext cx="4876800" cy="2438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07-004"/>
          <p:cNvSpPr txBox="1"/>
          <p:nvPr/>
        </p:nvSpPr>
        <p:spPr>
          <a:xfrm>
            <a:off x="152400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142632"/>
                </a:solidFill>
                <a:latin typeface="Arial"/>
              </a:rPr>
              <a:t>Absorber / side A</a:t>
            </a:r>
          </a:p>
        </p:txBody>
      </p:sp>
      <p:sp>
        <p:nvSpPr>
          <p:cNvPr id="6" name="text5" descr="sci-ppt:C2-E07-005"/>
          <p:cNvSpPr txBox="1"/>
          <p:nvPr/>
        </p:nvSpPr>
        <p:spPr>
          <a:xfrm>
            <a:off x="566928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PFC / side B</a:t>
            </a:r>
          </a:p>
        </p:txBody>
      </p:sp>
      <p:cxnSp>
        <p:nvCxnSpPr>
          <p:cNvPr id="7" name="arrow6" descr="sci-ppt:C2-E07-006"/>
          <p:cNvCxnSpPr/>
          <p:nvPr/>
        </p:nvCxnSpPr>
        <p:spPr>
          <a:xfrm>
            <a:off x="3048000" y="2865120"/>
            <a:ext cx="32918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07-007"/>
          <p:cNvSpPr txBox="1"/>
          <p:nvPr/>
        </p:nvSpPr>
        <p:spPr>
          <a:xfrm>
            <a:off x="4632960" y="316992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q; normal A → B</a:t>
            </a:r>
          </a:p>
        </p:txBody>
      </p:sp>
      <p:sp>
        <p:nvSpPr>
          <p:cNvPr id="9" name="text8" descr="sci-ppt:C2-E07-008"/>
          <p:cNvSpPr txBox="1"/>
          <p:nvPr/>
        </p:nvSpPr>
        <p:spPr>
          <a:xfrm>
            <a:off x="121920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T_A</a:t>
            </a:r>
          </a:p>
        </p:txBody>
      </p:sp>
      <p:sp>
        <p:nvSpPr>
          <p:cNvPr id="10" name="text9" descr="sci-ppt:C2-E07-009"/>
          <p:cNvSpPr txBox="1"/>
          <p:nvPr/>
        </p:nvSpPr>
        <p:spPr>
          <a:xfrm>
            <a:off x="707136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T_B</a:t>
            </a:r>
          </a:p>
        </p:txBody>
      </p:sp>
      <p:sp>
        <p:nvSpPr>
          <p:cNvPr id="11" name="text10" descr="sci-ppt:C2-E07-010"/>
          <p:cNvSpPr txBox="1"/>
          <p:nvPr/>
        </p:nvSpPr>
        <p:spPr>
          <a:xfrm>
            <a:off x="1402080" y="4206240"/>
            <a:ext cx="1036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Thermal path and contact are distinct from optical deposition.</a:t>
            </a:r>
          </a:p>
        </p:txBody>
      </p:sp>
      <p:sp>
        <p:nvSpPr>
          <p:cNvPr id="12" name="text11" descr="sci-ppt:C2-E07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core temperature field</a:t>
            </a:r>
          </a:p>
        </p:txBody>
      </p:sp>
      <p:sp>
        <p:nvSpPr>
          <p:cNvPr id="13" name="text12" descr="sci-ppt:C2-E07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k, q: conduction toward colder material</a:t>
            </a:r>
          </a:p>
        </p:txBody>
      </p:sp>
      <p:sp>
        <p:nvSpPr>
          <p:cNvPr id="14" name="text13" descr="sci-ppt:C2-E07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Q_abs: absorber heating</a:t>
            </a:r>
          </a:p>
        </p:txBody>
      </p:sp>
      <p:sp>
        <p:nvSpPr>
          <p:cNvPr id="15" name="text14" descr="sci-ppt:C2-E07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∇, ∇·: spatial variation</a:t>
            </a:r>
          </a:p>
        </p:txBody>
      </p:sp>
      <p:sp>
        <p:nvSpPr>
          <p:cNvPr id="16" name="text15" descr="sci-ppt:C2-E07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ρ, c_p: stored sensible energy</a:t>
            </a:r>
          </a:p>
        </p:txBody>
      </p:sp>
      <p:sp>
        <p:nvSpPr>
          <p:cNvPr id="17" name="text16" descr="sci-ppt:C2-E07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u: parcel advection</a:t>
            </a:r>
          </a:p>
        </p:txBody>
      </p:sp>
      <p:sp>
        <p:nvSpPr>
          <p:cNvPr id="18" name="text17" descr="sci-ppt:C2-E07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t, D/Dt, ∂_t: time changes</a:t>
            </a:r>
          </a:p>
        </p:txBody>
      </p:sp>
      <p:sp>
        <p:nvSpPr>
          <p:cNvPr id="19" name="text18" descr="sci-ppt:C2-E07-018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Absorber and PFC can occupy different locations</a:t>
            </a:r>
          </a:p>
        </p:txBody>
      </p:sp>
      <p:sp>
        <p:nvSpPr>
          <p:cNvPr id="20" name="text19" descr="sci-ppt:C2-E07-019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This equation precedes phase change; latent transfer is added at the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8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C2-E08 | Physical-variable diagram</a:t>
            </a:r>
          </a:p>
        </p:txBody>
      </p:sp>
      <p:sp>
        <p:nvSpPr>
          <p:cNvPr id="3" name="rect2" descr="sci-ppt:C2-E08-002"/>
          <p:cNvSpPr/>
          <p:nvPr/>
        </p:nvSpPr>
        <p:spPr>
          <a:xfrm>
            <a:off x="1219200" y="1524000"/>
            <a:ext cx="3048000" cy="2438400"/>
          </a:xfrm>
          <a:prstGeom prst="rect">
            <a:avLst/>
          </a:prstGeom>
          <a:solidFill>
            <a:srgbClr val="F6BC77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08-003"/>
          <p:cNvSpPr/>
          <p:nvPr/>
        </p:nvSpPr>
        <p:spPr>
          <a:xfrm>
            <a:off x="4267200" y="1524000"/>
            <a:ext cx="4876800" cy="2438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08-004"/>
          <p:cNvSpPr txBox="1"/>
          <p:nvPr/>
        </p:nvSpPr>
        <p:spPr>
          <a:xfrm>
            <a:off x="152400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142632"/>
                </a:solidFill>
                <a:latin typeface="Arial"/>
              </a:rPr>
              <a:t>Absorber / side A</a:t>
            </a:r>
          </a:p>
        </p:txBody>
      </p:sp>
      <p:sp>
        <p:nvSpPr>
          <p:cNvPr id="6" name="text5" descr="sci-ppt:C2-E08-005"/>
          <p:cNvSpPr txBox="1"/>
          <p:nvPr/>
        </p:nvSpPr>
        <p:spPr>
          <a:xfrm>
            <a:off x="566928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PFC / side B</a:t>
            </a:r>
          </a:p>
        </p:txBody>
      </p:sp>
      <p:cxnSp>
        <p:nvCxnSpPr>
          <p:cNvPr id="7" name="arrow6" descr="sci-ppt:C2-E08-006"/>
          <p:cNvCxnSpPr/>
          <p:nvPr/>
        </p:nvCxnSpPr>
        <p:spPr>
          <a:xfrm>
            <a:off x="3048000" y="2865120"/>
            <a:ext cx="32918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08-007"/>
          <p:cNvSpPr txBox="1"/>
          <p:nvPr/>
        </p:nvSpPr>
        <p:spPr>
          <a:xfrm>
            <a:off x="4632960" y="316992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q; normal A → B</a:t>
            </a:r>
          </a:p>
        </p:txBody>
      </p:sp>
      <p:sp>
        <p:nvSpPr>
          <p:cNvPr id="9" name="text8" descr="sci-ppt:C2-E08-008"/>
          <p:cNvSpPr txBox="1"/>
          <p:nvPr/>
        </p:nvSpPr>
        <p:spPr>
          <a:xfrm>
            <a:off x="121920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T_A</a:t>
            </a:r>
          </a:p>
        </p:txBody>
      </p:sp>
      <p:sp>
        <p:nvSpPr>
          <p:cNvPr id="10" name="text9" descr="sci-ppt:C2-E08-009"/>
          <p:cNvSpPr txBox="1"/>
          <p:nvPr/>
        </p:nvSpPr>
        <p:spPr>
          <a:xfrm>
            <a:off x="707136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T_B</a:t>
            </a:r>
          </a:p>
        </p:txBody>
      </p:sp>
      <p:sp>
        <p:nvSpPr>
          <p:cNvPr id="11" name="text10" descr="sci-ppt:C2-E08-010"/>
          <p:cNvSpPr txBox="1"/>
          <p:nvPr/>
        </p:nvSpPr>
        <p:spPr>
          <a:xfrm>
            <a:off x="1402080" y="4206240"/>
            <a:ext cx="1036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Thermal path and contact are distinct from optical deposition.</a:t>
            </a:r>
          </a:p>
        </p:txBody>
      </p:sp>
      <p:sp>
        <p:nvSpPr>
          <p:cNvPr id="12" name="text11" descr="sci-ppt:C2-E08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A: absorber side, T_A, q_A</a:t>
            </a:r>
          </a:p>
        </p:txBody>
      </p:sp>
      <p:sp>
        <p:nvSpPr>
          <p:cNvPr id="13" name="text12" descr="sci-ppt:C2-E08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n_AB: A → B</a:t>
            </a:r>
          </a:p>
        </p:txBody>
      </p:sp>
      <p:sp>
        <p:nvSpPr>
          <p:cNvPr id="14" name="text13" descr="sci-ppt:C2-E08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ℛ_T: contact resistance</a:t>
            </a:r>
          </a:p>
        </p:txBody>
      </p:sp>
      <p:sp>
        <p:nvSpPr>
          <p:cNvPr id="15" name="text14" descr="sci-ppt:C2-E08-014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B: PFC side, T_B, q_B</a:t>
            </a:r>
          </a:p>
        </p:txBody>
      </p:sp>
      <p:sp>
        <p:nvSpPr>
          <p:cNvPr id="16" name="text15" descr="sci-ppt:C2-E08-015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q_n: continuous normal flux</a:t>
            </a:r>
          </a:p>
        </p:txBody>
      </p:sp>
      <p:sp>
        <p:nvSpPr>
          <p:cNvPr id="17" name="text16" descr="sci-ppt:C2-E08-016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Hot A gives positive q_n when T_A &gt; T_B</a:t>
            </a:r>
          </a:p>
        </p:txBody>
      </p:sp>
      <p:sp>
        <p:nvSpPr>
          <p:cNvPr id="18" name="text17" descr="sci-ppt:C2-E08-017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No stored heat at the contact in this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9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C2-E09 | Physical-variable diagram</a:t>
            </a:r>
          </a:p>
        </p:txBody>
      </p:sp>
      <p:sp>
        <p:nvSpPr>
          <p:cNvPr id="3" name="rect2" descr="sci-ppt:C2-E09-002"/>
          <p:cNvSpPr/>
          <p:nvPr/>
        </p:nvSpPr>
        <p:spPr>
          <a:xfrm>
            <a:off x="1219200" y="1524000"/>
            <a:ext cx="3048000" cy="2438400"/>
          </a:xfrm>
          <a:prstGeom prst="rect">
            <a:avLst/>
          </a:prstGeom>
          <a:solidFill>
            <a:srgbClr val="F6BC77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09-003"/>
          <p:cNvSpPr/>
          <p:nvPr/>
        </p:nvSpPr>
        <p:spPr>
          <a:xfrm>
            <a:off x="4267200" y="1524000"/>
            <a:ext cx="4876800" cy="2438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09-004"/>
          <p:cNvSpPr txBox="1"/>
          <p:nvPr/>
        </p:nvSpPr>
        <p:spPr>
          <a:xfrm>
            <a:off x="152400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142632"/>
                </a:solidFill>
                <a:latin typeface="Arial"/>
              </a:rPr>
              <a:t>Absorber / side A</a:t>
            </a:r>
          </a:p>
        </p:txBody>
      </p:sp>
      <p:sp>
        <p:nvSpPr>
          <p:cNvPr id="6" name="text5" descr="sci-ppt:C2-E09-005"/>
          <p:cNvSpPr txBox="1"/>
          <p:nvPr/>
        </p:nvSpPr>
        <p:spPr>
          <a:xfrm>
            <a:off x="566928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PFC / side B</a:t>
            </a:r>
          </a:p>
        </p:txBody>
      </p:sp>
      <p:cxnSp>
        <p:nvCxnSpPr>
          <p:cNvPr id="7" name="arrow6" descr="sci-ppt:C2-E09-006"/>
          <p:cNvCxnSpPr/>
          <p:nvPr/>
        </p:nvCxnSpPr>
        <p:spPr>
          <a:xfrm>
            <a:off x="3048000" y="2865120"/>
            <a:ext cx="32918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09-007"/>
          <p:cNvSpPr txBox="1"/>
          <p:nvPr/>
        </p:nvSpPr>
        <p:spPr>
          <a:xfrm>
            <a:off x="4632960" y="316992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q; normal A → B</a:t>
            </a:r>
          </a:p>
        </p:txBody>
      </p:sp>
      <p:sp>
        <p:nvSpPr>
          <p:cNvPr id="9" name="text8" descr="sci-ppt:C2-E09-008"/>
          <p:cNvSpPr txBox="1"/>
          <p:nvPr/>
        </p:nvSpPr>
        <p:spPr>
          <a:xfrm>
            <a:off x="121920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T_A</a:t>
            </a:r>
          </a:p>
        </p:txBody>
      </p:sp>
      <p:sp>
        <p:nvSpPr>
          <p:cNvPr id="10" name="text9" descr="sci-ppt:C2-E09-009"/>
          <p:cNvSpPr txBox="1"/>
          <p:nvPr/>
        </p:nvSpPr>
        <p:spPr>
          <a:xfrm>
            <a:off x="707136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T_B</a:t>
            </a:r>
          </a:p>
        </p:txBody>
      </p:sp>
      <p:sp>
        <p:nvSpPr>
          <p:cNvPr id="11" name="text10" descr="sci-ppt:C2-E09-010"/>
          <p:cNvSpPr txBox="1"/>
          <p:nvPr/>
        </p:nvSpPr>
        <p:spPr>
          <a:xfrm>
            <a:off x="1402080" y="4206240"/>
            <a:ext cx="1036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Thermal path and contact are distinct from optical deposition.</a:t>
            </a:r>
          </a:p>
        </p:txBody>
      </p:sp>
      <p:sp>
        <p:nvSpPr>
          <p:cNvPr id="12" name="rect11" descr="sci-ppt:C2-E09-011"/>
          <p:cNvSpPr/>
          <p:nvPr/>
        </p:nvSpPr>
        <p:spPr>
          <a:xfrm>
            <a:off x="4279392" y="1536192"/>
            <a:ext cx="219456" cy="2414016"/>
          </a:xfrm>
          <a:prstGeom prst="rect">
            <a:avLst/>
          </a:prstGeom>
          <a:solidFill>
            <a:srgbClr val="F6B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09-012"/>
          <p:cNvSpPr txBox="1"/>
          <p:nvPr/>
        </p:nvSpPr>
        <p:spPr>
          <a:xfrm>
            <a:off x="9387840" y="243840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δ_T</a:t>
            </a:r>
          </a:p>
        </p:txBody>
      </p:sp>
      <p:sp>
        <p:nvSpPr>
          <p:cNvPr id="14" name="text13" descr="sci-ppt:C2-E09-013"/>
          <p:cNvSpPr txBox="1"/>
          <p:nvPr/>
        </p:nvSpPr>
        <p:spPr>
          <a:xfrm>
            <a:off x="9387840" y="286512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≪ L_h</a:t>
            </a:r>
          </a:p>
        </p:txBody>
      </p:sp>
      <p:sp>
        <p:nvSpPr>
          <p:cNvPr id="15" name="text14" descr="sci-ppt:C2-E09-01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L_h: absorber-to-core heating distance</a:t>
            </a:r>
          </a:p>
        </p:txBody>
      </p:sp>
      <p:sp>
        <p:nvSpPr>
          <p:cNvPr id="16" name="text15" descr="sci-ppt:C2-E09-01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α = k/(ρc_p)</a:t>
            </a:r>
          </a:p>
        </p:txBody>
      </p:sp>
      <p:sp>
        <p:nvSpPr>
          <p:cNvPr id="17" name="text16" descr="sci-ppt:C2-E09-01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t_th: diffusion time</a:t>
            </a:r>
          </a:p>
        </p:txBody>
      </p:sp>
      <p:sp>
        <p:nvSpPr>
          <p:cNvPr id="18" name="text17" descr="sci-ppt:C2-E09-01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δ_T: penetration during τ_h</a:t>
            </a:r>
          </a:p>
        </p:txBody>
      </p:sp>
      <p:sp>
        <p:nvSpPr>
          <p:cNvPr id="19" name="text18" descr="sci-ppt:C2-E09-01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ΔT: thermal change</a:t>
            </a:r>
          </a:p>
        </p:txBody>
      </p:sp>
      <p:sp>
        <p:nvSpPr>
          <p:cNvPr id="20" name="text19" descr="sci-ppt:C2-E09-01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τ_h: available heating duration</a:t>
            </a:r>
          </a:p>
        </p:txBody>
      </p:sp>
      <p:sp>
        <p:nvSpPr>
          <p:cNvPr id="21" name="text20" descr="sci-ppt:C2-E09-020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Long distance costs time quadratically</a:t>
            </a:r>
          </a:p>
        </p:txBody>
      </p:sp>
      <p:sp>
        <p:nvSpPr>
          <p:cNvPr id="22" name="text21" descr="sci-ppt:C2-E09-021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Optical pulse duration is not automatically whole-core heating duration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0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C2-E10 | Physical-variable diagram</a:t>
            </a:r>
          </a:p>
        </p:txBody>
      </p:sp>
      <p:sp>
        <p:nvSpPr>
          <p:cNvPr id="3" name="rect2" descr="sci-ppt:C2-E10-002"/>
          <p:cNvSpPr/>
          <p:nvPr/>
        </p:nvSpPr>
        <p:spPr>
          <a:xfrm>
            <a:off x="1219200" y="1524000"/>
            <a:ext cx="3048000" cy="2438400"/>
          </a:xfrm>
          <a:prstGeom prst="rect">
            <a:avLst/>
          </a:prstGeom>
          <a:solidFill>
            <a:srgbClr val="F6BC77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10-003"/>
          <p:cNvSpPr/>
          <p:nvPr/>
        </p:nvSpPr>
        <p:spPr>
          <a:xfrm>
            <a:off x="4267200" y="1524000"/>
            <a:ext cx="4876800" cy="2438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10-004"/>
          <p:cNvSpPr txBox="1"/>
          <p:nvPr/>
        </p:nvSpPr>
        <p:spPr>
          <a:xfrm>
            <a:off x="152400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142632"/>
                </a:solidFill>
                <a:latin typeface="Arial"/>
              </a:rPr>
              <a:t>Absorber / side A</a:t>
            </a:r>
          </a:p>
        </p:txBody>
      </p:sp>
      <p:sp>
        <p:nvSpPr>
          <p:cNvPr id="6" name="text5" descr="sci-ppt:C2-E10-005"/>
          <p:cNvSpPr txBox="1"/>
          <p:nvPr/>
        </p:nvSpPr>
        <p:spPr>
          <a:xfrm>
            <a:off x="566928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PFC / side B</a:t>
            </a:r>
          </a:p>
        </p:txBody>
      </p:sp>
      <p:cxnSp>
        <p:nvCxnSpPr>
          <p:cNvPr id="7" name="arrow6" descr="sci-ppt:C2-E10-006"/>
          <p:cNvCxnSpPr/>
          <p:nvPr/>
        </p:nvCxnSpPr>
        <p:spPr>
          <a:xfrm>
            <a:off x="3048000" y="2865120"/>
            <a:ext cx="32918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10-007"/>
          <p:cNvSpPr txBox="1"/>
          <p:nvPr/>
        </p:nvSpPr>
        <p:spPr>
          <a:xfrm>
            <a:off x="4632960" y="316992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q; normal A → B</a:t>
            </a:r>
          </a:p>
        </p:txBody>
      </p:sp>
      <p:sp>
        <p:nvSpPr>
          <p:cNvPr id="9" name="text8" descr="sci-ppt:C2-E10-008"/>
          <p:cNvSpPr txBox="1"/>
          <p:nvPr/>
        </p:nvSpPr>
        <p:spPr>
          <a:xfrm>
            <a:off x="121920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T_A</a:t>
            </a:r>
          </a:p>
        </p:txBody>
      </p:sp>
      <p:sp>
        <p:nvSpPr>
          <p:cNvPr id="10" name="text9" descr="sci-ppt:C2-E10-009"/>
          <p:cNvSpPr txBox="1"/>
          <p:nvPr/>
        </p:nvSpPr>
        <p:spPr>
          <a:xfrm>
            <a:off x="707136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T_B</a:t>
            </a:r>
          </a:p>
        </p:txBody>
      </p:sp>
      <p:sp>
        <p:nvSpPr>
          <p:cNvPr id="11" name="text10" descr="sci-ppt:C2-E10-010"/>
          <p:cNvSpPr txBox="1"/>
          <p:nvPr/>
        </p:nvSpPr>
        <p:spPr>
          <a:xfrm>
            <a:off x="1402080" y="4206240"/>
            <a:ext cx="1036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Thermal path and contact are distinct from optical deposition.</a:t>
            </a:r>
          </a:p>
        </p:txBody>
      </p:sp>
      <p:sp>
        <p:nvSpPr>
          <p:cNvPr id="12" name="rect11" descr="sci-ppt:C2-E10-011"/>
          <p:cNvSpPr/>
          <p:nvPr/>
        </p:nvSpPr>
        <p:spPr>
          <a:xfrm>
            <a:off x="4279392" y="1536192"/>
            <a:ext cx="219456" cy="2414016"/>
          </a:xfrm>
          <a:prstGeom prst="rect">
            <a:avLst/>
          </a:prstGeom>
          <a:solidFill>
            <a:srgbClr val="F6B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10-012"/>
          <p:cNvSpPr txBox="1"/>
          <p:nvPr/>
        </p:nvSpPr>
        <p:spPr>
          <a:xfrm>
            <a:off x="9387840" y="243840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δ_T</a:t>
            </a:r>
          </a:p>
        </p:txBody>
      </p:sp>
      <p:sp>
        <p:nvSpPr>
          <p:cNvPr id="14" name="text13" descr="sci-ppt:C2-E10-013"/>
          <p:cNvSpPr txBox="1"/>
          <p:nvPr/>
        </p:nvSpPr>
        <p:spPr>
          <a:xfrm>
            <a:off x="9387840" y="286512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≪ L_h</a:t>
            </a:r>
          </a:p>
        </p:txBody>
      </p:sp>
      <p:sp>
        <p:nvSpPr>
          <p:cNvPr id="15" name="text14" descr="sci-ppt:C2-E10-01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α_d = 4.69034×10⁻⁸ m²/s</a:t>
            </a:r>
          </a:p>
        </p:txBody>
      </p:sp>
      <p:sp>
        <p:nvSpPr>
          <p:cNvPr id="16" name="text15" descr="sci-ppt:C2-E10-01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τ_h = 10 ns</a:t>
            </a:r>
          </a:p>
        </p:txBody>
      </p:sp>
      <p:sp>
        <p:nvSpPr>
          <p:cNvPr id="17" name="text16" descr="sci-ppt:C2-E10-01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δ_T ≈ 21.66 nm</a:t>
            </a:r>
          </a:p>
        </p:txBody>
      </p:sp>
      <p:sp>
        <p:nvSpPr>
          <p:cNvPr id="18" name="text17" descr="sci-ppt:C2-E10-01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L_h = 5 μm</a:t>
            </a:r>
          </a:p>
        </p:txBody>
      </p:sp>
      <p:sp>
        <p:nvSpPr>
          <p:cNvPr id="19" name="text18" descr="sci-ppt:C2-E10-01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t_th ≈ 533 μs</a:t>
            </a:r>
          </a:p>
        </p:txBody>
      </p:sp>
      <p:sp>
        <p:nvSpPr>
          <p:cNvPr id="20" name="text19" descr="sci-ppt:C2-E10-01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k_d = 0.050, ρ_d = 1630, c_p,d = 654 (SI)</a:t>
            </a:r>
          </a:p>
        </p:txBody>
      </p:sp>
      <p:sp>
        <p:nvSpPr>
          <p:cNvPr id="21" name="text20" descr="sci-ppt:C2-E10-020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Heated shell is much thinner than the core</a:t>
            </a:r>
          </a:p>
        </p:txBody>
      </p:sp>
      <p:sp>
        <p:nvSpPr>
          <p:cNvPr id="22" name="text21" descr="sci-ppt:C2-E10-021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Distributed absorbers or later conduction must justify a uniform-core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C2-E11 | Physical-variable diagram</a:t>
            </a:r>
          </a:p>
        </p:txBody>
      </p:sp>
      <p:sp>
        <p:nvSpPr>
          <p:cNvPr id="3" name="ellipse2" descr="sci-ppt:C2-E11-002"/>
          <p:cNvSpPr/>
          <p:nvPr/>
        </p:nvSpPr>
        <p:spPr>
          <a:xfrm>
            <a:off x="2072640" y="1402080"/>
            <a:ext cx="2438400" cy="243840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11-003"/>
          <p:cNvCxnSpPr/>
          <p:nvPr/>
        </p:nvCxnSpPr>
        <p:spPr>
          <a:xfrm>
            <a:off x="3291840" y="262128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2-E11-004"/>
          <p:cNvSpPr txBox="1"/>
          <p:nvPr/>
        </p:nvSpPr>
        <p:spPr>
          <a:xfrm>
            <a:off x="3474720" y="2133600"/>
            <a:ext cx="158496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a</a:t>
            </a:r>
          </a:p>
        </p:txBody>
      </p:sp>
      <p:sp>
        <p:nvSpPr>
          <p:cNvPr id="6" name="text5" descr="sci-ppt:C2-E11-005"/>
          <p:cNvSpPr txBox="1"/>
          <p:nvPr/>
        </p:nvSpPr>
        <p:spPr>
          <a:xfrm>
            <a:off x="2682240" y="28041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PFC liquid</a:t>
            </a:r>
          </a:p>
        </p:txBody>
      </p:sp>
      <p:sp>
        <p:nvSpPr>
          <p:cNvPr id="7" name="text6" descr="sci-ppt:C2-E11-006"/>
          <p:cNvSpPr txBox="1"/>
          <p:nvPr/>
        </p:nvSpPr>
        <p:spPr>
          <a:xfrm>
            <a:off x="5242560" y="1524000"/>
            <a:ext cx="4876800" cy="415747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11" b="0" i="0">
                <a:solidFill>
                  <a:srgbClr val="E7F0F3"/>
                </a:solidFill>
                <a:latin typeface="Arial"/>
              </a:rPr>
              <a:t>Aqueous carrier</a:t>
            </a:r>
          </a:p>
        </p:txBody>
      </p:sp>
      <p:sp>
        <p:nvSpPr>
          <p:cNvPr id="8" name="text7" descr="sci-ppt:C2-E11-007"/>
          <p:cNvSpPr txBox="1"/>
          <p:nvPr/>
        </p:nvSpPr>
        <p:spPr>
          <a:xfrm>
            <a:off x="5242560" y="1987296"/>
            <a:ext cx="5852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p_c; interface: σ_pc, shell</a:t>
            </a:r>
          </a:p>
        </p:txBody>
      </p:sp>
      <p:sp>
        <p:nvSpPr>
          <p:cNvPr id="9" name="text8" descr="sci-ppt:C2-E11-008"/>
          <p:cNvSpPr txBox="1"/>
          <p:nvPr/>
        </p:nvSpPr>
        <p:spPr>
          <a:xfrm>
            <a:off x="1219200" y="4206240"/>
            <a:ext cx="97536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Finite liquid core: a differs from subsequent bubble radius R.</a:t>
            </a:r>
          </a:p>
        </p:txBody>
      </p:sp>
      <p:sp>
        <p:nvSpPr>
          <p:cNvPr id="10" name="text9" descr="sci-ppt:C2-E11-009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a: PFC-core radius</a:t>
            </a:r>
          </a:p>
        </p:txBody>
      </p:sp>
      <p:sp>
        <p:nvSpPr>
          <p:cNvPr id="11" name="text10" descr="sci-ppt:C2-E11-010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p_c: aqueous carrier outside</a:t>
            </a:r>
          </a:p>
        </p:txBody>
      </p:sp>
      <p:sp>
        <p:nvSpPr>
          <p:cNvPr id="12" name="text11" descr="sci-ppt:C2-E11-011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Π_shell: shell pressure</a:t>
            </a:r>
          </a:p>
        </p:txBody>
      </p:sp>
      <p:sp>
        <p:nvSpPr>
          <p:cNvPr id="13" name="text12" descr="sci-ppt:C2-E11-012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p_d: inside core</a:t>
            </a:r>
          </a:p>
        </p:txBody>
      </p:sp>
      <p:sp>
        <p:nvSpPr>
          <p:cNvPr id="14" name="text13" descr="sci-ppt:C2-E11-013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σ_pc: PFC–carrier interface</a:t>
            </a:r>
          </a:p>
        </p:txBody>
      </p:sp>
      <p:sp>
        <p:nvSpPr>
          <p:cNvPr id="15" name="text14" descr="sci-ppt:C2-E11-014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8 kPa at 5 μm; 400 kPa at 100 nm</a:t>
            </a:r>
          </a:p>
        </p:txBody>
      </p:sp>
      <p:sp>
        <p:nvSpPr>
          <p:cNvPr id="16" name="text15" descr="sci-ppt:C2-E11-015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PFC-core radius is not the subsequent bubble radius</a:t>
            </a:r>
          </a:p>
        </p:txBody>
      </p:sp>
      <p:sp>
        <p:nvSpPr>
          <p:cNvPr id="17" name="text16" descr="sci-ppt:C2-E11-016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 nanodroplet may need much more local pressure than a micron 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2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C2-E12 | Physical-variable diagram</a:t>
            </a:r>
          </a:p>
        </p:txBody>
      </p:sp>
      <p:sp>
        <p:nvSpPr>
          <p:cNvPr id="3" name="rect2" descr="sci-ppt:C2-E12-002"/>
          <p:cNvSpPr/>
          <p:nvPr/>
        </p:nvSpPr>
        <p:spPr>
          <a:xfrm>
            <a:off x="975360" y="1706880"/>
            <a:ext cx="36576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12-003"/>
          <p:cNvSpPr txBox="1"/>
          <p:nvPr/>
        </p:nvSpPr>
        <p:spPr>
          <a:xfrm>
            <a:off x="1097280" y="182880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| vapor equilibrium</a:t>
            </a:r>
          </a:p>
        </p:txBody>
      </p:sp>
      <p:cxnSp>
        <p:nvCxnSpPr>
          <p:cNvPr id="5" name="arrow4" descr="sci-ppt:C2-E12-004"/>
          <p:cNvCxnSpPr/>
          <p:nvPr/>
        </p:nvCxnSpPr>
        <p:spPr>
          <a:xfrm>
            <a:off x="6339840" y="3962399"/>
            <a:ext cx="445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12-005"/>
          <p:cNvCxnSpPr/>
          <p:nvPr/>
        </p:nvCxnSpPr>
        <p:spPr>
          <a:xfrm flipV="1">
            <a:off x="6339840" y="1524000"/>
            <a:ext cx="0" cy="243839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12-006"/>
          <p:cNvSpPr txBox="1"/>
          <p:nvPr/>
        </p:nvSpPr>
        <p:spPr>
          <a:xfrm>
            <a:off x="981456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Temperature</a:t>
            </a:r>
          </a:p>
        </p:txBody>
      </p:sp>
      <p:sp>
        <p:nvSpPr>
          <p:cNvPr id="8" name="text7" descr="sci-ppt:C2-E12-007"/>
          <p:cNvSpPr txBox="1"/>
          <p:nvPr/>
        </p:nvSpPr>
        <p:spPr>
          <a:xfrm>
            <a:off x="6217920" y="115824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Saturation pressure</a:t>
            </a:r>
          </a:p>
        </p:txBody>
      </p:sp>
      <p:cxnSp>
        <p:nvCxnSpPr>
          <p:cNvPr id="9" name="line8" descr="sci-ppt:C2-E12-008"/>
          <p:cNvCxnSpPr/>
          <p:nvPr/>
        </p:nvCxnSpPr>
        <p:spPr>
          <a:xfrm flipV="1">
            <a:off x="6400800" y="3838041"/>
            <a:ext cx="142239" cy="24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line9" descr="sci-ppt:C2-E12-009"/>
          <p:cNvCxnSpPr/>
          <p:nvPr/>
        </p:nvCxnSpPr>
        <p:spPr>
          <a:xfrm flipV="1">
            <a:off x="6543039" y="3830726"/>
            <a:ext cx="142241" cy="73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12-010"/>
          <p:cNvCxnSpPr/>
          <p:nvPr/>
        </p:nvCxnSpPr>
        <p:spPr>
          <a:xfrm flipV="1">
            <a:off x="6685280" y="3818534"/>
            <a:ext cx="142240" cy="121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2-011"/>
          <p:cNvCxnSpPr/>
          <p:nvPr/>
        </p:nvCxnSpPr>
        <p:spPr>
          <a:xfrm flipV="1">
            <a:off x="6827520" y="3801465"/>
            <a:ext cx="142240" cy="170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2-012"/>
          <p:cNvCxnSpPr/>
          <p:nvPr/>
        </p:nvCxnSpPr>
        <p:spPr>
          <a:xfrm flipV="1">
            <a:off x="6969760" y="3779520"/>
            <a:ext cx="142240" cy="219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2-013"/>
          <p:cNvCxnSpPr/>
          <p:nvPr/>
        </p:nvCxnSpPr>
        <p:spPr>
          <a:xfrm flipV="1">
            <a:off x="7112000" y="3752697"/>
            <a:ext cx="142240" cy="268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2-014"/>
          <p:cNvCxnSpPr/>
          <p:nvPr/>
        </p:nvCxnSpPr>
        <p:spPr>
          <a:xfrm flipV="1">
            <a:off x="7254240" y="3720998"/>
            <a:ext cx="142240" cy="316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2-015"/>
          <p:cNvCxnSpPr/>
          <p:nvPr/>
        </p:nvCxnSpPr>
        <p:spPr>
          <a:xfrm flipV="1">
            <a:off x="7396480" y="3684422"/>
            <a:ext cx="142240" cy="365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2-016"/>
          <p:cNvCxnSpPr/>
          <p:nvPr/>
        </p:nvCxnSpPr>
        <p:spPr>
          <a:xfrm flipV="1">
            <a:off x="7538720" y="3642969"/>
            <a:ext cx="142240" cy="414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2-017"/>
          <p:cNvCxnSpPr/>
          <p:nvPr/>
        </p:nvCxnSpPr>
        <p:spPr>
          <a:xfrm flipV="1">
            <a:off x="7680960" y="3596640"/>
            <a:ext cx="142240" cy="463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2-018"/>
          <p:cNvCxnSpPr/>
          <p:nvPr/>
        </p:nvCxnSpPr>
        <p:spPr>
          <a:xfrm flipV="1">
            <a:off x="7823200" y="3545433"/>
            <a:ext cx="142240" cy="512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2-019"/>
          <p:cNvCxnSpPr/>
          <p:nvPr/>
        </p:nvCxnSpPr>
        <p:spPr>
          <a:xfrm flipV="1">
            <a:off x="7965440" y="3489350"/>
            <a:ext cx="142240" cy="560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2-020"/>
          <p:cNvCxnSpPr/>
          <p:nvPr/>
        </p:nvCxnSpPr>
        <p:spPr>
          <a:xfrm flipV="1">
            <a:off x="8107680" y="3428390"/>
            <a:ext cx="142240" cy="609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2-021"/>
          <p:cNvCxnSpPr/>
          <p:nvPr/>
        </p:nvCxnSpPr>
        <p:spPr>
          <a:xfrm flipV="1">
            <a:off x="8249920" y="3362553"/>
            <a:ext cx="142240" cy="658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2-022"/>
          <p:cNvCxnSpPr/>
          <p:nvPr/>
        </p:nvCxnSpPr>
        <p:spPr>
          <a:xfrm flipV="1">
            <a:off x="8392160" y="3291840"/>
            <a:ext cx="142240" cy="7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2-023"/>
          <p:cNvCxnSpPr/>
          <p:nvPr/>
        </p:nvCxnSpPr>
        <p:spPr>
          <a:xfrm flipV="1">
            <a:off x="8534400" y="3216249"/>
            <a:ext cx="142240" cy="755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2-024"/>
          <p:cNvCxnSpPr/>
          <p:nvPr/>
        </p:nvCxnSpPr>
        <p:spPr>
          <a:xfrm flipV="1">
            <a:off x="8676640" y="3135782"/>
            <a:ext cx="142240" cy="804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2-025"/>
          <p:cNvCxnSpPr/>
          <p:nvPr/>
        </p:nvCxnSpPr>
        <p:spPr>
          <a:xfrm flipV="1">
            <a:off x="8818880" y="3050438"/>
            <a:ext cx="142240" cy="853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2-026"/>
          <p:cNvCxnSpPr/>
          <p:nvPr/>
        </p:nvCxnSpPr>
        <p:spPr>
          <a:xfrm flipV="1">
            <a:off x="8961120" y="2960217"/>
            <a:ext cx="142240" cy="902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2-027"/>
          <p:cNvCxnSpPr/>
          <p:nvPr/>
        </p:nvCxnSpPr>
        <p:spPr>
          <a:xfrm flipV="1">
            <a:off x="9103360" y="2865120"/>
            <a:ext cx="142240" cy="950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2-028"/>
          <p:cNvCxnSpPr/>
          <p:nvPr/>
        </p:nvCxnSpPr>
        <p:spPr>
          <a:xfrm flipV="1">
            <a:off x="9245600" y="2765145"/>
            <a:ext cx="142240" cy="999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2-029"/>
          <p:cNvCxnSpPr/>
          <p:nvPr/>
        </p:nvCxnSpPr>
        <p:spPr>
          <a:xfrm flipV="1">
            <a:off x="9387840" y="2660294"/>
            <a:ext cx="142240" cy="1048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2-030"/>
          <p:cNvCxnSpPr/>
          <p:nvPr/>
        </p:nvCxnSpPr>
        <p:spPr>
          <a:xfrm flipV="1">
            <a:off x="9530080" y="2550566"/>
            <a:ext cx="142240" cy="1097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2-031"/>
          <p:cNvCxnSpPr/>
          <p:nvPr/>
        </p:nvCxnSpPr>
        <p:spPr>
          <a:xfrm flipV="1">
            <a:off x="9672320" y="2435961"/>
            <a:ext cx="142240" cy="1146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2-032"/>
          <p:cNvCxnSpPr/>
          <p:nvPr/>
        </p:nvCxnSpPr>
        <p:spPr>
          <a:xfrm flipV="1">
            <a:off x="9814560" y="2316480"/>
            <a:ext cx="142240" cy="1194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2-033"/>
          <p:cNvCxnSpPr/>
          <p:nvPr/>
        </p:nvCxnSpPr>
        <p:spPr>
          <a:xfrm flipV="1">
            <a:off x="9956800" y="2192121"/>
            <a:ext cx="142240" cy="12435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2-034"/>
          <p:cNvCxnSpPr/>
          <p:nvPr/>
        </p:nvCxnSpPr>
        <p:spPr>
          <a:xfrm flipV="1">
            <a:off x="10099040" y="2062886"/>
            <a:ext cx="142240" cy="1292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2-035"/>
          <p:cNvCxnSpPr/>
          <p:nvPr/>
        </p:nvCxnSpPr>
        <p:spPr>
          <a:xfrm flipV="1">
            <a:off x="10241280" y="1928774"/>
            <a:ext cx="142240" cy="1341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2-036"/>
          <p:cNvCxnSpPr/>
          <p:nvPr/>
        </p:nvCxnSpPr>
        <p:spPr>
          <a:xfrm flipV="1">
            <a:off x="10383520" y="1789785"/>
            <a:ext cx="142239" cy="1389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2-037"/>
          <p:cNvCxnSpPr/>
          <p:nvPr/>
        </p:nvCxnSpPr>
        <p:spPr>
          <a:xfrm flipV="1">
            <a:off x="10525759" y="1645920"/>
            <a:ext cx="142241" cy="1438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39" name="text38" descr="sci-ppt:C2-E12-038"/>
          <p:cNvSpPr txBox="1"/>
          <p:nvPr/>
        </p:nvSpPr>
        <p:spPr>
          <a:xfrm>
            <a:off x="975360" y="3474720"/>
            <a:ext cx="52425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Schematic trend within stated fit ranges</a:t>
            </a:r>
          </a:p>
        </p:txBody>
      </p:sp>
      <p:sp>
        <p:nvSpPr>
          <p:cNvPr id="40" name="text39" descr="sci-ppt:C2-E12-039"/>
          <p:cNvSpPr txBox="1"/>
          <p:nvPr/>
        </p:nvSpPr>
        <p:spPr>
          <a:xfrm>
            <a:off x="975360" y="304800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F6BC77"/>
                </a:solidFill>
                <a:latin typeface="Arial"/>
              </a:rPr>
              <a:t>Not an activation threshold</a:t>
            </a:r>
          </a:p>
        </p:txBody>
      </p:sp>
      <p:sp>
        <p:nvSpPr>
          <p:cNvPr id="41" name="text40" descr="sci-ppt:C2-E12-040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interface temperature</a:t>
            </a:r>
          </a:p>
        </p:txBody>
      </p:sp>
      <p:sp>
        <p:nvSpPr>
          <p:cNvPr id="42" name="text41" descr="sci-ppt:C2-E12-041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282.82–337.94 K: fit domain</a:t>
            </a:r>
          </a:p>
        </p:txBody>
      </p:sp>
      <p:sp>
        <p:nvSpPr>
          <p:cNvPr id="43" name="text42" descr="sci-ppt:C2-E12-042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4.2063; 1103.454 K; 39.77 K: coefficients</a:t>
            </a:r>
          </a:p>
        </p:txBody>
      </p:sp>
      <p:sp>
        <p:nvSpPr>
          <p:cNvPr id="44" name="text43" descr="sci-ppt:C2-E12-043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p_sat,PFP: bulk equilibrium vapor pressure</a:t>
            </a:r>
          </a:p>
        </p:txBody>
      </p:sp>
      <p:sp>
        <p:nvSpPr>
          <p:cNvPr id="45" name="text44" descr="sci-ppt:C2-E12-044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1 bar = 10⁵ Pa</a:t>
            </a:r>
          </a:p>
        </p:txBody>
      </p:sp>
      <p:sp>
        <p:nvSpPr>
          <p:cNvPr id="46" name="text45" descr="sci-ppt:C2-E12-045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Liquid and vapor coexist only when inventory and exchange permit</a:t>
            </a:r>
          </a:p>
        </p:txBody>
      </p:sp>
      <p:sp>
        <p:nvSpPr>
          <p:cNvPr id="47" name="text46" descr="sci-ppt:C2-E12-046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This curve is not a laser-fluence threshold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3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C2-E13 | Physical-variable diagram</a:t>
            </a:r>
          </a:p>
        </p:txBody>
      </p:sp>
      <p:sp>
        <p:nvSpPr>
          <p:cNvPr id="3" name="rect2" descr="sci-ppt:C2-E13-002"/>
          <p:cNvSpPr/>
          <p:nvPr/>
        </p:nvSpPr>
        <p:spPr>
          <a:xfrm>
            <a:off x="975360" y="1706880"/>
            <a:ext cx="36576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13-003"/>
          <p:cNvSpPr txBox="1"/>
          <p:nvPr/>
        </p:nvSpPr>
        <p:spPr>
          <a:xfrm>
            <a:off x="1097280" y="182880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| vapor equilibrium</a:t>
            </a:r>
          </a:p>
        </p:txBody>
      </p:sp>
      <p:cxnSp>
        <p:nvCxnSpPr>
          <p:cNvPr id="5" name="arrow4" descr="sci-ppt:C2-E13-004"/>
          <p:cNvCxnSpPr/>
          <p:nvPr/>
        </p:nvCxnSpPr>
        <p:spPr>
          <a:xfrm>
            <a:off x="6339840" y="3962399"/>
            <a:ext cx="445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13-005"/>
          <p:cNvCxnSpPr/>
          <p:nvPr/>
        </p:nvCxnSpPr>
        <p:spPr>
          <a:xfrm flipV="1">
            <a:off x="6339840" y="1524000"/>
            <a:ext cx="0" cy="243839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13-006"/>
          <p:cNvSpPr txBox="1"/>
          <p:nvPr/>
        </p:nvSpPr>
        <p:spPr>
          <a:xfrm>
            <a:off x="981456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Temperature</a:t>
            </a:r>
          </a:p>
        </p:txBody>
      </p:sp>
      <p:sp>
        <p:nvSpPr>
          <p:cNvPr id="8" name="text7" descr="sci-ppt:C2-E13-007"/>
          <p:cNvSpPr txBox="1"/>
          <p:nvPr/>
        </p:nvSpPr>
        <p:spPr>
          <a:xfrm>
            <a:off x="6217920" y="115824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Saturation pressure</a:t>
            </a:r>
          </a:p>
        </p:txBody>
      </p:sp>
      <p:cxnSp>
        <p:nvCxnSpPr>
          <p:cNvPr id="9" name="line8" descr="sci-ppt:C2-E13-008"/>
          <p:cNvCxnSpPr/>
          <p:nvPr/>
        </p:nvCxnSpPr>
        <p:spPr>
          <a:xfrm flipV="1">
            <a:off x="6400800" y="3838041"/>
            <a:ext cx="142239" cy="24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line9" descr="sci-ppt:C2-E13-009"/>
          <p:cNvCxnSpPr/>
          <p:nvPr/>
        </p:nvCxnSpPr>
        <p:spPr>
          <a:xfrm flipV="1">
            <a:off x="6543039" y="3830726"/>
            <a:ext cx="142241" cy="73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13-010"/>
          <p:cNvCxnSpPr/>
          <p:nvPr/>
        </p:nvCxnSpPr>
        <p:spPr>
          <a:xfrm flipV="1">
            <a:off x="6685280" y="3818534"/>
            <a:ext cx="142240" cy="121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3-011"/>
          <p:cNvCxnSpPr/>
          <p:nvPr/>
        </p:nvCxnSpPr>
        <p:spPr>
          <a:xfrm flipV="1">
            <a:off x="6827520" y="3801465"/>
            <a:ext cx="142240" cy="170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3-012"/>
          <p:cNvCxnSpPr/>
          <p:nvPr/>
        </p:nvCxnSpPr>
        <p:spPr>
          <a:xfrm flipV="1">
            <a:off x="6969760" y="3779520"/>
            <a:ext cx="142240" cy="219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3-013"/>
          <p:cNvCxnSpPr/>
          <p:nvPr/>
        </p:nvCxnSpPr>
        <p:spPr>
          <a:xfrm flipV="1">
            <a:off x="7112000" y="3752697"/>
            <a:ext cx="142240" cy="268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3-014"/>
          <p:cNvCxnSpPr/>
          <p:nvPr/>
        </p:nvCxnSpPr>
        <p:spPr>
          <a:xfrm flipV="1">
            <a:off x="7254240" y="3720998"/>
            <a:ext cx="142240" cy="316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3-015"/>
          <p:cNvCxnSpPr/>
          <p:nvPr/>
        </p:nvCxnSpPr>
        <p:spPr>
          <a:xfrm flipV="1">
            <a:off x="7396480" y="3684422"/>
            <a:ext cx="142240" cy="365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3-016"/>
          <p:cNvCxnSpPr/>
          <p:nvPr/>
        </p:nvCxnSpPr>
        <p:spPr>
          <a:xfrm flipV="1">
            <a:off x="7538720" y="3642969"/>
            <a:ext cx="142240" cy="414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3-017"/>
          <p:cNvCxnSpPr/>
          <p:nvPr/>
        </p:nvCxnSpPr>
        <p:spPr>
          <a:xfrm flipV="1">
            <a:off x="7680960" y="3596640"/>
            <a:ext cx="142240" cy="463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3-018"/>
          <p:cNvCxnSpPr/>
          <p:nvPr/>
        </p:nvCxnSpPr>
        <p:spPr>
          <a:xfrm flipV="1">
            <a:off x="7823200" y="3545433"/>
            <a:ext cx="142240" cy="512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3-019"/>
          <p:cNvCxnSpPr/>
          <p:nvPr/>
        </p:nvCxnSpPr>
        <p:spPr>
          <a:xfrm flipV="1">
            <a:off x="7965440" y="3489350"/>
            <a:ext cx="142240" cy="560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3-020"/>
          <p:cNvCxnSpPr/>
          <p:nvPr/>
        </p:nvCxnSpPr>
        <p:spPr>
          <a:xfrm flipV="1">
            <a:off x="8107680" y="3428390"/>
            <a:ext cx="142240" cy="609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3-021"/>
          <p:cNvCxnSpPr/>
          <p:nvPr/>
        </p:nvCxnSpPr>
        <p:spPr>
          <a:xfrm flipV="1">
            <a:off x="8249920" y="3362553"/>
            <a:ext cx="142240" cy="658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3-022"/>
          <p:cNvCxnSpPr/>
          <p:nvPr/>
        </p:nvCxnSpPr>
        <p:spPr>
          <a:xfrm flipV="1">
            <a:off x="8392160" y="3291840"/>
            <a:ext cx="142240" cy="7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3-023"/>
          <p:cNvCxnSpPr/>
          <p:nvPr/>
        </p:nvCxnSpPr>
        <p:spPr>
          <a:xfrm flipV="1">
            <a:off x="8534400" y="3216249"/>
            <a:ext cx="142240" cy="755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3-024"/>
          <p:cNvCxnSpPr/>
          <p:nvPr/>
        </p:nvCxnSpPr>
        <p:spPr>
          <a:xfrm flipV="1">
            <a:off x="8676640" y="3135782"/>
            <a:ext cx="142240" cy="804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3-025"/>
          <p:cNvCxnSpPr/>
          <p:nvPr/>
        </p:nvCxnSpPr>
        <p:spPr>
          <a:xfrm flipV="1">
            <a:off x="8818880" y="3050438"/>
            <a:ext cx="142240" cy="853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3-026"/>
          <p:cNvCxnSpPr/>
          <p:nvPr/>
        </p:nvCxnSpPr>
        <p:spPr>
          <a:xfrm flipV="1">
            <a:off x="8961120" y="2960217"/>
            <a:ext cx="142240" cy="902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3-027"/>
          <p:cNvCxnSpPr/>
          <p:nvPr/>
        </p:nvCxnSpPr>
        <p:spPr>
          <a:xfrm flipV="1">
            <a:off x="9103360" y="2865120"/>
            <a:ext cx="142240" cy="950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3-028"/>
          <p:cNvCxnSpPr/>
          <p:nvPr/>
        </p:nvCxnSpPr>
        <p:spPr>
          <a:xfrm flipV="1">
            <a:off x="9245600" y="2765145"/>
            <a:ext cx="142240" cy="999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3-029"/>
          <p:cNvCxnSpPr/>
          <p:nvPr/>
        </p:nvCxnSpPr>
        <p:spPr>
          <a:xfrm flipV="1">
            <a:off x="9387840" y="2660294"/>
            <a:ext cx="142240" cy="1048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3-030"/>
          <p:cNvCxnSpPr/>
          <p:nvPr/>
        </p:nvCxnSpPr>
        <p:spPr>
          <a:xfrm flipV="1">
            <a:off x="9530080" y="2550566"/>
            <a:ext cx="142240" cy="1097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3-031"/>
          <p:cNvCxnSpPr/>
          <p:nvPr/>
        </p:nvCxnSpPr>
        <p:spPr>
          <a:xfrm flipV="1">
            <a:off x="9672320" y="2435961"/>
            <a:ext cx="142240" cy="1146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3-032"/>
          <p:cNvCxnSpPr/>
          <p:nvPr/>
        </p:nvCxnSpPr>
        <p:spPr>
          <a:xfrm flipV="1">
            <a:off x="9814560" y="2316480"/>
            <a:ext cx="142240" cy="1194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3-033"/>
          <p:cNvCxnSpPr/>
          <p:nvPr/>
        </p:nvCxnSpPr>
        <p:spPr>
          <a:xfrm flipV="1">
            <a:off x="9956800" y="2192121"/>
            <a:ext cx="142240" cy="12435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3-034"/>
          <p:cNvCxnSpPr/>
          <p:nvPr/>
        </p:nvCxnSpPr>
        <p:spPr>
          <a:xfrm flipV="1">
            <a:off x="10099040" y="2062886"/>
            <a:ext cx="142240" cy="1292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3-035"/>
          <p:cNvCxnSpPr/>
          <p:nvPr/>
        </p:nvCxnSpPr>
        <p:spPr>
          <a:xfrm flipV="1">
            <a:off x="10241280" y="1928774"/>
            <a:ext cx="142240" cy="1341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3-036"/>
          <p:cNvCxnSpPr/>
          <p:nvPr/>
        </p:nvCxnSpPr>
        <p:spPr>
          <a:xfrm flipV="1">
            <a:off x="10383520" y="1789785"/>
            <a:ext cx="142239" cy="1389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3-037"/>
          <p:cNvCxnSpPr/>
          <p:nvPr/>
        </p:nvCxnSpPr>
        <p:spPr>
          <a:xfrm flipV="1">
            <a:off x="10525759" y="1645920"/>
            <a:ext cx="142241" cy="1438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39" name="text38" descr="sci-ppt:C2-E13-038"/>
          <p:cNvSpPr txBox="1"/>
          <p:nvPr/>
        </p:nvSpPr>
        <p:spPr>
          <a:xfrm>
            <a:off x="975360" y="3474720"/>
            <a:ext cx="52425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Schematic trend within stated fit ranges</a:t>
            </a:r>
          </a:p>
        </p:txBody>
      </p:sp>
      <p:sp>
        <p:nvSpPr>
          <p:cNvPr id="40" name="text39" descr="sci-ppt:C2-E13-039"/>
          <p:cNvSpPr txBox="1"/>
          <p:nvPr/>
        </p:nvSpPr>
        <p:spPr>
          <a:xfrm>
            <a:off x="975360" y="304800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F6BC77"/>
                </a:solidFill>
                <a:latin typeface="Arial"/>
              </a:rPr>
              <a:t>Not an activation threshold</a:t>
            </a:r>
          </a:p>
        </p:txBody>
      </p:sp>
      <p:sp>
        <p:nvSpPr>
          <p:cNvPr id="41" name="text40" descr="sci-ppt:C2-E13-040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water temperature</a:t>
            </a:r>
          </a:p>
        </p:txBody>
      </p:sp>
      <p:sp>
        <p:nvSpPr>
          <p:cNvPr id="42" name="text41" descr="sci-ppt:C2-E13-041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273–303 K; 304–333 K: separate branches</a:t>
            </a:r>
          </a:p>
        </p:txBody>
      </p:sp>
      <p:sp>
        <p:nvSpPr>
          <p:cNvPr id="43" name="text42" descr="sci-ppt:C2-E13-042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5.40221, 1838.675 K, 31.737 K</a:t>
            </a:r>
          </a:p>
        </p:txBody>
      </p:sp>
      <p:sp>
        <p:nvSpPr>
          <p:cNvPr id="44" name="text43" descr="sci-ppt:C2-E13-043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p_sat,w: water equilibrium pressure</a:t>
            </a:r>
          </a:p>
        </p:txBody>
      </p:sp>
      <p:sp>
        <p:nvSpPr>
          <p:cNvPr id="45" name="text44" descr="sci-ppt:C2-E13-044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10⁵ Pa: pressure reference</a:t>
            </a:r>
          </a:p>
        </p:txBody>
      </p:sp>
      <p:sp>
        <p:nvSpPr>
          <p:cNvPr id="46" name="text45" descr="sci-ppt:C2-E13-045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5.20389, 1733.926 K, 39.485 K</a:t>
            </a:r>
          </a:p>
        </p:txBody>
      </p:sp>
      <p:sp>
        <p:nvSpPr>
          <p:cNvPr id="47" name="text46" descr="sci-ppt:C2-E13-046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Use the coefficient branch belonging to the temperature</a:t>
            </a:r>
          </a:p>
        </p:txBody>
      </p:sp>
      <p:sp>
        <p:nvSpPr>
          <p:cNvPr id="48" name="text47" descr="sci-ppt:C2-E13-047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hot PFC and carrier may have different local temperatures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C2-E14 | Physical-variable diagram</a:t>
            </a:r>
          </a:p>
        </p:txBody>
      </p:sp>
      <p:sp>
        <p:nvSpPr>
          <p:cNvPr id="3" name="ellipse2" descr="sci-ppt:C2-E14-002"/>
          <p:cNvSpPr/>
          <p:nvPr/>
        </p:nvSpPr>
        <p:spPr>
          <a:xfrm>
            <a:off x="1341120" y="128016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14-003"/>
          <p:cNvSpPr/>
          <p:nvPr/>
        </p:nvSpPr>
        <p:spPr>
          <a:xfrm>
            <a:off x="2389632" y="2328672"/>
            <a:ext cx="707136" cy="707136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14-004"/>
          <p:cNvSpPr txBox="1"/>
          <p:nvPr/>
        </p:nvSpPr>
        <p:spPr>
          <a:xfrm>
            <a:off x="1706880" y="8534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Finite PFC liquid: p_d</a:t>
            </a:r>
          </a:p>
        </p:txBody>
      </p:sp>
      <p:sp>
        <p:nvSpPr>
          <p:cNvPr id="6" name="text5" descr="sci-ppt:C2-E14-005"/>
          <p:cNvSpPr txBox="1"/>
          <p:nvPr/>
        </p:nvSpPr>
        <p:spPr>
          <a:xfrm>
            <a:off x="1341120" y="4267200"/>
            <a:ext cx="560832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Inner interface σ_vp; outer σ_pc</a:t>
            </a:r>
          </a:p>
        </p:txBody>
      </p:sp>
      <p:cxnSp>
        <p:nvCxnSpPr>
          <p:cNvPr id="7" name="arrow6" descr="sci-ppt:C2-E14-006"/>
          <p:cNvCxnSpPr/>
          <p:nvPr/>
        </p:nvCxnSpPr>
        <p:spPr>
          <a:xfrm>
            <a:off x="6705600" y="3901440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7" descr="sci-ppt:C2-E14-007"/>
          <p:cNvCxnSpPr/>
          <p:nvPr/>
        </p:nvCxnSpPr>
        <p:spPr>
          <a:xfrm flipV="1">
            <a:off x="6705600" y="1463040"/>
            <a:ext cx="0" cy="24384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8" descr="sci-ppt:C2-E14-008"/>
          <p:cNvSpPr txBox="1"/>
          <p:nvPr/>
        </p:nvSpPr>
        <p:spPr>
          <a:xfrm>
            <a:off x="9997440" y="402336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</a:t>
            </a:r>
          </a:p>
        </p:txBody>
      </p:sp>
      <p:sp>
        <p:nvSpPr>
          <p:cNvPr id="10" name="text9" descr="sci-ppt:C2-E14-009"/>
          <p:cNvSpPr txBox="1"/>
          <p:nvPr/>
        </p:nvSpPr>
        <p:spPr>
          <a:xfrm>
            <a:off x="6583680" y="109728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11" name="line10" descr="sci-ppt:C2-E14-010"/>
          <p:cNvCxnSpPr/>
          <p:nvPr/>
        </p:nvCxnSpPr>
        <p:spPr>
          <a:xfrm flipV="1">
            <a:off x="6766560" y="3896425"/>
            <a:ext cx="100584" cy="50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4-011"/>
          <p:cNvCxnSpPr/>
          <p:nvPr/>
        </p:nvCxnSpPr>
        <p:spPr>
          <a:xfrm flipV="1">
            <a:off x="6867144" y="3881894"/>
            <a:ext cx="100584" cy="145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4-012"/>
          <p:cNvCxnSpPr/>
          <p:nvPr/>
        </p:nvCxnSpPr>
        <p:spPr>
          <a:xfrm flipV="1">
            <a:off x="6967728" y="3858620"/>
            <a:ext cx="100584" cy="23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4-013"/>
          <p:cNvCxnSpPr/>
          <p:nvPr/>
        </p:nvCxnSpPr>
        <p:spPr>
          <a:xfrm flipV="1">
            <a:off x="7068312" y="3827373"/>
            <a:ext cx="100584" cy="312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4-014"/>
          <p:cNvCxnSpPr/>
          <p:nvPr/>
        </p:nvCxnSpPr>
        <p:spPr>
          <a:xfrm flipV="1">
            <a:off x="7168896" y="3788925"/>
            <a:ext cx="100584" cy="384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4-015"/>
          <p:cNvCxnSpPr/>
          <p:nvPr/>
        </p:nvCxnSpPr>
        <p:spPr>
          <a:xfrm flipV="1">
            <a:off x="7269480" y="3744048"/>
            <a:ext cx="100584" cy="448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4-016"/>
          <p:cNvCxnSpPr/>
          <p:nvPr/>
        </p:nvCxnSpPr>
        <p:spPr>
          <a:xfrm flipV="1">
            <a:off x="7370064" y="3693514"/>
            <a:ext cx="100584" cy="505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4-017"/>
          <p:cNvCxnSpPr/>
          <p:nvPr/>
        </p:nvCxnSpPr>
        <p:spPr>
          <a:xfrm flipV="1">
            <a:off x="7470648" y="3638092"/>
            <a:ext cx="100583" cy="554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4-018"/>
          <p:cNvCxnSpPr/>
          <p:nvPr/>
        </p:nvCxnSpPr>
        <p:spPr>
          <a:xfrm flipV="1">
            <a:off x="7571231" y="3578556"/>
            <a:ext cx="100585" cy="59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4-019"/>
          <p:cNvCxnSpPr/>
          <p:nvPr/>
        </p:nvCxnSpPr>
        <p:spPr>
          <a:xfrm flipV="1">
            <a:off x="7671816" y="3515677"/>
            <a:ext cx="100584" cy="628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4-020"/>
          <p:cNvCxnSpPr/>
          <p:nvPr/>
        </p:nvCxnSpPr>
        <p:spPr>
          <a:xfrm flipV="1">
            <a:off x="7772400" y="3450226"/>
            <a:ext cx="100583" cy="654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4-021"/>
          <p:cNvCxnSpPr/>
          <p:nvPr/>
        </p:nvCxnSpPr>
        <p:spPr>
          <a:xfrm flipV="1">
            <a:off x="7872983" y="3382975"/>
            <a:ext cx="100585" cy="672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4-022"/>
          <p:cNvCxnSpPr/>
          <p:nvPr/>
        </p:nvCxnSpPr>
        <p:spPr>
          <a:xfrm flipV="1">
            <a:off x="7973568" y="3314695"/>
            <a:ext cx="100584" cy="682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4-023"/>
          <p:cNvCxnSpPr/>
          <p:nvPr/>
        </p:nvCxnSpPr>
        <p:spPr>
          <a:xfrm flipV="1">
            <a:off x="8074152" y="3246158"/>
            <a:ext cx="100584" cy="685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4-024"/>
          <p:cNvCxnSpPr/>
          <p:nvPr/>
        </p:nvCxnSpPr>
        <p:spPr>
          <a:xfrm flipV="1">
            <a:off x="8174736" y="3178135"/>
            <a:ext cx="100584" cy="680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4-025"/>
          <p:cNvCxnSpPr/>
          <p:nvPr/>
        </p:nvCxnSpPr>
        <p:spPr>
          <a:xfrm flipV="1">
            <a:off x="8275320" y="3111398"/>
            <a:ext cx="100584" cy="667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4-026"/>
          <p:cNvCxnSpPr/>
          <p:nvPr/>
        </p:nvCxnSpPr>
        <p:spPr>
          <a:xfrm flipV="1">
            <a:off x="8375904" y="3046718"/>
            <a:ext cx="100584" cy="64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4-027"/>
          <p:cNvCxnSpPr/>
          <p:nvPr/>
        </p:nvCxnSpPr>
        <p:spPr>
          <a:xfrm flipV="1">
            <a:off x="8476488" y="2984868"/>
            <a:ext cx="100584" cy="618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4-028"/>
          <p:cNvCxnSpPr/>
          <p:nvPr/>
        </p:nvCxnSpPr>
        <p:spPr>
          <a:xfrm flipV="1">
            <a:off x="8577072" y="2926618"/>
            <a:ext cx="100584" cy="582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4-029"/>
          <p:cNvCxnSpPr/>
          <p:nvPr/>
        </p:nvCxnSpPr>
        <p:spPr>
          <a:xfrm flipV="1">
            <a:off x="8677656" y="2872740"/>
            <a:ext cx="100584" cy="538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4-030"/>
          <p:cNvCxnSpPr/>
          <p:nvPr/>
        </p:nvCxnSpPr>
        <p:spPr>
          <a:xfrm flipV="1">
            <a:off x="8778240" y="2824005"/>
            <a:ext cx="100584" cy="487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4-031"/>
          <p:cNvCxnSpPr/>
          <p:nvPr/>
        </p:nvCxnSpPr>
        <p:spPr>
          <a:xfrm flipV="1">
            <a:off x="8878824" y="2781185"/>
            <a:ext cx="100584" cy="42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4-032"/>
          <p:cNvCxnSpPr/>
          <p:nvPr/>
        </p:nvCxnSpPr>
        <p:spPr>
          <a:xfrm flipV="1">
            <a:off x="8979408" y="2745052"/>
            <a:ext cx="100584" cy="361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4-033"/>
          <p:cNvCxnSpPr/>
          <p:nvPr/>
        </p:nvCxnSpPr>
        <p:spPr>
          <a:xfrm flipV="1">
            <a:off x="9079992" y="2716377"/>
            <a:ext cx="100584" cy="286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4-034"/>
          <p:cNvCxnSpPr/>
          <p:nvPr/>
        </p:nvCxnSpPr>
        <p:spPr>
          <a:xfrm flipV="1">
            <a:off x="9180576" y="2695932"/>
            <a:ext cx="100584" cy="20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4-035"/>
          <p:cNvCxnSpPr/>
          <p:nvPr/>
        </p:nvCxnSpPr>
        <p:spPr>
          <a:xfrm flipV="1">
            <a:off x="9281160" y="2684487"/>
            <a:ext cx="100584" cy="11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4-036"/>
          <p:cNvCxnSpPr/>
          <p:nvPr/>
        </p:nvCxnSpPr>
        <p:spPr>
          <a:xfrm flipV="1">
            <a:off x="9381744" y="2682816"/>
            <a:ext cx="100584" cy="16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4-037"/>
          <p:cNvCxnSpPr/>
          <p:nvPr/>
        </p:nvCxnSpPr>
        <p:spPr>
          <a:xfrm>
            <a:off x="9482328" y="2682816"/>
            <a:ext cx="100584" cy="88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14-038"/>
          <p:cNvCxnSpPr/>
          <p:nvPr/>
        </p:nvCxnSpPr>
        <p:spPr>
          <a:xfrm>
            <a:off x="9582912" y="2691688"/>
            <a:ext cx="100584" cy="201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14-039"/>
          <p:cNvCxnSpPr/>
          <p:nvPr/>
        </p:nvCxnSpPr>
        <p:spPr>
          <a:xfrm>
            <a:off x="9683496" y="2711877"/>
            <a:ext cx="100584" cy="322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14-040"/>
          <p:cNvCxnSpPr/>
          <p:nvPr/>
        </p:nvCxnSpPr>
        <p:spPr>
          <a:xfrm>
            <a:off x="9784080" y="2744152"/>
            <a:ext cx="100584" cy="451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14-041"/>
          <p:cNvCxnSpPr/>
          <p:nvPr/>
        </p:nvCxnSpPr>
        <p:spPr>
          <a:xfrm>
            <a:off x="9884664" y="2789286"/>
            <a:ext cx="100584" cy="587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14-042"/>
          <p:cNvCxnSpPr/>
          <p:nvPr/>
        </p:nvCxnSpPr>
        <p:spPr>
          <a:xfrm>
            <a:off x="9985248" y="2848051"/>
            <a:ext cx="100584" cy="731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14-043"/>
          <p:cNvCxnSpPr/>
          <p:nvPr/>
        </p:nvCxnSpPr>
        <p:spPr>
          <a:xfrm>
            <a:off x="10085832" y="2921217"/>
            <a:ext cx="100584" cy="883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14-044"/>
          <p:cNvCxnSpPr/>
          <p:nvPr/>
        </p:nvCxnSpPr>
        <p:spPr>
          <a:xfrm>
            <a:off x="10186416" y="3009557"/>
            <a:ext cx="100584" cy="1042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14-045"/>
          <p:cNvCxnSpPr/>
          <p:nvPr/>
        </p:nvCxnSpPr>
        <p:spPr>
          <a:xfrm>
            <a:off x="10287000" y="3113841"/>
            <a:ext cx="100584" cy="1210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14-046"/>
          <p:cNvCxnSpPr/>
          <p:nvPr/>
        </p:nvCxnSpPr>
        <p:spPr>
          <a:xfrm>
            <a:off x="10387584" y="3234842"/>
            <a:ext cx="100584" cy="1384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14-047"/>
          <p:cNvCxnSpPr/>
          <p:nvPr/>
        </p:nvCxnSpPr>
        <p:spPr>
          <a:xfrm>
            <a:off x="10488168" y="3373331"/>
            <a:ext cx="100584" cy="1567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14-048"/>
          <p:cNvCxnSpPr/>
          <p:nvPr/>
        </p:nvCxnSpPr>
        <p:spPr>
          <a:xfrm>
            <a:off x="10588752" y="3530079"/>
            <a:ext cx="100584" cy="1757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14-049"/>
          <p:cNvCxnSpPr/>
          <p:nvPr/>
        </p:nvCxnSpPr>
        <p:spPr>
          <a:xfrm>
            <a:off x="10689336" y="3705858"/>
            <a:ext cx="100584" cy="1955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1" name="text50" descr="sci-ppt:C2-E14-050"/>
          <p:cNvSpPr txBox="1"/>
          <p:nvPr/>
        </p:nvSpPr>
        <p:spPr>
          <a:xfrm>
            <a:off x="8595360" y="21945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r*, W*</a:t>
            </a:r>
          </a:p>
        </p:txBody>
      </p:sp>
      <p:sp>
        <p:nvSpPr>
          <p:cNvPr id="52" name="text51" descr="sci-ppt:C2-E14-05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r_n: nucleus radius inside PFC</a:t>
            </a:r>
          </a:p>
        </p:txBody>
      </p:sp>
      <p:sp>
        <p:nvSpPr>
          <p:cNvPr id="53" name="text52" descr="sci-ppt:C2-E14-05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T_i: local nucleus temperature</a:t>
            </a:r>
          </a:p>
        </p:txBody>
      </p:sp>
      <p:sp>
        <p:nvSpPr>
          <p:cNvPr id="54" name="text53" descr="sci-ppt:C2-E14-05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p_sat,PFC: equilibrium vapor reference</a:t>
            </a:r>
          </a:p>
        </p:txBody>
      </p:sp>
      <p:sp>
        <p:nvSpPr>
          <p:cNvPr id="55" name="text54" descr="sci-ppt:C2-E14-05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W: surface cost minus volume gain</a:t>
            </a:r>
          </a:p>
        </p:txBody>
      </p:sp>
      <p:sp>
        <p:nvSpPr>
          <p:cNvPr id="56" name="text55" descr="sci-ppt:C2-E14-05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σ_vp: newly created vapor–PFC interface</a:t>
            </a:r>
          </a:p>
        </p:txBody>
      </p:sp>
      <p:sp>
        <p:nvSpPr>
          <p:cNvPr id="57" name="text56" descr="sci-ppt:C2-E14-05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p_d: surrounding PFC liquid</a:t>
            </a:r>
          </a:p>
        </p:txBody>
      </p:sp>
      <p:sp>
        <p:nvSpPr>
          <p:cNvPr id="58" name="text57" descr="sci-ppt:C2-E14-05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Δp_n: volume driving</a:t>
            </a:r>
          </a:p>
        </p:txBody>
      </p:sp>
      <p:sp>
        <p:nvSpPr>
          <p:cNvPr id="59" name="text58" descr="sci-ppt:C2-E14-05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geometry</a:t>
            </a:r>
          </a:p>
        </p:txBody>
      </p:sp>
      <p:sp>
        <p:nvSpPr>
          <p:cNvPr id="60" name="text59" descr="sci-ppt:C2-E14-05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outer PFC–carrier tension is a different interface</a:t>
            </a:r>
          </a:p>
        </p:txBody>
      </p:sp>
      <p:sp>
        <p:nvSpPr>
          <p:cNvPr id="61" name="text60" descr="sci-ppt:C2-E14-06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whole core cannot be treated as an infinite liquid reservoir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5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C2-E15 | Physical-variable diagram</a:t>
            </a:r>
          </a:p>
        </p:txBody>
      </p:sp>
      <p:sp>
        <p:nvSpPr>
          <p:cNvPr id="3" name="ellipse2" descr="sci-ppt:C2-E15-002"/>
          <p:cNvSpPr/>
          <p:nvPr/>
        </p:nvSpPr>
        <p:spPr>
          <a:xfrm>
            <a:off x="1341120" y="128016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15-003"/>
          <p:cNvSpPr/>
          <p:nvPr/>
        </p:nvSpPr>
        <p:spPr>
          <a:xfrm>
            <a:off x="2389632" y="2328672"/>
            <a:ext cx="707136" cy="707136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15-004"/>
          <p:cNvSpPr txBox="1"/>
          <p:nvPr/>
        </p:nvSpPr>
        <p:spPr>
          <a:xfrm>
            <a:off x="1706880" y="8534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Finite PFC liquid: p_d</a:t>
            </a:r>
          </a:p>
        </p:txBody>
      </p:sp>
      <p:sp>
        <p:nvSpPr>
          <p:cNvPr id="6" name="text5" descr="sci-ppt:C2-E15-005"/>
          <p:cNvSpPr txBox="1"/>
          <p:nvPr/>
        </p:nvSpPr>
        <p:spPr>
          <a:xfrm>
            <a:off x="1341120" y="4267200"/>
            <a:ext cx="560832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Inner interface σ_vp; outer σ_pc</a:t>
            </a:r>
          </a:p>
        </p:txBody>
      </p:sp>
      <p:cxnSp>
        <p:nvCxnSpPr>
          <p:cNvPr id="7" name="arrow6" descr="sci-ppt:C2-E15-006"/>
          <p:cNvCxnSpPr/>
          <p:nvPr/>
        </p:nvCxnSpPr>
        <p:spPr>
          <a:xfrm>
            <a:off x="6705600" y="3901440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7" descr="sci-ppt:C2-E15-007"/>
          <p:cNvCxnSpPr/>
          <p:nvPr/>
        </p:nvCxnSpPr>
        <p:spPr>
          <a:xfrm flipV="1">
            <a:off x="6705600" y="1463040"/>
            <a:ext cx="0" cy="24384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8" descr="sci-ppt:C2-E15-008"/>
          <p:cNvSpPr txBox="1"/>
          <p:nvPr/>
        </p:nvSpPr>
        <p:spPr>
          <a:xfrm>
            <a:off x="9997440" y="402336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</a:t>
            </a:r>
          </a:p>
        </p:txBody>
      </p:sp>
      <p:sp>
        <p:nvSpPr>
          <p:cNvPr id="10" name="text9" descr="sci-ppt:C2-E15-009"/>
          <p:cNvSpPr txBox="1"/>
          <p:nvPr/>
        </p:nvSpPr>
        <p:spPr>
          <a:xfrm>
            <a:off x="6583680" y="109728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11" name="line10" descr="sci-ppt:C2-E15-010"/>
          <p:cNvCxnSpPr/>
          <p:nvPr/>
        </p:nvCxnSpPr>
        <p:spPr>
          <a:xfrm flipV="1">
            <a:off x="6766560" y="3896425"/>
            <a:ext cx="100584" cy="50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5-011"/>
          <p:cNvCxnSpPr/>
          <p:nvPr/>
        </p:nvCxnSpPr>
        <p:spPr>
          <a:xfrm flipV="1">
            <a:off x="6867144" y="3881894"/>
            <a:ext cx="100584" cy="145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5-012"/>
          <p:cNvCxnSpPr/>
          <p:nvPr/>
        </p:nvCxnSpPr>
        <p:spPr>
          <a:xfrm flipV="1">
            <a:off x="6967728" y="3858620"/>
            <a:ext cx="100584" cy="23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5-013"/>
          <p:cNvCxnSpPr/>
          <p:nvPr/>
        </p:nvCxnSpPr>
        <p:spPr>
          <a:xfrm flipV="1">
            <a:off x="7068312" y="3827373"/>
            <a:ext cx="100584" cy="312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5-014"/>
          <p:cNvCxnSpPr/>
          <p:nvPr/>
        </p:nvCxnSpPr>
        <p:spPr>
          <a:xfrm flipV="1">
            <a:off x="7168896" y="3788925"/>
            <a:ext cx="100584" cy="384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5-015"/>
          <p:cNvCxnSpPr/>
          <p:nvPr/>
        </p:nvCxnSpPr>
        <p:spPr>
          <a:xfrm flipV="1">
            <a:off x="7269480" y="3744048"/>
            <a:ext cx="100584" cy="448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5-016"/>
          <p:cNvCxnSpPr/>
          <p:nvPr/>
        </p:nvCxnSpPr>
        <p:spPr>
          <a:xfrm flipV="1">
            <a:off x="7370064" y="3693514"/>
            <a:ext cx="100584" cy="505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5-017"/>
          <p:cNvCxnSpPr/>
          <p:nvPr/>
        </p:nvCxnSpPr>
        <p:spPr>
          <a:xfrm flipV="1">
            <a:off x="7470648" y="3638092"/>
            <a:ext cx="100583" cy="554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5-018"/>
          <p:cNvCxnSpPr/>
          <p:nvPr/>
        </p:nvCxnSpPr>
        <p:spPr>
          <a:xfrm flipV="1">
            <a:off x="7571231" y="3578556"/>
            <a:ext cx="100585" cy="59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5-019"/>
          <p:cNvCxnSpPr/>
          <p:nvPr/>
        </p:nvCxnSpPr>
        <p:spPr>
          <a:xfrm flipV="1">
            <a:off x="7671816" y="3515677"/>
            <a:ext cx="100584" cy="628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5-020"/>
          <p:cNvCxnSpPr/>
          <p:nvPr/>
        </p:nvCxnSpPr>
        <p:spPr>
          <a:xfrm flipV="1">
            <a:off x="7772400" y="3450226"/>
            <a:ext cx="100583" cy="654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5-021"/>
          <p:cNvCxnSpPr/>
          <p:nvPr/>
        </p:nvCxnSpPr>
        <p:spPr>
          <a:xfrm flipV="1">
            <a:off x="7872983" y="3382975"/>
            <a:ext cx="100585" cy="672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5-022"/>
          <p:cNvCxnSpPr/>
          <p:nvPr/>
        </p:nvCxnSpPr>
        <p:spPr>
          <a:xfrm flipV="1">
            <a:off x="7973568" y="3314695"/>
            <a:ext cx="100584" cy="682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5-023"/>
          <p:cNvCxnSpPr/>
          <p:nvPr/>
        </p:nvCxnSpPr>
        <p:spPr>
          <a:xfrm flipV="1">
            <a:off x="8074152" y="3246158"/>
            <a:ext cx="100584" cy="685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5-024"/>
          <p:cNvCxnSpPr/>
          <p:nvPr/>
        </p:nvCxnSpPr>
        <p:spPr>
          <a:xfrm flipV="1">
            <a:off x="8174736" y="3178135"/>
            <a:ext cx="100584" cy="680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5-025"/>
          <p:cNvCxnSpPr/>
          <p:nvPr/>
        </p:nvCxnSpPr>
        <p:spPr>
          <a:xfrm flipV="1">
            <a:off x="8275320" y="3111398"/>
            <a:ext cx="100584" cy="667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5-026"/>
          <p:cNvCxnSpPr/>
          <p:nvPr/>
        </p:nvCxnSpPr>
        <p:spPr>
          <a:xfrm flipV="1">
            <a:off x="8375904" y="3046718"/>
            <a:ext cx="100584" cy="64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5-027"/>
          <p:cNvCxnSpPr/>
          <p:nvPr/>
        </p:nvCxnSpPr>
        <p:spPr>
          <a:xfrm flipV="1">
            <a:off x="8476488" y="2984868"/>
            <a:ext cx="100584" cy="618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5-028"/>
          <p:cNvCxnSpPr/>
          <p:nvPr/>
        </p:nvCxnSpPr>
        <p:spPr>
          <a:xfrm flipV="1">
            <a:off x="8577072" y="2926618"/>
            <a:ext cx="100584" cy="582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5-029"/>
          <p:cNvCxnSpPr/>
          <p:nvPr/>
        </p:nvCxnSpPr>
        <p:spPr>
          <a:xfrm flipV="1">
            <a:off x="8677656" y="2872740"/>
            <a:ext cx="100584" cy="538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5-030"/>
          <p:cNvCxnSpPr/>
          <p:nvPr/>
        </p:nvCxnSpPr>
        <p:spPr>
          <a:xfrm flipV="1">
            <a:off x="8778240" y="2824005"/>
            <a:ext cx="100584" cy="487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5-031"/>
          <p:cNvCxnSpPr/>
          <p:nvPr/>
        </p:nvCxnSpPr>
        <p:spPr>
          <a:xfrm flipV="1">
            <a:off x="8878824" y="2781185"/>
            <a:ext cx="100584" cy="42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5-032"/>
          <p:cNvCxnSpPr/>
          <p:nvPr/>
        </p:nvCxnSpPr>
        <p:spPr>
          <a:xfrm flipV="1">
            <a:off x="8979408" y="2745052"/>
            <a:ext cx="100584" cy="361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5-033"/>
          <p:cNvCxnSpPr/>
          <p:nvPr/>
        </p:nvCxnSpPr>
        <p:spPr>
          <a:xfrm flipV="1">
            <a:off x="9079992" y="2716377"/>
            <a:ext cx="100584" cy="286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5-034"/>
          <p:cNvCxnSpPr/>
          <p:nvPr/>
        </p:nvCxnSpPr>
        <p:spPr>
          <a:xfrm flipV="1">
            <a:off x="9180576" y="2695932"/>
            <a:ext cx="100584" cy="20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5-035"/>
          <p:cNvCxnSpPr/>
          <p:nvPr/>
        </p:nvCxnSpPr>
        <p:spPr>
          <a:xfrm flipV="1">
            <a:off x="9281160" y="2684487"/>
            <a:ext cx="100584" cy="11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5-036"/>
          <p:cNvCxnSpPr/>
          <p:nvPr/>
        </p:nvCxnSpPr>
        <p:spPr>
          <a:xfrm flipV="1">
            <a:off x="9381744" y="2682816"/>
            <a:ext cx="100584" cy="16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5-037"/>
          <p:cNvCxnSpPr/>
          <p:nvPr/>
        </p:nvCxnSpPr>
        <p:spPr>
          <a:xfrm>
            <a:off x="9482328" y="2682816"/>
            <a:ext cx="100584" cy="88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15-038"/>
          <p:cNvCxnSpPr/>
          <p:nvPr/>
        </p:nvCxnSpPr>
        <p:spPr>
          <a:xfrm>
            <a:off x="9582912" y="2691688"/>
            <a:ext cx="100584" cy="201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15-039"/>
          <p:cNvCxnSpPr/>
          <p:nvPr/>
        </p:nvCxnSpPr>
        <p:spPr>
          <a:xfrm>
            <a:off x="9683496" y="2711877"/>
            <a:ext cx="100584" cy="322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15-040"/>
          <p:cNvCxnSpPr/>
          <p:nvPr/>
        </p:nvCxnSpPr>
        <p:spPr>
          <a:xfrm>
            <a:off x="9784080" y="2744152"/>
            <a:ext cx="100584" cy="451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15-041"/>
          <p:cNvCxnSpPr/>
          <p:nvPr/>
        </p:nvCxnSpPr>
        <p:spPr>
          <a:xfrm>
            <a:off x="9884664" y="2789286"/>
            <a:ext cx="100584" cy="587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15-042"/>
          <p:cNvCxnSpPr/>
          <p:nvPr/>
        </p:nvCxnSpPr>
        <p:spPr>
          <a:xfrm>
            <a:off x="9985248" y="2848051"/>
            <a:ext cx="100584" cy="731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15-043"/>
          <p:cNvCxnSpPr/>
          <p:nvPr/>
        </p:nvCxnSpPr>
        <p:spPr>
          <a:xfrm>
            <a:off x="10085832" y="2921217"/>
            <a:ext cx="100584" cy="883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15-044"/>
          <p:cNvCxnSpPr/>
          <p:nvPr/>
        </p:nvCxnSpPr>
        <p:spPr>
          <a:xfrm>
            <a:off x="10186416" y="3009557"/>
            <a:ext cx="100584" cy="1042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15-045"/>
          <p:cNvCxnSpPr/>
          <p:nvPr/>
        </p:nvCxnSpPr>
        <p:spPr>
          <a:xfrm>
            <a:off x="10287000" y="3113841"/>
            <a:ext cx="100584" cy="1210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15-046"/>
          <p:cNvCxnSpPr/>
          <p:nvPr/>
        </p:nvCxnSpPr>
        <p:spPr>
          <a:xfrm>
            <a:off x="10387584" y="3234842"/>
            <a:ext cx="100584" cy="1384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15-047"/>
          <p:cNvCxnSpPr/>
          <p:nvPr/>
        </p:nvCxnSpPr>
        <p:spPr>
          <a:xfrm>
            <a:off x="10488168" y="3373331"/>
            <a:ext cx="100584" cy="1567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15-048"/>
          <p:cNvCxnSpPr/>
          <p:nvPr/>
        </p:nvCxnSpPr>
        <p:spPr>
          <a:xfrm>
            <a:off x="10588752" y="3530079"/>
            <a:ext cx="100584" cy="1757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15-049"/>
          <p:cNvCxnSpPr/>
          <p:nvPr/>
        </p:nvCxnSpPr>
        <p:spPr>
          <a:xfrm>
            <a:off x="10689336" y="3705858"/>
            <a:ext cx="100584" cy="1955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1" name="text50" descr="sci-ppt:C2-E15-050"/>
          <p:cNvSpPr txBox="1"/>
          <p:nvPr/>
        </p:nvSpPr>
        <p:spPr>
          <a:xfrm>
            <a:off x="8595360" y="21945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r*, W*</a:t>
            </a:r>
          </a:p>
        </p:txBody>
      </p:sp>
      <p:sp>
        <p:nvSpPr>
          <p:cNvPr id="52" name="text51" descr="sci-ppt:C2-E15-05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r_n: horizontal radius coordinate</a:t>
            </a:r>
          </a:p>
        </p:txBody>
      </p:sp>
      <p:sp>
        <p:nvSpPr>
          <p:cNvPr id="53" name="text52" descr="sci-ppt:C2-E15-05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r_*: maximum for Δp_n &gt; 0</a:t>
            </a:r>
          </a:p>
        </p:txBody>
      </p:sp>
      <p:sp>
        <p:nvSpPr>
          <p:cNvPr id="54" name="text53" descr="sci-ppt:C2-E15-05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dW/dr_n = 0 at r_*</a:t>
            </a:r>
          </a:p>
        </p:txBody>
      </p:sp>
      <p:sp>
        <p:nvSpPr>
          <p:cNvPr id="55" name="text54" descr="sci-ppt:C2-E15-05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factors</a:t>
            </a:r>
          </a:p>
        </p:txBody>
      </p:sp>
      <p:sp>
        <p:nvSpPr>
          <p:cNvPr id="56" name="text55" descr="sci-ppt:C2-E15-05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W: free-energy curve</a:t>
            </a:r>
          </a:p>
        </p:txBody>
      </p:sp>
      <p:sp>
        <p:nvSpPr>
          <p:cNvPr id="57" name="text56" descr="sci-ppt:C2-E15-05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σ_vp, Δp_n: barrier controls</a:t>
            </a:r>
          </a:p>
        </p:txBody>
      </p:sp>
      <p:sp>
        <p:nvSpPr>
          <p:cNvPr id="58" name="text57" descr="sci-ppt:C2-E15-05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d²W/dr_n² &lt; 0</a:t>
            </a:r>
          </a:p>
        </p:txBody>
      </p:sp>
      <p:sp>
        <p:nvSpPr>
          <p:cNvPr id="59" name="text58" descr="sci-ppt:C2-E15-058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Below r_* the surface term drives shrinkage in the static control</a:t>
            </a:r>
          </a:p>
        </p:txBody>
      </p:sp>
      <p:sp>
        <p:nvSpPr>
          <p:cNvPr id="60" name="text59" descr="sci-ppt:C2-E15-059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No positive critical radius when Δp_n ≤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6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C2-E16 | Physical-variable diagram</a:t>
            </a:r>
          </a:p>
        </p:txBody>
      </p:sp>
      <p:sp>
        <p:nvSpPr>
          <p:cNvPr id="3" name="ellipse2" descr="sci-ppt:C2-E16-002"/>
          <p:cNvSpPr/>
          <p:nvPr/>
        </p:nvSpPr>
        <p:spPr>
          <a:xfrm>
            <a:off x="1341120" y="128016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16-003"/>
          <p:cNvSpPr/>
          <p:nvPr/>
        </p:nvSpPr>
        <p:spPr>
          <a:xfrm>
            <a:off x="2389632" y="2328672"/>
            <a:ext cx="707136" cy="707136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16-004"/>
          <p:cNvSpPr txBox="1"/>
          <p:nvPr/>
        </p:nvSpPr>
        <p:spPr>
          <a:xfrm>
            <a:off x="1706880" y="8534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Finite PFC liquid: p_d</a:t>
            </a:r>
          </a:p>
        </p:txBody>
      </p:sp>
      <p:sp>
        <p:nvSpPr>
          <p:cNvPr id="6" name="text5" descr="sci-ppt:C2-E16-005"/>
          <p:cNvSpPr txBox="1"/>
          <p:nvPr/>
        </p:nvSpPr>
        <p:spPr>
          <a:xfrm>
            <a:off x="1341120" y="4267200"/>
            <a:ext cx="560832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Inner interface σ_vp; outer σ_pc</a:t>
            </a:r>
          </a:p>
        </p:txBody>
      </p:sp>
      <p:cxnSp>
        <p:nvCxnSpPr>
          <p:cNvPr id="7" name="arrow6" descr="sci-ppt:C2-E16-006"/>
          <p:cNvCxnSpPr/>
          <p:nvPr/>
        </p:nvCxnSpPr>
        <p:spPr>
          <a:xfrm>
            <a:off x="6705600" y="3901440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7" descr="sci-ppt:C2-E16-007"/>
          <p:cNvCxnSpPr/>
          <p:nvPr/>
        </p:nvCxnSpPr>
        <p:spPr>
          <a:xfrm flipV="1">
            <a:off x="6705600" y="1463040"/>
            <a:ext cx="0" cy="24384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8" descr="sci-ppt:C2-E16-008"/>
          <p:cNvSpPr txBox="1"/>
          <p:nvPr/>
        </p:nvSpPr>
        <p:spPr>
          <a:xfrm>
            <a:off x="9997440" y="402336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</a:t>
            </a:r>
          </a:p>
        </p:txBody>
      </p:sp>
      <p:sp>
        <p:nvSpPr>
          <p:cNvPr id="10" name="text9" descr="sci-ppt:C2-E16-009"/>
          <p:cNvSpPr txBox="1"/>
          <p:nvPr/>
        </p:nvSpPr>
        <p:spPr>
          <a:xfrm>
            <a:off x="6583680" y="109728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11" name="line10" descr="sci-ppt:C2-E16-010"/>
          <p:cNvCxnSpPr/>
          <p:nvPr/>
        </p:nvCxnSpPr>
        <p:spPr>
          <a:xfrm flipV="1">
            <a:off x="6766560" y="3896425"/>
            <a:ext cx="100584" cy="50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6-011"/>
          <p:cNvCxnSpPr/>
          <p:nvPr/>
        </p:nvCxnSpPr>
        <p:spPr>
          <a:xfrm flipV="1">
            <a:off x="6867144" y="3881894"/>
            <a:ext cx="100584" cy="145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6-012"/>
          <p:cNvCxnSpPr/>
          <p:nvPr/>
        </p:nvCxnSpPr>
        <p:spPr>
          <a:xfrm flipV="1">
            <a:off x="6967728" y="3858620"/>
            <a:ext cx="100584" cy="23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6-013"/>
          <p:cNvCxnSpPr/>
          <p:nvPr/>
        </p:nvCxnSpPr>
        <p:spPr>
          <a:xfrm flipV="1">
            <a:off x="7068312" y="3827373"/>
            <a:ext cx="100584" cy="312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6-014"/>
          <p:cNvCxnSpPr/>
          <p:nvPr/>
        </p:nvCxnSpPr>
        <p:spPr>
          <a:xfrm flipV="1">
            <a:off x="7168896" y="3788925"/>
            <a:ext cx="100584" cy="384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6-015"/>
          <p:cNvCxnSpPr/>
          <p:nvPr/>
        </p:nvCxnSpPr>
        <p:spPr>
          <a:xfrm flipV="1">
            <a:off x="7269480" y="3744048"/>
            <a:ext cx="100584" cy="448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6-016"/>
          <p:cNvCxnSpPr/>
          <p:nvPr/>
        </p:nvCxnSpPr>
        <p:spPr>
          <a:xfrm flipV="1">
            <a:off x="7370064" y="3693514"/>
            <a:ext cx="100584" cy="505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6-017"/>
          <p:cNvCxnSpPr/>
          <p:nvPr/>
        </p:nvCxnSpPr>
        <p:spPr>
          <a:xfrm flipV="1">
            <a:off x="7470648" y="3638092"/>
            <a:ext cx="100583" cy="554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6-018"/>
          <p:cNvCxnSpPr/>
          <p:nvPr/>
        </p:nvCxnSpPr>
        <p:spPr>
          <a:xfrm flipV="1">
            <a:off x="7571231" y="3578556"/>
            <a:ext cx="100585" cy="59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6-019"/>
          <p:cNvCxnSpPr/>
          <p:nvPr/>
        </p:nvCxnSpPr>
        <p:spPr>
          <a:xfrm flipV="1">
            <a:off x="7671816" y="3515677"/>
            <a:ext cx="100584" cy="628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6-020"/>
          <p:cNvCxnSpPr/>
          <p:nvPr/>
        </p:nvCxnSpPr>
        <p:spPr>
          <a:xfrm flipV="1">
            <a:off x="7772400" y="3450226"/>
            <a:ext cx="100583" cy="654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6-021"/>
          <p:cNvCxnSpPr/>
          <p:nvPr/>
        </p:nvCxnSpPr>
        <p:spPr>
          <a:xfrm flipV="1">
            <a:off x="7872983" y="3382975"/>
            <a:ext cx="100585" cy="672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6-022"/>
          <p:cNvCxnSpPr/>
          <p:nvPr/>
        </p:nvCxnSpPr>
        <p:spPr>
          <a:xfrm flipV="1">
            <a:off x="7973568" y="3314695"/>
            <a:ext cx="100584" cy="682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6-023"/>
          <p:cNvCxnSpPr/>
          <p:nvPr/>
        </p:nvCxnSpPr>
        <p:spPr>
          <a:xfrm flipV="1">
            <a:off x="8074152" y="3246158"/>
            <a:ext cx="100584" cy="685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6-024"/>
          <p:cNvCxnSpPr/>
          <p:nvPr/>
        </p:nvCxnSpPr>
        <p:spPr>
          <a:xfrm flipV="1">
            <a:off x="8174736" y="3178135"/>
            <a:ext cx="100584" cy="680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6-025"/>
          <p:cNvCxnSpPr/>
          <p:nvPr/>
        </p:nvCxnSpPr>
        <p:spPr>
          <a:xfrm flipV="1">
            <a:off x="8275320" y="3111398"/>
            <a:ext cx="100584" cy="667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6-026"/>
          <p:cNvCxnSpPr/>
          <p:nvPr/>
        </p:nvCxnSpPr>
        <p:spPr>
          <a:xfrm flipV="1">
            <a:off x="8375904" y="3046718"/>
            <a:ext cx="100584" cy="64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6-027"/>
          <p:cNvCxnSpPr/>
          <p:nvPr/>
        </p:nvCxnSpPr>
        <p:spPr>
          <a:xfrm flipV="1">
            <a:off x="8476488" y="2984868"/>
            <a:ext cx="100584" cy="618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6-028"/>
          <p:cNvCxnSpPr/>
          <p:nvPr/>
        </p:nvCxnSpPr>
        <p:spPr>
          <a:xfrm flipV="1">
            <a:off x="8577072" y="2926618"/>
            <a:ext cx="100584" cy="582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6-029"/>
          <p:cNvCxnSpPr/>
          <p:nvPr/>
        </p:nvCxnSpPr>
        <p:spPr>
          <a:xfrm flipV="1">
            <a:off x="8677656" y="2872740"/>
            <a:ext cx="100584" cy="538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6-030"/>
          <p:cNvCxnSpPr/>
          <p:nvPr/>
        </p:nvCxnSpPr>
        <p:spPr>
          <a:xfrm flipV="1">
            <a:off x="8778240" y="2824005"/>
            <a:ext cx="100584" cy="487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6-031"/>
          <p:cNvCxnSpPr/>
          <p:nvPr/>
        </p:nvCxnSpPr>
        <p:spPr>
          <a:xfrm flipV="1">
            <a:off x="8878824" y="2781185"/>
            <a:ext cx="100584" cy="42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6-032"/>
          <p:cNvCxnSpPr/>
          <p:nvPr/>
        </p:nvCxnSpPr>
        <p:spPr>
          <a:xfrm flipV="1">
            <a:off x="8979408" y="2745052"/>
            <a:ext cx="100584" cy="361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6-033"/>
          <p:cNvCxnSpPr/>
          <p:nvPr/>
        </p:nvCxnSpPr>
        <p:spPr>
          <a:xfrm flipV="1">
            <a:off x="9079992" y="2716377"/>
            <a:ext cx="100584" cy="286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6-034"/>
          <p:cNvCxnSpPr/>
          <p:nvPr/>
        </p:nvCxnSpPr>
        <p:spPr>
          <a:xfrm flipV="1">
            <a:off x="9180576" y="2695932"/>
            <a:ext cx="100584" cy="20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6-035"/>
          <p:cNvCxnSpPr/>
          <p:nvPr/>
        </p:nvCxnSpPr>
        <p:spPr>
          <a:xfrm flipV="1">
            <a:off x="9281160" y="2684487"/>
            <a:ext cx="100584" cy="11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6-036"/>
          <p:cNvCxnSpPr/>
          <p:nvPr/>
        </p:nvCxnSpPr>
        <p:spPr>
          <a:xfrm flipV="1">
            <a:off x="9381744" y="2682816"/>
            <a:ext cx="100584" cy="16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6-037"/>
          <p:cNvCxnSpPr/>
          <p:nvPr/>
        </p:nvCxnSpPr>
        <p:spPr>
          <a:xfrm>
            <a:off x="9482328" y="2682816"/>
            <a:ext cx="100584" cy="88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16-038"/>
          <p:cNvCxnSpPr/>
          <p:nvPr/>
        </p:nvCxnSpPr>
        <p:spPr>
          <a:xfrm>
            <a:off x="9582912" y="2691688"/>
            <a:ext cx="100584" cy="201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16-039"/>
          <p:cNvCxnSpPr/>
          <p:nvPr/>
        </p:nvCxnSpPr>
        <p:spPr>
          <a:xfrm>
            <a:off x="9683496" y="2711877"/>
            <a:ext cx="100584" cy="322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16-040"/>
          <p:cNvCxnSpPr/>
          <p:nvPr/>
        </p:nvCxnSpPr>
        <p:spPr>
          <a:xfrm>
            <a:off x="9784080" y="2744152"/>
            <a:ext cx="100584" cy="451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16-041"/>
          <p:cNvCxnSpPr/>
          <p:nvPr/>
        </p:nvCxnSpPr>
        <p:spPr>
          <a:xfrm>
            <a:off x="9884664" y="2789286"/>
            <a:ext cx="100584" cy="587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16-042"/>
          <p:cNvCxnSpPr/>
          <p:nvPr/>
        </p:nvCxnSpPr>
        <p:spPr>
          <a:xfrm>
            <a:off x="9985248" y="2848051"/>
            <a:ext cx="100584" cy="731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16-043"/>
          <p:cNvCxnSpPr/>
          <p:nvPr/>
        </p:nvCxnSpPr>
        <p:spPr>
          <a:xfrm>
            <a:off x="10085832" y="2921217"/>
            <a:ext cx="100584" cy="883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16-044"/>
          <p:cNvCxnSpPr/>
          <p:nvPr/>
        </p:nvCxnSpPr>
        <p:spPr>
          <a:xfrm>
            <a:off x="10186416" y="3009557"/>
            <a:ext cx="100584" cy="1042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16-045"/>
          <p:cNvCxnSpPr/>
          <p:nvPr/>
        </p:nvCxnSpPr>
        <p:spPr>
          <a:xfrm>
            <a:off x="10287000" y="3113841"/>
            <a:ext cx="100584" cy="1210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16-046"/>
          <p:cNvCxnSpPr/>
          <p:nvPr/>
        </p:nvCxnSpPr>
        <p:spPr>
          <a:xfrm>
            <a:off x="10387584" y="3234842"/>
            <a:ext cx="100584" cy="1384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16-047"/>
          <p:cNvCxnSpPr/>
          <p:nvPr/>
        </p:nvCxnSpPr>
        <p:spPr>
          <a:xfrm>
            <a:off x="10488168" y="3373331"/>
            <a:ext cx="100584" cy="1567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16-048"/>
          <p:cNvCxnSpPr/>
          <p:nvPr/>
        </p:nvCxnSpPr>
        <p:spPr>
          <a:xfrm>
            <a:off x="10588752" y="3530079"/>
            <a:ext cx="100584" cy="1757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16-049"/>
          <p:cNvCxnSpPr/>
          <p:nvPr/>
        </p:nvCxnSpPr>
        <p:spPr>
          <a:xfrm>
            <a:off x="10689336" y="3705858"/>
            <a:ext cx="100584" cy="1955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1" name="text50" descr="sci-ppt:C2-E16-050"/>
          <p:cNvSpPr txBox="1"/>
          <p:nvPr/>
        </p:nvSpPr>
        <p:spPr>
          <a:xfrm>
            <a:off x="8595360" y="21945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r*, W*</a:t>
            </a:r>
          </a:p>
        </p:txBody>
      </p:sp>
      <p:sp>
        <p:nvSpPr>
          <p:cNvPr id="52" name="text51" descr="sci-ppt:C2-E16-05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W_*: free-energy maximum</a:t>
            </a:r>
          </a:p>
        </p:txBody>
      </p:sp>
      <p:sp>
        <p:nvSpPr>
          <p:cNvPr id="53" name="text52" descr="sci-ppt:C2-E16-05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σ_vp³: strong tension dependence</a:t>
            </a:r>
          </a:p>
        </p:txBody>
      </p:sp>
      <p:sp>
        <p:nvSpPr>
          <p:cNvPr id="54" name="text53" descr="sci-ppt:C2-E16-05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geometry</a:t>
            </a:r>
          </a:p>
        </p:txBody>
      </p:sp>
      <p:sp>
        <p:nvSpPr>
          <p:cNvPr id="55" name="text54" descr="sci-ppt:C2-E16-054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r_*: critical radius</a:t>
            </a:r>
          </a:p>
        </p:txBody>
      </p:sp>
      <p:sp>
        <p:nvSpPr>
          <p:cNvPr id="56" name="text55" descr="sci-ppt:C2-E16-055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Δp_n²: driving-pressure dependence</a:t>
            </a:r>
          </a:p>
        </p:txBody>
      </p:sp>
      <p:sp>
        <p:nvSpPr>
          <p:cNvPr id="57" name="text56" descr="sci-ppt:C2-E16-056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Surface energy and displaced-volume contribution evaluated at r_*</a:t>
            </a:r>
          </a:p>
        </p:txBody>
      </p:sp>
      <p:sp>
        <p:nvSpPr>
          <p:cNvPr id="58" name="text57" descr="sci-ppt:C2-E16-057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 positive driving pressure still leaves a finite barrier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7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C2-E17 | Physical-variable diagram</a:t>
            </a:r>
          </a:p>
        </p:txBody>
      </p:sp>
      <p:sp>
        <p:nvSpPr>
          <p:cNvPr id="3" name="rect2" descr="sci-ppt:C2-E17-002"/>
          <p:cNvSpPr/>
          <p:nvPr/>
        </p:nvSpPr>
        <p:spPr>
          <a:xfrm>
            <a:off x="1097280" y="1706880"/>
            <a:ext cx="390144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17-003"/>
          <p:cNvSpPr txBox="1"/>
          <p:nvPr/>
        </p:nvSpPr>
        <p:spPr>
          <a:xfrm>
            <a:off x="1219200" y="1828800"/>
            <a:ext cx="37185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Local rate J(T,p) in V_d</a:t>
            </a:r>
          </a:p>
        </p:txBody>
      </p:sp>
      <p:cxnSp>
        <p:nvCxnSpPr>
          <p:cNvPr id="5" name="arrow4" descr="sci-ppt:C2-E17-004"/>
          <p:cNvCxnSpPr/>
          <p:nvPr/>
        </p:nvCxnSpPr>
        <p:spPr>
          <a:xfrm>
            <a:off x="5120640" y="2377440"/>
            <a:ext cx="1097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17-005"/>
          <p:cNvCxnSpPr/>
          <p:nvPr/>
        </p:nvCxnSpPr>
        <p:spPr>
          <a:xfrm>
            <a:off x="670560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arrow6" descr="sci-ppt:C2-E17-006"/>
          <p:cNvCxnSpPr/>
          <p:nvPr/>
        </p:nvCxnSpPr>
        <p:spPr>
          <a:xfrm flipV="1">
            <a:off x="6705600" y="1524000"/>
            <a:ext cx="0" cy="243839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17-007"/>
          <p:cNvSpPr txBox="1"/>
          <p:nvPr/>
        </p:nvSpPr>
        <p:spPr>
          <a:xfrm>
            <a:off x="999744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Integrated hazard</a:t>
            </a:r>
          </a:p>
        </p:txBody>
      </p:sp>
      <p:sp>
        <p:nvSpPr>
          <p:cNvPr id="9" name="text8" descr="sci-ppt:C2-E17-008"/>
          <p:cNvSpPr txBox="1"/>
          <p:nvPr/>
        </p:nvSpPr>
        <p:spPr>
          <a:xfrm>
            <a:off x="6583680" y="115824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P_act</a:t>
            </a:r>
          </a:p>
        </p:txBody>
      </p:sp>
      <p:cxnSp>
        <p:nvCxnSpPr>
          <p:cNvPr id="10" name="line9" descr="sci-ppt:C2-E17-009"/>
          <p:cNvCxnSpPr/>
          <p:nvPr/>
        </p:nvCxnSpPr>
        <p:spPr>
          <a:xfrm flipV="1">
            <a:off x="6766560" y="3716163"/>
            <a:ext cx="114953" cy="1852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17-010"/>
          <p:cNvCxnSpPr/>
          <p:nvPr/>
        </p:nvCxnSpPr>
        <p:spPr>
          <a:xfrm flipV="1">
            <a:off x="6881513" y="3546106"/>
            <a:ext cx="114953" cy="17005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7-011"/>
          <p:cNvCxnSpPr/>
          <p:nvPr/>
        </p:nvCxnSpPr>
        <p:spPr>
          <a:xfrm flipV="1">
            <a:off x="6996466" y="3390018"/>
            <a:ext cx="114953" cy="1560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7-012"/>
          <p:cNvCxnSpPr/>
          <p:nvPr/>
        </p:nvCxnSpPr>
        <p:spPr>
          <a:xfrm flipV="1">
            <a:off x="7111419" y="3246751"/>
            <a:ext cx="114953" cy="1432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7-013"/>
          <p:cNvCxnSpPr/>
          <p:nvPr/>
        </p:nvCxnSpPr>
        <p:spPr>
          <a:xfrm flipV="1">
            <a:off x="7226372" y="3115253"/>
            <a:ext cx="114953" cy="1314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7-014"/>
          <p:cNvCxnSpPr/>
          <p:nvPr/>
        </p:nvCxnSpPr>
        <p:spPr>
          <a:xfrm flipV="1">
            <a:off x="7341325" y="2994557"/>
            <a:ext cx="114953" cy="1206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7-015"/>
          <p:cNvCxnSpPr/>
          <p:nvPr/>
        </p:nvCxnSpPr>
        <p:spPr>
          <a:xfrm flipV="1">
            <a:off x="7456278" y="2883775"/>
            <a:ext cx="114953" cy="1107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7-016"/>
          <p:cNvCxnSpPr/>
          <p:nvPr/>
        </p:nvCxnSpPr>
        <p:spPr>
          <a:xfrm flipV="1">
            <a:off x="7571231" y="2782093"/>
            <a:ext cx="114954" cy="1016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7-017"/>
          <p:cNvCxnSpPr/>
          <p:nvPr/>
        </p:nvCxnSpPr>
        <p:spPr>
          <a:xfrm flipV="1">
            <a:off x="7686185" y="2688764"/>
            <a:ext cx="114953" cy="933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7-018"/>
          <p:cNvCxnSpPr/>
          <p:nvPr/>
        </p:nvCxnSpPr>
        <p:spPr>
          <a:xfrm flipV="1">
            <a:off x="7801138" y="2603101"/>
            <a:ext cx="114953" cy="856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7-019"/>
          <p:cNvCxnSpPr/>
          <p:nvPr/>
        </p:nvCxnSpPr>
        <p:spPr>
          <a:xfrm flipV="1">
            <a:off x="7916091" y="2524475"/>
            <a:ext cx="114953" cy="786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7-020"/>
          <p:cNvCxnSpPr/>
          <p:nvPr/>
        </p:nvCxnSpPr>
        <p:spPr>
          <a:xfrm flipV="1">
            <a:off x="8031044" y="2452307"/>
            <a:ext cx="114953" cy="7216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7-021"/>
          <p:cNvCxnSpPr/>
          <p:nvPr/>
        </p:nvCxnSpPr>
        <p:spPr>
          <a:xfrm flipV="1">
            <a:off x="8145997" y="2386067"/>
            <a:ext cx="114953" cy="662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7-022"/>
          <p:cNvCxnSpPr/>
          <p:nvPr/>
        </p:nvCxnSpPr>
        <p:spPr>
          <a:xfrm flipV="1">
            <a:off x="8260950" y="2325269"/>
            <a:ext cx="114954" cy="607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7-023"/>
          <p:cNvCxnSpPr/>
          <p:nvPr/>
        </p:nvCxnSpPr>
        <p:spPr>
          <a:xfrm flipV="1">
            <a:off x="8375904" y="2269465"/>
            <a:ext cx="114953" cy="558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7-024"/>
          <p:cNvCxnSpPr/>
          <p:nvPr/>
        </p:nvCxnSpPr>
        <p:spPr>
          <a:xfrm flipV="1">
            <a:off x="8490857" y="2218245"/>
            <a:ext cx="114953" cy="512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7-025"/>
          <p:cNvCxnSpPr/>
          <p:nvPr/>
        </p:nvCxnSpPr>
        <p:spPr>
          <a:xfrm flipV="1">
            <a:off x="8605810" y="2171232"/>
            <a:ext cx="114953" cy="470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7-026"/>
          <p:cNvCxnSpPr/>
          <p:nvPr/>
        </p:nvCxnSpPr>
        <p:spPr>
          <a:xfrm flipV="1">
            <a:off x="8720763" y="2128081"/>
            <a:ext cx="114953" cy="431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7-027"/>
          <p:cNvCxnSpPr/>
          <p:nvPr/>
        </p:nvCxnSpPr>
        <p:spPr>
          <a:xfrm flipV="1">
            <a:off x="8835716" y="2088474"/>
            <a:ext cx="114953" cy="396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7-028"/>
          <p:cNvCxnSpPr/>
          <p:nvPr/>
        </p:nvCxnSpPr>
        <p:spPr>
          <a:xfrm flipV="1">
            <a:off x="8950669" y="2052121"/>
            <a:ext cx="114953" cy="363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7-029"/>
          <p:cNvCxnSpPr/>
          <p:nvPr/>
        </p:nvCxnSpPr>
        <p:spPr>
          <a:xfrm flipV="1">
            <a:off x="9065622" y="2018754"/>
            <a:ext cx="114954" cy="333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7-030"/>
          <p:cNvCxnSpPr/>
          <p:nvPr/>
        </p:nvCxnSpPr>
        <p:spPr>
          <a:xfrm flipV="1">
            <a:off x="9180576" y="1988128"/>
            <a:ext cx="114953" cy="306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7-031"/>
          <p:cNvCxnSpPr/>
          <p:nvPr/>
        </p:nvCxnSpPr>
        <p:spPr>
          <a:xfrm flipV="1">
            <a:off x="9295529" y="1960018"/>
            <a:ext cx="114953" cy="281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7-032"/>
          <p:cNvCxnSpPr/>
          <p:nvPr/>
        </p:nvCxnSpPr>
        <p:spPr>
          <a:xfrm flipV="1">
            <a:off x="9410482" y="1934217"/>
            <a:ext cx="114953" cy="258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7-033"/>
          <p:cNvCxnSpPr/>
          <p:nvPr/>
        </p:nvCxnSpPr>
        <p:spPr>
          <a:xfrm flipV="1">
            <a:off x="9525435" y="1910535"/>
            <a:ext cx="114953" cy="236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7-034"/>
          <p:cNvCxnSpPr/>
          <p:nvPr/>
        </p:nvCxnSpPr>
        <p:spPr>
          <a:xfrm flipV="1">
            <a:off x="9640388" y="1888799"/>
            <a:ext cx="114953" cy="217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7-035"/>
          <p:cNvCxnSpPr/>
          <p:nvPr/>
        </p:nvCxnSpPr>
        <p:spPr>
          <a:xfrm flipV="1">
            <a:off x="9755341" y="1868848"/>
            <a:ext cx="114953" cy="199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7-036"/>
          <p:cNvCxnSpPr/>
          <p:nvPr/>
        </p:nvCxnSpPr>
        <p:spPr>
          <a:xfrm flipV="1">
            <a:off x="9870294" y="1850536"/>
            <a:ext cx="114954" cy="183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7-037"/>
          <p:cNvCxnSpPr/>
          <p:nvPr/>
        </p:nvCxnSpPr>
        <p:spPr>
          <a:xfrm flipV="1">
            <a:off x="9985248" y="1833728"/>
            <a:ext cx="114953" cy="168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17-038"/>
          <p:cNvCxnSpPr/>
          <p:nvPr/>
        </p:nvCxnSpPr>
        <p:spPr>
          <a:xfrm flipV="1">
            <a:off x="10100201" y="1818301"/>
            <a:ext cx="114953" cy="154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17-039"/>
          <p:cNvCxnSpPr/>
          <p:nvPr/>
        </p:nvCxnSpPr>
        <p:spPr>
          <a:xfrm flipV="1">
            <a:off x="10215154" y="1804141"/>
            <a:ext cx="114953" cy="141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17-040"/>
          <p:cNvCxnSpPr/>
          <p:nvPr/>
        </p:nvCxnSpPr>
        <p:spPr>
          <a:xfrm flipV="1">
            <a:off x="10330107" y="1791144"/>
            <a:ext cx="114953" cy="1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17-041"/>
          <p:cNvCxnSpPr/>
          <p:nvPr/>
        </p:nvCxnSpPr>
        <p:spPr>
          <a:xfrm flipV="1">
            <a:off x="10445060" y="1779214"/>
            <a:ext cx="114953" cy="119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17-042"/>
          <p:cNvCxnSpPr/>
          <p:nvPr/>
        </p:nvCxnSpPr>
        <p:spPr>
          <a:xfrm flipV="1">
            <a:off x="10560013" y="1768265"/>
            <a:ext cx="114953" cy="1094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17-043"/>
          <p:cNvCxnSpPr/>
          <p:nvPr/>
        </p:nvCxnSpPr>
        <p:spPr>
          <a:xfrm flipV="1">
            <a:off x="10674966" y="1758215"/>
            <a:ext cx="114954" cy="100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45" name="text44" descr="sci-ppt:C2-E17-044"/>
          <p:cNvSpPr txBox="1"/>
          <p:nvPr/>
        </p:nvSpPr>
        <p:spPr>
          <a:xfrm>
            <a:off x="1341120" y="3657600"/>
            <a:ext cx="95097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Integrate the local rate over space and time.</a:t>
            </a:r>
          </a:p>
        </p:txBody>
      </p:sp>
      <p:sp>
        <p:nvSpPr>
          <p:cNvPr id="46" name="text45" descr="sci-ppt:C2-E17-045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V_d(t): remaining liquid region</a:t>
            </a:r>
          </a:p>
        </p:txBody>
      </p:sp>
      <p:sp>
        <p:nvSpPr>
          <p:cNvPr id="47" name="text46" descr="sci-ppt:C2-E17-046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J: events per volume per time</a:t>
            </a:r>
          </a:p>
        </p:txBody>
      </p:sp>
      <p:sp>
        <p:nvSpPr>
          <p:cNvPr id="48" name="text47" descr="sci-ppt:C2-E17-047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S(0) = 1; S(t): survival</a:t>
            </a:r>
          </a:p>
        </p:txBody>
      </p:sp>
      <p:sp>
        <p:nvSpPr>
          <p:cNvPr id="49" name="text48" descr="sci-ppt:C2-E17-048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t, t′, dV: integration domain</a:t>
            </a:r>
          </a:p>
        </p:txBody>
      </p:sp>
      <p:sp>
        <p:nvSpPr>
          <p:cNvPr id="50" name="text49" descr="sci-ppt:C2-E17-049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T, p: local state</a:t>
            </a:r>
          </a:p>
        </p:txBody>
      </p:sp>
      <p:sp>
        <p:nvSpPr>
          <p:cNvPr id="51" name="text50" descr="sci-ppt:C2-E17-050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Λ(t): integrated event rate</a:t>
            </a:r>
          </a:p>
        </p:txBody>
      </p:sp>
      <p:sp>
        <p:nvSpPr>
          <p:cNvPr id="52" name="text51" descr="sci-ppt:C2-E17-051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P_act = 1 − S</a:t>
            </a:r>
          </a:p>
        </p:txBody>
      </p:sp>
      <p:sp>
        <p:nvSpPr>
          <p:cNvPr id="53" name="text52" descr="sci-ppt:C2-E17-052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Integrate the hot, pressurized region rather than only its average temperature</a:t>
            </a:r>
          </a:p>
        </p:txBody>
      </p:sp>
      <p:sp>
        <p:nvSpPr>
          <p:cNvPr id="54" name="text53" descr="sci-ppt:C2-E17-053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An absent event can mean low probability, not impossibility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8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C2-E18 | Physical-variable diagram</a:t>
            </a:r>
          </a:p>
        </p:txBody>
      </p:sp>
      <p:sp>
        <p:nvSpPr>
          <p:cNvPr id="3" name="rect2" descr="sci-ppt:C2-E18-002"/>
          <p:cNvSpPr/>
          <p:nvPr/>
        </p:nvSpPr>
        <p:spPr>
          <a:xfrm>
            <a:off x="975360" y="1706880"/>
            <a:ext cx="353568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18-003"/>
          <p:cNvSpPr txBox="1"/>
          <p:nvPr/>
        </p:nvSpPr>
        <p:spPr>
          <a:xfrm>
            <a:off x="1097280" y="1828800"/>
            <a:ext cx="3352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Initial PFC mass m_PFC,0</a:t>
            </a:r>
          </a:p>
        </p:txBody>
      </p:sp>
      <p:cxnSp>
        <p:nvCxnSpPr>
          <p:cNvPr id="5" name="arrow4" descr="sci-ppt:C2-E18-004"/>
          <p:cNvCxnSpPr/>
          <p:nvPr/>
        </p:nvCxnSpPr>
        <p:spPr>
          <a:xfrm>
            <a:off x="4632960" y="237744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rect5" descr="sci-ppt:C2-E18-005"/>
          <p:cNvSpPr/>
          <p:nvPr/>
        </p:nvSpPr>
        <p:spPr>
          <a:xfrm>
            <a:off x="6217920" y="121920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6" descr="sci-ppt:C2-E18-006"/>
          <p:cNvSpPr txBox="1"/>
          <p:nvPr/>
        </p:nvSpPr>
        <p:spPr>
          <a:xfrm>
            <a:off x="6339840" y="134112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m_l</a:t>
            </a:r>
          </a:p>
        </p:txBody>
      </p:sp>
      <p:sp>
        <p:nvSpPr>
          <p:cNvPr id="8" name="rect7" descr="sci-ppt:C2-E18-007"/>
          <p:cNvSpPr/>
          <p:nvPr/>
        </p:nvSpPr>
        <p:spPr>
          <a:xfrm>
            <a:off x="8900160" y="121920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8" descr="sci-ppt:C2-E18-008"/>
          <p:cNvSpPr txBox="1"/>
          <p:nvPr/>
        </p:nvSpPr>
        <p:spPr>
          <a:xfrm>
            <a:off x="9022080" y="134112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Vapor m_v</a:t>
            </a:r>
          </a:p>
        </p:txBody>
      </p:sp>
      <p:sp>
        <p:nvSpPr>
          <p:cNvPr id="10" name="rect9" descr="sci-ppt:C2-E18-009"/>
          <p:cNvSpPr/>
          <p:nvPr/>
        </p:nvSpPr>
        <p:spPr>
          <a:xfrm>
            <a:off x="6217920" y="280416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10" descr="sci-ppt:C2-E18-010"/>
          <p:cNvSpPr txBox="1"/>
          <p:nvPr/>
        </p:nvSpPr>
        <p:spPr>
          <a:xfrm>
            <a:off x="6339840" y="292608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Dissolved m_diss</a:t>
            </a:r>
          </a:p>
        </p:txBody>
      </p:sp>
      <p:sp>
        <p:nvSpPr>
          <p:cNvPr id="12" name="rect11" descr="sci-ppt:C2-E18-011"/>
          <p:cNvSpPr/>
          <p:nvPr/>
        </p:nvSpPr>
        <p:spPr>
          <a:xfrm>
            <a:off x="8900160" y="280416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18-012"/>
          <p:cNvSpPr txBox="1"/>
          <p:nvPr/>
        </p:nvSpPr>
        <p:spPr>
          <a:xfrm>
            <a:off x="9022080" y="292608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Escaped m_esc</a:t>
            </a:r>
          </a:p>
        </p:txBody>
      </p:sp>
      <p:sp>
        <p:nvSpPr>
          <p:cNvPr id="14" name="text13" descr="sci-ppt:C2-E18-013"/>
          <p:cNvSpPr txBox="1"/>
          <p:nvPr/>
        </p:nvSpPr>
        <p:spPr>
          <a:xfrm>
            <a:off x="1097280" y="4328160"/>
            <a:ext cx="103632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Sum of all compartments equals initial inventory.</a:t>
            </a:r>
          </a:p>
        </p:txBody>
      </p:sp>
      <p:sp>
        <p:nvSpPr>
          <p:cNvPr id="15" name="text14" descr="sci-ppt:C2-E18-01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a₀, ρ_d: original liquid core</a:t>
            </a:r>
          </a:p>
        </p:txBody>
      </p:sp>
      <p:sp>
        <p:nvSpPr>
          <p:cNvPr id="16" name="text15" descr="sci-ppt:C2-E18-01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m_l: liquid remainder</a:t>
            </a:r>
          </a:p>
        </p:txBody>
      </p:sp>
      <p:sp>
        <p:nvSpPr>
          <p:cNvPr id="17" name="text16" descr="sci-ppt:C2-E18-01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m_diss: carrier dissolution</a:t>
            </a:r>
          </a:p>
        </p:txBody>
      </p:sp>
      <p:sp>
        <p:nvSpPr>
          <p:cNvPr id="18" name="text17" descr="sci-ppt:C2-E18-017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initial sphere geometry</a:t>
            </a:r>
          </a:p>
        </p:txBody>
      </p:sp>
      <p:sp>
        <p:nvSpPr>
          <p:cNvPr id="19" name="text18" descr="sci-ppt:C2-E18-018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m_PFC,0: fixed initial inventory</a:t>
            </a:r>
          </a:p>
        </p:txBody>
      </p:sp>
      <p:sp>
        <p:nvSpPr>
          <p:cNvPr id="20" name="text19" descr="sci-ppt:C2-E18-019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m_v: bubble vapor</a:t>
            </a:r>
          </a:p>
        </p:txBody>
      </p:sp>
      <p:sp>
        <p:nvSpPr>
          <p:cNvPr id="21" name="text20" descr="sci-ppt:C2-E18-020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m_esc: mass crossing outer boundary</a:t>
            </a:r>
          </a:p>
        </p:txBody>
      </p:sp>
      <p:sp>
        <p:nvSpPr>
          <p:cNvPr id="22" name="text21" descr="sci-ppt:C2-E18-021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Mass can change compartment without being created</a:t>
            </a:r>
          </a:p>
        </p:txBody>
      </p:sp>
      <p:sp>
        <p:nvSpPr>
          <p:cNvPr id="23" name="text22" descr="sci-ppt:C2-E18-022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Once venting begins, in-domain mass can decrease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9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C2-E19 | Physical-variable diagram</a:t>
            </a:r>
          </a:p>
        </p:txBody>
      </p:sp>
      <p:sp>
        <p:nvSpPr>
          <p:cNvPr id="3" name="ellipse2" descr="sci-ppt:C2-E19-002"/>
          <p:cNvSpPr/>
          <p:nvPr/>
        </p:nvSpPr>
        <p:spPr>
          <a:xfrm>
            <a:off x="1767840" y="121920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19-003"/>
          <p:cNvSpPr/>
          <p:nvPr/>
        </p:nvSpPr>
        <p:spPr>
          <a:xfrm>
            <a:off x="3438144" y="2706624"/>
            <a:ext cx="926592" cy="926592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2-E19-004"/>
          <p:cNvCxnSpPr/>
          <p:nvPr/>
        </p:nvCxnSpPr>
        <p:spPr>
          <a:xfrm flipV="1">
            <a:off x="4023360" y="1767840"/>
            <a:ext cx="975360" cy="10363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19-005"/>
          <p:cNvSpPr txBox="1"/>
          <p:nvPr/>
        </p:nvSpPr>
        <p:spPr>
          <a:xfrm>
            <a:off x="5364480" y="1645920"/>
            <a:ext cx="573024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Actual PFC contact patch Gamma_s</a:t>
            </a:r>
          </a:p>
        </p:txBody>
      </p:sp>
      <p:sp>
        <p:nvSpPr>
          <p:cNvPr id="7" name="text6" descr="sci-ppt:C2-E19-006"/>
          <p:cNvSpPr txBox="1"/>
          <p:nvPr/>
        </p:nvSpPr>
        <p:spPr>
          <a:xfrm>
            <a:off x="5486400" y="2682240"/>
            <a:ext cx="573024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Full 4π R² requires complete contact.</a:t>
            </a:r>
          </a:p>
        </p:txBody>
      </p:sp>
      <p:sp>
        <p:nvSpPr>
          <p:cNvPr id="8" name="text7" descr="sci-ppt:C2-E19-007"/>
          <p:cNvSpPr txBox="1"/>
          <p:nvPr/>
        </p:nvSpPr>
        <p:spPr>
          <a:xfrm>
            <a:off x="1584960" y="4267200"/>
            <a:ext cx="9753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Bubble boundary and PFC evaporation surface can differ.</a:t>
            </a:r>
          </a:p>
        </p:txBody>
      </p:sp>
      <p:sp>
        <p:nvSpPr>
          <p:cNvPr id="9" name="text8" descr="sci-ppt:C2-E19-008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Γ_s: actual species interface</a:t>
            </a:r>
          </a:p>
        </p:txBody>
      </p:sp>
      <p:sp>
        <p:nvSpPr>
          <p:cNvPr id="10" name="text9" descr="sci-ppt:C2-E19-009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m_v,s, ṁ_v,s: vapor inventory and rate</a:t>
            </a:r>
          </a:p>
        </p:txBody>
      </p:sp>
      <p:sp>
        <p:nvSpPr>
          <p:cNvPr id="11" name="text10" descr="sci-ppt:C2-E19-010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dA: contacted surface patch</a:t>
            </a:r>
          </a:p>
        </p:txBody>
      </p:sp>
      <p:sp>
        <p:nvSpPr>
          <p:cNvPr id="12" name="text11" descr="sci-ppt:C2-E19-011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j_s: liquid → vapor</a:t>
            </a:r>
          </a:p>
        </p:txBody>
      </p:sp>
      <p:sp>
        <p:nvSpPr>
          <p:cNvPr id="13" name="text12" descr="sci-ppt:C2-E19-012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R: complete bubble radius only when applicable</a:t>
            </a:r>
          </a:p>
        </p:txBody>
      </p:sp>
      <p:sp>
        <p:nvSpPr>
          <p:cNvPr id="14" name="text13" descr="sci-ppt:C2-E19-013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full-sphere special case</a:t>
            </a:r>
          </a:p>
        </p:txBody>
      </p:sp>
      <p:sp>
        <p:nvSpPr>
          <p:cNvPr id="15" name="text14" descr="sci-ppt:C2-E19-014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PFC may occupy only a residual inclusion</a:t>
            </a:r>
          </a:p>
        </p:txBody>
      </p:sp>
      <p:sp>
        <p:nvSpPr>
          <p:cNvPr id="16" name="text15" descr="sci-ppt:C2-E19-015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Do not give every species the whole bubble area automatically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0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C2-E20 | Physical-variable diagram</a:t>
            </a:r>
          </a:p>
        </p:txBody>
      </p:sp>
      <p:sp>
        <p:nvSpPr>
          <p:cNvPr id="3" name="rect2" descr="sci-ppt:C2-E20-002"/>
          <p:cNvSpPr/>
          <p:nvPr/>
        </p:nvSpPr>
        <p:spPr>
          <a:xfrm>
            <a:off x="975360" y="1463040"/>
            <a:ext cx="4267200" cy="2682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20-003"/>
          <p:cNvSpPr/>
          <p:nvPr/>
        </p:nvSpPr>
        <p:spPr>
          <a:xfrm>
            <a:off x="5242560" y="1463040"/>
            <a:ext cx="5242560" cy="26822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20-004"/>
          <p:cNvSpPr txBox="1"/>
          <p:nvPr/>
        </p:nvSpPr>
        <p:spPr>
          <a:xfrm>
            <a:off x="219456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Vapor</a:t>
            </a:r>
          </a:p>
        </p:txBody>
      </p:sp>
      <p:sp>
        <p:nvSpPr>
          <p:cNvPr id="6" name="text5" descr="sci-ppt:C2-E20-005"/>
          <p:cNvSpPr txBox="1"/>
          <p:nvPr/>
        </p:nvSpPr>
        <p:spPr>
          <a:xfrm>
            <a:off x="731520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Liquid</a:t>
            </a:r>
          </a:p>
        </p:txBody>
      </p:sp>
      <p:cxnSp>
        <p:nvCxnSpPr>
          <p:cNvPr id="7" name="arrow6" descr="sci-ppt:C2-E20-006"/>
          <p:cNvCxnSpPr/>
          <p:nvPr/>
        </p:nvCxnSpPr>
        <p:spPr>
          <a:xfrm flipH="1">
            <a:off x="3657600" y="2804160"/>
            <a:ext cx="37795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20-007"/>
          <p:cNvSpPr txBox="1"/>
          <p:nvPr/>
        </p:nvSpPr>
        <p:spPr>
          <a:xfrm>
            <a:off x="5852160" y="3108960"/>
            <a:ext cx="414528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F6BC77"/>
                </a:solidFill>
                <a:latin typeface="Arial"/>
              </a:rPr>
              <a:t>n: liquid → vapor</a:t>
            </a:r>
          </a:p>
        </p:txBody>
      </p:sp>
      <p:cxnSp>
        <p:nvCxnSpPr>
          <p:cNvPr id="9" name="arrow8" descr="sci-ppt:C2-E20-008"/>
          <p:cNvCxnSpPr/>
          <p:nvPr/>
        </p:nvCxnSpPr>
        <p:spPr>
          <a:xfrm>
            <a:off x="5242560" y="3779520"/>
            <a:ext cx="1402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20-009"/>
          <p:cNvSpPr txBox="1"/>
          <p:nvPr/>
        </p:nvSpPr>
        <p:spPr>
          <a:xfrm>
            <a:off x="5486400" y="420624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+e_r, wall motion</a:t>
            </a:r>
          </a:p>
        </p:txBody>
      </p:sp>
      <p:sp>
        <p:nvSpPr>
          <p:cNvPr id="11" name="text10" descr="sci-ppt:C2-E20-010"/>
          <p:cNvSpPr txBox="1"/>
          <p:nvPr/>
        </p:nvSpPr>
        <p:spPr>
          <a:xfrm>
            <a:off x="1219200" y="103632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Interface Gamma</a:t>
            </a:r>
          </a:p>
        </p:txBody>
      </p:sp>
      <p:sp>
        <p:nvSpPr>
          <p:cNvPr id="12" name="text11" descr="sci-ppt:C2-E20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Ṙ: moving bubble surface</a:t>
            </a:r>
          </a:p>
        </p:txBody>
      </p:sp>
      <p:sp>
        <p:nvSpPr>
          <p:cNvPr id="13" name="text12" descr="sci-ppt:C2-E20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n = −e_r: liquid → vapor</a:t>
            </a:r>
          </a:p>
        </p:txBody>
      </p:sp>
      <p:sp>
        <p:nvSpPr>
          <p:cNvPr id="14" name="text13" descr="sci-ppt:C2-E20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u_v: vapor-side motion</a:t>
            </a:r>
          </a:p>
        </p:txBody>
      </p:sp>
      <p:sp>
        <p:nvSpPr>
          <p:cNvPr id="15" name="text14" descr="sci-ppt:C2-E20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ρ_l, ρ_v: adjoining densities</a:t>
            </a:r>
          </a:p>
        </p:txBody>
      </p:sp>
      <p:sp>
        <p:nvSpPr>
          <p:cNvPr id="16" name="text15" descr="sci-ppt:C2-E20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e_r: outward radial direction</a:t>
            </a:r>
          </a:p>
        </p:txBody>
      </p:sp>
      <p:sp>
        <p:nvSpPr>
          <p:cNvPr id="17" name="text16" descr="sci-ppt:C2-E20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u_l(R), u_l: outside-liquid motion</a:t>
            </a:r>
          </a:p>
        </p:txBody>
      </p:sp>
      <p:sp>
        <p:nvSpPr>
          <p:cNvPr id="18" name="text17" descr="sci-ppt:C2-E20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v_Γ: interface motion</a:t>
            </a:r>
          </a:p>
        </p:txBody>
      </p:sp>
      <p:sp>
        <p:nvSpPr>
          <p:cNvPr id="19" name="text18" descr="sci-ppt:C2-E20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j_s: evaporation through interface</a:t>
            </a:r>
          </a:p>
        </p:txBody>
      </p:sp>
      <p:sp>
        <p:nvSpPr>
          <p:cNvPr id="20" name="text19" descr="sci-ppt:C2-E20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Positive j_s makes liquid speed smaller than outward wall speed</a:t>
            </a:r>
          </a:p>
        </p:txBody>
      </p:sp>
      <p:sp>
        <p:nvSpPr>
          <p:cNvPr id="21" name="text20" descr="sci-ppt:C2-E20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For mixtures, species diffusion augments the component fluxes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C2-E21 | Physical-variable diagram</a:t>
            </a:r>
          </a:p>
        </p:txBody>
      </p:sp>
      <p:sp>
        <p:nvSpPr>
          <p:cNvPr id="3" name="rect2" descr="sci-ppt:C2-E21-002"/>
          <p:cNvSpPr/>
          <p:nvPr/>
        </p:nvSpPr>
        <p:spPr>
          <a:xfrm>
            <a:off x="975360" y="1463040"/>
            <a:ext cx="4267200" cy="2682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21-003"/>
          <p:cNvSpPr/>
          <p:nvPr/>
        </p:nvSpPr>
        <p:spPr>
          <a:xfrm>
            <a:off x="5242560" y="1463040"/>
            <a:ext cx="5242560" cy="26822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21-004"/>
          <p:cNvSpPr txBox="1"/>
          <p:nvPr/>
        </p:nvSpPr>
        <p:spPr>
          <a:xfrm>
            <a:off x="219456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Vapor</a:t>
            </a:r>
          </a:p>
        </p:txBody>
      </p:sp>
      <p:sp>
        <p:nvSpPr>
          <p:cNvPr id="6" name="text5" descr="sci-ppt:C2-E21-005"/>
          <p:cNvSpPr txBox="1"/>
          <p:nvPr/>
        </p:nvSpPr>
        <p:spPr>
          <a:xfrm>
            <a:off x="731520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Liquid</a:t>
            </a:r>
          </a:p>
        </p:txBody>
      </p:sp>
      <p:cxnSp>
        <p:nvCxnSpPr>
          <p:cNvPr id="7" name="arrow6" descr="sci-ppt:C2-E21-006"/>
          <p:cNvCxnSpPr/>
          <p:nvPr/>
        </p:nvCxnSpPr>
        <p:spPr>
          <a:xfrm flipH="1">
            <a:off x="3657600" y="2804160"/>
            <a:ext cx="37795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21-007"/>
          <p:cNvSpPr txBox="1"/>
          <p:nvPr/>
        </p:nvSpPr>
        <p:spPr>
          <a:xfrm>
            <a:off x="5852160" y="3108960"/>
            <a:ext cx="414528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F6BC77"/>
                </a:solidFill>
                <a:latin typeface="Arial"/>
              </a:rPr>
              <a:t>n: liquid → vapor</a:t>
            </a:r>
          </a:p>
        </p:txBody>
      </p:sp>
      <p:cxnSp>
        <p:nvCxnSpPr>
          <p:cNvPr id="9" name="arrow8" descr="sci-ppt:C2-E21-008"/>
          <p:cNvCxnSpPr/>
          <p:nvPr/>
        </p:nvCxnSpPr>
        <p:spPr>
          <a:xfrm>
            <a:off x="5242560" y="3779520"/>
            <a:ext cx="1402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21-009"/>
          <p:cNvSpPr txBox="1"/>
          <p:nvPr/>
        </p:nvSpPr>
        <p:spPr>
          <a:xfrm>
            <a:off x="5486400" y="420624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+e_r, wall motion</a:t>
            </a:r>
          </a:p>
        </p:txBody>
      </p:sp>
      <p:sp>
        <p:nvSpPr>
          <p:cNvPr id="11" name="text10" descr="sci-ppt:C2-E21-010"/>
          <p:cNvSpPr txBox="1"/>
          <p:nvPr/>
        </p:nvSpPr>
        <p:spPr>
          <a:xfrm>
            <a:off x="1219200" y="103632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Interface Gamma</a:t>
            </a:r>
          </a:p>
        </p:txBody>
      </p:sp>
      <p:sp>
        <p:nvSpPr>
          <p:cNvPr id="12" name="text11" descr="sci-ppt:C2-E21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n: liquid → vapor</a:t>
            </a:r>
          </a:p>
        </p:txBody>
      </p:sp>
      <p:sp>
        <p:nvSpPr>
          <p:cNvPr id="13" name="text12" descr="sci-ppt:C2-E21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q_v: heat leaving into vapor</a:t>
            </a:r>
          </a:p>
        </p:txBody>
      </p:sp>
      <p:sp>
        <p:nvSpPr>
          <p:cNvPr id="14" name="text13" descr="sci-ppt:C2-E21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h_l,s → h_v,s: enthalpy change</a:t>
            </a:r>
          </a:p>
        </p:txBody>
      </p:sp>
      <p:sp>
        <p:nvSpPr>
          <p:cNvPr id="15" name="text14" descr="sci-ppt:C2-E21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k_l, k_v; T_l, T_v: thermal fields</a:t>
            </a:r>
          </a:p>
        </p:txBody>
      </p:sp>
      <p:sp>
        <p:nvSpPr>
          <p:cNvPr id="16" name="text15" descr="sci-ppt:C2-E21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q_l: heat arriving from liquid</a:t>
            </a:r>
          </a:p>
        </p:txBody>
      </p:sp>
      <p:sp>
        <p:nvSpPr>
          <p:cNvPr id="17" name="text16" descr="sci-ppt:C2-E21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j_s: phase mass flux</a:t>
            </a:r>
          </a:p>
        </p:txBody>
      </p:sp>
      <p:sp>
        <p:nvSpPr>
          <p:cNvPr id="18" name="text17" descr="sci-ppt:C2-E21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L_v,s: latent requirement</a:t>
            </a:r>
          </a:p>
        </p:txBody>
      </p:sp>
      <p:sp>
        <p:nvSpPr>
          <p:cNvPr id="19" name="text18" descr="sci-ppt:C2-E21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η = l or v; ∇: local gradient</a:t>
            </a:r>
          </a:p>
        </p:txBody>
      </p:sp>
      <p:sp>
        <p:nvSpPr>
          <p:cNvPr id="20" name="text19" descr="sci-ppt:C2-E21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Evaporation j_s &gt; 0 consumes latent enthalpy</a:t>
            </a:r>
          </a:p>
        </p:txBody>
      </p:sp>
      <p:sp>
        <p:nvSpPr>
          <p:cNvPr id="21" name="text20" descr="sci-ppt:C2-E21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Condensation j_s &lt; 0 supplies heat to surrounding material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2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C2-E22 | Physical-variable diagram</a:t>
            </a:r>
          </a:p>
        </p:txBody>
      </p:sp>
      <p:sp>
        <p:nvSpPr>
          <p:cNvPr id="3" name="rect2" descr="sci-ppt:C2-E22-002"/>
          <p:cNvSpPr/>
          <p:nvPr/>
        </p:nvSpPr>
        <p:spPr>
          <a:xfrm>
            <a:off x="4023360" y="1950720"/>
            <a:ext cx="365760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2-003"/>
          <p:cNvSpPr txBox="1"/>
          <p:nvPr/>
        </p:nvSpPr>
        <p:spPr>
          <a:xfrm>
            <a:off x="4145280" y="207264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Bubble energy storage U_b</a:t>
            </a:r>
          </a:p>
        </p:txBody>
      </p:sp>
      <p:cxnSp>
        <p:nvCxnSpPr>
          <p:cNvPr id="5" name="arrow4" descr="sci-ppt:C2-E22-004"/>
          <p:cNvCxnSpPr/>
          <p:nvPr/>
        </p:nvCxnSpPr>
        <p:spPr>
          <a:xfrm>
            <a:off x="1219200" y="25603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22-005"/>
          <p:cNvSpPr txBox="1"/>
          <p:nvPr/>
        </p:nvSpPr>
        <p:spPr>
          <a:xfrm>
            <a:off x="1097280" y="152400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Heat Q̇_b</a:t>
            </a:r>
          </a:p>
        </p:txBody>
      </p:sp>
      <p:cxnSp>
        <p:nvCxnSpPr>
          <p:cNvPr id="7" name="arrow6" descr="sci-ppt:C2-E22-006"/>
          <p:cNvCxnSpPr/>
          <p:nvPr/>
        </p:nvCxnSpPr>
        <p:spPr>
          <a:xfrm>
            <a:off x="5852160" y="1219200"/>
            <a:ext cx="0" cy="6096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22-007"/>
          <p:cNvSpPr txBox="1"/>
          <p:nvPr/>
        </p:nvSpPr>
        <p:spPr>
          <a:xfrm>
            <a:off x="4998720" y="792480"/>
            <a:ext cx="4267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Mass enthalpy entry</a:t>
            </a:r>
          </a:p>
        </p:txBody>
      </p:sp>
      <p:cxnSp>
        <p:nvCxnSpPr>
          <p:cNvPr id="9" name="arrow8" descr="sci-ppt:C2-E22-008"/>
          <p:cNvCxnSpPr/>
          <p:nvPr/>
        </p:nvCxnSpPr>
        <p:spPr>
          <a:xfrm>
            <a:off x="7802880" y="262128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22-009"/>
          <p:cNvSpPr txBox="1"/>
          <p:nvPr/>
        </p:nvSpPr>
        <p:spPr>
          <a:xfrm>
            <a:off x="8412480" y="1767840"/>
            <a:ext cx="329184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Work p_b V̇_b</a:t>
            </a:r>
          </a:p>
        </p:txBody>
      </p:sp>
      <p:sp>
        <p:nvSpPr>
          <p:cNvPr id="11" name="text10" descr="sci-ppt:C2-E22-010"/>
          <p:cNvSpPr txBox="1"/>
          <p:nvPr/>
        </p:nvSpPr>
        <p:spPr>
          <a:xfrm>
            <a:off x="1341120" y="4084320"/>
            <a:ext cx="999744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Conductive heat and transported enthalpy are separate terms.</a:t>
            </a:r>
          </a:p>
        </p:txBody>
      </p:sp>
      <p:sp>
        <p:nvSpPr>
          <p:cNvPr id="12" name="text11" descr="sci-ppt:C2-E22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U_b: vapor energy storage</a:t>
            </a:r>
          </a:p>
        </p:txBody>
      </p:sp>
      <p:sp>
        <p:nvSpPr>
          <p:cNvPr id="13" name="text12" descr="sci-ppt:C2-E22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p_b, V_b, V̇_b: pressure work</a:t>
            </a:r>
          </a:p>
        </p:txBody>
      </p:sp>
      <p:sp>
        <p:nvSpPr>
          <p:cNvPr id="14" name="text13" descr="sci-ppt:C2-E22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h_v,s, ṁ_v,s: mass enthalpy entry</a:t>
            </a:r>
          </a:p>
        </p:txBody>
      </p:sp>
      <p:sp>
        <p:nvSpPr>
          <p:cNvPr id="15" name="text14" descr="sci-ppt:C2-E22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volume</a:t>
            </a:r>
          </a:p>
        </p:txBody>
      </p:sp>
      <p:sp>
        <p:nvSpPr>
          <p:cNvPr id="16" name="text15" descr="sci-ppt:C2-E22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Q̇_b: conductive heat only</a:t>
            </a:r>
          </a:p>
        </p:txBody>
      </p:sp>
      <p:sp>
        <p:nvSpPr>
          <p:cNvPr id="17" name="text16" descr="sci-ppt:C2-E22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Ṙ: bubble geometry and speed</a:t>
            </a:r>
          </a:p>
        </p:txBody>
      </p:sp>
      <p:sp>
        <p:nvSpPr>
          <p:cNvPr id="18" name="text17" descr="sci-ppt:C2-E22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 = 1…N_s: species ledger</a:t>
            </a:r>
          </a:p>
        </p:txBody>
      </p:sp>
      <p:sp>
        <p:nvSpPr>
          <p:cNvPr id="19" name="text18" descr="sci-ppt:C2-E22-018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Expansion removes energy through p_b V̇_b</a:t>
            </a:r>
          </a:p>
        </p:txBody>
      </p:sp>
      <p:sp>
        <p:nvSpPr>
          <p:cNvPr id="20" name="text19" descr="sci-ppt:C2-E22-019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Do not add a second latent-heat source to transported vapor enthalpy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3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C2-E23 | Physical-variable diagram</a:t>
            </a:r>
          </a:p>
        </p:txBody>
      </p:sp>
      <p:sp>
        <p:nvSpPr>
          <p:cNvPr id="3" name="rect2" descr="sci-ppt:C2-E23-002"/>
          <p:cNvSpPr/>
          <p:nvPr/>
        </p:nvSpPr>
        <p:spPr>
          <a:xfrm>
            <a:off x="4023360" y="1950720"/>
            <a:ext cx="365760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3-003"/>
          <p:cNvSpPr txBox="1"/>
          <p:nvPr/>
        </p:nvSpPr>
        <p:spPr>
          <a:xfrm>
            <a:off x="4145280" y="207264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Bubble energy storage U_b</a:t>
            </a:r>
          </a:p>
        </p:txBody>
      </p:sp>
      <p:cxnSp>
        <p:nvCxnSpPr>
          <p:cNvPr id="5" name="arrow4" descr="sci-ppt:C2-E23-004"/>
          <p:cNvCxnSpPr/>
          <p:nvPr/>
        </p:nvCxnSpPr>
        <p:spPr>
          <a:xfrm>
            <a:off x="1219200" y="25603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23-005"/>
          <p:cNvSpPr txBox="1"/>
          <p:nvPr/>
        </p:nvSpPr>
        <p:spPr>
          <a:xfrm>
            <a:off x="1097280" y="152400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Heat Q̇_b</a:t>
            </a:r>
          </a:p>
        </p:txBody>
      </p:sp>
      <p:cxnSp>
        <p:nvCxnSpPr>
          <p:cNvPr id="7" name="arrow6" descr="sci-ppt:C2-E23-006"/>
          <p:cNvCxnSpPr/>
          <p:nvPr/>
        </p:nvCxnSpPr>
        <p:spPr>
          <a:xfrm>
            <a:off x="5852160" y="1219200"/>
            <a:ext cx="0" cy="6096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23-007"/>
          <p:cNvSpPr txBox="1"/>
          <p:nvPr/>
        </p:nvSpPr>
        <p:spPr>
          <a:xfrm>
            <a:off x="4998720" y="792480"/>
            <a:ext cx="4267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Mass enthalpy entry</a:t>
            </a:r>
          </a:p>
        </p:txBody>
      </p:sp>
      <p:cxnSp>
        <p:nvCxnSpPr>
          <p:cNvPr id="9" name="arrow8" descr="sci-ppt:C2-E23-008"/>
          <p:cNvCxnSpPr/>
          <p:nvPr/>
        </p:nvCxnSpPr>
        <p:spPr>
          <a:xfrm>
            <a:off x="7802880" y="262128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23-009"/>
          <p:cNvSpPr txBox="1"/>
          <p:nvPr/>
        </p:nvSpPr>
        <p:spPr>
          <a:xfrm>
            <a:off x="8412480" y="1767840"/>
            <a:ext cx="329184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Work p_b V̇_b</a:t>
            </a:r>
          </a:p>
        </p:txBody>
      </p:sp>
      <p:sp>
        <p:nvSpPr>
          <p:cNvPr id="11" name="text10" descr="sci-ppt:C2-E23-010"/>
          <p:cNvSpPr txBox="1"/>
          <p:nvPr/>
        </p:nvSpPr>
        <p:spPr>
          <a:xfrm>
            <a:off x="1341120" y="4084320"/>
            <a:ext cx="999744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Conductive heat and transported enthalpy are separate terms.</a:t>
            </a:r>
          </a:p>
        </p:txBody>
      </p:sp>
      <p:sp>
        <p:nvSpPr>
          <p:cNvPr id="12" name="text11" descr="sci-ppt:C2-E23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T_b, Ṫ_b: common vapor temperature</a:t>
            </a:r>
          </a:p>
        </p:txBody>
      </p:sp>
      <p:sp>
        <p:nvSpPr>
          <p:cNvPr id="13" name="text12" descr="sci-ppt:C2-E23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e_s, c_v,s: internal-energy storage</a:t>
            </a:r>
          </a:p>
        </p:txBody>
      </p:sp>
      <p:sp>
        <p:nvSpPr>
          <p:cNvPr id="14" name="text13" descr="sci-ppt:C2-E23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U_b: total stored energy</a:t>
            </a:r>
          </a:p>
        </p:txBody>
      </p:sp>
      <p:sp>
        <p:nvSpPr>
          <p:cNvPr id="15" name="text14" descr="sci-ppt:C2-E23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p_b V̇_b: work</a:t>
            </a:r>
          </a:p>
        </p:txBody>
      </p:sp>
      <p:sp>
        <p:nvSpPr>
          <p:cNvPr id="16" name="text15" descr="sci-ppt:C2-E23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m_v,s, ṁ_v,s: changing species mass</a:t>
            </a:r>
          </a:p>
        </p:txBody>
      </p:sp>
      <p:sp>
        <p:nvSpPr>
          <p:cNvPr id="17" name="text16" descr="sci-ppt:C2-E23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h_v,s: boundary enthalpy</a:t>
            </a:r>
          </a:p>
        </p:txBody>
      </p:sp>
      <p:sp>
        <p:nvSpPr>
          <p:cNvPr id="18" name="text17" descr="sci-ppt:C2-E23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Q̇_b: conduction</a:t>
            </a:r>
          </a:p>
        </p:txBody>
      </p:sp>
      <p:sp>
        <p:nvSpPr>
          <p:cNvPr id="19" name="text18" descr="sci-ppt:C2-E23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 = 1…N_s: summation</a:t>
            </a:r>
          </a:p>
        </p:txBody>
      </p:sp>
      <p:sp>
        <p:nvSpPr>
          <p:cNvPr id="20" name="text19" descr="sci-ppt:C2-E23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product rule includes both temperature and mass changes</a:t>
            </a:r>
          </a:p>
        </p:txBody>
      </p:sp>
      <p:sp>
        <p:nvSpPr>
          <p:cNvPr id="21" name="text20" descr="sci-ppt:C2-E23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Consistent energy references preserve the balance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C2-E24 | Physical-variable diagram</a:t>
            </a:r>
          </a:p>
        </p:txBody>
      </p:sp>
      <p:sp>
        <p:nvSpPr>
          <p:cNvPr id="3" name="rect2" descr="sci-ppt:C2-E24-002"/>
          <p:cNvSpPr/>
          <p:nvPr/>
        </p:nvSpPr>
        <p:spPr>
          <a:xfrm>
            <a:off x="73152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4-003"/>
          <p:cNvSpPr txBox="1"/>
          <p:nvPr/>
        </p:nvSpPr>
        <p:spPr>
          <a:xfrm>
            <a:off x="85344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Species masses m_v,s</a:t>
            </a:r>
          </a:p>
        </p:txBody>
      </p:sp>
      <p:cxnSp>
        <p:nvCxnSpPr>
          <p:cNvPr id="5" name="arrow4" descr="sci-ppt:C2-E24-004"/>
          <p:cNvCxnSpPr/>
          <p:nvPr/>
        </p:nvCxnSpPr>
        <p:spPr>
          <a:xfrm>
            <a:off x="2438400" y="2743200"/>
            <a:ext cx="353568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rect5" descr="sci-ppt:C2-E24-005"/>
          <p:cNvSpPr/>
          <p:nvPr/>
        </p:nvSpPr>
        <p:spPr>
          <a:xfrm>
            <a:off x="451104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6" descr="sci-ppt:C2-E24-006"/>
          <p:cNvSpPr txBox="1"/>
          <p:nvPr/>
        </p:nvSpPr>
        <p:spPr>
          <a:xfrm>
            <a:off x="463296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Temperature T_b</a:t>
            </a:r>
          </a:p>
        </p:txBody>
      </p:sp>
      <p:cxnSp>
        <p:nvCxnSpPr>
          <p:cNvPr id="8" name="arrow7" descr="sci-ppt:C2-E24-007"/>
          <p:cNvCxnSpPr/>
          <p:nvPr/>
        </p:nvCxnSpPr>
        <p:spPr>
          <a:xfrm flipH="1">
            <a:off x="5974080" y="2743200"/>
            <a:ext cx="24384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rect8" descr="sci-ppt:C2-E24-008"/>
          <p:cNvSpPr/>
          <p:nvPr/>
        </p:nvSpPr>
        <p:spPr>
          <a:xfrm>
            <a:off x="829056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9" descr="sci-ppt:C2-E24-009"/>
          <p:cNvSpPr txBox="1"/>
          <p:nvPr/>
        </p:nvSpPr>
        <p:spPr>
          <a:xfrm>
            <a:off x="841248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Bubble volume V_b</a:t>
            </a:r>
          </a:p>
        </p:txBody>
      </p:sp>
      <p:cxnSp>
        <p:nvCxnSpPr>
          <p:cNvPr id="11" name="arrow10" descr="sci-ppt:C2-E24-010"/>
          <p:cNvCxnSpPr/>
          <p:nvPr/>
        </p:nvCxnSpPr>
        <p:spPr>
          <a:xfrm flipH="1">
            <a:off x="5974080" y="2743200"/>
            <a:ext cx="402336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rect11" descr="sci-ppt:C2-E24-011"/>
          <p:cNvSpPr/>
          <p:nvPr/>
        </p:nvSpPr>
        <p:spPr>
          <a:xfrm>
            <a:off x="3779520" y="3596640"/>
            <a:ext cx="4389120" cy="7924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24-012"/>
          <p:cNvSpPr txBox="1"/>
          <p:nvPr/>
        </p:nvSpPr>
        <p:spPr>
          <a:xfrm>
            <a:off x="3901440" y="3718560"/>
            <a:ext cx="420624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Mixture pressure p_b</a:t>
            </a:r>
          </a:p>
        </p:txBody>
      </p:sp>
      <p:sp>
        <p:nvSpPr>
          <p:cNvPr id="14" name="text13" descr="sci-ppt:C2-E24-013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m_v,s, M_s: species mole inventory</a:t>
            </a:r>
          </a:p>
        </p:txBody>
      </p:sp>
      <p:sp>
        <p:nvSpPr>
          <p:cNvPr id="15" name="text14" descr="sci-ppt:C2-E24-014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V_b: finite bubble volume</a:t>
            </a:r>
          </a:p>
        </p:txBody>
      </p:sp>
      <p:sp>
        <p:nvSpPr>
          <p:cNvPr id="16" name="text15" descr="sci-ppt:C2-E24-015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p_b: total mixture pressure</a:t>
            </a:r>
          </a:p>
        </p:txBody>
      </p:sp>
      <p:sp>
        <p:nvSpPr>
          <p:cNvPr id="17" name="text16" descr="sci-ppt:C2-E24-016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ρ_b, e_b, Y: real-mixture state</a:t>
            </a:r>
          </a:p>
        </p:txBody>
      </p:sp>
      <p:sp>
        <p:nvSpPr>
          <p:cNvPr id="18" name="text17" descr="sci-ppt:C2-E24-01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T_b: common temperature</a:t>
            </a:r>
          </a:p>
        </p:txBody>
      </p:sp>
      <p:sp>
        <p:nvSpPr>
          <p:cNvPr id="19" name="text18" descr="sci-ppt:C2-E24-01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p_v,s: component pressure</a:t>
            </a:r>
          </a:p>
        </p:txBody>
      </p:sp>
      <p:sp>
        <p:nvSpPr>
          <p:cNvPr id="20" name="text19" descr="sci-ppt:C2-E24-01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R_u: gas constant</a:t>
            </a:r>
          </a:p>
        </p:txBody>
      </p:sp>
      <p:sp>
        <p:nvSpPr>
          <p:cNvPr id="21" name="text20" descr="sci-ppt:C2-E24-020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 = 1…N_s; P: EOS function</a:t>
            </a:r>
          </a:p>
        </p:txBody>
      </p:sp>
      <p:sp>
        <p:nvSpPr>
          <p:cNvPr id="22" name="text21" descr="sci-ppt:C2-E24-021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Permanent gas remains after condensable vapor is removed</a:t>
            </a:r>
          </a:p>
        </p:txBody>
      </p:sp>
      <p:sp>
        <p:nvSpPr>
          <p:cNvPr id="23" name="text22" descr="sci-ppt:C2-E24-022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Dense compression requires a calibrated EOS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5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C2-E25 | Physical-variable diagram</a:t>
            </a:r>
          </a:p>
        </p:txBody>
      </p:sp>
      <p:sp>
        <p:nvSpPr>
          <p:cNvPr id="3" name="rect2" descr="sci-ppt:C2-E25-002"/>
          <p:cNvSpPr/>
          <p:nvPr/>
        </p:nvSpPr>
        <p:spPr>
          <a:xfrm>
            <a:off x="73152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5-003"/>
          <p:cNvSpPr txBox="1"/>
          <p:nvPr/>
        </p:nvSpPr>
        <p:spPr>
          <a:xfrm>
            <a:off x="85344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Species masses m_v,s</a:t>
            </a:r>
          </a:p>
        </p:txBody>
      </p:sp>
      <p:cxnSp>
        <p:nvCxnSpPr>
          <p:cNvPr id="5" name="arrow4" descr="sci-ppt:C2-E25-004"/>
          <p:cNvCxnSpPr/>
          <p:nvPr/>
        </p:nvCxnSpPr>
        <p:spPr>
          <a:xfrm>
            <a:off x="2438400" y="2743200"/>
            <a:ext cx="353568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rect5" descr="sci-ppt:C2-E25-005"/>
          <p:cNvSpPr/>
          <p:nvPr/>
        </p:nvSpPr>
        <p:spPr>
          <a:xfrm>
            <a:off x="451104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6" descr="sci-ppt:C2-E25-006"/>
          <p:cNvSpPr txBox="1"/>
          <p:nvPr/>
        </p:nvSpPr>
        <p:spPr>
          <a:xfrm>
            <a:off x="463296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Temperature T_b</a:t>
            </a:r>
          </a:p>
        </p:txBody>
      </p:sp>
      <p:cxnSp>
        <p:nvCxnSpPr>
          <p:cNvPr id="8" name="arrow7" descr="sci-ppt:C2-E25-007"/>
          <p:cNvCxnSpPr/>
          <p:nvPr/>
        </p:nvCxnSpPr>
        <p:spPr>
          <a:xfrm flipH="1">
            <a:off x="5974080" y="2743200"/>
            <a:ext cx="24384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rect8" descr="sci-ppt:C2-E25-008"/>
          <p:cNvSpPr/>
          <p:nvPr/>
        </p:nvSpPr>
        <p:spPr>
          <a:xfrm>
            <a:off x="8290560" y="1463040"/>
            <a:ext cx="34137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9" descr="sci-ppt:C2-E25-009"/>
          <p:cNvSpPr txBox="1"/>
          <p:nvPr/>
        </p:nvSpPr>
        <p:spPr>
          <a:xfrm>
            <a:off x="8412480" y="1584960"/>
            <a:ext cx="32308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Bubble volume V_b</a:t>
            </a:r>
          </a:p>
        </p:txBody>
      </p:sp>
      <p:cxnSp>
        <p:nvCxnSpPr>
          <p:cNvPr id="11" name="arrow10" descr="sci-ppt:C2-E25-010"/>
          <p:cNvCxnSpPr/>
          <p:nvPr/>
        </p:nvCxnSpPr>
        <p:spPr>
          <a:xfrm flipH="1">
            <a:off x="5974080" y="2743200"/>
            <a:ext cx="4023360" cy="975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rect11" descr="sci-ppt:C2-E25-011"/>
          <p:cNvSpPr/>
          <p:nvPr/>
        </p:nvSpPr>
        <p:spPr>
          <a:xfrm>
            <a:off x="3779520" y="3596640"/>
            <a:ext cx="4389120" cy="7924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25-012"/>
          <p:cNvSpPr txBox="1"/>
          <p:nvPr/>
        </p:nvSpPr>
        <p:spPr>
          <a:xfrm>
            <a:off x="3901440" y="3718560"/>
            <a:ext cx="420624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Mixture pressure p_b</a:t>
            </a:r>
          </a:p>
        </p:txBody>
      </p:sp>
      <p:sp>
        <p:nvSpPr>
          <p:cNvPr id="14" name="text13" descr="sci-ppt:C2-E25-013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p_v,s, ṗ_v,s: partial pressure change</a:t>
            </a:r>
          </a:p>
        </p:txBody>
      </p:sp>
      <p:sp>
        <p:nvSpPr>
          <p:cNvPr id="15" name="text14" descr="sci-ppt:C2-E25-014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T_b, Ṫ_b: heating or cooling</a:t>
            </a:r>
          </a:p>
        </p:txBody>
      </p:sp>
      <p:sp>
        <p:nvSpPr>
          <p:cNvPr id="16" name="text15" descr="sci-ppt:C2-E25-015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Ṙ: spherical volume change</a:t>
            </a:r>
          </a:p>
        </p:txBody>
      </p:sp>
      <p:sp>
        <p:nvSpPr>
          <p:cNvPr id="17" name="text16" descr="sci-ppt:C2-E25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m_v,s, ṁ_v,s: evaporation or loss</a:t>
            </a:r>
          </a:p>
        </p:txBody>
      </p:sp>
      <p:sp>
        <p:nvSpPr>
          <p:cNvPr id="18" name="text17" descr="sci-ppt:C2-E25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V_b, V̇_b: geometric expansion</a:t>
            </a:r>
          </a:p>
        </p:txBody>
      </p:sp>
      <p:sp>
        <p:nvSpPr>
          <p:cNvPr id="19" name="text18" descr="sci-ppt:C2-E25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s: species index</a:t>
            </a:r>
          </a:p>
        </p:txBody>
      </p:sp>
      <p:sp>
        <p:nvSpPr>
          <p:cNvPr id="20" name="text19" descr="sci-ppt:C2-E25-019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Expansion lowers pressure at fixed mass and temperature</a:t>
            </a:r>
          </a:p>
        </p:txBody>
      </p:sp>
      <p:sp>
        <p:nvSpPr>
          <p:cNvPr id="21" name="text20" descr="sci-ppt:C2-E25-020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Evaporation or heating can oppose the geometric pressure decrease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6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C2-E26 | Physical-variable diagram</a:t>
            </a:r>
          </a:p>
        </p:txBody>
      </p:sp>
      <p:cxnSp>
        <p:nvCxnSpPr>
          <p:cNvPr id="3" name="arrow2" descr="sci-ppt:C2-E26-002"/>
          <p:cNvCxnSpPr/>
          <p:nvPr/>
        </p:nvCxnSpPr>
        <p:spPr>
          <a:xfrm>
            <a:off x="2194560" y="3962399"/>
            <a:ext cx="79248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arrow3" descr="sci-ppt:C2-E26-003"/>
          <p:cNvCxnSpPr/>
          <p:nvPr/>
        </p:nvCxnSpPr>
        <p:spPr>
          <a:xfrm flipV="1">
            <a:off x="2194560" y="1524000"/>
            <a:ext cx="0" cy="243839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2-E26-004"/>
          <p:cNvSpPr txBox="1"/>
          <p:nvPr/>
        </p:nvSpPr>
        <p:spPr>
          <a:xfrm>
            <a:off x="914400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Vapor volume V_b</a:t>
            </a:r>
          </a:p>
        </p:txBody>
      </p:sp>
      <p:sp>
        <p:nvSpPr>
          <p:cNvPr id="6" name="text5" descr="sci-ppt:C2-E26-005"/>
          <p:cNvSpPr txBox="1"/>
          <p:nvPr/>
        </p:nvSpPr>
        <p:spPr>
          <a:xfrm>
            <a:off x="2072640" y="115824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PFC partial pressure</a:t>
            </a:r>
          </a:p>
        </p:txBody>
      </p:sp>
      <p:cxnSp>
        <p:nvCxnSpPr>
          <p:cNvPr id="7" name="line6" descr="sci-ppt:C2-E26-006"/>
          <p:cNvCxnSpPr/>
          <p:nvPr/>
        </p:nvCxnSpPr>
        <p:spPr>
          <a:xfrm>
            <a:off x="2255520" y="2011680"/>
            <a:ext cx="286512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line7" descr="sci-ppt:C2-E26-007"/>
          <p:cNvCxnSpPr/>
          <p:nvPr/>
        </p:nvCxnSpPr>
        <p:spPr>
          <a:xfrm>
            <a:off x="5120640" y="2011680"/>
            <a:ext cx="3657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line8" descr="sci-ppt:C2-E26-008"/>
          <p:cNvCxnSpPr/>
          <p:nvPr/>
        </p:nvCxnSpPr>
        <p:spPr>
          <a:xfrm>
            <a:off x="5486400" y="2011680"/>
            <a:ext cx="609600" cy="487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line9" descr="sci-ppt:C2-E26-009"/>
          <p:cNvCxnSpPr/>
          <p:nvPr/>
        </p:nvCxnSpPr>
        <p:spPr>
          <a:xfrm>
            <a:off x="6096000" y="2499360"/>
            <a:ext cx="1097280" cy="5486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26-010"/>
          <p:cNvCxnSpPr/>
          <p:nvPr/>
        </p:nvCxnSpPr>
        <p:spPr>
          <a:xfrm>
            <a:off x="7193280" y="3048000"/>
            <a:ext cx="1341120" cy="3413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26-011"/>
          <p:cNvCxnSpPr/>
          <p:nvPr/>
        </p:nvCxnSpPr>
        <p:spPr>
          <a:xfrm>
            <a:off x="8534400" y="3389376"/>
            <a:ext cx="1341120" cy="1828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13" name="text12" descr="sci-ppt:C2-E26-012"/>
          <p:cNvSpPr txBox="1"/>
          <p:nvPr/>
        </p:nvSpPr>
        <p:spPr>
          <a:xfrm>
            <a:off x="2560320" y="1463040"/>
            <a:ext cx="36576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Saturation branch</a:t>
            </a:r>
          </a:p>
        </p:txBody>
      </p:sp>
      <p:sp>
        <p:nvSpPr>
          <p:cNvPr id="14" name="text13" descr="sci-ppt:C2-E26-013"/>
          <p:cNvSpPr txBox="1"/>
          <p:nvPr/>
        </p:nvSpPr>
        <p:spPr>
          <a:xfrm>
            <a:off x="6096000" y="2133600"/>
            <a:ext cx="5364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Finite-mass branch: p ~ 1/V</a:t>
            </a:r>
          </a:p>
        </p:txBody>
      </p:sp>
      <p:sp>
        <p:nvSpPr>
          <p:cNvPr id="15" name="text14" descr="sci-ppt:C2-E26-01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m_PFC,0: total available compound</a:t>
            </a:r>
          </a:p>
        </p:txBody>
      </p:sp>
      <p:sp>
        <p:nvSpPr>
          <p:cNvPr id="16" name="text15" descr="sci-ppt:C2-E26-01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 R_u: mole-to-mass conversion</a:t>
            </a:r>
          </a:p>
        </p:txBody>
      </p:sp>
      <p:sp>
        <p:nvSpPr>
          <p:cNvPr id="17" name="text16" descr="sci-ppt:C2-E26-01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V_b: available vapor volume</a:t>
            </a:r>
          </a:p>
        </p:txBody>
      </p:sp>
      <p:sp>
        <p:nvSpPr>
          <p:cNvPr id="18" name="text17" descr="sci-ppt:C2-E26-017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p_v,PFC,eq: inventory-limited pressure</a:t>
            </a:r>
          </a:p>
        </p:txBody>
      </p:sp>
      <p:sp>
        <p:nvSpPr>
          <p:cNvPr id="19" name="text18" descr="sci-ppt:C2-E26-018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m_v,eq: actual equilibrium vapor mass</a:t>
            </a:r>
          </a:p>
        </p:txBody>
      </p:sp>
      <p:sp>
        <p:nvSpPr>
          <p:cNvPr id="20" name="text19" descr="sci-ppt:C2-E26-019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T_b: prescribed thermal state</a:t>
            </a:r>
          </a:p>
        </p:txBody>
      </p:sp>
      <p:sp>
        <p:nvSpPr>
          <p:cNvPr id="21" name="text20" descr="sci-ppt:C2-E26-020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p_sat,PFC: coexistence ceiling</a:t>
            </a:r>
          </a:p>
        </p:txBody>
      </p:sp>
      <p:sp>
        <p:nvSpPr>
          <p:cNvPr id="22" name="text21" descr="sci-ppt:C2-E26-021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min: choose supply or saturation branch</a:t>
            </a:r>
          </a:p>
        </p:txBody>
      </p:sp>
      <p:sp>
        <p:nvSpPr>
          <p:cNvPr id="23" name="text22" descr="sci-ppt:C2-E26-022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Small vapor volume can coexist with remaining liquid</a:t>
            </a:r>
          </a:p>
        </p:txBody>
      </p:sp>
      <p:sp>
        <p:nvSpPr>
          <p:cNvPr id="24" name="text23" descr="sci-ppt:C2-E26-023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 fully vaporized large volume cannot maintain saturation without more PFC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7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C2-E27 | Physical-variable diagram</a:t>
            </a:r>
          </a:p>
        </p:txBody>
      </p:sp>
      <p:sp>
        <p:nvSpPr>
          <p:cNvPr id="3" name="ellipse2" descr="sci-ppt:C2-E27-002"/>
          <p:cNvSpPr/>
          <p:nvPr/>
        </p:nvSpPr>
        <p:spPr>
          <a:xfrm>
            <a:off x="2072640" y="1402080"/>
            <a:ext cx="2438400" cy="243840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27-003"/>
          <p:cNvCxnSpPr/>
          <p:nvPr/>
        </p:nvCxnSpPr>
        <p:spPr>
          <a:xfrm>
            <a:off x="3291840" y="262128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2-E27-004"/>
          <p:cNvSpPr txBox="1"/>
          <p:nvPr/>
        </p:nvSpPr>
        <p:spPr>
          <a:xfrm>
            <a:off x="3474720" y="2133600"/>
            <a:ext cx="158496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a</a:t>
            </a:r>
          </a:p>
        </p:txBody>
      </p:sp>
      <p:sp>
        <p:nvSpPr>
          <p:cNvPr id="6" name="text5" descr="sci-ppt:C2-E27-005"/>
          <p:cNvSpPr txBox="1"/>
          <p:nvPr/>
        </p:nvSpPr>
        <p:spPr>
          <a:xfrm>
            <a:off x="2682240" y="28041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PFC liquid</a:t>
            </a:r>
          </a:p>
        </p:txBody>
      </p:sp>
      <p:sp>
        <p:nvSpPr>
          <p:cNvPr id="7" name="text6" descr="sci-ppt:C2-E27-006"/>
          <p:cNvSpPr txBox="1"/>
          <p:nvPr/>
        </p:nvSpPr>
        <p:spPr>
          <a:xfrm>
            <a:off x="5242560" y="1524000"/>
            <a:ext cx="4876800" cy="415747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11" b="0" i="0">
                <a:solidFill>
                  <a:srgbClr val="E7F0F3"/>
                </a:solidFill>
                <a:latin typeface="Arial"/>
              </a:rPr>
              <a:t>Aqueous carrier</a:t>
            </a:r>
          </a:p>
        </p:txBody>
      </p:sp>
      <p:sp>
        <p:nvSpPr>
          <p:cNvPr id="8" name="text7" descr="sci-ppt:C2-E27-007"/>
          <p:cNvSpPr txBox="1"/>
          <p:nvPr/>
        </p:nvSpPr>
        <p:spPr>
          <a:xfrm>
            <a:off x="5242560" y="1987296"/>
            <a:ext cx="5852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p_c; interface: σ_pc, shell</a:t>
            </a:r>
          </a:p>
        </p:txBody>
      </p:sp>
      <p:sp>
        <p:nvSpPr>
          <p:cNvPr id="9" name="text8" descr="sci-ppt:C2-E27-008"/>
          <p:cNvSpPr txBox="1"/>
          <p:nvPr/>
        </p:nvSpPr>
        <p:spPr>
          <a:xfrm>
            <a:off x="1219200" y="4206240"/>
            <a:ext cx="97536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Finite liquid core: a differs from subsequent bubble radius R.</a:t>
            </a:r>
          </a:p>
        </p:txBody>
      </p:sp>
      <p:sp>
        <p:nvSpPr>
          <p:cNvPr id="10" name="text9" descr="sci-ppt:C2-E27-009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a₀ = 5 μm</a:t>
            </a:r>
          </a:p>
        </p:txBody>
      </p:sp>
      <p:sp>
        <p:nvSpPr>
          <p:cNvPr id="11" name="text10" descr="sci-ppt:C2-E27-010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 = 0.853466 ng</a:t>
            </a:r>
          </a:p>
        </p:txBody>
      </p:sp>
      <p:sp>
        <p:nvSpPr>
          <p:cNvPr id="12" name="text11" descr="sci-ppt:C2-E27-011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ρ_d = 1630 kg/m³</a:t>
            </a:r>
          </a:p>
        </p:txBody>
      </p:sp>
      <p:sp>
        <p:nvSpPr>
          <p:cNvPr id="13" name="text12" descr="sci-ppt:C2-E27-012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volume</a:t>
            </a:r>
          </a:p>
        </p:txBody>
      </p:sp>
      <p:sp>
        <p:nvSpPr>
          <p:cNvPr id="14" name="text13" descr="sci-ppt:C2-E27-013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This is a micron-scale teaching core</a:t>
            </a:r>
          </a:p>
        </p:txBody>
      </p:sp>
      <p:sp>
        <p:nvSpPr>
          <p:cNvPr id="15" name="text14" descr="sci-ppt:C2-E27-014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All later PFC phases share this mass inventory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8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C2-E28 | Physical-variable diagram</a:t>
            </a:r>
          </a:p>
        </p:txBody>
      </p:sp>
      <p:sp>
        <p:nvSpPr>
          <p:cNvPr id="3" name="rect2" descr="sci-ppt:C2-E28-002"/>
          <p:cNvSpPr/>
          <p:nvPr/>
        </p:nvSpPr>
        <p:spPr>
          <a:xfrm>
            <a:off x="91440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8-003"/>
          <p:cNvSpPr txBox="1"/>
          <p:nvPr/>
        </p:nvSpPr>
        <p:spPr>
          <a:xfrm>
            <a:off x="103632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Sensible heating</a:t>
            </a:r>
          </a:p>
        </p:txBody>
      </p:sp>
      <p:sp>
        <p:nvSpPr>
          <p:cNvPr id="5" name="rect4" descr="sci-ppt:C2-E28-004"/>
          <p:cNvSpPr/>
          <p:nvPr/>
        </p:nvSpPr>
        <p:spPr>
          <a:xfrm>
            <a:off x="445008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2-E28-005"/>
          <p:cNvSpPr txBox="1"/>
          <p:nvPr/>
        </p:nvSpPr>
        <p:spPr>
          <a:xfrm>
            <a:off x="457200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Latent conversion</a:t>
            </a:r>
          </a:p>
        </p:txBody>
      </p:sp>
      <p:sp>
        <p:nvSpPr>
          <p:cNvPr id="7" name="rect6" descr="sci-ppt:C2-E28-006"/>
          <p:cNvSpPr/>
          <p:nvPr/>
        </p:nvSpPr>
        <p:spPr>
          <a:xfrm>
            <a:off x="7985759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7" descr="sci-ppt:C2-E28-007"/>
          <p:cNvSpPr txBox="1"/>
          <p:nvPr/>
        </p:nvSpPr>
        <p:spPr>
          <a:xfrm>
            <a:off x="810768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Declared preparation</a:t>
            </a:r>
          </a:p>
        </p:txBody>
      </p:sp>
      <p:sp>
        <p:nvSpPr>
          <p:cNvPr id="9" name="text8" descr="sci-ppt:C2-E28-008"/>
          <p:cNvSpPr txBox="1"/>
          <p:nvPr/>
        </p:nvSpPr>
        <p:spPr>
          <a:xfrm>
            <a:off x="4023360" y="2255520"/>
            <a:ext cx="487680" cy="45354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4" b="0" i="0">
                <a:solidFill>
                  <a:srgbClr val="E7F0F3"/>
                </a:solidFill>
                <a:latin typeface="Arial"/>
              </a:rPr>
              <a:t>+</a:t>
            </a:r>
          </a:p>
        </p:txBody>
      </p:sp>
      <p:sp>
        <p:nvSpPr>
          <p:cNvPr id="10" name="text9" descr="sci-ppt:C2-E28-009"/>
          <p:cNvSpPr txBox="1"/>
          <p:nvPr/>
        </p:nvSpPr>
        <p:spPr>
          <a:xfrm>
            <a:off x="7559040" y="2255520"/>
            <a:ext cx="487680" cy="45354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4" b="0" i="0">
                <a:solidFill>
                  <a:srgbClr val="E7F0F3"/>
                </a:solidFill>
                <a:latin typeface="Arial"/>
              </a:rPr>
              <a:t>=</a:t>
            </a:r>
          </a:p>
        </p:txBody>
      </p:sp>
      <p:sp>
        <p:nvSpPr>
          <p:cNvPr id="11" name="text10" descr="sci-ppt:C2-E28-010"/>
          <p:cNvSpPr txBox="1"/>
          <p:nvPr/>
        </p:nvSpPr>
        <p:spPr>
          <a:xfrm>
            <a:off x="1219200" y="3840480"/>
            <a:ext cx="1036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Path estimate: retain separate loss and mechanical-work budgets.</a:t>
            </a:r>
          </a:p>
        </p:txBody>
      </p:sp>
      <p:sp>
        <p:nvSpPr>
          <p:cNvPr id="12" name="text11" descr="sci-ppt:C2-E28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m_PFC,0: finite core mass</a:t>
            </a:r>
          </a:p>
        </p:txBody>
      </p:sp>
      <p:sp>
        <p:nvSpPr>
          <p:cNvPr id="13" name="text12" descr="sci-ppt:C2-E28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c_p,d = 654 J/(kg K)</a:t>
            </a:r>
          </a:p>
        </p:txBody>
      </p:sp>
      <p:sp>
        <p:nvSpPr>
          <p:cNvPr id="14" name="text13" descr="sci-ppt:C2-E28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Q_sens = 16.7450 nJ</a:t>
            </a:r>
          </a:p>
        </p:txBody>
      </p:sp>
      <p:sp>
        <p:nvSpPr>
          <p:cNvPr id="15" name="text14" descr="sci-ppt:C2-E28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Q_prep = 97.8243 nJ</a:t>
            </a:r>
          </a:p>
        </p:txBody>
      </p:sp>
      <p:sp>
        <p:nvSpPr>
          <p:cNvPr id="16" name="text15" descr="sci-ppt:C2-E28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T₀ = 293 K → T_* = 323 K</a:t>
            </a:r>
          </a:p>
        </p:txBody>
      </p:sp>
      <p:sp>
        <p:nvSpPr>
          <p:cNvPr id="17" name="text16" descr="sci-ppt:C2-E28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L_v = 95 kJ/kg</a:t>
            </a:r>
          </a:p>
        </p:txBody>
      </p:sp>
      <p:sp>
        <p:nvSpPr>
          <p:cNvPr id="18" name="text17" descr="sci-ppt:C2-E28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Q_lat = 81.0793 nJ</a:t>
            </a:r>
          </a:p>
        </p:txBody>
      </p:sp>
      <p:sp>
        <p:nvSpPr>
          <p:cNvPr id="19" name="text18" descr="sci-ppt:C2-E28-018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Sensible plus latent preparation energy</a:t>
            </a:r>
          </a:p>
        </p:txBody>
      </p:sp>
      <p:sp>
        <p:nvSpPr>
          <p:cNvPr id="20" name="text19" descr="sci-ppt:C2-E28-019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Carrier losses and mechanical work require a broader energy ledger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9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C2-E29 | Physical-variable diagram</a:t>
            </a:r>
          </a:p>
        </p:txBody>
      </p:sp>
      <p:sp>
        <p:nvSpPr>
          <p:cNvPr id="3" name="rect2" descr="sci-ppt:C2-E29-002"/>
          <p:cNvSpPr/>
          <p:nvPr/>
        </p:nvSpPr>
        <p:spPr>
          <a:xfrm>
            <a:off x="91440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29-003"/>
          <p:cNvSpPr txBox="1"/>
          <p:nvPr/>
        </p:nvSpPr>
        <p:spPr>
          <a:xfrm>
            <a:off x="103632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heating</a:t>
            </a:r>
          </a:p>
        </p:txBody>
      </p:sp>
      <p:sp>
        <p:nvSpPr>
          <p:cNvPr id="5" name="rect4" descr="sci-ppt:C2-E29-004"/>
          <p:cNvSpPr/>
          <p:nvPr/>
        </p:nvSpPr>
        <p:spPr>
          <a:xfrm>
            <a:off x="445008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2-E29-005"/>
          <p:cNvSpPr txBox="1"/>
          <p:nvPr/>
        </p:nvSpPr>
        <p:spPr>
          <a:xfrm>
            <a:off x="457200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Latent conversion</a:t>
            </a:r>
          </a:p>
        </p:txBody>
      </p:sp>
      <p:sp>
        <p:nvSpPr>
          <p:cNvPr id="7" name="rect6" descr="sci-ppt:C2-E29-006"/>
          <p:cNvSpPr/>
          <p:nvPr/>
        </p:nvSpPr>
        <p:spPr>
          <a:xfrm>
            <a:off x="7985759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7" descr="sci-ppt:C2-E29-007"/>
          <p:cNvSpPr txBox="1"/>
          <p:nvPr/>
        </p:nvSpPr>
        <p:spPr>
          <a:xfrm>
            <a:off x="810768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Vapor heating</a:t>
            </a:r>
          </a:p>
        </p:txBody>
      </p:sp>
      <p:sp>
        <p:nvSpPr>
          <p:cNvPr id="9" name="text8" descr="sci-ppt:C2-E29-008"/>
          <p:cNvSpPr txBox="1"/>
          <p:nvPr/>
        </p:nvSpPr>
        <p:spPr>
          <a:xfrm>
            <a:off x="4023360" y="2255520"/>
            <a:ext cx="487680" cy="45354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4" b="0" i="0">
                <a:solidFill>
                  <a:srgbClr val="E7F0F3"/>
                </a:solidFill>
                <a:latin typeface="Arial"/>
              </a:rPr>
              <a:t>+</a:t>
            </a:r>
          </a:p>
        </p:txBody>
      </p:sp>
      <p:sp>
        <p:nvSpPr>
          <p:cNvPr id="10" name="text9" descr="sci-ppt:C2-E29-009"/>
          <p:cNvSpPr txBox="1"/>
          <p:nvPr/>
        </p:nvSpPr>
        <p:spPr>
          <a:xfrm>
            <a:off x="7559040" y="2255520"/>
            <a:ext cx="487680" cy="45354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4" b="0" i="0">
                <a:solidFill>
                  <a:srgbClr val="E7F0F3"/>
                </a:solidFill>
                <a:latin typeface="Arial"/>
              </a:rPr>
              <a:t>+</a:t>
            </a:r>
          </a:p>
        </p:txBody>
      </p:sp>
      <p:sp>
        <p:nvSpPr>
          <p:cNvPr id="11" name="text10" descr="sci-ppt:C2-E29-010"/>
          <p:cNvSpPr txBox="1"/>
          <p:nvPr/>
        </p:nvSpPr>
        <p:spPr>
          <a:xfrm>
            <a:off x="1219200" y="3840480"/>
            <a:ext cx="10363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Sum along one constant-pressure path gives Q_iso.</a:t>
            </a:r>
          </a:p>
        </p:txBody>
      </p:sp>
      <p:sp>
        <p:nvSpPr>
          <p:cNvPr id="12" name="text11" descr="sci-ppt:C2-E29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m_PFC,0: fixed compound mass</a:t>
            </a:r>
          </a:p>
        </p:txBody>
      </p:sp>
      <p:sp>
        <p:nvSpPr>
          <p:cNvPr id="13" name="text12" descr="sci-ppt:C2-E29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T₀ → T_sat: liquid heating</a:t>
            </a:r>
          </a:p>
        </p:txBody>
      </p:sp>
      <p:sp>
        <p:nvSpPr>
          <p:cNvPr id="14" name="text13" descr="sci-ppt:C2-E29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T_sat → T_*: vapor heating</a:t>
            </a:r>
          </a:p>
        </p:txBody>
      </p:sp>
      <p:sp>
        <p:nvSpPr>
          <p:cNvPr id="15" name="text14" descr="sci-ppt:C2-E29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L_v(T_sat,p): coexistence latent enthalpy</a:t>
            </a:r>
          </a:p>
        </p:txBody>
      </p:sp>
      <p:sp>
        <p:nvSpPr>
          <p:cNvPr id="16" name="text15" descr="sci-ppt:C2-E29-015"/>
          <p:cNvSpPr txBox="1"/>
          <p:nvPr/>
        </p:nvSpPr>
        <p:spPr>
          <a:xfrm>
            <a:off x="365760" y="6144768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T, dT: temperature integration</a:t>
            </a:r>
          </a:p>
        </p:txBody>
      </p:sp>
      <p:sp>
        <p:nvSpPr>
          <p:cNvPr id="17" name="text16" descr="sci-ppt:C2-E29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p: constant path pressure</a:t>
            </a:r>
          </a:p>
        </p:txBody>
      </p:sp>
      <p:sp>
        <p:nvSpPr>
          <p:cNvPr id="18" name="text17" descr="sci-ppt:C2-E29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T_sat: phase transition</a:t>
            </a:r>
          </a:p>
        </p:txBody>
      </p:sp>
      <p:sp>
        <p:nvSpPr>
          <p:cNvPr id="19" name="text18" descr="sci-ppt:C2-E29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c_p,l, c_p,v: phase heat capacities</a:t>
            </a:r>
          </a:p>
        </p:txBody>
      </p:sp>
      <p:sp>
        <p:nvSpPr>
          <p:cNvPr id="20" name="text19" descr="sci-ppt:C2-E29-019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Q_iso: total path heat</a:t>
            </a:r>
          </a:p>
        </p:txBody>
      </p:sp>
      <p:sp>
        <p:nvSpPr>
          <p:cNvPr id="21" name="text20" descr="sci-ppt:C2-E29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Latent enthalpy already contains the phase-transition flow work</a:t>
            </a:r>
          </a:p>
        </p:txBody>
      </p:sp>
      <p:sp>
        <p:nvSpPr>
          <p:cNvPr id="22" name="text21" descr="sci-ppt:C2-E29-021"/>
          <p:cNvSpPr txBox="1"/>
          <p:nvPr/>
        </p:nvSpPr>
        <p:spPr>
          <a:xfrm>
            <a:off x="365760" y="6925056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constant-property screen does not replace a calibrated enthalpy path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0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C2-E30 | Physical-variable diagram</a:t>
            </a:r>
          </a:p>
        </p:txBody>
      </p:sp>
      <p:sp>
        <p:nvSpPr>
          <p:cNvPr id="3" name="ellipse2" descr="sci-ppt:C2-E30-002"/>
          <p:cNvSpPr/>
          <p:nvPr/>
        </p:nvSpPr>
        <p:spPr>
          <a:xfrm>
            <a:off x="1877568" y="2304288"/>
            <a:ext cx="633984" cy="633984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30-003"/>
          <p:cNvSpPr/>
          <p:nvPr/>
        </p:nvSpPr>
        <p:spPr>
          <a:xfrm>
            <a:off x="6217920" y="914400"/>
            <a:ext cx="3413760" cy="34137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4" descr="sci-ppt:C2-E30-004"/>
          <p:cNvCxnSpPr/>
          <p:nvPr/>
        </p:nvCxnSpPr>
        <p:spPr>
          <a:xfrm>
            <a:off x="2804160" y="2621280"/>
            <a:ext cx="31089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5" descr="sci-ppt:C2-E30-005"/>
          <p:cNvSpPr txBox="1"/>
          <p:nvPr/>
        </p:nvSpPr>
        <p:spPr>
          <a:xfrm>
            <a:off x="1219200" y="329184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Liquid: a0 = 5 um</a:t>
            </a:r>
          </a:p>
        </p:txBody>
      </p:sp>
      <p:sp>
        <p:nvSpPr>
          <p:cNvPr id="7" name="text6" descr="sci-ppt:C2-E30-006"/>
          <p:cNvSpPr txBox="1"/>
          <p:nvPr/>
        </p:nvSpPr>
        <p:spPr>
          <a:xfrm>
            <a:off x="5974080" y="4450080"/>
            <a:ext cx="54864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Vapor: R_b,inv = 26.6827 um</a:t>
            </a:r>
          </a:p>
        </p:txBody>
      </p:sp>
      <p:sp>
        <p:nvSpPr>
          <p:cNvPr id="8" name="text7" descr="sci-ppt:C2-E30-007"/>
          <p:cNvSpPr txBox="1"/>
          <p:nvPr/>
        </p:nvSpPr>
        <p:spPr>
          <a:xfrm>
            <a:off x="1097280" y="975360"/>
            <a:ext cx="755904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Same PFC mass</a:t>
            </a:r>
          </a:p>
        </p:txBody>
      </p:sp>
      <p:sp>
        <p:nvSpPr>
          <p:cNvPr id="9" name="text8" descr="sci-ppt:C2-E30-008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a₀ = 5 μm: original liquid</a:t>
            </a:r>
          </a:p>
        </p:txBody>
      </p:sp>
      <p:sp>
        <p:nvSpPr>
          <p:cNvPr id="10" name="text9" descr="sci-ppt:C2-E30-009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m_PFC,0, ρ_d: original inventory</a:t>
            </a:r>
          </a:p>
        </p:txBody>
      </p:sp>
      <p:sp>
        <p:nvSpPr>
          <p:cNvPr id="11" name="text10" descr="sci-ppt:C2-E30-010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p_v,PFC = 100 kPa</a:t>
            </a:r>
          </a:p>
        </p:txBody>
      </p:sp>
      <p:sp>
        <p:nvSpPr>
          <p:cNvPr id="12" name="text11" descr="sci-ppt:C2-E30-011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151.9778: volume expansion</a:t>
            </a:r>
          </a:p>
        </p:txBody>
      </p:sp>
      <p:sp>
        <p:nvSpPr>
          <p:cNvPr id="13" name="text12" descr="sci-ppt:C2-E30-012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R_b,inv = 26.6827 μm: assumed vapor state</a:t>
            </a:r>
          </a:p>
        </p:txBody>
      </p:sp>
      <p:sp>
        <p:nvSpPr>
          <p:cNvPr id="14" name="text13" descr="sci-ppt:C2-E30-013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T_* = 323 K</a:t>
            </a:r>
          </a:p>
        </p:txBody>
      </p:sp>
      <p:sp>
        <p:nvSpPr>
          <p:cNvPr id="15" name="text14" descr="sci-ppt:C2-E30-014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 R_u: ideal mole relation</a:t>
            </a:r>
          </a:p>
        </p:txBody>
      </p:sp>
      <p:sp>
        <p:nvSpPr>
          <p:cNvPr id="16" name="text15" descr="sci-ppt:C2-E30-015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sphere geometry</a:t>
            </a:r>
          </a:p>
        </p:txBody>
      </p:sp>
      <p:sp>
        <p:nvSpPr>
          <p:cNvPr id="17" name="text16" descr="sci-ppt:C2-E30-016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Volume ratio is about 152; radius ratio about 5.34</a:t>
            </a:r>
          </a:p>
        </p:txBody>
      </p:sp>
      <p:sp>
        <p:nvSpPr>
          <p:cNvPr id="18" name="text17" descr="sci-ppt:C2-E30-017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Inventory radius is not dynamical R_max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C2-E31 | Physical-variable diagram</a:t>
            </a:r>
          </a:p>
        </p:txBody>
      </p:sp>
      <p:sp>
        <p:nvSpPr>
          <p:cNvPr id="3" name="rect2" descr="sci-ppt:C2-E31-002"/>
          <p:cNvSpPr/>
          <p:nvPr/>
        </p:nvSpPr>
        <p:spPr>
          <a:xfrm>
            <a:off x="85344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31-003"/>
          <p:cNvSpPr txBox="1"/>
          <p:nvPr/>
        </p:nvSpPr>
        <p:spPr>
          <a:xfrm>
            <a:off x="97536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Incident optical energy</a:t>
            </a:r>
          </a:p>
        </p:txBody>
      </p:sp>
      <p:sp>
        <p:nvSpPr>
          <p:cNvPr id="5" name="rect4" descr="sci-ppt:C2-E31-004"/>
          <p:cNvSpPr/>
          <p:nvPr/>
        </p:nvSpPr>
        <p:spPr>
          <a:xfrm>
            <a:off x="445008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2-E31-005"/>
          <p:cNvSpPr txBox="1"/>
          <p:nvPr/>
        </p:nvSpPr>
        <p:spPr>
          <a:xfrm>
            <a:off x="457200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Absorbed: 223.848 nJ</a:t>
            </a:r>
          </a:p>
        </p:txBody>
      </p:sp>
      <p:sp>
        <p:nvSpPr>
          <p:cNvPr id="7" name="rect6" descr="sci-ppt:C2-E31-006"/>
          <p:cNvSpPr/>
          <p:nvPr/>
        </p:nvSpPr>
        <p:spPr>
          <a:xfrm>
            <a:off x="8046720" y="1828800"/>
            <a:ext cx="30480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7" descr="sci-ppt:C2-E31-007"/>
          <p:cNvSpPr txBox="1"/>
          <p:nvPr/>
        </p:nvSpPr>
        <p:spPr>
          <a:xfrm>
            <a:off x="8168640" y="195072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PFC prep: 97.8243 nJ</a:t>
            </a:r>
          </a:p>
        </p:txBody>
      </p:sp>
      <p:cxnSp>
        <p:nvCxnSpPr>
          <p:cNvPr id="9" name="arrow8" descr="sci-ppt:C2-E31-008"/>
          <p:cNvCxnSpPr/>
          <p:nvPr/>
        </p:nvCxnSpPr>
        <p:spPr>
          <a:xfrm>
            <a:off x="3962399" y="2438400"/>
            <a:ext cx="365761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arrow9" descr="sci-ppt:C2-E31-009"/>
          <p:cNvCxnSpPr/>
          <p:nvPr/>
        </p:nvCxnSpPr>
        <p:spPr>
          <a:xfrm>
            <a:off x="7559040" y="2438400"/>
            <a:ext cx="36575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1" name="text10" descr="sci-ppt:C2-E31-010"/>
          <p:cNvSpPr txBox="1"/>
          <p:nvPr/>
        </p:nvSpPr>
        <p:spPr>
          <a:xfrm>
            <a:off x="1219200" y="3840480"/>
            <a:ext cx="10363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Required thermal-transfer fraction: at least 0.437012.</a:t>
            </a:r>
          </a:p>
        </p:txBody>
      </p:sp>
      <p:sp>
        <p:nvSpPr>
          <p:cNvPr id="12" name="text11" descr="sci-ppt:C2-E31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E_L = 1 μJ: incident</a:t>
            </a:r>
          </a:p>
        </p:txBody>
      </p:sp>
      <p:sp>
        <p:nvSpPr>
          <p:cNvPr id="13" name="text12" descr="sci-ppt:C2-E31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A_λ = 0.568909: absorption</a:t>
            </a:r>
          </a:p>
        </p:txBody>
      </p:sp>
      <p:sp>
        <p:nvSpPr>
          <p:cNvPr id="14" name="text13" descr="sci-ppt:C2-E31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Q_prep = 97.8243 nJ: specified PFC preparation</a:t>
            </a:r>
          </a:p>
        </p:txBody>
      </p:sp>
      <p:sp>
        <p:nvSpPr>
          <p:cNvPr id="15" name="text14" descr="sci-ppt:C2-E31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b_a = 10 μm; w = 20 μm</a:t>
            </a:r>
          </a:p>
        </p:txBody>
      </p:sp>
      <p:sp>
        <p:nvSpPr>
          <p:cNvPr id="16" name="text15" descr="sci-ppt:C2-E31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f_geo = 0.393469: interception</a:t>
            </a:r>
          </a:p>
        </p:txBody>
      </p:sp>
      <p:sp>
        <p:nvSpPr>
          <p:cNvPr id="17" name="text16" descr="sci-ppt:C2-E31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E_abs = 223.848 nJ: absorber heat</a:t>
            </a:r>
          </a:p>
        </p:txBody>
      </p:sp>
      <p:sp>
        <p:nvSpPr>
          <p:cNvPr id="18" name="text17" descr="sci-ppt:C2-E31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η_th,min = 0.437012</a:t>
            </a:r>
          </a:p>
        </p:txBody>
      </p:sp>
      <p:sp>
        <p:nvSpPr>
          <p:cNvPr id="19" name="text18" descr="sci-ppt:C2-E31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μ_a = 2×10⁵ m⁻¹; h_a = 5 μm; ℛ_λ = 0.10</a:t>
            </a:r>
          </a:p>
        </p:txBody>
      </p:sp>
      <p:sp>
        <p:nvSpPr>
          <p:cNvPr id="20" name="text19" descr="sci-ppt:C2-E31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Not all absorbed energy reaches the PFC</a:t>
            </a:r>
          </a:p>
        </p:txBody>
      </p:sp>
      <p:sp>
        <p:nvSpPr>
          <p:cNvPr id="21" name="text20" descr="sci-ppt:C2-E31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 surplus absorber budget is not evidence of nucleation or jetting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2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C2-E32 | Physical-variable diagram</a:t>
            </a:r>
          </a:p>
        </p:txBody>
      </p:sp>
      <p:sp>
        <p:nvSpPr>
          <p:cNvPr id="3" name="rect2" descr="sci-ppt:C2-E32-002"/>
          <p:cNvSpPr/>
          <p:nvPr/>
        </p:nvSpPr>
        <p:spPr>
          <a:xfrm>
            <a:off x="3779520" y="1341120"/>
            <a:ext cx="3169920" cy="2743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32-003"/>
          <p:cNvCxnSpPr/>
          <p:nvPr/>
        </p:nvCxnSpPr>
        <p:spPr>
          <a:xfrm>
            <a:off x="1097280" y="2499360"/>
            <a:ext cx="25603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arrow4" descr="sci-ppt:C2-E32-004"/>
          <p:cNvCxnSpPr/>
          <p:nvPr/>
        </p:nvCxnSpPr>
        <p:spPr>
          <a:xfrm>
            <a:off x="7010400" y="2499360"/>
            <a:ext cx="2621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32-005"/>
          <p:cNvCxnSpPr/>
          <p:nvPr/>
        </p:nvCxnSpPr>
        <p:spPr>
          <a:xfrm flipH="1" flipV="1">
            <a:off x="2316480" y="1402080"/>
            <a:ext cx="146304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32-006"/>
          <p:cNvSpPr txBox="1"/>
          <p:nvPr/>
        </p:nvSpPr>
        <p:spPr>
          <a:xfrm>
            <a:off x="853440" y="292608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Incident light</a:t>
            </a:r>
          </a:p>
        </p:txBody>
      </p:sp>
      <p:sp>
        <p:nvSpPr>
          <p:cNvPr id="8" name="text7" descr="sci-ppt:C2-E32-007"/>
          <p:cNvSpPr txBox="1"/>
          <p:nvPr/>
        </p:nvSpPr>
        <p:spPr>
          <a:xfrm>
            <a:off x="853440" y="975360"/>
            <a:ext cx="28041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Reflection</a:t>
            </a:r>
          </a:p>
        </p:txBody>
      </p:sp>
      <p:sp>
        <p:nvSpPr>
          <p:cNvPr id="9" name="text8" descr="sci-ppt:C2-E32-008"/>
          <p:cNvSpPr txBox="1"/>
          <p:nvPr/>
        </p:nvSpPr>
        <p:spPr>
          <a:xfrm>
            <a:off x="4084320" y="3048000"/>
            <a:ext cx="30480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Absorber: Q_abs</a:t>
            </a:r>
          </a:p>
        </p:txBody>
      </p:sp>
      <p:sp>
        <p:nvSpPr>
          <p:cNvPr id="10" name="text9" descr="sci-ppt:C2-E32-009"/>
          <p:cNvSpPr txBox="1"/>
          <p:nvPr/>
        </p:nvSpPr>
        <p:spPr>
          <a:xfrm>
            <a:off x="7315200" y="292608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Transmitted light</a:t>
            </a:r>
          </a:p>
        </p:txBody>
      </p:sp>
      <p:cxnSp>
        <p:nvCxnSpPr>
          <p:cNvPr id="11" name="arrow10" descr="sci-ppt:C2-E32-010"/>
          <p:cNvCxnSpPr/>
          <p:nvPr/>
        </p:nvCxnSpPr>
        <p:spPr>
          <a:xfrm>
            <a:off x="4023360" y="37795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2-E32-011"/>
          <p:cNvSpPr txBox="1"/>
          <p:nvPr/>
        </p:nvSpPr>
        <p:spPr>
          <a:xfrm>
            <a:off x="4511040" y="402336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+z; thickness h_a</a:t>
            </a:r>
          </a:p>
        </p:txBody>
      </p:sp>
      <p:sp>
        <p:nvSpPr>
          <p:cNvPr id="13" name="text12" descr="sci-ppt:C2-E32-01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E_L, w, F₀: incident beam</a:t>
            </a:r>
          </a:p>
        </p:txBody>
      </p:sp>
      <p:sp>
        <p:nvSpPr>
          <p:cNvPr id="14" name="text13" descr="sci-ppt:C2-E32-01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E_abs: absorber budget</a:t>
            </a:r>
          </a:p>
        </p:txBody>
      </p:sp>
      <p:sp>
        <p:nvSpPr>
          <p:cNvPr id="15" name="text14" descr="sci-ppt:C2-E32-014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α, τ_h: heat propagation</a:t>
            </a:r>
          </a:p>
        </p:txBody>
      </p:sp>
      <p:sp>
        <p:nvSpPr>
          <p:cNvPr id="16" name="text15" descr="sci-ppt:C2-E32-015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Gaussian area factor</a:t>
            </a:r>
          </a:p>
        </p:txBody>
      </p:sp>
      <p:sp>
        <p:nvSpPr>
          <p:cNvPr id="17" name="text16" descr="sci-ppt:C2-E32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f_geo, A_λ: interception and absorption</a:t>
            </a:r>
          </a:p>
        </p:txBody>
      </p:sp>
      <p:sp>
        <p:nvSpPr>
          <p:cNvPr id="18" name="text17" descr="sci-ppt:C2-E32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L_h: distance to PFC</a:t>
            </a:r>
          </a:p>
        </p:txBody>
      </p:sp>
      <p:sp>
        <p:nvSpPr>
          <p:cNvPr id="19" name="text18" descr="sci-ppt:C2-E32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t_th, δ_T: thermal tests</a:t>
            </a:r>
          </a:p>
        </p:txBody>
      </p:sp>
      <p:sp>
        <p:nvSpPr>
          <p:cNvPr id="20" name="text19" descr="sci-ppt:C2-E32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Light enters the absorber first</a:t>
            </a:r>
          </a:p>
        </p:txBody>
      </p:sp>
      <p:sp>
        <p:nvSpPr>
          <p:cNvPr id="21" name="text20" descr="sci-ppt:C2-E32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Heat then travels to the phase-changing material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3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C2-E33 | Physical-variable diagram</a:t>
            </a:r>
          </a:p>
        </p:txBody>
      </p:sp>
      <p:sp>
        <p:nvSpPr>
          <p:cNvPr id="3" name="ellipse2" descr="sci-ppt:C2-E33-002"/>
          <p:cNvSpPr/>
          <p:nvPr/>
        </p:nvSpPr>
        <p:spPr>
          <a:xfrm>
            <a:off x="1341120" y="128016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33-003"/>
          <p:cNvSpPr/>
          <p:nvPr/>
        </p:nvSpPr>
        <p:spPr>
          <a:xfrm>
            <a:off x="2389632" y="2328672"/>
            <a:ext cx="707136" cy="707136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33-004"/>
          <p:cNvSpPr txBox="1"/>
          <p:nvPr/>
        </p:nvSpPr>
        <p:spPr>
          <a:xfrm>
            <a:off x="1706880" y="8534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Finite PFC liquid: p_d</a:t>
            </a:r>
          </a:p>
        </p:txBody>
      </p:sp>
      <p:sp>
        <p:nvSpPr>
          <p:cNvPr id="6" name="text5" descr="sci-ppt:C2-E33-005"/>
          <p:cNvSpPr txBox="1"/>
          <p:nvPr/>
        </p:nvSpPr>
        <p:spPr>
          <a:xfrm>
            <a:off x="1341120" y="4267200"/>
            <a:ext cx="560832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Inner interface σ_vp; outer σ_pc</a:t>
            </a:r>
          </a:p>
        </p:txBody>
      </p:sp>
      <p:cxnSp>
        <p:nvCxnSpPr>
          <p:cNvPr id="7" name="arrow6" descr="sci-ppt:C2-E33-006"/>
          <p:cNvCxnSpPr/>
          <p:nvPr/>
        </p:nvCxnSpPr>
        <p:spPr>
          <a:xfrm>
            <a:off x="6705600" y="3901440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7" descr="sci-ppt:C2-E33-007"/>
          <p:cNvCxnSpPr/>
          <p:nvPr/>
        </p:nvCxnSpPr>
        <p:spPr>
          <a:xfrm flipV="1">
            <a:off x="6705600" y="1463040"/>
            <a:ext cx="0" cy="24384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8" descr="sci-ppt:C2-E33-008"/>
          <p:cNvSpPr txBox="1"/>
          <p:nvPr/>
        </p:nvSpPr>
        <p:spPr>
          <a:xfrm>
            <a:off x="9997440" y="402336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</a:t>
            </a:r>
          </a:p>
        </p:txBody>
      </p:sp>
      <p:sp>
        <p:nvSpPr>
          <p:cNvPr id="10" name="text9" descr="sci-ppt:C2-E33-009"/>
          <p:cNvSpPr txBox="1"/>
          <p:nvPr/>
        </p:nvSpPr>
        <p:spPr>
          <a:xfrm>
            <a:off x="6583680" y="109728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11" name="line10" descr="sci-ppt:C2-E33-010"/>
          <p:cNvCxnSpPr/>
          <p:nvPr/>
        </p:nvCxnSpPr>
        <p:spPr>
          <a:xfrm flipV="1">
            <a:off x="6766560" y="3896425"/>
            <a:ext cx="100584" cy="50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33-011"/>
          <p:cNvCxnSpPr/>
          <p:nvPr/>
        </p:nvCxnSpPr>
        <p:spPr>
          <a:xfrm flipV="1">
            <a:off x="6867144" y="3881894"/>
            <a:ext cx="100584" cy="145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33-012"/>
          <p:cNvCxnSpPr/>
          <p:nvPr/>
        </p:nvCxnSpPr>
        <p:spPr>
          <a:xfrm flipV="1">
            <a:off x="6967728" y="3858620"/>
            <a:ext cx="100584" cy="23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33-013"/>
          <p:cNvCxnSpPr/>
          <p:nvPr/>
        </p:nvCxnSpPr>
        <p:spPr>
          <a:xfrm flipV="1">
            <a:off x="7068312" y="3827373"/>
            <a:ext cx="100584" cy="312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33-014"/>
          <p:cNvCxnSpPr/>
          <p:nvPr/>
        </p:nvCxnSpPr>
        <p:spPr>
          <a:xfrm flipV="1">
            <a:off x="7168896" y="3788925"/>
            <a:ext cx="100584" cy="384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33-015"/>
          <p:cNvCxnSpPr/>
          <p:nvPr/>
        </p:nvCxnSpPr>
        <p:spPr>
          <a:xfrm flipV="1">
            <a:off x="7269480" y="3744048"/>
            <a:ext cx="100584" cy="448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33-016"/>
          <p:cNvCxnSpPr/>
          <p:nvPr/>
        </p:nvCxnSpPr>
        <p:spPr>
          <a:xfrm flipV="1">
            <a:off x="7370064" y="3693514"/>
            <a:ext cx="100584" cy="505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33-017"/>
          <p:cNvCxnSpPr/>
          <p:nvPr/>
        </p:nvCxnSpPr>
        <p:spPr>
          <a:xfrm flipV="1">
            <a:off x="7470648" y="3638092"/>
            <a:ext cx="100583" cy="554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33-018"/>
          <p:cNvCxnSpPr/>
          <p:nvPr/>
        </p:nvCxnSpPr>
        <p:spPr>
          <a:xfrm flipV="1">
            <a:off x="7571231" y="3578556"/>
            <a:ext cx="100585" cy="59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33-019"/>
          <p:cNvCxnSpPr/>
          <p:nvPr/>
        </p:nvCxnSpPr>
        <p:spPr>
          <a:xfrm flipV="1">
            <a:off x="7671816" y="3515677"/>
            <a:ext cx="100584" cy="628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33-020"/>
          <p:cNvCxnSpPr/>
          <p:nvPr/>
        </p:nvCxnSpPr>
        <p:spPr>
          <a:xfrm flipV="1">
            <a:off x="7772400" y="3450226"/>
            <a:ext cx="100583" cy="654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33-021"/>
          <p:cNvCxnSpPr/>
          <p:nvPr/>
        </p:nvCxnSpPr>
        <p:spPr>
          <a:xfrm flipV="1">
            <a:off x="7872983" y="3382975"/>
            <a:ext cx="100585" cy="672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33-022"/>
          <p:cNvCxnSpPr/>
          <p:nvPr/>
        </p:nvCxnSpPr>
        <p:spPr>
          <a:xfrm flipV="1">
            <a:off x="7973568" y="3314695"/>
            <a:ext cx="100584" cy="682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33-023"/>
          <p:cNvCxnSpPr/>
          <p:nvPr/>
        </p:nvCxnSpPr>
        <p:spPr>
          <a:xfrm flipV="1">
            <a:off x="8074152" y="3246158"/>
            <a:ext cx="100584" cy="685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33-024"/>
          <p:cNvCxnSpPr/>
          <p:nvPr/>
        </p:nvCxnSpPr>
        <p:spPr>
          <a:xfrm flipV="1">
            <a:off x="8174736" y="3178135"/>
            <a:ext cx="100584" cy="680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33-025"/>
          <p:cNvCxnSpPr/>
          <p:nvPr/>
        </p:nvCxnSpPr>
        <p:spPr>
          <a:xfrm flipV="1">
            <a:off x="8275320" y="3111398"/>
            <a:ext cx="100584" cy="667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33-026"/>
          <p:cNvCxnSpPr/>
          <p:nvPr/>
        </p:nvCxnSpPr>
        <p:spPr>
          <a:xfrm flipV="1">
            <a:off x="8375904" y="3046718"/>
            <a:ext cx="100584" cy="64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33-027"/>
          <p:cNvCxnSpPr/>
          <p:nvPr/>
        </p:nvCxnSpPr>
        <p:spPr>
          <a:xfrm flipV="1">
            <a:off x="8476488" y="2984868"/>
            <a:ext cx="100584" cy="618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33-028"/>
          <p:cNvCxnSpPr/>
          <p:nvPr/>
        </p:nvCxnSpPr>
        <p:spPr>
          <a:xfrm flipV="1">
            <a:off x="8577072" y="2926618"/>
            <a:ext cx="100584" cy="582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33-029"/>
          <p:cNvCxnSpPr/>
          <p:nvPr/>
        </p:nvCxnSpPr>
        <p:spPr>
          <a:xfrm flipV="1">
            <a:off x="8677656" y="2872740"/>
            <a:ext cx="100584" cy="538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33-030"/>
          <p:cNvCxnSpPr/>
          <p:nvPr/>
        </p:nvCxnSpPr>
        <p:spPr>
          <a:xfrm flipV="1">
            <a:off x="8778240" y="2824005"/>
            <a:ext cx="100584" cy="487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33-031"/>
          <p:cNvCxnSpPr/>
          <p:nvPr/>
        </p:nvCxnSpPr>
        <p:spPr>
          <a:xfrm flipV="1">
            <a:off x="8878824" y="2781185"/>
            <a:ext cx="100584" cy="42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33-032"/>
          <p:cNvCxnSpPr/>
          <p:nvPr/>
        </p:nvCxnSpPr>
        <p:spPr>
          <a:xfrm flipV="1">
            <a:off x="8979408" y="2745052"/>
            <a:ext cx="100584" cy="361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33-033"/>
          <p:cNvCxnSpPr/>
          <p:nvPr/>
        </p:nvCxnSpPr>
        <p:spPr>
          <a:xfrm flipV="1">
            <a:off x="9079992" y="2716377"/>
            <a:ext cx="100584" cy="286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33-034"/>
          <p:cNvCxnSpPr/>
          <p:nvPr/>
        </p:nvCxnSpPr>
        <p:spPr>
          <a:xfrm flipV="1">
            <a:off x="9180576" y="2695932"/>
            <a:ext cx="100584" cy="20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33-035"/>
          <p:cNvCxnSpPr/>
          <p:nvPr/>
        </p:nvCxnSpPr>
        <p:spPr>
          <a:xfrm flipV="1">
            <a:off x="9281160" y="2684487"/>
            <a:ext cx="100584" cy="11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33-036"/>
          <p:cNvCxnSpPr/>
          <p:nvPr/>
        </p:nvCxnSpPr>
        <p:spPr>
          <a:xfrm flipV="1">
            <a:off x="9381744" y="2682816"/>
            <a:ext cx="100584" cy="16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33-037"/>
          <p:cNvCxnSpPr/>
          <p:nvPr/>
        </p:nvCxnSpPr>
        <p:spPr>
          <a:xfrm>
            <a:off x="9482328" y="2682816"/>
            <a:ext cx="100584" cy="88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33-038"/>
          <p:cNvCxnSpPr/>
          <p:nvPr/>
        </p:nvCxnSpPr>
        <p:spPr>
          <a:xfrm>
            <a:off x="9582912" y="2691688"/>
            <a:ext cx="100584" cy="201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33-039"/>
          <p:cNvCxnSpPr/>
          <p:nvPr/>
        </p:nvCxnSpPr>
        <p:spPr>
          <a:xfrm>
            <a:off x="9683496" y="2711877"/>
            <a:ext cx="100584" cy="322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33-040"/>
          <p:cNvCxnSpPr/>
          <p:nvPr/>
        </p:nvCxnSpPr>
        <p:spPr>
          <a:xfrm>
            <a:off x="9784080" y="2744152"/>
            <a:ext cx="100584" cy="451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33-041"/>
          <p:cNvCxnSpPr/>
          <p:nvPr/>
        </p:nvCxnSpPr>
        <p:spPr>
          <a:xfrm>
            <a:off x="9884664" y="2789286"/>
            <a:ext cx="100584" cy="587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33-042"/>
          <p:cNvCxnSpPr/>
          <p:nvPr/>
        </p:nvCxnSpPr>
        <p:spPr>
          <a:xfrm>
            <a:off x="9985248" y="2848051"/>
            <a:ext cx="100584" cy="731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33-043"/>
          <p:cNvCxnSpPr/>
          <p:nvPr/>
        </p:nvCxnSpPr>
        <p:spPr>
          <a:xfrm>
            <a:off x="10085832" y="2921217"/>
            <a:ext cx="100584" cy="883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33-044"/>
          <p:cNvCxnSpPr/>
          <p:nvPr/>
        </p:nvCxnSpPr>
        <p:spPr>
          <a:xfrm>
            <a:off x="10186416" y="3009557"/>
            <a:ext cx="100584" cy="1042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33-045"/>
          <p:cNvCxnSpPr/>
          <p:nvPr/>
        </p:nvCxnSpPr>
        <p:spPr>
          <a:xfrm>
            <a:off x="10287000" y="3113841"/>
            <a:ext cx="100584" cy="1210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33-046"/>
          <p:cNvCxnSpPr/>
          <p:nvPr/>
        </p:nvCxnSpPr>
        <p:spPr>
          <a:xfrm>
            <a:off x="10387584" y="3234842"/>
            <a:ext cx="100584" cy="1384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33-047"/>
          <p:cNvCxnSpPr/>
          <p:nvPr/>
        </p:nvCxnSpPr>
        <p:spPr>
          <a:xfrm>
            <a:off x="10488168" y="3373331"/>
            <a:ext cx="100584" cy="1567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33-048"/>
          <p:cNvCxnSpPr/>
          <p:nvPr/>
        </p:nvCxnSpPr>
        <p:spPr>
          <a:xfrm>
            <a:off x="10588752" y="3530079"/>
            <a:ext cx="100584" cy="1757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33-049"/>
          <p:cNvCxnSpPr/>
          <p:nvPr/>
        </p:nvCxnSpPr>
        <p:spPr>
          <a:xfrm>
            <a:off x="10689336" y="3705858"/>
            <a:ext cx="100584" cy="1955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1" name="text50" descr="sci-ppt:C2-E33-050"/>
          <p:cNvSpPr txBox="1"/>
          <p:nvPr/>
        </p:nvSpPr>
        <p:spPr>
          <a:xfrm>
            <a:off x="8595360" y="21945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r*, W*</a:t>
            </a:r>
          </a:p>
        </p:txBody>
      </p:sp>
      <p:sp>
        <p:nvSpPr>
          <p:cNvPr id="52" name="text51" descr="sci-ppt:C2-E33-05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a: core outer radius</a:t>
            </a:r>
          </a:p>
        </p:txBody>
      </p:sp>
      <p:sp>
        <p:nvSpPr>
          <p:cNvPr id="53" name="text52" descr="sci-ppt:C2-E33-05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Π_shell, p_c: confinement</a:t>
            </a:r>
          </a:p>
        </p:txBody>
      </p:sp>
      <p:sp>
        <p:nvSpPr>
          <p:cNvPr id="54" name="text53" descr="sci-ppt:C2-E33-05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T_i, p_sat,PFC: thermal vapor driving</a:t>
            </a:r>
          </a:p>
        </p:txBody>
      </p:sp>
      <p:sp>
        <p:nvSpPr>
          <p:cNvPr id="55" name="text54" descr="sci-ppt:C2-E33-05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r_*, W_*: internal barrier</a:t>
            </a:r>
          </a:p>
        </p:txBody>
      </p:sp>
      <p:sp>
        <p:nvSpPr>
          <p:cNvPr id="56" name="text55" descr="sci-ppt:C2-E33-055"/>
          <p:cNvSpPr txBox="1"/>
          <p:nvPr/>
        </p:nvSpPr>
        <p:spPr>
          <a:xfrm>
            <a:off x="365760" y="6144768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factors</a:t>
            </a:r>
          </a:p>
        </p:txBody>
      </p:sp>
      <p:sp>
        <p:nvSpPr>
          <p:cNvPr id="57" name="text56" descr="sci-ppt:C2-E33-05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σ_pc: outer interface</a:t>
            </a:r>
          </a:p>
        </p:txBody>
      </p:sp>
      <p:sp>
        <p:nvSpPr>
          <p:cNvPr id="58" name="text57" descr="sci-ppt:C2-E33-05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p_d: core liquid state</a:t>
            </a:r>
          </a:p>
        </p:txBody>
      </p:sp>
      <p:sp>
        <p:nvSpPr>
          <p:cNvPr id="59" name="text58" descr="sci-ppt:C2-E33-05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Δp_n: net driving</a:t>
            </a:r>
          </a:p>
        </p:txBody>
      </p:sp>
      <p:sp>
        <p:nvSpPr>
          <p:cNvPr id="60" name="text59" descr="sci-ppt:C2-E33-059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σ_vp: internal nucleus interface</a:t>
            </a:r>
          </a:p>
        </p:txBody>
      </p:sp>
      <p:sp>
        <p:nvSpPr>
          <p:cNvPr id="61" name="text60" descr="sci-ppt:C2-E33-06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Outer confinement and internal barrier are separate</a:t>
            </a:r>
          </a:p>
        </p:txBody>
      </p:sp>
      <p:sp>
        <p:nvSpPr>
          <p:cNvPr id="62" name="text61" descr="sci-ppt:C2-E33-061"/>
          <p:cNvSpPr txBox="1"/>
          <p:nvPr/>
        </p:nvSpPr>
        <p:spPr>
          <a:xfrm>
            <a:off x="365760" y="6925056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Positive vapor driving is necessary in this control but not a guarantee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C2-E34 | Physical-variable diagram</a:t>
            </a:r>
          </a:p>
        </p:txBody>
      </p:sp>
      <p:sp>
        <p:nvSpPr>
          <p:cNvPr id="3" name="rect2" descr="sci-ppt:C2-E34-002"/>
          <p:cNvSpPr/>
          <p:nvPr/>
        </p:nvSpPr>
        <p:spPr>
          <a:xfrm>
            <a:off x="1097280" y="1706880"/>
            <a:ext cx="390144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34-003"/>
          <p:cNvSpPr txBox="1"/>
          <p:nvPr/>
        </p:nvSpPr>
        <p:spPr>
          <a:xfrm>
            <a:off x="1219200" y="1828800"/>
            <a:ext cx="37185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Local rate J(T,p) in V_d</a:t>
            </a:r>
          </a:p>
        </p:txBody>
      </p:sp>
      <p:cxnSp>
        <p:nvCxnSpPr>
          <p:cNvPr id="5" name="arrow4" descr="sci-ppt:C2-E34-004"/>
          <p:cNvCxnSpPr/>
          <p:nvPr/>
        </p:nvCxnSpPr>
        <p:spPr>
          <a:xfrm>
            <a:off x="5120640" y="2377440"/>
            <a:ext cx="1097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34-005"/>
          <p:cNvCxnSpPr/>
          <p:nvPr/>
        </p:nvCxnSpPr>
        <p:spPr>
          <a:xfrm>
            <a:off x="6705600" y="3962399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arrow6" descr="sci-ppt:C2-E34-006"/>
          <p:cNvCxnSpPr/>
          <p:nvPr/>
        </p:nvCxnSpPr>
        <p:spPr>
          <a:xfrm flipV="1">
            <a:off x="6705600" y="1524000"/>
            <a:ext cx="0" cy="243839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34-007"/>
          <p:cNvSpPr txBox="1"/>
          <p:nvPr/>
        </p:nvSpPr>
        <p:spPr>
          <a:xfrm>
            <a:off x="999744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Integrated hazard</a:t>
            </a:r>
          </a:p>
        </p:txBody>
      </p:sp>
      <p:sp>
        <p:nvSpPr>
          <p:cNvPr id="9" name="text8" descr="sci-ppt:C2-E34-008"/>
          <p:cNvSpPr txBox="1"/>
          <p:nvPr/>
        </p:nvSpPr>
        <p:spPr>
          <a:xfrm>
            <a:off x="6583680" y="115824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P_act</a:t>
            </a:r>
          </a:p>
        </p:txBody>
      </p:sp>
      <p:cxnSp>
        <p:nvCxnSpPr>
          <p:cNvPr id="10" name="line9" descr="sci-ppt:C2-E34-009"/>
          <p:cNvCxnSpPr/>
          <p:nvPr/>
        </p:nvCxnSpPr>
        <p:spPr>
          <a:xfrm flipV="1">
            <a:off x="6766560" y="3716163"/>
            <a:ext cx="114953" cy="1852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34-010"/>
          <p:cNvCxnSpPr/>
          <p:nvPr/>
        </p:nvCxnSpPr>
        <p:spPr>
          <a:xfrm flipV="1">
            <a:off x="6881513" y="3546106"/>
            <a:ext cx="114953" cy="17005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34-011"/>
          <p:cNvCxnSpPr/>
          <p:nvPr/>
        </p:nvCxnSpPr>
        <p:spPr>
          <a:xfrm flipV="1">
            <a:off x="6996466" y="3390018"/>
            <a:ext cx="114953" cy="1560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34-012"/>
          <p:cNvCxnSpPr/>
          <p:nvPr/>
        </p:nvCxnSpPr>
        <p:spPr>
          <a:xfrm flipV="1">
            <a:off x="7111419" y="3246751"/>
            <a:ext cx="114953" cy="1432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34-013"/>
          <p:cNvCxnSpPr/>
          <p:nvPr/>
        </p:nvCxnSpPr>
        <p:spPr>
          <a:xfrm flipV="1">
            <a:off x="7226372" y="3115253"/>
            <a:ext cx="114953" cy="1314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34-014"/>
          <p:cNvCxnSpPr/>
          <p:nvPr/>
        </p:nvCxnSpPr>
        <p:spPr>
          <a:xfrm flipV="1">
            <a:off x="7341325" y="2994557"/>
            <a:ext cx="114953" cy="1206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34-015"/>
          <p:cNvCxnSpPr/>
          <p:nvPr/>
        </p:nvCxnSpPr>
        <p:spPr>
          <a:xfrm flipV="1">
            <a:off x="7456278" y="2883775"/>
            <a:ext cx="114953" cy="1107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34-016"/>
          <p:cNvCxnSpPr/>
          <p:nvPr/>
        </p:nvCxnSpPr>
        <p:spPr>
          <a:xfrm flipV="1">
            <a:off x="7571231" y="2782093"/>
            <a:ext cx="114954" cy="1016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34-017"/>
          <p:cNvCxnSpPr/>
          <p:nvPr/>
        </p:nvCxnSpPr>
        <p:spPr>
          <a:xfrm flipV="1">
            <a:off x="7686185" y="2688764"/>
            <a:ext cx="114953" cy="933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34-018"/>
          <p:cNvCxnSpPr/>
          <p:nvPr/>
        </p:nvCxnSpPr>
        <p:spPr>
          <a:xfrm flipV="1">
            <a:off x="7801138" y="2603101"/>
            <a:ext cx="114953" cy="856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34-019"/>
          <p:cNvCxnSpPr/>
          <p:nvPr/>
        </p:nvCxnSpPr>
        <p:spPr>
          <a:xfrm flipV="1">
            <a:off x="7916091" y="2524475"/>
            <a:ext cx="114953" cy="786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34-020"/>
          <p:cNvCxnSpPr/>
          <p:nvPr/>
        </p:nvCxnSpPr>
        <p:spPr>
          <a:xfrm flipV="1">
            <a:off x="8031044" y="2452307"/>
            <a:ext cx="114953" cy="7216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34-021"/>
          <p:cNvCxnSpPr/>
          <p:nvPr/>
        </p:nvCxnSpPr>
        <p:spPr>
          <a:xfrm flipV="1">
            <a:off x="8145997" y="2386067"/>
            <a:ext cx="114953" cy="662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34-022"/>
          <p:cNvCxnSpPr/>
          <p:nvPr/>
        </p:nvCxnSpPr>
        <p:spPr>
          <a:xfrm flipV="1">
            <a:off x="8260950" y="2325269"/>
            <a:ext cx="114954" cy="6079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34-023"/>
          <p:cNvCxnSpPr/>
          <p:nvPr/>
        </p:nvCxnSpPr>
        <p:spPr>
          <a:xfrm flipV="1">
            <a:off x="8375904" y="2269465"/>
            <a:ext cx="114953" cy="558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34-024"/>
          <p:cNvCxnSpPr/>
          <p:nvPr/>
        </p:nvCxnSpPr>
        <p:spPr>
          <a:xfrm flipV="1">
            <a:off x="8490857" y="2218245"/>
            <a:ext cx="114953" cy="512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34-025"/>
          <p:cNvCxnSpPr/>
          <p:nvPr/>
        </p:nvCxnSpPr>
        <p:spPr>
          <a:xfrm flipV="1">
            <a:off x="8605810" y="2171232"/>
            <a:ext cx="114953" cy="470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34-026"/>
          <p:cNvCxnSpPr/>
          <p:nvPr/>
        </p:nvCxnSpPr>
        <p:spPr>
          <a:xfrm flipV="1">
            <a:off x="8720763" y="2128081"/>
            <a:ext cx="114953" cy="431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34-027"/>
          <p:cNvCxnSpPr/>
          <p:nvPr/>
        </p:nvCxnSpPr>
        <p:spPr>
          <a:xfrm flipV="1">
            <a:off x="8835716" y="2088474"/>
            <a:ext cx="114953" cy="396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34-028"/>
          <p:cNvCxnSpPr/>
          <p:nvPr/>
        </p:nvCxnSpPr>
        <p:spPr>
          <a:xfrm flipV="1">
            <a:off x="8950669" y="2052121"/>
            <a:ext cx="114953" cy="363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34-029"/>
          <p:cNvCxnSpPr/>
          <p:nvPr/>
        </p:nvCxnSpPr>
        <p:spPr>
          <a:xfrm flipV="1">
            <a:off x="9065622" y="2018754"/>
            <a:ext cx="114954" cy="333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34-030"/>
          <p:cNvCxnSpPr/>
          <p:nvPr/>
        </p:nvCxnSpPr>
        <p:spPr>
          <a:xfrm flipV="1">
            <a:off x="9180576" y="1988128"/>
            <a:ext cx="114953" cy="306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34-031"/>
          <p:cNvCxnSpPr/>
          <p:nvPr/>
        </p:nvCxnSpPr>
        <p:spPr>
          <a:xfrm flipV="1">
            <a:off x="9295529" y="1960018"/>
            <a:ext cx="114953" cy="2811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34-032"/>
          <p:cNvCxnSpPr/>
          <p:nvPr/>
        </p:nvCxnSpPr>
        <p:spPr>
          <a:xfrm flipV="1">
            <a:off x="9410482" y="1934217"/>
            <a:ext cx="114953" cy="258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34-033"/>
          <p:cNvCxnSpPr/>
          <p:nvPr/>
        </p:nvCxnSpPr>
        <p:spPr>
          <a:xfrm flipV="1">
            <a:off x="9525435" y="1910535"/>
            <a:ext cx="114953" cy="236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34-034"/>
          <p:cNvCxnSpPr/>
          <p:nvPr/>
        </p:nvCxnSpPr>
        <p:spPr>
          <a:xfrm flipV="1">
            <a:off x="9640388" y="1888799"/>
            <a:ext cx="114953" cy="217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34-035"/>
          <p:cNvCxnSpPr/>
          <p:nvPr/>
        </p:nvCxnSpPr>
        <p:spPr>
          <a:xfrm flipV="1">
            <a:off x="9755341" y="1868848"/>
            <a:ext cx="114953" cy="199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34-036"/>
          <p:cNvCxnSpPr/>
          <p:nvPr/>
        </p:nvCxnSpPr>
        <p:spPr>
          <a:xfrm flipV="1">
            <a:off x="9870294" y="1850536"/>
            <a:ext cx="114954" cy="183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34-037"/>
          <p:cNvCxnSpPr/>
          <p:nvPr/>
        </p:nvCxnSpPr>
        <p:spPr>
          <a:xfrm flipV="1">
            <a:off x="9985248" y="1833728"/>
            <a:ext cx="114953" cy="1680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34-038"/>
          <p:cNvCxnSpPr/>
          <p:nvPr/>
        </p:nvCxnSpPr>
        <p:spPr>
          <a:xfrm flipV="1">
            <a:off x="10100201" y="1818301"/>
            <a:ext cx="114953" cy="1542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34-039"/>
          <p:cNvCxnSpPr/>
          <p:nvPr/>
        </p:nvCxnSpPr>
        <p:spPr>
          <a:xfrm flipV="1">
            <a:off x="10215154" y="1804141"/>
            <a:ext cx="114953" cy="141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34-040"/>
          <p:cNvCxnSpPr/>
          <p:nvPr/>
        </p:nvCxnSpPr>
        <p:spPr>
          <a:xfrm flipV="1">
            <a:off x="10330107" y="1791144"/>
            <a:ext cx="114953" cy="129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34-041"/>
          <p:cNvCxnSpPr/>
          <p:nvPr/>
        </p:nvCxnSpPr>
        <p:spPr>
          <a:xfrm flipV="1">
            <a:off x="10445060" y="1779214"/>
            <a:ext cx="114953" cy="119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34-042"/>
          <p:cNvCxnSpPr/>
          <p:nvPr/>
        </p:nvCxnSpPr>
        <p:spPr>
          <a:xfrm flipV="1">
            <a:off x="10560013" y="1768265"/>
            <a:ext cx="114953" cy="1094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34-043"/>
          <p:cNvCxnSpPr/>
          <p:nvPr/>
        </p:nvCxnSpPr>
        <p:spPr>
          <a:xfrm flipV="1">
            <a:off x="10674966" y="1758215"/>
            <a:ext cx="114954" cy="100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45" name="text44" descr="sci-ppt:C2-E34-044"/>
          <p:cNvSpPr txBox="1"/>
          <p:nvPr/>
        </p:nvSpPr>
        <p:spPr>
          <a:xfrm>
            <a:off x="1341120" y="3657600"/>
            <a:ext cx="95097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Integrate the local rate over space and time.</a:t>
            </a:r>
          </a:p>
        </p:txBody>
      </p:sp>
      <p:sp>
        <p:nvSpPr>
          <p:cNvPr id="46" name="text45" descr="sci-ppt:C2-E34-045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T, p: local hot state</a:t>
            </a:r>
          </a:p>
        </p:txBody>
      </p:sp>
      <p:sp>
        <p:nvSpPr>
          <p:cNvPr id="47" name="text46" descr="sci-ppt:C2-E34-046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V_d(t′): available liquid</a:t>
            </a:r>
          </a:p>
        </p:txBody>
      </p:sp>
      <p:sp>
        <p:nvSpPr>
          <p:cNvPr id="48" name="text47" descr="sci-ppt:C2-E34-047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P_act: activation probability</a:t>
            </a:r>
          </a:p>
        </p:txBody>
      </p:sp>
      <p:sp>
        <p:nvSpPr>
          <p:cNvPr id="49" name="text48" descr="sci-ppt:C2-E34-048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J: supplied event rate</a:t>
            </a:r>
          </a:p>
        </p:txBody>
      </p:sp>
      <p:sp>
        <p:nvSpPr>
          <p:cNvPr id="50" name="text49" descr="sci-ppt:C2-E34-049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t, t′, dV: event integration</a:t>
            </a:r>
          </a:p>
        </p:txBody>
      </p:sp>
      <p:sp>
        <p:nvSpPr>
          <p:cNvPr id="51" name="text50" descr="sci-ppt:C2-E34-050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 rate law or calibrated activation law is still required</a:t>
            </a:r>
          </a:p>
        </p:txBody>
      </p:sp>
      <p:sp>
        <p:nvSpPr>
          <p:cNvPr id="52" name="text51" descr="sci-ppt:C2-E34-051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One absent event does not prove impossibility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5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C2-E35 | Physical-variable diagram</a:t>
            </a:r>
          </a:p>
        </p:txBody>
      </p:sp>
      <p:sp>
        <p:nvSpPr>
          <p:cNvPr id="3" name="rect2" descr="sci-ppt:C2-E35-002"/>
          <p:cNvSpPr/>
          <p:nvPr/>
        </p:nvSpPr>
        <p:spPr>
          <a:xfrm>
            <a:off x="975360" y="1706880"/>
            <a:ext cx="353568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35-003"/>
          <p:cNvSpPr txBox="1"/>
          <p:nvPr/>
        </p:nvSpPr>
        <p:spPr>
          <a:xfrm>
            <a:off x="1097280" y="1828800"/>
            <a:ext cx="3352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Initial PFC mass m_PFC,0</a:t>
            </a:r>
          </a:p>
        </p:txBody>
      </p:sp>
      <p:cxnSp>
        <p:nvCxnSpPr>
          <p:cNvPr id="5" name="arrow4" descr="sci-ppt:C2-E35-004"/>
          <p:cNvCxnSpPr/>
          <p:nvPr/>
        </p:nvCxnSpPr>
        <p:spPr>
          <a:xfrm>
            <a:off x="4632960" y="237744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rect5" descr="sci-ppt:C2-E35-005"/>
          <p:cNvSpPr/>
          <p:nvPr/>
        </p:nvSpPr>
        <p:spPr>
          <a:xfrm>
            <a:off x="6217920" y="121920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6" descr="sci-ppt:C2-E35-006"/>
          <p:cNvSpPr txBox="1"/>
          <p:nvPr/>
        </p:nvSpPr>
        <p:spPr>
          <a:xfrm>
            <a:off x="6339840" y="134112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m_l</a:t>
            </a:r>
          </a:p>
        </p:txBody>
      </p:sp>
      <p:sp>
        <p:nvSpPr>
          <p:cNvPr id="8" name="rect7" descr="sci-ppt:C2-E35-007"/>
          <p:cNvSpPr/>
          <p:nvPr/>
        </p:nvSpPr>
        <p:spPr>
          <a:xfrm>
            <a:off x="8900160" y="121920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8" descr="sci-ppt:C2-E35-008"/>
          <p:cNvSpPr txBox="1"/>
          <p:nvPr/>
        </p:nvSpPr>
        <p:spPr>
          <a:xfrm>
            <a:off x="9022080" y="134112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Vapor m_v</a:t>
            </a:r>
          </a:p>
        </p:txBody>
      </p:sp>
      <p:sp>
        <p:nvSpPr>
          <p:cNvPr id="10" name="rect9" descr="sci-ppt:C2-E35-009"/>
          <p:cNvSpPr/>
          <p:nvPr/>
        </p:nvSpPr>
        <p:spPr>
          <a:xfrm>
            <a:off x="6217920" y="280416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10" descr="sci-ppt:C2-E35-010"/>
          <p:cNvSpPr txBox="1"/>
          <p:nvPr/>
        </p:nvSpPr>
        <p:spPr>
          <a:xfrm>
            <a:off x="6339840" y="292608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Dissolved m_diss</a:t>
            </a:r>
          </a:p>
        </p:txBody>
      </p:sp>
      <p:sp>
        <p:nvSpPr>
          <p:cNvPr id="12" name="rect11" descr="sci-ppt:C2-E35-011"/>
          <p:cNvSpPr/>
          <p:nvPr/>
        </p:nvSpPr>
        <p:spPr>
          <a:xfrm>
            <a:off x="8900160" y="280416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35-012"/>
          <p:cNvSpPr txBox="1"/>
          <p:nvPr/>
        </p:nvSpPr>
        <p:spPr>
          <a:xfrm>
            <a:off x="9022080" y="292608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Escaped m_esc</a:t>
            </a:r>
          </a:p>
        </p:txBody>
      </p:sp>
      <p:sp>
        <p:nvSpPr>
          <p:cNvPr id="14" name="text13" descr="sci-ppt:C2-E35-013"/>
          <p:cNvSpPr txBox="1"/>
          <p:nvPr/>
        </p:nvSpPr>
        <p:spPr>
          <a:xfrm>
            <a:off x="1097280" y="4328160"/>
            <a:ext cx="103632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Sum of all compartments equals initial inventory.</a:t>
            </a:r>
          </a:p>
        </p:txBody>
      </p:sp>
      <p:sp>
        <p:nvSpPr>
          <p:cNvPr id="15" name="text14" descr="sci-ppt:C2-E35-01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a₀, ρ_d: initial core</a:t>
            </a:r>
          </a:p>
        </p:txBody>
      </p:sp>
      <p:sp>
        <p:nvSpPr>
          <p:cNvPr id="16" name="text15" descr="sci-ppt:C2-E35-01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m_l, m_v, m_diss, m_esc: compartments</a:t>
            </a:r>
          </a:p>
        </p:txBody>
      </p:sp>
      <p:sp>
        <p:nvSpPr>
          <p:cNvPr id="17" name="text16" descr="sci-ppt:C2-E35-01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V_b, T_b: bubble state</a:t>
            </a:r>
          </a:p>
        </p:txBody>
      </p:sp>
      <p:sp>
        <p:nvSpPr>
          <p:cNvPr id="18" name="text17" descr="sci-ppt:C2-E35-017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initial sphere</a:t>
            </a:r>
          </a:p>
        </p:txBody>
      </p:sp>
      <p:sp>
        <p:nvSpPr>
          <p:cNvPr id="19" name="text18" descr="sci-ppt:C2-E35-018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m_PFC,0: total supply</a:t>
            </a:r>
          </a:p>
        </p:txBody>
      </p:sp>
      <p:sp>
        <p:nvSpPr>
          <p:cNvPr id="20" name="text19" descr="sci-ppt:C2-E35-019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p_v,PFC: partial pressure</a:t>
            </a:r>
          </a:p>
        </p:txBody>
      </p:sp>
      <p:sp>
        <p:nvSpPr>
          <p:cNvPr id="21" name="text20" descr="sci-ppt:C2-E35-020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 R_u: ideal conversion</a:t>
            </a:r>
          </a:p>
        </p:txBody>
      </p:sp>
      <p:sp>
        <p:nvSpPr>
          <p:cNvPr id="22" name="text21" descr="sci-ppt:C2-E35-021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All compound compartments sum to the original mass</a:t>
            </a:r>
          </a:p>
        </p:txBody>
      </p:sp>
      <p:sp>
        <p:nvSpPr>
          <p:cNvPr id="23" name="text22" descr="sci-ppt:C2-E35-022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Water cannot be a source of unlimited PFC vapor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6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C2-E36 | Physical-variable diagram</a:t>
            </a:r>
          </a:p>
        </p:txBody>
      </p:sp>
      <p:sp>
        <p:nvSpPr>
          <p:cNvPr id="3" name="rect2" descr="sci-ppt:C2-E36-002"/>
          <p:cNvSpPr/>
          <p:nvPr/>
        </p:nvSpPr>
        <p:spPr>
          <a:xfrm>
            <a:off x="975360" y="1463040"/>
            <a:ext cx="4267200" cy="2682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36-003"/>
          <p:cNvSpPr/>
          <p:nvPr/>
        </p:nvSpPr>
        <p:spPr>
          <a:xfrm>
            <a:off x="5242560" y="1463040"/>
            <a:ext cx="5242560" cy="26822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36-004"/>
          <p:cNvSpPr txBox="1"/>
          <p:nvPr/>
        </p:nvSpPr>
        <p:spPr>
          <a:xfrm>
            <a:off x="219456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Vapor</a:t>
            </a:r>
          </a:p>
        </p:txBody>
      </p:sp>
      <p:sp>
        <p:nvSpPr>
          <p:cNvPr id="6" name="text5" descr="sci-ppt:C2-E36-005"/>
          <p:cNvSpPr txBox="1"/>
          <p:nvPr/>
        </p:nvSpPr>
        <p:spPr>
          <a:xfrm>
            <a:off x="731520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Liquid</a:t>
            </a:r>
          </a:p>
        </p:txBody>
      </p:sp>
      <p:cxnSp>
        <p:nvCxnSpPr>
          <p:cNvPr id="7" name="arrow6" descr="sci-ppt:C2-E36-006"/>
          <p:cNvCxnSpPr/>
          <p:nvPr/>
        </p:nvCxnSpPr>
        <p:spPr>
          <a:xfrm flipH="1">
            <a:off x="3657600" y="2804160"/>
            <a:ext cx="37795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36-007"/>
          <p:cNvSpPr txBox="1"/>
          <p:nvPr/>
        </p:nvSpPr>
        <p:spPr>
          <a:xfrm>
            <a:off x="5852160" y="3108960"/>
            <a:ext cx="414528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F6BC77"/>
                </a:solidFill>
                <a:latin typeface="Arial"/>
              </a:rPr>
              <a:t>n: liquid → vapor</a:t>
            </a:r>
          </a:p>
        </p:txBody>
      </p:sp>
      <p:cxnSp>
        <p:nvCxnSpPr>
          <p:cNvPr id="9" name="arrow8" descr="sci-ppt:C2-E36-008"/>
          <p:cNvCxnSpPr/>
          <p:nvPr/>
        </p:nvCxnSpPr>
        <p:spPr>
          <a:xfrm>
            <a:off x="5242560" y="3779520"/>
            <a:ext cx="1402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36-009"/>
          <p:cNvSpPr txBox="1"/>
          <p:nvPr/>
        </p:nvSpPr>
        <p:spPr>
          <a:xfrm>
            <a:off x="5486400" y="420624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+e_r, wall motion</a:t>
            </a:r>
          </a:p>
        </p:txBody>
      </p:sp>
      <p:sp>
        <p:nvSpPr>
          <p:cNvPr id="11" name="text10" descr="sci-ppt:C2-E36-010"/>
          <p:cNvSpPr txBox="1"/>
          <p:nvPr/>
        </p:nvSpPr>
        <p:spPr>
          <a:xfrm>
            <a:off x="1219200" y="103632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Interface Gamma</a:t>
            </a:r>
          </a:p>
        </p:txBody>
      </p:sp>
      <p:sp>
        <p:nvSpPr>
          <p:cNvPr id="12" name="text11" descr="sci-ppt:C2-E36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j_s, L_v,s: phase conversion</a:t>
            </a:r>
          </a:p>
        </p:txBody>
      </p:sp>
      <p:sp>
        <p:nvSpPr>
          <p:cNvPr id="13" name="text12" descr="sci-ppt:C2-E36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U_b, Q̇_b: bubble thermal ledger</a:t>
            </a:r>
          </a:p>
        </p:txBody>
      </p:sp>
      <p:sp>
        <p:nvSpPr>
          <p:cNvPr id="14" name="text13" descr="sci-ppt:C2-E36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h_v,s, ṁ_v,s: transported enthalpy</a:t>
            </a:r>
          </a:p>
        </p:txBody>
      </p:sp>
      <p:sp>
        <p:nvSpPr>
          <p:cNvPr id="15" name="text14" descr="sci-ppt:C2-E36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ρ_l: adjacent liquid density</a:t>
            </a:r>
          </a:p>
        </p:txBody>
      </p:sp>
      <p:sp>
        <p:nvSpPr>
          <p:cNvPr id="16" name="text15" descr="sci-ppt:C2-E36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q_l, q_v, n: heat jump signs</a:t>
            </a:r>
          </a:p>
        </p:txBody>
      </p:sp>
      <p:sp>
        <p:nvSpPr>
          <p:cNvPr id="17" name="text16" descr="sci-ppt:C2-E36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p_b V̇_b: pressure work</a:t>
            </a:r>
          </a:p>
        </p:txBody>
      </p:sp>
      <p:sp>
        <p:nvSpPr>
          <p:cNvPr id="18" name="text17" descr="sci-ppt:C2-E36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R, Ṙ, u_l(R): moving interface</a:t>
            </a:r>
          </a:p>
        </p:txBody>
      </p:sp>
      <p:sp>
        <p:nvSpPr>
          <p:cNvPr id="19" name="text18" descr="sci-ppt:C2-E36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s: species index</a:t>
            </a:r>
          </a:p>
        </p:txBody>
      </p:sp>
      <p:sp>
        <p:nvSpPr>
          <p:cNvPr id="20" name="text19" descr="sci-ppt:C2-E36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Latent conversion is already included consistently in phase and enthalpy balances</a:t>
            </a:r>
          </a:p>
        </p:txBody>
      </p:sp>
      <p:sp>
        <p:nvSpPr>
          <p:cNvPr id="21" name="text20" descr="sci-ppt:C2-E36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Evaporation and condensation have opposite 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