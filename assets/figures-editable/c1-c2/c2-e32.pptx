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80954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2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C2-E32 | Physical-variable diagram</a:t>
            </a:r>
          </a:p>
        </p:txBody>
      </p:sp>
      <p:sp>
        <p:nvSpPr>
          <p:cNvPr id="3" name="rect2" descr="sci-ppt:C2-E32-002"/>
          <p:cNvSpPr/>
          <p:nvPr/>
        </p:nvSpPr>
        <p:spPr>
          <a:xfrm>
            <a:off x="3779520" y="1341120"/>
            <a:ext cx="3169920" cy="2743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2-E32-003"/>
          <p:cNvCxnSpPr/>
          <p:nvPr/>
        </p:nvCxnSpPr>
        <p:spPr>
          <a:xfrm>
            <a:off x="1097280" y="2499360"/>
            <a:ext cx="25603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arrow4" descr="sci-ppt:C2-E32-004"/>
          <p:cNvCxnSpPr/>
          <p:nvPr/>
        </p:nvCxnSpPr>
        <p:spPr>
          <a:xfrm>
            <a:off x="7010400" y="2499360"/>
            <a:ext cx="26212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32-005"/>
          <p:cNvCxnSpPr/>
          <p:nvPr/>
        </p:nvCxnSpPr>
        <p:spPr>
          <a:xfrm flipH="1" flipV="1">
            <a:off x="2316480" y="1402080"/>
            <a:ext cx="146304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2-E32-006"/>
          <p:cNvSpPr txBox="1"/>
          <p:nvPr/>
        </p:nvSpPr>
        <p:spPr>
          <a:xfrm>
            <a:off x="853440" y="2926080"/>
            <a:ext cx="2804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Incident light</a:t>
            </a:r>
          </a:p>
        </p:txBody>
      </p:sp>
      <p:sp>
        <p:nvSpPr>
          <p:cNvPr id="8" name="text7" descr="sci-ppt:C2-E32-007"/>
          <p:cNvSpPr txBox="1"/>
          <p:nvPr/>
        </p:nvSpPr>
        <p:spPr>
          <a:xfrm>
            <a:off x="853440" y="975360"/>
            <a:ext cx="28041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Reflection</a:t>
            </a:r>
          </a:p>
        </p:txBody>
      </p:sp>
      <p:sp>
        <p:nvSpPr>
          <p:cNvPr id="9" name="text8" descr="sci-ppt:C2-E32-008"/>
          <p:cNvSpPr txBox="1"/>
          <p:nvPr/>
        </p:nvSpPr>
        <p:spPr>
          <a:xfrm>
            <a:off x="4084320" y="3048000"/>
            <a:ext cx="30480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Absorber: Q_abs</a:t>
            </a:r>
          </a:p>
        </p:txBody>
      </p:sp>
      <p:sp>
        <p:nvSpPr>
          <p:cNvPr id="10" name="text9" descr="sci-ppt:C2-E32-009"/>
          <p:cNvSpPr txBox="1"/>
          <p:nvPr/>
        </p:nvSpPr>
        <p:spPr>
          <a:xfrm>
            <a:off x="7315200" y="292608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Transmitted light</a:t>
            </a:r>
          </a:p>
        </p:txBody>
      </p:sp>
      <p:cxnSp>
        <p:nvCxnSpPr>
          <p:cNvPr id="11" name="arrow10" descr="sci-ppt:C2-E32-010"/>
          <p:cNvCxnSpPr/>
          <p:nvPr/>
        </p:nvCxnSpPr>
        <p:spPr>
          <a:xfrm>
            <a:off x="4023360" y="377952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11" descr="sci-ppt:C2-E32-011"/>
          <p:cNvSpPr txBox="1"/>
          <p:nvPr/>
        </p:nvSpPr>
        <p:spPr>
          <a:xfrm>
            <a:off x="4511040" y="402336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+z; thickness h_a</a:t>
            </a:r>
          </a:p>
        </p:txBody>
      </p:sp>
      <p:sp>
        <p:nvSpPr>
          <p:cNvPr id="13" name="text12" descr="sci-ppt:C2-E32-012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E_L, w, F₀: incident beam</a:t>
            </a:r>
          </a:p>
        </p:txBody>
      </p:sp>
      <p:sp>
        <p:nvSpPr>
          <p:cNvPr id="14" name="text13" descr="sci-ppt:C2-E32-013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E_abs: absorber budget</a:t>
            </a:r>
          </a:p>
        </p:txBody>
      </p:sp>
      <p:sp>
        <p:nvSpPr>
          <p:cNvPr id="15" name="text14" descr="sci-ppt:C2-E32-014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α, τ_h: heat propagation</a:t>
            </a:r>
          </a:p>
        </p:txBody>
      </p:sp>
      <p:sp>
        <p:nvSpPr>
          <p:cNvPr id="16" name="text15" descr="sci-ppt:C2-E32-015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Gaussian area factor</a:t>
            </a:r>
          </a:p>
        </p:txBody>
      </p:sp>
      <p:sp>
        <p:nvSpPr>
          <p:cNvPr id="17" name="text16" descr="sci-ppt:C2-E32-01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f_geo, A_λ: interception and absorption</a:t>
            </a:r>
          </a:p>
        </p:txBody>
      </p:sp>
      <p:sp>
        <p:nvSpPr>
          <p:cNvPr id="18" name="text17" descr="sci-ppt:C2-E32-01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L_h: distance to PFC</a:t>
            </a:r>
          </a:p>
        </p:txBody>
      </p:sp>
      <p:sp>
        <p:nvSpPr>
          <p:cNvPr id="19" name="text18" descr="sci-ppt:C2-E32-01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t_th, δ_T: thermal tests</a:t>
            </a:r>
          </a:p>
        </p:txBody>
      </p:sp>
      <p:sp>
        <p:nvSpPr>
          <p:cNvPr id="20" name="text19" descr="sci-ppt:C2-E32-01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Light enters the absorber first</a:t>
            </a:r>
          </a:p>
        </p:txBody>
      </p:sp>
      <p:sp>
        <p:nvSpPr>
          <p:cNvPr id="21" name="text20" descr="sci-ppt:C2-E32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Heat then travels to the phase-changing material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