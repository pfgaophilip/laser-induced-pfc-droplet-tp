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C2-E32 · Original formulas for Defense 1</a:t>
            </a:r>
          </a:p>
        </p:txBody>
      </p:sp>
      <p:sp>
        <p:nvSpPr>
          <p:cNvPr id="3" name="C2-E32 round_rect 1" descr="sci-ppt:o001"/>
          <p:cNvSpPr/>
          <p:nvPr/>
        </p:nvSpPr>
        <p:spPr>
          <a:xfrm>
            <a:off x="457200" y="1097280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2 ellipse 2" descr="sci-ppt:o002"/>
          <p:cNvSpPr/>
          <p:nvPr/>
        </p:nvSpPr>
        <p:spPr>
          <a:xfrm>
            <a:off x="621792" y="1307592"/>
            <a:ext cx="493776" cy="49377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2-E32 text 3" descr="sci-ppt:o003"/>
          <p:cNvSpPr txBox="1"/>
          <p:nvPr/>
        </p:nvSpPr>
        <p:spPr>
          <a:xfrm>
            <a:off x="758952" y="1371600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1</a:t>
            </a:r>
          </a:p>
        </p:txBody>
      </p:sp>
      <p:sp>
        <p:nvSpPr>
          <p:cNvPr id="6" name="C2-E32 text 4" descr="sci-ppt:o004"/>
          <p:cNvSpPr txBox="1"/>
          <p:nvPr/>
        </p:nvSpPr>
        <p:spPr>
          <a:xfrm>
            <a:off x="1280160" y="1207007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Optical energy</a:t>
            </a:r>
          </a:p>
        </p:txBody>
      </p:sp>
      <p:sp>
        <p:nvSpPr>
          <p:cNvPr id="7" name="C2-E32 text 5" descr="sci-ppt:o005"/>
          <p:cNvSpPr txBox="1"/>
          <p:nvPr/>
        </p:nvSpPr>
        <p:spPr>
          <a:xfrm>
            <a:off x="1280160" y="1691640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E_L = π w² F₀ / 2</a:t>
            </a:r>
          </a:p>
        </p:txBody>
      </p:sp>
      <p:sp>
        <p:nvSpPr>
          <p:cNvPr id="8" name="C2-E32 text 6" descr="sci-ppt:o006"/>
          <p:cNvSpPr txBox="1"/>
          <p:nvPr/>
        </p:nvSpPr>
        <p:spPr>
          <a:xfrm>
            <a:off x="128016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Gaussian beam energy</a:t>
            </a:r>
          </a:p>
        </p:txBody>
      </p:sp>
      <p:sp>
        <p:nvSpPr>
          <p:cNvPr id="9" name="C2-E32 round_rect 7" descr="sci-ppt:o007"/>
          <p:cNvSpPr/>
          <p:nvPr/>
        </p:nvSpPr>
        <p:spPr>
          <a:xfrm>
            <a:off x="6172200" y="1097280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32 ellipse 8" descr="sci-ppt:o008"/>
          <p:cNvSpPr/>
          <p:nvPr/>
        </p:nvSpPr>
        <p:spPr>
          <a:xfrm>
            <a:off x="6336792" y="1307592"/>
            <a:ext cx="493776" cy="493776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2-E32 text 9" descr="sci-ppt:o009"/>
          <p:cNvSpPr txBox="1"/>
          <p:nvPr/>
        </p:nvSpPr>
        <p:spPr>
          <a:xfrm>
            <a:off x="6473952" y="1371600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2</a:t>
            </a:r>
          </a:p>
        </p:txBody>
      </p:sp>
      <p:sp>
        <p:nvSpPr>
          <p:cNvPr id="12" name="C2-E32 text 10" descr="sci-ppt:o010"/>
          <p:cNvSpPr txBox="1"/>
          <p:nvPr/>
        </p:nvSpPr>
        <p:spPr>
          <a:xfrm>
            <a:off x="6995160" y="1207007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Absorbed share</a:t>
            </a:r>
          </a:p>
        </p:txBody>
      </p:sp>
      <p:sp>
        <p:nvSpPr>
          <p:cNvPr id="13" name="C2-E32 text 11" descr="sci-ppt:o011"/>
          <p:cNvSpPr txBox="1"/>
          <p:nvPr/>
        </p:nvSpPr>
        <p:spPr>
          <a:xfrm>
            <a:off x="6995160" y="1691640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E_abs = f_geo A_λ E_L</a:t>
            </a:r>
          </a:p>
        </p:txBody>
      </p:sp>
      <p:sp>
        <p:nvSpPr>
          <p:cNvPr id="14" name="C2-E32 text 12" descr="sci-ppt:o012"/>
          <p:cNvSpPr txBox="1"/>
          <p:nvPr/>
        </p:nvSpPr>
        <p:spPr>
          <a:xfrm>
            <a:off x="699516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aperture × absorptance</a:t>
            </a:r>
          </a:p>
        </p:txBody>
      </p:sp>
      <p:sp>
        <p:nvSpPr>
          <p:cNvPr id="15" name="C2-E32 round_rect 13" descr="sci-ppt:o013"/>
          <p:cNvSpPr/>
          <p:nvPr/>
        </p:nvSpPr>
        <p:spPr>
          <a:xfrm>
            <a:off x="457200" y="3063239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2 ellipse 14" descr="sci-ppt:o014"/>
          <p:cNvSpPr/>
          <p:nvPr/>
        </p:nvSpPr>
        <p:spPr>
          <a:xfrm>
            <a:off x="621792" y="3273551"/>
            <a:ext cx="493776" cy="493776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2-E32 text 15" descr="sci-ppt:o015"/>
          <p:cNvSpPr txBox="1"/>
          <p:nvPr/>
        </p:nvSpPr>
        <p:spPr>
          <a:xfrm>
            <a:off x="758952" y="3337559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3</a:t>
            </a:r>
          </a:p>
        </p:txBody>
      </p:sp>
      <p:sp>
        <p:nvSpPr>
          <p:cNvPr id="18" name="C2-E32 text 16" descr="sci-ppt:o016"/>
          <p:cNvSpPr txBox="1"/>
          <p:nvPr/>
        </p:nvSpPr>
        <p:spPr>
          <a:xfrm>
            <a:off x="1280160" y="3172968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Where the heat goes</a:t>
            </a:r>
          </a:p>
        </p:txBody>
      </p:sp>
      <p:sp>
        <p:nvSpPr>
          <p:cNvPr id="19" name="C2-E32 text 17" descr="sci-ppt:o017"/>
          <p:cNvSpPr txBox="1"/>
          <p:nvPr/>
        </p:nvSpPr>
        <p:spPr>
          <a:xfrm>
            <a:off x="1280160" y="3657599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tₜₕ ~ Lₕ² / α</a:t>
            </a:r>
          </a:p>
        </p:txBody>
      </p:sp>
      <p:sp>
        <p:nvSpPr>
          <p:cNvPr id="20" name="C2-E32 text 18" descr="sci-ppt:o018"/>
          <p:cNvSpPr txBox="1"/>
          <p:nvPr/>
        </p:nvSpPr>
        <p:spPr>
          <a:xfrm>
            <a:off x="1280160" y="4251959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time to cross a distance</a:t>
            </a:r>
          </a:p>
        </p:txBody>
      </p:sp>
      <p:sp>
        <p:nvSpPr>
          <p:cNvPr id="21" name="C2-E32 round_rect 19" descr="sci-ppt:o019"/>
          <p:cNvSpPr/>
          <p:nvPr/>
        </p:nvSpPr>
        <p:spPr>
          <a:xfrm>
            <a:off x="6172200" y="3063239"/>
            <a:ext cx="5532120" cy="1783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32 ellipse 20" descr="sci-ppt:o020"/>
          <p:cNvSpPr/>
          <p:nvPr/>
        </p:nvSpPr>
        <p:spPr>
          <a:xfrm>
            <a:off x="6336792" y="3273551"/>
            <a:ext cx="493776" cy="493776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2-E32 text 21" descr="sci-ppt:o021"/>
          <p:cNvSpPr txBox="1"/>
          <p:nvPr/>
        </p:nvSpPr>
        <p:spPr>
          <a:xfrm>
            <a:off x="6473952" y="3337559"/>
            <a:ext cx="2286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632"/>
                </a:solidFill>
                <a:latin typeface="Arial"/>
              </a:rPr>
              <a:t>4</a:t>
            </a:r>
          </a:p>
        </p:txBody>
      </p:sp>
      <p:sp>
        <p:nvSpPr>
          <p:cNvPr id="24" name="C2-E32 text 22" descr="sci-ppt:o022"/>
          <p:cNvSpPr txBox="1"/>
          <p:nvPr/>
        </p:nvSpPr>
        <p:spPr>
          <a:xfrm>
            <a:off x="6995160" y="3172968"/>
            <a:ext cx="45720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Penetration</a:t>
            </a:r>
          </a:p>
        </p:txBody>
      </p:sp>
      <p:sp>
        <p:nvSpPr>
          <p:cNvPr id="25" name="C2-E32 text 23" descr="sci-ppt:o023"/>
          <p:cNvSpPr txBox="1"/>
          <p:nvPr/>
        </p:nvSpPr>
        <p:spPr>
          <a:xfrm>
            <a:off x="6995160" y="3657599"/>
            <a:ext cx="457200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7F0F3"/>
                </a:solidFill>
                <a:latin typeface="Arial"/>
              </a:rPr>
              <a:t>δ_T ~ √(α τₕ)</a:t>
            </a:r>
          </a:p>
        </p:txBody>
      </p:sp>
      <p:sp>
        <p:nvSpPr>
          <p:cNvPr id="26" name="C2-E32 text 24" descr="sci-ppt:o024"/>
          <p:cNvSpPr txBox="1"/>
          <p:nvPr/>
        </p:nvSpPr>
        <p:spPr>
          <a:xfrm>
            <a:off x="6995160" y="4251959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distance reached in the pulse</a:t>
            </a:r>
          </a:p>
        </p:txBody>
      </p:sp>
      <p:sp>
        <p:nvSpPr>
          <p:cNvPr id="27" name="C2-E32 text 25" descr="sci-ppt:o025"/>
          <p:cNvSpPr txBox="1"/>
          <p:nvPr/>
        </p:nvSpPr>
        <p:spPr>
          <a:xfrm>
            <a:off x="457200" y="516636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Light must be intercepted, absorbed, and then conducted to the PFC. Each step has its own formula and its own limit.</a:t>
            </a:r>
          </a:p>
        </p:txBody>
      </p:sp>
      <p:sp>
        <p:nvSpPr>
          <p:cNvPr id="28" name="C2-E32 text 26" descr="sci-ppt:o026"/>
          <p:cNvSpPr txBox="1"/>
          <p:nvPr/>
        </p:nvSpPr>
        <p:spPr>
          <a:xfrm>
            <a:off x="457200" y="56692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short pulse does not imply uniform temperature: compare the heat penetration δ_T with the distance to the PFC.</a:t>
            </a:r>
          </a:p>
        </p:txBody>
      </p:sp>
      <p:sp>
        <p:nvSpPr>
          <p:cNvPr id="29" name="C2-E32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1 answer: Eqs. C2-E02, E06, E09.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