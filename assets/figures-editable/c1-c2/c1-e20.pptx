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1-E20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C1-E20 | Physical-variable diagram</a:t>
            </a:r>
          </a:p>
        </p:txBody>
      </p:sp>
      <p:sp>
        <p:nvSpPr>
          <p:cNvPr id="3" name="rect2" descr="sci-ppt:C1-E20-002"/>
          <p:cNvSpPr/>
          <p:nvPr/>
        </p:nvSpPr>
        <p:spPr>
          <a:xfrm>
            <a:off x="1219200" y="1828800"/>
            <a:ext cx="365760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1-E20-003"/>
          <p:cNvSpPr txBox="1"/>
          <p:nvPr/>
        </p:nvSpPr>
        <p:spPr>
          <a:xfrm>
            <a:off x="1341120" y="1950720"/>
            <a:ext cx="3474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Wall speed / sound speed</a:t>
            </a:r>
          </a:p>
        </p:txBody>
      </p:sp>
      <p:sp>
        <p:nvSpPr>
          <p:cNvPr id="5" name="rect4" descr="sci-ppt:C1-E20-004"/>
          <p:cNvSpPr/>
          <p:nvPr/>
        </p:nvSpPr>
        <p:spPr>
          <a:xfrm>
            <a:off x="6949440" y="1828800"/>
            <a:ext cx="3657600" cy="1158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5" descr="sci-ppt:C1-E20-005"/>
          <p:cNvSpPr txBox="1"/>
          <p:nvPr/>
        </p:nvSpPr>
        <p:spPr>
          <a:xfrm>
            <a:off x="7071360" y="1950720"/>
            <a:ext cx="3474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Propagation / event time</a:t>
            </a:r>
          </a:p>
        </p:txBody>
      </p:sp>
      <p:cxnSp>
        <p:nvCxnSpPr>
          <p:cNvPr id="7" name="arrow6" descr="sci-ppt:C1-E20-006"/>
          <p:cNvCxnSpPr/>
          <p:nvPr/>
        </p:nvCxnSpPr>
        <p:spPr>
          <a:xfrm>
            <a:off x="4937760" y="2414016"/>
            <a:ext cx="18897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1-E20-007"/>
          <p:cNvSpPr txBox="1"/>
          <p:nvPr/>
        </p:nvSpPr>
        <p:spPr>
          <a:xfrm>
            <a:off x="1463040" y="3657600"/>
            <a:ext cx="963168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Check both motion and pressure communication.</a:t>
            </a:r>
          </a:p>
        </p:txBody>
      </p:sp>
      <p:sp>
        <p:nvSpPr>
          <p:cNvPr id="9" name="text8" descr="sci-ppt:C1-E20-008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Mw = |Ṙ|/c</a:t>
            </a:r>
          </a:p>
        </p:txBody>
      </p:sp>
      <p:sp>
        <p:nvSpPr>
          <p:cNvPr id="10" name="text9" descr="sci-ppt:C1-E20-009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c = 1500 m/s</a:t>
            </a:r>
          </a:p>
        </p:txBody>
      </p:sp>
      <p:sp>
        <p:nvSpPr>
          <p:cNvPr id="11" name="text10" descr="sci-ppt:C1-E20-010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xM = RM/Rmax</a:t>
            </a:r>
          </a:p>
        </p:txBody>
      </p:sp>
      <p:sp>
        <p:nvSpPr>
          <p:cNvPr id="12" name="text11" descr="sci-ppt:C1-E20-011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Δpc</a:t>
            </a:r>
          </a:p>
        </p:txBody>
      </p:sp>
      <p:sp>
        <p:nvSpPr>
          <p:cNvPr id="13" name="text12" descr="sci-ppt:C1-E20-012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Ṙ</a:t>
            </a:r>
          </a:p>
        </p:txBody>
      </p:sp>
      <p:sp>
        <p:nvSpPr>
          <p:cNvPr id="14" name="text13" descr="sci-ppt:C1-E20-013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M* = 0.1</a:t>
            </a:r>
          </a:p>
        </p:txBody>
      </p:sp>
      <p:sp>
        <p:nvSpPr>
          <p:cNvPr id="15" name="text14" descr="sci-ppt:C1-E20-014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</a:t>
            </a:r>
          </a:p>
        </p:txBody>
      </p:sp>
      <p:sp>
        <p:nvSpPr>
          <p:cNvPr id="16" name="text15" descr="sci-ppt:C1-E20-015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RM ≈ 4.305 μm</a:t>
            </a:r>
          </a:p>
        </p:txBody>
      </p:sp>
      <p:sp>
        <p:nvSpPr>
          <p:cNvPr id="17" name="text16" descr="sci-ppt:C1-E20-016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The selected threshold flags omitted physics; it does not stop a real cavity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