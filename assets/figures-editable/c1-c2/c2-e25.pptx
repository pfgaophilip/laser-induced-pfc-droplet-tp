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2-E25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C2-E25 · Derived ideal-pressure evolution identity</a:t>
            </a:r>
          </a:p>
        </p:txBody>
      </p:sp>
      <p:cxnSp>
        <p:nvCxnSpPr>
          <p:cNvPr id="3" name="C2-E25 line 1" descr="sci-ppt:o001"/>
          <p:cNvCxnSpPr/>
          <p:nvPr/>
        </p:nvCxnSpPr>
        <p:spPr>
          <a:xfrm>
            <a:off x="914400" y="5029200"/>
            <a:ext cx="676656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2-E25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2-E25 line 3" descr="sci-ppt:o003"/>
          <p:cNvCxnSpPr/>
          <p:nvPr/>
        </p:nvCxnSpPr>
        <p:spPr>
          <a:xfrm>
            <a:off x="850392" y="4907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2-E25 line 4" descr="sci-ppt:o004"/>
          <p:cNvCxnSpPr/>
          <p:nvPr/>
        </p:nvCxnSpPr>
        <p:spPr>
          <a:xfrm>
            <a:off x="914400" y="490728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2-E25 text 5" descr="sci-ppt:o005"/>
          <p:cNvSpPr txBox="1"/>
          <p:nvPr/>
        </p:nvSpPr>
        <p:spPr>
          <a:xfrm>
            <a:off x="45720" y="48249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</a:t>
            </a:r>
          </a:p>
        </p:txBody>
      </p:sp>
      <p:cxnSp>
        <p:nvCxnSpPr>
          <p:cNvPr id="8" name="C2-E25 line 6" descr="sci-ppt:o006"/>
          <p:cNvCxnSpPr/>
          <p:nvPr/>
        </p:nvCxnSpPr>
        <p:spPr>
          <a:xfrm>
            <a:off x="850392" y="42976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2-E25 line 7" descr="sci-ppt:o007"/>
          <p:cNvCxnSpPr/>
          <p:nvPr/>
        </p:nvCxnSpPr>
        <p:spPr>
          <a:xfrm>
            <a:off x="914400" y="429768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2-E25 text 8" descr="sci-ppt:o008"/>
          <p:cNvSpPr txBox="1"/>
          <p:nvPr/>
        </p:nvSpPr>
        <p:spPr>
          <a:xfrm>
            <a:off x="45720" y="42153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</a:t>
            </a:r>
          </a:p>
        </p:txBody>
      </p:sp>
      <p:cxnSp>
        <p:nvCxnSpPr>
          <p:cNvPr id="11" name="C2-E25 line 9" descr="sci-ppt:o009"/>
          <p:cNvCxnSpPr/>
          <p:nvPr/>
        </p:nvCxnSpPr>
        <p:spPr>
          <a:xfrm>
            <a:off x="850392" y="36880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2-E25 line 10" descr="sci-ppt:o010"/>
          <p:cNvCxnSpPr/>
          <p:nvPr/>
        </p:nvCxnSpPr>
        <p:spPr>
          <a:xfrm>
            <a:off x="914400" y="368808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2-E25 text 11" descr="sci-ppt:o011"/>
          <p:cNvSpPr txBox="1"/>
          <p:nvPr/>
        </p:nvSpPr>
        <p:spPr>
          <a:xfrm>
            <a:off x="45720" y="36057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14" name="C2-E25 line 12" descr="sci-ppt:o012"/>
          <p:cNvCxnSpPr/>
          <p:nvPr/>
        </p:nvCxnSpPr>
        <p:spPr>
          <a:xfrm>
            <a:off x="850392" y="30784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2-E25 line 13" descr="sci-ppt:o013"/>
          <p:cNvCxnSpPr/>
          <p:nvPr/>
        </p:nvCxnSpPr>
        <p:spPr>
          <a:xfrm>
            <a:off x="914400" y="307848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2-E25 text 14" descr="sci-ppt:o014"/>
          <p:cNvSpPr txBox="1"/>
          <p:nvPr/>
        </p:nvSpPr>
        <p:spPr>
          <a:xfrm>
            <a:off x="45720" y="29961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17" name="C2-E25 line 15" descr="sci-ppt:o015"/>
          <p:cNvCxnSpPr/>
          <p:nvPr/>
        </p:nvCxnSpPr>
        <p:spPr>
          <a:xfrm>
            <a:off x="850392" y="2468879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2-E25 line 16" descr="sci-ppt:o016"/>
          <p:cNvCxnSpPr/>
          <p:nvPr/>
        </p:nvCxnSpPr>
        <p:spPr>
          <a:xfrm>
            <a:off x="914400" y="2468879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2-E25 text 17" descr="sci-ppt:o017"/>
          <p:cNvSpPr txBox="1"/>
          <p:nvPr/>
        </p:nvSpPr>
        <p:spPr>
          <a:xfrm>
            <a:off x="45720" y="238658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20" name="C2-E25 line 18" descr="sci-ppt:o018"/>
          <p:cNvCxnSpPr/>
          <p:nvPr/>
        </p:nvCxnSpPr>
        <p:spPr>
          <a:xfrm>
            <a:off x="850392" y="1859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2-E25 line 19" descr="sci-ppt:o019"/>
          <p:cNvCxnSpPr/>
          <p:nvPr/>
        </p:nvCxnSpPr>
        <p:spPr>
          <a:xfrm>
            <a:off x="914400" y="1859280"/>
            <a:ext cx="676656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2-E25 text 20" descr="sci-ppt:o020"/>
          <p:cNvSpPr txBox="1"/>
          <p:nvPr/>
        </p:nvSpPr>
        <p:spPr>
          <a:xfrm>
            <a:off x="45720" y="1776983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sp>
        <p:nvSpPr>
          <p:cNvPr id="23" name="C2-E25 text 21" descr="sci-ppt:o021"/>
          <p:cNvSpPr txBox="1"/>
          <p:nvPr/>
        </p:nvSpPr>
        <p:spPr>
          <a:xfrm>
            <a:off x="365760" y="1024128"/>
            <a:ext cx="6766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relative rate  (1/µs)</a:t>
            </a:r>
          </a:p>
        </p:txBody>
      </p:sp>
      <p:cxnSp>
        <p:nvCxnSpPr>
          <p:cNvPr id="24" name="C2-E25 line 22" descr="sci-ppt:o022"/>
          <p:cNvCxnSpPr/>
          <p:nvPr/>
        </p:nvCxnSpPr>
        <p:spPr>
          <a:xfrm>
            <a:off x="914400" y="3688080"/>
            <a:ext cx="6766560" cy="0"/>
          </a:xfrm>
          <a:prstGeom prst="line">
            <a:avLst/>
          </a:prstGeom>
          <a:ln w="16510">
            <a:solidFill>
              <a:srgbClr val="B4C7D2"/>
            </a:solidFill>
          </a:ln>
          <a:effectLst/>
        </p:spPr>
      </p:cxnSp>
      <p:sp>
        <p:nvSpPr>
          <p:cNvPr id="25" name="C2-E25 rect 23" descr="sci-ppt:o023"/>
          <p:cNvSpPr/>
          <p:nvPr/>
        </p:nvSpPr>
        <p:spPr>
          <a:xfrm>
            <a:off x="1049731" y="3200400"/>
            <a:ext cx="405993" cy="487679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2-E25 text 24" descr="sci-ppt:o024"/>
          <p:cNvSpPr txBox="1"/>
          <p:nvPr/>
        </p:nvSpPr>
        <p:spPr>
          <a:xfrm>
            <a:off x="866851" y="295351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+0.8</a:t>
            </a:r>
          </a:p>
        </p:txBody>
      </p:sp>
      <p:sp>
        <p:nvSpPr>
          <p:cNvPr id="27" name="C2-E25 rect 25" descr="sci-ppt:o025"/>
          <p:cNvSpPr/>
          <p:nvPr/>
        </p:nvSpPr>
        <p:spPr>
          <a:xfrm>
            <a:off x="1545945" y="3688080"/>
            <a:ext cx="405993" cy="18288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2-E25 text 26" descr="sci-ppt:o026"/>
          <p:cNvSpPr txBox="1"/>
          <p:nvPr/>
        </p:nvSpPr>
        <p:spPr>
          <a:xfrm>
            <a:off x="1363065" y="389839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-0.3</a:t>
            </a:r>
          </a:p>
        </p:txBody>
      </p:sp>
      <p:sp>
        <p:nvSpPr>
          <p:cNvPr id="29" name="C2-E25 rect 27" descr="sci-ppt:o027"/>
          <p:cNvSpPr/>
          <p:nvPr/>
        </p:nvSpPr>
        <p:spPr>
          <a:xfrm>
            <a:off x="2042160" y="3688080"/>
            <a:ext cx="405993" cy="91440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C2-E25 text 28" descr="sci-ppt:o028"/>
          <p:cNvSpPr txBox="1"/>
          <p:nvPr/>
        </p:nvSpPr>
        <p:spPr>
          <a:xfrm>
            <a:off x="1859280" y="462991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-1.5</a:t>
            </a:r>
          </a:p>
        </p:txBody>
      </p:sp>
      <p:sp>
        <p:nvSpPr>
          <p:cNvPr id="31" name="C2-E25 rect 29" descr="sci-ppt:o029"/>
          <p:cNvSpPr/>
          <p:nvPr/>
        </p:nvSpPr>
        <p:spPr>
          <a:xfrm>
            <a:off x="2538374" y="3688080"/>
            <a:ext cx="405993" cy="609600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C2-E25 text 30" descr="sci-ppt:o030"/>
          <p:cNvSpPr txBox="1"/>
          <p:nvPr/>
        </p:nvSpPr>
        <p:spPr>
          <a:xfrm>
            <a:off x="2355494" y="432511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-1.0</a:t>
            </a:r>
          </a:p>
        </p:txBody>
      </p:sp>
      <p:sp>
        <p:nvSpPr>
          <p:cNvPr id="33" name="C2-E25 text 31" descr="sci-ppt:o031"/>
          <p:cNvSpPr txBox="1"/>
          <p:nvPr/>
        </p:nvSpPr>
        <p:spPr>
          <a:xfrm>
            <a:off x="1005840" y="4907280"/>
            <a:ext cx="2194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B4C7D2"/>
                </a:solidFill>
                <a:latin typeface="Arial"/>
              </a:rPr>
              <a:t>rapid growth</a:t>
            </a:r>
          </a:p>
        </p:txBody>
      </p:sp>
      <p:sp>
        <p:nvSpPr>
          <p:cNvPr id="34" name="C2-E25 rect 32" descr="sci-ppt:o032"/>
          <p:cNvSpPr/>
          <p:nvPr/>
        </p:nvSpPr>
        <p:spPr>
          <a:xfrm>
            <a:off x="3305251" y="3627120"/>
            <a:ext cx="405993" cy="60959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2-E25 text 33" descr="sci-ppt:o033"/>
          <p:cNvSpPr txBox="1"/>
          <p:nvPr/>
        </p:nvSpPr>
        <p:spPr>
          <a:xfrm>
            <a:off x="3122371" y="338023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+0.1</a:t>
            </a:r>
          </a:p>
        </p:txBody>
      </p:sp>
      <p:sp>
        <p:nvSpPr>
          <p:cNvPr id="36" name="C2-E25 rect 34" descr="sci-ppt:o034"/>
          <p:cNvSpPr/>
          <p:nvPr/>
        </p:nvSpPr>
        <p:spPr>
          <a:xfrm>
            <a:off x="3801465" y="3688080"/>
            <a:ext cx="405993" cy="60959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C2-E25 text 35" descr="sci-ppt:o035"/>
          <p:cNvSpPr txBox="1"/>
          <p:nvPr/>
        </p:nvSpPr>
        <p:spPr>
          <a:xfrm>
            <a:off x="3618585" y="377647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-0.1</a:t>
            </a:r>
          </a:p>
        </p:txBody>
      </p:sp>
      <p:sp>
        <p:nvSpPr>
          <p:cNvPr id="38" name="C2-E25 rect 36" descr="sci-ppt:o036"/>
          <p:cNvSpPr/>
          <p:nvPr/>
        </p:nvSpPr>
        <p:spPr>
          <a:xfrm>
            <a:off x="4297680" y="3688080"/>
            <a:ext cx="405993" cy="36576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2-E25 text 37" descr="sci-ppt:o037"/>
          <p:cNvSpPr txBox="1"/>
          <p:nvPr/>
        </p:nvSpPr>
        <p:spPr>
          <a:xfrm>
            <a:off x="4114800" y="408127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-0.6</a:t>
            </a:r>
          </a:p>
        </p:txBody>
      </p:sp>
      <p:sp>
        <p:nvSpPr>
          <p:cNvPr id="40" name="C2-E25 rect 38" descr="sci-ppt:o038"/>
          <p:cNvSpPr/>
          <p:nvPr/>
        </p:nvSpPr>
        <p:spPr>
          <a:xfrm>
            <a:off x="4793894" y="3688080"/>
            <a:ext cx="405993" cy="365760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C2-E25 text 39" descr="sci-ppt:o039"/>
          <p:cNvSpPr txBox="1"/>
          <p:nvPr/>
        </p:nvSpPr>
        <p:spPr>
          <a:xfrm>
            <a:off x="4611014" y="408127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-0.6</a:t>
            </a:r>
          </a:p>
        </p:txBody>
      </p:sp>
      <p:sp>
        <p:nvSpPr>
          <p:cNvPr id="42" name="C2-E25 text 40" descr="sci-ppt:o040"/>
          <p:cNvSpPr txBox="1"/>
          <p:nvPr/>
        </p:nvSpPr>
        <p:spPr>
          <a:xfrm>
            <a:off x="3261360" y="4907280"/>
            <a:ext cx="2194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B4C7D2"/>
                </a:solidFill>
                <a:latin typeface="Arial"/>
              </a:rPr>
              <a:t>slow growth</a:t>
            </a:r>
          </a:p>
        </p:txBody>
      </p:sp>
      <p:sp>
        <p:nvSpPr>
          <p:cNvPr id="43" name="C2-E25 rect 41" descr="sci-ppt:o041"/>
          <p:cNvSpPr/>
          <p:nvPr/>
        </p:nvSpPr>
        <p:spPr>
          <a:xfrm>
            <a:off x="5560771" y="3688080"/>
            <a:ext cx="405993" cy="18288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C2-E25 text 42" descr="sci-ppt:o042"/>
          <p:cNvSpPr txBox="1"/>
          <p:nvPr/>
        </p:nvSpPr>
        <p:spPr>
          <a:xfrm>
            <a:off x="5377891" y="344119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+0.0</a:t>
            </a:r>
          </a:p>
        </p:txBody>
      </p:sp>
      <p:sp>
        <p:nvSpPr>
          <p:cNvPr id="45" name="C2-E25 rect 43" descr="sci-ppt:o043"/>
          <p:cNvSpPr/>
          <p:nvPr/>
        </p:nvSpPr>
        <p:spPr>
          <a:xfrm>
            <a:off x="6056985" y="3566159"/>
            <a:ext cx="405993" cy="12192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C2-E25 text 44" descr="sci-ppt:o044"/>
          <p:cNvSpPr txBox="1"/>
          <p:nvPr/>
        </p:nvSpPr>
        <p:spPr>
          <a:xfrm>
            <a:off x="5874105" y="3319271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+0.2</a:t>
            </a:r>
          </a:p>
        </p:txBody>
      </p:sp>
      <p:sp>
        <p:nvSpPr>
          <p:cNvPr id="47" name="C2-E25 rect 45" descr="sci-ppt:o045"/>
          <p:cNvSpPr/>
          <p:nvPr/>
        </p:nvSpPr>
        <p:spPr>
          <a:xfrm>
            <a:off x="6553200" y="1859280"/>
            <a:ext cx="405993" cy="182880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C2-E25 text 46" descr="sci-ppt:o046"/>
          <p:cNvSpPr txBox="1"/>
          <p:nvPr/>
        </p:nvSpPr>
        <p:spPr>
          <a:xfrm>
            <a:off x="6370320" y="1612391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+3.0</a:t>
            </a:r>
          </a:p>
        </p:txBody>
      </p:sp>
      <p:sp>
        <p:nvSpPr>
          <p:cNvPr id="49" name="C2-E25 rect 47" descr="sci-ppt:o047"/>
          <p:cNvSpPr/>
          <p:nvPr/>
        </p:nvSpPr>
        <p:spPr>
          <a:xfrm>
            <a:off x="7049414" y="1737360"/>
            <a:ext cx="405993" cy="1950720"/>
          </a:xfrm>
          <a:prstGeom prst="rect">
            <a:avLst/>
          </a:prstGeom>
          <a:solidFill>
            <a:srgbClr val="FFFFFF">
              <a:alpha val="35000"/>
            </a:srgbClr>
          </a:solidFill>
          <a:ln w="12700">
            <a:solidFill>
              <a:srgbClr val="FFFFFF">
                <a:alpha val="3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C2-E25 text 48" descr="sci-ppt:o048"/>
          <p:cNvSpPr txBox="1"/>
          <p:nvPr/>
        </p:nvSpPr>
        <p:spPr>
          <a:xfrm>
            <a:off x="6866534" y="1490472"/>
            <a:ext cx="771753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+3.2</a:t>
            </a:r>
          </a:p>
        </p:txBody>
      </p:sp>
      <p:sp>
        <p:nvSpPr>
          <p:cNvPr id="51" name="C2-E25 text 49" descr="sci-ppt:o049"/>
          <p:cNvSpPr txBox="1"/>
          <p:nvPr/>
        </p:nvSpPr>
        <p:spPr>
          <a:xfrm>
            <a:off x="5516880" y="4907280"/>
            <a:ext cx="219456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B4C7D2"/>
                </a:solidFill>
                <a:latin typeface="Arial"/>
              </a:rPr>
              <a:t>collapse</a:t>
            </a:r>
          </a:p>
        </p:txBody>
      </p:sp>
      <p:sp>
        <p:nvSpPr>
          <p:cNvPr id="52" name="C2-E25 rect 50" descr="sci-ppt:o050"/>
          <p:cNvSpPr/>
          <p:nvPr/>
        </p:nvSpPr>
        <p:spPr>
          <a:xfrm>
            <a:off x="1005840" y="5440680"/>
            <a:ext cx="228600" cy="182880"/>
          </a:xfrm>
          <a:prstGeom prst="rect">
            <a:avLst/>
          </a:prstGeom>
          <a:solidFill>
            <a:srgbClr val="8EDBD4">
              <a:alpha val="85000"/>
            </a:srgbClr>
          </a:solidFill>
          <a:ln w="12700">
            <a:solidFill>
              <a:srgbClr val="8EDBD4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C2-E25 text 51" descr="sci-ppt:o051"/>
          <p:cNvSpPr txBox="1"/>
          <p:nvPr/>
        </p:nvSpPr>
        <p:spPr>
          <a:xfrm>
            <a:off x="1298448" y="5394960"/>
            <a:ext cx="14630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ṁ/m (mass)</a:t>
            </a:r>
          </a:p>
        </p:txBody>
      </p:sp>
      <p:sp>
        <p:nvSpPr>
          <p:cNvPr id="54" name="C2-E25 rect 52" descr="sci-ppt:o052"/>
          <p:cNvSpPr/>
          <p:nvPr/>
        </p:nvSpPr>
        <p:spPr>
          <a:xfrm>
            <a:off x="2743200" y="5440680"/>
            <a:ext cx="228600" cy="182880"/>
          </a:xfrm>
          <a:prstGeom prst="rect">
            <a:avLst/>
          </a:prstGeom>
          <a:solidFill>
            <a:srgbClr val="F28BA0">
              <a:alpha val="85000"/>
            </a:srgbClr>
          </a:solidFill>
          <a:ln w="12700">
            <a:solidFill>
              <a:srgbClr val="F28BA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C2-E25 text 53" descr="sci-ppt:o053"/>
          <p:cNvSpPr txBox="1"/>
          <p:nvPr/>
        </p:nvSpPr>
        <p:spPr>
          <a:xfrm>
            <a:off x="3035808" y="5394960"/>
            <a:ext cx="14630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Ṫ/T (temperature)</a:t>
            </a:r>
          </a:p>
        </p:txBody>
      </p:sp>
      <p:sp>
        <p:nvSpPr>
          <p:cNvPr id="56" name="C2-E25 rect 54" descr="sci-ppt:o054"/>
          <p:cNvSpPr/>
          <p:nvPr/>
        </p:nvSpPr>
        <p:spPr>
          <a:xfrm>
            <a:off x="4480560" y="5440680"/>
            <a:ext cx="228600" cy="182880"/>
          </a:xfrm>
          <a:prstGeom prst="rect">
            <a:avLst/>
          </a:prstGeom>
          <a:solidFill>
            <a:srgbClr val="F2B880">
              <a:alpha val="85000"/>
            </a:srgbClr>
          </a:solidFill>
          <a:ln w="12700">
            <a:solidFill>
              <a:srgbClr val="F2B880">
                <a:alpha val="8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C2-E25 text 55" descr="sci-ppt:o055"/>
          <p:cNvSpPr txBox="1"/>
          <p:nvPr/>
        </p:nvSpPr>
        <p:spPr>
          <a:xfrm>
            <a:off x="4773168" y="5394960"/>
            <a:ext cx="14630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−3Ṙ/R (volume)</a:t>
            </a:r>
          </a:p>
        </p:txBody>
      </p:sp>
      <p:sp>
        <p:nvSpPr>
          <p:cNvPr id="58" name="C2-E25 rect 56" descr="sci-ppt:o056"/>
          <p:cNvSpPr/>
          <p:nvPr/>
        </p:nvSpPr>
        <p:spPr>
          <a:xfrm>
            <a:off x="6217919" y="5440680"/>
            <a:ext cx="228600" cy="182880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C2-E25 text 57" descr="sci-ppt:o057"/>
          <p:cNvSpPr txBox="1"/>
          <p:nvPr/>
        </p:nvSpPr>
        <p:spPr>
          <a:xfrm>
            <a:off x="6510527" y="5394960"/>
            <a:ext cx="1463040" cy="216153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E7F0F3"/>
                </a:solidFill>
                <a:latin typeface="Arial"/>
              </a:rPr>
              <a:t>ṗ/p (total)</a:t>
            </a:r>
          </a:p>
        </p:txBody>
      </p:sp>
      <p:sp>
        <p:nvSpPr>
          <p:cNvPr id="60" name="C2-E25 round_rect 58" descr="sci-ppt:o058"/>
          <p:cNvSpPr/>
          <p:nvPr/>
        </p:nvSpPr>
        <p:spPr>
          <a:xfrm>
            <a:off x="7955279" y="1371600"/>
            <a:ext cx="38862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C2-E25 text 59" descr="sci-ppt:o059"/>
          <p:cNvSpPr txBox="1"/>
          <p:nvPr/>
        </p:nvSpPr>
        <p:spPr>
          <a:xfrm>
            <a:off x="8065007" y="1426464"/>
            <a:ext cx="36667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Three drivers of pressure</a:t>
            </a:r>
          </a:p>
        </p:txBody>
      </p:sp>
      <p:sp>
        <p:nvSpPr>
          <p:cNvPr id="62" name="C2-E25 text 60" descr="sci-ppt:o060"/>
          <p:cNvSpPr txBox="1"/>
          <p:nvPr/>
        </p:nvSpPr>
        <p:spPr>
          <a:xfrm>
            <a:off x="8092440" y="1828800"/>
            <a:ext cx="36576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ṗᵥ,s / pᵥ,s = ṁᵥ,s/mᵥ,s + Ṫ_b/T_b − 3Ṙ/R</a:t>
            </a:r>
          </a:p>
        </p:txBody>
      </p:sp>
      <p:sp>
        <p:nvSpPr>
          <p:cNvPr id="63" name="C2-E25 text 61" descr="sci-ppt:o061"/>
          <p:cNvSpPr txBox="1"/>
          <p:nvPr/>
        </p:nvSpPr>
        <p:spPr>
          <a:xfrm>
            <a:off x="8293608" y="2606040"/>
            <a:ext cx="345643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Evaporation raises p; cooling lowers it;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volume growth lowers it quickly.</a:t>
            </a:r>
          </a:p>
        </p:txBody>
      </p:sp>
      <p:sp>
        <p:nvSpPr>
          <p:cNvPr id="64" name="C2-E25 ellipse 62" descr="sci-ppt:o062"/>
          <p:cNvSpPr/>
          <p:nvPr/>
        </p:nvSpPr>
        <p:spPr>
          <a:xfrm>
            <a:off x="8124444" y="2659380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C2-E25 text 63" descr="sci-ppt:o063"/>
          <p:cNvSpPr txBox="1"/>
          <p:nvPr/>
        </p:nvSpPr>
        <p:spPr>
          <a:xfrm>
            <a:off x="8293608" y="3069336"/>
            <a:ext cx="345643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 law written in R alone keeps only the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third term.</a:t>
            </a:r>
          </a:p>
        </p:txBody>
      </p:sp>
      <p:sp>
        <p:nvSpPr>
          <p:cNvPr id="66" name="C2-E25 ellipse 64" descr="sci-ppt:o064"/>
          <p:cNvSpPr/>
          <p:nvPr/>
        </p:nvSpPr>
        <p:spPr>
          <a:xfrm>
            <a:off x="8124444" y="3122676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C2-E25 text 65" descr="sci-ppt:o065"/>
          <p:cNvSpPr txBox="1"/>
          <p:nvPr/>
        </p:nvSpPr>
        <p:spPr>
          <a:xfrm>
            <a:off x="8293608" y="3532631"/>
            <a:ext cx="3456432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A bubble can lose pressure while still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evaporating if the volume term dominates.</a:t>
            </a:r>
          </a:p>
        </p:txBody>
      </p:sp>
      <p:sp>
        <p:nvSpPr>
          <p:cNvPr id="68" name="C2-E25 ellipse 66" descr="sci-ppt:o066"/>
          <p:cNvSpPr/>
          <p:nvPr/>
        </p:nvSpPr>
        <p:spPr>
          <a:xfrm>
            <a:off x="8124444" y="3585972"/>
            <a:ext cx="82296" cy="82296"/>
          </a:xfrm>
          <a:prstGeom prst="ellipse">
            <a:avLst/>
          </a:prstGeom>
          <a:solidFill>
            <a:srgbClr val="8EDBD4"/>
          </a:solidFill>
          <a:ln w="127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C2-E25 text 67" descr="sci-ppt:o067"/>
          <p:cNvSpPr txBox="1"/>
          <p:nvPr/>
        </p:nvSpPr>
        <p:spPr>
          <a:xfrm>
            <a:off x="914400" y="5852160"/>
            <a:ext cx="109728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Rates are illustrative, chosen only to show how the three terms can compete. Identity valid for a spherical bubble (V_b = 4πR³/3).</a:t>
            </a:r>
          </a:p>
        </p:txBody>
      </p:sp>
      <p:sp>
        <p:nvSpPr>
          <p:cNvPr id="70" name="C2-E25 text 68" descr="sci-ppt:o068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Logarithmic derivative of the ideal-gas law, Eq. C2-E25.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