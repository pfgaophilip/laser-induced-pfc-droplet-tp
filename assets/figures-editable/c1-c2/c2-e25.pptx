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25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C2-E25 | Physical-variable diagram</a:t>
            </a:r>
          </a:p>
        </p:txBody>
      </p:sp>
      <p:sp>
        <p:nvSpPr>
          <p:cNvPr id="3" name="rect2" descr="sci-ppt:C2-E25-002"/>
          <p:cNvSpPr/>
          <p:nvPr/>
        </p:nvSpPr>
        <p:spPr>
          <a:xfrm>
            <a:off x="731520" y="1463040"/>
            <a:ext cx="341376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2-E25-003"/>
          <p:cNvSpPr txBox="1"/>
          <p:nvPr/>
        </p:nvSpPr>
        <p:spPr>
          <a:xfrm>
            <a:off x="853440" y="1584960"/>
            <a:ext cx="323088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Species masses m_v,s</a:t>
            </a:r>
          </a:p>
        </p:txBody>
      </p:sp>
      <p:cxnSp>
        <p:nvCxnSpPr>
          <p:cNvPr id="5" name="arrow4" descr="sci-ppt:C2-E25-004"/>
          <p:cNvCxnSpPr/>
          <p:nvPr/>
        </p:nvCxnSpPr>
        <p:spPr>
          <a:xfrm>
            <a:off x="2438400" y="2743200"/>
            <a:ext cx="3535680" cy="975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rect5" descr="sci-ppt:C2-E25-005"/>
          <p:cNvSpPr/>
          <p:nvPr/>
        </p:nvSpPr>
        <p:spPr>
          <a:xfrm>
            <a:off x="4511040" y="1463040"/>
            <a:ext cx="341376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6" descr="sci-ppt:C2-E25-006"/>
          <p:cNvSpPr txBox="1"/>
          <p:nvPr/>
        </p:nvSpPr>
        <p:spPr>
          <a:xfrm>
            <a:off x="4632960" y="1584960"/>
            <a:ext cx="323088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Temperature T_b</a:t>
            </a:r>
          </a:p>
        </p:txBody>
      </p:sp>
      <p:cxnSp>
        <p:nvCxnSpPr>
          <p:cNvPr id="8" name="arrow7" descr="sci-ppt:C2-E25-007"/>
          <p:cNvCxnSpPr/>
          <p:nvPr/>
        </p:nvCxnSpPr>
        <p:spPr>
          <a:xfrm flipH="1">
            <a:off x="5974080" y="2743200"/>
            <a:ext cx="243840" cy="975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rect8" descr="sci-ppt:C2-E25-008"/>
          <p:cNvSpPr/>
          <p:nvPr/>
        </p:nvSpPr>
        <p:spPr>
          <a:xfrm>
            <a:off x="8290560" y="1463040"/>
            <a:ext cx="341376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9" descr="sci-ppt:C2-E25-009"/>
          <p:cNvSpPr txBox="1"/>
          <p:nvPr/>
        </p:nvSpPr>
        <p:spPr>
          <a:xfrm>
            <a:off x="8412480" y="1584960"/>
            <a:ext cx="323088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Bubble volume V_b</a:t>
            </a:r>
          </a:p>
        </p:txBody>
      </p:sp>
      <p:cxnSp>
        <p:nvCxnSpPr>
          <p:cNvPr id="11" name="arrow10" descr="sci-ppt:C2-E25-010"/>
          <p:cNvCxnSpPr/>
          <p:nvPr/>
        </p:nvCxnSpPr>
        <p:spPr>
          <a:xfrm flipH="1">
            <a:off x="5974080" y="2743200"/>
            <a:ext cx="4023360" cy="975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rect11" descr="sci-ppt:C2-E25-011"/>
          <p:cNvSpPr/>
          <p:nvPr/>
        </p:nvSpPr>
        <p:spPr>
          <a:xfrm>
            <a:off x="3779520" y="3596640"/>
            <a:ext cx="4389120" cy="7924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12" descr="sci-ppt:C2-E25-012"/>
          <p:cNvSpPr txBox="1"/>
          <p:nvPr/>
        </p:nvSpPr>
        <p:spPr>
          <a:xfrm>
            <a:off x="3901440" y="3718560"/>
            <a:ext cx="4206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Mixture pressure p_b</a:t>
            </a:r>
          </a:p>
        </p:txBody>
      </p:sp>
      <p:sp>
        <p:nvSpPr>
          <p:cNvPr id="14" name="text13" descr="sci-ppt:C2-E25-013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p_v,s, ṗ_v,s: partial pressure change</a:t>
            </a:r>
          </a:p>
        </p:txBody>
      </p:sp>
      <p:sp>
        <p:nvSpPr>
          <p:cNvPr id="15" name="text14" descr="sci-ppt:C2-E25-014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T_b, Ṫ_b: heating or cooling</a:t>
            </a:r>
          </a:p>
        </p:txBody>
      </p:sp>
      <p:sp>
        <p:nvSpPr>
          <p:cNvPr id="16" name="text15" descr="sci-ppt:C2-E25-015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R, Ṙ: spherical volume change</a:t>
            </a:r>
          </a:p>
        </p:txBody>
      </p:sp>
      <p:sp>
        <p:nvSpPr>
          <p:cNvPr id="17" name="text16" descr="sci-ppt:C2-E25-016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m_v,s, ṁ_v,s: evaporation or loss</a:t>
            </a:r>
          </a:p>
        </p:txBody>
      </p:sp>
      <p:sp>
        <p:nvSpPr>
          <p:cNvPr id="18" name="text17" descr="sci-ppt:C2-E25-017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V_b, V̇_b: geometric expansion</a:t>
            </a:r>
          </a:p>
        </p:txBody>
      </p:sp>
      <p:sp>
        <p:nvSpPr>
          <p:cNvPr id="19" name="text18" descr="sci-ppt:C2-E25-018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s: species index</a:t>
            </a:r>
          </a:p>
        </p:txBody>
      </p:sp>
      <p:sp>
        <p:nvSpPr>
          <p:cNvPr id="20" name="text19" descr="sci-ppt:C2-E25-019"/>
          <p:cNvSpPr txBox="1"/>
          <p:nvPr/>
        </p:nvSpPr>
        <p:spPr>
          <a:xfrm>
            <a:off x="365760" y="627888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Expansion lowers pressure at fixed mass and temperature</a:t>
            </a:r>
          </a:p>
        </p:txBody>
      </p:sp>
      <p:sp>
        <p:nvSpPr>
          <p:cNvPr id="21" name="text20" descr="sci-ppt:C2-E25-020"/>
          <p:cNvSpPr txBox="1"/>
          <p:nvPr/>
        </p:nvSpPr>
        <p:spPr>
          <a:xfrm>
            <a:off x="365760" y="657148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Evaporation or heating can oppose the geometric pressure decrease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