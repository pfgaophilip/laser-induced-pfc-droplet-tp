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C1-E14 · Integrated speed with initial constant and branch</a:t>
            </a:r>
          </a:p>
        </p:txBody>
      </p:sp>
      <p:cxnSp>
        <p:nvCxnSpPr>
          <p:cNvPr id="3" name="C1-E14 line 1" descr="sci-ppt:o001"/>
          <p:cNvCxnSpPr/>
          <p:nvPr/>
        </p:nvCxnSpPr>
        <p:spPr>
          <a:xfrm>
            <a:off x="1005840" y="512064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4 line 2" descr="sci-ppt:o002"/>
          <p:cNvCxnSpPr/>
          <p:nvPr/>
        </p:nvCxnSpPr>
        <p:spPr>
          <a:xfrm>
            <a:off x="1005840" y="1371600"/>
            <a:ext cx="0" cy="374904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4 line 3" descr="sci-ppt:o003"/>
          <p:cNvCxnSpPr/>
          <p:nvPr/>
        </p:nvCxnSpPr>
        <p:spPr>
          <a:xfrm>
            <a:off x="100584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4 line 4" descr="sci-ppt:o004"/>
          <p:cNvCxnSpPr/>
          <p:nvPr/>
        </p:nvCxnSpPr>
        <p:spPr>
          <a:xfrm>
            <a:off x="1005840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4 text 5" descr="sci-ppt:o005"/>
          <p:cNvSpPr txBox="1"/>
          <p:nvPr/>
        </p:nvSpPr>
        <p:spPr>
          <a:xfrm>
            <a:off x="548640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0.02</a:t>
            </a:r>
          </a:p>
        </p:txBody>
      </p:sp>
      <p:cxnSp>
        <p:nvCxnSpPr>
          <p:cNvPr id="8" name="C1-E14 line 6" descr="sci-ppt:o006"/>
          <p:cNvCxnSpPr/>
          <p:nvPr/>
        </p:nvCxnSpPr>
        <p:spPr>
          <a:xfrm>
            <a:off x="2376557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4 line 7" descr="sci-ppt:o007"/>
          <p:cNvCxnSpPr/>
          <p:nvPr/>
        </p:nvCxnSpPr>
        <p:spPr>
          <a:xfrm>
            <a:off x="2376557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4 text 8" descr="sci-ppt:o008"/>
          <p:cNvSpPr txBox="1"/>
          <p:nvPr/>
        </p:nvSpPr>
        <p:spPr>
          <a:xfrm>
            <a:off x="1919357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0.05</a:t>
            </a:r>
          </a:p>
        </p:txBody>
      </p:sp>
      <p:cxnSp>
        <p:nvCxnSpPr>
          <p:cNvPr id="11" name="C1-E14 line 9" descr="sci-ppt:o009"/>
          <p:cNvCxnSpPr/>
          <p:nvPr/>
        </p:nvCxnSpPr>
        <p:spPr>
          <a:xfrm>
            <a:off x="3413465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4 line 10" descr="sci-ppt:o010"/>
          <p:cNvCxnSpPr/>
          <p:nvPr/>
        </p:nvCxnSpPr>
        <p:spPr>
          <a:xfrm>
            <a:off x="3413465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4 text 11" descr="sci-ppt:o011"/>
          <p:cNvSpPr txBox="1"/>
          <p:nvPr/>
        </p:nvSpPr>
        <p:spPr>
          <a:xfrm>
            <a:off x="2956265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4" name="C1-E14 line 12" descr="sci-ppt:o012"/>
          <p:cNvCxnSpPr/>
          <p:nvPr/>
        </p:nvCxnSpPr>
        <p:spPr>
          <a:xfrm>
            <a:off x="4450374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4 line 13" descr="sci-ppt:o013"/>
          <p:cNvCxnSpPr/>
          <p:nvPr/>
        </p:nvCxnSpPr>
        <p:spPr>
          <a:xfrm>
            <a:off x="4450374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4 text 14" descr="sci-ppt:o014"/>
          <p:cNvSpPr txBox="1"/>
          <p:nvPr/>
        </p:nvSpPr>
        <p:spPr>
          <a:xfrm>
            <a:off x="3993174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17" name="C1-E14 line 15" descr="sci-ppt:o015"/>
          <p:cNvCxnSpPr/>
          <p:nvPr/>
        </p:nvCxnSpPr>
        <p:spPr>
          <a:xfrm>
            <a:off x="5821091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4 line 16" descr="sci-ppt:o016"/>
          <p:cNvCxnSpPr/>
          <p:nvPr/>
        </p:nvCxnSpPr>
        <p:spPr>
          <a:xfrm>
            <a:off x="5821091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4 text 17" descr="sci-ppt:o017"/>
          <p:cNvSpPr txBox="1"/>
          <p:nvPr/>
        </p:nvSpPr>
        <p:spPr>
          <a:xfrm>
            <a:off x="5363891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0" name="C1-E14 line 18" descr="sci-ppt:o018"/>
          <p:cNvCxnSpPr/>
          <p:nvPr/>
        </p:nvCxnSpPr>
        <p:spPr>
          <a:xfrm>
            <a:off x="6858000" y="512064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4 line 19" descr="sci-ppt:o019"/>
          <p:cNvCxnSpPr/>
          <p:nvPr/>
        </p:nvCxnSpPr>
        <p:spPr>
          <a:xfrm>
            <a:off x="6858000" y="1371600"/>
            <a:ext cx="0" cy="374904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14 text 20" descr="sci-ppt:o020"/>
          <p:cNvSpPr txBox="1"/>
          <p:nvPr/>
        </p:nvSpPr>
        <p:spPr>
          <a:xfrm>
            <a:off x="6400800" y="520293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3" name="C1-E14 line 21" descr="sci-ppt:o021"/>
          <p:cNvCxnSpPr/>
          <p:nvPr/>
        </p:nvCxnSpPr>
        <p:spPr>
          <a:xfrm>
            <a:off x="941832" y="5120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14 line 22" descr="sci-ppt:o022"/>
          <p:cNvCxnSpPr/>
          <p:nvPr/>
        </p:nvCxnSpPr>
        <p:spPr>
          <a:xfrm>
            <a:off x="941832" y="3870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4 line 23" descr="sci-ppt:o023"/>
          <p:cNvCxnSpPr/>
          <p:nvPr/>
        </p:nvCxnSpPr>
        <p:spPr>
          <a:xfrm>
            <a:off x="1005840" y="387096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4 text 24" descr="sci-ppt:o024"/>
          <p:cNvSpPr txBox="1"/>
          <p:nvPr/>
        </p:nvSpPr>
        <p:spPr>
          <a:xfrm>
            <a:off x="137160" y="3788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7" name="C1-E14 line 25" descr="sci-ppt:o025"/>
          <p:cNvCxnSpPr/>
          <p:nvPr/>
        </p:nvCxnSpPr>
        <p:spPr>
          <a:xfrm>
            <a:off x="941832" y="2621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4 line 26" descr="sci-ppt:o026"/>
          <p:cNvCxnSpPr/>
          <p:nvPr/>
        </p:nvCxnSpPr>
        <p:spPr>
          <a:xfrm>
            <a:off x="1005840" y="262128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4 text 27" descr="sci-ppt:o027"/>
          <p:cNvSpPr txBox="1"/>
          <p:nvPr/>
        </p:nvSpPr>
        <p:spPr>
          <a:xfrm>
            <a:off x="137160" y="2538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30" name="C1-E14 line 28" descr="sci-ppt:o028"/>
          <p:cNvCxnSpPr/>
          <p:nvPr/>
        </p:nvCxnSpPr>
        <p:spPr>
          <a:xfrm>
            <a:off x="94183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4 line 29" descr="sci-ppt:o029"/>
          <p:cNvCxnSpPr/>
          <p:nvPr/>
        </p:nvCxnSpPr>
        <p:spPr>
          <a:xfrm>
            <a:off x="1005840" y="1371600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4 text 30" descr="sci-ppt:o030"/>
          <p:cNvSpPr txBox="1"/>
          <p:nvPr/>
        </p:nvSpPr>
        <p:spPr>
          <a:xfrm>
            <a:off x="13716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sp>
        <p:nvSpPr>
          <p:cNvPr id="33" name="C1-E14 text 31" descr="sci-ppt:o031"/>
          <p:cNvSpPr txBox="1"/>
          <p:nvPr/>
        </p:nvSpPr>
        <p:spPr>
          <a:xfrm>
            <a:off x="1005840" y="5404103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34" name="C1-E14 text 32" descr="sci-ppt:o032"/>
          <p:cNvSpPr txBox="1"/>
          <p:nvPr/>
        </p:nvSpPr>
        <p:spPr>
          <a:xfrm>
            <a:off x="45720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|Ṙ|  (m/s)</a:t>
            </a:r>
          </a:p>
        </p:txBody>
      </p:sp>
      <p:sp>
        <p:nvSpPr>
          <p:cNvPr id="35" name="C1-E14 polygon 33" descr="sci-ppt:o033"/>
          <p:cNvSpPr/>
          <p:nvPr/>
        </p:nvSpPr>
        <p:spPr>
          <a:xfrm>
            <a:off x="2099013" y="1391161"/>
            <a:ext cx="4739402" cy="3462934"/>
          </a:xfrm>
          <a:custGeom>
            <a:avLst/>
            <a:gdLst/>
            <a:ahLst/>
            <a:cxnLst/>
            <a:rect l="l" t="t" r="r" b="b"/>
            <a:pathLst>
              <a:path w="4739402" h="3462934">
                <a:moveTo>
                  <a:pt x="0" y="0"/>
                </a:moveTo>
                <a:lnTo>
                  <a:pt x="39168" y="21317"/>
                </a:lnTo>
                <a:lnTo>
                  <a:pt x="78337" y="42634"/>
                </a:lnTo>
                <a:lnTo>
                  <a:pt x="117506" y="63952"/>
                </a:lnTo>
                <a:lnTo>
                  <a:pt x="156674" y="85270"/>
                </a:lnTo>
                <a:lnTo>
                  <a:pt x="195843" y="106587"/>
                </a:lnTo>
                <a:lnTo>
                  <a:pt x="235012" y="127905"/>
                </a:lnTo>
                <a:lnTo>
                  <a:pt x="274180" y="149223"/>
                </a:lnTo>
                <a:lnTo>
                  <a:pt x="313349" y="170542"/>
                </a:lnTo>
                <a:lnTo>
                  <a:pt x="352517" y="191860"/>
                </a:lnTo>
                <a:lnTo>
                  <a:pt x="391686" y="213179"/>
                </a:lnTo>
                <a:lnTo>
                  <a:pt x="430855" y="234498"/>
                </a:lnTo>
                <a:lnTo>
                  <a:pt x="470023" y="255818"/>
                </a:lnTo>
                <a:lnTo>
                  <a:pt x="509192" y="277137"/>
                </a:lnTo>
                <a:lnTo>
                  <a:pt x="548360" y="298457"/>
                </a:lnTo>
                <a:lnTo>
                  <a:pt x="587529" y="319778"/>
                </a:lnTo>
                <a:lnTo>
                  <a:pt x="626698" y="341099"/>
                </a:lnTo>
                <a:lnTo>
                  <a:pt x="665866" y="362420"/>
                </a:lnTo>
                <a:lnTo>
                  <a:pt x="705035" y="383741"/>
                </a:lnTo>
                <a:lnTo>
                  <a:pt x="744204" y="405064"/>
                </a:lnTo>
                <a:lnTo>
                  <a:pt x="783372" y="426386"/>
                </a:lnTo>
                <a:lnTo>
                  <a:pt x="822541" y="447710"/>
                </a:lnTo>
                <a:lnTo>
                  <a:pt x="861709" y="469033"/>
                </a:lnTo>
                <a:lnTo>
                  <a:pt x="900878" y="490358"/>
                </a:lnTo>
                <a:lnTo>
                  <a:pt x="940047" y="511683"/>
                </a:lnTo>
                <a:lnTo>
                  <a:pt x="979215" y="533009"/>
                </a:lnTo>
                <a:lnTo>
                  <a:pt x="1018384" y="554336"/>
                </a:lnTo>
                <a:lnTo>
                  <a:pt x="1057552" y="575664"/>
                </a:lnTo>
                <a:lnTo>
                  <a:pt x="1096721" y="596993"/>
                </a:lnTo>
                <a:lnTo>
                  <a:pt x="1135890" y="618323"/>
                </a:lnTo>
                <a:lnTo>
                  <a:pt x="1175058" y="639654"/>
                </a:lnTo>
                <a:lnTo>
                  <a:pt x="1214227" y="660987"/>
                </a:lnTo>
                <a:lnTo>
                  <a:pt x="1253396" y="682320"/>
                </a:lnTo>
                <a:lnTo>
                  <a:pt x="1292564" y="703656"/>
                </a:lnTo>
                <a:lnTo>
                  <a:pt x="1331733" y="724992"/>
                </a:lnTo>
                <a:lnTo>
                  <a:pt x="1370901" y="746331"/>
                </a:lnTo>
                <a:lnTo>
                  <a:pt x="1410070" y="767671"/>
                </a:lnTo>
                <a:lnTo>
                  <a:pt x="1449239" y="789014"/>
                </a:lnTo>
                <a:lnTo>
                  <a:pt x="1488407" y="810359"/>
                </a:lnTo>
                <a:lnTo>
                  <a:pt x="1527576" y="831706"/>
                </a:lnTo>
                <a:lnTo>
                  <a:pt x="1566744" y="853055"/>
                </a:lnTo>
                <a:lnTo>
                  <a:pt x="1605913" y="874408"/>
                </a:lnTo>
                <a:lnTo>
                  <a:pt x="1645082" y="895763"/>
                </a:lnTo>
                <a:lnTo>
                  <a:pt x="1684250" y="917122"/>
                </a:lnTo>
                <a:lnTo>
                  <a:pt x="1723419" y="938484"/>
                </a:lnTo>
                <a:lnTo>
                  <a:pt x="1762587" y="959850"/>
                </a:lnTo>
                <a:lnTo>
                  <a:pt x="1801756" y="981221"/>
                </a:lnTo>
                <a:lnTo>
                  <a:pt x="1840925" y="1002595"/>
                </a:lnTo>
                <a:lnTo>
                  <a:pt x="1880093" y="1023975"/>
                </a:lnTo>
                <a:lnTo>
                  <a:pt x="1919262" y="1045360"/>
                </a:lnTo>
                <a:lnTo>
                  <a:pt x="1958431" y="1066750"/>
                </a:lnTo>
                <a:lnTo>
                  <a:pt x="1997599" y="1088147"/>
                </a:lnTo>
                <a:lnTo>
                  <a:pt x="2036768" y="1109550"/>
                </a:lnTo>
                <a:lnTo>
                  <a:pt x="2075936" y="1130960"/>
                </a:lnTo>
                <a:lnTo>
                  <a:pt x="2115105" y="1152379"/>
                </a:lnTo>
                <a:lnTo>
                  <a:pt x="2154274" y="1173805"/>
                </a:lnTo>
                <a:lnTo>
                  <a:pt x="2193442" y="1195241"/>
                </a:lnTo>
                <a:lnTo>
                  <a:pt x="2232611" y="1216687"/>
                </a:lnTo>
                <a:lnTo>
                  <a:pt x="2271779" y="1238143"/>
                </a:lnTo>
                <a:lnTo>
                  <a:pt x="2310948" y="1259611"/>
                </a:lnTo>
                <a:lnTo>
                  <a:pt x="2350117" y="1281091"/>
                </a:lnTo>
                <a:lnTo>
                  <a:pt x="2389285" y="1302585"/>
                </a:lnTo>
                <a:lnTo>
                  <a:pt x="2428454" y="1324094"/>
                </a:lnTo>
                <a:lnTo>
                  <a:pt x="2467623" y="1345619"/>
                </a:lnTo>
                <a:lnTo>
                  <a:pt x="2506791" y="1367161"/>
                </a:lnTo>
                <a:lnTo>
                  <a:pt x="2545960" y="1388722"/>
                </a:lnTo>
                <a:lnTo>
                  <a:pt x="2585128" y="1410303"/>
                </a:lnTo>
                <a:lnTo>
                  <a:pt x="2624297" y="1431906"/>
                </a:lnTo>
                <a:lnTo>
                  <a:pt x="2663466" y="1453532"/>
                </a:lnTo>
                <a:lnTo>
                  <a:pt x="2702634" y="1475185"/>
                </a:lnTo>
                <a:lnTo>
                  <a:pt x="2741803" y="1496865"/>
                </a:lnTo>
                <a:lnTo>
                  <a:pt x="2780971" y="1518576"/>
                </a:lnTo>
                <a:lnTo>
                  <a:pt x="2820140" y="1540320"/>
                </a:lnTo>
                <a:lnTo>
                  <a:pt x="2859309" y="1562100"/>
                </a:lnTo>
                <a:lnTo>
                  <a:pt x="2898477" y="1583919"/>
                </a:lnTo>
                <a:lnTo>
                  <a:pt x="2937646" y="1605779"/>
                </a:lnTo>
                <a:lnTo>
                  <a:pt x="2976815" y="1627686"/>
                </a:lnTo>
                <a:lnTo>
                  <a:pt x="3015983" y="1649642"/>
                </a:lnTo>
                <a:lnTo>
                  <a:pt x="3055152" y="1671652"/>
                </a:lnTo>
                <a:lnTo>
                  <a:pt x="3094320" y="1693721"/>
                </a:lnTo>
                <a:lnTo>
                  <a:pt x="3133489" y="1715854"/>
                </a:lnTo>
                <a:lnTo>
                  <a:pt x="3172658" y="1738056"/>
                </a:lnTo>
                <a:lnTo>
                  <a:pt x="3211826" y="1760335"/>
                </a:lnTo>
                <a:lnTo>
                  <a:pt x="3250995" y="1782695"/>
                </a:lnTo>
                <a:lnTo>
                  <a:pt x="3290163" y="1805146"/>
                </a:lnTo>
                <a:lnTo>
                  <a:pt x="3329332" y="1827695"/>
                </a:lnTo>
                <a:lnTo>
                  <a:pt x="3368501" y="1850351"/>
                </a:lnTo>
                <a:lnTo>
                  <a:pt x="3407669" y="1873124"/>
                </a:lnTo>
                <a:lnTo>
                  <a:pt x="3446838" y="1896025"/>
                </a:lnTo>
                <a:lnTo>
                  <a:pt x="3486007" y="1919066"/>
                </a:lnTo>
                <a:lnTo>
                  <a:pt x="3525175" y="1942260"/>
                </a:lnTo>
                <a:lnTo>
                  <a:pt x="3564344" y="1965623"/>
                </a:lnTo>
                <a:lnTo>
                  <a:pt x="3603512" y="1989170"/>
                </a:lnTo>
                <a:lnTo>
                  <a:pt x="3642681" y="2012921"/>
                </a:lnTo>
                <a:lnTo>
                  <a:pt x="3681850" y="2036896"/>
                </a:lnTo>
                <a:lnTo>
                  <a:pt x="3721018" y="2061117"/>
                </a:lnTo>
                <a:lnTo>
                  <a:pt x="3760187" y="2085611"/>
                </a:lnTo>
                <a:lnTo>
                  <a:pt x="3799355" y="2110408"/>
                </a:lnTo>
                <a:lnTo>
                  <a:pt x="3838524" y="2135540"/>
                </a:lnTo>
                <a:lnTo>
                  <a:pt x="3877693" y="2161045"/>
                </a:lnTo>
                <a:lnTo>
                  <a:pt x="3916861" y="2186967"/>
                </a:lnTo>
                <a:lnTo>
                  <a:pt x="3956030" y="2213354"/>
                </a:lnTo>
                <a:lnTo>
                  <a:pt x="3995199" y="2240265"/>
                </a:lnTo>
                <a:lnTo>
                  <a:pt x="4034367" y="2267766"/>
                </a:lnTo>
                <a:lnTo>
                  <a:pt x="4073536" y="2295935"/>
                </a:lnTo>
                <a:lnTo>
                  <a:pt x="4112704" y="2324864"/>
                </a:lnTo>
                <a:lnTo>
                  <a:pt x="4151873" y="2354664"/>
                </a:lnTo>
                <a:lnTo>
                  <a:pt x="4191042" y="2385465"/>
                </a:lnTo>
                <a:lnTo>
                  <a:pt x="4230210" y="2417430"/>
                </a:lnTo>
                <a:lnTo>
                  <a:pt x="4269379" y="2450755"/>
                </a:lnTo>
                <a:lnTo>
                  <a:pt x="4308547" y="2485690"/>
                </a:lnTo>
                <a:lnTo>
                  <a:pt x="4347716" y="2522550"/>
                </a:lnTo>
                <a:lnTo>
                  <a:pt x="4386885" y="2561748"/>
                </a:lnTo>
                <a:lnTo>
                  <a:pt x="4426053" y="2603834"/>
                </a:lnTo>
                <a:lnTo>
                  <a:pt x="4465222" y="2649565"/>
                </a:lnTo>
                <a:lnTo>
                  <a:pt x="4504391" y="2700027"/>
                </a:lnTo>
                <a:lnTo>
                  <a:pt x="4543559" y="2756852"/>
                </a:lnTo>
                <a:lnTo>
                  <a:pt x="4582728" y="2822660"/>
                </a:lnTo>
                <a:lnTo>
                  <a:pt x="4621896" y="2902073"/>
                </a:lnTo>
                <a:lnTo>
                  <a:pt x="4661065" y="3004456"/>
                </a:lnTo>
                <a:lnTo>
                  <a:pt x="4700234" y="3154013"/>
                </a:lnTo>
                <a:lnTo>
                  <a:pt x="4739402" y="3462934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14 polygon 34" descr="sci-ppt:o034"/>
          <p:cNvSpPr/>
          <p:nvPr/>
        </p:nvSpPr>
        <p:spPr>
          <a:xfrm>
            <a:off x="2099013" y="1391141"/>
            <a:ext cx="4758987" cy="2589847"/>
          </a:xfrm>
          <a:custGeom>
            <a:avLst/>
            <a:gdLst/>
            <a:ahLst/>
            <a:cxnLst/>
            <a:rect l="l" t="t" r="r" b="b"/>
            <a:pathLst>
              <a:path w="4758987" h="2589847">
                <a:moveTo>
                  <a:pt x="0" y="0"/>
                </a:moveTo>
                <a:lnTo>
                  <a:pt x="39168" y="21316"/>
                </a:lnTo>
                <a:lnTo>
                  <a:pt x="78337" y="42632"/>
                </a:lnTo>
                <a:lnTo>
                  <a:pt x="117506" y="63947"/>
                </a:lnTo>
                <a:lnTo>
                  <a:pt x="156674" y="85263"/>
                </a:lnTo>
                <a:lnTo>
                  <a:pt x="195843" y="106579"/>
                </a:lnTo>
                <a:lnTo>
                  <a:pt x="235012" y="127894"/>
                </a:lnTo>
                <a:lnTo>
                  <a:pt x="274180" y="149210"/>
                </a:lnTo>
                <a:lnTo>
                  <a:pt x="313349" y="170525"/>
                </a:lnTo>
                <a:lnTo>
                  <a:pt x="352517" y="191841"/>
                </a:lnTo>
                <a:lnTo>
                  <a:pt x="391686" y="213157"/>
                </a:lnTo>
                <a:lnTo>
                  <a:pt x="430855" y="234472"/>
                </a:lnTo>
                <a:lnTo>
                  <a:pt x="470023" y="255788"/>
                </a:lnTo>
                <a:lnTo>
                  <a:pt x="509192" y="277103"/>
                </a:lnTo>
                <a:lnTo>
                  <a:pt x="548360" y="298419"/>
                </a:lnTo>
                <a:lnTo>
                  <a:pt x="587529" y="319735"/>
                </a:lnTo>
                <a:lnTo>
                  <a:pt x="626698" y="341050"/>
                </a:lnTo>
                <a:lnTo>
                  <a:pt x="665866" y="362366"/>
                </a:lnTo>
                <a:lnTo>
                  <a:pt x="705035" y="383682"/>
                </a:lnTo>
                <a:lnTo>
                  <a:pt x="744204" y="404997"/>
                </a:lnTo>
                <a:lnTo>
                  <a:pt x="783372" y="426313"/>
                </a:lnTo>
                <a:lnTo>
                  <a:pt x="822541" y="447628"/>
                </a:lnTo>
                <a:lnTo>
                  <a:pt x="861709" y="468944"/>
                </a:lnTo>
                <a:lnTo>
                  <a:pt x="900878" y="490260"/>
                </a:lnTo>
                <a:lnTo>
                  <a:pt x="940047" y="511575"/>
                </a:lnTo>
                <a:lnTo>
                  <a:pt x="979215" y="532891"/>
                </a:lnTo>
                <a:lnTo>
                  <a:pt x="1018384" y="554206"/>
                </a:lnTo>
                <a:lnTo>
                  <a:pt x="1057552" y="575522"/>
                </a:lnTo>
                <a:lnTo>
                  <a:pt x="1096721" y="596838"/>
                </a:lnTo>
                <a:lnTo>
                  <a:pt x="1135890" y="618153"/>
                </a:lnTo>
                <a:lnTo>
                  <a:pt x="1175058" y="639469"/>
                </a:lnTo>
                <a:lnTo>
                  <a:pt x="1214227" y="660784"/>
                </a:lnTo>
                <a:lnTo>
                  <a:pt x="1253396" y="682100"/>
                </a:lnTo>
                <a:lnTo>
                  <a:pt x="1292564" y="703416"/>
                </a:lnTo>
                <a:lnTo>
                  <a:pt x="1331733" y="724731"/>
                </a:lnTo>
                <a:lnTo>
                  <a:pt x="1370901" y="746047"/>
                </a:lnTo>
                <a:lnTo>
                  <a:pt x="1410070" y="767363"/>
                </a:lnTo>
                <a:lnTo>
                  <a:pt x="1449239" y="788678"/>
                </a:lnTo>
                <a:lnTo>
                  <a:pt x="1488407" y="809994"/>
                </a:lnTo>
                <a:lnTo>
                  <a:pt x="1527576" y="831309"/>
                </a:lnTo>
                <a:lnTo>
                  <a:pt x="1566744" y="852625"/>
                </a:lnTo>
                <a:lnTo>
                  <a:pt x="1605913" y="873941"/>
                </a:lnTo>
                <a:lnTo>
                  <a:pt x="1645082" y="895256"/>
                </a:lnTo>
                <a:lnTo>
                  <a:pt x="1684250" y="916572"/>
                </a:lnTo>
                <a:lnTo>
                  <a:pt x="1723419" y="937887"/>
                </a:lnTo>
                <a:lnTo>
                  <a:pt x="1762587" y="959203"/>
                </a:lnTo>
                <a:lnTo>
                  <a:pt x="1801756" y="980519"/>
                </a:lnTo>
                <a:lnTo>
                  <a:pt x="1840925" y="1001834"/>
                </a:lnTo>
                <a:lnTo>
                  <a:pt x="1880093" y="1023150"/>
                </a:lnTo>
                <a:lnTo>
                  <a:pt x="1919262" y="1044465"/>
                </a:lnTo>
                <a:lnTo>
                  <a:pt x="1958431" y="1065781"/>
                </a:lnTo>
                <a:lnTo>
                  <a:pt x="1997599" y="1087097"/>
                </a:lnTo>
                <a:lnTo>
                  <a:pt x="2036768" y="1108412"/>
                </a:lnTo>
                <a:lnTo>
                  <a:pt x="2075936" y="1129728"/>
                </a:lnTo>
                <a:lnTo>
                  <a:pt x="2115105" y="1151044"/>
                </a:lnTo>
                <a:lnTo>
                  <a:pt x="2154274" y="1172359"/>
                </a:lnTo>
                <a:lnTo>
                  <a:pt x="2193442" y="1193675"/>
                </a:lnTo>
                <a:lnTo>
                  <a:pt x="2232611" y="1214990"/>
                </a:lnTo>
                <a:lnTo>
                  <a:pt x="2271779" y="1236306"/>
                </a:lnTo>
                <a:lnTo>
                  <a:pt x="2310948" y="1257622"/>
                </a:lnTo>
                <a:lnTo>
                  <a:pt x="2350117" y="1278937"/>
                </a:lnTo>
                <a:lnTo>
                  <a:pt x="2389285" y="1300253"/>
                </a:lnTo>
                <a:lnTo>
                  <a:pt x="2428454" y="1321568"/>
                </a:lnTo>
                <a:lnTo>
                  <a:pt x="2467623" y="1342884"/>
                </a:lnTo>
                <a:lnTo>
                  <a:pt x="2506791" y="1364200"/>
                </a:lnTo>
                <a:lnTo>
                  <a:pt x="2545960" y="1385515"/>
                </a:lnTo>
                <a:lnTo>
                  <a:pt x="2585128" y="1406831"/>
                </a:lnTo>
                <a:lnTo>
                  <a:pt x="2624297" y="1428147"/>
                </a:lnTo>
                <a:lnTo>
                  <a:pt x="2663466" y="1449462"/>
                </a:lnTo>
                <a:lnTo>
                  <a:pt x="2702634" y="1470778"/>
                </a:lnTo>
                <a:lnTo>
                  <a:pt x="2741803" y="1492093"/>
                </a:lnTo>
                <a:lnTo>
                  <a:pt x="2780971" y="1513409"/>
                </a:lnTo>
                <a:lnTo>
                  <a:pt x="2820140" y="1534725"/>
                </a:lnTo>
                <a:lnTo>
                  <a:pt x="2859309" y="1556040"/>
                </a:lnTo>
                <a:lnTo>
                  <a:pt x="2898477" y="1577356"/>
                </a:lnTo>
                <a:lnTo>
                  <a:pt x="2937646" y="1598671"/>
                </a:lnTo>
                <a:lnTo>
                  <a:pt x="2976815" y="1619987"/>
                </a:lnTo>
                <a:lnTo>
                  <a:pt x="3015983" y="1641303"/>
                </a:lnTo>
                <a:lnTo>
                  <a:pt x="3055152" y="1662618"/>
                </a:lnTo>
                <a:lnTo>
                  <a:pt x="3094320" y="1683934"/>
                </a:lnTo>
                <a:lnTo>
                  <a:pt x="3133489" y="1705249"/>
                </a:lnTo>
                <a:lnTo>
                  <a:pt x="3172658" y="1726565"/>
                </a:lnTo>
                <a:lnTo>
                  <a:pt x="3211826" y="1747881"/>
                </a:lnTo>
                <a:lnTo>
                  <a:pt x="3250995" y="1769196"/>
                </a:lnTo>
                <a:lnTo>
                  <a:pt x="3290163" y="1790512"/>
                </a:lnTo>
                <a:lnTo>
                  <a:pt x="3329332" y="1811828"/>
                </a:lnTo>
                <a:lnTo>
                  <a:pt x="3368501" y="1833143"/>
                </a:lnTo>
                <a:lnTo>
                  <a:pt x="3407669" y="1854459"/>
                </a:lnTo>
                <a:lnTo>
                  <a:pt x="3446838" y="1875774"/>
                </a:lnTo>
                <a:lnTo>
                  <a:pt x="3486007" y="1897090"/>
                </a:lnTo>
                <a:lnTo>
                  <a:pt x="3525175" y="1918406"/>
                </a:lnTo>
                <a:lnTo>
                  <a:pt x="3564344" y="1939721"/>
                </a:lnTo>
                <a:lnTo>
                  <a:pt x="3603512" y="1961037"/>
                </a:lnTo>
                <a:lnTo>
                  <a:pt x="3642681" y="1982352"/>
                </a:lnTo>
                <a:lnTo>
                  <a:pt x="3681850" y="2003668"/>
                </a:lnTo>
                <a:lnTo>
                  <a:pt x="3721018" y="2024984"/>
                </a:lnTo>
                <a:lnTo>
                  <a:pt x="3760187" y="2046299"/>
                </a:lnTo>
                <a:lnTo>
                  <a:pt x="3799355" y="2067615"/>
                </a:lnTo>
                <a:lnTo>
                  <a:pt x="3838524" y="2088930"/>
                </a:lnTo>
                <a:lnTo>
                  <a:pt x="3877693" y="2110246"/>
                </a:lnTo>
                <a:lnTo>
                  <a:pt x="3916861" y="2131562"/>
                </a:lnTo>
                <a:lnTo>
                  <a:pt x="3956030" y="2152877"/>
                </a:lnTo>
                <a:lnTo>
                  <a:pt x="3995199" y="2174193"/>
                </a:lnTo>
                <a:lnTo>
                  <a:pt x="4034367" y="2195509"/>
                </a:lnTo>
                <a:lnTo>
                  <a:pt x="4073536" y="2216824"/>
                </a:lnTo>
                <a:lnTo>
                  <a:pt x="4112704" y="2238140"/>
                </a:lnTo>
                <a:lnTo>
                  <a:pt x="4151873" y="2259455"/>
                </a:lnTo>
                <a:lnTo>
                  <a:pt x="4191042" y="2280771"/>
                </a:lnTo>
                <a:lnTo>
                  <a:pt x="4230210" y="2302087"/>
                </a:lnTo>
                <a:lnTo>
                  <a:pt x="4269379" y="2323402"/>
                </a:lnTo>
                <a:lnTo>
                  <a:pt x="4308547" y="2344718"/>
                </a:lnTo>
                <a:lnTo>
                  <a:pt x="4347716" y="2366033"/>
                </a:lnTo>
                <a:lnTo>
                  <a:pt x="4386885" y="2387349"/>
                </a:lnTo>
                <a:lnTo>
                  <a:pt x="4426053" y="2408665"/>
                </a:lnTo>
                <a:lnTo>
                  <a:pt x="4465222" y="2429980"/>
                </a:lnTo>
                <a:lnTo>
                  <a:pt x="4504391" y="2451296"/>
                </a:lnTo>
                <a:lnTo>
                  <a:pt x="4543559" y="2472611"/>
                </a:lnTo>
                <a:lnTo>
                  <a:pt x="4582728" y="2493927"/>
                </a:lnTo>
                <a:lnTo>
                  <a:pt x="4621896" y="2515243"/>
                </a:lnTo>
                <a:lnTo>
                  <a:pt x="4661065" y="2536558"/>
                </a:lnTo>
                <a:lnTo>
                  <a:pt x="4700234" y="2557874"/>
                </a:lnTo>
                <a:lnTo>
                  <a:pt x="4739402" y="2579190"/>
                </a:lnTo>
                <a:lnTo>
                  <a:pt x="4758987" y="2589847"/>
                </a:lnTo>
              </a:path>
            </a:pathLst>
          </a:custGeom>
          <a:noFill/>
          <a:ln w="22860">
            <a:solidFill>
              <a:srgbClr val="F2B88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14 ellipse 35" descr="sci-ppt:o035"/>
          <p:cNvSpPr/>
          <p:nvPr/>
        </p:nvSpPr>
        <p:spPr>
          <a:xfrm>
            <a:off x="5747939" y="337978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4 text 36" descr="sci-ppt:o036"/>
          <p:cNvSpPr txBox="1"/>
          <p:nvPr/>
        </p:nvSpPr>
        <p:spPr>
          <a:xfrm>
            <a:off x="3489371" y="3452999"/>
            <a:ext cx="2194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21.6 m/s at R = Rₘₐₓ/2</a:t>
            </a:r>
          </a:p>
        </p:txBody>
      </p:sp>
      <p:sp>
        <p:nvSpPr>
          <p:cNvPr id="39" name="C1-E14 ellipse 37" descr="sci-ppt:o037"/>
          <p:cNvSpPr/>
          <p:nvPr/>
        </p:nvSpPr>
        <p:spPr>
          <a:xfrm>
            <a:off x="3340313" y="2033588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14 text 38" descr="sci-ppt:o038"/>
          <p:cNvSpPr txBox="1"/>
          <p:nvPr/>
        </p:nvSpPr>
        <p:spPr>
          <a:xfrm>
            <a:off x="3550625" y="2015447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258 m/s at R = Rₘₐₓ/10</a:t>
            </a:r>
          </a:p>
        </p:txBody>
      </p:sp>
      <p:sp>
        <p:nvSpPr>
          <p:cNvPr id="41" name="C1-E14 text 39" descr="sci-ppt:o039"/>
          <p:cNvSpPr txBox="1"/>
          <p:nvPr/>
        </p:nvSpPr>
        <p:spPr>
          <a:xfrm>
            <a:off x="1221570" y="3779520"/>
            <a:ext cx="31089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dashed: ∝ R^(−3/2) as R → 0</a:t>
            </a:r>
          </a:p>
        </p:txBody>
      </p:sp>
      <p:sp>
        <p:nvSpPr>
          <p:cNvPr id="42" name="C1-E14 round_rect 40" descr="sci-ppt:o040"/>
          <p:cNvSpPr/>
          <p:nvPr/>
        </p:nvSpPr>
        <p:spPr>
          <a:xfrm>
            <a:off x="7223760" y="1371600"/>
            <a:ext cx="4617720" cy="3749039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14 text 41" descr="sci-ppt:o041"/>
          <p:cNvSpPr txBox="1"/>
          <p:nvPr/>
        </p:nvSpPr>
        <p:spPr>
          <a:xfrm>
            <a:off x="7333488" y="1426464"/>
            <a:ext cx="439826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Reading the solution</a:t>
            </a:r>
          </a:p>
        </p:txBody>
      </p:sp>
      <p:sp>
        <p:nvSpPr>
          <p:cNvPr id="44" name="C1-E14 text 42" descr="sci-ppt:o042"/>
          <p:cNvSpPr txBox="1"/>
          <p:nvPr/>
        </p:nvSpPr>
        <p:spPr>
          <a:xfrm>
            <a:off x="7360920" y="1828800"/>
            <a:ext cx="4389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Ṙ = −√{ (2Δp_c/3ρ) [ (Rₘₐₓ/R)³ − 1 ] }</a:t>
            </a:r>
          </a:p>
        </p:txBody>
      </p:sp>
      <p:sp>
        <p:nvSpPr>
          <p:cNvPr id="45" name="C1-E14 text 43" descr="sci-ppt:o043"/>
          <p:cNvSpPr txBox="1"/>
          <p:nvPr/>
        </p:nvSpPr>
        <p:spPr>
          <a:xfrm>
            <a:off x="7562088" y="2514600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start R = Rₘₐₓ at rest fixes the constant: Ṙ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= 0 there.</a:t>
            </a:r>
          </a:p>
        </p:txBody>
      </p:sp>
      <p:sp>
        <p:nvSpPr>
          <p:cNvPr id="46" name="C1-E14 ellipse 44" descr="sci-ppt:o044"/>
          <p:cNvSpPr/>
          <p:nvPr/>
        </p:nvSpPr>
        <p:spPr>
          <a:xfrm>
            <a:off x="7392924" y="257187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1-E14 text 45" descr="sci-ppt:o045"/>
          <p:cNvSpPr txBox="1"/>
          <p:nvPr/>
        </p:nvSpPr>
        <p:spPr>
          <a:xfrm>
            <a:off x="7562088" y="2993389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minus sign selects the inward branch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(collapse).</a:t>
            </a:r>
          </a:p>
        </p:txBody>
      </p:sp>
      <p:sp>
        <p:nvSpPr>
          <p:cNvPr id="48" name="C1-E14 ellipse 46" descr="sci-ppt:o046"/>
          <p:cNvSpPr/>
          <p:nvPr/>
        </p:nvSpPr>
        <p:spPr>
          <a:xfrm>
            <a:off x="7392924" y="305066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1-E14 text 47" descr="sci-ppt:o047"/>
          <p:cNvSpPr txBox="1"/>
          <p:nvPr/>
        </p:nvSpPr>
        <p:spPr>
          <a:xfrm>
            <a:off x="7562088" y="3472179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As R → 0, |Ṙ| grows without bound: this is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model's singularity, not a physical speed limit.</a:t>
            </a:r>
          </a:p>
        </p:txBody>
      </p:sp>
      <p:sp>
        <p:nvSpPr>
          <p:cNvPr id="50" name="C1-E14 ellipse 48" descr="sci-ppt:o048"/>
          <p:cNvSpPr/>
          <p:nvPr/>
        </p:nvSpPr>
        <p:spPr>
          <a:xfrm>
            <a:off x="7392924" y="352945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1-E14 text 49" descr="sci-ppt:o049"/>
          <p:cNvSpPr txBox="1"/>
          <p:nvPr/>
        </p:nvSpPr>
        <p:spPr>
          <a:xfrm>
            <a:off x="7562088" y="3950969"/>
            <a:ext cx="4187952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Real collapse is stopped by gas, viscosity,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tension and compressibility long before.</a:t>
            </a:r>
          </a:p>
        </p:txBody>
      </p:sp>
      <p:sp>
        <p:nvSpPr>
          <p:cNvPr id="52" name="C1-E14 ellipse 50" descr="sci-ppt:o050"/>
          <p:cNvSpPr/>
          <p:nvPr/>
        </p:nvSpPr>
        <p:spPr>
          <a:xfrm>
            <a:off x="7392924" y="4008247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1-E14 text 51" descr="sci-ppt:o051"/>
          <p:cNvSpPr txBox="1"/>
          <p:nvPr/>
        </p:nvSpPr>
        <p:spPr>
          <a:xfrm>
            <a:off x="100584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Teaching inputs: Rₘₐₓ = 30 µm, ρ = 1000 kg/m³, Δp_c = 100 kPa.</a:t>
            </a:r>
          </a:p>
        </p:txBody>
      </p:sp>
      <p:sp>
        <p:nvSpPr>
          <p:cNvPr id="54" name="C1-E14 text 52" descr="sci-ppt:o052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Wall speed from Eq. C1-E14 (log–log axes).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