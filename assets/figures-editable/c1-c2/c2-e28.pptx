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8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C2-E28 | Physical-variable diagram</a:t>
            </a:r>
          </a:p>
        </p:txBody>
      </p:sp>
      <p:sp>
        <p:nvSpPr>
          <p:cNvPr id="3" name="rect2" descr="sci-ppt:C2-E28-002"/>
          <p:cNvSpPr/>
          <p:nvPr/>
        </p:nvSpPr>
        <p:spPr>
          <a:xfrm>
            <a:off x="91440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8-003"/>
          <p:cNvSpPr txBox="1"/>
          <p:nvPr/>
        </p:nvSpPr>
        <p:spPr>
          <a:xfrm>
            <a:off x="103632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Sensible heating</a:t>
            </a:r>
          </a:p>
        </p:txBody>
      </p:sp>
      <p:sp>
        <p:nvSpPr>
          <p:cNvPr id="5" name="rect4" descr="sci-ppt:C2-E28-004"/>
          <p:cNvSpPr/>
          <p:nvPr/>
        </p:nvSpPr>
        <p:spPr>
          <a:xfrm>
            <a:off x="445008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2-E28-005"/>
          <p:cNvSpPr txBox="1"/>
          <p:nvPr/>
        </p:nvSpPr>
        <p:spPr>
          <a:xfrm>
            <a:off x="457200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Latent conversion</a:t>
            </a:r>
          </a:p>
        </p:txBody>
      </p:sp>
      <p:sp>
        <p:nvSpPr>
          <p:cNvPr id="7" name="rect6" descr="sci-ppt:C2-E28-006"/>
          <p:cNvSpPr/>
          <p:nvPr/>
        </p:nvSpPr>
        <p:spPr>
          <a:xfrm>
            <a:off x="7985759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7" descr="sci-ppt:C2-E28-007"/>
          <p:cNvSpPr txBox="1"/>
          <p:nvPr/>
        </p:nvSpPr>
        <p:spPr>
          <a:xfrm>
            <a:off x="810768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Declared preparation</a:t>
            </a:r>
          </a:p>
        </p:txBody>
      </p:sp>
      <p:sp>
        <p:nvSpPr>
          <p:cNvPr id="9" name="text8" descr="sci-ppt:C2-E28-008"/>
          <p:cNvSpPr txBox="1"/>
          <p:nvPr/>
        </p:nvSpPr>
        <p:spPr>
          <a:xfrm>
            <a:off x="4023360" y="2255520"/>
            <a:ext cx="48768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+</a:t>
            </a:r>
          </a:p>
        </p:txBody>
      </p:sp>
      <p:sp>
        <p:nvSpPr>
          <p:cNvPr id="10" name="text9" descr="sci-ppt:C2-E28-009"/>
          <p:cNvSpPr txBox="1"/>
          <p:nvPr/>
        </p:nvSpPr>
        <p:spPr>
          <a:xfrm>
            <a:off x="7559040" y="2255520"/>
            <a:ext cx="48768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=</a:t>
            </a:r>
          </a:p>
        </p:txBody>
      </p:sp>
      <p:sp>
        <p:nvSpPr>
          <p:cNvPr id="11" name="text10" descr="sci-ppt:C2-E28-010"/>
          <p:cNvSpPr txBox="1"/>
          <p:nvPr/>
        </p:nvSpPr>
        <p:spPr>
          <a:xfrm>
            <a:off x="1219200" y="384048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Path estimate: retain separate loss and mechanical-work budgets.</a:t>
            </a:r>
          </a:p>
        </p:txBody>
      </p:sp>
      <p:sp>
        <p:nvSpPr>
          <p:cNvPr id="12" name="text11" descr="sci-ppt:C2-E28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finite core mass</a:t>
            </a:r>
          </a:p>
        </p:txBody>
      </p:sp>
      <p:sp>
        <p:nvSpPr>
          <p:cNvPr id="13" name="text12" descr="sci-ppt:C2-E28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c_p,d = 654 J/(kg K)</a:t>
            </a:r>
          </a:p>
        </p:txBody>
      </p:sp>
      <p:sp>
        <p:nvSpPr>
          <p:cNvPr id="14" name="text13" descr="sci-ppt:C2-E28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Q_sens = 16.7450 nJ</a:t>
            </a:r>
          </a:p>
        </p:txBody>
      </p:sp>
      <p:sp>
        <p:nvSpPr>
          <p:cNvPr id="15" name="text14" descr="sci-ppt:C2-E28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Q_prep = 97.8243 nJ</a:t>
            </a:r>
          </a:p>
        </p:txBody>
      </p:sp>
      <p:sp>
        <p:nvSpPr>
          <p:cNvPr id="16" name="text15" descr="sci-ppt:C2-E28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T₀ = 293 K → T_* = 323 K</a:t>
            </a:r>
          </a:p>
        </p:txBody>
      </p:sp>
      <p:sp>
        <p:nvSpPr>
          <p:cNvPr id="17" name="text16" descr="sci-ppt:C2-E28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L_v = 95 kJ/kg</a:t>
            </a:r>
          </a:p>
        </p:txBody>
      </p:sp>
      <p:sp>
        <p:nvSpPr>
          <p:cNvPr id="18" name="text17" descr="sci-ppt:C2-E28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Q_lat = 81.0793 nJ</a:t>
            </a:r>
          </a:p>
        </p:txBody>
      </p:sp>
      <p:sp>
        <p:nvSpPr>
          <p:cNvPr id="19" name="text18" descr="sci-ppt:C2-E28-01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Sensible plus latent preparation energy</a:t>
            </a:r>
          </a:p>
        </p:txBody>
      </p:sp>
      <p:sp>
        <p:nvSpPr>
          <p:cNvPr id="20" name="text19" descr="sci-ppt:C2-E28-01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Carrier losses and mechanical work require a broader energy ledger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