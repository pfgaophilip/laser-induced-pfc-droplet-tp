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28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C2-E28 · Declared preparation-path enthalpy estimate</a:t>
            </a:r>
          </a:p>
        </p:txBody>
      </p:sp>
      <p:sp>
        <p:nvSpPr>
          <p:cNvPr id="3" name="C2-E28 round_rect 1" descr="sci-ppt:o001"/>
          <p:cNvSpPr/>
          <p:nvPr/>
        </p:nvSpPr>
        <p:spPr>
          <a:xfrm>
            <a:off x="365760" y="914400"/>
            <a:ext cx="548640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2-E28 text 2" descr="sci-ppt:o002"/>
          <p:cNvSpPr txBox="1"/>
          <p:nvPr/>
        </p:nvSpPr>
        <p:spPr>
          <a:xfrm>
            <a:off x="475488" y="969264"/>
            <a:ext cx="52669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Enthalpy path (schematic)</a:t>
            </a:r>
          </a:p>
        </p:txBody>
      </p:sp>
      <p:cxnSp>
        <p:nvCxnSpPr>
          <p:cNvPr id="5" name="C2-E28 arrow 3" descr="sci-ppt:o003"/>
          <p:cNvCxnSpPr/>
          <p:nvPr/>
        </p:nvCxnSpPr>
        <p:spPr>
          <a:xfrm flipV="1">
            <a:off x="914400" y="1645920"/>
            <a:ext cx="0" cy="3383280"/>
          </a:xfrm>
          <a:prstGeom prst="line">
            <a:avLst/>
          </a:prstGeom>
          <a:ln w="1905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6" name="C2-E28 arrow 4" descr="sci-ppt:o004"/>
          <p:cNvCxnSpPr/>
          <p:nvPr/>
        </p:nvCxnSpPr>
        <p:spPr>
          <a:xfrm>
            <a:off x="914400" y="5029200"/>
            <a:ext cx="4572000" cy="0"/>
          </a:xfrm>
          <a:prstGeom prst="line">
            <a:avLst/>
          </a:prstGeom>
          <a:ln w="1905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7" name="C2-E28 text 5" descr="sci-ppt:o005"/>
          <p:cNvSpPr txBox="1"/>
          <p:nvPr/>
        </p:nvSpPr>
        <p:spPr>
          <a:xfrm>
            <a:off x="1005840" y="1463040"/>
            <a:ext cx="18288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enthalpy H</a:t>
            </a:r>
          </a:p>
        </p:txBody>
      </p:sp>
      <p:sp>
        <p:nvSpPr>
          <p:cNvPr id="8" name="C2-E28 text 6" descr="sci-ppt:o006"/>
          <p:cNvSpPr txBox="1"/>
          <p:nvPr/>
        </p:nvSpPr>
        <p:spPr>
          <a:xfrm>
            <a:off x="4572000" y="5074920"/>
            <a:ext cx="1371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</a:t>
            </a:r>
          </a:p>
        </p:txBody>
      </p:sp>
      <p:cxnSp>
        <p:nvCxnSpPr>
          <p:cNvPr id="9" name="C2-E28 line 7" descr="sci-ppt:o007"/>
          <p:cNvCxnSpPr/>
          <p:nvPr/>
        </p:nvCxnSpPr>
        <p:spPr>
          <a:xfrm flipV="1">
            <a:off x="1280160" y="3931920"/>
            <a:ext cx="1828800" cy="640080"/>
          </a:xfrm>
          <a:prstGeom prst="line">
            <a:avLst/>
          </a:prstGeom>
          <a:ln w="50800">
            <a:solidFill>
              <a:srgbClr val="7FC8F8"/>
            </a:solidFill>
          </a:ln>
          <a:effectLst/>
        </p:spPr>
      </p:cxnSp>
      <p:cxnSp>
        <p:nvCxnSpPr>
          <p:cNvPr id="10" name="C2-E28 line 8" descr="sci-ppt:o008"/>
          <p:cNvCxnSpPr/>
          <p:nvPr/>
        </p:nvCxnSpPr>
        <p:spPr>
          <a:xfrm flipV="1">
            <a:off x="3108960" y="2468880"/>
            <a:ext cx="0" cy="1463040"/>
          </a:xfrm>
          <a:prstGeom prst="line">
            <a:avLst/>
          </a:prstGeom>
          <a:ln w="50800">
            <a:solidFill>
              <a:srgbClr val="F28BA0"/>
            </a:solidFill>
          </a:ln>
          <a:effectLst/>
        </p:spPr>
      </p:cxnSp>
      <p:sp>
        <p:nvSpPr>
          <p:cNvPr id="11" name="C2-E28 text 9" descr="sci-ppt:o009"/>
          <p:cNvSpPr txBox="1"/>
          <p:nvPr/>
        </p:nvSpPr>
        <p:spPr>
          <a:xfrm>
            <a:off x="1371600" y="4480560"/>
            <a:ext cx="219456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7FC8F8"/>
                </a:solidFill>
                <a:latin typeface="Arial"/>
              </a:rPr>
              <a:t>sensible</a:t>
            </a:r>
          </a:p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7FC8F8"/>
                </a:solidFill>
                <a:latin typeface="Arial"/>
              </a:rPr>
              <a:t>293 → 323 K</a:t>
            </a:r>
          </a:p>
        </p:txBody>
      </p:sp>
      <p:sp>
        <p:nvSpPr>
          <p:cNvPr id="12" name="C2-E28 text 10" descr="sci-ppt:o010"/>
          <p:cNvSpPr txBox="1"/>
          <p:nvPr/>
        </p:nvSpPr>
        <p:spPr>
          <a:xfrm>
            <a:off x="3246120" y="3017520"/>
            <a:ext cx="23774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8BA0"/>
                </a:solidFill>
                <a:latin typeface="Arial"/>
              </a:rPr>
              <a:t>latent step Lᵥ</a:t>
            </a:r>
          </a:p>
        </p:txBody>
      </p:sp>
      <p:sp>
        <p:nvSpPr>
          <p:cNvPr id="13" name="C2-E28 ellipse 11" descr="sci-ppt:o011"/>
          <p:cNvSpPr/>
          <p:nvPr/>
        </p:nvSpPr>
        <p:spPr>
          <a:xfrm>
            <a:off x="1216151" y="4507992"/>
            <a:ext cx="128016" cy="128016"/>
          </a:xfrm>
          <a:prstGeom prst="ellipse">
            <a:avLst/>
          </a:prstGeom>
          <a:solidFill>
            <a:srgbClr val="B4C7D2"/>
          </a:solidFill>
          <a:ln w="1270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2-E28 ellipse 12" descr="sci-ppt:o012"/>
          <p:cNvSpPr/>
          <p:nvPr/>
        </p:nvSpPr>
        <p:spPr>
          <a:xfrm>
            <a:off x="3044952" y="2404872"/>
            <a:ext cx="128016" cy="128016"/>
          </a:xfrm>
          <a:prstGeom prst="ellipse">
            <a:avLst/>
          </a:prstGeom>
          <a:solidFill>
            <a:srgbClr val="B4C7D2"/>
          </a:solidFill>
          <a:ln w="1270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2-E28 text 13" descr="sci-ppt:o013"/>
          <p:cNvSpPr txBox="1"/>
          <p:nvPr/>
        </p:nvSpPr>
        <p:spPr>
          <a:xfrm>
            <a:off x="502920" y="5303520"/>
            <a:ext cx="521208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Constant-property estimate: heat the liquid to T*, then add one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latent step.</a:t>
            </a:r>
          </a:p>
        </p:txBody>
      </p:sp>
      <p:sp>
        <p:nvSpPr>
          <p:cNvPr id="16" name="C2-E28 text 14" descr="sci-ppt:o014"/>
          <p:cNvSpPr txBox="1"/>
          <p:nvPr/>
        </p:nvSpPr>
        <p:spPr>
          <a:xfrm>
            <a:off x="6217920" y="960120"/>
            <a:ext cx="557784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Energy to prepare the PFC (nJ)</a:t>
            </a:r>
          </a:p>
        </p:txBody>
      </p:sp>
      <p:sp>
        <p:nvSpPr>
          <p:cNvPr id="17" name="C2-E28 text 15" descr="sci-ppt:o015"/>
          <p:cNvSpPr txBox="1"/>
          <p:nvPr/>
        </p:nvSpPr>
        <p:spPr>
          <a:xfrm>
            <a:off x="6217920" y="1572768"/>
            <a:ext cx="2286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sensible  m cₚ (T* − T₀)</a:t>
            </a:r>
          </a:p>
        </p:txBody>
      </p:sp>
      <p:sp>
        <p:nvSpPr>
          <p:cNvPr id="18" name="C2-E28 rect 16" descr="sci-ppt:o016"/>
          <p:cNvSpPr/>
          <p:nvPr/>
        </p:nvSpPr>
        <p:spPr>
          <a:xfrm>
            <a:off x="8595360" y="1554480"/>
            <a:ext cx="292312" cy="457200"/>
          </a:xfrm>
          <a:prstGeom prst="rect">
            <a:avLst/>
          </a:prstGeom>
          <a:solidFill>
            <a:srgbClr val="7FC8F8">
              <a:alpha val="85000"/>
            </a:srgbClr>
          </a:solidFill>
          <a:ln w="12700">
            <a:solidFill>
              <a:srgbClr val="7FC8F8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2-E28 text 17" descr="sci-ppt:o017"/>
          <p:cNvSpPr txBox="1"/>
          <p:nvPr/>
        </p:nvSpPr>
        <p:spPr>
          <a:xfrm>
            <a:off x="8960824" y="1600200"/>
            <a:ext cx="1371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16.75 nJ</a:t>
            </a:r>
          </a:p>
        </p:txBody>
      </p:sp>
      <p:sp>
        <p:nvSpPr>
          <p:cNvPr id="20" name="C2-E28 text 18" descr="sci-ppt:o018"/>
          <p:cNvSpPr txBox="1"/>
          <p:nvPr/>
        </p:nvSpPr>
        <p:spPr>
          <a:xfrm>
            <a:off x="6217920" y="2304288"/>
            <a:ext cx="2286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latent  m Lᵥ</a:t>
            </a:r>
          </a:p>
        </p:txBody>
      </p:sp>
      <p:sp>
        <p:nvSpPr>
          <p:cNvPr id="21" name="C2-E28 rect 19" descr="sci-ppt:o019"/>
          <p:cNvSpPr/>
          <p:nvPr/>
        </p:nvSpPr>
        <p:spPr>
          <a:xfrm>
            <a:off x="8595360" y="2286000"/>
            <a:ext cx="1415378" cy="457200"/>
          </a:xfrm>
          <a:prstGeom prst="rect">
            <a:avLst/>
          </a:prstGeom>
          <a:solidFill>
            <a:srgbClr val="F28BA0">
              <a:alpha val="85000"/>
            </a:srgbClr>
          </a:solidFill>
          <a:ln w="12700">
            <a:solidFill>
              <a:srgbClr val="F28BA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2-E28 text 20" descr="sci-ppt:o020"/>
          <p:cNvSpPr txBox="1"/>
          <p:nvPr/>
        </p:nvSpPr>
        <p:spPr>
          <a:xfrm>
            <a:off x="10083890" y="2331720"/>
            <a:ext cx="1371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81.08 nJ</a:t>
            </a:r>
          </a:p>
        </p:txBody>
      </p:sp>
      <p:sp>
        <p:nvSpPr>
          <p:cNvPr id="23" name="C2-E28 text 21" descr="sci-ppt:o021"/>
          <p:cNvSpPr txBox="1"/>
          <p:nvPr/>
        </p:nvSpPr>
        <p:spPr>
          <a:xfrm>
            <a:off x="6217920" y="3035808"/>
            <a:ext cx="2286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total  Qₚᵣₑₚ</a:t>
            </a:r>
          </a:p>
        </p:txBody>
      </p:sp>
      <p:sp>
        <p:nvSpPr>
          <p:cNvPr id="24" name="C2-E28 rect 22" descr="sci-ppt:o022"/>
          <p:cNvSpPr/>
          <p:nvPr/>
        </p:nvSpPr>
        <p:spPr>
          <a:xfrm>
            <a:off x="8595360" y="3017520"/>
            <a:ext cx="1707691" cy="45720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2-E28 text 23" descr="sci-ppt:o023"/>
          <p:cNvSpPr txBox="1"/>
          <p:nvPr/>
        </p:nvSpPr>
        <p:spPr>
          <a:xfrm>
            <a:off x="10376203" y="3063239"/>
            <a:ext cx="1371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97.82 nJ</a:t>
            </a:r>
          </a:p>
        </p:txBody>
      </p:sp>
      <p:sp>
        <p:nvSpPr>
          <p:cNvPr id="26" name="C2-E28 text 24" descr="sci-ppt:o024"/>
          <p:cNvSpPr txBox="1"/>
          <p:nvPr/>
        </p:nvSpPr>
        <p:spPr>
          <a:xfrm>
            <a:off x="6217920" y="3749039"/>
            <a:ext cx="557784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16.745 + 81.079 = 97.824 nJ</a:t>
            </a:r>
          </a:p>
        </p:txBody>
      </p:sp>
      <p:sp>
        <p:nvSpPr>
          <p:cNvPr id="27" name="C2-E28 text 25" descr="sci-ppt:o025"/>
          <p:cNvSpPr txBox="1"/>
          <p:nvPr/>
        </p:nvSpPr>
        <p:spPr>
          <a:xfrm>
            <a:off x="6217920" y="4251960"/>
            <a:ext cx="557784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Latent heat is 83 % of this estimate, so evaporating the droplet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costs far more than warming it.</a:t>
            </a:r>
          </a:p>
        </p:txBody>
      </p:sp>
      <p:sp>
        <p:nvSpPr>
          <p:cNvPr id="28" name="C2-E28 text 26" descr="sci-ppt:o026"/>
          <p:cNvSpPr txBox="1"/>
          <p:nvPr/>
        </p:nvSpPr>
        <p:spPr>
          <a:xfrm>
            <a:off x="914400" y="5943600"/>
            <a:ext cx="109728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Inputs: m = 0.8535 ng, cₚ = 654 J/(kg K), Lᵥ = 95 kJ/kg, T₀ = 293 K, T* = 323 K (declared, constant-property).</a:t>
            </a:r>
          </a:p>
        </p:txBody>
      </p:sp>
      <p:sp>
        <p:nvSpPr>
          <p:cNvPr id="29" name="C2-E28 text 27" descr="sci-ppt:o027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Preparation-path estimate of Eq. C2-E28.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