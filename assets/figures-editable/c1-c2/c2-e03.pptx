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C2-E03 · Derived interception fraction</a:t>
            </a:r>
          </a:p>
        </p:txBody>
      </p:sp>
      <p:sp>
        <p:nvSpPr>
          <p:cNvPr id="3" name="C2-E03 round_rect 1" descr="sci-ppt:o001"/>
          <p:cNvSpPr/>
          <p:nvPr/>
        </p:nvSpPr>
        <p:spPr>
          <a:xfrm>
            <a:off x="365760" y="914400"/>
            <a:ext cx="457200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03 text 2" descr="sci-ppt:o002"/>
          <p:cNvSpPr txBox="1"/>
          <p:nvPr/>
        </p:nvSpPr>
        <p:spPr>
          <a:xfrm>
            <a:off x="475488" y="969264"/>
            <a:ext cx="43525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An aperture keeps the inner part</a:t>
            </a:r>
          </a:p>
        </p:txBody>
      </p:sp>
      <p:sp>
        <p:nvSpPr>
          <p:cNvPr id="5" name="C2-E03 ellipse 3" descr="sci-ppt:o003"/>
          <p:cNvSpPr/>
          <p:nvPr/>
        </p:nvSpPr>
        <p:spPr>
          <a:xfrm>
            <a:off x="822959" y="1463040"/>
            <a:ext cx="3657600" cy="3657600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2-E03 ellipse 4" descr="sci-ppt:o004"/>
          <p:cNvSpPr/>
          <p:nvPr/>
        </p:nvSpPr>
        <p:spPr>
          <a:xfrm>
            <a:off x="906087" y="1546167"/>
            <a:ext cx="3491345" cy="3491345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2-E03 ellipse 5" descr="sci-ppt:o005"/>
          <p:cNvSpPr/>
          <p:nvPr/>
        </p:nvSpPr>
        <p:spPr>
          <a:xfrm>
            <a:off x="989214" y="1629294"/>
            <a:ext cx="3325090" cy="3325090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03 ellipse 6" descr="sci-ppt:o006"/>
          <p:cNvSpPr/>
          <p:nvPr/>
        </p:nvSpPr>
        <p:spPr>
          <a:xfrm>
            <a:off x="1072341" y="1712421"/>
            <a:ext cx="3158836" cy="3158836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2-E03 ellipse 7" descr="sci-ppt:o007"/>
          <p:cNvSpPr/>
          <p:nvPr/>
        </p:nvSpPr>
        <p:spPr>
          <a:xfrm>
            <a:off x="1155469" y="1795549"/>
            <a:ext cx="2992581" cy="2992581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2-E03 ellipse 8" descr="sci-ppt:o008"/>
          <p:cNvSpPr/>
          <p:nvPr/>
        </p:nvSpPr>
        <p:spPr>
          <a:xfrm>
            <a:off x="1238596" y="1878676"/>
            <a:ext cx="2826327" cy="2826327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2-E03 ellipse 9" descr="sci-ppt:o009"/>
          <p:cNvSpPr/>
          <p:nvPr/>
        </p:nvSpPr>
        <p:spPr>
          <a:xfrm>
            <a:off x="1321723" y="1961803"/>
            <a:ext cx="2660072" cy="2660072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03 ellipse 10" descr="sci-ppt:o010"/>
          <p:cNvSpPr/>
          <p:nvPr/>
        </p:nvSpPr>
        <p:spPr>
          <a:xfrm>
            <a:off x="1404850" y="2044930"/>
            <a:ext cx="2493818" cy="2493818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2-E03 ellipse 11" descr="sci-ppt:o011"/>
          <p:cNvSpPr/>
          <p:nvPr/>
        </p:nvSpPr>
        <p:spPr>
          <a:xfrm>
            <a:off x="1487978" y="2128058"/>
            <a:ext cx="2327563" cy="2327563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2-E03 ellipse 12" descr="sci-ppt:o012"/>
          <p:cNvSpPr/>
          <p:nvPr/>
        </p:nvSpPr>
        <p:spPr>
          <a:xfrm>
            <a:off x="1571105" y="2211185"/>
            <a:ext cx="2161309" cy="2161309"/>
          </a:xfrm>
          <a:prstGeom prst="ellipse">
            <a:avLst/>
          </a:prstGeom>
          <a:solidFill>
            <a:srgbClr val="8EDBD4">
              <a:alpha val="5000"/>
            </a:srgbClr>
          </a:solidFill>
          <a:ln>
            <a:solidFill>
              <a:srgbClr val="8EDBD4">
                <a:alpha val="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2-E03 ellipse 13" descr="sci-ppt:o013"/>
          <p:cNvSpPr/>
          <p:nvPr/>
        </p:nvSpPr>
        <p:spPr>
          <a:xfrm>
            <a:off x="1654232" y="2294312"/>
            <a:ext cx="1995054" cy="1995054"/>
          </a:xfrm>
          <a:prstGeom prst="ellipse">
            <a:avLst/>
          </a:prstGeom>
          <a:solidFill>
            <a:srgbClr val="8EDBD4">
              <a:alpha val="7403"/>
            </a:srgbClr>
          </a:solidFill>
          <a:ln>
            <a:solidFill>
              <a:srgbClr val="8EDBD4">
                <a:alpha val="740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03 ellipse 14" descr="sci-ppt:o014"/>
          <p:cNvSpPr/>
          <p:nvPr/>
        </p:nvSpPr>
        <p:spPr>
          <a:xfrm>
            <a:off x="1737360" y="2377440"/>
            <a:ext cx="1828800" cy="1828800"/>
          </a:xfrm>
          <a:prstGeom prst="ellipse">
            <a:avLst/>
          </a:prstGeom>
          <a:solidFill>
            <a:srgbClr val="8EDBD4">
              <a:alpha val="10827"/>
            </a:srgbClr>
          </a:solidFill>
          <a:ln>
            <a:solidFill>
              <a:srgbClr val="8EDBD4">
                <a:alpha val="1082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2-E03 ellipse 15" descr="sci-ppt:o015"/>
          <p:cNvSpPr/>
          <p:nvPr/>
        </p:nvSpPr>
        <p:spPr>
          <a:xfrm>
            <a:off x="1820487" y="2460567"/>
            <a:ext cx="1662545" cy="1662545"/>
          </a:xfrm>
          <a:prstGeom prst="ellipse">
            <a:avLst/>
          </a:prstGeom>
          <a:solidFill>
            <a:srgbClr val="8EDBD4">
              <a:alpha val="15320"/>
            </a:srgbClr>
          </a:solidFill>
          <a:ln>
            <a:solidFill>
              <a:srgbClr val="8EDBD4">
                <a:alpha val="1532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2-E03 ellipse 16" descr="sci-ppt:o016"/>
          <p:cNvSpPr/>
          <p:nvPr/>
        </p:nvSpPr>
        <p:spPr>
          <a:xfrm>
            <a:off x="1903614" y="2543694"/>
            <a:ext cx="1496290" cy="1496290"/>
          </a:xfrm>
          <a:prstGeom prst="ellipse">
            <a:avLst/>
          </a:prstGeom>
          <a:solidFill>
            <a:srgbClr val="8EDBD4">
              <a:alpha val="20972"/>
            </a:srgbClr>
          </a:solidFill>
          <a:ln>
            <a:solidFill>
              <a:srgbClr val="8EDBD4">
                <a:alpha val="2097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2-E03 ellipse 17" descr="sci-ppt:o017"/>
          <p:cNvSpPr/>
          <p:nvPr/>
        </p:nvSpPr>
        <p:spPr>
          <a:xfrm>
            <a:off x="1986741" y="2626821"/>
            <a:ext cx="1330036" cy="1330036"/>
          </a:xfrm>
          <a:prstGeom prst="ellipse">
            <a:avLst/>
          </a:prstGeom>
          <a:solidFill>
            <a:srgbClr val="8EDBD4">
              <a:alpha val="27776"/>
            </a:srgbClr>
          </a:solidFill>
          <a:ln>
            <a:solidFill>
              <a:srgbClr val="8EDBD4">
                <a:alpha val="27776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2-E03 ellipse 18" descr="sci-ppt:o018"/>
          <p:cNvSpPr/>
          <p:nvPr/>
        </p:nvSpPr>
        <p:spPr>
          <a:xfrm>
            <a:off x="2069869" y="2709949"/>
            <a:ext cx="1163781" cy="1163781"/>
          </a:xfrm>
          <a:prstGeom prst="ellipse">
            <a:avLst/>
          </a:prstGeom>
          <a:solidFill>
            <a:srgbClr val="8EDBD4">
              <a:alpha val="35592"/>
            </a:srgbClr>
          </a:solidFill>
          <a:ln>
            <a:solidFill>
              <a:srgbClr val="8EDBD4">
                <a:alpha val="3559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2-E03 ellipse 19" descr="sci-ppt:o019"/>
          <p:cNvSpPr/>
          <p:nvPr/>
        </p:nvSpPr>
        <p:spPr>
          <a:xfrm>
            <a:off x="2152996" y="2793076"/>
            <a:ext cx="997527" cy="997527"/>
          </a:xfrm>
          <a:prstGeom prst="ellipse">
            <a:avLst/>
          </a:prstGeom>
          <a:solidFill>
            <a:srgbClr val="8EDBD4">
              <a:alpha val="44123"/>
            </a:srgbClr>
          </a:solidFill>
          <a:ln>
            <a:solidFill>
              <a:srgbClr val="8EDBD4">
                <a:alpha val="4412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03 ellipse 20" descr="sci-ppt:o020"/>
          <p:cNvSpPr/>
          <p:nvPr/>
        </p:nvSpPr>
        <p:spPr>
          <a:xfrm>
            <a:off x="2236123" y="2876203"/>
            <a:ext cx="831272" cy="831272"/>
          </a:xfrm>
          <a:prstGeom prst="ellipse">
            <a:avLst/>
          </a:prstGeom>
          <a:solidFill>
            <a:srgbClr val="8EDBD4">
              <a:alpha val="52921"/>
            </a:srgbClr>
          </a:solidFill>
          <a:ln>
            <a:solidFill>
              <a:srgbClr val="8EDBD4">
                <a:alpha val="52921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2-E03 ellipse 21" descr="sci-ppt:o021"/>
          <p:cNvSpPr/>
          <p:nvPr/>
        </p:nvSpPr>
        <p:spPr>
          <a:xfrm>
            <a:off x="2319250" y="2959330"/>
            <a:ext cx="665018" cy="665018"/>
          </a:xfrm>
          <a:prstGeom prst="ellipse">
            <a:avLst/>
          </a:prstGeom>
          <a:solidFill>
            <a:srgbClr val="8EDBD4">
              <a:alpha val="61409"/>
            </a:srgbClr>
          </a:solidFill>
          <a:ln>
            <a:solidFill>
              <a:srgbClr val="8EDBD4">
                <a:alpha val="6140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2-E03 ellipse 22" descr="sci-ppt:o022"/>
          <p:cNvSpPr/>
          <p:nvPr/>
        </p:nvSpPr>
        <p:spPr>
          <a:xfrm>
            <a:off x="2402378" y="3042458"/>
            <a:ext cx="498763" cy="498763"/>
          </a:xfrm>
          <a:prstGeom prst="ellipse">
            <a:avLst/>
          </a:prstGeom>
          <a:solidFill>
            <a:srgbClr val="8EDBD4">
              <a:alpha val="68942"/>
            </a:srgbClr>
          </a:solidFill>
          <a:ln>
            <a:solidFill>
              <a:srgbClr val="8EDBD4">
                <a:alpha val="6894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2-E03 ellipse 23" descr="sci-ppt:o023"/>
          <p:cNvSpPr/>
          <p:nvPr/>
        </p:nvSpPr>
        <p:spPr>
          <a:xfrm>
            <a:off x="2485505" y="3125585"/>
            <a:ext cx="332509" cy="332509"/>
          </a:xfrm>
          <a:prstGeom prst="ellipse">
            <a:avLst/>
          </a:prstGeom>
          <a:solidFill>
            <a:srgbClr val="8EDBD4">
              <a:alpha val="74882"/>
            </a:srgbClr>
          </a:solidFill>
          <a:ln>
            <a:solidFill>
              <a:srgbClr val="8EDBD4">
                <a:alpha val="7488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2-E03 ellipse 24" descr="sci-ppt:o024"/>
          <p:cNvSpPr/>
          <p:nvPr/>
        </p:nvSpPr>
        <p:spPr>
          <a:xfrm>
            <a:off x="2568632" y="3208712"/>
            <a:ext cx="166254" cy="166254"/>
          </a:xfrm>
          <a:prstGeom prst="ellipse">
            <a:avLst/>
          </a:prstGeom>
          <a:solidFill>
            <a:srgbClr val="8EDBD4">
              <a:alpha val="78689"/>
            </a:srgbClr>
          </a:solidFill>
          <a:ln>
            <a:solidFill>
              <a:srgbClr val="8EDBD4">
                <a:alpha val="7868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2-E03 ellipse 25" descr="sci-ppt:o025"/>
          <p:cNvSpPr/>
          <p:nvPr/>
        </p:nvSpPr>
        <p:spPr>
          <a:xfrm>
            <a:off x="2194560" y="2834640"/>
            <a:ext cx="914400" cy="914400"/>
          </a:xfrm>
          <a:prstGeom prst="ellipse">
            <a:avLst/>
          </a:prstGeom>
          <a:noFill/>
          <a:ln w="2794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03 ellipse 26" descr="sci-ppt:o026"/>
          <p:cNvSpPr/>
          <p:nvPr/>
        </p:nvSpPr>
        <p:spPr>
          <a:xfrm>
            <a:off x="1737360" y="2377440"/>
            <a:ext cx="1828800" cy="1828800"/>
          </a:xfrm>
          <a:prstGeom prst="ellipse">
            <a:avLst/>
          </a:prstGeom>
          <a:noFill/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2-E03 ellipse 27" descr="sci-ppt:o027"/>
          <p:cNvSpPr/>
          <p:nvPr/>
        </p:nvSpPr>
        <p:spPr>
          <a:xfrm>
            <a:off x="1280160" y="1920240"/>
            <a:ext cx="2743200" cy="2743200"/>
          </a:xfrm>
          <a:prstGeom prst="ellipse">
            <a:avLst/>
          </a:prstGeom>
          <a:noFill/>
          <a:ln w="2794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2-E03 text 28" descr="sci-ppt:o028"/>
          <p:cNvSpPr txBox="1"/>
          <p:nvPr/>
        </p:nvSpPr>
        <p:spPr>
          <a:xfrm>
            <a:off x="502920" y="5257800"/>
            <a:ext cx="42976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Circles: absorber apertures bₐ = 0.5w, w, 1.5w. Light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outside is not used.</a:t>
            </a:r>
          </a:p>
        </p:txBody>
      </p:sp>
      <p:cxnSp>
        <p:nvCxnSpPr>
          <p:cNvPr id="31" name="C2-E03 line 29" descr="sci-ppt:o029"/>
          <p:cNvCxnSpPr/>
          <p:nvPr/>
        </p:nvCxnSpPr>
        <p:spPr>
          <a:xfrm>
            <a:off x="5760720" y="5029200"/>
            <a:ext cx="59436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2" name="C2-E03 line 30" descr="sci-ppt:o030"/>
          <p:cNvCxnSpPr/>
          <p:nvPr/>
        </p:nvCxnSpPr>
        <p:spPr>
          <a:xfrm>
            <a:off x="576072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3" name="C2-E03 line 31" descr="sci-ppt:o031"/>
          <p:cNvCxnSpPr/>
          <p:nvPr/>
        </p:nvCxnSpPr>
        <p:spPr>
          <a:xfrm>
            <a:off x="57607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2-E03 line 32" descr="sci-ppt:o032"/>
          <p:cNvCxnSpPr/>
          <p:nvPr/>
        </p:nvCxnSpPr>
        <p:spPr>
          <a:xfrm>
            <a:off x="57607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2-E03 text 33" descr="sci-ppt:o033"/>
          <p:cNvSpPr txBox="1"/>
          <p:nvPr/>
        </p:nvSpPr>
        <p:spPr>
          <a:xfrm>
            <a:off x="53035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36" name="C2-E03 line 34" descr="sci-ppt:o034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2-E03 line 35" descr="sci-ppt:o035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2-E03 text 36" descr="sci-ppt:o036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9" name="C2-E03 line 37" descr="sci-ppt:o037"/>
          <p:cNvCxnSpPr/>
          <p:nvPr/>
        </p:nvCxnSpPr>
        <p:spPr>
          <a:xfrm>
            <a:off x="8138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2-E03 line 38" descr="sci-ppt:o038"/>
          <p:cNvCxnSpPr/>
          <p:nvPr/>
        </p:nvCxnSpPr>
        <p:spPr>
          <a:xfrm>
            <a:off x="8138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2-E03 text 39" descr="sci-ppt:o039"/>
          <p:cNvSpPr txBox="1"/>
          <p:nvPr/>
        </p:nvSpPr>
        <p:spPr>
          <a:xfrm>
            <a:off x="7680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42" name="C2-E03 line 40" descr="sci-ppt:o040"/>
          <p:cNvCxnSpPr/>
          <p:nvPr/>
        </p:nvCxnSpPr>
        <p:spPr>
          <a:xfrm>
            <a:off x="93268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2-E03 line 41" descr="sci-ppt:o041"/>
          <p:cNvCxnSpPr/>
          <p:nvPr/>
        </p:nvCxnSpPr>
        <p:spPr>
          <a:xfrm>
            <a:off x="93268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2-E03 text 42" descr="sci-ppt:o042"/>
          <p:cNvSpPr txBox="1"/>
          <p:nvPr/>
        </p:nvSpPr>
        <p:spPr>
          <a:xfrm>
            <a:off x="88696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45" name="C2-E03 line 43" descr="sci-ppt:o043"/>
          <p:cNvCxnSpPr/>
          <p:nvPr/>
        </p:nvCxnSpPr>
        <p:spPr>
          <a:xfrm>
            <a:off x="10515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2-E03 line 44" descr="sci-ppt:o044"/>
          <p:cNvCxnSpPr/>
          <p:nvPr/>
        </p:nvCxnSpPr>
        <p:spPr>
          <a:xfrm>
            <a:off x="10515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2-E03 text 45" descr="sci-ppt:o045"/>
          <p:cNvSpPr txBox="1"/>
          <p:nvPr/>
        </p:nvSpPr>
        <p:spPr>
          <a:xfrm>
            <a:off x="10058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48" name="C2-E03 line 46" descr="sci-ppt:o046"/>
          <p:cNvCxnSpPr/>
          <p:nvPr/>
        </p:nvCxnSpPr>
        <p:spPr>
          <a:xfrm>
            <a:off x="11704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2-E03 line 47" descr="sci-ppt:o047"/>
          <p:cNvCxnSpPr/>
          <p:nvPr/>
        </p:nvCxnSpPr>
        <p:spPr>
          <a:xfrm>
            <a:off x="117043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2-E03 text 48" descr="sci-ppt:o048"/>
          <p:cNvSpPr txBox="1"/>
          <p:nvPr/>
        </p:nvSpPr>
        <p:spPr>
          <a:xfrm>
            <a:off x="11247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2.5</a:t>
            </a:r>
          </a:p>
        </p:txBody>
      </p:sp>
      <p:cxnSp>
        <p:nvCxnSpPr>
          <p:cNvPr id="51" name="C2-E03 line 49" descr="sci-ppt:o049"/>
          <p:cNvCxnSpPr/>
          <p:nvPr/>
        </p:nvCxnSpPr>
        <p:spPr>
          <a:xfrm>
            <a:off x="569671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2-E03 line 50" descr="sci-ppt:o050"/>
          <p:cNvCxnSpPr/>
          <p:nvPr/>
        </p:nvCxnSpPr>
        <p:spPr>
          <a:xfrm>
            <a:off x="569671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2-E03 line 51" descr="sci-ppt:o051"/>
          <p:cNvCxnSpPr/>
          <p:nvPr/>
        </p:nvCxnSpPr>
        <p:spPr>
          <a:xfrm>
            <a:off x="5760720" y="4158342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2-E03 text 52" descr="sci-ppt:o052"/>
          <p:cNvSpPr txBox="1"/>
          <p:nvPr/>
        </p:nvSpPr>
        <p:spPr>
          <a:xfrm>
            <a:off x="489204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55" name="C2-E03 line 53" descr="sci-ppt:o053"/>
          <p:cNvCxnSpPr/>
          <p:nvPr/>
        </p:nvCxnSpPr>
        <p:spPr>
          <a:xfrm>
            <a:off x="569671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2-E03 line 54" descr="sci-ppt:o054"/>
          <p:cNvCxnSpPr/>
          <p:nvPr/>
        </p:nvCxnSpPr>
        <p:spPr>
          <a:xfrm>
            <a:off x="5760720" y="3287485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7" name="C2-E03 text 55" descr="sci-ppt:o055"/>
          <p:cNvSpPr txBox="1"/>
          <p:nvPr/>
        </p:nvSpPr>
        <p:spPr>
          <a:xfrm>
            <a:off x="489204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58" name="C2-E03 line 56" descr="sci-ppt:o056"/>
          <p:cNvCxnSpPr/>
          <p:nvPr/>
        </p:nvCxnSpPr>
        <p:spPr>
          <a:xfrm>
            <a:off x="569671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9" name="C2-E03 line 57" descr="sci-ppt:o057"/>
          <p:cNvCxnSpPr/>
          <p:nvPr/>
        </p:nvCxnSpPr>
        <p:spPr>
          <a:xfrm>
            <a:off x="5760720" y="2416628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0" name="C2-E03 text 58" descr="sci-ppt:o058"/>
          <p:cNvSpPr txBox="1"/>
          <p:nvPr/>
        </p:nvSpPr>
        <p:spPr>
          <a:xfrm>
            <a:off x="489204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61" name="C2-E03 line 59" descr="sci-ppt:o059"/>
          <p:cNvCxnSpPr/>
          <p:nvPr/>
        </p:nvCxnSpPr>
        <p:spPr>
          <a:xfrm>
            <a:off x="569671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2" name="C2-E03 line 60" descr="sci-ppt:o060"/>
          <p:cNvCxnSpPr/>
          <p:nvPr/>
        </p:nvCxnSpPr>
        <p:spPr>
          <a:xfrm>
            <a:off x="5760720" y="1545771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3" name="C2-E03 text 61" descr="sci-ppt:o061"/>
          <p:cNvSpPr txBox="1"/>
          <p:nvPr/>
        </p:nvSpPr>
        <p:spPr>
          <a:xfrm>
            <a:off x="489204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64" name="C2-E03 text 62" descr="sci-ppt:o062"/>
          <p:cNvSpPr txBox="1"/>
          <p:nvPr/>
        </p:nvSpPr>
        <p:spPr>
          <a:xfrm>
            <a:off x="5760720" y="5312664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bₐ / w</a:t>
            </a:r>
          </a:p>
        </p:txBody>
      </p:sp>
      <p:sp>
        <p:nvSpPr>
          <p:cNvPr id="65" name="C2-E03 text 63" descr="sci-ppt:o063"/>
          <p:cNvSpPr txBox="1"/>
          <p:nvPr/>
        </p:nvSpPr>
        <p:spPr>
          <a:xfrm>
            <a:off x="5212080" y="1024128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f_geo</a:t>
            </a:r>
          </a:p>
        </p:txBody>
      </p:sp>
      <p:sp>
        <p:nvSpPr>
          <p:cNvPr id="66" name="C2-E03 polygon 64" descr="sci-ppt:o064"/>
          <p:cNvSpPr/>
          <p:nvPr/>
        </p:nvSpPr>
        <p:spPr>
          <a:xfrm>
            <a:off x="5760720" y="1545784"/>
            <a:ext cx="5943600" cy="3483416"/>
          </a:xfrm>
          <a:custGeom>
            <a:avLst/>
            <a:gdLst/>
            <a:ahLst/>
            <a:cxnLst/>
            <a:rect l="l" t="t" r="r" b="b"/>
            <a:pathLst>
              <a:path w="5943600" h="3483416">
                <a:moveTo>
                  <a:pt x="0" y="3483416"/>
                </a:moveTo>
                <a:lnTo>
                  <a:pt x="39756" y="3481468"/>
                </a:lnTo>
                <a:lnTo>
                  <a:pt x="79513" y="3475631"/>
                </a:lnTo>
                <a:lnTo>
                  <a:pt x="119269" y="3465926"/>
                </a:lnTo>
                <a:lnTo>
                  <a:pt x="159026" y="3452383"/>
                </a:lnTo>
                <a:lnTo>
                  <a:pt x="198782" y="3435049"/>
                </a:lnTo>
                <a:lnTo>
                  <a:pt x="238539" y="3413981"/>
                </a:lnTo>
                <a:lnTo>
                  <a:pt x="278295" y="3389250"/>
                </a:lnTo>
                <a:lnTo>
                  <a:pt x="318052" y="3360936"/>
                </a:lnTo>
                <a:lnTo>
                  <a:pt x="357808" y="3329132"/>
                </a:lnTo>
                <a:lnTo>
                  <a:pt x="397565" y="3293943"/>
                </a:lnTo>
                <a:lnTo>
                  <a:pt x="437321" y="3255482"/>
                </a:lnTo>
                <a:lnTo>
                  <a:pt x="477078" y="3213874"/>
                </a:lnTo>
                <a:lnTo>
                  <a:pt x="516834" y="3169250"/>
                </a:lnTo>
                <a:lnTo>
                  <a:pt x="556591" y="3121752"/>
                </a:lnTo>
                <a:lnTo>
                  <a:pt x="596347" y="3071528"/>
                </a:lnTo>
                <a:lnTo>
                  <a:pt x="636104" y="3018734"/>
                </a:lnTo>
                <a:lnTo>
                  <a:pt x="675860" y="2963531"/>
                </a:lnTo>
                <a:lnTo>
                  <a:pt x="715617" y="2906084"/>
                </a:lnTo>
                <a:lnTo>
                  <a:pt x="755373" y="2846565"/>
                </a:lnTo>
                <a:lnTo>
                  <a:pt x="795130" y="2785148"/>
                </a:lnTo>
                <a:lnTo>
                  <a:pt x="834886" y="2722010"/>
                </a:lnTo>
                <a:lnTo>
                  <a:pt x="874643" y="2657329"/>
                </a:lnTo>
                <a:lnTo>
                  <a:pt x="914400" y="2591285"/>
                </a:lnTo>
                <a:lnTo>
                  <a:pt x="954156" y="2524058"/>
                </a:lnTo>
                <a:lnTo>
                  <a:pt x="993913" y="2455826"/>
                </a:lnTo>
                <a:lnTo>
                  <a:pt x="1033669" y="2386767"/>
                </a:lnTo>
                <a:lnTo>
                  <a:pt x="1073426" y="2317057"/>
                </a:lnTo>
                <a:lnTo>
                  <a:pt x="1113182" y="2246868"/>
                </a:lnTo>
                <a:lnTo>
                  <a:pt x="1152939" y="2176370"/>
                </a:lnTo>
                <a:lnTo>
                  <a:pt x="1192695" y="2105727"/>
                </a:lnTo>
                <a:lnTo>
                  <a:pt x="1232452" y="2035099"/>
                </a:lnTo>
                <a:lnTo>
                  <a:pt x="1272208" y="1964642"/>
                </a:lnTo>
                <a:lnTo>
                  <a:pt x="1311965" y="1894503"/>
                </a:lnTo>
                <a:lnTo>
                  <a:pt x="1351721" y="1824826"/>
                </a:lnTo>
                <a:lnTo>
                  <a:pt x="1391478" y="1755747"/>
                </a:lnTo>
                <a:lnTo>
                  <a:pt x="1431234" y="1687394"/>
                </a:lnTo>
                <a:lnTo>
                  <a:pt x="1470991" y="1619889"/>
                </a:lnTo>
                <a:lnTo>
                  <a:pt x="1510747" y="1553346"/>
                </a:lnTo>
                <a:lnTo>
                  <a:pt x="1550504" y="1487872"/>
                </a:lnTo>
                <a:lnTo>
                  <a:pt x="1590260" y="1423564"/>
                </a:lnTo>
                <a:lnTo>
                  <a:pt x="1630017" y="1360512"/>
                </a:lnTo>
                <a:lnTo>
                  <a:pt x="1669773" y="1298800"/>
                </a:lnTo>
                <a:lnTo>
                  <a:pt x="1709530" y="1238501"/>
                </a:lnTo>
                <a:lnTo>
                  <a:pt x="1749286" y="1179681"/>
                </a:lnTo>
                <a:lnTo>
                  <a:pt x="1789043" y="1122398"/>
                </a:lnTo>
                <a:lnTo>
                  <a:pt x="1828799" y="1066703"/>
                </a:lnTo>
                <a:lnTo>
                  <a:pt x="1868556" y="1012639"/>
                </a:lnTo>
                <a:lnTo>
                  <a:pt x="1908313" y="960239"/>
                </a:lnTo>
                <a:lnTo>
                  <a:pt x="1948069" y="909533"/>
                </a:lnTo>
                <a:lnTo>
                  <a:pt x="1987826" y="860542"/>
                </a:lnTo>
                <a:lnTo>
                  <a:pt x="2027582" y="813279"/>
                </a:lnTo>
                <a:lnTo>
                  <a:pt x="2067339" y="767753"/>
                </a:lnTo>
                <a:lnTo>
                  <a:pt x="2107095" y="723965"/>
                </a:lnTo>
                <a:lnTo>
                  <a:pt x="2146852" y="681911"/>
                </a:lnTo>
                <a:lnTo>
                  <a:pt x="2186608" y="641582"/>
                </a:lnTo>
                <a:lnTo>
                  <a:pt x="2226365" y="602963"/>
                </a:lnTo>
                <a:lnTo>
                  <a:pt x="2266121" y="566035"/>
                </a:lnTo>
                <a:lnTo>
                  <a:pt x="2305878" y="530774"/>
                </a:lnTo>
                <a:lnTo>
                  <a:pt x="2345634" y="497154"/>
                </a:lnTo>
                <a:lnTo>
                  <a:pt x="2385391" y="465143"/>
                </a:lnTo>
                <a:lnTo>
                  <a:pt x="2425147" y="434706"/>
                </a:lnTo>
                <a:lnTo>
                  <a:pt x="2464904" y="405806"/>
                </a:lnTo>
                <a:lnTo>
                  <a:pt x="2504660" y="378405"/>
                </a:lnTo>
                <a:lnTo>
                  <a:pt x="2544417" y="352459"/>
                </a:lnTo>
                <a:lnTo>
                  <a:pt x="2584173" y="327925"/>
                </a:lnTo>
                <a:lnTo>
                  <a:pt x="2623930" y="304757"/>
                </a:lnTo>
                <a:lnTo>
                  <a:pt x="2663686" y="282910"/>
                </a:lnTo>
                <a:lnTo>
                  <a:pt x="2703443" y="262335"/>
                </a:lnTo>
                <a:lnTo>
                  <a:pt x="2743200" y="242984"/>
                </a:lnTo>
                <a:lnTo>
                  <a:pt x="2782956" y="224809"/>
                </a:lnTo>
                <a:lnTo>
                  <a:pt x="2822713" y="207761"/>
                </a:lnTo>
                <a:lnTo>
                  <a:pt x="2862469" y="191791"/>
                </a:lnTo>
                <a:lnTo>
                  <a:pt x="2902226" y="176851"/>
                </a:lnTo>
                <a:lnTo>
                  <a:pt x="2941982" y="162892"/>
                </a:lnTo>
                <a:lnTo>
                  <a:pt x="2981739" y="149867"/>
                </a:lnTo>
                <a:lnTo>
                  <a:pt x="3021495" y="137729"/>
                </a:lnTo>
                <a:lnTo>
                  <a:pt x="3061252" y="126433"/>
                </a:lnTo>
                <a:lnTo>
                  <a:pt x="3101008" y="115933"/>
                </a:lnTo>
                <a:lnTo>
                  <a:pt x="3140765" y="106186"/>
                </a:lnTo>
                <a:lnTo>
                  <a:pt x="3180521" y="97150"/>
                </a:lnTo>
                <a:lnTo>
                  <a:pt x="3220278" y="88784"/>
                </a:lnTo>
                <a:lnTo>
                  <a:pt x="3260034" y="81047"/>
                </a:lnTo>
                <a:lnTo>
                  <a:pt x="3299791" y="73901"/>
                </a:lnTo>
                <a:lnTo>
                  <a:pt x="3339547" y="67310"/>
                </a:lnTo>
                <a:lnTo>
                  <a:pt x="3379304" y="61239"/>
                </a:lnTo>
                <a:lnTo>
                  <a:pt x="3419060" y="55652"/>
                </a:lnTo>
                <a:lnTo>
                  <a:pt x="3458817" y="50518"/>
                </a:lnTo>
                <a:lnTo>
                  <a:pt x="3498573" y="45807"/>
                </a:lnTo>
                <a:lnTo>
                  <a:pt x="3538330" y="41489"/>
                </a:lnTo>
                <a:lnTo>
                  <a:pt x="3578086" y="37535"/>
                </a:lnTo>
                <a:lnTo>
                  <a:pt x="3617843" y="33920"/>
                </a:lnTo>
                <a:lnTo>
                  <a:pt x="3657599" y="30619"/>
                </a:lnTo>
                <a:lnTo>
                  <a:pt x="3697356" y="27608"/>
                </a:lnTo>
                <a:lnTo>
                  <a:pt x="3737113" y="24865"/>
                </a:lnTo>
                <a:lnTo>
                  <a:pt x="3776869" y="22370"/>
                </a:lnTo>
                <a:lnTo>
                  <a:pt x="3816626" y="20102"/>
                </a:lnTo>
                <a:lnTo>
                  <a:pt x="3856382" y="18044"/>
                </a:lnTo>
                <a:lnTo>
                  <a:pt x="3896139" y="16178"/>
                </a:lnTo>
                <a:lnTo>
                  <a:pt x="3935895" y="14489"/>
                </a:lnTo>
                <a:lnTo>
                  <a:pt x="3975652" y="12962"/>
                </a:lnTo>
                <a:lnTo>
                  <a:pt x="4015408" y="11582"/>
                </a:lnTo>
                <a:lnTo>
                  <a:pt x="4055165" y="10338"/>
                </a:lnTo>
                <a:lnTo>
                  <a:pt x="4094921" y="9216"/>
                </a:lnTo>
                <a:lnTo>
                  <a:pt x="4134678" y="8207"/>
                </a:lnTo>
                <a:lnTo>
                  <a:pt x="4174434" y="7301"/>
                </a:lnTo>
                <a:lnTo>
                  <a:pt x="4214191" y="6486"/>
                </a:lnTo>
                <a:lnTo>
                  <a:pt x="4253947" y="5757"/>
                </a:lnTo>
                <a:lnTo>
                  <a:pt x="4293704" y="5103"/>
                </a:lnTo>
                <a:lnTo>
                  <a:pt x="4333460" y="4518"/>
                </a:lnTo>
                <a:lnTo>
                  <a:pt x="4373217" y="3996"/>
                </a:lnTo>
                <a:lnTo>
                  <a:pt x="4412973" y="3530"/>
                </a:lnTo>
                <a:lnTo>
                  <a:pt x="4452730" y="3114"/>
                </a:lnTo>
                <a:lnTo>
                  <a:pt x="4492486" y="2745"/>
                </a:lnTo>
                <a:lnTo>
                  <a:pt x="4532243" y="2416"/>
                </a:lnTo>
                <a:lnTo>
                  <a:pt x="4572000" y="2124"/>
                </a:lnTo>
                <a:lnTo>
                  <a:pt x="4611756" y="1865"/>
                </a:lnTo>
                <a:lnTo>
                  <a:pt x="4651513" y="1635"/>
                </a:lnTo>
                <a:lnTo>
                  <a:pt x="4691269" y="1432"/>
                </a:lnTo>
                <a:lnTo>
                  <a:pt x="4731026" y="1253"/>
                </a:lnTo>
                <a:lnTo>
                  <a:pt x="4770782" y="1095"/>
                </a:lnTo>
                <a:lnTo>
                  <a:pt x="4810539" y="955"/>
                </a:lnTo>
                <a:lnTo>
                  <a:pt x="4850295" y="832"/>
                </a:lnTo>
                <a:lnTo>
                  <a:pt x="4890052" y="724"/>
                </a:lnTo>
                <a:lnTo>
                  <a:pt x="4929808" y="629"/>
                </a:lnTo>
                <a:lnTo>
                  <a:pt x="4969565" y="545"/>
                </a:lnTo>
                <a:lnTo>
                  <a:pt x="5009321" y="472"/>
                </a:lnTo>
                <a:lnTo>
                  <a:pt x="5049078" y="408"/>
                </a:lnTo>
                <a:lnTo>
                  <a:pt x="5088834" y="352"/>
                </a:lnTo>
                <a:lnTo>
                  <a:pt x="5128591" y="303"/>
                </a:lnTo>
                <a:lnTo>
                  <a:pt x="5168347" y="261"/>
                </a:lnTo>
                <a:lnTo>
                  <a:pt x="5208104" y="223"/>
                </a:lnTo>
                <a:lnTo>
                  <a:pt x="5247860" y="191"/>
                </a:lnTo>
                <a:lnTo>
                  <a:pt x="5287617" y="163"/>
                </a:lnTo>
                <a:lnTo>
                  <a:pt x="5327373" y="139"/>
                </a:lnTo>
                <a:lnTo>
                  <a:pt x="5367130" y="117"/>
                </a:lnTo>
                <a:lnTo>
                  <a:pt x="5406886" y="99"/>
                </a:lnTo>
                <a:lnTo>
                  <a:pt x="5446643" y="83"/>
                </a:lnTo>
                <a:lnTo>
                  <a:pt x="5486400" y="69"/>
                </a:lnTo>
                <a:lnTo>
                  <a:pt x="5526156" y="58"/>
                </a:lnTo>
                <a:lnTo>
                  <a:pt x="5565913" y="47"/>
                </a:lnTo>
                <a:lnTo>
                  <a:pt x="5605669" y="39"/>
                </a:lnTo>
                <a:lnTo>
                  <a:pt x="5645426" y="31"/>
                </a:lnTo>
                <a:lnTo>
                  <a:pt x="5685182" y="25"/>
                </a:lnTo>
                <a:lnTo>
                  <a:pt x="5724939" y="19"/>
                </a:lnTo>
                <a:lnTo>
                  <a:pt x="5764695" y="14"/>
                </a:lnTo>
                <a:lnTo>
                  <a:pt x="5804452" y="10"/>
                </a:lnTo>
                <a:lnTo>
                  <a:pt x="5844208" y="7"/>
                </a:lnTo>
                <a:lnTo>
                  <a:pt x="5883965" y="4"/>
                </a:lnTo>
                <a:lnTo>
                  <a:pt x="5923721" y="1"/>
                </a:lnTo>
                <a:lnTo>
                  <a:pt x="594360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C2-E03 ellipse 65" descr="sci-ppt:o065"/>
          <p:cNvSpPr/>
          <p:nvPr/>
        </p:nvSpPr>
        <p:spPr>
          <a:xfrm>
            <a:off x="6876288" y="3585425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C2-E03 text 66" descr="sci-ppt:o066"/>
          <p:cNvSpPr txBox="1"/>
          <p:nvPr/>
        </p:nvSpPr>
        <p:spPr>
          <a:xfrm>
            <a:off x="7040879" y="3247097"/>
            <a:ext cx="914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8BA0"/>
                </a:solidFill>
                <a:latin typeface="Arial"/>
              </a:rPr>
              <a:t>0.393</a:t>
            </a:r>
          </a:p>
        </p:txBody>
      </p:sp>
      <p:sp>
        <p:nvSpPr>
          <p:cNvPr id="69" name="C2-E03 ellipse 67" descr="sci-ppt:o067"/>
          <p:cNvSpPr/>
          <p:nvPr/>
        </p:nvSpPr>
        <p:spPr>
          <a:xfrm>
            <a:off x="8065008" y="1944050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C2-E03 text 68" descr="sci-ppt:o068"/>
          <p:cNvSpPr txBox="1"/>
          <p:nvPr/>
        </p:nvSpPr>
        <p:spPr>
          <a:xfrm>
            <a:off x="8229600" y="2062922"/>
            <a:ext cx="914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0.865</a:t>
            </a:r>
          </a:p>
        </p:txBody>
      </p:sp>
      <p:sp>
        <p:nvSpPr>
          <p:cNvPr id="71" name="C2-E03 ellipse 69" descr="sci-ppt:o069"/>
          <p:cNvSpPr/>
          <p:nvPr/>
        </p:nvSpPr>
        <p:spPr>
          <a:xfrm>
            <a:off x="9253728" y="1511316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C2-E03 text 70" descr="sci-ppt:o070"/>
          <p:cNvSpPr txBox="1"/>
          <p:nvPr/>
        </p:nvSpPr>
        <p:spPr>
          <a:xfrm>
            <a:off x="9418319" y="1630188"/>
            <a:ext cx="914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7FC8F8"/>
                </a:solidFill>
                <a:latin typeface="Arial"/>
              </a:rPr>
              <a:t>0.989</a:t>
            </a:r>
          </a:p>
        </p:txBody>
      </p:sp>
      <p:sp>
        <p:nvSpPr>
          <p:cNvPr id="73" name="C2-E03 text 71" descr="sci-ppt:o071"/>
          <p:cNvSpPr txBox="1"/>
          <p:nvPr/>
        </p:nvSpPr>
        <p:spPr>
          <a:xfrm>
            <a:off x="5760720" y="5733288"/>
            <a:ext cx="59436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f_geo = 1 − exp(−2 bₐ² / w²):  the outer annuli are removed from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the useful energy.</a:t>
            </a:r>
          </a:p>
        </p:txBody>
      </p:sp>
      <p:sp>
        <p:nvSpPr>
          <p:cNvPr id="74" name="C2-E03 text 72" descr="sci-ppt:o07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Interception fraction of Eq. C2-E03; bₐ = w/2 gives the 0.3935 used later.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