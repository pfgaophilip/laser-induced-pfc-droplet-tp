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948160" cy="79247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1" descr="sci-ppt:C2-E03-001"/>
          <p:cNvSpPr txBox="1"/>
          <p:nvPr/>
        </p:nvSpPr>
        <p:spPr>
          <a:xfrm>
            <a:off x="316992" y="268224"/>
            <a:ext cx="1127760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8EDBD4"/>
                </a:solidFill>
                <a:latin typeface="Arial"/>
              </a:rPr>
              <a:t>C2-E03 | Physical-variable diagram</a:t>
            </a:r>
          </a:p>
        </p:txBody>
      </p:sp>
      <p:sp>
        <p:nvSpPr>
          <p:cNvPr id="3" name="ellipse2" descr="sci-ppt:C2-E03-002"/>
          <p:cNvSpPr/>
          <p:nvPr/>
        </p:nvSpPr>
        <p:spPr>
          <a:xfrm>
            <a:off x="1402080" y="1341120"/>
            <a:ext cx="2560320" cy="2560320"/>
          </a:xfrm>
          <a:prstGeom prst="ellipse">
            <a:avLst/>
          </a:prstGeom>
          <a:noFill/>
          <a:ln w="2159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ellipse3" descr="sci-ppt:C2-E03-003"/>
          <p:cNvSpPr/>
          <p:nvPr/>
        </p:nvSpPr>
        <p:spPr>
          <a:xfrm>
            <a:off x="1914144" y="1853184"/>
            <a:ext cx="1536192" cy="1536192"/>
          </a:xfrm>
          <a:prstGeom prst="ellipse">
            <a:avLst/>
          </a:prstGeom>
          <a:noFill/>
          <a:ln w="2159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" name="arrow4" descr="sci-ppt:C2-E03-004"/>
          <p:cNvCxnSpPr/>
          <p:nvPr/>
        </p:nvCxnSpPr>
        <p:spPr>
          <a:xfrm>
            <a:off x="2682240" y="2621280"/>
            <a:ext cx="1280159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6" name="text5" descr="sci-ppt:C2-E03-005"/>
          <p:cNvSpPr txBox="1"/>
          <p:nvPr/>
        </p:nvSpPr>
        <p:spPr>
          <a:xfrm>
            <a:off x="2926080" y="2743200"/>
            <a:ext cx="975360" cy="377952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20" b="0" i="0">
                <a:solidFill>
                  <a:srgbClr val="E7F0F3"/>
                </a:solidFill>
                <a:latin typeface="Arial"/>
              </a:rPr>
              <a:t>w</a:t>
            </a:r>
          </a:p>
        </p:txBody>
      </p:sp>
      <p:sp>
        <p:nvSpPr>
          <p:cNvPr id="7" name="text6" descr="sci-ppt:C2-E03-006"/>
          <p:cNvSpPr txBox="1"/>
          <p:nvPr/>
        </p:nvSpPr>
        <p:spPr>
          <a:xfrm>
            <a:off x="1402080" y="4084320"/>
            <a:ext cx="487680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Illuminated transverse plane</a:t>
            </a:r>
          </a:p>
        </p:txBody>
      </p:sp>
      <p:cxnSp>
        <p:nvCxnSpPr>
          <p:cNvPr id="8" name="arrow7" descr="sci-ppt:C2-E03-007"/>
          <p:cNvCxnSpPr/>
          <p:nvPr/>
        </p:nvCxnSpPr>
        <p:spPr>
          <a:xfrm>
            <a:off x="6583680" y="3962399"/>
            <a:ext cx="426720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9" name="arrow8" descr="sci-ppt:C2-E03-008"/>
          <p:cNvCxnSpPr/>
          <p:nvPr/>
        </p:nvCxnSpPr>
        <p:spPr>
          <a:xfrm flipV="1">
            <a:off x="6583680" y="1402080"/>
            <a:ext cx="0" cy="2560319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0" name="text9" descr="sci-ppt:C2-E03-009"/>
          <p:cNvSpPr txBox="1"/>
          <p:nvPr/>
        </p:nvSpPr>
        <p:spPr>
          <a:xfrm>
            <a:off x="9875520" y="4084320"/>
            <a:ext cx="182880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r / w</a:t>
            </a:r>
          </a:p>
        </p:txBody>
      </p:sp>
      <p:sp>
        <p:nvSpPr>
          <p:cNvPr id="11" name="text10" descr="sci-ppt:C2-E03-010"/>
          <p:cNvSpPr txBox="1"/>
          <p:nvPr/>
        </p:nvSpPr>
        <p:spPr>
          <a:xfrm>
            <a:off x="6461760" y="1036320"/>
            <a:ext cx="365760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F / F0</a:t>
            </a:r>
          </a:p>
        </p:txBody>
      </p:sp>
      <p:cxnSp>
        <p:nvCxnSpPr>
          <p:cNvPr id="12" name="line11" descr="sci-ppt:C2-E03-011"/>
          <p:cNvCxnSpPr/>
          <p:nvPr/>
        </p:nvCxnSpPr>
        <p:spPr>
          <a:xfrm>
            <a:off x="6644640" y="1524000"/>
            <a:ext cx="103632" cy="1216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3" name="line12" descr="sci-ppt:C2-E03-012"/>
          <p:cNvCxnSpPr/>
          <p:nvPr/>
        </p:nvCxnSpPr>
        <p:spPr>
          <a:xfrm>
            <a:off x="6748272" y="1536161"/>
            <a:ext cx="103632" cy="3612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4" name="line13" descr="sci-ppt:C2-E03-013"/>
          <p:cNvCxnSpPr/>
          <p:nvPr/>
        </p:nvCxnSpPr>
        <p:spPr>
          <a:xfrm>
            <a:off x="6851904" y="1572283"/>
            <a:ext cx="103632" cy="5901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5" name="line14" descr="sci-ppt:C2-E03-014"/>
          <p:cNvCxnSpPr/>
          <p:nvPr/>
        </p:nvCxnSpPr>
        <p:spPr>
          <a:xfrm>
            <a:off x="6955536" y="1631295"/>
            <a:ext cx="103632" cy="8017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6" name="line15" descr="sci-ppt:C2-E03-015"/>
          <p:cNvCxnSpPr/>
          <p:nvPr/>
        </p:nvCxnSpPr>
        <p:spPr>
          <a:xfrm>
            <a:off x="7059168" y="1711473"/>
            <a:ext cx="103632" cy="9904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7" name="line16" descr="sci-ppt:C2-E03-016"/>
          <p:cNvCxnSpPr/>
          <p:nvPr/>
        </p:nvCxnSpPr>
        <p:spPr>
          <a:xfrm>
            <a:off x="7162800" y="1810519"/>
            <a:ext cx="103632" cy="11515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8" name="line17" descr="sci-ppt:C2-E03-017"/>
          <p:cNvCxnSpPr/>
          <p:nvPr/>
        </p:nvCxnSpPr>
        <p:spPr>
          <a:xfrm>
            <a:off x="7266432" y="1925677"/>
            <a:ext cx="103632" cy="12817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9" name="line18" descr="sci-ppt:C2-E03-018"/>
          <p:cNvCxnSpPr/>
          <p:nvPr/>
        </p:nvCxnSpPr>
        <p:spPr>
          <a:xfrm>
            <a:off x="7370064" y="2053853"/>
            <a:ext cx="103632" cy="13790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0" name="line19" descr="sci-ppt:C2-E03-019"/>
          <p:cNvCxnSpPr/>
          <p:nvPr/>
        </p:nvCxnSpPr>
        <p:spPr>
          <a:xfrm>
            <a:off x="7473696" y="2191758"/>
            <a:ext cx="103632" cy="14428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1" name="line20" descr="sci-ppt:C2-E03-020"/>
          <p:cNvCxnSpPr/>
          <p:nvPr/>
        </p:nvCxnSpPr>
        <p:spPr>
          <a:xfrm>
            <a:off x="7577328" y="2336043"/>
            <a:ext cx="103632" cy="14739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2" name="line21" descr="sci-ppt:C2-E03-021"/>
          <p:cNvCxnSpPr/>
          <p:nvPr/>
        </p:nvCxnSpPr>
        <p:spPr>
          <a:xfrm>
            <a:off x="7680960" y="2483435"/>
            <a:ext cx="103632" cy="14741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3" name="line22" descr="sci-ppt:C2-E03-022"/>
          <p:cNvCxnSpPr/>
          <p:nvPr/>
        </p:nvCxnSpPr>
        <p:spPr>
          <a:xfrm>
            <a:off x="7784592" y="2630852"/>
            <a:ext cx="103632" cy="14465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4" name="line23" descr="sci-ppt:C2-E03-023"/>
          <p:cNvCxnSpPr/>
          <p:nvPr/>
        </p:nvCxnSpPr>
        <p:spPr>
          <a:xfrm>
            <a:off x="7888224" y="2775503"/>
            <a:ext cx="103632" cy="13946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5" name="line24" descr="sci-ppt:C2-E03-024"/>
          <p:cNvCxnSpPr/>
          <p:nvPr/>
        </p:nvCxnSpPr>
        <p:spPr>
          <a:xfrm>
            <a:off x="7991856" y="2914967"/>
            <a:ext cx="103632" cy="13227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6" name="line25" descr="sci-ppt:C2-E03-025"/>
          <p:cNvCxnSpPr/>
          <p:nvPr/>
        </p:nvCxnSpPr>
        <p:spPr>
          <a:xfrm>
            <a:off x="8095488" y="3047241"/>
            <a:ext cx="103632" cy="12352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7" name="line26" descr="sci-ppt:C2-E03-026"/>
          <p:cNvCxnSpPr/>
          <p:nvPr/>
        </p:nvCxnSpPr>
        <p:spPr>
          <a:xfrm>
            <a:off x="8199120" y="3170767"/>
            <a:ext cx="103632" cy="11366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8" name="line27" descr="sci-ppt:C2-E03-027"/>
          <p:cNvCxnSpPr/>
          <p:nvPr/>
        </p:nvCxnSpPr>
        <p:spPr>
          <a:xfrm>
            <a:off x="8302752" y="3284433"/>
            <a:ext cx="103632" cy="10312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9" name="line28" descr="sci-ppt:C2-E03-028"/>
          <p:cNvCxnSpPr/>
          <p:nvPr/>
        </p:nvCxnSpPr>
        <p:spPr>
          <a:xfrm>
            <a:off x="8406384" y="3387556"/>
            <a:ext cx="103632" cy="9228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0" name="line29" descr="sci-ppt:C2-E03-029"/>
          <p:cNvCxnSpPr/>
          <p:nvPr/>
        </p:nvCxnSpPr>
        <p:spPr>
          <a:xfrm>
            <a:off x="8510016" y="3479843"/>
            <a:ext cx="103632" cy="8150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1" name="line30" descr="sci-ppt:C2-E03-030"/>
          <p:cNvCxnSpPr/>
          <p:nvPr/>
        </p:nvCxnSpPr>
        <p:spPr>
          <a:xfrm>
            <a:off x="8613648" y="3561345"/>
            <a:ext cx="103632" cy="7105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2" name="line31" descr="sci-ppt:C2-E03-031"/>
          <p:cNvCxnSpPr/>
          <p:nvPr/>
        </p:nvCxnSpPr>
        <p:spPr>
          <a:xfrm>
            <a:off x="8717280" y="3632398"/>
            <a:ext cx="103632" cy="6116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3" name="line32" descr="sci-ppt:C2-E03-032"/>
          <p:cNvCxnSpPr/>
          <p:nvPr/>
        </p:nvCxnSpPr>
        <p:spPr>
          <a:xfrm>
            <a:off x="8820912" y="3693565"/>
            <a:ext cx="103632" cy="5200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4" name="line33" descr="sci-ppt:C2-E03-033"/>
          <p:cNvCxnSpPr/>
          <p:nvPr/>
        </p:nvCxnSpPr>
        <p:spPr>
          <a:xfrm>
            <a:off x="8924544" y="3745573"/>
            <a:ext cx="103632" cy="4368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5" name="line34" descr="sci-ppt:C2-E03-034"/>
          <p:cNvCxnSpPr/>
          <p:nvPr/>
        </p:nvCxnSpPr>
        <p:spPr>
          <a:xfrm>
            <a:off x="9028176" y="3789260"/>
            <a:ext cx="103632" cy="3626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6" name="line35" descr="sci-ppt:C2-E03-035"/>
          <p:cNvCxnSpPr/>
          <p:nvPr/>
        </p:nvCxnSpPr>
        <p:spPr>
          <a:xfrm>
            <a:off x="9131808" y="3825520"/>
            <a:ext cx="103632" cy="2974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7" name="line36" descr="sci-ppt:C2-E03-036"/>
          <p:cNvCxnSpPr/>
          <p:nvPr/>
        </p:nvCxnSpPr>
        <p:spPr>
          <a:xfrm>
            <a:off x="9235440" y="3855264"/>
            <a:ext cx="103632" cy="2411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8" name="line37" descr="sci-ppt:C2-E03-037"/>
          <p:cNvCxnSpPr/>
          <p:nvPr/>
        </p:nvCxnSpPr>
        <p:spPr>
          <a:xfrm>
            <a:off x="9339072" y="3879378"/>
            <a:ext cx="103632" cy="1932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9" name="line38" descr="sci-ppt:C2-E03-038"/>
          <p:cNvCxnSpPr/>
          <p:nvPr/>
        </p:nvCxnSpPr>
        <p:spPr>
          <a:xfrm>
            <a:off x="9442704" y="3898705"/>
            <a:ext cx="103632" cy="1531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0" name="line39" descr="sci-ppt:C2-E03-039"/>
          <p:cNvCxnSpPr/>
          <p:nvPr/>
        </p:nvCxnSpPr>
        <p:spPr>
          <a:xfrm>
            <a:off x="9546336" y="3914019"/>
            <a:ext cx="103632" cy="1199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1" name="line40" descr="sci-ppt:C2-E03-040"/>
          <p:cNvCxnSpPr/>
          <p:nvPr/>
        </p:nvCxnSpPr>
        <p:spPr>
          <a:xfrm>
            <a:off x="9649968" y="3926017"/>
            <a:ext cx="103632" cy="929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2" name="line41" descr="sci-ppt:C2-E03-041"/>
          <p:cNvCxnSpPr/>
          <p:nvPr/>
        </p:nvCxnSpPr>
        <p:spPr>
          <a:xfrm>
            <a:off x="9753600" y="3935311"/>
            <a:ext cx="103632" cy="712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3" name="line42" descr="sci-ppt:C2-E03-042"/>
          <p:cNvCxnSpPr/>
          <p:nvPr/>
        </p:nvCxnSpPr>
        <p:spPr>
          <a:xfrm>
            <a:off x="9857232" y="3942432"/>
            <a:ext cx="103632" cy="539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4" name="line43" descr="sci-ppt:C2-E03-043"/>
          <p:cNvCxnSpPr/>
          <p:nvPr/>
        </p:nvCxnSpPr>
        <p:spPr>
          <a:xfrm>
            <a:off x="9960864" y="3947828"/>
            <a:ext cx="103632" cy="404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5" name="line44" descr="sci-ppt:C2-E03-044"/>
          <p:cNvCxnSpPr/>
          <p:nvPr/>
        </p:nvCxnSpPr>
        <p:spPr>
          <a:xfrm>
            <a:off x="10064496" y="3951871"/>
            <a:ext cx="103632" cy="299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6" name="line45" descr="sci-ppt:C2-E03-045"/>
          <p:cNvCxnSpPr/>
          <p:nvPr/>
        </p:nvCxnSpPr>
        <p:spPr>
          <a:xfrm>
            <a:off x="10168128" y="3954868"/>
            <a:ext cx="103632" cy="219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7" name="line46" descr="sci-ppt:C2-E03-046"/>
          <p:cNvCxnSpPr/>
          <p:nvPr/>
        </p:nvCxnSpPr>
        <p:spPr>
          <a:xfrm>
            <a:off x="10271760" y="3957066"/>
            <a:ext cx="103632" cy="159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8" name="line47" descr="sci-ppt:C2-E03-047"/>
          <p:cNvCxnSpPr/>
          <p:nvPr/>
        </p:nvCxnSpPr>
        <p:spPr>
          <a:xfrm>
            <a:off x="10375392" y="3958659"/>
            <a:ext cx="103632" cy="114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9" name="line48" descr="sci-ppt:C2-E03-048"/>
          <p:cNvCxnSpPr/>
          <p:nvPr/>
        </p:nvCxnSpPr>
        <p:spPr>
          <a:xfrm>
            <a:off x="10479024" y="3959803"/>
            <a:ext cx="103632" cy="81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0" name="line49" descr="sci-ppt:C2-E03-049"/>
          <p:cNvCxnSpPr/>
          <p:nvPr/>
        </p:nvCxnSpPr>
        <p:spPr>
          <a:xfrm>
            <a:off x="10582656" y="3960615"/>
            <a:ext cx="103632" cy="57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1" name="line50" descr="sci-ppt:C2-E03-050"/>
          <p:cNvCxnSpPr/>
          <p:nvPr/>
        </p:nvCxnSpPr>
        <p:spPr>
          <a:xfrm>
            <a:off x="10686288" y="3961185"/>
            <a:ext cx="103632" cy="39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sp>
        <p:nvSpPr>
          <p:cNvPr id="52" name="text51" descr="sci-ppt:C2-E03-051"/>
          <p:cNvSpPr txBox="1"/>
          <p:nvPr/>
        </p:nvSpPr>
        <p:spPr>
          <a:xfrm>
            <a:off x="7254240" y="1036320"/>
            <a:ext cx="426720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Gaussian profile (prescribed)</a:t>
            </a:r>
          </a:p>
        </p:txBody>
      </p:sp>
      <p:sp>
        <p:nvSpPr>
          <p:cNvPr id="53" name="ellipse52" descr="sci-ppt:C2-E03-052"/>
          <p:cNvSpPr/>
          <p:nvPr/>
        </p:nvSpPr>
        <p:spPr>
          <a:xfrm>
            <a:off x="2072640" y="2011680"/>
            <a:ext cx="1219200" cy="1219200"/>
          </a:xfrm>
          <a:prstGeom prst="ellipse">
            <a:avLst/>
          </a:prstGeom>
          <a:noFill/>
          <a:ln w="21590">
            <a:solidFill>
              <a:srgbClr val="F6BC7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53" descr="sci-ppt:C2-E03-053"/>
          <p:cNvSpPr txBox="1"/>
          <p:nvPr/>
        </p:nvSpPr>
        <p:spPr>
          <a:xfrm>
            <a:off x="1036320" y="853440"/>
            <a:ext cx="426720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F6BC77"/>
                </a:solidFill>
                <a:latin typeface="Arial"/>
              </a:rPr>
              <a:t>Centered aperture b_a</a:t>
            </a:r>
          </a:p>
        </p:txBody>
      </p:sp>
      <p:sp>
        <p:nvSpPr>
          <p:cNvPr id="55" name="text54" descr="sci-ppt:C2-E03-054"/>
          <p:cNvSpPr txBox="1"/>
          <p:nvPr/>
        </p:nvSpPr>
        <p:spPr>
          <a:xfrm>
            <a:off x="3657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b_a: absorber aperture edge</a:t>
            </a:r>
          </a:p>
        </p:txBody>
      </p:sp>
      <p:sp>
        <p:nvSpPr>
          <p:cNvPr id="56" name="text55" descr="sci-ppt:C2-E03-055"/>
          <p:cNvSpPr txBox="1"/>
          <p:nvPr/>
        </p:nvSpPr>
        <p:spPr>
          <a:xfrm>
            <a:off x="3657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r, F(r): intercepted annuli</a:t>
            </a:r>
          </a:p>
        </p:txBody>
      </p:sp>
      <p:sp>
        <p:nvSpPr>
          <p:cNvPr id="57" name="text56" descr="sci-ppt:C2-E03-056"/>
          <p:cNvSpPr txBox="1"/>
          <p:nvPr/>
        </p:nvSpPr>
        <p:spPr>
          <a:xfrm>
            <a:off x="3657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f_geo: intercepted fraction</a:t>
            </a:r>
          </a:p>
        </p:txBody>
      </p:sp>
      <p:sp>
        <p:nvSpPr>
          <p:cNvPr id="58" name="text57" descr="sci-ppt:C2-E03-057"/>
          <p:cNvSpPr txBox="1"/>
          <p:nvPr/>
        </p:nvSpPr>
        <p:spPr>
          <a:xfrm>
            <a:off x="61569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w: beam radius</a:t>
            </a:r>
          </a:p>
        </p:txBody>
      </p:sp>
      <p:sp>
        <p:nvSpPr>
          <p:cNvPr id="59" name="text58" descr="sci-ppt:C2-E03-058"/>
          <p:cNvSpPr txBox="1"/>
          <p:nvPr/>
        </p:nvSpPr>
        <p:spPr>
          <a:xfrm>
            <a:off x="61569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E_L: full incident energy</a:t>
            </a:r>
          </a:p>
        </p:txBody>
      </p:sp>
      <p:sp>
        <p:nvSpPr>
          <p:cNvPr id="60" name="text59" descr="sci-ppt:C2-E03-059"/>
          <p:cNvSpPr txBox="1"/>
          <p:nvPr/>
        </p:nvSpPr>
        <p:spPr>
          <a:xfrm>
            <a:off x="61569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π: annulus geometry</a:t>
            </a:r>
          </a:p>
        </p:txBody>
      </p:sp>
      <p:sp>
        <p:nvSpPr>
          <p:cNvPr id="61" name="text60" descr="sci-ppt:C2-E03-060"/>
          <p:cNvSpPr txBox="1"/>
          <p:nvPr/>
        </p:nvSpPr>
        <p:spPr>
          <a:xfrm>
            <a:off x="365760" y="6278880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b_a → 0 gives no interception</a:t>
            </a:r>
          </a:p>
        </p:txBody>
      </p:sp>
      <p:sp>
        <p:nvSpPr>
          <p:cNvPr id="62" name="text61" descr="sci-ppt:C2-E03-061"/>
          <p:cNvSpPr txBox="1"/>
          <p:nvPr/>
        </p:nvSpPr>
        <p:spPr>
          <a:xfrm>
            <a:off x="365760" y="6571488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b_a ≫ w captures nearly all beam energy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