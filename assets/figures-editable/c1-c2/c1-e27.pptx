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C1-E27 · Kinematic condition and clean-interface traction</a:t>
            </a:r>
          </a:p>
        </p:txBody>
      </p:sp>
      <p:sp>
        <p:nvSpPr>
          <p:cNvPr id="3" name="C1-E27 round_rect 1" descr="sci-ppt:o001"/>
          <p:cNvSpPr/>
          <p:nvPr/>
        </p:nvSpPr>
        <p:spPr>
          <a:xfrm>
            <a:off x="365760" y="914400"/>
            <a:ext cx="493776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27 text 2" descr="sci-ppt:o002"/>
          <p:cNvSpPr txBox="1"/>
          <p:nvPr/>
        </p:nvSpPr>
        <p:spPr>
          <a:xfrm>
            <a:off x="475488" y="969264"/>
            <a:ext cx="47183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Interface patch and conventions</a:t>
            </a:r>
          </a:p>
        </p:txBody>
      </p:sp>
      <p:sp>
        <p:nvSpPr>
          <p:cNvPr id="5" name="C1-E27 ellipse 3" descr="sci-ppt:o003"/>
          <p:cNvSpPr/>
          <p:nvPr/>
        </p:nvSpPr>
        <p:spPr>
          <a:xfrm>
            <a:off x="1188719" y="1965960"/>
            <a:ext cx="3108960" cy="3108960"/>
          </a:xfrm>
          <a:prstGeom prst="ellipse">
            <a:avLst/>
          </a:prstGeom>
          <a:solidFill>
            <a:srgbClr val="1E4A5A"/>
          </a:solidFill>
          <a:ln w="1270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1-E27 ellipse 4" descr="sci-ppt:o004"/>
          <p:cNvSpPr/>
          <p:nvPr/>
        </p:nvSpPr>
        <p:spPr>
          <a:xfrm>
            <a:off x="1554480" y="2331720"/>
            <a:ext cx="2377440" cy="237744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1-E27 arrow 5" descr="sci-ppt:o005"/>
          <p:cNvCxnSpPr/>
          <p:nvPr/>
        </p:nvCxnSpPr>
        <p:spPr>
          <a:xfrm flipH="1">
            <a:off x="3080264" y="2838618"/>
            <a:ext cx="636678" cy="445806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1-E27 arrow 6" descr="sci-ppt:o006"/>
          <p:cNvCxnSpPr/>
          <p:nvPr/>
        </p:nvCxnSpPr>
        <p:spPr>
          <a:xfrm flipH="1" flipV="1">
            <a:off x="3349807" y="2314295"/>
            <a:ext cx="367135" cy="524323"/>
          </a:xfrm>
          <a:prstGeom prst="line">
            <a:avLst/>
          </a:prstGeom>
          <a:ln w="3048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1-E27 arrow 7" descr="sci-ppt:o007"/>
          <p:cNvCxnSpPr/>
          <p:nvPr/>
        </p:nvCxnSpPr>
        <p:spPr>
          <a:xfrm>
            <a:off x="2240825" y="2443093"/>
            <a:ext cx="328476" cy="704419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C1-E27 arrow 8" descr="sci-ppt:o008"/>
          <p:cNvCxnSpPr/>
          <p:nvPr/>
        </p:nvCxnSpPr>
        <p:spPr>
          <a:xfrm flipH="1">
            <a:off x="1660715" y="2443093"/>
            <a:ext cx="580110" cy="270510"/>
          </a:xfrm>
          <a:prstGeom prst="line">
            <a:avLst/>
          </a:prstGeom>
          <a:ln w="3048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1" name="C1-E27 arrow 9" descr="sci-ppt:o009"/>
          <p:cNvCxnSpPr/>
          <p:nvPr/>
        </p:nvCxnSpPr>
        <p:spPr>
          <a:xfrm flipV="1">
            <a:off x="1626168" y="3661174"/>
            <a:ext cx="730367" cy="265832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2" name="C1-E27 arrow 10" descr="sci-ppt:o010"/>
          <p:cNvCxnSpPr/>
          <p:nvPr/>
        </p:nvCxnSpPr>
        <p:spPr>
          <a:xfrm>
            <a:off x="1626168" y="3927006"/>
            <a:ext cx="218920" cy="601478"/>
          </a:xfrm>
          <a:prstGeom prst="line">
            <a:avLst/>
          </a:prstGeom>
          <a:ln w="3048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sp>
        <p:nvSpPr>
          <p:cNvPr id="13" name="C1-E27 text 11" descr="sci-ppt:o011"/>
          <p:cNvSpPr txBox="1"/>
          <p:nvPr/>
        </p:nvSpPr>
        <p:spPr>
          <a:xfrm>
            <a:off x="3749039" y="1645920"/>
            <a:ext cx="23774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n: liquid → gas</a:t>
            </a:r>
          </a:p>
        </p:txBody>
      </p:sp>
      <p:sp>
        <p:nvSpPr>
          <p:cNvPr id="14" name="C1-E27 text 12" descr="sci-ppt:o012"/>
          <p:cNvSpPr txBox="1"/>
          <p:nvPr/>
        </p:nvSpPr>
        <p:spPr>
          <a:xfrm>
            <a:off x="4023360" y="2194560"/>
            <a:ext cx="23774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FC8F8"/>
                </a:solidFill>
                <a:latin typeface="Arial"/>
              </a:rPr>
              <a:t>s: tangent</a:t>
            </a:r>
          </a:p>
        </p:txBody>
      </p:sp>
      <p:sp>
        <p:nvSpPr>
          <p:cNvPr id="15" name="C1-E27 text 13" descr="sci-ppt:o013"/>
          <p:cNvSpPr txBox="1"/>
          <p:nvPr/>
        </p:nvSpPr>
        <p:spPr>
          <a:xfrm>
            <a:off x="502920" y="5257800"/>
            <a:ext cx="46634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For a bubble the normal points inward, so the sphere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curvature is κ = −2/R.</a:t>
            </a:r>
          </a:p>
        </p:txBody>
      </p:sp>
      <p:sp>
        <p:nvSpPr>
          <p:cNvPr id="16" name="C1-E27 text 14" descr="sci-ppt:o014"/>
          <p:cNvSpPr txBox="1"/>
          <p:nvPr/>
        </p:nvSpPr>
        <p:spPr>
          <a:xfrm>
            <a:off x="5577840" y="914400"/>
            <a:ext cx="62179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Three conditions on the interface Γ</a:t>
            </a:r>
          </a:p>
        </p:txBody>
      </p:sp>
      <p:sp>
        <p:nvSpPr>
          <p:cNvPr id="17" name="C1-E27 round_rect 15" descr="sci-ppt:o015"/>
          <p:cNvSpPr/>
          <p:nvPr/>
        </p:nvSpPr>
        <p:spPr>
          <a:xfrm>
            <a:off x="5577840" y="1417320"/>
            <a:ext cx="6263640" cy="1325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1-E27 text 16" descr="sci-ppt:o016"/>
          <p:cNvSpPr txBox="1"/>
          <p:nvPr/>
        </p:nvSpPr>
        <p:spPr>
          <a:xfrm>
            <a:off x="5715000" y="1472184"/>
            <a:ext cx="5943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Kinematic</a:t>
            </a:r>
          </a:p>
        </p:txBody>
      </p:sp>
      <p:sp>
        <p:nvSpPr>
          <p:cNvPr id="19" name="C1-E27 text 17" descr="sci-ppt:o017"/>
          <p:cNvSpPr txBox="1"/>
          <p:nvPr/>
        </p:nvSpPr>
        <p:spPr>
          <a:xfrm>
            <a:off x="5715000" y="1828800"/>
            <a:ext cx="5943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Vₙ = u · n</a:t>
            </a:r>
          </a:p>
        </p:txBody>
      </p:sp>
      <p:sp>
        <p:nvSpPr>
          <p:cNvPr id="20" name="C1-E27 text 18" descr="sci-ppt:o018"/>
          <p:cNvSpPr txBox="1"/>
          <p:nvPr/>
        </p:nvSpPr>
        <p:spPr>
          <a:xfrm>
            <a:off x="5715000" y="2286000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surface moves with the liquid normal to itself</a:t>
            </a:r>
          </a:p>
        </p:txBody>
      </p:sp>
      <p:sp>
        <p:nvSpPr>
          <p:cNvPr id="21" name="C1-E27 round_rect 19" descr="sci-ppt:o019"/>
          <p:cNvSpPr/>
          <p:nvPr/>
        </p:nvSpPr>
        <p:spPr>
          <a:xfrm>
            <a:off x="5577840" y="2880360"/>
            <a:ext cx="6263640" cy="1325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1-E27 text 20" descr="sci-ppt:o020"/>
          <p:cNvSpPr txBox="1"/>
          <p:nvPr/>
        </p:nvSpPr>
        <p:spPr>
          <a:xfrm>
            <a:off x="5715000" y="2935224"/>
            <a:ext cx="5943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Normal stress</a:t>
            </a:r>
          </a:p>
        </p:txBody>
      </p:sp>
      <p:sp>
        <p:nvSpPr>
          <p:cNvPr id="23" name="C1-E27 text 21" descr="sci-ppt:o021"/>
          <p:cNvSpPr txBox="1"/>
          <p:nvPr/>
        </p:nvSpPr>
        <p:spPr>
          <a:xfrm>
            <a:off x="5715000" y="3291840"/>
            <a:ext cx="5943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pₗ = p_b + σκ + 2μ n·D·n</a:t>
            </a:r>
          </a:p>
        </p:txBody>
      </p:sp>
      <p:sp>
        <p:nvSpPr>
          <p:cNvPr id="24" name="C1-E27 text 22" descr="sci-ppt:o022"/>
          <p:cNvSpPr txBox="1"/>
          <p:nvPr/>
        </p:nvSpPr>
        <p:spPr>
          <a:xfrm>
            <a:off x="5715000" y="3749040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σκ = −2σ/R for a sphere</a:t>
            </a:r>
          </a:p>
        </p:txBody>
      </p:sp>
      <p:sp>
        <p:nvSpPr>
          <p:cNvPr id="25" name="C1-E27 round_rect 23" descr="sci-ppt:o023"/>
          <p:cNvSpPr/>
          <p:nvPr/>
        </p:nvSpPr>
        <p:spPr>
          <a:xfrm>
            <a:off x="5577840" y="4343400"/>
            <a:ext cx="6263640" cy="1325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1-E27 text 24" descr="sci-ppt:o024"/>
          <p:cNvSpPr txBox="1"/>
          <p:nvPr/>
        </p:nvSpPr>
        <p:spPr>
          <a:xfrm>
            <a:off x="5715000" y="4398264"/>
            <a:ext cx="5943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Tangential stress</a:t>
            </a:r>
          </a:p>
        </p:txBody>
      </p:sp>
      <p:sp>
        <p:nvSpPr>
          <p:cNvPr id="27" name="C1-E27 text 25" descr="sci-ppt:o025"/>
          <p:cNvSpPr txBox="1"/>
          <p:nvPr/>
        </p:nvSpPr>
        <p:spPr>
          <a:xfrm>
            <a:off x="5715000" y="4754880"/>
            <a:ext cx="5943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2μ s·D·n = 0</a:t>
            </a:r>
          </a:p>
        </p:txBody>
      </p:sp>
      <p:sp>
        <p:nvSpPr>
          <p:cNvPr id="28" name="C1-E27 text 26" descr="sci-ppt:o026"/>
          <p:cNvSpPr txBox="1"/>
          <p:nvPr/>
        </p:nvSpPr>
        <p:spPr>
          <a:xfrm>
            <a:off x="5715000" y="5212080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gas cannot support shear</a:t>
            </a:r>
          </a:p>
        </p:txBody>
      </p:sp>
      <p:sp>
        <p:nvSpPr>
          <p:cNvPr id="29" name="C1-E27 text 27" descr="sci-ppt:o027"/>
          <p:cNvSpPr txBox="1"/>
          <p:nvPr/>
        </p:nvSpPr>
        <p:spPr>
          <a:xfrm>
            <a:off x="5577840" y="5806440"/>
            <a:ext cx="62179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One sign convention for n, κ and D is required, or the terms cancel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wrongly.</a:t>
            </a:r>
          </a:p>
        </p:txBody>
      </p:sp>
      <p:sp>
        <p:nvSpPr>
          <p:cNvPr id="30" name="C1-E27 text 28" descr="sci-ppt:o02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D = ½(∇u + ∇uᵀ) is the strain-rate tensor (Eq. C1-E27).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