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C1-E27 · Bulk conservation and Newtonian constitutive assumption</a:t>
            </a:r>
          </a:p>
        </p:txBody>
      </p:sp>
      <p:sp>
        <p:nvSpPr>
          <p:cNvPr id="3" name="C1-E27 round_rect 1" descr="sci-ppt:o001"/>
          <p:cNvSpPr/>
          <p:nvPr/>
        </p:nvSpPr>
        <p:spPr>
          <a:xfrm>
            <a:off x="365760" y="914400"/>
            <a:ext cx="384048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27 text 2" descr="sci-ppt:o002"/>
          <p:cNvSpPr txBox="1"/>
          <p:nvPr/>
        </p:nvSpPr>
        <p:spPr>
          <a:xfrm>
            <a:off x="475488" y="969264"/>
            <a:ext cx="3621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Continuity: ∇·u = 0</a:t>
            </a:r>
          </a:p>
        </p:txBody>
      </p:sp>
      <p:sp>
        <p:nvSpPr>
          <p:cNvPr id="5" name="C1-E27 rect 3" descr="sci-ppt:o003"/>
          <p:cNvSpPr/>
          <p:nvPr/>
        </p:nvSpPr>
        <p:spPr>
          <a:xfrm>
            <a:off x="1280160" y="2286000"/>
            <a:ext cx="2011680" cy="1554480"/>
          </a:xfrm>
          <a:prstGeom prst="rect">
            <a:avLst/>
          </a:prstGeom>
          <a:solidFill>
            <a:srgbClr val="1E4A5A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1-E27 arrow 4" descr="sci-ppt:o004"/>
          <p:cNvCxnSpPr/>
          <p:nvPr/>
        </p:nvCxnSpPr>
        <p:spPr>
          <a:xfrm>
            <a:off x="685800" y="26060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1-E27 arrow 5" descr="sci-ppt:o005"/>
          <p:cNvCxnSpPr/>
          <p:nvPr/>
        </p:nvCxnSpPr>
        <p:spPr>
          <a:xfrm>
            <a:off x="3337560" y="26060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1-E27 arrow 6" descr="sci-ppt:o006"/>
          <p:cNvCxnSpPr/>
          <p:nvPr/>
        </p:nvCxnSpPr>
        <p:spPr>
          <a:xfrm>
            <a:off x="685800" y="30632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1-E27 arrow 7" descr="sci-ppt:o007"/>
          <p:cNvCxnSpPr/>
          <p:nvPr/>
        </p:nvCxnSpPr>
        <p:spPr>
          <a:xfrm>
            <a:off x="3337560" y="30632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1-E27 arrow 8" descr="sci-ppt:o008"/>
          <p:cNvCxnSpPr/>
          <p:nvPr/>
        </p:nvCxnSpPr>
        <p:spPr>
          <a:xfrm>
            <a:off x="685800" y="35204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1-E27 arrow 9" descr="sci-ppt:o009"/>
          <p:cNvCxnSpPr/>
          <p:nvPr/>
        </p:nvCxnSpPr>
        <p:spPr>
          <a:xfrm>
            <a:off x="3337560" y="3520440"/>
            <a:ext cx="548640" cy="0"/>
          </a:xfrm>
          <a:prstGeom prst="line">
            <a:avLst/>
          </a:prstGeom>
          <a:ln w="3302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1-E27 text 10" descr="sci-ppt:o010"/>
          <p:cNvSpPr txBox="1"/>
          <p:nvPr/>
        </p:nvSpPr>
        <p:spPr>
          <a:xfrm>
            <a:off x="1371600" y="2834640"/>
            <a:ext cx="182880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volume in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= volume out</a:t>
            </a:r>
          </a:p>
        </p:txBody>
      </p:sp>
      <p:sp>
        <p:nvSpPr>
          <p:cNvPr id="13" name="C1-E27 text 11" descr="sci-ppt:o011"/>
          <p:cNvSpPr txBox="1"/>
          <p:nvPr/>
        </p:nvSpPr>
        <p:spPr>
          <a:xfrm>
            <a:off x="502920" y="4251960"/>
            <a:ext cx="356616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liquid does not compress: whatever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flows into a region flows out, so a moving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bubble wall must push liquid outward.</a:t>
            </a:r>
          </a:p>
        </p:txBody>
      </p:sp>
      <p:sp>
        <p:nvSpPr>
          <p:cNvPr id="14" name="C1-E27 round_rect 12" descr="sci-ppt:o012"/>
          <p:cNvSpPr/>
          <p:nvPr/>
        </p:nvSpPr>
        <p:spPr>
          <a:xfrm>
            <a:off x="4480560" y="914400"/>
            <a:ext cx="7360920" cy="49377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1-E27 text 13" descr="sci-ppt:o013"/>
          <p:cNvSpPr txBox="1"/>
          <p:nvPr/>
        </p:nvSpPr>
        <p:spPr>
          <a:xfrm>
            <a:off x="4590288" y="969264"/>
            <a:ext cx="71414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Momentum: ρ Du/Dt = −∇p + μ∇²u</a:t>
            </a:r>
          </a:p>
        </p:txBody>
      </p:sp>
      <p:cxnSp>
        <p:nvCxnSpPr>
          <p:cNvPr id="16" name="C1-E27 arrow 14" descr="sci-ppt:o014"/>
          <p:cNvCxnSpPr/>
          <p:nvPr/>
        </p:nvCxnSpPr>
        <p:spPr>
          <a:xfrm flipV="1">
            <a:off x="5394960" y="3474720"/>
            <a:ext cx="2743200" cy="914400"/>
          </a:xfrm>
          <a:prstGeom prst="line">
            <a:avLst/>
          </a:prstGeom>
          <a:ln w="444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7" name="C1-E27 arrow 15" descr="sci-ppt:o015"/>
          <p:cNvCxnSpPr/>
          <p:nvPr/>
        </p:nvCxnSpPr>
        <p:spPr>
          <a:xfrm>
            <a:off x="5394960" y="4389120"/>
            <a:ext cx="2743200" cy="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8" name="C1-E27 arrow 16" descr="sci-ppt:o016"/>
          <p:cNvCxnSpPr/>
          <p:nvPr/>
        </p:nvCxnSpPr>
        <p:spPr>
          <a:xfrm flipV="1">
            <a:off x="8138160" y="3474720"/>
            <a:ext cx="0" cy="914400"/>
          </a:xfrm>
          <a:prstGeom prst="line">
            <a:avLst/>
          </a:prstGeom>
          <a:ln w="38100">
            <a:solidFill>
              <a:srgbClr val="7FC8F8"/>
            </a:solidFill>
            <a:headEnd type="none" w="med" len="med"/>
            <a:tailEnd type="triangle" w="med" len="med"/>
          </a:ln>
          <a:effectLst/>
        </p:spPr>
      </p:cxnSp>
      <p:sp>
        <p:nvSpPr>
          <p:cNvPr id="19" name="C1-E27 ellipse 17" descr="sci-ppt:o017"/>
          <p:cNvSpPr/>
          <p:nvPr/>
        </p:nvSpPr>
        <p:spPr>
          <a:xfrm>
            <a:off x="5321808" y="4315968"/>
            <a:ext cx="146304" cy="146304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1-E27 text 18" descr="sci-ppt:o018"/>
          <p:cNvSpPr txBox="1"/>
          <p:nvPr/>
        </p:nvSpPr>
        <p:spPr>
          <a:xfrm>
            <a:off x="8275320" y="3108960"/>
            <a:ext cx="3291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ρ Du/Dt (inertia)</a:t>
            </a:r>
          </a:p>
        </p:txBody>
      </p:sp>
      <p:sp>
        <p:nvSpPr>
          <p:cNvPr id="21" name="C1-E27 text 19" descr="sci-ppt:o019"/>
          <p:cNvSpPr txBox="1"/>
          <p:nvPr/>
        </p:nvSpPr>
        <p:spPr>
          <a:xfrm>
            <a:off x="6309360" y="4462272"/>
            <a:ext cx="27432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−∇p (pressure gradient)</a:t>
            </a:r>
          </a:p>
        </p:txBody>
      </p:sp>
      <p:sp>
        <p:nvSpPr>
          <p:cNvPr id="22" name="C1-E27 text 20" descr="sci-ppt:o020"/>
          <p:cNvSpPr txBox="1"/>
          <p:nvPr/>
        </p:nvSpPr>
        <p:spPr>
          <a:xfrm>
            <a:off x="8275320" y="3840480"/>
            <a:ext cx="3291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μ∇²u (viscous diffusion)</a:t>
            </a:r>
          </a:p>
        </p:txBody>
      </p:sp>
      <p:sp>
        <p:nvSpPr>
          <p:cNvPr id="23" name="C1-E27 text 21" descr="sci-ppt:o021"/>
          <p:cNvSpPr txBox="1"/>
          <p:nvPr/>
        </p:nvSpPr>
        <p:spPr>
          <a:xfrm>
            <a:off x="4663440" y="1371600"/>
            <a:ext cx="704088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Per unit volume, the mass-times-acceleration vector equals the sum of the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forces:</a:t>
            </a:r>
          </a:p>
        </p:txBody>
      </p:sp>
      <p:sp>
        <p:nvSpPr>
          <p:cNvPr id="24" name="C1-E27 text 22" descr="sci-ppt:o022"/>
          <p:cNvSpPr txBox="1"/>
          <p:nvPr/>
        </p:nvSpPr>
        <p:spPr>
          <a:xfrm>
            <a:off x="4663440" y="1874519"/>
            <a:ext cx="704088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The same fixed set of equations governs every later spatial calculation: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pressure field supplies the push, the viscous term damps it, and the convective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part u·∇u makes the flow nonlinear.</a:t>
            </a:r>
          </a:p>
        </p:txBody>
      </p:sp>
      <p:sp>
        <p:nvSpPr>
          <p:cNvPr id="25" name="C1-E27 text 23" descr="sci-ppt:o023"/>
          <p:cNvSpPr txBox="1"/>
          <p:nvPr/>
        </p:nvSpPr>
        <p:spPr>
          <a:xfrm>
            <a:off x="4663440" y="2834640"/>
            <a:ext cx="70408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Du/Dt = ∂u/∂t + (u·∇)u</a:t>
            </a:r>
          </a:p>
        </p:txBody>
      </p:sp>
      <p:sp>
        <p:nvSpPr>
          <p:cNvPr id="26" name="C1-E27 text 24" descr="sci-ppt:o02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Vectors are schematic; constant ρ and 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