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79247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27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C1-E27 | Physical-variable diagram</a:t>
            </a:r>
          </a:p>
        </p:txBody>
      </p:sp>
      <p:sp>
        <p:nvSpPr>
          <p:cNvPr id="3" name="rect2" descr="sci-ppt:C1-E27-002"/>
          <p:cNvSpPr/>
          <p:nvPr/>
        </p:nvSpPr>
        <p:spPr>
          <a:xfrm>
            <a:off x="1341120" y="1524000"/>
            <a:ext cx="9144000" cy="2438400"/>
          </a:xfrm>
          <a:prstGeom prst="rect">
            <a:avLst/>
          </a:prstGeom>
          <a:noFill/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ellipse3" descr="sci-ppt:C1-E27-003"/>
          <p:cNvSpPr/>
          <p:nvPr/>
        </p:nvSpPr>
        <p:spPr>
          <a:xfrm>
            <a:off x="2682240" y="1950720"/>
            <a:ext cx="1584960" cy="158496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" name="arrow4" descr="sci-ppt:C1-E27-004"/>
          <p:cNvCxnSpPr/>
          <p:nvPr/>
        </p:nvCxnSpPr>
        <p:spPr>
          <a:xfrm>
            <a:off x="4267200" y="2743200"/>
            <a:ext cx="402336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text5" descr="sci-ppt:C1-E27-005"/>
          <p:cNvSpPr txBox="1"/>
          <p:nvPr/>
        </p:nvSpPr>
        <p:spPr>
          <a:xfrm>
            <a:off x="5120640" y="2072640"/>
            <a:ext cx="536448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E7F0F3"/>
                </a:solidFill>
                <a:latin typeface="Arial"/>
              </a:rPr>
              <a:t>Liquid u(x,t), p(x,t)</a:t>
            </a:r>
          </a:p>
        </p:txBody>
      </p:sp>
      <p:sp>
        <p:nvSpPr>
          <p:cNvPr id="7" name="text6" descr="sci-ppt:C1-E27-006"/>
          <p:cNvSpPr txBox="1"/>
          <p:nvPr/>
        </p:nvSpPr>
        <p:spPr>
          <a:xfrm>
            <a:off x="7680960" y="3413760"/>
            <a:ext cx="195072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Outlet</a:t>
            </a:r>
          </a:p>
        </p:txBody>
      </p:sp>
      <p:sp>
        <p:nvSpPr>
          <p:cNvPr id="8" name="text7" descr="sci-ppt:C1-E27-007"/>
          <p:cNvSpPr txBox="1"/>
          <p:nvPr/>
        </p:nvSpPr>
        <p:spPr>
          <a:xfrm>
            <a:off x="1584960" y="4206240"/>
            <a:ext cx="9753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Moving interface Gamma; spatial field required.</a:t>
            </a:r>
          </a:p>
        </p:txBody>
      </p:sp>
      <p:sp>
        <p:nvSpPr>
          <p:cNvPr id="9" name="text8" descr="sci-ppt:C1-E27-008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Liquid domain x</a:t>
            </a:r>
          </a:p>
        </p:txBody>
      </p:sp>
      <p:sp>
        <p:nvSpPr>
          <p:cNvPr id="10" name="text9" descr="sci-ppt:C1-E27-009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p(x,t)</a:t>
            </a:r>
          </a:p>
        </p:txBody>
      </p:sp>
      <p:sp>
        <p:nvSpPr>
          <p:cNvPr id="11" name="text10" descr="sci-ppt:C1-E27-010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μ</a:t>
            </a:r>
          </a:p>
        </p:txBody>
      </p:sp>
      <p:sp>
        <p:nvSpPr>
          <p:cNvPr id="12" name="text11" descr="sci-ppt:C1-E27-011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Moving Γ</a:t>
            </a:r>
          </a:p>
        </p:txBody>
      </p:sp>
      <p:sp>
        <p:nvSpPr>
          <p:cNvPr id="13" name="text12" descr="sci-ppt:C1-E27-012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u(x,t)</a:t>
            </a:r>
          </a:p>
        </p:txBody>
      </p:sp>
      <p:sp>
        <p:nvSpPr>
          <p:cNvPr id="14" name="text13" descr="sci-ppt:C1-E27-013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</a:t>
            </a:r>
          </a:p>
        </p:txBody>
      </p:sp>
      <p:sp>
        <p:nvSpPr>
          <p:cNvPr id="15" name="text14" descr="sci-ppt:C1-E27-014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</a:t>
            </a:r>
          </a:p>
        </p:txBody>
      </p:sp>
      <p:sp>
        <p:nvSpPr>
          <p:cNvPr id="16" name="text15" descr="sci-ppt:C1-E27-015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Outlet and wall</a:t>
            </a:r>
          </a:p>
        </p:txBody>
      </p:sp>
      <p:sp>
        <p:nvSpPr>
          <p:cNvPr id="17" name="text16" descr="sci-ppt:C1-E27-016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Resolve the spatial velocity and pressure, not only one radius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