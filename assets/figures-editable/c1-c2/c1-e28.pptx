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C1-E28 · Inviscid pre-impact moving-interface closure</a:t>
            </a:r>
          </a:p>
        </p:txBody>
      </p:sp>
      <p:sp>
        <p:nvSpPr>
          <p:cNvPr id="3" name="C1-E28 round_rect 1" descr="sci-ppt:o001"/>
          <p:cNvSpPr/>
          <p:nvPr/>
        </p:nvSpPr>
        <p:spPr>
          <a:xfrm>
            <a:off x="365760" y="914400"/>
            <a:ext cx="548640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28 text 2" descr="sci-ppt:o002"/>
          <p:cNvSpPr txBox="1"/>
          <p:nvPr/>
        </p:nvSpPr>
        <p:spPr>
          <a:xfrm>
            <a:off x="475488" y="969264"/>
            <a:ext cx="52669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A shape that is not a sphere</a:t>
            </a:r>
          </a:p>
        </p:txBody>
      </p:sp>
      <p:sp>
        <p:nvSpPr>
          <p:cNvPr id="5" name="C1-E28 polygon 3" descr="sci-ppt:o003"/>
          <p:cNvSpPr/>
          <p:nvPr/>
        </p:nvSpPr>
        <p:spPr>
          <a:xfrm>
            <a:off x="1685048" y="2628162"/>
            <a:ext cx="3152676" cy="1510235"/>
          </a:xfrm>
          <a:custGeom>
            <a:avLst/>
            <a:gdLst/>
            <a:ahLst/>
            <a:cxnLst/>
            <a:rect l="l" t="t" r="r" b="b"/>
            <a:pathLst>
              <a:path w="3152676" h="1510235">
                <a:moveTo>
                  <a:pt x="3152676" y="755118"/>
                </a:moveTo>
                <a:lnTo>
                  <a:pt x="3142764" y="653859"/>
                </a:lnTo>
                <a:lnTo>
                  <a:pt x="3113333" y="554796"/>
                </a:lnTo>
                <a:lnTo>
                  <a:pt x="3065286" y="460027"/>
                </a:lnTo>
                <a:lnTo>
                  <a:pt x="3000076" y="371460"/>
                </a:lnTo>
                <a:lnTo>
                  <a:pt x="2919636" y="290738"/>
                </a:lnTo>
                <a:lnTo>
                  <a:pt x="2826287" y="219163"/>
                </a:lnTo>
                <a:lnTo>
                  <a:pt x="2722620" y="157652"/>
                </a:lnTo>
                <a:lnTo>
                  <a:pt x="2611377" y="106709"/>
                </a:lnTo>
                <a:lnTo>
                  <a:pt x="2495317" y="66415"/>
                </a:lnTo>
                <a:lnTo>
                  <a:pt x="2377091" y="36444"/>
                </a:lnTo>
                <a:lnTo>
                  <a:pt x="2259126" y="16100"/>
                </a:lnTo>
                <a:lnTo>
                  <a:pt x="2143517" y="4370"/>
                </a:lnTo>
                <a:lnTo>
                  <a:pt x="2031947" y="0"/>
                </a:lnTo>
                <a:lnTo>
                  <a:pt x="1925628" y="1567"/>
                </a:lnTo>
                <a:lnTo>
                  <a:pt x="1825274" y="7579"/>
                </a:lnTo>
                <a:lnTo>
                  <a:pt x="1731097" y="16558"/>
                </a:lnTo>
                <a:lnTo>
                  <a:pt x="1642835" y="27128"/>
                </a:lnTo>
                <a:lnTo>
                  <a:pt x="1559811" y="38100"/>
                </a:lnTo>
                <a:lnTo>
                  <a:pt x="1481003" y="48531"/>
                </a:lnTo>
                <a:lnTo>
                  <a:pt x="1405150" y="57780"/>
                </a:lnTo>
                <a:lnTo>
                  <a:pt x="1330852" y="65538"/>
                </a:lnTo>
                <a:lnTo>
                  <a:pt x="1256693" y="71837"/>
                </a:lnTo>
                <a:lnTo>
                  <a:pt x="1181351" y="77041"/>
                </a:lnTo>
                <a:lnTo>
                  <a:pt x="1103709" y="81818"/>
                </a:lnTo>
                <a:lnTo>
                  <a:pt x="1022946" y="87087"/>
                </a:lnTo>
                <a:lnTo>
                  <a:pt x="938617" y="93960"/>
                </a:lnTo>
                <a:lnTo>
                  <a:pt x="850701" y="103658"/>
                </a:lnTo>
                <a:lnTo>
                  <a:pt x="759630" y="117436"/>
                </a:lnTo>
                <a:lnTo>
                  <a:pt x="666282" y="136495"/>
                </a:lnTo>
                <a:lnTo>
                  <a:pt x="571959" y="161898"/>
                </a:lnTo>
                <a:lnTo>
                  <a:pt x="478324" y="194498"/>
                </a:lnTo>
                <a:lnTo>
                  <a:pt x="387331" y="234875"/>
                </a:lnTo>
                <a:lnTo>
                  <a:pt x="301117" y="283286"/>
                </a:lnTo>
                <a:lnTo>
                  <a:pt x="221907" y="339636"/>
                </a:lnTo>
                <a:lnTo>
                  <a:pt x="151885" y="403475"/>
                </a:lnTo>
                <a:lnTo>
                  <a:pt x="93089" y="474001"/>
                </a:lnTo>
                <a:lnTo>
                  <a:pt x="47298" y="550094"/>
                </a:lnTo>
                <a:lnTo>
                  <a:pt x="15937" y="630371"/>
                </a:lnTo>
                <a:lnTo>
                  <a:pt x="0" y="713242"/>
                </a:lnTo>
                <a:lnTo>
                  <a:pt x="0" y="796993"/>
                </a:lnTo>
                <a:lnTo>
                  <a:pt x="15937" y="879864"/>
                </a:lnTo>
                <a:lnTo>
                  <a:pt x="47298" y="960141"/>
                </a:lnTo>
                <a:lnTo>
                  <a:pt x="93089" y="1036234"/>
                </a:lnTo>
                <a:lnTo>
                  <a:pt x="151885" y="1106760"/>
                </a:lnTo>
                <a:lnTo>
                  <a:pt x="221907" y="1170599"/>
                </a:lnTo>
                <a:lnTo>
                  <a:pt x="301117" y="1226949"/>
                </a:lnTo>
                <a:lnTo>
                  <a:pt x="387331" y="1275360"/>
                </a:lnTo>
                <a:lnTo>
                  <a:pt x="478324" y="1315737"/>
                </a:lnTo>
                <a:lnTo>
                  <a:pt x="571959" y="1348337"/>
                </a:lnTo>
                <a:lnTo>
                  <a:pt x="666282" y="1373740"/>
                </a:lnTo>
                <a:lnTo>
                  <a:pt x="759630" y="1392799"/>
                </a:lnTo>
                <a:lnTo>
                  <a:pt x="850701" y="1406577"/>
                </a:lnTo>
                <a:lnTo>
                  <a:pt x="938617" y="1416275"/>
                </a:lnTo>
                <a:lnTo>
                  <a:pt x="1022946" y="1423148"/>
                </a:lnTo>
                <a:lnTo>
                  <a:pt x="1103709" y="1428417"/>
                </a:lnTo>
                <a:lnTo>
                  <a:pt x="1181351" y="1433194"/>
                </a:lnTo>
                <a:lnTo>
                  <a:pt x="1256693" y="1438398"/>
                </a:lnTo>
                <a:lnTo>
                  <a:pt x="1330852" y="1444697"/>
                </a:lnTo>
                <a:lnTo>
                  <a:pt x="1405150" y="1452455"/>
                </a:lnTo>
                <a:lnTo>
                  <a:pt x="1481003" y="1461704"/>
                </a:lnTo>
                <a:lnTo>
                  <a:pt x="1559811" y="1472135"/>
                </a:lnTo>
                <a:lnTo>
                  <a:pt x="1642835" y="1483107"/>
                </a:lnTo>
                <a:lnTo>
                  <a:pt x="1731097" y="1493677"/>
                </a:lnTo>
                <a:lnTo>
                  <a:pt x="1825274" y="1502656"/>
                </a:lnTo>
                <a:lnTo>
                  <a:pt x="1925628" y="1508668"/>
                </a:lnTo>
                <a:lnTo>
                  <a:pt x="2031947" y="1510235"/>
                </a:lnTo>
                <a:lnTo>
                  <a:pt x="2143517" y="1505865"/>
                </a:lnTo>
                <a:lnTo>
                  <a:pt x="2259126" y="1494135"/>
                </a:lnTo>
                <a:lnTo>
                  <a:pt x="2377091" y="1473791"/>
                </a:lnTo>
                <a:lnTo>
                  <a:pt x="2495317" y="1443820"/>
                </a:lnTo>
                <a:lnTo>
                  <a:pt x="2611377" y="1403526"/>
                </a:lnTo>
                <a:lnTo>
                  <a:pt x="2722620" y="1352583"/>
                </a:lnTo>
                <a:lnTo>
                  <a:pt x="2826287" y="1291072"/>
                </a:lnTo>
                <a:lnTo>
                  <a:pt x="2919636" y="1219497"/>
                </a:lnTo>
                <a:lnTo>
                  <a:pt x="3000076" y="1138775"/>
                </a:lnTo>
                <a:lnTo>
                  <a:pt x="3065286" y="1050208"/>
                </a:lnTo>
                <a:lnTo>
                  <a:pt x="3113333" y="955439"/>
                </a:lnTo>
                <a:lnTo>
                  <a:pt x="3142764" y="856376"/>
                </a:lnTo>
                <a:lnTo>
                  <a:pt x="3152676" y="755118"/>
                </a:lnTo>
                <a:close/>
              </a:path>
            </a:pathLst>
          </a:custGeom>
          <a:solidFill>
            <a:srgbClr val="0C1820"/>
          </a:solidFill>
          <a:ln w="3048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28 text 4" descr="sci-ppt:o004"/>
          <p:cNvSpPr txBox="1"/>
          <p:nvPr/>
        </p:nvSpPr>
        <p:spPr>
          <a:xfrm>
            <a:off x="2743200" y="3291840"/>
            <a:ext cx="731520" cy="35559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2B880"/>
                </a:solidFill>
                <a:latin typeface="Arial"/>
              </a:rPr>
              <a:t>Γ</a:t>
            </a:r>
          </a:p>
        </p:txBody>
      </p:sp>
      <p:sp>
        <p:nvSpPr>
          <p:cNvPr id="7" name="C1-E28 rect 5" descr="sci-ppt:o005"/>
          <p:cNvSpPr/>
          <p:nvPr/>
        </p:nvSpPr>
        <p:spPr>
          <a:xfrm>
            <a:off x="731520" y="5394960"/>
            <a:ext cx="4754880" cy="237744"/>
          </a:xfrm>
          <a:prstGeom prst="rect">
            <a:avLst/>
          </a:prstGeom>
          <a:solidFill>
            <a:srgbClr val="3A5362"/>
          </a:solidFill>
          <a:ln w="1651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1-E28 line 6" descr="sci-ppt:o006"/>
          <p:cNvCxnSpPr/>
          <p:nvPr/>
        </p:nvCxnSpPr>
        <p:spPr>
          <a:xfrm>
            <a:off x="74980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28 line 7" descr="sci-ppt:o007"/>
          <p:cNvCxnSpPr/>
          <p:nvPr/>
        </p:nvCxnSpPr>
        <p:spPr>
          <a:xfrm>
            <a:off x="93268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0" name="C1-E28 line 8" descr="sci-ppt:o008"/>
          <p:cNvCxnSpPr/>
          <p:nvPr/>
        </p:nvCxnSpPr>
        <p:spPr>
          <a:xfrm>
            <a:off x="111556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1" name="C1-E28 line 9" descr="sci-ppt:o009"/>
          <p:cNvCxnSpPr/>
          <p:nvPr/>
        </p:nvCxnSpPr>
        <p:spPr>
          <a:xfrm>
            <a:off x="129844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28 line 10" descr="sci-ppt:o010"/>
          <p:cNvCxnSpPr/>
          <p:nvPr/>
        </p:nvCxnSpPr>
        <p:spPr>
          <a:xfrm>
            <a:off x="148132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3" name="C1-E28 line 11" descr="sci-ppt:o011"/>
          <p:cNvCxnSpPr/>
          <p:nvPr/>
        </p:nvCxnSpPr>
        <p:spPr>
          <a:xfrm>
            <a:off x="166420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4" name="C1-E28 line 12" descr="sci-ppt:o012"/>
          <p:cNvCxnSpPr/>
          <p:nvPr/>
        </p:nvCxnSpPr>
        <p:spPr>
          <a:xfrm>
            <a:off x="184708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28 line 13" descr="sci-ppt:o013"/>
          <p:cNvCxnSpPr/>
          <p:nvPr/>
        </p:nvCxnSpPr>
        <p:spPr>
          <a:xfrm>
            <a:off x="202996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1-E28 line 14" descr="sci-ppt:o014"/>
          <p:cNvCxnSpPr/>
          <p:nvPr/>
        </p:nvCxnSpPr>
        <p:spPr>
          <a:xfrm>
            <a:off x="221284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7" name="C1-E28 line 15" descr="sci-ppt:o015"/>
          <p:cNvCxnSpPr/>
          <p:nvPr/>
        </p:nvCxnSpPr>
        <p:spPr>
          <a:xfrm>
            <a:off x="239572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28 line 16" descr="sci-ppt:o016"/>
          <p:cNvCxnSpPr/>
          <p:nvPr/>
        </p:nvCxnSpPr>
        <p:spPr>
          <a:xfrm>
            <a:off x="257860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28 line 17" descr="sci-ppt:o017"/>
          <p:cNvCxnSpPr/>
          <p:nvPr/>
        </p:nvCxnSpPr>
        <p:spPr>
          <a:xfrm>
            <a:off x="276148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C1-E28 line 18" descr="sci-ppt:o018"/>
          <p:cNvCxnSpPr/>
          <p:nvPr/>
        </p:nvCxnSpPr>
        <p:spPr>
          <a:xfrm>
            <a:off x="294436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28 line 19" descr="sci-ppt:o019"/>
          <p:cNvCxnSpPr/>
          <p:nvPr/>
        </p:nvCxnSpPr>
        <p:spPr>
          <a:xfrm>
            <a:off x="312724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28 line 20" descr="sci-ppt:o020"/>
          <p:cNvCxnSpPr/>
          <p:nvPr/>
        </p:nvCxnSpPr>
        <p:spPr>
          <a:xfrm>
            <a:off x="331012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1-E28 line 21" descr="sci-ppt:o021"/>
          <p:cNvCxnSpPr/>
          <p:nvPr/>
        </p:nvCxnSpPr>
        <p:spPr>
          <a:xfrm>
            <a:off x="349300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28 line 22" descr="sci-ppt:o022"/>
          <p:cNvCxnSpPr/>
          <p:nvPr/>
        </p:nvCxnSpPr>
        <p:spPr>
          <a:xfrm>
            <a:off x="3675887" y="5632704"/>
            <a:ext cx="137161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28 line 23" descr="sci-ppt:o023"/>
          <p:cNvCxnSpPr/>
          <p:nvPr/>
        </p:nvCxnSpPr>
        <p:spPr>
          <a:xfrm>
            <a:off x="385876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1-E28 line 24" descr="sci-ppt:o024"/>
          <p:cNvCxnSpPr/>
          <p:nvPr/>
        </p:nvCxnSpPr>
        <p:spPr>
          <a:xfrm>
            <a:off x="404164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1-E28 line 25" descr="sci-ppt:o025"/>
          <p:cNvCxnSpPr/>
          <p:nvPr/>
        </p:nvCxnSpPr>
        <p:spPr>
          <a:xfrm>
            <a:off x="422452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28 line 26" descr="sci-ppt:o026"/>
          <p:cNvCxnSpPr/>
          <p:nvPr/>
        </p:nvCxnSpPr>
        <p:spPr>
          <a:xfrm>
            <a:off x="4407407" y="5632704"/>
            <a:ext cx="137161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C1-E28 line 27" descr="sci-ppt:o027"/>
          <p:cNvCxnSpPr/>
          <p:nvPr/>
        </p:nvCxnSpPr>
        <p:spPr>
          <a:xfrm>
            <a:off x="459028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1-E28 line 28" descr="sci-ppt:o028"/>
          <p:cNvCxnSpPr/>
          <p:nvPr/>
        </p:nvCxnSpPr>
        <p:spPr>
          <a:xfrm>
            <a:off x="477316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28 line 29" descr="sci-ppt:o029"/>
          <p:cNvCxnSpPr/>
          <p:nvPr/>
        </p:nvCxnSpPr>
        <p:spPr>
          <a:xfrm>
            <a:off x="495604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2" name="C1-E28 line 30" descr="sci-ppt:o030"/>
          <p:cNvCxnSpPr/>
          <p:nvPr/>
        </p:nvCxnSpPr>
        <p:spPr>
          <a:xfrm>
            <a:off x="513892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1-E28 line 31" descr="sci-ppt:o031"/>
          <p:cNvCxnSpPr/>
          <p:nvPr/>
        </p:nvCxnSpPr>
        <p:spPr>
          <a:xfrm>
            <a:off x="5321807" y="5632704"/>
            <a:ext cx="137161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1-E28 arrow 32" descr="sci-ppt:o032"/>
          <p:cNvCxnSpPr/>
          <p:nvPr/>
        </p:nvCxnSpPr>
        <p:spPr>
          <a:xfrm>
            <a:off x="4837724" y="3383280"/>
            <a:ext cx="502920" cy="0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5" name="C1-E28 arrow 33" descr="sci-ppt:o033"/>
          <p:cNvCxnSpPr/>
          <p:nvPr/>
        </p:nvCxnSpPr>
        <p:spPr>
          <a:xfrm flipV="1">
            <a:off x="3698885" y="2192509"/>
            <a:ext cx="251460" cy="435542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6" name="C1-E28 arrow 34" descr="sci-ppt:o034"/>
          <p:cNvCxnSpPr/>
          <p:nvPr/>
        </p:nvCxnSpPr>
        <p:spPr>
          <a:xfrm flipH="1" flipV="1">
            <a:off x="2343287" y="2289437"/>
            <a:ext cx="251460" cy="435541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7" name="C1-E28 arrow 35" descr="sci-ppt:o035"/>
          <p:cNvCxnSpPr/>
          <p:nvPr/>
        </p:nvCxnSpPr>
        <p:spPr>
          <a:xfrm flipH="1">
            <a:off x="1180124" y="3383280"/>
            <a:ext cx="502920" cy="0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8" name="C1-E28 arrow 36" descr="sci-ppt:o036"/>
          <p:cNvCxnSpPr/>
          <p:nvPr/>
        </p:nvCxnSpPr>
        <p:spPr>
          <a:xfrm flipH="1">
            <a:off x="2343287" y="4041581"/>
            <a:ext cx="251460" cy="435541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9" name="C1-E28 arrow 37" descr="sci-ppt:o037"/>
          <p:cNvCxnSpPr/>
          <p:nvPr/>
        </p:nvCxnSpPr>
        <p:spPr>
          <a:xfrm>
            <a:off x="3698885" y="4138508"/>
            <a:ext cx="251460" cy="435542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40" name="C1-E28 text 38" descr="sci-ppt:o038"/>
          <p:cNvSpPr txBox="1"/>
          <p:nvPr/>
        </p:nvSpPr>
        <p:spPr>
          <a:xfrm>
            <a:off x="502920" y="4846320"/>
            <a:ext cx="52120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Surface velocity u = ∇φ differs from point to point; the shape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changes as it is carried along.</a:t>
            </a:r>
          </a:p>
        </p:txBody>
      </p:sp>
      <p:sp>
        <p:nvSpPr>
          <p:cNvPr id="41" name="C1-E28 text 39" descr="sci-ppt:o039"/>
          <p:cNvSpPr txBox="1"/>
          <p:nvPr/>
        </p:nvSpPr>
        <p:spPr>
          <a:xfrm>
            <a:off x="6126480" y="914400"/>
            <a:ext cx="56692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Closure loop (inviscid, before impact)</a:t>
            </a:r>
          </a:p>
        </p:txBody>
      </p:sp>
      <p:sp>
        <p:nvSpPr>
          <p:cNvPr id="42" name="C1-E28 round_rect 40" descr="sci-ppt:o040"/>
          <p:cNvSpPr/>
          <p:nvPr/>
        </p:nvSpPr>
        <p:spPr>
          <a:xfrm>
            <a:off x="6126480" y="1371600"/>
            <a:ext cx="5715000" cy="9144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28 ellipse 41" descr="sci-ppt:o041"/>
          <p:cNvSpPr/>
          <p:nvPr/>
        </p:nvSpPr>
        <p:spPr>
          <a:xfrm>
            <a:off x="6227064" y="1609344"/>
            <a:ext cx="438912" cy="438912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1-E28 text 42" descr="sci-ppt:o042"/>
          <p:cNvSpPr txBox="1"/>
          <p:nvPr/>
        </p:nvSpPr>
        <p:spPr>
          <a:xfrm>
            <a:off x="6336792" y="1645920"/>
            <a:ext cx="228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632"/>
                </a:solidFill>
                <a:latin typeface="Arial"/>
              </a:rPr>
              <a:t>1</a:t>
            </a:r>
          </a:p>
        </p:txBody>
      </p:sp>
      <p:sp>
        <p:nvSpPr>
          <p:cNvPr id="45" name="C1-E28 text 43" descr="sci-ppt:o043"/>
          <p:cNvSpPr txBox="1"/>
          <p:nvPr/>
        </p:nvSpPr>
        <p:spPr>
          <a:xfrm>
            <a:off x="6858000" y="1444752"/>
            <a:ext cx="48920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Known φ on Γ</a:t>
            </a:r>
          </a:p>
        </p:txBody>
      </p:sp>
      <p:sp>
        <p:nvSpPr>
          <p:cNvPr id="46" name="C1-E28 text 44" descr="sci-ppt:o044"/>
          <p:cNvSpPr txBox="1"/>
          <p:nvPr/>
        </p:nvSpPr>
        <p:spPr>
          <a:xfrm>
            <a:off x="6858000" y="1828800"/>
            <a:ext cx="48920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solve ∇²φ = 0 in the liquid</a:t>
            </a:r>
          </a:p>
        </p:txBody>
      </p:sp>
      <p:cxnSp>
        <p:nvCxnSpPr>
          <p:cNvPr id="47" name="C1-E28 arrow 45" descr="sci-ppt:o045"/>
          <p:cNvCxnSpPr/>
          <p:nvPr/>
        </p:nvCxnSpPr>
        <p:spPr>
          <a:xfrm>
            <a:off x="8961120" y="2286000"/>
            <a:ext cx="0" cy="182880"/>
          </a:xfrm>
          <a:prstGeom prst="line">
            <a:avLst/>
          </a:prstGeom>
          <a:ln w="2540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48" name="C1-E28 round_rect 46" descr="sci-ppt:o046"/>
          <p:cNvSpPr/>
          <p:nvPr/>
        </p:nvSpPr>
        <p:spPr>
          <a:xfrm>
            <a:off x="6126480" y="2468880"/>
            <a:ext cx="5715000" cy="9144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28 ellipse 47" descr="sci-ppt:o047"/>
          <p:cNvSpPr/>
          <p:nvPr/>
        </p:nvSpPr>
        <p:spPr>
          <a:xfrm>
            <a:off x="6227064" y="2706624"/>
            <a:ext cx="438912" cy="438912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1-E28 text 48" descr="sci-ppt:o048"/>
          <p:cNvSpPr txBox="1"/>
          <p:nvPr/>
        </p:nvSpPr>
        <p:spPr>
          <a:xfrm>
            <a:off x="6336792" y="2743200"/>
            <a:ext cx="228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632"/>
                </a:solidFill>
                <a:latin typeface="Arial"/>
              </a:rPr>
              <a:t>2</a:t>
            </a:r>
          </a:p>
        </p:txBody>
      </p:sp>
      <p:sp>
        <p:nvSpPr>
          <p:cNvPr id="51" name="C1-E28 text 49" descr="sci-ppt:o049"/>
          <p:cNvSpPr txBox="1"/>
          <p:nvPr/>
        </p:nvSpPr>
        <p:spPr>
          <a:xfrm>
            <a:off x="6858000" y="2542032"/>
            <a:ext cx="48920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FC8F8"/>
                </a:solidFill>
                <a:latin typeface="Arial"/>
              </a:rPr>
              <a:t>u = ∇φ at the surface</a:t>
            </a:r>
          </a:p>
        </p:txBody>
      </p:sp>
      <p:sp>
        <p:nvSpPr>
          <p:cNvPr id="52" name="C1-E28 text 50" descr="sci-ppt:o050"/>
          <p:cNvSpPr txBox="1"/>
          <p:nvPr/>
        </p:nvSpPr>
        <p:spPr>
          <a:xfrm>
            <a:off x="6858000" y="2926080"/>
            <a:ext cx="48920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normal speed Vₙ = ∂φ/∂n</a:t>
            </a:r>
          </a:p>
        </p:txBody>
      </p:sp>
      <p:cxnSp>
        <p:nvCxnSpPr>
          <p:cNvPr id="53" name="C1-E28 arrow 51" descr="sci-ppt:o051"/>
          <p:cNvCxnSpPr/>
          <p:nvPr/>
        </p:nvCxnSpPr>
        <p:spPr>
          <a:xfrm>
            <a:off x="8961120" y="3383280"/>
            <a:ext cx="0" cy="182880"/>
          </a:xfrm>
          <a:prstGeom prst="line">
            <a:avLst/>
          </a:prstGeom>
          <a:ln w="2540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54" name="C1-E28 round_rect 52" descr="sci-ppt:o052"/>
          <p:cNvSpPr/>
          <p:nvPr/>
        </p:nvSpPr>
        <p:spPr>
          <a:xfrm>
            <a:off x="6126480" y="3566160"/>
            <a:ext cx="5715000" cy="9144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1-E28 ellipse 53" descr="sci-ppt:o053"/>
          <p:cNvSpPr/>
          <p:nvPr/>
        </p:nvSpPr>
        <p:spPr>
          <a:xfrm>
            <a:off x="6227064" y="3803904"/>
            <a:ext cx="438912" cy="438912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1-E28 text 54" descr="sci-ppt:o054"/>
          <p:cNvSpPr txBox="1"/>
          <p:nvPr/>
        </p:nvSpPr>
        <p:spPr>
          <a:xfrm>
            <a:off x="6336792" y="3840480"/>
            <a:ext cx="228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632"/>
                </a:solidFill>
                <a:latin typeface="Arial"/>
              </a:rPr>
              <a:t>3</a:t>
            </a:r>
          </a:p>
        </p:txBody>
      </p:sp>
      <p:sp>
        <p:nvSpPr>
          <p:cNvPr id="57" name="C1-E28 text 55" descr="sci-ppt:o055"/>
          <p:cNvSpPr txBox="1"/>
          <p:nvPr/>
        </p:nvSpPr>
        <p:spPr>
          <a:xfrm>
            <a:off x="6858000" y="3639312"/>
            <a:ext cx="48920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Advect: dX/dt = u(X, t)</a:t>
            </a:r>
          </a:p>
        </p:txBody>
      </p:sp>
      <p:sp>
        <p:nvSpPr>
          <p:cNvPr id="58" name="C1-E28 text 56" descr="sci-ppt:o056"/>
          <p:cNvSpPr txBox="1"/>
          <p:nvPr/>
        </p:nvSpPr>
        <p:spPr>
          <a:xfrm>
            <a:off x="6858000" y="4023360"/>
            <a:ext cx="48920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new shape Γ(t + dt), new curvature κ</a:t>
            </a:r>
          </a:p>
        </p:txBody>
      </p:sp>
      <p:cxnSp>
        <p:nvCxnSpPr>
          <p:cNvPr id="59" name="C1-E28 arrow 57" descr="sci-ppt:o057"/>
          <p:cNvCxnSpPr/>
          <p:nvPr/>
        </p:nvCxnSpPr>
        <p:spPr>
          <a:xfrm>
            <a:off x="8961120" y="4480560"/>
            <a:ext cx="0" cy="182880"/>
          </a:xfrm>
          <a:prstGeom prst="line">
            <a:avLst/>
          </a:prstGeom>
          <a:ln w="2540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60" name="C1-E28 round_rect 58" descr="sci-ppt:o058"/>
          <p:cNvSpPr/>
          <p:nvPr/>
        </p:nvSpPr>
        <p:spPr>
          <a:xfrm>
            <a:off x="6126480" y="4663440"/>
            <a:ext cx="5715000" cy="9144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C1-E28 ellipse 59" descr="sci-ppt:o059"/>
          <p:cNvSpPr/>
          <p:nvPr/>
        </p:nvSpPr>
        <p:spPr>
          <a:xfrm>
            <a:off x="6227064" y="4901184"/>
            <a:ext cx="438912" cy="438912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C1-E28 text 60" descr="sci-ppt:o060"/>
          <p:cNvSpPr txBox="1"/>
          <p:nvPr/>
        </p:nvSpPr>
        <p:spPr>
          <a:xfrm>
            <a:off x="6336792" y="4937760"/>
            <a:ext cx="228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632"/>
                </a:solidFill>
                <a:latin typeface="Arial"/>
              </a:rPr>
              <a:t>4</a:t>
            </a:r>
          </a:p>
        </p:txBody>
      </p:sp>
      <p:sp>
        <p:nvSpPr>
          <p:cNvPr id="63" name="C1-E28 text 61" descr="sci-ppt:o061"/>
          <p:cNvSpPr txBox="1"/>
          <p:nvPr/>
        </p:nvSpPr>
        <p:spPr>
          <a:xfrm>
            <a:off x="6858000" y="4736592"/>
            <a:ext cx="48920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Update φ on Γ</a:t>
            </a:r>
          </a:p>
        </p:txBody>
      </p:sp>
      <p:sp>
        <p:nvSpPr>
          <p:cNvPr id="64" name="C1-E28 text 62" descr="sci-ppt:o062"/>
          <p:cNvSpPr txBox="1"/>
          <p:nvPr/>
        </p:nvSpPr>
        <p:spPr>
          <a:xfrm>
            <a:off x="6858000" y="5120640"/>
            <a:ext cx="48920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Dφ/Dt = ½|u|² + (p∞ − p_b − σκ)/ρ</a:t>
            </a:r>
          </a:p>
        </p:txBody>
      </p:sp>
      <p:sp>
        <p:nvSpPr>
          <p:cNvPr id="65" name="C1-E28 text 63" descr="sci-ppt:o063"/>
          <p:cNvSpPr txBox="1"/>
          <p:nvPr/>
        </p:nvSpPr>
        <p:spPr>
          <a:xfrm>
            <a:off x="6126480" y="5806440"/>
            <a:ext cx="56692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The shape and the potential evolve together; changing geometry is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what creates focusing.</a:t>
            </a:r>
          </a:p>
        </p:txBody>
      </p:sp>
      <p:sp>
        <p:nvSpPr>
          <p:cNvPr id="66" name="C1-E28 text 64" descr="sci-ppt:o06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Schematic of the loop of Eq. C1-E28; the deformed shape is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