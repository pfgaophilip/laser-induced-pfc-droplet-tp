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8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C1-E28 | Physical-variable diagram</a:t>
            </a:r>
          </a:p>
        </p:txBody>
      </p:sp>
      <p:sp>
        <p:nvSpPr>
          <p:cNvPr id="3" name="rect2" descr="sci-ppt:C1-E28-002"/>
          <p:cNvSpPr/>
          <p:nvPr/>
        </p:nvSpPr>
        <p:spPr>
          <a:xfrm>
            <a:off x="1341120" y="1524000"/>
            <a:ext cx="9144000" cy="243840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28-003"/>
          <p:cNvSpPr/>
          <p:nvPr/>
        </p:nvSpPr>
        <p:spPr>
          <a:xfrm>
            <a:off x="2682240" y="1950720"/>
            <a:ext cx="1584960" cy="158496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28-004"/>
          <p:cNvCxnSpPr/>
          <p:nvPr/>
        </p:nvCxnSpPr>
        <p:spPr>
          <a:xfrm>
            <a:off x="4267200" y="2743200"/>
            <a:ext cx="40233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28-005"/>
          <p:cNvSpPr txBox="1"/>
          <p:nvPr/>
        </p:nvSpPr>
        <p:spPr>
          <a:xfrm>
            <a:off x="6461760" y="1645920"/>
            <a:ext cx="536448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Liquid u(x,t), p(x,t)</a:t>
            </a:r>
          </a:p>
        </p:txBody>
      </p:sp>
      <p:sp>
        <p:nvSpPr>
          <p:cNvPr id="7" name="text6" descr="sci-ppt:C1-E28-006"/>
          <p:cNvSpPr txBox="1"/>
          <p:nvPr/>
        </p:nvSpPr>
        <p:spPr>
          <a:xfrm>
            <a:off x="7680960" y="3413760"/>
            <a:ext cx="195072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Outlet</a:t>
            </a:r>
          </a:p>
        </p:txBody>
      </p:sp>
      <p:cxnSp>
        <p:nvCxnSpPr>
          <p:cNvPr id="8" name="arrow7" descr="sci-ppt:C1-E28-007"/>
          <p:cNvCxnSpPr/>
          <p:nvPr/>
        </p:nvCxnSpPr>
        <p:spPr>
          <a:xfrm flipH="1">
            <a:off x="3718560" y="274320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text8" descr="sci-ppt:C1-E28-008"/>
          <p:cNvSpPr txBox="1"/>
          <p:nvPr/>
        </p:nvSpPr>
        <p:spPr>
          <a:xfrm>
            <a:off x="4023360" y="3048000"/>
            <a:ext cx="39014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n: liquid → gas</a:t>
            </a:r>
          </a:p>
        </p:txBody>
      </p:sp>
      <p:cxnSp>
        <p:nvCxnSpPr>
          <p:cNvPr id="10" name="arrow9" descr="sci-ppt:C1-E28-009"/>
          <p:cNvCxnSpPr/>
          <p:nvPr/>
        </p:nvCxnSpPr>
        <p:spPr>
          <a:xfrm flipV="1">
            <a:off x="4267200" y="2072640"/>
            <a:ext cx="0" cy="6705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text10" descr="sci-ppt:C1-E28-010"/>
          <p:cNvSpPr txBox="1"/>
          <p:nvPr/>
        </p:nvSpPr>
        <p:spPr>
          <a:xfrm>
            <a:off x="4389120" y="2133600"/>
            <a:ext cx="24384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s: tangent</a:t>
            </a:r>
          </a:p>
        </p:txBody>
      </p:sp>
      <p:sp>
        <p:nvSpPr>
          <p:cNvPr id="12" name="text11" descr="sci-ppt:C1-E28-011"/>
          <p:cNvSpPr txBox="1"/>
          <p:nvPr/>
        </p:nvSpPr>
        <p:spPr>
          <a:xfrm>
            <a:off x="1584960" y="4206240"/>
            <a:ext cx="9753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Moving interface Gamma; spatial field required.</a:t>
            </a:r>
          </a:p>
        </p:txBody>
      </p:sp>
      <p:sp>
        <p:nvSpPr>
          <p:cNvPr id="13" name="text12" descr="sci-ppt:C1-E28-012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Γ: liquid–gas interface</a:t>
            </a:r>
          </a:p>
        </p:txBody>
      </p:sp>
      <p:sp>
        <p:nvSpPr>
          <p:cNvPr id="14" name="text13" descr="sci-ppt:C1-E28-013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s: tangent</a:t>
            </a:r>
          </a:p>
        </p:txBody>
      </p:sp>
      <p:sp>
        <p:nvSpPr>
          <p:cNvPr id="15" name="text14" descr="sci-ppt:C1-E28-014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</a:t>
            </a:r>
          </a:p>
        </p:txBody>
      </p:sp>
      <p:sp>
        <p:nvSpPr>
          <p:cNvPr id="16" name="text15" descr="sci-ppt:C1-E28-015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pl</a:t>
            </a:r>
          </a:p>
        </p:txBody>
      </p:sp>
      <p:sp>
        <p:nvSpPr>
          <p:cNvPr id="17" name="text16" descr="sci-ppt:C1-E28-016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σκ</a:t>
            </a:r>
          </a:p>
        </p:txBody>
      </p:sp>
      <p:sp>
        <p:nvSpPr>
          <p:cNvPr id="18" name="text17" descr="sci-ppt:C1-E28-017"/>
          <p:cNvSpPr txBox="1"/>
          <p:nvPr/>
        </p:nvSpPr>
        <p:spPr>
          <a:xfrm>
            <a:off x="365760" y="643737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κsphere = −2/R</a:t>
            </a:r>
          </a:p>
        </p:txBody>
      </p:sp>
      <p:sp>
        <p:nvSpPr>
          <p:cNvPr id="19" name="text18" descr="sci-ppt:C1-E28-018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n: liquid → gas</a:t>
            </a:r>
          </a:p>
        </p:txBody>
      </p:sp>
      <p:sp>
        <p:nvSpPr>
          <p:cNvPr id="20" name="text19" descr="sci-ppt:C1-E28-019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Vn = u·n</a:t>
            </a:r>
          </a:p>
        </p:txBody>
      </p:sp>
      <p:sp>
        <p:nvSpPr>
          <p:cNvPr id="21" name="text20" descr="sci-ppt:C1-E28-020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D</a:t>
            </a:r>
          </a:p>
        </p:txBody>
      </p:sp>
      <p:sp>
        <p:nvSpPr>
          <p:cNvPr id="22" name="text21" descr="sci-ppt:C1-E28-021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22" descr="sci-ppt:C1-E28-022"/>
          <p:cNvSpPr txBox="1"/>
          <p:nvPr/>
        </p:nvSpPr>
        <p:spPr>
          <a:xfrm>
            <a:off x="61569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2μ n·D n</a:t>
            </a:r>
          </a:p>
        </p:txBody>
      </p:sp>
      <p:sp>
        <p:nvSpPr>
          <p:cNvPr id="24" name="text23" descr="sci-ppt:C1-E28-023"/>
          <p:cNvSpPr txBox="1"/>
          <p:nvPr/>
        </p:nvSpPr>
        <p:spPr>
          <a:xfrm>
            <a:off x="365760" y="6925056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At a stationary no-slip solid wall use the wall velocity instead</a:t>
            </a:r>
          </a:p>
        </p:txBody>
      </p:sp>
      <p:sp>
        <p:nvSpPr>
          <p:cNvPr id="25" name="text24" descr="sci-ppt:C1-E28-024"/>
          <p:cNvSpPr txBox="1"/>
          <p:nvPr/>
        </p:nvSpPr>
        <p:spPr>
          <a:xfrm>
            <a:off x="365760" y="7217664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Phase transfer modifies the kinematic condition in Chapter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