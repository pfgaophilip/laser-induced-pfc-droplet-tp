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C1-E03 · Derived velocity potential</a:t>
            </a:r>
          </a:p>
        </p:txBody>
      </p:sp>
      <p:cxnSp>
        <p:nvCxnSpPr>
          <p:cNvPr id="3" name="C1-E03 line 1" descr="sci-ppt:o001"/>
          <p:cNvCxnSpPr/>
          <p:nvPr/>
        </p:nvCxnSpPr>
        <p:spPr>
          <a:xfrm>
            <a:off x="868680" y="5303520"/>
            <a:ext cx="57607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03 line 2" descr="sci-ppt:o002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03 line 3" descr="sci-ppt:o003"/>
          <p:cNvCxnSpPr/>
          <p:nvPr/>
        </p:nvCxnSpPr>
        <p:spPr>
          <a:xfrm>
            <a:off x="86868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03 line 4" descr="sci-ppt:o004"/>
          <p:cNvCxnSpPr/>
          <p:nvPr/>
        </p:nvCxnSpPr>
        <p:spPr>
          <a:xfrm>
            <a:off x="86868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03 text 5" descr="sci-ppt:o005"/>
          <p:cNvSpPr txBox="1"/>
          <p:nvPr/>
        </p:nvSpPr>
        <p:spPr>
          <a:xfrm>
            <a:off x="41147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1-E03 line 6" descr="sci-ppt:o006"/>
          <p:cNvCxnSpPr/>
          <p:nvPr/>
        </p:nvCxnSpPr>
        <p:spPr>
          <a:xfrm>
            <a:off x="230886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03 line 7" descr="sci-ppt:o007"/>
          <p:cNvCxnSpPr/>
          <p:nvPr/>
        </p:nvCxnSpPr>
        <p:spPr>
          <a:xfrm>
            <a:off x="230886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03 text 8" descr="sci-ppt:o008"/>
          <p:cNvSpPr txBox="1"/>
          <p:nvPr/>
        </p:nvSpPr>
        <p:spPr>
          <a:xfrm>
            <a:off x="185166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C1-E03 line 9" descr="sci-ppt:o009"/>
          <p:cNvCxnSpPr/>
          <p:nvPr/>
        </p:nvCxnSpPr>
        <p:spPr>
          <a:xfrm>
            <a:off x="3749039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03 line 10" descr="sci-ppt:o010"/>
          <p:cNvCxnSpPr/>
          <p:nvPr/>
        </p:nvCxnSpPr>
        <p:spPr>
          <a:xfrm>
            <a:off x="3749039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03 text 11" descr="sci-ppt:o011"/>
          <p:cNvSpPr txBox="1"/>
          <p:nvPr/>
        </p:nvSpPr>
        <p:spPr>
          <a:xfrm>
            <a:off x="3291839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C1-E03 line 12" descr="sci-ppt:o012"/>
          <p:cNvCxnSpPr/>
          <p:nvPr/>
        </p:nvCxnSpPr>
        <p:spPr>
          <a:xfrm>
            <a:off x="518922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03 line 13" descr="sci-ppt:o013"/>
          <p:cNvCxnSpPr/>
          <p:nvPr/>
        </p:nvCxnSpPr>
        <p:spPr>
          <a:xfrm>
            <a:off x="518922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03 text 14" descr="sci-ppt:o014"/>
          <p:cNvSpPr txBox="1"/>
          <p:nvPr/>
        </p:nvSpPr>
        <p:spPr>
          <a:xfrm>
            <a:off x="473202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C1-E03 line 15" descr="sci-ppt:o015"/>
          <p:cNvCxnSpPr/>
          <p:nvPr/>
        </p:nvCxnSpPr>
        <p:spPr>
          <a:xfrm>
            <a:off x="6629400" y="53035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03 line 16" descr="sci-ppt:o016"/>
          <p:cNvCxnSpPr/>
          <p:nvPr/>
        </p:nvCxnSpPr>
        <p:spPr>
          <a:xfrm>
            <a:off x="6629400" y="1371600"/>
            <a:ext cx="0" cy="39319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03 text 17" descr="sci-ppt:o017"/>
          <p:cNvSpPr txBox="1"/>
          <p:nvPr/>
        </p:nvSpPr>
        <p:spPr>
          <a:xfrm>
            <a:off x="6172200" y="53858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C1-E03 line 18" descr="sci-ppt:o018"/>
          <p:cNvCxnSpPr/>
          <p:nvPr/>
        </p:nvCxnSpPr>
        <p:spPr>
          <a:xfrm>
            <a:off x="804671" y="5116285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03 line 19" descr="sci-ppt:o019"/>
          <p:cNvCxnSpPr/>
          <p:nvPr/>
        </p:nvCxnSpPr>
        <p:spPr>
          <a:xfrm>
            <a:off x="868680" y="5116285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1-E03 text 20" descr="sci-ppt:o020"/>
          <p:cNvSpPr txBox="1"/>
          <p:nvPr/>
        </p:nvSpPr>
        <p:spPr>
          <a:xfrm>
            <a:off x="0" y="50339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-1.00</a:t>
            </a:r>
          </a:p>
        </p:txBody>
      </p:sp>
      <p:cxnSp>
        <p:nvCxnSpPr>
          <p:cNvPr id="23" name="C1-E03 line 21" descr="sci-ppt:o021"/>
          <p:cNvCxnSpPr/>
          <p:nvPr/>
        </p:nvCxnSpPr>
        <p:spPr>
          <a:xfrm>
            <a:off x="804671" y="4180114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1-E03 line 22" descr="sci-ppt:o022"/>
          <p:cNvCxnSpPr/>
          <p:nvPr/>
        </p:nvCxnSpPr>
        <p:spPr>
          <a:xfrm>
            <a:off x="868680" y="4180114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1-E03 text 23" descr="sci-ppt:o023"/>
          <p:cNvSpPr txBox="1"/>
          <p:nvPr/>
        </p:nvSpPr>
        <p:spPr>
          <a:xfrm>
            <a:off x="0" y="40978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-0.75</a:t>
            </a:r>
          </a:p>
        </p:txBody>
      </p:sp>
      <p:cxnSp>
        <p:nvCxnSpPr>
          <p:cNvPr id="26" name="C1-E03 line 24" descr="sci-ppt:o024"/>
          <p:cNvCxnSpPr/>
          <p:nvPr/>
        </p:nvCxnSpPr>
        <p:spPr>
          <a:xfrm>
            <a:off x="804671" y="3243942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1-E03 line 25" descr="sci-ppt:o025"/>
          <p:cNvCxnSpPr/>
          <p:nvPr/>
        </p:nvCxnSpPr>
        <p:spPr>
          <a:xfrm>
            <a:off x="868680" y="3243942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1-E03 text 26" descr="sci-ppt:o026"/>
          <p:cNvSpPr txBox="1"/>
          <p:nvPr/>
        </p:nvSpPr>
        <p:spPr>
          <a:xfrm>
            <a:off x="0" y="31616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-0.50</a:t>
            </a:r>
          </a:p>
        </p:txBody>
      </p:sp>
      <p:cxnSp>
        <p:nvCxnSpPr>
          <p:cNvPr id="29" name="C1-E03 line 27" descr="sci-ppt:o027"/>
          <p:cNvCxnSpPr/>
          <p:nvPr/>
        </p:nvCxnSpPr>
        <p:spPr>
          <a:xfrm>
            <a:off x="804671" y="2307771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1-E03 line 28" descr="sci-ppt:o028"/>
          <p:cNvCxnSpPr/>
          <p:nvPr/>
        </p:nvCxnSpPr>
        <p:spPr>
          <a:xfrm>
            <a:off x="868680" y="2307771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1-E03 text 29" descr="sci-ppt:o029"/>
          <p:cNvSpPr txBox="1"/>
          <p:nvPr/>
        </p:nvSpPr>
        <p:spPr>
          <a:xfrm>
            <a:off x="0" y="2225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-0.25</a:t>
            </a:r>
          </a:p>
        </p:txBody>
      </p:sp>
      <p:cxnSp>
        <p:nvCxnSpPr>
          <p:cNvPr id="32" name="C1-E03 line 30" descr="sci-ppt:o030"/>
          <p:cNvCxnSpPr/>
          <p:nvPr/>
        </p:nvCxnSpPr>
        <p:spPr>
          <a:xfrm>
            <a:off x="804671" y="1371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03 line 31" descr="sci-ppt:o031"/>
          <p:cNvCxnSpPr/>
          <p:nvPr/>
        </p:nvCxnSpPr>
        <p:spPr>
          <a:xfrm>
            <a:off x="868680" y="1371600"/>
            <a:ext cx="57607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1-E03 text 32" descr="sci-ppt:o032"/>
          <p:cNvSpPr txBox="1"/>
          <p:nvPr/>
        </p:nvSpPr>
        <p:spPr>
          <a:xfrm>
            <a:off x="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sp>
        <p:nvSpPr>
          <p:cNvPr id="35" name="C1-E03 text 33" descr="sci-ppt:o033"/>
          <p:cNvSpPr txBox="1"/>
          <p:nvPr/>
        </p:nvSpPr>
        <p:spPr>
          <a:xfrm>
            <a:off x="868680" y="5586983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6" name="C1-E03 text 34" descr="sci-ppt:o034"/>
          <p:cNvSpPr txBox="1"/>
          <p:nvPr/>
        </p:nvSpPr>
        <p:spPr>
          <a:xfrm>
            <a:off x="320040" y="1024128"/>
            <a:ext cx="57607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φ / (R Ṙ)</a:t>
            </a:r>
          </a:p>
        </p:txBody>
      </p:sp>
      <p:sp>
        <p:nvSpPr>
          <p:cNvPr id="37" name="C1-E03 polygon 35" descr="sci-ppt:o035"/>
          <p:cNvSpPr/>
          <p:nvPr/>
        </p:nvSpPr>
        <p:spPr>
          <a:xfrm>
            <a:off x="868680" y="2120537"/>
            <a:ext cx="5760720" cy="2995748"/>
          </a:xfrm>
          <a:custGeom>
            <a:avLst/>
            <a:gdLst/>
            <a:ahLst/>
            <a:cxnLst/>
            <a:rect l="l" t="t" r="r" b="b"/>
            <a:pathLst>
              <a:path w="5760720" h="2995748">
                <a:moveTo>
                  <a:pt x="0" y="2995748"/>
                </a:moveTo>
                <a:lnTo>
                  <a:pt x="38662" y="2897848"/>
                </a:lnTo>
                <a:lnTo>
                  <a:pt x="77325" y="2804936"/>
                </a:lnTo>
                <a:lnTo>
                  <a:pt x="115987" y="2716641"/>
                </a:lnTo>
                <a:lnTo>
                  <a:pt x="154650" y="2632627"/>
                </a:lnTo>
                <a:lnTo>
                  <a:pt x="193312" y="2552590"/>
                </a:lnTo>
                <a:lnTo>
                  <a:pt x="231975" y="2476254"/>
                </a:lnTo>
                <a:lnTo>
                  <a:pt x="270637" y="2403369"/>
                </a:lnTo>
                <a:lnTo>
                  <a:pt x="309300" y="2333704"/>
                </a:lnTo>
                <a:lnTo>
                  <a:pt x="347962" y="2267053"/>
                </a:lnTo>
                <a:lnTo>
                  <a:pt x="386625" y="2203222"/>
                </a:lnTo>
                <a:lnTo>
                  <a:pt x="425288" y="2142037"/>
                </a:lnTo>
                <a:lnTo>
                  <a:pt x="463950" y="2083337"/>
                </a:lnTo>
                <a:lnTo>
                  <a:pt x="502613" y="2026974"/>
                </a:lnTo>
                <a:lnTo>
                  <a:pt x="541275" y="1972810"/>
                </a:lnTo>
                <a:lnTo>
                  <a:pt x="579938" y="1920719"/>
                </a:lnTo>
                <a:lnTo>
                  <a:pt x="618600" y="1870584"/>
                </a:lnTo>
                <a:lnTo>
                  <a:pt x="657263" y="1822298"/>
                </a:lnTo>
                <a:lnTo>
                  <a:pt x="695925" y="1775760"/>
                </a:lnTo>
                <a:lnTo>
                  <a:pt x="734588" y="1730877"/>
                </a:lnTo>
                <a:lnTo>
                  <a:pt x="773251" y="1687561"/>
                </a:lnTo>
                <a:lnTo>
                  <a:pt x="811913" y="1645733"/>
                </a:lnTo>
                <a:lnTo>
                  <a:pt x="850576" y="1605316"/>
                </a:lnTo>
                <a:lnTo>
                  <a:pt x="889238" y="1566242"/>
                </a:lnTo>
                <a:lnTo>
                  <a:pt x="927901" y="1528443"/>
                </a:lnTo>
                <a:lnTo>
                  <a:pt x="966563" y="1491858"/>
                </a:lnTo>
                <a:lnTo>
                  <a:pt x="1005226" y="1456431"/>
                </a:lnTo>
                <a:lnTo>
                  <a:pt x="1043888" y="1422106"/>
                </a:lnTo>
                <a:lnTo>
                  <a:pt x="1082551" y="1388833"/>
                </a:lnTo>
                <a:lnTo>
                  <a:pt x="1121213" y="1356565"/>
                </a:lnTo>
                <a:lnTo>
                  <a:pt x="1159876" y="1325256"/>
                </a:lnTo>
                <a:lnTo>
                  <a:pt x="1198539" y="1294865"/>
                </a:lnTo>
                <a:lnTo>
                  <a:pt x="1237201" y="1265352"/>
                </a:lnTo>
                <a:lnTo>
                  <a:pt x="1275864" y="1236679"/>
                </a:lnTo>
                <a:lnTo>
                  <a:pt x="1314526" y="1208810"/>
                </a:lnTo>
                <a:lnTo>
                  <a:pt x="1353189" y="1181714"/>
                </a:lnTo>
                <a:lnTo>
                  <a:pt x="1391851" y="1155357"/>
                </a:lnTo>
                <a:lnTo>
                  <a:pt x="1430514" y="1129710"/>
                </a:lnTo>
                <a:lnTo>
                  <a:pt x="1469176" y="1104744"/>
                </a:lnTo>
                <a:lnTo>
                  <a:pt x="1507839" y="1080434"/>
                </a:lnTo>
                <a:lnTo>
                  <a:pt x="1546502" y="1056752"/>
                </a:lnTo>
                <a:lnTo>
                  <a:pt x="1585164" y="1033676"/>
                </a:lnTo>
                <a:lnTo>
                  <a:pt x="1623827" y="1011183"/>
                </a:lnTo>
                <a:lnTo>
                  <a:pt x="1662489" y="989250"/>
                </a:lnTo>
                <a:lnTo>
                  <a:pt x="1701152" y="967857"/>
                </a:lnTo>
                <a:lnTo>
                  <a:pt x="1739814" y="946984"/>
                </a:lnTo>
                <a:lnTo>
                  <a:pt x="1778477" y="926613"/>
                </a:lnTo>
                <a:lnTo>
                  <a:pt x="1817139" y="906725"/>
                </a:lnTo>
                <a:lnTo>
                  <a:pt x="1855802" y="887303"/>
                </a:lnTo>
                <a:lnTo>
                  <a:pt x="1894464" y="868333"/>
                </a:lnTo>
                <a:lnTo>
                  <a:pt x="1933127" y="849797"/>
                </a:lnTo>
                <a:lnTo>
                  <a:pt x="1971790" y="831681"/>
                </a:lnTo>
                <a:lnTo>
                  <a:pt x="2010452" y="813971"/>
                </a:lnTo>
                <a:lnTo>
                  <a:pt x="2049115" y="796653"/>
                </a:lnTo>
                <a:lnTo>
                  <a:pt x="2087777" y="779715"/>
                </a:lnTo>
                <a:lnTo>
                  <a:pt x="2126440" y="763144"/>
                </a:lnTo>
                <a:lnTo>
                  <a:pt x="2165102" y="746929"/>
                </a:lnTo>
                <a:lnTo>
                  <a:pt x="2203765" y="731058"/>
                </a:lnTo>
                <a:lnTo>
                  <a:pt x="2242427" y="715520"/>
                </a:lnTo>
                <a:lnTo>
                  <a:pt x="2281090" y="700305"/>
                </a:lnTo>
                <a:lnTo>
                  <a:pt x="2319753" y="685402"/>
                </a:lnTo>
                <a:lnTo>
                  <a:pt x="2358415" y="670803"/>
                </a:lnTo>
                <a:lnTo>
                  <a:pt x="2397078" y="656499"/>
                </a:lnTo>
                <a:lnTo>
                  <a:pt x="2435740" y="642479"/>
                </a:lnTo>
                <a:lnTo>
                  <a:pt x="2474403" y="628737"/>
                </a:lnTo>
                <a:lnTo>
                  <a:pt x="2513065" y="615263"/>
                </a:lnTo>
                <a:lnTo>
                  <a:pt x="2551728" y="602051"/>
                </a:lnTo>
                <a:lnTo>
                  <a:pt x="2590390" y="589092"/>
                </a:lnTo>
                <a:lnTo>
                  <a:pt x="2629053" y="576379"/>
                </a:lnTo>
                <a:lnTo>
                  <a:pt x="2667715" y="563905"/>
                </a:lnTo>
                <a:lnTo>
                  <a:pt x="2706378" y="551664"/>
                </a:lnTo>
                <a:lnTo>
                  <a:pt x="2745041" y="539650"/>
                </a:lnTo>
                <a:lnTo>
                  <a:pt x="2783703" y="527855"/>
                </a:lnTo>
                <a:lnTo>
                  <a:pt x="2822366" y="516274"/>
                </a:lnTo>
                <a:lnTo>
                  <a:pt x="2861028" y="504901"/>
                </a:lnTo>
                <a:lnTo>
                  <a:pt x="2899691" y="493731"/>
                </a:lnTo>
                <a:lnTo>
                  <a:pt x="2938353" y="482758"/>
                </a:lnTo>
                <a:lnTo>
                  <a:pt x="2977016" y="471978"/>
                </a:lnTo>
                <a:lnTo>
                  <a:pt x="3015678" y="461384"/>
                </a:lnTo>
                <a:lnTo>
                  <a:pt x="3054341" y="450973"/>
                </a:lnTo>
                <a:lnTo>
                  <a:pt x="3093004" y="440739"/>
                </a:lnTo>
                <a:lnTo>
                  <a:pt x="3131666" y="430678"/>
                </a:lnTo>
                <a:lnTo>
                  <a:pt x="3170329" y="420786"/>
                </a:lnTo>
                <a:lnTo>
                  <a:pt x="3208991" y="411059"/>
                </a:lnTo>
                <a:lnTo>
                  <a:pt x="3247654" y="401492"/>
                </a:lnTo>
                <a:lnTo>
                  <a:pt x="3286316" y="392081"/>
                </a:lnTo>
                <a:lnTo>
                  <a:pt x="3324979" y="382823"/>
                </a:lnTo>
                <a:lnTo>
                  <a:pt x="3363641" y="373715"/>
                </a:lnTo>
                <a:lnTo>
                  <a:pt x="3402304" y="364751"/>
                </a:lnTo>
                <a:lnTo>
                  <a:pt x="3440966" y="355930"/>
                </a:lnTo>
                <a:lnTo>
                  <a:pt x="3479629" y="347248"/>
                </a:lnTo>
                <a:lnTo>
                  <a:pt x="3518292" y="338700"/>
                </a:lnTo>
                <a:lnTo>
                  <a:pt x="3556954" y="330285"/>
                </a:lnTo>
                <a:lnTo>
                  <a:pt x="3595617" y="321999"/>
                </a:lnTo>
                <a:lnTo>
                  <a:pt x="3634279" y="313840"/>
                </a:lnTo>
                <a:lnTo>
                  <a:pt x="3672942" y="305804"/>
                </a:lnTo>
                <a:lnTo>
                  <a:pt x="3711604" y="297888"/>
                </a:lnTo>
                <a:lnTo>
                  <a:pt x="3750267" y="290091"/>
                </a:lnTo>
                <a:lnTo>
                  <a:pt x="3788929" y="282408"/>
                </a:lnTo>
                <a:lnTo>
                  <a:pt x="3827592" y="274839"/>
                </a:lnTo>
                <a:lnTo>
                  <a:pt x="3866255" y="267380"/>
                </a:lnTo>
                <a:lnTo>
                  <a:pt x="3904917" y="260028"/>
                </a:lnTo>
                <a:lnTo>
                  <a:pt x="3943580" y="252783"/>
                </a:lnTo>
                <a:lnTo>
                  <a:pt x="3982242" y="245640"/>
                </a:lnTo>
                <a:lnTo>
                  <a:pt x="4020905" y="238599"/>
                </a:lnTo>
                <a:lnTo>
                  <a:pt x="4059567" y="231657"/>
                </a:lnTo>
                <a:lnTo>
                  <a:pt x="4098230" y="224811"/>
                </a:lnTo>
                <a:lnTo>
                  <a:pt x="4136892" y="218061"/>
                </a:lnTo>
                <a:lnTo>
                  <a:pt x="4175555" y="211404"/>
                </a:lnTo>
                <a:lnTo>
                  <a:pt x="4214217" y="204837"/>
                </a:lnTo>
                <a:lnTo>
                  <a:pt x="4252880" y="198360"/>
                </a:lnTo>
                <a:lnTo>
                  <a:pt x="4291543" y="191970"/>
                </a:lnTo>
                <a:lnTo>
                  <a:pt x="4330205" y="185666"/>
                </a:lnTo>
                <a:lnTo>
                  <a:pt x="4368868" y="179445"/>
                </a:lnTo>
                <a:lnTo>
                  <a:pt x="4407530" y="173307"/>
                </a:lnTo>
                <a:lnTo>
                  <a:pt x="4446193" y="167250"/>
                </a:lnTo>
                <a:lnTo>
                  <a:pt x="4484855" y="161272"/>
                </a:lnTo>
                <a:lnTo>
                  <a:pt x="4523518" y="155371"/>
                </a:lnTo>
                <a:lnTo>
                  <a:pt x="4562180" y="149546"/>
                </a:lnTo>
                <a:lnTo>
                  <a:pt x="4600843" y="143796"/>
                </a:lnTo>
                <a:lnTo>
                  <a:pt x="4639506" y="138118"/>
                </a:lnTo>
                <a:lnTo>
                  <a:pt x="4678168" y="132513"/>
                </a:lnTo>
                <a:lnTo>
                  <a:pt x="4716831" y="126978"/>
                </a:lnTo>
                <a:lnTo>
                  <a:pt x="4755493" y="121512"/>
                </a:lnTo>
                <a:lnTo>
                  <a:pt x="4794156" y="116114"/>
                </a:lnTo>
                <a:lnTo>
                  <a:pt x="4832818" y="110782"/>
                </a:lnTo>
                <a:lnTo>
                  <a:pt x="4871481" y="105516"/>
                </a:lnTo>
                <a:lnTo>
                  <a:pt x="4910143" y="100314"/>
                </a:lnTo>
                <a:lnTo>
                  <a:pt x="4948806" y="95175"/>
                </a:lnTo>
                <a:lnTo>
                  <a:pt x="4987468" y="90097"/>
                </a:lnTo>
                <a:lnTo>
                  <a:pt x="5026131" y="85081"/>
                </a:lnTo>
                <a:lnTo>
                  <a:pt x="5064794" y="80124"/>
                </a:lnTo>
                <a:lnTo>
                  <a:pt x="5103456" y="75225"/>
                </a:lnTo>
                <a:lnTo>
                  <a:pt x="5142119" y="70384"/>
                </a:lnTo>
                <a:lnTo>
                  <a:pt x="5180781" y="65600"/>
                </a:lnTo>
                <a:lnTo>
                  <a:pt x="5219444" y="60871"/>
                </a:lnTo>
                <a:lnTo>
                  <a:pt x="5258106" y="56197"/>
                </a:lnTo>
                <a:lnTo>
                  <a:pt x="5296769" y="51576"/>
                </a:lnTo>
                <a:lnTo>
                  <a:pt x="5335431" y="47009"/>
                </a:lnTo>
                <a:lnTo>
                  <a:pt x="5374094" y="42493"/>
                </a:lnTo>
                <a:lnTo>
                  <a:pt x="5412757" y="38027"/>
                </a:lnTo>
                <a:lnTo>
                  <a:pt x="5451419" y="33613"/>
                </a:lnTo>
                <a:lnTo>
                  <a:pt x="5490082" y="29247"/>
                </a:lnTo>
                <a:lnTo>
                  <a:pt x="5528744" y="24930"/>
                </a:lnTo>
                <a:lnTo>
                  <a:pt x="5567407" y="20660"/>
                </a:lnTo>
                <a:lnTo>
                  <a:pt x="5606069" y="16437"/>
                </a:lnTo>
                <a:lnTo>
                  <a:pt x="5644732" y="12261"/>
                </a:lnTo>
                <a:lnTo>
                  <a:pt x="5683394" y="8129"/>
                </a:lnTo>
                <a:lnTo>
                  <a:pt x="5722057" y="4042"/>
                </a:lnTo>
                <a:lnTo>
                  <a:pt x="576072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3 text 36" descr="sci-ppt:o036"/>
          <p:cNvSpPr txBox="1"/>
          <p:nvPr/>
        </p:nvSpPr>
        <p:spPr>
          <a:xfrm>
            <a:off x="3678174" y="2973977"/>
            <a:ext cx="27432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φ = −R²Ṙ / r → 0 at infinity</a:t>
            </a:r>
          </a:p>
        </p:txBody>
      </p:sp>
      <p:sp>
        <p:nvSpPr>
          <p:cNvPr id="39" name="C1-E03 ellipse 37" descr="sci-ppt:o037"/>
          <p:cNvSpPr/>
          <p:nvPr/>
        </p:nvSpPr>
        <p:spPr>
          <a:xfrm>
            <a:off x="1659636" y="3638876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1-E03 line 38" descr="sci-ppt:o038"/>
          <p:cNvCxnSpPr/>
          <p:nvPr/>
        </p:nvCxnSpPr>
        <p:spPr>
          <a:xfrm flipV="1">
            <a:off x="1012698" y="2395537"/>
            <a:ext cx="2016252" cy="2047875"/>
          </a:xfrm>
          <a:prstGeom prst="line">
            <a:avLst/>
          </a:prstGeom>
          <a:ln w="22860">
            <a:solidFill>
              <a:srgbClr val="F2B880"/>
            </a:solidFill>
            <a:prstDash val="dash"/>
          </a:ln>
          <a:effectLst/>
        </p:spPr>
      </p:cxnSp>
      <p:sp>
        <p:nvSpPr>
          <p:cNvPr id="41" name="C1-E03 text 39" descr="sci-ppt:o039"/>
          <p:cNvSpPr txBox="1"/>
          <p:nvPr/>
        </p:nvSpPr>
        <p:spPr>
          <a:xfrm>
            <a:off x="2189988" y="3986348"/>
            <a:ext cx="329184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tangent slope at r = 1.6R is u = (R/r)²Ṙ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= 0.39 Ṙ</a:t>
            </a:r>
          </a:p>
        </p:txBody>
      </p:sp>
      <p:sp>
        <p:nvSpPr>
          <p:cNvPr id="42" name="C1-E03 round_rect 40" descr="sci-ppt:o040"/>
          <p:cNvSpPr/>
          <p:nvPr/>
        </p:nvSpPr>
        <p:spPr>
          <a:xfrm>
            <a:off x="7040880" y="1325880"/>
            <a:ext cx="4800600" cy="44805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03 text 41" descr="sci-ppt:o041"/>
          <p:cNvSpPr txBox="1"/>
          <p:nvPr/>
        </p:nvSpPr>
        <p:spPr>
          <a:xfrm>
            <a:off x="7150608" y="138074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Derivation in three moves</a:t>
            </a:r>
          </a:p>
        </p:txBody>
      </p:sp>
      <p:sp>
        <p:nvSpPr>
          <p:cNvPr id="44" name="C1-E03 text 42" descr="sci-ppt:o042"/>
          <p:cNvSpPr txBox="1"/>
          <p:nvPr/>
        </p:nvSpPr>
        <p:spPr>
          <a:xfrm>
            <a:off x="7223760" y="1783080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1  Start from the flux law</a:t>
            </a:r>
          </a:p>
        </p:txBody>
      </p:sp>
      <p:sp>
        <p:nvSpPr>
          <p:cNvPr id="45" name="C1-E03 text 43" descr="sci-ppt:o043"/>
          <p:cNvSpPr txBox="1"/>
          <p:nvPr/>
        </p:nvSpPr>
        <p:spPr>
          <a:xfrm>
            <a:off x="7360920" y="2030221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u(s) = R²Ṙ / s²</a:t>
            </a:r>
          </a:p>
        </p:txBody>
      </p:sp>
      <p:sp>
        <p:nvSpPr>
          <p:cNvPr id="46" name="C1-E03 text 44" descr="sci-ppt:o044"/>
          <p:cNvSpPr txBox="1"/>
          <p:nvPr/>
        </p:nvSpPr>
        <p:spPr>
          <a:xfrm>
            <a:off x="7223760" y="2415921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2  Integrate inward from infinity</a:t>
            </a:r>
          </a:p>
        </p:txBody>
      </p:sp>
      <p:sp>
        <p:nvSpPr>
          <p:cNvPr id="47" name="C1-E03 text 45" descr="sci-ppt:o045"/>
          <p:cNvSpPr txBox="1"/>
          <p:nvPr/>
        </p:nvSpPr>
        <p:spPr>
          <a:xfrm>
            <a:off x="7360920" y="2663063"/>
            <a:ext cx="429768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φ(r) = ∫ u ds from ∞ to r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φ(r) = −R²Ṙ / r</a:t>
            </a:r>
          </a:p>
        </p:txBody>
      </p:sp>
      <p:sp>
        <p:nvSpPr>
          <p:cNvPr id="48" name="C1-E03 text 46" descr="sci-ppt:o046"/>
          <p:cNvSpPr txBox="1"/>
          <p:nvPr/>
        </p:nvSpPr>
        <p:spPr>
          <a:xfrm>
            <a:off x="7223760" y="3242437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3  Differentiate in space</a:t>
            </a:r>
          </a:p>
        </p:txBody>
      </p:sp>
      <p:sp>
        <p:nvSpPr>
          <p:cNvPr id="49" name="C1-E03 text 47" descr="sci-ppt:o047"/>
          <p:cNvSpPr txBox="1"/>
          <p:nvPr/>
        </p:nvSpPr>
        <p:spPr>
          <a:xfrm>
            <a:off x="7360920" y="3489579"/>
            <a:ext cx="42976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∂φ/∂r = R²Ṙ / r² = u  ✓</a:t>
            </a:r>
          </a:p>
        </p:txBody>
      </p:sp>
      <p:sp>
        <p:nvSpPr>
          <p:cNvPr id="50" name="C1-E03 text 48" descr="sci-ppt:o048"/>
          <p:cNvSpPr txBox="1"/>
          <p:nvPr/>
        </p:nvSpPr>
        <p:spPr>
          <a:xfrm>
            <a:off x="7223760" y="3875278"/>
            <a:ext cx="4480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Why the reference is fixed first</a:t>
            </a:r>
          </a:p>
        </p:txBody>
      </p:sp>
      <p:sp>
        <p:nvSpPr>
          <p:cNvPr id="51" name="C1-E03 text 49" descr="sci-ppt:o049"/>
          <p:cNvSpPr txBox="1"/>
          <p:nvPr/>
        </p:nvSpPr>
        <p:spPr>
          <a:xfrm>
            <a:off x="7360920" y="4122419"/>
            <a:ext cx="42976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φ is defined only up to a constant. Setting φ(∞) =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0 before taking any time derivative keeps Eq.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C1-E04 unambiguous.</a:t>
            </a:r>
          </a:p>
        </p:txBody>
      </p:sp>
      <p:sp>
        <p:nvSpPr>
          <p:cNvPr id="52" name="C1-E03 text 50" descr="sci-ppt:o050"/>
          <p:cNvSpPr txBox="1"/>
          <p:nvPr/>
        </p:nvSpPr>
        <p:spPr>
          <a:xfrm>
            <a:off x="868680" y="5897880"/>
            <a:ext cx="57607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Plot for R = 1, Ṙ = 1; the shape is the same for any R and Ṙ.</a:t>
            </a:r>
          </a:p>
        </p:txBody>
      </p:sp>
      <p:sp>
        <p:nvSpPr>
          <p:cNvPr id="53" name="C1-E03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Potential from Eq. C1-E03.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