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6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C2-E19 text 0" descr="sci-ppt:o000"/>
          <p:cNvSpPr txBox="1"/>
          <p:nvPr/>
        </p:nvSpPr>
        <p:spPr>
          <a:xfrm>
            <a:off x="274320" y="118872"/>
            <a:ext cx="11612880" cy="340105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 i="0">
                <a:solidFill>
                  <a:srgbClr val="8EDBD4"/>
                </a:solidFill>
                <a:latin typeface="Arial"/>
              </a:rPr>
              <a:t>C2-E19 · Species phase-mass balance</a:t>
            </a:r>
          </a:p>
        </p:txBody>
      </p:sp>
      <p:sp>
        <p:nvSpPr>
          <p:cNvPr id="3" name="C2-E19 round_rect 1" descr="sci-ppt:o001"/>
          <p:cNvSpPr/>
          <p:nvPr/>
        </p:nvSpPr>
        <p:spPr>
          <a:xfrm>
            <a:off x="365760" y="914400"/>
            <a:ext cx="5852160" cy="4937760"/>
          </a:xfrm>
          <a:prstGeom prst="roundRect">
            <a:avLst/>
          </a:prstGeom>
          <a:solidFill>
            <a:srgbClr val="213E4B"/>
          </a:solidFill>
          <a:ln w="20320">
            <a:solidFill>
              <a:srgbClr val="8EDBD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C2-E19 text 2" descr="sci-ppt:o002"/>
          <p:cNvSpPr txBox="1"/>
          <p:nvPr/>
        </p:nvSpPr>
        <p:spPr>
          <a:xfrm>
            <a:off x="475488" y="969264"/>
            <a:ext cx="5632704" cy="254889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 i="0">
                <a:solidFill>
                  <a:srgbClr val="8EDBD4"/>
                </a:solidFill>
                <a:latin typeface="Arial"/>
              </a:rPr>
              <a:t>Which surface evaporates PFC?</a:t>
            </a:r>
          </a:p>
        </p:txBody>
      </p:sp>
      <p:sp>
        <p:nvSpPr>
          <p:cNvPr id="5" name="C2-E19 ellipse 3" descr="sci-ppt:o003"/>
          <p:cNvSpPr/>
          <p:nvPr/>
        </p:nvSpPr>
        <p:spPr>
          <a:xfrm>
            <a:off x="1645919" y="2103120"/>
            <a:ext cx="2743200" cy="2743200"/>
          </a:xfrm>
          <a:prstGeom prst="ellipse">
            <a:avLst/>
          </a:prstGeom>
          <a:solidFill>
            <a:srgbClr val="1E4A5A"/>
          </a:solidFill>
          <a:ln w="30480">
            <a:solidFill>
              <a:srgbClr val="8EDBD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C2-E19 ellipse 4" descr="sci-ppt:o004"/>
          <p:cNvSpPr/>
          <p:nvPr/>
        </p:nvSpPr>
        <p:spPr>
          <a:xfrm>
            <a:off x="2743200" y="2194559"/>
            <a:ext cx="2377440" cy="2377440"/>
          </a:xfrm>
          <a:prstGeom prst="ellipse">
            <a:avLst/>
          </a:prstGeom>
          <a:solidFill>
            <a:srgbClr val="0C1820">
              <a:alpha val="95000"/>
            </a:srgbClr>
          </a:solidFill>
          <a:ln w="30480">
            <a:solidFill>
              <a:srgbClr val="F2B880">
                <a:alpha val="95000"/>
              </a:srgbClr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C2-E19 polygon 5" descr="sci-ppt:o005"/>
          <p:cNvSpPr/>
          <p:nvPr/>
        </p:nvSpPr>
        <p:spPr>
          <a:xfrm>
            <a:off x="3627188" y="2246065"/>
            <a:ext cx="761889" cy="2320914"/>
          </a:xfrm>
          <a:custGeom>
            <a:avLst/>
            <a:gdLst/>
            <a:ahLst/>
            <a:cxnLst/>
            <a:rect l="l" t="t" r="r" b="b"/>
            <a:pathLst>
              <a:path w="761889" h="2320914">
                <a:moveTo>
                  <a:pt x="219944" y="2320914"/>
                </a:moveTo>
                <a:lnTo>
                  <a:pt x="237040" y="2307715"/>
                </a:lnTo>
                <a:lnTo>
                  <a:pt x="253927" y="2294248"/>
                </a:lnTo>
                <a:lnTo>
                  <a:pt x="270599" y="2280517"/>
                </a:lnTo>
                <a:lnTo>
                  <a:pt x="287054" y="2266525"/>
                </a:lnTo>
                <a:lnTo>
                  <a:pt x="303285" y="2252276"/>
                </a:lnTo>
                <a:lnTo>
                  <a:pt x="319291" y="2237773"/>
                </a:lnTo>
                <a:lnTo>
                  <a:pt x="335066" y="2223020"/>
                </a:lnTo>
                <a:lnTo>
                  <a:pt x="350607" y="2208021"/>
                </a:lnTo>
                <a:lnTo>
                  <a:pt x="365910" y="2192778"/>
                </a:lnTo>
                <a:lnTo>
                  <a:pt x="380970" y="2177296"/>
                </a:lnTo>
                <a:lnTo>
                  <a:pt x="395785" y="2161579"/>
                </a:lnTo>
                <a:lnTo>
                  <a:pt x="410351" y="2145631"/>
                </a:lnTo>
                <a:lnTo>
                  <a:pt x="424664" y="2129456"/>
                </a:lnTo>
                <a:lnTo>
                  <a:pt x="438721" y="2113057"/>
                </a:lnTo>
                <a:lnTo>
                  <a:pt x="452517" y="2096438"/>
                </a:lnTo>
                <a:lnTo>
                  <a:pt x="466050" y="2079605"/>
                </a:lnTo>
                <a:lnTo>
                  <a:pt x="479316" y="2062560"/>
                </a:lnTo>
                <a:lnTo>
                  <a:pt x="492312" y="2045309"/>
                </a:lnTo>
                <a:lnTo>
                  <a:pt x="505035" y="2027855"/>
                </a:lnTo>
                <a:lnTo>
                  <a:pt x="517482" y="2010203"/>
                </a:lnTo>
                <a:lnTo>
                  <a:pt x="529649" y="1992357"/>
                </a:lnTo>
                <a:lnTo>
                  <a:pt x="541534" y="1974322"/>
                </a:lnTo>
                <a:lnTo>
                  <a:pt x="553133" y="1956102"/>
                </a:lnTo>
                <a:lnTo>
                  <a:pt x="564443" y="1937702"/>
                </a:lnTo>
                <a:lnTo>
                  <a:pt x="575463" y="1919126"/>
                </a:lnTo>
                <a:lnTo>
                  <a:pt x="586189" y="1900378"/>
                </a:lnTo>
                <a:lnTo>
                  <a:pt x="596618" y="1881464"/>
                </a:lnTo>
                <a:lnTo>
                  <a:pt x="606748" y="1862388"/>
                </a:lnTo>
                <a:lnTo>
                  <a:pt x="616576" y="1843155"/>
                </a:lnTo>
                <a:lnTo>
                  <a:pt x="626100" y="1823769"/>
                </a:lnTo>
                <a:lnTo>
                  <a:pt x="635318" y="1804236"/>
                </a:lnTo>
                <a:lnTo>
                  <a:pt x="644227" y="1784561"/>
                </a:lnTo>
                <a:lnTo>
                  <a:pt x="652826" y="1764747"/>
                </a:lnTo>
                <a:lnTo>
                  <a:pt x="661111" y="1744800"/>
                </a:lnTo>
                <a:lnTo>
                  <a:pt x="669081" y="1724726"/>
                </a:lnTo>
                <a:lnTo>
                  <a:pt x="676734" y="1704528"/>
                </a:lnTo>
                <a:lnTo>
                  <a:pt x="684068" y="1684213"/>
                </a:lnTo>
                <a:lnTo>
                  <a:pt x="691081" y="1663784"/>
                </a:lnTo>
                <a:lnTo>
                  <a:pt x="697771" y="1643248"/>
                </a:lnTo>
                <a:lnTo>
                  <a:pt x="704138" y="1622609"/>
                </a:lnTo>
                <a:lnTo>
                  <a:pt x="710178" y="1601872"/>
                </a:lnTo>
                <a:lnTo>
                  <a:pt x="715892" y="1581042"/>
                </a:lnTo>
                <a:lnTo>
                  <a:pt x="721276" y="1560125"/>
                </a:lnTo>
                <a:lnTo>
                  <a:pt x="726331" y="1539126"/>
                </a:lnTo>
                <a:lnTo>
                  <a:pt x="731054" y="1518050"/>
                </a:lnTo>
                <a:lnTo>
                  <a:pt x="735445" y="1496902"/>
                </a:lnTo>
                <a:lnTo>
                  <a:pt x="739502" y="1475688"/>
                </a:lnTo>
                <a:lnTo>
                  <a:pt x="743225" y="1454412"/>
                </a:lnTo>
                <a:lnTo>
                  <a:pt x="746612" y="1433081"/>
                </a:lnTo>
                <a:lnTo>
                  <a:pt x="749663" y="1411699"/>
                </a:lnTo>
                <a:lnTo>
                  <a:pt x="752377" y="1390271"/>
                </a:lnTo>
                <a:lnTo>
                  <a:pt x="754753" y="1368803"/>
                </a:lnTo>
                <a:lnTo>
                  <a:pt x="756790" y="1347301"/>
                </a:lnTo>
                <a:lnTo>
                  <a:pt x="758489" y="1325769"/>
                </a:lnTo>
                <a:lnTo>
                  <a:pt x="759849" y="1304213"/>
                </a:lnTo>
                <a:lnTo>
                  <a:pt x="760869" y="1282638"/>
                </a:lnTo>
                <a:lnTo>
                  <a:pt x="761549" y="1261050"/>
                </a:lnTo>
                <a:lnTo>
                  <a:pt x="761889" y="1239454"/>
                </a:lnTo>
                <a:lnTo>
                  <a:pt x="761889" y="1217855"/>
                </a:lnTo>
                <a:lnTo>
                  <a:pt x="761549" y="1196259"/>
                </a:lnTo>
                <a:lnTo>
                  <a:pt x="760869" y="1174671"/>
                </a:lnTo>
                <a:lnTo>
                  <a:pt x="759849" y="1153096"/>
                </a:lnTo>
                <a:lnTo>
                  <a:pt x="758489" y="1131540"/>
                </a:lnTo>
                <a:lnTo>
                  <a:pt x="756790" y="1110008"/>
                </a:lnTo>
                <a:lnTo>
                  <a:pt x="754753" y="1088506"/>
                </a:lnTo>
                <a:lnTo>
                  <a:pt x="752377" y="1067038"/>
                </a:lnTo>
                <a:lnTo>
                  <a:pt x="749663" y="1045610"/>
                </a:lnTo>
                <a:lnTo>
                  <a:pt x="746612" y="1024228"/>
                </a:lnTo>
                <a:lnTo>
                  <a:pt x="743225" y="1002897"/>
                </a:lnTo>
                <a:lnTo>
                  <a:pt x="739502" y="981621"/>
                </a:lnTo>
                <a:lnTo>
                  <a:pt x="735445" y="960407"/>
                </a:lnTo>
                <a:lnTo>
                  <a:pt x="731054" y="939259"/>
                </a:lnTo>
                <a:lnTo>
                  <a:pt x="726331" y="918183"/>
                </a:lnTo>
                <a:lnTo>
                  <a:pt x="721276" y="897184"/>
                </a:lnTo>
                <a:lnTo>
                  <a:pt x="715892" y="876267"/>
                </a:lnTo>
                <a:lnTo>
                  <a:pt x="710178" y="855437"/>
                </a:lnTo>
                <a:lnTo>
                  <a:pt x="704138" y="834700"/>
                </a:lnTo>
                <a:lnTo>
                  <a:pt x="697771" y="814061"/>
                </a:lnTo>
                <a:lnTo>
                  <a:pt x="691081" y="793525"/>
                </a:lnTo>
                <a:lnTo>
                  <a:pt x="684068" y="773096"/>
                </a:lnTo>
                <a:lnTo>
                  <a:pt x="676734" y="752781"/>
                </a:lnTo>
                <a:lnTo>
                  <a:pt x="669081" y="732583"/>
                </a:lnTo>
                <a:lnTo>
                  <a:pt x="661111" y="712509"/>
                </a:lnTo>
                <a:lnTo>
                  <a:pt x="652826" y="692562"/>
                </a:lnTo>
                <a:lnTo>
                  <a:pt x="644227" y="672748"/>
                </a:lnTo>
                <a:lnTo>
                  <a:pt x="635318" y="653073"/>
                </a:lnTo>
                <a:lnTo>
                  <a:pt x="626100" y="633540"/>
                </a:lnTo>
                <a:lnTo>
                  <a:pt x="616576" y="614154"/>
                </a:lnTo>
                <a:lnTo>
                  <a:pt x="606748" y="594921"/>
                </a:lnTo>
                <a:lnTo>
                  <a:pt x="596618" y="575845"/>
                </a:lnTo>
                <a:lnTo>
                  <a:pt x="586189" y="556931"/>
                </a:lnTo>
                <a:lnTo>
                  <a:pt x="575463" y="538183"/>
                </a:lnTo>
                <a:lnTo>
                  <a:pt x="564443" y="519607"/>
                </a:lnTo>
                <a:lnTo>
                  <a:pt x="553133" y="501207"/>
                </a:lnTo>
                <a:lnTo>
                  <a:pt x="541534" y="482987"/>
                </a:lnTo>
                <a:lnTo>
                  <a:pt x="529649" y="464952"/>
                </a:lnTo>
                <a:lnTo>
                  <a:pt x="517482" y="447106"/>
                </a:lnTo>
                <a:lnTo>
                  <a:pt x="505035" y="429454"/>
                </a:lnTo>
                <a:lnTo>
                  <a:pt x="492312" y="412000"/>
                </a:lnTo>
                <a:lnTo>
                  <a:pt x="479316" y="394749"/>
                </a:lnTo>
                <a:lnTo>
                  <a:pt x="466050" y="377704"/>
                </a:lnTo>
                <a:lnTo>
                  <a:pt x="452517" y="360871"/>
                </a:lnTo>
                <a:lnTo>
                  <a:pt x="438721" y="344252"/>
                </a:lnTo>
                <a:lnTo>
                  <a:pt x="424664" y="327853"/>
                </a:lnTo>
                <a:lnTo>
                  <a:pt x="410351" y="311678"/>
                </a:lnTo>
                <a:lnTo>
                  <a:pt x="395785" y="295730"/>
                </a:lnTo>
                <a:lnTo>
                  <a:pt x="380970" y="280013"/>
                </a:lnTo>
                <a:lnTo>
                  <a:pt x="365910" y="264531"/>
                </a:lnTo>
                <a:lnTo>
                  <a:pt x="350607" y="249288"/>
                </a:lnTo>
                <a:lnTo>
                  <a:pt x="335066" y="234289"/>
                </a:lnTo>
                <a:lnTo>
                  <a:pt x="319291" y="219536"/>
                </a:lnTo>
                <a:lnTo>
                  <a:pt x="303285" y="205033"/>
                </a:lnTo>
                <a:lnTo>
                  <a:pt x="287054" y="190784"/>
                </a:lnTo>
                <a:lnTo>
                  <a:pt x="270599" y="176792"/>
                </a:lnTo>
                <a:lnTo>
                  <a:pt x="253927" y="163061"/>
                </a:lnTo>
                <a:lnTo>
                  <a:pt x="237040" y="149594"/>
                </a:lnTo>
                <a:lnTo>
                  <a:pt x="219944" y="136395"/>
                </a:lnTo>
                <a:lnTo>
                  <a:pt x="202641" y="123467"/>
                </a:lnTo>
                <a:lnTo>
                  <a:pt x="185138" y="110813"/>
                </a:lnTo>
                <a:lnTo>
                  <a:pt x="167437" y="98436"/>
                </a:lnTo>
                <a:lnTo>
                  <a:pt x="149543" y="86339"/>
                </a:lnTo>
                <a:lnTo>
                  <a:pt x="131461" y="74526"/>
                </a:lnTo>
                <a:lnTo>
                  <a:pt x="113196" y="62999"/>
                </a:lnTo>
                <a:lnTo>
                  <a:pt x="94751" y="51760"/>
                </a:lnTo>
                <a:lnTo>
                  <a:pt x="76132" y="40814"/>
                </a:lnTo>
                <a:lnTo>
                  <a:pt x="57342" y="30162"/>
                </a:lnTo>
                <a:lnTo>
                  <a:pt x="38387" y="19808"/>
                </a:lnTo>
                <a:lnTo>
                  <a:pt x="19271" y="9753"/>
                </a:lnTo>
                <a:lnTo>
                  <a:pt x="0" y="0"/>
                </a:lnTo>
              </a:path>
            </a:pathLst>
          </a:custGeom>
          <a:noFill/>
          <a:ln w="63500">
            <a:solidFill>
              <a:srgbClr val="F28BA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C2-E19 text 6" descr="sci-ppt:o006"/>
          <p:cNvSpPr txBox="1"/>
          <p:nvPr/>
        </p:nvSpPr>
        <p:spPr>
          <a:xfrm>
            <a:off x="4480560" y="4617720"/>
            <a:ext cx="1828800" cy="402081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 i="0">
                <a:solidFill>
                  <a:srgbClr val="F28BA0"/>
                </a:solidFill>
                <a:latin typeface="Arial"/>
              </a:rPr>
              <a:t>Γₛ: droplet surface</a:t>
            </a:r>
          </a:p>
          <a:p>
            <a:pPr algn="l">
              <a:spcAft>
                <a:spcPts val="0"/>
              </a:spcAft>
            </a:pPr>
            <a:r>
              <a:rPr sz="1150" b="1" i="0">
                <a:solidFill>
                  <a:srgbClr val="F28BA0"/>
                </a:solidFill>
                <a:latin typeface="Arial"/>
              </a:rPr>
              <a:t>in contact with vapor</a:t>
            </a:r>
          </a:p>
        </p:txBody>
      </p:sp>
      <p:sp>
        <p:nvSpPr>
          <p:cNvPr id="9" name="C2-E19 text 7" descr="sci-ppt:o007"/>
          <p:cNvSpPr txBox="1"/>
          <p:nvPr/>
        </p:nvSpPr>
        <p:spPr>
          <a:xfrm>
            <a:off x="1188720" y="1828800"/>
            <a:ext cx="2286000" cy="239395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8EDBD4"/>
                </a:solidFill>
                <a:latin typeface="Arial"/>
              </a:rPr>
              <a:t>PFC droplet</a:t>
            </a:r>
          </a:p>
        </p:txBody>
      </p:sp>
      <p:sp>
        <p:nvSpPr>
          <p:cNvPr id="10" name="C2-E19 text 8" descr="sci-ppt:o008"/>
          <p:cNvSpPr txBox="1"/>
          <p:nvPr/>
        </p:nvSpPr>
        <p:spPr>
          <a:xfrm>
            <a:off x="3566160" y="1828800"/>
            <a:ext cx="2377440" cy="239395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F2B880"/>
                </a:solidFill>
                <a:latin typeface="Arial"/>
              </a:rPr>
              <a:t>vapor bubble</a:t>
            </a:r>
          </a:p>
        </p:txBody>
      </p:sp>
      <p:cxnSp>
        <p:nvCxnSpPr>
          <p:cNvPr id="11" name="C2-E19 arrow 9" descr="sci-ppt:o009"/>
          <p:cNvCxnSpPr/>
          <p:nvPr/>
        </p:nvCxnSpPr>
        <p:spPr>
          <a:xfrm flipH="1">
            <a:off x="1920240" y="3383280"/>
            <a:ext cx="365760" cy="0"/>
          </a:xfrm>
          <a:prstGeom prst="line">
            <a:avLst/>
          </a:prstGeom>
          <a:ln w="38100">
            <a:solidFill>
              <a:srgbClr val="8EDBD4"/>
            </a:solidFill>
            <a:headEnd type="none" w="med" len="med"/>
            <a:tailEnd type="triangle" w="med" len="med"/>
          </a:ln>
          <a:effectLst/>
        </p:spPr>
      </p:cxnSp>
      <p:sp>
        <p:nvSpPr>
          <p:cNvPr id="12" name="C2-E19 text 10" descr="sci-ppt:o010"/>
          <p:cNvSpPr txBox="1"/>
          <p:nvPr/>
        </p:nvSpPr>
        <p:spPr>
          <a:xfrm>
            <a:off x="502920" y="5074920"/>
            <a:ext cx="5577840" cy="433070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E7F0F3"/>
                </a:solidFill>
                <a:latin typeface="Arial"/>
              </a:rPr>
              <a:t>Evaporation occurs on the part of the droplet surface that touches</a:t>
            </a:r>
          </a:p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E7F0F3"/>
                </a:solidFill>
                <a:latin typeface="Arial"/>
              </a:rPr>
              <a:t>vapor, Γₛ. It need not coincide with the whole bubble surface.</a:t>
            </a:r>
          </a:p>
        </p:txBody>
      </p:sp>
      <p:sp>
        <p:nvSpPr>
          <p:cNvPr id="13" name="C2-E19 round_rect 11" descr="sci-ppt:o011"/>
          <p:cNvSpPr/>
          <p:nvPr/>
        </p:nvSpPr>
        <p:spPr>
          <a:xfrm>
            <a:off x="6492240" y="914400"/>
            <a:ext cx="5349240" cy="4937760"/>
          </a:xfrm>
          <a:prstGeom prst="roundRect">
            <a:avLst/>
          </a:prstGeom>
          <a:solidFill>
            <a:srgbClr val="213E4B"/>
          </a:solidFill>
          <a:ln w="20320">
            <a:solidFill>
              <a:srgbClr val="8EDBD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C2-E19 text 12" descr="sci-ppt:o012"/>
          <p:cNvSpPr txBox="1"/>
          <p:nvPr/>
        </p:nvSpPr>
        <p:spPr>
          <a:xfrm>
            <a:off x="6601968" y="969264"/>
            <a:ext cx="5129783" cy="254889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 i="0">
                <a:solidFill>
                  <a:srgbClr val="8EDBD4"/>
                </a:solidFill>
                <a:latin typeface="Arial"/>
              </a:rPr>
              <a:t>Mass balance of species s</a:t>
            </a:r>
          </a:p>
        </p:txBody>
      </p:sp>
      <p:sp>
        <p:nvSpPr>
          <p:cNvPr id="15" name="C2-E19 text 13" descr="sci-ppt:o013"/>
          <p:cNvSpPr txBox="1"/>
          <p:nvPr/>
        </p:nvSpPr>
        <p:spPr>
          <a:xfrm>
            <a:off x="6629400" y="1371600"/>
            <a:ext cx="5120640" cy="262636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E7F0F3"/>
                </a:solidFill>
                <a:latin typeface="Arial"/>
              </a:rPr>
              <a:t>ṁᵥ,s |phase = ∫ over Γₛ of jₛ dA</a:t>
            </a:r>
          </a:p>
        </p:txBody>
      </p:sp>
      <p:sp>
        <p:nvSpPr>
          <p:cNvPr id="16" name="C2-E19 text 14" descr="sci-ppt:o014"/>
          <p:cNvSpPr txBox="1"/>
          <p:nvPr/>
        </p:nvSpPr>
        <p:spPr>
          <a:xfrm>
            <a:off x="6629400" y="2011680"/>
            <a:ext cx="5120640" cy="239395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B4C7D2"/>
                </a:solidFill>
                <a:latin typeface="Arial"/>
              </a:rPr>
              <a:t>jₛ: signed liquid-to-vapor mass flux (kg m⁻² s⁻¹)</a:t>
            </a:r>
          </a:p>
        </p:txBody>
      </p:sp>
      <p:sp>
        <p:nvSpPr>
          <p:cNvPr id="17" name="C2-E19 round_rect 15" descr="sci-ppt:o015"/>
          <p:cNvSpPr/>
          <p:nvPr/>
        </p:nvSpPr>
        <p:spPr>
          <a:xfrm>
            <a:off x="6629400" y="2606040"/>
            <a:ext cx="5074920" cy="1417320"/>
          </a:xfrm>
          <a:prstGeom prst="roundRect">
            <a:avLst/>
          </a:prstGeom>
          <a:solidFill>
            <a:srgbClr val="213E4B"/>
          </a:solidFill>
          <a:ln w="20320">
            <a:solidFill>
              <a:srgbClr val="F2B88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C2-E19 text 16" descr="sci-ppt:o016"/>
          <p:cNvSpPr txBox="1"/>
          <p:nvPr/>
        </p:nvSpPr>
        <p:spPr>
          <a:xfrm>
            <a:off x="6766560" y="2679192"/>
            <a:ext cx="4846320" cy="247142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F2B880"/>
                </a:solidFill>
                <a:latin typeface="Arial"/>
              </a:rPr>
              <a:t>Special case only</a:t>
            </a:r>
          </a:p>
        </p:txBody>
      </p:sp>
      <p:sp>
        <p:nvSpPr>
          <p:cNvPr id="19" name="C2-E19 text 17" descr="sci-ppt:o017"/>
          <p:cNvSpPr txBox="1"/>
          <p:nvPr/>
        </p:nvSpPr>
        <p:spPr>
          <a:xfrm>
            <a:off x="6766560" y="3063240"/>
            <a:ext cx="4846320" cy="433070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E7F0F3"/>
                </a:solidFill>
                <a:latin typeface="Arial"/>
              </a:rPr>
              <a:t>ṁ = 4πR² jₛ   when the whole spherical bubble wall of</a:t>
            </a:r>
          </a:p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E7F0F3"/>
                </a:solidFill>
                <a:latin typeface="Arial"/>
              </a:rPr>
              <a:t>radius R is in uniform contact with the PFC.</a:t>
            </a:r>
          </a:p>
        </p:txBody>
      </p:sp>
      <p:sp>
        <p:nvSpPr>
          <p:cNvPr id="20" name="C2-E19 text 18" descr="sci-ppt:o018"/>
          <p:cNvSpPr txBox="1"/>
          <p:nvPr/>
        </p:nvSpPr>
        <p:spPr>
          <a:xfrm>
            <a:off x="6629400" y="4251960"/>
            <a:ext cx="5120640" cy="433070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E7F0F3"/>
                </a:solidFill>
                <a:latin typeface="Arial"/>
              </a:rPr>
              <a:t>Phase change is only one term: escape and dissolution are</a:t>
            </a:r>
          </a:p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E7F0F3"/>
                </a:solidFill>
                <a:latin typeface="Arial"/>
              </a:rPr>
              <a:t>accounted for separately in the ledger of Eq. C2-E18.</a:t>
            </a:r>
          </a:p>
        </p:txBody>
      </p:sp>
      <p:sp>
        <p:nvSpPr>
          <p:cNvPr id="21" name="C2-E19 text 19" descr="sci-ppt:o019"/>
          <p:cNvSpPr txBox="1"/>
          <p:nvPr/>
        </p:nvSpPr>
        <p:spPr>
          <a:xfrm>
            <a:off x="320040" y="6510528"/>
            <a:ext cx="11521440" cy="200660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B4C7D2"/>
                </a:solidFill>
                <a:latin typeface="Arial"/>
              </a:rPr>
              <a:t>Area integral of Eq. C2-E19; sketch is schematic.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