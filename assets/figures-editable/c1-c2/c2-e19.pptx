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79247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2-E19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C2-E19 | Physical-variable diagram</a:t>
            </a:r>
          </a:p>
        </p:txBody>
      </p:sp>
      <p:sp>
        <p:nvSpPr>
          <p:cNvPr id="3" name="ellipse2" descr="sci-ppt:C2-E19-002"/>
          <p:cNvSpPr/>
          <p:nvPr/>
        </p:nvSpPr>
        <p:spPr>
          <a:xfrm>
            <a:off x="1767840" y="1219200"/>
            <a:ext cx="2804160" cy="280416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ellipse3" descr="sci-ppt:C2-E19-003"/>
          <p:cNvSpPr/>
          <p:nvPr/>
        </p:nvSpPr>
        <p:spPr>
          <a:xfrm>
            <a:off x="3438144" y="2706624"/>
            <a:ext cx="926592" cy="926592"/>
          </a:xfrm>
          <a:prstGeom prst="ellipse">
            <a:avLst/>
          </a:prstGeom>
          <a:solidFill>
            <a:srgbClr val="F6BC77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arrow4" descr="sci-ppt:C2-E19-004"/>
          <p:cNvCxnSpPr/>
          <p:nvPr/>
        </p:nvCxnSpPr>
        <p:spPr>
          <a:xfrm flipV="1">
            <a:off x="4023360" y="1767840"/>
            <a:ext cx="975360" cy="103632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text5" descr="sci-ppt:C2-E19-005"/>
          <p:cNvSpPr txBox="1"/>
          <p:nvPr/>
        </p:nvSpPr>
        <p:spPr>
          <a:xfrm>
            <a:off x="5364480" y="1645920"/>
            <a:ext cx="573024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Actual PFC contact patch Gamma_s</a:t>
            </a:r>
          </a:p>
        </p:txBody>
      </p:sp>
      <p:sp>
        <p:nvSpPr>
          <p:cNvPr id="7" name="text6" descr="sci-ppt:C2-E19-006"/>
          <p:cNvSpPr txBox="1"/>
          <p:nvPr/>
        </p:nvSpPr>
        <p:spPr>
          <a:xfrm>
            <a:off x="5486400" y="2682240"/>
            <a:ext cx="573024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Full 4π R² requires complete contact.</a:t>
            </a:r>
          </a:p>
        </p:txBody>
      </p:sp>
      <p:sp>
        <p:nvSpPr>
          <p:cNvPr id="8" name="text7" descr="sci-ppt:C2-E19-007"/>
          <p:cNvSpPr txBox="1"/>
          <p:nvPr/>
        </p:nvSpPr>
        <p:spPr>
          <a:xfrm>
            <a:off x="1584960" y="4267200"/>
            <a:ext cx="9753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Bubble boundary and PFC evaporation surface can differ.</a:t>
            </a:r>
          </a:p>
        </p:txBody>
      </p:sp>
      <p:sp>
        <p:nvSpPr>
          <p:cNvPr id="9" name="text8" descr="sci-ppt:C2-E19-008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Γ_s: actual species interface</a:t>
            </a:r>
          </a:p>
        </p:txBody>
      </p:sp>
      <p:sp>
        <p:nvSpPr>
          <p:cNvPr id="10" name="text9" descr="sci-ppt:C2-E19-009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m_v,s, ṁ_v,s: vapor inventory and rate</a:t>
            </a:r>
          </a:p>
        </p:txBody>
      </p:sp>
      <p:sp>
        <p:nvSpPr>
          <p:cNvPr id="11" name="text10" descr="sci-ppt:C2-E19-010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dA: contacted surface patch</a:t>
            </a:r>
          </a:p>
        </p:txBody>
      </p:sp>
      <p:sp>
        <p:nvSpPr>
          <p:cNvPr id="12" name="text11" descr="sci-ppt:C2-E19-011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j_s: liquid → vapor</a:t>
            </a:r>
          </a:p>
        </p:txBody>
      </p:sp>
      <p:sp>
        <p:nvSpPr>
          <p:cNvPr id="13" name="text12" descr="sci-ppt:C2-E19-012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R: complete bubble radius only when applicable</a:t>
            </a:r>
          </a:p>
        </p:txBody>
      </p:sp>
      <p:sp>
        <p:nvSpPr>
          <p:cNvPr id="14" name="text13" descr="sci-ppt:C2-E19-013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π: full-sphere special case</a:t>
            </a:r>
          </a:p>
        </p:txBody>
      </p:sp>
      <p:sp>
        <p:nvSpPr>
          <p:cNvPr id="15" name="text14" descr="sci-ppt:C2-E19-014"/>
          <p:cNvSpPr txBox="1"/>
          <p:nvPr/>
        </p:nvSpPr>
        <p:spPr>
          <a:xfrm>
            <a:off x="365760" y="627888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PFC may occupy only a residual inclusion</a:t>
            </a:r>
          </a:p>
        </p:txBody>
      </p:sp>
      <p:sp>
        <p:nvSpPr>
          <p:cNvPr id="16" name="text15" descr="sci-ppt:C2-E19-015"/>
          <p:cNvSpPr txBox="1"/>
          <p:nvPr/>
        </p:nvSpPr>
        <p:spPr>
          <a:xfrm>
            <a:off x="365760" y="657148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Do not give every species the whole bubble area automatically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