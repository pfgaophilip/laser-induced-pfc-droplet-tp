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C1-E23 · Exact straight-column solution of the reduced model</a:t>
            </a:r>
          </a:p>
        </p:txBody>
      </p:sp>
      <p:sp>
        <p:nvSpPr>
          <p:cNvPr id="3" name="C1-E23 rect 1" descr="sci-ppt:o001"/>
          <p:cNvSpPr/>
          <p:nvPr/>
        </p:nvSpPr>
        <p:spPr>
          <a:xfrm>
            <a:off x="1188720" y="1417319"/>
            <a:ext cx="6400800" cy="640080"/>
          </a:xfrm>
          <a:prstGeom prst="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3 rect 2" descr="sci-ppt:o002"/>
          <p:cNvSpPr/>
          <p:nvPr/>
        </p:nvSpPr>
        <p:spPr>
          <a:xfrm>
            <a:off x="1005840" y="1325880"/>
            <a:ext cx="182880" cy="822960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1-E23 text 3" descr="sci-ppt:o003"/>
          <p:cNvSpPr txBox="1"/>
          <p:nvPr/>
        </p:nvSpPr>
        <p:spPr>
          <a:xfrm>
            <a:off x="731520" y="86868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driven end z = 0</a:t>
            </a:r>
          </a:p>
        </p:txBody>
      </p:sp>
      <p:sp>
        <p:nvSpPr>
          <p:cNvPr id="6" name="C1-E23 text 4" descr="sci-ppt:o004"/>
          <p:cNvSpPr txBox="1"/>
          <p:nvPr/>
        </p:nvSpPr>
        <p:spPr>
          <a:xfrm>
            <a:off x="6126480" y="86868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outlet z = L</a:t>
            </a:r>
          </a:p>
        </p:txBody>
      </p:sp>
      <p:cxnSp>
        <p:nvCxnSpPr>
          <p:cNvPr id="7" name="C1-E23 arrow 5" descr="sci-ppt:o005"/>
          <p:cNvCxnSpPr/>
          <p:nvPr/>
        </p:nvCxnSpPr>
        <p:spPr>
          <a:xfrm>
            <a:off x="173736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3 arrow 6" descr="sci-ppt:o006"/>
          <p:cNvCxnSpPr/>
          <p:nvPr/>
        </p:nvCxnSpPr>
        <p:spPr>
          <a:xfrm>
            <a:off x="301752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3 arrow 7" descr="sci-ppt:o007"/>
          <p:cNvCxnSpPr/>
          <p:nvPr/>
        </p:nvCxnSpPr>
        <p:spPr>
          <a:xfrm>
            <a:off x="4297679" y="1737360"/>
            <a:ext cx="822961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3 arrow 8" descr="sci-ppt:o008"/>
          <p:cNvCxnSpPr/>
          <p:nvPr/>
        </p:nvCxnSpPr>
        <p:spPr>
          <a:xfrm>
            <a:off x="557784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3 line 9" descr="sci-ppt:o009"/>
          <p:cNvCxnSpPr/>
          <p:nvPr/>
        </p:nvCxnSpPr>
        <p:spPr>
          <a:xfrm>
            <a:off x="1188720" y="2240280"/>
            <a:ext cx="640080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2" name="C1-E23 line 10" descr="sci-ppt:o010"/>
          <p:cNvCxnSpPr/>
          <p:nvPr/>
        </p:nvCxnSpPr>
        <p:spPr>
          <a:xfrm>
            <a:off x="1188720" y="2176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3" name="C1-E23 line 11" descr="sci-ppt:o011"/>
          <p:cNvCxnSpPr/>
          <p:nvPr/>
        </p:nvCxnSpPr>
        <p:spPr>
          <a:xfrm>
            <a:off x="7589520" y="2176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4" name="C1-E23 text 12" descr="sci-ppt:o012"/>
          <p:cNvSpPr txBox="1"/>
          <p:nvPr/>
        </p:nvSpPr>
        <p:spPr>
          <a:xfrm>
            <a:off x="3474720" y="2317242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L = 100 µm</a:t>
            </a:r>
          </a:p>
        </p:txBody>
      </p:sp>
      <p:cxnSp>
        <p:nvCxnSpPr>
          <p:cNvPr id="15" name="C1-E23 line 13" descr="sci-ppt:o013"/>
          <p:cNvCxnSpPr/>
          <p:nvPr/>
        </p:nvCxnSpPr>
        <p:spPr>
          <a:xfrm>
            <a:off x="118872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1-E23 line 14" descr="sci-ppt:o014"/>
          <p:cNvCxnSpPr/>
          <p:nvPr/>
        </p:nvCxnSpPr>
        <p:spPr>
          <a:xfrm>
            <a:off x="1188720" y="2743200"/>
            <a:ext cx="0" cy="22860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1-E23 line 15" descr="sci-ppt:o015"/>
          <p:cNvCxnSpPr/>
          <p:nvPr/>
        </p:nvCxnSpPr>
        <p:spPr>
          <a:xfrm>
            <a:off x="1188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3 line 16" descr="sci-ppt:o016"/>
          <p:cNvCxnSpPr/>
          <p:nvPr/>
        </p:nvCxnSpPr>
        <p:spPr>
          <a:xfrm>
            <a:off x="11887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3 text 17" descr="sci-ppt:o017"/>
          <p:cNvSpPr txBox="1"/>
          <p:nvPr/>
        </p:nvSpPr>
        <p:spPr>
          <a:xfrm>
            <a:off x="731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20" name="C1-E23 line 18" descr="sci-ppt:o018"/>
          <p:cNvCxnSpPr/>
          <p:nvPr/>
        </p:nvCxnSpPr>
        <p:spPr>
          <a:xfrm>
            <a:off x="2788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3 line 19" descr="sci-ppt:o019"/>
          <p:cNvCxnSpPr/>
          <p:nvPr/>
        </p:nvCxnSpPr>
        <p:spPr>
          <a:xfrm>
            <a:off x="27889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23 text 20" descr="sci-ppt:o020"/>
          <p:cNvSpPr txBox="1"/>
          <p:nvPr/>
        </p:nvSpPr>
        <p:spPr>
          <a:xfrm>
            <a:off x="2331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3" name="C1-E23 line 21" descr="sci-ppt:o021"/>
          <p:cNvCxnSpPr/>
          <p:nvPr/>
        </p:nvCxnSpPr>
        <p:spPr>
          <a:xfrm>
            <a:off x="4389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3 line 22" descr="sci-ppt:o022"/>
          <p:cNvCxnSpPr/>
          <p:nvPr/>
        </p:nvCxnSpPr>
        <p:spPr>
          <a:xfrm>
            <a:off x="43891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23 text 23" descr="sci-ppt:o023"/>
          <p:cNvSpPr txBox="1"/>
          <p:nvPr/>
        </p:nvSpPr>
        <p:spPr>
          <a:xfrm>
            <a:off x="3931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6" name="C1-E23 line 24" descr="sci-ppt:o024"/>
          <p:cNvCxnSpPr/>
          <p:nvPr/>
        </p:nvCxnSpPr>
        <p:spPr>
          <a:xfrm>
            <a:off x="5989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3 line 25" descr="sci-ppt:o025"/>
          <p:cNvCxnSpPr/>
          <p:nvPr/>
        </p:nvCxnSpPr>
        <p:spPr>
          <a:xfrm>
            <a:off x="59893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1-E23 text 26" descr="sci-ppt:o026"/>
          <p:cNvSpPr txBox="1"/>
          <p:nvPr/>
        </p:nvSpPr>
        <p:spPr>
          <a:xfrm>
            <a:off x="5532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29" name="C1-E23 line 27" descr="sci-ppt:o027"/>
          <p:cNvCxnSpPr/>
          <p:nvPr/>
        </p:nvCxnSpPr>
        <p:spPr>
          <a:xfrm>
            <a:off x="7589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3 line 28" descr="sci-ppt:o028"/>
          <p:cNvCxnSpPr/>
          <p:nvPr/>
        </p:nvCxnSpPr>
        <p:spPr>
          <a:xfrm>
            <a:off x="75895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1-E23 text 29" descr="sci-ppt:o029"/>
          <p:cNvSpPr txBox="1"/>
          <p:nvPr/>
        </p:nvSpPr>
        <p:spPr>
          <a:xfrm>
            <a:off x="7132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32" name="C1-E23 line 30" descr="sci-ppt:o030"/>
          <p:cNvCxnSpPr/>
          <p:nvPr/>
        </p:nvCxnSpPr>
        <p:spPr>
          <a:xfrm>
            <a:off x="11247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3 line 31" descr="sci-ppt:o031"/>
          <p:cNvCxnSpPr/>
          <p:nvPr/>
        </p:nvCxnSpPr>
        <p:spPr>
          <a:xfrm>
            <a:off x="1124712" y="3990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3 line 32" descr="sci-ppt:o032"/>
          <p:cNvCxnSpPr/>
          <p:nvPr/>
        </p:nvCxnSpPr>
        <p:spPr>
          <a:xfrm>
            <a:off x="1188720" y="3990109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1-E23 text 33" descr="sci-ppt:o033"/>
          <p:cNvSpPr txBox="1"/>
          <p:nvPr/>
        </p:nvSpPr>
        <p:spPr>
          <a:xfrm>
            <a:off x="320040" y="3907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6" name="C1-E23 line 34" descr="sci-ppt:o034"/>
          <p:cNvCxnSpPr/>
          <p:nvPr/>
        </p:nvCxnSpPr>
        <p:spPr>
          <a:xfrm>
            <a:off x="1124712" y="295101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1-E23 line 35" descr="sci-ppt:o035"/>
          <p:cNvCxnSpPr/>
          <p:nvPr/>
        </p:nvCxnSpPr>
        <p:spPr>
          <a:xfrm>
            <a:off x="1188720" y="2951018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1-E23 text 36" descr="sci-ppt:o036"/>
          <p:cNvSpPr txBox="1"/>
          <p:nvPr/>
        </p:nvSpPr>
        <p:spPr>
          <a:xfrm>
            <a:off x="320040" y="286872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39" name="C1-E23 text 37" descr="sci-ppt:o037"/>
          <p:cNvSpPr txBox="1"/>
          <p:nvPr/>
        </p:nvSpPr>
        <p:spPr>
          <a:xfrm>
            <a:off x="118872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 / L</a:t>
            </a:r>
          </a:p>
        </p:txBody>
      </p:sp>
      <p:sp>
        <p:nvSpPr>
          <p:cNvPr id="40" name="C1-E23 text 38" descr="sci-ppt:o038"/>
          <p:cNvSpPr txBox="1"/>
          <p:nvPr/>
        </p:nvSpPr>
        <p:spPr>
          <a:xfrm>
            <a:off x="640080" y="23957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Π / Π₀</a:t>
            </a:r>
          </a:p>
        </p:txBody>
      </p:sp>
      <p:sp>
        <p:nvSpPr>
          <p:cNvPr id="41" name="C1-E23 polygon 39" descr="sci-ppt:o039"/>
          <p:cNvSpPr/>
          <p:nvPr/>
        </p:nvSpPr>
        <p:spPr>
          <a:xfrm>
            <a:off x="1188720" y="2951018"/>
            <a:ext cx="6400800" cy="2078182"/>
          </a:xfrm>
          <a:custGeom>
            <a:avLst/>
            <a:gdLst/>
            <a:ahLst/>
            <a:cxnLst/>
            <a:rect l="l" t="t" r="r" b="b"/>
            <a:pathLst>
              <a:path w="6400800" h="2078182">
                <a:moveTo>
                  <a:pt x="0" y="0"/>
                </a:moveTo>
                <a:lnTo>
                  <a:pt x="130628" y="42412"/>
                </a:lnTo>
                <a:lnTo>
                  <a:pt x="261257" y="84823"/>
                </a:lnTo>
                <a:lnTo>
                  <a:pt x="391885" y="127235"/>
                </a:lnTo>
                <a:lnTo>
                  <a:pt x="522514" y="169647"/>
                </a:lnTo>
                <a:lnTo>
                  <a:pt x="653142" y="212059"/>
                </a:lnTo>
                <a:lnTo>
                  <a:pt x="783771" y="254471"/>
                </a:lnTo>
                <a:lnTo>
                  <a:pt x="914400" y="296883"/>
                </a:lnTo>
                <a:lnTo>
                  <a:pt x="1045028" y="339295"/>
                </a:lnTo>
                <a:lnTo>
                  <a:pt x="1175657" y="381707"/>
                </a:lnTo>
                <a:lnTo>
                  <a:pt x="1306285" y="424118"/>
                </a:lnTo>
                <a:lnTo>
                  <a:pt x="1436914" y="466530"/>
                </a:lnTo>
                <a:lnTo>
                  <a:pt x="1567542" y="508942"/>
                </a:lnTo>
                <a:lnTo>
                  <a:pt x="1698171" y="551354"/>
                </a:lnTo>
                <a:lnTo>
                  <a:pt x="1828800" y="593766"/>
                </a:lnTo>
                <a:lnTo>
                  <a:pt x="1959428" y="636178"/>
                </a:lnTo>
                <a:lnTo>
                  <a:pt x="2090057" y="678590"/>
                </a:lnTo>
                <a:lnTo>
                  <a:pt x="2220685" y="721002"/>
                </a:lnTo>
                <a:lnTo>
                  <a:pt x="2351314" y="763413"/>
                </a:lnTo>
                <a:lnTo>
                  <a:pt x="2481942" y="805825"/>
                </a:lnTo>
                <a:lnTo>
                  <a:pt x="2612571" y="848237"/>
                </a:lnTo>
                <a:lnTo>
                  <a:pt x="2743200" y="890649"/>
                </a:lnTo>
                <a:lnTo>
                  <a:pt x="2873828" y="933061"/>
                </a:lnTo>
                <a:lnTo>
                  <a:pt x="3004457" y="975473"/>
                </a:lnTo>
                <a:lnTo>
                  <a:pt x="3135085" y="1017885"/>
                </a:lnTo>
                <a:lnTo>
                  <a:pt x="3265714" y="1060297"/>
                </a:lnTo>
                <a:lnTo>
                  <a:pt x="3396342" y="1102708"/>
                </a:lnTo>
                <a:lnTo>
                  <a:pt x="3526971" y="1145120"/>
                </a:lnTo>
                <a:lnTo>
                  <a:pt x="3657600" y="1187532"/>
                </a:lnTo>
                <a:lnTo>
                  <a:pt x="3788228" y="1229944"/>
                </a:lnTo>
                <a:lnTo>
                  <a:pt x="3918857" y="1272356"/>
                </a:lnTo>
                <a:lnTo>
                  <a:pt x="4049485" y="1314768"/>
                </a:lnTo>
                <a:lnTo>
                  <a:pt x="4180114" y="1357180"/>
                </a:lnTo>
                <a:lnTo>
                  <a:pt x="4310742" y="1399592"/>
                </a:lnTo>
                <a:lnTo>
                  <a:pt x="4441371" y="1442003"/>
                </a:lnTo>
                <a:lnTo>
                  <a:pt x="4572000" y="1484415"/>
                </a:lnTo>
                <a:lnTo>
                  <a:pt x="4702628" y="1526827"/>
                </a:lnTo>
                <a:lnTo>
                  <a:pt x="4833257" y="1569239"/>
                </a:lnTo>
                <a:lnTo>
                  <a:pt x="4963885" y="1611651"/>
                </a:lnTo>
                <a:lnTo>
                  <a:pt x="5094514" y="1654063"/>
                </a:lnTo>
                <a:lnTo>
                  <a:pt x="5225142" y="1696475"/>
                </a:lnTo>
                <a:lnTo>
                  <a:pt x="5355771" y="1738887"/>
                </a:lnTo>
                <a:lnTo>
                  <a:pt x="5486400" y="1781298"/>
                </a:lnTo>
                <a:lnTo>
                  <a:pt x="5617028" y="1823710"/>
                </a:lnTo>
                <a:lnTo>
                  <a:pt x="5747657" y="1866122"/>
                </a:lnTo>
                <a:lnTo>
                  <a:pt x="5878285" y="1908534"/>
                </a:lnTo>
                <a:lnTo>
                  <a:pt x="6008914" y="1950946"/>
                </a:lnTo>
                <a:lnTo>
                  <a:pt x="6139542" y="1993358"/>
                </a:lnTo>
                <a:lnTo>
                  <a:pt x="6270171" y="2035770"/>
                </a:lnTo>
                <a:lnTo>
                  <a:pt x="6400800" y="2078182"/>
                </a:lnTo>
              </a:path>
            </a:pathLst>
          </a:custGeom>
          <a:noFill/>
          <a:ln w="406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23 ellipse 40" descr="sci-ppt:o040"/>
          <p:cNvSpPr/>
          <p:nvPr/>
        </p:nvSpPr>
        <p:spPr>
          <a:xfrm>
            <a:off x="1115568" y="28778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23 ellipse 41" descr="sci-ppt:o041"/>
          <p:cNvSpPr/>
          <p:nvPr/>
        </p:nvSpPr>
        <p:spPr>
          <a:xfrm>
            <a:off x="7516368" y="495604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3 text 42" descr="sci-ppt:o042"/>
          <p:cNvSpPr txBox="1"/>
          <p:nvPr/>
        </p:nvSpPr>
        <p:spPr>
          <a:xfrm>
            <a:off x="3566160" y="3441469"/>
            <a:ext cx="27432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Π(z) = Π₀(1 − z/L)</a:t>
            </a:r>
          </a:p>
        </p:txBody>
      </p:sp>
      <p:sp>
        <p:nvSpPr>
          <p:cNvPr id="45" name="C1-E23 round_rect 43" descr="sci-ppt:o043"/>
          <p:cNvSpPr/>
          <p:nvPr/>
        </p:nvSpPr>
        <p:spPr>
          <a:xfrm>
            <a:off x="8138160" y="1097280"/>
            <a:ext cx="3703320" cy="4206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23 text 44" descr="sci-ppt:o044"/>
          <p:cNvSpPr txBox="1"/>
          <p:nvPr/>
        </p:nvSpPr>
        <p:spPr>
          <a:xfrm>
            <a:off x="8247888" y="1152144"/>
            <a:ext cx="348386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Straight column</a:t>
            </a:r>
          </a:p>
        </p:txBody>
      </p:sp>
      <p:sp>
        <p:nvSpPr>
          <p:cNvPr id="47" name="C1-E23 text 45" descr="sci-ppt:o045"/>
          <p:cNvSpPr txBox="1"/>
          <p:nvPr/>
        </p:nvSpPr>
        <p:spPr>
          <a:xfrm>
            <a:off x="8275320" y="1554480"/>
            <a:ext cx="347472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d²Π/dz² = 0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Π = Π₀ (1 − z/L)</a:t>
            </a:r>
          </a:p>
        </p:txBody>
      </p:sp>
      <p:sp>
        <p:nvSpPr>
          <p:cNvPr id="48" name="C1-E23 text 46" descr="sci-ppt:o046"/>
          <p:cNvSpPr txBox="1"/>
          <p:nvPr/>
        </p:nvSpPr>
        <p:spPr>
          <a:xfrm>
            <a:off x="8275320" y="2331720"/>
            <a:ext cx="34747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Δu_z = −(1/ρ) dΠ/dz = Π₀ / (ρL)</a:t>
            </a:r>
          </a:p>
        </p:txBody>
      </p:sp>
      <p:sp>
        <p:nvSpPr>
          <p:cNvPr id="49" name="C1-E23 text 47" descr="sci-ppt:o047"/>
          <p:cNvSpPr txBox="1"/>
          <p:nvPr/>
        </p:nvSpPr>
        <p:spPr>
          <a:xfrm>
            <a:off x="8275320" y="2926080"/>
            <a:ext cx="34747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With Π₀ = 0.30 Pa·s, ρ = 1000 kg/m³, L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100 µm:</a:t>
            </a:r>
          </a:p>
        </p:txBody>
      </p:sp>
      <p:sp>
        <p:nvSpPr>
          <p:cNvPr id="50" name="C1-E23 text 48" descr="sci-ppt:o048"/>
          <p:cNvSpPr txBox="1"/>
          <p:nvPr/>
        </p:nvSpPr>
        <p:spPr>
          <a:xfrm>
            <a:off x="8275320" y="3429000"/>
            <a:ext cx="347472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2B880"/>
                </a:solidFill>
                <a:latin typeface="Arial"/>
              </a:rPr>
              <a:t>Δu_z = 3.0 m/s</a:t>
            </a:r>
          </a:p>
        </p:txBody>
      </p:sp>
      <p:sp>
        <p:nvSpPr>
          <p:cNvPr id="51" name="C1-E23 text 49" descr="sci-ppt:o049"/>
          <p:cNvSpPr txBox="1"/>
          <p:nvPr/>
        </p:nvSpPr>
        <p:spPr>
          <a:xfrm>
            <a:off x="8275320" y="4023360"/>
            <a:ext cx="347472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impulse drops linearly, so every slice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gets the same velocity change toward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outlet.</a:t>
            </a:r>
          </a:p>
        </p:txBody>
      </p:sp>
      <p:sp>
        <p:nvSpPr>
          <p:cNvPr id="52" name="C1-E23 text 50" descr="sci-ppt:o050"/>
          <p:cNvSpPr txBox="1"/>
          <p:nvPr/>
        </p:nvSpPr>
        <p:spPr>
          <a:xfrm>
            <a:off x="457200" y="5669280"/>
            <a:ext cx="113385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A constant gradient means uniform acceleration: the whole column leaves the driven end as one plug.</a:t>
            </a:r>
          </a:p>
        </p:txBody>
      </p:sp>
      <p:sp>
        <p:nvSpPr>
          <p:cNvPr id="53" name="C1-E23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values Π(0) = Π₀, Π(L) = 0 (Eq. C1-E23).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