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C1-E23 · Short-event reduced pressure-impulse model</a:t>
            </a:r>
          </a:p>
        </p:txBody>
      </p:sp>
      <p:sp>
        <p:nvSpPr>
          <p:cNvPr id="3" name="C1-E23 polygon 1" descr="sci-ppt:o001"/>
          <p:cNvSpPr/>
          <p:nvPr/>
        </p:nvSpPr>
        <p:spPr>
          <a:xfrm>
            <a:off x="1005840" y="109728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0" y="4572000"/>
                </a:moveTo>
                <a:lnTo>
                  <a:pt x="4572000" y="4572000"/>
                </a:lnTo>
                <a:lnTo>
                  <a:pt x="4568292" y="4387904"/>
                </a:lnTo>
                <a:lnTo>
                  <a:pt x="4557174" y="4204106"/>
                </a:lnTo>
                <a:lnTo>
                  <a:pt x="4538664" y="4020906"/>
                </a:lnTo>
                <a:lnTo>
                  <a:pt x="4512793" y="3838599"/>
                </a:lnTo>
                <a:lnTo>
                  <a:pt x="4479602" y="3657482"/>
                </a:lnTo>
                <a:lnTo>
                  <a:pt x="4439145" y="3477848"/>
                </a:lnTo>
                <a:lnTo>
                  <a:pt x="4391488" y="3299989"/>
                </a:lnTo>
                <a:lnTo>
                  <a:pt x="4336708" y="3124193"/>
                </a:lnTo>
                <a:lnTo>
                  <a:pt x="4274894" y="2950746"/>
                </a:lnTo>
                <a:lnTo>
                  <a:pt x="4206146" y="2779928"/>
                </a:lnTo>
                <a:lnTo>
                  <a:pt x="4130575" y="2612017"/>
                </a:lnTo>
                <a:lnTo>
                  <a:pt x="4048304" y="2447285"/>
                </a:lnTo>
                <a:lnTo>
                  <a:pt x="3959468" y="2286000"/>
                </a:lnTo>
                <a:lnTo>
                  <a:pt x="3864209" y="2128422"/>
                </a:lnTo>
                <a:lnTo>
                  <a:pt x="3762682" y="1974807"/>
                </a:lnTo>
                <a:lnTo>
                  <a:pt x="3655052" y="1825406"/>
                </a:lnTo>
                <a:lnTo>
                  <a:pt x="3541493" y="1680459"/>
                </a:lnTo>
                <a:lnTo>
                  <a:pt x="3422191" y="1540203"/>
                </a:lnTo>
                <a:lnTo>
                  <a:pt x="3297337" y="1404864"/>
                </a:lnTo>
                <a:lnTo>
                  <a:pt x="3167135" y="1274662"/>
                </a:lnTo>
                <a:lnTo>
                  <a:pt x="3031796" y="1149808"/>
                </a:lnTo>
                <a:lnTo>
                  <a:pt x="2891540" y="1030506"/>
                </a:lnTo>
                <a:lnTo>
                  <a:pt x="2746593" y="916947"/>
                </a:lnTo>
                <a:lnTo>
                  <a:pt x="2597192" y="809317"/>
                </a:lnTo>
                <a:lnTo>
                  <a:pt x="2443577" y="707790"/>
                </a:lnTo>
                <a:lnTo>
                  <a:pt x="2286000" y="612531"/>
                </a:lnTo>
                <a:lnTo>
                  <a:pt x="2124714" y="523695"/>
                </a:lnTo>
                <a:lnTo>
                  <a:pt x="1959982" y="441424"/>
                </a:lnTo>
                <a:lnTo>
                  <a:pt x="1792071" y="365853"/>
                </a:lnTo>
                <a:lnTo>
                  <a:pt x="1621253" y="297105"/>
                </a:lnTo>
                <a:lnTo>
                  <a:pt x="1447806" y="235291"/>
                </a:lnTo>
                <a:lnTo>
                  <a:pt x="1272010" y="180511"/>
                </a:lnTo>
                <a:lnTo>
                  <a:pt x="1094151" y="132854"/>
                </a:lnTo>
                <a:lnTo>
                  <a:pt x="914517" y="92397"/>
                </a:lnTo>
                <a:lnTo>
                  <a:pt x="733400" y="59206"/>
                </a:lnTo>
                <a:lnTo>
                  <a:pt x="551093" y="33335"/>
                </a:lnTo>
                <a:lnTo>
                  <a:pt x="367893" y="14825"/>
                </a:lnTo>
                <a:lnTo>
                  <a:pt x="184095" y="3707"/>
                </a:lnTo>
                <a:lnTo>
                  <a:pt x="0" y="0"/>
                </a:lnTo>
                <a:close/>
              </a:path>
            </a:pathLst>
          </a:custGeom>
          <a:solidFill>
            <a:srgbClr val="1E4A5A"/>
          </a:solidFill>
          <a:ln w="1778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1-E23 line 2" descr="sci-ppt:o002"/>
          <p:cNvCxnSpPr/>
          <p:nvPr/>
        </p:nvCxnSpPr>
        <p:spPr>
          <a:xfrm flipV="1">
            <a:off x="1005840" y="4256454"/>
            <a:ext cx="4348230" cy="1412826"/>
          </a:xfrm>
          <a:prstGeom prst="line">
            <a:avLst/>
          </a:prstGeom>
          <a:ln w="13970">
            <a:solidFill>
              <a:srgbClr val="B4C7D2"/>
            </a:solidFill>
            <a:prstDash val="dash"/>
          </a:ln>
          <a:effectLst/>
        </p:spPr>
      </p:cxnSp>
      <p:sp>
        <p:nvSpPr>
          <p:cNvPr id="5" name="C1-E23 text 3" descr="sci-ppt:o003"/>
          <p:cNvSpPr txBox="1"/>
          <p:nvPr/>
        </p:nvSpPr>
        <p:spPr>
          <a:xfrm>
            <a:off x="5397552" y="415088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Π = 0.8 Π₀</a:t>
            </a:r>
          </a:p>
        </p:txBody>
      </p:sp>
      <p:cxnSp>
        <p:nvCxnSpPr>
          <p:cNvPr id="6" name="C1-E23 line 4" descr="sci-ppt:o004"/>
          <p:cNvCxnSpPr/>
          <p:nvPr/>
        </p:nvCxnSpPr>
        <p:spPr>
          <a:xfrm flipV="1">
            <a:off x="1005840" y="2981925"/>
            <a:ext cx="3698825" cy="2687355"/>
          </a:xfrm>
          <a:prstGeom prst="line">
            <a:avLst/>
          </a:prstGeom>
          <a:ln w="13970">
            <a:solidFill>
              <a:srgbClr val="B4C7D2"/>
            </a:solidFill>
            <a:prstDash val="dash"/>
          </a:ln>
          <a:effectLst/>
        </p:spPr>
      </p:cxnSp>
      <p:sp>
        <p:nvSpPr>
          <p:cNvPr id="7" name="C1-E23 text 5" descr="sci-ppt:o005"/>
          <p:cNvSpPr txBox="1"/>
          <p:nvPr/>
        </p:nvSpPr>
        <p:spPr>
          <a:xfrm>
            <a:off x="4741653" y="2863612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Π = 0.6 Π₀</a:t>
            </a:r>
          </a:p>
        </p:txBody>
      </p:sp>
      <p:cxnSp>
        <p:nvCxnSpPr>
          <p:cNvPr id="8" name="C1-E23 line 6" descr="sci-ppt:o006"/>
          <p:cNvCxnSpPr/>
          <p:nvPr/>
        </p:nvCxnSpPr>
        <p:spPr>
          <a:xfrm flipV="1">
            <a:off x="1005840" y="1970454"/>
            <a:ext cx="2687354" cy="3698826"/>
          </a:xfrm>
          <a:prstGeom prst="line">
            <a:avLst/>
          </a:prstGeom>
          <a:ln w="13970">
            <a:solidFill>
              <a:srgbClr val="B4C7D2"/>
            </a:solidFill>
            <a:prstDash val="dash"/>
          </a:ln>
          <a:effectLst/>
        </p:spPr>
      </p:cxnSp>
      <p:sp>
        <p:nvSpPr>
          <p:cNvPr id="9" name="C1-E23 text 7" descr="sci-ppt:o007"/>
          <p:cNvSpPr txBox="1"/>
          <p:nvPr/>
        </p:nvSpPr>
        <p:spPr>
          <a:xfrm>
            <a:off x="3720067" y="184202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Π = 0.4 Π₀</a:t>
            </a:r>
          </a:p>
        </p:txBody>
      </p:sp>
      <p:cxnSp>
        <p:nvCxnSpPr>
          <p:cNvPr id="10" name="C1-E23 line 8" descr="sci-ppt:o008"/>
          <p:cNvCxnSpPr/>
          <p:nvPr/>
        </p:nvCxnSpPr>
        <p:spPr>
          <a:xfrm flipV="1">
            <a:off x="1005840" y="1321049"/>
            <a:ext cx="1412825" cy="4348231"/>
          </a:xfrm>
          <a:prstGeom prst="line">
            <a:avLst/>
          </a:prstGeom>
          <a:ln w="13970">
            <a:solidFill>
              <a:srgbClr val="B4C7D2"/>
            </a:solidFill>
            <a:prstDash val="dash"/>
          </a:ln>
          <a:effectLst/>
        </p:spPr>
      </p:cxnSp>
      <p:sp>
        <p:nvSpPr>
          <p:cNvPr id="11" name="C1-E23 text 9" descr="sci-ppt:o009"/>
          <p:cNvSpPr txBox="1"/>
          <p:nvPr/>
        </p:nvSpPr>
        <p:spPr>
          <a:xfrm>
            <a:off x="2432793" y="1186127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Π = 0.2 Π₀</a:t>
            </a:r>
          </a:p>
        </p:txBody>
      </p:sp>
      <p:cxnSp>
        <p:nvCxnSpPr>
          <p:cNvPr id="12" name="C1-E23 line 10" descr="sci-ppt:o010"/>
          <p:cNvCxnSpPr/>
          <p:nvPr/>
        </p:nvCxnSpPr>
        <p:spPr>
          <a:xfrm>
            <a:off x="1005840" y="5669280"/>
            <a:ext cx="4572000" cy="0"/>
          </a:xfrm>
          <a:prstGeom prst="line">
            <a:avLst/>
          </a:prstGeom>
          <a:ln w="50800">
            <a:solidFill>
              <a:srgbClr val="F2B880"/>
            </a:solidFill>
          </a:ln>
          <a:effectLst/>
        </p:spPr>
      </p:cxnSp>
      <p:sp>
        <p:nvSpPr>
          <p:cNvPr id="13" name="C1-E23 text 11" descr="sci-ppt:o011"/>
          <p:cNvSpPr txBox="1"/>
          <p:nvPr/>
        </p:nvSpPr>
        <p:spPr>
          <a:xfrm>
            <a:off x="1920240" y="5742432"/>
            <a:ext cx="2926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driven boundary: Π = Π₀</a:t>
            </a:r>
          </a:p>
        </p:txBody>
      </p:sp>
      <p:cxnSp>
        <p:nvCxnSpPr>
          <p:cNvPr id="14" name="C1-E23 line 12" descr="sci-ppt:o012"/>
          <p:cNvCxnSpPr/>
          <p:nvPr/>
        </p:nvCxnSpPr>
        <p:spPr>
          <a:xfrm flipV="1">
            <a:off x="1005840" y="1097280"/>
            <a:ext cx="0" cy="4572000"/>
          </a:xfrm>
          <a:prstGeom prst="line">
            <a:avLst/>
          </a:prstGeom>
          <a:ln w="50800">
            <a:solidFill>
              <a:srgbClr val="8EDBD4"/>
            </a:solidFill>
          </a:ln>
          <a:effectLst/>
        </p:spPr>
      </p:cxnSp>
      <p:sp>
        <p:nvSpPr>
          <p:cNvPr id="15" name="C1-E23 text 13" descr="sci-ppt:o013"/>
          <p:cNvSpPr txBox="1"/>
          <p:nvPr/>
        </p:nvSpPr>
        <p:spPr>
          <a:xfrm>
            <a:off x="1097280" y="777240"/>
            <a:ext cx="31089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free boundary: Π = 0</a:t>
            </a:r>
          </a:p>
        </p:txBody>
      </p:sp>
      <p:sp>
        <p:nvSpPr>
          <p:cNvPr id="16" name="C1-E23 polygon 14" descr="sci-ppt:o014"/>
          <p:cNvSpPr/>
          <p:nvPr/>
        </p:nvSpPr>
        <p:spPr>
          <a:xfrm>
            <a:off x="1169815" y="4584321"/>
            <a:ext cx="920983" cy="920983"/>
          </a:xfrm>
          <a:custGeom>
            <a:avLst/>
            <a:gdLst/>
            <a:ahLst/>
            <a:cxnLst/>
            <a:rect l="l" t="t" r="r" b="b"/>
            <a:pathLst>
              <a:path w="920983" h="920983">
                <a:moveTo>
                  <a:pt x="920983" y="920983"/>
                </a:moveTo>
                <a:lnTo>
                  <a:pt x="907598" y="848837"/>
                </a:lnTo>
                <a:lnTo>
                  <a:pt x="889421" y="777748"/>
                </a:lnTo>
                <a:lnTo>
                  <a:pt x="866534" y="708032"/>
                </a:lnTo>
                <a:lnTo>
                  <a:pt x="839038" y="640001"/>
                </a:lnTo>
                <a:lnTo>
                  <a:pt x="807057" y="573960"/>
                </a:lnTo>
                <a:lnTo>
                  <a:pt x="770734" y="510205"/>
                </a:lnTo>
                <a:lnTo>
                  <a:pt x="730231" y="449019"/>
                </a:lnTo>
                <a:lnTo>
                  <a:pt x="685729" y="390678"/>
                </a:lnTo>
                <a:lnTo>
                  <a:pt x="637427" y="335441"/>
                </a:lnTo>
                <a:lnTo>
                  <a:pt x="585542" y="283556"/>
                </a:lnTo>
                <a:lnTo>
                  <a:pt x="530305" y="235254"/>
                </a:lnTo>
                <a:lnTo>
                  <a:pt x="471964" y="190752"/>
                </a:lnTo>
                <a:lnTo>
                  <a:pt x="410778" y="150249"/>
                </a:lnTo>
                <a:lnTo>
                  <a:pt x="347023" y="113926"/>
                </a:lnTo>
                <a:lnTo>
                  <a:pt x="280982" y="81945"/>
                </a:lnTo>
                <a:lnTo>
                  <a:pt x="212951" y="54449"/>
                </a:lnTo>
                <a:lnTo>
                  <a:pt x="143235" y="31562"/>
                </a:lnTo>
                <a:lnTo>
                  <a:pt x="72146" y="13385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F2B880">
                <a:alpha val="7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1-E23 arrow 15" descr="sci-ppt:o015"/>
          <p:cNvCxnSpPr/>
          <p:nvPr/>
        </p:nvCxnSpPr>
        <p:spPr>
          <a:xfrm flipH="1" flipV="1">
            <a:off x="1240263" y="4443583"/>
            <a:ext cx="460134" cy="376218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C1-E23 polygon 16" descr="sci-ppt:o016"/>
          <p:cNvSpPr/>
          <p:nvPr/>
        </p:nvSpPr>
        <p:spPr>
          <a:xfrm>
            <a:off x="1333790" y="3499362"/>
            <a:ext cx="1841967" cy="1841967"/>
          </a:xfrm>
          <a:custGeom>
            <a:avLst/>
            <a:gdLst/>
            <a:ahLst/>
            <a:cxnLst/>
            <a:rect l="l" t="t" r="r" b="b"/>
            <a:pathLst>
              <a:path w="1841967" h="1841967">
                <a:moveTo>
                  <a:pt x="1841967" y="1841967"/>
                </a:moveTo>
                <a:lnTo>
                  <a:pt x="1815197" y="1697675"/>
                </a:lnTo>
                <a:lnTo>
                  <a:pt x="1778843" y="1555496"/>
                </a:lnTo>
                <a:lnTo>
                  <a:pt x="1733068" y="1416064"/>
                </a:lnTo>
                <a:lnTo>
                  <a:pt x="1678077" y="1280003"/>
                </a:lnTo>
                <a:lnTo>
                  <a:pt x="1614115" y="1147921"/>
                </a:lnTo>
                <a:lnTo>
                  <a:pt x="1541468" y="1020410"/>
                </a:lnTo>
                <a:lnTo>
                  <a:pt x="1460462" y="898039"/>
                </a:lnTo>
                <a:lnTo>
                  <a:pt x="1371458" y="781356"/>
                </a:lnTo>
                <a:lnTo>
                  <a:pt x="1274855" y="670882"/>
                </a:lnTo>
                <a:lnTo>
                  <a:pt x="1171085" y="567112"/>
                </a:lnTo>
                <a:lnTo>
                  <a:pt x="1060611" y="470509"/>
                </a:lnTo>
                <a:lnTo>
                  <a:pt x="943928" y="381505"/>
                </a:lnTo>
                <a:lnTo>
                  <a:pt x="821557" y="300499"/>
                </a:lnTo>
                <a:lnTo>
                  <a:pt x="694046" y="227852"/>
                </a:lnTo>
                <a:lnTo>
                  <a:pt x="561964" y="163890"/>
                </a:lnTo>
                <a:lnTo>
                  <a:pt x="425903" y="108899"/>
                </a:lnTo>
                <a:lnTo>
                  <a:pt x="286471" y="63124"/>
                </a:lnTo>
                <a:lnTo>
                  <a:pt x="144292" y="2677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F2B880">
                <a:alpha val="7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1-E23 arrow 17" descr="sci-ppt:o017"/>
          <p:cNvCxnSpPr/>
          <p:nvPr/>
        </p:nvCxnSpPr>
        <p:spPr>
          <a:xfrm flipH="1" flipV="1">
            <a:off x="2164888" y="3782214"/>
            <a:ext cx="230067" cy="188109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20" name="C1-E23 polygon 18" descr="sci-ppt:o018"/>
          <p:cNvSpPr/>
          <p:nvPr/>
        </p:nvSpPr>
        <p:spPr>
          <a:xfrm>
            <a:off x="1497766" y="2414403"/>
            <a:ext cx="2762950" cy="2762950"/>
          </a:xfrm>
          <a:custGeom>
            <a:avLst/>
            <a:gdLst/>
            <a:ahLst/>
            <a:cxnLst/>
            <a:rect l="l" t="t" r="r" b="b"/>
            <a:pathLst>
              <a:path w="2762950" h="2762950">
                <a:moveTo>
                  <a:pt x="2762950" y="2762950"/>
                </a:moveTo>
                <a:lnTo>
                  <a:pt x="2722795" y="2546513"/>
                </a:lnTo>
                <a:lnTo>
                  <a:pt x="2668264" y="2333244"/>
                </a:lnTo>
                <a:lnTo>
                  <a:pt x="2599602" y="2124096"/>
                </a:lnTo>
                <a:lnTo>
                  <a:pt x="2517114" y="1920004"/>
                </a:lnTo>
                <a:lnTo>
                  <a:pt x="2421171" y="1721882"/>
                </a:lnTo>
                <a:lnTo>
                  <a:pt x="2312202" y="1530615"/>
                </a:lnTo>
                <a:lnTo>
                  <a:pt x="2190692" y="1347059"/>
                </a:lnTo>
                <a:lnTo>
                  <a:pt x="2057187" y="1172034"/>
                </a:lnTo>
                <a:lnTo>
                  <a:pt x="1912282" y="1006323"/>
                </a:lnTo>
                <a:lnTo>
                  <a:pt x="1756627" y="850668"/>
                </a:lnTo>
                <a:lnTo>
                  <a:pt x="1590916" y="705763"/>
                </a:lnTo>
                <a:lnTo>
                  <a:pt x="1415891" y="572258"/>
                </a:lnTo>
                <a:lnTo>
                  <a:pt x="1232335" y="450748"/>
                </a:lnTo>
                <a:lnTo>
                  <a:pt x="1041068" y="341779"/>
                </a:lnTo>
                <a:lnTo>
                  <a:pt x="842946" y="245836"/>
                </a:lnTo>
                <a:lnTo>
                  <a:pt x="638854" y="163348"/>
                </a:lnTo>
                <a:lnTo>
                  <a:pt x="429706" y="94686"/>
                </a:lnTo>
                <a:lnTo>
                  <a:pt x="216437" y="40155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F2B880">
                <a:alpha val="7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1-E23 arrow 19" descr="sci-ppt:o019"/>
          <p:cNvCxnSpPr/>
          <p:nvPr/>
        </p:nvCxnSpPr>
        <p:spPr>
          <a:xfrm flipH="1" flipV="1">
            <a:off x="2936135" y="2995439"/>
            <a:ext cx="153378" cy="125406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22" name="C1-E23 text 20" descr="sci-ppt:o020"/>
          <p:cNvSpPr txBox="1"/>
          <p:nvPr/>
        </p:nvSpPr>
        <p:spPr>
          <a:xfrm>
            <a:off x="6858000" y="1005840"/>
            <a:ext cx="49377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Reduced model: ∇²Π = 0</a:t>
            </a:r>
          </a:p>
        </p:txBody>
      </p:sp>
      <p:sp>
        <p:nvSpPr>
          <p:cNvPr id="23" name="C1-E23 text 21" descr="sci-ppt:o021"/>
          <p:cNvSpPr txBox="1"/>
          <p:nvPr/>
        </p:nvSpPr>
        <p:spPr>
          <a:xfrm>
            <a:off x="7059168" y="1508760"/>
            <a:ext cx="473659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Incompressible short event: ∇·Δu = 0 and Δu ≃ −∇Π/ρ give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Laplace's equation for Π.</a:t>
            </a:r>
          </a:p>
        </p:txBody>
      </p:sp>
      <p:sp>
        <p:nvSpPr>
          <p:cNvPr id="24" name="C1-E23 ellipse 22" descr="sci-ppt:o022"/>
          <p:cNvSpPr/>
          <p:nvPr/>
        </p:nvSpPr>
        <p:spPr>
          <a:xfrm>
            <a:off x="6890004" y="1566037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1-E23 text 23" descr="sci-ppt:o023"/>
          <p:cNvSpPr txBox="1"/>
          <p:nvPr/>
        </p:nvSpPr>
        <p:spPr>
          <a:xfrm>
            <a:off x="7059168" y="1987549"/>
            <a:ext cx="4736592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Π is fixed on the boundaries (Π₀ on the driven wall, 0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at the free surface); the interior follows from geometry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alone.</a:t>
            </a:r>
          </a:p>
        </p:txBody>
      </p:sp>
      <p:sp>
        <p:nvSpPr>
          <p:cNvPr id="26" name="C1-E23 ellipse 24" descr="sci-ppt:o024"/>
          <p:cNvSpPr/>
          <p:nvPr/>
        </p:nvSpPr>
        <p:spPr>
          <a:xfrm>
            <a:off x="6890004" y="204482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1-E23 text 25" descr="sci-ppt:o025"/>
          <p:cNvSpPr txBox="1"/>
          <p:nvPr/>
        </p:nvSpPr>
        <p:spPr>
          <a:xfrm>
            <a:off x="7059168" y="2660014"/>
            <a:ext cx="4736592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Here Π = Π₀(1 − θ/θ₀) in a right-angle corner is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harmonic, so Δu points along circular arcs toward the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free side.</a:t>
            </a:r>
          </a:p>
        </p:txBody>
      </p:sp>
      <p:sp>
        <p:nvSpPr>
          <p:cNvPr id="28" name="C1-E23 ellipse 26" descr="sci-ppt:o026"/>
          <p:cNvSpPr/>
          <p:nvPr/>
        </p:nvSpPr>
        <p:spPr>
          <a:xfrm>
            <a:off x="6890004" y="2717291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23 text 27" descr="sci-ppt:o027"/>
          <p:cNvSpPr txBox="1"/>
          <p:nvPr/>
        </p:nvSpPr>
        <p:spPr>
          <a:xfrm>
            <a:off x="7059168" y="3332479"/>
            <a:ext cx="473659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Arrow length ∝ 1/r: the impulse gradient is steepest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near the corner.</a:t>
            </a:r>
          </a:p>
        </p:txBody>
      </p:sp>
      <p:sp>
        <p:nvSpPr>
          <p:cNvPr id="30" name="C1-E23 ellipse 28" descr="sci-ppt:o028"/>
          <p:cNvSpPr/>
          <p:nvPr/>
        </p:nvSpPr>
        <p:spPr>
          <a:xfrm>
            <a:off x="6890004" y="338975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1-E23 round_rect 29" descr="sci-ppt:o029"/>
          <p:cNvSpPr/>
          <p:nvPr/>
        </p:nvSpPr>
        <p:spPr>
          <a:xfrm>
            <a:off x="6858000" y="4572000"/>
            <a:ext cx="4937760" cy="16002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23 text 30" descr="sci-ppt:o030"/>
          <p:cNvSpPr txBox="1"/>
          <p:nvPr/>
        </p:nvSpPr>
        <p:spPr>
          <a:xfrm>
            <a:off x="6995160" y="4636008"/>
            <a:ext cx="46634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Conditions: Uτ/L ≪ 1 and ντ/L² ≪ 1.</a:t>
            </a:r>
          </a:p>
        </p:txBody>
      </p:sp>
      <p:sp>
        <p:nvSpPr>
          <p:cNvPr id="33" name="C1-E23 text 31" descr="sci-ppt:o031"/>
          <p:cNvSpPr txBox="1"/>
          <p:nvPr/>
        </p:nvSpPr>
        <p:spPr>
          <a:xfrm>
            <a:off x="6995160" y="5029200"/>
            <a:ext cx="466344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Result: the velocity right after the pulse depends on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the shape of the liquid region, not on a detailed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pressure history.</a:t>
            </a:r>
          </a:p>
        </p:txBody>
      </p:sp>
      <p:sp>
        <p:nvSpPr>
          <p:cNvPr id="34" name="C1-E23 text 32" descr="sci-ppt:o03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Corner example: an exact harmonic solution chosen to show the geometry dependence; not a model of the laser event.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