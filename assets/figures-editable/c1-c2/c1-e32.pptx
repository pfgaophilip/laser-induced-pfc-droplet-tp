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C1-E32 | Physical-variable diagram</a:t>
            </a:r>
          </a:p>
        </p:txBody>
      </p:sp>
      <p:sp>
        <p:nvSpPr>
          <p:cNvPr id="3" name="rect2" descr="sci-ppt:C1-E32-002"/>
          <p:cNvSpPr/>
          <p:nvPr/>
        </p:nvSpPr>
        <p:spPr>
          <a:xfrm>
            <a:off x="73152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32-003"/>
          <p:cNvSpPr txBox="1"/>
          <p:nvPr/>
        </p:nvSpPr>
        <p:spPr>
          <a:xfrm>
            <a:off x="85344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Finite PFC / heat input</a:t>
            </a:r>
          </a:p>
        </p:txBody>
      </p:sp>
      <p:sp>
        <p:nvSpPr>
          <p:cNvPr id="5" name="rect4" descr="sci-ppt:C1-E32-004"/>
          <p:cNvSpPr/>
          <p:nvPr/>
        </p:nvSpPr>
        <p:spPr>
          <a:xfrm>
            <a:off x="451104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32-005"/>
          <p:cNvSpPr txBox="1"/>
          <p:nvPr/>
        </p:nvSpPr>
        <p:spPr>
          <a:xfrm>
            <a:off x="463296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Bubble pressure p_b</a:t>
            </a:r>
          </a:p>
        </p:txBody>
      </p:sp>
      <p:sp>
        <p:nvSpPr>
          <p:cNvPr id="7" name="rect6" descr="sci-ppt:C1-E32-006"/>
          <p:cNvSpPr/>
          <p:nvPr/>
        </p:nvSpPr>
        <p:spPr>
          <a:xfrm>
            <a:off x="829056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32-007"/>
          <p:cNvSpPr txBox="1"/>
          <p:nvPr/>
        </p:nvSpPr>
        <p:spPr>
          <a:xfrm>
            <a:off x="841248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Carrier displacement</a:t>
            </a:r>
          </a:p>
        </p:txBody>
      </p:sp>
      <p:cxnSp>
        <p:nvCxnSpPr>
          <p:cNvPr id="9" name="arrow8" descr="sci-ppt:C1-E32-008"/>
          <p:cNvCxnSpPr/>
          <p:nvPr/>
        </p:nvCxnSpPr>
        <p:spPr>
          <a:xfrm>
            <a:off x="3657600" y="2560320"/>
            <a:ext cx="7315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1-E32-009"/>
          <p:cNvCxnSpPr/>
          <p:nvPr/>
        </p:nvCxnSpPr>
        <p:spPr>
          <a:xfrm>
            <a:off x="7437120" y="2560320"/>
            <a:ext cx="7315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32-010"/>
          <p:cNvSpPr txBox="1"/>
          <p:nvPr/>
        </p:nvSpPr>
        <p:spPr>
          <a:xfrm>
            <a:off x="1584960" y="3901440"/>
            <a:ext cx="95097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Geometry selects direction; scalar radius does not.</a:t>
            </a:r>
          </a:p>
        </p:txBody>
      </p:sp>
      <p:sp>
        <p:nvSpPr>
          <p:cNvPr id="12" name="text11" descr="sci-ppt:C1-E32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PFC liquid → vapor</a:t>
            </a:r>
          </a:p>
        </p:txBody>
      </p:sp>
      <p:sp>
        <p:nvSpPr>
          <p:cNvPr id="13" name="text12" descr="sci-ppt:C1-E32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pv,w</a:t>
            </a:r>
          </a:p>
        </p:txBody>
      </p:sp>
      <p:sp>
        <p:nvSpPr>
          <p:cNvPr id="14" name="text13" descr="sci-ppt:C1-E32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5" name="text14" descr="sci-ppt:C1-E32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carrier</a:t>
            </a:r>
          </a:p>
        </p:txBody>
      </p:sp>
      <p:sp>
        <p:nvSpPr>
          <p:cNvPr id="16" name="text15" descr="sci-ppt:C1-E32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7" name="text16" descr="sci-ppt:C1-E32-016"/>
          <p:cNvSpPr txBox="1"/>
          <p:nvPr/>
        </p:nvSpPr>
        <p:spPr>
          <a:xfrm>
            <a:off x="3657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18" name="text17" descr="sci-ppt:C1-E32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pv,PFC</a:t>
            </a:r>
          </a:p>
        </p:txBody>
      </p:sp>
      <p:sp>
        <p:nvSpPr>
          <p:cNvPr id="19" name="text18" descr="sci-ppt:C1-E32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pg</a:t>
            </a:r>
          </a:p>
        </p:txBody>
      </p:sp>
      <p:sp>
        <p:nvSpPr>
          <p:cNvPr id="20" name="text19" descr="sci-ppt:C1-E32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1" name="text20" descr="sci-ppt:C1-E32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2" name="text21" descr="sci-ppt:C1-E32-021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3" name="text22" descr="sci-ppt:C1-E32-022"/>
          <p:cNvSpPr txBox="1"/>
          <p:nvPr/>
        </p:nvSpPr>
        <p:spPr>
          <a:xfrm>
            <a:off x="61569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24" name="text23" descr="sci-ppt:C1-E32-023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pressure history must connect to a specific liquid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