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3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C1-E32 · Original formulas quoted for defense 1</a:t>
            </a:r>
          </a:p>
        </p:txBody>
      </p:sp>
      <p:sp>
        <p:nvSpPr>
          <p:cNvPr id="3" name="C1-E32 round_rect 1" descr="sci-ppt:o001"/>
          <p:cNvSpPr/>
          <p:nvPr/>
        </p:nvSpPr>
        <p:spPr>
          <a:xfrm>
            <a:off x="45720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1-E32 text 2" descr="sci-ppt:o002"/>
          <p:cNvSpPr txBox="1"/>
          <p:nvPr/>
        </p:nvSpPr>
        <p:spPr>
          <a:xfrm>
            <a:off x="53035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Source pressure</a:t>
            </a:r>
          </a:p>
        </p:txBody>
      </p:sp>
      <p:sp>
        <p:nvSpPr>
          <p:cNvPr id="5" name="C1-E32 text 3" descr="sci-ppt:o003"/>
          <p:cNvSpPr txBox="1"/>
          <p:nvPr/>
        </p:nvSpPr>
        <p:spPr>
          <a:xfrm>
            <a:off x="53035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p_b from the contents (E08),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not from R alone</a:t>
            </a:r>
          </a:p>
        </p:txBody>
      </p:sp>
      <p:cxnSp>
        <p:nvCxnSpPr>
          <p:cNvPr id="6" name="C1-E32 arrow 4" descr="sci-ppt:o004"/>
          <p:cNvCxnSpPr/>
          <p:nvPr/>
        </p:nvCxnSpPr>
        <p:spPr>
          <a:xfrm>
            <a:off x="298780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1-E32 round_rect 5" descr="sci-ppt:o005"/>
          <p:cNvSpPr/>
          <p:nvPr/>
        </p:nvSpPr>
        <p:spPr>
          <a:xfrm>
            <a:off x="337185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1-E32 text 6" descr="sci-ppt:o006"/>
          <p:cNvSpPr txBox="1"/>
          <p:nvPr/>
        </p:nvSpPr>
        <p:spPr>
          <a:xfrm>
            <a:off x="344500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Radius motion</a:t>
            </a:r>
          </a:p>
        </p:txBody>
      </p:sp>
      <p:sp>
        <p:nvSpPr>
          <p:cNvPr id="9" name="C1-E32 text 7" descr="sci-ppt:o007"/>
          <p:cNvSpPr txBox="1"/>
          <p:nvPr/>
        </p:nvSpPr>
        <p:spPr>
          <a:xfrm>
            <a:off x="344500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Rayleigh–Plesset: p_b − p∞ −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2σ/R − 4μṘ/R (E07)</a:t>
            </a:r>
          </a:p>
        </p:txBody>
      </p:sp>
      <p:cxnSp>
        <p:nvCxnSpPr>
          <p:cNvPr id="10" name="C1-E32 arrow 8" descr="sci-ppt:o008"/>
          <p:cNvCxnSpPr/>
          <p:nvPr/>
        </p:nvCxnSpPr>
        <p:spPr>
          <a:xfrm>
            <a:off x="590245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1-E32 round_rect 9" descr="sci-ppt:o009"/>
          <p:cNvSpPr/>
          <p:nvPr/>
        </p:nvSpPr>
        <p:spPr>
          <a:xfrm>
            <a:off x="628650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1-E32 text 10" descr="sci-ppt:o010"/>
          <p:cNvSpPr txBox="1"/>
          <p:nvPr/>
        </p:nvSpPr>
        <p:spPr>
          <a:xfrm>
            <a:off x="635965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7FC8F8"/>
                </a:solidFill>
                <a:latin typeface="Arial"/>
              </a:rPr>
              <a:t>Liquid response</a:t>
            </a:r>
          </a:p>
        </p:txBody>
      </p:sp>
      <p:sp>
        <p:nvSpPr>
          <p:cNvPr id="13" name="C1-E32 text 11" descr="sci-ppt:o011"/>
          <p:cNvSpPr txBox="1"/>
          <p:nvPr/>
        </p:nvSpPr>
        <p:spPr>
          <a:xfrm>
            <a:off x="6359652" y="1608201"/>
            <a:ext cx="2356866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inertia stores the work;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impulse Π gives early speed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(E05, E21)</a:t>
            </a:r>
          </a:p>
        </p:txBody>
      </p:sp>
      <p:cxnSp>
        <p:nvCxnSpPr>
          <p:cNvPr id="14" name="C1-E32 arrow 12" descr="sci-ppt:o012"/>
          <p:cNvCxnSpPr/>
          <p:nvPr/>
        </p:nvCxnSpPr>
        <p:spPr>
          <a:xfrm>
            <a:off x="8817102" y="2057400"/>
            <a:ext cx="356616" cy="0"/>
          </a:xfrm>
          <a:prstGeom prst="line">
            <a:avLst/>
          </a:prstGeom>
          <a:ln w="2794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1-E32 round_rect 13" descr="sci-ppt:o013"/>
          <p:cNvSpPr/>
          <p:nvPr/>
        </p:nvSpPr>
        <p:spPr>
          <a:xfrm>
            <a:off x="9201150" y="1280160"/>
            <a:ext cx="250317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1-E32 text 14" descr="sci-ppt:o014"/>
          <p:cNvSpPr txBox="1"/>
          <p:nvPr/>
        </p:nvSpPr>
        <p:spPr>
          <a:xfrm>
            <a:off x="9274302" y="1335024"/>
            <a:ext cx="2356866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Geometry</a:t>
            </a:r>
          </a:p>
        </p:txBody>
      </p:sp>
      <p:sp>
        <p:nvSpPr>
          <p:cNvPr id="17" name="C1-E32 text 15" descr="sci-ppt:o015"/>
          <p:cNvSpPr txBox="1"/>
          <p:nvPr/>
        </p:nvSpPr>
        <p:spPr>
          <a:xfrm>
            <a:off x="9274302" y="1608201"/>
            <a:ext cx="2356866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stand-off and walls decide</a:t>
            </a:r>
          </a:p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direction (E26–E29)</a:t>
            </a:r>
          </a:p>
        </p:txBody>
      </p:sp>
      <p:sp>
        <p:nvSpPr>
          <p:cNvPr id="18" name="C1-E32 round_rect 16" descr="sci-ppt:o016"/>
          <p:cNvSpPr/>
          <p:nvPr/>
        </p:nvSpPr>
        <p:spPr>
          <a:xfrm>
            <a:off x="457200" y="3200400"/>
            <a:ext cx="1124712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1-E32 text 17" descr="sci-ppt:o017"/>
          <p:cNvSpPr txBox="1"/>
          <p:nvPr/>
        </p:nvSpPr>
        <p:spPr>
          <a:xfrm>
            <a:off x="594360" y="3273552"/>
            <a:ext cx="109728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Reference formulas of the defence answer</a:t>
            </a:r>
          </a:p>
        </p:txBody>
      </p:sp>
      <p:sp>
        <p:nvSpPr>
          <p:cNvPr id="20" name="C1-E32 text 18" descr="sci-ppt:o018"/>
          <p:cNvSpPr txBox="1"/>
          <p:nvPr/>
        </p:nvSpPr>
        <p:spPr>
          <a:xfrm>
            <a:off x="594360" y="3657600"/>
            <a:ext cx="10972800" cy="47955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ρ(RR̈ + 3Ṙ²/2) = p_b − p∞ − 2σ/R − 4μṘ/R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p_b = pᵥ,PFC + pᵥ,w + p_g</a:t>
            </a:r>
          </a:p>
        </p:txBody>
      </p:sp>
      <p:sp>
        <p:nvSpPr>
          <p:cNvPr id="21" name="C1-E32 text 19" descr="sci-ppt:o019"/>
          <p:cNvSpPr txBox="1"/>
          <p:nvPr/>
        </p:nvSpPr>
        <p:spPr>
          <a:xfrm>
            <a:off x="457200" y="4846320"/>
            <a:ext cx="11247120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The source pressure moves carrier liquid. Whether that motion becomes a useful jet is decided by geometry, not by the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F2B880"/>
                </a:solidFill>
                <a:latin typeface="Arial"/>
              </a:rPr>
              <a:t>pressure alone.</a:t>
            </a:r>
          </a:p>
        </p:txBody>
      </p:sp>
      <p:sp>
        <p:nvSpPr>
          <p:cNvPr id="22" name="C1-E32 text 20" descr="sci-ppt:o020"/>
          <p:cNvSpPr txBox="1"/>
          <p:nvPr/>
        </p:nvSpPr>
        <p:spPr>
          <a:xfrm>
            <a:off x="457200" y="539496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Every term of the radius equation is a pressure (Pa); every term of the composition is a partial pressure.</a:t>
            </a:r>
          </a:p>
        </p:txBody>
      </p:sp>
      <p:sp>
        <p:nvSpPr>
          <p:cNvPr id="23" name="C1-E32 text 21" descr="sci-ppt:o02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Summary of Eqs. C1-E07 and C1-E08.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