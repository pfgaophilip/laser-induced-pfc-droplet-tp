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C1-E32 · Original formulas quoted for defense 2</a:t>
            </a:r>
          </a:p>
        </p:txBody>
      </p:sp>
      <p:cxnSp>
        <p:nvCxnSpPr>
          <p:cNvPr id="3" name="C1-E32 line 1" descr="sci-ppt:o001"/>
          <p:cNvCxnSpPr/>
          <p:nvPr/>
        </p:nvCxnSpPr>
        <p:spPr>
          <a:xfrm>
            <a:off x="822960" y="457200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32 line 2" descr="sci-ppt:o002"/>
          <p:cNvCxnSpPr/>
          <p:nvPr/>
        </p:nvCxnSpPr>
        <p:spPr>
          <a:xfrm>
            <a:off x="82296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32 line 3" descr="sci-ppt:o003"/>
          <p:cNvCxnSpPr/>
          <p:nvPr/>
        </p:nvCxnSpPr>
        <p:spPr>
          <a:xfrm>
            <a:off x="8229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32 line 4" descr="sci-ppt:o004"/>
          <p:cNvCxnSpPr/>
          <p:nvPr/>
        </p:nvCxnSpPr>
        <p:spPr>
          <a:xfrm>
            <a:off x="82296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32 text 5" descr="sci-ppt:o005"/>
          <p:cNvSpPr txBox="1"/>
          <p:nvPr/>
        </p:nvSpPr>
        <p:spPr>
          <a:xfrm>
            <a:off x="3657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0.05</a:t>
            </a:r>
          </a:p>
        </p:txBody>
      </p:sp>
      <p:cxnSp>
        <p:nvCxnSpPr>
          <p:cNvPr id="8" name="C1-E32 line 6" descr="sci-ppt:o006"/>
          <p:cNvCxnSpPr/>
          <p:nvPr/>
        </p:nvCxnSpPr>
        <p:spPr>
          <a:xfrm>
            <a:off x="15846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32 line 7" descr="sci-ppt:o007"/>
          <p:cNvCxnSpPr/>
          <p:nvPr/>
        </p:nvCxnSpPr>
        <p:spPr>
          <a:xfrm>
            <a:off x="158462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32 text 8" descr="sci-ppt:o008"/>
          <p:cNvSpPr txBox="1"/>
          <p:nvPr/>
        </p:nvSpPr>
        <p:spPr>
          <a:xfrm>
            <a:off x="11274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0.1</a:t>
            </a:r>
          </a:p>
        </p:txBody>
      </p:sp>
      <p:cxnSp>
        <p:nvCxnSpPr>
          <p:cNvPr id="11" name="C1-E32 line 9" descr="sci-ppt:o009"/>
          <p:cNvCxnSpPr/>
          <p:nvPr/>
        </p:nvCxnSpPr>
        <p:spPr>
          <a:xfrm>
            <a:off x="3353139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32 line 10" descr="sci-ppt:o010"/>
          <p:cNvCxnSpPr/>
          <p:nvPr/>
        </p:nvCxnSpPr>
        <p:spPr>
          <a:xfrm>
            <a:off x="3353139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32 text 11" descr="sci-ppt:o011"/>
          <p:cNvSpPr txBox="1"/>
          <p:nvPr/>
        </p:nvSpPr>
        <p:spPr>
          <a:xfrm>
            <a:off x="2895939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4" name="C1-E32 line 12" descr="sci-ppt:o012"/>
          <p:cNvCxnSpPr/>
          <p:nvPr/>
        </p:nvCxnSpPr>
        <p:spPr>
          <a:xfrm>
            <a:off x="411480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2 line 13" descr="sci-ppt:o013"/>
          <p:cNvCxnSpPr/>
          <p:nvPr/>
        </p:nvCxnSpPr>
        <p:spPr>
          <a:xfrm>
            <a:off x="411480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32 text 14" descr="sci-ppt:o014"/>
          <p:cNvSpPr txBox="1"/>
          <p:nvPr/>
        </p:nvSpPr>
        <p:spPr>
          <a:xfrm>
            <a:off x="365760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7" name="C1-E32 line 15" descr="sci-ppt:o015"/>
          <p:cNvCxnSpPr/>
          <p:nvPr/>
        </p:nvCxnSpPr>
        <p:spPr>
          <a:xfrm>
            <a:off x="75895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32 line 16" descr="sci-ppt:o016"/>
          <p:cNvCxnSpPr/>
          <p:nvPr/>
        </p:nvCxnSpPr>
        <p:spPr>
          <a:xfrm>
            <a:off x="758952" y="35661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32 line 17" descr="sci-ppt:o017"/>
          <p:cNvCxnSpPr/>
          <p:nvPr/>
        </p:nvCxnSpPr>
        <p:spPr>
          <a:xfrm>
            <a:off x="822960" y="356616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32 text 18" descr="sci-ppt:o018"/>
          <p:cNvSpPr txBox="1"/>
          <p:nvPr/>
        </p:nvSpPr>
        <p:spPr>
          <a:xfrm>
            <a:off x="-45719" y="34838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1" name="C1-E32 line 19" descr="sci-ppt:o019"/>
          <p:cNvCxnSpPr/>
          <p:nvPr/>
        </p:nvCxnSpPr>
        <p:spPr>
          <a:xfrm>
            <a:off x="758952" y="2560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32 line 20" descr="sci-ppt:o020"/>
          <p:cNvCxnSpPr/>
          <p:nvPr/>
        </p:nvCxnSpPr>
        <p:spPr>
          <a:xfrm>
            <a:off x="822960" y="256032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32 text 21" descr="sci-ppt:o021"/>
          <p:cNvSpPr txBox="1"/>
          <p:nvPr/>
        </p:nvSpPr>
        <p:spPr>
          <a:xfrm>
            <a:off x="-45719" y="24780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</a:t>
            </a:r>
          </a:p>
        </p:txBody>
      </p:sp>
      <p:cxnSp>
        <p:nvCxnSpPr>
          <p:cNvPr id="24" name="C1-E32 line 22" descr="sci-ppt:o022"/>
          <p:cNvCxnSpPr/>
          <p:nvPr/>
        </p:nvCxnSpPr>
        <p:spPr>
          <a:xfrm>
            <a:off x="758952" y="1554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32 line 23" descr="sci-ppt:o023"/>
          <p:cNvCxnSpPr/>
          <p:nvPr/>
        </p:nvCxnSpPr>
        <p:spPr>
          <a:xfrm>
            <a:off x="822960" y="1554480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32 text 24" descr="sci-ppt:o024"/>
          <p:cNvSpPr txBox="1"/>
          <p:nvPr/>
        </p:nvSpPr>
        <p:spPr>
          <a:xfrm>
            <a:off x="-45719" y="14721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1000</a:t>
            </a:r>
          </a:p>
        </p:txBody>
      </p:sp>
      <p:sp>
        <p:nvSpPr>
          <p:cNvPr id="27" name="C1-E32 text 25" descr="sci-ppt:o025"/>
          <p:cNvSpPr txBox="1"/>
          <p:nvPr/>
        </p:nvSpPr>
        <p:spPr>
          <a:xfrm>
            <a:off x="822960" y="4855464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28" name="C1-E32 text 26" descr="sci-ppt:o026"/>
          <p:cNvSpPr txBox="1"/>
          <p:nvPr/>
        </p:nvSpPr>
        <p:spPr>
          <a:xfrm>
            <a:off x="274320" y="1207007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|Ṙ| (m/s)</a:t>
            </a:r>
          </a:p>
        </p:txBody>
      </p:sp>
      <p:sp>
        <p:nvSpPr>
          <p:cNvPr id="29" name="C1-E32 polygon 27" descr="sci-ppt:o027"/>
          <p:cNvSpPr/>
          <p:nvPr/>
        </p:nvSpPr>
        <p:spPr>
          <a:xfrm>
            <a:off x="825566" y="1693359"/>
            <a:ext cx="3272705" cy="2633129"/>
          </a:xfrm>
          <a:custGeom>
            <a:avLst/>
            <a:gdLst/>
            <a:ahLst/>
            <a:cxnLst/>
            <a:rect l="l" t="t" r="r" b="b"/>
            <a:pathLst>
              <a:path w="3272705" h="2633129">
                <a:moveTo>
                  <a:pt x="0" y="0"/>
                </a:moveTo>
                <a:lnTo>
                  <a:pt x="16528" y="9857"/>
                </a:lnTo>
                <a:lnTo>
                  <a:pt x="33057" y="19715"/>
                </a:lnTo>
                <a:lnTo>
                  <a:pt x="49586" y="29572"/>
                </a:lnTo>
                <a:lnTo>
                  <a:pt x="66115" y="39430"/>
                </a:lnTo>
                <a:lnTo>
                  <a:pt x="82644" y="49288"/>
                </a:lnTo>
                <a:lnTo>
                  <a:pt x="99172" y="59146"/>
                </a:lnTo>
                <a:lnTo>
                  <a:pt x="115701" y="69004"/>
                </a:lnTo>
                <a:lnTo>
                  <a:pt x="132230" y="78862"/>
                </a:lnTo>
                <a:lnTo>
                  <a:pt x="148759" y="88720"/>
                </a:lnTo>
                <a:lnTo>
                  <a:pt x="165288" y="98578"/>
                </a:lnTo>
                <a:lnTo>
                  <a:pt x="181817" y="108436"/>
                </a:lnTo>
                <a:lnTo>
                  <a:pt x="198345" y="118294"/>
                </a:lnTo>
                <a:lnTo>
                  <a:pt x="214874" y="128153"/>
                </a:lnTo>
                <a:lnTo>
                  <a:pt x="231403" y="138011"/>
                </a:lnTo>
                <a:lnTo>
                  <a:pt x="247932" y="147870"/>
                </a:lnTo>
                <a:lnTo>
                  <a:pt x="264461" y="157728"/>
                </a:lnTo>
                <a:lnTo>
                  <a:pt x="280989" y="167587"/>
                </a:lnTo>
                <a:lnTo>
                  <a:pt x="297518" y="177446"/>
                </a:lnTo>
                <a:lnTo>
                  <a:pt x="314047" y="187305"/>
                </a:lnTo>
                <a:lnTo>
                  <a:pt x="330576" y="197165"/>
                </a:lnTo>
                <a:lnTo>
                  <a:pt x="347105" y="207024"/>
                </a:lnTo>
                <a:lnTo>
                  <a:pt x="363633" y="216883"/>
                </a:lnTo>
                <a:lnTo>
                  <a:pt x="380162" y="226743"/>
                </a:lnTo>
                <a:lnTo>
                  <a:pt x="396691" y="236603"/>
                </a:lnTo>
                <a:lnTo>
                  <a:pt x="413220" y="246463"/>
                </a:lnTo>
                <a:lnTo>
                  <a:pt x="429749" y="256323"/>
                </a:lnTo>
                <a:lnTo>
                  <a:pt x="446278" y="266183"/>
                </a:lnTo>
                <a:lnTo>
                  <a:pt x="462806" y="276044"/>
                </a:lnTo>
                <a:lnTo>
                  <a:pt x="479335" y="285905"/>
                </a:lnTo>
                <a:lnTo>
                  <a:pt x="495864" y="295765"/>
                </a:lnTo>
                <a:lnTo>
                  <a:pt x="512393" y="305627"/>
                </a:lnTo>
                <a:lnTo>
                  <a:pt x="528922" y="315488"/>
                </a:lnTo>
                <a:lnTo>
                  <a:pt x="545450" y="325350"/>
                </a:lnTo>
                <a:lnTo>
                  <a:pt x="561979" y="335211"/>
                </a:lnTo>
                <a:lnTo>
                  <a:pt x="578508" y="345074"/>
                </a:lnTo>
                <a:lnTo>
                  <a:pt x="595037" y="354936"/>
                </a:lnTo>
                <a:lnTo>
                  <a:pt x="611566" y="364799"/>
                </a:lnTo>
                <a:lnTo>
                  <a:pt x="628094" y="374662"/>
                </a:lnTo>
                <a:lnTo>
                  <a:pt x="644623" y="384525"/>
                </a:lnTo>
                <a:lnTo>
                  <a:pt x="661152" y="394388"/>
                </a:lnTo>
                <a:lnTo>
                  <a:pt x="677681" y="404252"/>
                </a:lnTo>
                <a:lnTo>
                  <a:pt x="694210" y="414117"/>
                </a:lnTo>
                <a:lnTo>
                  <a:pt x="710739" y="423981"/>
                </a:lnTo>
                <a:lnTo>
                  <a:pt x="727267" y="433846"/>
                </a:lnTo>
                <a:lnTo>
                  <a:pt x="743796" y="443712"/>
                </a:lnTo>
                <a:lnTo>
                  <a:pt x="760325" y="453578"/>
                </a:lnTo>
                <a:lnTo>
                  <a:pt x="776854" y="463444"/>
                </a:lnTo>
                <a:lnTo>
                  <a:pt x="793383" y="473311"/>
                </a:lnTo>
                <a:lnTo>
                  <a:pt x="809911" y="483178"/>
                </a:lnTo>
                <a:lnTo>
                  <a:pt x="826440" y="493046"/>
                </a:lnTo>
                <a:lnTo>
                  <a:pt x="842969" y="502914"/>
                </a:lnTo>
                <a:lnTo>
                  <a:pt x="859498" y="512783"/>
                </a:lnTo>
                <a:lnTo>
                  <a:pt x="876027" y="522653"/>
                </a:lnTo>
                <a:lnTo>
                  <a:pt x="892556" y="532523"/>
                </a:lnTo>
                <a:lnTo>
                  <a:pt x="909084" y="542394"/>
                </a:lnTo>
                <a:lnTo>
                  <a:pt x="925613" y="552265"/>
                </a:lnTo>
                <a:lnTo>
                  <a:pt x="942142" y="562137"/>
                </a:lnTo>
                <a:lnTo>
                  <a:pt x="958671" y="572010"/>
                </a:lnTo>
                <a:lnTo>
                  <a:pt x="975200" y="581884"/>
                </a:lnTo>
                <a:lnTo>
                  <a:pt x="991728" y="591758"/>
                </a:lnTo>
                <a:lnTo>
                  <a:pt x="1008257" y="601634"/>
                </a:lnTo>
                <a:lnTo>
                  <a:pt x="1024786" y="611510"/>
                </a:lnTo>
                <a:lnTo>
                  <a:pt x="1041315" y="621387"/>
                </a:lnTo>
                <a:lnTo>
                  <a:pt x="1057844" y="631265"/>
                </a:lnTo>
                <a:lnTo>
                  <a:pt x="1074372" y="641144"/>
                </a:lnTo>
                <a:lnTo>
                  <a:pt x="1090901" y="651024"/>
                </a:lnTo>
                <a:lnTo>
                  <a:pt x="1107430" y="660905"/>
                </a:lnTo>
                <a:lnTo>
                  <a:pt x="1123959" y="670788"/>
                </a:lnTo>
                <a:lnTo>
                  <a:pt x="1140488" y="680671"/>
                </a:lnTo>
                <a:lnTo>
                  <a:pt x="1157017" y="690556"/>
                </a:lnTo>
                <a:lnTo>
                  <a:pt x="1173545" y="700442"/>
                </a:lnTo>
                <a:lnTo>
                  <a:pt x="1190074" y="710330"/>
                </a:lnTo>
                <a:lnTo>
                  <a:pt x="1206603" y="720219"/>
                </a:lnTo>
                <a:lnTo>
                  <a:pt x="1223132" y="730109"/>
                </a:lnTo>
                <a:lnTo>
                  <a:pt x="1239661" y="740002"/>
                </a:lnTo>
                <a:lnTo>
                  <a:pt x="1256189" y="749895"/>
                </a:lnTo>
                <a:lnTo>
                  <a:pt x="1272718" y="759791"/>
                </a:lnTo>
                <a:lnTo>
                  <a:pt x="1289247" y="769688"/>
                </a:lnTo>
                <a:lnTo>
                  <a:pt x="1305776" y="779588"/>
                </a:lnTo>
                <a:lnTo>
                  <a:pt x="1322305" y="789489"/>
                </a:lnTo>
                <a:lnTo>
                  <a:pt x="1338833" y="799392"/>
                </a:lnTo>
                <a:lnTo>
                  <a:pt x="1355362" y="809298"/>
                </a:lnTo>
                <a:lnTo>
                  <a:pt x="1371891" y="819206"/>
                </a:lnTo>
                <a:lnTo>
                  <a:pt x="1388420" y="829116"/>
                </a:lnTo>
                <a:lnTo>
                  <a:pt x="1404949" y="839029"/>
                </a:lnTo>
                <a:lnTo>
                  <a:pt x="1421478" y="848944"/>
                </a:lnTo>
                <a:lnTo>
                  <a:pt x="1438006" y="858862"/>
                </a:lnTo>
                <a:lnTo>
                  <a:pt x="1454535" y="868783"/>
                </a:lnTo>
                <a:lnTo>
                  <a:pt x="1471064" y="878707"/>
                </a:lnTo>
                <a:lnTo>
                  <a:pt x="1487593" y="888634"/>
                </a:lnTo>
                <a:lnTo>
                  <a:pt x="1504122" y="898565"/>
                </a:lnTo>
                <a:lnTo>
                  <a:pt x="1520650" y="908499"/>
                </a:lnTo>
                <a:lnTo>
                  <a:pt x="1537179" y="918436"/>
                </a:lnTo>
                <a:lnTo>
                  <a:pt x="1553708" y="928378"/>
                </a:lnTo>
                <a:lnTo>
                  <a:pt x="1570237" y="938323"/>
                </a:lnTo>
                <a:lnTo>
                  <a:pt x="1586766" y="948272"/>
                </a:lnTo>
                <a:lnTo>
                  <a:pt x="1603295" y="958226"/>
                </a:lnTo>
                <a:lnTo>
                  <a:pt x="1619823" y="968184"/>
                </a:lnTo>
                <a:lnTo>
                  <a:pt x="1636352" y="978147"/>
                </a:lnTo>
                <a:lnTo>
                  <a:pt x="1652881" y="988116"/>
                </a:lnTo>
                <a:lnTo>
                  <a:pt x="1669410" y="998089"/>
                </a:lnTo>
                <a:lnTo>
                  <a:pt x="1685939" y="1008068"/>
                </a:lnTo>
                <a:lnTo>
                  <a:pt x="1702467" y="1018052"/>
                </a:lnTo>
                <a:lnTo>
                  <a:pt x="1718996" y="1028043"/>
                </a:lnTo>
                <a:lnTo>
                  <a:pt x="1735525" y="1038039"/>
                </a:lnTo>
                <a:lnTo>
                  <a:pt x="1752054" y="1048043"/>
                </a:lnTo>
                <a:lnTo>
                  <a:pt x="1768583" y="1058053"/>
                </a:lnTo>
                <a:lnTo>
                  <a:pt x="1785111" y="1068071"/>
                </a:lnTo>
                <a:lnTo>
                  <a:pt x="1801640" y="1078096"/>
                </a:lnTo>
                <a:lnTo>
                  <a:pt x="1818169" y="1088129"/>
                </a:lnTo>
                <a:lnTo>
                  <a:pt x="1834698" y="1098170"/>
                </a:lnTo>
                <a:lnTo>
                  <a:pt x="1851227" y="1108220"/>
                </a:lnTo>
                <a:lnTo>
                  <a:pt x="1867756" y="1118279"/>
                </a:lnTo>
                <a:lnTo>
                  <a:pt x="1884284" y="1128348"/>
                </a:lnTo>
                <a:lnTo>
                  <a:pt x="1900813" y="1138427"/>
                </a:lnTo>
                <a:lnTo>
                  <a:pt x="1917342" y="1148516"/>
                </a:lnTo>
                <a:lnTo>
                  <a:pt x="1933871" y="1158616"/>
                </a:lnTo>
                <a:lnTo>
                  <a:pt x="1950400" y="1168728"/>
                </a:lnTo>
                <a:lnTo>
                  <a:pt x="1966928" y="1178852"/>
                </a:lnTo>
                <a:lnTo>
                  <a:pt x="1983457" y="1188989"/>
                </a:lnTo>
                <a:lnTo>
                  <a:pt x="1999986" y="1199139"/>
                </a:lnTo>
                <a:lnTo>
                  <a:pt x="2016515" y="1209303"/>
                </a:lnTo>
                <a:lnTo>
                  <a:pt x="2033044" y="1219481"/>
                </a:lnTo>
                <a:lnTo>
                  <a:pt x="2049572" y="1229676"/>
                </a:lnTo>
                <a:lnTo>
                  <a:pt x="2066101" y="1239886"/>
                </a:lnTo>
                <a:lnTo>
                  <a:pt x="2082630" y="1250113"/>
                </a:lnTo>
                <a:lnTo>
                  <a:pt x="2099159" y="1260358"/>
                </a:lnTo>
                <a:lnTo>
                  <a:pt x="2115688" y="1270622"/>
                </a:lnTo>
                <a:lnTo>
                  <a:pt x="2132217" y="1280905"/>
                </a:lnTo>
                <a:lnTo>
                  <a:pt x="2148745" y="1291209"/>
                </a:lnTo>
                <a:lnTo>
                  <a:pt x="2165274" y="1301534"/>
                </a:lnTo>
                <a:lnTo>
                  <a:pt x="2181803" y="1311883"/>
                </a:lnTo>
                <a:lnTo>
                  <a:pt x="2198332" y="1322255"/>
                </a:lnTo>
                <a:lnTo>
                  <a:pt x="2214861" y="1332652"/>
                </a:lnTo>
                <a:lnTo>
                  <a:pt x="2231389" y="1343076"/>
                </a:lnTo>
                <a:lnTo>
                  <a:pt x="2247918" y="1353528"/>
                </a:lnTo>
                <a:lnTo>
                  <a:pt x="2264447" y="1364008"/>
                </a:lnTo>
                <a:lnTo>
                  <a:pt x="2280976" y="1374520"/>
                </a:lnTo>
                <a:lnTo>
                  <a:pt x="2297505" y="1385064"/>
                </a:lnTo>
                <a:lnTo>
                  <a:pt x="2314033" y="1395642"/>
                </a:lnTo>
                <a:lnTo>
                  <a:pt x="2330562" y="1406256"/>
                </a:lnTo>
                <a:lnTo>
                  <a:pt x="2347091" y="1416907"/>
                </a:lnTo>
                <a:lnTo>
                  <a:pt x="2363620" y="1427599"/>
                </a:lnTo>
                <a:lnTo>
                  <a:pt x="2380149" y="1438332"/>
                </a:lnTo>
                <a:lnTo>
                  <a:pt x="2396678" y="1449110"/>
                </a:lnTo>
                <a:lnTo>
                  <a:pt x="2413206" y="1459934"/>
                </a:lnTo>
                <a:lnTo>
                  <a:pt x="2429735" y="1470808"/>
                </a:lnTo>
                <a:lnTo>
                  <a:pt x="2446264" y="1481733"/>
                </a:lnTo>
                <a:lnTo>
                  <a:pt x="2462793" y="1492714"/>
                </a:lnTo>
                <a:lnTo>
                  <a:pt x="2479322" y="1503753"/>
                </a:lnTo>
                <a:lnTo>
                  <a:pt x="2495850" y="1514854"/>
                </a:lnTo>
                <a:lnTo>
                  <a:pt x="2512379" y="1526019"/>
                </a:lnTo>
                <a:lnTo>
                  <a:pt x="2528908" y="1537253"/>
                </a:lnTo>
                <a:lnTo>
                  <a:pt x="2545437" y="1548561"/>
                </a:lnTo>
                <a:lnTo>
                  <a:pt x="2561966" y="1559945"/>
                </a:lnTo>
                <a:lnTo>
                  <a:pt x="2578495" y="1571412"/>
                </a:lnTo>
                <a:lnTo>
                  <a:pt x="2595023" y="1582966"/>
                </a:lnTo>
                <a:lnTo>
                  <a:pt x="2611552" y="1594613"/>
                </a:lnTo>
                <a:lnTo>
                  <a:pt x="2628081" y="1606358"/>
                </a:lnTo>
                <a:lnTo>
                  <a:pt x="2644610" y="1618208"/>
                </a:lnTo>
                <a:lnTo>
                  <a:pt x="2661139" y="1630169"/>
                </a:lnTo>
                <a:lnTo>
                  <a:pt x="2677667" y="1642250"/>
                </a:lnTo>
                <a:lnTo>
                  <a:pt x="2694196" y="1654458"/>
                </a:lnTo>
                <a:lnTo>
                  <a:pt x="2710725" y="1666801"/>
                </a:lnTo>
                <a:lnTo>
                  <a:pt x="2727254" y="1679291"/>
                </a:lnTo>
                <a:lnTo>
                  <a:pt x="2743783" y="1691936"/>
                </a:lnTo>
                <a:lnTo>
                  <a:pt x="2760311" y="1704749"/>
                </a:lnTo>
                <a:lnTo>
                  <a:pt x="2776840" y="1717741"/>
                </a:lnTo>
                <a:lnTo>
                  <a:pt x="2793369" y="1730927"/>
                </a:lnTo>
                <a:lnTo>
                  <a:pt x="2809898" y="1744322"/>
                </a:lnTo>
                <a:lnTo>
                  <a:pt x="2826427" y="1757943"/>
                </a:lnTo>
                <a:lnTo>
                  <a:pt x="2842956" y="1771809"/>
                </a:lnTo>
                <a:lnTo>
                  <a:pt x="2859484" y="1785939"/>
                </a:lnTo>
                <a:lnTo>
                  <a:pt x="2876013" y="1800359"/>
                </a:lnTo>
                <a:lnTo>
                  <a:pt x="2892542" y="1815093"/>
                </a:lnTo>
                <a:lnTo>
                  <a:pt x="2909071" y="1830172"/>
                </a:lnTo>
                <a:lnTo>
                  <a:pt x="2925600" y="1845629"/>
                </a:lnTo>
                <a:lnTo>
                  <a:pt x="2942128" y="1861503"/>
                </a:lnTo>
                <a:lnTo>
                  <a:pt x="2958657" y="1877836"/>
                </a:lnTo>
                <a:lnTo>
                  <a:pt x="2975186" y="1894681"/>
                </a:lnTo>
                <a:lnTo>
                  <a:pt x="2991715" y="1912096"/>
                </a:lnTo>
                <a:lnTo>
                  <a:pt x="3008244" y="1930151"/>
                </a:lnTo>
                <a:lnTo>
                  <a:pt x="3024772" y="1948926"/>
                </a:lnTo>
                <a:lnTo>
                  <a:pt x="3041301" y="1968520"/>
                </a:lnTo>
                <a:lnTo>
                  <a:pt x="3057830" y="1989051"/>
                </a:lnTo>
                <a:lnTo>
                  <a:pt x="3074359" y="2010663"/>
                </a:lnTo>
                <a:lnTo>
                  <a:pt x="3090888" y="2033534"/>
                </a:lnTo>
                <a:lnTo>
                  <a:pt x="3107417" y="2057892"/>
                </a:lnTo>
                <a:lnTo>
                  <a:pt x="3123945" y="2084025"/>
                </a:lnTo>
                <a:lnTo>
                  <a:pt x="3140474" y="2112316"/>
                </a:lnTo>
                <a:lnTo>
                  <a:pt x="3157003" y="2143284"/>
                </a:lnTo>
                <a:lnTo>
                  <a:pt x="3173532" y="2177655"/>
                </a:lnTo>
                <a:lnTo>
                  <a:pt x="3190061" y="2216493"/>
                </a:lnTo>
                <a:lnTo>
                  <a:pt x="3206589" y="2261446"/>
                </a:lnTo>
                <a:lnTo>
                  <a:pt x="3223118" y="2315279"/>
                </a:lnTo>
                <a:lnTo>
                  <a:pt x="3239647" y="2383171"/>
                </a:lnTo>
                <a:lnTo>
                  <a:pt x="3256176" y="2476751"/>
                </a:lnTo>
                <a:lnTo>
                  <a:pt x="3272705" y="263312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32 line 28" descr="sci-ppt:o028"/>
          <p:cNvCxnSpPr/>
          <p:nvPr/>
        </p:nvCxnSpPr>
        <p:spPr>
          <a:xfrm>
            <a:off x="4937760" y="4572000"/>
            <a:ext cx="32918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1" name="C1-E32 line 29" descr="sci-ppt:o029"/>
          <p:cNvCxnSpPr/>
          <p:nvPr/>
        </p:nvCxnSpPr>
        <p:spPr>
          <a:xfrm>
            <a:off x="493776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2" name="C1-E32 line 30" descr="sci-ppt:o030"/>
          <p:cNvCxnSpPr/>
          <p:nvPr/>
        </p:nvCxnSpPr>
        <p:spPr>
          <a:xfrm>
            <a:off x="49377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1-E32 line 31" descr="sci-ppt:o031"/>
          <p:cNvCxnSpPr/>
          <p:nvPr/>
        </p:nvCxnSpPr>
        <p:spPr>
          <a:xfrm>
            <a:off x="493776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1-E32 text 32" descr="sci-ppt:o032"/>
          <p:cNvSpPr txBox="1"/>
          <p:nvPr/>
        </p:nvSpPr>
        <p:spPr>
          <a:xfrm>
            <a:off x="44805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35" name="C1-E32 line 33" descr="sci-ppt:o033"/>
          <p:cNvCxnSpPr/>
          <p:nvPr/>
        </p:nvCxnSpPr>
        <p:spPr>
          <a:xfrm>
            <a:off x="603504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1-E32 line 34" descr="sci-ppt:o034"/>
          <p:cNvCxnSpPr/>
          <p:nvPr/>
        </p:nvCxnSpPr>
        <p:spPr>
          <a:xfrm>
            <a:off x="603504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7" name="C1-E32 text 35" descr="sci-ppt:o035"/>
          <p:cNvSpPr txBox="1"/>
          <p:nvPr/>
        </p:nvSpPr>
        <p:spPr>
          <a:xfrm>
            <a:off x="557784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8" name="C1-E32 line 36" descr="sci-ppt:o036"/>
          <p:cNvCxnSpPr/>
          <p:nvPr/>
        </p:nvCxnSpPr>
        <p:spPr>
          <a:xfrm>
            <a:off x="71323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9" name="C1-E32 line 37" descr="sci-ppt:o037"/>
          <p:cNvCxnSpPr/>
          <p:nvPr/>
        </p:nvCxnSpPr>
        <p:spPr>
          <a:xfrm>
            <a:off x="713232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0" name="C1-E32 text 38" descr="sci-ppt:o038"/>
          <p:cNvSpPr txBox="1"/>
          <p:nvPr/>
        </p:nvSpPr>
        <p:spPr>
          <a:xfrm>
            <a:off x="66751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41" name="C1-E32 line 39" descr="sci-ppt:o039"/>
          <p:cNvCxnSpPr/>
          <p:nvPr/>
        </p:nvCxnSpPr>
        <p:spPr>
          <a:xfrm>
            <a:off x="822960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2" name="C1-E32 line 40" descr="sci-ppt:o040"/>
          <p:cNvCxnSpPr/>
          <p:nvPr/>
        </p:nvCxnSpPr>
        <p:spPr>
          <a:xfrm>
            <a:off x="822960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3" name="C1-E32 text 41" descr="sci-ppt:o041"/>
          <p:cNvSpPr txBox="1"/>
          <p:nvPr/>
        </p:nvSpPr>
        <p:spPr>
          <a:xfrm>
            <a:off x="777240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44" name="C1-E32 line 42" descr="sci-ppt:o042"/>
          <p:cNvCxnSpPr/>
          <p:nvPr/>
        </p:nvCxnSpPr>
        <p:spPr>
          <a:xfrm>
            <a:off x="487375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5" name="C1-E32 line 43" descr="sci-ppt:o043"/>
          <p:cNvCxnSpPr/>
          <p:nvPr/>
        </p:nvCxnSpPr>
        <p:spPr>
          <a:xfrm>
            <a:off x="4873752" y="359860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32 line 44" descr="sci-ppt:o044"/>
          <p:cNvCxnSpPr/>
          <p:nvPr/>
        </p:nvCxnSpPr>
        <p:spPr>
          <a:xfrm>
            <a:off x="4937760" y="3598606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C1-E32 text 45" descr="sci-ppt:o045"/>
          <p:cNvSpPr txBox="1"/>
          <p:nvPr/>
        </p:nvSpPr>
        <p:spPr>
          <a:xfrm>
            <a:off x="4069080" y="351631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48" name="C1-E32 line 46" descr="sci-ppt:o046"/>
          <p:cNvCxnSpPr/>
          <p:nvPr/>
        </p:nvCxnSpPr>
        <p:spPr>
          <a:xfrm>
            <a:off x="4873752" y="262521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32 line 47" descr="sci-ppt:o047"/>
          <p:cNvCxnSpPr/>
          <p:nvPr/>
        </p:nvCxnSpPr>
        <p:spPr>
          <a:xfrm>
            <a:off x="4937760" y="2625212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0" name="C1-E32 text 48" descr="sci-ppt:o048"/>
          <p:cNvSpPr txBox="1"/>
          <p:nvPr/>
        </p:nvSpPr>
        <p:spPr>
          <a:xfrm>
            <a:off x="4069080" y="254291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51" name="C1-E32 line 49" descr="sci-ppt:o049"/>
          <p:cNvCxnSpPr/>
          <p:nvPr/>
        </p:nvCxnSpPr>
        <p:spPr>
          <a:xfrm>
            <a:off x="4873752" y="16518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2" name="C1-E32 line 50" descr="sci-ppt:o050"/>
          <p:cNvCxnSpPr/>
          <p:nvPr/>
        </p:nvCxnSpPr>
        <p:spPr>
          <a:xfrm>
            <a:off x="4937760" y="1651819"/>
            <a:ext cx="32918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3" name="C1-E32 text 51" descr="sci-ppt:o051"/>
          <p:cNvSpPr txBox="1"/>
          <p:nvPr/>
        </p:nvSpPr>
        <p:spPr>
          <a:xfrm>
            <a:off x="4069080" y="156952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30</a:t>
            </a:r>
          </a:p>
        </p:txBody>
      </p:sp>
      <p:sp>
        <p:nvSpPr>
          <p:cNvPr id="54" name="C1-E32 text 52" descr="sci-ppt:o052"/>
          <p:cNvSpPr txBox="1"/>
          <p:nvPr/>
        </p:nvSpPr>
        <p:spPr>
          <a:xfrm>
            <a:off x="4937760" y="4855464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(µs)</a:t>
            </a:r>
          </a:p>
        </p:txBody>
      </p:sp>
      <p:sp>
        <p:nvSpPr>
          <p:cNvPr id="55" name="C1-E32 text 53" descr="sci-ppt:o053"/>
          <p:cNvSpPr txBox="1"/>
          <p:nvPr/>
        </p:nvSpPr>
        <p:spPr>
          <a:xfrm>
            <a:off x="4389120" y="1207007"/>
            <a:ext cx="32918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(µm)</a:t>
            </a:r>
          </a:p>
        </p:txBody>
      </p:sp>
      <p:sp>
        <p:nvSpPr>
          <p:cNvPr id="56" name="C1-E32 polygon 54" descr="sci-ppt:o054"/>
          <p:cNvSpPr/>
          <p:nvPr/>
        </p:nvSpPr>
        <p:spPr>
          <a:xfrm>
            <a:off x="4937760" y="1651819"/>
            <a:ext cx="3010984" cy="2919596"/>
          </a:xfrm>
          <a:custGeom>
            <a:avLst/>
            <a:gdLst/>
            <a:ahLst/>
            <a:cxnLst/>
            <a:rect l="l" t="t" r="r" b="b"/>
            <a:pathLst>
              <a:path w="3010984" h="2919596">
                <a:moveTo>
                  <a:pt x="0" y="0"/>
                </a:moveTo>
                <a:lnTo>
                  <a:pt x="31083" y="130"/>
                </a:lnTo>
                <a:lnTo>
                  <a:pt x="62165" y="521"/>
                </a:lnTo>
                <a:lnTo>
                  <a:pt x="93240" y="1172"/>
                </a:lnTo>
                <a:lnTo>
                  <a:pt x="124308" y="2083"/>
                </a:lnTo>
                <a:lnTo>
                  <a:pt x="155364" y="3255"/>
                </a:lnTo>
                <a:lnTo>
                  <a:pt x="186406" y="4687"/>
                </a:lnTo>
                <a:lnTo>
                  <a:pt x="217432" y="6379"/>
                </a:lnTo>
                <a:lnTo>
                  <a:pt x="248439" y="8332"/>
                </a:lnTo>
                <a:lnTo>
                  <a:pt x="279423" y="10546"/>
                </a:lnTo>
                <a:lnTo>
                  <a:pt x="310382" y="13019"/>
                </a:lnTo>
                <a:lnTo>
                  <a:pt x="341313" y="15753"/>
                </a:lnTo>
                <a:lnTo>
                  <a:pt x="372214" y="18748"/>
                </a:lnTo>
                <a:lnTo>
                  <a:pt x="403082" y="22003"/>
                </a:lnTo>
                <a:lnTo>
                  <a:pt x="433913" y="25518"/>
                </a:lnTo>
                <a:lnTo>
                  <a:pt x="464706" y="29293"/>
                </a:lnTo>
                <a:lnTo>
                  <a:pt x="495456" y="33329"/>
                </a:lnTo>
                <a:lnTo>
                  <a:pt x="526163" y="37626"/>
                </a:lnTo>
                <a:lnTo>
                  <a:pt x="556822" y="42183"/>
                </a:lnTo>
                <a:lnTo>
                  <a:pt x="587430" y="47000"/>
                </a:lnTo>
                <a:lnTo>
                  <a:pt x="617986" y="52077"/>
                </a:lnTo>
                <a:lnTo>
                  <a:pt x="648486" y="57415"/>
                </a:lnTo>
                <a:lnTo>
                  <a:pt x="678928" y="63013"/>
                </a:lnTo>
                <a:lnTo>
                  <a:pt x="709308" y="68872"/>
                </a:lnTo>
                <a:lnTo>
                  <a:pt x="739624" y="74991"/>
                </a:lnTo>
                <a:lnTo>
                  <a:pt x="769873" y="81371"/>
                </a:lnTo>
                <a:lnTo>
                  <a:pt x="800051" y="88011"/>
                </a:lnTo>
                <a:lnTo>
                  <a:pt x="830158" y="94911"/>
                </a:lnTo>
                <a:lnTo>
                  <a:pt x="860188" y="102072"/>
                </a:lnTo>
                <a:lnTo>
                  <a:pt x="890140" y="109493"/>
                </a:lnTo>
                <a:lnTo>
                  <a:pt x="920010" y="117174"/>
                </a:lnTo>
                <a:lnTo>
                  <a:pt x="949796" y="125116"/>
                </a:lnTo>
                <a:lnTo>
                  <a:pt x="979496" y="133318"/>
                </a:lnTo>
                <a:lnTo>
                  <a:pt x="1009105" y="141781"/>
                </a:lnTo>
                <a:lnTo>
                  <a:pt x="1038621" y="150504"/>
                </a:lnTo>
                <a:lnTo>
                  <a:pt x="1068041" y="159487"/>
                </a:lnTo>
                <a:lnTo>
                  <a:pt x="1097362" y="168731"/>
                </a:lnTo>
                <a:lnTo>
                  <a:pt x="1126582" y="178235"/>
                </a:lnTo>
                <a:lnTo>
                  <a:pt x="1155697" y="187999"/>
                </a:lnTo>
                <a:lnTo>
                  <a:pt x="1184705" y="198024"/>
                </a:lnTo>
                <a:lnTo>
                  <a:pt x="1213602" y="208309"/>
                </a:lnTo>
                <a:lnTo>
                  <a:pt x="1242385" y="218855"/>
                </a:lnTo>
                <a:lnTo>
                  <a:pt x="1271052" y="229661"/>
                </a:lnTo>
                <a:lnTo>
                  <a:pt x="1299600" y="240728"/>
                </a:lnTo>
                <a:lnTo>
                  <a:pt x="1328025" y="252054"/>
                </a:lnTo>
                <a:lnTo>
                  <a:pt x="1356325" y="263642"/>
                </a:lnTo>
                <a:lnTo>
                  <a:pt x="1384496" y="275489"/>
                </a:lnTo>
                <a:lnTo>
                  <a:pt x="1412535" y="287597"/>
                </a:lnTo>
                <a:lnTo>
                  <a:pt x="1440441" y="299966"/>
                </a:lnTo>
                <a:lnTo>
                  <a:pt x="1468208" y="312594"/>
                </a:lnTo>
                <a:lnTo>
                  <a:pt x="1495835" y="325484"/>
                </a:lnTo>
                <a:lnTo>
                  <a:pt x="1523318" y="338633"/>
                </a:lnTo>
                <a:lnTo>
                  <a:pt x="1550655" y="352043"/>
                </a:lnTo>
                <a:lnTo>
                  <a:pt x="1577842" y="365713"/>
                </a:lnTo>
                <a:lnTo>
                  <a:pt x="1604875" y="379644"/>
                </a:lnTo>
                <a:lnTo>
                  <a:pt x="1631753" y="393835"/>
                </a:lnTo>
                <a:lnTo>
                  <a:pt x="1658471" y="408287"/>
                </a:lnTo>
                <a:lnTo>
                  <a:pt x="1685027" y="422998"/>
                </a:lnTo>
                <a:lnTo>
                  <a:pt x="1711417" y="437971"/>
                </a:lnTo>
                <a:lnTo>
                  <a:pt x="1737639" y="453203"/>
                </a:lnTo>
                <a:lnTo>
                  <a:pt x="1763689" y="468696"/>
                </a:lnTo>
                <a:lnTo>
                  <a:pt x="1789564" y="484450"/>
                </a:lnTo>
                <a:lnTo>
                  <a:pt x="1815260" y="500464"/>
                </a:lnTo>
                <a:lnTo>
                  <a:pt x="1840775" y="516738"/>
                </a:lnTo>
                <a:lnTo>
                  <a:pt x="1866106" y="533272"/>
                </a:lnTo>
                <a:lnTo>
                  <a:pt x="1891248" y="550067"/>
                </a:lnTo>
                <a:lnTo>
                  <a:pt x="1916199" y="567123"/>
                </a:lnTo>
                <a:lnTo>
                  <a:pt x="1940956" y="584438"/>
                </a:lnTo>
                <a:lnTo>
                  <a:pt x="1965515" y="602014"/>
                </a:lnTo>
                <a:lnTo>
                  <a:pt x="1989873" y="619851"/>
                </a:lnTo>
                <a:lnTo>
                  <a:pt x="2014026" y="637948"/>
                </a:lnTo>
                <a:lnTo>
                  <a:pt x="2037972" y="656305"/>
                </a:lnTo>
                <a:lnTo>
                  <a:pt x="2061706" y="674923"/>
                </a:lnTo>
                <a:lnTo>
                  <a:pt x="2085227" y="693801"/>
                </a:lnTo>
                <a:lnTo>
                  <a:pt x="2108529" y="712939"/>
                </a:lnTo>
                <a:lnTo>
                  <a:pt x="2131611" y="732338"/>
                </a:lnTo>
                <a:lnTo>
                  <a:pt x="2154468" y="751997"/>
                </a:lnTo>
                <a:lnTo>
                  <a:pt x="2177097" y="771917"/>
                </a:lnTo>
                <a:lnTo>
                  <a:pt x="2199495" y="792097"/>
                </a:lnTo>
                <a:lnTo>
                  <a:pt x="2221658" y="812537"/>
                </a:lnTo>
                <a:lnTo>
                  <a:pt x="2243583" y="833238"/>
                </a:lnTo>
                <a:lnTo>
                  <a:pt x="2265266" y="854199"/>
                </a:lnTo>
                <a:lnTo>
                  <a:pt x="2286704" y="875421"/>
                </a:lnTo>
                <a:lnTo>
                  <a:pt x="2307894" y="896903"/>
                </a:lnTo>
                <a:lnTo>
                  <a:pt x="2328832" y="918645"/>
                </a:lnTo>
                <a:lnTo>
                  <a:pt x="2349515" y="940648"/>
                </a:lnTo>
                <a:lnTo>
                  <a:pt x="2369938" y="962911"/>
                </a:lnTo>
                <a:lnTo>
                  <a:pt x="2390100" y="985434"/>
                </a:lnTo>
                <a:lnTo>
                  <a:pt x="2409995" y="1008218"/>
                </a:lnTo>
                <a:lnTo>
                  <a:pt x="2429622" y="1031262"/>
                </a:lnTo>
                <a:lnTo>
                  <a:pt x="2448975" y="1054567"/>
                </a:lnTo>
                <a:lnTo>
                  <a:pt x="2468052" y="1078132"/>
                </a:lnTo>
                <a:lnTo>
                  <a:pt x="2486850" y="1101957"/>
                </a:lnTo>
                <a:lnTo>
                  <a:pt x="2505364" y="1126043"/>
                </a:lnTo>
                <a:lnTo>
                  <a:pt x="2523591" y="1150389"/>
                </a:lnTo>
                <a:lnTo>
                  <a:pt x="2541528" y="1174996"/>
                </a:lnTo>
                <a:lnTo>
                  <a:pt x="2559172" y="1199863"/>
                </a:lnTo>
                <a:lnTo>
                  <a:pt x="2576519" y="1224990"/>
                </a:lnTo>
                <a:lnTo>
                  <a:pt x="2593565" y="1250378"/>
                </a:lnTo>
                <a:lnTo>
                  <a:pt x="2610307" y="1276026"/>
                </a:lnTo>
                <a:lnTo>
                  <a:pt x="2626741" y="1301935"/>
                </a:lnTo>
                <a:lnTo>
                  <a:pt x="2642866" y="1328103"/>
                </a:lnTo>
                <a:lnTo>
                  <a:pt x="2658675" y="1354533"/>
                </a:lnTo>
                <a:lnTo>
                  <a:pt x="2674168" y="1381222"/>
                </a:lnTo>
                <a:lnTo>
                  <a:pt x="2689340" y="1408172"/>
                </a:lnTo>
                <a:lnTo>
                  <a:pt x="2704188" y="1435383"/>
                </a:lnTo>
                <a:lnTo>
                  <a:pt x="2718709" y="1462854"/>
                </a:lnTo>
                <a:lnTo>
                  <a:pt x="2732899" y="1490585"/>
                </a:lnTo>
                <a:lnTo>
                  <a:pt x="2746757" y="1518576"/>
                </a:lnTo>
                <a:lnTo>
                  <a:pt x="2760277" y="1546828"/>
                </a:lnTo>
                <a:lnTo>
                  <a:pt x="2773458" y="1575341"/>
                </a:lnTo>
                <a:lnTo>
                  <a:pt x="2786297" y="1604114"/>
                </a:lnTo>
                <a:lnTo>
                  <a:pt x="2798791" y="1633147"/>
                </a:lnTo>
                <a:lnTo>
                  <a:pt x="2810937" y="1662440"/>
                </a:lnTo>
                <a:lnTo>
                  <a:pt x="2822732" y="1691994"/>
                </a:lnTo>
                <a:lnTo>
                  <a:pt x="2834174" y="1721808"/>
                </a:lnTo>
                <a:lnTo>
                  <a:pt x="2845260" y="1751883"/>
                </a:lnTo>
                <a:lnTo>
                  <a:pt x="2855989" y="1782218"/>
                </a:lnTo>
                <a:lnTo>
                  <a:pt x="2866357" y="1812814"/>
                </a:lnTo>
                <a:lnTo>
                  <a:pt x="2876363" y="1843670"/>
                </a:lnTo>
                <a:lnTo>
                  <a:pt x="2886006" y="1874786"/>
                </a:lnTo>
                <a:lnTo>
                  <a:pt x="2895282" y="1906162"/>
                </a:lnTo>
                <a:lnTo>
                  <a:pt x="2904192" y="1937799"/>
                </a:lnTo>
                <a:lnTo>
                  <a:pt x="2912733" y="1969697"/>
                </a:lnTo>
                <a:lnTo>
                  <a:pt x="2920904" y="2001855"/>
                </a:lnTo>
                <a:lnTo>
                  <a:pt x="2928706" y="2034273"/>
                </a:lnTo>
                <a:lnTo>
                  <a:pt x="2936136" y="2066951"/>
                </a:lnTo>
                <a:lnTo>
                  <a:pt x="2943195" y="2099890"/>
                </a:lnTo>
                <a:lnTo>
                  <a:pt x="2949884" y="2133090"/>
                </a:lnTo>
                <a:lnTo>
                  <a:pt x="2956202" y="2166549"/>
                </a:lnTo>
                <a:lnTo>
                  <a:pt x="2962150" y="2200269"/>
                </a:lnTo>
                <a:lnTo>
                  <a:pt x="2967730" y="2234250"/>
                </a:lnTo>
                <a:lnTo>
                  <a:pt x="2972944" y="2268491"/>
                </a:lnTo>
                <a:lnTo>
                  <a:pt x="2977793" y="2302992"/>
                </a:lnTo>
                <a:lnTo>
                  <a:pt x="2982281" y="2337754"/>
                </a:lnTo>
                <a:lnTo>
                  <a:pt x="2986410" y="2372776"/>
                </a:lnTo>
                <a:lnTo>
                  <a:pt x="2990186" y="2408058"/>
                </a:lnTo>
                <a:lnTo>
                  <a:pt x="2993613" y="2443601"/>
                </a:lnTo>
                <a:lnTo>
                  <a:pt x="2996697" y="2479404"/>
                </a:lnTo>
                <a:lnTo>
                  <a:pt x="2999444" y="2515468"/>
                </a:lnTo>
                <a:lnTo>
                  <a:pt x="3001863" y="2551792"/>
                </a:lnTo>
                <a:lnTo>
                  <a:pt x="3003962" y="2588376"/>
                </a:lnTo>
                <a:lnTo>
                  <a:pt x="3005752" y="2625221"/>
                </a:lnTo>
                <a:lnTo>
                  <a:pt x="3007246" y="2662326"/>
                </a:lnTo>
                <a:lnTo>
                  <a:pt x="3008456" y="2699692"/>
                </a:lnTo>
                <a:lnTo>
                  <a:pt x="3009400" y="2737318"/>
                </a:lnTo>
                <a:lnTo>
                  <a:pt x="3010097" y="2775204"/>
                </a:lnTo>
                <a:lnTo>
                  <a:pt x="3010570" y="2813350"/>
                </a:lnTo>
                <a:lnTo>
                  <a:pt x="3010848" y="2851758"/>
                </a:lnTo>
                <a:lnTo>
                  <a:pt x="3010967" y="2890425"/>
                </a:lnTo>
                <a:lnTo>
                  <a:pt x="3010984" y="2919596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1-E32 line 55" descr="sci-ppt:o055"/>
          <p:cNvCxnSpPr/>
          <p:nvPr/>
        </p:nvCxnSpPr>
        <p:spPr>
          <a:xfrm>
            <a:off x="7948744" y="1554480"/>
            <a:ext cx="0" cy="3017520"/>
          </a:xfrm>
          <a:prstGeom prst="line">
            <a:avLst/>
          </a:prstGeom>
          <a:ln w="16510">
            <a:solidFill>
              <a:srgbClr val="F28BA0"/>
            </a:solidFill>
            <a:prstDash val="dash"/>
          </a:ln>
          <a:effectLst/>
        </p:spPr>
      </p:cxnSp>
      <p:cxnSp>
        <p:nvCxnSpPr>
          <p:cNvPr id="58" name="C1-E32 line 56" descr="sci-ppt:o056"/>
          <p:cNvCxnSpPr/>
          <p:nvPr/>
        </p:nvCxnSpPr>
        <p:spPr>
          <a:xfrm>
            <a:off x="8961120" y="4572000"/>
            <a:ext cx="2834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9" name="C1-E32 line 57" descr="sci-ppt:o057"/>
          <p:cNvCxnSpPr/>
          <p:nvPr/>
        </p:nvCxnSpPr>
        <p:spPr>
          <a:xfrm>
            <a:off x="8961120" y="1554480"/>
            <a:ext cx="0" cy="30175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60" name="C1-E32 line 58" descr="sci-ppt:o058"/>
          <p:cNvCxnSpPr/>
          <p:nvPr/>
        </p:nvCxnSpPr>
        <p:spPr>
          <a:xfrm>
            <a:off x="89611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1" name="C1-E32 line 59" descr="sci-ppt:o059"/>
          <p:cNvCxnSpPr/>
          <p:nvPr/>
        </p:nvCxnSpPr>
        <p:spPr>
          <a:xfrm>
            <a:off x="896112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2" name="C1-E32 text 60" descr="sci-ppt:o060"/>
          <p:cNvSpPr txBox="1"/>
          <p:nvPr/>
        </p:nvSpPr>
        <p:spPr>
          <a:xfrm>
            <a:off x="85039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63" name="C1-E32 line 61" descr="sci-ppt:o061"/>
          <p:cNvCxnSpPr/>
          <p:nvPr/>
        </p:nvCxnSpPr>
        <p:spPr>
          <a:xfrm>
            <a:off x="1037844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4" name="C1-E32 line 62" descr="sci-ppt:o062"/>
          <p:cNvCxnSpPr/>
          <p:nvPr/>
        </p:nvCxnSpPr>
        <p:spPr>
          <a:xfrm>
            <a:off x="1037844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5" name="C1-E32 text 63" descr="sci-ppt:o063"/>
          <p:cNvSpPr txBox="1"/>
          <p:nvPr/>
        </p:nvSpPr>
        <p:spPr>
          <a:xfrm>
            <a:off x="992124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66" name="C1-E32 line 64" descr="sci-ppt:o064"/>
          <p:cNvCxnSpPr/>
          <p:nvPr/>
        </p:nvCxnSpPr>
        <p:spPr>
          <a:xfrm>
            <a:off x="117957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7" name="C1-E32 line 65" descr="sci-ppt:o065"/>
          <p:cNvCxnSpPr/>
          <p:nvPr/>
        </p:nvCxnSpPr>
        <p:spPr>
          <a:xfrm>
            <a:off x="11795760" y="1554480"/>
            <a:ext cx="0" cy="30175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68" name="C1-E32 text 66" descr="sci-ppt:o066"/>
          <p:cNvSpPr txBox="1"/>
          <p:nvPr/>
        </p:nvSpPr>
        <p:spPr>
          <a:xfrm>
            <a:off x="113385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69" name="C1-E32 line 67" descr="sci-ppt:o067"/>
          <p:cNvCxnSpPr/>
          <p:nvPr/>
        </p:nvCxnSpPr>
        <p:spPr>
          <a:xfrm>
            <a:off x="889711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0" name="C1-E32 line 68" descr="sci-ppt:o068"/>
          <p:cNvCxnSpPr/>
          <p:nvPr/>
        </p:nvCxnSpPr>
        <p:spPr>
          <a:xfrm>
            <a:off x="8897112" y="31350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1" name="C1-E32 line 69" descr="sci-ppt:o069"/>
          <p:cNvCxnSpPr/>
          <p:nvPr/>
        </p:nvCxnSpPr>
        <p:spPr>
          <a:xfrm>
            <a:off x="8961120" y="3135085"/>
            <a:ext cx="2834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2" name="C1-E32 text 70" descr="sci-ppt:o070"/>
          <p:cNvSpPr txBox="1"/>
          <p:nvPr/>
        </p:nvSpPr>
        <p:spPr>
          <a:xfrm>
            <a:off x="8092440" y="30527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73" name="C1-E32 line 71" descr="sci-ppt:o071"/>
          <p:cNvCxnSpPr/>
          <p:nvPr/>
        </p:nvCxnSpPr>
        <p:spPr>
          <a:xfrm>
            <a:off x="8897112" y="16981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74" name="C1-E32 line 72" descr="sci-ppt:o072"/>
          <p:cNvCxnSpPr/>
          <p:nvPr/>
        </p:nvCxnSpPr>
        <p:spPr>
          <a:xfrm>
            <a:off x="8961120" y="1698171"/>
            <a:ext cx="2834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5" name="C1-E32 text 73" descr="sci-ppt:o073"/>
          <p:cNvSpPr txBox="1"/>
          <p:nvPr/>
        </p:nvSpPr>
        <p:spPr>
          <a:xfrm>
            <a:off x="8092440" y="16158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76" name="C1-E32 text 74" descr="sci-ppt:o074"/>
          <p:cNvSpPr txBox="1"/>
          <p:nvPr/>
        </p:nvSpPr>
        <p:spPr>
          <a:xfrm>
            <a:off x="8961120" y="4855464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Rₘₐₓ</a:t>
            </a:r>
          </a:p>
        </p:txBody>
      </p:sp>
      <p:sp>
        <p:nvSpPr>
          <p:cNvPr id="77" name="C1-E32 text 75" descr="sci-ppt:o075"/>
          <p:cNvSpPr txBox="1"/>
          <p:nvPr/>
        </p:nvSpPr>
        <p:spPr>
          <a:xfrm>
            <a:off x="8412480" y="1207007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Kₗ / E_B</a:t>
            </a:r>
          </a:p>
        </p:txBody>
      </p:sp>
      <p:sp>
        <p:nvSpPr>
          <p:cNvPr id="78" name="C1-E32 polygon 76" descr="sci-ppt:o076"/>
          <p:cNvSpPr/>
          <p:nvPr/>
        </p:nvSpPr>
        <p:spPr>
          <a:xfrm>
            <a:off x="8961120" y="1698171"/>
            <a:ext cx="2834640" cy="2873829"/>
          </a:xfrm>
          <a:custGeom>
            <a:avLst/>
            <a:gdLst/>
            <a:ahLst/>
            <a:cxnLst/>
            <a:rect l="l" t="t" r="r" b="b"/>
            <a:pathLst>
              <a:path w="2834640" h="2873829">
                <a:moveTo>
                  <a:pt x="0" y="0"/>
                </a:moveTo>
                <a:lnTo>
                  <a:pt x="28632" y="3"/>
                </a:lnTo>
                <a:lnTo>
                  <a:pt x="57265" y="24"/>
                </a:lnTo>
                <a:lnTo>
                  <a:pt x="85898" y="80"/>
                </a:lnTo>
                <a:lnTo>
                  <a:pt x="114530" y="189"/>
                </a:lnTo>
                <a:lnTo>
                  <a:pt x="143163" y="370"/>
                </a:lnTo>
                <a:lnTo>
                  <a:pt x="171796" y="640"/>
                </a:lnTo>
                <a:lnTo>
                  <a:pt x="200429" y="1016"/>
                </a:lnTo>
                <a:lnTo>
                  <a:pt x="229061" y="1516"/>
                </a:lnTo>
                <a:lnTo>
                  <a:pt x="257694" y="2159"/>
                </a:lnTo>
                <a:lnTo>
                  <a:pt x="286327" y="2962"/>
                </a:lnTo>
                <a:lnTo>
                  <a:pt x="314960" y="3942"/>
                </a:lnTo>
                <a:lnTo>
                  <a:pt x="343592" y="5118"/>
                </a:lnTo>
                <a:lnTo>
                  <a:pt x="372225" y="6507"/>
                </a:lnTo>
                <a:lnTo>
                  <a:pt x="400858" y="8127"/>
                </a:lnTo>
                <a:lnTo>
                  <a:pt x="429490" y="9996"/>
                </a:lnTo>
                <a:lnTo>
                  <a:pt x="458123" y="12131"/>
                </a:lnTo>
                <a:lnTo>
                  <a:pt x="486756" y="14551"/>
                </a:lnTo>
                <a:lnTo>
                  <a:pt x="515389" y="17273"/>
                </a:lnTo>
                <a:lnTo>
                  <a:pt x="544021" y="20315"/>
                </a:lnTo>
                <a:lnTo>
                  <a:pt x="572654" y="23694"/>
                </a:lnTo>
                <a:lnTo>
                  <a:pt x="601287" y="27429"/>
                </a:lnTo>
                <a:lnTo>
                  <a:pt x="629920" y="31537"/>
                </a:lnTo>
                <a:lnTo>
                  <a:pt x="658552" y="36036"/>
                </a:lnTo>
                <a:lnTo>
                  <a:pt x="687185" y="40944"/>
                </a:lnTo>
                <a:lnTo>
                  <a:pt x="715818" y="46278"/>
                </a:lnTo>
                <a:lnTo>
                  <a:pt x="744450" y="52056"/>
                </a:lnTo>
                <a:lnTo>
                  <a:pt x="773083" y="58297"/>
                </a:lnTo>
                <a:lnTo>
                  <a:pt x="801716" y="65017"/>
                </a:lnTo>
                <a:lnTo>
                  <a:pt x="830349" y="72235"/>
                </a:lnTo>
                <a:lnTo>
                  <a:pt x="858981" y="79968"/>
                </a:lnTo>
                <a:lnTo>
                  <a:pt x="887614" y="88235"/>
                </a:lnTo>
                <a:lnTo>
                  <a:pt x="916247" y="97052"/>
                </a:lnTo>
                <a:lnTo>
                  <a:pt x="944880" y="106438"/>
                </a:lnTo>
                <a:lnTo>
                  <a:pt x="973512" y="116410"/>
                </a:lnTo>
                <a:lnTo>
                  <a:pt x="1002145" y="126987"/>
                </a:lnTo>
                <a:lnTo>
                  <a:pt x="1030778" y="138186"/>
                </a:lnTo>
                <a:lnTo>
                  <a:pt x="1059410" y="150024"/>
                </a:lnTo>
                <a:lnTo>
                  <a:pt x="1088043" y="162520"/>
                </a:lnTo>
                <a:lnTo>
                  <a:pt x="1116676" y="175691"/>
                </a:lnTo>
                <a:lnTo>
                  <a:pt x="1145309" y="189555"/>
                </a:lnTo>
                <a:lnTo>
                  <a:pt x="1173941" y="204130"/>
                </a:lnTo>
                <a:lnTo>
                  <a:pt x="1202574" y="219434"/>
                </a:lnTo>
                <a:lnTo>
                  <a:pt x="1231207" y="235484"/>
                </a:lnTo>
                <a:lnTo>
                  <a:pt x="1259840" y="252298"/>
                </a:lnTo>
                <a:lnTo>
                  <a:pt x="1288472" y="269894"/>
                </a:lnTo>
                <a:lnTo>
                  <a:pt x="1317105" y="288289"/>
                </a:lnTo>
                <a:lnTo>
                  <a:pt x="1345738" y="307503"/>
                </a:lnTo>
                <a:lnTo>
                  <a:pt x="1374370" y="327551"/>
                </a:lnTo>
                <a:lnTo>
                  <a:pt x="1403003" y="348452"/>
                </a:lnTo>
                <a:lnTo>
                  <a:pt x="1431636" y="370225"/>
                </a:lnTo>
                <a:lnTo>
                  <a:pt x="1460269" y="392885"/>
                </a:lnTo>
                <a:lnTo>
                  <a:pt x="1488901" y="416452"/>
                </a:lnTo>
                <a:lnTo>
                  <a:pt x="1517534" y="440943"/>
                </a:lnTo>
                <a:lnTo>
                  <a:pt x="1546167" y="466376"/>
                </a:lnTo>
                <a:lnTo>
                  <a:pt x="1574800" y="492769"/>
                </a:lnTo>
                <a:lnTo>
                  <a:pt x="1603432" y="520139"/>
                </a:lnTo>
                <a:lnTo>
                  <a:pt x="1632065" y="548504"/>
                </a:lnTo>
                <a:lnTo>
                  <a:pt x="1660698" y="577882"/>
                </a:lnTo>
                <a:lnTo>
                  <a:pt x="1689330" y="608291"/>
                </a:lnTo>
                <a:lnTo>
                  <a:pt x="1717963" y="639748"/>
                </a:lnTo>
                <a:lnTo>
                  <a:pt x="1746596" y="672272"/>
                </a:lnTo>
                <a:lnTo>
                  <a:pt x="1775229" y="705879"/>
                </a:lnTo>
                <a:lnTo>
                  <a:pt x="1803861" y="740588"/>
                </a:lnTo>
                <a:lnTo>
                  <a:pt x="1832494" y="776417"/>
                </a:lnTo>
                <a:lnTo>
                  <a:pt x="1861127" y="813383"/>
                </a:lnTo>
                <a:lnTo>
                  <a:pt x="1889760" y="851505"/>
                </a:lnTo>
                <a:lnTo>
                  <a:pt x="1918392" y="890799"/>
                </a:lnTo>
                <a:lnTo>
                  <a:pt x="1947025" y="931284"/>
                </a:lnTo>
                <a:lnTo>
                  <a:pt x="1975658" y="972977"/>
                </a:lnTo>
                <a:lnTo>
                  <a:pt x="2004290" y="1015896"/>
                </a:lnTo>
                <a:lnTo>
                  <a:pt x="2032923" y="1060060"/>
                </a:lnTo>
                <a:lnTo>
                  <a:pt x="2061556" y="1105485"/>
                </a:lnTo>
                <a:lnTo>
                  <a:pt x="2090189" y="1152189"/>
                </a:lnTo>
                <a:lnTo>
                  <a:pt x="2118821" y="1200191"/>
                </a:lnTo>
                <a:lnTo>
                  <a:pt x="2147454" y="1249508"/>
                </a:lnTo>
                <a:lnTo>
                  <a:pt x="2176087" y="1300158"/>
                </a:lnTo>
                <a:lnTo>
                  <a:pt x="2204720" y="1352158"/>
                </a:lnTo>
                <a:lnTo>
                  <a:pt x="2233352" y="1405527"/>
                </a:lnTo>
                <a:lnTo>
                  <a:pt x="2261985" y="1460281"/>
                </a:lnTo>
                <a:lnTo>
                  <a:pt x="2290618" y="1516440"/>
                </a:lnTo>
                <a:lnTo>
                  <a:pt x="2319250" y="1574020"/>
                </a:lnTo>
                <a:lnTo>
                  <a:pt x="2347883" y="1633040"/>
                </a:lnTo>
                <a:lnTo>
                  <a:pt x="2376516" y="1693517"/>
                </a:lnTo>
                <a:lnTo>
                  <a:pt x="2405149" y="1755469"/>
                </a:lnTo>
                <a:lnTo>
                  <a:pt x="2433781" y="1818913"/>
                </a:lnTo>
                <a:lnTo>
                  <a:pt x="2462414" y="1883869"/>
                </a:lnTo>
                <a:lnTo>
                  <a:pt x="2491047" y="1950352"/>
                </a:lnTo>
                <a:lnTo>
                  <a:pt x="2519680" y="2018382"/>
                </a:lnTo>
                <a:lnTo>
                  <a:pt x="2548312" y="2087975"/>
                </a:lnTo>
                <a:lnTo>
                  <a:pt x="2576945" y="2159150"/>
                </a:lnTo>
                <a:lnTo>
                  <a:pt x="2605578" y="2231924"/>
                </a:lnTo>
                <a:lnTo>
                  <a:pt x="2634210" y="2306316"/>
                </a:lnTo>
                <a:lnTo>
                  <a:pt x="2662843" y="2382342"/>
                </a:lnTo>
                <a:lnTo>
                  <a:pt x="2691476" y="2460021"/>
                </a:lnTo>
                <a:lnTo>
                  <a:pt x="2720109" y="2539371"/>
                </a:lnTo>
                <a:lnTo>
                  <a:pt x="2748741" y="2620408"/>
                </a:lnTo>
                <a:lnTo>
                  <a:pt x="2777374" y="2703152"/>
                </a:lnTo>
                <a:lnTo>
                  <a:pt x="2806007" y="2787619"/>
                </a:lnTo>
                <a:lnTo>
                  <a:pt x="2834640" y="2873829"/>
                </a:lnTo>
              </a:path>
            </a:pathLst>
          </a:custGeom>
          <a:noFill/>
          <a:ln w="381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1-E32 text 77" descr="sci-ppt:o077"/>
          <p:cNvSpPr txBox="1"/>
          <p:nvPr/>
        </p:nvSpPr>
        <p:spPr>
          <a:xfrm>
            <a:off x="822960" y="960120"/>
            <a:ext cx="320040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8EDBD4"/>
                </a:solidFill>
                <a:latin typeface="Arial"/>
              </a:rPr>
              <a:t>Speed</a:t>
            </a:r>
          </a:p>
        </p:txBody>
      </p:sp>
      <p:sp>
        <p:nvSpPr>
          <p:cNvPr id="80" name="C1-E32 text 78" descr="sci-ppt:o078"/>
          <p:cNvSpPr txBox="1"/>
          <p:nvPr/>
        </p:nvSpPr>
        <p:spPr>
          <a:xfrm>
            <a:off x="822960" y="525780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Ṙ = −√{(2Δp_c/3ρ)[(Rₘₐₓ/R)³ − 1]}</a:t>
            </a:r>
          </a:p>
        </p:txBody>
      </p:sp>
      <p:sp>
        <p:nvSpPr>
          <p:cNvPr id="81" name="C1-E32 text 79" descr="sci-ppt:o079"/>
          <p:cNvSpPr txBox="1"/>
          <p:nvPr/>
        </p:nvSpPr>
        <p:spPr>
          <a:xfrm>
            <a:off x="4937760" y="960120"/>
            <a:ext cx="320040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Time</a:t>
            </a:r>
          </a:p>
        </p:txBody>
      </p:sp>
      <p:sp>
        <p:nvSpPr>
          <p:cNvPr id="82" name="C1-E32 text 80" descr="sci-ppt:o080"/>
          <p:cNvSpPr txBox="1"/>
          <p:nvPr/>
        </p:nvSpPr>
        <p:spPr>
          <a:xfrm>
            <a:off x="4937760" y="5257800"/>
            <a:ext cx="338328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t_c = B(5/6,1/2)/√6 · Rₘₐₓ√(ρ/Δp_c) = 2.744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µs</a:t>
            </a:r>
          </a:p>
        </p:txBody>
      </p:sp>
      <p:sp>
        <p:nvSpPr>
          <p:cNvPr id="83" name="C1-E32 text 81" descr="sci-ppt:o081"/>
          <p:cNvSpPr txBox="1"/>
          <p:nvPr/>
        </p:nvSpPr>
        <p:spPr>
          <a:xfrm>
            <a:off x="8961120" y="960120"/>
            <a:ext cx="3200400" cy="27038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7FC8F8"/>
                </a:solidFill>
                <a:latin typeface="Arial"/>
              </a:rPr>
              <a:t>Energy</a:t>
            </a:r>
          </a:p>
        </p:txBody>
      </p:sp>
      <p:sp>
        <p:nvSpPr>
          <p:cNvPr id="84" name="C1-E32 text 82" descr="sci-ppt:o082"/>
          <p:cNvSpPr txBox="1"/>
          <p:nvPr/>
        </p:nvSpPr>
        <p:spPr>
          <a:xfrm>
            <a:off x="8961120" y="5257800"/>
            <a:ext cx="33832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Kₗ = (4π/3)Δp_c(Rₘₐₓ³ − R³)</a:t>
            </a:r>
          </a:p>
        </p:txBody>
      </p:sp>
      <p:sp>
        <p:nvSpPr>
          <p:cNvPr id="85" name="C1-E32 text 83" descr="sci-ppt:o083"/>
          <p:cNvSpPr txBox="1"/>
          <p:nvPr/>
        </p:nvSpPr>
        <p:spPr>
          <a:xfrm>
            <a:off x="457200" y="5897880"/>
            <a:ext cx="113385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The singular speed belongs to an ideal radial trajectory (no gas, viscosity, tension or compressibility), not to a validated physical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maximum.</a:t>
            </a:r>
          </a:p>
        </p:txBody>
      </p:sp>
      <p:sp>
        <p:nvSpPr>
          <p:cNvPr id="86" name="C1-E32 text 84" descr="sci-ppt:o08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Teaching inputs Rₘₐₓ = 30 µm, ρ = 1000 kg/m³, Δp_c = 100 kPa (Eqs. C1-E14, E16, E18).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