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C2-E20 | Physical-variable diagram</a:t>
            </a:r>
          </a:p>
        </p:txBody>
      </p:sp>
      <p:sp>
        <p:nvSpPr>
          <p:cNvPr id="3" name="rect2" descr="sci-ppt:C2-E20-002"/>
          <p:cNvSpPr/>
          <p:nvPr/>
        </p:nvSpPr>
        <p:spPr>
          <a:xfrm>
            <a:off x="975360" y="1463040"/>
            <a:ext cx="4267200" cy="2682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20-003"/>
          <p:cNvSpPr/>
          <p:nvPr/>
        </p:nvSpPr>
        <p:spPr>
          <a:xfrm>
            <a:off x="5242560" y="1463040"/>
            <a:ext cx="5242560" cy="26822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20-004"/>
          <p:cNvSpPr txBox="1"/>
          <p:nvPr/>
        </p:nvSpPr>
        <p:spPr>
          <a:xfrm>
            <a:off x="219456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Vapor</a:t>
            </a:r>
          </a:p>
        </p:txBody>
      </p:sp>
      <p:sp>
        <p:nvSpPr>
          <p:cNvPr id="6" name="text5" descr="sci-ppt:C2-E20-005"/>
          <p:cNvSpPr txBox="1"/>
          <p:nvPr/>
        </p:nvSpPr>
        <p:spPr>
          <a:xfrm>
            <a:off x="731520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Liquid</a:t>
            </a:r>
          </a:p>
        </p:txBody>
      </p:sp>
      <p:cxnSp>
        <p:nvCxnSpPr>
          <p:cNvPr id="7" name="arrow6" descr="sci-ppt:C2-E20-006"/>
          <p:cNvCxnSpPr/>
          <p:nvPr/>
        </p:nvCxnSpPr>
        <p:spPr>
          <a:xfrm flipH="1">
            <a:off x="3657600" y="2804160"/>
            <a:ext cx="37795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0-007"/>
          <p:cNvSpPr txBox="1"/>
          <p:nvPr/>
        </p:nvSpPr>
        <p:spPr>
          <a:xfrm>
            <a:off x="5852160" y="3108960"/>
            <a:ext cx="41452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F6BC77"/>
                </a:solidFill>
                <a:latin typeface="Arial"/>
              </a:rPr>
              <a:t>n: liquid → vapor</a:t>
            </a:r>
          </a:p>
        </p:txBody>
      </p:sp>
      <p:cxnSp>
        <p:nvCxnSpPr>
          <p:cNvPr id="9" name="arrow8" descr="sci-ppt:C2-E20-008"/>
          <p:cNvCxnSpPr/>
          <p:nvPr/>
        </p:nvCxnSpPr>
        <p:spPr>
          <a:xfrm>
            <a:off x="5242560" y="3779520"/>
            <a:ext cx="1402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0-009"/>
          <p:cNvSpPr txBox="1"/>
          <p:nvPr/>
        </p:nvSpPr>
        <p:spPr>
          <a:xfrm>
            <a:off x="5486400" y="420624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+e_r, wall motion</a:t>
            </a:r>
          </a:p>
        </p:txBody>
      </p:sp>
      <p:sp>
        <p:nvSpPr>
          <p:cNvPr id="11" name="text10" descr="sci-ppt:C2-E20-010"/>
          <p:cNvSpPr txBox="1"/>
          <p:nvPr/>
        </p:nvSpPr>
        <p:spPr>
          <a:xfrm>
            <a:off x="1219200" y="103632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Interface Gamma</a:t>
            </a:r>
          </a:p>
        </p:txBody>
      </p:sp>
      <p:sp>
        <p:nvSpPr>
          <p:cNvPr id="12" name="text11" descr="sci-ppt:C2-E20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Ṙ: moving bubble surface</a:t>
            </a:r>
          </a:p>
        </p:txBody>
      </p:sp>
      <p:sp>
        <p:nvSpPr>
          <p:cNvPr id="13" name="text12" descr="sci-ppt:C2-E20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n = −e_r: liquid → vapor</a:t>
            </a:r>
          </a:p>
        </p:txBody>
      </p:sp>
      <p:sp>
        <p:nvSpPr>
          <p:cNvPr id="14" name="text13" descr="sci-ppt:C2-E20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u_v: vapor-side motion</a:t>
            </a:r>
          </a:p>
        </p:txBody>
      </p:sp>
      <p:sp>
        <p:nvSpPr>
          <p:cNvPr id="15" name="text14" descr="sci-ppt:C2-E20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ρ_l, ρ_v: adjoining densities</a:t>
            </a:r>
          </a:p>
        </p:txBody>
      </p:sp>
      <p:sp>
        <p:nvSpPr>
          <p:cNvPr id="16" name="text15" descr="sci-ppt:C2-E20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e_r: outward radial direction</a:t>
            </a:r>
          </a:p>
        </p:txBody>
      </p:sp>
      <p:sp>
        <p:nvSpPr>
          <p:cNvPr id="17" name="text16" descr="sci-ppt:C2-E20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u_l(R), u_l: outside-liquid motion</a:t>
            </a:r>
          </a:p>
        </p:txBody>
      </p:sp>
      <p:sp>
        <p:nvSpPr>
          <p:cNvPr id="18" name="text17" descr="sci-ppt:C2-E20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v_Γ: interface motion</a:t>
            </a:r>
          </a:p>
        </p:txBody>
      </p:sp>
      <p:sp>
        <p:nvSpPr>
          <p:cNvPr id="19" name="text18" descr="sci-ppt:C2-E20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j_s: evaporation through interface</a:t>
            </a:r>
          </a:p>
        </p:txBody>
      </p:sp>
      <p:sp>
        <p:nvSpPr>
          <p:cNvPr id="20" name="text19" descr="sci-ppt:C2-E20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j_s makes liquid speed smaller than outward wall speed</a:t>
            </a:r>
          </a:p>
        </p:txBody>
      </p:sp>
      <p:sp>
        <p:nvSpPr>
          <p:cNvPr id="21" name="text20" descr="sci-ppt:C2-E20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For mixtures, species diffusion augments the component fluxes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