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C2-E20 · Exact single-component interface mass jump</a:t>
            </a:r>
          </a:p>
        </p:txBody>
      </p:sp>
      <p:sp>
        <p:nvSpPr>
          <p:cNvPr id="3" name="C2-E20 round_rect 1" descr="sci-ppt:o001"/>
          <p:cNvSpPr/>
          <p:nvPr/>
        </p:nvSpPr>
        <p:spPr>
          <a:xfrm>
            <a:off x="365760" y="914400"/>
            <a:ext cx="566928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20 text 2" descr="sci-ppt:o002"/>
          <p:cNvSpPr txBox="1"/>
          <p:nvPr/>
        </p:nvSpPr>
        <p:spPr>
          <a:xfrm>
            <a:off x="475488" y="969264"/>
            <a:ext cx="5449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Interface speed is not liquid speed</a:t>
            </a:r>
          </a:p>
        </p:txBody>
      </p:sp>
      <p:sp>
        <p:nvSpPr>
          <p:cNvPr id="5" name="C2-E20 rect 3" descr="sci-ppt:o003"/>
          <p:cNvSpPr/>
          <p:nvPr/>
        </p:nvSpPr>
        <p:spPr>
          <a:xfrm>
            <a:off x="640080" y="2011680"/>
            <a:ext cx="2377439" cy="2834640"/>
          </a:xfrm>
          <a:prstGeom prst="rect">
            <a:avLst/>
          </a:prstGeom>
          <a:solidFill>
            <a:srgbClr val="0C1820">
              <a:alpha val="90000"/>
            </a:srgbClr>
          </a:solidFill>
          <a:ln w="12700">
            <a:solidFill>
              <a:srgbClr val="B4C7D2">
                <a:alpha val="9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2-E20 rect 4" descr="sci-ppt:o004"/>
          <p:cNvSpPr/>
          <p:nvPr/>
        </p:nvSpPr>
        <p:spPr>
          <a:xfrm>
            <a:off x="3017520" y="2011680"/>
            <a:ext cx="2468880" cy="2834640"/>
          </a:xfrm>
          <a:prstGeom prst="rect">
            <a:avLst/>
          </a:prstGeom>
          <a:solidFill>
            <a:srgbClr val="1E4A5A"/>
          </a:solidFill>
          <a:ln w="1270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2-E20 line 5" descr="sci-ppt:o005"/>
          <p:cNvCxnSpPr/>
          <p:nvPr/>
        </p:nvCxnSpPr>
        <p:spPr>
          <a:xfrm>
            <a:off x="3017520" y="1920240"/>
            <a:ext cx="0" cy="3017520"/>
          </a:xfrm>
          <a:prstGeom prst="line">
            <a:avLst/>
          </a:prstGeom>
          <a:ln w="50800">
            <a:solidFill>
              <a:srgbClr val="F2B880"/>
            </a:solidFill>
          </a:ln>
          <a:effectLst/>
        </p:spPr>
      </p:cxnSp>
      <p:sp>
        <p:nvSpPr>
          <p:cNvPr id="8" name="C2-E20 text 6" descr="sci-ppt:o006"/>
          <p:cNvSpPr txBox="1"/>
          <p:nvPr/>
        </p:nvSpPr>
        <p:spPr>
          <a:xfrm>
            <a:off x="914400" y="2103120"/>
            <a:ext cx="1828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B4C7D2"/>
                </a:solidFill>
                <a:latin typeface="Arial"/>
              </a:rPr>
              <a:t>vapor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B4C7D2"/>
                </a:solidFill>
                <a:latin typeface="Arial"/>
              </a:rPr>
              <a:t>(bubble)</a:t>
            </a:r>
          </a:p>
        </p:txBody>
      </p:sp>
      <p:sp>
        <p:nvSpPr>
          <p:cNvPr id="9" name="C2-E20 text 7" descr="sci-ppt:o007"/>
          <p:cNvSpPr txBox="1"/>
          <p:nvPr/>
        </p:nvSpPr>
        <p:spPr>
          <a:xfrm>
            <a:off x="4114800" y="2103120"/>
            <a:ext cx="16459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liquid</a:t>
            </a:r>
          </a:p>
        </p:txBody>
      </p:sp>
      <p:cxnSp>
        <p:nvCxnSpPr>
          <p:cNvPr id="10" name="C2-E20 arrow 8" descr="sci-ppt:o008"/>
          <p:cNvCxnSpPr/>
          <p:nvPr/>
        </p:nvCxnSpPr>
        <p:spPr>
          <a:xfrm>
            <a:off x="3017520" y="2926080"/>
            <a:ext cx="2194559" cy="0"/>
          </a:xfrm>
          <a:prstGeom prst="line">
            <a:avLst/>
          </a:prstGeom>
          <a:ln w="508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2-E20 text 9" descr="sci-ppt:o009"/>
          <p:cNvSpPr txBox="1"/>
          <p:nvPr/>
        </p:nvSpPr>
        <p:spPr>
          <a:xfrm>
            <a:off x="3108960" y="2468880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v_Γ = Ṙ  (10 m/s)</a:t>
            </a:r>
          </a:p>
        </p:txBody>
      </p:sp>
      <p:cxnSp>
        <p:nvCxnSpPr>
          <p:cNvPr id="12" name="C2-E20 arrow 10" descr="sci-ppt:o010"/>
          <p:cNvCxnSpPr/>
          <p:nvPr/>
        </p:nvCxnSpPr>
        <p:spPr>
          <a:xfrm>
            <a:off x="3566160" y="3657600"/>
            <a:ext cx="1755648" cy="0"/>
          </a:xfrm>
          <a:prstGeom prst="line">
            <a:avLst/>
          </a:prstGeom>
          <a:ln w="508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3" name="C2-E20 text 11" descr="sci-ppt:o011"/>
          <p:cNvSpPr txBox="1"/>
          <p:nvPr/>
        </p:nvSpPr>
        <p:spPr>
          <a:xfrm>
            <a:off x="3108960" y="3749039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uₗ(R) = 8 m/s</a:t>
            </a:r>
          </a:p>
        </p:txBody>
      </p:sp>
      <p:cxnSp>
        <p:nvCxnSpPr>
          <p:cNvPr id="14" name="C2-E20 line 12" descr="sci-ppt:o012"/>
          <p:cNvCxnSpPr/>
          <p:nvPr/>
        </p:nvCxnSpPr>
        <p:spPr>
          <a:xfrm flipH="1">
            <a:off x="5212079" y="3657600"/>
            <a:ext cx="109729" cy="0"/>
          </a:xfrm>
          <a:prstGeom prst="line">
            <a:avLst/>
          </a:prstGeom>
          <a:ln w="12700">
            <a:solidFill>
              <a:srgbClr val="F28BA0"/>
            </a:solidFill>
          </a:ln>
          <a:effectLst/>
        </p:spPr>
      </p:cxnSp>
      <p:cxnSp>
        <p:nvCxnSpPr>
          <p:cNvPr id="15" name="C2-E20 line 13" descr="sci-ppt:o013"/>
          <p:cNvCxnSpPr/>
          <p:nvPr/>
        </p:nvCxnSpPr>
        <p:spPr>
          <a:xfrm>
            <a:off x="4773167" y="4297680"/>
            <a:ext cx="438912" cy="0"/>
          </a:xfrm>
          <a:prstGeom prst="line">
            <a:avLst/>
          </a:prstGeom>
          <a:ln w="16510">
            <a:solidFill>
              <a:srgbClr val="F28BA0"/>
            </a:solidFill>
          </a:ln>
          <a:effectLst/>
        </p:spPr>
      </p:cxnSp>
      <p:cxnSp>
        <p:nvCxnSpPr>
          <p:cNvPr id="16" name="C2-E20 line 14" descr="sci-ppt:o014"/>
          <p:cNvCxnSpPr/>
          <p:nvPr/>
        </p:nvCxnSpPr>
        <p:spPr>
          <a:xfrm>
            <a:off x="4773167" y="4233672"/>
            <a:ext cx="0" cy="128016"/>
          </a:xfrm>
          <a:prstGeom prst="line">
            <a:avLst/>
          </a:prstGeom>
          <a:ln w="16510">
            <a:solidFill>
              <a:srgbClr val="F28BA0"/>
            </a:solidFill>
          </a:ln>
          <a:effectLst/>
        </p:spPr>
      </p:cxnSp>
      <p:cxnSp>
        <p:nvCxnSpPr>
          <p:cNvPr id="17" name="C2-E20 line 15" descr="sci-ppt:o015"/>
          <p:cNvCxnSpPr/>
          <p:nvPr/>
        </p:nvCxnSpPr>
        <p:spPr>
          <a:xfrm>
            <a:off x="5212079" y="4233672"/>
            <a:ext cx="0" cy="128016"/>
          </a:xfrm>
          <a:prstGeom prst="line">
            <a:avLst/>
          </a:prstGeom>
          <a:ln w="16510">
            <a:solidFill>
              <a:srgbClr val="F28BA0"/>
            </a:solidFill>
          </a:ln>
          <a:effectLst/>
        </p:spPr>
      </p:cxnSp>
      <p:sp>
        <p:nvSpPr>
          <p:cNvPr id="18" name="C2-E20 text 16" descr="sci-ppt:o016"/>
          <p:cNvSpPr txBox="1"/>
          <p:nvPr/>
        </p:nvSpPr>
        <p:spPr>
          <a:xfrm>
            <a:off x="4078223" y="4396740"/>
            <a:ext cx="18288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19" name="C2-E20 text 17" descr="sci-ppt:o017"/>
          <p:cNvSpPr txBox="1"/>
          <p:nvPr/>
        </p:nvSpPr>
        <p:spPr>
          <a:xfrm>
            <a:off x="2743200" y="4434840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Ṙ − uₗ = 2 m/s</a:t>
            </a:r>
          </a:p>
        </p:txBody>
      </p:sp>
      <p:sp>
        <p:nvSpPr>
          <p:cNvPr id="20" name="C2-E20 text 18" descr="sci-ppt:o018"/>
          <p:cNvSpPr txBox="1"/>
          <p:nvPr/>
        </p:nvSpPr>
        <p:spPr>
          <a:xfrm>
            <a:off x="502920" y="5074920"/>
            <a:ext cx="53949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interface outruns the adjacent liquid: liquid is converted to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vapor at the surface.</a:t>
            </a:r>
          </a:p>
        </p:txBody>
      </p:sp>
      <p:sp>
        <p:nvSpPr>
          <p:cNvPr id="21" name="C2-E20 round_rect 19" descr="sci-ppt:o019"/>
          <p:cNvSpPr/>
          <p:nvPr/>
        </p:nvSpPr>
        <p:spPr>
          <a:xfrm>
            <a:off x="6309360" y="914400"/>
            <a:ext cx="553212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2-E20 text 20" descr="sci-ppt:o020"/>
          <p:cNvSpPr txBox="1"/>
          <p:nvPr/>
        </p:nvSpPr>
        <p:spPr>
          <a:xfrm>
            <a:off x="6419088" y="969264"/>
            <a:ext cx="53126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Single-component jump condition</a:t>
            </a:r>
          </a:p>
        </p:txBody>
      </p:sp>
      <p:sp>
        <p:nvSpPr>
          <p:cNvPr id="23" name="C2-E20 text 21" descr="sci-ppt:o021"/>
          <p:cNvSpPr txBox="1"/>
          <p:nvPr/>
        </p:nvSpPr>
        <p:spPr>
          <a:xfrm>
            <a:off x="6446520" y="1371600"/>
            <a:ext cx="53035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jₛ = ρₗ (uₗ − v_Γ)·n = ρᵥ (uᵥ − v_Γ)·n</a:t>
            </a:r>
          </a:p>
        </p:txBody>
      </p:sp>
      <p:sp>
        <p:nvSpPr>
          <p:cNvPr id="24" name="C2-E20 text 22" descr="sci-ppt:o022"/>
          <p:cNvSpPr txBox="1"/>
          <p:nvPr/>
        </p:nvSpPr>
        <p:spPr>
          <a:xfrm>
            <a:off x="6446520" y="2011680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n = −eᵣ (liquid → vapor),  v_Γ = Ṙ eᵣ</a:t>
            </a:r>
          </a:p>
        </p:txBody>
      </p:sp>
      <p:sp>
        <p:nvSpPr>
          <p:cNvPr id="25" name="C2-E20 text 23" descr="sci-ppt:o023"/>
          <p:cNvSpPr txBox="1"/>
          <p:nvPr/>
        </p:nvSpPr>
        <p:spPr>
          <a:xfrm>
            <a:off x="6446520" y="2606040"/>
            <a:ext cx="53035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jₛ = ρₗ [Ṙ − uₗ(R)]</a:t>
            </a:r>
          </a:p>
        </p:txBody>
      </p:sp>
      <p:sp>
        <p:nvSpPr>
          <p:cNvPr id="26" name="C2-E20 text 24" descr="sci-ppt:o024"/>
          <p:cNvSpPr txBox="1"/>
          <p:nvPr/>
        </p:nvSpPr>
        <p:spPr>
          <a:xfrm>
            <a:off x="6446520" y="3200400"/>
            <a:ext cx="53035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uₗ(R) = Ṙ − jₛ / ρₗ</a:t>
            </a:r>
          </a:p>
        </p:txBody>
      </p:sp>
      <p:sp>
        <p:nvSpPr>
          <p:cNvPr id="27" name="C2-E20 text 25" descr="sci-ppt:o025"/>
          <p:cNvSpPr txBox="1"/>
          <p:nvPr/>
        </p:nvSpPr>
        <p:spPr>
          <a:xfrm>
            <a:off x="6446520" y="3840480"/>
            <a:ext cx="53035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With no phase change, jₛ = 0 and the liquid at the wall moves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with the wall (uₗ = Ṙ). Evaporation breaks that equality.</a:t>
            </a:r>
          </a:p>
        </p:txBody>
      </p:sp>
      <p:sp>
        <p:nvSpPr>
          <p:cNvPr id="28" name="C2-E20 text 26" descr="sci-ppt:o026"/>
          <p:cNvSpPr txBox="1"/>
          <p:nvPr/>
        </p:nvSpPr>
        <p:spPr>
          <a:xfrm>
            <a:off x="6446520" y="4892040"/>
            <a:ext cx="53035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Speeds in the left panel are illustrative.</a:t>
            </a:r>
          </a:p>
        </p:txBody>
      </p:sp>
      <p:sp>
        <p:nvSpPr>
          <p:cNvPr id="29" name="C2-E20 text 27" descr="sci-ppt:o02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Mass jump of Eq. C2-E20.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