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3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C2-E30 · Derived ideal-vapor inventory radius</a:t>
            </a:r>
          </a:p>
        </p:txBody>
      </p:sp>
      <p:cxnSp>
        <p:nvCxnSpPr>
          <p:cNvPr id="3" name="C2-E30 line 1" descr="sci-ppt:o001"/>
          <p:cNvCxnSpPr/>
          <p:nvPr/>
        </p:nvCxnSpPr>
        <p:spPr>
          <a:xfrm>
            <a:off x="914400" y="502920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3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3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3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3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1e+04</a:t>
            </a:r>
          </a:p>
        </p:txBody>
      </p:sp>
      <p:cxnSp>
        <p:nvCxnSpPr>
          <p:cNvPr id="8" name="C2-E30 line 6" descr="sci-ppt:o006"/>
          <p:cNvCxnSpPr/>
          <p:nvPr/>
        </p:nvCxnSpPr>
        <p:spPr>
          <a:xfrm>
            <a:off x="3298723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30 line 7" descr="sci-ppt:o007"/>
          <p:cNvCxnSpPr/>
          <p:nvPr/>
        </p:nvCxnSpPr>
        <p:spPr>
          <a:xfrm>
            <a:off x="3298723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30 text 8" descr="sci-ppt:o008"/>
          <p:cNvSpPr txBox="1"/>
          <p:nvPr/>
        </p:nvSpPr>
        <p:spPr>
          <a:xfrm>
            <a:off x="2841523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1e+05</a:t>
            </a:r>
          </a:p>
        </p:txBody>
      </p:sp>
      <p:cxnSp>
        <p:nvCxnSpPr>
          <p:cNvPr id="11" name="C2-E30 line 9" descr="sci-ppt:o009"/>
          <p:cNvCxnSpPr/>
          <p:nvPr/>
        </p:nvCxnSpPr>
        <p:spPr>
          <a:xfrm>
            <a:off x="5683047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30 line 10" descr="sci-ppt:o010"/>
          <p:cNvCxnSpPr/>
          <p:nvPr/>
        </p:nvCxnSpPr>
        <p:spPr>
          <a:xfrm>
            <a:off x="5683047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30 text 11" descr="sci-ppt:o011"/>
          <p:cNvSpPr txBox="1"/>
          <p:nvPr/>
        </p:nvSpPr>
        <p:spPr>
          <a:xfrm>
            <a:off x="5225847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1e+06</a:t>
            </a:r>
          </a:p>
        </p:txBody>
      </p:sp>
      <p:cxnSp>
        <p:nvCxnSpPr>
          <p:cNvPr id="14" name="C2-E30 line 12" descr="sci-ppt:o012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30 line 13" descr="sci-ppt:o013"/>
          <p:cNvCxnSpPr/>
          <p:nvPr/>
        </p:nvCxnSpPr>
        <p:spPr>
          <a:xfrm>
            <a:off x="850392" y="409300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2-E30 line 14" descr="sci-ppt:o014"/>
          <p:cNvCxnSpPr/>
          <p:nvPr/>
        </p:nvCxnSpPr>
        <p:spPr>
          <a:xfrm>
            <a:off x="914400" y="409300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2-E30 text 15" descr="sci-ppt:o015"/>
          <p:cNvSpPr txBox="1"/>
          <p:nvPr/>
        </p:nvSpPr>
        <p:spPr>
          <a:xfrm>
            <a:off x="45720" y="401071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8" name="C2-E30 line 16" descr="sci-ppt:o016"/>
          <p:cNvCxnSpPr/>
          <p:nvPr/>
        </p:nvCxnSpPr>
        <p:spPr>
          <a:xfrm>
            <a:off x="850392" y="285542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2-E30 line 17" descr="sci-ppt:o017"/>
          <p:cNvCxnSpPr/>
          <p:nvPr/>
        </p:nvCxnSpPr>
        <p:spPr>
          <a:xfrm>
            <a:off x="914400" y="285542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2-E30 text 18" descr="sci-ppt:o018"/>
          <p:cNvSpPr txBox="1"/>
          <p:nvPr/>
        </p:nvSpPr>
        <p:spPr>
          <a:xfrm>
            <a:off x="45720" y="277313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1" name="C2-E30 line 19" descr="sci-ppt:o019"/>
          <p:cNvCxnSpPr/>
          <p:nvPr/>
        </p:nvCxnSpPr>
        <p:spPr>
          <a:xfrm>
            <a:off x="850392" y="191923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2-E30 line 20" descr="sci-ppt:o020"/>
          <p:cNvCxnSpPr/>
          <p:nvPr/>
        </p:nvCxnSpPr>
        <p:spPr>
          <a:xfrm>
            <a:off x="914400" y="191923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2-E30 text 21" descr="sci-ppt:o021"/>
          <p:cNvSpPr txBox="1"/>
          <p:nvPr/>
        </p:nvSpPr>
        <p:spPr>
          <a:xfrm>
            <a:off x="45720" y="183694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24" name="C2-E30 text 22" descr="sci-ppt:o022"/>
          <p:cNvSpPr txBox="1"/>
          <p:nvPr/>
        </p:nvSpPr>
        <p:spPr>
          <a:xfrm>
            <a:off x="914400" y="5312664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PFC partial pressure pᵥ,PFC  (Pa)</a:t>
            </a:r>
          </a:p>
        </p:txBody>
      </p:sp>
      <p:sp>
        <p:nvSpPr>
          <p:cNvPr id="25" name="C2-E30 text 23" descr="sci-ppt:o023"/>
          <p:cNvSpPr txBox="1"/>
          <p:nvPr/>
        </p:nvSpPr>
        <p:spPr>
          <a:xfrm>
            <a:off x="36576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R_b,inv / a₀</a:t>
            </a:r>
          </a:p>
        </p:txBody>
      </p:sp>
      <p:sp>
        <p:nvSpPr>
          <p:cNvPr id="26" name="C2-E30 polygon 24" descr="sci-ppt:o024"/>
          <p:cNvSpPr/>
          <p:nvPr/>
        </p:nvSpPr>
        <p:spPr>
          <a:xfrm>
            <a:off x="914400" y="1730585"/>
            <a:ext cx="5483944" cy="2384304"/>
          </a:xfrm>
          <a:custGeom>
            <a:avLst/>
            <a:gdLst/>
            <a:ahLst/>
            <a:cxnLst/>
            <a:rect l="l" t="t" r="r" b="b"/>
            <a:pathLst>
              <a:path w="5483944" h="2384304">
                <a:moveTo>
                  <a:pt x="0" y="0"/>
                </a:moveTo>
                <a:lnTo>
                  <a:pt x="55393" y="24083"/>
                </a:lnTo>
                <a:lnTo>
                  <a:pt x="110786" y="48167"/>
                </a:lnTo>
                <a:lnTo>
                  <a:pt x="166180" y="72251"/>
                </a:lnTo>
                <a:lnTo>
                  <a:pt x="221573" y="96335"/>
                </a:lnTo>
                <a:lnTo>
                  <a:pt x="276966" y="120419"/>
                </a:lnTo>
                <a:lnTo>
                  <a:pt x="332360" y="144503"/>
                </a:lnTo>
                <a:lnTo>
                  <a:pt x="387753" y="168587"/>
                </a:lnTo>
                <a:lnTo>
                  <a:pt x="443147" y="192671"/>
                </a:lnTo>
                <a:lnTo>
                  <a:pt x="498540" y="216755"/>
                </a:lnTo>
                <a:lnTo>
                  <a:pt x="553933" y="240838"/>
                </a:lnTo>
                <a:lnTo>
                  <a:pt x="609327" y="264922"/>
                </a:lnTo>
                <a:lnTo>
                  <a:pt x="664720" y="289006"/>
                </a:lnTo>
                <a:lnTo>
                  <a:pt x="720113" y="313090"/>
                </a:lnTo>
                <a:lnTo>
                  <a:pt x="775507" y="337174"/>
                </a:lnTo>
                <a:lnTo>
                  <a:pt x="830900" y="361258"/>
                </a:lnTo>
                <a:lnTo>
                  <a:pt x="886294" y="385342"/>
                </a:lnTo>
                <a:lnTo>
                  <a:pt x="941687" y="409426"/>
                </a:lnTo>
                <a:lnTo>
                  <a:pt x="997080" y="433510"/>
                </a:lnTo>
                <a:lnTo>
                  <a:pt x="1052474" y="457593"/>
                </a:lnTo>
                <a:lnTo>
                  <a:pt x="1107867" y="481677"/>
                </a:lnTo>
                <a:lnTo>
                  <a:pt x="1163260" y="505761"/>
                </a:lnTo>
                <a:lnTo>
                  <a:pt x="1218654" y="529845"/>
                </a:lnTo>
                <a:lnTo>
                  <a:pt x="1274047" y="553929"/>
                </a:lnTo>
                <a:lnTo>
                  <a:pt x="1329441" y="578013"/>
                </a:lnTo>
                <a:lnTo>
                  <a:pt x="1384834" y="602097"/>
                </a:lnTo>
                <a:lnTo>
                  <a:pt x="1440227" y="626181"/>
                </a:lnTo>
                <a:lnTo>
                  <a:pt x="1495621" y="650265"/>
                </a:lnTo>
                <a:lnTo>
                  <a:pt x="1551014" y="674348"/>
                </a:lnTo>
                <a:lnTo>
                  <a:pt x="1606407" y="698432"/>
                </a:lnTo>
                <a:lnTo>
                  <a:pt x="1661801" y="722516"/>
                </a:lnTo>
                <a:lnTo>
                  <a:pt x="1717194" y="746600"/>
                </a:lnTo>
                <a:lnTo>
                  <a:pt x="1772588" y="770684"/>
                </a:lnTo>
                <a:lnTo>
                  <a:pt x="1827981" y="794768"/>
                </a:lnTo>
                <a:lnTo>
                  <a:pt x="1883374" y="818852"/>
                </a:lnTo>
                <a:lnTo>
                  <a:pt x="1938768" y="842936"/>
                </a:lnTo>
                <a:lnTo>
                  <a:pt x="1994161" y="867020"/>
                </a:lnTo>
                <a:lnTo>
                  <a:pt x="2049554" y="891103"/>
                </a:lnTo>
                <a:lnTo>
                  <a:pt x="2104948" y="915187"/>
                </a:lnTo>
                <a:lnTo>
                  <a:pt x="2160341" y="939271"/>
                </a:lnTo>
                <a:lnTo>
                  <a:pt x="2215735" y="963355"/>
                </a:lnTo>
                <a:lnTo>
                  <a:pt x="2271128" y="987439"/>
                </a:lnTo>
                <a:lnTo>
                  <a:pt x="2326521" y="1011523"/>
                </a:lnTo>
                <a:lnTo>
                  <a:pt x="2381915" y="1035607"/>
                </a:lnTo>
                <a:lnTo>
                  <a:pt x="2437308" y="1059691"/>
                </a:lnTo>
                <a:lnTo>
                  <a:pt x="2492701" y="1083775"/>
                </a:lnTo>
                <a:lnTo>
                  <a:pt x="2548095" y="1107858"/>
                </a:lnTo>
                <a:lnTo>
                  <a:pt x="2603488" y="1131942"/>
                </a:lnTo>
                <a:lnTo>
                  <a:pt x="2658882" y="1156026"/>
                </a:lnTo>
                <a:lnTo>
                  <a:pt x="2714275" y="1180110"/>
                </a:lnTo>
                <a:lnTo>
                  <a:pt x="2769668" y="1204194"/>
                </a:lnTo>
                <a:lnTo>
                  <a:pt x="2825062" y="1228278"/>
                </a:lnTo>
                <a:lnTo>
                  <a:pt x="2880455" y="1252362"/>
                </a:lnTo>
                <a:lnTo>
                  <a:pt x="2935848" y="1276446"/>
                </a:lnTo>
                <a:lnTo>
                  <a:pt x="2991242" y="1300529"/>
                </a:lnTo>
                <a:lnTo>
                  <a:pt x="3046635" y="1324613"/>
                </a:lnTo>
                <a:lnTo>
                  <a:pt x="3102029" y="1348697"/>
                </a:lnTo>
                <a:lnTo>
                  <a:pt x="3157422" y="1372781"/>
                </a:lnTo>
                <a:lnTo>
                  <a:pt x="3212815" y="1396865"/>
                </a:lnTo>
                <a:lnTo>
                  <a:pt x="3268209" y="1420949"/>
                </a:lnTo>
                <a:lnTo>
                  <a:pt x="3323602" y="1445033"/>
                </a:lnTo>
                <a:lnTo>
                  <a:pt x="3378995" y="1469117"/>
                </a:lnTo>
                <a:lnTo>
                  <a:pt x="3434389" y="1493201"/>
                </a:lnTo>
                <a:lnTo>
                  <a:pt x="3489782" y="1517284"/>
                </a:lnTo>
                <a:lnTo>
                  <a:pt x="3545176" y="1541368"/>
                </a:lnTo>
                <a:lnTo>
                  <a:pt x="3600569" y="1565452"/>
                </a:lnTo>
                <a:lnTo>
                  <a:pt x="3655962" y="1589536"/>
                </a:lnTo>
                <a:lnTo>
                  <a:pt x="3711356" y="1613620"/>
                </a:lnTo>
                <a:lnTo>
                  <a:pt x="3766749" y="1637704"/>
                </a:lnTo>
                <a:lnTo>
                  <a:pt x="3822142" y="1661788"/>
                </a:lnTo>
                <a:lnTo>
                  <a:pt x="3877536" y="1685872"/>
                </a:lnTo>
                <a:lnTo>
                  <a:pt x="3932929" y="1709956"/>
                </a:lnTo>
                <a:lnTo>
                  <a:pt x="3988323" y="1734039"/>
                </a:lnTo>
                <a:lnTo>
                  <a:pt x="4043716" y="1758123"/>
                </a:lnTo>
                <a:lnTo>
                  <a:pt x="4099109" y="1782207"/>
                </a:lnTo>
                <a:lnTo>
                  <a:pt x="4154503" y="1806291"/>
                </a:lnTo>
                <a:lnTo>
                  <a:pt x="4209896" y="1830375"/>
                </a:lnTo>
                <a:lnTo>
                  <a:pt x="4265289" y="1854459"/>
                </a:lnTo>
                <a:lnTo>
                  <a:pt x="4320683" y="1878543"/>
                </a:lnTo>
                <a:lnTo>
                  <a:pt x="4376076" y="1902627"/>
                </a:lnTo>
                <a:lnTo>
                  <a:pt x="4431470" y="1926711"/>
                </a:lnTo>
                <a:lnTo>
                  <a:pt x="4486863" y="1950794"/>
                </a:lnTo>
                <a:lnTo>
                  <a:pt x="4542256" y="1974878"/>
                </a:lnTo>
                <a:lnTo>
                  <a:pt x="4597650" y="1998962"/>
                </a:lnTo>
                <a:lnTo>
                  <a:pt x="4653043" y="2023046"/>
                </a:lnTo>
                <a:lnTo>
                  <a:pt x="4708436" y="2047130"/>
                </a:lnTo>
                <a:lnTo>
                  <a:pt x="4763830" y="2071214"/>
                </a:lnTo>
                <a:lnTo>
                  <a:pt x="4819223" y="2095298"/>
                </a:lnTo>
                <a:lnTo>
                  <a:pt x="4874617" y="2119382"/>
                </a:lnTo>
                <a:lnTo>
                  <a:pt x="4930010" y="2143466"/>
                </a:lnTo>
                <a:lnTo>
                  <a:pt x="4985403" y="2167549"/>
                </a:lnTo>
                <a:lnTo>
                  <a:pt x="5040797" y="2191633"/>
                </a:lnTo>
                <a:lnTo>
                  <a:pt x="5096190" y="2215717"/>
                </a:lnTo>
                <a:lnTo>
                  <a:pt x="5151583" y="2239801"/>
                </a:lnTo>
                <a:lnTo>
                  <a:pt x="5206977" y="2263885"/>
                </a:lnTo>
                <a:lnTo>
                  <a:pt x="5262370" y="2287969"/>
                </a:lnTo>
                <a:lnTo>
                  <a:pt x="5317764" y="2312053"/>
                </a:lnTo>
                <a:lnTo>
                  <a:pt x="5373157" y="2336137"/>
                </a:lnTo>
                <a:lnTo>
                  <a:pt x="5428550" y="2360220"/>
                </a:lnTo>
                <a:lnTo>
                  <a:pt x="5483944" y="2384304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2-E30 ellipse 25" descr="sci-ppt:o025"/>
          <p:cNvSpPr/>
          <p:nvPr/>
        </p:nvSpPr>
        <p:spPr>
          <a:xfrm>
            <a:off x="3225571" y="269408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2-E30 text 26" descr="sci-ppt:o026"/>
          <p:cNvSpPr txBox="1"/>
          <p:nvPr/>
        </p:nvSpPr>
        <p:spPr>
          <a:xfrm>
            <a:off x="3408451" y="2310039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1 bar: 5.337 a₀ = 26.69 µm</a:t>
            </a:r>
          </a:p>
        </p:txBody>
      </p:sp>
      <p:sp>
        <p:nvSpPr>
          <p:cNvPr id="29" name="C2-E30 text 27" descr="sci-ppt:o027"/>
          <p:cNvSpPr txBox="1"/>
          <p:nvPr/>
        </p:nvSpPr>
        <p:spPr>
          <a:xfrm>
            <a:off x="1705304" y="2047301"/>
            <a:ext cx="16459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R ∝ p^(−1/3)</a:t>
            </a:r>
          </a:p>
        </p:txBody>
      </p:sp>
      <p:sp>
        <p:nvSpPr>
          <p:cNvPr id="30" name="C2-E30 round_rect 28" descr="sci-ppt:o028"/>
          <p:cNvSpPr/>
          <p:nvPr/>
        </p:nvSpPr>
        <p:spPr>
          <a:xfrm>
            <a:off x="6766560" y="1371600"/>
            <a:ext cx="50749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2-E30 text 29" descr="sci-ppt:o029"/>
          <p:cNvSpPr txBox="1"/>
          <p:nvPr/>
        </p:nvSpPr>
        <p:spPr>
          <a:xfrm>
            <a:off x="6876288" y="1426464"/>
            <a:ext cx="48554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To scale at 1 bar and 323 K</a:t>
            </a:r>
          </a:p>
        </p:txBody>
      </p:sp>
      <p:sp>
        <p:nvSpPr>
          <p:cNvPr id="32" name="C2-E30 ellipse 30" descr="sci-ppt:o030"/>
          <p:cNvSpPr/>
          <p:nvPr/>
        </p:nvSpPr>
        <p:spPr>
          <a:xfrm>
            <a:off x="8686800" y="2788920"/>
            <a:ext cx="2194560" cy="2194560"/>
          </a:xfrm>
          <a:prstGeom prst="ellipse">
            <a:avLst/>
          </a:prstGeom>
          <a:solidFill>
            <a:srgbClr val="0C1820"/>
          </a:solidFill>
          <a:ln w="304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2-E30 ellipse 31" descr="sci-ppt:o031"/>
          <p:cNvSpPr/>
          <p:nvPr/>
        </p:nvSpPr>
        <p:spPr>
          <a:xfrm>
            <a:off x="9578495" y="3680615"/>
            <a:ext cx="411168" cy="411168"/>
          </a:xfrm>
          <a:prstGeom prst="ellipse">
            <a:avLst/>
          </a:prstGeom>
          <a:solidFill>
            <a:srgbClr val="1E4A5A"/>
          </a:solidFill>
          <a:ln w="279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2-E30 text 32" descr="sci-ppt:o032"/>
          <p:cNvSpPr txBox="1"/>
          <p:nvPr/>
        </p:nvSpPr>
        <p:spPr>
          <a:xfrm>
            <a:off x="6903720" y="1828800"/>
            <a:ext cx="4846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(R_b,inv / a₀)³ = ρ_d Rᵤ T* / (M_PFC pᵥ,PFC) = 151.98</a:t>
            </a:r>
          </a:p>
        </p:txBody>
      </p:sp>
      <p:sp>
        <p:nvSpPr>
          <p:cNvPr id="35" name="C2-E30 text 33" descr="sci-ppt:o033"/>
          <p:cNvSpPr txBox="1"/>
          <p:nvPr/>
        </p:nvSpPr>
        <p:spPr>
          <a:xfrm>
            <a:off x="6903720" y="2468880"/>
            <a:ext cx="26517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bubble R = 26.69 µm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(radius ratio 5.34)</a:t>
            </a:r>
          </a:p>
        </p:txBody>
      </p:sp>
      <p:sp>
        <p:nvSpPr>
          <p:cNvPr id="36" name="C2-E30 text 34" descr="sci-ppt:o034"/>
          <p:cNvSpPr txBox="1"/>
          <p:nvPr/>
        </p:nvSpPr>
        <p:spPr>
          <a:xfrm>
            <a:off x="6903720" y="3566160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droplet a₀ = 5 µm</a:t>
            </a:r>
          </a:p>
        </p:txBody>
      </p:sp>
      <p:sp>
        <p:nvSpPr>
          <p:cNvPr id="37" name="C2-E30 text 35" descr="sci-ppt:o03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If every PFC molecule becomes ideal vapor at 1 bar, the bubble is 5.3 times the droplet radius, 152 times its volume.</a:t>
            </a:r>
          </a:p>
        </p:txBody>
      </p:sp>
      <p:sp>
        <p:nvSpPr>
          <p:cNvPr id="38" name="C2-E30 text 36" descr="sci-ppt:o03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Inventory radius of Eq. C2-E30 (M_PFC = 0.2880343 kg/mol, ρ_d = 1630 kg/m³).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