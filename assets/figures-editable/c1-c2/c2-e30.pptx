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30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C2-E30 | Physical-variable diagram</a:t>
            </a:r>
          </a:p>
        </p:txBody>
      </p:sp>
      <p:sp>
        <p:nvSpPr>
          <p:cNvPr id="3" name="ellipse2" descr="sci-ppt:C2-E30-002"/>
          <p:cNvSpPr/>
          <p:nvPr/>
        </p:nvSpPr>
        <p:spPr>
          <a:xfrm>
            <a:off x="1877568" y="2304288"/>
            <a:ext cx="633984" cy="633984"/>
          </a:xfrm>
          <a:prstGeom prst="ellipse">
            <a:avLst/>
          </a:prstGeom>
          <a:solidFill>
            <a:srgbClr val="F6BC77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2-E30-003"/>
          <p:cNvSpPr/>
          <p:nvPr/>
        </p:nvSpPr>
        <p:spPr>
          <a:xfrm>
            <a:off x="6217920" y="914400"/>
            <a:ext cx="3413760" cy="341376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4" descr="sci-ppt:C2-E30-004"/>
          <p:cNvCxnSpPr/>
          <p:nvPr/>
        </p:nvCxnSpPr>
        <p:spPr>
          <a:xfrm>
            <a:off x="2804160" y="2621280"/>
            <a:ext cx="31089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2-E30-005"/>
          <p:cNvSpPr txBox="1"/>
          <p:nvPr/>
        </p:nvSpPr>
        <p:spPr>
          <a:xfrm>
            <a:off x="1219200" y="3291840"/>
            <a:ext cx="365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Liquid: a0 = 5 um</a:t>
            </a:r>
          </a:p>
        </p:txBody>
      </p:sp>
      <p:sp>
        <p:nvSpPr>
          <p:cNvPr id="7" name="text6" descr="sci-ppt:C2-E30-006"/>
          <p:cNvSpPr txBox="1"/>
          <p:nvPr/>
        </p:nvSpPr>
        <p:spPr>
          <a:xfrm>
            <a:off x="5974080" y="4450080"/>
            <a:ext cx="54864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Vapor: R_b,inv = 26.6827 um</a:t>
            </a:r>
          </a:p>
        </p:txBody>
      </p:sp>
      <p:sp>
        <p:nvSpPr>
          <p:cNvPr id="8" name="text7" descr="sci-ppt:C2-E30-007"/>
          <p:cNvSpPr txBox="1"/>
          <p:nvPr/>
        </p:nvSpPr>
        <p:spPr>
          <a:xfrm>
            <a:off x="1097280" y="975360"/>
            <a:ext cx="755904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Same PFC mass</a:t>
            </a:r>
          </a:p>
        </p:txBody>
      </p:sp>
      <p:sp>
        <p:nvSpPr>
          <p:cNvPr id="9" name="text8" descr="sci-ppt:C2-E30-008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a₀ = 5 μm: original liquid</a:t>
            </a:r>
          </a:p>
        </p:txBody>
      </p:sp>
      <p:sp>
        <p:nvSpPr>
          <p:cNvPr id="10" name="text9" descr="sci-ppt:C2-E30-009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m_PFC,0, ρ_d: original inventory</a:t>
            </a:r>
          </a:p>
        </p:txBody>
      </p:sp>
      <p:sp>
        <p:nvSpPr>
          <p:cNvPr id="11" name="text10" descr="sci-ppt:C2-E30-010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p_v,PFC = 100 kPa</a:t>
            </a:r>
          </a:p>
        </p:txBody>
      </p:sp>
      <p:sp>
        <p:nvSpPr>
          <p:cNvPr id="12" name="text11" descr="sci-ppt:C2-E30-011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151.9778: volume expansion</a:t>
            </a:r>
          </a:p>
        </p:txBody>
      </p:sp>
      <p:sp>
        <p:nvSpPr>
          <p:cNvPr id="13" name="text12" descr="sci-ppt:C2-E30-012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R_b,inv = 26.6827 μm: assumed vapor state</a:t>
            </a:r>
          </a:p>
        </p:txBody>
      </p:sp>
      <p:sp>
        <p:nvSpPr>
          <p:cNvPr id="14" name="text13" descr="sci-ppt:C2-E30-013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T_* = 323 K</a:t>
            </a:r>
          </a:p>
        </p:txBody>
      </p:sp>
      <p:sp>
        <p:nvSpPr>
          <p:cNvPr id="15" name="text14" descr="sci-ppt:C2-E30-014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M_PFC, R_u: ideal mole relation</a:t>
            </a:r>
          </a:p>
        </p:txBody>
      </p:sp>
      <p:sp>
        <p:nvSpPr>
          <p:cNvPr id="16" name="text15" descr="sci-ppt:C2-E30-015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π: sphere geometry</a:t>
            </a:r>
          </a:p>
        </p:txBody>
      </p:sp>
      <p:sp>
        <p:nvSpPr>
          <p:cNvPr id="17" name="text16" descr="sci-ppt:C2-E30-016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Volume ratio is about 152; radius ratio about 5.34</a:t>
            </a:r>
          </a:p>
        </p:txBody>
      </p:sp>
      <p:sp>
        <p:nvSpPr>
          <p:cNvPr id="18" name="text17" descr="sci-ppt:C2-E30-017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Inventory radius is not dynamical R_max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