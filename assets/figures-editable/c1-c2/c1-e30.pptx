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30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C1-E30 · Compressibility applicability diagnostics</a:t>
            </a:r>
          </a:p>
        </p:txBody>
      </p:sp>
      <p:sp>
        <p:nvSpPr>
          <p:cNvPr id="3" name="C1-E30 text 1" descr="sci-ppt:o001"/>
          <p:cNvSpPr txBox="1"/>
          <p:nvPr/>
        </p:nvSpPr>
        <p:spPr>
          <a:xfrm>
            <a:off x="457200" y="914400"/>
            <a:ext cx="566928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A pressure pulse crossing a distance Lₑ</a:t>
            </a:r>
          </a:p>
        </p:txBody>
      </p:sp>
      <p:sp>
        <p:nvSpPr>
          <p:cNvPr id="4" name="C1-E30 rect 2" descr="sci-ppt:o002"/>
          <p:cNvSpPr/>
          <p:nvPr/>
        </p:nvSpPr>
        <p:spPr>
          <a:xfrm>
            <a:off x="548640" y="2194560"/>
            <a:ext cx="5120640" cy="502920"/>
          </a:xfrm>
          <a:prstGeom prst="rect">
            <a:avLst/>
          </a:prstGeom>
          <a:solidFill>
            <a:srgbClr val="1E4A5A"/>
          </a:solidFill>
          <a:ln w="1524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1-E30 text 3" descr="sci-ppt:o003"/>
          <p:cNvSpPr txBox="1"/>
          <p:nvPr/>
        </p:nvSpPr>
        <p:spPr>
          <a:xfrm>
            <a:off x="548640" y="1417319"/>
            <a:ext cx="512064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8EDBD4"/>
                </a:solidFill>
                <a:latin typeface="Arial"/>
              </a:rPr>
              <a:t>slow rise: τₑ ≫ Lₑ/c</a:t>
            </a:r>
          </a:p>
        </p:txBody>
      </p:sp>
      <p:sp>
        <p:nvSpPr>
          <p:cNvPr id="6" name="C1-E30 polygon 4" descr="sci-ppt:o004"/>
          <p:cNvSpPr/>
          <p:nvPr/>
        </p:nvSpPr>
        <p:spPr>
          <a:xfrm>
            <a:off x="548640" y="2087051"/>
            <a:ext cx="5120640" cy="419841"/>
          </a:xfrm>
          <a:custGeom>
            <a:avLst/>
            <a:gdLst/>
            <a:ahLst/>
            <a:cxnLst/>
            <a:rect l="l" t="t" r="r" b="b"/>
            <a:pathLst>
              <a:path w="5120640" h="419841">
                <a:moveTo>
                  <a:pt x="0" y="0"/>
                </a:moveTo>
                <a:lnTo>
                  <a:pt x="64818" y="4051"/>
                </a:lnTo>
                <a:lnTo>
                  <a:pt x="129636" y="8172"/>
                </a:lnTo>
                <a:lnTo>
                  <a:pt x="194454" y="12363"/>
                </a:lnTo>
                <a:lnTo>
                  <a:pt x="259272" y="16624"/>
                </a:lnTo>
                <a:lnTo>
                  <a:pt x="324091" y="20955"/>
                </a:lnTo>
                <a:lnTo>
                  <a:pt x="388909" y="25355"/>
                </a:lnTo>
                <a:lnTo>
                  <a:pt x="453727" y="29823"/>
                </a:lnTo>
                <a:lnTo>
                  <a:pt x="518545" y="34360"/>
                </a:lnTo>
                <a:lnTo>
                  <a:pt x="583364" y="38964"/>
                </a:lnTo>
                <a:lnTo>
                  <a:pt x="648182" y="43635"/>
                </a:lnTo>
                <a:lnTo>
                  <a:pt x="713000" y="48372"/>
                </a:lnTo>
                <a:lnTo>
                  <a:pt x="777818" y="53175"/>
                </a:lnTo>
                <a:lnTo>
                  <a:pt x="842636" y="58041"/>
                </a:lnTo>
                <a:lnTo>
                  <a:pt x="907455" y="62971"/>
                </a:lnTo>
                <a:lnTo>
                  <a:pt x="972273" y="67964"/>
                </a:lnTo>
                <a:lnTo>
                  <a:pt x="1037091" y="73017"/>
                </a:lnTo>
                <a:lnTo>
                  <a:pt x="1101909" y="78129"/>
                </a:lnTo>
                <a:lnTo>
                  <a:pt x="1166728" y="83300"/>
                </a:lnTo>
                <a:lnTo>
                  <a:pt x="1231546" y="88528"/>
                </a:lnTo>
                <a:lnTo>
                  <a:pt x="1296364" y="93811"/>
                </a:lnTo>
                <a:lnTo>
                  <a:pt x="1361182" y="99148"/>
                </a:lnTo>
                <a:lnTo>
                  <a:pt x="1426001" y="104536"/>
                </a:lnTo>
                <a:lnTo>
                  <a:pt x="1490819" y="109975"/>
                </a:lnTo>
                <a:lnTo>
                  <a:pt x="1555637" y="115462"/>
                </a:lnTo>
                <a:lnTo>
                  <a:pt x="1620455" y="120995"/>
                </a:lnTo>
                <a:lnTo>
                  <a:pt x="1685273" y="126572"/>
                </a:lnTo>
                <a:lnTo>
                  <a:pt x="1750092" y="132191"/>
                </a:lnTo>
                <a:lnTo>
                  <a:pt x="1814910" y="137850"/>
                </a:lnTo>
                <a:lnTo>
                  <a:pt x="1879728" y="143547"/>
                </a:lnTo>
                <a:lnTo>
                  <a:pt x="1944546" y="149279"/>
                </a:lnTo>
                <a:lnTo>
                  <a:pt x="2009365" y="155044"/>
                </a:lnTo>
                <a:lnTo>
                  <a:pt x="2074183" y="160839"/>
                </a:lnTo>
                <a:lnTo>
                  <a:pt x="2139001" y="166662"/>
                </a:lnTo>
                <a:lnTo>
                  <a:pt x="2203819" y="172511"/>
                </a:lnTo>
                <a:lnTo>
                  <a:pt x="2268637" y="178382"/>
                </a:lnTo>
                <a:lnTo>
                  <a:pt x="2333456" y="184274"/>
                </a:lnTo>
                <a:lnTo>
                  <a:pt x="2398274" y="190183"/>
                </a:lnTo>
                <a:lnTo>
                  <a:pt x="2463092" y="196106"/>
                </a:lnTo>
                <a:lnTo>
                  <a:pt x="2527910" y="202042"/>
                </a:lnTo>
                <a:lnTo>
                  <a:pt x="2592729" y="207987"/>
                </a:lnTo>
                <a:lnTo>
                  <a:pt x="2657547" y="213939"/>
                </a:lnTo>
                <a:lnTo>
                  <a:pt x="2722365" y="219894"/>
                </a:lnTo>
                <a:lnTo>
                  <a:pt x="2787183" y="225850"/>
                </a:lnTo>
                <a:lnTo>
                  <a:pt x="2852002" y="231804"/>
                </a:lnTo>
                <a:lnTo>
                  <a:pt x="2916820" y="237754"/>
                </a:lnTo>
                <a:lnTo>
                  <a:pt x="2981638" y="243696"/>
                </a:lnTo>
                <a:lnTo>
                  <a:pt x="3046456" y="249628"/>
                </a:lnTo>
                <a:lnTo>
                  <a:pt x="3111274" y="255546"/>
                </a:lnTo>
                <a:lnTo>
                  <a:pt x="3176093" y="261450"/>
                </a:lnTo>
                <a:lnTo>
                  <a:pt x="3240911" y="267334"/>
                </a:lnTo>
                <a:lnTo>
                  <a:pt x="3305729" y="273198"/>
                </a:lnTo>
                <a:lnTo>
                  <a:pt x="3370547" y="279038"/>
                </a:lnTo>
                <a:lnTo>
                  <a:pt x="3435366" y="284851"/>
                </a:lnTo>
                <a:lnTo>
                  <a:pt x="3500184" y="290636"/>
                </a:lnTo>
                <a:lnTo>
                  <a:pt x="3565002" y="296389"/>
                </a:lnTo>
                <a:lnTo>
                  <a:pt x="3629820" y="302109"/>
                </a:lnTo>
                <a:lnTo>
                  <a:pt x="3694638" y="307792"/>
                </a:lnTo>
                <a:lnTo>
                  <a:pt x="3759457" y="313437"/>
                </a:lnTo>
                <a:lnTo>
                  <a:pt x="3824275" y="319042"/>
                </a:lnTo>
                <a:lnTo>
                  <a:pt x="3889093" y="324603"/>
                </a:lnTo>
                <a:lnTo>
                  <a:pt x="3953911" y="330120"/>
                </a:lnTo>
                <a:lnTo>
                  <a:pt x="4018730" y="335590"/>
                </a:lnTo>
                <a:lnTo>
                  <a:pt x="4083548" y="341011"/>
                </a:lnTo>
                <a:lnTo>
                  <a:pt x="4148366" y="346381"/>
                </a:lnTo>
                <a:lnTo>
                  <a:pt x="4213184" y="351699"/>
                </a:lnTo>
                <a:lnTo>
                  <a:pt x="4278003" y="356962"/>
                </a:lnTo>
                <a:lnTo>
                  <a:pt x="4342821" y="362170"/>
                </a:lnTo>
                <a:lnTo>
                  <a:pt x="4407639" y="367320"/>
                </a:lnTo>
                <a:lnTo>
                  <a:pt x="4472457" y="372412"/>
                </a:lnTo>
                <a:lnTo>
                  <a:pt x="4537275" y="377443"/>
                </a:lnTo>
                <a:lnTo>
                  <a:pt x="4602094" y="382414"/>
                </a:lnTo>
                <a:lnTo>
                  <a:pt x="4666912" y="387321"/>
                </a:lnTo>
                <a:lnTo>
                  <a:pt x="4731730" y="392165"/>
                </a:lnTo>
                <a:lnTo>
                  <a:pt x="4796548" y="396944"/>
                </a:lnTo>
                <a:lnTo>
                  <a:pt x="4861367" y="401658"/>
                </a:lnTo>
                <a:lnTo>
                  <a:pt x="4926185" y="406305"/>
                </a:lnTo>
                <a:lnTo>
                  <a:pt x="4991003" y="410885"/>
                </a:lnTo>
                <a:lnTo>
                  <a:pt x="5055821" y="415397"/>
                </a:lnTo>
                <a:lnTo>
                  <a:pt x="5120640" y="419841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1-E30 text 5" descr="sci-ppt:o005"/>
          <p:cNvSpPr txBox="1"/>
          <p:nvPr/>
        </p:nvSpPr>
        <p:spPr>
          <a:xfrm>
            <a:off x="548640" y="2752344"/>
            <a:ext cx="51206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pressure along the column at one instant</a:t>
            </a:r>
          </a:p>
        </p:txBody>
      </p:sp>
      <p:sp>
        <p:nvSpPr>
          <p:cNvPr id="8" name="C1-E30 rect 6" descr="sci-ppt:o006"/>
          <p:cNvSpPr/>
          <p:nvPr/>
        </p:nvSpPr>
        <p:spPr>
          <a:xfrm>
            <a:off x="548640" y="4114800"/>
            <a:ext cx="5120640" cy="502920"/>
          </a:xfrm>
          <a:prstGeom prst="rect">
            <a:avLst/>
          </a:prstGeom>
          <a:solidFill>
            <a:srgbClr val="1E4A5A"/>
          </a:solidFill>
          <a:ln w="1524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1-E30 text 7" descr="sci-ppt:o007"/>
          <p:cNvSpPr txBox="1"/>
          <p:nvPr/>
        </p:nvSpPr>
        <p:spPr>
          <a:xfrm>
            <a:off x="548640" y="3337560"/>
            <a:ext cx="512064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8BA0"/>
                </a:solidFill>
                <a:latin typeface="Arial"/>
              </a:rPr>
              <a:t>fast rise: τₑ ≪ Lₑ/c</a:t>
            </a:r>
          </a:p>
        </p:txBody>
      </p:sp>
      <p:sp>
        <p:nvSpPr>
          <p:cNvPr id="10" name="C1-E30 polygon 8" descr="sci-ppt:o008"/>
          <p:cNvSpPr/>
          <p:nvPr/>
        </p:nvSpPr>
        <p:spPr>
          <a:xfrm>
            <a:off x="548640" y="3840565"/>
            <a:ext cx="5120640" cy="776866"/>
          </a:xfrm>
          <a:custGeom>
            <a:avLst/>
            <a:gdLst/>
            <a:ahLst/>
            <a:cxnLst/>
            <a:rect l="l" t="t" r="r" b="b"/>
            <a:pathLst>
              <a:path w="5120640" h="776866">
                <a:moveTo>
                  <a:pt x="0" y="0"/>
                </a:moveTo>
                <a:lnTo>
                  <a:pt x="64818" y="21"/>
                </a:lnTo>
                <a:lnTo>
                  <a:pt x="129636" y="46"/>
                </a:lnTo>
                <a:lnTo>
                  <a:pt x="194454" y="78"/>
                </a:lnTo>
                <a:lnTo>
                  <a:pt x="259272" y="117"/>
                </a:lnTo>
                <a:lnTo>
                  <a:pt x="324091" y="166"/>
                </a:lnTo>
                <a:lnTo>
                  <a:pt x="388909" y="226"/>
                </a:lnTo>
                <a:lnTo>
                  <a:pt x="453727" y="301"/>
                </a:lnTo>
                <a:lnTo>
                  <a:pt x="518545" y="394"/>
                </a:lnTo>
                <a:lnTo>
                  <a:pt x="583364" y="509"/>
                </a:lnTo>
                <a:lnTo>
                  <a:pt x="648182" y="651"/>
                </a:lnTo>
                <a:lnTo>
                  <a:pt x="713000" y="828"/>
                </a:lnTo>
                <a:lnTo>
                  <a:pt x="777818" y="1047"/>
                </a:lnTo>
                <a:lnTo>
                  <a:pt x="842636" y="1319"/>
                </a:lnTo>
                <a:lnTo>
                  <a:pt x="907455" y="1656"/>
                </a:lnTo>
                <a:lnTo>
                  <a:pt x="972273" y="2073"/>
                </a:lnTo>
                <a:lnTo>
                  <a:pt x="1037091" y="2590"/>
                </a:lnTo>
                <a:lnTo>
                  <a:pt x="1101909" y="3230"/>
                </a:lnTo>
                <a:lnTo>
                  <a:pt x="1166728" y="4022"/>
                </a:lnTo>
                <a:lnTo>
                  <a:pt x="1231546" y="5003"/>
                </a:lnTo>
                <a:lnTo>
                  <a:pt x="1296364" y="6215"/>
                </a:lnTo>
                <a:lnTo>
                  <a:pt x="1361182" y="7714"/>
                </a:lnTo>
                <a:lnTo>
                  <a:pt x="1426001" y="9565"/>
                </a:lnTo>
                <a:lnTo>
                  <a:pt x="1490819" y="11849"/>
                </a:lnTo>
                <a:lnTo>
                  <a:pt x="1555637" y="14662"/>
                </a:lnTo>
                <a:lnTo>
                  <a:pt x="1620455" y="18123"/>
                </a:lnTo>
                <a:lnTo>
                  <a:pt x="1685273" y="22372"/>
                </a:lnTo>
                <a:lnTo>
                  <a:pt x="1750092" y="27576"/>
                </a:lnTo>
                <a:lnTo>
                  <a:pt x="1814910" y="33932"/>
                </a:lnTo>
                <a:lnTo>
                  <a:pt x="1879728" y="41667"/>
                </a:lnTo>
                <a:lnTo>
                  <a:pt x="1944546" y="51040"/>
                </a:lnTo>
                <a:lnTo>
                  <a:pt x="2009365" y="62339"/>
                </a:lnTo>
                <a:lnTo>
                  <a:pt x="2074183" y="75873"/>
                </a:lnTo>
                <a:lnTo>
                  <a:pt x="2139001" y="91964"/>
                </a:lnTo>
                <a:lnTo>
                  <a:pt x="2203819" y="110924"/>
                </a:lnTo>
                <a:lnTo>
                  <a:pt x="2268637" y="133030"/>
                </a:lnTo>
                <a:lnTo>
                  <a:pt x="2333456" y="158492"/>
                </a:lnTo>
                <a:lnTo>
                  <a:pt x="2398274" y="187405"/>
                </a:lnTo>
                <a:lnTo>
                  <a:pt x="2463092" y="219717"/>
                </a:lnTo>
                <a:lnTo>
                  <a:pt x="2527910" y="255188"/>
                </a:lnTo>
                <a:lnTo>
                  <a:pt x="2592729" y="293369"/>
                </a:lnTo>
                <a:lnTo>
                  <a:pt x="2657547" y="333610"/>
                </a:lnTo>
                <a:lnTo>
                  <a:pt x="2722365" y="375090"/>
                </a:lnTo>
                <a:lnTo>
                  <a:pt x="2787183" y="416879"/>
                </a:lnTo>
                <a:lnTo>
                  <a:pt x="2852002" y="458019"/>
                </a:lnTo>
                <a:lnTo>
                  <a:pt x="2916820" y="497611"/>
                </a:lnTo>
                <a:lnTo>
                  <a:pt x="2981638" y="534888"/>
                </a:lnTo>
                <a:lnTo>
                  <a:pt x="3046456" y="569271"/>
                </a:lnTo>
                <a:lnTo>
                  <a:pt x="3111274" y="600387"/>
                </a:lnTo>
                <a:lnTo>
                  <a:pt x="3176093" y="628065"/>
                </a:lnTo>
                <a:lnTo>
                  <a:pt x="3240911" y="652310"/>
                </a:lnTo>
                <a:lnTo>
                  <a:pt x="3305729" y="673264"/>
                </a:lnTo>
                <a:lnTo>
                  <a:pt x="3370547" y="691165"/>
                </a:lnTo>
                <a:lnTo>
                  <a:pt x="3435366" y="706306"/>
                </a:lnTo>
                <a:lnTo>
                  <a:pt x="3500184" y="719006"/>
                </a:lnTo>
                <a:lnTo>
                  <a:pt x="3565002" y="729582"/>
                </a:lnTo>
                <a:lnTo>
                  <a:pt x="3629820" y="738338"/>
                </a:lnTo>
                <a:lnTo>
                  <a:pt x="3694638" y="745553"/>
                </a:lnTo>
                <a:lnTo>
                  <a:pt x="3759457" y="751473"/>
                </a:lnTo>
                <a:lnTo>
                  <a:pt x="3824275" y="756315"/>
                </a:lnTo>
                <a:lnTo>
                  <a:pt x="3889093" y="760265"/>
                </a:lnTo>
                <a:lnTo>
                  <a:pt x="3953911" y="763480"/>
                </a:lnTo>
                <a:lnTo>
                  <a:pt x="4018730" y="766091"/>
                </a:lnTo>
                <a:lnTo>
                  <a:pt x="4083548" y="768210"/>
                </a:lnTo>
                <a:lnTo>
                  <a:pt x="4148366" y="769927"/>
                </a:lnTo>
                <a:lnTo>
                  <a:pt x="4213184" y="771317"/>
                </a:lnTo>
                <a:lnTo>
                  <a:pt x="4278003" y="772441"/>
                </a:lnTo>
                <a:lnTo>
                  <a:pt x="4342821" y="773350"/>
                </a:lnTo>
                <a:lnTo>
                  <a:pt x="4407639" y="774084"/>
                </a:lnTo>
                <a:lnTo>
                  <a:pt x="4472457" y="774677"/>
                </a:lnTo>
                <a:lnTo>
                  <a:pt x="4537275" y="775156"/>
                </a:lnTo>
                <a:lnTo>
                  <a:pt x="4602094" y="775542"/>
                </a:lnTo>
                <a:lnTo>
                  <a:pt x="4666912" y="775854"/>
                </a:lnTo>
                <a:lnTo>
                  <a:pt x="4731730" y="776106"/>
                </a:lnTo>
                <a:lnTo>
                  <a:pt x="4796548" y="776309"/>
                </a:lnTo>
                <a:lnTo>
                  <a:pt x="4861367" y="776472"/>
                </a:lnTo>
                <a:lnTo>
                  <a:pt x="4926185" y="776604"/>
                </a:lnTo>
                <a:lnTo>
                  <a:pt x="4991003" y="776711"/>
                </a:lnTo>
                <a:lnTo>
                  <a:pt x="5055821" y="776797"/>
                </a:lnTo>
                <a:lnTo>
                  <a:pt x="5120640" y="776866"/>
                </a:lnTo>
              </a:path>
            </a:pathLst>
          </a:custGeom>
          <a:noFill/>
          <a:ln w="381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1-E30 text 9" descr="sci-ppt:o009"/>
          <p:cNvSpPr txBox="1"/>
          <p:nvPr/>
        </p:nvSpPr>
        <p:spPr>
          <a:xfrm>
            <a:off x="548640" y="4672584"/>
            <a:ext cx="51206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pressure along the column at one instant</a:t>
            </a:r>
          </a:p>
        </p:txBody>
      </p:sp>
      <p:cxnSp>
        <p:nvCxnSpPr>
          <p:cNvPr id="12" name="C1-E30 line 10" descr="sci-ppt:o010"/>
          <p:cNvCxnSpPr/>
          <p:nvPr/>
        </p:nvCxnSpPr>
        <p:spPr>
          <a:xfrm>
            <a:off x="6858000" y="4709160"/>
            <a:ext cx="49377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3" name="C1-E30 line 11" descr="sci-ppt:o011"/>
          <p:cNvCxnSpPr/>
          <p:nvPr/>
        </p:nvCxnSpPr>
        <p:spPr>
          <a:xfrm>
            <a:off x="6858000" y="1417320"/>
            <a:ext cx="0" cy="329184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4" name="C1-E30 line 12" descr="sci-ppt:o012"/>
          <p:cNvCxnSpPr/>
          <p:nvPr/>
        </p:nvCxnSpPr>
        <p:spPr>
          <a:xfrm>
            <a:off x="6858000" y="47091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30 line 13" descr="sci-ppt:o013"/>
          <p:cNvCxnSpPr/>
          <p:nvPr/>
        </p:nvCxnSpPr>
        <p:spPr>
          <a:xfrm>
            <a:off x="6858000" y="1417320"/>
            <a:ext cx="0" cy="32918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30 text 14" descr="sci-ppt:o014"/>
          <p:cNvSpPr txBox="1"/>
          <p:nvPr/>
        </p:nvSpPr>
        <p:spPr>
          <a:xfrm>
            <a:off x="6400800" y="47914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1e-05</a:t>
            </a:r>
          </a:p>
        </p:txBody>
      </p:sp>
      <p:cxnSp>
        <p:nvCxnSpPr>
          <p:cNvPr id="17" name="C1-E30 line 15" descr="sci-ppt:o015"/>
          <p:cNvCxnSpPr/>
          <p:nvPr/>
        </p:nvCxnSpPr>
        <p:spPr>
          <a:xfrm>
            <a:off x="8503920" y="47091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30 line 16" descr="sci-ppt:o016"/>
          <p:cNvCxnSpPr/>
          <p:nvPr/>
        </p:nvCxnSpPr>
        <p:spPr>
          <a:xfrm>
            <a:off x="8503920" y="1417320"/>
            <a:ext cx="0" cy="32918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1-E30 text 17" descr="sci-ppt:o017"/>
          <p:cNvSpPr txBox="1"/>
          <p:nvPr/>
        </p:nvSpPr>
        <p:spPr>
          <a:xfrm>
            <a:off x="8046720" y="47914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1e-04</a:t>
            </a:r>
          </a:p>
        </p:txBody>
      </p:sp>
      <p:cxnSp>
        <p:nvCxnSpPr>
          <p:cNvPr id="20" name="C1-E30 line 18" descr="sci-ppt:o018"/>
          <p:cNvCxnSpPr/>
          <p:nvPr/>
        </p:nvCxnSpPr>
        <p:spPr>
          <a:xfrm>
            <a:off x="10149840" y="47091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1-E30 line 19" descr="sci-ppt:o019"/>
          <p:cNvCxnSpPr/>
          <p:nvPr/>
        </p:nvCxnSpPr>
        <p:spPr>
          <a:xfrm>
            <a:off x="10149840" y="1417320"/>
            <a:ext cx="0" cy="32918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1-E30 text 20" descr="sci-ppt:o020"/>
          <p:cNvSpPr txBox="1"/>
          <p:nvPr/>
        </p:nvSpPr>
        <p:spPr>
          <a:xfrm>
            <a:off x="9692640" y="47914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1e-03</a:t>
            </a:r>
          </a:p>
        </p:txBody>
      </p:sp>
      <p:cxnSp>
        <p:nvCxnSpPr>
          <p:cNvPr id="23" name="C1-E30 line 21" descr="sci-ppt:o021"/>
          <p:cNvCxnSpPr/>
          <p:nvPr/>
        </p:nvCxnSpPr>
        <p:spPr>
          <a:xfrm>
            <a:off x="11795760" y="47091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1-E30 line 22" descr="sci-ppt:o022"/>
          <p:cNvCxnSpPr/>
          <p:nvPr/>
        </p:nvCxnSpPr>
        <p:spPr>
          <a:xfrm>
            <a:off x="11795760" y="1417320"/>
            <a:ext cx="0" cy="32918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C1-E30 text 23" descr="sci-ppt:o023"/>
          <p:cNvSpPr txBox="1"/>
          <p:nvPr/>
        </p:nvSpPr>
        <p:spPr>
          <a:xfrm>
            <a:off x="11338560" y="47914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1e-02</a:t>
            </a:r>
          </a:p>
        </p:txBody>
      </p:sp>
      <p:cxnSp>
        <p:nvCxnSpPr>
          <p:cNvPr id="26" name="C1-E30 line 24" descr="sci-ppt:o024"/>
          <p:cNvCxnSpPr/>
          <p:nvPr/>
        </p:nvCxnSpPr>
        <p:spPr>
          <a:xfrm>
            <a:off x="6793992" y="47091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1-E30 line 25" descr="sci-ppt:o025"/>
          <p:cNvCxnSpPr/>
          <p:nvPr/>
        </p:nvCxnSpPr>
        <p:spPr>
          <a:xfrm>
            <a:off x="6793992" y="30632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30 line 26" descr="sci-ppt:o026"/>
          <p:cNvCxnSpPr/>
          <p:nvPr/>
        </p:nvCxnSpPr>
        <p:spPr>
          <a:xfrm>
            <a:off x="6858000" y="3063240"/>
            <a:ext cx="49377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30 text 27" descr="sci-ppt:o027"/>
          <p:cNvSpPr txBox="1"/>
          <p:nvPr/>
        </p:nvSpPr>
        <p:spPr>
          <a:xfrm>
            <a:off x="5989320" y="29809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1e+00</a:t>
            </a:r>
          </a:p>
        </p:txBody>
      </p:sp>
      <p:cxnSp>
        <p:nvCxnSpPr>
          <p:cNvPr id="30" name="C1-E30 line 28" descr="sci-ppt:o028"/>
          <p:cNvCxnSpPr/>
          <p:nvPr/>
        </p:nvCxnSpPr>
        <p:spPr>
          <a:xfrm>
            <a:off x="6793992" y="14173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1-E30 line 29" descr="sci-ppt:o029"/>
          <p:cNvCxnSpPr/>
          <p:nvPr/>
        </p:nvCxnSpPr>
        <p:spPr>
          <a:xfrm>
            <a:off x="6858000" y="1417320"/>
            <a:ext cx="49377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1-E30 text 30" descr="sci-ppt:o030"/>
          <p:cNvSpPr txBox="1"/>
          <p:nvPr/>
        </p:nvSpPr>
        <p:spPr>
          <a:xfrm>
            <a:off x="5989320" y="133502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1e+02</a:t>
            </a:r>
          </a:p>
        </p:txBody>
      </p:sp>
      <p:sp>
        <p:nvSpPr>
          <p:cNvPr id="33" name="C1-E30 text 31" descr="sci-ppt:o031"/>
          <p:cNvSpPr txBox="1"/>
          <p:nvPr/>
        </p:nvSpPr>
        <p:spPr>
          <a:xfrm>
            <a:off x="6858000" y="4992624"/>
            <a:ext cx="49377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communication length Lₑ  (m)</a:t>
            </a:r>
          </a:p>
        </p:txBody>
      </p:sp>
      <p:sp>
        <p:nvSpPr>
          <p:cNvPr id="34" name="C1-E30 text 32" descr="sci-ppt:o032"/>
          <p:cNvSpPr txBox="1"/>
          <p:nvPr/>
        </p:nvSpPr>
        <p:spPr>
          <a:xfrm>
            <a:off x="6309360" y="1069848"/>
            <a:ext cx="49377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𝒞ₑ = Lₑ / (c τₑ)</a:t>
            </a:r>
          </a:p>
        </p:txBody>
      </p:sp>
      <p:sp>
        <p:nvSpPr>
          <p:cNvPr id="35" name="C1-E30 polygon 33" descr="sci-ppt:o033"/>
          <p:cNvSpPr/>
          <p:nvPr/>
        </p:nvSpPr>
        <p:spPr>
          <a:xfrm>
            <a:off x="6858000" y="1562236"/>
            <a:ext cx="4937760" cy="2468880"/>
          </a:xfrm>
          <a:custGeom>
            <a:avLst/>
            <a:gdLst/>
            <a:ahLst/>
            <a:cxnLst/>
            <a:rect l="l" t="t" r="r" b="b"/>
            <a:pathLst>
              <a:path w="4937760" h="2468880">
                <a:moveTo>
                  <a:pt x="0" y="2468880"/>
                </a:moveTo>
                <a:lnTo>
                  <a:pt x="49876" y="2443941"/>
                </a:lnTo>
                <a:lnTo>
                  <a:pt x="99752" y="2419003"/>
                </a:lnTo>
                <a:lnTo>
                  <a:pt x="149629" y="2394065"/>
                </a:lnTo>
                <a:lnTo>
                  <a:pt x="199505" y="2369127"/>
                </a:lnTo>
                <a:lnTo>
                  <a:pt x="249381" y="2344189"/>
                </a:lnTo>
                <a:lnTo>
                  <a:pt x="299258" y="2319250"/>
                </a:lnTo>
                <a:lnTo>
                  <a:pt x="349134" y="2294312"/>
                </a:lnTo>
                <a:lnTo>
                  <a:pt x="399010" y="2269374"/>
                </a:lnTo>
                <a:lnTo>
                  <a:pt x="448887" y="2244436"/>
                </a:lnTo>
                <a:lnTo>
                  <a:pt x="498763" y="2219498"/>
                </a:lnTo>
                <a:lnTo>
                  <a:pt x="548640" y="2194560"/>
                </a:lnTo>
                <a:lnTo>
                  <a:pt x="598516" y="2169621"/>
                </a:lnTo>
                <a:lnTo>
                  <a:pt x="648392" y="2144683"/>
                </a:lnTo>
                <a:lnTo>
                  <a:pt x="698269" y="2119745"/>
                </a:lnTo>
                <a:lnTo>
                  <a:pt x="748145" y="2094807"/>
                </a:lnTo>
                <a:lnTo>
                  <a:pt x="798021" y="2069869"/>
                </a:lnTo>
                <a:lnTo>
                  <a:pt x="847898" y="2044930"/>
                </a:lnTo>
                <a:lnTo>
                  <a:pt x="897774" y="2019992"/>
                </a:lnTo>
                <a:lnTo>
                  <a:pt x="947650" y="1995054"/>
                </a:lnTo>
                <a:lnTo>
                  <a:pt x="997527" y="1970116"/>
                </a:lnTo>
                <a:lnTo>
                  <a:pt x="1047403" y="1945178"/>
                </a:lnTo>
                <a:lnTo>
                  <a:pt x="1097280" y="1920240"/>
                </a:lnTo>
                <a:lnTo>
                  <a:pt x="1147156" y="1895301"/>
                </a:lnTo>
                <a:lnTo>
                  <a:pt x="1197032" y="1870363"/>
                </a:lnTo>
                <a:lnTo>
                  <a:pt x="1246909" y="1845425"/>
                </a:lnTo>
                <a:lnTo>
                  <a:pt x="1296785" y="1820487"/>
                </a:lnTo>
                <a:lnTo>
                  <a:pt x="1346661" y="1795549"/>
                </a:lnTo>
                <a:lnTo>
                  <a:pt x="1396538" y="1770610"/>
                </a:lnTo>
                <a:lnTo>
                  <a:pt x="1446414" y="1745672"/>
                </a:lnTo>
                <a:lnTo>
                  <a:pt x="1496290" y="1720734"/>
                </a:lnTo>
                <a:lnTo>
                  <a:pt x="1546167" y="1695796"/>
                </a:lnTo>
                <a:lnTo>
                  <a:pt x="1596043" y="1670858"/>
                </a:lnTo>
                <a:lnTo>
                  <a:pt x="1645920" y="1645920"/>
                </a:lnTo>
                <a:lnTo>
                  <a:pt x="1695796" y="1620981"/>
                </a:lnTo>
                <a:lnTo>
                  <a:pt x="1745672" y="1596043"/>
                </a:lnTo>
                <a:lnTo>
                  <a:pt x="1795549" y="1571105"/>
                </a:lnTo>
                <a:lnTo>
                  <a:pt x="1845425" y="1546167"/>
                </a:lnTo>
                <a:lnTo>
                  <a:pt x="1895301" y="1521229"/>
                </a:lnTo>
                <a:lnTo>
                  <a:pt x="1945178" y="1496290"/>
                </a:lnTo>
                <a:lnTo>
                  <a:pt x="1995054" y="1471352"/>
                </a:lnTo>
                <a:lnTo>
                  <a:pt x="2044930" y="1446414"/>
                </a:lnTo>
                <a:lnTo>
                  <a:pt x="2094807" y="1421476"/>
                </a:lnTo>
                <a:lnTo>
                  <a:pt x="2144683" y="1396538"/>
                </a:lnTo>
                <a:lnTo>
                  <a:pt x="2194560" y="1371600"/>
                </a:lnTo>
                <a:lnTo>
                  <a:pt x="2244436" y="1346661"/>
                </a:lnTo>
                <a:lnTo>
                  <a:pt x="2294312" y="1321723"/>
                </a:lnTo>
                <a:lnTo>
                  <a:pt x="2344189" y="1296785"/>
                </a:lnTo>
                <a:lnTo>
                  <a:pt x="2394065" y="1271847"/>
                </a:lnTo>
                <a:lnTo>
                  <a:pt x="2443941" y="1246909"/>
                </a:lnTo>
                <a:lnTo>
                  <a:pt x="2493818" y="1221970"/>
                </a:lnTo>
                <a:lnTo>
                  <a:pt x="2543694" y="1197032"/>
                </a:lnTo>
                <a:lnTo>
                  <a:pt x="2593570" y="1172094"/>
                </a:lnTo>
                <a:lnTo>
                  <a:pt x="2643447" y="1147156"/>
                </a:lnTo>
                <a:lnTo>
                  <a:pt x="2693323" y="1122218"/>
                </a:lnTo>
                <a:lnTo>
                  <a:pt x="2743200" y="1097280"/>
                </a:lnTo>
                <a:lnTo>
                  <a:pt x="2793076" y="1072341"/>
                </a:lnTo>
                <a:lnTo>
                  <a:pt x="2842952" y="1047403"/>
                </a:lnTo>
                <a:lnTo>
                  <a:pt x="2892829" y="1022465"/>
                </a:lnTo>
                <a:lnTo>
                  <a:pt x="2942705" y="997527"/>
                </a:lnTo>
                <a:lnTo>
                  <a:pt x="2992581" y="972589"/>
                </a:lnTo>
                <a:lnTo>
                  <a:pt x="3042458" y="947650"/>
                </a:lnTo>
                <a:lnTo>
                  <a:pt x="3092334" y="922712"/>
                </a:lnTo>
                <a:lnTo>
                  <a:pt x="3142210" y="897774"/>
                </a:lnTo>
                <a:lnTo>
                  <a:pt x="3192087" y="872836"/>
                </a:lnTo>
                <a:lnTo>
                  <a:pt x="3241963" y="847898"/>
                </a:lnTo>
                <a:lnTo>
                  <a:pt x="3291840" y="822960"/>
                </a:lnTo>
                <a:lnTo>
                  <a:pt x="3341716" y="798021"/>
                </a:lnTo>
                <a:lnTo>
                  <a:pt x="3391592" y="773083"/>
                </a:lnTo>
                <a:lnTo>
                  <a:pt x="3441469" y="748145"/>
                </a:lnTo>
                <a:lnTo>
                  <a:pt x="3491345" y="723207"/>
                </a:lnTo>
                <a:lnTo>
                  <a:pt x="3541221" y="698269"/>
                </a:lnTo>
                <a:lnTo>
                  <a:pt x="3591098" y="673330"/>
                </a:lnTo>
                <a:lnTo>
                  <a:pt x="3640974" y="648392"/>
                </a:lnTo>
                <a:lnTo>
                  <a:pt x="3690850" y="623454"/>
                </a:lnTo>
                <a:lnTo>
                  <a:pt x="3740727" y="598516"/>
                </a:lnTo>
                <a:lnTo>
                  <a:pt x="3790603" y="573578"/>
                </a:lnTo>
                <a:lnTo>
                  <a:pt x="3840480" y="548640"/>
                </a:lnTo>
                <a:lnTo>
                  <a:pt x="3890356" y="523701"/>
                </a:lnTo>
                <a:lnTo>
                  <a:pt x="3940232" y="498763"/>
                </a:lnTo>
                <a:lnTo>
                  <a:pt x="3990109" y="473825"/>
                </a:lnTo>
                <a:lnTo>
                  <a:pt x="4039985" y="448887"/>
                </a:lnTo>
                <a:lnTo>
                  <a:pt x="4089861" y="423949"/>
                </a:lnTo>
                <a:lnTo>
                  <a:pt x="4139738" y="399010"/>
                </a:lnTo>
                <a:lnTo>
                  <a:pt x="4189614" y="374072"/>
                </a:lnTo>
                <a:lnTo>
                  <a:pt x="4239490" y="349134"/>
                </a:lnTo>
                <a:lnTo>
                  <a:pt x="4289367" y="324196"/>
                </a:lnTo>
                <a:lnTo>
                  <a:pt x="4339243" y="299258"/>
                </a:lnTo>
                <a:lnTo>
                  <a:pt x="4389120" y="274320"/>
                </a:lnTo>
                <a:lnTo>
                  <a:pt x="4438996" y="249381"/>
                </a:lnTo>
                <a:lnTo>
                  <a:pt x="4488872" y="224443"/>
                </a:lnTo>
                <a:lnTo>
                  <a:pt x="4538749" y="199505"/>
                </a:lnTo>
                <a:lnTo>
                  <a:pt x="4588625" y="174567"/>
                </a:lnTo>
                <a:lnTo>
                  <a:pt x="4638501" y="149629"/>
                </a:lnTo>
                <a:lnTo>
                  <a:pt x="4688378" y="124690"/>
                </a:lnTo>
                <a:lnTo>
                  <a:pt x="4738254" y="99752"/>
                </a:lnTo>
                <a:lnTo>
                  <a:pt x="4788130" y="74814"/>
                </a:lnTo>
                <a:lnTo>
                  <a:pt x="4838007" y="49876"/>
                </a:lnTo>
                <a:lnTo>
                  <a:pt x="4887883" y="24938"/>
                </a:lnTo>
                <a:lnTo>
                  <a:pt x="4937760" y="0"/>
                </a:lnTo>
              </a:path>
            </a:pathLst>
          </a:custGeom>
          <a:noFill/>
          <a:ln w="381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1-E30 polygon 34" descr="sci-ppt:o034"/>
          <p:cNvSpPr/>
          <p:nvPr/>
        </p:nvSpPr>
        <p:spPr>
          <a:xfrm>
            <a:off x="8803178" y="3208156"/>
            <a:ext cx="2992582" cy="1496290"/>
          </a:xfrm>
          <a:custGeom>
            <a:avLst/>
            <a:gdLst/>
            <a:ahLst/>
            <a:cxnLst/>
            <a:rect l="l" t="t" r="r" b="b"/>
            <a:pathLst>
              <a:path w="2992582" h="1496290">
                <a:moveTo>
                  <a:pt x="0" y="1496290"/>
                </a:moveTo>
                <a:lnTo>
                  <a:pt x="49876" y="1471352"/>
                </a:lnTo>
                <a:lnTo>
                  <a:pt x="99752" y="1446414"/>
                </a:lnTo>
                <a:lnTo>
                  <a:pt x="149629" y="1421476"/>
                </a:lnTo>
                <a:lnTo>
                  <a:pt x="199505" y="1396538"/>
                </a:lnTo>
                <a:lnTo>
                  <a:pt x="249382" y="1371600"/>
                </a:lnTo>
                <a:lnTo>
                  <a:pt x="299258" y="1346661"/>
                </a:lnTo>
                <a:lnTo>
                  <a:pt x="349134" y="1321723"/>
                </a:lnTo>
                <a:lnTo>
                  <a:pt x="399011" y="1296785"/>
                </a:lnTo>
                <a:lnTo>
                  <a:pt x="448887" y="1271847"/>
                </a:lnTo>
                <a:lnTo>
                  <a:pt x="498763" y="1246909"/>
                </a:lnTo>
                <a:lnTo>
                  <a:pt x="548640" y="1221970"/>
                </a:lnTo>
                <a:lnTo>
                  <a:pt x="598516" y="1197032"/>
                </a:lnTo>
                <a:lnTo>
                  <a:pt x="648392" y="1172094"/>
                </a:lnTo>
                <a:lnTo>
                  <a:pt x="698269" y="1147156"/>
                </a:lnTo>
                <a:lnTo>
                  <a:pt x="748145" y="1122218"/>
                </a:lnTo>
                <a:lnTo>
                  <a:pt x="798022" y="1097280"/>
                </a:lnTo>
                <a:lnTo>
                  <a:pt x="847898" y="1072341"/>
                </a:lnTo>
                <a:lnTo>
                  <a:pt x="897774" y="1047403"/>
                </a:lnTo>
                <a:lnTo>
                  <a:pt x="947651" y="1022465"/>
                </a:lnTo>
                <a:lnTo>
                  <a:pt x="997527" y="997527"/>
                </a:lnTo>
                <a:lnTo>
                  <a:pt x="1047403" y="972589"/>
                </a:lnTo>
                <a:lnTo>
                  <a:pt x="1097280" y="947650"/>
                </a:lnTo>
                <a:lnTo>
                  <a:pt x="1147156" y="922712"/>
                </a:lnTo>
                <a:lnTo>
                  <a:pt x="1197032" y="897774"/>
                </a:lnTo>
                <a:lnTo>
                  <a:pt x="1246909" y="872836"/>
                </a:lnTo>
                <a:lnTo>
                  <a:pt x="1296785" y="847898"/>
                </a:lnTo>
                <a:lnTo>
                  <a:pt x="1346662" y="822960"/>
                </a:lnTo>
                <a:lnTo>
                  <a:pt x="1396538" y="798021"/>
                </a:lnTo>
                <a:lnTo>
                  <a:pt x="1446414" y="773083"/>
                </a:lnTo>
                <a:lnTo>
                  <a:pt x="1496291" y="748145"/>
                </a:lnTo>
                <a:lnTo>
                  <a:pt x="1546167" y="723207"/>
                </a:lnTo>
                <a:lnTo>
                  <a:pt x="1596043" y="698269"/>
                </a:lnTo>
                <a:lnTo>
                  <a:pt x="1645920" y="673330"/>
                </a:lnTo>
                <a:lnTo>
                  <a:pt x="1695796" y="648392"/>
                </a:lnTo>
                <a:lnTo>
                  <a:pt x="1745672" y="623454"/>
                </a:lnTo>
                <a:lnTo>
                  <a:pt x="1795549" y="598516"/>
                </a:lnTo>
                <a:lnTo>
                  <a:pt x="1845425" y="573578"/>
                </a:lnTo>
                <a:lnTo>
                  <a:pt x="1895302" y="548640"/>
                </a:lnTo>
                <a:lnTo>
                  <a:pt x="1945178" y="523701"/>
                </a:lnTo>
                <a:lnTo>
                  <a:pt x="1995054" y="498763"/>
                </a:lnTo>
                <a:lnTo>
                  <a:pt x="2044931" y="473825"/>
                </a:lnTo>
                <a:lnTo>
                  <a:pt x="2094807" y="448887"/>
                </a:lnTo>
                <a:lnTo>
                  <a:pt x="2144683" y="423949"/>
                </a:lnTo>
                <a:lnTo>
                  <a:pt x="2194560" y="399010"/>
                </a:lnTo>
                <a:lnTo>
                  <a:pt x="2244436" y="374072"/>
                </a:lnTo>
                <a:lnTo>
                  <a:pt x="2294312" y="349134"/>
                </a:lnTo>
                <a:lnTo>
                  <a:pt x="2344189" y="324196"/>
                </a:lnTo>
                <a:lnTo>
                  <a:pt x="2394065" y="299258"/>
                </a:lnTo>
                <a:lnTo>
                  <a:pt x="2443942" y="274320"/>
                </a:lnTo>
                <a:lnTo>
                  <a:pt x="2493818" y="249381"/>
                </a:lnTo>
                <a:lnTo>
                  <a:pt x="2543694" y="224443"/>
                </a:lnTo>
                <a:lnTo>
                  <a:pt x="2593571" y="199505"/>
                </a:lnTo>
                <a:lnTo>
                  <a:pt x="2643447" y="174567"/>
                </a:lnTo>
                <a:lnTo>
                  <a:pt x="2693323" y="149629"/>
                </a:lnTo>
                <a:lnTo>
                  <a:pt x="2743200" y="124690"/>
                </a:lnTo>
                <a:lnTo>
                  <a:pt x="2793076" y="99752"/>
                </a:lnTo>
                <a:lnTo>
                  <a:pt x="2842952" y="74814"/>
                </a:lnTo>
                <a:lnTo>
                  <a:pt x="2892829" y="49876"/>
                </a:lnTo>
                <a:lnTo>
                  <a:pt x="2942705" y="24938"/>
                </a:lnTo>
                <a:lnTo>
                  <a:pt x="2992582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1-E30 line 35" descr="sci-ppt:o035"/>
          <p:cNvCxnSpPr/>
          <p:nvPr/>
        </p:nvCxnSpPr>
        <p:spPr>
          <a:xfrm>
            <a:off x="6858000" y="3063240"/>
            <a:ext cx="4937760" cy="0"/>
          </a:xfrm>
          <a:prstGeom prst="line">
            <a:avLst/>
          </a:prstGeom>
          <a:ln w="16510">
            <a:solidFill>
              <a:srgbClr val="F2B880"/>
            </a:solidFill>
            <a:prstDash val="dash"/>
          </a:ln>
          <a:effectLst/>
        </p:spPr>
      </p:cxnSp>
      <p:sp>
        <p:nvSpPr>
          <p:cNvPr id="38" name="C1-E30 text 36" descr="sci-ppt:o036"/>
          <p:cNvSpPr txBox="1"/>
          <p:nvPr/>
        </p:nvSpPr>
        <p:spPr>
          <a:xfrm>
            <a:off x="7220984" y="2788920"/>
            <a:ext cx="10972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𝒞ₑ = 1</a:t>
            </a:r>
          </a:p>
        </p:txBody>
      </p:sp>
      <p:sp>
        <p:nvSpPr>
          <p:cNvPr id="39" name="C1-E30 text 37" descr="sci-ppt:o037"/>
          <p:cNvSpPr txBox="1"/>
          <p:nvPr/>
        </p:nvSpPr>
        <p:spPr>
          <a:xfrm>
            <a:off x="9072543" y="1901104"/>
            <a:ext cx="16459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τₑ = 0.1 µs</a:t>
            </a:r>
          </a:p>
        </p:txBody>
      </p:sp>
      <p:sp>
        <p:nvSpPr>
          <p:cNvPr id="40" name="C1-E30 text 38" descr="sci-ppt:o038"/>
          <p:cNvSpPr txBox="1"/>
          <p:nvPr/>
        </p:nvSpPr>
        <p:spPr>
          <a:xfrm>
            <a:off x="10353317" y="3402108"/>
            <a:ext cx="16459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τₑ = 10 µs</a:t>
            </a:r>
          </a:p>
        </p:txBody>
      </p:sp>
      <p:sp>
        <p:nvSpPr>
          <p:cNvPr id="41" name="C1-E30 text 39" descr="sci-ppt:o039"/>
          <p:cNvSpPr txBox="1"/>
          <p:nvPr/>
        </p:nvSpPr>
        <p:spPr>
          <a:xfrm>
            <a:off x="6858000" y="5212080"/>
            <a:ext cx="49377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M_w = |Ṙ|/c  and  𝒞ₑ = Lₑ/(cτₑ)  test different things.</a:t>
            </a:r>
          </a:p>
        </p:txBody>
      </p:sp>
      <p:sp>
        <p:nvSpPr>
          <p:cNvPr id="42" name="C1-E30 text 40" descr="sci-ppt:o040"/>
          <p:cNvSpPr txBox="1"/>
          <p:nvPr/>
        </p:nvSpPr>
        <p:spPr>
          <a:xfrm>
            <a:off x="457200" y="5669280"/>
            <a:ext cx="11338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A pulse can need compressibility even when the wall is slow: 𝒞ₑ ≳ 1 means pressure cannot equalise during the rise.</a:t>
            </a:r>
          </a:p>
        </p:txBody>
      </p:sp>
      <p:sp>
        <p:nvSpPr>
          <p:cNvPr id="43" name="C1-E30 text 41" descr="sci-ppt:o041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c = 1500 m/s; curves from the definition 𝒞ₑ = Lₑ/(c τₑ) of Eq. C1-E30.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