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1-E30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C1-E30 · Exact spherical recovery of the potential closure</a:t>
            </a:r>
          </a:p>
        </p:txBody>
      </p:sp>
      <p:cxnSp>
        <p:nvCxnSpPr>
          <p:cNvPr id="3" name="C1-E30 line 1" descr="sci-ppt:o001"/>
          <p:cNvCxnSpPr/>
          <p:nvPr/>
        </p:nvCxnSpPr>
        <p:spPr>
          <a:xfrm>
            <a:off x="6858000" y="4937760"/>
            <a:ext cx="493776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1-E30 line 2" descr="sci-ppt:o002"/>
          <p:cNvCxnSpPr/>
          <p:nvPr/>
        </p:nvCxnSpPr>
        <p:spPr>
          <a:xfrm>
            <a:off x="6858000" y="1371600"/>
            <a:ext cx="0" cy="356616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1-E30 line 3" descr="sci-ppt:o003"/>
          <p:cNvCxnSpPr/>
          <p:nvPr/>
        </p:nvCxnSpPr>
        <p:spPr>
          <a:xfrm>
            <a:off x="685800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1-E30 line 4" descr="sci-ppt:o004"/>
          <p:cNvCxnSpPr/>
          <p:nvPr/>
        </p:nvCxnSpPr>
        <p:spPr>
          <a:xfrm>
            <a:off x="685800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1-E30 text 5" descr="sci-ppt:o005"/>
          <p:cNvSpPr txBox="1"/>
          <p:nvPr/>
        </p:nvSpPr>
        <p:spPr>
          <a:xfrm>
            <a:off x="640080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</a:t>
            </a:r>
          </a:p>
        </p:txBody>
      </p:sp>
      <p:cxnSp>
        <p:nvCxnSpPr>
          <p:cNvPr id="8" name="C1-E30 line 6" descr="sci-ppt:o006"/>
          <p:cNvCxnSpPr/>
          <p:nvPr/>
        </p:nvCxnSpPr>
        <p:spPr>
          <a:xfrm>
            <a:off x="850392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1-E30 line 7" descr="sci-ppt:o007"/>
          <p:cNvCxnSpPr/>
          <p:nvPr/>
        </p:nvCxnSpPr>
        <p:spPr>
          <a:xfrm>
            <a:off x="850392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1-E30 text 8" descr="sci-ppt:o008"/>
          <p:cNvSpPr txBox="1"/>
          <p:nvPr/>
        </p:nvSpPr>
        <p:spPr>
          <a:xfrm>
            <a:off x="804672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11" name="C1-E30 line 9" descr="sci-ppt:o009"/>
          <p:cNvCxnSpPr/>
          <p:nvPr/>
        </p:nvCxnSpPr>
        <p:spPr>
          <a:xfrm>
            <a:off x="1014984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1-E30 line 10" descr="sci-ppt:o010"/>
          <p:cNvCxnSpPr/>
          <p:nvPr/>
        </p:nvCxnSpPr>
        <p:spPr>
          <a:xfrm>
            <a:off x="1014984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1-E30 text 11" descr="sci-ppt:o011"/>
          <p:cNvSpPr txBox="1"/>
          <p:nvPr/>
        </p:nvSpPr>
        <p:spPr>
          <a:xfrm>
            <a:off x="969264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</a:t>
            </a:r>
          </a:p>
        </p:txBody>
      </p:sp>
      <p:cxnSp>
        <p:nvCxnSpPr>
          <p:cNvPr id="14" name="C1-E30 line 12" descr="sci-ppt:o012"/>
          <p:cNvCxnSpPr/>
          <p:nvPr/>
        </p:nvCxnSpPr>
        <p:spPr>
          <a:xfrm>
            <a:off x="1179576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1-E30 line 13" descr="sci-ppt:o013"/>
          <p:cNvCxnSpPr/>
          <p:nvPr/>
        </p:nvCxnSpPr>
        <p:spPr>
          <a:xfrm>
            <a:off x="1179576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1-E30 text 14" descr="sci-ppt:o014"/>
          <p:cNvSpPr txBox="1"/>
          <p:nvPr/>
        </p:nvSpPr>
        <p:spPr>
          <a:xfrm>
            <a:off x="1133856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1.5</a:t>
            </a:r>
          </a:p>
        </p:txBody>
      </p:sp>
      <p:cxnSp>
        <p:nvCxnSpPr>
          <p:cNvPr id="17" name="C1-E30 line 15" descr="sci-ppt:o015"/>
          <p:cNvCxnSpPr/>
          <p:nvPr/>
        </p:nvCxnSpPr>
        <p:spPr>
          <a:xfrm>
            <a:off x="6793992" y="493776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1-E30 line 16" descr="sci-ppt:o016"/>
          <p:cNvCxnSpPr/>
          <p:nvPr/>
        </p:nvCxnSpPr>
        <p:spPr>
          <a:xfrm>
            <a:off x="6793992" y="404622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9" name="C1-E30 line 17" descr="sci-ppt:o017"/>
          <p:cNvCxnSpPr/>
          <p:nvPr/>
        </p:nvCxnSpPr>
        <p:spPr>
          <a:xfrm>
            <a:off x="6858000" y="4046220"/>
            <a:ext cx="49377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0" name="C1-E30 text 18" descr="sci-ppt:o018"/>
          <p:cNvSpPr txBox="1"/>
          <p:nvPr/>
        </p:nvSpPr>
        <p:spPr>
          <a:xfrm>
            <a:off x="5989320" y="396392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-500</a:t>
            </a:r>
          </a:p>
        </p:txBody>
      </p:sp>
      <p:cxnSp>
        <p:nvCxnSpPr>
          <p:cNvPr id="21" name="C1-E30 line 19" descr="sci-ppt:o019"/>
          <p:cNvCxnSpPr/>
          <p:nvPr/>
        </p:nvCxnSpPr>
        <p:spPr>
          <a:xfrm>
            <a:off x="6793992" y="315468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1-E30 line 20" descr="sci-ppt:o020"/>
          <p:cNvCxnSpPr/>
          <p:nvPr/>
        </p:nvCxnSpPr>
        <p:spPr>
          <a:xfrm>
            <a:off x="6858000" y="3154680"/>
            <a:ext cx="49377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3" name="C1-E30 text 21" descr="sci-ppt:o021"/>
          <p:cNvSpPr txBox="1"/>
          <p:nvPr/>
        </p:nvSpPr>
        <p:spPr>
          <a:xfrm>
            <a:off x="5989320" y="307238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24" name="C1-E30 line 22" descr="sci-ppt:o022"/>
          <p:cNvCxnSpPr/>
          <p:nvPr/>
        </p:nvCxnSpPr>
        <p:spPr>
          <a:xfrm>
            <a:off x="6793992" y="226314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1-E30 line 23" descr="sci-ppt:o023"/>
          <p:cNvCxnSpPr/>
          <p:nvPr/>
        </p:nvCxnSpPr>
        <p:spPr>
          <a:xfrm>
            <a:off x="6858000" y="2263140"/>
            <a:ext cx="49377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1-E30 text 24" descr="sci-ppt:o024"/>
          <p:cNvSpPr txBox="1"/>
          <p:nvPr/>
        </p:nvSpPr>
        <p:spPr>
          <a:xfrm>
            <a:off x="5989320" y="218084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500</a:t>
            </a:r>
          </a:p>
        </p:txBody>
      </p:sp>
      <p:cxnSp>
        <p:nvCxnSpPr>
          <p:cNvPr id="27" name="C1-E30 line 25" descr="sci-ppt:o025"/>
          <p:cNvCxnSpPr/>
          <p:nvPr/>
        </p:nvCxnSpPr>
        <p:spPr>
          <a:xfrm>
            <a:off x="6793992" y="13716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8" name="C1-E30 line 26" descr="sci-ppt:o026"/>
          <p:cNvCxnSpPr/>
          <p:nvPr/>
        </p:nvCxnSpPr>
        <p:spPr>
          <a:xfrm>
            <a:off x="6858000" y="1371600"/>
            <a:ext cx="49377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9" name="C1-E30 text 27" descr="sci-ppt:o027"/>
          <p:cNvSpPr txBox="1"/>
          <p:nvPr/>
        </p:nvSpPr>
        <p:spPr>
          <a:xfrm>
            <a:off x="5989320" y="12893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1000</a:t>
            </a:r>
          </a:p>
        </p:txBody>
      </p:sp>
      <p:sp>
        <p:nvSpPr>
          <p:cNvPr id="30" name="C1-E30 text 28" descr="sci-ppt:o028"/>
          <p:cNvSpPr txBox="1"/>
          <p:nvPr/>
        </p:nvSpPr>
        <p:spPr>
          <a:xfrm>
            <a:off x="6858000" y="5221224"/>
            <a:ext cx="49377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  (µs)</a:t>
            </a:r>
          </a:p>
        </p:txBody>
      </p:sp>
      <p:sp>
        <p:nvSpPr>
          <p:cNvPr id="31" name="C1-E30 text 29" descr="sci-ppt:o029"/>
          <p:cNvSpPr txBox="1"/>
          <p:nvPr/>
        </p:nvSpPr>
        <p:spPr>
          <a:xfrm>
            <a:off x="6309360" y="1024128"/>
            <a:ext cx="49377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closure terms (m²/s²)</a:t>
            </a:r>
          </a:p>
        </p:txBody>
      </p:sp>
      <p:cxnSp>
        <p:nvCxnSpPr>
          <p:cNvPr id="32" name="C1-E30 line 30" descr="sci-ppt:o030"/>
          <p:cNvCxnSpPr/>
          <p:nvPr/>
        </p:nvCxnSpPr>
        <p:spPr>
          <a:xfrm>
            <a:off x="6858000" y="3154680"/>
            <a:ext cx="4937760" cy="0"/>
          </a:xfrm>
          <a:prstGeom prst="line">
            <a:avLst/>
          </a:prstGeom>
          <a:ln w="15240">
            <a:solidFill>
              <a:srgbClr val="2E4756"/>
            </a:solidFill>
          </a:ln>
          <a:effectLst/>
        </p:spPr>
      </p:cxnSp>
      <p:sp>
        <p:nvSpPr>
          <p:cNvPr id="33" name="C1-E30 polygon 31" descr="sci-ppt:o031"/>
          <p:cNvSpPr/>
          <p:nvPr/>
        </p:nvSpPr>
        <p:spPr>
          <a:xfrm>
            <a:off x="6865408" y="2992514"/>
            <a:ext cx="4922943" cy="1712408"/>
          </a:xfrm>
          <a:custGeom>
            <a:avLst/>
            <a:gdLst/>
            <a:ahLst/>
            <a:cxnLst/>
            <a:rect l="l" t="t" r="r" b="b"/>
            <a:pathLst>
              <a:path w="4922943" h="1712408">
                <a:moveTo>
                  <a:pt x="0" y="1712408"/>
                </a:moveTo>
                <a:lnTo>
                  <a:pt x="34573" y="1688080"/>
                </a:lnTo>
                <a:lnTo>
                  <a:pt x="69146" y="1631989"/>
                </a:lnTo>
                <a:lnTo>
                  <a:pt x="103719" y="1549311"/>
                </a:lnTo>
                <a:lnTo>
                  <a:pt x="138292" y="1446964"/>
                </a:lnTo>
                <a:lnTo>
                  <a:pt x="172865" y="1332373"/>
                </a:lnTo>
                <a:lnTo>
                  <a:pt x="207438" y="1212425"/>
                </a:lnTo>
                <a:lnTo>
                  <a:pt x="242011" y="1092797"/>
                </a:lnTo>
                <a:lnTo>
                  <a:pt x="276584" y="977692"/>
                </a:lnTo>
                <a:lnTo>
                  <a:pt x="311157" y="869882"/>
                </a:lnTo>
                <a:lnTo>
                  <a:pt x="345730" y="770923"/>
                </a:lnTo>
                <a:lnTo>
                  <a:pt x="380303" y="681450"/>
                </a:lnTo>
                <a:lnTo>
                  <a:pt x="414876" y="601445"/>
                </a:lnTo>
                <a:lnTo>
                  <a:pt x="449449" y="530478"/>
                </a:lnTo>
                <a:lnTo>
                  <a:pt x="484021" y="467878"/>
                </a:lnTo>
                <a:lnTo>
                  <a:pt x="518594" y="412867"/>
                </a:lnTo>
                <a:lnTo>
                  <a:pt x="553167" y="364636"/>
                </a:lnTo>
                <a:lnTo>
                  <a:pt x="587740" y="322400"/>
                </a:lnTo>
                <a:lnTo>
                  <a:pt x="622313" y="285428"/>
                </a:lnTo>
                <a:lnTo>
                  <a:pt x="656886" y="253054"/>
                </a:lnTo>
                <a:lnTo>
                  <a:pt x="691459" y="224686"/>
                </a:lnTo>
                <a:lnTo>
                  <a:pt x="726032" y="199800"/>
                </a:lnTo>
                <a:lnTo>
                  <a:pt x="760605" y="177939"/>
                </a:lnTo>
                <a:lnTo>
                  <a:pt x="795178" y="158705"/>
                </a:lnTo>
                <a:lnTo>
                  <a:pt x="829751" y="141755"/>
                </a:lnTo>
                <a:lnTo>
                  <a:pt x="864324" y="126791"/>
                </a:lnTo>
                <a:lnTo>
                  <a:pt x="898897" y="113557"/>
                </a:lnTo>
                <a:lnTo>
                  <a:pt x="933470" y="101833"/>
                </a:lnTo>
                <a:lnTo>
                  <a:pt x="968043" y="91427"/>
                </a:lnTo>
                <a:lnTo>
                  <a:pt x="1002616" y="82175"/>
                </a:lnTo>
                <a:lnTo>
                  <a:pt x="1037189" y="73935"/>
                </a:lnTo>
                <a:lnTo>
                  <a:pt x="1071762" y="66584"/>
                </a:lnTo>
                <a:lnTo>
                  <a:pt x="1106335" y="60016"/>
                </a:lnTo>
                <a:lnTo>
                  <a:pt x="1140908" y="54138"/>
                </a:lnTo>
                <a:lnTo>
                  <a:pt x="1175481" y="48870"/>
                </a:lnTo>
                <a:lnTo>
                  <a:pt x="1210054" y="44142"/>
                </a:lnTo>
                <a:lnTo>
                  <a:pt x="1244627" y="39893"/>
                </a:lnTo>
                <a:lnTo>
                  <a:pt x="1279200" y="36070"/>
                </a:lnTo>
                <a:lnTo>
                  <a:pt x="1313773" y="32625"/>
                </a:lnTo>
                <a:lnTo>
                  <a:pt x="1348346" y="29518"/>
                </a:lnTo>
                <a:lnTo>
                  <a:pt x="1382919" y="26713"/>
                </a:lnTo>
                <a:lnTo>
                  <a:pt x="1417491" y="24177"/>
                </a:lnTo>
                <a:lnTo>
                  <a:pt x="1452064" y="21884"/>
                </a:lnTo>
                <a:lnTo>
                  <a:pt x="1486637" y="19807"/>
                </a:lnTo>
                <a:lnTo>
                  <a:pt x="1521210" y="17926"/>
                </a:lnTo>
                <a:lnTo>
                  <a:pt x="1555783" y="16220"/>
                </a:lnTo>
                <a:lnTo>
                  <a:pt x="1590356" y="14673"/>
                </a:lnTo>
                <a:lnTo>
                  <a:pt x="1624929" y="13268"/>
                </a:lnTo>
                <a:lnTo>
                  <a:pt x="1659502" y="11992"/>
                </a:lnTo>
                <a:lnTo>
                  <a:pt x="1694075" y="10833"/>
                </a:lnTo>
                <a:lnTo>
                  <a:pt x="1728648" y="9780"/>
                </a:lnTo>
                <a:lnTo>
                  <a:pt x="1763221" y="8822"/>
                </a:lnTo>
                <a:lnTo>
                  <a:pt x="1797794" y="7951"/>
                </a:lnTo>
                <a:lnTo>
                  <a:pt x="1832367" y="7160"/>
                </a:lnTo>
                <a:lnTo>
                  <a:pt x="1866940" y="6440"/>
                </a:lnTo>
                <a:lnTo>
                  <a:pt x="1901513" y="5786"/>
                </a:lnTo>
                <a:lnTo>
                  <a:pt x="1936086" y="5191"/>
                </a:lnTo>
                <a:lnTo>
                  <a:pt x="1970659" y="4650"/>
                </a:lnTo>
                <a:lnTo>
                  <a:pt x="2005232" y="4159"/>
                </a:lnTo>
                <a:lnTo>
                  <a:pt x="2039805" y="3713"/>
                </a:lnTo>
                <a:lnTo>
                  <a:pt x="2074378" y="3308"/>
                </a:lnTo>
                <a:lnTo>
                  <a:pt x="2108951" y="2941"/>
                </a:lnTo>
                <a:lnTo>
                  <a:pt x="2143524" y="2608"/>
                </a:lnTo>
                <a:lnTo>
                  <a:pt x="2178097" y="2307"/>
                </a:lnTo>
                <a:lnTo>
                  <a:pt x="2212670" y="2034"/>
                </a:lnTo>
                <a:lnTo>
                  <a:pt x="2247243" y="1788"/>
                </a:lnTo>
                <a:lnTo>
                  <a:pt x="2281816" y="1567"/>
                </a:lnTo>
                <a:lnTo>
                  <a:pt x="2316389" y="1367"/>
                </a:lnTo>
                <a:lnTo>
                  <a:pt x="2350961" y="1187"/>
                </a:lnTo>
                <a:lnTo>
                  <a:pt x="2385534" y="1026"/>
                </a:lnTo>
                <a:lnTo>
                  <a:pt x="2420107" y="882"/>
                </a:lnTo>
                <a:lnTo>
                  <a:pt x="2454680" y="754"/>
                </a:lnTo>
                <a:lnTo>
                  <a:pt x="2489253" y="640"/>
                </a:lnTo>
                <a:lnTo>
                  <a:pt x="2523826" y="539"/>
                </a:lnTo>
                <a:lnTo>
                  <a:pt x="2558399" y="449"/>
                </a:lnTo>
                <a:lnTo>
                  <a:pt x="2592972" y="371"/>
                </a:lnTo>
                <a:lnTo>
                  <a:pt x="2627545" y="302"/>
                </a:lnTo>
                <a:lnTo>
                  <a:pt x="2662118" y="243"/>
                </a:lnTo>
                <a:lnTo>
                  <a:pt x="2696691" y="192"/>
                </a:lnTo>
                <a:lnTo>
                  <a:pt x="2731264" y="148"/>
                </a:lnTo>
                <a:lnTo>
                  <a:pt x="2765837" y="112"/>
                </a:lnTo>
                <a:lnTo>
                  <a:pt x="2800410" y="81"/>
                </a:lnTo>
                <a:lnTo>
                  <a:pt x="2834983" y="57"/>
                </a:lnTo>
                <a:lnTo>
                  <a:pt x="2869556" y="37"/>
                </a:lnTo>
                <a:lnTo>
                  <a:pt x="2904129" y="22"/>
                </a:lnTo>
                <a:lnTo>
                  <a:pt x="2938702" y="11"/>
                </a:lnTo>
                <a:lnTo>
                  <a:pt x="2973275" y="4"/>
                </a:lnTo>
                <a:lnTo>
                  <a:pt x="3007848" y="1"/>
                </a:lnTo>
                <a:lnTo>
                  <a:pt x="3042421" y="0"/>
                </a:lnTo>
                <a:lnTo>
                  <a:pt x="3076994" y="2"/>
                </a:lnTo>
                <a:lnTo>
                  <a:pt x="3111567" y="7"/>
                </a:lnTo>
                <a:lnTo>
                  <a:pt x="3146140" y="13"/>
                </a:lnTo>
                <a:lnTo>
                  <a:pt x="3180713" y="22"/>
                </a:lnTo>
                <a:lnTo>
                  <a:pt x="3215286" y="32"/>
                </a:lnTo>
                <a:lnTo>
                  <a:pt x="3249859" y="43"/>
                </a:lnTo>
                <a:lnTo>
                  <a:pt x="3284432" y="56"/>
                </a:lnTo>
                <a:lnTo>
                  <a:pt x="3319004" y="69"/>
                </a:lnTo>
                <a:lnTo>
                  <a:pt x="3353577" y="83"/>
                </a:lnTo>
                <a:lnTo>
                  <a:pt x="3388150" y="98"/>
                </a:lnTo>
                <a:lnTo>
                  <a:pt x="3422723" y="113"/>
                </a:lnTo>
                <a:lnTo>
                  <a:pt x="3457296" y="128"/>
                </a:lnTo>
                <a:lnTo>
                  <a:pt x="3491869" y="144"/>
                </a:lnTo>
                <a:lnTo>
                  <a:pt x="3526442" y="159"/>
                </a:lnTo>
                <a:lnTo>
                  <a:pt x="3561015" y="175"/>
                </a:lnTo>
                <a:lnTo>
                  <a:pt x="3595588" y="190"/>
                </a:lnTo>
                <a:lnTo>
                  <a:pt x="3630161" y="205"/>
                </a:lnTo>
                <a:lnTo>
                  <a:pt x="3664734" y="220"/>
                </a:lnTo>
                <a:lnTo>
                  <a:pt x="3699307" y="234"/>
                </a:lnTo>
                <a:lnTo>
                  <a:pt x="3733880" y="247"/>
                </a:lnTo>
                <a:lnTo>
                  <a:pt x="3768453" y="260"/>
                </a:lnTo>
                <a:lnTo>
                  <a:pt x="3803026" y="273"/>
                </a:lnTo>
                <a:lnTo>
                  <a:pt x="3837599" y="284"/>
                </a:lnTo>
                <a:lnTo>
                  <a:pt x="3872172" y="295"/>
                </a:lnTo>
                <a:lnTo>
                  <a:pt x="3906745" y="305"/>
                </a:lnTo>
                <a:lnTo>
                  <a:pt x="3941318" y="314"/>
                </a:lnTo>
                <a:lnTo>
                  <a:pt x="3975891" y="322"/>
                </a:lnTo>
                <a:lnTo>
                  <a:pt x="4010464" y="329"/>
                </a:lnTo>
                <a:lnTo>
                  <a:pt x="4045037" y="335"/>
                </a:lnTo>
                <a:lnTo>
                  <a:pt x="4079610" y="340"/>
                </a:lnTo>
                <a:lnTo>
                  <a:pt x="4114183" y="345"/>
                </a:lnTo>
                <a:lnTo>
                  <a:pt x="4148756" y="348"/>
                </a:lnTo>
                <a:lnTo>
                  <a:pt x="4183329" y="350"/>
                </a:lnTo>
                <a:lnTo>
                  <a:pt x="4217902" y="351"/>
                </a:lnTo>
                <a:lnTo>
                  <a:pt x="4252474" y="351"/>
                </a:lnTo>
                <a:lnTo>
                  <a:pt x="4287047" y="350"/>
                </a:lnTo>
                <a:lnTo>
                  <a:pt x="4321620" y="347"/>
                </a:lnTo>
                <a:lnTo>
                  <a:pt x="4356193" y="344"/>
                </a:lnTo>
                <a:lnTo>
                  <a:pt x="4390766" y="340"/>
                </a:lnTo>
                <a:lnTo>
                  <a:pt x="4425339" y="335"/>
                </a:lnTo>
                <a:lnTo>
                  <a:pt x="4459912" y="328"/>
                </a:lnTo>
                <a:lnTo>
                  <a:pt x="4494485" y="321"/>
                </a:lnTo>
                <a:lnTo>
                  <a:pt x="4529058" y="313"/>
                </a:lnTo>
                <a:lnTo>
                  <a:pt x="4563631" y="304"/>
                </a:lnTo>
                <a:lnTo>
                  <a:pt x="4598204" y="294"/>
                </a:lnTo>
                <a:lnTo>
                  <a:pt x="4632777" y="283"/>
                </a:lnTo>
                <a:lnTo>
                  <a:pt x="4667350" y="271"/>
                </a:lnTo>
                <a:lnTo>
                  <a:pt x="4701923" y="259"/>
                </a:lnTo>
                <a:lnTo>
                  <a:pt x="4736496" y="246"/>
                </a:lnTo>
                <a:lnTo>
                  <a:pt x="4771069" y="232"/>
                </a:lnTo>
                <a:lnTo>
                  <a:pt x="4805642" y="218"/>
                </a:lnTo>
                <a:lnTo>
                  <a:pt x="4840215" y="204"/>
                </a:lnTo>
                <a:lnTo>
                  <a:pt x="4874788" y="189"/>
                </a:lnTo>
                <a:lnTo>
                  <a:pt x="4909361" y="173"/>
                </a:lnTo>
                <a:lnTo>
                  <a:pt x="4922943" y="167"/>
                </a:lnTo>
              </a:path>
            </a:pathLst>
          </a:custGeom>
          <a:noFill/>
          <a:ln w="4064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C1-E30 polygon 32" descr="sci-ppt:o032"/>
          <p:cNvSpPr/>
          <p:nvPr/>
        </p:nvSpPr>
        <p:spPr>
          <a:xfrm>
            <a:off x="6865408" y="2992514"/>
            <a:ext cx="4922943" cy="1712430"/>
          </a:xfrm>
          <a:custGeom>
            <a:avLst/>
            <a:gdLst/>
            <a:ahLst/>
            <a:cxnLst/>
            <a:rect l="l" t="t" r="r" b="b"/>
            <a:pathLst>
              <a:path w="4922943" h="1712430">
                <a:moveTo>
                  <a:pt x="0" y="1712430"/>
                </a:moveTo>
                <a:lnTo>
                  <a:pt x="34573" y="1688100"/>
                </a:lnTo>
                <a:lnTo>
                  <a:pt x="69146" y="1632005"/>
                </a:lnTo>
                <a:lnTo>
                  <a:pt x="103719" y="1549323"/>
                </a:lnTo>
                <a:lnTo>
                  <a:pt x="138292" y="1446970"/>
                </a:lnTo>
                <a:lnTo>
                  <a:pt x="172865" y="1332374"/>
                </a:lnTo>
                <a:lnTo>
                  <a:pt x="207438" y="1212422"/>
                </a:lnTo>
                <a:lnTo>
                  <a:pt x="242011" y="1092791"/>
                </a:lnTo>
                <a:lnTo>
                  <a:pt x="276584" y="977685"/>
                </a:lnTo>
                <a:lnTo>
                  <a:pt x="311157" y="869873"/>
                </a:lnTo>
                <a:lnTo>
                  <a:pt x="345730" y="770915"/>
                </a:lnTo>
                <a:lnTo>
                  <a:pt x="380303" y="681442"/>
                </a:lnTo>
                <a:lnTo>
                  <a:pt x="414876" y="601438"/>
                </a:lnTo>
                <a:lnTo>
                  <a:pt x="449449" y="530471"/>
                </a:lnTo>
                <a:lnTo>
                  <a:pt x="484021" y="467873"/>
                </a:lnTo>
                <a:lnTo>
                  <a:pt x="518594" y="412863"/>
                </a:lnTo>
                <a:lnTo>
                  <a:pt x="553167" y="364632"/>
                </a:lnTo>
                <a:lnTo>
                  <a:pt x="587740" y="322397"/>
                </a:lnTo>
                <a:lnTo>
                  <a:pt x="622313" y="285425"/>
                </a:lnTo>
                <a:lnTo>
                  <a:pt x="656886" y="253052"/>
                </a:lnTo>
                <a:lnTo>
                  <a:pt x="691459" y="224684"/>
                </a:lnTo>
                <a:lnTo>
                  <a:pt x="726032" y="199798"/>
                </a:lnTo>
                <a:lnTo>
                  <a:pt x="760605" y="177937"/>
                </a:lnTo>
                <a:lnTo>
                  <a:pt x="795178" y="158704"/>
                </a:lnTo>
                <a:lnTo>
                  <a:pt x="829751" y="141754"/>
                </a:lnTo>
                <a:lnTo>
                  <a:pt x="864324" y="126790"/>
                </a:lnTo>
                <a:lnTo>
                  <a:pt x="898897" y="113557"/>
                </a:lnTo>
                <a:lnTo>
                  <a:pt x="933470" y="101832"/>
                </a:lnTo>
                <a:lnTo>
                  <a:pt x="968043" y="91426"/>
                </a:lnTo>
                <a:lnTo>
                  <a:pt x="1002616" y="82175"/>
                </a:lnTo>
                <a:lnTo>
                  <a:pt x="1037189" y="73935"/>
                </a:lnTo>
                <a:lnTo>
                  <a:pt x="1071762" y="66584"/>
                </a:lnTo>
                <a:lnTo>
                  <a:pt x="1106335" y="60016"/>
                </a:lnTo>
                <a:lnTo>
                  <a:pt x="1140908" y="54138"/>
                </a:lnTo>
                <a:lnTo>
                  <a:pt x="1175481" y="48870"/>
                </a:lnTo>
                <a:lnTo>
                  <a:pt x="1210054" y="44142"/>
                </a:lnTo>
                <a:lnTo>
                  <a:pt x="1244627" y="39893"/>
                </a:lnTo>
                <a:lnTo>
                  <a:pt x="1279200" y="36070"/>
                </a:lnTo>
                <a:lnTo>
                  <a:pt x="1313773" y="32625"/>
                </a:lnTo>
                <a:lnTo>
                  <a:pt x="1348346" y="29518"/>
                </a:lnTo>
                <a:lnTo>
                  <a:pt x="1382919" y="26713"/>
                </a:lnTo>
                <a:lnTo>
                  <a:pt x="1417491" y="24177"/>
                </a:lnTo>
                <a:lnTo>
                  <a:pt x="1452064" y="21884"/>
                </a:lnTo>
                <a:lnTo>
                  <a:pt x="1486637" y="19807"/>
                </a:lnTo>
                <a:lnTo>
                  <a:pt x="1521210" y="17926"/>
                </a:lnTo>
                <a:lnTo>
                  <a:pt x="1555783" y="16220"/>
                </a:lnTo>
                <a:lnTo>
                  <a:pt x="1590356" y="14673"/>
                </a:lnTo>
                <a:lnTo>
                  <a:pt x="1624929" y="13268"/>
                </a:lnTo>
                <a:lnTo>
                  <a:pt x="1659502" y="11992"/>
                </a:lnTo>
                <a:lnTo>
                  <a:pt x="1694075" y="10833"/>
                </a:lnTo>
                <a:lnTo>
                  <a:pt x="1728648" y="9780"/>
                </a:lnTo>
                <a:lnTo>
                  <a:pt x="1763221" y="8822"/>
                </a:lnTo>
                <a:lnTo>
                  <a:pt x="1797794" y="7952"/>
                </a:lnTo>
                <a:lnTo>
                  <a:pt x="1832367" y="7160"/>
                </a:lnTo>
                <a:lnTo>
                  <a:pt x="1866940" y="6440"/>
                </a:lnTo>
                <a:lnTo>
                  <a:pt x="1901513" y="5786"/>
                </a:lnTo>
                <a:lnTo>
                  <a:pt x="1936086" y="5191"/>
                </a:lnTo>
                <a:lnTo>
                  <a:pt x="1970659" y="4650"/>
                </a:lnTo>
                <a:lnTo>
                  <a:pt x="2005232" y="4159"/>
                </a:lnTo>
                <a:lnTo>
                  <a:pt x="2039805" y="3713"/>
                </a:lnTo>
                <a:lnTo>
                  <a:pt x="2074378" y="3308"/>
                </a:lnTo>
                <a:lnTo>
                  <a:pt x="2108951" y="2941"/>
                </a:lnTo>
                <a:lnTo>
                  <a:pt x="2143524" y="2608"/>
                </a:lnTo>
                <a:lnTo>
                  <a:pt x="2178097" y="2307"/>
                </a:lnTo>
                <a:lnTo>
                  <a:pt x="2212670" y="2034"/>
                </a:lnTo>
                <a:lnTo>
                  <a:pt x="2247243" y="1788"/>
                </a:lnTo>
                <a:lnTo>
                  <a:pt x="2281816" y="1567"/>
                </a:lnTo>
                <a:lnTo>
                  <a:pt x="2316389" y="1367"/>
                </a:lnTo>
                <a:lnTo>
                  <a:pt x="2350961" y="1187"/>
                </a:lnTo>
                <a:lnTo>
                  <a:pt x="2385534" y="1026"/>
                </a:lnTo>
                <a:lnTo>
                  <a:pt x="2420107" y="882"/>
                </a:lnTo>
                <a:lnTo>
                  <a:pt x="2454680" y="754"/>
                </a:lnTo>
                <a:lnTo>
                  <a:pt x="2489253" y="640"/>
                </a:lnTo>
                <a:lnTo>
                  <a:pt x="2523826" y="539"/>
                </a:lnTo>
                <a:lnTo>
                  <a:pt x="2558399" y="449"/>
                </a:lnTo>
                <a:lnTo>
                  <a:pt x="2592972" y="371"/>
                </a:lnTo>
                <a:lnTo>
                  <a:pt x="2627545" y="302"/>
                </a:lnTo>
                <a:lnTo>
                  <a:pt x="2662118" y="243"/>
                </a:lnTo>
                <a:lnTo>
                  <a:pt x="2696691" y="192"/>
                </a:lnTo>
                <a:lnTo>
                  <a:pt x="2731264" y="148"/>
                </a:lnTo>
                <a:lnTo>
                  <a:pt x="2765837" y="112"/>
                </a:lnTo>
                <a:lnTo>
                  <a:pt x="2800410" y="81"/>
                </a:lnTo>
                <a:lnTo>
                  <a:pt x="2834983" y="57"/>
                </a:lnTo>
                <a:lnTo>
                  <a:pt x="2869556" y="37"/>
                </a:lnTo>
                <a:lnTo>
                  <a:pt x="2904129" y="22"/>
                </a:lnTo>
                <a:lnTo>
                  <a:pt x="2938702" y="11"/>
                </a:lnTo>
                <a:lnTo>
                  <a:pt x="2973275" y="4"/>
                </a:lnTo>
                <a:lnTo>
                  <a:pt x="3007848" y="1"/>
                </a:lnTo>
                <a:lnTo>
                  <a:pt x="3042421" y="0"/>
                </a:lnTo>
                <a:lnTo>
                  <a:pt x="3076994" y="2"/>
                </a:lnTo>
                <a:lnTo>
                  <a:pt x="3111567" y="7"/>
                </a:lnTo>
                <a:lnTo>
                  <a:pt x="3146140" y="13"/>
                </a:lnTo>
                <a:lnTo>
                  <a:pt x="3180713" y="22"/>
                </a:lnTo>
                <a:lnTo>
                  <a:pt x="3215286" y="32"/>
                </a:lnTo>
                <a:lnTo>
                  <a:pt x="3249859" y="43"/>
                </a:lnTo>
                <a:lnTo>
                  <a:pt x="3284432" y="56"/>
                </a:lnTo>
                <a:lnTo>
                  <a:pt x="3319004" y="69"/>
                </a:lnTo>
                <a:lnTo>
                  <a:pt x="3353577" y="83"/>
                </a:lnTo>
                <a:lnTo>
                  <a:pt x="3388150" y="98"/>
                </a:lnTo>
                <a:lnTo>
                  <a:pt x="3422723" y="113"/>
                </a:lnTo>
                <a:lnTo>
                  <a:pt x="3457296" y="128"/>
                </a:lnTo>
                <a:lnTo>
                  <a:pt x="3491869" y="144"/>
                </a:lnTo>
                <a:lnTo>
                  <a:pt x="3526442" y="159"/>
                </a:lnTo>
                <a:lnTo>
                  <a:pt x="3561015" y="175"/>
                </a:lnTo>
                <a:lnTo>
                  <a:pt x="3595588" y="190"/>
                </a:lnTo>
                <a:lnTo>
                  <a:pt x="3630161" y="205"/>
                </a:lnTo>
                <a:lnTo>
                  <a:pt x="3664734" y="220"/>
                </a:lnTo>
                <a:lnTo>
                  <a:pt x="3699307" y="234"/>
                </a:lnTo>
                <a:lnTo>
                  <a:pt x="3733880" y="247"/>
                </a:lnTo>
                <a:lnTo>
                  <a:pt x="3768453" y="260"/>
                </a:lnTo>
                <a:lnTo>
                  <a:pt x="3803026" y="273"/>
                </a:lnTo>
                <a:lnTo>
                  <a:pt x="3837599" y="284"/>
                </a:lnTo>
                <a:lnTo>
                  <a:pt x="3872172" y="295"/>
                </a:lnTo>
                <a:lnTo>
                  <a:pt x="3906745" y="305"/>
                </a:lnTo>
                <a:lnTo>
                  <a:pt x="3941318" y="314"/>
                </a:lnTo>
                <a:lnTo>
                  <a:pt x="3975891" y="322"/>
                </a:lnTo>
                <a:lnTo>
                  <a:pt x="4010464" y="329"/>
                </a:lnTo>
                <a:lnTo>
                  <a:pt x="4045037" y="335"/>
                </a:lnTo>
                <a:lnTo>
                  <a:pt x="4079610" y="340"/>
                </a:lnTo>
                <a:lnTo>
                  <a:pt x="4114183" y="345"/>
                </a:lnTo>
                <a:lnTo>
                  <a:pt x="4148756" y="348"/>
                </a:lnTo>
                <a:lnTo>
                  <a:pt x="4183329" y="350"/>
                </a:lnTo>
                <a:lnTo>
                  <a:pt x="4217902" y="351"/>
                </a:lnTo>
                <a:lnTo>
                  <a:pt x="4252474" y="351"/>
                </a:lnTo>
                <a:lnTo>
                  <a:pt x="4287047" y="350"/>
                </a:lnTo>
                <a:lnTo>
                  <a:pt x="4321620" y="347"/>
                </a:lnTo>
                <a:lnTo>
                  <a:pt x="4356193" y="344"/>
                </a:lnTo>
                <a:lnTo>
                  <a:pt x="4390766" y="340"/>
                </a:lnTo>
                <a:lnTo>
                  <a:pt x="4425339" y="335"/>
                </a:lnTo>
                <a:lnTo>
                  <a:pt x="4459912" y="328"/>
                </a:lnTo>
                <a:lnTo>
                  <a:pt x="4494485" y="321"/>
                </a:lnTo>
                <a:lnTo>
                  <a:pt x="4529058" y="313"/>
                </a:lnTo>
                <a:lnTo>
                  <a:pt x="4563631" y="304"/>
                </a:lnTo>
                <a:lnTo>
                  <a:pt x="4598204" y="294"/>
                </a:lnTo>
                <a:lnTo>
                  <a:pt x="4632777" y="283"/>
                </a:lnTo>
                <a:lnTo>
                  <a:pt x="4667350" y="271"/>
                </a:lnTo>
                <a:lnTo>
                  <a:pt x="4701923" y="259"/>
                </a:lnTo>
                <a:lnTo>
                  <a:pt x="4736496" y="246"/>
                </a:lnTo>
                <a:lnTo>
                  <a:pt x="4771069" y="232"/>
                </a:lnTo>
                <a:lnTo>
                  <a:pt x="4805642" y="218"/>
                </a:lnTo>
                <a:lnTo>
                  <a:pt x="4840215" y="204"/>
                </a:lnTo>
                <a:lnTo>
                  <a:pt x="4874788" y="189"/>
                </a:lnTo>
                <a:lnTo>
                  <a:pt x="4909361" y="173"/>
                </a:lnTo>
                <a:lnTo>
                  <a:pt x="4922943" y="167"/>
                </a:lnTo>
              </a:path>
            </a:pathLst>
          </a:custGeom>
          <a:noFill/>
          <a:ln w="20320">
            <a:solidFill>
              <a:srgbClr val="FFFFF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C1-E30 text 33" descr="sci-ppt:o033"/>
          <p:cNvSpPr txBox="1"/>
          <p:nvPr/>
        </p:nvSpPr>
        <p:spPr>
          <a:xfrm>
            <a:off x="7095744" y="1407261"/>
            <a:ext cx="4754880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E7F0F3"/>
                </a:solidFill>
                <a:latin typeface="Arial"/>
              </a:rPr>
              <a:t>solid: left side, dashed: right side; relative gap 1e-05</a:t>
            </a:r>
          </a:p>
        </p:txBody>
      </p:sp>
      <p:sp>
        <p:nvSpPr>
          <p:cNvPr id="36" name="C1-E30 round_rect 34" descr="sci-ppt:o034"/>
          <p:cNvSpPr/>
          <p:nvPr/>
        </p:nvSpPr>
        <p:spPr>
          <a:xfrm>
            <a:off x="365760" y="914400"/>
            <a:ext cx="5669280" cy="49377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C1-E30 text 35" descr="sci-ppt:o035"/>
          <p:cNvSpPr txBox="1"/>
          <p:nvPr/>
        </p:nvSpPr>
        <p:spPr>
          <a:xfrm>
            <a:off x="475488" y="969264"/>
            <a:ext cx="544982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The general closure contains the sphere</a:t>
            </a:r>
          </a:p>
        </p:txBody>
      </p:sp>
      <p:sp>
        <p:nvSpPr>
          <p:cNvPr id="38" name="C1-E30 text 36" descr="sci-ppt:o036"/>
          <p:cNvSpPr txBox="1"/>
          <p:nvPr/>
        </p:nvSpPr>
        <p:spPr>
          <a:xfrm>
            <a:off x="548640" y="1371600"/>
            <a:ext cx="53035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8EDBD4"/>
                </a:solidFill>
                <a:latin typeface="Arial"/>
              </a:rPr>
              <a:t>General closure, Eq. C1-E29</a:t>
            </a:r>
          </a:p>
        </p:txBody>
      </p:sp>
      <p:sp>
        <p:nvSpPr>
          <p:cNvPr id="39" name="C1-E30 text 37" descr="sci-ppt:o037"/>
          <p:cNvSpPr txBox="1"/>
          <p:nvPr/>
        </p:nvSpPr>
        <p:spPr>
          <a:xfrm>
            <a:off x="777240" y="1664208"/>
            <a:ext cx="512064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D φ/Dt = ½|u|² + (p∞ − p_b − σκ)/ρ</a:t>
            </a:r>
          </a:p>
        </p:txBody>
      </p:sp>
      <p:cxnSp>
        <p:nvCxnSpPr>
          <p:cNvPr id="40" name="C1-E30 arrow 38" descr="sci-ppt:o038"/>
          <p:cNvCxnSpPr/>
          <p:nvPr/>
        </p:nvCxnSpPr>
        <p:spPr>
          <a:xfrm>
            <a:off x="3108960" y="1976755"/>
            <a:ext cx="0" cy="182880"/>
          </a:xfrm>
          <a:prstGeom prst="line">
            <a:avLst/>
          </a:prstGeom>
          <a:ln w="25400">
            <a:solidFill>
              <a:srgbClr val="B4C7D2"/>
            </a:solidFill>
            <a:headEnd type="none" w="med" len="med"/>
            <a:tailEnd type="triangle" w="med" len="med"/>
          </a:ln>
          <a:effectLst/>
        </p:spPr>
      </p:cxnSp>
      <p:sp>
        <p:nvSpPr>
          <p:cNvPr id="41" name="C1-E30 text 39" descr="sci-ppt:o039"/>
          <p:cNvSpPr txBox="1"/>
          <p:nvPr/>
        </p:nvSpPr>
        <p:spPr>
          <a:xfrm>
            <a:off x="548640" y="2214499"/>
            <a:ext cx="53035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2B880"/>
                </a:solidFill>
                <a:latin typeface="Arial"/>
              </a:rPr>
              <a:t>Insert the sphere</a:t>
            </a:r>
          </a:p>
        </p:txBody>
      </p:sp>
      <p:sp>
        <p:nvSpPr>
          <p:cNvPr id="42" name="C1-E30 text 40" descr="sci-ppt:o040"/>
          <p:cNvSpPr txBox="1"/>
          <p:nvPr/>
        </p:nvSpPr>
        <p:spPr>
          <a:xfrm>
            <a:off x="777240" y="2507107"/>
            <a:ext cx="512064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φ_Γ = −RṘ,   κ = −2/R</a:t>
            </a:r>
          </a:p>
        </p:txBody>
      </p:sp>
      <p:cxnSp>
        <p:nvCxnSpPr>
          <p:cNvPr id="43" name="C1-E30 arrow 41" descr="sci-ppt:o041"/>
          <p:cNvCxnSpPr/>
          <p:nvPr/>
        </p:nvCxnSpPr>
        <p:spPr>
          <a:xfrm>
            <a:off x="3108960" y="2819654"/>
            <a:ext cx="0" cy="182880"/>
          </a:xfrm>
          <a:prstGeom prst="line">
            <a:avLst/>
          </a:prstGeom>
          <a:ln w="25400">
            <a:solidFill>
              <a:srgbClr val="B4C7D2"/>
            </a:solidFill>
            <a:headEnd type="none" w="med" len="med"/>
            <a:tailEnd type="triangle" w="med" len="med"/>
          </a:ln>
          <a:effectLst/>
        </p:spPr>
      </p:cxnSp>
      <p:sp>
        <p:nvSpPr>
          <p:cNvPr id="44" name="C1-E30 text 42" descr="sci-ppt:o042"/>
          <p:cNvSpPr txBox="1"/>
          <p:nvPr/>
        </p:nvSpPr>
        <p:spPr>
          <a:xfrm>
            <a:off x="548640" y="3057398"/>
            <a:ext cx="53035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7FC8F8"/>
                </a:solidFill>
                <a:latin typeface="Arial"/>
              </a:rPr>
              <a:t>Differentiate along the wall</a:t>
            </a:r>
          </a:p>
        </p:txBody>
      </p:sp>
      <p:sp>
        <p:nvSpPr>
          <p:cNvPr id="45" name="C1-E30 text 43" descr="sci-ppt:o043"/>
          <p:cNvSpPr txBox="1"/>
          <p:nvPr/>
        </p:nvSpPr>
        <p:spPr>
          <a:xfrm>
            <a:off x="777240" y="3350006"/>
            <a:ext cx="512064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−Ṙ² − RR̈ = (p∞ − p_b + 2σ/R)/ρ + ½Ṙ²</a:t>
            </a:r>
          </a:p>
        </p:txBody>
      </p:sp>
      <p:cxnSp>
        <p:nvCxnSpPr>
          <p:cNvPr id="46" name="C1-E30 arrow 44" descr="sci-ppt:o044"/>
          <p:cNvCxnSpPr/>
          <p:nvPr/>
        </p:nvCxnSpPr>
        <p:spPr>
          <a:xfrm>
            <a:off x="3108960" y="3662552"/>
            <a:ext cx="0" cy="182880"/>
          </a:xfrm>
          <a:prstGeom prst="line">
            <a:avLst/>
          </a:prstGeom>
          <a:ln w="25400">
            <a:solidFill>
              <a:srgbClr val="B4C7D2"/>
            </a:solidFill>
            <a:headEnd type="none" w="med" len="med"/>
            <a:tailEnd type="triangle" w="med" len="med"/>
          </a:ln>
          <a:effectLst/>
        </p:spPr>
      </p:cxnSp>
      <p:sp>
        <p:nvSpPr>
          <p:cNvPr id="47" name="C1-E30 text 45" descr="sci-ppt:o045"/>
          <p:cNvSpPr txBox="1"/>
          <p:nvPr/>
        </p:nvSpPr>
        <p:spPr>
          <a:xfrm>
            <a:off x="548640" y="3900296"/>
            <a:ext cx="53035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28BA0"/>
                </a:solidFill>
                <a:latin typeface="Arial"/>
              </a:rPr>
              <a:t>Rearrange</a:t>
            </a:r>
          </a:p>
        </p:txBody>
      </p:sp>
      <p:sp>
        <p:nvSpPr>
          <p:cNvPr id="48" name="C1-E30 text 46" descr="sci-ppt:o046"/>
          <p:cNvSpPr txBox="1"/>
          <p:nvPr/>
        </p:nvSpPr>
        <p:spPr>
          <a:xfrm>
            <a:off x="777240" y="4192904"/>
            <a:ext cx="512064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ρ(RR̈ + 3Ṙ²/2) = p_b − p∞ − 2σ/R</a:t>
            </a:r>
          </a:p>
        </p:txBody>
      </p:sp>
      <p:sp>
        <p:nvSpPr>
          <p:cNvPr id="49" name="C1-E30 text 47" descr="sci-ppt:o047"/>
          <p:cNvSpPr txBox="1"/>
          <p:nvPr/>
        </p:nvSpPr>
        <p:spPr>
          <a:xfrm>
            <a:off x="548640" y="5074920"/>
            <a:ext cx="530352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This is the Rayleigh–Plesset equation without viscosity: the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spatial theory returns the spherical model in its own limit.</a:t>
            </a:r>
          </a:p>
        </p:txBody>
      </p:sp>
      <p:sp>
        <p:nvSpPr>
          <p:cNvPr id="50" name="C1-E30 text 48" descr="sci-ppt:o048"/>
          <p:cNvSpPr txBox="1"/>
          <p:nvPr/>
        </p:nvSpPr>
        <p:spPr>
          <a:xfrm>
            <a:off x="6858000" y="5669280"/>
            <a:ext cx="493776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Check: R(t) from the solution, R̈ by finite differences.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The two sides coincide, so the algebra above is exact.</a:t>
            </a:r>
          </a:p>
        </p:txBody>
      </p:sp>
      <p:sp>
        <p:nvSpPr>
          <p:cNvPr id="51" name="C1-E30 text 49" descr="sci-ppt:o049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Inviscid Rayleigh–Plesset run: R₀ = 5 µm, p_g0 = 1 MPa, γ = 1.4, σ = 0.072 N/m.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