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948160" cy="79247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1" descr="sci-ppt:C1-E33-001"/>
          <p:cNvSpPr txBox="1"/>
          <p:nvPr/>
        </p:nvSpPr>
        <p:spPr>
          <a:xfrm>
            <a:off x="316992" y="268224"/>
            <a:ext cx="1127760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8EDBD4"/>
                </a:solidFill>
                <a:latin typeface="Arial"/>
              </a:rPr>
              <a:t>C1-E33 | Physical-variable diagram</a:t>
            </a:r>
          </a:p>
        </p:txBody>
      </p:sp>
      <p:sp>
        <p:nvSpPr>
          <p:cNvPr id="3" name="ellipse2" descr="sci-ppt:C1-E33-002"/>
          <p:cNvSpPr/>
          <p:nvPr/>
        </p:nvSpPr>
        <p:spPr>
          <a:xfrm>
            <a:off x="2072640" y="1402080"/>
            <a:ext cx="2438400" cy="2438400"/>
          </a:xfrm>
          <a:prstGeom prst="ellipse">
            <a:avLst/>
          </a:prstGeom>
          <a:solidFill>
            <a:srgbClr val="213E4B"/>
          </a:solidFill>
          <a:ln w="2159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arrow3" descr="sci-ppt:C1-E33-003"/>
          <p:cNvCxnSpPr/>
          <p:nvPr/>
        </p:nvCxnSpPr>
        <p:spPr>
          <a:xfrm>
            <a:off x="3291840" y="2621280"/>
            <a:ext cx="1219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text4" descr="sci-ppt:C1-E33-004"/>
          <p:cNvSpPr txBox="1"/>
          <p:nvPr/>
        </p:nvSpPr>
        <p:spPr>
          <a:xfrm>
            <a:off x="3474720" y="2133600"/>
            <a:ext cx="1584960" cy="39684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16" b="0" i="0">
                <a:solidFill>
                  <a:srgbClr val="E7F0F3"/>
                </a:solidFill>
                <a:latin typeface="Arial"/>
              </a:rPr>
              <a:t>R(t)</a:t>
            </a:r>
          </a:p>
        </p:txBody>
      </p:sp>
      <p:sp>
        <p:nvSpPr>
          <p:cNvPr id="6" name="text5" descr="sci-ppt:C1-E33-005"/>
          <p:cNvSpPr txBox="1"/>
          <p:nvPr/>
        </p:nvSpPr>
        <p:spPr>
          <a:xfrm>
            <a:off x="2682240" y="2804160"/>
            <a:ext cx="2194560" cy="377952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920" b="0" i="0">
                <a:solidFill>
                  <a:srgbClr val="E7F0F3"/>
                </a:solidFill>
                <a:latin typeface="Arial"/>
              </a:rPr>
              <a:t>p_b</a:t>
            </a:r>
          </a:p>
        </p:txBody>
      </p:sp>
      <p:sp>
        <p:nvSpPr>
          <p:cNvPr id="7" name="text6" descr="sci-ppt:C1-E33-006"/>
          <p:cNvSpPr txBox="1"/>
          <p:nvPr/>
        </p:nvSpPr>
        <p:spPr>
          <a:xfrm>
            <a:off x="5242560" y="1524000"/>
            <a:ext cx="4876800" cy="415747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11" b="0" i="0">
                <a:solidFill>
                  <a:srgbClr val="E7F0F3"/>
                </a:solidFill>
                <a:latin typeface="Arial"/>
              </a:rPr>
              <a:t>Surrounding liquid</a:t>
            </a:r>
          </a:p>
        </p:txBody>
      </p:sp>
      <p:sp>
        <p:nvSpPr>
          <p:cNvPr id="8" name="text7" descr="sci-ppt:C1-E33-007"/>
          <p:cNvSpPr txBox="1"/>
          <p:nvPr/>
        </p:nvSpPr>
        <p:spPr>
          <a:xfrm>
            <a:off x="5242560" y="1987296"/>
            <a:ext cx="5852160" cy="359054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23" b="0" i="0">
                <a:solidFill>
                  <a:srgbClr val="E7F0F3"/>
                </a:solidFill>
                <a:latin typeface="Arial"/>
              </a:rPr>
              <a:t>p∞, ρ, μ; interface: σ</a:t>
            </a:r>
          </a:p>
        </p:txBody>
      </p:sp>
      <p:cxnSp>
        <p:nvCxnSpPr>
          <p:cNvPr id="9" name="arrow8" descr="sci-ppt:C1-E33-008"/>
          <p:cNvCxnSpPr/>
          <p:nvPr/>
        </p:nvCxnSpPr>
        <p:spPr>
          <a:xfrm>
            <a:off x="3291840" y="2621280"/>
            <a:ext cx="1706880" cy="115824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0" name="text9" descr="sci-ppt:C1-E33-009"/>
          <p:cNvSpPr txBox="1"/>
          <p:nvPr/>
        </p:nvSpPr>
        <p:spPr>
          <a:xfrm>
            <a:off x="5364480" y="3657600"/>
            <a:ext cx="195072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r ≥ R</a:t>
            </a:r>
          </a:p>
        </p:txBody>
      </p:sp>
      <p:cxnSp>
        <p:nvCxnSpPr>
          <p:cNvPr id="11" name="arrow10" descr="sci-ppt:C1-E33-010"/>
          <p:cNvCxnSpPr/>
          <p:nvPr/>
        </p:nvCxnSpPr>
        <p:spPr>
          <a:xfrm>
            <a:off x="4998720" y="2621280"/>
            <a:ext cx="7924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2" name="text11" descr="sci-ppt:C1-E33-011"/>
          <p:cNvSpPr txBox="1"/>
          <p:nvPr/>
        </p:nvSpPr>
        <p:spPr>
          <a:xfrm>
            <a:off x="5059680" y="2865120"/>
            <a:ext cx="329184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+e_r (coordinate)</a:t>
            </a:r>
          </a:p>
        </p:txBody>
      </p:sp>
      <p:sp>
        <p:nvSpPr>
          <p:cNvPr id="13" name="text12" descr="sci-ppt:C1-E33-012"/>
          <p:cNvSpPr txBox="1"/>
          <p:nvPr/>
        </p:nvSpPr>
        <p:spPr>
          <a:xfrm>
            <a:off x="1219200" y="4206240"/>
            <a:ext cx="97536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E7F0F3"/>
                </a:solidFill>
                <a:latin typeface="Arial"/>
              </a:rPr>
              <a:t>Signed wall speed: Ṙ; acceleration: R̈</a:t>
            </a:r>
          </a:p>
        </p:txBody>
      </p:sp>
      <p:cxnSp>
        <p:nvCxnSpPr>
          <p:cNvPr id="14" name="arrow13" descr="sci-ppt:C1-E33-013"/>
          <p:cNvCxnSpPr/>
          <p:nvPr/>
        </p:nvCxnSpPr>
        <p:spPr>
          <a:xfrm>
            <a:off x="1950720" y="2621280"/>
            <a:ext cx="548640" cy="0"/>
          </a:xfrm>
          <a:prstGeom prst="line">
            <a:avLst/>
          </a:prstGeom>
          <a:ln w="25400">
            <a:solidFill>
              <a:srgbClr val="F6BC77"/>
            </a:solidFill>
            <a:headEnd type="none" w="med" len="med"/>
            <a:tailEnd type="triangle" w="med" len="med"/>
          </a:ln>
          <a:effectLst/>
        </p:spPr>
      </p:cxnSp>
      <p:sp>
        <p:nvSpPr>
          <p:cNvPr id="15" name="text14" descr="sci-ppt:C1-E33-014"/>
          <p:cNvSpPr txBox="1"/>
          <p:nvPr/>
        </p:nvSpPr>
        <p:spPr>
          <a:xfrm>
            <a:off x="1097280" y="975360"/>
            <a:ext cx="4267200" cy="340156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28" b="0" i="0">
                <a:solidFill>
                  <a:srgbClr val="F6BC77"/>
                </a:solidFill>
                <a:latin typeface="Arial"/>
              </a:rPr>
              <a:t>Collapse: Ṙ &lt; 0</a:t>
            </a:r>
          </a:p>
        </p:txBody>
      </p:sp>
      <p:sp>
        <p:nvSpPr>
          <p:cNvPr id="16" name="text15" descr="sci-ppt:C1-E33-015"/>
          <p:cNvSpPr txBox="1"/>
          <p:nvPr/>
        </p:nvSpPr>
        <p:spPr>
          <a:xfrm>
            <a:off x="3657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Rmax</a:t>
            </a:r>
          </a:p>
        </p:txBody>
      </p:sp>
      <p:sp>
        <p:nvSpPr>
          <p:cNvPr id="17" name="text16" descr="sci-ppt:C1-E33-016"/>
          <p:cNvSpPr txBox="1"/>
          <p:nvPr/>
        </p:nvSpPr>
        <p:spPr>
          <a:xfrm>
            <a:off x="3657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Ṙ &lt; 0</a:t>
            </a:r>
          </a:p>
        </p:txBody>
      </p:sp>
      <p:sp>
        <p:nvSpPr>
          <p:cNvPr id="18" name="text17" descr="sci-ppt:C1-E33-017"/>
          <p:cNvSpPr txBox="1"/>
          <p:nvPr/>
        </p:nvSpPr>
        <p:spPr>
          <a:xfrm>
            <a:off x="3657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ρ</a:t>
            </a:r>
          </a:p>
        </p:txBody>
      </p:sp>
      <p:sp>
        <p:nvSpPr>
          <p:cNvPr id="19" name="text18" descr="sci-ppt:C1-E33-018"/>
          <p:cNvSpPr txBox="1"/>
          <p:nvPr/>
        </p:nvSpPr>
        <p:spPr>
          <a:xfrm>
            <a:off x="3657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B(5/6,1/2)/√6</a:t>
            </a:r>
          </a:p>
        </p:txBody>
      </p:sp>
      <p:sp>
        <p:nvSpPr>
          <p:cNvPr id="20" name="text19" descr="sci-ppt:C1-E33-019"/>
          <p:cNvSpPr txBox="1"/>
          <p:nvPr/>
        </p:nvSpPr>
        <p:spPr>
          <a:xfrm>
            <a:off x="6156960" y="4974336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R → 0</a:t>
            </a:r>
          </a:p>
        </p:txBody>
      </p:sp>
      <p:sp>
        <p:nvSpPr>
          <p:cNvPr id="21" name="text20" descr="sci-ppt:C1-E33-020"/>
          <p:cNvSpPr txBox="1"/>
          <p:nvPr/>
        </p:nvSpPr>
        <p:spPr>
          <a:xfrm>
            <a:off x="6156960" y="5266944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Δpc</a:t>
            </a:r>
          </a:p>
        </p:txBody>
      </p:sp>
      <p:sp>
        <p:nvSpPr>
          <p:cNvPr id="22" name="text21" descr="sci-ppt:C1-E33-021"/>
          <p:cNvSpPr txBox="1"/>
          <p:nvPr/>
        </p:nvSpPr>
        <p:spPr>
          <a:xfrm>
            <a:off x="6156960" y="5559552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tc</a:t>
            </a:r>
          </a:p>
        </p:txBody>
      </p:sp>
      <p:sp>
        <p:nvSpPr>
          <p:cNvPr id="23" name="text22" descr="sci-ppt:C1-E33-022"/>
          <p:cNvSpPr txBox="1"/>
          <p:nvPr/>
        </p:nvSpPr>
        <p:spPr>
          <a:xfrm>
            <a:off x="6156960" y="5852160"/>
            <a:ext cx="5547360" cy="321259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32" b="0" i="0">
                <a:solidFill>
                  <a:srgbClr val="E7F0F3"/>
                </a:solidFill>
                <a:latin typeface="Arial"/>
              </a:rPr>
              <a:t>Kl finite</a:t>
            </a:r>
          </a:p>
        </p:txBody>
      </p:sp>
      <p:sp>
        <p:nvSpPr>
          <p:cNvPr id="24" name="text23" descr="sci-ppt:C1-E33-023"/>
          <p:cNvSpPr txBox="1"/>
          <p:nvPr/>
        </p:nvSpPr>
        <p:spPr>
          <a:xfrm>
            <a:off x="365760" y="6339840"/>
            <a:ext cx="11277600" cy="302361"/>
          </a:xfrm>
          <a:prstGeom prst="rect">
            <a:avLst/>
          </a:prstGeom>
          <a:noFill/>
          <a:effectLst/>
        </p:spPr>
        <p:txBody>
          <a:bodyPr wrap="non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536" b="0" i="0">
                <a:solidFill>
                  <a:srgbClr val="B4C7D2"/>
                </a:solidFill>
                <a:latin typeface="Arial"/>
              </a:rPr>
              <a:t>Finite time and finite energy coexist with an excluded wall-speed singularity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