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C2-E06 · Derived optical-energy balance</a:t>
            </a:r>
          </a:p>
        </p:txBody>
      </p:sp>
      <p:cxnSp>
        <p:nvCxnSpPr>
          <p:cNvPr id="3" name="C2-E06 line 1" descr="sci-ppt:o001"/>
          <p:cNvCxnSpPr/>
          <p:nvPr/>
        </p:nvCxnSpPr>
        <p:spPr>
          <a:xfrm>
            <a:off x="914400" y="5029200"/>
            <a:ext cx="658367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06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06 line 3" descr="sci-ppt:o003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06 line 4" descr="sci-ppt:o004"/>
          <p:cNvCxnSpPr/>
          <p:nvPr/>
        </p:nvCxnSpPr>
        <p:spPr>
          <a:xfrm>
            <a:off x="914400" y="5029200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06 text 5" descr="sci-ppt:o005"/>
          <p:cNvSpPr txBox="1"/>
          <p:nvPr/>
        </p:nvSpPr>
        <p:spPr>
          <a:xfrm>
            <a:off x="45720" y="4946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2-E06 line 6" descr="sci-ppt:o006"/>
          <p:cNvCxnSpPr/>
          <p:nvPr/>
        </p:nvCxnSpPr>
        <p:spPr>
          <a:xfrm>
            <a:off x="850392" y="419792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06 line 7" descr="sci-ppt:o007"/>
          <p:cNvCxnSpPr/>
          <p:nvPr/>
        </p:nvCxnSpPr>
        <p:spPr>
          <a:xfrm>
            <a:off x="914400" y="4197927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06 text 8" descr="sci-ppt:o008"/>
          <p:cNvSpPr txBox="1"/>
          <p:nvPr/>
        </p:nvSpPr>
        <p:spPr>
          <a:xfrm>
            <a:off x="45720" y="411563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250</a:t>
            </a:r>
          </a:p>
        </p:txBody>
      </p:sp>
      <p:cxnSp>
        <p:nvCxnSpPr>
          <p:cNvPr id="11" name="C2-E06 line 9" descr="sci-ppt:o009"/>
          <p:cNvCxnSpPr/>
          <p:nvPr/>
        </p:nvCxnSpPr>
        <p:spPr>
          <a:xfrm>
            <a:off x="850392" y="336665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06 line 10" descr="sci-ppt:o010"/>
          <p:cNvCxnSpPr/>
          <p:nvPr/>
        </p:nvCxnSpPr>
        <p:spPr>
          <a:xfrm>
            <a:off x="914400" y="3366654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06 text 11" descr="sci-ppt:o011"/>
          <p:cNvSpPr txBox="1"/>
          <p:nvPr/>
        </p:nvSpPr>
        <p:spPr>
          <a:xfrm>
            <a:off x="45720" y="328435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500</a:t>
            </a:r>
          </a:p>
        </p:txBody>
      </p:sp>
      <p:cxnSp>
        <p:nvCxnSpPr>
          <p:cNvPr id="14" name="C2-E06 line 12" descr="sci-ppt:o012"/>
          <p:cNvCxnSpPr/>
          <p:nvPr/>
        </p:nvCxnSpPr>
        <p:spPr>
          <a:xfrm>
            <a:off x="850392" y="253538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06 line 13" descr="sci-ppt:o013"/>
          <p:cNvCxnSpPr/>
          <p:nvPr/>
        </p:nvCxnSpPr>
        <p:spPr>
          <a:xfrm>
            <a:off x="914400" y="2535381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06 text 14" descr="sci-ppt:o014"/>
          <p:cNvSpPr txBox="1"/>
          <p:nvPr/>
        </p:nvSpPr>
        <p:spPr>
          <a:xfrm>
            <a:off x="45720" y="245308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750</a:t>
            </a:r>
          </a:p>
        </p:txBody>
      </p:sp>
      <p:cxnSp>
        <p:nvCxnSpPr>
          <p:cNvPr id="17" name="C2-E06 line 15" descr="sci-ppt:o015"/>
          <p:cNvCxnSpPr/>
          <p:nvPr/>
        </p:nvCxnSpPr>
        <p:spPr>
          <a:xfrm>
            <a:off x="850392" y="170410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06 line 16" descr="sci-ppt:o016"/>
          <p:cNvCxnSpPr/>
          <p:nvPr/>
        </p:nvCxnSpPr>
        <p:spPr>
          <a:xfrm>
            <a:off x="914400" y="1704109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06 text 17" descr="sci-ppt:o017"/>
          <p:cNvSpPr txBox="1"/>
          <p:nvPr/>
        </p:nvSpPr>
        <p:spPr>
          <a:xfrm>
            <a:off x="45720" y="162181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1000</a:t>
            </a:r>
          </a:p>
        </p:txBody>
      </p:sp>
      <p:sp>
        <p:nvSpPr>
          <p:cNvPr id="20" name="C2-E06 text 18" descr="sci-ppt:o018"/>
          <p:cNvSpPr txBox="1"/>
          <p:nvPr/>
        </p:nvSpPr>
        <p:spPr>
          <a:xfrm>
            <a:off x="365760" y="1024128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energy (nJ)</a:t>
            </a:r>
          </a:p>
        </p:txBody>
      </p:sp>
      <p:sp>
        <p:nvSpPr>
          <p:cNvPr id="21" name="C2-E06 rect 19" descr="sci-ppt:o019"/>
          <p:cNvSpPr/>
          <p:nvPr/>
        </p:nvSpPr>
        <p:spPr>
          <a:xfrm>
            <a:off x="1098743" y="1704109"/>
            <a:ext cx="948049" cy="332509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2-E06 text 20" descr="sci-ppt:o020"/>
          <p:cNvSpPr txBox="1"/>
          <p:nvPr/>
        </p:nvSpPr>
        <p:spPr>
          <a:xfrm>
            <a:off x="870143" y="1429789"/>
            <a:ext cx="140524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1000</a:t>
            </a:r>
          </a:p>
        </p:txBody>
      </p:sp>
      <p:sp>
        <p:nvSpPr>
          <p:cNvPr id="23" name="C2-E06 text 21" descr="sci-ppt:o021"/>
          <p:cNvSpPr txBox="1"/>
          <p:nvPr/>
        </p:nvSpPr>
        <p:spPr>
          <a:xfrm>
            <a:off x="824423" y="5102352"/>
            <a:ext cx="149668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incident E_L</a:t>
            </a:r>
          </a:p>
        </p:txBody>
      </p:sp>
      <p:sp>
        <p:nvSpPr>
          <p:cNvPr id="24" name="C2-E06 rect 22" descr="sci-ppt:o022"/>
          <p:cNvSpPr/>
          <p:nvPr/>
        </p:nvSpPr>
        <p:spPr>
          <a:xfrm>
            <a:off x="2415479" y="1704109"/>
            <a:ext cx="948049" cy="2016769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2-E06 text 23" descr="sci-ppt:o023"/>
          <p:cNvSpPr txBox="1"/>
          <p:nvPr/>
        </p:nvSpPr>
        <p:spPr>
          <a:xfrm>
            <a:off x="2186879" y="1429789"/>
            <a:ext cx="140524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-607</a:t>
            </a:r>
          </a:p>
        </p:txBody>
      </p:sp>
      <p:sp>
        <p:nvSpPr>
          <p:cNvPr id="26" name="C2-E06 text 24" descr="sci-ppt:o024"/>
          <p:cNvSpPr txBox="1"/>
          <p:nvPr/>
        </p:nvSpPr>
        <p:spPr>
          <a:xfrm>
            <a:off x="2141159" y="5102352"/>
            <a:ext cx="149668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outside aperture</a:t>
            </a:r>
          </a:p>
        </p:txBody>
      </p:sp>
      <p:sp>
        <p:nvSpPr>
          <p:cNvPr id="27" name="C2-E06 rect 25" descr="sci-ppt:o025"/>
          <p:cNvSpPr/>
          <p:nvPr/>
        </p:nvSpPr>
        <p:spPr>
          <a:xfrm>
            <a:off x="3732215" y="3720878"/>
            <a:ext cx="948049" cy="130832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2-E06 text 26" descr="sci-ppt:o026"/>
          <p:cNvSpPr txBox="1"/>
          <p:nvPr/>
        </p:nvSpPr>
        <p:spPr>
          <a:xfrm>
            <a:off x="3503615" y="3446558"/>
            <a:ext cx="140524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-39</a:t>
            </a:r>
          </a:p>
        </p:txBody>
      </p:sp>
      <p:sp>
        <p:nvSpPr>
          <p:cNvPr id="29" name="C2-E06 text 27" descr="sci-ppt:o027"/>
          <p:cNvSpPr txBox="1"/>
          <p:nvPr/>
        </p:nvSpPr>
        <p:spPr>
          <a:xfrm>
            <a:off x="3457895" y="5102352"/>
            <a:ext cx="149668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reflected 10 %</a:t>
            </a:r>
          </a:p>
        </p:txBody>
      </p:sp>
      <p:sp>
        <p:nvSpPr>
          <p:cNvPr id="30" name="C2-E06 rect 28" descr="sci-ppt:o028"/>
          <p:cNvSpPr/>
          <p:nvPr/>
        </p:nvSpPr>
        <p:spPr>
          <a:xfrm>
            <a:off x="5048951" y="3851710"/>
            <a:ext cx="948049" cy="433174"/>
          </a:xfrm>
          <a:prstGeom prst="rect">
            <a:avLst/>
          </a:prstGeom>
          <a:solidFill>
            <a:srgbClr val="B4A0F0">
              <a:alpha val="85000"/>
            </a:srgbClr>
          </a:solidFill>
          <a:ln w="12700">
            <a:solidFill>
              <a:srgbClr val="B4A0F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2-E06 text 29" descr="sci-ppt:o029"/>
          <p:cNvSpPr txBox="1"/>
          <p:nvPr/>
        </p:nvSpPr>
        <p:spPr>
          <a:xfrm>
            <a:off x="4820351" y="3577390"/>
            <a:ext cx="140524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-130</a:t>
            </a:r>
          </a:p>
        </p:txBody>
      </p:sp>
      <p:sp>
        <p:nvSpPr>
          <p:cNvPr id="32" name="C2-E06 text 30" descr="sci-ppt:o030"/>
          <p:cNvSpPr txBox="1"/>
          <p:nvPr/>
        </p:nvSpPr>
        <p:spPr>
          <a:xfrm>
            <a:off x="4774631" y="5102352"/>
            <a:ext cx="149668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transmitted</a:t>
            </a:r>
          </a:p>
        </p:txBody>
      </p:sp>
      <p:sp>
        <p:nvSpPr>
          <p:cNvPr id="33" name="C2-E06 rect 31" descr="sci-ppt:o031"/>
          <p:cNvSpPr/>
          <p:nvPr/>
        </p:nvSpPr>
        <p:spPr>
          <a:xfrm>
            <a:off x="6365687" y="4284884"/>
            <a:ext cx="948049" cy="744315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2-E06 text 32" descr="sci-ppt:o032"/>
          <p:cNvSpPr txBox="1"/>
          <p:nvPr/>
        </p:nvSpPr>
        <p:spPr>
          <a:xfrm>
            <a:off x="6137087" y="4010564"/>
            <a:ext cx="140524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224</a:t>
            </a:r>
          </a:p>
        </p:txBody>
      </p:sp>
      <p:sp>
        <p:nvSpPr>
          <p:cNvPr id="35" name="C2-E06 text 33" descr="sci-ppt:o033"/>
          <p:cNvSpPr txBox="1"/>
          <p:nvPr/>
        </p:nvSpPr>
        <p:spPr>
          <a:xfrm>
            <a:off x="6091367" y="5102352"/>
            <a:ext cx="149668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absorbed E_abs</a:t>
            </a:r>
          </a:p>
        </p:txBody>
      </p:sp>
      <p:sp>
        <p:nvSpPr>
          <p:cNvPr id="36" name="C2-E06 round_rect 34" descr="sci-ppt:o034"/>
          <p:cNvSpPr/>
          <p:nvPr/>
        </p:nvSpPr>
        <p:spPr>
          <a:xfrm>
            <a:off x="7772400" y="1371600"/>
            <a:ext cx="40690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2-E06 text 35" descr="sci-ppt:o035"/>
          <p:cNvSpPr txBox="1"/>
          <p:nvPr/>
        </p:nvSpPr>
        <p:spPr>
          <a:xfrm>
            <a:off x="7882127" y="1426464"/>
            <a:ext cx="38496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Each factor acts once</a:t>
            </a:r>
          </a:p>
        </p:txBody>
      </p:sp>
      <p:sp>
        <p:nvSpPr>
          <p:cNvPr id="38" name="C2-E06 text 36" descr="sci-ppt:o036"/>
          <p:cNvSpPr txBox="1"/>
          <p:nvPr/>
        </p:nvSpPr>
        <p:spPr>
          <a:xfrm>
            <a:off x="7909560" y="1828800"/>
            <a:ext cx="38404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f_geo = 1 − e^(−2(10/20)²) = 0.3935</a:t>
            </a:r>
          </a:p>
        </p:txBody>
      </p:sp>
      <p:sp>
        <p:nvSpPr>
          <p:cNvPr id="39" name="C2-E06 text 37" descr="sci-ppt:o037"/>
          <p:cNvSpPr txBox="1"/>
          <p:nvPr/>
        </p:nvSpPr>
        <p:spPr>
          <a:xfrm>
            <a:off x="7909560" y="2331720"/>
            <a:ext cx="38404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7FC8F8"/>
                </a:solidFill>
                <a:latin typeface="Arial"/>
              </a:rPr>
              <a:t>A_λ = (1 − 0.10)(1 − e^(−1)) = 0.5689</a:t>
            </a:r>
          </a:p>
        </p:txBody>
      </p:sp>
      <p:sp>
        <p:nvSpPr>
          <p:cNvPr id="40" name="C2-E06 text 38" descr="sci-ppt:o038"/>
          <p:cNvSpPr txBox="1"/>
          <p:nvPr/>
        </p:nvSpPr>
        <p:spPr>
          <a:xfrm>
            <a:off x="7909560" y="2834640"/>
            <a:ext cx="38404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E_abs = f_geo A_λ E_L = 223.8 nJ</a:t>
            </a:r>
          </a:p>
        </p:txBody>
      </p:sp>
      <p:sp>
        <p:nvSpPr>
          <p:cNvPr id="41" name="C2-E06 text 39" descr="sci-ppt:o039"/>
          <p:cNvSpPr txBox="1"/>
          <p:nvPr/>
        </p:nvSpPr>
        <p:spPr>
          <a:xfrm>
            <a:off x="7909560" y="3474720"/>
            <a:ext cx="384048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Interception, front-face reflection and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internal absorption are separate, multiplied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losses; none is counted twice.</a:t>
            </a:r>
          </a:p>
        </p:txBody>
      </p:sp>
      <p:sp>
        <p:nvSpPr>
          <p:cNvPr id="42" name="C2-E06 text 40" descr="sci-ppt:o040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Energy accounting for E_L = 1 µJ, aperture 10 µm, beam radius 20 µm, μₐ hₐ = 1, R_λ = 0.10 (declared inputs).</a:t>
            </a:r>
          </a:p>
        </p:txBody>
      </p:sp>
      <p:sp>
        <p:nvSpPr>
          <p:cNvPr id="43" name="C2-E06 text 41" descr="sci-ppt:o04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Energy balance of Eq. C2-E06, numbers as in Eq. C2-E31.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