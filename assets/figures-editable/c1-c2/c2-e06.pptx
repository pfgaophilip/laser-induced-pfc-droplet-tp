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6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C2-E06 | Physical-variable diagram</a:t>
            </a:r>
          </a:p>
        </p:txBody>
      </p:sp>
      <p:sp>
        <p:nvSpPr>
          <p:cNvPr id="3" name="rect2" descr="sci-ppt:C2-E06-002"/>
          <p:cNvSpPr/>
          <p:nvPr/>
        </p:nvSpPr>
        <p:spPr>
          <a:xfrm>
            <a:off x="3779520" y="1341120"/>
            <a:ext cx="3169920" cy="27432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06-003"/>
          <p:cNvCxnSpPr/>
          <p:nvPr/>
        </p:nvCxnSpPr>
        <p:spPr>
          <a:xfrm>
            <a:off x="1097280" y="2499360"/>
            <a:ext cx="2560320" cy="0"/>
          </a:xfrm>
          <a:prstGeom prst="line">
            <a:avLst/>
          </a:prstGeom>
          <a:ln w="25400">
            <a:solidFill>
              <a:srgbClr val="F6BC77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arrow4" descr="sci-ppt:C2-E06-004"/>
          <p:cNvCxnSpPr/>
          <p:nvPr/>
        </p:nvCxnSpPr>
        <p:spPr>
          <a:xfrm>
            <a:off x="7010400" y="2499360"/>
            <a:ext cx="26212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6" name="arrow5" descr="sci-ppt:C2-E06-005"/>
          <p:cNvCxnSpPr/>
          <p:nvPr/>
        </p:nvCxnSpPr>
        <p:spPr>
          <a:xfrm flipH="1" flipV="1">
            <a:off x="2316480" y="1402080"/>
            <a:ext cx="1463040" cy="109728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7" name="text6" descr="sci-ppt:C2-E06-006"/>
          <p:cNvSpPr txBox="1"/>
          <p:nvPr/>
        </p:nvSpPr>
        <p:spPr>
          <a:xfrm>
            <a:off x="853440" y="2926080"/>
            <a:ext cx="2804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Incident light</a:t>
            </a:r>
          </a:p>
        </p:txBody>
      </p:sp>
      <p:sp>
        <p:nvSpPr>
          <p:cNvPr id="8" name="text7" descr="sci-ppt:C2-E06-007"/>
          <p:cNvSpPr txBox="1"/>
          <p:nvPr/>
        </p:nvSpPr>
        <p:spPr>
          <a:xfrm>
            <a:off x="853440" y="975360"/>
            <a:ext cx="280416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Reflection</a:t>
            </a:r>
          </a:p>
        </p:txBody>
      </p:sp>
      <p:sp>
        <p:nvSpPr>
          <p:cNvPr id="9" name="text8" descr="sci-ppt:C2-E06-008"/>
          <p:cNvSpPr txBox="1"/>
          <p:nvPr/>
        </p:nvSpPr>
        <p:spPr>
          <a:xfrm>
            <a:off x="4084320" y="3048000"/>
            <a:ext cx="30480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Absorber: Q_abs</a:t>
            </a:r>
          </a:p>
        </p:txBody>
      </p:sp>
      <p:sp>
        <p:nvSpPr>
          <p:cNvPr id="10" name="text9" descr="sci-ppt:C2-E06-009"/>
          <p:cNvSpPr txBox="1"/>
          <p:nvPr/>
        </p:nvSpPr>
        <p:spPr>
          <a:xfrm>
            <a:off x="7315200" y="2926080"/>
            <a:ext cx="365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Transmitted light</a:t>
            </a:r>
          </a:p>
        </p:txBody>
      </p:sp>
      <p:cxnSp>
        <p:nvCxnSpPr>
          <p:cNvPr id="11" name="arrow10" descr="sci-ppt:C2-E06-010"/>
          <p:cNvCxnSpPr/>
          <p:nvPr/>
        </p:nvCxnSpPr>
        <p:spPr>
          <a:xfrm>
            <a:off x="4023360" y="3779520"/>
            <a:ext cx="26822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2-E06-011"/>
          <p:cNvSpPr txBox="1"/>
          <p:nvPr/>
        </p:nvSpPr>
        <p:spPr>
          <a:xfrm>
            <a:off x="4511040" y="4023360"/>
            <a:ext cx="4267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+z; thickness h_a</a:t>
            </a:r>
          </a:p>
        </p:txBody>
      </p:sp>
      <p:sp>
        <p:nvSpPr>
          <p:cNvPr id="13" name="text12" descr="sci-ppt:C2-E06-012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h_a: slab thickness</a:t>
            </a:r>
          </a:p>
        </p:txBody>
      </p:sp>
      <p:sp>
        <p:nvSpPr>
          <p:cNvPr id="14" name="text13" descr="sci-ppt:C2-E06-013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Ω_a, dV: absorbing volume</a:t>
            </a:r>
          </a:p>
        </p:txBody>
      </p:sp>
      <p:sp>
        <p:nvSpPr>
          <p:cNvPr id="15" name="text14" descr="sci-ppt:C2-E06-014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μ_a, Q_abs: optical heating</a:t>
            </a:r>
          </a:p>
        </p:txBody>
      </p:sp>
      <p:sp>
        <p:nvSpPr>
          <p:cNvPr id="16" name="text15" descr="sci-ppt:C2-E06-015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f_geo, E_L, E_abs: energy accounting</a:t>
            </a:r>
          </a:p>
        </p:txBody>
      </p:sp>
      <p:sp>
        <p:nvSpPr>
          <p:cNvPr id="17" name="text16" descr="sci-ppt:C2-E06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z: depth</a:t>
            </a:r>
          </a:p>
        </p:txBody>
      </p:sp>
      <p:sp>
        <p:nvSpPr>
          <p:cNvPr id="18" name="text17" descr="sci-ppt:C2-E06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I_in: light after reflection</a:t>
            </a:r>
          </a:p>
        </p:txBody>
      </p:sp>
      <p:sp>
        <p:nvSpPr>
          <p:cNvPr id="19" name="text18" descr="sci-ppt:C2-E06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λ, ℛ_λ, A_λ: wavelength and fractions</a:t>
            </a:r>
          </a:p>
        </p:txBody>
      </p:sp>
      <p:sp>
        <p:nvSpPr>
          <p:cNvPr id="20" name="text19" descr="sci-ppt:C2-E06-019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pulse integration</a:t>
            </a:r>
          </a:p>
        </p:txBody>
      </p:sp>
      <p:sp>
        <p:nvSpPr>
          <p:cNvPr id="21" name="text20" descr="sci-ppt:C2-E06-020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Reflection occurs before entry</a:t>
            </a:r>
          </a:p>
        </p:txBody>
      </p:sp>
      <p:sp>
        <p:nvSpPr>
          <p:cNvPr id="22" name="text21" descr="sci-ppt:C2-E06-021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Integrate the source once; do not add equivalent boundary heating again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