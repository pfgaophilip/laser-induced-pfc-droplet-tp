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22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C1-E22 | Physical-variable diagram</a:t>
            </a:r>
          </a:p>
        </p:txBody>
      </p:sp>
      <p:sp>
        <p:nvSpPr>
          <p:cNvPr id="3" name="rect2" descr="sci-ppt:C1-E22-002"/>
          <p:cNvSpPr/>
          <p:nvPr/>
        </p:nvSpPr>
        <p:spPr>
          <a:xfrm>
            <a:off x="1219200" y="2194560"/>
            <a:ext cx="8290560" cy="146304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3" descr="sci-ppt:C1-E22-003"/>
          <p:cNvCxnSpPr/>
          <p:nvPr/>
        </p:nvCxnSpPr>
        <p:spPr>
          <a:xfrm>
            <a:off x="1219200" y="2194560"/>
            <a:ext cx="829056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5" name="line4" descr="sci-ppt:C1-E22-004"/>
          <p:cNvCxnSpPr/>
          <p:nvPr/>
        </p:nvCxnSpPr>
        <p:spPr>
          <a:xfrm>
            <a:off x="1219200" y="3657600"/>
            <a:ext cx="829056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6" name="arrow5" descr="sci-ppt:C1-E22-005"/>
          <p:cNvCxnSpPr/>
          <p:nvPr/>
        </p:nvCxnSpPr>
        <p:spPr>
          <a:xfrm>
            <a:off x="2316480" y="2926080"/>
            <a:ext cx="5608319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1-E22-006"/>
          <p:cNvSpPr txBox="1"/>
          <p:nvPr/>
        </p:nvSpPr>
        <p:spPr>
          <a:xfrm>
            <a:off x="1402080" y="1463040"/>
            <a:ext cx="36576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Π0 at z = 0</a:t>
            </a:r>
          </a:p>
        </p:txBody>
      </p:sp>
      <p:sp>
        <p:nvSpPr>
          <p:cNvPr id="8" name="text7" descr="sci-ppt:C1-E22-007"/>
          <p:cNvSpPr txBox="1"/>
          <p:nvPr/>
        </p:nvSpPr>
        <p:spPr>
          <a:xfrm>
            <a:off x="7315200" y="1463040"/>
            <a:ext cx="42672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Π = 0 at z = L</a:t>
            </a:r>
          </a:p>
        </p:txBody>
      </p:sp>
      <p:sp>
        <p:nvSpPr>
          <p:cNvPr id="9" name="text8" descr="sci-ppt:C1-E22-008"/>
          <p:cNvSpPr txBox="1"/>
          <p:nvPr/>
        </p:nvSpPr>
        <p:spPr>
          <a:xfrm>
            <a:off x="3108960" y="298704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Δ u_z toward outlet</a:t>
            </a:r>
          </a:p>
        </p:txBody>
      </p:sp>
      <p:sp>
        <p:nvSpPr>
          <p:cNvPr id="10" name="text9" descr="sci-ppt:C1-E22-009"/>
          <p:cNvSpPr txBox="1"/>
          <p:nvPr/>
        </p:nvSpPr>
        <p:spPr>
          <a:xfrm>
            <a:off x="2255520" y="4084320"/>
            <a:ext cx="902208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Pressure impulse gradient drives early acceleration.</a:t>
            </a:r>
          </a:p>
        </p:txBody>
      </p:sp>
      <p:sp>
        <p:nvSpPr>
          <p:cNvPr id="11" name="text10" descr="sci-ppt:C1-E22-01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Δu</a:t>
            </a:r>
          </a:p>
        </p:txBody>
      </p:sp>
      <p:sp>
        <p:nvSpPr>
          <p:cNvPr id="12" name="text11" descr="sci-ppt:C1-E22-01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u(x,t)</a:t>
            </a:r>
          </a:p>
        </p:txBody>
      </p:sp>
      <p:sp>
        <p:nvSpPr>
          <p:cNvPr id="13" name="text12" descr="sci-ppt:C1-E22-01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</a:t>
            </a:r>
          </a:p>
        </p:txBody>
      </p:sp>
      <p:sp>
        <p:nvSpPr>
          <p:cNvPr id="14" name="text13" descr="sci-ppt:C1-E22-013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t₀ → t₁</a:t>
            </a:r>
          </a:p>
        </p:txBody>
      </p:sp>
      <p:sp>
        <p:nvSpPr>
          <p:cNvPr id="15" name="text14" descr="sci-ppt:C1-E22-014"/>
          <p:cNvSpPr txBox="1"/>
          <p:nvPr/>
        </p:nvSpPr>
        <p:spPr>
          <a:xfrm>
            <a:off x="365760" y="6144768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Viscous impulse</a:t>
            </a:r>
          </a:p>
        </p:txBody>
      </p:sp>
      <p:sp>
        <p:nvSpPr>
          <p:cNvPr id="16" name="text15" descr="sci-ppt:C1-E22-015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−∇Π/ρ</a:t>
            </a:r>
          </a:p>
        </p:txBody>
      </p:sp>
      <p:sp>
        <p:nvSpPr>
          <p:cNvPr id="17" name="text16" descr="sci-ppt:C1-E22-016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8" name="text17" descr="sci-ppt:C1-E22-017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ν = μ/ρ</a:t>
            </a:r>
          </a:p>
        </p:txBody>
      </p:sp>
      <p:sp>
        <p:nvSpPr>
          <p:cNvPr id="19" name="text18" descr="sci-ppt:C1-E22-018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Convective impulse</a:t>
            </a:r>
          </a:p>
        </p:txBody>
      </p:sp>
      <p:sp>
        <p:nvSpPr>
          <p:cNvPr id="20" name="text19" descr="sci-ppt:C1-E22-019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Pressure-gradient impulse shares momentum change with two residual terms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