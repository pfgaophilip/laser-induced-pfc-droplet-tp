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C2-E24 · Ideal-mixture constitutive control and required refinement</a:t>
            </a:r>
          </a:p>
        </p:txBody>
      </p:sp>
      <p:cxnSp>
        <p:nvCxnSpPr>
          <p:cNvPr id="3" name="C2-E24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2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24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24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24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8" name="C2-E24 line 6" descr="sci-ppt:o006"/>
          <p:cNvCxnSpPr/>
          <p:nvPr/>
        </p:nvCxnSpPr>
        <p:spPr>
          <a:xfrm>
            <a:off x="2423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24 line 7" descr="sci-ppt:o007"/>
          <p:cNvCxnSpPr/>
          <p:nvPr/>
        </p:nvCxnSpPr>
        <p:spPr>
          <a:xfrm>
            <a:off x="2423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24 text 8" descr="sci-ppt:o008"/>
          <p:cNvSpPr txBox="1"/>
          <p:nvPr/>
        </p:nvSpPr>
        <p:spPr>
          <a:xfrm>
            <a:off x="1965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2-E24 line 9" descr="sci-ppt:o009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24 line 10" descr="sci-ppt:o010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24 text 11" descr="sci-ppt:o011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2-E24 line 12" descr="sci-ppt:o012"/>
          <p:cNvCxnSpPr/>
          <p:nvPr/>
        </p:nvCxnSpPr>
        <p:spPr>
          <a:xfrm>
            <a:off x="54406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24 line 13" descr="sci-ppt:o013"/>
          <p:cNvCxnSpPr/>
          <p:nvPr/>
        </p:nvCxnSpPr>
        <p:spPr>
          <a:xfrm>
            <a:off x="54406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24 text 14" descr="sci-ppt:o014"/>
          <p:cNvSpPr txBox="1"/>
          <p:nvPr/>
        </p:nvSpPr>
        <p:spPr>
          <a:xfrm>
            <a:off x="4983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7" name="C2-E24 line 15" descr="sci-ppt:o015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24 line 16" descr="sci-ppt:o016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24 text 17" descr="sci-ppt:o017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20" name="C2-E24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24 line 19" descr="sci-ppt:o019"/>
          <p:cNvCxnSpPr/>
          <p:nvPr/>
        </p:nvCxnSpPr>
        <p:spPr>
          <a:xfrm>
            <a:off x="850392" y="4297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2-E24 line 20" descr="sci-ppt:o020"/>
          <p:cNvCxnSpPr/>
          <p:nvPr/>
        </p:nvCxnSpPr>
        <p:spPr>
          <a:xfrm>
            <a:off x="914400" y="429768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2-E24 text 21" descr="sci-ppt:o021"/>
          <p:cNvSpPr txBox="1"/>
          <p:nvPr/>
        </p:nvSpPr>
        <p:spPr>
          <a:xfrm>
            <a:off x="45720" y="4215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1e+04</a:t>
            </a:r>
          </a:p>
        </p:txBody>
      </p:sp>
      <p:cxnSp>
        <p:nvCxnSpPr>
          <p:cNvPr id="24" name="C2-E24 line 22" descr="sci-ppt:o022"/>
          <p:cNvCxnSpPr/>
          <p:nvPr/>
        </p:nvCxnSpPr>
        <p:spPr>
          <a:xfrm>
            <a:off x="850392" y="3566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2-E24 line 23" descr="sci-ppt:o023"/>
          <p:cNvCxnSpPr/>
          <p:nvPr/>
        </p:nvCxnSpPr>
        <p:spPr>
          <a:xfrm>
            <a:off x="914400" y="356616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2-E24 text 24" descr="sci-ppt:o024"/>
          <p:cNvSpPr txBox="1"/>
          <p:nvPr/>
        </p:nvSpPr>
        <p:spPr>
          <a:xfrm>
            <a:off x="45720" y="3483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1e+05</a:t>
            </a:r>
          </a:p>
        </p:txBody>
      </p:sp>
      <p:cxnSp>
        <p:nvCxnSpPr>
          <p:cNvPr id="27" name="C2-E24 line 25" descr="sci-ppt:o025"/>
          <p:cNvCxnSpPr/>
          <p:nvPr/>
        </p:nvCxnSpPr>
        <p:spPr>
          <a:xfrm>
            <a:off x="850392" y="2834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2-E24 line 26" descr="sci-ppt:o026"/>
          <p:cNvCxnSpPr/>
          <p:nvPr/>
        </p:nvCxnSpPr>
        <p:spPr>
          <a:xfrm>
            <a:off x="914400" y="283464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2-E24 text 27" descr="sci-ppt:o027"/>
          <p:cNvSpPr txBox="1"/>
          <p:nvPr/>
        </p:nvSpPr>
        <p:spPr>
          <a:xfrm>
            <a:off x="45720" y="27523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1e+06</a:t>
            </a:r>
          </a:p>
        </p:txBody>
      </p:sp>
      <p:cxnSp>
        <p:nvCxnSpPr>
          <p:cNvPr id="30" name="C2-E24 line 28" descr="sci-ppt:o028"/>
          <p:cNvCxnSpPr/>
          <p:nvPr/>
        </p:nvCxnSpPr>
        <p:spPr>
          <a:xfrm>
            <a:off x="850392" y="21031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2-E24 line 29" descr="sci-ppt:o029"/>
          <p:cNvCxnSpPr/>
          <p:nvPr/>
        </p:nvCxnSpPr>
        <p:spPr>
          <a:xfrm>
            <a:off x="914400" y="210312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2-E24 text 30" descr="sci-ppt:o030"/>
          <p:cNvSpPr txBox="1"/>
          <p:nvPr/>
        </p:nvSpPr>
        <p:spPr>
          <a:xfrm>
            <a:off x="45720" y="20208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1e+07</a:t>
            </a:r>
          </a:p>
        </p:txBody>
      </p:sp>
      <p:cxnSp>
        <p:nvCxnSpPr>
          <p:cNvPr id="33" name="C2-E24 line 31" descr="sci-ppt:o031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2-E24 line 32" descr="sci-ppt:o032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2-E24 text 33" descr="sci-ppt:o033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1e+08</a:t>
            </a:r>
          </a:p>
        </p:txBody>
      </p:sp>
      <p:sp>
        <p:nvSpPr>
          <p:cNvPr id="36" name="C2-E24 text 34" descr="sci-ppt:o034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bubble radius R  (µm)</a:t>
            </a:r>
          </a:p>
        </p:txBody>
      </p:sp>
      <p:sp>
        <p:nvSpPr>
          <p:cNvPr id="37" name="C2-E24 text 35" descr="sci-ppt:o035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ideal pᵥ,PFC  (Pa)</a:t>
            </a:r>
          </a:p>
        </p:txBody>
      </p:sp>
      <p:sp>
        <p:nvSpPr>
          <p:cNvPr id="38" name="C2-E24 polygon 36" descr="sci-ppt:o036"/>
          <p:cNvSpPr/>
          <p:nvPr/>
        </p:nvSpPr>
        <p:spPr>
          <a:xfrm>
            <a:off x="914400" y="1969996"/>
            <a:ext cx="5974080" cy="2615822"/>
          </a:xfrm>
          <a:custGeom>
            <a:avLst/>
            <a:gdLst/>
            <a:ahLst/>
            <a:cxnLst/>
            <a:rect l="l" t="t" r="r" b="b"/>
            <a:pathLst>
              <a:path w="5974080" h="2615822">
                <a:moveTo>
                  <a:pt x="0" y="0"/>
                </a:moveTo>
                <a:lnTo>
                  <a:pt x="60960" y="26692"/>
                </a:lnTo>
                <a:lnTo>
                  <a:pt x="121920" y="53384"/>
                </a:lnTo>
                <a:lnTo>
                  <a:pt x="182879" y="80076"/>
                </a:lnTo>
                <a:lnTo>
                  <a:pt x="243839" y="106768"/>
                </a:lnTo>
                <a:lnTo>
                  <a:pt x="304800" y="133460"/>
                </a:lnTo>
                <a:lnTo>
                  <a:pt x="365760" y="160153"/>
                </a:lnTo>
                <a:lnTo>
                  <a:pt x="426719" y="186845"/>
                </a:lnTo>
                <a:lnTo>
                  <a:pt x="487679" y="213537"/>
                </a:lnTo>
                <a:lnTo>
                  <a:pt x="548639" y="240229"/>
                </a:lnTo>
                <a:lnTo>
                  <a:pt x="609600" y="266921"/>
                </a:lnTo>
                <a:lnTo>
                  <a:pt x="670560" y="293613"/>
                </a:lnTo>
                <a:lnTo>
                  <a:pt x="731519" y="320305"/>
                </a:lnTo>
                <a:lnTo>
                  <a:pt x="792479" y="346997"/>
                </a:lnTo>
                <a:lnTo>
                  <a:pt x="853440" y="373689"/>
                </a:lnTo>
                <a:lnTo>
                  <a:pt x="914400" y="400381"/>
                </a:lnTo>
                <a:lnTo>
                  <a:pt x="975359" y="427073"/>
                </a:lnTo>
                <a:lnTo>
                  <a:pt x="1036319" y="453765"/>
                </a:lnTo>
                <a:lnTo>
                  <a:pt x="1097279" y="480457"/>
                </a:lnTo>
                <a:lnTo>
                  <a:pt x="1158240" y="507149"/>
                </a:lnTo>
                <a:lnTo>
                  <a:pt x="1219200" y="533841"/>
                </a:lnTo>
                <a:lnTo>
                  <a:pt x="1280159" y="560533"/>
                </a:lnTo>
                <a:lnTo>
                  <a:pt x="1341119" y="587225"/>
                </a:lnTo>
                <a:lnTo>
                  <a:pt x="1402080" y="613918"/>
                </a:lnTo>
                <a:lnTo>
                  <a:pt x="1463040" y="640610"/>
                </a:lnTo>
                <a:lnTo>
                  <a:pt x="1523999" y="667302"/>
                </a:lnTo>
                <a:lnTo>
                  <a:pt x="1584959" y="693994"/>
                </a:lnTo>
                <a:lnTo>
                  <a:pt x="1645920" y="720686"/>
                </a:lnTo>
                <a:lnTo>
                  <a:pt x="1706880" y="747378"/>
                </a:lnTo>
                <a:lnTo>
                  <a:pt x="1767840" y="774070"/>
                </a:lnTo>
                <a:lnTo>
                  <a:pt x="1828799" y="800762"/>
                </a:lnTo>
                <a:lnTo>
                  <a:pt x="1889760" y="827454"/>
                </a:lnTo>
                <a:lnTo>
                  <a:pt x="1950720" y="854146"/>
                </a:lnTo>
                <a:lnTo>
                  <a:pt x="2011680" y="880838"/>
                </a:lnTo>
                <a:lnTo>
                  <a:pt x="2072639" y="907530"/>
                </a:lnTo>
                <a:lnTo>
                  <a:pt x="2133599" y="934222"/>
                </a:lnTo>
                <a:lnTo>
                  <a:pt x="2194560" y="960914"/>
                </a:lnTo>
                <a:lnTo>
                  <a:pt x="2255520" y="987606"/>
                </a:lnTo>
                <a:lnTo>
                  <a:pt x="2316480" y="1014298"/>
                </a:lnTo>
                <a:lnTo>
                  <a:pt x="2377439" y="1040990"/>
                </a:lnTo>
                <a:lnTo>
                  <a:pt x="2438400" y="1067682"/>
                </a:lnTo>
                <a:lnTo>
                  <a:pt x="2499360" y="1094375"/>
                </a:lnTo>
                <a:lnTo>
                  <a:pt x="2560320" y="1121067"/>
                </a:lnTo>
                <a:lnTo>
                  <a:pt x="2621279" y="1147759"/>
                </a:lnTo>
                <a:lnTo>
                  <a:pt x="2682239" y="1174451"/>
                </a:lnTo>
                <a:lnTo>
                  <a:pt x="2743200" y="1201143"/>
                </a:lnTo>
                <a:lnTo>
                  <a:pt x="2804160" y="1227835"/>
                </a:lnTo>
                <a:lnTo>
                  <a:pt x="2865120" y="1254527"/>
                </a:lnTo>
                <a:lnTo>
                  <a:pt x="2926079" y="1281219"/>
                </a:lnTo>
                <a:lnTo>
                  <a:pt x="2987040" y="1307911"/>
                </a:lnTo>
                <a:lnTo>
                  <a:pt x="3048000" y="1334603"/>
                </a:lnTo>
                <a:lnTo>
                  <a:pt x="3108960" y="1361295"/>
                </a:lnTo>
                <a:lnTo>
                  <a:pt x="3169919" y="1387987"/>
                </a:lnTo>
                <a:lnTo>
                  <a:pt x="3230879" y="1414679"/>
                </a:lnTo>
                <a:lnTo>
                  <a:pt x="3291840" y="1441371"/>
                </a:lnTo>
                <a:lnTo>
                  <a:pt x="3352800" y="1468063"/>
                </a:lnTo>
                <a:lnTo>
                  <a:pt x="3413760" y="1494755"/>
                </a:lnTo>
                <a:lnTo>
                  <a:pt x="3474719" y="1521447"/>
                </a:lnTo>
                <a:lnTo>
                  <a:pt x="3535680" y="1548139"/>
                </a:lnTo>
                <a:lnTo>
                  <a:pt x="3596640" y="1574832"/>
                </a:lnTo>
                <a:lnTo>
                  <a:pt x="3657600" y="1601524"/>
                </a:lnTo>
                <a:lnTo>
                  <a:pt x="3718559" y="1628216"/>
                </a:lnTo>
                <a:lnTo>
                  <a:pt x="3779520" y="1654908"/>
                </a:lnTo>
                <a:lnTo>
                  <a:pt x="3840480" y="1681600"/>
                </a:lnTo>
                <a:lnTo>
                  <a:pt x="3901440" y="1708292"/>
                </a:lnTo>
                <a:lnTo>
                  <a:pt x="3962400" y="1734984"/>
                </a:lnTo>
                <a:lnTo>
                  <a:pt x="4023359" y="1761676"/>
                </a:lnTo>
                <a:lnTo>
                  <a:pt x="4084320" y="1788368"/>
                </a:lnTo>
                <a:lnTo>
                  <a:pt x="4145280" y="1815060"/>
                </a:lnTo>
                <a:lnTo>
                  <a:pt x="4206240" y="1841752"/>
                </a:lnTo>
                <a:lnTo>
                  <a:pt x="4267199" y="1868444"/>
                </a:lnTo>
                <a:lnTo>
                  <a:pt x="4328159" y="1895136"/>
                </a:lnTo>
                <a:lnTo>
                  <a:pt x="4389120" y="1921828"/>
                </a:lnTo>
                <a:lnTo>
                  <a:pt x="4450080" y="1948520"/>
                </a:lnTo>
                <a:lnTo>
                  <a:pt x="4511040" y="1975212"/>
                </a:lnTo>
                <a:lnTo>
                  <a:pt x="4572000" y="2001904"/>
                </a:lnTo>
                <a:lnTo>
                  <a:pt x="4632960" y="2028596"/>
                </a:lnTo>
                <a:lnTo>
                  <a:pt x="4693920" y="2055289"/>
                </a:lnTo>
                <a:lnTo>
                  <a:pt x="4754880" y="2081981"/>
                </a:lnTo>
                <a:lnTo>
                  <a:pt x="4815839" y="2108673"/>
                </a:lnTo>
                <a:lnTo>
                  <a:pt x="4876800" y="2135365"/>
                </a:lnTo>
                <a:lnTo>
                  <a:pt x="4937760" y="2162057"/>
                </a:lnTo>
                <a:lnTo>
                  <a:pt x="4998720" y="2188749"/>
                </a:lnTo>
                <a:lnTo>
                  <a:pt x="5059680" y="2215441"/>
                </a:lnTo>
                <a:lnTo>
                  <a:pt x="5120640" y="2242133"/>
                </a:lnTo>
                <a:lnTo>
                  <a:pt x="5181600" y="2268825"/>
                </a:lnTo>
                <a:lnTo>
                  <a:pt x="5242560" y="2295517"/>
                </a:lnTo>
                <a:lnTo>
                  <a:pt x="5303520" y="2322209"/>
                </a:lnTo>
                <a:lnTo>
                  <a:pt x="5364480" y="2348901"/>
                </a:lnTo>
                <a:lnTo>
                  <a:pt x="5425440" y="2375593"/>
                </a:lnTo>
                <a:lnTo>
                  <a:pt x="5486400" y="2402285"/>
                </a:lnTo>
                <a:lnTo>
                  <a:pt x="5547360" y="2428977"/>
                </a:lnTo>
                <a:lnTo>
                  <a:pt x="5608320" y="2455669"/>
                </a:lnTo>
                <a:lnTo>
                  <a:pt x="5669280" y="2482361"/>
                </a:lnTo>
                <a:lnTo>
                  <a:pt x="5730240" y="2509053"/>
                </a:lnTo>
                <a:lnTo>
                  <a:pt x="5791200" y="2535746"/>
                </a:lnTo>
                <a:lnTo>
                  <a:pt x="5852159" y="2562438"/>
                </a:lnTo>
                <a:lnTo>
                  <a:pt x="5913119" y="2589130"/>
                </a:lnTo>
                <a:lnTo>
                  <a:pt x="5974080" y="2615822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2-E24 ellipse 37" descr="sci-ppt:o037"/>
          <p:cNvSpPr/>
          <p:nvPr/>
        </p:nvSpPr>
        <p:spPr>
          <a:xfrm>
            <a:off x="4486268" y="349300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2-E24 text 38" descr="sci-ppt:o038"/>
          <p:cNvSpPr txBox="1"/>
          <p:nvPr/>
        </p:nvSpPr>
        <p:spPr>
          <a:xfrm>
            <a:off x="4650860" y="3108960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R = 26.7 µm: p = 1 bar</a:t>
            </a:r>
          </a:p>
        </p:txBody>
      </p:sp>
      <p:sp>
        <p:nvSpPr>
          <p:cNvPr id="41" name="C2-E24 text 39" descr="sci-ppt:o039"/>
          <p:cNvSpPr txBox="1"/>
          <p:nvPr/>
        </p:nvSpPr>
        <p:spPr>
          <a:xfrm>
            <a:off x="2703771" y="1837190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p ∝ m T / R³ for fixed m, T</a:t>
            </a:r>
          </a:p>
        </p:txBody>
      </p:sp>
      <p:sp>
        <p:nvSpPr>
          <p:cNvPr id="42" name="C2-E24 round_rect 40" descr="sci-ppt:o040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2-E24 text 41" descr="sci-ppt:o041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Pressure responds to three things</a:t>
            </a:r>
          </a:p>
        </p:txBody>
      </p:sp>
      <p:sp>
        <p:nvSpPr>
          <p:cNvPr id="44" name="C2-E24 text 42" descr="sci-ppt:o042"/>
          <p:cNvSpPr txBox="1"/>
          <p:nvPr/>
        </p:nvSpPr>
        <p:spPr>
          <a:xfrm>
            <a:off x="7726679" y="1828800"/>
            <a:ext cx="40233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pᵥ,s V_b = (mᵥ,s / Mₛ) Rᵤ T_b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p_b = Σ pᵥ,s</a:t>
            </a:r>
          </a:p>
        </p:txBody>
      </p:sp>
      <p:sp>
        <p:nvSpPr>
          <p:cNvPr id="45" name="C2-E24 text 43" descr="sci-ppt:o043"/>
          <p:cNvSpPr txBox="1"/>
          <p:nvPr/>
        </p:nvSpPr>
        <p:spPr>
          <a:xfrm>
            <a:off x="7927848" y="2606040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species mass mᵥ,s (evaporation raises p)</a:t>
            </a:r>
          </a:p>
        </p:txBody>
      </p:sp>
      <p:sp>
        <p:nvSpPr>
          <p:cNvPr id="46" name="C2-E24 ellipse 44" descr="sci-ppt:o044"/>
          <p:cNvSpPr/>
          <p:nvPr/>
        </p:nvSpPr>
        <p:spPr>
          <a:xfrm>
            <a:off x="7758683" y="2663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2-E24 text 45" descr="sci-ppt:o045"/>
          <p:cNvSpPr txBox="1"/>
          <p:nvPr/>
        </p:nvSpPr>
        <p:spPr>
          <a:xfrm>
            <a:off x="7927848" y="2891155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temperature T_b (heating raises p)</a:t>
            </a:r>
          </a:p>
        </p:txBody>
      </p:sp>
      <p:sp>
        <p:nvSpPr>
          <p:cNvPr id="48" name="C2-E24 ellipse 46" descr="sci-ppt:o046"/>
          <p:cNvSpPr/>
          <p:nvPr/>
        </p:nvSpPr>
        <p:spPr>
          <a:xfrm>
            <a:off x="7758683" y="29484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2-E24 text 47" descr="sci-ppt:o047"/>
          <p:cNvSpPr txBox="1"/>
          <p:nvPr/>
        </p:nvSpPr>
        <p:spPr>
          <a:xfrm>
            <a:off x="7927848" y="3176270"/>
            <a:ext cx="3822192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volume V_b (expansion lowers p)</a:t>
            </a:r>
          </a:p>
        </p:txBody>
      </p:sp>
      <p:sp>
        <p:nvSpPr>
          <p:cNvPr id="50" name="C2-E24 ellipse 48" descr="sci-ppt:o048"/>
          <p:cNvSpPr/>
          <p:nvPr/>
        </p:nvSpPr>
        <p:spPr>
          <a:xfrm>
            <a:off x="7758683" y="32335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2-E24 text 49" descr="sci-ppt:o049"/>
          <p:cNvSpPr txBox="1"/>
          <p:nvPr/>
        </p:nvSpPr>
        <p:spPr>
          <a:xfrm>
            <a:off x="7726679" y="3977639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This ideal-mixture control is a first model; 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real-mixture equation of state p = 𝒫(ρ_b, e_b, Y)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is the required refinement.</a:t>
            </a:r>
          </a:p>
        </p:txBody>
      </p:sp>
      <p:sp>
        <p:nvSpPr>
          <p:cNvPr id="52" name="C2-E24 text 50" descr="sci-ppt:o050"/>
          <p:cNvSpPr txBox="1"/>
          <p:nvPr/>
        </p:nvSpPr>
        <p:spPr>
          <a:xfrm>
            <a:off x="914400" y="5733288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Curve for the fixed PFP inventory of a 5 µm droplet (0.8535 ng) at 323 K. Expansion alone drops p by a factor 1000 for a tenfold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radius.</a:t>
            </a:r>
          </a:p>
        </p:txBody>
      </p:sp>
      <p:sp>
        <p:nvSpPr>
          <p:cNvPr id="53" name="C2-E2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Ideal-gas control of Eq. C2-E24 with M_PFC = 0.2880343 kg/mol.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