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7924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24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C2-E24 | Physical-variable diagram</a:t>
            </a:r>
          </a:p>
        </p:txBody>
      </p:sp>
      <p:sp>
        <p:nvSpPr>
          <p:cNvPr id="3" name="rect2" descr="sci-ppt:C2-E24-002"/>
          <p:cNvSpPr/>
          <p:nvPr/>
        </p:nvSpPr>
        <p:spPr>
          <a:xfrm>
            <a:off x="731520" y="1463040"/>
            <a:ext cx="3413760" cy="1158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3" descr="sci-ppt:C2-E24-003"/>
          <p:cNvSpPr txBox="1"/>
          <p:nvPr/>
        </p:nvSpPr>
        <p:spPr>
          <a:xfrm>
            <a:off x="853440" y="1584960"/>
            <a:ext cx="323088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Species masses m_v,s</a:t>
            </a:r>
          </a:p>
        </p:txBody>
      </p:sp>
      <p:cxnSp>
        <p:nvCxnSpPr>
          <p:cNvPr id="5" name="arrow4" descr="sci-ppt:C2-E24-004"/>
          <p:cNvCxnSpPr/>
          <p:nvPr/>
        </p:nvCxnSpPr>
        <p:spPr>
          <a:xfrm>
            <a:off x="2438400" y="2743200"/>
            <a:ext cx="3535680" cy="975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rect5" descr="sci-ppt:C2-E24-005"/>
          <p:cNvSpPr/>
          <p:nvPr/>
        </p:nvSpPr>
        <p:spPr>
          <a:xfrm>
            <a:off x="4511040" y="1463040"/>
            <a:ext cx="3413760" cy="1158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6" descr="sci-ppt:C2-E24-006"/>
          <p:cNvSpPr txBox="1"/>
          <p:nvPr/>
        </p:nvSpPr>
        <p:spPr>
          <a:xfrm>
            <a:off x="4632960" y="1584960"/>
            <a:ext cx="323088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Temperature T_b</a:t>
            </a:r>
          </a:p>
        </p:txBody>
      </p:sp>
      <p:cxnSp>
        <p:nvCxnSpPr>
          <p:cNvPr id="8" name="arrow7" descr="sci-ppt:C2-E24-007"/>
          <p:cNvCxnSpPr/>
          <p:nvPr/>
        </p:nvCxnSpPr>
        <p:spPr>
          <a:xfrm flipH="1">
            <a:off x="5974080" y="2743200"/>
            <a:ext cx="243840" cy="975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rect8" descr="sci-ppt:C2-E24-008"/>
          <p:cNvSpPr/>
          <p:nvPr/>
        </p:nvSpPr>
        <p:spPr>
          <a:xfrm>
            <a:off x="8290560" y="1463040"/>
            <a:ext cx="3413760" cy="1158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9" descr="sci-ppt:C2-E24-009"/>
          <p:cNvSpPr txBox="1"/>
          <p:nvPr/>
        </p:nvSpPr>
        <p:spPr>
          <a:xfrm>
            <a:off x="8412480" y="1584960"/>
            <a:ext cx="323088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Bubble volume V_b</a:t>
            </a:r>
          </a:p>
        </p:txBody>
      </p:sp>
      <p:cxnSp>
        <p:nvCxnSpPr>
          <p:cNvPr id="11" name="arrow10" descr="sci-ppt:C2-E24-010"/>
          <p:cNvCxnSpPr/>
          <p:nvPr/>
        </p:nvCxnSpPr>
        <p:spPr>
          <a:xfrm flipH="1">
            <a:off x="5974080" y="2743200"/>
            <a:ext cx="4023360" cy="975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rect11" descr="sci-ppt:C2-E24-011"/>
          <p:cNvSpPr/>
          <p:nvPr/>
        </p:nvSpPr>
        <p:spPr>
          <a:xfrm>
            <a:off x="3779520" y="3596640"/>
            <a:ext cx="4389120" cy="7924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12" descr="sci-ppt:C2-E24-012"/>
          <p:cNvSpPr txBox="1"/>
          <p:nvPr/>
        </p:nvSpPr>
        <p:spPr>
          <a:xfrm>
            <a:off x="3901440" y="3718560"/>
            <a:ext cx="420624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Mixture pressure p_b</a:t>
            </a:r>
          </a:p>
        </p:txBody>
      </p:sp>
      <p:sp>
        <p:nvSpPr>
          <p:cNvPr id="14" name="text13" descr="sci-ppt:C2-E24-013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m_v,s, M_s: species mole inventory</a:t>
            </a:r>
          </a:p>
        </p:txBody>
      </p:sp>
      <p:sp>
        <p:nvSpPr>
          <p:cNvPr id="15" name="text14" descr="sci-ppt:C2-E24-014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V_b: finite bubble volume</a:t>
            </a:r>
          </a:p>
        </p:txBody>
      </p:sp>
      <p:sp>
        <p:nvSpPr>
          <p:cNvPr id="16" name="text15" descr="sci-ppt:C2-E24-015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p_b: total mixture pressure</a:t>
            </a:r>
          </a:p>
        </p:txBody>
      </p:sp>
      <p:sp>
        <p:nvSpPr>
          <p:cNvPr id="17" name="text16" descr="sci-ppt:C2-E24-016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ρ_b, e_b, Y: real-mixture state</a:t>
            </a:r>
          </a:p>
        </p:txBody>
      </p:sp>
      <p:sp>
        <p:nvSpPr>
          <p:cNvPr id="18" name="text17" descr="sci-ppt:C2-E24-017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T_b: common temperature</a:t>
            </a:r>
          </a:p>
        </p:txBody>
      </p:sp>
      <p:sp>
        <p:nvSpPr>
          <p:cNvPr id="19" name="text18" descr="sci-ppt:C2-E24-018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p_v,s: component pressure</a:t>
            </a:r>
          </a:p>
        </p:txBody>
      </p:sp>
      <p:sp>
        <p:nvSpPr>
          <p:cNvPr id="20" name="text19" descr="sci-ppt:C2-E24-019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R_u: gas constant</a:t>
            </a:r>
          </a:p>
        </p:txBody>
      </p:sp>
      <p:sp>
        <p:nvSpPr>
          <p:cNvPr id="21" name="text20" descr="sci-ppt:C2-E24-020"/>
          <p:cNvSpPr txBox="1"/>
          <p:nvPr/>
        </p:nvSpPr>
        <p:spPr>
          <a:xfrm>
            <a:off x="61569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s = 1…N_s; P: EOS function</a:t>
            </a:r>
          </a:p>
        </p:txBody>
      </p:sp>
      <p:sp>
        <p:nvSpPr>
          <p:cNvPr id="22" name="text21" descr="sci-ppt:C2-E24-021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Permanent gas remains after condensable vapor is removed</a:t>
            </a:r>
          </a:p>
        </p:txBody>
      </p:sp>
      <p:sp>
        <p:nvSpPr>
          <p:cNvPr id="23" name="text22" descr="sci-ppt:C2-E24-022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Dense compression requires a calibrated EOS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