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1-E07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C1-E07 · Rayleigh–Plesset under the declared assumptions</a:t>
            </a:r>
          </a:p>
        </p:txBody>
      </p:sp>
      <p:cxnSp>
        <p:nvCxnSpPr>
          <p:cNvPr id="3" name="C1-E07 line 1" descr="sci-ppt:o001"/>
          <p:cNvCxnSpPr/>
          <p:nvPr/>
        </p:nvCxnSpPr>
        <p:spPr>
          <a:xfrm>
            <a:off x="868680" y="4937760"/>
            <a:ext cx="576072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1-E07 line 2" descr="sci-ppt:o002"/>
          <p:cNvCxnSpPr/>
          <p:nvPr/>
        </p:nvCxnSpPr>
        <p:spPr>
          <a:xfrm>
            <a:off x="868680" y="1371600"/>
            <a:ext cx="0" cy="356616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1-E07 line 3" descr="sci-ppt:o003"/>
          <p:cNvCxnSpPr/>
          <p:nvPr/>
        </p:nvCxnSpPr>
        <p:spPr>
          <a:xfrm>
            <a:off x="868680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1-E07 line 4" descr="sci-ppt:o004"/>
          <p:cNvCxnSpPr/>
          <p:nvPr/>
        </p:nvCxnSpPr>
        <p:spPr>
          <a:xfrm>
            <a:off x="868680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C1-E07 text 5" descr="sci-ppt:o005"/>
          <p:cNvSpPr txBox="1"/>
          <p:nvPr/>
        </p:nvSpPr>
        <p:spPr>
          <a:xfrm>
            <a:off x="411479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0.0</a:t>
            </a:r>
          </a:p>
        </p:txBody>
      </p:sp>
      <p:cxnSp>
        <p:nvCxnSpPr>
          <p:cNvPr id="8" name="C1-E07 line 6" descr="sci-ppt:o006"/>
          <p:cNvCxnSpPr/>
          <p:nvPr/>
        </p:nvCxnSpPr>
        <p:spPr>
          <a:xfrm>
            <a:off x="2788920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1-E07 line 7" descr="sci-ppt:o007"/>
          <p:cNvCxnSpPr/>
          <p:nvPr/>
        </p:nvCxnSpPr>
        <p:spPr>
          <a:xfrm>
            <a:off x="2788920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C1-E07 text 8" descr="sci-ppt:o008"/>
          <p:cNvSpPr txBox="1"/>
          <p:nvPr/>
        </p:nvSpPr>
        <p:spPr>
          <a:xfrm>
            <a:off x="2331720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</a:t>
            </a:r>
          </a:p>
        </p:txBody>
      </p:sp>
      <p:cxnSp>
        <p:nvCxnSpPr>
          <p:cNvPr id="11" name="C1-E07 line 9" descr="sci-ppt:o009"/>
          <p:cNvCxnSpPr/>
          <p:nvPr/>
        </p:nvCxnSpPr>
        <p:spPr>
          <a:xfrm>
            <a:off x="4709159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1-E07 line 10" descr="sci-ppt:o010"/>
          <p:cNvCxnSpPr/>
          <p:nvPr/>
        </p:nvCxnSpPr>
        <p:spPr>
          <a:xfrm>
            <a:off x="4709159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C1-E07 text 11" descr="sci-ppt:o011"/>
          <p:cNvSpPr txBox="1"/>
          <p:nvPr/>
        </p:nvSpPr>
        <p:spPr>
          <a:xfrm>
            <a:off x="4251959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1.0</a:t>
            </a:r>
          </a:p>
        </p:txBody>
      </p:sp>
      <p:cxnSp>
        <p:nvCxnSpPr>
          <p:cNvPr id="14" name="C1-E07 line 12" descr="sci-ppt:o012"/>
          <p:cNvCxnSpPr/>
          <p:nvPr/>
        </p:nvCxnSpPr>
        <p:spPr>
          <a:xfrm>
            <a:off x="6629400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1-E07 line 13" descr="sci-ppt:o013"/>
          <p:cNvCxnSpPr/>
          <p:nvPr/>
        </p:nvCxnSpPr>
        <p:spPr>
          <a:xfrm>
            <a:off x="6629400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C1-E07 text 14" descr="sci-ppt:o014"/>
          <p:cNvSpPr txBox="1"/>
          <p:nvPr/>
        </p:nvSpPr>
        <p:spPr>
          <a:xfrm>
            <a:off x="6172200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1.5</a:t>
            </a:r>
          </a:p>
        </p:txBody>
      </p:sp>
      <p:cxnSp>
        <p:nvCxnSpPr>
          <p:cNvPr id="17" name="C1-E07 line 15" descr="sci-ppt:o015"/>
          <p:cNvCxnSpPr/>
          <p:nvPr/>
        </p:nvCxnSpPr>
        <p:spPr>
          <a:xfrm>
            <a:off x="804671" y="4937760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1-E07 line 16" descr="sci-ppt:o016"/>
          <p:cNvCxnSpPr/>
          <p:nvPr/>
        </p:nvCxnSpPr>
        <p:spPr>
          <a:xfrm>
            <a:off x="804671" y="3823335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9" name="C1-E07 line 17" descr="sci-ppt:o017"/>
          <p:cNvCxnSpPr/>
          <p:nvPr/>
        </p:nvCxnSpPr>
        <p:spPr>
          <a:xfrm>
            <a:off x="868680" y="3823335"/>
            <a:ext cx="57607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0" name="C1-E07 text 18" descr="sci-ppt:o018"/>
          <p:cNvSpPr txBox="1"/>
          <p:nvPr/>
        </p:nvSpPr>
        <p:spPr>
          <a:xfrm>
            <a:off x="0" y="3741039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21" name="C1-E07 line 19" descr="sci-ppt:o019"/>
          <p:cNvCxnSpPr/>
          <p:nvPr/>
        </p:nvCxnSpPr>
        <p:spPr>
          <a:xfrm>
            <a:off x="804671" y="2708910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C1-E07 line 20" descr="sci-ppt:o020"/>
          <p:cNvCxnSpPr/>
          <p:nvPr/>
        </p:nvCxnSpPr>
        <p:spPr>
          <a:xfrm>
            <a:off x="868680" y="2708910"/>
            <a:ext cx="57607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3" name="C1-E07 text 21" descr="sci-ppt:o021"/>
          <p:cNvSpPr txBox="1"/>
          <p:nvPr/>
        </p:nvSpPr>
        <p:spPr>
          <a:xfrm>
            <a:off x="0" y="262661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24" name="C1-E07 line 22" descr="sci-ppt:o022"/>
          <p:cNvCxnSpPr/>
          <p:nvPr/>
        </p:nvCxnSpPr>
        <p:spPr>
          <a:xfrm>
            <a:off x="804671" y="1594485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C1-E07 line 23" descr="sci-ppt:o023"/>
          <p:cNvCxnSpPr/>
          <p:nvPr/>
        </p:nvCxnSpPr>
        <p:spPr>
          <a:xfrm>
            <a:off x="868680" y="1594485"/>
            <a:ext cx="57607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C1-E07 text 24" descr="sci-ppt:o024"/>
          <p:cNvSpPr txBox="1"/>
          <p:nvPr/>
        </p:nvSpPr>
        <p:spPr>
          <a:xfrm>
            <a:off x="0" y="1512189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3</a:t>
            </a:r>
          </a:p>
        </p:txBody>
      </p:sp>
      <p:sp>
        <p:nvSpPr>
          <p:cNvPr id="27" name="C1-E07 text 25" descr="sci-ppt:o025"/>
          <p:cNvSpPr txBox="1"/>
          <p:nvPr/>
        </p:nvSpPr>
        <p:spPr>
          <a:xfrm>
            <a:off x="868680" y="5221224"/>
            <a:ext cx="57607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t  (µs)</a:t>
            </a:r>
          </a:p>
        </p:txBody>
      </p:sp>
      <p:sp>
        <p:nvSpPr>
          <p:cNvPr id="28" name="C1-E07 text 26" descr="sci-ppt:o026"/>
          <p:cNvSpPr txBox="1"/>
          <p:nvPr/>
        </p:nvSpPr>
        <p:spPr>
          <a:xfrm>
            <a:off x="320040" y="1024128"/>
            <a:ext cx="57607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 / R₀</a:t>
            </a:r>
          </a:p>
        </p:txBody>
      </p:sp>
      <p:sp>
        <p:nvSpPr>
          <p:cNvPr id="29" name="C1-E07 polygon 27" descr="sci-ppt:o027"/>
          <p:cNvSpPr/>
          <p:nvPr/>
        </p:nvSpPr>
        <p:spPr>
          <a:xfrm>
            <a:off x="868680" y="2209827"/>
            <a:ext cx="5760720" cy="1613508"/>
          </a:xfrm>
          <a:custGeom>
            <a:avLst/>
            <a:gdLst/>
            <a:ahLst/>
            <a:cxnLst/>
            <a:rect l="l" t="t" r="r" b="b"/>
            <a:pathLst>
              <a:path w="5760720" h="1613508">
                <a:moveTo>
                  <a:pt x="0" y="1613508"/>
                </a:moveTo>
                <a:lnTo>
                  <a:pt x="40338" y="1611376"/>
                </a:lnTo>
                <a:lnTo>
                  <a:pt x="80676" y="1605056"/>
                </a:lnTo>
                <a:lnTo>
                  <a:pt x="121015" y="1594758"/>
                </a:lnTo>
                <a:lnTo>
                  <a:pt x="161353" y="1580800"/>
                </a:lnTo>
                <a:lnTo>
                  <a:pt x="201692" y="1563578"/>
                </a:lnTo>
                <a:lnTo>
                  <a:pt x="242030" y="1543528"/>
                </a:lnTo>
                <a:lnTo>
                  <a:pt x="282369" y="1521095"/>
                </a:lnTo>
                <a:lnTo>
                  <a:pt x="322707" y="1496708"/>
                </a:lnTo>
                <a:lnTo>
                  <a:pt x="363046" y="1470767"/>
                </a:lnTo>
                <a:lnTo>
                  <a:pt x="403384" y="1443626"/>
                </a:lnTo>
                <a:lnTo>
                  <a:pt x="443723" y="1415595"/>
                </a:lnTo>
                <a:lnTo>
                  <a:pt x="484061" y="1386940"/>
                </a:lnTo>
                <a:lnTo>
                  <a:pt x="524400" y="1357882"/>
                </a:lnTo>
                <a:lnTo>
                  <a:pt x="564738" y="1328605"/>
                </a:lnTo>
                <a:lnTo>
                  <a:pt x="605077" y="1299261"/>
                </a:lnTo>
                <a:lnTo>
                  <a:pt x="645415" y="1269972"/>
                </a:lnTo>
                <a:lnTo>
                  <a:pt x="685754" y="1240836"/>
                </a:lnTo>
                <a:lnTo>
                  <a:pt x="726092" y="1211932"/>
                </a:lnTo>
                <a:lnTo>
                  <a:pt x="766431" y="1183323"/>
                </a:lnTo>
                <a:lnTo>
                  <a:pt x="806769" y="1155055"/>
                </a:lnTo>
                <a:lnTo>
                  <a:pt x="847108" y="1127167"/>
                </a:lnTo>
                <a:lnTo>
                  <a:pt x="887446" y="1099687"/>
                </a:lnTo>
                <a:lnTo>
                  <a:pt x="927785" y="1072635"/>
                </a:lnTo>
                <a:lnTo>
                  <a:pt x="968123" y="1046028"/>
                </a:lnTo>
                <a:lnTo>
                  <a:pt x="1008462" y="1019874"/>
                </a:lnTo>
                <a:lnTo>
                  <a:pt x="1048800" y="994180"/>
                </a:lnTo>
                <a:lnTo>
                  <a:pt x="1089139" y="968949"/>
                </a:lnTo>
                <a:lnTo>
                  <a:pt x="1129477" y="944182"/>
                </a:lnTo>
                <a:lnTo>
                  <a:pt x="1169816" y="919878"/>
                </a:lnTo>
                <a:lnTo>
                  <a:pt x="1210154" y="896034"/>
                </a:lnTo>
                <a:lnTo>
                  <a:pt x="1250493" y="872645"/>
                </a:lnTo>
                <a:lnTo>
                  <a:pt x="1290831" y="849708"/>
                </a:lnTo>
                <a:lnTo>
                  <a:pt x="1331170" y="827216"/>
                </a:lnTo>
                <a:lnTo>
                  <a:pt x="1371508" y="805162"/>
                </a:lnTo>
                <a:lnTo>
                  <a:pt x="1411847" y="783541"/>
                </a:lnTo>
                <a:lnTo>
                  <a:pt x="1452185" y="762345"/>
                </a:lnTo>
                <a:lnTo>
                  <a:pt x="1492523" y="741567"/>
                </a:lnTo>
                <a:lnTo>
                  <a:pt x="1532862" y="721201"/>
                </a:lnTo>
                <a:lnTo>
                  <a:pt x="1573200" y="701238"/>
                </a:lnTo>
                <a:lnTo>
                  <a:pt x="1613539" y="681672"/>
                </a:lnTo>
                <a:lnTo>
                  <a:pt x="1653877" y="662495"/>
                </a:lnTo>
                <a:lnTo>
                  <a:pt x="1694216" y="643701"/>
                </a:lnTo>
                <a:lnTo>
                  <a:pt x="1734554" y="625282"/>
                </a:lnTo>
                <a:lnTo>
                  <a:pt x="1774893" y="607232"/>
                </a:lnTo>
                <a:lnTo>
                  <a:pt x="1815231" y="589543"/>
                </a:lnTo>
                <a:lnTo>
                  <a:pt x="1855570" y="572210"/>
                </a:lnTo>
                <a:lnTo>
                  <a:pt x="1895908" y="555225"/>
                </a:lnTo>
                <a:lnTo>
                  <a:pt x="1936247" y="538583"/>
                </a:lnTo>
                <a:lnTo>
                  <a:pt x="1976585" y="522278"/>
                </a:lnTo>
                <a:lnTo>
                  <a:pt x="2016924" y="506304"/>
                </a:lnTo>
                <a:lnTo>
                  <a:pt x="2057262" y="490654"/>
                </a:lnTo>
                <a:lnTo>
                  <a:pt x="2097601" y="475324"/>
                </a:lnTo>
                <a:lnTo>
                  <a:pt x="2137939" y="460309"/>
                </a:lnTo>
                <a:lnTo>
                  <a:pt x="2178278" y="445602"/>
                </a:lnTo>
                <a:lnTo>
                  <a:pt x="2218616" y="431199"/>
                </a:lnTo>
                <a:lnTo>
                  <a:pt x="2258955" y="417095"/>
                </a:lnTo>
                <a:lnTo>
                  <a:pt x="2299293" y="403285"/>
                </a:lnTo>
                <a:lnTo>
                  <a:pt x="2339632" y="389765"/>
                </a:lnTo>
                <a:lnTo>
                  <a:pt x="2379970" y="376530"/>
                </a:lnTo>
                <a:lnTo>
                  <a:pt x="2420309" y="363576"/>
                </a:lnTo>
                <a:lnTo>
                  <a:pt x="2460647" y="350900"/>
                </a:lnTo>
                <a:lnTo>
                  <a:pt x="2500986" y="338496"/>
                </a:lnTo>
                <a:lnTo>
                  <a:pt x="2541324" y="326361"/>
                </a:lnTo>
                <a:lnTo>
                  <a:pt x="2581663" y="314491"/>
                </a:lnTo>
                <a:lnTo>
                  <a:pt x="2622001" y="302883"/>
                </a:lnTo>
                <a:lnTo>
                  <a:pt x="2662340" y="291533"/>
                </a:lnTo>
                <a:lnTo>
                  <a:pt x="2702678" y="280438"/>
                </a:lnTo>
                <a:lnTo>
                  <a:pt x="2743017" y="269595"/>
                </a:lnTo>
                <a:lnTo>
                  <a:pt x="2783355" y="259000"/>
                </a:lnTo>
                <a:lnTo>
                  <a:pt x="2823694" y="248651"/>
                </a:lnTo>
                <a:lnTo>
                  <a:pt x="2864032" y="238544"/>
                </a:lnTo>
                <a:lnTo>
                  <a:pt x="2904371" y="228676"/>
                </a:lnTo>
                <a:lnTo>
                  <a:pt x="2944709" y="219046"/>
                </a:lnTo>
                <a:lnTo>
                  <a:pt x="2985047" y="209650"/>
                </a:lnTo>
                <a:lnTo>
                  <a:pt x="3025386" y="200485"/>
                </a:lnTo>
                <a:lnTo>
                  <a:pt x="3065724" y="191550"/>
                </a:lnTo>
                <a:lnTo>
                  <a:pt x="3106063" y="182841"/>
                </a:lnTo>
                <a:lnTo>
                  <a:pt x="3146401" y="174357"/>
                </a:lnTo>
                <a:lnTo>
                  <a:pt x="3186740" y="166096"/>
                </a:lnTo>
                <a:lnTo>
                  <a:pt x="3227078" y="158055"/>
                </a:lnTo>
                <a:lnTo>
                  <a:pt x="3267417" y="150231"/>
                </a:lnTo>
                <a:lnTo>
                  <a:pt x="3307755" y="142625"/>
                </a:lnTo>
                <a:lnTo>
                  <a:pt x="3348094" y="135232"/>
                </a:lnTo>
                <a:lnTo>
                  <a:pt x="3388432" y="128051"/>
                </a:lnTo>
                <a:lnTo>
                  <a:pt x="3428771" y="121082"/>
                </a:lnTo>
                <a:lnTo>
                  <a:pt x="3469109" y="114321"/>
                </a:lnTo>
                <a:lnTo>
                  <a:pt x="3509448" y="107767"/>
                </a:lnTo>
                <a:lnTo>
                  <a:pt x="3549786" y="101419"/>
                </a:lnTo>
                <a:lnTo>
                  <a:pt x="3590125" y="95275"/>
                </a:lnTo>
                <a:lnTo>
                  <a:pt x="3630463" y="89334"/>
                </a:lnTo>
                <a:lnTo>
                  <a:pt x="3670802" y="83594"/>
                </a:lnTo>
                <a:lnTo>
                  <a:pt x="3711140" y="78054"/>
                </a:lnTo>
                <a:lnTo>
                  <a:pt x="3751479" y="72713"/>
                </a:lnTo>
                <a:lnTo>
                  <a:pt x="3791817" y="67569"/>
                </a:lnTo>
                <a:lnTo>
                  <a:pt x="3832156" y="62621"/>
                </a:lnTo>
                <a:lnTo>
                  <a:pt x="3872494" y="57868"/>
                </a:lnTo>
                <a:lnTo>
                  <a:pt x="3912833" y="53309"/>
                </a:lnTo>
                <a:lnTo>
                  <a:pt x="3953171" y="48943"/>
                </a:lnTo>
                <a:lnTo>
                  <a:pt x="3993510" y="44768"/>
                </a:lnTo>
                <a:lnTo>
                  <a:pt x="4033848" y="40785"/>
                </a:lnTo>
                <a:lnTo>
                  <a:pt x="4074187" y="36991"/>
                </a:lnTo>
                <a:lnTo>
                  <a:pt x="4114525" y="33387"/>
                </a:lnTo>
                <a:lnTo>
                  <a:pt x="4154864" y="29971"/>
                </a:lnTo>
                <a:lnTo>
                  <a:pt x="4195202" y="26742"/>
                </a:lnTo>
                <a:lnTo>
                  <a:pt x="4235541" y="23700"/>
                </a:lnTo>
                <a:lnTo>
                  <a:pt x="4275879" y="20845"/>
                </a:lnTo>
                <a:lnTo>
                  <a:pt x="4316218" y="18175"/>
                </a:lnTo>
                <a:lnTo>
                  <a:pt x="4356556" y="15690"/>
                </a:lnTo>
                <a:lnTo>
                  <a:pt x="4396894" y="13389"/>
                </a:lnTo>
                <a:lnTo>
                  <a:pt x="4437233" y="11271"/>
                </a:lnTo>
                <a:lnTo>
                  <a:pt x="4477571" y="9337"/>
                </a:lnTo>
                <a:lnTo>
                  <a:pt x="4517910" y="7586"/>
                </a:lnTo>
                <a:lnTo>
                  <a:pt x="4558248" y="6018"/>
                </a:lnTo>
                <a:lnTo>
                  <a:pt x="4598587" y="4631"/>
                </a:lnTo>
                <a:lnTo>
                  <a:pt x="4638925" y="3426"/>
                </a:lnTo>
                <a:lnTo>
                  <a:pt x="4679264" y="2403"/>
                </a:lnTo>
                <a:lnTo>
                  <a:pt x="4719602" y="1561"/>
                </a:lnTo>
                <a:lnTo>
                  <a:pt x="4759941" y="899"/>
                </a:lnTo>
                <a:lnTo>
                  <a:pt x="4800279" y="419"/>
                </a:lnTo>
                <a:lnTo>
                  <a:pt x="4840618" y="119"/>
                </a:lnTo>
                <a:lnTo>
                  <a:pt x="4880956" y="0"/>
                </a:lnTo>
                <a:lnTo>
                  <a:pt x="4921295" y="61"/>
                </a:lnTo>
                <a:lnTo>
                  <a:pt x="4961633" y="302"/>
                </a:lnTo>
                <a:lnTo>
                  <a:pt x="5001972" y="724"/>
                </a:lnTo>
                <a:lnTo>
                  <a:pt x="5042310" y="1326"/>
                </a:lnTo>
                <a:lnTo>
                  <a:pt x="5082649" y="2109"/>
                </a:lnTo>
                <a:lnTo>
                  <a:pt x="5122987" y="3072"/>
                </a:lnTo>
                <a:lnTo>
                  <a:pt x="5163326" y="4216"/>
                </a:lnTo>
                <a:lnTo>
                  <a:pt x="5203664" y="5541"/>
                </a:lnTo>
                <a:lnTo>
                  <a:pt x="5244003" y="7048"/>
                </a:lnTo>
                <a:lnTo>
                  <a:pt x="5284341" y="8735"/>
                </a:lnTo>
                <a:lnTo>
                  <a:pt x="5324680" y="10604"/>
                </a:lnTo>
                <a:lnTo>
                  <a:pt x="5365018" y="12656"/>
                </a:lnTo>
                <a:lnTo>
                  <a:pt x="5405357" y="14889"/>
                </a:lnTo>
                <a:lnTo>
                  <a:pt x="5445695" y="17306"/>
                </a:lnTo>
                <a:lnTo>
                  <a:pt x="5486034" y="19905"/>
                </a:lnTo>
                <a:lnTo>
                  <a:pt x="5526372" y="22689"/>
                </a:lnTo>
                <a:lnTo>
                  <a:pt x="5566711" y="25656"/>
                </a:lnTo>
                <a:lnTo>
                  <a:pt x="5607049" y="28809"/>
                </a:lnTo>
                <a:lnTo>
                  <a:pt x="5647388" y="32146"/>
                </a:lnTo>
                <a:lnTo>
                  <a:pt x="5687726" y="35670"/>
                </a:lnTo>
                <a:lnTo>
                  <a:pt x="5728065" y="39381"/>
                </a:lnTo>
                <a:lnTo>
                  <a:pt x="5760720" y="42521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C1-E07 polygon 28" descr="sci-ppt:o028"/>
          <p:cNvSpPr/>
          <p:nvPr/>
        </p:nvSpPr>
        <p:spPr>
          <a:xfrm>
            <a:off x="868680" y="2023136"/>
            <a:ext cx="5760720" cy="1800199"/>
          </a:xfrm>
          <a:custGeom>
            <a:avLst/>
            <a:gdLst/>
            <a:ahLst/>
            <a:cxnLst/>
            <a:rect l="l" t="t" r="r" b="b"/>
            <a:pathLst>
              <a:path w="5760720" h="1800199">
                <a:moveTo>
                  <a:pt x="0" y="1800199"/>
                </a:moveTo>
                <a:lnTo>
                  <a:pt x="40338" y="1797995"/>
                </a:lnTo>
                <a:lnTo>
                  <a:pt x="80676" y="1791459"/>
                </a:lnTo>
                <a:lnTo>
                  <a:pt x="121015" y="1780805"/>
                </a:lnTo>
                <a:lnTo>
                  <a:pt x="161353" y="1766361"/>
                </a:lnTo>
                <a:lnTo>
                  <a:pt x="201692" y="1748539"/>
                </a:lnTo>
                <a:lnTo>
                  <a:pt x="242030" y="1727790"/>
                </a:lnTo>
                <a:lnTo>
                  <a:pt x="282369" y="1704578"/>
                </a:lnTo>
                <a:lnTo>
                  <a:pt x="322707" y="1679347"/>
                </a:lnTo>
                <a:lnTo>
                  <a:pt x="363046" y="1652511"/>
                </a:lnTo>
                <a:lnTo>
                  <a:pt x="403384" y="1624435"/>
                </a:lnTo>
                <a:lnTo>
                  <a:pt x="443723" y="1595440"/>
                </a:lnTo>
                <a:lnTo>
                  <a:pt x="484061" y="1565796"/>
                </a:lnTo>
                <a:lnTo>
                  <a:pt x="524400" y="1535731"/>
                </a:lnTo>
                <a:lnTo>
                  <a:pt x="564738" y="1505434"/>
                </a:lnTo>
                <a:lnTo>
                  <a:pt x="605077" y="1475058"/>
                </a:lnTo>
                <a:lnTo>
                  <a:pt x="645415" y="1444728"/>
                </a:lnTo>
                <a:lnTo>
                  <a:pt x="685754" y="1414544"/>
                </a:lnTo>
                <a:lnTo>
                  <a:pt x="726092" y="1384585"/>
                </a:lnTo>
                <a:lnTo>
                  <a:pt x="766431" y="1354913"/>
                </a:lnTo>
                <a:lnTo>
                  <a:pt x="806769" y="1325578"/>
                </a:lnTo>
                <a:lnTo>
                  <a:pt x="847108" y="1296616"/>
                </a:lnTo>
                <a:lnTo>
                  <a:pt x="887446" y="1268057"/>
                </a:lnTo>
                <a:lnTo>
                  <a:pt x="927785" y="1239920"/>
                </a:lnTo>
                <a:lnTo>
                  <a:pt x="968123" y="1212222"/>
                </a:lnTo>
                <a:lnTo>
                  <a:pt x="1008462" y="1184971"/>
                </a:lnTo>
                <a:lnTo>
                  <a:pt x="1048800" y="1158175"/>
                </a:lnTo>
                <a:lnTo>
                  <a:pt x="1089139" y="1131835"/>
                </a:lnTo>
                <a:lnTo>
                  <a:pt x="1129477" y="1105953"/>
                </a:lnTo>
                <a:lnTo>
                  <a:pt x="1169816" y="1080528"/>
                </a:lnTo>
                <a:lnTo>
                  <a:pt x="1210154" y="1055556"/>
                </a:lnTo>
                <a:lnTo>
                  <a:pt x="1250493" y="1031032"/>
                </a:lnTo>
                <a:lnTo>
                  <a:pt x="1290831" y="1006953"/>
                </a:lnTo>
                <a:lnTo>
                  <a:pt x="1331170" y="983312"/>
                </a:lnTo>
                <a:lnTo>
                  <a:pt x="1371508" y="960103"/>
                </a:lnTo>
                <a:lnTo>
                  <a:pt x="1411847" y="937319"/>
                </a:lnTo>
                <a:lnTo>
                  <a:pt x="1452185" y="914953"/>
                </a:lnTo>
                <a:lnTo>
                  <a:pt x="1492523" y="892998"/>
                </a:lnTo>
                <a:lnTo>
                  <a:pt x="1532862" y="871446"/>
                </a:lnTo>
                <a:lnTo>
                  <a:pt x="1573200" y="850291"/>
                </a:lnTo>
                <a:lnTo>
                  <a:pt x="1613539" y="829524"/>
                </a:lnTo>
                <a:lnTo>
                  <a:pt x="1653877" y="809139"/>
                </a:lnTo>
                <a:lnTo>
                  <a:pt x="1694216" y="789128"/>
                </a:lnTo>
                <a:lnTo>
                  <a:pt x="1734554" y="769485"/>
                </a:lnTo>
                <a:lnTo>
                  <a:pt x="1774893" y="750203"/>
                </a:lnTo>
                <a:lnTo>
                  <a:pt x="1815231" y="731274"/>
                </a:lnTo>
                <a:lnTo>
                  <a:pt x="1855570" y="712692"/>
                </a:lnTo>
                <a:lnTo>
                  <a:pt x="1895908" y="694451"/>
                </a:lnTo>
                <a:lnTo>
                  <a:pt x="1936247" y="676544"/>
                </a:lnTo>
                <a:lnTo>
                  <a:pt x="1976585" y="658965"/>
                </a:lnTo>
                <a:lnTo>
                  <a:pt x="2016924" y="641708"/>
                </a:lnTo>
                <a:lnTo>
                  <a:pt x="2057262" y="624768"/>
                </a:lnTo>
                <a:lnTo>
                  <a:pt x="2097601" y="608139"/>
                </a:lnTo>
                <a:lnTo>
                  <a:pt x="2137939" y="591814"/>
                </a:lnTo>
                <a:lnTo>
                  <a:pt x="2178278" y="575790"/>
                </a:lnTo>
                <a:lnTo>
                  <a:pt x="2218616" y="560061"/>
                </a:lnTo>
                <a:lnTo>
                  <a:pt x="2258955" y="544622"/>
                </a:lnTo>
                <a:lnTo>
                  <a:pt x="2299293" y="529468"/>
                </a:lnTo>
                <a:lnTo>
                  <a:pt x="2339632" y="514595"/>
                </a:lnTo>
                <a:lnTo>
                  <a:pt x="2379970" y="499998"/>
                </a:lnTo>
                <a:lnTo>
                  <a:pt x="2420309" y="485672"/>
                </a:lnTo>
                <a:lnTo>
                  <a:pt x="2460647" y="471614"/>
                </a:lnTo>
                <a:lnTo>
                  <a:pt x="2500986" y="457819"/>
                </a:lnTo>
                <a:lnTo>
                  <a:pt x="2541324" y="444284"/>
                </a:lnTo>
                <a:lnTo>
                  <a:pt x="2581663" y="431004"/>
                </a:lnTo>
                <a:lnTo>
                  <a:pt x="2622001" y="417976"/>
                </a:lnTo>
                <a:lnTo>
                  <a:pt x="2662340" y="405196"/>
                </a:lnTo>
                <a:lnTo>
                  <a:pt x="2702678" y="392661"/>
                </a:lnTo>
                <a:lnTo>
                  <a:pt x="2743017" y="380368"/>
                </a:lnTo>
                <a:lnTo>
                  <a:pt x="2783355" y="368313"/>
                </a:lnTo>
                <a:lnTo>
                  <a:pt x="2823694" y="356493"/>
                </a:lnTo>
                <a:lnTo>
                  <a:pt x="2864032" y="344905"/>
                </a:lnTo>
                <a:lnTo>
                  <a:pt x="2904371" y="333546"/>
                </a:lnTo>
                <a:lnTo>
                  <a:pt x="2944709" y="322414"/>
                </a:lnTo>
                <a:lnTo>
                  <a:pt x="2985047" y="311505"/>
                </a:lnTo>
                <a:lnTo>
                  <a:pt x="3025386" y="300816"/>
                </a:lnTo>
                <a:lnTo>
                  <a:pt x="3065724" y="290346"/>
                </a:lnTo>
                <a:lnTo>
                  <a:pt x="3106063" y="280092"/>
                </a:lnTo>
                <a:lnTo>
                  <a:pt x="3146401" y="270051"/>
                </a:lnTo>
                <a:lnTo>
                  <a:pt x="3186740" y="260221"/>
                </a:lnTo>
                <a:lnTo>
                  <a:pt x="3227078" y="250600"/>
                </a:lnTo>
                <a:lnTo>
                  <a:pt x="3267417" y="241186"/>
                </a:lnTo>
                <a:lnTo>
                  <a:pt x="3307755" y="231976"/>
                </a:lnTo>
                <a:lnTo>
                  <a:pt x="3348094" y="222968"/>
                </a:lnTo>
                <a:lnTo>
                  <a:pt x="3388432" y="214160"/>
                </a:lnTo>
                <a:lnTo>
                  <a:pt x="3428771" y="205551"/>
                </a:lnTo>
                <a:lnTo>
                  <a:pt x="3469109" y="197139"/>
                </a:lnTo>
                <a:lnTo>
                  <a:pt x="3509448" y="188921"/>
                </a:lnTo>
                <a:lnTo>
                  <a:pt x="3549786" y="180897"/>
                </a:lnTo>
                <a:lnTo>
                  <a:pt x="3590125" y="173064"/>
                </a:lnTo>
                <a:lnTo>
                  <a:pt x="3630463" y="165420"/>
                </a:lnTo>
                <a:lnTo>
                  <a:pt x="3670802" y="157965"/>
                </a:lnTo>
                <a:lnTo>
                  <a:pt x="3711140" y="150696"/>
                </a:lnTo>
                <a:lnTo>
                  <a:pt x="3751479" y="143613"/>
                </a:lnTo>
                <a:lnTo>
                  <a:pt x="3791817" y="136713"/>
                </a:lnTo>
                <a:lnTo>
                  <a:pt x="3832156" y="129996"/>
                </a:lnTo>
                <a:lnTo>
                  <a:pt x="3872494" y="123459"/>
                </a:lnTo>
                <a:lnTo>
                  <a:pt x="3912833" y="117103"/>
                </a:lnTo>
                <a:lnTo>
                  <a:pt x="3953171" y="110925"/>
                </a:lnTo>
                <a:lnTo>
                  <a:pt x="3993510" y="104924"/>
                </a:lnTo>
                <a:lnTo>
                  <a:pt x="4033848" y="99099"/>
                </a:lnTo>
                <a:lnTo>
                  <a:pt x="4074187" y="93450"/>
                </a:lnTo>
                <a:lnTo>
                  <a:pt x="4114525" y="87974"/>
                </a:lnTo>
                <a:lnTo>
                  <a:pt x="4154864" y="82672"/>
                </a:lnTo>
                <a:lnTo>
                  <a:pt x="4195202" y="77542"/>
                </a:lnTo>
                <a:lnTo>
                  <a:pt x="4235541" y="72582"/>
                </a:lnTo>
                <a:lnTo>
                  <a:pt x="4275879" y="67793"/>
                </a:lnTo>
                <a:lnTo>
                  <a:pt x="4316218" y="63173"/>
                </a:lnTo>
                <a:lnTo>
                  <a:pt x="4356556" y="58721"/>
                </a:lnTo>
                <a:lnTo>
                  <a:pt x="4396894" y="54437"/>
                </a:lnTo>
                <a:lnTo>
                  <a:pt x="4437233" y="50320"/>
                </a:lnTo>
                <a:lnTo>
                  <a:pt x="4477571" y="46369"/>
                </a:lnTo>
                <a:lnTo>
                  <a:pt x="4517910" y="42583"/>
                </a:lnTo>
                <a:lnTo>
                  <a:pt x="4558248" y="38962"/>
                </a:lnTo>
                <a:lnTo>
                  <a:pt x="4598587" y="35506"/>
                </a:lnTo>
                <a:lnTo>
                  <a:pt x="4638925" y="32212"/>
                </a:lnTo>
                <a:lnTo>
                  <a:pt x="4679264" y="29082"/>
                </a:lnTo>
                <a:lnTo>
                  <a:pt x="4719602" y="26114"/>
                </a:lnTo>
                <a:lnTo>
                  <a:pt x="4759941" y="23307"/>
                </a:lnTo>
                <a:lnTo>
                  <a:pt x="4800279" y="20662"/>
                </a:lnTo>
                <a:lnTo>
                  <a:pt x="4840618" y="18178"/>
                </a:lnTo>
                <a:lnTo>
                  <a:pt x="4880956" y="15855"/>
                </a:lnTo>
                <a:lnTo>
                  <a:pt x="4921295" y="13691"/>
                </a:lnTo>
                <a:lnTo>
                  <a:pt x="4961633" y="11687"/>
                </a:lnTo>
                <a:lnTo>
                  <a:pt x="5001972" y="9843"/>
                </a:lnTo>
                <a:lnTo>
                  <a:pt x="5042310" y="8157"/>
                </a:lnTo>
                <a:lnTo>
                  <a:pt x="5082649" y="6631"/>
                </a:lnTo>
                <a:lnTo>
                  <a:pt x="5122987" y="5262"/>
                </a:lnTo>
                <a:lnTo>
                  <a:pt x="5163326" y="4052"/>
                </a:lnTo>
                <a:lnTo>
                  <a:pt x="5203664" y="3001"/>
                </a:lnTo>
                <a:lnTo>
                  <a:pt x="5244003" y="2107"/>
                </a:lnTo>
                <a:lnTo>
                  <a:pt x="5284341" y="1370"/>
                </a:lnTo>
                <a:lnTo>
                  <a:pt x="5324680" y="792"/>
                </a:lnTo>
                <a:lnTo>
                  <a:pt x="5365018" y="370"/>
                </a:lnTo>
                <a:lnTo>
                  <a:pt x="5405357" y="107"/>
                </a:lnTo>
                <a:lnTo>
                  <a:pt x="5445695" y="0"/>
                </a:lnTo>
                <a:lnTo>
                  <a:pt x="5486034" y="51"/>
                </a:lnTo>
                <a:lnTo>
                  <a:pt x="5526372" y="260"/>
                </a:lnTo>
                <a:lnTo>
                  <a:pt x="5566711" y="626"/>
                </a:lnTo>
                <a:lnTo>
                  <a:pt x="5607049" y="1149"/>
                </a:lnTo>
                <a:lnTo>
                  <a:pt x="5647388" y="1830"/>
                </a:lnTo>
                <a:lnTo>
                  <a:pt x="5687726" y="2668"/>
                </a:lnTo>
                <a:lnTo>
                  <a:pt x="5728065" y="3665"/>
                </a:lnTo>
                <a:lnTo>
                  <a:pt x="5760720" y="4587"/>
                </a:lnTo>
              </a:path>
            </a:pathLst>
          </a:custGeom>
          <a:noFill/>
          <a:ln w="24130">
            <a:solidFill>
              <a:srgbClr val="B4C7D2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C1-E07 text 29" descr="sci-ppt:o029"/>
          <p:cNvSpPr txBox="1"/>
          <p:nvPr/>
        </p:nvSpPr>
        <p:spPr>
          <a:xfrm>
            <a:off x="1133856" y="1348168"/>
            <a:ext cx="36576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8EDBD4"/>
                </a:solidFill>
                <a:latin typeface="Arial"/>
              </a:rPr>
              <a:t>with surface tension and viscosity</a:t>
            </a:r>
          </a:p>
        </p:txBody>
      </p:sp>
      <p:sp>
        <p:nvSpPr>
          <p:cNvPr id="32" name="C1-E07 text 30" descr="sci-ppt:o030"/>
          <p:cNvSpPr txBox="1"/>
          <p:nvPr/>
        </p:nvSpPr>
        <p:spPr>
          <a:xfrm>
            <a:off x="1133856" y="1715928"/>
            <a:ext cx="36576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B4C7D2"/>
                </a:solidFill>
                <a:latin typeface="Arial"/>
              </a:rPr>
              <a:t>ideal: σ = μ = 0, same start</a:t>
            </a:r>
          </a:p>
        </p:txBody>
      </p:sp>
      <p:sp>
        <p:nvSpPr>
          <p:cNvPr id="33" name="C1-E07 round_rect 31" descr="sci-ppt:o031"/>
          <p:cNvSpPr/>
          <p:nvPr/>
        </p:nvSpPr>
        <p:spPr>
          <a:xfrm>
            <a:off x="6949440" y="1325880"/>
            <a:ext cx="4892040" cy="3749039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C1-E07 text 32" descr="sci-ppt:o032"/>
          <p:cNvSpPr txBox="1"/>
          <p:nvPr/>
        </p:nvSpPr>
        <p:spPr>
          <a:xfrm>
            <a:off x="7059168" y="1380744"/>
            <a:ext cx="4672583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Every term is a pressure</a:t>
            </a:r>
          </a:p>
        </p:txBody>
      </p:sp>
      <p:cxnSp>
        <p:nvCxnSpPr>
          <p:cNvPr id="35" name="C1-E07 line 33" descr="sci-ppt:o033"/>
          <p:cNvCxnSpPr/>
          <p:nvPr/>
        </p:nvCxnSpPr>
        <p:spPr>
          <a:xfrm>
            <a:off x="9509760" y="1828800"/>
            <a:ext cx="0" cy="2240280"/>
          </a:xfrm>
          <a:prstGeom prst="line">
            <a:avLst/>
          </a:prstGeom>
          <a:ln w="15240">
            <a:solidFill>
              <a:srgbClr val="B4C7D2"/>
            </a:solidFill>
          </a:ln>
          <a:effectLst/>
        </p:spPr>
      </p:cxnSp>
      <p:sp>
        <p:nvSpPr>
          <p:cNvPr id="36" name="C1-E07 text 34" descr="sci-ppt:o034"/>
          <p:cNvSpPr txBox="1"/>
          <p:nvPr/>
        </p:nvSpPr>
        <p:spPr>
          <a:xfrm>
            <a:off x="7086600" y="1892807"/>
            <a:ext cx="21031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8EDBD4"/>
                </a:solidFill>
                <a:latin typeface="Arial"/>
              </a:rPr>
              <a:t>ρ(RR̈ + 3Ṙ²/2)</a:t>
            </a:r>
          </a:p>
        </p:txBody>
      </p:sp>
      <p:sp>
        <p:nvSpPr>
          <p:cNvPr id="37" name="C1-E07 rect 35" descr="sci-ppt:o035"/>
          <p:cNvSpPr/>
          <p:nvPr/>
        </p:nvSpPr>
        <p:spPr>
          <a:xfrm>
            <a:off x="9509760" y="1920239"/>
            <a:ext cx="1160842" cy="292608"/>
          </a:xfrm>
          <a:prstGeom prst="rect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C1-E07 text 36" descr="sci-ppt:o036"/>
          <p:cNvSpPr txBox="1"/>
          <p:nvPr/>
        </p:nvSpPr>
        <p:spPr>
          <a:xfrm>
            <a:off x="10725466" y="1920239"/>
            <a:ext cx="137160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+158 kPa</a:t>
            </a:r>
          </a:p>
        </p:txBody>
      </p:sp>
      <p:sp>
        <p:nvSpPr>
          <p:cNvPr id="39" name="C1-E07 text 37" descr="sci-ppt:o037"/>
          <p:cNvSpPr txBox="1"/>
          <p:nvPr/>
        </p:nvSpPr>
        <p:spPr>
          <a:xfrm>
            <a:off x="7086600" y="2441448"/>
            <a:ext cx="21031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B880"/>
                </a:solidFill>
                <a:latin typeface="Arial"/>
              </a:rPr>
              <a:t>p_b − p∞</a:t>
            </a:r>
          </a:p>
        </p:txBody>
      </p:sp>
      <p:sp>
        <p:nvSpPr>
          <p:cNvPr id="40" name="C1-E07 rect 38" descr="sci-ppt:o038"/>
          <p:cNvSpPr/>
          <p:nvPr/>
        </p:nvSpPr>
        <p:spPr>
          <a:xfrm>
            <a:off x="9509760" y="2468879"/>
            <a:ext cx="1371600" cy="292608"/>
          </a:xfrm>
          <a:prstGeom prst="rect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C1-E07 text 39" descr="sci-ppt:o039"/>
          <p:cNvSpPr txBox="1"/>
          <p:nvPr/>
        </p:nvSpPr>
        <p:spPr>
          <a:xfrm>
            <a:off x="10936224" y="2468879"/>
            <a:ext cx="137160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+187 kPa</a:t>
            </a:r>
          </a:p>
        </p:txBody>
      </p:sp>
      <p:sp>
        <p:nvSpPr>
          <p:cNvPr id="42" name="C1-E07 text 40" descr="sci-ppt:o040"/>
          <p:cNvSpPr txBox="1"/>
          <p:nvPr/>
        </p:nvSpPr>
        <p:spPr>
          <a:xfrm>
            <a:off x="7086600" y="2990088"/>
            <a:ext cx="21031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8BA0"/>
                </a:solidFill>
                <a:latin typeface="Arial"/>
              </a:rPr>
              <a:t>−2σ/R</a:t>
            </a:r>
          </a:p>
        </p:txBody>
      </p:sp>
      <p:sp>
        <p:nvSpPr>
          <p:cNvPr id="43" name="C1-E07 rect 41" descr="sci-ppt:o041"/>
          <p:cNvSpPr/>
          <p:nvPr/>
        </p:nvSpPr>
        <p:spPr>
          <a:xfrm>
            <a:off x="9352853" y="3017520"/>
            <a:ext cx="156906" cy="292608"/>
          </a:xfrm>
          <a:prstGeom prst="rect">
            <a:avLst/>
          </a:prstGeom>
          <a:solidFill>
            <a:srgbClr val="F28BA0"/>
          </a:solidFill>
          <a:ln w="1270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C1-E07 text 42" descr="sci-ppt:o042"/>
          <p:cNvSpPr txBox="1"/>
          <p:nvPr/>
        </p:nvSpPr>
        <p:spPr>
          <a:xfrm>
            <a:off x="9582912" y="3017520"/>
            <a:ext cx="137160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-21 kPa</a:t>
            </a:r>
          </a:p>
        </p:txBody>
      </p:sp>
      <p:sp>
        <p:nvSpPr>
          <p:cNvPr id="45" name="C1-E07 text 43" descr="sci-ppt:o043"/>
          <p:cNvSpPr txBox="1"/>
          <p:nvPr/>
        </p:nvSpPr>
        <p:spPr>
          <a:xfrm>
            <a:off x="7086600" y="3538727"/>
            <a:ext cx="21031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FC8F8"/>
                </a:solidFill>
                <a:latin typeface="Arial"/>
              </a:rPr>
              <a:t>−4μṘ/R</a:t>
            </a:r>
          </a:p>
        </p:txBody>
      </p:sp>
      <p:sp>
        <p:nvSpPr>
          <p:cNvPr id="46" name="C1-E07 rect 44" descr="sci-ppt:o044"/>
          <p:cNvSpPr/>
          <p:nvPr/>
        </p:nvSpPr>
        <p:spPr>
          <a:xfrm>
            <a:off x="9455885" y="3566159"/>
            <a:ext cx="53874" cy="292608"/>
          </a:xfrm>
          <a:prstGeom prst="rect">
            <a:avLst/>
          </a:prstGeom>
          <a:solidFill>
            <a:srgbClr val="7FC8F8"/>
          </a:solidFill>
          <a:ln w="12700">
            <a:solidFill>
              <a:srgbClr val="7FC8F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C1-E07 text 45" descr="sci-ppt:o045"/>
          <p:cNvSpPr txBox="1"/>
          <p:nvPr/>
        </p:nvSpPr>
        <p:spPr>
          <a:xfrm>
            <a:off x="9582912" y="3566159"/>
            <a:ext cx="137160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-7 kPa</a:t>
            </a:r>
          </a:p>
        </p:txBody>
      </p:sp>
      <p:sp>
        <p:nvSpPr>
          <p:cNvPr id="48" name="C1-E07 text 46" descr="sci-ppt:o046"/>
          <p:cNvSpPr txBox="1"/>
          <p:nvPr/>
        </p:nvSpPr>
        <p:spPr>
          <a:xfrm>
            <a:off x="7086600" y="4160520"/>
            <a:ext cx="4572000" cy="38658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t = 0.18 µs.  Left side from finite-difference R̈ of the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solution; right side from the pressures.  Mismatch 0.0 %.</a:t>
            </a:r>
          </a:p>
        </p:txBody>
      </p:sp>
      <p:sp>
        <p:nvSpPr>
          <p:cNvPr id="49" name="C1-E07 text 47" descr="sci-ppt:o047"/>
          <p:cNvSpPr txBox="1"/>
          <p:nvPr/>
        </p:nvSpPr>
        <p:spPr>
          <a:xfrm>
            <a:off x="868680" y="5669280"/>
            <a:ext cx="10972800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One scalar equation for R(t): liquid inertia on the left, driving and resisting pressures on the right.</a:t>
            </a:r>
          </a:p>
        </p:txBody>
      </p:sp>
      <p:sp>
        <p:nvSpPr>
          <p:cNvPr id="50" name="C1-E07 text 48" descr="sci-ppt:o048"/>
          <p:cNvSpPr txBox="1"/>
          <p:nvPr/>
        </p:nvSpPr>
        <p:spPr>
          <a:xfrm>
            <a:off x="868680" y="6035040"/>
            <a:ext cx="1097280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Gas pressure here is polytropic, p_b = p_g0 (R₀/R)^{3γ}, γ = 1.4, p_g0 = 1 MPa: an illustration of the closure still to be supplied.</a:t>
            </a:r>
          </a:p>
        </p:txBody>
      </p:sp>
      <p:sp>
        <p:nvSpPr>
          <p:cNvPr id="51" name="C1-E07 text 49" descr="sci-ppt:o049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Numerical integration of Eq. C1-E07; R₀ = 5 µm, ρ = 1000 kg/m³, p∞ = 101.3 kPa, σ = 0.072 N/m, μ = 1 mPa·s.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