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12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C1-E12 · Independent dissipation and conservation check</a:t>
            </a:r>
          </a:p>
        </p:txBody>
      </p:sp>
      <p:cxnSp>
        <p:nvCxnSpPr>
          <p:cNvPr id="3" name="C1-E12 line 1" descr="sci-ppt:o001"/>
          <p:cNvCxnSpPr/>
          <p:nvPr/>
        </p:nvCxnSpPr>
        <p:spPr>
          <a:xfrm>
            <a:off x="914400" y="4800600"/>
            <a:ext cx="475488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1-E12 line 2" descr="sci-ppt:o002"/>
          <p:cNvCxnSpPr/>
          <p:nvPr/>
        </p:nvCxnSpPr>
        <p:spPr>
          <a:xfrm>
            <a:off x="914400" y="1417320"/>
            <a:ext cx="0" cy="338328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1-E12 line 3" descr="sci-ppt:o003"/>
          <p:cNvCxnSpPr/>
          <p:nvPr/>
        </p:nvCxnSpPr>
        <p:spPr>
          <a:xfrm>
            <a:off x="914400" y="48006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1-E12 line 4" descr="sci-ppt:o004"/>
          <p:cNvCxnSpPr/>
          <p:nvPr/>
        </p:nvCxnSpPr>
        <p:spPr>
          <a:xfrm>
            <a:off x="914400" y="1417320"/>
            <a:ext cx="0" cy="338328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1-E12 text 5" descr="sci-ppt:o005"/>
          <p:cNvSpPr txBox="1"/>
          <p:nvPr/>
        </p:nvSpPr>
        <p:spPr>
          <a:xfrm>
            <a:off x="457200" y="48828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8" name="C1-E12 line 6" descr="sci-ppt:o006"/>
          <p:cNvCxnSpPr/>
          <p:nvPr/>
        </p:nvCxnSpPr>
        <p:spPr>
          <a:xfrm>
            <a:off x="2499360" y="48006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1-E12 line 7" descr="sci-ppt:o007"/>
          <p:cNvCxnSpPr/>
          <p:nvPr/>
        </p:nvCxnSpPr>
        <p:spPr>
          <a:xfrm>
            <a:off x="2499360" y="1417320"/>
            <a:ext cx="0" cy="338328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1-E12 text 8" descr="sci-ppt:o008"/>
          <p:cNvSpPr txBox="1"/>
          <p:nvPr/>
        </p:nvSpPr>
        <p:spPr>
          <a:xfrm>
            <a:off x="2042160" y="48828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11" name="C1-E12 line 9" descr="sci-ppt:o009"/>
          <p:cNvCxnSpPr/>
          <p:nvPr/>
        </p:nvCxnSpPr>
        <p:spPr>
          <a:xfrm>
            <a:off x="4084320" y="48006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1-E12 line 10" descr="sci-ppt:o010"/>
          <p:cNvCxnSpPr/>
          <p:nvPr/>
        </p:nvCxnSpPr>
        <p:spPr>
          <a:xfrm>
            <a:off x="4084320" y="1417320"/>
            <a:ext cx="0" cy="338328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1-E12 text 11" descr="sci-ppt:o011"/>
          <p:cNvSpPr txBox="1"/>
          <p:nvPr/>
        </p:nvSpPr>
        <p:spPr>
          <a:xfrm>
            <a:off x="3627120" y="48828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</a:t>
            </a:r>
          </a:p>
        </p:txBody>
      </p:sp>
      <p:cxnSp>
        <p:nvCxnSpPr>
          <p:cNvPr id="14" name="C1-E12 line 12" descr="sci-ppt:o012"/>
          <p:cNvCxnSpPr/>
          <p:nvPr/>
        </p:nvCxnSpPr>
        <p:spPr>
          <a:xfrm>
            <a:off x="5669280" y="48006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1-E12 line 13" descr="sci-ppt:o013"/>
          <p:cNvCxnSpPr/>
          <p:nvPr/>
        </p:nvCxnSpPr>
        <p:spPr>
          <a:xfrm>
            <a:off x="5669280" y="1417320"/>
            <a:ext cx="0" cy="338328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1-E12 text 14" descr="sci-ppt:o014"/>
          <p:cNvSpPr txBox="1"/>
          <p:nvPr/>
        </p:nvSpPr>
        <p:spPr>
          <a:xfrm>
            <a:off x="5212080" y="48828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</a:t>
            </a:r>
          </a:p>
        </p:txBody>
      </p:sp>
      <p:cxnSp>
        <p:nvCxnSpPr>
          <p:cNvPr id="17" name="C1-E12 line 15" descr="sci-ppt:o015"/>
          <p:cNvCxnSpPr/>
          <p:nvPr/>
        </p:nvCxnSpPr>
        <p:spPr>
          <a:xfrm>
            <a:off x="850392" y="4601583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1-E12 line 16" descr="sci-ppt:o016"/>
          <p:cNvCxnSpPr/>
          <p:nvPr/>
        </p:nvCxnSpPr>
        <p:spPr>
          <a:xfrm>
            <a:off x="914400" y="4601583"/>
            <a:ext cx="47548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C1-E12 text 17" descr="sci-ppt:o017"/>
          <p:cNvSpPr txBox="1"/>
          <p:nvPr/>
        </p:nvSpPr>
        <p:spPr>
          <a:xfrm>
            <a:off x="45720" y="4519287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-2</a:t>
            </a:r>
          </a:p>
        </p:txBody>
      </p:sp>
      <p:cxnSp>
        <p:nvCxnSpPr>
          <p:cNvPr id="20" name="C1-E12 line 18" descr="sci-ppt:o018"/>
          <p:cNvCxnSpPr/>
          <p:nvPr/>
        </p:nvCxnSpPr>
        <p:spPr>
          <a:xfrm>
            <a:off x="850392" y="3606501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1-E12 line 19" descr="sci-ppt:o019"/>
          <p:cNvCxnSpPr/>
          <p:nvPr/>
        </p:nvCxnSpPr>
        <p:spPr>
          <a:xfrm>
            <a:off x="914400" y="3606501"/>
            <a:ext cx="47548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2" name="C1-E12 text 20" descr="sci-ppt:o020"/>
          <p:cNvSpPr txBox="1"/>
          <p:nvPr/>
        </p:nvSpPr>
        <p:spPr>
          <a:xfrm>
            <a:off x="45720" y="3524205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-1</a:t>
            </a:r>
          </a:p>
        </p:txBody>
      </p:sp>
      <p:cxnSp>
        <p:nvCxnSpPr>
          <p:cNvPr id="23" name="C1-E12 line 21" descr="sci-ppt:o021"/>
          <p:cNvCxnSpPr/>
          <p:nvPr/>
        </p:nvCxnSpPr>
        <p:spPr>
          <a:xfrm>
            <a:off x="850392" y="2611418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4" name="C1-E12 line 22" descr="sci-ppt:o022"/>
          <p:cNvCxnSpPr/>
          <p:nvPr/>
        </p:nvCxnSpPr>
        <p:spPr>
          <a:xfrm>
            <a:off x="914400" y="2611418"/>
            <a:ext cx="47548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5" name="C1-E12 text 23" descr="sci-ppt:o023"/>
          <p:cNvSpPr txBox="1"/>
          <p:nvPr/>
        </p:nvSpPr>
        <p:spPr>
          <a:xfrm>
            <a:off x="45720" y="2529122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26" name="C1-E12 line 24" descr="sci-ppt:o024"/>
          <p:cNvCxnSpPr/>
          <p:nvPr/>
        </p:nvCxnSpPr>
        <p:spPr>
          <a:xfrm>
            <a:off x="850392" y="1616336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7" name="C1-E12 line 25" descr="sci-ppt:o025"/>
          <p:cNvCxnSpPr/>
          <p:nvPr/>
        </p:nvCxnSpPr>
        <p:spPr>
          <a:xfrm>
            <a:off x="914400" y="1616336"/>
            <a:ext cx="47548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8" name="C1-E12 text 26" descr="sci-ppt:o026"/>
          <p:cNvSpPr txBox="1"/>
          <p:nvPr/>
        </p:nvSpPr>
        <p:spPr>
          <a:xfrm>
            <a:off x="45720" y="1534040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sp>
        <p:nvSpPr>
          <p:cNvPr id="29" name="C1-E12 text 27" descr="sci-ppt:o027"/>
          <p:cNvSpPr txBox="1"/>
          <p:nvPr/>
        </p:nvSpPr>
        <p:spPr>
          <a:xfrm>
            <a:off x="914400" y="5084064"/>
            <a:ext cx="47548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 / R</a:t>
            </a:r>
          </a:p>
        </p:txBody>
      </p:sp>
      <p:sp>
        <p:nvSpPr>
          <p:cNvPr id="30" name="C1-E12 text 28" descr="sci-ppt:o028"/>
          <p:cNvSpPr txBox="1"/>
          <p:nvPr/>
        </p:nvSpPr>
        <p:spPr>
          <a:xfrm>
            <a:off x="365760" y="1069848"/>
            <a:ext cx="47548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strain rate / (Ṙ/R)</a:t>
            </a:r>
          </a:p>
        </p:txBody>
      </p:sp>
      <p:cxnSp>
        <p:nvCxnSpPr>
          <p:cNvPr id="31" name="C1-E12 line 29" descr="sci-ppt:o029"/>
          <p:cNvCxnSpPr/>
          <p:nvPr/>
        </p:nvCxnSpPr>
        <p:spPr>
          <a:xfrm>
            <a:off x="914400" y="2611418"/>
            <a:ext cx="4754880" cy="0"/>
          </a:xfrm>
          <a:prstGeom prst="line">
            <a:avLst/>
          </a:prstGeom>
          <a:ln w="15240">
            <a:solidFill>
              <a:srgbClr val="2E4756"/>
            </a:solidFill>
          </a:ln>
          <a:effectLst/>
        </p:spPr>
      </p:cxnSp>
      <p:sp>
        <p:nvSpPr>
          <p:cNvPr id="32" name="C1-E12 polygon 30" descr="sci-ppt:o030"/>
          <p:cNvSpPr/>
          <p:nvPr/>
        </p:nvSpPr>
        <p:spPr>
          <a:xfrm>
            <a:off x="914400" y="2642515"/>
            <a:ext cx="4754880" cy="1959068"/>
          </a:xfrm>
          <a:custGeom>
            <a:avLst/>
            <a:gdLst/>
            <a:ahLst/>
            <a:cxnLst/>
            <a:rect l="l" t="t" r="r" b="b"/>
            <a:pathLst>
              <a:path w="4754880" h="1959068">
                <a:moveTo>
                  <a:pt x="0" y="1959068"/>
                </a:moveTo>
                <a:lnTo>
                  <a:pt x="23893" y="1871708"/>
                </a:lnTo>
                <a:lnTo>
                  <a:pt x="47787" y="1789386"/>
                </a:lnTo>
                <a:lnTo>
                  <a:pt x="71681" y="1711746"/>
                </a:lnTo>
                <a:lnTo>
                  <a:pt x="95575" y="1638459"/>
                </a:lnTo>
                <a:lnTo>
                  <a:pt x="119469" y="1569224"/>
                </a:lnTo>
                <a:lnTo>
                  <a:pt x="143363" y="1503764"/>
                </a:lnTo>
                <a:lnTo>
                  <a:pt x="167257" y="1441827"/>
                </a:lnTo>
                <a:lnTo>
                  <a:pt x="191150" y="1383178"/>
                </a:lnTo>
                <a:lnTo>
                  <a:pt x="215044" y="1327601"/>
                </a:lnTo>
                <a:lnTo>
                  <a:pt x="238938" y="1274899"/>
                </a:lnTo>
                <a:lnTo>
                  <a:pt x="262832" y="1224888"/>
                </a:lnTo>
                <a:lnTo>
                  <a:pt x="286726" y="1177398"/>
                </a:lnTo>
                <a:lnTo>
                  <a:pt x="310620" y="1132272"/>
                </a:lnTo>
                <a:lnTo>
                  <a:pt x="334514" y="1089365"/>
                </a:lnTo>
                <a:lnTo>
                  <a:pt x="358408" y="1048543"/>
                </a:lnTo>
                <a:lnTo>
                  <a:pt x="382301" y="1009680"/>
                </a:lnTo>
                <a:lnTo>
                  <a:pt x="406195" y="972659"/>
                </a:lnTo>
                <a:lnTo>
                  <a:pt x="430089" y="937374"/>
                </a:lnTo>
                <a:lnTo>
                  <a:pt x="453983" y="903724"/>
                </a:lnTo>
                <a:lnTo>
                  <a:pt x="477877" y="871615"/>
                </a:lnTo>
                <a:lnTo>
                  <a:pt x="501771" y="840959"/>
                </a:lnTo>
                <a:lnTo>
                  <a:pt x="525665" y="811676"/>
                </a:lnTo>
                <a:lnTo>
                  <a:pt x="549558" y="783690"/>
                </a:lnTo>
                <a:lnTo>
                  <a:pt x="573452" y="756929"/>
                </a:lnTo>
                <a:lnTo>
                  <a:pt x="597346" y="731327"/>
                </a:lnTo>
                <a:lnTo>
                  <a:pt x="621240" y="706823"/>
                </a:lnTo>
                <a:lnTo>
                  <a:pt x="645134" y="683357"/>
                </a:lnTo>
                <a:lnTo>
                  <a:pt x="669028" y="660876"/>
                </a:lnTo>
                <a:lnTo>
                  <a:pt x="692922" y="639328"/>
                </a:lnTo>
                <a:lnTo>
                  <a:pt x="716816" y="618666"/>
                </a:lnTo>
                <a:lnTo>
                  <a:pt x="740709" y="598844"/>
                </a:lnTo>
                <a:lnTo>
                  <a:pt x="764603" y="579820"/>
                </a:lnTo>
                <a:lnTo>
                  <a:pt x="788497" y="561555"/>
                </a:lnTo>
                <a:lnTo>
                  <a:pt x="812391" y="544010"/>
                </a:lnTo>
                <a:lnTo>
                  <a:pt x="836285" y="527152"/>
                </a:lnTo>
                <a:lnTo>
                  <a:pt x="860179" y="510946"/>
                </a:lnTo>
                <a:lnTo>
                  <a:pt x="884073" y="495361"/>
                </a:lnTo>
                <a:lnTo>
                  <a:pt x="907967" y="480368"/>
                </a:lnTo>
                <a:lnTo>
                  <a:pt x="931860" y="465938"/>
                </a:lnTo>
                <a:lnTo>
                  <a:pt x="955754" y="452047"/>
                </a:lnTo>
                <a:lnTo>
                  <a:pt x="979648" y="438668"/>
                </a:lnTo>
                <a:lnTo>
                  <a:pt x="1003542" y="425779"/>
                </a:lnTo>
                <a:lnTo>
                  <a:pt x="1027436" y="413357"/>
                </a:lnTo>
                <a:lnTo>
                  <a:pt x="1051330" y="401382"/>
                </a:lnTo>
                <a:lnTo>
                  <a:pt x="1075224" y="389832"/>
                </a:lnTo>
                <a:lnTo>
                  <a:pt x="1099117" y="378691"/>
                </a:lnTo>
                <a:lnTo>
                  <a:pt x="1123011" y="367939"/>
                </a:lnTo>
                <a:lnTo>
                  <a:pt x="1146905" y="357560"/>
                </a:lnTo>
                <a:lnTo>
                  <a:pt x="1170799" y="347538"/>
                </a:lnTo>
                <a:lnTo>
                  <a:pt x="1194693" y="337857"/>
                </a:lnTo>
                <a:lnTo>
                  <a:pt x="1218587" y="328504"/>
                </a:lnTo>
                <a:lnTo>
                  <a:pt x="1242481" y="319464"/>
                </a:lnTo>
                <a:lnTo>
                  <a:pt x="1266375" y="310725"/>
                </a:lnTo>
                <a:lnTo>
                  <a:pt x="1290268" y="302273"/>
                </a:lnTo>
                <a:lnTo>
                  <a:pt x="1314162" y="294099"/>
                </a:lnTo>
                <a:lnTo>
                  <a:pt x="1338056" y="286189"/>
                </a:lnTo>
                <a:lnTo>
                  <a:pt x="1361950" y="278533"/>
                </a:lnTo>
                <a:lnTo>
                  <a:pt x="1385844" y="271122"/>
                </a:lnTo>
                <a:lnTo>
                  <a:pt x="1409738" y="263946"/>
                </a:lnTo>
                <a:lnTo>
                  <a:pt x="1433632" y="256995"/>
                </a:lnTo>
                <a:lnTo>
                  <a:pt x="1457526" y="250261"/>
                </a:lnTo>
                <a:lnTo>
                  <a:pt x="1481419" y="243735"/>
                </a:lnTo>
                <a:lnTo>
                  <a:pt x="1505313" y="237409"/>
                </a:lnTo>
                <a:lnTo>
                  <a:pt x="1529207" y="231276"/>
                </a:lnTo>
                <a:lnTo>
                  <a:pt x="1553101" y="225328"/>
                </a:lnTo>
                <a:lnTo>
                  <a:pt x="1576995" y="219559"/>
                </a:lnTo>
                <a:lnTo>
                  <a:pt x="1600889" y="213961"/>
                </a:lnTo>
                <a:lnTo>
                  <a:pt x="1624783" y="208529"/>
                </a:lnTo>
                <a:lnTo>
                  <a:pt x="1648676" y="203256"/>
                </a:lnTo>
                <a:lnTo>
                  <a:pt x="1672570" y="198137"/>
                </a:lnTo>
                <a:lnTo>
                  <a:pt x="1696464" y="193166"/>
                </a:lnTo>
                <a:lnTo>
                  <a:pt x="1720358" y="188337"/>
                </a:lnTo>
                <a:lnTo>
                  <a:pt x="1744252" y="183647"/>
                </a:lnTo>
                <a:lnTo>
                  <a:pt x="1768146" y="179088"/>
                </a:lnTo>
                <a:lnTo>
                  <a:pt x="1792040" y="174658"/>
                </a:lnTo>
                <a:lnTo>
                  <a:pt x="1815934" y="170352"/>
                </a:lnTo>
                <a:lnTo>
                  <a:pt x="1839827" y="166165"/>
                </a:lnTo>
                <a:lnTo>
                  <a:pt x="1863721" y="162093"/>
                </a:lnTo>
                <a:lnTo>
                  <a:pt x="1887615" y="158133"/>
                </a:lnTo>
                <a:lnTo>
                  <a:pt x="1911509" y="154280"/>
                </a:lnTo>
                <a:lnTo>
                  <a:pt x="1935403" y="150531"/>
                </a:lnTo>
                <a:lnTo>
                  <a:pt x="1959297" y="146882"/>
                </a:lnTo>
                <a:lnTo>
                  <a:pt x="1983191" y="143331"/>
                </a:lnTo>
                <a:lnTo>
                  <a:pt x="2007085" y="139873"/>
                </a:lnTo>
                <a:lnTo>
                  <a:pt x="2030978" y="136506"/>
                </a:lnTo>
                <a:lnTo>
                  <a:pt x="2054872" y="133227"/>
                </a:lnTo>
                <a:lnTo>
                  <a:pt x="2078766" y="130033"/>
                </a:lnTo>
                <a:lnTo>
                  <a:pt x="2102660" y="126921"/>
                </a:lnTo>
                <a:lnTo>
                  <a:pt x="2126554" y="123889"/>
                </a:lnTo>
                <a:lnTo>
                  <a:pt x="2150448" y="120933"/>
                </a:lnTo>
                <a:lnTo>
                  <a:pt x="2174342" y="118053"/>
                </a:lnTo>
                <a:lnTo>
                  <a:pt x="2198235" y="115245"/>
                </a:lnTo>
                <a:lnTo>
                  <a:pt x="2222129" y="112507"/>
                </a:lnTo>
                <a:lnTo>
                  <a:pt x="2246023" y="109836"/>
                </a:lnTo>
                <a:lnTo>
                  <a:pt x="2269917" y="107232"/>
                </a:lnTo>
                <a:lnTo>
                  <a:pt x="2293811" y="104691"/>
                </a:lnTo>
                <a:lnTo>
                  <a:pt x="2317705" y="102212"/>
                </a:lnTo>
                <a:lnTo>
                  <a:pt x="2341599" y="99794"/>
                </a:lnTo>
                <a:lnTo>
                  <a:pt x="2365493" y="97433"/>
                </a:lnTo>
                <a:lnTo>
                  <a:pt x="2389386" y="95129"/>
                </a:lnTo>
                <a:lnTo>
                  <a:pt x="2413280" y="92879"/>
                </a:lnTo>
                <a:lnTo>
                  <a:pt x="2437174" y="90683"/>
                </a:lnTo>
                <a:lnTo>
                  <a:pt x="2461068" y="88538"/>
                </a:lnTo>
                <a:lnTo>
                  <a:pt x="2484962" y="86443"/>
                </a:lnTo>
                <a:lnTo>
                  <a:pt x="2508856" y="84397"/>
                </a:lnTo>
                <a:lnTo>
                  <a:pt x="2532750" y="82398"/>
                </a:lnTo>
                <a:lnTo>
                  <a:pt x="2556644" y="80445"/>
                </a:lnTo>
                <a:lnTo>
                  <a:pt x="2580537" y="78537"/>
                </a:lnTo>
                <a:lnTo>
                  <a:pt x="2604431" y="76672"/>
                </a:lnTo>
                <a:lnTo>
                  <a:pt x="2628325" y="74849"/>
                </a:lnTo>
                <a:lnTo>
                  <a:pt x="2652219" y="73066"/>
                </a:lnTo>
                <a:lnTo>
                  <a:pt x="2676113" y="71324"/>
                </a:lnTo>
                <a:lnTo>
                  <a:pt x="2700007" y="69620"/>
                </a:lnTo>
                <a:lnTo>
                  <a:pt x="2723901" y="67954"/>
                </a:lnTo>
                <a:lnTo>
                  <a:pt x="2747794" y="66324"/>
                </a:lnTo>
                <a:lnTo>
                  <a:pt x="2771688" y="64730"/>
                </a:lnTo>
                <a:lnTo>
                  <a:pt x="2795582" y="63170"/>
                </a:lnTo>
                <a:lnTo>
                  <a:pt x="2819476" y="61645"/>
                </a:lnTo>
                <a:lnTo>
                  <a:pt x="2843370" y="60151"/>
                </a:lnTo>
                <a:lnTo>
                  <a:pt x="2867264" y="58690"/>
                </a:lnTo>
                <a:lnTo>
                  <a:pt x="2891158" y="57260"/>
                </a:lnTo>
                <a:lnTo>
                  <a:pt x="2915052" y="55860"/>
                </a:lnTo>
                <a:lnTo>
                  <a:pt x="2938945" y="54489"/>
                </a:lnTo>
                <a:lnTo>
                  <a:pt x="2962839" y="53148"/>
                </a:lnTo>
                <a:lnTo>
                  <a:pt x="2986733" y="51833"/>
                </a:lnTo>
                <a:lnTo>
                  <a:pt x="3010627" y="50547"/>
                </a:lnTo>
                <a:lnTo>
                  <a:pt x="3034521" y="49286"/>
                </a:lnTo>
                <a:lnTo>
                  <a:pt x="3058415" y="48052"/>
                </a:lnTo>
                <a:lnTo>
                  <a:pt x="3082309" y="46842"/>
                </a:lnTo>
                <a:lnTo>
                  <a:pt x="3106203" y="45658"/>
                </a:lnTo>
                <a:lnTo>
                  <a:pt x="3130096" y="44497"/>
                </a:lnTo>
                <a:lnTo>
                  <a:pt x="3153990" y="43359"/>
                </a:lnTo>
                <a:lnTo>
                  <a:pt x="3177884" y="42244"/>
                </a:lnTo>
                <a:lnTo>
                  <a:pt x="3201778" y="41151"/>
                </a:lnTo>
                <a:lnTo>
                  <a:pt x="3225672" y="40080"/>
                </a:lnTo>
                <a:lnTo>
                  <a:pt x="3249566" y="39030"/>
                </a:lnTo>
                <a:lnTo>
                  <a:pt x="3273460" y="38000"/>
                </a:lnTo>
                <a:lnTo>
                  <a:pt x="3297353" y="36991"/>
                </a:lnTo>
                <a:lnTo>
                  <a:pt x="3321247" y="36001"/>
                </a:lnTo>
                <a:lnTo>
                  <a:pt x="3345141" y="35030"/>
                </a:lnTo>
                <a:lnTo>
                  <a:pt x="3369035" y="34078"/>
                </a:lnTo>
                <a:lnTo>
                  <a:pt x="3392929" y="33144"/>
                </a:lnTo>
                <a:lnTo>
                  <a:pt x="3416823" y="32227"/>
                </a:lnTo>
                <a:lnTo>
                  <a:pt x="3440717" y="31329"/>
                </a:lnTo>
                <a:lnTo>
                  <a:pt x="3464611" y="30447"/>
                </a:lnTo>
                <a:lnTo>
                  <a:pt x="3488504" y="29581"/>
                </a:lnTo>
                <a:lnTo>
                  <a:pt x="3512398" y="28732"/>
                </a:lnTo>
                <a:lnTo>
                  <a:pt x="3536292" y="27898"/>
                </a:lnTo>
                <a:lnTo>
                  <a:pt x="3560186" y="27080"/>
                </a:lnTo>
                <a:lnTo>
                  <a:pt x="3584080" y="26277"/>
                </a:lnTo>
                <a:lnTo>
                  <a:pt x="3607974" y="25489"/>
                </a:lnTo>
                <a:lnTo>
                  <a:pt x="3631868" y="24715"/>
                </a:lnTo>
                <a:lnTo>
                  <a:pt x="3655762" y="23955"/>
                </a:lnTo>
                <a:lnTo>
                  <a:pt x="3679655" y="23209"/>
                </a:lnTo>
                <a:lnTo>
                  <a:pt x="3703549" y="22476"/>
                </a:lnTo>
                <a:lnTo>
                  <a:pt x="3727443" y="21756"/>
                </a:lnTo>
                <a:lnTo>
                  <a:pt x="3751337" y="21050"/>
                </a:lnTo>
                <a:lnTo>
                  <a:pt x="3775231" y="20355"/>
                </a:lnTo>
                <a:lnTo>
                  <a:pt x="3799125" y="19673"/>
                </a:lnTo>
                <a:lnTo>
                  <a:pt x="3823019" y="19003"/>
                </a:lnTo>
                <a:lnTo>
                  <a:pt x="3846912" y="18345"/>
                </a:lnTo>
                <a:lnTo>
                  <a:pt x="3870806" y="17698"/>
                </a:lnTo>
                <a:lnTo>
                  <a:pt x="3894700" y="17063"/>
                </a:lnTo>
                <a:lnTo>
                  <a:pt x="3918594" y="16438"/>
                </a:lnTo>
                <a:lnTo>
                  <a:pt x="3942488" y="15825"/>
                </a:lnTo>
                <a:lnTo>
                  <a:pt x="3966382" y="15221"/>
                </a:lnTo>
                <a:lnTo>
                  <a:pt x="3990276" y="14628"/>
                </a:lnTo>
                <a:lnTo>
                  <a:pt x="4014170" y="14045"/>
                </a:lnTo>
                <a:lnTo>
                  <a:pt x="4038063" y="13472"/>
                </a:lnTo>
                <a:lnTo>
                  <a:pt x="4061957" y="12909"/>
                </a:lnTo>
                <a:lnTo>
                  <a:pt x="4085851" y="12355"/>
                </a:lnTo>
                <a:lnTo>
                  <a:pt x="4109745" y="11811"/>
                </a:lnTo>
                <a:lnTo>
                  <a:pt x="4133639" y="11275"/>
                </a:lnTo>
                <a:lnTo>
                  <a:pt x="4157533" y="10748"/>
                </a:lnTo>
                <a:lnTo>
                  <a:pt x="4181427" y="10230"/>
                </a:lnTo>
                <a:lnTo>
                  <a:pt x="4205321" y="9721"/>
                </a:lnTo>
                <a:lnTo>
                  <a:pt x="4229214" y="9220"/>
                </a:lnTo>
                <a:lnTo>
                  <a:pt x="4253108" y="8727"/>
                </a:lnTo>
                <a:lnTo>
                  <a:pt x="4277002" y="8242"/>
                </a:lnTo>
                <a:lnTo>
                  <a:pt x="4300896" y="7764"/>
                </a:lnTo>
                <a:lnTo>
                  <a:pt x="4324790" y="7295"/>
                </a:lnTo>
                <a:lnTo>
                  <a:pt x="4348684" y="6833"/>
                </a:lnTo>
                <a:lnTo>
                  <a:pt x="4372578" y="6378"/>
                </a:lnTo>
                <a:lnTo>
                  <a:pt x="4396471" y="5931"/>
                </a:lnTo>
                <a:lnTo>
                  <a:pt x="4420365" y="5491"/>
                </a:lnTo>
                <a:lnTo>
                  <a:pt x="4444259" y="5058"/>
                </a:lnTo>
                <a:lnTo>
                  <a:pt x="4468153" y="4631"/>
                </a:lnTo>
                <a:lnTo>
                  <a:pt x="4492047" y="4211"/>
                </a:lnTo>
                <a:lnTo>
                  <a:pt x="4515941" y="3798"/>
                </a:lnTo>
                <a:lnTo>
                  <a:pt x="4539835" y="3391"/>
                </a:lnTo>
                <a:lnTo>
                  <a:pt x="4563729" y="2991"/>
                </a:lnTo>
                <a:lnTo>
                  <a:pt x="4587622" y="2597"/>
                </a:lnTo>
                <a:lnTo>
                  <a:pt x="4611516" y="2208"/>
                </a:lnTo>
                <a:lnTo>
                  <a:pt x="4635410" y="1826"/>
                </a:lnTo>
                <a:lnTo>
                  <a:pt x="4659304" y="1450"/>
                </a:lnTo>
                <a:lnTo>
                  <a:pt x="4683198" y="1079"/>
                </a:lnTo>
                <a:lnTo>
                  <a:pt x="4707092" y="714"/>
                </a:lnTo>
                <a:lnTo>
                  <a:pt x="4730986" y="354"/>
                </a:lnTo>
                <a:lnTo>
                  <a:pt x="4754880" y="0"/>
                </a:lnTo>
              </a:path>
            </a:pathLst>
          </a:custGeom>
          <a:noFill/>
          <a:ln w="3810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C1-E12 polygon 31" descr="sci-ppt:o031"/>
          <p:cNvSpPr/>
          <p:nvPr/>
        </p:nvSpPr>
        <p:spPr>
          <a:xfrm>
            <a:off x="914400" y="1616336"/>
            <a:ext cx="4754880" cy="979534"/>
          </a:xfrm>
          <a:custGeom>
            <a:avLst/>
            <a:gdLst/>
            <a:ahLst/>
            <a:cxnLst/>
            <a:rect l="l" t="t" r="r" b="b"/>
            <a:pathLst>
              <a:path w="4754880" h="979534">
                <a:moveTo>
                  <a:pt x="0" y="0"/>
                </a:moveTo>
                <a:lnTo>
                  <a:pt x="23893" y="43680"/>
                </a:lnTo>
                <a:lnTo>
                  <a:pt x="47787" y="84841"/>
                </a:lnTo>
                <a:lnTo>
                  <a:pt x="71681" y="123661"/>
                </a:lnTo>
                <a:lnTo>
                  <a:pt x="95575" y="160305"/>
                </a:lnTo>
                <a:lnTo>
                  <a:pt x="119469" y="194922"/>
                </a:lnTo>
                <a:lnTo>
                  <a:pt x="143363" y="227652"/>
                </a:lnTo>
                <a:lnTo>
                  <a:pt x="167257" y="258621"/>
                </a:lnTo>
                <a:lnTo>
                  <a:pt x="191150" y="287945"/>
                </a:lnTo>
                <a:lnTo>
                  <a:pt x="215044" y="315733"/>
                </a:lnTo>
                <a:lnTo>
                  <a:pt x="238938" y="342084"/>
                </a:lnTo>
                <a:lnTo>
                  <a:pt x="262832" y="367090"/>
                </a:lnTo>
                <a:lnTo>
                  <a:pt x="286726" y="390835"/>
                </a:lnTo>
                <a:lnTo>
                  <a:pt x="310620" y="413398"/>
                </a:lnTo>
                <a:lnTo>
                  <a:pt x="334514" y="434851"/>
                </a:lnTo>
                <a:lnTo>
                  <a:pt x="358408" y="455263"/>
                </a:lnTo>
                <a:lnTo>
                  <a:pt x="382301" y="474694"/>
                </a:lnTo>
                <a:lnTo>
                  <a:pt x="406195" y="493204"/>
                </a:lnTo>
                <a:lnTo>
                  <a:pt x="430089" y="510847"/>
                </a:lnTo>
                <a:lnTo>
                  <a:pt x="453983" y="527672"/>
                </a:lnTo>
                <a:lnTo>
                  <a:pt x="477877" y="543727"/>
                </a:lnTo>
                <a:lnTo>
                  <a:pt x="501771" y="559054"/>
                </a:lnTo>
                <a:lnTo>
                  <a:pt x="525665" y="573696"/>
                </a:lnTo>
                <a:lnTo>
                  <a:pt x="549558" y="587689"/>
                </a:lnTo>
                <a:lnTo>
                  <a:pt x="573452" y="601069"/>
                </a:lnTo>
                <a:lnTo>
                  <a:pt x="597346" y="613870"/>
                </a:lnTo>
                <a:lnTo>
                  <a:pt x="621240" y="626123"/>
                </a:lnTo>
                <a:lnTo>
                  <a:pt x="645134" y="637855"/>
                </a:lnTo>
                <a:lnTo>
                  <a:pt x="669028" y="649096"/>
                </a:lnTo>
                <a:lnTo>
                  <a:pt x="692922" y="659870"/>
                </a:lnTo>
                <a:lnTo>
                  <a:pt x="716816" y="670201"/>
                </a:lnTo>
                <a:lnTo>
                  <a:pt x="740709" y="680112"/>
                </a:lnTo>
                <a:lnTo>
                  <a:pt x="764603" y="689624"/>
                </a:lnTo>
                <a:lnTo>
                  <a:pt x="788497" y="698757"/>
                </a:lnTo>
                <a:lnTo>
                  <a:pt x="812391" y="707529"/>
                </a:lnTo>
                <a:lnTo>
                  <a:pt x="836285" y="715958"/>
                </a:lnTo>
                <a:lnTo>
                  <a:pt x="860179" y="724061"/>
                </a:lnTo>
                <a:lnTo>
                  <a:pt x="884073" y="731854"/>
                </a:lnTo>
                <a:lnTo>
                  <a:pt x="907967" y="739350"/>
                </a:lnTo>
                <a:lnTo>
                  <a:pt x="931860" y="746565"/>
                </a:lnTo>
                <a:lnTo>
                  <a:pt x="955754" y="753511"/>
                </a:lnTo>
                <a:lnTo>
                  <a:pt x="979648" y="760200"/>
                </a:lnTo>
                <a:lnTo>
                  <a:pt x="1003542" y="766644"/>
                </a:lnTo>
                <a:lnTo>
                  <a:pt x="1027436" y="772855"/>
                </a:lnTo>
                <a:lnTo>
                  <a:pt x="1051330" y="778843"/>
                </a:lnTo>
                <a:lnTo>
                  <a:pt x="1075224" y="784618"/>
                </a:lnTo>
                <a:lnTo>
                  <a:pt x="1099117" y="790189"/>
                </a:lnTo>
                <a:lnTo>
                  <a:pt x="1123011" y="795565"/>
                </a:lnTo>
                <a:lnTo>
                  <a:pt x="1146905" y="800754"/>
                </a:lnTo>
                <a:lnTo>
                  <a:pt x="1170799" y="805765"/>
                </a:lnTo>
                <a:lnTo>
                  <a:pt x="1194693" y="810605"/>
                </a:lnTo>
                <a:lnTo>
                  <a:pt x="1218587" y="815282"/>
                </a:lnTo>
                <a:lnTo>
                  <a:pt x="1242481" y="819802"/>
                </a:lnTo>
                <a:lnTo>
                  <a:pt x="1266375" y="824172"/>
                </a:lnTo>
                <a:lnTo>
                  <a:pt x="1290268" y="828397"/>
                </a:lnTo>
                <a:lnTo>
                  <a:pt x="1314162" y="832485"/>
                </a:lnTo>
                <a:lnTo>
                  <a:pt x="1338056" y="836440"/>
                </a:lnTo>
                <a:lnTo>
                  <a:pt x="1361950" y="840267"/>
                </a:lnTo>
                <a:lnTo>
                  <a:pt x="1385844" y="843973"/>
                </a:lnTo>
                <a:lnTo>
                  <a:pt x="1409738" y="847561"/>
                </a:lnTo>
                <a:lnTo>
                  <a:pt x="1433632" y="851037"/>
                </a:lnTo>
                <a:lnTo>
                  <a:pt x="1457526" y="854404"/>
                </a:lnTo>
                <a:lnTo>
                  <a:pt x="1481419" y="857667"/>
                </a:lnTo>
                <a:lnTo>
                  <a:pt x="1505313" y="860830"/>
                </a:lnTo>
                <a:lnTo>
                  <a:pt x="1529207" y="863896"/>
                </a:lnTo>
                <a:lnTo>
                  <a:pt x="1553101" y="866870"/>
                </a:lnTo>
                <a:lnTo>
                  <a:pt x="1576995" y="869755"/>
                </a:lnTo>
                <a:lnTo>
                  <a:pt x="1600889" y="872553"/>
                </a:lnTo>
                <a:lnTo>
                  <a:pt x="1624783" y="875270"/>
                </a:lnTo>
                <a:lnTo>
                  <a:pt x="1648676" y="877906"/>
                </a:lnTo>
                <a:lnTo>
                  <a:pt x="1672570" y="880466"/>
                </a:lnTo>
                <a:lnTo>
                  <a:pt x="1696464" y="882951"/>
                </a:lnTo>
                <a:lnTo>
                  <a:pt x="1720358" y="885365"/>
                </a:lnTo>
                <a:lnTo>
                  <a:pt x="1744252" y="887711"/>
                </a:lnTo>
                <a:lnTo>
                  <a:pt x="1768146" y="889990"/>
                </a:lnTo>
                <a:lnTo>
                  <a:pt x="1792040" y="892205"/>
                </a:lnTo>
                <a:lnTo>
                  <a:pt x="1815934" y="894358"/>
                </a:lnTo>
                <a:lnTo>
                  <a:pt x="1839827" y="896451"/>
                </a:lnTo>
                <a:lnTo>
                  <a:pt x="1863721" y="898487"/>
                </a:lnTo>
                <a:lnTo>
                  <a:pt x="1887615" y="900468"/>
                </a:lnTo>
                <a:lnTo>
                  <a:pt x="1911509" y="902394"/>
                </a:lnTo>
                <a:lnTo>
                  <a:pt x="1935403" y="904269"/>
                </a:lnTo>
                <a:lnTo>
                  <a:pt x="1959297" y="906093"/>
                </a:lnTo>
                <a:lnTo>
                  <a:pt x="1983191" y="907869"/>
                </a:lnTo>
                <a:lnTo>
                  <a:pt x="2007085" y="909598"/>
                </a:lnTo>
                <a:lnTo>
                  <a:pt x="2030978" y="911281"/>
                </a:lnTo>
                <a:lnTo>
                  <a:pt x="2054872" y="912921"/>
                </a:lnTo>
                <a:lnTo>
                  <a:pt x="2078766" y="914518"/>
                </a:lnTo>
                <a:lnTo>
                  <a:pt x="2102660" y="916074"/>
                </a:lnTo>
                <a:lnTo>
                  <a:pt x="2126554" y="917590"/>
                </a:lnTo>
                <a:lnTo>
                  <a:pt x="2150448" y="919067"/>
                </a:lnTo>
                <a:lnTo>
                  <a:pt x="2174342" y="920507"/>
                </a:lnTo>
                <a:lnTo>
                  <a:pt x="2198235" y="921912"/>
                </a:lnTo>
                <a:lnTo>
                  <a:pt x="2222129" y="923281"/>
                </a:lnTo>
                <a:lnTo>
                  <a:pt x="2246023" y="924616"/>
                </a:lnTo>
                <a:lnTo>
                  <a:pt x="2269917" y="925918"/>
                </a:lnTo>
                <a:lnTo>
                  <a:pt x="2293811" y="927188"/>
                </a:lnTo>
                <a:lnTo>
                  <a:pt x="2317705" y="928428"/>
                </a:lnTo>
                <a:lnTo>
                  <a:pt x="2341599" y="929637"/>
                </a:lnTo>
                <a:lnTo>
                  <a:pt x="2365493" y="930818"/>
                </a:lnTo>
                <a:lnTo>
                  <a:pt x="2389386" y="931970"/>
                </a:lnTo>
                <a:lnTo>
                  <a:pt x="2413280" y="933094"/>
                </a:lnTo>
                <a:lnTo>
                  <a:pt x="2437174" y="934193"/>
                </a:lnTo>
                <a:lnTo>
                  <a:pt x="2461068" y="935265"/>
                </a:lnTo>
                <a:lnTo>
                  <a:pt x="2484962" y="936312"/>
                </a:lnTo>
                <a:lnTo>
                  <a:pt x="2508856" y="937335"/>
                </a:lnTo>
                <a:lnTo>
                  <a:pt x="2532750" y="938335"/>
                </a:lnTo>
                <a:lnTo>
                  <a:pt x="2556644" y="939311"/>
                </a:lnTo>
                <a:lnTo>
                  <a:pt x="2580537" y="940266"/>
                </a:lnTo>
                <a:lnTo>
                  <a:pt x="2604431" y="941198"/>
                </a:lnTo>
                <a:lnTo>
                  <a:pt x="2628325" y="942110"/>
                </a:lnTo>
                <a:lnTo>
                  <a:pt x="2652219" y="943001"/>
                </a:lnTo>
                <a:lnTo>
                  <a:pt x="2676113" y="943872"/>
                </a:lnTo>
                <a:lnTo>
                  <a:pt x="2700007" y="944724"/>
                </a:lnTo>
                <a:lnTo>
                  <a:pt x="2723901" y="945557"/>
                </a:lnTo>
                <a:lnTo>
                  <a:pt x="2747794" y="946372"/>
                </a:lnTo>
                <a:lnTo>
                  <a:pt x="2771688" y="947169"/>
                </a:lnTo>
                <a:lnTo>
                  <a:pt x="2795582" y="947949"/>
                </a:lnTo>
                <a:lnTo>
                  <a:pt x="2819476" y="948712"/>
                </a:lnTo>
                <a:lnTo>
                  <a:pt x="2843370" y="949458"/>
                </a:lnTo>
                <a:lnTo>
                  <a:pt x="2867264" y="950189"/>
                </a:lnTo>
                <a:lnTo>
                  <a:pt x="2891158" y="950904"/>
                </a:lnTo>
                <a:lnTo>
                  <a:pt x="2915052" y="951604"/>
                </a:lnTo>
                <a:lnTo>
                  <a:pt x="2938945" y="952289"/>
                </a:lnTo>
                <a:lnTo>
                  <a:pt x="2962839" y="952960"/>
                </a:lnTo>
                <a:lnTo>
                  <a:pt x="2986733" y="953617"/>
                </a:lnTo>
                <a:lnTo>
                  <a:pt x="3010627" y="954261"/>
                </a:lnTo>
                <a:lnTo>
                  <a:pt x="3034521" y="954891"/>
                </a:lnTo>
                <a:lnTo>
                  <a:pt x="3058415" y="955508"/>
                </a:lnTo>
                <a:lnTo>
                  <a:pt x="3082309" y="956113"/>
                </a:lnTo>
                <a:lnTo>
                  <a:pt x="3106203" y="956705"/>
                </a:lnTo>
                <a:lnTo>
                  <a:pt x="3130096" y="957286"/>
                </a:lnTo>
                <a:lnTo>
                  <a:pt x="3153990" y="957855"/>
                </a:lnTo>
                <a:lnTo>
                  <a:pt x="3177884" y="958412"/>
                </a:lnTo>
                <a:lnTo>
                  <a:pt x="3201778" y="958958"/>
                </a:lnTo>
                <a:lnTo>
                  <a:pt x="3225672" y="959494"/>
                </a:lnTo>
                <a:lnTo>
                  <a:pt x="3249566" y="960019"/>
                </a:lnTo>
                <a:lnTo>
                  <a:pt x="3273460" y="960534"/>
                </a:lnTo>
                <a:lnTo>
                  <a:pt x="3297353" y="961039"/>
                </a:lnTo>
                <a:lnTo>
                  <a:pt x="3321247" y="961534"/>
                </a:lnTo>
                <a:lnTo>
                  <a:pt x="3345141" y="962019"/>
                </a:lnTo>
                <a:lnTo>
                  <a:pt x="3369035" y="962495"/>
                </a:lnTo>
                <a:lnTo>
                  <a:pt x="3392929" y="962962"/>
                </a:lnTo>
                <a:lnTo>
                  <a:pt x="3416823" y="963420"/>
                </a:lnTo>
                <a:lnTo>
                  <a:pt x="3440717" y="963870"/>
                </a:lnTo>
                <a:lnTo>
                  <a:pt x="3464611" y="964311"/>
                </a:lnTo>
                <a:lnTo>
                  <a:pt x="3488504" y="964743"/>
                </a:lnTo>
                <a:lnTo>
                  <a:pt x="3512398" y="965168"/>
                </a:lnTo>
                <a:lnTo>
                  <a:pt x="3536292" y="965585"/>
                </a:lnTo>
                <a:lnTo>
                  <a:pt x="3560186" y="965994"/>
                </a:lnTo>
                <a:lnTo>
                  <a:pt x="3584080" y="966395"/>
                </a:lnTo>
                <a:lnTo>
                  <a:pt x="3607974" y="966790"/>
                </a:lnTo>
                <a:lnTo>
                  <a:pt x="3631868" y="967177"/>
                </a:lnTo>
                <a:lnTo>
                  <a:pt x="3655762" y="967556"/>
                </a:lnTo>
                <a:lnTo>
                  <a:pt x="3679655" y="967930"/>
                </a:lnTo>
                <a:lnTo>
                  <a:pt x="3703549" y="968296"/>
                </a:lnTo>
                <a:lnTo>
                  <a:pt x="3727443" y="968656"/>
                </a:lnTo>
                <a:lnTo>
                  <a:pt x="3751337" y="969009"/>
                </a:lnTo>
                <a:lnTo>
                  <a:pt x="3775231" y="969356"/>
                </a:lnTo>
                <a:lnTo>
                  <a:pt x="3799125" y="969697"/>
                </a:lnTo>
                <a:lnTo>
                  <a:pt x="3823019" y="970032"/>
                </a:lnTo>
                <a:lnTo>
                  <a:pt x="3846912" y="970361"/>
                </a:lnTo>
                <a:lnTo>
                  <a:pt x="3870806" y="970685"/>
                </a:lnTo>
                <a:lnTo>
                  <a:pt x="3894700" y="971003"/>
                </a:lnTo>
                <a:lnTo>
                  <a:pt x="3918594" y="971315"/>
                </a:lnTo>
                <a:lnTo>
                  <a:pt x="3942488" y="971622"/>
                </a:lnTo>
                <a:lnTo>
                  <a:pt x="3966382" y="971923"/>
                </a:lnTo>
                <a:lnTo>
                  <a:pt x="3990276" y="972220"/>
                </a:lnTo>
                <a:lnTo>
                  <a:pt x="4014170" y="972511"/>
                </a:lnTo>
                <a:lnTo>
                  <a:pt x="4038063" y="972798"/>
                </a:lnTo>
                <a:lnTo>
                  <a:pt x="4061957" y="973079"/>
                </a:lnTo>
                <a:lnTo>
                  <a:pt x="4085851" y="973356"/>
                </a:lnTo>
                <a:lnTo>
                  <a:pt x="4109745" y="973629"/>
                </a:lnTo>
                <a:lnTo>
                  <a:pt x="4133639" y="973897"/>
                </a:lnTo>
                <a:lnTo>
                  <a:pt x="4157533" y="974160"/>
                </a:lnTo>
                <a:lnTo>
                  <a:pt x="4181427" y="974419"/>
                </a:lnTo>
                <a:lnTo>
                  <a:pt x="4205321" y="974674"/>
                </a:lnTo>
                <a:lnTo>
                  <a:pt x="4229214" y="974924"/>
                </a:lnTo>
                <a:lnTo>
                  <a:pt x="4253108" y="975171"/>
                </a:lnTo>
                <a:lnTo>
                  <a:pt x="4277002" y="975413"/>
                </a:lnTo>
                <a:lnTo>
                  <a:pt x="4300896" y="975652"/>
                </a:lnTo>
                <a:lnTo>
                  <a:pt x="4324790" y="975887"/>
                </a:lnTo>
                <a:lnTo>
                  <a:pt x="4348684" y="976117"/>
                </a:lnTo>
                <a:lnTo>
                  <a:pt x="4372578" y="976345"/>
                </a:lnTo>
                <a:lnTo>
                  <a:pt x="4396471" y="976568"/>
                </a:lnTo>
                <a:lnTo>
                  <a:pt x="4420365" y="976789"/>
                </a:lnTo>
                <a:lnTo>
                  <a:pt x="4444259" y="977005"/>
                </a:lnTo>
                <a:lnTo>
                  <a:pt x="4468153" y="977218"/>
                </a:lnTo>
                <a:lnTo>
                  <a:pt x="4492047" y="977428"/>
                </a:lnTo>
                <a:lnTo>
                  <a:pt x="4515941" y="977635"/>
                </a:lnTo>
                <a:lnTo>
                  <a:pt x="4539835" y="977838"/>
                </a:lnTo>
                <a:lnTo>
                  <a:pt x="4563729" y="978039"/>
                </a:lnTo>
                <a:lnTo>
                  <a:pt x="4587622" y="978236"/>
                </a:lnTo>
                <a:lnTo>
                  <a:pt x="4611516" y="978430"/>
                </a:lnTo>
                <a:lnTo>
                  <a:pt x="4635410" y="978621"/>
                </a:lnTo>
                <a:lnTo>
                  <a:pt x="4659304" y="978809"/>
                </a:lnTo>
                <a:lnTo>
                  <a:pt x="4683198" y="978995"/>
                </a:lnTo>
                <a:lnTo>
                  <a:pt x="4707092" y="979177"/>
                </a:lnTo>
                <a:lnTo>
                  <a:pt x="4730986" y="979357"/>
                </a:lnTo>
                <a:lnTo>
                  <a:pt x="4754880" y="979534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C1-E12 text 32" descr="sci-ppt:o032"/>
          <p:cNvSpPr txBox="1"/>
          <p:nvPr/>
        </p:nvSpPr>
        <p:spPr>
          <a:xfrm>
            <a:off x="1463040" y="3962848"/>
            <a:ext cx="27432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8BA0"/>
                </a:solidFill>
                <a:latin typeface="Arial"/>
              </a:rPr>
              <a:t>Dᵣᵣ = −2R²Ṙ/r³ (radial)</a:t>
            </a:r>
          </a:p>
        </p:txBody>
      </p:sp>
      <p:sp>
        <p:nvSpPr>
          <p:cNvPr id="35" name="C1-E12 text 33" descr="sci-ppt:o033"/>
          <p:cNvSpPr txBox="1"/>
          <p:nvPr/>
        </p:nvSpPr>
        <p:spPr>
          <a:xfrm>
            <a:off x="1780032" y="1532964"/>
            <a:ext cx="31089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EDBD4"/>
                </a:solidFill>
                <a:latin typeface="Arial"/>
              </a:rPr>
              <a:t>D_θθ = D_ψψ = R²Ṙ/r³ (tangential)</a:t>
            </a:r>
          </a:p>
        </p:txBody>
      </p:sp>
      <p:sp>
        <p:nvSpPr>
          <p:cNvPr id="36" name="C1-E12 text 34" descr="sci-ppt:o034"/>
          <p:cNvSpPr txBox="1"/>
          <p:nvPr/>
        </p:nvSpPr>
        <p:spPr>
          <a:xfrm>
            <a:off x="914400" y="5440680"/>
            <a:ext cx="484632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Dᵣᵣ + 2D_θθ = 0: no net volume change (incompressible).</a:t>
            </a:r>
          </a:p>
        </p:txBody>
      </p:sp>
      <p:cxnSp>
        <p:nvCxnSpPr>
          <p:cNvPr id="37" name="C1-E12 line 35" descr="sci-ppt:o035"/>
          <p:cNvCxnSpPr/>
          <p:nvPr/>
        </p:nvCxnSpPr>
        <p:spPr>
          <a:xfrm>
            <a:off x="6583680" y="4800600"/>
            <a:ext cx="512064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38" name="C1-E12 line 36" descr="sci-ppt:o036"/>
          <p:cNvCxnSpPr/>
          <p:nvPr/>
        </p:nvCxnSpPr>
        <p:spPr>
          <a:xfrm>
            <a:off x="6583680" y="1417320"/>
            <a:ext cx="0" cy="338328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39" name="C1-E12 line 37" descr="sci-ppt:o037"/>
          <p:cNvCxnSpPr/>
          <p:nvPr/>
        </p:nvCxnSpPr>
        <p:spPr>
          <a:xfrm>
            <a:off x="6583680" y="48006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0" name="C1-E12 line 38" descr="sci-ppt:o038"/>
          <p:cNvCxnSpPr/>
          <p:nvPr/>
        </p:nvCxnSpPr>
        <p:spPr>
          <a:xfrm>
            <a:off x="6583680" y="1417320"/>
            <a:ext cx="0" cy="338328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1" name="C1-E12 text 39" descr="sci-ppt:o039"/>
          <p:cNvSpPr txBox="1"/>
          <p:nvPr/>
        </p:nvSpPr>
        <p:spPr>
          <a:xfrm>
            <a:off x="6126480" y="48828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42" name="C1-E12 line 40" descr="sci-ppt:o040"/>
          <p:cNvCxnSpPr/>
          <p:nvPr/>
        </p:nvCxnSpPr>
        <p:spPr>
          <a:xfrm>
            <a:off x="8290560" y="48006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3" name="C1-E12 line 41" descr="sci-ppt:o041"/>
          <p:cNvCxnSpPr/>
          <p:nvPr/>
        </p:nvCxnSpPr>
        <p:spPr>
          <a:xfrm>
            <a:off x="8290560" y="1417320"/>
            <a:ext cx="0" cy="338328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4" name="C1-E12 text 42" descr="sci-ppt:o042"/>
          <p:cNvSpPr txBox="1"/>
          <p:nvPr/>
        </p:nvSpPr>
        <p:spPr>
          <a:xfrm>
            <a:off x="7833360" y="48828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45" name="C1-E12 line 43" descr="sci-ppt:o043"/>
          <p:cNvCxnSpPr/>
          <p:nvPr/>
        </p:nvCxnSpPr>
        <p:spPr>
          <a:xfrm>
            <a:off x="9997440" y="48006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6" name="C1-E12 line 44" descr="sci-ppt:o044"/>
          <p:cNvCxnSpPr/>
          <p:nvPr/>
        </p:nvCxnSpPr>
        <p:spPr>
          <a:xfrm>
            <a:off x="9997440" y="1417320"/>
            <a:ext cx="0" cy="338328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7" name="C1-E12 text 45" descr="sci-ppt:o045"/>
          <p:cNvSpPr txBox="1"/>
          <p:nvPr/>
        </p:nvSpPr>
        <p:spPr>
          <a:xfrm>
            <a:off x="9540240" y="48828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</a:t>
            </a:r>
          </a:p>
        </p:txBody>
      </p:sp>
      <p:cxnSp>
        <p:nvCxnSpPr>
          <p:cNvPr id="48" name="C1-E12 line 46" descr="sci-ppt:o046"/>
          <p:cNvCxnSpPr/>
          <p:nvPr/>
        </p:nvCxnSpPr>
        <p:spPr>
          <a:xfrm>
            <a:off x="11704320" y="48006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9" name="C1-E12 line 47" descr="sci-ppt:o047"/>
          <p:cNvCxnSpPr/>
          <p:nvPr/>
        </p:nvCxnSpPr>
        <p:spPr>
          <a:xfrm>
            <a:off x="11704320" y="1417320"/>
            <a:ext cx="0" cy="338328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50" name="C1-E12 text 48" descr="sci-ppt:o048"/>
          <p:cNvSpPr txBox="1"/>
          <p:nvPr/>
        </p:nvSpPr>
        <p:spPr>
          <a:xfrm>
            <a:off x="11247120" y="48828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</a:t>
            </a:r>
          </a:p>
        </p:txBody>
      </p:sp>
      <p:cxnSp>
        <p:nvCxnSpPr>
          <p:cNvPr id="51" name="C1-E12 line 49" descr="sci-ppt:o049"/>
          <p:cNvCxnSpPr/>
          <p:nvPr/>
        </p:nvCxnSpPr>
        <p:spPr>
          <a:xfrm>
            <a:off x="6519672" y="48006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52" name="C1-E12 line 50" descr="sci-ppt:o050"/>
          <p:cNvCxnSpPr/>
          <p:nvPr/>
        </p:nvCxnSpPr>
        <p:spPr>
          <a:xfrm>
            <a:off x="6519672" y="3995057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53" name="C1-E12 line 51" descr="sci-ppt:o051"/>
          <p:cNvCxnSpPr/>
          <p:nvPr/>
        </p:nvCxnSpPr>
        <p:spPr>
          <a:xfrm>
            <a:off x="6583680" y="3995057"/>
            <a:ext cx="51206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54" name="C1-E12 text 52" descr="sci-ppt:o052"/>
          <p:cNvSpPr txBox="1"/>
          <p:nvPr/>
        </p:nvSpPr>
        <p:spPr>
          <a:xfrm>
            <a:off x="5715000" y="3912761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0.25</a:t>
            </a:r>
          </a:p>
        </p:txBody>
      </p:sp>
      <p:cxnSp>
        <p:nvCxnSpPr>
          <p:cNvPr id="55" name="C1-E12 line 53" descr="sci-ppt:o053"/>
          <p:cNvCxnSpPr/>
          <p:nvPr/>
        </p:nvCxnSpPr>
        <p:spPr>
          <a:xfrm>
            <a:off x="6519672" y="3189514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56" name="C1-E12 line 54" descr="sci-ppt:o054"/>
          <p:cNvCxnSpPr/>
          <p:nvPr/>
        </p:nvCxnSpPr>
        <p:spPr>
          <a:xfrm>
            <a:off x="6583680" y="3189514"/>
            <a:ext cx="51206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57" name="C1-E12 text 55" descr="sci-ppt:o055"/>
          <p:cNvSpPr txBox="1"/>
          <p:nvPr/>
        </p:nvSpPr>
        <p:spPr>
          <a:xfrm>
            <a:off x="5715000" y="3107218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0.50</a:t>
            </a:r>
          </a:p>
        </p:txBody>
      </p:sp>
      <p:cxnSp>
        <p:nvCxnSpPr>
          <p:cNvPr id="58" name="C1-E12 line 56" descr="sci-ppt:o056"/>
          <p:cNvCxnSpPr/>
          <p:nvPr/>
        </p:nvCxnSpPr>
        <p:spPr>
          <a:xfrm>
            <a:off x="6519672" y="2383971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59" name="C1-E12 line 57" descr="sci-ppt:o057"/>
          <p:cNvCxnSpPr/>
          <p:nvPr/>
        </p:nvCxnSpPr>
        <p:spPr>
          <a:xfrm>
            <a:off x="6583680" y="2383971"/>
            <a:ext cx="51206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60" name="C1-E12 text 58" descr="sci-ppt:o058"/>
          <p:cNvSpPr txBox="1"/>
          <p:nvPr/>
        </p:nvSpPr>
        <p:spPr>
          <a:xfrm>
            <a:off x="5715000" y="2301675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0.75</a:t>
            </a:r>
          </a:p>
        </p:txBody>
      </p:sp>
      <p:cxnSp>
        <p:nvCxnSpPr>
          <p:cNvPr id="61" name="C1-E12 line 59" descr="sci-ppt:o059"/>
          <p:cNvCxnSpPr/>
          <p:nvPr/>
        </p:nvCxnSpPr>
        <p:spPr>
          <a:xfrm>
            <a:off x="6519672" y="1578428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2" name="C1-E12 line 60" descr="sci-ppt:o060"/>
          <p:cNvCxnSpPr/>
          <p:nvPr/>
        </p:nvCxnSpPr>
        <p:spPr>
          <a:xfrm>
            <a:off x="6583680" y="1578428"/>
            <a:ext cx="51206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63" name="C1-E12 text 61" descr="sci-ppt:o061"/>
          <p:cNvSpPr txBox="1"/>
          <p:nvPr/>
        </p:nvSpPr>
        <p:spPr>
          <a:xfrm>
            <a:off x="5715000" y="1496132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1.00</a:t>
            </a:r>
          </a:p>
        </p:txBody>
      </p:sp>
      <p:sp>
        <p:nvSpPr>
          <p:cNvPr id="64" name="C1-E12 text 62" descr="sci-ppt:o062"/>
          <p:cNvSpPr txBox="1"/>
          <p:nvPr/>
        </p:nvSpPr>
        <p:spPr>
          <a:xfrm>
            <a:off x="6583680" y="5084064"/>
            <a:ext cx="51206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 / R</a:t>
            </a:r>
          </a:p>
        </p:txBody>
      </p:sp>
      <p:sp>
        <p:nvSpPr>
          <p:cNvPr id="65" name="C1-E12 text 63" descr="sci-ppt:o063"/>
          <p:cNvSpPr txBox="1"/>
          <p:nvPr/>
        </p:nvSpPr>
        <p:spPr>
          <a:xfrm>
            <a:off x="6035040" y="1069848"/>
            <a:ext cx="51206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dissipation inside r</a:t>
            </a:r>
          </a:p>
        </p:txBody>
      </p:sp>
      <p:sp>
        <p:nvSpPr>
          <p:cNvPr id="66" name="C1-E12 polygon 64" descr="sci-ppt:o064"/>
          <p:cNvSpPr/>
          <p:nvPr/>
        </p:nvSpPr>
        <p:spPr>
          <a:xfrm>
            <a:off x="6583680" y="1628775"/>
            <a:ext cx="5120640" cy="3171825"/>
          </a:xfrm>
          <a:custGeom>
            <a:avLst/>
            <a:gdLst/>
            <a:ahLst/>
            <a:cxnLst/>
            <a:rect l="l" t="t" r="r" b="b"/>
            <a:pathLst>
              <a:path w="5120640" h="3171825">
                <a:moveTo>
                  <a:pt x="0" y="3171825"/>
                </a:moveTo>
                <a:lnTo>
                  <a:pt x="25731" y="3030384"/>
                </a:lnTo>
                <a:lnTo>
                  <a:pt x="51463" y="2897102"/>
                </a:lnTo>
                <a:lnTo>
                  <a:pt x="77195" y="2771399"/>
                </a:lnTo>
                <a:lnTo>
                  <a:pt x="102927" y="2652743"/>
                </a:lnTo>
                <a:lnTo>
                  <a:pt x="128659" y="2540648"/>
                </a:lnTo>
                <a:lnTo>
                  <a:pt x="154391" y="2434666"/>
                </a:lnTo>
                <a:lnTo>
                  <a:pt x="180123" y="2334386"/>
                </a:lnTo>
                <a:lnTo>
                  <a:pt x="205854" y="2239431"/>
                </a:lnTo>
                <a:lnTo>
                  <a:pt x="231586" y="2149450"/>
                </a:lnTo>
                <a:lnTo>
                  <a:pt x="257318" y="2064123"/>
                </a:lnTo>
                <a:lnTo>
                  <a:pt x="283050" y="1983152"/>
                </a:lnTo>
                <a:lnTo>
                  <a:pt x="308782" y="1906263"/>
                </a:lnTo>
                <a:lnTo>
                  <a:pt x="334514" y="1833202"/>
                </a:lnTo>
                <a:lnTo>
                  <a:pt x="360246" y="1763734"/>
                </a:lnTo>
                <a:lnTo>
                  <a:pt x="385977" y="1697641"/>
                </a:lnTo>
                <a:lnTo>
                  <a:pt x="411709" y="1634719"/>
                </a:lnTo>
                <a:lnTo>
                  <a:pt x="437441" y="1574782"/>
                </a:lnTo>
                <a:lnTo>
                  <a:pt x="463173" y="1517654"/>
                </a:lnTo>
                <a:lnTo>
                  <a:pt x="488905" y="1463172"/>
                </a:lnTo>
                <a:lnTo>
                  <a:pt x="514637" y="1411186"/>
                </a:lnTo>
                <a:lnTo>
                  <a:pt x="540369" y="1361553"/>
                </a:lnTo>
                <a:lnTo>
                  <a:pt x="566100" y="1314143"/>
                </a:lnTo>
                <a:lnTo>
                  <a:pt x="591832" y="1268831"/>
                </a:lnTo>
                <a:lnTo>
                  <a:pt x="617564" y="1225504"/>
                </a:lnTo>
                <a:lnTo>
                  <a:pt x="643296" y="1184054"/>
                </a:lnTo>
                <a:lnTo>
                  <a:pt x="669028" y="1144380"/>
                </a:lnTo>
                <a:lnTo>
                  <a:pt x="694760" y="1106388"/>
                </a:lnTo>
                <a:lnTo>
                  <a:pt x="720492" y="1069990"/>
                </a:lnTo>
                <a:lnTo>
                  <a:pt x="746223" y="1035103"/>
                </a:lnTo>
                <a:lnTo>
                  <a:pt x="771955" y="1001650"/>
                </a:lnTo>
                <a:lnTo>
                  <a:pt x="797687" y="969557"/>
                </a:lnTo>
                <a:lnTo>
                  <a:pt x="823419" y="938757"/>
                </a:lnTo>
                <a:lnTo>
                  <a:pt x="849151" y="909184"/>
                </a:lnTo>
                <a:lnTo>
                  <a:pt x="874883" y="880779"/>
                </a:lnTo>
                <a:lnTo>
                  <a:pt x="900615" y="853484"/>
                </a:lnTo>
                <a:lnTo>
                  <a:pt x="926346" y="827245"/>
                </a:lnTo>
                <a:lnTo>
                  <a:pt x="952078" y="802013"/>
                </a:lnTo>
                <a:lnTo>
                  <a:pt x="977810" y="777738"/>
                </a:lnTo>
                <a:lnTo>
                  <a:pt x="1003542" y="754376"/>
                </a:lnTo>
                <a:lnTo>
                  <a:pt x="1029274" y="731886"/>
                </a:lnTo>
                <a:lnTo>
                  <a:pt x="1055006" y="710225"/>
                </a:lnTo>
                <a:lnTo>
                  <a:pt x="1080738" y="689357"/>
                </a:lnTo>
                <a:lnTo>
                  <a:pt x="1106469" y="669245"/>
                </a:lnTo>
                <a:lnTo>
                  <a:pt x="1132201" y="649856"/>
                </a:lnTo>
                <a:lnTo>
                  <a:pt x="1157933" y="631157"/>
                </a:lnTo>
                <a:lnTo>
                  <a:pt x="1183665" y="613118"/>
                </a:lnTo>
                <a:lnTo>
                  <a:pt x="1209397" y="595710"/>
                </a:lnTo>
                <a:lnTo>
                  <a:pt x="1235129" y="578906"/>
                </a:lnTo>
                <a:lnTo>
                  <a:pt x="1260861" y="562680"/>
                </a:lnTo>
                <a:lnTo>
                  <a:pt x="1286592" y="547007"/>
                </a:lnTo>
                <a:lnTo>
                  <a:pt x="1312324" y="531863"/>
                </a:lnTo>
                <a:lnTo>
                  <a:pt x="1338056" y="517227"/>
                </a:lnTo>
                <a:lnTo>
                  <a:pt x="1363788" y="503078"/>
                </a:lnTo>
                <a:lnTo>
                  <a:pt x="1389520" y="489395"/>
                </a:lnTo>
                <a:lnTo>
                  <a:pt x="1415252" y="476160"/>
                </a:lnTo>
                <a:lnTo>
                  <a:pt x="1440984" y="463353"/>
                </a:lnTo>
                <a:lnTo>
                  <a:pt x="1466715" y="450959"/>
                </a:lnTo>
                <a:lnTo>
                  <a:pt x="1492447" y="438960"/>
                </a:lnTo>
                <a:lnTo>
                  <a:pt x="1518179" y="427341"/>
                </a:lnTo>
                <a:lnTo>
                  <a:pt x="1543911" y="416087"/>
                </a:lnTo>
                <a:lnTo>
                  <a:pt x="1569643" y="405184"/>
                </a:lnTo>
                <a:lnTo>
                  <a:pt x="1595375" y="394618"/>
                </a:lnTo>
                <a:lnTo>
                  <a:pt x="1621107" y="384376"/>
                </a:lnTo>
                <a:lnTo>
                  <a:pt x="1646838" y="374446"/>
                </a:lnTo>
                <a:lnTo>
                  <a:pt x="1672570" y="364817"/>
                </a:lnTo>
                <a:lnTo>
                  <a:pt x="1698302" y="355476"/>
                </a:lnTo>
                <a:lnTo>
                  <a:pt x="1724034" y="346413"/>
                </a:lnTo>
                <a:lnTo>
                  <a:pt x="1749766" y="337618"/>
                </a:lnTo>
                <a:lnTo>
                  <a:pt x="1775498" y="329081"/>
                </a:lnTo>
                <a:lnTo>
                  <a:pt x="1801230" y="320793"/>
                </a:lnTo>
                <a:lnTo>
                  <a:pt x="1826962" y="312745"/>
                </a:lnTo>
                <a:lnTo>
                  <a:pt x="1852693" y="304927"/>
                </a:lnTo>
                <a:lnTo>
                  <a:pt x="1878425" y="297333"/>
                </a:lnTo>
                <a:lnTo>
                  <a:pt x="1904157" y="289953"/>
                </a:lnTo>
                <a:lnTo>
                  <a:pt x="1929889" y="282780"/>
                </a:lnTo>
                <a:lnTo>
                  <a:pt x="1955621" y="275808"/>
                </a:lnTo>
                <a:lnTo>
                  <a:pt x="1981353" y="269029"/>
                </a:lnTo>
                <a:lnTo>
                  <a:pt x="2007085" y="262437"/>
                </a:lnTo>
                <a:lnTo>
                  <a:pt x="2032816" y="256025"/>
                </a:lnTo>
                <a:lnTo>
                  <a:pt x="2058548" y="249786"/>
                </a:lnTo>
                <a:lnTo>
                  <a:pt x="2084280" y="243717"/>
                </a:lnTo>
                <a:lnTo>
                  <a:pt x="2110012" y="237809"/>
                </a:lnTo>
                <a:lnTo>
                  <a:pt x="2135744" y="232059"/>
                </a:lnTo>
                <a:lnTo>
                  <a:pt x="2161476" y="226461"/>
                </a:lnTo>
                <a:lnTo>
                  <a:pt x="2187208" y="221010"/>
                </a:lnTo>
                <a:lnTo>
                  <a:pt x="2212939" y="215701"/>
                </a:lnTo>
                <a:lnTo>
                  <a:pt x="2238671" y="210529"/>
                </a:lnTo>
                <a:lnTo>
                  <a:pt x="2264403" y="205491"/>
                </a:lnTo>
                <a:lnTo>
                  <a:pt x="2290135" y="200582"/>
                </a:lnTo>
                <a:lnTo>
                  <a:pt x="2315867" y="195797"/>
                </a:lnTo>
                <a:lnTo>
                  <a:pt x="2341599" y="191133"/>
                </a:lnTo>
                <a:lnTo>
                  <a:pt x="2367331" y="186587"/>
                </a:lnTo>
                <a:lnTo>
                  <a:pt x="2393062" y="182154"/>
                </a:lnTo>
                <a:lnTo>
                  <a:pt x="2418794" y="177830"/>
                </a:lnTo>
                <a:lnTo>
                  <a:pt x="2444526" y="173614"/>
                </a:lnTo>
                <a:lnTo>
                  <a:pt x="2470258" y="169500"/>
                </a:lnTo>
                <a:lnTo>
                  <a:pt x="2495990" y="165487"/>
                </a:lnTo>
                <a:lnTo>
                  <a:pt x="2521722" y="161571"/>
                </a:lnTo>
                <a:lnTo>
                  <a:pt x="2547454" y="157749"/>
                </a:lnTo>
                <a:lnTo>
                  <a:pt x="2573185" y="154018"/>
                </a:lnTo>
                <a:lnTo>
                  <a:pt x="2598917" y="150376"/>
                </a:lnTo>
                <a:lnTo>
                  <a:pt x="2624649" y="146820"/>
                </a:lnTo>
                <a:lnTo>
                  <a:pt x="2650381" y="143347"/>
                </a:lnTo>
                <a:lnTo>
                  <a:pt x="2676113" y="139956"/>
                </a:lnTo>
                <a:lnTo>
                  <a:pt x="2701845" y="136643"/>
                </a:lnTo>
                <a:lnTo>
                  <a:pt x="2727577" y="133407"/>
                </a:lnTo>
                <a:lnTo>
                  <a:pt x="2753308" y="130245"/>
                </a:lnTo>
                <a:lnTo>
                  <a:pt x="2779040" y="127155"/>
                </a:lnTo>
                <a:lnTo>
                  <a:pt x="2804772" y="124135"/>
                </a:lnTo>
                <a:lnTo>
                  <a:pt x="2830504" y="121183"/>
                </a:lnTo>
                <a:lnTo>
                  <a:pt x="2856236" y="118298"/>
                </a:lnTo>
                <a:lnTo>
                  <a:pt x="2881968" y="115477"/>
                </a:lnTo>
                <a:lnTo>
                  <a:pt x="2907700" y="112718"/>
                </a:lnTo>
                <a:lnTo>
                  <a:pt x="2933431" y="110020"/>
                </a:lnTo>
                <a:lnTo>
                  <a:pt x="2959163" y="107382"/>
                </a:lnTo>
                <a:lnTo>
                  <a:pt x="2984895" y="104801"/>
                </a:lnTo>
                <a:lnTo>
                  <a:pt x="3010627" y="102276"/>
                </a:lnTo>
                <a:lnTo>
                  <a:pt x="3036359" y="99806"/>
                </a:lnTo>
                <a:lnTo>
                  <a:pt x="3062091" y="97388"/>
                </a:lnTo>
                <a:lnTo>
                  <a:pt x="3087823" y="95022"/>
                </a:lnTo>
                <a:lnTo>
                  <a:pt x="3113554" y="92707"/>
                </a:lnTo>
                <a:lnTo>
                  <a:pt x="3139286" y="90440"/>
                </a:lnTo>
                <a:lnTo>
                  <a:pt x="3165018" y="88221"/>
                </a:lnTo>
                <a:lnTo>
                  <a:pt x="3190750" y="86048"/>
                </a:lnTo>
                <a:lnTo>
                  <a:pt x="3216482" y="83921"/>
                </a:lnTo>
                <a:lnTo>
                  <a:pt x="3242214" y="81838"/>
                </a:lnTo>
                <a:lnTo>
                  <a:pt x="3267946" y="79797"/>
                </a:lnTo>
                <a:lnTo>
                  <a:pt x="3293677" y="77798"/>
                </a:lnTo>
                <a:lnTo>
                  <a:pt x="3319409" y="75840"/>
                </a:lnTo>
                <a:lnTo>
                  <a:pt x="3345141" y="73922"/>
                </a:lnTo>
                <a:lnTo>
                  <a:pt x="3370873" y="72042"/>
                </a:lnTo>
                <a:lnTo>
                  <a:pt x="3396605" y="70200"/>
                </a:lnTo>
                <a:lnTo>
                  <a:pt x="3422337" y="68395"/>
                </a:lnTo>
                <a:lnTo>
                  <a:pt x="3448069" y="66626"/>
                </a:lnTo>
                <a:lnTo>
                  <a:pt x="3473801" y="64891"/>
                </a:lnTo>
                <a:lnTo>
                  <a:pt x="3499532" y="63191"/>
                </a:lnTo>
                <a:lnTo>
                  <a:pt x="3525264" y="61524"/>
                </a:lnTo>
                <a:lnTo>
                  <a:pt x="3550996" y="59890"/>
                </a:lnTo>
                <a:lnTo>
                  <a:pt x="3576728" y="58287"/>
                </a:lnTo>
                <a:lnTo>
                  <a:pt x="3602460" y="56715"/>
                </a:lnTo>
                <a:lnTo>
                  <a:pt x="3628192" y="55174"/>
                </a:lnTo>
                <a:lnTo>
                  <a:pt x="3653924" y="53661"/>
                </a:lnTo>
                <a:lnTo>
                  <a:pt x="3679655" y="52178"/>
                </a:lnTo>
                <a:lnTo>
                  <a:pt x="3705387" y="50722"/>
                </a:lnTo>
                <a:lnTo>
                  <a:pt x="3731119" y="49295"/>
                </a:lnTo>
                <a:lnTo>
                  <a:pt x="3756851" y="47893"/>
                </a:lnTo>
                <a:lnTo>
                  <a:pt x="3782583" y="46518"/>
                </a:lnTo>
                <a:lnTo>
                  <a:pt x="3808315" y="45169"/>
                </a:lnTo>
                <a:lnTo>
                  <a:pt x="3834047" y="43844"/>
                </a:lnTo>
                <a:lnTo>
                  <a:pt x="3859778" y="42544"/>
                </a:lnTo>
                <a:lnTo>
                  <a:pt x="3885510" y="41268"/>
                </a:lnTo>
                <a:lnTo>
                  <a:pt x="3911242" y="40015"/>
                </a:lnTo>
                <a:lnTo>
                  <a:pt x="3936974" y="38784"/>
                </a:lnTo>
                <a:lnTo>
                  <a:pt x="3962706" y="37576"/>
                </a:lnTo>
                <a:lnTo>
                  <a:pt x="3988438" y="36390"/>
                </a:lnTo>
                <a:lnTo>
                  <a:pt x="4014170" y="35225"/>
                </a:lnTo>
                <a:lnTo>
                  <a:pt x="4039901" y="34080"/>
                </a:lnTo>
                <a:lnTo>
                  <a:pt x="4065633" y="32956"/>
                </a:lnTo>
                <a:lnTo>
                  <a:pt x="4091365" y="31852"/>
                </a:lnTo>
                <a:lnTo>
                  <a:pt x="4117097" y="30768"/>
                </a:lnTo>
                <a:lnTo>
                  <a:pt x="4142829" y="29702"/>
                </a:lnTo>
                <a:lnTo>
                  <a:pt x="4168561" y="28655"/>
                </a:lnTo>
                <a:lnTo>
                  <a:pt x="4194293" y="27626"/>
                </a:lnTo>
                <a:lnTo>
                  <a:pt x="4220024" y="26615"/>
                </a:lnTo>
                <a:lnTo>
                  <a:pt x="4245756" y="25621"/>
                </a:lnTo>
                <a:lnTo>
                  <a:pt x="4271488" y="24644"/>
                </a:lnTo>
                <a:lnTo>
                  <a:pt x="4297220" y="23684"/>
                </a:lnTo>
                <a:lnTo>
                  <a:pt x="4322952" y="22740"/>
                </a:lnTo>
                <a:lnTo>
                  <a:pt x="4348684" y="21813"/>
                </a:lnTo>
                <a:lnTo>
                  <a:pt x="4374416" y="20900"/>
                </a:lnTo>
                <a:lnTo>
                  <a:pt x="4400147" y="20004"/>
                </a:lnTo>
                <a:lnTo>
                  <a:pt x="4425879" y="19122"/>
                </a:lnTo>
                <a:lnTo>
                  <a:pt x="4451611" y="18255"/>
                </a:lnTo>
                <a:lnTo>
                  <a:pt x="4477343" y="17402"/>
                </a:lnTo>
                <a:lnTo>
                  <a:pt x="4503075" y="16563"/>
                </a:lnTo>
                <a:lnTo>
                  <a:pt x="4528807" y="15738"/>
                </a:lnTo>
                <a:lnTo>
                  <a:pt x="4554539" y="14927"/>
                </a:lnTo>
                <a:lnTo>
                  <a:pt x="4580270" y="14129"/>
                </a:lnTo>
                <a:lnTo>
                  <a:pt x="4606002" y="13344"/>
                </a:lnTo>
                <a:lnTo>
                  <a:pt x="4631734" y="12571"/>
                </a:lnTo>
                <a:lnTo>
                  <a:pt x="4657466" y="11811"/>
                </a:lnTo>
                <a:lnTo>
                  <a:pt x="4683198" y="11063"/>
                </a:lnTo>
                <a:lnTo>
                  <a:pt x="4708930" y="10327"/>
                </a:lnTo>
                <a:lnTo>
                  <a:pt x="4734662" y="9603"/>
                </a:lnTo>
                <a:lnTo>
                  <a:pt x="4760393" y="8890"/>
                </a:lnTo>
                <a:lnTo>
                  <a:pt x="4786125" y="8189"/>
                </a:lnTo>
                <a:lnTo>
                  <a:pt x="4811857" y="7498"/>
                </a:lnTo>
                <a:lnTo>
                  <a:pt x="4837589" y="6819"/>
                </a:lnTo>
                <a:lnTo>
                  <a:pt x="4863321" y="6150"/>
                </a:lnTo>
                <a:lnTo>
                  <a:pt x="4889053" y="5491"/>
                </a:lnTo>
                <a:lnTo>
                  <a:pt x="4914785" y="4843"/>
                </a:lnTo>
                <a:lnTo>
                  <a:pt x="4940516" y="4204"/>
                </a:lnTo>
                <a:lnTo>
                  <a:pt x="4966248" y="3575"/>
                </a:lnTo>
                <a:lnTo>
                  <a:pt x="4991980" y="2956"/>
                </a:lnTo>
                <a:lnTo>
                  <a:pt x="5017712" y="2347"/>
                </a:lnTo>
                <a:lnTo>
                  <a:pt x="5043444" y="1747"/>
                </a:lnTo>
                <a:lnTo>
                  <a:pt x="5069176" y="1155"/>
                </a:lnTo>
                <a:lnTo>
                  <a:pt x="5094908" y="573"/>
                </a:lnTo>
                <a:lnTo>
                  <a:pt x="5120640" y="0"/>
                </a:lnTo>
              </a:path>
            </a:pathLst>
          </a:custGeom>
          <a:noFill/>
          <a:ln w="381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C1-E12 ellipse 65" descr="sci-ppt:o065"/>
          <p:cNvSpPr/>
          <p:nvPr/>
        </p:nvSpPr>
        <p:spPr>
          <a:xfrm>
            <a:off x="8217408" y="1908048"/>
            <a:ext cx="146304" cy="146304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C1-E12 text 66" descr="sci-ppt:o066"/>
          <p:cNvSpPr txBox="1"/>
          <p:nvPr/>
        </p:nvSpPr>
        <p:spPr>
          <a:xfrm>
            <a:off x="8418576" y="2026920"/>
            <a:ext cx="21945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EDBD4"/>
                </a:solidFill>
                <a:latin typeface="Arial"/>
              </a:rPr>
              <a:t>87.5 % inside r = 2R</a:t>
            </a:r>
          </a:p>
        </p:txBody>
      </p:sp>
      <p:sp>
        <p:nvSpPr>
          <p:cNvPr id="69" name="C1-E12 text 67" descr="sci-ppt:o067"/>
          <p:cNvSpPr txBox="1"/>
          <p:nvPr/>
        </p:nvSpPr>
        <p:spPr>
          <a:xfrm>
            <a:off x="8705088" y="3581400"/>
            <a:ext cx="3108960" cy="402081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𝒟 = ∫ 2μ(Dᵣᵣ² + 2D_θθ²) 4πr² dr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= 48πμR⁴Ṙ² ∫ r⁻⁴ dr = 16πμRṘ²</a:t>
            </a:r>
          </a:p>
        </p:txBody>
      </p:sp>
      <p:sp>
        <p:nvSpPr>
          <p:cNvPr id="70" name="C1-E12 rect 68" descr="sci-ppt:o068"/>
          <p:cNvSpPr/>
          <p:nvPr/>
        </p:nvSpPr>
        <p:spPr>
          <a:xfrm>
            <a:off x="4114800" y="3063239"/>
            <a:ext cx="457200" cy="457200"/>
          </a:xfrm>
          <a:prstGeom prst="rect">
            <a:avLst/>
          </a:prstGeom>
          <a:noFill/>
          <a:ln w="1524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C1-E12 rect 69" descr="sci-ppt:o069"/>
          <p:cNvSpPr/>
          <p:nvPr/>
        </p:nvSpPr>
        <p:spPr>
          <a:xfrm>
            <a:off x="4023360" y="3200400"/>
            <a:ext cx="713232" cy="182880"/>
          </a:xfrm>
          <a:prstGeom prst="rect">
            <a:avLst/>
          </a:prstGeom>
          <a:solidFill>
            <a:srgbClr val="2B6678">
              <a:alpha val="90000"/>
            </a:srgbClr>
          </a:solidFill>
          <a:ln w="22860">
            <a:solidFill>
              <a:srgbClr val="8EDBD4">
                <a:alpha val="90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2" name="C1-E12 arrow 70" descr="sci-ppt:o070"/>
          <p:cNvCxnSpPr/>
          <p:nvPr/>
        </p:nvCxnSpPr>
        <p:spPr>
          <a:xfrm>
            <a:off x="3794760" y="3291839"/>
            <a:ext cx="210312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73" name="C1-E12 arrow 71" descr="sci-ppt:o071"/>
          <p:cNvCxnSpPr/>
          <p:nvPr/>
        </p:nvCxnSpPr>
        <p:spPr>
          <a:xfrm flipH="1">
            <a:off x="4718304" y="3291839"/>
            <a:ext cx="173736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74" name="C1-E12 arrow 72" descr="sci-ppt:o072"/>
          <p:cNvCxnSpPr/>
          <p:nvPr/>
        </p:nvCxnSpPr>
        <p:spPr>
          <a:xfrm>
            <a:off x="4343400" y="2898648"/>
            <a:ext cx="0" cy="164591"/>
          </a:xfrm>
          <a:prstGeom prst="line">
            <a:avLst/>
          </a:prstGeom>
          <a:ln w="25400">
            <a:solidFill>
              <a:srgbClr val="F28BA0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75" name="C1-E12 arrow 73" descr="sci-ppt:o073"/>
          <p:cNvCxnSpPr/>
          <p:nvPr/>
        </p:nvCxnSpPr>
        <p:spPr>
          <a:xfrm flipV="1">
            <a:off x="4343400" y="3520439"/>
            <a:ext cx="0" cy="164592"/>
          </a:xfrm>
          <a:prstGeom prst="line">
            <a:avLst/>
          </a:prstGeom>
          <a:ln w="25400">
            <a:solidFill>
              <a:srgbClr val="F28BA0"/>
            </a:solidFill>
            <a:headEnd type="none" w="med" len="med"/>
            <a:tailEnd type="triangle" w="med" len="med"/>
          </a:ln>
          <a:effectLst/>
        </p:spPr>
      </p:cxnSp>
      <p:sp>
        <p:nvSpPr>
          <p:cNvPr id="76" name="C1-E12 text 74" descr="sci-ppt:o074"/>
          <p:cNvSpPr txBox="1"/>
          <p:nvPr/>
        </p:nvSpPr>
        <p:spPr>
          <a:xfrm>
            <a:off x="6583680" y="5349240"/>
            <a:ext cx="5212080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A shell element is squeezed radially and stretched around the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sphere; most of this shearing happens near the wall.</a:t>
            </a:r>
          </a:p>
        </p:txBody>
      </p:sp>
      <p:sp>
        <p:nvSpPr>
          <p:cNvPr id="77" name="C1-E12 text 75" descr="sci-ppt:o075"/>
          <p:cNvSpPr txBox="1"/>
          <p:nvPr/>
        </p:nvSpPr>
        <p:spPr>
          <a:xfrm>
            <a:off x="914400" y="6035040"/>
            <a:ext cx="108813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2B880"/>
                </a:solidFill>
                <a:latin typeface="Arial"/>
              </a:rPr>
              <a:t>Direct strain-rate integration reproduces the energy-balance loss of Eq. C1-E11 exactly.</a:t>
            </a:r>
          </a:p>
        </p:txBody>
      </p:sp>
      <p:sp>
        <p:nvSpPr>
          <p:cNvPr id="78" name="C1-E12 text 76" descr="sci-ppt:o076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Profiles from Eq. C1-E12; the expanding case Ṙ &gt; 0 is drawn (signs flip for collapse).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