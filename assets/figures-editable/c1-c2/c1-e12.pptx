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C1-E12 | Physical-variable diagram</a:t>
            </a:r>
          </a:p>
        </p:txBody>
      </p:sp>
      <p:sp>
        <p:nvSpPr>
          <p:cNvPr id="3" name="ellipse2" descr="sci-ppt:C1-E12-002"/>
          <p:cNvSpPr/>
          <p:nvPr/>
        </p:nvSpPr>
        <p:spPr>
          <a:xfrm>
            <a:off x="2438400" y="1645920"/>
            <a:ext cx="1950720" cy="195072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12-003"/>
          <p:cNvSpPr/>
          <p:nvPr/>
        </p:nvSpPr>
        <p:spPr>
          <a:xfrm>
            <a:off x="1706880" y="914400"/>
            <a:ext cx="3413760" cy="341376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ellipse4" descr="sci-ppt:C1-E12-004"/>
          <p:cNvSpPr/>
          <p:nvPr/>
        </p:nvSpPr>
        <p:spPr>
          <a:xfrm>
            <a:off x="1524000" y="731520"/>
            <a:ext cx="3779520" cy="377952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12-005"/>
          <p:cNvSpPr txBox="1"/>
          <p:nvPr/>
        </p:nvSpPr>
        <p:spPr>
          <a:xfrm>
            <a:off x="2438400" y="2560320"/>
            <a:ext cx="24384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Cavity</a:t>
            </a:r>
          </a:p>
        </p:txBody>
      </p:sp>
      <p:cxnSp>
        <p:nvCxnSpPr>
          <p:cNvPr id="7" name="arrow6" descr="sci-ppt:C1-E12-006"/>
          <p:cNvCxnSpPr/>
          <p:nvPr/>
        </p:nvCxnSpPr>
        <p:spPr>
          <a:xfrm>
            <a:off x="3413760" y="2621280"/>
            <a:ext cx="17678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1-E12-007"/>
          <p:cNvSpPr txBox="1"/>
          <p:nvPr/>
        </p:nvSpPr>
        <p:spPr>
          <a:xfrm>
            <a:off x="5486400" y="1950720"/>
            <a:ext cx="60960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Exterior liquid shells: 4π r² dr</a:t>
            </a:r>
          </a:p>
        </p:txBody>
      </p:sp>
      <p:sp>
        <p:nvSpPr>
          <p:cNvPr id="9" name="text8" descr="sci-ppt:C1-E12-008"/>
          <p:cNvSpPr txBox="1"/>
          <p:nvPr/>
        </p:nvSpPr>
        <p:spPr>
          <a:xfrm>
            <a:off x="5486400" y="2621280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Integrate r from R to infinity</a:t>
            </a:r>
          </a:p>
        </p:txBody>
      </p:sp>
      <p:sp>
        <p:nvSpPr>
          <p:cNvPr id="10" name="text9" descr="sci-ppt:C1-E12-009"/>
          <p:cNvSpPr txBox="1"/>
          <p:nvPr/>
        </p:nvSpPr>
        <p:spPr>
          <a:xfrm>
            <a:off x="5486400" y="3352800"/>
            <a:ext cx="560832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Positive dissipation density</a:t>
            </a:r>
          </a:p>
        </p:txBody>
      </p:sp>
      <p:sp>
        <p:nvSpPr>
          <p:cNvPr id="11" name="text10" descr="sci-ppt:C1-E12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Drr</a:t>
            </a:r>
          </a:p>
        </p:txBody>
      </p:sp>
      <p:sp>
        <p:nvSpPr>
          <p:cNvPr id="12" name="text11" descr="sci-ppt:C1-E12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Dψψ</a:t>
            </a:r>
          </a:p>
        </p:txBody>
      </p:sp>
      <p:sp>
        <p:nvSpPr>
          <p:cNvPr id="13" name="text12" descr="sci-ppt:C1-E12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14" name="text13" descr="sci-ppt:C1-E12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5" name="text14" descr="sci-ppt:C1-E12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4πr²dr</a:t>
            </a:r>
          </a:p>
        </p:txBody>
      </p:sp>
      <p:sp>
        <p:nvSpPr>
          <p:cNvPr id="16" name="text15" descr="sci-ppt:C1-E12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Dθθ</a:t>
            </a:r>
          </a:p>
        </p:txBody>
      </p:sp>
      <p:sp>
        <p:nvSpPr>
          <p:cNvPr id="17" name="text16" descr="sci-ppt:C1-E12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Dμ</a:t>
            </a:r>
          </a:p>
        </p:txBody>
      </p:sp>
      <p:sp>
        <p:nvSpPr>
          <p:cNvPr id="18" name="text17" descr="sci-ppt:C1-E12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9" name="text18" descr="sci-ppt:C1-E12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0" name="text19" descr="sci-ppt:C1-E12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Integrate the positive dissipation density in exterior shells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