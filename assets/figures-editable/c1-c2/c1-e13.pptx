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C1-E13 · Idealized collapse initial-value problem</a:t>
            </a:r>
          </a:p>
        </p:txBody>
      </p:sp>
      <p:sp>
        <p:nvSpPr>
          <p:cNvPr id="3" name="C1-E13 round_rect 1" descr="sci-ppt:o001"/>
          <p:cNvSpPr/>
          <p:nvPr/>
        </p:nvSpPr>
        <p:spPr>
          <a:xfrm>
            <a:off x="365760" y="914400"/>
            <a:ext cx="4206240" cy="50292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13 text 2" descr="sci-ppt:o002"/>
          <p:cNvSpPr txBox="1"/>
          <p:nvPr/>
        </p:nvSpPr>
        <p:spPr>
          <a:xfrm>
            <a:off x="475488" y="969264"/>
            <a:ext cx="39867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Ideal collapse, starting at rest</a:t>
            </a:r>
          </a:p>
        </p:txBody>
      </p:sp>
      <p:sp>
        <p:nvSpPr>
          <p:cNvPr id="5" name="C1-E13 ellipse 3" descr="sci-ppt:o003"/>
          <p:cNvSpPr/>
          <p:nvPr/>
        </p:nvSpPr>
        <p:spPr>
          <a:xfrm>
            <a:off x="1417320" y="2240280"/>
            <a:ext cx="2103120" cy="2103120"/>
          </a:xfrm>
          <a:prstGeom prst="ellipse">
            <a:avLst/>
          </a:prstGeom>
          <a:solidFill>
            <a:srgbClr val="1E4A5A"/>
          </a:solidFill>
          <a:ln w="1524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13 ellipse 4" descr="sci-ppt:o004"/>
          <p:cNvSpPr/>
          <p:nvPr/>
        </p:nvSpPr>
        <p:spPr>
          <a:xfrm>
            <a:off x="1554480" y="2377440"/>
            <a:ext cx="1828800" cy="182880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1-E13 text 5" descr="sci-ppt:o005"/>
          <p:cNvSpPr txBox="1"/>
          <p:nvPr/>
        </p:nvSpPr>
        <p:spPr>
          <a:xfrm>
            <a:off x="1737360" y="2944368"/>
            <a:ext cx="14630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pᵥ only</a:t>
            </a:r>
          </a:p>
        </p:txBody>
      </p:sp>
      <p:sp>
        <p:nvSpPr>
          <p:cNvPr id="8" name="C1-E13 text 6" descr="sci-ppt:o006"/>
          <p:cNvSpPr txBox="1"/>
          <p:nvPr/>
        </p:nvSpPr>
        <p:spPr>
          <a:xfrm>
            <a:off x="1737360" y="3246120"/>
            <a:ext cx="14630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R(0) = Rₘₐₓ</a:t>
            </a:r>
          </a:p>
        </p:txBody>
      </p:sp>
      <p:sp>
        <p:nvSpPr>
          <p:cNvPr id="9" name="C1-E13 text 7" descr="sci-ppt:o007"/>
          <p:cNvSpPr txBox="1"/>
          <p:nvPr/>
        </p:nvSpPr>
        <p:spPr>
          <a:xfrm>
            <a:off x="1737360" y="3547872"/>
            <a:ext cx="14630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Ṙ(0) = 0</a:t>
            </a:r>
          </a:p>
        </p:txBody>
      </p:sp>
      <p:cxnSp>
        <p:nvCxnSpPr>
          <p:cNvPr id="10" name="C1-E13 arrow 8" descr="sci-ppt:o008"/>
          <p:cNvCxnSpPr/>
          <p:nvPr/>
        </p:nvCxnSpPr>
        <p:spPr>
          <a:xfrm flipH="1">
            <a:off x="3657600" y="3291840"/>
            <a:ext cx="594360" cy="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1-E13 arrow 9" descr="sci-ppt:o009"/>
          <p:cNvCxnSpPr/>
          <p:nvPr/>
        </p:nvCxnSpPr>
        <p:spPr>
          <a:xfrm flipH="1">
            <a:off x="3309431" y="2031012"/>
            <a:ext cx="420276" cy="420276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2" name="C1-E13 arrow 10" descr="sci-ppt:o010"/>
          <p:cNvCxnSpPr/>
          <p:nvPr/>
        </p:nvCxnSpPr>
        <p:spPr>
          <a:xfrm>
            <a:off x="2468880" y="1508760"/>
            <a:ext cx="0" cy="59436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1-E13 arrow 11" descr="sci-ppt:o011"/>
          <p:cNvCxnSpPr/>
          <p:nvPr/>
        </p:nvCxnSpPr>
        <p:spPr>
          <a:xfrm>
            <a:off x="1208052" y="2031012"/>
            <a:ext cx="420276" cy="420276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4" name="C1-E13 arrow 12" descr="sci-ppt:o012"/>
          <p:cNvCxnSpPr/>
          <p:nvPr/>
        </p:nvCxnSpPr>
        <p:spPr>
          <a:xfrm>
            <a:off x="685800" y="3291839"/>
            <a:ext cx="594360" cy="1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5" name="C1-E13 arrow 13" descr="sci-ppt:o013"/>
          <p:cNvCxnSpPr/>
          <p:nvPr/>
        </p:nvCxnSpPr>
        <p:spPr>
          <a:xfrm flipV="1">
            <a:off x="1208052" y="4132391"/>
            <a:ext cx="420276" cy="420276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6" name="C1-E13 arrow 14" descr="sci-ppt:o014"/>
          <p:cNvCxnSpPr/>
          <p:nvPr/>
        </p:nvCxnSpPr>
        <p:spPr>
          <a:xfrm flipV="1">
            <a:off x="2468879" y="4480560"/>
            <a:ext cx="0" cy="59436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7" name="C1-E13 arrow 15" descr="sci-ppt:o015"/>
          <p:cNvCxnSpPr/>
          <p:nvPr/>
        </p:nvCxnSpPr>
        <p:spPr>
          <a:xfrm flipH="1" flipV="1">
            <a:off x="3309431" y="4132391"/>
            <a:ext cx="420276" cy="420276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C1-E13 text 16" descr="sci-ppt:o016"/>
          <p:cNvSpPr txBox="1"/>
          <p:nvPr/>
        </p:nvSpPr>
        <p:spPr>
          <a:xfrm>
            <a:off x="502920" y="5212080"/>
            <a:ext cx="39319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p∞ squeezes the liquid; the gas pushes back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only with pᵥ.   Δp_c = p∞ − pᵥ &gt; 0.</a:t>
            </a:r>
          </a:p>
        </p:txBody>
      </p:sp>
      <p:cxnSp>
        <p:nvCxnSpPr>
          <p:cNvPr id="19" name="C1-E13 line 17" descr="sci-ppt:o017"/>
          <p:cNvCxnSpPr/>
          <p:nvPr/>
        </p:nvCxnSpPr>
        <p:spPr>
          <a:xfrm>
            <a:off x="5577840" y="4937760"/>
            <a:ext cx="59436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0" name="C1-E13 line 18" descr="sci-ppt:o018"/>
          <p:cNvCxnSpPr/>
          <p:nvPr/>
        </p:nvCxnSpPr>
        <p:spPr>
          <a:xfrm>
            <a:off x="557784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1" name="C1-E13 line 19" descr="sci-ppt:o019"/>
          <p:cNvCxnSpPr/>
          <p:nvPr/>
        </p:nvCxnSpPr>
        <p:spPr>
          <a:xfrm>
            <a:off x="55778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3 line 20" descr="sci-ppt:o020"/>
          <p:cNvCxnSpPr/>
          <p:nvPr/>
        </p:nvCxnSpPr>
        <p:spPr>
          <a:xfrm>
            <a:off x="55778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3 text 21" descr="sci-ppt:o021"/>
          <p:cNvSpPr txBox="1"/>
          <p:nvPr/>
        </p:nvSpPr>
        <p:spPr>
          <a:xfrm>
            <a:off x="51206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4" name="C1-E13 line 22" descr="sci-ppt:o022"/>
          <p:cNvCxnSpPr/>
          <p:nvPr/>
        </p:nvCxnSpPr>
        <p:spPr>
          <a:xfrm>
            <a:off x="755903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3 line 23" descr="sci-ppt:o023"/>
          <p:cNvCxnSpPr/>
          <p:nvPr/>
        </p:nvCxnSpPr>
        <p:spPr>
          <a:xfrm>
            <a:off x="755903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3 text 24" descr="sci-ppt:o024"/>
          <p:cNvSpPr txBox="1"/>
          <p:nvPr/>
        </p:nvSpPr>
        <p:spPr>
          <a:xfrm>
            <a:off x="710183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7" name="C1-E13 line 25" descr="sci-ppt:o025"/>
          <p:cNvCxnSpPr/>
          <p:nvPr/>
        </p:nvCxnSpPr>
        <p:spPr>
          <a:xfrm>
            <a:off x="95402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3 line 26" descr="sci-ppt:o026"/>
          <p:cNvCxnSpPr/>
          <p:nvPr/>
        </p:nvCxnSpPr>
        <p:spPr>
          <a:xfrm>
            <a:off x="95402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3 text 27" descr="sci-ppt:o027"/>
          <p:cNvSpPr txBox="1"/>
          <p:nvPr/>
        </p:nvSpPr>
        <p:spPr>
          <a:xfrm>
            <a:off x="90830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30" name="C1-E13 line 28" descr="sci-ppt:o028"/>
          <p:cNvCxnSpPr/>
          <p:nvPr/>
        </p:nvCxnSpPr>
        <p:spPr>
          <a:xfrm>
            <a:off x="115214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13 line 29" descr="sci-ppt:o029"/>
          <p:cNvCxnSpPr/>
          <p:nvPr/>
        </p:nvCxnSpPr>
        <p:spPr>
          <a:xfrm>
            <a:off x="115214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13 text 30" descr="sci-ppt:o030"/>
          <p:cNvSpPr txBox="1"/>
          <p:nvPr/>
        </p:nvSpPr>
        <p:spPr>
          <a:xfrm>
            <a:off x="110642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33" name="C1-E13 line 31" descr="sci-ppt:o031"/>
          <p:cNvCxnSpPr/>
          <p:nvPr/>
        </p:nvCxnSpPr>
        <p:spPr>
          <a:xfrm>
            <a:off x="5513831" y="493776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13 line 32" descr="sci-ppt:o032"/>
          <p:cNvCxnSpPr/>
          <p:nvPr/>
        </p:nvCxnSpPr>
        <p:spPr>
          <a:xfrm>
            <a:off x="5513831" y="4088674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C1-E13 line 33" descr="sci-ppt:o033"/>
          <p:cNvCxnSpPr/>
          <p:nvPr/>
        </p:nvCxnSpPr>
        <p:spPr>
          <a:xfrm>
            <a:off x="5577840" y="4088674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6" name="C1-E13 text 34" descr="sci-ppt:o034"/>
          <p:cNvSpPr txBox="1"/>
          <p:nvPr/>
        </p:nvSpPr>
        <p:spPr>
          <a:xfrm>
            <a:off x="4709159" y="400637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37" name="C1-E13 line 35" descr="sci-ppt:o035"/>
          <p:cNvCxnSpPr/>
          <p:nvPr/>
        </p:nvCxnSpPr>
        <p:spPr>
          <a:xfrm>
            <a:off x="5513831" y="3239588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C1-E13 line 36" descr="sci-ppt:o036"/>
          <p:cNvCxnSpPr/>
          <p:nvPr/>
        </p:nvCxnSpPr>
        <p:spPr>
          <a:xfrm>
            <a:off x="5577840" y="3239588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9" name="C1-E13 text 37" descr="sci-ppt:o037"/>
          <p:cNvSpPr txBox="1"/>
          <p:nvPr/>
        </p:nvSpPr>
        <p:spPr>
          <a:xfrm>
            <a:off x="4709159" y="315729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40" name="C1-E13 line 38" descr="sci-ppt:o038"/>
          <p:cNvCxnSpPr/>
          <p:nvPr/>
        </p:nvCxnSpPr>
        <p:spPr>
          <a:xfrm>
            <a:off x="5513831" y="2390502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C1-E13 line 39" descr="sci-ppt:o039"/>
          <p:cNvCxnSpPr/>
          <p:nvPr/>
        </p:nvCxnSpPr>
        <p:spPr>
          <a:xfrm>
            <a:off x="5577840" y="2390502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2" name="C1-E13 text 40" descr="sci-ppt:o040"/>
          <p:cNvSpPr txBox="1"/>
          <p:nvPr/>
        </p:nvSpPr>
        <p:spPr>
          <a:xfrm>
            <a:off x="4709159" y="230820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43" name="C1-E13 line 41" descr="sci-ppt:o041"/>
          <p:cNvCxnSpPr/>
          <p:nvPr/>
        </p:nvCxnSpPr>
        <p:spPr>
          <a:xfrm>
            <a:off x="5513831" y="1541417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1-E13 line 42" descr="sci-ppt:o042"/>
          <p:cNvCxnSpPr/>
          <p:nvPr/>
        </p:nvCxnSpPr>
        <p:spPr>
          <a:xfrm>
            <a:off x="5577840" y="1541417"/>
            <a:ext cx="59436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5" name="C1-E13 text 43" descr="sci-ppt:o043"/>
          <p:cNvSpPr txBox="1"/>
          <p:nvPr/>
        </p:nvSpPr>
        <p:spPr>
          <a:xfrm>
            <a:off x="4709159" y="145912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46" name="C1-E13 text 44" descr="sci-ppt:o044"/>
          <p:cNvSpPr txBox="1"/>
          <p:nvPr/>
        </p:nvSpPr>
        <p:spPr>
          <a:xfrm>
            <a:off x="5577840" y="5221224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47" name="C1-E13 text 45" descr="sci-ppt:o045"/>
          <p:cNvSpPr txBox="1"/>
          <p:nvPr/>
        </p:nvSpPr>
        <p:spPr>
          <a:xfrm>
            <a:off x="5029200" y="1024128"/>
            <a:ext cx="5943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48" name="C1-E13 polygon 46" descr="sci-ppt:o046"/>
          <p:cNvSpPr/>
          <p:nvPr/>
        </p:nvSpPr>
        <p:spPr>
          <a:xfrm>
            <a:off x="5577840" y="1541417"/>
            <a:ext cx="5436499" cy="3395663"/>
          </a:xfrm>
          <a:custGeom>
            <a:avLst/>
            <a:gdLst/>
            <a:ahLst/>
            <a:cxnLst/>
            <a:rect l="l" t="t" r="r" b="b"/>
            <a:pathLst>
              <a:path w="5436499" h="3395663">
                <a:moveTo>
                  <a:pt x="0" y="0"/>
                </a:moveTo>
                <a:lnTo>
                  <a:pt x="56123" y="151"/>
                </a:lnTo>
                <a:lnTo>
                  <a:pt x="112242" y="605"/>
                </a:lnTo>
                <a:lnTo>
                  <a:pt x="168351" y="1362"/>
                </a:lnTo>
                <a:lnTo>
                  <a:pt x="224445" y="2422"/>
                </a:lnTo>
                <a:lnTo>
                  <a:pt x="280519" y="3785"/>
                </a:lnTo>
                <a:lnTo>
                  <a:pt x="336568" y="5451"/>
                </a:lnTo>
                <a:lnTo>
                  <a:pt x="392586" y="7419"/>
                </a:lnTo>
                <a:lnTo>
                  <a:pt x="448570" y="9691"/>
                </a:lnTo>
                <a:lnTo>
                  <a:pt x="504514" y="12265"/>
                </a:lnTo>
                <a:lnTo>
                  <a:pt x="560412" y="15142"/>
                </a:lnTo>
                <a:lnTo>
                  <a:pt x="616261" y="18322"/>
                </a:lnTo>
                <a:lnTo>
                  <a:pt x="672054" y="21805"/>
                </a:lnTo>
                <a:lnTo>
                  <a:pt x="727787" y="25590"/>
                </a:lnTo>
                <a:lnTo>
                  <a:pt x="783455" y="29678"/>
                </a:lnTo>
                <a:lnTo>
                  <a:pt x="839052" y="34070"/>
                </a:lnTo>
                <a:lnTo>
                  <a:pt x="894575" y="38764"/>
                </a:lnTo>
                <a:lnTo>
                  <a:pt x="950016" y="43761"/>
                </a:lnTo>
                <a:lnTo>
                  <a:pt x="1005373" y="49061"/>
                </a:lnTo>
                <a:lnTo>
                  <a:pt x="1060639" y="54663"/>
                </a:lnTo>
                <a:lnTo>
                  <a:pt x="1115809" y="60569"/>
                </a:lnTo>
                <a:lnTo>
                  <a:pt x="1170879" y="66777"/>
                </a:lnTo>
                <a:lnTo>
                  <a:pt x="1225843" y="73288"/>
                </a:lnTo>
                <a:lnTo>
                  <a:pt x="1280696" y="80102"/>
                </a:lnTo>
                <a:lnTo>
                  <a:pt x="1335432" y="87219"/>
                </a:lnTo>
                <a:lnTo>
                  <a:pt x="1390048" y="94639"/>
                </a:lnTo>
                <a:lnTo>
                  <a:pt x="1444538" y="102361"/>
                </a:lnTo>
                <a:lnTo>
                  <a:pt x="1498896" y="110387"/>
                </a:lnTo>
                <a:lnTo>
                  <a:pt x="1553117" y="118715"/>
                </a:lnTo>
                <a:lnTo>
                  <a:pt x="1607197" y="127346"/>
                </a:lnTo>
                <a:lnTo>
                  <a:pt x="1661130" y="136280"/>
                </a:lnTo>
                <a:lnTo>
                  <a:pt x="1714911" y="145517"/>
                </a:lnTo>
                <a:lnTo>
                  <a:pt x="1768534" y="155056"/>
                </a:lnTo>
                <a:lnTo>
                  <a:pt x="1821995" y="164899"/>
                </a:lnTo>
                <a:lnTo>
                  <a:pt x="1875288" y="175044"/>
                </a:lnTo>
                <a:lnTo>
                  <a:pt x="1928408" y="185492"/>
                </a:lnTo>
                <a:lnTo>
                  <a:pt x="1981349" y="196243"/>
                </a:lnTo>
                <a:lnTo>
                  <a:pt x="2034107" y="207297"/>
                </a:lnTo>
                <a:lnTo>
                  <a:pt x="2086676" y="218654"/>
                </a:lnTo>
                <a:lnTo>
                  <a:pt x="2139051" y="230314"/>
                </a:lnTo>
                <a:lnTo>
                  <a:pt x="2191226" y="242276"/>
                </a:lnTo>
                <a:lnTo>
                  <a:pt x="2243196" y="254541"/>
                </a:lnTo>
                <a:lnTo>
                  <a:pt x="2294956" y="267109"/>
                </a:lnTo>
                <a:lnTo>
                  <a:pt x="2346500" y="279980"/>
                </a:lnTo>
                <a:lnTo>
                  <a:pt x="2397823" y="293154"/>
                </a:lnTo>
                <a:lnTo>
                  <a:pt x="2448920" y="306631"/>
                </a:lnTo>
                <a:lnTo>
                  <a:pt x="2499784" y="320410"/>
                </a:lnTo>
                <a:lnTo>
                  <a:pt x="2550412" y="334492"/>
                </a:lnTo>
                <a:lnTo>
                  <a:pt x="2600796" y="348878"/>
                </a:lnTo>
                <a:lnTo>
                  <a:pt x="2650932" y="363566"/>
                </a:lnTo>
                <a:lnTo>
                  <a:pt x="2700814" y="378556"/>
                </a:lnTo>
                <a:lnTo>
                  <a:pt x="2750436" y="393850"/>
                </a:lnTo>
                <a:lnTo>
                  <a:pt x="2799794" y="409447"/>
                </a:lnTo>
                <a:lnTo>
                  <a:pt x="2848881" y="425346"/>
                </a:lnTo>
                <a:lnTo>
                  <a:pt x="2897692" y="441548"/>
                </a:lnTo>
                <a:lnTo>
                  <a:pt x="2946221" y="458053"/>
                </a:lnTo>
                <a:lnTo>
                  <a:pt x="2994462" y="474861"/>
                </a:lnTo>
                <a:lnTo>
                  <a:pt x="3042410" y="491972"/>
                </a:lnTo>
                <a:lnTo>
                  <a:pt x="3090060" y="509386"/>
                </a:lnTo>
                <a:lnTo>
                  <a:pt x="3137404" y="527102"/>
                </a:lnTo>
                <a:lnTo>
                  <a:pt x="3184439" y="545121"/>
                </a:lnTo>
                <a:lnTo>
                  <a:pt x="3231157" y="563444"/>
                </a:lnTo>
                <a:lnTo>
                  <a:pt x="3277554" y="582069"/>
                </a:lnTo>
                <a:lnTo>
                  <a:pt x="3323623" y="600996"/>
                </a:lnTo>
                <a:lnTo>
                  <a:pt x="3369358" y="620227"/>
                </a:lnTo>
                <a:lnTo>
                  <a:pt x="3414754" y="639761"/>
                </a:lnTo>
                <a:lnTo>
                  <a:pt x="3459805" y="659597"/>
                </a:lnTo>
                <a:lnTo>
                  <a:pt x="3504504" y="679736"/>
                </a:lnTo>
                <a:lnTo>
                  <a:pt x="3548847" y="700178"/>
                </a:lnTo>
                <a:lnTo>
                  <a:pt x="3592826" y="720923"/>
                </a:lnTo>
                <a:lnTo>
                  <a:pt x="3636436" y="741971"/>
                </a:lnTo>
                <a:lnTo>
                  <a:pt x="3679672" y="763321"/>
                </a:lnTo>
                <a:lnTo>
                  <a:pt x="3722526" y="784975"/>
                </a:lnTo>
                <a:lnTo>
                  <a:pt x="3764993" y="806931"/>
                </a:lnTo>
                <a:lnTo>
                  <a:pt x="3807067" y="829190"/>
                </a:lnTo>
                <a:lnTo>
                  <a:pt x="3848742" y="851752"/>
                </a:lnTo>
                <a:lnTo>
                  <a:pt x="3890012" y="874617"/>
                </a:lnTo>
                <a:lnTo>
                  <a:pt x="3930870" y="897785"/>
                </a:lnTo>
                <a:lnTo>
                  <a:pt x="3971310" y="921255"/>
                </a:lnTo>
                <a:lnTo>
                  <a:pt x="4011327" y="945029"/>
                </a:lnTo>
                <a:lnTo>
                  <a:pt x="4050913" y="969105"/>
                </a:lnTo>
                <a:lnTo>
                  <a:pt x="4090064" y="993484"/>
                </a:lnTo>
                <a:lnTo>
                  <a:pt x="4128772" y="1018166"/>
                </a:lnTo>
                <a:lnTo>
                  <a:pt x="4167032" y="1043151"/>
                </a:lnTo>
                <a:lnTo>
                  <a:pt x="4204836" y="1068438"/>
                </a:lnTo>
                <a:lnTo>
                  <a:pt x="4242180" y="1094029"/>
                </a:lnTo>
                <a:lnTo>
                  <a:pt x="4279056" y="1119922"/>
                </a:lnTo>
                <a:lnTo>
                  <a:pt x="4315458" y="1146118"/>
                </a:lnTo>
                <a:lnTo>
                  <a:pt x="4351381" y="1172617"/>
                </a:lnTo>
                <a:lnTo>
                  <a:pt x="4386817" y="1199419"/>
                </a:lnTo>
                <a:lnTo>
                  <a:pt x="4421761" y="1226524"/>
                </a:lnTo>
                <a:lnTo>
                  <a:pt x="4456206" y="1253931"/>
                </a:lnTo>
                <a:lnTo>
                  <a:pt x="4490145" y="1281641"/>
                </a:lnTo>
                <a:lnTo>
                  <a:pt x="4523574" y="1309655"/>
                </a:lnTo>
                <a:lnTo>
                  <a:pt x="4556484" y="1337971"/>
                </a:lnTo>
                <a:lnTo>
                  <a:pt x="4588871" y="1366590"/>
                </a:lnTo>
                <a:lnTo>
                  <a:pt x="4620728" y="1395511"/>
                </a:lnTo>
                <a:lnTo>
                  <a:pt x="4652048" y="1424736"/>
                </a:lnTo>
                <a:lnTo>
                  <a:pt x="4682825" y="1454263"/>
                </a:lnTo>
                <a:lnTo>
                  <a:pt x="4713054" y="1484094"/>
                </a:lnTo>
                <a:lnTo>
                  <a:pt x="4742728" y="1514227"/>
                </a:lnTo>
                <a:lnTo>
                  <a:pt x="4771841" y="1544663"/>
                </a:lnTo>
                <a:lnTo>
                  <a:pt x="4800387" y="1575401"/>
                </a:lnTo>
                <a:lnTo>
                  <a:pt x="4828359" y="1606443"/>
                </a:lnTo>
                <a:lnTo>
                  <a:pt x="4855753" y="1637788"/>
                </a:lnTo>
                <a:lnTo>
                  <a:pt x="4882562" y="1669435"/>
                </a:lnTo>
                <a:lnTo>
                  <a:pt x="4908780" y="1701385"/>
                </a:lnTo>
                <a:lnTo>
                  <a:pt x="4934402" y="1733638"/>
                </a:lnTo>
                <a:lnTo>
                  <a:pt x="4959422" y="1766194"/>
                </a:lnTo>
                <a:lnTo>
                  <a:pt x="4983834" y="1799053"/>
                </a:lnTo>
                <a:lnTo>
                  <a:pt x="5007634" y="1832214"/>
                </a:lnTo>
                <a:lnTo>
                  <a:pt x="5030815" y="1865679"/>
                </a:lnTo>
                <a:lnTo>
                  <a:pt x="5053373" y="1899446"/>
                </a:lnTo>
                <a:lnTo>
                  <a:pt x="5075303" y="1933516"/>
                </a:lnTo>
                <a:lnTo>
                  <a:pt x="5096600" y="1967889"/>
                </a:lnTo>
                <a:lnTo>
                  <a:pt x="5117259" y="2002565"/>
                </a:lnTo>
                <a:lnTo>
                  <a:pt x="5137276" y="2037544"/>
                </a:lnTo>
                <a:lnTo>
                  <a:pt x="5156647" y="2072825"/>
                </a:lnTo>
                <a:lnTo>
                  <a:pt x="5175368" y="2108409"/>
                </a:lnTo>
                <a:lnTo>
                  <a:pt x="5193434" y="2144297"/>
                </a:lnTo>
                <a:lnTo>
                  <a:pt x="5210844" y="2180487"/>
                </a:lnTo>
                <a:lnTo>
                  <a:pt x="5227594" y="2216979"/>
                </a:lnTo>
                <a:lnTo>
                  <a:pt x="5243680" y="2253775"/>
                </a:lnTo>
                <a:lnTo>
                  <a:pt x="5259101" y="2290874"/>
                </a:lnTo>
                <a:lnTo>
                  <a:pt x="5273856" y="2328275"/>
                </a:lnTo>
                <a:lnTo>
                  <a:pt x="5287941" y="2365979"/>
                </a:lnTo>
                <a:lnTo>
                  <a:pt x="5301357" y="2403987"/>
                </a:lnTo>
                <a:lnTo>
                  <a:pt x="5314103" y="2442296"/>
                </a:lnTo>
                <a:lnTo>
                  <a:pt x="5326180" y="2480909"/>
                </a:lnTo>
                <a:lnTo>
                  <a:pt x="5337587" y="2519825"/>
                </a:lnTo>
                <a:lnTo>
                  <a:pt x="5348327" y="2559043"/>
                </a:lnTo>
                <a:lnTo>
                  <a:pt x="5358402" y="2598565"/>
                </a:lnTo>
                <a:lnTo>
                  <a:pt x="5367816" y="2638389"/>
                </a:lnTo>
                <a:lnTo>
                  <a:pt x="5376571" y="2678516"/>
                </a:lnTo>
                <a:lnTo>
                  <a:pt x="5384674" y="2718946"/>
                </a:lnTo>
                <a:lnTo>
                  <a:pt x="5392130" y="2759678"/>
                </a:lnTo>
                <a:lnTo>
                  <a:pt x="5398947" y="2800714"/>
                </a:lnTo>
                <a:lnTo>
                  <a:pt x="5405135" y="2842052"/>
                </a:lnTo>
                <a:lnTo>
                  <a:pt x="5410703" y="2883694"/>
                </a:lnTo>
                <a:lnTo>
                  <a:pt x="5415663" y="2925638"/>
                </a:lnTo>
                <a:lnTo>
                  <a:pt x="5420030" y="2967885"/>
                </a:lnTo>
                <a:lnTo>
                  <a:pt x="5423821" y="3010434"/>
                </a:lnTo>
                <a:lnTo>
                  <a:pt x="5427053" y="3053287"/>
                </a:lnTo>
                <a:lnTo>
                  <a:pt x="5429750" y="3096443"/>
                </a:lnTo>
                <a:lnTo>
                  <a:pt x="5431935" y="3139901"/>
                </a:lnTo>
                <a:lnTo>
                  <a:pt x="5433640" y="3183662"/>
                </a:lnTo>
                <a:lnTo>
                  <a:pt x="5434898" y="3227726"/>
                </a:lnTo>
                <a:lnTo>
                  <a:pt x="5435752" y="3272093"/>
                </a:lnTo>
                <a:lnTo>
                  <a:pt x="5436253" y="3316763"/>
                </a:lnTo>
                <a:lnTo>
                  <a:pt x="5436468" y="3361735"/>
                </a:lnTo>
                <a:lnTo>
                  <a:pt x="5436499" y="3395663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1-E13 line 47" descr="sci-ppt:o047"/>
          <p:cNvCxnSpPr/>
          <p:nvPr/>
        </p:nvCxnSpPr>
        <p:spPr>
          <a:xfrm>
            <a:off x="11014339" y="1371600"/>
            <a:ext cx="0" cy="356616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50" name="C1-E13 text 48" descr="sci-ppt:o048"/>
          <p:cNvSpPr txBox="1"/>
          <p:nvPr/>
        </p:nvSpPr>
        <p:spPr>
          <a:xfrm>
            <a:off x="9231259" y="3069771"/>
            <a:ext cx="1737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t_c = 2.74 µs</a:t>
            </a:r>
          </a:p>
        </p:txBody>
      </p:sp>
      <p:sp>
        <p:nvSpPr>
          <p:cNvPr id="51" name="C1-E13 ellipse 49" descr="sci-ppt:o049"/>
          <p:cNvSpPr/>
          <p:nvPr/>
        </p:nvSpPr>
        <p:spPr>
          <a:xfrm>
            <a:off x="5504688" y="146826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1-E13 text 50" descr="sci-ppt:o050"/>
          <p:cNvSpPr txBox="1"/>
          <p:nvPr/>
        </p:nvSpPr>
        <p:spPr>
          <a:xfrm>
            <a:off x="5786628" y="1632857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flat start (Ṙ = 0)</a:t>
            </a:r>
          </a:p>
        </p:txBody>
      </p:sp>
      <p:sp>
        <p:nvSpPr>
          <p:cNvPr id="53" name="C1-E13 text 51" descr="sci-ppt:o051"/>
          <p:cNvSpPr txBox="1"/>
          <p:nvPr/>
        </p:nvSpPr>
        <p:spPr>
          <a:xfrm>
            <a:off x="8325612" y="4438758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steepest at the end</a:t>
            </a:r>
          </a:p>
        </p:txBody>
      </p:sp>
      <p:sp>
        <p:nvSpPr>
          <p:cNvPr id="54" name="C1-E13 text 52" descr="sci-ppt:o052"/>
          <p:cNvSpPr txBox="1"/>
          <p:nvPr/>
        </p:nvSpPr>
        <p:spPr>
          <a:xfrm>
            <a:off x="5577840" y="5733288"/>
            <a:ext cx="603504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R R̈ + (3/2)Ṙ² = −Δp_c/ρ,  R(0) = Rₘₐₓ,  Ṙ(0) = 0</a:t>
            </a:r>
          </a:p>
        </p:txBody>
      </p:sp>
      <p:sp>
        <p:nvSpPr>
          <p:cNvPr id="55" name="C1-E13 text 53" descr="sci-ppt:o053"/>
          <p:cNvSpPr txBox="1"/>
          <p:nvPr/>
        </p:nvSpPr>
        <p:spPr>
          <a:xfrm>
            <a:off x="5577840" y="6108192"/>
            <a:ext cx="60350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model has no gas, viscosity, tension or compressibility, so nothing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stops the collapse.</a:t>
            </a:r>
          </a:p>
        </p:txBody>
      </p:sp>
      <p:sp>
        <p:nvSpPr>
          <p:cNvPr id="56" name="C1-E13 text 54" descr="sci-ppt:o05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R(t) from the quadrature of Eq. C1-E16; Rₘₐₓ = 30 µm, ρ = 1000 kg/m³, Δp_c = 100 kPa.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