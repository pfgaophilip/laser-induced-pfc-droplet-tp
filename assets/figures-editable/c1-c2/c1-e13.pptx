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6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1-E13 text 0" descr="sci-ppt:o000"/>
          <p:cNvSpPr txBox="1"/>
          <p:nvPr/>
        </p:nvSpPr>
        <p:spPr>
          <a:xfrm>
            <a:off x="274320" y="118872"/>
            <a:ext cx="11612880" cy="34010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8EDBD4"/>
                </a:solidFill>
                <a:latin typeface="Arial"/>
              </a:rPr>
              <a:t>C1-E13 · Exact chain rule and integrating factor</a:t>
            </a:r>
          </a:p>
        </p:txBody>
      </p:sp>
      <p:cxnSp>
        <p:nvCxnSpPr>
          <p:cNvPr id="3" name="C1-E13 line 1" descr="sci-ppt:o001"/>
          <p:cNvCxnSpPr/>
          <p:nvPr/>
        </p:nvCxnSpPr>
        <p:spPr>
          <a:xfrm>
            <a:off x="7132320" y="3063239"/>
            <a:ext cx="4572000" cy="0"/>
          </a:xfrm>
          <a:prstGeom prst="line">
            <a:avLst/>
          </a:prstGeom>
          <a:ln w="19050">
            <a:solidFill>
              <a:srgbClr val="B4C7D2"/>
            </a:solidFill>
          </a:ln>
          <a:effectLst/>
        </p:spPr>
      </p:cxnSp>
      <p:cxnSp>
        <p:nvCxnSpPr>
          <p:cNvPr id="4" name="C1-E13 line 2" descr="sci-ppt:o002"/>
          <p:cNvCxnSpPr/>
          <p:nvPr/>
        </p:nvCxnSpPr>
        <p:spPr>
          <a:xfrm>
            <a:off x="7132320" y="1325880"/>
            <a:ext cx="0" cy="1737359"/>
          </a:xfrm>
          <a:prstGeom prst="line">
            <a:avLst/>
          </a:prstGeom>
          <a:ln w="19050">
            <a:solidFill>
              <a:srgbClr val="B4C7D2"/>
            </a:solidFill>
          </a:ln>
          <a:effectLst/>
        </p:spPr>
      </p:cxnSp>
      <p:cxnSp>
        <p:nvCxnSpPr>
          <p:cNvPr id="5" name="C1-E13 line 3" descr="sci-ppt:o003"/>
          <p:cNvCxnSpPr/>
          <p:nvPr/>
        </p:nvCxnSpPr>
        <p:spPr>
          <a:xfrm>
            <a:off x="7132320" y="3063239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6" name="C1-E13 line 4" descr="sci-ppt:o004"/>
          <p:cNvCxnSpPr/>
          <p:nvPr/>
        </p:nvCxnSpPr>
        <p:spPr>
          <a:xfrm>
            <a:off x="7132320" y="1325880"/>
            <a:ext cx="0" cy="1737359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7" name="C1-E13 text 5" descr="sci-ppt:o005"/>
          <p:cNvSpPr txBox="1"/>
          <p:nvPr/>
        </p:nvSpPr>
        <p:spPr>
          <a:xfrm>
            <a:off x="6675120" y="3145535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0.25</a:t>
            </a:r>
          </a:p>
        </p:txBody>
      </p:sp>
      <p:cxnSp>
        <p:nvCxnSpPr>
          <p:cNvPr id="8" name="C1-E13 line 6" descr="sci-ppt:o006"/>
          <p:cNvCxnSpPr/>
          <p:nvPr/>
        </p:nvCxnSpPr>
        <p:spPr>
          <a:xfrm>
            <a:off x="8656320" y="3063239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9" name="C1-E13 line 7" descr="sci-ppt:o007"/>
          <p:cNvCxnSpPr/>
          <p:nvPr/>
        </p:nvCxnSpPr>
        <p:spPr>
          <a:xfrm>
            <a:off x="8656320" y="1325880"/>
            <a:ext cx="0" cy="1737359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0" name="C1-E13 text 8" descr="sci-ppt:o008"/>
          <p:cNvSpPr txBox="1"/>
          <p:nvPr/>
        </p:nvSpPr>
        <p:spPr>
          <a:xfrm>
            <a:off x="8199120" y="3145535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0.50</a:t>
            </a:r>
          </a:p>
        </p:txBody>
      </p:sp>
      <p:cxnSp>
        <p:nvCxnSpPr>
          <p:cNvPr id="11" name="C1-E13 line 9" descr="sci-ppt:o009"/>
          <p:cNvCxnSpPr/>
          <p:nvPr/>
        </p:nvCxnSpPr>
        <p:spPr>
          <a:xfrm>
            <a:off x="10180320" y="3063239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2" name="C1-E13 line 10" descr="sci-ppt:o010"/>
          <p:cNvCxnSpPr/>
          <p:nvPr/>
        </p:nvCxnSpPr>
        <p:spPr>
          <a:xfrm>
            <a:off x="10180320" y="1325880"/>
            <a:ext cx="0" cy="1737359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3" name="C1-E13 text 11" descr="sci-ppt:o011"/>
          <p:cNvSpPr txBox="1"/>
          <p:nvPr/>
        </p:nvSpPr>
        <p:spPr>
          <a:xfrm>
            <a:off x="9723120" y="3145535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0.75</a:t>
            </a:r>
          </a:p>
        </p:txBody>
      </p:sp>
      <p:cxnSp>
        <p:nvCxnSpPr>
          <p:cNvPr id="14" name="C1-E13 line 12" descr="sci-ppt:o012"/>
          <p:cNvCxnSpPr/>
          <p:nvPr/>
        </p:nvCxnSpPr>
        <p:spPr>
          <a:xfrm>
            <a:off x="11704320" y="3063239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5" name="C1-E13 line 13" descr="sci-ppt:o013"/>
          <p:cNvCxnSpPr/>
          <p:nvPr/>
        </p:nvCxnSpPr>
        <p:spPr>
          <a:xfrm>
            <a:off x="11704320" y="1325880"/>
            <a:ext cx="0" cy="1737359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6" name="C1-E13 text 14" descr="sci-ppt:o014"/>
          <p:cNvSpPr txBox="1"/>
          <p:nvPr/>
        </p:nvSpPr>
        <p:spPr>
          <a:xfrm>
            <a:off x="11247120" y="3145535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1.00</a:t>
            </a:r>
          </a:p>
        </p:txBody>
      </p:sp>
      <p:cxnSp>
        <p:nvCxnSpPr>
          <p:cNvPr id="17" name="C1-E13 line 15" descr="sci-ppt:o015"/>
          <p:cNvCxnSpPr/>
          <p:nvPr/>
        </p:nvCxnSpPr>
        <p:spPr>
          <a:xfrm>
            <a:off x="7068312" y="3063239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8" name="C1-E13 line 16" descr="sci-ppt:o016"/>
          <p:cNvCxnSpPr/>
          <p:nvPr/>
        </p:nvCxnSpPr>
        <p:spPr>
          <a:xfrm>
            <a:off x="7068312" y="2520314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9" name="C1-E13 line 17" descr="sci-ppt:o017"/>
          <p:cNvCxnSpPr/>
          <p:nvPr/>
        </p:nvCxnSpPr>
        <p:spPr>
          <a:xfrm>
            <a:off x="7132320" y="2520314"/>
            <a:ext cx="457200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20" name="C1-E13 text 18" descr="sci-ppt:o018"/>
          <p:cNvSpPr txBox="1"/>
          <p:nvPr/>
        </p:nvSpPr>
        <p:spPr>
          <a:xfrm>
            <a:off x="6263640" y="2438019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20</a:t>
            </a:r>
          </a:p>
        </p:txBody>
      </p:sp>
      <p:cxnSp>
        <p:nvCxnSpPr>
          <p:cNvPr id="21" name="C1-E13 line 19" descr="sci-ppt:o019"/>
          <p:cNvCxnSpPr/>
          <p:nvPr/>
        </p:nvCxnSpPr>
        <p:spPr>
          <a:xfrm>
            <a:off x="7068312" y="1977389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2" name="C1-E13 line 20" descr="sci-ppt:o020"/>
          <p:cNvCxnSpPr/>
          <p:nvPr/>
        </p:nvCxnSpPr>
        <p:spPr>
          <a:xfrm>
            <a:off x="7132320" y="1977389"/>
            <a:ext cx="457200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23" name="C1-E13 text 21" descr="sci-ppt:o021"/>
          <p:cNvSpPr txBox="1"/>
          <p:nvPr/>
        </p:nvSpPr>
        <p:spPr>
          <a:xfrm>
            <a:off x="6263640" y="1895093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40</a:t>
            </a:r>
          </a:p>
        </p:txBody>
      </p:sp>
      <p:cxnSp>
        <p:nvCxnSpPr>
          <p:cNvPr id="24" name="C1-E13 line 22" descr="sci-ppt:o022"/>
          <p:cNvCxnSpPr/>
          <p:nvPr/>
        </p:nvCxnSpPr>
        <p:spPr>
          <a:xfrm>
            <a:off x="7068312" y="1434464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5" name="C1-E13 line 23" descr="sci-ppt:o023"/>
          <p:cNvCxnSpPr/>
          <p:nvPr/>
        </p:nvCxnSpPr>
        <p:spPr>
          <a:xfrm>
            <a:off x="7132320" y="1434464"/>
            <a:ext cx="457200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26" name="C1-E13 text 24" descr="sci-ppt:o024"/>
          <p:cNvSpPr txBox="1"/>
          <p:nvPr/>
        </p:nvSpPr>
        <p:spPr>
          <a:xfrm>
            <a:off x="6263640" y="1352168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60</a:t>
            </a:r>
          </a:p>
        </p:txBody>
      </p:sp>
      <p:sp>
        <p:nvSpPr>
          <p:cNvPr id="27" name="C1-E13 text 25" descr="sci-ppt:o025"/>
          <p:cNvSpPr txBox="1"/>
          <p:nvPr/>
        </p:nvSpPr>
        <p:spPr>
          <a:xfrm>
            <a:off x="6583680" y="978407"/>
            <a:ext cx="457200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y (scaled)</a:t>
            </a:r>
          </a:p>
        </p:txBody>
      </p:sp>
      <p:sp>
        <p:nvSpPr>
          <p:cNvPr id="28" name="C1-E13 polygon 26" descr="sci-ppt:o026"/>
          <p:cNvSpPr/>
          <p:nvPr/>
        </p:nvSpPr>
        <p:spPr>
          <a:xfrm>
            <a:off x="7132320" y="1353026"/>
            <a:ext cx="4572000" cy="1710213"/>
          </a:xfrm>
          <a:custGeom>
            <a:avLst/>
            <a:gdLst/>
            <a:ahLst/>
            <a:cxnLst/>
            <a:rect l="l" t="t" r="r" b="b"/>
            <a:pathLst>
              <a:path w="4572000" h="1710213">
                <a:moveTo>
                  <a:pt x="0" y="0"/>
                </a:moveTo>
                <a:lnTo>
                  <a:pt x="30581" y="100529"/>
                </a:lnTo>
                <a:lnTo>
                  <a:pt x="61163" y="193449"/>
                </a:lnTo>
                <a:lnTo>
                  <a:pt x="91745" y="279467"/>
                </a:lnTo>
                <a:lnTo>
                  <a:pt x="122327" y="359212"/>
                </a:lnTo>
                <a:lnTo>
                  <a:pt x="152909" y="433245"/>
                </a:lnTo>
                <a:lnTo>
                  <a:pt x="183491" y="502070"/>
                </a:lnTo>
                <a:lnTo>
                  <a:pt x="214073" y="566135"/>
                </a:lnTo>
                <a:lnTo>
                  <a:pt x="244655" y="625846"/>
                </a:lnTo>
                <a:lnTo>
                  <a:pt x="275237" y="681566"/>
                </a:lnTo>
                <a:lnTo>
                  <a:pt x="305819" y="733623"/>
                </a:lnTo>
                <a:lnTo>
                  <a:pt x="336401" y="782313"/>
                </a:lnTo>
                <a:lnTo>
                  <a:pt x="366983" y="827904"/>
                </a:lnTo>
                <a:lnTo>
                  <a:pt x="397565" y="870639"/>
                </a:lnTo>
                <a:lnTo>
                  <a:pt x="428147" y="910738"/>
                </a:lnTo>
                <a:lnTo>
                  <a:pt x="458729" y="948400"/>
                </a:lnTo>
                <a:lnTo>
                  <a:pt x="489311" y="983810"/>
                </a:lnTo>
                <a:lnTo>
                  <a:pt x="519892" y="1017131"/>
                </a:lnTo>
                <a:lnTo>
                  <a:pt x="550474" y="1048517"/>
                </a:lnTo>
                <a:lnTo>
                  <a:pt x="581056" y="1078105"/>
                </a:lnTo>
                <a:lnTo>
                  <a:pt x="611638" y="1106023"/>
                </a:lnTo>
                <a:lnTo>
                  <a:pt x="642220" y="1132386"/>
                </a:lnTo>
                <a:lnTo>
                  <a:pt x="672802" y="1157302"/>
                </a:lnTo>
                <a:lnTo>
                  <a:pt x="703384" y="1180868"/>
                </a:lnTo>
                <a:lnTo>
                  <a:pt x="733966" y="1203174"/>
                </a:lnTo>
                <a:lnTo>
                  <a:pt x="764548" y="1224304"/>
                </a:lnTo>
                <a:lnTo>
                  <a:pt x="795130" y="1244334"/>
                </a:lnTo>
                <a:lnTo>
                  <a:pt x="825712" y="1263335"/>
                </a:lnTo>
                <a:lnTo>
                  <a:pt x="856294" y="1281372"/>
                </a:lnTo>
                <a:lnTo>
                  <a:pt x="886876" y="1298506"/>
                </a:lnTo>
                <a:lnTo>
                  <a:pt x="917458" y="1314792"/>
                </a:lnTo>
                <a:lnTo>
                  <a:pt x="948040" y="1330281"/>
                </a:lnTo>
                <a:lnTo>
                  <a:pt x="978622" y="1345023"/>
                </a:lnTo>
                <a:lnTo>
                  <a:pt x="1009204" y="1359062"/>
                </a:lnTo>
                <a:lnTo>
                  <a:pt x="1039785" y="1372438"/>
                </a:lnTo>
                <a:lnTo>
                  <a:pt x="1070367" y="1385192"/>
                </a:lnTo>
                <a:lnTo>
                  <a:pt x="1100949" y="1397358"/>
                </a:lnTo>
                <a:lnTo>
                  <a:pt x="1131531" y="1408970"/>
                </a:lnTo>
                <a:lnTo>
                  <a:pt x="1162113" y="1420059"/>
                </a:lnTo>
                <a:lnTo>
                  <a:pt x="1192695" y="1430654"/>
                </a:lnTo>
                <a:lnTo>
                  <a:pt x="1223277" y="1440783"/>
                </a:lnTo>
                <a:lnTo>
                  <a:pt x="1253859" y="1450471"/>
                </a:lnTo>
                <a:lnTo>
                  <a:pt x="1284441" y="1459741"/>
                </a:lnTo>
                <a:lnTo>
                  <a:pt x="1315023" y="1468616"/>
                </a:lnTo>
                <a:lnTo>
                  <a:pt x="1345605" y="1477117"/>
                </a:lnTo>
                <a:lnTo>
                  <a:pt x="1376187" y="1485263"/>
                </a:lnTo>
                <a:lnTo>
                  <a:pt x="1406769" y="1493073"/>
                </a:lnTo>
                <a:lnTo>
                  <a:pt x="1437351" y="1500563"/>
                </a:lnTo>
                <a:lnTo>
                  <a:pt x="1467933" y="1507751"/>
                </a:lnTo>
                <a:lnTo>
                  <a:pt x="1498515" y="1514650"/>
                </a:lnTo>
                <a:lnTo>
                  <a:pt x="1529096" y="1521276"/>
                </a:lnTo>
                <a:lnTo>
                  <a:pt x="1559678" y="1527641"/>
                </a:lnTo>
                <a:lnTo>
                  <a:pt x="1590260" y="1533759"/>
                </a:lnTo>
                <a:lnTo>
                  <a:pt x="1620842" y="1539641"/>
                </a:lnTo>
                <a:lnTo>
                  <a:pt x="1651424" y="1545299"/>
                </a:lnTo>
                <a:lnTo>
                  <a:pt x="1682006" y="1550743"/>
                </a:lnTo>
                <a:lnTo>
                  <a:pt x="1712588" y="1555983"/>
                </a:lnTo>
                <a:lnTo>
                  <a:pt x="1743170" y="1561028"/>
                </a:lnTo>
                <a:lnTo>
                  <a:pt x="1773752" y="1565889"/>
                </a:lnTo>
                <a:lnTo>
                  <a:pt x="1804334" y="1570572"/>
                </a:lnTo>
                <a:lnTo>
                  <a:pt x="1834916" y="1575086"/>
                </a:lnTo>
                <a:lnTo>
                  <a:pt x="1865498" y="1579439"/>
                </a:lnTo>
                <a:lnTo>
                  <a:pt x="1896080" y="1583638"/>
                </a:lnTo>
                <a:lnTo>
                  <a:pt x="1926662" y="1587689"/>
                </a:lnTo>
                <a:lnTo>
                  <a:pt x="1957244" y="1591599"/>
                </a:lnTo>
                <a:lnTo>
                  <a:pt x="1987826" y="1595374"/>
                </a:lnTo>
                <a:lnTo>
                  <a:pt x="2018408" y="1599019"/>
                </a:lnTo>
                <a:lnTo>
                  <a:pt x="2048989" y="1602541"/>
                </a:lnTo>
                <a:lnTo>
                  <a:pt x="2079571" y="1605945"/>
                </a:lnTo>
                <a:lnTo>
                  <a:pt x="2110153" y="1609234"/>
                </a:lnTo>
                <a:lnTo>
                  <a:pt x="2140735" y="1612415"/>
                </a:lnTo>
                <a:lnTo>
                  <a:pt x="2171317" y="1615492"/>
                </a:lnTo>
                <a:lnTo>
                  <a:pt x="2201899" y="1618468"/>
                </a:lnTo>
                <a:lnTo>
                  <a:pt x="2232481" y="1621348"/>
                </a:lnTo>
                <a:lnTo>
                  <a:pt x="2263063" y="1624136"/>
                </a:lnTo>
                <a:lnTo>
                  <a:pt x="2293645" y="1626835"/>
                </a:lnTo>
                <a:lnTo>
                  <a:pt x="2324227" y="1629450"/>
                </a:lnTo>
                <a:lnTo>
                  <a:pt x="2354809" y="1631982"/>
                </a:lnTo>
                <a:lnTo>
                  <a:pt x="2385391" y="1634436"/>
                </a:lnTo>
                <a:lnTo>
                  <a:pt x="2415973" y="1636814"/>
                </a:lnTo>
                <a:lnTo>
                  <a:pt x="2446555" y="1639119"/>
                </a:lnTo>
                <a:lnTo>
                  <a:pt x="2477137" y="1641355"/>
                </a:lnTo>
                <a:lnTo>
                  <a:pt x="2507719" y="1643523"/>
                </a:lnTo>
                <a:lnTo>
                  <a:pt x="2538301" y="1645626"/>
                </a:lnTo>
                <a:lnTo>
                  <a:pt x="2568882" y="1647667"/>
                </a:lnTo>
                <a:lnTo>
                  <a:pt x="2599464" y="1649648"/>
                </a:lnTo>
                <a:lnTo>
                  <a:pt x="2630046" y="1651571"/>
                </a:lnTo>
                <a:lnTo>
                  <a:pt x="2660628" y="1653438"/>
                </a:lnTo>
                <a:lnTo>
                  <a:pt x="2691210" y="1655251"/>
                </a:lnTo>
                <a:lnTo>
                  <a:pt x="2721792" y="1657013"/>
                </a:lnTo>
                <a:lnTo>
                  <a:pt x="2752374" y="1658724"/>
                </a:lnTo>
                <a:lnTo>
                  <a:pt x="2782956" y="1660388"/>
                </a:lnTo>
                <a:lnTo>
                  <a:pt x="2813538" y="1662004"/>
                </a:lnTo>
                <a:lnTo>
                  <a:pt x="2844120" y="1663576"/>
                </a:lnTo>
                <a:lnTo>
                  <a:pt x="2874702" y="1665104"/>
                </a:lnTo>
                <a:lnTo>
                  <a:pt x="2905284" y="1666591"/>
                </a:lnTo>
                <a:lnTo>
                  <a:pt x="2935866" y="1668036"/>
                </a:lnTo>
                <a:lnTo>
                  <a:pt x="2966448" y="1669443"/>
                </a:lnTo>
                <a:lnTo>
                  <a:pt x="2997030" y="1670812"/>
                </a:lnTo>
                <a:lnTo>
                  <a:pt x="3027612" y="1672145"/>
                </a:lnTo>
                <a:lnTo>
                  <a:pt x="3058193" y="1673442"/>
                </a:lnTo>
                <a:lnTo>
                  <a:pt x="3088775" y="1674704"/>
                </a:lnTo>
                <a:lnTo>
                  <a:pt x="3119357" y="1675934"/>
                </a:lnTo>
                <a:lnTo>
                  <a:pt x="3149939" y="1677132"/>
                </a:lnTo>
                <a:lnTo>
                  <a:pt x="3180521" y="1678299"/>
                </a:lnTo>
                <a:lnTo>
                  <a:pt x="3211103" y="1679436"/>
                </a:lnTo>
                <a:lnTo>
                  <a:pt x="3241685" y="1680544"/>
                </a:lnTo>
                <a:lnTo>
                  <a:pt x="3272267" y="1681624"/>
                </a:lnTo>
                <a:lnTo>
                  <a:pt x="3302849" y="1682677"/>
                </a:lnTo>
                <a:lnTo>
                  <a:pt x="3333431" y="1683703"/>
                </a:lnTo>
                <a:lnTo>
                  <a:pt x="3364013" y="1684704"/>
                </a:lnTo>
                <a:lnTo>
                  <a:pt x="3394595" y="1685680"/>
                </a:lnTo>
                <a:lnTo>
                  <a:pt x="3425177" y="1686632"/>
                </a:lnTo>
                <a:lnTo>
                  <a:pt x="3455759" y="1687561"/>
                </a:lnTo>
                <a:lnTo>
                  <a:pt x="3486341" y="1688467"/>
                </a:lnTo>
                <a:lnTo>
                  <a:pt x="3516923" y="1689352"/>
                </a:lnTo>
                <a:lnTo>
                  <a:pt x="3547505" y="1690215"/>
                </a:lnTo>
                <a:lnTo>
                  <a:pt x="3578086" y="1691058"/>
                </a:lnTo>
                <a:lnTo>
                  <a:pt x="3608668" y="1691880"/>
                </a:lnTo>
                <a:lnTo>
                  <a:pt x="3639250" y="1692684"/>
                </a:lnTo>
                <a:lnTo>
                  <a:pt x="3669832" y="1693468"/>
                </a:lnTo>
                <a:lnTo>
                  <a:pt x="3700414" y="1694234"/>
                </a:lnTo>
                <a:lnTo>
                  <a:pt x="3730996" y="1694983"/>
                </a:lnTo>
                <a:lnTo>
                  <a:pt x="3761578" y="1695714"/>
                </a:lnTo>
                <a:lnTo>
                  <a:pt x="3792160" y="1696429"/>
                </a:lnTo>
                <a:lnTo>
                  <a:pt x="3822742" y="1697127"/>
                </a:lnTo>
                <a:lnTo>
                  <a:pt x="3853324" y="1697810"/>
                </a:lnTo>
                <a:lnTo>
                  <a:pt x="3883906" y="1698477"/>
                </a:lnTo>
                <a:lnTo>
                  <a:pt x="3914488" y="1699129"/>
                </a:lnTo>
                <a:lnTo>
                  <a:pt x="3945070" y="1699767"/>
                </a:lnTo>
                <a:lnTo>
                  <a:pt x="3975652" y="1700391"/>
                </a:lnTo>
                <a:lnTo>
                  <a:pt x="4006234" y="1701001"/>
                </a:lnTo>
                <a:lnTo>
                  <a:pt x="4036816" y="1701597"/>
                </a:lnTo>
                <a:lnTo>
                  <a:pt x="4067397" y="1702181"/>
                </a:lnTo>
                <a:lnTo>
                  <a:pt x="4097979" y="1702752"/>
                </a:lnTo>
                <a:lnTo>
                  <a:pt x="4128561" y="1703310"/>
                </a:lnTo>
                <a:lnTo>
                  <a:pt x="4159143" y="1703857"/>
                </a:lnTo>
                <a:lnTo>
                  <a:pt x="4189725" y="1704392"/>
                </a:lnTo>
                <a:lnTo>
                  <a:pt x="4220307" y="1704916"/>
                </a:lnTo>
                <a:lnTo>
                  <a:pt x="4250889" y="1705429"/>
                </a:lnTo>
                <a:lnTo>
                  <a:pt x="4281471" y="1705931"/>
                </a:lnTo>
                <a:lnTo>
                  <a:pt x="4312053" y="1706422"/>
                </a:lnTo>
                <a:lnTo>
                  <a:pt x="4342635" y="1706903"/>
                </a:lnTo>
                <a:lnTo>
                  <a:pt x="4373217" y="1707375"/>
                </a:lnTo>
                <a:lnTo>
                  <a:pt x="4403799" y="1707836"/>
                </a:lnTo>
                <a:lnTo>
                  <a:pt x="4434381" y="1708289"/>
                </a:lnTo>
                <a:lnTo>
                  <a:pt x="4464963" y="1708732"/>
                </a:lnTo>
                <a:lnTo>
                  <a:pt x="4495545" y="1709166"/>
                </a:lnTo>
                <a:lnTo>
                  <a:pt x="4526127" y="1709591"/>
                </a:lnTo>
                <a:lnTo>
                  <a:pt x="4556709" y="1710008"/>
                </a:lnTo>
                <a:lnTo>
                  <a:pt x="4572000" y="1710213"/>
                </a:lnTo>
              </a:path>
            </a:pathLst>
          </a:custGeom>
          <a:noFill/>
          <a:ln w="38100">
            <a:solidFill>
              <a:srgbClr val="F28BA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C1-E13 text 27" descr="sci-ppt:o027"/>
          <p:cNvSpPr txBox="1"/>
          <p:nvPr/>
        </p:nvSpPr>
        <p:spPr>
          <a:xfrm>
            <a:off x="8729472" y="1478756"/>
            <a:ext cx="384048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F28BA0"/>
                </a:solidFill>
                <a:latin typeface="Arial"/>
              </a:rPr>
              <a:t>y = Ṙ² ∝ x⁻³ − 1: blows up inward</a:t>
            </a:r>
          </a:p>
        </p:txBody>
      </p:sp>
      <p:cxnSp>
        <p:nvCxnSpPr>
          <p:cNvPr id="30" name="C1-E13 line 28" descr="sci-ppt:o028"/>
          <p:cNvCxnSpPr/>
          <p:nvPr/>
        </p:nvCxnSpPr>
        <p:spPr>
          <a:xfrm>
            <a:off x="7132320" y="5532120"/>
            <a:ext cx="4572000" cy="0"/>
          </a:xfrm>
          <a:prstGeom prst="line">
            <a:avLst/>
          </a:prstGeom>
          <a:ln w="19050">
            <a:solidFill>
              <a:srgbClr val="B4C7D2"/>
            </a:solidFill>
          </a:ln>
          <a:effectLst/>
        </p:spPr>
      </p:cxnSp>
      <p:cxnSp>
        <p:nvCxnSpPr>
          <p:cNvPr id="31" name="C1-E13 line 29" descr="sci-ppt:o029"/>
          <p:cNvCxnSpPr/>
          <p:nvPr/>
        </p:nvCxnSpPr>
        <p:spPr>
          <a:xfrm>
            <a:off x="7132320" y="3794760"/>
            <a:ext cx="0" cy="1737360"/>
          </a:xfrm>
          <a:prstGeom prst="line">
            <a:avLst/>
          </a:prstGeom>
          <a:ln w="19050">
            <a:solidFill>
              <a:srgbClr val="B4C7D2"/>
            </a:solidFill>
          </a:ln>
          <a:effectLst/>
        </p:spPr>
      </p:cxnSp>
      <p:cxnSp>
        <p:nvCxnSpPr>
          <p:cNvPr id="32" name="C1-E13 line 30" descr="sci-ppt:o030"/>
          <p:cNvCxnSpPr/>
          <p:nvPr/>
        </p:nvCxnSpPr>
        <p:spPr>
          <a:xfrm>
            <a:off x="7132320" y="553212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33" name="C1-E13 line 31" descr="sci-ppt:o031"/>
          <p:cNvCxnSpPr/>
          <p:nvPr/>
        </p:nvCxnSpPr>
        <p:spPr>
          <a:xfrm>
            <a:off x="7132320" y="3794760"/>
            <a:ext cx="0" cy="173736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34" name="C1-E13 text 32" descr="sci-ppt:o032"/>
          <p:cNvSpPr txBox="1"/>
          <p:nvPr/>
        </p:nvSpPr>
        <p:spPr>
          <a:xfrm>
            <a:off x="6675120" y="561441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0.00</a:t>
            </a:r>
          </a:p>
        </p:txBody>
      </p:sp>
      <p:cxnSp>
        <p:nvCxnSpPr>
          <p:cNvPr id="35" name="C1-E13 line 33" descr="sci-ppt:o033"/>
          <p:cNvCxnSpPr/>
          <p:nvPr/>
        </p:nvCxnSpPr>
        <p:spPr>
          <a:xfrm>
            <a:off x="8275320" y="553212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36" name="C1-E13 line 34" descr="sci-ppt:o034"/>
          <p:cNvCxnSpPr/>
          <p:nvPr/>
        </p:nvCxnSpPr>
        <p:spPr>
          <a:xfrm>
            <a:off x="8275320" y="3794760"/>
            <a:ext cx="0" cy="173736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37" name="C1-E13 text 35" descr="sci-ppt:o035"/>
          <p:cNvSpPr txBox="1"/>
          <p:nvPr/>
        </p:nvSpPr>
        <p:spPr>
          <a:xfrm>
            <a:off x="7818120" y="561441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0.25</a:t>
            </a:r>
          </a:p>
        </p:txBody>
      </p:sp>
      <p:cxnSp>
        <p:nvCxnSpPr>
          <p:cNvPr id="38" name="C1-E13 line 36" descr="sci-ppt:o036"/>
          <p:cNvCxnSpPr/>
          <p:nvPr/>
        </p:nvCxnSpPr>
        <p:spPr>
          <a:xfrm>
            <a:off x="9418320" y="553212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39" name="C1-E13 line 37" descr="sci-ppt:o037"/>
          <p:cNvCxnSpPr/>
          <p:nvPr/>
        </p:nvCxnSpPr>
        <p:spPr>
          <a:xfrm>
            <a:off x="9418320" y="3794760"/>
            <a:ext cx="0" cy="173736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40" name="C1-E13 text 38" descr="sci-ppt:o038"/>
          <p:cNvSpPr txBox="1"/>
          <p:nvPr/>
        </p:nvSpPr>
        <p:spPr>
          <a:xfrm>
            <a:off x="8961120" y="561441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0.50</a:t>
            </a:r>
          </a:p>
        </p:txBody>
      </p:sp>
      <p:cxnSp>
        <p:nvCxnSpPr>
          <p:cNvPr id="41" name="C1-E13 line 39" descr="sci-ppt:o039"/>
          <p:cNvCxnSpPr/>
          <p:nvPr/>
        </p:nvCxnSpPr>
        <p:spPr>
          <a:xfrm>
            <a:off x="10561320" y="553212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42" name="C1-E13 line 40" descr="sci-ppt:o040"/>
          <p:cNvCxnSpPr/>
          <p:nvPr/>
        </p:nvCxnSpPr>
        <p:spPr>
          <a:xfrm>
            <a:off x="10561320" y="3794760"/>
            <a:ext cx="0" cy="173736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43" name="C1-E13 text 41" descr="sci-ppt:o041"/>
          <p:cNvSpPr txBox="1"/>
          <p:nvPr/>
        </p:nvSpPr>
        <p:spPr>
          <a:xfrm>
            <a:off x="10104120" y="561441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0.75</a:t>
            </a:r>
          </a:p>
        </p:txBody>
      </p:sp>
      <p:cxnSp>
        <p:nvCxnSpPr>
          <p:cNvPr id="44" name="C1-E13 line 42" descr="sci-ppt:o042"/>
          <p:cNvCxnSpPr/>
          <p:nvPr/>
        </p:nvCxnSpPr>
        <p:spPr>
          <a:xfrm>
            <a:off x="11704320" y="553212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45" name="C1-E13 line 43" descr="sci-ppt:o043"/>
          <p:cNvCxnSpPr/>
          <p:nvPr/>
        </p:nvCxnSpPr>
        <p:spPr>
          <a:xfrm>
            <a:off x="11704320" y="3794760"/>
            <a:ext cx="0" cy="173736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46" name="C1-E13 text 44" descr="sci-ppt:o044"/>
          <p:cNvSpPr txBox="1"/>
          <p:nvPr/>
        </p:nvSpPr>
        <p:spPr>
          <a:xfrm>
            <a:off x="11247120" y="561441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1.00</a:t>
            </a:r>
          </a:p>
        </p:txBody>
      </p:sp>
      <p:cxnSp>
        <p:nvCxnSpPr>
          <p:cNvPr id="47" name="C1-E13 line 45" descr="sci-ppt:o045"/>
          <p:cNvCxnSpPr/>
          <p:nvPr/>
        </p:nvCxnSpPr>
        <p:spPr>
          <a:xfrm>
            <a:off x="7068312" y="5532120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48" name="C1-E13 line 46" descr="sci-ppt:o046"/>
          <p:cNvCxnSpPr/>
          <p:nvPr/>
        </p:nvCxnSpPr>
        <p:spPr>
          <a:xfrm>
            <a:off x="7068312" y="4742410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49" name="C1-E13 line 47" descr="sci-ppt:o047"/>
          <p:cNvCxnSpPr/>
          <p:nvPr/>
        </p:nvCxnSpPr>
        <p:spPr>
          <a:xfrm>
            <a:off x="7132320" y="4742410"/>
            <a:ext cx="457200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50" name="C1-E13 text 48" descr="sci-ppt:o048"/>
          <p:cNvSpPr txBox="1"/>
          <p:nvPr/>
        </p:nvSpPr>
        <p:spPr>
          <a:xfrm>
            <a:off x="6263640" y="4660114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0.5</a:t>
            </a:r>
          </a:p>
        </p:txBody>
      </p:sp>
      <p:cxnSp>
        <p:nvCxnSpPr>
          <p:cNvPr id="51" name="C1-E13 line 49" descr="sci-ppt:o049"/>
          <p:cNvCxnSpPr/>
          <p:nvPr/>
        </p:nvCxnSpPr>
        <p:spPr>
          <a:xfrm>
            <a:off x="7068312" y="3952701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52" name="C1-E13 line 50" descr="sci-ppt:o050"/>
          <p:cNvCxnSpPr/>
          <p:nvPr/>
        </p:nvCxnSpPr>
        <p:spPr>
          <a:xfrm>
            <a:off x="7132320" y="3952701"/>
            <a:ext cx="457200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53" name="C1-E13 text 51" descr="sci-ppt:o051"/>
          <p:cNvSpPr txBox="1"/>
          <p:nvPr/>
        </p:nvSpPr>
        <p:spPr>
          <a:xfrm>
            <a:off x="6263640" y="3870405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1.0</a:t>
            </a:r>
          </a:p>
        </p:txBody>
      </p:sp>
      <p:sp>
        <p:nvSpPr>
          <p:cNvPr id="54" name="C1-E13 text 52" descr="sci-ppt:o052"/>
          <p:cNvSpPr txBox="1"/>
          <p:nvPr/>
        </p:nvSpPr>
        <p:spPr>
          <a:xfrm>
            <a:off x="7132320" y="5815584"/>
            <a:ext cx="457200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x = R / Rₘₐₓ</a:t>
            </a:r>
          </a:p>
        </p:txBody>
      </p:sp>
      <p:sp>
        <p:nvSpPr>
          <p:cNvPr id="55" name="C1-E13 text 53" descr="sci-ppt:o053"/>
          <p:cNvSpPr txBox="1"/>
          <p:nvPr/>
        </p:nvSpPr>
        <p:spPr>
          <a:xfrm>
            <a:off x="6583680" y="3447288"/>
            <a:ext cx="457200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R³y (scaled)</a:t>
            </a:r>
          </a:p>
        </p:txBody>
      </p:sp>
      <p:sp>
        <p:nvSpPr>
          <p:cNvPr id="56" name="C1-E13 polygon 54" descr="sci-ppt:o054"/>
          <p:cNvSpPr/>
          <p:nvPr/>
        </p:nvSpPr>
        <p:spPr>
          <a:xfrm>
            <a:off x="7132320" y="3952701"/>
            <a:ext cx="4572000" cy="1579419"/>
          </a:xfrm>
          <a:custGeom>
            <a:avLst/>
            <a:gdLst/>
            <a:ahLst/>
            <a:cxnLst/>
            <a:rect l="l" t="t" r="r" b="b"/>
            <a:pathLst>
              <a:path w="4572000" h="1579419">
                <a:moveTo>
                  <a:pt x="0" y="0"/>
                </a:moveTo>
                <a:lnTo>
                  <a:pt x="22974" y="1"/>
                </a:lnTo>
                <a:lnTo>
                  <a:pt x="45949" y="2"/>
                </a:lnTo>
                <a:lnTo>
                  <a:pt x="68924" y="6"/>
                </a:lnTo>
                <a:lnTo>
                  <a:pt x="91899" y="13"/>
                </a:lnTo>
                <a:lnTo>
                  <a:pt x="114874" y="25"/>
                </a:lnTo>
                <a:lnTo>
                  <a:pt x="137849" y="44"/>
                </a:lnTo>
                <a:lnTo>
                  <a:pt x="160824" y="69"/>
                </a:lnTo>
                <a:lnTo>
                  <a:pt x="183798" y="103"/>
                </a:lnTo>
                <a:lnTo>
                  <a:pt x="206773" y="146"/>
                </a:lnTo>
                <a:lnTo>
                  <a:pt x="229748" y="201"/>
                </a:lnTo>
                <a:lnTo>
                  <a:pt x="252723" y="267"/>
                </a:lnTo>
                <a:lnTo>
                  <a:pt x="275698" y="347"/>
                </a:lnTo>
                <a:lnTo>
                  <a:pt x="298673" y="441"/>
                </a:lnTo>
                <a:lnTo>
                  <a:pt x="321648" y="550"/>
                </a:lnTo>
                <a:lnTo>
                  <a:pt x="344623" y="677"/>
                </a:lnTo>
                <a:lnTo>
                  <a:pt x="367597" y="821"/>
                </a:lnTo>
                <a:lnTo>
                  <a:pt x="390572" y="985"/>
                </a:lnTo>
                <a:lnTo>
                  <a:pt x="413547" y="1169"/>
                </a:lnTo>
                <a:lnTo>
                  <a:pt x="436522" y="1375"/>
                </a:lnTo>
                <a:lnTo>
                  <a:pt x="459497" y="1604"/>
                </a:lnTo>
                <a:lnTo>
                  <a:pt x="482472" y="1856"/>
                </a:lnTo>
                <a:lnTo>
                  <a:pt x="505447" y="2134"/>
                </a:lnTo>
                <a:lnTo>
                  <a:pt x="528422" y="2439"/>
                </a:lnTo>
                <a:lnTo>
                  <a:pt x="551396" y="2771"/>
                </a:lnTo>
                <a:lnTo>
                  <a:pt x="574371" y="3132"/>
                </a:lnTo>
                <a:lnTo>
                  <a:pt x="597346" y="3523"/>
                </a:lnTo>
                <a:lnTo>
                  <a:pt x="620321" y="3945"/>
                </a:lnTo>
                <a:lnTo>
                  <a:pt x="643296" y="4400"/>
                </a:lnTo>
                <a:lnTo>
                  <a:pt x="666271" y="4888"/>
                </a:lnTo>
                <a:lnTo>
                  <a:pt x="689246" y="5412"/>
                </a:lnTo>
                <a:lnTo>
                  <a:pt x="712221" y="5971"/>
                </a:lnTo>
                <a:lnTo>
                  <a:pt x="735195" y="6568"/>
                </a:lnTo>
                <a:lnTo>
                  <a:pt x="758170" y="7203"/>
                </a:lnTo>
                <a:lnTo>
                  <a:pt x="781145" y="7878"/>
                </a:lnTo>
                <a:lnTo>
                  <a:pt x="804120" y="8593"/>
                </a:lnTo>
                <a:lnTo>
                  <a:pt x="827095" y="9351"/>
                </a:lnTo>
                <a:lnTo>
                  <a:pt x="850070" y="10152"/>
                </a:lnTo>
                <a:lnTo>
                  <a:pt x="873045" y="10998"/>
                </a:lnTo>
                <a:lnTo>
                  <a:pt x="896020" y="11889"/>
                </a:lnTo>
                <a:lnTo>
                  <a:pt x="918994" y="12827"/>
                </a:lnTo>
                <a:lnTo>
                  <a:pt x="941969" y="13813"/>
                </a:lnTo>
                <a:lnTo>
                  <a:pt x="964944" y="14849"/>
                </a:lnTo>
                <a:lnTo>
                  <a:pt x="987919" y="15935"/>
                </a:lnTo>
                <a:lnTo>
                  <a:pt x="1010894" y="17073"/>
                </a:lnTo>
                <a:lnTo>
                  <a:pt x="1033869" y="18263"/>
                </a:lnTo>
                <a:lnTo>
                  <a:pt x="1056844" y="19508"/>
                </a:lnTo>
                <a:lnTo>
                  <a:pt x="1079819" y="20808"/>
                </a:lnTo>
                <a:lnTo>
                  <a:pt x="1102793" y="22165"/>
                </a:lnTo>
                <a:lnTo>
                  <a:pt x="1125768" y="23579"/>
                </a:lnTo>
                <a:lnTo>
                  <a:pt x="1148743" y="25053"/>
                </a:lnTo>
                <a:lnTo>
                  <a:pt x="1171718" y="26586"/>
                </a:lnTo>
                <a:lnTo>
                  <a:pt x="1194693" y="28181"/>
                </a:lnTo>
                <a:lnTo>
                  <a:pt x="1217668" y="29838"/>
                </a:lnTo>
                <a:lnTo>
                  <a:pt x="1240643" y="31559"/>
                </a:lnTo>
                <a:lnTo>
                  <a:pt x="1263618" y="33345"/>
                </a:lnTo>
                <a:lnTo>
                  <a:pt x="1286592" y="35197"/>
                </a:lnTo>
                <a:lnTo>
                  <a:pt x="1309567" y="37116"/>
                </a:lnTo>
                <a:lnTo>
                  <a:pt x="1332542" y="39104"/>
                </a:lnTo>
                <a:lnTo>
                  <a:pt x="1355517" y="41162"/>
                </a:lnTo>
                <a:lnTo>
                  <a:pt x="1378492" y="43291"/>
                </a:lnTo>
                <a:lnTo>
                  <a:pt x="1401467" y="45492"/>
                </a:lnTo>
                <a:lnTo>
                  <a:pt x="1424442" y="47766"/>
                </a:lnTo>
                <a:lnTo>
                  <a:pt x="1447417" y="50114"/>
                </a:lnTo>
                <a:lnTo>
                  <a:pt x="1470391" y="52539"/>
                </a:lnTo>
                <a:lnTo>
                  <a:pt x="1493366" y="55040"/>
                </a:lnTo>
                <a:lnTo>
                  <a:pt x="1516341" y="57620"/>
                </a:lnTo>
                <a:lnTo>
                  <a:pt x="1539316" y="60279"/>
                </a:lnTo>
                <a:lnTo>
                  <a:pt x="1562291" y="63018"/>
                </a:lnTo>
                <a:lnTo>
                  <a:pt x="1585266" y="65840"/>
                </a:lnTo>
                <a:lnTo>
                  <a:pt x="1608241" y="68744"/>
                </a:lnTo>
                <a:lnTo>
                  <a:pt x="1631216" y="71732"/>
                </a:lnTo>
                <a:lnTo>
                  <a:pt x="1654190" y="74806"/>
                </a:lnTo>
                <a:lnTo>
                  <a:pt x="1677165" y="77967"/>
                </a:lnTo>
                <a:lnTo>
                  <a:pt x="1700140" y="81215"/>
                </a:lnTo>
                <a:lnTo>
                  <a:pt x="1723115" y="84552"/>
                </a:lnTo>
                <a:lnTo>
                  <a:pt x="1746090" y="87979"/>
                </a:lnTo>
                <a:lnTo>
                  <a:pt x="1769065" y="91498"/>
                </a:lnTo>
                <a:lnTo>
                  <a:pt x="1792040" y="95109"/>
                </a:lnTo>
                <a:lnTo>
                  <a:pt x="1815015" y="98814"/>
                </a:lnTo>
                <a:lnTo>
                  <a:pt x="1837989" y="102615"/>
                </a:lnTo>
                <a:lnTo>
                  <a:pt x="1860964" y="106511"/>
                </a:lnTo>
                <a:lnTo>
                  <a:pt x="1883939" y="110505"/>
                </a:lnTo>
                <a:lnTo>
                  <a:pt x="1906914" y="114597"/>
                </a:lnTo>
                <a:lnTo>
                  <a:pt x="1929889" y="118789"/>
                </a:lnTo>
                <a:lnTo>
                  <a:pt x="1952864" y="123082"/>
                </a:lnTo>
                <a:lnTo>
                  <a:pt x="1975839" y="127478"/>
                </a:lnTo>
                <a:lnTo>
                  <a:pt x="1998814" y="131977"/>
                </a:lnTo>
                <a:lnTo>
                  <a:pt x="2021788" y="136580"/>
                </a:lnTo>
                <a:lnTo>
                  <a:pt x="2044763" y="141289"/>
                </a:lnTo>
                <a:lnTo>
                  <a:pt x="2067738" y="146105"/>
                </a:lnTo>
                <a:lnTo>
                  <a:pt x="2090713" y="151030"/>
                </a:lnTo>
                <a:lnTo>
                  <a:pt x="2113688" y="156064"/>
                </a:lnTo>
                <a:lnTo>
                  <a:pt x="2136663" y="161208"/>
                </a:lnTo>
                <a:lnTo>
                  <a:pt x="2159638" y="166465"/>
                </a:lnTo>
                <a:lnTo>
                  <a:pt x="2182613" y="171834"/>
                </a:lnTo>
                <a:lnTo>
                  <a:pt x="2205587" y="177318"/>
                </a:lnTo>
                <a:lnTo>
                  <a:pt x="2228562" y="182917"/>
                </a:lnTo>
                <a:lnTo>
                  <a:pt x="2251537" y="188633"/>
                </a:lnTo>
                <a:lnTo>
                  <a:pt x="2274512" y="194466"/>
                </a:lnTo>
                <a:lnTo>
                  <a:pt x="2297487" y="200419"/>
                </a:lnTo>
                <a:lnTo>
                  <a:pt x="2320462" y="206492"/>
                </a:lnTo>
                <a:lnTo>
                  <a:pt x="2343437" y="212686"/>
                </a:lnTo>
                <a:lnTo>
                  <a:pt x="2366412" y="219003"/>
                </a:lnTo>
                <a:lnTo>
                  <a:pt x="2389386" y="225444"/>
                </a:lnTo>
                <a:lnTo>
                  <a:pt x="2412361" y="232010"/>
                </a:lnTo>
                <a:lnTo>
                  <a:pt x="2435336" y="238702"/>
                </a:lnTo>
                <a:lnTo>
                  <a:pt x="2458311" y="245522"/>
                </a:lnTo>
                <a:lnTo>
                  <a:pt x="2481286" y="252470"/>
                </a:lnTo>
                <a:lnTo>
                  <a:pt x="2504261" y="259548"/>
                </a:lnTo>
                <a:lnTo>
                  <a:pt x="2527236" y="266757"/>
                </a:lnTo>
                <a:lnTo>
                  <a:pt x="2550211" y="274099"/>
                </a:lnTo>
                <a:lnTo>
                  <a:pt x="2573185" y="281574"/>
                </a:lnTo>
                <a:lnTo>
                  <a:pt x="2596160" y="289184"/>
                </a:lnTo>
                <a:lnTo>
                  <a:pt x="2619135" y="296929"/>
                </a:lnTo>
                <a:lnTo>
                  <a:pt x="2642110" y="304812"/>
                </a:lnTo>
                <a:lnTo>
                  <a:pt x="2665085" y="312833"/>
                </a:lnTo>
                <a:lnTo>
                  <a:pt x="2688060" y="320993"/>
                </a:lnTo>
                <a:lnTo>
                  <a:pt x="2711035" y="329294"/>
                </a:lnTo>
                <a:lnTo>
                  <a:pt x="2734010" y="337737"/>
                </a:lnTo>
                <a:lnTo>
                  <a:pt x="2756984" y="346324"/>
                </a:lnTo>
                <a:lnTo>
                  <a:pt x="2779959" y="355054"/>
                </a:lnTo>
                <a:lnTo>
                  <a:pt x="2802934" y="363930"/>
                </a:lnTo>
                <a:lnTo>
                  <a:pt x="2825909" y="372953"/>
                </a:lnTo>
                <a:lnTo>
                  <a:pt x="2848884" y="382123"/>
                </a:lnTo>
                <a:lnTo>
                  <a:pt x="2871859" y="391443"/>
                </a:lnTo>
                <a:lnTo>
                  <a:pt x="2894834" y="400913"/>
                </a:lnTo>
                <a:lnTo>
                  <a:pt x="2917809" y="410534"/>
                </a:lnTo>
                <a:lnTo>
                  <a:pt x="2940783" y="420308"/>
                </a:lnTo>
                <a:lnTo>
                  <a:pt x="2963758" y="430237"/>
                </a:lnTo>
                <a:lnTo>
                  <a:pt x="2986733" y="440320"/>
                </a:lnTo>
                <a:lnTo>
                  <a:pt x="3009708" y="450559"/>
                </a:lnTo>
                <a:lnTo>
                  <a:pt x="3032683" y="460957"/>
                </a:lnTo>
                <a:lnTo>
                  <a:pt x="3055658" y="471512"/>
                </a:lnTo>
                <a:lnTo>
                  <a:pt x="3078633" y="482228"/>
                </a:lnTo>
                <a:lnTo>
                  <a:pt x="3101608" y="493105"/>
                </a:lnTo>
                <a:lnTo>
                  <a:pt x="3124582" y="504144"/>
                </a:lnTo>
                <a:lnTo>
                  <a:pt x="3147557" y="515347"/>
                </a:lnTo>
                <a:lnTo>
                  <a:pt x="3170532" y="526715"/>
                </a:lnTo>
                <a:lnTo>
                  <a:pt x="3193507" y="538248"/>
                </a:lnTo>
                <a:lnTo>
                  <a:pt x="3216482" y="549949"/>
                </a:lnTo>
                <a:lnTo>
                  <a:pt x="3239457" y="561818"/>
                </a:lnTo>
                <a:lnTo>
                  <a:pt x="3262432" y="573856"/>
                </a:lnTo>
                <a:lnTo>
                  <a:pt x="3285407" y="586066"/>
                </a:lnTo>
                <a:lnTo>
                  <a:pt x="3308381" y="598447"/>
                </a:lnTo>
                <a:lnTo>
                  <a:pt x="3331356" y="611001"/>
                </a:lnTo>
                <a:lnTo>
                  <a:pt x="3354331" y="623730"/>
                </a:lnTo>
                <a:lnTo>
                  <a:pt x="3377306" y="636634"/>
                </a:lnTo>
                <a:lnTo>
                  <a:pt x="3400281" y="649716"/>
                </a:lnTo>
                <a:lnTo>
                  <a:pt x="3423256" y="662975"/>
                </a:lnTo>
                <a:lnTo>
                  <a:pt x="3446231" y="676413"/>
                </a:lnTo>
                <a:lnTo>
                  <a:pt x="3469206" y="690032"/>
                </a:lnTo>
                <a:lnTo>
                  <a:pt x="3492180" y="703832"/>
                </a:lnTo>
                <a:lnTo>
                  <a:pt x="3515155" y="717815"/>
                </a:lnTo>
                <a:lnTo>
                  <a:pt x="3538130" y="731982"/>
                </a:lnTo>
                <a:lnTo>
                  <a:pt x="3561105" y="746334"/>
                </a:lnTo>
                <a:lnTo>
                  <a:pt x="3584080" y="760872"/>
                </a:lnTo>
                <a:lnTo>
                  <a:pt x="3607055" y="775599"/>
                </a:lnTo>
                <a:lnTo>
                  <a:pt x="3630030" y="790514"/>
                </a:lnTo>
                <a:lnTo>
                  <a:pt x="3653005" y="805619"/>
                </a:lnTo>
                <a:lnTo>
                  <a:pt x="3675979" y="820915"/>
                </a:lnTo>
                <a:lnTo>
                  <a:pt x="3698954" y="836403"/>
                </a:lnTo>
                <a:lnTo>
                  <a:pt x="3721929" y="852085"/>
                </a:lnTo>
                <a:lnTo>
                  <a:pt x="3744904" y="867962"/>
                </a:lnTo>
                <a:lnTo>
                  <a:pt x="3767879" y="884035"/>
                </a:lnTo>
                <a:lnTo>
                  <a:pt x="3790854" y="900305"/>
                </a:lnTo>
                <a:lnTo>
                  <a:pt x="3813829" y="916774"/>
                </a:lnTo>
                <a:lnTo>
                  <a:pt x="3836804" y="933442"/>
                </a:lnTo>
                <a:lnTo>
                  <a:pt x="3859778" y="950311"/>
                </a:lnTo>
                <a:lnTo>
                  <a:pt x="3882753" y="967382"/>
                </a:lnTo>
                <a:lnTo>
                  <a:pt x="3905728" y="984657"/>
                </a:lnTo>
                <a:lnTo>
                  <a:pt x="3928703" y="1002135"/>
                </a:lnTo>
                <a:lnTo>
                  <a:pt x="3951678" y="1019820"/>
                </a:lnTo>
                <a:lnTo>
                  <a:pt x="3974653" y="1037711"/>
                </a:lnTo>
                <a:lnTo>
                  <a:pt x="3997628" y="1055810"/>
                </a:lnTo>
                <a:lnTo>
                  <a:pt x="4020603" y="1074118"/>
                </a:lnTo>
                <a:lnTo>
                  <a:pt x="4043577" y="1092637"/>
                </a:lnTo>
                <a:lnTo>
                  <a:pt x="4066552" y="1111368"/>
                </a:lnTo>
                <a:lnTo>
                  <a:pt x="4089527" y="1130311"/>
                </a:lnTo>
                <a:lnTo>
                  <a:pt x="4112502" y="1149469"/>
                </a:lnTo>
                <a:lnTo>
                  <a:pt x="4135477" y="1168841"/>
                </a:lnTo>
                <a:lnTo>
                  <a:pt x="4158452" y="1188430"/>
                </a:lnTo>
                <a:lnTo>
                  <a:pt x="4181427" y="1208237"/>
                </a:lnTo>
                <a:lnTo>
                  <a:pt x="4204402" y="1228263"/>
                </a:lnTo>
                <a:lnTo>
                  <a:pt x="4227376" y="1248508"/>
                </a:lnTo>
                <a:lnTo>
                  <a:pt x="4250351" y="1268975"/>
                </a:lnTo>
                <a:lnTo>
                  <a:pt x="4273326" y="1289665"/>
                </a:lnTo>
                <a:lnTo>
                  <a:pt x="4296301" y="1310578"/>
                </a:lnTo>
                <a:lnTo>
                  <a:pt x="4319276" y="1331716"/>
                </a:lnTo>
                <a:lnTo>
                  <a:pt x="4342251" y="1353080"/>
                </a:lnTo>
                <a:lnTo>
                  <a:pt x="4365226" y="1374671"/>
                </a:lnTo>
                <a:lnTo>
                  <a:pt x="4388201" y="1396491"/>
                </a:lnTo>
                <a:lnTo>
                  <a:pt x="4411175" y="1418540"/>
                </a:lnTo>
                <a:lnTo>
                  <a:pt x="4434150" y="1440821"/>
                </a:lnTo>
                <a:lnTo>
                  <a:pt x="4457125" y="1463333"/>
                </a:lnTo>
                <a:lnTo>
                  <a:pt x="4480100" y="1486079"/>
                </a:lnTo>
                <a:lnTo>
                  <a:pt x="4503075" y="1509059"/>
                </a:lnTo>
                <a:lnTo>
                  <a:pt x="4526050" y="1532275"/>
                </a:lnTo>
                <a:lnTo>
                  <a:pt x="4549025" y="1555728"/>
                </a:lnTo>
                <a:lnTo>
                  <a:pt x="4572000" y="1579419"/>
                </a:lnTo>
              </a:path>
            </a:pathLst>
          </a:custGeom>
          <a:noFill/>
          <a:ln w="3810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57" name="C1-E13 line 55" descr="sci-ppt:o055"/>
          <p:cNvCxnSpPr/>
          <p:nvPr/>
        </p:nvCxnSpPr>
        <p:spPr>
          <a:xfrm>
            <a:off x="9189720" y="4096626"/>
            <a:ext cx="1600200" cy="335824"/>
          </a:xfrm>
          <a:prstGeom prst="line">
            <a:avLst/>
          </a:prstGeom>
          <a:ln w="25400">
            <a:solidFill>
              <a:srgbClr val="F2B880"/>
            </a:solidFill>
            <a:prstDash val="dash"/>
          </a:ln>
          <a:effectLst/>
        </p:spPr>
      </p:cxnSp>
      <p:sp>
        <p:nvSpPr>
          <p:cNvPr id="58" name="C1-E13 text 56" descr="sci-ppt:o056"/>
          <p:cNvSpPr txBox="1"/>
          <p:nvPr/>
        </p:nvSpPr>
        <p:spPr>
          <a:xfrm>
            <a:off x="7434072" y="4645152"/>
            <a:ext cx="292608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8EDBD4"/>
                </a:solidFill>
                <a:latin typeface="Arial"/>
              </a:rPr>
              <a:t>R³y = 1 − x³: simple, slope ∝ −R²</a:t>
            </a:r>
          </a:p>
        </p:txBody>
      </p:sp>
      <p:sp>
        <p:nvSpPr>
          <p:cNvPr id="59" name="C1-E13 round_rect 57" descr="sci-ppt:o057"/>
          <p:cNvSpPr/>
          <p:nvPr/>
        </p:nvSpPr>
        <p:spPr>
          <a:xfrm>
            <a:off x="365760" y="914400"/>
            <a:ext cx="5852160" cy="4937760"/>
          </a:xfrm>
          <a:prstGeom prst="roundRect">
            <a:avLst/>
          </a:prstGeom>
          <a:solidFill>
            <a:srgbClr val="213E4B"/>
          </a:solidFill>
          <a:ln w="2032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C1-E13 text 58" descr="sci-ppt:o058"/>
          <p:cNvSpPr txBox="1"/>
          <p:nvPr/>
        </p:nvSpPr>
        <p:spPr>
          <a:xfrm>
            <a:off x="475488" y="969264"/>
            <a:ext cx="5632704" cy="254889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8EDBD4"/>
                </a:solidFill>
                <a:latin typeface="Arial"/>
              </a:rPr>
              <a:t>Why the radius replaces time</a:t>
            </a:r>
          </a:p>
        </p:txBody>
      </p:sp>
      <p:sp>
        <p:nvSpPr>
          <p:cNvPr id="61" name="C1-E13 text 59" descr="sci-ppt:o059"/>
          <p:cNvSpPr txBox="1"/>
          <p:nvPr/>
        </p:nvSpPr>
        <p:spPr>
          <a:xfrm>
            <a:off x="548640" y="1417320"/>
            <a:ext cx="5394960" cy="247142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F2B880"/>
                </a:solidFill>
                <a:latin typeface="Arial"/>
              </a:rPr>
              <a:t>1  y(R) = Ṙ²,  Ṙ ≠ 0</a:t>
            </a:r>
          </a:p>
        </p:txBody>
      </p:sp>
      <p:sp>
        <p:nvSpPr>
          <p:cNvPr id="62" name="C1-E13 text 60" descr="sci-ppt:o060"/>
          <p:cNvSpPr txBox="1"/>
          <p:nvPr/>
        </p:nvSpPr>
        <p:spPr>
          <a:xfrm>
            <a:off x="777240" y="1728216"/>
            <a:ext cx="5212080" cy="247142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E7F0F3"/>
                </a:solidFill>
                <a:latin typeface="Arial"/>
              </a:rPr>
              <a:t>dy/dR = 2R̈</a:t>
            </a:r>
          </a:p>
        </p:txBody>
      </p:sp>
      <p:sp>
        <p:nvSpPr>
          <p:cNvPr id="63" name="C1-E13 text 61" descr="sci-ppt:o061"/>
          <p:cNvSpPr txBox="1"/>
          <p:nvPr/>
        </p:nvSpPr>
        <p:spPr>
          <a:xfrm>
            <a:off x="548640" y="2249678"/>
            <a:ext cx="5394960" cy="247142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F2B880"/>
                </a:solidFill>
                <a:latin typeface="Arial"/>
              </a:rPr>
              <a:t>2  Rewrite R R̈ + (3/2)Ṙ² = −Δp_c/ρ</a:t>
            </a:r>
          </a:p>
        </p:txBody>
      </p:sp>
      <p:sp>
        <p:nvSpPr>
          <p:cNvPr id="64" name="C1-E13 text 62" descr="sci-ppt:o062"/>
          <p:cNvSpPr txBox="1"/>
          <p:nvPr/>
        </p:nvSpPr>
        <p:spPr>
          <a:xfrm>
            <a:off x="777240" y="2560574"/>
            <a:ext cx="5212080" cy="247142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E7F0F3"/>
                </a:solidFill>
                <a:latin typeface="Arial"/>
              </a:rPr>
              <a:t>y′ + 3y/R = −2Δp_c/(ρR)</a:t>
            </a:r>
          </a:p>
        </p:txBody>
      </p:sp>
      <p:sp>
        <p:nvSpPr>
          <p:cNvPr id="65" name="C1-E13 text 63" descr="sci-ppt:o063"/>
          <p:cNvSpPr txBox="1"/>
          <p:nvPr/>
        </p:nvSpPr>
        <p:spPr>
          <a:xfrm>
            <a:off x="548640" y="3082036"/>
            <a:ext cx="5394960" cy="247142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F2B880"/>
                </a:solidFill>
                <a:latin typeface="Arial"/>
              </a:rPr>
              <a:t>3  Multiply by the integrating factor R³</a:t>
            </a:r>
          </a:p>
        </p:txBody>
      </p:sp>
      <p:sp>
        <p:nvSpPr>
          <p:cNvPr id="66" name="C1-E13 text 64" descr="sci-ppt:o064"/>
          <p:cNvSpPr txBox="1"/>
          <p:nvPr/>
        </p:nvSpPr>
        <p:spPr>
          <a:xfrm>
            <a:off x="777240" y="3392931"/>
            <a:ext cx="5212080" cy="247142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E7F0F3"/>
                </a:solidFill>
                <a:latin typeface="Arial"/>
              </a:rPr>
              <a:t>d(R³y)/dR = R³y′ + 3R²y = −(2Δp_c/ρ) R²</a:t>
            </a:r>
          </a:p>
        </p:txBody>
      </p:sp>
      <p:sp>
        <p:nvSpPr>
          <p:cNvPr id="67" name="C1-E13 text 65" descr="sci-ppt:o065"/>
          <p:cNvSpPr txBox="1"/>
          <p:nvPr/>
        </p:nvSpPr>
        <p:spPr>
          <a:xfrm>
            <a:off x="548640" y="3914393"/>
            <a:ext cx="5394960" cy="247142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F2B880"/>
                </a:solidFill>
                <a:latin typeface="Arial"/>
              </a:rPr>
              <a:t>4  Integrate from Rₘₐₓ (y = 0)</a:t>
            </a:r>
          </a:p>
        </p:txBody>
      </p:sp>
      <p:sp>
        <p:nvSpPr>
          <p:cNvPr id="68" name="C1-E13 text 66" descr="sci-ppt:o066"/>
          <p:cNvSpPr txBox="1"/>
          <p:nvPr/>
        </p:nvSpPr>
        <p:spPr>
          <a:xfrm>
            <a:off x="777240" y="4225289"/>
            <a:ext cx="5212080" cy="247142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E7F0F3"/>
                </a:solidFill>
                <a:latin typeface="Arial"/>
              </a:rPr>
              <a:t>R³y = (2Δp_c/3ρ)(Rₘₐₓ³ − R³)</a:t>
            </a:r>
          </a:p>
        </p:txBody>
      </p:sp>
      <p:sp>
        <p:nvSpPr>
          <p:cNvPr id="69" name="C1-E13 text 67" descr="sci-ppt:o067"/>
          <p:cNvSpPr txBox="1"/>
          <p:nvPr/>
        </p:nvSpPr>
        <p:spPr>
          <a:xfrm>
            <a:off x="548640" y="4792471"/>
            <a:ext cx="5394960" cy="43307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B4C7D2"/>
                </a:solidFill>
                <a:latin typeface="Arial"/>
              </a:rPr>
              <a:t>On the monotonic inward branch R is a valid independent</a:t>
            </a:r>
          </a:p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B4C7D2"/>
                </a:solidFill>
                <a:latin typeface="Arial"/>
              </a:rPr>
              <a:t>variable. The factor R³ makes the left side an exact derivative.</a:t>
            </a:r>
          </a:p>
        </p:txBody>
      </p:sp>
      <p:sp>
        <p:nvSpPr>
          <p:cNvPr id="70" name="C1-E13 text 68" descr="sci-ppt:o068"/>
          <p:cNvSpPr txBox="1"/>
          <p:nvPr/>
        </p:nvSpPr>
        <p:spPr>
          <a:xfrm>
            <a:off x="320040" y="6510528"/>
            <a:ext cx="11521440" cy="20066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B4C7D2"/>
                </a:solidFill>
                <a:latin typeface="Arial"/>
              </a:rPr>
              <a:t>Curves are y = Ṙ² and R³y from Eqs. C1-E13 and C1-E14 (scaled as labelled).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