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C2-E23 · Product-rule derivation of thermal closure</a:t>
            </a:r>
          </a:p>
        </p:txBody>
      </p:sp>
      <p:sp>
        <p:nvSpPr>
          <p:cNvPr id="3" name="C2-E23 round_rect 1" descr="sci-ppt:o001"/>
          <p:cNvSpPr/>
          <p:nvPr/>
        </p:nvSpPr>
        <p:spPr>
          <a:xfrm>
            <a:off x="365760" y="914400"/>
            <a:ext cx="512064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2-E23 text 2" descr="sci-ppt:o002"/>
          <p:cNvSpPr txBox="1"/>
          <p:nvPr/>
        </p:nvSpPr>
        <p:spPr>
          <a:xfrm>
            <a:off x="475488" y="969264"/>
            <a:ext cx="4901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From U_b to a temperature equation</a:t>
            </a:r>
          </a:p>
        </p:txBody>
      </p:sp>
      <p:sp>
        <p:nvSpPr>
          <p:cNvPr id="5" name="C2-E23 text 3" descr="sci-ppt:o003"/>
          <p:cNvSpPr txBox="1"/>
          <p:nvPr/>
        </p:nvSpPr>
        <p:spPr>
          <a:xfrm>
            <a:off x="548640" y="1371600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Internal energy</a:t>
            </a:r>
          </a:p>
        </p:txBody>
      </p:sp>
      <p:sp>
        <p:nvSpPr>
          <p:cNvPr id="6" name="C2-E23 text 4" descr="sci-ppt:o004"/>
          <p:cNvSpPr txBox="1"/>
          <p:nvPr/>
        </p:nvSpPr>
        <p:spPr>
          <a:xfrm>
            <a:off x="777240" y="1673352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U_b = Σ mᵥ,s eₛ(T_b)</a:t>
            </a:r>
          </a:p>
        </p:txBody>
      </p:sp>
      <p:sp>
        <p:nvSpPr>
          <p:cNvPr id="7" name="C2-E23 text 5" descr="sci-ppt:o005"/>
          <p:cNvSpPr txBox="1"/>
          <p:nvPr/>
        </p:nvSpPr>
        <p:spPr>
          <a:xfrm>
            <a:off x="548640" y="2187067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Product rule</a:t>
            </a:r>
          </a:p>
        </p:txBody>
      </p:sp>
      <p:sp>
        <p:nvSpPr>
          <p:cNvPr id="8" name="C2-E23 text 6" descr="sci-ppt:o006"/>
          <p:cNvSpPr txBox="1"/>
          <p:nvPr/>
        </p:nvSpPr>
        <p:spPr>
          <a:xfrm>
            <a:off x="777240" y="2488819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U̇_b = (Σ m cᵥ) Ṫ_b + Σ eₛ ṁᵥ,s</a:t>
            </a:r>
          </a:p>
        </p:txBody>
      </p:sp>
      <p:sp>
        <p:nvSpPr>
          <p:cNvPr id="9" name="C2-E23 text 7" descr="sci-ppt:o007"/>
          <p:cNvSpPr txBox="1"/>
          <p:nvPr/>
        </p:nvSpPr>
        <p:spPr>
          <a:xfrm>
            <a:off x="548640" y="3002534"/>
            <a:ext cx="47548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Insert the first law</a:t>
            </a:r>
          </a:p>
        </p:txBody>
      </p:sp>
      <p:sp>
        <p:nvSpPr>
          <p:cNvPr id="10" name="C2-E23 text 8" descr="sci-ppt:o008"/>
          <p:cNvSpPr txBox="1"/>
          <p:nvPr/>
        </p:nvSpPr>
        <p:spPr>
          <a:xfrm>
            <a:off x="777240" y="3304286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(Σ m cᵥ) Ṫ_b = Q̇_b − p_b V̇_b + Σ (hᵥ,s − eₛ) ṁᵥ,s</a:t>
            </a:r>
          </a:p>
        </p:txBody>
      </p:sp>
      <p:sp>
        <p:nvSpPr>
          <p:cNvPr id="11" name="C2-E23 text 9" descr="sci-ppt:o009"/>
          <p:cNvSpPr txBox="1"/>
          <p:nvPr/>
        </p:nvSpPr>
        <p:spPr>
          <a:xfrm>
            <a:off x="548640" y="3818001"/>
            <a:ext cx="47548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For an ideal vapor h − e = Rᵤ T / M = 9.3 kJ/kg at 323 K,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so every mass added also carries the work term.</a:t>
            </a:r>
          </a:p>
        </p:txBody>
      </p:sp>
      <p:sp>
        <p:nvSpPr>
          <p:cNvPr id="12" name="C2-E23 text 10" descr="sci-ppt:o010"/>
          <p:cNvSpPr txBox="1"/>
          <p:nvPr/>
        </p:nvSpPr>
        <p:spPr>
          <a:xfrm>
            <a:off x="5760720" y="960120"/>
            <a:ext cx="60350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Terms that change the bubble temperature (illustrative, W)</a:t>
            </a:r>
          </a:p>
        </p:txBody>
      </p:sp>
      <p:cxnSp>
        <p:nvCxnSpPr>
          <p:cNvPr id="13" name="C2-E23 line 11" descr="sci-ppt:o011"/>
          <p:cNvCxnSpPr/>
          <p:nvPr/>
        </p:nvCxnSpPr>
        <p:spPr>
          <a:xfrm>
            <a:off x="5943600" y="466344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2-E23 line 12" descr="sci-ppt:o012"/>
          <p:cNvCxnSpPr/>
          <p:nvPr/>
        </p:nvCxnSpPr>
        <p:spPr>
          <a:xfrm>
            <a:off x="5943600" y="1554480"/>
            <a:ext cx="0" cy="31089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5" name="C2-E23 line 13" descr="sci-ppt:o013"/>
          <p:cNvCxnSpPr/>
          <p:nvPr/>
        </p:nvCxnSpPr>
        <p:spPr>
          <a:xfrm>
            <a:off x="5879592" y="46634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2-E23 line 14" descr="sci-ppt:o014"/>
          <p:cNvCxnSpPr/>
          <p:nvPr/>
        </p:nvCxnSpPr>
        <p:spPr>
          <a:xfrm>
            <a:off x="5943600" y="466344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2-E23 text 15" descr="sci-ppt:o015"/>
          <p:cNvSpPr txBox="1"/>
          <p:nvPr/>
        </p:nvSpPr>
        <p:spPr>
          <a:xfrm>
            <a:off x="5074920" y="45811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18" name="C2-E23 line 16" descr="sci-ppt:o016"/>
          <p:cNvCxnSpPr/>
          <p:nvPr/>
        </p:nvCxnSpPr>
        <p:spPr>
          <a:xfrm>
            <a:off x="5879592" y="384529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2-E23 line 17" descr="sci-ppt:o017"/>
          <p:cNvCxnSpPr/>
          <p:nvPr/>
        </p:nvCxnSpPr>
        <p:spPr>
          <a:xfrm>
            <a:off x="5943600" y="3845292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2-E23 text 18" descr="sci-ppt:o018"/>
          <p:cNvSpPr txBox="1"/>
          <p:nvPr/>
        </p:nvSpPr>
        <p:spPr>
          <a:xfrm>
            <a:off x="5074920" y="376299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1" name="C2-E23 line 19" descr="sci-ppt:o019"/>
          <p:cNvCxnSpPr/>
          <p:nvPr/>
        </p:nvCxnSpPr>
        <p:spPr>
          <a:xfrm>
            <a:off x="5879592" y="302714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23 line 20" descr="sci-ppt:o020"/>
          <p:cNvCxnSpPr/>
          <p:nvPr/>
        </p:nvCxnSpPr>
        <p:spPr>
          <a:xfrm>
            <a:off x="5943600" y="302714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23 text 21" descr="sci-ppt:o021"/>
          <p:cNvSpPr txBox="1"/>
          <p:nvPr/>
        </p:nvSpPr>
        <p:spPr>
          <a:xfrm>
            <a:off x="5074920" y="294484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4" name="C2-E23 line 22" descr="sci-ppt:o022"/>
          <p:cNvCxnSpPr/>
          <p:nvPr/>
        </p:nvCxnSpPr>
        <p:spPr>
          <a:xfrm>
            <a:off x="5879592" y="220899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23 line 23" descr="sci-ppt:o023"/>
          <p:cNvCxnSpPr/>
          <p:nvPr/>
        </p:nvCxnSpPr>
        <p:spPr>
          <a:xfrm>
            <a:off x="5943600" y="2208997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23 text 24" descr="sci-ppt:o024"/>
          <p:cNvSpPr txBox="1"/>
          <p:nvPr/>
        </p:nvSpPr>
        <p:spPr>
          <a:xfrm>
            <a:off x="5074920" y="212670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sp>
        <p:nvSpPr>
          <p:cNvPr id="27" name="C2-E23 rect 25" descr="sci-ppt:o025"/>
          <p:cNvSpPr/>
          <p:nvPr/>
        </p:nvSpPr>
        <p:spPr>
          <a:xfrm>
            <a:off x="6145225" y="2536256"/>
            <a:ext cx="1036929" cy="212718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23 text 26" descr="sci-ppt:o026"/>
          <p:cNvSpPr txBox="1"/>
          <p:nvPr/>
        </p:nvSpPr>
        <p:spPr>
          <a:xfrm>
            <a:off x="5916625" y="2261936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1.30</a:t>
            </a:r>
          </a:p>
        </p:txBody>
      </p:sp>
      <p:sp>
        <p:nvSpPr>
          <p:cNvPr id="29" name="C2-E23 text 27" descr="sci-ppt:o027"/>
          <p:cNvSpPr txBox="1"/>
          <p:nvPr/>
        </p:nvSpPr>
        <p:spPr>
          <a:xfrm>
            <a:off x="587090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Σ(h−e)ṁ</a:t>
            </a:r>
          </a:p>
        </p:txBody>
      </p:sp>
      <p:sp>
        <p:nvSpPr>
          <p:cNvPr id="30" name="C2-E23 rect 28" descr="sci-ppt:o028"/>
          <p:cNvSpPr/>
          <p:nvPr/>
        </p:nvSpPr>
        <p:spPr>
          <a:xfrm>
            <a:off x="7585405" y="2045368"/>
            <a:ext cx="1036929" cy="490888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23 text 29" descr="sci-ppt:o029"/>
          <p:cNvSpPr txBox="1"/>
          <p:nvPr/>
        </p:nvSpPr>
        <p:spPr>
          <a:xfrm>
            <a:off x="7356805" y="1771048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+0.30</a:t>
            </a:r>
          </a:p>
        </p:txBody>
      </p:sp>
      <p:sp>
        <p:nvSpPr>
          <p:cNvPr id="32" name="C2-E23 text 30" descr="sci-ppt:o030"/>
          <p:cNvSpPr txBox="1"/>
          <p:nvPr/>
        </p:nvSpPr>
        <p:spPr>
          <a:xfrm>
            <a:off x="731108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Q̇_b</a:t>
            </a:r>
          </a:p>
        </p:txBody>
      </p:sp>
      <p:sp>
        <p:nvSpPr>
          <p:cNvPr id="33" name="C2-E23 rect 31" descr="sci-ppt:o031"/>
          <p:cNvSpPr/>
          <p:nvPr/>
        </p:nvSpPr>
        <p:spPr>
          <a:xfrm>
            <a:off x="9025585" y="2045368"/>
            <a:ext cx="1036929" cy="1472665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23 text 32" descr="sci-ppt:o032"/>
          <p:cNvSpPr txBox="1"/>
          <p:nvPr/>
        </p:nvSpPr>
        <p:spPr>
          <a:xfrm>
            <a:off x="8796985" y="1771048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-0.90</a:t>
            </a:r>
          </a:p>
        </p:txBody>
      </p:sp>
      <p:sp>
        <p:nvSpPr>
          <p:cNvPr id="35" name="C2-E23 text 33" descr="sci-ppt:o033"/>
          <p:cNvSpPr txBox="1"/>
          <p:nvPr/>
        </p:nvSpPr>
        <p:spPr>
          <a:xfrm>
            <a:off x="875126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−p V̇</a:t>
            </a:r>
          </a:p>
        </p:txBody>
      </p:sp>
      <p:sp>
        <p:nvSpPr>
          <p:cNvPr id="36" name="C2-E23 rect 34" descr="sci-ppt:o034"/>
          <p:cNvSpPr/>
          <p:nvPr/>
        </p:nvSpPr>
        <p:spPr>
          <a:xfrm>
            <a:off x="10465765" y="3518033"/>
            <a:ext cx="1036929" cy="1145406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2-E23 text 35" descr="sci-ppt:o035"/>
          <p:cNvSpPr txBox="1"/>
          <p:nvPr/>
        </p:nvSpPr>
        <p:spPr>
          <a:xfrm>
            <a:off x="10237165" y="3243713"/>
            <a:ext cx="149412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0.70</a:t>
            </a:r>
          </a:p>
        </p:txBody>
      </p:sp>
      <p:sp>
        <p:nvSpPr>
          <p:cNvPr id="38" name="C2-E23 text 36" descr="sci-ppt:o036"/>
          <p:cNvSpPr txBox="1"/>
          <p:nvPr/>
        </p:nvSpPr>
        <p:spPr>
          <a:xfrm>
            <a:off x="10191445" y="4736592"/>
            <a:ext cx="1585569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4C7D2"/>
                </a:solidFill>
                <a:latin typeface="Arial"/>
              </a:rPr>
              <a:t>= (Σmcᵥ) Ṫ</a:t>
            </a:r>
          </a:p>
        </p:txBody>
      </p:sp>
      <p:sp>
        <p:nvSpPr>
          <p:cNvPr id="39" name="C2-E23 text 37" descr="sci-ppt:o037"/>
          <p:cNvSpPr txBox="1"/>
          <p:nvPr/>
        </p:nvSpPr>
        <p:spPr>
          <a:xfrm>
            <a:off x="5760720" y="5349240"/>
            <a:ext cx="60350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 fixed-mass polytropic law cannot hold while ṁᵥ,s ≠ 0: the mass terms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change the temperature as well.</a:t>
            </a:r>
          </a:p>
        </p:txBody>
      </p:sp>
      <p:sp>
        <p:nvSpPr>
          <p:cNvPr id="40" name="C2-E23 text 38" descr="sci-ppt:o03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Thermal closure of Eq. C2-E23; waterfall values are illustrative.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