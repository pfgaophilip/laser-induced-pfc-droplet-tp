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3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C2-E23 | Physical-variable diagram</a:t>
            </a:r>
          </a:p>
        </p:txBody>
      </p:sp>
      <p:sp>
        <p:nvSpPr>
          <p:cNvPr id="3" name="rect2" descr="sci-ppt:C2-E23-002"/>
          <p:cNvSpPr/>
          <p:nvPr/>
        </p:nvSpPr>
        <p:spPr>
          <a:xfrm>
            <a:off x="4023360" y="1950720"/>
            <a:ext cx="3657600" cy="13411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23-003"/>
          <p:cNvSpPr txBox="1"/>
          <p:nvPr/>
        </p:nvSpPr>
        <p:spPr>
          <a:xfrm>
            <a:off x="4145280" y="2072640"/>
            <a:ext cx="3474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Bubble energy storage U_b</a:t>
            </a:r>
          </a:p>
        </p:txBody>
      </p:sp>
      <p:cxnSp>
        <p:nvCxnSpPr>
          <p:cNvPr id="5" name="arrow4" descr="sci-ppt:C2-E23-004"/>
          <p:cNvCxnSpPr/>
          <p:nvPr/>
        </p:nvCxnSpPr>
        <p:spPr>
          <a:xfrm>
            <a:off x="1219200" y="256032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2-E23-005"/>
          <p:cNvSpPr txBox="1"/>
          <p:nvPr/>
        </p:nvSpPr>
        <p:spPr>
          <a:xfrm>
            <a:off x="1097280" y="1524000"/>
            <a:ext cx="2804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Heat Q̇_b</a:t>
            </a:r>
          </a:p>
        </p:txBody>
      </p:sp>
      <p:cxnSp>
        <p:nvCxnSpPr>
          <p:cNvPr id="7" name="arrow6" descr="sci-ppt:C2-E23-006"/>
          <p:cNvCxnSpPr/>
          <p:nvPr/>
        </p:nvCxnSpPr>
        <p:spPr>
          <a:xfrm>
            <a:off x="5852160" y="1219200"/>
            <a:ext cx="0" cy="60960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23-007"/>
          <p:cNvSpPr txBox="1"/>
          <p:nvPr/>
        </p:nvSpPr>
        <p:spPr>
          <a:xfrm>
            <a:off x="4998720" y="792480"/>
            <a:ext cx="42672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Mass enthalpy entry</a:t>
            </a:r>
          </a:p>
        </p:txBody>
      </p:sp>
      <p:cxnSp>
        <p:nvCxnSpPr>
          <p:cNvPr id="9" name="arrow8" descr="sci-ppt:C2-E23-008"/>
          <p:cNvCxnSpPr/>
          <p:nvPr/>
        </p:nvCxnSpPr>
        <p:spPr>
          <a:xfrm>
            <a:off x="7802880" y="262128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23-009"/>
          <p:cNvSpPr txBox="1"/>
          <p:nvPr/>
        </p:nvSpPr>
        <p:spPr>
          <a:xfrm>
            <a:off x="8412480" y="1767840"/>
            <a:ext cx="329184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Work p_b V̇_b</a:t>
            </a:r>
          </a:p>
        </p:txBody>
      </p:sp>
      <p:sp>
        <p:nvSpPr>
          <p:cNvPr id="11" name="text10" descr="sci-ppt:C2-E23-010"/>
          <p:cNvSpPr txBox="1"/>
          <p:nvPr/>
        </p:nvSpPr>
        <p:spPr>
          <a:xfrm>
            <a:off x="1341120" y="4084320"/>
            <a:ext cx="999744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Conductive heat and transported enthalpy are separate terms.</a:t>
            </a:r>
          </a:p>
        </p:txBody>
      </p:sp>
      <p:sp>
        <p:nvSpPr>
          <p:cNvPr id="12" name="text11" descr="sci-ppt:C2-E23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T_b, Ṫ_b: common vapor temperature</a:t>
            </a:r>
          </a:p>
        </p:txBody>
      </p:sp>
      <p:sp>
        <p:nvSpPr>
          <p:cNvPr id="13" name="text12" descr="sci-ppt:C2-E23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e_s, c_v,s: internal-energy storage</a:t>
            </a:r>
          </a:p>
        </p:txBody>
      </p:sp>
      <p:sp>
        <p:nvSpPr>
          <p:cNvPr id="14" name="text13" descr="sci-ppt:C2-E23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U_b: total stored energy</a:t>
            </a:r>
          </a:p>
        </p:txBody>
      </p:sp>
      <p:sp>
        <p:nvSpPr>
          <p:cNvPr id="15" name="text14" descr="sci-ppt:C2-E23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p_b V̇_b: work</a:t>
            </a:r>
          </a:p>
        </p:txBody>
      </p:sp>
      <p:sp>
        <p:nvSpPr>
          <p:cNvPr id="16" name="text15" descr="sci-ppt:C2-E23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m_v,s, ṁ_v,s: changing species mass</a:t>
            </a:r>
          </a:p>
        </p:txBody>
      </p:sp>
      <p:sp>
        <p:nvSpPr>
          <p:cNvPr id="17" name="text16" descr="sci-ppt:C2-E23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h_v,s: boundary enthalpy</a:t>
            </a:r>
          </a:p>
        </p:txBody>
      </p:sp>
      <p:sp>
        <p:nvSpPr>
          <p:cNvPr id="18" name="text17" descr="sci-ppt:C2-E23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Q̇_b: conduction</a:t>
            </a:r>
          </a:p>
        </p:txBody>
      </p:sp>
      <p:sp>
        <p:nvSpPr>
          <p:cNvPr id="19" name="text18" descr="sci-ppt:C2-E23-018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 = 1…N_s: summation</a:t>
            </a:r>
          </a:p>
        </p:txBody>
      </p:sp>
      <p:sp>
        <p:nvSpPr>
          <p:cNvPr id="20" name="text19" descr="sci-ppt:C2-E23-01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product rule includes both temperature and mass changes</a:t>
            </a:r>
          </a:p>
        </p:txBody>
      </p:sp>
      <p:sp>
        <p:nvSpPr>
          <p:cNvPr id="21" name="text20" descr="sci-ppt:C2-E23-02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Consistent energy references preserve the balance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