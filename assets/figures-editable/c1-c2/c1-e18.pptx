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1-E18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C1-E18 | Physical-variable diagram</a:t>
            </a:r>
          </a:p>
        </p:txBody>
      </p:sp>
      <p:sp>
        <p:nvSpPr>
          <p:cNvPr id="3" name="rect2" descr="sci-ppt:C1-E18-002"/>
          <p:cNvSpPr/>
          <p:nvPr/>
        </p:nvSpPr>
        <p:spPr>
          <a:xfrm>
            <a:off x="609600" y="2011680"/>
            <a:ext cx="3048000" cy="12801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3" descr="sci-ppt:C1-E18-003"/>
          <p:cNvSpPr txBox="1"/>
          <p:nvPr/>
        </p:nvSpPr>
        <p:spPr>
          <a:xfrm>
            <a:off x="731520" y="213360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Pressure-work budget E_B</a:t>
            </a:r>
          </a:p>
        </p:txBody>
      </p:sp>
      <p:sp>
        <p:nvSpPr>
          <p:cNvPr id="5" name="rect4" descr="sci-ppt:C1-E18-004"/>
          <p:cNvSpPr/>
          <p:nvPr/>
        </p:nvSpPr>
        <p:spPr>
          <a:xfrm>
            <a:off x="4511040" y="2011680"/>
            <a:ext cx="3048000" cy="12801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5" descr="sci-ppt:C1-E18-005"/>
          <p:cNvSpPr txBox="1"/>
          <p:nvPr/>
        </p:nvSpPr>
        <p:spPr>
          <a:xfrm>
            <a:off x="4632960" y="2133600"/>
            <a:ext cx="286512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Liquid kinetic energy K_l</a:t>
            </a:r>
          </a:p>
        </p:txBody>
      </p:sp>
      <p:sp>
        <p:nvSpPr>
          <p:cNvPr id="7" name="rect6" descr="sci-ppt:C1-E18-006"/>
          <p:cNvSpPr/>
          <p:nvPr/>
        </p:nvSpPr>
        <p:spPr>
          <a:xfrm>
            <a:off x="8412480" y="2011680"/>
            <a:ext cx="2926080" cy="1280160"/>
          </a:xfrm>
          <a:prstGeom prst="rect">
            <a:avLst/>
          </a:prstGeom>
          <a:solidFill>
            <a:srgbClr val="213E4B"/>
          </a:solidFill>
          <a:ln w="19050">
            <a:solidFill>
              <a:srgbClr val="B4C7D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7" descr="sci-ppt:C1-E18-007"/>
          <p:cNvSpPr txBox="1"/>
          <p:nvPr/>
        </p:nvSpPr>
        <p:spPr>
          <a:xfrm>
            <a:off x="8534400" y="2133600"/>
            <a:ext cx="2743200" cy="340156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28" b="0" i="0">
                <a:solidFill>
                  <a:srgbClr val="E7F0F3"/>
                </a:solidFill>
                <a:latin typeface="Arial"/>
              </a:rPr>
              <a:t>Remaining volume potential</a:t>
            </a:r>
          </a:p>
        </p:txBody>
      </p:sp>
      <p:cxnSp>
        <p:nvCxnSpPr>
          <p:cNvPr id="9" name="arrow8" descr="sci-ppt:C1-E18-008"/>
          <p:cNvCxnSpPr/>
          <p:nvPr/>
        </p:nvCxnSpPr>
        <p:spPr>
          <a:xfrm>
            <a:off x="3718560" y="2621280"/>
            <a:ext cx="67056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10" name="text9" descr="sci-ppt:C1-E18-009"/>
          <p:cNvSpPr txBox="1"/>
          <p:nvPr/>
        </p:nvSpPr>
        <p:spPr>
          <a:xfrm>
            <a:off x="1219200" y="3901440"/>
            <a:ext cx="10363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K_l / E_B = 1 - (R/R_max)^3; ideal loss-free control.</a:t>
            </a:r>
          </a:p>
        </p:txBody>
      </p:sp>
      <p:sp>
        <p:nvSpPr>
          <p:cNvPr id="11" name="text10" descr="sci-ppt:C1-E18-010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Kl(R)</a:t>
            </a:r>
          </a:p>
        </p:txBody>
      </p:sp>
      <p:sp>
        <p:nvSpPr>
          <p:cNvPr id="12" name="text11" descr="sci-ppt:C1-E18-011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Δpc</a:t>
            </a:r>
          </a:p>
        </p:txBody>
      </p:sp>
      <p:sp>
        <p:nvSpPr>
          <p:cNvPr id="13" name="text12" descr="sci-ppt:C1-E18-012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Rmax</a:t>
            </a:r>
          </a:p>
        </p:txBody>
      </p:sp>
      <p:sp>
        <p:nvSpPr>
          <p:cNvPr id="14" name="text13" descr="sci-ppt:C1-E18-013"/>
          <p:cNvSpPr txBox="1"/>
          <p:nvPr/>
        </p:nvSpPr>
        <p:spPr>
          <a:xfrm>
            <a:off x="3657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ρ</a:t>
            </a:r>
          </a:p>
        </p:txBody>
      </p:sp>
      <p:sp>
        <p:nvSpPr>
          <p:cNvPr id="15" name="text14" descr="sci-ppt:C1-E18-014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EB</a:t>
            </a:r>
          </a:p>
        </p:txBody>
      </p:sp>
      <p:sp>
        <p:nvSpPr>
          <p:cNvPr id="16" name="text15" descr="sci-ppt:C1-E18-015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Vmax</a:t>
            </a:r>
          </a:p>
        </p:txBody>
      </p:sp>
      <p:sp>
        <p:nvSpPr>
          <p:cNvPr id="17" name="text16" descr="sci-ppt:C1-E18-016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</a:t>
            </a:r>
          </a:p>
        </p:txBody>
      </p:sp>
      <p:sp>
        <p:nvSpPr>
          <p:cNvPr id="18" name="text17" descr="sci-ppt:C1-E18-017"/>
          <p:cNvSpPr txBox="1"/>
          <p:nvPr/>
        </p:nvSpPr>
        <p:spPr>
          <a:xfrm>
            <a:off x="6156960" y="5852160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Kl/EB = 1 − (R/Rmax)³</a:t>
            </a:r>
          </a:p>
        </p:txBody>
      </p:sp>
      <p:sp>
        <p:nvSpPr>
          <p:cNvPr id="19" name="text18" descr="sci-ppt:C1-E18-018"/>
          <p:cNvSpPr txBox="1"/>
          <p:nvPr/>
        </p:nvSpPr>
        <p:spPr>
          <a:xfrm>
            <a:off x="365760" y="633984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Finite energy survives the excluded zero-radius speed singularity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