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0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C1-E04 · Exact Eulerian and moving-point derivatives</a:t>
            </a:r>
          </a:p>
        </p:txBody>
      </p:sp>
      <p:sp>
        <p:nvSpPr>
          <p:cNvPr id="3" name="C1-E04 round_rect 1" descr="sci-ppt:o001"/>
          <p:cNvSpPr/>
          <p:nvPr/>
        </p:nvSpPr>
        <p:spPr>
          <a:xfrm>
            <a:off x="365760" y="914400"/>
            <a:ext cx="4023360" cy="4846320"/>
          </a:xfrm>
          <a:prstGeom prst="roundRect">
            <a:avLst/>
          </a:prstGeom>
          <a:solidFill>
            <a:srgbClr val="1E4A5A"/>
          </a:solidFill>
          <a:ln w="1905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1-E04 text 2" descr="sci-ppt:o002"/>
          <p:cNvSpPr txBox="1"/>
          <p:nvPr/>
        </p:nvSpPr>
        <p:spPr>
          <a:xfrm>
            <a:off x="502920" y="978408"/>
            <a:ext cx="3749039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Two observers, one potential</a:t>
            </a:r>
          </a:p>
        </p:txBody>
      </p:sp>
      <p:sp>
        <p:nvSpPr>
          <p:cNvPr id="5" name="C1-E04 ellipse 3" descr="sci-ppt:o003"/>
          <p:cNvSpPr/>
          <p:nvPr/>
        </p:nvSpPr>
        <p:spPr>
          <a:xfrm>
            <a:off x="1554480" y="2468880"/>
            <a:ext cx="1463040" cy="146304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1-E04 ellipse 4" descr="sci-ppt:o004"/>
          <p:cNvSpPr/>
          <p:nvPr/>
        </p:nvSpPr>
        <p:spPr>
          <a:xfrm>
            <a:off x="1335024" y="2249424"/>
            <a:ext cx="1901952" cy="1901952"/>
          </a:xfrm>
          <a:prstGeom prst="ellipse">
            <a:avLst/>
          </a:prstGeom>
          <a:noFill/>
          <a:ln w="16510">
            <a:solidFill>
              <a:srgbClr val="F2B880">
                <a:alpha val="7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1-E04 arrow 5" descr="sci-ppt:o005"/>
          <p:cNvCxnSpPr/>
          <p:nvPr/>
        </p:nvCxnSpPr>
        <p:spPr>
          <a:xfrm flipV="1">
            <a:off x="3017520" y="2066543"/>
            <a:ext cx="402336" cy="402337"/>
          </a:xfrm>
          <a:prstGeom prst="line">
            <a:avLst/>
          </a:prstGeom>
          <a:ln w="3048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C1-E04 text 6" descr="sci-ppt:o006"/>
          <p:cNvSpPr txBox="1"/>
          <p:nvPr/>
        </p:nvSpPr>
        <p:spPr>
          <a:xfrm>
            <a:off x="2560320" y="1325880"/>
            <a:ext cx="2103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wall point moves outward</a:t>
            </a:r>
          </a:p>
        </p:txBody>
      </p:sp>
      <p:sp>
        <p:nvSpPr>
          <p:cNvPr id="9" name="C1-E04 ellipse 7" descr="sci-ppt:o007"/>
          <p:cNvSpPr/>
          <p:nvPr/>
        </p:nvSpPr>
        <p:spPr>
          <a:xfrm>
            <a:off x="3931920" y="3840480"/>
            <a:ext cx="182880" cy="182880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1-E04 text 8" descr="sci-ppt:o008"/>
          <p:cNvSpPr txBox="1"/>
          <p:nvPr/>
        </p:nvSpPr>
        <p:spPr>
          <a:xfrm>
            <a:off x="2926080" y="4096512"/>
            <a:ext cx="17373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fixed point r = 2R</a:t>
            </a:r>
          </a:p>
        </p:txBody>
      </p:sp>
      <p:sp>
        <p:nvSpPr>
          <p:cNvPr id="11" name="C1-E04 text 9" descr="sci-ppt:o009"/>
          <p:cNvSpPr txBox="1"/>
          <p:nvPr/>
        </p:nvSpPr>
        <p:spPr>
          <a:xfrm>
            <a:off x="502920" y="4892040"/>
            <a:ext cx="3749039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fixed point feels φ change only because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R(t) changes. A point riding the wall also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moves to larger r.</a:t>
            </a:r>
          </a:p>
        </p:txBody>
      </p:sp>
      <p:sp>
        <p:nvSpPr>
          <p:cNvPr id="12" name="C1-E04 text 10" descr="sci-ppt:o010"/>
          <p:cNvSpPr txBox="1"/>
          <p:nvPr/>
        </p:nvSpPr>
        <p:spPr>
          <a:xfrm>
            <a:off x="4754880" y="960120"/>
            <a:ext cx="704088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Three derivatives for R = 1, Ṙ = 1, R̈ = −0.5</a:t>
            </a:r>
          </a:p>
        </p:txBody>
      </p:sp>
      <p:cxnSp>
        <p:nvCxnSpPr>
          <p:cNvPr id="13" name="C1-E04 line 11" descr="sci-ppt:o011"/>
          <p:cNvCxnSpPr/>
          <p:nvPr/>
        </p:nvCxnSpPr>
        <p:spPr>
          <a:xfrm>
            <a:off x="10424160" y="1463040"/>
            <a:ext cx="0" cy="274320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sp>
        <p:nvSpPr>
          <p:cNvPr id="14" name="C1-E04 text 12" descr="sci-ppt:o012"/>
          <p:cNvSpPr txBox="1"/>
          <p:nvPr/>
        </p:nvSpPr>
        <p:spPr>
          <a:xfrm>
            <a:off x="4754880" y="1691640"/>
            <a:ext cx="29260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∂φ/∂t at fixed r = 2R</a:t>
            </a:r>
          </a:p>
        </p:txBody>
      </p:sp>
      <p:sp>
        <p:nvSpPr>
          <p:cNvPr id="15" name="C1-E04 rect 13" descr="sci-ppt:o013"/>
          <p:cNvSpPr/>
          <p:nvPr/>
        </p:nvSpPr>
        <p:spPr>
          <a:xfrm>
            <a:off x="9189720" y="1709928"/>
            <a:ext cx="1234440" cy="411480"/>
          </a:xfrm>
          <a:prstGeom prst="rect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1-E04 text 14" descr="sci-ppt:o014"/>
          <p:cNvSpPr txBox="1"/>
          <p:nvPr/>
        </p:nvSpPr>
        <p:spPr>
          <a:xfrm>
            <a:off x="10533888" y="1737360"/>
            <a:ext cx="8229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-0.75</a:t>
            </a:r>
          </a:p>
        </p:txBody>
      </p:sp>
      <p:sp>
        <p:nvSpPr>
          <p:cNvPr id="17" name="C1-E04 text 15" descr="sci-ppt:o015"/>
          <p:cNvSpPr txBox="1"/>
          <p:nvPr/>
        </p:nvSpPr>
        <p:spPr>
          <a:xfrm>
            <a:off x="4754880" y="2560320"/>
            <a:ext cx="29260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∂φ/∂t at fixed r = R</a:t>
            </a:r>
          </a:p>
        </p:txBody>
      </p:sp>
      <p:sp>
        <p:nvSpPr>
          <p:cNvPr id="18" name="C1-E04 rect 16" descr="sci-ppt:o016"/>
          <p:cNvSpPr/>
          <p:nvPr/>
        </p:nvSpPr>
        <p:spPr>
          <a:xfrm>
            <a:off x="7955279" y="2578608"/>
            <a:ext cx="2468880" cy="411480"/>
          </a:xfrm>
          <a:prstGeom prst="rect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1-E04 text 17" descr="sci-ppt:o017"/>
          <p:cNvSpPr txBox="1"/>
          <p:nvPr/>
        </p:nvSpPr>
        <p:spPr>
          <a:xfrm>
            <a:off x="10533888" y="2606039"/>
            <a:ext cx="8229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-1.50</a:t>
            </a:r>
          </a:p>
        </p:txBody>
      </p:sp>
      <p:sp>
        <p:nvSpPr>
          <p:cNvPr id="20" name="C1-E04 text 18" descr="sci-ppt:o018"/>
          <p:cNvSpPr txBox="1"/>
          <p:nvPr/>
        </p:nvSpPr>
        <p:spPr>
          <a:xfrm>
            <a:off x="4754880" y="3429000"/>
            <a:ext cx="29260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dφ/dt following the wall</a:t>
            </a:r>
          </a:p>
        </p:txBody>
      </p:sp>
      <p:sp>
        <p:nvSpPr>
          <p:cNvPr id="21" name="C1-E04 rect 19" descr="sci-ppt:o019"/>
          <p:cNvSpPr/>
          <p:nvPr/>
        </p:nvSpPr>
        <p:spPr>
          <a:xfrm>
            <a:off x="9601200" y="3447288"/>
            <a:ext cx="822960" cy="411480"/>
          </a:xfrm>
          <a:prstGeom prst="rect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1-E04 text 20" descr="sci-ppt:o020"/>
          <p:cNvSpPr txBox="1"/>
          <p:nvPr/>
        </p:nvSpPr>
        <p:spPr>
          <a:xfrm>
            <a:off x="10533888" y="3474720"/>
            <a:ext cx="8229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-0.50</a:t>
            </a:r>
          </a:p>
        </p:txBody>
      </p:sp>
      <p:sp>
        <p:nvSpPr>
          <p:cNvPr id="23" name="C1-E04 round_rect 21" descr="sci-ppt:o021"/>
          <p:cNvSpPr/>
          <p:nvPr/>
        </p:nvSpPr>
        <p:spPr>
          <a:xfrm>
            <a:off x="4754880" y="4389120"/>
            <a:ext cx="7040880" cy="10515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1-E04 text 22" descr="sci-ppt:o022"/>
          <p:cNvSpPr txBox="1"/>
          <p:nvPr/>
        </p:nvSpPr>
        <p:spPr>
          <a:xfrm>
            <a:off x="4892040" y="4462272"/>
            <a:ext cx="6766560" cy="47955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Chain rule at the wall:   dφ/dt = ∂φ/∂t + Ṙ ∂φ/∂r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−0.5 = −1.5 + (1)(1)</a:t>
            </a:r>
          </a:p>
        </p:txBody>
      </p:sp>
      <p:sp>
        <p:nvSpPr>
          <p:cNvPr id="25" name="C1-E04 text 23" descr="sci-ppt:o023"/>
          <p:cNvSpPr txBox="1"/>
          <p:nvPr/>
        </p:nvSpPr>
        <p:spPr>
          <a:xfrm>
            <a:off x="4754880" y="5669280"/>
            <a:ext cx="704088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Using the wrong derivative changes the wall pressure of Eq. C1-E05 by a whole Ṙ²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term.</a:t>
            </a:r>
          </a:p>
        </p:txBody>
      </p:sp>
      <p:sp>
        <p:nvSpPr>
          <p:cNvPr id="26" name="C1-E04 text 24" descr="sci-ppt:o024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Values from Eq. C1-E04 with R = 1, Ṙ = 1, R̈ = −0.5 (units m² s⁻²).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