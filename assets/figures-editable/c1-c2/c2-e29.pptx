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2-E29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C2-E29 | Physical-variable diagram</a:t>
            </a:r>
          </a:p>
        </p:txBody>
      </p:sp>
      <p:sp>
        <p:nvSpPr>
          <p:cNvPr id="3" name="rect2" descr="sci-ppt:C2-E29-002"/>
          <p:cNvSpPr/>
          <p:nvPr/>
        </p:nvSpPr>
        <p:spPr>
          <a:xfrm>
            <a:off x="914400" y="1828800"/>
            <a:ext cx="3048000" cy="1219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3" descr="sci-ppt:C2-E29-003"/>
          <p:cNvSpPr txBox="1"/>
          <p:nvPr/>
        </p:nvSpPr>
        <p:spPr>
          <a:xfrm>
            <a:off x="1036320" y="1950720"/>
            <a:ext cx="28651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Liquid heating</a:t>
            </a:r>
          </a:p>
        </p:txBody>
      </p:sp>
      <p:sp>
        <p:nvSpPr>
          <p:cNvPr id="5" name="rect4" descr="sci-ppt:C2-E29-004"/>
          <p:cNvSpPr/>
          <p:nvPr/>
        </p:nvSpPr>
        <p:spPr>
          <a:xfrm>
            <a:off x="4450080" y="1828800"/>
            <a:ext cx="3048000" cy="1219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5" descr="sci-ppt:C2-E29-005"/>
          <p:cNvSpPr txBox="1"/>
          <p:nvPr/>
        </p:nvSpPr>
        <p:spPr>
          <a:xfrm>
            <a:off x="4572000" y="1950720"/>
            <a:ext cx="28651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Latent conversion</a:t>
            </a:r>
          </a:p>
        </p:txBody>
      </p:sp>
      <p:sp>
        <p:nvSpPr>
          <p:cNvPr id="7" name="rect6" descr="sci-ppt:C2-E29-006"/>
          <p:cNvSpPr/>
          <p:nvPr/>
        </p:nvSpPr>
        <p:spPr>
          <a:xfrm>
            <a:off x="7985759" y="1828800"/>
            <a:ext cx="3048000" cy="1219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7" descr="sci-ppt:C2-E29-007"/>
          <p:cNvSpPr txBox="1"/>
          <p:nvPr/>
        </p:nvSpPr>
        <p:spPr>
          <a:xfrm>
            <a:off x="8107680" y="1950720"/>
            <a:ext cx="28651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Vapor heating</a:t>
            </a:r>
          </a:p>
        </p:txBody>
      </p:sp>
      <p:sp>
        <p:nvSpPr>
          <p:cNvPr id="9" name="text8" descr="sci-ppt:C2-E29-008"/>
          <p:cNvSpPr txBox="1"/>
          <p:nvPr/>
        </p:nvSpPr>
        <p:spPr>
          <a:xfrm>
            <a:off x="4023360" y="2255520"/>
            <a:ext cx="487680" cy="45354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4" b="0" i="0">
                <a:solidFill>
                  <a:srgbClr val="E7F0F3"/>
                </a:solidFill>
                <a:latin typeface="Arial"/>
              </a:rPr>
              <a:t>+</a:t>
            </a:r>
          </a:p>
        </p:txBody>
      </p:sp>
      <p:sp>
        <p:nvSpPr>
          <p:cNvPr id="10" name="text9" descr="sci-ppt:C2-E29-009"/>
          <p:cNvSpPr txBox="1"/>
          <p:nvPr/>
        </p:nvSpPr>
        <p:spPr>
          <a:xfrm>
            <a:off x="7559040" y="2255520"/>
            <a:ext cx="487680" cy="45354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4" b="0" i="0">
                <a:solidFill>
                  <a:srgbClr val="E7F0F3"/>
                </a:solidFill>
                <a:latin typeface="Arial"/>
              </a:rPr>
              <a:t>+</a:t>
            </a:r>
          </a:p>
        </p:txBody>
      </p:sp>
      <p:sp>
        <p:nvSpPr>
          <p:cNvPr id="11" name="text10" descr="sci-ppt:C2-E29-010"/>
          <p:cNvSpPr txBox="1"/>
          <p:nvPr/>
        </p:nvSpPr>
        <p:spPr>
          <a:xfrm>
            <a:off x="1219200" y="3840480"/>
            <a:ext cx="103632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Sum along one constant-pressure path gives Q_iso.</a:t>
            </a:r>
          </a:p>
        </p:txBody>
      </p:sp>
      <p:sp>
        <p:nvSpPr>
          <p:cNvPr id="12" name="text11" descr="sci-ppt:C2-E29-011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m_PFC,0: fixed compound mass</a:t>
            </a:r>
          </a:p>
        </p:txBody>
      </p:sp>
      <p:sp>
        <p:nvSpPr>
          <p:cNvPr id="13" name="text12" descr="sci-ppt:C2-E29-012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T₀ → T_sat: liquid heating</a:t>
            </a:r>
          </a:p>
        </p:txBody>
      </p:sp>
      <p:sp>
        <p:nvSpPr>
          <p:cNvPr id="14" name="text13" descr="sci-ppt:C2-E29-013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T_sat → T_*: vapor heating</a:t>
            </a:r>
          </a:p>
        </p:txBody>
      </p:sp>
      <p:sp>
        <p:nvSpPr>
          <p:cNvPr id="15" name="text14" descr="sci-ppt:C2-E29-014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L_v(T_sat,p): coexistence latent enthalpy</a:t>
            </a:r>
          </a:p>
        </p:txBody>
      </p:sp>
      <p:sp>
        <p:nvSpPr>
          <p:cNvPr id="16" name="text15" descr="sci-ppt:C2-E29-015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T, dT: temperature integration</a:t>
            </a:r>
          </a:p>
        </p:txBody>
      </p:sp>
      <p:sp>
        <p:nvSpPr>
          <p:cNvPr id="17" name="text16" descr="sci-ppt:C2-E29-016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p: constant path pressure</a:t>
            </a:r>
          </a:p>
        </p:txBody>
      </p:sp>
      <p:sp>
        <p:nvSpPr>
          <p:cNvPr id="18" name="text17" descr="sci-ppt:C2-E29-017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T_sat: phase transition</a:t>
            </a:r>
          </a:p>
        </p:txBody>
      </p:sp>
      <p:sp>
        <p:nvSpPr>
          <p:cNvPr id="19" name="text18" descr="sci-ppt:C2-E29-018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c_p,l, c_p,v: phase heat capacities</a:t>
            </a:r>
          </a:p>
        </p:txBody>
      </p:sp>
      <p:sp>
        <p:nvSpPr>
          <p:cNvPr id="20" name="text19" descr="sci-ppt:C2-E29-019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Q_iso: total path heat</a:t>
            </a:r>
          </a:p>
        </p:txBody>
      </p:sp>
      <p:sp>
        <p:nvSpPr>
          <p:cNvPr id="21" name="text20" descr="sci-ppt:C2-E29-020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Latent enthalpy already contains the phase-transition flow work</a:t>
            </a:r>
          </a:p>
        </p:txBody>
      </p:sp>
      <p:sp>
        <p:nvSpPr>
          <p:cNvPr id="22" name="text21" descr="sci-ppt:C2-E29-021"/>
          <p:cNvSpPr txBox="1"/>
          <p:nvPr/>
        </p:nvSpPr>
        <p:spPr>
          <a:xfrm>
            <a:off x="365760" y="6925056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The constant-property screen does not replace a calibrated enthalpy path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