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2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C2-E29 · Refined constant-pressure enthalpy path</a:t>
            </a:r>
          </a:p>
        </p:txBody>
      </p:sp>
      <p:sp>
        <p:nvSpPr>
          <p:cNvPr id="3" name="C2-E29 text 1" descr="sci-ppt:o001"/>
          <p:cNvSpPr txBox="1"/>
          <p:nvPr/>
        </p:nvSpPr>
        <p:spPr>
          <a:xfrm>
            <a:off x="457200" y="914400"/>
            <a:ext cx="68580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Specific enthalpy gained along the constant-pressure path (kJ/kg)</a:t>
            </a:r>
          </a:p>
        </p:txBody>
      </p:sp>
      <p:cxnSp>
        <p:nvCxnSpPr>
          <p:cNvPr id="4" name="C2-E29 line 2" descr="sci-ppt:o002"/>
          <p:cNvCxnSpPr/>
          <p:nvPr/>
        </p:nvCxnSpPr>
        <p:spPr>
          <a:xfrm>
            <a:off x="914400" y="4983480"/>
            <a:ext cx="61264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2-E29 line 3" descr="sci-ppt:o003"/>
          <p:cNvCxnSpPr/>
          <p:nvPr/>
        </p:nvCxnSpPr>
        <p:spPr>
          <a:xfrm>
            <a:off x="914400" y="1691640"/>
            <a:ext cx="0" cy="329184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6" name="C2-E29 line 4" descr="sci-ppt:o004"/>
          <p:cNvCxnSpPr/>
          <p:nvPr/>
        </p:nvCxnSpPr>
        <p:spPr>
          <a:xfrm>
            <a:off x="914400" y="49834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7" name="C2-E29 line 5" descr="sci-ppt:o005"/>
          <p:cNvCxnSpPr/>
          <p:nvPr/>
        </p:nvCxnSpPr>
        <p:spPr>
          <a:xfrm>
            <a:off x="914400" y="169164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8" name="C2-E29 text 6" descr="sci-ppt:o006"/>
          <p:cNvSpPr txBox="1"/>
          <p:nvPr/>
        </p:nvSpPr>
        <p:spPr>
          <a:xfrm>
            <a:off x="457200" y="50657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290</a:t>
            </a:r>
          </a:p>
        </p:txBody>
      </p:sp>
      <p:cxnSp>
        <p:nvCxnSpPr>
          <p:cNvPr id="9" name="C2-E29 line 7" descr="sci-ppt:o007"/>
          <p:cNvCxnSpPr/>
          <p:nvPr/>
        </p:nvCxnSpPr>
        <p:spPr>
          <a:xfrm>
            <a:off x="2616200" y="49834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0" name="C2-E29 line 8" descr="sci-ppt:o008"/>
          <p:cNvCxnSpPr/>
          <p:nvPr/>
        </p:nvCxnSpPr>
        <p:spPr>
          <a:xfrm>
            <a:off x="2616200" y="169164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1" name="C2-E29 text 9" descr="sci-ppt:o009"/>
          <p:cNvSpPr txBox="1"/>
          <p:nvPr/>
        </p:nvSpPr>
        <p:spPr>
          <a:xfrm>
            <a:off x="2159000" y="50657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300</a:t>
            </a:r>
          </a:p>
        </p:txBody>
      </p:sp>
      <p:cxnSp>
        <p:nvCxnSpPr>
          <p:cNvPr id="12" name="C2-E29 line 10" descr="sci-ppt:o010"/>
          <p:cNvCxnSpPr/>
          <p:nvPr/>
        </p:nvCxnSpPr>
        <p:spPr>
          <a:xfrm>
            <a:off x="4318000" y="49834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3" name="C2-E29 line 11" descr="sci-ppt:o011"/>
          <p:cNvCxnSpPr/>
          <p:nvPr/>
        </p:nvCxnSpPr>
        <p:spPr>
          <a:xfrm>
            <a:off x="4318000" y="169164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4" name="C2-E29 text 12" descr="sci-ppt:o012"/>
          <p:cNvSpPr txBox="1"/>
          <p:nvPr/>
        </p:nvSpPr>
        <p:spPr>
          <a:xfrm>
            <a:off x="3860800" y="50657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310</a:t>
            </a:r>
          </a:p>
        </p:txBody>
      </p:sp>
      <p:cxnSp>
        <p:nvCxnSpPr>
          <p:cNvPr id="15" name="C2-E29 line 13" descr="sci-ppt:o013"/>
          <p:cNvCxnSpPr/>
          <p:nvPr/>
        </p:nvCxnSpPr>
        <p:spPr>
          <a:xfrm>
            <a:off x="6019800" y="49834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2-E29 line 14" descr="sci-ppt:o014"/>
          <p:cNvCxnSpPr/>
          <p:nvPr/>
        </p:nvCxnSpPr>
        <p:spPr>
          <a:xfrm>
            <a:off x="6019800" y="1691640"/>
            <a:ext cx="0" cy="32918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2-E29 text 15" descr="sci-ppt:o015"/>
          <p:cNvSpPr txBox="1"/>
          <p:nvPr/>
        </p:nvSpPr>
        <p:spPr>
          <a:xfrm>
            <a:off x="5562600" y="50657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320</a:t>
            </a:r>
          </a:p>
        </p:txBody>
      </p:sp>
      <p:cxnSp>
        <p:nvCxnSpPr>
          <p:cNvPr id="18" name="C2-E29 line 16" descr="sci-ppt:o016"/>
          <p:cNvCxnSpPr/>
          <p:nvPr/>
        </p:nvCxnSpPr>
        <p:spPr>
          <a:xfrm>
            <a:off x="850392" y="49834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2-E29 line 17" descr="sci-ppt:o017"/>
          <p:cNvCxnSpPr/>
          <p:nvPr/>
        </p:nvCxnSpPr>
        <p:spPr>
          <a:xfrm>
            <a:off x="850392" y="432511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0" name="C2-E29 line 18" descr="sci-ppt:o018"/>
          <p:cNvCxnSpPr/>
          <p:nvPr/>
        </p:nvCxnSpPr>
        <p:spPr>
          <a:xfrm>
            <a:off x="914400" y="4325112"/>
            <a:ext cx="61264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1" name="C2-E29 text 19" descr="sci-ppt:o019"/>
          <p:cNvSpPr txBox="1"/>
          <p:nvPr/>
        </p:nvSpPr>
        <p:spPr>
          <a:xfrm>
            <a:off x="45720" y="424281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25</a:t>
            </a:r>
          </a:p>
        </p:txBody>
      </p:sp>
      <p:cxnSp>
        <p:nvCxnSpPr>
          <p:cNvPr id="22" name="C2-E29 line 20" descr="sci-ppt:o020"/>
          <p:cNvCxnSpPr/>
          <p:nvPr/>
        </p:nvCxnSpPr>
        <p:spPr>
          <a:xfrm>
            <a:off x="850392" y="366674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2-E29 line 21" descr="sci-ppt:o021"/>
          <p:cNvCxnSpPr/>
          <p:nvPr/>
        </p:nvCxnSpPr>
        <p:spPr>
          <a:xfrm>
            <a:off x="914400" y="3666744"/>
            <a:ext cx="61264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4" name="C2-E29 text 22" descr="sci-ppt:o022"/>
          <p:cNvSpPr txBox="1"/>
          <p:nvPr/>
        </p:nvSpPr>
        <p:spPr>
          <a:xfrm>
            <a:off x="45720" y="358444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50</a:t>
            </a:r>
          </a:p>
        </p:txBody>
      </p:sp>
      <p:cxnSp>
        <p:nvCxnSpPr>
          <p:cNvPr id="25" name="C2-E29 line 23" descr="sci-ppt:o023"/>
          <p:cNvCxnSpPr/>
          <p:nvPr/>
        </p:nvCxnSpPr>
        <p:spPr>
          <a:xfrm>
            <a:off x="850392" y="300837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6" name="C2-E29 line 24" descr="sci-ppt:o024"/>
          <p:cNvCxnSpPr/>
          <p:nvPr/>
        </p:nvCxnSpPr>
        <p:spPr>
          <a:xfrm>
            <a:off x="914400" y="3008376"/>
            <a:ext cx="61264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7" name="C2-E29 text 25" descr="sci-ppt:o025"/>
          <p:cNvSpPr txBox="1"/>
          <p:nvPr/>
        </p:nvSpPr>
        <p:spPr>
          <a:xfrm>
            <a:off x="45720" y="292608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75</a:t>
            </a:r>
          </a:p>
        </p:txBody>
      </p:sp>
      <p:cxnSp>
        <p:nvCxnSpPr>
          <p:cNvPr id="28" name="C2-E29 line 26" descr="sci-ppt:o026"/>
          <p:cNvCxnSpPr/>
          <p:nvPr/>
        </p:nvCxnSpPr>
        <p:spPr>
          <a:xfrm>
            <a:off x="850392" y="235000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9" name="C2-E29 line 27" descr="sci-ppt:o027"/>
          <p:cNvCxnSpPr/>
          <p:nvPr/>
        </p:nvCxnSpPr>
        <p:spPr>
          <a:xfrm>
            <a:off x="914400" y="2350008"/>
            <a:ext cx="61264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0" name="C2-E29 text 28" descr="sci-ppt:o028"/>
          <p:cNvSpPr txBox="1"/>
          <p:nvPr/>
        </p:nvSpPr>
        <p:spPr>
          <a:xfrm>
            <a:off x="45720" y="226771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31" name="C2-E29 line 29" descr="sci-ppt:o029"/>
          <p:cNvCxnSpPr/>
          <p:nvPr/>
        </p:nvCxnSpPr>
        <p:spPr>
          <a:xfrm>
            <a:off x="850392" y="16916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2" name="C2-E29 line 30" descr="sci-ppt:o030"/>
          <p:cNvCxnSpPr/>
          <p:nvPr/>
        </p:nvCxnSpPr>
        <p:spPr>
          <a:xfrm>
            <a:off x="914400" y="1691640"/>
            <a:ext cx="61264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3" name="C2-E29 text 31" descr="sci-ppt:o031"/>
          <p:cNvSpPr txBox="1"/>
          <p:nvPr/>
        </p:nvSpPr>
        <p:spPr>
          <a:xfrm>
            <a:off x="45720" y="16093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125</a:t>
            </a:r>
          </a:p>
        </p:txBody>
      </p:sp>
      <p:sp>
        <p:nvSpPr>
          <p:cNvPr id="34" name="C2-E29 text 32" descr="sci-ppt:o032"/>
          <p:cNvSpPr txBox="1"/>
          <p:nvPr/>
        </p:nvSpPr>
        <p:spPr>
          <a:xfrm>
            <a:off x="914400" y="5266944"/>
            <a:ext cx="61264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temperature T  (K)</a:t>
            </a:r>
          </a:p>
        </p:txBody>
      </p:sp>
      <p:sp>
        <p:nvSpPr>
          <p:cNvPr id="35" name="C2-E29 text 33" descr="sci-ppt:o033"/>
          <p:cNvSpPr txBox="1"/>
          <p:nvPr/>
        </p:nvSpPr>
        <p:spPr>
          <a:xfrm>
            <a:off x="365760" y="1344168"/>
            <a:ext cx="61264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H − H₀  (kJ/kg)</a:t>
            </a:r>
          </a:p>
        </p:txBody>
      </p:sp>
      <p:sp>
        <p:nvSpPr>
          <p:cNvPr id="36" name="C2-E29 polygon 34" descr="sci-ppt:o034"/>
          <p:cNvSpPr/>
          <p:nvPr/>
        </p:nvSpPr>
        <p:spPr>
          <a:xfrm>
            <a:off x="1450466" y="4829272"/>
            <a:ext cx="1523731" cy="154208"/>
          </a:xfrm>
          <a:custGeom>
            <a:avLst/>
            <a:gdLst/>
            <a:ahLst/>
            <a:cxnLst/>
            <a:rect l="l" t="t" r="r" b="b"/>
            <a:pathLst>
              <a:path w="1523731" h="154208">
                <a:moveTo>
                  <a:pt x="0" y="154208"/>
                </a:moveTo>
                <a:lnTo>
                  <a:pt x="80197" y="146091"/>
                </a:lnTo>
                <a:lnTo>
                  <a:pt x="160393" y="137975"/>
                </a:lnTo>
                <a:lnTo>
                  <a:pt x="240590" y="129859"/>
                </a:lnTo>
                <a:lnTo>
                  <a:pt x="320786" y="121743"/>
                </a:lnTo>
                <a:lnTo>
                  <a:pt x="400982" y="113627"/>
                </a:lnTo>
                <a:lnTo>
                  <a:pt x="481179" y="105510"/>
                </a:lnTo>
                <a:lnTo>
                  <a:pt x="561375" y="97394"/>
                </a:lnTo>
                <a:lnTo>
                  <a:pt x="641571" y="89278"/>
                </a:lnTo>
                <a:lnTo>
                  <a:pt x="721768" y="81162"/>
                </a:lnTo>
                <a:lnTo>
                  <a:pt x="801964" y="73046"/>
                </a:lnTo>
                <a:lnTo>
                  <a:pt x="882160" y="64929"/>
                </a:lnTo>
                <a:lnTo>
                  <a:pt x="962357" y="56813"/>
                </a:lnTo>
                <a:lnTo>
                  <a:pt x="1042553" y="48697"/>
                </a:lnTo>
                <a:lnTo>
                  <a:pt x="1122750" y="40581"/>
                </a:lnTo>
                <a:lnTo>
                  <a:pt x="1202946" y="32465"/>
                </a:lnTo>
                <a:lnTo>
                  <a:pt x="1283142" y="24348"/>
                </a:lnTo>
                <a:lnTo>
                  <a:pt x="1363339" y="16232"/>
                </a:lnTo>
                <a:lnTo>
                  <a:pt x="1443535" y="8116"/>
                </a:lnTo>
                <a:lnTo>
                  <a:pt x="1523731" y="0"/>
                </a:lnTo>
              </a:path>
            </a:pathLst>
          </a:custGeom>
          <a:noFill/>
          <a:ln w="4318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2-E29 line 35" descr="sci-ppt:o035"/>
          <p:cNvCxnSpPr/>
          <p:nvPr/>
        </p:nvCxnSpPr>
        <p:spPr>
          <a:xfrm flipV="1">
            <a:off x="2974197" y="2327473"/>
            <a:ext cx="0" cy="2501799"/>
          </a:xfrm>
          <a:prstGeom prst="line">
            <a:avLst/>
          </a:prstGeom>
          <a:ln w="43180">
            <a:solidFill>
              <a:srgbClr val="F28BA0"/>
            </a:solidFill>
          </a:ln>
          <a:effectLst/>
        </p:spPr>
      </p:cxnSp>
      <p:sp>
        <p:nvSpPr>
          <p:cNvPr id="38" name="C2-E29 polygon 36" descr="sci-ppt:o036"/>
          <p:cNvSpPr/>
          <p:nvPr/>
        </p:nvSpPr>
        <p:spPr>
          <a:xfrm>
            <a:off x="2974197" y="1828648"/>
            <a:ext cx="3581669" cy="498825"/>
          </a:xfrm>
          <a:custGeom>
            <a:avLst/>
            <a:gdLst/>
            <a:ahLst/>
            <a:cxnLst/>
            <a:rect l="l" t="t" r="r" b="b"/>
            <a:pathLst>
              <a:path w="3581669" h="498825">
                <a:moveTo>
                  <a:pt x="0" y="498825"/>
                </a:moveTo>
                <a:lnTo>
                  <a:pt x="188509" y="472571"/>
                </a:lnTo>
                <a:lnTo>
                  <a:pt x="377018" y="446317"/>
                </a:lnTo>
                <a:lnTo>
                  <a:pt x="565527" y="420064"/>
                </a:lnTo>
                <a:lnTo>
                  <a:pt x="754036" y="393810"/>
                </a:lnTo>
                <a:lnTo>
                  <a:pt x="942545" y="367556"/>
                </a:lnTo>
                <a:lnTo>
                  <a:pt x="1131054" y="341302"/>
                </a:lnTo>
                <a:lnTo>
                  <a:pt x="1319563" y="315048"/>
                </a:lnTo>
                <a:lnTo>
                  <a:pt x="1508072" y="288794"/>
                </a:lnTo>
                <a:lnTo>
                  <a:pt x="1696580" y="262540"/>
                </a:lnTo>
                <a:lnTo>
                  <a:pt x="1885089" y="236286"/>
                </a:lnTo>
                <a:lnTo>
                  <a:pt x="2073598" y="210032"/>
                </a:lnTo>
                <a:lnTo>
                  <a:pt x="2262107" y="183778"/>
                </a:lnTo>
                <a:lnTo>
                  <a:pt x="2450616" y="157524"/>
                </a:lnTo>
                <a:lnTo>
                  <a:pt x="2639125" y="131270"/>
                </a:lnTo>
                <a:lnTo>
                  <a:pt x="2827634" y="105016"/>
                </a:lnTo>
                <a:lnTo>
                  <a:pt x="3016143" y="78762"/>
                </a:lnTo>
                <a:lnTo>
                  <a:pt x="3204652" y="52508"/>
                </a:lnTo>
                <a:lnTo>
                  <a:pt x="3393161" y="26254"/>
                </a:lnTo>
                <a:lnTo>
                  <a:pt x="3581669" y="0"/>
                </a:lnTo>
              </a:path>
            </a:pathLst>
          </a:custGeom>
          <a:noFill/>
          <a:ln w="431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2-E29 text 37" descr="sci-ppt:o037"/>
          <p:cNvSpPr txBox="1"/>
          <p:nvPr/>
        </p:nvSpPr>
        <p:spPr>
          <a:xfrm>
            <a:off x="1498092" y="4576023"/>
            <a:ext cx="256032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FC8F8"/>
                </a:solidFill>
                <a:latin typeface="Arial"/>
              </a:rPr>
              <a:t>liquid: cₚ,l = 654 J/(kg K)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FC8F8"/>
                </a:solidFill>
                <a:latin typeface="Arial"/>
              </a:rPr>
              <a:t>to Tₛₐₜ = 302.1 K</a:t>
            </a:r>
          </a:p>
        </p:txBody>
      </p:sp>
      <p:sp>
        <p:nvSpPr>
          <p:cNvPr id="40" name="C2-E29 text 38" descr="sci-ppt:o038"/>
          <p:cNvSpPr txBox="1"/>
          <p:nvPr/>
        </p:nvSpPr>
        <p:spPr>
          <a:xfrm>
            <a:off x="3083925" y="3443630"/>
            <a:ext cx="164592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latent step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Lᵥ = 95 kJ/kg</a:t>
            </a:r>
          </a:p>
        </p:txBody>
      </p:sp>
      <p:sp>
        <p:nvSpPr>
          <p:cNvPr id="41" name="C2-E29 text 39" descr="sci-ppt:o039"/>
          <p:cNvSpPr txBox="1"/>
          <p:nvPr/>
        </p:nvSpPr>
        <p:spPr>
          <a:xfrm>
            <a:off x="4561332" y="1784543"/>
            <a:ext cx="3291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vapor: cₚ,v (assumed 0.9 kJ/(kg K))</a:t>
            </a:r>
          </a:p>
        </p:txBody>
      </p:sp>
      <p:sp>
        <p:nvSpPr>
          <p:cNvPr id="42" name="C2-E29 round_rect 40" descr="sci-ppt:o040"/>
          <p:cNvSpPr/>
          <p:nvPr/>
        </p:nvSpPr>
        <p:spPr>
          <a:xfrm>
            <a:off x="7315200" y="1371600"/>
            <a:ext cx="452628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2-E29 text 41" descr="sci-ppt:o041"/>
          <p:cNvSpPr txBox="1"/>
          <p:nvPr/>
        </p:nvSpPr>
        <p:spPr>
          <a:xfrm>
            <a:off x="7424927" y="1426464"/>
            <a:ext cx="43068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Each phase uses its own cₚ</a:t>
            </a:r>
          </a:p>
        </p:txBody>
      </p:sp>
      <p:sp>
        <p:nvSpPr>
          <p:cNvPr id="44" name="C2-E29 text 42" descr="sci-ppt:o042"/>
          <p:cNvSpPr txBox="1"/>
          <p:nvPr/>
        </p:nvSpPr>
        <p:spPr>
          <a:xfrm>
            <a:off x="7452360" y="1828800"/>
            <a:ext cx="4297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Qᵢₛₒ = m [ ∫cₚ,l dT + Lᵥ(Tₛₐₜ, p) + ∫cₚ,v dT ]</a:t>
            </a:r>
          </a:p>
        </p:txBody>
      </p:sp>
      <p:sp>
        <p:nvSpPr>
          <p:cNvPr id="45" name="C2-E29 text 43" descr="sci-ppt:o043"/>
          <p:cNvSpPr txBox="1"/>
          <p:nvPr/>
        </p:nvSpPr>
        <p:spPr>
          <a:xfrm>
            <a:off x="7653528" y="2606040"/>
            <a:ext cx="409651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Liquid heating stops at Tₛₐₜ = 302.1 K (1 bar),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not at T*.</a:t>
            </a:r>
          </a:p>
        </p:txBody>
      </p:sp>
      <p:sp>
        <p:nvSpPr>
          <p:cNvPr id="46" name="C2-E29 ellipse 44" descr="sci-ppt:o044"/>
          <p:cNvSpPr/>
          <p:nvPr/>
        </p:nvSpPr>
        <p:spPr>
          <a:xfrm>
            <a:off x="7484364" y="265938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2-E29 text 45" descr="sci-ppt:o045"/>
          <p:cNvSpPr txBox="1"/>
          <p:nvPr/>
        </p:nvSpPr>
        <p:spPr>
          <a:xfrm>
            <a:off x="7653528" y="3069336"/>
            <a:ext cx="409651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Vapor heating from Tₛₐₜ to T* uses cₚ,v, 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different number.</a:t>
            </a:r>
          </a:p>
        </p:txBody>
      </p:sp>
      <p:sp>
        <p:nvSpPr>
          <p:cNvPr id="48" name="C2-E29 ellipse 46" descr="sci-ppt:o046"/>
          <p:cNvSpPr/>
          <p:nvPr/>
        </p:nvSpPr>
        <p:spPr>
          <a:xfrm>
            <a:off x="7484364" y="312267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2-E29 text 47" descr="sci-ppt:o047"/>
          <p:cNvSpPr txBox="1"/>
          <p:nvPr/>
        </p:nvSpPr>
        <p:spPr>
          <a:xfrm>
            <a:off x="7653528" y="3532631"/>
            <a:ext cx="409651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The earlier estimate heated the liquid all the way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to T*.</a:t>
            </a:r>
          </a:p>
        </p:txBody>
      </p:sp>
      <p:sp>
        <p:nvSpPr>
          <p:cNvPr id="50" name="C2-E29 ellipse 48" descr="sci-ppt:o048"/>
          <p:cNvSpPr/>
          <p:nvPr/>
        </p:nvSpPr>
        <p:spPr>
          <a:xfrm>
            <a:off x="7484364" y="3585972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2-E29 text 49" descr="sci-ppt:o049"/>
          <p:cNvSpPr txBox="1"/>
          <p:nvPr/>
        </p:nvSpPr>
        <p:spPr>
          <a:xfrm>
            <a:off x="914400" y="5486400"/>
            <a:ext cx="10972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Per kilogram: 5.9 kJ liquid + 95 kJ latent + 18.9 kJ vapor (cₚ,v is an assumed illustration).</a:t>
            </a:r>
          </a:p>
        </p:txBody>
      </p:sp>
      <p:sp>
        <p:nvSpPr>
          <p:cNvPr id="52" name="C2-E29 text 50" descr="sci-ppt:o050"/>
          <p:cNvSpPr txBox="1"/>
          <p:nvPr/>
        </p:nvSpPr>
        <p:spPr>
          <a:xfrm>
            <a:off x="914400" y="589788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Latent enthalpy still dominates, but the sensible parts must follow the phase actually being heated.</a:t>
            </a:r>
          </a:p>
        </p:txBody>
      </p:sp>
      <p:sp>
        <p:nvSpPr>
          <p:cNvPr id="53" name="C2-E29 text 51" descr="sci-ppt:o05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Refined constant-pressure path of Eq. C2-E29; Tₛₐₜ from Eq. C2-E12 at 1 bar.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