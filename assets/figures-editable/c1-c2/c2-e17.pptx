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948160" cy="809548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1" descr="sci-ppt:C2-E17-001"/>
          <p:cNvSpPr txBox="1"/>
          <p:nvPr/>
        </p:nvSpPr>
        <p:spPr>
          <a:xfrm>
            <a:off x="316992" y="268224"/>
            <a:ext cx="112776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8EDBD4"/>
                </a:solidFill>
                <a:latin typeface="Arial"/>
              </a:rPr>
              <a:t>C2-E17 | Physical-variable diagram</a:t>
            </a:r>
          </a:p>
        </p:txBody>
      </p:sp>
      <p:sp>
        <p:nvSpPr>
          <p:cNvPr id="3" name="rect2" descr="sci-ppt:C2-E17-002"/>
          <p:cNvSpPr/>
          <p:nvPr/>
        </p:nvSpPr>
        <p:spPr>
          <a:xfrm>
            <a:off x="1097280" y="1706880"/>
            <a:ext cx="3901440" cy="134112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3" descr="sci-ppt:C2-E17-003"/>
          <p:cNvSpPr txBox="1"/>
          <p:nvPr/>
        </p:nvSpPr>
        <p:spPr>
          <a:xfrm>
            <a:off x="1219200" y="1828800"/>
            <a:ext cx="371856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Local rate J(T,p) in V_d</a:t>
            </a:r>
          </a:p>
        </p:txBody>
      </p:sp>
      <p:cxnSp>
        <p:nvCxnSpPr>
          <p:cNvPr id="5" name="arrow4" descr="sci-ppt:C2-E17-004"/>
          <p:cNvCxnSpPr/>
          <p:nvPr/>
        </p:nvCxnSpPr>
        <p:spPr>
          <a:xfrm>
            <a:off x="5120640" y="2377440"/>
            <a:ext cx="109728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6" name="arrow5" descr="sci-ppt:C2-E17-005"/>
          <p:cNvCxnSpPr/>
          <p:nvPr/>
        </p:nvCxnSpPr>
        <p:spPr>
          <a:xfrm>
            <a:off x="6705600" y="3962399"/>
            <a:ext cx="426720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7" name="arrow6" descr="sci-ppt:C2-E17-006"/>
          <p:cNvCxnSpPr/>
          <p:nvPr/>
        </p:nvCxnSpPr>
        <p:spPr>
          <a:xfrm flipV="1">
            <a:off x="6705600" y="1524000"/>
            <a:ext cx="0" cy="2438399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8" name="text7" descr="sci-ppt:C2-E17-007"/>
          <p:cNvSpPr txBox="1"/>
          <p:nvPr/>
        </p:nvSpPr>
        <p:spPr>
          <a:xfrm>
            <a:off x="9997440" y="4084320"/>
            <a:ext cx="182880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Integrated hazard</a:t>
            </a:r>
          </a:p>
        </p:txBody>
      </p:sp>
      <p:sp>
        <p:nvSpPr>
          <p:cNvPr id="9" name="text8" descr="sci-ppt:C2-E17-008"/>
          <p:cNvSpPr txBox="1"/>
          <p:nvPr/>
        </p:nvSpPr>
        <p:spPr>
          <a:xfrm>
            <a:off x="6583680" y="1158240"/>
            <a:ext cx="365760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P_act</a:t>
            </a:r>
          </a:p>
        </p:txBody>
      </p:sp>
      <p:cxnSp>
        <p:nvCxnSpPr>
          <p:cNvPr id="10" name="line9" descr="sci-ppt:C2-E17-009"/>
          <p:cNvCxnSpPr/>
          <p:nvPr/>
        </p:nvCxnSpPr>
        <p:spPr>
          <a:xfrm flipV="1">
            <a:off x="6766560" y="3716163"/>
            <a:ext cx="114953" cy="18527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1" name="line10" descr="sci-ppt:C2-E17-010"/>
          <p:cNvCxnSpPr/>
          <p:nvPr/>
        </p:nvCxnSpPr>
        <p:spPr>
          <a:xfrm flipV="1">
            <a:off x="6881513" y="3546106"/>
            <a:ext cx="114953" cy="17005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2" name="line11" descr="sci-ppt:C2-E17-011"/>
          <p:cNvCxnSpPr/>
          <p:nvPr/>
        </p:nvCxnSpPr>
        <p:spPr>
          <a:xfrm flipV="1">
            <a:off x="6996466" y="3390018"/>
            <a:ext cx="114953" cy="15608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3" name="line12" descr="sci-ppt:C2-E17-012"/>
          <p:cNvCxnSpPr/>
          <p:nvPr/>
        </p:nvCxnSpPr>
        <p:spPr>
          <a:xfrm flipV="1">
            <a:off x="7111419" y="3246751"/>
            <a:ext cx="114953" cy="14326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4" name="line13" descr="sci-ppt:C2-E17-013"/>
          <p:cNvCxnSpPr/>
          <p:nvPr/>
        </p:nvCxnSpPr>
        <p:spPr>
          <a:xfrm flipV="1">
            <a:off x="7226372" y="3115253"/>
            <a:ext cx="114953" cy="13149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5" name="line14" descr="sci-ppt:C2-E17-014"/>
          <p:cNvCxnSpPr/>
          <p:nvPr/>
        </p:nvCxnSpPr>
        <p:spPr>
          <a:xfrm flipV="1">
            <a:off x="7341325" y="2994557"/>
            <a:ext cx="114953" cy="12069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6" name="line15" descr="sci-ppt:C2-E17-015"/>
          <p:cNvCxnSpPr/>
          <p:nvPr/>
        </p:nvCxnSpPr>
        <p:spPr>
          <a:xfrm flipV="1">
            <a:off x="7456278" y="2883775"/>
            <a:ext cx="114953" cy="110782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7" name="line16" descr="sci-ppt:C2-E17-016"/>
          <p:cNvCxnSpPr/>
          <p:nvPr/>
        </p:nvCxnSpPr>
        <p:spPr>
          <a:xfrm flipV="1">
            <a:off x="7571231" y="2782093"/>
            <a:ext cx="114954" cy="101682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8" name="line17" descr="sci-ppt:C2-E17-017"/>
          <p:cNvCxnSpPr/>
          <p:nvPr/>
        </p:nvCxnSpPr>
        <p:spPr>
          <a:xfrm flipV="1">
            <a:off x="7686185" y="2688764"/>
            <a:ext cx="114953" cy="9332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9" name="line18" descr="sci-ppt:C2-E17-018"/>
          <p:cNvCxnSpPr/>
          <p:nvPr/>
        </p:nvCxnSpPr>
        <p:spPr>
          <a:xfrm flipV="1">
            <a:off x="7801138" y="2603101"/>
            <a:ext cx="114953" cy="8566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0" name="line19" descr="sci-ppt:C2-E17-019"/>
          <p:cNvCxnSpPr/>
          <p:nvPr/>
        </p:nvCxnSpPr>
        <p:spPr>
          <a:xfrm flipV="1">
            <a:off x="7916091" y="2524475"/>
            <a:ext cx="114953" cy="7862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1" name="line20" descr="sci-ppt:C2-E17-020"/>
          <p:cNvCxnSpPr/>
          <p:nvPr/>
        </p:nvCxnSpPr>
        <p:spPr>
          <a:xfrm flipV="1">
            <a:off x="8031044" y="2452307"/>
            <a:ext cx="114953" cy="7216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2" name="line21" descr="sci-ppt:C2-E17-021"/>
          <p:cNvCxnSpPr/>
          <p:nvPr/>
        </p:nvCxnSpPr>
        <p:spPr>
          <a:xfrm flipV="1">
            <a:off x="8145997" y="2386067"/>
            <a:ext cx="114953" cy="6624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3" name="line22" descr="sci-ppt:C2-E17-022"/>
          <p:cNvCxnSpPr/>
          <p:nvPr/>
        </p:nvCxnSpPr>
        <p:spPr>
          <a:xfrm flipV="1">
            <a:off x="8260950" y="2325269"/>
            <a:ext cx="114954" cy="6079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4" name="line23" descr="sci-ppt:C2-E17-023"/>
          <p:cNvCxnSpPr/>
          <p:nvPr/>
        </p:nvCxnSpPr>
        <p:spPr>
          <a:xfrm flipV="1">
            <a:off x="8375904" y="2269465"/>
            <a:ext cx="114953" cy="5580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5" name="line24" descr="sci-ppt:C2-E17-024"/>
          <p:cNvCxnSpPr/>
          <p:nvPr/>
        </p:nvCxnSpPr>
        <p:spPr>
          <a:xfrm flipV="1">
            <a:off x="8490857" y="2218245"/>
            <a:ext cx="114953" cy="5122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6" name="line25" descr="sci-ppt:C2-E17-025"/>
          <p:cNvCxnSpPr/>
          <p:nvPr/>
        </p:nvCxnSpPr>
        <p:spPr>
          <a:xfrm flipV="1">
            <a:off x="8605810" y="2171232"/>
            <a:ext cx="114953" cy="4701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7" name="line26" descr="sci-ppt:C2-E17-026"/>
          <p:cNvCxnSpPr/>
          <p:nvPr/>
        </p:nvCxnSpPr>
        <p:spPr>
          <a:xfrm flipV="1">
            <a:off x="8720763" y="2128081"/>
            <a:ext cx="114953" cy="4315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8" name="line27" descr="sci-ppt:C2-E17-027"/>
          <p:cNvCxnSpPr/>
          <p:nvPr/>
        </p:nvCxnSpPr>
        <p:spPr>
          <a:xfrm flipV="1">
            <a:off x="8835716" y="2088474"/>
            <a:ext cx="114953" cy="3960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9" name="line28" descr="sci-ppt:C2-E17-028"/>
          <p:cNvCxnSpPr/>
          <p:nvPr/>
        </p:nvCxnSpPr>
        <p:spPr>
          <a:xfrm flipV="1">
            <a:off x="8950669" y="2052121"/>
            <a:ext cx="114953" cy="3635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0" name="line29" descr="sci-ppt:C2-E17-029"/>
          <p:cNvCxnSpPr/>
          <p:nvPr/>
        </p:nvCxnSpPr>
        <p:spPr>
          <a:xfrm flipV="1">
            <a:off x="9065622" y="2018754"/>
            <a:ext cx="114954" cy="3336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1" name="line30" descr="sci-ppt:C2-E17-030"/>
          <p:cNvCxnSpPr/>
          <p:nvPr/>
        </p:nvCxnSpPr>
        <p:spPr>
          <a:xfrm flipV="1">
            <a:off x="9180576" y="1988128"/>
            <a:ext cx="114953" cy="3062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2" name="line31" descr="sci-ppt:C2-E17-031"/>
          <p:cNvCxnSpPr/>
          <p:nvPr/>
        </p:nvCxnSpPr>
        <p:spPr>
          <a:xfrm flipV="1">
            <a:off x="9295529" y="1960018"/>
            <a:ext cx="114953" cy="2811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3" name="line32" descr="sci-ppt:C2-E17-032"/>
          <p:cNvCxnSpPr/>
          <p:nvPr/>
        </p:nvCxnSpPr>
        <p:spPr>
          <a:xfrm flipV="1">
            <a:off x="9410482" y="1934217"/>
            <a:ext cx="114953" cy="2580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4" name="line33" descr="sci-ppt:C2-E17-033"/>
          <p:cNvCxnSpPr/>
          <p:nvPr/>
        </p:nvCxnSpPr>
        <p:spPr>
          <a:xfrm flipV="1">
            <a:off x="9525435" y="1910535"/>
            <a:ext cx="114953" cy="23682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5" name="line34" descr="sci-ppt:C2-E17-034"/>
          <p:cNvCxnSpPr/>
          <p:nvPr/>
        </p:nvCxnSpPr>
        <p:spPr>
          <a:xfrm flipV="1">
            <a:off x="9640388" y="1888799"/>
            <a:ext cx="114953" cy="2173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6" name="line35" descr="sci-ppt:C2-E17-035"/>
          <p:cNvCxnSpPr/>
          <p:nvPr/>
        </p:nvCxnSpPr>
        <p:spPr>
          <a:xfrm flipV="1">
            <a:off x="9755341" y="1868848"/>
            <a:ext cx="114953" cy="1995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7" name="line36" descr="sci-ppt:C2-E17-036"/>
          <p:cNvCxnSpPr/>
          <p:nvPr/>
        </p:nvCxnSpPr>
        <p:spPr>
          <a:xfrm flipV="1">
            <a:off x="9870294" y="1850536"/>
            <a:ext cx="114954" cy="18312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8" name="line37" descr="sci-ppt:C2-E17-037"/>
          <p:cNvCxnSpPr/>
          <p:nvPr/>
        </p:nvCxnSpPr>
        <p:spPr>
          <a:xfrm flipV="1">
            <a:off x="9985248" y="1833728"/>
            <a:ext cx="114953" cy="1680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9" name="line38" descr="sci-ppt:C2-E17-038"/>
          <p:cNvCxnSpPr/>
          <p:nvPr/>
        </p:nvCxnSpPr>
        <p:spPr>
          <a:xfrm flipV="1">
            <a:off x="10100201" y="1818301"/>
            <a:ext cx="114953" cy="1542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0" name="line39" descr="sci-ppt:C2-E17-039"/>
          <p:cNvCxnSpPr/>
          <p:nvPr/>
        </p:nvCxnSpPr>
        <p:spPr>
          <a:xfrm flipV="1">
            <a:off x="10215154" y="1804141"/>
            <a:ext cx="114953" cy="1416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1" name="line40" descr="sci-ppt:C2-E17-040"/>
          <p:cNvCxnSpPr/>
          <p:nvPr/>
        </p:nvCxnSpPr>
        <p:spPr>
          <a:xfrm flipV="1">
            <a:off x="10330107" y="1791144"/>
            <a:ext cx="114953" cy="1299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2" name="line41" descr="sci-ppt:C2-E17-041"/>
          <p:cNvCxnSpPr/>
          <p:nvPr/>
        </p:nvCxnSpPr>
        <p:spPr>
          <a:xfrm flipV="1">
            <a:off x="10445060" y="1779214"/>
            <a:ext cx="114953" cy="1193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3" name="line42" descr="sci-ppt:C2-E17-042"/>
          <p:cNvCxnSpPr/>
          <p:nvPr/>
        </p:nvCxnSpPr>
        <p:spPr>
          <a:xfrm flipV="1">
            <a:off x="10560013" y="1768265"/>
            <a:ext cx="114953" cy="1094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4" name="line43" descr="sci-ppt:C2-E17-043"/>
          <p:cNvCxnSpPr/>
          <p:nvPr/>
        </p:nvCxnSpPr>
        <p:spPr>
          <a:xfrm flipV="1">
            <a:off x="10674966" y="1758215"/>
            <a:ext cx="114954" cy="1005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sp>
        <p:nvSpPr>
          <p:cNvPr id="45" name="text44" descr="sci-ppt:C2-E17-044"/>
          <p:cNvSpPr txBox="1"/>
          <p:nvPr/>
        </p:nvSpPr>
        <p:spPr>
          <a:xfrm>
            <a:off x="1341120" y="3657600"/>
            <a:ext cx="950976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Integrate the local rate over space and time.</a:t>
            </a:r>
          </a:p>
        </p:txBody>
      </p:sp>
      <p:sp>
        <p:nvSpPr>
          <p:cNvPr id="46" name="text45" descr="sci-ppt:C2-E17-045"/>
          <p:cNvSpPr txBox="1"/>
          <p:nvPr/>
        </p:nvSpPr>
        <p:spPr>
          <a:xfrm>
            <a:off x="3657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V_d(t): remaining liquid region</a:t>
            </a:r>
          </a:p>
        </p:txBody>
      </p:sp>
      <p:sp>
        <p:nvSpPr>
          <p:cNvPr id="47" name="text46" descr="sci-ppt:C2-E17-046"/>
          <p:cNvSpPr txBox="1"/>
          <p:nvPr/>
        </p:nvSpPr>
        <p:spPr>
          <a:xfrm>
            <a:off x="3657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J: events per volume per time</a:t>
            </a:r>
          </a:p>
        </p:txBody>
      </p:sp>
      <p:sp>
        <p:nvSpPr>
          <p:cNvPr id="48" name="text47" descr="sci-ppt:C2-E17-047"/>
          <p:cNvSpPr txBox="1"/>
          <p:nvPr/>
        </p:nvSpPr>
        <p:spPr>
          <a:xfrm>
            <a:off x="3657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S(0) = 1; S(t): survival</a:t>
            </a:r>
          </a:p>
        </p:txBody>
      </p:sp>
      <p:sp>
        <p:nvSpPr>
          <p:cNvPr id="49" name="text48" descr="sci-ppt:C2-E17-048"/>
          <p:cNvSpPr txBox="1"/>
          <p:nvPr/>
        </p:nvSpPr>
        <p:spPr>
          <a:xfrm>
            <a:off x="3657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t, t′, dV: integration domain</a:t>
            </a:r>
          </a:p>
        </p:txBody>
      </p:sp>
      <p:sp>
        <p:nvSpPr>
          <p:cNvPr id="50" name="text49" descr="sci-ppt:C2-E17-049"/>
          <p:cNvSpPr txBox="1"/>
          <p:nvPr/>
        </p:nvSpPr>
        <p:spPr>
          <a:xfrm>
            <a:off x="61569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T, p: local state</a:t>
            </a:r>
          </a:p>
        </p:txBody>
      </p:sp>
      <p:sp>
        <p:nvSpPr>
          <p:cNvPr id="51" name="text50" descr="sci-ppt:C2-E17-050"/>
          <p:cNvSpPr txBox="1"/>
          <p:nvPr/>
        </p:nvSpPr>
        <p:spPr>
          <a:xfrm>
            <a:off x="61569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Λ(t): integrated event rate</a:t>
            </a:r>
          </a:p>
        </p:txBody>
      </p:sp>
      <p:sp>
        <p:nvSpPr>
          <p:cNvPr id="52" name="text51" descr="sci-ppt:C2-E17-051"/>
          <p:cNvSpPr txBox="1"/>
          <p:nvPr/>
        </p:nvSpPr>
        <p:spPr>
          <a:xfrm>
            <a:off x="61569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P_act = 1 − S</a:t>
            </a:r>
          </a:p>
        </p:txBody>
      </p:sp>
      <p:sp>
        <p:nvSpPr>
          <p:cNvPr id="53" name="text52" descr="sci-ppt:C2-E17-052"/>
          <p:cNvSpPr txBox="1"/>
          <p:nvPr/>
        </p:nvSpPr>
        <p:spPr>
          <a:xfrm>
            <a:off x="365760" y="6339840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Integrate the hot, pressurized region rather than only its average temperature</a:t>
            </a:r>
          </a:p>
        </p:txBody>
      </p:sp>
      <p:sp>
        <p:nvSpPr>
          <p:cNvPr id="54" name="text53" descr="sci-ppt:C2-E17-053"/>
          <p:cNvSpPr txBox="1"/>
          <p:nvPr/>
        </p:nvSpPr>
        <p:spPr>
          <a:xfrm>
            <a:off x="365760" y="6632448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An absent event can mean low probability, not impossibility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