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1948160" cy="80954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1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C1-E01 | Physical-variable diagram</a:t>
            </a:r>
          </a:p>
        </p:txBody>
      </p:sp>
      <p:sp>
        <p:nvSpPr>
          <p:cNvPr id="3" name="ellipse2" descr="sci-ppt:C1-E01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1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1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1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1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1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1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1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1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1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1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1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15" name="text14" descr="sci-ppt:C1-E01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Ṙ(0) = U₀</a:t>
            </a:r>
          </a:p>
        </p:txBody>
      </p:sp>
      <p:sp>
        <p:nvSpPr>
          <p:cNvPr id="16" name="text15" descr="sci-ppt:C1-E01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 → 0</a:t>
            </a:r>
          </a:p>
        </p:txBody>
      </p:sp>
      <p:sp>
        <p:nvSpPr>
          <p:cNvPr id="17" name="text16" descr="sci-ppt:C1-E01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 = 0</a:t>
            </a:r>
          </a:p>
        </p:txBody>
      </p:sp>
      <p:sp>
        <p:nvSpPr>
          <p:cNvPr id="18" name="text17" descr="sci-ppt:C1-E01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R₀ &gt; 0</a:t>
            </a:r>
          </a:p>
        </p:txBody>
      </p:sp>
      <p:sp>
        <p:nvSpPr>
          <p:cNvPr id="19" name="text18" descr="sci-ppt:C1-E01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→ ∞</a:t>
            </a:r>
          </a:p>
        </p:txBody>
      </p:sp>
      <p:sp>
        <p:nvSpPr>
          <p:cNvPr id="20" name="text19" descr="sci-ppt:C1-E01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 → p∞</a:t>
            </a:r>
          </a:p>
        </p:txBody>
      </p:sp>
      <p:sp>
        <p:nvSpPr>
          <p:cNvPr id="21" name="text20" descr="sci-ppt:C1-E01-020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Radial direction points from bubble center into carrier</a:t>
            </a:r>
          </a:p>
        </p:txBody>
      </p:sp>
      <p:sp>
        <p:nvSpPr>
          <p:cNvPr id="22" name="text21" descr="sci-ppt:C1-E01-021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Far-field pressure is an input, not a laser calculation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C1-E02 | Physical-variable diagram</a:t>
            </a:r>
          </a:p>
        </p:txBody>
      </p:sp>
      <p:sp>
        <p:nvSpPr>
          <p:cNvPr id="3" name="ellipse2" descr="sci-ppt:C1-E02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2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2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2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2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2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2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2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2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2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2-012"/>
          <p:cNvSpPr txBox="1"/>
          <p:nvPr/>
        </p:nvSpPr>
        <p:spPr>
          <a:xfrm>
            <a:off x="1219200" y="457200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ellipse13" descr="sci-ppt:C1-E02-013"/>
          <p:cNvSpPr/>
          <p:nvPr/>
        </p:nvSpPr>
        <p:spPr>
          <a:xfrm>
            <a:off x="1463040" y="792480"/>
            <a:ext cx="3657600" cy="365760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14" descr="sci-ppt:C1-E02-014"/>
          <p:cNvSpPr txBox="1"/>
          <p:nvPr/>
        </p:nvSpPr>
        <p:spPr>
          <a:xfrm>
            <a:off x="5852160" y="3230880"/>
            <a:ext cx="48768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u(2R) = (Ṙ)/4</a:t>
            </a:r>
          </a:p>
        </p:txBody>
      </p:sp>
      <p:sp>
        <p:nvSpPr>
          <p:cNvPr id="16" name="text15" descr="sci-ppt:C1-E02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sp>
        <p:nvSpPr>
          <p:cNvPr id="17" name="text16" descr="sci-ppt:C1-E02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8" name="text17" descr="sci-ppt:C1-E02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9" name="text18" descr="sci-ppt:C1-E02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u(r,t)</a:t>
            </a:r>
          </a:p>
        </p:txBody>
      </p:sp>
      <p:sp>
        <p:nvSpPr>
          <p:cNvPr id="20" name="text19" descr="sci-ppt:C1-E02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C(t) = R²Ṙ</a:t>
            </a:r>
          </a:p>
        </p:txBody>
      </p:sp>
      <p:sp>
        <p:nvSpPr>
          <p:cNvPr id="21" name="text20" descr="sci-ppt:C1-E02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r²u = constant</a:t>
            </a:r>
          </a:p>
        </p:txBody>
      </p:sp>
      <p:sp>
        <p:nvSpPr>
          <p:cNvPr id="22" name="text21" descr="sci-ppt:C1-E02-021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Concentric surfaces carry the same volume flux</a:t>
            </a:r>
          </a:p>
        </p:txBody>
      </p:sp>
      <p:sp>
        <p:nvSpPr>
          <p:cNvPr id="23" name="text22" descr="sci-ppt:C1-E02-022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r = 2R the speed is Ṙ/4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C1-E03 | Physical-variable diagram</a:t>
            </a:r>
          </a:p>
        </p:txBody>
      </p:sp>
      <p:sp>
        <p:nvSpPr>
          <p:cNvPr id="3" name="ellipse2" descr="sci-ppt:C1-E03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3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3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3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3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3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3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3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3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3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3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3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φ(r,t)</a:t>
            </a:r>
          </a:p>
        </p:txBody>
      </p:sp>
      <p:sp>
        <p:nvSpPr>
          <p:cNvPr id="15" name="text14" descr="sci-ppt:C1-E03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6" name="text15" descr="sci-ppt:C1-E03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integration radius</a:t>
            </a:r>
          </a:p>
        </p:txBody>
      </p:sp>
      <p:sp>
        <p:nvSpPr>
          <p:cNvPr id="17" name="text16" descr="sci-ppt:C1-E03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φ∞ = 0</a:t>
            </a:r>
          </a:p>
        </p:txBody>
      </p:sp>
      <p:sp>
        <p:nvSpPr>
          <p:cNvPr id="18" name="text17" descr="sci-ppt:C1-E03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9" name="text18" descr="sci-ppt:C1-E03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0" name="text19" descr="sci-ppt:C1-E03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 = ∂rφ</a:t>
            </a:r>
          </a:p>
        </p:txBody>
      </p:sp>
      <p:sp>
        <p:nvSpPr>
          <p:cNvPr id="21" name="text20" descr="sci-ppt:C1-E03-020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22" name="text21" descr="sci-ppt:C1-E03-021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Differentiate spatially to recover the radial 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4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C1-E04 | Physical-variable diagram</a:t>
            </a:r>
          </a:p>
        </p:txBody>
      </p:sp>
      <p:sp>
        <p:nvSpPr>
          <p:cNvPr id="3" name="ellipse2" descr="sci-ppt:C1-E04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4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4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4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4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4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4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4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4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4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4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ellipse13" descr="sci-ppt:C1-E04-013"/>
          <p:cNvSpPr/>
          <p:nvPr/>
        </p:nvSpPr>
        <p:spPr>
          <a:xfrm>
            <a:off x="7254240" y="3596640"/>
            <a:ext cx="121920" cy="121920"/>
          </a:xfrm>
          <a:prstGeom prst="ellipse">
            <a:avLst/>
          </a:prstGeom>
          <a:solidFill>
            <a:srgbClr val="F6BC77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14" descr="sci-ppt:C1-E04-014"/>
          <p:cNvSpPr txBox="1"/>
          <p:nvPr/>
        </p:nvSpPr>
        <p:spPr>
          <a:xfrm>
            <a:off x="7498079" y="4023360"/>
            <a:ext cx="2438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Fixed r</a:t>
            </a:r>
          </a:p>
        </p:txBody>
      </p:sp>
      <p:sp>
        <p:nvSpPr>
          <p:cNvPr id="16" name="text15" descr="sci-ppt:C1-E04-015"/>
          <p:cNvSpPr txBox="1"/>
          <p:nvPr/>
        </p:nvSpPr>
        <p:spPr>
          <a:xfrm>
            <a:off x="1219200" y="1036320"/>
            <a:ext cx="7924799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Moving interface versus fixed observer</a:t>
            </a:r>
          </a:p>
        </p:txBody>
      </p:sp>
      <p:sp>
        <p:nvSpPr>
          <p:cNvPr id="17" name="text16" descr="sci-ppt:C1-E04-016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Fixed r</a:t>
            </a:r>
          </a:p>
        </p:txBody>
      </p:sp>
      <p:sp>
        <p:nvSpPr>
          <p:cNvPr id="18" name="text17" descr="sci-ppt:C1-E04-017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</a:t>
            </a:r>
          </a:p>
        </p:txBody>
      </p:sp>
      <p:sp>
        <p:nvSpPr>
          <p:cNvPr id="19" name="text18" descr="sci-ppt:C1-E04-018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0" name="text19" descr="sci-ppt:C1-E04-019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dφ(R,t)/dt</a:t>
            </a:r>
          </a:p>
        </p:txBody>
      </p:sp>
      <p:sp>
        <p:nvSpPr>
          <p:cNvPr id="21" name="text20" descr="sci-ppt:C1-E04-020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Moving R(t)</a:t>
            </a:r>
          </a:p>
        </p:txBody>
      </p:sp>
      <p:sp>
        <p:nvSpPr>
          <p:cNvPr id="22" name="text21" descr="sci-ppt:C1-E04-021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3" name="text22" descr="sci-ppt:C1-E04-022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∂tφ at fixed r</a:t>
            </a:r>
          </a:p>
        </p:txBody>
      </p:sp>
      <p:sp>
        <p:nvSpPr>
          <p:cNvPr id="24" name="text23" descr="sci-ppt:C1-E04-023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25" name="text24" descr="sci-ppt:C1-E04-024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Take the partial derivative before setting r = R</a:t>
            </a:r>
          </a:p>
        </p:txBody>
      </p:sp>
      <p:sp>
        <p:nvSpPr>
          <p:cNvPr id="26" name="text25" descr="sci-ppt:C1-E04-025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moving-point derivative differs by Ṙ²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5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C1-E05 | Physical-variable diagram</a:t>
            </a:r>
          </a:p>
        </p:txBody>
      </p:sp>
      <p:sp>
        <p:nvSpPr>
          <p:cNvPr id="3" name="ellipse2" descr="sci-ppt:C1-E05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5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5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5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5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5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5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5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5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5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5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5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pl at r = R</a:t>
            </a:r>
          </a:p>
        </p:txBody>
      </p:sp>
      <p:sp>
        <p:nvSpPr>
          <p:cNvPr id="15" name="text14" descr="sci-ppt:C1-E05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6" name="text15" descr="sci-ppt:C1-E05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u(R,t) = Ṙ</a:t>
            </a:r>
          </a:p>
        </p:txBody>
      </p:sp>
      <p:sp>
        <p:nvSpPr>
          <p:cNvPr id="17" name="text16" descr="sci-ppt:C1-E05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8" name="text17" descr="sci-ppt:C1-E05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19" name="text18" descr="sci-ppt:C1-E05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</a:t>
            </a:r>
          </a:p>
        </p:txBody>
      </p:sp>
      <p:sp>
        <p:nvSpPr>
          <p:cNvPr id="20" name="text19" descr="sci-ppt:C1-E05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1" name="text20" descr="sci-ppt:C1-E05-020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22" name="text21" descr="sci-ppt:C1-E05-021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R R̈ and 3Ṙ²/2 each have units m²/s²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C1-E06 | Physical-variable diagram</a:t>
            </a:r>
          </a:p>
        </p:txBody>
      </p:sp>
      <p:sp>
        <p:nvSpPr>
          <p:cNvPr id="3" name="ellipse2" descr="sci-ppt:C1-E06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6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6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6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6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6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6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6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6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6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6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6-013"/>
          <p:cNvSpPr txBox="1"/>
          <p:nvPr/>
        </p:nvSpPr>
        <p:spPr>
          <a:xfrm>
            <a:off x="5486400" y="3352800"/>
            <a:ext cx="5730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p_l = p_b - 2σ/R - 4μ(Ṙ)/R</a:t>
            </a:r>
          </a:p>
        </p:txBody>
      </p:sp>
      <p:sp>
        <p:nvSpPr>
          <p:cNvPr id="15" name="text14" descr="sci-ppt:C1-E06-014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 inside</a:t>
            </a:r>
          </a:p>
        </p:txBody>
      </p:sp>
      <p:sp>
        <p:nvSpPr>
          <p:cNvPr id="16" name="text15" descr="sci-ppt:C1-E06-015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7" name="text16" descr="sci-ppt:C1-E06-016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</a:t>
            </a:r>
          </a:p>
        </p:txBody>
      </p:sp>
      <p:sp>
        <p:nvSpPr>
          <p:cNvPr id="18" name="text17" descr="sci-ppt:C1-E06-017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2σ/R</a:t>
            </a:r>
          </a:p>
        </p:txBody>
      </p:sp>
      <p:sp>
        <p:nvSpPr>
          <p:cNvPr id="19" name="text18" descr="sci-ppt:C1-E06-018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∂ru = −2Ṙ/R</a:t>
            </a:r>
          </a:p>
        </p:txBody>
      </p:sp>
      <p:sp>
        <p:nvSpPr>
          <p:cNvPr id="20" name="text19" descr="sci-ppt:C1-E06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pl outside</a:t>
            </a:r>
          </a:p>
        </p:txBody>
      </p:sp>
      <p:sp>
        <p:nvSpPr>
          <p:cNvPr id="21" name="text20" descr="sci-ppt:C1-E06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22" name="text21" descr="sci-ppt:C1-E06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3" name="text22" descr="sci-ppt:C1-E06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4μṘ/R</a:t>
            </a:r>
          </a:p>
        </p:txBody>
      </p:sp>
      <p:sp>
        <p:nvSpPr>
          <p:cNvPr id="24" name="text23" descr="sci-ppt:C1-E06-023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Viscous stress changes sign when the wall reverses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C1-E07 | Physical-variable diagram</a:t>
            </a:r>
          </a:p>
        </p:txBody>
      </p:sp>
      <p:sp>
        <p:nvSpPr>
          <p:cNvPr id="3" name="ellipse2" descr="sci-ppt:C1-E07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7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7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7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7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7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7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7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7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7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7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7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 carrier</a:t>
            </a:r>
          </a:p>
        </p:txBody>
      </p:sp>
      <p:sp>
        <p:nvSpPr>
          <p:cNvPr id="15" name="text14" descr="sci-ppt:C1-E07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6" name="text15" descr="sci-ppt:C1-E07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7" name="text16" descr="sci-ppt:C1-E07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2σ/R</a:t>
            </a:r>
          </a:p>
        </p:txBody>
      </p:sp>
      <p:sp>
        <p:nvSpPr>
          <p:cNvPr id="18" name="text17" descr="sci-ppt:C1-E07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9" name="text18" descr="sci-ppt:C1-E07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0" name="text19" descr="sci-ppt:C1-E07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1" name="text20" descr="sci-ppt:C1-E07-020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4μṘ/R</a:t>
            </a:r>
          </a:p>
        </p:txBody>
      </p:sp>
      <p:sp>
        <p:nvSpPr>
          <p:cNvPr id="22" name="text21" descr="sci-ppt:C1-E07-021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Outward is positive</a:t>
            </a:r>
          </a:p>
        </p:txBody>
      </p:sp>
      <p:sp>
        <p:nvSpPr>
          <p:cNvPr id="23" name="text22" descr="sci-ppt:C1-E07-022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equation predicts radius, not jet shape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8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C1-E08 | Physical-variable diagram</a:t>
            </a:r>
          </a:p>
        </p:txBody>
      </p:sp>
      <p:sp>
        <p:nvSpPr>
          <p:cNvPr id="3" name="ellipse2" descr="sci-ppt:C1-E08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08-003"/>
          <p:cNvSpPr txBox="1"/>
          <p:nvPr/>
        </p:nvSpPr>
        <p:spPr>
          <a:xfrm>
            <a:off x="2072640" y="231648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PFC vapor + water vapor</a:t>
            </a:r>
          </a:p>
        </p:txBody>
      </p:sp>
      <p:sp>
        <p:nvSpPr>
          <p:cNvPr id="5" name="text4" descr="sci-ppt:C1-E08-004"/>
          <p:cNvSpPr txBox="1"/>
          <p:nvPr/>
        </p:nvSpPr>
        <p:spPr>
          <a:xfrm>
            <a:off x="2194560" y="2804160"/>
            <a:ext cx="37795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+ permanent gas</a:t>
            </a:r>
          </a:p>
        </p:txBody>
      </p:sp>
      <p:sp>
        <p:nvSpPr>
          <p:cNvPr id="6" name="ellipse5" descr="sci-ppt:C1-E08-005"/>
          <p:cNvSpPr/>
          <p:nvPr/>
        </p:nvSpPr>
        <p:spPr>
          <a:xfrm>
            <a:off x="3474720" y="3108960"/>
            <a:ext cx="487680" cy="487680"/>
          </a:xfrm>
          <a:prstGeom prst="ellipse">
            <a:avLst/>
          </a:prstGeom>
          <a:solidFill>
            <a:srgbClr val="F6BC77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6" descr="sci-ppt:C1-E08-006"/>
          <p:cNvSpPr txBox="1"/>
          <p:nvPr/>
        </p:nvSpPr>
        <p:spPr>
          <a:xfrm>
            <a:off x="5486400" y="2194560"/>
            <a:ext cx="58521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p_b = p_v,PFC + p_v,w + p_g</a:t>
            </a:r>
          </a:p>
        </p:txBody>
      </p:sp>
      <p:sp>
        <p:nvSpPr>
          <p:cNvPr id="8" name="text7" descr="sci-ppt:C1-E08-007"/>
          <p:cNvSpPr txBox="1"/>
          <p:nvPr/>
        </p:nvSpPr>
        <p:spPr>
          <a:xfrm>
            <a:off x="5486400" y="2926080"/>
            <a:ext cx="58521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Residual PFC liquid: finite inventory</a:t>
            </a:r>
          </a:p>
        </p:txBody>
      </p:sp>
      <p:sp>
        <p:nvSpPr>
          <p:cNvPr id="9" name="text8" descr="sci-ppt:C1-E08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0" name="text9" descr="sci-ppt:C1-E08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pv,w</a:t>
            </a:r>
          </a:p>
        </p:txBody>
      </p:sp>
      <p:sp>
        <p:nvSpPr>
          <p:cNvPr id="11" name="text10" descr="sci-ppt:C1-E08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Finite PFC liquid inventory</a:t>
            </a:r>
          </a:p>
        </p:txBody>
      </p:sp>
      <p:sp>
        <p:nvSpPr>
          <p:cNvPr id="12" name="text11" descr="sci-ppt:C1-E08-011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pv,PFC</a:t>
            </a:r>
          </a:p>
        </p:txBody>
      </p:sp>
      <p:sp>
        <p:nvSpPr>
          <p:cNvPr id="13" name="text12" descr="sci-ppt:C1-E08-012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pg</a:t>
            </a:r>
          </a:p>
        </p:txBody>
      </p:sp>
      <p:sp>
        <p:nvSpPr>
          <p:cNvPr id="14" name="text13" descr="sci-ppt:C1-E08-013"/>
          <p:cNvSpPr txBox="1"/>
          <p:nvPr/>
        </p:nvSpPr>
        <p:spPr>
          <a:xfrm>
            <a:off x="365760" y="627888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Partial pressures need mass and energy histories</a:t>
            </a:r>
          </a:p>
        </p:txBody>
      </p:sp>
      <p:sp>
        <p:nvSpPr>
          <p:cNvPr id="15" name="text14" descr="sci-ppt:C1-E08-014"/>
          <p:cNvSpPr txBox="1"/>
          <p:nvPr/>
        </p:nvSpPr>
        <p:spPr>
          <a:xfrm>
            <a:off x="365760" y="657148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No fixed-mass gas law is automatically a vaporization law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9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C1-E09 | Physical-variable diagram</a:t>
            </a:r>
          </a:p>
        </p:txBody>
      </p:sp>
      <p:sp>
        <p:nvSpPr>
          <p:cNvPr id="3" name="ellipse2" descr="sci-ppt:C1-E09-002"/>
          <p:cNvSpPr/>
          <p:nvPr/>
        </p:nvSpPr>
        <p:spPr>
          <a:xfrm>
            <a:off x="2438400" y="1645920"/>
            <a:ext cx="1950720" cy="195072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09-003"/>
          <p:cNvSpPr/>
          <p:nvPr/>
        </p:nvSpPr>
        <p:spPr>
          <a:xfrm>
            <a:off x="1706880" y="914400"/>
            <a:ext cx="3413760" cy="341376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ellipse4" descr="sci-ppt:C1-E09-004"/>
          <p:cNvSpPr/>
          <p:nvPr/>
        </p:nvSpPr>
        <p:spPr>
          <a:xfrm>
            <a:off x="1524000" y="731520"/>
            <a:ext cx="3779520" cy="377952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09-005"/>
          <p:cNvSpPr txBox="1"/>
          <p:nvPr/>
        </p:nvSpPr>
        <p:spPr>
          <a:xfrm>
            <a:off x="2438400" y="2560320"/>
            <a:ext cx="24384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Cavity</a:t>
            </a:r>
          </a:p>
        </p:txBody>
      </p:sp>
      <p:cxnSp>
        <p:nvCxnSpPr>
          <p:cNvPr id="7" name="arrow6" descr="sci-ppt:C1-E09-006"/>
          <p:cNvCxnSpPr/>
          <p:nvPr/>
        </p:nvCxnSpPr>
        <p:spPr>
          <a:xfrm>
            <a:off x="3413760" y="2621280"/>
            <a:ext cx="17678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1-E09-007"/>
          <p:cNvSpPr txBox="1"/>
          <p:nvPr/>
        </p:nvSpPr>
        <p:spPr>
          <a:xfrm>
            <a:off x="5486400" y="1950720"/>
            <a:ext cx="60960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Exterior liquid shells: 4π r² dr</a:t>
            </a:r>
          </a:p>
        </p:txBody>
      </p:sp>
      <p:sp>
        <p:nvSpPr>
          <p:cNvPr id="9" name="text8" descr="sci-ppt:C1-E09-008"/>
          <p:cNvSpPr txBox="1"/>
          <p:nvPr/>
        </p:nvSpPr>
        <p:spPr>
          <a:xfrm>
            <a:off x="5486400" y="2621280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Integrate r from R to infinity</a:t>
            </a:r>
          </a:p>
        </p:txBody>
      </p:sp>
      <p:sp>
        <p:nvSpPr>
          <p:cNvPr id="10" name="text9" descr="sci-ppt:C1-E09-009"/>
          <p:cNvSpPr txBox="1"/>
          <p:nvPr/>
        </p:nvSpPr>
        <p:spPr>
          <a:xfrm>
            <a:off x="5486400" y="3352800"/>
            <a:ext cx="560832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Storage K_l</a:t>
            </a:r>
          </a:p>
        </p:txBody>
      </p:sp>
      <p:sp>
        <p:nvSpPr>
          <p:cNvPr id="11" name="text10" descr="sci-ppt:C1-E09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</a:t>
            </a:r>
          </a:p>
        </p:txBody>
      </p:sp>
      <p:sp>
        <p:nvSpPr>
          <p:cNvPr id="12" name="text11" descr="sci-ppt:C1-E09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u(r,t)</a:t>
            </a:r>
          </a:p>
        </p:txBody>
      </p:sp>
      <p:sp>
        <p:nvSpPr>
          <p:cNvPr id="13" name="text12" descr="sci-ppt:C1-E09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4" name="text13" descr="sci-ppt:C1-E09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4πr²dr</a:t>
            </a:r>
          </a:p>
        </p:txBody>
      </p:sp>
      <p:sp>
        <p:nvSpPr>
          <p:cNvPr id="15" name="text14" descr="sci-ppt:C1-E09-014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6" name="text15" descr="sci-ppt:C1-E09-015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7" name="text16" descr="sci-ppt:C1-E09-016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r: exterior shells</a:t>
            </a:r>
          </a:p>
        </p:txBody>
      </p:sp>
      <p:sp>
        <p:nvSpPr>
          <p:cNvPr id="18" name="text17" descr="sci-ppt:C1-E09-017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9" name="text18" descr="sci-ppt:C1-E09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Integrate liquid shells outside the cavity</a:t>
            </a:r>
          </a:p>
        </p:txBody>
      </p:sp>
      <p:sp>
        <p:nvSpPr>
          <p:cNvPr id="20" name="text19" descr="sci-ppt:C1-E09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radial field decays enough for finite kinetic energy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0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C1-E10 | Physical-variable diagram</a:t>
            </a:r>
          </a:p>
        </p:txBody>
      </p:sp>
      <p:sp>
        <p:nvSpPr>
          <p:cNvPr id="3" name="rect2" descr="sci-ppt:C1-E10-002"/>
          <p:cNvSpPr/>
          <p:nvPr/>
        </p:nvSpPr>
        <p:spPr>
          <a:xfrm>
            <a:off x="60960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10-003"/>
          <p:cNvSpPr txBox="1"/>
          <p:nvPr/>
        </p:nvSpPr>
        <p:spPr>
          <a:xfrm>
            <a:off x="73152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Pressure work</a:t>
            </a:r>
          </a:p>
        </p:txBody>
      </p:sp>
      <p:sp>
        <p:nvSpPr>
          <p:cNvPr id="5" name="rect4" descr="sci-ppt:C1-E10-004"/>
          <p:cNvSpPr/>
          <p:nvPr/>
        </p:nvSpPr>
        <p:spPr>
          <a:xfrm>
            <a:off x="451104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10-005"/>
          <p:cNvSpPr txBox="1"/>
          <p:nvPr/>
        </p:nvSpPr>
        <p:spPr>
          <a:xfrm>
            <a:off x="463296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K_l + E_σ</a:t>
            </a:r>
          </a:p>
        </p:txBody>
      </p:sp>
      <p:sp>
        <p:nvSpPr>
          <p:cNvPr id="7" name="rect6" descr="sci-ppt:C1-E10-006"/>
          <p:cNvSpPr/>
          <p:nvPr/>
        </p:nvSpPr>
        <p:spPr>
          <a:xfrm>
            <a:off x="8412480" y="2011680"/>
            <a:ext cx="292608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1-E10-007"/>
          <p:cNvSpPr txBox="1"/>
          <p:nvPr/>
        </p:nvSpPr>
        <p:spPr>
          <a:xfrm>
            <a:off x="8534400" y="2133600"/>
            <a:ext cx="2743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Viscous dissipation</a:t>
            </a:r>
          </a:p>
        </p:txBody>
      </p:sp>
      <p:cxnSp>
        <p:nvCxnSpPr>
          <p:cNvPr id="9" name="arrow8" descr="sci-ppt:C1-E10-008"/>
          <p:cNvCxnSpPr/>
          <p:nvPr/>
        </p:nvCxnSpPr>
        <p:spPr>
          <a:xfrm>
            <a:off x="3718560" y="2621280"/>
            <a:ext cx="6705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arrow9" descr="sci-ppt:C1-E10-009"/>
          <p:cNvCxnSpPr/>
          <p:nvPr/>
        </p:nvCxnSpPr>
        <p:spPr>
          <a:xfrm>
            <a:off x="7620000" y="2621280"/>
            <a:ext cx="6705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1-E10-010"/>
          <p:cNvSpPr txBox="1"/>
          <p:nvPr/>
        </p:nvSpPr>
        <p:spPr>
          <a:xfrm>
            <a:off x="1219200" y="3901440"/>
            <a:ext cx="10363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Storage can change sign; dissipation is nonnegative.</a:t>
            </a:r>
          </a:p>
        </p:txBody>
      </p:sp>
      <p:sp>
        <p:nvSpPr>
          <p:cNvPr id="12" name="text11" descr="sci-ppt:C1-E10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</a:t>
            </a:r>
          </a:p>
        </p:txBody>
      </p:sp>
      <p:sp>
        <p:nvSpPr>
          <p:cNvPr id="13" name="text12" descr="sci-ppt:C1-E10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Vb</a:t>
            </a:r>
          </a:p>
        </p:txBody>
      </p:sp>
      <p:sp>
        <p:nvSpPr>
          <p:cNvPr id="14" name="text13" descr="sci-ppt:C1-E10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5" name="text14" descr="sci-ppt:C1-E10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16" name="text15" descr="sci-ppt:C1-E10-015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</a:t>
            </a:r>
          </a:p>
        </p:txBody>
      </p:sp>
      <p:sp>
        <p:nvSpPr>
          <p:cNvPr id="17" name="text16" descr="sci-ppt:C1-E10-01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Eσ</a:t>
            </a:r>
          </a:p>
        </p:txBody>
      </p:sp>
      <p:sp>
        <p:nvSpPr>
          <p:cNvPr id="18" name="text17" descr="sci-ppt:C1-E10-01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V̇b</a:t>
            </a:r>
          </a:p>
        </p:txBody>
      </p:sp>
      <p:sp>
        <p:nvSpPr>
          <p:cNvPr id="19" name="text18" descr="sci-ppt:C1-E10-01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0" name="text19" descr="sci-ppt:C1-E10-019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21" name="text20" descr="sci-ppt:C1-E10-020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22" name="text21" descr="sci-ppt:C1-E10-021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Surface energy is stored at the spherical boundary</a:t>
            </a:r>
          </a:p>
        </p:txBody>
      </p:sp>
      <p:sp>
        <p:nvSpPr>
          <p:cNvPr id="23" name="text22" descr="sci-ppt:C1-E10-022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Volume work changes both liquid speed and effective inertia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1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C1-E11 | Physical-variable diagram</a:t>
            </a:r>
          </a:p>
        </p:txBody>
      </p:sp>
      <p:sp>
        <p:nvSpPr>
          <p:cNvPr id="3" name="rect2" descr="sci-ppt:C1-E11-002"/>
          <p:cNvSpPr/>
          <p:nvPr/>
        </p:nvSpPr>
        <p:spPr>
          <a:xfrm>
            <a:off x="60960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11-003"/>
          <p:cNvSpPr txBox="1"/>
          <p:nvPr/>
        </p:nvSpPr>
        <p:spPr>
          <a:xfrm>
            <a:off x="73152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Pressure work</a:t>
            </a:r>
          </a:p>
        </p:txBody>
      </p:sp>
      <p:sp>
        <p:nvSpPr>
          <p:cNvPr id="5" name="rect4" descr="sci-ppt:C1-E11-004"/>
          <p:cNvSpPr/>
          <p:nvPr/>
        </p:nvSpPr>
        <p:spPr>
          <a:xfrm>
            <a:off x="451104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11-005"/>
          <p:cNvSpPr txBox="1"/>
          <p:nvPr/>
        </p:nvSpPr>
        <p:spPr>
          <a:xfrm>
            <a:off x="463296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K_l + E_σ</a:t>
            </a:r>
          </a:p>
        </p:txBody>
      </p:sp>
      <p:sp>
        <p:nvSpPr>
          <p:cNvPr id="7" name="rect6" descr="sci-ppt:C1-E11-006"/>
          <p:cNvSpPr/>
          <p:nvPr/>
        </p:nvSpPr>
        <p:spPr>
          <a:xfrm>
            <a:off x="8412480" y="2011680"/>
            <a:ext cx="292608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1-E11-007"/>
          <p:cNvSpPr txBox="1"/>
          <p:nvPr/>
        </p:nvSpPr>
        <p:spPr>
          <a:xfrm>
            <a:off x="8534400" y="2133600"/>
            <a:ext cx="2743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Viscous dissipation</a:t>
            </a:r>
          </a:p>
        </p:txBody>
      </p:sp>
      <p:cxnSp>
        <p:nvCxnSpPr>
          <p:cNvPr id="9" name="arrow8" descr="sci-ppt:C1-E11-008"/>
          <p:cNvCxnSpPr/>
          <p:nvPr/>
        </p:nvCxnSpPr>
        <p:spPr>
          <a:xfrm>
            <a:off x="3718560" y="2621280"/>
            <a:ext cx="6705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arrow9" descr="sci-ppt:C1-E11-009"/>
          <p:cNvCxnSpPr/>
          <p:nvPr/>
        </p:nvCxnSpPr>
        <p:spPr>
          <a:xfrm>
            <a:off x="7620000" y="2621280"/>
            <a:ext cx="6705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1-E11-010"/>
          <p:cNvSpPr txBox="1"/>
          <p:nvPr/>
        </p:nvSpPr>
        <p:spPr>
          <a:xfrm>
            <a:off x="1219200" y="3901440"/>
            <a:ext cx="10363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Storage can change sign; dissipation is nonnegative.</a:t>
            </a:r>
          </a:p>
        </p:txBody>
      </p:sp>
      <p:sp>
        <p:nvSpPr>
          <p:cNvPr id="12" name="text11" descr="sci-ppt:C1-E11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Pressure work (pb − p∞)V̇b</a:t>
            </a:r>
          </a:p>
        </p:txBody>
      </p:sp>
      <p:sp>
        <p:nvSpPr>
          <p:cNvPr id="13" name="text12" descr="sci-ppt:C1-E11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Eσ</a:t>
            </a:r>
          </a:p>
        </p:txBody>
      </p:sp>
      <p:sp>
        <p:nvSpPr>
          <p:cNvPr id="14" name="text13" descr="sci-ppt:C1-E11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5" name="text14" descr="sci-ppt:C1-E11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6" name="text15" descr="sci-ppt:C1-E11-015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7" name="text16" descr="sci-ppt:C1-E11-01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</a:t>
            </a:r>
          </a:p>
        </p:txBody>
      </p:sp>
      <p:sp>
        <p:nvSpPr>
          <p:cNvPr id="18" name="text17" descr="sci-ppt:C1-E11-01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16πμR Ṙ² ≥ 0</a:t>
            </a:r>
          </a:p>
        </p:txBody>
      </p:sp>
      <p:sp>
        <p:nvSpPr>
          <p:cNvPr id="19" name="text18" descr="sci-ppt:C1-E11-01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0" name="text19" descr="sci-ppt:C1-E11-019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1" name="text20" descr="sci-ppt:C1-E11-020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Expansion or collapse may supply positive pressure work</a:t>
            </a:r>
          </a:p>
        </p:txBody>
      </p:sp>
      <p:sp>
        <p:nvSpPr>
          <p:cNvPr id="22" name="text21" descr="sci-ppt:C1-E11-021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Viscosity always removes mechanical energy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C1-E12 | Physical-variable diagram</a:t>
            </a:r>
          </a:p>
        </p:txBody>
      </p:sp>
      <p:sp>
        <p:nvSpPr>
          <p:cNvPr id="3" name="ellipse2" descr="sci-ppt:C1-E12-002"/>
          <p:cNvSpPr/>
          <p:nvPr/>
        </p:nvSpPr>
        <p:spPr>
          <a:xfrm>
            <a:off x="2438400" y="1645920"/>
            <a:ext cx="1950720" cy="195072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12-003"/>
          <p:cNvSpPr/>
          <p:nvPr/>
        </p:nvSpPr>
        <p:spPr>
          <a:xfrm>
            <a:off x="1706880" y="914400"/>
            <a:ext cx="3413760" cy="341376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ellipse4" descr="sci-ppt:C1-E12-004"/>
          <p:cNvSpPr/>
          <p:nvPr/>
        </p:nvSpPr>
        <p:spPr>
          <a:xfrm>
            <a:off x="1524000" y="731520"/>
            <a:ext cx="3779520" cy="3779520"/>
          </a:xfrm>
          <a:prstGeom prst="ellipse">
            <a:avLst/>
          </a:prstGeom>
          <a:noFill/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12-005"/>
          <p:cNvSpPr txBox="1"/>
          <p:nvPr/>
        </p:nvSpPr>
        <p:spPr>
          <a:xfrm>
            <a:off x="2438400" y="2560320"/>
            <a:ext cx="24384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Cavity</a:t>
            </a:r>
          </a:p>
        </p:txBody>
      </p:sp>
      <p:cxnSp>
        <p:nvCxnSpPr>
          <p:cNvPr id="7" name="arrow6" descr="sci-ppt:C1-E12-006"/>
          <p:cNvCxnSpPr/>
          <p:nvPr/>
        </p:nvCxnSpPr>
        <p:spPr>
          <a:xfrm>
            <a:off x="3413760" y="2621280"/>
            <a:ext cx="176784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1-E12-007"/>
          <p:cNvSpPr txBox="1"/>
          <p:nvPr/>
        </p:nvSpPr>
        <p:spPr>
          <a:xfrm>
            <a:off x="5486400" y="1950720"/>
            <a:ext cx="60960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Exterior liquid shells: 4π r² dr</a:t>
            </a:r>
          </a:p>
        </p:txBody>
      </p:sp>
      <p:sp>
        <p:nvSpPr>
          <p:cNvPr id="9" name="text8" descr="sci-ppt:C1-E12-008"/>
          <p:cNvSpPr txBox="1"/>
          <p:nvPr/>
        </p:nvSpPr>
        <p:spPr>
          <a:xfrm>
            <a:off x="5486400" y="2621280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Integrate r from R to infinity</a:t>
            </a:r>
          </a:p>
        </p:txBody>
      </p:sp>
      <p:sp>
        <p:nvSpPr>
          <p:cNvPr id="10" name="text9" descr="sci-ppt:C1-E12-009"/>
          <p:cNvSpPr txBox="1"/>
          <p:nvPr/>
        </p:nvSpPr>
        <p:spPr>
          <a:xfrm>
            <a:off x="5486400" y="3352800"/>
            <a:ext cx="560832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Positive dissipation density</a:t>
            </a:r>
          </a:p>
        </p:txBody>
      </p:sp>
      <p:sp>
        <p:nvSpPr>
          <p:cNvPr id="11" name="text10" descr="sci-ppt:C1-E12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Drr</a:t>
            </a:r>
          </a:p>
        </p:txBody>
      </p:sp>
      <p:sp>
        <p:nvSpPr>
          <p:cNvPr id="12" name="text11" descr="sci-ppt:C1-E12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Dψψ</a:t>
            </a:r>
          </a:p>
        </p:txBody>
      </p:sp>
      <p:sp>
        <p:nvSpPr>
          <p:cNvPr id="13" name="text12" descr="sci-ppt:C1-E12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</a:t>
            </a:r>
          </a:p>
        </p:txBody>
      </p:sp>
      <p:sp>
        <p:nvSpPr>
          <p:cNvPr id="14" name="text13" descr="sci-ppt:C1-E12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5" name="text14" descr="sci-ppt:C1-E12-014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4πr²dr</a:t>
            </a:r>
          </a:p>
        </p:txBody>
      </p:sp>
      <p:sp>
        <p:nvSpPr>
          <p:cNvPr id="16" name="text15" descr="sci-ppt:C1-E12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Dθθ</a:t>
            </a:r>
          </a:p>
        </p:txBody>
      </p:sp>
      <p:sp>
        <p:nvSpPr>
          <p:cNvPr id="17" name="text16" descr="sci-ppt:C1-E12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Dμ</a:t>
            </a:r>
          </a:p>
        </p:txBody>
      </p:sp>
      <p:sp>
        <p:nvSpPr>
          <p:cNvPr id="18" name="text17" descr="sci-ppt:C1-E12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9" name="text18" descr="sci-ppt:C1-E12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0" name="text19" descr="sci-ppt:C1-E12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Integrate the positive dissipation density in exterior shells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C1-E13 | Physical-variable diagram</a:t>
            </a:r>
          </a:p>
        </p:txBody>
      </p:sp>
      <p:sp>
        <p:nvSpPr>
          <p:cNvPr id="3" name="ellipse2" descr="sci-ppt:C1-E13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3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3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3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3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3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3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3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3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3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3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3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3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3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 at t = 0</a:t>
            </a:r>
          </a:p>
        </p:txBody>
      </p:sp>
      <p:sp>
        <p:nvSpPr>
          <p:cNvPr id="17" name="text16" descr="sci-ppt:C1-E13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18" name="text17" descr="sci-ppt:C1-E13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19" name="text18" descr="sci-ppt:C1-E13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 &gt; 0</a:t>
            </a:r>
          </a:p>
        </p:txBody>
      </p:sp>
      <p:sp>
        <p:nvSpPr>
          <p:cNvPr id="20" name="text19" descr="sci-ppt:C1-E13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Ṙ(0) = 0</a:t>
            </a:r>
          </a:p>
        </p:txBody>
      </p:sp>
      <p:sp>
        <p:nvSpPr>
          <p:cNvPr id="21" name="text20" descr="sci-ppt:C1-E13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2" name="text21" descr="sci-ppt:C1-E13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</a:t>
            </a:r>
          </a:p>
        </p:txBody>
      </p:sp>
      <p:sp>
        <p:nvSpPr>
          <p:cNvPr id="23" name="text22" descr="sci-ppt:C1-E13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24" name="text23" descr="sci-ppt:C1-E13-023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Constant pressure deficit initiates inward acceleration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4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C1-E14 | Physical-variable diagram</a:t>
            </a:r>
          </a:p>
        </p:txBody>
      </p:sp>
      <p:sp>
        <p:nvSpPr>
          <p:cNvPr id="3" name="ellipse2" descr="sci-ppt:C1-E14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4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4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4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4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4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4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4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4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4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4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4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4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4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y(R) = Ṙ²</a:t>
            </a:r>
          </a:p>
        </p:txBody>
      </p:sp>
      <p:sp>
        <p:nvSpPr>
          <p:cNvPr id="17" name="text16" descr="sci-ppt:C1-E14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≠ 0</a:t>
            </a:r>
          </a:p>
        </p:txBody>
      </p:sp>
      <p:sp>
        <p:nvSpPr>
          <p:cNvPr id="18" name="text17" descr="sci-ppt:C1-E14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19" name="text18" descr="sci-ppt:C1-E14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R³y</a:t>
            </a:r>
          </a:p>
        </p:txBody>
      </p:sp>
      <p:sp>
        <p:nvSpPr>
          <p:cNvPr id="20" name="text19" descr="sci-ppt:C1-E14-019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 endpoint</a:t>
            </a:r>
          </a:p>
        </p:txBody>
      </p:sp>
      <p:sp>
        <p:nvSpPr>
          <p:cNvPr id="21" name="text20" descr="sci-ppt:C1-E14-020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decreases</a:t>
            </a:r>
          </a:p>
        </p:txBody>
      </p:sp>
      <p:sp>
        <p:nvSpPr>
          <p:cNvPr id="22" name="text21" descr="sci-ppt:C1-E14-021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3" name="text22" descr="sci-ppt:C1-E14-022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24" name="text23" descr="sci-ppt:C1-E14-023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25" name="text24" descr="sci-ppt:C1-E14-024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Cancel speed only away from the initial turning point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5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C1-E15 | Physical-variable diagram</a:t>
            </a:r>
          </a:p>
        </p:txBody>
      </p:sp>
      <p:sp>
        <p:nvSpPr>
          <p:cNvPr id="3" name="ellipse2" descr="sci-ppt:C1-E15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5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5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5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5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5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5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5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5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5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5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5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5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5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17" name="text16" descr="sci-ppt:C1-E15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integration radius</a:t>
            </a:r>
          </a:p>
        </p:txBody>
      </p:sp>
      <p:sp>
        <p:nvSpPr>
          <p:cNvPr id="18" name="text17" descr="sci-ppt:C1-E15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&lt; 0</a:t>
            </a:r>
          </a:p>
        </p:txBody>
      </p:sp>
      <p:sp>
        <p:nvSpPr>
          <p:cNvPr id="19" name="text18" descr="sci-ppt:C1-E15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20" name="text19" descr="sci-ppt:C1-E15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21" name="text20" descr="sci-ppt:C1-E15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y = Ṙ²</a:t>
            </a:r>
          </a:p>
        </p:txBody>
      </p:sp>
      <p:sp>
        <p:nvSpPr>
          <p:cNvPr id="22" name="text21" descr="sci-ppt:C1-E15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23" name="text22" descr="sci-ppt:C1-E15-022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Speed is zero at R = Rmax</a:t>
            </a:r>
          </a:p>
        </p:txBody>
      </p:sp>
      <p:sp>
        <p:nvSpPr>
          <p:cNvPr id="24" name="text23" descr="sci-ppt:C1-E15-023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Zero radius is an excluded model endpoint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C1-E16 | Physical-variable diagram</a:t>
            </a:r>
          </a:p>
        </p:txBody>
      </p:sp>
      <p:sp>
        <p:nvSpPr>
          <p:cNvPr id="3" name="ellipse2" descr="sci-ppt:C1-E16-002"/>
          <p:cNvSpPr/>
          <p:nvPr/>
        </p:nvSpPr>
        <p:spPr>
          <a:xfrm>
            <a:off x="1402080" y="1463040"/>
            <a:ext cx="2072640" cy="207264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16-003"/>
          <p:cNvSpPr/>
          <p:nvPr/>
        </p:nvSpPr>
        <p:spPr>
          <a:xfrm>
            <a:off x="4974336" y="2109216"/>
            <a:ext cx="780288" cy="780288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16-004"/>
          <p:cNvCxnSpPr/>
          <p:nvPr/>
        </p:nvCxnSpPr>
        <p:spPr>
          <a:xfrm>
            <a:off x="3657600" y="2499360"/>
            <a:ext cx="10972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16-005"/>
          <p:cNvSpPr txBox="1"/>
          <p:nvPr/>
        </p:nvSpPr>
        <p:spPr>
          <a:xfrm>
            <a:off x="1524000" y="3779520"/>
            <a:ext cx="3657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R_max, initially at rest</a:t>
            </a:r>
          </a:p>
        </p:txBody>
      </p:sp>
      <p:sp>
        <p:nvSpPr>
          <p:cNvPr id="7" name="text6" descr="sci-ppt:C1-E16-006"/>
          <p:cNvSpPr txBox="1"/>
          <p:nvPr/>
        </p:nvSpPr>
        <p:spPr>
          <a:xfrm>
            <a:off x="4754880" y="3413760"/>
            <a:ext cx="2438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decreases</a:t>
            </a:r>
          </a:p>
        </p:txBody>
      </p:sp>
      <p:cxnSp>
        <p:nvCxnSpPr>
          <p:cNvPr id="8" name="arrow7" descr="sci-ppt:C1-E16-007"/>
          <p:cNvCxnSpPr/>
          <p:nvPr/>
        </p:nvCxnSpPr>
        <p:spPr>
          <a:xfrm>
            <a:off x="7315200" y="3840480"/>
            <a:ext cx="3535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arrow8" descr="sci-ppt:C1-E16-008"/>
          <p:cNvCxnSpPr/>
          <p:nvPr/>
        </p:nvCxnSpPr>
        <p:spPr>
          <a:xfrm flipV="1">
            <a:off x="7315200" y="1524000"/>
            <a:ext cx="0" cy="23164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6-009"/>
          <p:cNvSpPr txBox="1"/>
          <p:nvPr/>
        </p:nvSpPr>
        <p:spPr>
          <a:xfrm>
            <a:off x="9875520" y="3962399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1" name="text10" descr="sci-ppt:C1-E16-010"/>
          <p:cNvSpPr txBox="1"/>
          <p:nvPr/>
        </p:nvSpPr>
        <p:spPr>
          <a:xfrm>
            <a:off x="7193280" y="115824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2" name="line11" descr="sci-ppt:C1-E16-011"/>
          <p:cNvCxnSpPr/>
          <p:nvPr/>
        </p:nvCxnSpPr>
        <p:spPr>
          <a:xfrm>
            <a:off x="7376160" y="1767840"/>
            <a:ext cx="131925" cy="125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line12" descr="sci-ppt:C1-E16-012"/>
          <p:cNvCxnSpPr/>
          <p:nvPr/>
        </p:nvCxnSpPr>
        <p:spPr>
          <a:xfrm>
            <a:off x="7508085" y="1769097"/>
            <a:ext cx="131760" cy="377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line13" descr="sci-ppt:C1-E16-013"/>
          <p:cNvCxnSpPr/>
          <p:nvPr/>
        </p:nvCxnSpPr>
        <p:spPr>
          <a:xfrm>
            <a:off x="7639845" y="1772869"/>
            <a:ext cx="131430" cy="628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line14" descr="sci-ppt:C1-E16-014"/>
          <p:cNvCxnSpPr/>
          <p:nvPr/>
        </p:nvCxnSpPr>
        <p:spPr>
          <a:xfrm>
            <a:off x="7771275" y="1779155"/>
            <a:ext cx="130934" cy="88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line15" descr="sci-ppt:C1-E16-015"/>
          <p:cNvCxnSpPr/>
          <p:nvPr/>
        </p:nvCxnSpPr>
        <p:spPr>
          <a:xfrm>
            <a:off x="7902209" y="1787956"/>
            <a:ext cx="130272" cy="1131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line16" descr="sci-ppt:C1-E16-016"/>
          <p:cNvCxnSpPr/>
          <p:nvPr/>
        </p:nvCxnSpPr>
        <p:spPr>
          <a:xfrm>
            <a:off x="8032481" y="1799272"/>
            <a:ext cx="129443" cy="13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line17" descr="sci-ppt:C1-E16-017"/>
          <p:cNvCxnSpPr/>
          <p:nvPr/>
        </p:nvCxnSpPr>
        <p:spPr>
          <a:xfrm>
            <a:off x="8161924" y="1813102"/>
            <a:ext cx="128446" cy="1634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line18" descr="sci-ppt:C1-E16-018"/>
          <p:cNvCxnSpPr/>
          <p:nvPr/>
        </p:nvCxnSpPr>
        <p:spPr>
          <a:xfrm>
            <a:off x="8290370" y="1829447"/>
            <a:ext cx="127280" cy="188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line19" descr="sci-ppt:C1-E16-019"/>
          <p:cNvCxnSpPr/>
          <p:nvPr/>
        </p:nvCxnSpPr>
        <p:spPr>
          <a:xfrm>
            <a:off x="8417650" y="1848307"/>
            <a:ext cx="125942" cy="213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line20" descr="sci-ppt:C1-E16-020"/>
          <p:cNvCxnSpPr/>
          <p:nvPr/>
        </p:nvCxnSpPr>
        <p:spPr>
          <a:xfrm>
            <a:off x="8543592" y="1869681"/>
            <a:ext cx="124432" cy="238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line21" descr="sci-ppt:C1-E16-021"/>
          <p:cNvCxnSpPr/>
          <p:nvPr/>
        </p:nvCxnSpPr>
        <p:spPr>
          <a:xfrm>
            <a:off x="8668024" y="1893570"/>
            <a:ext cx="122749" cy="264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line22" descr="sci-ppt:C1-E16-022"/>
          <p:cNvCxnSpPr/>
          <p:nvPr/>
        </p:nvCxnSpPr>
        <p:spPr>
          <a:xfrm>
            <a:off x="8790773" y="1919973"/>
            <a:ext cx="120888" cy="289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line23" descr="sci-ppt:C1-E16-023"/>
          <p:cNvCxnSpPr/>
          <p:nvPr/>
        </p:nvCxnSpPr>
        <p:spPr>
          <a:xfrm>
            <a:off x="8911661" y="1948891"/>
            <a:ext cx="118850" cy="3143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line24" descr="sci-ppt:C1-E16-024"/>
          <p:cNvCxnSpPr/>
          <p:nvPr/>
        </p:nvCxnSpPr>
        <p:spPr>
          <a:xfrm>
            <a:off x="9030511" y="1980323"/>
            <a:ext cx="116631" cy="3394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line25" descr="sci-ppt:C1-E16-025"/>
          <p:cNvCxnSpPr/>
          <p:nvPr/>
        </p:nvCxnSpPr>
        <p:spPr>
          <a:xfrm>
            <a:off x="9147142" y="2014270"/>
            <a:ext cx="114227" cy="3646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line26" descr="sci-ppt:C1-E16-026"/>
          <p:cNvCxnSpPr/>
          <p:nvPr/>
        </p:nvCxnSpPr>
        <p:spPr>
          <a:xfrm>
            <a:off x="9261369" y="2050732"/>
            <a:ext cx="111639" cy="389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line27" descr="sci-ppt:C1-E16-027"/>
          <p:cNvCxnSpPr/>
          <p:nvPr/>
        </p:nvCxnSpPr>
        <p:spPr>
          <a:xfrm>
            <a:off x="9373008" y="2089708"/>
            <a:ext cx="108861" cy="414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line28" descr="sci-ppt:C1-E16-028"/>
          <p:cNvCxnSpPr/>
          <p:nvPr/>
        </p:nvCxnSpPr>
        <p:spPr>
          <a:xfrm>
            <a:off x="9481869" y="2131199"/>
            <a:ext cx="105891" cy="4400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line29" descr="sci-ppt:C1-E16-029"/>
          <p:cNvCxnSpPr/>
          <p:nvPr/>
        </p:nvCxnSpPr>
        <p:spPr>
          <a:xfrm>
            <a:off x="9587760" y="2175205"/>
            <a:ext cx="102727" cy="46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line30" descr="sci-ppt:C1-E16-030"/>
          <p:cNvCxnSpPr/>
          <p:nvPr/>
        </p:nvCxnSpPr>
        <p:spPr>
          <a:xfrm>
            <a:off x="9690487" y="2221725"/>
            <a:ext cx="99366" cy="4903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line31" descr="sci-ppt:C1-E16-031"/>
          <p:cNvCxnSpPr/>
          <p:nvPr/>
        </p:nvCxnSpPr>
        <p:spPr>
          <a:xfrm>
            <a:off x="9789853" y="2270760"/>
            <a:ext cx="95803" cy="5154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line32" descr="sci-ppt:C1-E16-032"/>
          <p:cNvCxnSpPr/>
          <p:nvPr/>
        </p:nvCxnSpPr>
        <p:spPr>
          <a:xfrm>
            <a:off x="9885656" y="2322309"/>
            <a:ext cx="92039" cy="5406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line33" descr="sci-ppt:C1-E16-033"/>
          <p:cNvCxnSpPr/>
          <p:nvPr/>
        </p:nvCxnSpPr>
        <p:spPr>
          <a:xfrm>
            <a:off x="9977695" y="2376373"/>
            <a:ext cx="88069" cy="565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line34" descr="sci-ppt:C1-E16-034"/>
          <p:cNvCxnSpPr/>
          <p:nvPr/>
        </p:nvCxnSpPr>
        <p:spPr>
          <a:xfrm>
            <a:off x="10065764" y="2432951"/>
            <a:ext cx="83893" cy="5909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line35" descr="sci-ppt:C1-E16-035"/>
          <p:cNvCxnSpPr/>
          <p:nvPr/>
        </p:nvCxnSpPr>
        <p:spPr>
          <a:xfrm>
            <a:off x="10149657" y="2492044"/>
            <a:ext cx="79510" cy="616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line36" descr="sci-ppt:C1-E16-036"/>
          <p:cNvCxnSpPr/>
          <p:nvPr/>
        </p:nvCxnSpPr>
        <p:spPr>
          <a:xfrm>
            <a:off x="10229167" y="2553652"/>
            <a:ext cx="74920" cy="6412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line37" descr="sci-ppt:C1-E16-037"/>
          <p:cNvCxnSpPr/>
          <p:nvPr/>
        </p:nvCxnSpPr>
        <p:spPr>
          <a:xfrm>
            <a:off x="10304087" y="2617774"/>
            <a:ext cx="70125" cy="666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line38" descr="sci-ppt:C1-E16-038"/>
          <p:cNvCxnSpPr/>
          <p:nvPr/>
        </p:nvCxnSpPr>
        <p:spPr>
          <a:xfrm>
            <a:off x="10374212" y="2684411"/>
            <a:ext cx="65129" cy="6915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line39" descr="sci-ppt:C1-E16-039"/>
          <p:cNvCxnSpPr/>
          <p:nvPr/>
        </p:nvCxnSpPr>
        <p:spPr>
          <a:xfrm>
            <a:off x="10439341" y="2753563"/>
            <a:ext cx="59939" cy="7166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line40" descr="sci-ppt:C1-E16-040"/>
          <p:cNvCxnSpPr/>
          <p:nvPr/>
        </p:nvCxnSpPr>
        <p:spPr>
          <a:xfrm>
            <a:off x="10499280" y="2825229"/>
            <a:ext cx="54565" cy="74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line41" descr="sci-ppt:C1-E16-041"/>
          <p:cNvCxnSpPr/>
          <p:nvPr/>
        </p:nvCxnSpPr>
        <p:spPr>
          <a:xfrm>
            <a:off x="10553845" y="2899410"/>
            <a:ext cx="49022" cy="7669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line42" descr="sci-ppt:C1-E16-042"/>
          <p:cNvCxnSpPr/>
          <p:nvPr/>
        </p:nvCxnSpPr>
        <p:spPr>
          <a:xfrm>
            <a:off x="10602867" y="2976105"/>
            <a:ext cx="43334" cy="792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line43" descr="sci-ppt:C1-E16-043"/>
          <p:cNvCxnSpPr/>
          <p:nvPr/>
        </p:nvCxnSpPr>
        <p:spPr>
          <a:xfrm>
            <a:off x="10646201" y="3055315"/>
            <a:ext cx="37530" cy="817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line44" descr="sci-ppt:C1-E16-044"/>
          <p:cNvCxnSpPr/>
          <p:nvPr/>
        </p:nvCxnSpPr>
        <p:spPr>
          <a:xfrm>
            <a:off x="10683731" y="3137039"/>
            <a:ext cx="31655" cy="8423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line45" descr="sci-ppt:C1-E16-045"/>
          <p:cNvCxnSpPr/>
          <p:nvPr/>
        </p:nvCxnSpPr>
        <p:spPr>
          <a:xfrm>
            <a:off x="10715386" y="3221278"/>
            <a:ext cx="25767" cy="867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line46" descr="sci-ppt:C1-E16-046"/>
          <p:cNvCxnSpPr/>
          <p:nvPr/>
        </p:nvCxnSpPr>
        <p:spPr>
          <a:xfrm>
            <a:off x="10741153" y="3308032"/>
            <a:ext cx="19950" cy="8926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line47" descr="sci-ppt:C1-E16-047"/>
          <p:cNvCxnSpPr/>
          <p:nvPr/>
        </p:nvCxnSpPr>
        <p:spPr>
          <a:xfrm>
            <a:off x="10761103" y="3397300"/>
            <a:ext cx="14325" cy="9178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line48" descr="sci-ppt:C1-E16-048"/>
          <p:cNvCxnSpPr/>
          <p:nvPr/>
        </p:nvCxnSpPr>
        <p:spPr>
          <a:xfrm>
            <a:off x="10775428" y="3489083"/>
            <a:ext cx="9063" cy="9429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line49" descr="sci-ppt:C1-E16-049"/>
          <p:cNvCxnSpPr/>
          <p:nvPr/>
        </p:nvCxnSpPr>
        <p:spPr>
          <a:xfrm>
            <a:off x="10784491" y="3583381"/>
            <a:ext cx="4438" cy="9681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line50" descr="sci-ppt:C1-E16-050"/>
          <p:cNvCxnSpPr/>
          <p:nvPr/>
        </p:nvCxnSpPr>
        <p:spPr>
          <a:xfrm>
            <a:off x="10788929" y="3680193"/>
            <a:ext cx="991" cy="993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52" name="text51" descr="sci-ppt:C1-E16-051"/>
          <p:cNvSpPr txBox="1"/>
          <p:nvPr/>
        </p:nvSpPr>
        <p:spPr>
          <a:xfrm>
            <a:off x="7741920" y="103632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Ideal collapse trajectory</a:t>
            </a:r>
          </a:p>
        </p:txBody>
      </p:sp>
      <p:sp>
        <p:nvSpPr>
          <p:cNvPr id="53" name="text52" descr="sci-ppt:C1-E16-052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tc</a:t>
            </a:r>
          </a:p>
        </p:txBody>
      </p:sp>
      <p:sp>
        <p:nvSpPr>
          <p:cNvPr id="54" name="text53" descr="sci-ppt:C1-E16-053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55" name="text54" descr="sci-ppt:C1-E16-054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56" name="text55" descr="sci-ppt:C1-E16-055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 = R/Rmax</a:t>
            </a:r>
          </a:p>
        </p:txBody>
      </p:sp>
      <p:sp>
        <p:nvSpPr>
          <p:cNvPr id="57" name="text56" descr="sci-ppt:C1-E16-05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58" name="text57" descr="sci-ppt:C1-E16-05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&lt; 0</a:t>
            </a:r>
          </a:p>
        </p:txBody>
      </p:sp>
      <p:sp>
        <p:nvSpPr>
          <p:cNvPr id="59" name="text58" descr="sci-ppt:C1-E16-05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60" name="text59" descr="sci-ppt:C1-E16-059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Ct</a:t>
            </a:r>
          </a:p>
        </p:txBody>
      </p:sp>
      <p:sp>
        <p:nvSpPr>
          <p:cNvPr id="61" name="text60" descr="sci-ppt:C1-E16-060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x = 0 the integrand behaves as x³ᐟ²</a:t>
            </a:r>
          </a:p>
        </p:txBody>
      </p:sp>
      <p:sp>
        <p:nvSpPr>
          <p:cNvPr id="62" name="text61" descr="sci-ppt:C1-E16-061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x = 1 it behaves as (1 − x)⁻¹ᐟ²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C1-E17 | Physical-variable diagram</a:t>
            </a:r>
          </a:p>
        </p:txBody>
      </p:sp>
      <p:sp>
        <p:nvSpPr>
          <p:cNvPr id="3" name="ellipse2" descr="sci-ppt:C1-E17-002"/>
          <p:cNvSpPr/>
          <p:nvPr/>
        </p:nvSpPr>
        <p:spPr>
          <a:xfrm>
            <a:off x="1402080" y="1463040"/>
            <a:ext cx="2072640" cy="207264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17-003"/>
          <p:cNvSpPr/>
          <p:nvPr/>
        </p:nvSpPr>
        <p:spPr>
          <a:xfrm>
            <a:off x="4974336" y="2109216"/>
            <a:ext cx="780288" cy="780288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17-004"/>
          <p:cNvCxnSpPr/>
          <p:nvPr/>
        </p:nvCxnSpPr>
        <p:spPr>
          <a:xfrm>
            <a:off x="3657600" y="2499360"/>
            <a:ext cx="10972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17-005"/>
          <p:cNvSpPr txBox="1"/>
          <p:nvPr/>
        </p:nvSpPr>
        <p:spPr>
          <a:xfrm>
            <a:off x="1524000" y="3779520"/>
            <a:ext cx="3657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R_max, initially at rest</a:t>
            </a:r>
          </a:p>
        </p:txBody>
      </p:sp>
      <p:sp>
        <p:nvSpPr>
          <p:cNvPr id="7" name="text6" descr="sci-ppt:C1-E17-006"/>
          <p:cNvSpPr txBox="1"/>
          <p:nvPr/>
        </p:nvSpPr>
        <p:spPr>
          <a:xfrm>
            <a:off x="4754880" y="3413760"/>
            <a:ext cx="2438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decreases</a:t>
            </a:r>
          </a:p>
        </p:txBody>
      </p:sp>
      <p:cxnSp>
        <p:nvCxnSpPr>
          <p:cNvPr id="8" name="arrow7" descr="sci-ppt:C1-E17-007"/>
          <p:cNvCxnSpPr/>
          <p:nvPr/>
        </p:nvCxnSpPr>
        <p:spPr>
          <a:xfrm>
            <a:off x="7315200" y="3840480"/>
            <a:ext cx="3535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arrow8" descr="sci-ppt:C1-E17-008"/>
          <p:cNvCxnSpPr/>
          <p:nvPr/>
        </p:nvCxnSpPr>
        <p:spPr>
          <a:xfrm flipV="1">
            <a:off x="7315200" y="1524000"/>
            <a:ext cx="0" cy="23164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7-009"/>
          <p:cNvSpPr txBox="1"/>
          <p:nvPr/>
        </p:nvSpPr>
        <p:spPr>
          <a:xfrm>
            <a:off x="9875520" y="3962399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1" name="text10" descr="sci-ppt:C1-E17-010"/>
          <p:cNvSpPr txBox="1"/>
          <p:nvPr/>
        </p:nvSpPr>
        <p:spPr>
          <a:xfrm>
            <a:off x="7193280" y="115824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2" name="line11" descr="sci-ppt:C1-E17-011"/>
          <p:cNvCxnSpPr/>
          <p:nvPr/>
        </p:nvCxnSpPr>
        <p:spPr>
          <a:xfrm>
            <a:off x="7376160" y="1767840"/>
            <a:ext cx="131925" cy="125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3" name="line12" descr="sci-ppt:C1-E17-012"/>
          <p:cNvCxnSpPr/>
          <p:nvPr/>
        </p:nvCxnSpPr>
        <p:spPr>
          <a:xfrm>
            <a:off x="7508085" y="1769097"/>
            <a:ext cx="131760" cy="377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4" name="line13" descr="sci-ppt:C1-E17-013"/>
          <p:cNvCxnSpPr/>
          <p:nvPr/>
        </p:nvCxnSpPr>
        <p:spPr>
          <a:xfrm>
            <a:off x="7639845" y="1772869"/>
            <a:ext cx="131430" cy="628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5" name="line14" descr="sci-ppt:C1-E17-014"/>
          <p:cNvCxnSpPr/>
          <p:nvPr/>
        </p:nvCxnSpPr>
        <p:spPr>
          <a:xfrm>
            <a:off x="7771275" y="1779155"/>
            <a:ext cx="130934" cy="880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6" name="line15" descr="sci-ppt:C1-E17-015"/>
          <p:cNvCxnSpPr/>
          <p:nvPr/>
        </p:nvCxnSpPr>
        <p:spPr>
          <a:xfrm>
            <a:off x="7902209" y="1787956"/>
            <a:ext cx="130272" cy="1131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7" name="line16" descr="sci-ppt:C1-E17-016"/>
          <p:cNvCxnSpPr/>
          <p:nvPr/>
        </p:nvCxnSpPr>
        <p:spPr>
          <a:xfrm>
            <a:off x="8032481" y="1799272"/>
            <a:ext cx="129443" cy="1383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8" name="line17" descr="sci-ppt:C1-E17-017"/>
          <p:cNvCxnSpPr/>
          <p:nvPr/>
        </p:nvCxnSpPr>
        <p:spPr>
          <a:xfrm>
            <a:off x="8161924" y="1813102"/>
            <a:ext cx="128446" cy="1634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9" name="line18" descr="sci-ppt:C1-E17-018"/>
          <p:cNvCxnSpPr/>
          <p:nvPr/>
        </p:nvCxnSpPr>
        <p:spPr>
          <a:xfrm>
            <a:off x="8290370" y="1829447"/>
            <a:ext cx="127280" cy="1886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0" name="line19" descr="sci-ppt:C1-E17-019"/>
          <p:cNvCxnSpPr/>
          <p:nvPr/>
        </p:nvCxnSpPr>
        <p:spPr>
          <a:xfrm>
            <a:off x="8417650" y="1848307"/>
            <a:ext cx="125942" cy="2137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1" name="line20" descr="sci-ppt:C1-E17-020"/>
          <p:cNvCxnSpPr/>
          <p:nvPr/>
        </p:nvCxnSpPr>
        <p:spPr>
          <a:xfrm>
            <a:off x="8543592" y="1869681"/>
            <a:ext cx="124432" cy="2388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2" name="line21" descr="sci-ppt:C1-E17-021"/>
          <p:cNvCxnSpPr/>
          <p:nvPr/>
        </p:nvCxnSpPr>
        <p:spPr>
          <a:xfrm>
            <a:off x="8668024" y="1893570"/>
            <a:ext cx="122749" cy="2640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3" name="line22" descr="sci-ppt:C1-E17-022"/>
          <p:cNvCxnSpPr/>
          <p:nvPr/>
        </p:nvCxnSpPr>
        <p:spPr>
          <a:xfrm>
            <a:off x="8790773" y="1919973"/>
            <a:ext cx="120888" cy="2891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4" name="line23" descr="sci-ppt:C1-E17-023"/>
          <p:cNvCxnSpPr/>
          <p:nvPr/>
        </p:nvCxnSpPr>
        <p:spPr>
          <a:xfrm>
            <a:off x="8911661" y="1948891"/>
            <a:ext cx="118850" cy="3143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5" name="line24" descr="sci-ppt:C1-E17-024"/>
          <p:cNvCxnSpPr/>
          <p:nvPr/>
        </p:nvCxnSpPr>
        <p:spPr>
          <a:xfrm>
            <a:off x="9030511" y="1980323"/>
            <a:ext cx="116631" cy="3394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6" name="line25" descr="sci-ppt:C1-E17-025"/>
          <p:cNvCxnSpPr/>
          <p:nvPr/>
        </p:nvCxnSpPr>
        <p:spPr>
          <a:xfrm>
            <a:off x="9147142" y="2014270"/>
            <a:ext cx="114227" cy="3646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7" name="line26" descr="sci-ppt:C1-E17-026"/>
          <p:cNvCxnSpPr/>
          <p:nvPr/>
        </p:nvCxnSpPr>
        <p:spPr>
          <a:xfrm>
            <a:off x="9261369" y="2050732"/>
            <a:ext cx="111639" cy="3897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8" name="line27" descr="sci-ppt:C1-E17-027"/>
          <p:cNvCxnSpPr/>
          <p:nvPr/>
        </p:nvCxnSpPr>
        <p:spPr>
          <a:xfrm>
            <a:off x="9373008" y="2089708"/>
            <a:ext cx="108861" cy="4149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29" name="line28" descr="sci-ppt:C1-E17-028"/>
          <p:cNvCxnSpPr/>
          <p:nvPr/>
        </p:nvCxnSpPr>
        <p:spPr>
          <a:xfrm>
            <a:off x="9481869" y="2131199"/>
            <a:ext cx="105891" cy="4400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0" name="line29" descr="sci-ppt:C1-E17-029"/>
          <p:cNvCxnSpPr/>
          <p:nvPr/>
        </p:nvCxnSpPr>
        <p:spPr>
          <a:xfrm>
            <a:off x="9587760" y="2175205"/>
            <a:ext cx="102727" cy="46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1" name="line30" descr="sci-ppt:C1-E17-030"/>
          <p:cNvCxnSpPr/>
          <p:nvPr/>
        </p:nvCxnSpPr>
        <p:spPr>
          <a:xfrm>
            <a:off x="9690487" y="2221725"/>
            <a:ext cx="99366" cy="4903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2" name="line31" descr="sci-ppt:C1-E17-031"/>
          <p:cNvCxnSpPr/>
          <p:nvPr/>
        </p:nvCxnSpPr>
        <p:spPr>
          <a:xfrm>
            <a:off x="9789853" y="2270760"/>
            <a:ext cx="95803" cy="5154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3" name="line32" descr="sci-ppt:C1-E17-032"/>
          <p:cNvCxnSpPr/>
          <p:nvPr/>
        </p:nvCxnSpPr>
        <p:spPr>
          <a:xfrm>
            <a:off x="9885656" y="2322309"/>
            <a:ext cx="92039" cy="5406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4" name="line33" descr="sci-ppt:C1-E17-033"/>
          <p:cNvCxnSpPr/>
          <p:nvPr/>
        </p:nvCxnSpPr>
        <p:spPr>
          <a:xfrm>
            <a:off x="9977695" y="2376373"/>
            <a:ext cx="88069" cy="5657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5" name="line34" descr="sci-ppt:C1-E17-034"/>
          <p:cNvCxnSpPr/>
          <p:nvPr/>
        </p:nvCxnSpPr>
        <p:spPr>
          <a:xfrm>
            <a:off x="10065764" y="2432951"/>
            <a:ext cx="83893" cy="5909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6" name="line35" descr="sci-ppt:C1-E17-035"/>
          <p:cNvCxnSpPr/>
          <p:nvPr/>
        </p:nvCxnSpPr>
        <p:spPr>
          <a:xfrm>
            <a:off x="10149657" y="2492044"/>
            <a:ext cx="79510" cy="6160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7" name="line36" descr="sci-ppt:C1-E17-036"/>
          <p:cNvCxnSpPr/>
          <p:nvPr/>
        </p:nvCxnSpPr>
        <p:spPr>
          <a:xfrm>
            <a:off x="10229167" y="2553652"/>
            <a:ext cx="74920" cy="6412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8" name="line37" descr="sci-ppt:C1-E17-037"/>
          <p:cNvCxnSpPr/>
          <p:nvPr/>
        </p:nvCxnSpPr>
        <p:spPr>
          <a:xfrm>
            <a:off x="10304087" y="2617774"/>
            <a:ext cx="70125" cy="6663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39" name="line38" descr="sci-ppt:C1-E17-038"/>
          <p:cNvCxnSpPr/>
          <p:nvPr/>
        </p:nvCxnSpPr>
        <p:spPr>
          <a:xfrm>
            <a:off x="10374212" y="2684411"/>
            <a:ext cx="65129" cy="6915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0" name="line39" descr="sci-ppt:C1-E17-039"/>
          <p:cNvCxnSpPr/>
          <p:nvPr/>
        </p:nvCxnSpPr>
        <p:spPr>
          <a:xfrm>
            <a:off x="10439341" y="2753563"/>
            <a:ext cx="59939" cy="71666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1" name="line40" descr="sci-ppt:C1-E17-040"/>
          <p:cNvCxnSpPr/>
          <p:nvPr/>
        </p:nvCxnSpPr>
        <p:spPr>
          <a:xfrm>
            <a:off x="10499280" y="2825229"/>
            <a:ext cx="54565" cy="74181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2" name="line41" descr="sci-ppt:C1-E17-041"/>
          <p:cNvCxnSpPr/>
          <p:nvPr/>
        </p:nvCxnSpPr>
        <p:spPr>
          <a:xfrm>
            <a:off x="10553845" y="2899410"/>
            <a:ext cx="49022" cy="76695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3" name="line42" descr="sci-ppt:C1-E17-042"/>
          <p:cNvCxnSpPr/>
          <p:nvPr/>
        </p:nvCxnSpPr>
        <p:spPr>
          <a:xfrm>
            <a:off x="10602867" y="2976105"/>
            <a:ext cx="43334" cy="7921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4" name="line43" descr="sci-ppt:C1-E17-043"/>
          <p:cNvCxnSpPr/>
          <p:nvPr/>
        </p:nvCxnSpPr>
        <p:spPr>
          <a:xfrm>
            <a:off x="10646201" y="3055315"/>
            <a:ext cx="37530" cy="8172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5" name="line44" descr="sci-ppt:C1-E17-044"/>
          <p:cNvCxnSpPr/>
          <p:nvPr/>
        </p:nvCxnSpPr>
        <p:spPr>
          <a:xfrm>
            <a:off x="10683731" y="3137039"/>
            <a:ext cx="31655" cy="8423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6" name="line45" descr="sci-ppt:C1-E17-045"/>
          <p:cNvCxnSpPr/>
          <p:nvPr/>
        </p:nvCxnSpPr>
        <p:spPr>
          <a:xfrm>
            <a:off x="10715386" y="3221278"/>
            <a:ext cx="25767" cy="86754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7" name="line46" descr="sci-ppt:C1-E17-046"/>
          <p:cNvCxnSpPr/>
          <p:nvPr/>
        </p:nvCxnSpPr>
        <p:spPr>
          <a:xfrm>
            <a:off x="10741153" y="3308032"/>
            <a:ext cx="19950" cy="8926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8" name="line47" descr="sci-ppt:C1-E17-047"/>
          <p:cNvCxnSpPr/>
          <p:nvPr/>
        </p:nvCxnSpPr>
        <p:spPr>
          <a:xfrm>
            <a:off x="10761103" y="3397300"/>
            <a:ext cx="14325" cy="91783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49" name="line48" descr="sci-ppt:C1-E17-048"/>
          <p:cNvCxnSpPr/>
          <p:nvPr/>
        </p:nvCxnSpPr>
        <p:spPr>
          <a:xfrm>
            <a:off x="10775428" y="3489083"/>
            <a:ext cx="9063" cy="94298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0" name="line49" descr="sci-ppt:C1-E17-049"/>
          <p:cNvCxnSpPr/>
          <p:nvPr/>
        </p:nvCxnSpPr>
        <p:spPr>
          <a:xfrm>
            <a:off x="10784491" y="3583381"/>
            <a:ext cx="4438" cy="96812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51" name="line50" descr="sci-ppt:C1-E17-050"/>
          <p:cNvCxnSpPr/>
          <p:nvPr/>
        </p:nvCxnSpPr>
        <p:spPr>
          <a:xfrm>
            <a:off x="10788929" y="3680193"/>
            <a:ext cx="991" cy="99327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52" name="text51" descr="sci-ppt:C1-E17-051"/>
          <p:cNvSpPr txBox="1"/>
          <p:nvPr/>
        </p:nvSpPr>
        <p:spPr>
          <a:xfrm>
            <a:off x="7741920" y="103632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Ideal collapse trajectory</a:t>
            </a:r>
          </a:p>
        </p:txBody>
      </p:sp>
      <p:sp>
        <p:nvSpPr>
          <p:cNvPr id="53" name="text52" descr="sci-ppt:C1-E17-052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 ∈ [0,1]</a:t>
            </a:r>
          </a:p>
        </p:txBody>
      </p:sp>
      <p:sp>
        <p:nvSpPr>
          <p:cNvPr id="54" name="text53" descr="sci-ppt:C1-E17-053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dx = q⁻²ᐟ³dq/3</a:t>
            </a:r>
          </a:p>
        </p:txBody>
      </p:sp>
      <p:sp>
        <p:nvSpPr>
          <p:cNvPr id="55" name="text54" descr="sci-ppt:C1-E17-054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B(a,b)</a:t>
            </a:r>
          </a:p>
        </p:txBody>
      </p:sp>
      <p:sp>
        <p:nvSpPr>
          <p:cNvPr id="56" name="text55" descr="sci-ppt:C1-E17-055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 = 1/2</a:t>
            </a:r>
          </a:p>
        </p:txBody>
      </p:sp>
      <p:sp>
        <p:nvSpPr>
          <p:cNvPr id="57" name="text56" descr="sci-ppt:C1-E17-056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 = x³</a:t>
            </a:r>
          </a:p>
        </p:txBody>
      </p:sp>
      <p:sp>
        <p:nvSpPr>
          <p:cNvPr id="58" name="text57" descr="sci-ppt:C1-E17-057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Ct = 0.914681…</a:t>
            </a:r>
          </a:p>
        </p:txBody>
      </p:sp>
      <p:sp>
        <p:nvSpPr>
          <p:cNvPr id="59" name="text58" descr="sci-ppt:C1-E17-058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 = 5/6</a:t>
            </a:r>
          </a:p>
        </p:txBody>
      </p:sp>
      <p:sp>
        <p:nvSpPr>
          <p:cNvPr id="60" name="text59" descr="sci-ppt:C1-E17-059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coefficient comes from the complete radius trajectory, not a material fit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8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C1-E18 | Physical-variable diagram</a:t>
            </a:r>
          </a:p>
        </p:txBody>
      </p:sp>
      <p:sp>
        <p:nvSpPr>
          <p:cNvPr id="3" name="rect2" descr="sci-ppt:C1-E18-002"/>
          <p:cNvSpPr/>
          <p:nvPr/>
        </p:nvSpPr>
        <p:spPr>
          <a:xfrm>
            <a:off x="60960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18-003"/>
          <p:cNvSpPr txBox="1"/>
          <p:nvPr/>
        </p:nvSpPr>
        <p:spPr>
          <a:xfrm>
            <a:off x="73152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Pressure-work budget E_B</a:t>
            </a:r>
          </a:p>
        </p:txBody>
      </p:sp>
      <p:sp>
        <p:nvSpPr>
          <p:cNvPr id="5" name="rect4" descr="sci-ppt:C1-E18-004"/>
          <p:cNvSpPr/>
          <p:nvPr/>
        </p:nvSpPr>
        <p:spPr>
          <a:xfrm>
            <a:off x="4511040" y="2011680"/>
            <a:ext cx="304800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18-005"/>
          <p:cNvSpPr txBox="1"/>
          <p:nvPr/>
        </p:nvSpPr>
        <p:spPr>
          <a:xfrm>
            <a:off x="4632960" y="213360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Liquid kinetic energy K_l</a:t>
            </a:r>
          </a:p>
        </p:txBody>
      </p:sp>
      <p:sp>
        <p:nvSpPr>
          <p:cNvPr id="7" name="rect6" descr="sci-ppt:C1-E18-006"/>
          <p:cNvSpPr/>
          <p:nvPr/>
        </p:nvSpPr>
        <p:spPr>
          <a:xfrm>
            <a:off x="8412480" y="2011680"/>
            <a:ext cx="2926080" cy="128016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1-E18-007"/>
          <p:cNvSpPr txBox="1"/>
          <p:nvPr/>
        </p:nvSpPr>
        <p:spPr>
          <a:xfrm>
            <a:off x="8534400" y="2133600"/>
            <a:ext cx="2743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Remaining volume potential</a:t>
            </a:r>
          </a:p>
        </p:txBody>
      </p:sp>
      <p:cxnSp>
        <p:nvCxnSpPr>
          <p:cNvPr id="9" name="arrow8" descr="sci-ppt:C1-E18-008"/>
          <p:cNvCxnSpPr/>
          <p:nvPr/>
        </p:nvCxnSpPr>
        <p:spPr>
          <a:xfrm>
            <a:off x="3718560" y="2621280"/>
            <a:ext cx="6705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8-009"/>
          <p:cNvSpPr txBox="1"/>
          <p:nvPr/>
        </p:nvSpPr>
        <p:spPr>
          <a:xfrm>
            <a:off x="1219200" y="3901440"/>
            <a:ext cx="103632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K_l / E_B = 1 - (R/R_max)^3; ideal loss-free control.</a:t>
            </a:r>
          </a:p>
        </p:txBody>
      </p:sp>
      <p:sp>
        <p:nvSpPr>
          <p:cNvPr id="11" name="text10" descr="sci-ppt:C1-E18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Kl(R)</a:t>
            </a:r>
          </a:p>
        </p:txBody>
      </p:sp>
      <p:sp>
        <p:nvSpPr>
          <p:cNvPr id="12" name="text11" descr="sci-ppt:C1-E18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13" name="text12" descr="sci-ppt:C1-E18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14" name="text13" descr="sci-ppt:C1-E18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5" name="text14" descr="sci-ppt:C1-E18-014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EB</a:t>
            </a:r>
          </a:p>
        </p:txBody>
      </p:sp>
      <p:sp>
        <p:nvSpPr>
          <p:cNvPr id="16" name="text15" descr="sci-ppt:C1-E18-015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Vmax</a:t>
            </a:r>
          </a:p>
        </p:txBody>
      </p:sp>
      <p:sp>
        <p:nvSpPr>
          <p:cNvPr id="17" name="text16" descr="sci-ppt:C1-E18-016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8" name="text17" descr="sci-ppt:C1-E18-017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Kl/EB = 1 − (R/Rmax)³</a:t>
            </a:r>
          </a:p>
        </p:txBody>
      </p:sp>
      <p:sp>
        <p:nvSpPr>
          <p:cNvPr id="19" name="text18" descr="sci-ppt:C1-E18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Finite energy survives the excluded zero-radius speed singularity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19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C1-E19 | Physical-variable diagram</a:t>
            </a:r>
          </a:p>
        </p:txBody>
      </p:sp>
      <p:sp>
        <p:nvSpPr>
          <p:cNvPr id="3" name="ellipse2" descr="sci-ppt:C1-E19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19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19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19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19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19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19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19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19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19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19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19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19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19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 = 30 μm</a:t>
            </a:r>
          </a:p>
        </p:txBody>
      </p:sp>
      <p:sp>
        <p:nvSpPr>
          <p:cNvPr id="17" name="text16" descr="sci-ppt:C1-E19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 = 1000 kg/m³</a:t>
            </a:r>
          </a:p>
        </p:txBody>
      </p:sp>
      <p:sp>
        <p:nvSpPr>
          <p:cNvPr id="18" name="text17" descr="sci-ppt:C1-E19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tc = 2.74404 μs</a:t>
            </a:r>
          </a:p>
        </p:txBody>
      </p:sp>
      <p:sp>
        <p:nvSpPr>
          <p:cNvPr id="19" name="text18" descr="sci-ppt:C1-E19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= −21.6025 m/s</a:t>
            </a:r>
          </a:p>
        </p:txBody>
      </p:sp>
      <p:sp>
        <p:nvSpPr>
          <p:cNvPr id="20" name="text19" descr="sci-ppt:C1-E19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= 15 μm</a:t>
            </a:r>
          </a:p>
        </p:txBody>
      </p:sp>
      <p:sp>
        <p:nvSpPr>
          <p:cNvPr id="21" name="text20" descr="sci-ppt:C1-E19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 = 100 kPa</a:t>
            </a:r>
          </a:p>
        </p:txBody>
      </p:sp>
      <p:sp>
        <p:nvSpPr>
          <p:cNvPr id="22" name="text21" descr="sci-ppt:C1-E19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EB = 11.3097 nJ</a:t>
            </a:r>
          </a:p>
        </p:txBody>
      </p:sp>
      <p:sp>
        <p:nvSpPr>
          <p:cNvPr id="23" name="text22" descr="sci-ppt:C1-E19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 = 9.89602 nJ</a:t>
            </a:r>
          </a:p>
        </p:txBody>
      </p:sp>
      <p:sp>
        <p:nvSpPr>
          <p:cNvPr id="24" name="text23" descr="sci-ppt:C1-E19-023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These values are a spherical control, not a PFC performance prediction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0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C1-E20 | Physical-variable diagram</a:t>
            </a:r>
          </a:p>
        </p:txBody>
      </p:sp>
      <p:sp>
        <p:nvSpPr>
          <p:cNvPr id="3" name="rect2" descr="sci-ppt:C1-E20-002"/>
          <p:cNvSpPr/>
          <p:nvPr/>
        </p:nvSpPr>
        <p:spPr>
          <a:xfrm>
            <a:off x="1219200" y="1828800"/>
            <a:ext cx="365760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20-003"/>
          <p:cNvSpPr txBox="1"/>
          <p:nvPr/>
        </p:nvSpPr>
        <p:spPr>
          <a:xfrm>
            <a:off x="1341120" y="1950720"/>
            <a:ext cx="3474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Wall speed / sound speed</a:t>
            </a:r>
          </a:p>
        </p:txBody>
      </p:sp>
      <p:sp>
        <p:nvSpPr>
          <p:cNvPr id="5" name="rect4" descr="sci-ppt:C1-E20-004"/>
          <p:cNvSpPr/>
          <p:nvPr/>
        </p:nvSpPr>
        <p:spPr>
          <a:xfrm>
            <a:off x="6949440" y="1828800"/>
            <a:ext cx="365760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20-005"/>
          <p:cNvSpPr txBox="1"/>
          <p:nvPr/>
        </p:nvSpPr>
        <p:spPr>
          <a:xfrm>
            <a:off x="7071360" y="1950720"/>
            <a:ext cx="3474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Propagation / event time</a:t>
            </a:r>
          </a:p>
        </p:txBody>
      </p:sp>
      <p:cxnSp>
        <p:nvCxnSpPr>
          <p:cNvPr id="7" name="arrow6" descr="sci-ppt:C1-E20-006"/>
          <p:cNvCxnSpPr/>
          <p:nvPr/>
        </p:nvCxnSpPr>
        <p:spPr>
          <a:xfrm>
            <a:off x="4937760" y="2414016"/>
            <a:ext cx="18897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1-E20-007"/>
          <p:cNvSpPr txBox="1"/>
          <p:nvPr/>
        </p:nvSpPr>
        <p:spPr>
          <a:xfrm>
            <a:off x="1463040" y="3657600"/>
            <a:ext cx="963168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Check both motion and pressure communication.</a:t>
            </a:r>
          </a:p>
        </p:txBody>
      </p:sp>
      <p:sp>
        <p:nvSpPr>
          <p:cNvPr id="9" name="text8" descr="sci-ppt:C1-E20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Mw = |Ṙ|/c</a:t>
            </a:r>
          </a:p>
        </p:txBody>
      </p:sp>
      <p:sp>
        <p:nvSpPr>
          <p:cNvPr id="10" name="text9" descr="sci-ppt:C1-E20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 = 1500 m/s</a:t>
            </a:r>
          </a:p>
        </p:txBody>
      </p:sp>
      <p:sp>
        <p:nvSpPr>
          <p:cNvPr id="11" name="text10" descr="sci-ppt:C1-E20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xM = RM/Rmax</a:t>
            </a:r>
          </a:p>
        </p:txBody>
      </p:sp>
      <p:sp>
        <p:nvSpPr>
          <p:cNvPr id="12" name="text11" descr="sci-ppt:C1-E20-01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13" name="text12" descr="sci-ppt:C1-E20-012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4" name="text13" descr="sci-ppt:C1-E20-013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M* = 0.1</a:t>
            </a:r>
          </a:p>
        </p:txBody>
      </p:sp>
      <p:sp>
        <p:nvSpPr>
          <p:cNvPr id="15" name="text14" descr="sci-ppt:C1-E20-014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6" name="text15" descr="sci-ppt:C1-E20-015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 ≈ 4.305 μm</a:t>
            </a:r>
          </a:p>
        </p:txBody>
      </p:sp>
      <p:sp>
        <p:nvSpPr>
          <p:cNvPr id="17" name="text16" descr="sci-ppt:C1-E20-016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selected threshold flags omitted physics; it does not stop a real cavity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1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C1-E21 | Physical-variable diagram</a:t>
            </a:r>
          </a:p>
        </p:txBody>
      </p:sp>
      <p:cxnSp>
        <p:nvCxnSpPr>
          <p:cNvPr id="3" name="arrow2" descr="sci-ppt:C1-E21-002"/>
          <p:cNvCxnSpPr/>
          <p:nvPr/>
        </p:nvCxnSpPr>
        <p:spPr>
          <a:xfrm>
            <a:off x="1950720" y="3962399"/>
            <a:ext cx="79248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" name="arrow3" descr="sci-ppt:C1-E21-003"/>
          <p:cNvCxnSpPr/>
          <p:nvPr/>
        </p:nvCxnSpPr>
        <p:spPr>
          <a:xfrm flipV="1">
            <a:off x="1950720" y="1402080"/>
            <a:ext cx="0" cy="2560319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21-004"/>
          <p:cNvSpPr txBox="1"/>
          <p:nvPr/>
        </p:nvSpPr>
        <p:spPr>
          <a:xfrm>
            <a:off x="8900160" y="4084320"/>
            <a:ext cx="18288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6" name="text5" descr="sci-ppt:C1-E21-005"/>
          <p:cNvSpPr txBox="1"/>
          <p:nvPr/>
        </p:nvSpPr>
        <p:spPr>
          <a:xfrm>
            <a:off x="1828800" y="1036320"/>
            <a:ext cx="365760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 - p_ref</a:t>
            </a:r>
          </a:p>
        </p:txBody>
      </p:sp>
      <p:cxnSp>
        <p:nvCxnSpPr>
          <p:cNvPr id="7" name="line6" descr="sci-ppt:C1-E21-006"/>
          <p:cNvCxnSpPr/>
          <p:nvPr/>
        </p:nvCxnSpPr>
        <p:spPr>
          <a:xfrm>
            <a:off x="1950720" y="3962399"/>
            <a:ext cx="1158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8" name="line7" descr="sci-ppt:C1-E21-007"/>
          <p:cNvCxnSpPr/>
          <p:nvPr/>
        </p:nvCxnSpPr>
        <p:spPr>
          <a:xfrm flipV="1">
            <a:off x="3108960" y="1950720"/>
            <a:ext cx="0" cy="20116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9" name="line8" descr="sci-ppt:C1-E21-008"/>
          <p:cNvCxnSpPr/>
          <p:nvPr/>
        </p:nvCxnSpPr>
        <p:spPr>
          <a:xfrm>
            <a:off x="3108960" y="1950720"/>
            <a:ext cx="31089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0" name="line9" descr="sci-ppt:C1-E21-009"/>
          <p:cNvCxnSpPr/>
          <p:nvPr/>
        </p:nvCxnSpPr>
        <p:spPr>
          <a:xfrm>
            <a:off x="6217920" y="1950720"/>
            <a:ext cx="0" cy="2011679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11" name="line10" descr="sci-ppt:C1-E21-010"/>
          <p:cNvCxnSpPr/>
          <p:nvPr/>
        </p:nvCxnSpPr>
        <p:spPr>
          <a:xfrm>
            <a:off x="6217920" y="3962399"/>
            <a:ext cx="365760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12" name="rect11" descr="sci-ppt:C1-E21-011"/>
          <p:cNvSpPr/>
          <p:nvPr/>
        </p:nvSpPr>
        <p:spPr>
          <a:xfrm>
            <a:off x="3121152" y="1975104"/>
            <a:ext cx="3072384" cy="1950720"/>
          </a:xfrm>
          <a:prstGeom prst="rect">
            <a:avLst/>
          </a:prstGeom>
          <a:solidFill>
            <a:srgbClr val="213E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12" descr="sci-ppt:C1-E21-012"/>
          <p:cNvSpPr txBox="1"/>
          <p:nvPr/>
        </p:nvSpPr>
        <p:spPr>
          <a:xfrm>
            <a:off x="3596640" y="2560320"/>
            <a:ext cx="390144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Area = Π(x)</a:t>
            </a:r>
          </a:p>
        </p:txBody>
      </p:sp>
      <p:sp>
        <p:nvSpPr>
          <p:cNvPr id="14" name="text13" descr="sci-ppt:C1-E21-013"/>
          <p:cNvSpPr txBox="1"/>
          <p:nvPr/>
        </p:nvSpPr>
        <p:spPr>
          <a:xfrm>
            <a:off x="2926080" y="4084320"/>
            <a:ext cx="9753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t0</a:t>
            </a:r>
          </a:p>
        </p:txBody>
      </p:sp>
      <p:sp>
        <p:nvSpPr>
          <p:cNvPr id="15" name="text14" descr="sci-ppt:C1-E21-014"/>
          <p:cNvSpPr txBox="1"/>
          <p:nvPr/>
        </p:nvSpPr>
        <p:spPr>
          <a:xfrm>
            <a:off x="6035040" y="4084320"/>
            <a:ext cx="9753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t1</a:t>
            </a:r>
          </a:p>
        </p:txBody>
      </p:sp>
      <p:sp>
        <p:nvSpPr>
          <p:cNvPr id="16" name="text15" descr="sci-ppt:C1-E21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Π(x)</a:t>
            </a:r>
          </a:p>
        </p:txBody>
      </p:sp>
      <p:sp>
        <p:nvSpPr>
          <p:cNvPr id="17" name="text16" descr="sci-ppt:C1-E21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x: position</a:t>
            </a:r>
          </a:p>
        </p:txBody>
      </p:sp>
      <p:sp>
        <p:nvSpPr>
          <p:cNvPr id="18" name="text17" descr="sci-ppt:C1-E21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t₁</a:t>
            </a:r>
          </a:p>
        </p:txBody>
      </p:sp>
      <p:sp>
        <p:nvSpPr>
          <p:cNvPr id="19" name="text18" descr="sci-ppt:C1-E21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Pa s</a:t>
            </a:r>
          </a:p>
        </p:txBody>
      </p:sp>
      <p:sp>
        <p:nvSpPr>
          <p:cNvPr id="20" name="text19" descr="sci-ppt:C1-E21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p(x,t) − pref(t)</a:t>
            </a:r>
          </a:p>
        </p:txBody>
      </p:sp>
      <p:sp>
        <p:nvSpPr>
          <p:cNvPr id="21" name="text20" descr="sci-ppt:C1-E21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t₀</a:t>
            </a:r>
          </a:p>
        </p:txBody>
      </p:sp>
      <p:sp>
        <p:nvSpPr>
          <p:cNvPr id="22" name="text21" descr="sci-ppt:C1-E21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 = t₁ − t₀</a:t>
            </a:r>
          </a:p>
        </p:txBody>
      </p:sp>
      <p:sp>
        <p:nvSpPr>
          <p:cNvPr id="23" name="text22" descr="sci-ppt:C1-E21-022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Shade the time integral of pressure at a selected position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C1-E22 | Physical-variable diagram</a:t>
            </a:r>
          </a:p>
        </p:txBody>
      </p:sp>
      <p:sp>
        <p:nvSpPr>
          <p:cNvPr id="3" name="rect2" descr="sci-ppt:C1-E22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22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22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22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22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22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22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22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22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Δu</a:t>
            </a:r>
          </a:p>
        </p:txBody>
      </p:sp>
      <p:sp>
        <p:nvSpPr>
          <p:cNvPr id="12" name="text11" descr="sci-ppt:C1-E22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u(x,t)</a:t>
            </a:r>
          </a:p>
        </p:txBody>
      </p:sp>
      <p:sp>
        <p:nvSpPr>
          <p:cNvPr id="13" name="text12" descr="sci-ppt:C1-E22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</a:t>
            </a:r>
          </a:p>
        </p:txBody>
      </p:sp>
      <p:sp>
        <p:nvSpPr>
          <p:cNvPr id="14" name="text13" descr="sci-ppt:C1-E22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t₀ → t₁</a:t>
            </a:r>
          </a:p>
        </p:txBody>
      </p:sp>
      <p:sp>
        <p:nvSpPr>
          <p:cNvPr id="15" name="text14" descr="sci-ppt:C1-E22-014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Viscous impulse</a:t>
            </a:r>
          </a:p>
        </p:txBody>
      </p:sp>
      <p:sp>
        <p:nvSpPr>
          <p:cNvPr id="16" name="text15" descr="sci-ppt:C1-E22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−∇Π/ρ</a:t>
            </a:r>
          </a:p>
        </p:txBody>
      </p:sp>
      <p:sp>
        <p:nvSpPr>
          <p:cNvPr id="17" name="text16" descr="sci-ppt:C1-E22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8" name="text17" descr="sci-ppt:C1-E22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ν = μ/ρ</a:t>
            </a:r>
          </a:p>
        </p:txBody>
      </p:sp>
      <p:sp>
        <p:nvSpPr>
          <p:cNvPr id="19" name="text18" descr="sci-ppt:C1-E22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Convective impulse</a:t>
            </a:r>
          </a:p>
        </p:txBody>
      </p:sp>
      <p:sp>
        <p:nvSpPr>
          <p:cNvPr id="20" name="text19" descr="sci-ppt:C1-E22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Pressure-gradient impulse shares momentum change with two residual terms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C1-E23 | Physical-variable diagram</a:t>
            </a:r>
          </a:p>
        </p:txBody>
      </p:sp>
      <p:sp>
        <p:nvSpPr>
          <p:cNvPr id="3" name="rect2" descr="sci-ppt:C1-E23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23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23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23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23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23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23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23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23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</a:t>
            </a:r>
          </a:p>
        </p:txBody>
      </p:sp>
      <p:sp>
        <p:nvSpPr>
          <p:cNvPr id="12" name="text11" descr="sci-ppt:C1-E23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</a:t>
            </a:r>
          </a:p>
        </p:txBody>
      </p:sp>
      <p:sp>
        <p:nvSpPr>
          <p:cNvPr id="13" name="text12" descr="sci-ppt:C1-E23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Π(x)</a:t>
            </a:r>
          </a:p>
        </p:txBody>
      </p:sp>
      <p:sp>
        <p:nvSpPr>
          <p:cNvPr id="14" name="text13" descr="sci-ppt:C1-E23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∇²Π = 0</a:t>
            </a:r>
          </a:p>
        </p:txBody>
      </p:sp>
      <p:sp>
        <p:nvSpPr>
          <p:cNvPr id="15" name="text14" descr="sci-ppt:C1-E23-014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</a:t>
            </a:r>
          </a:p>
        </p:txBody>
      </p:sp>
      <p:sp>
        <p:nvSpPr>
          <p:cNvPr id="16" name="text15" descr="sci-ppt:C1-E23-015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ν</a:t>
            </a:r>
          </a:p>
        </p:txBody>
      </p:sp>
      <p:sp>
        <p:nvSpPr>
          <p:cNvPr id="17" name="text16" descr="sci-ppt:C1-E23-016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Δu ≈ −∇Π/ρ</a:t>
            </a:r>
          </a:p>
        </p:txBody>
      </p:sp>
      <p:sp>
        <p:nvSpPr>
          <p:cNvPr id="18" name="text17" descr="sci-ppt:C1-E23-017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9" name="text18" descr="sci-ppt:C1-E23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Freeze the domain only while displacement and residual impulses remain small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4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C1-E24 | Physical-variable diagram</a:t>
            </a:r>
          </a:p>
        </p:txBody>
      </p:sp>
      <p:sp>
        <p:nvSpPr>
          <p:cNvPr id="3" name="rect2" descr="sci-ppt:C1-E24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24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24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24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24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24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24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24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24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z = 0: Π₀</a:t>
            </a:r>
          </a:p>
        </p:txBody>
      </p:sp>
      <p:sp>
        <p:nvSpPr>
          <p:cNvPr id="12" name="text11" descr="sci-ppt:C1-E24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</a:t>
            </a:r>
          </a:p>
        </p:txBody>
      </p:sp>
      <p:sp>
        <p:nvSpPr>
          <p:cNvPr id="13" name="text12" descr="sci-ppt:C1-E24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A₀ = Π₀</a:t>
            </a:r>
          </a:p>
        </p:txBody>
      </p:sp>
      <p:sp>
        <p:nvSpPr>
          <p:cNvPr id="14" name="text13" descr="sci-ppt:C1-E24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5" name="text14" descr="sci-ppt:C1-E24-014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z = L: Π = 0</a:t>
            </a:r>
          </a:p>
        </p:txBody>
      </p:sp>
      <p:sp>
        <p:nvSpPr>
          <p:cNvPr id="16" name="text15" descr="sci-ppt:C1-E24-015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Π(z)</a:t>
            </a:r>
          </a:p>
        </p:txBody>
      </p:sp>
      <p:sp>
        <p:nvSpPr>
          <p:cNvPr id="17" name="text16" descr="sci-ppt:C1-E24-016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A₁ = −Π₀/L</a:t>
            </a:r>
          </a:p>
        </p:txBody>
      </p:sp>
      <p:sp>
        <p:nvSpPr>
          <p:cNvPr id="18" name="text17" descr="sci-ppt:C1-E24-017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Δuz → outlet</a:t>
            </a:r>
          </a:p>
        </p:txBody>
      </p:sp>
      <p:sp>
        <p:nvSpPr>
          <p:cNvPr id="19" name="text18" descr="sci-ppt:C1-E24-018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fixed side walls do not change normal velocity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5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C1-E25 | Physical-variable diagram</a:t>
            </a:r>
          </a:p>
        </p:txBody>
      </p:sp>
      <p:sp>
        <p:nvSpPr>
          <p:cNvPr id="3" name="rect2" descr="sci-ppt:C1-E25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25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25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25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25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25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25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25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25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 = 0.60 MPa</a:t>
            </a:r>
          </a:p>
        </p:txBody>
      </p:sp>
      <p:sp>
        <p:nvSpPr>
          <p:cNvPr id="12" name="text11" descr="sci-ppt:C1-E25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Π₀ = 0.30 Pa s</a:t>
            </a:r>
          </a:p>
        </p:txBody>
      </p:sp>
      <p:sp>
        <p:nvSpPr>
          <p:cNvPr id="13" name="text12" descr="sci-ppt:C1-E25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 = 100 μm</a:t>
            </a:r>
          </a:p>
        </p:txBody>
      </p:sp>
      <p:sp>
        <p:nvSpPr>
          <p:cNvPr id="14" name="text13" descr="sci-ppt:C1-E25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</a:t>
            </a:r>
          </a:p>
        </p:txBody>
      </p:sp>
      <p:sp>
        <p:nvSpPr>
          <p:cNvPr id="15" name="text14" descr="sci-ppt:C1-E25-014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ν</a:t>
            </a:r>
          </a:p>
        </p:txBody>
      </p:sp>
      <p:sp>
        <p:nvSpPr>
          <p:cNvPr id="16" name="text15" descr="sci-ppt:C1-E25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 = 0.50 μs</a:t>
            </a:r>
          </a:p>
        </p:txBody>
      </p:sp>
      <p:sp>
        <p:nvSpPr>
          <p:cNvPr id="17" name="text16" descr="sci-ppt:C1-E25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8" name="text17" descr="sci-ppt:C1-E25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 = 3.0 m/s</a:t>
            </a:r>
          </a:p>
        </p:txBody>
      </p:sp>
      <p:sp>
        <p:nvSpPr>
          <p:cNvPr id="19" name="text18" descr="sci-ppt:C1-E25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ta = L/c</a:t>
            </a:r>
          </a:p>
        </p:txBody>
      </p:sp>
      <p:sp>
        <p:nvSpPr>
          <p:cNvPr id="20" name="text19" descr="sci-ppt:C1-E25-019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Small bulk residual scales support the ideal column approximation</a:t>
            </a:r>
          </a:p>
        </p:txBody>
      </p:sp>
      <p:sp>
        <p:nvSpPr>
          <p:cNvPr id="21" name="text20" descr="sci-ppt:C1-E25-020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Many sound crossings are not a guarantee of correct pressure geometry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C1-E26 | Physical-variable diagram</a:t>
            </a:r>
          </a:p>
        </p:txBody>
      </p:sp>
      <p:sp>
        <p:nvSpPr>
          <p:cNvPr id="3" name="ellipse2" descr="sci-ppt:C1-E26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26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26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26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26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26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26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26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26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26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26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line13" descr="sci-ppt:C1-E26-013"/>
          <p:cNvCxnSpPr/>
          <p:nvPr/>
        </p:nvCxnSpPr>
        <p:spPr>
          <a:xfrm>
            <a:off x="975360" y="1158240"/>
            <a:ext cx="0" cy="298704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15" name="line14" descr="sci-ppt:C1-E26-014"/>
          <p:cNvCxnSpPr/>
          <p:nvPr/>
        </p:nvCxnSpPr>
        <p:spPr>
          <a:xfrm>
            <a:off x="975360" y="1219200"/>
            <a:ext cx="231648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16" name="text15" descr="sci-ppt:C1-E26-015"/>
          <p:cNvSpPr txBox="1"/>
          <p:nvPr/>
        </p:nvSpPr>
        <p:spPr>
          <a:xfrm>
            <a:off x="1584960" y="853440"/>
            <a:ext cx="14630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h</a:t>
            </a:r>
          </a:p>
        </p:txBody>
      </p:sp>
      <p:cxnSp>
        <p:nvCxnSpPr>
          <p:cNvPr id="17" name="arrow16" descr="sci-ppt:C1-E26-016"/>
          <p:cNvCxnSpPr/>
          <p:nvPr/>
        </p:nvCxnSpPr>
        <p:spPr>
          <a:xfrm>
            <a:off x="1645920" y="2621280"/>
            <a:ext cx="4267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text17" descr="sci-ppt:C1-E26-017"/>
          <p:cNvSpPr txBox="1"/>
          <p:nvPr/>
        </p:nvSpPr>
        <p:spPr>
          <a:xfrm>
            <a:off x="5852160" y="3291840"/>
            <a:ext cx="585216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Boundary type must be specified.</a:t>
            </a:r>
          </a:p>
        </p:txBody>
      </p:sp>
      <p:sp>
        <p:nvSpPr>
          <p:cNvPr id="19" name="text18" descr="sci-ppt:C1-E26-01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h: center to boundary</a:t>
            </a:r>
          </a:p>
        </p:txBody>
      </p:sp>
      <p:sp>
        <p:nvSpPr>
          <p:cNvPr id="20" name="text19" descr="sci-ppt:C1-E26-01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γ = h/Rmax</a:t>
            </a:r>
          </a:p>
        </p:txBody>
      </p:sp>
      <p:sp>
        <p:nvSpPr>
          <p:cNvPr id="21" name="text20" descr="sci-ppt:C1-E26-02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S²</a:t>
            </a:r>
          </a:p>
        </p:txBody>
      </p:sp>
      <p:sp>
        <p:nvSpPr>
          <p:cNvPr id="22" name="text21" descr="sci-ppt:C1-E26-02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Opposite directions cancel</a:t>
            </a:r>
          </a:p>
        </p:txBody>
      </p:sp>
      <p:sp>
        <p:nvSpPr>
          <p:cNvPr id="23" name="text22" descr="sci-ppt:C1-E26-022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24" name="text23" descr="sci-ppt:C1-E26-023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er</a:t>
            </a:r>
          </a:p>
        </p:txBody>
      </p:sp>
      <p:sp>
        <p:nvSpPr>
          <p:cNvPr id="25" name="text24" descr="sci-ppt:C1-E26-024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dΩ</a:t>
            </a:r>
          </a:p>
        </p:txBody>
      </p:sp>
      <p:sp>
        <p:nvSpPr>
          <p:cNvPr id="26" name="text25" descr="sci-ppt:C1-E26-025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relevant boundary type and curvature must also be specified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C1-E27 | Physical-variable diagram</a:t>
            </a:r>
          </a:p>
        </p:txBody>
      </p:sp>
      <p:sp>
        <p:nvSpPr>
          <p:cNvPr id="3" name="rect2" descr="sci-ppt:C1-E27-002"/>
          <p:cNvSpPr/>
          <p:nvPr/>
        </p:nvSpPr>
        <p:spPr>
          <a:xfrm>
            <a:off x="1341120" y="1524000"/>
            <a:ext cx="9144000" cy="243840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27-003"/>
          <p:cNvSpPr/>
          <p:nvPr/>
        </p:nvSpPr>
        <p:spPr>
          <a:xfrm>
            <a:off x="2682240" y="1950720"/>
            <a:ext cx="1584960" cy="158496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27-004"/>
          <p:cNvCxnSpPr/>
          <p:nvPr/>
        </p:nvCxnSpPr>
        <p:spPr>
          <a:xfrm>
            <a:off x="4267200" y="2743200"/>
            <a:ext cx="40233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27-005"/>
          <p:cNvSpPr txBox="1"/>
          <p:nvPr/>
        </p:nvSpPr>
        <p:spPr>
          <a:xfrm>
            <a:off x="5120640" y="2072640"/>
            <a:ext cx="536448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Liquid u(x,t), p(x,t)</a:t>
            </a:r>
          </a:p>
        </p:txBody>
      </p:sp>
      <p:sp>
        <p:nvSpPr>
          <p:cNvPr id="7" name="text6" descr="sci-ppt:C1-E27-006"/>
          <p:cNvSpPr txBox="1"/>
          <p:nvPr/>
        </p:nvSpPr>
        <p:spPr>
          <a:xfrm>
            <a:off x="7680960" y="3413760"/>
            <a:ext cx="195072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Outlet</a:t>
            </a:r>
          </a:p>
        </p:txBody>
      </p:sp>
      <p:sp>
        <p:nvSpPr>
          <p:cNvPr id="8" name="text7" descr="sci-ppt:C1-E27-007"/>
          <p:cNvSpPr txBox="1"/>
          <p:nvPr/>
        </p:nvSpPr>
        <p:spPr>
          <a:xfrm>
            <a:off x="1584960" y="4206240"/>
            <a:ext cx="9753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Moving interface Gamma; spatial field required.</a:t>
            </a:r>
          </a:p>
        </p:txBody>
      </p:sp>
      <p:sp>
        <p:nvSpPr>
          <p:cNvPr id="9" name="text8" descr="sci-ppt:C1-E27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Liquid domain x</a:t>
            </a:r>
          </a:p>
        </p:txBody>
      </p:sp>
      <p:sp>
        <p:nvSpPr>
          <p:cNvPr id="10" name="text9" descr="sci-ppt:C1-E27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p(x,t)</a:t>
            </a:r>
          </a:p>
        </p:txBody>
      </p:sp>
      <p:sp>
        <p:nvSpPr>
          <p:cNvPr id="11" name="text10" descr="sci-ppt:C1-E27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</a:t>
            </a:r>
          </a:p>
        </p:txBody>
      </p:sp>
      <p:sp>
        <p:nvSpPr>
          <p:cNvPr id="12" name="text11" descr="sci-ppt:C1-E27-01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Moving Γ</a:t>
            </a:r>
          </a:p>
        </p:txBody>
      </p:sp>
      <p:sp>
        <p:nvSpPr>
          <p:cNvPr id="13" name="text12" descr="sci-ppt:C1-E27-012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u(x,t)</a:t>
            </a:r>
          </a:p>
        </p:txBody>
      </p:sp>
      <p:sp>
        <p:nvSpPr>
          <p:cNvPr id="14" name="text13" descr="sci-ppt:C1-E27-013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5" name="text14" descr="sci-ppt:C1-E27-014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6" name="text15" descr="sci-ppt:C1-E27-015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Outlet and wall</a:t>
            </a:r>
          </a:p>
        </p:txBody>
      </p:sp>
      <p:sp>
        <p:nvSpPr>
          <p:cNvPr id="17" name="text16" descr="sci-ppt:C1-E27-016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Resolve the spatial velocity and pressure, not only one radius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8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C1-E28 | Physical-variable diagram</a:t>
            </a:r>
          </a:p>
        </p:txBody>
      </p:sp>
      <p:sp>
        <p:nvSpPr>
          <p:cNvPr id="3" name="rect2" descr="sci-ppt:C1-E28-002"/>
          <p:cNvSpPr/>
          <p:nvPr/>
        </p:nvSpPr>
        <p:spPr>
          <a:xfrm>
            <a:off x="1341120" y="1524000"/>
            <a:ext cx="9144000" cy="243840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28-003"/>
          <p:cNvSpPr/>
          <p:nvPr/>
        </p:nvSpPr>
        <p:spPr>
          <a:xfrm>
            <a:off x="2682240" y="1950720"/>
            <a:ext cx="1584960" cy="158496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28-004"/>
          <p:cNvCxnSpPr/>
          <p:nvPr/>
        </p:nvCxnSpPr>
        <p:spPr>
          <a:xfrm>
            <a:off x="4267200" y="2743200"/>
            <a:ext cx="40233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28-005"/>
          <p:cNvSpPr txBox="1"/>
          <p:nvPr/>
        </p:nvSpPr>
        <p:spPr>
          <a:xfrm>
            <a:off x="6461760" y="1645920"/>
            <a:ext cx="536448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Liquid u(x,t), p(x,t)</a:t>
            </a:r>
          </a:p>
        </p:txBody>
      </p:sp>
      <p:sp>
        <p:nvSpPr>
          <p:cNvPr id="7" name="text6" descr="sci-ppt:C1-E28-006"/>
          <p:cNvSpPr txBox="1"/>
          <p:nvPr/>
        </p:nvSpPr>
        <p:spPr>
          <a:xfrm>
            <a:off x="7680960" y="3413760"/>
            <a:ext cx="195072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Outlet</a:t>
            </a:r>
          </a:p>
        </p:txBody>
      </p:sp>
      <p:cxnSp>
        <p:nvCxnSpPr>
          <p:cNvPr id="8" name="arrow7" descr="sci-ppt:C1-E28-007"/>
          <p:cNvCxnSpPr/>
          <p:nvPr/>
        </p:nvCxnSpPr>
        <p:spPr>
          <a:xfrm flipH="1">
            <a:off x="3718560" y="274320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text8" descr="sci-ppt:C1-E28-008"/>
          <p:cNvSpPr txBox="1"/>
          <p:nvPr/>
        </p:nvSpPr>
        <p:spPr>
          <a:xfrm>
            <a:off x="4023360" y="3048000"/>
            <a:ext cx="39014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n: liquid → gas</a:t>
            </a:r>
          </a:p>
        </p:txBody>
      </p:sp>
      <p:cxnSp>
        <p:nvCxnSpPr>
          <p:cNvPr id="10" name="arrow9" descr="sci-ppt:C1-E28-009"/>
          <p:cNvCxnSpPr/>
          <p:nvPr/>
        </p:nvCxnSpPr>
        <p:spPr>
          <a:xfrm flipV="1">
            <a:off x="4267200" y="2072640"/>
            <a:ext cx="0" cy="6705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1-E28-010"/>
          <p:cNvSpPr txBox="1"/>
          <p:nvPr/>
        </p:nvSpPr>
        <p:spPr>
          <a:xfrm>
            <a:off x="4389120" y="2133600"/>
            <a:ext cx="2438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s: tangent</a:t>
            </a:r>
          </a:p>
        </p:txBody>
      </p:sp>
      <p:sp>
        <p:nvSpPr>
          <p:cNvPr id="12" name="text11" descr="sci-ppt:C1-E28-011"/>
          <p:cNvSpPr txBox="1"/>
          <p:nvPr/>
        </p:nvSpPr>
        <p:spPr>
          <a:xfrm>
            <a:off x="1584960" y="4206240"/>
            <a:ext cx="9753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Moving interface Gamma; spatial field required.</a:t>
            </a:r>
          </a:p>
        </p:txBody>
      </p:sp>
      <p:sp>
        <p:nvSpPr>
          <p:cNvPr id="13" name="text12" descr="sci-ppt:C1-E28-012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Γ: liquid–gas interface</a:t>
            </a:r>
          </a:p>
        </p:txBody>
      </p:sp>
      <p:sp>
        <p:nvSpPr>
          <p:cNvPr id="14" name="text13" descr="sci-ppt:C1-E28-013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tangent</a:t>
            </a:r>
          </a:p>
        </p:txBody>
      </p:sp>
      <p:sp>
        <p:nvSpPr>
          <p:cNvPr id="15" name="text14" descr="sci-ppt:C1-E28-014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</a:t>
            </a:r>
          </a:p>
        </p:txBody>
      </p:sp>
      <p:sp>
        <p:nvSpPr>
          <p:cNvPr id="16" name="text15" descr="sci-ppt:C1-E28-015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pl</a:t>
            </a:r>
          </a:p>
        </p:txBody>
      </p:sp>
      <p:sp>
        <p:nvSpPr>
          <p:cNvPr id="17" name="text16" descr="sci-ppt:C1-E28-016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σκ</a:t>
            </a:r>
          </a:p>
        </p:txBody>
      </p:sp>
      <p:sp>
        <p:nvSpPr>
          <p:cNvPr id="18" name="text17" descr="sci-ppt:C1-E28-017"/>
          <p:cNvSpPr txBox="1"/>
          <p:nvPr/>
        </p:nvSpPr>
        <p:spPr>
          <a:xfrm>
            <a:off x="365760" y="643737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κsphere = −2/R</a:t>
            </a:r>
          </a:p>
        </p:txBody>
      </p:sp>
      <p:sp>
        <p:nvSpPr>
          <p:cNvPr id="19" name="text18" descr="sci-ppt:C1-E28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n: liquid → gas</a:t>
            </a:r>
          </a:p>
        </p:txBody>
      </p:sp>
      <p:sp>
        <p:nvSpPr>
          <p:cNvPr id="20" name="text19" descr="sci-ppt:C1-E28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Vn = u·n</a:t>
            </a:r>
          </a:p>
        </p:txBody>
      </p:sp>
      <p:sp>
        <p:nvSpPr>
          <p:cNvPr id="21" name="text20" descr="sci-ppt:C1-E28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</a:t>
            </a:r>
          </a:p>
        </p:txBody>
      </p:sp>
      <p:sp>
        <p:nvSpPr>
          <p:cNvPr id="22" name="text21" descr="sci-ppt:C1-E28-021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22" descr="sci-ppt:C1-E28-022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2μ n·D n</a:t>
            </a:r>
          </a:p>
        </p:txBody>
      </p:sp>
      <p:sp>
        <p:nvSpPr>
          <p:cNvPr id="24" name="text23" descr="sci-ppt:C1-E28-023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a stationary no-slip solid wall use the wall velocity instead</a:t>
            </a:r>
          </a:p>
        </p:txBody>
      </p:sp>
      <p:sp>
        <p:nvSpPr>
          <p:cNvPr id="25" name="text24" descr="sci-ppt:C1-E28-024"/>
          <p:cNvSpPr txBox="1"/>
          <p:nvPr/>
        </p:nvSpPr>
        <p:spPr>
          <a:xfrm>
            <a:off x="365760" y="7217664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Phase transfer modifies the kinematic condition in Chapter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9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C1-E29 | Physical-variable diagram</a:t>
            </a:r>
          </a:p>
        </p:txBody>
      </p:sp>
      <p:sp>
        <p:nvSpPr>
          <p:cNvPr id="3" name="rect2" descr="sci-ppt:C1-E29-002"/>
          <p:cNvSpPr/>
          <p:nvPr/>
        </p:nvSpPr>
        <p:spPr>
          <a:xfrm>
            <a:off x="1341120" y="1524000"/>
            <a:ext cx="9144000" cy="243840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29-003"/>
          <p:cNvSpPr/>
          <p:nvPr/>
        </p:nvSpPr>
        <p:spPr>
          <a:xfrm>
            <a:off x="2682240" y="1950720"/>
            <a:ext cx="1584960" cy="158496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29-004"/>
          <p:cNvCxnSpPr/>
          <p:nvPr/>
        </p:nvCxnSpPr>
        <p:spPr>
          <a:xfrm>
            <a:off x="4267200" y="2743200"/>
            <a:ext cx="40233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29-005"/>
          <p:cNvSpPr txBox="1"/>
          <p:nvPr/>
        </p:nvSpPr>
        <p:spPr>
          <a:xfrm>
            <a:off x="5120640" y="2072640"/>
            <a:ext cx="536448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Liquid u(x,t), p(x,t)</a:t>
            </a:r>
          </a:p>
        </p:txBody>
      </p:sp>
      <p:sp>
        <p:nvSpPr>
          <p:cNvPr id="7" name="text6" descr="sci-ppt:C1-E29-006"/>
          <p:cNvSpPr txBox="1"/>
          <p:nvPr/>
        </p:nvSpPr>
        <p:spPr>
          <a:xfrm>
            <a:off x="7680960" y="3413760"/>
            <a:ext cx="195072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Outlet</a:t>
            </a:r>
          </a:p>
        </p:txBody>
      </p:sp>
      <p:sp>
        <p:nvSpPr>
          <p:cNvPr id="8" name="text7" descr="sci-ppt:C1-E29-007"/>
          <p:cNvSpPr txBox="1"/>
          <p:nvPr/>
        </p:nvSpPr>
        <p:spPr>
          <a:xfrm>
            <a:off x="1584960" y="4206240"/>
            <a:ext cx="9753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Moving interface Gamma; spatial field required.</a:t>
            </a:r>
          </a:p>
        </p:txBody>
      </p:sp>
      <p:sp>
        <p:nvSpPr>
          <p:cNvPr id="9" name="text8" descr="sci-ppt:C1-E29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X(t) ∈ Γ</a:t>
            </a:r>
          </a:p>
        </p:txBody>
      </p:sp>
      <p:sp>
        <p:nvSpPr>
          <p:cNvPr id="10" name="text9" descr="sci-ppt:C1-E29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</a:t>
            </a:r>
          </a:p>
        </p:txBody>
      </p:sp>
      <p:sp>
        <p:nvSpPr>
          <p:cNvPr id="11" name="text10" descr="sci-ppt:C1-E29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2" name="text11" descr="sci-ppt:C1-E29-01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</a:t>
            </a:r>
          </a:p>
        </p:txBody>
      </p:sp>
      <p:sp>
        <p:nvSpPr>
          <p:cNvPr id="13" name="text12" descr="sci-ppt:C1-E29-012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4" name="text13" descr="sci-ppt:C1-E29-013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 = ∇φ</a:t>
            </a:r>
          </a:p>
        </p:txBody>
      </p:sp>
      <p:sp>
        <p:nvSpPr>
          <p:cNvPr id="15" name="text14" descr="sci-ppt:C1-E29-014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∇²φ = 0</a:t>
            </a:r>
          </a:p>
        </p:txBody>
      </p:sp>
      <p:sp>
        <p:nvSpPr>
          <p:cNvPr id="16" name="text15" descr="sci-ppt:C1-E29-015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17" name="text16" descr="sci-ppt:C1-E29-016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κ</a:t>
            </a:r>
          </a:p>
        </p:txBody>
      </p:sp>
      <p:sp>
        <p:nvSpPr>
          <p:cNvPr id="18" name="text17" descr="sci-ppt:C1-E29-017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∂tφ vs Dφ/Dt</a:t>
            </a:r>
          </a:p>
        </p:txBody>
      </p:sp>
      <p:sp>
        <p:nvSpPr>
          <p:cNvPr id="19" name="text18" descr="sci-ppt:C1-E29-018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Update shape and potential together</a:t>
            </a:r>
          </a:p>
        </p:txBody>
      </p:sp>
      <p:sp>
        <p:nvSpPr>
          <p:cNvPr id="20" name="text19" descr="sci-ppt:C1-E29-019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Self-impact or jet piercing requires additional topology and compressibility treatment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0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C1-E30 | Physical-variable diagram</a:t>
            </a:r>
          </a:p>
        </p:txBody>
      </p:sp>
      <p:sp>
        <p:nvSpPr>
          <p:cNvPr id="3" name="ellipse2" descr="sci-ppt:C1-E30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30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30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30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30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30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30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30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30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30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30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30-013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φΓ = −R Ṙ</a:t>
            </a:r>
          </a:p>
        </p:txBody>
      </p:sp>
      <p:sp>
        <p:nvSpPr>
          <p:cNvPr id="15" name="text14" descr="sci-ppt:C1-E30-014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6" name="text15" descr="sci-ppt:C1-E30-015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17" name="text16" descr="sci-ppt:C1-E30-016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18" name="text17" descr="sci-ppt:C1-E30-017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9" name="text18" descr="sci-ppt:C1-E30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κ = −2/R</a:t>
            </a:r>
          </a:p>
        </p:txBody>
      </p:sp>
      <p:sp>
        <p:nvSpPr>
          <p:cNvPr id="20" name="text19" descr="sci-ppt:C1-E30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1" name="text20" descr="sci-ppt:C1-E30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2" name="text21" descr="sci-ppt:C1-E30-021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</a:t>
            </a:r>
          </a:p>
        </p:txBody>
      </p:sp>
      <p:sp>
        <p:nvSpPr>
          <p:cNvPr id="23" name="text22" descr="sci-ppt:C1-E30-022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Recover the same 3/2 coefficient from the material derivative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1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C1-E31 | Physical-variable diagram</a:t>
            </a:r>
          </a:p>
        </p:txBody>
      </p:sp>
      <p:sp>
        <p:nvSpPr>
          <p:cNvPr id="3" name="rect2" descr="sci-ppt:C1-E31-002"/>
          <p:cNvSpPr/>
          <p:nvPr/>
        </p:nvSpPr>
        <p:spPr>
          <a:xfrm>
            <a:off x="1219200" y="1828800"/>
            <a:ext cx="365760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31-003"/>
          <p:cNvSpPr txBox="1"/>
          <p:nvPr/>
        </p:nvSpPr>
        <p:spPr>
          <a:xfrm>
            <a:off x="1341120" y="1950720"/>
            <a:ext cx="3474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Wall speed / sound speed</a:t>
            </a:r>
          </a:p>
        </p:txBody>
      </p:sp>
      <p:sp>
        <p:nvSpPr>
          <p:cNvPr id="5" name="rect4" descr="sci-ppt:C1-E31-004"/>
          <p:cNvSpPr/>
          <p:nvPr/>
        </p:nvSpPr>
        <p:spPr>
          <a:xfrm>
            <a:off x="6949440" y="1828800"/>
            <a:ext cx="3657600" cy="11582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31-005"/>
          <p:cNvSpPr txBox="1"/>
          <p:nvPr/>
        </p:nvSpPr>
        <p:spPr>
          <a:xfrm>
            <a:off x="7071360" y="1950720"/>
            <a:ext cx="3474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Propagation / event time</a:t>
            </a:r>
          </a:p>
        </p:txBody>
      </p:sp>
      <p:cxnSp>
        <p:nvCxnSpPr>
          <p:cNvPr id="7" name="arrow6" descr="sci-ppt:C1-E31-006"/>
          <p:cNvCxnSpPr/>
          <p:nvPr/>
        </p:nvCxnSpPr>
        <p:spPr>
          <a:xfrm>
            <a:off x="4937760" y="2414016"/>
            <a:ext cx="18897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7" descr="sci-ppt:C1-E31-007"/>
          <p:cNvSpPr txBox="1"/>
          <p:nvPr/>
        </p:nvSpPr>
        <p:spPr>
          <a:xfrm>
            <a:off x="1463040" y="3657600"/>
            <a:ext cx="963168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Check both motion and pressure communication.</a:t>
            </a:r>
          </a:p>
        </p:txBody>
      </p:sp>
      <p:sp>
        <p:nvSpPr>
          <p:cNvPr id="9" name="text8" descr="sci-ppt:C1-E31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Mw = |Ṙ|/c</a:t>
            </a:r>
          </a:p>
        </p:txBody>
      </p:sp>
      <p:sp>
        <p:nvSpPr>
          <p:cNvPr id="10" name="text9" descr="sci-ppt:C1-E31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1" name="text10" descr="sci-ppt:C1-E31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Le</a:t>
            </a:r>
          </a:p>
        </p:txBody>
      </p:sp>
      <p:sp>
        <p:nvSpPr>
          <p:cNvPr id="12" name="text11" descr="sci-ppt:C1-E31-01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Pressure propagation path</a:t>
            </a:r>
          </a:p>
        </p:txBody>
      </p:sp>
      <p:sp>
        <p:nvSpPr>
          <p:cNvPr id="13" name="text12" descr="sci-ppt:C1-E31-012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Ce = Le/(cτe)</a:t>
            </a:r>
          </a:p>
        </p:txBody>
      </p:sp>
      <p:sp>
        <p:nvSpPr>
          <p:cNvPr id="14" name="text13" descr="sci-ppt:C1-E31-013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</a:t>
            </a:r>
          </a:p>
        </p:txBody>
      </p:sp>
      <p:sp>
        <p:nvSpPr>
          <p:cNvPr id="15" name="text14" descr="sci-ppt:C1-E31-014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τe</a:t>
            </a:r>
          </a:p>
        </p:txBody>
      </p:sp>
      <p:sp>
        <p:nvSpPr>
          <p:cNvPr id="16" name="text15" descr="sci-ppt:C1-E31-015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Small wall Mach alone does not ensure fast pressure communication</a:t>
            </a:r>
          </a:p>
        </p:txBody>
      </p:sp>
      <p:sp>
        <p:nvSpPr>
          <p:cNvPr id="17" name="text16" descr="sci-ppt:C1-E31-016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An impact rise time can be much shorter than the total collapse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2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C1-E32 | Physical-variable diagram</a:t>
            </a:r>
          </a:p>
        </p:txBody>
      </p:sp>
      <p:sp>
        <p:nvSpPr>
          <p:cNvPr id="3" name="rect2" descr="sci-ppt:C1-E32-002"/>
          <p:cNvSpPr/>
          <p:nvPr/>
        </p:nvSpPr>
        <p:spPr>
          <a:xfrm>
            <a:off x="731520" y="1950720"/>
            <a:ext cx="286512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1-E32-003"/>
          <p:cNvSpPr txBox="1"/>
          <p:nvPr/>
        </p:nvSpPr>
        <p:spPr>
          <a:xfrm>
            <a:off x="853440" y="2072640"/>
            <a:ext cx="2682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Finite PFC / heat input</a:t>
            </a:r>
          </a:p>
        </p:txBody>
      </p:sp>
      <p:sp>
        <p:nvSpPr>
          <p:cNvPr id="5" name="rect4" descr="sci-ppt:C1-E32-004"/>
          <p:cNvSpPr/>
          <p:nvPr/>
        </p:nvSpPr>
        <p:spPr>
          <a:xfrm>
            <a:off x="4511040" y="1950720"/>
            <a:ext cx="286512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1-E32-005"/>
          <p:cNvSpPr txBox="1"/>
          <p:nvPr/>
        </p:nvSpPr>
        <p:spPr>
          <a:xfrm>
            <a:off x="4632960" y="2072640"/>
            <a:ext cx="2682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Bubble pressure p_b</a:t>
            </a:r>
          </a:p>
        </p:txBody>
      </p:sp>
      <p:sp>
        <p:nvSpPr>
          <p:cNvPr id="7" name="rect6" descr="sci-ppt:C1-E32-006"/>
          <p:cNvSpPr/>
          <p:nvPr/>
        </p:nvSpPr>
        <p:spPr>
          <a:xfrm>
            <a:off x="8290560" y="1950720"/>
            <a:ext cx="286512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1-E32-007"/>
          <p:cNvSpPr txBox="1"/>
          <p:nvPr/>
        </p:nvSpPr>
        <p:spPr>
          <a:xfrm>
            <a:off x="8412480" y="2072640"/>
            <a:ext cx="2682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Carrier displacement</a:t>
            </a:r>
          </a:p>
        </p:txBody>
      </p:sp>
      <p:cxnSp>
        <p:nvCxnSpPr>
          <p:cNvPr id="9" name="arrow8" descr="sci-ppt:C1-E32-008"/>
          <p:cNvCxnSpPr/>
          <p:nvPr/>
        </p:nvCxnSpPr>
        <p:spPr>
          <a:xfrm>
            <a:off x="3657600" y="2560320"/>
            <a:ext cx="7315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arrow9" descr="sci-ppt:C1-E32-009"/>
          <p:cNvCxnSpPr/>
          <p:nvPr/>
        </p:nvCxnSpPr>
        <p:spPr>
          <a:xfrm>
            <a:off x="7437120" y="2560320"/>
            <a:ext cx="7315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1-E32-010"/>
          <p:cNvSpPr txBox="1"/>
          <p:nvPr/>
        </p:nvSpPr>
        <p:spPr>
          <a:xfrm>
            <a:off x="1584960" y="3901440"/>
            <a:ext cx="95097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Geometry selects direction; scalar radius does not.</a:t>
            </a:r>
          </a:p>
        </p:txBody>
      </p:sp>
      <p:sp>
        <p:nvSpPr>
          <p:cNvPr id="12" name="text11" descr="sci-ppt:C1-E32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PFC liquid → vapor</a:t>
            </a:r>
          </a:p>
        </p:txBody>
      </p:sp>
      <p:sp>
        <p:nvSpPr>
          <p:cNvPr id="13" name="text12" descr="sci-ppt:C1-E32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pv,w</a:t>
            </a:r>
          </a:p>
        </p:txBody>
      </p:sp>
      <p:sp>
        <p:nvSpPr>
          <p:cNvPr id="14" name="text13" descr="sci-ppt:C1-E32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15" name="text14" descr="sci-ppt:C1-E32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 carrier</a:t>
            </a:r>
          </a:p>
        </p:txBody>
      </p:sp>
      <p:sp>
        <p:nvSpPr>
          <p:cNvPr id="16" name="text15" descr="sci-ppt:C1-E32-015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17" name="text16" descr="sci-ppt:C1-E32-016"/>
          <p:cNvSpPr txBox="1"/>
          <p:nvPr/>
        </p:nvSpPr>
        <p:spPr>
          <a:xfrm>
            <a:off x="365760" y="643737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</a:t>
            </a:r>
          </a:p>
        </p:txBody>
      </p:sp>
      <p:sp>
        <p:nvSpPr>
          <p:cNvPr id="18" name="text17" descr="sci-ppt:C1-E32-017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pv,PFC</a:t>
            </a:r>
          </a:p>
        </p:txBody>
      </p:sp>
      <p:sp>
        <p:nvSpPr>
          <p:cNvPr id="19" name="text18" descr="sci-ppt:C1-E32-018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pg</a:t>
            </a:r>
          </a:p>
        </p:txBody>
      </p:sp>
      <p:sp>
        <p:nvSpPr>
          <p:cNvPr id="20" name="text19" descr="sci-ppt:C1-E32-019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1" name="text20" descr="sci-ppt:C1-E32-020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22" name="text21" descr="sci-ppt:C1-E32-021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R̈</a:t>
            </a:r>
          </a:p>
        </p:txBody>
      </p:sp>
      <p:sp>
        <p:nvSpPr>
          <p:cNvPr id="23" name="text22" descr="sci-ppt:C1-E32-022"/>
          <p:cNvSpPr txBox="1"/>
          <p:nvPr/>
        </p:nvSpPr>
        <p:spPr>
          <a:xfrm>
            <a:off x="6156960" y="643737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</a:t>
            </a:r>
          </a:p>
        </p:txBody>
      </p:sp>
      <p:sp>
        <p:nvSpPr>
          <p:cNvPr id="24" name="text23" descr="sci-ppt:C1-E32-023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The pressure history must connect to a specific liquid path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C1-E33 | Physical-variable diagram</a:t>
            </a:r>
          </a:p>
        </p:txBody>
      </p:sp>
      <p:sp>
        <p:nvSpPr>
          <p:cNvPr id="3" name="ellipse2" descr="sci-ppt:C1-E33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33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33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33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33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33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33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33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33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33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33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33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33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33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17" name="text16" descr="sci-ppt:C1-E33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&lt; 0</a:t>
            </a:r>
          </a:p>
        </p:txBody>
      </p:sp>
      <p:sp>
        <p:nvSpPr>
          <p:cNvPr id="18" name="text17" descr="sci-ppt:C1-E33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9" name="text18" descr="sci-ppt:C1-E33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B(5/6,1/2)/√6</a:t>
            </a:r>
          </a:p>
        </p:txBody>
      </p:sp>
      <p:sp>
        <p:nvSpPr>
          <p:cNvPr id="20" name="text19" descr="sci-ppt:C1-E33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→ 0</a:t>
            </a:r>
          </a:p>
        </p:txBody>
      </p:sp>
      <p:sp>
        <p:nvSpPr>
          <p:cNvPr id="21" name="text20" descr="sci-ppt:C1-E33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22" name="text21" descr="sci-ppt:C1-E33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tc</a:t>
            </a:r>
          </a:p>
        </p:txBody>
      </p:sp>
      <p:sp>
        <p:nvSpPr>
          <p:cNvPr id="23" name="text22" descr="sci-ppt:C1-E33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 finite</a:t>
            </a:r>
          </a:p>
        </p:txBody>
      </p:sp>
      <p:sp>
        <p:nvSpPr>
          <p:cNvPr id="24" name="text23" descr="sci-ppt:C1-E33-023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Finite time and finite energy coexist with an excluded wall-speed singularity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4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C1-E34 | Physical-variable diagram</a:t>
            </a:r>
          </a:p>
        </p:txBody>
      </p:sp>
      <p:sp>
        <p:nvSpPr>
          <p:cNvPr id="3" name="rect2" descr="sci-ppt:C1-E34-002"/>
          <p:cNvSpPr/>
          <p:nvPr/>
        </p:nvSpPr>
        <p:spPr>
          <a:xfrm>
            <a:off x="1219200" y="2194560"/>
            <a:ext cx="8290560" cy="146304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line3" descr="sci-ppt:C1-E34-003"/>
          <p:cNvCxnSpPr/>
          <p:nvPr/>
        </p:nvCxnSpPr>
        <p:spPr>
          <a:xfrm>
            <a:off x="1219200" y="219456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5" name="line4" descr="sci-ppt:C1-E34-004"/>
          <p:cNvCxnSpPr/>
          <p:nvPr/>
        </p:nvCxnSpPr>
        <p:spPr>
          <a:xfrm>
            <a:off x="1219200" y="3657600"/>
            <a:ext cx="8290560" cy="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cxnSp>
        <p:nvCxnSpPr>
          <p:cNvPr id="6" name="arrow5" descr="sci-ppt:C1-E34-005"/>
          <p:cNvCxnSpPr/>
          <p:nvPr/>
        </p:nvCxnSpPr>
        <p:spPr>
          <a:xfrm>
            <a:off x="2316480" y="2926080"/>
            <a:ext cx="56083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text6" descr="sci-ppt:C1-E34-006"/>
          <p:cNvSpPr txBox="1"/>
          <p:nvPr/>
        </p:nvSpPr>
        <p:spPr>
          <a:xfrm>
            <a:off x="1402080" y="1463040"/>
            <a:ext cx="36576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Π0 at z = 0</a:t>
            </a:r>
          </a:p>
        </p:txBody>
      </p:sp>
      <p:sp>
        <p:nvSpPr>
          <p:cNvPr id="8" name="text7" descr="sci-ppt:C1-E34-007"/>
          <p:cNvSpPr txBox="1"/>
          <p:nvPr/>
        </p:nvSpPr>
        <p:spPr>
          <a:xfrm>
            <a:off x="7315200" y="1463040"/>
            <a:ext cx="426720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Π = 0 at z = L</a:t>
            </a:r>
          </a:p>
        </p:txBody>
      </p:sp>
      <p:sp>
        <p:nvSpPr>
          <p:cNvPr id="9" name="text8" descr="sci-ppt:C1-E34-008"/>
          <p:cNvSpPr txBox="1"/>
          <p:nvPr/>
        </p:nvSpPr>
        <p:spPr>
          <a:xfrm>
            <a:off x="3108960" y="2987040"/>
            <a:ext cx="48768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Δ u_z toward outlet</a:t>
            </a:r>
          </a:p>
        </p:txBody>
      </p:sp>
      <p:sp>
        <p:nvSpPr>
          <p:cNvPr id="10" name="text9" descr="sci-ppt:C1-E34-009"/>
          <p:cNvSpPr txBox="1"/>
          <p:nvPr/>
        </p:nvSpPr>
        <p:spPr>
          <a:xfrm>
            <a:off x="2255520" y="4084320"/>
            <a:ext cx="902208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Pressure impulse gradient drives early acceleration.</a:t>
            </a:r>
          </a:p>
        </p:txBody>
      </p:sp>
      <p:sp>
        <p:nvSpPr>
          <p:cNvPr id="11" name="text10" descr="sci-ppt:C1-E34-010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Π(x)</a:t>
            </a:r>
          </a:p>
        </p:txBody>
      </p:sp>
      <p:sp>
        <p:nvSpPr>
          <p:cNvPr id="12" name="text11" descr="sci-ppt:C1-E34-011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t₀ → t₁</a:t>
            </a:r>
          </a:p>
        </p:txBody>
      </p:sp>
      <p:sp>
        <p:nvSpPr>
          <p:cNvPr id="13" name="text12" descr="sci-ppt:C1-E34-012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4" name="text13" descr="sci-ppt:C1-E34-013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</a:t>
            </a:r>
          </a:p>
        </p:txBody>
      </p:sp>
      <p:sp>
        <p:nvSpPr>
          <p:cNvPr id="15" name="text14" descr="sci-ppt:C1-E34-014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ta = L/c</a:t>
            </a:r>
          </a:p>
        </p:txBody>
      </p:sp>
      <p:sp>
        <p:nvSpPr>
          <p:cNvPr id="16" name="text15" descr="sci-ppt:C1-E34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 − pref</a:t>
            </a:r>
          </a:p>
        </p:txBody>
      </p:sp>
      <p:sp>
        <p:nvSpPr>
          <p:cNvPr id="17" name="text16" descr="sci-ppt:C1-E34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Δu ≈ −∇Π/ρ</a:t>
            </a:r>
          </a:p>
        </p:txBody>
      </p:sp>
      <p:sp>
        <p:nvSpPr>
          <p:cNvPr id="18" name="text17" descr="sci-ppt:C1-E34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Π₀</a:t>
            </a:r>
          </a:p>
        </p:txBody>
      </p:sp>
      <p:sp>
        <p:nvSpPr>
          <p:cNvPr id="19" name="text18" descr="sci-ppt:C1-E34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Ucolumn</a:t>
            </a:r>
          </a:p>
        </p:txBody>
      </p:sp>
      <p:sp>
        <p:nvSpPr>
          <p:cNvPr id="20" name="text19" descr="sci-ppt:C1-E34-019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c</a:t>
            </a:r>
          </a:p>
        </p:txBody>
      </p:sp>
      <p:sp>
        <p:nvSpPr>
          <p:cNvPr id="21" name="text20" descr="sci-ppt:C1-E34-020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Pa s is impulse per area; seconds is travel time</a:t>
            </a:r>
          </a:p>
        </p:txBody>
      </p:sp>
      <p:sp>
        <p:nvSpPr>
          <p:cNvPr id="22" name="text21" descr="sci-ppt:C1-E34-021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 spatial gradient, not a scalar peak, sets velocity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