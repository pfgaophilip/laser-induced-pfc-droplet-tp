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11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C2-E11 · Static capillary and shell-pressure control</a:t>
            </a:r>
          </a:p>
        </p:txBody>
      </p:sp>
      <p:cxnSp>
        <p:nvCxnSpPr>
          <p:cNvPr id="3" name="C2-E11 line 1" descr="sci-ppt:o001"/>
          <p:cNvCxnSpPr/>
          <p:nvPr/>
        </p:nvCxnSpPr>
        <p:spPr>
          <a:xfrm>
            <a:off x="6126480" y="5029200"/>
            <a:ext cx="54864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2-E11 line 2" descr="sci-ppt:o002"/>
          <p:cNvCxnSpPr/>
          <p:nvPr/>
        </p:nvCxnSpPr>
        <p:spPr>
          <a:xfrm>
            <a:off x="612648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2-E11 line 3" descr="sci-ppt:o003"/>
          <p:cNvCxnSpPr/>
          <p:nvPr/>
        </p:nvCxnSpPr>
        <p:spPr>
          <a:xfrm>
            <a:off x="6677003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2-E11 line 4" descr="sci-ppt:o004"/>
          <p:cNvCxnSpPr/>
          <p:nvPr/>
        </p:nvCxnSpPr>
        <p:spPr>
          <a:xfrm>
            <a:off x="6677003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2-E11 text 5" descr="sci-ppt:o005"/>
          <p:cNvSpPr txBox="1"/>
          <p:nvPr/>
        </p:nvSpPr>
        <p:spPr>
          <a:xfrm>
            <a:off x="6219803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1e-07</a:t>
            </a:r>
          </a:p>
        </p:txBody>
      </p:sp>
      <p:cxnSp>
        <p:nvCxnSpPr>
          <p:cNvPr id="8" name="C2-E11 line 6" descr="sci-ppt:o006"/>
          <p:cNvCxnSpPr/>
          <p:nvPr/>
        </p:nvCxnSpPr>
        <p:spPr>
          <a:xfrm>
            <a:off x="8505803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2-E11 line 7" descr="sci-ppt:o007"/>
          <p:cNvCxnSpPr/>
          <p:nvPr/>
        </p:nvCxnSpPr>
        <p:spPr>
          <a:xfrm>
            <a:off x="8505803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2-E11 text 8" descr="sci-ppt:o008"/>
          <p:cNvSpPr txBox="1"/>
          <p:nvPr/>
        </p:nvSpPr>
        <p:spPr>
          <a:xfrm>
            <a:off x="8048603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1e-06</a:t>
            </a:r>
          </a:p>
        </p:txBody>
      </p:sp>
      <p:cxnSp>
        <p:nvCxnSpPr>
          <p:cNvPr id="11" name="C2-E11 line 9" descr="sci-ppt:o009"/>
          <p:cNvCxnSpPr/>
          <p:nvPr/>
        </p:nvCxnSpPr>
        <p:spPr>
          <a:xfrm>
            <a:off x="10334603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2-E11 line 10" descr="sci-ppt:o010"/>
          <p:cNvCxnSpPr/>
          <p:nvPr/>
        </p:nvCxnSpPr>
        <p:spPr>
          <a:xfrm>
            <a:off x="10334603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2-E11 text 11" descr="sci-ppt:o011"/>
          <p:cNvSpPr txBox="1"/>
          <p:nvPr/>
        </p:nvSpPr>
        <p:spPr>
          <a:xfrm>
            <a:off x="9877403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1e-05</a:t>
            </a:r>
          </a:p>
        </p:txBody>
      </p:sp>
      <p:cxnSp>
        <p:nvCxnSpPr>
          <p:cNvPr id="14" name="C2-E11 line 12" descr="sci-ppt:o012"/>
          <p:cNvCxnSpPr/>
          <p:nvPr/>
        </p:nvCxnSpPr>
        <p:spPr>
          <a:xfrm>
            <a:off x="606247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2-E11 line 13" descr="sci-ppt:o013"/>
          <p:cNvCxnSpPr/>
          <p:nvPr/>
        </p:nvCxnSpPr>
        <p:spPr>
          <a:xfrm>
            <a:off x="6126480" y="5029200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2-E11 text 14" descr="sci-ppt:o014"/>
          <p:cNvSpPr txBox="1"/>
          <p:nvPr/>
        </p:nvSpPr>
        <p:spPr>
          <a:xfrm>
            <a:off x="5257800" y="49469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1e+03</a:t>
            </a:r>
          </a:p>
        </p:txBody>
      </p:sp>
      <p:cxnSp>
        <p:nvCxnSpPr>
          <p:cNvPr id="17" name="C2-E11 line 15" descr="sci-ppt:o015"/>
          <p:cNvCxnSpPr/>
          <p:nvPr/>
        </p:nvCxnSpPr>
        <p:spPr>
          <a:xfrm>
            <a:off x="6062472" y="41148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2-E11 line 16" descr="sci-ppt:o016"/>
          <p:cNvCxnSpPr/>
          <p:nvPr/>
        </p:nvCxnSpPr>
        <p:spPr>
          <a:xfrm>
            <a:off x="6126480" y="4114800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2-E11 text 17" descr="sci-ppt:o017"/>
          <p:cNvSpPr txBox="1"/>
          <p:nvPr/>
        </p:nvSpPr>
        <p:spPr>
          <a:xfrm>
            <a:off x="5257800" y="40325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1e+04</a:t>
            </a:r>
          </a:p>
        </p:txBody>
      </p:sp>
      <p:cxnSp>
        <p:nvCxnSpPr>
          <p:cNvPr id="20" name="C2-E11 line 18" descr="sci-ppt:o018"/>
          <p:cNvCxnSpPr/>
          <p:nvPr/>
        </p:nvCxnSpPr>
        <p:spPr>
          <a:xfrm>
            <a:off x="6062472" y="32004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2-E11 line 19" descr="sci-ppt:o019"/>
          <p:cNvCxnSpPr/>
          <p:nvPr/>
        </p:nvCxnSpPr>
        <p:spPr>
          <a:xfrm>
            <a:off x="6126480" y="3200400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2-E11 text 20" descr="sci-ppt:o020"/>
          <p:cNvSpPr txBox="1"/>
          <p:nvPr/>
        </p:nvSpPr>
        <p:spPr>
          <a:xfrm>
            <a:off x="5257800" y="31181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1e+05</a:t>
            </a:r>
          </a:p>
        </p:txBody>
      </p:sp>
      <p:cxnSp>
        <p:nvCxnSpPr>
          <p:cNvPr id="23" name="C2-E11 line 21" descr="sci-ppt:o021"/>
          <p:cNvCxnSpPr/>
          <p:nvPr/>
        </p:nvCxnSpPr>
        <p:spPr>
          <a:xfrm>
            <a:off x="6062472" y="22860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2-E11 line 22" descr="sci-ppt:o022"/>
          <p:cNvCxnSpPr/>
          <p:nvPr/>
        </p:nvCxnSpPr>
        <p:spPr>
          <a:xfrm>
            <a:off x="6126480" y="2286000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2-E11 text 23" descr="sci-ppt:o023"/>
          <p:cNvSpPr txBox="1"/>
          <p:nvPr/>
        </p:nvSpPr>
        <p:spPr>
          <a:xfrm>
            <a:off x="5257800" y="22037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1e+06</a:t>
            </a:r>
          </a:p>
        </p:txBody>
      </p:sp>
      <p:cxnSp>
        <p:nvCxnSpPr>
          <p:cNvPr id="26" name="C2-E11 line 24" descr="sci-ppt:o024"/>
          <p:cNvCxnSpPr/>
          <p:nvPr/>
        </p:nvCxnSpPr>
        <p:spPr>
          <a:xfrm>
            <a:off x="606247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2-E11 line 25" descr="sci-ppt:o025"/>
          <p:cNvCxnSpPr/>
          <p:nvPr/>
        </p:nvCxnSpPr>
        <p:spPr>
          <a:xfrm>
            <a:off x="6126480" y="1371600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8" name="C2-E11 text 26" descr="sci-ppt:o026"/>
          <p:cNvSpPr txBox="1"/>
          <p:nvPr/>
        </p:nvSpPr>
        <p:spPr>
          <a:xfrm>
            <a:off x="525780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1e+07</a:t>
            </a:r>
          </a:p>
        </p:txBody>
      </p:sp>
      <p:sp>
        <p:nvSpPr>
          <p:cNvPr id="29" name="C2-E11 text 27" descr="sci-ppt:o027"/>
          <p:cNvSpPr txBox="1"/>
          <p:nvPr/>
        </p:nvSpPr>
        <p:spPr>
          <a:xfrm>
            <a:off x="6126480" y="5312664"/>
            <a:ext cx="5486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core radius a  (m)</a:t>
            </a:r>
          </a:p>
        </p:txBody>
      </p:sp>
      <p:sp>
        <p:nvSpPr>
          <p:cNvPr id="30" name="C2-E11 text 28" descr="sci-ppt:o028"/>
          <p:cNvSpPr txBox="1"/>
          <p:nvPr/>
        </p:nvSpPr>
        <p:spPr>
          <a:xfrm>
            <a:off x="5577840" y="1024128"/>
            <a:ext cx="5486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2σ_pc / a  (Pa)</a:t>
            </a:r>
          </a:p>
        </p:txBody>
      </p:sp>
      <p:sp>
        <p:nvSpPr>
          <p:cNvPr id="31" name="C2-E11 polygon 29" descr="sci-ppt:o029"/>
          <p:cNvSpPr/>
          <p:nvPr/>
        </p:nvSpPr>
        <p:spPr>
          <a:xfrm>
            <a:off x="6128363" y="2375556"/>
            <a:ext cx="5264727" cy="2632363"/>
          </a:xfrm>
          <a:custGeom>
            <a:avLst/>
            <a:gdLst/>
            <a:ahLst/>
            <a:cxnLst/>
            <a:rect l="l" t="t" r="r" b="b"/>
            <a:pathLst>
              <a:path w="5264727" h="2632363">
                <a:moveTo>
                  <a:pt x="0" y="0"/>
                </a:moveTo>
                <a:lnTo>
                  <a:pt x="55418" y="27709"/>
                </a:lnTo>
                <a:lnTo>
                  <a:pt x="110837" y="55418"/>
                </a:lnTo>
                <a:lnTo>
                  <a:pt x="166255" y="83127"/>
                </a:lnTo>
                <a:lnTo>
                  <a:pt x="221673" y="110836"/>
                </a:lnTo>
                <a:lnTo>
                  <a:pt x="277091" y="138545"/>
                </a:lnTo>
                <a:lnTo>
                  <a:pt x="332509" y="166254"/>
                </a:lnTo>
                <a:lnTo>
                  <a:pt x="387927" y="193963"/>
                </a:lnTo>
                <a:lnTo>
                  <a:pt x="443346" y="221673"/>
                </a:lnTo>
                <a:lnTo>
                  <a:pt x="498764" y="249382"/>
                </a:lnTo>
                <a:lnTo>
                  <a:pt x="554182" y="277091"/>
                </a:lnTo>
                <a:lnTo>
                  <a:pt x="609600" y="304800"/>
                </a:lnTo>
                <a:lnTo>
                  <a:pt x="665018" y="332509"/>
                </a:lnTo>
                <a:lnTo>
                  <a:pt x="720437" y="360218"/>
                </a:lnTo>
                <a:lnTo>
                  <a:pt x="775855" y="387927"/>
                </a:lnTo>
                <a:lnTo>
                  <a:pt x="831273" y="415636"/>
                </a:lnTo>
                <a:lnTo>
                  <a:pt x="886691" y="443345"/>
                </a:lnTo>
                <a:lnTo>
                  <a:pt x="942109" y="471054"/>
                </a:lnTo>
                <a:lnTo>
                  <a:pt x="997527" y="498763"/>
                </a:lnTo>
                <a:lnTo>
                  <a:pt x="1052946" y="526473"/>
                </a:lnTo>
                <a:lnTo>
                  <a:pt x="1108364" y="554182"/>
                </a:lnTo>
                <a:lnTo>
                  <a:pt x="1163782" y="581891"/>
                </a:lnTo>
                <a:lnTo>
                  <a:pt x="1219200" y="609600"/>
                </a:lnTo>
                <a:lnTo>
                  <a:pt x="1274618" y="637309"/>
                </a:lnTo>
                <a:lnTo>
                  <a:pt x="1330037" y="665018"/>
                </a:lnTo>
                <a:lnTo>
                  <a:pt x="1385455" y="692727"/>
                </a:lnTo>
                <a:lnTo>
                  <a:pt x="1440873" y="720436"/>
                </a:lnTo>
                <a:lnTo>
                  <a:pt x="1496291" y="748145"/>
                </a:lnTo>
                <a:lnTo>
                  <a:pt x="1551709" y="775854"/>
                </a:lnTo>
                <a:lnTo>
                  <a:pt x="1607127" y="803563"/>
                </a:lnTo>
                <a:lnTo>
                  <a:pt x="1662546" y="831273"/>
                </a:lnTo>
                <a:lnTo>
                  <a:pt x="1717964" y="858982"/>
                </a:lnTo>
                <a:lnTo>
                  <a:pt x="1773382" y="886691"/>
                </a:lnTo>
                <a:lnTo>
                  <a:pt x="1828800" y="914400"/>
                </a:lnTo>
                <a:lnTo>
                  <a:pt x="1884218" y="942109"/>
                </a:lnTo>
                <a:lnTo>
                  <a:pt x="1939637" y="969818"/>
                </a:lnTo>
                <a:lnTo>
                  <a:pt x="1995055" y="997527"/>
                </a:lnTo>
                <a:lnTo>
                  <a:pt x="2050473" y="1025236"/>
                </a:lnTo>
                <a:lnTo>
                  <a:pt x="2105891" y="1052945"/>
                </a:lnTo>
                <a:lnTo>
                  <a:pt x="2161309" y="1080654"/>
                </a:lnTo>
                <a:lnTo>
                  <a:pt x="2216727" y="1108363"/>
                </a:lnTo>
                <a:lnTo>
                  <a:pt x="2272146" y="1136073"/>
                </a:lnTo>
                <a:lnTo>
                  <a:pt x="2327564" y="1163782"/>
                </a:lnTo>
                <a:lnTo>
                  <a:pt x="2382982" y="1191491"/>
                </a:lnTo>
                <a:lnTo>
                  <a:pt x="2438400" y="1219200"/>
                </a:lnTo>
                <a:lnTo>
                  <a:pt x="2493818" y="1246909"/>
                </a:lnTo>
                <a:lnTo>
                  <a:pt x="2549237" y="1274618"/>
                </a:lnTo>
                <a:lnTo>
                  <a:pt x="2604655" y="1302327"/>
                </a:lnTo>
                <a:lnTo>
                  <a:pt x="2660073" y="1330036"/>
                </a:lnTo>
                <a:lnTo>
                  <a:pt x="2715491" y="1357745"/>
                </a:lnTo>
                <a:lnTo>
                  <a:pt x="2770909" y="1385454"/>
                </a:lnTo>
                <a:lnTo>
                  <a:pt x="2826327" y="1413163"/>
                </a:lnTo>
                <a:lnTo>
                  <a:pt x="2881746" y="1440873"/>
                </a:lnTo>
                <a:lnTo>
                  <a:pt x="2937164" y="1468582"/>
                </a:lnTo>
                <a:lnTo>
                  <a:pt x="2992582" y="1496291"/>
                </a:lnTo>
                <a:lnTo>
                  <a:pt x="3048000" y="1524000"/>
                </a:lnTo>
                <a:lnTo>
                  <a:pt x="3103418" y="1551709"/>
                </a:lnTo>
                <a:lnTo>
                  <a:pt x="3158837" y="1579418"/>
                </a:lnTo>
                <a:lnTo>
                  <a:pt x="3214255" y="1607127"/>
                </a:lnTo>
                <a:lnTo>
                  <a:pt x="3269673" y="1634836"/>
                </a:lnTo>
                <a:lnTo>
                  <a:pt x="3325091" y="1662545"/>
                </a:lnTo>
                <a:lnTo>
                  <a:pt x="3380509" y="1690254"/>
                </a:lnTo>
                <a:lnTo>
                  <a:pt x="3435927" y="1717963"/>
                </a:lnTo>
                <a:lnTo>
                  <a:pt x="3491346" y="1745673"/>
                </a:lnTo>
                <a:lnTo>
                  <a:pt x="3546764" y="1773382"/>
                </a:lnTo>
                <a:lnTo>
                  <a:pt x="3602182" y="1801091"/>
                </a:lnTo>
                <a:lnTo>
                  <a:pt x="3657600" y="1828800"/>
                </a:lnTo>
                <a:lnTo>
                  <a:pt x="3713018" y="1856509"/>
                </a:lnTo>
                <a:lnTo>
                  <a:pt x="3768437" y="1884218"/>
                </a:lnTo>
                <a:lnTo>
                  <a:pt x="3823855" y="1911927"/>
                </a:lnTo>
                <a:lnTo>
                  <a:pt x="3879273" y="1939636"/>
                </a:lnTo>
                <a:lnTo>
                  <a:pt x="3934691" y="1967345"/>
                </a:lnTo>
                <a:lnTo>
                  <a:pt x="3990109" y="1995054"/>
                </a:lnTo>
                <a:lnTo>
                  <a:pt x="4045527" y="2022763"/>
                </a:lnTo>
                <a:lnTo>
                  <a:pt x="4100946" y="2050473"/>
                </a:lnTo>
                <a:lnTo>
                  <a:pt x="4156364" y="2078182"/>
                </a:lnTo>
                <a:lnTo>
                  <a:pt x="4211782" y="2105891"/>
                </a:lnTo>
                <a:lnTo>
                  <a:pt x="4267200" y="2133600"/>
                </a:lnTo>
                <a:lnTo>
                  <a:pt x="4322618" y="2161309"/>
                </a:lnTo>
                <a:lnTo>
                  <a:pt x="4378037" y="2189018"/>
                </a:lnTo>
                <a:lnTo>
                  <a:pt x="4433455" y="2216727"/>
                </a:lnTo>
                <a:lnTo>
                  <a:pt x="4488873" y="2244436"/>
                </a:lnTo>
                <a:lnTo>
                  <a:pt x="4544291" y="2272145"/>
                </a:lnTo>
                <a:lnTo>
                  <a:pt x="4599709" y="2299854"/>
                </a:lnTo>
                <a:lnTo>
                  <a:pt x="4655127" y="2327563"/>
                </a:lnTo>
                <a:lnTo>
                  <a:pt x="4710546" y="2355273"/>
                </a:lnTo>
                <a:lnTo>
                  <a:pt x="4765964" y="2382982"/>
                </a:lnTo>
                <a:lnTo>
                  <a:pt x="4821382" y="2410691"/>
                </a:lnTo>
                <a:lnTo>
                  <a:pt x="4876800" y="2438400"/>
                </a:lnTo>
                <a:lnTo>
                  <a:pt x="4932218" y="2466109"/>
                </a:lnTo>
                <a:lnTo>
                  <a:pt x="4987637" y="2493818"/>
                </a:lnTo>
                <a:lnTo>
                  <a:pt x="5043055" y="2521527"/>
                </a:lnTo>
                <a:lnTo>
                  <a:pt x="5098473" y="2549236"/>
                </a:lnTo>
                <a:lnTo>
                  <a:pt x="5153891" y="2576945"/>
                </a:lnTo>
                <a:lnTo>
                  <a:pt x="5209309" y="2604654"/>
                </a:lnTo>
                <a:lnTo>
                  <a:pt x="5264727" y="2632363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C2-E11 ellipse 30" descr="sci-ppt:o030"/>
          <p:cNvSpPr/>
          <p:nvPr/>
        </p:nvSpPr>
        <p:spPr>
          <a:xfrm>
            <a:off x="9710928" y="4130262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C2-E11 text 31" descr="sci-ppt:o031"/>
          <p:cNvSpPr txBox="1"/>
          <p:nvPr/>
        </p:nvSpPr>
        <p:spPr>
          <a:xfrm>
            <a:off x="9893807" y="3746214"/>
            <a:ext cx="17373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5 µm: 8 kPa</a:t>
            </a:r>
          </a:p>
        </p:txBody>
      </p:sp>
      <p:sp>
        <p:nvSpPr>
          <p:cNvPr id="34" name="C2-E11 ellipse 32" descr="sci-ppt:o032"/>
          <p:cNvSpPr/>
          <p:nvPr/>
        </p:nvSpPr>
        <p:spPr>
          <a:xfrm>
            <a:off x="6603851" y="2576724"/>
            <a:ext cx="146304" cy="146304"/>
          </a:xfrm>
          <a:prstGeom prst="ellipse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2-E11 text 33" descr="sci-ppt:o033"/>
          <p:cNvSpPr txBox="1"/>
          <p:nvPr/>
        </p:nvSpPr>
        <p:spPr>
          <a:xfrm>
            <a:off x="6786731" y="2558436"/>
            <a:ext cx="20116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8BA0"/>
                </a:solidFill>
                <a:latin typeface="Arial"/>
              </a:rPr>
              <a:t>0.1 µm: 400 kPa</a:t>
            </a:r>
          </a:p>
        </p:txBody>
      </p:sp>
      <p:sp>
        <p:nvSpPr>
          <p:cNvPr id="36" name="C2-E11 round_rect 34" descr="sci-ppt:o034"/>
          <p:cNvSpPr/>
          <p:nvPr/>
        </p:nvSpPr>
        <p:spPr>
          <a:xfrm>
            <a:off x="365760" y="914400"/>
            <a:ext cx="493776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2-E11 text 35" descr="sci-ppt:o035"/>
          <p:cNvSpPr txBox="1"/>
          <p:nvPr/>
        </p:nvSpPr>
        <p:spPr>
          <a:xfrm>
            <a:off x="475488" y="969264"/>
            <a:ext cx="471830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Smaller inclusion, larger capillary pressure</a:t>
            </a:r>
          </a:p>
        </p:txBody>
      </p:sp>
      <p:sp>
        <p:nvSpPr>
          <p:cNvPr id="38" name="C2-E11 ellipse 36" descr="sci-ppt:o036"/>
          <p:cNvSpPr/>
          <p:nvPr/>
        </p:nvSpPr>
        <p:spPr>
          <a:xfrm>
            <a:off x="685800" y="1874520"/>
            <a:ext cx="2103120" cy="2103120"/>
          </a:xfrm>
          <a:prstGeom prst="ellipse">
            <a:avLst/>
          </a:prstGeom>
          <a:solidFill>
            <a:srgbClr val="1E4A5A"/>
          </a:solidFill>
          <a:ln w="2794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2-E11 text 37" descr="sci-ppt:o037"/>
          <p:cNvSpPr txBox="1"/>
          <p:nvPr/>
        </p:nvSpPr>
        <p:spPr>
          <a:xfrm>
            <a:off x="1005840" y="2743200"/>
            <a:ext cx="146304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a = 5 µm</a:t>
            </a:r>
          </a:p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8 kPa</a:t>
            </a:r>
          </a:p>
        </p:txBody>
      </p:sp>
      <p:sp>
        <p:nvSpPr>
          <p:cNvPr id="40" name="C2-E11 ellipse 38" descr="sci-ppt:o038"/>
          <p:cNvSpPr/>
          <p:nvPr/>
        </p:nvSpPr>
        <p:spPr>
          <a:xfrm>
            <a:off x="3703320" y="2606040"/>
            <a:ext cx="640080" cy="640080"/>
          </a:xfrm>
          <a:prstGeom prst="ellipse">
            <a:avLst/>
          </a:prstGeom>
          <a:solidFill>
            <a:srgbClr val="1E4A5A"/>
          </a:solidFill>
          <a:ln w="2794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2-E11 text 39" descr="sci-ppt:o039"/>
          <p:cNvSpPr txBox="1"/>
          <p:nvPr/>
        </p:nvSpPr>
        <p:spPr>
          <a:xfrm>
            <a:off x="3474720" y="3383280"/>
            <a:ext cx="128016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28BA0"/>
                </a:solidFill>
                <a:latin typeface="Arial"/>
              </a:rPr>
              <a:t>a = 0.1 µm</a:t>
            </a:r>
          </a:p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28BA0"/>
                </a:solidFill>
                <a:latin typeface="Arial"/>
              </a:rPr>
              <a:t>400 kPa</a:t>
            </a:r>
          </a:p>
        </p:txBody>
      </p:sp>
      <p:sp>
        <p:nvSpPr>
          <p:cNvPr id="42" name="C2-E11 text 40" descr="sci-ppt:o040"/>
          <p:cNvSpPr txBox="1"/>
          <p:nvPr/>
        </p:nvSpPr>
        <p:spPr>
          <a:xfrm>
            <a:off x="502920" y="4160520"/>
            <a:ext cx="457200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2B880"/>
                </a:solidFill>
                <a:latin typeface="Arial"/>
              </a:rPr>
              <a:t>p_d ≃ p_c + 2σ_pc/a + Πₛₕₑₗₗ</a:t>
            </a:r>
          </a:p>
        </p:txBody>
      </p:sp>
      <p:sp>
        <p:nvSpPr>
          <p:cNvPr id="43" name="C2-E11 text 41" descr="sci-ppt:o041"/>
          <p:cNvSpPr txBox="1"/>
          <p:nvPr/>
        </p:nvSpPr>
        <p:spPr>
          <a:xfrm>
            <a:off x="502920" y="4572000"/>
            <a:ext cx="457200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σ_pc = 0.020 N/m (teaching value); the shell term is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added separately.</a:t>
            </a:r>
          </a:p>
        </p:txBody>
      </p:sp>
      <p:sp>
        <p:nvSpPr>
          <p:cNvPr id="44" name="C2-E11 text 42" descr="sci-ppt:o042"/>
          <p:cNvSpPr txBox="1"/>
          <p:nvPr/>
        </p:nvSpPr>
        <p:spPr>
          <a:xfrm>
            <a:off x="5577840" y="5733288"/>
            <a:ext cx="621792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Same tension, 50 times smaller radius: capillary pressure 50 times larger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(2σ/a is inversely proportional to a).</a:t>
            </a:r>
          </a:p>
        </p:txBody>
      </p:sp>
      <p:sp>
        <p:nvSpPr>
          <p:cNvPr id="45" name="C2-E11 text 43" descr="sci-ppt:o043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Static capillary control of Eq. C2-E11.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