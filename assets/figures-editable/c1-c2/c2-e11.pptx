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11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C2-E11 | Physical-variable diagram</a:t>
            </a:r>
          </a:p>
        </p:txBody>
      </p:sp>
      <p:sp>
        <p:nvSpPr>
          <p:cNvPr id="3" name="ellipse2" descr="sci-ppt:C2-E11-002"/>
          <p:cNvSpPr/>
          <p:nvPr/>
        </p:nvSpPr>
        <p:spPr>
          <a:xfrm>
            <a:off x="2072640" y="1402080"/>
            <a:ext cx="2438400" cy="2438400"/>
          </a:xfrm>
          <a:prstGeom prst="ellipse">
            <a:avLst/>
          </a:prstGeom>
          <a:solidFill>
            <a:srgbClr val="213E4B"/>
          </a:solidFill>
          <a:ln w="2159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arrow3" descr="sci-ppt:C2-E11-003"/>
          <p:cNvCxnSpPr/>
          <p:nvPr/>
        </p:nvCxnSpPr>
        <p:spPr>
          <a:xfrm>
            <a:off x="3291840" y="2621280"/>
            <a:ext cx="12192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2-E11-004"/>
          <p:cNvSpPr txBox="1"/>
          <p:nvPr/>
        </p:nvSpPr>
        <p:spPr>
          <a:xfrm>
            <a:off x="3474720" y="2133600"/>
            <a:ext cx="1584960" cy="39684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16" b="0" i="0">
                <a:solidFill>
                  <a:srgbClr val="E7F0F3"/>
                </a:solidFill>
                <a:latin typeface="Arial"/>
              </a:rPr>
              <a:t>a</a:t>
            </a:r>
          </a:p>
        </p:txBody>
      </p:sp>
      <p:sp>
        <p:nvSpPr>
          <p:cNvPr id="6" name="text5" descr="sci-ppt:C2-E11-005"/>
          <p:cNvSpPr txBox="1"/>
          <p:nvPr/>
        </p:nvSpPr>
        <p:spPr>
          <a:xfrm>
            <a:off x="2682240" y="2804160"/>
            <a:ext cx="2194560" cy="37795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0" i="0">
                <a:solidFill>
                  <a:srgbClr val="E7F0F3"/>
                </a:solidFill>
                <a:latin typeface="Arial"/>
              </a:rPr>
              <a:t>PFC liquid</a:t>
            </a:r>
          </a:p>
        </p:txBody>
      </p:sp>
      <p:sp>
        <p:nvSpPr>
          <p:cNvPr id="7" name="text6" descr="sci-ppt:C2-E11-006"/>
          <p:cNvSpPr txBox="1"/>
          <p:nvPr/>
        </p:nvSpPr>
        <p:spPr>
          <a:xfrm>
            <a:off x="5242560" y="1524000"/>
            <a:ext cx="4876800" cy="415747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11" b="0" i="0">
                <a:solidFill>
                  <a:srgbClr val="E7F0F3"/>
                </a:solidFill>
                <a:latin typeface="Arial"/>
              </a:rPr>
              <a:t>Aqueous carrier</a:t>
            </a:r>
          </a:p>
        </p:txBody>
      </p:sp>
      <p:sp>
        <p:nvSpPr>
          <p:cNvPr id="8" name="text7" descr="sci-ppt:C2-E11-007"/>
          <p:cNvSpPr txBox="1"/>
          <p:nvPr/>
        </p:nvSpPr>
        <p:spPr>
          <a:xfrm>
            <a:off x="5242560" y="1987296"/>
            <a:ext cx="585216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p_c; interface: σ_pc, shell</a:t>
            </a:r>
          </a:p>
        </p:txBody>
      </p:sp>
      <p:sp>
        <p:nvSpPr>
          <p:cNvPr id="9" name="text8" descr="sci-ppt:C2-E11-008"/>
          <p:cNvSpPr txBox="1"/>
          <p:nvPr/>
        </p:nvSpPr>
        <p:spPr>
          <a:xfrm>
            <a:off x="1219200" y="4206240"/>
            <a:ext cx="97536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Finite liquid core: a differs from subsequent bubble radius R.</a:t>
            </a:r>
          </a:p>
        </p:txBody>
      </p:sp>
      <p:sp>
        <p:nvSpPr>
          <p:cNvPr id="10" name="text9" descr="sci-ppt:C2-E11-009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a: PFC-core radius</a:t>
            </a:r>
          </a:p>
        </p:txBody>
      </p:sp>
      <p:sp>
        <p:nvSpPr>
          <p:cNvPr id="11" name="text10" descr="sci-ppt:C2-E11-010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p_c: aqueous carrier outside</a:t>
            </a:r>
          </a:p>
        </p:txBody>
      </p:sp>
      <p:sp>
        <p:nvSpPr>
          <p:cNvPr id="12" name="text11" descr="sci-ppt:C2-E11-011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Π_shell: shell pressure</a:t>
            </a:r>
          </a:p>
        </p:txBody>
      </p:sp>
      <p:sp>
        <p:nvSpPr>
          <p:cNvPr id="13" name="text12" descr="sci-ppt:C2-E11-012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p_d: inside core</a:t>
            </a:r>
          </a:p>
        </p:txBody>
      </p:sp>
      <p:sp>
        <p:nvSpPr>
          <p:cNvPr id="14" name="text13" descr="sci-ppt:C2-E11-013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σ_pc: PFC–carrier interface</a:t>
            </a:r>
          </a:p>
        </p:txBody>
      </p:sp>
      <p:sp>
        <p:nvSpPr>
          <p:cNvPr id="15" name="text14" descr="sci-ppt:C2-E11-014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8 kPa at 5 μm; 400 kPa at 100 nm</a:t>
            </a:r>
          </a:p>
        </p:txBody>
      </p:sp>
      <p:sp>
        <p:nvSpPr>
          <p:cNvPr id="16" name="text15" descr="sci-ppt:C2-E11-015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PFC-core radius is not the subsequent bubble radius</a:t>
            </a:r>
          </a:p>
        </p:txBody>
      </p:sp>
      <p:sp>
        <p:nvSpPr>
          <p:cNvPr id="17" name="text16" descr="sci-ppt:C2-E11-016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 nanodroplet may need much more local pressure than a micron 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