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C1-E19 · Declared teaching calculation</a:t>
            </a:r>
          </a:p>
        </p:txBody>
      </p:sp>
      <p:cxnSp>
        <p:nvCxnSpPr>
          <p:cNvPr id="3" name="C1-E19 line 1" descr="sci-ppt:o001"/>
          <p:cNvCxnSpPr/>
          <p:nvPr/>
        </p:nvCxnSpPr>
        <p:spPr>
          <a:xfrm>
            <a:off x="914400" y="3108960"/>
            <a:ext cx="57607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9 line 2" descr="sci-ppt:o002"/>
          <p:cNvCxnSpPr/>
          <p:nvPr/>
        </p:nvCxnSpPr>
        <p:spPr>
          <a:xfrm>
            <a:off x="914400" y="1280160"/>
            <a:ext cx="0" cy="1828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9 line 3" descr="sci-ppt:o003"/>
          <p:cNvCxnSpPr/>
          <p:nvPr/>
        </p:nvCxnSpPr>
        <p:spPr>
          <a:xfrm>
            <a:off x="914400" y="31089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9 line 4" descr="sci-ppt:o004"/>
          <p:cNvCxnSpPr/>
          <p:nvPr/>
        </p:nvCxnSpPr>
        <p:spPr>
          <a:xfrm>
            <a:off x="914400" y="1280160"/>
            <a:ext cx="0" cy="18288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9 text 5" descr="sci-ppt:o005"/>
          <p:cNvSpPr txBox="1"/>
          <p:nvPr/>
        </p:nvSpPr>
        <p:spPr>
          <a:xfrm>
            <a:off x="457200" y="31912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1-E19 line 6" descr="sci-ppt:o006"/>
          <p:cNvCxnSpPr/>
          <p:nvPr/>
        </p:nvCxnSpPr>
        <p:spPr>
          <a:xfrm>
            <a:off x="2834639" y="31089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9 line 7" descr="sci-ppt:o007"/>
          <p:cNvCxnSpPr/>
          <p:nvPr/>
        </p:nvCxnSpPr>
        <p:spPr>
          <a:xfrm>
            <a:off x="2834639" y="1280160"/>
            <a:ext cx="0" cy="18288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9 text 8" descr="sci-ppt:o008"/>
          <p:cNvSpPr txBox="1"/>
          <p:nvPr/>
        </p:nvSpPr>
        <p:spPr>
          <a:xfrm>
            <a:off x="2377439" y="31912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1-E19 line 9" descr="sci-ppt:o009"/>
          <p:cNvCxnSpPr/>
          <p:nvPr/>
        </p:nvCxnSpPr>
        <p:spPr>
          <a:xfrm>
            <a:off x="4754879" y="31089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9 line 10" descr="sci-ppt:o010"/>
          <p:cNvCxnSpPr/>
          <p:nvPr/>
        </p:nvCxnSpPr>
        <p:spPr>
          <a:xfrm>
            <a:off x="4754879" y="1280160"/>
            <a:ext cx="0" cy="18288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9 text 11" descr="sci-ppt:o011"/>
          <p:cNvSpPr txBox="1"/>
          <p:nvPr/>
        </p:nvSpPr>
        <p:spPr>
          <a:xfrm>
            <a:off x="4297679" y="31912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1-E19 line 12" descr="sci-ppt:o012"/>
          <p:cNvCxnSpPr/>
          <p:nvPr/>
        </p:nvCxnSpPr>
        <p:spPr>
          <a:xfrm>
            <a:off x="6675120" y="31089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9 line 13" descr="sci-ppt:o013"/>
          <p:cNvCxnSpPr/>
          <p:nvPr/>
        </p:nvCxnSpPr>
        <p:spPr>
          <a:xfrm>
            <a:off x="6675120" y="1280160"/>
            <a:ext cx="0" cy="18288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9 text 14" descr="sci-ppt:o014"/>
          <p:cNvSpPr txBox="1"/>
          <p:nvPr/>
        </p:nvSpPr>
        <p:spPr>
          <a:xfrm>
            <a:off x="6217920" y="31912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7" name="C1-E19 line 15" descr="sci-ppt:o015"/>
          <p:cNvCxnSpPr/>
          <p:nvPr/>
        </p:nvCxnSpPr>
        <p:spPr>
          <a:xfrm>
            <a:off x="850392" y="3108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9 line 16" descr="sci-ppt:o016"/>
          <p:cNvCxnSpPr/>
          <p:nvPr/>
        </p:nvCxnSpPr>
        <p:spPr>
          <a:xfrm>
            <a:off x="850392" y="25374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19 line 17" descr="sci-ppt:o017"/>
          <p:cNvCxnSpPr/>
          <p:nvPr/>
        </p:nvCxnSpPr>
        <p:spPr>
          <a:xfrm>
            <a:off x="914400" y="253746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19 text 18" descr="sci-ppt:o018"/>
          <p:cNvSpPr txBox="1"/>
          <p:nvPr/>
        </p:nvSpPr>
        <p:spPr>
          <a:xfrm>
            <a:off x="45720" y="24551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1" name="C1-E19 line 19" descr="sci-ppt:o019"/>
          <p:cNvCxnSpPr/>
          <p:nvPr/>
        </p:nvCxnSpPr>
        <p:spPr>
          <a:xfrm>
            <a:off x="850392" y="1965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9 line 20" descr="sci-ppt:o020"/>
          <p:cNvCxnSpPr/>
          <p:nvPr/>
        </p:nvCxnSpPr>
        <p:spPr>
          <a:xfrm>
            <a:off x="914400" y="196596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9 text 21" descr="sci-ppt:o021"/>
          <p:cNvSpPr txBox="1"/>
          <p:nvPr/>
        </p:nvSpPr>
        <p:spPr>
          <a:xfrm>
            <a:off x="45720" y="1883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24" name="C1-E19 line 22" descr="sci-ppt:o022"/>
          <p:cNvCxnSpPr/>
          <p:nvPr/>
        </p:nvCxnSpPr>
        <p:spPr>
          <a:xfrm>
            <a:off x="850392" y="13944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9 line 23" descr="sci-ppt:o023"/>
          <p:cNvCxnSpPr/>
          <p:nvPr/>
        </p:nvCxnSpPr>
        <p:spPr>
          <a:xfrm>
            <a:off x="914400" y="139446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9 text 24" descr="sci-ppt:o024"/>
          <p:cNvSpPr txBox="1"/>
          <p:nvPr/>
        </p:nvSpPr>
        <p:spPr>
          <a:xfrm>
            <a:off x="45720" y="131216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</a:t>
            </a:r>
          </a:p>
        </p:txBody>
      </p:sp>
      <p:sp>
        <p:nvSpPr>
          <p:cNvPr id="27" name="C1-E19 text 25" descr="sci-ppt:o025"/>
          <p:cNvSpPr txBox="1"/>
          <p:nvPr/>
        </p:nvSpPr>
        <p:spPr>
          <a:xfrm>
            <a:off x="365760" y="93268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 (µm)</a:t>
            </a:r>
          </a:p>
        </p:txBody>
      </p:sp>
      <p:sp>
        <p:nvSpPr>
          <p:cNvPr id="28" name="C1-E19 polygon 26" descr="sci-ppt:o026"/>
          <p:cNvSpPr/>
          <p:nvPr/>
        </p:nvSpPr>
        <p:spPr>
          <a:xfrm>
            <a:off x="914400" y="1394460"/>
            <a:ext cx="5269223" cy="1714157"/>
          </a:xfrm>
          <a:custGeom>
            <a:avLst/>
            <a:gdLst/>
            <a:ahLst/>
            <a:cxnLst/>
            <a:rect l="l" t="t" r="r" b="b"/>
            <a:pathLst>
              <a:path w="5269223" h="1714157">
                <a:moveTo>
                  <a:pt x="0" y="0"/>
                </a:moveTo>
                <a:lnTo>
                  <a:pt x="54396" y="76"/>
                </a:lnTo>
                <a:lnTo>
                  <a:pt x="108789" y="305"/>
                </a:lnTo>
                <a:lnTo>
                  <a:pt x="163171" y="687"/>
                </a:lnTo>
                <a:lnTo>
                  <a:pt x="217539" y="1223"/>
                </a:lnTo>
                <a:lnTo>
                  <a:pt x="271887" y="1910"/>
                </a:lnTo>
                <a:lnTo>
                  <a:pt x="326212" y="2751"/>
                </a:lnTo>
                <a:lnTo>
                  <a:pt x="380507" y="3745"/>
                </a:lnTo>
                <a:lnTo>
                  <a:pt x="434768" y="4892"/>
                </a:lnTo>
                <a:lnTo>
                  <a:pt x="488990" y="6191"/>
                </a:lnTo>
                <a:lnTo>
                  <a:pt x="543169" y="7643"/>
                </a:lnTo>
                <a:lnTo>
                  <a:pt x="597299" y="9249"/>
                </a:lnTo>
                <a:lnTo>
                  <a:pt x="651375" y="11007"/>
                </a:lnTo>
                <a:lnTo>
                  <a:pt x="705393" y="12918"/>
                </a:lnTo>
                <a:lnTo>
                  <a:pt x="759348" y="14982"/>
                </a:lnTo>
                <a:lnTo>
                  <a:pt x="813235" y="17198"/>
                </a:lnTo>
                <a:lnTo>
                  <a:pt x="867049" y="19568"/>
                </a:lnTo>
                <a:lnTo>
                  <a:pt x="920785" y="22090"/>
                </a:lnTo>
                <a:lnTo>
                  <a:pt x="974438" y="24766"/>
                </a:lnTo>
                <a:lnTo>
                  <a:pt x="1028004" y="27594"/>
                </a:lnTo>
                <a:lnTo>
                  <a:pt x="1081476" y="30575"/>
                </a:lnTo>
                <a:lnTo>
                  <a:pt x="1134852" y="33709"/>
                </a:lnTo>
                <a:lnTo>
                  <a:pt x="1188124" y="36996"/>
                </a:lnTo>
                <a:lnTo>
                  <a:pt x="1241289" y="40436"/>
                </a:lnTo>
                <a:lnTo>
                  <a:pt x="1294342" y="44029"/>
                </a:lnTo>
                <a:lnTo>
                  <a:pt x="1347278" y="47774"/>
                </a:lnTo>
                <a:lnTo>
                  <a:pt x="1400090" y="51672"/>
                </a:lnTo>
                <a:lnTo>
                  <a:pt x="1452776" y="55724"/>
                </a:lnTo>
                <a:lnTo>
                  <a:pt x="1505329" y="59928"/>
                </a:lnTo>
                <a:lnTo>
                  <a:pt x="1557745" y="64285"/>
                </a:lnTo>
                <a:lnTo>
                  <a:pt x="1610018" y="68795"/>
                </a:lnTo>
                <a:lnTo>
                  <a:pt x="1662144" y="73458"/>
                </a:lnTo>
                <a:lnTo>
                  <a:pt x="1714118" y="78273"/>
                </a:lnTo>
                <a:lnTo>
                  <a:pt x="1765933" y="83242"/>
                </a:lnTo>
                <a:lnTo>
                  <a:pt x="1817586" y="88363"/>
                </a:lnTo>
                <a:lnTo>
                  <a:pt x="1869072" y="93638"/>
                </a:lnTo>
                <a:lnTo>
                  <a:pt x="1920384" y="99065"/>
                </a:lnTo>
                <a:lnTo>
                  <a:pt x="1971519" y="104645"/>
                </a:lnTo>
                <a:lnTo>
                  <a:pt x="2022470" y="110378"/>
                </a:lnTo>
                <a:lnTo>
                  <a:pt x="2073234" y="116264"/>
                </a:lnTo>
                <a:lnTo>
                  <a:pt x="2123803" y="122302"/>
                </a:lnTo>
                <a:lnTo>
                  <a:pt x="2174174" y="128494"/>
                </a:lnTo>
                <a:lnTo>
                  <a:pt x="2224342" y="134839"/>
                </a:lnTo>
                <a:lnTo>
                  <a:pt x="2274300" y="141336"/>
                </a:lnTo>
                <a:lnTo>
                  <a:pt x="2324044" y="147986"/>
                </a:lnTo>
                <a:lnTo>
                  <a:pt x="2373568" y="154789"/>
                </a:lnTo>
                <a:lnTo>
                  <a:pt x="2422868" y="161745"/>
                </a:lnTo>
                <a:lnTo>
                  <a:pt x="2471937" y="168854"/>
                </a:lnTo>
                <a:lnTo>
                  <a:pt x="2520771" y="176116"/>
                </a:lnTo>
                <a:lnTo>
                  <a:pt x="2569365" y="183530"/>
                </a:lnTo>
                <a:lnTo>
                  <a:pt x="2617712" y="191098"/>
                </a:lnTo>
                <a:lnTo>
                  <a:pt x="2665808" y="198818"/>
                </a:lnTo>
                <a:lnTo>
                  <a:pt x="2713646" y="206691"/>
                </a:lnTo>
                <a:lnTo>
                  <a:pt x="2761223" y="214718"/>
                </a:lnTo>
                <a:lnTo>
                  <a:pt x="2808532" y="222897"/>
                </a:lnTo>
                <a:lnTo>
                  <a:pt x="2855568" y="231229"/>
                </a:lnTo>
                <a:lnTo>
                  <a:pt x="2902325" y="239713"/>
                </a:lnTo>
                <a:lnTo>
                  <a:pt x="2948798" y="248351"/>
                </a:lnTo>
                <a:lnTo>
                  <a:pt x="2994981" y="257141"/>
                </a:lnTo>
                <a:lnTo>
                  <a:pt x="3040869" y="266085"/>
                </a:lnTo>
                <a:lnTo>
                  <a:pt x="3086456" y="275181"/>
                </a:lnTo>
                <a:lnTo>
                  <a:pt x="3131737" y="284430"/>
                </a:lnTo>
                <a:lnTo>
                  <a:pt x="3176706" y="293832"/>
                </a:lnTo>
                <a:lnTo>
                  <a:pt x="3221357" y="303387"/>
                </a:lnTo>
                <a:lnTo>
                  <a:pt x="3265685" y="313095"/>
                </a:lnTo>
                <a:lnTo>
                  <a:pt x="3309685" y="322956"/>
                </a:lnTo>
                <a:lnTo>
                  <a:pt x="3353349" y="332969"/>
                </a:lnTo>
                <a:lnTo>
                  <a:pt x="3396673" y="343136"/>
                </a:lnTo>
                <a:lnTo>
                  <a:pt x="3439651" y="353455"/>
                </a:lnTo>
                <a:lnTo>
                  <a:pt x="3482277" y="363927"/>
                </a:lnTo>
                <a:lnTo>
                  <a:pt x="3524546" y="374552"/>
                </a:lnTo>
                <a:lnTo>
                  <a:pt x="3566451" y="385330"/>
                </a:lnTo>
                <a:lnTo>
                  <a:pt x="3607987" y="396261"/>
                </a:lnTo>
                <a:lnTo>
                  <a:pt x="3649147" y="407345"/>
                </a:lnTo>
                <a:lnTo>
                  <a:pt x="3689927" y="418581"/>
                </a:lnTo>
                <a:lnTo>
                  <a:pt x="3730319" y="429971"/>
                </a:lnTo>
                <a:lnTo>
                  <a:pt x="3770319" y="441513"/>
                </a:lnTo>
                <a:lnTo>
                  <a:pt x="3809920" y="453208"/>
                </a:lnTo>
                <a:lnTo>
                  <a:pt x="3849116" y="465056"/>
                </a:lnTo>
                <a:lnTo>
                  <a:pt x="3887901" y="477057"/>
                </a:lnTo>
                <a:lnTo>
                  <a:pt x="3926270" y="489211"/>
                </a:lnTo>
                <a:lnTo>
                  <a:pt x="3964216" y="501518"/>
                </a:lnTo>
                <a:lnTo>
                  <a:pt x="4001733" y="513978"/>
                </a:lnTo>
                <a:lnTo>
                  <a:pt x="4038815" y="526590"/>
                </a:lnTo>
                <a:lnTo>
                  <a:pt x="4075457" y="539356"/>
                </a:lnTo>
                <a:lnTo>
                  <a:pt x="4111651" y="552274"/>
                </a:lnTo>
                <a:lnTo>
                  <a:pt x="4147393" y="565345"/>
                </a:lnTo>
                <a:lnTo>
                  <a:pt x="4182675" y="578569"/>
                </a:lnTo>
                <a:lnTo>
                  <a:pt x="4217492" y="591946"/>
                </a:lnTo>
                <a:lnTo>
                  <a:pt x="4251838" y="605476"/>
                </a:lnTo>
                <a:lnTo>
                  <a:pt x="4285707" y="619158"/>
                </a:lnTo>
                <a:lnTo>
                  <a:pt x="4319092" y="632994"/>
                </a:lnTo>
                <a:lnTo>
                  <a:pt x="4351987" y="646982"/>
                </a:lnTo>
                <a:lnTo>
                  <a:pt x="4384387" y="661123"/>
                </a:lnTo>
                <a:lnTo>
                  <a:pt x="4416285" y="675418"/>
                </a:lnTo>
                <a:lnTo>
                  <a:pt x="4447675" y="689865"/>
                </a:lnTo>
                <a:lnTo>
                  <a:pt x="4478551" y="704465"/>
                </a:lnTo>
                <a:lnTo>
                  <a:pt x="4508908" y="719217"/>
                </a:lnTo>
                <a:lnTo>
                  <a:pt x="4538738" y="734123"/>
                </a:lnTo>
                <a:lnTo>
                  <a:pt x="4568037" y="749182"/>
                </a:lnTo>
                <a:lnTo>
                  <a:pt x="4596798" y="764393"/>
                </a:lnTo>
                <a:lnTo>
                  <a:pt x="4625015" y="779757"/>
                </a:lnTo>
                <a:lnTo>
                  <a:pt x="4652682" y="795274"/>
                </a:lnTo>
                <a:lnTo>
                  <a:pt x="4679794" y="810945"/>
                </a:lnTo>
                <a:lnTo>
                  <a:pt x="4706345" y="826767"/>
                </a:lnTo>
                <a:lnTo>
                  <a:pt x="4732329" y="842743"/>
                </a:lnTo>
                <a:lnTo>
                  <a:pt x="4757741" y="858872"/>
                </a:lnTo>
                <a:lnTo>
                  <a:pt x="4782574" y="875154"/>
                </a:lnTo>
                <a:lnTo>
                  <a:pt x="4806824" y="891588"/>
                </a:lnTo>
                <a:lnTo>
                  <a:pt x="4830485" y="908175"/>
                </a:lnTo>
                <a:lnTo>
                  <a:pt x="4853553" y="924916"/>
                </a:lnTo>
                <a:lnTo>
                  <a:pt x="4876021" y="941809"/>
                </a:lnTo>
                <a:lnTo>
                  <a:pt x="4897885" y="958855"/>
                </a:lnTo>
                <a:lnTo>
                  <a:pt x="4919140" y="976054"/>
                </a:lnTo>
                <a:lnTo>
                  <a:pt x="4939781" y="993405"/>
                </a:lnTo>
                <a:lnTo>
                  <a:pt x="4959805" y="1010910"/>
                </a:lnTo>
                <a:lnTo>
                  <a:pt x="4979206" y="1028567"/>
                </a:lnTo>
                <a:lnTo>
                  <a:pt x="4997981" y="1046378"/>
                </a:lnTo>
                <a:lnTo>
                  <a:pt x="5016125" y="1064341"/>
                </a:lnTo>
                <a:lnTo>
                  <a:pt x="5033636" y="1082457"/>
                </a:lnTo>
                <a:lnTo>
                  <a:pt x="5050510" y="1100726"/>
                </a:lnTo>
                <a:lnTo>
                  <a:pt x="5066745" y="1119148"/>
                </a:lnTo>
                <a:lnTo>
                  <a:pt x="5082336" y="1137723"/>
                </a:lnTo>
                <a:lnTo>
                  <a:pt x="5097283" y="1156450"/>
                </a:lnTo>
                <a:lnTo>
                  <a:pt x="5111583" y="1175331"/>
                </a:lnTo>
                <a:lnTo>
                  <a:pt x="5125235" y="1194364"/>
                </a:lnTo>
                <a:lnTo>
                  <a:pt x="5138239" y="1213551"/>
                </a:lnTo>
                <a:lnTo>
                  <a:pt x="5150592" y="1232890"/>
                </a:lnTo>
                <a:lnTo>
                  <a:pt x="5162297" y="1252382"/>
                </a:lnTo>
                <a:lnTo>
                  <a:pt x="5173354" y="1272027"/>
                </a:lnTo>
                <a:lnTo>
                  <a:pt x="5183763" y="1291824"/>
                </a:lnTo>
                <a:lnTo>
                  <a:pt x="5193528" y="1311775"/>
                </a:lnTo>
                <a:lnTo>
                  <a:pt x="5202652" y="1331879"/>
                </a:lnTo>
                <a:lnTo>
                  <a:pt x="5211138" y="1352135"/>
                </a:lnTo>
                <a:lnTo>
                  <a:pt x="5218991" y="1372544"/>
                </a:lnTo>
                <a:lnTo>
                  <a:pt x="5226218" y="1393107"/>
                </a:lnTo>
                <a:lnTo>
                  <a:pt x="5232826" y="1413822"/>
                </a:lnTo>
                <a:lnTo>
                  <a:pt x="5238823" y="1434690"/>
                </a:lnTo>
                <a:lnTo>
                  <a:pt x="5244219" y="1455710"/>
                </a:lnTo>
                <a:lnTo>
                  <a:pt x="5249027" y="1476884"/>
                </a:lnTo>
                <a:lnTo>
                  <a:pt x="5253260" y="1498211"/>
                </a:lnTo>
                <a:lnTo>
                  <a:pt x="5256934" y="1519690"/>
                </a:lnTo>
                <a:lnTo>
                  <a:pt x="5260067" y="1541322"/>
                </a:lnTo>
                <a:lnTo>
                  <a:pt x="5262680" y="1563108"/>
                </a:lnTo>
                <a:lnTo>
                  <a:pt x="5264799" y="1585046"/>
                </a:lnTo>
                <a:lnTo>
                  <a:pt x="5266451" y="1607137"/>
                </a:lnTo>
                <a:lnTo>
                  <a:pt x="5267671" y="1629381"/>
                </a:lnTo>
                <a:lnTo>
                  <a:pt x="5268498" y="1651777"/>
                </a:lnTo>
                <a:lnTo>
                  <a:pt x="5268984" y="1674327"/>
                </a:lnTo>
                <a:lnTo>
                  <a:pt x="5269192" y="1697029"/>
                </a:lnTo>
                <a:lnTo>
                  <a:pt x="5269223" y="1714157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19 ellipse 27" descr="sci-ppt:o027"/>
          <p:cNvSpPr/>
          <p:nvPr/>
        </p:nvSpPr>
        <p:spPr>
          <a:xfrm>
            <a:off x="5598989" y="2178558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1-E19 line 28" descr="sci-ppt:o028"/>
          <p:cNvCxnSpPr/>
          <p:nvPr/>
        </p:nvCxnSpPr>
        <p:spPr>
          <a:xfrm>
            <a:off x="6183623" y="1280160"/>
            <a:ext cx="0" cy="182880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31" name="C1-E19 text 29" descr="sci-ppt:o029"/>
          <p:cNvSpPr txBox="1"/>
          <p:nvPr/>
        </p:nvSpPr>
        <p:spPr>
          <a:xfrm>
            <a:off x="3203261" y="2205990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R = Rₘₐₓ/2 at 2.48 µs</a:t>
            </a:r>
          </a:p>
        </p:txBody>
      </p:sp>
      <p:sp>
        <p:nvSpPr>
          <p:cNvPr id="32" name="C1-E19 text 30" descr="sci-ppt:o030"/>
          <p:cNvSpPr txBox="1"/>
          <p:nvPr/>
        </p:nvSpPr>
        <p:spPr>
          <a:xfrm>
            <a:off x="4446263" y="1451610"/>
            <a:ext cx="1645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t_c = 2.744 µs</a:t>
            </a:r>
          </a:p>
        </p:txBody>
      </p:sp>
      <p:cxnSp>
        <p:nvCxnSpPr>
          <p:cNvPr id="33" name="C1-E19 line 31" descr="sci-ppt:o031"/>
          <p:cNvCxnSpPr/>
          <p:nvPr/>
        </p:nvCxnSpPr>
        <p:spPr>
          <a:xfrm>
            <a:off x="914400" y="5577840"/>
            <a:ext cx="57607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4" name="C1-E19 line 32" descr="sci-ppt:o032"/>
          <p:cNvCxnSpPr/>
          <p:nvPr/>
        </p:nvCxnSpPr>
        <p:spPr>
          <a:xfrm>
            <a:off x="914400" y="3840480"/>
            <a:ext cx="0" cy="17373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5" name="C1-E19 line 33" descr="sci-ppt:o033"/>
          <p:cNvCxnSpPr/>
          <p:nvPr/>
        </p:nvCxnSpPr>
        <p:spPr>
          <a:xfrm>
            <a:off x="914400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C1-E19 line 34" descr="sci-ppt:o034"/>
          <p:cNvCxnSpPr/>
          <p:nvPr/>
        </p:nvCxnSpPr>
        <p:spPr>
          <a:xfrm>
            <a:off x="914400" y="384048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C1-E19 text 35" descr="sci-ppt:o035"/>
          <p:cNvSpPr txBox="1"/>
          <p:nvPr/>
        </p:nvSpPr>
        <p:spPr>
          <a:xfrm>
            <a:off x="457200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8" name="C1-E19 line 36" descr="sci-ppt:o036"/>
          <p:cNvCxnSpPr/>
          <p:nvPr/>
        </p:nvCxnSpPr>
        <p:spPr>
          <a:xfrm>
            <a:off x="2834639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C1-E19 line 37" descr="sci-ppt:o037"/>
          <p:cNvCxnSpPr/>
          <p:nvPr/>
        </p:nvCxnSpPr>
        <p:spPr>
          <a:xfrm>
            <a:off x="2834639" y="384048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0" name="C1-E19 text 38" descr="sci-ppt:o038"/>
          <p:cNvSpPr txBox="1"/>
          <p:nvPr/>
        </p:nvSpPr>
        <p:spPr>
          <a:xfrm>
            <a:off x="2377439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1" name="C1-E19 line 39" descr="sci-ppt:o039"/>
          <p:cNvCxnSpPr/>
          <p:nvPr/>
        </p:nvCxnSpPr>
        <p:spPr>
          <a:xfrm>
            <a:off x="4754879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1-E19 line 40" descr="sci-ppt:o040"/>
          <p:cNvCxnSpPr/>
          <p:nvPr/>
        </p:nvCxnSpPr>
        <p:spPr>
          <a:xfrm>
            <a:off x="4754879" y="384048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C1-E19 text 41" descr="sci-ppt:o041"/>
          <p:cNvSpPr txBox="1"/>
          <p:nvPr/>
        </p:nvSpPr>
        <p:spPr>
          <a:xfrm>
            <a:off x="4297679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4" name="C1-E19 line 42" descr="sci-ppt:o042"/>
          <p:cNvCxnSpPr/>
          <p:nvPr/>
        </p:nvCxnSpPr>
        <p:spPr>
          <a:xfrm>
            <a:off x="6675120" y="55778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1-E19 line 43" descr="sci-ppt:o043"/>
          <p:cNvCxnSpPr/>
          <p:nvPr/>
        </p:nvCxnSpPr>
        <p:spPr>
          <a:xfrm>
            <a:off x="6675120" y="3840480"/>
            <a:ext cx="0" cy="17373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6" name="C1-E19 text 44" descr="sci-ppt:o044"/>
          <p:cNvSpPr txBox="1"/>
          <p:nvPr/>
        </p:nvSpPr>
        <p:spPr>
          <a:xfrm>
            <a:off x="6217920" y="56601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47" name="C1-E19 line 45" descr="sci-ppt:o045"/>
          <p:cNvCxnSpPr/>
          <p:nvPr/>
        </p:nvCxnSpPr>
        <p:spPr>
          <a:xfrm>
            <a:off x="850392" y="55778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C1-E19 line 46" descr="sci-ppt:o046"/>
          <p:cNvCxnSpPr/>
          <p:nvPr/>
        </p:nvCxnSpPr>
        <p:spPr>
          <a:xfrm>
            <a:off x="850392" y="504326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19 line 47" descr="sci-ppt:o047"/>
          <p:cNvCxnSpPr/>
          <p:nvPr/>
        </p:nvCxnSpPr>
        <p:spPr>
          <a:xfrm>
            <a:off x="914400" y="5043267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C1-E19 text 48" descr="sci-ppt:o048"/>
          <p:cNvSpPr txBox="1"/>
          <p:nvPr/>
        </p:nvSpPr>
        <p:spPr>
          <a:xfrm>
            <a:off x="45720" y="496097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51" name="C1-E19 line 49" descr="sci-ppt:o049"/>
          <p:cNvCxnSpPr/>
          <p:nvPr/>
        </p:nvCxnSpPr>
        <p:spPr>
          <a:xfrm>
            <a:off x="850392" y="450869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C1-E19 line 50" descr="sci-ppt:o050"/>
          <p:cNvCxnSpPr/>
          <p:nvPr/>
        </p:nvCxnSpPr>
        <p:spPr>
          <a:xfrm>
            <a:off x="914400" y="4508695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C1-E19 text 51" descr="sci-ppt:o051"/>
          <p:cNvSpPr txBox="1"/>
          <p:nvPr/>
        </p:nvSpPr>
        <p:spPr>
          <a:xfrm>
            <a:off x="45720" y="442639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</a:t>
            </a:r>
          </a:p>
        </p:txBody>
      </p:sp>
      <p:cxnSp>
        <p:nvCxnSpPr>
          <p:cNvPr id="54" name="C1-E19 line 52" descr="sci-ppt:o052"/>
          <p:cNvCxnSpPr/>
          <p:nvPr/>
        </p:nvCxnSpPr>
        <p:spPr>
          <a:xfrm>
            <a:off x="850392" y="397412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5" name="C1-E19 line 53" descr="sci-ppt:o053"/>
          <p:cNvCxnSpPr/>
          <p:nvPr/>
        </p:nvCxnSpPr>
        <p:spPr>
          <a:xfrm>
            <a:off x="914400" y="3974123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6" name="C1-E19 text 54" descr="sci-ppt:o054"/>
          <p:cNvSpPr txBox="1"/>
          <p:nvPr/>
        </p:nvSpPr>
        <p:spPr>
          <a:xfrm>
            <a:off x="45720" y="389182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12</a:t>
            </a:r>
          </a:p>
        </p:txBody>
      </p:sp>
      <p:sp>
        <p:nvSpPr>
          <p:cNvPr id="57" name="C1-E19 text 55" descr="sci-ppt:o055"/>
          <p:cNvSpPr txBox="1"/>
          <p:nvPr/>
        </p:nvSpPr>
        <p:spPr>
          <a:xfrm>
            <a:off x="914400" y="5861303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58" name="C1-E19 text 56" descr="sci-ppt:o056"/>
          <p:cNvSpPr txBox="1"/>
          <p:nvPr/>
        </p:nvSpPr>
        <p:spPr>
          <a:xfrm>
            <a:off x="365760" y="349300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Kₗ  (nJ)</a:t>
            </a:r>
          </a:p>
        </p:txBody>
      </p:sp>
      <p:sp>
        <p:nvSpPr>
          <p:cNvPr id="59" name="C1-E19 polygon 57" descr="sci-ppt:o057"/>
          <p:cNvSpPr/>
          <p:nvPr/>
        </p:nvSpPr>
        <p:spPr>
          <a:xfrm>
            <a:off x="914400" y="4066372"/>
            <a:ext cx="5269223" cy="1511014"/>
          </a:xfrm>
          <a:custGeom>
            <a:avLst/>
            <a:gdLst/>
            <a:ahLst/>
            <a:cxnLst/>
            <a:rect l="l" t="t" r="r" b="b"/>
            <a:pathLst>
              <a:path w="5269223" h="1511014">
                <a:moveTo>
                  <a:pt x="0" y="1511014"/>
                </a:moveTo>
                <a:lnTo>
                  <a:pt x="54396" y="1511014"/>
                </a:lnTo>
                <a:lnTo>
                  <a:pt x="108789" y="1510659"/>
                </a:lnTo>
                <a:lnTo>
                  <a:pt x="163171" y="1509649"/>
                </a:lnTo>
                <a:lnTo>
                  <a:pt x="217539" y="1508235"/>
                </a:lnTo>
                <a:lnTo>
                  <a:pt x="271887" y="1506419"/>
                </a:lnTo>
                <a:lnTo>
                  <a:pt x="326212" y="1504201"/>
                </a:lnTo>
                <a:lnTo>
                  <a:pt x="380507" y="1501583"/>
                </a:lnTo>
                <a:lnTo>
                  <a:pt x="434768" y="1498566"/>
                </a:lnTo>
                <a:lnTo>
                  <a:pt x="488990" y="1495151"/>
                </a:lnTo>
                <a:lnTo>
                  <a:pt x="543169" y="1491341"/>
                </a:lnTo>
                <a:lnTo>
                  <a:pt x="597299" y="1487138"/>
                </a:lnTo>
                <a:lnTo>
                  <a:pt x="651375" y="1482543"/>
                </a:lnTo>
                <a:lnTo>
                  <a:pt x="705393" y="1477559"/>
                </a:lnTo>
                <a:lnTo>
                  <a:pt x="759348" y="1472189"/>
                </a:lnTo>
                <a:lnTo>
                  <a:pt x="813235" y="1466436"/>
                </a:lnTo>
                <a:lnTo>
                  <a:pt x="867049" y="1460302"/>
                </a:lnTo>
                <a:lnTo>
                  <a:pt x="920785" y="1453792"/>
                </a:lnTo>
                <a:lnTo>
                  <a:pt x="974438" y="1446909"/>
                </a:lnTo>
                <a:lnTo>
                  <a:pt x="1028004" y="1439655"/>
                </a:lnTo>
                <a:lnTo>
                  <a:pt x="1081476" y="1432036"/>
                </a:lnTo>
                <a:lnTo>
                  <a:pt x="1134852" y="1424055"/>
                </a:lnTo>
                <a:lnTo>
                  <a:pt x="1188124" y="1415717"/>
                </a:lnTo>
                <a:lnTo>
                  <a:pt x="1241289" y="1407026"/>
                </a:lnTo>
                <a:lnTo>
                  <a:pt x="1294342" y="1397987"/>
                </a:lnTo>
                <a:lnTo>
                  <a:pt x="1347278" y="1388604"/>
                </a:lnTo>
                <a:lnTo>
                  <a:pt x="1400090" y="1378883"/>
                </a:lnTo>
                <a:lnTo>
                  <a:pt x="1452776" y="1368829"/>
                </a:lnTo>
                <a:lnTo>
                  <a:pt x="1505329" y="1358448"/>
                </a:lnTo>
                <a:lnTo>
                  <a:pt x="1557745" y="1347744"/>
                </a:lnTo>
                <a:lnTo>
                  <a:pt x="1610018" y="1336725"/>
                </a:lnTo>
                <a:lnTo>
                  <a:pt x="1662144" y="1325395"/>
                </a:lnTo>
                <a:lnTo>
                  <a:pt x="1714118" y="1313761"/>
                </a:lnTo>
                <a:lnTo>
                  <a:pt x="1765933" y="1301829"/>
                </a:lnTo>
                <a:lnTo>
                  <a:pt x="1817586" y="1289606"/>
                </a:lnTo>
                <a:lnTo>
                  <a:pt x="1869072" y="1277098"/>
                </a:lnTo>
                <a:lnTo>
                  <a:pt x="1920384" y="1264313"/>
                </a:lnTo>
                <a:lnTo>
                  <a:pt x="1971519" y="1251256"/>
                </a:lnTo>
                <a:lnTo>
                  <a:pt x="2022470" y="1237936"/>
                </a:lnTo>
                <a:lnTo>
                  <a:pt x="2073234" y="1224359"/>
                </a:lnTo>
                <a:lnTo>
                  <a:pt x="2123803" y="1210533"/>
                </a:lnTo>
                <a:lnTo>
                  <a:pt x="2174174" y="1196466"/>
                </a:lnTo>
                <a:lnTo>
                  <a:pt x="2224342" y="1182165"/>
                </a:lnTo>
                <a:lnTo>
                  <a:pt x="2274300" y="1167638"/>
                </a:lnTo>
                <a:lnTo>
                  <a:pt x="2324044" y="1152892"/>
                </a:lnTo>
                <a:lnTo>
                  <a:pt x="2373568" y="1137937"/>
                </a:lnTo>
                <a:lnTo>
                  <a:pt x="2422868" y="1122780"/>
                </a:lnTo>
                <a:lnTo>
                  <a:pt x="2471937" y="1107429"/>
                </a:lnTo>
                <a:lnTo>
                  <a:pt x="2520771" y="1091894"/>
                </a:lnTo>
                <a:lnTo>
                  <a:pt x="2569365" y="1076182"/>
                </a:lnTo>
                <a:lnTo>
                  <a:pt x="2617712" y="1060302"/>
                </a:lnTo>
                <a:lnTo>
                  <a:pt x="2665808" y="1044263"/>
                </a:lnTo>
                <a:lnTo>
                  <a:pt x="2713646" y="1028074"/>
                </a:lnTo>
                <a:lnTo>
                  <a:pt x="2761223" y="1011744"/>
                </a:lnTo>
                <a:lnTo>
                  <a:pt x="2808532" y="995282"/>
                </a:lnTo>
                <a:lnTo>
                  <a:pt x="2855568" y="978696"/>
                </a:lnTo>
                <a:lnTo>
                  <a:pt x="2902325" y="961997"/>
                </a:lnTo>
                <a:lnTo>
                  <a:pt x="2948798" y="945193"/>
                </a:lnTo>
                <a:lnTo>
                  <a:pt x="2994981" y="928293"/>
                </a:lnTo>
                <a:lnTo>
                  <a:pt x="3040869" y="911308"/>
                </a:lnTo>
                <a:lnTo>
                  <a:pt x="3086456" y="894246"/>
                </a:lnTo>
                <a:lnTo>
                  <a:pt x="3131737" y="877117"/>
                </a:lnTo>
                <a:lnTo>
                  <a:pt x="3176706" y="859930"/>
                </a:lnTo>
                <a:lnTo>
                  <a:pt x="3221357" y="842696"/>
                </a:lnTo>
                <a:lnTo>
                  <a:pt x="3265685" y="825423"/>
                </a:lnTo>
                <a:lnTo>
                  <a:pt x="3309685" y="808122"/>
                </a:lnTo>
                <a:lnTo>
                  <a:pt x="3353349" y="790801"/>
                </a:lnTo>
                <a:lnTo>
                  <a:pt x="3396673" y="773472"/>
                </a:lnTo>
                <a:lnTo>
                  <a:pt x="3439651" y="756142"/>
                </a:lnTo>
                <a:lnTo>
                  <a:pt x="3482277" y="738822"/>
                </a:lnTo>
                <a:lnTo>
                  <a:pt x="3524546" y="721522"/>
                </a:lnTo>
                <a:lnTo>
                  <a:pt x="3566451" y="704251"/>
                </a:lnTo>
                <a:lnTo>
                  <a:pt x="3607987" y="687018"/>
                </a:lnTo>
                <a:lnTo>
                  <a:pt x="3649147" y="669834"/>
                </a:lnTo>
                <a:lnTo>
                  <a:pt x="3689927" y="652708"/>
                </a:lnTo>
                <a:lnTo>
                  <a:pt x="3730319" y="635650"/>
                </a:lnTo>
                <a:lnTo>
                  <a:pt x="3770319" y="618668"/>
                </a:lnTo>
                <a:lnTo>
                  <a:pt x="3809920" y="601772"/>
                </a:lnTo>
                <a:lnTo>
                  <a:pt x="3849116" y="584973"/>
                </a:lnTo>
                <a:lnTo>
                  <a:pt x="3887901" y="568278"/>
                </a:lnTo>
                <a:lnTo>
                  <a:pt x="3926270" y="551698"/>
                </a:lnTo>
                <a:lnTo>
                  <a:pt x="3964216" y="535240"/>
                </a:lnTo>
                <a:lnTo>
                  <a:pt x="4001733" y="518915"/>
                </a:lnTo>
                <a:lnTo>
                  <a:pt x="4038815" y="502732"/>
                </a:lnTo>
                <a:lnTo>
                  <a:pt x="4075457" y="486698"/>
                </a:lnTo>
                <a:lnTo>
                  <a:pt x="4111651" y="470823"/>
                </a:lnTo>
                <a:lnTo>
                  <a:pt x="4147393" y="455116"/>
                </a:lnTo>
                <a:lnTo>
                  <a:pt x="4182675" y="439584"/>
                </a:lnTo>
                <a:lnTo>
                  <a:pt x="4217492" y="424236"/>
                </a:lnTo>
                <a:lnTo>
                  <a:pt x="4251838" y="409081"/>
                </a:lnTo>
                <a:lnTo>
                  <a:pt x="4285707" y="394126"/>
                </a:lnTo>
                <a:lnTo>
                  <a:pt x="4319092" y="379379"/>
                </a:lnTo>
                <a:lnTo>
                  <a:pt x="4351987" y="364847"/>
                </a:lnTo>
                <a:lnTo>
                  <a:pt x="4384387" y="350539"/>
                </a:lnTo>
                <a:lnTo>
                  <a:pt x="4416285" y="336462"/>
                </a:lnTo>
                <a:lnTo>
                  <a:pt x="4447675" y="322622"/>
                </a:lnTo>
                <a:lnTo>
                  <a:pt x="4478551" y="309026"/>
                </a:lnTo>
                <a:lnTo>
                  <a:pt x="4508908" y="295682"/>
                </a:lnTo>
                <a:lnTo>
                  <a:pt x="4538738" y="282595"/>
                </a:lnTo>
                <a:lnTo>
                  <a:pt x="4568037" y="269772"/>
                </a:lnTo>
                <a:lnTo>
                  <a:pt x="4596798" y="257219"/>
                </a:lnTo>
                <a:lnTo>
                  <a:pt x="4625015" y="244941"/>
                </a:lnTo>
                <a:lnTo>
                  <a:pt x="4652682" y="232944"/>
                </a:lnTo>
                <a:lnTo>
                  <a:pt x="4679794" y="221233"/>
                </a:lnTo>
                <a:lnTo>
                  <a:pt x="4706345" y="209813"/>
                </a:lnTo>
                <a:lnTo>
                  <a:pt x="4732329" y="198688"/>
                </a:lnTo>
                <a:lnTo>
                  <a:pt x="4757741" y="187863"/>
                </a:lnTo>
                <a:lnTo>
                  <a:pt x="4782574" y="177341"/>
                </a:lnTo>
                <a:lnTo>
                  <a:pt x="4806824" y="167127"/>
                </a:lnTo>
                <a:lnTo>
                  <a:pt x="4830485" y="157223"/>
                </a:lnTo>
                <a:lnTo>
                  <a:pt x="4853553" y="147632"/>
                </a:lnTo>
                <a:lnTo>
                  <a:pt x="4876021" y="138358"/>
                </a:lnTo>
                <a:lnTo>
                  <a:pt x="4897885" y="129401"/>
                </a:lnTo>
                <a:lnTo>
                  <a:pt x="4919140" y="120765"/>
                </a:lnTo>
                <a:lnTo>
                  <a:pt x="4939781" y="112451"/>
                </a:lnTo>
                <a:lnTo>
                  <a:pt x="4959805" y="104459"/>
                </a:lnTo>
                <a:lnTo>
                  <a:pt x="4979206" y="96790"/>
                </a:lnTo>
                <a:lnTo>
                  <a:pt x="4997981" y="89444"/>
                </a:lnTo>
                <a:lnTo>
                  <a:pt x="5016125" y="82422"/>
                </a:lnTo>
                <a:lnTo>
                  <a:pt x="5033636" y="75722"/>
                </a:lnTo>
                <a:lnTo>
                  <a:pt x="5050510" y="69344"/>
                </a:lnTo>
                <a:lnTo>
                  <a:pt x="5066745" y="63286"/>
                </a:lnTo>
                <a:lnTo>
                  <a:pt x="5082336" y="57545"/>
                </a:lnTo>
                <a:lnTo>
                  <a:pt x="5097283" y="52120"/>
                </a:lnTo>
                <a:lnTo>
                  <a:pt x="5111583" y="47007"/>
                </a:lnTo>
                <a:lnTo>
                  <a:pt x="5125235" y="42202"/>
                </a:lnTo>
                <a:lnTo>
                  <a:pt x="5138239" y="37702"/>
                </a:lnTo>
                <a:lnTo>
                  <a:pt x="5150592" y="33502"/>
                </a:lnTo>
                <a:lnTo>
                  <a:pt x="5162297" y="29597"/>
                </a:lnTo>
                <a:lnTo>
                  <a:pt x="5173354" y="25980"/>
                </a:lnTo>
                <a:lnTo>
                  <a:pt x="5183763" y="22647"/>
                </a:lnTo>
                <a:lnTo>
                  <a:pt x="5193528" y="19589"/>
                </a:lnTo>
                <a:lnTo>
                  <a:pt x="5202652" y="16799"/>
                </a:lnTo>
                <a:lnTo>
                  <a:pt x="5211138" y="14270"/>
                </a:lnTo>
                <a:lnTo>
                  <a:pt x="5218991" y="11992"/>
                </a:lnTo>
                <a:lnTo>
                  <a:pt x="5226218" y="9956"/>
                </a:lnTo>
                <a:lnTo>
                  <a:pt x="5232826" y="8152"/>
                </a:lnTo>
                <a:lnTo>
                  <a:pt x="5238823" y="6570"/>
                </a:lnTo>
                <a:lnTo>
                  <a:pt x="5244219" y="5198"/>
                </a:lnTo>
                <a:lnTo>
                  <a:pt x="5249027" y="4023"/>
                </a:lnTo>
                <a:lnTo>
                  <a:pt x="5253260" y="3034"/>
                </a:lnTo>
                <a:lnTo>
                  <a:pt x="5256934" y="2217"/>
                </a:lnTo>
                <a:lnTo>
                  <a:pt x="5260067" y="1558"/>
                </a:lnTo>
                <a:lnTo>
                  <a:pt x="5262680" y="1041"/>
                </a:lnTo>
                <a:lnTo>
                  <a:pt x="5264799" y="651"/>
                </a:lnTo>
                <a:lnTo>
                  <a:pt x="5266451" y="371"/>
                </a:lnTo>
                <a:lnTo>
                  <a:pt x="5267671" y="185"/>
                </a:lnTo>
                <a:lnTo>
                  <a:pt x="5268498" y="74"/>
                </a:lnTo>
                <a:lnTo>
                  <a:pt x="5268984" y="19"/>
                </a:lnTo>
                <a:lnTo>
                  <a:pt x="5269192" y="2"/>
                </a:lnTo>
                <a:lnTo>
                  <a:pt x="5269223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C1-E19 line 58" descr="sci-ppt:o058"/>
          <p:cNvCxnSpPr/>
          <p:nvPr/>
        </p:nvCxnSpPr>
        <p:spPr>
          <a:xfrm>
            <a:off x="914400" y="4066372"/>
            <a:ext cx="5760720" cy="0"/>
          </a:xfrm>
          <a:prstGeom prst="line">
            <a:avLst/>
          </a:prstGeom>
          <a:ln w="16510">
            <a:solidFill>
              <a:srgbClr val="F2B880"/>
            </a:solidFill>
            <a:prstDash val="dash"/>
          </a:ln>
          <a:effectLst/>
        </p:spPr>
      </p:cxnSp>
      <p:sp>
        <p:nvSpPr>
          <p:cNvPr id="61" name="C1-E19 text 59" descr="sci-ppt:o059"/>
          <p:cNvSpPr txBox="1"/>
          <p:nvPr/>
        </p:nvSpPr>
        <p:spPr>
          <a:xfrm>
            <a:off x="1179576" y="3773764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E_B = 11.3097 nJ</a:t>
            </a:r>
          </a:p>
        </p:txBody>
      </p:sp>
      <p:sp>
        <p:nvSpPr>
          <p:cNvPr id="62" name="C1-E19 ellipse 60" descr="sci-ppt:o060"/>
          <p:cNvSpPr/>
          <p:nvPr/>
        </p:nvSpPr>
        <p:spPr>
          <a:xfrm>
            <a:off x="5598989" y="4182153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1-E19 text 61" descr="sci-ppt:o061"/>
          <p:cNvSpPr txBox="1"/>
          <p:nvPr/>
        </p:nvSpPr>
        <p:spPr>
          <a:xfrm>
            <a:off x="3386141" y="4365033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Kₗ = 7/8 E_B = 9.896 nJ</a:t>
            </a:r>
          </a:p>
        </p:txBody>
      </p:sp>
      <p:sp>
        <p:nvSpPr>
          <p:cNvPr id="64" name="C1-E19 round_rect 62" descr="sci-ppt:o062"/>
          <p:cNvSpPr/>
          <p:nvPr/>
        </p:nvSpPr>
        <p:spPr>
          <a:xfrm>
            <a:off x="7040880" y="1280160"/>
            <a:ext cx="4800600" cy="45262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C1-E19 text 63" descr="sci-ppt:o063"/>
          <p:cNvSpPr txBox="1"/>
          <p:nvPr/>
        </p:nvSpPr>
        <p:spPr>
          <a:xfrm>
            <a:off x="7150608" y="133502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The declared numbers</a:t>
            </a:r>
          </a:p>
        </p:txBody>
      </p:sp>
      <p:sp>
        <p:nvSpPr>
          <p:cNvPr id="66" name="C1-E19 text 64" descr="sci-ppt:o064"/>
          <p:cNvSpPr txBox="1"/>
          <p:nvPr/>
        </p:nvSpPr>
        <p:spPr>
          <a:xfrm>
            <a:off x="7223760" y="1783080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Collapse time</a:t>
            </a:r>
          </a:p>
        </p:txBody>
      </p:sp>
      <p:sp>
        <p:nvSpPr>
          <p:cNvPr id="67" name="C1-E19 text 65" descr="sci-ppt:o065"/>
          <p:cNvSpPr txBox="1"/>
          <p:nvPr/>
        </p:nvSpPr>
        <p:spPr>
          <a:xfrm>
            <a:off x="7315200" y="2030221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t_c = 0.9147 × 30 µm × √(1000/10⁵) = 2.7440 µs</a:t>
            </a:r>
          </a:p>
        </p:txBody>
      </p:sp>
      <p:sp>
        <p:nvSpPr>
          <p:cNvPr id="68" name="C1-E19 text 66" descr="sci-ppt:o066"/>
          <p:cNvSpPr txBox="1"/>
          <p:nvPr/>
        </p:nvSpPr>
        <p:spPr>
          <a:xfrm>
            <a:off x="7223760" y="2426462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Work scale</a:t>
            </a:r>
          </a:p>
        </p:txBody>
      </p:sp>
      <p:sp>
        <p:nvSpPr>
          <p:cNvPr id="69" name="C1-E19 text 67" descr="sci-ppt:o067"/>
          <p:cNvSpPr txBox="1"/>
          <p:nvPr/>
        </p:nvSpPr>
        <p:spPr>
          <a:xfrm>
            <a:off x="7315200" y="2673604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E_B = (4π/3)(10⁵)(30 µm)³ = 11.3097 nJ</a:t>
            </a:r>
          </a:p>
        </p:txBody>
      </p:sp>
      <p:sp>
        <p:nvSpPr>
          <p:cNvPr id="70" name="C1-E19 text 68" descr="sci-ppt:o068"/>
          <p:cNvSpPr txBox="1"/>
          <p:nvPr/>
        </p:nvSpPr>
        <p:spPr>
          <a:xfrm>
            <a:off x="7223760" y="3069844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Half-radius speed</a:t>
            </a:r>
          </a:p>
        </p:txBody>
      </p:sp>
      <p:sp>
        <p:nvSpPr>
          <p:cNvPr id="71" name="C1-E19 text 69" descr="sci-ppt:o069"/>
          <p:cNvSpPr txBox="1"/>
          <p:nvPr/>
        </p:nvSpPr>
        <p:spPr>
          <a:xfrm>
            <a:off x="7315200" y="3316986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Ṙ = −√[(2×10⁵/(3×1000))(8 − 1)] = −21.6025 m/s</a:t>
            </a:r>
          </a:p>
        </p:txBody>
      </p:sp>
      <p:sp>
        <p:nvSpPr>
          <p:cNvPr id="72" name="C1-E19 text 70" descr="sci-ppt:o070"/>
          <p:cNvSpPr txBox="1"/>
          <p:nvPr/>
        </p:nvSpPr>
        <p:spPr>
          <a:xfrm>
            <a:off x="7223760" y="3713226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Half-radius energy</a:t>
            </a:r>
          </a:p>
        </p:txBody>
      </p:sp>
      <p:sp>
        <p:nvSpPr>
          <p:cNvPr id="73" name="C1-E19 text 71" descr="sci-ppt:o071"/>
          <p:cNvSpPr txBox="1"/>
          <p:nvPr/>
        </p:nvSpPr>
        <p:spPr>
          <a:xfrm>
            <a:off x="7315200" y="3960368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Kₗ = (7/8) E_B = 9.8960 nJ</a:t>
            </a:r>
          </a:p>
        </p:txBody>
      </p:sp>
      <p:sp>
        <p:nvSpPr>
          <p:cNvPr id="74" name="C1-E19 text 72" descr="sci-ppt:o072"/>
          <p:cNvSpPr txBox="1"/>
          <p:nvPr/>
        </p:nvSpPr>
        <p:spPr>
          <a:xfrm>
            <a:off x="7223760" y="4402327"/>
            <a:ext cx="448056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Inputs: ρ = 1000 kg/m³, Δp_c = 100 kPa, Rₘₐₓ = 30 µm. 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teaching case, not a measurement.</a:t>
            </a:r>
          </a:p>
        </p:txBody>
      </p:sp>
      <p:sp>
        <p:nvSpPr>
          <p:cNvPr id="75" name="C1-E19 text 73" descr="sci-ppt:o073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All values from Eq. C1-E19 and the Rayleigh curve of Eq. C1-E16.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