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C1-E19 · Ideal-trajectory diagnostic, not a physical limit</a:t>
            </a:r>
          </a:p>
        </p:txBody>
      </p:sp>
      <p:cxnSp>
        <p:nvCxnSpPr>
          <p:cNvPr id="3" name="C1-E19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9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9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9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9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0.025</a:t>
            </a:r>
          </a:p>
        </p:txBody>
      </p:sp>
      <p:cxnSp>
        <p:nvCxnSpPr>
          <p:cNvPr id="8" name="C1-E19 line 6" descr="sci-ppt:o006"/>
          <p:cNvCxnSpPr/>
          <p:nvPr/>
        </p:nvCxnSpPr>
        <p:spPr>
          <a:xfrm>
            <a:off x="204839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9 line 7" descr="sci-ppt:o007"/>
          <p:cNvCxnSpPr/>
          <p:nvPr/>
        </p:nvCxnSpPr>
        <p:spPr>
          <a:xfrm>
            <a:off x="204839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9 text 8" descr="sci-ppt:o008"/>
          <p:cNvSpPr txBox="1"/>
          <p:nvPr/>
        </p:nvSpPr>
        <p:spPr>
          <a:xfrm>
            <a:off x="159119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1-E19 line 9" descr="sci-ppt:o009"/>
          <p:cNvCxnSpPr/>
          <p:nvPr/>
        </p:nvCxnSpPr>
        <p:spPr>
          <a:xfrm>
            <a:off x="318239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9 line 10" descr="sci-ppt:o010"/>
          <p:cNvCxnSpPr/>
          <p:nvPr/>
        </p:nvCxnSpPr>
        <p:spPr>
          <a:xfrm>
            <a:off x="318239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9 text 11" descr="sci-ppt:o011"/>
          <p:cNvSpPr txBox="1"/>
          <p:nvPr/>
        </p:nvSpPr>
        <p:spPr>
          <a:xfrm>
            <a:off x="272519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4" name="C1-E19 line 12" descr="sci-ppt:o012"/>
          <p:cNvCxnSpPr/>
          <p:nvPr/>
        </p:nvCxnSpPr>
        <p:spPr>
          <a:xfrm>
            <a:off x="431638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9 line 13" descr="sci-ppt:o013"/>
          <p:cNvCxnSpPr/>
          <p:nvPr/>
        </p:nvCxnSpPr>
        <p:spPr>
          <a:xfrm>
            <a:off x="431638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9 text 14" descr="sci-ppt:o014"/>
          <p:cNvSpPr txBox="1"/>
          <p:nvPr/>
        </p:nvSpPr>
        <p:spPr>
          <a:xfrm>
            <a:off x="385918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17" name="C1-E19 line 15" descr="sci-ppt:o015"/>
          <p:cNvCxnSpPr/>
          <p:nvPr/>
        </p:nvCxnSpPr>
        <p:spPr>
          <a:xfrm>
            <a:off x="581544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9 line 16" descr="sci-ppt:o016"/>
          <p:cNvCxnSpPr/>
          <p:nvPr/>
        </p:nvCxnSpPr>
        <p:spPr>
          <a:xfrm>
            <a:off x="581544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9 text 17" descr="sci-ppt:o017"/>
          <p:cNvSpPr txBox="1"/>
          <p:nvPr/>
        </p:nvSpPr>
        <p:spPr>
          <a:xfrm>
            <a:off x="535824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1-E19 line 18" descr="sci-ppt:o018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9 line 19" descr="sci-ppt:o019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19 text 20" descr="sci-ppt:o020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1-E19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19 line 22" descr="sci-ppt:o022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9 line 23" descr="sci-ppt:o023"/>
          <p:cNvCxnSpPr/>
          <p:nvPr/>
        </p:nvCxnSpPr>
        <p:spPr>
          <a:xfrm>
            <a:off x="914400" y="3810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9 text 24" descr="sci-ppt:o024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27" name="C1-E19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9 line 26" descr="sci-ppt:o026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9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0" name="C1-E19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9 line 29" descr="sci-ppt:o029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9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3" name="C1-E19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9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wall Mach number |Ṙ| / c</a:t>
            </a:r>
          </a:p>
        </p:txBody>
      </p:sp>
      <p:sp>
        <p:nvSpPr>
          <p:cNvPr id="35" name="C1-E19 polygon 33" descr="sci-ppt:o033"/>
          <p:cNvSpPr/>
          <p:nvPr/>
        </p:nvSpPr>
        <p:spPr>
          <a:xfrm>
            <a:off x="922160" y="1371600"/>
            <a:ext cx="6007121" cy="3628605"/>
          </a:xfrm>
          <a:custGeom>
            <a:avLst/>
            <a:gdLst/>
            <a:ahLst/>
            <a:cxnLst/>
            <a:rect l="l" t="t" r="r" b="b"/>
            <a:pathLst>
              <a:path w="6007121" h="3628605">
                <a:moveTo>
                  <a:pt x="0" y="0"/>
                </a:moveTo>
                <a:lnTo>
                  <a:pt x="40316" y="0"/>
                </a:lnTo>
                <a:lnTo>
                  <a:pt x="80632" y="0"/>
                </a:lnTo>
                <a:lnTo>
                  <a:pt x="120948" y="0"/>
                </a:lnTo>
                <a:lnTo>
                  <a:pt x="161265" y="0"/>
                </a:lnTo>
                <a:lnTo>
                  <a:pt x="201581" y="0"/>
                </a:lnTo>
                <a:lnTo>
                  <a:pt x="241897" y="0"/>
                </a:lnTo>
                <a:lnTo>
                  <a:pt x="282213" y="0"/>
                </a:lnTo>
                <a:lnTo>
                  <a:pt x="322530" y="0"/>
                </a:lnTo>
                <a:lnTo>
                  <a:pt x="362846" y="10515"/>
                </a:lnTo>
                <a:lnTo>
                  <a:pt x="403162" y="30088"/>
                </a:lnTo>
                <a:lnTo>
                  <a:pt x="443478" y="49662"/>
                </a:lnTo>
                <a:lnTo>
                  <a:pt x="483795" y="69235"/>
                </a:lnTo>
                <a:lnTo>
                  <a:pt x="524111" y="88808"/>
                </a:lnTo>
                <a:lnTo>
                  <a:pt x="564427" y="108381"/>
                </a:lnTo>
                <a:lnTo>
                  <a:pt x="604743" y="127955"/>
                </a:lnTo>
                <a:lnTo>
                  <a:pt x="645060" y="147528"/>
                </a:lnTo>
                <a:lnTo>
                  <a:pt x="685376" y="167101"/>
                </a:lnTo>
                <a:lnTo>
                  <a:pt x="725692" y="186675"/>
                </a:lnTo>
                <a:lnTo>
                  <a:pt x="766008" y="206249"/>
                </a:lnTo>
                <a:lnTo>
                  <a:pt x="806325" y="225822"/>
                </a:lnTo>
                <a:lnTo>
                  <a:pt x="846641" y="245396"/>
                </a:lnTo>
                <a:lnTo>
                  <a:pt x="886957" y="264970"/>
                </a:lnTo>
                <a:lnTo>
                  <a:pt x="927273" y="284544"/>
                </a:lnTo>
                <a:lnTo>
                  <a:pt x="967590" y="304119"/>
                </a:lnTo>
                <a:lnTo>
                  <a:pt x="1007906" y="323693"/>
                </a:lnTo>
                <a:lnTo>
                  <a:pt x="1048222" y="343267"/>
                </a:lnTo>
                <a:lnTo>
                  <a:pt x="1088538" y="362842"/>
                </a:lnTo>
                <a:lnTo>
                  <a:pt x="1128855" y="382417"/>
                </a:lnTo>
                <a:lnTo>
                  <a:pt x="1169171" y="401992"/>
                </a:lnTo>
                <a:lnTo>
                  <a:pt x="1209487" y="421567"/>
                </a:lnTo>
                <a:lnTo>
                  <a:pt x="1249803" y="441142"/>
                </a:lnTo>
                <a:lnTo>
                  <a:pt x="1290120" y="460718"/>
                </a:lnTo>
                <a:lnTo>
                  <a:pt x="1330436" y="480294"/>
                </a:lnTo>
                <a:lnTo>
                  <a:pt x="1370752" y="499870"/>
                </a:lnTo>
                <a:lnTo>
                  <a:pt x="1411068" y="519446"/>
                </a:lnTo>
                <a:lnTo>
                  <a:pt x="1451385" y="539023"/>
                </a:lnTo>
                <a:lnTo>
                  <a:pt x="1491701" y="558600"/>
                </a:lnTo>
                <a:lnTo>
                  <a:pt x="1532017" y="578178"/>
                </a:lnTo>
                <a:lnTo>
                  <a:pt x="1572333" y="597755"/>
                </a:lnTo>
                <a:lnTo>
                  <a:pt x="1612650" y="617334"/>
                </a:lnTo>
                <a:lnTo>
                  <a:pt x="1652966" y="636912"/>
                </a:lnTo>
                <a:lnTo>
                  <a:pt x="1693282" y="656491"/>
                </a:lnTo>
                <a:lnTo>
                  <a:pt x="1733598" y="676071"/>
                </a:lnTo>
                <a:lnTo>
                  <a:pt x="1773915" y="695651"/>
                </a:lnTo>
                <a:lnTo>
                  <a:pt x="1814231" y="715232"/>
                </a:lnTo>
                <a:lnTo>
                  <a:pt x="1854547" y="734813"/>
                </a:lnTo>
                <a:lnTo>
                  <a:pt x="1894864" y="754395"/>
                </a:lnTo>
                <a:lnTo>
                  <a:pt x="1935180" y="773978"/>
                </a:lnTo>
                <a:lnTo>
                  <a:pt x="1975496" y="793562"/>
                </a:lnTo>
                <a:lnTo>
                  <a:pt x="2015812" y="813146"/>
                </a:lnTo>
                <a:lnTo>
                  <a:pt x="2056129" y="832732"/>
                </a:lnTo>
                <a:lnTo>
                  <a:pt x="2096445" y="852318"/>
                </a:lnTo>
                <a:lnTo>
                  <a:pt x="2136761" y="871906"/>
                </a:lnTo>
                <a:lnTo>
                  <a:pt x="2177077" y="891494"/>
                </a:lnTo>
                <a:lnTo>
                  <a:pt x="2217394" y="911084"/>
                </a:lnTo>
                <a:lnTo>
                  <a:pt x="2257710" y="930676"/>
                </a:lnTo>
                <a:lnTo>
                  <a:pt x="2298026" y="950268"/>
                </a:lnTo>
                <a:lnTo>
                  <a:pt x="2338342" y="969862"/>
                </a:lnTo>
                <a:lnTo>
                  <a:pt x="2378659" y="989458"/>
                </a:lnTo>
                <a:lnTo>
                  <a:pt x="2418975" y="1009056"/>
                </a:lnTo>
                <a:lnTo>
                  <a:pt x="2459291" y="1028656"/>
                </a:lnTo>
                <a:lnTo>
                  <a:pt x="2499607" y="1048258"/>
                </a:lnTo>
                <a:lnTo>
                  <a:pt x="2539924" y="1067862"/>
                </a:lnTo>
                <a:lnTo>
                  <a:pt x="2580240" y="1087468"/>
                </a:lnTo>
                <a:lnTo>
                  <a:pt x="2620556" y="1107077"/>
                </a:lnTo>
                <a:lnTo>
                  <a:pt x="2660872" y="1126689"/>
                </a:lnTo>
                <a:lnTo>
                  <a:pt x="2701189" y="1146304"/>
                </a:lnTo>
                <a:lnTo>
                  <a:pt x="2741505" y="1165922"/>
                </a:lnTo>
                <a:lnTo>
                  <a:pt x="2781821" y="1185544"/>
                </a:lnTo>
                <a:lnTo>
                  <a:pt x="2822137" y="1205169"/>
                </a:lnTo>
                <a:lnTo>
                  <a:pt x="2862454" y="1224799"/>
                </a:lnTo>
                <a:lnTo>
                  <a:pt x="2902770" y="1244432"/>
                </a:lnTo>
                <a:lnTo>
                  <a:pt x="2943086" y="1264071"/>
                </a:lnTo>
                <a:lnTo>
                  <a:pt x="2983402" y="1283715"/>
                </a:lnTo>
                <a:lnTo>
                  <a:pt x="3023719" y="1303364"/>
                </a:lnTo>
                <a:lnTo>
                  <a:pt x="3064035" y="1323019"/>
                </a:lnTo>
                <a:lnTo>
                  <a:pt x="3104351" y="1342681"/>
                </a:lnTo>
                <a:lnTo>
                  <a:pt x="3144667" y="1362349"/>
                </a:lnTo>
                <a:lnTo>
                  <a:pt x="3184984" y="1382025"/>
                </a:lnTo>
                <a:lnTo>
                  <a:pt x="3225300" y="1401709"/>
                </a:lnTo>
                <a:lnTo>
                  <a:pt x="3265616" y="1421401"/>
                </a:lnTo>
                <a:lnTo>
                  <a:pt x="3305932" y="1441103"/>
                </a:lnTo>
                <a:lnTo>
                  <a:pt x="3346249" y="1460815"/>
                </a:lnTo>
                <a:lnTo>
                  <a:pt x="3386565" y="1480537"/>
                </a:lnTo>
                <a:lnTo>
                  <a:pt x="3426881" y="1500271"/>
                </a:lnTo>
                <a:lnTo>
                  <a:pt x="3467197" y="1520018"/>
                </a:lnTo>
                <a:lnTo>
                  <a:pt x="3507514" y="1539778"/>
                </a:lnTo>
                <a:lnTo>
                  <a:pt x="3547830" y="1559552"/>
                </a:lnTo>
                <a:lnTo>
                  <a:pt x="3588146" y="1579342"/>
                </a:lnTo>
                <a:lnTo>
                  <a:pt x="3628462" y="1599149"/>
                </a:lnTo>
                <a:lnTo>
                  <a:pt x="3668779" y="1618975"/>
                </a:lnTo>
                <a:lnTo>
                  <a:pt x="3709095" y="1638820"/>
                </a:lnTo>
                <a:lnTo>
                  <a:pt x="3749411" y="1658686"/>
                </a:lnTo>
                <a:lnTo>
                  <a:pt x="3789727" y="1678575"/>
                </a:lnTo>
                <a:lnTo>
                  <a:pt x="3830044" y="1698489"/>
                </a:lnTo>
                <a:lnTo>
                  <a:pt x="3870360" y="1718430"/>
                </a:lnTo>
                <a:lnTo>
                  <a:pt x="3910676" y="1738399"/>
                </a:lnTo>
                <a:lnTo>
                  <a:pt x="3950992" y="1758400"/>
                </a:lnTo>
                <a:lnTo>
                  <a:pt x="3991309" y="1778434"/>
                </a:lnTo>
                <a:lnTo>
                  <a:pt x="4031625" y="1798505"/>
                </a:lnTo>
                <a:lnTo>
                  <a:pt x="4071941" y="1818614"/>
                </a:lnTo>
                <a:lnTo>
                  <a:pt x="4112257" y="1838767"/>
                </a:lnTo>
                <a:lnTo>
                  <a:pt x="4152574" y="1858965"/>
                </a:lnTo>
                <a:lnTo>
                  <a:pt x="4192890" y="1879213"/>
                </a:lnTo>
                <a:lnTo>
                  <a:pt x="4233206" y="1899514"/>
                </a:lnTo>
                <a:lnTo>
                  <a:pt x="4273522" y="1919874"/>
                </a:lnTo>
                <a:lnTo>
                  <a:pt x="4313839" y="1940297"/>
                </a:lnTo>
                <a:lnTo>
                  <a:pt x="4354155" y="1960788"/>
                </a:lnTo>
                <a:lnTo>
                  <a:pt x="4394471" y="1981353"/>
                </a:lnTo>
                <a:lnTo>
                  <a:pt x="4434787" y="2001999"/>
                </a:lnTo>
                <a:lnTo>
                  <a:pt x="4475104" y="2022732"/>
                </a:lnTo>
                <a:lnTo>
                  <a:pt x="4515420" y="2043559"/>
                </a:lnTo>
                <a:lnTo>
                  <a:pt x="4555736" y="2064490"/>
                </a:lnTo>
                <a:lnTo>
                  <a:pt x="4596052" y="2085532"/>
                </a:lnTo>
                <a:lnTo>
                  <a:pt x="4636369" y="2106697"/>
                </a:lnTo>
                <a:lnTo>
                  <a:pt x="4676685" y="2127994"/>
                </a:lnTo>
                <a:lnTo>
                  <a:pt x="4717001" y="2149437"/>
                </a:lnTo>
                <a:lnTo>
                  <a:pt x="4757318" y="2171038"/>
                </a:lnTo>
                <a:lnTo>
                  <a:pt x="4797634" y="2192812"/>
                </a:lnTo>
                <a:lnTo>
                  <a:pt x="4837950" y="2214776"/>
                </a:lnTo>
                <a:lnTo>
                  <a:pt x="4878266" y="2236947"/>
                </a:lnTo>
                <a:lnTo>
                  <a:pt x="4918583" y="2259347"/>
                </a:lnTo>
                <a:lnTo>
                  <a:pt x="4958899" y="2281998"/>
                </a:lnTo>
                <a:lnTo>
                  <a:pt x="4999215" y="2304925"/>
                </a:lnTo>
                <a:lnTo>
                  <a:pt x="5039531" y="2328158"/>
                </a:lnTo>
                <a:lnTo>
                  <a:pt x="5079848" y="2351730"/>
                </a:lnTo>
                <a:lnTo>
                  <a:pt x="5120164" y="2375677"/>
                </a:lnTo>
                <a:lnTo>
                  <a:pt x="5160480" y="2400042"/>
                </a:lnTo>
                <a:lnTo>
                  <a:pt x="5200796" y="2424873"/>
                </a:lnTo>
                <a:lnTo>
                  <a:pt x="5241113" y="2450228"/>
                </a:lnTo>
                <a:lnTo>
                  <a:pt x="5281429" y="2476170"/>
                </a:lnTo>
                <a:lnTo>
                  <a:pt x="5321745" y="2502777"/>
                </a:lnTo>
                <a:lnTo>
                  <a:pt x="5362061" y="2530139"/>
                </a:lnTo>
                <a:lnTo>
                  <a:pt x="5402378" y="2558363"/>
                </a:lnTo>
                <a:lnTo>
                  <a:pt x="5442694" y="2587578"/>
                </a:lnTo>
                <a:lnTo>
                  <a:pt x="5483010" y="2617942"/>
                </a:lnTo>
                <a:lnTo>
                  <a:pt x="5523326" y="2649647"/>
                </a:lnTo>
                <a:lnTo>
                  <a:pt x="5563643" y="2682936"/>
                </a:lnTo>
                <a:lnTo>
                  <a:pt x="5603959" y="2718119"/>
                </a:lnTo>
                <a:lnTo>
                  <a:pt x="5644275" y="2755597"/>
                </a:lnTo>
                <a:lnTo>
                  <a:pt x="5684591" y="2795907"/>
                </a:lnTo>
                <a:lnTo>
                  <a:pt x="5724908" y="2839788"/>
                </a:lnTo>
                <a:lnTo>
                  <a:pt x="5765224" y="2888300"/>
                </a:lnTo>
                <a:lnTo>
                  <a:pt x="5805540" y="2943035"/>
                </a:lnTo>
                <a:lnTo>
                  <a:pt x="5845856" y="3006549"/>
                </a:lnTo>
                <a:lnTo>
                  <a:pt x="5886173" y="3083351"/>
                </a:lnTo>
                <a:lnTo>
                  <a:pt x="5926489" y="3182579"/>
                </a:lnTo>
                <a:lnTo>
                  <a:pt x="5966805" y="3327845"/>
                </a:lnTo>
                <a:lnTo>
                  <a:pt x="6007121" y="362860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1-E19 line 34" descr="sci-ppt:o034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7" name="C1-E19 text 35" descr="sci-ppt:o035"/>
          <p:cNvSpPr txBox="1"/>
          <p:nvPr/>
        </p:nvSpPr>
        <p:spPr>
          <a:xfrm>
            <a:off x="5888596" y="2298192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M* = 0.1</a:t>
            </a:r>
          </a:p>
        </p:txBody>
      </p:sp>
      <p:sp>
        <p:nvSpPr>
          <p:cNvPr id="38" name="C1-E19 polygon 36" descr="sci-ppt:o036"/>
          <p:cNvSpPr/>
          <p:nvPr/>
        </p:nvSpPr>
        <p:spPr>
          <a:xfrm>
            <a:off x="922160" y="1371600"/>
            <a:ext cx="2850955" cy="3657600"/>
          </a:xfrm>
          <a:custGeom>
            <a:avLst/>
            <a:gdLst/>
            <a:ahLst/>
            <a:cxnLst/>
            <a:rect l="l" t="t" r="r" b="b"/>
            <a:pathLst>
              <a:path w="2850955" h="3657600">
                <a:moveTo>
                  <a:pt x="0" y="0"/>
                </a:moveTo>
                <a:lnTo>
                  <a:pt x="2850955" y="0"/>
                </a:lnTo>
                <a:lnTo>
                  <a:pt x="2850955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F28BA0">
              <a:alpha val="18000"/>
            </a:srgbClr>
          </a:solidFill>
          <a:ln w="6350">
            <a:solidFill>
              <a:srgbClr val="F28BA0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9" name="C1-E19 line 37" descr="sci-ppt:o037"/>
          <p:cNvCxnSpPr/>
          <p:nvPr/>
        </p:nvCxnSpPr>
        <p:spPr>
          <a:xfrm>
            <a:off x="3773115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40" name="C1-E19 ellipse 38" descr="sci-ppt:o038"/>
          <p:cNvSpPr/>
          <p:nvPr/>
        </p:nvSpPr>
        <p:spPr>
          <a:xfrm>
            <a:off x="3699963" y="25176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19 text 39" descr="sci-ppt:o039"/>
          <p:cNvSpPr txBox="1"/>
          <p:nvPr/>
        </p:nvSpPr>
        <p:spPr>
          <a:xfrm>
            <a:off x="3864555" y="2133600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x_M = 0.143487</a:t>
            </a:r>
          </a:p>
        </p:txBody>
      </p:sp>
      <p:sp>
        <p:nvSpPr>
          <p:cNvPr id="42" name="C1-E19 text 40" descr="sci-ppt:o040"/>
          <p:cNvSpPr txBox="1"/>
          <p:nvPr/>
        </p:nvSpPr>
        <p:spPr>
          <a:xfrm>
            <a:off x="1113460" y="3837968"/>
            <a:ext cx="2011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incompressible model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not trusted here</a:t>
            </a:r>
          </a:p>
        </p:txBody>
      </p:sp>
      <p:sp>
        <p:nvSpPr>
          <p:cNvPr id="43" name="C1-E19 round_rect 41" descr="sci-ppt:o041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19 text 42" descr="sci-ppt:o042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diagnostic, not a limit</a:t>
            </a:r>
          </a:p>
        </p:txBody>
      </p:sp>
      <p:sp>
        <p:nvSpPr>
          <p:cNvPr id="45" name="C1-E19 text 43" descr="sci-ppt:o043"/>
          <p:cNvSpPr txBox="1"/>
          <p:nvPr/>
        </p:nvSpPr>
        <p:spPr>
          <a:xfrm>
            <a:off x="7452360" y="1828800"/>
            <a:ext cx="42976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x_M = [ 1 + 3ρc²M*² / (2Δp_c) ]^(−1/3)</a:t>
            </a:r>
          </a:p>
        </p:txBody>
      </p:sp>
      <p:sp>
        <p:nvSpPr>
          <p:cNvPr id="46" name="C1-E19 text 44" descr="sci-ppt:o044"/>
          <p:cNvSpPr txBox="1"/>
          <p:nvPr/>
        </p:nvSpPr>
        <p:spPr>
          <a:xfrm>
            <a:off x="7653528" y="2423160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c = 1500 m/s and M* = 0.1 the ideal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collapse reaches M* at R = 0.143 Rₘₐₓ.</a:t>
            </a:r>
          </a:p>
        </p:txBody>
      </p:sp>
      <p:sp>
        <p:nvSpPr>
          <p:cNvPr id="47" name="C1-E19 ellipse 45" descr="sci-ppt:o045"/>
          <p:cNvSpPr/>
          <p:nvPr/>
        </p:nvSpPr>
        <p:spPr>
          <a:xfrm>
            <a:off x="7484364" y="24804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19 text 46" descr="sci-ppt:o046"/>
          <p:cNvSpPr txBox="1"/>
          <p:nvPr/>
        </p:nvSpPr>
        <p:spPr>
          <a:xfrm>
            <a:off x="7653528" y="290194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Inside that radius the speed is large enough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that liquid compressibility must be added.</a:t>
            </a:r>
          </a:p>
        </p:txBody>
      </p:sp>
      <p:sp>
        <p:nvSpPr>
          <p:cNvPr id="49" name="C1-E19 ellipse 47" descr="sci-ppt:o047"/>
          <p:cNvSpPr/>
          <p:nvPr/>
        </p:nvSpPr>
        <p:spPr>
          <a:xfrm>
            <a:off x="7484364" y="295922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19 text 48" descr="sci-ppt:o048"/>
          <p:cNvSpPr txBox="1"/>
          <p:nvPr/>
        </p:nvSpPr>
        <p:spPr>
          <a:xfrm>
            <a:off x="7653528" y="3380739"/>
            <a:ext cx="40965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ideal trajectory itself is not a physical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prediction.</a:t>
            </a:r>
          </a:p>
        </p:txBody>
      </p:sp>
      <p:sp>
        <p:nvSpPr>
          <p:cNvPr id="51" name="C1-E19 ellipse 49" descr="sci-ppt:o049"/>
          <p:cNvSpPr/>
          <p:nvPr/>
        </p:nvSpPr>
        <p:spPr>
          <a:xfrm>
            <a:off x="7484364" y="34380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9 text 50" descr="sci-ppt:o050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Wall Mach number M_w = |Ṙ|/c grows as R shrinks, so the incompressible formulas lose validity near the end of the collapse.</a:t>
            </a:r>
          </a:p>
        </p:txBody>
      </p:sp>
      <p:sp>
        <p:nvSpPr>
          <p:cNvPr id="53" name="C1-E19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 from Eq. C1-E14 with c = 1500 m/s; threshold from Eq. C1-E19 (teaching inputs).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