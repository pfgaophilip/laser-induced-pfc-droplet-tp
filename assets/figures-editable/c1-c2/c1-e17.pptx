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C1-E17 · Independent pressure-work conservation check</a:t>
            </a:r>
          </a:p>
        </p:txBody>
      </p:sp>
      <p:cxnSp>
        <p:nvCxnSpPr>
          <p:cNvPr id="3" name="C1-E17 line 1" descr="sci-ppt:o001"/>
          <p:cNvCxnSpPr/>
          <p:nvPr/>
        </p:nvCxnSpPr>
        <p:spPr>
          <a:xfrm>
            <a:off x="914400" y="5029200"/>
            <a:ext cx="59436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7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7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7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7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1-E17 line 6" descr="sci-ppt:o006"/>
          <p:cNvCxnSpPr/>
          <p:nvPr/>
        </p:nvCxnSpPr>
        <p:spPr>
          <a:xfrm>
            <a:off x="24003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7 line 7" descr="sci-ppt:o007"/>
          <p:cNvCxnSpPr/>
          <p:nvPr/>
        </p:nvCxnSpPr>
        <p:spPr>
          <a:xfrm>
            <a:off x="24003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7 text 8" descr="sci-ppt:o008"/>
          <p:cNvSpPr txBox="1"/>
          <p:nvPr/>
        </p:nvSpPr>
        <p:spPr>
          <a:xfrm>
            <a:off x="19431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1-E17 line 9" descr="sci-ppt:o009"/>
          <p:cNvCxnSpPr/>
          <p:nvPr/>
        </p:nvCxnSpPr>
        <p:spPr>
          <a:xfrm>
            <a:off x="38862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7 line 10" descr="sci-ppt:o010"/>
          <p:cNvCxnSpPr/>
          <p:nvPr/>
        </p:nvCxnSpPr>
        <p:spPr>
          <a:xfrm>
            <a:off x="38862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7 text 11" descr="sci-ppt:o011"/>
          <p:cNvSpPr txBox="1"/>
          <p:nvPr/>
        </p:nvSpPr>
        <p:spPr>
          <a:xfrm>
            <a:off x="34290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1-E17 line 12" descr="sci-ppt:o012"/>
          <p:cNvCxnSpPr/>
          <p:nvPr/>
        </p:nvCxnSpPr>
        <p:spPr>
          <a:xfrm>
            <a:off x="53721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7 line 13" descr="sci-ppt:o013"/>
          <p:cNvCxnSpPr/>
          <p:nvPr/>
        </p:nvCxnSpPr>
        <p:spPr>
          <a:xfrm>
            <a:off x="53721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7 text 14" descr="sci-ppt:o014"/>
          <p:cNvSpPr txBox="1"/>
          <p:nvPr/>
        </p:nvSpPr>
        <p:spPr>
          <a:xfrm>
            <a:off x="49149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1-E17 line 15" descr="sci-ppt:o015"/>
          <p:cNvCxnSpPr/>
          <p:nvPr/>
        </p:nvCxnSpPr>
        <p:spPr>
          <a:xfrm>
            <a:off x="68580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7 line 16" descr="sci-ppt:o016"/>
          <p:cNvCxnSpPr/>
          <p:nvPr/>
        </p:nvCxnSpPr>
        <p:spPr>
          <a:xfrm>
            <a:off x="68580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17 text 17" descr="sci-ppt:o017"/>
          <p:cNvSpPr txBox="1"/>
          <p:nvPr/>
        </p:nvSpPr>
        <p:spPr>
          <a:xfrm>
            <a:off x="64008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1-E17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17 line 19" descr="sci-ppt:o019"/>
          <p:cNvCxnSpPr/>
          <p:nvPr/>
        </p:nvCxnSpPr>
        <p:spPr>
          <a:xfrm>
            <a:off x="85039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7 line 20" descr="sci-ppt:o020"/>
          <p:cNvCxnSpPr/>
          <p:nvPr/>
        </p:nvCxnSpPr>
        <p:spPr>
          <a:xfrm>
            <a:off x="914400" y="4158342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7 text 21" descr="sci-ppt:o021"/>
          <p:cNvSpPr txBox="1"/>
          <p:nvPr/>
        </p:nvSpPr>
        <p:spPr>
          <a:xfrm>
            <a:off x="4572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4" name="C1-E17 line 22" descr="sci-ppt:o022"/>
          <p:cNvCxnSpPr/>
          <p:nvPr/>
        </p:nvCxnSpPr>
        <p:spPr>
          <a:xfrm>
            <a:off x="85039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7 line 23" descr="sci-ppt:o023"/>
          <p:cNvCxnSpPr/>
          <p:nvPr/>
        </p:nvCxnSpPr>
        <p:spPr>
          <a:xfrm>
            <a:off x="914400" y="3287485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7 text 24" descr="sci-ppt:o024"/>
          <p:cNvSpPr txBox="1"/>
          <p:nvPr/>
        </p:nvSpPr>
        <p:spPr>
          <a:xfrm>
            <a:off x="4572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27" name="C1-E17 line 25" descr="sci-ppt:o025"/>
          <p:cNvCxnSpPr/>
          <p:nvPr/>
        </p:nvCxnSpPr>
        <p:spPr>
          <a:xfrm>
            <a:off x="85039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7 line 26" descr="sci-ppt:o026"/>
          <p:cNvCxnSpPr/>
          <p:nvPr/>
        </p:nvCxnSpPr>
        <p:spPr>
          <a:xfrm>
            <a:off x="914400" y="2416628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7 text 27" descr="sci-ppt:o027"/>
          <p:cNvSpPr txBox="1"/>
          <p:nvPr/>
        </p:nvSpPr>
        <p:spPr>
          <a:xfrm>
            <a:off x="4572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30" name="C1-E17 line 28" descr="sci-ppt:o028"/>
          <p:cNvCxnSpPr/>
          <p:nvPr/>
        </p:nvCxnSpPr>
        <p:spPr>
          <a:xfrm>
            <a:off x="85039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17 line 29" descr="sci-ppt:o029"/>
          <p:cNvCxnSpPr/>
          <p:nvPr/>
        </p:nvCxnSpPr>
        <p:spPr>
          <a:xfrm>
            <a:off x="914400" y="1545771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17 text 30" descr="sci-ppt:o030"/>
          <p:cNvSpPr txBox="1"/>
          <p:nvPr/>
        </p:nvSpPr>
        <p:spPr>
          <a:xfrm>
            <a:off x="4572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33" name="C1-E17 text 31" descr="sci-ppt:o031"/>
          <p:cNvSpPr txBox="1"/>
          <p:nvPr/>
        </p:nvSpPr>
        <p:spPr>
          <a:xfrm>
            <a:off x="914400" y="5312664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34" name="C1-E17 text 32" descr="sci-ppt:o032"/>
          <p:cNvSpPr txBox="1"/>
          <p:nvPr/>
        </p:nvSpPr>
        <p:spPr>
          <a:xfrm>
            <a:off x="365760" y="1024128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Kₗ / E_B</a:t>
            </a:r>
          </a:p>
        </p:txBody>
      </p:sp>
      <p:sp>
        <p:nvSpPr>
          <p:cNvPr id="35" name="C1-E17 polygon 33" descr="sci-ppt:o033"/>
          <p:cNvSpPr/>
          <p:nvPr/>
        </p:nvSpPr>
        <p:spPr>
          <a:xfrm>
            <a:off x="1033271" y="1545799"/>
            <a:ext cx="5824729" cy="3483401"/>
          </a:xfrm>
          <a:custGeom>
            <a:avLst/>
            <a:gdLst/>
            <a:ahLst/>
            <a:cxnLst/>
            <a:rect l="l" t="t" r="r" b="b"/>
            <a:pathLst>
              <a:path w="5824729" h="3483401">
                <a:moveTo>
                  <a:pt x="0" y="0"/>
                </a:moveTo>
                <a:lnTo>
                  <a:pt x="29270" y="26"/>
                </a:lnTo>
                <a:lnTo>
                  <a:pt x="58540" y="65"/>
                </a:lnTo>
                <a:lnTo>
                  <a:pt x="87810" y="118"/>
                </a:lnTo>
                <a:lnTo>
                  <a:pt x="117080" y="190"/>
                </a:lnTo>
                <a:lnTo>
                  <a:pt x="146350" y="281"/>
                </a:lnTo>
                <a:lnTo>
                  <a:pt x="175620" y="396"/>
                </a:lnTo>
                <a:lnTo>
                  <a:pt x="204890" y="535"/>
                </a:lnTo>
                <a:lnTo>
                  <a:pt x="234160" y="702"/>
                </a:lnTo>
                <a:lnTo>
                  <a:pt x="263430" y="899"/>
                </a:lnTo>
                <a:lnTo>
                  <a:pt x="292700" y="1129"/>
                </a:lnTo>
                <a:lnTo>
                  <a:pt x="321970" y="1393"/>
                </a:lnTo>
                <a:lnTo>
                  <a:pt x="351240" y="1696"/>
                </a:lnTo>
                <a:lnTo>
                  <a:pt x="380510" y="2038"/>
                </a:lnTo>
                <a:lnTo>
                  <a:pt x="409780" y="2423"/>
                </a:lnTo>
                <a:lnTo>
                  <a:pt x="439050" y="2853"/>
                </a:lnTo>
                <a:lnTo>
                  <a:pt x="468320" y="3331"/>
                </a:lnTo>
                <a:lnTo>
                  <a:pt x="497590" y="3859"/>
                </a:lnTo>
                <a:lnTo>
                  <a:pt x="526860" y="4439"/>
                </a:lnTo>
                <a:lnTo>
                  <a:pt x="556130" y="5074"/>
                </a:lnTo>
                <a:lnTo>
                  <a:pt x="585400" y="5767"/>
                </a:lnTo>
                <a:lnTo>
                  <a:pt x="614670" y="6520"/>
                </a:lnTo>
                <a:lnTo>
                  <a:pt x="643940" y="7336"/>
                </a:lnTo>
                <a:lnTo>
                  <a:pt x="673210" y="8217"/>
                </a:lnTo>
                <a:lnTo>
                  <a:pt x="702480" y="9165"/>
                </a:lnTo>
                <a:lnTo>
                  <a:pt x="731750" y="10183"/>
                </a:lnTo>
                <a:lnTo>
                  <a:pt x="761020" y="11274"/>
                </a:lnTo>
                <a:lnTo>
                  <a:pt x="790290" y="12439"/>
                </a:lnTo>
                <a:lnTo>
                  <a:pt x="819560" y="13683"/>
                </a:lnTo>
                <a:lnTo>
                  <a:pt x="848830" y="15006"/>
                </a:lnTo>
                <a:lnTo>
                  <a:pt x="878100" y="16412"/>
                </a:lnTo>
                <a:lnTo>
                  <a:pt x="907370" y="17903"/>
                </a:lnTo>
                <a:lnTo>
                  <a:pt x="936640" y="19481"/>
                </a:lnTo>
                <a:lnTo>
                  <a:pt x="965910" y="21150"/>
                </a:lnTo>
                <a:lnTo>
                  <a:pt x="995180" y="22911"/>
                </a:lnTo>
                <a:lnTo>
                  <a:pt x="1024450" y="24767"/>
                </a:lnTo>
                <a:lnTo>
                  <a:pt x="1053720" y="26720"/>
                </a:lnTo>
                <a:lnTo>
                  <a:pt x="1082990" y="28774"/>
                </a:lnTo>
                <a:lnTo>
                  <a:pt x="1112260" y="30930"/>
                </a:lnTo>
                <a:lnTo>
                  <a:pt x="1141530" y="33191"/>
                </a:lnTo>
                <a:lnTo>
                  <a:pt x="1170800" y="35559"/>
                </a:lnTo>
                <a:lnTo>
                  <a:pt x="1200070" y="38038"/>
                </a:lnTo>
                <a:lnTo>
                  <a:pt x="1229340" y="40629"/>
                </a:lnTo>
                <a:lnTo>
                  <a:pt x="1258610" y="43335"/>
                </a:lnTo>
                <a:lnTo>
                  <a:pt x="1287880" y="46158"/>
                </a:lnTo>
                <a:lnTo>
                  <a:pt x="1317150" y="49101"/>
                </a:lnTo>
                <a:lnTo>
                  <a:pt x="1346420" y="52167"/>
                </a:lnTo>
                <a:lnTo>
                  <a:pt x="1375690" y="55358"/>
                </a:lnTo>
                <a:lnTo>
                  <a:pt x="1404960" y="58676"/>
                </a:lnTo>
                <a:lnTo>
                  <a:pt x="1434230" y="62124"/>
                </a:lnTo>
                <a:lnTo>
                  <a:pt x="1463500" y="65705"/>
                </a:lnTo>
                <a:lnTo>
                  <a:pt x="1492770" y="69421"/>
                </a:lnTo>
                <a:lnTo>
                  <a:pt x="1522040" y="73274"/>
                </a:lnTo>
                <a:lnTo>
                  <a:pt x="1551310" y="77267"/>
                </a:lnTo>
                <a:lnTo>
                  <a:pt x="1580580" y="81402"/>
                </a:lnTo>
                <a:lnTo>
                  <a:pt x="1609850" y="85682"/>
                </a:lnTo>
                <a:lnTo>
                  <a:pt x="1639120" y="90110"/>
                </a:lnTo>
                <a:lnTo>
                  <a:pt x="1668390" y="94688"/>
                </a:lnTo>
                <a:lnTo>
                  <a:pt x="1697660" y="99418"/>
                </a:lnTo>
                <a:lnTo>
                  <a:pt x="1726930" y="104303"/>
                </a:lnTo>
                <a:lnTo>
                  <a:pt x="1756200" y="109345"/>
                </a:lnTo>
                <a:lnTo>
                  <a:pt x="1785470" y="114548"/>
                </a:lnTo>
                <a:lnTo>
                  <a:pt x="1814740" y="119912"/>
                </a:lnTo>
                <a:lnTo>
                  <a:pt x="1844010" y="125442"/>
                </a:lnTo>
                <a:lnTo>
                  <a:pt x="1873280" y="131139"/>
                </a:lnTo>
                <a:lnTo>
                  <a:pt x="1902550" y="137006"/>
                </a:lnTo>
                <a:lnTo>
                  <a:pt x="1931820" y="143045"/>
                </a:lnTo>
                <a:lnTo>
                  <a:pt x="1961090" y="149260"/>
                </a:lnTo>
                <a:lnTo>
                  <a:pt x="1990360" y="155651"/>
                </a:lnTo>
                <a:lnTo>
                  <a:pt x="2019630" y="162223"/>
                </a:lnTo>
                <a:lnTo>
                  <a:pt x="2048900" y="168977"/>
                </a:lnTo>
                <a:lnTo>
                  <a:pt x="2078170" y="175915"/>
                </a:lnTo>
                <a:lnTo>
                  <a:pt x="2107440" y="183041"/>
                </a:lnTo>
                <a:lnTo>
                  <a:pt x="2136710" y="190357"/>
                </a:lnTo>
                <a:lnTo>
                  <a:pt x="2165980" y="197866"/>
                </a:lnTo>
                <a:lnTo>
                  <a:pt x="2195250" y="205569"/>
                </a:lnTo>
                <a:lnTo>
                  <a:pt x="2224520" y="213469"/>
                </a:lnTo>
                <a:lnTo>
                  <a:pt x="2253790" y="221570"/>
                </a:lnTo>
                <a:lnTo>
                  <a:pt x="2283060" y="229872"/>
                </a:lnTo>
                <a:lnTo>
                  <a:pt x="2312330" y="238380"/>
                </a:lnTo>
                <a:lnTo>
                  <a:pt x="2341600" y="247095"/>
                </a:lnTo>
                <a:lnTo>
                  <a:pt x="2370870" y="256020"/>
                </a:lnTo>
                <a:lnTo>
                  <a:pt x="2400140" y="265157"/>
                </a:lnTo>
                <a:lnTo>
                  <a:pt x="2429410" y="274509"/>
                </a:lnTo>
                <a:lnTo>
                  <a:pt x="2458680" y="284078"/>
                </a:lnTo>
                <a:lnTo>
                  <a:pt x="2487950" y="293867"/>
                </a:lnTo>
                <a:lnTo>
                  <a:pt x="2517220" y="303878"/>
                </a:lnTo>
                <a:lnTo>
                  <a:pt x="2546490" y="314114"/>
                </a:lnTo>
                <a:lnTo>
                  <a:pt x="2575760" y="324578"/>
                </a:lnTo>
                <a:lnTo>
                  <a:pt x="2605030" y="335271"/>
                </a:lnTo>
                <a:lnTo>
                  <a:pt x="2634300" y="346196"/>
                </a:lnTo>
                <a:lnTo>
                  <a:pt x="2663570" y="357357"/>
                </a:lnTo>
                <a:lnTo>
                  <a:pt x="2692840" y="368754"/>
                </a:lnTo>
                <a:lnTo>
                  <a:pt x="2722110" y="380392"/>
                </a:lnTo>
                <a:lnTo>
                  <a:pt x="2751380" y="392272"/>
                </a:lnTo>
                <a:lnTo>
                  <a:pt x="2780650" y="404396"/>
                </a:lnTo>
                <a:lnTo>
                  <a:pt x="2809920" y="416768"/>
                </a:lnTo>
                <a:lnTo>
                  <a:pt x="2839190" y="429389"/>
                </a:lnTo>
                <a:lnTo>
                  <a:pt x="2868460" y="442263"/>
                </a:lnTo>
                <a:lnTo>
                  <a:pt x="2897730" y="455392"/>
                </a:lnTo>
                <a:lnTo>
                  <a:pt x="2926999" y="468777"/>
                </a:lnTo>
                <a:lnTo>
                  <a:pt x="2956269" y="482423"/>
                </a:lnTo>
                <a:lnTo>
                  <a:pt x="2985539" y="496331"/>
                </a:lnTo>
                <a:lnTo>
                  <a:pt x="3014809" y="510503"/>
                </a:lnTo>
                <a:lnTo>
                  <a:pt x="3044079" y="524943"/>
                </a:lnTo>
                <a:lnTo>
                  <a:pt x="3073349" y="539653"/>
                </a:lnTo>
                <a:lnTo>
                  <a:pt x="3102619" y="554635"/>
                </a:lnTo>
                <a:lnTo>
                  <a:pt x="3131889" y="569891"/>
                </a:lnTo>
                <a:lnTo>
                  <a:pt x="3161159" y="585425"/>
                </a:lnTo>
                <a:lnTo>
                  <a:pt x="3190429" y="601238"/>
                </a:lnTo>
                <a:lnTo>
                  <a:pt x="3219699" y="617334"/>
                </a:lnTo>
                <a:lnTo>
                  <a:pt x="3248969" y="633715"/>
                </a:lnTo>
                <a:lnTo>
                  <a:pt x="3278239" y="650382"/>
                </a:lnTo>
                <a:lnTo>
                  <a:pt x="3307509" y="667339"/>
                </a:lnTo>
                <a:lnTo>
                  <a:pt x="3336779" y="684589"/>
                </a:lnTo>
                <a:lnTo>
                  <a:pt x="3366049" y="702133"/>
                </a:lnTo>
                <a:lnTo>
                  <a:pt x="3395319" y="719975"/>
                </a:lnTo>
                <a:lnTo>
                  <a:pt x="3424589" y="738116"/>
                </a:lnTo>
                <a:lnTo>
                  <a:pt x="3453859" y="756559"/>
                </a:lnTo>
                <a:lnTo>
                  <a:pt x="3483129" y="775307"/>
                </a:lnTo>
                <a:lnTo>
                  <a:pt x="3512399" y="794363"/>
                </a:lnTo>
                <a:lnTo>
                  <a:pt x="3541669" y="813727"/>
                </a:lnTo>
                <a:lnTo>
                  <a:pt x="3570939" y="833405"/>
                </a:lnTo>
                <a:lnTo>
                  <a:pt x="3600209" y="853396"/>
                </a:lnTo>
                <a:lnTo>
                  <a:pt x="3629479" y="873705"/>
                </a:lnTo>
                <a:lnTo>
                  <a:pt x="3658749" y="894334"/>
                </a:lnTo>
                <a:lnTo>
                  <a:pt x="3688019" y="915284"/>
                </a:lnTo>
                <a:lnTo>
                  <a:pt x="3717289" y="936560"/>
                </a:lnTo>
                <a:lnTo>
                  <a:pt x="3746559" y="958162"/>
                </a:lnTo>
                <a:lnTo>
                  <a:pt x="3775829" y="980095"/>
                </a:lnTo>
                <a:lnTo>
                  <a:pt x="3805099" y="1002359"/>
                </a:lnTo>
                <a:lnTo>
                  <a:pt x="3834369" y="1024958"/>
                </a:lnTo>
                <a:lnTo>
                  <a:pt x="3863639" y="1047894"/>
                </a:lnTo>
                <a:lnTo>
                  <a:pt x="3892909" y="1071170"/>
                </a:lnTo>
                <a:lnTo>
                  <a:pt x="3922179" y="1094788"/>
                </a:lnTo>
                <a:lnTo>
                  <a:pt x="3951449" y="1118750"/>
                </a:lnTo>
                <a:lnTo>
                  <a:pt x="3980719" y="1143060"/>
                </a:lnTo>
                <a:lnTo>
                  <a:pt x="4009989" y="1167719"/>
                </a:lnTo>
                <a:lnTo>
                  <a:pt x="4039259" y="1192731"/>
                </a:lnTo>
                <a:lnTo>
                  <a:pt x="4068529" y="1218097"/>
                </a:lnTo>
                <a:lnTo>
                  <a:pt x="4097799" y="1243820"/>
                </a:lnTo>
                <a:lnTo>
                  <a:pt x="4127069" y="1269902"/>
                </a:lnTo>
                <a:lnTo>
                  <a:pt x="4156339" y="1296347"/>
                </a:lnTo>
                <a:lnTo>
                  <a:pt x="4185609" y="1323157"/>
                </a:lnTo>
                <a:lnTo>
                  <a:pt x="4214879" y="1350333"/>
                </a:lnTo>
                <a:lnTo>
                  <a:pt x="4244149" y="1377879"/>
                </a:lnTo>
                <a:lnTo>
                  <a:pt x="4273419" y="1405797"/>
                </a:lnTo>
                <a:lnTo>
                  <a:pt x="4302689" y="1434090"/>
                </a:lnTo>
                <a:lnTo>
                  <a:pt x="4331959" y="1462760"/>
                </a:lnTo>
                <a:lnTo>
                  <a:pt x="4361229" y="1491809"/>
                </a:lnTo>
                <a:lnTo>
                  <a:pt x="4390499" y="1521241"/>
                </a:lnTo>
                <a:lnTo>
                  <a:pt x="4419769" y="1551057"/>
                </a:lnTo>
                <a:lnTo>
                  <a:pt x="4449039" y="1581260"/>
                </a:lnTo>
                <a:lnTo>
                  <a:pt x="4478309" y="1611852"/>
                </a:lnTo>
                <a:lnTo>
                  <a:pt x="4507579" y="1642837"/>
                </a:lnTo>
                <a:lnTo>
                  <a:pt x="4536849" y="1674216"/>
                </a:lnTo>
                <a:lnTo>
                  <a:pt x="4566119" y="1705993"/>
                </a:lnTo>
                <a:lnTo>
                  <a:pt x="4595389" y="1738169"/>
                </a:lnTo>
                <a:lnTo>
                  <a:pt x="4624659" y="1770746"/>
                </a:lnTo>
                <a:lnTo>
                  <a:pt x="4653929" y="1803729"/>
                </a:lnTo>
                <a:lnTo>
                  <a:pt x="4683199" y="1837118"/>
                </a:lnTo>
                <a:lnTo>
                  <a:pt x="4712469" y="1870917"/>
                </a:lnTo>
                <a:lnTo>
                  <a:pt x="4741739" y="1905128"/>
                </a:lnTo>
                <a:lnTo>
                  <a:pt x="4771009" y="1939754"/>
                </a:lnTo>
                <a:lnTo>
                  <a:pt x="4800279" y="1974796"/>
                </a:lnTo>
                <a:lnTo>
                  <a:pt x="4829549" y="2010258"/>
                </a:lnTo>
                <a:lnTo>
                  <a:pt x="4858819" y="2046142"/>
                </a:lnTo>
                <a:lnTo>
                  <a:pt x="4888089" y="2082451"/>
                </a:lnTo>
                <a:lnTo>
                  <a:pt x="4917359" y="2119187"/>
                </a:lnTo>
                <a:lnTo>
                  <a:pt x="4946629" y="2156352"/>
                </a:lnTo>
                <a:lnTo>
                  <a:pt x="4975899" y="2193949"/>
                </a:lnTo>
                <a:lnTo>
                  <a:pt x="5005169" y="2231980"/>
                </a:lnTo>
                <a:lnTo>
                  <a:pt x="5034439" y="2270449"/>
                </a:lnTo>
                <a:lnTo>
                  <a:pt x="5063709" y="2309357"/>
                </a:lnTo>
                <a:lnTo>
                  <a:pt x="5092979" y="2348707"/>
                </a:lnTo>
                <a:lnTo>
                  <a:pt x="5122249" y="2388501"/>
                </a:lnTo>
                <a:lnTo>
                  <a:pt x="5151519" y="2428743"/>
                </a:lnTo>
                <a:lnTo>
                  <a:pt x="5180789" y="2469433"/>
                </a:lnTo>
                <a:lnTo>
                  <a:pt x="5210059" y="2510576"/>
                </a:lnTo>
                <a:lnTo>
                  <a:pt x="5239329" y="2552174"/>
                </a:lnTo>
                <a:lnTo>
                  <a:pt x="5268599" y="2594228"/>
                </a:lnTo>
                <a:lnTo>
                  <a:pt x="5297869" y="2636742"/>
                </a:lnTo>
                <a:lnTo>
                  <a:pt x="5327139" y="2679717"/>
                </a:lnTo>
                <a:lnTo>
                  <a:pt x="5356409" y="2723157"/>
                </a:lnTo>
                <a:lnTo>
                  <a:pt x="5385679" y="2767064"/>
                </a:lnTo>
                <a:lnTo>
                  <a:pt x="5414949" y="2811441"/>
                </a:lnTo>
                <a:lnTo>
                  <a:pt x="5444219" y="2856289"/>
                </a:lnTo>
                <a:lnTo>
                  <a:pt x="5473489" y="2901612"/>
                </a:lnTo>
                <a:lnTo>
                  <a:pt x="5502759" y="2947412"/>
                </a:lnTo>
                <a:lnTo>
                  <a:pt x="5532029" y="2993691"/>
                </a:lnTo>
                <a:lnTo>
                  <a:pt x="5561299" y="3040452"/>
                </a:lnTo>
                <a:lnTo>
                  <a:pt x="5590569" y="3087698"/>
                </a:lnTo>
                <a:lnTo>
                  <a:pt x="5619839" y="3135430"/>
                </a:lnTo>
                <a:lnTo>
                  <a:pt x="5649109" y="3183652"/>
                </a:lnTo>
                <a:lnTo>
                  <a:pt x="5678379" y="3232366"/>
                </a:lnTo>
                <a:lnTo>
                  <a:pt x="5707649" y="3281574"/>
                </a:lnTo>
                <a:lnTo>
                  <a:pt x="5736919" y="3331279"/>
                </a:lnTo>
                <a:lnTo>
                  <a:pt x="5766189" y="3381483"/>
                </a:lnTo>
                <a:lnTo>
                  <a:pt x="5795459" y="3432190"/>
                </a:lnTo>
                <a:lnTo>
                  <a:pt x="5824729" y="348340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17 ellipse 34" descr="sci-ppt:o034"/>
          <p:cNvSpPr/>
          <p:nvPr/>
        </p:nvSpPr>
        <p:spPr>
          <a:xfrm>
            <a:off x="6803133" y="497433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17 ellipse 35" descr="sci-ppt:o035"/>
          <p:cNvSpPr/>
          <p:nvPr/>
        </p:nvSpPr>
        <p:spPr>
          <a:xfrm>
            <a:off x="6798253" y="4965759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17 ellipse 36" descr="sci-ppt:o036"/>
          <p:cNvSpPr/>
          <p:nvPr/>
        </p:nvSpPr>
        <p:spPr>
          <a:xfrm>
            <a:off x="6784056" y="4940897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1-E17 ellipse 37" descr="sci-ppt:o037"/>
          <p:cNvSpPr/>
          <p:nvPr/>
        </p:nvSpPr>
        <p:spPr>
          <a:xfrm>
            <a:off x="6760451" y="4899823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1-E17 ellipse 38" descr="sci-ppt:o038"/>
          <p:cNvSpPr/>
          <p:nvPr/>
        </p:nvSpPr>
        <p:spPr>
          <a:xfrm>
            <a:off x="6726804" y="4841842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1-E17 ellipse 39" descr="sci-ppt:o039"/>
          <p:cNvSpPr/>
          <p:nvPr/>
        </p:nvSpPr>
        <p:spPr>
          <a:xfrm>
            <a:off x="6683735" y="4768589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1-E17 ellipse 40" descr="sci-ppt:o040"/>
          <p:cNvSpPr/>
          <p:nvPr/>
        </p:nvSpPr>
        <p:spPr>
          <a:xfrm>
            <a:off x="6630591" y="4679682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17 ellipse 41" descr="sci-ppt:o041"/>
          <p:cNvSpPr/>
          <p:nvPr/>
        </p:nvSpPr>
        <p:spPr>
          <a:xfrm>
            <a:off x="6566121" y="4574005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1-E17 ellipse 42" descr="sci-ppt:o042"/>
          <p:cNvSpPr/>
          <p:nvPr/>
        </p:nvSpPr>
        <p:spPr>
          <a:xfrm>
            <a:off x="6491457" y="4454565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1-E17 ellipse 43" descr="sci-ppt:o043"/>
          <p:cNvSpPr/>
          <p:nvPr/>
        </p:nvSpPr>
        <p:spPr>
          <a:xfrm>
            <a:off x="6405267" y="432057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1-E17 ellipse 44" descr="sci-ppt:o044"/>
          <p:cNvSpPr/>
          <p:nvPr/>
        </p:nvSpPr>
        <p:spPr>
          <a:xfrm>
            <a:off x="6305486" y="4170564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1-E17 ellipse 45" descr="sci-ppt:o045"/>
          <p:cNvSpPr/>
          <p:nvPr/>
        </p:nvSpPr>
        <p:spPr>
          <a:xfrm>
            <a:off x="6193684" y="4008894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1-E17 ellipse 46" descr="sci-ppt:o046"/>
          <p:cNvSpPr/>
          <p:nvPr/>
        </p:nvSpPr>
        <p:spPr>
          <a:xfrm>
            <a:off x="6067549" y="3834458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17 ellipse 47" descr="sci-ppt:o047"/>
          <p:cNvSpPr/>
          <p:nvPr/>
        </p:nvSpPr>
        <p:spPr>
          <a:xfrm>
            <a:off x="5925633" y="3648049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1-E17 ellipse 48" descr="sci-ppt:o048"/>
          <p:cNvSpPr/>
          <p:nvPr/>
        </p:nvSpPr>
        <p:spPr>
          <a:xfrm>
            <a:off x="5763942" y="3448027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1-E17 ellipse 49" descr="sci-ppt:o049"/>
          <p:cNvSpPr/>
          <p:nvPr/>
        </p:nvSpPr>
        <p:spPr>
          <a:xfrm>
            <a:off x="5584065" y="3240488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1-E17 ellipse 50" descr="sci-ppt:o050"/>
          <p:cNvSpPr/>
          <p:nvPr/>
        </p:nvSpPr>
        <p:spPr>
          <a:xfrm>
            <a:off x="5380835" y="3024281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1-E17 ellipse 51" descr="sci-ppt:o051"/>
          <p:cNvSpPr/>
          <p:nvPr/>
        </p:nvSpPr>
        <p:spPr>
          <a:xfrm>
            <a:off x="5146590" y="2798086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1-E17 ellipse 52" descr="sci-ppt:o052"/>
          <p:cNvSpPr/>
          <p:nvPr/>
        </p:nvSpPr>
        <p:spPr>
          <a:xfrm>
            <a:off x="4880502" y="256948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1-E17 ellipse 53" descr="sci-ppt:o053"/>
          <p:cNvSpPr/>
          <p:nvPr/>
        </p:nvSpPr>
        <p:spPr>
          <a:xfrm>
            <a:off x="4569550" y="2338105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1-E17 ellipse 54" descr="sci-ppt:o054"/>
          <p:cNvSpPr/>
          <p:nvPr/>
        </p:nvSpPr>
        <p:spPr>
          <a:xfrm>
            <a:off x="4190983" y="2104326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C1-E17 ellipse 55" descr="sci-ppt:o055"/>
          <p:cNvSpPr/>
          <p:nvPr/>
        </p:nvSpPr>
        <p:spPr>
          <a:xfrm>
            <a:off x="3719128" y="1878853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1-E17 ellipse 56" descr="sci-ppt:o056"/>
          <p:cNvSpPr/>
          <p:nvPr/>
        </p:nvSpPr>
        <p:spPr>
          <a:xfrm>
            <a:off x="3057991" y="1667190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C1-E17 ellipse 57" descr="sci-ppt:o057"/>
          <p:cNvSpPr/>
          <p:nvPr/>
        </p:nvSpPr>
        <p:spPr>
          <a:xfrm>
            <a:off x="1400513" y="1493534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C1-E17 text 58" descr="sci-ppt:o058"/>
          <p:cNvSpPr txBox="1"/>
          <p:nvPr/>
        </p:nvSpPr>
        <p:spPr>
          <a:xfrm>
            <a:off x="1225296" y="3566160"/>
            <a:ext cx="31089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line: 1 − (R/Rₘₐₓ)³ from Eq. C1-E17</a:t>
            </a:r>
          </a:p>
        </p:txBody>
      </p:sp>
      <p:sp>
        <p:nvSpPr>
          <p:cNvPr id="61" name="C1-E17 text 59" descr="sci-ppt:o059"/>
          <p:cNvSpPr txBox="1"/>
          <p:nvPr/>
        </p:nvSpPr>
        <p:spPr>
          <a:xfrm>
            <a:off x="1225296" y="4053840"/>
            <a:ext cx="31089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dots: direct ODE solution; largest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difference 9e-11</a:t>
            </a:r>
          </a:p>
        </p:txBody>
      </p:sp>
      <p:sp>
        <p:nvSpPr>
          <p:cNvPr id="62" name="C1-E17 round_rect 60" descr="sci-ppt:o060"/>
          <p:cNvSpPr/>
          <p:nvPr/>
        </p:nvSpPr>
        <p:spPr>
          <a:xfrm>
            <a:off x="7315200" y="1371600"/>
            <a:ext cx="45262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C1-E17 text 61" descr="sci-ppt:o061"/>
          <p:cNvSpPr txBox="1"/>
          <p:nvPr/>
        </p:nvSpPr>
        <p:spPr>
          <a:xfrm>
            <a:off x="7424927" y="14264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independent routes</a:t>
            </a:r>
          </a:p>
        </p:txBody>
      </p:sp>
      <p:sp>
        <p:nvSpPr>
          <p:cNvPr id="64" name="C1-E17 text 62" descr="sci-ppt:o062"/>
          <p:cNvSpPr txBox="1"/>
          <p:nvPr/>
        </p:nvSpPr>
        <p:spPr>
          <a:xfrm>
            <a:off x="7452360" y="1828800"/>
            <a:ext cx="42976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Route 1: speed solution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Kₗ = 2πρR³Ṙ² with Ṙ from Eq. C1-E14</a:t>
            </a:r>
          </a:p>
        </p:txBody>
      </p:sp>
      <p:sp>
        <p:nvSpPr>
          <p:cNvPr id="65" name="C1-E17 text 63" descr="sci-ppt:o063"/>
          <p:cNvSpPr txBox="1"/>
          <p:nvPr/>
        </p:nvSpPr>
        <p:spPr>
          <a:xfrm>
            <a:off x="7452360" y="2743200"/>
            <a:ext cx="42976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Route 2: pressure work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E_B = Δp_c Vₘₐₓ = (4π/3) Δp_c Rₘₐₓ³</a:t>
            </a:r>
          </a:p>
        </p:txBody>
      </p:sp>
      <p:sp>
        <p:nvSpPr>
          <p:cNvPr id="66" name="C1-E17 text 64" descr="sci-ppt:o064"/>
          <p:cNvSpPr txBox="1"/>
          <p:nvPr/>
        </p:nvSpPr>
        <p:spPr>
          <a:xfrm>
            <a:off x="7452360" y="3657600"/>
            <a:ext cx="42976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Kₗ/E_B = 1 − (R/Rₘₐₓ)³  holds at every radius, so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no energy is created or lost.</a:t>
            </a:r>
          </a:p>
        </p:txBody>
      </p:sp>
      <p:sp>
        <p:nvSpPr>
          <p:cNvPr id="67" name="C1-E17 text 65" descr="sci-ppt:o065"/>
          <p:cNvSpPr txBox="1"/>
          <p:nvPr/>
        </p:nvSpPr>
        <p:spPr>
          <a:xfrm>
            <a:off x="914400" y="5733288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Half the radius has released 7/8 of the stored pressure work as kinetic energy.</a:t>
            </a:r>
          </a:p>
        </p:txBody>
      </p:sp>
      <p:sp>
        <p:nvSpPr>
          <p:cNvPr id="68" name="C1-E17 text 66" descr="sci-ppt:o06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Dots: numerical integration of R R̈ + 3Ṙ²/2 = −Δp_c/ρ (Eq. C1-E12); no viscosity, tension or gas.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