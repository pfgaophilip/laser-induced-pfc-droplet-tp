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C1-E16 | Physical-variable diagram</a:t>
            </a:r>
          </a:p>
        </p:txBody>
      </p:sp>
      <p:sp>
        <p:nvSpPr>
          <p:cNvPr id="3" name="ellipse2" descr="sci-ppt:C1-E16-002"/>
          <p:cNvSpPr/>
          <p:nvPr/>
        </p:nvSpPr>
        <p:spPr>
          <a:xfrm>
            <a:off x="1402080" y="1463040"/>
            <a:ext cx="2072640" cy="207264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16-003"/>
          <p:cNvSpPr/>
          <p:nvPr/>
        </p:nvSpPr>
        <p:spPr>
          <a:xfrm>
            <a:off x="4974336" y="2109216"/>
            <a:ext cx="780288" cy="780288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16-004"/>
          <p:cNvCxnSpPr/>
          <p:nvPr/>
        </p:nvCxnSpPr>
        <p:spPr>
          <a:xfrm>
            <a:off x="3657600" y="2499360"/>
            <a:ext cx="10972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16-005"/>
          <p:cNvSpPr txBox="1"/>
          <p:nvPr/>
        </p:nvSpPr>
        <p:spPr>
          <a:xfrm>
            <a:off x="1524000" y="3779520"/>
            <a:ext cx="3657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R_max, initially at rest</a:t>
            </a:r>
          </a:p>
        </p:txBody>
      </p:sp>
      <p:sp>
        <p:nvSpPr>
          <p:cNvPr id="7" name="text6" descr="sci-ppt:C1-E16-006"/>
          <p:cNvSpPr txBox="1"/>
          <p:nvPr/>
        </p:nvSpPr>
        <p:spPr>
          <a:xfrm>
            <a:off x="4754880" y="341376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decreases</a:t>
            </a:r>
          </a:p>
        </p:txBody>
      </p:sp>
      <p:cxnSp>
        <p:nvCxnSpPr>
          <p:cNvPr id="8" name="arrow7" descr="sci-ppt:C1-E16-007"/>
          <p:cNvCxnSpPr/>
          <p:nvPr/>
        </p:nvCxnSpPr>
        <p:spPr>
          <a:xfrm>
            <a:off x="7315200" y="3840480"/>
            <a:ext cx="3535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arrow8" descr="sci-ppt:C1-E16-008"/>
          <p:cNvCxnSpPr/>
          <p:nvPr/>
        </p:nvCxnSpPr>
        <p:spPr>
          <a:xfrm flipV="1">
            <a:off x="7315200" y="1524000"/>
            <a:ext cx="0" cy="23164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6-009"/>
          <p:cNvSpPr txBox="1"/>
          <p:nvPr/>
        </p:nvSpPr>
        <p:spPr>
          <a:xfrm>
            <a:off x="9875520" y="3962399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1" name="text10" descr="sci-ppt:C1-E16-010"/>
          <p:cNvSpPr txBox="1"/>
          <p:nvPr/>
        </p:nvSpPr>
        <p:spPr>
          <a:xfrm>
            <a:off x="7193280" y="115824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2" name="line11" descr="sci-ppt:C1-E16-011"/>
          <p:cNvCxnSpPr/>
          <p:nvPr/>
        </p:nvCxnSpPr>
        <p:spPr>
          <a:xfrm>
            <a:off x="7376160" y="1767840"/>
            <a:ext cx="131925" cy="125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line12" descr="sci-ppt:C1-E16-012"/>
          <p:cNvCxnSpPr/>
          <p:nvPr/>
        </p:nvCxnSpPr>
        <p:spPr>
          <a:xfrm>
            <a:off x="7508085" y="1769097"/>
            <a:ext cx="131760" cy="377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line13" descr="sci-ppt:C1-E16-013"/>
          <p:cNvCxnSpPr/>
          <p:nvPr/>
        </p:nvCxnSpPr>
        <p:spPr>
          <a:xfrm>
            <a:off x="7639845" y="1772869"/>
            <a:ext cx="131430" cy="628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line14" descr="sci-ppt:C1-E16-014"/>
          <p:cNvCxnSpPr/>
          <p:nvPr/>
        </p:nvCxnSpPr>
        <p:spPr>
          <a:xfrm>
            <a:off x="7771275" y="1779155"/>
            <a:ext cx="130934" cy="88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line15" descr="sci-ppt:C1-E16-015"/>
          <p:cNvCxnSpPr/>
          <p:nvPr/>
        </p:nvCxnSpPr>
        <p:spPr>
          <a:xfrm>
            <a:off x="7902209" y="1787956"/>
            <a:ext cx="130272" cy="1131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line16" descr="sci-ppt:C1-E16-016"/>
          <p:cNvCxnSpPr/>
          <p:nvPr/>
        </p:nvCxnSpPr>
        <p:spPr>
          <a:xfrm>
            <a:off x="8032481" y="1799272"/>
            <a:ext cx="129443" cy="13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line17" descr="sci-ppt:C1-E16-017"/>
          <p:cNvCxnSpPr/>
          <p:nvPr/>
        </p:nvCxnSpPr>
        <p:spPr>
          <a:xfrm>
            <a:off x="8161924" y="1813102"/>
            <a:ext cx="128446" cy="16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line18" descr="sci-ppt:C1-E16-018"/>
          <p:cNvCxnSpPr/>
          <p:nvPr/>
        </p:nvCxnSpPr>
        <p:spPr>
          <a:xfrm>
            <a:off x="8290370" y="1829447"/>
            <a:ext cx="127280" cy="188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line19" descr="sci-ppt:C1-E16-019"/>
          <p:cNvCxnSpPr/>
          <p:nvPr/>
        </p:nvCxnSpPr>
        <p:spPr>
          <a:xfrm>
            <a:off x="8417650" y="1848307"/>
            <a:ext cx="125942" cy="213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line20" descr="sci-ppt:C1-E16-020"/>
          <p:cNvCxnSpPr/>
          <p:nvPr/>
        </p:nvCxnSpPr>
        <p:spPr>
          <a:xfrm>
            <a:off x="8543592" y="1869681"/>
            <a:ext cx="124432" cy="238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line21" descr="sci-ppt:C1-E16-021"/>
          <p:cNvCxnSpPr/>
          <p:nvPr/>
        </p:nvCxnSpPr>
        <p:spPr>
          <a:xfrm>
            <a:off x="8668024" y="1893570"/>
            <a:ext cx="122749" cy="264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line22" descr="sci-ppt:C1-E16-022"/>
          <p:cNvCxnSpPr/>
          <p:nvPr/>
        </p:nvCxnSpPr>
        <p:spPr>
          <a:xfrm>
            <a:off x="8790773" y="1919973"/>
            <a:ext cx="120888" cy="289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line23" descr="sci-ppt:C1-E16-023"/>
          <p:cNvCxnSpPr/>
          <p:nvPr/>
        </p:nvCxnSpPr>
        <p:spPr>
          <a:xfrm>
            <a:off x="8911661" y="1948891"/>
            <a:ext cx="118850" cy="314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line24" descr="sci-ppt:C1-E16-024"/>
          <p:cNvCxnSpPr/>
          <p:nvPr/>
        </p:nvCxnSpPr>
        <p:spPr>
          <a:xfrm>
            <a:off x="9030511" y="1980323"/>
            <a:ext cx="116631" cy="3394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line25" descr="sci-ppt:C1-E16-025"/>
          <p:cNvCxnSpPr/>
          <p:nvPr/>
        </p:nvCxnSpPr>
        <p:spPr>
          <a:xfrm>
            <a:off x="9147142" y="2014270"/>
            <a:ext cx="114227" cy="3646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line26" descr="sci-ppt:C1-E16-026"/>
          <p:cNvCxnSpPr/>
          <p:nvPr/>
        </p:nvCxnSpPr>
        <p:spPr>
          <a:xfrm>
            <a:off x="9261369" y="2050732"/>
            <a:ext cx="111639" cy="389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line27" descr="sci-ppt:C1-E16-027"/>
          <p:cNvCxnSpPr/>
          <p:nvPr/>
        </p:nvCxnSpPr>
        <p:spPr>
          <a:xfrm>
            <a:off x="9373008" y="2089708"/>
            <a:ext cx="108861" cy="414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line28" descr="sci-ppt:C1-E16-028"/>
          <p:cNvCxnSpPr/>
          <p:nvPr/>
        </p:nvCxnSpPr>
        <p:spPr>
          <a:xfrm>
            <a:off x="9481869" y="2131199"/>
            <a:ext cx="105891" cy="4400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line29" descr="sci-ppt:C1-E16-029"/>
          <p:cNvCxnSpPr/>
          <p:nvPr/>
        </p:nvCxnSpPr>
        <p:spPr>
          <a:xfrm>
            <a:off x="9587760" y="2175205"/>
            <a:ext cx="102727" cy="46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line30" descr="sci-ppt:C1-E16-030"/>
          <p:cNvCxnSpPr/>
          <p:nvPr/>
        </p:nvCxnSpPr>
        <p:spPr>
          <a:xfrm>
            <a:off x="9690487" y="2221725"/>
            <a:ext cx="99366" cy="4903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line31" descr="sci-ppt:C1-E16-031"/>
          <p:cNvCxnSpPr/>
          <p:nvPr/>
        </p:nvCxnSpPr>
        <p:spPr>
          <a:xfrm>
            <a:off x="9789853" y="2270760"/>
            <a:ext cx="95803" cy="5154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line32" descr="sci-ppt:C1-E16-032"/>
          <p:cNvCxnSpPr/>
          <p:nvPr/>
        </p:nvCxnSpPr>
        <p:spPr>
          <a:xfrm>
            <a:off x="9885656" y="2322309"/>
            <a:ext cx="92039" cy="540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line33" descr="sci-ppt:C1-E16-033"/>
          <p:cNvCxnSpPr/>
          <p:nvPr/>
        </p:nvCxnSpPr>
        <p:spPr>
          <a:xfrm>
            <a:off x="9977695" y="2376373"/>
            <a:ext cx="88069" cy="565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line34" descr="sci-ppt:C1-E16-034"/>
          <p:cNvCxnSpPr/>
          <p:nvPr/>
        </p:nvCxnSpPr>
        <p:spPr>
          <a:xfrm>
            <a:off x="10065764" y="2432951"/>
            <a:ext cx="83893" cy="590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line35" descr="sci-ppt:C1-E16-035"/>
          <p:cNvCxnSpPr/>
          <p:nvPr/>
        </p:nvCxnSpPr>
        <p:spPr>
          <a:xfrm>
            <a:off x="10149657" y="2492044"/>
            <a:ext cx="79510" cy="616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line36" descr="sci-ppt:C1-E16-036"/>
          <p:cNvCxnSpPr/>
          <p:nvPr/>
        </p:nvCxnSpPr>
        <p:spPr>
          <a:xfrm>
            <a:off x="10229167" y="2553652"/>
            <a:ext cx="74920" cy="64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line37" descr="sci-ppt:C1-E16-037"/>
          <p:cNvCxnSpPr/>
          <p:nvPr/>
        </p:nvCxnSpPr>
        <p:spPr>
          <a:xfrm>
            <a:off x="10304087" y="2617774"/>
            <a:ext cx="70125" cy="666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line38" descr="sci-ppt:C1-E16-038"/>
          <p:cNvCxnSpPr/>
          <p:nvPr/>
        </p:nvCxnSpPr>
        <p:spPr>
          <a:xfrm>
            <a:off x="10374212" y="2684411"/>
            <a:ext cx="65129" cy="691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line39" descr="sci-ppt:C1-E16-039"/>
          <p:cNvCxnSpPr/>
          <p:nvPr/>
        </p:nvCxnSpPr>
        <p:spPr>
          <a:xfrm>
            <a:off x="10439341" y="2753563"/>
            <a:ext cx="59939" cy="7166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line40" descr="sci-ppt:C1-E16-040"/>
          <p:cNvCxnSpPr/>
          <p:nvPr/>
        </p:nvCxnSpPr>
        <p:spPr>
          <a:xfrm>
            <a:off x="10499280" y="2825229"/>
            <a:ext cx="54565" cy="74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line41" descr="sci-ppt:C1-E16-041"/>
          <p:cNvCxnSpPr/>
          <p:nvPr/>
        </p:nvCxnSpPr>
        <p:spPr>
          <a:xfrm>
            <a:off x="10553845" y="2899410"/>
            <a:ext cx="49022" cy="7669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line42" descr="sci-ppt:C1-E16-042"/>
          <p:cNvCxnSpPr/>
          <p:nvPr/>
        </p:nvCxnSpPr>
        <p:spPr>
          <a:xfrm>
            <a:off x="10602867" y="2976105"/>
            <a:ext cx="43334" cy="792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line43" descr="sci-ppt:C1-E16-043"/>
          <p:cNvCxnSpPr/>
          <p:nvPr/>
        </p:nvCxnSpPr>
        <p:spPr>
          <a:xfrm>
            <a:off x="10646201" y="3055315"/>
            <a:ext cx="37530" cy="81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line44" descr="sci-ppt:C1-E16-044"/>
          <p:cNvCxnSpPr/>
          <p:nvPr/>
        </p:nvCxnSpPr>
        <p:spPr>
          <a:xfrm>
            <a:off x="10683731" y="3137039"/>
            <a:ext cx="31655" cy="842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line45" descr="sci-ppt:C1-E16-045"/>
          <p:cNvCxnSpPr/>
          <p:nvPr/>
        </p:nvCxnSpPr>
        <p:spPr>
          <a:xfrm>
            <a:off x="10715386" y="3221278"/>
            <a:ext cx="25767" cy="86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line46" descr="sci-ppt:C1-E16-046"/>
          <p:cNvCxnSpPr/>
          <p:nvPr/>
        </p:nvCxnSpPr>
        <p:spPr>
          <a:xfrm>
            <a:off x="10741153" y="3308032"/>
            <a:ext cx="19950" cy="8926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line47" descr="sci-ppt:C1-E16-047"/>
          <p:cNvCxnSpPr/>
          <p:nvPr/>
        </p:nvCxnSpPr>
        <p:spPr>
          <a:xfrm>
            <a:off x="10761103" y="3397300"/>
            <a:ext cx="14325" cy="91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line48" descr="sci-ppt:C1-E16-048"/>
          <p:cNvCxnSpPr/>
          <p:nvPr/>
        </p:nvCxnSpPr>
        <p:spPr>
          <a:xfrm>
            <a:off x="10775428" y="3489083"/>
            <a:ext cx="9063" cy="9429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line49" descr="sci-ppt:C1-E16-049"/>
          <p:cNvCxnSpPr/>
          <p:nvPr/>
        </p:nvCxnSpPr>
        <p:spPr>
          <a:xfrm>
            <a:off x="10784491" y="3583381"/>
            <a:ext cx="4438" cy="9681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line50" descr="sci-ppt:C1-E16-050"/>
          <p:cNvCxnSpPr/>
          <p:nvPr/>
        </p:nvCxnSpPr>
        <p:spPr>
          <a:xfrm>
            <a:off x="10788929" y="3680193"/>
            <a:ext cx="991" cy="993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52" name="text51" descr="sci-ppt:C1-E16-051"/>
          <p:cNvSpPr txBox="1"/>
          <p:nvPr/>
        </p:nvSpPr>
        <p:spPr>
          <a:xfrm>
            <a:off x="7741920" y="103632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Ideal collapse trajectory</a:t>
            </a:r>
          </a:p>
        </p:txBody>
      </p:sp>
      <p:sp>
        <p:nvSpPr>
          <p:cNvPr id="53" name="text52" descr="sci-ppt:C1-E16-052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tc</a:t>
            </a:r>
          </a:p>
        </p:txBody>
      </p:sp>
      <p:sp>
        <p:nvSpPr>
          <p:cNvPr id="54" name="text53" descr="sci-ppt:C1-E16-053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55" name="text54" descr="sci-ppt:C1-E16-054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56" name="text55" descr="sci-ppt:C1-E16-055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 = R/Rmax</a:t>
            </a:r>
          </a:p>
        </p:txBody>
      </p:sp>
      <p:sp>
        <p:nvSpPr>
          <p:cNvPr id="57" name="text56" descr="sci-ppt:C1-E16-05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58" name="text57" descr="sci-ppt:C1-E16-05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&lt; 0</a:t>
            </a:r>
          </a:p>
        </p:txBody>
      </p:sp>
      <p:sp>
        <p:nvSpPr>
          <p:cNvPr id="59" name="text58" descr="sci-ppt:C1-E16-05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60" name="text59" descr="sci-ppt:C1-E16-059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Ct</a:t>
            </a:r>
          </a:p>
        </p:txBody>
      </p:sp>
      <p:sp>
        <p:nvSpPr>
          <p:cNvPr id="61" name="text60" descr="sci-ppt:C1-E16-060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x = 0 the integrand behaves as x³ᐟ²</a:t>
            </a:r>
          </a:p>
        </p:txBody>
      </p:sp>
      <p:sp>
        <p:nvSpPr>
          <p:cNvPr id="62" name="text61" descr="sci-ppt:C1-E16-061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x = 1 it behaves as (1 − x)⁻¹ᐟ²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