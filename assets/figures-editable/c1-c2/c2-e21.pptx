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21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C2-E21 | Physical-variable diagram</a:t>
            </a:r>
          </a:p>
        </p:txBody>
      </p:sp>
      <p:sp>
        <p:nvSpPr>
          <p:cNvPr id="3" name="rect2" descr="sci-ppt:C2-E21-002"/>
          <p:cNvSpPr/>
          <p:nvPr/>
        </p:nvSpPr>
        <p:spPr>
          <a:xfrm>
            <a:off x="975360" y="1463040"/>
            <a:ext cx="4267200" cy="26822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3" descr="sci-ppt:C2-E21-003"/>
          <p:cNvSpPr/>
          <p:nvPr/>
        </p:nvSpPr>
        <p:spPr>
          <a:xfrm>
            <a:off x="5242560" y="1463040"/>
            <a:ext cx="5242560" cy="26822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21-004"/>
          <p:cNvSpPr txBox="1"/>
          <p:nvPr/>
        </p:nvSpPr>
        <p:spPr>
          <a:xfrm>
            <a:off x="2194560" y="1767840"/>
            <a:ext cx="2438400" cy="43464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8" b="0" i="0">
                <a:solidFill>
                  <a:srgbClr val="E7F0F3"/>
                </a:solidFill>
                <a:latin typeface="Arial"/>
              </a:rPr>
              <a:t>Vapor</a:t>
            </a:r>
          </a:p>
        </p:txBody>
      </p:sp>
      <p:sp>
        <p:nvSpPr>
          <p:cNvPr id="6" name="text5" descr="sci-ppt:C2-E21-005"/>
          <p:cNvSpPr txBox="1"/>
          <p:nvPr/>
        </p:nvSpPr>
        <p:spPr>
          <a:xfrm>
            <a:off x="7315200" y="1767840"/>
            <a:ext cx="2438400" cy="43464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8" b="0" i="0">
                <a:solidFill>
                  <a:srgbClr val="E7F0F3"/>
                </a:solidFill>
                <a:latin typeface="Arial"/>
              </a:rPr>
              <a:t>Liquid</a:t>
            </a:r>
          </a:p>
        </p:txBody>
      </p:sp>
      <p:cxnSp>
        <p:nvCxnSpPr>
          <p:cNvPr id="7" name="arrow6" descr="sci-ppt:C2-E21-006"/>
          <p:cNvCxnSpPr/>
          <p:nvPr/>
        </p:nvCxnSpPr>
        <p:spPr>
          <a:xfrm flipH="1">
            <a:off x="3657600" y="2804160"/>
            <a:ext cx="3779520" cy="0"/>
          </a:xfrm>
          <a:prstGeom prst="line">
            <a:avLst/>
          </a:prstGeom>
          <a:ln w="25400">
            <a:solidFill>
              <a:srgbClr val="F6BC77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21-007"/>
          <p:cNvSpPr txBox="1"/>
          <p:nvPr/>
        </p:nvSpPr>
        <p:spPr>
          <a:xfrm>
            <a:off x="5852160" y="3108960"/>
            <a:ext cx="414528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F6BC77"/>
                </a:solidFill>
                <a:latin typeface="Arial"/>
              </a:rPr>
              <a:t>n: liquid → vapor</a:t>
            </a:r>
          </a:p>
        </p:txBody>
      </p:sp>
      <p:cxnSp>
        <p:nvCxnSpPr>
          <p:cNvPr id="9" name="arrow8" descr="sci-ppt:C2-E21-008"/>
          <p:cNvCxnSpPr/>
          <p:nvPr/>
        </p:nvCxnSpPr>
        <p:spPr>
          <a:xfrm>
            <a:off x="5242560" y="3779520"/>
            <a:ext cx="1402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2-E21-009"/>
          <p:cNvSpPr txBox="1"/>
          <p:nvPr/>
        </p:nvSpPr>
        <p:spPr>
          <a:xfrm>
            <a:off x="5486400" y="420624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+e_r, wall motion</a:t>
            </a:r>
          </a:p>
        </p:txBody>
      </p:sp>
      <p:sp>
        <p:nvSpPr>
          <p:cNvPr id="11" name="text10" descr="sci-ppt:C2-E21-010"/>
          <p:cNvSpPr txBox="1"/>
          <p:nvPr/>
        </p:nvSpPr>
        <p:spPr>
          <a:xfrm>
            <a:off x="1219200" y="103632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Interface Gamma</a:t>
            </a:r>
          </a:p>
        </p:txBody>
      </p:sp>
      <p:sp>
        <p:nvSpPr>
          <p:cNvPr id="12" name="text11" descr="sci-ppt:C2-E21-01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n: liquid → vapor</a:t>
            </a:r>
          </a:p>
        </p:txBody>
      </p:sp>
      <p:sp>
        <p:nvSpPr>
          <p:cNvPr id="13" name="text12" descr="sci-ppt:C2-E21-01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q_v: heat leaving into vapor</a:t>
            </a:r>
          </a:p>
        </p:txBody>
      </p:sp>
      <p:sp>
        <p:nvSpPr>
          <p:cNvPr id="14" name="text13" descr="sci-ppt:C2-E21-01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h_l,s → h_v,s: enthalpy change</a:t>
            </a:r>
          </a:p>
        </p:txBody>
      </p:sp>
      <p:sp>
        <p:nvSpPr>
          <p:cNvPr id="15" name="text14" descr="sci-ppt:C2-E21-01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k_l, k_v; T_l, T_v: thermal fields</a:t>
            </a:r>
          </a:p>
        </p:txBody>
      </p:sp>
      <p:sp>
        <p:nvSpPr>
          <p:cNvPr id="16" name="text15" descr="sci-ppt:C2-E21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q_l: heat arriving from liquid</a:t>
            </a:r>
          </a:p>
        </p:txBody>
      </p:sp>
      <p:sp>
        <p:nvSpPr>
          <p:cNvPr id="17" name="text16" descr="sci-ppt:C2-E21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j_s: phase mass flux</a:t>
            </a:r>
          </a:p>
        </p:txBody>
      </p:sp>
      <p:sp>
        <p:nvSpPr>
          <p:cNvPr id="18" name="text17" descr="sci-ppt:C2-E21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L_v,s: latent requirement</a:t>
            </a:r>
          </a:p>
        </p:txBody>
      </p:sp>
      <p:sp>
        <p:nvSpPr>
          <p:cNvPr id="19" name="text18" descr="sci-ppt:C2-E21-018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η = l or v; ∇: local gradient</a:t>
            </a:r>
          </a:p>
        </p:txBody>
      </p:sp>
      <p:sp>
        <p:nvSpPr>
          <p:cNvPr id="20" name="text19" descr="sci-ppt:C2-E21-019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Evaporation j_s &gt; 0 consumes latent enthalpy</a:t>
            </a:r>
          </a:p>
        </p:txBody>
      </p:sp>
      <p:sp>
        <p:nvSpPr>
          <p:cNvPr id="21" name="text20" descr="sci-ppt:C2-E21-02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Condensation j_s &lt; 0 supplies heat to surrounding material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