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C2-E21 · Reduced interfacial energy jump and Fourier law</a:t>
            </a:r>
          </a:p>
        </p:txBody>
      </p:sp>
      <p:cxnSp>
        <p:nvCxnSpPr>
          <p:cNvPr id="3" name="C2-E21 line 1" descr="sci-ppt:o001"/>
          <p:cNvCxnSpPr/>
          <p:nvPr/>
        </p:nvCxnSpPr>
        <p:spPr>
          <a:xfrm>
            <a:off x="914400" y="484632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1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sp>
        <p:nvSpPr>
          <p:cNvPr id="5" name="C2-E21 text 3" descr="sci-ppt:o003"/>
          <p:cNvSpPr txBox="1"/>
          <p:nvPr/>
        </p:nvSpPr>
        <p:spPr>
          <a:xfrm>
            <a:off x="914400" y="512978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distance from the interface (liquid | vapor)</a:t>
            </a:r>
          </a:p>
        </p:txBody>
      </p:sp>
      <p:sp>
        <p:nvSpPr>
          <p:cNvPr id="6" name="C2-E21 text 4" descr="sci-ppt:o004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(relative)</a:t>
            </a:r>
          </a:p>
        </p:txBody>
      </p:sp>
      <p:sp>
        <p:nvSpPr>
          <p:cNvPr id="7" name="C2-E21 polygon 5" descr="sci-ppt:o005"/>
          <p:cNvSpPr/>
          <p:nvPr/>
        </p:nvSpPr>
        <p:spPr>
          <a:xfrm>
            <a:off x="914400" y="2006138"/>
            <a:ext cx="2918746" cy="1102822"/>
          </a:xfrm>
          <a:custGeom>
            <a:avLst/>
            <a:gdLst/>
            <a:ahLst/>
            <a:cxnLst/>
            <a:rect l="l" t="t" r="r" b="b"/>
            <a:pathLst>
              <a:path w="2918746" h="1102822">
                <a:moveTo>
                  <a:pt x="0" y="1102822"/>
                </a:moveTo>
                <a:lnTo>
                  <a:pt x="14667" y="1097280"/>
                </a:lnTo>
                <a:lnTo>
                  <a:pt x="29334" y="1091738"/>
                </a:lnTo>
                <a:lnTo>
                  <a:pt x="44001" y="1086196"/>
                </a:lnTo>
                <a:lnTo>
                  <a:pt x="58668" y="1080654"/>
                </a:lnTo>
                <a:lnTo>
                  <a:pt x="73335" y="1075112"/>
                </a:lnTo>
                <a:lnTo>
                  <a:pt x="88002" y="1069571"/>
                </a:lnTo>
                <a:lnTo>
                  <a:pt x="102669" y="1064029"/>
                </a:lnTo>
                <a:lnTo>
                  <a:pt x="117336" y="1058487"/>
                </a:lnTo>
                <a:lnTo>
                  <a:pt x="132003" y="1052945"/>
                </a:lnTo>
                <a:lnTo>
                  <a:pt x="146670" y="1047403"/>
                </a:lnTo>
                <a:lnTo>
                  <a:pt x="161337" y="1041861"/>
                </a:lnTo>
                <a:lnTo>
                  <a:pt x="176004" y="1036320"/>
                </a:lnTo>
                <a:lnTo>
                  <a:pt x="190671" y="1030778"/>
                </a:lnTo>
                <a:lnTo>
                  <a:pt x="205338" y="1025236"/>
                </a:lnTo>
                <a:lnTo>
                  <a:pt x="220006" y="1019694"/>
                </a:lnTo>
                <a:lnTo>
                  <a:pt x="234673" y="1014152"/>
                </a:lnTo>
                <a:lnTo>
                  <a:pt x="249340" y="1008611"/>
                </a:lnTo>
                <a:lnTo>
                  <a:pt x="264007" y="1003069"/>
                </a:lnTo>
                <a:lnTo>
                  <a:pt x="278674" y="997527"/>
                </a:lnTo>
                <a:lnTo>
                  <a:pt x="293341" y="991985"/>
                </a:lnTo>
                <a:lnTo>
                  <a:pt x="308008" y="986443"/>
                </a:lnTo>
                <a:lnTo>
                  <a:pt x="322675" y="980902"/>
                </a:lnTo>
                <a:lnTo>
                  <a:pt x="337342" y="975360"/>
                </a:lnTo>
                <a:lnTo>
                  <a:pt x="352009" y="969818"/>
                </a:lnTo>
                <a:lnTo>
                  <a:pt x="366676" y="964276"/>
                </a:lnTo>
                <a:lnTo>
                  <a:pt x="381343" y="958734"/>
                </a:lnTo>
                <a:lnTo>
                  <a:pt x="396010" y="953192"/>
                </a:lnTo>
                <a:lnTo>
                  <a:pt x="410677" y="947651"/>
                </a:lnTo>
                <a:lnTo>
                  <a:pt x="425344" y="942109"/>
                </a:lnTo>
                <a:lnTo>
                  <a:pt x="440012" y="936567"/>
                </a:lnTo>
                <a:lnTo>
                  <a:pt x="454679" y="931025"/>
                </a:lnTo>
                <a:lnTo>
                  <a:pt x="469346" y="925483"/>
                </a:lnTo>
                <a:lnTo>
                  <a:pt x="484013" y="919942"/>
                </a:lnTo>
                <a:lnTo>
                  <a:pt x="498680" y="914400"/>
                </a:lnTo>
                <a:lnTo>
                  <a:pt x="513347" y="908858"/>
                </a:lnTo>
                <a:lnTo>
                  <a:pt x="528014" y="903316"/>
                </a:lnTo>
                <a:lnTo>
                  <a:pt x="542681" y="897774"/>
                </a:lnTo>
                <a:lnTo>
                  <a:pt x="557348" y="892232"/>
                </a:lnTo>
                <a:lnTo>
                  <a:pt x="572015" y="886691"/>
                </a:lnTo>
                <a:lnTo>
                  <a:pt x="586682" y="881149"/>
                </a:lnTo>
                <a:lnTo>
                  <a:pt x="601349" y="875607"/>
                </a:lnTo>
                <a:lnTo>
                  <a:pt x="616016" y="870065"/>
                </a:lnTo>
                <a:lnTo>
                  <a:pt x="630683" y="864523"/>
                </a:lnTo>
                <a:lnTo>
                  <a:pt x="645350" y="858982"/>
                </a:lnTo>
                <a:lnTo>
                  <a:pt x="660018" y="853440"/>
                </a:lnTo>
                <a:lnTo>
                  <a:pt x="674685" y="847898"/>
                </a:lnTo>
                <a:lnTo>
                  <a:pt x="689352" y="842356"/>
                </a:lnTo>
                <a:lnTo>
                  <a:pt x="704019" y="836814"/>
                </a:lnTo>
                <a:lnTo>
                  <a:pt x="718686" y="831272"/>
                </a:lnTo>
                <a:lnTo>
                  <a:pt x="733353" y="825731"/>
                </a:lnTo>
                <a:lnTo>
                  <a:pt x="748020" y="820189"/>
                </a:lnTo>
                <a:lnTo>
                  <a:pt x="762687" y="814647"/>
                </a:lnTo>
                <a:lnTo>
                  <a:pt x="777354" y="809105"/>
                </a:lnTo>
                <a:lnTo>
                  <a:pt x="792021" y="803563"/>
                </a:lnTo>
                <a:lnTo>
                  <a:pt x="806688" y="798022"/>
                </a:lnTo>
                <a:lnTo>
                  <a:pt x="821355" y="792480"/>
                </a:lnTo>
                <a:lnTo>
                  <a:pt x="836022" y="786938"/>
                </a:lnTo>
                <a:lnTo>
                  <a:pt x="850689" y="781396"/>
                </a:lnTo>
                <a:lnTo>
                  <a:pt x="865356" y="775854"/>
                </a:lnTo>
                <a:lnTo>
                  <a:pt x="880024" y="770312"/>
                </a:lnTo>
                <a:lnTo>
                  <a:pt x="894691" y="764771"/>
                </a:lnTo>
                <a:lnTo>
                  <a:pt x="909358" y="759229"/>
                </a:lnTo>
                <a:lnTo>
                  <a:pt x="924025" y="753687"/>
                </a:lnTo>
                <a:lnTo>
                  <a:pt x="938692" y="748145"/>
                </a:lnTo>
                <a:lnTo>
                  <a:pt x="953359" y="742603"/>
                </a:lnTo>
                <a:lnTo>
                  <a:pt x="968026" y="737062"/>
                </a:lnTo>
                <a:lnTo>
                  <a:pt x="982693" y="731520"/>
                </a:lnTo>
                <a:lnTo>
                  <a:pt x="997360" y="725978"/>
                </a:lnTo>
                <a:lnTo>
                  <a:pt x="1012027" y="720436"/>
                </a:lnTo>
                <a:lnTo>
                  <a:pt x="1026694" y="714894"/>
                </a:lnTo>
                <a:lnTo>
                  <a:pt x="1041361" y="709352"/>
                </a:lnTo>
                <a:lnTo>
                  <a:pt x="1056028" y="703811"/>
                </a:lnTo>
                <a:lnTo>
                  <a:pt x="1070695" y="698269"/>
                </a:lnTo>
                <a:lnTo>
                  <a:pt x="1085363" y="692727"/>
                </a:lnTo>
                <a:lnTo>
                  <a:pt x="1100030" y="687185"/>
                </a:lnTo>
                <a:lnTo>
                  <a:pt x="1114697" y="681643"/>
                </a:lnTo>
                <a:lnTo>
                  <a:pt x="1129364" y="676102"/>
                </a:lnTo>
                <a:lnTo>
                  <a:pt x="1144031" y="670560"/>
                </a:lnTo>
                <a:lnTo>
                  <a:pt x="1158698" y="665018"/>
                </a:lnTo>
                <a:lnTo>
                  <a:pt x="1173365" y="659476"/>
                </a:lnTo>
                <a:lnTo>
                  <a:pt x="1188032" y="653934"/>
                </a:lnTo>
                <a:lnTo>
                  <a:pt x="1202699" y="648392"/>
                </a:lnTo>
                <a:lnTo>
                  <a:pt x="1217366" y="642851"/>
                </a:lnTo>
                <a:lnTo>
                  <a:pt x="1232033" y="637309"/>
                </a:lnTo>
                <a:lnTo>
                  <a:pt x="1246700" y="631767"/>
                </a:lnTo>
                <a:lnTo>
                  <a:pt x="1261367" y="626225"/>
                </a:lnTo>
                <a:lnTo>
                  <a:pt x="1276034" y="620683"/>
                </a:lnTo>
                <a:lnTo>
                  <a:pt x="1290701" y="615142"/>
                </a:lnTo>
                <a:lnTo>
                  <a:pt x="1305369" y="609600"/>
                </a:lnTo>
                <a:lnTo>
                  <a:pt x="1320036" y="604058"/>
                </a:lnTo>
                <a:lnTo>
                  <a:pt x="1334703" y="598516"/>
                </a:lnTo>
                <a:lnTo>
                  <a:pt x="1349370" y="592974"/>
                </a:lnTo>
                <a:lnTo>
                  <a:pt x="1364037" y="587432"/>
                </a:lnTo>
                <a:lnTo>
                  <a:pt x="1378704" y="581891"/>
                </a:lnTo>
                <a:lnTo>
                  <a:pt x="1393371" y="576349"/>
                </a:lnTo>
                <a:lnTo>
                  <a:pt x="1408038" y="570807"/>
                </a:lnTo>
                <a:lnTo>
                  <a:pt x="1422705" y="565265"/>
                </a:lnTo>
                <a:lnTo>
                  <a:pt x="1437372" y="559723"/>
                </a:lnTo>
                <a:lnTo>
                  <a:pt x="1452039" y="554182"/>
                </a:lnTo>
                <a:lnTo>
                  <a:pt x="1466706" y="548640"/>
                </a:lnTo>
                <a:lnTo>
                  <a:pt x="1481373" y="543098"/>
                </a:lnTo>
                <a:lnTo>
                  <a:pt x="1496040" y="537556"/>
                </a:lnTo>
                <a:lnTo>
                  <a:pt x="1510707" y="532014"/>
                </a:lnTo>
                <a:lnTo>
                  <a:pt x="1525375" y="526472"/>
                </a:lnTo>
                <a:lnTo>
                  <a:pt x="1540042" y="520931"/>
                </a:lnTo>
                <a:lnTo>
                  <a:pt x="1554709" y="515389"/>
                </a:lnTo>
                <a:lnTo>
                  <a:pt x="1569376" y="509847"/>
                </a:lnTo>
                <a:lnTo>
                  <a:pt x="1584043" y="504305"/>
                </a:lnTo>
                <a:lnTo>
                  <a:pt x="1598710" y="498763"/>
                </a:lnTo>
                <a:lnTo>
                  <a:pt x="1613377" y="493222"/>
                </a:lnTo>
                <a:lnTo>
                  <a:pt x="1628044" y="487680"/>
                </a:lnTo>
                <a:lnTo>
                  <a:pt x="1642711" y="482138"/>
                </a:lnTo>
                <a:lnTo>
                  <a:pt x="1657378" y="476596"/>
                </a:lnTo>
                <a:lnTo>
                  <a:pt x="1672045" y="471054"/>
                </a:lnTo>
                <a:lnTo>
                  <a:pt x="1686712" y="465512"/>
                </a:lnTo>
                <a:lnTo>
                  <a:pt x="1701379" y="459971"/>
                </a:lnTo>
                <a:lnTo>
                  <a:pt x="1716046" y="454429"/>
                </a:lnTo>
                <a:lnTo>
                  <a:pt x="1730713" y="448887"/>
                </a:lnTo>
                <a:lnTo>
                  <a:pt x="1745381" y="443345"/>
                </a:lnTo>
                <a:lnTo>
                  <a:pt x="1760048" y="437803"/>
                </a:lnTo>
                <a:lnTo>
                  <a:pt x="1774715" y="432262"/>
                </a:lnTo>
                <a:lnTo>
                  <a:pt x="1789382" y="426720"/>
                </a:lnTo>
                <a:lnTo>
                  <a:pt x="1804049" y="421178"/>
                </a:lnTo>
                <a:lnTo>
                  <a:pt x="1818716" y="415636"/>
                </a:lnTo>
                <a:lnTo>
                  <a:pt x="1833383" y="410094"/>
                </a:lnTo>
                <a:lnTo>
                  <a:pt x="1848050" y="404552"/>
                </a:lnTo>
                <a:lnTo>
                  <a:pt x="1862717" y="399011"/>
                </a:lnTo>
                <a:lnTo>
                  <a:pt x="1877384" y="393469"/>
                </a:lnTo>
                <a:lnTo>
                  <a:pt x="1892051" y="387927"/>
                </a:lnTo>
                <a:lnTo>
                  <a:pt x="1906718" y="382385"/>
                </a:lnTo>
                <a:lnTo>
                  <a:pt x="1921385" y="376843"/>
                </a:lnTo>
                <a:lnTo>
                  <a:pt x="1936052" y="371302"/>
                </a:lnTo>
                <a:lnTo>
                  <a:pt x="1950720" y="365760"/>
                </a:lnTo>
                <a:lnTo>
                  <a:pt x="1965387" y="360218"/>
                </a:lnTo>
                <a:lnTo>
                  <a:pt x="1980054" y="354676"/>
                </a:lnTo>
                <a:lnTo>
                  <a:pt x="1994721" y="349134"/>
                </a:lnTo>
                <a:lnTo>
                  <a:pt x="2009388" y="343592"/>
                </a:lnTo>
                <a:lnTo>
                  <a:pt x="2024055" y="338051"/>
                </a:lnTo>
                <a:lnTo>
                  <a:pt x="2038722" y="332509"/>
                </a:lnTo>
                <a:lnTo>
                  <a:pt x="2053389" y="326967"/>
                </a:lnTo>
                <a:lnTo>
                  <a:pt x="2068056" y="321425"/>
                </a:lnTo>
                <a:lnTo>
                  <a:pt x="2082723" y="315883"/>
                </a:lnTo>
                <a:lnTo>
                  <a:pt x="2097390" y="310342"/>
                </a:lnTo>
                <a:lnTo>
                  <a:pt x="2112057" y="304800"/>
                </a:lnTo>
                <a:lnTo>
                  <a:pt x="2126724" y="299258"/>
                </a:lnTo>
                <a:lnTo>
                  <a:pt x="2141391" y="293716"/>
                </a:lnTo>
                <a:lnTo>
                  <a:pt x="2156058" y="288174"/>
                </a:lnTo>
                <a:lnTo>
                  <a:pt x="2170726" y="282632"/>
                </a:lnTo>
                <a:lnTo>
                  <a:pt x="2185393" y="277091"/>
                </a:lnTo>
                <a:lnTo>
                  <a:pt x="2200060" y="271549"/>
                </a:lnTo>
                <a:lnTo>
                  <a:pt x="2214727" y="266007"/>
                </a:lnTo>
                <a:lnTo>
                  <a:pt x="2229394" y="260465"/>
                </a:lnTo>
                <a:lnTo>
                  <a:pt x="2244061" y="254923"/>
                </a:lnTo>
                <a:lnTo>
                  <a:pt x="2258728" y="249382"/>
                </a:lnTo>
                <a:lnTo>
                  <a:pt x="2273395" y="243840"/>
                </a:lnTo>
                <a:lnTo>
                  <a:pt x="2288062" y="238298"/>
                </a:lnTo>
                <a:lnTo>
                  <a:pt x="2302729" y="232756"/>
                </a:lnTo>
                <a:lnTo>
                  <a:pt x="2317396" y="227214"/>
                </a:lnTo>
                <a:lnTo>
                  <a:pt x="2332063" y="221672"/>
                </a:lnTo>
                <a:lnTo>
                  <a:pt x="2346730" y="216131"/>
                </a:lnTo>
                <a:lnTo>
                  <a:pt x="2361397" y="210589"/>
                </a:lnTo>
                <a:lnTo>
                  <a:pt x="2376064" y="205047"/>
                </a:lnTo>
                <a:lnTo>
                  <a:pt x="2390732" y="199505"/>
                </a:lnTo>
                <a:lnTo>
                  <a:pt x="2405399" y="193963"/>
                </a:lnTo>
                <a:lnTo>
                  <a:pt x="2420066" y="188422"/>
                </a:lnTo>
                <a:lnTo>
                  <a:pt x="2434733" y="182880"/>
                </a:lnTo>
                <a:lnTo>
                  <a:pt x="2449400" y="177338"/>
                </a:lnTo>
                <a:lnTo>
                  <a:pt x="2464067" y="171796"/>
                </a:lnTo>
                <a:lnTo>
                  <a:pt x="2478734" y="166254"/>
                </a:lnTo>
                <a:lnTo>
                  <a:pt x="2493401" y="160712"/>
                </a:lnTo>
                <a:lnTo>
                  <a:pt x="2508068" y="155171"/>
                </a:lnTo>
                <a:lnTo>
                  <a:pt x="2522735" y="149629"/>
                </a:lnTo>
                <a:lnTo>
                  <a:pt x="2537402" y="144087"/>
                </a:lnTo>
                <a:lnTo>
                  <a:pt x="2552069" y="138545"/>
                </a:lnTo>
                <a:lnTo>
                  <a:pt x="2566736" y="133003"/>
                </a:lnTo>
                <a:lnTo>
                  <a:pt x="2581403" y="127462"/>
                </a:lnTo>
                <a:lnTo>
                  <a:pt x="2596070" y="121920"/>
                </a:lnTo>
                <a:lnTo>
                  <a:pt x="2610738" y="116378"/>
                </a:lnTo>
                <a:lnTo>
                  <a:pt x="2625405" y="110836"/>
                </a:lnTo>
                <a:lnTo>
                  <a:pt x="2640072" y="105294"/>
                </a:lnTo>
                <a:lnTo>
                  <a:pt x="2654739" y="99752"/>
                </a:lnTo>
                <a:lnTo>
                  <a:pt x="2669406" y="94211"/>
                </a:lnTo>
                <a:lnTo>
                  <a:pt x="2684073" y="88669"/>
                </a:lnTo>
                <a:lnTo>
                  <a:pt x="2698740" y="83127"/>
                </a:lnTo>
                <a:lnTo>
                  <a:pt x="2713407" y="77585"/>
                </a:lnTo>
                <a:lnTo>
                  <a:pt x="2728074" y="72043"/>
                </a:lnTo>
                <a:lnTo>
                  <a:pt x="2742741" y="66502"/>
                </a:lnTo>
                <a:lnTo>
                  <a:pt x="2757408" y="60960"/>
                </a:lnTo>
                <a:lnTo>
                  <a:pt x="2772075" y="55418"/>
                </a:lnTo>
                <a:lnTo>
                  <a:pt x="2786742" y="49876"/>
                </a:lnTo>
                <a:lnTo>
                  <a:pt x="2801409" y="44334"/>
                </a:lnTo>
                <a:lnTo>
                  <a:pt x="2816076" y="38792"/>
                </a:lnTo>
                <a:lnTo>
                  <a:pt x="2830744" y="33251"/>
                </a:lnTo>
                <a:lnTo>
                  <a:pt x="2845411" y="27709"/>
                </a:lnTo>
                <a:lnTo>
                  <a:pt x="2860078" y="22167"/>
                </a:lnTo>
                <a:lnTo>
                  <a:pt x="2874745" y="16625"/>
                </a:lnTo>
                <a:lnTo>
                  <a:pt x="2889412" y="11083"/>
                </a:lnTo>
                <a:lnTo>
                  <a:pt x="2904079" y="5542"/>
                </a:lnTo>
                <a:lnTo>
                  <a:pt x="2918746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21 polygon 6" descr="sci-ppt:o006"/>
          <p:cNvSpPr/>
          <p:nvPr/>
        </p:nvSpPr>
        <p:spPr>
          <a:xfrm>
            <a:off x="3847813" y="2004000"/>
            <a:ext cx="2918747" cy="252074"/>
          </a:xfrm>
          <a:custGeom>
            <a:avLst/>
            <a:gdLst/>
            <a:ahLst/>
            <a:cxnLst/>
            <a:rect l="l" t="t" r="r" b="b"/>
            <a:pathLst>
              <a:path w="2918747" h="252074">
                <a:moveTo>
                  <a:pt x="0" y="0"/>
                </a:moveTo>
                <a:lnTo>
                  <a:pt x="14667" y="1267"/>
                </a:lnTo>
                <a:lnTo>
                  <a:pt x="29334" y="2534"/>
                </a:lnTo>
                <a:lnTo>
                  <a:pt x="44001" y="3800"/>
                </a:lnTo>
                <a:lnTo>
                  <a:pt x="58668" y="5067"/>
                </a:lnTo>
                <a:lnTo>
                  <a:pt x="73335" y="6334"/>
                </a:lnTo>
                <a:lnTo>
                  <a:pt x="88002" y="7600"/>
                </a:lnTo>
                <a:lnTo>
                  <a:pt x="102670" y="8867"/>
                </a:lnTo>
                <a:lnTo>
                  <a:pt x="117337" y="10134"/>
                </a:lnTo>
                <a:lnTo>
                  <a:pt x="132004" y="11400"/>
                </a:lnTo>
                <a:lnTo>
                  <a:pt x="146671" y="12667"/>
                </a:lnTo>
                <a:lnTo>
                  <a:pt x="161338" y="13934"/>
                </a:lnTo>
                <a:lnTo>
                  <a:pt x="176005" y="15201"/>
                </a:lnTo>
                <a:lnTo>
                  <a:pt x="190672" y="16467"/>
                </a:lnTo>
                <a:lnTo>
                  <a:pt x="205339" y="17734"/>
                </a:lnTo>
                <a:lnTo>
                  <a:pt x="220006" y="19001"/>
                </a:lnTo>
                <a:lnTo>
                  <a:pt x="234673" y="20267"/>
                </a:lnTo>
                <a:lnTo>
                  <a:pt x="249340" y="21534"/>
                </a:lnTo>
                <a:lnTo>
                  <a:pt x="264007" y="22801"/>
                </a:lnTo>
                <a:lnTo>
                  <a:pt x="278674" y="24067"/>
                </a:lnTo>
                <a:lnTo>
                  <a:pt x="293341" y="25334"/>
                </a:lnTo>
                <a:lnTo>
                  <a:pt x="308008" y="26601"/>
                </a:lnTo>
                <a:lnTo>
                  <a:pt x="322676" y="27868"/>
                </a:lnTo>
                <a:lnTo>
                  <a:pt x="337343" y="29134"/>
                </a:lnTo>
                <a:lnTo>
                  <a:pt x="352010" y="30401"/>
                </a:lnTo>
                <a:lnTo>
                  <a:pt x="366677" y="31668"/>
                </a:lnTo>
                <a:lnTo>
                  <a:pt x="381344" y="32934"/>
                </a:lnTo>
                <a:lnTo>
                  <a:pt x="396011" y="34201"/>
                </a:lnTo>
                <a:lnTo>
                  <a:pt x="410678" y="35468"/>
                </a:lnTo>
                <a:lnTo>
                  <a:pt x="425345" y="36734"/>
                </a:lnTo>
                <a:lnTo>
                  <a:pt x="440012" y="38001"/>
                </a:lnTo>
                <a:lnTo>
                  <a:pt x="454679" y="39268"/>
                </a:lnTo>
                <a:lnTo>
                  <a:pt x="469346" y="40535"/>
                </a:lnTo>
                <a:lnTo>
                  <a:pt x="484013" y="41801"/>
                </a:lnTo>
                <a:lnTo>
                  <a:pt x="498680" y="43068"/>
                </a:lnTo>
                <a:lnTo>
                  <a:pt x="513347" y="44335"/>
                </a:lnTo>
                <a:lnTo>
                  <a:pt x="528014" y="45601"/>
                </a:lnTo>
                <a:lnTo>
                  <a:pt x="542682" y="46868"/>
                </a:lnTo>
                <a:lnTo>
                  <a:pt x="557349" y="48135"/>
                </a:lnTo>
                <a:lnTo>
                  <a:pt x="572016" y="49401"/>
                </a:lnTo>
                <a:lnTo>
                  <a:pt x="586683" y="50668"/>
                </a:lnTo>
                <a:lnTo>
                  <a:pt x="601350" y="51935"/>
                </a:lnTo>
                <a:lnTo>
                  <a:pt x="616017" y="53202"/>
                </a:lnTo>
                <a:lnTo>
                  <a:pt x="630684" y="54468"/>
                </a:lnTo>
                <a:lnTo>
                  <a:pt x="645351" y="55735"/>
                </a:lnTo>
                <a:lnTo>
                  <a:pt x="660018" y="57002"/>
                </a:lnTo>
                <a:lnTo>
                  <a:pt x="674685" y="58268"/>
                </a:lnTo>
                <a:lnTo>
                  <a:pt x="689352" y="59535"/>
                </a:lnTo>
                <a:lnTo>
                  <a:pt x="704019" y="60802"/>
                </a:lnTo>
                <a:lnTo>
                  <a:pt x="718686" y="62068"/>
                </a:lnTo>
                <a:lnTo>
                  <a:pt x="733353" y="63335"/>
                </a:lnTo>
                <a:lnTo>
                  <a:pt x="748020" y="64602"/>
                </a:lnTo>
                <a:lnTo>
                  <a:pt x="762688" y="65869"/>
                </a:lnTo>
                <a:lnTo>
                  <a:pt x="777355" y="67135"/>
                </a:lnTo>
                <a:lnTo>
                  <a:pt x="792022" y="68402"/>
                </a:lnTo>
                <a:lnTo>
                  <a:pt x="806689" y="69669"/>
                </a:lnTo>
                <a:lnTo>
                  <a:pt x="821356" y="70935"/>
                </a:lnTo>
                <a:lnTo>
                  <a:pt x="836023" y="72202"/>
                </a:lnTo>
                <a:lnTo>
                  <a:pt x="850690" y="73469"/>
                </a:lnTo>
                <a:lnTo>
                  <a:pt x="865357" y="74736"/>
                </a:lnTo>
                <a:lnTo>
                  <a:pt x="880024" y="76002"/>
                </a:lnTo>
                <a:lnTo>
                  <a:pt x="894691" y="77269"/>
                </a:lnTo>
                <a:lnTo>
                  <a:pt x="909358" y="78536"/>
                </a:lnTo>
                <a:lnTo>
                  <a:pt x="924025" y="79802"/>
                </a:lnTo>
                <a:lnTo>
                  <a:pt x="938692" y="81069"/>
                </a:lnTo>
                <a:lnTo>
                  <a:pt x="953359" y="82336"/>
                </a:lnTo>
                <a:lnTo>
                  <a:pt x="968027" y="83602"/>
                </a:lnTo>
                <a:lnTo>
                  <a:pt x="982694" y="84869"/>
                </a:lnTo>
                <a:lnTo>
                  <a:pt x="997361" y="86136"/>
                </a:lnTo>
                <a:lnTo>
                  <a:pt x="1012028" y="87403"/>
                </a:lnTo>
                <a:lnTo>
                  <a:pt x="1026695" y="88669"/>
                </a:lnTo>
                <a:lnTo>
                  <a:pt x="1041362" y="89936"/>
                </a:lnTo>
                <a:lnTo>
                  <a:pt x="1056029" y="91203"/>
                </a:lnTo>
                <a:lnTo>
                  <a:pt x="1070696" y="92469"/>
                </a:lnTo>
                <a:lnTo>
                  <a:pt x="1085363" y="93736"/>
                </a:lnTo>
                <a:lnTo>
                  <a:pt x="1100030" y="95003"/>
                </a:lnTo>
                <a:lnTo>
                  <a:pt x="1114697" y="96269"/>
                </a:lnTo>
                <a:lnTo>
                  <a:pt x="1129364" y="97536"/>
                </a:lnTo>
                <a:lnTo>
                  <a:pt x="1144031" y="98803"/>
                </a:lnTo>
                <a:lnTo>
                  <a:pt x="1158698" y="100070"/>
                </a:lnTo>
                <a:lnTo>
                  <a:pt x="1173365" y="101336"/>
                </a:lnTo>
                <a:lnTo>
                  <a:pt x="1188033" y="102603"/>
                </a:lnTo>
                <a:lnTo>
                  <a:pt x="1202700" y="103870"/>
                </a:lnTo>
                <a:lnTo>
                  <a:pt x="1217367" y="105136"/>
                </a:lnTo>
                <a:lnTo>
                  <a:pt x="1232034" y="106403"/>
                </a:lnTo>
                <a:lnTo>
                  <a:pt x="1246701" y="107670"/>
                </a:lnTo>
                <a:lnTo>
                  <a:pt x="1261368" y="108936"/>
                </a:lnTo>
                <a:lnTo>
                  <a:pt x="1276035" y="110203"/>
                </a:lnTo>
                <a:lnTo>
                  <a:pt x="1290702" y="111470"/>
                </a:lnTo>
                <a:lnTo>
                  <a:pt x="1305369" y="112737"/>
                </a:lnTo>
                <a:lnTo>
                  <a:pt x="1320036" y="114003"/>
                </a:lnTo>
                <a:lnTo>
                  <a:pt x="1334703" y="115270"/>
                </a:lnTo>
                <a:lnTo>
                  <a:pt x="1349370" y="116537"/>
                </a:lnTo>
                <a:lnTo>
                  <a:pt x="1364037" y="117803"/>
                </a:lnTo>
                <a:lnTo>
                  <a:pt x="1378704" y="119070"/>
                </a:lnTo>
                <a:lnTo>
                  <a:pt x="1393371" y="120337"/>
                </a:lnTo>
                <a:lnTo>
                  <a:pt x="1408039" y="121603"/>
                </a:lnTo>
                <a:lnTo>
                  <a:pt x="1422706" y="122870"/>
                </a:lnTo>
                <a:lnTo>
                  <a:pt x="1437373" y="124137"/>
                </a:lnTo>
                <a:lnTo>
                  <a:pt x="1452040" y="125404"/>
                </a:lnTo>
                <a:lnTo>
                  <a:pt x="1466707" y="126670"/>
                </a:lnTo>
                <a:lnTo>
                  <a:pt x="1481374" y="127937"/>
                </a:lnTo>
                <a:lnTo>
                  <a:pt x="1496041" y="129204"/>
                </a:lnTo>
                <a:lnTo>
                  <a:pt x="1510708" y="130470"/>
                </a:lnTo>
                <a:lnTo>
                  <a:pt x="1525375" y="131737"/>
                </a:lnTo>
                <a:lnTo>
                  <a:pt x="1540042" y="133004"/>
                </a:lnTo>
                <a:lnTo>
                  <a:pt x="1554709" y="134270"/>
                </a:lnTo>
                <a:lnTo>
                  <a:pt x="1569376" y="135537"/>
                </a:lnTo>
                <a:lnTo>
                  <a:pt x="1584043" y="136804"/>
                </a:lnTo>
                <a:lnTo>
                  <a:pt x="1598710" y="138071"/>
                </a:lnTo>
                <a:lnTo>
                  <a:pt x="1613377" y="139337"/>
                </a:lnTo>
                <a:lnTo>
                  <a:pt x="1628045" y="140604"/>
                </a:lnTo>
                <a:lnTo>
                  <a:pt x="1642712" y="141871"/>
                </a:lnTo>
                <a:lnTo>
                  <a:pt x="1657379" y="143137"/>
                </a:lnTo>
                <a:lnTo>
                  <a:pt x="1672046" y="144404"/>
                </a:lnTo>
                <a:lnTo>
                  <a:pt x="1686713" y="145671"/>
                </a:lnTo>
                <a:lnTo>
                  <a:pt x="1701380" y="146937"/>
                </a:lnTo>
                <a:lnTo>
                  <a:pt x="1716047" y="148204"/>
                </a:lnTo>
                <a:lnTo>
                  <a:pt x="1730714" y="149471"/>
                </a:lnTo>
                <a:lnTo>
                  <a:pt x="1745381" y="150738"/>
                </a:lnTo>
                <a:lnTo>
                  <a:pt x="1760048" y="152004"/>
                </a:lnTo>
                <a:lnTo>
                  <a:pt x="1774715" y="153271"/>
                </a:lnTo>
                <a:lnTo>
                  <a:pt x="1789382" y="154538"/>
                </a:lnTo>
                <a:lnTo>
                  <a:pt x="1804049" y="155804"/>
                </a:lnTo>
                <a:lnTo>
                  <a:pt x="1818716" y="157071"/>
                </a:lnTo>
                <a:lnTo>
                  <a:pt x="1833383" y="158338"/>
                </a:lnTo>
                <a:lnTo>
                  <a:pt x="1848051" y="159604"/>
                </a:lnTo>
                <a:lnTo>
                  <a:pt x="1862718" y="160871"/>
                </a:lnTo>
                <a:lnTo>
                  <a:pt x="1877385" y="162138"/>
                </a:lnTo>
                <a:lnTo>
                  <a:pt x="1892052" y="163405"/>
                </a:lnTo>
                <a:lnTo>
                  <a:pt x="1906719" y="164671"/>
                </a:lnTo>
                <a:lnTo>
                  <a:pt x="1921386" y="165938"/>
                </a:lnTo>
                <a:lnTo>
                  <a:pt x="1936053" y="167205"/>
                </a:lnTo>
                <a:lnTo>
                  <a:pt x="1950720" y="168471"/>
                </a:lnTo>
                <a:lnTo>
                  <a:pt x="1965387" y="169738"/>
                </a:lnTo>
                <a:lnTo>
                  <a:pt x="1980054" y="171005"/>
                </a:lnTo>
                <a:lnTo>
                  <a:pt x="1994721" y="172272"/>
                </a:lnTo>
                <a:lnTo>
                  <a:pt x="2009388" y="173538"/>
                </a:lnTo>
                <a:lnTo>
                  <a:pt x="2024055" y="174805"/>
                </a:lnTo>
                <a:lnTo>
                  <a:pt x="2038722" y="176072"/>
                </a:lnTo>
                <a:lnTo>
                  <a:pt x="2053390" y="177338"/>
                </a:lnTo>
                <a:lnTo>
                  <a:pt x="2068057" y="178605"/>
                </a:lnTo>
                <a:lnTo>
                  <a:pt x="2082724" y="179872"/>
                </a:lnTo>
                <a:lnTo>
                  <a:pt x="2097391" y="181138"/>
                </a:lnTo>
                <a:lnTo>
                  <a:pt x="2112058" y="182405"/>
                </a:lnTo>
                <a:lnTo>
                  <a:pt x="2126725" y="183672"/>
                </a:lnTo>
                <a:lnTo>
                  <a:pt x="2141392" y="184939"/>
                </a:lnTo>
                <a:lnTo>
                  <a:pt x="2156059" y="186205"/>
                </a:lnTo>
                <a:lnTo>
                  <a:pt x="2170726" y="187472"/>
                </a:lnTo>
                <a:lnTo>
                  <a:pt x="2185393" y="188739"/>
                </a:lnTo>
                <a:lnTo>
                  <a:pt x="2200060" y="190005"/>
                </a:lnTo>
                <a:lnTo>
                  <a:pt x="2214727" y="191272"/>
                </a:lnTo>
                <a:lnTo>
                  <a:pt x="2229394" y="192539"/>
                </a:lnTo>
                <a:lnTo>
                  <a:pt x="2244061" y="193805"/>
                </a:lnTo>
                <a:lnTo>
                  <a:pt x="2258728" y="195072"/>
                </a:lnTo>
                <a:lnTo>
                  <a:pt x="2273396" y="196339"/>
                </a:lnTo>
                <a:lnTo>
                  <a:pt x="2288063" y="197606"/>
                </a:lnTo>
                <a:lnTo>
                  <a:pt x="2302730" y="198872"/>
                </a:lnTo>
                <a:lnTo>
                  <a:pt x="2317397" y="200139"/>
                </a:lnTo>
                <a:lnTo>
                  <a:pt x="2332064" y="201406"/>
                </a:lnTo>
                <a:lnTo>
                  <a:pt x="2346731" y="202672"/>
                </a:lnTo>
                <a:lnTo>
                  <a:pt x="2361398" y="203939"/>
                </a:lnTo>
                <a:lnTo>
                  <a:pt x="2376065" y="205206"/>
                </a:lnTo>
                <a:lnTo>
                  <a:pt x="2390732" y="206472"/>
                </a:lnTo>
                <a:lnTo>
                  <a:pt x="2405399" y="207739"/>
                </a:lnTo>
                <a:lnTo>
                  <a:pt x="2420066" y="209006"/>
                </a:lnTo>
                <a:lnTo>
                  <a:pt x="2434733" y="210273"/>
                </a:lnTo>
                <a:lnTo>
                  <a:pt x="2449400" y="211539"/>
                </a:lnTo>
                <a:lnTo>
                  <a:pt x="2464067" y="212806"/>
                </a:lnTo>
                <a:lnTo>
                  <a:pt x="2478734" y="214073"/>
                </a:lnTo>
                <a:lnTo>
                  <a:pt x="2493402" y="215339"/>
                </a:lnTo>
                <a:lnTo>
                  <a:pt x="2508069" y="216606"/>
                </a:lnTo>
                <a:lnTo>
                  <a:pt x="2522736" y="217873"/>
                </a:lnTo>
                <a:lnTo>
                  <a:pt x="2537403" y="219139"/>
                </a:lnTo>
                <a:lnTo>
                  <a:pt x="2552070" y="220406"/>
                </a:lnTo>
                <a:lnTo>
                  <a:pt x="2566737" y="221673"/>
                </a:lnTo>
                <a:lnTo>
                  <a:pt x="2581404" y="222940"/>
                </a:lnTo>
                <a:lnTo>
                  <a:pt x="2596071" y="224206"/>
                </a:lnTo>
                <a:lnTo>
                  <a:pt x="2610738" y="225473"/>
                </a:lnTo>
                <a:lnTo>
                  <a:pt x="2625405" y="226740"/>
                </a:lnTo>
                <a:lnTo>
                  <a:pt x="2640072" y="228006"/>
                </a:lnTo>
                <a:lnTo>
                  <a:pt x="2654739" y="229273"/>
                </a:lnTo>
                <a:lnTo>
                  <a:pt x="2669406" y="230540"/>
                </a:lnTo>
                <a:lnTo>
                  <a:pt x="2684073" y="231806"/>
                </a:lnTo>
                <a:lnTo>
                  <a:pt x="2698740" y="233073"/>
                </a:lnTo>
                <a:lnTo>
                  <a:pt x="2713408" y="234340"/>
                </a:lnTo>
                <a:lnTo>
                  <a:pt x="2728075" y="235607"/>
                </a:lnTo>
                <a:lnTo>
                  <a:pt x="2742742" y="236873"/>
                </a:lnTo>
                <a:lnTo>
                  <a:pt x="2757409" y="238140"/>
                </a:lnTo>
                <a:lnTo>
                  <a:pt x="2772076" y="239407"/>
                </a:lnTo>
                <a:lnTo>
                  <a:pt x="2786743" y="240673"/>
                </a:lnTo>
                <a:lnTo>
                  <a:pt x="2801410" y="241940"/>
                </a:lnTo>
                <a:lnTo>
                  <a:pt x="2816077" y="243207"/>
                </a:lnTo>
                <a:lnTo>
                  <a:pt x="2830744" y="244473"/>
                </a:lnTo>
                <a:lnTo>
                  <a:pt x="2845411" y="245740"/>
                </a:lnTo>
                <a:lnTo>
                  <a:pt x="2860078" y="247007"/>
                </a:lnTo>
                <a:lnTo>
                  <a:pt x="2874745" y="248274"/>
                </a:lnTo>
                <a:lnTo>
                  <a:pt x="2889412" y="249540"/>
                </a:lnTo>
                <a:lnTo>
                  <a:pt x="2904079" y="250807"/>
                </a:lnTo>
                <a:lnTo>
                  <a:pt x="2918747" y="252074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C2-E21 line 7" descr="sci-ppt:o007"/>
          <p:cNvCxnSpPr/>
          <p:nvPr/>
        </p:nvCxnSpPr>
        <p:spPr>
          <a:xfrm>
            <a:off x="3840480" y="1371600"/>
            <a:ext cx="0" cy="347472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10" name="C2-E21 ellipse 8" descr="sci-ppt:o008"/>
          <p:cNvSpPr/>
          <p:nvPr/>
        </p:nvSpPr>
        <p:spPr>
          <a:xfrm>
            <a:off x="3767328" y="1930215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21 text 9" descr="sci-ppt:o009"/>
          <p:cNvSpPr txBox="1"/>
          <p:nvPr/>
        </p:nvSpPr>
        <p:spPr>
          <a:xfrm>
            <a:off x="1280160" y="1438101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liquid: steep gradient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(larger qₗ)</a:t>
            </a:r>
          </a:p>
        </p:txBody>
      </p:sp>
      <p:sp>
        <p:nvSpPr>
          <p:cNvPr id="12" name="C2-E21 text 10" descr="sci-ppt:o010"/>
          <p:cNvSpPr txBox="1"/>
          <p:nvPr/>
        </p:nvSpPr>
        <p:spPr>
          <a:xfrm>
            <a:off x="4352544" y="1438101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vapor: gentle gradient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(smaller qᵥ)</a:t>
            </a:r>
          </a:p>
        </p:txBody>
      </p:sp>
      <p:cxnSp>
        <p:nvCxnSpPr>
          <p:cNvPr id="13" name="C2-E21 arrow 11" descr="sci-ppt:o011"/>
          <p:cNvCxnSpPr/>
          <p:nvPr/>
        </p:nvCxnSpPr>
        <p:spPr>
          <a:xfrm>
            <a:off x="2377440" y="4056610"/>
            <a:ext cx="1316736" cy="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2-E21 arrow 12" descr="sci-ppt:o012"/>
          <p:cNvCxnSpPr/>
          <p:nvPr/>
        </p:nvCxnSpPr>
        <p:spPr>
          <a:xfrm>
            <a:off x="3986784" y="4056610"/>
            <a:ext cx="1316736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2-E21 text 13" descr="sci-ppt:o013"/>
          <p:cNvSpPr txBox="1"/>
          <p:nvPr/>
        </p:nvSpPr>
        <p:spPr>
          <a:xfrm>
            <a:off x="2304288" y="3712464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qₗ·n</a:t>
            </a:r>
          </a:p>
        </p:txBody>
      </p:sp>
      <p:sp>
        <p:nvSpPr>
          <p:cNvPr id="16" name="C2-E21 text 14" descr="sci-ppt:o014"/>
          <p:cNvSpPr txBox="1"/>
          <p:nvPr/>
        </p:nvSpPr>
        <p:spPr>
          <a:xfrm>
            <a:off x="4352544" y="3712464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qᵥ·n</a:t>
            </a:r>
          </a:p>
        </p:txBody>
      </p:sp>
      <p:sp>
        <p:nvSpPr>
          <p:cNvPr id="17" name="C2-E21 round_rect 15" descr="sci-ppt:o015"/>
          <p:cNvSpPr/>
          <p:nvPr/>
        </p:nvSpPr>
        <p:spPr>
          <a:xfrm>
            <a:off x="7040880" y="1371600"/>
            <a:ext cx="480060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21 text 16" descr="sci-ppt:o016"/>
          <p:cNvSpPr txBox="1"/>
          <p:nvPr/>
        </p:nvSpPr>
        <p:spPr>
          <a:xfrm>
            <a:off x="7150608" y="1426464"/>
            <a:ext cx="45811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Heat that is not passed on becomes latent heat</a:t>
            </a:r>
          </a:p>
        </p:txBody>
      </p:sp>
      <p:sp>
        <p:nvSpPr>
          <p:cNvPr id="19" name="C2-E21 text 17" descr="sci-ppt:o017"/>
          <p:cNvSpPr txBox="1"/>
          <p:nvPr/>
        </p:nvSpPr>
        <p:spPr>
          <a:xfrm>
            <a:off x="7178040" y="1828800"/>
            <a:ext cx="45720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jₛ Lᵥ,s = (qₗ − qᵥ)·n</a:t>
            </a:r>
          </a:p>
        </p:txBody>
      </p:sp>
      <p:sp>
        <p:nvSpPr>
          <p:cNvPr id="20" name="C2-E21 text 18" descr="sci-ppt:o018"/>
          <p:cNvSpPr txBox="1"/>
          <p:nvPr/>
        </p:nvSpPr>
        <p:spPr>
          <a:xfrm>
            <a:off x="7178040" y="237744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Lᵥ,s = hᵥ,s − hₗ,s &gt; 0 (J/kg)</a:t>
            </a:r>
          </a:p>
        </p:txBody>
      </p:sp>
      <p:sp>
        <p:nvSpPr>
          <p:cNvPr id="21" name="C2-E21 text 19" descr="sci-ppt:o019"/>
          <p:cNvSpPr txBox="1"/>
          <p:nvPr/>
        </p:nvSpPr>
        <p:spPr>
          <a:xfrm>
            <a:off x="7178040" y="2898648"/>
            <a:ext cx="1737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qₗ·n arriving</a:t>
            </a:r>
          </a:p>
        </p:txBody>
      </p:sp>
      <p:sp>
        <p:nvSpPr>
          <p:cNvPr id="22" name="C2-E21 rect 20" descr="sci-ppt:o020"/>
          <p:cNvSpPr/>
          <p:nvPr/>
        </p:nvSpPr>
        <p:spPr>
          <a:xfrm>
            <a:off x="9006840" y="2880360"/>
            <a:ext cx="1371600" cy="292608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21 text 21" descr="sci-ppt:o021"/>
          <p:cNvSpPr txBox="1"/>
          <p:nvPr/>
        </p:nvSpPr>
        <p:spPr>
          <a:xfrm>
            <a:off x="10451592" y="2926079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1000 W/m²</a:t>
            </a:r>
          </a:p>
        </p:txBody>
      </p:sp>
      <p:sp>
        <p:nvSpPr>
          <p:cNvPr id="24" name="C2-E21 text 22" descr="sci-ppt:o022"/>
          <p:cNvSpPr txBox="1"/>
          <p:nvPr/>
        </p:nvSpPr>
        <p:spPr>
          <a:xfrm>
            <a:off x="7178040" y="3319272"/>
            <a:ext cx="1737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qᵥ·n leaving</a:t>
            </a:r>
          </a:p>
        </p:txBody>
      </p:sp>
      <p:sp>
        <p:nvSpPr>
          <p:cNvPr id="25" name="C2-E21 rect 23" descr="sci-ppt:o023"/>
          <p:cNvSpPr/>
          <p:nvPr/>
        </p:nvSpPr>
        <p:spPr>
          <a:xfrm>
            <a:off x="9006840" y="3300984"/>
            <a:ext cx="274320" cy="292608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21 text 24" descr="sci-ppt:o024"/>
          <p:cNvSpPr txBox="1"/>
          <p:nvPr/>
        </p:nvSpPr>
        <p:spPr>
          <a:xfrm>
            <a:off x="9354312" y="3346703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200 W/m²</a:t>
            </a:r>
          </a:p>
        </p:txBody>
      </p:sp>
      <p:sp>
        <p:nvSpPr>
          <p:cNvPr id="27" name="C2-E21 text 25" descr="sci-ppt:o025"/>
          <p:cNvSpPr txBox="1"/>
          <p:nvPr/>
        </p:nvSpPr>
        <p:spPr>
          <a:xfrm>
            <a:off x="7178040" y="3739896"/>
            <a:ext cx="1737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j Lᵥ = difference</a:t>
            </a:r>
          </a:p>
        </p:txBody>
      </p:sp>
      <p:sp>
        <p:nvSpPr>
          <p:cNvPr id="28" name="C2-E21 rect 26" descr="sci-ppt:o026"/>
          <p:cNvSpPr/>
          <p:nvPr/>
        </p:nvSpPr>
        <p:spPr>
          <a:xfrm>
            <a:off x="9006840" y="3721608"/>
            <a:ext cx="1097280" cy="292608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2-E21 text 27" descr="sci-ppt:o027"/>
          <p:cNvSpPr txBox="1"/>
          <p:nvPr/>
        </p:nvSpPr>
        <p:spPr>
          <a:xfrm>
            <a:off x="10177272" y="3767328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800 W/m²</a:t>
            </a:r>
          </a:p>
        </p:txBody>
      </p:sp>
      <p:sp>
        <p:nvSpPr>
          <p:cNvPr id="30" name="C2-E21 text 28" descr="sci-ppt:o028"/>
          <p:cNvSpPr txBox="1"/>
          <p:nvPr/>
        </p:nvSpPr>
        <p:spPr>
          <a:xfrm>
            <a:off x="914400" y="54406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Fourier law on each side: q_η = −k_η ∇T_η, η = l, v. Signs are fixed by n pointing liquid → vapor.</a:t>
            </a:r>
          </a:p>
        </p:txBody>
      </p:sp>
      <p:sp>
        <p:nvSpPr>
          <p:cNvPr id="31" name="C2-E21 text 29" descr="sci-ppt:o029"/>
          <p:cNvSpPr txBox="1"/>
          <p:nvPr/>
        </p:nvSpPr>
        <p:spPr>
          <a:xfrm>
            <a:off x="914400" y="58978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Example: 800 W/m² of unbalanced heat with Lᵥ = 95 kJ/kg evaporates j = 8.4 g m⁻² s⁻¹. Fluxes shown are illustrative.</a:t>
            </a:r>
          </a:p>
        </p:txBody>
      </p:sp>
      <p:sp>
        <p:nvSpPr>
          <p:cNvPr id="32" name="C2-E21 text 30" descr="sci-ppt:o03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Reduced energy jump of Eq. C2-E21.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