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1-E29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C1-E29 | Physical-variable diagram</a:t>
            </a:r>
          </a:p>
        </p:txBody>
      </p:sp>
      <p:sp>
        <p:nvSpPr>
          <p:cNvPr id="3" name="rect2" descr="sci-ppt:C1-E29-002"/>
          <p:cNvSpPr/>
          <p:nvPr/>
        </p:nvSpPr>
        <p:spPr>
          <a:xfrm>
            <a:off x="1341120" y="1524000"/>
            <a:ext cx="9144000" cy="243840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1-E29-003"/>
          <p:cNvSpPr/>
          <p:nvPr/>
        </p:nvSpPr>
        <p:spPr>
          <a:xfrm>
            <a:off x="2682240" y="1950720"/>
            <a:ext cx="1584960" cy="158496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4" descr="sci-ppt:C1-E29-004"/>
          <p:cNvCxnSpPr/>
          <p:nvPr/>
        </p:nvCxnSpPr>
        <p:spPr>
          <a:xfrm>
            <a:off x="4267200" y="2743200"/>
            <a:ext cx="40233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5" descr="sci-ppt:C1-E29-005"/>
          <p:cNvSpPr txBox="1"/>
          <p:nvPr/>
        </p:nvSpPr>
        <p:spPr>
          <a:xfrm>
            <a:off x="5120640" y="2072640"/>
            <a:ext cx="5364480" cy="39684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16" b="0" i="0">
                <a:solidFill>
                  <a:srgbClr val="E7F0F3"/>
                </a:solidFill>
                <a:latin typeface="Arial"/>
              </a:rPr>
              <a:t>Liquid u(x,t), p(x,t)</a:t>
            </a:r>
          </a:p>
        </p:txBody>
      </p:sp>
      <p:sp>
        <p:nvSpPr>
          <p:cNvPr id="7" name="text6" descr="sci-ppt:C1-E29-006"/>
          <p:cNvSpPr txBox="1"/>
          <p:nvPr/>
        </p:nvSpPr>
        <p:spPr>
          <a:xfrm>
            <a:off x="7680960" y="3413760"/>
            <a:ext cx="195072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Outlet</a:t>
            </a:r>
          </a:p>
        </p:txBody>
      </p:sp>
      <p:sp>
        <p:nvSpPr>
          <p:cNvPr id="8" name="text7" descr="sci-ppt:C1-E29-007"/>
          <p:cNvSpPr txBox="1"/>
          <p:nvPr/>
        </p:nvSpPr>
        <p:spPr>
          <a:xfrm>
            <a:off x="1584960" y="4206240"/>
            <a:ext cx="9753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Moving interface Gamma; spatial field required.</a:t>
            </a:r>
          </a:p>
        </p:txBody>
      </p:sp>
      <p:sp>
        <p:nvSpPr>
          <p:cNvPr id="9" name="text8" descr="sci-ppt:C1-E29-008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X(t) ∈ Γ</a:t>
            </a:r>
          </a:p>
        </p:txBody>
      </p:sp>
      <p:sp>
        <p:nvSpPr>
          <p:cNvPr id="10" name="text9" descr="sci-ppt:C1-E29-009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φ</a:t>
            </a:r>
          </a:p>
        </p:txBody>
      </p:sp>
      <p:sp>
        <p:nvSpPr>
          <p:cNvPr id="11" name="text10" descr="sci-ppt:C1-E29-010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12" name="text11" descr="sci-ppt:C1-E29-011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σ</a:t>
            </a:r>
          </a:p>
        </p:txBody>
      </p:sp>
      <p:sp>
        <p:nvSpPr>
          <p:cNvPr id="13" name="text12" descr="sci-ppt:C1-E29-012"/>
          <p:cNvSpPr txBox="1"/>
          <p:nvPr/>
        </p:nvSpPr>
        <p:spPr>
          <a:xfrm>
            <a:off x="365760" y="6144768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ρ</a:t>
            </a:r>
          </a:p>
        </p:txBody>
      </p:sp>
      <p:sp>
        <p:nvSpPr>
          <p:cNvPr id="14" name="text13" descr="sci-ppt:C1-E29-013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u = ∇φ</a:t>
            </a:r>
          </a:p>
        </p:txBody>
      </p:sp>
      <p:sp>
        <p:nvSpPr>
          <p:cNvPr id="15" name="text14" descr="sci-ppt:C1-E29-014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∇²φ = 0</a:t>
            </a:r>
          </a:p>
        </p:txBody>
      </p:sp>
      <p:sp>
        <p:nvSpPr>
          <p:cNvPr id="16" name="text15" descr="sci-ppt:C1-E29-015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17" name="text16" descr="sci-ppt:C1-E29-016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κ</a:t>
            </a:r>
          </a:p>
        </p:txBody>
      </p:sp>
      <p:sp>
        <p:nvSpPr>
          <p:cNvPr id="18" name="text17" descr="sci-ppt:C1-E29-017"/>
          <p:cNvSpPr txBox="1"/>
          <p:nvPr/>
        </p:nvSpPr>
        <p:spPr>
          <a:xfrm>
            <a:off x="6156960" y="6144768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∂tφ vs Dφ/Dt</a:t>
            </a:r>
          </a:p>
        </p:txBody>
      </p:sp>
      <p:sp>
        <p:nvSpPr>
          <p:cNvPr id="19" name="text18" descr="sci-ppt:C1-E29-018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Update shape and potential together</a:t>
            </a:r>
          </a:p>
        </p:txBody>
      </p:sp>
      <p:sp>
        <p:nvSpPr>
          <p:cNvPr id="20" name="text19" descr="sci-ppt:C1-E29-019"/>
          <p:cNvSpPr txBox="1"/>
          <p:nvPr/>
        </p:nvSpPr>
        <p:spPr>
          <a:xfrm>
            <a:off x="365760" y="6925056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Self-impact or jet piercing requires additional topology and compressibility treatment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