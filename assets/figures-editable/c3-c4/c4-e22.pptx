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C4-E22 · Derived loading-control comparison</a:t>
            </a:r>
          </a:p>
        </p:txBody>
      </p:sp>
      <p:cxnSp>
        <p:nvCxnSpPr>
          <p:cNvPr id="3" name="C4-E22 line 1" descr="sci-ppt:o001"/>
          <p:cNvCxnSpPr/>
          <p:nvPr/>
        </p:nvCxnSpPr>
        <p:spPr>
          <a:xfrm>
            <a:off x="914400" y="4937760"/>
            <a:ext cx="56692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4-E22 line 2" descr="sci-ppt:o002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4-E22 line 3" descr="sci-ppt:o003"/>
          <p:cNvCxnSpPr/>
          <p:nvPr/>
        </p:nvCxnSpPr>
        <p:spPr>
          <a:xfrm>
            <a:off x="9144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4-E22 line 4" descr="sci-ppt:o004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4-E22 text 5" descr="sci-ppt:o005"/>
          <p:cNvSpPr txBox="1"/>
          <p:nvPr/>
        </p:nvSpPr>
        <p:spPr>
          <a:xfrm>
            <a:off x="4572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8" name="C4-E22 line 6" descr="sci-ppt:o006"/>
          <p:cNvCxnSpPr/>
          <p:nvPr/>
        </p:nvCxnSpPr>
        <p:spPr>
          <a:xfrm>
            <a:off x="280416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4-E22 line 7" descr="sci-ppt:o007"/>
          <p:cNvCxnSpPr/>
          <p:nvPr/>
        </p:nvCxnSpPr>
        <p:spPr>
          <a:xfrm>
            <a:off x="280416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4-E22 text 8" descr="sci-ppt:o008"/>
          <p:cNvSpPr txBox="1"/>
          <p:nvPr/>
        </p:nvSpPr>
        <p:spPr>
          <a:xfrm>
            <a:off x="234696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4-E22 line 9" descr="sci-ppt:o009"/>
          <p:cNvCxnSpPr/>
          <p:nvPr/>
        </p:nvCxnSpPr>
        <p:spPr>
          <a:xfrm>
            <a:off x="469392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4-E22 line 10" descr="sci-ppt:o010"/>
          <p:cNvCxnSpPr/>
          <p:nvPr/>
        </p:nvCxnSpPr>
        <p:spPr>
          <a:xfrm>
            <a:off x="469392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4-E22 text 11" descr="sci-ppt:o011"/>
          <p:cNvSpPr txBox="1"/>
          <p:nvPr/>
        </p:nvSpPr>
        <p:spPr>
          <a:xfrm>
            <a:off x="423672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4" name="C4-E22 line 12" descr="sci-ppt:o012"/>
          <p:cNvCxnSpPr/>
          <p:nvPr/>
        </p:nvCxnSpPr>
        <p:spPr>
          <a:xfrm>
            <a:off x="658368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4-E22 line 13" descr="sci-ppt:o013"/>
          <p:cNvCxnSpPr/>
          <p:nvPr/>
        </p:nvCxnSpPr>
        <p:spPr>
          <a:xfrm>
            <a:off x="658368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4-E22 text 14" descr="sci-ppt:o014"/>
          <p:cNvSpPr txBox="1"/>
          <p:nvPr/>
        </p:nvSpPr>
        <p:spPr>
          <a:xfrm>
            <a:off x="612648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7" name="C4-E22 line 15" descr="sci-ppt:o015"/>
          <p:cNvCxnSpPr/>
          <p:nvPr/>
        </p:nvCxnSpPr>
        <p:spPr>
          <a:xfrm>
            <a:off x="850392" y="49377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4-E22 line 16" descr="sci-ppt:o016"/>
          <p:cNvCxnSpPr/>
          <p:nvPr/>
        </p:nvCxnSpPr>
        <p:spPr>
          <a:xfrm>
            <a:off x="850392" y="40462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4-E22 line 17" descr="sci-ppt:o017"/>
          <p:cNvCxnSpPr/>
          <p:nvPr/>
        </p:nvCxnSpPr>
        <p:spPr>
          <a:xfrm>
            <a:off x="914400" y="4046220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4-E22 text 18" descr="sci-ppt:o018"/>
          <p:cNvSpPr txBox="1"/>
          <p:nvPr/>
        </p:nvSpPr>
        <p:spPr>
          <a:xfrm>
            <a:off x="45720" y="39639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21" name="C4-E22 line 19" descr="sci-ppt:o019"/>
          <p:cNvCxnSpPr/>
          <p:nvPr/>
        </p:nvCxnSpPr>
        <p:spPr>
          <a:xfrm>
            <a:off x="850392" y="3154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4-E22 line 20" descr="sci-ppt:o020"/>
          <p:cNvCxnSpPr/>
          <p:nvPr/>
        </p:nvCxnSpPr>
        <p:spPr>
          <a:xfrm>
            <a:off x="914400" y="3154680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4-E22 text 21" descr="sci-ppt:o021"/>
          <p:cNvSpPr txBox="1"/>
          <p:nvPr/>
        </p:nvSpPr>
        <p:spPr>
          <a:xfrm>
            <a:off x="45720" y="30723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4" name="C4-E22 line 22" descr="sci-ppt:o022"/>
          <p:cNvCxnSpPr/>
          <p:nvPr/>
        </p:nvCxnSpPr>
        <p:spPr>
          <a:xfrm>
            <a:off x="850392" y="22631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4-E22 line 23" descr="sci-ppt:o023"/>
          <p:cNvCxnSpPr/>
          <p:nvPr/>
        </p:nvCxnSpPr>
        <p:spPr>
          <a:xfrm>
            <a:off x="914400" y="2263140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4-E22 text 24" descr="sci-ppt:o024"/>
          <p:cNvSpPr txBox="1"/>
          <p:nvPr/>
        </p:nvSpPr>
        <p:spPr>
          <a:xfrm>
            <a:off x="45720" y="21808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7" name="C4-E22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4-E22 line 26" descr="sci-ppt:o026"/>
          <p:cNvCxnSpPr/>
          <p:nvPr/>
        </p:nvCxnSpPr>
        <p:spPr>
          <a:xfrm>
            <a:off x="914400" y="1371600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4-E22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sp>
        <p:nvSpPr>
          <p:cNvPr id="30" name="C4-E22 text 28" descr="sci-ppt:o028"/>
          <p:cNvSpPr txBox="1"/>
          <p:nvPr/>
        </p:nvSpPr>
        <p:spPr>
          <a:xfrm>
            <a:off x="914400" y="5221224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b / b₀</a:t>
            </a:r>
          </a:p>
        </p:txBody>
      </p:sp>
      <p:sp>
        <p:nvSpPr>
          <p:cNvPr id="31" name="C4-E22 text 29" descr="sci-ppt:o029"/>
          <p:cNvSpPr txBox="1"/>
          <p:nvPr/>
        </p:nvSpPr>
        <p:spPr>
          <a:xfrm>
            <a:off x="365760" y="1024128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G / G(b₀)</a:t>
            </a:r>
          </a:p>
        </p:txBody>
      </p:sp>
      <p:sp>
        <p:nvSpPr>
          <p:cNvPr id="32" name="C4-E22 polygon 30" descr="sci-ppt:o030"/>
          <p:cNvSpPr/>
          <p:nvPr/>
        </p:nvSpPr>
        <p:spPr>
          <a:xfrm>
            <a:off x="914400" y="2081158"/>
            <a:ext cx="5669280" cy="2147043"/>
          </a:xfrm>
          <a:custGeom>
            <a:avLst/>
            <a:gdLst/>
            <a:ahLst/>
            <a:cxnLst/>
            <a:rect l="l" t="t" r="r" b="b"/>
            <a:pathLst>
              <a:path w="5669280" h="2147043">
                <a:moveTo>
                  <a:pt x="0" y="2147043"/>
                </a:moveTo>
                <a:lnTo>
                  <a:pt x="57265" y="2100807"/>
                </a:lnTo>
                <a:lnTo>
                  <a:pt x="114530" y="2055913"/>
                </a:lnTo>
                <a:lnTo>
                  <a:pt x="171796" y="2012283"/>
                </a:lnTo>
                <a:lnTo>
                  <a:pt x="229061" y="1969848"/>
                </a:lnTo>
                <a:lnTo>
                  <a:pt x="286327" y="1928545"/>
                </a:lnTo>
                <a:lnTo>
                  <a:pt x="343592" y="1888315"/>
                </a:lnTo>
                <a:lnTo>
                  <a:pt x="400858" y="1849104"/>
                </a:lnTo>
                <a:lnTo>
                  <a:pt x="458123" y="1810861"/>
                </a:lnTo>
                <a:lnTo>
                  <a:pt x="515389" y="1773540"/>
                </a:lnTo>
                <a:lnTo>
                  <a:pt x="572654" y="1737096"/>
                </a:lnTo>
                <a:lnTo>
                  <a:pt x="629920" y="1701491"/>
                </a:lnTo>
                <a:lnTo>
                  <a:pt x="687185" y="1666686"/>
                </a:lnTo>
                <a:lnTo>
                  <a:pt x="744450" y="1632646"/>
                </a:lnTo>
                <a:lnTo>
                  <a:pt x="801716" y="1599338"/>
                </a:lnTo>
                <a:lnTo>
                  <a:pt x="858981" y="1566731"/>
                </a:lnTo>
                <a:lnTo>
                  <a:pt x="916247" y="1534797"/>
                </a:lnTo>
                <a:lnTo>
                  <a:pt x="973512" y="1503507"/>
                </a:lnTo>
                <a:lnTo>
                  <a:pt x="1030778" y="1472838"/>
                </a:lnTo>
                <a:lnTo>
                  <a:pt x="1088043" y="1442764"/>
                </a:lnTo>
                <a:lnTo>
                  <a:pt x="1145309" y="1413263"/>
                </a:lnTo>
                <a:lnTo>
                  <a:pt x="1202574" y="1384313"/>
                </a:lnTo>
                <a:lnTo>
                  <a:pt x="1259840" y="1355894"/>
                </a:lnTo>
                <a:lnTo>
                  <a:pt x="1317105" y="1327988"/>
                </a:lnTo>
                <a:lnTo>
                  <a:pt x="1374370" y="1300576"/>
                </a:lnTo>
                <a:lnTo>
                  <a:pt x="1431636" y="1273640"/>
                </a:lnTo>
                <a:lnTo>
                  <a:pt x="1488901" y="1247165"/>
                </a:lnTo>
                <a:lnTo>
                  <a:pt x="1546167" y="1221134"/>
                </a:lnTo>
                <a:lnTo>
                  <a:pt x="1603432" y="1195534"/>
                </a:lnTo>
                <a:lnTo>
                  <a:pt x="1660698" y="1170351"/>
                </a:lnTo>
                <a:lnTo>
                  <a:pt x="1717963" y="1145570"/>
                </a:lnTo>
                <a:lnTo>
                  <a:pt x="1775229" y="1121180"/>
                </a:lnTo>
                <a:lnTo>
                  <a:pt x="1832494" y="1097167"/>
                </a:lnTo>
                <a:lnTo>
                  <a:pt x="1889760" y="1073522"/>
                </a:lnTo>
                <a:lnTo>
                  <a:pt x="1947025" y="1050231"/>
                </a:lnTo>
                <a:lnTo>
                  <a:pt x="2004290" y="1027286"/>
                </a:lnTo>
                <a:lnTo>
                  <a:pt x="2061556" y="1004676"/>
                </a:lnTo>
                <a:lnTo>
                  <a:pt x="2118821" y="982391"/>
                </a:lnTo>
                <a:lnTo>
                  <a:pt x="2176087" y="960423"/>
                </a:lnTo>
                <a:lnTo>
                  <a:pt x="2233352" y="938761"/>
                </a:lnTo>
                <a:lnTo>
                  <a:pt x="2290618" y="917399"/>
                </a:lnTo>
                <a:lnTo>
                  <a:pt x="2347883" y="896327"/>
                </a:lnTo>
                <a:lnTo>
                  <a:pt x="2405149" y="875538"/>
                </a:lnTo>
                <a:lnTo>
                  <a:pt x="2462414" y="855024"/>
                </a:lnTo>
                <a:lnTo>
                  <a:pt x="2519680" y="834779"/>
                </a:lnTo>
                <a:lnTo>
                  <a:pt x="2576945" y="814794"/>
                </a:lnTo>
                <a:lnTo>
                  <a:pt x="2634210" y="795064"/>
                </a:lnTo>
                <a:lnTo>
                  <a:pt x="2691476" y="775583"/>
                </a:lnTo>
                <a:lnTo>
                  <a:pt x="2748741" y="756343"/>
                </a:lnTo>
                <a:lnTo>
                  <a:pt x="2806007" y="737340"/>
                </a:lnTo>
                <a:lnTo>
                  <a:pt x="2863272" y="718567"/>
                </a:lnTo>
                <a:lnTo>
                  <a:pt x="2920538" y="700018"/>
                </a:lnTo>
                <a:lnTo>
                  <a:pt x="2977803" y="681690"/>
                </a:lnTo>
                <a:lnTo>
                  <a:pt x="3035069" y="663575"/>
                </a:lnTo>
                <a:lnTo>
                  <a:pt x="3092334" y="645670"/>
                </a:lnTo>
                <a:lnTo>
                  <a:pt x="3149600" y="627970"/>
                </a:lnTo>
                <a:lnTo>
                  <a:pt x="3206865" y="610470"/>
                </a:lnTo>
                <a:lnTo>
                  <a:pt x="3264130" y="593165"/>
                </a:lnTo>
                <a:lnTo>
                  <a:pt x="3321396" y="576051"/>
                </a:lnTo>
                <a:lnTo>
                  <a:pt x="3378661" y="559125"/>
                </a:lnTo>
                <a:lnTo>
                  <a:pt x="3435927" y="542381"/>
                </a:lnTo>
                <a:lnTo>
                  <a:pt x="3493192" y="525817"/>
                </a:lnTo>
                <a:lnTo>
                  <a:pt x="3550458" y="509427"/>
                </a:lnTo>
                <a:lnTo>
                  <a:pt x="3607723" y="493210"/>
                </a:lnTo>
                <a:lnTo>
                  <a:pt x="3664989" y="477160"/>
                </a:lnTo>
                <a:lnTo>
                  <a:pt x="3722254" y="461276"/>
                </a:lnTo>
                <a:lnTo>
                  <a:pt x="3779520" y="445552"/>
                </a:lnTo>
                <a:lnTo>
                  <a:pt x="3836785" y="429986"/>
                </a:lnTo>
                <a:lnTo>
                  <a:pt x="3894050" y="414576"/>
                </a:lnTo>
                <a:lnTo>
                  <a:pt x="3951316" y="399317"/>
                </a:lnTo>
                <a:lnTo>
                  <a:pt x="4008581" y="384207"/>
                </a:lnTo>
                <a:lnTo>
                  <a:pt x="4065847" y="369243"/>
                </a:lnTo>
                <a:lnTo>
                  <a:pt x="4123112" y="354422"/>
                </a:lnTo>
                <a:lnTo>
                  <a:pt x="4180378" y="339742"/>
                </a:lnTo>
                <a:lnTo>
                  <a:pt x="4237643" y="325199"/>
                </a:lnTo>
                <a:lnTo>
                  <a:pt x="4294909" y="310792"/>
                </a:lnTo>
                <a:lnTo>
                  <a:pt x="4352174" y="296517"/>
                </a:lnTo>
                <a:lnTo>
                  <a:pt x="4409440" y="282373"/>
                </a:lnTo>
                <a:lnTo>
                  <a:pt x="4466705" y="268357"/>
                </a:lnTo>
                <a:lnTo>
                  <a:pt x="4523970" y="254467"/>
                </a:lnTo>
                <a:lnTo>
                  <a:pt x="4581236" y="240700"/>
                </a:lnTo>
                <a:lnTo>
                  <a:pt x="4638501" y="227054"/>
                </a:lnTo>
                <a:lnTo>
                  <a:pt x="4695767" y="213528"/>
                </a:lnTo>
                <a:lnTo>
                  <a:pt x="4753032" y="200119"/>
                </a:lnTo>
                <a:lnTo>
                  <a:pt x="4810298" y="186825"/>
                </a:lnTo>
                <a:lnTo>
                  <a:pt x="4867563" y="173644"/>
                </a:lnTo>
                <a:lnTo>
                  <a:pt x="4924829" y="160574"/>
                </a:lnTo>
                <a:lnTo>
                  <a:pt x="4982094" y="147613"/>
                </a:lnTo>
                <a:lnTo>
                  <a:pt x="5039360" y="134760"/>
                </a:lnTo>
                <a:lnTo>
                  <a:pt x="5096625" y="122013"/>
                </a:lnTo>
                <a:lnTo>
                  <a:pt x="5153890" y="109370"/>
                </a:lnTo>
                <a:lnTo>
                  <a:pt x="5211156" y="96830"/>
                </a:lnTo>
                <a:lnTo>
                  <a:pt x="5268421" y="84390"/>
                </a:lnTo>
                <a:lnTo>
                  <a:pt x="5325687" y="72049"/>
                </a:lnTo>
                <a:lnTo>
                  <a:pt x="5382952" y="59806"/>
                </a:lnTo>
                <a:lnTo>
                  <a:pt x="5440218" y="47658"/>
                </a:lnTo>
                <a:lnTo>
                  <a:pt x="5497483" y="35606"/>
                </a:lnTo>
                <a:lnTo>
                  <a:pt x="5554749" y="23646"/>
                </a:lnTo>
                <a:lnTo>
                  <a:pt x="5612014" y="11778"/>
                </a:lnTo>
                <a:lnTo>
                  <a:pt x="5669280" y="0"/>
                </a:lnTo>
              </a:path>
            </a:pathLst>
          </a:custGeom>
          <a:noFill/>
          <a:ln w="406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4-E22 polygon 31" descr="sci-ppt:o031"/>
          <p:cNvSpPr/>
          <p:nvPr/>
        </p:nvSpPr>
        <p:spPr>
          <a:xfrm>
            <a:off x="1200727" y="1444632"/>
            <a:ext cx="4523971" cy="3483441"/>
          </a:xfrm>
          <a:custGeom>
            <a:avLst/>
            <a:gdLst/>
            <a:ahLst/>
            <a:cxnLst/>
            <a:rect l="l" t="t" r="r" b="b"/>
            <a:pathLst>
              <a:path w="4523971" h="3483441">
                <a:moveTo>
                  <a:pt x="0" y="0"/>
                </a:moveTo>
                <a:lnTo>
                  <a:pt x="57265" y="80460"/>
                </a:lnTo>
                <a:lnTo>
                  <a:pt x="114531" y="158882"/>
                </a:lnTo>
                <a:lnTo>
                  <a:pt x="171796" y="235368"/>
                </a:lnTo>
                <a:lnTo>
                  <a:pt x="229062" y="310011"/>
                </a:lnTo>
                <a:lnTo>
                  <a:pt x="286327" y="382898"/>
                </a:lnTo>
                <a:lnTo>
                  <a:pt x="343593" y="454108"/>
                </a:lnTo>
                <a:lnTo>
                  <a:pt x="400858" y="523719"/>
                </a:lnTo>
                <a:lnTo>
                  <a:pt x="458123" y="591799"/>
                </a:lnTo>
                <a:lnTo>
                  <a:pt x="515389" y="658415"/>
                </a:lnTo>
                <a:lnTo>
                  <a:pt x="572654" y="723628"/>
                </a:lnTo>
                <a:lnTo>
                  <a:pt x="629920" y="787497"/>
                </a:lnTo>
                <a:lnTo>
                  <a:pt x="687185" y="850076"/>
                </a:lnTo>
                <a:lnTo>
                  <a:pt x="744451" y="911415"/>
                </a:lnTo>
                <a:lnTo>
                  <a:pt x="801716" y="971563"/>
                </a:lnTo>
                <a:lnTo>
                  <a:pt x="858982" y="1030565"/>
                </a:lnTo>
                <a:lnTo>
                  <a:pt x="916247" y="1088465"/>
                </a:lnTo>
                <a:lnTo>
                  <a:pt x="973513" y="1145302"/>
                </a:lnTo>
                <a:lnTo>
                  <a:pt x="1030778" y="1201114"/>
                </a:lnTo>
                <a:lnTo>
                  <a:pt x="1088043" y="1255939"/>
                </a:lnTo>
                <a:lnTo>
                  <a:pt x="1145309" y="1309811"/>
                </a:lnTo>
                <a:lnTo>
                  <a:pt x="1202574" y="1362761"/>
                </a:lnTo>
                <a:lnTo>
                  <a:pt x="1259840" y="1414822"/>
                </a:lnTo>
                <a:lnTo>
                  <a:pt x="1317105" y="1466022"/>
                </a:lnTo>
                <a:lnTo>
                  <a:pt x="1374371" y="1516389"/>
                </a:lnTo>
                <a:lnTo>
                  <a:pt x="1431636" y="1565950"/>
                </a:lnTo>
                <a:lnTo>
                  <a:pt x="1488902" y="1614731"/>
                </a:lnTo>
                <a:lnTo>
                  <a:pt x="1546167" y="1662756"/>
                </a:lnTo>
                <a:lnTo>
                  <a:pt x="1603433" y="1710048"/>
                </a:lnTo>
                <a:lnTo>
                  <a:pt x="1660698" y="1756628"/>
                </a:lnTo>
                <a:lnTo>
                  <a:pt x="1717963" y="1802518"/>
                </a:lnTo>
                <a:lnTo>
                  <a:pt x="1775229" y="1847738"/>
                </a:lnTo>
                <a:lnTo>
                  <a:pt x="1832494" y="1892308"/>
                </a:lnTo>
                <a:lnTo>
                  <a:pt x="1889760" y="1936245"/>
                </a:lnTo>
                <a:lnTo>
                  <a:pt x="1947025" y="1979568"/>
                </a:lnTo>
                <a:lnTo>
                  <a:pt x="2004291" y="2022293"/>
                </a:lnTo>
                <a:lnTo>
                  <a:pt x="2061556" y="2064437"/>
                </a:lnTo>
                <a:lnTo>
                  <a:pt x="2118822" y="2106015"/>
                </a:lnTo>
                <a:lnTo>
                  <a:pt x="2176087" y="2147042"/>
                </a:lnTo>
                <a:lnTo>
                  <a:pt x="2233353" y="2187533"/>
                </a:lnTo>
                <a:lnTo>
                  <a:pt x="2290618" y="2227502"/>
                </a:lnTo>
                <a:lnTo>
                  <a:pt x="2347883" y="2266962"/>
                </a:lnTo>
                <a:lnTo>
                  <a:pt x="2405149" y="2305925"/>
                </a:lnTo>
                <a:lnTo>
                  <a:pt x="2462414" y="2344404"/>
                </a:lnTo>
                <a:lnTo>
                  <a:pt x="2519680" y="2382411"/>
                </a:lnTo>
                <a:lnTo>
                  <a:pt x="2576945" y="2419957"/>
                </a:lnTo>
                <a:lnTo>
                  <a:pt x="2634211" y="2457054"/>
                </a:lnTo>
                <a:lnTo>
                  <a:pt x="2691476" y="2493711"/>
                </a:lnTo>
                <a:lnTo>
                  <a:pt x="2748742" y="2529940"/>
                </a:lnTo>
                <a:lnTo>
                  <a:pt x="2806007" y="2565750"/>
                </a:lnTo>
                <a:lnTo>
                  <a:pt x="2863273" y="2601151"/>
                </a:lnTo>
                <a:lnTo>
                  <a:pt x="2920538" y="2636151"/>
                </a:lnTo>
                <a:lnTo>
                  <a:pt x="2977803" y="2670761"/>
                </a:lnTo>
                <a:lnTo>
                  <a:pt x="3035069" y="2704988"/>
                </a:lnTo>
                <a:lnTo>
                  <a:pt x="3092334" y="2738841"/>
                </a:lnTo>
                <a:lnTo>
                  <a:pt x="3149600" y="2772328"/>
                </a:lnTo>
                <a:lnTo>
                  <a:pt x="3206865" y="2805457"/>
                </a:lnTo>
                <a:lnTo>
                  <a:pt x="3264131" y="2838236"/>
                </a:lnTo>
                <a:lnTo>
                  <a:pt x="3321396" y="2870671"/>
                </a:lnTo>
                <a:lnTo>
                  <a:pt x="3378662" y="2902770"/>
                </a:lnTo>
                <a:lnTo>
                  <a:pt x="3435927" y="2934539"/>
                </a:lnTo>
                <a:lnTo>
                  <a:pt x="3493193" y="2965987"/>
                </a:lnTo>
                <a:lnTo>
                  <a:pt x="3550458" y="2997118"/>
                </a:lnTo>
                <a:lnTo>
                  <a:pt x="3607723" y="3027939"/>
                </a:lnTo>
                <a:lnTo>
                  <a:pt x="3664989" y="3058457"/>
                </a:lnTo>
                <a:lnTo>
                  <a:pt x="3722254" y="3088677"/>
                </a:lnTo>
                <a:lnTo>
                  <a:pt x="3779520" y="3118605"/>
                </a:lnTo>
                <a:lnTo>
                  <a:pt x="3836785" y="3148247"/>
                </a:lnTo>
                <a:lnTo>
                  <a:pt x="3894051" y="3177607"/>
                </a:lnTo>
                <a:lnTo>
                  <a:pt x="3951316" y="3206692"/>
                </a:lnTo>
                <a:lnTo>
                  <a:pt x="4008582" y="3235507"/>
                </a:lnTo>
                <a:lnTo>
                  <a:pt x="4065847" y="3264056"/>
                </a:lnTo>
                <a:lnTo>
                  <a:pt x="4123113" y="3292344"/>
                </a:lnTo>
                <a:lnTo>
                  <a:pt x="4180378" y="3320376"/>
                </a:lnTo>
                <a:lnTo>
                  <a:pt x="4237643" y="3348157"/>
                </a:lnTo>
                <a:lnTo>
                  <a:pt x="4294909" y="3375690"/>
                </a:lnTo>
                <a:lnTo>
                  <a:pt x="4352174" y="3402982"/>
                </a:lnTo>
                <a:lnTo>
                  <a:pt x="4409440" y="3430034"/>
                </a:lnTo>
                <a:lnTo>
                  <a:pt x="4466705" y="3456853"/>
                </a:lnTo>
                <a:lnTo>
                  <a:pt x="4523971" y="3483441"/>
                </a:lnTo>
              </a:path>
            </a:pathLst>
          </a:custGeom>
          <a:noFill/>
          <a:ln w="4064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4-E22 line 32" descr="sci-ppt:o032"/>
          <p:cNvCxnSpPr/>
          <p:nvPr/>
        </p:nvCxnSpPr>
        <p:spPr>
          <a:xfrm>
            <a:off x="914400" y="3154680"/>
            <a:ext cx="5669280" cy="0"/>
          </a:xfrm>
          <a:prstGeom prst="line">
            <a:avLst/>
          </a:prstGeom>
          <a:ln w="16510">
            <a:solidFill>
              <a:srgbClr val="B4C7D2"/>
            </a:solidFill>
            <a:prstDash val="dash"/>
          </a:ln>
          <a:effectLst/>
        </p:spPr>
      </p:cxnSp>
      <p:sp>
        <p:nvSpPr>
          <p:cNvPr id="35" name="C4-E22 text 33" descr="sci-ppt:o033"/>
          <p:cNvSpPr txBox="1"/>
          <p:nvPr/>
        </p:nvSpPr>
        <p:spPr>
          <a:xfrm>
            <a:off x="3255264" y="1726379"/>
            <a:ext cx="3291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fixed pressure: G ∝ b⁴ (grows: unstable)</a:t>
            </a:r>
          </a:p>
        </p:txBody>
      </p:sp>
      <p:sp>
        <p:nvSpPr>
          <p:cNvPr id="36" name="C4-E22 text 34" descr="sci-ppt:o034"/>
          <p:cNvSpPr txBox="1"/>
          <p:nvPr/>
        </p:nvSpPr>
        <p:spPr>
          <a:xfrm>
            <a:off x="1063142" y="4512387"/>
            <a:ext cx="31089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fixed volume: G ∝ b⁻⁸ (falls: stable)</a:t>
            </a:r>
          </a:p>
        </p:txBody>
      </p:sp>
      <p:sp>
        <p:nvSpPr>
          <p:cNvPr id="37" name="C4-E22 round_rect 35" descr="sci-ppt:o035"/>
          <p:cNvSpPr/>
          <p:nvPr/>
        </p:nvSpPr>
        <p:spPr>
          <a:xfrm>
            <a:off x="6858000" y="1371600"/>
            <a:ext cx="4983480" cy="35661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4-E22 text 36" descr="sci-ppt:o036"/>
          <p:cNvSpPr txBox="1"/>
          <p:nvPr/>
        </p:nvSpPr>
        <p:spPr>
          <a:xfrm>
            <a:off x="6967728" y="1426464"/>
            <a:ext cx="47640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Same plate, two load controls</a:t>
            </a:r>
          </a:p>
        </p:txBody>
      </p:sp>
      <p:sp>
        <p:nvSpPr>
          <p:cNvPr id="39" name="C4-E22 text 37" descr="sci-ppt:o037"/>
          <p:cNvSpPr txBox="1"/>
          <p:nvPr/>
        </p:nvSpPr>
        <p:spPr>
          <a:xfrm>
            <a:off x="6995160" y="1783080"/>
            <a:ext cx="47548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U_b|V̄ = V̄² / (2C_b) = 96 D_f V̄² / (π b⁶)</a:t>
            </a:r>
          </a:p>
        </p:txBody>
      </p:sp>
      <p:sp>
        <p:nvSpPr>
          <p:cNvPr id="40" name="C4-E22 text 38" descr="sci-ppt:o038"/>
          <p:cNvSpPr txBox="1"/>
          <p:nvPr/>
        </p:nvSpPr>
        <p:spPr>
          <a:xfrm>
            <a:off x="6995160" y="2286000"/>
            <a:ext cx="47548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p(b) = 192 D_f V̄ / (π b⁶)</a:t>
            </a:r>
          </a:p>
        </p:txBody>
      </p:sp>
      <p:sp>
        <p:nvSpPr>
          <p:cNvPr id="41" name="C4-E22 text 39" descr="sci-ppt:o039"/>
          <p:cNvSpPr txBox="1"/>
          <p:nvPr/>
        </p:nvSpPr>
        <p:spPr>
          <a:xfrm>
            <a:off x="6995160" y="2788920"/>
            <a:ext cx="47548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G_V̄ = 288 D_f V̄² / (π² b⁸) = p(b)² b⁴ / (128 D_f)</a:t>
            </a:r>
          </a:p>
        </p:txBody>
      </p:sp>
      <p:sp>
        <p:nvSpPr>
          <p:cNvPr id="42" name="C4-E22 text 40" descr="sci-ppt:o040"/>
          <p:cNvSpPr txBox="1"/>
          <p:nvPr/>
        </p:nvSpPr>
        <p:spPr>
          <a:xfrm>
            <a:off x="6995160" y="3474720"/>
            <a:ext cx="47548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Same formula in p, but p itself falls as b⁻⁶ at fixed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volume.</a:t>
            </a:r>
          </a:p>
        </p:txBody>
      </p:sp>
      <p:sp>
        <p:nvSpPr>
          <p:cNvPr id="43" name="C4-E22 text 41" descr="sci-ppt:o041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 maintained pressure source lets the crack run away; a fixed liquid volume arrests it. Always state the control.</a:t>
            </a:r>
          </a:p>
        </p:txBody>
      </p:sp>
      <p:sp>
        <p:nvSpPr>
          <p:cNvPr id="44" name="C4-E22 text 42" descr="sci-ppt:o04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Loading-control comparison of Eq. C4-E22.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