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2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C4-E22 · Derived loading-control comparison</a:t>
            </a:r>
          </a:p>
        </p:txBody>
      </p:sp>
      <p:sp>
        <p:nvSpPr>
          <p:cNvPr id="3" name="C4-E22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22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pressure: G ∝ b⁴</a:t>
            </a:r>
          </a:p>
        </p:txBody>
      </p:sp>
      <p:cxnSp>
        <p:nvCxnSpPr>
          <p:cNvPr id="5" name="C4-E22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22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22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volume: G ∝ b⁻⁸</a:t>
            </a:r>
          </a:p>
        </p:txBody>
      </p:sp>
      <p:cxnSp>
        <p:nvCxnSpPr>
          <p:cNvPr id="8" name="C4-E22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22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22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Different crack evolution</a:t>
            </a:r>
          </a:p>
        </p:txBody>
      </p:sp>
      <p:sp>
        <p:nvSpPr>
          <p:cNvPr id="11" name="C4-E22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22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22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V̄ — fixed added volume</a:t>
            </a:r>
          </a:p>
        </p:txBody>
      </p:sp>
      <p:sp>
        <p:nvSpPr>
          <p:cNvPr id="14" name="C4-E22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 ↑ advancing crack</a:t>
            </a:r>
          </a:p>
        </p:txBody>
      </p:sp>
      <p:sp>
        <p:nvSpPr>
          <p:cNvPr id="15" name="C4-E22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p(b) ↓ as compliance grows</a:t>
            </a:r>
          </a:p>
        </p:txBody>
      </p:sp>
      <p:sp>
        <p:nvSpPr>
          <p:cNvPr id="16" name="C4-E22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C_b, D_f — elastic compliance</a:t>
            </a:r>
          </a:p>
        </p:txBody>
      </p:sp>
      <p:sp>
        <p:nvSpPr>
          <p:cNvPr id="17" name="C4-E22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U_b — plate storage</a:t>
            </a:r>
          </a:p>
        </p:txBody>
      </p:sp>
      <p:sp>
        <p:nvSpPr>
          <p:cNvPr id="18" name="C4-E22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G_V̄ ∝ b⁻⁸</a:t>
            </a:r>
          </a:p>
        </p:txBody>
      </p:sp>
      <p:sp>
        <p:nvSpPr>
          <p:cNvPr id="19" name="C4-E22 text 17" descr="sci-ppt:o017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G_p₀ ∝ b⁴ under fixed p₀</a:t>
            </a:r>
          </a:p>
        </p:txBody>
      </p:sp>
      <p:sp>
        <p:nvSpPr>
          <p:cNvPr id="20" name="C4-E22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Same instantaneous state does not imply the same crack trajectory.</a:t>
            </a:r>
          </a:p>
        </p:txBody>
      </p:sp>
      <p:sp>
        <p:nvSpPr>
          <p:cNvPr id="21" name="C4-E22 text 19" descr="sci-ppt:o019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