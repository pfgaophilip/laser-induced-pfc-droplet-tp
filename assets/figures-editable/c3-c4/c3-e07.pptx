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C3-E07 · Symmetric constant-pressure collapse control</a:t>
            </a:r>
          </a:p>
        </p:txBody>
      </p:sp>
      <p:cxnSp>
        <p:nvCxnSpPr>
          <p:cNvPr id="3" name="C3-E07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0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07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07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07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3-E07 line 6" descr="sci-ppt:o006"/>
          <p:cNvCxnSpPr/>
          <p:nvPr/>
        </p:nvCxnSpPr>
        <p:spPr>
          <a:xfrm>
            <a:off x="2255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07 line 7" descr="sci-ppt:o007"/>
          <p:cNvCxnSpPr/>
          <p:nvPr/>
        </p:nvCxnSpPr>
        <p:spPr>
          <a:xfrm>
            <a:off x="2255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07 text 8" descr="sci-ppt:o008"/>
          <p:cNvSpPr txBox="1"/>
          <p:nvPr/>
        </p:nvSpPr>
        <p:spPr>
          <a:xfrm>
            <a:off x="1798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3-E07 line 9" descr="sci-ppt:o009"/>
          <p:cNvCxnSpPr/>
          <p:nvPr/>
        </p:nvCxnSpPr>
        <p:spPr>
          <a:xfrm>
            <a:off x="35966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07 line 10" descr="sci-ppt:o010"/>
          <p:cNvCxnSpPr/>
          <p:nvPr/>
        </p:nvCxnSpPr>
        <p:spPr>
          <a:xfrm>
            <a:off x="35966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07 text 11" descr="sci-ppt:o011"/>
          <p:cNvSpPr txBox="1"/>
          <p:nvPr/>
        </p:nvSpPr>
        <p:spPr>
          <a:xfrm>
            <a:off x="31394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3-E07 line 12" descr="sci-ppt:o012"/>
          <p:cNvCxnSpPr/>
          <p:nvPr/>
        </p:nvCxnSpPr>
        <p:spPr>
          <a:xfrm>
            <a:off x="493775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07 line 13" descr="sci-ppt:o013"/>
          <p:cNvCxnSpPr/>
          <p:nvPr/>
        </p:nvCxnSpPr>
        <p:spPr>
          <a:xfrm>
            <a:off x="493775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07 text 14" descr="sci-ppt:o014"/>
          <p:cNvSpPr txBox="1"/>
          <p:nvPr/>
        </p:nvSpPr>
        <p:spPr>
          <a:xfrm>
            <a:off x="448055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3-E07 line 15" descr="sci-ppt:o015"/>
          <p:cNvCxnSpPr/>
          <p:nvPr/>
        </p:nvCxnSpPr>
        <p:spPr>
          <a:xfrm>
            <a:off x="62788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07 line 16" descr="sci-ppt:o016"/>
          <p:cNvCxnSpPr/>
          <p:nvPr/>
        </p:nvCxnSpPr>
        <p:spPr>
          <a:xfrm>
            <a:off x="62788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07 text 17" descr="sci-ppt:o017"/>
          <p:cNvSpPr txBox="1"/>
          <p:nvPr/>
        </p:nvSpPr>
        <p:spPr>
          <a:xfrm>
            <a:off x="58216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0" name="C3-E07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07 line 19" descr="sci-ppt:o019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07 line 20" descr="sci-ppt:o020"/>
          <p:cNvCxnSpPr/>
          <p:nvPr/>
        </p:nvCxnSpPr>
        <p:spPr>
          <a:xfrm>
            <a:off x="914400" y="4158342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07 text 21" descr="sci-ppt:o021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4" name="C3-E07 line 22" descr="sci-ppt:o022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07 line 23" descr="sci-ppt:o023"/>
          <p:cNvCxnSpPr/>
          <p:nvPr/>
        </p:nvCxnSpPr>
        <p:spPr>
          <a:xfrm>
            <a:off x="914400" y="3287485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07 text 24" descr="sci-ppt:o024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7" name="C3-E07 line 25" descr="sci-ppt:o025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07 line 26" descr="sci-ppt:o026"/>
          <p:cNvCxnSpPr/>
          <p:nvPr/>
        </p:nvCxnSpPr>
        <p:spPr>
          <a:xfrm>
            <a:off x="914400" y="2416628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07 text 27" descr="sci-ppt:o027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0" name="C3-E07 line 28" descr="sci-ppt:o028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3-E07 line 29" descr="sci-ppt:o029"/>
          <p:cNvCxnSpPr/>
          <p:nvPr/>
        </p:nvCxnSpPr>
        <p:spPr>
          <a:xfrm>
            <a:off x="914400" y="1545771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3-E07 text 30" descr="sci-ppt:o030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C3-E07 text 31" descr="sci-ppt:o031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4" name="C3-E07 text 32" descr="sci-ppt:o032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5" name="C3-E07 polygon 33" descr="sci-ppt:o033"/>
          <p:cNvSpPr/>
          <p:nvPr/>
        </p:nvSpPr>
        <p:spPr>
          <a:xfrm>
            <a:off x="914400" y="1545771"/>
            <a:ext cx="3678909" cy="3304248"/>
          </a:xfrm>
          <a:custGeom>
            <a:avLst/>
            <a:gdLst/>
            <a:ahLst/>
            <a:cxnLst/>
            <a:rect l="l" t="t" r="r" b="b"/>
            <a:pathLst>
              <a:path w="3678909" h="3304248">
                <a:moveTo>
                  <a:pt x="0" y="0"/>
                </a:moveTo>
                <a:lnTo>
                  <a:pt x="21472" y="50"/>
                </a:lnTo>
                <a:lnTo>
                  <a:pt x="42944" y="198"/>
                </a:lnTo>
                <a:lnTo>
                  <a:pt x="64416" y="446"/>
                </a:lnTo>
                <a:lnTo>
                  <a:pt x="85888" y="794"/>
                </a:lnTo>
                <a:lnTo>
                  <a:pt x="107361" y="1240"/>
                </a:lnTo>
                <a:lnTo>
                  <a:pt x="128833" y="1786"/>
                </a:lnTo>
                <a:lnTo>
                  <a:pt x="150305" y="2432"/>
                </a:lnTo>
                <a:lnTo>
                  <a:pt x="171777" y="3177"/>
                </a:lnTo>
                <a:lnTo>
                  <a:pt x="193250" y="4021"/>
                </a:lnTo>
                <a:lnTo>
                  <a:pt x="214722" y="4965"/>
                </a:lnTo>
                <a:lnTo>
                  <a:pt x="236194" y="6009"/>
                </a:lnTo>
                <a:lnTo>
                  <a:pt x="257666" y="7153"/>
                </a:lnTo>
                <a:lnTo>
                  <a:pt x="279139" y="8397"/>
                </a:lnTo>
                <a:lnTo>
                  <a:pt x="300611" y="9741"/>
                </a:lnTo>
                <a:lnTo>
                  <a:pt x="322083" y="11186"/>
                </a:lnTo>
                <a:lnTo>
                  <a:pt x="343555" y="12731"/>
                </a:lnTo>
                <a:lnTo>
                  <a:pt x="365027" y="14376"/>
                </a:lnTo>
                <a:lnTo>
                  <a:pt x="386500" y="16123"/>
                </a:lnTo>
                <a:lnTo>
                  <a:pt x="407972" y="17970"/>
                </a:lnTo>
                <a:lnTo>
                  <a:pt x="429444" y="19919"/>
                </a:lnTo>
                <a:lnTo>
                  <a:pt x="450916" y="21969"/>
                </a:lnTo>
                <a:lnTo>
                  <a:pt x="472389" y="24122"/>
                </a:lnTo>
                <a:lnTo>
                  <a:pt x="493861" y="26376"/>
                </a:lnTo>
                <a:lnTo>
                  <a:pt x="515333" y="28732"/>
                </a:lnTo>
                <a:lnTo>
                  <a:pt x="536805" y="31191"/>
                </a:lnTo>
                <a:lnTo>
                  <a:pt x="558278" y="33753"/>
                </a:lnTo>
                <a:lnTo>
                  <a:pt x="579750" y="36418"/>
                </a:lnTo>
                <a:lnTo>
                  <a:pt x="601222" y="39186"/>
                </a:lnTo>
                <a:lnTo>
                  <a:pt x="622694" y="42059"/>
                </a:lnTo>
                <a:lnTo>
                  <a:pt x="644167" y="45035"/>
                </a:lnTo>
                <a:lnTo>
                  <a:pt x="665639" y="48116"/>
                </a:lnTo>
                <a:lnTo>
                  <a:pt x="687111" y="51302"/>
                </a:lnTo>
                <a:lnTo>
                  <a:pt x="708583" y="54593"/>
                </a:lnTo>
                <a:lnTo>
                  <a:pt x="730055" y="57990"/>
                </a:lnTo>
                <a:lnTo>
                  <a:pt x="751528" y="61493"/>
                </a:lnTo>
                <a:lnTo>
                  <a:pt x="773000" y="65102"/>
                </a:lnTo>
                <a:lnTo>
                  <a:pt x="794472" y="68819"/>
                </a:lnTo>
                <a:lnTo>
                  <a:pt x="815944" y="72643"/>
                </a:lnTo>
                <a:lnTo>
                  <a:pt x="837417" y="76575"/>
                </a:lnTo>
                <a:lnTo>
                  <a:pt x="858889" y="80615"/>
                </a:lnTo>
                <a:lnTo>
                  <a:pt x="880361" y="84764"/>
                </a:lnTo>
                <a:lnTo>
                  <a:pt x="901833" y="89023"/>
                </a:lnTo>
                <a:lnTo>
                  <a:pt x="923306" y="93392"/>
                </a:lnTo>
                <a:lnTo>
                  <a:pt x="944778" y="97871"/>
                </a:lnTo>
                <a:lnTo>
                  <a:pt x="966250" y="102462"/>
                </a:lnTo>
                <a:lnTo>
                  <a:pt x="987722" y="107164"/>
                </a:lnTo>
                <a:lnTo>
                  <a:pt x="1009195" y="111979"/>
                </a:lnTo>
                <a:lnTo>
                  <a:pt x="1030667" y="116907"/>
                </a:lnTo>
                <a:lnTo>
                  <a:pt x="1052139" y="121949"/>
                </a:lnTo>
                <a:lnTo>
                  <a:pt x="1073611" y="127105"/>
                </a:lnTo>
                <a:lnTo>
                  <a:pt x="1095083" y="132376"/>
                </a:lnTo>
                <a:lnTo>
                  <a:pt x="1116556" y="137763"/>
                </a:lnTo>
                <a:lnTo>
                  <a:pt x="1138028" y="143267"/>
                </a:lnTo>
                <a:lnTo>
                  <a:pt x="1159500" y="148888"/>
                </a:lnTo>
                <a:lnTo>
                  <a:pt x="1180972" y="154627"/>
                </a:lnTo>
                <a:lnTo>
                  <a:pt x="1202445" y="160485"/>
                </a:lnTo>
                <a:lnTo>
                  <a:pt x="1223917" y="166463"/>
                </a:lnTo>
                <a:lnTo>
                  <a:pt x="1245389" y="172562"/>
                </a:lnTo>
                <a:lnTo>
                  <a:pt x="1266861" y="178782"/>
                </a:lnTo>
                <a:lnTo>
                  <a:pt x="1288334" y="185125"/>
                </a:lnTo>
                <a:lnTo>
                  <a:pt x="1309806" y="191591"/>
                </a:lnTo>
                <a:lnTo>
                  <a:pt x="1331278" y="198181"/>
                </a:lnTo>
                <a:lnTo>
                  <a:pt x="1352750" y="204897"/>
                </a:lnTo>
                <a:lnTo>
                  <a:pt x="1374223" y="211740"/>
                </a:lnTo>
                <a:lnTo>
                  <a:pt x="1395695" y="218710"/>
                </a:lnTo>
                <a:lnTo>
                  <a:pt x="1417167" y="225808"/>
                </a:lnTo>
                <a:lnTo>
                  <a:pt x="1438639" y="233036"/>
                </a:lnTo>
                <a:lnTo>
                  <a:pt x="1460111" y="240396"/>
                </a:lnTo>
                <a:lnTo>
                  <a:pt x="1481584" y="247887"/>
                </a:lnTo>
                <a:lnTo>
                  <a:pt x="1503056" y="255511"/>
                </a:lnTo>
                <a:lnTo>
                  <a:pt x="1524528" y="263270"/>
                </a:lnTo>
                <a:lnTo>
                  <a:pt x="1546000" y="271165"/>
                </a:lnTo>
                <a:lnTo>
                  <a:pt x="1567473" y="279198"/>
                </a:lnTo>
                <a:lnTo>
                  <a:pt x="1588945" y="287368"/>
                </a:lnTo>
                <a:lnTo>
                  <a:pt x="1610417" y="295679"/>
                </a:lnTo>
                <a:lnTo>
                  <a:pt x="1631889" y="304131"/>
                </a:lnTo>
                <a:lnTo>
                  <a:pt x="1653362" y="312727"/>
                </a:lnTo>
                <a:lnTo>
                  <a:pt x="1674834" y="321466"/>
                </a:lnTo>
                <a:lnTo>
                  <a:pt x="1696306" y="330352"/>
                </a:lnTo>
                <a:lnTo>
                  <a:pt x="1717778" y="339386"/>
                </a:lnTo>
                <a:lnTo>
                  <a:pt x="1739251" y="348569"/>
                </a:lnTo>
                <a:lnTo>
                  <a:pt x="1760723" y="357904"/>
                </a:lnTo>
                <a:lnTo>
                  <a:pt x="1782195" y="367391"/>
                </a:lnTo>
                <a:lnTo>
                  <a:pt x="1803667" y="377034"/>
                </a:lnTo>
                <a:lnTo>
                  <a:pt x="1825139" y="386833"/>
                </a:lnTo>
                <a:lnTo>
                  <a:pt x="1846612" y="396792"/>
                </a:lnTo>
                <a:lnTo>
                  <a:pt x="1868084" y="406911"/>
                </a:lnTo>
                <a:lnTo>
                  <a:pt x="1889556" y="417193"/>
                </a:lnTo>
                <a:lnTo>
                  <a:pt x="1911028" y="427641"/>
                </a:lnTo>
                <a:lnTo>
                  <a:pt x="1932501" y="438256"/>
                </a:lnTo>
                <a:lnTo>
                  <a:pt x="1953973" y="449041"/>
                </a:lnTo>
                <a:lnTo>
                  <a:pt x="1975445" y="459999"/>
                </a:lnTo>
                <a:lnTo>
                  <a:pt x="1996917" y="471131"/>
                </a:lnTo>
                <a:lnTo>
                  <a:pt x="2018390" y="482440"/>
                </a:lnTo>
                <a:lnTo>
                  <a:pt x="2039862" y="493930"/>
                </a:lnTo>
                <a:lnTo>
                  <a:pt x="2061334" y="505603"/>
                </a:lnTo>
                <a:lnTo>
                  <a:pt x="2082806" y="517461"/>
                </a:lnTo>
                <a:lnTo>
                  <a:pt x="2104279" y="529509"/>
                </a:lnTo>
                <a:lnTo>
                  <a:pt x="2125751" y="541748"/>
                </a:lnTo>
                <a:lnTo>
                  <a:pt x="2147223" y="554182"/>
                </a:lnTo>
                <a:lnTo>
                  <a:pt x="2168695" y="566815"/>
                </a:lnTo>
                <a:lnTo>
                  <a:pt x="2190167" y="579649"/>
                </a:lnTo>
                <a:lnTo>
                  <a:pt x="2211640" y="592689"/>
                </a:lnTo>
                <a:lnTo>
                  <a:pt x="2233112" y="605939"/>
                </a:lnTo>
                <a:lnTo>
                  <a:pt x="2254584" y="619401"/>
                </a:lnTo>
                <a:lnTo>
                  <a:pt x="2276056" y="633081"/>
                </a:lnTo>
                <a:lnTo>
                  <a:pt x="2297529" y="646981"/>
                </a:lnTo>
                <a:lnTo>
                  <a:pt x="2319001" y="661108"/>
                </a:lnTo>
                <a:lnTo>
                  <a:pt x="2340473" y="675465"/>
                </a:lnTo>
                <a:lnTo>
                  <a:pt x="2361945" y="690057"/>
                </a:lnTo>
                <a:lnTo>
                  <a:pt x="2383418" y="704888"/>
                </a:lnTo>
                <a:lnTo>
                  <a:pt x="2404890" y="719965"/>
                </a:lnTo>
                <a:lnTo>
                  <a:pt x="2426362" y="735293"/>
                </a:lnTo>
                <a:lnTo>
                  <a:pt x="2447834" y="750876"/>
                </a:lnTo>
                <a:lnTo>
                  <a:pt x="2469307" y="766722"/>
                </a:lnTo>
                <a:lnTo>
                  <a:pt x="2490779" y="782836"/>
                </a:lnTo>
                <a:lnTo>
                  <a:pt x="2512251" y="799224"/>
                </a:lnTo>
                <a:lnTo>
                  <a:pt x="2533723" y="815894"/>
                </a:lnTo>
                <a:lnTo>
                  <a:pt x="2555195" y="832853"/>
                </a:lnTo>
                <a:lnTo>
                  <a:pt x="2576668" y="850107"/>
                </a:lnTo>
                <a:lnTo>
                  <a:pt x="2598140" y="867665"/>
                </a:lnTo>
                <a:lnTo>
                  <a:pt x="2619612" y="885536"/>
                </a:lnTo>
                <a:lnTo>
                  <a:pt x="2641084" y="903727"/>
                </a:lnTo>
                <a:lnTo>
                  <a:pt x="2662557" y="922248"/>
                </a:lnTo>
                <a:lnTo>
                  <a:pt x="2684029" y="941109"/>
                </a:lnTo>
                <a:lnTo>
                  <a:pt x="2705501" y="960319"/>
                </a:lnTo>
                <a:lnTo>
                  <a:pt x="2726973" y="979890"/>
                </a:lnTo>
                <a:lnTo>
                  <a:pt x="2748446" y="999833"/>
                </a:lnTo>
                <a:lnTo>
                  <a:pt x="2769918" y="1020160"/>
                </a:lnTo>
                <a:lnTo>
                  <a:pt x="2791390" y="1040883"/>
                </a:lnTo>
                <a:lnTo>
                  <a:pt x="2812862" y="1062018"/>
                </a:lnTo>
                <a:lnTo>
                  <a:pt x="2834334" y="1083577"/>
                </a:lnTo>
                <a:lnTo>
                  <a:pt x="2855807" y="1105577"/>
                </a:lnTo>
                <a:lnTo>
                  <a:pt x="2877279" y="1128033"/>
                </a:lnTo>
                <a:lnTo>
                  <a:pt x="2898751" y="1150965"/>
                </a:lnTo>
                <a:lnTo>
                  <a:pt x="2920223" y="1174390"/>
                </a:lnTo>
                <a:lnTo>
                  <a:pt x="2941696" y="1198329"/>
                </a:lnTo>
                <a:lnTo>
                  <a:pt x="2963168" y="1222805"/>
                </a:lnTo>
                <a:lnTo>
                  <a:pt x="2984640" y="1247839"/>
                </a:lnTo>
                <a:lnTo>
                  <a:pt x="3006112" y="1273459"/>
                </a:lnTo>
                <a:lnTo>
                  <a:pt x="3027585" y="1299691"/>
                </a:lnTo>
                <a:lnTo>
                  <a:pt x="3049057" y="1326566"/>
                </a:lnTo>
                <a:lnTo>
                  <a:pt x="3070529" y="1354117"/>
                </a:lnTo>
                <a:lnTo>
                  <a:pt x="3092001" y="1382378"/>
                </a:lnTo>
                <a:lnTo>
                  <a:pt x="3113474" y="1411389"/>
                </a:lnTo>
                <a:lnTo>
                  <a:pt x="3134946" y="1441193"/>
                </a:lnTo>
                <a:lnTo>
                  <a:pt x="3156418" y="1471838"/>
                </a:lnTo>
                <a:lnTo>
                  <a:pt x="3177890" y="1503375"/>
                </a:lnTo>
                <a:lnTo>
                  <a:pt x="3199362" y="1535863"/>
                </a:lnTo>
                <a:lnTo>
                  <a:pt x="3220835" y="1569367"/>
                </a:lnTo>
                <a:lnTo>
                  <a:pt x="3242307" y="1603960"/>
                </a:lnTo>
                <a:lnTo>
                  <a:pt x="3263779" y="1639725"/>
                </a:lnTo>
                <a:lnTo>
                  <a:pt x="3285251" y="1676755"/>
                </a:lnTo>
                <a:lnTo>
                  <a:pt x="3306724" y="1715158"/>
                </a:lnTo>
                <a:lnTo>
                  <a:pt x="3328196" y="1755057"/>
                </a:lnTo>
                <a:lnTo>
                  <a:pt x="3349668" y="1796595"/>
                </a:lnTo>
                <a:lnTo>
                  <a:pt x="3371140" y="1839939"/>
                </a:lnTo>
                <a:lnTo>
                  <a:pt x="3392613" y="1885290"/>
                </a:lnTo>
                <a:lnTo>
                  <a:pt x="3414085" y="1932884"/>
                </a:lnTo>
                <a:lnTo>
                  <a:pt x="3435557" y="1983011"/>
                </a:lnTo>
                <a:lnTo>
                  <a:pt x="3457029" y="2036028"/>
                </a:lnTo>
                <a:lnTo>
                  <a:pt x="3478502" y="2092384"/>
                </a:lnTo>
                <a:lnTo>
                  <a:pt x="3499974" y="2152656"/>
                </a:lnTo>
                <a:lnTo>
                  <a:pt x="3521446" y="2217610"/>
                </a:lnTo>
                <a:lnTo>
                  <a:pt x="3542918" y="2288290"/>
                </a:lnTo>
                <a:lnTo>
                  <a:pt x="3564390" y="2366191"/>
                </a:lnTo>
                <a:lnTo>
                  <a:pt x="3585863" y="2453581"/>
                </a:lnTo>
                <a:lnTo>
                  <a:pt x="3607335" y="2554197"/>
                </a:lnTo>
                <a:lnTo>
                  <a:pt x="3628807" y="2675025"/>
                </a:lnTo>
                <a:lnTo>
                  <a:pt x="3650279" y="2832355"/>
                </a:lnTo>
                <a:lnTo>
                  <a:pt x="3671752" y="3092097"/>
                </a:lnTo>
                <a:lnTo>
                  <a:pt x="3678909" y="3304248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3-E07 line 34" descr="sci-ppt:o034"/>
          <p:cNvCxnSpPr/>
          <p:nvPr/>
        </p:nvCxnSpPr>
        <p:spPr>
          <a:xfrm>
            <a:off x="4593309" y="1371600"/>
            <a:ext cx="0" cy="3657600"/>
          </a:xfrm>
          <a:prstGeom prst="line">
            <a:avLst/>
          </a:prstGeom>
          <a:ln w="12700">
            <a:solidFill>
              <a:srgbClr val="8EDBD4"/>
            </a:solidFill>
            <a:prstDash val="dash"/>
          </a:ln>
          <a:effectLst/>
        </p:spPr>
      </p:cxnSp>
      <p:sp>
        <p:nvSpPr>
          <p:cNvPr id="37" name="C3-E07 polygon 35" descr="sci-ppt:o035"/>
          <p:cNvSpPr/>
          <p:nvPr/>
        </p:nvSpPr>
        <p:spPr>
          <a:xfrm>
            <a:off x="914400" y="1545771"/>
            <a:ext cx="4945771" cy="3309349"/>
          </a:xfrm>
          <a:custGeom>
            <a:avLst/>
            <a:gdLst/>
            <a:ahLst/>
            <a:cxnLst/>
            <a:rect l="l" t="t" r="r" b="b"/>
            <a:pathLst>
              <a:path w="4945771" h="3309349">
                <a:moveTo>
                  <a:pt x="0" y="0"/>
                </a:moveTo>
                <a:lnTo>
                  <a:pt x="28629" y="44"/>
                </a:lnTo>
                <a:lnTo>
                  <a:pt x="57259" y="176"/>
                </a:lnTo>
                <a:lnTo>
                  <a:pt x="85888" y="397"/>
                </a:lnTo>
                <a:lnTo>
                  <a:pt x="114518" y="706"/>
                </a:lnTo>
                <a:lnTo>
                  <a:pt x="143148" y="1103"/>
                </a:lnTo>
                <a:lnTo>
                  <a:pt x="171777" y="1588"/>
                </a:lnTo>
                <a:lnTo>
                  <a:pt x="200407" y="2162"/>
                </a:lnTo>
                <a:lnTo>
                  <a:pt x="229037" y="2824"/>
                </a:lnTo>
                <a:lnTo>
                  <a:pt x="257666" y="3575"/>
                </a:lnTo>
                <a:lnTo>
                  <a:pt x="286296" y="4414"/>
                </a:lnTo>
                <a:lnTo>
                  <a:pt x="314926" y="5342"/>
                </a:lnTo>
                <a:lnTo>
                  <a:pt x="343555" y="6359"/>
                </a:lnTo>
                <a:lnTo>
                  <a:pt x="372185" y="7466"/>
                </a:lnTo>
                <a:lnTo>
                  <a:pt x="400815" y="8661"/>
                </a:lnTo>
                <a:lnTo>
                  <a:pt x="429444" y="9945"/>
                </a:lnTo>
                <a:lnTo>
                  <a:pt x="458074" y="11319"/>
                </a:lnTo>
                <a:lnTo>
                  <a:pt x="486703" y="12783"/>
                </a:lnTo>
                <a:lnTo>
                  <a:pt x="515333" y="14336"/>
                </a:lnTo>
                <a:lnTo>
                  <a:pt x="543963" y="15980"/>
                </a:lnTo>
                <a:lnTo>
                  <a:pt x="572592" y="17713"/>
                </a:lnTo>
                <a:lnTo>
                  <a:pt x="601222" y="19538"/>
                </a:lnTo>
                <a:lnTo>
                  <a:pt x="629852" y="21452"/>
                </a:lnTo>
                <a:lnTo>
                  <a:pt x="658481" y="23458"/>
                </a:lnTo>
                <a:lnTo>
                  <a:pt x="687111" y="25555"/>
                </a:lnTo>
                <a:lnTo>
                  <a:pt x="715741" y="27744"/>
                </a:lnTo>
                <a:lnTo>
                  <a:pt x="744370" y="30024"/>
                </a:lnTo>
                <a:lnTo>
                  <a:pt x="773000" y="32397"/>
                </a:lnTo>
                <a:lnTo>
                  <a:pt x="801630" y="34861"/>
                </a:lnTo>
                <a:lnTo>
                  <a:pt x="830259" y="37419"/>
                </a:lnTo>
                <a:lnTo>
                  <a:pt x="858889" y="40070"/>
                </a:lnTo>
                <a:lnTo>
                  <a:pt x="887519" y="42814"/>
                </a:lnTo>
                <a:lnTo>
                  <a:pt x="916148" y="45651"/>
                </a:lnTo>
                <a:lnTo>
                  <a:pt x="944778" y="48584"/>
                </a:lnTo>
                <a:lnTo>
                  <a:pt x="973407" y="51610"/>
                </a:lnTo>
                <a:lnTo>
                  <a:pt x="1002037" y="54732"/>
                </a:lnTo>
                <a:lnTo>
                  <a:pt x="1030667" y="57949"/>
                </a:lnTo>
                <a:lnTo>
                  <a:pt x="1059296" y="61262"/>
                </a:lnTo>
                <a:lnTo>
                  <a:pt x="1087926" y="64671"/>
                </a:lnTo>
                <a:lnTo>
                  <a:pt x="1116556" y="68177"/>
                </a:lnTo>
                <a:lnTo>
                  <a:pt x="1145185" y="71781"/>
                </a:lnTo>
                <a:lnTo>
                  <a:pt x="1173815" y="75482"/>
                </a:lnTo>
                <a:lnTo>
                  <a:pt x="1202445" y="79281"/>
                </a:lnTo>
                <a:lnTo>
                  <a:pt x="1231074" y="83180"/>
                </a:lnTo>
                <a:lnTo>
                  <a:pt x="1259704" y="87178"/>
                </a:lnTo>
                <a:lnTo>
                  <a:pt x="1288334" y="91276"/>
                </a:lnTo>
                <a:lnTo>
                  <a:pt x="1316963" y="95474"/>
                </a:lnTo>
                <a:lnTo>
                  <a:pt x="1345593" y="99774"/>
                </a:lnTo>
                <a:lnTo>
                  <a:pt x="1374223" y="104176"/>
                </a:lnTo>
                <a:lnTo>
                  <a:pt x="1402852" y="108680"/>
                </a:lnTo>
                <a:lnTo>
                  <a:pt x="1431482" y="113287"/>
                </a:lnTo>
                <a:lnTo>
                  <a:pt x="1460111" y="117999"/>
                </a:lnTo>
                <a:lnTo>
                  <a:pt x="1488741" y="122815"/>
                </a:lnTo>
                <a:lnTo>
                  <a:pt x="1517371" y="127736"/>
                </a:lnTo>
                <a:lnTo>
                  <a:pt x="1546000" y="132764"/>
                </a:lnTo>
                <a:lnTo>
                  <a:pt x="1574630" y="137898"/>
                </a:lnTo>
                <a:lnTo>
                  <a:pt x="1603260" y="143140"/>
                </a:lnTo>
                <a:lnTo>
                  <a:pt x="1631889" y="148491"/>
                </a:lnTo>
                <a:lnTo>
                  <a:pt x="1660519" y="153951"/>
                </a:lnTo>
                <a:lnTo>
                  <a:pt x="1689149" y="159521"/>
                </a:lnTo>
                <a:lnTo>
                  <a:pt x="1717778" y="165203"/>
                </a:lnTo>
                <a:lnTo>
                  <a:pt x="1746408" y="170997"/>
                </a:lnTo>
                <a:lnTo>
                  <a:pt x="1775038" y="176903"/>
                </a:lnTo>
                <a:lnTo>
                  <a:pt x="1803667" y="182924"/>
                </a:lnTo>
                <a:lnTo>
                  <a:pt x="1832297" y="189060"/>
                </a:lnTo>
                <a:lnTo>
                  <a:pt x="1860927" y="195312"/>
                </a:lnTo>
                <a:lnTo>
                  <a:pt x="1889556" y="201682"/>
                </a:lnTo>
                <a:lnTo>
                  <a:pt x="1918186" y="208170"/>
                </a:lnTo>
                <a:lnTo>
                  <a:pt x="1946815" y="214777"/>
                </a:lnTo>
                <a:lnTo>
                  <a:pt x="1975445" y="221505"/>
                </a:lnTo>
                <a:lnTo>
                  <a:pt x="2004075" y="228355"/>
                </a:lnTo>
                <a:lnTo>
                  <a:pt x="2032704" y="235327"/>
                </a:lnTo>
                <a:lnTo>
                  <a:pt x="2061334" y="242425"/>
                </a:lnTo>
                <a:lnTo>
                  <a:pt x="2089964" y="249648"/>
                </a:lnTo>
                <a:lnTo>
                  <a:pt x="2118593" y="256998"/>
                </a:lnTo>
                <a:lnTo>
                  <a:pt x="2147223" y="264477"/>
                </a:lnTo>
                <a:lnTo>
                  <a:pt x="2175853" y="272086"/>
                </a:lnTo>
                <a:lnTo>
                  <a:pt x="2204482" y="279826"/>
                </a:lnTo>
                <a:lnTo>
                  <a:pt x="2233112" y="287699"/>
                </a:lnTo>
                <a:lnTo>
                  <a:pt x="2261742" y="295707"/>
                </a:lnTo>
                <a:lnTo>
                  <a:pt x="2290371" y="303851"/>
                </a:lnTo>
                <a:lnTo>
                  <a:pt x="2319001" y="312133"/>
                </a:lnTo>
                <a:lnTo>
                  <a:pt x="2347631" y="320554"/>
                </a:lnTo>
                <a:lnTo>
                  <a:pt x="2376260" y="329117"/>
                </a:lnTo>
                <a:lnTo>
                  <a:pt x="2404890" y="337824"/>
                </a:lnTo>
                <a:lnTo>
                  <a:pt x="2433519" y="346675"/>
                </a:lnTo>
                <a:lnTo>
                  <a:pt x="2462149" y="355674"/>
                </a:lnTo>
                <a:lnTo>
                  <a:pt x="2490779" y="364822"/>
                </a:lnTo>
                <a:lnTo>
                  <a:pt x="2519408" y="374121"/>
                </a:lnTo>
                <a:lnTo>
                  <a:pt x="2548038" y="383574"/>
                </a:lnTo>
                <a:lnTo>
                  <a:pt x="2576668" y="393182"/>
                </a:lnTo>
                <a:lnTo>
                  <a:pt x="2605297" y="402948"/>
                </a:lnTo>
                <a:lnTo>
                  <a:pt x="2633927" y="412875"/>
                </a:lnTo>
                <a:lnTo>
                  <a:pt x="2662557" y="422965"/>
                </a:lnTo>
                <a:lnTo>
                  <a:pt x="2691186" y="433221"/>
                </a:lnTo>
                <a:lnTo>
                  <a:pt x="2719816" y="443644"/>
                </a:lnTo>
                <a:lnTo>
                  <a:pt x="2748446" y="454239"/>
                </a:lnTo>
                <a:lnTo>
                  <a:pt x="2777075" y="465007"/>
                </a:lnTo>
                <a:lnTo>
                  <a:pt x="2805705" y="475952"/>
                </a:lnTo>
                <a:lnTo>
                  <a:pt x="2834334" y="487076"/>
                </a:lnTo>
                <a:lnTo>
                  <a:pt x="2862964" y="498384"/>
                </a:lnTo>
                <a:lnTo>
                  <a:pt x="2891594" y="509878"/>
                </a:lnTo>
                <a:lnTo>
                  <a:pt x="2920223" y="521561"/>
                </a:lnTo>
                <a:lnTo>
                  <a:pt x="2948853" y="533437"/>
                </a:lnTo>
                <a:lnTo>
                  <a:pt x="2977483" y="545511"/>
                </a:lnTo>
                <a:lnTo>
                  <a:pt x="3006112" y="557785"/>
                </a:lnTo>
                <a:lnTo>
                  <a:pt x="3034742" y="570264"/>
                </a:lnTo>
                <a:lnTo>
                  <a:pt x="3063372" y="582951"/>
                </a:lnTo>
                <a:lnTo>
                  <a:pt x="3092001" y="595851"/>
                </a:lnTo>
                <a:lnTo>
                  <a:pt x="3120631" y="608969"/>
                </a:lnTo>
                <a:lnTo>
                  <a:pt x="3149261" y="622310"/>
                </a:lnTo>
                <a:lnTo>
                  <a:pt x="3177890" y="635877"/>
                </a:lnTo>
                <a:lnTo>
                  <a:pt x="3206520" y="649676"/>
                </a:lnTo>
                <a:lnTo>
                  <a:pt x="3235150" y="663713"/>
                </a:lnTo>
                <a:lnTo>
                  <a:pt x="3263779" y="677993"/>
                </a:lnTo>
                <a:lnTo>
                  <a:pt x="3292409" y="692522"/>
                </a:lnTo>
                <a:lnTo>
                  <a:pt x="3321038" y="707305"/>
                </a:lnTo>
                <a:lnTo>
                  <a:pt x="3349668" y="722350"/>
                </a:lnTo>
                <a:lnTo>
                  <a:pt x="3378298" y="737662"/>
                </a:lnTo>
                <a:lnTo>
                  <a:pt x="3406927" y="753249"/>
                </a:lnTo>
                <a:lnTo>
                  <a:pt x="3435557" y="769118"/>
                </a:lnTo>
                <a:lnTo>
                  <a:pt x="3464187" y="785277"/>
                </a:lnTo>
                <a:lnTo>
                  <a:pt x="3492816" y="801733"/>
                </a:lnTo>
                <a:lnTo>
                  <a:pt x="3521446" y="818495"/>
                </a:lnTo>
                <a:lnTo>
                  <a:pt x="3550076" y="835573"/>
                </a:lnTo>
                <a:lnTo>
                  <a:pt x="3578705" y="852975"/>
                </a:lnTo>
                <a:lnTo>
                  <a:pt x="3607335" y="870711"/>
                </a:lnTo>
                <a:lnTo>
                  <a:pt x="3635965" y="888792"/>
                </a:lnTo>
                <a:lnTo>
                  <a:pt x="3664594" y="907229"/>
                </a:lnTo>
                <a:lnTo>
                  <a:pt x="3693224" y="926034"/>
                </a:lnTo>
                <a:lnTo>
                  <a:pt x="3721854" y="945218"/>
                </a:lnTo>
                <a:lnTo>
                  <a:pt x="3750483" y="964796"/>
                </a:lnTo>
                <a:lnTo>
                  <a:pt x="3779113" y="984781"/>
                </a:lnTo>
                <a:lnTo>
                  <a:pt x="3807742" y="1005188"/>
                </a:lnTo>
                <a:lnTo>
                  <a:pt x="3836372" y="1026034"/>
                </a:lnTo>
                <a:lnTo>
                  <a:pt x="3865002" y="1047334"/>
                </a:lnTo>
                <a:lnTo>
                  <a:pt x="3893631" y="1069108"/>
                </a:lnTo>
                <a:lnTo>
                  <a:pt x="3922261" y="1091374"/>
                </a:lnTo>
                <a:lnTo>
                  <a:pt x="3950891" y="1114154"/>
                </a:lnTo>
                <a:lnTo>
                  <a:pt x="3979520" y="1137470"/>
                </a:lnTo>
                <a:lnTo>
                  <a:pt x="4008150" y="1161346"/>
                </a:lnTo>
                <a:lnTo>
                  <a:pt x="4036780" y="1185808"/>
                </a:lnTo>
                <a:lnTo>
                  <a:pt x="4065409" y="1210886"/>
                </a:lnTo>
                <a:lnTo>
                  <a:pt x="4094039" y="1236609"/>
                </a:lnTo>
                <a:lnTo>
                  <a:pt x="4122669" y="1263011"/>
                </a:lnTo>
                <a:lnTo>
                  <a:pt x="4151298" y="1290128"/>
                </a:lnTo>
                <a:lnTo>
                  <a:pt x="4179928" y="1318001"/>
                </a:lnTo>
                <a:lnTo>
                  <a:pt x="4208558" y="1346674"/>
                </a:lnTo>
                <a:lnTo>
                  <a:pt x="4237187" y="1376194"/>
                </a:lnTo>
                <a:lnTo>
                  <a:pt x="4265817" y="1406616"/>
                </a:lnTo>
                <a:lnTo>
                  <a:pt x="4294446" y="1437999"/>
                </a:lnTo>
                <a:lnTo>
                  <a:pt x="4323076" y="1470409"/>
                </a:lnTo>
                <a:lnTo>
                  <a:pt x="4351706" y="1503921"/>
                </a:lnTo>
                <a:lnTo>
                  <a:pt x="4380335" y="1538619"/>
                </a:lnTo>
                <a:lnTo>
                  <a:pt x="4408965" y="1574598"/>
                </a:lnTo>
                <a:lnTo>
                  <a:pt x="4437595" y="1611967"/>
                </a:lnTo>
                <a:lnTo>
                  <a:pt x="4466224" y="1650850"/>
                </a:lnTo>
                <a:lnTo>
                  <a:pt x="4494854" y="1691392"/>
                </a:lnTo>
                <a:lnTo>
                  <a:pt x="4523484" y="1733763"/>
                </a:lnTo>
                <a:lnTo>
                  <a:pt x="4552113" y="1778160"/>
                </a:lnTo>
                <a:lnTo>
                  <a:pt x="4580743" y="1824823"/>
                </a:lnTo>
                <a:lnTo>
                  <a:pt x="4609373" y="1874040"/>
                </a:lnTo>
                <a:lnTo>
                  <a:pt x="4638002" y="1926162"/>
                </a:lnTo>
                <a:lnTo>
                  <a:pt x="4666632" y="1981633"/>
                </a:lnTo>
                <a:lnTo>
                  <a:pt x="4695262" y="2041015"/>
                </a:lnTo>
                <a:lnTo>
                  <a:pt x="4723891" y="2105045"/>
                </a:lnTo>
                <a:lnTo>
                  <a:pt x="4752521" y="2174719"/>
                </a:lnTo>
                <a:lnTo>
                  <a:pt x="4781150" y="2251438"/>
                </a:lnTo>
                <a:lnTo>
                  <a:pt x="4809780" y="2337273"/>
                </a:lnTo>
                <a:lnTo>
                  <a:pt x="4838410" y="2435523"/>
                </a:lnTo>
                <a:lnTo>
                  <a:pt x="4867039" y="2552021"/>
                </a:lnTo>
                <a:lnTo>
                  <a:pt x="4895669" y="2699033"/>
                </a:lnTo>
                <a:lnTo>
                  <a:pt x="4924299" y="2913323"/>
                </a:lnTo>
                <a:lnTo>
                  <a:pt x="4945771" y="3309349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3-E07 line 36" descr="sci-ppt:o036"/>
          <p:cNvCxnSpPr/>
          <p:nvPr/>
        </p:nvCxnSpPr>
        <p:spPr>
          <a:xfrm>
            <a:off x="5860171" y="1371600"/>
            <a:ext cx="0" cy="3657600"/>
          </a:xfrm>
          <a:prstGeom prst="line">
            <a:avLst/>
          </a:prstGeom>
          <a:ln w="12700">
            <a:solidFill>
              <a:srgbClr val="F2B880"/>
            </a:solidFill>
            <a:prstDash val="dash"/>
          </a:ln>
          <a:effectLst/>
        </p:spPr>
      </p:cxnSp>
      <p:sp>
        <p:nvSpPr>
          <p:cNvPr id="39" name="C3-E07 polygon 37" descr="sci-ppt:o037"/>
          <p:cNvSpPr/>
          <p:nvPr/>
        </p:nvSpPr>
        <p:spPr>
          <a:xfrm>
            <a:off x="914400" y="1545771"/>
            <a:ext cx="6012225" cy="1472321"/>
          </a:xfrm>
          <a:custGeom>
            <a:avLst/>
            <a:gdLst/>
            <a:ahLst/>
            <a:cxnLst/>
            <a:rect l="l" t="t" r="r" b="b"/>
            <a:pathLst>
              <a:path w="6012225" h="1472321">
                <a:moveTo>
                  <a:pt x="0" y="0"/>
                </a:moveTo>
                <a:lnTo>
                  <a:pt x="42944" y="50"/>
                </a:lnTo>
                <a:lnTo>
                  <a:pt x="85888" y="198"/>
                </a:lnTo>
                <a:lnTo>
                  <a:pt x="128833" y="446"/>
                </a:lnTo>
                <a:lnTo>
                  <a:pt x="171777" y="794"/>
                </a:lnTo>
                <a:lnTo>
                  <a:pt x="214722" y="1241"/>
                </a:lnTo>
                <a:lnTo>
                  <a:pt x="257666" y="1787"/>
                </a:lnTo>
                <a:lnTo>
                  <a:pt x="300611" y="2432"/>
                </a:lnTo>
                <a:lnTo>
                  <a:pt x="343555" y="3178"/>
                </a:lnTo>
                <a:lnTo>
                  <a:pt x="386500" y="4022"/>
                </a:lnTo>
                <a:lnTo>
                  <a:pt x="429444" y="4967"/>
                </a:lnTo>
                <a:lnTo>
                  <a:pt x="472389" y="6012"/>
                </a:lnTo>
                <a:lnTo>
                  <a:pt x="515333" y="7157"/>
                </a:lnTo>
                <a:lnTo>
                  <a:pt x="558278" y="8402"/>
                </a:lnTo>
                <a:lnTo>
                  <a:pt x="601222" y="9748"/>
                </a:lnTo>
                <a:lnTo>
                  <a:pt x="644167" y="11195"/>
                </a:lnTo>
                <a:lnTo>
                  <a:pt x="687111" y="12742"/>
                </a:lnTo>
                <a:lnTo>
                  <a:pt x="730055" y="14391"/>
                </a:lnTo>
                <a:lnTo>
                  <a:pt x="773000" y="16141"/>
                </a:lnTo>
                <a:lnTo>
                  <a:pt x="815944" y="17994"/>
                </a:lnTo>
                <a:lnTo>
                  <a:pt x="858889" y="19948"/>
                </a:lnTo>
                <a:lnTo>
                  <a:pt x="901833" y="22004"/>
                </a:lnTo>
                <a:lnTo>
                  <a:pt x="944778" y="24164"/>
                </a:lnTo>
                <a:lnTo>
                  <a:pt x="987722" y="26426"/>
                </a:lnTo>
                <a:lnTo>
                  <a:pt x="1030667" y="28792"/>
                </a:lnTo>
                <a:lnTo>
                  <a:pt x="1073611" y="31262"/>
                </a:lnTo>
                <a:lnTo>
                  <a:pt x="1116556" y="33836"/>
                </a:lnTo>
                <a:lnTo>
                  <a:pt x="1159500" y="36514"/>
                </a:lnTo>
                <a:lnTo>
                  <a:pt x="1202445" y="39298"/>
                </a:lnTo>
                <a:lnTo>
                  <a:pt x="1245389" y="42187"/>
                </a:lnTo>
                <a:lnTo>
                  <a:pt x="1288334" y="45183"/>
                </a:lnTo>
                <a:lnTo>
                  <a:pt x="1331278" y="48284"/>
                </a:lnTo>
                <a:lnTo>
                  <a:pt x="1374223" y="51494"/>
                </a:lnTo>
                <a:lnTo>
                  <a:pt x="1417167" y="54810"/>
                </a:lnTo>
                <a:lnTo>
                  <a:pt x="1460111" y="58235"/>
                </a:lnTo>
                <a:lnTo>
                  <a:pt x="1503056" y="61769"/>
                </a:lnTo>
                <a:lnTo>
                  <a:pt x="1546000" y="65412"/>
                </a:lnTo>
                <a:lnTo>
                  <a:pt x="1588945" y="69165"/>
                </a:lnTo>
                <a:lnTo>
                  <a:pt x="1631889" y="73029"/>
                </a:lnTo>
                <a:lnTo>
                  <a:pt x="1674834" y="77004"/>
                </a:lnTo>
                <a:lnTo>
                  <a:pt x="1717778" y="81092"/>
                </a:lnTo>
                <a:lnTo>
                  <a:pt x="1760723" y="85292"/>
                </a:lnTo>
                <a:lnTo>
                  <a:pt x="1803667" y="89606"/>
                </a:lnTo>
                <a:lnTo>
                  <a:pt x="1846612" y="94034"/>
                </a:lnTo>
                <a:lnTo>
                  <a:pt x="1889556" y="98578"/>
                </a:lnTo>
                <a:lnTo>
                  <a:pt x="1932501" y="103237"/>
                </a:lnTo>
                <a:lnTo>
                  <a:pt x="1975445" y="108014"/>
                </a:lnTo>
                <a:lnTo>
                  <a:pt x="2018390" y="112908"/>
                </a:lnTo>
                <a:lnTo>
                  <a:pt x="2061334" y="117921"/>
                </a:lnTo>
                <a:lnTo>
                  <a:pt x="2104279" y="123053"/>
                </a:lnTo>
                <a:lnTo>
                  <a:pt x="2147223" y="128306"/>
                </a:lnTo>
                <a:lnTo>
                  <a:pt x="2190167" y="133681"/>
                </a:lnTo>
                <a:lnTo>
                  <a:pt x="2233112" y="139179"/>
                </a:lnTo>
                <a:lnTo>
                  <a:pt x="2276056" y="144801"/>
                </a:lnTo>
                <a:lnTo>
                  <a:pt x="2319001" y="150547"/>
                </a:lnTo>
                <a:lnTo>
                  <a:pt x="2361945" y="156420"/>
                </a:lnTo>
                <a:lnTo>
                  <a:pt x="2404890" y="162419"/>
                </a:lnTo>
                <a:lnTo>
                  <a:pt x="2447834" y="168548"/>
                </a:lnTo>
                <a:lnTo>
                  <a:pt x="2490779" y="174806"/>
                </a:lnTo>
                <a:lnTo>
                  <a:pt x="2533723" y="181196"/>
                </a:lnTo>
                <a:lnTo>
                  <a:pt x="2576668" y="187718"/>
                </a:lnTo>
                <a:lnTo>
                  <a:pt x="2619612" y="194374"/>
                </a:lnTo>
                <a:lnTo>
                  <a:pt x="2662557" y="201165"/>
                </a:lnTo>
                <a:lnTo>
                  <a:pt x="2705501" y="208093"/>
                </a:lnTo>
                <a:lnTo>
                  <a:pt x="2748446" y="215159"/>
                </a:lnTo>
                <a:lnTo>
                  <a:pt x="2791390" y="222366"/>
                </a:lnTo>
                <a:lnTo>
                  <a:pt x="2834334" y="229714"/>
                </a:lnTo>
                <a:lnTo>
                  <a:pt x="2877279" y="237206"/>
                </a:lnTo>
                <a:lnTo>
                  <a:pt x="2920223" y="244842"/>
                </a:lnTo>
                <a:lnTo>
                  <a:pt x="2963168" y="252626"/>
                </a:lnTo>
                <a:lnTo>
                  <a:pt x="3006112" y="260558"/>
                </a:lnTo>
                <a:lnTo>
                  <a:pt x="3049057" y="268642"/>
                </a:lnTo>
                <a:lnTo>
                  <a:pt x="3092001" y="276878"/>
                </a:lnTo>
                <a:lnTo>
                  <a:pt x="3134946" y="285268"/>
                </a:lnTo>
                <a:lnTo>
                  <a:pt x="3177890" y="293816"/>
                </a:lnTo>
                <a:lnTo>
                  <a:pt x="3220835" y="302524"/>
                </a:lnTo>
                <a:lnTo>
                  <a:pt x="3263779" y="311392"/>
                </a:lnTo>
                <a:lnTo>
                  <a:pt x="3306724" y="320425"/>
                </a:lnTo>
                <a:lnTo>
                  <a:pt x="3349668" y="329624"/>
                </a:lnTo>
                <a:lnTo>
                  <a:pt x="3392613" y="338992"/>
                </a:lnTo>
                <a:lnTo>
                  <a:pt x="3435557" y="348531"/>
                </a:lnTo>
                <a:lnTo>
                  <a:pt x="3478502" y="358245"/>
                </a:lnTo>
                <a:lnTo>
                  <a:pt x="3521446" y="368136"/>
                </a:lnTo>
                <a:lnTo>
                  <a:pt x="3564390" y="378207"/>
                </a:lnTo>
                <a:lnTo>
                  <a:pt x="3607335" y="388461"/>
                </a:lnTo>
                <a:lnTo>
                  <a:pt x="3650279" y="398902"/>
                </a:lnTo>
                <a:lnTo>
                  <a:pt x="3693224" y="409532"/>
                </a:lnTo>
                <a:lnTo>
                  <a:pt x="3736168" y="420355"/>
                </a:lnTo>
                <a:lnTo>
                  <a:pt x="3779113" y="431375"/>
                </a:lnTo>
                <a:lnTo>
                  <a:pt x="3822057" y="442595"/>
                </a:lnTo>
                <a:lnTo>
                  <a:pt x="3865002" y="454019"/>
                </a:lnTo>
                <a:lnTo>
                  <a:pt x="3907946" y="465652"/>
                </a:lnTo>
                <a:lnTo>
                  <a:pt x="3950891" y="477496"/>
                </a:lnTo>
                <a:lnTo>
                  <a:pt x="3993835" y="489557"/>
                </a:lnTo>
                <a:lnTo>
                  <a:pt x="4036780" y="501840"/>
                </a:lnTo>
                <a:lnTo>
                  <a:pt x="4079724" y="514348"/>
                </a:lnTo>
                <a:lnTo>
                  <a:pt x="4122669" y="527087"/>
                </a:lnTo>
                <a:lnTo>
                  <a:pt x="4165613" y="540061"/>
                </a:lnTo>
                <a:lnTo>
                  <a:pt x="4208558" y="553277"/>
                </a:lnTo>
                <a:lnTo>
                  <a:pt x="4251502" y="566740"/>
                </a:lnTo>
                <a:lnTo>
                  <a:pt x="4294446" y="580455"/>
                </a:lnTo>
                <a:lnTo>
                  <a:pt x="4337391" y="594429"/>
                </a:lnTo>
                <a:lnTo>
                  <a:pt x="4380335" y="608667"/>
                </a:lnTo>
                <a:lnTo>
                  <a:pt x="4423280" y="623178"/>
                </a:lnTo>
                <a:lnTo>
                  <a:pt x="4466224" y="637968"/>
                </a:lnTo>
                <a:lnTo>
                  <a:pt x="4509169" y="653043"/>
                </a:lnTo>
                <a:lnTo>
                  <a:pt x="4552113" y="668413"/>
                </a:lnTo>
                <a:lnTo>
                  <a:pt x="4595058" y="684084"/>
                </a:lnTo>
                <a:lnTo>
                  <a:pt x="4638002" y="700067"/>
                </a:lnTo>
                <a:lnTo>
                  <a:pt x="4680947" y="716369"/>
                </a:lnTo>
                <a:lnTo>
                  <a:pt x="4723891" y="733000"/>
                </a:lnTo>
                <a:lnTo>
                  <a:pt x="4766836" y="749970"/>
                </a:lnTo>
                <a:lnTo>
                  <a:pt x="4809780" y="767290"/>
                </a:lnTo>
                <a:lnTo>
                  <a:pt x="4852725" y="784972"/>
                </a:lnTo>
                <a:lnTo>
                  <a:pt x="4895669" y="803026"/>
                </a:lnTo>
                <a:lnTo>
                  <a:pt x="4938614" y="821466"/>
                </a:lnTo>
                <a:lnTo>
                  <a:pt x="4981558" y="840304"/>
                </a:lnTo>
                <a:lnTo>
                  <a:pt x="5024502" y="859556"/>
                </a:lnTo>
                <a:lnTo>
                  <a:pt x="5067447" y="879237"/>
                </a:lnTo>
                <a:lnTo>
                  <a:pt x="5110391" y="899361"/>
                </a:lnTo>
                <a:lnTo>
                  <a:pt x="5153336" y="919948"/>
                </a:lnTo>
                <a:lnTo>
                  <a:pt x="5196280" y="941014"/>
                </a:lnTo>
                <a:lnTo>
                  <a:pt x="5239225" y="962581"/>
                </a:lnTo>
                <a:lnTo>
                  <a:pt x="5282169" y="984669"/>
                </a:lnTo>
                <a:lnTo>
                  <a:pt x="5325114" y="1007300"/>
                </a:lnTo>
                <a:lnTo>
                  <a:pt x="5368058" y="1030500"/>
                </a:lnTo>
                <a:lnTo>
                  <a:pt x="5411003" y="1054296"/>
                </a:lnTo>
                <a:lnTo>
                  <a:pt x="5453947" y="1078715"/>
                </a:lnTo>
                <a:lnTo>
                  <a:pt x="5496892" y="1103789"/>
                </a:lnTo>
                <a:lnTo>
                  <a:pt x="5539836" y="1129553"/>
                </a:lnTo>
                <a:lnTo>
                  <a:pt x="5582781" y="1156042"/>
                </a:lnTo>
                <a:lnTo>
                  <a:pt x="5625725" y="1183298"/>
                </a:lnTo>
                <a:lnTo>
                  <a:pt x="5668669" y="1211366"/>
                </a:lnTo>
                <a:lnTo>
                  <a:pt x="5711614" y="1240293"/>
                </a:lnTo>
                <a:lnTo>
                  <a:pt x="5754558" y="1270136"/>
                </a:lnTo>
                <a:lnTo>
                  <a:pt x="5797503" y="1300952"/>
                </a:lnTo>
                <a:lnTo>
                  <a:pt x="5840447" y="1332811"/>
                </a:lnTo>
                <a:lnTo>
                  <a:pt x="5883392" y="1365787"/>
                </a:lnTo>
                <a:lnTo>
                  <a:pt x="5926336" y="1399964"/>
                </a:lnTo>
                <a:lnTo>
                  <a:pt x="5969281" y="1435439"/>
                </a:lnTo>
                <a:lnTo>
                  <a:pt x="6012225" y="1472321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3-E07 line 38" descr="sci-ppt:o038"/>
          <p:cNvCxnSpPr/>
          <p:nvPr/>
        </p:nvCxnSpPr>
        <p:spPr>
          <a:xfrm>
            <a:off x="7706783" y="1371600"/>
            <a:ext cx="0" cy="3657600"/>
          </a:xfrm>
          <a:prstGeom prst="line">
            <a:avLst/>
          </a:prstGeom>
          <a:ln w="12700">
            <a:solidFill>
              <a:srgbClr val="F28BA0"/>
            </a:solidFill>
            <a:prstDash val="dash"/>
          </a:ln>
          <a:effectLst/>
        </p:spPr>
      </p:cxnSp>
      <p:sp>
        <p:nvSpPr>
          <p:cNvPr id="41" name="C3-E07 rect 39" descr="sci-ppt:o039"/>
          <p:cNvSpPr/>
          <p:nvPr/>
        </p:nvSpPr>
        <p:spPr>
          <a:xfrm>
            <a:off x="1188720" y="3840480"/>
            <a:ext cx="274320" cy="18288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3-E07 text 40" descr="sci-ppt:o040"/>
          <p:cNvSpPr txBox="1"/>
          <p:nvPr/>
        </p:nvSpPr>
        <p:spPr>
          <a:xfrm>
            <a:off x="1572768" y="3794760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χ = S Rₘₐₓ = 0  (no neighbours)</a:t>
            </a:r>
          </a:p>
        </p:txBody>
      </p:sp>
      <p:sp>
        <p:nvSpPr>
          <p:cNvPr id="43" name="C3-E07 rect 41" descr="sci-ppt:o041"/>
          <p:cNvSpPr/>
          <p:nvPr/>
        </p:nvSpPr>
        <p:spPr>
          <a:xfrm>
            <a:off x="1188720" y="4169664"/>
            <a:ext cx="274320" cy="182880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3-E07 text 42" descr="sci-ppt:o042"/>
          <p:cNvSpPr txBox="1"/>
          <p:nvPr/>
        </p:nvSpPr>
        <p:spPr>
          <a:xfrm>
            <a:off x="1572768" y="4123944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χ = S Rₘₐₓ = 1</a:t>
            </a:r>
          </a:p>
        </p:txBody>
      </p:sp>
      <p:sp>
        <p:nvSpPr>
          <p:cNvPr id="45" name="C3-E07 rect 43" descr="sci-ppt:o043"/>
          <p:cNvSpPr/>
          <p:nvPr/>
        </p:nvSpPr>
        <p:spPr>
          <a:xfrm>
            <a:off x="1188720" y="4498848"/>
            <a:ext cx="274320" cy="182880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3-E07 text 44" descr="sci-ppt:o044"/>
          <p:cNvSpPr txBox="1"/>
          <p:nvPr/>
        </p:nvSpPr>
        <p:spPr>
          <a:xfrm>
            <a:off x="1572768" y="4453128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χ = S Rₘₐₓ = 3</a:t>
            </a:r>
          </a:p>
        </p:txBody>
      </p:sp>
      <p:sp>
        <p:nvSpPr>
          <p:cNvPr id="47" name="C3-E07 round_rect 45" descr="sci-ppt:o045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3-E07 text 46" descr="sci-ppt:o046"/>
          <p:cNvSpPr txBox="1"/>
          <p:nvPr/>
        </p:nvSpPr>
        <p:spPr>
          <a:xfrm>
            <a:off x="7333488" y="1426464"/>
            <a:ext cx="439826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Symmetric constant-pressure control</a:t>
            </a:r>
          </a:p>
        </p:txBody>
      </p:sp>
      <p:sp>
        <p:nvSpPr>
          <p:cNvPr id="49" name="C3-E07 text 47" descr="sci-ppt:o047"/>
          <p:cNvSpPr txBox="1"/>
          <p:nvPr/>
        </p:nvSpPr>
        <p:spPr>
          <a:xfrm>
            <a:off x="7360920" y="1828800"/>
            <a:ext cx="4389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(1 + SR) R R̈ + (3/2 + 2SR) Ṙ² = −Δp_c / ρ</a:t>
            </a:r>
          </a:p>
        </p:txBody>
      </p:sp>
      <p:sp>
        <p:nvSpPr>
          <p:cNvPr id="50" name="C3-E07 text 48" descr="sci-ppt:o048"/>
          <p:cNvSpPr txBox="1"/>
          <p:nvPr/>
        </p:nvSpPr>
        <p:spPr>
          <a:xfrm>
            <a:off x="7562088" y="2514600"/>
            <a:ext cx="418795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 = S_N is the reciprocal-distance sum from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polygon.</a:t>
            </a:r>
          </a:p>
        </p:txBody>
      </p:sp>
      <p:sp>
        <p:nvSpPr>
          <p:cNvPr id="51" name="C3-E07 ellipse 49" descr="sci-ppt:o049"/>
          <p:cNvSpPr/>
          <p:nvPr/>
        </p:nvSpPr>
        <p:spPr>
          <a:xfrm>
            <a:off x="7392924" y="256794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3-E07 text 50" descr="sci-ppt:o050"/>
          <p:cNvSpPr txBox="1"/>
          <p:nvPr/>
        </p:nvSpPr>
        <p:spPr>
          <a:xfrm>
            <a:off x="7562088" y="2977895"/>
            <a:ext cx="418795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Start at rest at Rₘₐₓ: R(0) = Rₘₐₓ, Ṙ(0) = 0.</a:t>
            </a:r>
          </a:p>
        </p:txBody>
      </p:sp>
      <p:sp>
        <p:nvSpPr>
          <p:cNvPr id="53" name="C3-E07 ellipse 51" descr="sci-ppt:o051"/>
          <p:cNvSpPr/>
          <p:nvPr/>
        </p:nvSpPr>
        <p:spPr>
          <a:xfrm>
            <a:off x="7392924" y="303123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3-E07 text 52" descr="sci-ppt:o052"/>
          <p:cNvSpPr txBox="1"/>
          <p:nvPr/>
        </p:nvSpPr>
        <p:spPr>
          <a:xfrm>
            <a:off x="7562088" y="3255263"/>
            <a:ext cx="418795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Larger χ means stronger coupling and a later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collapse.</a:t>
            </a:r>
          </a:p>
        </p:txBody>
      </p:sp>
      <p:sp>
        <p:nvSpPr>
          <p:cNvPr id="55" name="C3-E07 ellipse 53" descr="sci-ppt:o053"/>
          <p:cNvSpPr/>
          <p:nvPr/>
        </p:nvSpPr>
        <p:spPr>
          <a:xfrm>
            <a:off x="7392924" y="3308604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3-E07 text 54" descr="sci-ppt:o054"/>
          <p:cNvSpPr txBox="1"/>
          <p:nvPr/>
        </p:nvSpPr>
        <p:spPr>
          <a:xfrm>
            <a:off x="7562088" y="3718560"/>
            <a:ext cx="418795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Surface tension and viscosity are omitted in this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ideal control.</a:t>
            </a:r>
          </a:p>
        </p:txBody>
      </p:sp>
      <p:sp>
        <p:nvSpPr>
          <p:cNvPr id="57" name="C3-E07 ellipse 55" descr="sci-ppt:o055"/>
          <p:cNvSpPr/>
          <p:nvPr/>
        </p:nvSpPr>
        <p:spPr>
          <a:xfrm>
            <a:off x="7392924" y="377190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3-E07 text 56" descr="sci-ppt:o056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Inputs: Rₘₐₓ = 30 µm, ρ = 1000 kg/m³, Δp_c = 100 kPa. Dashed lines mark each collapse time.</a:t>
            </a:r>
          </a:p>
        </p:txBody>
      </p:sp>
      <p:sp>
        <p:nvSpPr>
          <p:cNvPr id="59" name="C3-E07 text 57" descr="sci-ppt:o05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Numerical integration of Eq. C3-E07.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