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10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C3-E10 · Collapse-time quadrature and sign check</a:t>
            </a:r>
          </a:p>
        </p:txBody>
      </p:sp>
      <p:cxnSp>
        <p:nvCxnSpPr>
          <p:cNvPr id="3" name="C3-E10 arrow 1" descr="sci-ppt:o001"/>
          <p:cNvCxnSpPr/>
          <p:nvPr/>
        </p:nvCxnSpPr>
        <p:spPr>
          <a:xfrm>
            <a:off x="1097280" y="3291840"/>
            <a:ext cx="969264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4" name="C3-E10 arrow 2" descr="sci-ppt:o002"/>
          <p:cNvCxnSpPr/>
          <p:nvPr/>
        </p:nvCxnSpPr>
        <p:spPr>
          <a:xfrm flipV="1">
            <a:off x="1097280" y="822960"/>
            <a:ext cx="0" cy="24688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5" name="C3-E10 line 3" descr="sci-ppt:o003"/>
          <p:cNvCxnSpPr/>
          <p:nvPr/>
        </p:nvCxnSpPr>
        <p:spPr>
          <a:xfrm>
            <a:off x="1097280" y="1097280"/>
            <a:ext cx="113157" cy="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" name="C3-E10 line 4" descr="sci-ppt:o004"/>
          <p:cNvCxnSpPr/>
          <p:nvPr/>
        </p:nvCxnSpPr>
        <p:spPr>
          <a:xfrm>
            <a:off x="1210437" y="1097284"/>
            <a:ext cx="113157" cy="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" name="C3-E10 line 5" descr="sci-ppt:o005"/>
          <p:cNvCxnSpPr/>
          <p:nvPr/>
        </p:nvCxnSpPr>
        <p:spPr>
          <a:xfrm>
            <a:off x="1323594" y="1097314"/>
            <a:ext cx="113157" cy="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" name="C3-E10 line 6" descr="sci-ppt:o006"/>
          <p:cNvCxnSpPr/>
          <p:nvPr/>
        </p:nvCxnSpPr>
        <p:spPr>
          <a:xfrm>
            <a:off x="1436751" y="1097395"/>
            <a:ext cx="113156" cy="15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9" name="C3-E10 line 7" descr="sci-ppt:o007"/>
          <p:cNvCxnSpPr/>
          <p:nvPr/>
        </p:nvCxnSpPr>
        <p:spPr>
          <a:xfrm>
            <a:off x="1549907" y="1097554"/>
            <a:ext cx="113158" cy="2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0" name="C3-E10 line 8" descr="sci-ppt:o008"/>
          <p:cNvCxnSpPr/>
          <p:nvPr/>
        </p:nvCxnSpPr>
        <p:spPr>
          <a:xfrm>
            <a:off x="1663065" y="1097815"/>
            <a:ext cx="113157" cy="3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C3-E10 line 9" descr="sci-ppt:o009"/>
          <p:cNvCxnSpPr/>
          <p:nvPr/>
        </p:nvCxnSpPr>
        <p:spPr>
          <a:xfrm>
            <a:off x="1776222" y="1098205"/>
            <a:ext cx="113157" cy="54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C3-E10 line 10" descr="sci-ppt:o010"/>
          <p:cNvCxnSpPr/>
          <p:nvPr/>
        </p:nvCxnSpPr>
        <p:spPr>
          <a:xfrm>
            <a:off x="1889379" y="1098750"/>
            <a:ext cx="113157" cy="7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C3-E10 line 11" descr="sci-ppt:o011"/>
          <p:cNvCxnSpPr/>
          <p:nvPr/>
        </p:nvCxnSpPr>
        <p:spPr>
          <a:xfrm>
            <a:off x="2002536" y="1099474"/>
            <a:ext cx="113157" cy="9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C3-E10 line 12" descr="sci-ppt:o012"/>
          <p:cNvCxnSpPr/>
          <p:nvPr/>
        </p:nvCxnSpPr>
        <p:spPr>
          <a:xfrm>
            <a:off x="2115693" y="1100404"/>
            <a:ext cx="113157" cy="116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C3-E10 line 13" descr="sci-ppt:o013"/>
          <p:cNvCxnSpPr/>
          <p:nvPr/>
        </p:nvCxnSpPr>
        <p:spPr>
          <a:xfrm>
            <a:off x="2228850" y="1101566"/>
            <a:ext cx="113157" cy="141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C3-E10 line 14" descr="sci-ppt:o014"/>
          <p:cNvCxnSpPr/>
          <p:nvPr/>
        </p:nvCxnSpPr>
        <p:spPr>
          <a:xfrm>
            <a:off x="2342007" y="1102984"/>
            <a:ext cx="113157" cy="17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C3-E10 line 15" descr="sci-ppt:o015"/>
          <p:cNvCxnSpPr/>
          <p:nvPr/>
        </p:nvCxnSpPr>
        <p:spPr>
          <a:xfrm>
            <a:off x="2455164" y="1104686"/>
            <a:ext cx="113157" cy="201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C3-E10 line 16" descr="sci-ppt:o016"/>
          <p:cNvCxnSpPr/>
          <p:nvPr/>
        </p:nvCxnSpPr>
        <p:spPr>
          <a:xfrm>
            <a:off x="2568321" y="1106696"/>
            <a:ext cx="113157" cy="234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C3-E10 line 17" descr="sci-ppt:o017"/>
          <p:cNvCxnSpPr/>
          <p:nvPr/>
        </p:nvCxnSpPr>
        <p:spPr>
          <a:xfrm>
            <a:off x="2681478" y="1109041"/>
            <a:ext cx="113157" cy="270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C3-E10 line 18" descr="sci-ppt:o018"/>
          <p:cNvCxnSpPr/>
          <p:nvPr/>
        </p:nvCxnSpPr>
        <p:spPr>
          <a:xfrm>
            <a:off x="2794635" y="1111746"/>
            <a:ext cx="113156" cy="30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C3-E10 line 19" descr="sci-ppt:o019"/>
          <p:cNvCxnSpPr/>
          <p:nvPr/>
        </p:nvCxnSpPr>
        <p:spPr>
          <a:xfrm>
            <a:off x="2907791" y="1114836"/>
            <a:ext cx="113158" cy="35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C3-E10 line 20" descr="sci-ppt:o020"/>
          <p:cNvCxnSpPr/>
          <p:nvPr/>
        </p:nvCxnSpPr>
        <p:spPr>
          <a:xfrm>
            <a:off x="3020949" y="1118338"/>
            <a:ext cx="113157" cy="393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C3-E10 line 21" descr="sci-ppt:o021"/>
          <p:cNvCxnSpPr/>
          <p:nvPr/>
        </p:nvCxnSpPr>
        <p:spPr>
          <a:xfrm>
            <a:off x="3134106" y="1122277"/>
            <a:ext cx="113156" cy="44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C3-E10 line 22" descr="sci-ppt:o022"/>
          <p:cNvCxnSpPr/>
          <p:nvPr/>
        </p:nvCxnSpPr>
        <p:spPr>
          <a:xfrm>
            <a:off x="3247262" y="1126679"/>
            <a:ext cx="113158" cy="48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C3-E10 line 23" descr="sci-ppt:o023"/>
          <p:cNvCxnSpPr/>
          <p:nvPr/>
        </p:nvCxnSpPr>
        <p:spPr>
          <a:xfrm>
            <a:off x="3360420" y="1131570"/>
            <a:ext cx="113157" cy="54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C3-E10 line 24" descr="sci-ppt:o024"/>
          <p:cNvCxnSpPr/>
          <p:nvPr/>
        </p:nvCxnSpPr>
        <p:spPr>
          <a:xfrm>
            <a:off x="3473577" y="1136974"/>
            <a:ext cx="113157" cy="594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C3-E10 line 25" descr="sci-ppt:o025"/>
          <p:cNvCxnSpPr/>
          <p:nvPr/>
        </p:nvCxnSpPr>
        <p:spPr>
          <a:xfrm>
            <a:off x="3586734" y="1142919"/>
            <a:ext cx="113157" cy="65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C3-E10 line 26" descr="sci-ppt:o026"/>
          <p:cNvCxnSpPr/>
          <p:nvPr/>
        </p:nvCxnSpPr>
        <p:spPr>
          <a:xfrm>
            <a:off x="3699891" y="1149430"/>
            <a:ext cx="113157" cy="71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C3-E10 line 27" descr="sci-ppt:o027"/>
          <p:cNvCxnSpPr/>
          <p:nvPr/>
        </p:nvCxnSpPr>
        <p:spPr>
          <a:xfrm>
            <a:off x="3813048" y="1156533"/>
            <a:ext cx="113157" cy="771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C3-E10 line 28" descr="sci-ppt:o028"/>
          <p:cNvCxnSpPr/>
          <p:nvPr/>
        </p:nvCxnSpPr>
        <p:spPr>
          <a:xfrm>
            <a:off x="3926205" y="1164252"/>
            <a:ext cx="113157" cy="83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C3-E10 line 29" descr="sci-ppt:o029"/>
          <p:cNvCxnSpPr/>
          <p:nvPr/>
        </p:nvCxnSpPr>
        <p:spPr>
          <a:xfrm>
            <a:off x="4039362" y="1172615"/>
            <a:ext cx="113157" cy="903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C3-E10 line 30" descr="sci-ppt:o030"/>
          <p:cNvCxnSpPr/>
          <p:nvPr/>
        </p:nvCxnSpPr>
        <p:spPr>
          <a:xfrm>
            <a:off x="4152519" y="1181646"/>
            <a:ext cx="113157" cy="972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C3-E10 line 31" descr="sci-ppt:o031"/>
          <p:cNvCxnSpPr/>
          <p:nvPr/>
        </p:nvCxnSpPr>
        <p:spPr>
          <a:xfrm>
            <a:off x="4265676" y="1191371"/>
            <a:ext cx="113157" cy="1044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C3-E10 line 32" descr="sci-ppt:o032"/>
          <p:cNvCxnSpPr/>
          <p:nvPr/>
        </p:nvCxnSpPr>
        <p:spPr>
          <a:xfrm>
            <a:off x="4378833" y="1201817"/>
            <a:ext cx="113157" cy="111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C3-E10 line 33" descr="sci-ppt:o033"/>
          <p:cNvCxnSpPr/>
          <p:nvPr/>
        </p:nvCxnSpPr>
        <p:spPr>
          <a:xfrm>
            <a:off x="4491990" y="1213008"/>
            <a:ext cx="113157" cy="119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C3-E10 line 34" descr="sci-ppt:o034"/>
          <p:cNvCxnSpPr/>
          <p:nvPr/>
        </p:nvCxnSpPr>
        <p:spPr>
          <a:xfrm>
            <a:off x="4605147" y="1224971"/>
            <a:ext cx="113157" cy="12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C3-E10 line 35" descr="sci-ppt:o035"/>
          <p:cNvCxnSpPr/>
          <p:nvPr/>
        </p:nvCxnSpPr>
        <p:spPr>
          <a:xfrm>
            <a:off x="4718304" y="1237731"/>
            <a:ext cx="113157" cy="135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C3-E10 line 36" descr="sci-ppt:o036"/>
          <p:cNvCxnSpPr/>
          <p:nvPr/>
        </p:nvCxnSpPr>
        <p:spPr>
          <a:xfrm>
            <a:off x="4831461" y="1251314"/>
            <a:ext cx="113157" cy="1443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C3-E10 line 37" descr="sci-ppt:o037"/>
          <p:cNvCxnSpPr/>
          <p:nvPr/>
        </p:nvCxnSpPr>
        <p:spPr>
          <a:xfrm>
            <a:off x="4944618" y="1265746"/>
            <a:ext cx="113157" cy="1530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C3-E10 line 38" descr="sci-ppt:o038"/>
          <p:cNvCxnSpPr/>
          <p:nvPr/>
        </p:nvCxnSpPr>
        <p:spPr>
          <a:xfrm>
            <a:off x="5057775" y="1281052"/>
            <a:ext cx="113157" cy="162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C3-E10 line 39" descr="sci-ppt:o039"/>
          <p:cNvCxnSpPr/>
          <p:nvPr/>
        </p:nvCxnSpPr>
        <p:spPr>
          <a:xfrm>
            <a:off x="5170932" y="1297259"/>
            <a:ext cx="113157" cy="1713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C3-E10 line 40" descr="sci-ppt:o040"/>
          <p:cNvCxnSpPr/>
          <p:nvPr/>
        </p:nvCxnSpPr>
        <p:spPr>
          <a:xfrm>
            <a:off x="5284089" y="1314391"/>
            <a:ext cx="113157" cy="1808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C3-E10 line 41" descr="sci-ppt:o041"/>
          <p:cNvCxnSpPr/>
          <p:nvPr/>
        </p:nvCxnSpPr>
        <p:spPr>
          <a:xfrm>
            <a:off x="5397246" y="1332475"/>
            <a:ext cx="113157" cy="190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C3-E10 line 42" descr="sci-ppt:o042"/>
          <p:cNvCxnSpPr/>
          <p:nvPr/>
        </p:nvCxnSpPr>
        <p:spPr>
          <a:xfrm>
            <a:off x="5510403" y="1351536"/>
            <a:ext cx="113157" cy="2006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C3-E10 line 43" descr="sci-ppt:o043"/>
          <p:cNvCxnSpPr/>
          <p:nvPr/>
        </p:nvCxnSpPr>
        <p:spPr>
          <a:xfrm>
            <a:off x="5623560" y="1371600"/>
            <a:ext cx="113157" cy="210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C3-E10 line 44" descr="sci-ppt:o044"/>
          <p:cNvCxnSpPr/>
          <p:nvPr/>
        </p:nvCxnSpPr>
        <p:spPr>
          <a:xfrm>
            <a:off x="5736717" y="1392692"/>
            <a:ext cx="113157" cy="2214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C3-E10 line 45" descr="sci-ppt:o045"/>
          <p:cNvCxnSpPr/>
          <p:nvPr/>
        </p:nvCxnSpPr>
        <p:spPr>
          <a:xfrm>
            <a:off x="5849874" y="1414839"/>
            <a:ext cx="113157" cy="2322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C3-E10 line 46" descr="sci-ppt:o046"/>
          <p:cNvCxnSpPr/>
          <p:nvPr/>
        </p:nvCxnSpPr>
        <p:spPr>
          <a:xfrm>
            <a:off x="5963031" y="1438066"/>
            <a:ext cx="113157" cy="2433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C3-E10 line 47" descr="sci-ppt:o047"/>
          <p:cNvCxnSpPr/>
          <p:nvPr/>
        </p:nvCxnSpPr>
        <p:spPr>
          <a:xfrm>
            <a:off x="6076188" y="1462399"/>
            <a:ext cx="113157" cy="2546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C3-E10 line 48" descr="sci-ppt:o048"/>
          <p:cNvCxnSpPr/>
          <p:nvPr/>
        </p:nvCxnSpPr>
        <p:spPr>
          <a:xfrm>
            <a:off x="6189345" y="1487864"/>
            <a:ext cx="113157" cy="2662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1" name="C3-E10 line 49" descr="sci-ppt:o049"/>
          <p:cNvCxnSpPr/>
          <p:nvPr/>
        </p:nvCxnSpPr>
        <p:spPr>
          <a:xfrm>
            <a:off x="6302502" y="1514486"/>
            <a:ext cx="113157" cy="2780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2" name="C3-E10 line 50" descr="sci-ppt:o050"/>
          <p:cNvCxnSpPr/>
          <p:nvPr/>
        </p:nvCxnSpPr>
        <p:spPr>
          <a:xfrm>
            <a:off x="6415659" y="1542291"/>
            <a:ext cx="113157" cy="290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3" name="C3-E10 line 51" descr="sci-ppt:o051"/>
          <p:cNvCxnSpPr/>
          <p:nvPr/>
        </p:nvCxnSpPr>
        <p:spPr>
          <a:xfrm>
            <a:off x="6528816" y="1571304"/>
            <a:ext cx="113157" cy="3024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4" name="C3-E10 line 52" descr="sci-ppt:o052"/>
          <p:cNvCxnSpPr/>
          <p:nvPr/>
        </p:nvCxnSpPr>
        <p:spPr>
          <a:xfrm>
            <a:off x="6641973" y="1601553"/>
            <a:ext cx="113157" cy="3150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5" name="C3-E10 line 53" descr="sci-ppt:o053"/>
          <p:cNvCxnSpPr/>
          <p:nvPr/>
        </p:nvCxnSpPr>
        <p:spPr>
          <a:xfrm>
            <a:off x="6755130" y="1633061"/>
            <a:ext cx="113157" cy="3279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6" name="C3-E10 line 54" descr="sci-ppt:o054"/>
          <p:cNvCxnSpPr/>
          <p:nvPr/>
        </p:nvCxnSpPr>
        <p:spPr>
          <a:xfrm>
            <a:off x="6868287" y="1665855"/>
            <a:ext cx="113157" cy="3410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7" name="C3-E10 line 55" descr="sci-ppt:o055"/>
          <p:cNvCxnSpPr/>
          <p:nvPr/>
        </p:nvCxnSpPr>
        <p:spPr>
          <a:xfrm>
            <a:off x="6981444" y="1699961"/>
            <a:ext cx="113157" cy="3544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8" name="C3-E10 line 56" descr="sci-ppt:o056"/>
          <p:cNvCxnSpPr/>
          <p:nvPr/>
        </p:nvCxnSpPr>
        <p:spPr>
          <a:xfrm>
            <a:off x="7094601" y="1735404"/>
            <a:ext cx="113157" cy="3680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9" name="C3-E10 line 57" descr="sci-ppt:o057"/>
          <p:cNvCxnSpPr/>
          <p:nvPr/>
        </p:nvCxnSpPr>
        <p:spPr>
          <a:xfrm>
            <a:off x="7207758" y="1772210"/>
            <a:ext cx="113157" cy="3819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0" name="C3-E10 line 58" descr="sci-ppt:o058"/>
          <p:cNvCxnSpPr/>
          <p:nvPr/>
        </p:nvCxnSpPr>
        <p:spPr>
          <a:xfrm>
            <a:off x="7320915" y="1810404"/>
            <a:ext cx="113156" cy="3961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1" name="C3-E10 line 59" descr="sci-ppt:o059"/>
          <p:cNvCxnSpPr/>
          <p:nvPr/>
        </p:nvCxnSpPr>
        <p:spPr>
          <a:xfrm>
            <a:off x="7434071" y="1850014"/>
            <a:ext cx="113158" cy="4104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2" name="C3-E10 line 60" descr="sci-ppt:o060"/>
          <p:cNvCxnSpPr/>
          <p:nvPr/>
        </p:nvCxnSpPr>
        <p:spPr>
          <a:xfrm>
            <a:off x="7547229" y="1891063"/>
            <a:ext cx="113157" cy="425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3" name="C3-E10 line 61" descr="sci-ppt:o061"/>
          <p:cNvCxnSpPr/>
          <p:nvPr/>
        </p:nvCxnSpPr>
        <p:spPr>
          <a:xfrm>
            <a:off x="7660386" y="1933578"/>
            <a:ext cx="113157" cy="440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4" name="C3-E10 line 62" descr="sci-ppt:o062"/>
          <p:cNvCxnSpPr/>
          <p:nvPr/>
        </p:nvCxnSpPr>
        <p:spPr>
          <a:xfrm>
            <a:off x="7773543" y="1977585"/>
            <a:ext cx="113157" cy="4552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5" name="C3-E10 line 63" descr="sci-ppt:o063"/>
          <p:cNvCxnSpPr/>
          <p:nvPr/>
        </p:nvCxnSpPr>
        <p:spPr>
          <a:xfrm>
            <a:off x="7886700" y="2023110"/>
            <a:ext cx="113156" cy="470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6" name="C3-E10 line 64" descr="sci-ppt:o064"/>
          <p:cNvCxnSpPr/>
          <p:nvPr/>
        </p:nvCxnSpPr>
        <p:spPr>
          <a:xfrm>
            <a:off x="7999856" y="2070177"/>
            <a:ext cx="113158" cy="486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7" name="C3-E10 line 65" descr="sci-ppt:o065"/>
          <p:cNvCxnSpPr/>
          <p:nvPr/>
        </p:nvCxnSpPr>
        <p:spPr>
          <a:xfrm>
            <a:off x="8113014" y="2118813"/>
            <a:ext cx="113157" cy="502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8" name="C3-E10 line 66" descr="sci-ppt:o066"/>
          <p:cNvCxnSpPr/>
          <p:nvPr/>
        </p:nvCxnSpPr>
        <p:spPr>
          <a:xfrm>
            <a:off x="8226171" y="2169043"/>
            <a:ext cx="113156" cy="5185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9" name="C3-E10 line 67" descr="sci-ppt:o067"/>
          <p:cNvCxnSpPr/>
          <p:nvPr/>
        </p:nvCxnSpPr>
        <p:spPr>
          <a:xfrm>
            <a:off x="8339327" y="2220894"/>
            <a:ext cx="113157" cy="534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0" name="C3-E10 line 68" descr="sci-ppt:o068"/>
          <p:cNvCxnSpPr/>
          <p:nvPr/>
        </p:nvCxnSpPr>
        <p:spPr>
          <a:xfrm>
            <a:off x="8452484" y="2274391"/>
            <a:ext cx="113158" cy="5516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1" name="C3-E10 line 69" descr="sci-ppt:o069"/>
          <p:cNvCxnSpPr/>
          <p:nvPr/>
        </p:nvCxnSpPr>
        <p:spPr>
          <a:xfrm>
            <a:off x="8565642" y="2329559"/>
            <a:ext cx="113157" cy="5686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2" name="C3-E10 line 70" descr="sci-ppt:o070"/>
          <p:cNvCxnSpPr/>
          <p:nvPr/>
        </p:nvCxnSpPr>
        <p:spPr>
          <a:xfrm>
            <a:off x="8678799" y="2386425"/>
            <a:ext cx="113157" cy="585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3" name="C3-E10 line 71" descr="sci-ppt:o071"/>
          <p:cNvCxnSpPr/>
          <p:nvPr/>
        </p:nvCxnSpPr>
        <p:spPr>
          <a:xfrm>
            <a:off x="8791956" y="2445014"/>
            <a:ext cx="113157" cy="603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4" name="C3-E10 line 72" descr="sci-ppt:o072"/>
          <p:cNvCxnSpPr/>
          <p:nvPr/>
        </p:nvCxnSpPr>
        <p:spPr>
          <a:xfrm>
            <a:off x="8905113" y="2505351"/>
            <a:ext cx="113156" cy="6211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5" name="C3-E10 line 73" descr="sci-ppt:o073"/>
          <p:cNvCxnSpPr/>
          <p:nvPr/>
        </p:nvCxnSpPr>
        <p:spPr>
          <a:xfrm>
            <a:off x="9018269" y="2567463"/>
            <a:ext cx="113157" cy="639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6" name="C3-E10 line 74" descr="sci-ppt:o074"/>
          <p:cNvCxnSpPr/>
          <p:nvPr/>
        </p:nvCxnSpPr>
        <p:spPr>
          <a:xfrm>
            <a:off x="9131426" y="2631376"/>
            <a:ext cx="113158" cy="6573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7" name="C3-E10 line 75" descr="sci-ppt:o075"/>
          <p:cNvCxnSpPr/>
          <p:nvPr/>
        </p:nvCxnSpPr>
        <p:spPr>
          <a:xfrm>
            <a:off x="9244584" y="2697114"/>
            <a:ext cx="113157" cy="675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8" name="C3-E10 line 76" descr="sci-ppt:o076"/>
          <p:cNvCxnSpPr/>
          <p:nvPr/>
        </p:nvCxnSpPr>
        <p:spPr>
          <a:xfrm>
            <a:off x="9357741" y="2764704"/>
            <a:ext cx="113157" cy="694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9" name="C3-E10 line 77" descr="sci-ppt:o077"/>
          <p:cNvCxnSpPr/>
          <p:nvPr/>
        </p:nvCxnSpPr>
        <p:spPr>
          <a:xfrm>
            <a:off x="9470898" y="2834171"/>
            <a:ext cx="113157" cy="713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0" name="C3-E10 line 78" descr="sci-ppt:o078"/>
          <p:cNvCxnSpPr/>
          <p:nvPr/>
        </p:nvCxnSpPr>
        <p:spPr>
          <a:xfrm>
            <a:off x="9584055" y="2905541"/>
            <a:ext cx="113156" cy="7329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1" name="C3-E10 line 79" descr="sci-ppt:o079"/>
          <p:cNvCxnSpPr/>
          <p:nvPr/>
        </p:nvCxnSpPr>
        <p:spPr>
          <a:xfrm>
            <a:off x="9697211" y="2978840"/>
            <a:ext cx="113158" cy="7525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2" name="C3-E10 line 80" descr="sci-ppt:o080"/>
          <p:cNvCxnSpPr/>
          <p:nvPr/>
        </p:nvCxnSpPr>
        <p:spPr>
          <a:xfrm>
            <a:off x="9810369" y="3054094"/>
            <a:ext cx="113157" cy="7723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3" name="C3-E10 line 81" descr="sci-ppt:o081"/>
          <p:cNvCxnSpPr/>
          <p:nvPr/>
        </p:nvCxnSpPr>
        <p:spPr>
          <a:xfrm>
            <a:off x="9923526" y="3131328"/>
            <a:ext cx="113157" cy="7924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4" name="C3-E10 line 82" descr="sci-ppt:o082"/>
          <p:cNvCxnSpPr/>
          <p:nvPr/>
        </p:nvCxnSpPr>
        <p:spPr>
          <a:xfrm>
            <a:off x="10036683" y="3210568"/>
            <a:ext cx="113157" cy="8127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5" name="C3-E10 text 83" descr="sci-ppt:o083"/>
          <p:cNvSpPr txBox="1"/>
          <p:nvPr/>
        </p:nvSpPr>
        <p:spPr>
          <a:xfrm>
            <a:off x="365760" y="59436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R/R_max</a:t>
            </a:r>
          </a:p>
        </p:txBody>
      </p:sp>
      <p:sp>
        <p:nvSpPr>
          <p:cNvPr id="86" name="C3-E10 text 84" descr="sci-ppt:o084"/>
          <p:cNvSpPr txBox="1"/>
          <p:nvPr/>
        </p:nvSpPr>
        <p:spPr>
          <a:xfrm>
            <a:off x="9784080" y="3474720"/>
            <a:ext cx="18288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t/t_c</a:t>
            </a:r>
          </a:p>
        </p:txBody>
      </p:sp>
      <p:sp>
        <p:nvSpPr>
          <p:cNvPr id="87" name="C3-E10 text 85" descr="sci-ppt:o085"/>
          <p:cNvSpPr txBox="1"/>
          <p:nvPr/>
        </p:nvSpPr>
        <p:spPr>
          <a:xfrm>
            <a:off x="2743200" y="2057400"/>
            <a:ext cx="6858000" cy="6400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Initial radius R_max; initial speed zero.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Formal endpoint R → 0.</a:t>
            </a:r>
          </a:p>
        </p:txBody>
      </p:sp>
      <p:cxnSp>
        <p:nvCxnSpPr>
          <p:cNvPr id="88" name="C3-E10 line 86" descr="sci-ppt:o086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89" name="C3-E10 text 87" descr="sci-ppt:o087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t_c radial event time</a:t>
            </a:r>
          </a:p>
        </p:txBody>
      </p:sp>
      <p:sp>
        <p:nvSpPr>
          <p:cNvPr id="90" name="C3-E10 text 88" descr="sci-ppt:o088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R_max, R; x = R/R_max</a:t>
            </a:r>
          </a:p>
        </p:txBody>
      </p:sp>
      <p:sp>
        <p:nvSpPr>
          <p:cNvPr id="91" name="C3-E10 text 89" descr="sci-ppt:o089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χ = S R_max</a:t>
            </a:r>
          </a:p>
        </p:txBody>
      </p:sp>
      <p:sp>
        <p:nvSpPr>
          <p:cNvPr id="92" name="C3-E10 text 90" descr="sci-ppt:o090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C(χ), C′(χ) &gt; 0</a:t>
            </a:r>
          </a:p>
        </p:txBody>
      </p:sp>
      <p:sp>
        <p:nvSpPr>
          <p:cNvPr id="93" name="C3-E10 text 91" descr="sci-ppt:o091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ρ / Δp_c sets time scale</a:t>
            </a:r>
          </a:p>
        </p:txBody>
      </p:sp>
      <p:sp>
        <p:nvSpPr>
          <p:cNvPr id="94" name="C3-E10 text 92" descr="sci-ppt:o092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Ṙ inward speed; |Ṙ| positive</a:t>
            </a:r>
          </a:p>
        </p:txBody>
      </p:sp>
      <p:sp>
        <p:nvSpPr>
          <p:cNvPr id="95" name="C3-E10 text 93" descr="sci-ppt:o093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x = 1 endpoint behaves as (1 − x)^−1/2</a:t>
            </a:r>
          </a:p>
        </p:txBody>
      </p:sp>
      <p:sp>
        <p:nvSpPr>
          <p:cNvPr id="96" name="C3-E10 text 94" descr="sci-ppt:o094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χ = 0 recovers the Rayleigh coefficient</a:t>
            </a:r>
          </a:p>
        </p:txBody>
      </p:sp>
      <p:sp>
        <p:nvSpPr>
          <p:cNvPr id="97" name="C3-E10 text 95" descr="sci-ppt:o095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