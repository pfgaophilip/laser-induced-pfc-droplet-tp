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C3-E10 · Collapse-time quadrature and sign check</a:t>
            </a:r>
          </a:p>
        </p:txBody>
      </p:sp>
      <p:cxnSp>
        <p:nvCxnSpPr>
          <p:cNvPr id="3" name="C3-E10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1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1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1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3-E10 line 6" descr="sci-ppt:o006"/>
          <p:cNvCxnSpPr/>
          <p:nvPr/>
        </p:nvCxnSpPr>
        <p:spPr>
          <a:xfrm>
            <a:off x="192023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0 line 7" descr="sci-ppt:o007"/>
          <p:cNvCxnSpPr/>
          <p:nvPr/>
        </p:nvCxnSpPr>
        <p:spPr>
          <a:xfrm>
            <a:off x="192023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10 text 8" descr="sci-ppt:o008"/>
          <p:cNvSpPr txBox="1"/>
          <p:nvPr/>
        </p:nvSpPr>
        <p:spPr>
          <a:xfrm>
            <a:off x="146303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3-E10 line 9" descr="sci-ppt:o009"/>
          <p:cNvCxnSpPr/>
          <p:nvPr/>
        </p:nvCxnSpPr>
        <p:spPr>
          <a:xfrm>
            <a:off x="2926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0 line 10" descr="sci-ppt:o010"/>
          <p:cNvCxnSpPr/>
          <p:nvPr/>
        </p:nvCxnSpPr>
        <p:spPr>
          <a:xfrm>
            <a:off x="2926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10 text 11" descr="sci-ppt:o011"/>
          <p:cNvSpPr txBox="1"/>
          <p:nvPr/>
        </p:nvSpPr>
        <p:spPr>
          <a:xfrm>
            <a:off x="2468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3-E10 line 12" descr="sci-ppt:o012"/>
          <p:cNvCxnSpPr/>
          <p:nvPr/>
        </p:nvCxnSpPr>
        <p:spPr>
          <a:xfrm>
            <a:off x="393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0 line 13" descr="sci-ppt:o013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10 text 14" descr="sci-ppt:o014"/>
          <p:cNvSpPr txBox="1"/>
          <p:nvPr/>
        </p:nvSpPr>
        <p:spPr>
          <a:xfrm>
            <a:off x="347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3-E10 line 15" descr="sci-ppt:o015"/>
          <p:cNvCxnSpPr/>
          <p:nvPr/>
        </p:nvCxnSpPr>
        <p:spPr>
          <a:xfrm>
            <a:off x="49377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0 line 16" descr="sci-ppt:o016"/>
          <p:cNvCxnSpPr/>
          <p:nvPr/>
        </p:nvCxnSpPr>
        <p:spPr>
          <a:xfrm>
            <a:off x="49377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10 text 17" descr="sci-ppt:o017"/>
          <p:cNvSpPr txBox="1"/>
          <p:nvPr/>
        </p:nvSpPr>
        <p:spPr>
          <a:xfrm>
            <a:off x="44805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3-E10 line 18" descr="sci-ppt:o018"/>
          <p:cNvCxnSpPr/>
          <p:nvPr/>
        </p:nvCxnSpPr>
        <p:spPr>
          <a:xfrm>
            <a:off x="5943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0 line 19" descr="sci-ppt:o019"/>
          <p:cNvCxnSpPr/>
          <p:nvPr/>
        </p:nvCxnSpPr>
        <p:spPr>
          <a:xfrm>
            <a:off x="5943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10 text 20" descr="sci-ppt:o020"/>
          <p:cNvSpPr txBox="1"/>
          <p:nvPr/>
        </p:nvSpPr>
        <p:spPr>
          <a:xfrm>
            <a:off x="5486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3" name="C3-E10 line 21" descr="sci-ppt:o021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0 line 22" descr="sci-ppt:o022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10 text 23" descr="sci-ppt:o023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26" name="C3-E10 line 24" descr="sci-ppt:o024"/>
          <p:cNvCxnSpPr/>
          <p:nvPr/>
        </p:nvCxnSpPr>
        <p:spPr>
          <a:xfrm>
            <a:off x="850392" y="45066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0 line 25" descr="sci-ppt:o025"/>
          <p:cNvCxnSpPr/>
          <p:nvPr/>
        </p:nvCxnSpPr>
        <p:spPr>
          <a:xfrm>
            <a:off x="914400" y="4506685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10 text 26" descr="sci-ppt:o026"/>
          <p:cNvSpPr txBox="1"/>
          <p:nvPr/>
        </p:nvSpPr>
        <p:spPr>
          <a:xfrm>
            <a:off x="45720" y="44243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29" name="C3-E10 line 27" descr="sci-ppt:o027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0 line 28" descr="sci-ppt:o028"/>
          <p:cNvCxnSpPr/>
          <p:nvPr/>
        </p:nvCxnSpPr>
        <p:spPr>
          <a:xfrm>
            <a:off x="914400" y="32004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3-E10 text 29" descr="sci-ppt:o029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32" name="C3-E10 line 30" descr="sci-ppt:o030"/>
          <p:cNvCxnSpPr/>
          <p:nvPr/>
        </p:nvCxnSpPr>
        <p:spPr>
          <a:xfrm>
            <a:off x="850392" y="18941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3-E10 line 31" descr="sci-ppt:o031"/>
          <p:cNvCxnSpPr/>
          <p:nvPr/>
        </p:nvCxnSpPr>
        <p:spPr>
          <a:xfrm>
            <a:off x="914400" y="189411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3-E10 text 32" descr="sci-ppt:o032"/>
          <p:cNvSpPr txBox="1"/>
          <p:nvPr/>
        </p:nvSpPr>
        <p:spPr>
          <a:xfrm>
            <a:off x="45720" y="1811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sp>
        <p:nvSpPr>
          <p:cNvPr id="35" name="C3-E10 text 33" descr="sci-ppt:o033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interaction strength χ = S Rₘₐₓ</a:t>
            </a:r>
          </a:p>
        </p:txBody>
      </p:sp>
      <p:sp>
        <p:nvSpPr>
          <p:cNvPr id="36" name="C3-E10 text 34" descr="sci-ppt:o034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C(χ) = t_c / [Rₘₐₓ √(ρ/Δp_c)]</a:t>
            </a:r>
          </a:p>
        </p:txBody>
      </p:sp>
      <p:sp>
        <p:nvSpPr>
          <p:cNvPr id="37" name="C3-E10 polygon 35" descr="sci-ppt:o035"/>
          <p:cNvSpPr/>
          <p:nvPr/>
        </p:nvSpPr>
        <p:spPr>
          <a:xfrm>
            <a:off x="914400" y="1424499"/>
            <a:ext cx="5880295" cy="3305087"/>
          </a:xfrm>
          <a:custGeom>
            <a:avLst/>
            <a:gdLst/>
            <a:ahLst/>
            <a:cxnLst/>
            <a:rect l="l" t="t" r="r" b="b"/>
            <a:pathLst>
              <a:path w="5880295" h="3305087">
                <a:moveTo>
                  <a:pt x="0" y="3305087"/>
                </a:moveTo>
                <a:lnTo>
                  <a:pt x="154744" y="3160322"/>
                </a:lnTo>
                <a:lnTo>
                  <a:pt x="309489" y="3023773"/>
                </a:lnTo>
                <a:lnTo>
                  <a:pt x="464233" y="2894153"/>
                </a:lnTo>
                <a:lnTo>
                  <a:pt x="618978" y="2770482"/>
                </a:lnTo>
                <a:lnTo>
                  <a:pt x="773723" y="2651997"/>
                </a:lnTo>
                <a:lnTo>
                  <a:pt x="928467" y="2538084"/>
                </a:lnTo>
                <a:lnTo>
                  <a:pt x="1083212" y="2428243"/>
                </a:lnTo>
                <a:lnTo>
                  <a:pt x="1237956" y="2322062"/>
                </a:lnTo>
                <a:lnTo>
                  <a:pt x="1392701" y="2219193"/>
                </a:lnTo>
                <a:lnTo>
                  <a:pt x="1547446" y="2119340"/>
                </a:lnTo>
                <a:lnTo>
                  <a:pt x="1702190" y="2022249"/>
                </a:lnTo>
                <a:lnTo>
                  <a:pt x="1856935" y="1927702"/>
                </a:lnTo>
                <a:lnTo>
                  <a:pt x="2011679" y="1835506"/>
                </a:lnTo>
                <a:lnTo>
                  <a:pt x="2166424" y="1745492"/>
                </a:lnTo>
                <a:lnTo>
                  <a:pt x="2321169" y="1657511"/>
                </a:lnTo>
                <a:lnTo>
                  <a:pt x="2475913" y="1571431"/>
                </a:lnTo>
                <a:lnTo>
                  <a:pt x="2630658" y="1487132"/>
                </a:lnTo>
                <a:lnTo>
                  <a:pt x="2785403" y="1404507"/>
                </a:lnTo>
                <a:lnTo>
                  <a:pt x="2940147" y="1323460"/>
                </a:lnTo>
                <a:lnTo>
                  <a:pt x="3094892" y="1243903"/>
                </a:lnTo>
                <a:lnTo>
                  <a:pt x="3249636" y="1165756"/>
                </a:lnTo>
                <a:lnTo>
                  <a:pt x="3404381" y="1088947"/>
                </a:lnTo>
                <a:lnTo>
                  <a:pt x="3559126" y="1013408"/>
                </a:lnTo>
                <a:lnTo>
                  <a:pt x="3713870" y="939078"/>
                </a:lnTo>
                <a:lnTo>
                  <a:pt x="3868615" y="865901"/>
                </a:lnTo>
                <a:lnTo>
                  <a:pt x="4023359" y="793824"/>
                </a:lnTo>
                <a:lnTo>
                  <a:pt x="4178104" y="722800"/>
                </a:lnTo>
                <a:lnTo>
                  <a:pt x="4332849" y="652782"/>
                </a:lnTo>
                <a:lnTo>
                  <a:pt x="4487593" y="583729"/>
                </a:lnTo>
                <a:lnTo>
                  <a:pt x="4642338" y="515602"/>
                </a:lnTo>
                <a:lnTo>
                  <a:pt x="4797083" y="448365"/>
                </a:lnTo>
                <a:lnTo>
                  <a:pt x="4951827" y="381984"/>
                </a:lnTo>
                <a:lnTo>
                  <a:pt x="5106572" y="316426"/>
                </a:lnTo>
                <a:lnTo>
                  <a:pt x="5261316" y="251662"/>
                </a:lnTo>
                <a:lnTo>
                  <a:pt x="5416061" y="187663"/>
                </a:lnTo>
                <a:lnTo>
                  <a:pt x="5570806" y="124403"/>
                </a:lnTo>
                <a:lnTo>
                  <a:pt x="5725550" y="61856"/>
                </a:lnTo>
                <a:lnTo>
                  <a:pt x="5880295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10 ellipse 36" descr="sci-ppt:o036"/>
          <p:cNvSpPr/>
          <p:nvPr/>
        </p:nvSpPr>
        <p:spPr>
          <a:xfrm>
            <a:off x="841248" y="4656434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10 text 37" descr="sci-ppt:o037"/>
          <p:cNvSpPr txBox="1"/>
          <p:nvPr/>
        </p:nvSpPr>
        <p:spPr>
          <a:xfrm>
            <a:off x="1051560" y="4318106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C(0) = 0.9147: isolated</a:t>
            </a:r>
          </a:p>
        </p:txBody>
      </p:sp>
      <p:sp>
        <p:nvSpPr>
          <p:cNvPr id="40" name="C3-E10 ellipse 38" descr="sci-ppt:o038"/>
          <p:cNvSpPr/>
          <p:nvPr/>
        </p:nvSpPr>
        <p:spPr>
          <a:xfrm>
            <a:off x="1847087" y="3834029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10 text 39" descr="sci-ppt:o039"/>
          <p:cNvSpPr txBox="1"/>
          <p:nvPr/>
        </p:nvSpPr>
        <p:spPr>
          <a:xfrm>
            <a:off x="2029967" y="3495701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χ = 1: 1.229</a:t>
            </a:r>
          </a:p>
        </p:txBody>
      </p:sp>
      <p:sp>
        <p:nvSpPr>
          <p:cNvPr id="42" name="C3-E10 ellipse 40" descr="sci-ppt:o040"/>
          <p:cNvSpPr/>
          <p:nvPr/>
        </p:nvSpPr>
        <p:spPr>
          <a:xfrm>
            <a:off x="3858768" y="2634848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10 text 41" descr="sci-ppt:o041"/>
          <p:cNvSpPr txBox="1"/>
          <p:nvPr/>
        </p:nvSpPr>
        <p:spPr>
          <a:xfrm>
            <a:off x="4041648" y="2296520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χ = 3: 1.688</a:t>
            </a:r>
          </a:p>
        </p:txBody>
      </p:sp>
      <p:sp>
        <p:nvSpPr>
          <p:cNvPr id="44" name="C3-E10 round_rect 42" descr="sci-ppt:o042"/>
          <p:cNvSpPr/>
          <p:nvPr/>
        </p:nvSpPr>
        <p:spPr>
          <a:xfrm>
            <a:off x="7223760" y="1371600"/>
            <a:ext cx="46177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3-E10 text 43" descr="sci-ppt:o043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Interaction delays the collapse</a:t>
            </a:r>
          </a:p>
        </p:txBody>
      </p:sp>
      <p:sp>
        <p:nvSpPr>
          <p:cNvPr id="46" name="C3-E10 text 44" descr="sci-ppt:o044"/>
          <p:cNvSpPr txBox="1"/>
          <p:nvPr/>
        </p:nvSpPr>
        <p:spPr>
          <a:xfrm>
            <a:off x="7360920" y="1828800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C(χ) = √(3/2) ∫₀¹ √[ x³(1 + χx) / (1 − x³) ] dx</a:t>
            </a:r>
          </a:p>
        </p:txBody>
      </p:sp>
      <p:sp>
        <p:nvSpPr>
          <p:cNvPr id="47" name="C3-E10 text 45" descr="sci-ppt:o045"/>
          <p:cNvSpPr txBox="1"/>
          <p:nvPr/>
        </p:nvSpPr>
        <p:spPr>
          <a:xfrm>
            <a:off x="7360920" y="2560320"/>
            <a:ext cx="43891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C′(χ) = ½√(3/2) ∫₀¹ x^(5/2) / √[(1 − x³)(1 + χx)] dx &gt; 0</a:t>
            </a:r>
          </a:p>
        </p:txBody>
      </p:sp>
      <p:sp>
        <p:nvSpPr>
          <p:cNvPr id="48" name="C3-E10 text 46" descr="sci-ppt:o046"/>
          <p:cNvSpPr txBox="1"/>
          <p:nvPr/>
        </p:nvSpPr>
        <p:spPr>
          <a:xfrm>
            <a:off x="7562088" y="3200400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integrand of C′ is positive, so C always rises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with χ.</a:t>
            </a:r>
          </a:p>
        </p:txBody>
      </p:sp>
      <p:sp>
        <p:nvSpPr>
          <p:cNvPr id="49" name="C3-E10 ellipse 47" descr="sci-ppt:o047"/>
          <p:cNvSpPr/>
          <p:nvPr/>
        </p:nvSpPr>
        <p:spPr>
          <a:xfrm>
            <a:off x="7392924" y="325374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3-E10 text 48" descr="sci-ppt:o048"/>
          <p:cNvSpPr txBox="1"/>
          <p:nvPr/>
        </p:nvSpPr>
        <p:spPr>
          <a:xfrm>
            <a:off x="7562088" y="3663696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At χ = 3 the formal collapse time is 1.85 times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isolated one.</a:t>
            </a:r>
          </a:p>
        </p:txBody>
      </p:sp>
      <p:sp>
        <p:nvSpPr>
          <p:cNvPr id="51" name="C3-E10 ellipse 49" descr="sci-ppt:o049"/>
          <p:cNvSpPr/>
          <p:nvPr/>
        </p:nvSpPr>
        <p:spPr>
          <a:xfrm>
            <a:off x="7392924" y="371703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3-E10 text 50" descr="sci-ppt:o05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Time to collapse t_c = Rₘₐₓ √(ρ/Δp_c) C(χ): shared liquid inertia makes every bubble slower, never faster.</a:t>
            </a:r>
          </a:p>
        </p:txBody>
      </p:sp>
      <p:sp>
        <p:nvSpPr>
          <p:cNvPr id="53" name="C3-E10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Collapse-time quadrature and sign check of Eq. C3-E10.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