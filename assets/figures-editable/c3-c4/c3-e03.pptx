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C3-E03 · Continuity and potential integration</a:t>
            </a:r>
          </a:p>
        </p:txBody>
      </p:sp>
      <p:sp>
        <p:nvSpPr>
          <p:cNvPr id="3" name="C3-E03 round_rect 1" descr="sci-ppt:o001"/>
          <p:cNvSpPr/>
          <p:nvPr/>
        </p:nvSpPr>
        <p:spPr>
          <a:xfrm>
            <a:off x="365760" y="914400"/>
            <a:ext cx="5120640" cy="4846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03 text 2" descr="sci-ppt:o002"/>
          <p:cNvSpPr txBox="1"/>
          <p:nvPr/>
        </p:nvSpPr>
        <p:spPr>
          <a:xfrm>
            <a:off x="475488" y="969264"/>
            <a:ext cx="4901183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A moving sphere is a monopole source</a:t>
            </a:r>
          </a:p>
        </p:txBody>
      </p:sp>
      <p:sp>
        <p:nvSpPr>
          <p:cNvPr id="5" name="C3-E03 ellipse 3" descr="sci-ppt:o003"/>
          <p:cNvSpPr/>
          <p:nvPr/>
        </p:nvSpPr>
        <p:spPr>
          <a:xfrm>
            <a:off x="960120" y="2971800"/>
            <a:ext cx="822960" cy="82296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3-E03 text 4" descr="sci-ppt:o004"/>
          <p:cNvSpPr txBox="1"/>
          <p:nvPr/>
        </p:nvSpPr>
        <p:spPr>
          <a:xfrm>
            <a:off x="868680" y="2514600"/>
            <a:ext cx="1097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bubble j</a:t>
            </a:r>
          </a:p>
        </p:txBody>
      </p:sp>
      <p:cxnSp>
        <p:nvCxnSpPr>
          <p:cNvPr id="7" name="C3-E03 arrow 5" descr="sci-ppt:o005"/>
          <p:cNvCxnSpPr/>
          <p:nvPr/>
        </p:nvCxnSpPr>
        <p:spPr>
          <a:xfrm>
            <a:off x="1874519" y="3383280"/>
            <a:ext cx="365761" cy="0"/>
          </a:xfrm>
          <a:prstGeom prst="line">
            <a:avLst/>
          </a:prstGeom>
          <a:ln w="3175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C3-E03 line 6" descr="sci-ppt:o006"/>
          <p:cNvCxnSpPr/>
          <p:nvPr/>
        </p:nvCxnSpPr>
        <p:spPr>
          <a:xfrm>
            <a:off x="1371600" y="4206240"/>
            <a:ext cx="3017520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9" name="C3-E03 line 7" descr="sci-ppt:o007"/>
          <p:cNvCxnSpPr/>
          <p:nvPr/>
        </p:nvCxnSpPr>
        <p:spPr>
          <a:xfrm>
            <a:off x="1371600" y="4142232"/>
            <a:ext cx="0" cy="128016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10" name="C3-E03 line 8" descr="sci-ppt:o008"/>
          <p:cNvCxnSpPr/>
          <p:nvPr/>
        </p:nvCxnSpPr>
        <p:spPr>
          <a:xfrm>
            <a:off x="4389120" y="4142232"/>
            <a:ext cx="0" cy="128016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sp>
        <p:nvSpPr>
          <p:cNvPr id="11" name="C3-E03 text 9" descr="sci-ppt:o009"/>
          <p:cNvSpPr txBox="1"/>
          <p:nvPr/>
        </p:nvSpPr>
        <p:spPr>
          <a:xfrm>
            <a:off x="1965960" y="4293870"/>
            <a:ext cx="1828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dᵢⱼ</a:t>
            </a:r>
          </a:p>
        </p:txBody>
      </p:sp>
      <p:sp>
        <p:nvSpPr>
          <p:cNvPr id="12" name="C3-E03 ellipse 10" descr="sci-ppt:o010"/>
          <p:cNvSpPr/>
          <p:nvPr/>
        </p:nvSpPr>
        <p:spPr>
          <a:xfrm>
            <a:off x="4306824" y="3300984"/>
            <a:ext cx="164592" cy="164592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3-E03 text 11" descr="sci-ppt:o011"/>
          <p:cNvSpPr txBox="1"/>
          <p:nvPr/>
        </p:nvSpPr>
        <p:spPr>
          <a:xfrm>
            <a:off x="3840480" y="2834640"/>
            <a:ext cx="146304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28BA0"/>
                </a:solidFill>
                <a:latin typeface="Arial"/>
              </a:rPr>
              <a:t>receiving</a:t>
            </a:r>
          </a:p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28BA0"/>
                </a:solidFill>
                <a:latin typeface="Arial"/>
              </a:rPr>
              <a:t>centre i</a:t>
            </a:r>
          </a:p>
        </p:txBody>
      </p:sp>
      <p:sp>
        <p:nvSpPr>
          <p:cNvPr id="14" name="C3-E03 ellipse 12" descr="sci-ppt:o012"/>
          <p:cNvSpPr/>
          <p:nvPr/>
        </p:nvSpPr>
        <p:spPr>
          <a:xfrm>
            <a:off x="594360" y="2606040"/>
            <a:ext cx="1554480" cy="1554480"/>
          </a:xfrm>
          <a:prstGeom prst="ellipse">
            <a:avLst/>
          </a:prstGeom>
          <a:noFill/>
          <a:ln w="15240">
            <a:solidFill>
              <a:srgbClr val="2B6678">
                <a:alpha val="9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3-E03 ellipse 13" descr="sci-ppt:o013"/>
          <p:cNvSpPr/>
          <p:nvPr/>
        </p:nvSpPr>
        <p:spPr>
          <a:xfrm>
            <a:off x="365759" y="2377440"/>
            <a:ext cx="2011680" cy="2011680"/>
          </a:xfrm>
          <a:prstGeom prst="ellipse">
            <a:avLst/>
          </a:prstGeom>
          <a:noFill/>
          <a:ln w="15240">
            <a:solidFill>
              <a:srgbClr val="2B6678">
                <a:alpha val="9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3-E03 text 14" descr="sci-ppt:o014"/>
          <p:cNvSpPr txBox="1"/>
          <p:nvPr/>
        </p:nvSpPr>
        <p:spPr>
          <a:xfrm>
            <a:off x="548640" y="5074920"/>
            <a:ext cx="48463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Flux through every sphere is the same: 4πr²u = 4πR²Ṙ.</a:t>
            </a:r>
          </a:p>
        </p:txBody>
      </p:sp>
      <p:cxnSp>
        <p:nvCxnSpPr>
          <p:cNvPr id="17" name="C3-E03 line 15" descr="sci-ppt:o015"/>
          <p:cNvCxnSpPr/>
          <p:nvPr/>
        </p:nvCxnSpPr>
        <p:spPr>
          <a:xfrm>
            <a:off x="6400800" y="4572000"/>
            <a:ext cx="53035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8" name="C3-E03 line 16" descr="sci-ppt:o016"/>
          <p:cNvCxnSpPr/>
          <p:nvPr/>
        </p:nvCxnSpPr>
        <p:spPr>
          <a:xfrm>
            <a:off x="6400800" y="1371600"/>
            <a:ext cx="0" cy="32004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9" name="C3-E03 line 17" descr="sci-ppt:o017"/>
          <p:cNvCxnSpPr/>
          <p:nvPr/>
        </p:nvCxnSpPr>
        <p:spPr>
          <a:xfrm>
            <a:off x="640080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0" name="C3-E03 line 18" descr="sci-ppt:o018"/>
          <p:cNvCxnSpPr/>
          <p:nvPr/>
        </p:nvCxnSpPr>
        <p:spPr>
          <a:xfrm>
            <a:off x="6400800" y="1371600"/>
            <a:ext cx="0" cy="32004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1" name="C3-E03 text 19" descr="sci-ppt:o019"/>
          <p:cNvSpPr txBox="1"/>
          <p:nvPr/>
        </p:nvSpPr>
        <p:spPr>
          <a:xfrm>
            <a:off x="594360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2" name="C3-E03 line 20" descr="sci-ppt:o020"/>
          <p:cNvCxnSpPr/>
          <p:nvPr/>
        </p:nvCxnSpPr>
        <p:spPr>
          <a:xfrm>
            <a:off x="6990079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3" name="C3-E03 line 21" descr="sci-ppt:o021"/>
          <p:cNvCxnSpPr/>
          <p:nvPr/>
        </p:nvCxnSpPr>
        <p:spPr>
          <a:xfrm>
            <a:off x="6990079" y="1371600"/>
            <a:ext cx="0" cy="32004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4" name="C3-E03 text 22" descr="sci-ppt:o022"/>
          <p:cNvSpPr txBox="1"/>
          <p:nvPr/>
        </p:nvSpPr>
        <p:spPr>
          <a:xfrm>
            <a:off x="6532879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5" name="C3-E03 line 23" descr="sci-ppt:o023"/>
          <p:cNvCxnSpPr/>
          <p:nvPr/>
        </p:nvCxnSpPr>
        <p:spPr>
          <a:xfrm>
            <a:off x="875792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6" name="C3-E03 line 24" descr="sci-ppt:o024"/>
          <p:cNvCxnSpPr/>
          <p:nvPr/>
        </p:nvCxnSpPr>
        <p:spPr>
          <a:xfrm>
            <a:off x="8757920" y="1371600"/>
            <a:ext cx="0" cy="32004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7" name="C3-E03 text 25" descr="sci-ppt:o025"/>
          <p:cNvSpPr txBox="1"/>
          <p:nvPr/>
        </p:nvSpPr>
        <p:spPr>
          <a:xfrm>
            <a:off x="830072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28" name="C3-E03 line 26" descr="sci-ppt:o026"/>
          <p:cNvCxnSpPr/>
          <p:nvPr/>
        </p:nvCxnSpPr>
        <p:spPr>
          <a:xfrm>
            <a:off x="1170432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9" name="C3-E03 line 27" descr="sci-ppt:o027"/>
          <p:cNvCxnSpPr/>
          <p:nvPr/>
        </p:nvCxnSpPr>
        <p:spPr>
          <a:xfrm>
            <a:off x="11704320" y="1371600"/>
            <a:ext cx="0" cy="32004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0" name="C3-E03 text 28" descr="sci-ppt:o028"/>
          <p:cNvSpPr txBox="1"/>
          <p:nvPr/>
        </p:nvSpPr>
        <p:spPr>
          <a:xfrm>
            <a:off x="1124712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31" name="C3-E03 line 29" descr="sci-ppt:o029"/>
          <p:cNvCxnSpPr/>
          <p:nvPr/>
        </p:nvCxnSpPr>
        <p:spPr>
          <a:xfrm>
            <a:off x="6336792" y="428105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2" name="C3-E03 line 30" descr="sci-ppt:o030"/>
          <p:cNvCxnSpPr/>
          <p:nvPr/>
        </p:nvCxnSpPr>
        <p:spPr>
          <a:xfrm>
            <a:off x="6400800" y="4281054"/>
            <a:ext cx="53035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3" name="C3-E03 text 31" descr="sci-ppt:o031"/>
          <p:cNvSpPr txBox="1"/>
          <p:nvPr/>
        </p:nvSpPr>
        <p:spPr>
          <a:xfrm>
            <a:off x="5532120" y="419875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-2.0</a:t>
            </a:r>
          </a:p>
        </p:txBody>
      </p:sp>
      <p:cxnSp>
        <p:nvCxnSpPr>
          <p:cNvPr id="34" name="C3-E03 line 32" descr="sci-ppt:o032"/>
          <p:cNvCxnSpPr/>
          <p:nvPr/>
        </p:nvCxnSpPr>
        <p:spPr>
          <a:xfrm>
            <a:off x="6336792" y="355369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5" name="C3-E03 line 33" descr="sci-ppt:o033"/>
          <p:cNvCxnSpPr/>
          <p:nvPr/>
        </p:nvCxnSpPr>
        <p:spPr>
          <a:xfrm>
            <a:off x="6400800" y="3553690"/>
            <a:ext cx="53035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6" name="C3-E03 text 34" descr="sci-ppt:o034"/>
          <p:cNvSpPr txBox="1"/>
          <p:nvPr/>
        </p:nvSpPr>
        <p:spPr>
          <a:xfrm>
            <a:off x="5532120" y="347139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-1.5</a:t>
            </a:r>
          </a:p>
        </p:txBody>
      </p:sp>
      <p:cxnSp>
        <p:nvCxnSpPr>
          <p:cNvPr id="37" name="C3-E03 line 35" descr="sci-ppt:o035"/>
          <p:cNvCxnSpPr/>
          <p:nvPr/>
        </p:nvCxnSpPr>
        <p:spPr>
          <a:xfrm>
            <a:off x="6336792" y="282632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8" name="C3-E03 line 36" descr="sci-ppt:o036"/>
          <p:cNvCxnSpPr/>
          <p:nvPr/>
        </p:nvCxnSpPr>
        <p:spPr>
          <a:xfrm>
            <a:off x="6400800" y="2826327"/>
            <a:ext cx="53035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9" name="C3-E03 text 37" descr="sci-ppt:o037"/>
          <p:cNvSpPr txBox="1"/>
          <p:nvPr/>
        </p:nvSpPr>
        <p:spPr>
          <a:xfrm>
            <a:off x="5532120" y="274403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-1.0</a:t>
            </a:r>
          </a:p>
        </p:txBody>
      </p:sp>
      <p:cxnSp>
        <p:nvCxnSpPr>
          <p:cNvPr id="40" name="C3-E03 line 38" descr="sci-ppt:o038"/>
          <p:cNvCxnSpPr/>
          <p:nvPr/>
        </p:nvCxnSpPr>
        <p:spPr>
          <a:xfrm>
            <a:off x="6336792" y="2098963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1" name="C3-E03 line 39" descr="sci-ppt:o039"/>
          <p:cNvCxnSpPr/>
          <p:nvPr/>
        </p:nvCxnSpPr>
        <p:spPr>
          <a:xfrm>
            <a:off x="6400800" y="2098963"/>
            <a:ext cx="53035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2" name="C3-E03 text 40" descr="sci-ppt:o040"/>
          <p:cNvSpPr txBox="1"/>
          <p:nvPr/>
        </p:nvSpPr>
        <p:spPr>
          <a:xfrm>
            <a:off x="5532120" y="2016667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-0.5</a:t>
            </a:r>
          </a:p>
        </p:txBody>
      </p:sp>
      <p:cxnSp>
        <p:nvCxnSpPr>
          <p:cNvPr id="43" name="C3-E03 line 41" descr="sci-ppt:o041"/>
          <p:cNvCxnSpPr/>
          <p:nvPr/>
        </p:nvCxnSpPr>
        <p:spPr>
          <a:xfrm>
            <a:off x="63367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4" name="C3-E03 line 42" descr="sci-ppt:o042"/>
          <p:cNvCxnSpPr/>
          <p:nvPr/>
        </p:nvCxnSpPr>
        <p:spPr>
          <a:xfrm>
            <a:off x="6400800" y="1371600"/>
            <a:ext cx="53035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5" name="C3-E03 text 43" descr="sci-ppt:o043"/>
          <p:cNvSpPr txBox="1"/>
          <p:nvPr/>
        </p:nvSpPr>
        <p:spPr>
          <a:xfrm>
            <a:off x="55321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</a:t>
            </a:r>
          </a:p>
        </p:txBody>
      </p:sp>
      <p:sp>
        <p:nvSpPr>
          <p:cNvPr id="46" name="C3-E03 text 44" descr="sci-ppt:o044"/>
          <p:cNvSpPr txBox="1"/>
          <p:nvPr/>
        </p:nvSpPr>
        <p:spPr>
          <a:xfrm>
            <a:off x="6400800" y="4855464"/>
            <a:ext cx="53035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dᵢⱼ / Rⱼ</a:t>
            </a:r>
          </a:p>
        </p:txBody>
      </p:sp>
      <p:sp>
        <p:nvSpPr>
          <p:cNvPr id="47" name="C3-E03 text 45" descr="sci-ppt:o045"/>
          <p:cNvSpPr txBox="1"/>
          <p:nvPr/>
        </p:nvSpPr>
        <p:spPr>
          <a:xfrm>
            <a:off x="5852160" y="1024128"/>
            <a:ext cx="53035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∂ₜφⱼ at dᵢⱼ</a:t>
            </a:r>
          </a:p>
        </p:txBody>
      </p:sp>
      <p:sp>
        <p:nvSpPr>
          <p:cNvPr id="48" name="C3-E03 polygon 46" descr="sci-ppt:o046"/>
          <p:cNvSpPr/>
          <p:nvPr/>
        </p:nvSpPr>
        <p:spPr>
          <a:xfrm>
            <a:off x="6400800" y="1604356"/>
            <a:ext cx="5303520" cy="2094807"/>
          </a:xfrm>
          <a:custGeom>
            <a:avLst/>
            <a:gdLst/>
            <a:ahLst/>
            <a:cxnLst/>
            <a:rect l="l" t="t" r="r" b="b"/>
            <a:pathLst>
              <a:path w="5303520" h="2094807">
                <a:moveTo>
                  <a:pt x="0" y="2094807"/>
                </a:moveTo>
                <a:lnTo>
                  <a:pt x="26650" y="1994095"/>
                </a:lnTo>
                <a:lnTo>
                  <a:pt x="53301" y="1901737"/>
                </a:lnTo>
                <a:lnTo>
                  <a:pt x="79952" y="1816735"/>
                </a:lnTo>
                <a:lnTo>
                  <a:pt x="106603" y="1738244"/>
                </a:lnTo>
                <a:lnTo>
                  <a:pt x="133254" y="1665543"/>
                </a:lnTo>
                <a:lnTo>
                  <a:pt x="159905" y="1598015"/>
                </a:lnTo>
                <a:lnTo>
                  <a:pt x="186555" y="1535126"/>
                </a:lnTo>
                <a:lnTo>
                  <a:pt x="213206" y="1476414"/>
                </a:lnTo>
                <a:lnTo>
                  <a:pt x="239857" y="1421476"/>
                </a:lnTo>
                <a:lnTo>
                  <a:pt x="266508" y="1369960"/>
                </a:lnTo>
                <a:lnTo>
                  <a:pt x="293159" y="1321556"/>
                </a:lnTo>
                <a:lnTo>
                  <a:pt x="319810" y="1275990"/>
                </a:lnTo>
                <a:lnTo>
                  <a:pt x="346461" y="1233019"/>
                </a:lnTo>
                <a:lnTo>
                  <a:pt x="373111" y="1192429"/>
                </a:lnTo>
                <a:lnTo>
                  <a:pt x="399762" y="1154025"/>
                </a:lnTo>
                <a:lnTo>
                  <a:pt x="426413" y="1117638"/>
                </a:lnTo>
                <a:lnTo>
                  <a:pt x="453064" y="1083110"/>
                </a:lnTo>
                <a:lnTo>
                  <a:pt x="479715" y="1050305"/>
                </a:lnTo>
                <a:lnTo>
                  <a:pt x="506366" y="1019095"/>
                </a:lnTo>
                <a:lnTo>
                  <a:pt x="533017" y="989368"/>
                </a:lnTo>
                <a:lnTo>
                  <a:pt x="559667" y="961020"/>
                </a:lnTo>
                <a:lnTo>
                  <a:pt x="586318" y="933957"/>
                </a:lnTo>
                <a:lnTo>
                  <a:pt x="612969" y="908094"/>
                </a:lnTo>
                <a:lnTo>
                  <a:pt x="639620" y="883352"/>
                </a:lnTo>
                <a:lnTo>
                  <a:pt x="666271" y="859661"/>
                </a:lnTo>
                <a:lnTo>
                  <a:pt x="692922" y="836955"/>
                </a:lnTo>
                <a:lnTo>
                  <a:pt x="719573" y="815174"/>
                </a:lnTo>
                <a:lnTo>
                  <a:pt x="746223" y="794262"/>
                </a:lnTo>
                <a:lnTo>
                  <a:pt x="772874" y="774168"/>
                </a:lnTo>
                <a:lnTo>
                  <a:pt x="799525" y="754845"/>
                </a:lnTo>
                <a:lnTo>
                  <a:pt x="826176" y="736250"/>
                </a:lnTo>
                <a:lnTo>
                  <a:pt x="852827" y="718342"/>
                </a:lnTo>
                <a:lnTo>
                  <a:pt x="879478" y="701085"/>
                </a:lnTo>
                <a:lnTo>
                  <a:pt x="906129" y="684442"/>
                </a:lnTo>
                <a:lnTo>
                  <a:pt x="932779" y="668382"/>
                </a:lnTo>
                <a:lnTo>
                  <a:pt x="959430" y="652875"/>
                </a:lnTo>
                <a:lnTo>
                  <a:pt x="986081" y="637892"/>
                </a:lnTo>
                <a:lnTo>
                  <a:pt x="1012732" y="623408"/>
                </a:lnTo>
                <a:lnTo>
                  <a:pt x="1039383" y="609398"/>
                </a:lnTo>
                <a:lnTo>
                  <a:pt x="1066034" y="595839"/>
                </a:lnTo>
                <a:lnTo>
                  <a:pt x="1092685" y="582710"/>
                </a:lnTo>
                <a:lnTo>
                  <a:pt x="1119335" y="569991"/>
                </a:lnTo>
                <a:lnTo>
                  <a:pt x="1145986" y="557662"/>
                </a:lnTo>
                <a:lnTo>
                  <a:pt x="1172637" y="545706"/>
                </a:lnTo>
                <a:lnTo>
                  <a:pt x="1199288" y="534106"/>
                </a:lnTo>
                <a:lnTo>
                  <a:pt x="1225939" y="522847"/>
                </a:lnTo>
                <a:lnTo>
                  <a:pt x="1252590" y="511914"/>
                </a:lnTo>
                <a:lnTo>
                  <a:pt x="1279241" y="501293"/>
                </a:lnTo>
                <a:lnTo>
                  <a:pt x="1305891" y="490970"/>
                </a:lnTo>
                <a:lnTo>
                  <a:pt x="1332542" y="480934"/>
                </a:lnTo>
                <a:lnTo>
                  <a:pt x="1359193" y="471172"/>
                </a:lnTo>
                <a:lnTo>
                  <a:pt x="1385844" y="461674"/>
                </a:lnTo>
                <a:lnTo>
                  <a:pt x="1412495" y="452429"/>
                </a:lnTo>
                <a:lnTo>
                  <a:pt x="1439146" y="443426"/>
                </a:lnTo>
                <a:lnTo>
                  <a:pt x="1465796" y="434657"/>
                </a:lnTo>
                <a:lnTo>
                  <a:pt x="1492447" y="426113"/>
                </a:lnTo>
                <a:lnTo>
                  <a:pt x="1519098" y="417784"/>
                </a:lnTo>
                <a:lnTo>
                  <a:pt x="1545749" y="409664"/>
                </a:lnTo>
                <a:lnTo>
                  <a:pt x="1572400" y="401744"/>
                </a:lnTo>
                <a:lnTo>
                  <a:pt x="1599051" y="394016"/>
                </a:lnTo>
                <a:lnTo>
                  <a:pt x="1625702" y="386475"/>
                </a:lnTo>
                <a:lnTo>
                  <a:pt x="1652352" y="379113"/>
                </a:lnTo>
                <a:lnTo>
                  <a:pt x="1679003" y="371924"/>
                </a:lnTo>
                <a:lnTo>
                  <a:pt x="1705654" y="364902"/>
                </a:lnTo>
                <a:lnTo>
                  <a:pt x="1732305" y="358041"/>
                </a:lnTo>
                <a:lnTo>
                  <a:pt x="1758956" y="351336"/>
                </a:lnTo>
                <a:lnTo>
                  <a:pt x="1785607" y="344781"/>
                </a:lnTo>
                <a:lnTo>
                  <a:pt x="1812258" y="338372"/>
                </a:lnTo>
                <a:lnTo>
                  <a:pt x="1838908" y="332103"/>
                </a:lnTo>
                <a:lnTo>
                  <a:pt x="1865559" y="325971"/>
                </a:lnTo>
                <a:lnTo>
                  <a:pt x="1892210" y="319970"/>
                </a:lnTo>
                <a:lnTo>
                  <a:pt x="1918861" y="314097"/>
                </a:lnTo>
                <a:lnTo>
                  <a:pt x="1945512" y="308348"/>
                </a:lnTo>
                <a:lnTo>
                  <a:pt x="1972163" y="302718"/>
                </a:lnTo>
                <a:lnTo>
                  <a:pt x="1998814" y="297204"/>
                </a:lnTo>
                <a:lnTo>
                  <a:pt x="2025464" y="291802"/>
                </a:lnTo>
                <a:lnTo>
                  <a:pt x="2052115" y="286509"/>
                </a:lnTo>
                <a:lnTo>
                  <a:pt x="2078766" y="281322"/>
                </a:lnTo>
                <a:lnTo>
                  <a:pt x="2105417" y="276238"/>
                </a:lnTo>
                <a:lnTo>
                  <a:pt x="2132068" y="271253"/>
                </a:lnTo>
                <a:lnTo>
                  <a:pt x="2158719" y="266365"/>
                </a:lnTo>
                <a:lnTo>
                  <a:pt x="2185370" y="261571"/>
                </a:lnTo>
                <a:lnTo>
                  <a:pt x="2212020" y="256868"/>
                </a:lnTo>
                <a:lnTo>
                  <a:pt x="2238671" y="252254"/>
                </a:lnTo>
                <a:lnTo>
                  <a:pt x="2265322" y="247726"/>
                </a:lnTo>
                <a:lnTo>
                  <a:pt x="2291973" y="243282"/>
                </a:lnTo>
                <a:lnTo>
                  <a:pt x="2318624" y="238919"/>
                </a:lnTo>
                <a:lnTo>
                  <a:pt x="2345275" y="234635"/>
                </a:lnTo>
                <a:lnTo>
                  <a:pt x="2371926" y="230429"/>
                </a:lnTo>
                <a:lnTo>
                  <a:pt x="2398576" y="226297"/>
                </a:lnTo>
                <a:lnTo>
                  <a:pt x="2425227" y="222239"/>
                </a:lnTo>
                <a:lnTo>
                  <a:pt x="2451878" y="218251"/>
                </a:lnTo>
                <a:lnTo>
                  <a:pt x="2478529" y="214333"/>
                </a:lnTo>
                <a:lnTo>
                  <a:pt x="2505180" y="210483"/>
                </a:lnTo>
                <a:lnTo>
                  <a:pt x="2531831" y="206698"/>
                </a:lnTo>
                <a:lnTo>
                  <a:pt x="2558482" y="202977"/>
                </a:lnTo>
                <a:lnTo>
                  <a:pt x="2585132" y="199319"/>
                </a:lnTo>
                <a:lnTo>
                  <a:pt x="2611783" y="195722"/>
                </a:lnTo>
                <a:lnTo>
                  <a:pt x="2638434" y="192184"/>
                </a:lnTo>
                <a:lnTo>
                  <a:pt x="2665085" y="188704"/>
                </a:lnTo>
                <a:lnTo>
                  <a:pt x="2691736" y="185281"/>
                </a:lnTo>
                <a:lnTo>
                  <a:pt x="2718387" y="181912"/>
                </a:lnTo>
                <a:lnTo>
                  <a:pt x="2745037" y="178598"/>
                </a:lnTo>
                <a:lnTo>
                  <a:pt x="2771688" y="175336"/>
                </a:lnTo>
                <a:lnTo>
                  <a:pt x="2798339" y="172126"/>
                </a:lnTo>
                <a:lnTo>
                  <a:pt x="2824990" y="168965"/>
                </a:lnTo>
                <a:lnTo>
                  <a:pt x="2851641" y="165854"/>
                </a:lnTo>
                <a:lnTo>
                  <a:pt x="2878292" y="162790"/>
                </a:lnTo>
                <a:lnTo>
                  <a:pt x="2904943" y="159773"/>
                </a:lnTo>
                <a:lnTo>
                  <a:pt x="2931593" y="156802"/>
                </a:lnTo>
                <a:lnTo>
                  <a:pt x="2958244" y="153876"/>
                </a:lnTo>
                <a:lnTo>
                  <a:pt x="2984895" y="150993"/>
                </a:lnTo>
                <a:lnTo>
                  <a:pt x="3011546" y="148152"/>
                </a:lnTo>
                <a:lnTo>
                  <a:pt x="3038197" y="145354"/>
                </a:lnTo>
                <a:lnTo>
                  <a:pt x="3064848" y="142596"/>
                </a:lnTo>
                <a:lnTo>
                  <a:pt x="3091499" y="139878"/>
                </a:lnTo>
                <a:lnTo>
                  <a:pt x="3118149" y="137200"/>
                </a:lnTo>
                <a:lnTo>
                  <a:pt x="3144800" y="134559"/>
                </a:lnTo>
                <a:lnTo>
                  <a:pt x="3171451" y="131956"/>
                </a:lnTo>
                <a:lnTo>
                  <a:pt x="3198102" y="129390"/>
                </a:lnTo>
                <a:lnTo>
                  <a:pt x="3224753" y="126859"/>
                </a:lnTo>
                <a:lnTo>
                  <a:pt x="3251404" y="124364"/>
                </a:lnTo>
                <a:lnTo>
                  <a:pt x="3278055" y="121903"/>
                </a:lnTo>
                <a:lnTo>
                  <a:pt x="3304705" y="119476"/>
                </a:lnTo>
                <a:lnTo>
                  <a:pt x="3331356" y="117081"/>
                </a:lnTo>
                <a:lnTo>
                  <a:pt x="3358007" y="114719"/>
                </a:lnTo>
                <a:lnTo>
                  <a:pt x="3384658" y="112389"/>
                </a:lnTo>
                <a:lnTo>
                  <a:pt x="3411309" y="110090"/>
                </a:lnTo>
                <a:lnTo>
                  <a:pt x="3437960" y="107821"/>
                </a:lnTo>
                <a:lnTo>
                  <a:pt x="3464611" y="105582"/>
                </a:lnTo>
                <a:lnTo>
                  <a:pt x="3491261" y="103372"/>
                </a:lnTo>
                <a:lnTo>
                  <a:pt x="3517912" y="101191"/>
                </a:lnTo>
                <a:lnTo>
                  <a:pt x="3544563" y="99038"/>
                </a:lnTo>
                <a:lnTo>
                  <a:pt x="3571214" y="96913"/>
                </a:lnTo>
                <a:lnTo>
                  <a:pt x="3597865" y="94814"/>
                </a:lnTo>
                <a:lnTo>
                  <a:pt x="3624516" y="92743"/>
                </a:lnTo>
                <a:lnTo>
                  <a:pt x="3651167" y="90697"/>
                </a:lnTo>
                <a:lnTo>
                  <a:pt x="3677817" y="88677"/>
                </a:lnTo>
                <a:lnTo>
                  <a:pt x="3704468" y="86682"/>
                </a:lnTo>
                <a:lnTo>
                  <a:pt x="3731119" y="84711"/>
                </a:lnTo>
                <a:lnTo>
                  <a:pt x="3757770" y="82765"/>
                </a:lnTo>
                <a:lnTo>
                  <a:pt x="3784421" y="80842"/>
                </a:lnTo>
                <a:lnTo>
                  <a:pt x="3811072" y="78943"/>
                </a:lnTo>
                <a:lnTo>
                  <a:pt x="3837723" y="77066"/>
                </a:lnTo>
                <a:lnTo>
                  <a:pt x="3864373" y="75212"/>
                </a:lnTo>
                <a:lnTo>
                  <a:pt x="3891024" y="73380"/>
                </a:lnTo>
                <a:lnTo>
                  <a:pt x="3917675" y="71570"/>
                </a:lnTo>
                <a:lnTo>
                  <a:pt x="3944326" y="69781"/>
                </a:lnTo>
                <a:lnTo>
                  <a:pt x="3970977" y="68013"/>
                </a:lnTo>
                <a:lnTo>
                  <a:pt x="3997628" y="66266"/>
                </a:lnTo>
                <a:lnTo>
                  <a:pt x="4024278" y="64538"/>
                </a:lnTo>
                <a:lnTo>
                  <a:pt x="4050929" y="62831"/>
                </a:lnTo>
                <a:lnTo>
                  <a:pt x="4077580" y="61143"/>
                </a:lnTo>
                <a:lnTo>
                  <a:pt x="4104231" y="59474"/>
                </a:lnTo>
                <a:lnTo>
                  <a:pt x="4130882" y="57824"/>
                </a:lnTo>
                <a:lnTo>
                  <a:pt x="4157533" y="56192"/>
                </a:lnTo>
                <a:lnTo>
                  <a:pt x="4184184" y="54579"/>
                </a:lnTo>
                <a:lnTo>
                  <a:pt x="4210834" y="52984"/>
                </a:lnTo>
                <a:lnTo>
                  <a:pt x="4237485" y="51406"/>
                </a:lnTo>
                <a:lnTo>
                  <a:pt x="4264136" y="49846"/>
                </a:lnTo>
                <a:lnTo>
                  <a:pt x="4290787" y="48302"/>
                </a:lnTo>
                <a:lnTo>
                  <a:pt x="4317438" y="46776"/>
                </a:lnTo>
                <a:lnTo>
                  <a:pt x="4344089" y="45266"/>
                </a:lnTo>
                <a:lnTo>
                  <a:pt x="4370740" y="43772"/>
                </a:lnTo>
                <a:lnTo>
                  <a:pt x="4397390" y="42294"/>
                </a:lnTo>
                <a:lnTo>
                  <a:pt x="4424041" y="40832"/>
                </a:lnTo>
                <a:lnTo>
                  <a:pt x="4450692" y="39385"/>
                </a:lnTo>
                <a:lnTo>
                  <a:pt x="4477343" y="37954"/>
                </a:lnTo>
                <a:lnTo>
                  <a:pt x="4503994" y="36537"/>
                </a:lnTo>
                <a:lnTo>
                  <a:pt x="4530645" y="35135"/>
                </a:lnTo>
                <a:lnTo>
                  <a:pt x="4557296" y="33748"/>
                </a:lnTo>
                <a:lnTo>
                  <a:pt x="4583946" y="32375"/>
                </a:lnTo>
                <a:lnTo>
                  <a:pt x="4610597" y="31016"/>
                </a:lnTo>
                <a:lnTo>
                  <a:pt x="4637248" y="29671"/>
                </a:lnTo>
                <a:lnTo>
                  <a:pt x="4663899" y="28340"/>
                </a:lnTo>
                <a:lnTo>
                  <a:pt x="4690550" y="27022"/>
                </a:lnTo>
                <a:lnTo>
                  <a:pt x="4717201" y="25717"/>
                </a:lnTo>
                <a:lnTo>
                  <a:pt x="4743852" y="24426"/>
                </a:lnTo>
                <a:lnTo>
                  <a:pt x="4770502" y="23147"/>
                </a:lnTo>
                <a:lnTo>
                  <a:pt x="4797153" y="21881"/>
                </a:lnTo>
                <a:lnTo>
                  <a:pt x="4823804" y="20627"/>
                </a:lnTo>
                <a:lnTo>
                  <a:pt x="4850455" y="19386"/>
                </a:lnTo>
                <a:lnTo>
                  <a:pt x="4877106" y="18156"/>
                </a:lnTo>
                <a:lnTo>
                  <a:pt x="4903757" y="16939"/>
                </a:lnTo>
                <a:lnTo>
                  <a:pt x="4930408" y="15733"/>
                </a:lnTo>
                <a:lnTo>
                  <a:pt x="4957058" y="14539"/>
                </a:lnTo>
                <a:lnTo>
                  <a:pt x="4983709" y="13357"/>
                </a:lnTo>
                <a:lnTo>
                  <a:pt x="5010360" y="12185"/>
                </a:lnTo>
                <a:lnTo>
                  <a:pt x="5037011" y="11025"/>
                </a:lnTo>
                <a:lnTo>
                  <a:pt x="5063662" y="9876"/>
                </a:lnTo>
                <a:lnTo>
                  <a:pt x="5090313" y="8737"/>
                </a:lnTo>
                <a:lnTo>
                  <a:pt x="5116964" y="7609"/>
                </a:lnTo>
                <a:lnTo>
                  <a:pt x="5143614" y="6492"/>
                </a:lnTo>
                <a:lnTo>
                  <a:pt x="5170265" y="5385"/>
                </a:lnTo>
                <a:lnTo>
                  <a:pt x="5196916" y="4288"/>
                </a:lnTo>
                <a:lnTo>
                  <a:pt x="5223567" y="3201"/>
                </a:lnTo>
                <a:lnTo>
                  <a:pt x="5250218" y="2124"/>
                </a:lnTo>
                <a:lnTo>
                  <a:pt x="5276869" y="1057"/>
                </a:lnTo>
                <a:lnTo>
                  <a:pt x="530352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3-E03 text 47" descr="sci-ppt:o047"/>
          <p:cNvSpPr txBox="1"/>
          <p:nvPr/>
        </p:nvSpPr>
        <p:spPr>
          <a:xfrm>
            <a:off x="7181088" y="2734887"/>
            <a:ext cx="347472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∂ₜφⱼ = −(2RⱼṘⱼ² + Rⱼ²R̈ⱼ) / dᵢⱼ</a:t>
            </a:r>
          </a:p>
        </p:txBody>
      </p:sp>
      <p:sp>
        <p:nvSpPr>
          <p:cNvPr id="50" name="C3-E03 ellipse 48" descr="sci-ppt:o048"/>
          <p:cNvSpPr/>
          <p:nvPr/>
        </p:nvSpPr>
        <p:spPr>
          <a:xfrm>
            <a:off x="8684768" y="1763960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3-E03 text 49" descr="sci-ppt:o049"/>
          <p:cNvSpPr txBox="1"/>
          <p:nvPr/>
        </p:nvSpPr>
        <p:spPr>
          <a:xfrm>
            <a:off x="8867647" y="1425632"/>
            <a:ext cx="1371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falls as 1/d</a:t>
            </a:r>
          </a:p>
        </p:txBody>
      </p:sp>
      <p:sp>
        <p:nvSpPr>
          <p:cNvPr id="52" name="C3-E03 text 50" descr="sci-ppt:o050"/>
          <p:cNvSpPr txBox="1"/>
          <p:nvPr/>
        </p:nvSpPr>
        <p:spPr>
          <a:xfrm>
            <a:off x="6400800" y="5303520"/>
            <a:ext cx="530352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φⱼ = −Rⱼ²Ṙⱼ / rⱼ  (zero at infinity).  Units R = Ṙ = 1, R̈ =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−0.4.</a:t>
            </a:r>
          </a:p>
        </p:txBody>
      </p:sp>
      <p:sp>
        <p:nvSpPr>
          <p:cNvPr id="53" name="C3-E03 text 51" descr="sci-ppt:o051"/>
          <p:cNvSpPr txBox="1"/>
          <p:nvPr/>
        </p:nvSpPr>
        <p:spPr>
          <a:xfrm>
            <a:off x="457200" y="5897880"/>
            <a:ext cx="113385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The neighbour feels a potential that depends on the source history through Rⱼ, Ṙⱼ, R̈ⱼ and falls off with distance.</a:t>
            </a:r>
          </a:p>
        </p:txBody>
      </p:sp>
      <p:sp>
        <p:nvSpPr>
          <p:cNvPr id="54" name="C3-E03 text 52" descr="sci-ppt:o05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Monopole potential of Eq. C3-E03.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