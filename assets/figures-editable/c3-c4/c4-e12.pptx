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2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C4-E12 · Conditional dynamic energy balance</a:t>
            </a:r>
          </a:p>
        </p:txBody>
      </p:sp>
      <p:sp>
        <p:nvSpPr>
          <p:cNvPr id="3" name="C4-E12 rect 1" descr="sci-ppt:o001"/>
          <p:cNvSpPr/>
          <p:nvPr/>
        </p:nvSpPr>
        <p:spPr>
          <a:xfrm>
            <a:off x="5943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12 text 2" descr="sci-ppt:o002"/>
          <p:cNvSpPr txBox="1"/>
          <p:nvPr/>
        </p:nvSpPr>
        <p:spPr>
          <a:xfrm>
            <a:off x="7589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Applied solid power</a:t>
            </a:r>
          </a:p>
        </p:txBody>
      </p:sp>
      <p:cxnSp>
        <p:nvCxnSpPr>
          <p:cNvPr id="5" name="C4-E12 arrow 3" descr="sci-ppt:o003"/>
          <p:cNvCxnSpPr/>
          <p:nvPr/>
        </p:nvCxnSpPr>
        <p:spPr>
          <a:xfrm>
            <a:off x="37947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4-E12 rect 4" descr="sci-ppt:o004"/>
          <p:cNvSpPr/>
          <p:nvPr/>
        </p:nvSpPr>
        <p:spPr>
          <a:xfrm>
            <a:off x="44805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4-E12 text 5" descr="sci-ppt:o005"/>
          <p:cNvSpPr txBox="1"/>
          <p:nvPr/>
        </p:nvSpPr>
        <p:spPr>
          <a:xfrm>
            <a:off x="46451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Kinetic + elastic storage</a:t>
            </a:r>
          </a:p>
        </p:txBody>
      </p:sp>
      <p:cxnSp>
        <p:nvCxnSpPr>
          <p:cNvPr id="8" name="C4-E12 arrow 6" descr="sci-ppt:o006"/>
          <p:cNvCxnSpPr/>
          <p:nvPr/>
        </p:nvCxnSpPr>
        <p:spPr>
          <a:xfrm>
            <a:off x="76809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4-E12 rect 7" descr="sci-ppt:o007"/>
          <p:cNvSpPr/>
          <p:nvPr/>
        </p:nvSpPr>
        <p:spPr>
          <a:xfrm>
            <a:off x="83667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4-E12 text 8" descr="sci-ppt:o008"/>
          <p:cNvSpPr txBox="1"/>
          <p:nvPr/>
        </p:nvSpPr>
        <p:spPr>
          <a:xfrm>
            <a:off x="85313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Interface power + losses</a:t>
            </a:r>
          </a:p>
        </p:txBody>
      </p:sp>
      <p:sp>
        <p:nvSpPr>
          <p:cNvPr id="11" name="C4-E12 text 9" descr="sci-ppt:o009"/>
          <p:cNvSpPr txBox="1"/>
          <p:nvPr/>
        </p:nvSpPr>
        <p:spPr>
          <a:xfrm>
            <a:off x="731520" y="3246120"/>
            <a:ext cx="1078992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Work, storage, fracture consumption and net impulse retain separate meanings.</a:t>
            </a:r>
          </a:p>
        </p:txBody>
      </p:sp>
      <p:cxnSp>
        <p:nvCxnSpPr>
          <p:cNvPr id="12" name="C4-E12 line 10" descr="sci-ppt:o010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3" name="C4-E12 text 11" descr="sci-ppt:o011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P_load → solid power</a:t>
            </a:r>
          </a:p>
        </p:txBody>
      </p:sp>
      <p:sp>
        <p:nvSpPr>
          <p:cNvPr id="14" name="C4-E12 text 12" descr="sci-ppt:o012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K_f — motion storage</a:t>
            </a:r>
          </a:p>
        </p:txBody>
      </p:sp>
      <p:sp>
        <p:nvSpPr>
          <p:cNvPr id="15" name="C4-E12 text 13" descr="sci-ppt:o013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U_f — elastic storage</a:t>
            </a:r>
          </a:p>
        </p:txBody>
      </p:sp>
      <p:sp>
        <p:nvSpPr>
          <p:cNvPr id="16" name="C4-E12 text 14" descr="sci-ppt:o014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L_c, dℓ, v_c → new crack area/time</a:t>
            </a:r>
          </a:p>
        </p:txBody>
      </p:sp>
      <p:sp>
        <p:nvSpPr>
          <p:cNvPr id="17" name="C4-E12 text 15" descr="sci-ppt:o015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Γ(ψ,T_i,v_c) → fracture consumption</a:t>
            </a:r>
          </a:p>
        </p:txBody>
      </p:sp>
      <p:sp>
        <p:nvSpPr>
          <p:cNvPr id="18" name="C4-E12 text 16" descr="sci-ppt:o016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P_other → other losses</a:t>
            </a:r>
          </a:p>
        </p:txBody>
      </p:sp>
      <p:sp>
        <p:nvSpPr>
          <p:cNvPr id="19" name="C4-E12 text 17" descr="sci-ppt:o017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Crack dissipation is counted once.</a:t>
            </a:r>
          </a:p>
        </p:txBody>
      </p:sp>
      <p:sp>
        <p:nvSpPr>
          <p:cNvPr id="20" name="C4-E12 text 18" descr="sci-ppt:o018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