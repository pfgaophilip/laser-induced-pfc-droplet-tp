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C4-E12 · Conditional dynamic energy balance</a:t>
            </a:r>
          </a:p>
        </p:txBody>
      </p:sp>
      <p:sp>
        <p:nvSpPr>
          <p:cNvPr id="3" name="C4-E12 text 1" descr="sci-ppt:o001"/>
          <p:cNvSpPr txBox="1"/>
          <p:nvPr/>
        </p:nvSpPr>
        <p:spPr>
          <a:xfrm>
            <a:off x="457200" y="914400"/>
            <a:ext cx="54864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Where the load power goes (schematic share)</a:t>
            </a:r>
          </a:p>
        </p:txBody>
      </p:sp>
      <p:cxnSp>
        <p:nvCxnSpPr>
          <p:cNvPr id="4" name="C4-E12 line 2" descr="sci-ppt:o002"/>
          <p:cNvCxnSpPr/>
          <p:nvPr/>
        </p:nvCxnSpPr>
        <p:spPr>
          <a:xfrm>
            <a:off x="640080" y="457200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12 line 3" descr="sci-ppt:o003"/>
          <p:cNvCxnSpPr/>
          <p:nvPr/>
        </p:nvCxnSpPr>
        <p:spPr>
          <a:xfrm>
            <a:off x="64008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C4-E12 line 4" descr="sci-ppt:o004"/>
          <p:cNvCxnSpPr/>
          <p:nvPr/>
        </p:nvCxnSpPr>
        <p:spPr>
          <a:xfrm>
            <a:off x="576071" y="45720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C4-E12 line 5" descr="sci-ppt:o005"/>
          <p:cNvCxnSpPr/>
          <p:nvPr/>
        </p:nvCxnSpPr>
        <p:spPr>
          <a:xfrm>
            <a:off x="640080" y="45720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" name="C4-E12 text 6" descr="sci-ppt:o006"/>
          <p:cNvSpPr txBox="1"/>
          <p:nvPr/>
        </p:nvSpPr>
        <p:spPr>
          <a:xfrm>
            <a:off x="-228600" y="4489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9" name="C4-E12 line 7" descr="sci-ppt:o007"/>
          <p:cNvCxnSpPr/>
          <p:nvPr/>
        </p:nvCxnSpPr>
        <p:spPr>
          <a:xfrm>
            <a:off x="576071" y="33147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4-E12 line 8" descr="sci-ppt:o008"/>
          <p:cNvCxnSpPr/>
          <p:nvPr/>
        </p:nvCxnSpPr>
        <p:spPr>
          <a:xfrm>
            <a:off x="640080" y="33147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1" name="C4-E12 text 9" descr="sci-ppt:o009"/>
          <p:cNvSpPr txBox="1"/>
          <p:nvPr/>
        </p:nvSpPr>
        <p:spPr>
          <a:xfrm>
            <a:off x="-228600" y="32324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2" name="C4-E12 line 10" descr="sci-ppt:o010"/>
          <p:cNvCxnSpPr/>
          <p:nvPr/>
        </p:nvCxnSpPr>
        <p:spPr>
          <a:xfrm>
            <a:off x="576071" y="20574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4-E12 line 11" descr="sci-ppt:o011"/>
          <p:cNvCxnSpPr/>
          <p:nvPr/>
        </p:nvCxnSpPr>
        <p:spPr>
          <a:xfrm>
            <a:off x="640080" y="20574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4" name="C4-E12 text 12" descr="sci-ppt:o012"/>
          <p:cNvSpPr txBox="1"/>
          <p:nvPr/>
        </p:nvSpPr>
        <p:spPr>
          <a:xfrm>
            <a:off x="-228600" y="1975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15" name="C4-E12 rect 13" descr="sci-ppt:o013"/>
          <p:cNvSpPr/>
          <p:nvPr/>
        </p:nvSpPr>
        <p:spPr>
          <a:xfrm>
            <a:off x="793699" y="2057400"/>
            <a:ext cx="790041" cy="251460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4-E12 text 14" descr="sci-ppt:o014"/>
          <p:cNvSpPr txBox="1"/>
          <p:nvPr/>
        </p:nvSpPr>
        <p:spPr>
          <a:xfrm>
            <a:off x="565099" y="1783080"/>
            <a:ext cx="1247241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1.00</a:t>
            </a:r>
          </a:p>
        </p:txBody>
      </p:sp>
      <p:sp>
        <p:nvSpPr>
          <p:cNvPr id="17" name="C4-E12 text 15" descr="sci-ppt:o015"/>
          <p:cNvSpPr txBox="1"/>
          <p:nvPr/>
        </p:nvSpPr>
        <p:spPr>
          <a:xfrm>
            <a:off x="519379" y="4645152"/>
            <a:ext cx="1338681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P_load (power in)</a:t>
            </a:r>
          </a:p>
        </p:txBody>
      </p:sp>
      <p:sp>
        <p:nvSpPr>
          <p:cNvPr id="18" name="C4-E12 rect 16" descr="sci-ppt:o016"/>
          <p:cNvSpPr/>
          <p:nvPr/>
        </p:nvSpPr>
        <p:spPr>
          <a:xfrm>
            <a:off x="1890979" y="2057400"/>
            <a:ext cx="790041" cy="1131569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4-E12 text 17" descr="sci-ppt:o017"/>
          <p:cNvSpPr txBox="1"/>
          <p:nvPr/>
        </p:nvSpPr>
        <p:spPr>
          <a:xfrm>
            <a:off x="1662379" y="1783080"/>
            <a:ext cx="1247241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-0.45</a:t>
            </a:r>
          </a:p>
        </p:txBody>
      </p:sp>
      <p:sp>
        <p:nvSpPr>
          <p:cNvPr id="20" name="C4-E12 text 18" descr="sci-ppt:o018"/>
          <p:cNvSpPr txBox="1"/>
          <p:nvPr/>
        </p:nvSpPr>
        <p:spPr>
          <a:xfrm>
            <a:off x="1616659" y="4645152"/>
            <a:ext cx="1338681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dK/dt − dU/dt</a:t>
            </a:r>
          </a:p>
        </p:txBody>
      </p:sp>
      <p:sp>
        <p:nvSpPr>
          <p:cNvPr id="21" name="C4-E12 rect 19" descr="sci-ppt:o019"/>
          <p:cNvSpPr/>
          <p:nvPr/>
        </p:nvSpPr>
        <p:spPr>
          <a:xfrm>
            <a:off x="2988259" y="3188970"/>
            <a:ext cx="790041" cy="100584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4-E12 text 20" descr="sci-ppt:o020"/>
          <p:cNvSpPr txBox="1"/>
          <p:nvPr/>
        </p:nvSpPr>
        <p:spPr>
          <a:xfrm>
            <a:off x="2759659" y="2914650"/>
            <a:ext cx="1247241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-0.40</a:t>
            </a:r>
          </a:p>
        </p:txBody>
      </p:sp>
      <p:sp>
        <p:nvSpPr>
          <p:cNvPr id="23" name="C4-E12 text 21" descr="sci-ppt:o021"/>
          <p:cNvSpPr txBox="1"/>
          <p:nvPr/>
        </p:nvSpPr>
        <p:spPr>
          <a:xfrm>
            <a:off x="2713939" y="4645152"/>
            <a:ext cx="1338681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Γ v_c ℓ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(fracture)</a:t>
            </a:r>
          </a:p>
        </p:txBody>
      </p:sp>
      <p:sp>
        <p:nvSpPr>
          <p:cNvPr id="24" name="C4-E12 rect 22" descr="sci-ppt:o022"/>
          <p:cNvSpPr/>
          <p:nvPr/>
        </p:nvSpPr>
        <p:spPr>
          <a:xfrm>
            <a:off x="4085539" y="4194810"/>
            <a:ext cx="790041" cy="377189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4-E12 text 23" descr="sci-ppt:o023"/>
          <p:cNvSpPr txBox="1"/>
          <p:nvPr/>
        </p:nvSpPr>
        <p:spPr>
          <a:xfrm>
            <a:off x="3856939" y="3920490"/>
            <a:ext cx="1247241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-0.15</a:t>
            </a:r>
          </a:p>
        </p:txBody>
      </p:sp>
      <p:sp>
        <p:nvSpPr>
          <p:cNvPr id="26" name="C4-E12 text 24" descr="sci-ppt:o024"/>
          <p:cNvSpPr txBox="1"/>
          <p:nvPr/>
        </p:nvSpPr>
        <p:spPr>
          <a:xfrm>
            <a:off x="3811219" y="4645152"/>
            <a:ext cx="1338681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Pₒₜₕₑᵣ</a:t>
            </a:r>
          </a:p>
        </p:txBody>
      </p:sp>
      <p:sp>
        <p:nvSpPr>
          <p:cNvPr id="27" name="C4-E12 rect 25" descr="sci-ppt:o025"/>
          <p:cNvSpPr/>
          <p:nvPr/>
        </p:nvSpPr>
        <p:spPr>
          <a:xfrm>
            <a:off x="5182819" y="4572000"/>
            <a:ext cx="790041" cy="18288"/>
          </a:xfrm>
          <a:prstGeom prst="rect">
            <a:avLst/>
          </a:prstGeom>
          <a:solidFill>
            <a:srgbClr val="B4C7D2">
              <a:alpha val="85000"/>
            </a:srgbClr>
          </a:solidFill>
          <a:ln w="1270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4-E12 text 26" descr="sci-ppt:o026"/>
          <p:cNvSpPr txBox="1"/>
          <p:nvPr/>
        </p:nvSpPr>
        <p:spPr>
          <a:xfrm>
            <a:off x="4954219" y="4297680"/>
            <a:ext cx="1247241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0.00</a:t>
            </a:r>
          </a:p>
        </p:txBody>
      </p:sp>
      <p:sp>
        <p:nvSpPr>
          <p:cNvPr id="29" name="C4-E12 text 27" descr="sci-ppt:o027"/>
          <p:cNvSpPr txBox="1"/>
          <p:nvPr/>
        </p:nvSpPr>
        <p:spPr>
          <a:xfrm>
            <a:off x="4908499" y="4645152"/>
            <a:ext cx="1338681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= 0</a:t>
            </a:r>
          </a:p>
        </p:txBody>
      </p:sp>
      <p:sp>
        <p:nvSpPr>
          <p:cNvPr id="30" name="C4-E12 round_rect 28" descr="sci-ppt:o028"/>
          <p:cNvSpPr/>
          <p:nvPr/>
        </p:nvSpPr>
        <p:spPr>
          <a:xfrm>
            <a:off x="6583680" y="914400"/>
            <a:ext cx="5257800" cy="39319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4-E12 text 29" descr="sci-ppt:o029"/>
          <p:cNvSpPr txBox="1"/>
          <p:nvPr/>
        </p:nvSpPr>
        <p:spPr>
          <a:xfrm>
            <a:off x="6693408" y="969264"/>
            <a:ext cx="50383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Dynamic balance on a moving crack</a:t>
            </a:r>
          </a:p>
        </p:txBody>
      </p:sp>
      <p:sp>
        <p:nvSpPr>
          <p:cNvPr id="32" name="C4-E12 text 30" descr="sci-ppt:o030"/>
          <p:cNvSpPr txBox="1"/>
          <p:nvPr/>
        </p:nvSpPr>
        <p:spPr>
          <a:xfrm>
            <a:off x="6720840" y="1417320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P_load = d(K_f + U_f)/dt + ∫ Γ v_c dℓ + Pₒₜₕₑᵣ</a:t>
            </a:r>
          </a:p>
        </p:txBody>
      </p:sp>
      <p:sp>
        <p:nvSpPr>
          <p:cNvPr id="33" name="C4-E12 text 31" descr="sci-ppt:o031"/>
          <p:cNvSpPr txBox="1"/>
          <p:nvPr/>
        </p:nvSpPr>
        <p:spPr>
          <a:xfrm>
            <a:off x="6922007" y="2148840"/>
            <a:ext cx="482803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K_f: motion of the film, U_f: elastic energy.</a:t>
            </a:r>
          </a:p>
        </p:txBody>
      </p:sp>
      <p:sp>
        <p:nvSpPr>
          <p:cNvPr id="34" name="C4-E12 ellipse 32" descr="sci-ppt:o032"/>
          <p:cNvSpPr/>
          <p:nvPr/>
        </p:nvSpPr>
        <p:spPr>
          <a:xfrm>
            <a:off x="6752844" y="22021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4-E12 text 33" descr="sci-ppt:o033"/>
          <p:cNvSpPr txBox="1"/>
          <p:nvPr/>
        </p:nvSpPr>
        <p:spPr>
          <a:xfrm>
            <a:off x="6922007" y="2426208"/>
            <a:ext cx="482803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Γ v_c along the front length is the fracture power.</a:t>
            </a:r>
          </a:p>
        </p:txBody>
      </p:sp>
      <p:sp>
        <p:nvSpPr>
          <p:cNvPr id="36" name="C4-E12 ellipse 34" descr="sci-ppt:o034"/>
          <p:cNvSpPr/>
          <p:nvPr/>
        </p:nvSpPr>
        <p:spPr>
          <a:xfrm>
            <a:off x="6752844" y="247954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4-E12 text 35" descr="sci-ppt:o035"/>
          <p:cNvSpPr txBox="1"/>
          <p:nvPr/>
        </p:nvSpPr>
        <p:spPr>
          <a:xfrm>
            <a:off x="6922007" y="2703576"/>
            <a:ext cx="482803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Pₒₜₕₑᵣ: dissipation or radiation not otherwise counted.</a:t>
            </a:r>
          </a:p>
        </p:txBody>
      </p:sp>
      <p:sp>
        <p:nvSpPr>
          <p:cNvPr id="38" name="C4-E12 ellipse 36" descr="sci-ppt:o036"/>
          <p:cNvSpPr/>
          <p:nvPr/>
        </p:nvSpPr>
        <p:spPr>
          <a:xfrm>
            <a:off x="6752844" y="27569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4-E12 text 37" descr="sci-ppt:o037"/>
          <p:cNvSpPr txBox="1"/>
          <p:nvPr/>
        </p:nvSpPr>
        <p:spPr>
          <a:xfrm>
            <a:off x="6720840" y="3657600"/>
            <a:ext cx="50292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Part of the load work is stored as kinetic energy before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crack moves.</a:t>
            </a:r>
          </a:p>
        </p:txBody>
      </p:sp>
      <p:sp>
        <p:nvSpPr>
          <p:cNvPr id="40" name="C4-E12 text 38" descr="sci-ppt:o038"/>
          <p:cNvSpPr txBox="1"/>
          <p:nvPr/>
        </p:nvSpPr>
        <p:spPr>
          <a:xfrm>
            <a:off x="457200" y="512064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Quasistatic G ≥ Γ is the slow limit of this balance (K_f → 0).</a:t>
            </a:r>
          </a:p>
        </p:txBody>
      </p:sp>
      <p:sp>
        <p:nvSpPr>
          <p:cNvPr id="41" name="C4-E12 text 39" descr="sci-ppt:o039"/>
          <p:cNvSpPr txBox="1"/>
          <p:nvPr/>
        </p:nvSpPr>
        <p:spPr>
          <a:xfrm>
            <a:off x="457200" y="5623560"/>
            <a:ext cx="11247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Conditional: needs a fracture-resistance law Γ(ψ, Tᵢ, v_c) for the actual interface.</a:t>
            </a:r>
          </a:p>
        </p:txBody>
      </p:sp>
      <p:sp>
        <p:nvSpPr>
          <p:cNvPr id="42" name="C4-E12 text 40" descr="sci-ppt:o04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Dynamic energy balance of Eq. C4-E12; shares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