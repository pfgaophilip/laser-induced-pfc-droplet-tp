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0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C4-E04 · Linear-plate energy model</a:t>
            </a:r>
          </a:p>
        </p:txBody>
      </p:sp>
      <p:sp>
        <p:nvSpPr>
          <p:cNvPr id="3" name="C4-E04 rect 1" descr="sci-ppt:o001"/>
          <p:cNvSpPr/>
          <p:nvPr/>
        </p:nvSpPr>
        <p:spPr>
          <a:xfrm>
            <a:off x="1188720" y="1188720"/>
            <a:ext cx="6858000" cy="21488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04 text 2" descr="sci-ppt:o002"/>
          <p:cNvSpPr txBox="1"/>
          <p:nvPr/>
        </p:nvSpPr>
        <p:spPr>
          <a:xfrm>
            <a:off x="2743200" y="1828800"/>
            <a:ext cx="50292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Reference film plane Ω_f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7F0F3"/>
                </a:solidFill>
                <a:latin typeface="Arial"/>
              </a:rPr>
              <a:t>w(x,y,t), variation δw</a:t>
            </a:r>
          </a:p>
        </p:txBody>
      </p:sp>
      <p:cxnSp>
        <p:nvCxnSpPr>
          <p:cNvPr id="5" name="C4-E04 arrow 3" descr="sci-ppt:o003"/>
          <p:cNvCxnSpPr/>
          <p:nvPr/>
        </p:nvCxnSpPr>
        <p:spPr>
          <a:xfrm>
            <a:off x="8092440" y="2240280"/>
            <a:ext cx="11430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04 text 4" descr="sci-ppt:o004"/>
          <p:cNvSpPr txBox="1"/>
          <p:nvPr/>
        </p:nvSpPr>
        <p:spPr>
          <a:xfrm>
            <a:off x="9418320" y="2011680"/>
            <a:ext cx="22860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outward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in-plane normal</a:t>
            </a:r>
          </a:p>
        </p:txBody>
      </p:sp>
      <p:cxnSp>
        <p:nvCxnSpPr>
          <p:cNvPr id="7" name="C4-E04 arrow 5" descr="sci-ppt:o005"/>
          <p:cNvCxnSpPr/>
          <p:nvPr/>
        </p:nvCxnSpPr>
        <p:spPr>
          <a:xfrm>
            <a:off x="1371600" y="3520440"/>
            <a:ext cx="18288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4-E04 text 6" descr="sci-ppt:o006"/>
          <p:cNvSpPr txBox="1"/>
          <p:nvPr/>
        </p:nvSpPr>
        <p:spPr>
          <a:xfrm>
            <a:off x="3383280" y="338328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x</a:t>
            </a:r>
          </a:p>
        </p:txBody>
      </p:sp>
      <p:cxnSp>
        <p:nvCxnSpPr>
          <p:cNvPr id="9" name="C4-E04 arrow 7" descr="sci-ppt:o007"/>
          <p:cNvCxnSpPr/>
          <p:nvPr/>
        </p:nvCxnSpPr>
        <p:spPr>
          <a:xfrm flipV="1">
            <a:off x="1371600" y="2651760"/>
            <a:ext cx="0" cy="8686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4-E04 text 8" descr="sci-ppt:o008"/>
          <p:cNvSpPr txBox="1"/>
          <p:nvPr/>
        </p:nvSpPr>
        <p:spPr>
          <a:xfrm>
            <a:off x="731520" y="283464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y</a:t>
            </a:r>
          </a:p>
        </p:txBody>
      </p:sp>
      <p:sp>
        <p:nvSpPr>
          <p:cNvPr id="11" name="C4-E04 text 9" descr="sci-ppt:o009"/>
          <p:cNvSpPr txBox="1"/>
          <p:nvPr/>
        </p:nvSpPr>
        <p:spPr>
          <a:xfrm>
            <a:off x="1828800" y="731520"/>
            <a:ext cx="9601200" cy="3200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Fixed boundary: δw = 0; ∂ₙδw = 0</a:t>
            </a:r>
          </a:p>
        </p:txBody>
      </p:sp>
      <p:sp>
        <p:nvSpPr>
          <p:cNvPr id="12" name="C4-E04 text 10" descr="sci-ppt:o010"/>
          <p:cNvSpPr txBox="1"/>
          <p:nvPr/>
        </p:nvSpPr>
        <p:spPr>
          <a:xfrm>
            <a:off x="4846320" y="3520440"/>
            <a:ext cx="6400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8EDBD4"/>
                </a:solidFill>
                <a:latin typeface="Arial"/>
              </a:rPr>
              <a:t>Curvature stores U_b; slope stores U_T.</a:t>
            </a:r>
          </a:p>
        </p:txBody>
      </p:sp>
      <p:cxnSp>
        <p:nvCxnSpPr>
          <p:cNvPr id="13" name="C4-E04 line 11" descr="sci-ppt:o011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4" name="C4-E04 text 12" descr="sci-ppt:o012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Ω_f, dA — film plane</a:t>
            </a:r>
          </a:p>
        </p:txBody>
      </p:sp>
      <p:sp>
        <p:nvSpPr>
          <p:cNvPr id="15" name="C4-E04 text 13" descr="sci-ppt:o013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x, y — in-plane directions</a:t>
            </a:r>
          </a:p>
        </p:txBody>
      </p:sp>
      <p:sp>
        <p:nvSpPr>
          <p:cNvPr id="16" name="C4-E04 text 14" descr="sci-ppt:o014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w, ẇ, t — film motion</a:t>
            </a:r>
          </a:p>
        </p:txBody>
      </p:sp>
      <p:sp>
        <p:nvSpPr>
          <p:cNvPr id="17" name="C4-E04 text 15" descr="sci-ppt:o015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w_xx, w_yy, w_xy — curvature</a:t>
            </a:r>
          </a:p>
        </p:txBody>
      </p:sp>
      <p:sp>
        <p:nvSpPr>
          <p:cNvPr id="18" name="C4-E04 text 16" descr="sci-ppt:o016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D_f, ν_f — bending</a:t>
            </a:r>
          </a:p>
        </p:txBody>
      </p:sp>
      <p:sp>
        <p:nvSpPr>
          <p:cNvPr id="19" name="C4-E04 text 17" descr="sci-ppt:o017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m_A → K_f</a:t>
            </a:r>
          </a:p>
        </p:txBody>
      </p:sp>
      <p:sp>
        <p:nvSpPr>
          <p:cNvPr id="20" name="C4-E04 text 18" descr="sci-ppt:o018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T₀ → U_T</a:t>
            </a:r>
          </a:p>
        </p:txBody>
      </p:sp>
      <p:sp>
        <p:nvSpPr>
          <p:cNvPr id="21" name="C4-E04 text 19" descr="sci-ppt:o019"/>
          <p:cNvSpPr txBox="1"/>
          <p:nvPr/>
        </p:nvSpPr>
        <p:spPr>
          <a:xfrm>
            <a:off x="621792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U_b — shape energy</a:t>
            </a:r>
          </a:p>
        </p:txBody>
      </p:sp>
      <p:sp>
        <p:nvSpPr>
          <p:cNvPr id="22" name="C4-E04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Clamped edge: displacement and normal slope fixed.</a:t>
            </a:r>
          </a:p>
        </p:txBody>
      </p:sp>
      <p:sp>
        <p:nvSpPr>
          <p:cNvPr id="23" name="C4-E04 text 21" descr="sci-ppt:o021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