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C4-E04 · Linear-plate energy model</a:t>
            </a:r>
          </a:p>
        </p:txBody>
      </p:sp>
      <p:sp>
        <p:nvSpPr>
          <p:cNvPr id="3" name="C4-E0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energies of a vibrating film (shaded: where each is evaluated)</a:t>
            </a:r>
          </a:p>
        </p:txBody>
      </p:sp>
      <p:sp>
        <p:nvSpPr>
          <p:cNvPr id="4" name="C4-E04 round_rect 2" descr="sci-ppt:o002"/>
          <p:cNvSpPr/>
          <p:nvPr/>
        </p:nvSpPr>
        <p:spPr>
          <a:xfrm>
            <a:off x="45720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4-E04 text 3" descr="sci-ppt:o003"/>
          <p:cNvSpPr txBox="1"/>
          <p:nvPr/>
        </p:nvSpPr>
        <p:spPr>
          <a:xfrm>
            <a:off x="56692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Kinetic K_f</a:t>
            </a:r>
          </a:p>
        </p:txBody>
      </p:sp>
      <p:cxnSp>
        <p:nvCxnSpPr>
          <p:cNvPr id="6" name="C4-E04 arrow 4" descr="sci-ppt:o004"/>
          <p:cNvCxnSpPr/>
          <p:nvPr/>
        </p:nvCxnSpPr>
        <p:spPr>
          <a:xfrm flipV="1">
            <a:off x="777240" y="2854741"/>
            <a:ext cx="0" cy="162779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4-E04 arrow 5" descr="sci-ppt:o005"/>
          <p:cNvCxnSpPr/>
          <p:nvPr/>
        </p:nvCxnSpPr>
        <p:spPr>
          <a:xfrm flipV="1">
            <a:off x="1234440" y="2561424"/>
            <a:ext cx="0" cy="456096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4-E04 arrow 6" descr="sci-ppt:o006"/>
          <p:cNvCxnSpPr/>
          <p:nvPr/>
        </p:nvCxnSpPr>
        <p:spPr>
          <a:xfrm flipV="1">
            <a:off x="1691640" y="2358443"/>
            <a:ext cx="0" cy="659077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4-E04 arrow 7" descr="sci-ppt:o007"/>
          <p:cNvCxnSpPr/>
          <p:nvPr/>
        </p:nvCxnSpPr>
        <p:spPr>
          <a:xfrm flipV="1">
            <a:off x="2148840" y="2286000"/>
            <a:ext cx="0" cy="731520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4-E04 arrow 8" descr="sci-ppt:o008"/>
          <p:cNvCxnSpPr/>
          <p:nvPr/>
        </p:nvCxnSpPr>
        <p:spPr>
          <a:xfrm flipV="1">
            <a:off x="2606040" y="2358443"/>
            <a:ext cx="0" cy="659077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1" name="C4-E04 arrow 9" descr="sci-ppt:o009"/>
          <p:cNvCxnSpPr/>
          <p:nvPr/>
        </p:nvCxnSpPr>
        <p:spPr>
          <a:xfrm flipV="1">
            <a:off x="3063240" y="2561424"/>
            <a:ext cx="0" cy="456096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4-E04 arrow 10" descr="sci-ppt:o010"/>
          <p:cNvCxnSpPr/>
          <p:nvPr/>
        </p:nvCxnSpPr>
        <p:spPr>
          <a:xfrm flipV="1">
            <a:off x="3520440" y="2854741"/>
            <a:ext cx="0" cy="162779"/>
          </a:xfrm>
          <a:prstGeom prst="line">
            <a:avLst/>
          </a:prstGeom>
          <a:ln w="3810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4-E04 line 11" descr="sci-ppt:o011"/>
          <p:cNvCxnSpPr/>
          <p:nvPr/>
        </p:nvCxnSpPr>
        <p:spPr>
          <a:xfrm>
            <a:off x="731520" y="3017520"/>
            <a:ext cx="3017519" cy="0"/>
          </a:xfrm>
          <a:prstGeom prst="line">
            <a:avLst/>
          </a:prstGeom>
          <a:ln w="17780">
            <a:solidFill>
              <a:srgbClr val="B4C7D2"/>
            </a:solidFill>
          </a:ln>
          <a:effectLst/>
        </p:spPr>
      </p:cxnSp>
      <p:sp>
        <p:nvSpPr>
          <p:cNvPr id="14" name="C4-E04 text 12" descr="sci-ppt:o012"/>
          <p:cNvSpPr txBox="1"/>
          <p:nvPr/>
        </p:nvSpPr>
        <p:spPr>
          <a:xfrm>
            <a:off x="548640" y="3886200"/>
            <a:ext cx="3429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m_A/2 ∫ ẇ² dA</a:t>
            </a:r>
          </a:p>
        </p:txBody>
      </p:sp>
      <p:sp>
        <p:nvSpPr>
          <p:cNvPr id="15" name="C4-E04 text 13" descr="sci-ppt:o013"/>
          <p:cNvSpPr txBox="1"/>
          <p:nvPr/>
        </p:nvSpPr>
        <p:spPr>
          <a:xfrm>
            <a:off x="54864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velocity of every patch</a:t>
            </a:r>
          </a:p>
        </p:txBody>
      </p:sp>
      <p:sp>
        <p:nvSpPr>
          <p:cNvPr id="16" name="C4-E04 round_rect 14" descr="sci-ppt:o014"/>
          <p:cNvSpPr/>
          <p:nvPr/>
        </p:nvSpPr>
        <p:spPr>
          <a:xfrm>
            <a:off x="425196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04 text 15" descr="sci-ppt:o015"/>
          <p:cNvSpPr txBox="1"/>
          <p:nvPr/>
        </p:nvSpPr>
        <p:spPr>
          <a:xfrm>
            <a:off x="436168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Bending U_b</a:t>
            </a:r>
          </a:p>
        </p:txBody>
      </p:sp>
      <p:sp>
        <p:nvSpPr>
          <p:cNvPr id="18" name="C4-E04 polygon 16" descr="sci-ppt:o016"/>
          <p:cNvSpPr/>
          <p:nvPr/>
        </p:nvSpPr>
        <p:spPr>
          <a:xfrm>
            <a:off x="4526280" y="2931815"/>
            <a:ext cx="3017520" cy="771146"/>
          </a:xfrm>
          <a:custGeom>
            <a:avLst/>
            <a:gdLst/>
            <a:ahLst/>
            <a:cxnLst/>
            <a:rect l="l" t="t" r="r" b="b"/>
            <a:pathLst>
              <a:path w="3017520" h="771146">
                <a:moveTo>
                  <a:pt x="0" y="85705"/>
                </a:moveTo>
                <a:lnTo>
                  <a:pt x="25357" y="85227"/>
                </a:lnTo>
                <a:lnTo>
                  <a:pt x="50714" y="83805"/>
                </a:lnTo>
                <a:lnTo>
                  <a:pt x="76071" y="81465"/>
                </a:lnTo>
                <a:lnTo>
                  <a:pt x="101429" y="78255"/>
                </a:lnTo>
                <a:lnTo>
                  <a:pt x="126786" y="74236"/>
                </a:lnTo>
                <a:lnTo>
                  <a:pt x="152143" y="69490"/>
                </a:lnTo>
                <a:lnTo>
                  <a:pt x="177501" y="64113"/>
                </a:lnTo>
                <a:lnTo>
                  <a:pt x="202858" y="58215"/>
                </a:lnTo>
                <a:lnTo>
                  <a:pt x="228215" y="51921"/>
                </a:lnTo>
                <a:lnTo>
                  <a:pt x="253573" y="45367"/>
                </a:lnTo>
                <a:lnTo>
                  <a:pt x="278930" y="38697"/>
                </a:lnTo>
                <a:lnTo>
                  <a:pt x="304287" y="32067"/>
                </a:lnTo>
                <a:lnTo>
                  <a:pt x="329645" y="25635"/>
                </a:lnTo>
                <a:lnTo>
                  <a:pt x="355002" y="19568"/>
                </a:lnTo>
                <a:lnTo>
                  <a:pt x="380359" y="14030"/>
                </a:lnTo>
                <a:lnTo>
                  <a:pt x="405716" y="9189"/>
                </a:lnTo>
                <a:lnTo>
                  <a:pt x="431074" y="5209"/>
                </a:lnTo>
                <a:lnTo>
                  <a:pt x="456431" y="2249"/>
                </a:lnTo>
                <a:lnTo>
                  <a:pt x="481788" y="465"/>
                </a:lnTo>
                <a:lnTo>
                  <a:pt x="507146" y="0"/>
                </a:lnTo>
                <a:lnTo>
                  <a:pt x="532503" y="989"/>
                </a:lnTo>
                <a:lnTo>
                  <a:pt x="557860" y="3556"/>
                </a:lnTo>
                <a:lnTo>
                  <a:pt x="583218" y="7808"/>
                </a:lnTo>
                <a:lnTo>
                  <a:pt x="608575" y="13839"/>
                </a:lnTo>
                <a:lnTo>
                  <a:pt x="633932" y="21724"/>
                </a:lnTo>
                <a:lnTo>
                  <a:pt x="659290" y="31521"/>
                </a:lnTo>
                <a:lnTo>
                  <a:pt x="684647" y="43269"/>
                </a:lnTo>
                <a:lnTo>
                  <a:pt x="710004" y="56985"/>
                </a:lnTo>
                <a:lnTo>
                  <a:pt x="735362" y="72667"/>
                </a:lnTo>
                <a:lnTo>
                  <a:pt x="760719" y="90290"/>
                </a:lnTo>
                <a:lnTo>
                  <a:pt x="786076" y="109811"/>
                </a:lnTo>
                <a:lnTo>
                  <a:pt x="811433" y="131162"/>
                </a:lnTo>
                <a:lnTo>
                  <a:pt x="836791" y="154256"/>
                </a:lnTo>
                <a:lnTo>
                  <a:pt x="862148" y="178986"/>
                </a:lnTo>
                <a:lnTo>
                  <a:pt x="887505" y="205224"/>
                </a:lnTo>
                <a:lnTo>
                  <a:pt x="912863" y="232824"/>
                </a:lnTo>
                <a:lnTo>
                  <a:pt x="938220" y="261624"/>
                </a:lnTo>
                <a:lnTo>
                  <a:pt x="963577" y="291444"/>
                </a:lnTo>
                <a:lnTo>
                  <a:pt x="988935" y="322090"/>
                </a:lnTo>
                <a:lnTo>
                  <a:pt x="1014292" y="353358"/>
                </a:lnTo>
                <a:lnTo>
                  <a:pt x="1039649" y="385029"/>
                </a:lnTo>
                <a:lnTo>
                  <a:pt x="1065007" y="416878"/>
                </a:lnTo>
                <a:lnTo>
                  <a:pt x="1090364" y="448675"/>
                </a:lnTo>
                <a:lnTo>
                  <a:pt x="1115721" y="480182"/>
                </a:lnTo>
                <a:lnTo>
                  <a:pt x="1141078" y="511162"/>
                </a:lnTo>
                <a:lnTo>
                  <a:pt x="1166436" y="541377"/>
                </a:lnTo>
                <a:lnTo>
                  <a:pt x="1191793" y="570593"/>
                </a:lnTo>
                <a:lnTo>
                  <a:pt x="1217150" y="598580"/>
                </a:lnTo>
                <a:lnTo>
                  <a:pt x="1242508" y="625116"/>
                </a:lnTo>
                <a:lnTo>
                  <a:pt x="1267865" y="649987"/>
                </a:lnTo>
                <a:lnTo>
                  <a:pt x="1293222" y="672994"/>
                </a:lnTo>
                <a:lnTo>
                  <a:pt x="1318580" y="693949"/>
                </a:lnTo>
                <a:lnTo>
                  <a:pt x="1343937" y="712680"/>
                </a:lnTo>
                <a:lnTo>
                  <a:pt x="1369294" y="729034"/>
                </a:lnTo>
                <a:lnTo>
                  <a:pt x="1394652" y="742875"/>
                </a:lnTo>
                <a:lnTo>
                  <a:pt x="1420009" y="754088"/>
                </a:lnTo>
                <a:lnTo>
                  <a:pt x="1445366" y="762581"/>
                </a:lnTo>
                <a:lnTo>
                  <a:pt x="1470724" y="768283"/>
                </a:lnTo>
                <a:lnTo>
                  <a:pt x="1496081" y="771146"/>
                </a:lnTo>
                <a:lnTo>
                  <a:pt x="1521438" y="771146"/>
                </a:lnTo>
                <a:lnTo>
                  <a:pt x="1546795" y="768283"/>
                </a:lnTo>
                <a:lnTo>
                  <a:pt x="1572153" y="762581"/>
                </a:lnTo>
                <a:lnTo>
                  <a:pt x="1597510" y="754088"/>
                </a:lnTo>
                <a:lnTo>
                  <a:pt x="1622867" y="742875"/>
                </a:lnTo>
                <a:lnTo>
                  <a:pt x="1648225" y="729034"/>
                </a:lnTo>
                <a:lnTo>
                  <a:pt x="1673582" y="712680"/>
                </a:lnTo>
                <a:lnTo>
                  <a:pt x="1698939" y="693949"/>
                </a:lnTo>
                <a:lnTo>
                  <a:pt x="1724297" y="672994"/>
                </a:lnTo>
                <a:lnTo>
                  <a:pt x="1749654" y="649987"/>
                </a:lnTo>
                <a:lnTo>
                  <a:pt x="1775011" y="625116"/>
                </a:lnTo>
                <a:lnTo>
                  <a:pt x="1800369" y="598580"/>
                </a:lnTo>
                <a:lnTo>
                  <a:pt x="1825726" y="570593"/>
                </a:lnTo>
                <a:lnTo>
                  <a:pt x="1851083" y="541377"/>
                </a:lnTo>
                <a:lnTo>
                  <a:pt x="1876441" y="511162"/>
                </a:lnTo>
                <a:lnTo>
                  <a:pt x="1901798" y="480182"/>
                </a:lnTo>
                <a:lnTo>
                  <a:pt x="1927155" y="448675"/>
                </a:lnTo>
                <a:lnTo>
                  <a:pt x="1952512" y="416878"/>
                </a:lnTo>
                <a:lnTo>
                  <a:pt x="1977870" y="385029"/>
                </a:lnTo>
                <a:lnTo>
                  <a:pt x="2003227" y="353358"/>
                </a:lnTo>
                <a:lnTo>
                  <a:pt x="2028584" y="322090"/>
                </a:lnTo>
                <a:lnTo>
                  <a:pt x="2053942" y="291444"/>
                </a:lnTo>
                <a:lnTo>
                  <a:pt x="2079299" y="261624"/>
                </a:lnTo>
                <a:lnTo>
                  <a:pt x="2104656" y="232824"/>
                </a:lnTo>
                <a:lnTo>
                  <a:pt x="2130014" y="205224"/>
                </a:lnTo>
                <a:lnTo>
                  <a:pt x="2155371" y="178986"/>
                </a:lnTo>
                <a:lnTo>
                  <a:pt x="2180728" y="154256"/>
                </a:lnTo>
                <a:lnTo>
                  <a:pt x="2206086" y="131162"/>
                </a:lnTo>
                <a:lnTo>
                  <a:pt x="2231443" y="109811"/>
                </a:lnTo>
                <a:lnTo>
                  <a:pt x="2256800" y="90290"/>
                </a:lnTo>
                <a:lnTo>
                  <a:pt x="2282157" y="72667"/>
                </a:lnTo>
                <a:lnTo>
                  <a:pt x="2307515" y="56985"/>
                </a:lnTo>
                <a:lnTo>
                  <a:pt x="2332872" y="43269"/>
                </a:lnTo>
                <a:lnTo>
                  <a:pt x="2358229" y="31521"/>
                </a:lnTo>
                <a:lnTo>
                  <a:pt x="2383587" y="21724"/>
                </a:lnTo>
                <a:lnTo>
                  <a:pt x="2408944" y="13839"/>
                </a:lnTo>
                <a:lnTo>
                  <a:pt x="2434301" y="7808"/>
                </a:lnTo>
                <a:lnTo>
                  <a:pt x="2459659" y="3556"/>
                </a:lnTo>
                <a:lnTo>
                  <a:pt x="2485016" y="989"/>
                </a:lnTo>
                <a:lnTo>
                  <a:pt x="2510373" y="0"/>
                </a:lnTo>
                <a:lnTo>
                  <a:pt x="2535731" y="465"/>
                </a:lnTo>
                <a:lnTo>
                  <a:pt x="2561088" y="2249"/>
                </a:lnTo>
                <a:lnTo>
                  <a:pt x="2586445" y="5209"/>
                </a:lnTo>
                <a:lnTo>
                  <a:pt x="2611803" y="9189"/>
                </a:lnTo>
                <a:lnTo>
                  <a:pt x="2637160" y="14030"/>
                </a:lnTo>
                <a:lnTo>
                  <a:pt x="2662517" y="19568"/>
                </a:lnTo>
                <a:lnTo>
                  <a:pt x="2687874" y="25635"/>
                </a:lnTo>
                <a:lnTo>
                  <a:pt x="2713232" y="32067"/>
                </a:lnTo>
                <a:lnTo>
                  <a:pt x="2738589" y="38697"/>
                </a:lnTo>
                <a:lnTo>
                  <a:pt x="2763946" y="45367"/>
                </a:lnTo>
                <a:lnTo>
                  <a:pt x="2789304" y="51921"/>
                </a:lnTo>
                <a:lnTo>
                  <a:pt x="2814661" y="58215"/>
                </a:lnTo>
                <a:lnTo>
                  <a:pt x="2840018" y="64113"/>
                </a:lnTo>
                <a:lnTo>
                  <a:pt x="2865376" y="69490"/>
                </a:lnTo>
                <a:lnTo>
                  <a:pt x="2890733" y="74236"/>
                </a:lnTo>
                <a:lnTo>
                  <a:pt x="2916090" y="78255"/>
                </a:lnTo>
                <a:lnTo>
                  <a:pt x="2941448" y="81465"/>
                </a:lnTo>
                <a:lnTo>
                  <a:pt x="2966805" y="83805"/>
                </a:lnTo>
                <a:lnTo>
                  <a:pt x="2992162" y="85227"/>
                </a:lnTo>
                <a:lnTo>
                  <a:pt x="3017520" y="85705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04 text 17" descr="sci-ppt:o017"/>
          <p:cNvSpPr txBox="1"/>
          <p:nvPr/>
        </p:nvSpPr>
        <p:spPr>
          <a:xfrm>
            <a:off x="4617720" y="1783080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sharp bends cost most</a:t>
            </a:r>
          </a:p>
        </p:txBody>
      </p:sp>
      <p:sp>
        <p:nvSpPr>
          <p:cNvPr id="20" name="C4-E04 text 18" descr="sci-ppt:o018"/>
          <p:cNvSpPr txBox="1"/>
          <p:nvPr/>
        </p:nvSpPr>
        <p:spPr>
          <a:xfrm>
            <a:off x="4343400" y="3886200"/>
            <a:ext cx="34290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D_f/2 ∫ [wₓₓ² + w_yy² + 2ν wₓₓ w_yy + 2(1−ν)</a:t>
            </a:r>
          </a:p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w_xy²] dA</a:t>
            </a:r>
          </a:p>
        </p:txBody>
      </p:sp>
      <p:sp>
        <p:nvSpPr>
          <p:cNvPr id="21" name="C4-E04 text 19" descr="sci-ppt:o019"/>
          <p:cNvSpPr txBox="1"/>
          <p:nvPr/>
        </p:nvSpPr>
        <p:spPr>
          <a:xfrm>
            <a:off x="434340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curvature of the surface</a:t>
            </a:r>
          </a:p>
        </p:txBody>
      </p:sp>
      <p:sp>
        <p:nvSpPr>
          <p:cNvPr id="22" name="C4-E04 round_rect 20" descr="sci-ppt:o020"/>
          <p:cNvSpPr/>
          <p:nvPr/>
        </p:nvSpPr>
        <p:spPr>
          <a:xfrm>
            <a:off x="8046720" y="1371600"/>
            <a:ext cx="36118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04 text 21" descr="sci-ppt:o021"/>
          <p:cNvSpPr txBox="1"/>
          <p:nvPr/>
        </p:nvSpPr>
        <p:spPr>
          <a:xfrm>
            <a:off x="8156448" y="1426464"/>
            <a:ext cx="3392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Tension U_T</a:t>
            </a:r>
          </a:p>
        </p:txBody>
      </p:sp>
      <p:sp>
        <p:nvSpPr>
          <p:cNvPr id="24" name="C4-E04 polygon 22" descr="sci-ppt:o022"/>
          <p:cNvSpPr/>
          <p:nvPr/>
        </p:nvSpPr>
        <p:spPr>
          <a:xfrm>
            <a:off x="8321040" y="2286063"/>
            <a:ext cx="3017520" cy="731457"/>
          </a:xfrm>
          <a:custGeom>
            <a:avLst/>
            <a:gdLst/>
            <a:ahLst/>
            <a:cxnLst/>
            <a:rect l="l" t="t" r="r" b="b"/>
            <a:pathLst>
              <a:path w="3017520" h="731457">
                <a:moveTo>
                  <a:pt x="0" y="731457"/>
                </a:moveTo>
                <a:lnTo>
                  <a:pt x="25357" y="712147"/>
                </a:lnTo>
                <a:lnTo>
                  <a:pt x="50714" y="692850"/>
                </a:lnTo>
                <a:lnTo>
                  <a:pt x="76071" y="673581"/>
                </a:lnTo>
                <a:lnTo>
                  <a:pt x="101429" y="654352"/>
                </a:lnTo>
                <a:lnTo>
                  <a:pt x="126786" y="635176"/>
                </a:lnTo>
                <a:lnTo>
                  <a:pt x="152143" y="616068"/>
                </a:lnTo>
                <a:lnTo>
                  <a:pt x="177501" y="597040"/>
                </a:lnTo>
                <a:lnTo>
                  <a:pt x="202858" y="578106"/>
                </a:lnTo>
                <a:lnTo>
                  <a:pt x="228215" y="559278"/>
                </a:lnTo>
                <a:lnTo>
                  <a:pt x="253573" y="540571"/>
                </a:lnTo>
                <a:lnTo>
                  <a:pt x="278930" y="521997"/>
                </a:lnTo>
                <a:lnTo>
                  <a:pt x="304287" y="503568"/>
                </a:lnTo>
                <a:lnTo>
                  <a:pt x="329645" y="485299"/>
                </a:lnTo>
                <a:lnTo>
                  <a:pt x="355002" y="467201"/>
                </a:lnTo>
                <a:lnTo>
                  <a:pt x="380359" y="449287"/>
                </a:lnTo>
                <a:lnTo>
                  <a:pt x="405716" y="431570"/>
                </a:lnTo>
                <a:lnTo>
                  <a:pt x="431074" y="414062"/>
                </a:lnTo>
                <a:lnTo>
                  <a:pt x="456431" y="396775"/>
                </a:lnTo>
                <a:lnTo>
                  <a:pt x="481788" y="379721"/>
                </a:lnTo>
                <a:lnTo>
                  <a:pt x="507146" y="362913"/>
                </a:lnTo>
                <a:lnTo>
                  <a:pt x="532503" y="346361"/>
                </a:lnTo>
                <a:lnTo>
                  <a:pt x="557860" y="330077"/>
                </a:lnTo>
                <a:lnTo>
                  <a:pt x="583218" y="314074"/>
                </a:lnTo>
                <a:lnTo>
                  <a:pt x="608575" y="298361"/>
                </a:lnTo>
                <a:lnTo>
                  <a:pt x="633932" y="282950"/>
                </a:lnTo>
                <a:lnTo>
                  <a:pt x="659290" y="267852"/>
                </a:lnTo>
                <a:lnTo>
                  <a:pt x="684647" y="253077"/>
                </a:lnTo>
                <a:lnTo>
                  <a:pt x="710004" y="238635"/>
                </a:lnTo>
                <a:lnTo>
                  <a:pt x="735362" y="224536"/>
                </a:lnTo>
                <a:lnTo>
                  <a:pt x="760719" y="210791"/>
                </a:lnTo>
                <a:lnTo>
                  <a:pt x="786076" y="197409"/>
                </a:lnTo>
                <a:lnTo>
                  <a:pt x="811433" y="184399"/>
                </a:lnTo>
                <a:lnTo>
                  <a:pt x="836791" y="171770"/>
                </a:lnTo>
                <a:lnTo>
                  <a:pt x="862148" y="159531"/>
                </a:lnTo>
                <a:lnTo>
                  <a:pt x="887505" y="147691"/>
                </a:lnTo>
                <a:lnTo>
                  <a:pt x="912863" y="136258"/>
                </a:lnTo>
                <a:lnTo>
                  <a:pt x="938220" y="125239"/>
                </a:lnTo>
                <a:lnTo>
                  <a:pt x="963577" y="114643"/>
                </a:lnTo>
                <a:lnTo>
                  <a:pt x="988935" y="104477"/>
                </a:lnTo>
                <a:lnTo>
                  <a:pt x="1014292" y="94747"/>
                </a:lnTo>
                <a:lnTo>
                  <a:pt x="1039649" y="85462"/>
                </a:lnTo>
                <a:lnTo>
                  <a:pt x="1065007" y="76627"/>
                </a:lnTo>
                <a:lnTo>
                  <a:pt x="1090364" y="68248"/>
                </a:lnTo>
                <a:lnTo>
                  <a:pt x="1115721" y="60331"/>
                </a:lnTo>
                <a:lnTo>
                  <a:pt x="1141078" y="52882"/>
                </a:lnTo>
                <a:lnTo>
                  <a:pt x="1166436" y="45906"/>
                </a:lnTo>
                <a:lnTo>
                  <a:pt x="1191793" y="39407"/>
                </a:lnTo>
                <a:lnTo>
                  <a:pt x="1217150" y="33391"/>
                </a:lnTo>
                <a:lnTo>
                  <a:pt x="1242508" y="27862"/>
                </a:lnTo>
                <a:lnTo>
                  <a:pt x="1267865" y="22823"/>
                </a:lnTo>
                <a:lnTo>
                  <a:pt x="1293222" y="18277"/>
                </a:lnTo>
                <a:lnTo>
                  <a:pt x="1318580" y="14229"/>
                </a:lnTo>
                <a:lnTo>
                  <a:pt x="1343937" y="10680"/>
                </a:lnTo>
                <a:lnTo>
                  <a:pt x="1369294" y="7634"/>
                </a:lnTo>
                <a:lnTo>
                  <a:pt x="1394652" y="5093"/>
                </a:lnTo>
                <a:lnTo>
                  <a:pt x="1420009" y="3057"/>
                </a:lnTo>
                <a:lnTo>
                  <a:pt x="1445366" y="1529"/>
                </a:lnTo>
                <a:lnTo>
                  <a:pt x="1470724" y="510"/>
                </a:lnTo>
                <a:lnTo>
                  <a:pt x="1496081" y="0"/>
                </a:lnTo>
                <a:lnTo>
                  <a:pt x="1521438" y="0"/>
                </a:lnTo>
                <a:lnTo>
                  <a:pt x="1546795" y="510"/>
                </a:lnTo>
                <a:lnTo>
                  <a:pt x="1572153" y="1529"/>
                </a:lnTo>
                <a:lnTo>
                  <a:pt x="1597510" y="3057"/>
                </a:lnTo>
                <a:lnTo>
                  <a:pt x="1622867" y="5093"/>
                </a:lnTo>
                <a:lnTo>
                  <a:pt x="1648225" y="7634"/>
                </a:lnTo>
                <a:lnTo>
                  <a:pt x="1673582" y="10680"/>
                </a:lnTo>
                <a:lnTo>
                  <a:pt x="1698939" y="14229"/>
                </a:lnTo>
                <a:lnTo>
                  <a:pt x="1724297" y="18277"/>
                </a:lnTo>
                <a:lnTo>
                  <a:pt x="1749654" y="22823"/>
                </a:lnTo>
                <a:lnTo>
                  <a:pt x="1775011" y="27862"/>
                </a:lnTo>
                <a:lnTo>
                  <a:pt x="1800369" y="33391"/>
                </a:lnTo>
                <a:lnTo>
                  <a:pt x="1825726" y="39407"/>
                </a:lnTo>
                <a:lnTo>
                  <a:pt x="1851083" y="45906"/>
                </a:lnTo>
                <a:lnTo>
                  <a:pt x="1876441" y="52882"/>
                </a:lnTo>
                <a:lnTo>
                  <a:pt x="1901798" y="60331"/>
                </a:lnTo>
                <a:lnTo>
                  <a:pt x="1927155" y="68248"/>
                </a:lnTo>
                <a:lnTo>
                  <a:pt x="1952512" y="76627"/>
                </a:lnTo>
                <a:lnTo>
                  <a:pt x="1977870" y="85462"/>
                </a:lnTo>
                <a:lnTo>
                  <a:pt x="2003227" y="94747"/>
                </a:lnTo>
                <a:lnTo>
                  <a:pt x="2028584" y="104477"/>
                </a:lnTo>
                <a:lnTo>
                  <a:pt x="2053942" y="114643"/>
                </a:lnTo>
                <a:lnTo>
                  <a:pt x="2079299" y="125239"/>
                </a:lnTo>
                <a:lnTo>
                  <a:pt x="2104656" y="136258"/>
                </a:lnTo>
                <a:lnTo>
                  <a:pt x="2130014" y="147691"/>
                </a:lnTo>
                <a:lnTo>
                  <a:pt x="2155371" y="159531"/>
                </a:lnTo>
                <a:lnTo>
                  <a:pt x="2180728" y="171770"/>
                </a:lnTo>
                <a:lnTo>
                  <a:pt x="2206086" y="184399"/>
                </a:lnTo>
                <a:lnTo>
                  <a:pt x="2231443" y="197409"/>
                </a:lnTo>
                <a:lnTo>
                  <a:pt x="2256800" y="210791"/>
                </a:lnTo>
                <a:lnTo>
                  <a:pt x="2282157" y="224536"/>
                </a:lnTo>
                <a:lnTo>
                  <a:pt x="2307515" y="238635"/>
                </a:lnTo>
                <a:lnTo>
                  <a:pt x="2332872" y="253077"/>
                </a:lnTo>
                <a:lnTo>
                  <a:pt x="2358229" y="267852"/>
                </a:lnTo>
                <a:lnTo>
                  <a:pt x="2383587" y="282950"/>
                </a:lnTo>
                <a:lnTo>
                  <a:pt x="2408944" y="298361"/>
                </a:lnTo>
                <a:lnTo>
                  <a:pt x="2434301" y="314074"/>
                </a:lnTo>
                <a:lnTo>
                  <a:pt x="2459659" y="330077"/>
                </a:lnTo>
                <a:lnTo>
                  <a:pt x="2485016" y="346361"/>
                </a:lnTo>
                <a:lnTo>
                  <a:pt x="2510373" y="362913"/>
                </a:lnTo>
                <a:lnTo>
                  <a:pt x="2535731" y="379721"/>
                </a:lnTo>
                <a:lnTo>
                  <a:pt x="2561088" y="396775"/>
                </a:lnTo>
                <a:lnTo>
                  <a:pt x="2586445" y="414062"/>
                </a:lnTo>
                <a:lnTo>
                  <a:pt x="2611803" y="431570"/>
                </a:lnTo>
                <a:lnTo>
                  <a:pt x="2637160" y="449287"/>
                </a:lnTo>
                <a:lnTo>
                  <a:pt x="2662517" y="467201"/>
                </a:lnTo>
                <a:lnTo>
                  <a:pt x="2687874" y="485299"/>
                </a:lnTo>
                <a:lnTo>
                  <a:pt x="2713232" y="503568"/>
                </a:lnTo>
                <a:lnTo>
                  <a:pt x="2738589" y="521997"/>
                </a:lnTo>
                <a:lnTo>
                  <a:pt x="2763946" y="540571"/>
                </a:lnTo>
                <a:lnTo>
                  <a:pt x="2789304" y="559278"/>
                </a:lnTo>
                <a:lnTo>
                  <a:pt x="2814661" y="578106"/>
                </a:lnTo>
                <a:lnTo>
                  <a:pt x="2840018" y="597040"/>
                </a:lnTo>
                <a:lnTo>
                  <a:pt x="2865376" y="616068"/>
                </a:lnTo>
                <a:lnTo>
                  <a:pt x="2890733" y="635176"/>
                </a:lnTo>
                <a:lnTo>
                  <a:pt x="2916090" y="654352"/>
                </a:lnTo>
                <a:lnTo>
                  <a:pt x="2941448" y="673581"/>
                </a:lnTo>
                <a:lnTo>
                  <a:pt x="2966805" y="692850"/>
                </a:lnTo>
                <a:lnTo>
                  <a:pt x="2992162" y="712147"/>
                </a:lnTo>
                <a:lnTo>
                  <a:pt x="3017520" y="731457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4-E04 line 23" descr="sci-ppt:o023"/>
          <p:cNvCxnSpPr/>
          <p:nvPr/>
        </p:nvCxnSpPr>
        <p:spPr>
          <a:xfrm flipV="1">
            <a:off x="8321040" y="2468798"/>
            <a:ext cx="822960" cy="548722"/>
          </a:xfrm>
          <a:prstGeom prst="line">
            <a:avLst/>
          </a:prstGeom>
          <a:ln w="19050">
            <a:solidFill>
              <a:srgbClr val="B4C7D2"/>
            </a:solidFill>
            <a:prstDash val="dash"/>
          </a:ln>
          <a:effectLst/>
        </p:spPr>
      </p:cxnSp>
      <p:sp>
        <p:nvSpPr>
          <p:cNvPr id="26" name="C4-E04 text 24" descr="sci-ppt:o024"/>
          <p:cNvSpPr txBox="1"/>
          <p:nvPr/>
        </p:nvSpPr>
        <p:spPr>
          <a:xfrm>
            <a:off x="8412480" y="1783080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steep slopes cost most</a:t>
            </a:r>
          </a:p>
        </p:txBody>
      </p:sp>
      <p:sp>
        <p:nvSpPr>
          <p:cNvPr id="27" name="C4-E04 text 25" descr="sci-ppt:o025"/>
          <p:cNvSpPr txBox="1"/>
          <p:nvPr/>
        </p:nvSpPr>
        <p:spPr>
          <a:xfrm>
            <a:off x="8138160" y="3886200"/>
            <a:ext cx="3429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7F0F3"/>
                </a:solidFill>
                <a:latin typeface="Arial"/>
              </a:rPr>
              <a:t>T₀/2 ∫ |∇w|² dA</a:t>
            </a:r>
          </a:p>
        </p:txBody>
      </p:sp>
      <p:sp>
        <p:nvSpPr>
          <p:cNvPr id="28" name="C4-E04 text 26" descr="sci-ppt:o026"/>
          <p:cNvSpPr txBox="1"/>
          <p:nvPr/>
        </p:nvSpPr>
        <p:spPr>
          <a:xfrm>
            <a:off x="8138160" y="4663440"/>
            <a:ext cx="3429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slope of the surface</a:t>
            </a:r>
          </a:p>
        </p:txBody>
      </p:sp>
      <p:sp>
        <p:nvSpPr>
          <p:cNvPr id="29" name="C4-E04 text 27" descr="sci-ppt:o027"/>
          <p:cNvSpPr txBox="1"/>
          <p:nvPr/>
        </p:nvSpPr>
        <p:spPr>
          <a:xfrm>
            <a:off x="457200" y="530352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Bending is stored by curvature, tension by slope, kinetic energy by velocity: three separate integrals over the same film Ω_f.</a:t>
            </a:r>
          </a:p>
        </p:txBody>
      </p:sp>
      <p:sp>
        <p:nvSpPr>
          <p:cNvPr id="30" name="C4-E04 text 28" descr="sci-ppt:o028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Valid for small deflection, uniform thin plate, with in-plane tension T₀ taken as given.</a:t>
            </a:r>
          </a:p>
        </p:txBody>
      </p:sp>
      <p:sp>
        <p:nvSpPr>
          <p:cNvPr id="31" name="C4-E04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Linear-plate energies of Eq. C4-E04; the pictures are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