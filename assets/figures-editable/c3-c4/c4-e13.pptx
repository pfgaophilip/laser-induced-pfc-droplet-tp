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C4-E13 · Quasistatic plate boundary-value model</a:t>
            </a:r>
          </a:p>
        </p:txBody>
      </p:sp>
      <p:sp>
        <p:nvSpPr>
          <p:cNvPr id="3" name="C4-E13 round_rect 1" descr="sci-ppt:o001"/>
          <p:cNvSpPr/>
          <p:nvPr/>
        </p:nvSpPr>
        <p:spPr>
          <a:xfrm>
            <a:off x="365760" y="914400"/>
            <a:ext cx="630936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13 text 2" descr="sci-ppt:o002"/>
          <p:cNvSpPr txBox="1"/>
          <p:nvPr/>
        </p:nvSpPr>
        <p:spPr>
          <a:xfrm>
            <a:off x="475488" y="969264"/>
            <a:ext cx="60899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Clamped circular delamination under p₀</a:t>
            </a:r>
          </a:p>
        </p:txBody>
      </p:sp>
      <p:sp>
        <p:nvSpPr>
          <p:cNvPr id="5" name="C4-E13 ellipse 3" descr="sci-ppt:o003"/>
          <p:cNvSpPr/>
          <p:nvPr/>
        </p:nvSpPr>
        <p:spPr>
          <a:xfrm>
            <a:off x="1508760" y="2057400"/>
            <a:ext cx="4023360" cy="1828800"/>
          </a:xfrm>
          <a:prstGeom prst="ellipse">
            <a:avLst/>
          </a:prstGeom>
          <a:solidFill>
            <a:srgbClr val="1E4A5A"/>
          </a:solidFill>
          <a:ln w="279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4-E13 line 4" descr="sci-ppt:o004"/>
          <p:cNvCxnSpPr/>
          <p:nvPr/>
        </p:nvCxnSpPr>
        <p:spPr>
          <a:xfrm>
            <a:off x="1508760" y="2971800"/>
            <a:ext cx="4023360" cy="0"/>
          </a:xfrm>
          <a:prstGeom prst="line">
            <a:avLst/>
          </a:prstGeom>
          <a:ln w="15240">
            <a:solidFill>
              <a:srgbClr val="B4C7D2"/>
            </a:solidFill>
            <a:prstDash val="dash"/>
          </a:ln>
          <a:effectLst/>
        </p:spPr>
      </p:cxnSp>
      <p:cxnSp>
        <p:nvCxnSpPr>
          <p:cNvPr id="7" name="C4-E13 line 5" descr="sci-ppt:o005"/>
          <p:cNvCxnSpPr/>
          <p:nvPr/>
        </p:nvCxnSpPr>
        <p:spPr>
          <a:xfrm>
            <a:off x="3520440" y="4114800"/>
            <a:ext cx="2011680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8" name="C4-E13 line 6" descr="sci-ppt:o006"/>
          <p:cNvCxnSpPr/>
          <p:nvPr/>
        </p:nvCxnSpPr>
        <p:spPr>
          <a:xfrm>
            <a:off x="3520440" y="4050791"/>
            <a:ext cx="0" cy="128017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9" name="C4-E13 line 7" descr="sci-ppt:o007"/>
          <p:cNvCxnSpPr/>
          <p:nvPr/>
        </p:nvCxnSpPr>
        <p:spPr>
          <a:xfrm>
            <a:off x="5532120" y="4050791"/>
            <a:ext cx="0" cy="128017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10" name="C4-E13 text 8" descr="sci-ppt:o008"/>
          <p:cNvSpPr txBox="1"/>
          <p:nvPr/>
        </p:nvSpPr>
        <p:spPr>
          <a:xfrm>
            <a:off x="3611880" y="4202430"/>
            <a:ext cx="1828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b</a:t>
            </a:r>
          </a:p>
        </p:txBody>
      </p:sp>
      <p:cxnSp>
        <p:nvCxnSpPr>
          <p:cNvPr id="11" name="C4-E13 arrow 9" descr="sci-ppt:o009"/>
          <p:cNvCxnSpPr/>
          <p:nvPr/>
        </p:nvCxnSpPr>
        <p:spPr>
          <a:xfrm>
            <a:off x="2423160" y="1645920"/>
            <a:ext cx="0" cy="50292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4-E13 arrow 10" descr="sci-ppt:o010"/>
          <p:cNvCxnSpPr/>
          <p:nvPr/>
        </p:nvCxnSpPr>
        <p:spPr>
          <a:xfrm>
            <a:off x="3520440" y="1645920"/>
            <a:ext cx="0" cy="50292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4-E13 arrow 11" descr="sci-ppt:o011"/>
          <p:cNvCxnSpPr/>
          <p:nvPr/>
        </p:nvCxnSpPr>
        <p:spPr>
          <a:xfrm>
            <a:off x="4617720" y="1645920"/>
            <a:ext cx="0" cy="50292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4-E13 text 12" descr="sci-ppt:o012"/>
          <p:cNvSpPr txBox="1"/>
          <p:nvPr/>
        </p:nvSpPr>
        <p:spPr>
          <a:xfrm>
            <a:off x="2148840" y="1280160"/>
            <a:ext cx="2743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uniform pressure p₀</a:t>
            </a:r>
          </a:p>
        </p:txBody>
      </p:sp>
      <p:sp>
        <p:nvSpPr>
          <p:cNvPr id="15" name="C4-E13 text 13" descr="sci-ppt:o013"/>
          <p:cNvSpPr txBox="1"/>
          <p:nvPr/>
        </p:nvSpPr>
        <p:spPr>
          <a:xfrm>
            <a:off x="548640" y="4480560"/>
            <a:ext cx="6035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𝓛ᵣ g = p₀ / D_f,   g = 𝓛ᵣ w,   𝓛ᵣ f = (1/r) d/dr (r df/dr)</a:t>
            </a:r>
          </a:p>
        </p:txBody>
      </p:sp>
      <p:sp>
        <p:nvSpPr>
          <p:cNvPr id="16" name="C4-E13 text 14" descr="sci-ppt:o014"/>
          <p:cNvSpPr txBox="1"/>
          <p:nvPr/>
        </p:nvSpPr>
        <p:spPr>
          <a:xfrm>
            <a:off x="548640" y="4937760"/>
            <a:ext cx="6035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w(b) = 0,  w′(b) = 0 (clamped edge);  fields regular at r = 0</a:t>
            </a:r>
          </a:p>
        </p:txBody>
      </p:sp>
      <p:sp>
        <p:nvSpPr>
          <p:cNvPr id="17" name="C4-E13 round_rect 15" descr="sci-ppt:o015"/>
          <p:cNvSpPr/>
          <p:nvPr/>
        </p:nvSpPr>
        <p:spPr>
          <a:xfrm>
            <a:off x="6858000" y="914400"/>
            <a:ext cx="498348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4-E13 text 16" descr="sci-ppt:o016"/>
          <p:cNvSpPr txBox="1"/>
          <p:nvPr/>
        </p:nvSpPr>
        <p:spPr>
          <a:xfrm>
            <a:off x="6967728" y="9692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Reading the boundary-value problem</a:t>
            </a:r>
          </a:p>
        </p:txBody>
      </p:sp>
      <p:sp>
        <p:nvSpPr>
          <p:cNvPr id="19" name="C4-E13 text 17" descr="sci-ppt:o017"/>
          <p:cNvSpPr txBox="1"/>
          <p:nvPr/>
        </p:nvSpPr>
        <p:spPr>
          <a:xfrm>
            <a:off x="7196328" y="1463040"/>
            <a:ext cx="455371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Axisymmetry: only r matters, the Laplacian 𝓛ᵣ replaces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∇².</a:t>
            </a:r>
          </a:p>
        </p:txBody>
      </p:sp>
      <p:sp>
        <p:nvSpPr>
          <p:cNvPr id="20" name="C4-E13 ellipse 18" descr="sci-ppt:o018"/>
          <p:cNvSpPr/>
          <p:nvPr/>
        </p:nvSpPr>
        <p:spPr>
          <a:xfrm>
            <a:off x="7027164" y="152031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4-E13 text 19" descr="sci-ppt:o019"/>
          <p:cNvSpPr txBox="1"/>
          <p:nvPr/>
        </p:nvSpPr>
        <p:spPr>
          <a:xfrm>
            <a:off x="7196328" y="1941829"/>
            <a:ext cx="455371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biharmonic equation D_f ∇⁴w = p₀ becomes two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nested 𝓛ᵣ equations.</a:t>
            </a:r>
          </a:p>
        </p:txBody>
      </p:sp>
      <p:sp>
        <p:nvSpPr>
          <p:cNvPr id="22" name="C4-E13 ellipse 20" descr="sci-ppt:o020"/>
          <p:cNvSpPr/>
          <p:nvPr/>
        </p:nvSpPr>
        <p:spPr>
          <a:xfrm>
            <a:off x="7027164" y="199910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4-E13 text 21" descr="sci-ppt:o021"/>
          <p:cNvSpPr txBox="1"/>
          <p:nvPr/>
        </p:nvSpPr>
        <p:spPr>
          <a:xfrm>
            <a:off x="7196328" y="2420619"/>
            <a:ext cx="455371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Four constants must be fixed: two by regularity, two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by the clamp.</a:t>
            </a:r>
          </a:p>
        </p:txBody>
      </p:sp>
      <p:sp>
        <p:nvSpPr>
          <p:cNvPr id="24" name="C4-E13 ellipse 22" descr="sci-ppt:o022"/>
          <p:cNvSpPr/>
          <p:nvPr/>
        </p:nvSpPr>
        <p:spPr>
          <a:xfrm>
            <a:off x="7027164" y="247789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4-E13 text 23" descr="sci-ppt:o023"/>
          <p:cNvSpPr txBox="1"/>
          <p:nvPr/>
        </p:nvSpPr>
        <p:spPr>
          <a:xfrm>
            <a:off x="7196328" y="2899409"/>
            <a:ext cx="455371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Quasistatic: no inertia, so p₀ is applied slowly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(maintained pressure).</a:t>
            </a:r>
          </a:p>
        </p:txBody>
      </p:sp>
      <p:sp>
        <p:nvSpPr>
          <p:cNvPr id="26" name="C4-E13 ellipse 24" descr="sci-ppt:o024"/>
          <p:cNvSpPr/>
          <p:nvPr/>
        </p:nvSpPr>
        <p:spPr>
          <a:xfrm>
            <a:off x="7027164" y="295668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4-E13 text 25" descr="sci-ppt:o025"/>
          <p:cNvSpPr txBox="1"/>
          <p:nvPr/>
        </p:nvSpPr>
        <p:spPr>
          <a:xfrm>
            <a:off x="6995160" y="4206240"/>
            <a:ext cx="47548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Teaching film: h_f = 10 µm, E_f = 2 GPa, ν = 0.35: D_f =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1.899e-07 N m; b = 100 µm.</a:t>
            </a:r>
          </a:p>
        </p:txBody>
      </p:sp>
      <p:sp>
        <p:nvSpPr>
          <p:cNvPr id="28" name="C4-E13 text 26" descr="sci-ppt:o02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Quasistatic circular-plate boundary-value problem of Eq. C4-E13.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