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35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C4-E35 · Original load, impulse and work formulas</a:t>
            </a:r>
          </a:p>
        </p:txBody>
      </p:sp>
      <p:sp>
        <p:nvSpPr>
          <p:cNvPr id="3" name="C4-E35 text 1" descr="sci-ppt:o001"/>
          <p:cNvSpPr txBox="1"/>
          <p:nvPr/>
        </p:nvSpPr>
        <p:spPr>
          <a:xfrm>
            <a:off x="457200" y="914400"/>
            <a:ext cx="1124712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Defence 1: load, impulse and work are three different quantities</a:t>
            </a:r>
          </a:p>
        </p:txBody>
      </p:sp>
      <p:sp>
        <p:nvSpPr>
          <p:cNvPr id="4" name="C4-E35 round_rect 2" descr="sci-ppt:o002"/>
          <p:cNvSpPr/>
          <p:nvPr/>
        </p:nvSpPr>
        <p:spPr>
          <a:xfrm>
            <a:off x="457200" y="1371600"/>
            <a:ext cx="3611880" cy="30175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4-E35 text 3" descr="sci-ppt:o003"/>
          <p:cNvSpPr txBox="1"/>
          <p:nvPr/>
        </p:nvSpPr>
        <p:spPr>
          <a:xfrm>
            <a:off x="566928" y="1426464"/>
            <a:ext cx="3392424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7FC8F8"/>
                </a:solidFill>
                <a:latin typeface="Arial"/>
              </a:rPr>
              <a:t>traction</a:t>
            </a:r>
          </a:p>
        </p:txBody>
      </p:sp>
      <p:sp>
        <p:nvSpPr>
          <p:cNvPr id="6" name="C4-E35 text 4" descr="sci-ppt:o004"/>
          <p:cNvSpPr txBox="1"/>
          <p:nvPr/>
        </p:nvSpPr>
        <p:spPr>
          <a:xfrm>
            <a:off x="548640" y="1920240"/>
            <a:ext cx="34290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tₗ = Tₗ n_f</a:t>
            </a:r>
          </a:p>
        </p:txBody>
      </p:sp>
      <p:sp>
        <p:nvSpPr>
          <p:cNvPr id="7" name="C4-E35 text 5" descr="sci-ppt:o005"/>
          <p:cNvSpPr txBox="1"/>
          <p:nvPr/>
        </p:nvSpPr>
        <p:spPr>
          <a:xfrm>
            <a:off x="548640" y="2697480"/>
            <a:ext cx="34290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7FC8F8"/>
                </a:solidFill>
                <a:latin typeface="Arial"/>
              </a:rPr>
              <a:t>unit: Pa (local)</a:t>
            </a:r>
          </a:p>
        </p:txBody>
      </p:sp>
      <p:sp>
        <p:nvSpPr>
          <p:cNvPr id="8" name="C4-E35 text 6" descr="sci-ppt:o006"/>
          <p:cNvSpPr txBox="1"/>
          <p:nvPr/>
        </p:nvSpPr>
        <p:spPr>
          <a:xfrm>
            <a:off x="548640" y="3291840"/>
            <a:ext cx="34290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what the film feels at a point</a:t>
            </a:r>
          </a:p>
        </p:txBody>
      </p:sp>
      <p:sp>
        <p:nvSpPr>
          <p:cNvPr id="9" name="C4-E35 round_rect 7" descr="sci-ppt:o007"/>
          <p:cNvSpPr/>
          <p:nvPr/>
        </p:nvSpPr>
        <p:spPr>
          <a:xfrm>
            <a:off x="4251960" y="1371600"/>
            <a:ext cx="3611880" cy="30175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4-E35 text 8" descr="sci-ppt:o008"/>
          <p:cNvSpPr txBox="1"/>
          <p:nvPr/>
        </p:nvSpPr>
        <p:spPr>
          <a:xfrm>
            <a:off x="4361688" y="1426464"/>
            <a:ext cx="3392424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2B880"/>
                </a:solidFill>
                <a:latin typeface="Arial"/>
              </a:rPr>
              <a:t>impulse</a:t>
            </a:r>
          </a:p>
        </p:txBody>
      </p:sp>
      <p:sp>
        <p:nvSpPr>
          <p:cNvPr id="11" name="C4-E35 text 9" descr="sci-ppt:o009"/>
          <p:cNvSpPr txBox="1"/>
          <p:nvPr/>
        </p:nvSpPr>
        <p:spPr>
          <a:xfrm>
            <a:off x="4343400" y="1920240"/>
            <a:ext cx="34290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Iₗ = ∫∫ tₗ dA dt</a:t>
            </a:r>
          </a:p>
        </p:txBody>
      </p:sp>
      <p:sp>
        <p:nvSpPr>
          <p:cNvPr id="12" name="C4-E35 text 10" descr="sci-ppt:o010"/>
          <p:cNvSpPr txBox="1"/>
          <p:nvPr/>
        </p:nvSpPr>
        <p:spPr>
          <a:xfrm>
            <a:off x="4343400" y="2697480"/>
            <a:ext cx="34290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unit: N s</a:t>
            </a:r>
          </a:p>
        </p:txBody>
      </p:sp>
      <p:sp>
        <p:nvSpPr>
          <p:cNvPr id="13" name="C4-E35 text 11" descr="sci-ppt:o011"/>
          <p:cNvSpPr txBox="1"/>
          <p:nvPr/>
        </p:nvSpPr>
        <p:spPr>
          <a:xfrm>
            <a:off x="4343400" y="3291840"/>
            <a:ext cx="34290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area and time integrated</a:t>
            </a:r>
          </a:p>
        </p:txBody>
      </p:sp>
      <p:sp>
        <p:nvSpPr>
          <p:cNvPr id="14" name="C4-E35 round_rect 12" descr="sci-ppt:o012"/>
          <p:cNvSpPr/>
          <p:nvPr/>
        </p:nvSpPr>
        <p:spPr>
          <a:xfrm>
            <a:off x="8046720" y="1371600"/>
            <a:ext cx="3611880" cy="30175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4-E35 text 13" descr="sci-ppt:o013"/>
          <p:cNvSpPr txBox="1"/>
          <p:nvPr/>
        </p:nvSpPr>
        <p:spPr>
          <a:xfrm>
            <a:off x="8156448" y="1426464"/>
            <a:ext cx="3392424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28BA0"/>
                </a:solidFill>
                <a:latin typeface="Arial"/>
              </a:rPr>
              <a:t>work</a:t>
            </a:r>
          </a:p>
        </p:txBody>
      </p:sp>
      <p:sp>
        <p:nvSpPr>
          <p:cNvPr id="16" name="C4-E35 text 14" descr="sci-ppt:o014"/>
          <p:cNvSpPr txBox="1"/>
          <p:nvPr/>
        </p:nvSpPr>
        <p:spPr>
          <a:xfrm>
            <a:off x="8138160" y="1920240"/>
            <a:ext cx="34290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Wₗ = ∫∫ tₗ·v_f dA dt</a:t>
            </a:r>
          </a:p>
        </p:txBody>
      </p:sp>
      <p:sp>
        <p:nvSpPr>
          <p:cNvPr id="17" name="C4-E35 text 15" descr="sci-ppt:o015"/>
          <p:cNvSpPr txBox="1"/>
          <p:nvPr/>
        </p:nvSpPr>
        <p:spPr>
          <a:xfrm>
            <a:off x="8138160" y="2697480"/>
            <a:ext cx="34290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28BA0"/>
                </a:solidFill>
                <a:latin typeface="Arial"/>
              </a:rPr>
              <a:t>unit: J</a:t>
            </a:r>
          </a:p>
        </p:txBody>
      </p:sp>
      <p:sp>
        <p:nvSpPr>
          <p:cNvPr id="18" name="C4-E35 text 16" descr="sci-ppt:o016"/>
          <p:cNvSpPr txBox="1"/>
          <p:nvPr/>
        </p:nvSpPr>
        <p:spPr>
          <a:xfrm>
            <a:off x="8138160" y="3291840"/>
            <a:ext cx="34290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needs surface motion v_f</a:t>
            </a:r>
          </a:p>
        </p:txBody>
      </p:sp>
      <p:sp>
        <p:nvSpPr>
          <p:cNvPr id="19" name="C4-E35 text 17" descr="sci-ppt:o017"/>
          <p:cNvSpPr txBox="1"/>
          <p:nvPr/>
        </p:nvSpPr>
        <p:spPr>
          <a:xfrm>
            <a:off x="457200" y="4663440"/>
            <a:ext cx="1124712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2B880"/>
                </a:solidFill>
                <a:latin typeface="Arial"/>
              </a:rPr>
              <a:t>Pressure alone says nothing about momentum or energy: duration, footprint and motion decide.</a:t>
            </a:r>
          </a:p>
        </p:txBody>
      </p:sp>
      <p:sp>
        <p:nvSpPr>
          <p:cNvPr id="20" name="C4-E35 text 18" descr="sci-ppt:o018"/>
          <p:cNvSpPr txBox="1"/>
          <p:nvPr/>
        </p:nvSpPr>
        <p:spPr>
          <a:xfrm>
            <a:off x="457200" y="5212080"/>
            <a:ext cx="1124712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A stiff, immobile wall receives force and impulse but zero work.</a:t>
            </a:r>
          </a:p>
        </p:txBody>
      </p:sp>
      <p:sp>
        <p:nvSpPr>
          <p:cNvPr id="21" name="C4-E35 text 19" descr="sci-ppt:o019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Reference formulas of the Defence 1 answer: Eqs. C4-E01 and C4-E02.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