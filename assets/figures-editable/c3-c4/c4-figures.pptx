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C4-E01 · Constitutive assumption and traction identity</a:t>
            </a:r>
          </a:p>
        </p:txBody>
      </p:sp>
      <p:sp>
        <p:nvSpPr>
          <p:cNvPr id="3" name="C4-E01 rect 1" descr="sci-ppt:o001"/>
          <p:cNvSpPr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01 arrow 2" descr="sci-ppt:o002"/>
          <p:cNvCxnSpPr/>
          <p:nvPr/>
        </p:nvCxnSpPr>
        <p:spPr>
          <a:xfrm flipV="1">
            <a:off x="27432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01 arrow 3" descr="sci-ppt:o003"/>
          <p:cNvCxnSpPr/>
          <p:nvPr/>
        </p:nvCxnSpPr>
        <p:spPr>
          <a:xfrm flipV="1">
            <a:off x="54864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C4-E01 arrow 4" descr="sci-ppt:o004"/>
          <p:cNvCxnSpPr/>
          <p:nvPr/>
        </p:nvCxnSpPr>
        <p:spPr>
          <a:xfrm flipV="1">
            <a:off x="82296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01 arrow 5" descr="sci-ppt:o005"/>
          <p:cNvCxnSpPr/>
          <p:nvPr/>
        </p:nvCxnSpPr>
        <p:spPr>
          <a:xfrm>
            <a:off x="9601200" y="169164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1 text 6" descr="sci-ppt:o006"/>
          <p:cNvSpPr txBox="1"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n_f ↓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solid → liquid</a:t>
            </a:r>
          </a:p>
        </p:txBody>
      </p:sp>
      <p:sp>
        <p:nvSpPr>
          <p:cNvPr id="9" name="C4-E01 text 7" descr="sci-ppt:o007"/>
          <p:cNvSpPr txBox="1"/>
          <p:nvPr/>
        </p:nvSpPr>
        <p:spPr>
          <a:xfrm>
            <a:off x="1005840" y="731520"/>
            <a:ext cx="9144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 / solid; positive departure and velocity v_f ↑</a:t>
            </a:r>
          </a:p>
        </p:txBody>
      </p:sp>
      <p:sp>
        <p:nvSpPr>
          <p:cNvPr id="10" name="C4-E01 text 8" descr="sci-ppt:o00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Liquid below: t_l = T_l n_f; pressure traction opposes n_f.</a:t>
            </a:r>
          </a:p>
        </p:txBody>
      </p:sp>
      <p:cxnSp>
        <p:nvCxnSpPr>
          <p:cNvPr id="11" name="C4-E01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4-E01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film surface</a:t>
            </a:r>
          </a:p>
        </p:txBody>
      </p:sp>
      <p:sp>
        <p:nvSpPr>
          <p:cNvPr id="13" name="C4-E01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n_f ↓ solid → liquid</a:t>
            </a:r>
          </a:p>
        </p:txBody>
      </p:sp>
      <p:sp>
        <p:nvSpPr>
          <p:cNvPr id="14" name="C4-E01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 → compressive load</a:t>
            </a:r>
          </a:p>
        </p:txBody>
      </p:sp>
      <p:sp>
        <p:nvSpPr>
          <p:cNvPr id="15" name="C4-E01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u, x, t in liquid</a:t>
            </a:r>
          </a:p>
        </p:txBody>
      </p:sp>
      <p:sp>
        <p:nvSpPr>
          <p:cNvPr id="16" name="C4-E01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μ, D_u — shear</a:t>
            </a:r>
          </a:p>
        </p:txBody>
      </p:sp>
      <p:sp>
        <p:nvSpPr>
          <p:cNvPr id="17" name="C4-E01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T_l, t_l at exposed face</a:t>
            </a:r>
          </a:p>
        </p:txBody>
      </p:sp>
      <p:sp>
        <p:nvSpPr>
          <p:cNvPr id="18" name="C4-E01 text 16" descr="sci-ppt:o016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 — identity tensor</a:t>
            </a:r>
          </a:p>
        </p:txBody>
      </p:sp>
      <p:sp>
        <p:nvSpPr>
          <p:cNvPr id="19" name="C4-E01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Positive opening direction ↑</a:t>
            </a:r>
          </a:p>
        </p:txBody>
      </p:sp>
      <p:sp>
        <p:nvSpPr>
          <p:cNvPr id="20" name="C4-E01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release interface is a separate surface.</a:t>
            </a:r>
          </a:p>
        </p:txBody>
      </p:sp>
      <p:sp>
        <p:nvSpPr>
          <p:cNvPr id="21" name="C4-E01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C4-E02 · Exact mechanical definitions</a:t>
            </a:r>
          </a:p>
        </p:txBody>
      </p:sp>
      <p:sp>
        <p:nvSpPr>
          <p:cNvPr id="3" name="C4-E02 rect 1" descr="sci-ppt:o001"/>
          <p:cNvSpPr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02 arrow 2" descr="sci-ppt:o002"/>
          <p:cNvCxnSpPr/>
          <p:nvPr/>
        </p:nvCxnSpPr>
        <p:spPr>
          <a:xfrm flipV="1">
            <a:off x="27432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02 arrow 3" descr="sci-ppt:o003"/>
          <p:cNvCxnSpPr/>
          <p:nvPr/>
        </p:nvCxnSpPr>
        <p:spPr>
          <a:xfrm flipV="1">
            <a:off x="54864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C4-E02 arrow 4" descr="sci-ppt:o004"/>
          <p:cNvCxnSpPr/>
          <p:nvPr/>
        </p:nvCxnSpPr>
        <p:spPr>
          <a:xfrm flipV="1">
            <a:off x="82296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02 arrow 5" descr="sci-ppt:o005"/>
          <p:cNvCxnSpPr/>
          <p:nvPr/>
        </p:nvCxnSpPr>
        <p:spPr>
          <a:xfrm>
            <a:off x="9601200" y="169164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2 text 6" descr="sci-ppt:o006"/>
          <p:cNvSpPr txBox="1"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n_f ↓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solid → liquid</a:t>
            </a:r>
          </a:p>
        </p:txBody>
      </p:sp>
      <p:sp>
        <p:nvSpPr>
          <p:cNvPr id="9" name="C4-E02 text 7" descr="sci-ppt:o007"/>
          <p:cNvSpPr txBox="1"/>
          <p:nvPr/>
        </p:nvSpPr>
        <p:spPr>
          <a:xfrm>
            <a:off x="1005840" y="731520"/>
            <a:ext cx="9144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 / solid; positive departure and velocity v_f ↑</a:t>
            </a:r>
          </a:p>
        </p:txBody>
      </p:sp>
      <p:sp>
        <p:nvSpPr>
          <p:cNvPr id="10" name="C4-E02 text 8" descr="sci-ppt:o00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Liquid below: t_l = T_l n_f; pressure traction opposes n_f.</a:t>
            </a:r>
          </a:p>
        </p:txBody>
      </p:sp>
      <p:cxnSp>
        <p:nvCxnSpPr>
          <p:cNvPr id="11" name="C4-E02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4-E02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A_f(t) — loaded footprint</a:t>
            </a:r>
          </a:p>
        </p:txBody>
      </p:sp>
      <p:sp>
        <p:nvSpPr>
          <p:cNvPr id="13" name="C4-E02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t_l → applied traction</a:t>
            </a:r>
          </a:p>
        </p:txBody>
      </p:sp>
      <p:sp>
        <p:nvSpPr>
          <p:cNvPr id="14" name="C4-E02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v_f ↑ moving film</a:t>
            </a:r>
          </a:p>
        </p:txBody>
      </p:sp>
      <p:sp>
        <p:nvSpPr>
          <p:cNvPr id="15" name="C4-E02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F_l — surface resultant</a:t>
            </a:r>
          </a:p>
        </p:txBody>
      </p:sp>
      <p:sp>
        <p:nvSpPr>
          <p:cNvPr id="16" name="C4-E02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I_l — force-time area</a:t>
            </a:r>
          </a:p>
        </p:txBody>
      </p:sp>
      <p:sp>
        <p:nvSpPr>
          <p:cNvPr id="17" name="C4-E02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W_l — traction × displacement</a:t>
            </a:r>
          </a:p>
        </p:txBody>
      </p:sp>
      <p:sp>
        <p:nvSpPr>
          <p:cNvPr id="18" name="C4-E02 text 16" descr="sci-ppt:o016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t_a → t_b — event interval</a:t>
            </a:r>
          </a:p>
        </p:txBody>
      </p:sp>
      <p:sp>
        <p:nvSpPr>
          <p:cNvPr id="19" name="C4-E02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high pressure maximum does not specify work.</a:t>
            </a:r>
          </a:p>
        </p:txBody>
      </p:sp>
      <p:sp>
        <p:nvSpPr>
          <p:cNvPr id="20" name="C4-E02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C4-E03 · Derived plate parameters under constitutive assumptions</a:t>
            </a:r>
          </a:p>
        </p:txBody>
      </p:sp>
      <p:sp>
        <p:nvSpPr>
          <p:cNvPr id="3" name="C4-E03 rect 1" descr="sci-ppt:o001"/>
          <p:cNvSpPr/>
          <p:nvPr/>
        </p:nvSpPr>
        <p:spPr>
          <a:xfrm>
            <a:off x="1188720" y="1371600"/>
            <a:ext cx="7498079" cy="11430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03 line 2" descr="sci-ppt:o002"/>
          <p:cNvCxnSpPr/>
          <p:nvPr/>
        </p:nvCxnSpPr>
        <p:spPr>
          <a:xfrm>
            <a:off x="1005840" y="1943100"/>
            <a:ext cx="795528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3 arrow 3" descr="sci-ppt:o003"/>
          <p:cNvCxnSpPr/>
          <p:nvPr/>
        </p:nvCxnSpPr>
        <p:spPr>
          <a:xfrm flipV="1">
            <a:off x="9235440" y="868680"/>
            <a:ext cx="0" cy="10744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03 text 4" descr="sci-ppt:o004"/>
          <p:cNvSpPr txBox="1"/>
          <p:nvPr/>
        </p:nvSpPr>
        <p:spPr>
          <a:xfrm>
            <a:off x="9464040" y="914400"/>
            <a:ext cx="914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+z</a:t>
            </a:r>
          </a:p>
        </p:txBody>
      </p:sp>
      <p:cxnSp>
        <p:nvCxnSpPr>
          <p:cNvPr id="7" name="C4-E03 line 5" descr="sci-ppt:o005"/>
          <p:cNvCxnSpPr/>
          <p:nvPr/>
        </p:nvCxnSpPr>
        <p:spPr>
          <a:xfrm>
            <a:off x="822960" y="1371600"/>
            <a:ext cx="0" cy="114300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4-E03 text 6" descr="sci-ppt:o006"/>
          <p:cNvSpPr txBox="1"/>
          <p:nvPr/>
        </p:nvSpPr>
        <p:spPr>
          <a:xfrm>
            <a:off x="274320" y="265176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h_f</a:t>
            </a:r>
          </a:p>
        </p:txBody>
      </p:sp>
      <p:sp>
        <p:nvSpPr>
          <p:cNvPr id="9" name="C4-E03 text 7" descr="sci-ppt:o007"/>
          <p:cNvSpPr txBox="1"/>
          <p:nvPr/>
        </p:nvSpPr>
        <p:spPr>
          <a:xfrm>
            <a:off x="2743200" y="196596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z = 0: neutral midplane</a:t>
            </a:r>
          </a:p>
        </p:txBody>
      </p:sp>
      <p:sp>
        <p:nvSpPr>
          <p:cNvPr id="10" name="C4-E03 text 8" descr="sci-ppt:o008"/>
          <p:cNvSpPr txBox="1"/>
          <p:nvPr/>
        </p:nvSpPr>
        <p:spPr>
          <a:xfrm>
            <a:off x="1188720" y="3108960"/>
            <a:ext cx="100584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m_A = ρ_f h_f; bending weights each layer by z².</a:t>
            </a:r>
          </a:p>
        </p:txBody>
      </p:sp>
      <p:cxnSp>
        <p:nvCxnSpPr>
          <p:cNvPr id="11" name="C4-E03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4-E03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— thickness</a:t>
            </a:r>
          </a:p>
        </p:txBody>
      </p:sp>
      <p:sp>
        <p:nvSpPr>
          <p:cNvPr id="13" name="C4-E03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 = 0 — neutral midplane</a:t>
            </a:r>
          </a:p>
        </p:txBody>
      </p:sp>
      <p:sp>
        <p:nvSpPr>
          <p:cNvPr id="14" name="C4-E03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ρ_f → m_A</a:t>
            </a:r>
          </a:p>
        </p:txBody>
      </p:sp>
      <p:sp>
        <p:nvSpPr>
          <p:cNvPr id="15" name="C4-E03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E_f, ν_f → D_f</a:t>
            </a:r>
          </a:p>
        </p:txBody>
      </p:sp>
      <p:sp>
        <p:nvSpPr>
          <p:cNvPr id="16" name="C4-E03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z² dz — bending moment weight</a:t>
            </a:r>
          </a:p>
        </p:txBody>
      </p:sp>
      <p:sp>
        <p:nvSpPr>
          <p:cNvPr id="17" name="C4-E03 text 15" descr="sci-ppt:o01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Density integrates once; bending weights distance squared.</a:t>
            </a:r>
          </a:p>
        </p:txBody>
      </p:sp>
      <p:sp>
        <p:nvSpPr>
          <p:cNvPr id="18" name="C4-E03 text 16" descr="sci-ppt:o016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C4-E04 · Linear-plate energy model</a:t>
            </a:r>
          </a:p>
        </p:txBody>
      </p:sp>
      <p:sp>
        <p:nvSpPr>
          <p:cNvPr id="3" name="C4-E04 rect 1" descr="sci-ppt:o001"/>
          <p:cNvSpPr/>
          <p:nvPr/>
        </p:nvSpPr>
        <p:spPr>
          <a:xfrm>
            <a:off x="1188720" y="1188720"/>
            <a:ext cx="6858000" cy="2148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04 text 2" descr="sci-ppt:o002"/>
          <p:cNvSpPr txBox="1"/>
          <p:nvPr/>
        </p:nvSpPr>
        <p:spPr>
          <a:xfrm>
            <a:off x="2743200" y="1828800"/>
            <a:ext cx="5029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Reference film plane Ω_f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w(x,y,t), variation δw</a:t>
            </a:r>
          </a:p>
        </p:txBody>
      </p:sp>
      <p:cxnSp>
        <p:nvCxnSpPr>
          <p:cNvPr id="5" name="C4-E04 arrow 3" descr="sci-ppt:o003"/>
          <p:cNvCxnSpPr/>
          <p:nvPr/>
        </p:nvCxnSpPr>
        <p:spPr>
          <a:xfrm>
            <a:off x="8092440" y="2240280"/>
            <a:ext cx="11430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04 text 4" descr="sci-ppt:o004"/>
          <p:cNvSpPr txBox="1"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outward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in-plane normal</a:t>
            </a:r>
          </a:p>
        </p:txBody>
      </p:sp>
      <p:cxnSp>
        <p:nvCxnSpPr>
          <p:cNvPr id="7" name="C4-E04 arrow 5" descr="sci-ppt:o005"/>
          <p:cNvCxnSpPr/>
          <p:nvPr/>
        </p:nvCxnSpPr>
        <p:spPr>
          <a:xfrm>
            <a:off x="1371600" y="3520440"/>
            <a:ext cx="1828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4 text 6" descr="sci-ppt:o006"/>
          <p:cNvSpPr txBox="1"/>
          <p:nvPr/>
        </p:nvSpPr>
        <p:spPr>
          <a:xfrm>
            <a:off x="3383280" y="338328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x</a:t>
            </a:r>
          </a:p>
        </p:txBody>
      </p:sp>
      <p:cxnSp>
        <p:nvCxnSpPr>
          <p:cNvPr id="9" name="C4-E04 arrow 7" descr="sci-ppt:o007"/>
          <p:cNvCxnSpPr/>
          <p:nvPr/>
        </p:nvCxnSpPr>
        <p:spPr>
          <a:xfrm flipV="1">
            <a:off x="1371600" y="265176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4-E04 text 8" descr="sci-ppt:o008"/>
          <p:cNvSpPr txBox="1"/>
          <p:nvPr/>
        </p:nvSpPr>
        <p:spPr>
          <a:xfrm>
            <a:off x="731520" y="283464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y</a:t>
            </a:r>
          </a:p>
        </p:txBody>
      </p:sp>
      <p:sp>
        <p:nvSpPr>
          <p:cNvPr id="11" name="C4-E04 text 9" descr="sci-ppt:o009"/>
          <p:cNvSpPr txBox="1"/>
          <p:nvPr/>
        </p:nvSpPr>
        <p:spPr>
          <a:xfrm>
            <a:off x="1828800" y="731520"/>
            <a:ext cx="9601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Fixed boundary: δw = 0; ∂ₙδw = 0</a:t>
            </a:r>
          </a:p>
        </p:txBody>
      </p:sp>
      <p:sp>
        <p:nvSpPr>
          <p:cNvPr id="12" name="C4-E04 text 10" descr="sci-ppt:o010"/>
          <p:cNvSpPr txBox="1"/>
          <p:nvPr/>
        </p:nvSpPr>
        <p:spPr>
          <a:xfrm>
            <a:off x="4846320" y="3520440"/>
            <a:ext cx="6400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Curvature stores U_b; slope stores U_T.</a:t>
            </a:r>
          </a:p>
        </p:txBody>
      </p:sp>
      <p:cxnSp>
        <p:nvCxnSpPr>
          <p:cNvPr id="13" name="C4-E04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4-E04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Ω_f, dA — film plane</a:t>
            </a:r>
          </a:p>
        </p:txBody>
      </p:sp>
      <p:sp>
        <p:nvSpPr>
          <p:cNvPr id="15" name="C4-E04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x, y — in-plane directions</a:t>
            </a:r>
          </a:p>
        </p:txBody>
      </p:sp>
      <p:sp>
        <p:nvSpPr>
          <p:cNvPr id="16" name="C4-E04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ẇ, t — film motion</a:t>
            </a:r>
          </a:p>
        </p:txBody>
      </p:sp>
      <p:sp>
        <p:nvSpPr>
          <p:cNvPr id="17" name="C4-E04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w_xx, w_yy, w_xy — curvature</a:t>
            </a:r>
          </a:p>
        </p:txBody>
      </p:sp>
      <p:sp>
        <p:nvSpPr>
          <p:cNvPr id="18" name="C4-E04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D_f, ν_f — bending</a:t>
            </a:r>
          </a:p>
        </p:txBody>
      </p:sp>
      <p:sp>
        <p:nvSpPr>
          <p:cNvPr id="19" name="C4-E04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→ K_f</a:t>
            </a:r>
          </a:p>
        </p:txBody>
      </p:sp>
      <p:sp>
        <p:nvSpPr>
          <p:cNvPr id="20" name="C4-E04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→ U_T</a:t>
            </a:r>
          </a:p>
        </p:txBody>
      </p:sp>
      <p:sp>
        <p:nvSpPr>
          <p:cNvPr id="21" name="C4-E04 text 19" descr="sci-ppt:o019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U_b — shape energy</a:t>
            </a:r>
          </a:p>
        </p:txBody>
      </p:sp>
      <p:sp>
        <p:nvSpPr>
          <p:cNvPr id="22" name="C4-E04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Clamped edge: displacement and normal slope fixed.</a:t>
            </a:r>
          </a:p>
        </p:txBody>
      </p:sp>
      <p:sp>
        <p:nvSpPr>
          <p:cNvPr id="23" name="C4-E04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C4-E05 · Derived variational identity for fixed clamps</a:t>
            </a:r>
          </a:p>
        </p:txBody>
      </p:sp>
      <p:sp>
        <p:nvSpPr>
          <p:cNvPr id="3" name="C4-E05 rect 1" descr="sci-ppt:o001"/>
          <p:cNvSpPr/>
          <p:nvPr/>
        </p:nvSpPr>
        <p:spPr>
          <a:xfrm>
            <a:off x="1188720" y="1188720"/>
            <a:ext cx="6858000" cy="2148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05 text 2" descr="sci-ppt:o002"/>
          <p:cNvSpPr txBox="1"/>
          <p:nvPr/>
        </p:nvSpPr>
        <p:spPr>
          <a:xfrm>
            <a:off x="2743200" y="1828800"/>
            <a:ext cx="5029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Reference film plane Ω_f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w(x,y,t), variation δw</a:t>
            </a:r>
          </a:p>
        </p:txBody>
      </p:sp>
      <p:cxnSp>
        <p:nvCxnSpPr>
          <p:cNvPr id="5" name="C4-E05 arrow 3" descr="sci-ppt:o003"/>
          <p:cNvCxnSpPr/>
          <p:nvPr/>
        </p:nvCxnSpPr>
        <p:spPr>
          <a:xfrm>
            <a:off x="8092440" y="2240280"/>
            <a:ext cx="11430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05 text 4" descr="sci-ppt:o004"/>
          <p:cNvSpPr txBox="1"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outward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in-plane normal</a:t>
            </a:r>
          </a:p>
        </p:txBody>
      </p:sp>
      <p:cxnSp>
        <p:nvCxnSpPr>
          <p:cNvPr id="7" name="C4-E05 arrow 5" descr="sci-ppt:o005"/>
          <p:cNvCxnSpPr/>
          <p:nvPr/>
        </p:nvCxnSpPr>
        <p:spPr>
          <a:xfrm>
            <a:off x="1371600" y="3520440"/>
            <a:ext cx="1828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5 text 6" descr="sci-ppt:o006"/>
          <p:cNvSpPr txBox="1"/>
          <p:nvPr/>
        </p:nvSpPr>
        <p:spPr>
          <a:xfrm>
            <a:off x="3383280" y="338328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x</a:t>
            </a:r>
          </a:p>
        </p:txBody>
      </p:sp>
      <p:cxnSp>
        <p:nvCxnSpPr>
          <p:cNvPr id="9" name="C4-E05 arrow 7" descr="sci-ppt:o007"/>
          <p:cNvCxnSpPr/>
          <p:nvPr/>
        </p:nvCxnSpPr>
        <p:spPr>
          <a:xfrm flipV="1">
            <a:off x="1371600" y="265176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4-E05 text 8" descr="sci-ppt:o008"/>
          <p:cNvSpPr txBox="1"/>
          <p:nvPr/>
        </p:nvSpPr>
        <p:spPr>
          <a:xfrm>
            <a:off x="731520" y="283464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y</a:t>
            </a:r>
          </a:p>
        </p:txBody>
      </p:sp>
      <p:sp>
        <p:nvSpPr>
          <p:cNvPr id="11" name="C4-E05 text 9" descr="sci-ppt:o009"/>
          <p:cNvSpPr txBox="1"/>
          <p:nvPr/>
        </p:nvSpPr>
        <p:spPr>
          <a:xfrm>
            <a:off x="1828800" y="731520"/>
            <a:ext cx="9601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Fixed boundary: δw = 0; ∂ₙδw = 0</a:t>
            </a:r>
          </a:p>
        </p:txBody>
      </p:sp>
      <p:sp>
        <p:nvSpPr>
          <p:cNvPr id="12" name="C4-E05 text 10" descr="sci-ppt:o010"/>
          <p:cNvSpPr txBox="1"/>
          <p:nvPr/>
        </p:nvSpPr>
        <p:spPr>
          <a:xfrm>
            <a:off x="4846320" y="3520440"/>
            <a:ext cx="6400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Curvature stores U_b; slope stores U_T.</a:t>
            </a:r>
          </a:p>
        </p:txBody>
      </p:sp>
      <p:cxnSp>
        <p:nvCxnSpPr>
          <p:cNvPr id="13" name="C4-E05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4-E05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Ω_f, x, y — film plane</a:t>
            </a:r>
          </a:p>
        </p:txBody>
      </p:sp>
      <p:sp>
        <p:nvSpPr>
          <p:cNvPr id="15" name="C4-E05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δw — displacement and variation</a:t>
            </a:r>
          </a:p>
        </p:txBody>
      </p:sp>
      <p:sp>
        <p:nvSpPr>
          <p:cNvPr id="16" name="C4-E05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D_f, ν_f → ∇⁴w restoring load</a:t>
            </a:r>
          </a:p>
        </p:txBody>
      </p:sp>
      <p:sp>
        <p:nvSpPr>
          <p:cNvPr id="17" name="C4-E05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→ −∇²w restoring load</a:t>
            </a:r>
          </a:p>
        </p:txBody>
      </p:sp>
      <p:sp>
        <p:nvSpPr>
          <p:cNvPr id="18" name="C4-E05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U_b, U_T — stored energy</a:t>
            </a:r>
          </a:p>
        </p:txBody>
      </p:sp>
      <p:sp>
        <p:nvSpPr>
          <p:cNvPr id="19" name="C4-E05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clamp: δw = 0, slope variation = 0</a:t>
            </a:r>
          </a:p>
        </p:txBody>
      </p:sp>
      <p:sp>
        <p:nvSpPr>
          <p:cNvPr id="20" name="C4-E05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Four spatial derivatives arise from two integrations by parts.</a:t>
            </a:r>
          </a:p>
        </p:txBody>
      </p:sp>
      <p:sp>
        <p:nvSpPr>
          <p:cNvPr id="21" name="C4-E05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C4-E06 · Reduced transient momentum balance with explicit initial/boundary data</a:t>
            </a:r>
          </a:p>
        </p:txBody>
      </p:sp>
      <p:cxnSp>
        <p:nvCxnSpPr>
          <p:cNvPr id="3" name="C4-E06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06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6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06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06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06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06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06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06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06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06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06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06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06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06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06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06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06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06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06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06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06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06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06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06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06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06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06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06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06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06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06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06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06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06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06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06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06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06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06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06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06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06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06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06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06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06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06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06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06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06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06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06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06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06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06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06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06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06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06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06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06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06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06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06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06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06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06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06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06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06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06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06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06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06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06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06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06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06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06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06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06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06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06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06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06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06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06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06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06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06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06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06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ẇ, ẅ ↑ positive departure</a:t>
            </a:r>
          </a:p>
        </p:txBody>
      </p:sp>
      <p:sp>
        <p:nvSpPr>
          <p:cNvPr id="96" name="C4-E06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x, t — location and time</a:t>
            </a:r>
          </a:p>
        </p:txBody>
      </p:sp>
      <p:sp>
        <p:nvSpPr>
          <p:cNvPr id="97" name="C4-E06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— film inertia</a:t>
            </a:r>
          </a:p>
        </p:txBody>
      </p:sp>
      <p:sp>
        <p:nvSpPr>
          <p:cNvPr id="98" name="C4-E06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bending stiffness</a:t>
            </a:r>
          </a:p>
        </p:txBody>
      </p:sp>
      <p:sp>
        <p:nvSpPr>
          <p:cNvPr id="99" name="C4-E06 text 97" descr="sci-ppt:o09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— pretension</a:t>
            </a:r>
          </a:p>
        </p:txBody>
      </p:sp>
      <p:sp>
        <p:nvSpPr>
          <p:cNvPr id="100" name="C4-E06 text 98" descr="sci-ppt:o09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p_load ↑ exposed load</a:t>
            </a:r>
          </a:p>
        </p:txBody>
      </p:sp>
      <p:sp>
        <p:nvSpPr>
          <p:cNvPr id="101" name="C4-E06 text 99" descr="sci-ppt:o09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t_coh ↓ opening resistance</a:t>
            </a:r>
          </a:p>
        </p:txBody>
      </p:sp>
      <p:sp>
        <p:nvSpPr>
          <p:cNvPr id="102" name="C4-E06 text 100" descr="sci-ppt:o100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clamp: w = 0, ∂ₙw = 0</a:t>
            </a:r>
          </a:p>
        </p:txBody>
      </p:sp>
      <p:sp>
        <p:nvSpPr>
          <p:cNvPr id="103" name="C4-E06 text 101" descr="sci-ppt:o101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film starts at rest.</a:t>
            </a:r>
          </a:p>
        </p:txBody>
      </p:sp>
      <p:sp>
        <p:nvSpPr>
          <p:cNvPr id="104" name="C4-E06 text 102" descr="sci-ppt:o102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release interface supplies resistance.</a:t>
            </a:r>
          </a:p>
        </p:txBody>
      </p:sp>
      <p:sp>
        <p:nvSpPr>
          <p:cNvPr id="105" name="C4-E06 text 103" descr="sci-ppt:o103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C4-E07 · Conditional coupled-sheet model</a:t>
            </a:r>
          </a:p>
        </p:txBody>
      </p:sp>
      <p:sp>
        <p:nvSpPr>
          <p:cNvPr id="3" name="C4-E07 rect 1" descr="sci-ppt:o001"/>
          <p:cNvSpPr/>
          <p:nvPr/>
        </p:nvSpPr>
        <p:spPr>
          <a:xfrm>
            <a:off x="1097280" y="1325880"/>
            <a:ext cx="8138160" cy="2286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07 rect 2" descr="sci-ppt:o002"/>
          <p:cNvSpPr/>
          <p:nvPr/>
        </p:nvSpPr>
        <p:spPr>
          <a:xfrm>
            <a:off x="1097280" y="2240280"/>
            <a:ext cx="8138160" cy="3200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07 text 3" descr="sci-ppt:o003"/>
          <p:cNvSpPr txBox="1"/>
          <p:nvPr/>
        </p:nvSpPr>
        <p:spPr>
          <a:xfrm>
            <a:off x="1188720" y="914400"/>
            <a:ext cx="8229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Payload film: w, m_A, D_f, T₀</a:t>
            </a:r>
          </a:p>
        </p:txBody>
      </p:sp>
      <p:sp>
        <p:nvSpPr>
          <p:cNvPr id="6" name="C4-E07 text 4" descr="sci-ppt:o004"/>
          <p:cNvSpPr txBox="1"/>
          <p:nvPr/>
        </p:nvSpPr>
        <p:spPr>
          <a:xfrm>
            <a:off x="1188720" y="3657600"/>
            <a:ext cx="8229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Intact PVC: w_P, m_A,P, D_P, T_P</a:t>
            </a:r>
          </a:p>
        </p:txBody>
      </p:sp>
      <p:cxnSp>
        <p:nvCxnSpPr>
          <p:cNvPr id="7" name="C4-E07 arrow 5" descr="sci-ppt:o005"/>
          <p:cNvCxnSpPr/>
          <p:nvPr/>
        </p:nvCxnSpPr>
        <p:spPr>
          <a:xfrm flipV="1">
            <a:off x="2743200" y="2606040"/>
            <a:ext cx="0" cy="960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4-E07 arrow 6" descr="sci-ppt:o006"/>
          <p:cNvCxnSpPr/>
          <p:nvPr/>
        </p:nvCxnSpPr>
        <p:spPr>
          <a:xfrm flipV="1">
            <a:off x="274320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4-E07 arrow 7" descr="sci-ppt:o007"/>
          <p:cNvCxnSpPr/>
          <p:nvPr/>
        </p:nvCxnSpPr>
        <p:spPr>
          <a:xfrm flipV="1">
            <a:off x="5029200" y="2606040"/>
            <a:ext cx="0" cy="960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4-E07 arrow 8" descr="sci-ppt:o008"/>
          <p:cNvCxnSpPr/>
          <p:nvPr/>
        </p:nvCxnSpPr>
        <p:spPr>
          <a:xfrm flipV="1">
            <a:off x="502920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4-E07 arrow 9" descr="sci-ppt:o009"/>
          <p:cNvCxnSpPr/>
          <p:nvPr/>
        </p:nvCxnSpPr>
        <p:spPr>
          <a:xfrm flipV="1">
            <a:off x="7315200" y="2606040"/>
            <a:ext cx="0" cy="960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4-E07 arrow 10" descr="sci-ppt:o010"/>
          <p:cNvCxnSpPr/>
          <p:nvPr/>
        </p:nvCxnSpPr>
        <p:spPr>
          <a:xfrm flipV="1">
            <a:off x="731520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4-E07 text 11" descr="sci-ppt:o011"/>
          <p:cNvSpPr txBox="1"/>
          <p:nvPr/>
        </p:nvSpPr>
        <p:spPr>
          <a:xfrm>
            <a:off x="9509760" y="1874519"/>
            <a:ext cx="2286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t_P→f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transmitted load</a:t>
            </a:r>
          </a:p>
        </p:txBody>
      </p:sp>
      <p:sp>
        <p:nvSpPr>
          <p:cNvPr id="14" name="C4-E07 text 12" descr="sci-ppt:o012"/>
          <p:cNvSpPr txBox="1"/>
          <p:nvPr/>
        </p:nvSpPr>
        <p:spPr>
          <a:xfrm>
            <a:off x="9509760" y="310896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Liquid load ↑</a:t>
            </a:r>
          </a:p>
        </p:txBody>
      </p:sp>
      <p:sp>
        <p:nvSpPr>
          <p:cNvPr id="15" name="C4-E07 text 13" descr="sci-ppt:o013"/>
          <p:cNvSpPr txBox="1"/>
          <p:nvPr/>
        </p:nvSpPr>
        <p:spPr>
          <a:xfrm>
            <a:off x="274320" y="169164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Contact or bond</a:t>
            </a:r>
          </a:p>
        </p:txBody>
      </p:sp>
      <p:cxnSp>
        <p:nvCxnSpPr>
          <p:cNvPr id="16" name="C4-E07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4-E07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p_liq → PVC</a:t>
            </a:r>
          </a:p>
        </p:txBody>
      </p:sp>
      <p:sp>
        <p:nvSpPr>
          <p:cNvPr id="18" name="C4-E07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w_P, m_A,P, D_P, T_P — PVC response</a:t>
            </a:r>
          </a:p>
        </p:txBody>
      </p:sp>
      <p:sp>
        <p:nvSpPr>
          <p:cNvPr id="19" name="C4-E07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t_P→f → contact or bond</a:t>
            </a:r>
          </a:p>
        </p:txBody>
      </p:sp>
      <p:sp>
        <p:nvSpPr>
          <p:cNvPr id="20" name="C4-E07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m_A, D_f, T₀ — film response</a:t>
            </a:r>
          </a:p>
        </p:txBody>
      </p:sp>
      <p:sp>
        <p:nvSpPr>
          <p:cNvPr id="21" name="C4-E07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t_coh → release interface</a:t>
            </a:r>
          </a:p>
        </p:txBody>
      </p:sp>
      <p:sp>
        <p:nvSpPr>
          <p:cNvPr id="22" name="C4-E07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liquid passes through intact PVC.</a:t>
            </a:r>
          </a:p>
        </p:txBody>
      </p:sp>
      <p:sp>
        <p:nvSpPr>
          <p:cNvPr id="23" name="C4-E07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Transmitted traction is an unknown, not a copied pressure.</a:t>
            </a:r>
          </a:p>
        </p:txBody>
      </p:sp>
      <p:sp>
        <p:nvSpPr>
          <p:cNvPr id="24" name="C4-E07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C4-E08 · Exact time integral within the reduced plate model</a:t>
            </a:r>
          </a:p>
        </p:txBody>
      </p:sp>
      <p:cxnSp>
        <p:nvCxnSpPr>
          <p:cNvPr id="3" name="C4-E08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08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8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08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08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08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08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08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08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08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08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08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08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08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08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08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08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08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08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08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08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08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08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08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08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08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08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08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08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08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08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08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08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08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08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08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08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08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08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08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08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08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08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08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08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08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08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08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08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08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08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08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08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08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08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08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08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08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08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08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08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08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08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08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08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08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08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08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08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08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08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08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08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08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08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08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08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08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08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08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08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08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08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08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08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08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08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08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08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08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08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08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08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t_a → t_b — pulse interval</a:t>
            </a:r>
          </a:p>
        </p:txBody>
      </p:sp>
      <p:sp>
        <p:nvSpPr>
          <p:cNvPr id="96" name="C4-E08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p_load(t) → J_A</a:t>
            </a:r>
          </a:p>
        </p:txBody>
      </p:sp>
      <p:sp>
        <p:nvSpPr>
          <p:cNvPr id="97" name="C4-E08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→ velocity change</a:t>
            </a:r>
          </a:p>
        </p:txBody>
      </p:sp>
      <p:sp>
        <p:nvSpPr>
          <p:cNvPr id="98" name="C4-E08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ẇ(x,t_a), ẇ(x,t_b)</a:t>
            </a:r>
          </a:p>
        </p:txBody>
      </p:sp>
      <p:sp>
        <p:nvSpPr>
          <p:cNvPr id="99" name="C4-E08 text 97" descr="sci-ppt:o09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D_f∇⁴w, −T₀∇²w, t_coh — reaction impulses</a:t>
            </a:r>
          </a:p>
        </p:txBody>
      </p:sp>
      <p:sp>
        <p:nvSpPr>
          <p:cNvPr id="100" name="C4-E08 text 98" descr="sci-ppt:o09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Applied impulse and reaction impulse both enter.</a:t>
            </a:r>
          </a:p>
        </p:txBody>
      </p:sp>
      <p:sp>
        <p:nvSpPr>
          <p:cNvPr id="101" name="C4-E08 text 99" descr="sci-ppt:o09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C4-E09 · Short-pulse free-response approximation</a:t>
            </a:r>
          </a:p>
        </p:txBody>
      </p:sp>
      <p:cxnSp>
        <p:nvCxnSpPr>
          <p:cNvPr id="3" name="C4-E09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09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9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09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09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09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09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09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09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09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09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09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09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09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09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09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09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09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09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09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09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09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09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09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09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09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09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09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09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09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09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09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09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09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09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09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09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09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09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09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09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09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09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09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09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09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09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09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09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09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09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09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09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09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09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09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09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09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09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09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09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09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09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09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09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09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09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09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09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09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09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09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09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09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09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09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09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09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09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09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09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09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09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09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09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09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09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09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09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09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09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09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09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J_A ↑ pulse impulse</a:t>
            </a:r>
          </a:p>
        </p:txBody>
      </p:sp>
      <p:sp>
        <p:nvSpPr>
          <p:cNvPr id="96" name="C4-E09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— areal mass</a:t>
            </a:r>
          </a:p>
        </p:txBody>
      </p:sp>
      <p:sp>
        <p:nvSpPr>
          <p:cNvPr id="97" name="C4-E09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Δẇ ↑ initial response</a:t>
            </a:r>
          </a:p>
        </p:txBody>
      </p:sp>
      <p:sp>
        <p:nvSpPr>
          <p:cNvPr id="98" name="C4-E09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E_A — motion energy per area</a:t>
            </a:r>
          </a:p>
        </p:txBody>
      </p:sp>
      <p:sp>
        <p:nvSpPr>
          <p:cNvPr id="99" name="C4-E09 text 97" descr="sci-ppt:o09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Reaction impulses must be negligible.</a:t>
            </a:r>
          </a:p>
        </p:txBody>
      </p:sp>
      <p:sp>
        <p:nvSpPr>
          <p:cNvPr id="100" name="C4-E09 text 98" descr="sci-ppt:o09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C4-E10 · Derived term-balance estimates</a:t>
            </a:r>
          </a:p>
        </p:txBody>
      </p:sp>
      <p:sp>
        <p:nvSpPr>
          <p:cNvPr id="3" name="C4-E10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10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Bending: t_b,scale</a:t>
            </a:r>
          </a:p>
        </p:txBody>
      </p:sp>
      <p:cxnSp>
        <p:nvCxnSpPr>
          <p:cNvPr id="5" name="C4-E10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10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10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Pretension: t_T,scale</a:t>
            </a:r>
          </a:p>
        </p:txBody>
      </p:sp>
      <p:cxnSp>
        <p:nvCxnSpPr>
          <p:cNvPr id="8" name="C4-E10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10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10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Cohesion: t_n,scale</a:t>
            </a:r>
          </a:p>
        </p:txBody>
      </p:sp>
      <p:sp>
        <p:nvSpPr>
          <p:cNvPr id="11" name="C4-E10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Compare actual pulse duration with each applicable response time.</a:t>
            </a:r>
          </a:p>
        </p:txBody>
      </p:sp>
      <p:cxnSp>
        <p:nvCxnSpPr>
          <p:cNvPr id="12" name="C4-E10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10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 — lateral deformation length</a:t>
            </a:r>
          </a:p>
        </p:txBody>
      </p:sp>
      <p:sp>
        <p:nvSpPr>
          <p:cNvPr id="14" name="C4-E10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— inertia</a:t>
            </a:r>
          </a:p>
        </p:txBody>
      </p:sp>
      <p:sp>
        <p:nvSpPr>
          <p:cNvPr id="15" name="C4-E10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→ t_b,scale</a:t>
            </a:r>
          </a:p>
        </p:txBody>
      </p:sp>
      <p:sp>
        <p:nvSpPr>
          <p:cNvPr id="16" name="C4-E10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→ t_T,scale</a:t>
            </a:r>
          </a:p>
        </p:txBody>
      </p:sp>
      <p:sp>
        <p:nvSpPr>
          <p:cNvPr id="17" name="C4-E10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→ t_n,scale</a:t>
            </a:r>
          </a:p>
        </p:txBody>
      </p:sp>
      <p:sp>
        <p:nvSpPr>
          <p:cNvPr id="18" name="C4-E10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pulse duration → compare response times</a:t>
            </a:r>
          </a:p>
        </p:txBody>
      </p:sp>
      <p:sp>
        <p:nvSpPr>
          <p:cNvPr id="19" name="C4-E10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PVC also has a finite through-thickness wave time.</a:t>
            </a:r>
          </a:p>
        </p:txBody>
      </p:sp>
      <p:sp>
        <p:nvSpPr>
          <p:cNvPr id="20" name="C4-E10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C4-E11 · Definition with quasistatic fracture criterion</a:t>
            </a:r>
          </a:p>
        </p:txBody>
      </p:sp>
      <p:cxnSp>
        <p:nvCxnSpPr>
          <p:cNvPr id="3" name="C4-E11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1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1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1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1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1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1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1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1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1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1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1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1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1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1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1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1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1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1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1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1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1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1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1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1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1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1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1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1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1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1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1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1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1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1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1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1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1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1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1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1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1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1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1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1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1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1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1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1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1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1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1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1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1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1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1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1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1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1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1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1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1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1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1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1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1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1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1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1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1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1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1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1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1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1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1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1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1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1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1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1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1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1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1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11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11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1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11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11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11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11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11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11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A_c → advancing release area</a:t>
            </a:r>
          </a:p>
        </p:txBody>
      </p:sp>
      <p:sp>
        <p:nvSpPr>
          <p:cNvPr id="96" name="C4-E11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→ available energy per new area</a:t>
            </a:r>
          </a:p>
        </p:txBody>
      </p:sp>
      <p:sp>
        <p:nvSpPr>
          <p:cNvPr id="97" name="C4-E11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Γ(ψ,T_i,v_c) → resistance</a:t>
            </a:r>
          </a:p>
        </p:txBody>
      </p:sp>
      <p:sp>
        <p:nvSpPr>
          <p:cNvPr id="98" name="C4-E11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 — system potential</a:t>
            </a:r>
          </a:p>
        </p:txBody>
      </p:sp>
      <p:sp>
        <p:nvSpPr>
          <p:cNvPr id="99" name="C4-E11 text 97" descr="sci-ppt:o09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 — held source control</a:t>
            </a:r>
          </a:p>
        </p:txBody>
      </p:sp>
      <p:sp>
        <p:nvSpPr>
          <p:cNvPr id="100" name="C4-E11 text 98" descr="sci-ppt:o09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Strength has units Pa; fracture resistance has units J/m².</a:t>
            </a:r>
          </a:p>
        </p:txBody>
      </p:sp>
      <p:sp>
        <p:nvSpPr>
          <p:cNvPr id="101" name="C4-E11 text 99" descr="sci-ppt:o09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C4-E12 · Conditional dynamic energy balance</a:t>
            </a:r>
          </a:p>
        </p:txBody>
      </p:sp>
      <p:sp>
        <p:nvSpPr>
          <p:cNvPr id="3" name="C4-E12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12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Applied solid power</a:t>
            </a:r>
          </a:p>
        </p:txBody>
      </p:sp>
      <p:cxnSp>
        <p:nvCxnSpPr>
          <p:cNvPr id="5" name="C4-E12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12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12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Kinetic + elastic storage</a:t>
            </a:r>
          </a:p>
        </p:txBody>
      </p:sp>
      <p:cxnSp>
        <p:nvCxnSpPr>
          <p:cNvPr id="8" name="C4-E12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12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12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Interface power + losses</a:t>
            </a:r>
          </a:p>
        </p:txBody>
      </p:sp>
      <p:sp>
        <p:nvSpPr>
          <p:cNvPr id="11" name="C4-E12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12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12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P_load → solid power</a:t>
            </a:r>
          </a:p>
        </p:txBody>
      </p:sp>
      <p:sp>
        <p:nvSpPr>
          <p:cNvPr id="14" name="C4-E12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K_f — motion storage</a:t>
            </a:r>
          </a:p>
        </p:txBody>
      </p:sp>
      <p:sp>
        <p:nvSpPr>
          <p:cNvPr id="15" name="C4-E12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U_f — elastic storage</a:t>
            </a:r>
          </a:p>
        </p:txBody>
      </p:sp>
      <p:sp>
        <p:nvSpPr>
          <p:cNvPr id="16" name="C4-E12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L_c, dℓ, v_c → new crack area/time</a:t>
            </a:r>
          </a:p>
        </p:txBody>
      </p:sp>
      <p:sp>
        <p:nvSpPr>
          <p:cNvPr id="17" name="C4-E12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Γ(ψ,T_i,v_c) → fracture consumption</a:t>
            </a:r>
          </a:p>
        </p:txBody>
      </p:sp>
      <p:sp>
        <p:nvSpPr>
          <p:cNvPr id="18" name="C4-E12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P_other → other losses</a:t>
            </a:r>
          </a:p>
        </p:txBody>
      </p:sp>
      <p:sp>
        <p:nvSpPr>
          <p:cNvPr id="19" name="C4-E12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Crack dissipation is counted once.</a:t>
            </a:r>
          </a:p>
        </p:txBody>
      </p:sp>
      <p:sp>
        <p:nvSpPr>
          <p:cNvPr id="20" name="C4-E12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C4-E13 · Quasistatic plate boundary-value model</a:t>
            </a:r>
          </a:p>
        </p:txBody>
      </p:sp>
      <p:cxnSp>
        <p:nvCxnSpPr>
          <p:cNvPr id="3" name="C4-E13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3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3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3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3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3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3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3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3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3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3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3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3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3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3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3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3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3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3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3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3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3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3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3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3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3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3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3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3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3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3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3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3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3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3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3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3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3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3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3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3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3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3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3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3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3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3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3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3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3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3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3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3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3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3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3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3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3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3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3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3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3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3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3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3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3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3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3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3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3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3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3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3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3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3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3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3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3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3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3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3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3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3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3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3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3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3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3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3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3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3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3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3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3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3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3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3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3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0 — regular centre</a:t>
            </a:r>
          </a:p>
        </p:txBody>
      </p:sp>
      <p:sp>
        <p:nvSpPr>
          <p:cNvPr id="101" name="C4-E13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b — clamped crack front</a:t>
            </a:r>
          </a:p>
        </p:txBody>
      </p:sp>
      <p:sp>
        <p:nvSpPr>
          <p:cNvPr id="102" name="C4-E13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↑ uniform maintained pressure</a:t>
            </a:r>
          </a:p>
        </p:txBody>
      </p:sp>
      <p:sp>
        <p:nvSpPr>
          <p:cNvPr id="103" name="C4-E13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plate stiffness</a:t>
            </a:r>
          </a:p>
        </p:txBody>
      </p:sp>
      <p:sp>
        <p:nvSpPr>
          <p:cNvPr id="104" name="C4-E13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w(r) ↑ opening</a:t>
            </a:r>
          </a:p>
        </p:txBody>
      </p:sp>
      <p:sp>
        <p:nvSpPr>
          <p:cNvPr id="105" name="C4-E13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= L_r w — curvature sum</a:t>
            </a:r>
          </a:p>
        </p:txBody>
      </p:sp>
      <p:sp>
        <p:nvSpPr>
          <p:cNvPr id="106" name="C4-E13 text 104" descr="sci-ppt:o104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 — radial test function</a:t>
            </a:r>
          </a:p>
        </p:txBody>
      </p:sp>
      <p:sp>
        <p:nvSpPr>
          <p:cNvPr id="107" name="C4-E13 text 105" descr="sci-ppt:o10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point force at the centre.</a:t>
            </a:r>
          </a:p>
        </p:txBody>
      </p:sp>
      <p:sp>
        <p:nvSpPr>
          <p:cNvPr id="108" name="C4-E13 text 106" descr="sci-ppt:o10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External pressure remains fixed as b changes.</a:t>
            </a:r>
          </a:p>
        </p:txBody>
      </p:sp>
      <p:sp>
        <p:nvSpPr>
          <p:cNvPr id="109" name="C4-E13 text 107" descr="sci-ppt:o10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C4-E14 · Derived first two radial integrations</a:t>
            </a:r>
          </a:p>
        </p:txBody>
      </p:sp>
      <p:cxnSp>
        <p:nvCxnSpPr>
          <p:cNvPr id="3" name="C4-E14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4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4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4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4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4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4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4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4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4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4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4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4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4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4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4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4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4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4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4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4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4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4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4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4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4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4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4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4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4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4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4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4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4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4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4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4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4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4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4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4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4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4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4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4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4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4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4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4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4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4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4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4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4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4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4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4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4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4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4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4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4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4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4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4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4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4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4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4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4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4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4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4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4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4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4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4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4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4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4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4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4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4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4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4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4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4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4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4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4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4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4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4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4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4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4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4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4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→ curvature forcing</a:t>
            </a:r>
          </a:p>
        </p:txBody>
      </p:sp>
      <p:sp>
        <p:nvSpPr>
          <p:cNvPr id="101" name="C4-E14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resistance</a:t>
            </a:r>
          </a:p>
        </p:txBody>
      </p:sp>
      <p:sp>
        <p:nvSpPr>
          <p:cNvPr id="102" name="C4-E14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b — radial domain</a:t>
            </a:r>
          </a:p>
        </p:txBody>
      </p:sp>
      <p:sp>
        <p:nvSpPr>
          <p:cNvPr id="103" name="C4-E14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g(r), g′ — curvature fields</a:t>
            </a:r>
          </a:p>
        </p:txBody>
      </p:sp>
      <p:sp>
        <p:nvSpPr>
          <p:cNvPr id="104" name="C4-E14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C₁ = 0 — centre regularity</a:t>
            </a:r>
          </a:p>
        </p:txBody>
      </p:sp>
      <p:sp>
        <p:nvSpPr>
          <p:cNvPr id="105" name="C4-E14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C₂ — remaining curvature offset</a:t>
            </a:r>
          </a:p>
        </p:txBody>
      </p:sp>
      <p:sp>
        <p:nvSpPr>
          <p:cNvPr id="106" name="C4-E14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An inverse-radius curvature gradient is rejected at the centre.</a:t>
            </a:r>
          </a:p>
        </p:txBody>
      </p:sp>
      <p:sp>
        <p:nvSpPr>
          <p:cNvPr id="107" name="C4-E14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C4-E15 · Derived second pair of radial integrations</a:t>
            </a:r>
          </a:p>
        </p:txBody>
      </p:sp>
      <p:cxnSp>
        <p:nvCxnSpPr>
          <p:cNvPr id="3" name="C4-E15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5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5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5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5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5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5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5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5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5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5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5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5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5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5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5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5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5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5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5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5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5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5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5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5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5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5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5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5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5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5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5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5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5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5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5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5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5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5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5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5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5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5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5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5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5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5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5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5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5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5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5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5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5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5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5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5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5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5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5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5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5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5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5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5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5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5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5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5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5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5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5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5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5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5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5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5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5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5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5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5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5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5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5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5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5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5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5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5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5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5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5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5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5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5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5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5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5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b — radial geometry</a:t>
            </a:r>
          </a:p>
        </p:txBody>
      </p:sp>
      <p:sp>
        <p:nvSpPr>
          <p:cNvPr id="101" name="C4-E15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w(r), w′ — displacement and slope</a:t>
            </a:r>
          </a:p>
        </p:txBody>
      </p:sp>
      <p:sp>
        <p:nvSpPr>
          <p:cNvPr id="102" name="C4-E15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— curvature sum</a:t>
            </a:r>
          </a:p>
        </p:txBody>
      </p:sp>
      <p:sp>
        <p:nvSpPr>
          <p:cNvPr id="103" name="C4-E15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 D_f — forcing and stiffness</a:t>
            </a:r>
          </a:p>
        </p:txBody>
      </p:sp>
      <p:sp>
        <p:nvSpPr>
          <p:cNvPr id="104" name="C4-E15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C₂ — curvature offset</a:t>
            </a:r>
          </a:p>
        </p:txBody>
      </p:sp>
      <p:sp>
        <p:nvSpPr>
          <p:cNvPr id="105" name="C4-E15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C₃ = 0 — regular slope</a:t>
            </a:r>
          </a:p>
        </p:txBody>
      </p:sp>
      <p:sp>
        <p:nvSpPr>
          <p:cNvPr id="106" name="C4-E15 text 104" descr="sci-ppt:o104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C₄ — height offset</a:t>
            </a:r>
          </a:p>
        </p:txBody>
      </p:sp>
      <p:sp>
        <p:nvSpPr>
          <p:cNvPr id="107" name="C4-E15 text 105" descr="sci-ppt:o10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centre carries no singular force.</a:t>
            </a:r>
          </a:p>
        </p:txBody>
      </p:sp>
      <p:sp>
        <p:nvSpPr>
          <p:cNvPr id="108" name="C4-E15 text 106" descr="sci-ppt:o106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C4-E16 · Exact solution of the stated linear-plate benchmark</a:t>
            </a:r>
          </a:p>
        </p:txBody>
      </p:sp>
      <p:cxnSp>
        <p:nvCxnSpPr>
          <p:cNvPr id="3" name="C4-E16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6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6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6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6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6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6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6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6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6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6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6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6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6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6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6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6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6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6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6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6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6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6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6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6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6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6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6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6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6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6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6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6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6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6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6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6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6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6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6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6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6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6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6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6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6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6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6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6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6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6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6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6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6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6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6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6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6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6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6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6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6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6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6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6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6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6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6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6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6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6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6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6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6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6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6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6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6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6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6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6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6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6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6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6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6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6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6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6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6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6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6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6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6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6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6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6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6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0 → w_max</a:t>
            </a:r>
          </a:p>
        </p:txBody>
      </p:sp>
      <p:sp>
        <p:nvSpPr>
          <p:cNvPr id="101" name="C4-E16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b → w = 0, slope = 0</a:t>
            </a:r>
          </a:p>
        </p:txBody>
      </p:sp>
      <p:sp>
        <p:nvSpPr>
          <p:cNvPr id="102" name="C4-E16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↑ held pressure</a:t>
            </a:r>
          </a:p>
        </p:txBody>
      </p:sp>
      <p:sp>
        <p:nvSpPr>
          <p:cNvPr id="103" name="C4-E16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bending resistance</a:t>
            </a:r>
          </a:p>
        </p:txBody>
      </p:sp>
      <p:sp>
        <p:nvSpPr>
          <p:cNvPr id="104" name="C4-E16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C₂, C₄ — boundary-fixed constants</a:t>
            </a:r>
          </a:p>
        </p:txBody>
      </p:sp>
      <p:sp>
        <p:nvSpPr>
          <p:cNvPr id="105" name="C4-E16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w(r) — quartic profile</a:t>
            </a:r>
          </a:p>
        </p:txBody>
      </p:sp>
      <p:sp>
        <p:nvSpPr>
          <p:cNvPr id="106" name="C4-E16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bonded outside region supplies the clamp.</a:t>
            </a:r>
          </a:p>
        </p:txBody>
      </p:sp>
      <p:sp>
        <p:nvSpPr>
          <p:cNvPr id="107" name="C4-E16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C4-E17 · Governing-equation and boundary verification</a:t>
            </a:r>
          </a:p>
        </p:txBody>
      </p:sp>
      <p:cxnSp>
        <p:nvCxnSpPr>
          <p:cNvPr id="3" name="C4-E17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7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7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7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7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7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7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7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7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7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7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7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7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7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7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7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7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7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7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7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7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7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7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7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7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7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7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7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7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7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7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7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7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7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7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7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7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7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7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7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7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7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7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7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7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7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7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7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7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7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7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7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7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7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7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7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7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7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7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7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7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7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7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7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7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7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7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7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7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7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7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7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7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7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7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7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7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7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7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7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7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7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7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7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7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7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7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7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7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7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7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7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7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7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7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7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7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7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— radial coordinate</a:t>
            </a:r>
          </a:p>
        </p:txBody>
      </p:sp>
      <p:sp>
        <p:nvSpPr>
          <p:cNvPr id="101" name="C4-E17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— crack edge</a:t>
            </a:r>
          </a:p>
        </p:txBody>
      </p:sp>
      <p:sp>
        <p:nvSpPr>
          <p:cNvPr id="102" name="C4-E17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w′ — opening and slope</a:t>
            </a:r>
          </a:p>
        </p:txBody>
      </p:sp>
      <p:sp>
        <p:nvSpPr>
          <p:cNvPr id="103" name="C4-E17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L_r²w = p₀ — equation residual</a:t>
            </a:r>
          </a:p>
        </p:txBody>
      </p:sp>
      <p:sp>
        <p:nvSpPr>
          <p:cNvPr id="104" name="C4-E17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0 and b → zero slope</a:t>
            </a:r>
          </a:p>
        </p:txBody>
      </p:sp>
      <p:sp>
        <p:nvSpPr>
          <p:cNvPr id="105" name="C4-E17 text 103" descr="sci-ppt:o10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L_r r² = 4</a:t>
            </a:r>
          </a:p>
        </p:txBody>
      </p:sp>
      <p:sp>
        <p:nvSpPr>
          <p:cNvPr id="106" name="C4-E17 text 104" descr="sci-ppt:o104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L_r r⁴ = 16r²</a:t>
            </a:r>
          </a:p>
        </p:txBody>
      </p:sp>
      <p:sp>
        <p:nvSpPr>
          <p:cNvPr id="107" name="C4-E17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C4-E18 · Exact geometric volume integral for the benchmark</a:t>
            </a:r>
          </a:p>
        </p:txBody>
      </p:sp>
      <p:cxnSp>
        <p:nvCxnSpPr>
          <p:cNvPr id="3" name="C4-E18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8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8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8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8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8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8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8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8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8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8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8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8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8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8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8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8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8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8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8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8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8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8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8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8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8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8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8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8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8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8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8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8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8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8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8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8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8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8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8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8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8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8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8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8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8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8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8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8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8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8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8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8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8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8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8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8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8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8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8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8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8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8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8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8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8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8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8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8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8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8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8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8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8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8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8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8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8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8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8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8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8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8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8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8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8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8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8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8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8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8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8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8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8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8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8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8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8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V_bl — volume below lifted plate</a:t>
            </a:r>
          </a:p>
        </p:txBody>
      </p:sp>
      <p:sp>
        <p:nvSpPr>
          <p:cNvPr id="101" name="C4-E18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w(r) ↑ local opening</a:t>
            </a:r>
          </a:p>
        </p:txBody>
      </p:sp>
      <p:sp>
        <p:nvSpPr>
          <p:cNvPr id="102" name="C4-E18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dr → annular area weight</a:t>
            </a:r>
          </a:p>
        </p:txBody>
      </p:sp>
      <p:sp>
        <p:nvSpPr>
          <p:cNvPr id="103" name="C4-E18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— circular crack edge</a:t>
            </a:r>
          </a:p>
        </p:txBody>
      </p:sp>
      <p:sp>
        <p:nvSpPr>
          <p:cNvPr id="104" name="C4-E18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 D_f — compliance inputs</a:t>
            </a:r>
          </a:p>
        </p:txBody>
      </p:sp>
      <p:sp>
        <p:nvSpPr>
          <p:cNvPr id="105" name="C4-E18 text 103" descr="sci-ppt:o10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Every annulus contributes its own displacement.</a:t>
            </a:r>
          </a:p>
        </p:txBody>
      </p:sp>
      <p:sp>
        <p:nvSpPr>
          <p:cNvPr id="106" name="C4-E18 text 104" descr="sci-ppt:o104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C4-E19 · Derived potential under maintained-pressure control</a:t>
            </a:r>
          </a:p>
        </p:txBody>
      </p:sp>
      <p:sp>
        <p:nvSpPr>
          <p:cNvPr id="3" name="C4-E19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19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Plate storage U_b</a:t>
            </a:r>
          </a:p>
        </p:txBody>
      </p:sp>
      <p:cxnSp>
        <p:nvCxnSpPr>
          <p:cNvPr id="5" name="C4-E19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19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19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Source potential −p₀V_bl</a:t>
            </a:r>
          </a:p>
        </p:txBody>
      </p:sp>
      <p:cxnSp>
        <p:nvCxnSpPr>
          <p:cNvPr id="8" name="C4-E19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19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19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System potential P</a:t>
            </a:r>
          </a:p>
        </p:txBody>
      </p:sp>
      <p:sp>
        <p:nvSpPr>
          <p:cNvPr id="11" name="C4-E19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19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19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— maintained source pressure</a:t>
            </a:r>
          </a:p>
        </p:txBody>
      </p:sp>
      <p:sp>
        <p:nvSpPr>
          <p:cNvPr id="14" name="C4-E19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V_bl, v — cavity volume</a:t>
            </a:r>
          </a:p>
        </p:txBody>
      </p:sp>
      <p:sp>
        <p:nvSpPr>
          <p:cNvPr id="15" name="C4-E19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C_b — volume compliance</a:t>
            </a:r>
          </a:p>
        </p:txBody>
      </p:sp>
      <p:sp>
        <p:nvSpPr>
          <p:cNvPr id="16" name="C4-E19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U_b = ½p₀V_bl — plate storage</a:t>
            </a:r>
          </a:p>
        </p:txBody>
      </p:sp>
      <p:sp>
        <p:nvSpPr>
          <p:cNvPr id="17" name="C4-E19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−p₀V_bl — source potential</a:t>
            </a:r>
          </a:p>
        </p:txBody>
      </p:sp>
      <p:sp>
        <p:nvSpPr>
          <p:cNvPr id="18" name="C4-E19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 = U_b − p₀V_bl</a:t>
            </a:r>
          </a:p>
        </p:txBody>
      </p:sp>
      <p:sp>
        <p:nvSpPr>
          <p:cNvPr id="19" name="C4-E19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b, D_f — geometry and stiffness</a:t>
            </a:r>
          </a:p>
        </p:txBody>
      </p:sp>
      <p:sp>
        <p:nvSpPr>
          <p:cNvPr id="20" name="C4-E19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external pressure reservoir supplies work as the crack grows.</a:t>
            </a:r>
          </a:p>
        </p:txBody>
      </p:sp>
      <p:sp>
        <p:nvSpPr>
          <p:cNvPr id="21" name="C4-E19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C4-E20 · Derived quasistatic energy-release rate</a:t>
            </a:r>
          </a:p>
        </p:txBody>
      </p:sp>
      <p:cxnSp>
        <p:nvCxnSpPr>
          <p:cNvPr id="3" name="C4-E20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20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20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0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0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20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20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20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20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20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20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20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20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20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20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20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20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20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20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20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20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20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20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20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20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20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20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20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20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20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20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20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20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20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20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20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20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20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20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20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20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20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20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20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20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20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20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20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20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20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20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20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20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20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20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20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20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20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20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20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20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20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20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20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20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20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20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20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20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20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20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20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20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20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20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20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20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20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20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20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20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20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20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20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20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20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20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20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20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20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20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20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20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20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20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20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20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20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→ moving circular crack edge</a:t>
            </a:r>
          </a:p>
        </p:txBody>
      </p:sp>
      <p:sp>
        <p:nvSpPr>
          <p:cNvPr id="101" name="C4-E20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A_c = πb² → released area</a:t>
            </a:r>
          </a:p>
        </p:txBody>
      </p:sp>
      <p:sp>
        <p:nvSpPr>
          <p:cNvPr id="102" name="C4-E20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— fixed load</a:t>
            </a:r>
          </a:p>
        </p:txBody>
      </p:sp>
      <p:sp>
        <p:nvSpPr>
          <p:cNvPr id="103" name="C4-E20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plate stiffness</a:t>
            </a:r>
          </a:p>
        </p:txBody>
      </p:sp>
      <p:sp>
        <p:nvSpPr>
          <p:cNvPr id="104" name="C4-E20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 → differentiable system potential</a:t>
            </a:r>
          </a:p>
        </p:txBody>
      </p:sp>
      <p:sp>
        <p:nvSpPr>
          <p:cNvPr id="105" name="C4-E20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G_p₀ → energy per new area</a:t>
            </a:r>
          </a:p>
        </p:txBody>
      </p:sp>
      <p:sp>
        <p:nvSpPr>
          <p:cNvPr id="106" name="C4-E20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derivative is taken at fixed pressure.</a:t>
            </a:r>
          </a:p>
        </p:txBody>
      </p:sp>
      <p:sp>
        <p:nvSpPr>
          <p:cNvPr id="107" name="C4-E20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C4-E21 · Derived onset threshold within the benchmark</a:t>
            </a:r>
          </a:p>
        </p:txBody>
      </p:sp>
      <p:cxnSp>
        <p:nvCxnSpPr>
          <p:cNvPr id="3" name="C4-E21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21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21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1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1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21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21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21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21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21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21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21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21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21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21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21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21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21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21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21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21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21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21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21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21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21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21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21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21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21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21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21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21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21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21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21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21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21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21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21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21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21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21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21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21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21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21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21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21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21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21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21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21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21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21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21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21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21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21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21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21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21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21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21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21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21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21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21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21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21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21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21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21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21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21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21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21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21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21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21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21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21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21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21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21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21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21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21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21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21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21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21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21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21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21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21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21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21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→ pressure loading</a:t>
            </a:r>
          </a:p>
        </p:txBody>
      </p:sp>
      <p:sp>
        <p:nvSpPr>
          <p:cNvPr id="101" name="C4-E21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p₀,crit → onset threshold</a:t>
            </a:r>
          </a:p>
        </p:txBody>
      </p:sp>
      <p:sp>
        <p:nvSpPr>
          <p:cNvPr id="102" name="C4-E21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D_f, Γ → stiffness and fracture resistance</a:t>
            </a:r>
          </a:p>
        </p:txBody>
      </p:sp>
      <p:sp>
        <p:nvSpPr>
          <p:cNvPr id="103" name="C4-E21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→ pre-existing crack size</a:t>
            </a:r>
          </a:p>
        </p:txBody>
      </p:sp>
      <p:sp>
        <p:nvSpPr>
          <p:cNvPr id="104" name="C4-E21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G_p₀/Γ → propagation screen</a:t>
            </a:r>
          </a:p>
        </p:txBody>
      </p:sp>
      <p:sp>
        <p:nvSpPr>
          <p:cNvPr id="105" name="C4-E21 text 103" descr="sci-ppt:o10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Larger existing delamination lowers critical pressure.</a:t>
            </a:r>
          </a:p>
        </p:txBody>
      </p:sp>
      <p:sp>
        <p:nvSpPr>
          <p:cNvPr id="106" name="C4-E21 text 104" descr="sci-ppt:o104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C4-E22 · Derived loading-control comparison</a:t>
            </a:r>
          </a:p>
        </p:txBody>
      </p:sp>
      <p:sp>
        <p:nvSpPr>
          <p:cNvPr id="3" name="C4-E22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22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pressure: G ∝ b⁴</a:t>
            </a:r>
          </a:p>
        </p:txBody>
      </p:sp>
      <p:cxnSp>
        <p:nvCxnSpPr>
          <p:cNvPr id="5" name="C4-E22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22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22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volume: G ∝ b⁻⁸</a:t>
            </a:r>
          </a:p>
        </p:txBody>
      </p:sp>
      <p:cxnSp>
        <p:nvCxnSpPr>
          <p:cNvPr id="8" name="C4-E22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22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22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Different crack evolution</a:t>
            </a:r>
          </a:p>
        </p:txBody>
      </p:sp>
      <p:sp>
        <p:nvSpPr>
          <p:cNvPr id="11" name="C4-E22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22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22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V̄ — fixed added volume</a:t>
            </a:r>
          </a:p>
        </p:txBody>
      </p:sp>
      <p:sp>
        <p:nvSpPr>
          <p:cNvPr id="14" name="C4-E22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↑ advancing crack</a:t>
            </a:r>
          </a:p>
        </p:txBody>
      </p:sp>
      <p:sp>
        <p:nvSpPr>
          <p:cNvPr id="15" name="C4-E22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p(b) ↓ as compliance grows</a:t>
            </a:r>
          </a:p>
        </p:txBody>
      </p:sp>
      <p:sp>
        <p:nvSpPr>
          <p:cNvPr id="16" name="C4-E22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C_b, D_f — elastic compliance</a:t>
            </a:r>
          </a:p>
        </p:txBody>
      </p:sp>
      <p:sp>
        <p:nvSpPr>
          <p:cNvPr id="17" name="C4-E22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U_b — plate storage</a:t>
            </a:r>
          </a:p>
        </p:txBody>
      </p:sp>
      <p:sp>
        <p:nvSpPr>
          <p:cNvPr id="18" name="C4-E22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G_V̄ ∝ b⁻⁸</a:t>
            </a:r>
          </a:p>
        </p:txBody>
      </p:sp>
      <p:sp>
        <p:nvSpPr>
          <p:cNvPr id="19" name="C4-E22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G_p₀ ∝ b⁴ under fixed p₀</a:t>
            </a:r>
          </a:p>
        </p:txBody>
      </p:sp>
      <p:sp>
        <p:nvSpPr>
          <p:cNvPr id="20" name="C4-E22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Same instantaneous state does not imply the same crack trajectory.</a:t>
            </a:r>
          </a:p>
        </p:txBody>
      </p:sp>
      <p:sp>
        <p:nvSpPr>
          <p:cNvPr id="21" name="C4-E22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C4-E23 · Checked teaching substitution</a:t>
            </a:r>
          </a:p>
        </p:txBody>
      </p:sp>
      <p:cxnSp>
        <p:nvCxnSpPr>
          <p:cNvPr id="3" name="C4-E23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23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23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3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3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23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23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23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23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23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23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23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23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23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23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23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23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23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23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23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23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23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23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23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23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23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23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23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23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23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23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23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23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23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23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23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23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23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23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23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23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23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23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23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23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23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23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23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23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23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23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23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23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23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23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23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23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23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23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23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23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23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23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23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23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23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23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23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23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23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23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23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23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23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23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23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23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23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23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23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23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23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23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23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23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23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23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23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23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23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23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23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23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23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23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23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23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23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= 10 μm — plate thickness</a:t>
            </a:r>
          </a:p>
        </p:txBody>
      </p:sp>
      <p:sp>
        <p:nvSpPr>
          <p:cNvPr id="101" name="C4-E23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= 100 μm — existing crack</a:t>
            </a:r>
          </a:p>
        </p:txBody>
      </p:sp>
      <p:sp>
        <p:nvSpPr>
          <p:cNvPr id="102" name="C4-E23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E_f = 2 GPa, ν_f = 0.35</a:t>
            </a:r>
          </a:p>
        </p:txBody>
      </p:sp>
      <p:sp>
        <p:nvSpPr>
          <p:cNvPr id="103" name="C4-E23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= 1.8993×10⁻⁷ N m</a:t>
            </a:r>
          </a:p>
        </p:txBody>
      </p:sp>
      <p:sp>
        <p:nvSpPr>
          <p:cNvPr id="104" name="C4-E23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= 0.10 J/m²</a:t>
            </a:r>
          </a:p>
        </p:txBody>
      </p:sp>
      <p:sp>
        <p:nvSpPr>
          <p:cNvPr id="105" name="C4-E23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p₀,crit = 155.921 kPa</a:t>
            </a:r>
          </a:p>
        </p:txBody>
      </p:sp>
      <p:sp>
        <p:nvSpPr>
          <p:cNvPr id="106" name="C4-E23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This is not the 1 μm array-loaded payload.</a:t>
            </a:r>
          </a:p>
        </p:txBody>
      </p:sp>
      <p:sp>
        <p:nvSpPr>
          <p:cNvPr id="107" name="C4-E23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C4-E24 · Magnitude, geometric-validity and competing-failure checks</a:t>
            </a:r>
          </a:p>
        </p:txBody>
      </p:sp>
      <p:cxnSp>
        <p:nvCxnSpPr>
          <p:cNvPr id="3" name="C4-E24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24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24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4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4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24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24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24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24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24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24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24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24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24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24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24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24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24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24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24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24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24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24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24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24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24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24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24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24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24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24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24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24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24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24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24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24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24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24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24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24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24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24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24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24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24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24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24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24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24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24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24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24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24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24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24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24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24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24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24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24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24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24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24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24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24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24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24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24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24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24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24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24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24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24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24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24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24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24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24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24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24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24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24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24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24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24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24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24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24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24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24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24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24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24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24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24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24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w(0) = 1.283 μm — centre lift</a:t>
            </a:r>
          </a:p>
        </p:txBody>
      </p:sp>
      <p:sp>
        <p:nvSpPr>
          <p:cNvPr id="101" name="C4-E24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= 10 μm — thickness</a:t>
            </a:r>
          </a:p>
        </p:txBody>
      </p:sp>
      <p:sp>
        <p:nvSpPr>
          <p:cNvPr id="102" name="C4-E24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= 100 μm — clamp</a:t>
            </a:r>
          </a:p>
        </p:txBody>
      </p:sp>
      <p:sp>
        <p:nvSpPr>
          <p:cNvPr id="103" name="C4-E24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V_bl = 13.4324 pL</a:t>
            </a:r>
          </a:p>
        </p:txBody>
      </p:sp>
      <p:sp>
        <p:nvSpPr>
          <p:cNvPr id="104" name="C4-E24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p₀,crit, D_f — input state</a:t>
            </a:r>
          </a:p>
        </p:txBody>
      </p:sp>
      <p:sp>
        <p:nvSpPr>
          <p:cNvPr id="105" name="C4-E24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M_r, σ_rr — edge bending</a:t>
            </a:r>
          </a:p>
        </p:txBody>
      </p:sp>
      <p:sp>
        <p:nvSpPr>
          <p:cNvPr id="106" name="C4-E24 text 104" descr="sci-ppt:o104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|σ_rr| = 11.694 MPa</a:t>
            </a:r>
          </a:p>
        </p:txBody>
      </p:sp>
      <p:sp>
        <p:nvSpPr>
          <p:cNvPr id="107" name="C4-E24 text 105" descr="sci-ppt:o10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Small deflection relative to thickness is checked.</a:t>
            </a:r>
          </a:p>
        </p:txBody>
      </p:sp>
      <p:sp>
        <p:nvSpPr>
          <p:cNvPr id="108" name="C4-E24 text 106" descr="sci-ppt:o10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Payload allowable strength is still missing.</a:t>
            </a:r>
          </a:p>
        </p:txBody>
      </p:sp>
      <p:sp>
        <p:nvSpPr>
          <p:cNvPr id="109" name="C4-E24 text 107" descr="sci-ppt:o10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C4-E25 · Adopted monotonic tensile cohesive law</a:t>
            </a:r>
          </a:p>
        </p:txBody>
      </p:sp>
      <p:cxnSp>
        <p:nvCxnSpPr>
          <p:cNvPr id="3" name="C4-E25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25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25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5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5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25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25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25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25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25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25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25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25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25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 → interface opening</a:t>
            </a:r>
          </a:p>
        </p:txBody>
      </p:sp>
      <p:sp>
        <p:nvSpPr>
          <p:cNvPr id="17" name="C4-E25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t_n(δ) ↑ tensile resistance</a:t>
            </a:r>
          </a:p>
        </p:txBody>
      </p:sp>
      <p:sp>
        <p:nvSpPr>
          <p:cNvPr id="18" name="C4-E25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— initial curve slope</a:t>
            </a:r>
          </a:p>
        </p:txBody>
      </p:sp>
      <p:sp>
        <p:nvSpPr>
          <p:cNvPr id="19" name="C4-E25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δ₀ → peak opening</a:t>
            </a:r>
          </a:p>
        </p:txBody>
      </p:sp>
      <p:sp>
        <p:nvSpPr>
          <p:cNvPr id="20" name="C4-E25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T_max → peak traction</a:t>
            </a:r>
          </a:p>
        </p:txBody>
      </p:sp>
      <p:sp>
        <p:nvSpPr>
          <p:cNvPr id="21" name="C4-E25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δ_c → complete separation</a:t>
            </a:r>
          </a:p>
        </p:txBody>
      </p:sp>
      <p:sp>
        <p:nvSpPr>
          <p:cNvPr id="22" name="C4-E25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Compression is a different branch.</a:t>
            </a:r>
          </a:p>
        </p:txBody>
      </p:sp>
      <p:sp>
        <p:nvSpPr>
          <p:cNvPr id="23" name="C4-E25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Tensile damage must not be inferred from pressure magnitude.</a:t>
            </a:r>
          </a:p>
        </p:txBody>
      </p:sp>
      <p:sp>
        <p:nvSpPr>
          <p:cNvPr id="24" name="C4-E25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C4-E26 · Exact work integral of the adopted cohesive law</a:t>
            </a:r>
          </a:p>
        </p:txBody>
      </p:sp>
      <p:cxnSp>
        <p:nvCxnSpPr>
          <p:cNvPr id="3" name="C4-E26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26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26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6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6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26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26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26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26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26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26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26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26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26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t_n(δ) — tensile traction curve</a:t>
            </a:r>
          </a:p>
        </p:txBody>
      </p:sp>
      <p:sp>
        <p:nvSpPr>
          <p:cNvPr id="17" name="C4-E26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δ, dδ — separation distance</a:t>
            </a:r>
          </a:p>
        </p:txBody>
      </p:sp>
      <p:sp>
        <p:nvSpPr>
          <p:cNvPr id="18" name="C4-E26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δ₀, δ_c — branch endpoints</a:t>
            </a:r>
          </a:p>
        </p:txBody>
      </p:sp>
      <p:sp>
        <p:nvSpPr>
          <p:cNvPr id="19" name="C4-E26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T_max — curve peak</a:t>
            </a:r>
          </a:p>
        </p:txBody>
      </p:sp>
      <p:sp>
        <p:nvSpPr>
          <p:cNvPr id="20" name="C4-E26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— ascending slope</a:t>
            </a:r>
          </a:p>
        </p:txBody>
      </p:sp>
      <p:sp>
        <p:nvSpPr>
          <p:cNvPr id="21" name="C4-E26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— full curve area</a:t>
            </a:r>
          </a:p>
        </p:txBody>
      </p:sp>
      <p:sp>
        <p:nvSpPr>
          <p:cNvPr id="22" name="C4-E26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Reaching the peak does not pay the entire curve area.</a:t>
            </a:r>
          </a:p>
        </p:txBody>
      </p:sp>
      <p:sp>
        <p:nvSpPr>
          <p:cNvPr id="23" name="C4-E26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C4-E27 · Cohesive admissibility teaching calculation</a:t>
            </a:r>
          </a:p>
        </p:txBody>
      </p:sp>
      <p:cxnSp>
        <p:nvCxnSpPr>
          <p:cNvPr id="3" name="C4-E27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27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27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7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7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27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27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27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27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27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27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27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27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27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T_max = 0.10 MPa — curve peak</a:t>
            </a:r>
          </a:p>
        </p:txBody>
      </p:sp>
      <p:sp>
        <p:nvSpPr>
          <p:cNvPr id="17" name="C4-E27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= 10¹³ Pa/m — initial slope</a:t>
            </a:r>
          </a:p>
        </p:txBody>
      </p:sp>
      <p:sp>
        <p:nvSpPr>
          <p:cNvPr id="18" name="C4-E27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δ₀ = 10 nm</a:t>
            </a:r>
          </a:p>
        </p:txBody>
      </p:sp>
      <p:sp>
        <p:nvSpPr>
          <p:cNvPr id="19" name="C4-E27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δ_c = 100 nm</a:t>
            </a:r>
          </a:p>
        </p:txBody>
      </p:sp>
      <p:sp>
        <p:nvSpPr>
          <p:cNvPr id="20" name="C4-E27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= 0.005 J/m² — curve area</a:t>
            </a:r>
          </a:p>
        </p:txBody>
      </p:sp>
      <p:sp>
        <p:nvSpPr>
          <p:cNvPr id="21" name="C4-E27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10 nm &lt; 100 nm: the softening interval is admissible.</a:t>
            </a:r>
          </a:p>
        </p:txBody>
      </p:sp>
      <p:sp>
        <p:nvSpPr>
          <p:cNvPr id="22" name="C4-E27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C4-E28 · Finite incoming state inherited from the teaching source</a:t>
            </a:r>
          </a:p>
        </p:txBody>
      </p:sp>
      <p:sp>
        <p:nvSpPr>
          <p:cNvPr id="3" name="C4-E28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28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4-E28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4-E28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4-E28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4-E28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4-E28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cxnSp>
        <p:nvCxnSpPr>
          <p:cNvPr id="10" name="C4-E28 arrow 8" descr="sci-ppt:o008"/>
          <p:cNvCxnSpPr/>
          <p:nvPr/>
        </p:nvCxnSpPr>
        <p:spPr>
          <a:xfrm>
            <a:off x="6126480" y="1874519"/>
            <a:ext cx="46634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4-E28 text 9" descr="sci-ppt:o009"/>
          <p:cNvSpPr txBox="1"/>
          <p:nvPr/>
        </p:nvSpPr>
        <p:spPr>
          <a:xfrm>
            <a:off x="6400800" y="1188720"/>
            <a:ext cx="4572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Finite mass defines speed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and useful momentum.</a:t>
            </a:r>
          </a:p>
        </p:txBody>
      </p:sp>
      <p:sp>
        <p:nvSpPr>
          <p:cNvPr id="12" name="C4-E28 text 10" descr="sci-ppt:o010"/>
          <p:cNvSpPr txBox="1"/>
          <p:nvPr/>
        </p:nvSpPr>
        <p:spPr>
          <a:xfrm>
            <a:off x="6400800" y="2377440"/>
            <a:ext cx="4572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P_j² ≤ 2 m_j E_j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E_j ≤ E_avail</a:t>
            </a:r>
          </a:p>
        </p:txBody>
      </p:sp>
      <p:cxnSp>
        <p:nvCxnSpPr>
          <p:cNvPr id="13" name="C4-E28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4-E28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= 25 — independent cells</a:t>
            </a:r>
          </a:p>
        </p:txBody>
      </p:sp>
      <p:sp>
        <p:nvSpPr>
          <p:cNvPr id="15" name="C4-E28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d_j = 10 μm</a:t>
            </a:r>
          </a:p>
        </p:txBody>
      </p:sp>
      <p:sp>
        <p:nvSpPr>
          <p:cNvPr id="16" name="C4-E28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L_j = 50 μm</a:t>
            </a:r>
          </a:p>
        </p:txBody>
      </p:sp>
      <p:sp>
        <p:nvSpPr>
          <p:cNvPr id="17" name="C4-E28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 = 1000 kg/m³ → m_j</a:t>
            </a:r>
          </a:p>
        </p:txBody>
      </p:sp>
      <p:sp>
        <p:nvSpPr>
          <p:cNvPr id="18" name="C4-E28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E_j = 2 nJ → U_j = 31.915 m/s</a:t>
            </a:r>
          </a:p>
        </p:txBody>
      </p:sp>
      <p:sp>
        <p:nvSpPr>
          <p:cNvPr id="19" name="C4-E28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E_in = 50 nJ</a:t>
            </a:r>
          </a:p>
        </p:txBody>
      </p:sp>
      <p:sp>
        <p:nvSpPr>
          <p:cNvPr id="20" name="C4-E28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I_in = 3.1333×10⁻⁹ N s</a:t>
            </a:r>
          </a:p>
        </p:txBody>
      </p:sp>
      <p:sp>
        <p:nvSpPr>
          <p:cNvPr id="21" name="C4-E28 text 19" descr="sci-ppt:o019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Finite carrier mass, not PFC vapor mass.</a:t>
            </a:r>
          </a:p>
        </p:txBody>
      </p:sp>
      <p:sp>
        <p:nvSpPr>
          <p:cNvPr id="22" name="C4-E28 text 20" descr="sci-ppt:o020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additional cluster amplification factor.</a:t>
            </a:r>
          </a:p>
        </p:txBody>
      </p:sp>
      <p:sp>
        <p:nvSpPr>
          <p:cNvPr id="23" name="C4-E28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C4-E29 · Explicit conditional solid-coupling allocation</a:t>
            </a:r>
          </a:p>
        </p:txBody>
      </p:sp>
      <p:sp>
        <p:nvSpPr>
          <p:cNvPr id="3" name="C4-E29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29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29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29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29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29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29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29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29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29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29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 = 1 mm² — intended release</a:t>
            </a:r>
          </a:p>
        </p:txBody>
      </p:sp>
      <p:sp>
        <p:nvSpPr>
          <p:cNvPr id="14" name="C4-E29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= 1 μm — payload thickness</a:t>
            </a:r>
          </a:p>
        </p:txBody>
      </p:sp>
      <p:sp>
        <p:nvSpPr>
          <p:cNvPr id="15" name="C4-E29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ρ_f = 2330 kg/m³ → m_f = 2.33 μg</a:t>
            </a:r>
          </a:p>
        </p:txBody>
      </p:sp>
      <p:sp>
        <p:nvSpPr>
          <p:cNvPr id="16" name="C4-E29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η_E = 0.20 → E_solid = 10 nJ</a:t>
            </a:r>
          </a:p>
        </p:txBody>
      </p:sp>
      <p:sp>
        <p:nvSpPr>
          <p:cNvPr id="17" name="C4-E29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η_I = 0.50 → I_net = 1.5666×10⁻⁹ N s</a:t>
            </a:r>
          </a:p>
        </p:txBody>
      </p:sp>
      <p:sp>
        <p:nvSpPr>
          <p:cNvPr id="18" name="C4-E29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E_in, I_in — incoming array</a:t>
            </a:r>
          </a:p>
        </p:txBody>
      </p:sp>
      <p:sp>
        <p:nvSpPr>
          <p:cNvPr id="19" name="C4-E29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Load-path coupling fractions are assumptions.</a:t>
            </a:r>
          </a:p>
        </p:txBody>
      </p:sp>
      <p:sp>
        <p:nvSpPr>
          <p:cNvPr id="20" name="C4-E29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This payload differs from the blister benchmark.</a:t>
            </a:r>
          </a:p>
        </p:txBody>
      </p:sp>
      <p:sp>
        <p:nvSpPr>
          <p:cNvPr id="21" name="C4-E29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C4-E30 · Necessary global energy and momentum screens</a:t>
            </a:r>
          </a:p>
        </p:txBody>
      </p:sp>
      <p:sp>
        <p:nvSpPr>
          <p:cNvPr id="3" name="C4-E30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0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0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0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0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0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0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0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0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0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0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 → available budget</a:t>
            </a:r>
          </a:p>
        </p:txBody>
      </p:sp>
      <p:sp>
        <p:nvSpPr>
          <p:cNvPr id="14" name="C4-E30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→ full release cost</a:t>
            </a:r>
          </a:p>
        </p:txBody>
      </p:sp>
      <p:sp>
        <p:nvSpPr>
          <p:cNvPr id="15" name="C4-E30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½m_f v_f² → departure kinetic energy</a:t>
            </a:r>
          </a:p>
        </p:txBody>
      </p:sp>
      <p:sp>
        <p:nvSpPr>
          <p:cNvPr id="16" name="C4-E30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I_net → net opening impulse</a:t>
            </a:r>
          </a:p>
        </p:txBody>
      </p:sp>
      <p:sp>
        <p:nvSpPr>
          <p:cNvPr id="17" name="C4-E30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m_f v_f → required momentum</a:t>
            </a:r>
          </a:p>
        </p:txBody>
      </p:sp>
      <p:sp>
        <p:nvSpPr>
          <p:cNvPr id="18" name="C4-E30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E_req, I_req — minimum screens</a:t>
            </a:r>
          </a:p>
        </p:txBody>
      </p:sp>
      <p:sp>
        <p:nvSpPr>
          <p:cNvPr id="19" name="C4-E30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Passing is necessary, not sufficient.</a:t>
            </a:r>
          </a:p>
        </p:txBody>
      </p:sp>
      <p:sp>
        <p:nvSpPr>
          <p:cNvPr id="20" name="C4-E30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Support reactions are already included in net impulse.</a:t>
            </a:r>
          </a:p>
        </p:txBody>
      </p:sp>
      <p:sp>
        <p:nvSpPr>
          <p:cNvPr id="21" name="C4-E30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C4-E31 · Failed release-energy screen</a:t>
            </a:r>
          </a:p>
        </p:txBody>
      </p:sp>
      <p:sp>
        <p:nvSpPr>
          <p:cNvPr id="3" name="C4-E31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1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1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1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1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1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1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1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1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1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1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= 0.020 J/m²</a:t>
            </a:r>
          </a:p>
        </p:txBody>
      </p:sp>
      <p:sp>
        <p:nvSpPr>
          <p:cNvPr id="14" name="C4-E31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 = 1 mm²</a:t>
            </a:r>
          </a:p>
        </p:txBody>
      </p:sp>
      <p:sp>
        <p:nvSpPr>
          <p:cNvPr id="15" name="C4-E31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= 20 nJ — required release</a:t>
            </a:r>
          </a:p>
        </p:txBody>
      </p:sp>
      <p:sp>
        <p:nvSpPr>
          <p:cNvPr id="16" name="C4-E31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 = 10 nJ — available</a:t>
            </a:r>
          </a:p>
        </p:txBody>
      </p:sp>
      <p:sp>
        <p:nvSpPr>
          <p:cNvPr id="17" name="C4-E31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early rigid impact ≈ 47.23 MPa</a:t>
            </a:r>
          </a:p>
        </p:txBody>
      </p:sp>
      <p:sp>
        <p:nvSpPr>
          <p:cNvPr id="18" name="C4-E31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High local pressure coexists with insufficient total release work.</a:t>
            </a:r>
          </a:p>
        </p:txBody>
      </p:sp>
      <p:sp>
        <p:nvSpPr>
          <p:cNvPr id="19" name="C4-E31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C4-E32 · Passed necessary release and minimum-speed screens</a:t>
            </a:r>
          </a:p>
        </p:txBody>
      </p:sp>
      <p:sp>
        <p:nvSpPr>
          <p:cNvPr id="3" name="C4-E32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2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2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2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2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2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2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2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2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2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2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= 5 nJ — release</a:t>
            </a:r>
          </a:p>
        </p:txBody>
      </p:sp>
      <p:sp>
        <p:nvSpPr>
          <p:cNvPr id="14" name="C4-E32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½m_f v_f² = 0.29125 nJ — minimum translation</a:t>
            </a:r>
          </a:p>
        </p:txBody>
      </p:sp>
      <p:sp>
        <p:nvSpPr>
          <p:cNvPr id="15" name="C4-E32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E_req = 5.29125 nJ &lt; E_solid</a:t>
            </a:r>
          </a:p>
        </p:txBody>
      </p:sp>
      <p:sp>
        <p:nvSpPr>
          <p:cNvPr id="16" name="C4-E32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I_req = 1.165×10⁻⁹ N s &lt; I_net</a:t>
            </a:r>
          </a:p>
        </p:txBody>
      </p:sp>
      <p:sp>
        <p:nvSpPr>
          <p:cNvPr id="17" name="C4-E32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v_f = 0.50 m/s — required minimum</a:t>
            </a:r>
          </a:p>
        </p:txBody>
      </p:sp>
      <p:sp>
        <p:nvSpPr>
          <p:cNvPr id="18" name="C4-E32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Spatial crack completion and intactness remain unproved.</a:t>
            </a:r>
          </a:p>
        </p:txBody>
      </p:sp>
      <p:sp>
        <p:nvSpPr>
          <p:cNvPr id="19" name="C4-E32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C4-E33 · Energy–momentum compatibility check</a:t>
            </a:r>
          </a:p>
        </p:txBody>
      </p:sp>
      <p:sp>
        <p:nvSpPr>
          <p:cNvPr id="3" name="C4-E33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3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3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3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3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3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3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3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3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3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3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I_net → final payload momentum</a:t>
            </a:r>
          </a:p>
        </p:txBody>
      </p:sp>
      <p:sp>
        <p:nvSpPr>
          <p:cNvPr id="14" name="C4-E33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m_f → v_CM = 0.67238 m/s</a:t>
            </a:r>
          </a:p>
        </p:txBody>
      </p:sp>
      <p:sp>
        <p:nvSpPr>
          <p:cNvPr id="15" name="C4-E33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K_CM = 0.52669 nJ</a:t>
            </a:r>
          </a:p>
        </p:txBody>
      </p:sp>
      <p:sp>
        <p:nvSpPr>
          <p:cNvPr id="16" name="C4-E33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= 5 nJ</a:t>
            </a:r>
          </a:p>
        </p:txBody>
      </p:sp>
      <p:sp>
        <p:nvSpPr>
          <p:cNvPr id="17" name="C4-E33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total minimum = 5.52669 nJ</a:t>
            </a:r>
          </a:p>
        </p:txBody>
      </p:sp>
      <p:sp>
        <p:nvSpPr>
          <p:cNvPr id="18" name="C4-E33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 = 10 nJ</a:t>
            </a:r>
          </a:p>
        </p:txBody>
      </p:sp>
      <p:sp>
        <p:nvSpPr>
          <p:cNvPr id="19" name="C4-E33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An exact actual impulse fixes the centre-of-mass speed.</a:t>
            </a:r>
          </a:p>
        </p:txBody>
      </p:sp>
      <p:sp>
        <p:nvSpPr>
          <p:cNvPr id="20" name="C4-E33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C4-E34 · Ballistic placement estimate</a:t>
            </a:r>
          </a:p>
        </p:txBody>
      </p:sp>
      <p:sp>
        <p:nvSpPr>
          <p:cNvPr id="3" name="C4-E34 rect 1" descr="sci-ppt:o001"/>
          <p:cNvSpPr/>
          <p:nvPr/>
        </p:nvSpPr>
        <p:spPr>
          <a:xfrm>
            <a:off x="1097280" y="914400"/>
            <a:ext cx="1828800" cy="2286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4 rect 2" descr="sci-ppt:o002"/>
          <p:cNvSpPr/>
          <p:nvPr/>
        </p:nvSpPr>
        <p:spPr>
          <a:xfrm>
            <a:off x="914400" y="3383280"/>
            <a:ext cx="10332720" cy="2743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4-E34 line 3" descr="sci-ppt:o003"/>
          <p:cNvCxnSpPr/>
          <p:nvPr/>
        </p:nvCxnSpPr>
        <p:spPr>
          <a:xfrm>
            <a:off x="2011680" y="123444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6" name="C4-E34 arrow 4" descr="sci-ppt:o004"/>
          <p:cNvCxnSpPr/>
          <p:nvPr/>
        </p:nvCxnSpPr>
        <p:spPr>
          <a:xfrm>
            <a:off x="2011680" y="123444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34 line 5" descr="sci-ppt:o005"/>
          <p:cNvCxnSpPr/>
          <p:nvPr/>
        </p:nvCxnSpPr>
        <p:spPr>
          <a:xfrm>
            <a:off x="2011680" y="3017520"/>
            <a:ext cx="256032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4-E34 text 6" descr="sci-ppt:o006"/>
          <p:cNvSpPr txBox="1"/>
          <p:nvPr/>
        </p:nvSpPr>
        <p:spPr>
          <a:xfrm>
            <a:off x="2880360" y="269748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Δx</a:t>
            </a:r>
          </a:p>
        </p:txBody>
      </p:sp>
      <p:sp>
        <p:nvSpPr>
          <p:cNvPr id="9" name="C4-E34 text 7" descr="sci-ppt:o007"/>
          <p:cNvSpPr txBox="1"/>
          <p:nvPr/>
        </p:nvSpPr>
        <p:spPr>
          <a:xfrm>
            <a:off x="411480" y="2011680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H_f</a:t>
            </a:r>
          </a:p>
        </p:txBody>
      </p:sp>
      <p:sp>
        <p:nvSpPr>
          <p:cNvPr id="10" name="C4-E34 text 8" descr="sci-ppt:o008"/>
          <p:cNvSpPr txBox="1"/>
          <p:nvPr/>
        </p:nvSpPr>
        <p:spPr>
          <a:xfrm>
            <a:off x="2286000" y="155448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θ</a:t>
            </a:r>
          </a:p>
        </p:txBody>
      </p:sp>
      <p:sp>
        <p:nvSpPr>
          <p:cNvPr id="11" name="C4-E34 text 9" descr="sci-ppt:o009"/>
          <p:cNvSpPr txBox="1"/>
          <p:nvPr/>
        </p:nvSpPr>
        <p:spPr>
          <a:xfrm>
            <a:off x="5852160" y="1463040"/>
            <a:ext cx="502920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Normal gap H_f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Lateral error Δx = H_f tan θ</a:t>
            </a:r>
          </a:p>
        </p:txBody>
      </p:sp>
      <p:cxnSp>
        <p:nvCxnSpPr>
          <p:cNvPr id="12" name="C4-E34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4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— payload normal flight gap</a:t>
            </a:r>
          </a:p>
        </p:txBody>
      </p:sp>
      <p:sp>
        <p:nvSpPr>
          <p:cNvPr id="14" name="C4-E34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θ — departure angle</a:t>
            </a:r>
          </a:p>
        </p:txBody>
      </p:sp>
      <p:sp>
        <p:nvSpPr>
          <p:cNvPr id="15" name="C4-E34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Δx — lateral placement error</a:t>
            </a:r>
          </a:p>
        </p:txBody>
      </p:sp>
      <p:sp>
        <p:nvSpPr>
          <p:cNvPr id="16" name="C4-E34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target normal ↓ receiver</a:t>
            </a:r>
          </a:p>
        </p:txBody>
      </p:sp>
      <p:sp>
        <p:nvSpPr>
          <p:cNvPr id="17" name="C4-E34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= 100 μm, θ = 1°</a:t>
            </a:r>
          </a:p>
        </p:txBody>
      </p:sp>
      <p:sp>
        <p:nvSpPr>
          <p:cNvPr id="18" name="C4-E34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1° departure error gives about 1.75 μm offset in this example.</a:t>
            </a:r>
          </a:p>
        </p:txBody>
      </p:sp>
      <p:sp>
        <p:nvSpPr>
          <p:cNvPr id="19" name="C4-E34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C4-E35 · Original load, impulse and work formulas</a:t>
            </a:r>
          </a:p>
        </p:txBody>
      </p:sp>
      <p:sp>
        <p:nvSpPr>
          <p:cNvPr id="3" name="C4-E35 rect 1" descr="sci-ppt:o001"/>
          <p:cNvSpPr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35 arrow 2" descr="sci-ppt:o002"/>
          <p:cNvCxnSpPr/>
          <p:nvPr/>
        </p:nvCxnSpPr>
        <p:spPr>
          <a:xfrm flipV="1">
            <a:off x="27432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35 arrow 3" descr="sci-ppt:o003"/>
          <p:cNvCxnSpPr/>
          <p:nvPr/>
        </p:nvCxnSpPr>
        <p:spPr>
          <a:xfrm flipV="1">
            <a:off x="54864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C4-E35 arrow 4" descr="sci-ppt:o004"/>
          <p:cNvCxnSpPr/>
          <p:nvPr/>
        </p:nvCxnSpPr>
        <p:spPr>
          <a:xfrm flipV="1">
            <a:off x="82296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35 arrow 5" descr="sci-ppt:o005"/>
          <p:cNvCxnSpPr/>
          <p:nvPr/>
        </p:nvCxnSpPr>
        <p:spPr>
          <a:xfrm>
            <a:off x="9601200" y="169164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35 text 6" descr="sci-ppt:o006"/>
          <p:cNvSpPr txBox="1"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n_f ↓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solid → liquid</a:t>
            </a:r>
          </a:p>
        </p:txBody>
      </p:sp>
      <p:sp>
        <p:nvSpPr>
          <p:cNvPr id="9" name="C4-E35 text 7" descr="sci-ppt:o007"/>
          <p:cNvSpPr txBox="1"/>
          <p:nvPr/>
        </p:nvSpPr>
        <p:spPr>
          <a:xfrm>
            <a:off x="1005840" y="731520"/>
            <a:ext cx="9144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 / solid; positive departure and velocity v_f ↑</a:t>
            </a:r>
          </a:p>
        </p:txBody>
      </p:sp>
      <p:sp>
        <p:nvSpPr>
          <p:cNvPr id="10" name="C4-E35 text 8" descr="sci-ppt:o00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Liquid below: t_l = T_l n_f; pressure traction opposes n_f.</a:t>
            </a:r>
          </a:p>
        </p:txBody>
      </p:sp>
      <p:cxnSp>
        <p:nvCxnSpPr>
          <p:cNvPr id="11" name="C4-E35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4-E35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T_l, n_f → t_l at exposed face</a:t>
            </a:r>
          </a:p>
        </p:txBody>
      </p:sp>
      <p:sp>
        <p:nvSpPr>
          <p:cNvPr id="13" name="C4-E35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A_f(t), t_a → t_b — footprint and event</a:t>
            </a:r>
          </a:p>
        </p:txBody>
      </p:sp>
      <p:sp>
        <p:nvSpPr>
          <p:cNvPr id="14" name="C4-E35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I_l — force-time integral</a:t>
            </a:r>
          </a:p>
        </p:txBody>
      </p:sp>
      <p:sp>
        <p:nvSpPr>
          <p:cNvPr id="15" name="C4-E35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v_f → W_l requires motion</a:t>
            </a:r>
          </a:p>
        </p:txBody>
      </p:sp>
      <p:sp>
        <p:nvSpPr>
          <p:cNvPr id="16" name="C4-E35 text 14" descr="sci-ppt:o01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Exposed PVC and buried film are different surfaces.</a:t>
            </a:r>
          </a:p>
        </p:txBody>
      </p:sp>
      <p:sp>
        <p:nvSpPr>
          <p:cNvPr id="17" name="C4-E35 text 15" descr="sci-ppt:o01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C4-E36 · Original global screens</a:t>
            </a:r>
          </a:p>
        </p:txBody>
      </p:sp>
      <p:sp>
        <p:nvSpPr>
          <p:cNvPr id="3" name="C4-E36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6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6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6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6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6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6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6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6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6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6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 — available work budget</a:t>
            </a:r>
          </a:p>
        </p:txBody>
      </p:sp>
      <p:sp>
        <p:nvSpPr>
          <p:cNvPr id="14" name="C4-E36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— release cost</a:t>
            </a:r>
          </a:p>
        </p:txBody>
      </p:sp>
      <p:sp>
        <p:nvSpPr>
          <p:cNvPr id="15" name="C4-E36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m_f, v_f — finite payload translation</a:t>
            </a:r>
          </a:p>
        </p:txBody>
      </p:sp>
      <p:sp>
        <p:nvSpPr>
          <p:cNvPr id="16" name="C4-E36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I_net — actual net impulse</a:t>
            </a:r>
          </a:p>
        </p:txBody>
      </p:sp>
      <p:sp>
        <p:nvSpPr>
          <p:cNvPr id="17" name="C4-E36 text 15" descr="sci-ppt:o01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Peak pressure supplies neither the area nor the energy budget.</a:t>
            </a:r>
          </a:p>
        </p:txBody>
      </p:sp>
      <p:sp>
        <p:nvSpPr>
          <p:cNvPr id="18" name="C4-E36 text 16" descr="sci-ppt:o016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C4-E37 · Original pressure-controlled benchmark formulas</a:t>
            </a:r>
          </a:p>
        </p:txBody>
      </p:sp>
      <p:cxnSp>
        <p:nvCxnSpPr>
          <p:cNvPr id="3" name="C4-E37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37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37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37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37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37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37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37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37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37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37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37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37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37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37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37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37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37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37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37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37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37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37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37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37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37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37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37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37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37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37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37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37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37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37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37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37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37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37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37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37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37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37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37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37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37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37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37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37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37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37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37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37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37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37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37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37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37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37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37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37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37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37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37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37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37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37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37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37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37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37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37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37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37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37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37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37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37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37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37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37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37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37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37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37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37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37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37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37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37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37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37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37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37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37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37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37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37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b — circular crack geometry</a:t>
            </a:r>
          </a:p>
        </p:txBody>
      </p:sp>
      <p:sp>
        <p:nvSpPr>
          <p:cNvPr id="101" name="C4-E37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w(r) ↑ clamped profile</a:t>
            </a:r>
          </a:p>
        </p:txBody>
      </p:sp>
      <p:sp>
        <p:nvSpPr>
          <p:cNvPr id="102" name="C4-E37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— uniform maintained pressure</a:t>
            </a:r>
          </a:p>
        </p:txBody>
      </p:sp>
      <p:sp>
        <p:nvSpPr>
          <p:cNvPr id="103" name="C4-E37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bending stiffness</a:t>
            </a:r>
          </a:p>
        </p:txBody>
      </p:sp>
      <p:sp>
        <p:nvSpPr>
          <p:cNvPr id="104" name="C4-E37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— fracture resistance</a:t>
            </a:r>
          </a:p>
        </p:txBody>
      </p:sp>
      <p:sp>
        <p:nvSpPr>
          <p:cNvPr id="105" name="C4-E37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G_p₀, p₀,crit — onset quantities</a:t>
            </a:r>
          </a:p>
        </p:txBody>
      </p:sp>
      <p:sp>
        <p:nvSpPr>
          <p:cNvPr id="106" name="C4-E37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finite short jet is not a maintained pressure reservoir.</a:t>
            </a:r>
          </a:p>
        </p:txBody>
      </p:sp>
      <p:sp>
        <p:nvSpPr>
          <p:cNvPr id="107" name="C4-E37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C4-E38 · Original cohesive work and fracture criteria</a:t>
            </a:r>
          </a:p>
        </p:txBody>
      </p:sp>
      <p:cxnSp>
        <p:nvCxnSpPr>
          <p:cNvPr id="3" name="C4-E38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38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38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38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38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38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38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38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38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38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38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38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38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38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 → tensile opening</a:t>
            </a:r>
          </a:p>
        </p:txBody>
      </p:sp>
      <p:sp>
        <p:nvSpPr>
          <p:cNvPr id="17" name="C4-E38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t_n, T_max — strength curve</a:t>
            </a:r>
          </a:p>
        </p:txBody>
      </p:sp>
      <p:sp>
        <p:nvSpPr>
          <p:cNvPr id="18" name="C4-E38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δ_c — final separation</a:t>
            </a:r>
          </a:p>
        </p:txBody>
      </p:sp>
      <p:sp>
        <p:nvSpPr>
          <p:cNvPr id="19" name="C4-E38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— full curve area</a:t>
            </a:r>
          </a:p>
        </p:txBody>
      </p:sp>
      <p:sp>
        <p:nvSpPr>
          <p:cNvPr id="20" name="C4-E38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— crack energy supply</a:t>
            </a:r>
          </a:p>
        </p:txBody>
      </p:sp>
      <p:sp>
        <p:nvSpPr>
          <p:cNvPr id="21" name="C4-E38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ψ, T_i, v_c — actual resistance conditions</a:t>
            </a:r>
          </a:p>
        </p:txBody>
      </p:sp>
      <p:sp>
        <p:nvSpPr>
          <p:cNvPr id="22" name="C4-E38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Reaching strength does not establish complete separation.</a:t>
            </a:r>
          </a:p>
        </p:txBody>
      </p:sp>
      <p:sp>
        <p:nvSpPr>
          <p:cNvPr id="23" name="C4-E38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C4-E39 · Original necessary operating-window checks</a:t>
            </a:r>
          </a:p>
        </p:txBody>
      </p:sp>
      <p:sp>
        <p:nvSpPr>
          <p:cNvPr id="3" name="C4-E39 rect 1" descr="sci-ppt:o001"/>
          <p:cNvSpPr/>
          <p:nvPr/>
        </p:nvSpPr>
        <p:spPr>
          <a:xfrm>
            <a:off x="1097280" y="914400"/>
            <a:ext cx="1828800" cy="2286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9 rect 2" descr="sci-ppt:o002"/>
          <p:cNvSpPr/>
          <p:nvPr/>
        </p:nvSpPr>
        <p:spPr>
          <a:xfrm>
            <a:off x="914400" y="3383280"/>
            <a:ext cx="10332720" cy="2743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4-E39 line 3" descr="sci-ppt:o003"/>
          <p:cNvCxnSpPr/>
          <p:nvPr/>
        </p:nvCxnSpPr>
        <p:spPr>
          <a:xfrm>
            <a:off x="2011680" y="123444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6" name="C4-E39 arrow 4" descr="sci-ppt:o004"/>
          <p:cNvCxnSpPr/>
          <p:nvPr/>
        </p:nvCxnSpPr>
        <p:spPr>
          <a:xfrm>
            <a:off x="2011680" y="123444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39 line 5" descr="sci-ppt:o005"/>
          <p:cNvCxnSpPr/>
          <p:nvPr/>
        </p:nvCxnSpPr>
        <p:spPr>
          <a:xfrm>
            <a:off x="2011680" y="3017520"/>
            <a:ext cx="256032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4-E39 text 6" descr="sci-ppt:o006"/>
          <p:cNvSpPr txBox="1"/>
          <p:nvPr/>
        </p:nvSpPr>
        <p:spPr>
          <a:xfrm>
            <a:off x="2880360" y="269748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Δx</a:t>
            </a:r>
          </a:p>
        </p:txBody>
      </p:sp>
      <p:sp>
        <p:nvSpPr>
          <p:cNvPr id="9" name="C4-E39 text 7" descr="sci-ppt:o007"/>
          <p:cNvSpPr txBox="1"/>
          <p:nvPr/>
        </p:nvSpPr>
        <p:spPr>
          <a:xfrm>
            <a:off x="411480" y="2011680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H_f</a:t>
            </a:r>
          </a:p>
        </p:txBody>
      </p:sp>
      <p:sp>
        <p:nvSpPr>
          <p:cNvPr id="10" name="C4-E39 text 8" descr="sci-ppt:o008"/>
          <p:cNvSpPr txBox="1"/>
          <p:nvPr/>
        </p:nvSpPr>
        <p:spPr>
          <a:xfrm>
            <a:off x="2286000" y="155448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θ</a:t>
            </a:r>
          </a:p>
        </p:txBody>
      </p:sp>
      <p:sp>
        <p:nvSpPr>
          <p:cNvPr id="11" name="C4-E39 text 9" descr="sci-ppt:o009"/>
          <p:cNvSpPr txBox="1"/>
          <p:nvPr/>
        </p:nvSpPr>
        <p:spPr>
          <a:xfrm>
            <a:off x="5852160" y="1463040"/>
            <a:ext cx="502920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Normal gap H_f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Lateral error Δx = H_f tan θ</a:t>
            </a:r>
          </a:p>
        </p:txBody>
      </p:sp>
      <p:cxnSp>
        <p:nvCxnSpPr>
          <p:cNvPr id="12" name="C4-E39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9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— intended release</a:t>
            </a:r>
          </a:p>
        </p:txBody>
      </p:sp>
      <p:sp>
        <p:nvSpPr>
          <p:cNvPr id="14" name="C4-E39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m_f, v_f — outgoing intact object</a:t>
            </a:r>
          </a:p>
        </p:txBody>
      </p:sp>
      <p:sp>
        <p:nvSpPr>
          <p:cNvPr id="15" name="C4-E39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E_solid, I_net — transmitted budgets</a:t>
            </a:r>
          </a:p>
        </p:txBody>
      </p:sp>
      <p:sp>
        <p:nvSpPr>
          <p:cNvPr id="16" name="C4-E39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H_f, θ → Δx at receiver</a:t>
            </a:r>
          </a:p>
        </p:txBody>
      </p:sp>
      <p:sp>
        <p:nvSpPr>
          <p:cNvPr id="17" name="C4-E39 text 15" descr="sci-ppt:o01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Full release, intact flight and repeatable reset are separate requirements.</a:t>
            </a:r>
          </a:p>
        </p:txBody>
      </p:sp>
      <p:sp>
        <p:nvSpPr>
          <p:cNvPr id="18" name="C4-E39 text 16" descr="sci-ppt:o016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4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C4-E40 · Explicit integration-by-parts boundary terms</a:t>
            </a:r>
          </a:p>
        </p:txBody>
      </p:sp>
      <p:sp>
        <p:nvSpPr>
          <p:cNvPr id="3" name="C4-E40 rect 1" descr="sci-ppt:o001"/>
          <p:cNvSpPr/>
          <p:nvPr/>
        </p:nvSpPr>
        <p:spPr>
          <a:xfrm>
            <a:off x="1188720" y="1188720"/>
            <a:ext cx="6858000" cy="2148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40 text 2" descr="sci-ppt:o002"/>
          <p:cNvSpPr txBox="1"/>
          <p:nvPr/>
        </p:nvSpPr>
        <p:spPr>
          <a:xfrm>
            <a:off x="2743200" y="1828800"/>
            <a:ext cx="5029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Reference film plane Ω_f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w(x,y,t), variation δw</a:t>
            </a:r>
          </a:p>
        </p:txBody>
      </p:sp>
      <p:cxnSp>
        <p:nvCxnSpPr>
          <p:cNvPr id="5" name="C4-E40 arrow 3" descr="sci-ppt:o003"/>
          <p:cNvCxnSpPr/>
          <p:nvPr/>
        </p:nvCxnSpPr>
        <p:spPr>
          <a:xfrm>
            <a:off x="8092440" y="2240280"/>
            <a:ext cx="11430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40 text 4" descr="sci-ppt:o004"/>
          <p:cNvSpPr txBox="1"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outward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in-plane normal</a:t>
            </a:r>
          </a:p>
        </p:txBody>
      </p:sp>
      <p:cxnSp>
        <p:nvCxnSpPr>
          <p:cNvPr id="7" name="C4-E40 arrow 5" descr="sci-ppt:o005"/>
          <p:cNvCxnSpPr/>
          <p:nvPr/>
        </p:nvCxnSpPr>
        <p:spPr>
          <a:xfrm>
            <a:off x="1371600" y="3520440"/>
            <a:ext cx="1828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40 text 6" descr="sci-ppt:o006"/>
          <p:cNvSpPr txBox="1"/>
          <p:nvPr/>
        </p:nvSpPr>
        <p:spPr>
          <a:xfrm>
            <a:off x="3383280" y="338328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x</a:t>
            </a:r>
          </a:p>
        </p:txBody>
      </p:sp>
      <p:cxnSp>
        <p:nvCxnSpPr>
          <p:cNvPr id="9" name="C4-E40 arrow 7" descr="sci-ppt:o007"/>
          <p:cNvCxnSpPr/>
          <p:nvPr/>
        </p:nvCxnSpPr>
        <p:spPr>
          <a:xfrm flipV="1">
            <a:off x="1371600" y="265176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4-E40 text 8" descr="sci-ppt:o008"/>
          <p:cNvSpPr txBox="1"/>
          <p:nvPr/>
        </p:nvSpPr>
        <p:spPr>
          <a:xfrm>
            <a:off x="731520" y="283464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y</a:t>
            </a:r>
          </a:p>
        </p:txBody>
      </p:sp>
      <p:sp>
        <p:nvSpPr>
          <p:cNvPr id="11" name="C4-E40 text 9" descr="sci-ppt:o009"/>
          <p:cNvSpPr txBox="1"/>
          <p:nvPr/>
        </p:nvSpPr>
        <p:spPr>
          <a:xfrm>
            <a:off x="1828800" y="731520"/>
            <a:ext cx="9601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Fixed boundary: δw = 0; ∂ₙδw = 0</a:t>
            </a:r>
          </a:p>
        </p:txBody>
      </p:sp>
      <p:sp>
        <p:nvSpPr>
          <p:cNvPr id="12" name="C4-E40 text 10" descr="sci-ppt:o010"/>
          <p:cNvSpPr txBox="1"/>
          <p:nvPr/>
        </p:nvSpPr>
        <p:spPr>
          <a:xfrm>
            <a:off x="4846320" y="3520440"/>
            <a:ext cx="6400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Curvature stores U_b; slope stores U_T.</a:t>
            </a:r>
          </a:p>
        </p:txBody>
      </p:sp>
      <p:cxnSp>
        <p:nvCxnSpPr>
          <p:cNvPr id="13" name="C4-E40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4-E40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Ω_f — plate interior</a:t>
            </a:r>
          </a:p>
        </p:txBody>
      </p:sp>
      <p:sp>
        <p:nvSpPr>
          <p:cNvPr id="15" name="C4-E40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∂Ω_f, dℓ — fixed clamped edge</a:t>
            </a:r>
          </a:p>
        </p:txBody>
      </p:sp>
      <p:sp>
        <p:nvSpPr>
          <p:cNvPr id="16" name="C4-E40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δw — displacement and variation</a:t>
            </a:r>
          </a:p>
        </p:txBody>
      </p:sp>
      <p:sp>
        <p:nvSpPr>
          <p:cNvPr id="17" name="C4-E40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B_αβ, D_f, ν_f — curvature moments</a:t>
            </a:r>
          </a:p>
        </p:txBody>
      </p:sp>
      <p:sp>
        <p:nvSpPr>
          <p:cNvPr id="18" name="C4-E40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n_α, n_β — in-plane boundary normal</a:t>
            </a:r>
          </a:p>
        </p:txBody>
      </p:sp>
      <p:sp>
        <p:nvSpPr>
          <p:cNvPr id="19" name="C4-E40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δU_b, δU_T — virtual energy</a:t>
            </a:r>
          </a:p>
        </p:txBody>
      </p:sp>
      <p:sp>
        <p:nvSpPr>
          <p:cNvPr id="20" name="C4-E40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— pretension</a:t>
            </a:r>
          </a:p>
        </p:txBody>
      </p:sp>
      <p:sp>
        <p:nvSpPr>
          <p:cNvPr id="21" name="C4-E40 text 19" descr="sci-ppt:o019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boundary: δw = 0, ∂ₙδw = 0</a:t>
            </a:r>
          </a:p>
        </p:txBody>
      </p:sp>
      <p:sp>
        <p:nvSpPr>
          <p:cNvPr id="22" name="C4-E40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first bending boundary term contains the slope variation.</a:t>
            </a:r>
          </a:p>
        </p:txBody>
      </p:sp>
      <p:sp>
        <p:nvSpPr>
          <p:cNvPr id="23" name="C4-E40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second contains the displacement variation; both vanish at the clamp.</a:t>
            </a:r>
          </a:p>
        </p:txBody>
      </p:sp>
      <p:sp>
        <p:nvSpPr>
          <p:cNvPr id="24" name="C4-E40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4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C4-E41 · Transient plate power identity under fixed clamps</a:t>
            </a:r>
          </a:p>
        </p:txBody>
      </p:sp>
      <p:sp>
        <p:nvSpPr>
          <p:cNvPr id="3" name="C4-E41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41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Applied solid power</a:t>
            </a:r>
          </a:p>
        </p:txBody>
      </p:sp>
      <p:cxnSp>
        <p:nvCxnSpPr>
          <p:cNvPr id="5" name="C4-E41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41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41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Kinetic + elastic storage</a:t>
            </a:r>
          </a:p>
        </p:txBody>
      </p:sp>
      <p:cxnSp>
        <p:nvCxnSpPr>
          <p:cNvPr id="8" name="C4-E41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41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41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Interface power + losses</a:t>
            </a:r>
          </a:p>
        </p:txBody>
      </p:sp>
      <p:sp>
        <p:nvSpPr>
          <p:cNvPr id="11" name="C4-E41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41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41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p_load ẇ → incoming solid power</a:t>
            </a:r>
          </a:p>
        </p:txBody>
      </p:sp>
      <p:sp>
        <p:nvSpPr>
          <p:cNvPr id="14" name="C4-E41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t_coh ẇ → interface power</a:t>
            </a:r>
          </a:p>
        </p:txBody>
      </p:sp>
      <p:sp>
        <p:nvSpPr>
          <p:cNvPr id="15" name="C4-E41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m_A, ẇ, ẅ → K_f storage</a:t>
            </a:r>
          </a:p>
        </p:txBody>
      </p:sp>
      <p:sp>
        <p:nvSpPr>
          <p:cNvPr id="16" name="C4-E41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D_f, ∇⁴w → U_b storage</a:t>
            </a:r>
          </a:p>
        </p:txBody>
      </p:sp>
      <p:sp>
        <p:nvSpPr>
          <p:cNvPr id="17" name="C4-E41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T₀, ∇²w → U_T storage</a:t>
            </a:r>
          </a:p>
        </p:txBody>
      </p:sp>
      <p:sp>
        <p:nvSpPr>
          <p:cNvPr id="18" name="C4-E41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Ω_f, dA — reference plane</a:t>
            </a:r>
          </a:p>
        </p:txBody>
      </p:sp>
      <p:sp>
        <p:nvSpPr>
          <p:cNvPr id="19" name="C4-E41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 — event time</a:t>
            </a:r>
          </a:p>
        </p:txBody>
      </p:sp>
      <p:sp>
        <p:nvSpPr>
          <p:cNvPr id="20" name="C4-E41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Fixed clamps perform no boundary work.</a:t>
            </a:r>
          </a:p>
        </p:txBody>
      </p:sp>
      <p:sp>
        <p:nvSpPr>
          <p:cNvPr id="21" name="C4-E41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Recoverable cohesion and fracture loss must be counted once.</a:t>
            </a:r>
          </a:p>
        </p:txBody>
      </p:sp>
      <p:sp>
        <p:nvSpPr>
          <p:cNvPr id="22" name="C4-E41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