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C4-E01 · Constitutive assumption and traction identity</a:t>
            </a:r>
          </a:p>
        </p:txBody>
      </p:sp>
      <p:sp>
        <p:nvSpPr>
          <p:cNvPr id="3" name="C4-E01 round_rect 1" descr="sci-ppt:o001"/>
          <p:cNvSpPr/>
          <p:nvPr/>
        </p:nvSpPr>
        <p:spPr>
          <a:xfrm>
            <a:off x="365760" y="914400"/>
            <a:ext cx="676656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01 text 2" descr="sci-ppt:o002"/>
          <p:cNvSpPr txBox="1"/>
          <p:nvPr/>
        </p:nvSpPr>
        <p:spPr>
          <a:xfrm>
            <a:off x="475488" y="969264"/>
            <a:ext cx="65471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Traction on the exposed film face</a:t>
            </a:r>
          </a:p>
        </p:txBody>
      </p:sp>
      <p:sp>
        <p:nvSpPr>
          <p:cNvPr id="5" name="C4-E01 rect 3" descr="sci-ppt:o003"/>
          <p:cNvSpPr/>
          <p:nvPr/>
        </p:nvSpPr>
        <p:spPr>
          <a:xfrm>
            <a:off x="731520" y="3127248"/>
            <a:ext cx="6035040" cy="1078992"/>
          </a:xfrm>
          <a:prstGeom prst="rect">
            <a:avLst/>
          </a:prstGeom>
          <a:solidFill>
            <a:srgbClr val="1E4A5A"/>
          </a:solidFill>
          <a:ln w="1270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4-E01 rect 4" descr="sci-ppt:o004"/>
          <p:cNvSpPr/>
          <p:nvPr/>
        </p:nvSpPr>
        <p:spPr>
          <a:xfrm>
            <a:off x="731520" y="1463040"/>
            <a:ext cx="6035040" cy="1463040"/>
          </a:xfrm>
          <a:prstGeom prst="rect">
            <a:avLst/>
          </a:prstGeom>
          <a:solidFill>
            <a:srgbClr val="3A5362">
              <a:alpha val="80000"/>
            </a:srgbClr>
          </a:solidFill>
          <a:ln w="15240">
            <a:solidFill>
              <a:srgbClr val="B4C7D2">
                <a:alpha val="8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4-E01 text 5" descr="sci-ppt:o005"/>
          <p:cNvSpPr txBox="1"/>
          <p:nvPr/>
        </p:nvSpPr>
        <p:spPr>
          <a:xfrm>
            <a:off x="822960" y="1554480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B4C7D2"/>
                </a:solidFill>
                <a:latin typeface="Arial"/>
              </a:rPr>
              <a:t>solid film</a:t>
            </a:r>
          </a:p>
        </p:txBody>
      </p:sp>
      <p:sp>
        <p:nvSpPr>
          <p:cNvPr id="8" name="C4-E01 text 6" descr="sci-ppt:o006"/>
          <p:cNvSpPr txBox="1"/>
          <p:nvPr/>
        </p:nvSpPr>
        <p:spPr>
          <a:xfrm>
            <a:off x="822960" y="3291840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liquid</a:t>
            </a:r>
          </a:p>
        </p:txBody>
      </p:sp>
      <p:cxnSp>
        <p:nvCxnSpPr>
          <p:cNvPr id="9" name="C4-E01 arrow 7" descr="sci-ppt:o007"/>
          <p:cNvCxnSpPr/>
          <p:nvPr/>
        </p:nvCxnSpPr>
        <p:spPr>
          <a:xfrm flipV="1">
            <a:off x="2011680" y="2194560"/>
            <a:ext cx="0" cy="73152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4-E01 text 8" descr="sci-ppt:o008"/>
          <p:cNvSpPr txBox="1"/>
          <p:nvPr/>
        </p:nvSpPr>
        <p:spPr>
          <a:xfrm>
            <a:off x="914400" y="2286000"/>
            <a:ext cx="1097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n_f</a:t>
            </a:r>
          </a:p>
        </p:txBody>
      </p:sp>
      <p:cxnSp>
        <p:nvCxnSpPr>
          <p:cNvPr id="11" name="C4-E01 arrow 9" descr="sci-ppt:o009"/>
          <p:cNvCxnSpPr/>
          <p:nvPr/>
        </p:nvCxnSpPr>
        <p:spPr>
          <a:xfrm>
            <a:off x="4023360" y="2971800"/>
            <a:ext cx="0" cy="868680"/>
          </a:xfrm>
          <a:prstGeom prst="line">
            <a:avLst/>
          </a:prstGeom>
          <a:ln w="4445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C4-E01 text 10" descr="sci-ppt:o010"/>
          <p:cNvSpPr txBox="1"/>
          <p:nvPr/>
        </p:nvSpPr>
        <p:spPr>
          <a:xfrm>
            <a:off x="4160520" y="3611880"/>
            <a:ext cx="24688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normal part −p n</a:t>
            </a:r>
          </a:p>
        </p:txBody>
      </p:sp>
      <p:cxnSp>
        <p:nvCxnSpPr>
          <p:cNvPr id="13" name="C4-E01 arrow 11" descr="sci-ppt:o011"/>
          <p:cNvCxnSpPr/>
          <p:nvPr/>
        </p:nvCxnSpPr>
        <p:spPr>
          <a:xfrm>
            <a:off x="4572000" y="2834640"/>
            <a:ext cx="1280160" cy="0"/>
          </a:xfrm>
          <a:prstGeom prst="line">
            <a:avLst/>
          </a:prstGeom>
          <a:ln w="4445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C4-E01 text 12" descr="sci-ppt:o012"/>
          <p:cNvSpPr txBox="1"/>
          <p:nvPr/>
        </p:nvSpPr>
        <p:spPr>
          <a:xfrm>
            <a:off x="4572000" y="2331720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FC8F8"/>
                </a:solidFill>
                <a:latin typeface="Arial"/>
              </a:rPr>
              <a:t>shear part 2μ D·n</a:t>
            </a:r>
          </a:p>
        </p:txBody>
      </p:sp>
      <p:sp>
        <p:nvSpPr>
          <p:cNvPr id="15" name="C4-E01 text 13" descr="sci-ppt:o013"/>
          <p:cNvSpPr txBox="1"/>
          <p:nvPr/>
        </p:nvSpPr>
        <p:spPr>
          <a:xfrm>
            <a:off x="548640" y="4709160"/>
            <a:ext cx="6400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Dᵤ = (∇u + ∇uᵀ)/2,   Tₗ = −pI + 2μDᵤ,   tₗ = Tₗ n_f</a:t>
            </a:r>
          </a:p>
        </p:txBody>
      </p:sp>
      <p:sp>
        <p:nvSpPr>
          <p:cNvPr id="16" name="C4-E01 text 14" descr="sci-ppt:o014"/>
          <p:cNvSpPr txBox="1"/>
          <p:nvPr/>
        </p:nvSpPr>
        <p:spPr>
          <a:xfrm>
            <a:off x="548640" y="5166360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normal fixes the sign: positive pressure presses on the film.</a:t>
            </a:r>
          </a:p>
        </p:txBody>
      </p:sp>
      <p:sp>
        <p:nvSpPr>
          <p:cNvPr id="17" name="C4-E01 round_rect 15" descr="sci-ppt:o015"/>
          <p:cNvSpPr/>
          <p:nvPr/>
        </p:nvSpPr>
        <p:spPr>
          <a:xfrm>
            <a:off x="7315200" y="914400"/>
            <a:ext cx="452628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4-E01 text 16" descr="sci-ppt:o016"/>
          <p:cNvSpPr txBox="1"/>
          <p:nvPr/>
        </p:nvSpPr>
        <p:spPr>
          <a:xfrm>
            <a:off x="7424927" y="969264"/>
            <a:ext cx="4306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parts of one traction</a:t>
            </a:r>
          </a:p>
        </p:txBody>
      </p:sp>
      <p:sp>
        <p:nvSpPr>
          <p:cNvPr id="19" name="C4-E01 text 17" descr="sci-ppt:o017"/>
          <p:cNvSpPr txBox="1"/>
          <p:nvPr/>
        </p:nvSpPr>
        <p:spPr>
          <a:xfrm>
            <a:off x="7452360" y="1572768"/>
            <a:ext cx="164591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pressure −p (Pa)</a:t>
            </a:r>
          </a:p>
        </p:txBody>
      </p:sp>
      <p:sp>
        <p:nvSpPr>
          <p:cNvPr id="20" name="C4-E01 rect 18" descr="sci-ppt:o018"/>
          <p:cNvSpPr/>
          <p:nvPr/>
        </p:nvSpPr>
        <p:spPr>
          <a:xfrm>
            <a:off x="9189720" y="1554480"/>
            <a:ext cx="1196678" cy="36576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4-E01 text 19" descr="sci-ppt:o019"/>
          <p:cNvSpPr txBox="1"/>
          <p:nvPr/>
        </p:nvSpPr>
        <p:spPr>
          <a:xfrm>
            <a:off x="10459550" y="1600200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4.72e+07</a:t>
            </a:r>
          </a:p>
        </p:txBody>
      </p:sp>
      <p:sp>
        <p:nvSpPr>
          <p:cNvPr id="22" name="C4-E01 text 20" descr="sci-ppt:o020"/>
          <p:cNvSpPr txBox="1"/>
          <p:nvPr/>
        </p:nvSpPr>
        <p:spPr>
          <a:xfrm>
            <a:off x="7452360" y="2167128"/>
            <a:ext cx="164591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viscous 2μD (Pa)</a:t>
            </a:r>
          </a:p>
        </p:txBody>
      </p:sp>
      <p:sp>
        <p:nvSpPr>
          <p:cNvPr id="23" name="C4-E01 rect 21" descr="sci-ppt:o021"/>
          <p:cNvSpPr/>
          <p:nvPr/>
        </p:nvSpPr>
        <p:spPr>
          <a:xfrm>
            <a:off x="9189720" y="2148840"/>
            <a:ext cx="129334" cy="36576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4-E01 text 22" descr="sci-ppt:o022"/>
          <p:cNvSpPr txBox="1"/>
          <p:nvPr/>
        </p:nvSpPr>
        <p:spPr>
          <a:xfrm>
            <a:off x="9392206" y="2194560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3.2e+03</a:t>
            </a:r>
          </a:p>
        </p:txBody>
      </p:sp>
      <p:sp>
        <p:nvSpPr>
          <p:cNvPr id="25" name="C4-E01 text 23" descr="sci-ppt:o023"/>
          <p:cNvSpPr txBox="1"/>
          <p:nvPr/>
        </p:nvSpPr>
        <p:spPr>
          <a:xfrm>
            <a:off x="7653528" y="2834640"/>
            <a:ext cx="409651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Pressure acts along n; viscous stress adds a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tangential part.</a:t>
            </a:r>
          </a:p>
        </p:txBody>
      </p:sp>
      <p:sp>
        <p:nvSpPr>
          <p:cNvPr id="26" name="C4-E01 ellipse 24" descr="sci-ppt:o024"/>
          <p:cNvSpPr/>
          <p:nvPr/>
        </p:nvSpPr>
        <p:spPr>
          <a:xfrm>
            <a:off x="7484364" y="288798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4-E01 text 25" descr="sci-ppt:o025"/>
          <p:cNvSpPr txBox="1"/>
          <p:nvPr/>
        </p:nvSpPr>
        <p:spPr>
          <a:xfrm>
            <a:off x="7653528" y="3297936"/>
            <a:ext cx="4096512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For μ = 1 mPa s and strain rate 3×10⁶ s⁻¹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shear is thousands of Pa, far below the 47 MPa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contact scale.</a:t>
            </a:r>
          </a:p>
        </p:txBody>
      </p:sp>
      <p:sp>
        <p:nvSpPr>
          <p:cNvPr id="28" name="C4-E01 ellipse 26" descr="sci-ppt:o026"/>
          <p:cNvSpPr/>
          <p:nvPr/>
        </p:nvSpPr>
        <p:spPr>
          <a:xfrm>
            <a:off x="7484364" y="335127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4-E01 text 27" descr="sci-ppt:o027"/>
          <p:cNvSpPr txBox="1"/>
          <p:nvPr/>
        </p:nvSpPr>
        <p:spPr>
          <a:xfrm>
            <a:off x="7653528" y="3947160"/>
            <a:ext cx="409651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film feels the traction, not the liquid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velocity.</a:t>
            </a:r>
          </a:p>
        </p:txBody>
      </p:sp>
      <p:sp>
        <p:nvSpPr>
          <p:cNvPr id="30" name="C4-E01 ellipse 28" descr="sci-ppt:o028"/>
          <p:cNvSpPr/>
          <p:nvPr/>
        </p:nvSpPr>
        <p:spPr>
          <a:xfrm>
            <a:off x="7484364" y="400050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4-E01 text 29" descr="sci-ppt:o02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Newtonian traction of Eq. C4-E01; bar values are order-of-magnitude illustrations (log axis).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C4-E02 · Exact mechanical definitions</a:t>
            </a:r>
          </a:p>
        </p:txBody>
      </p:sp>
      <p:cxnSp>
        <p:nvCxnSpPr>
          <p:cNvPr id="3" name="C4-E02 line 1" descr="sci-ppt:o001"/>
          <p:cNvCxnSpPr/>
          <p:nvPr/>
        </p:nvCxnSpPr>
        <p:spPr>
          <a:xfrm>
            <a:off x="914400" y="466344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02 line 2" descr="sci-ppt:o002"/>
          <p:cNvCxnSpPr/>
          <p:nvPr/>
        </p:nvCxnSpPr>
        <p:spPr>
          <a:xfrm>
            <a:off x="914400" y="1371600"/>
            <a:ext cx="0" cy="32918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02 line 3" descr="sci-ppt:o003"/>
          <p:cNvCxnSpPr/>
          <p:nvPr/>
        </p:nvCxnSpPr>
        <p:spPr>
          <a:xfrm>
            <a:off x="91440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02 line 4" descr="sci-ppt:o004"/>
          <p:cNvCxnSpPr/>
          <p:nvPr/>
        </p:nvCxnSpPr>
        <p:spPr>
          <a:xfrm>
            <a:off x="91440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02 text 5" descr="sci-ppt:o005"/>
          <p:cNvSpPr txBox="1"/>
          <p:nvPr/>
        </p:nvSpPr>
        <p:spPr>
          <a:xfrm>
            <a:off x="45720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4-E02 line 6" descr="sci-ppt:o006"/>
          <p:cNvCxnSpPr/>
          <p:nvPr/>
        </p:nvCxnSpPr>
        <p:spPr>
          <a:xfrm>
            <a:off x="237744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02 line 7" descr="sci-ppt:o007"/>
          <p:cNvCxnSpPr/>
          <p:nvPr/>
        </p:nvCxnSpPr>
        <p:spPr>
          <a:xfrm>
            <a:off x="237744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02 text 8" descr="sci-ppt:o008"/>
          <p:cNvSpPr txBox="1"/>
          <p:nvPr/>
        </p:nvSpPr>
        <p:spPr>
          <a:xfrm>
            <a:off x="192024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1" name="C4-E02 line 9" descr="sci-ppt:o009"/>
          <p:cNvCxnSpPr/>
          <p:nvPr/>
        </p:nvCxnSpPr>
        <p:spPr>
          <a:xfrm>
            <a:off x="384048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02 line 10" descr="sci-ppt:o010"/>
          <p:cNvCxnSpPr/>
          <p:nvPr/>
        </p:nvCxnSpPr>
        <p:spPr>
          <a:xfrm>
            <a:off x="384048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02 text 11" descr="sci-ppt:o011"/>
          <p:cNvSpPr txBox="1"/>
          <p:nvPr/>
        </p:nvSpPr>
        <p:spPr>
          <a:xfrm>
            <a:off x="338328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14" name="C4-E02 line 12" descr="sci-ppt:o012"/>
          <p:cNvCxnSpPr/>
          <p:nvPr/>
        </p:nvCxnSpPr>
        <p:spPr>
          <a:xfrm>
            <a:off x="530352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02 line 13" descr="sci-ppt:o013"/>
          <p:cNvCxnSpPr/>
          <p:nvPr/>
        </p:nvCxnSpPr>
        <p:spPr>
          <a:xfrm>
            <a:off x="530352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02 text 14" descr="sci-ppt:o014"/>
          <p:cNvSpPr txBox="1"/>
          <p:nvPr/>
        </p:nvSpPr>
        <p:spPr>
          <a:xfrm>
            <a:off x="484632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cxnSp>
        <p:nvCxnSpPr>
          <p:cNvPr id="17" name="C4-E02 line 15" descr="sci-ppt:o015"/>
          <p:cNvCxnSpPr/>
          <p:nvPr/>
        </p:nvCxnSpPr>
        <p:spPr>
          <a:xfrm>
            <a:off x="676656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02 line 16" descr="sci-ppt:o016"/>
          <p:cNvCxnSpPr/>
          <p:nvPr/>
        </p:nvCxnSpPr>
        <p:spPr>
          <a:xfrm>
            <a:off x="676656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02 text 17" descr="sci-ppt:o017"/>
          <p:cNvSpPr txBox="1"/>
          <p:nvPr/>
        </p:nvSpPr>
        <p:spPr>
          <a:xfrm>
            <a:off x="630936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20" name="C4-E02 line 18" descr="sci-ppt:o018"/>
          <p:cNvCxnSpPr/>
          <p:nvPr/>
        </p:nvCxnSpPr>
        <p:spPr>
          <a:xfrm>
            <a:off x="850392" y="46634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02 line 19" descr="sci-ppt:o019"/>
          <p:cNvCxnSpPr/>
          <p:nvPr/>
        </p:nvCxnSpPr>
        <p:spPr>
          <a:xfrm>
            <a:off x="850392" y="32918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02 line 20" descr="sci-ppt:o020"/>
          <p:cNvCxnSpPr/>
          <p:nvPr/>
        </p:nvCxnSpPr>
        <p:spPr>
          <a:xfrm>
            <a:off x="914400" y="3291839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4-E02 text 21" descr="sci-ppt:o021"/>
          <p:cNvSpPr txBox="1"/>
          <p:nvPr/>
        </p:nvSpPr>
        <p:spPr>
          <a:xfrm>
            <a:off x="45720" y="32095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4" name="C4-E02 line 22" descr="sci-ppt:o022"/>
          <p:cNvCxnSpPr/>
          <p:nvPr/>
        </p:nvCxnSpPr>
        <p:spPr>
          <a:xfrm>
            <a:off x="850392" y="19202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02 line 23" descr="sci-ppt:o023"/>
          <p:cNvCxnSpPr/>
          <p:nvPr/>
        </p:nvCxnSpPr>
        <p:spPr>
          <a:xfrm>
            <a:off x="914400" y="1920239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02 text 24" descr="sci-ppt:o024"/>
          <p:cNvSpPr txBox="1"/>
          <p:nvPr/>
        </p:nvSpPr>
        <p:spPr>
          <a:xfrm>
            <a:off x="45720" y="183794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7" name="C4-E02 text 25" descr="sci-ppt:o025"/>
          <p:cNvSpPr txBox="1"/>
          <p:nvPr/>
        </p:nvSpPr>
        <p:spPr>
          <a:xfrm>
            <a:off x="914400" y="4946903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time  (ns)</a:t>
            </a:r>
          </a:p>
        </p:txBody>
      </p:sp>
      <p:sp>
        <p:nvSpPr>
          <p:cNvPr id="28" name="C4-E02 text 26" descr="sci-ppt:o026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Fₗ(t) (relative)</a:t>
            </a:r>
          </a:p>
        </p:txBody>
      </p:sp>
      <p:sp>
        <p:nvSpPr>
          <p:cNvPr id="29" name="C4-E02 polygon 27" descr="sci-ppt:o027"/>
          <p:cNvSpPr/>
          <p:nvPr/>
        </p:nvSpPr>
        <p:spPr>
          <a:xfrm>
            <a:off x="914400" y="1920240"/>
            <a:ext cx="5852160" cy="2743200"/>
          </a:xfrm>
          <a:custGeom>
            <a:avLst/>
            <a:gdLst/>
            <a:ahLst/>
            <a:cxnLst/>
            <a:rect l="l" t="t" r="r" b="b"/>
            <a:pathLst>
              <a:path w="5852160" h="2743200">
                <a:moveTo>
                  <a:pt x="0" y="2743200"/>
                </a:moveTo>
                <a:lnTo>
                  <a:pt x="19572" y="2509137"/>
                </a:lnTo>
                <a:lnTo>
                  <a:pt x="39144" y="2295045"/>
                </a:lnTo>
                <a:lnTo>
                  <a:pt x="58717" y="2099221"/>
                </a:lnTo>
                <a:lnTo>
                  <a:pt x="78289" y="1920106"/>
                </a:lnTo>
                <a:lnTo>
                  <a:pt x="97862" y="1756273"/>
                </a:lnTo>
                <a:lnTo>
                  <a:pt x="117434" y="1606419"/>
                </a:lnTo>
                <a:lnTo>
                  <a:pt x="137007" y="1469352"/>
                </a:lnTo>
                <a:lnTo>
                  <a:pt x="156579" y="1343980"/>
                </a:lnTo>
                <a:lnTo>
                  <a:pt x="176151" y="1229305"/>
                </a:lnTo>
                <a:lnTo>
                  <a:pt x="195724" y="1124415"/>
                </a:lnTo>
                <a:lnTo>
                  <a:pt x="215296" y="1028475"/>
                </a:lnTo>
                <a:lnTo>
                  <a:pt x="234869" y="940720"/>
                </a:lnTo>
                <a:lnTo>
                  <a:pt x="254441" y="860453"/>
                </a:lnTo>
                <a:lnTo>
                  <a:pt x="274014" y="787035"/>
                </a:lnTo>
                <a:lnTo>
                  <a:pt x="293586" y="719882"/>
                </a:lnTo>
                <a:lnTo>
                  <a:pt x="313159" y="658458"/>
                </a:lnTo>
                <a:lnTo>
                  <a:pt x="332731" y="602275"/>
                </a:lnTo>
                <a:lnTo>
                  <a:pt x="352303" y="550886"/>
                </a:lnTo>
                <a:lnTo>
                  <a:pt x="371876" y="503882"/>
                </a:lnTo>
                <a:lnTo>
                  <a:pt x="391448" y="460888"/>
                </a:lnTo>
                <a:lnTo>
                  <a:pt x="411021" y="421563"/>
                </a:lnTo>
                <a:lnTo>
                  <a:pt x="430593" y="385593"/>
                </a:lnTo>
                <a:lnTo>
                  <a:pt x="450166" y="352693"/>
                </a:lnTo>
                <a:lnTo>
                  <a:pt x="469738" y="322599"/>
                </a:lnTo>
                <a:lnTo>
                  <a:pt x="489311" y="295073"/>
                </a:lnTo>
                <a:lnTo>
                  <a:pt x="508883" y="269896"/>
                </a:lnTo>
                <a:lnTo>
                  <a:pt x="528455" y="246867"/>
                </a:lnTo>
                <a:lnTo>
                  <a:pt x="548028" y="225804"/>
                </a:lnTo>
                <a:lnTo>
                  <a:pt x="567600" y="206537"/>
                </a:lnTo>
                <a:lnTo>
                  <a:pt x="587173" y="188914"/>
                </a:lnTo>
                <a:lnTo>
                  <a:pt x="606745" y="172795"/>
                </a:lnTo>
                <a:lnTo>
                  <a:pt x="626318" y="158051"/>
                </a:lnTo>
                <a:lnTo>
                  <a:pt x="645890" y="144566"/>
                </a:lnTo>
                <a:lnTo>
                  <a:pt x="665463" y="132231"/>
                </a:lnTo>
                <a:lnTo>
                  <a:pt x="685035" y="120948"/>
                </a:lnTo>
                <a:lnTo>
                  <a:pt x="704607" y="110628"/>
                </a:lnTo>
                <a:lnTo>
                  <a:pt x="724180" y="101189"/>
                </a:lnTo>
                <a:lnTo>
                  <a:pt x="743752" y="92555"/>
                </a:lnTo>
                <a:lnTo>
                  <a:pt x="763325" y="84657"/>
                </a:lnTo>
                <a:lnTo>
                  <a:pt x="782897" y="77434"/>
                </a:lnTo>
                <a:lnTo>
                  <a:pt x="802470" y="70827"/>
                </a:lnTo>
                <a:lnTo>
                  <a:pt x="822042" y="64784"/>
                </a:lnTo>
                <a:lnTo>
                  <a:pt x="841614" y="59256"/>
                </a:lnTo>
                <a:lnTo>
                  <a:pt x="861187" y="54200"/>
                </a:lnTo>
                <a:lnTo>
                  <a:pt x="880759" y="49575"/>
                </a:lnTo>
                <a:lnTo>
                  <a:pt x="900332" y="45345"/>
                </a:lnTo>
                <a:lnTo>
                  <a:pt x="919904" y="41476"/>
                </a:lnTo>
                <a:lnTo>
                  <a:pt x="939477" y="37937"/>
                </a:lnTo>
                <a:lnTo>
                  <a:pt x="959049" y="34700"/>
                </a:lnTo>
                <a:lnTo>
                  <a:pt x="978622" y="31739"/>
                </a:lnTo>
                <a:lnTo>
                  <a:pt x="998194" y="29031"/>
                </a:lnTo>
                <a:lnTo>
                  <a:pt x="1017766" y="26554"/>
                </a:lnTo>
                <a:lnTo>
                  <a:pt x="1037339" y="24288"/>
                </a:lnTo>
                <a:lnTo>
                  <a:pt x="1056911" y="22216"/>
                </a:lnTo>
                <a:lnTo>
                  <a:pt x="1076484" y="20320"/>
                </a:lnTo>
                <a:lnTo>
                  <a:pt x="1096056" y="18586"/>
                </a:lnTo>
                <a:lnTo>
                  <a:pt x="1115629" y="17000"/>
                </a:lnTo>
                <a:lnTo>
                  <a:pt x="1135201" y="15550"/>
                </a:lnTo>
                <a:lnTo>
                  <a:pt x="1154774" y="14223"/>
                </a:lnTo>
                <a:lnTo>
                  <a:pt x="1174346" y="13009"/>
                </a:lnTo>
                <a:lnTo>
                  <a:pt x="1193918" y="11899"/>
                </a:lnTo>
                <a:lnTo>
                  <a:pt x="1213491" y="10884"/>
                </a:lnTo>
                <a:lnTo>
                  <a:pt x="1233063" y="9955"/>
                </a:lnTo>
                <a:lnTo>
                  <a:pt x="1252636" y="9106"/>
                </a:lnTo>
                <a:lnTo>
                  <a:pt x="1272208" y="8329"/>
                </a:lnTo>
                <a:lnTo>
                  <a:pt x="1291781" y="7618"/>
                </a:lnTo>
                <a:lnTo>
                  <a:pt x="1311353" y="6968"/>
                </a:lnTo>
                <a:lnTo>
                  <a:pt x="1330926" y="6373"/>
                </a:lnTo>
                <a:lnTo>
                  <a:pt x="1350498" y="5830"/>
                </a:lnTo>
                <a:lnTo>
                  <a:pt x="1370070" y="5332"/>
                </a:lnTo>
                <a:lnTo>
                  <a:pt x="1389643" y="4877"/>
                </a:lnTo>
                <a:lnTo>
                  <a:pt x="1409215" y="4461"/>
                </a:lnTo>
                <a:lnTo>
                  <a:pt x="1428788" y="4080"/>
                </a:lnTo>
                <a:lnTo>
                  <a:pt x="1448360" y="3732"/>
                </a:lnTo>
                <a:lnTo>
                  <a:pt x="1467933" y="3414"/>
                </a:lnTo>
                <a:lnTo>
                  <a:pt x="1487505" y="3122"/>
                </a:lnTo>
                <a:lnTo>
                  <a:pt x="1507077" y="2856"/>
                </a:lnTo>
                <a:lnTo>
                  <a:pt x="1526650" y="2612"/>
                </a:lnTo>
                <a:lnTo>
                  <a:pt x="1546222" y="2389"/>
                </a:lnTo>
                <a:lnTo>
                  <a:pt x="1565795" y="2185"/>
                </a:lnTo>
                <a:lnTo>
                  <a:pt x="1585367" y="1999"/>
                </a:lnTo>
                <a:lnTo>
                  <a:pt x="1604940" y="1828"/>
                </a:lnTo>
                <a:lnTo>
                  <a:pt x="1624512" y="1672"/>
                </a:lnTo>
                <a:lnTo>
                  <a:pt x="1644085" y="1529"/>
                </a:lnTo>
                <a:lnTo>
                  <a:pt x="1663657" y="1399"/>
                </a:lnTo>
                <a:lnTo>
                  <a:pt x="1683229" y="1280"/>
                </a:lnTo>
                <a:lnTo>
                  <a:pt x="1702802" y="1170"/>
                </a:lnTo>
                <a:lnTo>
                  <a:pt x="1722374" y="1070"/>
                </a:lnTo>
                <a:lnTo>
                  <a:pt x="1741947" y="979"/>
                </a:lnTo>
                <a:lnTo>
                  <a:pt x="1761519" y="895"/>
                </a:lnTo>
                <a:lnTo>
                  <a:pt x="1781092" y="819"/>
                </a:lnTo>
                <a:lnTo>
                  <a:pt x="1800664" y="749"/>
                </a:lnTo>
                <a:lnTo>
                  <a:pt x="1820237" y="685"/>
                </a:lnTo>
                <a:lnTo>
                  <a:pt x="1839809" y="627"/>
                </a:lnTo>
                <a:lnTo>
                  <a:pt x="1859381" y="573"/>
                </a:lnTo>
                <a:lnTo>
                  <a:pt x="1878954" y="524"/>
                </a:lnTo>
                <a:lnTo>
                  <a:pt x="1898526" y="479"/>
                </a:lnTo>
                <a:lnTo>
                  <a:pt x="1918099" y="438"/>
                </a:lnTo>
                <a:lnTo>
                  <a:pt x="1937671" y="401"/>
                </a:lnTo>
                <a:lnTo>
                  <a:pt x="1957244" y="367"/>
                </a:lnTo>
                <a:lnTo>
                  <a:pt x="1976816" y="335"/>
                </a:lnTo>
                <a:lnTo>
                  <a:pt x="1996389" y="307"/>
                </a:lnTo>
                <a:lnTo>
                  <a:pt x="2015961" y="281"/>
                </a:lnTo>
                <a:lnTo>
                  <a:pt x="2035533" y="257"/>
                </a:lnTo>
                <a:lnTo>
                  <a:pt x="2055106" y="235"/>
                </a:lnTo>
                <a:lnTo>
                  <a:pt x="2074678" y="215"/>
                </a:lnTo>
                <a:lnTo>
                  <a:pt x="2094251" y="196"/>
                </a:lnTo>
                <a:lnTo>
                  <a:pt x="2113823" y="179"/>
                </a:lnTo>
                <a:lnTo>
                  <a:pt x="2133396" y="164"/>
                </a:lnTo>
                <a:lnTo>
                  <a:pt x="2152968" y="150"/>
                </a:lnTo>
                <a:lnTo>
                  <a:pt x="2172541" y="137"/>
                </a:lnTo>
                <a:lnTo>
                  <a:pt x="2192113" y="125"/>
                </a:lnTo>
                <a:lnTo>
                  <a:pt x="2211685" y="115"/>
                </a:lnTo>
                <a:lnTo>
                  <a:pt x="2231258" y="105"/>
                </a:lnTo>
                <a:lnTo>
                  <a:pt x="2250830" y="96"/>
                </a:lnTo>
                <a:lnTo>
                  <a:pt x="2270403" y="88"/>
                </a:lnTo>
                <a:lnTo>
                  <a:pt x="2289975" y="80"/>
                </a:lnTo>
                <a:lnTo>
                  <a:pt x="2309548" y="73"/>
                </a:lnTo>
                <a:lnTo>
                  <a:pt x="2329120" y="67"/>
                </a:lnTo>
                <a:lnTo>
                  <a:pt x="2348692" y="61"/>
                </a:lnTo>
                <a:lnTo>
                  <a:pt x="2368265" y="56"/>
                </a:lnTo>
                <a:lnTo>
                  <a:pt x="2387837" y="51"/>
                </a:lnTo>
                <a:lnTo>
                  <a:pt x="2407410" y="47"/>
                </a:lnTo>
                <a:lnTo>
                  <a:pt x="2426982" y="43"/>
                </a:lnTo>
                <a:lnTo>
                  <a:pt x="2446555" y="39"/>
                </a:lnTo>
                <a:lnTo>
                  <a:pt x="2466127" y="36"/>
                </a:lnTo>
                <a:lnTo>
                  <a:pt x="2485700" y="33"/>
                </a:lnTo>
                <a:lnTo>
                  <a:pt x="2505272" y="30"/>
                </a:lnTo>
                <a:lnTo>
                  <a:pt x="2524844" y="27"/>
                </a:lnTo>
                <a:lnTo>
                  <a:pt x="2544417" y="25"/>
                </a:lnTo>
                <a:lnTo>
                  <a:pt x="2563989" y="23"/>
                </a:lnTo>
                <a:lnTo>
                  <a:pt x="2583562" y="21"/>
                </a:lnTo>
                <a:lnTo>
                  <a:pt x="2603134" y="19"/>
                </a:lnTo>
                <a:lnTo>
                  <a:pt x="2622707" y="17"/>
                </a:lnTo>
                <a:lnTo>
                  <a:pt x="2642279" y="16"/>
                </a:lnTo>
                <a:lnTo>
                  <a:pt x="2661852" y="14"/>
                </a:lnTo>
                <a:lnTo>
                  <a:pt x="2681424" y="13"/>
                </a:lnTo>
                <a:lnTo>
                  <a:pt x="2700996" y="12"/>
                </a:lnTo>
                <a:lnTo>
                  <a:pt x="2720569" y="11"/>
                </a:lnTo>
                <a:lnTo>
                  <a:pt x="2740141" y="10"/>
                </a:lnTo>
                <a:lnTo>
                  <a:pt x="2759714" y="9"/>
                </a:lnTo>
                <a:lnTo>
                  <a:pt x="2779286" y="8"/>
                </a:lnTo>
                <a:lnTo>
                  <a:pt x="2798859" y="7"/>
                </a:lnTo>
                <a:lnTo>
                  <a:pt x="2818431" y="7"/>
                </a:lnTo>
                <a:lnTo>
                  <a:pt x="2838004" y="6"/>
                </a:lnTo>
                <a:lnTo>
                  <a:pt x="2857576" y="6"/>
                </a:lnTo>
                <a:lnTo>
                  <a:pt x="2877148" y="5"/>
                </a:lnTo>
                <a:lnTo>
                  <a:pt x="2896721" y="5"/>
                </a:lnTo>
                <a:lnTo>
                  <a:pt x="2916293" y="4"/>
                </a:lnTo>
                <a:lnTo>
                  <a:pt x="2935866" y="4"/>
                </a:lnTo>
                <a:lnTo>
                  <a:pt x="2955438" y="3"/>
                </a:lnTo>
                <a:lnTo>
                  <a:pt x="2975011" y="3"/>
                </a:lnTo>
                <a:lnTo>
                  <a:pt x="2994583" y="3"/>
                </a:lnTo>
                <a:lnTo>
                  <a:pt x="3014155" y="2"/>
                </a:lnTo>
                <a:lnTo>
                  <a:pt x="3033728" y="2"/>
                </a:lnTo>
                <a:lnTo>
                  <a:pt x="3053300" y="2"/>
                </a:lnTo>
                <a:lnTo>
                  <a:pt x="3072873" y="2"/>
                </a:lnTo>
                <a:lnTo>
                  <a:pt x="3092445" y="2"/>
                </a:lnTo>
                <a:lnTo>
                  <a:pt x="3112018" y="1"/>
                </a:lnTo>
                <a:lnTo>
                  <a:pt x="3131590" y="1"/>
                </a:lnTo>
                <a:lnTo>
                  <a:pt x="3151163" y="1"/>
                </a:lnTo>
                <a:lnTo>
                  <a:pt x="3170735" y="1"/>
                </a:lnTo>
                <a:lnTo>
                  <a:pt x="3190307" y="1"/>
                </a:lnTo>
                <a:lnTo>
                  <a:pt x="3209880" y="1"/>
                </a:lnTo>
                <a:lnTo>
                  <a:pt x="3229452" y="1"/>
                </a:lnTo>
                <a:lnTo>
                  <a:pt x="3249025" y="1"/>
                </a:lnTo>
                <a:lnTo>
                  <a:pt x="3268597" y="0"/>
                </a:lnTo>
                <a:lnTo>
                  <a:pt x="3288170" y="0"/>
                </a:lnTo>
                <a:lnTo>
                  <a:pt x="3307742" y="0"/>
                </a:lnTo>
                <a:lnTo>
                  <a:pt x="3327315" y="0"/>
                </a:lnTo>
                <a:lnTo>
                  <a:pt x="3346887" y="0"/>
                </a:lnTo>
                <a:lnTo>
                  <a:pt x="3366459" y="0"/>
                </a:lnTo>
                <a:lnTo>
                  <a:pt x="3386032" y="0"/>
                </a:lnTo>
                <a:lnTo>
                  <a:pt x="3405604" y="0"/>
                </a:lnTo>
                <a:lnTo>
                  <a:pt x="3425177" y="0"/>
                </a:lnTo>
                <a:lnTo>
                  <a:pt x="3444749" y="0"/>
                </a:lnTo>
                <a:lnTo>
                  <a:pt x="3464322" y="0"/>
                </a:lnTo>
                <a:lnTo>
                  <a:pt x="3483894" y="0"/>
                </a:lnTo>
                <a:lnTo>
                  <a:pt x="3503467" y="0"/>
                </a:lnTo>
                <a:lnTo>
                  <a:pt x="3523039" y="0"/>
                </a:lnTo>
                <a:lnTo>
                  <a:pt x="3542611" y="0"/>
                </a:lnTo>
                <a:lnTo>
                  <a:pt x="3562184" y="0"/>
                </a:lnTo>
                <a:lnTo>
                  <a:pt x="3581756" y="0"/>
                </a:lnTo>
                <a:lnTo>
                  <a:pt x="3601329" y="0"/>
                </a:lnTo>
                <a:lnTo>
                  <a:pt x="3620901" y="0"/>
                </a:lnTo>
                <a:lnTo>
                  <a:pt x="3640474" y="0"/>
                </a:lnTo>
                <a:lnTo>
                  <a:pt x="3660046" y="0"/>
                </a:lnTo>
                <a:lnTo>
                  <a:pt x="3679618" y="0"/>
                </a:lnTo>
                <a:lnTo>
                  <a:pt x="3699191" y="0"/>
                </a:lnTo>
                <a:lnTo>
                  <a:pt x="3718763" y="0"/>
                </a:lnTo>
                <a:lnTo>
                  <a:pt x="3738336" y="0"/>
                </a:lnTo>
                <a:lnTo>
                  <a:pt x="3757908" y="0"/>
                </a:lnTo>
                <a:lnTo>
                  <a:pt x="3777481" y="0"/>
                </a:lnTo>
                <a:lnTo>
                  <a:pt x="3797053" y="0"/>
                </a:lnTo>
                <a:lnTo>
                  <a:pt x="3816626" y="0"/>
                </a:lnTo>
                <a:lnTo>
                  <a:pt x="3836198" y="0"/>
                </a:lnTo>
                <a:lnTo>
                  <a:pt x="3855770" y="0"/>
                </a:lnTo>
                <a:lnTo>
                  <a:pt x="3875343" y="0"/>
                </a:lnTo>
                <a:lnTo>
                  <a:pt x="3894915" y="0"/>
                </a:lnTo>
                <a:lnTo>
                  <a:pt x="3914488" y="0"/>
                </a:lnTo>
                <a:lnTo>
                  <a:pt x="3934060" y="0"/>
                </a:lnTo>
                <a:lnTo>
                  <a:pt x="3953633" y="0"/>
                </a:lnTo>
                <a:lnTo>
                  <a:pt x="3973205" y="0"/>
                </a:lnTo>
                <a:lnTo>
                  <a:pt x="3992778" y="0"/>
                </a:lnTo>
                <a:lnTo>
                  <a:pt x="4012350" y="0"/>
                </a:lnTo>
                <a:lnTo>
                  <a:pt x="4031922" y="0"/>
                </a:lnTo>
                <a:lnTo>
                  <a:pt x="4051495" y="0"/>
                </a:lnTo>
                <a:lnTo>
                  <a:pt x="4071067" y="0"/>
                </a:lnTo>
                <a:lnTo>
                  <a:pt x="4090640" y="0"/>
                </a:lnTo>
                <a:lnTo>
                  <a:pt x="4110212" y="0"/>
                </a:lnTo>
                <a:lnTo>
                  <a:pt x="4129785" y="0"/>
                </a:lnTo>
                <a:lnTo>
                  <a:pt x="4149357" y="0"/>
                </a:lnTo>
                <a:lnTo>
                  <a:pt x="4168930" y="0"/>
                </a:lnTo>
                <a:lnTo>
                  <a:pt x="4188502" y="0"/>
                </a:lnTo>
                <a:lnTo>
                  <a:pt x="4208074" y="0"/>
                </a:lnTo>
                <a:lnTo>
                  <a:pt x="4227647" y="0"/>
                </a:lnTo>
                <a:lnTo>
                  <a:pt x="4247219" y="0"/>
                </a:lnTo>
                <a:lnTo>
                  <a:pt x="4266792" y="0"/>
                </a:lnTo>
                <a:lnTo>
                  <a:pt x="4286364" y="0"/>
                </a:lnTo>
                <a:lnTo>
                  <a:pt x="4305937" y="0"/>
                </a:lnTo>
                <a:lnTo>
                  <a:pt x="4325509" y="0"/>
                </a:lnTo>
                <a:lnTo>
                  <a:pt x="4345082" y="0"/>
                </a:lnTo>
                <a:lnTo>
                  <a:pt x="4364654" y="0"/>
                </a:lnTo>
                <a:lnTo>
                  <a:pt x="4384226" y="0"/>
                </a:lnTo>
                <a:lnTo>
                  <a:pt x="4403799" y="0"/>
                </a:lnTo>
                <a:lnTo>
                  <a:pt x="4423371" y="0"/>
                </a:lnTo>
                <a:lnTo>
                  <a:pt x="4442944" y="0"/>
                </a:lnTo>
                <a:lnTo>
                  <a:pt x="4462516" y="0"/>
                </a:lnTo>
                <a:lnTo>
                  <a:pt x="4482089" y="0"/>
                </a:lnTo>
                <a:lnTo>
                  <a:pt x="4501661" y="0"/>
                </a:lnTo>
                <a:lnTo>
                  <a:pt x="4521233" y="0"/>
                </a:lnTo>
                <a:lnTo>
                  <a:pt x="4540806" y="0"/>
                </a:lnTo>
                <a:lnTo>
                  <a:pt x="4560378" y="0"/>
                </a:lnTo>
                <a:lnTo>
                  <a:pt x="4579951" y="0"/>
                </a:lnTo>
                <a:lnTo>
                  <a:pt x="4599523" y="0"/>
                </a:lnTo>
                <a:lnTo>
                  <a:pt x="4619096" y="0"/>
                </a:lnTo>
                <a:lnTo>
                  <a:pt x="4638668" y="0"/>
                </a:lnTo>
                <a:lnTo>
                  <a:pt x="4658241" y="0"/>
                </a:lnTo>
                <a:lnTo>
                  <a:pt x="4677813" y="0"/>
                </a:lnTo>
                <a:lnTo>
                  <a:pt x="4697385" y="0"/>
                </a:lnTo>
                <a:lnTo>
                  <a:pt x="4716958" y="0"/>
                </a:lnTo>
                <a:lnTo>
                  <a:pt x="4736530" y="0"/>
                </a:lnTo>
                <a:lnTo>
                  <a:pt x="4756103" y="0"/>
                </a:lnTo>
                <a:lnTo>
                  <a:pt x="4775675" y="0"/>
                </a:lnTo>
                <a:lnTo>
                  <a:pt x="4795248" y="0"/>
                </a:lnTo>
                <a:lnTo>
                  <a:pt x="4814820" y="0"/>
                </a:lnTo>
                <a:lnTo>
                  <a:pt x="4834393" y="0"/>
                </a:lnTo>
                <a:lnTo>
                  <a:pt x="4853965" y="0"/>
                </a:lnTo>
                <a:lnTo>
                  <a:pt x="4873537" y="0"/>
                </a:lnTo>
                <a:lnTo>
                  <a:pt x="4893110" y="0"/>
                </a:lnTo>
                <a:lnTo>
                  <a:pt x="4912682" y="0"/>
                </a:lnTo>
                <a:lnTo>
                  <a:pt x="4932255" y="0"/>
                </a:lnTo>
                <a:lnTo>
                  <a:pt x="4951827" y="0"/>
                </a:lnTo>
                <a:lnTo>
                  <a:pt x="4971400" y="0"/>
                </a:lnTo>
                <a:lnTo>
                  <a:pt x="4990972" y="2743200"/>
                </a:lnTo>
                <a:lnTo>
                  <a:pt x="5010545" y="2743200"/>
                </a:lnTo>
                <a:lnTo>
                  <a:pt x="5030117" y="2743200"/>
                </a:lnTo>
                <a:lnTo>
                  <a:pt x="5049689" y="2743200"/>
                </a:lnTo>
                <a:lnTo>
                  <a:pt x="5069262" y="2743200"/>
                </a:lnTo>
                <a:lnTo>
                  <a:pt x="5088834" y="2743200"/>
                </a:lnTo>
                <a:lnTo>
                  <a:pt x="5108407" y="2743200"/>
                </a:lnTo>
                <a:lnTo>
                  <a:pt x="5127979" y="2743200"/>
                </a:lnTo>
                <a:lnTo>
                  <a:pt x="5147552" y="2743200"/>
                </a:lnTo>
                <a:lnTo>
                  <a:pt x="5167124" y="2743200"/>
                </a:lnTo>
                <a:lnTo>
                  <a:pt x="5186696" y="2743200"/>
                </a:lnTo>
                <a:lnTo>
                  <a:pt x="5206269" y="2743200"/>
                </a:lnTo>
                <a:lnTo>
                  <a:pt x="5225841" y="2743200"/>
                </a:lnTo>
                <a:lnTo>
                  <a:pt x="5245414" y="2743200"/>
                </a:lnTo>
                <a:lnTo>
                  <a:pt x="5264986" y="2743200"/>
                </a:lnTo>
                <a:lnTo>
                  <a:pt x="5284559" y="2743200"/>
                </a:lnTo>
                <a:lnTo>
                  <a:pt x="5304131" y="2743200"/>
                </a:lnTo>
                <a:lnTo>
                  <a:pt x="5323704" y="2743200"/>
                </a:lnTo>
                <a:lnTo>
                  <a:pt x="5343276" y="2743200"/>
                </a:lnTo>
                <a:lnTo>
                  <a:pt x="5362848" y="2743200"/>
                </a:lnTo>
                <a:lnTo>
                  <a:pt x="5382421" y="2743200"/>
                </a:lnTo>
                <a:lnTo>
                  <a:pt x="5401993" y="2743200"/>
                </a:lnTo>
                <a:lnTo>
                  <a:pt x="5421566" y="2743200"/>
                </a:lnTo>
                <a:lnTo>
                  <a:pt x="5441138" y="2743200"/>
                </a:lnTo>
                <a:lnTo>
                  <a:pt x="5460711" y="2743200"/>
                </a:lnTo>
                <a:lnTo>
                  <a:pt x="5480283" y="2743200"/>
                </a:lnTo>
                <a:lnTo>
                  <a:pt x="5499856" y="2743200"/>
                </a:lnTo>
                <a:lnTo>
                  <a:pt x="5519428" y="2743200"/>
                </a:lnTo>
                <a:lnTo>
                  <a:pt x="5539000" y="2743200"/>
                </a:lnTo>
                <a:lnTo>
                  <a:pt x="5558573" y="2743200"/>
                </a:lnTo>
                <a:lnTo>
                  <a:pt x="5578145" y="2743200"/>
                </a:lnTo>
                <a:lnTo>
                  <a:pt x="5597718" y="2743200"/>
                </a:lnTo>
                <a:lnTo>
                  <a:pt x="5617290" y="2743200"/>
                </a:lnTo>
                <a:lnTo>
                  <a:pt x="5636863" y="2743200"/>
                </a:lnTo>
                <a:lnTo>
                  <a:pt x="5656435" y="2743200"/>
                </a:lnTo>
                <a:lnTo>
                  <a:pt x="5676008" y="2743200"/>
                </a:lnTo>
                <a:lnTo>
                  <a:pt x="5695580" y="2743200"/>
                </a:lnTo>
                <a:lnTo>
                  <a:pt x="5715152" y="2743200"/>
                </a:lnTo>
                <a:lnTo>
                  <a:pt x="5734725" y="2743200"/>
                </a:lnTo>
                <a:lnTo>
                  <a:pt x="5754297" y="2743200"/>
                </a:lnTo>
                <a:lnTo>
                  <a:pt x="5773870" y="2743200"/>
                </a:lnTo>
                <a:lnTo>
                  <a:pt x="5793442" y="2743200"/>
                </a:lnTo>
                <a:lnTo>
                  <a:pt x="5813015" y="2743200"/>
                </a:lnTo>
                <a:lnTo>
                  <a:pt x="5832587" y="2743200"/>
                </a:lnTo>
                <a:lnTo>
                  <a:pt x="5852160" y="2743200"/>
                </a:lnTo>
                <a:lnTo>
                  <a:pt x="5852160" y="2743200"/>
                </a:lnTo>
                <a:lnTo>
                  <a:pt x="5832587" y="2743200"/>
                </a:lnTo>
                <a:lnTo>
                  <a:pt x="5813015" y="2743200"/>
                </a:lnTo>
                <a:lnTo>
                  <a:pt x="5793442" y="2743200"/>
                </a:lnTo>
                <a:lnTo>
                  <a:pt x="5773870" y="2743200"/>
                </a:lnTo>
                <a:lnTo>
                  <a:pt x="5754297" y="2743200"/>
                </a:lnTo>
                <a:lnTo>
                  <a:pt x="5734725" y="2743200"/>
                </a:lnTo>
                <a:lnTo>
                  <a:pt x="5715152" y="2743200"/>
                </a:lnTo>
                <a:lnTo>
                  <a:pt x="5695580" y="2743200"/>
                </a:lnTo>
                <a:lnTo>
                  <a:pt x="5676008" y="2743200"/>
                </a:lnTo>
                <a:lnTo>
                  <a:pt x="5656435" y="2743200"/>
                </a:lnTo>
                <a:lnTo>
                  <a:pt x="5636863" y="2743200"/>
                </a:lnTo>
                <a:lnTo>
                  <a:pt x="5617290" y="2743200"/>
                </a:lnTo>
                <a:lnTo>
                  <a:pt x="5597718" y="2743200"/>
                </a:lnTo>
                <a:lnTo>
                  <a:pt x="5578145" y="2743200"/>
                </a:lnTo>
                <a:lnTo>
                  <a:pt x="5558573" y="2743200"/>
                </a:lnTo>
                <a:lnTo>
                  <a:pt x="5539000" y="2743200"/>
                </a:lnTo>
                <a:lnTo>
                  <a:pt x="5519428" y="2743200"/>
                </a:lnTo>
                <a:lnTo>
                  <a:pt x="5499856" y="2743200"/>
                </a:lnTo>
                <a:lnTo>
                  <a:pt x="5480283" y="2743200"/>
                </a:lnTo>
                <a:lnTo>
                  <a:pt x="5460711" y="2743200"/>
                </a:lnTo>
                <a:lnTo>
                  <a:pt x="5441138" y="2743200"/>
                </a:lnTo>
                <a:lnTo>
                  <a:pt x="5421566" y="2743200"/>
                </a:lnTo>
                <a:lnTo>
                  <a:pt x="5401993" y="2743200"/>
                </a:lnTo>
                <a:lnTo>
                  <a:pt x="5382421" y="2743200"/>
                </a:lnTo>
                <a:lnTo>
                  <a:pt x="5362848" y="2743200"/>
                </a:lnTo>
                <a:lnTo>
                  <a:pt x="5343276" y="2743200"/>
                </a:lnTo>
                <a:lnTo>
                  <a:pt x="5323704" y="2743200"/>
                </a:lnTo>
                <a:lnTo>
                  <a:pt x="5304131" y="2743200"/>
                </a:lnTo>
                <a:lnTo>
                  <a:pt x="5284559" y="2743200"/>
                </a:lnTo>
                <a:lnTo>
                  <a:pt x="5264986" y="2743200"/>
                </a:lnTo>
                <a:lnTo>
                  <a:pt x="5245414" y="2743200"/>
                </a:lnTo>
                <a:lnTo>
                  <a:pt x="5225841" y="2743200"/>
                </a:lnTo>
                <a:lnTo>
                  <a:pt x="5206269" y="2743200"/>
                </a:lnTo>
                <a:lnTo>
                  <a:pt x="5186696" y="2743200"/>
                </a:lnTo>
                <a:lnTo>
                  <a:pt x="5167124" y="2743200"/>
                </a:lnTo>
                <a:lnTo>
                  <a:pt x="5147552" y="2743200"/>
                </a:lnTo>
                <a:lnTo>
                  <a:pt x="5127979" y="2743200"/>
                </a:lnTo>
                <a:lnTo>
                  <a:pt x="5108407" y="2743200"/>
                </a:lnTo>
                <a:lnTo>
                  <a:pt x="5088834" y="2743200"/>
                </a:lnTo>
                <a:lnTo>
                  <a:pt x="5069262" y="2743200"/>
                </a:lnTo>
                <a:lnTo>
                  <a:pt x="5049689" y="2743200"/>
                </a:lnTo>
                <a:lnTo>
                  <a:pt x="5030117" y="2743200"/>
                </a:lnTo>
                <a:lnTo>
                  <a:pt x="5010545" y="2743200"/>
                </a:lnTo>
                <a:lnTo>
                  <a:pt x="4990972" y="2743200"/>
                </a:lnTo>
                <a:lnTo>
                  <a:pt x="4971400" y="2743200"/>
                </a:lnTo>
                <a:lnTo>
                  <a:pt x="4951827" y="2743200"/>
                </a:lnTo>
                <a:lnTo>
                  <a:pt x="4932255" y="2743200"/>
                </a:lnTo>
                <a:lnTo>
                  <a:pt x="4912682" y="2743200"/>
                </a:lnTo>
                <a:lnTo>
                  <a:pt x="4893110" y="2743200"/>
                </a:lnTo>
                <a:lnTo>
                  <a:pt x="4873537" y="2743200"/>
                </a:lnTo>
                <a:lnTo>
                  <a:pt x="4853965" y="2743200"/>
                </a:lnTo>
                <a:lnTo>
                  <a:pt x="4834393" y="2743200"/>
                </a:lnTo>
                <a:lnTo>
                  <a:pt x="4814820" y="2743200"/>
                </a:lnTo>
                <a:lnTo>
                  <a:pt x="4795248" y="2743200"/>
                </a:lnTo>
                <a:lnTo>
                  <a:pt x="4775675" y="2743200"/>
                </a:lnTo>
                <a:lnTo>
                  <a:pt x="4756103" y="2743200"/>
                </a:lnTo>
                <a:lnTo>
                  <a:pt x="4736530" y="2743200"/>
                </a:lnTo>
                <a:lnTo>
                  <a:pt x="4716958" y="2743200"/>
                </a:lnTo>
                <a:lnTo>
                  <a:pt x="4697385" y="2743200"/>
                </a:lnTo>
                <a:lnTo>
                  <a:pt x="4677813" y="2743200"/>
                </a:lnTo>
                <a:lnTo>
                  <a:pt x="4658241" y="2743200"/>
                </a:lnTo>
                <a:lnTo>
                  <a:pt x="4638668" y="2743200"/>
                </a:lnTo>
                <a:lnTo>
                  <a:pt x="4619096" y="2743200"/>
                </a:lnTo>
                <a:lnTo>
                  <a:pt x="4599523" y="2743200"/>
                </a:lnTo>
                <a:lnTo>
                  <a:pt x="4579951" y="2743200"/>
                </a:lnTo>
                <a:lnTo>
                  <a:pt x="4560378" y="2743200"/>
                </a:lnTo>
                <a:lnTo>
                  <a:pt x="4540806" y="2743200"/>
                </a:lnTo>
                <a:lnTo>
                  <a:pt x="4521233" y="2743200"/>
                </a:lnTo>
                <a:lnTo>
                  <a:pt x="4501661" y="2743200"/>
                </a:lnTo>
                <a:lnTo>
                  <a:pt x="4482089" y="2743200"/>
                </a:lnTo>
                <a:lnTo>
                  <a:pt x="4462516" y="2743200"/>
                </a:lnTo>
                <a:lnTo>
                  <a:pt x="4442944" y="2743200"/>
                </a:lnTo>
                <a:lnTo>
                  <a:pt x="4423371" y="2743200"/>
                </a:lnTo>
                <a:lnTo>
                  <a:pt x="4403799" y="2743200"/>
                </a:lnTo>
                <a:lnTo>
                  <a:pt x="4384226" y="2743200"/>
                </a:lnTo>
                <a:lnTo>
                  <a:pt x="4364654" y="2743200"/>
                </a:lnTo>
                <a:lnTo>
                  <a:pt x="4345082" y="2743200"/>
                </a:lnTo>
                <a:lnTo>
                  <a:pt x="4325509" y="2743200"/>
                </a:lnTo>
                <a:lnTo>
                  <a:pt x="4305937" y="2743200"/>
                </a:lnTo>
                <a:lnTo>
                  <a:pt x="4286364" y="2743200"/>
                </a:lnTo>
                <a:lnTo>
                  <a:pt x="4266792" y="2743200"/>
                </a:lnTo>
                <a:lnTo>
                  <a:pt x="4247219" y="2743200"/>
                </a:lnTo>
                <a:lnTo>
                  <a:pt x="4227647" y="2743200"/>
                </a:lnTo>
                <a:lnTo>
                  <a:pt x="4208074" y="2743200"/>
                </a:lnTo>
                <a:lnTo>
                  <a:pt x="4188502" y="2743200"/>
                </a:lnTo>
                <a:lnTo>
                  <a:pt x="4168930" y="2743200"/>
                </a:lnTo>
                <a:lnTo>
                  <a:pt x="4149357" y="2743200"/>
                </a:lnTo>
                <a:lnTo>
                  <a:pt x="4129785" y="2743200"/>
                </a:lnTo>
                <a:lnTo>
                  <a:pt x="4110212" y="2743200"/>
                </a:lnTo>
                <a:lnTo>
                  <a:pt x="4090640" y="2743200"/>
                </a:lnTo>
                <a:lnTo>
                  <a:pt x="4071067" y="2743200"/>
                </a:lnTo>
                <a:lnTo>
                  <a:pt x="4051495" y="2743200"/>
                </a:lnTo>
                <a:lnTo>
                  <a:pt x="4031922" y="2743200"/>
                </a:lnTo>
                <a:lnTo>
                  <a:pt x="4012350" y="2743200"/>
                </a:lnTo>
                <a:lnTo>
                  <a:pt x="3992778" y="2743200"/>
                </a:lnTo>
                <a:lnTo>
                  <a:pt x="3973205" y="2743200"/>
                </a:lnTo>
                <a:lnTo>
                  <a:pt x="3953633" y="2743200"/>
                </a:lnTo>
                <a:lnTo>
                  <a:pt x="3934060" y="2743200"/>
                </a:lnTo>
                <a:lnTo>
                  <a:pt x="3914488" y="2743200"/>
                </a:lnTo>
                <a:lnTo>
                  <a:pt x="3894915" y="2743200"/>
                </a:lnTo>
                <a:lnTo>
                  <a:pt x="3875343" y="2743200"/>
                </a:lnTo>
                <a:lnTo>
                  <a:pt x="3855770" y="2743200"/>
                </a:lnTo>
                <a:lnTo>
                  <a:pt x="3836198" y="2743200"/>
                </a:lnTo>
                <a:lnTo>
                  <a:pt x="3816626" y="2743200"/>
                </a:lnTo>
                <a:lnTo>
                  <a:pt x="3797053" y="2743200"/>
                </a:lnTo>
                <a:lnTo>
                  <a:pt x="3777481" y="2743200"/>
                </a:lnTo>
                <a:lnTo>
                  <a:pt x="3757908" y="2743200"/>
                </a:lnTo>
                <a:lnTo>
                  <a:pt x="3738336" y="2743200"/>
                </a:lnTo>
                <a:lnTo>
                  <a:pt x="3718763" y="2743200"/>
                </a:lnTo>
                <a:lnTo>
                  <a:pt x="3699191" y="2743200"/>
                </a:lnTo>
                <a:lnTo>
                  <a:pt x="3679618" y="2743200"/>
                </a:lnTo>
                <a:lnTo>
                  <a:pt x="3660046" y="2743200"/>
                </a:lnTo>
                <a:lnTo>
                  <a:pt x="3640474" y="2743200"/>
                </a:lnTo>
                <a:lnTo>
                  <a:pt x="3620901" y="2743200"/>
                </a:lnTo>
                <a:lnTo>
                  <a:pt x="3601329" y="2743200"/>
                </a:lnTo>
                <a:lnTo>
                  <a:pt x="3581756" y="2743200"/>
                </a:lnTo>
                <a:lnTo>
                  <a:pt x="3562184" y="2743200"/>
                </a:lnTo>
                <a:lnTo>
                  <a:pt x="3542611" y="2743200"/>
                </a:lnTo>
                <a:lnTo>
                  <a:pt x="3523039" y="2743200"/>
                </a:lnTo>
                <a:lnTo>
                  <a:pt x="3503467" y="2743200"/>
                </a:lnTo>
                <a:lnTo>
                  <a:pt x="3483894" y="2743200"/>
                </a:lnTo>
                <a:lnTo>
                  <a:pt x="3464322" y="2743200"/>
                </a:lnTo>
                <a:lnTo>
                  <a:pt x="3444749" y="2743200"/>
                </a:lnTo>
                <a:lnTo>
                  <a:pt x="3425177" y="2743200"/>
                </a:lnTo>
                <a:lnTo>
                  <a:pt x="3405604" y="2743200"/>
                </a:lnTo>
                <a:lnTo>
                  <a:pt x="3386032" y="2743200"/>
                </a:lnTo>
                <a:lnTo>
                  <a:pt x="3366459" y="2743200"/>
                </a:lnTo>
                <a:lnTo>
                  <a:pt x="3346887" y="2743200"/>
                </a:lnTo>
                <a:lnTo>
                  <a:pt x="3327315" y="2743200"/>
                </a:lnTo>
                <a:lnTo>
                  <a:pt x="3307742" y="2743200"/>
                </a:lnTo>
                <a:lnTo>
                  <a:pt x="3288170" y="2743200"/>
                </a:lnTo>
                <a:lnTo>
                  <a:pt x="3268597" y="2743200"/>
                </a:lnTo>
                <a:lnTo>
                  <a:pt x="3249025" y="2743200"/>
                </a:lnTo>
                <a:lnTo>
                  <a:pt x="3229452" y="2743200"/>
                </a:lnTo>
                <a:lnTo>
                  <a:pt x="3209880" y="2743200"/>
                </a:lnTo>
                <a:lnTo>
                  <a:pt x="3190307" y="2743200"/>
                </a:lnTo>
                <a:lnTo>
                  <a:pt x="3170735" y="2743200"/>
                </a:lnTo>
                <a:lnTo>
                  <a:pt x="3151163" y="2743200"/>
                </a:lnTo>
                <a:lnTo>
                  <a:pt x="3131590" y="2743200"/>
                </a:lnTo>
                <a:lnTo>
                  <a:pt x="3112018" y="2743200"/>
                </a:lnTo>
                <a:lnTo>
                  <a:pt x="3092445" y="2743200"/>
                </a:lnTo>
                <a:lnTo>
                  <a:pt x="3072873" y="2743200"/>
                </a:lnTo>
                <a:lnTo>
                  <a:pt x="3053300" y="2743200"/>
                </a:lnTo>
                <a:lnTo>
                  <a:pt x="3033728" y="2743200"/>
                </a:lnTo>
                <a:lnTo>
                  <a:pt x="3014155" y="2743200"/>
                </a:lnTo>
                <a:lnTo>
                  <a:pt x="2994583" y="2743200"/>
                </a:lnTo>
                <a:lnTo>
                  <a:pt x="2975011" y="2743200"/>
                </a:lnTo>
                <a:lnTo>
                  <a:pt x="2955438" y="2743200"/>
                </a:lnTo>
                <a:lnTo>
                  <a:pt x="2935866" y="2743200"/>
                </a:lnTo>
                <a:lnTo>
                  <a:pt x="2916293" y="2743200"/>
                </a:lnTo>
                <a:lnTo>
                  <a:pt x="2896721" y="2743200"/>
                </a:lnTo>
                <a:lnTo>
                  <a:pt x="2877148" y="2743200"/>
                </a:lnTo>
                <a:lnTo>
                  <a:pt x="2857576" y="2743200"/>
                </a:lnTo>
                <a:lnTo>
                  <a:pt x="2838004" y="2743200"/>
                </a:lnTo>
                <a:lnTo>
                  <a:pt x="2818431" y="2743200"/>
                </a:lnTo>
                <a:lnTo>
                  <a:pt x="2798859" y="2743200"/>
                </a:lnTo>
                <a:lnTo>
                  <a:pt x="2779286" y="2743200"/>
                </a:lnTo>
                <a:lnTo>
                  <a:pt x="2759714" y="2743200"/>
                </a:lnTo>
                <a:lnTo>
                  <a:pt x="2740141" y="2743200"/>
                </a:lnTo>
                <a:lnTo>
                  <a:pt x="2720569" y="2743200"/>
                </a:lnTo>
                <a:lnTo>
                  <a:pt x="2700996" y="2743200"/>
                </a:lnTo>
                <a:lnTo>
                  <a:pt x="2681424" y="2743200"/>
                </a:lnTo>
                <a:lnTo>
                  <a:pt x="2661852" y="2743200"/>
                </a:lnTo>
                <a:lnTo>
                  <a:pt x="2642279" y="2743200"/>
                </a:lnTo>
                <a:lnTo>
                  <a:pt x="2622707" y="2743200"/>
                </a:lnTo>
                <a:lnTo>
                  <a:pt x="2603134" y="2743200"/>
                </a:lnTo>
                <a:lnTo>
                  <a:pt x="2583562" y="2743200"/>
                </a:lnTo>
                <a:lnTo>
                  <a:pt x="2563989" y="2743200"/>
                </a:lnTo>
                <a:lnTo>
                  <a:pt x="2544417" y="2743200"/>
                </a:lnTo>
                <a:lnTo>
                  <a:pt x="2524844" y="2743200"/>
                </a:lnTo>
                <a:lnTo>
                  <a:pt x="2505272" y="2743200"/>
                </a:lnTo>
                <a:lnTo>
                  <a:pt x="2485700" y="2743200"/>
                </a:lnTo>
                <a:lnTo>
                  <a:pt x="2466127" y="2743200"/>
                </a:lnTo>
                <a:lnTo>
                  <a:pt x="2446555" y="2743200"/>
                </a:lnTo>
                <a:lnTo>
                  <a:pt x="2426982" y="2743200"/>
                </a:lnTo>
                <a:lnTo>
                  <a:pt x="2407410" y="2743200"/>
                </a:lnTo>
                <a:lnTo>
                  <a:pt x="2387837" y="2743200"/>
                </a:lnTo>
                <a:lnTo>
                  <a:pt x="2368265" y="2743200"/>
                </a:lnTo>
                <a:lnTo>
                  <a:pt x="2348692" y="2743200"/>
                </a:lnTo>
                <a:lnTo>
                  <a:pt x="2329120" y="2743200"/>
                </a:lnTo>
                <a:lnTo>
                  <a:pt x="2309548" y="2743200"/>
                </a:lnTo>
                <a:lnTo>
                  <a:pt x="2289975" y="2743200"/>
                </a:lnTo>
                <a:lnTo>
                  <a:pt x="2270403" y="2743200"/>
                </a:lnTo>
                <a:lnTo>
                  <a:pt x="2250830" y="2743200"/>
                </a:lnTo>
                <a:lnTo>
                  <a:pt x="2231258" y="2743200"/>
                </a:lnTo>
                <a:lnTo>
                  <a:pt x="2211685" y="2743200"/>
                </a:lnTo>
                <a:lnTo>
                  <a:pt x="2192113" y="2743200"/>
                </a:lnTo>
                <a:lnTo>
                  <a:pt x="2172541" y="2743200"/>
                </a:lnTo>
                <a:lnTo>
                  <a:pt x="2152968" y="2743200"/>
                </a:lnTo>
                <a:lnTo>
                  <a:pt x="2133396" y="2743200"/>
                </a:lnTo>
                <a:lnTo>
                  <a:pt x="2113823" y="2743200"/>
                </a:lnTo>
                <a:lnTo>
                  <a:pt x="2094251" y="2743200"/>
                </a:lnTo>
                <a:lnTo>
                  <a:pt x="2074678" y="2743200"/>
                </a:lnTo>
                <a:lnTo>
                  <a:pt x="2055106" y="2743200"/>
                </a:lnTo>
                <a:lnTo>
                  <a:pt x="2035533" y="2743200"/>
                </a:lnTo>
                <a:lnTo>
                  <a:pt x="2015961" y="2743200"/>
                </a:lnTo>
                <a:lnTo>
                  <a:pt x="1996389" y="2743200"/>
                </a:lnTo>
                <a:lnTo>
                  <a:pt x="1976816" y="2743200"/>
                </a:lnTo>
                <a:lnTo>
                  <a:pt x="1957244" y="2743200"/>
                </a:lnTo>
                <a:lnTo>
                  <a:pt x="1937671" y="2743200"/>
                </a:lnTo>
                <a:lnTo>
                  <a:pt x="1918099" y="2743200"/>
                </a:lnTo>
                <a:lnTo>
                  <a:pt x="1898526" y="2743200"/>
                </a:lnTo>
                <a:lnTo>
                  <a:pt x="1878954" y="2743200"/>
                </a:lnTo>
                <a:lnTo>
                  <a:pt x="1859381" y="2743200"/>
                </a:lnTo>
                <a:lnTo>
                  <a:pt x="1839809" y="2743200"/>
                </a:lnTo>
                <a:lnTo>
                  <a:pt x="1820237" y="2743200"/>
                </a:lnTo>
                <a:lnTo>
                  <a:pt x="1800664" y="2743200"/>
                </a:lnTo>
                <a:lnTo>
                  <a:pt x="1781092" y="2743200"/>
                </a:lnTo>
                <a:lnTo>
                  <a:pt x="1761519" y="2743200"/>
                </a:lnTo>
                <a:lnTo>
                  <a:pt x="1741947" y="2743200"/>
                </a:lnTo>
                <a:lnTo>
                  <a:pt x="1722374" y="2743200"/>
                </a:lnTo>
                <a:lnTo>
                  <a:pt x="1702802" y="2743200"/>
                </a:lnTo>
                <a:lnTo>
                  <a:pt x="1683229" y="2743200"/>
                </a:lnTo>
                <a:lnTo>
                  <a:pt x="1663657" y="2743200"/>
                </a:lnTo>
                <a:lnTo>
                  <a:pt x="1644085" y="2743200"/>
                </a:lnTo>
                <a:lnTo>
                  <a:pt x="1624512" y="2743200"/>
                </a:lnTo>
                <a:lnTo>
                  <a:pt x="1604940" y="2743200"/>
                </a:lnTo>
                <a:lnTo>
                  <a:pt x="1585367" y="2743200"/>
                </a:lnTo>
                <a:lnTo>
                  <a:pt x="1565795" y="2743200"/>
                </a:lnTo>
                <a:lnTo>
                  <a:pt x="1546222" y="2743200"/>
                </a:lnTo>
                <a:lnTo>
                  <a:pt x="1526650" y="2743200"/>
                </a:lnTo>
                <a:lnTo>
                  <a:pt x="1507077" y="2743200"/>
                </a:lnTo>
                <a:lnTo>
                  <a:pt x="1487505" y="2743200"/>
                </a:lnTo>
                <a:lnTo>
                  <a:pt x="1467933" y="2743200"/>
                </a:lnTo>
                <a:lnTo>
                  <a:pt x="1448360" y="2743200"/>
                </a:lnTo>
                <a:lnTo>
                  <a:pt x="1428788" y="2743200"/>
                </a:lnTo>
                <a:lnTo>
                  <a:pt x="1409215" y="2743200"/>
                </a:lnTo>
                <a:lnTo>
                  <a:pt x="1389643" y="2743200"/>
                </a:lnTo>
                <a:lnTo>
                  <a:pt x="1370070" y="2743200"/>
                </a:lnTo>
                <a:lnTo>
                  <a:pt x="1350498" y="2743200"/>
                </a:lnTo>
                <a:lnTo>
                  <a:pt x="1330926" y="2743200"/>
                </a:lnTo>
                <a:lnTo>
                  <a:pt x="1311353" y="2743200"/>
                </a:lnTo>
                <a:lnTo>
                  <a:pt x="1291781" y="2743200"/>
                </a:lnTo>
                <a:lnTo>
                  <a:pt x="1272208" y="2743200"/>
                </a:lnTo>
                <a:lnTo>
                  <a:pt x="1252636" y="2743200"/>
                </a:lnTo>
                <a:lnTo>
                  <a:pt x="1233063" y="2743200"/>
                </a:lnTo>
                <a:lnTo>
                  <a:pt x="1213491" y="2743200"/>
                </a:lnTo>
                <a:lnTo>
                  <a:pt x="1193918" y="2743200"/>
                </a:lnTo>
                <a:lnTo>
                  <a:pt x="1174346" y="2743200"/>
                </a:lnTo>
                <a:lnTo>
                  <a:pt x="1154774" y="2743200"/>
                </a:lnTo>
                <a:lnTo>
                  <a:pt x="1135201" y="2743200"/>
                </a:lnTo>
                <a:lnTo>
                  <a:pt x="1115629" y="2743200"/>
                </a:lnTo>
                <a:lnTo>
                  <a:pt x="1096056" y="2743200"/>
                </a:lnTo>
                <a:lnTo>
                  <a:pt x="1076484" y="2743200"/>
                </a:lnTo>
                <a:lnTo>
                  <a:pt x="1056911" y="2743200"/>
                </a:lnTo>
                <a:lnTo>
                  <a:pt x="1037339" y="2743200"/>
                </a:lnTo>
                <a:lnTo>
                  <a:pt x="1017766" y="2743200"/>
                </a:lnTo>
                <a:lnTo>
                  <a:pt x="998194" y="2743200"/>
                </a:lnTo>
                <a:lnTo>
                  <a:pt x="978622" y="2743200"/>
                </a:lnTo>
                <a:lnTo>
                  <a:pt x="959049" y="2743200"/>
                </a:lnTo>
                <a:lnTo>
                  <a:pt x="939477" y="2743200"/>
                </a:lnTo>
                <a:lnTo>
                  <a:pt x="919904" y="2743200"/>
                </a:lnTo>
                <a:lnTo>
                  <a:pt x="900332" y="2743200"/>
                </a:lnTo>
                <a:lnTo>
                  <a:pt x="880759" y="2743200"/>
                </a:lnTo>
                <a:lnTo>
                  <a:pt x="861187" y="2743200"/>
                </a:lnTo>
                <a:lnTo>
                  <a:pt x="841614" y="2743200"/>
                </a:lnTo>
                <a:lnTo>
                  <a:pt x="822042" y="2743200"/>
                </a:lnTo>
                <a:lnTo>
                  <a:pt x="802470" y="2743200"/>
                </a:lnTo>
                <a:lnTo>
                  <a:pt x="782897" y="2743200"/>
                </a:lnTo>
                <a:lnTo>
                  <a:pt x="763325" y="2743200"/>
                </a:lnTo>
                <a:lnTo>
                  <a:pt x="743752" y="2743200"/>
                </a:lnTo>
                <a:lnTo>
                  <a:pt x="724180" y="2743200"/>
                </a:lnTo>
                <a:lnTo>
                  <a:pt x="704607" y="2743200"/>
                </a:lnTo>
                <a:lnTo>
                  <a:pt x="685035" y="2743200"/>
                </a:lnTo>
                <a:lnTo>
                  <a:pt x="665463" y="2743200"/>
                </a:lnTo>
                <a:lnTo>
                  <a:pt x="645890" y="2743200"/>
                </a:lnTo>
                <a:lnTo>
                  <a:pt x="626318" y="2743200"/>
                </a:lnTo>
                <a:lnTo>
                  <a:pt x="606745" y="2743200"/>
                </a:lnTo>
                <a:lnTo>
                  <a:pt x="587173" y="2743200"/>
                </a:lnTo>
                <a:lnTo>
                  <a:pt x="567600" y="2743200"/>
                </a:lnTo>
                <a:lnTo>
                  <a:pt x="548028" y="2743200"/>
                </a:lnTo>
                <a:lnTo>
                  <a:pt x="528455" y="2743200"/>
                </a:lnTo>
                <a:lnTo>
                  <a:pt x="508883" y="2743200"/>
                </a:lnTo>
                <a:lnTo>
                  <a:pt x="489311" y="2743200"/>
                </a:lnTo>
                <a:lnTo>
                  <a:pt x="469738" y="2743200"/>
                </a:lnTo>
                <a:lnTo>
                  <a:pt x="450166" y="2743200"/>
                </a:lnTo>
                <a:lnTo>
                  <a:pt x="430593" y="2743200"/>
                </a:lnTo>
                <a:lnTo>
                  <a:pt x="411021" y="2743200"/>
                </a:lnTo>
                <a:lnTo>
                  <a:pt x="391448" y="2743200"/>
                </a:lnTo>
                <a:lnTo>
                  <a:pt x="371876" y="2743200"/>
                </a:lnTo>
                <a:lnTo>
                  <a:pt x="352303" y="2743200"/>
                </a:lnTo>
                <a:lnTo>
                  <a:pt x="332731" y="2743200"/>
                </a:lnTo>
                <a:lnTo>
                  <a:pt x="313159" y="2743200"/>
                </a:lnTo>
                <a:lnTo>
                  <a:pt x="293586" y="2743200"/>
                </a:lnTo>
                <a:lnTo>
                  <a:pt x="274014" y="2743200"/>
                </a:lnTo>
                <a:lnTo>
                  <a:pt x="254441" y="2743200"/>
                </a:lnTo>
                <a:lnTo>
                  <a:pt x="234869" y="2743200"/>
                </a:lnTo>
                <a:lnTo>
                  <a:pt x="215296" y="2743200"/>
                </a:lnTo>
                <a:lnTo>
                  <a:pt x="195724" y="2743200"/>
                </a:lnTo>
                <a:lnTo>
                  <a:pt x="176151" y="2743200"/>
                </a:lnTo>
                <a:lnTo>
                  <a:pt x="156579" y="2743200"/>
                </a:lnTo>
                <a:lnTo>
                  <a:pt x="137007" y="2743200"/>
                </a:lnTo>
                <a:lnTo>
                  <a:pt x="117434" y="2743200"/>
                </a:lnTo>
                <a:lnTo>
                  <a:pt x="97862" y="2743200"/>
                </a:lnTo>
                <a:lnTo>
                  <a:pt x="78289" y="2743200"/>
                </a:lnTo>
                <a:lnTo>
                  <a:pt x="58717" y="2743200"/>
                </a:lnTo>
                <a:lnTo>
                  <a:pt x="39144" y="2743200"/>
                </a:lnTo>
                <a:lnTo>
                  <a:pt x="19572" y="2743200"/>
                </a:lnTo>
                <a:lnTo>
                  <a:pt x="0" y="2743200"/>
                </a:lnTo>
                <a:close/>
              </a:path>
            </a:pathLst>
          </a:custGeom>
          <a:solidFill>
            <a:srgbClr val="8EDBD4">
              <a:alpha val="25000"/>
            </a:srgbClr>
          </a:solidFill>
          <a:ln w="10160">
            <a:solidFill>
              <a:srgbClr val="8EDBD4">
                <a:alpha val="2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4-E02 polygon 28" descr="sci-ppt:o028"/>
          <p:cNvSpPr/>
          <p:nvPr/>
        </p:nvSpPr>
        <p:spPr>
          <a:xfrm>
            <a:off x="914400" y="1920240"/>
            <a:ext cx="5852160" cy="2743200"/>
          </a:xfrm>
          <a:custGeom>
            <a:avLst/>
            <a:gdLst/>
            <a:ahLst/>
            <a:cxnLst/>
            <a:rect l="l" t="t" r="r" b="b"/>
            <a:pathLst>
              <a:path w="5852160" h="2743200">
                <a:moveTo>
                  <a:pt x="0" y="2743200"/>
                </a:moveTo>
                <a:lnTo>
                  <a:pt x="39144" y="2295045"/>
                </a:lnTo>
                <a:lnTo>
                  <a:pt x="78289" y="1920106"/>
                </a:lnTo>
                <a:lnTo>
                  <a:pt x="117434" y="1606419"/>
                </a:lnTo>
                <a:lnTo>
                  <a:pt x="156579" y="1343980"/>
                </a:lnTo>
                <a:lnTo>
                  <a:pt x="195724" y="1124415"/>
                </a:lnTo>
                <a:lnTo>
                  <a:pt x="234869" y="940720"/>
                </a:lnTo>
                <a:lnTo>
                  <a:pt x="274014" y="787035"/>
                </a:lnTo>
                <a:lnTo>
                  <a:pt x="313159" y="658458"/>
                </a:lnTo>
                <a:lnTo>
                  <a:pt x="352303" y="550886"/>
                </a:lnTo>
                <a:lnTo>
                  <a:pt x="391448" y="460888"/>
                </a:lnTo>
                <a:lnTo>
                  <a:pt x="430593" y="385593"/>
                </a:lnTo>
                <a:lnTo>
                  <a:pt x="469738" y="322599"/>
                </a:lnTo>
                <a:lnTo>
                  <a:pt x="508883" y="269896"/>
                </a:lnTo>
                <a:lnTo>
                  <a:pt x="548028" y="225804"/>
                </a:lnTo>
                <a:lnTo>
                  <a:pt x="587173" y="188914"/>
                </a:lnTo>
                <a:lnTo>
                  <a:pt x="626318" y="158051"/>
                </a:lnTo>
                <a:lnTo>
                  <a:pt x="665463" y="132231"/>
                </a:lnTo>
                <a:lnTo>
                  <a:pt x="704607" y="110628"/>
                </a:lnTo>
                <a:lnTo>
                  <a:pt x="743752" y="92555"/>
                </a:lnTo>
                <a:lnTo>
                  <a:pt x="782897" y="77434"/>
                </a:lnTo>
                <a:lnTo>
                  <a:pt x="822042" y="64784"/>
                </a:lnTo>
                <a:lnTo>
                  <a:pt x="861187" y="54200"/>
                </a:lnTo>
                <a:lnTo>
                  <a:pt x="900332" y="45345"/>
                </a:lnTo>
                <a:lnTo>
                  <a:pt x="939477" y="37937"/>
                </a:lnTo>
                <a:lnTo>
                  <a:pt x="978622" y="31739"/>
                </a:lnTo>
                <a:lnTo>
                  <a:pt x="1017766" y="26554"/>
                </a:lnTo>
                <a:lnTo>
                  <a:pt x="1056911" y="22216"/>
                </a:lnTo>
                <a:lnTo>
                  <a:pt x="1096056" y="18586"/>
                </a:lnTo>
                <a:lnTo>
                  <a:pt x="1135201" y="15550"/>
                </a:lnTo>
                <a:lnTo>
                  <a:pt x="1174346" y="13009"/>
                </a:lnTo>
                <a:lnTo>
                  <a:pt x="1213491" y="10884"/>
                </a:lnTo>
                <a:lnTo>
                  <a:pt x="1252636" y="9106"/>
                </a:lnTo>
                <a:lnTo>
                  <a:pt x="1291781" y="7618"/>
                </a:lnTo>
                <a:lnTo>
                  <a:pt x="1330926" y="6373"/>
                </a:lnTo>
                <a:lnTo>
                  <a:pt x="1370070" y="5332"/>
                </a:lnTo>
                <a:lnTo>
                  <a:pt x="1409215" y="4461"/>
                </a:lnTo>
                <a:lnTo>
                  <a:pt x="1448360" y="3732"/>
                </a:lnTo>
                <a:lnTo>
                  <a:pt x="1487505" y="3122"/>
                </a:lnTo>
                <a:lnTo>
                  <a:pt x="1526650" y="2612"/>
                </a:lnTo>
                <a:lnTo>
                  <a:pt x="1565795" y="2185"/>
                </a:lnTo>
                <a:lnTo>
                  <a:pt x="1604940" y="1828"/>
                </a:lnTo>
                <a:lnTo>
                  <a:pt x="1644085" y="1529"/>
                </a:lnTo>
                <a:lnTo>
                  <a:pt x="1683229" y="1280"/>
                </a:lnTo>
                <a:lnTo>
                  <a:pt x="1722374" y="1070"/>
                </a:lnTo>
                <a:lnTo>
                  <a:pt x="1761519" y="895"/>
                </a:lnTo>
                <a:lnTo>
                  <a:pt x="1800664" y="749"/>
                </a:lnTo>
                <a:lnTo>
                  <a:pt x="1839809" y="627"/>
                </a:lnTo>
                <a:lnTo>
                  <a:pt x="1878954" y="524"/>
                </a:lnTo>
                <a:lnTo>
                  <a:pt x="1918099" y="438"/>
                </a:lnTo>
                <a:lnTo>
                  <a:pt x="1957244" y="367"/>
                </a:lnTo>
                <a:lnTo>
                  <a:pt x="1996389" y="307"/>
                </a:lnTo>
                <a:lnTo>
                  <a:pt x="2035533" y="257"/>
                </a:lnTo>
                <a:lnTo>
                  <a:pt x="2074678" y="215"/>
                </a:lnTo>
                <a:lnTo>
                  <a:pt x="2113823" y="179"/>
                </a:lnTo>
                <a:lnTo>
                  <a:pt x="2152968" y="150"/>
                </a:lnTo>
                <a:lnTo>
                  <a:pt x="2192113" y="125"/>
                </a:lnTo>
                <a:lnTo>
                  <a:pt x="2231258" y="105"/>
                </a:lnTo>
                <a:lnTo>
                  <a:pt x="2270403" y="88"/>
                </a:lnTo>
                <a:lnTo>
                  <a:pt x="2309548" y="73"/>
                </a:lnTo>
                <a:lnTo>
                  <a:pt x="2348692" y="61"/>
                </a:lnTo>
                <a:lnTo>
                  <a:pt x="2387837" y="51"/>
                </a:lnTo>
                <a:lnTo>
                  <a:pt x="2426982" y="43"/>
                </a:lnTo>
                <a:lnTo>
                  <a:pt x="2466127" y="36"/>
                </a:lnTo>
                <a:lnTo>
                  <a:pt x="2505272" y="30"/>
                </a:lnTo>
                <a:lnTo>
                  <a:pt x="2544417" y="25"/>
                </a:lnTo>
                <a:lnTo>
                  <a:pt x="2583562" y="21"/>
                </a:lnTo>
                <a:lnTo>
                  <a:pt x="2622707" y="17"/>
                </a:lnTo>
                <a:lnTo>
                  <a:pt x="2661852" y="14"/>
                </a:lnTo>
                <a:lnTo>
                  <a:pt x="2700996" y="12"/>
                </a:lnTo>
                <a:lnTo>
                  <a:pt x="2740141" y="10"/>
                </a:lnTo>
                <a:lnTo>
                  <a:pt x="2779286" y="8"/>
                </a:lnTo>
                <a:lnTo>
                  <a:pt x="2818431" y="7"/>
                </a:lnTo>
                <a:lnTo>
                  <a:pt x="2857576" y="6"/>
                </a:lnTo>
                <a:lnTo>
                  <a:pt x="2896721" y="5"/>
                </a:lnTo>
                <a:lnTo>
                  <a:pt x="2935866" y="4"/>
                </a:lnTo>
                <a:lnTo>
                  <a:pt x="2975011" y="3"/>
                </a:lnTo>
                <a:lnTo>
                  <a:pt x="3014155" y="2"/>
                </a:lnTo>
                <a:lnTo>
                  <a:pt x="3053300" y="2"/>
                </a:lnTo>
                <a:lnTo>
                  <a:pt x="3092445" y="2"/>
                </a:lnTo>
                <a:lnTo>
                  <a:pt x="3131590" y="1"/>
                </a:lnTo>
                <a:lnTo>
                  <a:pt x="3170735" y="1"/>
                </a:lnTo>
                <a:lnTo>
                  <a:pt x="3209880" y="1"/>
                </a:lnTo>
                <a:lnTo>
                  <a:pt x="3249025" y="1"/>
                </a:lnTo>
                <a:lnTo>
                  <a:pt x="3288170" y="0"/>
                </a:lnTo>
                <a:lnTo>
                  <a:pt x="3327315" y="0"/>
                </a:lnTo>
                <a:lnTo>
                  <a:pt x="3366459" y="0"/>
                </a:lnTo>
                <a:lnTo>
                  <a:pt x="3405604" y="0"/>
                </a:lnTo>
                <a:lnTo>
                  <a:pt x="3444749" y="0"/>
                </a:lnTo>
                <a:lnTo>
                  <a:pt x="3483894" y="0"/>
                </a:lnTo>
                <a:lnTo>
                  <a:pt x="3523039" y="0"/>
                </a:lnTo>
                <a:lnTo>
                  <a:pt x="3562184" y="0"/>
                </a:lnTo>
                <a:lnTo>
                  <a:pt x="3601329" y="0"/>
                </a:lnTo>
                <a:lnTo>
                  <a:pt x="3640474" y="0"/>
                </a:lnTo>
                <a:lnTo>
                  <a:pt x="3679618" y="0"/>
                </a:lnTo>
                <a:lnTo>
                  <a:pt x="3718763" y="0"/>
                </a:lnTo>
                <a:lnTo>
                  <a:pt x="3757908" y="0"/>
                </a:lnTo>
                <a:lnTo>
                  <a:pt x="3797053" y="0"/>
                </a:lnTo>
                <a:lnTo>
                  <a:pt x="3836198" y="0"/>
                </a:lnTo>
                <a:lnTo>
                  <a:pt x="3875343" y="0"/>
                </a:lnTo>
                <a:lnTo>
                  <a:pt x="3914488" y="0"/>
                </a:lnTo>
                <a:lnTo>
                  <a:pt x="3953633" y="0"/>
                </a:lnTo>
                <a:lnTo>
                  <a:pt x="3992778" y="0"/>
                </a:lnTo>
                <a:lnTo>
                  <a:pt x="4031922" y="0"/>
                </a:lnTo>
                <a:lnTo>
                  <a:pt x="4071067" y="0"/>
                </a:lnTo>
                <a:lnTo>
                  <a:pt x="4110212" y="0"/>
                </a:lnTo>
                <a:lnTo>
                  <a:pt x="4149357" y="0"/>
                </a:lnTo>
                <a:lnTo>
                  <a:pt x="4188502" y="0"/>
                </a:lnTo>
                <a:lnTo>
                  <a:pt x="4227647" y="0"/>
                </a:lnTo>
                <a:lnTo>
                  <a:pt x="4266792" y="0"/>
                </a:lnTo>
                <a:lnTo>
                  <a:pt x="4305937" y="0"/>
                </a:lnTo>
                <a:lnTo>
                  <a:pt x="4345082" y="0"/>
                </a:lnTo>
                <a:lnTo>
                  <a:pt x="4384226" y="0"/>
                </a:lnTo>
                <a:lnTo>
                  <a:pt x="4423371" y="0"/>
                </a:lnTo>
                <a:lnTo>
                  <a:pt x="4462516" y="0"/>
                </a:lnTo>
                <a:lnTo>
                  <a:pt x="4501661" y="0"/>
                </a:lnTo>
                <a:lnTo>
                  <a:pt x="4540806" y="0"/>
                </a:lnTo>
                <a:lnTo>
                  <a:pt x="4579951" y="0"/>
                </a:lnTo>
                <a:lnTo>
                  <a:pt x="4619096" y="0"/>
                </a:lnTo>
                <a:lnTo>
                  <a:pt x="4658241" y="0"/>
                </a:lnTo>
                <a:lnTo>
                  <a:pt x="4697385" y="0"/>
                </a:lnTo>
                <a:lnTo>
                  <a:pt x="4736530" y="0"/>
                </a:lnTo>
                <a:lnTo>
                  <a:pt x="4775675" y="0"/>
                </a:lnTo>
                <a:lnTo>
                  <a:pt x="4814820" y="0"/>
                </a:lnTo>
                <a:lnTo>
                  <a:pt x="4853965" y="0"/>
                </a:lnTo>
                <a:lnTo>
                  <a:pt x="4893110" y="0"/>
                </a:lnTo>
                <a:lnTo>
                  <a:pt x="4932255" y="0"/>
                </a:lnTo>
                <a:lnTo>
                  <a:pt x="4971400" y="0"/>
                </a:lnTo>
                <a:lnTo>
                  <a:pt x="5010545" y="2743200"/>
                </a:lnTo>
                <a:lnTo>
                  <a:pt x="5049689" y="2743200"/>
                </a:lnTo>
                <a:lnTo>
                  <a:pt x="5088834" y="2743200"/>
                </a:lnTo>
                <a:lnTo>
                  <a:pt x="5127979" y="2743200"/>
                </a:lnTo>
                <a:lnTo>
                  <a:pt x="5167124" y="2743200"/>
                </a:lnTo>
                <a:lnTo>
                  <a:pt x="5206269" y="2743200"/>
                </a:lnTo>
                <a:lnTo>
                  <a:pt x="5245414" y="2743200"/>
                </a:lnTo>
                <a:lnTo>
                  <a:pt x="5284559" y="2743200"/>
                </a:lnTo>
                <a:lnTo>
                  <a:pt x="5323704" y="2743200"/>
                </a:lnTo>
                <a:lnTo>
                  <a:pt x="5362848" y="2743200"/>
                </a:lnTo>
                <a:lnTo>
                  <a:pt x="5401993" y="2743200"/>
                </a:lnTo>
                <a:lnTo>
                  <a:pt x="5441138" y="2743200"/>
                </a:lnTo>
                <a:lnTo>
                  <a:pt x="5480283" y="2743200"/>
                </a:lnTo>
                <a:lnTo>
                  <a:pt x="5519428" y="2743200"/>
                </a:lnTo>
                <a:lnTo>
                  <a:pt x="5558573" y="2743200"/>
                </a:lnTo>
                <a:lnTo>
                  <a:pt x="5597718" y="2743200"/>
                </a:lnTo>
                <a:lnTo>
                  <a:pt x="5636863" y="2743200"/>
                </a:lnTo>
                <a:lnTo>
                  <a:pt x="5676008" y="2743200"/>
                </a:lnTo>
                <a:lnTo>
                  <a:pt x="5715152" y="2743200"/>
                </a:lnTo>
                <a:lnTo>
                  <a:pt x="5754297" y="2743200"/>
                </a:lnTo>
                <a:lnTo>
                  <a:pt x="5793442" y="2743200"/>
                </a:lnTo>
                <a:lnTo>
                  <a:pt x="5832587" y="2743200"/>
                </a:lnTo>
                <a:lnTo>
                  <a:pt x="5852160" y="274320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4-E02 line 29" descr="sci-ppt:o029"/>
          <p:cNvCxnSpPr/>
          <p:nvPr/>
        </p:nvCxnSpPr>
        <p:spPr>
          <a:xfrm>
            <a:off x="914400" y="1371600"/>
            <a:ext cx="0" cy="3291840"/>
          </a:xfrm>
          <a:prstGeom prst="line">
            <a:avLst/>
          </a:prstGeom>
          <a:ln w="16510">
            <a:solidFill>
              <a:srgbClr val="B4C7D2"/>
            </a:solidFill>
            <a:prstDash val="dash"/>
          </a:ln>
          <a:effectLst/>
        </p:spPr>
      </p:cxnSp>
      <p:sp>
        <p:nvSpPr>
          <p:cNvPr id="32" name="C4-E02 text 30" descr="sci-ppt:o030"/>
          <p:cNvSpPr txBox="1"/>
          <p:nvPr/>
        </p:nvSpPr>
        <p:spPr>
          <a:xfrm>
            <a:off x="1938528" y="3200399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area = impulse Iₗ = ∫F dt</a:t>
            </a:r>
          </a:p>
        </p:txBody>
      </p:sp>
      <p:sp>
        <p:nvSpPr>
          <p:cNvPr id="33" name="C4-E02 text 31" descr="sci-ppt:o031"/>
          <p:cNvSpPr txBox="1"/>
          <p:nvPr/>
        </p:nvSpPr>
        <p:spPr>
          <a:xfrm>
            <a:off x="5376672" y="1499615"/>
            <a:ext cx="457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t_b</a:t>
            </a:r>
          </a:p>
        </p:txBody>
      </p:sp>
      <p:sp>
        <p:nvSpPr>
          <p:cNvPr id="34" name="C4-E02 round_rect 32" descr="sci-ppt:o032"/>
          <p:cNvSpPr/>
          <p:nvPr/>
        </p:nvSpPr>
        <p:spPr>
          <a:xfrm>
            <a:off x="7040880" y="1371600"/>
            <a:ext cx="4800600" cy="3291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4-E02 text 33" descr="sci-ppt:o033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Three different integrals</a:t>
            </a:r>
          </a:p>
        </p:txBody>
      </p:sp>
      <p:sp>
        <p:nvSpPr>
          <p:cNvPr id="36" name="C4-E02 text 34" descr="sci-ppt:o034"/>
          <p:cNvSpPr txBox="1"/>
          <p:nvPr/>
        </p:nvSpPr>
        <p:spPr>
          <a:xfrm>
            <a:off x="7178040" y="1874519"/>
            <a:ext cx="1097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7FC8F8"/>
                </a:solidFill>
                <a:latin typeface="Arial"/>
              </a:rPr>
              <a:t>force</a:t>
            </a:r>
          </a:p>
        </p:txBody>
      </p:sp>
      <p:sp>
        <p:nvSpPr>
          <p:cNvPr id="37" name="C4-E02 text 35" descr="sci-ppt:o035"/>
          <p:cNvSpPr txBox="1"/>
          <p:nvPr/>
        </p:nvSpPr>
        <p:spPr>
          <a:xfrm>
            <a:off x="8229600" y="1874519"/>
            <a:ext cx="3474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Fₗ = ∫ tₗ dA</a:t>
            </a:r>
          </a:p>
        </p:txBody>
      </p:sp>
      <p:sp>
        <p:nvSpPr>
          <p:cNvPr id="38" name="C4-E02 text 36" descr="sci-ppt:o036"/>
          <p:cNvSpPr txBox="1"/>
          <p:nvPr/>
        </p:nvSpPr>
        <p:spPr>
          <a:xfrm>
            <a:off x="7178040" y="2587752"/>
            <a:ext cx="1097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impulse</a:t>
            </a:r>
          </a:p>
        </p:txBody>
      </p:sp>
      <p:sp>
        <p:nvSpPr>
          <p:cNvPr id="39" name="C4-E02 text 37" descr="sci-ppt:o037"/>
          <p:cNvSpPr txBox="1"/>
          <p:nvPr/>
        </p:nvSpPr>
        <p:spPr>
          <a:xfrm>
            <a:off x="8229600" y="2587752"/>
            <a:ext cx="3474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Iₗ = ∫ Fₗ dt</a:t>
            </a:r>
          </a:p>
        </p:txBody>
      </p:sp>
      <p:sp>
        <p:nvSpPr>
          <p:cNvPr id="40" name="C4-E02 text 38" descr="sci-ppt:o038"/>
          <p:cNvSpPr txBox="1"/>
          <p:nvPr/>
        </p:nvSpPr>
        <p:spPr>
          <a:xfrm>
            <a:off x="7178040" y="3300984"/>
            <a:ext cx="1097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8BA0"/>
                </a:solidFill>
                <a:latin typeface="Arial"/>
              </a:rPr>
              <a:t>work</a:t>
            </a:r>
          </a:p>
        </p:txBody>
      </p:sp>
      <p:sp>
        <p:nvSpPr>
          <p:cNvPr id="41" name="C4-E02 text 39" descr="sci-ppt:o039"/>
          <p:cNvSpPr txBox="1"/>
          <p:nvPr/>
        </p:nvSpPr>
        <p:spPr>
          <a:xfrm>
            <a:off x="8229600" y="3300984"/>
            <a:ext cx="3474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Wₗ = ∫∫ tₗ·v_f dA dt</a:t>
            </a:r>
          </a:p>
        </p:txBody>
      </p:sp>
      <p:sp>
        <p:nvSpPr>
          <p:cNvPr id="42" name="C4-E02 text 40" descr="sci-ppt:o040"/>
          <p:cNvSpPr txBox="1"/>
          <p:nvPr/>
        </p:nvSpPr>
        <p:spPr>
          <a:xfrm>
            <a:off x="7178040" y="3977639"/>
            <a:ext cx="44805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Work needs the surface velocity v_f; force and impulse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do not.</a:t>
            </a:r>
          </a:p>
        </p:txBody>
      </p:sp>
      <p:sp>
        <p:nvSpPr>
          <p:cNvPr id="43" name="C4-E02 text 41" descr="sci-ppt:o041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same footprint A_f(t) supplies force and impulse. A load on a wall that does not move delivers impulse but no work.</a:t>
            </a:r>
          </a:p>
        </p:txBody>
      </p:sp>
      <p:sp>
        <p:nvSpPr>
          <p:cNvPr id="44" name="C4-E02 text 42" descr="sci-ppt:o042"/>
          <p:cNvSpPr txBox="1"/>
          <p:nvPr/>
        </p:nvSpPr>
        <p:spPr>
          <a:xfrm>
            <a:off x="914400" y="5943600"/>
            <a:ext cx="10972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Event window: tₐ to t_b.</a:t>
            </a:r>
          </a:p>
        </p:txBody>
      </p:sp>
      <p:sp>
        <p:nvSpPr>
          <p:cNvPr id="45" name="C4-E02 text 43" descr="sci-ppt:o04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Exact definitions of Eq. C4-E02; curve is a schematic force history.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C4-E03 · Derived plate parameters under constitutive assumptions</a:t>
            </a:r>
          </a:p>
        </p:txBody>
      </p:sp>
      <p:sp>
        <p:nvSpPr>
          <p:cNvPr id="3" name="C4-E03 round_rect 1" descr="sci-ppt:o001"/>
          <p:cNvSpPr/>
          <p:nvPr/>
        </p:nvSpPr>
        <p:spPr>
          <a:xfrm>
            <a:off x="365760" y="914400"/>
            <a:ext cx="566928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03 text 2" descr="sci-ppt:o002"/>
          <p:cNvSpPr txBox="1"/>
          <p:nvPr/>
        </p:nvSpPr>
        <p:spPr>
          <a:xfrm>
            <a:off x="475488" y="969264"/>
            <a:ext cx="5449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One film, two thickness integrals</a:t>
            </a:r>
          </a:p>
        </p:txBody>
      </p:sp>
      <p:sp>
        <p:nvSpPr>
          <p:cNvPr id="5" name="C4-E03 rect 3" descr="sci-ppt:o003"/>
          <p:cNvSpPr/>
          <p:nvPr/>
        </p:nvSpPr>
        <p:spPr>
          <a:xfrm>
            <a:off x="914400" y="2011680"/>
            <a:ext cx="3291840" cy="2194560"/>
          </a:xfrm>
          <a:prstGeom prst="rect">
            <a:avLst/>
          </a:prstGeom>
          <a:solidFill>
            <a:srgbClr val="1E4A5A"/>
          </a:solidFill>
          <a:ln w="254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4-E03 line 4" descr="sci-ppt:o004"/>
          <p:cNvCxnSpPr/>
          <p:nvPr/>
        </p:nvCxnSpPr>
        <p:spPr>
          <a:xfrm>
            <a:off x="4434840" y="2011680"/>
            <a:ext cx="0" cy="219456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7" name="C4-E03 line 5" descr="sci-ppt:o005"/>
          <p:cNvCxnSpPr/>
          <p:nvPr/>
        </p:nvCxnSpPr>
        <p:spPr>
          <a:xfrm flipH="1">
            <a:off x="4370831" y="2011680"/>
            <a:ext cx="128017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8" name="C4-E03 line 6" descr="sci-ppt:o006"/>
          <p:cNvCxnSpPr/>
          <p:nvPr/>
        </p:nvCxnSpPr>
        <p:spPr>
          <a:xfrm flipH="1">
            <a:off x="4370831" y="4206240"/>
            <a:ext cx="128017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9" name="C4-E03 text 7" descr="sci-ppt:o007"/>
          <p:cNvSpPr txBox="1"/>
          <p:nvPr/>
        </p:nvSpPr>
        <p:spPr>
          <a:xfrm>
            <a:off x="3337559" y="3017520"/>
            <a:ext cx="1828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h_f</a:t>
            </a:r>
          </a:p>
        </p:txBody>
      </p:sp>
      <p:cxnSp>
        <p:nvCxnSpPr>
          <p:cNvPr id="10" name="C4-E03 line 8" descr="sci-ppt:o008"/>
          <p:cNvCxnSpPr/>
          <p:nvPr/>
        </p:nvCxnSpPr>
        <p:spPr>
          <a:xfrm>
            <a:off x="914400" y="3108960"/>
            <a:ext cx="3291840" cy="0"/>
          </a:xfrm>
          <a:prstGeom prst="line">
            <a:avLst/>
          </a:prstGeom>
          <a:ln w="15240">
            <a:solidFill>
              <a:srgbClr val="B4C7D2"/>
            </a:solidFill>
            <a:prstDash val="dash"/>
          </a:ln>
          <a:effectLst/>
        </p:spPr>
      </p:cxnSp>
      <p:sp>
        <p:nvSpPr>
          <p:cNvPr id="11" name="C4-E03 text 9" descr="sci-ppt:o009"/>
          <p:cNvSpPr txBox="1"/>
          <p:nvPr/>
        </p:nvSpPr>
        <p:spPr>
          <a:xfrm>
            <a:off x="1188720" y="3154680"/>
            <a:ext cx="13716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mid-plane</a:t>
            </a:r>
          </a:p>
        </p:txBody>
      </p:sp>
      <p:sp>
        <p:nvSpPr>
          <p:cNvPr id="12" name="C4-E03 text 10" descr="sci-ppt:o010"/>
          <p:cNvSpPr txBox="1"/>
          <p:nvPr/>
        </p:nvSpPr>
        <p:spPr>
          <a:xfrm>
            <a:off x="1097280" y="2148840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density ρ_f is uniform</a:t>
            </a:r>
          </a:p>
        </p:txBody>
      </p:sp>
      <p:sp>
        <p:nvSpPr>
          <p:cNvPr id="13" name="C4-E03 text 11" descr="sci-ppt:o011"/>
          <p:cNvSpPr txBox="1"/>
          <p:nvPr/>
        </p:nvSpPr>
        <p:spPr>
          <a:xfrm>
            <a:off x="548640" y="4572000"/>
            <a:ext cx="53035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m_A = ∫ρ_f dz = ρ_f h_f</a:t>
            </a:r>
          </a:p>
        </p:txBody>
      </p:sp>
      <p:sp>
        <p:nvSpPr>
          <p:cNvPr id="14" name="C4-E03 text 12" descr="sci-ppt:o012"/>
          <p:cNvSpPr txBox="1"/>
          <p:nvPr/>
        </p:nvSpPr>
        <p:spPr>
          <a:xfrm>
            <a:off x="548640" y="5029200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D_f = E_f/(1−ν²) ∫z² dz = E_f h_f³ / [12(1−ν_f²)]</a:t>
            </a:r>
          </a:p>
        </p:txBody>
      </p:sp>
      <p:cxnSp>
        <p:nvCxnSpPr>
          <p:cNvPr id="15" name="C4-E03 line 13" descr="sci-ppt:o013"/>
          <p:cNvCxnSpPr/>
          <p:nvPr/>
        </p:nvCxnSpPr>
        <p:spPr>
          <a:xfrm>
            <a:off x="6583680" y="4663440"/>
            <a:ext cx="23774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6" name="C4-E03 line 14" descr="sci-ppt:o014"/>
          <p:cNvCxnSpPr/>
          <p:nvPr/>
        </p:nvCxnSpPr>
        <p:spPr>
          <a:xfrm>
            <a:off x="6583680" y="1371600"/>
            <a:ext cx="0" cy="32918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7" name="C4-E03 line 15" descr="sci-ppt:o015"/>
          <p:cNvCxnSpPr/>
          <p:nvPr/>
        </p:nvCxnSpPr>
        <p:spPr>
          <a:xfrm>
            <a:off x="658368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03 line 16" descr="sci-ppt:o016"/>
          <p:cNvCxnSpPr/>
          <p:nvPr/>
        </p:nvCxnSpPr>
        <p:spPr>
          <a:xfrm>
            <a:off x="658368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03 text 17" descr="sci-ppt:o017"/>
          <p:cNvSpPr txBox="1"/>
          <p:nvPr/>
        </p:nvSpPr>
        <p:spPr>
          <a:xfrm>
            <a:off x="612648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0" name="C4-E03 line 18" descr="sci-ppt:o018"/>
          <p:cNvCxnSpPr/>
          <p:nvPr/>
        </p:nvCxnSpPr>
        <p:spPr>
          <a:xfrm>
            <a:off x="896112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03 line 19" descr="sci-ppt:o019"/>
          <p:cNvCxnSpPr/>
          <p:nvPr/>
        </p:nvCxnSpPr>
        <p:spPr>
          <a:xfrm>
            <a:off x="896112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4-E03 text 20" descr="sci-ppt:o020"/>
          <p:cNvSpPr txBox="1"/>
          <p:nvPr/>
        </p:nvSpPr>
        <p:spPr>
          <a:xfrm>
            <a:off x="850392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3" name="C4-E03 line 21" descr="sci-ppt:o021"/>
          <p:cNvCxnSpPr/>
          <p:nvPr/>
        </p:nvCxnSpPr>
        <p:spPr>
          <a:xfrm>
            <a:off x="6519672" y="46634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4-E03 line 22" descr="sci-ppt:o022"/>
          <p:cNvCxnSpPr/>
          <p:nvPr/>
        </p:nvCxnSpPr>
        <p:spPr>
          <a:xfrm>
            <a:off x="6519672" y="30175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03 line 23" descr="sci-ppt:o023"/>
          <p:cNvCxnSpPr/>
          <p:nvPr/>
        </p:nvCxnSpPr>
        <p:spPr>
          <a:xfrm>
            <a:off x="6583680" y="3017520"/>
            <a:ext cx="23774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03 text 24" descr="sci-ppt:o024"/>
          <p:cNvSpPr txBox="1"/>
          <p:nvPr/>
        </p:nvSpPr>
        <p:spPr>
          <a:xfrm>
            <a:off x="5715000" y="29352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7" name="C4-E03 line 25" descr="sci-ppt:o025"/>
          <p:cNvCxnSpPr/>
          <p:nvPr/>
        </p:nvCxnSpPr>
        <p:spPr>
          <a:xfrm>
            <a:off x="6519672" y="137159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4-E03 line 26" descr="sci-ppt:o026"/>
          <p:cNvCxnSpPr/>
          <p:nvPr/>
        </p:nvCxnSpPr>
        <p:spPr>
          <a:xfrm>
            <a:off x="6583680" y="1371599"/>
            <a:ext cx="23774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4-E03 text 27" descr="sci-ppt:o027"/>
          <p:cNvSpPr txBox="1"/>
          <p:nvPr/>
        </p:nvSpPr>
        <p:spPr>
          <a:xfrm>
            <a:off x="5715000" y="128930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sp>
        <p:nvSpPr>
          <p:cNvPr id="30" name="C4-E03 text 28" descr="sci-ppt:o028"/>
          <p:cNvSpPr txBox="1"/>
          <p:nvPr/>
        </p:nvSpPr>
        <p:spPr>
          <a:xfrm>
            <a:off x="6583680" y="4946903"/>
            <a:ext cx="2377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weight</a:t>
            </a:r>
          </a:p>
        </p:txBody>
      </p:sp>
      <p:sp>
        <p:nvSpPr>
          <p:cNvPr id="31" name="C4-E03 text 29" descr="sci-ppt:o029"/>
          <p:cNvSpPr txBox="1"/>
          <p:nvPr/>
        </p:nvSpPr>
        <p:spPr>
          <a:xfrm>
            <a:off x="6035040" y="1024128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z / h_f</a:t>
            </a:r>
          </a:p>
        </p:txBody>
      </p:sp>
      <p:sp>
        <p:nvSpPr>
          <p:cNvPr id="32" name="C4-E03 rect 30" descr="sci-ppt:o030"/>
          <p:cNvSpPr/>
          <p:nvPr/>
        </p:nvSpPr>
        <p:spPr>
          <a:xfrm>
            <a:off x="6583680" y="1371599"/>
            <a:ext cx="2377440" cy="3291840"/>
          </a:xfrm>
          <a:prstGeom prst="rect">
            <a:avLst/>
          </a:prstGeom>
          <a:solidFill>
            <a:srgbClr val="8EDBD4">
              <a:alpha val="30000"/>
            </a:srgbClr>
          </a:solidFill>
          <a:ln w="12700">
            <a:solidFill>
              <a:srgbClr val="8EDBD4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4-E03 text 31" descr="sci-ppt:o031"/>
          <p:cNvSpPr txBox="1"/>
          <p:nvPr/>
        </p:nvSpPr>
        <p:spPr>
          <a:xfrm>
            <a:off x="6775704" y="1609343"/>
            <a:ext cx="12801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inertia: 1</a:t>
            </a:r>
          </a:p>
        </p:txBody>
      </p:sp>
      <p:cxnSp>
        <p:nvCxnSpPr>
          <p:cNvPr id="34" name="C4-E03 line 32" descr="sci-ppt:o032"/>
          <p:cNvCxnSpPr/>
          <p:nvPr/>
        </p:nvCxnSpPr>
        <p:spPr>
          <a:xfrm>
            <a:off x="9601200" y="4663440"/>
            <a:ext cx="21945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5" name="C4-E03 line 33" descr="sci-ppt:o033"/>
          <p:cNvCxnSpPr/>
          <p:nvPr/>
        </p:nvCxnSpPr>
        <p:spPr>
          <a:xfrm>
            <a:off x="9601200" y="1371600"/>
            <a:ext cx="0" cy="32918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6" name="C4-E03 line 34" descr="sci-ppt:o034"/>
          <p:cNvCxnSpPr/>
          <p:nvPr/>
        </p:nvCxnSpPr>
        <p:spPr>
          <a:xfrm>
            <a:off x="960120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4-E03 line 35" descr="sci-ppt:o035"/>
          <p:cNvCxnSpPr/>
          <p:nvPr/>
        </p:nvCxnSpPr>
        <p:spPr>
          <a:xfrm>
            <a:off x="960120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4-E03 text 36" descr="sci-ppt:o036"/>
          <p:cNvSpPr txBox="1"/>
          <p:nvPr/>
        </p:nvSpPr>
        <p:spPr>
          <a:xfrm>
            <a:off x="914400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39" name="C4-E03 line 37" descr="sci-ppt:o037"/>
          <p:cNvCxnSpPr/>
          <p:nvPr/>
        </p:nvCxnSpPr>
        <p:spPr>
          <a:xfrm>
            <a:off x="1143000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4-E03 line 38" descr="sci-ppt:o038"/>
          <p:cNvCxnSpPr/>
          <p:nvPr/>
        </p:nvCxnSpPr>
        <p:spPr>
          <a:xfrm>
            <a:off x="1143000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C4-E03 text 39" descr="sci-ppt:o039"/>
          <p:cNvSpPr txBox="1"/>
          <p:nvPr/>
        </p:nvSpPr>
        <p:spPr>
          <a:xfrm>
            <a:off x="1097280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42" name="C4-E03 line 40" descr="sci-ppt:o040"/>
          <p:cNvCxnSpPr/>
          <p:nvPr/>
        </p:nvCxnSpPr>
        <p:spPr>
          <a:xfrm>
            <a:off x="9537192" y="46634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4-E03 line 41" descr="sci-ppt:o041"/>
          <p:cNvCxnSpPr/>
          <p:nvPr/>
        </p:nvCxnSpPr>
        <p:spPr>
          <a:xfrm>
            <a:off x="9537192" y="30175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4" name="C4-E03 line 42" descr="sci-ppt:o042"/>
          <p:cNvCxnSpPr/>
          <p:nvPr/>
        </p:nvCxnSpPr>
        <p:spPr>
          <a:xfrm>
            <a:off x="9601200" y="3017520"/>
            <a:ext cx="21945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5" name="C4-E03 text 43" descr="sci-ppt:o043"/>
          <p:cNvSpPr txBox="1"/>
          <p:nvPr/>
        </p:nvSpPr>
        <p:spPr>
          <a:xfrm>
            <a:off x="8732520" y="29352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46" name="C4-E03 line 44" descr="sci-ppt:o044"/>
          <p:cNvCxnSpPr/>
          <p:nvPr/>
        </p:nvCxnSpPr>
        <p:spPr>
          <a:xfrm>
            <a:off x="9537192" y="137159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7" name="C4-E03 line 45" descr="sci-ppt:o045"/>
          <p:cNvCxnSpPr/>
          <p:nvPr/>
        </p:nvCxnSpPr>
        <p:spPr>
          <a:xfrm>
            <a:off x="9601200" y="1371599"/>
            <a:ext cx="21945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8" name="C4-E03 text 46" descr="sci-ppt:o046"/>
          <p:cNvSpPr txBox="1"/>
          <p:nvPr/>
        </p:nvSpPr>
        <p:spPr>
          <a:xfrm>
            <a:off x="8732520" y="128930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sp>
        <p:nvSpPr>
          <p:cNvPr id="49" name="C4-E03 text 47" descr="sci-ppt:o047"/>
          <p:cNvSpPr txBox="1"/>
          <p:nvPr/>
        </p:nvSpPr>
        <p:spPr>
          <a:xfrm>
            <a:off x="9601200" y="4946903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z²</a:t>
            </a:r>
          </a:p>
        </p:txBody>
      </p:sp>
      <p:sp>
        <p:nvSpPr>
          <p:cNvPr id="50" name="C4-E03 polygon 48" descr="sci-ppt:o048"/>
          <p:cNvSpPr/>
          <p:nvPr/>
        </p:nvSpPr>
        <p:spPr>
          <a:xfrm>
            <a:off x="9601386" y="1371599"/>
            <a:ext cx="1828614" cy="3291841"/>
          </a:xfrm>
          <a:custGeom>
            <a:avLst/>
            <a:gdLst/>
            <a:ahLst/>
            <a:cxnLst/>
            <a:rect l="l" t="t" r="r" b="b"/>
            <a:pathLst>
              <a:path w="1828614" h="3291841">
                <a:moveTo>
                  <a:pt x="1828614" y="3291841"/>
                </a:moveTo>
                <a:lnTo>
                  <a:pt x="1755469" y="3258590"/>
                </a:lnTo>
                <a:lnTo>
                  <a:pt x="1683817" y="3225339"/>
                </a:lnTo>
                <a:lnTo>
                  <a:pt x="1613658" y="3192088"/>
                </a:lnTo>
                <a:lnTo>
                  <a:pt x="1544992" y="3158837"/>
                </a:lnTo>
                <a:lnTo>
                  <a:pt x="1477818" y="3125586"/>
                </a:lnTo>
                <a:lnTo>
                  <a:pt x="1412137" y="3092335"/>
                </a:lnTo>
                <a:lnTo>
                  <a:pt x="1347949" y="3059084"/>
                </a:lnTo>
                <a:lnTo>
                  <a:pt x="1285254" y="3025833"/>
                </a:lnTo>
                <a:lnTo>
                  <a:pt x="1224052" y="2992582"/>
                </a:lnTo>
                <a:lnTo>
                  <a:pt x="1164342" y="2959331"/>
                </a:lnTo>
                <a:lnTo>
                  <a:pt x="1106125" y="2926080"/>
                </a:lnTo>
                <a:lnTo>
                  <a:pt x="1049400" y="2892830"/>
                </a:lnTo>
                <a:lnTo>
                  <a:pt x="994169" y="2859579"/>
                </a:lnTo>
                <a:lnTo>
                  <a:pt x="940430" y="2826328"/>
                </a:lnTo>
                <a:lnTo>
                  <a:pt x="888184" y="2793077"/>
                </a:lnTo>
                <a:lnTo>
                  <a:pt x="837430" y="2759826"/>
                </a:lnTo>
                <a:lnTo>
                  <a:pt x="788170" y="2726575"/>
                </a:lnTo>
                <a:lnTo>
                  <a:pt x="740402" y="2693324"/>
                </a:lnTo>
                <a:lnTo>
                  <a:pt x="694127" y="2660073"/>
                </a:lnTo>
                <a:lnTo>
                  <a:pt x="649344" y="2626822"/>
                </a:lnTo>
                <a:lnTo>
                  <a:pt x="606055" y="2593571"/>
                </a:lnTo>
                <a:lnTo>
                  <a:pt x="564258" y="2560321"/>
                </a:lnTo>
                <a:lnTo>
                  <a:pt x="523954" y="2527070"/>
                </a:lnTo>
                <a:lnTo>
                  <a:pt x="485142" y="2493819"/>
                </a:lnTo>
                <a:lnTo>
                  <a:pt x="447824" y="2460568"/>
                </a:lnTo>
                <a:lnTo>
                  <a:pt x="411998" y="2427317"/>
                </a:lnTo>
                <a:lnTo>
                  <a:pt x="377665" y="2394066"/>
                </a:lnTo>
                <a:lnTo>
                  <a:pt x="344824" y="2360815"/>
                </a:lnTo>
                <a:lnTo>
                  <a:pt x="313477" y="2327564"/>
                </a:lnTo>
                <a:lnTo>
                  <a:pt x="283622" y="2294313"/>
                </a:lnTo>
                <a:lnTo>
                  <a:pt x="255260" y="2261062"/>
                </a:lnTo>
                <a:lnTo>
                  <a:pt x="228390" y="2227811"/>
                </a:lnTo>
                <a:lnTo>
                  <a:pt x="203014" y="2194560"/>
                </a:lnTo>
                <a:lnTo>
                  <a:pt x="179130" y="2161310"/>
                </a:lnTo>
                <a:lnTo>
                  <a:pt x="156738" y="2128059"/>
                </a:lnTo>
                <a:lnTo>
                  <a:pt x="135840" y="2094808"/>
                </a:lnTo>
                <a:lnTo>
                  <a:pt x="116434" y="2061557"/>
                </a:lnTo>
                <a:lnTo>
                  <a:pt x="98521" y="2028306"/>
                </a:lnTo>
                <a:lnTo>
                  <a:pt x="82101" y="1995055"/>
                </a:lnTo>
                <a:lnTo>
                  <a:pt x="67174" y="1961804"/>
                </a:lnTo>
                <a:lnTo>
                  <a:pt x="53739" y="1928553"/>
                </a:lnTo>
                <a:lnTo>
                  <a:pt x="41797" y="1895302"/>
                </a:lnTo>
                <a:lnTo>
                  <a:pt x="31348" y="1862051"/>
                </a:lnTo>
                <a:lnTo>
                  <a:pt x="22391" y="1828800"/>
                </a:lnTo>
                <a:lnTo>
                  <a:pt x="14928" y="1795550"/>
                </a:lnTo>
                <a:lnTo>
                  <a:pt x="8957" y="1762299"/>
                </a:lnTo>
                <a:lnTo>
                  <a:pt x="4478" y="1729048"/>
                </a:lnTo>
                <a:lnTo>
                  <a:pt x="1493" y="1695797"/>
                </a:lnTo>
                <a:lnTo>
                  <a:pt x="0" y="1662546"/>
                </a:lnTo>
                <a:lnTo>
                  <a:pt x="0" y="1629295"/>
                </a:lnTo>
                <a:lnTo>
                  <a:pt x="1493" y="1596044"/>
                </a:lnTo>
                <a:lnTo>
                  <a:pt x="4478" y="1562793"/>
                </a:lnTo>
                <a:lnTo>
                  <a:pt x="8957" y="1529542"/>
                </a:lnTo>
                <a:lnTo>
                  <a:pt x="14928" y="1496291"/>
                </a:lnTo>
                <a:lnTo>
                  <a:pt x="22391" y="1463040"/>
                </a:lnTo>
                <a:lnTo>
                  <a:pt x="31348" y="1429790"/>
                </a:lnTo>
                <a:lnTo>
                  <a:pt x="41797" y="1396539"/>
                </a:lnTo>
                <a:lnTo>
                  <a:pt x="53739" y="1363288"/>
                </a:lnTo>
                <a:lnTo>
                  <a:pt x="67174" y="1330037"/>
                </a:lnTo>
                <a:lnTo>
                  <a:pt x="82101" y="1296786"/>
                </a:lnTo>
                <a:lnTo>
                  <a:pt x="98521" y="1263535"/>
                </a:lnTo>
                <a:lnTo>
                  <a:pt x="116434" y="1230284"/>
                </a:lnTo>
                <a:lnTo>
                  <a:pt x="135840" y="1197033"/>
                </a:lnTo>
                <a:lnTo>
                  <a:pt x="156738" y="1163782"/>
                </a:lnTo>
                <a:lnTo>
                  <a:pt x="179130" y="1130531"/>
                </a:lnTo>
                <a:lnTo>
                  <a:pt x="203014" y="1097280"/>
                </a:lnTo>
                <a:lnTo>
                  <a:pt x="228390" y="1064030"/>
                </a:lnTo>
                <a:lnTo>
                  <a:pt x="255260" y="1030779"/>
                </a:lnTo>
                <a:lnTo>
                  <a:pt x="283622" y="997528"/>
                </a:lnTo>
                <a:lnTo>
                  <a:pt x="313477" y="964277"/>
                </a:lnTo>
                <a:lnTo>
                  <a:pt x="344824" y="931026"/>
                </a:lnTo>
                <a:lnTo>
                  <a:pt x="377665" y="897775"/>
                </a:lnTo>
                <a:lnTo>
                  <a:pt x="411998" y="864524"/>
                </a:lnTo>
                <a:lnTo>
                  <a:pt x="447824" y="831273"/>
                </a:lnTo>
                <a:lnTo>
                  <a:pt x="485142" y="798022"/>
                </a:lnTo>
                <a:lnTo>
                  <a:pt x="523954" y="764771"/>
                </a:lnTo>
                <a:lnTo>
                  <a:pt x="564258" y="731520"/>
                </a:lnTo>
                <a:lnTo>
                  <a:pt x="606055" y="698270"/>
                </a:lnTo>
                <a:lnTo>
                  <a:pt x="649344" y="665019"/>
                </a:lnTo>
                <a:lnTo>
                  <a:pt x="694127" y="631768"/>
                </a:lnTo>
                <a:lnTo>
                  <a:pt x="740402" y="598517"/>
                </a:lnTo>
                <a:lnTo>
                  <a:pt x="788170" y="565266"/>
                </a:lnTo>
                <a:lnTo>
                  <a:pt x="837430" y="532015"/>
                </a:lnTo>
                <a:lnTo>
                  <a:pt x="888184" y="498764"/>
                </a:lnTo>
                <a:lnTo>
                  <a:pt x="940430" y="465513"/>
                </a:lnTo>
                <a:lnTo>
                  <a:pt x="994169" y="432262"/>
                </a:lnTo>
                <a:lnTo>
                  <a:pt x="1049400" y="399011"/>
                </a:lnTo>
                <a:lnTo>
                  <a:pt x="1106125" y="365760"/>
                </a:lnTo>
                <a:lnTo>
                  <a:pt x="1164342" y="332510"/>
                </a:lnTo>
                <a:lnTo>
                  <a:pt x="1224052" y="299259"/>
                </a:lnTo>
                <a:lnTo>
                  <a:pt x="1285254" y="266008"/>
                </a:lnTo>
                <a:lnTo>
                  <a:pt x="1347949" y="232757"/>
                </a:lnTo>
                <a:lnTo>
                  <a:pt x="1412137" y="199506"/>
                </a:lnTo>
                <a:lnTo>
                  <a:pt x="1477818" y="166255"/>
                </a:lnTo>
                <a:lnTo>
                  <a:pt x="1544992" y="133004"/>
                </a:lnTo>
                <a:lnTo>
                  <a:pt x="1613658" y="99753"/>
                </a:lnTo>
                <a:lnTo>
                  <a:pt x="1683817" y="66502"/>
                </a:lnTo>
                <a:lnTo>
                  <a:pt x="1755469" y="33251"/>
                </a:lnTo>
                <a:lnTo>
                  <a:pt x="1828614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4-E03 text 49" descr="sci-ppt:o049"/>
          <p:cNvSpPr txBox="1"/>
          <p:nvPr/>
        </p:nvSpPr>
        <p:spPr>
          <a:xfrm>
            <a:off x="9820656" y="1543507"/>
            <a:ext cx="12801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stiffness: z²</a:t>
            </a:r>
          </a:p>
        </p:txBody>
      </p:sp>
      <p:sp>
        <p:nvSpPr>
          <p:cNvPr id="52" name="C4-E03 text 50" descr="sci-ppt:o050"/>
          <p:cNvSpPr txBox="1"/>
          <p:nvPr/>
        </p:nvSpPr>
        <p:spPr>
          <a:xfrm>
            <a:off x="6583680" y="5440680"/>
            <a:ext cx="52120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h_f = 10 µm, E_f = 2 GPa, ν_f = 0.35: m_A = 23.300 g/m², D_f =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1.899e-07 N m.</a:t>
            </a:r>
          </a:p>
        </p:txBody>
      </p:sp>
      <p:sp>
        <p:nvSpPr>
          <p:cNvPr id="53" name="C4-E03 text 51" descr="sci-ppt:o051"/>
          <p:cNvSpPr txBox="1"/>
          <p:nvPr/>
        </p:nvSpPr>
        <p:spPr>
          <a:xfrm>
            <a:off x="6583680" y="5989320"/>
            <a:ext cx="52120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Outer fibres dominate bending: thickness enters as h³, inertia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only as h.</a:t>
            </a:r>
          </a:p>
        </p:txBody>
      </p:sp>
      <p:sp>
        <p:nvSpPr>
          <p:cNvPr id="54" name="C4-E03 text 52" descr="sci-ppt:o05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Plate parameters of Eq. C4-E03 (ρ_f = 2330 kg/m³ for the film mass).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C4-E04 · Linear-plate energy model</a:t>
            </a:r>
          </a:p>
        </p:txBody>
      </p:sp>
      <p:sp>
        <p:nvSpPr>
          <p:cNvPr id="3" name="C4-E04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Three energies of a vibrating film (shaded: where each is evaluated)</a:t>
            </a:r>
          </a:p>
        </p:txBody>
      </p:sp>
      <p:sp>
        <p:nvSpPr>
          <p:cNvPr id="4" name="C4-E04 round_rect 2" descr="sci-ppt:o002"/>
          <p:cNvSpPr/>
          <p:nvPr/>
        </p:nvSpPr>
        <p:spPr>
          <a:xfrm>
            <a:off x="457200" y="1371600"/>
            <a:ext cx="36118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4-E04 text 3" descr="sci-ppt:o003"/>
          <p:cNvSpPr txBox="1"/>
          <p:nvPr/>
        </p:nvSpPr>
        <p:spPr>
          <a:xfrm>
            <a:off x="566928" y="1426464"/>
            <a:ext cx="3392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FC8F8"/>
                </a:solidFill>
                <a:latin typeface="Arial"/>
              </a:rPr>
              <a:t>Kinetic K_f</a:t>
            </a:r>
          </a:p>
        </p:txBody>
      </p:sp>
      <p:cxnSp>
        <p:nvCxnSpPr>
          <p:cNvPr id="6" name="C4-E04 arrow 4" descr="sci-ppt:o004"/>
          <p:cNvCxnSpPr/>
          <p:nvPr/>
        </p:nvCxnSpPr>
        <p:spPr>
          <a:xfrm flipV="1">
            <a:off x="777240" y="2854741"/>
            <a:ext cx="0" cy="162779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" name="C4-E04 arrow 5" descr="sci-ppt:o005"/>
          <p:cNvCxnSpPr/>
          <p:nvPr/>
        </p:nvCxnSpPr>
        <p:spPr>
          <a:xfrm flipV="1">
            <a:off x="1234440" y="2561424"/>
            <a:ext cx="0" cy="456096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4-E04 arrow 6" descr="sci-ppt:o006"/>
          <p:cNvCxnSpPr/>
          <p:nvPr/>
        </p:nvCxnSpPr>
        <p:spPr>
          <a:xfrm flipV="1">
            <a:off x="1691640" y="2358443"/>
            <a:ext cx="0" cy="659077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4-E04 arrow 7" descr="sci-ppt:o007"/>
          <p:cNvCxnSpPr/>
          <p:nvPr/>
        </p:nvCxnSpPr>
        <p:spPr>
          <a:xfrm flipV="1">
            <a:off x="2148840" y="2286000"/>
            <a:ext cx="0" cy="731520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C4-E04 arrow 8" descr="sci-ppt:o008"/>
          <p:cNvCxnSpPr/>
          <p:nvPr/>
        </p:nvCxnSpPr>
        <p:spPr>
          <a:xfrm flipV="1">
            <a:off x="2606040" y="2358443"/>
            <a:ext cx="0" cy="659077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1" name="C4-E04 arrow 9" descr="sci-ppt:o009"/>
          <p:cNvCxnSpPr/>
          <p:nvPr/>
        </p:nvCxnSpPr>
        <p:spPr>
          <a:xfrm flipV="1">
            <a:off x="3063240" y="2561424"/>
            <a:ext cx="0" cy="456096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2" name="C4-E04 arrow 10" descr="sci-ppt:o010"/>
          <p:cNvCxnSpPr/>
          <p:nvPr/>
        </p:nvCxnSpPr>
        <p:spPr>
          <a:xfrm flipV="1">
            <a:off x="3520440" y="2854741"/>
            <a:ext cx="0" cy="162779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3" name="C4-E04 line 11" descr="sci-ppt:o011"/>
          <p:cNvCxnSpPr/>
          <p:nvPr/>
        </p:nvCxnSpPr>
        <p:spPr>
          <a:xfrm>
            <a:off x="731520" y="3017520"/>
            <a:ext cx="3017519" cy="0"/>
          </a:xfrm>
          <a:prstGeom prst="line">
            <a:avLst/>
          </a:prstGeom>
          <a:ln w="17780">
            <a:solidFill>
              <a:srgbClr val="B4C7D2"/>
            </a:solidFill>
          </a:ln>
          <a:effectLst/>
        </p:spPr>
      </p:cxnSp>
      <p:sp>
        <p:nvSpPr>
          <p:cNvPr id="14" name="C4-E04 text 12" descr="sci-ppt:o012"/>
          <p:cNvSpPr txBox="1"/>
          <p:nvPr/>
        </p:nvSpPr>
        <p:spPr>
          <a:xfrm>
            <a:off x="548640" y="3886200"/>
            <a:ext cx="34290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7F0F3"/>
                </a:solidFill>
                <a:latin typeface="Arial"/>
              </a:rPr>
              <a:t>m_A/2 ∫ ẇ² dA</a:t>
            </a:r>
          </a:p>
        </p:txBody>
      </p:sp>
      <p:sp>
        <p:nvSpPr>
          <p:cNvPr id="15" name="C4-E04 text 13" descr="sci-ppt:o013"/>
          <p:cNvSpPr txBox="1"/>
          <p:nvPr/>
        </p:nvSpPr>
        <p:spPr>
          <a:xfrm>
            <a:off x="548640" y="4663440"/>
            <a:ext cx="3429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velocity of every patch</a:t>
            </a:r>
          </a:p>
        </p:txBody>
      </p:sp>
      <p:sp>
        <p:nvSpPr>
          <p:cNvPr id="16" name="C4-E04 round_rect 14" descr="sci-ppt:o014"/>
          <p:cNvSpPr/>
          <p:nvPr/>
        </p:nvSpPr>
        <p:spPr>
          <a:xfrm>
            <a:off x="4251960" y="1371600"/>
            <a:ext cx="36118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4-E04 text 15" descr="sci-ppt:o015"/>
          <p:cNvSpPr txBox="1"/>
          <p:nvPr/>
        </p:nvSpPr>
        <p:spPr>
          <a:xfrm>
            <a:off x="4361688" y="1426464"/>
            <a:ext cx="3392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Bending U_b</a:t>
            </a:r>
          </a:p>
        </p:txBody>
      </p:sp>
      <p:sp>
        <p:nvSpPr>
          <p:cNvPr id="18" name="C4-E04 polygon 16" descr="sci-ppt:o016"/>
          <p:cNvSpPr/>
          <p:nvPr/>
        </p:nvSpPr>
        <p:spPr>
          <a:xfrm>
            <a:off x="4526280" y="2931815"/>
            <a:ext cx="3017520" cy="771146"/>
          </a:xfrm>
          <a:custGeom>
            <a:avLst/>
            <a:gdLst/>
            <a:ahLst/>
            <a:cxnLst/>
            <a:rect l="l" t="t" r="r" b="b"/>
            <a:pathLst>
              <a:path w="3017520" h="771146">
                <a:moveTo>
                  <a:pt x="0" y="85705"/>
                </a:moveTo>
                <a:lnTo>
                  <a:pt x="25357" y="85227"/>
                </a:lnTo>
                <a:lnTo>
                  <a:pt x="50714" y="83805"/>
                </a:lnTo>
                <a:lnTo>
                  <a:pt x="76071" y="81465"/>
                </a:lnTo>
                <a:lnTo>
                  <a:pt x="101429" y="78255"/>
                </a:lnTo>
                <a:lnTo>
                  <a:pt x="126786" y="74236"/>
                </a:lnTo>
                <a:lnTo>
                  <a:pt x="152143" y="69490"/>
                </a:lnTo>
                <a:lnTo>
                  <a:pt x="177501" y="64113"/>
                </a:lnTo>
                <a:lnTo>
                  <a:pt x="202858" y="58215"/>
                </a:lnTo>
                <a:lnTo>
                  <a:pt x="228215" y="51921"/>
                </a:lnTo>
                <a:lnTo>
                  <a:pt x="253573" y="45367"/>
                </a:lnTo>
                <a:lnTo>
                  <a:pt x="278930" y="38697"/>
                </a:lnTo>
                <a:lnTo>
                  <a:pt x="304287" y="32067"/>
                </a:lnTo>
                <a:lnTo>
                  <a:pt x="329645" y="25635"/>
                </a:lnTo>
                <a:lnTo>
                  <a:pt x="355002" y="19568"/>
                </a:lnTo>
                <a:lnTo>
                  <a:pt x="380359" y="14030"/>
                </a:lnTo>
                <a:lnTo>
                  <a:pt x="405716" y="9189"/>
                </a:lnTo>
                <a:lnTo>
                  <a:pt x="431074" y="5209"/>
                </a:lnTo>
                <a:lnTo>
                  <a:pt x="456431" y="2249"/>
                </a:lnTo>
                <a:lnTo>
                  <a:pt x="481788" y="465"/>
                </a:lnTo>
                <a:lnTo>
                  <a:pt x="507146" y="0"/>
                </a:lnTo>
                <a:lnTo>
                  <a:pt x="532503" y="989"/>
                </a:lnTo>
                <a:lnTo>
                  <a:pt x="557860" y="3556"/>
                </a:lnTo>
                <a:lnTo>
                  <a:pt x="583218" y="7808"/>
                </a:lnTo>
                <a:lnTo>
                  <a:pt x="608575" y="13839"/>
                </a:lnTo>
                <a:lnTo>
                  <a:pt x="633932" y="21724"/>
                </a:lnTo>
                <a:lnTo>
                  <a:pt x="659290" y="31521"/>
                </a:lnTo>
                <a:lnTo>
                  <a:pt x="684647" y="43269"/>
                </a:lnTo>
                <a:lnTo>
                  <a:pt x="710004" y="56985"/>
                </a:lnTo>
                <a:lnTo>
                  <a:pt x="735362" y="72667"/>
                </a:lnTo>
                <a:lnTo>
                  <a:pt x="760719" y="90290"/>
                </a:lnTo>
                <a:lnTo>
                  <a:pt x="786076" y="109811"/>
                </a:lnTo>
                <a:lnTo>
                  <a:pt x="811433" y="131162"/>
                </a:lnTo>
                <a:lnTo>
                  <a:pt x="836791" y="154256"/>
                </a:lnTo>
                <a:lnTo>
                  <a:pt x="862148" y="178986"/>
                </a:lnTo>
                <a:lnTo>
                  <a:pt x="887505" y="205224"/>
                </a:lnTo>
                <a:lnTo>
                  <a:pt x="912863" y="232824"/>
                </a:lnTo>
                <a:lnTo>
                  <a:pt x="938220" y="261624"/>
                </a:lnTo>
                <a:lnTo>
                  <a:pt x="963577" y="291444"/>
                </a:lnTo>
                <a:lnTo>
                  <a:pt x="988935" y="322090"/>
                </a:lnTo>
                <a:lnTo>
                  <a:pt x="1014292" y="353358"/>
                </a:lnTo>
                <a:lnTo>
                  <a:pt x="1039649" y="385029"/>
                </a:lnTo>
                <a:lnTo>
                  <a:pt x="1065007" y="416878"/>
                </a:lnTo>
                <a:lnTo>
                  <a:pt x="1090364" y="448675"/>
                </a:lnTo>
                <a:lnTo>
                  <a:pt x="1115721" y="480182"/>
                </a:lnTo>
                <a:lnTo>
                  <a:pt x="1141078" y="511162"/>
                </a:lnTo>
                <a:lnTo>
                  <a:pt x="1166436" y="541377"/>
                </a:lnTo>
                <a:lnTo>
                  <a:pt x="1191793" y="570593"/>
                </a:lnTo>
                <a:lnTo>
                  <a:pt x="1217150" y="598580"/>
                </a:lnTo>
                <a:lnTo>
                  <a:pt x="1242508" y="625116"/>
                </a:lnTo>
                <a:lnTo>
                  <a:pt x="1267865" y="649987"/>
                </a:lnTo>
                <a:lnTo>
                  <a:pt x="1293222" y="672994"/>
                </a:lnTo>
                <a:lnTo>
                  <a:pt x="1318580" y="693949"/>
                </a:lnTo>
                <a:lnTo>
                  <a:pt x="1343937" y="712680"/>
                </a:lnTo>
                <a:lnTo>
                  <a:pt x="1369294" y="729034"/>
                </a:lnTo>
                <a:lnTo>
                  <a:pt x="1394652" y="742875"/>
                </a:lnTo>
                <a:lnTo>
                  <a:pt x="1420009" y="754088"/>
                </a:lnTo>
                <a:lnTo>
                  <a:pt x="1445366" y="762581"/>
                </a:lnTo>
                <a:lnTo>
                  <a:pt x="1470724" y="768283"/>
                </a:lnTo>
                <a:lnTo>
                  <a:pt x="1496081" y="771146"/>
                </a:lnTo>
                <a:lnTo>
                  <a:pt x="1521438" y="771146"/>
                </a:lnTo>
                <a:lnTo>
                  <a:pt x="1546795" y="768283"/>
                </a:lnTo>
                <a:lnTo>
                  <a:pt x="1572153" y="762581"/>
                </a:lnTo>
                <a:lnTo>
                  <a:pt x="1597510" y="754088"/>
                </a:lnTo>
                <a:lnTo>
                  <a:pt x="1622867" y="742875"/>
                </a:lnTo>
                <a:lnTo>
                  <a:pt x="1648225" y="729034"/>
                </a:lnTo>
                <a:lnTo>
                  <a:pt x="1673582" y="712680"/>
                </a:lnTo>
                <a:lnTo>
                  <a:pt x="1698939" y="693949"/>
                </a:lnTo>
                <a:lnTo>
                  <a:pt x="1724297" y="672994"/>
                </a:lnTo>
                <a:lnTo>
                  <a:pt x="1749654" y="649987"/>
                </a:lnTo>
                <a:lnTo>
                  <a:pt x="1775011" y="625116"/>
                </a:lnTo>
                <a:lnTo>
                  <a:pt x="1800369" y="598580"/>
                </a:lnTo>
                <a:lnTo>
                  <a:pt x="1825726" y="570593"/>
                </a:lnTo>
                <a:lnTo>
                  <a:pt x="1851083" y="541377"/>
                </a:lnTo>
                <a:lnTo>
                  <a:pt x="1876441" y="511162"/>
                </a:lnTo>
                <a:lnTo>
                  <a:pt x="1901798" y="480182"/>
                </a:lnTo>
                <a:lnTo>
                  <a:pt x="1927155" y="448675"/>
                </a:lnTo>
                <a:lnTo>
                  <a:pt x="1952512" y="416878"/>
                </a:lnTo>
                <a:lnTo>
                  <a:pt x="1977870" y="385029"/>
                </a:lnTo>
                <a:lnTo>
                  <a:pt x="2003227" y="353358"/>
                </a:lnTo>
                <a:lnTo>
                  <a:pt x="2028584" y="322090"/>
                </a:lnTo>
                <a:lnTo>
                  <a:pt x="2053942" y="291444"/>
                </a:lnTo>
                <a:lnTo>
                  <a:pt x="2079299" y="261624"/>
                </a:lnTo>
                <a:lnTo>
                  <a:pt x="2104656" y="232824"/>
                </a:lnTo>
                <a:lnTo>
                  <a:pt x="2130014" y="205224"/>
                </a:lnTo>
                <a:lnTo>
                  <a:pt x="2155371" y="178986"/>
                </a:lnTo>
                <a:lnTo>
                  <a:pt x="2180728" y="154256"/>
                </a:lnTo>
                <a:lnTo>
                  <a:pt x="2206086" y="131162"/>
                </a:lnTo>
                <a:lnTo>
                  <a:pt x="2231443" y="109811"/>
                </a:lnTo>
                <a:lnTo>
                  <a:pt x="2256800" y="90290"/>
                </a:lnTo>
                <a:lnTo>
                  <a:pt x="2282157" y="72667"/>
                </a:lnTo>
                <a:lnTo>
                  <a:pt x="2307515" y="56985"/>
                </a:lnTo>
                <a:lnTo>
                  <a:pt x="2332872" y="43269"/>
                </a:lnTo>
                <a:lnTo>
                  <a:pt x="2358229" y="31521"/>
                </a:lnTo>
                <a:lnTo>
                  <a:pt x="2383587" y="21724"/>
                </a:lnTo>
                <a:lnTo>
                  <a:pt x="2408944" y="13839"/>
                </a:lnTo>
                <a:lnTo>
                  <a:pt x="2434301" y="7808"/>
                </a:lnTo>
                <a:lnTo>
                  <a:pt x="2459659" y="3556"/>
                </a:lnTo>
                <a:lnTo>
                  <a:pt x="2485016" y="989"/>
                </a:lnTo>
                <a:lnTo>
                  <a:pt x="2510373" y="0"/>
                </a:lnTo>
                <a:lnTo>
                  <a:pt x="2535731" y="465"/>
                </a:lnTo>
                <a:lnTo>
                  <a:pt x="2561088" y="2249"/>
                </a:lnTo>
                <a:lnTo>
                  <a:pt x="2586445" y="5209"/>
                </a:lnTo>
                <a:lnTo>
                  <a:pt x="2611803" y="9189"/>
                </a:lnTo>
                <a:lnTo>
                  <a:pt x="2637160" y="14030"/>
                </a:lnTo>
                <a:lnTo>
                  <a:pt x="2662517" y="19568"/>
                </a:lnTo>
                <a:lnTo>
                  <a:pt x="2687874" y="25635"/>
                </a:lnTo>
                <a:lnTo>
                  <a:pt x="2713232" y="32067"/>
                </a:lnTo>
                <a:lnTo>
                  <a:pt x="2738589" y="38697"/>
                </a:lnTo>
                <a:lnTo>
                  <a:pt x="2763946" y="45367"/>
                </a:lnTo>
                <a:lnTo>
                  <a:pt x="2789304" y="51921"/>
                </a:lnTo>
                <a:lnTo>
                  <a:pt x="2814661" y="58215"/>
                </a:lnTo>
                <a:lnTo>
                  <a:pt x="2840018" y="64113"/>
                </a:lnTo>
                <a:lnTo>
                  <a:pt x="2865376" y="69490"/>
                </a:lnTo>
                <a:lnTo>
                  <a:pt x="2890733" y="74236"/>
                </a:lnTo>
                <a:lnTo>
                  <a:pt x="2916090" y="78255"/>
                </a:lnTo>
                <a:lnTo>
                  <a:pt x="2941448" y="81465"/>
                </a:lnTo>
                <a:lnTo>
                  <a:pt x="2966805" y="83805"/>
                </a:lnTo>
                <a:lnTo>
                  <a:pt x="2992162" y="85227"/>
                </a:lnTo>
                <a:lnTo>
                  <a:pt x="3017520" y="85705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4-E04 text 17" descr="sci-ppt:o017"/>
          <p:cNvSpPr txBox="1"/>
          <p:nvPr/>
        </p:nvSpPr>
        <p:spPr>
          <a:xfrm>
            <a:off x="4617720" y="1783080"/>
            <a:ext cx="29260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sharp bends cost most</a:t>
            </a:r>
          </a:p>
        </p:txBody>
      </p:sp>
      <p:sp>
        <p:nvSpPr>
          <p:cNvPr id="20" name="C4-E04 text 18" descr="sci-ppt:o018"/>
          <p:cNvSpPr txBox="1"/>
          <p:nvPr/>
        </p:nvSpPr>
        <p:spPr>
          <a:xfrm>
            <a:off x="4343400" y="3886200"/>
            <a:ext cx="3429000" cy="38658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7F0F3"/>
                </a:solidFill>
                <a:latin typeface="Arial"/>
              </a:rPr>
              <a:t>D_f/2 ∫ [wₓₓ² + w_yy² + 2ν wₓₓ w_yy + 2(1−ν)</a:t>
            </a:r>
          </a:p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7F0F3"/>
                </a:solidFill>
                <a:latin typeface="Arial"/>
              </a:rPr>
              <a:t>w_xy²] dA</a:t>
            </a:r>
          </a:p>
        </p:txBody>
      </p:sp>
      <p:sp>
        <p:nvSpPr>
          <p:cNvPr id="21" name="C4-E04 text 19" descr="sci-ppt:o019"/>
          <p:cNvSpPr txBox="1"/>
          <p:nvPr/>
        </p:nvSpPr>
        <p:spPr>
          <a:xfrm>
            <a:off x="4343400" y="4663440"/>
            <a:ext cx="3429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curvature of the surface</a:t>
            </a:r>
          </a:p>
        </p:txBody>
      </p:sp>
      <p:sp>
        <p:nvSpPr>
          <p:cNvPr id="22" name="C4-E04 round_rect 20" descr="sci-ppt:o020"/>
          <p:cNvSpPr/>
          <p:nvPr/>
        </p:nvSpPr>
        <p:spPr>
          <a:xfrm>
            <a:off x="8046720" y="1371600"/>
            <a:ext cx="36118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4-E04 text 21" descr="sci-ppt:o021"/>
          <p:cNvSpPr txBox="1"/>
          <p:nvPr/>
        </p:nvSpPr>
        <p:spPr>
          <a:xfrm>
            <a:off x="8156448" y="1426464"/>
            <a:ext cx="3392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Tension U_T</a:t>
            </a:r>
          </a:p>
        </p:txBody>
      </p:sp>
      <p:sp>
        <p:nvSpPr>
          <p:cNvPr id="24" name="C4-E04 polygon 22" descr="sci-ppt:o022"/>
          <p:cNvSpPr/>
          <p:nvPr/>
        </p:nvSpPr>
        <p:spPr>
          <a:xfrm>
            <a:off x="8321040" y="2286063"/>
            <a:ext cx="3017520" cy="731457"/>
          </a:xfrm>
          <a:custGeom>
            <a:avLst/>
            <a:gdLst/>
            <a:ahLst/>
            <a:cxnLst/>
            <a:rect l="l" t="t" r="r" b="b"/>
            <a:pathLst>
              <a:path w="3017520" h="731457">
                <a:moveTo>
                  <a:pt x="0" y="731457"/>
                </a:moveTo>
                <a:lnTo>
                  <a:pt x="25357" y="712147"/>
                </a:lnTo>
                <a:lnTo>
                  <a:pt x="50714" y="692850"/>
                </a:lnTo>
                <a:lnTo>
                  <a:pt x="76071" y="673581"/>
                </a:lnTo>
                <a:lnTo>
                  <a:pt x="101429" y="654352"/>
                </a:lnTo>
                <a:lnTo>
                  <a:pt x="126786" y="635176"/>
                </a:lnTo>
                <a:lnTo>
                  <a:pt x="152143" y="616068"/>
                </a:lnTo>
                <a:lnTo>
                  <a:pt x="177501" y="597040"/>
                </a:lnTo>
                <a:lnTo>
                  <a:pt x="202858" y="578106"/>
                </a:lnTo>
                <a:lnTo>
                  <a:pt x="228215" y="559278"/>
                </a:lnTo>
                <a:lnTo>
                  <a:pt x="253573" y="540571"/>
                </a:lnTo>
                <a:lnTo>
                  <a:pt x="278930" y="521997"/>
                </a:lnTo>
                <a:lnTo>
                  <a:pt x="304287" y="503568"/>
                </a:lnTo>
                <a:lnTo>
                  <a:pt x="329645" y="485299"/>
                </a:lnTo>
                <a:lnTo>
                  <a:pt x="355002" y="467201"/>
                </a:lnTo>
                <a:lnTo>
                  <a:pt x="380359" y="449287"/>
                </a:lnTo>
                <a:lnTo>
                  <a:pt x="405716" y="431570"/>
                </a:lnTo>
                <a:lnTo>
                  <a:pt x="431074" y="414062"/>
                </a:lnTo>
                <a:lnTo>
                  <a:pt x="456431" y="396775"/>
                </a:lnTo>
                <a:lnTo>
                  <a:pt x="481788" y="379721"/>
                </a:lnTo>
                <a:lnTo>
                  <a:pt x="507146" y="362913"/>
                </a:lnTo>
                <a:lnTo>
                  <a:pt x="532503" y="346361"/>
                </a:lnTo>
                <a:lnTo>
                  <a:pt x="557860" y="330077"/>
                </a:lnTo>
                <a:lnTo>
                  <a:pt x="583218" y="314074"/>
                </a:lnTo>
                <a:lnTo>
                  <a:pt x="608575" y="298361"/>
                </a:lnTo>
                <a:lnTo>
                  <a:pt x="633932" y="282950"/>
                </a:lnTo>
                <a:lnTo>
                  <a:pt x="659290" y="267852"/>
                </a:lnTo>
                <a:lnTo>
                  <a:pt x="684647" y="253077"/>
                </a:lnTo>
                <a:lnTo>
                  <a:pt x="710004" y="238635"/>
                </a:lnTo>
                <a:lnTo>
                  <a:pt x="735362" y="224536"/>
                </a:lnTo>
                <a:lnTo>
                  <a:pt x="760719" y="210791"/>
                </a:lnTo>
                <a:lnTo>
                  <a:pt x="786076" y="197409"/>
                </a:lnTo>
                <a:lnTo>
                  <a:pt x="811433" y="184399"/>
                </a:lnTo>
                <a:lnTo>
                  <a:pt x="836791" y="171770"/>
                </a:lnTo>
                <a:lnTo>
                  <a:pt x="862148" y="159531"/>
                </a:lnTo>
                <a:lnTo>
                  <a:pt x="887505" y="147691"/>
                </a:lnTo>
                <a:lnTo>
                  <a:pt x="912863" y="136258"/>
                </a:lnTo>
                <a:lnTo>
                  <a:pt x="938220" y="125239"/>
                </a:lnTo>
                <a:lnTo>
                  <a:pt x="963577" y="114643"/>
                </a:lnTo>
                <a:lnTo>
                  <a:pt x="988935" y="104477"/>
                </a:lnTo>
                <a:lnTo>
                  <a:pt x="1014292" y="94747"/>
                </a:lnTo>
                <a:lnTo>
                  <a:pt x="1039649" y="85462"/>
                </a:lnTo>
                <a:lnTo>
                  <a:pt x="1065007" y="76627"/>
                </a:lnTo>
                <a:lnTo>
                  <a:pt x="1090364" y="68248"/>
                </a:lnTo>
                <a:lnTo>
                  <a:pt x="1115721" y="60331"/>
                </a:lnTo>
                <a:lnTo>
                  <a:pt x="1141078" y="52882"/>
                </a:lnTo>
                <a:lnTo>
                  <a:pt x="1166436" y="45906"/>
                </a:lnTo>
                <a:lnTo>
                  <a:pt x="1191793" y="39407"/>
                </a:lnTo>
                <a:lnTo>
                  <a:pt x="1217150" y="33391"/>
                </a:lnTo>
                <a:lnTo>
                  <a:pt x="1242508" y="27862"/>
                </a:lnTo>
                <a:lnTo>
                  <a:pt x="1267865" y="22823"/>
                </a:lnTo>
                <a:lnTo>
                  <a:pt x="1293222" y="18277"/>
                </a:lnTo>
                <a:lnTo>
                  <a:pt x="1318580" y="14229"/>
                </a:lnTo>
                <a:lnTo>
                  <a:pt x="1343937" y="10680"/>
                </a:lnTo>
                <a:lnTo>
                  <a:pt x="1369294" y="7634"/>
                </a:lnTo>
                <a:lnTo>
                  <a:pt x="1394652" y="5093"/>
                </a:lnTo>
                <a:lnTo>
                  <a:pt x="1420009" y="3057"/>
                </a:lnTo>
                <a:lnTo>
                  <a:pt x="1445366" y="1529"/>
                </a:lnTo>
                <a:lnTo>
                  <a:pt x="1470724" y="510"/>
                </a:lnTo>
                <a:lnTo>
                  <a:pt x="1496081" y="0"/>
                </a:lnTo>
                <a:lnTo>
                  <a:pt x="1521438" y="0"/>
                </a:lnTo>
                <a:lnTo>
                  <a:pt x="1546795" y="510"/>
                </a:lnTo>
                <a:lnTo>
                  <a:pt x="1572153" y="1529"/>
                </a:lnTo>
                <a:lnTo>
                  <a:pt x="1597510" y="3057"/>
                </a:lnTo>
                <a:lnTo>
                  <a:pt x="1622867" y="5093"/>
                </a:lnTo>
                <a:lnTo>
                  <a:pt x="1648225" y="7634"/>
                </a:lnTo>
                <a:lnTo>
                  <a:pt x="1673582" y="10680"/>
                </a:lnTo>
                <a:lnTo>
                  <a:pt x="1698939" y="14229"/>
                </a:lnTo>
                <a:lnTo>
                  <a:pt x="1724297" y="18277"/>
                </a:lnTo>
                <a:lnTo>
                  <a:pt x="1749654" y="22823"/>
                </a:lnTo>
                <a:lnTo>
                  <a:pt x="1775011" y="27862"/>
                </a:lnTo>
                <a:lnTo>
                  <a:pt x="1800369" y="33391"/>
                </a:lnTo>
                <a:lnTo>
                  <a:pt x="1825726" y="39407"/>
                </a:lnTo>
                <a:lnTo>
                  <a:pt x="1851083" y="45906"/>
                </a:lnTo>
                <a:lnTo>
                  <a:pt x="1876441" y="52882"/>
                </a:lnTo>
                <a:lnTo>
                  <a:pt x="1901798" y="60331"/>
                </a:lnTo>
                <a:lnTo>
                  <a:pt x="1927155" y="68248"/>
                </a:lnTo>
                <a:lnTo>
                  <a:pt x="1952512" y="76627"/>
                </a:lnTo>
                <a:lnTo>
                  <a:pt x="1977870" y="85462"/>
                </a:lnTo>
                <a:lnTo>
                  <a:pt x="2003227" y="94747"/>
                </a:lnTo>
                <a:lnTo>
                  <a:pt x="2028584" y="104477"/>
                </a:lnTo>
                <a:lnTo>
                  <a:pt x="2053942" y="114643"/>
                </a:lnTo>
                <a:lnTo>
                  <a:pt x="2079299" y="125239"/>
                </a:lnTo>
                <a:lnTo>
                  <a:pt x="2104656" y="136258"/>
                </a:lnTo>
                <a:lnTo>
                  <a:pt x="2130014" y="147691"/>
                </a:lnTo>
                <a:lnTo>
                  <a:pt x="2155371" y="159531"/>
                </a:lnTo>
                <a:lnTo>
                  <a:pt x="2180728" y="171770"/>
                </a:lnTo>
                <a:lnTo>
                  <a:pt x="2206086" y="184399"/>
                </a:lnTo>
                <a:lnTo>
                  <a:pt x="2231443" y="197409"/>
                </a:lnTo>
                <a:lnTo>
                  <a:pt x="2256800" y="210791"/>
                </a:lnTo>
                <a:lnTo>
                  <a:pt x="2282157" y="224536"/>
                </a:lnTo>
                <a:lnTo>
                  <a:pt x="2307515" y="238635"/>
                </a:lnTo>
                <a:lnTo>
                  <a:pt x="2332872" y="253077"/>
                </a:lnTo>
                <a:lnTo>
                  <a:pt x="2358229" y="267852"/>
                </a:lnTo>
                <a:lnTo>
                  <a:pt x="2383587" y="282950"/>
                </a:lnTo>
                <a:lnTo>
                  <a:pt x="2408944" y="298361"/>
                </a:lnTo>
                <a:lnTo>
                  <a:pt x="2434301" y="314074"/>
                </a:lnTo>
                <a:lnTo>
                  <a:pt x="2459659" y="330077"/>
                </a:lnTo>
                <a:lnTo>
                  <a:pt x="2485016" y="346361"/>
                </a:lnTo>
                <a:lnTo>
                  <a:pt x="2510373" y="362913"/>
                </a:lnTo>
                <a:lnTo>
                  <a:pt x="2535731" y="379721"/>
                </a:lnTo>
                <a:lnTo>
                  <a:pt x="2561088" y="396775"/>
                </a:lnTo>
                <a:lnTo>
                  <a:pt x="2586445" y="414062"/>
                </a:lnTo>
                <a:lnTo>
                  <a:pt x="2611803" y="431570"/>
                </a:lnTo>
                <a:lnTo>
                  <a:pt x="2637160" y="449287"/>
                </a:lnTo>
                <a:lnTo>
                  <a:pt x="2662517" y="467201"/>
                </a:lnTo>
                <a:lnTo>
                  <a:pt x="2687874" y="485299"/>
                </a:lnTo>
                <a:lnTo>
                  <a:pt x="2713232" y="503568"/>
                </a:lnTo>
                <a:lnTo>
                  <a:pt x="2738589" y="521997"/>
                </a:lnTo>
                <a:lnTo>
                  <a:pt x="2763946" y="540571"/>
                </a:lnTo>
                <a:lnTo>
                  <a:pt x="2789304" y="559278"/>
                </a:lnTo>
                <a:lnTo>
                  <a:pt x="2814661" y="578106"/>
                </a:lnTo>
                <a:lnTo>
                  <a:pt x="2840018" y="597040"/>
                </a:lnTo>
                <a:lnTo>
                  <a:pt x="2865376" y="616068"/>
                </a:lnTo>
                <a:lnTo>
                  <a:pt x="2890733" y="635176"/>
                </a:lnTo>
                <a:lnTo>
                  <a:pt x="2916090" y="654352"/>
                </a:lnTo>
                <a:lnTo>
                  <a:pt x="2941448" y="673581"/>
                </a:lnTo>
                <a:lnTo>
                  <a:pt x="2966805" y="692850"/>
                </a:lnTo>
                <a:lnTo>
                  <a:pt x="2992162" y="712147"/>
                </a:lnTo>
                <a:lnTo>
                  <a:pt x="3017520" y="731457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4-E04 line 23" descr="sci-ppt:o023"/>
          <p:cNvCxnSpPr/>
          <p:nvPr/>
        </p:nvCxnSpPr>
        <p:spPr>
          <a:xfrm flipV="1">
            <a:off x="8321040" y="2468798"/>
            <a:ext cx="822960" cy="548722"/>
          </a:xfrm>
          <a:prstGeom prst="line">
            <a:avLst/>
          </a:prstGeom>
          <a:ln w="19050">
            <a:solidFill>
              <a:srgbClr val="B4C7D2"/>
            </a:solidFill>
            <a:prstDash val="dash"/>
          </a:ln>
          <a:effectLst/>
        </p:spPr>
      </p:cxnSp>
      <p:sp>
        <p:nvSpPr>
          <p:cNvPr id="26" name="C4-E04 text 24" descr="sci-ppt:o024"/>
          <p:cNvSpPr txBox="1"/>
          <p:nvPr/>
        </p:nvSpPr>
        <p:spPr>
          <a:xfrm>
            <a:off x="8412480" y="1783080"/>
            <a:ext cx="29260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steep slopes cost most</a:t>
            </a:r>
          </a:p>
        </p:txBody>
      </p:sp>
      <p:sp>
        <p:nvSpPr>
          <p:cNvPr id="27" name="C4-E04 text 25" descr="sci-ppt:o025"/>
          <p:cNvSpPr txBox="1"/>
          <p:nvPr/>
        </p:nvSpPr>
        <p:spPr>
          <a:xfrm>
            <a:off x="8138160" y="3886200"/>
            <a:ext cx="34290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7F0F3"/>
                </a:solidFill>
                <a:latin typeface="Arial"/>
              </a:rPr>
              <a:t>T₀/2 ∫ |∇w|² dA</a:t>
            </a:r>
          </a:p>
        </p:txBody>
      </p:sp>
      <p:sp>
        <p:nvSpPr>
          <p:cNvPr id="28" name="C4-E04 text 26" descr="sci-ppt:o026"/>
          <p:cNvSpPr txBox="1"/>
          <p:nvPr/>
        </p:nvSpPr>
        <p:spPr>
          <a:xfrm>
            <a:off x="8138160" y="4663440"/>
            <a:ext cx="3429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slope of the surface</a:t>
            </a:r>
          </a:p>
        </p:txBody>
      </p:sp>
      <p:sp>
        <p:nvSpPr>
          <p:cNvPr id="29" name="C4-E04 text 27" descr="sci-ppt:o027"/>
          <p:cNvSpPr txBox="1"/>
          <p:nvPr/>
        </p:nvSpPr>
        <p:spPr>
          <a:xfrm>
            <a:off x="457200" y="530352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Bending is stored by curvature, tension by slope, kinetic energy by velocity: three separate integrals over the same film Ω_f.</a:t>
            </a:r>
          </a:p>
        </p:txBody>
      </p:sp>
      <p:sp>
        <p:nvSpPr>
          <p:cNvPr id="30" name="C4-E04 text 28" descr="sci-ppt:o028"/>
          <p:cNvSpPr txBox="1"/>
          <p:nvPr/>
        </p:nvSpPr>
        <p:spPr>
          <a:xfrm>
            <a:off x="457200" y="5806440"/>
            <a:ext cx="11247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Valid for small deflection, uniform thin plate, with in-plane tension T₀ taken as given.</a:t>
            </a:r>
          </a:p>
        </p:txBody>
      </p:sp>
      <p:sp>
        <p:nvSpPr>
          <p:cNvPr id="31" name="C4-E04 text 29" descr="sci-ppt:o02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Linear-plate energies of Eq. C4-E04; the pictures are schematic.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4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C4-E40 · Explicit integration-by-parts boundary terms</a:t>
            </a:r>
          </a:p>
        </p:txBody>
      </p:sp>
      <p:sp>
        <p:nvSpPr>
          <p:cNvPr id="3" name="C4-E40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Integrating by parts twice moves derivatives from δw onto the moment tensor</a:t>
            </a:r>
          </a:p>
        </p:txBody>
      </p:sp>
      <p:sp>
        <p:nvSpPr>
          <p:cNvPr id="4" name="C4-E40 round_rect 2" descr="sci-ppt:o002"/>
          <p:cNvSpPr/>
          <p:nvPr/>
        </p:nvSpPr>
        <p:spPr>
          <a:xfrm>
            <a:off x="457200" y="1417320"/>
            <a:ext cx="11247120" cy="9601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4-E40 text 3" descr="sci-ppt:o003"/>
          <p:cNvSpPr txBox="1"/>
          <p:nvPr/>
        </p:nvSpPr>
        <p:spPr>
          <a:xfrm>
            <a:off x="594360" y="1490472"/>
            <a:ext cx="1005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Start</a:t>
            </a:r>
          </a:p>
        </p:txBody>
      </p:sp>
      <p:sp>
        <p:nvSpPr>
          <p:cNvPr id="6" name="C4-E40 text 4" descr="sci-ppt:o004"/>
          <p:cNvSpPr txBox="1"/>
          <p:nvPr/>
        </p:nvSpPr>
        <p:spPr>
          <a:xfrm>
            <a:off x="1645920" y="1508760"/>
            <a:ext cx="6949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δU_b = ∫ B_αβ ∂α∂β(δw) dA</a:t>
            </a:r>
          </a:p>
        </p:txBody>
      </p:sp>
      <p:sp>
        <p:nvSpPr>
          <p:cNvPr id="7" name="C4-E40 text 5" descr="sci-ppt:o005"/>
          <p:cNvSpPr txBox="1"/>
          <p:nvPr/>
        </p:nvSpPr>
        <p:spPr>
          <a:xfrm>
            <a:off x="8778240" y="1508760"/>
            <a:ext cx="28346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derivatives sit on δw</a:t>
            </a:r>
          </a:p>
        </p:txBody>
      </p:sp>
      <p:sp>
        <p:nvSpPr>
          <p:cNvPr id="8" name="C4-E40 round_rect 6" descr="sci-ppt:o006"/>
          <p:cNvSpPr/>
          <p:nvPr/>
        </p:nvSpPr>
        <p:spPr>
          <a:xfrm>
            <a:off x="457200" y="2514600"/>
            <a:ext cx="11247120" cy="9601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4-E40 text 7" descr="sci-ppt:o007"/>
          <p:cNvSpPr txBox="1"/>
          <p:nvPr/>
        </p:nvSpPr>
        <p:spPr>
          <a:xfrm>
            <a:off x="594360" y="2587752"/>
            <a:ext cx="1005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Once</a:t>
            </a:r>
          </a:p>
        </p:txBody>
      </p:sp>
      <p:sp>
        <p:nvSpPr>
          <p:cNvPr id="10" name="C4-E40 text 8" descr="sci-ppt:o008"/>
          <p:cNvSpPr txBox="1"/>
          <p:nvPr/>
        </p:nvSpPr>
        <p:spPr>
          <a:xfrm>
            <a:off x="1645920" y="2606040"/>
            <a:ext cx="6949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= ∮ n_α B_αβ ∂β(δw) dℓ − ∫ (∂α B_αβ) ∂β(δw) dA</a:t>
            </a:r>
          </a:p>
        </p:txBody>
      </p:sp>
      <p:sp>
        <p:nvSpPr>
          <p:cNvPr id="11" name="C4-E40 text 9" descr="sci-ppt:o009"/>
          <p:cNvSpPr txBox="1"/>
          <p:nvPr/>
        </p:nvSpPr>
        <p:spPr>
          <a:xfrm>
            <a:off x="8778240" y="2606040"/>
            <a:ext cx="28346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edge moment term appears</a:t>
            </a:r>
          </a:p>
        </p:txBody>
      </p:sp>
      <p:sp>
        <p:nvSpPr>
          <p:cNvPr id="12" name="C4-E40 round_rect 10" descr="sci-ppt:o010"/>
          <p:cNvSpPr/>
          <p:nvPr/>
        </p:nvSpPr>
        <p:spPr>
          <a:xfrm>
            <a:off x="457200" y="3611880"/>
            <a:ext cx="11247120" cy="9601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4-E40 text 11" descr="sci-ppt:o011"/>
          <p:cNvSpPr txBox="1"/>
          <p:nvPr/>
        </p:nvSpPr>
        <p:spPr>
          <a:xfrm>
            <a:off x="594360" y="3685032"/>
            <a:ext cx="1005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Twice</a:t>
            </a:r>
          </a:p>
        </p:txBody>
      </p:sp>
      <p:sp>
        <p:nvSpPr>
          <p:cNvPr id="14" name="C4-E40 text 12" descr="sci-ppt:o012"/>
          <p:cNvSpPr txBox="1"/>
          <p:nvPr/>
        </p:nvSpPr>
        <p:spPr>
          <a:xfrm>
            <a:off x="1645920" y="3703320"/>
            <a:ext cx="6949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= ∮ n_α B_αβ ∂β δw dℓ − ∮ nᵦ ∂αB_αβ δw dℓ + ∫ (∂α∂β B_αβ) δw dA</a:t>
            </a:r>
          </a:p>
        </p:txBody>
      </p:sp>
      <p:sp>
        <p:nvSpPr>
          <p:cNvPr id="15" name="C4-E40 text 13" descr="sci-ppt:o013"/>
          <p:cNvSpPr txBox="1"/>
          <p:nvPr/>
        </p:nvSpPr>
        <p:spPr>
          <a:xfrm>
            <a:off x="8778240" y="3703320"/>
            <a:ext cx="28346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edge shear term appears</a:t>
            </a:r>
          </a:p>
        </p:txBody>
      </p:sp>
      <p:sp>
        <p:nvSpPr>
          <p:cNvPr id="16" name="C4-E40 round_rect 14" descr="sci-ppt:o014"/>
          <p:cNvSpPr/>
          <p:nvPr/>
        </p:nvSpPr>
        <p:spPr>
          <a:xfrm>
            <a:off x="457200" y="4754880"/>
            <a:ext cx="5486400" cy="1051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4-E40 text 15" descr="sci-ppt:o015"/>
          <p:cNvSpPr txBox="1"/>
          <p:nvPr/>
        </p:nvSpPr>
        <p:spPr>
          <a:xfrm>
            <a:off x="566928" y="480974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B_αβ</a:t>
            </a:r>
          </a:p>
        </p:txBody>
      </p:sp>
      <p:sp>
        <p:nvSpPr>
          <p:cNvPr id="18" name="C4-E40 text 16" descr="sci-ppt:o016"/>
          <p:cNvSpPr txBox="1"/>
          <p:nvPr/>
        </p:nvSpPr>
        <p:spPr>
          <a:xfrm>
            <a:off x="594360" y="5120640"/>
            <a:ext cx="5212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B_αβ = D_f[(1−ν_f) w_αβ + ν_f δ_αβ ∇²w]</a:t>
            </a:r>
          </a:p>
        </p:txBody>
      </p:sp>
      <p:sp>
        <p:nvSpPr>
          <p:cNvPr id="19" name="C4-E40 round_rect 17" descr="sci-ppt:o017"/>
          <p:cNvSpPr/>
          <p:nvPr/>
        </p:nvSpPr>
        <p:spPr>
          <a:xfrm>
            <a:off x="6217920" y="4754880"/>
            <a:ext cx="5486400" cy="1051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4-E40 text 18" descr="sci-ppt:o018"/>
          <p:cNvSpPr txBox="1"/>
          <p:nvPr/>
        </p:nvSpPr>
        <p:spPr>
          <a:xfrm>
            <a:off x="6327648" y="480974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Fixed clamp</a:t>
            </a:r>
          </a:p>
        </p:txBody>
      </p:sp>
      <p:sp>
        <p:nvSpPr>
          <p:cNvPr id="21" name="C4-E40 text 19" descr="sci-ppt:o019"/>
          <p:cNvSpPr txBox="1"/>
          <p:nvPr/>
        </p:nvSpPr>
        <p:spPr>
          <a:xfrm>
            <a:off x="6355080" y="5120640"/>
            <a:ext cx="5212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w = 0 and ∂ₙw = 0 on the edge ⇒ both boundary terms vanish</a:t>
            </a:r>
          </a:p>
        </p:txBody>
      </p:sp>
      <p:sp>
        <p:nvSpPr>
          <p:cNvPr id="22" name="C4-E40 text 20" descr="sci-ppt:o02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Boundary terms of Eq. C4-E40 (the term order follows the equation).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C4-E05 · Derived variational identity for fixed clamps</a:t>
            </a:r>
          </a:p>
        </p:txBody>
      </p:sp>
      <p:sp>
        <p:nvSpPr>
          <p:cNvPr id="3" name="C4-E05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With a fixed clamp, the boundary terms drop and one operator is left</a:t>
            </a:r>
          </a:p>
        </p:txBody>
      </p:sp>
      <p:sp>
        <p:nvSpPr>
          <p:cNvPr id="4" name="C4-E05 round_rect 2" descr="sci-ppt:o002"/>
          <p:cNvSpPr/>
          <p:nvPr/>
        </p:nvSpPr>
        <p:spPr>
          <a:xfrm>
            <a:off x="457200" y="1371600"/>
            <a:ext cx="5486400" cy="22860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4-E05 text 3" descr="sci-ppt:o003"/>
          <p:cNvSpPr txBox="1"/>
          <p:nvPr/>
        </p:nvSpPr>
        <p:spPr>
          <a:xfrm>
            <a:off x="566928" y="1426464"/>
            <a:ext cx="52669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Bending variation</a:t>
            </a:r>
          </a:p>
        </p:txBody>
      </p:sp>
      <p:sp>
        <p:nvSpPr>
          <p:cNvPr id="6" name="C4-E05 text 4" descr="sci-ppt:o004"/>
          <p:cNvSpPr txBox="1"/>
          <p:nvPr/>
        </p:nvSpPr>
        <p:spPr>
          <a:xfrm>
            <a:off x="594360" y="1828800"/>
            <a:ext cx="5212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coefficient of w_xxyy:  2ν_f + 2(1 − ν_f) = 2</a:t>
            </a:r>
          </a:p>
        </p:txBody>
      </p:sp>
      <p:sp>
        <p:nvSpPr>
          <p:cNvPr id="7" name="C4-E05 text 5" descr="sci-ppt:o005"/>
          <p:cNvSpPr txBox="1"/>
          <p:nvPr/>
        </p:nvSpPr>
        <p:spPr>
          <a:xfrm>
            <a:off x="594360" y="2377440"/>
            <a:ext cx="5212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δU_b = D_f ∫ (wₓₓₓₓ + 2w_xxyy + w_yyyy) δw dA = D_f ∫ ∇⁴w δw dA</a:t>
            </a:r>
          </a:p>
        </p:txBody>
      </p:sp>
      <p:sp>
        <p:nvSpPr>
          <p:cNvPr id="8" name="C4-E05 text 6" descr="sci-ppt:o006"/>
          <p:cNvSpPr txBox="1"/>
          <p:nvPr/>
        </p:nvSpPr>
        <p:spPr>
          <a:xfrm>
            <a:off x="594360" y="3063240"/>
            <a:ext cx="52120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Poisson ratio cancels from the interior operator.</a:t>
            </a:r>
          </a:p>
        </p:txBody>
      </p:sp>
      <p:sp>
        <p:nvSpPr>
          <p:cNvPr id="9" name="C4-E05 round_rect 7" descr="sci-ppt:o007"/>
          <p:cNvSpPr/>
          <p:nvPr/>
        </p:nvSpPr>
        <p:spPr>
          <a:xfrm>
            <a:off x="6217920" y="1371600"/>
            <a:ext cx="5486400" cy="22860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4-E05 text 8" descr="sci-ppt:o008"/>
          <p:cNvSpPr txBox="1"/>
          <p:nvPr/>
        </p:nvSpPr>
        <p:spPr>
          <a:xfrm>
            <a:off x="6327648" y="1426464"/>
            <a:ext cx="52669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Tension variation</a:t>
            </a:r>
          </a:p>
        </p:txBody>
      </p:sp>
      <p:sp>
        <p:nvSpPr>
          <p:cNvPr id="11" name="C4-E05 text 9" descr="sci-ppt:o009"/>
          <p:cNvSpPr txBox="1"/>
          <p:nvPr/>
        </p:nvSpPr>
        <p:spPr>
          <a:xfrm>
            <a:off x="6355080" y="1828800"/>
            <a:ext cx="5212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δU_T = T₀ ∫ ∇w·∇δw dA</a:t>
            </a:r>
          </a:p>
        </p:txBody>
      </p:sp>
      <p:sp>
        <p:nvSpPr>
          <p:cNvPr id="12" name="C4-E05 text 10" descr="sci-ppt:o010"/>
          <p:cNvSpPr txBox="1"/>
          <p:nvPr/>
        </p:nvSpPr>
        <p:spPr>
          <a:xfrm>
            <a:off x="6355080" y="2331720"/>
            <a:ext cx="5212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8BA0"/>
                </a:solidFill>
                <a:latin typeface="Arial"/>
              </a:rPr>
              <a:t>= −T₀ ∫ ∇²w δw dA   (δw = 0 on the clamp)</a:t>
            </a:r>
          </a:p>
        </p:txBody>
      </p:sp>
      <p:cxnSp>
        <p:nvCxnSpPr>
          <p:cNvPr id="13" name="C4-E05 line 11" descr="sci-ppt:o011"/>
          <p:cNvCxnSpPr/>
          <p:nvPr/>
        </p:nvCxnSpPr>
        <p:spPr>
          <a:xfrm>
            <a:off x="914400" y="5577840"/>
            <a:ext cx="47548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4" name="C4-E05 line 12" descr="sci-ppt:o012"/>
          <p:cNvCxnSpPr/>
          <p:nvPr/>
        </p:nvCxnSpPr>
        <p:spPr>
          <a:xfrm>
            <a:off x="914400" y="4023360"/>
            <a:ext cx="0" cy="155448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5" name="C4-E05 line 13" descr="sci-ppt:o013"/>
          <p:cNvCxnSpPr/>
          <p:nvPr/>
        </p:nvCxnSpPr>
        <p:spPr>
          <a:xfrm>
            <a:off x="914400" y="55778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4-E05 line 14" descr="sci-ppt:o014"/>
          <p:cNvCxnSpPr/>
          <p:nvPr/>
        </p:nvCxnSpPr>
        <p:spPr>
          <a:xfrm>
            <a:off x="914400" y="4023360"/>
            <a:ext cx="0" cy="15544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4-E05 text 15" descr="sci-ppt:o015"/>
          <p:cNvSpPr txBox="1"/>
          <p:nvPr/>
        </p:nvSpPr>
        <p:spPr>
          <a:xfrm>
            <a:off x="457200" y="56601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18" name="C4-E05 line 16" descr="sci-ppt:o016"/>
          <p:cNvCxnSpPr/>
          <p:nvPr/>
        </p:nvCxnSpPr>
        <p:spPr>
          <a:xfrm>
            <a:off x="3291840" y="55778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4-E05 line 17" descr="sci-ppt:o017"/>
          <p:cNvCxnSpPr/>
          <p:nvPr/>
        </p:nvCxnSpPr>
        <p:spPr>
          <a:xfrm>
            <a:off x="3291840" y="4023360"/>
            <a:ext cx="0" cy="15544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4-E05 text 18" descr="sci-ppt:o018"/>
          <p:cNvSpPr txBox="1"/>
          <p:nvPr/>
        </p:nvSpPr>
        <p:spPr>
          <a:xfrm>
            <a:off x="2834640" y="56601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21" name="C4-E05 line 19" descr="sci-ppt:o019"/>
          <p:cNvCxnSpPr/>
          <p:nvPr/>
        </p:nvCxnSpPr>
        <p:spPr>
          <a:xfrm>
            <a:off x="5669280" y="55778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05 line 20" descr="sci-ppt:o020"/>
          <p:cNvCxnSpPr/>
          <p:nvPr/>
        </p:nvCxnSpPr>
        <p:spPr>
          <a:xfrm>
            <a:off x="5669280" y="4023360"/>
            <a:ext cx="0" cy="15544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4-E05 text 21" descr="sci-ppt:o021"/>
          <p:cNvSpPr txBox="1"/>
          <p:nvPr/>
        </p:nvSpPr>
        <p:spPr>
          <a:xfrm>
            <a:off x="5212080" y="56601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4" name="C4-E05 line 22" descr="sci-ppt:o022"/>
          <p:cNvCxnSpPr/>
          <p:nvPr/>
        </p:nvCxnSpPr>
        <p:spPr>
          <a:xfrm>
            <a:off x="850392" y="4800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05 line 23" descr="sci-ppt:o023"/>
          <p:cNvCxnSpPr/>
          <p:nvPr/>
        </p:nvCxnSpPr>
        <p:spPr>
          <a:xfrm>
            <a:off x="914400" y="4800600"/>
            <a:ext cx="47548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05 text 24" descr="sci-ppt:o024"/>
          <p:cNvSpPr txBox="1"/>
          <p:nvPr/>
        </p:nvSpPr>
        <p:spPr>
          <a:xfrm>
            <a:off x="45720" y="4718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sp>
        <p:nvSpPr>
          <p:cNvPr id="27" name="C4-E05 text 25" descr="sci-ppt:o025"/>
          <p:cNvSpPr txBox="1"/>
          <p:nvPr/>
        </p:nvSpPr>
        <p:spPr>
          <a:xfrm>
            <a:off x="914400" y="5861304"/>
            <a:ext cx="4754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ν_f</a:t>
            </a:r>
          </a:p>
        </p:txBody>
      </p:sp>
      <p:sp>
        <p:nvSpPr>
          <p:cNvPr id="28" name="C4-E05 text 26" descr="sci-ppt:o026"/>
          <p:cNvSpPr txBox="1"/>
          <p:nvPr/>
        </p:nvSpPr>
        <p:spPr>
          <a:xfrm>
            <a:off x="365760" y="3675888"/>
            <a:ext cx="4754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coefficient</a:t>
            </a:r>
          </a:p>
        </p:txBody>
      </p:sp>
      <p:sp>
        <p:nvSpPr>
          <p:cNvPr id="29" name="C4-E05 polygon 27" descr="sci-ppt:o027"/>
          <p:cNvSpPr/>
          <p:nvPr/>
        </p:nvSpPr>
        <p:spPr>
          <a:xfrm>
            <a:off x="914400" y="4800600"/>
            <a:ext cx="4754880" cy="0"/>
          </a:xfrm>
          <a:custGeom>
            <a:avLst/>
            <a:gdLst/>
            <a:ahLst/>
            <a:cxnLst/>
            <a:rect l="l" t="t" r="r" b="b"/>
            <a:pathLst>
              <a:path w="4754880" h="0">
                <a:moveTo>
                  <a:pt x="0" y="0"/>
                </a:moveTo>
                <a:lnTo>
                  <a:pt x="97038" y="0"/>
                </a:lnTo>
                <a:lnTo>
                  <a:pt x="194076" y="0"/>
                </a:lnTo>
                <a:lnTo>
                  <a:pt x="291115" y="0"/>
                </a:lnTo>
                <a:lnTo>
                  <a:pt x="388153" y="0"/>
                </a:lnTo>
                <a:lnTo>
                  <a:pt x="485191" y="0"/>
                </a:lnTo>
                <a:lnTo>
                  <a:pt x="582230" y="0"/>
                </a:lnTo>
                <a:lnTo>
                  <a:pt x="679268" y="0"/>
                </a:lnTo>
                <a:lnTo>
                  <a:pt x="776306" y="0"/>
                </a:lnTo>
                <a:lnTo>
                  <a:pt x="873345" y="0"/>
                </a:lnTo>
                <a:lnTo>
                  <a:pt x="970383" y="0"/>
                </a:lnTo>
                <a:lnTo>
                  <a:pt x="1067422" y="0"/>
                </a:lnTo>
                <a:lnTo>
                  <a:pt x="1164460" y="0"/>
                </a:lnTo>
                <a:lnTo>
                  <a:pt x="1261498" y="0"/>
                </a:lnTo>
                <a:lnTo>
                  <a:pt x="1358537" y="0"/>
                </a:lnTo>
                <a:lnTo>
                  <a:pt x="1455575" y="0"/>
                </a:lnTo>
                <a:lnTo>
                  <a:pt x="1552613" y="0"/>
                </a:lnTo>
                <a:lnTo>
                  <a:pt x="1649652" y="0"/>
                </a:lnTo>
                <a:lnTo>
                  <a:pt x="1746690" y="0"/>
                </a:lnTo>
                <a:lnTo>
                  <a:pt x="1843728" y="0"/>
                </a:lnTo>
                <a:lnTo>
                  <a:pt x="1940767" y="0"/>
                </a:lnTo>
                <a:lnTo>
                  <a:pt x="2037805" y="0"/>
                </a:lnTo>
                <a:lnTo>
                  <a:pt x="2134844" y="0"/>
                </a:lnTo>
                <a:lnTo>
                  <a:pt x="2231882" y="0"/>
                </a:lnTo>
                <a:lnTo>
                  <a:pt x="2328920" y="0"/>
                </a:lnTo>
                <a:lnTo>
                  <a:pt x="2425959" y="0"/>
                </a:lnTo>
                <a:lnTo>
                  <a:pt x="2522997" y="0"/>
                </a:lnTo>
                <a:lnTo>
                  <a:pt x="2620035" y="0"/>
                </a:lnTo>
                <a:lnTo>
                  <a:pt x="2717074" y="0"/>
                </a:lnTo>
                <a:lnTo>
                  <a:pt x="2814112" y="0"/>
                </a:lnTo>
                <a:lnTo>
                  <a:pt x="2911151" y="0"/>
                </a:lnTo>
                <a:lnTo>
                  <a:pt x="3008189" y="0"/>
                </a:lnTo>
                <a:lnTo>
                  <a:pt x="3105227" y="0"/>
                </a:lnTo>
                <a:lnTo>
                  <a:pt x="3202266" y="0"/>
                </a:lnTo>
                <a:lnTo>
                  <a:pt x="3299304" y="0"/>
                </a:lnTo>
                <a:lnTo>
                  <a:pt x="3396342" y="0"/>
                </a:lnTo>
                <a:lnTo>
                  <a:pt x="3493381" y="0"/>
                </a:lnTo>
                <a:lnTo>
                  <a:pt x="3590419" y="0"/>
                </a:lnTo>
                <a:lnTo>
                  <a:pt x="3687457" y="0"/>
                </a:lnTo>
                <a:lnTo>
                  <a:pt x="3784496" y="0"/>
                </a:lnTo>
                <a:lnTo>
                  <a:pt x="3881534" y="0"/>
                </a:lnTo>
                <a:lnTo>
                  <a:pt x="3978573" y="0"/>
                </a:lnTo>
                <a:lnTo>
                  <a:pt x="4075611" y="0"/>
                </a:lnTo>
                <a:lnTo>
                  <a:pt x="4172649" y="0"/>
                </a:lnTo>
                <a:lnTo>
                  <a:pt x="4269688" y="0"/>
                </a:lnTo>
                <a:lnTo>
                  <a:pt x="4366726" y="0"/>
                </a:lnTo>
                <a:lnTo>
                  <a:pt x="4463764" y="0"/>
                </a:lnTo>
                <a:lnTo>
                  <a:pt x="4560803" y="0"/>
                </a:lnTo>
                <a:lnTo>
                  <a:pt x="4657841" y="0"/>
                </a:lnTo>
                <a:lnTo>
                  <a:pt x="475488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4-E05 text 28" descr="sci-ppt:o028"/>
          <p:cNvSpPr txBox="1"/>
          <p:nvPr/>
        </p:nvSpPr>
        <p:spPr>
          <a:xfrm>
            <a:off x="1463040" y="4242816"/>
            <a:ext cx="31089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2ν + 2(1 − ν) = 2 for every ν</a:t>
            </a:r>
          </a:p>
        </p:txBody>
      </p:sp>
      <p:sp>
        <p:nvSpPr>
          <p:cNvPr id="31" name="C4-E05 text 29" descr="sci-ppt:o029"/>
          <p:cNvSpPr txBox="1"/>
          <p:nvPr/>
        </p:nvSpPr>
        <p:spPr>
          <a:xfrm>
            <a:off x="6400800" y="4023360"/>
            <a:ext cx="53035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Result: D_f ∇⁴w − T₀ ∇²w are the elastic restoring terms.</a:t>
            </a:r>
          </a:p>
        </p:txBody>
      </p:sp>
      <p:sp>
        <p:nvSpPr>
          <p:cNvPr id="32" name="C4-E05 text 30" descr="sci-ppt:o030"/>
          <p:cNvSpPr txBox="1"/>
          <p:nvPr/>
        </p:nvSpPr>
        <p:spPr>
          <a:xfrm>
            <a:off x="6400800" y="4663440"/>
            <a:ext cx="53035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They are the same terms that enter the transient balance of Eq.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C4-E06.</a:t>
            </a:r>
          </a:p>
        </p:txBody>
      </p:sp>
      <p:sp>
        <p:nvSpPr>
          <p:cNvPr id="33" name="C4-E05 text 31" descr="sci-ppt:o03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Clamped variational identity of Eq. C4-E05.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C4-E06 · Reduced transient momentum balance with explicit initial/boundary data</a:t>
            </a:r>
          </a:p>
        </p:txBody>
      </p:sp>
      <p:sp>
        <p:nvSpPr>
          <p:cNvPr id="3" name="C4-E06 round_rect 1" descr="sci-ppt:o001"/>
          <p:cNvSpPr/>
          <p:nvPr/>
        </p:nvSpPr>
        <p:spPr>
          <a:xfrm>
            <a:off x="457200" y="914400"/>
            <a:ext cx="5669280" cy="4846320"/>
          </a:xfrm>
          <a:prstGeom prst="roundRect">
            <a:avLst/>
          </a:prstGeom>
          <a:solidFill>
            <a:srgbClr val="1E4A5A"/>
          </a:solidFill>
          <a:ln w="1524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06 text 2" descr="sci-ppt:o002"/>
          <p:cNvSpPr txBox="1"/>
          <p:nvPr/>
        </p:nvSpPr>
        <p:spPr>
          <a:xfrm>
            <a:off x="594360" y="960120"/>
            <a:ext cx="5394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Film element: four forces balance inertia</a:t>
            </a:r>
          </a:p>
        </p:txBody>
      </p:sp>
      <p:sp>
        <p:nvSpPr>
          <p:cNvPr id="5" name="C4-E06 rect 3" descr="sci-ppt:o003"/>
          <p:cNvSpPr/>
          <p:nvPr/>
        </p:nvSpPr>
        <p:spPr>
          <a:xfrm>
            <a:off x="1097280" y="3200400"/>
            <a:ext cx="4389120" cy="274320"/>
          </a:xfrm>
          <a:prstGeom prst="rect">
            <a:avLst/>
          </a:prstGeom>
          <a:solidFill>
            <a:srgbClr val="3A5362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4-E06 arrow 4" descr="sci-ppt:o004"/>
          <p:cNvCxnSpPr/>
          <p:nvPr/>
        </p:nvCxnSpPr>
        <p:spPr>
          <a:xfrm>
            <a:off x="3291840" y="2103120"/>
            <a:ext cx="0" cy="1051560"/>
          </a:xfrm>
          <a:prstGeom prst="line">
            <a:avLst/>
          </a:prstGeom>
          <a:ln w="508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C4-E06 text 5" descr="sci-ppt:o005"/>
          <p:cNvSpPr txBox="1"/>
          <p:nvPr/>
        </p:nvSpPr>
        <p:spPr>
          <a:xfrm>
            <a:off x="3383280" y="219456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p_load (pressure)</a:t>
            </a:r>
          </a:p>
        </p:txBody>
      </p:sp>
      <p:cxnSp>
        <p:nvCxnSpPr>
          <p:cNvPr id="8" name="C4-E06 arrow 6" descr="sci-ppt:o006"/>
          <p:cNvCxnSpPr/>
          <p:nvPr/>
        </p:nvCxnSpPr>
        <p:spPr>
          <a:xfrm flipV="1">
            <a:off x="2011680" y="3520440"/>
            <a:ext cx="0" cy="502920"/>
          </a:xfrm>
          <a:prstGeom prst="line">
            <a:avLst/>
          </a:prstGeom>
          <a:ln w="4445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C4-E06 text 7" descr="sci-ppt:o007"/>
          <p:cNvSpPr txBox="1"/>
          <p:nvPr/>
        </p:nvSpPr>
        <p:spPr>
          <a:xfrm>
            <a:off x="914400" y="4114800"/>
            <a:ext cx="2286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FC8F8"/>
                </a:solidFill>
                <a:latin typeface="Arial"/>
              </a:rPr>
              <a:t>D_f∇⁴w − T₀∇²w (elastic)</a:t>
            </a:r>
          </a:p>
        </p:txBody>
      </p:sp>
      <p:cxnSp>
        <p:nvCxnSpPr>
          <p:cNvPr id="10" name="C4-E06 arrow 8" descr="sci-ppt:o008"/>
          <p:cNvCxnSpPr/>
          <p:nvPr/>
        </p:nvCxnSpPr>
        <p:spPr>
          <a:xfrm flipV="1">
            <a:off x="4572000" y="3520440"/>
            <a:ext cx="0" cy="502920"/>
          </a:xfrm>
          <a:prstGeom prst="line">
            <a:avLst/>
          </a:prstGeom>
          <a:ln w="4445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4-E06 text 9" descr="sci-ppt:o009"/>
          <p:cNvSpPr txBox="1"/>
          <p:nvPr/>
        </p:nvSpPr>
        <p:spPr>
          <a:xfrm>
            <a:off x="3657600" y="4114800"/>
            <a:ext cx="2286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t_coh (cohesive)</a:t>
            </a:r>
          </a:p>
        </p:txBody>
      </p:sp>
      <p:cxnSp>
        <p:nvCxnSpPr>
          <p:cNvPr id="12" name="C4-E06 line 10" descr="sci-ppt:o010"/>
          <p:cNvCxnSpPr/>
          <p:nvPr/>
        </p:nvCxnSpPr>
        <p:spPr>
          <a:xfrm flipV="1">
            <a:off x="3291840" y="2240280"/>
            <a:ext cx="0" cy="320040"/>
          </a:xfrm>
          <a:prstGeom prst="line">
            <a:avLst/>
          </a:prstGeom>
          <a:ln w="12700">
            <a:solidFill>
              <a:srgbClr val="B4C7D2"/>
            </a:solidFill>
            <a:prstDash val="dash"/>
          </a:ln>
          <a:effectLst/>
        </p:spPr>
      </p:cxnSp>
      <p:sp>
        <p:nvSpPr>
          <p:cNvPr id="13" name="C4-E06 text 11" descr="sci-ppt:o011"/>
          <p:cNvSpPr txBox="1"/>
          <p:nvPr/>
        </p:nvSpPr>
        <p:spPr>
          <a:xfrm>
            <a:off x="914400" y="4800600"/>
            <a:ext cx="5029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m_A ẅ + D_f∇⁴w − T₀∇²w = p_load − t_coh</a:t>
            </a:r>
          </a:p>
        </p:txBody>
      </p:sp>
      <p:sp>
        <p:nvSpPr>
          <p:cNvPr id="14" name="C4-E06 text 12" descr="sci-ppt:o012"/>
          <p:cNvSpPr txBox="1"/>
          <p:nvPr/>
        </p:nvSpPr>
        <p:spPr>
          <a:xfrm>
            <a:off x="914400" y="5257800"/>
            <a:ext cx="5029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m_A ẅ is the inertia that is left over.</a:t>
            </a:r>
          </a:p>
        </p:txBody>
      </p:sp>
      <p:sp>
        <p:nvSpPr>
          <p:cNvPr id="15" name="C4-E06 round_rect 13" descr="sci-ppt:o013"/>
          <p:cNvSpPr/>
          <p:nvPr/>
        </p:nvSpPr>
        <p:spPr>
          <a:xfrm>
            <a:off x="6309360" y="914400"/>
            <a:ext cx="553212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4-E06 text 14" descr="sci-ppt:o014"/>
          <p:cNvSpPr txBox="1"/>
          <p:nvPr/>
        </p:nvSpPr>
        <p:spPr>
          <a:xfrm>
            <a:off x="6419088" y="969264"/>
            <a:ext cx="53126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Initial and boundary data</a:t>
            </a:r>
          </a:p>
        </p:txBody>
      </p:sp>
      <p:sp>
        <p:nvSpPr>
          <p:cNvPr id="17" name="C4-E06 text 15" descr="sci-ppt:o015"/>
          <p:cNvSpPr txBox="1"/>
          <p:nvPr/>
        </p:nvSpPr>
        <p:spPr>
          <a:xfrm>
            <a:off x="6647688" y="1463040"/>
            <a:ext cx="510235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At rest at t = 0:  w = 0,  ẇ = 0 everywhere.</a:t>
            </a:r>
          </a:p>
        </p:txBody>
      </p:sp>
      <p:sp>
        <p:nvSpPr>
          <p:cNvPr id="18" name="C4-E06 ellipse 16" descr="sci-ppt:o016"/>
          <p:cNvSpPr/>
          <p:nvPr/>
        </p:nvSpPr>
        <p:spPr>
          <a:xfrm>
            <a:off x="6478524" y="152031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4-E06 text 17" descr="sci-ppt:o017"/>
          <p:cNvSpPr txBox="1"/>
          <p:nvPr/>
        </p:nvSpPr>
        <p:spPr>
          <a:xfrm>
            <a:off x="6647688" y="1748155"/>
            <a:ext cx="510235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Clamped edge:  w = 0 and ∂ₙw = 0 (no deflection, no slope).</a:t>
            </a:r>
          </a:p>
        </p:txBody>
      </p:sp>
      <p:sp>
        <p:nvSpPr>
          <p:cNvPr id="20" name="C4-E06 ellipse 18" descr="sci-ppt:o018"/>
          <p:cNvSpPr/>
          <p:nvPr/>
        </p:nvSpPr>
        <p:spPr>
          <a:xfrm>
            <a:off x="6478524" y="180543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4-E06 text 19" descr="sci-ppt:o019"/>
          <p:cNvSpPr txBox="1"/>
          <p:nvPr/>
        </p:nvSpPr>
        <p:spPr>
          <a:xfrm>
            <a:off x="6647688" y="2033269"/>
            <a:ext cx="510235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Loading enters only through p_load; cohesive resistance only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through t_coh.</a:t>
            </a:r>
          </a:p>
        </p:txBody>
      </p:sp>
      <p:sp>
        <p:nvSpPr>
          <p:cNvPr id="22" name="C4-E06 ellipse 20" descr="sci-ppt:o020"/>
          <p:cNvSpPr/>
          <p:nvPr/>
        </p:nvSpPr>
        <p:spPr>
          <a:xfrm>
            <a:off x="6478524" y="209054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4-E06 text 21" descr="sci-ppt:o021"/>
          <p:cNvSpPr txBox="1"/>
          <p:nvPr/>
        </p:nvSpPr>
        <p:spPr>
          <a:xfrm>
            <a:off x="6446520" y="3474720"/>
            <a:ext cx="53035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Without the initial data the equation has many solutions;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without the clamp it cannot be solved.</a:t>
            </a:r>
          </a:p>
        </p:txBody>
      </p:sp>
      <p:sp>
        <p:nvSpPr>
          <p:cNvPr id="24" name="C4-E06 text 22" descr="sci-ppt:o022"/>
          <p:cNvSpPr txBox="1"/>
          <p:nvPr/>
        </p:nvSpPr>
        <p:spPr>
          <a:xfrm>
            <a:off x="6446520" y="4297680"/>
            <a:ext cx="53035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Reduced model: small deflection, thin uniform film, tension T₀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prescribed.</a:t>
            </a:r>
          </a:p>
        </p:txBody>
      </p:sp>
      <p:sp>
        <p:nvSpPr>
          <p:cNvPr id="25" name="C4-E06 text 23" descr="sci-ppt:o02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Reduced transient plate balance of Eq. C4-E06; schematic.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4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C4-E41 · Transient plate power identity under fixed clamps</a:t>
            </a:r>
          </a:p>
        </p:txBody>
      </p:sp>
      <p:sp>
        <p:nvSpPr>
          <p:cNvPr id="3" name="C4-E41 round_rect 1" descr="sci-ppt:o001"/>
          <p:cNvSpPr/>
          <p:nvPr/>
        </p:nvSpPr>
        <p:spPr>
          <a:xfrm>
            <a:off x="365760" y="914400"/>
            <a:ext cx="539496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41 text 2" descr="sci-ppt:o002"/>
          <p:cNvSpPr txBox="1"/>
          <p:nvPr/>
        </p:nvSpPr>
        <p:spPr>
          <a:xfrm>
            <a:off x="475488" y="969264"/>
            <a:ext cx="51755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Power ledger (schematic)</a:t>
            </a:r>
          </a:p>
        </p:txBody>
      </p:sp>
      <p:cxnSp>
        <p:nvCxnSpPr>
          <p:cNvPr id="5" name="C4-E41 line 3" descr="sci-ppt:o003"/>
          <p:cNvCxnSpPr/>
          <p:nvPr/>
        </p:nvCxnSpPr>
        <p:spPr>
          <a:xfrm>
            <a:off x="640080" y="4572000"/>
            <a:ext cx="48463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6" name="C4-E41 line 4" descr="sci-ppt:o004"/>
          <p:cNvCxnSpPr/>
          <p:nvPr/>
        </p:nvCxnSpPr>
        <p:spPr>
          <a:xfrm>
            <a:off x="640080" y="1554480"/>
            <a:ext cx="0" cy="30175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7" name="C4-E41 line 5" descr="sci-ppt:o005"/>
          <p:cNvCxnSpPr/>
          <p:nvPr/>
        </p:nvCxnSpPr>
        <p:spPr>
          <a:xfrm>
            <a:off x="576071" y="45720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8" name="C4-E41 line 6" descr="sci-ppt:o006"/>
          <p:cNvCxnSpPr/>
          <p:nvPr/>
        </p:nvCxnSpPr>
        <p:spPr>
          <a:xfrm>
            <a:off x="640080" y="4572000"/>
            <a:ext cx="48463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9" name="C4-E41 text 7" descr="sci-ppt:o007"/>
          <p:cNvSpPr txBox="1"/>
          <p:nvPr/>
        </p:nvSpPr>
        <p:spPr>
          <a:xfrm>
            <a:off x="-228600" y="4489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10" name="C4-E41 line 8" descr="sci-ppt:o008"/>
          <p:cNvCxnSpPr/>
          <p:nvPr/>
        </p:nvCxnSpPr>
        <p:spPr>
          <a:xfrm>
            <a:off x="576071" y="33147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1" name="C4-E41 line 9" descr="sci-ppt:o009"/>
          <p:cNvCxnSpPr/>
          <p:nvPr/>
        </p:nvCxnSpPr>
        <p:spPr>
          <a:xfrm>
            <a:off x="640080" y="3314700"/>
            <a:ext cx="48463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2" name="C4-E41 text 10" descr="sci-ppt:o010"/>
          <p:cNvSpPr txBox="1"/>
          <p:nvPr/>
        </p:nvSpPr>
        <p:spPr>
          <a:xfrm>
            <a:off x="-228600" y="32324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3" name="C4-E41 line 11" descr="sci-ppt:o011"/>
          <p:cNvCxnSpPr/>
          <p:nvPr/>
        </p:nvCxnSpPr>
        <p:spPr>
          <a:xfrm>
            <a:off x="576071" y="20574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4" name="C4-E41 line 12" descr="sci-ppt:o012"/>
          <p:cNvCxnSpPr/>
          <p:nvPr/>
        </p:nvCxnSpPr>
        <p:spPr>
          <a:xfrm>
            <a:off x="640080" y="2057400"/>
            <a:ext cx="48463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5" name="C4-E41 text 13" descr="sci-ppt:o013"/>
          <p:cNvSpPr txBox="1"/>
          <p:nvPr/>
        </p:nvSpPr>
        <p:spPr>
          <a:xfrm>
            <a:off x="-228600" y="1975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16" name="C4-E41 rect 14" descr="sci-ppt:o014"/>
          <p:cNvSpPr/>
          <p:nvPr/>
        </p:nvSpPr>
        <p:spPr>
          <a:xfrm>
            <a:off x="866241" y="2057400"/>
            <a:ext cx="1163116" cy="251460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4-E41 text 15" descr="sci-ppt:o015"/>
          <p:cNvSpPr txBox="1"/>
          <p:nvPr/>
        </p:nvSpPr>
        <p:spPr>
          <a:xfrm>
            <a:off x="637641" y="1783080"/>
            <a:ext cx="1620316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1.00</a:t>
            </a:r>
          </a:p>
        </p:txBody>
      </p:sp>
      <p:sp>
        <p:nvSpPr>
          <p:cNvPr id="18" name="C4-E41 text 16" descr="sci-ppt:o016"/>
          <p:cNvSpPr txBox="1"/>
          <p:nvPr/>
        </p:nvSpPr>
        <p:spPr>
          <a:xfrm>
            <a:off x="591921" y="4645152"/>
            <a:ext cx="1711756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applied work</a:t>
            </a:r>
          </a:p>
        </p:txBody>
      </p:sp>
      <p:sp>
        <p:nvSpPr>
          <p:cNvPr id="19" name="C4-E41 rect 17" descr="sci-ppt:o017"/>
          <p:cNvSpPr/>
          <p:nvPr/>
        </p:nvSpPr>
        <p:spPr>
          <a:xfrm>
            <a:off x="2481681" y="2057400"/>
            <a:ext cx="1163116" cy="62865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4-E41 text 18" descr="sci-ppt:o018"/>
          <p:cNvSpPr txBox="1"/>
          <p:nvPr/>
        </p:nvSpPr>
        <p:spPr>
          <a:xfrm>
            <a:off x="2253081" y="1783080"/>
            <a:ext cx="1620316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-0.25</a:t>
            </a:r>
          </a:p>
        </p:txBody>
      </p:sp>
      <p:sp>
        <p:nvSpPr>
          <p:cNvPr id="21" name="C4-E41 text 19" descr="sci-ppt:o019"/>
          <p:cNvSpPr txBox="1"/>
          <p:nvPr/>
        </p:nvSpPr>
        <p:spPr>
          <a:xfrm>
            <a:off x="2207361" y="4645152"/>
            <a:ext cx="1711756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− cohesive loss</a:t>
            </a:r>
          </a:p>
        </p:txBody>
      </p:sp>
      <p:sp>
        <p:nvSpPr>
          <p:cNvPr id="22" name="C4-E41 rect 20" descr="sci-ppt:o020"/>
          <p:cNvSpPr/>
          <p:nvPr/>
        </p:nvSpPr>
        <p:spPr>
          <a:xfrm>
            <a:off x="4097121" y="2686050"/>
            <a:ext cx="1163116" cy="188595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4-E41 text 21" descr="sci-ppt:o021"/>
          <p:cNvSpPr txBox="1"/>
          <p:nvPr/>
        </p:nvSpPr>
        <p:spPr>
          <a:xfrm>
            <a:off x="3868521" y="2411730"/>
            <a:ext cx="1620316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0.75</a:t>
            </a:r>
          </a:p>
        </p:txBody>
      </p:sp>
      <p:sp>
        <p:nvSpPr>
          <p:cNvPr id="24" name="C4-E41 text 22" descr="sci-ppt:o022"/>
          <p:cNvSpPr txBox="1"/>
          <p:nvPr/>
        </p:nvSpPr>
        <p:spPr>
          <a:xfrm>
            <a:off x="3822801" y="4645152"/>
            <a:ext cx="1711756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= stored + moving</a:t>
            </a:r>
          </a:p>
        </p:txBody>
      </p:sp>
      <p:sp>
        <p:nvSpPr>
          <p:cNvPr id="25" name="C4-E41 text 23" descr="sci-ppt:o023"/>
          <p:cNvSpPr txBox="1"/>
          <p:nvPr/>
        </p:nvSpPr>
        <p:spPr>
          <a:xfrm>
            <a:off x="548640" y="4983480"/>
            <a:ext cx="51206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d(K_f + U_b + U_T)/dt = ∫ p_load ẇ dA − ∫ t_coh ẇ dA</a:t>
            </a:r>
          </a:p>
        </p:txBody>
      </p:sp>
      <p:sp>
        <p:nvSpPr>
          <p:cNvPr id="26" name="C4-E41 text 24" descr="sci-ppt:o024"/>
          <p:cNvSpPr txBox="1"/>
          <p:nvPr/>
        </p:nvSpPr>
        <p:spPr>
          <a:xfrm>
            <a:off x="548640" y="5394960"/>
            <a:ext cx="51206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Each term has units of watts.</a:t>
            </a:r>
          </a:p>
        </p:txBody>
      </p:sp>
      <p:sp>
        <p:nvSpPr>
          <p:cNvPr id="27" name="C4-E41 round_rect 25" descr="sci-ppt:o025"/>
          <p:cNvSpPr/>
          <p:nvPr/>
        </p:nvSpPr>
        <p:spPr>
          <a:xfrm>
            <a:off x="5943600" y="914400"/>
            <a:ext cx="589788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4-E41 text 26" descr="sci-ppt:o026"/>
          <p:cNvSpPr txBox="1"/>
          <p:nvPr/>
        </p:nvSpPr>
        <p:spPr>
          <a:xfrm>
            <a:off x="6053328" y="969264"/>
            <a:ext cx="5678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Multiply the balance by ẇ and integrate</a:t>
            </a:r>
          </a:p>
        </p:txBody>
      </p:sp>
      <p:sp>
        <p:nvSpPr>
          <p:cNvPr id="29" name="C4-E41 text 27" descr="sci-ppt:o027"/>
          <p:cNvSpPr txBox="1"/>
          <p:nvPr/>
        </p:nvSpPr>
        <p:spPr>
          <a:xfrm>
            <a:off x="6126480" y="1508760"/>
            <a:ext cx="1188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7FC8F8"/>
                </a:solidFill>
                <a:latin typeface="Arial"/>
              </a:rPr>
              <a:t>inertia</a:t>
            </a:r>
          </a:p>
        </p:txBody>
      </p:sp>
      <p:sp>
        <p:nvSpPr>
          <p:cNvPr id="30" name="C4-E41 text 28" descr="sci-ppt:o028"/>
          <p:cNvSpPr txBox="1"/>
          <p:nvPr/>
        </p:nvSpPr>
        <p:spPr>
          <a:xfrm>
            <a:off x="7315200" y="1508760"/>
            <a:ext cx="4480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∫ m_A ẅ ẇ dA = dK_f/dt</a:t>
            </a:r>
          </a:p>
        </p:txBody>
      </p:sp>
      <p:sp>
        <p:nvSpPr>
          <p:cNvPr id="31" name="C4-E41 text 29" descr="sci-ppt:o029"/>
          <p:cNvSpPr txBox="1"/>
          <p:nvPr/>
        </p:nvSpPr>
        <p:spPr>
          <a:xfrm>
            <a:off x="6126480" y="2194560"/>
            <a:ext cx="1188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bending</a:t>
            </a:r>
          </a:p>
        </p:txBody>
      </p:sp>
      <p:sp>
        <p:nvSpPr>
          <p:cNvPr id="32" name="C4-E41 text 30" descr="sci-ppt:o030"/>
          <p:cNvSpPr txBox="1"/>
          <p:nvPr/>
        </p:nvSpPr>
        <p:spPr>
          <a:xfrm>
            <a:off x="7315200" y="2194560"/>
            <a:ext cx="4480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∫ D_f ∇⁴w ẇ dA = dU_b/dt</a:t>
            </a:r>
          </a:p>
        </p:txBody>
      </p:sp>
      <p:sp>
        <p:nvSpPr>
          <p:cNvPr id="33" name="C4-E41 text 31" descr="sci-ppt:o031"/>
          <p:cNvSpPr txBox="1"/>
          <p:nvPr/>
        </p:nvSpPr>
        <p:spPr>
          <a:xfrm>
            <a:off x="6126480" y="2880360"/>
            <a:ext cx="1188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8BA0"/>
                </a:solidFill>
                <a:latin typeface="Arial"/>
              </a:rPr>
              <a:t>tension</a:t>
            </a:r>
          </a:p>
        </p:txBody>
      </p:sp>
      <p:sp>
        <p:nvSpPr>
          <p:cNvPr id="34" name="C4-E41 text 32" descr="sci-ppt:o032"/>
          <p:cNvSpPr txBox="1"/>
          <p:nvPr/>
        </p:nvSpPr>
        <p:spPr>
          <a:xfrm>
            <a:off x="7315200" y="2880360"/>
            <a:ext cx="4480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−∫ T₀ ∇²w ẇ dA = dU_T/dt</a:t>
            </a:r>
          </a:p>
        </p:txBody>
      </p:sp>
      <p:sp>
        <p:nvSpPr>
          <p:cNvPr id="35" name="C4-E41 text 33" descr="sci-ppt:o033"/>
          <p:cNvSpPr txBox="1"/>
          <p:nvPr/>
        </p:nvSpPr>
        <p:spPr>
          <a:xfrm>
            <a:off x="6126480" y="3657600"/>
            <a:ext cx="5577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These identities need the fixed clamp: boundary power terms are zero.</a:t>
            </a:r>
          </a:p>
        </p:txBody>
      </p:sp>
      <p:sp>
        <p:nvSpPr>
          <p:cNvPr id="36" name="C4-E41 text 34" descr="sci-ppt:o034"/>
          <p:cNvSpPr txBox="1"/>
          <p:nvPr/>
        </p:nvSpPr>
        <p:spPr>
          <a:xfrm>
            <a:off x="6126480" y="4297680"/>
            <a:ext cx="55778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Reading: the film cannot gain energy except through the work of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load, minus what the cohesive layer takes.</a:t>
            </a:r>
          </a:p>
        </p:txBody>
      </p:sp>
      <p:sp>
        <p:nvSpPr>
          <p:cNvPr id="37" name="C4-E41 text 35" descr="sci-ppt:o03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Plate power identity of Eq. C4-E41; waterfall values are illustrative.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C4-E07 · Conditional coupled-sheet model</a:t>
            </a:r>
          </a:p>
        </p:txBody>
      </p:sp>
      <p:sp>
        <p:nvSpPr>
          <p:cNvPr id="3" name="C4-E07 round_rect 1" descr="sci-ppt:o001"/>
          <p:cNvSpPr/>
          <p:nvPr/>
        </p:nvSpPr>
        <p:spPr>
          <a:xfrm>
            <a:off x="457200" y="914400"/>
            <a:ext cx="6583680" cy="4846320"/>
          </a:xfrm>
          <a:prstGeom prst="roundRect">
            <a:avLst/>
          </a:prstGeom>
          <a:solidFill>
            <a:srgbClr val="1E4A5A"/>
          </a:solidFill>
          <a:ln w="1524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07 text 2" descr="sci-ppt:o002"/>
          <p:cNvSpPr txBox="1"/>
          <p:nvPr/>
        </p:nvSpPr>
        <p:spPr>
          <a:xfrm>
            <a:off x="594360" y="960120"/>
            <a:ext cx="630936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sheets in series</a:t>
            </a:r>
          </a:p>
        </p:txBody>
      </p:sp>
      <p:cxnSp>
        <p:nvCxnSpPr>
          <p:cNvPr id="5" name="C4-E07 arrow 3" descr="sci-ppt:o003"/>
          <p:cNvCxnSpPr/>
          <p:nvPr/>
        </p:nvCxnSpPr>
        <p:spPr>
          <a:xfrm>
            <a:off x="1828800" y="1737360"/>
            <a:ext cx="0" cy="777240"/>
          </a:xfrm>
          <a:prstGeom prst="line">
            <a:avLst/>
          </a:prstGeom>
          <a:ln w="508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4-E07 text 4" descr="sci-ppt:o004"/>
          <p:cNvSpPr txBox="1"/>
          <p:nvPr/>
        </p:nvSpPr>
        <p:spPr>
          <a:xfrm>
            <a:off x="1920240" y="1691640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p_liq from the liquid</a:t>
            </a:r>
          </a:p>
        </p:txBody>
      </p:sp>
      <p:sp>
        <p:nvSpPr>
          <p:cNvPr id="7" name="C4-E07 rect 5" descr="sci-ppt:o005"/>
          <p:cNvSpPr/>
          <p:nvPr/>
        </p:nvSpPr>
        <p:spPr>
          <a:xfrm>
            <a:off x="1097280" y="2560320"/>
            <a:ext cx="5120640" cy="274320"/>
          </a:xfrm>
          <a:prstGeom prst="rect">
            <a:avLst/>
          </a:prstGeom>
          <a:solidFill>
            <a:srgbClr val="3A5362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4-E07 text 6" descr="sci-ppt:o006"/>
          <p:cNvSpPr txBox="1"/>
          <p:nvPr/>
        </p:nvSpPr>
        <p:spPr>
          <a:xfrm>
            <a:off x="3566160" y="2240280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B4C7D2"/>
                </a:solidFill>
                <a:latin typeface="Arial"/>
              </a:rPr>
              <a:t>PVC sheet (P)</a:t>
            </a:r>
          </a:p>
        </p:txBody>
      </p:sp>
      <p:sp>
        <p:nvSpPr>
          <p:cNvPr id="9" name="C4-E07 polygon 7" descr="sci-ppt:o007"/>
          <p:cNvSpPr/>
          <p:nvPr/>
        </p:nvSpPr>
        <p:spPr>
          <a:xfrm>
            <a:off x="2651760" y="2834640"/>
            <a:ext cx="182880" cy="822960"/>
          </a:xfrm>
          <a:custGeom>
            <a:avLst/>
            <a:gdLst/>
            <a:ahLst/>
            <a:cxnLst/>
            <a:rect l="l" t="t" r="r" b="b"/>
            <a:pathLst>
              <a:path w="182880" h="822960">
                <a:moveTo>
                  <a:pt x="91440" y="0"/>
                </a:moveTo>
                <a:lnTo>
                  <a:pt x="91440" y="98755"/>
                </a:lnTo>
                <a:lnTo>
                  <a:pt x="0" y="124815"/>
                </a:lnTo>
                <a:lnTo>
                  <a:pt x="182880" y="176936"/>
                </a:lnTo>
                <a:lnTo>
                  <a:pt x="0" y="229057"/>
                </a:lnTo>
                <a:lnTo>
                  <a:pt x="182880" y="281178"/>
                </a:lnTo>
                <a:lnTo>
                  <a:pt x="0" y="333298"/>
                </a:lnTo>
                <a:lnTo>
                  <a:pt x="182880" y="385419"/>
                </a:lnTo>
                <a:lnTo>
                  <a:pt x="0" y="437540"/>
                </a:lnTo>
                <a:lnTo>
                  <a:pt x="182880" y="489661"/>
                </a:lnTo>
                <a:lnTo>
                  <a:pt x="0" y="541782"/>
                </a:lnTo>
                <a:lnTo>
                  <a:pt x="182880" y="593902"/>
                </a:lnTo>
                <a:lnTo>
                  <a:pt x="0" y="646023"/>
                </a:lnTo>
                <a:lnTo>
                  <a:pt x="182880" y="698144"/>
                </a:lnTo>
                <a:lnTo>
                  <a:pt x="91440" y="724204"/>
                </a:lnTo>
                <a:lnTo>
                  <a:pt x="91440" y="822960"/>
                </a:lnTo>
              </a:path>
            </a:pathLst>
          </a:custGeom>
          <a:noFill/>
          <a:ln w="254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4-E07 polygon 8" descr="sci-ppt:o008"/>
          <p:cNvSpPr/>
          <p:nvPr/>
        </p:nvSpPr>
        <p:spPr>
          <a:xfrm>
            <a:off x="4480560" y="2834640"/>
            <a:ext cx="182880" cy="822960"/>
          </a:xfrm>
          <a:custGeom>
            <a:avLst/>
            <a:gdLst/>
            <a:ahLst/>
            <a:cxnLst/>
            <a:rect l="l" t="t" r="r" b="b"/>
            <a:pathLst>
              <a:path w="182880" h="822960">
                <a:moveTo>
                  <a:pt x="91440" y="0"/>
                </a:moveTo>
                <a:lnTo>
                  <a:pt x="91440" y="98755"/>
                </a:lnTo>
                <a:lnTo>
                  <a:pt x="0" y="124815"/>
                </a:lnTo>
                <a:lnTo>
                  <a:pt x="182880" y="176936"/>
                </a:lnTo>
                <a:lnTo>
                  <a:pt x="0" y="229057"/>
                </a:lnTo>
                <a:lnTo>
                  <a:pt x="182880" y="281178"/>
                </a:lnTo>
                <a:lnTo>
                  <a:pt x="0" y="333298"/>
                </a:lnTo>
                <a:lnTo>
                  <a:pt x="182880" y="385419"/>
                </a:lnTo>
                <a:lnTo>
                  <a:pt x="0" y="437540"/>
                </a:lnTo>
                <a:lnTo>
                  <a:pt x="182880" y="489661"/>
                </a:lnTo>
                <a:lnTo>
                  <a:pt x="0" y="541782"/>
                </a:lnTo>
                <a:lnTo>
                  <a:pt x="182880" y="593902"/>
                </a:lnTo>
                <a:lnTo>
                  <a:pt x="0" y="646023"/>
                </a:lnTo>
                <a:lnTo>
                  <a:pt x="182880" y="698144"/>
                </a:lnTo>
                <a:lnTo>
                  <a:pt x="91440" y="724204"/>
                </a:lnTo>
                <a:lnTo>
                  <a:pt x="91440" y="822960"/>
                </a:lnTo>
              </a:path>
            </a:pathLst>
          </a:custGeom>
          <a:noFill/>
          <a:ln w="254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4-E07 text 9" descr="sci-ppt:o009"/>
          <p:cNvSpPr txBox="1"/>
          <p:nvPr/>
        </p:nvSpPr>
        <p:spPr>
          <a:xfrm>
            <a:off x="2926080" y="3108960"/>
            <a:ext cx="1828800" cy="38658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8EDBD4"/>
                </a:solidFill>
                <a:latin typeface="Arial"/>
              </a:rPr>
              <a:t>contact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8EDBD4"/>
                </a:solidFill>
                <a:latin typeface="Arial"/>
              </a:rPr>
              <a:t>load t_P→f</a:t>
            </a:r>
          </a:p>
        </p:txBody>
      </p:sp>
      <p:sp>
        <p:nvSpPr>
          <p:cNvPr id="12" name="C4-E07 rect 10" descr="sci-ppt:o010"/>
          <p:cNvSpPr/>
          <p:nvPr/>
        </p:nvSpPr>
        <p:spPr>
          <a:xfrm>
            <a:off x="1097280" y="3657600"/>
            <a:ext cx="5120640" cy="274320"/>
          </a:xfrm>
          <a:prstGeom prst="rect">
            <a:avLst/>
          </a:prstGeom>
          <a:solidFill>
            <a:srgbClr val="3A5362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4-E07 text 11" descr="sci-ppt:o011"/>
          <p:cNvSpPr txBox="1"/>
          <p:nvPr/>
        </p:nvSpPr>
        <p:spPr>
          <a:xfrm>
            <a:off x="1097280" y="4023360"/>
            <a:ext cx="1828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B4C7D2"/>
                </a:solidFill>
                <a:latin typeface="Arial"/>
              </a:rPr>
              <a:t>film (f)</a:t>
            </a:r>
          </a:p>
        </p:txBody>
      </p:sp>
      <p:cxnSp>
        <p:nvCxnSpPr>
          <p:cNvPr id="14" name="C4-E07 arrow 12" descr="sci-ppt:o012"/>
          <p:cNvCxnSpPr/>
          <p:nvPr/>
        </p:nvCxnSpPr>
        <p:spPr>
          <a:xfrm flipV="1">
            <a:off x="3657600" y="4023360"/>
            <a:ext cx="0" cy="731520"/>
          </a:xfrm>
          <a:prstGeom prst="line">
            <a:avLst/>
          </a:prstGeom>
          <a:ln w="4445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C4-E07 text 13" descr="sci-ppt:o013"/>
          <p:cNvSpPr txBox="1"/>
          <p:nvPr/>
        </p:nvSpPr>
        <p:spPr>
          <a:xfrm>
            <a:off x="3749039" y="4434840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t_coh (resists)</a:t>
            </a:r>
          </a:p>
        </p:txBody>
      </p:sp>
      <p:sp>
        <p:nvSpPr>
          <p:cNvPr id="16" name="C4-E07 text 14" descr="sci-ppt:o014"/>
          <p:cNvSpPr txBox="1"/>
          <p:nvPr/>
        </p:nvSpPr>
        <p:spPr>
          <a:xfrm>
            <a:off x="914400" y="5120640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The film sees t_P→f, not p_liq: the intermediate sheet filters the load.</a:t>
            </a:r>
          </a:p>
        </p:txBody>
      </p:sp>
      <p:sp>
        <p:nvSpPr>
          <p:cNvPr id="17" name="C4-E07 round_rect 15" descr="sci-ppt:o015"/>
          <p:cNvSpPr/>
          <p:nvPr/>
        </p:nvSpPr>
        <p:spPr>
          <a:xfrm>
            <a:off x="7223760" y="914400"/>
            <a:ext cx="461772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4-E07 text 16" descr="sci-ppt:o016"/>
          <p:cNvSpPr txBox="1"/>
          <p:nvPr/>
        </p:nvSpPr>
        <p:spPr>
          <a:xfrm>
            <a:off x="7333488" y="969264"/>
            <a:ext cx="4398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coupled plate equations</a:t>
            </a:r>
          </a:p>
        </p:txBody>
      </p:sp>
      <p:sp>
        <p:nvSpPr>
          <p:cNvPr id="19" name="C4-E07 text 17" descr="sci-ppt:o017"/>
          <p:cNvSpPr txBox="1"/>
          <p:nvPr/>
        </p:nvSpPr>
        <p:spPr>
          <a:xfrm>
            <a:off x="7360920" y="1417320"/>
            <a:ext cx="43891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m_A,P ẅ_P + D_P∇⁴w_P − T_P∇²w_P = p_liq − t_P→f</a:t>
            </a:r>
          </a:p>
        </p:txBody>
      </p:sp>
      <p:sp>
        <p:nvSpPr>
          <p:cNvPr id="20" name="C4-E07 text 18" descr="sci-ppt:o018"/>
          <p:cNvSpPr txBox="1"/>
          <p:nvPr/>
        </p:nvSpPr>
        <p:spPr>
          <a:xfrm>
            <a:off x="7360920" y="2331720"/>
            <a:ext cx="43891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m_A ẅ + D_f∇⁴w − T₀∇²w = t_P→f − t_coh</a:t>
            </a:r>
          </a:p>
        </p:txBody>
      </p:sp>
      <p:sp>
        <p:nvSpPr>
          <p:cNvPr id="21" name="C4-E07 text 19" descr="sci-ppt:o019"/>
          <p:cNvSpPr txBox="1"/>
          <p:nvPr/>
        </p:nvSpPr>
        <p:spPr>
          <a:xfrm>
            <a:off x="7360920" y="3200400"/>
            <a:ext cx="43891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same t_P→f is a loss for P and a load for f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(Newton third law).</a:t>
            </a:r>
          </a:p>
        </p:txBody>
      </p:sp>
      <p:sp>
        <p:nvSpPr>
          <p:cNvPr id="22" name="C4-E07 text 20" descr="sci-ppt:o020"/>
          <p:cNvSpPr txBox="1"/>
          <p:nvPr/>
        </p:nvSpPr>
        <p:spPr>
          <a:xfrm>
            <a:off x="7360920" y="4023360"/>
            <a:ext cx="43891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Conditional: valid only while the sheets stay in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contact; t_P→f itself needs a contact law.</a:t>
            </a:r>
          </a:p>
        </p:txBody>
      </p:sp>
      <p:sp>
        <p:nvSpPr>
          <p:cNvPr id="23" name="C4-E07 text 21" descr="sci-ppt:o02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Coupled-sheet model of Eq. C4-E07; schematic.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C4-E08 · Exact time integral within the reduced plate model</a:t>
            </a:r>
          </a:p>
        </p:txBody>
      </p:sp>
      <p:cxnSp>
        <p:nvCxnSpPr>
          <p:cNvPr id="3" name="C4-E08 line 1" descr="sci-ppt:o001"/>
          <p:cNvCxnSpPr/>
          <p:nvPr/>
        </p:nvCxnSpPr>
        <p:spPr>
          <a:xfrm>
            <a:off x="914400" y="466344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08 line 2" descr="sci-ppt:o002"/>
          <p:cNvCxnSpPr/>
          <p:nvPr/>
        </p:nvCxnSpPr>
        <p:spPr>
          <a:xfrm>
            <a:off x="914400" y="1371600"/>
            <a:ext cx="0" cy="32918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08 line 3" descr="sci-ppt:o003"/>
          <p:cNvCxnSpPr/>
          <p:nvPr/>
        </p:nvCxnSpPr>
        <p:spPr>
          <a:xfrm>
            <a:off x="91440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08 line 4" descr="sci-ppt:o004"/>
          <p:cNvCxnSpPr/>
          <p:nvPr/>
        </p:nvCxnSpPr>
        <p:spPr>
          <a:xfrm>
            <a:off x="91440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08 text 5" descr="sci-ppt:o005"/>
          <p:cNvSpPr txBox="1"/>
          <p:nvPr/>
        </p:nvSpPr>
        <p:spPr>
          <a:xfrm>
            <a:off x="45720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4-E08 line 6" descr="sci-ppt:o006"/>
          <p:cNvCxnSpPr/>
          <p:nvPr/>
        </p:nvCxnSpPr>
        <p:spPr>
          <a:xfrm>
            <a:off x="237744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08 line 7" descr="sci-ppt:o007"/>
          <p:cNvCxnSpPr/>
          <p:nvPr/>
        </p:nvCxnSpPr>
        <p:spPr>
          <a:xfrm>
            <a:off x="237744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08 text 8" descr="sci-ppt:o008"/>
          <p:cNvSpPr txBox="1"/>
          <p:nvPr/>
        </p:nvSpPr>
        <p:spPr>
          <a:xfrm>
            <a:off x="192024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1" name="C4-E08 line 9" descr="sci-ppt:o009"/>
          <p:cNvCxnSpPr/>
          <p:nvPr/>
        </p:nvCxnSpPr>
        <p:spPr>
          <a:xfrm>
            <a:off x="384048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08 line 10" descr="sci-ppt:o010"/>
          <p:cNvCxnSpPr/>
          <p:nvPr/>
        </p:nvCxnSpPr>
        <p:spPr>
          <a:xfrm>
            <a:off x="384048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08 text 11" descr="sci-ppt:o011"/>
          <p:cNvSpPr txBox="1"/>
          <p:nvPr/>
        </p:nvSpPr>
        <p:spPr>
          <a:xfrm>
            <a:off x="338328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14" name="C4-E08 line 12" descr="sci-ppt:o012"/>
          <p:cNvCxnSpPr/>
          <p:nvPr/>
        </p:nvCxnSpPr>
        <p:spPr>
          <a:xfrm>
            <a:off x="530352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08 line 13" descr="sci-ppt:o013"/>
          <p:cNvCxnSpPr/>
          <p:nvPr/>
        </p:nvCxnSpPr>
        <p:spPr>
          <a:xfrm>
            <a:off x="530352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08 text 14" descr="sci-ppt:o014"/>
          <p:cNvSpPr txBox="1"/>
          <p:nvPr/>
        </p:nvSpPr>
        <p:spPr>
          <a:xfrm>
            <a:off x="484632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cxnSp>
        <p:nvCxnSpPr>
          <p:cNvPr id="17" name="C4-E08 line 15" descr="sci-ppt:o015"/>
          <p:cNvCxnSpPr/>
          <p:nvPr/>
        </p:nvCxnSpPr>
        <p:spPr>
          <a:xfrm>
            <a:off x="676656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08 line 16" descr="sci-ppt:o016"/>
          <p:cNvCxnSpPr/>
          <p:nvPr/>
        </p:nvCxnSpPr>
        <p:spPr>
          <a:xfrm>
            <a:off x="676656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08 text 17" descr="sci-ppt:o017"/>
          <p:cNvSpPr txBox="1"/>
          <p:nvPr/>
        </p:nvSpPr>
        <p:spPr>
          <a:xfrm>
            <a:off x="630936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20" name="C4-E08 line 18" descr="sci-ppt:o018"/>
          <p:cNvCxnSpPr/>
          <p:nvPr/>
        </p:nvCxnSpPr>
        <p:spPr>
          <a:xfrm>
            <a:off x="850392" y="46634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08 line 19" descr="sci-ppt:o019"/>
          <p:cNvCxnSpPr/>
          <p:nvPr/>
        </p:nvCxnSpPr>
        <p:spPr>
          <a:xfrm>
            <a:off x="850392" y="32918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08 line 20" descr="sci-ppt:o020"/>
          <p:cNvCxnSpPr/>
          <p:nvPr/>
        </p:nvCxnSpPr>
        <p:spPr>
          <a:xfrm>
            <a:off x="914400" y="3291839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4-E08 text 21" descr="sci-ppt:o021"/>
          <p:cNvSpPr txBox="1"/>
          <p:nvPr/>
        </p:nvSpPr>
        <p:spPr>
          <a:xfrm>
            <a:off x="45720" y="32095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4" name="C4-E08 line 22" descr="sci-ppt:o022"/>
          <p:cNvCxnSpPr/>
          <p:nvPr/>
        </p:nvCxnSpPr>
        <p:spPr>
          <a:xfrm>
            <a:off x="850392" y="19202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08 line 23" descr="sci-ppt:o023"/>
          <p:cNvCxnSpPr/>
          <p:nvPr/>
        </p:nvCxnSpPr>
        <p:spPr>
          <a:xfrm>
            <a:off x="914400" y="1920239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08 text 24" descr="sci-ppt:o024"/>
          <p:cNvSpPr txBox="1"/>
          <p:nvPr/>
        </p:nvSpPr>
        <p:spPr>
          <a:xfrm>
            <a:off x="45720" y="183794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7" name="C4-E08 text 25" descr="sci-ppt:o025"/>
          <p:cNvSpPr txBox="1"/>
          <p:nvPr/>
        </p:nvSpPr>
        <p:spPr>
          <a:xfrm>
            <a:off x="914400" y="4946903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time (ns)</a:t>
            </a:r>
          </a:p>
        </p:txBody>
      </p:sp>
      <p:sp>
        <p:nvSpPr>
          <p:cNvPr id="28" name="C4-E08 text 26" descr="sci-ppt:o026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pressure / reaction (rel.)</a:t>
            </a:r>
          </a:p>
        </p:txBody>
      </p:sp>
      <p:sp>
        <p:nvSpPr>
          <p:cNvPr id="29" name="C4-E08 polygon 27" descr="sci-ppt:o027"/>
          <p:cNvSpPr/>
          <p:nvPr/>
        </p:nvSpPr>
        <p:spPr>
          <a:xfrm>
            <a:off x="914400" y="1920239"/>
            <a:ext cx="5852160" cy="2743201"/>
          </a:xfrm>
          <a:custGeom>
            <a:avLst/>
            <a:gdLst/>
            <a:ahLst/>
            <a:cxnLst/>
            <a:rect l="l" t="t" r="r" b="b"/>
            <a:pathLst>
              <a:path w="5852160" h="2743201">
                <a:moveTo>
                  <a:pt x="0" y="0"/>
                </a:moveTo>
                <a:lnTo>
                  <a:pt x="14667" y="0"/>
                </a:lnTo>
                <a:lnTo>
                  <a:pt x="29334" y="0"/>
                </a:lnTo>
                <a:lnTo>
                  <a:pt x="44001" y="0"/>
                </a:lnTo>
                <a:lnTo>
                  <a:pt x="58668" y="0"/>
                </a:lnTo>
                <a:lnTo>
                  <a:pt x="73335" y="0"/>
                </a:lnTo>
                <a:lnTo>
                  <a:pt x="88002" y="0"/>
                </a:lnTo>
                <a:lnTo>
                  <a:pt x="102669" y="0"/>
                </a:lnTo>
                <a:lnTo>
                  <a:pt x="117336" y="0"/>
                </a:lnTo>
                <a:lnTo>
                  <a:pt x="132003" y="0"/>
                </a:lnTo>
                <a:lnTo>
                  <a:pt x="146670" y="0"/>
                </a:lnTo>
                <a:lnTo>
                  <a:pt x="161337" y="0"/>
                </a:lnTo>
                <a:lnTo>
                  <a:pt x="176004" y="0"/>
                </a:lnTo>
                <a:lnTo>
                  <a:pt x="190671" y="0"/>
                </a:lnTo>
                <a:lnTo>
                  <a:pt x="205338" y="0"/>
                </a:lnTo>
                <a:lnTo>
                  <a:pt x="220006" y="0"/>
                </a:lnTo>
                <a:lnTo>
                  <a:pt x="234673" y="0"/>
                </a:lnTo>
                <a:lnTo>
                  <a:pt x="249340" y="0"/>
                </a:lnTo>
                <a:lnTo>
                  <a:pt x="264007" y="0"/>
                </a:lnTo>
                <a:lnTo>
                  <a:pt x="278674" y="0"/>
                </a:lnTo>
                <a:lnTo>
                  <a:pt x="293341" y="0"/>
                </a:lnTo>
                <a:lnTo>
                  <a:pt x="308008" y="0"/>
                </a:lnTo>
                <a:lnTo>
                  <a:pt x="322675" y="0"/>
                </a:lnTo>
                <a:lnTo>
                  <a:pt x="337342" y="0"/>
                </a:lnTo>
                <a:lnTo>
                  <a:pt x="352009" y="0"/>
                </a:lnTo>
                <a:lnTo>
                  <a:pt x="366676" y="0"/>
                </a:lnTo>
                <a:lnTo>
                  <a:pt x="381343" y="0"/>
                </a:lnTo>
                <a:lnTo>
                  <a:pt x="396010" y="0"/>
                </a:lnTo>
                <a:lnTo>
                  <a:pt x="410677" y="0"/>
                </a:lnTo>
                <a:lnTo>
                  <a:pt x="425344" y="0"/>
                </a:lnTo>
                <a:lnTo>
                  <a:pt x="440012" y="0"/>
                </a:lnTo>
                <a:lnTo>
                  <a:pt x="454679" y="0"/>
                </a:lnTo>
                <a:lnTo>
                  <a:pt x="469346" y="0"/>
                </a:lnTo>
                <a:lnTo>
                  <a:pt x="484013" y="0"/>
                </a:lnTo>
                <a:lnTo>
                  <a:pt x="498680" y="0"/>
                </a:lnTo>
                <a:lnTo>
                  <a:pt x="513347" y="0"/>
                </a:lnTo>
                <a:lnTo>
                  <a:pt x="528014" y="0"/>
                </a:lnTo>
                <a:lnTo>
                  <a:pt x="542681" y="0"/>
                </a:lnTo>
                <a:lnTo>
                  <a:pt x="557348" y="0"/>
                </a:lnTo>
                <a:lnTo>
                  <a:pt x="572015" y="0"/>
                </a:lnTo>
                <a:lnTo>
                  <a:pt x="586682" y="0"/>
                </a:lnTo>
                <a:lnTo>
                  <a:pt x="601349" y="0"/>
                </a:lnTo>
                <a:lnTo>
                  <a:pt x="616016" y="0"/>
                </a:lnTo>
                <a:lnTo>
                  <a:pt x="630683" y="0"/>
                </a:lnTo>
                <a:lnTo>
                  <a:pt x="645350" y="0"/>
                </a:lnTo>
                <a:lnTo>
                  <a:pt x="660018" y="0"/>
                </a:lnTo>
                <a:lnTo>
                  <a:pt x="674685" y="0"/>
                </a:lnTo>
                <a:lnTo>
                  <a:pt x="689352" y="0"/>
                </a:lnTo>
                <a:lnTo>
                  <a:pt x="704019" y="0"/>
                </a:lnTo>
                <a:lnTo>
                  <a:pt x="718686" y="0"/>
                </a:lnTo>
                <a:lnTo>
                  <a:pt x="733353" y="0"/>
                </a:lnTo>
                <a:lnTo>
                  <a:pt x="748020" y="0"/>
                </a:lnTo>
                <a:lnTo>
                  <a:pt x="762687" y="0"/>
                </a:lnTo>
                <a:lnTo>
                  <a:pt x="777354" y="0"/>
                </a:lnTo>
                <a:lnTo>
                  <a:pt x="792021" y="0"/>
                </a:lnTo>
                <a:lnTo>
                  <a:pt x="806688" y="0"/>
                </a:lnTo>
                <a:lnTo>
                  <a:pt x="821355" y="0"/>
                </a:lnTo>
                <a:lnTo>
                  <a:pt x="836022" y="0"/>
                </a:lnTo>
                <a:lnTo>
                  <a:pt x="850689" y="0"/>
                </a:lnTo>
                <a:lnTo>
                  <a:pt x="865356" y="0"/>
                </a:lnTo>
                <a:lnTo>
                  <a:pt x="880024" y="0"/>
                </a:lnTo>
                <a:lnTo>
                  <a:pt x="894691" y="0"/>
                </a:lnTo>
                <a:lnTo>
                  <a:pt x="909358" y="0"/>
                </a:lnTo>
                <a:lnTo>
                  <a:pt x="924025" y="0"/>
                </a:lnTo>
                <a:lnTo>
                  <a:pt x="938692" y="0"/>
                </a:lnTo>
                <a:lnTo>
                  <a:pt x="953359" y="0"/>
                </a:lnTo>
                <a:lnTo>
                  <a:pt x="968026" y="0"/>
                </a:lnTo>
                <a:lnTo>
                  <a:pt x="982693" y="0"/>
                </a:lnTo>
                <a:lnTo>
                  <a:pt x="997360" y="0"/>
                </a:lnTo>
                <a:lnTo>
                  <a:pt x="1012027" y="0"/>
                </a:lnTo>
                <a:lnTo>
                  <a:pt x="1026694" y="0"/>
                </a:lnTo>
                <a:lnTo>
                  <a:pt x="1041361" y="0"/>
                </a:lnTo>
                <a:lnTo>
                  <a:pt x="1056028" y="0"/>
                </a:lnTo>
                <a:lnTo>
                  <a:pt x="1070695" y="0"/>
                </a:lnTo>
                <a:lnTo>
                  <a:pt x="1085363" y="0"/>
                </a:lnTo>
                <a:lnTo>
                  <a:pt x="1100030" y="0"/>
                </a:lnTo>
                <a:lnTo>
                  <a:pt x="1114697" y="0"/>
                </a:lnTo>
                <a:lnTo>
                  <a:pt x="1129364" y="0"/>
                </a:lnTo>
                <a:lnTo>
                  <a:pt x="1144031" y="0"/>
                </a:lnTo>
                <a:lnTo>
                  <a:pt x="1158698" y="0"/>
                </a:lnTo>
                <a:lnTo>
                  <a:pt x="1173365" y="0"/>
                </a:lnTo>
                <a:lnTo>
                  <a:pt x="1188032" y="0"/>
                </a:lnTo>
                <a:lnTo>
                  <a:pt x="1202699" y="0"/>
                </a:lnTo>
                <a:lnTo>
                  <a:pt x="1217366" y="0"/>
                </a:lnTo>
                <a:lnTo>
                  <a:pt x="1232033" y="0"/>
                </a:lnTo>
                <a:lnTo>
                  <a:pt x="1246700" y="0"/>
                </a:lnTo>
                <a:lnTo>
                  <a:pt x="1261367" y="0"/>
                </a:lnTo>
                <a:lnTo>
                  <a:pt x="1276034" y="0"/>
                </a:lnTo>
                <a:lnTo>
                  <a:pt x="1290701" y="0"/>
                </a:lnTo>
                <a:lnTo>
                  <a:pt x="1305369" y="0"/>
                </a:lnTo>
                <a:lnTo>
                  <a:pt x="1320036" y="0"/>
                </a:lnTo>
                <a:lnTo>
                  <a:pt x="1334703" y="0"/>
                </a:lnTo>
                <a:lnTo>
                  <a:pt x="1349370" y="0"/>
                </a:lnTo>
                <a:lnTo>
                  <a:pt x="1364037" y="0"/>
                </a:lnTo>
                <a:lnTo>
                  <a:pt x="1378704" y="0"/>
                </a:lnTo>
                <a:lnTo>
                  <a:pt x="1393371" y="0"/>
                </a:lnTo>
                <a:lnTo>
                  <a:pt x="1408038" y="0"/>
                </a:lnTo>
                <a:lnTo>
                  <a:pt x="1422705" y="0"/>
                </a:lnTo>
                <a:lnTo>
                  <a:pt x="1437372" y="0"/>
                </a:lnTo>
                <a:lnTo>
                  <a:pt x="1452039" y="0"/>
                </a:lnTo>
                <a:lnTo>
                  <a:pt x="1466706" y="0"/>
                </a:lnTo>
                <a:lnTo>
                  <a:pt x="1481373" y="0"/>
                </a:lnTo>
                <a:lnTo>
                  <a:pt x="1496040" y="0"/>
                </a:lnTo>
                <a:lnTo>
                  <a:pt x="1510707" y="0"/>
                </a:lnTo>
                <a:lnTo>
                  <a:pt x="1525375" y="0"/>
                </a:lnTo>
                <a:lnTo>
                  <a:pt x="1540042" y="0"/>
                </a:lnTo>
                <a:lnTo>
                  <a:pt x="1554709" y="0"/>
                </a:lnTo>
                <a:lnTo>
                  <a:pt x="1569376" y="0"/>
                </a:lnTo>
                <a:lnTo>
                  <a:pt x="1584043" y="0"/>
                </a:lnTo>
                <a:lnTo>
                  <a:pt x="1598710" y="0"/>
                </a:lnTo>
                <a:lnTo>
                  <a:pt x="1613377" y="0"/>
                </a:lnTo>
                <a:lnTo>
                  <a:pt x="1628044" y="0"/>
                </a:lnTo>
                <a:lnTo>
                  <a:pt x="1642711" y="0"/>
                </a:lnTo>
                <a:lnTo>
                  <a:pt x="1657378" y="0"/>
                </a:lnTo>
                <a:lnTo>
                  <a:pt x="1672045" y="0"/>
                </a:lnTo>
                <a:lnTo>
                  <a:pt x="1686712" y="0"/>
                </a:lnTo>
                <a:lnTo>
                  <a:pt x="1701379" y="0"/>
                </a:lnTo>
                <a:lnTo>
                  <a:pt x="1716046" y="0"/>
                </a:lnTo>
                <a:lnTo>
                  <a:pt x="1730713" y="0"/>
                </a:lnTo>
                <a:lnTo>
                  <a:pt x="1745381" y="0"/>
                </a:lnTo>
                <a:lnTo>
                  <a:pt x="1760048" y="0"/>
                </a:lnTo>
                <a:lnTo>
                  <a:pt x="1774715" y="0"/>
                </a:lnTo>
                <a:lnTo>
                  <a:pt x="1789382" y="0"/>
                </a:lnTo>
                <a:lnTo>
                  <a:pt x="1804049" y="0"/>
                </a:lnTo>
                <a:lnTo>
                  <a:pt x="1818716" y="0"/>
                </a:lnTo>
                <a:lnTo>
                  <a:pt x="1833383" y="0"/>
                </a:lnTo>
                <a:lnTo>
                  <a:pt x="1848050" y="0"/>
                </a:lnTo>
                <a:lnTo>
                  <a:pt x="1862717" y="0"/>
                </a:lnTo>
                <a:lnTo>
                  <a:pt x="1877384" y="0"/>
                </a:lnTo>
                <a:lnTo>
                  <a:pt x="1892051" y="0"/>
                </a:lnTo>
                <a:lnTo>
                  <a:pt x="1906718" y="0"/>
                </a:lnTo>
                <a:lnTo>
                  <a:pt x="1921385" y="0"/>
                </a:lnTo>
                <a:lnTo>
                  <a:pt x="1936052" y="0"/>
                </a:lnTo>
                <a:lnTo>
                  <a:pt x="1950720" y="0"/>
                </a:lnTo>
                <a:lnTo>
                  <a:pt x="1965387" y="0"/>
                </a:lnTo>
                <a:lnTo>
                  <a:pt x="1980054" y="0"/>
                </a:lnTo>
                <a:lnTo>
                  <a:pt x="1994721" y="0"/>
                </a:lnTo>
                <a:lnTo>
                  <a:pt x="2009388" y="0"/>
                </a:lnTo>
                <a:lnTo>
                  <a:pt x="2024055" y="0"/>
                </a:lnTo>
                <a:lnTo>
                  <a:pt x="2038722" y="0"/>
                </a:lnTo>
                <a:lnTo>
                  <a:pt x="2053389" y="0"/>
                </a:lnTo>
                <a:lnTo>
                  <a:pt x="2068056" y="0"/>
                </a:lnTo>
                <a:lnTo>
                  <a:pt x="2082723" y="0"/>
                </a:lnTo>
                <a:lnTo>
                  <a:pt x="2097390" y="0"/>
                </a:lnTo>
                <a:lnTo>
                  <a:pt x="2112057" y="0"/>
                </a:lnTo>
                <a:lnTo>
                  <a:pt x="2126724" y="0"/>
                </a:lnTo>
                <a:lnTo>
                  <a:pt x="2141391" y="0"/>
                </a:lnTo>
                <a:lnTo>
                  <a:pt x="2156058" y="0"/>
                </a:lnTo>
                <a:lnTo>
                  <a:pt x="2170726" y="0"/>
                </a:lnTo>
                <a:lnTo>
                  <a:pt x="2185393" y="0"/>
                </a:lnTo>
                <a:lnTo>
                  <a:pt x="2200060" y="0"/>
                </a:lnTo>
                <a:lnTo>
                  <a:pt x="2214727" y="0"/>
                </a:lnTo>
                <a:lnTo>
                  <a:pt x="2229394" y="0"/>
                </a:lnTo>
                <a:lnTo>
                  <a:pt x="2244061" y="0"/>
                </a:lnTo>
                <a:lnTo>
                  <a:pt x="2258728" y="0"/>
                </a:lnTo>
                <a:lnTo>
                  <a:pt x="2273395" y="0"/>
                </a:lnTo>
                <a:lnTo>
                  <a:pt x="2288062" y="0"/>
                </a:lnTo>
                <a:lnTo>
                  <a:pt x="2302729" y="0"/>
                </a:lnTo>
                <a:lnTo>
                  <a:pt x="2317396" y="0"/>
                </a:lnTo>
                <a:lnTo>
                  <a:pt x="2332063" y="0"/>
                </a:lnTo>
                <a:lnTo>
                  <a:pt x="2346730" y="0"/>
                </a:lnTo>
                <a:lnTo>
                  <a:pt x="2361397" y="0"/>
                </a:lnTo>
                <a:lnTo>
                  <a:pt x="2376064" y="0"/>
                </a:lnTo>
                <a:lnTo>
                  <a:pt x="2390732" y="0"/>
                </a:lnTo>
                <a:lnTo>
                  <a:pt x="2405399" y="0"/>
                </a:lnTo>
                <a:lnTo>
                  <a:pt x="2420066" y="0"/>
                </a:lnTo>
                <a:lnTo>
                  <a:pt x="2434733" y="0"/>
                </a:lnTo>
                <a:lnTo>
                  <a:pt x="2449400" y="0"/>
                </a:lnTo>
                <a:lnTo>
                  <a:pt x="2464067" y="0"/>
                </a:lnTo>
                <a:lnTo>
                  <a:pt x="2478734" y="0"/>
                </a:lnTo>
                <a:lnTo>
                  <a:pt x="2493401" y="0"/>
                </a:lnTo>
                <a:lnTo>
                  <a:pt x="2508068" y="0"/>
                </a:lnTo>
                <a:lnTo>
                  <a:pt x="2522735" y="0"/>
                </a:lnTo>
                <a:lnTo>
                  <a:pt x="2537402" y="0"/>
                </a:lnTo>
                <a:lnTo>
                  <a:pt x="2552069" y="0"/>
                </a:lnTo>
                <a:lnTo>
                  <a:pt x="2566736" y="0"/>
                </a:lnTo>
                <a:lnTo>
                  <a:pt x="2581403" y="0"/>
                </a:lnTo>
                <a:lnTo>
                  <a:pt x="2596070" y="0"/>
                </a:lnTo>
                <a:lnTo>
                  <a:pt x="2610738" y="0"/>
                </a:lnTo>
                <a:lnTo>
                  <a:pt x="2625405" y="0"/>
                </a:lnTo>
                <a:lnTo>
                  <a:pt x="2640072" y="0"/>
                </a:lnTo>
                <a:lnTo>
                  <a:pt x="2654739" y="0"/>
                </a:lnTo>
                <a:lnTo>
                  <a:pt x="2669406" y="0"/>
                </a:lnTo>
                <a:lnTo>
                  <a:pt x="2684073" y="0"/>
                </a:lnTo>
                <a:lnTo>
                  <a:pt x="2698740" y="0"/>
                </a:lnTo>
                <a:lnTo>
                  <a:pt x="2713407" y="0"/>
                </a:lnTo>
                <a:lnTo>
                  <a:pt x="2728074" y="0"/>
                </a:lnTo>
                <a:lnTo>
                  <a:pt x="2742741" y="0"/>
                </a:lnTo>
                <a:lnTo>
                  <a:pt x="2757408" y="0"/>
                </a:lnTo>
                <a:lnTo>
                  <a:pt x="2772075" y="0"/>
                </a:lnTo>
                <a:lnTo>
                  <a:pt x="2786742" y="0"/>
                </a:lnTo>
                <a:lnTo>
                  <a:pt x="2801409" y="0"/>
                </a:lnTo>
                <a:lnTo>
                  <a:pt x="2816076" y="0"/>
                </a:lnTo>
                <a:lnTo>
                  <a:pt x="2830744" y="0"/>
                </a:lnTo>
                <a:lnTo>
                  <a:pt x="2845411" y="0"/>
                </a:lnTo>
                <a:lnTo>
                  <a:pt x="2860078" y="0"/>
                </a:lnTo>
                <a:lnTo>
                  <a:pt x="2874745" y="0"/>
                </a:lnTo>
                <a:lnTo>
                  <a:pt x="2889412" y="0"/>
                </a:lnTo>
                <a:lnTo>
                  <a:pt x="2904079" y="0"/>
                </a:lnTo>
                <a:lnTo>
                  <a:pt x="2918746" y="0"/>
                </a:lnTo>
                <a:lnTo>
                  <a:pt x="2933413" y="0"/>
                </a:lnTo>
                <a:lnTo>
                  <a:pt x="2948080" y="0"/>
                </a:lnTo>
                <a:lnTo>
                  <a:pt x="2962747" y="0"/>
                </a:lnTo>
                <a:lnTo>
                  <a:pt x="2977414" y="0"/>
                </a:lnTo>
                <a:lnTo>
                  <a:pt x="2992081" y="0"/>
                </a:lnTo>
                <a:lnTo>
                  <a:pt x="3006748" y="0"/>
                </a:lnTo>
                <a:lnTo>
                  <a:pt x="3021415" y="0"/>
                </a:lnTo>
                <a:lnTo>
                  <a:pt x="3036083" y="0"/>
                </a:lnTo>
                <a:lnTo>
                  <a:pt x="3050750" y="0"/>
                </a:lnTo>
                <a:lnTo>
                  <a:pt x="3065417" y="0"/>
                </a:lnTo>
                <a:lnTo>
                  <a:pt x="3080084" y="0"/>
                </a:lnTo>
                <a:lnTo>
                  <a:pt x="3094751" y="0"/>
                </a:lnTo>
                <a:lnTo>
                  <a:pt x="3109418" y="0"/>
                </a:lnTo>
                <a:lnTo>
                  <a:pt x="3124085" y="0"/>
                </a:lnTo>
                <a:lnTo>
                  <a:pt x="3138752" y="0"/>
                </a:lnTo>
                <a:lnTo>
                  <a:pt x="3153419" y="0"/>
                </a:lnTo>
                <a:lnTo>
                  <a:pt x="3168086" y="0"/>
                </a:lnTo>
                <a:lnTo>
                  <a:pt x="3182753" y="0"/>
                </a:lnTo>
                <a:lnTo>
                  <a:pt x="3197420" y="0"/>
                </a:lnTo>
                <a:lnTo>
                  <a:pt x="3212087" y="0"/>
                </a:lnTo>
                <a:lnTo>
                  <a:pt x="3226754" y="0"/>
                </a:lnTo>
                <a:lnTo>
                  <a:pt x="3241421" y="0"/>
                </a:lnTo>
                <a:lnTo>
                  <a:pt x="3256089" y="0"/>
                </a:lnTo>
                <a:lnTo>
                  <a:pt x="3270756" y="0"/>
                </a:lnTo>
                <a:lnTo>
                  <a:pt x="3285423" y="0"/>
                </a:lnTo>
                <a:lnTo>
                  <a:pt x="3300090" y="0"/>
                </a:lnTo>
                <a:lnTo>
                  <a:pt x="3314757" y="0"/>
                </a:lnTo>
                <a:lnTo>
                  <a:pt x="3329424" y="0"/>
                </a:lnTo>
                <a:lnTo>
                  <a:pt x="3344091" y="0"/>
                </a:lnTo>
                <a:lnTo>
                  <a:pt x="3358758" y="0"/>
                </a:lnTo>
                <a:lnTo>
                  <a:pt x="3373425" y="0"/>
                </a:lnTo>
                <a:lnTo>
                  <a:pt x="3388092" y="0"/>
                </a:lnTo>
                <a:lnTo>
                  <a:pt x="3402759" y="0"/>
                </a:lnTo>
                <a:lnTo>
                  <a:pt x="3417426" y="0"/>
                </a:lnTo>
                <a:lnTo>
                  <a:pt x="3432093" y="0"/>
                </a:lnTo>
                <a:lnTo>
                  <a:pt x="3446760" y="0"/>
                </a:lnTo>
                <a:lnTo>
                  <a:pt x="3461427" y="0"/>
                </a:lnTo>
                <a:lnTo>
                  <a:pt x="3476095" y="0"/>
                </a:lnTo>
                <a:lnTo>
                  <a:pt x="3490762" y="0"/>
                </a:lnTo>
                <a:lnTo>
                  <a:pt x="3505429" y="0"/>
                </a:lnTo>
                <a:lnTo>
                  <a:pt x="3520096" y="0"/>
                </a:lnTo>
                <a:lnTo>
                  <a:pt x="3534763" y="0"/>
                </a:lnTo>
                <a:lnTo>
                  <a:pt x="3549430" y="0"/>
                </a:lnTo>
                <a:lnTo>
                  <a:pt x="3564097" y="0"/>
                </a:lnTo>
                <a:lnTo>
                  <a:pt x="3578764" y="0"/>
                </a:lnTo>
                <a:lnTo>
                  <a:pt x="3593431" y="0"/>
                </a:lnTo>
                <a:lnTo>
                  <a:pt x="3608098" y="0"/>
                </a:lnTo>
                <a:lnTo>
                  <a:pt x="3622765" y="0"/>
                </a:lnTo>
                <a:lnTo>
                  <a:pt x="3637432" y="0"/>
                </a:lnTo>
                <a:lnTo>
                  <a:pt x="3652099" y="0"/>
                </a:lnTo>
                <a:lnTo>
                  <a:pt x="3666766" y="0"/>
                </a:lnTo>
                <a:lnTo>
                  <a:pt x="3681433" y="0"/>
                </a:lnTo>
                <a:lnTo>
                  <a:pt x="3696101" y="0"/>
                </a:lnTo>
                <a:lnTo>
                  <a:pt x="3710768" y="0"/>
                </a:lnTo>
                <a:lnTo>
                  <a:pt x="3725435" y="0"/>
                </a:lnTo>
                <a:lnTo>
                  <a:pt x="3740102" y="0"/>
                </a:lnTo>
                <a:lnTo>
                  <a:pt x="3754769" y="0"/>
                </a:lnTo>
                <a:lnTo>
                  <a:pt x="3769436" y="0"/>
                </a:lnTo>
                <a:lnTo>
                  <a:pt x="3784103" y="0"/>
                </a:lnTo>
                <a:lnTo>
                  <a:pt x="3798770" y="0"/>
                </a:lnTo>
                <a:lnTo>
                  <a:pt x="3813437" y="0"/>
                </a:lnTo>
                <a:lnTo>
                  <a:pt x="3828104" y="0"/>
                </a:lnTo>
                <a:lnTo>
                  <a:pt x="3842771" y="0"/>
                </a:lnTo>
                <a:lnTo>
                  <a:pt x="3857438" y="0"/>
                </a:lnTo>
                <a:lnTo>
                  <a:pt x="3872105" y="0"/>
                </a:lnTo>
                <a:lnTo>
                  <a:pt x="3886772" y="0"/>
                </a:lnTo>
                <a:lnTo>
                  <a:pt x="3901440" y="0"/>
                </a:lnTo>
                <a:lnTo>
                  <a:pt x="3916107" y="0"/>
                </a:lnTo>
                <a:lnTo>
                  <a:pt x="3930774" y="0"/>
                </a:lnTo>
                <a:lnTo>
                  <a:pt x="3945441" y="0"/>
                </a:lnTo>
                <a:lnTo>
                  <a:pt x="3960108" y="0"/>
                </a:lnTo>
                <a:lnTo>
                  <a:pt x="3974775" y="0"/>
                </a:lnTo>
                <a:lnTo>
                  <a:pt x="3989442" y="0"/>
                </a:lnTo>
                <a:lnTo>
                  <a:pt x="4004109" y="0"/>
                </a:lnTo>
                <a:lnTo>
                  <a:pt x="4018776" y="0"/>
                </a:lnTo>
                <a:lnTo>
                  <a:pt x="4033443" y="0"/>
                </a:lnTo>
                <a:lnTo>
                  <a:pt x="4048110" y="0"/>
                </a:lnTo>
                <a:lnTo>
                  <a:pt x="4062777" y="0"/>
                </a:lnTo>
                <a:lnTo>
                  <a:pt x="4077444" y="0"/>
                </a:lnTo>
                <a:lnTo>
                  <a:pt x="4092111" y="0"/>
                </a:lnTo>
                <a:lnTo>
                  <a:pt x="4106778" y="0"/>
                </a:lnTo>
                <a:lnTo>
                  <a:pt x="4121446" y="0"/>
                </a:lnTo>
                <a:lnTo>
                  <a:pt x="4136113" y="0"/>
                </a:lnTo>
                <a:lnTo>
                  <a:pt x="4150780" y="0"/>
                </a:lnTo>
                <a:lnTo>
                  <a:pt x="4165447" y="0"/>
                </a:lnTo>
                <a:lnTo>
                  <a:pt x="4180114" y="0"/>
                </a:lnTo>
                <a:lnTo>
                  <a:pt x="4194781" y="0"/>
                </a:lnTo>
                <a:lnTo>
                  <a:pt x="4209448" y="0"/>
                </a:lnTo>
                <a:lnTo>
                  <a:pt x="4224115" y="0"/>
                </a:lnTo>
                <a:lnTo>
                  <a:pt x="4238782" y="0"/>
                </a:lnTo>
                <a:lnTo>
                  <a:pt x="4253449" y="0"/>
                </a:lnTo>
                <a:lnTo>
                  <a:pt x="4268116" y="0"/>
                </a:lnTo>
                <a:lnTo>
                  <a:pt x="4282783" y="0"/>
                </a:lnTo>
                <a:lnTo>
                  <a:pt x="4297450" y="0"/>
                </a:lnTo>
                <a:lnTo>
                  <a:pt x="4312117" y="0"/>
                </a:lnTo>
                <a:lnTo>
                  <a:pt x="4326784" y="0"/>
                </a:lnTo>
                <a:lnTo>
                  <a:pt x="4341452" y="0"/>
                </a:lnTo>
                <a:lnTo>
                  <a:pt x="4356119" y="0"/>
                </a:lnTo>
                <a:lnTo>
                  <a:pt x="4370786" y="0"/>
                </a:lnTo>
                <a:lnTo>
                  <a:pt x="4385453" y="0"/>
                </a:lnTo>
                <a:lnTo>
                  <a:pt x="4400120" y="0"/>
                </a:lnTo>
                <a:lnTo>
                  <a:pt x="4414787" y="0"/>
                </a:lnTo>
                <a:lnTo>
                  <a:pt x="4429454" y="0"/>
                </a:lnTo>
                <a:lnTo>
                  <a:pt x="4444121" y="0"/>
                </a:lnTo>
                <a:lnTo>
                  <a:pt x="4458788" y="0"/>
                </a:lnTo>
                <a:lnTo>
                  <a:pt x="4473455" y="0"/>
                </a:lnTo>
                <a:lnTo>
                  <a:pt x="4488122" y="0"/>
                </a:lnTo>
                <a:lnTo>
                  <a:pt x="4502789" y="0"/>
                </a:lnTo>
                <a:lnTo>
                  <a:pt x="4517456" y="0"/>
                </a:lnTo>
                <a:lnTo>
                  <a:pt x="4532123" y="0"/>
                </a:lnTo>
                <a:lnTo>
                  <a:pt x="4546790" y="0"/>
                </a:lnTo>
                <a:lnTo>
                  <a:pt x="4561458" y="0"/>
                </a:lnTo>
                <a:lnTo>
                  <a:pt x="4576125" y="0"/>
                </a:lnTo>
                <a:lnTo>
                  <a:pt x="4590792" y="0"/>
                </a:lnTo>
                <a:lnTo>
                  <a:pt x="4605459" y="0"/>
                </a:lnTo>
                <a:lnTo>
                  <a:pt x="4620126" y="0"/>
                </a:lnTo>
                <a:lnTo>
                  <a:pt x="4634793" y="0"/>
                </a:lnTo>
                <a:lnTo>
                  <a:pt x="4649460" y="0"/>
                </a:lnTo>
                <a:lnTo>
                  <a:pt x="4664127" y="0"/>
                </a:lnTo>
                <a:lnTo>
                  <a:pt x="4678794" y="0"/>
                </a:lnTo>
                <a:lnTo>
                  <a:pt x="4693461" y="0"/>
                </a:lnTo>
                <a:lnTo>
                  <a:pt x="4708128" y="0"/>
                </a:lnTo>
                <a:lnTo>
                  <a:pt x="4722795" y="0"/>
                </a:lnTo>
                <a:lnTo>
                  <a:pt x="4737462" y="0"/>
                </a:lnTo>
                <a:lnTo>
                  <a:pt x="4752129" y="0"/>
                </a:lnTo>
                <a:lnTo>
                  <a:pt x="4766796" y="0"/>
                </a:lnTo>
                <a:lnTo>
                  <a:pt x="4781464" y="0"/>
                </a:lnTo>
                <a:lnTo>
                  <a:pt x="4796131" y="0"/>
                </a:lnTo>
                <a:lnTo>
                  <a:pt x="4810798" y="0"/>
                </a:lnTo>
                <a:lnTo>
                  <a:pt x="4825465" y="0"/>
                </a:lnTo>
                <a:lnTo>
                  <a:pt x="4840132" y="0"/>
                </a:lnTo>
                <a:lnTo>
                  <a:pt x="4854799" y="0"/>
                </a:lnTo>
                <a:lnTo>
                  <a:pt x="4869466" y="0"/>
                </a:lnTo>
                <a:lnTo>
                  <a:pt x="4884133" y="0"/>
                </a:lnTo>
                <a:lnTo>
                  <a:pt x="4898800" y="0"/>
                </a:lnTo>
                <a:lnTo>
                  <a:pt x="4913467" y="0"/>
                </a:lnTo>
                <a:lnTo>
                  <a:pt x="4928134" y="0"/>
                </a:lnTo>
                <a:lnTo>
                  <a:pt x="4942801" y="0"/>
                </a:lnTo>
                <a:lnTo>
                  <a:pt x="4957468" y="0"/>
                </a:lnTo>
                <a:lnTo>
                  <a:pt x="4972135" y="0"/>
                </a:lnTo>
                <a:lnTo>
                  <a:pt x="4986803" y="2743201"/>
                </a:lnTo>
                <a:lnTo>
                  <a:pt x="5001470" y="2743201"/>
                </a:lnTo>
                <a:lnTo>
                  <a:pt x="5016137" y="2743201"/>
                </a:lnTo>
                <a:lnTo>
                  <a:pt x="5030804" y="2743201"/>
                </a:lnTo>
                <a:lnTo>
                  <a:pt x="5045471" y="2743201"/>
                </a:lnTo>
                <a:lnTo>
                  <a:pt x="5060138" y="2743201"/>
                </a:lnTo>
                <a:lnTo>
                  <a:pt x="5074805" y="2743201"/>
                </a:lnTo>
                <a:lnTo>
                  <a:pt x="5089472" y="2743201"/>
                </a:lnTo>
                <a:lnTo>
                  <a:pt x="5104139" y="2743201"/>
                </a:lnTo>
                <a:lnTo>
                  <a:pt x="5118806" y="2743201"/>
                </a:lnTo>
                <a:lnTo>
                  <a:pt x="5133473" y="2743201"/>
                </a:lnTo>
                <a:lnTo>
                  <a:pt x="5148140" y="2743201"/>
                </a:lnTo>
                <a:lnTo>
                  <a:pt x="5162807" y="2743201"/>
                </a:lnTo>
                <a:lnTo>
                  <a:pt x="5177474" y="2743201"/>
                </a:lnTo>
                <a:lnTo>
                  <a:pt x="5192141" y="2743201"/>
                </a:lnTo>
                <a:lnTo>
                  <a:pt x="5206809" y="2743201"/>
                </a:lnTo>
                <a:lnTo>
                  <a:pt x="5221476" y="2743201"/>
                </a:lnTo>
                <a:lnTo>
                  <a:pt x="5236143" y="2743201"/>
                </a:lnTo>
                <a:lnTo>
                  <a:pt x="5250810" y="2743201"/>
                </a:lnTo>
                <a:lnTo>
                  <a:pt x="5265477" y="2743201"/>
                </a:lnTo>
                <a:lnTo>
                  <a:pt x="5280144" y="2743201"/>
                </a:lnTo>
                <a:lnTo>
                  <a:pt x="5294811" y="2743201"/>
                </a:lnTo>
                <a:lnTo>
                  <a:pt x="5309478" y="2743201"/>
                </a:lnTo>
                <a:lnTo>
                  <a:pt x="5324145" y="2743201"/>
                </a:lnTo>
                <a:lnTo>
                  <a:pt x="5338812" y="2743201"/>
                </a:lnTo>
                <a:lnTo>
                  <a:pt x="5353479" y="2743201"/>
                </a:lnTo>
                <a:lnTo>
                  <a:pt x="5368146" y="2743201"/>
                </a:lnTo>
                <a:lnTo>
                  <a:pt x="5382813" y="2743201"/>
                </a:lnTo>
                <a:lnTo>
                  <a:pt x="5397480" y="2743201"/>
                </a:lnTo>
                <a:lnTo>
                  <a:pt x="5412147" y="2743201"/>
                </a:lnTo>
                <a:lnTo>
                  <a:pt x="5426815" y="2743201"/>
                </a:lnTo>
                <a:lnTo>
                  <a:pt x="5441482" y="2743201"/>
                </a:lnTo>
                <a:lnTo>
                  <a:pt x="5456149" y="2743201"/>
                </a:lnTo>
                <a:lnTo>
                  <a:pt x="5470816" y="2743201"/>
                </a:lnTo>
                <a:lnTo>
                  <a:pt x="5485483" y="2743201"/>
                </a:lnTo>
                <a:lnTo>
                  <a:pt x="5500150" y="2743201"/>
                </a:lnTo>
                <a:lnTo>
                  <a:pt x="5514817" y="2743201"/>
                </a:lnTo>
                <a:lnTo>
                  <a:pt x="5529484" y="2743201"/>
                </a:lnTo>
                <a:lnTo>
                  <a:pt x="5544151" y="2743201"/>
                </a:lnTo>
                <a:lnTo>
                  <a:pt x="5558818" y="2743201"/>
                </a:lnTo>
                <a:lnTo>
                  <a:pt x="5573485" y="2743201"/>
                </a:lnTo>
                <a:lnTo>
                  <a:pt x="5588152" y="2743201"/>
                </a:lnTo>
                <a:lnTo>
                  <a:pt x="5602819" y="2743201"/>
                </a:lnTo>
                <a:lnTo>
                  <a:pt x="5617486" y="2743201"/>
                </a:lnTo>
                <a:lnTo>
                  <a:pt x="5632153" y="2743201"/>
                </a:lnTo>
                <a:lnTo>
                  <a:pt x="5646821" y="2743201"/>
                </a:lnTo>
                <a:lnTo>
                  <a:pt x="5661488" y="2743201"/>
                </a:lnTo>
                <a:lnTo>
                  <a:pt x="5676155" y="2743201"/>
                </a:lnTo>
                <a:lnTo>
                  <a:pt x="5690822" y="2743201"/>
                </a:lnTo>
                <a:lnTo>
                  <a:pt x="5705489" y="2743201"/>
                </a:lnTo>
                <a:lnTo>
                  <a:pt x="5720156" y="2743201"/>
                </a:lnTo>
                <a:lnTo>
                  <a:pt x="5734823" y="2743201"/>
                </a:lnTo>
                <a:lnTo>
                  <a:pt x="5749490" y="2743201"/>
                </a:lnTo>
                <a:lnTo>
                  <a:pt x="5764157" y="2743201"/>
                </a:lnTo>
                <a:lnTo>
                  <a:pt x="5778824" y="2743201"/>
                </a:lnTo>
                <a:lnTo>
                  <a:pt x="5793491" y="2743201"/>
                </a:lnTo>
                <a:lnTo>
                  <a:pt x="5808158" y="2743201"/>
                </a:lnTo>
                <a:lnTo>
                  <a:pt x="5822825" y="2743201"/>
                </a:lnTo>
                <a:lnTo>
                  <a:pt x="5837492" y="2743201"/>
                </a:lnTo>
                <a:lnTo>
                  <a:pt x="5852160" y="2743201"/>
                </a:lnTo>
                <a:lnTo>
                  <a:pt x="5852160" y="2743201"/>
                </a:lnTo>
                <a:lnTo>
                  <a:pt x="5837492" y="2743201"/>
                </a:lnTo>
                <a:lnTo>
                  <a:pt x="5822825" y="2743201"/>
                </a:lnTo>
                <a:lnTo>
                  <a:pt x="5808158" y="2743201"/>
                </a:lnTo>
                <a:lnTo>
                  <a:pt x="5793491" y="2743201"/>
                </a:lnTo>
                <a:lnTo>
                  <a:pt x="5778824" y="2743201"/>
                </a:lnTo>
                <a:lnTo>
                  <a:pt x="5764157" y="2743201"/>
                </a:lnTo>
                <a:lnTo>
                  <a:pt x="5749490" y="2743201"/>
                </a:lnTo>
                <a:lnTo>
                  <a:pt x="5734823" y="2743201"/>
                </a:lnTo>
                <a:lnTo>
                  <a:pt x="5720156" y="2743201"/>
                </a:lnTo>
                <a:lnTo>
                  <a:pt x="5705489" y="2743201"/>
                </a:lnTo>
                <a:lnTo>
                  <a:pt x="5690822" y="2743201"/>
                </a:lnTo>
                <a:lnTo>
                  <a:pt x="5676155" y="2743201"/>
                </a:lnTo>
                <a:lnTo>
                  <a:pt x="5661488" y="2743201"/>
                </a:lnTo>
                <a:lnTo>
                  <a:pt x="5646821" y="2743201"/>
                </a:lnTo>
                <a:lnTo>
                  <a:pt x="5632153" y="2743201"/>
                </a:lnTo>
                <a:lnTo>
                  <a:pt x="5617486" y="2743201"/>
                </a:lnTo>
                <a:lnTo>
                  <a:pt x="5602819" y="2743201"/>
                </a:lnTo>
                <a:lnTo>
                  <a:pt x="5588152" y="2743201"/>
                </a:lnTo>
                <a:lnTo>
                  <a:pt x="5573485" y="2743201"/>
                </a:lnTo>
                <a:lnTo>
                  <a:pt x="5558818" y="2743201"/>
                </a:lnTo>
                <a:lnTo>
                  <a:pt x="5544151" y="2743201"/>
                </a:lnTo>
                <a:lnTo>
                  <a:pt x="5529484" y="2743201"/>
                </a:lnTo>
                <a:lnTo>
                  <a:pt x="5514817" y="2743201"/>
                </a:lnTo>
                <a:lnTo>
                  <a:pt x="5500150" y="2743201"/>
                </a:lnTo>
                <a:lnTo>
                  <a:pt x="5485483" y="2743201"/>
                </a:lnTo>
                <a:lnTo>
                  <a:pt x="5470816" y="2743201"/>
                </a:lnTo>
                <a:lnTo>
                  <a:pt x="5456149" y="2743201"/>
                </a:lnTo>
                <a:lnTo>
                  <a:pt x="5441482" y="2743201"/>
                </a:lnTo>
                <a:lnTo>
                  <a:pt x="5426815" y="2743201"/>
                </a:lnTo>
                <a:lnTo>
                  <a:pt x="5412147" y="2743201"/>
                </a:lnTo>
                <a:lnTo>
                  <a:pt x="5397480" y="2743201"/>
                </a:lnTo>
                <a:lnTo>
                  <a:pt x="5382813" y="2743201"/>
                </a:lnTo>
                <a:lnTo>
                  <a:pt x="5368146" y="2743201"/>
                </a:lnTo>
                <a:lnTo>
                  <a:pt x="5353479" y="2743201"/>
                </a:lnTo>
                <a:lnTo>
                  <a:pt x="5338812" y="2743201"/>
                </a:lnTo>
                <a:lnTo>
                  <a:pt x="5324145" y="2743201"/>
                </a:lnTo>
                <a:lnTo>
                  <a:pt x="5309478" y="2743201"/>
                </a:lnTo>
                <a:lnTo>
                  <a:pt x="5294811" y="2743201"/>
                </a:lnTo>
                <a:lnTo>
                  <a:pt x="5280144" y="2743201"/>
                </a:lnTo>
                <a:lnTo>
                  <a:pt x="5265477" y="2743201"/>
                </a:lnTo>
                <a:lnTo>
                  <a:pt x="5250810" y="2743201"/>
                </a:lnTo>
                <a:lnTo>
                  <a:pt x="5236143" y="2743201"/>
                </a:lnTo>
                <a:lnTo>
                  <a:pt x="5221476" y="2743201"/>
                </a:lnTo>
                <a:lnTo>
                  <a:pt x="5206809" y="2743201"/>
                </a:lnTo>
                <a:lnTo>
                  <a:pt x="5192141" y="2743201"/>
                </a:lnTo>
                <a:lnTo>
                  <a:pt x="5177474" y="2743201"/>
                </a:lnTo>
                <a:lnTo>
                  <a:pt x="5162807" y="2743201"/>
                </a:lnTo>
                <a:lnTo>
                  <a:pt x="5148140" y="2743201"/>
                </a:lnTo>
                <a:lnTo>
                  <a:pt x="5133473" y="2743201"/>
                </a:lnTo>
                <a:lnTo>
                  <a:pt x="5118806" y="2743201"/>
                </a:lnTo>
                <a:lnTo>
                  <a:pt x="5104139" y="2743201"/>
                </a:lnTo>
                <a:lnTo>
                  <a:pt x="5089472" y="2743201"/>
                </a:lnTo>
                <a:lnTo>
                  <a:pt x="5074805" y="2743201"/>
                </a:lnTo>
                <a:lnTo>
                  <a:pt x="5060138" y="2743201"/>
                </a:lnTo>
                <a:lnTo>
                  <a:pt x="5045471" y="2743201"/>
                </a:lnTo>
                <a:lnTo>
                  <a:pt x="5030804" y="2743201"/>
                </a:lnTo>
                <a:lnTo>
                  <a:pt x="5016137" y="2743201"/>
                </a:lnTo>
                <a:lnTo>
                  <a:pt x="5001470" y="2743201"/>
                </a:lnTo>
                <a:lnTo>
                  <a:pt x="4986803" y="2743201"/>
                </a:lnTo>
                <a:lnTo>
                  <a:pt x="4972135" y="2743201"/>
                </a:lnTo>
                <a:lnTo>
                  <a:pt x="4957468" y="2743201"/>
                </a:lnTo>
                <a:lnTo>
                  <a:pt x="4942801" y="2743201"/>
                </a:lnTo>
                <a:lnTo>
                  <a:pt x="4928134" y="2743201"/>
                </a:lnTo>
                <a:lnTo>
                  <a:pt x="4913467" y="2743201"/>
                </a:lnTo>
                <a:lnTo>
                  <a:pt x="4898800" y="2743201"/>
                </a:lnTo>
                <a:lnTo>
                  <a:pt x="4884133" y="2743201"/>
                </a:lnTo>
                <a:lnTo>
                  <a:pt x="4869466" y="2743201"/>
                </a:lnTo>
                <a:lnTo>
                  <a:pt x="4854799" y="2743201"/>
                </a:lnTo>
                <a:lnTo>
                  <a:pt x="4840132" y="2743201"/>
                </a:lnTo>
                <a:lnTo>
                  <a:pt x="4825465" y="2743201"/>
                </a:lnTo>
                <a:lnTo>
                  <a:pt x="4810798" y="2743201"/>
                </a:lnTo>
                <a:lnTo>
                  <a:pt x="4796131" y="2743201"/>
                </a:lnTo>
                <a:lnTo>
                  <a:pt x="4781464" y="2743201"/>
                </a:lnTo>
                <a:lnTo>
                  <a:pt x="4766796" y="2743201"/>
                </a:lnTo>
                <a:lnTo>
                  <a:pt x="4752129" y="2743201"/>
                </a:lnTo>
                <a:lnTo>
                  <a:pt x="4737462" y="2743201"/>
                </a:lnTo>
                <a:lnTo>
                  <a:pt x="4722795" y="2743201"/>
                </a:lnTo>
                <a:lnTo>
                  <a:pt x="4708128" y="2743201"/>
                </a:lnTo>
                <a:lnTo>
                  <a:pt x="4693461" y="2743201"/>
                </a:lnTo>
                <a:lnTo>
                  <a:pt x="4678794" y="2743201"/>
                </a:lnTo>
                <a:lnTo>
                  <a:pt x="4664127" y="2743201"/>
                </a:lnTo>
                <a:lnTo>
                  <a:pt x="4649460" y="2743201"/>
                </a:lnTo>
                <a:lnTo>
                  <a:pt x="4634793" y="2743201"/>
                </a:lnTo>
                <a:lnTo>
                  <a:pt x="4620126" y="2743201"/>
                </a:lnTo>
                <a:lnTo>
                  <a:pt x="4605459" y="2743201"/>
                </a:lnTo>
                <a:lnTo>
                  <a:pt x="4590792" y="2743201"/>
                </a:lnTo>
                <a:lnTo>
                  <a:pt x="4576125" y="2743201"/>
                </a:lnTo>
                <a:lnTo>
                  <a:pt x="4561458" y="2743201"/>
                </a:lnTo>
                <a:lnTo>
                  <a:pt x="4546790" y="2743201"/>
                </a:lnTo>
                <a:lnTo>
                  <a:pt x="4532123" y="2743201"/>
                </a:lnTo>
                <a:lnTo>
                  <a:pt x="4517456" y="2743201"/>
                </a:lnTo>
                <a:lnTo>
                  <a:pt x="4502789" y="2743201"/>
                </a:lnTo>
                <a:lnTo>
                  <a:pt x="4488122" y="2743201"/>
                </a:lnTo>
                <a:lnTo>
                  <a:pt x="4473455" y="2743201"/>
                </a:lnTo>
                <a:lnTo>
                  <a:pt x="4458788" y="2743201"/>
                </a:lnTo>
                <a:lnTo>
                  <a:pt x="4444121" y="2743201"/>
                </a:lnTo>
                <a:lnTo>
                  <a:pt x="4429454" y="2743201"/>
                </a:lnTo>
                <a:lnTo>
                  <a:pt x="4414787" y="2743201"/>
                </a:lnTo>
                <a:lnTo>
                  <a:pt x="4400120" y="2743201"/>
                </a:lnTo>
                <a:lnTo>
                  <a:pt x="4385453" y="2743201"/>
                </a:lnTo>
                <a:lnTo>
                  <a:pt x="4370786" y="2743201"/>
                </a:lnTo>
                <a:lnTo>
                  <a:pt x="4356119" y="2743201"/>
                </a:lnTo>
                <a:lnTo>
                  <a:pt x="4341452" y="2743201"/>
                </a:lnTo>
                <a:lnTo>
                  <a:pt x="4326784" y="2743201"/>
                </a:lnTo>
                <a:lnTo>
                  <a:pt x="4312117" y="2743201"/>
                </a:lnTo>
                <a:lnTo>
                  <a:pt x="4297450" y="2743201"/>
                </a:lnTo>
                <a:lnTo>
                  <a:pt x="4282783" y="2743201"/>
                </a:lnTo>
                <a:lnTo>
                  <a:pt x="4268116" y="2743201"/>
                </a:lnTo>
                <a:lnTo>
                  <a:pt x="4253449" y="2743201"/>
                </a:lnTo>
                <a:lnTo>
                  <a:pt x="4238782" y="2743201"/>
                </a:lnTo>
                <a:lnTo>
                  <a:pt x="4224115" y="2743201"/>
                </a:lnTo>
                <a:lnTo>
                  <a:pt x="4209448" y="2743201"/>
                </a:lnTo>
                <a:lnTo>
                  <a:pt x="4194781" y="2743201"/>
                </a:lnTo>
                <a:lnTo>
                  <a:pt x="4180114" y="2743201"/>
                </a:lnTo>
                <a:lnTo>
                  <a:pt x="4165447" y="2743201"/>
                </a:lnTo>
                <a:lnTo>
                  <a:pt x="4150780" y="2743201"/>
                </a:lnTo>
                <a:lnTo>
                  <a:pt x="4136113" y="2743201"/>
                </a:lnTo>
                <a:lnTo>
                  <a:pt x="4121446" y="2743201"/>
                </a:lnTo>
                <a:lnTo>
                  <a:pt x="4106778" y="2743201"/>
                </a:lnTo>
                <a:lnTo>
                  <a:pt x="4092111" y="2743201"/>
                </a:lnTo>
                <a:lnTo>
                  <a:pt x="4077444" y="2743201"/>
                </a:lnTo>
                <a:lnTo>
                  <a:pt x="4062777" y="2743201"/>
                </a:lnTo>
                <a:lnTo>
                  <a:pt x="4048110" y="2743201"/>
                </a:lnTo>
                <a:lnTo>
                  <a:pt x="4033443" y="2743201"/>
                </a:lnTo>
                <a:lnTo>
                  <a:pt x="4018776" y="2743201"/>
                </a:lnTo>
                <a:lnTo>
                  <a:pt x="4004109" y="2743201"/>
                </a:lnTo>
                <a:lnTo>
                  <a:pt x="3989442" y="2743201"/>
                </a:lnTo>
                <a:lnTo>
                  <a:pt x="3974775" y="2743201"/>
                </a:lnTo>
                <a:lnTo>
                  <a:pt x="3960108" y="2743201"/>
                </a:lnTo>
                <a:lnTo>
                  <a:pt x="3945441" y="2743201"/>
                </a:lnTo>
                <a:lnTo>
                  <a:pt x="3930774" y="2743201"/>
                </a:lnTo>
                <a:lnTo>
                  <a:pt x="3916107" y="2743201"/>
                </a:lnTo>
                <a:lnTo>
                  <a:pt x="3901440" y="2743201"/>
                </a:lnTo>
                <a:lnTo>
                  <a:pt x="3886772" y="2743201"/>
                </a:lnTo>
                <a:lnTo>
                  <a:pt x="3872105" y="2743201"/>
                </a:lnTo>
                <a:lnTo>
                  <a:pt x="3857438" y="2743201"/>
                </a:lnTo>
                <a:lnTo>
                  <a:pt x="3842771" y="2743201"/>
                </a:lnTo>
                <a:lnTo>
                  <a:pt x="3828104" y="2743201"/>
                </a:lnTo>
                <a:lnTo>
                  <a:pt x="3813437" y="2743201"/>
                </a:lnTo>
                <a:lnTo>
                  <a:pt x="3798770" y="2743201"/>
                </a:lnTo>
                <a:lnTo>
                  <a:pt x="3784103" y="2743201"/>
                </a:lnTo>
                <a:lnTo>
                  <a:pt x="3769436" y="2743201"/>
                </a:lnTo>
                <a:lnTo>
                  <a:pt x="3754769" y="2743201"/>
                </a:lnTo>
                <a:lnTo>
                  <a:pt x="3740102" y="2743201"/>
                </a:lnTo>
                <a:lnTo>
                  <a:pt x="3725435" y="2743201"/>
                </a:lnTo>
                <a:lnTo>
                  <a:pt x="3710768" y="2743201"/>
                </a:lnTo>
                <a:lnTo>
                  <a:pt x="3696101" y="2743201"/>
                </a:lnTo>
                <a:lnTo>
                  <a:pt x="3681433" y="2743201"/>
                </a:lnTo>
                <a:lnTo>
                  <a:pt x="3666766" y="2743201"/>
                </a:lnTo>
                <a:lnTo>
                  <a:pt x="3652099" y="2743201"/>
                </a:lnTo>
                <a:lnTo>
                  <a:pt x="3637432" y="2743201"/>
                </a:lnTo>
                <a:lnTo>
                  <a:pt x="3622765" y="2743201"/>
                </a:lnTo>
                <a:lnTo>
                  <a:pt x="3608098" y="2743201"/>
                </a:lnTo>
                <a:lnTo>
                  <a:pt x="3593431" y="2743201"/>
                </a:lnTo>
                <a:lnTo>
                  <a:pt x="3578764" y="2743201"/>
                </a:lnTo>
                <a:lnTo>
                  <a:pt x="3564097" y="2743201"/>
                </a:lnTo>
                <a:lnTo>
                  <a:pt x="3549430" y="2743201"/>
                </a:lnTo>
                <a:lnTo>
                  <a:pt x="3534763" y="2743201"/>
                </a:lnTo>
                <a:lnTo>
                  <a:pt x="3520096" y="2743201"/>
                </a:lnTo>
                <a:lnTo>
                  <a:pt x="3505429" y="2743201"/>
                </a:lnTo>
                <a:lnTo>
                  <a:pt x="3490762" y="2743201"/>
                </a:lnTo>
                <a:lnTo>
                  <a:pt x="3476095" y="2743201"/>
                </a:lnTo>
                <a:lnTo>
                  <a:pt x="3461427" y="2743201"/>
                </a:lnTo>
                <a:lnTo>
                  <a:pt x="3446760" y="2743201"/>
                </a:lnTo>
                <a:lnTo>
                  <a:pt x="3432093" y="2743201"/>
                </a:lnTo>
                <a:lnTo>
                  <a:pt x="3417426" y="2743201"/>
                </a:lnTo>
                <a:lnTo>
                  <a:pt x="3402759" y="2743201"/>
                </a:lnTo>
                <a:lnTo>
                  <a:pt x="3388092" y="2743201"/>
                </a:lnTo>
                <a:lnTo>
                  <a:pt x="3373425" y="2743201"/>
                </a:lnTo>
                <a:lnTo>
                  <a:pt x="3358758" y="2743201"/>
                </a:lnTo>
                <a:lnTo>
                  <a:pt x="3344091" y="2743201"/>
                </a:lnTo>
                <a:lnTo>
                  <a:pt x="3329424" y="2743201"/>
                </a:lnTo>
                <a:lnTo>
                  <a:pt x="3314757" y="2743201"/>
                </a:lnTo>
                <a:lnTo>
                  <a:pt x="3300090" y="2743201"/>
                </a:lnTo>
                <a:lnTo>
                  <a:pt x="3285423" y="2743201"/>
                </a:lnTo>
                <a:lnTo>
                  <a:pt x="3270756" y="2743201"/>
                </a:lnTo>
                <a:lnTo>
                  <a:pt x="3256089" y="2743201"/>
                </a:lnTo>
                <a:lnTo>
                  <a:pt x="3241421" y="2743201"/>
                </a:lnTo>
                <a:lnTo>
                  <a:pt x="3226754" y="2743201"/>
                </a:lnTo>
                <a:lnTo>
                  <a:pt x="3212087" y="2743201"/>
                </a:lnTo>
                <a:lnTo>
                  <a:pt x="3197420" y="2743201"/>
                </a:lnTo>
                <a:lnTo>
                  <a:pt x="3182753" y="2743201"/>
                </a:lnTo>
                <a:lnTo>
                  <a:pt x="3168086" y="2743201"/>
                </a:lnTo>
                <a:lnTo>
                  <a:pt x="3153419" y="2743201"/>
                </a:lnTo>
                <a:lnTo>
                  <a:pt x="3138752" y="2743201"/>
                </a:lnTo>
                <a:lnTo>
                  <a:pt x="3124085" y="2743201"/>
                </a:lnTo>
                <a:lnTo>
                  <a:pt x="3109418" y="2743201"/>
                </a:lnTo>
                <a:lnTo>
                  <a:pt x="3094751" y="2743201"/>
                </a:lnTo>
                <a:lnTo>
                  <a:pt x="3080084" y="2743201"/>
                </a:lnTo>
                <a:lnTo>
                  <a:pt x="3065417" y="2743201"/>
                </a:lnTo>
                <a:lnTo>
                  <a:pt x="3050750" y="2743201"/>
                </a:lnTo>
                <a:lnTo>
                  <a:pt x="3036083" y="2743201"/>
                </a:lnTo>
                <a:lnTo>
                  <a:pt x="3021415" y="2743201"/>
                </a:lnTo>
                <a:lnTo>
                  <a:pt x="3006748" y="2743201"/>
                </a:lnTo>
                <a:lnTo>
                  <a:pt x="2992081" y="2743201"/>
                </a:lnTo>
                <a:lnTo>
                  <a:pt x="2977414" y="2743201"/>
                </a:lnTo>
                <a:lnTo>
                  <a:pt x="2962747" y="2743201"/>
                </a:lnTo>
                <a:lnTo>
                  <a:pt x="2948080" y="2743201"/>
                </a:lnTo>
                <a:lnTo>
                  <a:pt x="2933413" y="2743201"/>
                </a:lnTo>
                <a:lnTo>
                  <a:pt x="2918746" y="2743201"/>
                </a:lnTo>
                <a:lnTo>
                  <a:pt x="2904079" y="2743201"/>
                </a:lnTo>
                <a:lnTo>
                  <a:pt x="2889412" y="2743201"/>
                </a:lnTo>
                <a:lnTo>
                  <a:pt x="2874745" y="2743201"/>
                </a:lnTo>
                <a:lnTo>
                  <a:pt x="2860078" y="2743201"/>
                </a:lnTo>
                <a:lnTo>
                  <a:pt x="2845411" y="2743201"/>
                </a:lnTo>
                <a:lnTo>
                  <a:pt x="2830744" y="2743201"/>
                </a:lnTo>
                <a:lnTo>
                  <a:pt x="2816076" y="2743201"/>
                </a:lnTo>
                <a:lnTo>
                  <a:pt x="2801409" y="2743201"/>
                </a:lnTo>
                <a:lnTo>
                  <a:pt x="2786742" y="2743201"/>
                </a:lnTo>
                <a:lnTo>
                  <a:pt x="2772075" y="2743201"/>
                </a:lnTo>
                <a:lnTo>
                  <a:pt x="2757408" y="2743201"/>
                </a:lnTo>
                <a:lnTo>
                  <a:pt x="2742741" y="2743201"/>
                </a:lnTo>
                <a:lnTo>
                  <a:pt x="2728074" y="2743201"/>
                </a:lnTo>
                <a:lnTo>
                  <a:pt x="2713407" y="2743201"/>
                </a:lnTo>
                <a:lnTo>
                  <a:pt x="2698740" y="2743201"/>
                </a:lnTo>
                <a:lnTo>
                  <a:pt x="2684073" y="2743201"/>
                </a:lnTo>
                <a:lnTo>
                  <a:pt x="2669406" y="2743201"/>
                </a:lnTo>
                <a:lnTo>
                  <a:pt x="2654739" y="2743201"/>
                </a:lnTo>
                <a:lnTo>
                  <a:pt x="2640072" y="2743201"/>
                </a:lnTo>
                <a:lnTo>
                  <a:pt x="2625405" y="2743201"/>
                </a:lnTo>
                <a:lnTo>
                  <a:pt x="2610738" y="2743201"/>
                </a:lnTo>
                <a:lnTo>
                  <a:pt x="2596070" y="2743201"/>
                </a:lnTo>
                <a:lnTo>
                  <a:pt x="2581403" y="2743201"/>
                </a:lnTo>
                <a:lnTo>
                  <a:pt x="2566736" y="2743201"/>
                </a:lnTo>
                <a:lnTo>
                  <a:pt x="2552069" y="2743201"/>
                </a:lnTo>
                <a:lnTo>
                  <a:pt x="2537402" y="2743201"/>
                </a:lnTo>
                <a:lnTo>
                  <a:pt x="2522735" y="2743201"/>
                </a:lnTo>
                <a:lnTo>
                  <a:pt x="2508068" y="2743201"/>
                </a:lnTo>
                <a:lnTo>
                  <a:pt x="2493401" y="2743201"/>
                </a:lnTo>
                <a:lnTo>
                  <a:pt x="2478734" y="2743201"/>
                </a:lnTo>
                <a:lnTo>
                  <a:pt x="2464067" y="2743201"/>
                </a:lnTo>
                <a:lnTo>
                  <a:pt x="2449400" y="2743201"/>
                </a:lnTo>
                <a:lnTo>
                  <a:pt x="2434733" y="2743201"/>
                </a:lnTo>
                <a:lnTo>
                  <a:pt x="2420066" y="2743201"/>
                </a:lnTo>
                <a:lnTo>
                  <a:pt x="2405399" y="2743201"/>
                </a:lnTo>
                <a:lnTo>
                  <a:pt x="2390732" y="2743201"/>
                </a:lnTo>
                <a:lnTo>
                  <a:pt x="2376064" y="2743201"/>
                </a:lnTo>
                <a:lnTo>
                  <a:pt x="2361397" y="2743201"/>
                </a:lnTo>
                <a:lnTo>
                  <a:pt x="2346730" y="2743201"/>
                </a:lnTo>
                <a:lnTo>
                  <a:pt x="2332063" y="2743201"/>
                </a:lnTo>
                <a:lnTo>
                  <a:pt x="2317396" y="2743201"/>
                </a:lnTo>
                <a:lnTo>
                  <a:pt x="2302729" y="2743201"/>
                </a:lnTo>
                <a:lnTo>
                  <a:pt x="2288062" y="2743201"/>
                </a:lnTo>
                <a:lnTo>
                  <a:pt x="2273395" y="2743201"/>
                </a:lnTo>
                <a:lnTo>
                  <a:pt x="2258728" y="2743201"/>
                </a:lnTo>
                <a:lnTo>
                  <a:pt x="2244061" y="2743201"/>
                </a:lnTo>
                <a:lnTo>
                  <a:pt x="2229394" y="2743201"/>
                </a:lnTo>
                <a:lnTo>
                  <a:pt x="2214727" y="2743201"/>
                </a:lnTo>
                <a:lnTo>
                  <a:pt x="2200060" y="2743201"/>
                </a:lnTo>
                <a:lnTo>
                  <a:pt x="2185393" y="2743201"/>
                </a:lnTo>
                <a:lnTo>
                  <a:pt x="2170726" y="2743201"/>
                </a:lnTo>
                <a:lnTo>
                  <a:pt x="2156058" y="2743201"/>
                </a:lnTo>
                <a:lnTo>
                  <a:pt x="2141391" y="2743201"/>
                </a:lnTo>
                <a:lnTo>
                  <a:pt x="2126724" y="2743201"/>
                </a:lnTo>
                <a:lnTo>
                  <a:pt x="2112057" y="2743201"/>
                </a:lnTo>
                <a:lnTo>
                  <a:pt x="2097390" y="2743201"/>
                </a:lnTo>
                <a:lnTo>
                  <a:pt x="2082723" y="2743201"/>
                </a:lnTo>
                <a:lnTo>
                  <a:pt x="2068056" y="2743201"/>
                </a:lnTo>
                <a:lnTo>
                  <a:pt x="2053389" y="2743201"/>
                </a:lnTo>
                <a:lnTo>
                  <a:pt x="2038722" y="2743201"/>
                </a:lnTo>
                <a:lnTo>
                  <a:pt x="2024055" y="2743201"/>
                </a:lnTo>
                <a:lnTo>
                  <a:pt x="2009388" y="2743201"/>
                </a:lnTo>
                <a:lnTo>
                  <a:pt x="1994721" y="2743201"/>
                </a:lnTo>
                <a:lnTo>
                  <a:pt x="1980054" y="2743201"/>
                </a:lnTo>
                <a:lnTo>
                  <a:pt x="1965387" y="2743201"/>
                </a:lnTo>
                <a:lnTo>
                  <a:pt x="1950720" y="2743201"/>
                </a:lnTo>
                <a:lnTo>
                  <a:pt x="1936052" y="2743201"/>
                </a:lnTo>
                <a:lnTo>
                  <a:pt x="1921385" y="2743201"/>
                </a:lnTo>
                <a:lnTo>
                  <a:pt x="1906718" y="2743201"/>
                </a:lnTo>
                <a:lnTo>
                  <a:pt x="1892051" y="2743201"/>
                </a:lnTo>
                <a:lnTo>
                  <a:pt x="1877384" y="2743201"/>
                </a:lnTo>
                <a:lnTo>
                  <a:pt x="1862717" y="2743201"/>
                </a:lnTo>
                <a:lnTo>
                  <a:pt x="1848050" y="2743201"/>
                </a:lnTo>
                <a:lnTo>
                  <a:pt x="1833383" y="2743201"/>
                </a:lnTo>
                <a:lnTo>
                  <a:pt x="1818716" y="2743201"/>
                </a:lnTo>
                <a:lnTo>
                  <a:pt x="1804049" y="2743201"/>
                </a:lnTo>
                <a:lnTo>
                  <a:pt x="1789382" y="2743201"/>
                </a:lnTo>
                <a:lnTo>
                  <a:pt x="1774715" y="2743201"/>
                </a:lnTo>
                <a:lnTo>
                  <a:pt x="1760048" y="2743201"/>
                </a:lnTo>
                <a:lnTo>
                  <a:pt x="1745381" y="2743201"/>
                </a:lnTo>
                <a:lnTo>
                  <a:pt x="1730713" y="2743201"/>
                </a:lnTo>
                <a:lnTo>
                  <a:pt x="1716046" y="2743201"/>
                </a:lnTo>
                <a:lnTo>
                  <a:pt x="1701379" y="2743201"/>
                </a:lnTo>
                <a:lnTo>
                  <a:pt x="1686712" y="2743201"/>
                </a:lnTo>
                <a:lnTo>
                  <a:pt x="1672045" y="2743201"/>
                </a:lnTo>
                <a:lnTo>
                  <a:pt x="1657378" y="2743201"/>
                </a:lnTo>
                <a:lnTo>
                  <a:pt x="1642711" y="2743201"/>
                </a:lnTo>
                <a:lnTo>
                  <a:pt x="1628044" y="2743201"/>
                </a:lnTo>
                <a:lnTo>
                  <a:pt x="1613377" y="2743201"/>
                </a:lnTo>
                <a:lnTo>
                  <a:pt x="1598710" y="2743201"/>
                </a:lnTo>
                <a:lnTo>
                  <a:pt x="1584043" y="2743201"/>
                </a:lnTo>
                <a:lnTo>
                  <a:pt x="1569376" y="2743201"/>
                </a:lnTo>
                <a:lnTo>
                  <a:pt x="1554709" y="2743201"/>
                </a:lnTo>
                <a:lnTo>
                  <a:pt x="1540042" y="2743201"/>
                </a:lnTo>
                <a:lnTo>
                  <a:pt x="1525375" y="2743201"/>
                </a:lnTo>
                <a:lnTo>
                  <a:pt x="1510707" y="2743201"/>
                </a:lnTo>
                <a:lnTo>
                  <a:pt x="1496040" y="2743201"/>
                </a:lnTo>
                <a:lnTo>
                  <a:pt x="1481373" y="2743201"/>
                </a:lnTo>
                <a:lnTo>
                  <a:pt x="1466706" y="2743201"/>
                </a:lnTo>
                <a:lnTo>
                  <a:pt x="1452039" y="2743201"/>
                </a:lnTo>
                <a:lnTo>
                  <a:pt x="1437372" y="2743201"/>
                </a:lnTo>
                <a:lnTo>
                  <a:pt x="1422705" y="2743201"/>
                </a:lnTo>
                <a:lnTo>
                  <a:pt x="1408038" y="2743201"/>
                </a:lnTo>
                <a:lnTo>
                  <a:pt x="1393371" y="2743201"/>
                </a:lnTo>
                <a:lnTo>
                  <a:pt x="1378704" y="2743201"/>
                </a:lnTo>
                <a:lnTo>
                  <a:pt x="1364037" y="2743201"/>
                </a:lnTo>
                <a:lnTo>
                  <a:pt x="1349370" y="2743201"/>
                </a:lnTo>
                <a:lnTo>
                  <a:pt x="1334703" y="2743201"/>
                </a:lnTo>
                <a:lnTo>
                  <a:pt x="1320036" y="2743201"/>
                </a:lnTo>
                <a:lnTo>
                  <a:pt x="1305369" y="2743201"/>
                </a:lnTo>
                <a:lnTo>
                  <a:pt x="1290701" y="2743201"/>
                </a:lnTo>
                <a:lnTo>
                  <a:pt x="1276034" y="2743201"/>
                </a:lnTo>
                <a:lnTo>
                  <a:pt x="1261367" y="2743201"/>
                </a:lnTo>
                <a:lnTo>
                  <a:pt x="1246700" y="2743201"/>
                </a:lnTo>
                <a:lnTo>
                  <a:pt x="1232033" y="2743201"/>
                </a:lnTo>
                <a:lnTo>
                  <a:pt x="1217366" y="2743201"/>
                </a:lnTo>
                <a:lnTo>
                  <a:pt x="1202699" y="2743201"/>
                </a:lnTo>
                <a:lnTo>
                  <a:pt x="1188032" y="2743201"/>
                </a:lnTo>
                <a:lnTo>
                  <a:pt x="1173365" y="2743201"/>
                </a:lnTo>
                <a:lnTo>
                  <a:pt x="1158698" y="2743201"/>
                </a:lnTo>
                <a:lnTo>
                  <a:pt x="1144031" y="2743201"/>
                </a:lnTo>
                <a:lnTo>
                  <a:pt x="1129364" y="2743201"/>
                </a:lnTo>
                <a:lnTo>
                  <a:pt x="1114697" y="2743201"/>
                </a:lnTo>
                <a:lnTo>
                  <a:pt x="1100030" y="2743201"/>
                </a:lnTo>
                <a:lnTo>
                  <a:pt x="1085363" y="2743201"/>
                </a:lnTo>
                <a:lnTo>
                  <a:pt x="1070695" y="2743201"/>
                </a:lnTo>
                <a:lnTo>
                  <a:pt x="1056028" y="2743201"/>
                </a:lnTo>
                <a:lnTo>
                  <a:pt x="1041361" y="2743201"/>
                </a:lnTo>
                <a:lnTo>
                  <a:pt x="1026694" y="2743201"/>
                </a:lnTo>
                <a:lnTo>
                  <a:pt x="1012027" y="2743201"/>
                </a:lnTo>
                <a:lnTo>
                  <a:pt x="997360" y="2743201"/>
                </a:lnTo>
                <a:lnTo>
                  <a:pt x="982693" y="2743201"/>
                </a:lnTo>
                <a:lnTo>
                  <a:pt x="968026" y="2743201"/>
                </a:lnTo>
                <a:lnTo>
                  <a:pt x="953359" y="2743201"/>
                </a:lnTo>
                <a:lnTo>
                  <a:pt x="938692" y="2743201"/>
                </a:lnTo>
                <a:lnTo>
                  <a:pt x="924025" y="2743201"/>
                </a:lnTo>
                <a:lnTo>
                  <a:pt x="909358" y="2743201"/>
                </a:lnTo>
                <a:lnTo>
                  <a:pt x="894691" y="2743201"/>
                </a:lnTo>
                <a:lnTo>
                  <a:pt x="880024" y="2743201"/>
                </a:lnTo>
                <a:lnTo>
                  <a:pt x="865356" y="2743201"/>
                </a:lnTo>
                <a:lnTo>
                  <a:pt x="850689" y="2743201"/>
                </a:lnTo>
                <a:lnTo>
                  <a:pt x="836022" y="2743201"/>
                </a:lnTo>
                <a:lnTo>
                  <a:pt x="821355" y="2743201"/>
                </a:lnTo>
                <a:lnTo>
                  <a:pt x="806688" y="2743201"/>
                </a:lnTo>
                <a:lnTo>
                  <a:pt x="792021" y="2743201"/>
                </a:lnTo>
                <a:lnTo>
                  <a:pt x="777354" y="2743201"/>
                </a:lnTo>
                <a:lnTo>
                  <a:pt x="762687" y="2743201"/>
                </a:lnTo>
                <a:lnTo>
                  <a:pt x="748020" y="2743201"/>
                </a:lnTo>
                <a:lnTo>
                  <a:pt x="733353" y="2743201"/>
                </a:lnTo>
                <a:lnTo>
                  <a:pt x="718686" y="2743201"/>
                </a:lnTo>
                <a:lnTo>
                  <a:pt x="704019" y="2743201"/>
                </a:lnTo>
                <a:lnTo>
                  <a:pt x="689352" y="2743201"/>
                </a:lnTo>
                <a:lnTo>
                  <a:pt x="674685" y="2743201"/>
                </a:lnTo>
                <a:lnTo>
                  <a:pt x="660018" y="2743201"/>
                </a:lnTo>
                <a:lnTo>
                  <a:pt x="645350" y="2743201"/>
                </a:lnTo>
                <a:lnTo>
                  <a:pt x="630683" y="2743201"/>
                </a:lnTo>
                <a:lnTo>
                  <a:pt x="616016" y="2743201"/>
                </a:lnTo>
                <a:lnTo>
                  <a:pt x="601349" y="2743201"/>
                </a:lnTo>
                <a:lnTo>
                  <a:pt x="586682" y="2743201"/>
                </a:lnTo>
                <a:lnTo>
                  <a:pt x="572015" y="2743201"/>
                </a:lnTo>
                <a:lnTo>
                  <a:pt x="557348" y="2743201"/>
                </a:lnTo>
                <a:lnTo>
                  <a:pt x="542681" y="2743201"/>
                </a:lnTo>
                <a:lnTo>
                  <a:pt x="528014" y="2743201"/>
                </a:lnTo>
                <a:lnTo>
                  <a:pt x="513347" y="2743201"/>
                </a:lnTo>
                <a:lnTo>
                  <a:pt x="498680" y="2743201"/>
                </a:lnTo>
                <a:lnTo>
                  <a:pt x="484013" y="2743201"/>
                </a:lnTo>
                <a:lnTo>
                  <a:pt x="469346" y="2743201"/>
                </a:lnTo>
                <a:lnTo>
                  <a:pt x="454679" y="2743201"/>
                </a:lnTo>
                <a:lnTo>
                  <a:pt x="440012" y="2743201"/>
                </a:lnTo>
                <a:lnTo>
                  <a:pt x="425344" y="2743201"/>
                </a:lnTo>
                <a:lnTo>
                  <a:pt x="410677" y="2743201"/>
                </a:lnTo>
                <a:lnTo>
                  <a:pt x="396010" y="2743201"/>
                </a:lnTo>
                <a:lnTo>
                  <a:pt x="381343" y="2743201"/>
                </a:lnTo>
                <a:lnTo>
                  <a:pt x="366676" y="2743201"/>
                </a:lnTo>
                <a:lnTo>
                  <a:pt x="352009" y="2743201"/>
                </a:lnTo>
                <a:lnTo>
                  <a:pt x="337342" y="2743201"/>
                </a:lnTo>
                <a:lnTo>
                  <a:pt x="322675" y="2743201"/>
                </a:lnTo>
                <a:lnTo>
                  <a:pt x="308008" y="2743201"/>
                </a:lnTo>
                <a:lnTo>
                  <a:pt x="293341" y="2743201"/>
                </a:lnTo>
                <a:lnTo>
                  <a:pt x="278674" y="2743201"/>
                </a:lnTo>
                <a:lnTo>
                  <a:pt x="264007" y="2743201"/>
                </a:lnTo>
                <a:lnTo>
                  <a:pt x="249340" y="2743201"/>
                </a:lnTo>
                <a:lnTo>
                  <a:pt x="234673" y="2743201"/>
                </a:lnTo>
                <a:lnTo>
                  <a:pt x="220006" y="2743201"/>
                </a:lnTo>
                <a:lnTo>
                  <a:pt x="205338" y="2743201"/>
                </a:lnTo>
                <a:lnTo>
                  <a:pt x="190671" y="2743201"/>
                </a:lnTo>
                <a:lnTo>
                  <a:pt x="176004" y="2743201"/>
                </a:lnTo>
                <a:lnTo>
                  <a:pt x="161337" y="2743201"/>
                </a:lnTo>
                <a:lnTo>
                  <a:pt x="146670" y="2743201"/>
                </a:lnTo>
                <a:lnTo>
                  <a:pt x="132003" y="2743201"/>
                </a:lnTo>
                <a:lnTo>
                  <a:pt x="117336" y="2743201"/>
                </a:lnTo>
                <a:lnTo>
                  <a:pt x="102669" y="2743201"/>
                </a:lnTo>
                <a:lnTo>
                  <a:pt x="88002" y="2743201"/>
                </a:lnTo>
                <a:lnTo>
                  <a:pt x="73335" y="2743201"/>
                </a:lnTo>
                <a:lnTo>
                  <a:pt x="58668" y="2743201"/>
                </a:lnTo>
                <a:lnTo>
                  <a:pt x="44001" y="2743201"/>
                </a:lnTo>
                <a:lnTo>
                  <a:pt x="29334" y="2743201"/>
                </a:lnTo>
                <a:lnTo>
                  <a:pt x="14667" y="2743201"/>
                </a:lnTo>
                <a:lnTo>
                  <a:pt x="0" y="2743201"/>
                </a:lnTo>
                <a:close/>
              </a:path>
            </a:pathLst>
          </a:custGeom>
          <a:solidFill>
            <a:srgbClr val="8EDBD4">
              <a:alpha val="25000"/>
            </a:srgbClr>
          </a:solidFill>
          <a:ln w="10160">
            <a:solidFill>
              <a:srgbClr val="8EDBD4">
                <a:alpha val="2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4-E08 polygon 28" descr="sci-ppt:o028"/>
          <p:cNvSpPr/>
          <p:nvPr/>
        </p:nvSpPr>
        <p:spPr>
          <a:xfrm>
            <a:off x="914400" y="1920239"/>
            <a:ext cx="5852160" cy="2743201"/>
          </a:xfrm>
          <a:custGeom>
            <a:avLst/>
            <a:gdLst/>
            <a:ahLst/>
            <a:cxnLst/>
            <a:rect l="l" t="t" r="r" b="b"/>
            <a:pathLst>
              <a:path w="5852160" h="2743201">
                <a:moveTo>
                  <a:pt x="0" y="0"/>
                </a:moveTo>
                <a:lnTo>
                  <a:pt x="29334" y="0"/>
                </a:lnTo>
                <a:lnTo>
                  <a:pt x="58668" y="0"/>
                </a:lnTo>
                <a:lnTo>
                  <a:pt x="88002" y="0"/>
                </a:lnTo>
                <a:lnTo>
                  <a:pt x="117336" y="0"/>
                </a:lnTo>
                <a:lnTo>
                  <a:pt x="146670" y="0"/>
                </a:lnTo>
                <a:lnTo>
                  <a:pt x="176004" y="0"/>
                </a:lnTo>
                <a:lnTo>
                  <a:pt x="205338" y="0"/>
                </a:lnTo>
                <a:lnTo>
                  <a:pt x="234673" y="0"/>
                </a:lnTo>
                <a:lnTo>
                  <a:pt x="264007" y="0"/>
                </a:lnTo>
                <a:lnTo>
                  <a:pt x="293341" y="0"/>
                </a:lnTo>
                <a:lnTo>
                  <a:pt x="322675" y="0"/>
                </a:lnTo>
                <a:lnTo>
                  <a:pt x="352009" y="0"/>
                </a:lnTo>
                <a:lnTo>
                  <a:pt x="381343" y="0"/>
                </a:lnTo>
                <a:lnTo>
                  <a:pt x="410677" y="0"/>
                </a:lnTo>
                <a:lnTo>
                  <a:pt x="440012" y="0"/>
                </a:lnTo>
                <a:lnTo>
                  <a:pt x="469346" y="0"/>
                </a:lnTo>
                <a:lnTo>
                  <a:pt x="498680" y="0"/>
                </a:lnTo>
                <a:lnTo>
                  <a:pt x="528014" y="0"/>
                </a:lnTo>
                <a:lnTo>
                  <a:pt x="557348" y="0"/>
                </a:lnTo>
                <a:lnTo>
                  <a:pt x="586682" y="0"/>
                </a:lnTo>
                <a:lnTo>
                  <a:pt x="616016" y="0"/>
                </a:lnTo>
                <a:lnTo>
                  <a:pt x="645350" y="0"/>
                </a:lnTo>
                <a:lnTo>
                  <a:pt x="674685" y="0"/>
                </a:lnTo>
                <a:lnTo>
                  <a:pt x="704019" y="0"/>
                </a:lnTo>
                <a:lnTo>
                  <a:pt x="733353" y="0"/>
                </a:lnTo>
                <a:lnTo>
                  <a:pt x="762687" y="0"/>
                </a:lnTo>
                <a:lnTo>
                  <a:pt x="792021" y="0"/>
                </a:lnTo>
                <a:lnTo>
                  <a:pt x="821355" y="0"/>
                </a:lnTo>
                <a:lnTo>
                  <a:pt x="850689" y="0"/>
                </a:lnTo>
                <a:lnTo>
                  <a:pt x="880024" y="0"/>
                </a:lnTo>
                <a:lnTo>
                  <a:pt x="909358" y="0"/>
                </a:lnTo>
                <a:lnTo>
                  <a:pt x="938692" y="0"/>
                </a:lnTo>
                <a:lnTo>
                  <a:pt x="968026" y="0"/>
                </a:lnTo>
                <a:lnTo>
                  <a:pt x="997360" y="0"/>
                </a:lnTo>
                <a:lnTo>
                  <a:pt x="1026694" y="0"/>
                </a:lnTo>
                <a:lnTo>
                  <a:pt x="1056028" y="0"/>
                </a:lnTo>
                <a:lnTo>
                  <a:pt x="1085363" y="0"/>
                </a:lnTo>
                <a:lnTo>
                  <a:pt x="1114697" y="0"/>
                </a:lnTo>
                <a:lnTo>
                  <a:pt x="1144031" y="0"/>
                </a:lnTo>
                <a:lnTo>
                  <a:pt x="1173365" y="0"/>
                </a:lnTo>
                <a:lnTo>
                  <a:pt x="1202699" y="0"/>
                </a:lnTo>
                <a:lnTo>
                  <a:pt x="1232033" y="0"/>
                </a:lnTo>
                <a:lnTo>
                  <a:pt x="1261367" y="0"/>
                </a:lnTo>
                <a:lnTo>
                  <a:pt x="1290701" y="0"/>
                </a:lnTo>
                <a:lnTo>
                  <a:pt x="1320036" y="0"/>
                </a:lnTo>
                <a:lnTo>
                  <a:pt x="1349370" y="0"/>
                </a:lnTo>
                <a:lnTo>
                  <a:pt x="1378704" y="0"/>
                </a:lnTo>
                <a:lnTo>
                  <a:pt x="1408038" y="0"/>
                </a:lnTo>
                <a:lnTo>
                  <a:pt x="1437372" y="0"/>
                </a:lnTo>
                <a:lnTo>
                  <a:pt x="1466706" y="0"/>
                </a:lnTo>
                <a:lnTo>
                  <a:pt x="1496040" y="0"/>
                </a:lnTo>
                <a:lnTo>
                  <a:pt x="1525375" y="0"/>
                </a:lnTo>
                <a:lnTo>
                  <a:pt x="1554709" y="0"/>
                </a:lnTo>
                <a:lnTo>
                  <a:pt x="1584043" y="0"/>
                </a:lnTo>
                <a:lnTo>
                  <a:pt x="1613377" y="0"/>
                </a:lnTo>
                <a:lnTo>
                  <a:pt x="1642711" y="0"/>
                </a:lnTo>
                <a:lnTo>
                  <a:pt x="1672045" y="0"/>
                </a:lnTo>
                <a:lnTo>
                  <a:pt x="1701379" y="0"/>
                </a:lnTo>
                <a:lnTo>
                  <a:pt x="1730713" y="0"/>
                </a:lnTo>
                <a:lnTo>
                  <a:pt x="1760048" y="0"/>
                </a:lnTo>
                <a:lnTo>
                  <a:pt x="1789382" y="0"/>
                </a:lnTo>
                <a:lnTo>
                  <a:pt x="1818716" y="0"/>
                </a:lnTo>
                <a:lnTo>
                  <a:pt x="1848050" y="0"/>
                </a:lnTo>
                <a:lnTo>
                  <a:pt x="1877384" y="0"/>
                </a:lnTo>
                <a:lnTo>
                  <a:pt x="1906718" y="0"/>
                </a:lnTo>
                <a:lnTo>
                  <a:pt x="1936052" y="0"/>
                </a:lnTo>
                <a:lnTo>
                  <a:pt x="1965387" y="0"/>
                </a:lnTo>
                <a:lnTo>
                  <a:pt x="1994721" y="0"/>
                </a:lnTo>
                <a:lnTo>
                  <a:pt x="2024055" y="0"/>
                </a:lnTo>
                <a:lnTo>
                  <a:pt x="2053389" y="0"/>
                </a:lnTo>
                <a:lnTo>
                  <a:pt x="2082723" y="0"/>
                </a:lnTo>
                <a:lnTo>
                  <a:pt x="2112057" y="0"/>
                </a:lnTo>
                <a:lnTo>
                  <a:pt x="2141391" y="0"/>
                </a:lnTo>
                <a:lnTo>
                  <a:pt x="2170726" y="0"/>
                </a:lnTo>
                <a:lnTo>
                  <a:pt x="2200060" y="0"/>
                </a:lnTo>
                <a:lnTo>
                  <a:pt x="2229394" y="0"/>
                </a:lnTo>
                <a:lnTo>
                  <a:pt x="2258728" y="0"/>
                </a:lnTo>
                <a:lnTo>
                  <a:pt x="2288062" y="0"/>
                </a:lnTo>
                <a:lnTo>
                  <a:pt x="2317396" y="0"/>
                </a:lnTo>
                <a:lnTo>
                  <a:pt x="2346730" y="0"/>
                </a:lnTo>
                <a:lnTo>
                  <a:pt x="2376064" y="0"/>
                </a:lnTo>
                <a:lnTo>
                  <a:pt x="2405399" y="0"/>
                </a:lnTo>
                <a:lnTo>
                  <a:pt x="2434733" y="0"/>
                </a:lnTo>
                <a:lnTo>
                  <a:pt x="2464067" y="0"/>
                </a:lnTo>
                <a:lnTo>
                  <a:pt x="2493401" y="0"/>
                </a:lnTo>
                <a:lnTo>
                  <a:pt x="2522735" y="0"/>
                </a:lnTo>
                <a:lnTo>
                  <a:pt x="2552069" y="0"/>
                </a:lnTo>
                <a:lnTo>
                  <a:pt x="2581403" y="0"/>
                </a:lnTo>
                <a:lnTo>
                  <a:pt x="2610738" y="0"/>
                </a:lnTo>
                <a:lnTo>
                  <a:pt x="2640072" y="0"/>
                </a:lnTo>
                <a:lnTo>
                  <a:pt x="2669406" y="0"/>
                </a:lnTo>
                <a:lnTo>
                  <a:pt x="2698740" y="0"/>
                </a:lnTo>
                <a:lnTo>
                  <a:pt x="2728074" y="0"/>
                </a:lnTo>
                <a:lnTo>
                  <a:pt x="2757408" y="0"/>
                </a:lnTo>
                <a:lnTo>
                  <a:pt x="2786742" y="0"/>
                </a:lnTo>
                <a:lnTo>
                  <a:pt x="2816076" y="0"/>
                </a:lnTo>
                <a:lnTo>
                  <a:pt x="2845411" y="0"/>
                </a:lnTo>
                <a:lnTo>
                  <a:pt x="2874745" y="0"/>
                </a:lnTo>
                <a:lnTo>
                  <a:pt x="2904079" y="0"/>
                </a:lnTo>
                <a:lnTo>
                  <a:pt x="2933413" y="0"/>
                </a:lnTo>
                <a:lnTo>
                  <a:pt x="2962747" y="0"/>
                </a:lnTo>
                <a:lnTo>
                  <a:pt x="2992081" y="0"/>
                </a:lnTo>
                <a:lnTo>
                  <a:pt x="3021415" y="0"/>
                </a:lnTo>
                <a:lnTo>
                  <a:pt x="3050750" y="0"/>
                </a:lnTo>
                <a:lnTo>
                  <a:pt x="3080084" y="0"/>
                </a:lnTo>
                <a:lnTo>
                  <a:pt x="3109418" y="0"/>
                </a:lnTo>
                <a:lnTo>
                  <a:pt x="3138752" y="0"/>
                </a:lnTo>
                <a:lnTo>
                  <a:pt x="3168086" y="0"/>
                </a:lnTo>
                <a:lnTo>
                  <a:pt x="3197420" y="0"/>
                </a:lnTo>
                <a:lnTo>
                  <a:pt x="3226754" y="0"/>
                </a:lnTo>
                <a:lnTo>
                  <a:pt x="3256089" y="0"/>
                </a:lnTo>
                <a:lnTo>
                  <a:pt x="3285423" y="0"/>
                </a:lnTo>
                <a:lnTo>
                  <a:pt x="3314757" y="0"/>
                </a:lnTo>
                <a:lnTo>
                  <a:pt x="3344091" y="0"/>
                </a:lnTo>
                <a:lnTo>
                  <a:pt x="3373425" y="0"/>
                </a:lnTo>
                <a:lnTo>
                  <a:pt x="3402759" y="0"/>
                </a:lnTo>
                <a:lnTo>
                  <a:pt x="3432093" y="0"/>
                </a:lnTo>
                <a:lnTo>
                  <a:pt x="3461427" y="0"/>
                </a:lnTo>
                <a:lnTo>
                  <a:pt x="3490762" y="0"/>
                </a:lnTo>
                <a:lnTo>
                  <a:pt x="3520096" y="0"/>
                </a:lnTo>
                <a:lnTo>
                  <a:pt x="3549430" y="0"/>
                </a:lnTo>
                <a:lnTo>
                  <a:pt x="3578764" y="0"/>
                </a:lnTo>
                <a:lnTo>
                  <a:pt x="3608098" y="0"/>
                </a:lnTo>
                <a:lnTo>
                  <a:pt x="3637432" y="0"/>
                </a:lnTo>
                <a:lnTo>
                  <a:pt x="3666766" y="0"/>
                </a:lnTo>
                <a:lnTo>
                  <a:pt x="3696101" y="0"/>
                </a:lnTo>
                <a:lnTo>
                  <a:pt x="3725435" y="0"/>
                </a:lnTo>
                <a:lnTo>
                  <a:pt x="3754769" y="0"/>
                </a:lnTo>
                <a:lnTo>
                  <a:pt x="3784103" y="0"/>
                </a:lnTo>
                <a:lnTo>
                  <a:pt x="3813437" y="0"/>
                </a:lnTo>
                <a:lnTo>
                  <a:pt x="3842771" y="0"/>
                </a:lnTo>
                <a:lnTo>
                  <a:pt x="3872105" y="0"/>
                </a:lnTo>
                <a:lnTo>
                  <a:pt x="3901440" y="0"/>
                </a:lnTo>
                <a:lnTo>
                  <a:pt x="3930774" y="0"/>
                </a:lnTo>
                <a:lnTo>
                  <a:pt x="3960108" y="0"/>
                </a:lnTo>
                <a:lnTo>
                  <a:pt x="3989442" y="0"/>
                </a:lnTo>
                <a:lnTo>
                  <a:pt x="4018776" y="0"/>
                </a:lnTo>
                <a:lnTo>
                  <a:pt x="4048110" y="0"/>
                </a:lnTo>
                <a:lnTo>
                  <a:pt x="4077444" y="0"/>
                </a:lnTo>
                <a:lnTo>
                  <a:pt x="4106778" y="0"/>
                </a:lnTo>
                <a:lnTo>
                  <a:pt x="4136113" y="0"/>
                </a:lnTo>
                <a:lnTo>
                  <a:pt x="4165447" y="0"/>
                </a:lnTo>
                <a:lnTo>
                  <a:pt x="4194781" y="0"/>
                </a:lnTo>
                <a:lnTo>
                  <a:pt x="4224115" y="0"/>
                </a:lnTo>
                <a:lnTo>
                  <a:pt x="4253449" y="0"/>
                </a:lnTo>
                <a:lnTo>
                  <a:pt x="4282783" y="0"/>
                </a:lnTo>
                <a:lnTo>
                  <a:pt x="4312117" y="0"/>
                </a:lnTo>
                <a:lnTo>
                  <a:pt x="4341452" y="0"/>
                </a:lnTo>
                <a:lnTo>
                  <a:pt x="4370786" y="0"/>
                </a:lnTo>
                <a:lnTo>
                  <a:pt x="4400120" y="0"/>
                </a:lnTo>
                <a:lnTo>
                  <a:pt x="4429454" y="0"/>
                </a:lnTo>
                <a:lnTo>
                  <a:pt x="4458788" y="0"/>
                </a:lnTo>
                <a:lnTo>
                  <a:pt x="4488122" y="0"/>
                </a:lnTo>
                <a:lnTo>
                  <a:pt x="4517456" y="0"/>
                </a:lnTo>
                <a:lnTo>
                  <a:pt x="4546790" y="0"/>
                </a:lnTo>
                <a:lnTo>
                  <a:pt x="4576125" y="0"/>
                </a:lnTo>
                <a:lnTo>
                  <a:pt x="4605459" y="0"/>
                </a:lnTo>
                <a:lnTo>
                  <a:pt x="4634793" y="0"/>
                </a:lnTo>
                <a:lnTo>
                  <a:pt x="4664127" y="0"/>
                </a:lnTo>
                <a:lnTo>
                  <a:pt x="4693461" y="0"/>
                </a:lnTo>
                <a:lnTo>
                  <a:pt x="4722795" y="0"/>
                </a:lnTo>
                <a:lnTo>
                  <a:pt x="4752129" y="0"/>
                </a:lnTo>
                <a:lnTo>
                  <a:pt x="4781464" y="0"/>
                </a:lnTo>
                <a:lnTo>
                  <a:pt x="4810798" y="0"/>
                </a:lnTo>
                <a:lnTo>
                  <a:pt x="4840132" y="0"/>
                </a:lnTo>
                <a:lnTo>
                  <a:pt x="4869466" y="0"/>
                </a:lnTo>
                <a:lnTo>
                  <a:pt x="4898800" y="0"/>
                </a:lnTo>
                <a:lnTo>
                  <a:pt x="4928134" y="0"/>
                </a:lnTo>
                <a:lnTo>
                  <a:pt x="4957468" y="0"/>
                </a:lnTo>
                <a:lnTo>
                  <a:pt x="4986803" y="2743201"/>
                </a:lnTo>
                <a:lnTo>
                  <a:pt x="5016137" y="2743201"/>
                </a:lnTo>
                <a:lnTo>
                  <a:pt x="5045471" y="2743201"/>
                </a:lnTo>
                <a:lnTo>
                  <a:pt x="5074805" y="2743201"/>
                </a:lnTo>
                <a:lnTo>
                  <a:pt x="5104139" y="2743201"/>
                </a:lnTo>
                <a:lnTo>
                  <a:pt x="5133473" y="2743201"/>
                </a:lnTo>
                <a:lnTo>
                  <a:pt x="5162807" y="2743201"/>
                </a:lnTo>
                <a:lnTo>
                  <a:pt x="5192141" y="2743201"/>
                </a:lnTo>
                <a:lnTo>
                  <a:pt x="5221476" y="2743201"/>
                </a:lnTo>
                <a:lnTo>
                  <a:pt x="5250810" y="2743201"/>
                </a:lnTo>
                <a:lnTo>
                  <a:pt x="5280144" y="2743201"/>
                </a:lnTo>
                <a:lnTo>
                  <a:pt x="5309478" y="2743201"/>
                </a:lnTo>
                <a:lnTo>
                  <a:pt x="5338812" y="2743201"/>
                </a:lnTo>
                <a:lnTo>
                  <a:pt x="5368146" y="2743201"/>
                </a:lnTo>
                <a:lnTo>
                  <a:pt x="5397480" y="2743201"/>
                </a:lnTo>
                <a:lnTo>
                  <a:pt x="5426815" y="2743201"/>
                </a:lnTo>
                <a:lnTo>
                  <a:pt x="5456149" y="2743201"/>
                </a:lnTo>
                <a:lnTo>
                  <a:pt x="5485483" y="2743201"/>
                </a:lnTo>
                <a:lnTo>
                  <a:pt x="5514817" y="2743201"/>
                </a:lnTo>
                <a:lnTo>
                  <a:pt x="5544151" y="2743201"/>
                </a:lnTo>
                <a:lnTo>
                  <a:pt x="5573485" y="2743201"/>
                </a:lnTo>
                <a:lnTo>
                  <a:pt x="5602819" y="2743201"/>
                </a:lnTo>
                <a:lnTo>
                  <a:pt x="5632153" y="2743201"/>
                </a:lnTo>
                <a:lnTo>
                  <a:pt x="5661488" y="2743201"/>
                </a:lnTo>
                <a:lnTo>
                  <a:pt x="5690822" y="2743201"/>
                </a:lnTo>
                <a:lnTo>
                  <a:pt x="5720156" y="2743201"/>
                </a:lnTo>
                <a:lnTo>
                  <a:pt x="5749490" y="2743201"/>
                </a:lnTo>
                <a:lnTo>
                  <a:pt x="5778824" y="2743201"/>
                </a:lnTo>
                <a:lnTo>
                  <a:pt x="5808158" y="2743201"/>
                </a:lnTo>
                <a:lnTo>
                  <a:pt x="5837492" y="2743201"/>
                </a:lnTo>
                <a:lnTo>
                  <a:pt x="5852160" y="2743201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4-E08 polygon 29" descr="sci-ppt:o029"/>
          <p:cNvSpPr/>
          <p:nvPr/>
        </p:nvSpPr>
        <p:spPr>
          <a:xfrm>
            <a:off x="914400" y="4334366"/>
            <a:ext cx="5852160" cy="329074"/>
          </a:xfrm>
          <a:custGeom>
            <a:avLst/>
            <a:gdLst/>
            <a:ahLst/>
            <a:cxnLst/>
            <a:rect l="l" t="t" r="r" b="b"/>
            <a:pathLst>
              <a:path w="5852160" h="329074">
                <a:moveTo>
                  <a:pt x="0" y="329074"/>
                </a:moveTo>
                <a:lnTo>
                  <a:pt x="29334" y="329009"/>
                </a:lnTo>
                <a:lnTo>
                  <a:pt x="58668" y="328819"/>
                </a:lnTo>
                <a:lnTo>
                  <a:pt x="88002" y="328512"/>
                </a:lnTo>
                <a:lnTo>
                  <a:pt x="117336" y="328095"/>
                </a:lnTo>
                <a:lnTo>
                  <a:pt x="146670" y="327575"/>
                </a:lnTo>
                <a:lnTo>
                  <a:pt x="176004" y="326956"/>
                </a:lnTo>
                <a:lnTo>
                  <a:pt x="205338" y="326247"/>
                </a:lnTo>
                <a:lnTo>
                  <a:pt x="234673" y="325451"/>
                </a:lnTo>
                <a:lnTo>
                  <a:pt x="264007" y="324575"/>
                </a:lnTo>
                <a:lnTo>
                  <a:pt x="293341" y="323623"/>
                </a:lnTo>
                <a:lnTo>
                  <a:pt x="322675" y="322600"/>
                </a:lnTo>
                <a:lnTo>
                  <a:pt x="352009" y="321510"/>
                </a:lnTo>
                <a:lnTo>
                  <a:pt x="381343" y="320359"/>
                </a:lnTo>
                <a:lnTo>
                  <a:pt x="410677" y="319150"/>
                </a:lnTo>
                <a:lnTo>
                  <a:pt x="440012" y="317886"/>
                </a:lnTo>
                <a:lnTo>
                  <a:pt x="469346" y="316571"/>
                </a:lnTo>
                <a:lnTo>
                  <a:pt x="498680" y="315210"/>
                </a:lnTo>
                <a:lnTo>
                  <a:pt x="528014" y="313804"/>
                </a:lnTo>
                <a:lnTo>
                  <a:pt x="557348" y="312356"/>
                </a:lnTo>
                <a:lnTo>
                  <a:pt x="586682" y="310871"/>
                </a:lnTo>
                <a:lnTo>
                  <a:pt x="616016" y="309350"/>
                </a:lnTo>
                <a:lnTo>
                  <a:pt x="645350" y="307796"/>
                </a:lnTo>
                <a:lnTo>
                  <a:pt x="674685" y="306212"/>
                </a:lnTo>
                <a:lnTo>
                  <a:pt x="704019" y="304599"/>
                </a:lnTo>
                <a:lnTo>
                  <a:pt x="733353" y="302960"/>
                </a:lnTo>
                <a:lnTo>
                  <a:pt x="762687" y="301296"/>
                </a:lnTo>
                <a:lnTo>
                  <a:pt x="792021" y="299611"/>
                </a:lnTo>
                <a:lnTo>
                  <a:pt x="821355" y="297905"/>
                </a:lnTo>
                <a:lnTo>
                  <a:pt x="850689" y="296179"/>
                </a:lnTo>
                <a:lnTo>
                  <a:pt x="880024" y="294437"/>
                </a:lnTo>
                <a:lnTo>
                  <a:pt x="909358" y="292679"/>
                </a:lnTo>
                <a:lnTo>
                  <a:pt x="938692" y="290906"/>
                </a:lnTo>
                <a:lnTo>
                  <a:pt x="968026" y="289120"/>
                </a:lnTo>
                <a:lnTo>
                  <a:pt x="997360" y="287322"/>
                </a:lnTo>
                <a:lnTo>
                  <a:pt x="1026694" y="285513"/>
                </a:lnTo>
                <a:lnTo>
                  <a:pt x="1056028" y="283695"/>
                </a:lnTo>
                <a:lnTo>
                  <a:pt x="1085363" y="281868"/>
                </a:lnTo>
                <a:lnTo>
                  <a:pt x="1114697" y="280033"/>
                </a:lnTo>
                <a:lnTo>
                  <a:pt x="1144031" y="278192"/>
                </a:lnTo>
                <a:lnTo>
                  <a:pt x="1173365" y="276344"/>
                </a:lnTo>
                <a:lnTo>
                  <a:pt x="1202699" y="274491"/>
                </a:lnTo>
                <a:lnTo>
                  <a:pt x="1232033" y="272633"/>
                </a:lnTo>
                <a:lnTo>
                  <a:pt x="1261367" y="270772"/>
                </a:lnTo>
                <a:lnTo>
                  <a:pt x="1290701" y="268907"/>
                </a:lnTo>
                <a:lnTo>
                  <a:pt x="1320036" y="267040"/>
                </a:lnTo>
                <a:lnTo>
                  <a:pt x="1349370" y="265171"/>
                </a:lnTo>
                <a:lnTo>
                  <a:pt x="1378704" y="263299"/>
                </a:lnTo>
                <a:lnTo>
                  <a:pt x="1408038" y="261427"/>
                </a:lnTo>
                <a:lnTo>
                  <a:pt x="1437372" y="259554"/>
                </a:lnTo>
                <a:lnTo>
                  <a:pt x="1466706" y="257681"/>
                </a:lnTo>
                <a:lnTo>
                  <a:pt x="1496040" y="255808"/>
                </a:lnTo>
                <a:lnTo>
                  <a:pt x="1525375" y="253935"/>
                </a:lnTo>
                <a:lnTo>
                  <a:pt x="1554709" y="252063"/>
                </a:lnTo>
                <a:lnTo>
                  <a:pt x="1584043" y="250191"/>
                </a:lnTo>
                <a:lnTo>
                  <a:pt x="1613377" y="248321"/>
                </a:lnTo>
                <a:lnTo>
                  <a:pt x="1642711" y="246453"/>
                </a:lnTo>
                <a:lnTo>
                  <a:pt x="1672045" y="244586"/>
                </a:lnTo>
                <a:lnTo>
                  <a:pt x="1701379" y="242721"/>
                </a:lnTo>
                <a:lnTo>
                  <a:pt x="1730713" y="240859"/>
                </a:lnTo>
                <a:lnTo>
                  <a:pt x="1760048" y="238998"/>
                </a:lnTo>
                <a:lnTo>
                  <a:pt x="1789382" y="237140"/>
                </a:lnTo>
                <a:lnTo>
                  <a:pt x="1818716" y="235285"/>
                </a:lnTo>
                <a:lnTo>
                  <a:pt x="1848050" y="233432"/>
                </a:lnTo>
                <a:lnTo>
                  <a:pt x="1877384" y="231582"/>
                </a:lnTo>
                <a:lnTo>
                  <a:pt x="1906718" y="229735"/>
                </a:lnTo>
                <a:lnTo>
                  <a:pt x="1936052" y="227891"/>
                </a:lnTo>
                <a:lnTo>
                  <a:pt x="1965387" y="226050"/>
                </a:lnTo>
                <a:lnTo>
                  <a:pt x="1994721" y="224212"/>
                </a:lnTo>
                <a:lnTo>
                  <a:pt x="2024055" y="222377"/>
                </a:lnTo>
                <a:lnTo>
                  <a:pt x="2053389" y="220545"/>
                </a:lnTo>
                <a:lnTo>
                  <a:pt x="2082723" y="218717"/>
                </a:lnTo>
                <a:lnTo>
                  <a:pt x="2112057" y="216891"/>
                </a:lnTo>
                <a:lnTo>
                  <a:pt x="2141391" y="215069"/>
                </a:lnTo>
                <a:lnTo>
                  <a:pt x="2170726" y="213251"/>
                </a:lnTo>
                <a:lnTo>
                  <a:pt x="2200060" y="211435"/>
                </a:lnTo>
                <a:lnTo>
                  <a:pt x="2229394" y="209623"/>
                </a:lnTo>
                <a:lnTo>
                  <a:pt x="2258728" y="207814"/>
                </a:lnTo>
                <a:lnTo>
                  <a:pt x="2288062" y="206009"/>
                </a:lnTo>
                <a:lnTo>
                  <a:pt x="2317396" y="204207"/>
                </a:lnTo>
                <a:lnTo>
                  <a:pt x="2346730" y="202408"/>
                </a:lnTo>
                <a:lnTo>
                  <a:pt x="2376064" y="200612"/>
                </a:lnTo>
                <a:lnTo>
                  <a:pt x="2405399" y="198819"/>
                </a:lnTo>
                <a:lnTo>
                  <a:pt x="2434733" y="197030"/>
                </a:lnTo>
                <a:lnTo>
                  <a:pt x="2464067" y="195244"/>
                </a:lnTo>
                <a:lnTo>
                  <a:pt x="2493401" y="193461"/>
                </a:lnTo>
                <a:lnTo>
                  <a:pt x="2522735" y="191681"/>
                </a:lnTo>
                <a:lnTo>
                  <a:pt x="2552069" y="189904"/>
                </a:lnTo>
                <a:lnTo>
                  <a:pt x="2581403" y="188130"/>
                </a:lnTo>
                <a:lnTo>
                  <a:pt x="2610738" y="186359"/>
                </a:lnTo>
                <a:lnTo>
                  <a:pt x="2640072" y="184591"/>
                </a:lnTo>
                <a:lnTo>
                  <a:pt x="2669406" y="182825"/>
                </a:lnTo>
                <a:lnTo>
                  <a:pt x="2698740" y="181063"/>
                </a:lnTo>
                <a:lnTo>
                  <a:pt x="2728074" y="179304"/>
                </a:lnTo>
                <a:lnTo>
                  <a:pt x="2757408" y="177547"/>
                </a:lnTo>
                <a:lnTo>
                  <a:pt x="2786742" y="175793"/>
                </a:lnTo>
                <a:lnTo>
                  <a:pt x="2816076" y="174041"/>
                </a:lnTo>
                <a:lnTo>
                  <a:pt x="2845411" y="172292"/>
                </a:lnTo>
                <a:lnTo>
                  <a:pt x="2874745" y="170546"/>
                </a:lnTo>
                <a:lnTo>
                  <a:pt x="2904079" y="168802"/>
                </a:lnTo>
                <a:lnTo>
                  <a:pt x="2933413" y="167061"/>
                </a:lnTo>
                <a:lnTo>
                  <a:pt x="2962747" y="165322"/>
                </a:lnTo>
                <a:lnTo>
                  <a:pt x="2992081" y="163586"/>
                </a:lnTo>
                <a:lnTo>
                  <a:pt x="3021415" y="161851"/>
                </a:lnTo>
                <a:lnTo>
                  <a:pt x="3050750" y="160119"/>
                </a:lnTo>
                <a:lnTo>
                  <a:pt x="3080084" y="158390"/>
                </a:lnTo>
                <a:lnTo>
                  <a:pt x="3109418" y="156662"/>
                </a:lnTo>
                <a:lnTo>
                  <a:pt x="3138752" y="154937"/>
                </a:lnTo>
                <a:lnTo>
                  <a:pt x="3168086" y="153213"/>
                </a:lnTo>
                <a:lnTo>
                  <a:pt x="3197420" y="151492"/>
                </a:lnTo>
                <a:lnTo>
                  <a:pt x="3226754" y="149772"/>
                </a:lnTo>
                <a:lnTo>
                  <a:pt x="3256089" y="148055"/>
                </a:lnTo>
                <a:lnTo>
                  <a:pt x="3285423" y="146340"/>
                </a:lnTo>
                <a:lnTo>
                  <a:pt x="3314757" y="144626"/>
                </a:lnTo>
                <a:lnTo>
                  <a:pt x="3344091" y="142914"/>
                </a:lnTo>
                <a:lnTo>
                  <a:pt x="3373425" y="141204"/>
                </a:lnTo>
                <a:lnTo>
                  <a:pt x="3402759" y="139495"/>
                </a:lnTo>
                <a:lnTo>
                  <a:pt x="3432093" y="137789"/>
                </a:lnTo>
                <a:lnTo>
                  <a:pt x="3461427" y="136084"/>
                </a:lnTo>
                <a:lnTo>
                  <a:pt x="3490762" y="134380"/>
                </a:lnTo>
                <a:lnTo>
                  <a:pt x="3520096" y="132678"/>
                </a:lnTo>
                <a:lnTo>
                  <a:pt x="3549430" y="130978"/>
                </a:lnTo>
                <a:lnTo>
                  <a:pt x="3578764" y="129279"/>
                </a:lnTo>
                <a:lnTo>
                  <a:pt x="3608098" y="127581"/>
                </a:lnTo>
                <a:lnTo>
                  <a:pt x="3637432" y="125885"/>
                </a:lnTo>
                <a:lnTo>
                  <a:pt x="3666766" y="124190"/>
                </a:lnTo>
                <a:lnTo>
                  <a:pt x="3696101" y="122497"/>
                </a:lnTo>
                <a:lnTo>
                  <a:pt x="3725435" y="120805"/>
                </a:lnTo>
                <a:lnTo>
                  <a:pt x="3754769" y="119114"/>
                </a:lnTo>
                <a:lnTo>
                  <a:pt x="3784103" y="117424"/>
                </a:lnTo>
                <a:lnTo>
                  <a:pt x="3813437" y="115736"/>
                </a:lnTo>
                <a:lnTo>
                  <a:pt x="3842771" y="114048"/>
                </a:lnTo>
                <a:lnTo>
                  <a:pt x="3872105" y="112362"/>
                </a:lnTo>
                <a:lnTo>
                  <a:pt x="3901440" y="110677"/>
                </a:lnTo>
                <a:lnTo>
                  <a:pt x="3930774" y="108993"/>
                </a:lnTo>
                <a:lnTo>
                  <a:pt x="3960108" y="107310"/>
                </a:lnTo>
                <a:lnTo>
                  <a:pt x="3989442" y="105628"/>
                </a:lnTo>
                <a:lnTo>
                  <a:pt x="4018776" y="103947"/>
                </a:lnTo>
                <a:lnTo>
                  <a:pt x="4048110" y="102267"/>
                </a:lnTo>
                <a:lnTo>
                  <a:pt x="4077444" y="100588"/>
                </a:lnTo>
                <a:lnTo>
                  <a:pt x="4106778" y="98910"/>
                </a:lnTo>
                <a:lnTo>
                  <a:pt x="4136113" y="97232"/>
                </a:lnTo>
                <a:lnTo>
                  <a:pt x="4165447" y="95556"/>
                </a:lnTo>
                <a:lnTo>
                  <a:pt x="4194781" y="93880"/>
                </a:lnTo>
                <a:lnTo>
                  <a:pt x="4224115" y="92205"/>
                </a:lnTo>
                <a:lnTo>
                  <a:pt x="4253449" y="90531"/>
                </a:lnTo>
                <a:lnTo>
                  <a:pt x="4282783" y="88857"/>
                </a:lnTo>
                <a:lnTo>
                  <a:pt x="4312117" y="87185"/>
                </a:lnTo>
                <a:lnTo>
                  <a:pt x="4341452" y="85513"/>
                </a:lnTo>
                <a:lnTo>
                  <a:pt x="4370786" y="83842"/>
                </a:lnTo>
                <a:lnTo>
                  <a:pt x="4400120" y="82171"/>
                </a:lnTo>
                <a:lnTo>
                  <a:pt x="4429454" y="80501"/>
                </a:lnTo>
                <a:lnTo>
                  <a:pt x="4458788" y="78832"/>
                </a:lnTo>
                <a:lnTo>
                  <a:pt x="4488122" y="77163"/>
                </a:lnTo>
                <a:lnTo>
                  <a:pt x="4517456" y="75495"/>
                </a:lnTo>
                <a:lnTo>
                  <a:pt x="4546790" y="73828"/>
                </a:lnTo>
                <a:lnTo>
                  <a:pt x="4576125" y="72161"/>
                </a:lnTo>
                <a:lnTo>
                  <a:pt x="4605459" y="70494"/>
                </a:lnTo>
                <a:lnTo>
                  <a:pt x="4634793" y="68828"/>
                </a:lnTo>
                <a:lnTo>
                  <a:pt x="4664127" y="67163"/>
                </a:lnTo>
                <a:lnTo>
                  <a:pt x="4693461" y="65498"/>
                </a:lnTo>
                <a:lnTo>
                  <a:pt x="4722795" y="63834"/>
                </a:lnTo>
                <a:lnTo>
                  <a:pt x="4752129" y="62170"/>
                </a:lnTo>
                <a:lnTo>
                  <a:pt x="4781464" y="60506"/>
                </a:lnTo>
                <a:lnTo>
                  <a:pt x="4810798" y="58843"/>
                </a:lnTo>
                <a:lnTo>
                  <a:pt x="4840132" y="57180"/>
                </a:lnTo>
                <a:lnTo>
                  <a:pt x="4869466" y="55518"/>
                </a:lnTo>
                <a:lnTo>
                  <a:pt x="4898800" y="53856"/>
                </a:lnTo>
                <a:lnTo>
                  <a:pt x="4928134" y="52195"/>
                </a:lnTo>
                <a:lnTo>
                  <a:pt x="4957468" y="50534"/>
                </a:lnTo>
                <a:lnTo>
                  <a:pt x="4986803" y="48873"/>
                </a:lnTo>
                <a:lnTo>
                  <a:pt x="5016137" y="47213"/>
                </a:lnTo>
                <a:lnTo>
                  <a:pt x="5045471" y="45553"/>
                </a:lnTo>
                <a:lnTo>
                  <a:pt x="5074805" y="43893"/>
                </a:lnTo>
                <a:lnTo>
                  <a:pt x="5104139" y="42233"/>
                </a:lnTo>
                <a:lnTo>
                  <a:pt x="5133473" y="40574"/>
                </a:lnTo>
                <a:lnTo>
                  <a:pt x="5162807" y="38916"/>
                </a:lnTo>
                <a:lnTo>
                  <a:pt x="5192141" y="37257"/>
                </a:lnTo>
                <a:lnTo>
                  <a:pt x="5221476" y="35599"/>
                </a:lnTo>
                <a:lnTo>
                  <a:pt x="5250810" y="33941"/>
                </a:lnTo>
                <a:lnTo>
                  <a:pt x="5280144" y="32283"/>
                </a:lnTo>
                <a:lnTo>
                  <a:pt x="5309478" y="30626"/>
                </a:lnTo>
                <a:lnTo>
                  <a:pt x="5338812" y="28969"/>
                </a:lnTo>
                <a:lnTo>
                  <a:pt x="5368146" y="27312"/>
                </a:lnTo>
                <a:lnTo>
                  <a:pt x="5397480" y="25655"/>
                </a:lnTo>
                <a:lnTo>
                  <a:pt x="5426815" y="23998"/>
                </a:lnTo>
                <a:lnTo>
                  <a:pt x="5456149" y="22342"/>
                </a:lnTo>
                <a:lnTo>
                  <a:pt x="5485483" y="20686"/>
                </a:lnTo>
                <a:lnTo>
                  <a:pt x="5514817" y="19030"/>
                </a:lnTo>
                <a:lnTo>
                  <a:pt x="5544151" y="17374"/>
                </a:lnTo>
                <a:lnTo>
                  <a:pt x="5573485" y="15719"/>
                </a:lnTo>
                <a:lnTo>
                  <a:pt x="5602819" y="14064"/>
                </a:lnTo>
                <a:lnTo>
                  <a:pt x="5632153" y="12408"/>
                </a:lnTo>
                <a:lnTo>
                  <a:pt x="5661488" y="10753"/>
                </a:lnTo>
                <a:lnTo>
                  <a:pt x="5690822" y="9099"/>
                </a:lnTo>
                <a:lnTo>
                  <a:pt x="5720156" y="7444"/>
                </a:lnTo>
                <a:lnTo>
                  <a:pt x="5749490" y="5789"/>
                </a:lnTo>
                <a:lnTo>
                  <a:pt x="5778824" y="4135"/>
                </a:lnTo>
                <a:lnTo>
                  <a:pt x="5808158" y="2481"/>
                </a:lnTo>
                <a:lnTo>
                  <a:pt x="5837492" y="827"/>
                </a:lnTo>
                <a:lnTo>
                  <a:pt x="5852160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4-E08 text 30" descr="sci-ppt:o030"/>
          <p:cNvSpPr txBox="1"/>
          <p:nvPr/>
        </p:nvSpPr>
        <p:spPr>
          <a:xfrm>
            <a:off x="1719072" y="2377439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J_A = ∫ p_load dt (applied)</a:t>
            </a:r>
          </a:p>
        </p:txBody>
      </p:sp>
      <p:sp>
        <p:nvSpPr>
          <p:cNvPr id="33" name="C4-E08 text 31" descr="sci-ppt:o031"/>
          <p:cNvSpPr txBox="1"/>
          <p:nvPr/>
        </p:nvSpPr>
        <p:spPr>
          <a:xfrm>
            <a:off x="2157984" y="3886199"/>
            <a:ext cx="38404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reactions ∫ [D_f∇⁴w − T₀∇²w + t_coh] dt</a:t>
            </a:r>
          </a:p>
        </p:txBody>
      </p:sp>
      <p:sp>
        <p:nvSpPr>
          <p:cNvPr id="34" name="C4-E08 round_rect 32" descr="sci-ppt:o032"/>
          <p:cNvSpPr/>
          <p:nvPr/>
        </p:nvSpPr>
        <p:spPr>
          <a:xfrm>
            <a:off x="7040880" y="1371600"/>
            <a:ext cx="4800600" cy="3291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4-E08 text 33" descr="sci-ppt:o033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Exact pulse integral</a:t>
            </a:r>
          </a:p>
        </p:txBody>
      </p:sp>
      <p:sp>
        <p:nvSpPr>
          <p:cNvPr id="36" name="C4-E08 text 34" descr="sci-ppt:o034"/>
          <p:cNvSpPr txBox="1"/>
          <p:nvPr/>
        </p:nvSpPr>
        <p:spPr>
          <a:xfrm>
            <a:off x="7178040" y="1874519"/>
            <a:ext cx="45720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m_A[ẇ(t_b) − ẇ(tₐ)] = J_A − ∫ [D_f∇⁴w − T₀∇²w + t_coh]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dt</a:t>
            </a:r>
          </a:p>
        </p:txBody>
      </p:sp>
      <p:sp>
        <p:nvSpPr>
          <p:cNvPr id="37" name="C4-E08 text 35" descr="sci-ppt:o035"/>
          <p:cNvSpPr txBox="1"/>
          <p:nvPr/>
        </p:nvSpPr>
        <p:spPr>
          <a:xfrm>
            <a:off x="7379208" y="2834640"/>
            <a:ext cx="437083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Left: momentum per area gained.</a:t>
            </a:r>
          </a:p>
        </p:txBody>
      </p:sp>
      <p:sp>
        <p:nvSpPr>
          <p:cNvPr id="38" name="C4-E08 ellipse 36" descr="sci-ppt:o036"/>
          <p:cNvSpPr/>
          <p:nvPr/>
        </p:nvSpPr>
        <p:spPr>
          <a:xfrm>
            <a:off x="7210044" y="288798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4-E08 text 37" descr="sci-ppt:o037"/>
          <p:cNvSpPr txBox="1"/>
          <p:nvPr/>
        </p:nvSpPr>
        <p:spPr>
          <a:xfrm>
            <a:off x="7379208" y="3112008"/>
            <a:ext cx="437083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Right: applied impulse minus impulse of the reactions.</a:t>
            </a:r>
          </a:p>
        </p:txBody>
      </p:sp>
      <p:sp>
        <p:nvSpPr>
          <p:cNvPr id="40" name="C4-E08 ellipse 38" descr="sci-ppt:o038"/>
          <p:cNvSpPr/>
          <p:nvPr/>
        </p:nvSpPr>
        <p:spPr>
          <a:xfrm>
            <a:off x="7210044" y="316534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4-E08 text 39" descr="sci-ppt:o039"/>
          <p:cNvSpPr txBox="1"/>
          <p:nvPr/>
        </p:nvSpPr>
        <p:spPr>
          <a:xfrm>
            <a:off x="7379208" y="3389376"/>
            <a:ext cx="437083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Reactions are small only if the pulse is shorter than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plate response.</a:t>
            </a:r>
          </a:p>
        </p:txBody>
      </p:sp>
      <p:sp>
        <p:nvSpPr>
          <p:cNvPr id="42" name="C4-E08 ellipse 40" descr="sci-ppt:o040"/>
          <p:cNvSpPr/>
          <p:nvPr/>
        </p:nvSpPr>
        <p:spPr>
          <a:xfrm>
            <a:off x="7210044" y="344271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4-E08 text 41" descr="sci-ppt:o041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 free velocity jump J_A/m_A is only the upper limit: elastic and cohesive reactions subtract from it.</a:t>
            </a:r>
          </a:p>
        </p:txBody>
      </p:sp>
      <p:sp>
        <p:nvSpPr>
          <p:cNvPr id="44" name="C4-E08 text 42" descr="sci-ppt:o04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Time-integrated momentum balance of Eq. C4-E08; curves are schematic.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C4-E09 · Short-pulse free-response approximation</a:t>
            </a:r>
          </a:p>
        </p:txBody>
      </p:sp>
      <p:cxnSp>
        <p:nvCxnSpPr>
          <p:cNvPr id="3" name="C4-E09 line 1" descr="sci-ppt:o001"/>
          <p:cNvCxnSpPr/>
          <p:nvPr/>
        </p:nvCxnSpPr>
        <p:spPr>
          <a:xfrm>
            <a:off x="914400" y="4846320"/>
            <a:ext cx="54864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09 line 2" descr="sci-ppt:o002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09 line 3" descr="sci-ppt:o003"/>
          <p:cNvCxnSpPr/>
          <p:nvPr/>
        </p:nvCxnSpPr>
        <p:spPr>
          <a:xfrm>
            <a:off x="9144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09 line 4" descr="sci-ppt:o004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09 text 5" descr="sci-ppt:o005"/>
          <p:cNvSpPr txBox="1"/>
          <p:nvPr/>
        </p:nvSpPr>
        <p:spPr>
          <a:xfrm>
            <a:off x="4572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0.000</a:t>
            </a:r>
          </a:p>
        </p:txBody>
      </p:sp>
      <p:cxnSp>
        <p:nvCxnSpPr>
          <p:cNvPr id="8" name="C4-E09 line 6" descr="sci-ppt:o006"/>
          <p:cNvCxnSpPr/>
          <p:nvPr/>
        </p:nvCxnSpPr>
        <p:spPr>
          <a:xfrm>
            <a:off x="22860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09 line 7" descr="sci-ppt:o007"/>
          <p:cNvCxnSpPr/>
          <p:nvPr/>
        </p:nvCxnSpPr>
        <p:spPr>
          <a:xfrm>
            <a:off x="22860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09 text 8" descr="sci-ppt:o008"/>
          <p:cNvSpPr txBox="1"/>
          <p:nvPr/>
        </p:nvSpPr>
        <p:spPr>
          <a:xfrm>
            <a:off x="18288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0.025</a:t>
            </a:r>
          </a:p>
        </p:txBody>
      </p:sp>
      <p:cxnSp>
        <p:nvCxnSpPr>
          <p:cNvPr id="11" name="C4-E09 line 9" descr="sci-ppt:o009"/>
          <p:cNvCxnSpPr/>
          <p:nvPr/>
        </p:nvCxnSpPr>
        <p:spPr>
          <a:xfrm>
            <a:off x="36576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09 line 10" descr="sci-ppt:o010"/>
          <p:cNvCxnSpPr/>
          <p:nvPr/>
        </p:nvCxnSpPr>
        <p:spPr>
          <a:xfrm>
            <a:off x="36576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09 text 11" descr="sci-ppt:o011"/>
          <p:cNvSpPr txBox="1"/>
          <p:nvPr/>
        </p:nvSpPr>
        <p:spPr>
          <a:xfrm>
            <a:off x="32004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0.050</a:t>
            </a:r>
          </a:p>
        </p:txBody>
      </p:sp>
      <p:cxnSp>
        <p:nvCxnSpPr>
          <p:cNvPr id="14" name="C4-E09 line 12" descr="sci-ppt:o012"/>
          <p:cNvCxnSpPr/>
          <p:nvPr/>
        </p:nvCxnSpPr>
        <p:spPr>
          <a:xfrm>
            <a:off x="5029199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09 line 13" descr="sci-ppt:o013"/>
          <p:cNvCxnSpPr/>
          <p:nvPr/>
        </p:nvCxnSpPr>
        <p:spPr>
          <a:xfrm>
            <a:off x="5029199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09 text 14" descr="sci-ppt:o014"/>
          <p:cNvSpPr txBox="1"/>
          <p:nvPr/>
        </p:nvSpPr>
        <p:spPr>
          <a:xfrm>
            <a:off x="4571999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0.075</a:t>
            </a:r>
          </a:p>
        </p:txBody>
      </p:sp>
      <p:cxnSp>
        <p:nvCxnSpPr>
          <p:cNvPr id="17" name="C4-E09 line 15" descr="sci-ppt:o015"/>
          <p:cNvCxnSpPr/>
          <p:nvPr/>
        </p:nvCxnSpPr>
        <p:spPr>
          <a:xfrm>
            <a:off x="64008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09 line 16" descr="sci-ppt:o016"/>
          <p:cNvCxnSpPr/>
          <p:nvPr/>
        </p:nvCxnSpPr>
        <p:spPr>
          <a:xfrm>
            <a:off x="64008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09 text 17" descr="sci-ppt:o017"/>
          <p:cNvSpPr txBox="1"/>
          <p:nvPr/>
        </p:nvSpPr>
        <p:spPr>
          <a:xfrm>
            <a:off x="59436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0.100</a:t>
            </a:r>
          </a:p>
        </p:txBody>
      </p:sp>
      <p:cxnSp>
        <p:nvCxnSpPr>
          <p:cNvPr id="20" name="C4-E09 line 18" descr="sci-ppt:o018"/>
          <p:cNvCxnSpPr/>
          <p:nvPr/>
        </p:nvCxnSpPr>
        <p:spPr>
          <a:xfrm>
            <a:off x="85039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09 line 19" descr="sci-ppt:o019"/>
          <p:cNvCxnSpPr/>
          <p:nvPr/>
        </p:nvCxnSpPr>
        <p:spPr>
          <a:xfrm>
            <a:off x="850392" y="415137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09 line 20" descr="sci-ppt:o020"/>
          <p:cNvCxnSpPr/>
          <p:nvPr/>
        </p:nvCxnSpPr>
        <p:spPr>
          <a:xfrm>
            <a:off x="914400" y="4151376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4-E09 text 21" descr="sci-ppt:o021"/>
          <p:cNvSpPr txBox="1"/>
          <p:nvPr/>
        </p:nvSpPr>
        <p:spPr>
          <a:xfrm>
            <a:off x="45720" y="406908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4" name="C4-E09 line 22" descr="sci-ppt:o022"/>
          <p:cNvCxnSpPr/>
          <p:nvPr/>
        </p:nvCxnSpPr>
        <p:spPr>
          <a:xfrm>
            <a:off x="850392" y="345643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09 line 23" descr="sci-ppt:o023"/>
          <p:cNvCxnSpPr/>
          <p:nvPr/>
        </p:nvCxnSpPr>
        <p:spPr>
          <a:xfrm>
            <a:off x="914400" y="3456432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09 text 24" descr="sci-ppt:o024"/>
          <p:cNvSpPr txBox="1"/>
          <p:nvPr/>
        </p:nvSpPr>
        <p:spPr>
          <a:xfrm>
            <a:off x="45720" y="337413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7" name="C4-E09 line 25" descr="sci-ppt:o025"/>
          <p:cNvCxnSpPr/>
          <p:nvPr/>
        </p:nvCxnSpPr>
        <p:spPr>
          <a:xfrm>
            <a:off x="850392" y="276148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4-E09 line 26" descr="sci-ppt:o026"/>
          <p:cNvCxnSpPr/>
          <p:nvPr/>
        </p:nvCxnSpPr>
        <p:spPr>
          <a:xfrm>
            <a:off x="914400" y="2761488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4-E09 text 27" descr="sci-ppt:o027"/>
          <p:cNvSpPr txBox="1"/>
          <p:nvPr/>
        </p:nvSpPr>
        <p:spPr>
          <a:xfrm>
            <a:off x="45720" y="267919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30" name="C4-E09 line 28" descr="sci-ppt:o028"/>
          <p:cNvCxnSpPr/>
          <p:nvPr/>
        </p:nvCxnSpPr>
        <p:spPr>
          <a:xfrm>
            <a:off x="850392" y="206654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4-E09 line 29" descr="sci-ppt:o029"/>
          <p:cNvCxnSpPr/>
          <p:nvPr/>
        </p:nvCxnSpPr>
        <p:spPr>
          <a:xfrm>
            <a:off x="914400" y="2066543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4-E09 text 30" descr="sci-ppt:o030"/>
          <p:cNvSpPr txBox="1"/>
          <p:nvPr/>
        </p:nvSpPr>
        <p:spPr>
          <a:xfrm>
            <a:off x="45720" y="198424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33" name="C4-E09 line 31" descr="sci-ppt:o031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4-E09 line 32" descr="sci-ppt:o032"/>
          <p:cNvCxnSpPr/>
          <p:nvPr/>
        </p:nvCxnSpPr>
        <p:spPr>
          <a:xfrm>
            <a:off x="914400" y="13716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4-E09 text 33" descr="sci-ppt:o033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sp>
        <p:nvSpPr>
          <p:cNvPr id="36" name="C4-E09 text 34" descr="sci-ppt:o034"/>
          <p:cNvSpPr txBox="1"/>
          <p:nvPr/>
        </p:nvSpPr>
        <p:spPr>
          <a:xfrm>
            <a:off x="914400" y="5129783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areal impulse J_A  (N s / m²)</a:t>
            </a:r>
          </a:p>
        </p:txBody>
      </p:sp>
      <p:sp>
        <p:nvSpPr>
          <p:cNvPr id="37" name="C4-E09 text 35" descr="sci-ppt:o035"/>
          <p:cNvSpPr txBox="1"/>
          <p:nvPr/>
        </p:nvSpPr>
        <p:spPr>
          <a:xfrm>
            <a:off x="365760" y="1024128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film speed Δẇ  (m/s)</a:t>
            </a:r>
          </a:p>
        </p:txBody>
      </p:sp>
      <p:sp>
        <p:nvSpPr>
          <p:cNvPr id="38" name="C4-E09 polygon 36" descr="sci-ppt:o036"/>
          <p:cNvSpPr/>
          <p:nvPr/>
        </p:nvSpPr>
        <p:spPr>
          <a:xfrm>
            <a:off x="914400" y="1863727"/>
            <a:ext cx="5486400" cy="2982593"/>
          </a:xfrm>
          <a:custGeom>
            <a:avLst/>
            <a:gdLst/>
            <a:ahLst/>
            <a:cxnLst/>
            <a:rect l="l" t="t" r="r" b="b"/>
            <a:pathLst>
              <a:path w="5486400" h="2982593">
                <a:moveTo>
                  <a:pt x="0" y="2982593"/>
                </a:moveTo>
                <a:lnTo>
                  <a:pt x="55418" y="2952465"/>
                </a:lnTo>
                <a:lnTo>
                  <a:pt x="110836" y="2922338"/>
                </a:lnTo>
                <a:lnTo>
                  <a:pt x="166254" y="2892211"/>
                </a:lnTo>
                <a:lnTo>
                  <a:pt x="221672" y="2862084"/>
                </a:lnTo>
                <a:lnTo>
                  <a:pt x="277090" y="2831957"/>
                </a:lnTo>
                <a:lnTo>
                  <a:pt x="332509" y="2801829"/>
                </a:lnTo>
                <a:lnTo>
                  <a:pt x="387927" y="2771702"/>
                </a:lnTo>
                <a:lnTo>
                  <a:pt x="443345" y="2741575"/>
                </a:lnTo>
                <a:lnTo>
                  <a:pt x="498763" y="2711448"/>
                </a:lnTo>
                <a:lnTo>
                  <a:pt x="554181" y="2681321"/>
                </a:lnTo>
                <a:lnTo>
                  <a:pt x="609599" y="2651193"/>
                </a:lnTo>
                <a:lnTo>
                  <a:pt x="665018" y="2621066"/>
                </a:lnTo>
                <a:lnTo>
                  <a:pt x="720436" y="2590939"/>
                </a:lnTo>
                <a:lnTo>
                  <a:pt x="775854" y="2560812"/>
                </a:lnTo>
                <a:lnTo>
                  <a:pt x="831272" y="2530685"/>
                </a:lnTo>
                <a:lnTo>
                  <a:pt x="886690" y="2500557"/>
                </a:lnTo>
                <a:lnTo>
                  <a:pt x="942109" y="2470430"/>
                </a:lnTo>
                <a:lnTo>
                  <a:pt x="997527" y="2440303"/>
                </a:lnTo>
                <a:lnTo>
                  <a:pt x="1052945" y="2410176"/>
                </a:lnTo>
                <a:lnTo>
                  <a:pt x="1108363" y="2380049"/>
                </a:lnTo>
                <a:lnTo>
                  <a:pt x="1163781" y="2349921"/>
                </a:lnTo>
                <a:lnTo>
                  <a:pt x="1219199" y="2319794"/>
                </a:lnTo>
                <a:lnTo>
                  <a:pt x="1274618" y="2289667"/>
                </a:lnTo>
                <a:lnTo>
                  <a:pt x="1330036" y="2259540"/>
                </a:lnTo>
                <a:lnTo>
                  <a:pt x="1385454" y="2229413"/>
                </a:lnTo>
                <a:lnTo>
                  <a:pt x="1440872" y="2199285"/>
                </a:lnTo>
                <a:lnTo>
                  <a:pt x="1496290" y="2169158"/>
                </a:lnTo>
                <a:lnTo>
                  <a:pt x="1551709" y="2139031"/>
                </a:lnTo>
                <a:lnTo>
                  <a:pt x="1607127" y="2108904"/>
                </a:lnTo>
                <a:lnTo>
                  <a:pt x="1662545" y="2078777"/>
                </a:lnTo>
                <a:lnTo>
                  <a:pt x="1717963" y="2048649"/>
                </a:lnTo>
                <a:lnTo>
                  <a:pt x="1773381" y="2018522"/>
                </a:lnTo>
                <a:lnTo>
                  <a:pt x="1828800" y="1988395"/>
                </a:lnTo>
                <a:lnTo>
                  <a:pt x="1884218" y="1958268"/>
                </a:lnTo>
                <a:lnTo>
                  <a:pt x="1939636" y="1928141"/>
                </a:lnTo>
                <a:lnTo>
                  <a:pt x="1995054" y="1898013"/>
                </a:lnTo>
                <a:lnTo>
                  <a:pt x="2050472" y="1867886"/>
                </a:lnTo>
                <a:lnTo>
                  <a:pt x="2105890" y="1837759"/>
                </a:lnTo>
                <a:lnTo>
                  <a:pt x="2161309" y="1807632"/>
                </a:lnTo>
                <a:lnTo>
                  <a:pt x="2216727" y="1777505"/>
                </a:lnTo>
                <a:lnTo>
                  <a:pt x="2272145" y="1747378"/>
                </a:lnTo>
                <a:lnTo>
                  <a:pt x="2327563" y="1717250"/>
                </a:lnTo>
                <a:lnTo>
                  <a:pt x="2382981" y="1687123"/>
                </a:lnTo>
                <a:lnTo>
                  <a:pt x="2438400" y="1656996"/>
                </a:lnTo>
                <a:lnTo>
                  <a:pt x="2493818" y="1626869"/>
                </a:lnTo>
                <a:lnTo>
                  <a:pt x="2549236" y="1596742"/>
                </a:lnTo>
                <a:lnTo>
                  <a:pt x="2604654" y="1566614"/>
                </a:lnTo>
                <a:lnTo>
                  <a:pt x="2660072" y="1536487"/>
                </a:lnTo>
                <a:lnTo>
                  <a:pt x="2715490" y="1506360"/>
                </a:lnTo>
                <a:lnTo>
                  <a:pt x="2770909" y="1476233"/>
                </a:lnTo>
                <a:lnTo>
                  <a:pt x="2826327" y="1446106"/>
                </a:lnTo>
                <a:lnTo>
                  <a:pt x="2881745" y="1415978"/>
                </a:lnTo>
                <a:lnTo>
                  <a:pt x="2937163" y="1385851"/>
                </a:lnTo>
                <a:lnTo>
                  <a:pt x="2992581" y="1355724"/>
                </a:lnTo>
                <a:lnTo>
                  <a:pt x="3047999" y="1325597"/>
                </a:lnTo>
                <a:lnTo>
                  <a:pt x="3103418" y="1295470"/>
                </a:lnTo>
                <a:lnTo>
                  <a:pt x="3158836" y="1265342"/>
                </a:lnTo>
                <a:lnTo>
                  <a:pt x="3214254" y="1235215"/>
                </a:lnTo>
                <a:lnTo>
                  <a:pt x="3269672" y="1205088"/>
                </a:lnTo>
                <a:lnTo>
                  <a:pt x="3325090" y="1174961"/>
                </a:lnTo>
                <a:lnTo>
                  <a:pt x="3380509" y="1144834"/>
                </a:lnTo>
                <a:lnTo>
                  <a:pt x="3435927" y="1114706"/>
                </a:lnTo>
                <a:lnTo>
                  <a:pt x="3491345" y="1084579"/>
                </a:lnTo>
                <a:lnTo>
                  <a:pt x="3546763" y="1054452"/>
                </a:lnTo>
                <a:lnTo>
                  <a:pt x="3602181" y="1024325"/>
                </a:lnTo>
                <a:lnTo>
                  <a:pt x="3657600" y="994198"/>
                </a:lnTo>
                <a:lnTo>
                  <a:pt x="3713018" y="964070"/>
                </a:lnTo>
                <a:lnTo>
                  <a:pt x="3768436" y="933943"/>
                </a:lnTo>
                <a:lnTo>
                  <a:pt x="3823854" y="903816"/>
                </a:lnTo>
                <a:lnTo>
                  <a:pt x="3879272" y="873689"/>
                </a:lnTo>
                <a:lnTo>
                  <a:pt x="3934690" y="843562"/>
                </a:lnTo>
                <a:lnTo>
                  <a:pt x="3990109" y="813434"/>
                </a:lnTo>
                <a:lnTo>
                  <a:pt x="4045527" y="783307"/>
                </a:lnTo>
                <a:lnTo>
                  <a:pt x="4100945" y="753180"/>
                </a:lnTo>
                <a:lnTo>
                  <a:pt x="4156363" y="723053"/>
                </a:lnTo>
                <a:lnTo>
                  <a:pt x="4211781" y="692926"/>
                </a:lnTo>
                <a:lnTo>
                  <a:pt x="4267200" y="662799"/>
                </a:lnTo>
                <a:lnTo>
                  <a:pt x="4322618" y="632671"/>
                </a:lnTo>
                <a:lnTo>
                  <a:pt x="4378036" y="602544"/>
                </a:lnTo>
                <a:lnTo>
                  <a:pt x="4433454" y="572417"/>
                </a:lnTo>
                <a:lnTo>
                  <a:pt x="4488872" y="542290"/>
                </a:lnTo>
                <a:lnTo>
                  <a:pt x="4544290" y="512163"/>
                </a:lnTo>
                <a:lnTo>
                  <a:pt x="4599709" y="482035"/>
                </a:lnTo>
                <a:lnTo>
                  <a:pt x="4655127" y="451908"/>
                </a:lnTo>
                <a:lnTo>
                  <a:pt x="4710545" y="421781"/>
                </a:lnTo>
                <a:lnTo>
                  <a:pt x="4765963" y="391654"/>
                </a:lnTo>
                <a:lnTo>
                  <a:pt x="4821381" y="361527"/>
                </a:lnTo>
                <a:lnTo>
                  <a:pt x="4876800" y="331399"/>
                </a:lnTo>
                <a:lnTo>
                  <a:pt x="4932218" y="301272"/>
                </a:lnTo>
                <a:lnTo>
                  <a:pt x="4987636" y="271145"/>
                </a:lnTo>
                <a:lnTo>
                  <a:pt x="5043054" y="241018"/>
                </a:lnTo>
                <a:lnTo>
                  <a:pt x="5098472" y="210891"/>
                </a:lnTo>
                <a:lnTo>
                  <a:pt x="5153890" y="180763"/>
                </a:lnTo>
                <a:lnTo>
                  <a:pt x="5209309" y="150636"/>
                </a:lnTo>
                <a:lnTo>
                  <a:pt x="5264727" y="120509"/>
                </a:lnTo>
                <a:lnTo>
                  <a:pt x="5320145" y="90382"/>
                </a:lnTo>
                <a:lnTo>
                  <a:pt x="5375563" y="60255"/>
                </a:lnTo>
                <a:lnTo>
                  <a:pt x="5430981" y="30127"/>
                </a:lnTo>
                <a:lnTo>
                  <a:pt x="548640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4-E09 text 37" descr="sci-ppt:o037"/>
          <p:cNvSpPr txBox="1"/>
          <p:nvPr/>
        </p:nvSpPr>
        <p:spPr>
          <a:xfrm>
            <a:off x="1261872" y="1697126"/>
            <a:ext cx="2194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Δẇ = J_A / m_A</a:t>
            </a:r>
          </a:p>
        </p:txBody>
      </p:sp>
      <p:cxnSp>
        <p:nvCxnSpPr>
          <p:cNvPr id="40" name="C4-E09 line 38" descr="sci-ppt:o038"/>
          <p:cNvCxnSpPr/>
          <p:nvPr/>
        </p:nvCxnSpPr>
        <p:spPr>
          <a:xfrm>
            <a:off x="7132320" y="4846320"/>
            <a:ext cx="466343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1" name="C4-E09 line 39" descr="sci-ppt:o039"/>
          <p:cNvCxnSpPr/>
          <p:nvPr/>
        </p:nvCxnSpPr>
        <p:spPr>
          <a:xfrm>
            <a:off x="713232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2" name="C4-E09 line 40" descr="sci-ppt:o040"/>
          <p:cNvCxnSpPr/>
          <p:nvPr/>
        </p:nvCxnSpPr>
        <p:spPr>
          <a:xfrm>
            <a:off x="713232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4-E09 line 41" descr="sci-ppt:o041"/>
          <p:cNvCxnSpPr/>
          <p:nvPr/>
        </p:nvCxnSpPr>
        <p:spPr>
          <a:xfrm>
            <a:off x="713232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C4-E09 text 42" descr="sci-ppt:o042"/>
          <p:cNvSpPr txBox="1"/>
          <p:nvPr/>
        </p:nvSpPr>
        <p:spPr>
          <a:xfrm>
            <a:off x="667512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45" name="C4-E09 line 43" descr="sci-ppt:o043"/>
          <p:cNvCxnSpPr/>
          <p:nvPr/>
        </p:nvCxnSpPr>
        <p:spPr>
          <a:xfrm>
            <a:off x="946404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4-E09 line 44" descr="sci-ppt:o044"/>
          <p:cNvCxnSpPr/>
          <p:nvPr/>
        </p:nvCxnSpPr>
        <p:spPr>
          <a:xfrm>
            <a:off x="946404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4-E09 text 45" descr="sci-ppt:o045"/>
          <p:cNvSpPr txBox="1"/>
          <p:nvPr/>
        </p:nvSpPr>
        <p:spPr>
          <a:xfrm>
            <a:off x="900684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48" name="C4-E09 line 46" descr="sci-ppt:o046"/>
          <p:cNvCxnSpPr/>
          <p:nvPr/>
        </p:nvCxnSpPr>
        <p:spPr>
          <a:xfrm>
            <a:off x="11795759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4-E09 line 47" descr="sci-ppt:o047"/>
          <p:cNvCxnSpPr/>
          <p:nvPr/>
        </p:nvCxnSpPr>
        <p:spPr>
          <a:xfrm>
            <a:off x="11795759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4-E09 text 48" descr="sci-ppt:o048"/>
          <p:cNvSpPr txBox="1"/>
          <p:nvPr/>
        </p:nvSpPr>
        <p:spPr>
          <a:xfrm>
            <a:off x="11338559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0.10</a:t>
            </a:r>
          </a:p>
        </p:txBody>
      </p:sp>
      <p:cxnSp>
        <p:nvCxnSpPr>
          <p:cNvPr id="51" name="C4-E09 line 49" descr="sci-ppt:o049"/>
          <p:cNvCxnSpPr/>
          <p:nvPr/>
        </p:nvCxnSpPr>
        <p:spPr>
          <a:xfrm>
            <a:off x="706831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4-E09 line 50" descr="sci-ppt:o050"/>
          <p:cNvCxnSpPr/>
          <p:nvPr/>
        </p:nvCxnSpPr>
        <p:spPr>
          <a:xfrm>
            <a:off x="7068312" y="345643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3" name="C4-E09 line 51" descr="sci-ppt:o051"/>
          <p:cNvCxnSpPr/>
          <p:nvPr/>
        </p:nvCxnSpPr>
        <p:spPr>
          <a:xfrm>
            <a:off x="7132320" y="3456432"/>
            <a:ext cx="46634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4" name="C4-E09 text 52" descr="sci-ppt:o052"/>
          <p:cNvSpPr txBox="1"/>
          <p:nvPr/>
        </p:nvSpPr>
        <p:spPr>
          <a:xfrm>
            <a:off x="6263640" y="337413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55" name="C4-E09 line 53" descr="sci-ppt:o053"/>
          <p:cNvCxnSpPr/>
          <p:nvPr/>
        </p:nvCxnSpPr>
        <p:spPr>
          <a:xfrm>
            <a:off x="7068312" y="206654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6" name="C4-E09 line 54" descr="sci-ppt:o054"/>
          <p:cNvCxnSpPr/>
          <p:nvPr/>
        </p:nvCxnSpPr>
        <p:spPr>
          <a:xfrm>
            <a:off x="7132320" y="2066543"/>
            <a:ext cx="46634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7" name="C4-E09 text 55" descr="sci-ppt:o055"/>
          <p:cNvSpPr txBox="1"/>
          <p:nvPr/>
        </p:nvSpPr>
        <p:spPr>
          <a:xfrm>
            <a:off x="6263640" y="198424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sp>
        <p:nvSpPr>
          <p:cNvPr id="58" name="C4-E09 text 56" descr="sci-ppt:o056"/>
          <p:cNvSpPr txBox="1"/>
          <p:nvPr/>
        </p:nvSpPr>
        <p:spPr>
          <a:xfrm>
            <a:off x="7132320" y="5129783"/>
            <a:ext cx="4663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areal impulse J_A  (N s / m²)</a:t>
            </a:r>
          </a:p>
        </p:txBody>
      </p:sp>
      <p:sp>
        <p:nvSpPr>
          <p:cNvPr id="59" name="C4-E09 text 57" descr="sci-ppt:o057"/>
          <p:cNvSpPr txBox="1"/>
          <p:nvPr/>
        </p:nvSpPr>
        <p:spPr>
          <a:xfrm>
            <a:off x="6583680" y="1024128"/>
            <a:ext cx="4663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𝓔_A  (J / m²)</a:t>
            </a:r>
          </a:p>
        </p:txBody>
      </p:sp>
      <p:sp>
        <p:nvSpPr>
          <p:cNvPr id="60" name="C4-E09 polygon 58" descr="sci-ppt:o058"/>
          <p:cNvSpPr/>
          <p:nvPr/>
        </p:nvSpPr>
        <p:spPr>
          <a:xfrm>
            <a:off x="7132320" y="1863727"/>
            <a:ext cx="4663439" cy="2982593"/>
          </a:xfrm>
          <a:custGeom>
            <a:avLst/>
            <a:gdLst/>
            <a:ahLst/>
            <a:cxnLst/>
            <a:rect l="l" t="t" r="r" b="b"/>
            <a:pathLst>
              <a:path w="4663439" h="2982593">
                <a:moveTo>
                  <a:pt x="0" y="2982593"/>
                </a:moveTo>
                <a:lnTo>
                  <a:pt x="47105" y="2982288"/>
                </a:lnTo>
                <a:lnTo>
                  <a:pt x="94210" y="2981375"/>
                </a:lnTo>
                <a:lnTo>
                  <a:pt x="141316" y="2979854"/>
                </a:lnTo>
                <a:lnTo>
                  <a:pt x="188421" y="2977723"/>
                </a:lnTo>
                <a:lnTo>
                  <a:pt x="235527" y="2974985"/>
                </a:lnTo>
                <a:lnTo>
                  <a:pt x="282632" y="2971637"/>
                </a:lnTo>
                <a:lnTo>
                  <a:pt x="329738" y="2967681"/>
                </a:lnTo>
                <a:lnTo>
                  <a:pt x="376843" y="2963116"/>
                </a:lnTo>
                <a:lnTo>
                  <a:pt x="423949" y="2957943"/>
                </a:lnTo>
                <a:lnTo>
                  <a:pt x="471054" y="2952161"/>
                </a:lnTo>
                <a:lnTo>
                  <a:pt x="518160" y="2945770"/>
                </a:lnTo>
                <a:lnTo>
                  <a:pt x="565265" y="2938771"/>
                </a:lnTo>
                <a:lnTo>
                  <a:pt x="612370" y="2931163"/>
                </a:lnTo>
                <a:lnTo>
                  <a:pt x="659476" y="2922947"/>
                </a:lnTo>
                <a:lnTo>
                  <a:pt x="706581" y="2914122"/>
                </a:lnTo>
                <a:lnTo>
                  <a:pt x="753687" y="2904688"/>
                </a:lnTo>
                <a:lnTo>
                  <a:pt x="800792" y="2894645"/>
                </a:lnTo>
                <a:lnTo>
                  <a:pt x="847898" y="2883994"/>
                </a:lnTo>
                <a:lnTo>
                  <a:pt x="895003" y="2872735"/>
                </a:lnTo>
                <a:lnTo>
                  <a:pt x="942109" y="2860866"/>
                </a:lnTo>
                <a:lnTo>
                  <a:pt x="989214" y="2848390"/>
                </a:lnTo>
                <a:lnTo>
                  <a:pt x="1036320" y="2835304"/>
                </a:lnTo>
                <a:lnTo>
                  <a:pt x="1083425" y="2821610"/>
                </a:lnTo>
                <a:lnTo>
                  <a:pt x="1130530" y="2807307"/>
                </a:lnTo>
                <a:lnTo>
                  <a:pt x="1177636" y="2792396"/>
                </a:lnTo>
                <a:lnTo>
                  <a:pt x="1224741" y="2776875"/>
                </a:lnTo>
                <a:lnTo>
                  <a:pt x="1271847" y="2760747"/>
                </a:lnTo>
                <a:lnTo>
                  <a:pt x="1318952" y="2744009"/>
                </a:lnTo>
                <a:lnTo>
                  <a:pt x="1366058" y="2726664"/>
                </a:lnTo>
                <a:lnTo>
                  <a:pt x="1413163" y="2708709"/>
                </a:lnTo>
                <a:lnTo>
                  <a:pt x="1460269" y="2690146"/>
                </a:lnTo>
                <a:lnTo>
                  <a:pt x="1507374" y="2670974"/>
                </a:lnTo>
                <a:lnTo>
                  <a:pt x="1554480" y="2651193"/>
                </a:lnTo>
                <a:lnTo>
                  <a:pt x="1601585" y="2630804"/>
                </a:lnTo>
                <a:lnTo>
                  <a:pt x="1648690" y="2609807"/>
                </a:lnTo>
                <a:lnTo>
                  <a:pt x="1695796" y="2588200"/>
                </a:lnTo>
                <a:lnTo>
                  <a:pt x="1742901" y="2565985"/>
                </a:lnTo>
                <a:lnTo>
                  <a:pt x="1790007" y="2543161"/>
                </a:lnTo>
                <a:lnTo>
                  <a:pt x="1837112" y="2519729"/>
                </a:lnTo>
                <a:lnTo>
                  <a:pt x="1884218" y="2495688"/>
                </a:lnTo>
                <a:lnTo>
                  <a:pt x="1931323" y="2471039"/>
                </a:lnTo>
                <a:lnTo>
                  <a:pt x="1978429" y="2445781"/>
                </a:lnTo>
                <a:lnTo>
                  <a:pt x="2025534" y="2419914"/>
                </a:lnTo>
                <a:lnTo>
                  <a:pt x="2072640" y="2393438"/>
                </a:lnTo>
                <a:lnTo>
                  <a:pt x="2119745" y="2366354"/>
                </a:lnTo>
                <a:lnTo>
                  <a:pt x="2166850" y="2338662"/>
                </a:lnTo>
                <a:lnTo>
                  <a:pt x="2213956" y="2310360"/>
                </a:lnTo>
                <a:lnTo>
                  <a:pt x="2261061" y="2281451"/>
                </a:lnTo>
                <a:lnTo>
                  <a:pt x="2308167" y="2251932"/>
                </a:lnTo>
                <a:lnTo>
                  <a:pt x="2355272" y="2221805"/>
                </a:lnTo>
                <a:lnTo>
                  <a:pt x="2402378" y="2191069"/>
                </a:lnTo>
                <a:lnTo>
                  <a:pt x="2449483" y="2159724"/>
                </a:lnTo>
                <a:lnTo>
                  <a:pt x="2496589" y="2127771"/>
                </a:lnTo>
                <a:lnTo>
                  <a:pt x="2543694" y="2095210"/>
                </a:lnTo>
                <a:lnTo>
                  <a:pt x="2590800" y="2062039"/>
                </a:lnTo>
                <a:lnTo>
                  <a:pt x="2637905" y="2028260"/>
                </a:lnTo>
                <a:lnTo>
                  <a:pt x="2685010" y="1993873"/>
                </a:lnTo>
                <a:lnTo>
                  <a:pt x="2732116" y="1958877"/>
                </a:lnTo>
                <a:lnTo>
                  <a:pt x="2779221" y="1923272"/>
                </a:lnTo>
                <a:lnTo>
                  <a:pt x="2826327" y="1887058"/>
                </a:lnTo>
                <a:lnTo>
                  <a:pt x="2873432" y="1850236"/>
                </a:lnTo>
                <a:lnTo>
                  <a:pt x="2920538" y="1812805"/>
                </a:lnTo>
                <a:lnTo>
                  <a:pt x="2967643" y="1774766"/>
                </a:lnTo>
                <a:lnTo>
                  <a:pt x="3014749" y="1736118"/>
                </a:lnTo>
                <a:lnTo>
                  <a:pt x="3061854" y="1696861"/>
                </a:lnTo>
                <a:lnTo>
                  <a:pt x="3108960" y="1656996"/>
                </a:lnTo>
                <a:lnTo>
                  <a:pt x="3156065" y="1616522"/>
                </a:lnTo>
                <a:lnTo>
                  <a:pt x="3203170" y="1575439"/>
                </a:lnTo>
                <a:lnTo>
                  <a:pt x="3250276" y="1533748"/>
                </a:lnTo>
                <a:lnTo>
                  <a:pt x="3297381" y="1491449"/>
                </a:lnTo>
                <a:lnTo>
                  <a:pt x="3344487" y="1448540"/>
                </a:lnTo>
                <a:lnTo>
                  <a:pt x="3391592" y="1405023"/>
                </a:lnTo>
                <a:lnTo>
                  <a:pt x="3438698" y="1360897"/>
                </a:lnTo>
                <a:lnTo>
                  <a:pt x="3485803" y="1316163"/>
                </a:lnTo>
                <a:lnTo>
                  <a:pt x="3532909" y="1270820"/>
                </a:lnTo>
                <a:lnTo>
                  <a:pt x="3580014" y="1224868"/>
                </a:lnTo>
                <a:lnTo>
                  <a:pt x="3627120" y="1178308"/>
                </a:lnTo>
                <a:lnTo>
                  <a:pt x="3674225" y="1131139"/>
                </a:lnTo>
                <a:lnTo>
                  <a:pt x="3721330" y="1083362"/>
                </a:lnTo>
                <a:lnTo>
                  <a:pt x="3768436" y="1034976"/>
                </a:lnTo>
                <a:lnTo>
                  <a:pt x="3815541" y="985981"/>
                </a:lnTo>
                <a:lnTo>
                  <a:pt x="3862647" y="936378"/>
                </a:lnTo>
                <a:lnTo>
                  <a:pt x="3909752" y="886166"/>
                </a:lnTo>
                <a:lnTo>
                  <a:pt x="3956858" y="835345"/>
                </a:lnTo>
                <a:lnTo>
                  <a:pt x="4003963" y="783916"/>
                </a:lnTo>
                <a:lnTo>
                  <a:pt x="4051069" y="731878"/>
                </a:lnTo>
                <a:lnTo>
                  <a:pt x="4098174" y="679232"/>
                </a:lnTo>
                <a:lnTo>
                  <a:pt x="4145279" y="625976"/>
                </a:lnTo>
                <a:lnTo>
                  <a:pt x="4192385" y="572113"/>
                </a:lnTo>
                <a:lnTo>
                  <a:pt x="4239490" y="517640"/>
                </a:lnTo>
                <a:lnTo>
                  <a:pt x="4286596" y="462559"/>
                </a:lnTo>
                <a:lnTo>
                  <a:pt x="4333701" y="406870"/>
                </a:lnTo>
                <a:lnTo>
                  <a:pt x="4380807" y="350571"/>
                </a:lnTo>
                <a:lnTo>
                  <a:pt x="4427912" y="293664"/>
                </a:lnTo>
                <a:lnTo>
                  <a:pt x="4475018" y="236149"/>
                </a:lnTo>
                <a:lnTo>
                  <a:pt x="4522123" y="178025"/>
                </a:lnTo>
                <a:lnTo>
                  <a:pt x="4569229" y="119292"/>
                </a:lnTo>
                <a:lnTo>
                  <a:pt x="4616334" y="59950"/>
                </a:lnTo>
                <a:lnTo>
                  <a:pt x="4663439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C4-E09 text 59" descr="sci-ppt:o059"/>
          <p:cNvSpPr txBox="1"/>
          <p:nvPr/>
        </p:nvSpPr>
        <p:spPr>
          <a:xfrm>
            <a:off x="7438644" y="1697126"/>
            <a:ext cx="2560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𝓔_A = J_A² / (2m_A)</a:t>
            </a:r>
          </a:p>
        </p:txBody>
      </p:sp>
      <p:sp>
        <p:nvSpPr>
          <p:cNvPr id="62" name="C4-E09 text 60" descr="sci-ppt:o060"/>
          <p:cNvSpPr txBox="1"/>
          <p:nvPr/>
        </p:nvSpPr>
        <p:spPr>
          <a:xfrm>
            <a:off x="914400" y="5577840"/>
            <a:ext cx="10972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Speed grows linearly with impulse, energy quadratically. Here m_A = ρ_f h_f = 23.3 g/m² (ρ_f = 2330 kg/m³, h_f = 10 µm).</a:t>
            </a:r>
          </a:p>
        </p:txBody>
      </p:sp>
      <p:sp>
        <p:nvSpPr>
          <p:cNvPr id="63" name="C4-E09 text 61" descr="sci-ppt:o061"/>
          <p:cNvSpPr txBox="1"/>
          <p:nvPr/>
        </p:nvSpPr>
        <p:spPr>
          <a:xfrm>
            <a:off x="914400" y="603504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Valid for a pulse much shorter than the plate response times (next figure); this energy may later feed deformation and fracture.</a:t>
            </a:r>
          </a:p>
        </p:txBody>
      </p:sp>
      <p:sp>
        <p:nvSpPr>
          <p:cNvPr id="64" name="C4-E09 text 62" descr="sci-ppt:o06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Short-pulse free response of Eq. C4-E09.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C4-E10 · Derived term-balance estimates</a:t>
            </a:r>
          </a:p>
        </p:txBody>
      </p:sp>
      <p:sp>
        <p:nvSpPr>
          <p:cNvPr id="3" name="C4-E10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Compare the pulse with three response times</a:t>
            </a:r>
          </a:p>
        </p:txBody>
      </p:sp>
      <p:sp>
        <p:nvSpPr>
          <p:cNvPr id="4" name="C4-E10 text 2" descr="sci-ppt:o002"/>
          <p:cNvSpPr txBox="1"/>
          <p:nvPr/>
        </p:nvSpPr>
        <p:spPr>
          <a:xfrm>
            <a:off x="457200" y="1481328"/>
            <a:ext cx="4846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t_b = a_f² √(m_A/D_f)  (bending)</a:t>
            </a:r>
          </a:p>
        </p:txBody>
      </p:sp>
      <p:sp>
        <p:nvSpPr>
          <p:cNvPr id="5" name="C4-E10 rect 3" descr="sci-ppt:o003"/>
          <p:cNvSpPr/>
          <p:nvPr/>
        </p:nvSpPr>
        <p:spPr>
          <a:xfrm>
            <a:off x="5394960" y="1463040"/>
            <a:ext cx="2970896" cy="45720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4-E10 text 4" descr="sci-ppt:o004"/>
          <p:cNvSpPr txBox="1"/>
          <p:nvPr/>
        </p:nvSpPr>
        <p:spPr>
          <a:xfrm>
            <a:off x="8439008" y="1508760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3.5e+03 ns</a:t>
            </a:r>
          </a:p>
        </p:txBody>
      </p:sp>
      <p:sp>
        <p:nvSpPr>
          <p:cNvPr id="7" name="C4-E10 text 5" descr="sci-ppt:o005"/>
          <p:cNvSpPr txBox="1"/>
          <p:nvPr/>
        </p:nvSpPr>
        <p:spPr>
          <a:xfrm>
            <a:off x="457200" y="2212848"/>
            <a:ext cx="4846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t_T = a_f √(m_A/T₀)  (tension, T₀ = 1 N/m)</a:t>
            </a:r>
          </a:p>
        </p:txBody>
      </p:sp>
      <p:sp>
        <p:nvSpPr>
          <p:cNvPr id="8" name="C4-E10 rect 6" descr="sci-ppt:o006"/>
          <p:cNvSpPr/>
          <p:nvPr/>
        </p:nvSpPr>
        <p:spPr>
          <a:xfrm>
            <a:off x="5394960" y="2194560"/>
            <a:ext cx="3506758" cy="45720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4-E10 text 7" descr="sci-ppt:o007"/>
          <p:cNvSpPr txBox="1"/>
          <p:nvPr/>
        </p:nvSpPr>
        <p:spPr>
          <a:xfrm>
            <a:off x="8974870" y="2240280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1.53e+04 ns</a:t>
            </a:r>
          </a:p>
        </p:txBody>
      </p:sp>
      <p:sp>
        <p:nvSpPr>
          <p:cNvPr id="10" name="C4-E10 text 8" descr="sci-ppt:o008"/>
          <p:cNvSpPr txBox="1"/>
          <p:nvPr/>
        </p:nvSpPr>
        <p:spPr>
          <a:xfrm>
            <a:off x="457200" y="2944368"/>
            <a:ext cx="4846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tₙ = √(m_A/Kₙ)  (cohesive, Kₙ = 10¹³ Pa/m)</a:t>
            </a:r>
          </a:p>
        </p:txBody>
      </p:sp>
      <p:sp>
        <p:nvSpPr>
          <p:cNvPr id="11" name="C4-E10 rect 9" descr="sci-ppt:o009"/>
          <p:cNvSpPr/>
          <p:nvPr/>
        </p:nvSpPr>
        <p:spPr>
          <a:xfrm>
            <a:off x="5394960" y="2926080"/>
            <a:ext cx="1411258" cy="45720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4-E10 text 10" descr="sci-ppt:o010"/>
          <p:cNvSpPr txBox="1"/>
          <p:nvPr/>
        </p:nvSpPr>
        <p:spPr>
          <a:xfrm>
            <a:off x="6879370" y="2971800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48.3 ns</a:t>
            </a:r>
          </a:p>
        </p:txBody>
      </p:sp>
      <p:sp>
        <p:nvSpPr>
          <p:cNvPr id="13" name="C4-E10 text 11" descr="sci-ppt:o011"/>
          <p:cNvSpPr txBox="1"/>
          <p:nvPr/>
        </p:nvSpPr>
        <p:spPr>
          <a:xfrm>
            <a:off x="457200" y="3675887"/>
            <a:ext cx="4846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impulse-equivalent pulse τ_eq</a:t>
            </a:r>
          </a:p>
        </p:txBody>
      </p:sp>
      <p:sp>
        <p:nvSpPr>
          <p:cNvPr id="14" name="C4-E10 rect 12" descr="sci-ppt:o012"/>
          <p:cNvSpPr/>
          <p:nvPr/>
        </p:nvSpPr>
        <p:spPr>
          <a:xfrm>
            <a:off x="5394960" y="3657600"/>
            <a:ext cx="1281322" cy="45720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4-E10 text 13" descr="sci-ppt:o013"/>
          <p:cNvSpPr txBox="1"/>
          <p:nvPr/>
        </p:nvSpPr>
        <p:spPr>
          <a:xfrm>
            <a:off x="6749434" y="3703320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33.8 ns</a:t>
            </a:r>
          </a:p>
        </p:txBody>
      </p:sp>
      <p:sp>
        <p:nvSpPr>
          <p:cNvPr id="16" name="C4-E10 round_rect 14" descr="sci-ppt:o014"/>
          <p:cNvSpPr/>
          <p:nvPr/>
        </p:nvSpPr>
        <p:spPr>
          <a:xfrm>
            <a:off x="457200" y="4572000"/>
            <a:ext cx="548640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4-E10 text 15" descr="sci-ppt:o015"/>
          <p:cNvSpPr txBox="1"/>
          <p:nvPr/>
        </p:nvSpPr>
        <p:spPr>
          <a:xfrm>
            <a:off x="566928" y="462686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Short pulse</a:t>
            </a:r>
          </a:p>
        </p:txBody>
      </p:sp>
      <p:sp>
        <p:nvSpPr>
          <p:cNvPr id="18" name="C4-E10 text 16" descr="sci-ppt:o016"/>
          <p:cNvSpPr txBox="1"/>
          <p:nvPr/>
        </p:nvSpPr>
        <p:spPr>
          <a:xfrm>
            <a:off x="594360" y="4983480"/>
            <a:ext cx="52120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τ ≪ response time: the film cannot react during the pulse, so it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gets a free velocity (Eq. C4-E09).</a:t>
            </a:r>
          </a:p>
        </p:txBody>
      </p:sp>
      <p:sp>
        <p:nvSpPr>
          <p:cNvPr id="19" name="C4-E10 round_rect 17" descr="sci-ppt:o017"/>
          <p:cNvSpPr/>
          <p:nvPr/>
        </p:nvSpPr>
        <p:spPr>
          <a:xfrm>
            <a:off x="6217920" y="4572000"/>
            <a:ext cx="548640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4-E10 text 18" descr="sci-ppt:o018"/>
          <p:cNvSpPr txBox="1"/>
          <p:nvPr/>
        </p:nvSpPr>
        <p:spPr>
          <a:xfrm>
            <a:off x="6327648" y="462686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Long pulse</a:t>
            </a:r>
          </a:p>
        </p:txBody>
      </p:sp>
      <p:sp>
        <p:nvSpPr>
          <p:cNvPr id="21" name="C4-E10 text 19" descr="sci-ppt:o019"/>
          <p:cNvSpPr txBox="1"/>
          <p:nvPr/>
        </p:nvSpPr>
        <p:spPr>
          <a:xfrm>
            <a:off x="6355080" y="4983480"/>
            <a:ext cx="52120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τ ≳ response time: elastic and cohesive reactions act during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pulse and reduce the net impulse.</a:t>
            </a:r>
          </a:p>
        </p:txBody>
      </p:sp>
      <p:sp>
        <p:nvSpPr>
          <p:cNvPr id="22" name="C4-E10 text 20" descr="sci-ppt:o02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Term-balance times of Eq. C4-E10 for a_f = 100 µm, h_f = 10 µm (E_f = 2 GPa, ν = 0.35); T₀ and Kₙ are illustrative.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C4-E11 · Definition with quasistatic fracture criterion</a:t>
            </a:r>
          </a:p>
        </p:txBody>
      </p:sp>
      <p:sp>
        <p:nvSpPr>
          <p:cNvPr id="3" name="C4-E11 round_rect 1" descr="sci-ppt:o001"/>
          <p:cNvSpPr/>
          <p:nvPr/>
        </p:nvSpPr>
        <p:spPr>
          <a:xfrm>
            <a:off x="365760" y="914400"/>
            <a:ext cx="576072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11 text 2" descr="sci-ppt:o002"/>
          <p:cNvSpPr txBox="1"/>
          <p:nvPr/>
        </p:nvSpPr>
        <p:spPr>
          <a:xfrm>
            <a:off x="475488" y="969264"/>
            <a:ext cx="5541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Energy released per area of crack</a:t>
            </a:r>
          </a:p>
        </p:txBody>
      </p:sp>
      <p:sp>
        <p:nvSpPr>
          <p:cNvPr id="5" name="C4-E11 rect 3" descr="sci-ppt:o003"/>
          <p:cNvSpPr/>
          <p:nvPr/>
        </p:nvSpPr>
        <p:spPr>
          <a:xfrm>
            <a:off x="731520" y="1828800"/>
            <a:ext cx="5029200" cy="320040"/>
          </a:xfrm>
          <a:prstGeom prst="rect">
            <a:avLst/>
          </a:prstGeom>
          <a:solidFill>
            <a:srgbClr val="3A5362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4-E11 rect 4" descr="sci-ppt:o004"/>
          <p:cNvSpPr/>
          <p:nvPr/>
        </p:nvSpPr>
        <p:spPr>
          <a:xfrm>
            <a:off x="731520" y="3566160"/>
            <a:ext cx="5029200" cy="320040"/>
          </a:xfrm>
          <a:prstGeom prst="rect">
            <a:avLst/>
          </a:prstGeom>
          <a:solidFill>
            <a:srgbClr val="3A5362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4-E11 rect 5" descr="sci-ppt:o005"/>
          <p:cNvSpPr/>
          <p:nvPr/>
        </p:nvSpPr>
        <p:spPr>
          <a:xfrm>
            <a:off x="731520" y="2148840"/>
            <a:ext cx="5029200" cy="1417320"/>
          </a:xfrm>
          <a:prstGeom prst="rect">
            <a:avLst/>
          </a:prstGeom>
          <a:solidFill>
            <a:srgbClr val="1E4A5A">
              <a:alpha val="50000"/>
            </a:srgbClr>
          </a:solidFill>
          <a:ln w="10160">
            <a:solidFill>
              <a:srgbClr val="B4C7D2">
                <a:alpha val="5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4-E11 polygon 6" descr="sci-ppt:o006"/>
          <p:cNvSpPr/>
          <p:nvPr/>
        </p:nvSpPr>
        <p:spPr>
          <a:xfrm>
            <a:off x="731520" y="2743200"/>
            <a:ext cx="2011680" cy="228600"/>
          </a:xfrm>
          <a:custGeom>
            <a:avLst/>
            <a:gdLst/>
            <a:ahLst/>
            <a:cxnLst/>
            <a:rect l="l" t="t" r="r" b="b"/>
            <a:pathLst>
              <a:path w="2011680" h="228600">
                <a:moveTo>
                  <a:pt x="0" y="0"/>
                </a:moveTo>
                <a:lnTo>
                  <a:pt x="2011680" y="0"/>
                </a:lnTo>
                <a:lnTo>
                  <a:pt x="2011680" y="228600"/>
                </a:lnTo>
                <a:lnTo>
                  <a:pt x="0" y="228600"/>
                </a:lnTo>
                <a:close/>
              </a:path>
            </a:pathLst>
          </a:custGeom>
          <a:solidFill>
            <a:srgbClr val="142632"/>
          </a:solidFill>
          <a:ln w="254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4-E11 text 7" descr="sci-ppt:o007"/>
          <p:cNvSpPr txBox="1"/>
          <p:nvPr/>
        </p:nvSpPr>
        <p:spPr>
          <a:xfrm>
            <a:off x="914400" y="2331720"/>
            <a:ext cx="16459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open crack</a:t>
            </a:r>
          </a:p>
        </p:txBody>
      </p:sp>
      <p:cxnSp>
        <p:nvCxnSpPr>
          <p:cNvPr id="10" name="C4-E11 arrow 8" descr="sci-ppt:o008"/>
          <p:cNvCxnSpPr/>
          <p:nvPr/>
        </p:nvCxnSpPr>
        <p:spPr>
          <a:xfrm>
            <a:off x="2743200" y="2852928"/>
            <a:ext cx="914400" cy="0"/>
          </a:xfrm>
          <a:prstGeom prst="line">
            <a:avLst/>
          </a:prstGeom>
          <a:ln w="4445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4-E11 text 9" descr="sci-ppt:o009"/>
          <p:cNvSpPr txBox="1"/>
          <p:nvPr/>
        </p:nvSpPr>
        <p:spPr>
          <a:xfrm>
            <a:off x="2834640" y="2423160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advances by dA_c</a:t>
            </a:r>
          </a:p>
        </p:txBody>
      </p:sp>
      <p:sp>
        <p:nvSpPr>
          <p:cNvPr id="12" name="C4-E11 text 10" descr="sci-ppt:o010"/>
          <p:cNvSpPr txBox="1"/>
          <p:nvPr/>
        </p:nvSpPr>
        <p:spPr>
          <a:xfrm>
            <a:off x="548640" y="4206240"/>
            <a:ext cx="54864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G = −∂𝒫/∂A_c |𝒞   (𝒞 = the chosen load control)</a:t>
            </a:r>
          </a:p>
        </p:txBody>
      </p:sp>
      <p:sp>
        <p:nvSpPr>
          <p:cNvPr id="13" name="C4-E11 text 11" descr="sci-ppt:o011"/>
          <p:cNvSpPr txBox="1"/>
          <p:nvPr/>
        </p:nvSpPr>
        <p:spPr>
          <a:xfrm>
            <a:off x="548640" y="4663440"/>
            <a:ext cx="54864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Fracture advances when G ≥ Γ(ψ, Tᵢ, v_c).</a:t>
            </a:r>
          </a:p>
        </p:txBody>
      </p:sp>
      <p:sp>
        <p:nvSpPr>
          <p:cNvPr id="14" name="C4-E11 text 12" descr="sci-ppt:o012"/>
          <p:cNvSpPr txBox="1"/>
          <p:nvPr/>
        </p:nvSpPr>
        <p:spPr>
          <a:xfrm>
            <a:off x="548640" y="5166360"/>
            <a:ext cx="54864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𝒫 depends on the control: fixed load and fixed displacement differ.</a:t>
            </a:r>
          </a:p>
        </p:txBody>
      </p:sp>
      <p:cxnSp>
        <p:nvCxnSpPr>
          <p:cNvPr id="15" name="C4-E11 line 13" descr="sci-ppt:o013"/>
          <p:cNvCxnSpPr/>
          <p:nvPr/>
        </p:nvCxnSpPr>
        <p:spPr>
          <a:xfrm>
            <a:off x="6858000" y="4663440"/>
            <a:ext cx="48463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6" name="C4-E11 line 14" descr="sci-ppt:o014"/>
          <p:cNvCxnSpPr/>
          <p:nvPr/>
        </p:nvCxnSpPr>
        <p:spPr>
          <a:xfrm>
            <a:off x="6858000" y="1371600"/>
            <a:ext cx="0" cy="32918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7" name="C4-E11 line 15" descr="sci-ppt:o015"/>
          <p:cNvCxnSpPr/>
          <p:nvPr/>
        </p:nvCxnSpPr>
        <p:spPr>
          <a:xfrm>
            <a:off x="685800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11 line 16" descr="sci-ppt:o016"/>
          <p:cNvCxnSpPr/>
          <p:nvPr/>
        </p:nvCxnSpPr>
        <p:spPr>
          <a:xfrm>
            <a:off x="685800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11 text 17" descr="sci-ppt:o017"/>
          <p:cNvSpPr txBox="1"/>
          <p:nvPr/>
        </p:nvSpPr>
        <p:spPr>
          <a:xfrm>
            <a:off x="640080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0" name="C4-E11 line 18" descr="sci-ppt:o018"/>
          <p:cNvCxnSpPr/>
          <p:nvPr/>
        </p:nvCxnSpPr>
        <p:spPr>
          <a:xfrm>
            <a:off x="8796528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11 line 19" descr="sci-ppt:o019"/>
          <p:cNvCxnSpPr/>
          <p:nvPr/>
        </p:nvCxnSpPr>
        <p:spPr>
          <a:xfrm>
            <a:off x="8796528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4-E11 text 20" descr="sci-ppt:o020"/>
          <p:cNvSpPr txBox="1"/>
          <p:nvPr/>
        </p:nvSpPr>
        <p:spPr>
          <a:xfrm>
            <a:off x="8339328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3" name="C4-E11 line 21" descr="sci-ppt:o021"/>
          <p:cNvCxnSpPr/>
          <p:nvPr/>
        </p:nvCxnSpPr>
        <p:spPr>
          <a:xfrm>
            <a:off x="10735056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4-E11 line 22" descr="sci-ppt:o022"/>
          <p:cNvCxnSpPr/>
          <p:nvPr/>
        </p:nvCxnSpPr>
        <p:spPr>
          <a:xfrm>
            <a:off x="10735056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4-E11 text 23" descr="sci-ppt:o023"/>
          <p:cNvSpPr txBox="1"/>
          <p:nvPr/>
        </p:nvSpPr>
        <p:spPr>
          <a:xfrm>
            <a:off x="10277856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6" name="C4-E11 line 24" descr="sci-ppt:o024"/>
          <p:cNvCxnSpPr/>
          <p:nvPr/>
        </p:nvCxnSpPr>
        <p:spPr>
          <a:xfrm>
            <a:off x="6793992" y="46634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4-E11 line 25" descr="sci-ppt:o025"/>
          <p:cNvCxnSpPr/>
          <p:nvPr/>
        </p:nvCxnSpPr>
        <p:spPr>
          <a:xfrm>
            <a:off x="6793992" y="19202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4-E11 line 26" descr="sci-ppt:o026"/>
          <p:cNvCxnSpPr/>
          <p:nvPr/>
        </p:nvCxnSpPr>
        <p:spPr>
          <a:xfrm>
            <a:off x="6858000" y="1920239"/>
            <a:ext cx="48463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4-E11 text 27" descr="sci-ppt:o027"/>
          <p:cNvSpPr txBox="1"/>
          <p:nvPr/>
        </p:nvSpPr>
        <p:spPr>
          <a:xfrm>
            <a:off x="5989320" y="183794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30" name="C4-E11 text 28" descr="sci-ppt:o028"/>
          <p:cNvSpPr txBox="1"/>
          <p:nvPr/>
        </p:nvSpPr>
        <p:spPr>
          <a:xfrm>
            <a:off x="6858000" y="4946903"/>
            <a:ext cx="4846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driving force G / Γ</a:t>
            </a:r>
          </a:p>
        </p:txBody>
      </p:sp>
      <p:sp>
        <p:nvSpPr>
          <p:cNvPr id="31" name="C4-E11 text 29" descr="sci-ppt:o029"/>
          <p:cNvSpPr txBox="1"/>
          <p:nvPr/>
        </p:nvSpPr>
        <p:spPr>
          <a:xfrm>
            <a:off x="6309360" y="1024128"/>
            <a:ext cx="4846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crack state</a:t>
            </a:r>
          </a:p>
        </p:txBody>
      </p:sp>
      <p:sp>
        <p:nvSpPr>
          <p:cNvPr id="32" name="C4-E11 polygon 30" descr="sci-ppt:o030"/>
          <p:cNvSpPr/>
          <p:nvPr/>
        </p:nvSpPr>
        <p:spPr>
          <a:xfrm>
            <a:off x="6858000" y="1920239"/>
            <a:ext cx="4846320" cy="2743201"/>
          </a:xfrm>
          <a:custGeom>
            <a:avLst/>
            <a:gdLst/>
            <a:ahLst/>
            <a:cxnLst/>
            <a:rect l="l" t="t" r="r" b="b"/>
            <a:pathLst>
              <a:path w="4846320" h="2743201">
                <a:moveTo>
                  <a:pt x="0" y="2743201"/>
                </a:moveTo>
                <a:lnTo>
                  <a:pt x="1938528" y="2743201"/>
                </a:lnTo>
                <a:lnTo>
                  <a:pt x="1938528" y="0"/>
                </a:lnTo>
                <a:lnTo>
                  <a:pt x="484632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4-E11 line 31" descr="sci-ppt:o031"/>
          <p:cNvCxnSpPr/>
          <p:nvPr/>
        </p:nvCxnSpPr>
        <p:spPr>
          <a:xfrm>
            <a:off x="8796528" y="1371600"/>
            <a:ext cx="0" cy="329184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4" name="C4-E11 text 32" descr="sci-ppt:o032"/>
          <p:cNvSpPr txBox="1"/>
          <p:nvPr/>
        </p:nvSpPr>
        <p:spPr>
          <a:xfrm>
            <a:off x="7028078" y="3474719"/>
            <a:ext cx="1463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stays shut</a:t>
            </a:r>
          </a:p>
        </p:txBody>
      </p:sp>
      <p:sp>
        <p:nvSpPr>
          <p:cNvPr id="35" name="C4-E11 text 33" descr="sci-ppt:o033"/>
          <p:cNvSpPr txBox="1"/>
          <p:nvPr/>
        </p:nvSpPr>
        <p:spPr>
          <a:xfrm>
            <a:off x="9160459" y="3200399"/>
            <a:ext cx="1280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advances</a:t>
            </a:r>
          </a:p>
        </p:txBody>
      </p:sp>
      <p:sp>
        <p:nvSpPr>
          <p:cNvPr id="36" name="C4-E11 text 34" descr="sci-ppt:o034"/>
          <p:cNvSpPr txBox="1"/>
          <p:nvPr/>
        </p:nvSpPr>
        <p:spPr>
          <a:xfrm>
            <a:off x="8887968" y="1499615"/>
            <a:ext cx="914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G = Γ</a:t>
            </a:r>
          </a:p>
        </p:txBody>
      </p:sp>
      <p:sp>
        <p:nvSpPr>
          <p:cNvPr id="37" name="C4-E11 text 35" descr="sci-ppt:o035"/>
          <p:cNvSpPr txBox="1"/>
          <p:nvPr/>
        </p:nvSpPr>
        <p:spPr>
          <a:xfrm>
            <a:off x="6858000" y="5486400"/>
            <a:ext cx="49377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Quasistatic criterion: needs G computed with the correct load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path.</a:t>
            </a:r>
          </a:p>
        </p:txBody>
      </p:sp>
      <p:sp>
        <p:nvSpPr>
          <p:cNvPr id="38" name="C4-E11 text 36" descr="sci-ppt:o03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Energy-release criterion of Eq. C4-E11; schematic threshold.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C4-E12 · Conditional dynamic energy balance</a:t>
            </a:r>
          </a:p>
        </p:txBody>
      </p:sp>
      <p:sp>
        <p:nvSpPr>
          <p:cNvPr id="3" name="C4-E12 text 1" descr="sci-ppt:o001"/>
          <p:cNvSpPr txBox="1"/>
          <p:nvPr/>
        </p:nvSpPr>
        <p:spPr>
          <a:xfrm>
            <a:off x="457200" y="914400"/>
            <a:ext cx="54864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Where the load power goes (schematic share)</a:t>
            </a:r>
          </a:p>
        </p:txBody>
      </p:sp>
      <p:cxnSp>
        <p:nvCxnSpPr>
          <p:cNvPr id="4" name="C4-E12 line 2" descr="sci-ppt:o002"/>
          <p:cNvCxnSpPr/>
          <p:nvPr/>
        </p:nvCxnSpPr>
        <p:spPr>
          <a:xfrm>
            <a:off x="640080" y="4572000"/>
            <a:ext cx="54864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12 line 3" descr="sci-ppt:o003"/>
          <p:cNvCxnSpPr/>
          <p:nvPr/>
        </p:nvCxnSpPr>
        <p:spPr>
          <a:xfrm>
            <a:off x="640080" y="1554480"/>
            <a:ext cx="0" cy="30175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6" name="C4-E12 line 4" descr="sci-ppt:o004"/>
          <p:cNvCxnSpPr/>
          <p:nvPr/>
        </p:nvCxnSpPr>
        <p:spPr>
          <a:xfrm>
            <a:off x="576071" y="45720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" name="C4-E12 line 5" descr="sci-ppt:o005"/>
          <p:cNvCxnSpPr/>
          <p:nvPr/>
        </p:nvCxnSpPr>
        <p:spPr>
          <a:xfrm>
            <a:off x="640080" y="45720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8" name="C4-E12 text 6" descr="sci-ppt:o006"/>
          <p:cNvSpPr txBox="1"/>
          <p:nvPr/>
        </p:nvSpPr>
        <p:spPr>
          <a:xfrm>
            <a:off x="-228600" y="4489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9" name="C4-E12 line 7" descr="sci-ppt:o007"/>
          <p:cNvCxnSpPr/>
          <p:nvPr/>
        </p:nvCxnSpPr>
        <p:spPr>
          <a:xfrm>
            <a:off x="576071" y="33147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0" name="C4-E12 line 8" descr="sci-ppt:o008"/>
          <p:cNvCxnSpPr/>
          <p:nvPr/>
        </p:nvCxnSpPr>
        <p:spPr>
          <a:xfrm>
            <a:off x="640080" y="33147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1" name="C4-E12 text 9" descr="sci-ppt:o009"/>
          <p:cNvSpPr txBox="1"/>
          <p:nvPr/>
        </p:nvSpPr>
        <p:spPr>
          <a:xfrm>
            <a:off x="-228600" y="32324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2" name="C4-E12 line 10" descr="sci-ppt:o010"/>
          <p:cNvCxnSpPr/>
          <p:nvPr/>
        </p:nvCxnSpPr>
        <p:spPr>
          <a:xfrm>
            <a:off x="576071" y="20574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3" name="C4-E12 line 11" descr="sci-ppt:o011"/>
          <p:cNvCxnSpPr/>
          <p:nvPr/>
        </p:nvCxnSpPr>
        <p:spPr>
          <a:xfrm>
            <a:off x="640080" y="20574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4" name="C4-E12 text 12" descr="sci-ppt:o012"/>
          <p:cNvSpPr txBox="1"/>
          <p:nvPr/>
        </p:nvSpPr>
        <p:spPr>
          <a:xfrm>
            <a:off x="-228600" y="1975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15" name="C4-E12 rect 13" descr="sci-ppt:o013"/>
          <p:cNvSpPr/>
          <p:nvPr/>
        </p:nvSpPr>
        <p:spPr>
          <a:xfrm>
            <a:off x="793699" y="2057400"/>
            <a:ext cx="790041" cy="251460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4-E12 text 14" descr="sci-ppt:o014"/>
          <p:cNvSpPr txBox="1"/>
          <p:nvPr/>
        </p:nvSpPr>
        <p:spPr>
          <a:xfrm>
            <a:off x="565099" y="1783080"/>
            <a:ext cx="1247241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1.00</a:t>
            </a:r>
          </a:p>
        </p:txBody>
      </p:sp>
      <p:sp>
        <p:nvSpPr>
          <p:cNvPr id="17" name="C4-E12 text 15" descr="sci-ppt:o015"/>
          <p:cNvSpPr txBox="1"/>
          <p:nvPr/>
        </p:nvSpPr>
        <p:spPr>
          <a:xfrm>
            <a:off x="519379" y="4645152"/>
            <a:ext cx="1338681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P_load (power in)</a:t>
            </a:r>
          </a:p>
        </p:txBody>
      </p:sp>
      <p:sp>
        <p:nvSpPr>
          <p:cNvPr id="18" name="C4-E12 rect 16" descr="sci-ppt:o016"/>
          <p:cNvSpPr/>
          <p:nvPr/>
        </p:nvSpPr>
        <p:spPr>
          <a:xfrm>
            <a:off x="1890979" y="2057400"/>
            <a:ext cx="790041" cy="1131569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4-E12 text 17" descr="sci-ppt:o017"/>
          <p:cNvSpPr txBox="1"/>
          <p:nvPr/>
        </p:nvSpPr>
        <p:spPr>
          <a:xfrm>
            <a:off x="1662379" y="1783080"/>
            <a:ext cx="1247241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-0.45</a:t>
            </a:r>
          </a:p>
        </p:txBody>
      </p:sp>
      <p:sp>
        <p:nvSpPr>
          <p:cNvPr id="20" name="C4-E12 text 18" descr="sci-ppt:o018"/>
          <p:cNvSpPr txBox="1"/>
          <p:nvPr/>
        </p:nvSpPr>
        <p:spPr>
          <a:xfrm>
            <a:off x="1616659" y="4645152"/>
            <a:ext cx="1338681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− dK/dt − dU/dt</a:t>
            </a:r>
          </a:p>
        </p:txBody>
      </p:sp>
      <p:sp>
        <p:nvSpPr>
          <p:cNvPr id="21" name="C4-E12 rect 19" descr="sci-ppt:o019"/>
          <p:cNvSpPr/>
          <p:nvPr/>
        </p:nvSpPr>
        <p:spPr>
          <a:xfrm>
            <a:off x="2988259" y="3188970"/>
            <a:ext cx="790041" cy="100584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4-E12 text 20" descr="sci-ppt:o020"/>
          <p:cNvSpPr txBox="1"/>
          <p:nvPr/>
        </p:nvSpPr>
        <p:spPr>
          <a:xfrm>
            <a:off x="2759659" y="2914650"/>
            <a:ext cx="1247241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-0.40</a:t>
            </a:r>
          </a:p>
        </p:txBody>
      </p:sp>
      <p:sp>
        <p:nvSpPr>
          <p:cNvPr id="23" name="C4-E12 text 21" descr="sci-ppt:o021"/>
          <p:cNvSpPr txBox="1"/>
          <p:nvPr/>
        </p:nvSpPr>
        <p:spPr>
          <a:xfrm>
            <a:off x="2713939" y="4645152"/>
            <a:ext cx="1338681" cy="38658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− Γ v_c ℓ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(fracture)</a:t>
            </a:r>
          </a:p>
        </p:txBody>
      </p:sp>
      <p:sp>
        <p:nvSpPr>
          <p:cNvPr id="24" name="C4-E12 rect 22" descr="sci-ppt:o022"/>
          <p:cNvSpPr/>
          <p:nvPr/>
        </p:nvSpPr>
        <p:spPr>
          <a:xfrm>
            <a:off x="4085539" y="4194810"/>
            <a:ext cx="790041" cy="377189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4-E12 text 23" descr="sci-ppt:o023"/>
          <p:cNvSpPr txBox="1"/>
          <p:nvPr/>
        </p:nvSpPr>
        <p:spPr>
          <a:xfrm>
            <a:off x="3856939" y="3920490"/>
            <a:ext cx="1247241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-0.15</a:t>
            </a:r>
          </a:p>
        </p:txBody>
      </p:sp>
      <p:sp>
        <p:nvSpPr>
          <p:cNvPr id="26" name="C4-E12 text 24" descr="sci-ppt:o024"/>
          <p:cNvSpPr txBox="1"/>
          <p:nvPr/>
        </p:nvSpPr>
        <p:spPr>
          <a:xfrm>
            <a:off x="3811219" y="4645152"/>
            <a:ext cx="1338681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− Pₒₜₕₑᵣ</a:t>
            </a:r>
          </a:p>
        </p:txBody>
      </p:sp>
      <p:sp>
        <p:nvSpPr>
          <p:cNvPr id="27" name="C4-E12 rect 25" descr="sci-ppt:o025"/>
          <p:cNvSpPr/>
          <p:nvPr/>
        </p:nvSpPr>
        <p:spPr>
          <a:xfrm>
            <a:off x="5182819" y="4572000"/>
            <a:ext cx="790041" cy="18288"/>
          </a:xfrm>
          <a:prstGeom prst="rect">
            <a:avLst/>
          </a:prstGeom>
          <a:solidFill>
            <a:srgbClr val="B4C7D2">
              <a:alpha val="85000"/>
            </a:srgbClr>
          </a:solidFill>
          <a:ln w="12700">
            <a:solidFill>
              <a:srgbClr val="B4C7D2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4-E12 text 26" descr="sci-ppt:o026"/>
          <p:cNvSpPr txBox="1"/>
          <p:nvPr/>
        </p:nvSpPr>
        <p:spPr>
          <a:xfrm>
            <a:off x="4954219" y="4297680"/>
            <a:ext cx="1247241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0.00</a:t>
            </a:r>
          </a:p>
        </p:txBody>
      </p:sp>
      <p:sp>
        <p:nvSpPr>
          <p:cNvPr id="29" name="C4-E12 text 27" descr="sci-ppt:o027"/>
          <p:cNvSpPr txBox="1"/>
          <p:nvPr/>
        </p:nvSpPr>
        <p:spPr>
          <a:xfrm>
            <a:off x="4908499" y="4645152"/>
            <a:ext cx="1338681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= 0</a:t>
            </a:r>
          </a:p>
        </p:txBody>
      </p:sp>
      <p:sp>
        <p:nvSpPr>
          <p:cNvPr id="30" name="C4-E12 round_rect 28" descr="sci-ppt:o028"/>
          <p:cNvSpPr/>
          <p:nvPr/>
        </p:nvSpPr>
        <p:spPr>
          <a:xfrm>
            <a:off x="6583680" y="914400"/>
            <a:ext cx="5257800" cy="39319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4-E12 text 29" descr="sci-ppt:o029"/>
          <p:cNvSpPr txBox="1"/>
          <p:nvPr/>
        </p:nvSpPr>
        <p:spPr>
          <a:xfrm>
            <a:off x="6693408" y="969264"/>
            <a:ext cx="50383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Dynamic balance on a moving crack</a:t>
            </a:r>
          </a:p>
        </p:txBody>
      </p:sp>
      <p:sp>
        <p:nvSpPr>
          <p:cNvPr id="32" name="C4-E12 text 30" descr="sci-ppt:o030"/>
          <p:cNvSpPr txBox="1"/>
          <p:nvPr/>
        </p:nvSpPr>
        <p:spPr>
          <a:xfrm>
            <a:off x="6720840" y="1417320"/>
            <a:ext cx="5029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P_load = d(K_f + U_f)/dt + ∫ Γ v_c dℓ + Pₒₜₕₑᵣ</a:t>
            </a:r>
          </a:p>
        </p:txBody>
      </p:sp>
      <p:sp>
        <p:nvSpPr>
          <p:cNvPr id="33" name="C4-E12 text 31" descr="sci-ppt:o031"/>
          <p:cNvSpPr txBox="1"/>
          <p:nvPr/>
        </p:nvSpPr>
        <p:spPr>
          <a:xfrm>
            <a:off x="6922007" y="2148840"/>
            <a:ext cx="482803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K_f: motion of the film, U_f: elastic energy.</a:t>
            </a:r>
          </a:p>
        </p:txBody>
      </p:sp>
      <p:sp>
        <p:nvSpPr>
          <p:cNvPr id="34" name="C4-E12 ellipse 32" descr="sci-ppt:o032"/>
          <p:cNvSpPr/>
          <p:nvPr/>
        </p:nvSpPr>
        <p:spPr>
          <a:xfrm>
            <a:off x="6752844" y="220218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4-E12 text 33" descr="sci-ppt:o033"/>
          <p:cNvSpPr txBox="1"/>
          <p:nvPr/>
        </p:nvSpPr>
        <p:spPr>
          <a:xfrm>
            <a:off x="6922007" y="2426208"/>
            <a:ext cx="482803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Γ v_c along the front length is the fracture power.</a:t>
            </a:r>
          </a:p>
        </p:txBody>
      </p:sp>
      <p:sp>
        <p:nvSpPr>
          <p:cNvPr id="36" name="C4-E12 ellipse 34" descr="sci-ppt:o034"/>
          <p:cNvSpPr/>
          <p:nvPr/>
        </p:nvSpPr>
        <p:spPr>
          <a:xfrm>
            <a:off x="6752844" y="247954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4-E12 text 35" descr="sci-ppt:o035"/>
          <p:cNvSpPr txBox="1"/>
          <p:nvPr/>
        </p:nvSpPr>
        <p:spPr>
          <a:xfrm>
            <a:off x="6922007" y="2703576"/>
            <a:ext cx="482803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Pₒₜₕₑᵣ: dissipation or radiation not otherwise counted.</a:t>
            </a:r>
          </a:p>
        </p:txBody>
      </p:sp>
      <p:sp>
        <p:nvSpPr>
          <p:cNvPr id="38" name="C4-E12 ellipse 36" descr="sci-ppt:o036"/>
          <p:cNvSpPr/>
          <p:nvPr/>
        </p:nvSpPr>
        <p:spPr>
          <a:xfrm>
            <a:off x="6752844" y="275691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4-E12 text 37" descr="sci-ppt:o037"/>
          <p:cNvSpPr txBox="1"/>
          <p:nvPr/>
        </p:nvSpPr>
        <p:spPr>
          <a:xfrm>
            <a:off x="6720840" y="3657600"/>
            <a:ext cx="50292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Part of the load work is stored as kinetic energy before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crack moves.</a:t>
            </a:r>
          </a:p>
        </p:txBody>
      </p:sp>
      <p:sp>
        <p:nvSpPr>
          <p:cNvPr id="40" name="C4-E12 text 38" descr="sci-ppt:o038"/>
          <p:cNvSpPr txBox="1"/>
          <p:nvPr/>
        </p:nvSpPr>
        <p:spPr>
          <a:xfrm>
            <a:off x="457200" y="512064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Quasistatic G ≥ Γ is the slow limit of this balance (K_f → 0).</a:t>
            </a:r>
          </a:p>
        </p:txBody>
      </p:sp>
      <p:sp>
        <p:nvSpPr>
          <p:cNvPr id="41" name="C4-E12 text 39" descr="sci-ppt:o039"/>
          <p:cNvSpPr txBox="1"/>
          <p:nvPr/>
        </p:nvSpPr>
        <p:spPr>
          <a:xfrm>
            <a:off x="457200" y="5623560"/>
            <a:ext cx="11247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Conditional: needs a fracture-resistance law Γ(ψ, Tᵢ, v_c) for the actual interface.</a:t>
            </a:r>
          </a:p>
        </p:txBody>
      </p:sp>
      <p:sp>
        <p:nvSpPr>
          <p:cNvPr id="42" name="C4-E12 text 40" descr="sci-ppt:o04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Dynamic energy balance of Eq. C4-E12; shares are illustrative.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C4-E13 · Quasistatic plate boundary-value model</a:t>
            </a:r>
          </a:p>
        </p:txBody>
      </p:sp>
      <p:sp>
        <p:nvSpPr>
          <p:cNvPr id="3" name="C4-E13 round_rect 1" descr="sci-ppt:o001"/>
          <p:cNvSpPr/>
          <p:nvPr/>
        </p:nvSpPr>
        <p:spPr>
          <a:xfrm>
            <a:off x="365760" y="914400"/>
            <a:ext cx="630936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13 text 2" descr="sci-ppt:o002"/>
          <p:cNvSpPr txBox="1"/>
          <p:nvPr/>
        </p:nvSpPr>
        <p:spPr>
          <a:xfrm>
            <a:off x="475488" y="969264"/>
            <a:ext cx="60899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Clamped circular delamination under p₀</a:t>
            </a:r>
          </a:p>
        </p:txBody>
      </p:sp>
      <p:sp>
        <p:nvSpPr>
          <p:cNvPr id="5" name="C4-E13 ellipse 3" descr="sci-ppt:o003"/>
          <p:cNvSpPr/>
          <p:nvPr/>
        </p:nvSpPr>
        <p:spPr>
          <a:xfrm>
            <a:off x="1508760" y="2057400"/>
            <a:ext cx="4023360" cy="1828800"/>
          </a:xfrm>
          <a:prstGeom prst="ellipse">
            <a:avLst/>
          </a:prstGeom>
          <a:solidFill>
            <a:srgbClr val="1E4A5A"/>
          </a:solidFill>
          <a:ln w="2794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4-E13 line 4" descr="sci-ppt:o004"/>
          <p:cNvCxnSpPr/>
          <p:nvPr/>
        </p:nvCxnSpPr>
        <p:spPr>
          <a:xfrm>
            <a:off x="1508760" y="2971800"/>
            <a:ext cx="4023360" cy="0"/>
          </a:xfrm>
          <a:prstGeom prst="line">
            <a:avLst/>
          </a:prstGeom>
          <a:ln w="15240">
            <a:solidFill>
              <a:srgbClr val="B4C7D2"/>
            </a:solidFill>
            <a:prstDash val="dash"/>
          </a:ln>
          <a:effectLst/>
        </p:spPr>
      </p:cxnSp>
      <p:cxnSp>
        <p:nvCxnSpPr>
          <p:cNvPr id="7" name="C4-E13 line 5" descr="sci-ppt:o005"/>
          <p:cNvCxnSpPr/>
          <p:nvPr/>
        </p:nvCxnSpPr>
        <p:spPr>
          <a:xfrm>
            <a:off x="3520440" y="4114800"/>
            <a:ext cx="2011680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8" name="C4-E13 line 6" descr="sci-ppt:o006"/>
          <p:cNvCxnSpPr/>
          <p:nvPr/>
        </p:nvCxnSpPr>
        <p:spPr>
          <a:xfrm>
            <a:off x="3520440" y="4050791"/>
            <a:ext cx="0" cy="128017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9" name="C4-E13 line 7" descr="sci-ppt:o007"/>
          <p:cNvCxnSpPr/>
          <p:nvPr/>
        </p:nvCxnSpPr>
        <p:spPr>
          <a:xfrm>
            <a:off x="5532120" y="4050791"/>
            <a:ext cx="0" cy="128017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10" name="C4-E13 text 8" descr="sci-ppt:o008"/>
          <p:cNvSpPr txBox="1"/>
          <p:nvPr/>
        </p:nvSpPr>
        <p:spPr>
          <a:xfrm>
            <a:off x="3611880" y="4202430"/>
            <a:ext cx="1828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b</a:t>
            </a:r>
          </a:p>
        </p:txBody>
      </p:sp>
      <p:cxnSp>
        <p:nvCxnSpPr>
          <p:cNvPr id="11" name="C4-E13 arrow 9" descr="sci-ppt:o009"/>
          <p:cNvCxnSpPr/>
          <p:nvPr/>
        </p:nvCxnSpPr>
        <p:spPr>
          <a:xfrm>
            <a:off x="2423160" y="1645920"/>
            <a:ext cx="0" cy="50292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2" name="C4-E13 arrow 10" descr="sci-ppt:o010"/>
          <p:cNvCxnSpPr/>
          <p:nvPr/>
        </p:nvCxnSpPr>
        <p:spPr>
          <a:xfrm>
            <a:off x="3520440" y="1645920"/>
            <a:ext cx="0" cy="50292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3" name="C4-E13 arrow 11" descr="sci-ppt:o011"/>
          <p:cNvCxnSpPr/>
          <p:nvPr/>
        </p:nvCxnSpPr>
        <p:spPr>
          <a:xfrm>
            <a:off x="4617720" y="1645920"/>
            <a:ext cx="0" cy="50292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C4-E13 text 12" descr="sci-ppt:o012"/>
          <p:cNvSpPr txBox="1"/>
          <p:nvPr/>
        </p:nvSpPr>
        <p:spPr>
          <a:xfrm>
            <a:off x="2148840" y="1280160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uniform pressure p₀</a:t>
            </a:r>
          </a:p>
        </p:txBody>
      </p:sp>
      <p:sp>
        <p:nvSpPr>
          <p:cNvPr id="15" name="C4-E13 text 13" descr="sci-ppt:o013"/>
          <p:cNvSpPr txBox="1"/>
          <p:nvPr/>
        </p:nvSpPr>
        <p:spPr>
          <a:xfrm>
            <a:off x="548640" y="4480560"/>
            <a:ext cx="60350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𝓛ᵣ g = p₀ / D_f,   g = 𝓛ᵣ w,   𝓛ᵣ f = (1/r) d/dr (r df/dr)</a:t>
            </a:r>
          </a:p>
        </p:txBody>
      </p:sp>
      <p:sp>
        <p:nvSpPr>
          <p:cNvPr id="16" name="C4-E13 text 14" descr="sci-ppt:o014"/>
          <p:cNvSpPr txBox="1"/>
          <p:nvPr/>
        </p:nvSpPr>
        <p:spPr>
          <a:xfrm>
            <a:off x="548640" y="4937760"/>
            <a:ext cx="60350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w(b) = 0,  w′(b) = 0 (clamped edge);  fields regular at r = 0</a:t>
            </a:r>
          </a:p>
        </p:txBody>
      </p:sp>
      <p:sp>
        <p:nvSpPr>
          <p:cNvPr id="17" name="C4-E13 round_rect 15" descr="sci-ppt:o015"/>
          <p:cNvSpPr/>
          <p:nvPr/>
        </p:nvSpPr>
        <p:spPr>
          <a:xfrm>
            <a:off x="6858000" y="914400"/>
            <a:ext cx="498348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4-E13 text 16" descr="sci-ppt:o016"/>
          <p:cNvSpPr txBox="1"/>
          <p:nvPr/>
        </p:nvSpPr>
        <p:spPr>
          <a:xfrm>
            <a:off x="6967728" y="969264"/>
            <a:ext cx="47640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Reading the boundary-value problem</a:t>
            </a:r>
          </a:p>
        </p:txBody>
      </p:sp>
      <p:sp>
        <p:nvSpPr>
          <p:cNvPr id="19" name="C4-E13 text 17" descr="sci-ppt:o017"/>
          <p:cNvSpPr txBox="1"/>
          <p:nvPr/>
        </p:nvSpPr>
        <p:spPr>
          <a:xfrm>
            <a:off x="7196328" y="1463040"/>
            <a:ext cx="45537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Axisymmetry: only r matters, the Laplacian 𝓛ᵣ replaces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∇².</a:t>
            </a:r>
          </a:p>
        </p:txBody>
      </p:sp>
      <p:sp>
        <p:nvSpPr>
          <p:cNvPr id="20" name="C4-E13 ellipse 18" descr="sci-ppt:o018"/>
          <p:cNvSpPr/>
          <p:nvPr/>
        </p:nvSpPr>
        <p:spPr>
          <a:xfrm>
            <a:off x="7027164" y="152031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4-E13 text 19" descr="sci-ppt:o019"/>
          <p:cNvSpPr txBox="1"/>
          <p:nvPr/>
        </p:nvSpPr>
        <p:spPr>
          <a:xfrm>
            <a:off x="7196328" y="1941829"/>
            <a:ext cx="45537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biharmonic equation D_f ∇⁴w = p₀ becomes two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nested 𝓛ᵣ equations.</a:t>
            </a:r>
          </a:p>
        </p:txBody>
      </p:sp>
      <p:sp>
        <p:nvSpPr>
          <p:cNvPr id="22" name="C4-E13 ellipse 20" descr="sci-ppt:o020"/>
          <p:cNvSpPr/>
          <p:nvPr/>
        </p:nvSpPr>
        <p:spPr>
          <a:xfrm>
            <a:off x="7027164" y="199910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4-E13 text 21" descr="sci-ppt:o021"/>
          <p:cNvSpPr txBox="1"/>
          <p:nvPr/>
        </p:nvSpPr>
        <p:spPr>
          <a:xfrm>
            <a:off x="7196328" y="2420619"/>
            <a:ext cx="45537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Four constants must be fixed: two by regularity, two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by the clamp.</a:t>
            </a:r>
          </a:p>
        </p:txBody>
      </p:sp>
      <p:sp>
        <p:nvSpPr>
          <p:cNvPr id="24" name="C4-E13 ellipse 22" descr="sci-ppt:o022"/>
          <p:cNvSpPr/>
          <p:nvPr/>
        </p:nvSpPr>
        <p:spPr>
          <a:xfrm>
            <a:off x="7027164" y="247789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4-E13 text 23" descr="sci-ppt:o023"/>
          <p:cNvSpPr txBox="1"/>
          <p:nvPr/>
        </p:nvSpPr>
        <p:spPr>
          <a:xfrm>
            <a:off x="7196328" y="2899409"/>
            <a:ext cx="45537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Quasistatic: no inertia, so p₀ is applied slowly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(maintained pressure).</a:t>
            </a:r>
          </a:p>
        </p:txBody>
      </p:sp>
      <p:sp>
        <p:nvSpPr>
          <p:cNvPr id="26" name="C4-E13 ellipse 24" descr="sci-ppt:o024"/>
          <p:cNvSpPr/>
          <p:nvPr/>
        </p:nvSpPr>
        <p:spPr>
          <a:xfrm>
            <a:off x="7027164" y="295668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4-E13 text 25" descr="sci-ppt:o025"/>
          <p:cNvSpPr txBox="1"/>
          <p:nvPr/>
        </p:nvSpPr>
        <p:spPr>
          <a:xfrm>
            <a:off x="6995160" y="4206240"/>
            <a:ext cx="47548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Teaching film: h_f = 10 µm, E_f = 2 GPa, ν = 0.35: D_f =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1.899e-07 N m; b = 100 µm.</a:t>
            </a:r>
          </a:p>
        </p:txBody>
      </p:sp>
      <p:sp>
        <p:nvSpPr>
          <p:cNvPr id="28" name="C4-E13 text 26" descr="sci-ppt:o02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Quasistatic circular-plate boundary-value problem of Eq. C4-E13.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C4-E14 · Derived first two radial integrations</a:t>
            </a:r>
          </a:p>
        </p:txBody>
      </p:sp>
      <p:sp>
        <p:nvSpPr>
          <p:cNvPr id="3" name="C4-E14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First pair of integrations: regularity removes C₁</a:t>
            </a:r>
          </a:p>
        </p:txBody>
      </p:sp>
      <p:sp>
        <p:nvSpPr>
          <p:cNvPr id="4" name="C4-E14 text 2" descr="sci-ppt:o002"/>
          <p:cNvSpPr txBox="1"/>
          <p:nvPr/>
        </p:nvSpPr>
        <p:spPr>
          <a:xfrm>
            <a:off x="548640" y="1417320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FC8F8"/>
                </a:solidFill>
                <a:latin typeface="Arial"/>
              </a:rPr>
              <a:t>start</a:t>
            </a:r>
          </a:p>
        </p:txBody>
      </p:sp>
      <p:sp>
        <p:nvSpPr>
          <p:cNvPr id="5" name="C4-E14 text 3" descr="sci-ppt:o003"/>
          <p:cNvSpPr txBox="1"/>
          <p:nvPr/>
        </p:nvSpPr>
        <p:spPr>
          <a:xfrm>
            <a:off x="3474720" y="1417320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d/dr (r g′) = p₀ r / D_f</a:t>
            </a:r>
          </a:p>
        </p:txBody>
      </p:sp>
      <p:sp>
        <p:nvSpPr>
          <p:cNvPr id="6" name="C4-E14 text 4" descr="sci-ppt:o004"/>
          <p:cNvSpPr txBox="1"/>
          <p:nvPr/>
        </p:nvSpPr>
        <p:spPr>
          <a:xfrm>
            <a:off x="548640" y="2075688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FC8F8"/>
                </a:solidFill>
                <a:latin typeface="Arial"/>
              </a:rPr>
              <a:t>integrate</a:t>
            </a:r>
          </a:p>
        </p:txBody>
      </p:sp>
      <p:sp>
        <p:nvSpPr>
          <p:cNvPr id="7" name="C4-E14 text 5" descr="sci-ppt:o005"/>
          <p:cNvSpPr txBox="1"/>
          <p:nvPr/>
        </p:nvSpPr>
        <p:spPr>
          <a:xfrm>
            <a:off x="3474720" y="2075688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r g′ = p₀ r² / (2D_f) + C₁</a:t>
            </a:r>
          </a:p>
        </p:txBody>
      </p:sp>
      <p:sp>
        <p:nvSpPr>
          <p:cNvPr id="8" name="C4-E14 text 6" descr="sci-ppt:o006"/>
          <p:cNvSpPr txBox="1"/>
          <p:nvPr/>
        </p:nvSpPr>
        <p:spPr>
          <a:xfrm>
            <a:off x="548640" y="2734056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divide by r</a:t>
            </a:r>
          </a:p>
        </p:txBody>
      </p:sp>
      <p:sp>
        <p:nvSpPr>
          <p:cNvPr id="9" name="C4-E14 text 7" descr="sci-ppt:o007"/>
          <p:cNvSpPr txBox="1"/>
          <p:nvPr/>
        </p:nvSpPr>
        <p:spPr>
          <a:xfrm>
            <a:off x="3474720" y="2734056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g′ = p₀ r / (2D_f) + C₁ / r</a:t>
            </a:r>
          </a:p>
        </p:txBody>
      </p:sp>
      <p:sp>
        <p:nvSpPr>
          <p:cNvPr id="10" name="C4-E14 text 8" descr="sci-ppt:o008"/>
          <p:cNvSpPr txBox="1"/>
          <p:nvPr/>
        </p:nvSpPr>
        <p:spPr>
          <a:xfrm>
            <a:off x="548640" y="3392424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regular at r = 0 ⇒ C₁ = 0</a:t>
            </a:r>
          </a:p>
        </p:txBody>
      </p:sp>
      <p:sp>
        <p:nvSpPr>
          <p:cNvPr id="11" name="C4-E14 text 9" descr="sci-ppt:o009"/>
          <p:cNvSpPr txBox="1"/>
          <p:nvPr/>
        </p:nvSpPr>
        <p:spPr>
          <a:xfrm>
            <a:off x="3474720" y="3392424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g′ = p₀ r / (2D_f)</a:t>
            </a:r>
          </a:p>
        </p:txBody>
      </p:sp>
      <p:sp>
        <p:nvSpPr>
          <p:cNvPr id="12" name="C4-E14 text 10" descr="sci-ppt:o010"/>
          <p:cNvSpPr txBox="1"/>
          <p:nvPr/>
        </p:nvSpPr>
        <p:spPr>
          <a:xfrm>
            <a:off x="548640" y="4050791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integrate</a:t>
            </a:r>
          </a:p>
        </p:txBody>
      </p:sp>
      <p:sp>
        <p:nvSpPr>
          <p:cNvPr id="13" name="C4-E14 text 11" descr="sci-ppt:o011"/>
          <p:cNvSpPr txBox="1"/>
          <p:nvPr/>
        </p:nvSpPr>
        <p:spPr>
          <a:xfrm>
            <a:off x="3474720" y="4050791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g(r) = p₀ r² / (4D_f) + C₂</a:t>
            </a:r>
          </a:p>
        </p:txBody>
      </p:sp>
      <p:cxnSp>
        <p:nvCxnSpPr>
          <p:cNvPr id="14" name="C4-E14 line 12" descr="sci-ppt:o012"/>
          <p:cNvCxnSpPr/>
          <p:nvPr/>
        </p:nvCxnSpPr>
        <p:spPr>
          <a:xfrm>
            <a:off x="8503920" y="4572000"/>
            <a:ext cx="32004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5" name="C4-E14 line 13" descr="sci-ppt:o013"/>
          <p:cNvCxnSpPr/>
          <p:nvPr/>
        </p:nvCxnSpPr>
        <p:spPr>
          <a:xfrm>
            <a:off x="8503920" y="1463040"/>
            <a:ext cx="0" cy="31089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6" name="C4-E14 line 14" descr="sci-ppt:o014"/>
          <p:cNvCxnSpPr/>
          <p:nvPr/>
        </p:nvCxnSpPr>
        <p:spPr>
          <a:xfrm>
            <a:off x="85039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7" name="C4-E14 line 15" descr="sci-ppt:o015"/>
          <p:cNvCxnSpPr/>
          <p:nvPr/>
        </p:nvCxnSpPr>
        <p:spPr>
          <a:xfrm>
            <a:off x="8503920" y="1463040"/>
            <a:ext cx="0" cy="31089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8" name="C4-E14 text 16" descr="sci-ppt:o016"/>
          <p:cNvSpPr txBox="1"/>
          <p:nvPr/>
        </p:nvSpPr>
        <p:spPr>
          <a:xfrm>
            <a:off x="80467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19" name="C4-E14 line 17" descr="sci-ppt:o017"/>
          <p:cNvCxnSpPr/>
          <p:nvPr/>
        </p:nvCxnSpPr>
        <p:spPr>
          <a:xfrm>
            <a:off x="101041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0" name="C4-E14 line 18" descr="sci-ppt:o018"/>
          <p:cNvCxnSpPr/>
          <p:nvPr/>
        </p:nvCxnSpPr>
        <p:spPr>
          <a:xfrm>
            <a:off x="10104120" y="1463040"/>
            <a:ext cx="0" cy="31089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1" name="C4-E14 text 19" descr="sci-ppt:o019"/>
          <p:cNvSpPr txBox="1"/>
          <p:nvPr/>
        </p:nvSpPr>
        <p:spPr>
          <a:xfrm>
            <a:off x="96469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2" name="C4-E14 line 20" descr="sci-ppt:o020"/>
          <p:cNvCxnSpPr/>
          <p:nvPr/>
        </p:nvCxnSpPr>
        <p:spPr>
          <a:xfrm>
            <a:off x="117043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4-E14 line 21" descr="sci-ppt:o021"/>
          <p:cNvCxnSpPr/>
          <p:nvPr/>
        </p:nvCxnSpPr>
        <p:spPr>
          <a:xfrm>
            <a:off x="11704320" y="1463040"/>
            <a:ext cx="0" cy="31089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4" name="C4-E14 text 22" descr="sci-ppt:o022"/>
          <p:cNvSpPr txBox="1"/>
          <p:nvPr/>
        </p:nvSpPr>
        <p:spPr>
          <a:xfrm>
            <a:off x="112471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5" name="C4-E14 line 23" descr="sci-ppt:o023"/>
          <p:cNvCxnSpPr/>
          <p:nvPr/>
        </p:nvCxnSpPr>
        <p:spPr>
          <a:xfrm>
            <a:off x="8439912" y="4572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4-E14 line 24" descr="sci-ppt:o024"/>
          <p:cNvCxnSpPr/>
          <p:nvPr/>
        </p:nvCxnSpPr>
        <p:spPr>
          <a:xfrm>
            <a:off x="8439912" y="30175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4-E14 line 25" descr="sci-ppt:o025"/>
          <p:cNvCxnSpPr/>
          <p:nvPr/>
        </p:nvCxnSpPr>
        <p:spPr>
          <a:xfrm>
            <a:off x="8503920" y="3017520"/>
            <a:ext cx="3200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4-E14 text 26" descr="sci-ppt:o026"/>
          <p:cNvSpPr txBox="1"/>
          <p:nvPr/>
        </p:nvSpPr>
        <p:spPr>
          <a:xfrm>
            <a:off x="7635240" y="29352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9" name="C4-E14 line 27" descr="sci-ppt:o027"/>
          <p:cNvCxnSpPr/>
          <p:nvPr/>
        </p:nvCxnSpPr>
        <p:spPr>
          <a:xfrm>
            <a:off x="8439912" y="14630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4-E14 line 28" descr="sci-ppt:o028"/>
          <p:cNvCxnSpPr/>
          <p:nvPr/>
        </p:nvCxnSpPr>
        <p:spPr>
          <a:xfrm>
            <a:off x="8503920" y="1463040"/>
            <a:ext cx="3200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4-E14 text 29" descr="sci-ppt:o029"/>
          <p:cNvSpPr txBox="1"/>
          <p:nvPr/>
        </p:nvSpPr>
        <p:spPr>
          <a:xfrm>
            <a:off x="7635240" y="13807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</a:t>
            </a:r>
          </a:p>
        </p:txBody>
      </p:sp>
      <p:sp>
        <p:nvSpPr>
          <p:cNvPr id="32" name="C4-E14 text 30" descr="sci-ppt:o030"/>
          <p:cNvSpPr txBox="1"/>
          <p:nvPr/>
        </p:nvSpPr>
        <p:spPr>
          <a:xfrm>
            <a:off x="8503920" y="4855464"/>
            <a:ext cx="3200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b</a:t>
            </a:r>
          </a:p>
        </p:txBody>
      </p:sp>
      <p:sp>
        <p:nvSpPr>
          <p:cNvPr id="33" name="C4-E14 text 31" descr="sci-ppt:o031"/>
          <p:cNvSpPr txBox="1"/>
          <p:nvPr/>
        </p:nvSpPr>
        <p:spPr>
          <a:xfrm>
            <a:off x="7955280" y="1115568"/>
            <a:ext cx="3200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C₁ / r  term</a:t>
            </a:r>
          </a:p>
        </p:txBody>
      </p:sp>
      <p:sp>
        <p:nvSpPr>
          <p:cNvPr id="34" name="C4-E14 polygon 32" descr="sci-ppt:o032"/>
          <p:cNvSpPr/>
          <p:nvPr/>
        </p:nvSpPr>
        <p:spPr>
          <a:xfrm>
            <a:off x="8709131" y="1502328"/>
            <a:ext cx="2995189" cy="1418037"/>
          </a:xfrm>
          <a:custGeom>
            <a:avLst/>
            <a:gdLst/>
            <a:ahLst/>
            <a:cxnLst/>
            <a:rect l="l" t="t" r="r" b="b"/>
            <a:pathLst>
              <a:path w="2995189" h="1418037">
                <a:moveTo>
                  <a:pt x="0" y="0"/>
                </a:moveTo>
                <a:lnTo>
                  <a:pt x="15600" y="107045"/>
                </a:lnTo>
                <a:lnTo>
                  <a:pt x="31200" y="199964"/>
                </a:lnTo>
                <a:lnTo>
                  <a:pt x="46800" y="281379"/>
                </a:lnTo>
                <a:lnTo>
                  <a:pt x="62400" y="353302"/>
                </a:lnTo>
                <a:lnTo>
                  <a:pt x="78000" y="417301"/>
                </a:lnTo>
                <a:lnTo>
                  <a:pt x="93600" y="474619"/>
                </a:lnTo>
                <a:lnTo>
                  <a:pt x="109200" y="526248"/>
                </a:lnTo>
                <a:lnTo>
                  <a:pt x="124800" y="572996"/>
                </a:lnTo>
                <a:lnTo>
                  <a:pt x="140400" y="615524"/>
                </a:lnTo>
                <a:lnTo>
                  <a:pt x="155999" y="654379"/>
                </a:lnTo>
                <a:lnTo>
                  <a:pt x="171599" y="690017"/>
                </a:lnTo>
                <a:lnTo>
                  <a:pt x="187199" y="722821"/>
                </a:lnTo>
                <a:lnTo>
                  <a:pt x="202799" y="753116"/>
                </a:lnTo>
                <a:lnTo>
                  <a:pt x="218399" y="781181"/>
                </a:lnTo>
                <a:lnTo>
                  <a:pt x="233999" y="807251"/>
                </a:lnTo>
                <a:lnTo>
                  <a:pt x="249599" y="831534"/>
                </a:lnTo>
                <a:lnTo>
                  <a:pt x="265199" y="854205"/>
                </a:lnTo>
                <a:lnTo>
                  <a:pt x="280799" y="875422"/>
                </a:lnTo>
                <a:lnTo>
                  <a:pt x="296399" y="895318"/>
                </a:lnTo>
                <a:lnTo>
                  <a:pt x="311999" y="914015"/>
                </a:lnTo>
                <a:lnTo>
                  <a:pt x="327599" y="931616"/>
                </a:lnTo>
                <a:lnTo>
                  <a:pt x="343199" y="948217"/>
                </a:lnTo>
                <a:lnTo>
                  <a:pt x="358799" y="963899"/>
                </a:lnTo>
                <a:lnTo>
                  <a:pt x="374399" y="978736"/>
                </a:lnTo>
                <a:lnTo>
                  <a:pt x="389999" y="992796"/>
                </a:lnTo>
                <a:lnTo>
                  <a:pt x="405599" y="1006138"/>
                </a:lnTo>
                <a:lnTo>
                  <a:pt x="421198" y="1018816"/>
                </a:lnTo>
                <a:lnTo>
                  <a:pt x="436798" y="1030877"/>
                </a:lnTo>
                <a:lnTo>
                  <a:pt x="452398" y="1042366"/>
                </a:lnTo>
                <a:lnTo>
                  <a:pt x="467998" y="1053322"/>
                </a:lnTo>
                <a:lnTo>
                  <a:pt x="483598" y="1063783"/>
                </a:lnTo>
                <a:lnTo>
                  <a:pt x="499198" y="1073780"/>
                </a:lnTo>
                <a:lnTo>
                  <a:pt x="514798" y="1083343"/>
                </a:lnTo>
                <a:lnTo>
                  <a:pt x="530398" y="1092501"/>
                </a:lnTo>
                <a:lnTo>
                  <a:pt x="545998" y="1101279"/>
                </a:lnTo>
                <a:lnTo>
                  <a:pt x="561598" y="1109700"/>
                </a:lnTo>
                <a:lnTo>
                  <a:pt x="577198" y="1117785"/>
                </a:lnTo>
                <a:lnTo>
                  <a:pt x="592798" y="1125553"/>
                </a:lnTo>
                <a:lnTo>
                  <a:pt x="608398" y="1133024"/>
                </a:lnTo>
                <a:lnTo>
                  <a:pt x="623998" y="1140214"/>
                </a:lnTo>
                <a:lnTo>
                  <a:pt x="639598" y="1147138"/>
                </a:lnTo>
                <a:lnTo>
                  <a:pt x="655198" y="1153811"/>
                </a:lnTo>
                <a:lnTo>
                  <a:pt x="670797" y="1160247"/>
                </a:lnTo>
                <a:lnTo>
                  <a:pt x="686397" y="1166457"/>
                </a:lnTo>
                <a:lnTo>
                  <a:pt x="701997" y="1172454"/>
                </a:lnTo>
                <a:lnTo>
                  <a:pt x="717597" y="1178248"/>
                </a:lnTo>
                <a:lnTo>
                  <a:pt x="733197" y="1183849"/>
                </a:lnTo>
                <a:lnTo>
                  <a:pt x="748797" y="1189267"/>
                </a:lnTo>
                <a:lnTo>
                  <a:pt x="764397" y="1194511"/>
                </a:lnTo>
                <a:lnTo>
                  <a:pt x="779997" y="1199588"/>
                </a:lnTo>
                <a:lnTo>
                  <a:pt x="795597" y="1204508"/>
                </a:lnTo>
                <a:lnTo>
                  <a:pt x="811197" y="1209276"/>
                </a:lnTo>
                <a:lnTo>
                  <a:pt x="826797" y="1213900"/>
                </a:lnTo>
                <a:lnTo>
                  <a:pt x="842397" y="1218387"/>
                </a:lnTo>
                <a:lnTo>
                  <a:pt x="857997" y="1222742"/>
                </a:lnTo>
                <a:lnTo>
                  <a:pt x="873597" y="1226971"/>
                </a:lnTo>
                <a:lnTo>
                  <a:pt x="889197" y="1231079"/>
                </a:lnTo>
                <a:lnTo>
                  <a:pt x="904797" y="1235072"/>
                </a:lnTo>
                <a:lnTo>
                  <a:pt x="920397" y="1238954"/>
                </a:lnTo>
                <a:lnTo>
                  <a:pt x="935996" y="1242730"/>
                </a:lnTo>
                <a:lnTo>
                  <a:pt x="951596" y="1246405"/>
                </a:lnTo>
                <a:lnTo>
                  <a:pt x="967196" y="1249981"/>
                </a:lnTo>
                <a:lnTo>
                  <a:pt x="982796" y="1253464"/>
                </a:lnTo>
                <a:lnTo>
                  <a:pt x="998396" y="1256856"/>
                </a:lnTo>
                <a:lnTo>
                  <a:pt x="1013996" y="1260161"/>
                </a:lnTo>
                <a:lnTo>
                  <a:pt x="1029596" y="1263383"/>
                </a:lnTo>
                <a:lnTo>
                  <a:pt x="1045196" y="1266525"/>
                </a:lnTo>
                <a:lnTo>
                  <a:pt x="1060796" y="1269589"/>
                </a:lnTo>
                <a:lnTo>
                  <a:pt x="1076396" y="1272578"/>
                </a:lnTo>
                <a:lnTo>
                  <a:pt x="1091996" y="1275496"/>
                </a:lnTo>
                <a:lnTo>
                  <a:pt x="1107596" y="1278344"/>
                </a:lnTo>
                <a:lnTo>
                  <a:pt x="1123196" y="1281126"/>
                </a:lnTo>
                <a:lnTo>
                  <a:pt x="1138796" y="1283842"/>
                </a:lnTo>
                <a:lnTo>
                  <a:pt x="1154396" y="1286497"/>
                </a:lnTo>
                <a:lnTo>
                  <a:pt x="1169996" y="1289091"/>
                </a:lnTo>
                <a:lnTo>
                  <a:pt x="1185595" y="1291627"/>
                </a:lnTo>
                <a:lnTo>
                  <a:pt x="1201195" y="1294107"/>
                </a:lnTo>
                <a:lnTo>
                  <a:pt x="1216795" y="1296532"/>
                </a:lnTo>
                <a:lnTo>
                  <a:pt x="1232395" y="1298905"/>
                </a:lnTo>
                <a:lnTo>
                  <a:pt x="1247995" y="1301227"/>
                </a:lnTo>
                <a:lnTo>
                  <a:pt x="1263595" y="1303499"/>
                </a:lnTo>
                <a:lnTo>
                  <a:pt x="1279195" y="1305724"/>
                </a:lnTo>
                <a:lnTo>
                  <a:pt x="1294795" y="1307903"/>
                </a:lnTo>
                <a:lnTo>
                  <a:pt x="1310395" y="1310036"/>
                </a:lnTo>
                <a:lnTo>
                  <a:pt x="1325995" y="1312126"/>
                </a:lnTo>
                <a:lnTo>
                  <a:pt x="1341595" y="1314174"/>
                </a:lnTo>
                <a:lnTo>
                  <a:pt x="1357195" y="1316181"/>
                </a:lnTo>
                <a:lnTo>
                  <a:pt x="1372795" y="1318149"/>
                </a:lnTo>
                <a:lnTo>
                  <a:pt x="1388395" y="1320078"/>
                </a:lnTo>
                <a:lnTo>
                  <a:pt x="1403995" y="1321969"/>
                </a:lnTo>
                <a:lnTo>
                  <a:pt x="1419595" y="1323824"/>
                </a:lnTo>
                <a:lnTo>
                  <a:pt x="1435195" y="1325644"/>
                </a:lnTo>
                <a:lnTo>
                  <a:pt x="1450794" y="1327430"/>
                </a:lnTo>
                <a:lnTo>
                  <a:pt x="1466394" y="1329182"/>
                </a:lnTo>
                <a:lnTo>
                  <a:pt x="1481994" y="1330902"/>
                </a:lnTo>
                <a:lnTo>
                  <a:pt x="1497594" y="1332590"/>
                </a:lnTo>
                <a:lnTo>
                  <a:pt x="1513194" y="1334248"/>
                </a:lnTo>
                <a:lnTo>
                  <a:pt x="1528794" y="1335876"/>
                </a:lnTo>
                <a:lnTo>
                  <a:pt x="1544394" y="1337474"/>
                </a:lnTo>
                <a:lnTo>
                  <a:pt x="1559994" y="1339045"/>
                </a:lnTo>
                <a:lnTo>
                  <a:pt x="1575594" y="1340588"/>
                </a:lnTo>
                <a:lnTo>
                  <a:pt x="1591194" y="1342104"/>
                </a:lnTo>
                <a:lnTo>
                  <a:pt x="1606794" y="1343594"/>
                </a:lnTo>
                <a:lnTo>
                  <a:pt x="1622394" y="1345059"/>
                </a:lnTo>
                <a:lnTo>
                  <a:pt x="1637994" y="1346499"/>
                </a:lnTo>
                <a:lnTo>
                  <a:pt x="1653594" y="1347915"/>
                </a:lnTo>
                <a:lnTo>
                  <a:pt x="1669194" y="1349307"/>
                </a:lnTo>
                <a:lnTo>
                  <a:pt x="1684794" y="1350676"/>
                </a:lnTo>
                <a:lnTo>
                  <a:pt x="1700394" y="1352023"/>
                </a:lnTo>
                <a:lnTo>
                  <a:pt x="1715993" y="1353348"/>
                </a:lnTo>
                <a:lnTo>
                  <a:pt x="1731593" y="1354651"/>
                </a:lnTo>
                <a:lnTo>
                  <a:pt x="1747193" y="1355934"/>
                </a:lnTo>
                <a:lnTo>
                  <a:pt x="1762793" y="1357197"/>
                </a:lnTo>
                <a:lnTo>
                  <a:pt x="1778393" y="1358439"/>
                </a:lnTo>
                <a:lnTo>
                  <a:pt x="1793993" y="1359662"/>
                </a:lnTo>
                <a:lnTo>
                  <a:pt x="1809593" y="1360866"/>
                </a:lnTo>
                <a:lnTo>
                  <a:pt x="1825193" y="1362052"/>
                </a:lnTo>
                <a:lnTo>
                  <a:pt x="1840793" y="1363220"/>
                </a:lnTo>
                <a:lnTo>
                  <a:pt x="1856393" y="1364370"/>
                </a:lnTo>
                <a:lnTo>
                  <a:pt x="1871993" y="1365502"/>
                </a:lnTo>
                <a:lnTo>
                  <a:pt x="1887593" y="1366618"/>
                </a:lnTo>
                <a:lnTo>
                  <a:pt x="1903193" y="1367717"/>
                </a:lnTo>
                <a:lnTo>
                  <a:pt x="1918793" y="1368801"/>
                </a:lnTo>
                <a:lnTo>
                  <a:pt x="1934393" y="1369868"/>
                </a:lnTo>
                <a:lnTo>
                  <a:pt x="1949993" y="1370920"/>
                </a:lnTo>
                <a:lnTo>
                  <a:pt x="1965592" y="1371957"/>
                </a:lnTo>
                <a:lnTo>
                  <a:pt x="1981192" y="1372979"/>
                </a:lnTo>
                <a:lnTo>
                  <a:pt x="1996792" y="1373986"/>
                </a:lnTo>
                <a:lnTo>
                  <a:pt x="2012392" y="1374979"/>
                </a:lnTo>
                <a:lnTo>
                  <a:pt x="2027992" y="1375959"/>
                </a:lnTo>
                <a:lnTo>
                  <a:pt x="2043592" y="1376925"/>
                </a:lnTo>
                <a:lnTo>
                  <a:pt x="2059192" y="1377877"/>
                </a:lnTo>
                <a:lnTo>
                  <a:pt x="2074792" y="1378817"/>
                </a:lnTo>
                <a:lnTo>
                  <a:pt x="2090392" y="1379744"/>
                </a:lnTo>
                <a:lnTo>
                  <a:pt x="2105992" y="1380658"/>
                </a:lnTo>
                <a:lnTo>
                  <a:pt x="2121592" y="1381560"/>
                </a:lnTo>
                <a:lnTo>
                  <a:pt x="2137192" y="1382450"/>
                </a:lnTo>
                <a:lnTo>
                  <a:pt x="2152792" y="1383328"/>
                </a:lnTo>
                <a:lnTo>
                  <a:pt x="2168392" y="1384195"/>
                </a:lnTo>
                <a:lnTo>
                  <a:pt x="2183992" y="1385050"/>
                </a:lnTo>
                <a:lnTo>
                  <a:pt x="2199592" y="1385894"/>
                </a:lnTo>
                <a:lnTo>
                  <a:pt x="2215192" y="1386727"/>
                </a:lnTo>
                <a:lnTo>
                  <a:pt x="2230791" y="1387550"/>
                </a:lnTo>
                <a:lnTo>
                  <a:pt x="2246391" y="1388362"/>
                </a:lnTo>
                <a:lnTo>
                  <a:pt x="2261991" y="1389164"/>
                </a:lnTo>
                <a:lnTo>
                  <a:pt x="2277591" y="1389956"/>
                </a:lnTo>
                <a:lnTo>
                  <a:pt x="2293191" y="1390738"/>
                </a:lnTo>
                <a:lnTo>
                  <a:pt x="2308791" y="1391510"/>
                </a:lnTo>
                <a:lnTo>
                  <a:pt x="2324391" y="1392273"/>
                </a:lnTo>
                <a:lnTo>
                  <a:pt x="2339991" y="1393026"/>
                </a:lnTo>
                <a:lnTo>
                  <a:pt x="2355591" y="1393771"/>
                </a:lnTo>
                <a:lnTo>
                  <a:pt x="2371191" y="1394506"/>
                </a:lnTo>
                <a:lnTo>
                  <a:pt x="2386791" y="1395232"/>
                </a:lnTo>
                <a:lnTo>
                  <a:pt x="2402391" y="1395950"/>
                </a:lnTo>
                <a:lnTo>
                  <a:pt x="2417991" y="1396659"/>
                </a:lnTo>
                <a:lnTo>
                  <a:pt x="2433591" y="1397360"/>
                </a:lnTo>
                <a:lnTo>
                  <a:pt x="2449191" y="1398052"/>
                </a:lnTo>
                <a:lnTo>
                  <a:pt x="2464791" y="1398737"/>
                </a:lnTo>
                <a:lnTo>
                  <a:pt x="2480390" y="1399413"/>
                </a:lnTo>
                <a:lnTo>
                  <a:pt x="2495990" y="1400082"/>
                </a:lnTo>
                <a:lnTo>
                  <a:pt x="2511590" y="1400743"/>
                </a:lnTo>
                <a:lnTo>
                  <a:pt x="2527190" y="1401396"/>
                </a:lnTo>
                <a:lnTo>
                  <a:pt x="2542790" y="1402042"/>
                </a:lnTo>
                <a:lnTo>
                  <a:pt x="2558390" y="1402681"/>
                </a:lnTo>
                <a:lnTo>
                  <a:pt x="2573990" y="1403312"/>
                </a:lnTo>
                <a:lnTo>
                  <a:pt x="2589590" y="1403937"/>
                </a:lnTo>
                <a:lnTo>
                  <a:pt x="2605190" y="1404554"/>
                </a:lnTo>
                <a:lnTo>
                  <a:pt x="2620790" y="1405165"/>
                </a:lnTo>
                <a:lnTo>
                  <a:pt x="2636390" y="1405769"/>
                </a:lnTo>
                <a:lnTo>
                  <a:pt x="2651990" y="1406367"/>
                </a:lnTo>
                <a:lnTo>
                  <a:pt x="2667590" y="1406957"/>
                </a:lnTo>
                <a:lnTo>
                  <a:pt x="2683190" y="1407542"/>
                </a:lnTo>
                <a:lnTo>
                  <a:pt x="2698790" y="1408120"/>
                </a:lnTo>
                <a:lnTo>
                  <a:pt x="2714390" y="1408692"/>
                </a:lnTo>
                <a:lnTo>
                  <a:pt x="2729990" y="1409258"/>
                </a:lnTo>
                <a:lnTo>
                  <a:pt x="2745589" y="1409818"/>
                </a:lnTo>
                <a:lnTo>
                  <a:pt x="2761189" y="1410373"/>
                </a:lnTo>
                <a:lnTo>
                  <a:pt x="2776789" y="1410921"/>
                </a:lnTo>
                <a:lnTo>
                  <a:pt x="2792389" y="1411464"/>
                </a:lnTo>
                <a:lnTo>
                  <a:pt x="2807989" y="1412001"/>
                </a:lnTo>
                <a:lnTo>
                  <a:pt x="2823589" y="1412532"/>
                </a:lnTo>
                <a:lnTo>
                  <a:pt x="2839189" y="1413058"/>
                </a:lnTo>
                <a:lnTo>
                  <a:pt x="2854789" y="1413579"/>
                </a:lnTo>
                <a:lnTo>
                  <a:pt x="2870389" y="1414094"/>
                </a:lnTo>
                <a:lnTo>
                  <a:pt x="2885989" y="1414604"/>
                </a:lnTo>
                <a:lnTo>
                  <a:pt x="2901589" y="1415109"/>
                </a:lnTo>
                <a:lnTo>
                  <a:pt x="2917189" y="1415610"/>
                </a:lnTo>
                <a:lnTo>
                  <a:pt x="2932789" y="1416105"/>
                </a:lnTo>
                <a:lnTo>
                  <a:pt x="2948389" y="1416595"/>
                </a:lnTo>
                <a:lnTo>
                  <a:pt x="2963989" y="1417080"/>
                </a:lnTo>
                <a:lnTo>
                  <a:pt x="2979589" y="1417561"/>
                </a:lnTo>
                <a:lnTo>
                  <a:pt x="2995189" y="1418037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4-E14 text 33" descr="sci-ppt:o033"/>
          <p:cNvSpPr txBox="1"/>
          <p:nvPr/>
        </p:nvSpPr>
        <p:spPr>
          <a:xfrm>
            <a:off x="9057132" y="1754505"/>
            <a:ext cx="1828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C₁/r diverges</a:t>
            </a:r>
          </a:p>
        </p:txBody>
      </p:sp>
      <p:sp>
        <p:nvSpPr>
          <p:cNvPr id="36" name="C4-E14 text 34" descr="sci-ppt:o034"/>
          <p:cNvSpPr txBox="1"/>
          <p:nvPr/>
        </p:nvSpPr>
        <p:spPr>
          <a:xfrm>
            <a:off x="9857232" y="3217545"/>
            <a:ext cx="1828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regular: C₁ = 0</a:t>
            </a:r>
          </a:p>
        </p:txBody>
      </p:sp>
      <p:cxnSp>
        <p:nvCxnSpPr>
          <p:cNvPr id="37" name="C4-E14 line 35" descr="sci-ppt:o035"/>
          <p:cNvCxnSpPr/>
          <p:nvPr/>
        </p:nvCxnSpPr>
        <p:spPr>
          <a:xfrm>
            <a:off x="8503920" y="3017520"/>
            <a:ext cx="3200400" cy="0"/>
          </a:xfrm>
          <a:prstGeom prst="line">
            <a:avLst/>
          </a:prstGeom>
          <a:ln w="31750">
            <a:solidFill>
              <a:srgbClr val="8EDBD4"/>
            </a:solidFill>
          </a:ln>
          <a:effectLst/>
        </p:spPr>
      </p:cxnSp>
      <p:sp>
        <p:nvSpPr>
          <p:cNvPr id="38" name="C4-E14 text 36" descr="sci-ppt:o036"/>
          <p:cNvSpPr txBox="1"/>
          <p:nvPr/>
        </p:nvSpPr>
        <p:spPr>
          <a:xfrm>
            <a:off x="548640" y="489204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 term C₁/r would make the slope infinite at the centre of a smooth plate; the physical solution cannot contain it.</a:t>
            </a:r>
          </a:p>
        </p:txBody>
      </p:sp>
      <p:sp>
        <p:nvSpPr>
          <p:cNvPr id="39" name="C4-E14 text 37" descr="sci-ppt:o037"/>
          <p:cNvSpPr txBox="1"/>
          <p:nvPr/>
        </p:nvSpPr>
        <p:spPr>
          <a:xfrm>
            <a:off x="548640" y="544068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C₂ is still free: it will be fixed with the clamp conditions in Eq. C4-E16.</a:t>
            </a:r>
          </a:p>
        </p:txBody>
      </p:sp>
      <p:sp>
        <p:nvSpPr>
          <p:cNvPr id="40" name="C4-E14 text 38" descr="sci-ppt:o03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Radial integration of Eq. C4-E14; the right plot is the C₁/r term for C₁ = 0.5 (schematic).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C4-E15 · Derived second pair of radial integrations</a:t>
            </a:r>
          </a:p>
        </p:txBody>
      </p:sp>
      <p:sp>
        <p:nvSpPr>
          <p:cNvPr id="3" name="C4-E15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Second pair of integrations: build w(r)</a:t>
            </a:r>
          </a:p>
        </p:txBody>
      </p:sp>
      <p:sp>
        <p:nvSpPr>
          <p:cNvPr id="4" name="C4-E15 text 2" descr="sci-ppt:o002"/>
          <p:cNvSpPr txBox="1"/>
          <p:nvPr/>
        </p:nvSpPr>
        <p:spPr>
          <a:xfrm>
            <a:off x="548640" y="1417320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FC8F8"/>
                </a:solidFill>
                <a:latin typeface="Arial"/>
              </a:rPr>
              <a:t>start</a:t>
            </a:r>
          </a:p>
        </p:txBody>
      </p:sp>
      <p:sp>
        <p:nvSpPr>
          <p:cNvPr id="5" name="C4-E15 text 3" descr="sci-ppt:o003"/>
          <p:cNvSpPr txBox="1"/>
          <p:nvPr/>
        </p:nvSpPr>
        <p:spPr>
          <a:xfrm>
            <a:off x="3474720" y="1417320"/>
            <a:ext cx="49377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d/dr (r w′) = r g = p₀ r³ / (4D_f) + C₂ r</a:t>
            </a:r>
          </a:p>
        </p:txBody>
      </p:sp>
      <p:sp>
        <p:nvSpPr>
          <p:cNvPr id="6" name="C4-E15 text 4" descr="sci-ppt:o004"/>
          <p:cNvSpPr txBox="1"/>
          <p:nvPr/>
        </p:nvSpPr>
        <p:spPr>
          <a:xfrm>
            <a:off x="548640" y="2075688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FC8F8"/>
                </a:solidFill>
                <a:latin typeface="Arial"/>
              </a:rPr>
              <a:t>integrate</a:t>
            </a:r>
          </a:p>
        </p:txBody>
      </p:sp>
      <p:sp>
        <p:nvSpPr>
          <p:cNvPr id="7" name="C4-E15 text 5" descr="sci-ppt:o005"/>
          <p:cNvSpPr txBox="1"/>
          <p:nvPr/>
        </p:nvSpPr>
        <p:spPr>
          <a:xfrm>
            <a:off x="3474720" y="2075688"/>
            <a:ext cx="49377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r w′ = p₀ r⁴ / (16D_f) + C₂ r² / 2 + C₃</a:t>
            </a:r>
          </a:p>
        </p:txBody>
      </p:sp>
      <p:sp>
        <p:nvSpPr>
          <p:cNvPr id="8" name="C4-E15 text 6" descr="sci-ppt:o006"/>
          <p:cNvSpPr txBox="1"/>
          <p:nvPr/>
        </p:nvSpPr>
        <p:spPr>
          <a:xfrm>
            <a:off x="548640" y="2734056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C₃ = 0 (regular)</a:t>
            </a:r>
          </a:p>
        </p:txBody>
      </p:sp>
      <p:sp>
        <p:nvSpPr>
          <p:cNvPr id="9" name="C4-E15 text 7" descr="sci-ppt:o007"/>
          <p:cNvSpPr txBox="1"/>
          <p:nvPr/>
        </p:nvSpPr>
        <p:spPr>
          <a:xfrm>
            <a:off x="3474720" y="2734056"/>
            <a:ext cx="49377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w′ = p₀ r³ / (16D_f) + C₂ r / 2</a:t>
            </a:r>
          </a:p>
        </p:txBody>
      </p:sp>
      <p:sp>
        <p:nvSpPr>
          <p:cNvPr id="10" name="C4-E15 text 8" descr="sci-ppt:o008"/>
          <p:cNvSpPr txBox="1"/>
          <p:nvPr/>
        </p:nvSpPr>
        <p:spPr>
          <a:xfrm>
            <a:off x="548640" y="3392424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integrate</a:t>
            </a:r>
          </a:p>
        </p:txBody>
      </p:sp>
      <p:sp>
        <p:nvSpPr>
          <p:cNvPr id="11" name="C4-E15 text 9" descr="sci-ppt:o009"/>
          <p:cNvSpPr txBox="1"/>
          <p:nvPr/>
        </p:nvSpPr>
        <p:spPr>
          <a:xfrm>
            <a:off x="3474720" y="3392424"/>
            <a:ext cx="49377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w = p₀ r⁴ / (64D_f) + C₂ r² / 4 + C₄</a:t>
            </a:r>
          </a:p>
        </p:txBody>
      </p:sp>
      <p:cxnSp>
        <p:nvCxnSpPr>
          <p:cNvPr id="12" name="C4-E15 line 10" descr="sci-ppt:o010"/>
          <p:cNvCxnSpPr/>
          <p:nvPr/>
        </p:nvCxnSpPr>
        <p:spPr>
          <a:xfrm>
            <a:off x="8778240" y="4480560"/>
            <a:ext cx="29260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3" name="C4-E15 line 11" descr="sci-ppt:o011"/>
          <p:cNvCxnSpPr/>
          <p:nvPr/>
        </p:nvCxnSpPr>
        <p:spPr>
          <a:xfrm>
            <a:off x="8778240" y="1371600"/>
            <a:ext cx="0" cy="31089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4" name="C4-E15 line 12" descr="sci-ppt:o012"/>
          <p:cNvCxnSpPr/>
          <p:nvPr/>
        </p:nvCxnSpPr>
        <p:spPr>
          <a:xfrm>
            <a:off x="8778240" y="44805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15 line 13" descr="sci-ppt:o013"/>
          <p:cNvCxnSpPr/>
          <p:nvPr/>
        </p:nvCxnSpPr>
        <p:spPr>
          <a:xfrm>
            <a:off x="8778240" y="1371600"/>
            <a:ext cx="0" cy="31089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15 text 14" descr="sci-ppt:o014"/>
          <p:cNvSpPr txBox="1"/>
          <p:nvPr/>
        </p:nvSpPr>
        <p:spPr>
          <a:xfrm>
            <a:off x="8321040" y="45628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17" name="C4-E15 line 15" descr="sci-ppt:o015"/>
          <p:cNvCxnSpPr/>
          <p:nvPr/>
        </p:nvCxnSpPr>
        <p:spPr>
          <a:xfrm>
            <a:off x="10241280" y="44805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15 line 16" descr="sci-ppt:o016"/>
          <p:cNvCxnSpPr/>
          <p:nvPr/>
        </p:nvCxnSpPr>
        <p:spPr>
          <a:xfrm>
            <a:off x="10241280" y="1371600"/>
            <a:ext cx="0" cy="31089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15 text 17" descr="sci-ppt:o017"/>
          <p:cNvSpPr txBox="1"/>
          <p:nvPr/>
        </p:nvSpPr>
        <p:spPr>
          <a:xfrm>
            <a:off x="9784080" y="45628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0" name="C4-E15 line 18" descr="sci-ppt:o018"/>
          <p:cNvCxnSpPr/>
          <p:nvPr/>
        </p:nvCxnSpPr>
        <p:spPr>
          <a:xfrm>
            <a:off x="11704320" y="44805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15 line 19" descr="sci-ppt:o019"/>
          <p:cNvCxnSpPr/>
          <p:nvPr/>
        </p:nvCxnSpPr>
        <p:spPr>
          <a:xfrm>
            <a:off x="11704320" y="1371600"/>
            <a:ext cx="0" cy="31089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4-E15 text 20" descr="sci-ppt:o020"/>
          <p:cNvSpPr txBox="1"/>
          <p:nvPr/>
        </p:nvSpPr>
        <p:spPr>
          <a:xfrm>
            <a:off x="11247120" y="45628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3" name="C4-E15 line 21" descr="sci-ppt:o021"/>
          <p:cNvCxnSpPr/>
          <p:nvPr/>
        </p:nvCxnSpPr>
        <p:spPr>
          <a:xfrm>
            <a:off x="8714232" y="432112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4-E15 line 22" descr="sci-ppt:o022"/>
          <p:cNvCxnSpPr/>
          <p:nvPr/>
        </p:nvCxnSpPr>
        <p:spPr>
          <a:xfrm>
            <a:off x="8778240" y="4321126"/>
            <a:ext cx="29260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4-E15 text 23" descr="sci-ppt:o023"/>
          <p:cNvSpPr txBox="1"/>
          <p:nvPr/>
        </p:nvSpPr>
        <p:spPr>
          <a:xfrm>
            <a:off x="7909560" y="423883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-2</a:t>
            </a:r>
          </a:p>
        </p:txBody>
      </p:sp>
      <p:cxnSp>
        <p:nvCxnSpPr>
          <p:cNvPr id="26" name="C4-E15 line 24" descr="sci-ppt:o024"/>
          <p:cNvCxnSpPr/>
          <p:nvPr/>
        </p:nvCxnSpPr>
        <p:spPr>
          <a:xfrm>
            <a:off x="8714232" y="352395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4-E15 line 25" descr="sci-ppt:o025"/>
          <p:cNvCxnSpPr/>
          <p:nvPr/>
        </p:nvCxnSpPr>
        <p:spPr>
          <a:xfrm>
            <a:off x="8778240" y="3523956"/>
            <a:ext cx="29260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4-E15 text 26" descr="sci-ppt:o026"/>
          <p:cNvSpPr txBox="1"/>
          <p:nvPr/>
        </p:nvSpPr>
        <p:spPr>
          <a:xfrm>
            <a:off x="7909560" y="344166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-1</a:t>
            </a:r>
          </a:p>
        </p:txBody>
      </p:sp>
      <p:cxnSp>
        <p:nvCxnSpPr>
          <p:cNvPr id="29" name="C4-E15 line 27" descr="sci-ppt:o027"/>
          <p:cNvCxnSpPr/>
          <p:nvPr/>
        </p:nvCxnSpPr>
        <p:spPr>
          <a:xfrm>
            <a:off x="8714232" y="272678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4-E15 line 28" descr="sci-ppt:o028"/>
          <p:cNvCxnSpPr/>
          <p:nvPr/>
        </p:nvCxnSpPr>
        <p:spPr>
          <a:xfrm>
            <a:off x="8778240" y="2726787"/>
            <a:ext cx="29260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4-E15 text 29" descr="sci-ppt:o029"/>
          <p:cNvSpPr txBox="1"/>
          <p:nvPr/>
        </p:nvSpPr>
        <p:spPr>
          <a:xfrm>
            <a:off x="7909560" y="264449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32" name="C4-E15 line 30" descr="sci-ppt:o030"/>
          <p:cNvCxnSpPr/>
          <p:nvPr/>
        </p:nvCxnSpPr>
        <p:spPr>
          <a:xfrm>
            <a:off x="8714232" y="192961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4-E15 line 31" descr="sci-ppt:o031"/>
          <p:cNvCxnSpPr/>
          <p:nvPr/>
        </p:nvCxnSpPr>
        <p:spPr>
          <a:xfrm>
            <a:off x="8778240" y="1929618"/>
            <a:ext cx="29260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4-E15 text 32" descr="sci-ppt:o032"/>
          <p:cNvSpPr txBox="1"/>
          <p:nvPr/>
        </p:nvSpPr>
        <p:spPr>
          <a:xfrm>
            <a:off x="7909560" y="184732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35" name="C4-E15 text 33" descr="sci-ppt:o033"/>
          <p:cNvSpPr txBox="1"/>
          <p:nvPr/>
        </p:nvSpPr>
        <p:spPr>
          <a:xfrm>
            <a:off x="8778240" y="4764024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b</a:t>
            </a:r>
          </a:p>
        </p:txBody>
      </p:sp>
      <p:sp>
        <p:nvSpPr>
          <p:cNvPr id="36" name="C4-E15 text 34" descr="sci-ppt:o034"/>
          <p:cNvSpPr txBox="1"/>
          <p:nvPr/>
        </p:nvSpPr>
        <p:spPr>
          <a:xfrm>
            <a:off x="8229600" y="1024128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terms of 64D_f w / p₀b⁴</a:t>
            </a:r>
          </a:p>
        </p:txBody>
      </p:sp>
      <p:sp>
        <p:nvSpPr>
          <p:cNvPr id="37" name="C4-E15 polygon 35" descr="sci-ppt:o035"/>
          <p:cNvSpPr/>
          <p:nvPr/>
        </p:nvSpPr>
        <p:spPr>
          <a:xfrm>
            <a:off x="8778240" y="1929618"/>
            <a:ext cx="2926080" cy="797169"/>
          </a:xfrm>
          <a:custGeom>
            <a:avLst/>
            <a:gdLst/>
            <a:ahLst/>
            <a:cxnLst/>
            <a:rect l="l" t="t" r="r" b="b"/>
            <a:pathLst>
              <a:path w="2926080" h="797169">
                <a:moveTo>
                  <a:pt x="0" y="797169"/>
                </a:moveTo>
                <a:lnTo>
                  <a:pt x="29556" y="797169"/>
                </a:lnTo>
                <a:lnTo>
                  <a:pt x="59112" y="797169"/>
                </a:lnTo>
                <a:lnTo>
                  <a:pt x="88669" y="797169"/>
                </a:lnTo>
                <a:lnTo>
                  <a:pt x="118225" y="797167"/>
                </a:lnTo>
                <a:lnTo>
                  <a:pt x="147781" y="797164"/>
                </a:lnTo>
                <a:lnTo>
                  <a:pt x="177338" y="797158"/>
                </a:lnTo>
                <a:lnTo>
                  <a:pt x="206894" y="797149"/>
                </a:lnTo>
                <a:lnTo>
                  <a:pt x="236450" y="797135"/>
                </a:lnTo>
                <a:lnTo>
                  <a:pt x="266007" y="797115"/>
                </a:lnTo>
                <a:lnTo>
                  <a:pt x="295563" y="797086"/>
                </a:lnTo>
                <a:lnTo>
                  <a:pt x="325120" y="797048"/>
                </a:lnTo>
                <a:lnTo>
                  <a:pt x="354676" y="796997"/>
                </a:lnTo>
                <a:lnTo>
                  <a:pt x="384232" y="796932"/>
                </a:lnTo>
                <a:lnTo>
                  <a:pt x="413789" y="796850"/>
                </a:lnTo>
                <a:lnTo>
                  <a:pt x="443345" y="796749"/>
                </a:lnTo>
                <a:lnTo>
                  <a:pt x="472901" y="796625"/>
                </a:lnTo>
                <a:lnTo>
                  <a:pt x="502458" y="796476"/>
                </a:lnTo>
                <a:lnTo>
                  <a:pt x="532014" y="796298"/>
                </a:lnTo>
                <a:lnTo>
                  <a:pt x="561570" y="796088"/>
                </a:lnTo>
                <a:lnTo>
                  <a:pt x="591127" y="795841"/>
                </a:lnTo>
                <a:lnTo>
                  <a:pt x="620683" y="795555"/>
                </a:lnTo>
                <a:lnTo>
                  <a:pt x="650239" y="795225"/>
                </a:lnTo>
                <a:lnTo>
                  <a:pt x="679796" y="794847"/>
                </a:lnTo>
                <a:lnTo>
                  <a:pt x="709352" y="794416"/>
                </a:lnTo>
                <a:lnTo>
                  <a:pt x="738909" y="793928"/>
                </a:lnTo>
                <a:lnTo>
                  <a:pt x="768465" y="793377"/>
                </a:lnTo>
                <a:lnTo>
                  <a:pt x="798021" y="792759"/>
                </a:lnTo>
                <a:lnTo>
                  <a:pt x="827578" y="792068"/>
                </a:lnTo>
                <a:lnTo>
                  <a:pt x="857134" y="791300"/>
                </a:lnTo>
                <a:lnTo>
                  <a:pt x="886690" y="790447"/>
                </a:lnTo>
                <a:lnTo>
                  <a:pt x="916247" y="789505"/>
                </a:lnTo>
                <a:lnTo>
                  <a:pt x="945803" y="788467"/>
                </a:lnTo>
                <a:lnTo>
                  <a:pt x="975360" y="787328"/>
                </a:lnTo>
                <a:lnTo>
                  <a:pt x="1004916" y="786079"/>
                </a:lnTo>
                <a:lnTo>
                  <a:pt x="1034472" y="784716"/>
                </a:lnTo>
                <a:lnTo>
                  <a:pt x="1064029" y="783231"/>
                </a:lnTo>
                <a:lnTo>
                  <a:pt x="1093585" y="781616"/>
                </a:lnTo>
                <a:lnTo>
                  <a:pt x="1123141" y="779865"/>
                </a:lnTo>
                <a:lnTo>
                  <a:pt x="1152698" y="777971"/>
                </a:lnTo>
                <a:lnTo>
                  <a:pt x="1182254" y="775925"/>
                </a:lnTo>
                <a:lnTo>
                  <a:pt x="1211810" y="773719"/>
                </a:lnTo>
                <a:lnTo>
                  <a:pt x="1241367" y="771346"/>
                </a:lnTo>
                <a:lnTo>
                  <a:pt x="1270923" y="768798"/>
                </a:lnTo>
                <a:lnTo>
                  <a:pt x="1300480" y="766065"/>
                </a:lnTo>
                <a:lnTo>
                  <a:pt x="1330036" y="763139"/>
                </a:lnTo>
                <a:lnTo>
                  <a:pt x="1359592" y="760012"/>
                </a:lnTo>
                <a:lnTo>
                  <a:pt x="1389149" y="756674"/>
                </a:lnTo>
                <a:lnTo>
                  <a:pt x="1418705" y="753116"/>
                </a:lnTo>
                <a:lnTo>
                  <a:pt x="1448261" y="749329"/>
                </a:lnTo>
                <a:lnTo>
                  <a:pt x="1477818" y="745302"/>
                </a:lnTo>
                <a:lnTo>
                  <a:pt x="1507374" y="741027"/>
                </a:lnTo>
                <a:lnTo>
                  <a:pt x="1536930" y="736492"/>
                </a:lnTo>
                <a:lnTo>
                  <a:pt x="1566487" y="731689"/>
                </a:lnTo>
                <a:lnTo>
                  <a:pt x="1596043" y="726605"/>
                </a:lnTo>
                <a:lnTo>
                  <a:pt x="1625600" y="721231"/>
                </a:lnTo>
                <a:lnTo>
                  <a:pt x="1655156" y="715556"/>
                </a:lnTo>
                <a:lnTo>
                  <a:pt x="1684712" y="709568"/>
                </a:lnTo>
                <a:lnTo>
                  <a:pt x="1714269" y="703257"/>
                </a:lnTo>
                <a:lnTo>
                  <a:pt x="1743825" y="696611"/>
                </a:lnTo>
                <a:lnTo>
                  <a:pt x="1773381" y="689618"/>
                </a:lnTo>
                <a:lnTo>
                  <a:pt x="1802938" y="682267"/>
                </a:lnTo>
                <a:lnTo>
                  <a:pt x="1832494" y="674545"/>
                </a:lnTo>
                <a:lnTo>
                  <a:pt x="1862050" y="666440"/>
                </a:lnTo>
                <a:lnTo>
                  <a:pt x="1891607" y="657940"/>
                </a:lnTo>
                <a:lnTo>
                  <a:pt x="1921163" y="649032"/>
                </a:lnTo>
                <a:lnTo>
                  <a:pt x="1950720" y="639704"/>
                </a:lnTo>
                <a:lnTo>
                  <a:pt x="1980276" y="629941"/>
                </a:lnTo>
                <a:lnTo>
                  <a:pt x="2009832" y="619732"/>
                </a:lnTo>
                <a:lnTo>
                  <a:pt x="2039389" y="609062"/>
                </a:lnTo>
                <a:lnTo>
                  <a:pt x="2068945" y="597918"/>
                </a:lnTo>
                <a:lnTo>
                  <a:pt x="2098501" y="586285"/>
                </a:lnTo>
                <a:lnTo>
                  <a:pt x="2128058" y="574151"/>
                </a:lnTo>
                <a:lnTo>
                  <a:pt x="2157614" y="561501"/>
                </a:lnTo>
                <a:lnTo>
                  <a:pt x="2187170" y="548320"/>
                </a:lnTo>
                <a:lnTo>
                  <a:pt x="2216727" y="534593"/>
                </a:lnTo>
                <a:lnTo>
                  <a:pt x="2246283" y="520307"/>
                </a:lnTo>
                <a:lnTo>
                  <a:pt x="2275840" y="505445"/>
                </a:lnTo>
                <a:lnTo>
                  <a:pt x="2305396" y="489993"/>
                </a:lnTo>
                <a:lnTo>
                  <a:pt x="2334952" y="473934"/>
                </a:lnTo>
                <a:lnTo>
                  <a:pt x="2364509" y="457255"/>
                </a:lnTo>
                <a:lnTo>
                  <a:pt x="2394065" y="439938"/>
                </a:lnTo>
                <a:lnTo>
                  <a:pt x="2423621" y="421967"/>
                </a:lnTo>
                <a:lnTo>
                  <a:pt x="2453178" y="403327"/>
                </a:lnTo>
                <a:lnTo>
                  <a:pt x="2482734" y="384001"/>
                </a:lnTo>
                <a:lnTo>
                  <a:pt x="2512290" y="363972"/>
                </a:lnTo>
                <a:lnTo>
                  <a:pt x="2541847" y="343224"/>
                </a:lnTo>
                <a:lnTo>
                  <a:pt x="2571403" y="321739"/>
                </a:lnTo>
                <a:lnTo>
                  <a:pt x="2600960" y="299500"/>
                </a:lnTo>
                <a:lnTo>
                  <a:pt x="2630516" y="276491"/>
                </a:lnTo>
                <a:lnTo>
                  <a:pt x="2660072" y="252692"/>
                </a:lnTo>
                <a:lnTo>
                  <a:pt x="2689629" y="228087"/>
                </a:lnTo>
                <a:lnTo>
                  <a:pt x="2719185" y="202657"/>
                </a:lnTo>
                <a:lnTo>
                  <a:pt x="2748741" y="176384"/>
                </a:lnTo>
                <a:lnTo>
                  <a:pt x="2778298" y="149250"/>
                </a:lnTo>
                <a:lnTo>
                  <a:pt x="2807854" y="121235"/>
                </a:lnTo>
                <a:lnTo>
                  <a:pt x="2837410" y="92322"/>
                </a:lnTo>
                <a:lnTo>
                  <a:pt x="2866967" y="62492"/>
                </a:lnTo>
                <a:lnTo>
                  <a:pt x="2896523" y="31724"/>
                </a:lnTo>
                <a:lnTo>
                  <a:pt x="2926080" y="0"/>
                </a:lnTo>
              </a:path>
            </a:pathLst>
          </a:custGeom>
          <a:noFill/>
          <a:ln w="330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4-E15 polygon 36" descr="sci-ppt:o036"/>
          <p:cNvSpPr/>
          <p:nvPr/>
        </p:nvSpPr>
        <p:spPr>
          <a:xfrm>
            <a:off x="8778240" y="2726787"/>
            <a:ext cx="2926080" cy="1594339"/>
          </a:xfrm>
          <a:custGeom>
            <a:avLst/>
            <a:gdLst/>
            <a:ahLst/>
            <a:cxnLst/>
            <a:rect l="l" t="t" r="r" b="b"/>
            <a:pathLst>
              <a:path w="2926080" h="1594339">
                <a:moveTo>
                  <a:pt x="0" y="0"/>
                </a:moveTo>
                <a:lnTo>
                  <a:pt x="29556" y="163"/>
                </a:lnTo>
                <a:lnTo>
                  <a:pt x="59112" y="651"/>
                </a:lnTo>
                <a:lnTo>
                  <a:pt x="88669" y="1464"/>
                </a:lnTo>
                <a:lnTo>
                  <a:pt x="118225" y="2603"/>
                </a:lnTo>
                <a:lnTo>
                  <a:pt x="147781" y="4067"/>
                </a:lnTo>
                <a:lnTo>
                  <a:pt x="177338" y="5856"/>
                </a:lnTo>
                <a:lnTo>
                  <a:pt x="206894" y="7971"/>
                </a:lnTo>
                <a:lnTo>
                  <a:pt x="236450" y="10411"/>
                </a:lnTo>
                <a:lnTo>
                  <a:pt x="266007" y="13177"/>
                </a:lnTo>
                <a:lnTo>
                  <a:pt x="295563" y="16267"/>
                </a:lnTo>
                <a:lnTo>
                  <a:pt x="325120" y="19683"/>
                </a:lnTo>
                <a:lnTo>
                  <a:pt x="354676" y="23425"/>
                </a:lnTo>
                <a:lnTo>
                  <a:pt x="384232" y="27492"/>
                </a:lnTo>
                <a:lnTo>
                  <a:pt x="413789" y="31884"/>
                </a:lnTo>
                <a:lnTo>
                  <a:pt x="443345" y="36601"/>
                </a:lnTo>
                <a:lnTo>
                  <a:pt x="472901" y="41644"/>
                </a:lnTo>
                <a:lnTo>
                  <a:pt x="502458" y="47012"/>
                </a:lnTo>
                <a:lnTo>
                  <a:pt x="532014" y="52706"/>
                </a:lnTo>
                <a:lnTo>
                  <a:pt x="561570" y="58724"/>
                </a:lnTo>
                <a:lnTo>
                  <a:pt x="591127" y="65069"/>
                </a:lnTo>
                <a:lnTo>
                  <a:pt x="620683" y="71738"/>
                </a:lnTo>
                <a:lnTo>
                  <a:pt x="650239" y="78733"/>
                </a:lnTo>
                <a:lnTo>
                  <a:pt x="679796" y="86053"/>
                </a:lnTo>
                <a:lnTo>
                  <a:pt x="709352" y="93699"/>
                </a:lnTo>
                <a:lnTo>
                  <a:pt x="738909" y="101670"/>
                </a:lnTo>
                <a:lnTo>
                  <a:pt x="768465" y="109966"/>
                </a:lnTo>
                <a:lnTo>
                  <a:pt x="798021" y="118587"/>
                </a:lnTo>
                <a:lnTo>
                  <a:pt x="827578" y="127534"/>
                </a:lnTo>
                <a:lnTo>
                  <a:pt x="857134" y="136807"/>
                </a:lnTo>
                <a:lnTo>
                  <a:pt x="886690" y="146404"/>
                </a:lnTo>
                <a:lnTo>
                  <a:pt x="916247" y="156327"/>
                </a:lnTo>
                <a:lnTo>
                  <a:pt x="945803" y="166575"/>
                </a:lnTo>
                <a:lnTo>
                  <a:pt x="975360" y="177149"/>
                </a:lnTo>
                <a:lnTo>
                  <a:pt x="1004916" y="188048"/>
                </a:lnTo>
                <a:lnTo>
                  <a:pt x="1034472" y="199272"/>
                </a:lnTo>
                <a:lnTo>
                  <a:pt x="1064029" y="210822"/>
                </a:lnTo>
                <a:lnTo>
                  <a:pt x="1093585" y="222697"/>
                </a:lnTo>
                <a:lnTo>
                  <a:pt x="1123141" y="234897"/>
                </a:lnTo>
                <a:lnTo>
                  <a:pt x="1152698" y="247423"/>
                </a:lnTo>
                <a:lnTo>
                  <a:pt x="1182254" y="260274"/>
                </a:lnTo>
                <a:lnTo>
                  <a:pt x="1211810" y="273450"/>
                </a:lnTo>
                <a:lnTo>
                  <a:pt x="1241367" y="286952"/>
                </a:lnTo>
                <a:lnTo>
                  <a:pt x="1270923" y="300779"/>
                </a:lnTo>
                <a:lnTo>
                  <a:pt x="1300480" y="314931"/>
                </a:lnTo>
                <a:lnTo>
                  <a:pt x="1330036" y="329409"/>
                </a:lnTo>
                <a:lnTo>
                  <a:pt x="1359592" y="344212"/>
                </a:lnTo>
                <a:lnTo>
                  <a:pt x="1389149" y="359340"/>
                </a:lnTo>
                <a:lnTo>
                  <a:pt x="1418705" y="374794"/>
                </a:lnTo>
                <a:lnTo>
                  <a:pt x="1448261" y="390573"/>
                </a:lnTo>
                <a:lnTo>
                  <a:pt x="1477818" y="406678"/>
                </a:lnTo>
                <a:lnTo>
                  <a:pt x="1507374" y="423107"/>
                </a:lnTo>
                <a:lnTo>
                  <a:pt x="1536930" y="439863"/>
                </a:lnTo>
                <a:lnTo>
                  <a:pt x="1566487" y="456943"/>
                </a:lnTo>
                <a:lnTo>
                  <a:pt x="1596043" y="474349"/>
                </a:lnTo>
                <a:lnTo>
                  <a:pt x="1625600" y="492080"/>
                </a:lnTo>
                <a:lnTo>
                  <a:pt x="1655156" y="510136"/>
                </a:lnTo>
                <a:lnTo>
                  <a:pt x="1684712" y="528518"/>
                </a:lnTo>
                <a:lnTo>
                  <a:pt x="1714269" y="547225"/>
                </a:lnTo>
                <a:lnTo>
                  <a:pt x="1743825" y="566258"/>
                </a:lnTo>
                <a:lnTo>
                  <a:pt x="1773381" y="585616"/>
                </a:lnTo>
                <a:lnTo>
                  <a:pt x="1802938" y="605299"/>
                </a:lnTo>
                <a:lnTo>
                  <a:pt x="1832494" y="625308"/>
                </a:lnTo>
                <a:lnTo>
                  <a:pt x="1862050" y="645641"/>
                </a:lnTo>
                <a:lnTo>
                  <a:pt x="1891607" y="666301"/>
                </a:lnTo>
                <a:lnTo>
                  <a:pt x="1921163" y="687285"/>
                </a:lnTo>
                <a:lnTo>
                  <a:pt x="1950720" y="708595"/>
                </a:lnTo>
                <a:lnTo>
                  <a:pt x="1980276" y="730230"/>
                </a:lnTo>
                <a:lnTo>
                  <a:pt x="2009832" y="752191"/>
                </a:lnTo>
                <a:lnTo>
                  <a:pt x="2039389" y="774477"/>
                </a:lnTo>
                <a:lnTo>
                  <a:pt x="2068945" y="797088"/>
                </a:lnTo>
                <a:lnTo>
                  <a:pt x="2098501" y="820025"/>
                </a:lnTo>
                <a:lnTo>
                  <a:pt x="2128058" y="843287"/>
                </a:lnTo>
                <a:lnTo>
                  <a:pt x="2157614" y="866874"/>
                </a:lnTo>
                <a:lnTo>
                  <a:pt x="2187170" y="890787"/>
                </a:lnTo>
                <a:lnTo>
                  <a:pt x="2216727" y="915025"/>
                </a:lnTo>
                <a:lnTo>
                  <a:pt x="2246283" y="939588"/>
                </a:lnTo>
                <a:lnTo>
                  <a:pt x="2275840" y="964477"/>
                </a:lnTo>
                <a:lnTo>
                  <a:pt x="2305396" y="989691"/>
                </a:lnTo>
                <a:lnTo>
                  <a:pt x="2334952" y="1015230"/>
                </a:lnTo>
                <a:lnTo>
                  <a:pt x="2364509" y="1041095"/>
                </a:lnTo>
                <a:lnTo>
                  <a:pt x="2394065" y="1067285"/>
                </a:lnTo>
                <a:lnTo>
                  <a:pt x="2423621" y="1093800"/>
                </a:lnTo>
                <a:lnTo>
                  <a:pt x="2453178" y="1120641"/>
                </a:lnTo>
                <a:lnTo>
                  <a:pt x="2482734" y="1147807"/>
                </a:lnTo>
                <a:lnTo>
                  <a:pt x="2512290" y="1175298"/>
                </a:lnTo>
                <a:lnTo>
                  <a:pt x="2541847" y="1203115"/>
                </a:lnTo>
                <a:lnTo>
                  <a:pt x="2571403" y="1231257"/>
                </a:lnTo>
                <a:lnTo>
                  <a:pt x="2600960" y="1259724"/>
                </a:lnTo>
                <a:lnTo>
                  <a:pt x="2630516" y="1288517"/>
                </a:lnTo>
                <a:lnTo>
                  <a:pt x="2660072" y="1317635"/>
                </a:lnTo>
                <a:lnTo>
                  <a:pt x="2689629" y="1347079"/>
                </a:lnTo>
                <a:lnTo>
                  <a:pt x="2719185" y="1376848"/>
                </a:lnTo>
                <a:lnTo>
                  <a:pt x="2748741" y="1406942"/>
                </a:lnTo>
                <a:lnTo>
                  <a:pt x="2778298" y="1437361"/>
                </a:lnTo>
                <a:lnTo>
                  <a:pt x="2807854" y="1468106"/>
                </a:lnTo>
                <a:lnTo>
                  <a:pt x="2837410" y="1499176"/>
                </a:lnTo>
                <a:lnTo>
                  <a:pt x="2866967" y="1530572"/>
                </a:lnTo>
                <a:lnTo>
                  <a:pt x="2896523" y="1562292"/>
                </a:lnTo>
                <a:lnTo>
                  <a:pt x="2926080" y="1594339"/>
                </a:lnTo>
              </a:path>
            </a:pathLst>
          </a:custGeom>
          <a:noFill/>
          <a:ln w="330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4-E15 polygon 37" descr="sci-ppt:o037"/>
          <p:cNvSpPr/>
          <p:nvPr/>
        </p:nvSpPr>
        <p:spPr>
          <a:xfrm>
            <a:off x="8778240" y="1929618"/>
            <a:ext cx="2926080" cy="0"/>
          </a:xfrm>
          <a:custGeom>
            <a:avLst/>
            <a:gdLst/>
            <a:ahLst/>
            <a:cxnLst/>
            <a:rect l="l" t="t" r="r" b="b"/>
            <a:pathLst>
              <a:path w="2926080" h="0">
                <a:moveTo>
                  <a:pt x="0" y="0"/>
                </a:moveTo>
                <a:lnTo>
                  <a:pt x="29556" y="0"/>
                </a:lnTo>
                <a:lnTo>
                  <a:pt x="59112" y="0"/>
                </a:lnTo>
                <a:lnTo>
                  <a:pt x="88669" y="0"/>
                </a:lnTo>
                <a:lnTo>
                  <a:pt x="118225" y="0"/>
                </a:lnTo>
                <a:lnTo>
                  <a:pt x="147781" y="0"/>
                </a:lnTo>
                <a:lnTo>
                  <a:pt x="177338" y="0"/>
                </a:lnTo>
                <a:lnTo>
                  <a:pt x="206894" y="0"/>
                </a:lnTo>
                <a:lnTo>
                  <a:pt x="236450" y="0"/>
                </a:lnTo>
                <a:lnTo>
                  <a:pt x="266007" y="0"/>
                </a:lnTo>
                <a:lnTo>
                  <a:pt x="295563" y="0"/>
                </a:lnTo>
                <a:lnTo>
                  <a:pt x="325120" y="0"/>
                </a:lnTo>
                <a:lnTo>
                  <a:pt x="354676" y="0"/>
                </a:lnTo>
                <a:lnTo>
                  <a:pt x="384232" y="0"/>
                </a:lnTo>
                <a:lnTo>
                  <a:pt x="413789" y="0"/>
                </a:lnTo>
                <a:lnTo>
                  <a:pt x="443345" y="0"/>
                </a:lnTo>
                <a:lnTo>
                  <a:pt x="472901" y="0"/>
                </a:lnTo>
                <a:lnTo>
                  <a:pt x="502458" y="0"/>
                </a:lnTo>
                <a:lnTo>
                  <a:pt x="532014" y="0"/>
                </a:lnTo>
                <a:lnTo>
                  <a:pt x="561570" y="0"/>
                </a:lnTo>
                <a:lnTo>
                  <a:pt x="591127" y="0"/>
                </a:lnTo>
                <a:lnTo>
                  <a:pt x="620683" y="0"/>
                </a:lnTo>
                <a:lnTo>
                  <a:pt x="650239" y="0"/>
                </a:lnTo>
                <a:lnTo>
                  <a:pt x="679796" y="0"/>
                </a:lnTo>
                <a:lnTo>
                  <a:pt x="709352" y="0"/>
                </a:lnTo>
                <a:lnTo>
                  <a:pt x="738909" y="0"/>
                </a:lnTo>
                <a:lnTo>
                  <a:pt x="768465" y="0"/>
                </a:lnTo>
                <a:lnTo>
                  <a:pt x="798021" y="0"/>
                </a:lnTo>
                <a:lnTo>
                  <a:pt x="827578" y="0"/>
                </a:lnTo>
                <a:lnTo>
                  <a:pt x="857134" y="0"/>
                </a:lnTo>
                <a:lnTo>
                  <a:pt x="886690" y="0"/>
                </a:lnTo>
                <a:lnTo>
                  <a:pt x="916247" y="0"/>
                </a:lnTo>
                <a:lnTo>
                  <a:pt x="945803" y="0"/>
                </a:lnTo>
                <a:lnTo>
                  <a:pt x="975360" y="0"/>
                </a:lnTo>
                <a:lnTo>
                  <a:pt x="1004916" y="0"/>
                </a:lnTo>
                <a:lnTo>
                  <a:pt x="1034472" y="0"/>
                </a:lnTo>
                <a:lnTo>
                  <a:pt x="1064029" y="0"/>
                </a:lnTo>
                <a:lnTo>
                  <a:pt x="1093585" y="0"/>
                </a:lnTo>
                <a:lnTo>
                  <a:pt x="1123141" y="0"/>
                </a:lnTo>
                <a:lnTo>
                  <a:pt x="1152698" y="0"/>
                </a:lnTo>
                <a:lnTo>
                  <a:pt x="1182254" y="0"/>
                </a:lnTo>
                <a:lnTo>
                  <a:pt x="1211810" y="0"/>
                </a:lnTo>
                <a:lnTo>
                  <a:pt x="1241367" y="0"/>
                </a:lnTo>
                <a:lnTo>
                  <a:pt x="1270923" y="0"/>
                </a:lnTo>
                <a:lnTo>
                  <a:pt x="1300480" y="0"/>
                </a:lnTo>
                <a:lnTo>
                  <a:pt x="1330036" y="0"/>
                </a:lnTo>
                <a:lnTo>
                  <a:pt x="1359592" y="0"/>
                </a:lnTo>
                <a:lnTo>
                  <a:pt x="1389149" y="0"/>
                </a:lnTo>
                <a:lnTo>
                  <a:pt x="1418705" y="0"/>
                </a:lnTo>
                <a:lnTo>
                  <a:pt x="1448261" y="0"/>
                </a:lnTo>
                <a:lnTo>
                  <a:pt x="1477818" y="0"/>
                </a:lnTo>
                <a:lnTo>
                  <a:pt x="1507374" y="0"/>
                </a:lnTo>
                <a:lnTo>
                  <a:pt x="1536930" y="0"/>
                </a:lnTo>
                <a:lnTo>
                  <a:pt x="1566487" y="0"/>
                </a:lnTo>
                <a:lnTo>
                  <a:pt x="1596043" y="0"/>
                </a:lnTo>
                <a:lnTo>
                  <a:pt x="1625600" y="0"/>
                </a:lnTo>
                <a:lnTo>
                  <a:pt x="1655156" y="0"/>
                </a:lnTo>
                <a:lnTo>
                  <a:pt x="1684712" y="0"/>
                </a:lnTo>
                <a:lnTo>
                  <a:pt x="1714269" y="0"/>
                </a:lnTo>
                <a:lnTo>
                  <a:pt x="1743825" y="0"/>
                </a:lnTo>
                <a:lnTo>
                  <a:pt x="1773381" y="0"/>
                </a:lnTo>
                <a:lnTo>
                  <a:pt x="1802938" y="0"/>
                </a:lnTo>
                <a:lnTo>
                  <a:pt x="1832494" y="0"/>
                </a:lnTo>
                <a:lnTo>
                  <a:pt x="1862050" y="0"/>
                </a:lnTo>
                <a:lnTo>
                  <a:pt x="1891607" y="0"/>
                </a:lnTo>
                <a:lnTo>
                  <a:pt x="1921163" y="0"/>
                </a:lnTo>
                <a:lnTo>
                  <a:pt x="1950720" y="0"/>
                </a:lnTo>
                <a:lnTo>
                  <a:pt x="1980276" y="0"/>
                </a:lnTo>
                <a:lnTo>
                  <a:pt x="2009832" y="0"/>
                </a:lnTo>
                <a:lnTo>
                  <a:pt x="2039389" y="0"/>
                </a:lnTo>
                <a:lnTo>
                  <a:pt x="2068945" y="0"/>
                </a:lnTo>
                <a:lnTo>
                  <a:pt x="2098501" y="0"/>
                </a:lnTo>
                <a:lnTo>
                  <a:pt x="2128058" y="0"/>
                </a:lnTo>
                <a:lnTo>
                  <a:pt x="2157614" y="0"/>
                </a:lnTo>
                <a:lnTo>
                  <a:pt x="2187170" y="0"/>
                </a:lnTo>
                <a:lnTo>
                  <a:pt x="2216727" y="0"/>
                </a:lnTo>
                <a:lnTo>
                  <a:pt x="2246283" y="0"/>
                </a:lnTo>
                <a:lnTo>
                  <a:pt x="2275840" y="0"/>
                </a:lnTo>
                <a:lnTo>
                  <a:pt x="2305396" y="0"/>
                </a:lnTo>
                <a:lnTo>
                  <a:pt x="2334952" y="0"/>
                </a:lnTo>
                <a:lnTo>
                  <a:pt x="2364509" y="0"/>
                </a:lnTo>
                <a:lnTo>
                  <a:pt x="2394065" y="0"/>
                </a:lnTo>
                <a:lnTo>
                  <a:pt x="2423621" y="0"/>
                </a:lnTo>
                <a:lnTo>
                  <a:pt x="2453178" y="0"/>
                </a:lnTo>
                <a:lnTo>
                  <a:pt x="2482734" y="0"/>
                </a:lnTo>
                <a:lnTo>
                  <a:pt x="2512290" y="0"/>
                </a:lnTo>
                <a:lnTo>
                  <a:pt x="2541847" y="0"/>
                </a:lnTo>
                <a:lnTo>
                  <a:pt x="2571403" y="0"/>
                </a:lnTo>
                <a:lnTo>
                  <a:pt x="2600960" y="0"/>
                </a:lnTo>
                <a:lnTo>
                  <a:pt x="2630516" y="0"/>
                </a:lnTo>
                <a:lnTo>
                  <a:pt x="2660072" y="0"/>
                </a:lnTo>
                <a:lnTo>
                  <a:pt x="2689629" y="0"/>
                </a:lnTo>
                <a:lnTo>
                  <a:pt x="2719185" y="0"/>
                </a:lnTo>
                <a:lnTo>
                  <a:pt x="2748741" y="0"/>
                </a:lnTo>
                <a:lnTo>
                  <a:pt x="2778298" y="0"/>
                </a:lnTo>
                <a:lnTo>
                  <a:pt x="2807854" y="0"/>
                </a:lnTo>
                <a:lnTo>
                  <a:pt x="2837410" y="0"/>
                </a:lnTo>
                <a:lnTo>
                  <a:pt x="2866967" y="0"/>
                </a:lnTo>
                <a:lnTo>
                  <a:pt x="2896523" y="0"/>
                </a:lnTo>
                <a:lnTo>
                  <a:pt x="2926080" y="0"/>
                </a:lnTo>
              </a:path>
            </a:pathLst>
          </a:custGeom>
          <a:noFill/>
          <a:ln w="330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4-E15 polygon 38" descr="sci-ppt:o038"/>
          <p:cNvSpPr/>
          <p:nvPr/>
        </p:nvSpPr>
        <p:spPr>
          <a:xfrm>
            <a:off x="8778240" y="1929618"/>
            <a:ext cx="2926080" cy="797169"/>
          </a:xfrm>
          <a:custGeom>
            <a:avLst/>
            <a:gdLst/>
            <a:ahLst/>
            <a:cxnLst/>
            <a:rect l="l" t="t" r="r" b="b"/>
            <a:pathLst>
              <a:path w="2926080" h="797169">
                <a:moveTo>
                  <a:pt x="0" y="0"/>
                </a:moveTo>
                <a:lnTo>
                  <a:pt x="29556" y="163"/>
                </a:lnTo>
                <a:lnTo>
                  <a:pt x="59112" y="651"/>
                </a:lnTo>
                <a:lnTo>
                  <a:pt x="88669" y="1463"/>
                </a:lnTo>
                <a:lnTo>
                  <a:pt x="118225" y="2601"/>
                </a:lnTo>
                <a:lnTo>
                  <a:pt x="147781" y="4062"/>
                </a:lnTo>
                <a:lnTo>
                  <a:pt x="177338" y="5845"/>
                </a:lnTo>
                <a:lnTo>
                  <a:pt x="206894" y="7951"/>
                </a:lnTo>
                <a:lnTo>
                  <a:pt x="236450" y="10377"/>
                </a:lnTo>
                <a:lnTo>
                  <a:pt x="266007" y="13122"/>
                </a:lnTo>
                <a:lnTo>
                  <a:pt x="295563" y="16184"/>
                </a:lnTo>
                <a:lnTo>
                  <a:pt x="325120" y="19562"/>
                </a:lnTo>
                <a:lnTo>
                  <a:pt x="354676" y="23253"/>
                </a:lnTo>
                <a:lnTo>
                  <a:pt x="384232" y="27254"/>
                </a:lnTo>
                <a:lnTo>
                  <a:pt x="413789" y="31565"/>
                </a:lnTo>
                <a:lnTo>
                  <a:pt x="443345" y="36181"/>
                </a:lnTo>
                <a:lnTo>
                  <a:pt x="472901" y="41100"/>
                </a:lnTo>
                <a:lnTo>
                  <a:pt x="502458" y="46319"/>
                </a:lnTo>
                <a:lnTo>
                  <a:pt x="532014" y="51834"/>
                </a:lnTo>
                <a:lnTo>
                  <a:pt x="561570" y="57643"/>
                </a:lnTo>
                <a:lnTo>
                  <a:pt x="591127" y="63741"/>
                </a:lnTo>
                <a:lnTo>
                  <a:pt x="620683" y="70124"/>
                </a:lnTo>
                <a:lnTo>
                  <a:pt x="650239" y="76789"/>
                </a:lnTo>
                <a:lnTo>
                  <a:pt x="679796" y="83731"/>
                </a:lnTo>
                <a:lnTo>
                  <a:pt x="709352" y="90945"/>
                </a:lnTo>
                <a:lnTo>
                  <a:pt x="738909" y="98428"/>
                </a:lnTo>
                <a:lnTo>
                  <a:pt x="768465" y="106173"/>
                </a:lnTo>
                <a:lnTo>
                  <a:pt x="798021" y="114177"/>
                </a:lnTo>
                <a:lnTo>
                  <a:pt x="827578" y="122433"/>
                </a:lnTo>
                <a:lnTo>
                  <a:pt x="857134" y="130937"/>
                </a:lnTo>
                <a:lnTo>
                  <a:pt x="886690" y="139682"/>
                </a:lnTo>
                <a:lnTo>
                  <a:pt x="916247" y="148663"/>
                </a:lnTo>
                <a:lnTo>
                  <a:pt x="945803" y="157873"/>
                </a:lnTo>
                <a:lnTo>
                  <a:pt x="975360" y="167307"/>
                </a:lnTo>
                <a:lnTo>
                  <a:pt x="1004916" y="176958"/>
                </a:lnTo>
                <a:lnTo>
                  <a:pt x="1034472" y="186819"/>
                </a:lnTo>
                <a:lnTo>
                  <a:pt x="1064029" y="196883"/>
                </a:lnTo>
                <a:lnTo>
                  <a:pt x="1093585" y="207143"/>
                </a:lnTo>
                <a:lnTo>
                  <a:pt x="1123141" y="217593"/>
                </a:lnTo>
                <a:lnTo>
                  <a:pt x="1152698" y="228224"/>
                </a:lnTo>
                <a:lnTo>
                  <a:pt x="1182254" y="239029"/>
                </a:lnTo>
                <a:lnTo>
                  <a:pt x="1211810" y="250000"/>
                </a:lnTo>
                <a:lnTo>
                  <a:pt x="1241367" y="261129"/>
                </a:lnTo>
                <a:lnTo>
                  <a:pt x="1270923" y="272407"/>
                </a:lnTo>
                <a:lnTo>
                  <a:pt x="1300480" y="283827"/>
                </a:lnTo>
                <a:lnTo>
                  <a:pt x="1330036" y="295379"/>
                </a:lnTo>
                <a:lnTo>
                  <a:pt x="1359592" y="307055"/>
                </a:lnTo>
                <a:lnTo>
                  <a:pt x="1389149" y="318845"/>
                </a:lnTo>
                <a:lnTo>
                  <a:pt x="1418705" y="330741"/>
                </a:lnTo>
                <a:lnTo>
                  <a:pt x="1448261" y="342733"/>
                </a:lnTo>
                <a:lnTo>
                  <a:pt x="1477818" y="354811"/>
                </a:lnTo>
                <a:lnTo>
                  <a:pt x="1507374" y="366965"/>
                </a:lnTo>
                <a:lnTo>
                  <a:pt x="1536930" y="379185"/>
                </a:lnTo>
                <a:lnTo>
                  <a:pt x="1566487" y="391462"/>
                </a:lnTo>
                <a:lnTo>
                  <a:pt x="1596043" y="403784"/>
                </a:lnTo>
                <a:lnTo>
                  <a:pt x="1625600" y="416141"/>
                </a:lnTo>
                <a:lnTo>
                  <a:pt x="1655156" y="428523"/>
                </a:lnTo>
                <a:lnTo>
                  <a:pt x="1684712" y="440917"/>
                </a:lnTo>
                <a:lnTo>
                  <a:pt x="1714269" y="453313"/>
                </a:lnTo>
                <a:lnTo>
                  <a:pt x="1743825" y="465699"/>
                </a:lnTo>
                <a:lnTo>
                  <a:pt x="1773381" y="478064"/>
                </a:lnTo>
                <a:lnTo>
                  <a:pt x="1802938" y="490396"/>
                </a:lnTo>
                <a:lnTo>
                  <a:pt x="1832494" y="502683"/>
                </a:lnTo>
                <a:lnTo>
                  <a:pt x="1862050" y="514912"/>
                </a:lnTo>
                <a:lnTo>
                  <a:pt x="1891607" y="527071"/>
                </a:lnTo>
                <a:lnTo>
                  <a:pt x="1921163" y="539148"/>
                </a:lnTo>
                <a:lnTo>
                  <a:pt x="1950720" y="551129"/>
                </a:lnTo>
                <a:lnTo>
                  <a:pt x="1980276" y="563002"/>
                </a:lnTo>
                <a:lnTo>
                  <a:pt x="2009832" y="574753"/>
                </a:lnTo>
                <a:lnTo>
                  <a:pt x="2039389" y="586369"/>
                </a:lnTo>
                <a:lnTo>
                  <a:pt x="2068945" y="597836"/>
                </a:lnTo>
                <a:lnTo>
                  <a:pt x="2098501" y="609141"/>
                </a:lnTo>
                <a:lnTo>
                  <a:pt x="2128058" y="620269"/>
                </a:lnTo>
                <a:lnTo>
                  <a:pt x="2157614" y="631205"/>
                </a:lnTo>
                <a:lnTo>
                  <a:pt x="2187170" y="641937"/>
                </a:lnTo>
                <a:lnTo>
                  <a:pt x="2216727" y="652448"/>
                </a:lnTo>
                <a:lnTo>
                  <a:pt x="2246283" y="662725"/>
                </a:lnTo>
                <a:lnTo>
                  <a:pt x="2275840" y="672752"/>
                </a:lnTo>
                <a:lnTo>
                  <a:pt x="2305396" y="682514"/>
                </a:lnTo>
                <a:lnTo>
                  <a:pt x="2334952" y="691995"/>
                </a:lnTo>
                <a:lnTo>
                  <a:pt x="2364509" y="701180"/>
                </a:lnTo>
                <a:lnTo>
                  <a:pt x="2394065" y="710053"/>
                </a:lnTo>
                <a:lnTo>
                  <a:pt x="2423621" y="718598"/>
                </a:lnTo>
                <a:lnTo>
                  <a:pt x="2453178" y="726798"/>
                </a:lnTo>
                <a:lnTo>
                  <a:pt x="2482734" y="734638"/>
                </a:lnTo>
                <a:lnTo>
                  <a:pt x="2512290" y="742101"/>
                </a:lnTo>
                <a:lnTo>
                  <a:pt x="2541847" y="749169"/>
                </a:lnTo>
                <a:lnTo>
                  <a:pt x="2571403" y="755827"/>
                </a:lnTo>
                <a:lnTo>
                  <a:pt x="2600960" y="762055"/>
                </a:lnTo>
                <a:lnTo>
                  <a:pt x="2630516" y="767838"/>
                </a:lnTo>
                <a:lnTo>
                  <a:pt x="2660072" y="773158"/>
                </a:lnTo>
                <a:lnTo>
                  <a:pt x="2689629" y="777996"/>
                </a:lnTo>
                <a:lnTo>
                  <a:pt x="2719185" y="782335"/>
                </a:lnTo>
                <a:lnTo>
                  <a:pt x="2748741" y="786156"/>
                </a:lnTo>
                <a:lnTo>
                  <a:pt x="2778298" y="789441"/>
                </a:lnTo>
                <a:lnTo>
                  <a:pt x="2807854" y="792172"/>
                </a:lnTo>
                <a:lnTo>
                  <a:pt x="2837410" y="794329"/>
                </a:lnTo>
                <a:lnTo>
                  <a:pt x="2866967" y="795894"/>
                </a:lnTo>
                <a:lnTo>
                  <a:pt x="2896523" y="796847"/>
                </a:lnTo>
                <a:lnTo>
                  <a:pt x="2926080" y="797169"/>
                </a:lnTo>
              </a:path>
            </a:pathLst>
          </a:custGeom>
          <a:noFill/>
          <a:ln w="27940">
            <a:solidFill>
              <a:srgbClr val="E7F0F3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4-E15 text 39" descr="sci-ppt:o039"/>
          <p:cNvSpPr txBox="1"/>
          <p:nvPr/>
        </p:nvSpPr>
        <p:spPr>
          <a:xfrm>
            <a:off x="10314432" y="3085513"/>
            <a:ext cx="146304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sum (dashed)</a:t>
            </a:r>
          </a:p>
        </p:txBody>
      </p:sp>
      <p:sp>
        <p:nvSpPr>
          <p:cNvPr id="42" name="C4-E15 text 40" descr="sci-ppt:o040"/>
          <p:cNvSpPr txBox="1"/>
          <p:nvPr/>
        </p:nvSpPr>
        <p:spPr>
          <a:xfrm>
            <a:off x="10460736" y="3990535"/>
            <a:ext cx="109728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2B880"/>
                </a:solidFill>
                <a:latin typeface="Arial"/>
              </a:rPr>
              <a:t>r² term</a:t>
            </a:r>
          </a:p>
        </p:txBody>
      </p:sp>
      <p:sp>
        <p:nvSpPr>
          <p:cNvPr id="43" name="C4-E15 text 41" descr="sci-ppt:o041"/>
          <p:cNvSpPr txBox="1"/>
          <p:nvPr/>
        </p:nvSpPr>
        <p:spPr>
          <a:xfrm>
            <a:off x="10168128" y="1570892"/>
            <a:ext cx="13716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28BA0"/>
                </a:solidFill>
                <a:latin typeface="Arial"/>
              </a:rPr>
              <a:t>constant C₄</a:t>
            </a:r>
          </a:p>
        </p:txBody>
      </p:sp>
      <p:sp>
        <p:nvSpPr>
          <p:cNvPr id="44" name="C4-E15 text 42" descr="sci-ppt:o042"/>
          <p:cNvSpPr txBox="1"/>
          <p:nvPr/>
        </p:nvSpPr>
        <p:spPr>
          <a:xfrm>
            <a:off x="9729215" y="2447778"/>
            <a:ext cx="109728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8EDBD4"/>
                </a:solidFill>
                <a:latin typeface="Arial"/>
              </a:rPr>
              <a:t>r⁴ term</a:t>
            </a:r>
          </a:p>
        </p:txBody>
      </p:sp>
      <p:sp>
        <p:nvSpPr>
          <p:cNvPr id="45" name="C4-E15 text 43" descr="sci-ppt:o043"/>
          <p:cNvSpPr txBox="1"/>
          <p:nvPr/>
        </p:nvSpPr>
        <p:spPr>
          <a:xfrm>
            <a:off x="548640" y="4297680"/>
            <a:ext cx="78638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regular solution has three pieces: quartic (from the load), quadratic and constant (both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fixed by the clamp).</a:t>
            </a:r>
          </a:p>
        </p:txBody>
      </p:sp>
      <p:sp>
        <p:nvSpPr>
          <p:cNvPr id="46" name="C4-E15 text 44" descr="sci-ppt:o044"/>
          <p:cNvSpPr txBox="1"/>
          <p:nvPr/>
        </p:nvSpPr>
        <p:spPr>
          <a:xfrm>
            <a:off x="548640" y="4892040"/>
            <a:ext cx="10972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Right: the three terms (solid) add up to the final profile (dashed), using the constants found in Eq. C4-E16.</a:t>
            </a:r>
          </a:p>
        </p:txBody>
      </p:sp>
      <p:sp>
        <p:nvSpPr>
          <p:cNvPr id="47" name="C4-E15 text 45" descr="sci-ppt:o04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Radial integration of Eq. C4-E15; pieces drawn for C₂ = −p₀b²/(8D_f) and C₄ = p₀b⁴/(64D_f) (preview of Eq. C4-E16).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C4-E16 · Exact solution of the stated linear-plate benchmark</a:t>
            </a:r>
          </a:p>
        </p:txBody>
      </p:sp>
      <p:cxnSp>
        <p:nvCxnSpPr>
          <p:cNvPr id="3" name="C4-E16 line 1" descr="sci-ppt:o001"/>
          <p:cNvCxnSpPr/>
          <p:nvPr/>
        </p:nvCxnSpPr>
        <p:spPr>
          <a:xfrm>
            <a:off x="914400" y="4937760"/>
            <a:ext cx="56692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16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16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16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16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4-E16 line 6" descr="sci-ppt:o006"/>
          <p:cNvCxnSpPr/>
          <p:nvPr/>
        </p:nvCxnSpPr>
        <p:spPr>
          <a:xfrm>
            <a:off x="23317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16 line 7" descr="sci-ppt:o007"/>
          <p:cNvCxnSpPr/>
          <p:nvPr/>
        </p:nvCxnSpPr>
        <p:spPr>
          <a:xfrm>
            <a:off x="23317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16 text 8" descr="sci-ppt:o008"/>
          <p:cNvSpPr txBox="1"/>
          <p:nvPr/>
        </p:nvSpPr>
        <p:spPr>
          <a:xfrm>
            <a:off x="187451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11" name="C4-E16 line 9" descr="sci-ppt:o009"/>
          <p:cNvCxnSpPr/>
          <p:nvPr/>
        </p:nvCxnSpPr>
        <p:spPr>
          <a:xfrm>
            <a:off x="374903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16 line 10" descr="sci-ppt:o010"/>
          <p:cNvCxnSpPr/>
          <p:nvPr/>
        </p:nvCxnSpPr>
        <p:spPr>
          <a:xfrm>
            <a:off x="374903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16 text 11" descr="sci-ppt:o011"/>
          <p:cNvSpPr txBox="1"/>
          <p:nvPr/>
        </p:nvSpPr>
        <p:spPr>
          <a:xfrm>
            <a:off x="329183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4" name="C4-E16 line 12" descr="sci-ppt:o012"/>
          <p:cNvCxnSpPr/>
          <p:nvPr/>
        </p:nvCxnSpPr>
        <p:spPr>
          <a:xfrm>
            <a:off x="51663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16 line 13" descr="sci-ppt:o013"/>
          <p:cNvCxnSpPr/>
          <p:nvPr/>
        </p:nvCxnSpPr>
        <p:spPr>
          <a:xfrm>
            <a:off x="51663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16 text 14" descr="sci-ppt:o014"/>
          <p:cNvSpPr txBox="1"/>
          <p:nvPr/>
        </p:nvSpPr>
        <p:spPr>
          <a:xfrm>
            <a:off x="47091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7" name="C4-E16 line 15" descr="sci-ppt:o015"/>
          <p:cNvCxnSpPr/>
          <p:nvPr/>
        </p:nvCxnSpPr>
        <p:spPr>
          <a:xfrm>
            <a:off x="658368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16 line 16" descr="sci-ppt:o016"/>
          <p:cNvCxnSpPr/>
          <p:nvPr/>
        </p:nvCxnSpPr>
        <p:spPr>
          <a:xfrm>
            <a:off x="658368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16 text 17" descr="sci-ppt:o017"/>
          <p:cNvSpPr txBox="1"/>
          <p:nvPr/>
        </p:nvSpPr>
        <p:spPr>
          <a:xfrm>
            <a:off x="612648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20" name="C4-E16 line 18" descr="sci-ppt:o018"/>
          <p:cNvCxnSpPr/>
          <p:nvPr/>
        </p:nvCxnSpPr>
        <p:spPr>
          <a:xfrm>
            <a:off x="8503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16 line 19" descr="sci-ppt:o019"/>
          <p:cNvCxnSpPr/>
          <p:nvPr/>
        </p:nvCxnSpPr>
        <p:spPr>
          <a:xfrm>
            <a:off x="850392" y="331677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16 line 20" descr="sci-ppt:o020"/>
          <p:cNvCxnSpPr/>
          <p:nvPr/>
        </p:nvCxnSpPr>
        <p:spPr>
          <a:xfrm>
            <a:off x="914400" y="3316778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4-E16 text 21" descr="sci-ppt:o021"/>
          <p:cNvSpPr txBox="1"/>
          <p:nvPr/>
        </p:nvSpPr>
        <p:spPr>
          <a:xfrm>
            <a:off x="45720" y="323448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4" name="C4-E16 line 22" descr="sci-ppt:o022"/>
          <p:cNvCxnSpPr/>
          <p:nvPr/>
        </p:nvCxnSpPr>
        <p:spPr>
          <a:xfrm>
            <a:off x="850392" y="169579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16 line 23" descr="sci-ppt:o023"/>
          <p:cNvCxnSpPr/>
          <p:nvPr/>
        </p:nvCxnSpPr>
        <p:spPr>
          <a:xfrm>
            <a:off x="914400" y="1695796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16 text 24" descr="sci-ppt:o024"/>
          <p:cNvSpPr txBox="1"/>
          <p:nvPr/>
        </p:nvSpPr>
        <p:spPr>
          <a:xfrm>
            <a:off x="45720" y="161350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7" name="C4-E16 text 25" descr="sci-ppt:o025"/>
          <p:cNvSpPr txBox="1"/>
          <p:nvPr/>
        </p:nvSpPr>
        <p:spPr>
          <a:xfrm>
            <a:off x="914400" y="5221224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b</a:t>
            </a:r>
          </a:p>
        </p:txBody>
      </p:sp>
      <p:sp>
        <p:nvSpPr>
          <p:cNvPr id="28" name="C4-E16 text 26" descr="sci-ppt:o026"/>
          <p:cNvSpPr txBox="1"/>
          <p:nvPr/>
        </p:nvSpPr>
        <p:spPr>
          <a:xfrm>
            <a:off x="365760" y="1024128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w(r) / w(0)</a:t>
            </a:r>
          </a:p>
        </p:txBody>
      </p:sp>
      <p:sp>
        <p:nvSpPr>
          <p:cNvPr id="29" name="C4-E16 polygon 27" descr="sci-ppt:o027"/>
          <p:cNvSpPr/>
          <p:nvPr/>
        </p:nvSpPr>
        <p:spPr>
          <a:xfrm>
            <a:off x="914400" y="1695796"/>
            <a:ext cx="5669280" cy="3241964"/>
          </a:xfrm>
          <a:custGeom>
            <a:avLst/>
            <a:gdLst/>
            <a:ahLst/>
            <a:cxnLst/>
            <a:rect l="l" t="t" r="r" b="b"/>
            <a:pathLst>
              <a:path w="5669280" h="3241964">
                <a:moveTo>
                  <a:pt x="0" y="0"/>
                </a:moveTo>
                <a:lnTo>
                  <a:pt x="28488" y="164"/>
                </a:lnTo>
                <a:lnTo>
                  <a:pt x="56977" y="655"/>
                </a:lnTo>
                <a:lnTo>
                  <a:pt x="85466" y="1473"/>
                </a:lnTo>
                <a:lnTo>
                  <a:pt x="113955" y="2619"/>
                </a:lnTo>
                <a:lnTo>
                  <a:pt x="142444" y="4092"/>
                </a:lnTo>
                <a:lnTo>
                  <a:pt x="170933" y="5892"/>
                </a:lnTo>
                <a:lnTo>
                  <a:pt x="199421" y="8018"/>
                </a:lnTo>
                <a:lnTo>
                  <a:pt x="227910" y="10470"/>
                </a:lnTo>
                <a:lnTo>
                  <a:pt x="256399" y="13249"/>
                </a:lnTo>
                <a:lnTo>
                  <a:pt x="284888" y="16352"/>
                </a:lnTo>
                <a:lnTo>
                  <a:pt x="313377" y="19781"/>
                </a:lnTo>
                <a:lnTo>
                  <a:pt x="341866" y="23534"/>
                </a:lnTo>
                <a:lnTo>
                  <a:pt x="370354" y="27611"/>
                </a:lnTo>
                <a:lnTo>
                  <a:pt x="398843" y="32012"/>
                </a:lnTo>
                <a:lnTo>
                  <a:pt x="427332" y="36735"/>
                </a:lnTo>
                <a:lnTo>
                  <a:pt x="455821" y="41780"/>
                </a:lnTo>
                <a:lnTo>
                  <a:pt x="484310" y="47146"/>
                </a:lnTo>
                <a:lnTo>
                  <a:pt x="512799" y="52832"/>
                </a:lnTo>
                <a:lnTo>
                  <a:pt x="541288" y="58837"/>
                </a:lnTo>
                <a:lnTo>
                  <a:pt x="569776" y="65162"/>
                </a:lnTo>
                <a:lnTo>
                  <a:pt x="598265" y="71803"/>
                </a:lnTo>
                <a:lnTo>
                  <a:pt x="626754" y="78762"/>
                </a:lnTo>
                <a:lnTo>
                  <a:pt x="655243" y="86035"/>
                </a:lnTo>
                <a:lnTo>
                  <a:pt x="683732" y="93623"/>
                </a:lnTo>
                <a:lnTo>
                  <a:pt x="712221" y="101524"/>
                </a:lnTo>
                <a:lnTo>
                  <a:pt x="740709" y="109738"/>
                </a:lnTo>
                <a:lnTo>
                  <a:pt x="769198" y="118261"/>
                </a:lnTo>
                <a:lnTo>
                  <a:pt x="797687" y="127095"/>
                </a:lnTo>
                <a:lnTo>
                  <a:pt x="826176" y="136236"/>
                </a:lnTo>
                <a:lnTo>
                  <a:pt x="854665" y="145684"/>
                </a:lnTo>
                <a:lnTo>
                  <a:pt x="883154" y="155437"/>
                </a:lnTo>
                <a:lnTo>
                  <a:pt x="911643" y="165493"/>
                </a:lnTo>
                <a:lnTo>
                  <a:pt x="940131" y="175852"/>
                </a:lnTo>
                <a:lnTo>
                  <a:pt x="968620" y="186511"/>
                </a:lnTo>
                <a:lnTo>
                  <a:pt x="997109" y="197469"/>
                </a:lnTo>
                <a:lnTo>
                  <a:pt x="1025598" y="208724"/>
                </a:lnTo>
                <a:lnTo>
                  <a:pt x="1054087" y="220274"/>
                </a:lnTo>
                <a:lnTo>
                  <a:pt x="1082576" y="232117"/>
                </a:lnTo>
                <a:lnTo>
                  <a:pt x="1111064" y="244253"/>
                </a:lnTo>
                <a:lnTo>
                  <a:pt x="1139553" y="256678"/>
                </a:lnTo>
                <a:lnTo>
                  <a:pt x="1168042" y="269391"/>
                </a:lnTo>
                <a:lnTo>
                  <a:pt x="1196531" y="282389"/>
                </a:lnTo>
                <a:lnTo>
                  <a:pt x="1225020" y="295672"/>
                </a:lnTo>
                <a:lnTo>
                  <a:pt x="1253509" y="309236"/>
                </a:lnTo>
                <a:lnTo>
                  <a:pt x="1281997" y="323079"/>
                </a:lnTo>
                <a:lnTo>
                  <a:pt x="1310486" y="337199"/>
                </a:lnTo>
                <a:lnTo>
                  <a:pt x="1338975" y="351595"/>
                </a:lnTo>
                <a:lnTo>
                  <a:pt x="1367464" y="366263"/>
                </a:lnTo>
                <a:lnTo>
                  <a:pt x="1395953" y="381202"/>
                </a:lnTo>
                <a:lnTo>
                  <a:pt x="1424442" y="396408"/>
                </a:lnTo>
                <a:lnTo>
                  <a:pt x="1452931" y="411880"/>
                </a:lnTo>
                <a:lnTo>
                  <a:pt x="1481419" y="427615"/>
                </a:lnTo>
                <a:lnTo>
                  <a:pt x="1509908" y="443610"/>
                </a:lnTo>
                <a:lnTo>
                  <a:pt x="1538397" y="459863"/>
                </a:lnTo>
                <a:lnTo>
                  <a:pt x="1566886" y="476371"/>
                </a:lnTo>
                <a:lnTo>
                  <a:pt x="1595375" y="493131"/>
                </a:lnTo>
                <a:lnTo>
                  <a:pt x="1623864" y="510141"/>
                </a:lnTo>
                <a:lnTo>
                  <a:pt x="1652352" y="527398"/>
                </a:lnTo>
                <a:lnTo>
                  <a:pt x="1680841" y="544899"/>
                </a:lnTo>
                <a:lnTo>
                  <a:pt x="1709330" y="562641"/>
                </a:lnTo>
                <a:lnTo>
                  <a:pt x="1737819" y="580621"/>
                </a:lnTo>
                <a:lnTo>
                  <a:pt x="1766308" y="598837"/>
                </a:lnTo>
                <a:lnTo>
                  <a:pt x="1794797" y="617284"/>
                </a:lnTo>
                <a:lnTo>
                  <a:pt x="1823286" y="635961"/>
                </a:lnTo>
                <a:lnTo>
                  <a:pt x="1851774" y="654863"/>
                </a:lnTo>
                <a:lnTo>
                  <a:pt x="1880263" y="673988"/>
                </a:lnTo>
                <a:lnTo>
                  <a:pt x="1908752" y="693332"/>
                </a:lnTo>
                <a:lnTo>
                  <a:pt x="1937241" y="712893"/>
                </a:lnTo>
                <a:lnTo>
                  <a:pt x="1965730" y="732666"/>
                </a:lnTo>
                <a:lnTo>
                  <a:pt x="1994219" y="752649"/>
                </a:lnTo>
                <a:lnTo>
                  <a:pt x="2022707" y="772837"/>
                </a:lnTo>
                <a:lnTo>
                  <a:pt x="2051196" y="793228"/>
                </a:lnTo>
                <a:lnTo>
                  <a:pt x="2079685" y="813818"/>
                </a:lnTo>
                <a:lnTo>
                  <a:pt x="2108174" y="834603"/>
                </a:lnTo>
                <a:lnTo>
                  <a:pt x="2136663" y="855579"/>
                </a:lnTo>
                <a:lnTo>
                  <a:pt x="2165152" y="876744"/>
                </a:lnTo>
                <a:lnTo>
                  <a:pt x="2193641" y="898093"/>
                </a:lnTo>
                <a:lnTo>
                  <a:pt x="2222129" y="919622"/>
                </a:lnTo>
                <a:lnTo>
                  <a:pt x="2250618" y="941327"/>
                </a:lnTo>
                <a:lnTo>
                  <a:pt x="2279107" y="963206"/>
                </a:lnTo>
                <a:lnTo>
                  <a:pt x="2307596" y="985253"/>
                </a:lnTo>
                <a:lnTo>
                  <a:pt x="2336085" y="1007464"/>
                </a:lnTo>
                <a:lnTo>
                  <a:pt x="2364574" y="1029837"/>
                </a:lnTo>
                <a:lnTo>
                  <a:pt x="2393062" y="1052366"/>
                </a:lnTo>
                <a:lnTo>
                  <a:pt x="2421551" y="1075047"/>
                </a:lnTo>
                <a:lnTo>
                  <a:pt x="2450040" y="1097876"/>
                </a:lnTo>
                <a:lnTo>
                  <a:pt x="2478529" y="1120850"/>
                </a:lnTo>
                <a:lnTo>
                  <a:pt x="2507018" y="1143963"/>
                </a:lnTo>
                <a:lnTo>
                  <a:pt x="2535507" y="1167212"/>
                </a:lnTo>
                <a:lnTo>
                  <a:pt x="2563995" y="1190591"/>
                </a:lnTo>
                <a:lnTo>
                  <a:pt x="2592484" y="1214097"/>
                </a:lnTo>
                <a:lnTo>
                  <a:pt x="2620973" y="1237725"/>
                </a:lnTo>
                <a:lnTo>
                  <a:pt x="2649462" y="1261471"/>
                </a:lnTo>
                <a:lnTo>
                  <a:pt x="2677951" y="1285329"/>
                </a:lnTo>
                <a:lnTo>
                  <a:pt x="2706440" y="1309296"/>
                </a:lnTo>
                <a:lnTo>
                  <a:pt x="2734929" y="1333366"/>
                </a:lnTo>
                <a:lnTo>
                  <a:pt x="2763417" y="1357535"/>
                </a:lnTo>
                <a:lnTo>
                  <a:pt x="2791906" y="1381798"/>
                </a:lnTo>
                <a:lnTo>
                  <a:pt x="2820395" y="1406151"/>
                </a:lnTo>
                <a:lnTo>
                  <a:pt x="2848884" y="1430588"/>
                </a:lnTo>
                <a:lnTo>
                  <a:pt x="2877373" y="1455104"/>
                </a:lnTo>
                <a:lnTo>
                  <a:pt x="2905862" y="1479694"/>
                </a:lnTo>
                <a:lnTo>
                  <a:pt x="2934350" y="1504354"/>
                </a:lnTo>
                <a:lnTo>
                  <a:pt x="2962839" y="1529078"/>
                </a:lnTo>
                <a:lnTo>
                  <a:pt x="2991328" y="1553861"/>
                </a:lnTo>
                <a:lnTo>
                  <a:pt x="3019817" y="1578699"/>
                </a:lnTo>
                <a:lnTo>
                  <a:pt x="3048306" y="1603585"/>
                </a:lnTo>
                <a:lnTo>
                  <a:pt x="3076795" y="1628514"/>
                </a:lnTo>
                <a:lnTo>
                  <a:pt x="3105284" y="1653482"/>
                </a:lnTo>
                <a:lnTo>
                  <a:pt x="3133772" y="1678482"/>
                </a:lnTo>
                <a:lnTo>
                  <a:pt x="3162261" y="1703509"/>
                </a:lnTo>
                <a:lnTo>
                  <a:pt x="3190750" y="1728559"/>
                </a:lnTo>
                <a:lnTo>
                  <a:pt x="3219239" y="1753624"/>
                </a:lnTo>
                <a:lnTo>
                  <a:pt x="3247728" y="1778701"/>
                </a:lnTo>
                <a:lnTo>
                  <a:pt x="3276217" y="1803782"/>
                </a:lnTo>
                <a:lnTo>
                  <a:pt x="3304705" y="1828863"/>
                </a:lnTo>
                <a:lnTo>
                  <a:pt x="3333194" y="1853937"/>
                </a:lnTo>
                <a:lnTo>
                  <a:pt x="3361683" y="1878999"/>
                </a:lnTo>
                <a:lnTo>
                  <a:pt x="3390172" y="1904044"/>
                </a:lnTo>
                <a:lnTo>
                  <a:pt x="3418661" y="1929064"/>
                </a:lnTo>
                <a:lnTo>
                  <a:pt x="3447150" y="1954055"/>
                </a:lnTo>
                <a:lnTo>
                  <a:pt x="3475638" y="1979010"/>
                </a:lnTo>
                <a:lnTo>
                  <a:pt x="3504127" y="2003923"/>
                </a:lnTo>
                <a:lnTo>
                  <a:pt x="3532616" y="2028789"/>
                </a:lnTo>
                <a:lnTo>
                  <a:pt x="3561105" y="2053600"/>
                </a:lnTo>
                <a:lnTo>
                  <a:pt x="3589594" y="2078351"/>
                </a:lnTo>
                <a:lnTo>
                  <a:pt x="3618083" y="2103036"/>
                </a:lnTo>
                <a:lnTo>
                  <a:pt x="3646572" y="2127648"/>
                </a:lnTo>
                <a:lnTo>
                  <a:pt x="3675060" y="2152182"/>
                </a:lnTo>
                <a:lnTo>
                  <a:pt x="3703549" y="2176629"/>
                </a:lnTo>
                <a:lnTo>
                  <a:pt x="3732038" y="2200986"/>
                </a:lnTo>
                <a:lnTo>
                  <a:pt x="3760527" y="2225243"/>
                </a:lnTo>
                <a:lnTo>
                  <a:pt x="3789016" y="2249396"/>
                </a:lnTo>
                <a:lnTo>
                  <a:pt x="3817505" y="2273438"/>
                </a:lnTo>
                <a:lnTo>
                  <a:pt x="3845993" y="2297362"/>
                </a:lnTo>
                <a:lnTo>
                  <a:pt x="3874482" y="2321161"/>
                </a:lnTo>
                <a:lnTo>
                  <a:pt x="3902971" y="2344829"/>
                </a:lnTo>
                <a:lnTo>
                  <a:pt x="3931460" y="2368358"/>
                </a:lnTo>
                <a:lnTo>
                  <a:pt x="3959949" y="2391743"/>
                </a:lnTo>
                <a:lnTo>
                  <a:pt x="3988438" y="2414975"/>
                </a:lnTo>
                <a:lnTo>
                  <a:pt x="4016927" y="2438049"/>
                </a:lnTo>
                <a:lnTo>
                  <a:pt x="4045415" y="2460958"/>
                </a:lnTo>
                <a:lnTo>
                  <a:pt x="4073904" y="2483693"/>
                </a:lnTo>
                <a:lnTo>
                  <a:pt x="4102393" y="2506249"/>
                </a:lnTo>
                <a:lnTo>
                  <a:pt x="4130882" y="2528617"/>
                </a:lnTo>
                <a:lnTo>
                  <a:pt x="4159371" y="2550792"/>
                </a:lnTo>
                <a:lnTo>
                  <a:pt x="4187860" y="2572765"/>
                </a:lnTo>
                <a:lnTo>
                  <a:pt x="4216348" y="2594530"/>
                </a:lnTo>
                <a:lnTo>
                  <a:pt x="4244837" y="2616079"/>
                </a:lnTo>
                <a:lnTo>
                  <a:pt x="4273326" y="2637404"/>
                </a:lnTo>
                <a:lnTo>
                  <a:pt x="4301815" y="2658499"/>
                </a:lnTo>
                <a:lnTo>
                  <a:pt x="4330304" y="2679356"/>
                </a:lnTo>
                <a:lnTo>
                  <a:pt x="4358793" y="2699967"/>
                </a:lnTo>
                <a:lnTo>
                  <a:pt x="4387282" y="2720324"/>
                </a:lnTo>
                <a:lnTo>
                  <a:pt x="4415770" y="2740421"/>
                </a:lnTo>
                <a:lnTo>
                  <a:pt x="4444259" y="2760249"/>
                </a:lnTo>
                <a:lnTo>
                  <a:pt x="4472748" y="2779801"/>
                </a:lnTo>
                <a:lnTo>
                  <a:pt x="4501237" y="2799069"/>
                </a:lnTo>
                <a:lnTo>
                  <a:pt x="4529726" y="2818045"/>
                </a:lnTo>
                <a:lnTo>
                  <a:pt x="4558215" y="2836722"/>
                </a:lnTo>
                <a:lnTo>
                  <a:pt x="4586703" y="2855091"/>
                </a:lnTo>
                <a:lnTo>
                  <a:pt x="4615192" y="2873144"/>
                </a:lnTo>
                <a:lnTo>
                  <a:pt x="4643681" y="2890874"/>
                </a:lnTo>
                <a:lnTo>
                  <a:pt x="4672170" y="2908272"/>
                </a:lnTo>
                <a:lnTo>
                  <a:pt x="4700659" y="2925330"/>
                </a:lnTo>
                <a:lnTo>
                  <a:pt x="4729148" y="2942041"/>
                </a:lnTo>
                <a:lnTo>
                  <a:pt x="4757636" y="2958395"/>
                </a:lnTo>
                <a:lnTo>
                  <a:pt x="4786125" y="2974385"/>
                </a:lnTo>
                <a:lnTo>
                  <a:pt x="4814614" y="2990002"/>
                </a:lnTo>
                <a:lnTo>
                  <a:pt x="4843103" y="3005238"/>
                </a:lnTo>
                <a:lnTo>
                  <a:pt x="4871592" y="3020085"/>
                </a:lnTo>
                <a:lnTo>
                  <a:pt x="4900081" y="3034534"/>
                </a:lnTo>
                <a:lnTo>
                  <a:pt x="4928570" y="3048576"/>
                </a:lnTo>
                <a:lnTo>
                  <a:pt x="4957058" y="3062203"/>
                </a:lnTo>
                <a:lnTo>
                  <a:pt x="4985547" y="3075407"/>
                </a:lnTo>
                <a:lnTo>
                  <a:pt x="5014036" y="3088178"/>
                </a:lnTo>
                <a:lnTo>
                  <a:pt x="5042525" y="3100509"/>
                </a:lnTo>
                <a:lnTo>
                  <a:pt x="5071014" y="3112390"/>
                </a:lnTo>
                <a:lnTo>
                  <a:pt x="5099503" y="3123812"/>
                </a:lnTo>
                <a:lnTo>
                  <a:pt x="5127991" y="3134767"/>
                </a:lnTo>
                <a:lnTo>
                  <a:pt x="5156480" y="3145245"/>
                </a:lnTo>
                <a:lnTo>
                  <a:pt x="5184969" y="3155239"/>
                </a:lnTo>
                <a:lnTo>
                  <a:pt x="5213458" y="3164738"/>
                </a:lnTo>
                <a:lnTo>
                  <a:pt x="5241947" y="3173733"/>
                </a:lnTo>
                <a:lnTo>
                  <a:pt x="5270436" y="3182217"/>
                </a:lnTo>
                <a:lnTo>
                  <a:pt x="5298925" y="3190178"/>
                </a:lnTo>
                <a:lnTo>
                  <a:pt x="5327413" y="3197609"/>
                </a:lnTo>
                <a:lnTo>
                  <a:pt x="5355902" y="3204500"/>
                </a:lnTo>
                <a:lnTo>
                  <a:pt x="5384391" y="3210842"/>
                </a:lnTo>
                <a:lnTo>
                  <a:pt x="5412880" y="3216625"/>
                </a:lnTo>
                <a:lnTo>
                  <a:pt x="5441369" y="3221840"/>
                </a:lnTo>
                <a:lnTo>
                  <a:pt x="5469858" y="3226477"/>
                </a:lnTo>
                <a:lnTo>
                  <a:pt x="5498346" y="3230528"/>
                </a:lnTo>
                <a:lnTo>
                  <a:pt x="5526835" y="3233981"/>
                </a:lnTo>
                <a:lnTo>
                  <a:pt x="5555324" y="3236829"/>
                </a:lnTo>
                <a:lnTo>
                  <a:pt x="5583813" y="3239061"/>
                </a:lnTo>
                <a:lnTo>
                  <a:pt x="5612302" y="3240667"/>
                </a:lnTo>
                <a:lnTo>
                  <a:pt x="5640791" y="3241638"/>
                </a:lnTo>
                <a:lnTo>
                  <a:pt x="5669280" y="3241964"/>
                </a:lnTo>
              </a:path>
            </a:pathLst>
          </a:custGeom>
          <a:noFill/>
          <a:ln w="431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4-E16 ellipse 28" descr="sci-ppt:o028"/>
          <p:cNvSpPr/>
          <p:nvPr/>
        </p:nvSpPr>
        <p:spPr>
          <a:xfrm>
            <a:off x="841248" y="1622644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4-E16 text 29" descr="sci-ppt:o029"/>
          <p:cNvSpPr txBox="1"/>
          <p:nvPr/>
        </p:nvSpPr>
        <p:spPr>
          <a:xfrm>
            <a:off x="1005840" y="1558636"/>
            <a:ext cx="2560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w(0) = p₀b⁴/(64D_f)</a:t>
            </a:r>
          </a:p>
        </p:txBody>
      </p:sp>
      <p:sp>
        <p:nvSpPr>
          <p:cNvPr id="32" name="C4-E16 ellipse 30" descr="sci-ppt:o030"/>
          <p:cNvSpPr/>
          <p:nvPr/>
        </p:nvSpPr>
        <p:spPr>
          <a:xfrm>
            <a:off x="6510528" y="4864608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4-E16 text 31" descr="sci-ppt:o031"/>
          <p:cNvSpPr txBox="1"/>
          <p:nvPr/>
        </p:nvSpPr>
        <p:spPr>
          <a:xfrm>
            <a:off x="1157630" y="4548724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clamped at r = b: w = w′ = 0</a:t>
            </a:r>
          </a:p>
        </p:txBody>
      </p:sp>
      <p:sp>
        <p:nvSpPr>
          <p:cNvPr id="34" name="C4-E16 round_rect 32" descr="sci-ppt:o032"/>
          <p:cNvSpPr/>
          <p:nvPr/>
        </p:nvSpPr>
        <p:spPr>
          <a:xfrm>
            <a:off x="6858000" y="1371600"/>
            <a:ext cx="498348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4-E16 text 33" descr="sci-ppt:o033"/>
          <p:cNvSpPr txBox="1"/>
          <p:nvPr/>
        </p:nvSpPr>
        <p:spPr>
          <a:xfrm>
            <a:off x="6967728" y="1426464"/>
            <a:ext cx="47640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Fixing C₂ and C₄</a:t>
            </a:r>
          </a:p>
        </p:txBody>
      </p:sp>
      <p:sp>
        <p:nvSpPr>
          <p:cNvPr id="36" name="C4-E16 text 34" descr="sci-ppt:o034"/>
          <p:cNvSpPr txBox="1"/>
          <p:nvPr/>
        </p:nvSpPr>
        <p:spPr>
          <a:xfrm>
            <a:off x="6995160" y="1828800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w′(b) = 0:  C₂ = −p₀b² / (8D_f)</a:t>
            </a:r>
          </a:p>
        </p:txBody>
      </p:sp>
      <p:sp>
        <p:nvSpPr>
          <p:cNvPr id="37" name="C4-E16 text 35" descr="sci-ppt:o035"/>
          <p:cNvSpPr txBox="1"/>
          <p:nvPr/>
        </p:nvSpPr>
        <p:spPr>
          <a:xfrm>
            <a:off x="6995160" y="2377440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w(b) = 0:  C₄ = p₀b⁴ / (64D_f)</a:t>
            </a:r>
          </a:p>
        </p:txBody>
      </p:sp>
      <p:sp>
        <p:nvSpPr>
          <p:cNvPr id="38" name="C4-E16 text 36" descr="sci-ppt:o036"/>
          <p:cNvSpPr txBox="1"/>
          <p:nvPr/>
        </p:nvSpPr>
        <p:spPr>
          <a:xfrm>
            <a:off x="6995160" y="3063240"/>
            <a:ext cx="475488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B880"/>
                </a:solidFill>
                <a:latin typeface="Arial"/>
              </a:rPr>
              <a:t>w(r) = p₀ (b² − r²)² / (64D_f)</a:t>
            </a:r>
          </a:p>
        </p:txBody>
      </p:sp>
      <p:sp>
        <p:nvSpPr>
          <p:cNvPr id="39" name="C4-E16 text 37" descr="sci-ppt:o037"/>
          <p:cNvSpPr txBox="1"/>
          <p:nvPr/>
        </p:nvSpPr>
        <p:spPr>
          <a:xfrm>
            <a:off x="6995160" y="3749039"/>
            <a:ext cx="47548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Unique regular solution; the profile is a squared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parabola.</a:t>
            </a:r>
          </a:p>
        </p:txBody>
      </p:sp>
      <p:sp>
        <p:nvSpPr>
          <p:cNvPr id="40" name="C4-E16 text 38" descr="sci-ppt:o038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Both edge conditions are satisfied exactly; there is no free constant left.</a:t>
            </a:r>
          </a:p>
        </p:txBody>
      </p:sp>
      <p:sp>
        <p:nvSpPr>
          <p:cNvPr id="41" name="C4-E16 text 39" descr="sci-ppt:o03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Exact solution of Eq. C4-E16, drawn as w/w(0) = (1 − (r/b)²)².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C4-E17 · Governing-equation and boundary verification</a:t>
            </a:r>
          </a:p>
        </p:txBody>
      </p:sp>
      <p:cxnSp>
        <p:nvCxnSpPr>
          <p:cNvPr id="3" name="C4-E17 line 1" descr="sci-ppt:o001"/>
          <p:cNvCxnSpPr/>
          <p:nvPr/>
        </p:nvCxnSpPr>
        <p:spPr>
          <a:xfrm>
            <a:off x="914400" y="4937760"/>
            <a:ext cx="56692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17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17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17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17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4-E17 line 6" descr="sci-ppt:o006"/>
          <p:cNvCxnSpPr/>
          <p:nvPr/>
        </p:nvCxnSpPr>
        <p:spPr>
          <a:xfrm>
            <a:off x="23317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17 line 7" descr="sci-ppt:o007"/>
          <p:cNvCxnSpPr/>
          <p:nvPr/>
        </p:nvCxnSpPr>
        <p:spPr>
          <a:xfrm>
            <a:off x="23317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17 text 8" descr="sci-ppt:o008"/>
          <p:cNvSpPr txBox="1"/>
          <p:nvPr/>
        </p:nvSpPr>
        <p:spPr>
          <a:xfrm>
            <a:off x="187451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11" name="C4-E17 line 9" descr="sci-ppt:o009"/>
          <p:cNvCxnSpPr/>
          <p:nvPr/>
        </p:nvCxnSpPr>
        <p:spPr>
          <a:xfrm>
            <a:off x="374903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17 line 10" descr="sci-ppt:o010"/>
          <p:cNvCxnSpPr/>
          <p:nvPr/>
        </p:nvCxnSpPr>
        <p:spPr>
          <a:xfrm>
            <a:off x="374903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17 text 11" descr="sci-ppt:o011"/>
          <p:cNvSpPr txBox="1"/>
          <p:nvPr/>
        </p:nvSpPr>
        <p:spPr>
          <a:xfrm>
            <a:off x="329183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4" name="C4-E17 line 12" descr="sci-ppt:o012"/>
          <p:cNvCxnSpPr/>
          <p:nvPr/>
        </p:nvCxnSpPr>
        <p:spPr>
          <a:xfrm>
            <a:off x="51663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17 line 13" descr="sci-ppt:o013"/>
          <p:cNvCxnSpPr/>
          <p:nvPr/>
        </p:nvCxnSpPr>
        <p:spPr>
          <a:xfrm>
            <a:off x="51663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17 text 14" descr="sci-ppt:o014"/>
          <p:cNvSpPr txBox="1"/>
          <p:nvPr/>
        </p:nvSpPr>
        <p:spPr>
          <a:xfrm>
            <a:off x="47091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7" name="C4-E17 line 15" descr="sci-ppt:o015"/>
          <p:cNvCxnSpPr/>
          <p:nvPr/>
        </p:nvCxnSpPr>
        <p:spPr>
          <a:xfrm>
            <a:off x="658368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17 line 16" descr="sci-ppt:o016"/>
          <p:cNvCxnSpPr/>
          <p:nvPr/>
        </p:nvCxnSpPr>
        <p:spPr>
          <a:xfrm>
            <a:off x="658368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17 text 17" descr="sci-ppt:o017"/>
          <p:cNvSpPr txBox="1"/>
          <p:nvPr/>
        </p:nvSpPr>
        <p:spPr>
          <a:xfrm>
            <a:off x="612648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20" name="C4-E17 line 18" descr="sci-ppt:o018"/>
          <p:cNvCxnSpPr/>
          <p:nvPr/>
        </p:nvCxnSpPr>
        <p:spPr>
          <a:xfrm>
            <a:off x="850392" y="481039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17 line 19" descr="sci-ppt:o019"/>
          <p:cNvCxnSpPr/>
          <p:nvPr/>
        </p:nvCxnSpPr>
        <p:spPr>
          <a:xfrm>
            <a:off x="914400" y="4810397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4-E17 text 20" descr="sci-ppt:o020"/>
          <p:cNvSpPr txBox="1"/>
          <p:nvPr/>
        </p:nvSpPr>
        <p:spPr>
          <a:xfrm>
            <a:off x="45720" y="472810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-1.5</a:t>
            </a:r>
          </a:p>
        </p:txBody>
      </p:sp>
      <p:cxnSp>
        <p:nvCxnSpPr>
          <p:cNvPr id="23" name="C4-E17 line 21" descr="sci-ppt:o021"/>
          <p:cNvCxnSpPr/>
          <p:nvPr/>
        </p:nvCxnSpPr>
        <p:spPr>
          <a:xfrm>
            <a:off x="850392" y="417358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4-E17 line 22" descr="sci-ppt:o022"/>
          <p:cNvCxnSpPr/>
          <p:nvPr/>
        </p:nvCxnSpPr>
        <p:spPr>
          <a:xfrm>
            <a:off x="914400" y="4173582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4-E17 text 23" descr="sci-ppt:o023"/>
          <p:cNvSpPr txBox="1"/>
          <p:nvPr/>
        </p:nvSpPr>
        <p:spPr>
          <a:xfrm>
            <a:off x="45720" y="409128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-1</a:t>
            </a:r>
          </a:p>
        </p:txBody>
      </p:sp>
      <p:cxnSp>
        <p:nvCxnSpPr>
          <p:cNvPr id="26" name="C4-E17 line 24" descr="sci-ppt:o024"/>
          <p:cNvCxnSpPr/>
          <p:nvPr/>
        </p:nvCxnSpPr>
        <p:spPr>
          <a:xfrm>
            <a:off x="850392" y="353676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4-E17 line 25" descr="sci-ppt:o025"/>
          <p:cNvCxnSpPr/>
          <p:nvPr/>
        </p:nvCxnSpPr>
        <p:spPr>
          <a:xfrm>
            <a:off x="914400" y="3536768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4-E17 text 26" descr="sci-ppt:o026"/>
          <p:cNvSpPr txBox="1"/>
          <p:nvPr/>
        </p:nvSpPr>
        <p:spPr>
          <a:xfrm>
            <a:off x="45720" y="345447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-0.5</a:t>
            </a:r>
          </a:p>
        </p:txBody>
      </p:sp>
      <p:cxnSp>
        <p:nvCxnSpPr>
          <p:cNvPr id="29" name="C4-E17 line 27" descr="sci-ppt:o027"/>
          <p:cNvCxnSpPr/>
          <p:nvPr/>
        </p:nvCxnSpPr>
        <p:spPr>
          <a:xfrm>
            <a:off x="850392" y="289995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4-E17 line 28" descr="sci-ppt:o028"/>
          <p:cNvCxnSpPr/>
          <p:nvPr/>
        </p:nvCxnSpPr>
        <p:spPr>
          <a:xfrm>
            <a:off x="914400" y="2899954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4-E17 text 29" descr="sci-ppt:o029"/>
          <p:cNvSpPr txBox="1"/>
          <p:nvPr/>
        </p:nvSpPr>
        <p:spPr>
          <a:xfrm>
            <a:off x="45720" y="281765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32" name="C4-E17 line 30" descr="sci-ppt:o030"/>
          <p:cNvCxnSpPr/>
          <p:nvPr/>
        </p:nvCxnSpPr>
        <p:spPr>
          <a:xfrm>
            <a:off x="850392" y="22631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4-E17 line 31" descr="sci-ppt:o031"/>
          <p:cNvCxnSpPr/>
          <p:nvPr/>
        </p:nvCxnSpPr>
        <p:spPr>
          <a:xfrm>
            <a:off x="914400" y="2263140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4-E17 text 32" descr="sci-ppt:o032"/>
          <p:cNvSpPr txBox="1"/>
          <p:nvPr/>
        </p:nvSpPr>
        <p:spPr>
          <a:xfrm>
            <a:off x="45720" y="21808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35" name="C4-E17 line 33" descr="sci-ppt:o033"/>
          <p:cNvCxnSpPr/>
          <p:nvPr/>
        </p:nvCxnSpPr>
        <p:spPr>
          <a:xfrm>
            <a:off x="850392" y="162632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4-E17 line 34" descr="sci-ppt:o034"/>
          <p:cNvCxnSpPr/>
          <p:nvPr/>
        </p:nvCxnSpPr>
        <p:spPr>
          <a:xfrm>
            <a:off x="914400" y="1626325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7" name="C4-E17 text 35" descr="sci-ppt:o035"/>
          <p:cNvSpPr txBox="1"/>
          <p:nvPr/>
        </p:nvSpPr>
        <p:spPr>
          <a:xfrm>
            <a:off x="45720" y="154402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38" name="C4-E17 text 36" descr="sci-ppt:o036"/>
          <p:cNvSpPr txBox="1"/>
          <p:nvPr/>
        </p:nvSpPr>
        <p:spPr>
          <a:xfrm>
            <a:off x="914400" y="5221224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b</a:t>
            </a:r>
          </a:p>
        </p:txBody>
      </p:sp>
      <p:sp>
        <p:nvSpPr>
          <p:cNvPr id="39" name="C4-E17 text 37" descr="sci-ppt:o037"/>
          <p:cNvSpPr txBox="1"/>
          <p:nvPr/>
        </p:nvSpPr>
        <p:spPr>
          <a:xfrm>
            <a:off x="365760" y="1024128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w/w(0)  and  w′ b/w(0)</a:t>
            </a:r>
          </a:p>
        </p:txBody>
      </p:sp>
      <p:sp>
        <p:nvSpPr>
          <p:cNvPr id="40" name="C4-E17 polygon 38" descr="sci-ppt:o038"/>
          <p:cNvSpPr/>
          <p:nvPr/>
        </p:nvSpPr>
        <p:spPr>
          <a:xfrm>
            <a:off x="914400" y="1626325"/>
            <a:ext cx="5669280" cy="1273629"/>
          </a:xfrm>
          <a:custGeom>
            <a:avLst/>
            <a:gdLst/>
            <a:ahLst/>
            <a:cxnLst/>
            <a:rect l="l" t="t" r="r" b="b"/>
            <a:pathLst>
              <a:path w="5669280" h="1273629">
                <a:moveTo>
                  <a:pt x="0" y="0"/>
                </a:moveTo>
                <a:lnTo>
                  <a:pt x="28488" y="65"/>
                </a:lnTo>
                <a:lnTo>
                  <a:pt x="56977" y="257"/>
                </a:lnTo>
                <a:lnTo>
                  <a:pt x="85466" y="579"/>
                </a:lnTo>
                <a:lnTo>
                  <a:pt x="113955" y="1029"/>
                </a:lnTo>
                <a:lnTo>
                  <a:pt x="142444" y="1608"/>
                </a:lnTo>
                <a:lnTo>
                  <a:pt x="170933" y="2315"/>
                </a:lnTo>
                <a:lnTo>
                  <a:pt x="199421" y="3150"/>
                </a:lnTo>
                <a:lnTo>
                  <a:pt x="227910" y="4114"/>
                </a:lnTo>
                <a:lnTo>
                  <a:pt x="256399" y="5205"/>
                </a:lnTo>
                <a:lnTo>
                  <a:pt x="284888" y="6424"/>
                </a:lnTo>
                <a:lnTo>
                  <a:pt x="313377" y="7771"/>
                </a:lnTo>
                <a:lnTo>
                  <a:pt x="341866" y="9246"/>
                </a:lnTo>
                <a:lnTo>
                  <a:pt x="370354" y="10848"/>
                </a:lnTo>
                <a:lnTo>
                  <a:pt x="398843" y="12576"/>
                </a:lnTo>
                <a:lnTo>
                  <a:pt x="427332" y="14432"/>
                </a:lnTo>
                <a:lnTo>
                  <a:pt x="455821" y="16414"/>
                </a:lnTo>
                <a:lnTo>
                  <a:pt x="484310" y="18522"/>
                </a:lnTo>
                <a:lnTo>
                  <a:pt x="512799" y="20756"/>
                </a:lnTo>
                <a:lnTo>
                  <a:pt x="541288" y="23115"/>
                </a:lnTo>
                <a:lnTo>
                  <a:pt x="569776" y="25599"/>
                </a:lnTo>
                <a:lnTo>
                  <a:pt x="598265" y="28209"/>
                </a:lnTo>
                <a:lnTo>
                  <a:pt x="626754" y="30942"/>
                </a:lnTo>
                <a:lnTo>
                  <a:pt x="655243" y="33800"/>
                </a:lnTo>
                <a:lnTo>
                  <a:pt x="683732" y="36781"/>
                </a:lnTo>
                <a:lnTo>
                  <a:pt x="712221" y="39885"/>
                </a:lnTo>
                <a:lnTo>
                  <a:pt x="740709" y="43111"/>
                </a:lnTo>
                <a:lnTo>
                  <a:pt x="769198" y="46460"/>
                </a:lnTo>
                <a:lnTo>
                  <a:pt x="797687" y="49930"/>
                </a:lnTo>
                <a:lnTo>
                  <a:pt x="826176" y="53521"/>
                </a:lnTo>
                <a:lnTo>
                  <a:pt x="854665" y="57233"/>
                </a:lnTo>
                <a:lnTo>
                  <a:pt x="883154" y="61065"/>
                </a:lnTo>
                <a:lnTo>
                  <a:pt x="911643" y="65015"/>
                </a:lnTo>
                <a:lnTo>
                  <a:pt x="940131" y="69085"/>
                </a:lnTo>
                <a:lnTo>
                  <a:pt x="968620" y="73272"/>
                </a:lnTo>
                <a:lnTo>
                  <a:pt x="997109" y="77577"/>
                </a:lnTo>
                <a:lnTo>
                  <a:pt x="1025598" y="81999"/>
                </a:lnTo>
                <a:lnTo>
                  <a:pt x="1054087" y="86536"/>
                </a:lnTo>
                <a:lnTo>
                  <a:pt x="1082576" y="91189"/>
                </a:lnTo>
                <a:lnTo>
                  <a:pt x="1111064" y="95957"/>
                </a:lnTo>
                <a:lnTo>
                  <a:pt x="1139553" y="100838"/>
                </a:lnTo>
                <a:lnTo>
                  <a:pt x="1168042" y="105832"/>
                </a:lnTo>
                <a:lnTo>
                  <a:pt x="1196531" y="110939"/>
                </a:lnTo>
                <a:lnTo>
                  <a:pt x="1225020" y="116157"/>
                </a:lnTo>
                <a:lnTo>
                  <a:pt x="1253509" y="121486"/>
                </a:lnTo>
                <a:lnTo>
                  <a:pt x="1281997" y="126924"/>
                </a:lnTo>
                <a:lnTo>
                  <a:pt x="1310486" y="132471"/>
                </a:lnTo>
                <a:lnTo>
                  <a:pt x="1338975" y="138127"/>
                </a:lnTo>
                <a:lnTo>
                  <a:pt x="1367464" y="143889"/>
                </a:lnTo>
                <a:lnTo>
                  <a:pt x="1395953" y="149758"/>
                </a:lnTo>
                <a:lnTo>
                  <a:pt x="1424442" y="155732"/>
                </a:lnTo>
                <a:lnTo>
                  <a:pt x="1452931" y="161810"/>
                </a:lnTo>
                <a:lnTo>
                  <a:pt x="1481419" y="167992"/>
                </a:lnTo>
                <a:lnTo>
                  <a:pt x="1509908" y="174275"/>
                </a:lnTo>
                <a:lnTo>
                  <a:pt x="1538397" y="180661"/>
                </a:lnTo>
                <a:lnTo>
                  <a:pt x="1566886" y="187146"/>
                </a:lnTo>
                <a:lnTo>
                  <a:pt x="1595375" y="193730"/>
                </a:lnTo>
                <a:lnTo>
                  <a:pt x="1623864" y="200413"/>
                </a:lnTo>
                <a:lnTo>
                  <a:pt x="1652352" y="207192"/>
                </a:lnTo>
                <a:lnTo>
                  <a:pt x="1680841" y="214068"/>
                </a:lnTo>
                <a:lnTo>
                  <a:pt x="1709330" y="221038"/>
                </a:lnTo>
                <a:lnTo>
                  <a:pt x="1737819" y="228102"/>
                </a:lnTo>
                <a:lnTo>
                  <a:pt x="1766308" y="235258"/>
                </a:lnTo>
                <a:lnTo>
                  <a:pt x="1794797" y="242505"/>
                </a:lnTo>
                <a:lnTo>
                  <a:pt x="1823286" y="249842"/>
                </a:lnTo>
                <a:lnTo>
                  <a:pt x="1851774" y="257268"/>
                </a:lnTo>
                <a:lnTo>
                  <a:pt x="1880263" y="264781"/>
                </a:lnTo>
                <a:lnTo>
                  <a:pt x="1908752" y="272381"/>
                </a:lnTo>
                <a:lnTo>
                  <a:pt x="1937241" y="280065"/>
                </a:lnTo>
                <a:lnTo>
                  <a:pt x="1965730" y="287833"/>
                </a:lnTo>
                <a:lnTo>
                  <a:pt x="1994219" y="295684"/>
                </a:lnTo>
                <a:lnTo>
                  <a:pt x="2022707" y="303615"/>
                </a:lnTo>
                <a:lnTo>
                  <a:pt x="2051196" y="311626"/>
                </a:lnTo>
                <a:lnTo>
                  <a:pt x="2079685" y="319714"/>
                </a:lnTo>
                <a:lnTo>
                  <a:pt x="2108174" y="327880"/>
                </a:lnTo>
                <a:lnTo>
                  <a:pt x="2136663" y="336121"/>
                </a:lnTo>
                <a:lnTo>
                  <a:pt x="2165152" y="344435"/>
                </a:lnTo>
                <a:lnTo>
                  <a:pt x="2193641" y="352822"/>
                </a:lnTo>
                <a:lnTo>
                  <a:pt x="2222129" y="361280"/>
                </a:lnTo>
                <a:lnTo>
                  <a:pt x="2250618" y="369807"/>
                </a:lnTo>
                <a:lnTo>
                  <a:pt x="2279107" y="378403"/>
                </a:lnTo>
                <a:lnTo>
                  <a:pt x="2307596" y="387064"/>
                </a:lnTo>
                <a:lnTo>
                  <a:pt x="2336085" y="395790"/>
                </a:lnTo>
                <a:lnTo>
                  <a:pt x="2364574" y="404579"/>
                </a:lnTo>
                <a:lnTo>
                  <a:pt x="2393062" y="413430"/>
                </a:lnTo>
                <a:lnTo>
                  <a:pt x="2421551" y="422340"/>
                </a:lnTo>
                <a:lnTo>
                  <a:pt x="2450040" y="431309"/>
                </a:lnTo>
                <a:lnTo>
                  <a:pt x="2478529" y="440334"/>
                </a:lnTo>
                <a:lnTo>
                  <a:pt x="2507018" y="449414"/>
                </a:lnTo>
                <a:lnTo>
                  <a:pt x="2535507" y="458548"/>
                </a:lnTo>
                <a:lnTo>
                  <a:pt x="2563995" y="467732"/>
                </a:lnTo>
                <a:lnTo>
                  <a:pt x="2592484" y="476967"/>
                </a:lnTo>
                <a:lnTo>
                  <a:pt x="2620973" y="486249"/>
                </a:lnTo>
                <a:lnTo>
                  <a:pt x="2649462" y="495578"/>
                </a:lnTo>
                <a:lnTo>
                  <a:pt x="2677951" y="504951"/>
                </a:lnTo>
                <a:lnTo>
                  <a:pt x="2706440" y="514367"/>
                </a:lnTo>
                <a:lnTo>
                  <a:pt x="2734929" y="523823"/>
                </a:lnTo>
                <a:lnTo>
                  <a:pt x="2763417" y="533318"/>
                </a:lnTo>
                <a:lnTo>
                  <a:pt x="2791906" y="542850"/>
                </a:lnTo>
                <a:lnTo>
                  <a:pt x="2820395" y="552417"/>
                </a:lnTo>
                <a:lnTo>
                  <a:pt x="2848884" y="562017"/>
                </a:lnTo>
                <a:lnTo>
                  <a:pt x="2877373" y="571648"/>
                </a:lnTo>
                <a:lnTo>
                  <a:pt x="2905862" y="581309"/>
                </a:lnTo>
                <a:lnTo>
                  <a:pt x="2934350" y="590996"/>
                </a:lnTo>
                <a:lnTo>
                  <a:pt x="2962839" y="600710"/>
                </a:lnTo>
                <a:lnTo>
                  <a:pt x="2991328" y="610446"/>
                </a:lnTo>
                <a:lnTo>
                  <a:pt x="3019817" y="620203"/>
                </a:lnTo>
                <a:lnTo>
                  <a:pt x="3048306" y="629980"/>
                </a:lnTo>
                <a:lnTo>
                  <a:pt x="3076795" y="639774"/>
                </a:lnTo>
                <a:lnTo>
                  <a:pt x="3105284" y="649582"/>
                </a:lnTo>
                <a:lnTo>
                  <a:pt x="3133772" y="659404"/>
                </a:lnTo>
                <a:lnTo>
                  <a:pt x="3162261" y="669236"/>
                </a:lnTo>
                <a:lnTo>
                  <a:pt x="3190750" y="679077"/>
                </a:lnTo>
                <a:lnTo>
                  <a:pt x="3219239" y="688924"/>
                </a:lnTo>
                <a:lnTo>
                  <a:pt x="3247728" y="698776"/>
                </a:lnTo>
                <a:lnTo>
                  <a:pt x="3276217" y="708629"/>
                </a:lnTo>
                <a:lnTo>
                  <a:pt x="3304705" y="718482"/>
                </a:lnTo>
                <a:lnTo>
                  <a:pt x="3333194" y="728333"/>
                </a:lnTo>
                <a:lnTo>
                  <a:pt x="3361683" y="738179"/>
                </a:lnTo>
                <a:lnTo>
                  <a:pt x="3390172" y="748017"/>
                </a:lnTo>
                <a:lnTo>
                  <a:pt x="3418661" y="757847"/>
                </a:lnTo>
                <a:lnTo>
                  <a:pt x="3447150" y="767665"/>
                </a:lnTo>
                <a:lnTo>
                  <a:pt x="3475638" y="777468"/>
                </a:lnTo>
                <a:lnTo>
                  <a:pt x="3504127" y="787256"/>
                </a:lnTo>
                <a:lnTo>
                  <a:pt x="3532616" y="797024"/>
                </a:lnTo>
                <a:lnTo>
                  <a:pt x="3561105" y="806772"/>
                </a:lnTo>
                <a:lnTo>
                  <a:pt x="3589594" y="816495"/>
                </a:lnTo>
                <a:lnTo>
                  <a:pt x="3618083" y="826193"/>
                </a:lnTo>
                <a:lnTo>
                  <a:pt x="3646572" y="835862"/>
                </a:lnTo>
                <a:lnTo>
                  <a:pt x="3675060" y="845500"/>
                </a:lnTo>
                <a:lnTo>
                  <a:pt x="3703549" y="855105"/>
                </a:lnTo>
                <a:lnTo>
                  <a:pt x="3732038" y="864673"/>
                </a:lnTo>
                <a:lnTo>
                  <a:pt x="3760527" y="874203"/>
                </a:lnTo>
                <a:lnTo>
                  <a:pt x="3789016" y="883692"/>
                </a:lnTo>
                <a:lnTo>
                  <a:pt x="3817505" y="893137"/>
                </a:lnTo>
                <a:lnTo>
                  <a:pt x="3845993" y="902535"/>
                </a:lnTo>
                <a:lnTo>
                  <a:pt x="3874482" y="911885"/>
                </a:lnTo>
                <a:lnTo>
                  <a:pt x="3902971" y="921183"/>
                </a:lnTo>
                <a:lnTo>
                  <a:pt x="3931460" y="930427"/>
                </a:lnTo>
                <a:lnTo>
                  <a:pt x="3959949" y="939613"/>
                </a:lnTo>
                <a:lnTo>
                  <a:pt x="3988438" y="948741"/>
                </a:lnTo>
                <a:lnTo>
                  <a:pt x="4016927" y="957805"/>
                </a:lnTo>
                <a:lnTo>
                  <a:pt x="4045415" y="966805"/>
                </a:lnTo>
                <a:lnTo>
                  <a:pt x="4073904" y="975737"/>
                </a:lnTo>
                <a:lnTo>
                  <a:pt x="4102393" y="984598"/>
                </a:lnTo>
                <a:lnTo>
                  <a:pt x="4130882" y="993386"/>
                </a:lnTo>
                <a:lnTo>
                  <a:pt x="4159371" y="1002097"/>
                </a:lnTo>
                <a:lnTo>
                  <a:pt x="4187860" y="1010730"/>
                </a:lnTo>
                <a:lnTo>
                  <a:pt x="4216348" y="1019280"/>
                </a:lnTo>
                <a:lnTo>
                  <a:pt x="4244837" y="1027746"/>
                </a:lnTo>
                <a:lnTo>
                  <a:pt x="4273326" y="1036123"/>
                </a:lnTo>
                <a:lnTo>
                  <a:pt x="4301815" y="1044411"/>
                </a:lnTo>
                <a:lnTo>
                  <a:pt x="4330304" y="1052604"/>
                </a:lnTo>
                <a:lnTo>
                  <a:pt x="4358793" y="1060701"/>
                </a:lnTo>
                <a:lnTo>
                  <a:pt x="4387282" y="1068699"/>
                </a:lnTo>
                <a:lnTo>
                  <a:pt x="4415770" y="1076594"/>
                </a:lnTo>
                <a:lnTo>
                  <a:pt x="4444259" y="1084384"/>
                </a:lnTo>
                <a:lnTo>
                  <a:pt x="4472748" y="1092065"/>
                </a:lnTo>
                <a:lnTo>
                  <a:pt x="4501237" y="1099635"/>
                </a:lnTo>
                <a:lnTo>
                  <a:pt x="4529726" y="1107090"/>
                </a:lnTo>
                <a:lnTo>
                  <a:pt x="4558215" y="1114427"/>
                </a:lnTo>
                <a:lnTo>
                  <a:pt x="4586703" y="1121643"/>
                </a:lnTo>
                <a:lnTo>
                  <a:pt x="4615192" y="1128735"/>
                </a:lnTo>
                <a:lnTo>
                  <a:pt x="4643681" y="1135701"/>
                </a:lnTo>
                <a:lnTo>
                  <a:pt x="4672170" y="1142536"/>
                </a:lnTo>
                <a:lnTo>
                  <a:pt x="4700659" y="1149237"/>
                </a:lnTo>
                <a:lnTo>
                  <a:pt x="4729148" y="1155802"/>
                </a:lnTo>
                <a:lnTo>
                  <a:pt x="4757636" y="1162227"/>
                </a:lnTo>
                <a:lnTo>
                  <a:pt x="4786125" y="1168509"/>
                </a:lnTo>
                <a:lnTo>
                  <a:pt x="4814614" y="1174644"/>
                </a:lnTo>
                <a:lnTo>
                  <a:pt x="4843103" y="1180630"/>
                </a:lnTo>
                <a:lnTo>
                  <a:pt x="4871592" y="1186462"/>
                </a:lnTo>
                <a:lnTo>
                  <a:pt x="4900081" y="1192139"/>
                </a:lnTo>
                <a:lnTo>
                  <a:pt x="4928570" y="1197655"/>
                </a:lnTo>
                <a:lnTo>
                  <a:pt x="4957058" y="1203009"/>
                </a:lnTo>
                <a:lnTo>
                  <a:pt x="4985547" y="1208196"/>
                </a:lnTo>
                <a:lnTo>
                  <a:pt x="5014036" y="1213213"/>
                </a:lnTo>
                <a:lnTo>
                  <a:pt x="5042525" y="1218057"/>
                </a:lnTo>
                <a:lnTo>
                  <a:pt x="5071014" y="1222725"/>
                </a:lnTo>
                <a:lnTo>
                  <a:pt x="5099503" y="1227212"/>
                </a:lnTo>
                <a:lnTo>
                  <a:pt x="5127991" y="1231516"/>
                </a:lnTo>
                <a:lnTo>
                  <a:pt x="5156480" y="1235632"/>
                </a:lnTo>
                <a:lnTo>
                  <a:pt x="5184969" y="1239558"/>
                </a:lnTo>
                <a:lnTo>
                  <a:pt x="5213458" y="1243290"/>
                </a:lnTo>
                <a:lnTo>
                  <a:pt x="5241947" y="1246824"/>
                </a:lnTo>
                <a:lnTo>
                  <a:pt x="5270436" y="1250157"/>
                </a:lnTo>
                <a:lnTo>
                  <a:pt x="5298925" y="1253285"/>
                </a:lnTo>
                <a:lnTo>
                  <a:pt x="5327413" y="1256204"/>
                </a:lnTo>
                <a:lnTo>
                  <a:pt x="5355902" y="1258911"/>
                </a:lnTo>
                <a:lnTo>
                  <a:pt x="5384391" y="1261403"/>
                </a:lnTo>
                <a:lnTo>
                  <a:pt x="5412880" y="1263674"/>
                </a:lnTo>
                <a:lnTo>
                  <a:pt x="5441369" y="1265723"/>
                </a:lnTo>
                <a:lnTo>
                  <a:pt x="5469858" y="1267545"/>
                </a:lnTo>
                <a:lnTo>
                  <a:pt x="5498346" y="1269136"/>
                </a:lnTo>
                <a:lnTo>
                  <a:pt x="5526835" y="1270493"/>
                </a:lnTo>
                <a:lnTo>
                  <a:pt x="5555324" y="1271612"/>
                </a:lnTo>
                <a:lnTo>
                  <a:pt x="5583813" y="1272488"/>
                </a:lnTo>
                <a:lnTo>
                  <a:pt x="5612302" y="1273119"/>
                </a:lnTo>
                <a:lnTo>
                  <a:pt x="5640791" y="1273501"/>
                </a:lnTo>
                <a:lnTo>
                  <a:pt x="5669280" y="1273629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4-E17 polygon 39" descr="sci-ppt:o039"/>
          <p:cNvSpPr/>
          <p:nvPr/>
        </p:nvSpPr>
        <p:spPr>
          <a:xfrm>
            <a:off x="914400" y="2899954"/>
            <a:ext cx="5669280" cy="1960877"/>
          </a:xfrm>
          <a:custGeom>
            <a:avLst/>
            <a:gdLst/>
            <a:ahLst/>
            <a:cxnLst/>
            <a:rect l="l" t="t" r="r" b="b"/>
            <a:pathLst>
              <a:path w="5669280" h="1960877">
                <a:moveTo>
                  <a:pt x="0" y="0"/>
                </a:moveTo>
                <a:lnTo>
                  <a:pt x="28488" y="25600"/>
                </a:lnTo>
                <a:lnTo>
                  <a:pt x="56977" y="51196"/>
                </a:lnTo>
                <a:lnTo>
                  <a:pt x="85466" y="76784"/>
                </a:lnTo>
                <a:lnTo>
                  <a:pt x="113955" y="102361"/>
                </a:lnTo>
                <a:lnTo>
                  <a:pt x="142444" y="127922"/>
                </a:lnTo>
                <a:lnTo>
                  <a:pt x="170933" y="153464"/>
                </a:lnTo>
                <a:lnTo>
                  <a:pt x="199421" y="178982"/>
                </a:lnTo>
                <a:lnTo>
                  <a:pt x="227910" y="204473"/>
                </a:lnTo>
                <a:lnTo>
                  <a:pt x="256399" y="229934"/>
                </a:lnTo>
                <a:lnTo>
                  <a:pt x="284888" y="255359"/>
                </a:lnTo>
                <a:lnTo>
                  <a:pt x="313377" y="280746"/>
                </a:lnTo>
                <a:lnTo>
                  <a:pt x="341866" y="306090"/>
                </a:lnTo>
                <a:lnTo>
                  <a:pt x="370354" y="331387"/>
                </a:lnTo>
                <a:lnTo>
                  <a:pt x="398843" y="356634"/>
                </a:lnTo>
                <a:lnTo>
                  <a:pt x="427332" y="381827"/>
                </a:lnTo>
                <a:lnTo>
                  <a:pt x="455821" y="406961"/>
                </a:lnTo>
                <a:lnTo>
                  <a:pt x="484310" y="432033"/>
                </a:lnTo>
                <a:lnTo>
                  <a:pt x="512799" y="457040"/>
                </a:lnTo>
                <a:lnTo>
                  <a:pt x="541288" y="481977"/>
                </a:lnTo>
                <a:lnTo>
                  <a:pt x="569776" y="506840"/>
                </a:lnTo>
                <a:lnTo>
                  <a:pt x="598265" y="531625"/>
                </a:lnTo>
                <a:lnTo>
                  <a:pt x="626754" y="556329"/>
                </a:lnTo>
                <a:lnTo>
                  <a:pt x="655243" y="580947"/>
                </a:lnTo>
                <a:lnTo>
                  <a:pt x="683732" y="605477"/>
                </a:lnTo>
                <a:lnTo>
                  <a:pt x="712221" y="629913"/>
                </a:lnTo>
                <a:lnTo>
                  <a:pt x="740709" y="654252"/>
                </a:lnTo>
                <a:lnTo>
                  <a:pt x="769198" y="678491"/>
                </a:lnTo>
                <a:lnTo>
                  <a:pt x="797687" y="702625"/>
                </a:lnTo>
                <a:lnTo>
                  <a:pt x="826176" y="726650"/>
                </a:lnTo>
                <a:lnTo>
                  <a:pt x="854665" y="750563"/>
                </a:lnTo>
                <a:lnTo>
                  <a:pt x="883154" y="774359"/>
                </a:lnTo>
                <a:lnTo>
                  <a:pt x="911643" y="798035"/>
                </a:lnTo>
                <a:lnTo>
                  <a:pt x="940131" y="821587"/>
                </a:lnTo>
                <a:lnTo>
                  <a:pt x="968620" y="845011"/>
                </a:lnTo>
                <a:lnTo>
                  <a:pt x="997109" y="868303"/>
                </a:lnTo>
                <a:lnTo>
                  <a:pt x="1025598" y="891459"/>
                </a:lnTo>
                <a:lnTo>
                  <a:pt x="1054087" y="914476"/>
                </a:lnTo>
                <a:lnTo>
                  <a:pt x="1082576" y="937349"/>
                </a:lnTo>
                <a:lnTo>
                  <a:pt x="1111064" y="960075"/>
                </a:lnTo>
                <a:lnTo>
                  <a:pt x="1139553" y="982649"/>
                </a:lnTo>
                <a:lnTo>
                  <a:pt x="1168042" y="1005068"/>
                </a:lnTo>
                <a:lnTo>
                  <a:pt x="1196531" y="1027329"/>
                </a:lnTo>
                <a:lnTo>
                  <a:pt x="1225020" y="1049426"/>
                </a:lnTo>
                <a:lnTo>
                  <a:pt x="1253509" y="1071357"/>
                </a:lnTo>
                <a:lnTo>
                  <a:pt x="1281997" y="1093117"/>
                </a:lnTo>
                <a:lnTo>
                  <a:pt x="1310486" y="1114702"/>
                </a:lnTo>
                <a:lnTo>
                  <a:pt x="1338975" y="1136109"/>
                </a:lnTo>
                <a:lnTo>
                  <a:pt x="1367464" y="1157334"/>
                </a:lnTo>
                <a:lnTo>
                  <a:pt x="1395953" y="1178372"/>
                </a:lnTo>
                <a:lnTo>
                  <a:pt x="1424442" y="1199221"/>
                </a:lnTo>
                <a:lnTo>
                  <a:pt x="1452931" y="1219875"/>
                </a:lnTo>
                <a:lnTo>
                  <a:pt x="1481419" y="1240332"/>
                </a:lnTo>
                <a:lnTo>
                  <a:pt x="1509908" y="1260587"/>
                </a:lnTo>
                <a:lnTo>
                  <a:pt x="1538397" y="1280636"/>
                </a:lnTo>
                <a:lnTo>
                  <a:pt x="1566886" y="1300476"/>
                </a:lnTo>
                <a:lnTo>
                  <a:pt x="1595375" y="1320103"/>
                </a:lnTo>
                <a:lnTo>
                  <a:pt x="1623864" y="1339512"/>
                </a:lnTo>
                <a:lnTo>
                  <a:pt x="1652352" y="1358700"/>
                </a:lnTo>
                <a:lnTo>
                  <a:pt x="1680841" y="1377664"/>
                </a:lnTo>
                <a:lnTo>
                  <a:pt x="1709330" y="1396398"/>
                </a:lnTo>
                <a:lnTo>
                  <a:pt x="1737819" y="1414900"/>
                </a:lnTo>
                <a:lnTo>
                  <a:pt x="1766308" y="1433165"/>
                </a:lnTo>
                <a:lnTo>
                  <a:pt x="1794797" y="1451190"/>
                </a:lnTo>
                <a:lnTo>
                  <a:pt x="1823286" y="1468970"/>
                </a:lnTo>
                <a:lnTo>
                  <a:pt x="1851774" y="1486502"/>
                </a:lnTo>
                <a:lnTo>
                  <a:pt x="1880263" y="1503782"/>
                </a:lnTo>
                <a:lnTo>
                  <a:pt x="1908752" y="1520806"/>
                </a:lnTo>
                <a:lnTo>
                  <a:pt x="1937241" y="1537570"/>
                </a:lnTo>
                <a:lnTo>
                  <a:pt x="1965730" y="1554071"/>
                </a:lnTo>
                <a:lnTo>
                  <a:pt x="1994219" y="1570303"/>
                </a:lnTo>
                <a:lnTo>
                  <a:pt x="2022707" y="1586264"/>
                </a:lnTo>
                <a:lnTo>
                  <a:pt x="2051196" y="1601950"/>
                </a:lnTo>
                <a:lnTo>
                  <a:pt x="2079685" y="1617357"/>
                </a:lnTo>
                <a:lnTo>
                  <a:pt x="2108174" y="1632480"/>
                </a:lnTo>
                <a:lnTo>
                  <a:pt x="2136663" y="1647316"/>
                </a:lnTo>
                <a:lnTo>
                  <a:pt x="2165152" y="1661862"/>
                </a:lnTo>
                <a:lnTo>
                  <a:pt x="2193641" y="1676112"/>
                </a:lnTo>
                <a:lnTo>
                  <a:pt x="2222129" y="1690064"/>
                </a:lnTo>
                <a:lnTo>
                  <a:pt x="2250618" y="1703714"/>
                </a:lnTo>
                <a:lnTo>
                  <a:pt x="2279107" y="1717057"/>
                </a:lnTo>
                <a:lnTo>
                  <a:pt x="2307596" y="1730089"/>
                </a:lnTo>
                <a:lnTo>
                  <a:pt x="2336085" y="1742808"/>
                </a:lnTo>
                <a:lnTo>
                  <a:pt x="2364574" y="1755208"/>
                </a:lnTo>
                <a:lnTo>
                  <a:pt x="2393062" y="1767287"/>
                </a:lnTo>
                <a:lnTo>
                  <a:pt x="2421551" y="1779040"/>
                </a:lnTo>
                <a:lnTo>
                  <a:pt x="2450040" y="1790463"/>
                </a:lnTo>
                <a:lnTo>
                  <a:pt x="2478529" y="1801552"/>
                </a:lnTo>
                <a:lnTo>
                  <a:pt x="2507018" y="1812304"/>
                </a:lnTo>
                <a:lnTo>
                  <a:pt x="2535507" y="1822715"/>
                </a:lnTo>
                <a:lnTo>
                  <a:pt x="2563995" y="1832780"/>
                </a:lnTo>
                <a:lnTo>
                  <a:pt x="2592484" y="1842496"/>
                </a:lnTo>
                <a:lnTo>
                  <a:pt x="2620973" y="1851860"/>
                </a:lnTo>
                <a:lnTo>
                  <a:pt x="2649462" y="1860866"/>
                </a:lnTo>
                <a:lnTo>
                  <a:pt x="2677951" y="1869512"/>
                </a:lnTo>
                <a:lnTo>
                  <a:pt x="2706440" y="1877793"/>
                </a:lnTo>
                <a:lnTo>
                  <a:pt x="2734929" y="1885706"/>
                </a:lnTo>
                <a:lnTo>
                  <a:pt x="2763417" y="1893246"/>
                </a:lnTo>
                <a:lnTo>
                  <a:pt x="2791906" y="1900410"/>
                </a:lnTo>
                <a:lnTo>
                  <a:pt x="2820395" y="1907194"/>
                </a:lnTo>
                <a:lnTo>
                  <a:pt x="2848884" y="1913594"/>
                </a:lnTo>
                <a:lnTo>
                  <a:pt x="2877373" y="1919606"/>
                </a:lnTo>
                <a:lnTo>
                  <a:pt x="2905862" y="1925227"/>
                </a:lnTo>
                <a:lnTo>
                  <a:pt x="2934350" y="1930452"/>
                </a:lnTo>
                <a:lnTo>
                  <a:pt x="2962839" y="1935277"/>
                </a:lnTo>
                <a:lnTo>
                  <a:pt x="2991328" y="1939699"/>
                </a:lnTo>
                <a:lnTo>
                  <a:pt x="3019817" y="1943713"/>
                </a:lnTo>
                <a:lnTo>
                  <a:pt x="3048306" y="1947316"/>
                </a:lnTo>
                <a:lnTo>
                  <a:pt x="3076795" y="1950505"/>
                </a:lnTo>
                <a:lnTo>
                  <a:pt x="3105284" y="1953274"/>
                </a:lnTo>
                <a:lnTo>
                  <a:pt x="3133772" y="1955621"/>
                </a:lnTo>
                <a:lnTo>
                  <a:pt x="3162261" y="1957541"/>
                </a:lnTo>
                <a:lnTo>
                  <a:pt x="3190750" y="1959030"/>
                </a:lnTo>
                <a:lnTo>
                  <a:pt x="3219239" y="1960085"/>
                </a:lnTo>
                <a:lnTo>
                  <a:pt x="3247728" y="1960702"/>
                </a:lnTo>
                <a:lnTo>
                  <a:pt x="3276217" y="1960877"/>
                </a:lnTo>
                <a:lnTo>
                  <a:pt x="3304705" y="1960605"/>
                </a:lnTo>
                <a:lnTo>
                  <a:pt x="3333194" y="1959884"/>
                </a:lnTo>
                <a:lnTo>
                  <a:pt x="3361683" y="1958708"/>
                </a:lnTo>
                <a:lnTo>
                  <a:pt x="3390172" y="1957075"/>
                </a:lnTo>
                <a:lnTo>
                  <a:pt x="3418661" y="1954981"/>
                </a:lnTo>
                <a:lnTo>
                  <a:pt x="3447150" y="1952421"/>
                </a:lnTo>
                <a:lnTo>
                  <a:pt x="3475638" y="1949392"/>
                </a:lnTo>
                <a:lnTo>
                  <a:pt x="3504127" y="1945889"/>
                </a:lnTo>
                <a:lnTo>
                  <a:pt x="3532616" y="1941909"/>
                </a:lnTo>
                <a:lnTo>
                  <a:pt x="3561105" y="1937449"/>
                </a:lnTo>
                <a:lnTo>
                  <a:pt x="3589594" y="1932503"/>
                </a:lnTo>
                <a:lnTo>
                  <a:pt x="3618083" y="1927069"/>
                </a:lnTo>
                <a:lnTo>
                  <a:pt x="3646572" y="1921142"/>
                </a:lnTo>
                <a:lnTo>
                  <a:pt x="3675060" y="1914719"/>
                </a:lnTo>
                <a:lnTo>
                  <a:pt x="3703549" y="1907796"/>
                </a:lnTo>
                <a:lnTo>
                  <a:pt x="3732038" y="1900368"/>
                </a:lnTo>
                <a:lnTo>
                  <a:pt x="3760527" y="1892432"/>
                </a:lnTo>
                <a:lnTo>
                  <a:pt x="3789016" y="1883984"/>
                </a:lnTo>
                <a:lnTo>
                  <a:pt x="3817505" y="1875020"/>
                </a:lnTo>
                <a:lnTo>
                  <a:pt x="3845993" y="1865536"/>
                </a:lnTo>
                <a:lnTo>
                  <a:pt x="3874482" y="1855529"/>
                </a:lnTo>
                <a:lnTo>
                  <a:pt x="3902971" y="1844994"/>
                </a:lnTo>
                <a:lnTo>
                  <a:pt x="3931460" y="1833928"/>
                </a:lnTo>
                <a:lnTo>
                  <a:pt x="3959949" y="1822327"/>
                </a:lnTo>
                <a:lnTo>
                  <a:pt x="3988438" y="1810186"/>
                </a:lnTo>
                <a:lnTo>
                  <a:pt x="4016927" y="1797503"/>
                </a:lnTo>
                <a:lnTo>
                  <a:pt x="4045415" y="1784272"/>
                </a:lnTo>
                <a:lnTo>
                  <a:pt x="4073904" y="1770491"/>
                </a:lnTo>
                <a:lnTo>
                  <a:pt x="4102393" y="1756155"/>
                </a:lnTo>
                <a:lnTo>
                  <a:pt x="4130882" y="1741260"/>
                </a:lnTo>
                <a:lnTo>
                  <a:pt x="4159371" y="1725803"/>
                </a:lnTo>
                <a:lnTo>
                  <a:pt x="4187860" y="1709780"/>
                </a:lnTo>
                <a:lnTo>
                  <a:pt x="4216348" y="1693187"/>
                </a:lnTo>
                <a:lnTo>
                  <a:pt x="4244837" y="1676019"/>
                </a:lnTo>
                <a:lnTo>
                  <a:pt x="4273326" y="1658274"/>
                </a:lnTo>
                <a:lnTo>
                  <a:pt x="4301815" y="1639947"/>
                </a:lnTo>
                <a:lnTo>
                  <a:pt x="4330304" y="1621034"/>
                </a:lnTo>
                <a:lnTo>
                  <a:pt x="4358793" y="1601531"/>
                </a:lnTo>
                <a:lnTo>
                  <a:pt x="4387282" y="1581435"/>
                </a:lnTo>
                <a:lnTo>
                  <a:pt x="4415770" y="1560742"/>
                </a:lnTo>
                <a:lnTo>
                  <a:pt x="4444259" y="1539448"/>
                </a:lnTo>
                <a:lnTo>
                  <a:pt x="4472748" y="1517548"/>
                </a:lnTo>
                <a:lnTo>
                  <a:pt x="4501237" y="1495039"/>
                </a:lnTo>
                <a:lnTo>
                  <a:pt x="4529726" y="1471918"/>
                </a:lnTo>
                <a:lnTo>
                  <a:pt x="4558215" y="1448180"/>
                </a:lnTo>
                <a:lnTo>
                  <a:pt x="4586703" y="1423821"/>
                </a:lnTo>
                <a:lnTo>
                  <a:pt x="4615192" y="1398838"/>
                </a:lnTo>
                <a:lnTo>
                  <a:pt x="4643681" y="1373226"/>
                </a:lnTo>
                <a:lnTo>
                  <a:pt x="4672170" y="1346983"/>
                </a:lnTo>
                <a:lnTo>
                  <a:pt x="4700659" y="1320103"/>
                </a:lnTo>
                <a:lnTo>
                  <a:pt x="4729148" y="1292583"/>
                </a:lnTo>
                <a:lnTo>
                  <a:pt x="4757636" y="1264419"/>
                </a:lnTo>
                <a:lnTo>
                  <a:pt x="4786125" y="1235607"/>
                </a:lnTo>
                <a:lnTo>
                  <a:pt x="4814614" y="1206144"/>
                </a:lnTo>
                <a:lnTo>
                  <a:pt x="4843103" y="1176026"/>
                </a:lnTo>
                <a:lnTo>
                  <a:pt x="4871592" y="1145247"/>
                </a:lnTo>
                <a:lnTo>
                  <a:pt x="4900081" y="1113806"/>
                </a:lnTo>
                <a:lnTo>
                  <a:pt x="4928570" y="1081698"/>
                </a:lnTo>
                <a:lnTo>
                  <a:pt x="4957058" y="1048918"/>
                </a:lnTo>
                <a:lnTo>
                  <a:pt x="4985547" y="1015464"/>
                </a:lnTo>
                <a:lnTo>
                  <a:pt x="5014036" y="981330"/>
                </a:lnTo>
                <a:lnTo>
                  <a:pt x="5042525" y="946514"/>
                </a:lnTo>
                <a:lnTo>
                  <a:pt x="5071014" y="911012"/>
                </a:lnTo>
                <a:lnTo>
                  <a:pt x="5099503" y="874819"/>
                </a:lnTo>
                <a:lnTo>
                  <a:pt x="5127991" y="837932"/>
                </a:lnTo>
                <a:lnTo>
                  <a:pt x="5156480" y="800347"/>
                </a:lnTo>
                <a:lnTo>
                  <a:pt x="5184969" y="762059"/>
                </a:lnTo>
                <a:lnTo>
                  <a:pt x="5213458" y="723066"/>
                </a:lnTo>
                <a:lnTo>
                  <a:pt x="5241947" y="683363"/>
                </a:lnTo>
                <a:lnTo>
                  <a:pt x="5270436" y="642946"/>
                </a:lnTo>
                <a:lnTo>
                  <a:pt x="5298925" y="601811"/>
                </a:lnTo>
                <a:lnTo>
                  <a:pt x="5327413" y="559956"/>
                </a:lnTo>
                <a:lnTo>
                  <a:pt x="5355902" y="517374"/>
                </a:lnTo>
                <a:lnTo>
                  <a:pt x="5384391" y="474064"/>
                </a:lnTo>
                <a:lnTo>
                  <a:pt x="5412880" y="430020"/>
                </a:lnTo>
                <a:lnTo>
                  <a:pt x="5441369" y="385240"/>
                </a:lnTo>
                <a:lnTo>
                  <a:pt x="5469858" y="339719"/>
                </a:lnTo>
                <a:lnTo>
                  <a:pt x="5498346" y="293453"/>
                </a:lnTo>
                <a:lnTo>
                  <a:pt x="5526835" y="246438"/>
                </a:lnTo>
                <a:lnTo>
                  <a:pt x="5555324" y="198671"/>
                </a:lnTo>
                <a:lnTo>
                  <a:pt x="5583813" y="150147"/>
                </a:lnTo>
                <a:lnTo>
                  <a:pt x="5612302" y="100864"/>
                </a:lnTo>
                <a:lnTo>
                  <a:pt x="5640791" y="50816"/>
                </a:lnTo>
                <a:lnTo>
                  <a:pt x="5669280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4-E17 text 40" descr="sci-ppt:o040"/>
          <p:cNvSpPr txBox="1"/>
          <p:nvPr/>
        </p:nvSpPr>
        <p:spPr>
          <a:xfrm>
            <a:off x="1655064" y="1789611"/>
            <a:ext cx="5486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w</a:t>
            </a:r>
          </a:p>
        </p:txBody>
      </p:sp>
      <p:sp>
        <p:nvSpPr>
          <p:cNvPr id="43" name="C4-E17 text 41" descr="sci-ppt:o041"/>
          <p:cNvSpPr txBox="1"/>
          <p:nvPr/>
        </p:nvSpPr>
        <p:spPr>
          <a:xfrm>
            <a:off x="3935577" y="3473087"/>
            <a:ext cx="164592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w′ = p₀r(r²−b²)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/(16D_f)</a:t>
            </a:r>
          </a:p>
        </p:txBody>
      </p:sp>
      <p:sp>
        <p:nvSpPr>
          <p:cNvPr id="44" name="C4-E17 round_rect 42" descr="sci-ppt:o042"/>
          <p:cNvSpPr/>
          <p:nvPr/>
        </p:nvSpPr>
        <p:spPr>
          <a:xfrm>
            <a:off x="6858000" y="1371600"/>
            <a:ext cx="498348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4-E17 text 43" descr="sci-ppt:o043"/>
          <p:cNvSpPr txBox="1"/>
          <p:nvPr/>
        </p:nvSpPr>
        <p:spPr>
          <a:xfrm>
            <a:off x="6967728" y="1426464"/>
            <a:ext cx="47640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Direct verification</a:t>
            </a:r>
          </a:p>
        </p:txBody>
      </p:sp>
      <p:sp>
        <p:nvSpPr>
          <p:cNvPr id="46" name="C4-E17 text 44" descr="sci-ppt:o044"/>
          <p:cNvSpPr txBox="1"/>
          <p:nvPr/>
        </p:nvSpPr>
        <p:spPr>
          <a:xfrm>
            <a:off x="6995160" y="1828800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𝓛ᵣ(r²) = 4,   𝓛ᵣ(r⁴) = 16 r²</a:t>
            </a:r>
          </a:p>
        </p:txBody>
      </p:sp>
      <p:sp>
        <p:nvSpPr>
          <p:cNvPr id="47" name="C4-E17 text 45" descr="sci-ppt:o045"/>
          <p:cNvSpPr txBox="1"/>
          <p:nvPr/>
        </p:nvSpPr>
        <p:spPr>
          <a:xfrm>
            <a:off x="6995160" y="2331720"/>
            <a:ext cx="47548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𝓛ᵣ w ∝ −8 + 16 r²,  𝓛ᵣ²w ∝ 64  ⇒  D_f 𝓛ᵣ²w = p₀</a:t>
            </a:r>
          </a:p>
        </p:txBody>
      </p:sp>
      <p:sp>
        <p:nvSpPr>
          <p:cNvPr id="48" name="C4-E17 text 46" descr="sci-ppt:o046"/>
          <p:cNvSpPr txBox="1"/>
          <p:nvPr/>
        </p:nvSpPr>
        <p:spPr>
          <a:xfrm>
            <a:off x="6995160" y="2834640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w′(r) = p₀ r (r² − b²) / (16D_f)</a:t>
            </a:r>
          </a:p>
        </p:txBody>
      </p:sp>
      <p:sp>
        <p:nvSpPr>
          <p:cNvPr id="49" name="C4-E17 text 47" descr="sci-ppt:o047"/>
          <p:cNvSpPr txBox="1"/>
          <p:nvPr/>
        </p:nvSpPr>
        <p:spPr>
          <a:xfrm>
            <a:off x="6995160" y="3474720"/>
            <a:ext cx="4754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Slope zero at r = 0 and r = b; steepest between.</a:t>
            </a:r>
          </a:p>
        </p:txBody>
      </p:sp>
      <p:sp>
        <p:nvSpPr>
          <p:cNvPr id="50" name="C4-E17 text 48" descr="sci-ppt:o048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Differentiating the answer back reproduces the governing equation, so the solution is verified, not assumed.</a:t>
            </a:r>
          </a:p>
        </p:txBody>
      </p:sp>
      <p:sp>
        <p:nvSpPr>
          <p:cNvPr id="51" name="C4-E17 text 49" descr="sci-ppt:o04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Verification of Eq. C4-E17.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C4-E18 · Exact geometric volume integral for the benchmark</a:t>
            </a:r>
          </a:p>
        </p:txBody>
      </p:sp>
      <p:cxnSp>
        <p:nvCxnSpPr>
          <p:cNvPr id="3" name="C4-E18 line 1" descr="sci-ppt:o001"/>
          <p:cNvCxnSpPr/>
          <p:nvPr/>
        </p:nvCxnSpPr>
        <p:spPr>
          <a:xfrm>
            <a:off x="914400" y="4937760"/>
            <a:ext cx="56692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18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18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18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18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4-E18 line 6" descr="sci-ppt:o006"/>
          <p:cNvCxnSpPr/>
          <p:nvPr/>
        </p:nvCxnSpPr>
        <p:spPr>
          <a:xfrm>
            <a:off x="23317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18 line 7" descr="sci-ppt:o007"/>
          <p:cNvCxnSpPr/>
          <p:nvPr/>
        </p:nvCxnSpPr>
        <p:spPr>
          <a:xfrm>
            <a:off x="23317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18 text 8" descr="sci-ppt:o008"/>
          <p:cNvSpPr txBox="1"/>
          <p:nvPr/>
        </p:nvSpPr>
        <p:spPr>
          <a:xfrm>
            <a:off x="187451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11" name="C4-E18 line 9" descr="sci-ppt:o009"/>
          <p:cNvCxnSpPr/>
          <p:nvPr/>
        </p:nvCxnSpPr>
        <p:spPr>
          <a:xfrm>
            <a:off x="374903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18 line 10" descr="sci-ppt:o010"/>
          <p:cNvCxnSpPr/>
          <p:nvPr/>
        </p:nvCxnSpPr>
        <p:spPr>
          <a:xfrm>
            <a:off x="374903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18 text 11" descr="sci-ppt:o011"/>
          <p:cNvSpPr txBox="1"/>
          <p:nvPr/>
        </p:nvSpPr>
        <p:spPr>
          <a:xfrm>
            <a:off x="329183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4" name="C4-E18 line 12" descr="sci-ppt:o012"/>
          <p:cNvCxnSpPr/>
          <p:nvPr/>
        </p:nvCxnSpPr>
        <p:spPr>
          <a:xfrm>
            <a:off x="51663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18 line 13" descr="sci-ppt:o013"/>
          <p:cNvCxnSpPr/>
          <p:nvPr/>
        </p:nvCxnSpPr>
        <p:spPr>
          <a:xfrm>
            <a:off x="51663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18 text 14" descr="sci-ppt:o014"/>
          <p:cNvSpPr txBox="1"/>
          <p:nvPr/>
        </p:nvSpPr>
        <p:spPr>
          <a:xfrm>
            <a:off x="47091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7" name="C4-E18 line 15" descr="sci-ppt:o015"/>
          <p:cNvCxnSpPr/>
          <p:nvPr/>
        </p:nvCxnSpPr>
        <p:spPr>
          <a:xfrm>
            <a:off x="658368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18 line 16" descr="sci-ppt:o016"/>
          <p:cNvCxnSpPr/>
          <p:nvPr/>
        </p:nvCxnSpPr>
        <p:spPr>
          <a:xfrm>
            <a:off x="658368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18 text 17" descr="sci-ppt:o017"/>
          <p:cNvSpPr txBox="1"/>
          <p:nvPr/>
        </p:nvSpPr>
        <p:spPr>
          <a:xfrm>
            <a:off x="612648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20" name="C4-E18 line 18" descr="sci-ppt:o018"/>
          <p:cNvCxnSpPr/>
          <p:nvPr/>
        </p:nvCxnSpPr>
        <p:spPr>
          <a:xfrm>
            <a:off x="8503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18 line 19" descr="sci-ppt:o019"/>
          <p:cNvCxnSpPr/>
          <p:nvPr/>
        </p:nvCxnSpPr>
        <p:spPr>
          <a:xfrm>
            <a:off x="850392" y="331677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18 line 20" descr="sci-ppt:o020"/>
          <p:cNvCxnSpPr/>
          <p:nvPr/>
        </p:nvCxnSpPr>
        <p:spPr>
          <a:xfrm>
            <a:off x="914400" y="3316778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4-E18 text 21" descr="sci-ppt:o021"/>
          <p:cNvSpPr txBox="1"/>
          <p:nvPr/>
        </p:nvSpPr>
        <p:spPr>
          <a:xfrm>
            <a:off x="45720" y="323448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4" name="C4-E18 line 22" descr="sci-ppt:o022"/>
          <p:cNvCxnSpPr/>
          <p:nvPr/>
        </p:nvCxnSpPr>
        <p:spPr>
          <a:xfrm>
            <a:off x="850392" y="169579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18 line 23" descr="sci-ppt:o023"/>
          <p:cNvCxnSpPr/>
          <p:nvPr/>
        </p:nvCxnSpPr>
        <p:spPr>
          <a:xfrm>
            <a:off x="914400" y="1695796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18 text 24" descr="sci-ppt:o024"/>
          <p:cNvSpPr txBox="1"/>
          <p:nvPr/>
        </p:nvSpPr>
        <p:spPr>
          <a:xfrm>
            <a:off x="45720" y="161350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sp>
        <p:nvSpPr>
          <p:cNvPr id="27" name="C4-E18 text 25" descr="sci-ppt:o025"/>
          <p:cNvSpPr txBox="1"/>
          <p:nvPr/>
        </p:nvSpPr>
        <p:spPr>
          <a:xfrm>
            <a:off x="914400" y="5221224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b</a:t>
            </a:r>
          </a:p>
        </p:txBody>
      </p:sp>
      <p:sp>
        <p:nvSpPr>
          <p:cNvPr id="28" name="C4-E18 text 26" descr="sci-ppt:o026"/>
          <p:cNvSpPr txBox="1"/>
          <p:nvPr/>
        </p:nvSpPr>
        <p:spPr>
          <a:xfrm>
            <a:off x="365760" y="1024128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integrand 2π w r</a:t>
            </a:r>
          </a:p>
        </p:txBody>
      </p:sp>
      <p:sp>
        <p:nvSpPr>
          <p:cNvPr id="29" name="C4-E18 polygon 27" descr="sci-ppt:o027"/>
          <p:cNvSpPr/>
          <p:nvPr/>
        </p:nvSpPr>
        <p:spPr>
          <a:xfrm>
            <a:off x="914400" y="2022679"/>
            <a:ext cx="5669280" cy="2915081"/>
          </a:xfrm>
          <a:custGeom>
            <a:avLst/>
            <a:gdLst/>
            <a:ahLst/>
            <a:cxnLst/>
            <a:rect l="l" t="t" r="r" b="b"/>
            <a:pathLst>
              <a:path w="5669280" h="2915081">
                <a:moveTo>
                  <a:pt x="0" y="2915081"/>
                </a:moveTo>
                <a:lnTo>
                  <a:pt x="18960" y="2881018"/>
                </a:lnTo>
                <a:lnTo>
                  <a:pt x="37921" y="2846960"/>
                </a:lnTo>
                <a:lnTo>
                  <a:pt x="56882" y="2812911"/>
                </a:lnTo>
                <a:lnTo>
                  <a:pt x="75843" y="2778876"/>
                </a:lnTo>
                <a:lnTo>
                  <a:pt x="94804" y="2744859"/>
                </a:lnTo>
                <a:lnTo>
                  <a:pt x="113764" y="2710865"/>
                </a:lnTo>
                <a:lnTo>
                  <a:pt x="132725" y="2676899"/>
                </a:lnTo>
                <a:lnTo>
                  <a:pt x="151686" y="2642964"/>
                </a:lnTo>
                <a:lnTo>
                  <a:pt x="170647" y="2609066"/>
                </a:lnTo>
                <a:lnTo>
                  <a:pt x="189608" y="2575209"/>
                </a:lnTo>
                <a:lnTo>
                  <a:pt x="208568" y="2541398"/>
                </a:lnTo>
                <a:lnTo>
                  <a:pt x="227529" y="2507637"/>
                </a:lnTo>
                <a:lnTo>
                  <a:pt x="246490" y="2473930"/>
                </a:lnTo>
                <a:lnTo>
                  <a:pt x="265451" y="2440283"/>
                </a:lnTo>
                <a:lnTo>
                  <a:pt x="284412" y="2406700"/>
                </a:lnTo>
                <a:lnTo>
                  <a:pt x="303372" y="2373184"/>
                </a:lnTo>
                <a:lnTo>
                  <a:pt x="322333" y="2339742"/>
                </a:lnTo>
                <a:lnTo>
                  <a:pt x="341294" y="2306377"/>
                </a:lnTo>
                <a:lnTo>
                  <a:pt x="360255" y="2273094"/>
                </a:lnTo>
                <a:lnTo>
                  <a:pt x="379216" y="2239897"/>
                </a:lnTo>
                <a:lnTo>
                  <a:pt x="398176" y="2206791"/>
                </a:lnTo>
                <a:lnTo>
                  <a:pt x="417137" y="2173780"/>
                </a:lnTo>
                <a:lnTo>
                  <a:pt x="436098" y="2140869"/>
                </a:lnTo>
                <a:lnTo>
                  <a:pt x="455059" y="2108062"/>
                </a:lnTo>
                <a:lnTo>
                  <a:pt x="474020" y="2075363"/>
                </a:lnTo>
                <a:lnTo>
                  <a:pt x="492980" y="2042777"/>
                </a:lnTo>
                <a:lnTo>
                  <a:pt x="511941" y="2010309"/>
                </a:lnTo>
                <a:lnTo>
                  <a:pt x="530902" y="1977963"/>
                </a:lnTo>
                <a:lnTo>
                  <a:pt x="549863" y="1945742"/>
                </a:lnTo>
                <a:lnTo>
                  <a:pt x="568824" y="1913653"/>
                </a:lnTo>
                <a:lnTo>
                  <a:pt x="587784" y="1881698"/>
                </a:lnTo>
                <a:lnTo>
                  <a:pt x="606745" y="1849882"/>
                </a:lnTo>
                <a:lnTo>
                  <a:pt x="625706" y="1818210"/>
                </a:lnTo>
                <a:lnTo>
                  <a:pt x="644667" y="1786685"/>
                </a:lnTo>
                <a:lnTo>
                  <a:pt x="663628" y="1755313"/>
                </a:lnTo>
                <a:lnTo>
                  <a:pt x="682588" y="1724097"/>
                </a:lnTo>
                <a:lnTo>
                  <a:pt x="701549" y="1693042"/>
                </a:lnTo>
                <a:lnTo>
                  <a:pt x="720510" y="1662151"/>
                </a:lnTo>
                <a:lnTo>
                  <a:pt x="739471" y="1631430"/>
                </a:lnTo>
                <a:lnTo>
                  <a:pt x="758432" y="1600882"/>
                </a:lnTo>
                <a:lnTo>
                  <a:pt x="777392" y="1570511"/>
                </a:lnTo>
                <a:lnTo>
                  <a:pt x="796353" y="1540322"/>
                </a:lnTo>
                <a:lnTo>
                  <a:pt x="815314" y="1510319"/>
                </a:lnTo>
                <a:lnTo>
                  <a:pt x="834275" y="1480505"/>
                </a:lnTo>
                <a:lnTo>
                  <a:pt x="853236" y="1450886"/>
                </a:lnTo>
                <a:lnTo>
                  <a:pt x="872196" y="1421464"/>
                </a:lnTo>
                <a:lnTo>
                  <a:pt x="891157" y="1392244"/>
                </a:lnTo>
                <a:lnTo>
                  <a:pt x="910118" y="1363231"/>
                </a:lnTo>
                <a:lnTo>
                  <a:pt x="929079" y="1334427"/>
                </a:lnTo>
                <a:lnTo>
                  <a:pt x="948040" y="1305838"/>
                </a:lnTo>
                <a:lnTo>
                  <a:pt x="967000" y="1277466"/>
                </a:lnTo>
                <a:lnTo>
                  <a:pt x="985961" y="1249316"/>
                </a:lnTo>
                <a:lnTo>
                  <a:pt x="1004922" y="1221392"/>
                </a:lnTo>
                <a:lnTo>
                  <a:pt x="1023883" y="1193698"/>
                </a:lnTo>
                <a:lnTo>
                  <a:pt x="1042844" y="1166237"/>
                </a:lnTo>
                <a:lnTo>
                  <a:pt x="1061804" y="1139013"/>
                </a:lnTo>
                <a:lnTo>
                  <a:pt x="1080765" y="1112031"/>
                </a:lnTo>
                <a:lnTo>
                  <a:pt x="1099726" y="1085293"/>
                </a:lnTo>
                <a:lnTo>
                  <a:pt x="1118687" y="1058804"/>
                </a:lnTo>
                <a:lnTo>
                  <a:pt x="1137648" y="1032567"/>
                </a:lnTo>
                <a:lnTo>
                  <a:pt x="1156608" y="1006586"/>
                </a:lnTo>
                <a:lnTo>
                  <a:pt x="1175569" y="980865"/>
                </a:lnTo>
                <a:lnTo>
                  <a:pt x="1194530" y="955407"/>
                </a:lnTo>
                <a:lnTo>
                  <a:pt x="1213491" y="930215"/>
                </a:lnTo>
                <a:lnTo>
                  <a:pt x="1232452" y="905294"/>
                </a:lnTo>
                <a:lnTo>
                  <a:pt x="1251412" y="880647"/>
                </a:lnTo>
                <a:lnTo>
                  <a:pt x="1270373" y="856276"/>
                </a:lnTo>
                <a:lnTo>
                  <a:pt x="1289334" y="832187"/>
                </a:lnTo>
                <a:lnTo>
                  <a:pt x="1308295" y="808382"/>
                </a:lnTo>
                <a:lnTo>
                  <a:pt x="1327256" y="784864"/>
                </a:lnTo>
                <a:lnTo>
                  <a:pt x="1346216" y="761637"/>
                </a:lnTo>
                <a:lnTo>
                  <a:pt x="1365177" y="738704"/>
                </a:lnTo>
                <a:lnTo>
                  <a:pt x="1384138" y="716068"/>
                </a:lnTo>
                <a:lnTo>
                  <a:pt x="1403099" y="693733"/>
                </a:lnTo>
                <a:lnTo>
                  <a:pt x="1422060" y="671702"/>
                </a:lnTo>
                <a:lnTo>
                  <a:pt x="1441021" y="649978"/>
                </a:lnTo>
                <a:lnTo>
                  <a:pt x="1459981" y="628564"/>
                </a:lnTo>
                <a:lnTo>
                  <a:pt x="1478942" y="607462"/>
                </a:lnTo>
                <a:lnTo>
                  <a:pt x="1497903" y="586678"/>
                </a:lnTo>
                <a:lnTo>
                  <a:pt x="1516864" y="566212"/>
                </a:lnTo>
                <a:lnTo>
                  <a:pt x="1535825" y="546068"/>
                </a:lnTo>
                <a:lnTo>
                  <a:pt x="1554785" y="526250"/>
                </a:lnTo>
                <a:lnTo>
                  <a:pt x="1573746" y="506759"/>
                </a:lnTo>
                <a:lnTo>
                  <a:pt x="1592707" y="487600"/>
                </a:lnTo>
                <a:lnTo>
                  <a:pt x="1611668" y="468773"/>
                </a:lnTo>
                <a:lnTo>
                  <a:pt x="1630629" y="450283"/>
                </a:lnTo>
                <a:lnTo>
                  <a:pt x="1649589" y="432132"/>
                </a:lnTo>
                <a:lnTo>
                  <a:pt x="1668550" y="414323"/>
                </a:lnTo>
                <a:lnTo>
                  <a:pt x="1687511" y="396858"/>
                </a:lnTo>
                <a:lnTo>
                  <a:pt x="1706472" y="379740"/>
                </a:lnTo>
                <a:lnTo>
                  <a:pt x="1725433" y="362971"/>
                </a:lnTo>
                <a:lnTo>
                  <a:pt x="1744393" y="346554"/>
                </a:lnTo>
                <a:lnTo>
                  <a:pt x="1763354" y="330491"/>
                </a:lnTo>
                <a:lnTo>
                  <a:pt x="1782315" y="314785"/>
                </a:lnTo>
                <a:lnTo>
                  <a:pt x="1801276" y="299438"/>
                </a:lnTo>
                <a:lnTo>
                  <a:pt x="1820237" y="284452"/>
                </a:lnTo>
                <a:lnTo>
                  <a:pt x="1839197" y="269829"/>
                </a:lnTo>
                <a:lnTo>
                  <a:pt x="1858158" y="255573"/>
                </a:lnTo>
                <a:lnTo>
                  <a:pt x="1877119" y="241684"/>
                </a:lnTo>
                <a:lnTo>
                  <a:pt x="1896080" y="228165"/>
                </a:lnTo>
                <a:lnTo>
                  <a:pt x="1915041" y="215018"/>
                </a:lnTo>
                <a:lnTo>
                  <a:pt x="1934001" y="202245"/>
                </a:lnTo>
                <a:lnTo>
                  <a:pt x="1952962" y="189848"/>
                </a:lnTo>
                <a:lnTo>
                  <a:pt x="1971923" y="177829"/>
                </a:lnTo>
                <a:lnTo>
                  <a:pt x="1990884" y="166189"/>
                </a:lnTo>
                <a:lnTo>
                  <a:pt x="2009845" y="154931"/>
                </a:lnTo>
                <a:lnTo>
                  <a:pt x="2028805" y="144056"/>
                </a:lnTo>
                <a:lnTo>
                  <a:pt x="2047766" y="133566"/>
                </a:lnTo>
                <a:lnTo>
                  <a:pt x="2066727" y="123462"/>
                </a:lnTo>
                <a:lnTo>
                  <a:pt x="2085688" y="113746"/>
                </a:lnTo>
                <a:lnTo>
                  <a:pt x="2104649" y="104420"/>
                </a:lnTo>
                <a:lnTo>
                  <a:pt x="2123609" y="95484"/>
                </a:lnTo>
                <a:lnTo>
                  <a:pt x="2142570" y="86941"/>
                </a:lnTo>
                <a:lnTo>
                  <a:pt x="2161531" y="78791"/>
                </a:lnTo>
                <a:lnTo>
                  <a:pt x="2180492" y="71037"/>
                </a:lnTo>
                <a:lnTo>
                  <a:pt x="2199453" y="63679"/>
                </a:lnTo>
                <a:lnTo>
                  <a:pt x="2218413" y="56718"/>
                </a:lnTo>
                <a:lnTo>
                  <a:pt x="2237374" y="50155"/>
                </a:lnTo>
                <a:lnTo>
                  <a:pt x="2256335" y="43992"/>
                </a:lnTo>
                <a:lnTo>
                  <a:pt x="2275296" y="38229"/>
                </a:lnTo>
                <a:lnTo>
                  <a:pt x="2294257" y="32868"/>
                </a:lnTo>
                <a:lnTo>
                  <a:pt x="2313217" y="27909"/>
                </a:lnTo>
                <a:lnTo>
                  <a:pt x="2332178" y="23353"/>
                </a:lnTo>
                <a:lnTo>
                  <a:pt x="2351139" y="19200"/>
                </a:lnTo>
                <a:lnTo>
                  <a:pt x="2370100" y="15452"/>
                </a:lnTo>
                <a:lnTo>
                  <a:pt x="2389061" y="12110"/>
                </a:lnTo>
                <a:lnTo>
                  <a:pt x="2408021" y="9172"/>
                </a:lnTo>
                <a:lnTo>
                  <a:pt x="2426982" y="6641"/>
                </a:lnTo>
                <a:lnTo>
                  <a:pt x="2445943" y="4516"/>
                </a:lnTo>
                <a:lnTo>
                  <a:pt x="2464904" y="2799"/>
                </a:lnTo>
                <a:lnTo>
                  <a:pt x="2483865" y="1488"/>
                </a:lnTo>
                <a:lnTo>
                  <a:pt x="2502825" y="584"/>
                </a:lnTo>
                <a:lnTo>
                  <a:pt x="2521786" y="88"/>
                </a:lnTo>
                <a:lnTo>
                  <a:pt x="2540747" y="0"/>
                </a:lnTo>
                <a:lnTo>
                  <a:pt x="2559708" y="319"/>
                </a:lnTo>
                <a:lnTo>
                  <a:pt x="2578669" y="1046"/>
                </a:lnTo>
                <a:lnTo>
                  <a:pt x="2597629" y="2180"/>
                </a:lnTo>
                <a:lnTo>
                  <a:pt x="2616590" y="3721"/>
                </a:lnTo>
                <a:lnTo>
                  <a:pt x="2635551" y="5670"/>
                </a:lnTo>
                <a:lnTo>
                  <a:pt x="2654512" y="8025"/>
                </a:lnTo>
                <a:lnTo>
                  <a:pt x="2673473" y="10786"/>
                </a:lnTo>
                <a:lnTo>
                  <a:pt x="2692433" y="13952"/>
                </a:lnTo>
                <a:lnTo>
                  <a:pt x="2711394" y="17524"/>
                </a:lnTo>
                <a:lnTo>
                  <a:pt x="2730355" y="21501"/>
                </a:lnTo>
                <a:lnTo>
                  <a:pt x="2749316" y="25882"/>
                </a:lnTo>
                <a:lnTo>
                  <a:pt x="2768277" y="30665"/>
                </a:lnTo>
                <a:lnTo>
                  <a:pt x="2787237" y="35851"/>
                </a:lnTo>
                <a:lnTo>
                  <a:pt x="2806198" y="41438"/>
                </a:lnTo>
                <a:lnTo>
                  <a:pt x="2825159" y="47426"/>
                </a:lnTo>
                <a:lnTo>
                  <a:pt x="2844120" y="53812"/>
                </a:lnTo>
                <a:lnTo>
                  <a:pt x="2863081" y="60597"/>
                </a:lnTo>
                <a:lnTo>
                  <a:pt x="2882042" y="67779"/>
                </a:lnTo>
                <a:lnTo>
                  <a:pt x="2901002" y="75357"/>
                </a:lnTo>
                <a:lnTo>
                  <a:pt x="2919963" y="83329"/>
                </a:lnTo>
                <a:lnTo>
                  <a:pt x="2938924" y="91693"/>
                </a:lnTo>
                <a:lnTo>
                  <a:pt x="2957885" y="100449"/>
                </a:lnTo>
                <a:lnTo>
                  <a:pt x="2976846" y="109595"/>
                </a:lnTo>
                <a:lnTo>
                  <a:pt x="2995806" y="119128"/>
                </a:lnTo>
                <a:lnTo>
                  <a:pt x="3014767" y="129048"/>
                </a:lnTo>
                <a:lnTo>
                  <a:pt x="3033728" y="139352"/>
                </a:lnTo>
                <a:lnTo>
                  <a:pt x="3052689" y="150038"/>
                </a:lnTo>
                <a:lnTo>
                  <a:pt x="3071650" y="161105"/>
                </a:lnTo>
                <a:lnTo>
                  <a:pt x="3090610" y="172550"/>
                </a:lnTo>
                <a:lnTo>
                  <a:pt x="3109571" y="184371"/>
                </a:lnTo>
                <a:lnTo>
                  <a:pt x="3128532" y="196567"/>
                </a:lnTo>
                <a:lnTo>
                  <a:pt x="3147493" y="209133"/>
                </a:lnTo>
                <a:lnTo>
                  <a:pt x="3166454" y="222069"/>
                </a:lnTo>
                <a:lnTo>
                  <a:pt x="3185414" y="235371"/>
                </a:lnTo>
                <a:lnTo>
                  <a:pt x="3204375" y="249037"/>
                </a:lnTo>
                <a:lnTo>
                  <a:pt x="3223336" y="263065"/>
                </a:lnTo>
                <a:lnTo>
                  <a:pt x="3242297" y="277451"/>
                </a:lnTo>
                <a:lnTo>
                  <a:pt x="3261258" y="292192"/>
                </a:lnTo>
                <a:lnTo>
                  <a:pt x="3280218" y="307287"/>
                </a:lnTo>
                <a:lnTo>
                  <a:pt x="3299179" y="322731"/>
                </a:lnTo>
                <a:lnTo>
                  <a:pt x="3318140" y="338521"/>
                </a:lnTo>
                <a:lnTo>
                  <a:pt x="3337101" y="354655"/>
                </a:lnTo>
                <a:lnTo>
                  <a:pt x="3356062" y="371129"/>
                </a:lnTo>
                <a:lnTo>
                  <a:pt x="3375022" y="387939"/>
                </a:lnTo>
                <a:lnTo>
                  <a:pt x="3393983" y="405082"/>
                </a:lnTo>
                <a:lnTo>
                  <a:pt x="3412944" y="422555"/>
                </a:lnTo>
                <a:lnTo>
                  <a:pt x="3431905" y="440354"/>
                </a:lnTo>
                <a:lnTo>
                  <a:pt x="3450866" y="458475"/>
                </a:lnTo>
                <a:lnTo>
                  <a:pt x="3469826" y="476915"/>
                </a:lnTo>
                <a:lnTo>
                  <a:pt x="3488787" y="495668"/>
                </a:lnTo>
                <a:lnTo>
                  <a:pt x="3507748" y="514732"/>
                </a:lnTo>
                <a:lnTo>
                  <a:pt x="3526709" y="534103"/>
                </a:lnTo>
                <a:lnTo>
                  <a:pt x="3545670" y="553775"/>
                </a:lnTo>
                <a:lnTo>
                  <a:pt x="3564630" y="573744"/>
                </a:lnTo>
                <a:lnTo>
                  <a:pt x="3583591" y="594007"/>
                </a:lnTo>
                <a:lnTo>
                  <a:pt x="3602552" y="614559"/>
                </a:lnTo>
                <a:lnTo>
                  <a:pt x="3621513" y="635394"/>
                </a:lnTo>
                <a:lnTo>
                  <a:pt x="3640474" y="656509"/>
                </a:lnTo>
                <a:lnTo>
                  <a:pt x="3659434" y="677899"/>
                </a:lnTo>
                <a:lnTo>
                  <a:pt x="3678395" y="699558"/>
                </a:lnTo>
                <a:lnTo>
                  <a:pt x="3697356" y="721481"/>
                </a:lnTo>
                <a:lnTo>
                  <a:pt x="3716317" y="743665"/>
                </a:lnTo>
                <a:lnTo>
                  <a:pt x="3735278" y="766102"/>
                </a:lnTo>
                <a:lnTo>
                  <a:pt x="3754238" y="788789"/>
                </a:lnTo>
                <a:lnTo>
                  <a:pt x="3773199" y="811719"/>
                </a:lnTo>
                <a:lnTo>
                  <a:pt x="3792160" y="834888"/>
                </a:lnTo>
                <a:lnTo>
                  <a:pt x="3811121" y="858289"/>
                </a:lnTo>
                <a:lnTo>
                  <a:pt x="3830082" y="881917"/>
                </a:lnTo>
                <a:lnTo>
                  <a:pt x="3849042" y="905766"/>
                </a:lnTo>
                <a:lnTo>
                  <a:pt x="3868003" y="929830"/>
                </a:lnTo>
                <a:lnTo>
                  <a:pt x="3886964" y="954103"/>
                </a:lnTo>
                <a:lnTo>
                  <a:pt x="3905925" y="978579"/>
                </a:lnTo>
                <a:lnTo>
                  <a:pt x="3924886" y="1003251"/>
                </a:lnTo>
                <a:lnTo>
                  <a:pt x="3943846" y="1028114"/>
                </a:lnTo>
                <a:lnTo>
                  <a:pt x="3962807" y="1053161"/>
                </a:lnTo>
                <a:lnTo>
                  <a:pt x="3981768" y="1078386"/>
                </a:lnTo>
                <a:lnTo>
                  <a:pt x="4000729" y="1103781"/>
                </a:lnTo>
                <a:lnTo>
                  <a:pt x="4019690" y="1129340"/>
                </a:lnTo>
                <a:lnTo>
                  <a:pt x="4038650" y="1155057"/>
                </a:lnTo>
                <a:lnTo>
                  <a:pt x="4057611" y="1180923"/>
                </a:lnTo>
                <a:lnTo>
                  <a:pt x="4076572" y="1206933"/>
                </a:lnTo>
                <a:lnTo>
                  <a:pt x="4095533" y="1233079"/>
                </a:lnTo>
                <a:lnTo>
                  <a:pt x="4114494" y="1259353"/>
                </a:lnTo>
                <a:lnTo>
                  <a:pt x="4133454" y="1285748"/>
                </a:lnTo>
                <a:lnTo>
                  <a:pt x="4152415" y="1312257"/>
                </a:lnTo>
                <a:lnTo>
                  <a:pt x="4171376" y="1338872"/>
                </a:lnTo>
                <a:lnTo>
                  <a:pt x="4190337" y="1365585"/>
                </a:lnTo>
                <a:lnTo>
                  <a:pt x="4209298" y="1392389"/>
                </a:lnTo>
                <a:lnTo>
                  <a:pt x="4228258" y="1419275"/>
                </a:lnTo>
                <a:lnTo>
                  <a:pt x="4247219" y="1446235"/>
                </a:lnTo>
                <a:lnTo>
                  <a:pt x="4266180" y="1473262"/>
                </a:lnTo>
                <a:lnTo>
                  <a:pt x="4285141" y="1500346"/>
                </a:lnTo>
                <a:lnTo>
                  <a:pt x="4304102" y="1527480"/>
                </a:lnTo>
                <a:lnTo>
                  <a:pt x="4323063" y="1554655"/>
                </a:lnTo>
                <a:lnTo>
                  <a:pt x="4342023" y="1581862"/>
                </a:lnTo>
                <a:lnTo>
                  <a:pt x="4360984" y="1609092"/>
                </a:lnTo>
                <a:lnTo>
                  <a:pt x="4379945" y="1636336"/>
                </a:lnTo>
                <a:lnTo>
                  <a:pt x="4398906" y="1663587"/>
                </a:lnTo>
                <a:lnTo>
                  <a:pt x="4417867" y="1690833"/>
                </a:lnTo>
                <a:lnTo>
                  <a:pt x="4436827" y="1718067"/>
                </a:lnTo>
                <a:lnTo>
                  <a:pt x="4455788" y="1745278"/>
                </a:lnTo>
                <a:lnTo>
                  <a:pt x="4474749" y="1772458"/>
                </a:lnTo>
                <a:lnTo>
                  <a:pt x="4493710" y="1799596"/>
                </a:lnTo>
                <a:lnTo>
                  <a:pt x="4512671" y="1826684"/>
                </a:lnTo>
                <a:lnTo>
                  <a:pt x="4531631" y="1853710"/>
                </a:lnTo>
                <a:lnTo>
                  <a:pt x="4550592" y="1880665"/>
                </a:lnTo>
                <a:lnTo>
                  <a:pt x="4569553" y="1907540"/>
                </a:lnTo>
                <a:lnTo>
                  <a:pt x="4588514" y="1934323"/>
                </a:lnTo>
                <a:lnTo>
                  <a:pt x="4607475" y="1961005"/>
                </a:lnTo>
                <a:lnTo>
                  <a:pt x="4626435" y="1987574"/>
                </a:lnTo>
                <a:lnTo>
                  <a:pt x="4645396" y="2014021"/>
                </a:lnTo>
                <a:lnTo>
                  <a:pt x="4664357" y="2040335"/>
                </a:lnTo>
                <a:lnTo>
                  <a:pt x="4683318" y="2066504"/>
                </a:lnTo>
                <a:lnTo>
                  <a:pt x="4702279" y="2092518"/>
                </a:lnTo>
                <a:lnTo>
                  <a:pt x="4721239" y="2118366"/>
                </a:lnTo>
                <a:lnTo>
                  <a:pt x="4740200" y="2144037"/>
                </a:lnTo>
                <a:lnTo>
                  <a:pt x="4759161" y="2169519"/>
                </a:lnTo>
                <a:lnTo>
                  <a:pt x="4778122" y="2194800"/>
                </a:lnTo>
                <a:lnTo>
                  <a:pt x="4797083" y="2219870"/>
                </a:lnTo>
                <a:lnTo>
                  <a:pt x="4816043" y="2244716"/>
                </a:lnTo>
                <a:lnTo>
                  <a:pt x="4835004" y="2269326"/>
                </a:lnTo>
                <a:lnTo>
                  <a:pt x="4853965" y="2293690"/>
                </a:lnTo>
                <a:lnTo>
                  <a:pt x="4872926" y="2317793"/>
                </a:lnTo>
                <a:lnTo>
                  <a:pt x="4891887" y="2341625"/>
                </a:lnTo>
                <a:lnTo>
                  <a:pt x="4910847" y="2365172"/>
                </a:lnTo>
                <a:lnTo>
                  <a:pt x="4929808" y="2388423"/>
                </a:lnTo>
                <a:lnTo>
                  <a:pt x="4948769" y="2411364"/>
                </a:lnTo>
                <a:lnTo>
                  <a:pt x="4967730" y="2433984"/>
                </a:lnTo>
                <a:lnTo>
                  <a:pt x="4986691" y="2456268"/>
                </a:lnTo>
                <a:lnTo>
                  <a:pt x="5005651" y="2478204"/>
                </a:lnTo>
                <a:lnTo>
                  <a:pt x="5024612" y="2499779"/>
                </a:lnTo>
                <a:lnTo>
                  <a:pt x="5043573" y="2520979"/>
                </a:lnTo>
                <a:lnTo>
                  <a:pt x="5062534" y="2541791"/>
                </a:lnTo>
                <a:lnTo>
                  <a:pt x="5081495" y="2562201"/>
                </a:lnTo>
                <a:lnTo>
                  <a:pt x="5100455" y="2582196"/>
                </a:lnTo>
                <a:lnTo>
                  <a:pt x="5119416" y="2601762"/>
                </a:lnTo>
                <a:lnTo>
                  <a:pt x="5138377" y="2620884"/>
                </a:lnTo>
                <a:lnTo>
                  <a:pt x="5157338" y="2639549"/>
                </a:lnTo>
                <a:lnTo>
                  <a:pt x="5176299" y="2657743"/>
                </a:lnTo>
                <a:lnTo>
                  <a:pt x="5195259" y="2675450"/>
                </a:lnTo>
                <a:lnTo>
                  <a:pt x="5214220" y="2692657"/>
                </a:lnTo>
                <a:lnTo>
                  <a:pt x="5233181" y="2709348"/>
                </a:lnTo>
                <a:lnTo>
                  <a:pt x="5252142" y="2725509"/>
                </a:lnTo>
                <a:lnTo>
                  <a:pt x="5271103" y="2741125"/>
                </a:lnTo>
                <a:lnTo>
                  <a:pt x="5290063" y="2756181"/>
                </a:lnTo>
                <a:lnTo>
                  <a:pt x="5309024" y="2770661"/>
                </a:lnTo>
                <a:lnTo>
                  <a:pt x="5327985" y="2784551"/>
                </a:lnTo>
                <a:lnTo>
                  <a:pt x="5346946" y="2797834"/>
                </a:lnTo>
                <a:lnTo>
                  <a:pt x="5365907" y="2810494"/>
                </a:lnTo>
                <a:lnTo>
                  <a:pt x="5384867" y="2822517"/>
                </a:lnTo>
                <a:lnTo>
                  <a:pt x="5403828" y="2833886"/>
                </a:lnTo>
                <a:lnTo>
                  <a:pt x="5422789" y="2844584"/>
                </a:lnTo>
                <a:lnTo>
                  <a:pt x="5441750" y="2854596"/>
                </a:lnTo>
                <a:lnTo>
                  <a:pt x="5460711" y="2863906"/>
                </a:lnTo>
                <a:lnTo>
                  <a:pt x="5479671" y="2872496"/>
                </a:lnTo>
                <a:lnTo>
                  <a:pt x="5498632" y="2880350"/>
                </a:lnTo>
                <a:lnTo>
                  <a:pt x="5517593" y="2887451"/>
                </a:lnTo>
                <a:lnTo>
                  <a:pt x="5536554" y="2893782"/>
                </a:lnTo>
                <a:lnTo>
                  <a:pt x="5555515" y="2899326"/>
                </a:lnTo>
                <a:lnTo>
                  <a:pt x="5574475" y="2904065"/>
                </a:lnTo>
                <a:lnTo>
                  <a:pt x="5593436" y="2907983"/>
                </a:lnTo>
                <a:lnTo>
                  <a:pt x="5612397" y="2911061"/>
                </a:lnTo>
                <a:lnTo>
                  <a:pt x="5631358" y="2913282"/>
                </a:lnTo>
                <a:lnTo>
                  <a:pt x="5650319" y="2914628"/>
                </a:lnTo>
                <a:lnTo>
                  <a:pt x="5669280" y="2915081"/>
                </a:lnTo>
                <a:lnTo>
                  <a:pt x="5669280" y="2915081"/>
                </a:lnTo>
                <a:lnTo>
                  <a:pt x="5650319" y="2915081"/>
                </a:lnTo>
                <a:lnTo>
                  <a:pt x="5631358" y="2915081"/>
                </a:lnTo>
                <a:lnTo>
                  <a:pt x="5612397" y="2915081"/>
                </a:lnTo>
                <a:lnTo>
                  <a:pt x="5593436" y="2915081"/>
                </a:lnTo>
                <a:lnTo>
                  <a:pt x="5574475" y="2915081"/>
                </a:lnTo>
                <a:lnTo>
                  <a:pt x="5555515" y="2915081"/>
                </a:lnTo>
                <a:lnTo>
                  <a:pt x="5536554" y="2915081"/>
                </a:lnTo>
                <a:lnTo>
                  <a:pt x="5517593" y="2915081"/>
                </a:lnTo>
                <a:lnTo>
                  <a:pt x="5498632" y="2915081"/>
                </a:lnTo>
                <a:lnTo>
                  <a:pt x="5479671" y="2915081"/>
                </a:lnTo>
                <a:lnTo>
                  <a:pt x="5460711" y="2915081"/>
                </a:lnTo>
                <a:lnTo>
                  <a:pt x="5441750" y="2915081"/>
                </a:lnTo>
                <a:lnTo>
                  <a:pt x="5422789" y="2915081"/>
                </a:lnTo>
                <a:lnTo>
                  <a:pt x="5403828" y="2915081"/>
                </a:lnTo>
                <a:lnTo>
                  <a:pt x="5384867" y="2915081"/>
                </a:lnTo>
                <a:lnTo>
                  <a:pt x="5365907" y="2915081"/>
                </a:lnTo>
                <a:lnTo>
                  <a:pt x="5346946" y="2915081"/>
                </a:lnTo>
                <a:lnTo>
                  <a:pt x="5327985" y="2915081"/>
                </a:lnTo>
                <a:lnTo>
                  <a:pt x="5309024" y="2915081"/>
                </a:lnTo>
                <a:lnTo>
                  <a:pt x="5290063" y="2915081"/>
                </a:lnTo>
                <a:lnTo>
                  <a:pt x="5271103" y="2915081"/>
                </a:lnTo>
                <a:lnTo>
                  <a:pt x="5252142" y="2915081"/>
                </a:lnTo>
                <a:lnTo>
                  <a:pt x="5233181" y="2915081"/>
                </a:lnTo>
                <a:lnTo>
                  <a:pt x="5214220" y="2915081"/>
                </a:lnTo>
                <a:lnTo>
                  <a:pt x="5195259" y="2915081"/>
                </a:lnTo>
                <a:lnTo>
                  <a:pt x="5176299" y="2915081"/>
                </a:lnTo>
                <a:lnTo>
                  <a:pt x="5157338" y="2915081"/>
                </a:lnTo>
                <a:lnTo>
                  <a:pt x="5138377" y="2915081"/>
                </a:lnTo>
                <a:lnTo>
                  <a:pt x="5119416" y="2915081"/>
                </a:lnTo>
                <a:lnTo>
                  <a:pt x="5100455" y="2915081"/>
                </a:lnTo>
                <a:lnTo>
                  <a:pt x="5081495" y="2915081"/>
                </a:lnTo>
                <a:lnTo>
                  <a:pt x="5062534" y="2915081"/>
                </a:lnTo>
                <a:lnTo>
                  <a:pt x="5043573" y="2915081"/>
                </a:lnTo>
                <a:lnTo>
                  <a:pt x="5024612" y="2915081"/>
                </a:lnTo>
                <a:lnTo>
                  <a:pt x="5005651" y="2915081"/>
                </a:lnTo>
                <a:lnTo>
                  <a:pt x="4986691" y="2915081"/>
                </a:lnTo>
                <a:lnTo>
                  <a:pt x="4967730" y="2915081"/>
                </a:lnTo>
                <a:lnTo>
                  <a:pt x="4948769" y="2915081"/>
                </a:lnTo>
                <a:lnTo>
                  <a:pt x="4929808" y="2915081"/>
                </a:lnTo>
                <a:lnTo>
                  <a:pt x="4910847" y="2915081"/>
                </a:lnTo>
                <a:lnTo>
                  <a:pt x="4891887" y="2915081"/>
                </a:lnTo>
                <a:lnTo>
                  <a:pt x="4872926" y="2915081"/>
                </a:lnTo>
                <a:lnTo>
                  <a:pt x="4853965" y="2915081"/>
                </a:lnTo>
                <a:lnTo>
                  <a:pt x="4835004" y="2915081"/>
                </a:lnTo>
                <a:lnTo>
                  <a:pt x="4816043" y="2915081"/>
                </a:lnTo>
                <a:lnTo>
                  <a:pt x="4797083" y="2915081"/>
                </a:lnTo>
                <a:lnTo>
                  <a:pt x="4778122" y="2915081"/>
                </a:lnTo>
                <a:lnTo>
                  <a:pt x="4759161" y="2915081"/>
                </a:lnTo>
                <a:lnTo>
                  <a:pt x="4740200" y="2915081"/>
                </a:lnTo>
                <a:lnTo>
                  <a:pt x="4721239" y="2915081"/>
                </a:lnTo>
                <a:lnTo>
                  <a:pt x="4702279" y="2915081"/>
                </a:lnTo>
                <a:lnTo>
                  <a:pt x="4683318" y="2915081"/>
                </a:lnTo>
                <a:lnTo>
                  <a:pt x="4664357" y="2915081"/>
                </a:lnTo>
                <a:lnTo>
                  <a:pt x="4645396" y="2915081"/>
                </a:lnTo>
                <a:lnTo>
                  <a:pt x="4626435" y="2915081"/>
                </a:lnTo>
                <a:lnTo>
                  <a:pt x="4607475" y="2915081"/>
                </a:lnTo>
                <a:lnTo>
                  <a:pt x="4588514" y="2915081"/>
                </a:lnTo>
                <a:lnTo>
                  <a:pt x="4569553" y="2915081"/>
                </a:lnTo>
                <a:lnTo>
                  <a:pt x="4550592" y="2915081"/>
                </a:lnTo>
                <a:lnTo>
                  <a:pt x="4531631" y="2915081"/>
                </a:lnTo>
                <a:lnTo>
                  <a:pt x="4512671" y="2915081"/>
                </a:lnTo>
                <a:lnTo>
                  <a:pt x="4493710" y="2915081"/>
                </a:lnTo>
                <a:lnTo>
                  <a:pt x="4474749" y="2915081"/>
                </a:lnTo>
                <a:lnTo>
                  <a:pt x="4455788" y="2915081"/>
                </a:lnTo>
                <a:lnTo>
                  <a:pt x="4436827" y="2915081"/>
                </a:lnTo>
                <a:lnTo>
                  <a:pt x="4417867" y="2915081"/>
                </a:lnTo>
                <a:lnTo>
                  <a:pt x="4398906" y="2915081"/>
                </a:lnTo>
                <a:lnTo>
                  <a:pt x="4379945" y="2915081"/>
                </a:lnTo>
                <a:lnTo>
                  <a:pt x="4360984" y="2915081"/>
                </a:lnTo>
                <a:lnTo>
                  <a:pt x="4342023" y="2915081"/>
                </a:lnTo>
                <a:lnTo>
                  <a:pt x="4323063" y="2915081"/>
                </a:lnTo>
                <a:lnTo>
                  <a:pt x="4304102" y="2915081"/>
                </a:lnTo>
                <a:lnTo>
                  <a:pt x="4285141" y="2915081"/>
                </a:lnTo>
                <a:lnTo>
                  <a:pt x="4266180" y="2915081"/>
                </a:lnTo>
                <a:lnTo>
                  <a:pt x="4247219" y="2915081"/>
                </a:lnTo>
                <a:lnTo>
                  <a:pt x="4228258" y="2915081"/>
                </a:lnTo>
                <a:lnTo>
                  <a:pt x="4209298" y="2915081"/>
                </a:lnTo>
                <a:lnTo>
                  <a:pt x="4190337" y="2915081"/>
                </a:lnTo>
                <a:lnTo>
                  <a:pt x="4171376" y="2915081"/>
                </a:lnTo>
                <a:lnTo>
                  <a:pt x="4152415" y="2915081"/>
                </a:lnTo>
                <a:lnTo>
                  <a:pt x="4133454" y="2915081"/>
                </a:lnTo>
                <a:lnTo>
                  <a:pt x="4114494" y="2915081"/>
                </a:lnTo>
                <a:lnTo>
                  <a:pt x="4095533" y="2915081"/>
                </a:lnTo>
                <a:lnTo>
                  <a:pt x="4076572" y="2915081"/>
                </a:lnTo>
                <a:lnTo>
                  <a:pt x="4057611" y="2915081"/>
                </a:lnTo>
                <a:lnTo>
                  <a:pt x="4038650" y="2915081"/>
                </a:lnTo>
                <a:lnTo>
                  <a:pt x="4019690" y="2915081"/>
                </a:lnTo>
                <a:lnTo>
                  <a:pt x="4000729" y="2915081"/>
                </a:lnTo>
                <a:lnTo>
                  <a:pt x="3981768" y="2915081"/>
                </a:lnTo>
                <a:lnTo>
                  <a:pt x="3962807" y="2915081"/>
                </a:lnTo>
                <a:lnTo>
                  <a:pt x="3943846" y="2915081"/>
                </a:lnTo>
                <a:lnTo>
                  <a:pt x="3924886" y="2915081"/>
                </a:lnTo>
                <a:lnTo>
                  <a:pt x="3905925" y="2915081"/>
                </a:lnTo>
                <a:lnTo>
                  <a:pt x="3886964" y="2915081"/>
                </a:lnTo>
                <a:lnTo>
                  <a:pt x="3868003" y="2915081"/>
                </a:lnTo>
                <a:lnTo>
                  <a:pt x="3849042" y="2915081"/>
                </a:lnTo>
                <a:lnTo>
                  <a:pt x="3830082" y="2915081"/>
                </a:lnTo>
                <a:lnTo>
                  <a:pt x="3811121" y="2915081"/>
                </a:lnTo>
                <a:lnTo>
                  <a:pt x="3792160" y="2915081"/>
                </a:lnTo>
                <a:lnTo>
                  <a:pt x="3773199" y="2915081"/>
                </a:lnTo>
                <a:lnTo>
                  <a:pt x="3754238" y="2915081"/>
                </a:lnTo>
                <a:lnTo>
                  <a:pt x="3735278" y="2915081"/>
                </a:lnTo>
                <a:lnTo>
                  <a:pt x="3716317" y="2915081"/>
                </a:lnTo>
                <a:lnTo>
                  <a:pt x="3697356" y="2915081"/>
                </a:lnTo>
                <a:lnTo>
                  <a:pt x="3678395" y="2915081"/>
                </a:lnTo>
                <a:lnTo>
                  <a:pt x="3659434" y="2915081"/>
                </a:lnTo>
                <a:lnTo>
                  <a:pt x="3640474" y="2915081"/>
                </a:lnTo>
                <a:lnTo>
                  <a:pt x="3621513" y="2915081"/>
                </a:lnTo>
                <a:lnTo>
                  <a:pt x="3602552" y="2915081"/>
                </a:lnTo>
                <a:lnTo>
                  <a:pt x="3583591" y="2915081"/>
                </a:lnTo>
                <a:lnTo>
                  <a:pt x="3564630" y="2915081"/>
                </a:lnTo>
                <a:lnTo>
                  <a:pt x="3545670" y="2915081"/>
                </a:lnTo>
                <a:lnTo>
                  <a:pt x="3526709" y="2915081"/>
                </a:lnTo>
                <a:lnTo>
                  <a:pt x="3507748" y="2915081"/>
                </a:lnTo>
                <a:lnTo>
                  <a:pt x="3488787" y="2915081"/>
                </a:lnTo>
                <a:lnTo>
                  <a:pt x="3469826" y="2915081"/>
                </a:lnTo>
                <a:lnTo>
                  <a:pt x="3450866" y="2915081"/>
                </a:lnTo>
                <a:lnTo>
                  <a:pt x="3431905" y="2915081"/>
                </a:lnTo>
                <a:lnTo>
                  <a:pt x="3412944" y="2915081"/>
                </a:lnTo>
                <a:lnTo>
                  <a:pt x="3393983" y="2915081"/>
                </a:lnTo>
                <a:lnTo>
                  <a:pt x="3375022" y="2915081"/>
                </a:lnTo>
                <a:lnTo>
                  <a:pt x="3356062" y="2915081"/>
                </a:lnTo>
                <a:lnTo>
                  <a:pt x="3337101" y="2915081"/>
                </a:lnTo>
                <a:lnTo>
                  <a:pt x="3318140" y="2915081"/>
                </a:lnTo>
                <a:lnTo>
                  <a:pt x="3299179" y="2915081"/>
                </a:lnTo>
                <a:lnTo>
                  <a:pt x="3280218" y="2915081"/>
                </a:lnTo>
                <a:lnTo>
                  <a:pt x="3261258" y="2915081"/>
                </a:lnTo>
                <a:lnTo>
                  <a:pt x="3242297" y="2915081"/>
                </a:lnTo>
                <a:lnTo>
                  <a:pt x="3223336" y="2915081"/>
                </a:lnTo>
                <a:lnTo>
                  <a:pt x="3204375" y="2915081"/>
                </a:lnTo>
                <a:lnTo>
                  <a:pt x="3185414" y="2915081"/>
                </a:lnTo>
                <a:lnTo>
                  <a:pt x="3166454" y="2915081"/>
                </a:lnTo>
                <a:lnTo>
                  <a:pt x="3147493" y="2915081"/>
                </a:lnTo>
                <a:lnTo>
                  <a:pt x="3128532" y="2915081"/>
                </a:lnTo>
                <a:lnTo>
                  <a:pt x="3109571" y="2915081"/>
                </a:lnTo>
                <a:lnTo>
                  <a:pt x="3090610" y="2915081"/>
                </a:lnTo>
                <a:lnTo>
                  <a:pt x="3071650" y="2915081"/>
                </a:lnTo>
                <a:lnTo>
                  <a:pt x="3052689" y="2915081"/>
                </a:lnTo>
                <a:lnTo>
                  <a:pt x="3033728" y="2915081"/>
                </a:lnTo>
                <a:lnTo>
                  <a:pt x="3014767" y="2915081"/>
                </a:lnTo>
                <a:lnTo>
                  <a:pt x="2995806" y="2915081"/>
                </a:lnTo>
                <a:lnTo>
                  <a:pt x="2976846" y="2915081"/>
                </a:lnTo>
                <a:lnTo>
                  <a:pt x="2957885" y="2915081"/>
                </a:lnTo>
                <a:lnTo>
                  <a:pt x="2938924" y="2915081"/>
                </a:lnTo>
                <a:lnTo>
                  <a:pt x="2919963" y="2915081"/>
                </a:lnTo>
                <a:lnTo>
                  <a:pt x="2901002" y="2915081"/>
                </a:lnTo>
                <a:lnTo>
                  <a:pt x="2882042" y="2915081"/>
                </a:lnTo>
                <a:lnTo>
                  <a:pt x="2863081" y="2915081"/>
                </a:lnTo>
                <a:lnTo>
                  <a:pt x="2844120" y="2915081"/>
                </a:lnTo>
                <a:lnTo>
                  <a:pt x="2825159" y="2915081"/>
                </a:lnTo>
                <a:lnTo>
                  <a:pt x="2806198" y="2915081"/>
                </a:lnTo>
                <a:lnTo>
                  <a:pt x="2787237" y="2915081"/>
                </a:lnTo>
                <a:lnTo>
                  <a:pt x="2768277" y="2915081"/>
                </a:lnTo>
                <a:lnTo>
                  <a:pt x="2749316" y="2915081"/>
                </a:lnTo>
                <a:lnTo>
                  <a:pt x="2730355" y="2915081"/>
                </a:lnTo>
                <a:lnTo>
                  <a:pt x="2711394" y="2915081"/>
                </a:lnTo>
                <a:lnTo>
                  <a:pt x="2692433" y="2915081"/>
                </a:lnTo>
                <a:lnTo>
                  <a:pt x="2673473" y="2915081"/>
                </a:lnTo>
                <a:lnTo>
                  <a:pt x="2654512" y="2915081"/>
                </a:lnTo>
                <a:lnTo>
                  <a:pt x="2635551" y="2915081"/>
                </a:lnTo>
                <a:lnTo>
                  <a:pt x="2616590" y="2915081"/>
                </a:lnTo>
                <a:lnTo>
                  <a:pt x="2597629" y="2915081"/>
                </a:lnTo>
                <a:lnTo>
                  <a:pt x="2578669" y="2915081"/>
                </a:lnTo>
                <a:lnTo>
                  <a:pt x="2559708" y="2915081"/>
                </a:lnTo>
                <a:lnTo>
                  <a:pt x="2540747" y="2915081"/>
                </a:lnTo>
                <a:lnTo>
                  <a:pt x="2521786" y="2915081"/>
                </a:lnTo>
                <a:lnTo>
                  <a:pt x="2502825" y="2915081"/>
                </a:lnTo>
                <a:lnTo>
                  <a:pt x="2483865" y="2915081"/>
                </a:lnTo>
                <a:lnTo>
                  <a:pt x="2464904" y="2915081"/>
                </a:lnTo>
                <a:lnTo>
                  <a:pt x="2445943" y="2915081"/>
                </a:lnTo>
                <a:lnTo>
                  <a:pt x="2426982" y="2915081"/>
                </a:lnTo>
                <a:lnTo>
                  <a:pt x="2408021" y="2915081"/>
                </a:lnTo>
                <a:lnTo>
                  <a:pt x="2389061" y="2915081"/>
                </a:lnTo>
                <a:lnTo>
                  <a:pt x="2370100" y="2915081"/>
                </a:lnTo>
                <a:lnTo>
                  <a:pt x="2351139" y="2915081"/>
                </a:lnTo>
                <a:lnTo>
                  <a:pt x="2332178" y="2915081"/>
                </a:lnTo>
                <a:lnTo>
                  <a:pt x="2313217" y="2915081"/>
                </a:lnTo>
                <a:lnTo>
                  <a:pt x="2294257" y="2915081"/>
                </a:lnTo>
                <a:lnTo>
                  <a:pt x="2275296" y="2915081"/>
                </a:lnTo>
                <a:lnTo>
                  <a:pt x="2256335" y="2915081"/>
                </a:lnTo>
                <a:lnTo>
                  <a:pt x="2237374" y="2915081"/>
                </a:lnTo>
                <a:lnTo>
                  <a:pt x="2218413" y="2915081"/>
                </a:lnTo>
                <a:lnTo>
                  <a:pt x="2199453" y="2915081"/>
                </a:lnTo>
                <a:lnTo>
                  <a:pt x="2180492" y="2915081"/>
                </a:lnTo>
                <a:lnTo>
                  <a:pt x="2161531" y="2915081"/>
                </a:lnTo>
                <a:lnTo>
                  <a:pt x="2142570" y="2915081"/>
                </a:lnTo>
                <a:lnTo>
                  <a:pt x="2123609" y="2915081"/>
                </a:lnTo>
                <a:lnTo>
                  <a:pt x="2104649" y="2915081"/>
                </a:lnTo>
                <a:lnTo>
                  <a:pt x="2085688" y="2915081"/>
                </a:lnTo>
                <a:lnTo>
                  <a:pt x="2066727" y="2915081"/>
                </a:lnTo>
                <a:lnTo>
                  <a:pt x="2047766" y="2915081"/>
                </a:lnTo>
                <a:lnTo>
                  <a:pt x="2028805" y="2915081"/>
                </a:lnTo>
                <a:lnTo>
                  <a:pt x="2009845" y="2915081"/>
                </a:lnTo>
                <a:lnTo>
                  <a:pt x="1990884" y="2915081"/>
                </a:lnTo>
                <a:lnTo>
                  <a:pt x="1971923" y="2915081"/>
                </a:lnTo>
                <a:lnTo>
                  <a:pt x="1952962" y="2915081"/>
                </a:lnTo>
                <a:lnTo>
                  <a:pt x="1934001" y="2915081"/>
                </a:lnTo>
                <a:lnTo>
                  <a:pt x="1915041" y="2915081"/>
                </a:lnTo>
                <a:lnTo>
                  <a:pt x="1896080" y="2915081"/>
                </a:lnTo>
                <a:lnTo>
                  <a:pt x="1877119" y="2915081"/>
                </a:lnTo>
                <a:lnTo>
                  <a:pt x="1858158" y="2915081"/>
                </a:lnTo>
                <a:lnTo>
                  <a:pt x="1839197" y="2915081"/>
                </a:lnTo>
                <a:lnTo>
                  <a:pt x="1820237" y="2915081"/>
                </a:lnTo>
                <a:lnTo>
                  <a:pt x="1801276" y="2915081"/>
                </a:lnTo>
                <a:lnTo>
                  <a:pt x="1782315" y="2915081"/>
                </a:lnTo>
                <a:lnTo>
                  <a:pt x="1763354" y="2915081"/>
                </a:lnTo>
                <a:lnTo>
                  <a:pt x="1744393" y="2915081"/>
                </a:lnTo>
                <a:lnTo>
                  <a:pt x="1725433" y="2915081"/>
                </a:lnTo>
                <a:lnTo>
                  <a:pt x="1706472" y="2915081"/>
                </a:lnTo>
                <a:lnTo>
                  <a:pt x="1687511" y="2915081"/>
                </a:lnTo>
                <a:lnTo>
                  <a:pt x="1668550" y="2915081"/>
                </a:lnTo>
                <a:lnTo>
                  <a:pt x="1649589" y="2915081"/>
                </a:lnTo>
                <a:lnTo>
                  <a:pt x="1630629" y="2915081"/>
                </a:lnTo>
                <a:lnTo>
                  <a:pt x="1611668" y="2915081"/>
                </a:lnTo>
                <a:lnTo>
                  <a:pt x="1592707" y="2915081"/>
                </a:lnTo>
                <a:lnTo>
                  <a:pt x="1573746" y="2915081"/>
                </a:lnTo>
                <a:lnTo>
                  <a:pt x="1554785" y="2915081"/>
                </a:lnTo>
                <a:lnTo>
                  <a:pt x="1535825" y="2915081"/>
                </a:lnTo>
                <a:lnTo>
                  <a:pt x="1516864" y="2915081"/>
                </a:lnTo>
                <a:lnTo>
                  <a:pt x="1497903" y="2915081"/>
                </a:lnTo>
                <a:lnTo>
                  <a:pt x="1478942" y="2915081"/>
                </a:lnTo>
                <a:lnTo>
                  <a:pt x="1459981" y="2915081"/>
                </a:lnTo>
                <a:lnTo>
                  <a:pt x="1441021" y="2915081"/>
                </a:lnTo>
                <a:lnTo>
                  <a:pt x="1422060" y="2915081"/>
                </a:lnTo>
                <a:lnTo>
                  <a:pt x="1403099" y="2915081"/>
                </a:lnTo>
                <a:lnTo>
                  <a:pt x="1384138" y="2915081"/>
                </a:lnTo>
                <a:lnTo>
                  <a:pt x="1365177" y="2915081"/>
                </a:lnTo>
                <a:lnTo>
                  <a:pt x="1346216" y="2915081"/>
                </a:lnTo>
                <a:lnTo>
                  <a:pt x="1327256" y="2915081"/>
                </a:lnTo>
                <a:lnTo>
                  <a:pt x="1308295" y="2915081"/>
                </a:lnTo>
                <a:lnTo>
                  <a:pt x="1289334" y="2915081"/>
                </a:lnTo>
                <a:lnTo>
                  <a:pt x="1270373" y="2915081"/>
                </a:lnTo>
                <a:lnTo>
                  <a:pt x="1251412" y="2915081"/>
                </a:lnTo>
                <a:lnTo>
                  <a:pt x="1232452" y="2915081"/>
                </a:lnTo>
                <a:lnTo>
                  <a:pt x="1213491" y="2915081"/>
                </a:lnTo>
                <a:lnTo>
                  <a:pt x="1194530" y="2915081"/>
                </a:lnTo>
                <a:lnTo>
                  <a:pt x="1175569" y="2915081"/>
                </a:lnTo>
                <a:lnTo>
                  <a:pt x="1156608" y="2915081"/>
                </a:lnTo>
                <a:lnTo>
                  <a:pt x="1137648" y="2915081"/>
                </a:lnTo>
                <a:lnTo>
                  <a:pt x="1118687" y="2915081"/>
                </a:lnTo>
                <a:lnTo>
                  <a:pt x="1099726" y="2915081"/>
                </a:lnTo>
                <a:lnTo>
                  <a:pt x="1080765" y="2915081"/>
                </a:lnTo>
                <a:lnTo>
                  <a:pt x="1061804" y="2915081"/>
                </a:lnTo>
                <a:lnTo>
                  <a:pt x="1042844" y="2915081"/>
                </a:lnTo>
                <a:lnTo>
                  <a:pt x="1023883" y="2915081"/>
                </a:lnTo>
                <a:lnTo>
                  <a:pt x="1004922" y="2915081"/>
                </a:lnTo>
                <a:lnTo>
                  <a:pt x="985961" y="2915081"/>
                </a:lnTo>
                <a:lnTo>
                  <a:pt x="967000" y="2915081"/>
                </a:lnTo>
                <a:lnTo>
                  <a:pt x="948040" y="2915081"/>
                </a:lnTo>
                <a:lnTo>
                  <a:pt x="929079" y="2915081"/>
                </a:lnTo>
                <a:lnTo>
                  <a:pt x="910118" y="2915081"/>
                </a:lnTo>
                <a:lnTo>
                  <a:pt x="891157" y="2915081"/>
                </a:lnTo>
                <a:lnTo>
                  <a:pt x="872196" y="2915081"/>
                </a:lnTo>
                <a:lnTo>
                  <a:pt x="853236" y="2915081"/>
                </a:lnTo>
                <a:lnTo>
                  <a:pt x="834275" y="2915081"/>
                </a:lnTo>
                <a:lnTo>
                  <a:pt x="815314" y="2915081"/>
                </a:lnTo>
                <a:lnTo>
                  <a:pt x="796353" y="2915081"/>
                </a:lnTo>
                <a:lnTo>
                  <a:pt x="777392" y="2915081"/>
                </a:lnTo>
                <a:lnTo>
                  <a:pt x="758432" y="2915081"/>
                </a:lnTo>
                <a:lnTo>
                  <a:pt x="739471" y="2915081"/>
                </a:lnTo>
                <a:lnTo>
                  <a:pt x="720510" y="2915081"/>
                </a:lnTo>
                <a:lnTo>
                  <a:pt x="701549" y="2915081"/>
                </a:lnTo>
                <a:lnTo>
                  <a:pt x="682588" y="2915081"/>
                </a:lnTo>
                <a:lnTo>
                  <a:pt x="663628" y="2915081"/>
                </a:lnTo>
                <a:lnTo>
                  <a:pt x="644667" y="2915081"/>
                </a:lnTo>
                <a:lnTo>
                  <a:pt x="625706" y="2915081"/>
                </a:lnTo>
                <a:lnTo>
                  <a:pt x="606745" y="2915081"/>
                </a:lnTo>
                <a:lnTo>
                  <a:pt x="587784" y="2915081"/>
                </a:lnTo>
                <a:lnTo>
                  <a:pt x="568824" y="2915081"/>
                </a:lnTo>
                <a:lnTo>
                  <a:pt x="549863" y="2915081"/>
                </a:lnTo>
                <a:lnTo>
                  <a:pt x="530902" y="2915081"/>
                </a:lnTo>
                <a:lnTo>
                  <a:pt x="511941" y="2915081"/>
                </a:lnTo>
                <a:lnTo>
                  <a:pt x="492980" y="2915081"/>
                </a:lnTo>
                <a:lnTo>
                  <a:pt x="474020" y="2915081"/>
                </a:lnTo>
                <a:lnTo>
                  <a:pt x="455059" y="2915081"/>
                </a:lnTo>
                <a:lnTo>
                  <a:pt x="436098" y="2915081"/>
                </a:lnTo>
                <a:lnTo>
                  <a:pt x="417137" y="2915081"/>
                </a:lnTo>
                <a:lnTo>
                  <a:pt x="398176" y="2915081"/>
                </a:lnTo>
                <a:lnTo>
                  <a:pt x="379216" y="2915081"/>
                </a:lnTo>
                <a:lnTo>
                  <a:pt x="360255" y="2915081"/>
                </a:lnTo>
                <a:lnTo>
                  <a:pt x="341294" y="2915081"/>
                </a:lnTo>
                <a:lnTo>
                  <a:pt x="322333" y="2915081"/>
                </a:lnTo>
                <a:lnTo>
                  <a:pt x="303372" y="2915081"/>
                </a:lnTo>
                <a:lnTo>
                  <a:pt x="284412" y="2915081"/>
                </a:lnTo>
                <a:lnTo>
                  <a:pt x="265451" y="2915081"/>
                </a:lnTo>
                <a:lnTo>
                  <a:pt x="246490" y="2915081"/>
                </a:lnTo>
                <a:lnTo>
                  <a:pt x="227529" y="2915081"/>
                </a:lnTo>
                <a:lnTo>
                  <a:pt x="208568" y="2915081"/>
                </a:lnTo>
                <a:lnTo>
                  <a:pt x="189608" y="2915081"/>
                </a:lnTo>
                <a:lnTo>
                  <a:pt x="170647" y="2915081"/>
                </a:lnTo>
                <a:lnTo>
                  <a:pt x="151686" y="2915081"/>
                </a:lnTo>
                <a:lnTo>
                  <a:pt x="132725" y="2915081"/>
                </a:lnTo>
                <a:lnTo>
                  <a:pt x="113764" y="2915081"/>
                </a:lnTo>
                <a:lnTo>
                  <a:pt x="94804" y="2915081"/>
                </a:lnTo>
                <a:lnTo>
                  <a:pt x="75843" y="2915081"/>
                </a:lnTo>
                <a:lnTo>
                  <a:pt x="56882" y="2915081"/>
                </a:lnTo>
                <a:lnTo>
                  <a:pt x="37921" y="2915081"/>
                </a:lnTo>
                <a:lnTo>
                  <a:pt x="18960" y="2915081"/>
                </a:lnTo>
                <a:lnTo>
                  <a:pt x="0" y="2915081"/>
                </a:lnTo>
                <a:close/>
              </a:path>
            </a:pathLst>
          </a:custGeom>
          <a:solidFill>
            <a:srgbClr val="8EDBD4">
              <a:alpha val="30000"/>
            </a:srgbClr>
          </a:solidFill>
          <a:ln w="10160">
            <a:solidFill>
              <a:srgbClr val="8EDBD4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4-E18 polygon 28" descr="sci-ppt:o028"/>
          <p:cNvSpPr/>
          <p:nvPr/>
        </p:nvSpPr>
        <p:spPr>
          <a:xfrm>
            <a:off x="914400" y="2022679"/>
            <a:ext cx="5669280" cy="2915081"/>
          </a:xfrm>
          <a:custGeom>
            <a:avLst/>
            <a:gdLst/>
            <a:ahLst/>
            <a:cxnLst/>
            <a:rect l="l" t="t" r="r" b="b"/>
            <a:pathLst>
              <a:path w="5669280" h="2915081">
                <a:moveTo>
                  <a:pt x="0" y="2915081"/>
                </a:moveTo>
                <a:lnTo>
                  <a:pt x="37921" y="2846960"/>
                </a:lnTo>
                <a:lnTo>
                  <a:pt x="75843" y="2778876"/>
                </a:lnTo>
                <a:lnTo>
                  <a:pt x="113764" y="2710865"/>
                </a:lnTo>
                <a:lnTo>
                  <a:pt x="151686" y="2642964"/>
                </a:lnTo>
                <a:lnTo>
                  <a:pt x="189608" y="2575209"/>
                </a:lnTo>
                <a:lnTo>
                  <a:pt x="227529" y="2507637"/>
                </a:lnTo>
                <a:lnTo>
                  <a:pt x="265451" y="2440283"/>
                </a:lnTo>
                <a:lnTo>
                  <a:pt x="303372" y="2373184"/>
                </a:lnTo>
                <a:lnTo>
                  <a:pt x="341294" y="2306377"/>
                </a:lnTo>
                <a:lnTo>
                  <a:pt x="379216" y="2239897"/>
                </a:lnTo>
                <a:lnTo>
                  <a:pt x="417137" y="2173780"/>
                </a:lnTo>
                <a:lnTo>
                  <a:pt x="455059" y="2108062"/>
                </a:lnTo>
                <a:lnTo>
                  <a:pt x="492980" y="2042777"/>
                </a:lnTo>
                <a:lnTo>
                  <a:pt x="530902" y="1977963"/>
                </a:lnTo>
                <a:lnTo>
                  <a:pt x="568824" y="1913653"/>
                </a:lnTo>
                <a:lnTo>
                  <a:pt x="606745" y="1849882"/>
                </a:lnTo>
                <a:lnTo>
                  <a:pt x="644667" y="1786685"/>
                </a:lnTo>
                <a:lnTo>
                  <a:pt x="682588" y="1724097"/>
                </a:lnTo>
                <a:lnTo>
                  <a:pt x="720510" y="1662151"/>
                </a:lnTo>
                <a:lnTo>
                  <a:pt x="758432" y="1600882"/>
                </a:lnTo>
                <a:lnTo>
                  <a:pt x="796353" y="1540322"/>
                </a:lnTo>
                <a:lnTo>
                  <a:pt x="834275" y="1480505"/>
                </a:lnTo>
                <a:lnTo>
                  <a:pt x="872196" y="1421464"/>
                </a:lnTo>
                <a:lnTo>
                  <a:pt x="910118" y="1363231"/>
                </a:lnTo>
                <a:lnTo>
                  <a:pt x="948040" y="1305838"/>
                </a:lnTo>
                <a:lnTo>
                  <a:pt x="985961" y="1249316"/>
                </a:lnTo>
                <a:lnTo>
                  <a:pt x="1023883" y="1193698"/>
                </a:lnTo>
                <a:lnTo>
                  <a:pt x="1061804" y="1139013"/>
                </a:lnTo>
                <a:lnTo>
                  <a:pt x="1099726" y="1085293"/>
                </a:lnTo>
                <a:lnTo>
                  <a:pt x="1137648" y="1032567"/>
                </a:lnTo>
                <a:lnTo>
                  <a:pt x="1175569" y="980865"/>
                </a:lnTo>
                <a:lnTo>
                  <a:pt x="1213491" y="930215"/>
                </a:lnTo>
                <a:lnTo>
                  <a:pt x="1251412" y="880647"/>
                </a:lnTo>
                <a:lnTo>
                  <a:pt x="1289334" y="832187"/>
                </a:lnTo>
                <a:lnTo>
                  <a:pt x="1327256" y="784864"/>
                </a:lnTo>
                <a:lnTo>
                  <a:pt x="1365177" y="738704"/>
                </a:lnTo>
                <a:lnTo>
                  <a:pt x="1403099" y="693733"/>
                </a:lnTo>
                <a:lnTo>
                  <a:pt x="1441021" y="649978"/>
                </a:lnTo>
                <a:lnTo>
                  <a:pt x="1478942" y="607462"/>
                </a:lnTo>
                <a:lnTo>
                  <a:pt x="1516864" y="566212"/>
                </a:lnTo>
                <a:lnTo>
                  <a:pt x="1554785" y="526250"/>
                </a:lnTo>
                <a:lnTo>
                  <a:pt x="1592707" y="487600"/>
                </a:lnTo>
                <a:lnTo>
                  <a:pt x="1630629" y="450283"/>
                </a:lnTo>
                <a:lnTo>
                  <a:pt x="1668550" y="414323"/>
                </a:lnTo>
                <a:lnTo>
                  <a:pt x="1706472" y="379740"/>
                </a:lnTo>
                <a:lnTo>
                  <a:pt x="1744393" y="346554"/>
                </a:lnTo>
                <a:lnTo>
                  <a:pt x="1782315" y="314785"/>
                </a:lnTo>
                <a:lnTo>
                  <a:pt x="1820237" y="284452"/>
                </a:lnTo>
                <a:lnTo>
                  <a:pt x="1858158" y="255573"/>
                </a:lnTo>
                <a:lnTo>
                  <a:pt x="1896080" y="228165"/>
                </a:lnTo>
                <a:lnTo>
                  <a:pt x="1934001" y="202245"/>
                </a:lnTo>
                <a:lnTo>
                  <a:pt x="1971923" y="177829"/>
                </a:lnTo>
                <a:lnTo>
                  <a:pt x="2009845" y="154931"/>
                </a:lnTo>
                <a:lnTo>
                  <a:pt x="2047766" y="133566"/>
                </a:lnTo>
                <a:lnTo>
                  <a:pt x="2085688" y="113746"/>
                </a:lnTo>
                <a:lnTo>
                  <a:pt x="2123609" y="95484"/>
                </a:lnTo>
                <a:lnTo>
                  <a:pt x="2161531" y="78791"/>
                </a:lnTo>
                <a:lnTo>
                  <a:pt x="2199453" y="63679"/>
                </a:lnTo>
                <a:lnTo>
                  <a:pt x="2237374" y="50155"/>
                </a:lnTo>
                <a:lnTo>
                  <a:pt x="2275296" y="38229"/>
                </a:lnTo>
                <a:lnTo>
                  <a:pt x="2313217" y="27909"/>
                </a:lnTo>
                <a:lnTo>
                  <a:pt x="2351139" y="19200"/>
                </a:lnTo>
                <a:lnTo>
                  <a:pt x="2389061" y="12110"/>
                </a:lnTo>
                <a:lnTo>
                  <a:pt x="2426982" y="6641"/>
                </a:lnTo>
                <a:lnTo>
                  <a:pt x="2464904" y="2799"/>
                </a:lnTo>
                <a:lnTo>
                  <a:pt x="2502825" y="584"/>
                </a:lnTo>
                <a:lnTo>
                  <a:pt x="2540747" y="0"/>
                </a:lnTo>
                <a:lnTo>
                  <a:pt x="2578669" y="1046"/>
                </a:lnTo>
                <a:lnTo>
                  <a:pt x="2616590" y="3721"/>
                </a:lnTo>
                <a:lnTo>
                  <a:pt x="2654512" y="8025"/>
                </a:lnTo>
                <a:lnTo>
                  <a:pt x="2692433" y="13952"/>
                </a:lnTo>
                <a:lnTo>
                  <a:pt x="2730355" y="21501"/>
                </a:lnTo>
                <a:lnTo>
                  <a:pt x="2768277" y="30665"/>
                </a:lnTo>
                <a:lnTo>
                  <a:pt x="2806198" y="41438"/>
                </a:lnTo>
                <a:lnTo>
                  <a:pt x="2844120" y="53812"/>
                </a:lnTo>
                <a:lnTo>
                  <a:pt x="2882042" y="67779"/>
                </a:lnTo>
                <a:lnTo>
                  <a:pt x="2919963" y="83329"/>
                </a:lnTo>
                <a:lnTo>
                  <a:pt x="2957885" y="100449"/>
                </a:lnTo>
                <a:lnTo>
                  <a:pt x="2995806" y="119128"/>
                </a:lnTo>
                <a:lnTo>
                  <a:pt x="3033728" y="139352"/>
                </a:lnTo>
                <a:lnTo>
                  <a:pt x="3071650" y="161105"/>
                </a:lnTo>
                <a:lnTo>
                  <a:pt x="3109571" y="184371"/>
                </a:lnTo>
                <a:lnTo>
                  <a:pt x="3147493" y="209133"/>
                </a:lnTo>
                <a:lnTo>
                  <a:pt x="3185414" y="235371"/>
                </a:lnTo>
                <a:lnTo>
                  <a:pt x="3223336" y="263065"/>
                </a:lnTo>
                <a:lnTo>
                  <a:pt x="3261258" y="292192"/>
                </a:lnTo>
                <a:lnTo>
                  <a:pt x="3299179" y="322731"/>
                </a:lnTo>
                <a:lnTo>
                  <a:pt x="3337101" y="354655"/>
                </a:lnTo>
                <a:lnTo>
                  <a:pt x="3375022" y="387939"/>
                </a:lnTo>
                <a:lnTo>
                  <a:pt x="3412944" y="422555"/>
                </a:lnTo>
                <a:lnTo>
                  <a:pt x="3450866" y="458475"/>
                </a:lnTo>
                <a:lnTo>
                  <a:pt x="3488787" y="495668"/>
                </a:lnTo>
                <a:lnTo>
                  <a:pt x="3526709" y="534103"/>
                </a:lnTo>
                <a:lnTo>
                  <a:pt x="3564630" y="573744"/>
                </a:lnTo>
                <a:lnTo>
                  <a:pt x="3602552" y="614559"/>
                </a:lnTo>
                <a:lnTo>
                  <a:pt x="3640474" y="656509"/>
                </a:lnTo>
                <a:lnTo>
                  <a:pt x="3678395" y="699558"/>
                </a:lnTo>
                <a:lnTo>
                  <a:pt x="3716317" y="743665"/>
                </a:lnTo>
                <a:lnTo>
                  <a:pt x="3754238" y="788789"/>
                </a:lnTo>
                <a:lnTo>
                  <a:pt x="3792160" y="834888"/>
                </a:lnTo>
                <a:lnTo>
                  <a:pt x="3830082" y="881917"/>
                </a:lnTo>
                <a:lnTo>
                  <a:pt x="3868003" y="929830"/>
                </a:lnTo>
                <a:lnTo>
                  <a:pt x="3905925" y="978579"/>
                </a:lnTo>
                <a:lnTo>
                  <a:pt x="3943846" y="1028114"/>
                </a:lnTo>
                <a:lnTo>
                  <a:pt x="3981768" y="1078386"/>
                </a:lnTo>
                <a:lnTo>
                  <a:pt x="4019690" y="1129340"/>
                </a:lnTo>
                <a:lnTo>
                  <a:pt x="4057611" y="1180923"/>
                </a:lnTo>
                <a:lnTo>
                  <a:pt x="4095533" y="1233079"/>
                </a:lnTo>
                <a:lnTo>
                  <a:pt x="4133454" y="1285748"/>
                </a:lnTo>
                <a:lnTo>
                  <a:pt x="4171376" y="1338872"/>
                </a:lnTo>
                <a:lnTo>
                  <a:pt x="4209298" y="1392389"/>
                </a:lnTo>
                <a:lnTo>
                  <a:pt x="4247219" y="1446235"/>
                </a:lnTo>
                <a:lnTo>
                  <a:pt x="4285141" y="1500346"/>
                </a:lnTo>
                <a:lnTo>
                  <a:pt x="4323063" y="1554655"/>
                </a:lnTo>
                <a:lnTo>
                  <a:pt x="4360984" y="1609092"/>
                </a:lnTo>
                <a:lnTo>
                  <a:pt x="4398906" y="1663587"/>
                </a:lnTo>
                <a:lnTo>
                  <a:pt x="4436827" y="1718067"/>
                </a:lnTo>
                <a:lnTo>
                  <a:pt x="4474749" y="1772458"/>
                </a:lnTo>
                <a:lnTo>
                  <a:pt x="4512671" y="1826684"/>
                </a:lnTo>
                <a:lnTo>
                  <a:pt x="4550592" y="1880665"/>
                </a:lnTo>
                <a:lnTo>
                  <a:pt x="4588514" y="1934323"/>
                </a:lnTo>
                <a:lnTo>
                  <a:pt x="4626435" y="1987574"/>
                </a:lnTo>
                <a:lnTo>
                  <a:pt x="4664357" y="2040335"/>
                </a:lnTo>
                <a:lnTo>
                  <a:pt x="4702279" y="2092518"/>
                </a:lnTo>
                <a:lnTo>
                  <a:pt x="4740200" y="2144037"/>
                </a:lnTo>
                <a:lnTo>
                  <a:pt x="4778122" y="2194800"/>
                </a:lnTo>
                <a:lnTo>
                  <a:pt x="4816043" y="2244716"/>
                </a:lnTo>
                <a:lnTo>
                  <a:pt x="4853965" y="2293690"/>
                </a:lnTo>
                <a:lnTo>
                  <a:pt x="4891887" y="2341625"/>
                </a:lnTo>
                <a:lnTo>
                  <a:pt x="4929808" y="2388423"/>
                </a:lnTo>
                <a:lnTo>
                  <a:pt x="4967730" y="2433984"/>
                </a:lnTo>
                <a:lnTo>
                  <a:pt x="5005651" y="2478204"/>
                </a:lnTo>
                <a:lnTo>
                  <a:pt x="5043573" y="2520979"/>
                </a:lnTo>
                <a:lnTo>
                  <a:pt x="5081495" y="2562201"/>
                </a:lnTo>
                <a:lnTo>
                  <a:pt x="5119416" y="2601762"/>
                </a:lnTo>
                <a:lnTo>
                  <a:pt x="5157338" y="2639549"/>
                </a:lnTo>
                <a:lnTo>
                  <a:pt x="5195259" y="2675450"/>
                </a:lnTo>
                <a:lnTo>
                  <a:pt x="5233181" y="2709348"/>
                </a:lnTo>
                <a:lnTo>
                  <a:pt x="5271103" y="2741125"/>
                </a:lnTo>
                <a:lnTo>
                  <a:pt x="5309024" y="2770661"/>
                </a:lnTo>
                <a:lnTo>
                  <a:pt x="5346946" y="2797834"/>
                </a:lnTo>
                <a:lnTo>
                  <a:pt x="5384867" y="2822517"/>
                </a:lnTo>
                <a:lnTo>
                  <a:pt x="5422789" y="2844584"/>
                </a:lnTo>
                <a:lnTo>
                  <a:pt x="5460711" y="2863906"/>
                </a:lnTo>
                <a:lnTo>
                  <a:pt x="5498632" y="2880350"/>
                </a:lnTo>
                <a:lnTo>
                  <a:pt x="5536554" y="2893782"/>
                </a:lnTo>
                <a:lnTo>
                  <a:pt x="5574475" y="2904065"/>
                </a:lnTo>
                <a:lnTo>
                  <a:pt x="5612397" y="2911061"/>
                </a:lnTo>
                <a:lnTo>
                  <a:pt x="5650319" y="2914628"/>
                </a:lnTo>
                <a:lnTo>
                  <a:pt x="5669280" y="2915081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4-E18 text 29" descr="sci-ppt:o029"/>
          <p:cNvSpPr txBox="1"/>
          <p:nvPr/>
        </p:nvSpPr>
        <p:spPr>
          <a:xfrm>
            <a:off x="4105656" y="1280160"/>
            <a:ext cx="2560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area = π/3 = 1.0472</a:t>
            </a:r>
          </a:p>
        </p:txBody>
      </p:sp>
      <p:sp>
        <p:nvSpPr>
          <p:cNvPr id="32" name="C4-E18 round_rect 30" descr="sci-ppt:o030"/>
          <p:cNvSpPr/>
          <p:nvPr/>
        </p:nvSpPr>
        <p:spPr>
          <a:xfrm>
            <a:off x="6858000" y="1371600"/>
            <a:ext cx="498348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4-E18 text 31" descr="sci-ppt:o031"/>
          <p:cNvSpPr txBox="1"/>
          <p:nvPr/>
        </p:nvSpPr>
        <p:spPr>
          <a:xfrm>
            <a:off x="6967728" y="1426464"/>
            <a:ext cx="47640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Blister volume</a:t>
            </a:r>
          </a:p>
        </p:txBody>
      </p:sp>
      <p:sp>
        <p:nvSpPr>
          <p:cNvPr id="34" name="C4-E18 text 32" descr="sci-ppt:o032"/>
          <p:cNvSpPr txBox="1"/>
          <p:nvPr/>
        </p:nvSpPr>
        <p:spPr>
          <a:xfrm>
            <a:off x="6995160" y="1828800"/>
            <a:ext cx="47548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V_bl = 2π ∫₀ᵇ w r dr</a:t>
            </a:r>
          </a:p>
        </p:txBody>
      </p:sp>
      <p:sp>
        <p:nvSpPr>
          <p:cNvPr id="35" name="C4-E18 text 33" descr="sci-ppt:o033"/>
          <p:cNvSpPr txBox="1"/>
          <p:nvPr/>
        </p:nvSpPr>
        <p:spPr>
          <a:xfrm>
            <a:off x="6995160" y="2331720"/>
            <a:ext cx="4754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= π p₀ / (32D_f) ∫ (b⁴r − 2b²r³ + r⁵) dr</a:t>
            </a:r>
          </a:p>
        </p:txBody>
      </p:sp>
      <p:sp>
        <p:nvSpPr>
          <p:cNvPr id="36" name="C4-E18 text 34" descr="sci-ppt:o034"/>
          <p:cNvSpPr txBox="1"/>
          <p:nvPr/>
        </p:nvSpPr>
        <p:spPr>
          <a:xfrm>
            <a:off x="6995160" y="2834640"/>
            <a:ext cx="4754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bracket at r = b:  b⁶ (1/2 − 1/2 + 1/6) = b⁶/6</a:t>
            </a:r>
          </a:p>
        </p:txBody>
      </p:sp>
      <p:sp>
        <p:nvSpPr>
          <p:cNvPr id="37" name="C4-E18 text 35" descr="sci-ppt:o035"/>
          <p:cNvSpPr txBox="1"/>
          <p:nvPr/>
        </p:nvSpPr>
        <p:spPr>
          <a:xfrm>
            <a:off x="6995160" y="3383280"/>
            <a:ext cx="475488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B880"/>
                </a:solidFill>
                <a:latin typeface="Arial"/>
              </a:rPr>
              <a:t>V_bl = π p₀ b⁶ / (192 D_f)</a:t>
            </a:r>
          </a:p>
        </p:txBody>
      </p:sp>
      <p:sp>
        <p:nvSpPr>
          <p:cNvPr id="38" name="C4-E18 text 36" descr="sci-ppt:o036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volume sums the opening of all concentric annuli; the numerical area under 2π w r reproduces the closed form.</a:t>
            </a:r>
          </a:p>
        </p:txBody>
      </p:sp>
      <p:sp>
        <p:nvSpPr>
          <p:cNvPr id="39" name="C4-E18 text 37" descr="sci-ppt:o03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Volume integral of Eq. C4-E18 (normalised: w/w(0) = (1 − x²)², x = r/b, area π/3 in units w(0)b²).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C4-E19 · Derived potential under maintained-pressure control</a:t>
            </a:r>
          </a:p>
        </p:txBody>
      </p:sp>
      <p:cxnSp>
        <p:nvCxnSpPr>
          <p:cNvPr id="3" name="C4-E19 line 1" descr="sci-ppt:o001"/>
          <p:cNvCxnSpPr/>
          <p:nvPr/>
        </p:nvCxnSpPr>
        <p:spPr>
          <a:xfrm>
            <a:off x="914400" y="4937760"/>
            <a:ext cx="56692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19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19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19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19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4-E19 line 6" descr="sci-ppt:o006"/>
          <p:cNvCxnSpPr/>
          <p:nvPr/>
        </p:nvCxnSpPr>
        <p:spPr>
          <a:xfrm>
            <a:off x="23317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19 line 7" descr="sci-ppt:o007"/>
          <p:cNvCxnSpPr/>
          <p:nvPr/>
        </p:nvCxnSpPr>
        <p:spPr>
          <a:xfrm>
            <a:off x="23317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19 text 8" descr="sci-ppt:o008"/>
          <p:cNvSpPr txBox="1"/>
          <p:nvPr/>
        </p:nvSpPr>
        <p:spPr>
          <a:xfrm>
            <a:off x="187451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11" name="C4-E19 line 9" descr="sci-ppt:o009"/>
          <p:cNvCxnSpPr/>
          <p:nvPr/>
        </p:nvCxnSpPr>
        <p:spPr>
          <a:xfrm>
            <a:off x="374903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19 line 10" descr="sci-ppt:o010"/>
          <p:cNvCxnSpPr/>
          <p:nvPr/>
        </p:nvCxnSpPr>
        <p:spPr>
          <a:xfrm>
            <a:off x="374903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19 text 11" descr="sci-ppt:o011"/>
          <p:cNvSpPr txBox="1"/>
          <p:nvPr/>
        </p:nvSpPr>
        <p:spPr>
          <a:xfrm>
            <a:off x="329183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4" name="C4-E19 line 12" descr="sci-ppt:o012"/>
          <p:cNvCxnSpPr/>
          <p:nvPr/>
        </p:nvCxnSpPr>
        <p:spPr>
          <a:xfrm>
            <a:off x="51663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19 line 13" descr="sci-ppt:o013"/>
          <p:cNvCxnSpPr/>
          <p:nvPr/>
        </p:nvCxnSpPr>
        <p:spPr>
          <a:xfrm>
            <a:off x="51663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19 text 14" descr="sci-ppt:o014"/>
          <p:cNvSpPr txBox="1"/>
          <p:nvPr/>
        </p:nvSpPr>
        <p:spPr>
          <a:xfrm>
            <a:off x="47091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7" name="C4-E19 line 15" descr="sci-ppt:o015"/>
          <p:cNvCxnSpPr/>
          <p:nvPr/>
        </p:nvCxnSpPr>
        <p:spPr>
          <a:xfrm>
            <a:off x="658368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19 line 16" descr="sci-ppt:o016"/>
          <p:cNvCxnSpPr/>
          <p:nvPr/>
        </p:nvCxnSpPr>
        <p:spPr>
          <a:xfrm>
            <a:off x="658368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19 text 17" descr="sci-ppt:o017"/>
          <p:cNvSpPr txBox="1"/>
          <p:nvPr/>
        </p:nvSpPr>
        <p:spPr>
          <a:xfrm>
            <a:off x="612648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20" name="C4-E19 line 18" descr="sci-ppt:o018"/>
          <p:cNvCxnSpPr/>
          <p:nvPr/>
        </p:nvCxnSpPr>
        <p:spPr>
          <a:xfrm>
            <a:off x="850392" y="477566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19 line 19" descr="sci-ppt:o019"/>
          <p:cNvCxnSpPr/>
          <p:nvPr/>
        </p:nvCxnSpPr>
        <p:spPr>
          <a:xfrm>
            <a:off x="914400" y="4775661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4-E19 text 20" descr="sci-ppt:o020"/>
          <p:cNvSpPr txBox="1"/>
          <p:nvPr/>
        </p:nvSpPr>
        <p:spPr>
          <a:xfrm>
            <a:off x="45720" y="469336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-1</a:t>
            </a:r>
          </a:p>
        </p:txBody>
      </p:sp>
      <p:cxnSp>
        <p:nvCxnSpPr>
          <p:cNvPr id="23" name="C4-E19 line 21" descr="sci-ppt:o021"/>
          <p:cNvCxnSpPr/>
          <p:nvPr/>
        </p:nvCxnSpPr>
        <p:spPr>
          <a:xfrm>
            <a:off x="850392" y="396517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4-E19 line 22" descr="sci-ppt:o022"/>
          <p:cNvCxnSpPr/>
          <p:nvPr/>
        </p:nvCxnSpPr>
        <p:spPr>
          <a:xfrm>
            <a:off x="914400" y="3965170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4-E19 text 23" descr="sci-ppt:o023"/>
          <p:cNvSpPr txBox="1"/>
          <p:nvPr/>
        </p:nvSpPr>
        <p:spPr>
          <a:xfrm>
            <a:off x="45720" y="388287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-0.5</a:t>
            </a:r>
          </a:p>
        </p:txBody>
      </p:sp>
      <p:cxnSp>
        <p:nvCxnSpPr>
          <p:cNvPr id="26" name="C4-E19 line 24" descr="sci-ppt:o024"/>
          <p:cNvCxnSpPr/>
          <p:nvPr/>
        </p:nvCxnSpPr>
        <p:spPr>
          <a:xfrm>
            <a:off x="850392" y="3154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4-E19 line 25" descr="sci-ppt:o025"/>
          <p:cNvCxnSpPr/>
          <p:nvPr/>
        </p:nvCxnSpPr>
        <p:spPr>
          <a:xfrm>
            <a:off x="914400" y="3154680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4-E19 text 26" descr="sci-ppt:o026"/>
          <p:cNvSpPr txBox="1"/>
          <p:nvPr/>
        </p:nvSpPr>
        <p:spPr>
          <a:xfrm>
            <a:off x="45720" y="3072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9" name="C4-E19 line 27" descr="sci-ppt:o027"/>
          <p:cNvCxnSpPr/>
          <p:nvPr/>
        </p:nvCxnSpPr>
        <p:spPr>
          <a:xfrm>
            <a:off x="850392" y="234418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4-E19 line 28" descr="sci-ppt:o028"/>
          <p:cNvCxnSpPr/>
          <p:nvPr/>
        </p:nvCxnSpPr>
        <p:spPr>
          <a:xfrm>
            <a:off x="914400" y="2344189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4-E19 text 29" descr="sci-ppt:o029"/>
          <p:cNvSpPr txBox="1"/>
          <p:nvPr/>
        </p:nvSpPr>
        <p:spPr>
          <a:xfrm>
            <a:off x="45720" y="226189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32" name="C4-E19 line 30" descr="sci-ppt:o030"/>
          <p:cNvCxnSpPr/>
          <p:nvPr/>
        </p:nvCxnSpPr>
        <p:spPr>
          <a:xfrm>
            <a:off x="850392" y="153369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4-E19 line 31" descr="sci-ppt:o031"/>
          <p:cNvCxnSpPr/>
          <p:nvPr/>
        </p:nvCxnSpPr>
        <p:spPr>
          <a:xfrm>
            <a:off x="914400" y="1533698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4-E19 text 32" descr="sci-ppt:o032"/>
          <p:cNvSpPr txBox="1"/>
          <p:nvPr/>
        </p:nvSpPr>
        <p:spPr>
          <a:xfrm>
            <a:off x="45720" y="145140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35" name="C4-E19 text 33" descr="sci-ppt:o033"/>
          <p:cNvSpPr txBox="1"/>
          <p:nvPr/>
        </p:nvSpPr>
        <p:spPr>
          <a:xfrm>
            <a:off x="914400" y="5221224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V_bl / V*</a:t>
            </a:r>
          </a:p>
        </p:txBody>
      </p:sp>
      <p:sp>
        <p:nvSpPr>
          <p:cNvPr id="36" name="C4-E19 text 34" descr="sci-ppt:o034"/>
          <p:cNvSpPr txBox="1"/>
          <p:nvPr/>
        </p:nvSpPr>
        <p:spPr>
          <a:xfrm>
            <a:off x="365760" y="1024128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energy / (p*V*)</a:t>
            </a:r>
          </a:p>
        </p:txBody>
      </p:sp>
      <p:sp>
        <p:nvSpPr>
          <p:cNvPr id="37" name="C4-E19 polygon 35" descr="sci-ppt:o035"/>
          <p:cNvSpPr/>
          <p:nvPr/>
        </p:nvSpPr>
        <p:spPr>
          <a:xfrm>
            <a:off x="914400" y="2344189"/>
            <a:ext cx="5669280" cy="810491"/>
          </a:xfrm>
          <a:custGeom>
            <a:avLst/>
            <a:gdLst/>
            <a:ahLst/>
            <a:cxnLst/>
            <a:rect l="l" t="t" r="r" b="b"/>
            <a:pathLst>
              <a:path w="5669280" h="810491">
                <a:moveTo>
                  <a:pt x="0" y="810491"/>
                </a:moveTo>
                <a:lnTo>
                  <a:pt x="57265" y="810408"/>
                </a:lnTo>
                <a:lnTo>
                  <a:pt x="114530" y="810160"/>
                </a:lnTo>
                <a:lnTo>
                  <a:pt x="171796" y="809746"/>
                </a:lnTo>
                <a:lnTo>
                  <a:pt x="229061" y="809167"/>
                </a:lnTo>
                <a:lnTo>
                  <a:pt x="286327" y="808423"/>
                </a:lnTo>
                <a:lnTo>
                  <a:pt x="343592" y="807513"/>
                </a:lnTo>
                <a:lnTo>
                  <a:pt x="400858" y="806438"/>
                </a:lnTo>
                <a:lnTo>
                  <a:pt x="458123" y="805198"/>
                </a:lnTo>
                <a:lnTo>
                  <a:pt x="515389" y="803792"/>
                </a:lnTo>
                <a:lnTo>
                  <a:pt x="572654" y="802221"/>
                </a:lnTo>
                <a:lnTo>
                  <a:pt x="629920" y="800484"/>
                </a:lnTo>
                <a:lnTo>
                  <a:pt x="687185" y="798582"/>
                </a:lnTo>
                <a:lnTo>
                  <a:pt x="744450" y="796515"/>
                </a:lnTo>
                <a:lnTo>
                  <a:pt x="801716" y="794282"/>
                </a:lnTo>
                <a:lnTo>
                  <a:pt x="858981" y="791884"/>
                </a:lnTo>
                <a:lnTo>
                  <a:pt x="916247" y="789321"/>
                </a:lnTo>
                <a:lnTo>
                  <a:pt x="973512" y="786592"/>
                </a:lnTo>
                <a:lnTo>
                  <a:pt x="1030778" y="783697"/>
                </a:lnTo>
                <a:lnTo>
                  <a:pt x="1088043" y="780638"/>
                </a:lnTo>
                <a:lnTo>
                  <a:pt x="1145309" y="777413"/>
                </a:lnTo>
                <a:lnTo>
                  <a:pt x="1202574" y="774022"/>
                </a:lnTo>
                <a:lnTo>
                  <a:pt x="1259840" y="770466"/>
                </a:lnTo>
                <a:lnTo>
                  <a:pt x="1317105" y="766745"/>
                </a:lnTo>
                <a:lnTo>
                  <a:pt x="1374370" y="762858"/>
                </a:lnTo>
                <a:lnTo>
                  <a:pt x="1431636" y="758806"/>
                </a:lnTo>
                <a:lnTo>
                  <a:pt x="1488901" y="754589"/>
                </a:lnTo>
                <a:lnTo>
                  <a:pt x="1546167" y="750206"/>
                </a:lnTo>
                <a:lnTo>
                  <a:pt x="1603432" y="745658"/>
                </a:lnTo>
                <a:lnTo>
                  <a:pt x="1660698" y="740944"/>
                </a:lnTo>
                <a:lnTo>
                  <a:pt x="1717963" y="736065"/>
                </a:lnTo>
                <a:lnTo>
                  <a:pt x="1775229" y="731021"/>
                </a:lnTo>
                <a:lnTo>
                  <a:pt x="1832494" y="725811"/>
                </a:lnTo>
                <a:lnTo>
                  <a:pt x="1889760" y="720436"/>
                </a:lnTo>
                <a:lnTo>
                  <a:pt x="1947025" y="714895"/>
                </a:lnTo>
                <a:lnTo>
                  <a:pt x="2004290" y="709189"/>
                </a:lnTo>
                <a:lnTo>
                  <a:pt x="2061556" y="703318"/>
                </a:lnTo>
                <a:lnTo>
                  <a:pt x="2118821" y="697281"/>
                </a:lnTo>
                <a:lnTo>
                  <a:pt x="2176087" y="691079"/>
                </a:lnTo>
                <a:lnTo>
                  <a:pt x="2233352" y="684712"/>
                </a:lnTo>
                <a:lnTo>
                  <a:pt x="2290618" y="678179"/>
                </a:lnTo>
                <a:lnTo>
                  <a:pt x="2347883" y="671481"/>
                </a:lnTo>
                <a:lnTo>
                  <a:pt x="2405149" y="664617"/>
                </a:lnTo>
                <a:lnTo>
                  <a:pt x="2462414" y="657588"/>
                </a:lnTo>
                <a:lnTo>
                  <a:pt x="2519680" y="650394"/>
                </a:lnTo>
                <a:lnTo>
                  <a:pt x="2576945" y="643034"/>
                </a:lnTo>
                <a:lnTo>
                  <a:pt x="2634210" y="635508"/>
                </a:lnTo>
                <a:lnTo>
                  <a:pt x="2691476" y="627818"/>
                </a:lnTo>
                <a:lnTo>
                  <a:pt x="2748741" y="619962"/>
                </a:lnTo>
                <a:lnTo>
                  <a:pt x="2806007" y="611940"/>
                </a:lnTo>
                <a:lnTo>
                  <a:pt x="2863272" y="603754"/>
                </a:lnTo>
                <a:lnTo>
                  <a:pt x="2920538" y="595402"/>
                </a:lnTo>
                <a:lnTo>
                  <a:pt x="2977803" y="586884"/>
                </a:lnTo>
                <a:lnTo>
                  <a:pt x="3035069" y="578201"/>
                </a:lnTo>
                <a:lnTo>
                  <a:pt x="3092334" y="569353"/>
                </a:lnTo>
                <a:lnTo>
                  <a:pt x="3149600" y="560339"/>
                </a:lnTo>
                <a:lnTo>
                  <a:pt x="3206865" y="551160"/>
                </a:lnTo>
                <a:lnTo>
                  <a:pt x="3264130" y="541815"/>
                </a:lnTo>
                <a:lnTo>
                  <a:pt x="3321396" y="532305"/>
                </a:lnTo>
                <a:lnTo>
                  <a:pt x="3378661" y="522630"/>
                </a:lnTo>
                <a:lnTo>
                  <a:pt x="3435927" y="512790"/>
                </a:lnTo>
                <a:lnTo>
                  <a:pt x="3493192" y="502783"/>
                </a:lnTo>
                <a:lnTo>
                  <a:pt x="3550458" y="492612"/>
                </a:lnTo>
                <a:lnTo>
                  <a:pt x="3607723" y="482275"/>
                </a:lnTo>
                <a:lnTo>
                  <a:pt x="3664989" y="471773"/>
                </a:lnTo>
                <a:lnTo>
                  <a:pt x="3722254" y="461105"/>
                </a:lnTo>
                <a:lnTo>
                  <a:pt x="3779520" y="450272"/>
                </a:lnTo>
                <a:lnTo>
                  <a:pt x="3836785" y="439274"/>
                </a:lnTo>
                <a:lnTo>
                  <a:pt x="3894050" y="428110"/>
                </a:lnTo>
                <a:lnTo>
                  <a:pt x="3951316" y="416781"/>
                </a:lnTo>
                <a:lnTo>
                  <a:pt x="4008581" y="405286"/>
                </a:lnTo>
                <a:lnTo>
                  <a:pt x="4065847" y="393626"/>
                </a:lnTo>
                <a:lnTo>
                  <a:pt x="4123112" y="381801"/>
                </a:lnTo>
                <a:lnTo>
                  <a:pt x="4180378" y="369810"/>
                </a:lnTo>
                <a:lnTo>
                  <a:pt x="4237643" y="357654"/>
                </a:lnTo>
                <a:lnTo>
                  <a:pt x="4294909" y="345333"/>
                </a:lnTo>
                <a:lnTo>
                  <a:pt x="4352174" y="332846"/>
                </a:lnTo>
                <a:lnTo>
                  <a:pt x="4409440" y="320194"/>
                </a:lnTo>
                <a:lnTo>
                  <a:pt x="4466705" y="307376"/>
                </a:lnTo>
                <a:lnTo>
                  <a:pt x="4523970" y="294393"/>
                </a:lnTo>
                <a:lnTo>
                  <a:pt x="4581236" y="281244"/>
                </a:lnTo>
                <a:lnTo>
                  <a:pt x="4638501" y="267930"/>
                </a:lnTo>
                <a:lnTo>
                  <a:pt x="4695767" y="254451"/>
                </a:lnTo>
                <a:lnTo>
                  <a:pt x="4753032" y="240807"/>
                </a:lnTo>
                <a:lnTo>
                  <a:pt x="4810298" y="226997"/>
                </a:lnTo>
                <a:lnTo>
                  <a:pt x="4867563" y="213021"/>
                </a:lnTo>
                <a:lnTo>
                  <a:pt x="4924829" y="198880"/>
                </a:lnTo>
                <a:lnTo>
                  <a:pt x="4982094" y="184574"/>
                </a:lnTo>
                <a:lnTo>
                  <a:pt x="5039360" y="170103"/>
                </a:lnTo>
                <a:lnTo>
                  <a:pt x="5096625" y="155466"/>
                </a:lnTo>
                <a:lnTo>
                  <a:pt x="5153890" y="140663"/>
                </a:lnTo>
                <a:lnTo>
                  <a:pt x="5211156" y="125696"/>
                </a:lnTo>
                <a:lnTo>
                  <a:pt x="5268421" y="110562"/>
                </a:lnTo>
                <a:lnTo>
                  <a:pt x="5325687" y="95264"/>
                </a:lnTo>
                <a:lnTo>
                  <a:pt x="5382952" y="79800"/>
                </a:lnTo>
                <a:lnTo>
                  <a:pt x="5440218" y="64171"/>
                </a:lnTo>
                <a:lnTo>
                  <a:pt x="5497483" y="48376"/>
                </a:lnTo>
                <a:lnTo>
                  <a:pt x="5554749" y="32416"/>
                </a:lnTo>
                <a:lnTo>
                  <a:pt x="5612014" y="16290"/>
                </a:lnTo>
                <a:lnTo>
                  <a:pt x="5669280" y="0"/>
                </a:lnTo>
              </a:path>
            </a:pathLst>
          </a:custGeom>
          <a:noFill/>
          <a:ln w="381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4-E19 polygon 36" descr="sci-ppt:o036"/>
          <p:cNvSpPr/>
          <p:nvPr/>
        </p:nvSpPr>
        <p:spPr>
          <a:xfrm>
            <a:off x="914400" y="3154680"/>
            <a:ext cx="5669280" cy="1620981"/>
          </a:xfrm>
          <a:custGeom>
            <a:avLst/>
            <a:gdLst/>
            <a:ahLst/>
            <a:cxnLst/>
            <a:rect l="l" t="t" r="r" b="b"/>
            <a:pathLst>
              <a:path w="5669280" h="1620981">
                <a:moveTo>
                  <a:pt x="0" y="0"/>
                </a:moveTo>
                <a:lnTo>
                  <a:pt x="57265" y="16373"/>
                </a:lnTo>
                <a:lnTo>
                  <a:pt x="114530" y="32747"/>
                </a:lnTo>
                <a:lnTo>
                  <a:pt x="171796" y="49120"/>
                </a:lnTo>
                <a:lnTo>
                  <a:pt x="229061" y="65494"/>
                </a:lnTo>
                <a:lnTo>
                  <a:pt x="286327" y="81867"/>
                </a:lnTo>
                <a:lnTo>
                  <a:pt x="343592" y="98241"/>
                </a:lnTo>
                <a:lnTo>
                  <a:pt x="400858" y="114614"/>
                </a:lnTo>
                <a:lnTo>
                  <a:pt x="458123" y="130988"/>
                </a:lnTo>
                <a:lnTo>
                  <a:pt x="515389" y="147361"/>
                </a:lnTo>
                <a:lnTo>
                  <a:pt x="572654" y="163735"/>
                </a:lnTo>
                <a:lnTo>
                  <a:pt x="629920" y="180109"/>
                </a:lnTo>
                <a:lnTo>
                  <a:pt x="687185" y="196482"/>
                </a:lnTo>
                <a:lnTo>
                  <a:pt x="744450" y="212856"/>
                </a:lnTo>
                <a:lnTo>
                  <a:pt x="801716" y="229229"/>
                </a:lnTo>
                <a:lnTo>
                  <a:pt x="858981" y="245603"/>
                </a:lnTo>
                <a:lnTo>
                  <a:pt x="916247" y="261976"/>
                </a:lnTo>
                <a:lnTo>
                  <a:pt x="973512" y="278350"/>
                </a:lnTo>
                <a:lnTo>
                  <a:pt x="1030778" y="294723"/>
                </a:lnTo>
                <a:lnTo>
                  <a:pt x="1088043" y="311097"/>
                </a:lnTo>
                <a:lnTo>
                  <a:pt x="1145309" y="327471"/>
                </a:lnTo>
                <a:lnTo>
                  <a:pt x="1202574" y="343844"/>
                </a:lnTo>
                <a:lnTo>
                  <a:pt x="1259840" y="360218"/>
                </a:lnTo>
                <a:lnTo>
                  <a:pt x="1317105" y="376591"/>
                </a:lnTo>
                <a:lnTo>
                  <a:pt x="1374370" y="392965"/>
                </a:lnTo>
                <a:lnTo>
                  <a:pt x="1431636" y="409338"/>
                </a:lnTo>
                <a:lnTo>
                  <a:pt x="1488901" y="425712"/>
                </a:lnTo>
                <a:lnTo>
                  <a:pt x="1546167" y="442085"/>
                </a:lnTo>
                <a:lnTo>
                  <a:pt x="1603432" y="458459"/>
                </a:lnTo>
                <a:lnTo>
                  <a:pt x="1660698" y="474833"/>
                </a:lnTo>
                <a:lnTo>
                  <a:pt x="1717963" y="491206"/>
                </a:lnTo>
                <a:lnTo>
                  <a:pt x="1775229" y="507580"/>
                </a:lnTo>
                <a:lnTo>
                  <a:pt x="1832494" y="523953"/>
                </a:lnTo>
                <a:lnTo>
                  <a:pt x="1889760" y="540327"/>
                </a:lnTo>
                <a:lnTo>
                  <a:pt x="1947025" y="556700"/>
                </a:lnTo>
                <a:lnTo>
                  <a:pt x="2004290" y="573074"/>
                </a:lnTo>
                <a:lnTo>
                  <a:pt x="2061556" y="589447"/>
                </a:lnTo>
                <a:lnTo>
                  <a:pt x="2118821" y="605821"/>
                </a:lnTo>
                <a:lnTo>
                  <a:pt x="2176087" y="622195"/>
                </a:lnTo>
                <a:lnTo>
                  <a:pt x="2233352" y="638568"/>
                </a:lnTo>
                <a:lnTo>
                  <a:pt x="2290618" y="654942"/>
                </a:lnTo>
                <a:lnTo>
                  <a:pt x="2347883" y="671315"/>
                </a:lnTo>
                <a:lnTo>
                  <a:pt x="2405149" y="687689"/>
                </a:lnTo>
                <a:lnTo>
                  <a:pt x="2462414" y="704062"/>
                </a:lnTo>
                <a:lnTo>
                  <a:pt x="2519680" y="720436"/>
                </a:lnTo>
                <a:lnTo>
                  <a:pt x="2576945" y="736809"/>
                </a:lnTo>
                <a:lnTo>
                  <a:pt x="2634210" y="753183"/>
                </a:lnTo>
                <a:lnTo>
                  <a:pt x="2691476" y="769557"/>
                </a:lnTo>
                <a:lnTo>
                  <a:pt x="2748741" y="785930"/>
                </a:lnTo>
                <a:lnTo>
                  <a:pt x="2806007" y="802304"/>
                </a:lnTo>
                <a:lnTo>
                  <a:pt x="2863272" y="818677"/>
                </a:lnTo>
                <a:lnTo>
                  <a:pt x="2920538" y="835051"/>
                </a:lnTo>
                <a:lnTo>
                  <a:pt x="2977803" y="851424"/>
                </a:lnTo>
                <a:lnTo>
                  <a:pt x="3035069" y="867798"/>
                </a:lnTo>
                <a:lnTo>
                  <a:pt x="3092334" y="884171"/>
                </a:lnTo>
                <a:lnTo>
                  <a:pt x="3149600" y="900545"/>
                </a:lnTo>
                <a:lnTo>
                  <a:pt x="3206865" y="916919"/>
                </a:lnTo>
                <a:lnTo>
                  <a:pt x="3264130" y="933292"/>
                </a:lnTo>
                <a:lnTo>
                  <a:pt x="3321396" y="949666"/>
                </a:lnTo>
                <a:lnTo>
                  <a:pt x="3378661" y="966039"/>
                </a:lnTo>
                <a:lnTo>
                  <a:pt x="3435927" y="982413"/>
                </a:lnTo>
                <a:lnTo>
                  <a:pt x="3493192" y="998786"/>
                </a:lnTo>
                <a:lnTo>
                  <a:pt x="3550458" y="1015160"/>
                </a:lnTo>
                <a:lnTo>
                  <a:pt x="3607723" y="1031533"/>
                </a:lnTo>
                <a:lnTo>
                  <a:pt x="3664989" y="1047907"/>
                </a:lnTo>
                <a:lnTo>
                  <a:pt x="3722254" y="1064280"/>
                </a:lnTo>
                <a:lnTo>
                  <a:pt x="3779520" y="1080654"/>
                </a:lnTo>
                <a:lnTo>
                  <a:pt x="3836785" y="1097028"/>
                </a:lnTo>
                <a:lnTo>
                  <a:pt x="3894050" y="1113401"/>
                </a:lnTo>
                <a:lnTo>
                  <a:pt x="3951316" y="1129775"/>
                </a:lnTo>
                <a:lnTo>
                  <a:pt x="4008581" y="1146148"/>
                </a:lnTo>
                <a:lnTo>
                  <a:pt x="4065847" y="1162522"/>
                </a:lnTo>
                <a:lnTo>
                  <a:pt x="4123112" y="1178895"/>
                </a:lnTo>
                <a:lnTo>
                  <a:pt x="4180378" y="1195269"/>
                </a:lnTo>
                <a:lnTo>
                  <a:pt x="4237643" y="1211642"/>
                </a:lnTo>
                <a:lnTo>
                  <a:pt x="4294909" y="1228016"/>
                </a:lnTo>
                <a:lnTo>
                  <a:pt x="4352174" y="1244390"/>
                </a:lnTo>
                <a:lnTo>
                  <a:pt x="4409440" y="1260763"/>
                </a:lnTo>
                <a:lnTo>
                  <a:pt x="4466705" y="1277137"/>
                </a:lnTo>
                <a:lnTo>
                  <a:pt x="4523970" y="1293510"/>
                </a:lnTo>
                <a:lnTo>
                  <a:pt x="4581236" y="1309884"/>
                </a:lnTo>
                <a:lnTo>
                  <a:pt x="4638501" y="1326257"/>
                </a:lnTo>
                <a:lnTo>
                  <a:pt x="4695767" y="1342631"/>
                </a:lnTo>
                <a:lnTo>
                  <a:pt x="4753032" y="1359004"/>
                </a:lnTo>
                <a:lnTo>
                  <a:pt x="4810298" y="1375378"/>
                </a:lnTo>
                <a:lnTo>
                  <a:pt x="4867563" y="1391752"/>
                </a:lnTo>
                <a:lnTo>
                  <a:pt x="4924829" y="1408125"/>
                </a:lnTo>
                <a:lnTo>
                  <a:pt x="4982094" y="1424499"/>
                </a:lnTo>
                <a:lnTo>
                  <a:pt x="5039360" y="1440872"/>
                </a:lnTo>
                <a:lnTo>
                  <a:pt x="5096625" y="1457246"/>
                </a:lnTo>
                <a:lnTo>
                  <a:pt x="5153890" y="1473619"/>
                </a:lnTo>
                <a:lnTo>
                  <a:pt x="5211156" y="1489993"/>
                </a:lnTo>
                <a:lnTo>
                  <a:pt x="5268421" y="1506366"/>
                </a:lnTo>
                <a:lnTo>
                  <a:pt x="5325687" y="1522740"/>
                </a:lnTo>
                <a:lnTo>
                  <a:pt x="5382952" y="1539114"/>
                </a:lnTo>
                <a:lnTo>
                  <a:pt x="5440218" y="1555487"/>
                </a:lnTo>
                <a:lnTo>
                  <a:pt x="5497483" y="1571861"/>
                </a:lnTo>
                <a:lnTo>
                  <a:pt x="5554749" y="1588234"/>
                </a:lnTo>
                <a:lnTo>
                  <a:pt x="5612014" y="1604608"/>
                </a:lnTo>
                <a:lnTo>
                  <a:pt x="5669280" y="1620981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4-E19 polygon 37" descr="sci-ppt:o037"/>
          <p:cNvSpPr/>
          <p:nvPr/>
        </p:nvSpPr>
        <p:spPr>
          <a:xfrm>
            <a:off x="914400" y="3154680"/>
            <a:ext cx="5669280" cy="810490"/>
          </a:xfrm>
          <a:custGeom>
            <a:avLst/>
            <a:gdLst/>
            <a:ahLst/>
            <a:cxnLst/>
            <a:rect l="l" t="t" r="r" b="b"/>
            <a:pathLst>
              <a:path w="5669280" h="810490">
                <a:moveTo>
                  <a:pt x="0" y="0"/>
                </a:moveTo>
                <a:lnTo>
                  <a:pt x="57265" y="16290"/>
                </a:lnTo>
                <a:lnTo>
                  <a:pt x="114530" y="32416"/>
                </a:lnTo>
                <a:lnTo>
                  <a:pt x="171796" y="48376"/>
                </a:lnTo>
                <a:lnTo>
                  <a:pt x="229061" y="64171"/>
                </a:lnTo>
                <a:lnTo>
                  <a:pt x="286327" y="79800"/>
                </a:lnTo>
                <a:lnTo>
                  <a:pt x="343592" y="95264"/>
                </a:lnTo>
                <a:lnTo>
                  <a:pt x="400858" y="110562"/>
                </a:lnTo>
                <a:lnTo>
                  <a:pt x="458123" y="125695"/>
                </a:lnTo>
                <a:lnTo>
                  <a:pt x="515389" y="140663"/>
                </a:lnTo>
                <a:lnTo>
                  <a:pt x="572654" y="155466"/>
                </a:lnTo>
                <a:lnTo>
                  <a:pt x="629920" y="170103"/>
                </a:lnTo>
                <a:lnTo>
                  <a:pt x="687185" y="184574"/>
                </a:lnTo>
                <a:lnTo>
                  <a:pt x="744450" y="198880"/>
                </a:lnTo>
                <a:lnTo>
                  <a:pt x="801716" y="213021"/>
                </a:lnTo>
                <a:lnTo>
                  <a:pt x="858981" y="226996"/>
                </a:lnTo>
                <a:lnTo>
                  <a:pt x="916247" y="240807"/>
                </a:lnTo>
                <a:lnTo>
                  <a:pt x="973512" y="254451"/>
                </a:lnTo>
                <a:lnTo>
                  <a:pt x="1030778" y="267930"/>
                </a:lnTo>
                <a:lnTo>
                  <a:pt x="1088043" y="281244"/>
                </a:lnTo>
                <a:lnTo>
                  <a:pt x="1145309" y="294393"/>
                </a:lnTo>
                <a:lnTo>
                  <a:pt x="1202574" y="307376"/>
                </a:lnTo>
                <a:lnTo>
                  <a:pt x="1259840" y="320193"/>
                </a:lnTo>
                <a:lnTo>
                  <a:pt x="1317105" y="332846"/>
                </a:lnTo>
                <a:lnTo>
                  <a:pt x="1374370" y="345333"/>
                </a:lnTo>
                <a:lnTo>
                  <a:pt x="1431636" y="357654"/>
                </a:lnTo>
                <a:lnTo>
                  <a:pt x="1488901" y="369810"/>
                </a:lnTo>
                <a:lnTo>
                  <a:pt x="1546167" y="381801"/>
                </a:lnTo>
                <a:lnTo>
                  <a:pt x="1603432" y="393626"/>
                </a:lnTo>
                <a:lnTo>
                  <a:pt x="1660698" y="405286"/>
                </a:lnTo>
                <a:lnTo>
                  <a:pt x="1717963" y="416781"/>
                </a:lnTo>
                <a:lnTo>
                  <a:pt x="1775229" y="428110"/>
                </a:lnTo>
                <a:lnTo>
                  <a:pt x="1832494" y="439274"/>
                </a:lnTo>
                <a:lnTo>
                  <a:pt x="1889760" y="450272"/>
                </a:lnTo>
                <a:lnTo>
                  <a:pt x="1947025" y="461105"/>
                </a:lnTo>
                <a:lnTo>
                  <a:pt x="2004290" y="471773"/>
                </a:lnTo>
                <a:lnTo>
                  <a:pt x="2061556" y="482275"/>
                </a:lnTo>
                <a:lnTo>
                  <a:pt x="2118821" y="492612"/>
                </a:lnTo>
                <a:lnTo>
                  <a:pt x="2176087" y="502783"/>
                </a:lnTo>
                <a:lnTo>
                  <a:pt x="2233352" y="512789"/>
                </a:lnTo>
                <a:lnTo>
                  <a:pt x="2290618" y="522630"/>
                </a:lnTo>
                <a:lnTo>
                  <a:pt x="2347883" y="532305"/>
                </a:lnTo>
                <a:lnTo>
                  <a:pt x="2405149" y="541815"/>
                </a:lnTo>
                <a:lnTo>
                  <a:pt x="2462414" y="551160"/>
                </a:lnTo>
                <a:lnTo>
                  <a:pt x="2519680" y="560339"/>
                </a:lnTo>
                <a:lnTo>
                  <a:pt x="2576945" y="569353"/>
                </a:lnTo>
                <a:lnTo>
                  <a:pt x="2634210" y="578201"/>
                </a:lnTo>
                <a:lnTo>
                  <a:pt x="2691476" y="586884"/>
                </a:lnTo>
                <a:lnTo>
                  <a:pt x="2748741" y="595401"/>
                </a:lnTo>
                <a:lnTo>
                  <a:pt x="2806007" y="603754"/>
                </a:lnTo>
                <a:lnTo>
                  <a:pt x="2863272" y="611940"/>
                </a:lnTo>
                <a:lnTo>
                  <a:pt x="2920538" y="619962"/>
                </a:lnTo>
                <a:lnTo>
                  <a:pt x="2977803" y="627818"/>
                </a:lnTo>
                <a:lnTo>
                  <a:pt x="3035069" y="635508"/>
                </a:lnTo>
                <a:lnTo>
                  <a:pt x="3092334" y="643034"/>
                </a:lnTo>
                <a:lnTo>
                  <a:pt x="3149600" y="650393"/>
                </a:lnTo>
                <a:lnTo>
                  <a:pt x="3206865" y="657588"/>
                </a:lnTo>
                <a:lnTo>
                  <a:pt x="3264130" y="664617"/>
                </a:lnTo>
                <a:lnTo>
                  <a:pt x="3321396" y="671481"/>
                </a:lnTo>
                <a:lnTo>
                  <a:pt x="3378661" y="678179"/>
                </a:lnTo>
                <a:lnTo>
                  <a:pt x="3435927" y="684712"/>
                </a:lnTo>
                <a:lnTo>
                  <a:pt x="3493192" y="691079"/>
                </a:lnTo>
                <a:lnTo>
                  <a:pt x="3550458" y="697281"/>
                </a:lnTo>
                <a:lnTo>
                  <a:pt x="3607723" y="703318"/>
                </a:lnTo>
                <a:lnTo>
                  <a:pt x="3664989" y="709189"/>
                </a:lnTo>
                <a:lnTo>
                  <a:pt x="3722254" y="714895"/>
                </a:lnTo>
                <a:lnTo>
                  <a:pt x="3779520" y="720436"/>
                </a:lnTo>
                <a:lnTo>
                  <a:pt x="3836785" y="725811"/>
                </a:lnTo>
                <a:lnTo>
                  <a:pt x="3894050" y="731021"/>
                </a:lnTo>
                <a:lnTo>
                  <a:pt x="3951316" y="736065"/>
                </a:lnTo>
                <a:lnTo>
                  <a:pt x="4008581" y="740944"/>
                </a:lnTo>
                <a:lnTo>
                  <a:pt x="4065847" y="745658"/>
                </a:lnTo>
                <a:lnTo>
                  <a:pt x="4123112" y="750206"/>
                </a:lnTo>
                <a:lnTo>
                  <a:pt x="4180378" y="754589"/>
                </a:lnTo>
                <a:lnTo>
                  <a:pt x="4237643" y="758806"/>
                </a:lnTo>
                <a:lnTo>
                  <a:pt x="4294909" y="762858"/>
                </a:lnTo>
                <a:lnTo>
                  <a:pt x="4352174" y="766745"/>
                </a:lnTo>
                <a:lnTo>
                  <a:pt x="4409440" y="770466"/>
                </a:lnTo>
                <a:lnTo>
                  <a:pt x="4466705" y="774022"/>
                </a:lnTo>
                <a:lnTo>
                  <a:pt x="4523970" y="777413"/>
                </a:lnTo>
                <a:lnTo>
                  <a:pt x="4581236" y="780638"/>
                </a:lnTo>
                <a:lnTo>
                  <a:pt x="4638501" y="783697"/>
                </a:lnTo>
                <a:lnTo>
                  <a:pt x="4695767" y="786592"/>
                </a:lnTo>
                <a:lnTo>
                  <a:pt x="4753032" y="789321"/>
                </a:lnTo>
                <a:lnTo>
                  <a:pt x="4810298" y="791884"/>
                </a:lnTo>
                <a:lnTo>
                  <a:pt x="4867563" y="794282"/>
                </a:lnTo>
                <a:lnTo>
                  <a:pt x="4924829" y="796515"/>
                </a:lnTo>
                <a:lnTo>
                  <a:pt x="4982094" y="798582"/>
                </a:lnTo>
                <a:lnTo>
                  <a:pt x="5039360" y="800484"/>
                </a:lnTo>
                <a:lnTo>
                  <a:pt x="5096625" y="802221"/>
                </a:lnTo>
                <a:lnTo>
                  <a:pt x="5153890" y="803792"/>
                </a:lnTo>
                <a:lnTo>
                  <a:pt x="5211156" y="805198"/>
                </a:lnTo>
                <a:lnTo>
                  <a:pt x="5268421" y="806438"/>
                </a:lnTo>
                <a:lnTo>
                  <a:pt x="5325687" y="807513"/>
                </a:lnTo>
                <a:lnTo>
                  <a:pt x="5382952" y="808423"/>
                </a:lnTo>
                <a:lnTo>
                  <a:pt x="5440218" y="809167"/>
                </a:lnTo>
                <a:lnTo>
                  <a:pt x="5497483" y="809746"/>
                </a:lnTo>
                <a:lnTo>
                  <a:pt x="5554749" y="810160"/>
                </a:lnTo>
                <a:lnTo>
                  <a:pt x="5612014" y="810408"/>
                </a:lnTo>
                <a:lnTo>
                  <a:pt x="5669280" y="810490"/>
                </a:lnTo>
              </a:path>
            </a:pathLst>
          </a:custGeom>
          <a:noFill/>
          <a:ln w="431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4-E19 line 38" descr="sci-ppt:o038"/>
          <p:cNvCxnSpPr/>
          <p:nvPr/>
        </p:nvCxnSpPr>
        <p:spPr>
          <a:xfrm>
            <a:off x="914400" y="3154680"/>
            <a:ext cx="5669280" cy="0"/>
          </a:xfrm>
          <a:prstGeom prst="line">
            <a:avLst/>
          </a:prstGeom>
          <a:ln w="15240">
            <a:solidFill>
              <a:srgbClr val="2E4756"/>
            </a:solidFill>
          </a:ln>
          <a:effectLst/>
        </p:spPr>
      </p:cxnSp>
      <p:sp>
        <p:nvSpPr>
          <p:cNvPr id="41" name="C4-E19 text 39" descr="sci-ppt:o039"/>
          <p:cNvSpPr txBox="1"/>
          <p:nvPr/>
        </p:nvSpPr>
        <p:spPr>
          <a:xfrm>
            <a:off x="1554480" y="1776845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7FC8F8"/>
                </a:solidFill>
                <a:latin typeface="Arial"/>
              </a:rPr>
              <a:t>U_b = V²/(2C_b)  (stored)</a:t>
            </a:r>
          </a:p>
        </p:txBody>
      </p:sp>
      <p:sp>
        <p:nvSpPr>
          <p:cNvPr id="42" name="C4-E19 text 40" descr="sci-ppt:o040"/>
          <p:cNvSpPr txBox="1"/>
          <p:nvPr/>
        </p:nvSpPr>
        <p:spPr>
          <a:xfrm>
            <a:off x="1441094" y="4451465"/>
            <a:ext cx="23774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−p₀V  (source work)</a:t>
            </a:r>
          </a:p>
        </p:txBody>
      </p:sp>
      <p:sp>
        <p:nvSpPr>
          <p:cNvPr id="43" name="C4-E19 ellipse 41" descr="sci-ppt:o041"/>
          <p:cNvSpPr/>
          <p:nvPr/>
        </p:nvSpPr>
        <p:spPr>
          <a:xfrm>
            <a:off x="6510528" y="389201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4-E19 text 42" descr="sci-ppt:o042"/>
          <p:cNvSpPr txBox="1"/>
          <p:nvPr/>
        </p:nvSpPr>
        <p:spPr>
          <a:xfrm>
            <a:off x="4846320" y="3690850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𝒫 = −p₀V/2</a:t>
            </a:r>
          </a:p>
        </p:txBody>
      </p:sp>
      <p:sp>
        <p:nvSpPr>
          <p:cNvPr id="45" name="C4-E19 round_rect 43" descr="sci-ppt:o043"/>
          <p:cNvSpPr/>
          <p:nvPr/>
        </p:nvSpPr>
        <p:spPr>
          <a:xfrm>
            <a:off x="6858000" y="1371600"/>
            <a:ext cx="498348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4-E19 text 44" descr="sci-ppt:o044"/>
          <p:cNvSpPr txBox="1"/>
          <p:nvPr/>
        </p:nvSpPr>
        <p:spPr>
          <a:xfrm>
            <a:off x="6967728" y="1426464"/>
            <a:ext cx="47640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Maintained pressure</a:t>
            </a:r>
          </a:p>
        </p:txBody>
      </p:sp>
      <p:sp>
        <p:nvSpPr>
          <p:cNvPr id="47" name="C4-E19 text 45" descr="sci-ppt:o045"/>
          <p:cNvSpPr txBox="1"/>
          <p:nvPr/>
        </p:nvSpPr>
        <p:spPr>
          <a:xfrm>
            <a:off x="6995160" y="1828800"/>
            <a:ext cx="47548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C_b = ∂V_bl/∂p₀ = π b⁶ / (192 D_f),   V_bl = C_b p₀</a:t>
            </a:r>
          </a:p>
        </p:txBody>
      </p:sp>
      <p:sp>
        <p:nvSpPr>
          <p:cNvPr id="48" name="C4-E19 text 46" descr="sci-ppt:o046"/>
          <p:cNvSpPr txBox="1"/>
          <p:nvPr/>
        </p:nvSpPr>
        <p:spPr>
          <a:xfrm>
            <a:off x="6995160" y="2377440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U_b = V_bl² / (2C_b) = p₀V_bl / 2</a:t>
            </a:r>
          </a:p>
        </p:txBody>
      </p:sp>
      <p:sp>
        <p:nvSpPr>
          <p:cNvPr id="49" name="C4-E19 text 47" descr="sci-ppt:o047"/>
          <p:cNvSpPr txBox="1"/>
          <p:nvPr/>
        </p:nvSpPr>
        <p:spPr>
          <a:xfrm>
            <a:off x="6995160" y="2880360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𝒫 = U_b − p₀V_bl = −π p₀² b⁶ / (384 D_f)</a:t>
            </a:r>
          </a:p>
        </p:txBody>
      </p:sp>
      <p:sp>
        <p:nvSpPr>
          <p:cNvPr id="50" name="C4-E19 text 48" descr="sci-ppt:o048"/>
          <p:cNvSpPr txBox="1"/>
          <p:nvPr/>
        </p:nvSpPr>
        <p:spPr>
          <a:xfrm>
            <a:off x="6995160" y="3566160"/>
            <a:ext cx="47548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Half of the source work is stored; the other half is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loss of potential.</a:t>
            </a:r>
          </a:p>
        </p:txBody>
      </p:sp>
      <p:sp>
        <p:nvSpPr>
          <p:cNvPr id="51" name="C4-E19 text 49" descr="sci-ppt:o049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With p₀ held fixed the source does work p₀V; the total potential is negative: the system gains energy by opening.</a:t>
            </a:r>
          </a:p>
        </p:txBody>
      </p:sp>
      <p:sp>
        <p:nvSpPr>
          <p:cNvPr id="52" name="C4-E19 text 50" descr="sci-ppt:o05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Potential under maintained pressure, Eq. C4-E19 (normalised: V* = 1, p* = 1; U_b = V²/2 along the linear compliance).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C4-E20 · Derived quasistatic energy-release rate</a:t>
            </a:r>
          </a:p>
        </p:txBody>
      </p:sp>
      <p:cxnSp>
        <p:nvCxnSpPr>
          <p:cNvPr id="3" name="C4-E20 line 1" descr="sci-ppt:o001"/>
          <p:cNvCxnSpPr/>
          <p:nvPr/>
        </p:nvCxnSpPr>
        <p:spPr>
          <a:xfrm>
            <a:off x="914400" y="4937760"/>
            <a:ext cx="56692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20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20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20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20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8" name="C4-E20 line 6" descr="sci-ppt:o006"/>
          <p:cNvCxnSpPr/>
          <p:nvPr/>
        </p:nvCxnSpPr>
        <p:spPr>
          <a:xfrm>
            <a:off x="23317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20 line 7" descr="sci-ppt:o007"/>
          <p:cNvCxnSpPr/>
          <p:nvPr/>
        </p:nvCxnSpPr>
        <p:spPr>
          <a:xfrm>
            <a:off x="23317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20 text 8" descr="sci-ppt:o008"/>
          <p:cNvSpPr txBox="1"/>
          <p:nvPr/>
        </p:nvSpPr>
        <p:spPr>
          <a:xfrm>
            <a:off x="187451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1" name="C4-E20 line 9" descr="sci-ppt:o009"/>
          <p:cNvCxnSpPr/>
          <p:nvPr/>
        </p:nvCxnSpPr>
        <p:spPr>
          <a:xfrm>
            <a:off x="374903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20 line 10" descr="sci-ppt:o010"/>
          <p:cNvCxnSpPr/>
          <p:nvPr/>
        </p:nvCxnSpPr>
        <p:spPr>
          <a:xfrm>
            <a:off x="374903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20 text 11" descr="sci-ppt:o011"/>
          <p:cNvSpPr txBox="1"/>
          <p:nvPr/>
        </p:nvSpPr>
        <p:spPr>
          <a:xfrm>
            <a:off x="329183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14" name="C4-E20 line 12" descr="sci-ppt:o012"/>
          <p:cNvCxnSpPr/>
          <p:nvPr/>
        </p:nvCxnSpPr>
        <p:spPr>
          <a:xfrm>
            <a:off x="51663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20 line 13" descr="sci-ppt:o013"/>
          <p:cNvCxnSpPr/>
          <p:nvPr/>
        </p:nvCxnSpPr>
        <p:spPr>
          <a:xfrm>
            <a:off x="51663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20 text 14" descr="sci-ppt:o014"/>
          <p:cNvSpPr txBox="1"/>
          <p:nvPr/>
        </p:nvSpPr>
        <p:spPr>
          <a:xfrm>
            <a:off x="47091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1.25</a:t>
            </a:r>
          </a:p>
        </p:txBody>
      </p:sp>
      <p:cxnSp>
        <p:nvCxnSpPr>
          <p:cNvPr id="17" name="C4-E20 line 15" descr="sci-ppt:o015"/>
          <p:cNvCxnSpPr/>
          <p:nvPr/>
        </p:nvCxnSpPr>
        <p:spPr>
          <a:xfrm>
            <a:off x="658368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20 line 16" descr="sci-ppt:o016"/>
          <p:cNvCxnSpPr/>
          <p:nvPr/>
        </p:nvCxnSpPr>
        <p:spPr>
          <a:xfrm>
            <a:off x="658368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20 text 17" descr="sci-ppt:o017"/>
          <p:cNvSpPr txBox="1"/>
          <p:nvPr/>
        </p:nvSpPr>
        <p:spPr>
          <a:xfrm>
            <a:off x="612648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1.50</a:t>
            </a:r>
          </a:p>
        </p:txBody>
      </p:sp>
      <p:cxnSp>
        <p:nvCxnSpPr>
          <p:cNvPr id="20" name="C4-E20 line 18" descr="sci-ppt:o018"/>
          <p:cNvCxnSpPr/>
          <p:nvPr/>
        </p:nvCxnSpPr>
        <p:spPr>
          <a:xfrm>
            <a:off x="850392" y="442830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20 line 19" descr="sci-ppt:o019"/>
          <p:cNvCxnSpPr/>
          <p:nvPr/>
        </p:nvCxnSpPr>
        <p:spPr>
          <a:xfrm>
            <a:off x="914400" y="4428308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4-E20 text 20" descr="sci-ppt:o020"/>
          <p:cNvSpPr txBox="1"/>
          <p:nvPr/>
        </p:nvSpPr>
        <p:spPr>
          <a:xfrm>
            <a:off x="45720" y="434601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-1.2</a:t>
            </a:r>
          </a:p>
        </p:txBody>
      </p:sp>
      <p:cxnSp>
        <p:nvCxnSpPr>
          <p:cNvPr id="23" name="C4-E20 line 21" descr="sci-ppt:o021"/>
          <p:cNvCxnSpPr/>
          <p:nvPr/>
        </p:nvCxnSpPr>
        <p:spPr>
          <a:xfrm>
            <a:off x="850392" y="340940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4-E20 line 22" descr="sci-ppt:o022"/>
          <p:cNvCxnSpPr/>
          <p:nvPr/>
        </p:nvCxnSpPr>
        <p:spPr>
          <a:xfrm>
            <a:off x="914400" y="3409405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4-E20 text 23" descr="sci-ppt:o023"/>
          <p:cNvSpPr txBox="1"/>
          <p:nvPr/>
        </p:nvSpPr>
        <p:spPr>
          <a:xfrm>
            <a:off x="45720" y="332710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-0.8</a:t>
            </a:r>
          </a:p>
        </p:txBody>
      </p:sp>
      <p:cxnSp>
        <p:nvCxnSpPr>
          <p:cNvPr id="26" name="C4-E20 line 24" descr="sci-ppt:o024"/>
          <p:cNvCxnSpPr/>
          <p:nvPr/>
        </p:nvCxnSpPr>
        <p:spPr>
          <a:xfrm>
            <a:off x="850392" y="239050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4-E20 line 25" descr="sci-ppt:o025"/>
          <p:cNvCxnSpPr/>
          <p:nvPr/>
        </p:nvCxnSpPr>
        <p:spPr>
          <a:xfrm>
            <a:off x="914400" y="2390502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4-E20 text 26" descr="sci-ppt:o026"/>
          <p:cNvSpPr txBox="1"/>
          <p:nvPr/>
        </p:nvSpPr>
        <p:spPr>
          <a:xfrm>
            <a:off x="45720" y="230820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-0.4</a:t>
            </a:r>
          </a:p>
        </p:txBody>
      </p:sp>
      <p:cxnSp>
        <p:nvCxnSpPr>
          <p:cNvPr id="29" name="C4-E20 line 27" descr="sci-ppt:o027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4-E20 line 28" descr="sci-ppt:o028"/>
          <p:cNvCxnSpPr/>
          <p:nvPr/>
        </p:nvCxnSpPr>
        <p:spPr>
          <a:xfrm>
            <a:off x="914400" y="1371600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4-E20 text 29" descr="sci-ppt:o029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sp>
        <p:nvSpPr>
          <p:cNvPr id="32" name="C4-E20 text 30" descr="sci-ppt:o030"/>
          <p:cNvSpPr txBox="1"/>
          <p:nvPr/>
        </p:nvSpPr>
        <p:spPr>
          <a:xfrm>
            <a:off x="914400" y="5221224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b / b₀</a:t>
            </a:r>
          </a:p>
        </p:txBody>
      </p:sp>
      <p:sp>
        <p:nvSpPr>
          <p:cNvPr id="33" name="C4-E20 text 31" descr="sci-ppt:o031"/>
          <p:cNvSpPr txBox="1"/>
          <p:nvPr/>
        </p:nvSpPr>
        <p:spPr>
          <a:xfrm>
            <a:off x="365760" y="1024128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𝒫 / 𝒫(b₀)</a:t>
            </a:r>
          </a:p>
        </p:txBody>
      </p:sp>
      <p:sp>
        <p:nvSpPr>
          <p:cNvPr id="34" name="C4-E20 polygon 32" descr="sci-ppt:o032"/>
          <p:cNvSpPr/>
          <p:nvPr/>
        </p:nvSpPr>
        <p:spPr>
          <a:xfrm>
            <a:off x="914400" y="1411400"/>
            <a:ext cx="3149600" cy="3483579"/>
          </a:xfrm>
          <a:custGeom>
            <a:avLst/>
            <a:gdLst/>
            <a:ahLst/>
            <a:cxnLst/>
            <a:rect l="l" t="t" r="r" b="b"/>
            <a:pathLst>
              <a:path w="3149600" h="3483579">
                <a:moveTo>
                  <a:pt x="0" y="0"/>
                </a:moveTo>
                <a:lnTo>
                  <a:pt x="57265" y="5075"/>
                </a:lnTo>
                <a:lnTo>
                  <a:pt x="114530" y="10678"/>
                </a:lnTo>
                <a:lnTo>
                  <a:pt x="171796" y="16852"/>
                </a:lnTo>
                <a:lnTo>
                  <a:pt x="229061" y="23643"/>
                </a:lnTo>
                <a:lnTo>
                  <a:pt x="286327" y="31099"/>
                </a:lnTo>
                <a:lnTo>
                  <a:pt x="343592" y="39271"/>
                </a:lnTo>
                <a:lnTo>
                  <a:pt x="400858" y="48214"/>
                </a:lnTo>
                <a:lnTo>
                  <a:pt x="458123" y="57984"/>
                </a:lnTo>
                <a:lnTo>
                  <a:pt x="515389" y="68641"/>
                </a:lnTo>
                <a:lnTo>
                  <a:pt x="572654" y="80250"/>
                </a:lnTo>
                <a:lnTo>
                  <a:pt x="629920" y="92876"/>
                </a:lnTo>
                <a:lnTo>
                  <a:pt x="687185" y="106590"/>
                </a:lnTo>
                <a:lnTo>
                  <a:pt x="744450" y="121465"/>
                </a:lnTo>
                <a:lnTo>
                  <a:pt x="801716" y="137579"/>
                </a:lnTo>
                <a:lnTo>
                  <a:pt x="858981" y="155013"/>
                </a:lnTo>
                <a:lnTo>
                  <a:pt x="916247" y="173853"/>
                </a:lnTo>
                <a:lnTo>
                  <a:pt x="973512" y="194186"/>
                </a:lnTo>
                <a:lnTo>
                  <a:pt x="1030778" y="216108"/>
                </a:lnTo>
                <a:lnTo>
                  <a:pt x="1088043" y="239714"/>
                </a:lnTo>
                <a:lnTo>
                  <a:pt x="1145309" y="265109"/>
                </a:lnTo>
                <a:lnTo>
                  <a:pt x="1202574" y="292397"/>
                </a:lnTo>
                <a:lnTo>
                  <a:pt x="1259840" y="321691"/>
                </a:lnTo>
                <a:lnTo>
                  <a:pt x="1317105" y="353106"/>
                </a:lnTo>
                <a:lnTo>
                  <a:pt x="1374370" y="386765"/>
                </a:lnTo>
                <a:lnTo>
                  <a:pt x="1431636" y="422793"/>
                </a:lnTo>
                <a:lnTo>
                  <a:pt x="1488901" y="461321"/>
                </a:lnTo>
                <a:lnTo>
                  <a:pt x="1546167" y="502488"/>
                </a:lnTo>
                <a:lnTo>
                  <a:pt x="1603432" y="546435"/>
                </a:lnTo>
                <a:lnTo>
                  <a:pt x="1660698" y="593310"/>
                </a:lnTo>
                <a:lnTo>
                  <a:pt x="1717963" y="643268"/>
                </a:lnTo>
                <a:lnTo>
                  <a:pt x="1775229" y="696469"/>
                </a:lnTo>
                <a:lnTo>
                  <a:pt x="1832494" y="753079"/>
                </a:lnTo>
                <a:lnTo>
                  <a:pt x="1889760" y="813271"/>
                </a:lnTo>
                <a:lnTo>
                  <a:pt x="1947025" y="877223"/>
                </a:lnTo>
                <a:lnTo>
                  <a:pt x="2004290" y="945122"/>
                </a:lnTo>
                <a:lnTo>
                  <a:pt x="2061556" y="1017159"/>
                </a:lnTo>
                <a:lnTo>
                  <a:pt x="2118821" y="1093534"/>
                </a:lnTo>
                <a:lnTo>
                  <a:pt x="2176087" y="1174455"/>
                </a:lnTo>
                <a:lnTo>
                  <a:pt x="2233352" y="1260133"/>
                </a:lnTo>
                <a:lnTo>
                  <a:pt x="2290618" y="1350792"/>
                </a:lnTo>
                <a:lnTo>
                  <a:pt x="2347883" y="1446659"/>
                </a:lnTo>
                <a:lnTo>
                  <a:pt x="2405149" y="1547972"/>
                </a:lnTo>
                <a:lnTo>
                  <a:pt x="2462414" y="1654974"/>
                </a:lnTo>
                <a:lnTo>
                  <a:pt x="2519680" y="1767920"/>
                </a:lnTo>
                <a:lnTo>
                  <a:pt x="2576945" y="1887070"/>
                </a:lnTo>
                <a:lnTo>
                  <a:pt x="2634210" y="2012693"/>
                </a:lnTo>
                <a:lnTo>
                  <a:pt x="2691476" y="2145069"/>
                </a:lnTo>
                <a:lnTo>
                  <a:pt x="2748741" y="2284484"/>
                </a:lnTo>
                <a:lnTo>
                  <a:pt x="2806007" y="2431235"/>
                </a:lnTo>
                <a:lnTo>
                  <a:pt x="2863272" y="2585627"/>
                </a:lnTo>
                <a:lnTo>
                  <a:pt x="2920538" y="2747976"/>
                </a:lnTo>
                <a:lnTo>
                  <a:pt x="2977803" y="2918606"/>
                </a:lnTo>
                <a:lnTo>
                  <a:pt x="3035069" y="3097852"/>
                </a:lnTo>
                <a:lnTo>
                  <a:pt x="3092334" y="3286058"/>
                </a:lnTo>
                <a:lnTo>
                  <a:pt x="3149600" y="3483579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4-E20 ellipse 33" descr="sci-ppt:o033"/>
          <p:cNvSpPr/>
          <p:nvPr/>
        </p:nvSpPr>
        <p:spPr>
          <a:xfrm>
            <a:off x="3675887" y="3845705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4-E20 text 34" descr="sci-ppt:o034"/>
          <p:cNvSpPr txBox="1"/>
          <p:nvPr/>
        </p:nvSpPr>
        <p:spPr>
          <a:xfrm>
            <a:off x="4502505" y="2645228"/>
            <a:ext cx="182880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slope −6𝒫₀/b₀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at b = b₀</a:t>
            </a:r>
          </a:p>
        </p:txBody>
      </p:sp>
      <p:sp>
        <p:nvSpPr>
          <p:cNvPr id="37" name="C4-E20 round_rect 35" descr="sci-ppt:o035"/>
          <p:cNvSpPr/>
          <p:nvPr/>
        </p:nvSpPr>
        <p:spPr>
          <a:xfrm>
            <a:off x="6858000" y="1371600"/>
            <a:ext cx="498348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4-E20 text 36" descr="sci-ppt:o036"/>
          <p:cNvSpPr txBox="1"/>
          <p:nvPr/>
        </p:nvSpPr>
        <p:spPr>
          <a:xfrm>
            <a:off x="6967728" y="1426464"/>
            <a:ext cx="47640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From potential to G</a:t>
            </a:r>
          </a:p>
        </p:txBody>
      </p:sp>
      <p:sp>
        <p:nvSpPr>
          <p:cNvPr id="39" name="C4-E20 text 37" descr="sci-ppt:o037"/>
          <p:cNvSpPr txBox="1"/>
          <p:nvPr/>
        </p:nvSpPr>
        <p:spPr>
          <a:xfrm>
            <a:off x="6995160" y="1783080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A_c = π b²,   dA_c/db = 2π b</a:t>
            </a:r>
          </a:p>
        </p:txBody>
      </p:sp>
      <p:sp>
        <p:nvSpPr>
          <p:cNvPr id="40" name="C4-E20 text 38" descr="sci-ppt:o038"/>
          <p:cNvSpPr txBox="1"/>
          <p:nvPr/>
        </p:nvSpPr>
        <p:spPr>
          <a:xfrm>
            <a:off x="6995160" y="2286000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(d𝒫/db)_{p₀} = −6π p₀² b⁵ / (384 D_f)</a:t>
            </a:r>
          </a:p>
        </p:txBody>
      </p:sp>
      <p:sp>
        <p:nvSpPr>
          <p:cNvPr id="41" name="C4-E20 text 39" descr="sci-ppt:o039"/>
          <p:cNvSpPr txBox="1"/>
          <p:nvPr/>
        </p:nvSpPr>
        <p:spPr>
          <a:xfrm>
            <a:off x="6995160" y="2788920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G = −(d𝒫/db) / (dA_c/db)</a:t>
            </a:r>
          </a:p>
        </p:txBody>
      </p:sp>
      <p:sp>
        <p:nvSpPr>
          <p:cNvPr id="42" name="C4-E20 text 40" descr="sci-ppt:o040"/>
          <p:cNvSpPr txBox="1"/>
          <p:nvPr/>
        </p:nvSpPr>
        <p:spPr>
          <a:xfrm>
            <a:off x="6995160" y="3337560"/>
            <a:ext cx="475488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B880"/>
                </a:solidFill>
                <a:latin typeface="Arial"/>
              </a:rPr>
              <a:t>Gₚ₀ = p₀² b⁴ / (128 D_f)</a:t>
            </a:r>
          </a:p>
        </p:txBody>
      </p:sp>
      <p:sp>
        <p:nvSpPr>
          <p:cNvPr id="43" name="C4-E20 text 41" descr="sci-ppt:o041"/>
          <p:cNvSpPr txBox="1"/>
          <p:nvPr/>
        </p:nvSpPr>
        <p:spPr>
          <a:xfrm>
            <a:off x="6995160" y="4023360"/>
            <a:ext cx="4754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Pressure squared times radius to the fourth.</a:t>
            </a:r>
          </a:p>
        </p:txBody>
      </p:sp>
      <p:sp>
        <p:nvSpPr>
          <p:cNvPr id="44" name="C4-E20 text 42" descr="sci-ppt:o042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𝒫 ∝ b⁶ falls faster as the blister grows: at fixed pressure each increment of area releases more energy.</a:t>
            </a:r>
          </a:p>
        </p:txBody>
      </p:sp>
      <p:sp>
        <p:nvSpPr>
          <p:cNvPr id="45" name="C4-E20 text 43" descr="sci-ppt:o04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Energy-release rate of Eq. C4-E20 (curve is −b⁶ normalised, schematic of the b⁶ dependence).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C4-E21 · Derived onset threshold within the benchmark</a:t>
            </a:r>
          </a:p>
        </p:txBody>
      </p:sp>
      <p:cxnSp>
        <p:nvCxnSpPr>
          <p:cNvPr id="3" name="C4-E21 line 1" descr="sci-ppt:o001"/>
          <p:cNvCxnSpPr/>
          <p:nvPr/>
        </p:nvCxnSpPr>
        <p:spPr>
          <a:xfrm>
            <a:off x="914400" y="4937760"/>
            <a:ext cx="56692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21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21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21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21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4-E21 line 6" descr="sci-ppt:o006"/>
          <p:cNvCxnSpPr/>
          <p:nvPr/>
        </p:nvCxnSpPr>
        <p:spPr>
          <a:xfrm>
            <a:off x="23317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21 line 7" descr="sci-ppt:o007"/>
          <p:cNvCxnSpPr/>
          <p:nvPr/>
        </p:nvCxnSpPr>
        <p:spPr>
          <a:xfrm>
            <a:off x="23317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21 text 8" descr="sci-ppt:o008"/>
          <p:cNvSpPr txBox="1"/>
          <p:nvPr/>
        </p:nvSpPr>
        <p:spPr>
          <a:xfrm>
            <a:off x="187451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4-E21 line 9" descr="sci-ppt:o009"/>
          <p:cNvCxnSpPr/>
          <p:nvPr/>
        </p:nvCxnSpPr>
        <p:spPr>
          <a:xfrm>
            <a:off x="374903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21 line 10" descr="sci-ppt:o010"/>
          <p:cNvCxnSpPr/>
          <p:nvPr/>
        </p:nvCxnSpPr>
        <p:spPr>
          <a:xfrm>
            <a:off x="374903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21 text 11" descr="sci-ppt:o011"/>
          <p:cNvSpPr txBox="1"/>
          <p:nvPr/>
        </p:nvSpPr>
        <p:spPr>
          <a:xfrm>
            <a:off x="329183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4-E21 line 12" descr="sci-ppt:o012"/>
          <p:cNvCxnSpPr/>
          <p:nvPr/>
        </p:nvCxnSpPr>
        <p:spPr>
          <a:xfrm>
            <a:off x="51663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21 line 13" descr="sci-ppt:o013"/>
          <p:cNvCxnSpPr/>
          <p:nvPr/>
        </p:nvCxnSpPr>
        <p:spPr>
          <a:xfrm>
            <a:off x="51663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21 text 14" descr="sci-ppt:o014"/>
          <p:cNvSpPr txBox="1"/>
          <p:nvPr/>
        </p:nvSpPr>
        <p:spPr>
          <a:xfrm>
            <a:off x="47091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4-E21 line 15" descr="sci-ppt:o015"/>
          <p:cNvCxnSpPr/>
          <p:nvPr/>
        </p:nvCxnSpPr>
        <p:spPr>
          <a:xfrm>
            <a:off x="658368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21 line 16" descr="sci-ppt:o016"/>
          <p:cNvCxnSpPr/>
          <p:nvPr/>
        </p:nvCxnSpPr>
        <p:spPr>
          <a:xfrm>
            <a:off x="658368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21 text 17" descr="sci-ppt:o017"/>
          <p:cNvSpPr txBox="1"/>
          <p:nvPr/>
        </p:nvSpPr>
        <p:spPr>
          <a:xfrm>
            <a:off x="612648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20" name="C4-E21 line 18" descr="sci-ppt:o018"/>
          <p:cNvCxnSpPr/>
          <p:nvPr/>
        </p:nvCxnSpPr>
        <p:spPr>
          <a:xfrm>
            <a:off x="8503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21 line 19" descr="sci-ppt:o019"/>
          <p:cNvCxnSpPr/>
          <p:nvPr/>
        </p:nvCxnSpPr>
        <p:spPr>
          <a:xfrm>
            <a:off x="850392" y="408867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21 line 20" descr="sci-ppt:o020"/>
          <p:cNvCxnSpPr/>
          <p:nvPr/>
        </p:nvCxnSpPr>
        <p:spPr>
          <a:xfrm>
            <a:off x="914400" y="4088674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4-E21 text 21" descr="sci-ppt:o021"/>
          <p:cNvSpPr txBox="1"/>
          <p:nvPr/>
        </p:nvSpPr>
        <p:spPr>
          <a:xfrm>
            <a:off x="45720" y="400637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4" name="C4-E21 line 22" descr="sci-ppt:o022"/>
          <p:cNvCxnSpPr/>
          <p:nvPr/>
        </p:nvCxnSpPr>
        <p:spPr>
          <a:xfrm>
            <a:off x="850392" y="323958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21 line 23" descr="sci-ppt:o023"/>
          <p:cNvCxnSpPr/>
          <p:nvPr/>
        </p:nvCxnSpPr>
        <p:spPr>
          <a:xfrm>
            <a:off x="914400" y="3239588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21 text 24" descr="sci-ppt:o024"/>
          <p:cNvSpPr txBox="1"/>
          <p:nvPr/>
        </p:nvSpPr>
        <p:spPr>
          <a:xfrm>
            <a:off x="45720" y="315729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7" name="C4-E21 line 25" descr="sci-ppt:o025"/>
          <p:cNvCxnSpPr/>
          <p:nvPr/>
        </p:nvCxnSpPr>
        <p:spPr>
          <a:xfrm>
            <a:off x="850392" y="239050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4-E21 line 26" descr="sci-ppt:o026"/>
          <p:cNvCxnSpPr/>
          <p:nvPr/>
        </p:nvCxnSpPr>
        <p:spPr>
          <a:xfrm>
            <a:off x="914400" y="2390502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4-E21 text 27" descr="sci-ppt:o027"/>
          <p:cNvSpPr txBox="1"/>
          <p:nvPr/>
        </p:nvSpPr>
        <p:spPr>
          <a:xfrm>
            <a:off x="45720" y="230820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30" name="C4-E21 line 28" descr="sci-ppt:o028"/>
          <p:cNvCxnSpPr/>
          <p:nvPr/>
        </p:nvCxnSpPr>
        <p:spPr>
          <a:xfrm>
            <a:off x="850392" y="154141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4-E21 line 29" descr="sci-ppt:o029"/>
          <p:cNvCxnSpPr/>
          <p:nvPr/>
        </p:nvCxnSpPr>
        <p:spPr>
          <a:xfrm>
            <a:off x="914400" y="1541417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4-E21 text 30" descr="sci-ppt:o030"/>
          <p:cNvSpPr txBox="1"/>
          <p:nvPr/>
        </p:nvSpPr>
        <p:spPr>
          <a:xfrm>
            <a:off x="45720" y="145912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sp>
        <p:nvSpPr>
          <p:cNvPr id="33" name="C4-E21 text 31" descr="sci-ppt:o031"/>
          <p:cNvSpPr txBox="1"/>
          <p:nvPr/>
        </p:nvSpPr>
        <p:spPr>
          <a:xfrm>
            <a:off x="914400" y="5221224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p₀ / p₀,crit</a:t>
            </a:r>
          </a:p>
        </p:txBody>
      </p:sp>
      <p:sp>
        <p:nvSpPr>
          <p:cNvPr id="34" name="C4-E21 text 32" descr="sci-ppt:o032"/>
          <p:cNvSpPr txBox="1"/>
          <p:nvPr/>
        </p:nvSpPr>
        <p:spPr>
          <a:xfrm>
            <a:off x="365760" y="1024128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G / Γ</a:t>
            </a:r>
          </a:p>
        </p:txBody>
      </p:sp>
      <p:sp>
        <p:nvSpPr>
          <p:cNvPr id="35" name="C4-E21 polygon 33" descr="sci-ppt:o033"/>
          <p:cNvSpPr/>
          <p:nvPr/>
        </p:nvSpPr>
        <p:spPr>
          <a:xfrm>
            <a:off x="914400" y="1541417"/>
            <a:ext cx="5669280" cy="3396343"/>
          </a:xfrm>
          <a:custGeom>
            <a:avLst/>
            <a:gdLst/>
            <a:ahLst/>
            <a:cxnLst/>
            <a:rect l="l" t="t" r="r" b="b"/>
            <a:pathLst>
              <a:path w="5669280" h="3396343">
                <a:moveTo>
                  <a:pt x="0" y="3396343"/>
                </a:moveTo>
                <a:lnTo>
                  <a:pt x="57265" y="3395996"/>
                </a:lnTo>
                <a:lnTo>
                  <a:pt x="114530" y="3394956"/>
                </a:lnTo>
                <a:lnTo>
                  <a:pt x="171796" y="3393224"/>
                </a:lnTo>
                <a:lnTo>
                  <a:pt x="229061" y="3390798"/>
                </a:lnTo>
                <a:lnTo>
                  <a:pt x="286327" y="3387679"/>
                </a:lnTo>
                <a:lnTo>
                  <a:pt x="343592" y="3383867"/>
                </a:lnTo>
                <a:lnTo>
                  <a:pt x="400858" y="3379363"/>
                </a:lnTo>
                <a:lnTo>
                  <a:pt x="458123" y="3374165"/>
                </a:lnTo>
                <a:lnTo>
                  <a:pt x="515389" y="3368274"/>
                </a:lnTo>
                <a:lnTo>
                  <a:pt x="572654" y="3361689"/>
                </a:lnTo>
                <a:lnTo>
                  <a:pt x="629920" y="3354412"/>
                </a:lnTo>
                <a:lnTo>
                  <a:pt x="687185" y="3346442"/>
                </a:lnTo>
                <a:lnTo>
                  <a:pt x="744450" y="3337779"/>
                </a:lnTo>
                <a:lnTo>
                  <a:pt x="801716" y="3328423"/>
                </a:lnTo>
                <a:lnTo>
                  <a:pt x="858981" y="3318373"/>
                </a:lnTo>
                <a:lnTo>
                  <a:pt x="916247" y="3307631"/>
                </a:lnTo>
                <a:lnTo>
                  <a:pt x="973512" y="3296195"/>
                </a:lnTo>
                <a:lnTo>
                  <a:pt x="1030778" y="3284067"/>
                </a:lnTo>
                <a:lnTo>
                  <a:pt x="1088043" y="3271245"/>
                </a:lnTo>
                <a:lnTo>
                  <a:pt x="1145309" y="3257730"/>
                </a:lnTo>
                <a:lnTo>
                  <a:pt x="1202574" y="3243523"/>
                </a:lnTo>
                <a:lnTo>
                  <a:pt x="1259840" y="3228622"/>
                </a:lnTo>
                <a:lnTo>
                  <a:pt x="1317105" y="3213028"/>
                </a:lnTo>
                <a:lnTo>
                  <a:pt x="1374370" y="3196741"/>
                </a:lnTo>
                <a:lnTo>
                  <a:pt x="1431636" y="3179761"/>
                </a:lnTo>
                <a:lnTo>
                  <a:pt x="1488901" y="3162088"/>
                </a:lnTo>
                <a:lnTo>
                  <a:pt x="1546167" y="3143722"/>
                </a:lnTo>
                <a:lnTo>
                  <a:pt x="1603432" y="3124663"/>
                </a:lnTo>
                <a:lnTo>
                  <a:pt x="1660698" y="3104911"/>
                </a:lnTo>
                <a:lnTo>
                  <a:pt x="1717963" y="3084465"/>
                </a:lnTo>
                <a:lnTo>
                  <a:pt x="1775229" y="3063327"/>
                </a:lnTo>
                <a:lnTo>
                  <a:pt x="1832494" y="3041496"/>
                </a:lnTo>
                <a:lnTo>
                  <a:pt x="1889760" y="3018971"/>
                </a:lnTo>
                <a:lnTo>
                  <a:pt x="1947025" y="2995754"/>
                </a:lnTo>
                <a:lnTo>
                  <a:pt x="2004290" y="2971843"/>
                </a:lnTo>
                <a:lnTo>
                  <a:pt x="2061556" y="2947239"/>
                </a:lnTo>
                <a:lnTo>
                  <a:pt x="2118821" y="2921943"/>
                </a:lnTo>
                <a:lnTo>
                  <a:pt x="2176087" y="2895953"/>
                </a:lnTo>
                <a:lnTo>
                  <a:pt x="2233352" y="2869270"/>
                </a:lnTo>
                <a:lnTo>
                  <a:pt x="2290618" y="2841894"/>
                </a:lnTo>
                <a:lnTo>
                  <a:pt x="2347883" y="2813825"/>
                </a:lnTo>
                <a:lnTo>
                  <a:pt x="2405149" y="2785063"/>
                </a:lnTo>
                <a:lnTo>
                  <a:pt x="2462414" y="2755608"/>
                </a:lnTo>
                <a:lnTo>
                  <a:pt x="2519680" y="2725460"/>
                </a:lnTo>
                <a:lnTo>
                  <a:pt x="2576945" y="2694619"/>
                </a:lnTo>
                <a:lnTo>
                  <a:pt x="2634210" y="2663085"/>
                </a:lnTo>
                <a:lnTo>
                  <a:pt x="2691476" y="2630857"/>
                </a:lnTo>
                <a:lnTo>
                  <a:pt x="2748741" y="2597937"/>
                </a:lnTo>
                <a:lnTo>
                  <a:pt x="2806007" y="2564323"/>
                </a:lnTo>
                <a:lnTo>
                  <a:pt x="2863272" y="2530017"/>
                </a:lnTo>
                <a:lnTo>
                  <a:pt x="2920538" y="2495017"/>
                </a:lnTo>
                <a:lnTo>
                  <a:pt x="2977803" y="2459325"/>
                </a:lnTo>
                <a:lnTo>
                  <a:pt x="3035069" y="2422939"/>
                </a:lnTo>
                <a:lnTo>
                  <a:pt x="3092334" y="2385860"/>
                </a:lnTo>
                <a:lnTo>
                  <a:pt x="3149600" y="2348089"/>
                </a:lnTo>
                <a:lnTo>
                  <a:pt x="3206865" y="2309624"/>
                </a:lnTo>
                <a:lnTo>
                  <a:pt x="3264130" y="2270466"/>
                </a:lnTo>
                <a:lnTo>
                  <a:pt x="3321396" y="2230615"/>
                </a:lnTo>
                <a:lnTo>
                  <a:pt x="3378661" y="2190071"/>
                </a:lnTo>
                <a:lnTo>
                  <a:pt x="3435927" y="2148834"/>
                </a:lnTo>
                <a:lnTo>
                  <a:pt x="3493192" y="2106903"/>
                </a:lnTo>
                <a:lnTo>
                  <a:pt x="3550458" y="2064280"/>
                </a:lnTo>
                <a:lnTo>
                  <a:pt x="3607723" y="2020964"/>
                </a:lnTo>
                <a:lnTo>
                  <a:pt x="3664989" y="1976955"/>
                </a:lnTo>
                <a:lnTo>
                  <a:pt x="3722254" y="1932252"/>
                </a:lnTo>
                <a:lnTo>
                  <a:pt x="3779520" y="1886857"/>
                </a:lnTo>
                <a:lnTo>
                  <a:pt x="3836785" y="1840768"/>
                </a:lnTo>
                <a:lnTo>
                  <a:pt x="3894050" y="1793987"/>
                </a:lnTo>
                <a:lnTo>
                  <a:pt x="3951316" y="1746512"/>
                </a:lnTo>
                <a:lnTo>
                  <a:pt x="4008581" y="1698344"/>
                </a:lnTo>
                <a:lnTo>
                  <a:pt x="4065847" y="1649484"/>
                </a:lnTo>
                <a:lnTo>
                  <a:pt x="4123112" y="1599930"/>
                </a:lnTo>
                <a:lnTo>
                  <a:pt x="4180378" y="1549683"/>
                </a:lnTo>
                <a:lnTo>
                  <a:pt x="4237643" y="1498743"/>
                </a:lnTo>
                <a:lnTo>
                  <a:pt x="4294909" y="1447110"/>
                </a:lnTo>
                <a:lnTo>
                  <a:pt x="4352174" y="1394784"/>
                </a:lnTo>
                <a:lnTo>
                  <a:pt x="4409440" y="1341765"/>
                </a:lnTo>
                <a:lnTo>
                  <a:pt x="4466705" y="1288053"/>
                </a:lnTo>
                <a:lnTo>
                  <a:pt x="4523970" y="1233647"/>
                </a:lnTo>
                <a:lnTo>
                  <a:pt x="4581236" y="1178549"/>
                </a:lnTo>
                <a:lnTo>
                  <a:pt x="4638501" y="1122758"/>
                </a:lnTo>
                <a:lnTo>
                  <a:pt x="4695767" y="1066273"/>
                </a:lnTo>
                <a:lnTo>
                  <a:pt x="4753032" y="1009096"/>
                </a:lnTo>
                <a:lnTo>
                  <a:pt x="4810298" y="951225"/>
                </a:lnTo>
                <a:lnTo>
                  <a:pt x="4867563" y="892662"/>
                </a:lnTo>
                <a:lnTo>
                  <a:pt x="4924829" y="833405"/>
                </a:lnTo>
                <a:lnTo>
                  <a:pt x="4982094" y="773455"/>
                </a:lnTo>
                <a:lnTo>
                  <a:pt x="5039360" y="712812"/>
                </a:lnTo>
                <a:lnTo>
                  <a:pt x="5096625" y="651476"/>
                </a:lnTo>
                <a:lnTo>
                  <a:pt x="5153890" y="589448"/>
                </a:lnTo>
                <a:lnTo>
                  <a:pt x="5211156" y="526726"/>
                </a:lnTo>
                <a:lnTo>
                  <a:pt x="5268421" y="463311"/>
                </a:lnTo>
                <a:lnTo>
                  <a:pt x="5325687" y="399202"/>
                </a:lnTo>
                <a:lnTo>
                  <a:pt x="5382952" y="334401"/>
                </a:lnTo>
                <a:lnTo>
                  <a:pt x="5440218" y="268907"/>
                </a:lnTo>
                <a:lnTo>
                  <a:pt x="5497483" y="202720"/>
                </a:lnTo>
                <a:lnTo>
                  <a:pt x="5554749" y="135839"/>
                </a:lnTo>
                <a:lnTo>
                  <a:pt x="5612014" y="68266"/>
                </a:lnTo>
                <a:lnTo>
                  <a:pt x="5669280" y="0"/>
                </a:lnTo>
              </a:path>
            </a:pathLst>
          </a:custGeom>
          <a:noFill/>
          <a:ln w="431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4-E21 line 34" descr="sci-ppt:o034"/>
          <p:cNvCxnSpPr/>
          <p:nvPr/>
        </p:nvCxnSpPr>
        <p:spPr>
          <a:xfrm>
            <a:off x="914400" y="4088674"/>
            <a:ext cx="566928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cxnSp>
        <p:nvCxnSpPr>
          <p:cNvPr id="37" name="C4-E21 line 35" descr="sci-ppt:o035"/>
          <p:cNvCxnSpPr/>
          <p:nvPr/>
        </p:nvCxnSpPr>
        <p:spPr>
          <a:xfrm>
            <a:off x="3749039" y="1371600"/>
            <a:ext cx="0" cy="356616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8" name="C4-E21 ellipse 36" descr="sci-ppt:o036"/>
          <p:cNvSpPr/>
          <p:nvPr/>
        </p:nvSpPr>
        <p:spPr>
          <a:xfrm>
            <a:off x="3675887" y="4015522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4-E21 text 37" descr="sci-ppt:o037"/>
          <p:cNvSpPr txBox="1"/>
          <p:nvPr/>
        </p:nvSpPr>
        <p:spPr>
          <a:xfrm>
            <a:off x="4073652" y="4500154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onset: G = Γ</a:t>
            </a:r>
          </a:p>
        </p:txBody>
      </p:sp>
      <p:sp>
        <p:nvSpPr>
          <p:cNvPr id="40" name="C4-E21 text 38" descr="sci-ppt:o038"/>
          <p:cNvSpPr txBox="1"/>
          <p:nvPr/>
        </p:nvSpPr>
        <p:spPr>
          <a:xfrm>
            <a:off x="1271016" y="1874520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G/Γ = (p₀/p₀,crit)²</a:t>
            </a:r>
          </a:p>
        </p:txBody>
      </p:sp>
      <p:sp>
        <p:nvSpPr>
          <p:cNvPr id="41" name="C4-E21 round_rect 39" descr="sci-ppt:o039"/>
          <p:cNvSpPr/>
          <p:nvPr/>
        </p:nvSpPr>
        <p:spPr>
          <a:xfrm>
            <a:off x="6858000" y="1371600"/>
            <a:ext cx="498348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4-E21 text 40" descr="sci-ppt:o040"/>
          <p:cNvSpPr txBox="1"/>
          <p:nvPr/>
        </p:nvSpPr>
        <p:spPr>
          <a:xfrm>
            <a:off x="6967728" y="1426464"/>
            <a:ext cx="47640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Threshold pressure</a:t>
            </a:r>
          </a:p>
        </p:txBody>
      </p:sp>
      <p:sp>
        <p:nvSpPr>
          <p:cNvPr id="43" name="C4-E21 text 41" descr="sci-ppt:o041"/>
          <p:cNvSpPr txBox="1"/>
          <p:nvPr/>
        </p:nvSpPr>
        <p:spPr>
          <a:xfrm>
            <a:off x="6995160" y="1828800"/>
            <a:ext cx="47548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Gₚ₀ = Γ  ⇒  p₀,crit = √(128 D_f Γ) / b²</a:t>
            </a:r>
          </a:p>
        </p:txBody>
      </p:sp>
      <p:sp>
        <p:nvSpPr>
          <p:cNvPr id="44" name="C4-E21 text 42" descr="sci-ppt:o042"/>
          <p:cNvSpPr txBox="1"/>
          <p:nvPr/>
        </p:nvSpPr>
        <p:spPr>
          <a:xfrm>
            <a:off x="6995160" y="2651760"/>
            <a:ext cx="47548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G / Γ = (p₀ / p₀,crit)²</a:t>
            </a:r>
          </a:p>
        </p:txBody>
      </p:sp>
      <p:sp>
        <p:nvSpPr>
          <p:cNvPr id="45" name="C4-E21 text 43" descr="sci-ppt:o043"/>
          <p:cNvSpPr txBox="1"/>
          <p:nvPr/>
        </p:nvSpPr>
        <p:spPr>
          <a:xfrm>
            <a:off x="7196328" y="3291840"/>
            <a:ext cx="45537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Doubling p₀ quadruples G.</a:t>
            </a:r>
          </a:p>
        </p:txBody>
      </p:sp>
      <p:sp>
        <p:nvSpPr>
          <p:cNvPr id="46" name="C4-E21 ellipse 44" descr="sci-ppt:o044"/>
          <p:cNvSpPr/>
          <p:nvPr/>
        </p:nvSpPr>
        <p:spPr>
          <a:xfrm>
            <a:off x="7027164" y="334518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4-E21 text 45" descr="sci-ppt:o045"/>
          <p:cNvSpPr txBox="1"/>
          <p:nvPr/>
        </p:nvSpPr>
        <p:spPr>
          <a:xfrm>
            <a:off x="7196328" y="3569208"/>
            <a:ext cx="45537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 bigger blister (b) lowers the pressure needed as 1/b².</a:t>
            </a:r>
          </a:p>
        </p:txBody>
      </p:sp>
      <p:sp>
        <p:nvSpPr>
          <p:cNvPr id="48" name="C4-E21 ellipse 46" descr="sci-ppt:o046"/>
          <p:cNvSpPr/>
          <p:nvPr/>
        </p:nvSpPr>
        <p:spPr>
          <a:xfrm>
            <a:off x="7027164" y="362254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4-E21 text 47" descr="sci-ppt:o047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threshold depends on geometry and fracture resistance, not on pressure alone: a pressure peak without b and Γ says nothing.</a:t>
            </a:r>
          </a:p>
        </p:txBody>
      </p:sp>
      <p:sp>
        <p:nvSpPr>
          <p:cNvPr id="50" name="C4-E21 text 48" descr="sci-ppt:o04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Onset threshold of Eq. C4-E21.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C4-E22 · Derived loading-control comparison</a:t>
            </a:r>
          </a:p>
        </p:txBody>
      </p:sp>
      <p:cxnSp>
        <p:nvCxnSpPr>
          <p:cNvPr id="3" name="C4-E22 line 1" descr="sci-ppt:o001"/>
          <p:cNvCxnSpPr/>
          <p:nvPr/>
        </p:nvCxnSpPr>
        <p:spPr>
          <a:xfrm>
            <a:off x="914400" y="4937760"/>
            <a:ext cx="56692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22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22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22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22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8" name="C4-E22 line 6" descr="sci-ppt:o006"/>
          <p:cNvCxnSpPr/>
          <p:nvPr/>
        </p:nvCxnSpPr>
        <p:spPr>
          <a:xfrm>
            <a:off x="28041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22 line 7" descr="sci-ppt:o007"/>
          <p:cNvCxnSpPr/>
          <p:nvPr/>
        </p:nvCxnSpPr>
        <p:spPr>
          <a:xfrm>
            <a:off x="28041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22 text 8" descr="sci-ppt:o008"/>
          <p:cNvSpPr txBox="1"/>
          <p:nvPr/>
        </p:nvSpPr>
        <p:spPr>
          <a:xfrm>
            <a:off x="23469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4-E22 line 9" descr="sci-ppt:o009"/>
          <p:cNvCxnSpPr/>
          <p:nvPr/>
        </p:nvCxnSpPr>
        <p:spPr>
          <a:xfrm>
            <a:off x="46939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22 line 10" descr="sci-ppt:o010"/>
          <p:cNvCxnSpPr/>
          <p:nvPr/>
        </p:nvCxnSpPr>
        <p:spPr>
          <a:xfrm>
            <a:off x="46939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22 text 11" descr="sci-ppt:o011"/>
          <p:cNvSpPr txBox="1"/>
          <p:nvPr/>
        </p:nvSpPr>
        <p:spPr>
          <a:xfrm>
            <a:off x="423672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4" name="C4-E22 line 12" descr="sci-ppt:o012"/>
          <p:cNvCxnSpPr/>
          <p:nvPr/>
        </p:nvCxnSpPr>
        <p:spPr>
          <a:xfrm>
            <a:off x="658368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22 line 13" descr="sci-ppt:o013"/>
          <p:cNvCxnSpPr/>
          <p:nvPr/>
        </p:nvCxnSpPr>
        <p:spPr>
          <a:xfrm>
            <a:off x="658368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22 text 14" descr="sci-ppt:o014"/>
          <p:cNvSpPr txBox="1"/>
          <p:nvPr/>
        </p:nvSpPr>
        <p:spPr>
          <a:xfrm>
            <a:off x="612648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7" name="C4-E22 line 15" descr="sci-ppt:o015"/>
          <p:cNvCxnSpPr/>
          <p:nvPr/>
        </p:nvCxnSpPr>
        <p:spPr>
          <a:xfrm>
            <a:off x="8503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22 line 16" descr="sci-ppt:o016"/>
          <p:cNvCxnSpPr/>
          <p:nvPr/>
        </p:nvCxnSpPr>
        <p:spPr>
          <a:xfrm>
            <a:off x="850392" y="40462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4-E22 line 17" descr="sci-ppt:o017"/>
          <p:cNvCxnSpPr/>
          <p:nvPr/>
        </p:nvCxnSpPr>
        <p:spPr>
          <a:xfrm>
            <a:off x="914400" y="4046220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4-E22 text 18" descr="sci-ppt:o018"/>
          <p:cNvSpPr txBox="1"/>
          <p:nvPr/>
        </p:nvSpPr>
        <p:spPr>
          <a:xfrm>
            <a:off x="45720" y="39639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21" name="C4-E22 line 19" descr="sci-ppt:o019"/>
          <p:cNvCxnSpPr/>
          <p:nvPr/>
        </p:nvCxnSpPr>
        <p:spPr>
          <a:xfrm>
            <a:off x="850392" y="3154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22 line 20" descr="sci-ppt:o020"/>
          <p:cNvCxnSpPr/>
          <p:nvPr/>
        </p:nvCxnSpPr>
        <p:spPr>
          <a:xfrm>
            <a:off x="914400" y="3154680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4-E22 text 21" descr="sci-ppt:o021"/>
          <p:cNvSpPr txBox="1"/>
          <p:nvPr/>
        </p:nvSpPr>
        <p:spPr>
          <a:xfrm>
            <a:off x="45720" y="3072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4" name="C4-E22 line 22" descr="sci-ppt:o022"/>
          <p:cNvCxnSpPr/>
          <p:nvPr/>
        </p:nvCxnSpPr>
        <p:spPr>
          <a:xfrm>
            <a:off x="850392" y="22631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22 line 23" descr="sci-ppt:o023"/>
          <p:cNvCxnSpPr/>
          <p:nvPr/>
        </p:nvCxnSpPr>
        <p:spPr>
          <a:xfrm>
            <a:off x="914400" y="2263140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22 text 24" descr="sci-ppt:o024"/>
          <p:cNvSpPr txBox="1"/>
          <p:nvPr/>
        </p:nvSpPr>
        <p:spPr>
          <a:xfrm>
            <a:off x="45720" y="21808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27" name="C4-E22 line 25" descr="sci-ppt:o025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4-E22 line 26" descr="sci-ppt:o026"/>
          <p:cNvCxnSpPr/>
          <p:nvPr/>
        </p:nvCxnSpPr>
        <p:spPr>
          <a:xfrm>
            <a:off x="914400" y="1371600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4-E22 text 27" descr="sci-ppt:o027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sp>
        <p:nvSpPr>
          <p:cNvPr id="30" name="C4-E22 text 28" descr="sci-ppt:o028"/>
          <p:cNvSpPr txBox="1"/>
          <p:nvPr/>
        </p:nvSpPr>
        <p:spPr>
          <a:xfrm>
            <a:off x="914400" y="5221224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b / b₀</a:t>
            </a:r>
          </a:p>
        </p:txBody>
      </p:sp>
      <p:sp>
        <p:nvSpPr>
          <p:cNvPr id="31" name="C4-E22 text 29" descr="sci-ppt:o029"/>
          <p:cNvSpPr txBox="1"/>
          <p:nvPr/>
        </p:nvSpPr>
        <p:spPr>
          <a:xfrm>
            <a:off x="365760" y="1024128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G / G(b₀)</a:t>
            </a:r>
          </a:p>
        </p:txBody>
      </p:sp>
      <p:sp>
        <p:nvSpPr>
          <p:cNvPr id="32" name="C4-E22 polygon 30" descr="sci-ppt:o030"/>
          <p:cNvSpPr/>
          <p:nvPr/>
        </p:nvSpPr>
        <p:spPr>
          <a:xfrm>
            <a:off x="914400" y="2081158"/>
            <a:ext cx="5669280" cy="2147043"/>
          </a:xfrm>
          <a:custGeom>
            <a:avLst/>
            <a:gdLst/>
            <a:ahLst/>
            <a:cxnLst/>
            <a:rect l="l" t="t" r="r" b="b"/>
            <a:pathLst>
              <a:path w="5669280" h="2147043">
                <a:moveTo>
                  <a:pt x="0" y="2147043"/>
                </a:moveTo>
                <a:lnTo>
                  <a:pt x="57265" y="2100807"/>
                </a:lnTo>
                <a:lnTo>
                  <a:pt x="114530" y="2055913"/>
                </a:lnTo>
                <a:lnTo>
                  <a:pt x="171796" y="2012283"/>
                </a:lnTo>
                <a:lnTo>
                  <a:pt x="229061" y="1969848"/>
                </a:lnTo>
                <a:lnTo>
                  <a:pt x="286327" y="1928545"/>
                </a:lnTo>
                <a:lnTo>
                  <a:pt x="343592" y="1888315"/>
                </a:lnTo>
                <a:lnTo>
                  <a:pt x="400858" y="1849104"/>
                </a:lnTo>
                <a:lnTo>
                  <a:pt x="458123" y="1810861"/>
                </a:lnTo>
                <a:lnTo>
                  <a:pt x="515389" y="1773540"/>
                </a:lnTo>
                <a:lnTo>
                  <a:pt x="572654" y="1737096"/>
                </a:lnTo>
                <a:lnTo>
                  <a:pt x="629920" y="1701491"/>
                </a:lnTo>
                <a:lnTo>
                  <a:pt x="687185" y="1666686"/>
                </a:lnTo>
                <a:lnTo>
                  <a:pt x="744450" y="1632646"/>
                </a:lnTo>
                <a:lnTo>
                  <a:pt x="801716" y="1599338"/>
                </a:lnTo>
                <a:lnTo>
                  <a:pt x="858981" y="1566731"/>
                </a:lnTo>
                <a:lnTo>
                  <a:pt x="916247" y="1534797"/>
                </a:lnTo>
                <a:lnTo>
                  <a:pt x="973512" y="1503507"/>
                </a:lnTo>
                <a:lnTo>
                  <a:pt x="1030778" y="1472838"/>
                </a:lnTo>
                <a:lnTo>
                  <a:pt x="1088043" y="1442764"/>
                </a:lnTo>
                <a:lnTo>
                  <a:pt x="1145309" y="1413263"/>
                </a:lnTo>
                <a:lnTo>
                  <a:pt x="1202574" y="1384313"/>
                </a:lnTo>
                <a:lnTo>
                  <a:pt x="1259840" y="1355894"/>
                </a:lnTo>
                <a:lnTo>
                  <a:pt x="1317105" y="1327988"/>
                </a:lnTo>
                <a:lnTo>
                  <a:pt x="1374370" y="1300576"/>
                </a:lnTo>
                <a:lnTo>
                  <a:pt x="1431636" y="1273640"/>
                </a:lnTo>
                <a:lnTo>
                  <a:pt x="1488901" y="1247165"/>
                </a:lnTo>
                <a:lnTo>
                  <a:pt x="1546167" y="1221134"/>
                </a:lnTo>
                <a:lnTo>
                  <a:pt x="1603432" y="1195534"/>
                </a:lnTo>
                <a:lnTo>
                  <a:pt x="1660698" y="1170351"/>
                </a:lnTo>
                <a:lnTo>
                  <a:pt x="1717963" y="1145570"/>
                </a:lnTo>
                <a:lnTo>
                  <a:pt x="1775229" y="1121180"/>
                </a:lnTo>
                <a:lnTo>
                  <a:pt x="1832494" y="1097167"/>
                </a:lnTo>
                <a:lnTo>
                  <a:pt x="1889760" y="1073522"/>
                </a:lnTo>
                <a:lnTo>
                  <a:pt x="1947025" y="1050231"/>
                </a:lnTo>
                <a:lnTo>
                  <a:pt x="2004290" y="1027286"/>
                </a:lnTo>
                <a:lnTo>
                  <a:pt x="2061556" y="1004676"/>
                </a:lnTo>
                <a:lnTo>
                  <a:pt x="2118821" y="982391"/>
                </a:lnTo>
                <a:lnTo>
                  <a:pt x="2176087" y="960423"/>
                </a:lnTo>
                <a:lnTo>
                  <a:pt x="2233352" y="938761"/>
                </a:lnTo>
                <a:lnTo>
                  <a:pt x="2290618" y="917399"/>
                </a:lnTo>
                <a:lnTo>
                  <a:pt x="2347883" y="896327"/>
                </a:lnTo>
                <a:lnTo>
                  <a:pt x="2405149" y="875538"/>
                </a:lnTo>
                <a:lnTo>
                  <a:pt x="2462414" y="855024"/>
                </a:lnTo>
                <a:lnTo>
                  <a:pt x="2519680" y="834779"/>
                </a:lnTo>
                <a:lnTo>
                  <a:pt x="2576945" y="814794"/>
                </a:lnTo>
                <a:lnTo>
                  <a:pt x="2634210" y="795064"/>
                </a:lnTo>
                <a:lnTo>
                  <a:pt x="2691476" y="775583"/>
                </a:lnTo>
                <a:lnTo>
                  <a:pt x="2748741" y="756343"/>
                </a:lnTo>
                <a:lnTo>
                  <a:pt x="2806007" y="737340"/>
                </a:lnTo>
                <a:lnTo>
                  <a:pt x="2863272" y="718567"/>
                </a:lnTo>
                <a:lnTo>
                  <a:pt x="2920538" y="700018"/>
                </a:lnTo>
                <a:lnTo>
                  <a:pt x="2977803" y="681690"/>
                </a:lnTo>
                <a:lnTo>
                  <a:pt x="3035069" y="663575"/>
                </a:lnTo>
                <a:lnTo>
                  <a:pt x="3092334" y="645670"/>
                </a:lnTo>
                <a:lnTo>
                  <a:pt x="3149600" y="627970"/>
                </a:lnTo>
                <a:lnTo>
                  <a:pt x="3206865" y="610470"/>
                </a:lnTo>
                <a:lnTo>
                  <a:pt x="3264130" y="593165"/>
                </a:lnTo>
                <a:lnTo>
                  <a:pt x="3321396" y="576051"/>
                </a:lnTo>
                <a:lnTo>
                  <a:pt x="3378661" y="559125"/>
                </a:lnTo>
                <a:lnTo>
                  <a:pt x="3435927" y="542381"/>
                </a:lnTo>
                <a:lnTo>
                  <a:pt x="3493192" y="525817"/>
                </a:lnTo>
                <a:lnTo>
                  <a:pt x="3550458" y="509427"/>
                </a:lnTo>
                <a:lnTo>
                  <a:pt x="3607723" y="493210"/>
                </a:lnTo>
                <a:lnTo>
                  <a:pt x="3664989" y="477160"/>
                </a:lnTo>
                <a:lnTo>
                  <a:pt x="3722254" y="461276"/>
                </a:lnTo>
                <a:lnTo>
                  <a:pt x="3779520" y="445552"/>
                </a:lnTo>
                <a:lnTo>
                  <a:pt x="3836785" y="429986"/>
                </a:lnTo>
                <a:lnTo>
                  <a:pt x="3894050" y="414576"/>
                </a:lnTo>
                <a:lnTo>
                  <a:pt x="3951316" y="399317"/>
                </a:lnTo>
                <a:lnTo>
                  <a:pt x="4008581" y="384207"/>
                </a:lnTo>
                <a:lnTo>
                  <a:pt x="4065847" y="369243"/>
                </a:lnTo>
                <a:lnTo>
                  <a:pt x="4123112" y="354422"/>
                </a:lnTo>
                <a:lnTo>
                  <a:pt x="4180378" y="339742"/>
                </a:lnTo>
                <a:lnTo>
                  <a:pt x="4237643" y="325199"/>
                </a:lnTo>
                <a:lnTo>
                  <a:pt x="4294909" y="310792"/>
                </a:lnTo>
                <a:lnTo>
                  <a:pt x="4352174" y="296517"/>
                </a:lnTo>
                <a:lnTo>
                  <a:pt x="4409440" y="282373"/>
                </a:lnTo>
                <a:lnTo>
                  <a:pt x="4466705" y="268357"/>
                </a:lnTo>
                <a:lnTo>
                  <a:pt x="4523970" y="254467"/>
                </a:lnTo>
                <a:lnTo>
                  <a:pt x="4581236" y="240700"/>
                </a:lnTo>
                <a:lnTo>
                  <a:pt x="4638501" y="227054"/>
                </a:lnTo>
                <a:lnTo>
                  <a:pt x="4695767" y="213528"/>
                </a:lnTo>
                <a:lnTo>
                  <a:pt x="4753032" y="200119"/>
                </a:lnTo>
                <a:lnTo>
                  <a:pt x="4810298" y="186825"/>
                </a:lnTo>
                <a:lnTo>
                  <a:pt x="4867563" y="173644"/>
                </a:lnTo>
                <a:lnTo>
                  <a:pt x="4924829" y="160574"/>
                </a:lnTo>
                <a:lnTo>
                  <a:pt x="4982094" y="147613"/>
                </a:lnTo>
                <a:lnTo>
                  <a:pt x="5039360" y="134760"/>
                </a:lnTo>
                <a:lnTo>
                  <a:pt x="5096625" y="122013"/>
                </a:lnTo>
                <a:lnTo>
                  <a:pt x="5153890" y="109370"/>
                </a:lnTo>
                <a:lnTo>
                  <a:pt x="5211156" y="96830"/>
                </a:lnTo>
                <a:lnTo>
                  <a:pt x="5268421" y="84390"/>
                </a:lnTo>
                <a:lnTo>
                  <a:pt x="5325687" y="72049"/>
                </a:lnTo>
                <a:lnTo>
                  <a:pt x="5382952" y="59806"/>
                </a:lnTo>
                <a:lnTo>
                  <a:pt x="5440218" y="47658"/>
                </a:lnTo>
                <a:lnTo>
                  <a:pt x="5497483" y="35606"/>
                </a:lnTo>
                <a:lnTo>
                  <a:pt x="5554749" y="23646"/>
                </a:lnTo>
                <a:lnTo>
                  <a:pt x="5612014" y="11778"/>
                </a:lnTo>
                <a:lnTo>
                  <a:pt x="5669280" y="0"/>
                </a:lnTo>
              </a:path>
            </a:pathLst>
          </a:custGeom>
          <a:noFill/>
          <a:ln w="406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4-E22 polygon 31" descr="sci-ppt:o031"/>
          <p:cNvSpPr/>
          <p:nvPr/>
        </p:nvSpPr>
        <p:spPr>
          <a:xfrm>
            <a:off x="1200727" y="1444632"/>
            <a:ext cx="4523971" cy="3483441"/>
          </a:xfrm>
          <a:custGeom>
            <a:avLst/>
            <a:gdLst/>
            <a:ahLst/>
            <a:cxnLst/>
            <a:rect l="l" t="t" r="r" b="b"/>
            <a:pathLst>
              <a:path w="4523971" h="3483441">
                <a:moveTo>
                  <a:pt x="0" y="0"/>
                </a:moveTo>
                <a:lnTo>
                  <a:pt x="57265" y="80460"/>
                </a:lnTo>
                <a:lnTo>
                  <a:pt x="114531" y="158882"/>
                </a:lnTo>
                <a:lnTo>
                  <a:pt x="171796" y="235368"/>
                </a:lnTo>
                <a:lnTo>
                  <a:pt x="229062" y="310011"/>
                </a:lnTo>
                <a:lnTo>
                  <a:pt x="286327" y="382898"/>
                </a:lnTo>
                <a:lnTo>
                  <a:pt x="343593" y="454108"/>
                </a:lnTo>
                <a:lnTo>
                  <a:pt x="400858" y="523719"/>
                </a:lnTo>
                <a:lnTo>
                  <a:pt x="458123" y="591799"/>
                </a:lnTo>
                <a:lnTo>
                  <a:pt x="515389" y="658415"/>
                </a:lnTo>
                <a:lnTo>
                  <a:pt x="572654" y="723628"/>
                </a:lnTo>
                <a:lnTo>
                  <a:pt x="629920" y="787497"/>
                </a:lnTo>
                <a:lnTo>
                  <a:pt x="687185" y="850076"/>
                </a:lnTo>
                <a:lnTo>
                  <a:pt x="744451" y="911415"/>
                </a:lnTo>
                <a:lnTo>
                  <a:pt x="801716" y="971563"/>
                </a:lnTo>
                <a:lnTo>
                  <a:pt x="858982" y="1030565"/>
                </a:lnTo>
                <a:lnTo>
                  <a:pt x="916247" y="1088465"/>
                </a:lnTo>
                <a:lnTo>
                  <a:pt x="973513" y="1145302"/>
                </a:lnTo>
                <a:lnTo>
                  <a:pt x="1030778" y="1201114"/>
                </a:lnTo>
                <a:lnTo>
                  <a:pt x="1088043" y="1255939"/>
                </a:lnTo>
                <a:lnTo>
                  <a:pt x="1145309" y="1309811"/>
                </a:lnTo>
                <a:lnTo>
                  <a:pt x="1202574" y="1362761"/>
                </a:lnTo>
                <a:lnTo>
                  <a:pt x="1259840" y="1414822"/>
                </a:lnTo>
                <a:lnTo>
                  <a:pt x="1317105" y="1466022"/>
                </a:lnTo>
                <a:lnTo>
                  <a:pt x="1374371" y="1516389"/>
                </a:lnTo>
                <a:lnTo>
                  <a:pt x="1431636" y="1565950"/>
                </a:lnTo>
                <a:lnTo>
                  <a:pt x="1488902" y="1614731"/>
                </a:lnTo>
                <a:lnTo>
                  <a:pt x="1546167" y="1662756"/>
                </a:lnTo>
                <a:lnTo>
                  <a:pt x="1603433" y="1710048"/>
                </a:lnTo>
                <a:lnTo>
                  <a:pt x="1660698" y="1756628"/>
                </a:lnTo>
                <a:lnTo>
                  <a:pt x="1717963" y="1802518"/>
                </a:lnTo>
                <a:lnTo>
                  <a:pt x="1775229" y="1847738"/>
                </a:lnTo>
                <a:lnTo>
                  <a:pt x="1832494" y="1892308"/>
                </a:lnTo>
                <a:lnTo>
                  <a:pt x="1889760" y="1936245"/>
                </a:lnTo>
                <a:lnTo>
                  <a:pt x="1947025" y="1979568"/>
                </a:lnTo>
                <a:lnTo>
                  <a:pt x="2004291" y="2022293"/>
                </a:lnTo>
                <a:lnTo>
                  <a:pt x="2061556" y="2064437"/>
                </a:lnTo>
                <a:lnTo>
                  <a:pt x="2118822" y="2106015"/>
                </a:lnTo>
                <a:lnTo>
                  <a:pt x="2176087" y="2147042"/>
                </a:lnTo>
                <a:lnTo>
                  <a:pt x="2233353" y="2187533"/>
                </a:lnTo>
                <a:lnTo>
                  <a:pt x="2290618" y="2227502"/>
                </a:lnTo>
                <a:lnTo>
                  <a:pt x="2347883" y="2266962"/>
                </a:lnTo>
                <a:lnTo>
                  <a:pt x="2405149" y="2305925"/>
                </a:lnTo>
                <a:lnTo>
                  <a:pt x="2462414" y="2344404"/>
                </a:lnTo>
                <a:lnTo>
                  <a:pt x="2519680" y="2382411"/>
                </a:lnTo>
                <a:lnTo>
                  <a:pt x="2576945" y="2419957"/>
                </a:lnTo>
                <a:lnTo>
                  <a:pt x="2634211" y="2457054"/>
                </a:lnTo>
                <a:lnTo>
                  <a:pt x="2691476" y="2493711"/>
                </a:lnTo>
                <a:lnTo>
                  <a:pt x="2748742" y="2529940"/>
                </a:lnTo>
                <a:lnTo>
                  <a:pt x="2806007" y="2565750"/>
                </a:lnTo>
                <a:lnTo>
                  <a:pt x="2863273" y="2601151"/>
                </a:lnTo>
                <a:lnTo>
                  <a:pt x="2920538" y="2636151"/>
                </a:lnTo>
                <a:lnTo>
                  <a:pt x="2977803" y="2670761"/>
                </a:lnTo>
                <a:lnTo>
                  <a:pt x="3035069" y="2704988"/>
                </a:lnTo>
                <a:lnTo>
                  <a:pt x="3092334" y="2738841"/>
                </a:lnTo>
                <a:lnTo>
                  <a:pt x="3149600" y="2772328"/>
                </a:lnTo>
                <a:lnTo>
                  <a:pt x="3206865" y="2805457"/>
                </a:lnTo>
                <a:lnTo>
                  <a:pt x="3264131" y="2838236"/>
                </a:lnTo>
                <a:lnTo>
                  <a:pt x="3321396" y="2870671"/>
                </a:lnTo>
                <a:lnTo>
                  <a:pt x="3378662" y="2902770"/>
                </a:lnTo>
                <a:lnTo>
                  <a:pt x="3435927" y="2934539"/>
                </a:lnTo>
                <a:lnTo>
                  <a:pt x="3493193" y="2965987"/>
                </a:lnTo>
                <a:lnTo>
                  <a:pt x="3550458" y="2997118"/>
                </a:lnTo>
                <a:lnTo>
                  <a:pt x="3607723" y="3027939"/>
                </a:lnTo>
                <a:lnTo>
                  <a:pt x="3664989" y="3058457"/>
                </a:lnTo>
                <a:lnTo>
                  <a:pt x="3722254" y="3088677"/>
                </a:lnTo>
                <a:lnTo>
                  <a:pt x="3779520" y="3118605"/>
                </a:lnTo>
                <a:lnTo>
                  <a:pt x="3836785" y="3148247"/>
                </a:lnTo>
                <a:lnTo>
                  <a:pt x="3894051" y="3177607"/>
                </a:lnTo>
                <a:lnTo>
                  <a:pt x="3951316" y="3206692"/>
                </a:lnTo>
                <a:lnTo>
                  <a:pt x="4008582" y="3235507"/>
                </a:lnTo>
                <a:lnTo>
                  <a:pt x="4065847" y="3264056"/>
                </a:lnTo>
                <a:lnTo>
                  <a:pt x="4123113" y="3292344"/>
                </a:lnTo>
                <a:lnTo>
                  <a:pt x="4180378" y="3320376"/>
                </a:lnTo>
                <a:lnTo>
                  <a:pt x="4237643" y="3348157"/>
                </a:lnTo>
                <a:lnTo>
                  <a:pt x="4294909" y="3375690"/>
                </a:lnTo>
                <a:lnTo>
                  <a:pt x="4352174" y="3402982"/>
                </a:lnTo>
                <a:lnTo>
                  <a:pt x="4409440" y="3430034"/>
                </a:lnTo>
                <a:lnTo>
                  <a:pt x="4466705" y="3456853"/>
                </a:lnTo>
                <a:lnTo>
                  <a:pt x="4523971" y="3483441"/>
                </a:lnTo>
              </a:path>
            </a:pathLst>
          </a:custGeom>
          <a:noFill/>
          <a:ln w="4064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4-E22 line 32" descr="sci-ppt:o032"/>
          <p:cNvCxnSpPr/>
          <p:nvPr/>
        </p:nvCxnSpPr>
        <p:spPr>
          <a:xfrm>
            <a:off x="914400" y="3154680"/>
            <a:ext cx="5669280" cy="0"/>
          </a:xfrm>
          <a:prstGeom prst="line">
            <a:avLst/>
          </a:prstGeom>
          <a:ln w="16510">
            <a:solidFill>
              <a:srgbClr val="B4C7D2"/>
            </a:solidFill>
            <a:prstDash val="dash"/>
          </a:ln>
          <a:effectLst/>
        </p:spPr>
      </p:cxnSp>
      <p:sp>
        <p:nvSpPr>
          <p:cNvPr id="35" name="C4-E22 text 33" descr="sci-ppt:o033"/>
          <p:cNvSpPr txBox="1"/>
          <p:nvPr/>
        </p:nvSpPr>
        <p:spPr>
          <a:xfrm>
            <a:off x="3255264" y="1726379"/>
            <a:ext cx="32918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fixed pressure: G ∝ b⁴ (grows: unstable)</a:t>
            </a:r>
          </a:p>
        </p:txBody>
      </p:sp>
      <p:sp>
        <p:nvSpPr>
          <p:cNvPr id="36" name="C4-E22 text 34" descr="sci-ppt:o034"/>
          <p:cNvSpPr txBox="1"/>
          <p:nvPr/>
        </p:nvSpPr>
        <p:spPr>
          <a:xfrm>
            <a:off x="1063142" y="4512387"/>
            <a:ext cx="31089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fixed volume: G ∝ b⁻⁸ (falls: stable)</a:t>
            </a:r>
          </a:p>
        </p:txBody>
      </p:sp>
      <p:sp>
        <p:nvSpPr>
          <p:cNvPr id="37" name="C4-E22 round_rect 35" descr="sci-ppt:o035"/>
          <p:cNvSpPr/>
          <p:nvPr/>
        </p:nvSpPr>
        <p:spPr>
          <a:xfrm>
            <a:off x="6858000" y="1371600"/>
            <a:ext cx="498348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4-E22 text 36" descr="sci-ppt:o036"/>
          <p:cNvSpPr txBox="1"/>
          <p:nvPr/>
        </p:nvSpPr>
        <p:spPr>
          <a:xfrm>
            <a:off x="6967728" y="1426464"/>
            <a:ext cx="47640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Same plate, two load controls</a:t>
            </a:r>
          </a:p>
        </p:txBody>
      </p:sp>
      <p:sp>
        <p:nvSpPr>
          <p:cNvPr id="39" name="C4-E22 text 37" descr="sci-ppt:o037"/>
          <p:cNvSpPr txBox="1"/>
          <p:nvPr/>
        </p:nvSpPr>
        <p:spPr>
          <a:xfrm>
            <a:off x="6995160" y="1783080"/>
            <a:ext cx="47548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U_b|V̄ = V̄² / (2C_b) = 96 D_f V̄² / (π b⁶)</a:t>
            </a:r>
          </a:p>
        </p:txBody>
      </p:sp>
      <p:sp>
        <p:nvSpPr>
          <p:cNvPr id="40" name="C4-E22 text 38" descr="sci-ppt:o038"/>
          <p:cNvSpPr txBox="1"/>
          <p:nvPr/>
        </p:nvSpPr>
        <p:spPr>
          <a:xfrm>
            <a:off x="6995160" y="2286000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p(b) = 192 D_f V̄ / (π b⁶)</a:t>
            </a:r>
          </a:p>
        </p:txBody>
      </p:sp>
      <p:sp>
        <p:nvSpPr>
          <p:cNvPr id="41" name="C4-E22 text 39" descr="sci-ppt:o039"/>
          <p:cNvSpPr txBox="1"/>
          <p:nvPr/>
        </p:nvSpPr>
        <p:spPr>
          <a:xfrm>
            <a:off x="6995160" y="2788920"/>
            <a:ext cx="47548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G_V̄ = 288 D_f V̄² / (π² b⁸) = p(b)² b⁴ / (128 D_f)</a:t>
            </a:r>
          </a:p>
        </p:txBody>
      </p:sp>
      <p:sp>
        <p:nvSpPr>
          <p:cNvPr id="42" name="C4-E22 text 40" descr="sci-ppt:o040"/>
          <p:cNvSpPr txBox="1"/>
          <p:nvPr/>
        </p:nvSpPr>
        <p:spPr>
          <a:xfrm>
            <a:off x="6995160" y="3474720"/>
            <a:ext cx="47548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Same formula in p, but p itself falls as b⁻⁶ at fixed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volume.</a:t>
            </a:r>
          </a:p>
        </p:txBody>
      </p:sp>
      <p:sp>
        <p:nvSpPr>
          <p:cNvPr id="43" name="C4-E22 text 41" descr="sci-ppt:o041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 maintained pressure source lets the crack run away; a fixed liquid volume arrests it. Always state the control.</a:t>
            </a:r>
          </a:p>
        </p:txBody>
      </p:sp>
      <p:sp>
        <p:nvSpPr>
          <p:cNvPr id="44" name="C4-E22 text 42" descr="sci-ppt:o04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Loading-control comparison of Eq. C4-E22.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C4-E23 · Checked teaching substitution</a:t>
            </a:r>
          </a:p>
        </p:txBody>
      </p:sp>
      <p:sp>
        <p:nvSpPr>
          <p:cNvPr id="3" name="C4-E23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Teaching calculation, step by step</a:t>
            </a:r>
          </a:p>
        </p:txBody>
      </p:sp>
      <p:sp>
        <p:nvSpPr>
          <p:cNvPr id="4" name="C4-E23 round_rect 2" descr="sci-ppt:o002"/>
          <p:cNvSpPr/>
          <p:nvPr/>
        </p:nvSpPr>
        <p:spPr>
          <a:xfrm>
            <a:off x="457200" y="1371600"/>
            <a:ext cx="5532120" cy="2194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4-E23 text 3" descr="sci-ppt:o003"/>
          <p:cNvSpPr txBox="1"/>
          <p:nvPr/>
        </p:nvSpPr>
        <p:spPr>
          <a:xfrm>
            <a:off x="566928" y="1426464"/>
            <a:ext cx="53126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FC8F8"/>
                </a:solidFill>
                <a:latin typeface="Arial"/>
              </a:rPr>
              <a:t>plate stiffness</a:t>
            </a:r>
          </a:p>
        </p:txBody>
      </p:sp>
      <p:sp>
        <p:nvSpPr>
          <p:cNvPr id="6" name="C4-E23 text 4" descr="sci-ppt:o004"/>
          <p:cNvSpPr txBox="1"/>
          <p:nvPr/>
        </p:nvSpPr>
        <p:spPr>
          <a:xfrm>
            <a:off x="594360" y="1828800"/>
            <a:ext cx="53035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D_f = E_f h_f³ / [12(1 − ν²)]</a:t>
            </a:r>
          </a:p>
        </p:txBody>
      </p:sp>
      <p:sp>
        <p:nvSpPr>
          <p:cNvPr id="7" name="C4-E23 text 5" descr="sci-ppt:o005"/>
          <p:cNvSpPr txBox="1"/>
          <p:nvPr/>
        </p:nvSpPr>
        <p:spPr>
          <a:xfrm>
            <a:off x="594360" y="2331720"/>
            <a:ext cx="5303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E_f = 2.00 GPa, h_f = 10.0 µm, ν = 0.35</a:t>
            </a:r>
          </a:p>
        </p:txBody>
      </p:sp>
      <p:sp>
        <p:nvSpPr>
          <p:cNvPr id="8" name="C4-E23 text 6" descr="sci-ppt:o006"/>
          <p:cNvSpPr txBox="1"/>
          <p:nvPr/>
        </p:nvSpPr>
        <p:spPr>
          <a:xfrm>
            <a:off x="594360" y="2834640"/>
            <a:ext cx="530352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7FC8F8"/>
                </a:solidFill>
                <a:latin typeface="Arial"/>
              </a:rPr>
              <a:t>D_f = 1.899335e-07 N m</a:t>
            </a:r>
          </a:p>
        </p:txBody>
      </p:sp>
      <p:sp>
        <p:nvSpPr>
          <p:cNvPr id="9" name="C4-E23 round_rect 7" descr="sci-ppt:o007"/>
          <p:cNvSpPr/>
          <p:nvPr/>
        </p:nvSpPr>
        <p:spPr>
          <a:xfrm>
            <a:off x="6172200" y="1371600"/>
            <a:ext cx="5532120" cy="2194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4-E23 text 8" descr="sci-ppt:o008"/>
          <p:cNvSpPr txBox="1"/>
          <p:nvPr/>
        </p:nvSpPr>
        <p:spPr>
          <a:xfrm>
            <a:off x="6281928" y="1426464"/>
            <a:ext cx="53126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critical pressure</a:t>
            </a:r>
          </a:p>
        </p:txBody>
      </p:sp>
      <p:sp>
        <p:nvSpPr>
          <p:cNvPr id="11" name="C4-E23 text 9" descr="sci-ppt:o009"/>
          <p:cNvSpPr txBox="1"/>
          <p:nvPr/>
        </p:nvSpPr>
        <p:spPr>
          <a:xfrm>
            <a:off x="6309360" y="1828800"/>
            <a:ext cx="53035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p₀,crit = √(128 D_f Γ) / b²</a:t>
            </a:r>
          </a:p>
        </p:txBody>
      </p:sp>
      <p:sp>
        <p:nvSpPr>
          <p:cNvPr id="12" name="C4-E23 text 10" descr="sci-ppt:o010"/>
          <p:cNvSpPr txBox="1"/>
          <p:nvPr/>
        </p:nvSpPr>
        <p:spPr>
          <a:xfrm>
            <a:off x="6309360" y="2331720"/>
            <a:ext cx="5303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Γ = 0.10 J/m², b = 100 µm</a:t>
            </a:r>
          </a:p>
        </p:txBody>
      </p:sp>
      <p:sp>
        <p:nvSpPr>
          <p:cNvPr id="13" name="C4-E23 text 11" descr="sci-ppt:o011"/>
          <p:cNvSpPr txBox="1"/>
          <p:nvPr/>
        </p:nvSpPr>
        <p:spPr>
          <a:xfrm>
            <a:off x="6309360" y="2834640"/>
            <a:ext cx="530352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B880"/>
                </a:solidFill>
                <a:latin typeface="Arial"/>
              </a:rPr>
              <a:t>p₀,crit = 155.921 kPa</a:t>
            </a:r>
          </a:p>
        </p:txBody>
      </p:sp>
      <p:sp>
        <p:nvSpPr>
          <p:cNvPr id="14" name="C4-E23 round_rect 12" descr="sci-ppt:o012"/>
          <p:cNvSpPr/>
          <p:nvPr/>
        </p:nvSpPr>
        <p:spPr>
          <a:xfrm>
            <a:off x="457200" y="3931920"/>
            <a:ext cx="2468880" cy="1005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4-E23 text 13" descr="sci-ppt:o013"/>
          <p:cNvSpPr txBox="1"/>
          <p:nvPr/>
        </p:nvSpPr>
        <p:spPr>
          <a:xfrm>
            <a:off x="530352" y="3986783"/>
            <a:ext cx="232257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B4C7D2"/>
                </a:solidFill>
                <a:latin typeface="Arial"/>
              </a:rPr>
              <a:t>inputs</a:t>
            </a:r>
          </a:p>
        </p:txBody>
      </p:sp>
      <p:sp>
        <p:nvSpPr>
          <p:cNvPr id="16" name="C4-E23 text 14" descr="sci-ppt:o014"/>
          <p:cNvSpPr txBox="1"/>
          <p:nvPr/>
        </p:nvSpPr>
        <p:spPr>
          <a:xfrm>
            <a:off x="530352" y="4259960"/>
            <a:ext cx="2322576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E_f, h_f, ν, Γ, b</a:t>
            </a:r>
          </a:p>
        </p:txBody>
      </p:sp>
      <p:cxnSp>
        <p:nvCxnSpPr>
          <p:cNvPr id="17" name="C4-E23 arrow 15" descr="sci-ppt:o015"/>
          <p:cNvCxnSpPr/>
          <p:nvPr/>
        </p:nvCxnSpPr>
        <p:spPr>
          <a:xfrm>
            <a:off x="2953512" y="4434840"/>
            <a:ext cx="40233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8" name="C4-E23 round_rect 16" descr="sci-ppt:o016"/>
          <p:cNvSpPr/>
          <p:nvPr/>
        </p:nvSpPr>
        <p:spPr>
          <a:xfrm>
            <a:off x="3383280" y="3931920"/>
            <a:ext cx="2468880" cy="1005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4-E23 text 17" descr="sci-ppt:o017"/>
          <p:cNvSpPr txBox="1"/>
          <p:nvPr/>
        </p:nvSpPr>
        <p:spPr>
          <a:xfrm>
            <a:off x="3456432" y="3986783"/>
            <a:ext cx="232257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7FC8F8"/>
                </a:solidFill>
                <a:latin typeface="Arial"/>
              </a:rPr>
              <a:t>D_f</a:t>
            </a:r>
          </a:p>
        </p:txBody>
      </p:sp>
      <p:sp>
        <p:nvSpPr>
          <p:cNvPr id="20" name="C4-E23 text 18" descr="sci-ppt:o018"/>
          <p:cNvSpPr txBox="1"/>
          <p:nvPr/>
        </p:nvSpPr>
        <p:spPr>
          <a:xfrm>
            <a:off x="3456432" y="4259960"/>
            <a:ext cx="2322576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1.899e-07 N m</a:t>
            </a:r>
          </a:p>
        </p:txBody>
      </p:sp>
      <p:cxnSp>
        <p:nvCxnSpPr>
          <p:cNvPr id="21" name="C4-E23 arrow 19" descr="sci-ppt:o019"/>
          <p:cNvCxnSpPr/>
          <p:nvPr/>
        </p:nvCxnSpPr>
        <p:spPr>
          <a:xfrm>
            <a:off x="5879592" y="4434840"/>
            <a:ext cx="40233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22" name="C4-E23 round_rect 20" descr="sci-ppt:o020"/>
          <p:cNvSpPr/>
          <p:nvPr/>
        </p:nvSpPr>
        <p:spPr>
          <a:xfrm>
            <a:off x="6309360" y="3931920"/>
            <a:ext cx="2468880" cy="1005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4-E23 text 21" descr="sci-ppt:o021"/>
          <p:cNvSpPr txBox="1"/>
          <p:nvPr/>
        </p:nvSpPr>
        <p:spPr>
          <a:xfrm>
            <a:off x="6382512" y="3986783"/>
            <a:ext cx="232257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√(128 D_f Γ)</a:t>
            </a:r>
          </a:p>
        </p:txBody>
      </p:sp>
      <p:sp>
        <p:nvSpPr>
          <p:cNvPr id="24" name="C4-E23 text 22" descr="sci-ppt:o022"/>
          <p:cNvSpPr txBox="1"/>
          <p:nvPr/>
        </p:nvSpPr>
        <p:spPr>
          <a:xfrm>
            <a:off x="6382512" y="4259960"/>
            <a:ext cx="2322576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1.5592e-03</a:t>
            </a:r>
          </a:p>
        </p:txBody>
      </p:sp>
      <p:cxnSp>
        <p:nvCxnSpPr>
          <p:cNvPr id="25" name="C4-E23 arrow 23" descr="sci-ppt:o023"/>
          <p:cNvCxnSpPr/>
          <p:nvPr/>
        </p:nvCxnSpPr>
        <p:spPr>
          <a:xfrm>
            <a:off x="8805672" y="4434840"/>
            <a:ext cx="40233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26" name="C4-E23 round_rect 24" descr="sci-ppt:o024"/>
          <p:cNvSpPr/>
          <p:nvPr/>
        </p:nvSpPr>
        <p:spPr>
          <a:xfrm>
            <a:off x="9235440" y="3931920"/>
            <a:ext cx="2468880" cy="1005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4-E23 text 25" descr="sci-ppt:o025"/>
          <p:cNvSpPr txBox="1"/>
          <p:nvPr/>
        </p:nvSpPr>
        <p:spPr>
          <a:xfrm>
            <a:off x="9308592" y="3986783"/>
            <a:ext cx="232257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÷ b²</a:t>
            </a:r>
          </a:p>
        </p:txBody>
      </p:sp>
      <p:sp>
        <p:nvSpPr>
          <p:cNvPr id="28" name="C4-E23 text 26" descr="sci-ppt:o026"/>
          <p:cNvSpPr txBox="1"/>
          <p:nvPr/>
        </p:nvSpPr>
        <p:spPr>
          <a:xfrm>
            <a:off x="9308592" y="4259960"/>
            <a:ext cx="2322576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155.92 kPa</a:t>
            </a:r>
          </a:p>
        </p:txBody>
      </p:sp>
      <p:sp>
        <p:nvSpPr>
          <p:cNvPr id="29" name="C4-E23 text 27" descr="sci-ppt:o027"/>
          <p:cNvSpPr txBox="1"/>
          <p:nvPr/>
        </p:nvSpPr>
        <p:spPr>
          <a:xfrm>
            <a:off x="457200" y="5212080"/>
            <a:ext cx="1124712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The 156 kPa threshold is conditional: it holds for this plate, this interface energy and this geometry, with pressure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maintained.</a:t>
            </a:r>
          </a:p>
        </p:txBody>
      </p:sp>
      <p:sp>
        <p:nvSpPr>
          <p:cNvPr id="30" name="C4-E23 text 28" descr="sci-ppt:o028"/>
          <p:cNvSpPr txBox="1"/>
          <p:nvPr/>
        </p:nvSpPr>
        <p:spPr>
          <a:xfrm>
            <a:off x="457200" y="576072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It is far below the 47 MPa early-contact scale of Chapter 3, but the pulse lasts only nanoseconds.</a:t>
            </a:r>
          </a:p>
        </p:txBody>
      </p:sp>
      <p:sp>
        <p:nvSpPr>
          <p:cNvPr id="31" name="C4-E23 text 29" descr="sci-ppt:o02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Checked substitution of Eq. C4-E23 (all inputs are declared teaching values).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C4-E24 · Magnitude, geometric-validity and competing-failure checks</a:t>
            </a:r>
          </a:p>
        </p:txBody>
      </p:sp>
      <p:sp>
        <p:nvSpPr>
          <p:cNvPr id="3" name="C4-E24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Three checks on the 156 kPa threshold</a:t>
            </a:r>
          </a:p>
        </p:txBody>
      </p:sp>
      <p:sp>
        <p:nvSpPr>
          <p:cNvPr id="4" name="C4-E24 round_rect 2" descr="sci-ppt:o002"/>
          <p:cNvSpPr/>
          <p:nvPr/>
        </p:nvSpPr>
        <p:spPr>
          <a:xfrm>
            <a:off x="457200" y="1371600"/>
            <a:ext cx="3657600" cy="34747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4-E24 text 3" descr="sci-ppt:o003"/>
          <p:cNvSpPr txBox="1"/>
          <p:nvPr/>
        </p:nvSpPr>
        <p:spPr>
          <a:xfrm>
            <a:off x="566928" y="1426464"/>
            <a:ext cx="3438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Deflection</a:t>
            </a:r>
          </a:p>
        </p:txBody>
      </p:sp>
      <p:sp>
        <p:nvSpPr>
          <p:cNvPr id="6" name="C4-E24 polygon 4" descr="sci-ppt:o004"/>
          <p:cNvSpPr/>
          <p:nvPr/>
        </p:nvSpPr>
        <p:spPr>
          <a:xfrm>
            <a:off x="731520" y="2195190"/>
            <a:ext cx="3108960" cy="1096649"/>
          </a:xfrm>
          <a:custGeom>
            <a:avLst/>
            <a:gdLst/>
            <a:ahLst/>
            <a:cxnLst/>
            <a:rect l="l" t="t" r="r" b="b"/>
            <a:pathLst>
              <a:path w="3108960" h="1096649">
                <a:moveTo>
                  <a:pt x="0" y="1096649"/>
                </a:moveTo>
                <a:lnTo>
                  <a:pt x="52694" y="1091776"/>
                </a:lnTo>
                <a:lnTo>
                  <a:pt x="105388" y="1077820"/>
                </a:lnTo>
                <a:lnTo>
                  <a:pt x="158082" y="1055757"/>
                </a:lnTo>
                <a:lnTo>
                  <a:pt x="210776" y="1026524"/>
                </a:lnTo>
                <a:lnTo>
                  <a:pt x="263471" y="991027"/>
                </a:lnTo>
                <a:lnTo>
                  <a:pt x="316165" y="950134"/>
                </a:lnTo>
                <a:lnTo>
                  <a:pt x="368859" y="904680"/>
                </a:lnTo>
                <a:lnTo>
                  <a:pt x="421553" y="855465"/>
                </a:lnTo>
                <a:lnTo>
                  <a:pt x="474248" y="803253"/>
                </a:lnTo>
                <a:lnTo>
                  <a:pt x="526942" y="748776"/>
                </a:lnTo>
                <a:lnTo>
                  <a:pt x="579636" y="692728"/>
                </a:lnTo>
                <a:lnTo>
                  <a:pt x="632330" y="635770"/>
                </a:lnTo>
                <a:lnTo>
                  <a:pt x="685025" y="578528"/>
                </a:lnTo>
                <a:lnTo>
                  <a:pt x="737719" y="521593"/>
                </a:lnTo>
                <a:lnTo>
                  <a:pt x="790413" y="465522"/>
                </a:lnTo>
                <a:lnTo>
                  <a:pt x="843107" y="410836"/>
                </a:lnTo>
                <a:lnTo>
                  <a:pt x="895802" y="358021"/>
                </a:lnTo>
                <a:lnTo>
                  <a:pt x="948496" y="307531"/>
                </a:lnTo>
                <a:lnTo>
                  <a:pt x="1001190" y="259782"/>
                </a:lnTo>
                <a:lnTo>
                  <a:pt x="1053884" y="215157"/>
                </a:lnTo>
                <a:lnTo>
                  <a:pt x="1106578" y="174003"/>
                </a:lnTo>
                <a:lnTo>
                  <a:pt x="1159273" y="136634"/>
                </a:lnTo>
                <a:lnTo>
                  <a:pt x="1211967" y="103327"/>
                </a:lnTo>
                <a:lnTo>
                  <a:pt x="1264661" y="74327"/>
                </a:lnTo>
                <a:lnTo>
                  <a:pt x="1317355" y="49841"/>
                </a:lnTo>
                <a:lnTo>
                  <a:pt x="1370050" y="30044"/>
                </a:lnTo>
                <a:lnTo>
                  <a:pt x="1422744" y="15074"/>
                </a:lnTo>
                <a:lnTo>
                  <a:pt x="1475438" y="5036"/>
                </a:lnTo>
                <a:lnTo>
                  <a:pt x="1528132" y="0"/>
                </a:lnTo>
                <a:lnTo>
                  <a:pt x="1580827" y="0"/>
                </a:lnTo>
                <a:lnTo>
                  <a:pt x="1633521" y="5036"/>
                </a:lnTo>
                <a:lnTo>
                  <a:pt x="1686215" y="15074"/>
                </a:lnTo>
                <a:lnTo>
                  <a:pt x="1738909" y="30044"/>
                </a:lnTo>
                <a:lnTo>
                  <a:pt x="1791604" y="49841"/>
                </a:lnTo>
                <a:lnTo>
                  <a:pt x="1844298" y="74327"/>
                </a:lnTo>
                <a:lnTo>
                  <a:pt x="1896992" y="103327"/>
                </a:lnTo>
                <a:lnTo>
                  <a:pt x="1949686" y="136634"/>
                </a:lnTo>
                <a:lnTo>
                  <a:pt x="2002381" y="174003"/>
                </a:lnTo>
                <a:lnTo>
                  <a:pt x="2055075" y="215157"/>
                </a:lnTo>
                <a:lnTo>
                  <a:pt x="2107769" y="259782"/>
                </a:lnTo>
                <a:lnTo>
                  <a:pt x="2160463" y="307531"/>
                </a:lnTo>
                <a:lnTo>
                  <a:pt x="2213157" y="358021"/>
                </a:lnTo>
                <a:lnTo>
                  <a:pt x="2265852" y="410836"/>
                </a:lnTo>
                <a:lnTo>
                  <a:pt x="2318546" y="465522"/>
                </a:lnTo>
                <a:lnTo>
                  <a:pt x="2371240" y="521593"/>
                </a:lnTo>
                <a:lnTo>
                  <a:pt x="2423934" y="578528"/>
                </a:lnTo>
                <a:lnTo>
                  <a:pt x="2476629" y="635770"/>
                </a:lnTo>
                <a:lnTo>
                  <a:pt x="2529323" y="692728"/>
                </a:lnTo>
                <a:lnTo>
                  <a:pt x="2582017" y="748776"/>
                </a:lnTo>
                <a:lnTo>
                  <a:pt x="2634711" y="803253"/>
                </a:lnTo>
                <a:lnTo>
                  <a:pt x="2687406" y="855465"/>
                </a:lnTo>
                <a:lnTo>
                  <a:pt x="2740100" y="904680"/>
                </a:lnTo>
                <a:lnTo>
                  <a:pt x="2792794" y="950134"/>
                </a:lnTo>
                <a:lnTo>
                  <a:pt x="2845488" y="991027"/>
                </a:lnTo>
                <a:lnTo>
                  <a:pt x="2898183" y="1026524"/>
                </a:lnTo>
                <a:lnTo>
                  <a:pt x="2950877" y="1055757"/>
                </a:lnTo>
                <a:lnTo>
                  <a:pt x="3003571" y="1077820"/>
                </a:lnTo>
                <a:lnTo>
                  <a:pt x="3056265" y="1091776"/>
                </a:lnTo>
                <a:lnTo>
                  <a:pt x="3108960" y="1096649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4-E24 text 5" descr="sci-ppt:o005"/>
          <p:cNvSpPr txBox="1"/>
          <p:nvPr/>
        </p:nvSpPr>
        <p:spPr>
          <a:xfrm>
            <a:off x="640080" y="3383280"/>
            <a:ext cx="3291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w(0) = 1.2827 µm</a:t>
            </a:r>
          </a:p>
        </p:txBody>
      </p:sp>
      <p:sp>
        <p:nvSpPr>
          <p:cNvPr id="8" name="C4-E24 text 6" descr="sci-ppt:o006"/>
          <p:cNvSpPr txBox="1"/>
          <p:nvPr/>
        </p:nvSpPr>
        <p:spPr>
          <a:xfrm>
            <a:off x="640080" y="3840480"/>
            <a:ext cx="3291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w(0)/h_f = 0.12827</a:t>
            </a:r>
          </a:p>
        </p:txBody>
      </p:sp>
      <p:sp>
        <p:nvSpPr>
          <p:cNvPr id="9" name="C4-E24 text 7" descr="sci-ppt:o007"/>
          <p:cNvSpPr txBox="1"/>
          <p:nvPr/>
        </p:nvSpPr>
        <p:spPr>
          <a:xfrm>
            <a:off x="640080" y="4297680"/>
            <a:ext cx="32918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small-deflection theory needs w ≪ h_f</a:t>
            </a:r>
          </a:p>
        </p:txBody>
      </p:sp>
      <p:sp>
        <p:nvSpPr>
          <p:cNvPr id="10" name="C4-E24 round_rect 8" descr="sci-ppt:o008"/>
          <p:cNvSpPr/>
          <p:nvPr/>
        </p:nvSpPr>
        <p:spPr>
          <a:xfrm>
            <a:off x="4297680" y="1371600"/>
            <a:ext cx="3657600" cy="34747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4-E24 text 9" descr="sci-ppt:o009"/>
          <p:cNvSpPr txBox="1"/>
          <p:nvPr/>
        </p:nvSpPr>
        <p:spPr>
          <a:xfrm>
            <a:off x="4407408" y="1426464"/>
            <a:ext cx="3438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Blister volume</a:t>
            </a:r>
          </a:p>
        </p:txBody>
      </p:sp>
      <p:sp>
        <p:nvSpPr>
          <p:cNvPr id="12" name="C4-E24 text 10" descr="sci-ppt:o010"/>
          <p:cNvSpPr txBox="1"/>
          <p:nvPr/>
        </p:nvSpPr>
        <p:spPr>
          <a:xfrm>
            <a:off x="4480560" y="2011680"/>
            <a:ext cx="32918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V_bl = 1.34324e-14 m³</a:t>
            </a:r>
          </a:p>
        </p:txBody>
      </p:sp>
      <p:sp>
        <p:nvSpPr>
          <p:cNvPr id="13" name="C4-E24 text 11" descr="sci-ppt:o011"/>
          <p:cNvSpPr txBox="1"/>
          <p:nvPr/>
        </p:nvSpPr>
        <p:spPr>
          <a:xfrm>
            <a:off x="4480560" y="2651760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= 13.4 pL (about 13 400 µm³)</a:t>
            </a:r>
          </a:p>
        </p:txBody>
      </p:sp>
      <p:sp>
        <p:nvSpPr>
          <p:cNvPr id="14" name="C4-E24 text 12" descr="sci-ppt:o012"/>
          <p:cNvSpPr txBox="1"/>
          <p:nvPr/>
        </p:nvSpPr>
        <p:spPr>
          <a:xfrm>
            <a:off x="4480560" y="3383280"/>
            <a:ext cx="329184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the liquid volume needed to inflate the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blister</a:t>
            </a:r>
          </a:p>
        </p:txBody>
      </p:sp>
      <p:sp>
        <p:nvSpPr>
          <p:cNvPr id="15" name="C4-E24 round_rect 13" descr="sci-ppt:o013"/>
          <p:cNvSpPr/>
          <p:nvPr/>
        </p:nvSpPr>
        <p:spPr>
          <a:xfrm>
            <a:off x="8138160" y="1371600"/>
            <a:ext cx="3703320" cy="34747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4-E24 text 14" descr="sci-ppt:o014"/>
          <p:cNvSpPr txBox="1"/>
          <p:nvPr/>
        </p:nvSpPr>
        <p:spPr>
          <a:xfrm>
            <a:off x="8247888" y="1426464"/>
            <a:ext cx="348386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Edge bending stress</a:t>
            </a:r>
          </a:p>
        </p:txBody>
      </p:sp>
      <p:sp>
        <p:nvSpPr>
          <p:cNvPr id="17" name="C4-E24 text 15" descr="sci-ppt:o015"/>
          <p:cNvSpPr txBox="1"/>
          <p:nvPr/>
        </p:nvSpPr>
        <p:spPr>
          <a:xfrm>
            <a:off x="8275320" y="1828800"/>
            <a:ext cx="3474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|Mᵣ(b)| = p₀,crit b² / 8</a:t>
            </a:r>
          </a:p>
        </p:txBody>
      </p:sp>
      <p:sp>
        <p:nvSpPr>
          <p:cNvPr id="18" name="C4-E24 text 16" descr="sci-ppt:o016"/>
          <p:cNvSpPr txBox="1"/>
          <p:nvPr/>
        </p:nvSpPr>
        <p:spPr>
          <a:xfrm>
            <a:off x="8275320" y="2468880"/>
            <a:ext cx="3474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|σᵣᵣ|_edge = 6|Mᵣ|/h_f² = 11.6941 MPa</a:t>
            </a:r>
          </a:p>
        </p:txBody>
      </p:sp>
      <p:sp>
        <p:nvSpPr>
          <p:cNvPr id="19" name="C4-E24 text 17" descr="sci-ppt:o017"/>
          <p:cNvSpPr txBox="1"/>
          <p:nvPr/>
        </p:nvSpPr>
        <p:spPr>
          <a:xfrm>
            <a:off x="8275320" y="3291840"/>
            <a:ext cx="347472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a tensile stress at the clamp: compare with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the payload strength</a:t>
            </a:r>
          </a:p>
        </p:txBody>
      </p:sp>
      <p:sp>
        <p:nvSpPr>
          <p:cNvPr id="20" name="C4-E24 text 18" descr="sci-ppt:o018"/>
          <p:cNvSpPr txBox="1"/>
          <p:nvPr/>
        </p:nvSpPr>
        <p:spPr>
          <a:xfrm>
            <a:off x="457200" y="5212080"/>
            <a:ext cx="112471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Deflection is only 12.8 % of the thickness, so linear theory holds; edge bending stress of 11.7 MPa must still be checked against the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payload material.</a:t>
            </a:r>
          </a:p>
        </p:txBody>
      </p:sp>
      <p:sp>
        <p:nvSpPr>
          <p:cNvPr id="21" name="C4-E24 text 19" descr="sci-ppt:o019"/>
          <p:cNvSpPr txBox="1"/>
          <p:nvPr/>
        </p:nvSpPr>
        <p:spPr>
          <a:xfrm>
            <a:off x="457200" y="5806440"/>
            <a:ext cx="11247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payload strength is an input that must be supplied; no value is assumed here.</a:t>
            </a:r>
          </a:p>
        </p:txBody>
      </p:sp>
      <p:sp>
        <p:nvSpPr>
          <p:cNvPr id="22" name="C4-E24 text 20" descr="sci-ppt:o02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Checks of Eq. C4-E24 at p₀ = p₀,crit.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C4-E25 · Adopted monotonic tensile cohesive law</a:t>
            </a:r>
          </a:p>
        </p:txBody>
      </p:sp>
      <p:cxnSp>
        <p:nvCxnSpPr>
          <p:cNvPr id="3" name="C4-E25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25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25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25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25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4-E25 line 6" descr="sci-ppt:o006"/>
          <p:cNvCxnSpPr/>
          <p:nvPr/>
        </p:nvCxnSpPr>
        <p:spPr>
          <a:xfrm>
            <a:off x="1750422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25 line 7" descr="sci-ppt:o007"/>
          <p:cNvCxnSpPr/>
          <p:nvPr/>
        </p:nvCxnSpPr>
        <p:spPr>
          <a:xfrm>
            <a:off x="1750422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25 text 8" descr="sci-ppt:o008"/>
          <p:cNvSpPr txBox="1"/>
          <p:nvPr/>
        </p:nvSpPr>
        <p:spPr>
          <a:xfrm>
            <a:off x="1293222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11" name="C4-E25 line 9" descr="sci-ppt:o009"/>
          <p:cNvCxnSpPr/>
          <p:nvPr/>
        </p:nvCxnSpPr>
        <p:spPr>
          <a:xfrm>
            <a:off x="2586445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25 line 10" descr="sci-ppt:o010"/>
          <p:cNvCxnSpPr/>
          <p:nvPr/>
        </p:nvCxnSpPr>
        <p:spPr>
          <a:xfrm>
            <a:off x="2586445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25 text 11" descr="sci-ppt:o011"/>
          <p:cNvSpPr txBox="1"/>
          <p:nvPr/>
        </p:nvSpPr>
        <p:spPr>
          <a:xfrm>
            <a:off x="2129245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14" name="C4-E25 line 12" descr="sci-ppt:o012"/>
          <p:cNvCxnSpPr/>
          <p:nvPr/>
        </p:nvCxnSpPr>
        <p:spPr>
          <a:xfrm>
            <a:off x="3422468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25 line 13" descr="sci-ppt:o013"/>
          <p:cNvCxnSpPr/>
          <p:nvPr/>
        </p:nvCxnSpPr>
        <p:spPr>
          <a:xfrm>
            <a:off x="3422468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25 text 14" descr="sci-ppt:o014"/>
          <p:cNvSpPr txBox="1"/>
          <p:nvPr/>
        </p:nvSpPr>
        <p:spPr>
          <a:xfrm>
            <a:off x="2965268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60</a:t>
            </a:r>
          </a:p>
        </p:txBody>
      </p:sp>
      <p:cxnSp>
        <p:nvCxnSpPr>
          <p:cNvPr id="17" name="C4-E25 line 15" descr="sci-ppt:o015"/>
          <p:cNvCxnSpPr/>
          <p:nvPr/>
        </p:nvCxnSpPr>
        <p:spPr>
          <a:xfrm>
            <a:off x="4258491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25 line 16" descr="sci-ppt:o016"/>
          <p:cNvCxnSpPr/>
          <p:nvPr/>
        </p:nvCxnSpPr>
        <p:spPr>
          <a:xfrm>
            <a:off x="4258491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25 text 17" descr="sci-ppt:o017"/>
          <p:cNvSpPr txBox="1"/>
          <p:nvPr/>
        </p:nvSpPr>
        <p:spPr>
          <a:xfrm>
            <a:off x="3801291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80</a:t>
            </a:r>
          </a:p>
        </p:txBody>
      </p:sp>
      <p:cxnSp>
        <p:nvCxnSpPr>
          <p:cNvPr id="20" name="C4-E25 line 18" descr="sci-ppt:o018"/>
          <p:cNvCxnSpPr/>
          <p:nvPr/>
        </p:nvCxnSpPr>
        <p:spPr>
          <a:xfrm>
            <a:off x="509451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25 line 19" descr="sci-ppt:o019"/>
          <p:cNvCxnSpPr/>
          <p:nvPr/>
        </p:nvCxnSpPr>
        <p:spPr>
          <a:xfrm>
            <a:off x="509451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4-E25 text 20" descr="sci-ppt:o020"/>
          <p:cNvSpPr txBox="1"/>
          <p:nvPr/>
        </p:nvSpPr>
        <p:spPr>
          <a:xfrm>
            <a:off x="463731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23" name="C4-E25 line 21" descr="sci-ppt:o021"/>
          <p:cNvCxnSpPr/>
          <p:nvPr/>
        </p:nvCxnSpPr>
        <p:spPr>
          <a:xfrm>
            <a:off x="5930537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4-E25 line 22" descr="sci-ppt:o022"/>
          <p:cNvCxnSpPr/>
          <p:nvPr/>
        </p:nvCxnSpPr>
        <p:spPr>
          <a:xfrm>
            <a:off x="5930537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4-E25 text 23" descr="sci-ppt:o023"/>
          <p:cNvSpPr txBox="1"/>
          <p:nvPr/>
        </p:nvSpPr>
        <p:spPr>
          <a:xfrm>
            <a:off x="5473337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120</a:t>
            </a:r>
          </a:p>
        </p:txBody>
      </p:sp>
      <p:cxnSp>
        <p:nvCxnSpPr>
          <p:cNvPr id="26" name="C4-E25 line 24" descr="sci-ppt:o024"/>
          <p:cNvCxnSpPr/>
          <p:nvPr/>
        </p:nvCxnSpPr>
        <p:spPr>
          <a:xfrm>
            <a:off x="67665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4-E25 line 25" descr="sci-ppt:o025"/>
          <p:cNvCxnSpPr/>
          <p:nvPr/>
        </p:nvCxnSpPr>
        <p:spPr>
          <a:xfrm>
            <a:off x="67665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4-E25 text 26" descr="sci-ppt:o026"/>
          <p:cNvSpPr txBox="1"/>
          <p:nvPr/>
        </p:nvSpPr>
        <p:spPr>
          <a:xfrm>
            <a:off x="63093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140</a:t>
            </a:r>
          </a:p>
        </p:txBody>
      </p:sp>
      <p:cxnSp>
        <p:nvCxnSpPr>
          <p:cNvPr id="29" name="C4-E25 line 27" descr="sci-ppt:o027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4-E25 line 28" descr="sci-ppt:o028"/>
          <p:cNvCxnSpPr/>
          <p:nvPr/>
        </p:nvCxnSpPr>
        <p:spPr>
          <a:xfrm>
            <a:off x="850392" y="362243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4-E25 line 29" descr="sci-ppt:o029"/>
          <p:cNvCxnSpPr/>
          <p:nvPr/>
        </p:nvCxnSpPr>
        <p:spPr>
          <a:xfrm>
            <a:off x="914400" y="362243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4-E25 text 30" descr="sci-ppt:o030"/>
          <p:cNvSpPr txBox="1"/>
          <p:nvPr/>
        </p:nvSpPr>
        <p:spPr>
          <a:xfrm>
            <a:off x="45720" y="354013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33" name="C4-E25 line 31" descr="sci-ppt:o031"/>
          <p:cNvCxnSpPr/>
          <p:nvPr/>
        </p:nvCxnSpPr>
        <p:spPr>
          <a:xfrm>
            <a:off x="850392" y="221566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4-E25 line 32" descr="sci-ppt:o032"/>
          <p:cNvCxnSpPr/>
          <p:nvPr/>
        </p:nvCxnSpPr>
        <p:spPr>
          <a:xfrm>
            <a:off x="914400" y="2215661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4-E25 text 33" descr="sci-ppt:o033"/>
          <p:cNvSpPr txBox="1"/>
          <p:nvPr/>
        </p:nvSpPr>
        <p:spPr>
          <a:xfrm>
            <a:off x="45720" y="213336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0.10</a:t>
            </a:r>
          </a:p>
        </p:txBody>
      </p:sp>
      <p:sp>
        <p:nvSpPr>
          <p:cNvPr id="36" name="C4-E25 text 34" descr="sci-ppt:o034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opening δ  (nm)</a:t>
            </a:r>
          </a:p>
        </p:txBody>
      </p:sp>
      <p:sp>
        <p:nvSpPr>
          <p:cNvPr id="37" name="C4-E25 text 35" descr="sci-ppt:o035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traction tₙ  (MPa)</a:t>
            </a:r>
          </a:p>
        </p:txBody>
      </p:sp>
      <p:sp>
        <p:nvSpPr>
          <p:cNvPr id="38" name="C4-E25 polygon 36" descr="sci-ppt:o036"/>
          <p:cNvSpPr/>
          <p:nvPr/>
        </p:nvSpPr>
        <p:spPr>
          <a:xfrm>
            <a:off x="914400" y="2217227"/>
            <a:ext cx="5852160" cy="2811973"/>
          </a:xfrm>
          <a:custGeom>
            <a:avLst/>
            <a:gdLst/>
            <a:ahLst/>
            <a:cxnLst/>
            <a:rect l="l" t="t" r="r" b="b"/>
            <a:pathLst>
              <a:path w="5852160" h="2811973">
                <a:moveTo>
                  <a:pt x="0" y="2811973"/>
                </a:moveTo>
                <a:lnTo>
                  <a:pt x="9769" y="2746214"/>
                </a:lnTo>
                <a:lnTo>
                  <a:pt x="19539" y="2680455"/>
                </a:lnTo>
                <a:lnTo>
                  <a:pt x="29309" y="2614696"/>
                </a:lnTo>
                <a:lnTo>
                  <a:pt x="39079" y="2548937"/>
                </a:lnTo>
                <a:lnTo>
                  <a:pt x="48849" y="2483178"/>
                </a:lnTo>
                <a:lnTo>
                  <a:pt x="58619" y="2417420"/>
                </a:lnTo>
                <a:lnTo>
                  <a:pt x="68389" y="2351661"/>
                </a:lnTo>
                <a:lnTo>
                  <a:pt x="78159" y="2285902"/>
                </a:lnTo>
                <a:lnTo>
                  <a:pt x="87928" y="2220143"/>
                </a:lnTo>
                <a:lnTo>
                  <a:pt x="97698" y="2154384"/>
                </a:lnTo>
                <a:lnTo>
                  <a:pt x="107468" y="2088625"/>
                </a:lnTo>
                <a:lnTo>
                  <a:pt x="117238" y="2022867"/>
                </a:lnTo>
                <a:lnTo>
                  <a:pt x="127008" y="1957108"/>
                </a:lnTo>
                <a:lnTo>
                  <a:pt x="136778" y="1891349"/>
                </a:lnTo>
                <a:lnTo>
                  <a:pt x="146548" y="1825590"/>
                </a:lnTo>
                <a:lnTo>
                  <a:pt x="156318" y="1759831"/>
                </a:lnTo>
                <a:lnTo>
                  <a:pt x="166088" y="1694072"/>
                </a:lnTo>
                <a:lnTo>
                  <a:pt x="175857" y="1628314"/>
                </a:lnTo>
                <a:lnTo>
                  <a:pt x="185627" y="1562555"/>
                </a:lnTo>
                <a:lnTo>
                  <a:pt x="195397" y="1496796"/>
                </a:lnTo>
                <a:lnTo>
                  <a:pt x="205167" y="1431037"/>
                </a:lnTo>
                <a:lnTo>
                  <a:pt x="214937" y="1365278"/>
                </a:lnTo>
                <a:lnTo>
                  <a:pt x="224707" y="1299519"/>
                </a:lnTo>
                <a:lnTo>
                  <a:pt x="234477" y="1233761"/>
                </a:lnTo>
                <a:lnTo>
                  <a:pt x="244247" y="1168002"/>
                </a:lnTo>
                <a:lnTo>
                  <a:pt x="254016" y="1102243"/>
                </a:lnTo>
                <a:lnTo>
                  <a:pt x="263786" y="1036484"/>
                </a:lnTo>
                <a:lnTo>
                  <a:pt x="273556" y="970725"/>
                </a:lnTo>
                <a:lnTo>
                  <a:pt x="283326" y="904966"/>
                </a:lnTo>
                <a:lnTo>
                  <a:pt x="293096" y="839208"/>
                </a:lnTo>
                <a:lnTo>
                  <a:pt x="302866" y="773449"/>
                </a:lnTo>
                <a:lnTo>
                  <a:pt x="312636" y="707690"/>
                </a:lnTo>
                <a:lnTo>
                  <a:pt x="322406" y="641931"/>
                </a:lnTo>
                <a:lnTo>
                  <a:pt x="332176" y="576172"/>
                </a:lnTo>
                <a:lnTo>
                  <a:pt x="341945" y="510413"/>
                </a:lnTo>
                <a:lnTo>
                  <a:pt x="351715" y="444655"/>
                </a:lnTo>
                <a:lnTo>
                  <a:pt x="361485" y="378896"/>
                </a:lnTo>
                <a:lnTo>
                  <a:pt x="371255" y="313137"/>
                </a:lnTo>
                <a:lnTo>
                  <a:pt x="381025" y="247378"/>
                </a:lnTo>
                <a:lnTo>
                  <a:pt x="390795" y="181619"/>
                </a:lnTo>
                <a:lnTo>
                  <a:pt x="400565" y="115861"/>
                </a:lnTo>
                <a:lnTo>
                  <a:pt x="410335" y="50102"/>
                </a:lnTo>
                <a:lnTo>
                  <a:pt x="420104" y="0"/>
                </a:lnTo>
                <a:lnTo>
                  <a:pt x="429874" y="7306"/>
                </a:lnTo>
                <a:lnTo>
                  <a:pt x="439644" y="14613"/>
                </a:lnTo>
                <a:lnTo>
                  <a:pt x="449414" y="21919"/>
                </a:lnTo>
                <a:lnTo>
                  <a:pt x="459184" y="29226"/>
                </a:lnTo>
                <a:lnTo>
                  <a:pt x="468954" y="36532"/>
                </a:lnTo>
                <a:lnTo>
                  <a:pt x="478724" y="43839"/>
                </a:lnTo>
                <a:lnTo>
                  <a:pt x="488494" y="51145"/>
                </a:lnTo>
                <a:lnTo>
                  <a:pt x="498264" y="58452"/>
                </a:lnTo>
                <a:lnTo>
                  <a:pt x="508033" y="65759"/>
                </a:lnTo>
                <a:lnTo>
                  <a:pt x="517803" y="73065"/>
                </a:lnTo>
                <a:lnTo>
                  <a:pt x="527573" y="80372"/>
                </a:lnTo>
                <a:lnTo>
                  <a:pt x="537343" y="87678"/>
                </a:lnTo>
                <a:lnTo>
                  <a:pt x="547113" y="94985"/>
                </a:lnTo>
                <a:lnTo>
                  <a:pt x="556883" y="102291"/>
                </a:lnTo>
                <a:lnTo>
                  <a:pt x="566653" y="109598"/>
                </a:lnTo>
                <a:lnTo>
                  <a:pt x="576423" y="116904"/>
                </a:lnTo>
                <a:lnTo>
                  <a:pt x="586192" y="124211"/>
                </a:lnTo>
                <a:lnTo>
                  <a:pt x="595962" y="131517"/>
                </a:lnTo>
                <a:lnTo>
                  <a:pt x="605732" y="138824"/>
                </a:lnTo>
                <a:lnTo>
                  <a:pt x="615502" y="146130"/>
                </a:lnTo>
                <a:lnTo>
                  <a:pt x="625272" y="153437"/>
                </a:lnTo>
                <a:lnTo>
                  <a:pt x="635042" y="160744"/>
                </a:lnTo>
                <a:lnTo>
                  <a:pt x="644812" y="168050"/>
                </a:lnTo>
                <a:lnTo>
                  <a:pt x="654582" y="175357"/>
                </a:lnTo>
                <a:lnTo>
                  <a:pt x="664352" y="182663"/>
                </a:lnTo>
                <a:lnTo>
                  <a:pt x="674121" y="189970"/>
                </a:lnTo>
                <a:lnTo>
                  <a:pt x="683891" y="197276"/>
                </a:lnTo>
                <a:lnTo>
                  <a:pt x="693661" y="204583"/>
                </a:lnTo>
                <a:lnTo>
                  <a:pt x="703431" y="211889"/>
                </a:lnTo>
                <a:lnTo>
                  <a:pt x="713201" y="219196"/>
                </a:lnTo>
                <a:lnTo>
                  <a:pt x="722971" y="226502"/>
                </a:lnTo>
                <a:lnTo>
                  <a:pt x="732741" y="233809"/>
                </a:lnTo>
                <a:lnTo>
                  <a:pt x="742511" y="241115"/>
                </a:lnTo>
                <a:lnTo>
                  <a:pt x="752281" y="248422"/>
                </a:lnTo>
                <a:lnTo>
                  <a:pt x="762050" y="255729"/>
                </a:lnTo>
                <a:lnTo>
                  <a:pt x="771820" y="263035"/>
                </a:lnTo>
                <a:lnTo>
                  <a:pt x="781590" y="270342"/>
                </a:lnTo>
                <a:lnTo>
                  <a:pt x="791360" y="277648"/>
                </a:lnTo>
                <a:lnTo>
                  <a:pt x="801130" y="284955"/>
                </a:lnTo>
                <a:lnTo>
                  <a:pt x="810900" y="292261"/>
                </a:lnTo>
                <a:lnTo>
                  <a:pt x="820670" y="299568"/>
                </a:lnTo>
                <a:lnTo>
                  <a:pt x="830440" y="306874"/>
                </a:lnTo>
                <a:lnTo>
                  <a:pt x="840209" y="314181"/>
                </a:lnTo>
                <a:lnTo>
                  <a:pt x="849979" y="321487"/>
                </a:lnTo>
                <a:lnTo>
                  <a:pt x="859749" y="328794"/>
                </a:lnTo>
                <a:lnTo>
                  <a:pt x="869519" y="336100"/>
                </a:lnTo>
                <a:lnTo>
                  <a:pt x="879289" y="343407"/>
                </a:lnTo>
                <a:lnTo>
                  <a:pt x="889059" y="350713"/>
                </a:lnTo>
                <a:lnTo>
                  <a:pt x="898829" y="358020"/>
                </a:lnTo>
                <a:lnTo>
                  <a:pt x="908599" y="365327"/>
                </a:lnTo>
                <a:lnTo>
                  <a:pt x="918369" y="372633"/>
                </a:lnTo>
                <a:lnTo>
                  <a:pt x="928138" y="379940"/>
                </a:lnTo>
                <a:lnTo>
                  <a:pt x="937908" y="387246"/>
                </a:lnTo>
                <a:lnTo>
                  <a:pt x="947678" y="394553"/>
                </a:lnTo>
                <a:lnTo>
                  <a:pt x="957448" y="401859"/>
                </a:lnTo>
                <a:lnTo>
                  <a:pt x="967218" y="409166"/>
                </a:lnTo>
                <a:lnTo>
                  <a:pt x="976988" y="416472"/>
                </a:lnTo>
                <a:lnTo>
                  <a:pt x="986758" y="423779"/>
                </a:lnTo>
                <a:lnTo>
                  <a:pt x="996528" y="431085"/>
                </a:lnTo>
                <a:lnTo>
                  <a:pt x="1006297" y="438392"/>
                </a:lnTo>
                <a:lnTo>
                  <a:pt x="1016067" y="445698"/>
                </a:lnTo>
                <a:lnTo>
                  <a:pt x="1025837" y="453005"/>
                </a:lnTo>
                <a:lnTo>
                  <a:pt x="1035607" y="460312"/>
                </a:lnTo>
                <a:lnTo>
                  <a:pt x="1045377" y="467618"/>
                </a:lnTo>
                <a:lnTo>
                  <a:pt x="1055147" y="474925"/>
                </a:lnTo>
                <a:lnTo>
                  <a:pt x="1064917" y="482231"/>
                </a:lnTo>
                <a:lnTo>
                  <a:pt x="1074687" y="489538"/>
                </a:lnTo>
                <a:lnTo>
                  <a:pt x="1084457" y="496844"/>
                </a:lnTo>
                <a:lnTo>
                  <a:pt x="1094226" y="504151"/>
                </a:lnTo>
                <a:lnTo>
                  <a:pt x="1103996" y="511457"/>
                </a:lnTo>
                <a:lnTo>
                  <a:pt x="1113766" y="518764"/>
                </a:lnTo>
                <a:lnTo>
                  <a:pt x="1123536" y="526070"/>
                </a:lnTo>
                <a:lnTo>
                  <a:pt x="1133306" y="533377"/>
                </a:lnTo>
                <a:lnTo>
                  <a:pt x="1143076" y="540683"/>
                </a:lnTo>
                <a:lnTo>
                  <a:pt x="1152846" y="547990"/>
                </a:lnTo>
                <a:lnTo>
                  <a:pt x="1162616" y="555297"/>
                </a:lnTo>
                <a:lnTo>
                  <a:pt x="1172385" y="562603"/>
                </a:lnTo>
                <a:lnTo>
                  <a:pt x="1182155" y="569910"/>
                </a:lnTo>
                <a:lnTo>
                  <a:pt x="1191925" y="577216"/>
                </a:lnTo>
                <a:lnTo>
                  <a:pt x="1201695" y="584523"/>
                </a:lnTo>
                <a:lnTo>
                  <a:pt x="1211465" y="591829"/>
                </a:lnTo>
                <a:lnTo>
                  <a:pt x="1221235" y="599136"/>
                </a:lnTo>
                <a:lnTo>
                  <a:pt x="1231005" y="606442"/>
                </a:lnTo>
                <a:lnTo>
                  <a:pt x="1240775" y="613749"/>
                </a:lnTo>
                <a:lnTo>
                  <a:pt x="1250545" y="621055"/>
                </a:lnTo>
                <a:lnTo>
                  <a:pt x="1260314" y="628362"/>
                </a:lnTo>
                <a:lnTo>
                  <a:pt x="1270084" y="635668"/>
                </a:lnTo>
                <a:lnTo>
                  <a:pt x="1279854" y="642975"/>
                </a:lnTo>
                <a:lnTo>
                  <a:pt x="1289624" y="650281"/>
                </a:lnTo>
                <a:lnTo>
                  <a:pt x="1299394" y="657588"/>
                </a:lnTo>
                <a:lnTo>
                  <a:pt x="1309164" y="664895"/>
                </a:lnTo>
                <a:lnTo>
                  <a:pt x="1318934" y="672201"/>
                </a:lnTo>
                <a:lnTo>
                  <a:pt x="1328704" y="679508"/>
                </a:lnTo>
                <a:lnTo>
                  <a:pt x="1338473" y="686814"/>
                </a:lnTo>
                <a:lnTo>
                  <a:pt x="1348243" y="694121"/>
                </a:lnTo>
                <a:lnTo>
                  <a:pt x="1358013" y="701427"/>
                </a:lnTo>
                <a:lnTo>
                  <a:pt x="1367783" y="708734"/>
                </a:lnTo>
                <a:lnTo>
                  <a:pt x="1377553" y="716040"/>
                </a:lnTo>
                <a:lnTo>
                  <a:pt x="1387323" y="723347"/>
                </a:lnTo>
                <a:lnTo>
                  <a:pt x="1397093" y="730653"/>
                </a:lnTo>
                <a:lnTo>
                  <a:pt x="1406863" y="737960"/>
                </a:lnTo>
                <a:lnTo>
                  <a:pt x="1416633" y="745266"/>
                </a:lnTo>
                <a:lnTo>
                  <a:pt x="1426402" y="752573"/>
                </a:lnTo>
                <a:lnTo>
                  <a:pt x="1436172" y="759880"/>
                </a:lnTo>
                <a:lnTo>
                  <a:pt x="1445942" y="767186"/>
                </a:lnTo>
                <a:lnTo>
                  <a:pt x="1455712" y="774493"/>
                </a:lnTo>
                <a:lnTo>
                  <a:pt x="1465482" y="781799"/>
                </a:lnTo>
                <a:lnTo>
                  <a:pt x="1475252" y="789106"/>
                </a:lnTo>
                <a:lnTo>
                  <a:pt x="1485022" y="796412"/>
                </a:lnTo>
                <a:lnTo>
                  <a:pt x="1494792" y="803719"/>
                </a:lnTo>
                <a:lnTo>
                  <a:pt x="1504562" y="811025"/>
                </a:lnTo>
                <a:lnTo>
                  <a:pt x="1514331" y="818332"/>
                </a:lnTo>
                <a:lnTo>
                  <a:pt x="1524101" y="825638"/>
                </a:lnTo>
                <a:lnTo>
                  <a:pt x="1533871" y="832945"/>
                </a:lnTo>
                <a:lnTo>
                  <a:pt x="1543641" y="840251"/>
                </a:lnTo>
                <a:lnTo>
                  <a:pt x="1553411" y="847558"/>
                </a:lnTo>
                <a:lnTo>
                  <a:pt x="1563181" y="854864"/>
                </a:lnTo>
                <a:lnTo>
                  <a:pt x="1572951" y="862171"/>
                </a:lnTo>
                <a:lnTo>
                  <a:pt x="1582721" y="869478"/>
                </a:lnTo>
                <a:lnTo>
                  <a:pt x="1592490" y="876784"/>
                </a:lnTo>
                <a:lnTo>
                  <a:pt x="1602260" y="884091"/>
                </a:lnTo>
                <a:lnTo>
                  <a:pt x="1612030" y="891397"/>
                </a:lnTo>
                <a:lnTo>
                  <a:pt x="1621800" y="898704"/>
                </a:lnTo>
                <a:lnTo>
                  <a:pt x="1631570" y="906010"/>
                </a:lnTo>
                <a:lnTo>
                  <a:pt x="1641340" y="913317"/>
                </a:lnTo>
                <a:lnTo>
                  <a:pt x="1651110" y="920623"/>
                </a:lnTo>
                <a:lnTo>
                  <a:pt x="1660880" y="927930"/>
                </a:lnTo>
                <a:lnTo>
                  <a:pt x="1670650" y="935236"/>
                </a:lnTo>
                <a:lnTo>
                  <a:pt x="1680419" y="942543"/>
                </a:lnTo>
                <a:lnTo>
                  <a:pt x="1690189" y="949849"/>
                </a:lnTo>
                <a:lnTo>
                  <a:pt x="1699959" y="957156"/>
                </a:lnTo>
                <a:lnTo>
                  <a:pt x="1709729" y="964463"/>
                </a:lnTo>
                <a:lnTo>
                  <a:pt x="1719499" y="971769"/>
                </a:lnTo>
                <a:lnTo>
                  <a:pt x="1729269" y="979076"/>
                </a:lnTo>
                <a:lnTo>
                  <a:pt x="1739039" y="986382"/>
                </a:lnTo>
                <a:lnTo>
                  <a:pt x="1748809" y="993689"/>
                </a:lnTo>
                <a:lnTo>
                  <a:pt x="1758578" y="1000995"/>
                </a:lnTo>
                <a:lnTo>
                  <a:pt x="1768348" y="1008302"/>
                </a:lnTo>
                <a:lnTo>
                  <a:pt x="1778118" y="1015608"/>
                </a:lnTo>
                <a:lnTo>
                  <a:pt x="1787888" y="1022915"/>
                </a:lnTo>
                <a:lnTo>
                  <a:pt x="1797658" y="1030221"/>
                </a:lnTo>
                <a:lnTo>
                  <a:pt x="1807428" y="1037528"/>
                </a:lnTo>
                <a:lnTo>
                  <a:pt x="1817198" y="1044834"/>
                </a:lnTo>
                <a:lnTo>
                  <a:pt x="1826968" y="1052141"/>
                </a:lnTo>
                <a:lnTo>
                  <a:pt x="1836738" y="1059448"/>
                </a:lnTo>
                <a:lnTo>
                  <a:pt x="1846507" y="1066754"/>
                </a:lnTo>
                <a:lnTo>
                  <a:pt x="1856277" y="1074061"/>
                </a:lnTo>
                <a:lnTo>
                  <a:pt x="1866047" y="1081367"/>
                </a:lnTo>
                <a:lnTo>
                  <a:pt x="1875817" y="1088674"/>
                </a:lnTo>
                <a:lnTo>
                  <a:pt x="1885587" y="1095980"/>
                </a:lnTo>
                <a:lnTo>
                  <a:pt x="1895357" y="1103287"/>
                </a:lnTo>
                <a:lnTo>
                  <a:pt x="1905127" y="1110593"/>
                </a:lnTo>
                <a:lnTo>
                  <a:pt x="1914897" y="1117900"/>
                </a:lnTo>
                <a:lnTo>
                  <a:pt x="1924666" y="1125206"/>
                </a:lnTo>
                <a:lnTo>
                  <a:pt x="1934436" y="1132513"/>
                </a:lnTo>
                <a:lnTo>
                  <a:pt x="1944206" y="1139819"/>
                </a:lnTo>
                <a:lnTo>
                  <a:pt x="1953976" y="1147126"/>
                </a:lnTo>
                <a:lnTo>
                  <a:pt x="1963746" y="1154432"/>
                </a:lnTo>
                <a:lnTo>
                  <a:pt x="1973516" y="1161739"/>
                </a:lnTo>
                <a:lnTo>
                  <a:pt x="1983286" y="1169046"/>
                </a:lnTo>
                <a:lnTo>
                  <a:pt x="1993056" y="1176352"/>
                </a:lnTo>
                <a:lnTo>
                  <a:pt x="2002826" y="1183659"/>
                </a:lnTo>
                <a:lnTo>
                  <a:pt x="2012595" y="1190965"/>
                </a:lnTo>
                <a:lnTo>
                  <a:pt x="2022365" y="1198272"/>
                </a:lnTo>
                <a:lnTo>
                  <a:pt x="2032135" y="1205578"/>
                </a:lnTo>
                <a:lnTo>
                  <a:pt x="2041905" y="1212885"/>
                </a:lnTo>
                <a:lnTo>
                  <a:pt x="2051675" y="1220191"/>
                </a:lnTo>
                <a:lnTo>
                  <a:pt x="2061445" y="1227498"/>
                </a:lnTo>
                <a:lnTo>
                  <a:pt x="2071215" y="1234804"/>
                </a:lnTo>
                <a:lnTo>
                  <a:pt x="2080985" y="1242111"/>
                </a:lnTo>
                <a:lnTo>
                  <a:pt x="2090754" y="1249417"/>
                </a:lnTo>
                <a:lnTo>
                  <a:pt x="2100524" y="1256724"/>
                </a:lnTo>
                <a:lnTo>
                  <a:pt x="2110294" y="1264031"/>
                </a:lnTo>
                <a:lnTo>
                  <a:pt x="2120064" y="1271337"/>
                </a:lnTo>
                <a:lnTo>
                  <a:pt x="2129834" y="1278644"/>
                </a:lnTo>
                <a:lnTo>
                  <a:pt x="2139604" y="1285950"/>
                </a:lnTo>
                <a:lnTo>
                  <a:pt x="2149374" y="1293257"/>
                </a:lnTo>
                <a:lnTo>
                  <a:pt x="2159144" y="1300563"/>
                </a:lnTo>
                <a:lnTo>
                  <a:pt x="2168914" y="1307870"/>
                </a:lnTo>
                <a:lnTo>
                  <a:pt x="2178683" y="1315176"/>
                </a:lnTo>
                <a:lnTo>
                  <a:pt x="2188453" y="1322483"/>
                </a:lnTo>
                <a:lnTo>
                  <a:pt x="2198223" y="1329789"/>
                </a:lnTo>
                <a:lnTo>
                  <a:pt x="2207993" y="1337096"/>
                </a:lnTo>
                <a:lnTo>
                  <a:pt x="2217763" y="1344402"/>
                </a:lnTo>
                <a:lnTo>
                  <a:pt x="2227533" y="1351709"/>
                </a:lnTo>
                <a:lnTo>
                  <a:pt x="2237303" y="1359016"/>
                </a:lnTo>
                <a:lnTo>
                  <a:pt x="2247073" y="1366322"/>
                </a:lnTo>
                <a:lnTo>
                  <a:pt x="2256843" y="1373629"/>
                </a:lnTo>
                <a:lnTo>
                  <a:pt x="2266612" y="1380935"/>
                </a:lnTo>
                <a:lnTo>
                  <a:pt x="2276382" y="1388242"/>
                </a:lnTo>
                <a:lnTo>
                  <a:pt x="2286152" y="1395548"/>
                </a:lnTo>
                <a:lnTo>
                  <a:pt x="2295922" y="1402855"/>
                </a:lnTo>
                <a:lnTo>
                  <a:pt x="2305692" y="1410161"/>
                </a:lnTo>
                <a:lnTo>
                  <a:pt x="2315462" y="1417468"/>
                </a:lnTo>
                <a:lnTo>
                  <a:pt x="2325232" y="1424774"/>
                </a:lnTo>
                <a:lnTo>
                  <a:pt x="2335002" y="1432081"/>
                </a:lnTo>
                <a:lnTo>
                  <a:pt x="2344771" y="1439387"/>
                </a:lnTo>
                <a:lnTo>
                  <a:pt x="2354541" y="1446694"/>
                </a:lnTo>
                <a:lnTo>
                  <a:pt x="2364311" y="1454000"/>
                </a:lnTo>
                <a:lnTo>
                  <a:pt x="2374081" y="1461307"/>
                </a:lnTo>
                <a:lnTo>
                  <a:pt x="2383851" y="1468614"/>
                </a:lnTo>
                <a:lnTo>
                  <a:pt x="2393621" y="1475920"/>
                </a:lnTo>
                <a:lnTo>
                  <a:pt x="2403391" y="1483227"/>
                </a:lnTo>
                <a:lnTo>
                  <a:pt x="2413161" y="1490533"/>
                </a:lnTo>
                <a:lnTo>
                  <a:pt x="2422931" y="1497840"/>
                </a:lnTo>
                <a:lnTo>
                  <a:pt x="2432700" y="1505146"/>
                </a:lnTo>
                <a:lnTo>
                  <a:pt x="2442470" y="1512453"/>
                </a:lnTo>
                <a:lnTo>
                  <a:pt x="2452240" y="1519759"/>
                </a:lnTo>
                <a:lnTo>
                  <a:pt x="2462010" y="1527066"/>
                </a:lnTo>
                <a:lnTo>
                  <a:pt x="2471780" y="1534372"/>
                </a:lnTo>
                <a:lnTo>
                  <a:pt x="2481550" y="1541679"/>
                </a:lnTo>
                <a:lnTo>
                  <a:pt x="2491320" y="1548985"/>
                </a:lnTo>
                <a:lnTo>
                  <a:pt x="2501090" y="1556292"/>
                </a:lnTo>
                <a:lnTo>
                  <a:pt x="2510859" y="1563599"/>
                </a:lnTo>
                <a:lnTo>
                  <a:pt x="2520629" y="1570905"/>
                </a:lnTo>
                <a:lnTo>
                  <a:pt x="2530399" y="1578212"/>
                </a:lnTo>
                <a:lnTo>
                  <a:pt x="2540169" y="1585518"/>
                </a:lnTo>
                <a:lnTo>
                  <a:pt x="2549939" y="1592825"/>
                </a:lnTo>
                <a:lnTo>
                  <a:pt x="2559709" y="1600131"/>
                </a:lnTo>
                <a:lnTo>
                  <a:pt x="2569479" y="1607438"/>
                </a:lnTo>
                <a:lnTo>
                  <a:pt x="2579249" y="1614744"/>
                </a:lnTo>
                <a:lnTo>
                  <a:pt x="2589019" y="1622051"/>
                </a:lnTo>
                <a:lnTo>
                  <a:pt x="2598788" y="1629357"/>
                </a:lnTo>
                <a:lnTo>
                  <a:pt x="2608558" y="1636664"/>
                </a:lnTo>
                <a:lnTo>
                  <a:pt x="2618328" y="1643970"/>
                </a:lnTo>
                <a:lnTo>
                  <a:pt x="2628098" y="1651277"/>
                </a:lnTo>
                <a:lnTo>
                  <a:pt x="2637868" y="1658584"/>
                </a:lnTo>
                <a:lnTo>
                  <a:pt x="2647638" y="1665890"/>
                </a:lnTo>
                <a:lnTo>
                  <a:pt x="2657408" y="1673197"/>
                </a:lnTo>
                <a:lnTo>
                  <a:pt x="2667178" y="1680503"/>
                </a:lnTo>
                <a:lnTo>
                  <a:pt x="2676947" y="1687810"/>
                </a:lnTo>
                <a:lnTo>
                  <a:pt x="2686717" y="1695116"/>
                </a:lnTo>
                <a:lnTo>
                  <a:pt x="2696487" y="1702423"/>
                </a:lnTo>
                <a:lnTo>
                  <a:pt x="2706257" y="1709729"/>
                </a:lnTo>
                <a:lnTo>
                  <a:pt x="2716027" y="1717036"/>
                </a:lnTo>
                <a:lnTo>
                  <a:pt x="2725797" y="1724342"/>
                </a:lnTo>
                <a:lnTo>
                  <a:pt x="2735567" y="1731649"/>
                </a:lnTo>
                <a:lnTo>
                  <a:pt x="2745337" y="1738955"/>
                </a:lnTo>
                <a:lnTo>
                  <a:pt x="2755107" y="1746262"/>
                </a:lnTo>
                <a:lnTo>
                  <a:pt x="2764876" y="1753568"/>
                </a:lnTo>
                <a:lnTo>
                  <a:pt x="2774646" y="1760875"/>
                </a:lnTo>
                <a:lnTo>
                  <a:pt x="2784416" y="1768182"/>
                </a:lnTo>
                <a:lnTo>
                  <a:pt x="2794186" y="1775488"/>
                </a:lnTo>
                <a:lnTo>
                  <a:pt x="2803956" y="1782795"/>
                </a:lnTo>
                <a:lnTo>
                  <a:pt x="2813726" y="1790101"/>
                </a:lnTo>
                <a:lnTo>
                  <a:pt x="2823496" y="1797408"/>
                </a:lnTo>
                <a:lnTo>
                  <a:pt x="2833266" y="1804714"/>
                </a:lnTo>
                <a:lnTo>
                  <a:pt x="2843035" y="1812021"/>
                </a:lnTo>
                <a:lnTo>
                  <a:pt x="2852805" y="1819327"/>
                </a:lnTo>
                <a:lnTo>
                  <a:pt x="2862575" y="1826634"/>
                </a:lnTo>
                <a:lnTo>
                  <a:pt x="2872345" y="1833940"/>
                </a:lnTo>
                <a:lnTo>
                  <a:pt x="2882115" y="1841247"/>
                </a:lnTo>
                <a:lnTo>
                  <a:pt x="2891885" y="1848553"/>
                </a:lnTo>
                <a:lnTo>
                  <a:pt x="2901655" y="1855860"/>
                </a:lnTo>
                <a:lnTo>
                  <a:pt x="2911425" y="1863167"/>
                </a:lnTo>
                <a:lnTo>
                  <a:pt x="2921195" y="1870473"/>
                </a:lnTo>
                <a:lnTo>
                  <a:pt x="2930964" y="1877780"/>
                </a:lnTo>
                <a:lnTo>
                  <a:pt x="2940734" y="1885086"/>
                </a:lnTo>
                <a:lnTo>
                  <a:pt x="2950504" y="1892393"/>
                </a:lnTo>
                <a:lnTo>
                  <a:pt x="2960274" y="1899699"/>
                </a:lnTo>
                <a:lnTo>
                  <a:pt x="2970044" y="1907006"/>
                </a:lnTo>
                <a:lnTo>
                  <a:pt x="2979814" y="1914312"/>
                </a:lnTo>
                <a:lnTo>
                  <a:pt x="2989584" y="1921619"/>
                </a:lnTo>
                <a:lnTo>
                  <a:pt x="2999354" y="1928925"/>
                </a:lnTo>
                <a:lnTo>
                  <a:pt x="3009124" y="1936232"/>
                </a:lnTo>
                <a:lnTo>
                  <a:pt x="3018893" y="1943538"/>
                </a:lnTo>
                <a:lnTo>
                  <a:pt x="3028663" y="1950845"/>
                </a:lnTo>
                <a:lnTo>
                  <a:pt x="3038433" y="1958152"/>
                </a:lnTo>
                <a:lnTo>
                  <a:pt x="3048203" y="1965458"/>
                </a:lnTo>
                <a:lnTo>
                  <a:pt x="3057973" y="1972765"/>
                </a:lnTo>
                <a:lnTo>
                  <a:pt x="3067743" y="1980071"/>
                </a:lnTo>
                <a:lnTo>
                  <a:pt x="3077513" y="1987378"/>
                </a:lnTo>
                <a:lnTo>
                  <a:pt x="3087283" y="1994684"/>
                </a:lnTo>
                <a:lnTo>
                  <a:pt x="3097052" y="2001991"/>
                </a:lnTo>
                <a:lnTo>
                  <a:pt x="3106822" y="2009297"/>
                </a:lnTo>
                <a:lnTo>
                  <a:pt x="3116592" y="2016604"/>
                </a:lnTo>
                <a:lnTo>
                  <a:pt x="3126362" y="2023910"/>
                </a:lnTo>
                <a:lnTo>
                  <a:pt x="3136132" y="2031217"/>
                </a:lnTo>
                <a:lnTo>
                  <a:pt x="3145902" y="2038523"/>
                </a:lnTo>
                <a:lnTo>
                  <a:pt x="3155672" y="2045830"/>
                </a:lnTo>
                <a:lnTo>
                  <a:pt x="3165442" y="2053136"/>
                </a:lnTo>
                <a:lnTo>
                  <a:pt x="3175212" y="2060443"/>
                </a:lnTo>
                <a:lnTo>
                  <a:pt x="3184981" y="2067750"/>
                </a:lnTo>
                <a:lnTo>
                  <a:pt x="3194751" y="2075056"/>
                </a:lnTo>
                <a:lnTo>
                  <a:pt x="3204521" y="2082363"/>
                </a:lnTo>
                <a:lnTo>
                  <a:pt x="3214291" y="2089669"/>
                </a:lnTo>
                <a:lnTo>
                  <a:pt x="3224061" y="2096976"/>
                </a:lnTo>
                <a:lnTo>
                  <a:pt x="3233831" y="2104282"/>
                </a:lnTo>
                <a:lnTo>
                  <a:pt x="3243601" y="2111589"/>
                </a:lnTo>
                <a:lnTo>
                  <a:pt x="3253371" y="2118895"/>
                </a:lnTo>
                <a:lnTo>
                  <a:pt x="3263140" y="2126202"/>
                </a:lnTo>
                <a:lnTo>
                  <a:pt x="3272910" y="2133508"/>
                </a:lnTo>
                <a:lnTo>
                  <a:pt x="3282680" y="2140815"/>
                </a:lnTo>
                <a:lnTo>
                  <a:pt x="3292450" y="2148121"/>
                </a:lnTo>
                <a:lnTo>
                  <a:pt x="3302220" y="2155428"/>
                </a:lnTo>
                <a:lnTo>
                  <a:pt x="3311990" y="2162735"/>
                </a:lnTo>
                <a:lnTo>
                  <a:pt x="3321760" y="2170041"/>
                </a:lnTo>
                <a:lnTo>
                  <a:pt x="3331530" y="2177348"/>
                </a:lnTo>
                <a:lnTo>
                  <a:pt x="3341300" y="2184654"/>
                </a:lnTo>
                <a:lnTo>
                  <a:pt x="3351069" y="2191961"/>
                </a:lnTo>
                <a:lnTo>
                  <a:pt x="3360839" y="2199267"/>
                </a:lnTo>
                <a:lnTo>
                  <a:pt x="3370609" y="2206574"/>
                </a:lnTo>
                <a:lnTo>
                  <a:pt x="3380379" y="2213880"/>
                </a:lnTo>
                <a:lnTo>
                  <a:pt x="3390149" y="2221187"/>
                </a:lnTo>
                <a:lnTo>
                  <a:pt x="3399919" y="2228493"/>
                </a:lnTo>
                <a:lnTo>
                  <a:pt x="3409689" y="2235800"/>
                </a:lnTo>
                <a:lnTo>
                  <a:pt x="3419459" y="2243106"/>
                </a:lnTo>
                <a:lnTo>
                  <a:pt x="3429228" y="2250413"/>
                </a:lnTo>
                <a:lnTo>
                  <a:pt x="3438998" y="2257720"/>
                </a:lnTo>
                <a:lnTo>
                  <a:pt x="3448768" y="2265026"/>
                </a:lnTo>
                <a:lnTo>
                  <a:pt x="3458538" y="2272333"/>
                </a:lnTo>
                <a:lnTo>
                  <a:pt x="3468308" y="2279639"/>
                </a:lnTo>
                <a:lnTo>
                  <a:pt x="3478078" y="2286946"/>
                </a:lnTo>
                <a:lnTo>
                  <a:pt x="3487848" y="2294252"/>
                </a:lnTo>
                <a:lnTo>
                  <a:pt x="3497618" y="2301559"/>
                </a:lnTo>
                <a:lnTo>
                  <a:pt x="3507388" y="2308865"/>
                </a:lnTo>
                <a:lnTo>
                  <a:pt x="3517157" y="2316172"/>
                </a:lnTo>
                <a:lnTo>
                  <a:pt x="3526927" y="2323478"/>
                </a:lnTo>
                <a:lnTo>
                  <a:pt x="3536697" y="2330785"/>
                </a:lnTo>
                <a:lnTo>
                  <a:pt x="3546467" y="2338091"/>
                </a:lnTo>
                <a:lnTo>
                  <a:pt x="3556237" y="2345398"/>
                </a:lnTo>
                <a:lnTo>
                  <a:pt x="3566007" y="2352704"/>
                </a:lnTo>
                <a:lnTo>
                  <a:pt x="3575777" y="2360011"/>
                </a:lnTo>
                <a:lnTo>
                  <a:pt x="3585547" y="2367318"/>
                </a:lnTo>
                <a:lnTo>
                  <a:pt x="3595316" y="2374624"/>
                </a:lnTo>
                <a:lnTo>
                  <a:pt x="3605086" y="2381931"/>
                </a:lnTo>
                <a:lnTo>
                  <a:pt x="3614856" y="2389237"/>
                </a:lnTo>
                <a:lnTo>
                  <a:pt x="3624626" y="2396544"/>
                </a:lnTo>
                <a:lnTo>
                  <a:pt x="3634396" y="2403850"/>
                </a:lnTo>
                <a:lnTo>
                  <a:pt x="3644166" y="2411157"/>
                </a:lnTo>
                <a:lnTo>
                  <a:pt x="3653936" y="2418463"/>
                </a:lnTo>
                <a:lnTo>
                  <a:pt x="3663706" y="2425770"/>
                </a:lnTo>
                <a:lnTo>
                  <a:pt x="3673476" y="2433076"/>
                </a:lnTo>
                <a:lnTo>
                  <a:pt x="3683245" y="2440383"/>
                </a:lnTo>
                <a:lnTo>
                  <a:pt x="3693015" y="2447689"/>
                </a:lnTo>
                <a:lnTo>
                  <a:pt x="3702785" y="2454996"/>
                </a:lnTo>
                <a:lnTo>
                  <a:pt x="3712555" y="2462303"/>
                </a:lnTo>
                <a:lnTo>
                  <a:pt x="3722325" y="2469609"/>
                </a:lnTo>
                <a:lnTo>
                  <a:pt x="3732095" y="2476916"/>
                </a:lnTo>
                <a:lnTo>
                  <a:pt x="3741865" y="2484222"/>
                </a:lnTo>
                <a:lnTo>
                  <a:pt x="3751635" y="2491529"/>
                </a:lnTo>
                <a:lnTo>
                  <a:pt x="3761405" y="2498835"/>
                </a:lnTo>
                <a:lnTo>
                  <a:pt x="3771174" y="2506142"/>
                </a:lnTo>
                <a:lnTo>
                  <a:pt x="3780944" y="2513448"/>
                </a:lnTo>
                <a:lnTo>
                  <a:pt x="3790714" y="2520755"/>
                </a:lnTo>
                <a:lnTo>
                  <a:pt x="3800484" y="2528061"/>
                </a:lnTo>
                <a:lnTo>
                  <a:pt x="3810254" y="2535368"/>
                </a:lnTo>
                <a:lnTo>
                  <a:pt x="3820024" y="2542674"/>
                </a:lnTo>
                <a:lnTo>
                  <a:pt x="3829794" y="2549981"/>
                </a:lnTo>
                <a:lnTo>
                  <a:pt x="3839564" y="2557288"/>
                </a:lnTo>
                <a:lnTo>
                  <a:pt x="3849333" y="2564594"/>
                </a:lnTo>
                <a:lnTo>
                  <a:pt x="3859103" y="2571901"/>
                </a:lnTo>
                <a:lnTo>
                  <a:pt x="3868873" y="2579207"/>
                </a:lnTo>
                <a:lnTo>
                  <a:pt x="3878643" y="2586514"/>
                </a:lnTo>
                <a:lnTo>
                  <a:pt x="3888413" y="2593820"/>
                </a:lnTo>
                <a:lnTo>
                  <a:pt x="3898183" y="2601127"/>
                </a:lnTo>
                <a:lnTo>
                  <a:pt x="3907953" y="2608433"/>
                </a:lnTo>
                <a:lnTo>
                  <a:pt x="3917723" y="2615740"/>
                </a:lnTo>
                <a:lnTo>
                  <a:pt x="3927493" y="2623046"/>
                </a:lnTo>
                <a:lnTo>
                  <a:pt x="3937262" y="2630353"/>
                </a:lnTo>
                <a:lnTo>
                  <a:pt x="3947032" y="2637659"/>
                </a:lnTo>
                <a:lnTo>
                  <a:pt x="3956802" y="2644966"/>
                </a:lnTo>
                <a:lnTo>
                  <a:pt x="3966572" y="2652272"/>
                </a:lnTo>
                <a:lnTo>
                  <a:pt x="3976342" y="2659579"/>
                </a:lnTo>
                <a:lnTo>
                  <a:pt x="3986112" y="2666886"/>
                </a:lnTo>
                <a:lnTo>
                  <a:pt x="3995882" y="2674192"/>
                </a:lnTo>
                <a:lnTo>
                  <a:pt x="4005652" y="2681499"/>
                </a:lnTo>
                <a:lnTo>
                  <a:pt x="4015421" y="2688805"/>
                </a:lnTo>
                <a:lnTo>
                  <a:pt x="4025191" y="2696112"/>
                </a:lnTo>
                <a:lnTo>
                  <a:pt x="4034961" y="2703418"/>
                </a:lnTo>
                <a:lnTo>
                  <a:pt x="4044731" y="2710725"/>
                </a:lnTo>
                <a:lnTo>
                  <a:pt x="4054501" y="2718031"/>
                </a:lnTo>
                <a:lnTo>
                  <a:pt x="4064271" y="2725338"/>
                </a:lnTo>
                <a:lnTo>
                  <a:pt x="4074041" y="2732644"/>
                </a:lnTo>
                <a:lnTo>
                  <a:pt x="4083811" y="2739951"/>
                </a:lnTo>
                <a:lnTo>
                  <a:pt x="4093581" y="2747257"/>
                </a:lnTo>
                <a:lnTo>
                  <a:pt x="4103350" y="2754564"/>
                </a:lnTo>
                <a:lnTo>
                  <a:pt x="4113120" y="2761871"/>
                </a:lnTo>
                <a:lnTo>
                  <a:pt x="4122890" y="2769177"/>
                </a:lnTo>
                <a:lnTo>
                  <a:pt x="4132660" y="2776484"/>
                </a:lnTo>
                <a:lnTo>
                  <a:pt x="4142430" y="2783790"/>
                </a:lnTo>
                <a:lnTo>
                  <a:pt x="4152200" y="2791097"/>
                </a:lnTo>
                <a:lnTo>
                  <a:pt x="4161970" y="2798403"/>
                </a:lnTo>
                <a:lnTo>
                  <a:pt x="4171740" y="2805710"/>
                </a:lnTo>
                <a:lnTo>
                  <a:pt x="4181509" y="2811973"/>
                </a:lnTo>
                <a:lnTo>
                  <a:pt x="4191279" y="2811973"/>
                </a:lnTo>
                <a:lnTo>
                  <a:pt x="4201049" y="2811973"/>
                </a:lnTo>
                <a:lnTo>
                  <a:pt x="4210819" y="2811973"/>
                </a:lnTo>
                <a:lnTo>
                  <a:pt x="4220589" y="2811973"/>
                </a:lnTo>
                <a:lnTo>
                  <a:pt x="4230359" y="2811973"/>
                </a:lnTo>
                <a:lnTo>
                  <a:pt x="4240129" y="2811973"/>
                </a:lnTo>
                <a:lnTo>
                  <a:pt x="4249899" y="2811973"/>
                </a:lnTo>
                <a:lnTo>
                  <a:pt x="4259669" y="2811973"/>
                </a:lnTo>
                <a:lnTo>
                  <a:pt x="4269438" y="2811973"/>
                </a:lnTo>
                <a:lnTo>
                  <a:pt x="4279208" y="2811973"/>
                </a:lnTo>
                <a:lnTo>
                  <a:pt x="4288978" y="2811973"/>
                </a:lnTo>
                <a:lnTo>
                  <a:pt x="4298748" y="2811973"/>
                </a:lnTo>
                <a:lnTo>
                  <a:pt x="4308518" y="2811973"/>
                </a:lnTo>
                <a:lnTo>
                  <a:pt x="4318288" y="2811973"/>
                </a:lnTo>
                <a:lnTo>
                  <a:pt x="4328058" y="2811973"/>
                </a:lnTo>
                <a:lnTo>
                  <a:pt x="4337828" y="2811973"/>
                </a:lnTo>
                <a:lnTo>
                  <a:pt x="4347597" y="2811973"/>
                </a:lnTo>
                <a:lnTo>
                  <a:pt x="4357367" y="2811973"/>
                </a:lnTo>
                <a:lnTo>
                  <a:pt x="4367137" y="2811973"/>
                </a:lnTo>
                <a:lnTo>
                  <a:pt x="4376907" y="2811973"/>
                </a:lnTo>
                <a:lnTo>
                  <a:pt x="4386677" y="2811973"/>
                </a:lnTo>
                <a:lnTo>
                  <a:pt x="4396447" y="2811973"/>
                </a:lnTo>
                <a:lnTo>
                  <a:pt x="4406217" y="2811973"/>
                </a:lnTo>
                <a:lnTo>
                  <a:pt x="4415987" y="2811973"/>
                </a:lnTo>
                <a:lnTo>
                  <a:pt x="4425757" y="2811973"/>
                </a:lnTo>
                <a:lnTo>
                  <a:pt x="4435526" y="2811973"/>
                </a:lnTo>
                <a:lnTo>
                  <a:pt x="4445296" y="2811973"/>
                </a:lnTo>
                <a:lnTo>
                  <a:pt x="4455066" y="2811973"/>
                </a:lnTo>
                <a:lnTo>
                  <a:pt x="4464836" y="2811973"/>
                </a:lnTo>
                <a:lnTo>
                  <a:pt x="4474606" y="2811973"/>
                </a:lnTo>
                <a:lnTo>
                  <a:pt x="4484376" y="2811973"/>
                </a:lnTo>
                <a:lnTo>
                  <a:pt x="4494146" y="2811973"/>
                </a:lnTo>
                <a:lnTo>
                  <a:pt x="4503916" y="2811973"/>
                </a:lnTo>
                <a:lnTo>
                  <a:pt x="4513686" y="2811973"/>
                </a:lnTo>
                <a:lnTo>
                  <a:pt x="4523455" y="2811973"/>
                </a:lnTo>
                <a:lnTo>
                  <a:pt x="4533225" y="2811973"/>
                </a:lnTo>
                <a:lnTo>
                  <a:pt x="4542995" y="2811973"/>
                </a:lnTo>
                <a:lnTo>
                  <a:pt x="4552765" y="2811973"/>
                </a:lnTo>
                <a:lnTo>
                  <a:pt x="4562535" y="2811973"/>
                </a:lnTo>
                <a:lnTo>
                  <a:pt x="4572305" y="2811973"/>
                </a:lnTo>
                <a:lnTo>
                  <a:pt x="4582075" y="2811973"/>
                </a:lnTo>
                <a:lnTo>
                  <a:pt x="4591845" y="2811973"/>
                </a:lnTo>
                <a:lnTo>
                  <a:pt x="4601614" y="2811973"/>
                </a:lnTo>
                <a:lnTo>
                  <a:pt x="4611384" y="2811973"/>
                </a:lnTo>
                <a:lnTo>
                  <a:pt x="4621154" y="2811973"/>
                </a:lnTo>
                <a:lnTo>
                  <a:pt x="4630924" y="2811973"/>
                </a:lnTo>
                <a:lnTo>
                  <a:pt x="4640694" y="2811973"/>
                </a:lnTo>
                <a:lnTo>
                  <a:pt x="4650464" y="2811973"/>
                </a:lnTo>
                <a:lnTo>
                  <a:pt x="4660234" y="2811973"/>
                </a:lnTo>
                <a:lnTo>
                  <a:pt x="4670004" y="2811973"/>
                </a:lnTo>
                <a:lnTo>
                  <a:pt x="4679774" y="2811973"/>
                </a:lnTo>
                <a:lnTo>
                  <a:pt x="4689543" y="2811973"/>
                </a:lnTo>
                <a:lnTo>
                  <a:pt x="4699313" y="2811973"/>
                </a:lnTo>
                <a:lnTo>
                  <a:pt x="4709083" y="2811973"/>
                </a:lnTo>
                <a:lnTo>
                  <a:pt x="4718853" y="2811973"/>
                </a:lnTo>
                <a:lnTo>
                  <a:pt x="4728623" y="2811973"/>
                </a:lnTo>
                <a:lnTo>
                  <a:pt x="4738393" y="2811973"/>
                </a:lnTo>
                <a:lnTo>
                  <a:pt x="4748163" y="2811973"/>
                </a:lnTo>
                <a:lnTo>
                  <a:pt x="4757933" y="2811973"/>
                </a:lnTo>
                <a:lnTo>
                  <a:pt x="4767702" y="2811973"/>
                </a:lnTo>
                <a:lnTo>
                  <a:pt x="4777472" y="2811973"/>
                </a:lnTo>
                <a:lnTo>
                  <a:pt x="4787242" y="2811973"/>
                </a:lnTo>
                <a:lnTo>
                  <a:pt x="4797012" y="2811973"/>
                </a:lnTo>
                <a:lnTo>
                  <a:pt x="4806782" y="2811973"/>
                </a:lnTo>
                <a:lnTo>
                  <a:pt x="4816552" y="2811973"/>
                </a:lnTo>
                <a:lnTo>
                  <a:pt x="4826322" y="2811973"/>
                </a:lnTo>
                <a:lnTo>
                  <a:pt x="4836092" y="2811973"/>
                </a:lnTo>
                <a:lnTo>
                  <a:pt x="4845862" y="2811973"/>
                </a:lnTo>
                <a:lnTo>
                  <a:pt x="4855631" y="2811973"/>
                </a:lnTo>
                <a:lnTo>
                  <a:pt x="4865401" y="2811973"/>
                </a:lnTo>
                <a:lnTo>
                  <a:pt x="4875171" y="2811973"/>
                </a:lnTo>
                <a:lnTo>
                  <a:pt x="4884941" y="2811973"/>
                </a:lnTo>
                <a:lnTo>
                  <a:pt x="4894711" y="2811973"/>
                </a:lnTo>
                <a:lnTo>
                  <a:pt x="4904481" y="2811973"/>
                </a:lnTo>
                <a:lnTo>
                  <a:pt x="4914251" y="2811973"/>
                </a:lnTo>
                <a:lnTo>
                  <a:pt x="4924021" y="2811973"/>
                </a:lnTo>
                <a:lnTo>
                  <a:pt x="4933790" y="2811973"/>
                </a:lnTo>
                <a:lnTo>
                  <a:pt x="4943560" y="2811973"/>
                </a:lnTo>
                <a:lnTo>
                  <a:pt x="4953330" y="2811973"/>
                </a:lnTo>
                <a:lnTo>
                  <a:pt x="4963100" y="2811973"/>
                </a:lnTo>
                <a:lnTo>
                  <a:pt x="4972870" y="2811973"/>
                </a:lnTo>
                <a:lnTo>
                  <a:pt x="4982640" y="2811973"/>
                </a:lnTo>
                <a:lnTo>
                  <a:pt x="4992410" y="2811973"/>
                </a:lnTo>
                <a:lnTo>
                  <a:pt x="5002180" y="2811973"/>
                </a:lnTo>
                <a:lnTo>
                  <a:pt x="5011950" y="2811973"/>
                </a:lnTo>
                <a:lnTo>
                  <a:pt x="5021719" y="2811973"/>
                </a:lnTo>
                <a:lnTo>
                  <a:pt x="5031489" y="2811973"/>
                </a:lnTo>
                <a:lnTo>
                  <a:pt x="5041259" y="2811973"/>
                </a:lnTo>
                <a:lnTo>
                  <a:pt x="5051029" y="2811973"/>
                </a:lnTo>
                <a:lnTo>
                  <a:pt x="5060799" y="2811973"/>
                </a:lnTo>
                <a:lnTo>
                  <a:pt x="5070569" y="2811973"/>
                </a:lnTo>
                <a:lnTo>
                  <a:pt x="5080339" y="2811973"/>
                </a:lnTo>
                <a:lnTo>
                  <a:pt x="5090109" y="2811973"/>
                </a:lnTo>
                <a:lnTo>
                  <a:pt x="5099878" y="2811973"/>
                </a:lnTo>
                <a:lnTo>
                  <a:pt x="5109648" y="2811973"/>
                </a:lnTo>
                <a:lnTo>
                  <a:pt x="5119418" y="2811973"/>
                </a:lnTo>
                <a:lnTo>
                  <a:pt x="5129188" y="2811973"/>
                </a:lnTo>
                <a:lnTo>
                  <a:pt x="5138958" y="2811973"/>
                </a:lnTo>
                <a:lnTo>
                  <a:pt x="5148728" y="2811973"/>
                </a:lnTo>
                <a:lnTo>
                  <a:pt x="5158498" y="2811973"/>
                </a:lnTo>
                <a:lnTo>
                  <a:pt x="5168268" y="2811973"/>
                </a:lnTo>
                <a:lnTo>
                  <a:pt x="5178038" y="2811973"/>
                </a:lnTo>
                <a:lnTo>
                  <a:pt x="5187807" y="2811973"/>
                </a:lnTo>
                <a:lnTo>
                  <a:pt x="5197577" y="2811973"/>
                </a:lnTo>
                <a:lnTo>
                  <a:pt x="5207347" y="2811973"/>
                </a:lnTo>
                <a:lnTo>
                  <a:pt x="5217117" y="2811973"/>
                </a:lnTo>
                <a:lnTo>
                  <a:pt x="5226887" y="2811973"/>
                </a:lnTo>
                <a:lnTo>
                  <a:pt x="5236657" y="2811973"/>
                </a:lnTo>
                <a:lnTo>
                  <a:pt x="5246427" y="2811973"/>
                </a:lnTo>
                <a:lnTo>
                  <a:pt x="5256197" y="2811973"/>
                </a:lnTo>
                <a:lnTo>
                  <a:pt x="5265967" y="2811973"/>
                </a:lnTo>
                <a:lnTo>
                  <a:pt x="5275736" y="2811973"/>
                </a:lnTo>
                <a:lnTo>
                  <a:pt x="5285506" y="2811973"/>
                </a:lnTo>
                <a:lnTo>
                  <a:pt x="5295276" y="2811973"/>
                </a:lnTo>
                <a:lnTo>
                  <a:pt x="5305046" y="2811973"/>
                </a:lnTo>
                <a:lnTo>
                  <a:pt x="5314816" y="2811973"/>
                </a:lnTo>
                <a:lnTo>
                  <a:pt x="5324586" y="2811973"/>
                </a:lnTo>
                <a:lnTo>
                  <a:pt x="5334356" y="2811973"/>
                </a:lnTo>
                <a:lnTo>
                  <a:pt x="5344126" y="2811973"/>
                </a:lnTo>
                <a:lnTo>
                  <a:pt x="5353895" y="2811973"/>
                </a:lnTo>
                <a:lnTo>
                  <a:pt x="5363665" y="2811973"/>
                </a:lnTo>
                <a:lnTo>
                  <a:pt x="5373435" y="2811973"/>
                </a:lnTo>
                <a:lnTo>
                  <a:pt x="5383205" y="2811973"/>
                </a:lnTo>
                <a:lnTo>
                  <a:pt x="5392975" y="2811973"/>
                </a:lnTo>
                <a:lnTo>
                  <a:pt x="5402745" y="2811973"/>
                </a:lnTo>
                <a:lnTo>
                  <a:pt x="5412515" y="2811973"/>
                </a:lnTo>
                <a:lnTo>
                  <a:pt x="5422285" y="2811973"/>
                </a:lnTo>
                <a:lnTo>
                  <a:pt x="5432055" y="2811973"/>
                </a:lnTo>
                <a:lnTo>
                  <a:pt x="5441824" y="2811973"/>
                </a:lnTo>
                <a:lnTo>
                  <a:pt x="5451594" y="2811973"/>
                </a:lnTo>
                <a:lnTo>
                  <a:pt x="5461364" y="2811973"/>
                </a:lnTo>
                <a:lnTo>
                  <a:pt x="5471134" y="2811973"/>
                </a:lnTo>
                <a:lnTo>
                  <a:pt x="5480904" y="2811973"/>
                </a:lnTo>
                <a:lnTo>
                  <a:pt x="5490674" y="2811973"/>
                </a:lnTo>
                <a:lnTo>
                  <a:pt x="5500444" y="2811973"/>
                </a:lnTo>
                <a:lnTo>
                  <a:pt x="5510214" y="2811973"/>
                </a:lnTo>
                <a:lnTo>
                  <a:pt x="5519983" y="2811973"/>
                </a:lnTo>
                <a:lnTo>
                  <a:pt x="5529753" y="2811973"/>
                </a:lnTo>
                <a:lnTo>
                  <a:pt x="5539523" y="2811973"/>
                </a:lnTo>
                <a:lnTo>
                  <a:pt x="5549293" y="2811973"/>
                </a:lnTo>
                <a:lnTo>
                  <a:pt x="5559063" y="2811973"/>
                </a:lnTo>
                <a:lnTo>
                  <a:pt x="5568833" y="2811973"/>
                </a:lnTo>
                <a:lnTo>
                  <a:pt x="5578603" y="2811973"/>
                </a:lnTo>
                <a:lnTo>
                  <a:pt x="5588373" y="2811973"/>
                </a:lnTo>
                <a:lnTo>
                  <a:pt x="5598143" y="2811973"/>
                </a:lnTo>
                <a:lnTo>
                  <a:pt x="5607912" y="2811973"/>
                </a:lnTo>
                <a:lnTo>
                  <a:pt x="5617682" y="2811973"/>
                </a:lnTo>
                <a:lnTo>
                  <a:pt x="5627452" y="2811973"/>
                </a:lnTo>
                <a:lnTo>
                  <a:pt x="5637222" y="2811973"/>
                </a:lnTo>
                <a:lnTo>
                  <a:pt x="5646992" y="2811973"/>
                </a:lnTo>
                <a:lnTo>
                  <a:pt x="5656762" y="2811973"/>
                </a:lnTo>
                <a:lnTo>
                  <a:pt x="5666532" y="2811973"/>
                </a:lnTo>
                <a:lnTo>
                  <a:pt x="5676302" y="2811973"/>
                </a:lnTo>
                <a:lnTo>
                  <a:pt x="5686071" y="2811973"/>
                </a:lnTo>
                <a:lnTo>
                  <a:pt x="5695841" y="2811973"/>
                </a:lnTo>
                <a:lnTo>
                  <a:pt x="5705611" y="2811973"/>
                </a:lnTo>
                <a:lnTo>
                  <a:pt x="5715381" y="2811973"/>
                </a:lnTo>
                <a:lnTo>
                  <a:pt x="5725151" y="2811973"/>
                </a:lnTo>
                <a:lnTo>
                  <a:pt x="5734921" y="2811973"/>
                </a:lnTo>
                <a:lnTo>
                  <a:pt x="5744691" y="2811973"/>
                </a:lnTo>
                <a:lnTo>
                  <a:pt x="5754461" y="2811973"/>
                </a:lnTo>
                <a:lnTo>
                  <a:pt x="5764231" y="2811973"/>
                </a:lnTo>
                <a:lnTo>
                  <a:pt x="5774000" y="2811973"/>
                </a:lnTo>
                <a:lnTo>
                  <a:pt x="5783770" y="2811973"/>
                </a:lnTo>
                <a:lnTo>
                  <a:pt x="5793540" y="2811973"/>
                </a:lnTo>
                <a:lnTo>
                  <a:pt x="5803310" y="2811973"/>
                </a:lnTo>
                <a:lnTo>
                  <a:pt x="5813080" y="2811973"/>
                </a:lnTo>
                <a:lnTo>
                  <a:pt x="5822850" y="2811973"/>
                </a:lnTo>
                <a:lnTo>
                  <a:pt x="5832620" y="2811973"/>
                </a:lnTo>
                <a:lnTo>
                  <a:pt x="5842390" y="2811973"/>
                </a:lnTo>
                <a:lnTo>
                  <a:pt x="5852160" y="2811973"/>
                </a:lnTo>
                <a:lnTo>
                  <a:pt x="5852160" y="2811973"/>
                </a:lnTo>
                <a:lnTo>
                  <a:pt x="5842390" y="2811973"/>
                </a:lnTo>
                <a:lnTo>
                  <a:pt x="5832620" y="2811973"/>
                </a:lnTo>
                <a:lnTo>
                  <a:pt x="5822850" y="2811973"/>
                </a:lnTo>
                <a:lnTo>
                  <a:pt x="5813080" y="2811973"/>
                </a:lnTo>
                <a:lnTo>
                  <a:pt x="5803310" y="2811973"/>
                </a:lnTo>
                <a:lnTo>
                  <a:pt x="5793540" y="2811973"/>
                </a:lnTo>
                <a:lnTo>
                  <a:pt x="5783770" y="2811973"/>
                </a:lnTo>
                <a:lnTo>
                  <a:pt x="5774000" y="2811973"/>
                </a:lnTo>
                <a:lnTo>
                  <a:pt x="5764231" y="2811973"/>
                </a:lnTo>
                <a:lnTo>
                  <a:pt x="5754461" y="2811973"/>
                </a:lnTo>
                <a:lnTo>
                  <a:pt x="5744691" y="2811973"/>
                </a:lnTo>
                <a:lnTo>
                  <a:pt x="5734921" y="2811973"/>
                </a:lnTo>
                <a:lnTo>
                  <a:pt x="5725151" y="2811973"/>
                </a:lnTo>
                <a:lnTo>
                  <a:pt x="5715381" y="2811973"/>
                </a:lnTo>
                <a:lnTo>
                  <a:pt x="5705611" y="2811973"/>
                </a:lnTo>
                <a:lnTo>
                  <a:pt x="5695841" y="2811973"/>
                </a:lnTo>
                <a:lnTo>
                  <a:pt x="5686071" y="2811973"/>
                </a:lnTo>
                <a:lnTo>
                  <a:pt x="5676302" y="2811973"/>
                </a:lnTo>
                <a:lnTo>
                  <a:pt x="5666532" y="2811973"/>
                </a:lnTo>
                <a:lnTo>
                  <a:pt x="5656762" y="2811973"/>
                </a:lnTo>
                <a:lnTo>
                  <a:pt x="5646992" y="2811973"/>
                </a:lnTo>
                <a:lnTo>
                  <a:pt x="5637222" y="2811973"/>
                </a:lnTo>
                <a:lnTo>
                  <a:pt x="5627452" y="2811973"/>
                </a:lnTo>
                <a:lnTo>
                  <a:pt x="5617682" y="2811973"/>
                </a:lnTo>
                <a:lnTo>
                  <a:pt x="5607912" y="2811973"/>
                </a:lnTo>
                <a:lnTo>
                  <a:pt x="5598143" y="2811973"/>
                </a:lnTo>
                <a:lnTo>
                  <a:pt x="5588373" y="2811973"/>
                </a:lnTo>
                <a:lnTo>
                  <a:pt x="5578603" y="2811973"/>
                </a:lnTo>
                <a:lnTo>
                  <a:pt x="5568833" y="2811973"/>
                </a:lnTo>
                <a:lnTo>
                  <a:pt x="5559063" y="2811973"/>
                </a:lnTo>
                <a:lnTo>
                  <a:pt x="5549293" y="2811973"/>
                </a:lnTo>
                <a:lnTo>
                  <a:pt x="5539523" y="2811973"/>
                </a:lnTo>
                <a:lnTo>
                  <a:pt x="5529753" y="2811973"/>
                </a:lnTo>
                <a:lnTo>
                  <a:pt x="5519983" y="2811973"/>
                </a:lnTo>
                <a:lnTo>
                  <a:pt x="5510214" y="2811973"/>
                </a:lnTo>
                <a:lnTo>
                  <a:pt x="5500444" y="2811973"/>
                </a:lnTo>
                <a:lnTo>
                  <a:pt x="5490674" y="2811973"/>
                </a:lnTo>
                <a:lnTo>
                  <a:pt x="5480904" y="2811973"/>
                </a:lnTo>
                <a:lnTo>
                  <a:pt x="5471134" y="2811973"/>
                </a:lnTo>
                <a:lnTo>
                  <a:pt x="5461364" y="2811973"/>
                </a:lnTo>
                <a:lnTo>
                  <a:pt x="5451594" y="2811973"/>
                </a:lnTo>
                <a:lnTo>
                  <a:pt x="5441824" y="2811973"/>
                </a:lnTo>
                <a:lnTo>
                  <a:pt x="5432055" y="2811973"/>
                </a:lnTo>
                <a:lnTo>
                  <a:pt x="5422285" y="2811973"/>
                </a:lnTo>
                <a:lnTo>
                  <a:pt x="5412515" y="2811973"/>
                </a:lnTo>
                <a:lnTo>
                  <a:pt x="5402745" y="2811973"/>
                </a:lnTo>
                <a:lnTo>
                  <a:pt x="5392975" y="2811973"/>
                </a:lnTo>
                <a:lnTo>
                  <a:pt x="5383205" y="2811973"/>
                </a:lnTo>
                <a:lnTo>
                  <a:pt x="5373435" y="2811973"/>
                </a:lnTo>
                <a:lnTo>
                  <a:pt x="5363665" y="2811973"/>
                </a:lnTo>
                <a:lnTo>
                  <a:pt x="5353895" y="2811973"/>
                </a:lnTo>
                <a:lnTo>
                  <a:pt x="5344126" y="2811973"/>
                </a:lnTo>
                <a:lnTo>
                  <a:pt x="5334356" y="2811973"/>
                </a:lnTo>
                <a:lnTo>
                  <a:pt x="5324586" y="2811973"/>
                </a:lnTo>
                <a:lnTo>
                  <a:pt x="5314816" y="2811973"/>
                </a:lnTo>
                <a:lnTo>
                  <a:pt x="5305046" y="2811973"/>
                </a:lnTo>
                <a:lnTo>
                  <a:pt x="5295276" y="2811973"/>
                </a:lnTo>
                <a:lnTo>
                  <a:pt x="5285506" y="2811973"/>
                </a:lnTo>
                <a:lnTo>
                  <a:pt x="5275736" y="2811973"/>
                </a:lnTo>
                <a:lnTo>
                  <a:pt x="5265967" y="2811973"/>
                </a:lnTo>
                <a:lnTo>
                  <a:pt x="5256197" y="2811973"/>
                </a:lnTo>
                <a:lnTo>
                  <a:pt x="5246427" y="2811973"/>
                </a:lnTo>
                <a:lnTo>
                  <a:pt x="5236657" y="2811973"/>
                </a:lnTo>
                <a:lnTo>
                  <a:pt x="5226887" y="2811973"/>
                </a:lnTo>
                <a:lnTo>
                  <a:pt x="5217117" y="2811973"/>
                </a:lnTo>
                <a:lnTo>
                  <a:pt x="5207347" y="2811973"/>
                </a:lnTo>
                <a:lnTo>
                  <a:pt x="5197577" y="2811973"/>
                </a:lnTo>
                <a:lnTo>
                  <a:pt x="5187807" y="2811973"/>
                </a:lnTo>
                <a:lnTo>
                  <a:pt x="5178038" y="2811973"/>
                </a:lnTo>
                <a:lnTo>
                  <a:pt x="5168268" y="2811973"/>
                </a:lnTo>
                <a:lnTo>
                  <a:pt x="5158498" y="2811973"/>
                </a:lnTo>
                <a:lnTo>
                  <a:pt x="5148728" y="2811973"/>
                </a:lnTo>
                <a:lnTo>
                  <a:pt x="5138958" y="2811973"/>
                </a:lnTo>
                <a:lnTo>
                  <a:pt x="5129188" y="2811973"/>
                </a:lnTo>
                <a:lnTo>
                  <a:pt x="5119418" y="2811973"/>
                </a:lnTo>
                <a:lnTo>
                  <a:pt x="5109648" y="2811973"/>
                </a:lnTo>
                <a:lnTo>
                  <a:pt x="5099878" y="2811973"/>
                </a:lnTo>
                <a:lnTo>
                  <a:pt x="5090109" y="2811973"/>
                </a:lnTo>
                <a:lnTo>
                  <a:pt x="5080339" y="2811973"/>
                </a:lnTo>
                <a:lnTo>
                  <a:pt x="5070569" y="2811973"/>
                </a:lnTo>
                <a:lnTo>
                  <a:pt x="5060799" y="2811973"/>
                </a:lnTo>
                <a:lnTo>
                  <a:pt x="5051029" y="2811973"/>
                </a:lnTo>
                <a:lnTo>
                  <a:pt x="5041259" y="2811973"/>
                </a:lnTo>
                <a:lnTo>
                  <a:pt x="5031489" y="2811973"/>
                </a:lnTo>
                <a:lnTo>
                  <a:pt x="5021719" y="2811973"/>
                </a:lnTo>
                <a:lnTo>
                  <a:pt x="5011950" y="2811973"/>
                </a:lnTo>
                <a:lnTo>
                  <a:pt x="5002180" y="2811973"/>
                </a:lnTo>
                <a:lnTo>
                  <a:pt x="4992410" y="2811973"/>
                </a:lnTo>
                <a:lnTo>
                  <a:pt x="4982640" y="2811973"/>
                </a:lnTo>
                <a:lnTo>
                  <a:pt x="4972870" y="2811973"/>
                </a:lnTo>
                <a:lnTo>
                  <a:pt x="4963100" y="2811973"/>
                </a:lnTo>
                <a:lnTo>
                  <a:pt x="4953330" y="2811973"/>
                </a:lnTo>
                <a:lnTo>
                  <a:pt x="4943560" y="2811973"/>
                </a:lnTo>
                <a:lnTo>
                  <a:pt x="4933790" y="2811973"/>
                </a:lnTo>
                <a:lnTo>
                  <a:pt x="4924021" y="2811973"/>
                </a:lnTo>
                <a:lnTo>
                  <a:pt x="4914251" y="2811973"/>
                </a:lnTo>
                <a:lnTo>
                  <a:pt x="4904481" y="2811973"/>
                </a:lnTo>
                <a:lnTo>
                  <a:pt x="4894711" y="2811973"/>
                </a:lnTo>
                <a:lnTo>
                  <a:pt x="4884941" y="2811973"/>
                </a:lnTo>
                <a:lnTo>
                  <a:pt x="4875171" y="2811973"/>
                </a:lnTo>
                <a:lnTo>
                  <a:pt x="4865401" y="2811973"/>
                </a:lnTo>
                <a:lnTo>
                  <a:pt x="4855631" y="2811973"/>
                </a:lnTo>
                <a:lnTo>
                  <a:pt x="4845862" y="2811973"/>
                </a:lnTo>
                <a:lnTo>
                  <a:pt x="4836092" y="2811973"/>
                </a:lnTo>
                <a:lnTo>
                  <a:pt x="4826322" y="2811973"/>
                </a:lnTo>
                <a:lnTo>
                  <a:pt x="4816552" y="2811973"/>
                </a:lnTo>
                <a:lnTo>
                  <a:pt x="4806782" y="2811973"/>
                </a:lnTo>
                <a:lnTo>
                  <a:pt x="4797012" y="2811973"/>
                </a:lnTo>
                <a:lnTo>
                  <a:pt x="4787242" y="2811973"/>
                </a:lnTo>
                <a:lnTo>
                  <a:pt x="4777472" y="2811973"/>
                </a:lnTo>
                <a:lnTo>
                  <a:pt x="4767702" y="2811973"/>
                </a:lnTo>
                <a:lnTo>
                  <a:pt x="4757933" y="2811973"/>
                </a:lnTo>
                <a:lnTo>
                  <a:pt x="4748163" y="2811973"/>
                </a:lnTo>
                <a:lnTo>
                  <a:pt x="4738393" y="2811973"/>
                </a:lnTo>
                <a:lnTo>
                  <a:pt x="4728623" y="2811973"/>
                </a:lnTo>
                <a:lnTo>
                  <a:pt x="4718853" y="2811973"/>
                </a:lnTo>
                <a:lnTo>
                  <a:pt x="4709083" y="2811973"/>
                </a:lnTo>
                <a:lnTo>
                  <a:pt x="4699313" y="2811973"/>
                </a:lnTo>
                <a:lnTo>
                  <a:pt x="4689543" y="2811973"/>
                </a:lnTo>
                <a:lnTo>
                  <a:pt x="4679774" y="2811973"/>
                </a:lnTo>
                <a:lnTo>
                  <a:pt x="4670004" y="2811973"/>
                </a:lnTo>
                <a:lnTo>
                  <a:pt x="4660234" y="2811973"/>
                </a:lnTo>
                <a:lnTo>
                  <a:pt x="4650464" y="2811973"/>
                </a:lnTo>
                <a:lnTo>
                  <a:pt x="4640694" y="2811973"/>
                </a:lnTo>
                <a:lnTo>
                  <a:pt x="4630924" y="2811973"/>
                </a:lnTo>
                <a:lnTo>
                  <a:pt x="4621154" y="2811973"/>
                </a:lnTo>
                <a:lnTo>
                  <a:pt x="4611384" y="2811973"/>
                </a:lnTo>
                <a:lnTo>
                  <a:pt x="4601614" y="2811973"/>
                </a:lnTo>
                <a:lnTo>
                  <a:pt x="4591845" y="2811973"/>
                </a:lnTo>
                <a:lnTo>
                  <a:pt x="4582075" y="2811973"/>
                </a:lnTo>
                <a:lnTo>
                  <a:pt x="4572305" y="2811973"/>
                </a:lnTo>
                <a:lnTo>
                  <a:pt x="4562535" y="2811973"/>
                </a:lnTo>
                <a:lnTo>
                  <a:pt x="4552765" y="2811973"/>
                </a:lnTo>
                <a:lnTo>
                  <a:pt x="4542995" y="2811973"/>
                </a:lnTo>
                <a:lnTo>
                  <a:pt x="4533225" y="2811973"/>
                </a:lnTo>
                <a:lnTo>
                  <a:pt x="4523455" y="2811973"/>
                </a:lnTo>
                <a:lnTo>
                  <a:pt x="4513686" y="2811973"/>
                </a:lnTo>
                <a:lnTo>
                  <a:pt x="4503916" y="2811973"/>
                </a:lnTo>
                <a:lnTo>
                  <a:pt x="4494146" y="2811973"/>
                </a:lnTo>
                <a:lnTo>
                  <a:pt x="4484376" y="2811973"/>
                </a:lnTo>
                <a:lnTo>
                  <a:pt x="4474606" y="2811973"/>
                </a:lnTo>
                <a:lnTo>
                  <a:pt x="4464836" y="2811973"/>
                </a:lnTo>
                <a:lnTo>
                  <a:pt x="4455066" y="2811973"/>
                </a:lnTo>
                <a:lnTo>
                  <a:pt x="4445296" y="2811973"/>
                </a:lnTo>
                <a:lnTo>
                  <a:pt x="4435526" y="2811973"/>
                </a:lnTo>
                <a:lnTo>
                  <a:pt x="4425757" y="2811973"/>
                </a:lnTo>
                <a:lnTo>
                  <a:pt x="4415987" y="2811973"/>
                </a:lnTo>
                <a:lnTo>
                  <a:pt x="4406217" y="2811973"/>
                </a:lnTo>
                <a:lnTo>
                  <a:pt x="4396447" y="2811973"/>
                </a:lnTo>
                <a:lnTo>
                  <a:pt x="4386677" y="2811973"/>
                </a:lnTo>
                <a:lnTo>
                  <a:pt x="4376907" y="2811973"/>
                </a:lnTo>
                <a:lnTo>
                  <a:pt x="4367137" y="2811973"/>
                </a:lnTo>
                <a:lnTo>
                  <a:pt x="4357367" y="2811973"/>
                </a:lnTo>
                <a:lnTo>
                  <a:pt x="4347597" y="2811973"/>
                </a:lnTo>
                <a:lnTo>
                  <a:pt x="4337828" y="2811973"/>
                </a:lnTo>
                <a:lnTo>
                  <a:pt x="4328058" y="2811973"/>
                </a:lnTo>
                <a:lnTo>
                  <a:pt x="4318288" y="2811973"/>
                </a:lnTo>
                <a:lnTo>
                  <a:pt x="4308518" y="2811973"/>
                </a:lnTo>
                <a:lnTo>
                  <a:pt x="4298748" y="2811973"/>
                </a:lnTo>
                <a:lnTo>
                  <a:pt x="4288978" y="2811973"/>
                </a:lnTo>
                <a:lnTo>
                  <a:pt x="4279208" y="2811973"/>
                </a:lnTo>
                <a:lnTo>
                  <a:pt x="4269438" y="2811973"/>
                </a:lnTo>
                <a:lnTo>
                  <a:pt x="4259669" y="2811973"/>
                </a:lnTo>
                <a:lnTo>
                  <a:pt x="4249899" y="2811973"/>
                </a:lnTo>
                <a:lnTo>
                  <a:pt x="4240129" y="2811973"/>
                </a:lnTo>
                <a:lnTo>
                  <a:pt x="4230359" y="2811973"/>
                </a:lnTo>
                <a:lnTo>
                  <a:pt x="4220589" y="2811973"/>
                </a:lnTo>
                <a:lnTo>
                  <a:pt x="4210819" y="2811973"/>
                </a:lnTo>
                <a:lnTo>
                  <a:pt x="4201049" y="2811973"/>
                </a:lnTo>
                <a:lnTo>
                  <a:pt x="4191279" y="2811973"/>
                </a:lnTo>
                <a:lnTo>
                  <a:pt x="4181509" y="2811973"/>
                </a:lnTo>
                <a:lnTo>
                  <a:pt x="4171740" y="2811973"/>
                </a:lnTo>
                <a:lnTo>
                  <a:pt x="4161970" y="2811973"/>
                </a:lnTo>
                <a:lnTo>
                  <a:pt x="4152200" y="2811973"/>
                </a:lnTo>
                <a:lnTo>
                  <a:pt x="4142430" y="2811973"/>
                </a:lnTo>
                <a:lnTo>
                  <a:pt x="4132660" y="2811973"/>
                </a:lnTo>
                <a:lnTo>
                  <a:pt x="4122890" y="2811973"/>
                </a:lnTo>
                <a:lnTo>
                  <a:pt x="4113120" y="2811973"/>
                </a:lnTo>
                <a:lnTo>
                  <a:pt x="4103350" y="2811973"/>
                </a:lnTo>
                <a:lnTo>
                  <a:pt x="4093581" y="2811973"/>
                </a:lnTo>
                <a:lnTo>
                  <a:pt x="4083811" y="2811973"/>
                </a:lnTo>
                <a:lnTo>
                  <a:pt x="4074041" y="2811973"/>
                </a:lnTo>
                <a:lnTo>
                  <a:pt x="4064271" y="2811973"/>
                </a:lnTo>
                <a:lnTo>
                  <a:pt x="4054501" y="2811973"/>
                </a:lnTo>
                <a:lnTo>
                  <a:pt x="4044731" y="2811973"/>
                </a:lnTo>
                <a:lnTo>
                  <a:pt x="4034961" y="2811973"/>
                </a:lnTo>
                <a:lnTo>
                  <a:pt x="4025191" y="2811973"/>
                </a:lnTo>
                <a:lnTo>
                  <a:pt x="4015421" y="2811973"/>
                </a:lnTo>
                <a:lnTo>
                  <a:pt x="4005652" y="2811973"/>
                </a:lnTo>
                <a:lnTo>
                  <a:pt x="3995882" y="2811973"/>
                </a:lnTo>
                <a:lnTo>
                  <a:pt x="3986112" y="2811973"/>
                </a:lnTo>
                <a:lnTo>
                  <a:pt x="3976342" y="2811973"/>
                </a:lnTo>
                <a:lnTo>
                  <a:pt x="3966572" y="2811973"/>
                </a:lnTo>
                <a:lnTo>
                  <a:pt x="3956802" y="2811973"/>
                </a:lnTo>
                <a:lnTo>
                  <a:pt x="3947032" y="2811973"/>
                </a:lnTo>
                <a:lnTo>
                  <a:pt x="3937262" y="2811973"/>
                </a:lnTo>
                <a:lnTo>
                  <a:pt x="3927493" y="2811973"/>
                </a:lnTo>
                <a:lnTo>
                  <a:pt x="3917723" y="2811973"/>
                </a:lnTo>
                <a:lnTo>
                  <a:pt x="3907953" y="2811973"/>
                </a:lnTo>
                <a:lnTo>
                  <a:pt x="3898183" y="2811973"/>
                </a:lnTo>
                <a:lnTo>
                  <a:pt x="3888413" y="2811973"/>
                </a:lnTo>
                <a:lnTo>
                  <a:pt x="3878643" y="2811973"/>
                </a:lnTo>
                <a:lnTo>
                  <a:pt x="3868873" y="2811973"/>
                </a:lnTo>
                <a:lnTo>
                  <a:pt x="3859103" y="2811973"/>
                </a:lnTo>
                <a:lnTo>
                  <a:pt x="3849333" y="2811973"/>
                </a:lnTo>
                <a:lnTo>
                  <a:pt x="3839564" y="2811973"/>
                </a:lnTo>
                <a:lnTo>
                  <a:pt x="3829794" y="2811973"/>
                </a:lnTo>
                <a:lnTo>
                  <a:pt x="3820024" y="2811973"/>
                </a:lnTo>
                <a:lnTo>
                  <a:pt x="3810254" y="2811973"/>
                </a:lnTo>
                <a:lnTo>
                  <a:pt x="3800484" y="2811973"/>
                </a:lnTo>
                <a:lnTo>
                  <a:pt x="3790714" y="2811973"/>
                </a:lnTo>
                <a:lnTo>
                  <a:pt x="3780944" y="2811973"/>
                </a:lnTo>
                <a:lnTo>
                  <a:pt x="3771174" y="2811973"/>
                </a:lnTo>
                <a:lnTo>
                  <a:pt x="3761405" y="2811973"/>
                </a:lnTo>
                <a:lnTo>
                  <a:pt x="3751635" y="2811973"/>
                </a:lnTo>
                <a:lnTo>
                  <a:pt x="3741865" y="2811973"/>
                </a:lnTo>
                <a:lnTo>
                  <a:pt x="3732095" y="2811973"/>
                </a:lnTo>
                <a:lnTo>
                  <a:pt x="3722325" y="2811973"/>
                </a:lnTo>
                <a:lnTo>
                  <a:pt x="3712555" y="2811973"/>
                </a:lnTo>
                <a:lnTo>
                  <a:pt x="3702785" y="2811973"/>
                </a:lnTo>
                <a:lnTo>
                  <a:pt x="3693015" y="2811973"/>
                </a:lnTo>
                <a:lnTo>
                  <a:pt x="3683245" y="2811973"/>
                </a:lnTo>
                <a:lnTo>
                  <a:pt x="3673476" y="2811973"/>
                </a:lnTo>
                <a:lnTo>
                  <a:pt x="3663706" y="2811973"/>
                </a:lnTo>
                <a:lnTo>
                  <a:pt x="3653936" y="2811973"/>
                </a:lnTo>
                <a:lnTo>
                  <a:pt x="3644166" y="2811973"/>
                </a:lnTo>
                <a:lnTo>
                  <a:pt x="3634396" y="2811973"/>
                </a:lnTo>
                <a:lnTo>
                  <a:pt x="3624626" y="2811973"/>
                </a:lnTo>
                <a:lnTo>
                  <a:pt x="3614856" y="2811973"/>
                </a:lnTo>
                <a:lnTo>
                  <a:pt x="3605086" y="2811973"/>
                </a:lnTo>
                <a:lnTo>
                  <a:pt x="3595316" y="2811973"/>
                </a:lnTo>
                <a:lnTo>
                  <a:pt x="3585547" y="2811973"/>
                </a:lnTo>
                <a:lnTo>
                  <a:pt x="3575777" y="2811973"/>
                </a:lnTo>
                <a:lnTo>
                  <a:pt x="3566007" y="2811973"/>
                </a:lnTo>
                <a:lnTo>
                  <a:pt x="3556237" y="2811973"/>
                </a:lnTo>
                <a:lnTo>
                  <a:pt x="3546467" y="2811973"/>
                </a:lnTo>
                <a:lnTo>
                  <a:pt x="3536697" y="2811973"/>
                </a:lnTo>
                <a:lnTo>
                  <a:pt x="3526927" y="2811973"/>
                </a:lnTo>
                <a:lnTo>
                  <a:pt x="3517157" y="2811973"/>
                </a:lnTo>
                <a:lnTo>
                  <a:pt x="3507388" y="2811973"/>
                </a:lnTo>
                <a:lnTo>
                  <a:pt x="3497618" y="2811973"/>
                </a:lnTo>
                <a:lnTo>
                  <a:pt x="3487848" y="2811973"/>
                </a:lnTo>
                <a:lnTo>
                  <a:pt x="3478078" y="2811973"/>
                </a:lnTo>
                <a:lnTo>
                  <a:pt x="3468308" y="2811973"/>
                </a:lnTo>
                <a:lnTo>
                  <a:pt x="3458538" y="2811973"/>
                </a:lnTo>
                <a:lnTo>
                  <a:pt x="3448768" y="2811973"/>
                </a:lnTo>
                <a:lnTo>
                  <a:pt x="3438998" y="2811973"/>
                </a:lnTo>
                <a:lnTo>
                  <a:pt x="3429228" y="2811973"/>
                </a:lnTo>
                <a:lnTo>
                  <a:pt x="3419459" y="2811973"/>
                </a:lnTo>
                <a:lnTo>
                  <a:pt x="3409689" y="2811973"/>
                </a:lnTo>
                <a:lnTo>
                  <a:pt x="3399919" y="2811973"/>
                </a:lnTo>
                <a:lnTo>
                  <a:pt x="3390149" y="2811973"/>
                </a:lnTo>
                <a:lnTo>
                  <a:pt x="3380379" y="2811973"/>
                </a:lnTo>
                <a:lnTo>
                  <a:pt x="3370609" y="2811973"/>
                </a:lnTo>
                <a:lnTo>
                  <a:pt x="3360839" y="2811973"/>
                </a:lnTo>
                <a:lnTo>
                  <a:pt x="3351069" y="2811973"/>
                </a:lnTo>
                <a:lnTo>
                  <a:pt x="3341300" y="2811973"/>
                </a:lnTo>
                <a:lnTo>
                  <a:pt x="3331530" y="2811973"/>
                </a:lnTo>
                <a:lnTo>
                  <a:pt x="3321760" y="2811973"/>
                </a:lnTo>
                <a:lnTo>
                  <a:pt x="3311990" y="2811973"/>
                </a:lnTo>
                <a:lnTo>
                  <a:pt x="3302220" y="2811973"/>
                </a:lnTo>
                <a:lnTo>
                  <a:pt x="3292450" y="2811973"/>
                </a:lnTo>
                <a:lnTo>
                  <a:pt x="3282680" y="2811973"/>
                </a:lnTo>
                <a:lnTo>
                  <a:pt x="3272910" y="2811973"/>
                </a:lnTo>
                <a:lnTo>
                  <a:pt x="3263140" y="2811973"/>
                </a:lnTo>
                <a:lnTo>
                  <a:pt x="3253371" y="2811973"/>
                </a:lnTo>
                <a:lnTo>
                  <a:pt x="3243601" y="2811973"/>
                </a:lnTo>
                <a:lnTo>
                  <a:pt x="3233831" y="2811973"/>
                </a:lnTo>
                <a:lnTo>
                  <a:pt x="3224061" y="2811973"/>
                </a:lnTo>
                <a:lnTo>
                  <a:pt x="3214291" y="2811973"/>
                </a:lnTo>
                <a:lnTo>
                  <a:pt x="3204521" y="2811973"/>
                </a:lnTo>
                <a:lnTo>
                  <a:pt x="3194751" y="2811973"/>
                </a:lnTo>
                <a:lnTo>
                  <a:pt x="3184981" y="2811973"/>
                </a:lnTo>
                <a:lnTo>
                  <a:pt x="3175212" y="2811973"/>
                </a:lnTo>
                <a:lnTo>
                  <a:pt x="3165442" y="2811973"/>
                </a:lnTo>
                <a:lnTo>
                  <a:pt x="3155672" y="2811973"/>
                </a:lnTo>
                <a:lnTo>
                  <a:pt x="3145902" y="2811973"/>
                </a:lnTo>
                <a:lnTo>
                  <a:pt x="3136132" y="2811973"/>
                </a:lnTo>
                <a:lnTo>
                  <a:pt x="3126362" y="2811973"/>
                </a:lnTo>
                <a:lnTo>
                  <a:pt x="3116592" y="2811973"/>
                </a:lnTo>
                <a:lnTo>
                  <a:pt x="3106822" y="2811973"/>
                </a:lnTo>
                <a:lnTo>
                  <a:pt x="3097052" y="2811973"/>
                </a:lnTo>
                <a:lnTo>
                  <a:pt x="3087283" y="2811973"/>
                </a:lnTo>
                <a:lnTo>
                  <a:pt x="3077513" y="2811973"/>
                </a:lnTo>
                <a:lnTo>
                  <a:pt x="3067743" y="2811973"/>
                </a:lnTo>
                <a:lnTo>
                  <a:pt x="3057973" y="2811973"/>
                </a:lnTo>
                <a:lnTo>
                  <a:pt x="3048203" y="2811973"/>
                </a:lnTo>
                <a:lnTo>
                  <a:pt x="3038433" y="2811973"/>
                </a:lnTo>
                <a:lnTo>
                  <a:pt x="3028663" y="2811973"/>
                </a:lnTo>
                <a:lnTo>
                  <a:pt x="3018893" y="2811973"/>
                </a:lnTo>
                <a:lnTo>
                  <a:pt x="3009124" y="2811973"/>
                </a:lnTo>
                <a:lnTo>
                  <a:pt x="2999354" y="2811973"/>
                </a:lnTo>
                <a:lnTo>
                  <a:pt x="2989584" y="2811973"/>
                </a:lnTo>
                <a:lnTo>
                  <a:pt x="2979814" y="2811973"/>
                </a:lnTo>
                <a:lnTo>
                  <a:pt x="2970044" y="2811973"/>
                </a:lnTo>
                <a:lnTo>
                  <a:pt x="2960274" y="2811973"/>
                </a:lnTo>
                <a:lnTo>
                  <a:pt x="2950504" y="2811973"/>
                </a:lnTo>
                <a:lnTo>
                  <a:pt x="2940734" y="2811973"/>
                </a:lnTo>
                <a:lnTo>
                  <a:pt x="2930964" y="2811973"/>
                </a:lnTo>
                <a:lnTo>
                  <a:pt x="2921195" y="2811973"/>
                </a:lnTo>
                <a:lnTo>
                  <a:pt x="2911425" y="2811973"/>
                </a:lnTo>
                <a:lnTo>
                  <a:pt x="2901655" y="2811973"/>
                </a:lnTo>
                <a:lnTo>
                  <a:pt x="2891885" y="2811973"/>
                </a:lnTo>
                <a:lnTo>
                  <a:pt x="2882115" y="2811973"/>
                </a:lnTo>
                <a:lnTo>
                  <a:pt x="2872345" y="2811973"/>
                </a:lnTo>
                <a:lnTo>
                  <a:pt x="2862575" y="2811973"/>
                </a:lnTo>
                <a:lnTo>
                  <a:pt x="2852805" y="2811973"/>
                </a:lnTo>
                <a:lnTo>
                  <a:pt x="2843035" y="2811973"/>
                </a:lnTo>
                <a:lnTo>
                  <a:pt x="2833266" y="2811973"/>
                </a:lnTo>
                <a:lnTo>
                  <a:pt x="2823496" y="2811973"/>
                </a:lnTo>
                <a:lnTo>
                  <a:pt x="2813726" y="2811973"/>
                </a:lnTo>
                <a:lnTo>
                  <a:pt x="2803956" y="2811973"/>
                </a:lnTo>
                <a:lnTo>
                  <a:pt x="2794186" y="2811973"/>
                </a:lnTo>
                <a:lnTo>
                  <a:pt x="2784416" y="2811973"/>
                </a:lnTo>
                <a:lnTo>
                  <a:pt x="2774646" y="2811973"/>
                </a:lnTo>
                <a:lnTo>
                  <a:pt x="2764876" y="2811973"/>
                </a:lnTo>
                <a:lnTo>
                  <a:pt x="2755107" y="2811973"/>
                </a:lnTo>
                <a:lnTo>
                  <a:pt x="2745337" y="2811973"/>
                </a:lnTo>
                <a:lnTo>
                  <a:pt x="2735567" y="2811973"/>
                </a:lnTo>
                <a:lnTo>
                  <a:pt x="2725797" y="2811973"/>
                </a:lnTo>
                <a:lnTo>
                  <a:pt x="2716027" y="2811973"/>
                </a:lnTo>
                <a:lnTo>
                  <a:pt x="2706257" y="2811973"/>
                </a:lnTo>
                <a:lnTo>
                  <a:pt x="2696487" y="2811973"/>
                </a:lnTo>
                <a:lnTo>
                  <a:pt x="2686717" y="2811973"/>
                </a:lnTo>
                <a:lnTo>
                  <a:pt x="2676947" y="2811973"/>
                </a:lnTo>
                <a:lnTo>
                  <a:pt x="2667178" y="2811973"/>
                </a:lnTo>
                <a:lnTo>
                  <a:pt x="2657408" y="2811973"/>
                </a:lnTo>
                <a:lnTo>
                  <a:pt x="2647638" y="2811973"/>
                </a:lnTo>
                <a:lnTo>
                  <a:pt x="2637868" y="2811973"/>
                </a:lnTo>
                <a:lnTo>
                  <a:pt x="2628098" y="2811973"/>
                </a:lnTo>
                <a:lnTo>
                  <a:pt x="2618328" y="2811973"/>
                </a:lnTo>
                <a:lnTo>
                  <a:pt x="2608558" y="2811973"/>
                </a:lnTo>
                <a:lnTo>
                  <a:pt x="2598788" y="2811973"/>
                </a:lnTo>
                <a:lnTo>
                  <a:pt x="2589019" y="2811973"/>
                </a:lnTo>
                <a:lnTo>
                  <a:pt x="2579249" y="2811973"/>
                </a:lnTo>
                <a:lnTo>
                  <a:pt x="2569479" y="2811973"/>
                </a:lnTo>
                <a:lnTo>
                  <a:pt x="2559709" y="2811973"/>
                </a:lnTo>
                <a:lnTo>
                  <a:pt x="2549939" y="2811973"/>
                </a:lnTo>
                <a:lnTo>
                  <a:pt x="2540169" y="2811973"/>
                </a:lnTo>
                <a:lnTo>
                  <a:pt x="2530399" y="2811973"/>
                </a:lnTo>
                <a:lnTo>
                  <a:pt x="2520629" y="2811973"/>
                </a:lnTo>
                <a:lnTo>
                  <a:pt x="2510859" y="2811973"/>
                </a:lnTo>
                <a:lnTo>
                  <a:pt x="2501090" y="2811973"/>
                </a:lnTo>
                <a:lnTo>
                  <a:pt x="2491320" y="2811973"/>
                </a:lnTo>
                <a:lnTo>
                  <a:pt x="2481550" y="2811973"/>
                </a:lnTo>
                <a:lnTo>
                  <a:pt x="2471780" y="2811973"/>
                </a:lnTo>
                <a:lnTo>
                  <a:pt x="2462010" y="2811973"/>
                </a:lnTo>
                <a:lnTo>
                  <a:pt x="2452240" y="2811973"/>
                </a:lnTo>
                <a:lnTo>
                  <a:pt x="2442470" y="2811973"/>
                </a:lnTo>
                <a:lnTo>
                  <a:pt x="2432700" y="2811973"/>
                </a:lnTo>
                <a:lnTo>
                  <a:pt x="2422931" y="2811973"/>
                </a:lnTo>
                <a:lnTo>
                  <a:pt x="2413161" y="2811973"/>
                </a:lnTo>
                <a:lnTo>
                  <a:pt x="2403391" y="2811973"/>
                </a:lnTo>
                <a:lnTo>
                  <a:pt x="2393621" y="2811973"/>
                </a:lnTo>
                <a:lnTo>
                  <a:pt x="2383851" y="2811973"/>
                </a:lnTo>
                <a:lnTo>
                  <a:pt x="2374081" y="2811973"/>
                </a:lnTo>
                <a:lnTo>
                  <a:pt x="2364311" y="2811973"/>
                </a:lnTo>
                <a:lnTo>
                  <a:pt x="2354541" y="2811973"/>
                </a:lnTo>
                <a:lnTo>
                  <a:pt x="2344771" y="2811973"/>
                </a:lnTo>
                <a:lnTo>
                  <a:pt x="2335002" y="2811973"/>
                </a:lnTo>
                <a:lnTo>
                  <a:pt x="2325232" y="2811973"/>
                </a:lnTo>
                <a:lnTo>
                  <a:pt x="2315462" y="2811973"/>
                </a:lnTo>
                <a:lnTo>
                  <a:pt x="2305692" y="2811973"/>
                </a:lnTo>
                <a:lnTo>
                  <a:pt x="2295922" y="2811973"/>
                </a:lnTo>
                <a:lnTo>
                  <a:pt x="2286152" y="2811973"/>
                </a:lnTo>
                <a:lnTo>
                  <a:pt x="2276382" y="2811973"/>
                </a:lnTo>
                <a:lnTo>
                  <a:pt x="2266612" y="2811973"/>
                </a:lnTo>
                <a:lnTo>
                  <a:pt x="2256843" y="2811973"/>
                </a:lnTo>
                <a:lnTo>
                  <a:pt x="2247073" y="2811973"/>
                </a:lnTo>
                <a:lnTo>
                  <a:pt x="2237303" y="2811973"/>
                </a:lnTo>
                <a:lnTo>
                  <a:pt x="2227533" y="2811973"/>
                </a:lnTo>
                <a:lnTo>
                  <a:pt x="2217763" y="2811973"/>
                </a:lnTo>
                <a:lnTo>
                  <a:pt x="2207993" y="2811973"/>
                </a:lnTo>
                <a:lnTo>
                  <a:pt x="2198223" y="2811973"/>
                </a:lnTo>
                <a:lnTo>
                  <a:pt x="2188453" y="2811973"/>
                </a:lnTo>
                <a:lnTo>
                  <a:pt x="2178683" y="2811973"/>
                </a:lnTo>
                <a:lnTo>
                  <a:pt x="2168914" y="2811973"/>
                </a:lnTo>
                <a:lnTo>
                  <a:pt x="2159144" y="2811973"/>
                </a:lnTo>
                <a:lnTo>
                  <a:pt x="2149374" y="2811973"/>
                </a:lnTo>
                <a:lnTo>
                  <a:pt x="2139604" y="2811973"/>
                </a:lnTo>
                <a:lnTo>
                  <a:pt x="2129834" y="2811973"/>
                </a:lnTo>
                <a:lnTo>
                  <a:pt x="2120064" y="2811973"/>
                </a:lnTo>
                <a:lnTo>
                  <a:pt x="2110294" y="2811973"/>
                </a:lnTo>
                <a:lnTo>
                  <a:pt x="2100524" y="2811973"/>
                </a:lnTo>
                <a:lnTo>
                  <a:pt x="2090754" y="2811973"/>
                </a:lnTo>
                <a:lnTo>
                  <a:pt x="2080985" y="2811973"/>
                </a:lnTo>
                <a:lnTo>
                  <a:pt x="2071215" y="2811973"/>
                </a:lnTo>
                <a:lnTo>
                  <a:pt x="2061445" y="2811973"/>
                </a:lnTo>
                <a:lnTo>
                  <a:pt x="2051675" y="2811973"/>
                </a:lnTo>
                <a:lnTo>
                  <a:pt x="2041905" y="2811973"/>
                </a:lnTo>
                <a:lnTo>
                  <a:pt x="2032135" y="2811973"/>
                </a:lnTo>
                <a:lnTo>
                  <a:pt x="2022365" y="2811973"/>
                </a:lnTo>
                <a:lnTo>
                  <a:pt x="2012595" y="2811973"/>
                </a:lnTo>
                <a:lnTo>
                  <a:pt x="2002826" y="2811973"/>
                </a:lnTo>
                <a:lnTo>
                  <a:pt x="1993056" y="2811973"/>
                </a:lnTo>
                <a:lnTo>
                  <a:pt x="1983286" y="2811973"/>
                </a:lnTo>
                <a:lnTo>
                  <a:pt x="1973516" y="2811973"/>
                </a:lnTo>
                <a:lnTo>
                  <a:pt x="1963746" y="2811973"/>
                </a:lnTo>
                <a:lnTo>
                  <a:pt x="1953976" y="2811973"/>
                </a:lnTo>
                <a:lnTo>
                  <a:pt x="1944206" y="2811973"/>
                </a:lnTo>
                <a:lnTo>
                  <a:pt x="1934436" y="2811973"/>
                </a:lnTo>
                <a:lnTo>
                  <a:pt x="1924666" y="2811973"/>
                </a:lnTo>
                <a:lnTo>
                  <a:pt x="1914897" y="2811973"/>
                </a:lnTo>
                <a:lnTo>
                  <a:pt x="1905127" y="2811973"/>
                </a:lnTo>
                <a:lnTo>
                  <a:pt x="1895357" y="2811973"/>
                </a:lnTo>
                <a:lnTo>
                  <a:pt x="1885587" y="2811973"/>
                </a:lnTo>
                <a:lnTo>
                  <a:pt x="1875817" y="2811973"/>
                </a:lnTo>
                <a:lnTo>
                  <a:pt x="1866047" y="2811973"/>
                </a:lnTo>
                <a:lnTo>
                  <a:pt x="1856277" y="2811973"/>
                </a:lnTo>
                <a:lnTo>
                  <a:pt x="1846507" y="2811973"/>
                </a:lnTo>
                <a:lnTo>
                  <a:pt x="1836738" y="2811973"/>
                </a:lnTo>
                <a:lnTo>
                  <a:pt x="1826968" y="2811973"/>
                </a:lnTo>
                <a:lnTo>
                  <a:pt x="1817198" y="2811973"/>
                </a:lnTo>
                <a:lnTo>
                  <a:pt x="1807428" y="2811973"/>
                </a:lnTo>
                <a:lnTo>
                  <a:pt x="1797658" y="2811973"/>
                </a:lnTo>
                <a:lnTo>
                  <a:pt x="1787888" y="2811973"/>
                </a:lnTo>
                <a:lnTo>
                  <a:pt x="1778118" y="2811973"/>
                </a:lnTo>
                <a:lnTo>
                  <a:pt x="1768348" y="2811973"/>
                </a:lnTo>
                <a:lnTo>
                  <a:pt x="1758578" y="2811973"/>
                </a:lnTo>
                <a:lnTo>
                  <a:pt x="1748809" y="2811973"/>
                </a:lnTo>
                <a:lnTo>
                  <a:pt x="1739039" y="2811973"/>
                </a:lnTo>
                <a:lnTo>
                  <a:pt x="1729269" y="2811973"/>
                </a:lnTo>
                <a:lnTo>
                  <a:pt x="1719499" y="2811973"/>
                </a:lnTo>
                <a:lnTo>
                  <a:pt x="1709729" y="2811973"/>
                </a:lnTo>
                <a:lnTo>
                  <a:pt x="1699959" y="2811973"/>
                </a:lnTo>
                <a:lnTo>
                  <a:pt x="1690189" y="2811973"/>
                </a:lnTo>
                <a:lnTo>
                  <a:pt x="1680419" y="2811973"/>
                </a:lnTo>
                <a:lnTo>
                  <a:pt x="1670650" y="2811973"/>
                </a:lnTo>
                <a:lnTo>
                  <a:pt x="1660880" y="2811973"/>
                </a:lnTo>
                <a:lnTo>
                  <a:pt x="1651110" y="2811973"/>
                </a:lnTo>
                <a:lnTo>
                  <a:pt x="1641340" y="2811973"/>
                </a:lnTo>
                <a:lnTo>
                  <a:pt x="1631570" y="2811973"/>
                </a:lnTo>
                <a:lnTo>
                  <a:pt x="1621800" y="2811973"/>
                </a:lnTo>
                <a:lnTo>
                  <a:pt x="1612030" y="2811973"/>
                </a:lnTo>
                <a:lnTo>
                  <a:pt x="1602260" y="2811973"/>
                </a:lnTo>
                <a:lnTo>
                  <a:pt x="1592490" y="2811973"/>
                </a:lnTo>
                <a:lnTo>
                  <a:pt x="1582721" y="2811973"/>
                </a:lnTo>
                <a:lnTo>
                  <a:pt x="1572951" y="2811973"/>
                </a:lnTo>
                <a:lnTo>
                  <a:pt x="1563181" y="2811973"/>
                </a:lnTo>
                <a:lnTo>
                  <a:pt x="1553411" y="2811973"/>
                </a:lnTo>
                <a:lnTo>
                  <a:pt x="1543641" y="2811973"/>
                </a:lnTo>
                <a:lnTo>
                  <a:pt x="1533871" y="2811973"/>
                </a:lnTo>
                <a:lnTo>
                  <a:pt x="1524101" y="2811973"/>
                </a:lnTo>
                <a:lnTo>
                  <a:pt x="1514331" y="2811973"/>
                </a:lnTo>
                <a:lnTo>
                  <a:pt x="1504562" y="2811973"/>
                </a:lnTo>
                <a:lnTo>
                  <a:pt x="1494792" y="2811973"/>
                </a:lnTo>
                <a:lnTo>
                  <a:pt x="1485022" y="2811973"/>
                </a:lnTo>
                <a:lnTo>
                  <a:pt x="1475252" y="2811973"/>
                </a:lnTo>
                <a:lnTo>
                  <a:pt x="1465482" y="2811973"/>
                </a:lnTo>
                <a:lnTo>
                  <a:pt x="1455712" y="2811973"/>
                </a:lnTo>
                <a:lnTo>
                  <a:pt x="1445942" y="2811973"/>
                </a:lnTo>
                <a:lnTo>
                  <a:pt x="1436172" y="2811973"/>
                </a:lnTo>
                <a:lnTo>
                  <a:pt x="1426402" y="2811973"/>
                </a:lnTo>
                <a:lnTo>
                  <a:pt x="1416633" y="2811973"/>
                </a:lnTo>
                <a:lnTo>
                  <a:pt x="1406863" y="2811973"/>
                </a:lnTo>
                <a:lnTo>
                  <a:pt x="1397093" y="2811973"/>
                </a:lnTo>
                <a:lnTo>
                  <a:pt x="1387323" y="2811973"/>
                </a:lnTo>
                <a:lnTo>
                  <a:pt x="1377553" y="2811973"/>
                </a:lnTo>
                <a:lnTo>
                  <a:pt x="1367783" y="2811973"/>
                </a:lnTo>
                <a:lnTo>
                  <a:pt x="1358013" y="2811973"/>
                </a:lnTo>
                <a:lnTo>
                  <a:pt x="1348243" y="2811973"/>
                </a:lnTo>
                <a:lnTo>
                  <a:pt x="1338473" y="2811973"/>
                </a:lnTo>
                <a:lnTo>
                  <a:pt x="1328704" y="2811973"/>
                </a:lnTo>
                <a:lnTo>
                  <a:pt x="1318934" y="2811973"/>
                </a:lnTo>
                <a:lnTo>
                  <a:pt x="1309164" y="2811973"/>
                </a:lnTo>
                <a:lnTo>
                  <a:pt x="1299394" y="2811973"/>
                </a:lnTo>
                <a:lnTo>
                  <a:pt x="1289624" y="2811973"/>
                </a:lnTo>
                <a:lnTo>
                  <a:pt x="1279854" y="2811973"/>
                </a:lnTo>
                <a:lnTo>
                  <a:pt x="1270084" y="2811973"/>
                </a:lnTo>
                <a:lnTo>
                  <a:pt x="1260314" y="2811973"/>
                </a:lnTo>
                <a:lnTo>
                  <a:pt x="1250545" y="2811973"/>
                </a:lnTo>
                <a:lnTo>
                  <a:pt x="1240775" y="2811973"/>
                </a:lnTo>
                <a:lnTo>
                  <a:pt x="1231005" y="2811973"/>
                </a:lnTo>
                <a:lnTo>
                  <a:pt x="1221235" y="2811973"/>
                </a:lnTo>
                <a:lnTo>
                  <a:pt x="1211465" y="2811973"/>
                </a:lnTo>
                <a:lnTo>
                  <a:pt x="1201695" y="2811973"/>
                </a:lnTo>
                <a:lnTo>
                  <a:pt x="1191925" y="2811973"/>
                </a:lnTo>
                <a:lnTo>
                  <a:pt x="1182155" y="2811973"/>
                </a:lnTo>
                <a:lnTo>
                  <a:pt x="1172385" y="2811973"/>
                </a:lnTo>
                <a:lnTo>
                  <a:pt x="1162616" y="2811973"/>
                </a:lnTo>
                <a:lnTo>
                  <a:pt x="1152846" y="2811973"/>
                </a:lnTo>
                <a:lnTo>
                  <a:pt x="1143076" y="2811973"/>
                </a:lnTo>
                <a:lnTo>
                  <a:pt x="1133306" y="2811973"/>
                </a:lnTo>
                <a:lnTo>
                  <a:pt x="1123536" y="2811973"/>
                </a:lnTo>
                <a:lnTo>
                  <a:pt x="1113766" y="2811973"/>
                </a:lnTo>
                <a:lnTo>
                  <a:pt x="1103996" y="2811973"/>
                </a:lnTo>
                <a:lnTo>
                  <a:pt x="1094226" y="2811973"/>
                </a:lnTo>
                <a:lnTo>
                  <a:pt x="1084457" y="2811973"/>
                </a:lnTo>
                <a:lnTo>
                  <a:pt x="1074687" y="2811973"/>
                </a:lnTo>
                <a:lnTo>
                  <a:pt x="1064917" y="2811973"/>
                </a:lnTo>
                <a:lnTo>
                  <a:pt x="1055147" y="2811973"/>
                </a:lnTo>
                <a:lnTo>
                  <a:pt x="1045377" y="2811973"/>
                </a:lnTo>
                <a:lnTo>
                  <a:pt x="1035607" y="2811973"/>
                </a:lnTo>
                <a:lnTo>
                  <a:pt x="1025837" y="2811973"/>
                </a:lnTo>
                <a:lnTo>
                  <a:pt x="1016067" y="2811973"/>
                </a:lnTo>
                <a:lnTo>
                  <a:pt x="1006297" y="2811973"/>
                </a:lnTo>
                <a:lnTo>
                  <a:pt x="996528" y="2811973"/>
                </a:lnTo>
                <a:lnTo>
                  <a:pt x="986758" y="2811973"/>
                </a:lnTo>
                <a:lnTo>
                  <a:pt x="976988" y="2811973"/>
                </a:lnTo>
                <a:lnTo>
                  <a:pt x="967218" y="2811973"/>
                </a:lnTo>
                <a:lnTo>
                  <a:pt x="957448" y="2811973"/>
                </a:lnTo>
                <a:lnTo>
                  <a:pt x="947678" y="2811973"/>
                </a:lnTo>
                <a:lnTo>
                  <a:pt x="937908" y="2811973"/>
                </a:lnTo>
                <a:lnTo>
                  <a:pt x="928138" y="2811973"/>
                </a:lnTo>
                <a:lnTo>
                  <a:pt x="918369" y="2811973"/>
                </a:lnTo>
                <a:lnTo>
                  <a:pt x="908599" y="2811973"/>
                </a:lnTo>
                <a:lnTo>
                  <a:pt x="898829" y="2811973"/>
                </a:lnTo>
                <a:lnTo>
                  <a:pt x="889059" y="2811973"/>
                </a:lnTo>
                <a:lnTo>
                  <a:pt x="879289" y="2811973"/>
                </a:lnTo>
                <a:lnTo>
                  <a:pt x="869519" y="2811973"/>
                </a:lnTo>
                <a:lnTo>
                  <a:pt x="859749" y="2811973"/>
                </a:lnTo>
                <a:lnTo>
                  <a:pt x="849979" y="2811973"/>
                </a:lnTo>
                <a:lnTo>
                  <a:pt x="840209" y="2811973"/>
                </a:lnTo>
                <a:lnTo>
                  <a:pt x="830440" y="2811973"/>
                </a:lnTo>
                <a:lnTo>
                  <a:pt x="820670" y="2811973"/>
                </a:lnTo>
                <a:lnTo>
                  <a:pt x="810900" y="2811973"/>
                </a:lnTo>
                <a:lnTo>
                  <a:pt x="801130" y="2811973"/>
                </a:lnTo>
                <a:lnTo>
                  <a:pt x="791360" y="2811973"/>
                </a:lnTo>
                <a:lnTo>
                  <a:pt x="781590" y="2811973"/>
                </a:lnTo>
                <a:lnTo>
                  <a:pt x="771820" y="2811973"/>
                </a:lnTo>
                <a:lnTo>
                  <a:pt x="762050" y="2811973"/>
                </a:lnTo>
                <a:lnTo>
                  <a:pt x="752281" y="2811973"/>
                </a:lnTo>
                <a:lnTo>
                  <a:pt x="742511" y="2811973"/>
                </a:lnTo>
                <a:lnTo>
                  <a:pt x="732741" y="2811973"/>
                </a:lnTo>
                <a:lnTo>
                  <a:pt x="722971" y="2811973"/>
                </a:lnTo>
                <a:lnTo>
                  <a:pt x="713201" y="2811973"/>
                </a:lnTo>
                <a:lnTo>
                  <a:pt x="703431" y="2811973"/>
                </a:lnTo>
                <a:lnTo>
                  <a:pt x="693661" y="2811973"/>
                </a:lnTo>
                <a:lnTo>
                  <a:pt x="683891" y="2811973"/>
                </a:lnTo>
                <a:lnTo>
                  <a:pt x="674121" y="2811973"/>
                </a:lnTo>
                <a:lnTo>
                  <a:pt x="664352" y="2811973"/>
                </a:lnTo>
                <a:lnTo>
                  <a:pt x="654582" y="2811973"/>
                </a:lnTo>
                <a:lnTo>
                  <a:pt x="644812" y="2811973"/>
                </a:lnTo>
                <a:lnTo>
                  <a:pt x="635042" y="2811973"/>
                </a:lnTo>
                <a:lnTo>
                  <a:pt x="625272" y="2811973"/>
                </a:lnTo>
                <a:lnTo>
                  <a:pt x="615502" y="2811973"/>
                </a:lnTo>
                <a:lnTo>
                  <a:pt x="605732" y="2811973"/>
                </a:lnTo>
                <a:lnTo>
                  <a:pt x="595962" y="2811973"/>
                </a:lnTo>
                <a:lnTo>
                  <a:pt x="586192" y="2811973"/>
                </a:lnTo>
                <a:lnTo>
                  <a:pt x="576423" y="2811973"/>
                </a:lnTo>
                <a:lnTo>
                  <a:pt x="566653" y="2811973"/>
                </a:lnTo>
                <a:lnTo>
                  <a:pt x="556883" y="2811973"/>
                </a:lnTo>
                <a:lnTo>
                  <a:pt x="547113" y="2811973"/>
                </a:lnTo>
                <a:lnTo>
                  <a:pt x="537343" y="2811973"/>
                </a:lnTo>
                <a:lnTo>
                  <a:pt x="527573" y="2811973"/>
                </a:lnTo>
                <a:lnTo>
                  <a:pt x="517803" y="2811973"/>
                </a:lnTo>
                <a:lnTo>
                  <a:pt x="508033" y="2811973"/>
                </a:lnTo>
                <a:lnTo>
                  <a:pt x="498264" y="2811973"/>
                </a:lnTo>
                <a:lnTo>
                  <a:pt x="488494" y="2811973"/>
                </a:lnTo>
                <a:lnTo>
                  <a:pt x="478724" y="2811973"/>
                </a:lnTo>
                <a:lnTo>
                  <a:pt x="468954" y="2811973"/>
                </a:lnTo>
                <a:lnTo>
                  <a:pt x="459184" y="2811973"/>
                </a:lnTo>
                <a:lnTo>
                  <a:pt x="449414" y="2811973"/>
                </a:lnTo>
                <a:lnTo>
                  <a:pt x="439644" y="2811973"/>
                </a:lnTo>
                <a:lnTo>
                  <a:pt x="429874" y="2811973"/>
                </a:lnTo>
                <a:lnTo>
                  <a:pt x="420104" y="2811973"/>
                </a:lnTo>
                <a:lnTo>
                  <a:pt x="410335" y="2811973"/>
                </a:lnTo>
                <a:lnTo>
                  <a:pt x="400565" y="2811973"/>
                </a:lnTo>
                <a:lnTo>
                  <a:pt x="390795" y="2811973"/>
                </a:lnTo>
                <a:lnTo>
                  <a:pt x="381025" y="2811973"/>
                </a:lnTo>
                <a:lnTo>
                  <a:pt x="371255" y="2811973"/>
                </a:lnTo>
                <a:lnTo>
                  <a:pt x="361485" y="2811973"/>
                </a:lnTo>
                <a:lnTo>
                  <a:pt x="351715" y="2811973"/>
                </a:lnTo>
                <a:lnTo>
                  <a:pt x="341945" y="2811973"/>
                </a:lnTo>
                <a:lnTo>
                  <a:pt x="332176" y="2811973"/>
                </a:lnTo>
                <a:lnTo>
                  <a:pt x="322406" y="2811973"/>
                </a:lnTo>
                <a:lnTo>
                  <a:pt x="312636" y="2811973"/>
                </a:lnTo>
                <a:lnTo>
                  <a:pt x="302866" y="2811973"/>
                </a:lnTo>
                <a:lnTo>
                  <a:pt x="293096" y="2811973"/>
                </a:lnTo>
                <a:lnTo>
                  <a:pt x="283326" y="2811973"/>
                </a:lnTo>
                <a:lnTo>
                  <a:pt x="273556" y="2811973"/>
                </a:lnTo>
                <a:lnTo>
                  <a:pt x="263786" y="2811973"/>
                </a:lnTo>
                <a:lnTo>
                  <a:pt x="254016" y="2811973"/>
                </a:lnTo>
                <a:lnTo>
                  <a:pt x="244247" y="2811973"/>
                </a:lnTo>
                <a:lnTo>
                  <a:pt x="234477" y="2811973"/>
                </a:lnTo>
                <a:lnTo>
                  <a:pt x="224707" y="2811973"/>
                </a:lnTo>
                <a:lnTo>
                  <a:pt x="214937" y="2811973"/>
                </a:lnTo>
                <a:lnTo>
                  <a:pt x="205167" y="2811973"/>
                </a:lnTo>
                <a:lnTo>
                  <a:pt x="195397" y="2811973"/>
                </a:lnTo>
                <a:lnTo>
                  <a:pt x="185627" y="2811973"/>
                </a:lnTo>
                <a:lnTo>
                  <a:pt x="175857" y="2811973"/>
                </a:lnTo>
                <a:lnTo>
                  <a:pt x="166088" y="2811973"/>
                </a:lnTo>
                <a:lnTo>
                  <a:pt x="156318" y="2811973"/>
                </a:lnTo>
                <a:lnTo>
                  <a:pt x="146548" y="2811973"/>
                </a:lnTo>
                <a:lnTo>
                  <a:pt x="136778" y="2811973"/>
                </a:lnTo>
                <a:lnTo>
                  <a:pt x="127008" y="2811973"/>
                </a:lnTo>
                <a:lnTo>
                  <a:pt x="117238" y="2811973"/>
                </a:lnTo>
                <a:lnTo>
                  <a:pt x="107468" y="2811973"/>
                </a:lnTo>
                <a:lnTo>
                  <a:pt x="97698" y="2811973"/>
                </a:lnTo>
                <a:lnTo>
                  <a:pt x="87928" y="2811973"/>
                </a:lnTo>
                <a:lnTo>
                  <a:pt x="78159" y="2811973"/>
                </a:lnTo>
                <a:lnTo>
                  <a:pt x="68389" y="2811973"/>
                </a:lnTo>
                <a:lnTo>
                  <a:pt x="58619" y="2811973"/>
                </a:lnTo>
                <a:lnTo>
                  <a:pt x="48849" y="2811973"/>
                </a:lnTo>
                <a:lnTo>
                  <a:pt x="39079" y="2811973"/>
                </a:lnTo>
                <a:lnTo>
                  <a:pt x="29309" y="2811973"/>
                </a:lnTo>
                <a:lnTo>
                  <a:pt x="19539" y="2811973"/>
                </a:lnTo>
                <a:lnTo>
                  <a:pt x="9769" y="2811973"/>
                </a:lnTo>
                <a:lnTo>
                  <a:pt x="0" y="2811973"/>
                </a:lnTo>
                <a:close/>
              </a:path>
            </a:pathLst>
          </a:custGeom>
          <a:solidFill>
            <a:srgbClr val="8EDBD4">
              <a:alpha val="22000"/>
            </a:srgbClr>
          </a:solidFill>
          <a:ln w="10160">
            <a:solidFill>
              <a:srgbClr val="8EDBD4">
                <a:alpha val="2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4-E25 polygon 37" descr="sci-ppt:o037"/>
          <p:cNvSpPr/>
          <p:nvPr/>
        </p:nvSpPr>
        <p:spPr>
          <a:xfrm>
            <a:off x="914400" y="2224533"/>
            <a:ext cx="5852160" cy="2804667"/>
          </a:xfrm>
          <a:custGeom>
            <a:avLst/>
            <a:gdLst/>
            <a:ahLst/>
            <a:cxnLst/>
            <a:rect l="l" t="t" r="r" b="b"/>
            <a:pathLst>
              <a:path w="5852160" h="2804667">
                <a:moveTo>
                  <a:pt x="0" y="2804667"/>
                </a:moveTo>
                <a:lnTo>
                  <a:pt x="39079" y="2541631"/>
                </a:lnTo>
                <a:lnTo>
                  <a:pt x="78159" y="2278596"/>
                </a:lnTo>
                <a:lnTo>
                  <a:pt x="117238" y="2015561"/>
                </a:lnTo>
                <a:lnTo>
                  <a:pt x="156318" y="1752525"/>
                </a:lnTo>
                <a:lnTo>
                  <a:pt x="195397" y="1489490"/>
                </a:lnTo>
                <a:lnTo>
                  <a:pt x="234477" y="1226455"/>
                </a:lnTo>
                <a:lnTo>
                  <a:pt x="273556" y="963419"/>
                </a:lnTo>
                <a:lnTo>
                  <a:pt x="312636" y="700384"/>
                </a:lnTo>
                <a:lnTo>
                  <a:pt x="351715" y="437349"/>
                </a:lnTo>
                <a:lnTo>
                  <a:pt x="390795" y="174313"/>
                </a:lnTo>
                <a:lnTo>
                  <a:pt x="429874" y="0"/>
                </a:lnTo>
                <a:lnTo>
                  <a:pt x="468954" y="29226"/>
                </a:lnTo>
                <a:lnTo>
                  <a:pt x="508033" y="58453"/>
                </a:lnTo>
                <a:lnTo>
                  <a:pt x="547113" y="87679"/>
                </a:lnTo>
                <a:lnTo>
                  <a:pt x="586192" y="116905"/>
                </a:lnTo>
                <a:lnTo>
                  <a:pt x="625272" y="146131"/>
                </a:lnTo>
                <a:lnTo>
                  <a:pt x="664352" y="175357"/>
                </a:lnTo>
                <a:lnTo>
                  <a:pt x="703431" y="204583"/>
                </a:lnTo>
                <a:lnTo>
                  <a:pt x="742511" y="233809"/>
                </a:lnTo>
                <a:lnTo>
                  <a:pt x="781590" y="263036"/>
                </a:lnTo>
                <a:lnTo>
                  <a:pt x="820670" y="292262"/>
                </a:lnTo>
                <a:lnTo>
                  <a:pt x="859749" y="321488"/>
                </a:lnTo>
                <a:lnTo>
                  <a:pt x="898829" y="350714"/>
                </a:lnTo>
                <a:lnTo>
                  <a:pt x="937908" y="379940"/>
                </a:lnTo>
                <a:lnTo>
                  <a:pt x="976988" y="409166"/>
                </a:lnTo>
                <a:lnTo>
                  <a:pt x="1016067" y="438392"/>
                </a:lnTo>
                <a:lnTo>
                  <a:pt x="1055147" y="467619"/>
                </a:lnTo>
                <a:lnTo>
                  <a:pt x="1094226" y="496845"/>
                </a:lnTo>
                <a:lnTo>
                  <a:pt x="1133306" y="526071"/>
                </a:lnTo>
                <a:lnTo>
                  <a:pt x="1172385" y="555297"/>
                </a:lnTo>
                <a:lnTo>
                  <a:pt x="1211465" y="584523"/>
                </a:lnTo>
                <a:lnTo>
                  <a:pt x="1250545" y="613749"/>
                </a:lnTo>
                <a:lnTo>
                  <a:pt x="1289624" y="642975"/>
                </a:lnTo>
                <a:lnTo>
                  <a:pt x="1328704" y="672202"/>
                </a:lnTo>
                <a:lnTo>
                  <a:pt x="1367783" y="701428"/>
                </a:lnTo>
                <a:lnTo>
                  <a:pt x="1406863" y="730654"/>
                </a:lnTo>
                <a:lnTo>
                  <a:pt x="1445942" y="759880"/>
                </a:lnTo>
                <a:lnTo>
                  <a:pt x="1485022" y="789106"/>
                </a:lnTo>
                <a:lnTo>
                  <a:pt x="1524101" y="818332"/>
                </a:lnTo>
                <a:lnTo>
                  <a:pt x="1563181" y="847558"/>
                </a:lnTo>
                <a:lnTo>
                  <a:pt x="1602260" y="876785"/>
                </a:lnTo>
                <a:lnTo>
                  <a:pt x="1641340" y="906011"/>
                </a:lnTo>
                <a:lnTo>
                  <a:pt x="1680419" y="935237"/>
                </a:lnTo>
                <a:lnTo>
                  <a:pt x="1719499" y="964463"/>
                </a:lnTo>
                <a:lnTo>
                  <a:pt x="1758578" y="993689"/>
                </a:lnTo>
                <a:lnTo>
                  <a:pt x="1797658" y="1022915"/>
                </a:lnTo>
                <a:lnTo>
                  <a:pt x="1836738" y="1052142"/>
                </a:lnTo>
                <a:lnTo>
                  <a:pt x="1875817" y="1081368"/>
                </a:lnTo>
                <a:lnTo>
                  <a:pt x="1914897" y="1110594"/>
                </a:lnTo>
                <a:lnTo>
                  <a:pt x="1953976" y="1139820"/>
                </a:lnTo>
                <a:lnTo>
                  <a:pt x="1993056" y="1169046"/>
                </a:lnTo>
                <a:lnTo>
                  <a:pt x="2032135" y="1198272"/>
                </a:lnTo>
                <a:lnTo>
                  <a:pt x="2071215" y="1227498"/>
                </a:lnTo>
                <a:lnTo>
                  <a:pt x="2110294" y="1256725"/>
                </a:lnTo>
                <a:lnTo>
                  <a:pt x="2149374" y="1285951"/>
                </a:lnTo>
                <a:lnTo>
                  <a:pt x="2188453" y="1315177"/>
                </a:lnTo>
                <a:lnTo>
                  <a:pt x="2227533" y="1344403"/>
                </a:lnTo>
                <a:lnTo>
                  <a:pt x="2266612" y="1373629"/>
                </a:lnTo>
                <a:lnTo>
                  <a:pt x="2305692" y="1402855"/>
                </a:lnTo>
                <a:lnTo>
                  <a:pt x="2344771" y="1432081"/>
                </a:lnTo>
                <a:lnTo>
                  <a:pt x="2383851" y="1461308"/>
                </a:lnTo>
                <a:lnTo>
                  <a:pt x="2422931" y="1490534"/>
                </a:lnTo>
                <a:lnTo>
                  <a:pt x="2462010" y="1519760"/>
                </a:lnTo>
                <a:lnTo>
                  <a:pt x="2501090" y="1548986"/>
                </a:lnTo>
                <a:lnTo>
                  <a:pt x="2540169" y="1578212"/>
                </a:lnTo>
                <a:lnTo>
                  <a:pt x="2579249" y="1607438"/>
                </a:lnTo>
                <a:lnTo>
                  <a:pt x="2618328" y="1636664"/>
                </a:lnTo>
                <a:lnTo>
                  <a:pt x="2657408" y="1665891"/>
                </a:lnTo>
                <a:lnTo>
                  <a:pt x="2696487" y="1695117"/>
                </a:lnTo>
                <a:lnTo>
                  <a:pt x="2735567" y="1724343"/>
                </a:lnTo>
                <a:lnTo>
                  <a:pt x="2774646" y="1753569"/>
                </a:lnTo>
                <a:lnTo>
                  <a:pt x="2813726" y="1782795"/>
                </a:lnTo>
                <a:lnTo>
                  <a:pt x="2852805" y="1812021"/>
                </a:lnTo>
                <a:lnTo>
                  <a:pt x="2891885" y="1841247"/>
                </a:lnTo>
                <a:lnTo>
                  <a:pt x="2930964" y="1870474"/>
                </a:lnTo>
                <a:lnTo>
                  <a:pt x="2970044" y="1899700"/>
                </a:lnTo>
                <a:lnTo>
                  <a:pt x="3009124" y="1928926"/>
                </a:lnTo>
                <a:lnTo>
                  <a:pt x="3048203" y="1958152"/>
                </a:lnTo>
                <a:lnTo>
                  <a:pt x="3087283" y="1987378"/>
                </a:lnTo>
                <a:lnTo>
                  <a:pt x="3126362" y="2016604"/>
                </a:lnTo>
                <a:lnTo>
                  <a:pt x="3165442" y="2045830"/>
                </a:lnTo>
                <a:lnTo>
                  <a:pt x="3204521" y="2075057"/>
                </a:lnTo>
                <a:lnTo>
                  <a:pt x="3243601" y="2104283"/>
                </a:lnTo>
                <a:lnTo>
                  <a:pt x="3282680" y="2133509"/>
                </a:lnTo>
                <a:lnTo>
                  <a:pt x="3321760" y="2162735"/>
                </a:lnTo>
                <a:lnTo>
                  <a:pt x="3360839" y="2191961"/>
                </a:lnTo>
                <a:lnTo>
                  <a:pt x="3399919" y="2221187"/>
                </a:lnTo>
                <a:lnTo>
                  <a:pt x="3438998" y="2250414"/>
                </a:lnTo>
                <a:lnTo>
                  <a:pt x="3478078" y="2279640"/>
                </a:lnTo>
                <a:lnTo>
                  <a:pt x="3517157" y="2308866"/>
                </a:lnTo>
                <a:lnTo>
                  <a:pt x="3556237" y="2338092"/>
                </a:lnTo>
                <a:lnTo>
                  <a:pt x="3595316" y="2367318"/>
                </a:lnTo>
                <a:lnTo>
                  <a:pt x="3634396" y="2396544"/>
                </a:lnTo>
                <a:lnTo>
                  <a:pt x="3673476" y="2425770"/>
                </a:lnTo>
                <a:lnTo>
                  <a:pt x="3712555" y="2454997"/>
                </a:lnTo>
                <a:lnTo>
                  <a:pt x="3751635" y="2484223"/>
                </a:lnTo>
                <a:lnTo>
                  <a:pt x="3790714" y="2513449"/>
                </a:lnTo>
                <a:lnTo>
                  <a:pt x="3829794" y="2542675"/>
                </a:lnTo>
                <a:lnTo>
                  <a:pt x="3868873" y="2571901"/>
                </a:lnTo>
                <a:lnTo>
                  <a:pt x="3907953" y="2601127"/>
                </a:lnTo>
                <a:lnTo>
                  <a:pt x="3947032" y="2630353"/>
                </a:lnTo>
                <a:lnTo>
                  <a:pt x="3986112" y="2659580"/>
                </a:lnTo>
                <a:lnTo>
                  <a:pt x="4025191" y="2688806"/>
                </a:lnTo>
                <a:lnTo>
                  <a:pt x="4064271" y="2718032"/>
                </a:lnTo>
                <a:lnTo>
                  <a:pt x="4103350" y="2747258"/>
                </a:lnTo>
                <a:lnTo>
                  <a:pt x="4142430" y="2776484"/>
                </a:lnTo>
                <a:lnTo>
                  <a:pt x="4181509" y="2804667"/>
                </a:lnTo>
                <a:lnTo>
                  <a:pt x="4220589" y="2804667"/>
                </a:lnTo>
                <a:lnTo>
                  <a:pt x="4259669" y="2804667"/>
                </a:lnTo>
                <a:lnTo>
                  <a:pt x="4298748" y="2804667"/>
                </a:lnTo>
                <a:lnTo>
                  <a:pt x="4337828" y="2804667"/>
                </a:lnTo>
                <a:lnTo>
                  <a:pt x="4376907" y="2804667"/>
                </a:lnTo>
                <a:lnTo>
                  <a:pt x="4415987" y="2804667"/>
                </a:lnTo>
                <a:lnTo>
                  <a:pt x="4455066" y="2804667"/>
                </a:lnTo>
                <a:lnTo>
                  <a:pt x="4494146" y="2804667"/>
                </a:lnTo>
                <a:lnTo>
                  <a:pt x="4533225" y="2804667"/>
                </a:lnTo>
                <a:lnTo>
                  <a:pt x="4572305" y="2804667"/>
                </a:lnTo>
                <a:lnTo>
                  <a:pt x="4611384" y="2804667"/>
                </a:lnTo>
                <a:lnTo>
                  <a:pt x="4650464" y="2804667"/>
                </a:lnTo>
                <a:lnTo>
                  <a:pt x="4689543" y="2804667"/>
                </a:lnTo>
                <a:lnTo>
                  <a:pt x="4728623" y="2804667"/>
                </a:lnTo>
                <a:lnTo>
                  <a:pt x="4767702" y="2804667"/>
                </a:lnTo>
                <a:lnTo>
                  <a:pt x="4806782" y="2804667"/>
                </a:lnTo>
                <a:lnTo>
                  <a:pt x="4845862" y="2804667"/>
                </a:lnTo>
                <a:lnTo>
                  <a:pt x="4884941" y="2804667"/>
                </a:lnTo>
                <a:lnTo>
                  <a:pt x="4924021" y="2804667"/>
                </a:lnTo>
                <a:lnTo>
                  <a:pt x="4963100" y="2804667"/>
                </a:lnTo>
                <a:lnTo>
                  <a:pt x="5002180" y="2804667"/>
                </a:lnTo>
                <a:lnTo>
                  <a:pt x="5041259" y="2804667"/>
                </a:lnTo>
                <a:lnTo>
                  <a:pt x="5080339" y="2804667"/>
                </a:lnTo>
                <a:lnTo>
                  <a:pt x="5119418" y="2804667"/>
                </a:lnTo>
                <a:lnTo>
                  <a:pt x="5158498" y="2804667"/>
                </a:lnTo>
                <a:lnTo>
                  <a:pt x="5197577" y="2804667"/>
                </a:lnTo>
                <a:lnTo>
                  <a:pt x="5236657" y="2804667"/>
                </a:lnTo>
                <a:lnTo>
                  <a:pt x="5275736" y="2804667"/>
                </a:lnTo>
                <a:lnTo>
                  <a:pt x="5314816" y="2804667"/>
                </a:lnTo>
                <a:lnTo>
                  <a:pt x="5353895" y="2804667"/>
                </a:lnTo>
                <a:lnTo>
                  <a:pt x="5392975" y="2804667"/>
                </a:lnTo>
                <a:lnTo>
                  <a:pt x="5432055" y="2804667"/>
                </a:lnTo>
                <a:lnTo>
                  <a:pt x="5471134" y="2804667"/>
                </a:lnTo>
                <a:lnTo>
                  <a:pt x="5510214" y="2804667"/>
                </a:lnTo>
                <a:lnTo>
                  <a:pt x="5549293" y="2804667"/>
                </a:lnTo>
                <a:lnTo>
                  <a:pt x="5588373" y="2804667"/>
                </a:lnTo>
                <a:lnTo>
                  <a:pt x="5627452" y="2804667"/>
                </a:lnTo>
                <a:lnTo>
                  <a:pt x="5666532" y="2804667"/>
                </a:lnTo>
                <a:lnTo>
                  <a:pt x="5705611" y="2804667"/>
                </a:lnTo>
                <a:lnTo>
                  <a:pt x="5744691" y="2804667"/>
                </a:lnTo>
                <a:lnTo>
                  <a:pt x="5783770" y="2804667"/>
                </a:lnTo>
                <a:lnTo>
                  <a:pt x="5822850" y="2804667"/>
                </a:lnTo>
                <a:lnTo>
                  <a:pt x="5852160" y="2804667"/>
                </a:lnTo>
              </a:path>
            </a:pathLst>
          </a:custGeom>
          <a:noFill/>
          <a:ln w="431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4-E25 ellipse 38" descr="sci-ppt:o038"/>
          <p:cNvSpPr/>
          <p:nvPr/>
        </p:nvSpPr>
        <p:spPr>
          <a:xfrm>
            <a:off x="1259259" y="2142509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4-E25 ellipse 39" descr="sci-ppt:o039"/>
          <p:cNvSpPr/>
          <p:nvPr/>
        </p:nvSpPr>
        <p:spPr>
          <a:xfrm>
            <a:off x="5021362" y="4956048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4-E25 text 40" descr="sci-ppt:o040"/>
          <p:cNvSpPr txBox="1"/>
          <p:nvPr/>
        </p:nvSpPr>
        <p:spPr>
          <a:xfrm>
            <a:off x="1469571" y="2124221"/>
            <a:ext cx="31089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peak Tₘₐₓ = 0.10 MPa at δ₀ = 10 nm</a:t>
            </a:r>
          </a:p>
        </p:txBody>
      </p:sp>
      <p:sp>
        <p:nvSpPr>
          <p:cNvPr id="43" name="C4-E25 text 41" descr="sci-ppt:o041"/>
          <p:cNvSpPr txBox="1"/>
          <p:nvPr/>
        </p:nvSpPr>
        <p:spPr>
          <a:xfrm>
            <a:off x="1154756" y="3671667"/>
            <a:ext cx="1097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slope Kₙ</a:t>
            </a:r>
          </a:p>
        </p:txBody>
      </p:sp>
      <p:sp>
        <p:nvSpPr>
          <p:cNvPr id="44" name="C4-E25 text 42" descr="sci-ppt:o042"/>
          <p:cNvSpPr txBox="1"/>
          <p:nvPr/>
        </p:nvSpPr>
        <p:spPr>
          <a:xfrm>
            <a:off x="3540034" y="4572000"/>
            <a:ext cx="14630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δ_c = 100 nm</a:t>
            </a:r>
          </a:p>
        </p:txBody>
      </p:sp>
      <p:sp>
        <p:nvSpPr>
          <p:cNvPr id="45" name="C4-E25 text 43" descr="sci-ppt:o043"/>
          <p:cNvSpPr txBox="1"/>
          <p:nvPr/>
        </p:nvSpPr>
        <p:spPr>
          <a:xfrm>
            <a:off x="3161211" y="2546252"/>
            <a:ext cx="16459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softening branch</a:t>
            </a:r>
          </a:p>
        </p:txBody>
      </p:sp>
      <p:sp>
        <p:nvSpPr>
          <p:cNvPr id="46" name="C4-E25 round_rect 44" descr="sci-ppt:o044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4-E25 text 45" descr="sci-ppt:o045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Three-piece law</a:t>
            </a:r>
          </a:p>
        </p:txBody>
      </p:sp>
      <p:sp>
        <p:nvSpPr>
          <p:cNvPr id="48" name="C4-E25 text 46" descr="sci-ppt:o046"/>
          <p:cNvSpPr txBox="1"/>
          <p:nvPr/>
        </p:nvSpPr>
        <p:spPr>
          <a:xfrm>
            <a:off x="7178040" y="1828800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δ₀ = Tₘₐₓ / Kₙ</a:t>
            </a:r>
          </a:p>
        </p:txBody>
      </p:sp>
      <p:sp>
        <p:nvSpPr>
          <p:cNvPr id="49" name="C4-E25 text 47" descr="sci-ppt:o047"/>
          <p:cNvSpPr txBox="1"/>
          <p:nvPr/>
        </p:nvSpPr>
        <p:spPr>
          <a:xfrm>
            <a:off x="7178040" y="228600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tₙ = Kₙ δ                    (0 ≤ δ ≤ δ₀)</a:t>
            </a:r>
          </a:p>
        </p:txBody>
      </p:sp>
      <p:sp>
        <p:nvSpPr>
          <p:cNvPr id="50" name="C4-E25 text 48" descr="sci-ppt:o048"/>
          <p:cNvSpPr txBox="1"/>
          <p:nvPr/>
        </p:nvSpPr>
        <p:spPr>
          <a:xfrm>
            <a:off x="7178040" y="2743200"/>
            <a:ext cx="4572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tₙ = Tₘₐₓ (δ_c − δ)/(δ_c − δ₀)   (δ₀ &lt; δ &lt; δ_c)</a:t>
            </a:r>
          </a:p>
        </p:txBody>
      </p:sp>
      <p:sp>
        <p:nvSpPr>
          <p:cNvPr id="51" name="C4-E25 text 49" descr="sci-ppt:o049"/>
          <p:cNvSpPr txBox="1"/>
          <p:nvPr/>
        </p:nvSpPr>
        <p:spPr>
          <a:xfrm>
            <a:off x="7178040" y="320040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tₙ = 0                            (δ ≥ δ_c)</a:t>
            </a:r>
          </a:p>
        </p:txBody>
      </p:sp>
      <p:sp>
        <p:nvSpPr>
          <p:cNvPr id="52" name="C4-E25 text 50" descr="sci-ppt:o050"/>
          <p:cNvSpPr txBox="1"/>
          <p:nvPr/>
        </p:nvSpPr>
        <p:spPr>
          <a:xfrm>
            <a:off x="7178040" y="3794760"/>
            <a:ext cx="45720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Strength, stiffness and a finite opening distance are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three separate inputs.</a:t>
            </a:r>
          </a:p>
        </p:txBody>
      </p:sp>
      <p:sp>
        <p:nvSpPr>
          <p:cNvPr id="53" name="C4-E25 text 51" descr="sci-ppt:o051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Examples use the Eq. C4-E27 values: Tₘₐₓ = 0.10 MPa, Kₙ = 10¹³ Pa/m, Γ = 0.005 J/m².</a:t>
            </a:r>
          </a:p>
        </p:txBody>
      </p:sp>
      <p:sp>
        <p:nvSpPr>
          <p:cNvPr id="54" name="C4-E25 text 52" descr="sci-ppt:o05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Adopted tensile cohesive law of Eq. C4-E25 with the teaching values.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C4-E26 · Exact work integral of the adopted cohesive law</a:t>
            </a:r>
          </a:p>
        </p:txBody>
      </p:sp>
      <p:cxnSp>
        <p:nvCxnSpPr>
          <p:cNvPr id="3" name="C4-E26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26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26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26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26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4-E26 line 6" descr="sci-ppt:o006"/>
          <p:cNvCxnSpPr/>
          <p:nvPr/>
        </p:nvCxnSpPr>
        <p:spPr>
          <a:xfrm>
            <a:off x="3004457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26 line 7" descr="sci-ppt:o007"/>
          <p:cNvCxnSpPr/>
          <p:nvPr/>
        </p:nvCxnSpPr>
        <p:spPr>
          <a:xfrm>
            <a:off x="3004457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26 text 8" descr="sci-ppt:o008"/>
          <p:cNvSpPr txBox="1"/>
          <p:nvPr/>
        </p:nvSpPr>
        <p:spPr>
          <a:xfrm>
            <a:off x="2547257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50</a:t>
            </a:r>
          </a:p>
        </p:txBody>
      </p:sp>
      <p:cxnSp>
        <p:nvCxnSpPr>
          <p:cNvPr id="11" name="C4-E26 line 9" descr="sci-ppt:o009"/>
          <p:cNvCxnSpPr/>
          <p:nvPr/>
        </p:nvCxnSpPr>
        <p:spPr>
          <a:xfrm>
            <a:off x="509451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26 line 10" descr="sci-ppt:o010"/>
          <p:cNvCxnSpPr/>
          <p:nvPr/>
        </p:nvCxnSpPr>
        <p:spPr>
          <a:xfrm>
            <a:off x="509451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26 text 11" descr="sci-ppt:o011"/>
          <p:cNvSpPr txBox="1"/>
          <p:nvPr/>
        </p:nvSpPr>
        <p:spPr>
          <a:xfrm>
            <a:off x="463731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14" name="C4-E26 line 12" descr="sci-ppt:o012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26 line 13" descr="sci-ppt:o013"/>
          <p:cNvCxnSpPr/>
          <p:nvPr/>
        </p:nvCxnSpPr>
        <p:spPr>
          <a:xfrm>
            <a:off x="850392" y="362243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4-E26 line 14" descr="sci-ppt:o014"/>
          <p:cNvCxnSpPr/>
          <p:nvPr/>
        </p:nvCxnSpPr>
        <p:spPr>
          <a:xfrm>
            <a:off x="914400" y="362243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4-E26 text 15" descr="sci-ppt:o015"/>
          <p:cNvSpPr txBox="1"/>
          <p:nvPr/>
        </p:nvSpPr>
        <p:spPr>
          <a:xfrm>
            <a:off x="45720" y="354013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18" name="C4-E26 line 16" descr="sci-ppt:o016"/>
          <p:cNvCxnSpPr/>
          <p:nvPr/>
        </p:nvCxnSpPr>
        <p:spPr>
          <a:xfrm>
            <a:off x="850392" y="221566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4-E26 line 17" descr="sci-ppt:o017"/>
          <p:cNvCxnSpPr/>
          <p:nvPr/>
        </p:nvCxnSpPr>
        <p:spPr>
          <a:xfrm>
            <a:off x="914400" y="2215661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4-E26 text 18" descr="sci-ppt:o018"/>
          <p:cNvSpPr txBox="1"/>
          <p:nvPr/>
        </p:nvSpPr>
        <p:spPr>
          <a:xfrm>
            <a:off x="45720" y="213336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0.10</a:t>
            </a:r>
          </a:p>
        </p:txBody>
      </p:sp>
      <p:sp>
        <p:nvSpPr>
          <p:cNvPr id="21" name="C4-E26 text 19" descr="sci-ppt:o019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opening δ  (nm)</a:t>
            </a:r>
          </a:p>
        </p:txBody>
      </p:sp>
      <p:sp>
        <p:nvSpPr>
          <p:cNvPr id="22" name="C4-E26 text 20" descr="sci-ppt:o020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tₙ  (MPa)</a:t>
            </a:r>
          </a:p>
        </p:txBody>
      </p:sp>
      <p:sp>
        <p:nvSpPr>
          <p:cNvPr id="23" name="C4-E26 polygon 21" descr="sci-ppt:o021"/>
          <p:cNvSpPr/>
          <p:nvPr/>
        </p:nvSpPr>
        <p:spPr>
          <a:xfrm>
            <a:off x="914400" y="2217227"/>
            <a:ext cx="5852160" cy="2811973"/>
          </a:xfrm>
          <a:custGeom>
            <a:avLst/>
            <a:gdLst/>
            <a:ahLst/>
            <a:cxnLst/>
            <a:rect l="l" t="t" r="r" b="b"/>
            <a:pathLst>
              <a:path w="5852160" h="2811973">
                <a:moveTo>
                  <a:pt x="0" y="2811973"/>
                </a:moveTo>
                <a:lnTo>
                  <a:pt x="9769" y="2746214"/>
                </a:lnTo>
                <a:lnTo>
                  <a:pt x="19539" y="2680455"/>
                </a:lnTo>
                <a:lnTo>
                  <a:pt x="29309" y="2614696"/>
                </a:lnTo>
                <a:lnTo>
                  <a:pt x="39079" y="2548937"/>
                </a:lnTo>
                <a:lnTo>
                  <a:pt x="48849" y="2483178"/>
                </a:lnTo>
                <a:lnTo>
                  <a:pt x="58619" y="2417420"/>
                </a:lnTo>
                <a:lnTo>
                  <a:pt x="68389" y="2351661"/>
                </a:lnTo>
                <a:lnTo>
                  <a:pt x="78159" y="2285902"/>
                </a:lnTo>
                <a:lnTo>
                  <a:pt x="87928" y="2220143"/>
                </a:lnTo>
                <a:lnTo>
                  <a:pt x="97698" y="2154384"/>
                </a:lnTo>
                <a:lnTo>
                  <a:pt x="107468" y="2088625"/>
                </a:lnTo>
                <a:lnTo>
                  <a:pt x="117238" y="2022867"/>
                </a:lnTo>
                <a:lnTo>
                  <a:pt x="127008" y="1957108"/>
                </a:lnTo>
                <a:lnTo>
                  <a:pt x="136778" y="1891349"/>
                </a:lnTo>
                <a:lnTo>
                  <a:pt x="146548" y="1825590"/>
                </a:lnTo>
                <a:lnTo>
                  <a:pt x="156318" y="1759831"/>
                </a:lnTo>
                <a:lnTo>
                  <a:pt x="166088" y="1694072"/>
                </a:lnTo>
                <a:lnTo>
                  <a:pt x="175857" y="1628314"/>
                </a:lnTo>
                <a:lnTo>
                  <a:pt x="185627" y="1562555"/>
                </a:lnTo>
                <a:lnTo>
                  <a:pt x="195397" y="1496796"/>
                </a:lnTo>
                <a:lnTo>
                  <a:pt x="205167" y="1431037"/>
                </a:lnTo>
                <a:lnTo>
                  <a:pt x="214937" y="1365278"/>
                </a:lnTo>
                <a:lnTo>
                  <a:pt x="224707" y="1299519"/>
                </a:lnTo>
                <a:lnTo>
                  <a:pt x="234477" y="1233761"/>
                </a:lnTo>
                <a:lnTo>
                  <a:pt x="244247" y="1168002"/>
                </a:lnTo>
                <a:lnTo>
                  <a:pt x="254016" y="1102243"/>
                </a:lnTo>
                <a:lnTo>
                  <a:pt x="263786" y="1036484"/>
                </a:lnTo>
                <a:lnTo>
                  <a:pt x="273556" y="970725"/>
                </a:lnTo>
                <a:lnTo>
                  <a:pt x="283326" y="904966"/>
                </a:lnTo>
                <a:lnTo>
                  <a:pt x="293096" y="839208"/>
                </a:lnTo>
                <a:lnTo>
                  <a:pt x="302866" y="773449"/>
                </a:lnTo>
                <a:lnTo>
                  <a:pt x="312636" y="707690"/>
                </a:lnTo>
                <a:lnTo>
                  <a:pt x="322406" y="641931"/>
                </a:lnTo>
                <a:lnTo>
                  <a:pt x="332176" y="576172"/>
                </a:lnTo>
                <a:lnTo>
                  <a:pt x="341945" y="510413"/>
                </a:lnTo>
                <a:lnTo>
                  <a:pt x="351715" y="444655"/>
                </a:lnTo>
                <a:lnTo>
                  <a:pt x="361485" y="378896"/>
                </a:lnTo>
                <a:lnTo>
                  <a:pt x="371255" y="313137"/>
                </a:lnTo>
                <a:lnTo>
                  <a:pt x="381025" y="247378"/>
                </a:lnTo>
                <a:lnTo>
                  <a:pt x="390795" y="181619"/>
                </a:lnTo>
                <a:lnTo>
                  <a:pt x="400565" y="115861"/>
                </a:lnTo>
                <a:lnTo>
                  <a:pt x="410335" y="50102"/>
                </a:lnTo>
                <a:lnTo>
                  <a:pt x="420104" y="0"/>
                </a:lnTo>
                <a:lnTo>
                  <a:pt x="429874" y="7306"/>
                </a:lnTo>
                <a:lnTo>
                  <a:pt x="439644" y="14613"/>
                </a:lnTo>
                <a:lnTo>
                  <a:pt x="449414" y="21919"/>
                </a:lnTo>
                <a:lnTo>
                  <a:pt x="459184" y="29226"/>
                </a:lnTo>
                <a:lnTo>
                  <a:pt x="468954" y="36532"/>
                </a:lnTo>
                <a:lnTo>
                  <a:pt x="478724" y="43839"/>
                </a:lnTo>
                <a:lnTo>
                  <a:pt x="488494" y="51145"/>
                </a:lnTo>
                <a:lnTo>
                  <a:pt x="498264" y="58452"/>
                </a:lnTo>
                <a:lnTo>
                  <a:pt x="508033" y="65759"/>
                </a:lnTo>
                <a:lnTo>
                  <a:pt x="517803" y="73065"/>
                </a:lnTo>
                <a:lnTo>
                  <a:pt x="527573" y="80372"/>
                </a:lnTo>
                <a:lnTo>
                  <a:pt x="537343" y="87678"/>
                </a:lnTo>
                <a:lnTo>
                  <a:pt x="547113" y="94985"/>
                </a:lnTo>
                <a:lnTo>
                  <a:pt x="556883" y="102291"/>
                </a:lnTo>
                <a:lnTo>
                  <a:pt x="566653" y="109598"/>
                </a:lnTo>
                <a:lnTo>
                  <a:pt x="576423" y="116904"/>
                </a:lnTo>
                <a:lnTo>
                  <a:pt x="586192" y="124211"/>
                </a:lnTo>
                <a:lnTo>
                  <a:pt x="595962" y="131517"/>
                </a:lnTo>
                <a:lnTo>
                  <a:pt x="605732" y="138824"/>
                </a:lnTo>
                <a:lnTo>
                  <a:pt x="615502" y="146130"/>
                </a:lnTo>
                <a:lnTo>
                  <a:pt x="625272" y="153437"/>
                </a:lnTo>
                <a:lnTo>
                  <a:pt x="635042" y="160744"/>
                </a:lnTo>
                <a:lnTo>
                  <a:pt x="644812" y="168050"/>
                </a:lnTo>
                <a:lnTo>
                  <a:pt x="654582" y="175357"/>
                </a:lnTo>
                <a:lnTo>
                  <a:pt x="664352" y="182663"/>
                </a:lnTo>
                <a:lnTo>
                  <a:pt x="674121" y="189970"/>
                </a:lnTo>
                <a:lnTo>
                  <a:pt x="683891" y="197276"/>
                </a:lnTo>
                <a:lnTo>
                  <a:pt x="693661" y="204583"/>
                </a:lnTo>
                <a:lnTo>
                  <a:pt x="703431" y="211889"/>
                </a:lnTo>
                <a:lnTo>
                  <a:pt x="713201" y="219196"/>
                </a:lnTo>
                <a:lnTo>
                  <a:pt x="722971" y="226502"/>
                </a:lnTo>
                <a:lnTo>
                  <a:pt x="732741" y="233809"/>
                </a:lnTo>
                <a:lnTo>
                  <a:pt x="742511" y="241115"/>
                </a:lnTo>
                <a:lnTo>
                  <a:pt x="752281" y="248422"/>
                </a:lnTo>
                <a:lnTo>
                  <a:pt x="762050" y="255729"/>
                </a:lnTo>
                <a:lnTo>
                  <a:pt x="771820" y="263035"/>
                </a:lnTo>
                <a:lnTo>
                  <a:pt x="781590" y="270342"/>
                </a:lnTo>
                <a:lnTo>
                  <a:pt x="791360" y="277648"/>
                </a:lnTo>
                <a:lnTo>
                  <a:pt x="801130" y="284955"/>
                </a:lnTo>
                <a:lnTo>
                  <a:pt x="810900" y="292261"/>
                </a:lnTo>
                <a:lnTo>
                  <a:pt x="820670" y="299568"/>
                </a:lnTo>
                <a:lnTo>
                  <a:pt x="830440" y="306874"/>
                </a:lnTo>
                <a:lnTo>
                  <a:pt x="840209" y="314181"/>
                </a:lnTo>
                <a:lnTo>
                  <a:pt x="849979" y="321487"/>
                </a:lnTo>
                <a:lnTo>
                  <a:pt x="859749" y="328794"/>
                </a:lnTo>
                <a:lnTo>
                  <a:pt x="869519" y="336100"/>
                </a:lnTo>
                <a:lnTo>
                  <a:pt x="879289" y="343407"/>
                </a:lnTo>
                <a:lnTo>
                  <a:pt x="889059" y="350713"/>
                </a:lnTo>
                <a:lnTo>
                  <a:pt x="898829" y="358020"/>
                </a:lnTo>
                <a:lnTo>
                  <a:pt x="908599" y="365327"/>
                </a:lnTo>
                <a:lnTo>
                  <a:pt x="918369" y="372633"/>
                </a:lnTo>
                <a:lnTo>
                  <a:pt x="928138" y="379940"/>
                </a:lnTo>
                <a:lnTo>
                  <a:pt x="937908" y="387246"/>
                </a:lnTo>
                <a:lnTo>
                  <a:pt x="947678" y="394553"/>
                </a:lnTo>
                <a:lnTo>
                  <a:pt x="957448" y="401859"/>
                </a:lnTo>
                <a:lnTo>
                  <a:pt x="967218" y="409166"/>
                </a:lnTo>
                <a:lnTo>
                  <a:pt x="976988" y="416472"/>
                </a:lnTo>
                <a:lnTo>
                  <a:pt x="986758" y="423779"/>
                </a:lnTo>
                <a:lnTo>
                  <a:pt x="996528" y="431085"/>
                </a:lnTo>
                <a:lnTo>
                  <a:pt x="1006297" y="438392"/>
                </a:lnTo>
                <a:lnTo>
                  <a:pt x="1016067" y="445698"/>
                </a:lnTo>
                <a:lnTo>
                  <a:pt x="1025837" y="453005"/>
                </a:lnTo>
                <a:lnTo>
                  <a:pt x="1035607" y="460312"/>
                </a:lnTo>
                <a:lnTo>
                  <a:pt x="1045377" y="467618"/>
                </a:lnTo>
                <a:lnTo>
                  <a:pt x="1055147" y="474925"/>
                </a:lnTo>
                <a:lnTo>
                  <a:pt x="1064917" y="482231"/>
                </a:lnTo>
                <a:lnTo>
                  <a:pt x="1074687" y="489538"/>
                </a:lnTo>
                <a:lnTo>
                  <a:pt x="1084457" y="496844"/>
                </a:lnTo>
                <a:lnTo>
                  <a:pt x="1094226" y="504151"/>
                </a:lnTo>
                <a:lnTo>
                  <a:pt x="1103996" y="511457"/>
                </a:lnTo>
                <a:lnTo>
                  <a:pt x="1113766" y="518764"/>
                </a:lnTo>
                <a:lnTo>
                  <a:pt x="1123536" y="526070"/>
                </a:lnTo>
                <a:lnTo>
                  <a:pt x="1133306" y="533377"/>
                </a:lnTo>
                <a:lnTo>
                  <a:pt x="1143076" y="540683"/>
                </a:lnTo>
                <a:lnTo>
                  <a:pt x="1152846" y="547990"/>
                </a:lnTo>
                <a:lnTo>
                  <a:pt x="1162616" y="555297"/>
                </a:lnTo>
                <a:lnTo>
                  <a:pt x="1172385" y="562603"/>
                </a:lnTo>
                <a:lnTo>
                  <a:pt x="1182155" y="569910"/>
                </a:lnTo>
                <a:lnTo>
                  <a:pt x="1191925" y="577216"/>
                </a:lnTo>
                <a:lnTo>
                  <a:pt x="1201695" y="584523"/>
                </a:lnTo>
                <a:lnTo>
                  <a:pt x="1211465" y="591829"/>
                </a:lnTo>
                <a:lnTo>
                  <a:pt x="1221235" y="599136"/>
                </a:lnTo>
                <a:lnTo>
                  <a:pt x="1231005" y="606442"/>
                </a:lnTo>
                <a:lnTo>
                  <a:pt x="1240775" y="613749"/>
                </a:lnTo>
                <a:lnTo>
                  <a:pt x="1250545" y="621055"/>
                </a:lnTo>
                <a:lnTo>
                  <a:pt x="1260314" y="628362"/>
                </a:lnTo>
                <a:lnTo>
                  <a:pt x="1270084" y="635668"/>
                </a:lnTo>
                <a:lnTo>
                  <a:pt x="1279854" y="642975"/>
                </a:lnTo>
                <a:lnTo>
                  <a:pt x="1289624" y="650281"/>
                </a:lnTo>
                <a:lnTo>
                  <a:pt x="1299394" y="657588"/>
                </a:lnTo>
                <a:lnTo>
                  <a:pt x="1309164" y="664895"/>
                </a:lnTo>
                <a:lnTo>
                  <a:pt x="1318934" y="672201"/>
                </a:lnTo>
                <a:lnTo>
                  <a:pt x="1328704" y="679508"/>
                </a:lnTo>
                <a:lnTo>
                  <a:pt x="1338473" y="686814"/>
                </a:lnTo>
                <a:lnTo>
                  <a:pt x="1348243" y="694121"/>
                </a:lnTo>
                <a:lnTo>
                  <a:pt x="1358013" y="701427"/>
                </a:lnTo>
                <a:lnTo>
                  <a:pt x="1367783" y="708734"/>
                </a:lnTo>
                <a:lnTo>
                  <a:pt x="1377553" y="716040"/>
                </a:lnTo>
                <a:lnTo>
                  <a:pt x="1387323" y="723347"/>
                </a:lnTo>
                <a:lnTo>
                  <a:pt x="1397093" y="730653"/>
                </a:lnTo>
                <a:lnTo>
                  <a:pt x="1406863" y="737960"/>
                </a:lnTo>
                <a:lnTo>
                  <a:pt x="1416633" y="745266"/>
                </a:lnTo>
                <a:lnTo>
                  <a:pt x="1426402" y="752573"/>
                </a:lnTo>
                <a:lnTo>
                  <a:pt x="1436172" y="759880"/>
                </a:lnTo>
                <a:lnTo>
                  <a:pt x="1445942" y="767186"/>
                </a:lnTo>
                <a:lnTo>
                  <a:pt x="1455712" y="774493"/>
                </a:lnTo>
                <a:lnTo>
                  <a:pt x="1465482" y="781799"/>
                </a:lnTo>
                <a:lnTo>
                  <a:pt x="1475252" y="789106"/>
                </a:lnTo>
                <a:lnTo>
                  <a:pt x="1485022" y="796412"/>
                </a:lnTo>
                <a:lnTo>
                  <a:pt x="1494792" y="803719"/>
                </a:lnTo>
                <a:lnTo>
                  <a:pt x="1504562" y="811025"/>
                </a:lnTo>
                <a:lnTo>
                  <a:pt x="1514331" y="818332"/>
                </a:lnTo>
                <a:lnTo>
                  <a:pt x="1524101" y="825638"/>
                </a:lnTo>
                <a:lnTo>
                  <a:pt x="1533871" y="832945"/>
                </a:lnTo>
                <a:lnTo>
                  <a:pt x="1543641" y="840251"/>
                </a:lnTo>
                <a:lnTo>
                  <a:pt x="1553411" y="847558"/>
                </a:lnTo>
                <a:lnTo>
                  <a:pt x="1563181" y="854864"/>
                </a:lnTo>
                <a:lnTo>
                  <a:pt x="1572951" y="862171"/>
                </a:lnTo>
                <a:lnTo>
                  <a:pt x="1582721" y="869478"/>
                </a:lnTo>
                <a:lnTo>
                  <a:pt x="1592490" y="876784"/>
                </a:lnTo>
                <a:lnTo>
                  <a:pt x="1602260" y="884091"/>
                </a:lnTo>
                <a:lnTo>
                  <a:pt x="1612030" y="891397"/>
                </a:lnTo>
                <a:lnTo>
                  <a:pt x="1621800" y="898704"/>
                </a:lnTo>
                <a:lnTo>
                  <a:pt x="1631570" y="906010"/>
                </a:lnTo>
                <a:lnTo>
                  <a:pt x="1641340" y="913317"/>
                </a:lnTo>
                <a:lnTo>
                  <a:pt x="1651110" y="920623"/>
                </a:lnTo>
                <a:lnTo>
                  <a:pt x="1660880" y="927930"/>
                </a:lnTo>
                <a:lnTo>
                  <a:pt x="1670650" y="935236"/>
                </a:lnTo>
                <a:lnTo>
                  <a:pt x="1680419" y="942543"/>
                </a:lnTo>
                <a:lnTo>
                  <a:pt x="1690189" y="949849"/>
                </a:lnTo>
                <a:lnTo>
                  <a:pt x="1699959" y="957156"/>
                </a:lnTo>
                <a:lnTo>
                  <a:pt x="1709729" y="964463"/>
                </a:lnTo>
                <a:lnTo>
                  <a:pt x="1719499" y="971769"/>
                </a:lnTo>
                <a:lnTo>
                  <a:pt x="1729269" y="979076"/>
                </a:lnTo>
                <a:lnTo>
                  <a:pt x="1739039" y="986382"/>
                </a:lnTo>
                <a:lnTo>
                  <a:pt x="1748809" y="993689"/>
                </a:lnTo>
                <a:lnTo>
                  <a:pt x="1758578" y="1000995"/>
                </a:lnTo>
                <a:lnTo>
                  <a:pt x="1768348" y="1008302"/>
                </a:lnTo>
                <a:lnTo>
                  <a:pt x="1778118" y="1015608"/>
                </a:lnTo>
                <a:lnTo>
                  <a:pt x="1787888" y="1022915"/>
                </a:lnTo>
                <a:lnTo>
                  <a:pt x="1797658" y="1030221"/>
                </a:lnTo>
                <a:lnTo>
                  <a:pt x="1807428" y="1037528"/>
                </a:lnTo>
                <a:lnTo>
                  <a:pt x="1817198" y="1044834"/>
                </a:lnTo>
                <a:lnTo>
                  <a:pt x="1826968" y="1052141"/>
                </a:lnTo>
                <a:lnTo>
                  <a:pt x="1836738" y="1059448"/>
                </a:lnTo>
                <a:lnTo>
                  <a:pt x="1846507" y="1066754"/>
                </a:lnTo>
                <a:lnTo>
                  <a:pt x="1856277" y="1074061"/>
                </a:lnTo>
                <a:lnTo>
                  <a:pt x="1866047" y="1081367"/>
                </a:lnTo>
                <a:lnTo>
                  <a:pt x="1875817" y="1088674"/>
                </a:lnTo>
                <a:lnTo>
                  <a:pt x="1885587" y="1095980"/>
                </a:lnTo>
                <a:lnTo>
                  <a:pt x="1895357" y="1103287"/>
                </a:lnTo>
                <a:lnTo>
                  <a:pt x="1905127" y="1110593"/>
                </a:lnTo>
                <a:lnTo>
                  <a:pt x="1914897" y="1117900"/>
                </a:lnTo>
                <a:lnTo>
                  <a:pt x="1924666" y="1125206"/>
                </a:lnTo>
                <a:lnTo>
                  <a:pt x="1934436" y="1132513"/>
                </a:lnTo>
                <a:lnTo>
                  <a:pt x="1944206" y="1139819"/>
                </a:lnTo>
                <a:lnTo>
                  <a:pt x="1953976" y="1147126"/>
                </a:lnTo>
                <a:lnTo>
                  <a:pt x="1963746" y="1154432"/>
                </a:lnTo>
                <a:lnTo>
                  <a:pt x="1973516" y="1161739"/>
                </a:lnTo>
                <a:lnTo>
                  <a:pt x="1983286" y="1169046"/>
                </a:lnTo>
                <a:lnTo>
                  <a:pt x="1993056" y="1176352"/>
                </a:lnTo>
                <a:lnTo>
                  <a:pt x="2002826" y="1183659"/>
                </a:lnTo>
                <a:lnTo>
                  <a:pt x="2012595" y="1190965"/>
                </a:lnTo>
                <a:lnTo>
                  <a:pt x="2022365" y="1198272"/>
                </a:lnTo>
                <a:lnTo>
                  <a:pt x="2032135" y="1205578"/>
                </a:lnTo>
                <a:lnTo>
                  <a:pt x="2041905" y="1212885"/>
                </a:lnTo>
                <a:lnTo>
                  <a:pt x="2051675" y="1220191"/>
                </a:lnTo>
                <a:lnTo>
                  <a:pt x="2061445" y="1227498"/>
                </a:lnTo>
                <a:lnTo>
                  <a:pt x="2071215" y="1234804"/>
                </a:lnTo>
                <a:lnTo>
                  <a:pt x="2080985" y="1242111"/>
                </a:lnTo>
                <a:lnTo>
                  <a:pt x="2090754" y="1249417"/>
                </a:lnTo>
                <a:lnTo>
                  <a:pt x="2100524" y="1256724"/>
                </a:lnTo>
                <a:lnTo>
                  <a:pt x="2110294" y="1264031"/>
                </a:lnTo>
                <a:lnTo>
                  <a:pt x="2120064" y="1271337"/>
                </a:lnTo>
                <a:lnTo>
                  <a:pt x="2129834" y="1278644"/>
                </a:lnTo>
                <a:lnTo>
                  <a:pt x="2139604" y="1285950"/>
                </a:lnTo>
                <a:lnTo>
                  <a:pt x="2149374" y="1293257"/>
                </a:lnTo>
                <a:lnTo>
                  <a:pt x="2159144" y="1300563"/>
                </a:lnTo>
                <a:lnTo>
                  <a:pt x="2168914" y="1307870"/>
                </a:lnTo>
                <a:lnTo>
                  <a:pt x="2178683" y="1315176"/>
                </a:lnTo>
                <a:lnTo>
                  <a:pt x="2188453" y="1322483"/>
                </a:lnTo>
                <a:lnTo>
                  <a:pt x="2198223" y="1329789"/>
                </a:lnTo>
                <a:lnTo>
                  <a:pt x="2207993" y="1337096"/>
                </a:lnTo>
                <a:lnTo>
                  <a:pt x="2217763" y="1344402"/>
                </a:lnTo>
                <a:lnTo>
                  <a:pt x="2227533" y="1351709"/>
                </a:lnTo>
                <a:lnTo>
                  <a:pt x="2237303" y="1359016"/>
                </a:lnTo>
                <a:lnTo>
                  <a:pt x="2247073" y="1366322"/>
                </a:lnTo>
                <a:lnTo>
                  <a:pt x="2256843" y="1373629"/>
                </a:lnTo>
                <a:lnTo>
                  <a:pt x="2266612" y="1380935"/>
                </a:lnTo>
                <a:lnTo>
                  <a:pt x="2276382" y="1388242"/>
                </a:lnTo>
                <a:lnTo>
                  <a:pt x="2286152" y="1395548"/>
                </a:lnTo>
                <a:lnTo>
                  <a:pt x="2295922" y="1402855"/>
                </a:lnTo>
                <a:lnTo>
                  <a:pt x="2305692" y="1410161"/>
                </a:lnTo>
                <a:lnTo>
                  <a:pt x="2315462" y="1417468"/>
                </a:lnTo>
                <a:lnTo>
                  <a:pt x="2325232" y="1424774"/>
                </a:lnTo>
                <a:lnTo>
                  <a:pt x="2335002" y="1432081"/>
                </a:lnTo>
                <a:lnTo>
                  <a:pt x="2344771" y="1439387"/>
                </a:lnTo>
                <a:lnTo>
                  <a:pt x="2354541" y="1446694"/>
                </a:lnTo>
                <a:lnTo>
                  <a:pt x="2364311" y="1454000"/>
                </a:lnTo>
                <a:lnTo>
                  <a:pt x="2374081" y="1461307"/>
                </a:lnTo>
                <a:lnTo>
                  <a:pt x="2383851" y="1468614"/>
                </a:lnTo>
                <a:lnTo>
                  <a:pt x="2393621" y="1475920"/>
                </a:lnTo>
                <a:lnTo>
                  <a:pt x="2403391" y="1483227"/>
                </a:lnTo>
                <a:lnTo>
                  <a:pt x="2413161" y="1490533"/>
                </a:lnTo>
                <a:lnTo>
                  <a:pt x="2422931" y="1497840"/>
                </a:lnTo>
                <a:lnTo>
                  <a:pt x="2432700" y="1505146"/>
                </a:lnTo>
                <a:lnTo>
                  <a:pt x="2442470" y="1512453"/>
                </a:lnTo>
                <a:lnTo>
                  <a:pt x="2452240" y="1519759"/>
                </a:lnTo>
                <a:lnTo>
                  <a:pt x="2462010" y="1527066"/>
                </a:lnTo>
                <a:lnTo>
                  <a:pt x="2471780" y="1534372"/>
                </a:lnTo>
                <a:lnTo>
                  <a:pt x="2481550" y="1541679"/>
                </a:lnTo>
                <a:lnTo>
                  <a:pt x="2491320" y="1548985"/>
                </a:lnTo>
                <a:lnTo>
                  <a:pt x="2501090" y="1556292"/>
                </a:lnTo>
                <a:lnTo>
                  <a:pt x="2510859" y="1563599"/>
                </a:lnTo>
                <a:lnTo>
                  <a:pt x="2520629" y="1570905"/>
                </a:lnTo>
                <a:lnTo>
                  <a:pt x="2530399" y="1578212"/>
                </a:lnTo>
                <a:lnTo>
                  <a:pt x="2540169" y="1585518"/>
                </a:lnTo>
                <a:lnTo>
                  <a:pt x="2549939" y="1592825"/>
                </a:lnTo>
                <a:lnTo>
                  <a:pt x="2559709" y="1600131"/>
                </a:lnTo>
                <a:lnTo>
                  <a:pt x="2569479" y="1607438"/>
                </a:lnTo>
                <a:lnTo>
                  <a:pt x="2579249" y="1614744"/>
                </a:lnTo>
                <a:lnTo>
                  <a:pt x="2589019" y="1622051"/>
                </a:lnTo>
                <a:lnTo>
                  <a:pt x="2598788" y="1629357"/>
                </a:lnTo>
                <a:lnTo>
                  <a:pt x="2608558" y="1636664"/>
                </a:lnTo>
                <a:lnTo>
                  <a:pt x="2618328" y="1643970"/>
                </a:lnTo>
                <a:lnTo>
                  <a:pt x="2628098" y="1651277"/>
                </a:lnTo>
                <a:lnTo>
                  <a:pt x="2637868" y="1658584"/>
                </a:lnTo>
                <a:lnTo>
                  <a:pt x="2647638" y="1665890"/>
                </a:lnTo>
                <a:lnTo>
                  <a:pt x="2657408" y="1673197"/>
                </a:lnTo>
                <a:lnTo>
                  <a:pt x="2667178" y="1680503"/>
                </a:lnTo>
                <a:lnTo>
                  <a:pt x="2676947" y="1687810"/>
                </a:lnTo>
                <a:lnTo>
                  <a:pt x="2686717" y="1695116"/>
                </a:lnTo>
                <a:lnTo>
                  <a:pt x="2696487" y="1702423"/>
                </a:lnTo>
                <a:lnTo>
                  <a:pt x="2706257" y="1709729"/>
                </a:lnTo>
                <a:lnTo>
                  <a:pt x="2716027" y="1717036"/>
                </a:lnTo>
                <a:lnTo>
                  <a:pt x="2725797" y="1724342"/>
                </a:lnTo>
                <a:lnTo>
                  <a:pt x="2735567" y="1731649"/>
                </a:lnTo>
                <a:lnTo>
                  <a:pt x="2745337" y="1738955"/>
                </a:lnTo>
                <a:lnTo>
                  <a:pt x="2755107" y="1746262"/>
                </a:lnTo>
                <a:lnTo>
                  <a:pt x="2764876" y="1753568"/>
                </a:lnTo>
                <a:lnTo>
                  <a:pt x="2774646" y="1760875"/>
                </a:lnTo>
                <a:lnTo>
                  <a:pt x="2784416" y="1768182"/>
                </a:lnTo>
                <a:lnTo>
                  <a:pt x="2794186" y="1775488"/>
                </a:lnTo>
                <a:lnTo>
                  <a:pt x="2803956" y="1782795"/>
                </a:lnTo>
                <a:lnTo>
                  <a:pt x="2813726" y="1790101"/>
                </a:lnTo>
                <a:lnTo>
                  <a:pt x="2823496" y="1797408"/>
                </a:lnTo>
                <a:lnTo>
                  <a:pt x="2833266" y="1804714"/>
                </a:lnTo>
                <a:lnTo>
                  <a:pt x="2843035" y="1812021"/>
                </a:lnTo>
                <a:lnTo>
                  <a:pt x="2852805" y="1819327"/>
                </a:lnTo>
                <a:lnTo>
                  <a:pt x="2862575" y="1826634"/>
                </a:lnTo>
                <a:lnTo>
                  <a:pt x="2872345" y="1833940"/>
                </a:lnTo>
                <a:lnTo>
                  <a:pt x="2882115" y="1841247"/>
                </a:lnTo>
                <a:lnTo>
                  <a:pt x="2891885" y="1848553"/>
                </a:lnTo>
                <a:lnTo>
                  <a:pt x="2901655" y="1855860"/>
                </a:lnTo>
                <a:lnTo>
                  <a:pt x="2911425" y="1863167"/>
                </a:lnTo>
                <a:lnTo>
                  <a:pt x="2921195" y="1870473"/>
                </a:lnTo>
                <a:lnTo>
                  <a:pt x="2930964" y="1877780"/>
                </a:lnTo>
                <a:lnTo>
                  <a:pt x="2940734" y="1885086"/>
                </a:lnTo>
                <a:lnTo>
                  <a:pt x="2950504" y="1892393"/>
                </a:lnTo>
                <a:lnTo>
                  <a:pt x="2960274" y="1899699"/>
                </a:lnTo>
                <a:lnTo>
                  <a:pt x="2970044" y="1907006"/>
                </a:lnTo>
                <a:lnTo>
                  <a:pt x="2979814" y="1914312"/>
                </a:lnTo>
                <a:lnTo>
                  <a:pt x="2989584" y="1921619"/>
                </a:lnTo>
                <a:lnTo>
                  <a:pt x="2999354" y="1928925"/>
                </a:lnTo>
                <a:lnTo>
                  <a:pt x="3009124" y="1936232"/>
                </a:lnTo>
                <a:lnTo>
                  <a:pt x="3018893" y="1943538"/>
                </a:lnTo>
                <a:lnTo>
                  <a:pt x="3028663" y="1950845"/>
                </a:lnTo>
                <a:lnTo>
                  <a:pt x="3038433" y="1958152"/>
                </a:lnTo>
                <a:lnTo>
                  <a:pt x="3048203" y="1965458"/>
                </a:lnTo>
                <a:lnTo>
                  <a:pt x="3057973" y="1972765"/>
                </a:lnTo>
                <a:lnTo>
                  <a:pt x="3067743" y="1980071"/>
                </a:lnTo>
                <a:lnTo>
                  <a:pt x="3077513" y="1987378"/>
                </a:lnTo>
                <a:lnTo>
                  <a:pt x="3087283" y="1994684"/>
                </a:lnTo>
                <a:lnTo>
                  <a:pt x="3097052" y="2001991"/>
                </a:lnTo>
                <a:lnTo>
                  <a:pt x="3106822" y="2009297"/>
                </a:lnTo>
                <a:lnTo>
                  <a:pt x="3116592" y="2016604"/>
                </a:lnTo>
                <a:lnTo>
                  <a:pt x="3126362" y="2023910"/>
                </a:lnTo>
                <a:lnTo>
                  <a:pt x="3136132" y="2031217"/>
                </a:lnTo>
                <a:lnTo>
                  <a:pt x="3145902" y="2038523"/>
                </a:lnTo>
                <a:lnTo>
                  <a:pt x="3155672" y="2045830"/>
                </a:lnTo>
                <a:lnTo>
                  <a:pt x="3165442" y="2053136"/>
                </a:lnTo>
                <a:lnTo>
                  <a:pt x="3175212" y="2060443"/>
                </a:lnTo>
                <a:lnTo>
                  <a:pt x="3184981" y="2067750"/>
                </a:lnTo>
                <a:lnTo>
                  <a:pt x="3194751" y="2075056"/>
                </a:lnTo>
                <a:lnTo>
                  <a:pt x="3204521" y="2082363"/>
                </a:lnTo>
                <a:lnTo>
                  <a:pt x="3214291" y="2089669"/>
                </a:lnTo>
                <a:lnTo>
                  <a:pt x="3224061" y="2096976"/>
                </a:lnTo>
                <a:lnTo>
                  <a:pt x="3233831" y="2104282"/>
                </a:lnTo>
                <a:lnTo>
                  <a:pt x="3243601" y="2111589"/>
                </a:lnTo>
                <a:lnTo>
                  <a:pt x="3253371" y="2118895"/>
                </a:lnTo>
                <a:lnTo>
                  <a:pt x="3263140" y="2126202"/>
                </a:lnTo>
                <a:lnTo>
                  <a:pt x="3272910" y="2133508"/>
                </a:lnTo>
                <a:lnTo>
                  <a:pt x="3282680" y="2140815"/>
                </a:lnTo>
                <a:lnTo>
                  <a:pt x="3292450" y="2148121"/>
                </a:lnTo>
                <a:lnTo>
                  <a:pt x="3302220" y="2155428"/>
                </a:lnTo>
                <a:lnTo>
                  <a:pt x="3311990" y="2162735"/>
                </a:lnTo>
                <a:lnTo>
                  <a:pt x="3321760" y="2170041"/>
                </a:lnTo>
                <a:lnTo>
                  <a:pt x="3331530" y="2177348"/>
                </a:lnTo>
                <a:lnTo>
                  <a:pt x="3341300" y="2184654"/>
                </a:lnTo>
                <a:lnTo>
                  <a:pt x="3351069" y="2191961"/>
                </a:lnTo>
                <a:lnTo>
                  <a:pt x="3360839" y="2199267"/>
                </a:lnTo>
                <a:lnTo>
                  <a:pt x="3370609" y="2206574"/>
                </a:lnTo>
                <a:lnTo>
                  <a:pt x="3380379" y="2213880"/>
                </a:lnTo>
                <a:lnTo>
                  <a:pt x="3390149" y="2221187"/>
                </a:lnTo>
                <a:lnTo>
                  <a:pt x="3399919" y="2228493"/>
                </a:lnTo>
                <a:lnTo>
                  <a:pt x="3409689" y="2235800"/>
                </a:lnTo>
                <a:lnTo>
                  <a:pt x="3419459" y="2243106"/>
                </a:lnTo>
                <a:lnTo>
                  <a:pt x="3429228" y="2250413"/>
                </a:lnTo>
                <a:lnTo>
                  <a:pt x="3438998" y="2257720"/>
                </a:lnTo>
                <a:lnTo>
                  <a:pt x="3448768" y="2265026"/>
                </a:lnTo>
                <a:lnTo>
                  <a:pt x="3458538" y="2272333"/>
                </a:lnTo>
                <a:lnTo>
                  <a:pt x="3468308" y="2279639"/>
                </a:lnTo>
                <a:lnTo>
                  <a:pt x="3478078" y="2286946"/>
                </a:lnTo>
                <a:lnTo>
                  <a:pt x="3487848" y="2294252"/>
                </a:lnTo>
                <a:lnTo>
                  <a:pt x="3497618" y="2301559"/>
                </a:lnTo>
                <a:lnTo>
                  <a:pt x="3507388" y="2308865"/>
                </a:lnTo>
                <a:lnTo>
                  <a:pt x="3517157" y="2316172"/>
                </a:lnTo>
                <a:lnTo>
                  <a:pt x="3526927" y="2323478"/>
                </a:lnTo>
                <a:lnTo>
                  <a:pt x="3536697" y="2330785"/>
                </a:lnTo>
                <a:lnTo>
                  <a:pt x="3546467" y="2338091"/>
                </a:lnTo>
                <a:lnTo>
                  <a:pt x="3556237" y="2345398"/>
                </a:lnTo>
                <a:lnTo>
                  <a:pt x="3566007" y="2352704"/>
                </a:lnTo>
                <a:lnTo>
                  <a:pt x="3575777" y="2360011"/>
                </a:lnTo>
                <a:lnTo>
                  <a:pt x="3585547" y="2367318"/>
                </a:lnTo>
                <a:lnTo>
                  <a:pt x="3595316" y="2374624"/>
                </a:lnTo>
                <a:lnTo>
                  <a:pt x="3605086" y="2381931"/>
                </a:lnTo>
                <a:lnTo>
                  <a:pt x="3614856" y="2389237"/>
                </a:lnTo>
                <a:lnTo>
                  <a:pt x="3624626" y="2396544"/>
                </a:lnTo>
                <a:lnTo>
                  <a:pt x="3634396" y="2403850"/>
                </a:lnTo>
                <a:lnTo>
                  <a:pt x="3644166" y="2411157"/>
                </a:lnTo>
                <a:lnTo>
                  <a:pt x="3653936" y="2418463"/>
                </a:lnTo>
                <a:lnTo>
                  <a:pt x="3663706" y="2425770"/>
                </a:lnTo>
                <a:lnTo>
                  <a:pt x="3673476" y="2433076"/>
                </a:lnTo>
                <a:lnTo>
                  <a:pt x="3683245" y="2440383"/>
                </a:lnTo>
                <a:lnTo>
                  <a:pt x="3693015" y="2447689"/>
                </a:lnTo>
                <a:lnTo>
                  <a:pt x="3702785" y="2454996"/>
                </a:lnTo>
                <a:lnTo>
                  <a:pt x="3712555" y="2462303"/>
                </a:lnTo>
                <a:lnTo>
                  <a:pt x="3722325" y="2469609"/>
                </a:lnTo>
                <a:lnTo>
                  <a:pt x="3732095" y="2476916"/>
                </a:lnTo>
                <a:lnTo>
                  <a:pt x="3741865" y="2484222"/>
                </a:lnTo>
                <a:lnTo>
                  <a:pt x="3751635" y="2491529"/>
                </a:lnTo>
                <a:lnTo>
                  <a:pt x="3761405" y="2498835"/>
                </a:lnTo>
                <a:lnTo>
                  <a:pt x="3771174" y="2506142"/>
                </a:lnTo>
                <a:lnTo>
                  <a:pt x="3780944" y="2513448"/>
                </a:lnTo>
                <a:lnTo>
                  <a:pt x="3790714" y="2520755"/>
                </a:lnTo>
                <a:lnTo>
                  <a:pt x="3800484" y="2528061"/>
                </a:lnTo>
                <a:lnTo>
                  <a:pt x="3810254" y="2535368"/>
                </a:lnTo>
                <a:lnTo>
                  <a:pt x="3820024" y="2542674"/>
                </a:lnTo>
                <a:lnTo>
                  <a:pt x="3829794" y="2549981"/>
                </a:lnTo>
                <a:lnTo>
                  <a:pt x="3839564" y="2557288"/>
                </a:lnTo>
                <a:lnTo>
                  <a:pt x="3849333" y="2564594"/>
                </a:lnTo>
                <a:lnTo>
                  <a:pt x="3859103" y="2571901"/>
                </a:lnTo>
                <a:lnTo>
                  <a:pt x="3868873" y="2579207"/>
                </a:lnTo>
                <a:lnTo>
                  <a:pt x="3878643" y="2586514"/>
                </a:lnTo>
                <a:lnTo>
                  <a:pt x="3888413" y="2593820"/>
                </a:lnTo>
                <a:lnTo>
                  <a:pt x="3898183" y="2601127"/>
                </a:lnTo>
                <a:lnTo>
                  <a:pt x="3907953" y="2608433"/>
                </a:lnTo>
                <a:lnTo>
                  <a:pt x="3917723" y="2615740"/>
                </a:lnTo>
                <a:lnTo>
                  <a:pt x="3927493" y="2623046"/>
                </a:lnTo>
                <a:lnTo>
                  <a:pt x="3937262" y="2630353"/>
                </a:lnTo>
                <a:lnTo>
                  <a:pt x="3947032" y="2637659"/>
                </a:lnTo>
                <a:lnTo>
                  <a:pt x="3956802" y="2644966"/>
                </a:lnTo>
                <a:lnTo>
                  <a:pt x="3966572" y="2652272"/>
                </a:lnTo>
                <a:lnTo>
                  <a:pt x="3976342" y="2659579"/>
                </a:lnTo>
                <a:lnTo>
                  <a:pt x="3986112" y="2666886"/>
                </a:lnTo>
                <a:lnTo>
                  <a:pt x="3995882" y="2674192"/>
                </a:lnTo>
                <a:lnTo>
                  <a:pt x="4005652" y="2681499"/>
                </a:lnTo>
                <a:lnTo>
                  <a:pt x="4015421" y="2688805"/>
                </a:lnTo>
                <a:lnTo>
                  <a:pt x="4025191" y="2696112"/>
                </a:lnTo>
                <a:lnTo>
                  <a:pt x="4034961" y="2703418"/>
                </a:lnTo>
                <a:lnTo>
                  <a:pt x="4044731" y="2710725"/>
                </a:lnTo>
                <a:lnTo>
                  <a:pt x="4054501" y="2718031"/>
                </a:lnTo>
                <a:lnTo>
                  <a:pt x="4064271" y="2725338"/>
                </a:lnTo>
                <a:lnTo>
                  <a:pt x="4074041" y="2732644"/>
                </a:lnTo>
                <a:lnTo>
                  <a:pt x="4083811" y="2739951"/>
                </a:lnTo>
                <a:lnTo>
                  <a:pt x="4093581" y="2747257"/>
                </a:lnTo>
                <a:lnTo>
                  <a:pt x="4103350" y="2754564"/>
                </a:lnTo>
                <a:lnTo>
                  <a:pt x="4113120" y="2761871"/>
                </a:lnTo>
                <a:lnTo>
                  <a:pt x="4122890" y="2769177"/>
                </a:lnTo>
                <a:lnTo>
                  <a:pt x="4132660" y="2776484"/>
                </a:lnTo>
                <a:lnTo>
                  <a:pt x="4142430" y="2783790"/>
                </a:lnTo>
                <a:lnTo>
                  <a:pt x="4152200" y="2791097"/>
                </a:lnTo>
                <a:lnTo>
                  <a:pt x="4161970" y="2798403"/>
                </a:lnTo>
                <a:lnTo>
                  <a:pt x="4171740" y="2805710"/>
                </a:lnTo>
                <a:lnTo>
                  <a:pt x="4181509" y="2811973"/>
                </a:lnTo>
                <a:lnTo>
                  <a:pt x="4191279" y="2811973"/>
                </a:lnTo>
                <a:lnTo>
                  <a:pt x="4201049" y="2811973"/>
                </a:lnTo>
                <a:lnTo>
                  <a:pt x="4210819" y="2811973"/>
                </a:lnTo>
                <a:lnTo>
                  <a:pt x="4220589" y="2811973"/>
                </a:lnTo>
                <a:lnTo>
                  <a:pt x="4230359" y="2811973"/>
                </a:lnTo>
                <a:lnTo>
                  <a:pt x="4240129" y="2811973"/>
                </a:lnTo>
                <a:lnTo>
                  <a:pt x="4249899" y="2811973"/>
                </a:lnTo>
                <a:lnTo>
                  <a:pt x="4259669" y="2811973"/>
                </a:lnTo>
                <a:lnTo>
                  <a:pt x="4269438" y="2811973"/>
                </a:lnTo>
                <a:lnTo>
                  <a:pt x="4279208" y="2811973"/>
                </a:lnTo>
                <a:lnTo>
                  <a:pt x="4288978" y="2811973"/>
                </a:lnTo>
                <a:lnTo>
                  <a:pt x="4298748" y="2811973"/>
                </a:lnTo>
                <a:lnTo>
                  <a:pt x="4308518" y="2811973"/>
                </a:lnTo>
                <a:lnTo>
                  <a:pt x="4318288" y="2811973"/>
                </a:lnTo>
                <a:lnTo>
                  <a:pt x="4328058" y="2811973"/>
                </a:lnTo>
                <a:lnTo>
                  <a:pt x="4337828" y="2811973"/>
                </a:lnTo>
                <a:lnTo>
                  <a:pt x="4347597" y="2811973"/>
                </a:lnTo>
                <a:lnTo>
                  <a:pt x="4357367" y="2811973"/>
                </a:lnTo>
                <a:lnTo>
                  <a:pt x="4367137" y="2811973"/>
                </a:lnTo>
                <a:lnTo>
                  <a:pt x="4376907" y="2811973"/>
                </a:lnTo>
                <a:lnTo>
                  <a:pt x="4386677" y="2811973"/>
                </a:lnTo>
                <a:lnTo>
                  <a:pt x="4396447" y="2811973"/>
                </a:lnTo>
                <a:lnTo>
                  <a:pt x="4406217" y="2811973"/>
                </a:lnTo>
                <a:lnTo>
                  <a:pt x="4415987" y="2811973"/>
                </a:lnTo>
                <a:lnTo>
                  <a:pt x="4425757" y="2811973"/>
                </a:lnTo>
                <a:lnTo>
                  <a:pt x="4435526" y="2811973"/>
                </a:lnTo>
                <a:lnTo>
                  <a:pt x="4445296" y="2811973"/>
                </a:lnTo>
                <a:lnTo>
                  <a:pt x="4455066" y="2811973"/>
                </a:lnTo>
                <a:lnTo>
                  <a:pt x="4464836" y="2811973"/>
                </a:lnTo>
                <a:lnTo>
                  <a:pt x="4474606" y="2811973"/>
                </a:lnTo>
                <a:lnTo>
                  <a:pt x="4484376" y="2811973"/>
                </a:lnTo>
                <a:lnTo>
                  <a:pt x="4494146" y="2811973"/>
                </a:lnTo>
                <a:lnTo>
                  <a:pt x="4503916" y="2811973"/>
                </a:lnTo>
                <a:lnTo>
                  <a:pt x="4513686" y="2811973"/>
                </a:lnTo>
                <a:lnTo>
                  <a:pt x="4523455" y="2811973"/>
                </a:lnTo>
                <a:lnTo>
                  <a:pt x="4533225" y="2811973"/>
                </a:lnTo>
                <a:lnTo>
                  <a:pt x="4542995" y="2811973"/>
                </a:lnTo>
                <a:lnTo>
                  <a:pt x="4552765" y="2811973"/>
                </a:lnTo>
                <a:lnTo>
                  <a:pt x="4562535" y="2811973"/>
                </a:lnTo>
                <a:lnTo>
                  <a:pt x="4572305" y="2811973"/>
                </a:lnTo>
                <a:lnTo>
                  <a:pt x="4582075" y="2811973"/>
                </a:lnTo>
                <a:lnTo>
                  <a:pt x="4591845" y="2811973"/>
                </a:lnTo>
                <a:lnTo>
                  <a:pt x="4601614" y="2811973"/>
                </a:lnTo>
                <a:lnTo>
                  <a:pt x="4611384" y="2811973"/>
                </a:lnTo>
                <a:lnTo>
                  <a:pt x="4621154" y="2811973"/>
                </a:lnTo>
                <a:lnTo>
                  <a:pt x="4630924" y="2811973"/>
                </a:lnTo>
                <a:lnTo>
                  <a:pt x="4640694" y="2811973"/>
                </a:lnTo>
                <a:lnTo>
                  <a:pt x="4650464" y="2811973"/>
                </a:lnTo>
                <a:lnTo>
                  <a:pt x="4660234" y="2811973"/>
                </a:lnTo>
                <a:lnTo>
                  <a:pt x="4670004" y="2811973"/>
                </a:lnTo>
                <a:lnTo>
                  <a:pt x="4679774" y="2811973"/>
                </a:lnTo>
                <a:lnTo>
                  <a:pt x="4689543" y="2811973"/>
                </a:lnTo>
                <a:lnTo>
                  <a:pt x="4699313" y="2811973"/>
                </a:lnTo>
                <a:lnTo>
                  <a:pt x="4709083" y="2811973"/>
                </a:lnTo>
                <a:lnTo>
                  <a:pt x="4718853" y="2811973"/>
                </a:lnTo>
                <a:lnTo>
                  <a:pt x="4728623" y="2811973"/>
                </a:lnTo>
                <a:lnTo>
                  <a:pt x="4738393" y="2811973"/>
                </a:lnTo>
                <a:lnTo>
                  <a:pt x="4748163" y="2811973"/>
                </a:lnTo>
                <a:lnTo>
                  <a:pt x="4757933" y="2811973"/>
                </a:lnTo>
                <a:lnTo>
                  <a:pt x="4767702" y="2811973"/>
                </a:lnTo>
                <a:lnTo>
                  <a:pt x="4777472" y="2811973"/>
                </a:lnTo>
                <a:lnTo>
                  <a:pt x="4787242" y="2811973"/>
                </a:lnTo>
                <a:lnTo>
                  <a:pt x="4797012" y="2811973"/>
                </a:lnTo>
                <a:lnTo>
                  <a:pt x="4806782" y="2811973"/>
                </a:lnTo>
                <a:lnTo>
                  <a:pt x="4816552" y="2811973"/>
                </a:lnTo>
                <a:lnTo>
                  <a:pt x="4826322" y="2811973"/>
                </a:lnTo>
                <a:lnTo>
                  <a:pt x="4836092" y="2811973"/>
                </a:lnTo>
                <a:lnTo>
                  <a:pt x="4845862" y="2811973"/>
                </a:lnTo>
                <a:lnTo>
                  <a:pt x="4855631" y="2811973"/>
                </a:lnTo>
                <a:lnTo>
                  <a:pt x="4865401" y="2811973"/>
                </a:lnTo>
                <a:lnTo>
                  <a:pt x="4875171" y="2811973"/>
                </a:lnTo>
                <a:lnTo>
                  <a:pt x="4884941" y="2811973"/>
                </a:lnTo>
                <a:lnTo>
                  <a:pt x="4894711" y="2811973"/>
                </a:lnTo>
                <a:lnTo>
                  <a:pt x="4904481" y="2811973"/>
                </a:lnTo>
                <a:lnTo>
                  <a:pt x="4914251" y="2811973"/>
                </a:lnTo>
                <a:lnTo>
                  <a:pt x="4924021" y="2811973"/>
                </a:lnTo>
                <a:lnTo>
                  <a:pt x="4933790" y="2811973"/>
                </a:lnTo>
                <a:lnTo>
                  <a:pt x="4943560" y="2811973"/>
                </a:lnTo>
                <a:lnTo>
                  <a:pt x="4953330" y="2811973"/>
                </a:lnTo>
                <a:lnTo>
                  <a:pt x="4963100" y="2811973"/>
                </a:lnTo>
                <a:lnTo>
                  <a:pt x="4972870" y="2811973"/>
                </a:lnTo>
                <a:lnTo>
                  <a:pt x="4982640" y="2811973"/>
                </a:lnTo>
                <a:lnTo>
                  <a:pt x="4992410" y="2811973"/>
                </a:lnTo>
                <a:lnTo>
                  <a:pt x="5002180" y="2811973"/>
                </a:lnTo>
                <a:lnTo>
                  <a:pt x="5011950" y="2811973"/>
                </a:lnTo>
                <a:lnTo>
                  <a:pt x="5021719" y="2811973"/>
                </a:lnTo>
                <a:lnTo>
                  <a:pt x="5031489" y="2811973"/>
                </a:lnTo>
                <a:lnTo>
                  <a:pt x="5041259" y="2811973"/>
                </a:lnTo>
                <a:lnTo>
                  <a:pt x="5051029" y="2811973"/>
                </a:lnTo>
                <a:lnTo>
                  <a:pt x="5060799" y="2811973"/>
                </a:lnTo>
                <a:lnTo>
                  <a:pt x="5070569" y="2811973"/>
                </a:lnTo>
                <a:lnTo>
                  <a:pt x="5080339" y="2811973"/>
                </a:lnTo>
                <a:lnTo>
                  <a:pt x="5090109" y="2811973"/>
                </a:lnTo>
                <a:lnTo>
                  <a:pt x="5099878" y="2811973"/>
                </a:lnTo>
                <a:lnTo>
                  <a:pt x="5109648" y="2811973"/>
                </a:lnTo>
                <a:lnTo>
                  <a:pt x="5119418" y="2811973"/>
                </a:lnTo>
                <a:lnTo>
                  <a:pt x="5129188" y="2811973"/>
                </a:lnTo>
                <a:lnTo>
                  <a:pt x="5138958" y="2811973"/>
                </a:lnTo>
                <a:lnTo>
                  <a:pt x="5148728" y="2811973"/>
                </a:lnTo>
                <a:lnTo>
                  <a:pt x="5158498" y="2811973"/>
                </a:lnTo>
                <a:lnTo>
                  <a:pt x="5168268" y="2811973"/>
                </a:lnTo>
                <a:lnTo>
                  <a:pt x="5178038" y="2811973"/>
                </a:lnTo>
                <a:lnTo>
                  <a:pt x="5187807" y="2811973"/>
                </a:lnTo>
                <a:lnTo>
                  <a:pt x="5197577" y="2811973"/>
                </a:lnTo>
                <a:lnTo>
                  <a:pt x="5207347" y="2811973"/>
                </a:lnTo>
                <a:lnTo>
                  <a:pt x="5217117" y="2811973"/>
                </a:lnTo>
                <a:lnTo>
                  <a:pt x="5226887" y="2811973"/>
                </a:lnTo>
                <a:lnTo>
                  <a:pt x="5236657" y="2811973"/>
                </a:lnTo>
                <a:lnTo>
                  <a:pt x="5246427" y="2811973"/>
                </a:lnTo>
                <a:lnTo>
                  <a:pt x="5256197" y="2811973"/>
                </a:lnTo>
                <a:lnTo>
                  <a:pt x="5265967" y="2811973"/>
                </a:lnTo>
                <a:lnTo>
                  <a:pt x="5275736" y="2811973"/>
                </a:lnTo>
                <a:lnTo>
                  <a:pt x="5285506" y="2811973"/>
                </a:lnTo>
                <a:lnTo>
                  <a:pt x="5295276" y="2811973"/>
                </a:lnTo>
                <a:lnTo>
                  <a:pt x="5305046" y="2811973"/>
                </a:lnTo>
                <a:lnTo>
                  <a:pt x="5314816" y="2811973"/>
                </a:lnTo>
                <a:lnTo>
                  <a:pt x="5324586" y="2811973"/>
                </a:lnTo>
                <a:lnTo>
                  <a:pt x="5334356" y="2811973"/>
                </a:lnTo>
                <a:lnTo>
                  <a:pt x="5344126" y="2811973"/>
                </a:lnTo>
                <a:lnTo>
                  <a:pt x="5353895" y="2811973"/>
                </a:lnTo>
                <a:lnTo>
                  <a:pt x="5363665" y="2811973"/>
                </a:lnTo>
                <a:lnTo>
                  <a:pt x="5373435" y="2811973"/>
                </a:lnTo>
                <a:lnTo>
                  <a:pt x="5383205" y="2811973"/>
                </a:lnTo>
                <a:lnTo>
                  <a:pt x="5392975" y="2811973"/>
                </a:lnTo>
                <a:lnTo>
                  <a:pt x="5402745" y="2811973"/>
                </a:lnTo>
                <a:lnTo>
                  <a:pt x="5412515" y="2811973"/>
                </a:lnTo>
                <a:lnTo>
                  <a:pt x="5422285" y="2811973"/>
                </a:lnTo>
                <a:lnTo>
                  <a:pt x="5432055" y="2811973"/>
                </a:lnTo>
                <a:lnTo>
                  <a:pt x="5441824" y="2811973"/>
                </a:lnTo>
                <a:lnTo>
                  <a:pt x="5451594" y="2811973"/>
                </a:lnTo>
                <a:lnTo>
                  <a:pt x="5461364" y="2811973"/>
                </a:lnTo>
                <a:lnTo>
                  <a:pt x="5471134" y="2811973"/>
                </a:lnTo>
                <a:lnTo>
                  <a:pt x="5480904" y="2811973"/>
                </a:lnTo>
                <a:lnTo>
                  <a:pt x="5490674" y="2811973"/>
                </a:lnTo>
                <a:lnTo>
                  <a:pt x="5500444" y="2811973"/>
                </a:lnTo>
                <a:lnTo>
                  <a:pt x="5510214" y="2811973"/>
                </a:lnTo>
                <a:lnTo>
                  <a:pt x="5519983" y="2811973"/>
                </a:lnTo>
                <a:lnTo>
                  <a:pt x="5529753" y="2811973"/>
                </a:lnTo>
                <a:lnTo>
                  <a:pt x="5539523" y="2811973"/>
                </a:lnTo>
                <a:lnTo>
                  <a:pt x="5549293" y="2811973"/>
                </a:lnTo>
                <a:lnTo>
                  <a:pt x="5559063" y="2811973"/>
                </a:lnTo>
                <a:lnTo>
                  <a:pt x="5568833" y="2811973"/>
                </a:lnTo>
                <a:lnTo>
                  <a:pt x="5578603" y="2811973"/>
                </a:lnTo>
                <a:lnTo>
                  <a:pt x="5588373" y="2811973"/>
                </a:lnTo>
                <a:lnTo>
                  <a:pt x="5598143" y="2811973"/>
                </a:lnTo>
                <a:lnTo>
                  <a:pt x="5607912" y="2811973"/>
                </a:lnTo>
                <a:lnTo>
                  <a:pt x="5617682" y="2811973"/>
                </a:lnTo>
                <a:lnTo>
                  <a:pt x="5627452" y="2811973"/>
                </a:lnTo>
                <a:lnTo>
                  <a:pt x="5637222" y="2811973"/>
                </a:lnTo>
                <a:lnTo>
                  <a:pt x="5646992" y="2811973"/>
                </a:lnTo>
                <a:lnTo>
                  <a:pt x="5656762" y="2811973"/>
                </a:lnTo>
                <a:lnTo>
                  <a:pt x="5666532" y="2811973"/>
                </a:lnTo>
                <a:lnTo>
                  <a:pt x="5676302" y="2811973"/>
                </a:lnTo>
                <a:lnTo>
                  <a:pt x="5686071" y="2811973"/>
                </a:lnTo>
                <a:lnTo>
                  <a:pt x="5695841" y="2811973"/>
                </a:lnTo>
                <a:lnTo>
                  <a:pt x="5705611" y="2811973"/>
                </a:lnTo>
                <a:lnTo>
                  <a:pt x="5715381" y="2811973"/>
                </a:lnTo>
                <a:lnTo>
                  <a:pt x="5725151" y="2811973"/>
                </a:lnTo>
                <a:lnTo>
                  <a:pt x="5734921" y="2811973"/>
                </a:lnTo>
                <a:lnTo>
                  <a:pt x="5744691" y="2811973"/>
                </a:lnTo>
                <a:lnTo>
                  <a:pt x="5754461" y="2811973"/>
                </a:lnTo>
                <a:lnTo>
                  <a:pt x="5764231" y="2811973"/>
                </a:lnTo>
                <a:lnTo>
                  <a:pt x="5774000" y="2811973"/>
                </a:lnTo>
                <a:lnTo>
                  <a:pt x="5783770" y="2811973"/>
                </a:lnTo>
                <a:lnTo>
                  <a:pt x="5793540" y="2811973"/>
                </a:lnTo>
                <a:lnTo>
                  <a:pt x="5803310" y="2811973"/>
                </a:lnTo>
                <a:lnTo>
                  <a:pt x="5813080" y="2811973"/>
                </a:lnTo>
                <a:lnTo>
                  <a:pt x="5822850" y="2811973"/>
                </a:lnTo>
                <a:lnTo>
                  <a:pt x="5832620" y="2811973"/>
                </a:lnTo>
                <a:lnTo>
                  <a:pt x="5842390" y="2811973"/>
                </a:lnTo>
                <a:lnTo>
                  <a:pt x="5852160" y="2811973"/>
                </a:lnTo>
                <a:lnTo>
                  <a:pt x="5852160" y="2811973"/>
                </a:lnTo>
                <a:lnTo>
                  <a:pt x="5842390" y="2811973"/>
                </a:lnTo>
                <a:lnTo>
                  <a:pt x="5832620" y="2811973"/>
                </a:lnTo>
                <a:lnTo>
                  <a:pt x="5822850" y="2811973"/>
                </a:lnTo>
                <a:lnTo>
                  <a:pt x="5813080" y="2811973"/>
                </a:lnTo>
                <a:lnTo>
                  <a:pt x="5803310" y="2811973"/>
                </a:lnTo>
                <a:lnTo>
                  <a:pt x="5793540" y="2811973"/>
                </a:lnTo>
                <a:lnTo>
                  <a:pt x="5783770" y="2811973"/>
                </a:lnTo>
                <a:lnTo>
                  <a:pt x="5774000" y="2811973"/>
                </a:lnTo>
                <a:lnTo>
                  <a:pt x="5764231" y="2811973"/>
                </a:lnTo>
                <a:lnTo>
                  <a:pt x="5754461" y="2811973"/>
                </a:lnTo>
                <a:lnTo>
                  <a:pt x="5744691" y="2811973"/>
                </a:lnTo>
                <a:lnTo>
                  <a:pt x="5734921" y="2811973"/>
                </a:lnTo>
                <a:lnTo>
                  <a:pt x="5725151" y="2811973"/>
                </a:lnTo>
                <a:lnTo>
                  <a:pt x="5715381" y="2811973"/>
                </a:lnTo>
                <a:lnTo>
                  <a:pt x="5705611" y="2811973"/>
                </a:lnTo>
                <a:lnTo>
                  <a:pt x="5695841" y="2811973"/>
                </a:lnTo>
                <a:lnTo>
                  <a:pt x="5686071" y="2811973"/>
                </a:lnTo>
                <a:lnTo>
                  <a:pt x="5676302" y="2811973"/>
                </a:lnTo>
                <a:lnTo>
                  <a:pt x="5666532" y="2811973"/>
                </a:lnTo>
                <a:lnTo>
                  <a:pt x="5656762" y="2811973"/>
                </a:lnTo>
                <a:lnTo>
                  <a:pt x="5646992" y="2811973"/>
                </a:lnTo>
                <a:lnTo>
                  <a:pt x="5637222" y="2811973"/>
                </a:lnTo>
                <a:lnTo>
                  <a:pt x="5627452" y="2811973"/>
                </a:lnTo>
                <a:lnTo>
                  <a:pt x="5617682" y="2811973"/>
                </a:lnTo>
                <a:lnTo>
                  <a:pt x="5607912" y="2811973"/>
                </a:lnTo>
                <a:lnTo>
                  <a:pt x="5598143" y="2811973"/>
                </a:lnTo>
                <a:lnTo>
                  <a:pt x="5588373" y="2811973"/>
                </a:lnTo>
                <a:lnTo>
                  <a:pt x="5578603" y="2811973"/>
                </a:lnTo>
                <a:lnTo>
                  <a:pt x="5568833" y="2811973"/>
                </a:lnTo>
                <a:lnTo>
                  <a:pt x="5559063" y="2811973"/>
                </a:lnTo>
                <a:lnTo>
                  <a:pt x="5549293" y="2811973"/>
                </a:lnTo>
                <a:lnTo>
                  <a:pt x="5539523" y="2811973"/>
                </a:lnTo>
                <a:lnTo>
                  <a:pt x="5529753" y="2811973"/>
                </a:lnTo>
                <a:lnTo>
                  <a:pt x="5519983" y="2811973"/>
                </a:lnTo>
                <a:lnTo>
                  <a:pt x="5510214" y="2811973"/>
                </a:lnTo>
                <a:lnTo>
                  <a:pt x="5500444" y="2811973"/>
                </a:lnTo>
                <a:lnTo>
                  <a:pt x="5490674" y="2811973"/>
                </a:lnTo>
                <a:lnTo>
                  <a:pt x="5480904" y="2811973"/>
                </a:lnTo>
                <a:lnTo>
                  <a:pt x="5471134" y="2811973"/>
                </a:lnTo>
                <a:lnTo>
                  <a:pt x="5461364" y="2811973"/>
                </a:lnTo>
                <a:lnTo>
                  <a:pt x="5451594" y="2811973"/>
                </a:lnTo>
                <a:lnTo>
                  <a:pt x="5441824" y="2811973"/>
                </a:lnTo>
                <a:lnTo>
                  <a:pt x="5432055" y="2811973"/>
                </a:lnTo>
                <a:lnTo>
                  <a:pt x="5422285" y="2811973"/>
                </a:lnTo>
                <a:lnTo>
                  <a:pt x="5412515" y="2811973"/>
                </a:lnTo>
                <a:lnTo>
                  <a:pt x="5402745" y="2811973"/>
                </a:lnTo>
                <a:lnTo>
                  <a:pt x="5392975" y="2811973"/>
                </a:lnTo>
                <a:lnTo>
                  <a:pt x="5383205" y="2811973"/>
                </a:lnTo>
                <a:lnTo>
                  <a:pt x="5373435" y="2811973"/>
                </a:lnTo>
                <a:lnTo>
                  <a:pt x="5363665" y="2811973"/>
                </a:lnTo>
                <a:lnTo>
                  <a:pt x="5353895" y="2811973"/>
                </a:lnTo>
                <a:lnTo>
                  <a:pt x="5344126" y="2811973"/>
                </a:lnTo>
                <a:lnTo>
                  <a:pt x="5334356" y="2811973"/>
                </a:lnTo>
                <a:lnTo>
                  <a:pt x="5324586" y="2811973"/>
                </a:lnTo>
                <a:lnTo>
                  <a:pt x="5314816" y="2811973"/>
                </a:lnTo>
                <a:lnTo>
                  <a:pt x="5305046" y="2811973"/>
                </a:lnTo>
                <a:lnTo>
                  <a:pt x="5295276" y="2811973"/>
                </a:lnTo>
                <a:lnTo>
                  <a:pt x="5285506" y="2811973"/>
                </a:lnTo>
                <a:lnTo>
                  <a:pt x="5275736" y="2811973"/>
                </a:lnTo>
                <a:lnTo>
                  <a:pt x="5265967" y="2811973"/>
                </a:lnTo>
                <a:lnTo>
                  <a:pt x="5256197" y="2811973"/>
                </a:lnTo>
                <a:lnTo>
                  <a:pt x="5246427" y="2811973"/>
                </a:lnTo>
                <a:lnTo>
                  <a:pt x="5236657" y="2811973"/>
                </a:lnTo>
                <a:lnTo>
                  <a:pt x="5226887" y="2811973"/>
                </a:lnTo>
                <a:lnTo>
                  <a:pt x="5217117" y="2811973"/>
                </a:lnTo>
                <a:lnTo>
                  <a:pt x="5207347" y="2811973"/>
                </a:lnTo>
                <a:lnTo>
                  <a:pt x="5197577" y="2811973"/>
                </a:lnTo>
                <a:lnTo>
                  <a:pt x="5187807" y="2811973"/>
                </a:lnTo>
                <a:lnTo>
                  <a:pt x="5178038" y="2811973"/>
                </a:lnTo>
                <a:lnTo>
                  <a:pt x="5168268" y="2811973"/>
                </a:lnTo>
                <a:lnTo>
                  <a:pt x="5158498" y="2811973"/>
                </a:lnTo>
                <a:lnTo>
                  <a:pt x="5148728" y="2811973"/>
                </a:lnTo>
                <a:lnTo>
                  <a:pt x="5138958" y="2811973"/>
                </a:lnTo>
                <a:lnTo>
                  <a:pt x="5129188" y="2811973"/>
                </a:lnTo>
                <a:lnTo>
                  <a:pt x="5119418" y="2811973"/>
                </a:lnTo>
                <a:lnTo>
                  <a:pt x="5109648" y="2811973"/>
                </a:lnTo>
                <a:lnTo>
                  <a:pt x="5099878" y="2811973"/>
                </a:lnTo>
                <a:lnTo>
                  <a:pt x="5090109" y="2811973"/>
                </a:lnTo>
                <a:lnTo>
                  <a:pt x="5080339" y="2811973"/>
                </a:lnTo>
                <a:lnTo>
                  <a:pt x="5070569" y="2811973"/>
                </a:lnTo>
                <a:lnTo>
                  <a:pt x="5060799" y="2811973"/>
                </a:lnTo>
                <a:lnTo>
                  <a:pt x="5051029" y="2811973"/>
                </a:lnTo>
                <a:lnTo>
                  <a:pt x="5041259" y="2811973"/>
                </a:lnTo>
                <a:lnTo>
                  <a:pt x="5031489" y="2811973"/>
                </a:lnTo>
                <a:lnTo>
                  <a:pt x="5021719" y="2811973"/>
                </a:lnTo>
                <a:lnTo>
                  <a:pt x="5011950" y="2811973"/>
                </a:lnTo>
                <a:lnTo>
                  <a:pt x="5002180" y="2811973"/>
                </a:lnTo>
                <a:lnTo>
                  <a:pt x="4992410" y="2811973"/>
                </a:lnTo>
                <a:lnTo>
                  <a:pt x="4982640" y="2811973"/>
                </a:lnTo>
                <a:lnTo>
                  <a:pt x="4972870" y="2811973"/>
                </a:lnTo>
                <a:lnTo>
                  <a:pt x="4963100" y="2811973"/>
                </a:lnTo>
                <a:lnTo>
                  <a:pt x="4953330" y="2811973"/>
                </a:lnTo>
                <a:lnTo>
                  <a:pt x="4943560" y="2811973"/>
                </a:lnTo>
                <a:lnTo>
                  <a:pt x="4933790" y="2811973"/>
                </a:lnTo>
                <a:lnTo>
                  <a:pt x="4924021" y="2811973"/>
                </a:lnTo>
                <a:lnTo>
                  <a:pt x="4914251" y="2811973"/>
                </a:lnTo>
                <a:lnTo>
                  <a:pt x="4904481" y="2811973"/>
                </a:lnTo>
                <a:lnTo>
                  <a:pt x="4894711" y="2811973"/>
                </a:lnTo>
                <a:lnTo>
                  <a:pt x="4884941" y="2811973"/>
                </a:lnTo>
                <a:lnTo>
                  <a:pt x="4875171" y="2811973"/>
                </a:lnTo>
                <a:lnTo>
                  <a:pt x="4865401" y="2811973"/>
                </a:lnTo>
                <a:lnTo>
                  <a:pt x="4855631" y="2811973"/>
                </a:lnTo>
                <a:lnTo>
                  <a:pt x="4845862" y="2811973"/>
                </a:lnTo>
                <a:lnTo>
                  <a:pt x="4836092" y="2811973"/>
                </a:lnTo>
                <a:lnTo>
                  <a:pt x="4826322" y="2811973"/>
                </a:lnTo>
                <a:lnTo>
                  <a:pt x="4816552" y="2811973"/>
                </a:lnTo>
                <a:lnTo>
                  <a:pt x="4806782" y="2811973"/>
                </a:lnTo>
                <a:lnTo>
                  <a:pt x="4797012" y="2811973"/>
                </a:lnTo>
                <a:lnTo>
                  <a:pt x="4787242" y="2811973"/>
                </a:lnTo>
                <a:lnTo>
                  <a:pt x="4777472" y="2811973"/>
                </a:lnTo>
                <a:lnTo>
                  <a:pt x="4767702" y="2811973"/>
                </a:lnTo>
                <a:lnTo>
                  <a:pt x="4757933" y="2811973"/>
                </a:lnTo>
                <a:lnTo>
                  <a:pt x="4748163" y="2811973"/>
                </a:lnTo>
                <a:lnTo>
                  <a:pt x="4738393" y="2811973"/>
                </a:lnTo>
                <a:lnTo>
                  <a:pt x="4728623" y="2811973"/>
                </a:lnTo>
                <a:lnTo>
                  <a:pt x="4718853" y="2811973"/>
                </a:lnTo>
                <a:lnTo>
                  <a:pt x="4709083" y="2811973"/>
                </a:lnTo>
                <a:lnTo>
                  <a:pt x="4699313" y="2811973"/>
                </a:lnTo>
                <a:lnTo>
                  <a:pt x="4689543" y="2811973"/>
                </a:lnTo>
                <a:lnTo>
                  <a:pt x="4679774" y="2811973"/>
                </a:lnTo>
                <a:lnTo>
                  <a:pt x="4670004" y="2811973"/>
                </a:lnTo>
                <a:lnTo>
                  <a:pt x="4660234" y="2811973"/>
                </a:lnTo>
                <a:lnTo>
                  <a:pt x="4650464" y="2811973"/>
                </a:lnTo>
                <a:lnTo>
                  <a:pt x="4640694" y="2811973"/>
                </a:lnTo>
                <a:lnTo>
                  <a:pt x="4630924" y="2811973"/>
                </a:lnTo>
                <a:lnTo>
                  <a:pt x="4621154" y="2811973"/>
                </a:lnTo>
                <a:lnTo>
                  <a:pt x="4611384" y="2811973"/>
                </a:lnTo>
                <a:lnTo>
                  <a:pt x="4601614" y="2811973"/>
                </a:lnTo>
                <a:lnTo>
                  <a:pt x="4591845" y="2811973"/>
                </a:lnTo>
                <a:lnTo>
                  <a:pt x="4582075" y="2811973"/>
                </a:lnTo>
                <a:lnTo>
                  <a:pt x="4572305" y="2811973"/>
                </a:lnTo>
                <a:lnTo>
                  <a:pt x="4562535" y="2811973"/>
                </a:lnTo>
                <a:lnTo>
                  <a:pt x="4552765" y="2811973"/>
                </a:lnTo>
                <a:lnTo>
                  <a:pt x="4542995" y="2811973"/>
                </a:lnTo>
                <a:lnTo>
                  <a:pt x="4533225" y="2811973"/>
                </a:lnTo>
                <a:lnTo>
                  <a:pt x="4523455" y="2811973"/>
                </a:lnTo>
                <a:lnTo>
                  <a:pt x="4513686" y="2811973"/>
                </a:lnTo>
                <a:lnTo>
                  <a:pt x="4503916" y="2811973"/>
                </a:lnTo>
                <a:lnTo>
                  <a:pt x="4494146" y="2811973"/>
                </a:lnTo>
                <a:lnTo>
                  <a:pt x="4484376" y="2811973"/>
                </a:lnTo>
                <a:lnTo>
                  <a:pt x="4474606" y="2811973"/>
                </a:lnTo>
                <a:lnTo>
                  <a:pt x="4464836" y="2811973"/>
                </a:lnTo>
                <a:lnTo>
                  <a:pt x="4455066" y="2811973"/>
                </a:lnTo>
                <a:lnTo>
                  <a:pt x="4445296" y="2811973"/>
                </a:lnTo>
                <a:lnTo>
                  <a:pt x="4435526" y="2811973"/>
                </a:lnTo>
                <a:lnTo>
                  <a:pt x="4425757" y="2811973"/>
                </a:lnTo>
                <a:lnTo>
                  <a:pt x="4415987" y="2811973"/>
                </a:lnTo>
                <a:lnTo>
                  <a:pt x="4406217" y="2811973"/>
                </a:lnTo>
                <a:lnTo>
                  <a:pt x="4396447" y="2811973"/>
                </a:lnTo>
                <a:lnTo>
                  <a:pt x="4386677" y="2811973"/>
                </a:lnTo>
                <a:lnTo>
                  <a:pt x="4376907" y="2811973"/>
                </a:lnTo>
                <a:lnTo>
                  <a:pt x="4367137" y="2811973"/>
                </a:lnTo>
                <a:lnTo>
                  <a:pt x="4357367" y="2811973"/>
                </a:lnTo>
                <a:lnTo>
                  <a:pt x="4347597" y="2811973"/>
                </a:lnTo>
                <a:lnTo>
                  <a:pt x="4337828" y="2811973"/>
                </a:lnTo>
                <a:lnTo>
                  <a:pt x="4328058" y="2811973"/>
                </a:lnTo>
                <a:lnTo>
                  <a:pt x="4318288" y="2811973"/>
                </a:lnTo>
                <a:lnTo>
                  <a:pt x="4308518" y="2811973"/>
                </a:lnTo>
                <a:lnTo>
                  <a:pt x="4298748" y="2811973"/>
                </a:lnTo>
                <a:lnTo>
                  <a:pt x="4288978" y="2811973"/>
                </a:lnTo>
                <a:lnTo>
                  <a:pt x="4279208" y="2811973"/>
                </a:lnTo>
                <a:lnTo>
                  <a:pt x="4269438" y="2811973"/>
                </a:lnTo>
                <a:lnTo>
                  <a:pt x="4259669" y="2811973"/>
                </a:lnTo>
                <a:lnTo>
                  <a:pt x="4249899" y="2811973"/>
                </a:lnTo>
                <a:lnTo>
                  <a:pt x="4240129" y="2811973"/>
                </a:lnTo>
                <a:lnTo>
                  <a:pt x="4230359" y="2811973"/>
                </a:lnTo>
                <a:lnTo>
                  <a:pt x="4220589" y="2811973"/>
                </a:lnTo>
                <a:lnTo>
                  <a:pt x="4210819" y="2811973"/>
                </a:lnTo>
                <a:lnTo>
                  <a:pt x="4201049" y="2811973"/>
                </a:lnTo>
                <a:lnTo>
                  <a:pt x="4191279" y="2811973"/>
                </a:lnTo>
                <a:lnTo>
                  <a:pt x="4181509" y="2811973"/>
                </a:lnTo>
                <a:lnTo>
                  <a:pt x="4171740" y="2811973"/>
                </a:lnTo>
                <a:lnTo>
                  <a:pt x="4161970" y="2811973"/>
                </a:lnTo>
                <a:lnTo>
                  <a:pt x="4152200" y="2811973"/>
                </a:lnTo>
                <a:lnTo>
                  <a:pt x="4142430" y="2811973"/>
                </a:lnTo>
                <a:lnTo>
                  <a:pt x="4132660" y="2811973"/>
                </a:lnTo>
                <a:lnTo>
                  <a:pt x="4122890" y="2811973"/>
                </a:lnTo>
                <a:lnTo>
                  <a:pt x="4113120" y="2811973"/>
                </a:lnTo>
                <a:lnTo>
                  <a:pt x="4103350" y="2811973"/>
                </a:lnTo>
                <a:lnTo>
                  <a:pt x="4093581" y="2811973"/>
                </a:lnTo>
                <a:lnTo>
                  <a:pt x="4083811" y="2811973"/>
                </a:lnTo>
                <a:lnTo>
                  <a:pt x="4074041" y="2811973"/>
                </a:lnTo>
                <a:lnTo>
                  <a:pt x="4064271" y="2811973"/>
                </a:lnTo>
                <a:lnTo>
                  <a:pt x="4054501" y="2811973"/>
                </a:lnTo>
                <a:lnTo>
                  <a:pt x="4044731" y="2811973"/>
                </a:lnTo>
                <a:lnTo>
                  <a:pt x="4034961" y="2811973"/>
                </a:lnTo>
                <a:lnTo>
                  <a:pt x="4025191" y="2811973"/>
                </a:lnTo>
                <a:lnTo>
                  <a:pt x="4015421" y="2811973"/>
                </a:lnTo>
                <a:lnTo>
                  <a:pt x="4005652" y="2811973"/>
                </a:lnTo>
                <a:lnTo>
                  <a:pt x="3995882" y="2811973"/>
                </a:lnTo>
                <a:lnTo>
                  <a:pt x="3986112" y="2811973"/>
                </a:lnTo>
                <a:lnTo>
                  <a:pt x="3976342" y="2811973"/>
                </a:lnTo>
                <a:lnTo>
                  <a:pt x="3966572" y="2811973"/>
                </a:lnTo>
                <a:lnTo>
                  <a:pt x="3956802" y="2811973"/>
                </a:lnTo>
                <a:lnTo>
                  <a:pt x="3947032" y="2811973"/>
                </a:lnTo>
                <a:lnTo>
                  <a:pt x="3937262" y="2811973"/>
                </a:lnTo>
                <a:lnTo>
                  <a:pt x="3927493" y="2811973"/>
                </a:lnTo>
                <a:lnTo>
                  <a:pt x="3917723" y="2811973"/>
                </a:lnTo>
                <a:lnTo>
                  <a:pt x="3907953" y="2811973"/>
                </a:lnTo>
                <a:lnTo>
                  <a:pt x="3898183" y="2811973"/>
                </a:lnTo>
                <a:lnTo>
                  <a:pt x="3888413" y="2811973"/>
                </a:lnTo>
                <a:lnTo>
                  <a:pt x="3878643" y="2811973"/>
                </a:lnTo>
                <a:lnTo>
                  <a:pt x="3868873" y="2811973"/>
                </a:lnTo>
                <a:lnTo>
                  <a:pt x="3859103" y="2811973"/>
                </a:lnTo>
                <a:lnTo>
                  <a:pt x="3849333" y="2811973"/>
                </a:lnTo>
                <a:lnTo>
                  <a:pt x="3839564" y="2811973"/>
                </a:lnTo>
                <a:lnTo>
                  <a:pt x="3829794" y="2811973"/>
                </a:lnTo>
                <a:lnTo>
                  <a:pt x="3820024" y="2811973"/>
                </a:lnTo>
                <a:lnTo>
                  <a:pt x="3810254" y="2811973"/>
                </a:lnTo>
                <a:lnTo>
                  <a:pt x="3800484" y="2811973"/>
                </a:lnTo>
                <a:lnTo>
                  <a:pt x="3790714" y="2811973"/>
                </a:lnTo>
                <a:lnTo>
                  <a:pt x="3780944" y="2811973"/>
                </a:lnTo>
                <a:lnTo>
                  <a:pt x="3771174" y="2811973"/>
                </a:lnTo>
                <a:lnTo>
                  <a:pt x="3761405" y="2811973"/>
                </a:lnTo>
                <a:lnTo>
                  <a:pt x="3751635" y="2811973"/>
                </a:lnTo>
                <a:lnTo>
                  <a:pt x="3741865" y="2811973"/>
                </a:lnTo>
                <a:lnTo>
                  <a:pt x="3732095" y="2811973"/>
                </a:lnTo>
                <a:lnTo>
                  <a:pt x="3722325" y="2811973"/>
                </a:lnTo>
                <a:lnTo>
                  <a:pt x="3712555" y="2811973"/>
                </a:lnTo>
                <a:lnTo>
                  <a:pt x="3702785" y="2811973"/>
                </a:lnTo>
                <a:lnTo>
                  <a:pt x="3693015" y="2811973"/>
                </a:lnTo>
                <a:lnTo>
                  <a:pt x="3683245" y="2811973"/>
                </a:lnTo>
                <a:lnTo>
                  <a:pt x="3673476" y="2811973"/>
                </a:lnTo>
                <a:lnTo>
                  <a:pt x="3663706" y="2811973"/>
                </a:lnTo>
                <a:lnTo>
                  <a:pt x="3653936" y="2811973"/>
                </a:lnTo>
                <a:lnTo>
                  <a:pt x="3644166" y="2811973"/>
                </a:lnTo>
                <a:lnTo>
                  <a:pt x="3634396" y="2811973"/>
                </a:lnTo>
                <a:lnTo>
                  <a:pt x="3624626" y="2811973"/>
                </a:lnTo>
                <a:lnTo>
                  <a:pt x="3614856" y="2811973"/>
                </a:lnTo>
                <a:lnTo>
                  <a:pt x="3605086" y="2811973"/>
                </a:lnTo>
                <a:lnTo>
                  <a:pt x="3595316" y="2811973"/>
                </a:lnTo>
                <a:lnTo>
                  <a:pt x="3585547" y="2811973"/>
                </a:lnTo>
                <a:lnTo>
                  <a:pt x="3575777" y="2811973"/>
                </a:lnTo>
                <a:lnTo>
                  <a:pt x="3566007" y="2811973"/>
                </a:lnTo>
                <a:lnTo>
                  <a:pt x="3556237" y="2811973"/>
                </a:lnTo>
                <a:lnTo>
                  <a:pt x="3546467" y="2811973"/>
                </a:lnTo>
                <a:lnTo>
                  <a:pt x="3536697" y="2811973"/>
                </a:lnTo>
                <a:lnTo>
                  <a:pt x="3526927" y="2811973"/>
                </a:lnTo>
                <a:lnTo>
                  <a:pt x="3517157" y="2811973"/>
                </a:lnTo>
                <a:lnTo>
                  <a:pt x="3507388" y="2811973"/>
                </a:lnTo>
                <a:lnTo>
                  <a:pt x="3497618" y="2811973"/>
                </a:lnTo>
                <a:lnTo>
                  <a:pt x="3487848" y="2811973"/>
                </a:lnTo>
                <a:lnTo>
                  <a:pt x="3478078" y="2811973"/>
                </a:lnTo>
                <a:lnTo>
                  <a:pt x="3468308" y="2811973"/>
                </a:lnTo>
                <a:lnTo>
                  <a:pt x="3458538" y="2811973"/>
                </a:lnTo>
                <a:lnTo>
                  <a:pt x="3448768" y="2811973"/>
                </a:lnTo>
                <a:lnTo>
                  <a:pt x="3438998" y="2811973"/>
                </a:lnTo>
                <a:lnTo>
                  <a:pt x="3429228" y="2811973"/>
                </a:lnTo>
                <a:lnTo>
                  <a:pt x="3419459" y="2811973"/>
                </a:lnTo>
                <a:lnTo>
                  <a:pt x="3409689" y="2811973"/>
                </a:lnTo>
                <a:lnTo>
                  <a:pt x="3399919" y="2811973"/>
                </a:lnTo>
                <a:lnTo>
                  <a:pt x="3390149" y="2811973"/>
                </a:lnTo>
                <a:lnTo>
                  <a:pt x="3380379" y="2811973"/>
                </a:lnTo>
                <a:lnTo>
                  <a:pt x="3370609" y="2811973"/>
                </a:lnTo>
                <a:lnTo>
                  <a:pt x="3360839" y="2811973"/>
                </a:lnTo>
                <a:lnTo>
                  <a:pt x="3351069" y="2811973"/>
                </a:lnTo>
                <a:lnTo>
                  <a:pt x="3341300" y="2811973"/>
                </a:lnTo>
                <a:lnTo>
                  <a:pt x="3331530" y="2811973"/>
                </a:lnTo>
                <a:lnTo>
                  <a:pt x="3321760" y="2811973"/>
                </a:lnTo>
                <a:lnTo>
                  <a:pt x="3311990" y="2811973"/>
                </a:lnTo>
                <a:lnTo>
                  <a:pt x="3302220" y="2811973"/>
                </a:lnTo>
                <a:lnTo>
                  <a:pt x="3292450" y="2811973"/>
                </a:lnTo>
                <a:lnTo>
                  <a:pt x="3282680" y="2811973"/>
                </a:lnTo>
                <a:lnTo>
                  <a:pt x="3272910" y="2811973"/>
                </a:lnTo>
                <a:lnTo>
                  <a:pt x="3263140" y="2811973"/>
                </a:lnTo>
                <a:lnTo>
                  <a:pt x="3253371" y="2811973"/>
                </a:lnTo>
                <a:lnTo>
                  <a:pt x="3243601" y="2811973"/>
                </a:lnTo>
                <a:lnTo>
                  <a:pt x="3233831" y="2811973"/>
                </a:lnTo>
                <a:lnTo>
                  <a:pt x="3224061" y="2811973"/>
                </a:lnTo>
                <a:lnTo>
                  <a:pt x="3214291" y="2811973"/>
                </a:lnTo>
                <a:lnTo>
                  <a:pt x="3204521" y="2811973"/>
                </a:lnTo>
                <a:lnTo>
                  <a:pt x="3194751" y="2811973"/>
                </a:lnTo>
                <a:lnTo>
                  <a:pt x="3184981" y="2811973"/>
                </a:lnTo>
                <a:lnTo>
                  <a:pt x="3175212" y="2811973"/>
                </a:lnTo>
                <a:lnTo>
                  <a:pt x="3165442" y="2811973"/>
                </a:lnTo>
                <a:lnTo>
                  <a:pt x="3155672" y="2811973"/>
                </a:lnTo>
                <a:lnTo>
                  <a:pt x="3145902" y="2811973"/>
                </a:lnTo>
                <a:lnTo>
                  <a:pt x="3136132" y="2811973"/>
                </a:lnTo>
                <a:lnTo>
                  <a:pt x="3126362" y="2811973"/>
                </a:lnTo>
                <a:lnTo>
                  <a:pt x="3116592" y="2811973"/>
                </a:lnTo>
                <a:lnTo>
                  <a:pt x="3106822" y="2811973"/>
                </a:lnTo>
                <a:lnTo>
                  <a:pt x="3097052" y="2811973"/>
                </a:lnTo>
                <a:lnTo>
                  <a:pt x="3087283" y="2811973"/>
                </a:lnTo>
                <a:lnTo>
                  <a:pt x="3077513" y="2811973"/>
                </a:lnTo>
                <a:lnTo>
                  <a:pt x="3067743" y="2811973"/>
                </a:lnTo>
                <a:lnTo>
                  <a:pt x="3057973" y="2811973"/>
                </a:lnTo>
                <a:lnTo>
                  <a:pt x="3048203" y="2811973"/>
                </a:lnTo>
                <a:lnTo>
                  <a:pt x="3038433" y="2811973"/>
                </a:lnTo>
                <a:lnTo>
                  <a:pt x="3028663" y="2811973"/>
                </a:lnTo>
                <a:lnTo>
                  <a:pt x="3018893" y="2811973"/>
                </a:lnTo>
                <a:lnTo>
                  <a:pt x="3009124" y="2811973"/>
                </a:lnTo>
                <a:lnTo>
                  <a:pt x="2999354" y="2811973"/>
                </a:lnTo>
                <a:lnTo>
                  <a:pt x="2989584" y="2811973"/>
                </a:lnTo>
                <a:lnTo>
                  <a:pt x="2979814" y="2811973"/>
                </a:lnTo>
                <a:lnTo>
                  <a:pt x="2970044" y="2811973"/>
                </a:lnTo>
                <a:lnTo>
                  <a:pt x="2960274" y="2811973"/>
                </a:lnTo>
                <a:lnTo>
                  <a:pt x="2950504" y="2811973"/>
                </a:lnTo>
                <a:lnTo>
                  <a:pt x="2940734" y="2811973"/>
                </a:lnTo>
                <a:lnTo>
                  <a:pt x="2930964" y="2811973"/>
                </a:lnTo>
                <a:lnTo>
                  <a:pt x="2921195" y="2811973"/>
                </a:lnTo>
                <a:lnTo>
                  <a:pt x="2911425" y="2811973"/>
                </a:lnTo>
                <a:lnTo>
                  <a:pt x="2901655" y="2811973"/>
                </a:lnTo>
                <a:lnTo>
                  <a:pt x="2891885" y="2811973"/>
                </a:lnTo>
                <a:lnTo>
                  <a:pt x="2882115" y="2811973"/>
                </a:lnTo>
                <a:lnTo>
                  <a:pt x="2872345" y="2811973"/>
                </a:lnTo>
                <a:lnTo>
                  <a:pt x="2862575" y="2811973"/>
                </a:lnTo>
                <a:lnTo>
                  <a:pt x="2852805" y="2811973"/>
                </a:lnTo>
                <a:lnTo>
                  <a:pt x="2843035" y="2811973"/>
                </a:lnTo>
                <a:lnTo>
                  <a:pt x="2833266" y="2811973"/>
                </a:lnTo>
                <a:lnTo>
                  <a:pt x="2823496" y="2811973"/>
                </a:lnTo>
                <a:lnTo>
                  <a:pt x="2813726" y="2811973"/>
                </a:lnTo>
                <a:lnTo>
                  <a:pt x="2803956" y="2811973"/>
                </a:lnTo>
                <a:lnTo>
                  <a:pt x="2794186" y="2811973"/>
                </a:lnTo>
                <a:lnTo>
                  <a:pt x="2784416" y="2811973"/>
                </a:lnTo>
                <a:lnTo>
                  <a:pt x="2774646" y="2811973"/>
                </a:lnTo>
                <a:lnTo>
                  <a:pt x="2764876" y="2811973"/>
                </a:lnTo>
                <a:lnTo>
                  <a:pt x="2755107" y="2811973"/>
                </a:lnTo>
                <a:lnTo>
                  <a:pt x="2745337" y="2811973"/>
                </a:lnTo>
                <a:lnTo>
                  <a:pt x="2735567" y="2811973"/>
                </a:lnTo>
                <a:lnTo>
                  <a:pt x="2725797" y="2811973"/>
                </a:lnTo>
                <a:lnTo>
                  <a:pt x="2716027" y="2811973"/>
                </a:lnTo>
                <a:lnTo>
                  <a:pt x="2706257" y="2811973"/>
                </a:lnTo>
                <a:lnTo>
                  <a:pt x="2696487" y="2811973"/>
                </a:lnTo>
                <a:lnTo>
                  <a:pt x="2686717" y="2811973"/>
                </a:lnTo>
                <a:lnTo>
                  <a:pt x="2676947" y="2811973"/>
                </a:lnTo>
                <a:lnTo>
                  <a:pt x="2667178" y="2811973"/>
                </a:lnTo>
                <a:lnTo>
                  <a:pt x="2657408" y="2811973"/>
                </a:lnTo>
                <a:lnTo>
                  <a:pt x="2647638" y="2811973"/>
                </a:lnTo>
                <a:lnTo>
                  <a:pt x="2637868" y="2811973"/>
                </a:lnTo>
                <a:lnTo>
                  <a:pt x="2628098" y="2811973"/>
                </a:lnTo>
                <a:lnTo>
                  <a:pt x="2618328" y="2811973"/>
                </a:lnTo>
                <a:lnTo>
                  <a:pt x="2608558" y="2811973"/>
                </a:lnTo>
                <a:lnTo>
                  <a:pt x="2598788" y="2811973"/>
                </a:lnTo>
                <a:lnTo>
                  <a:pt x="2589019" y="2811973"/>
                </a:lnTo>
                <a:lnTo>
                  <a:pt x="2579249" y="2811973"/>
                </a:lnTo>
                <a:lnTo>
                  <a:pt x="2569479" y="2811973"/>
                </a:lnTo>
                <a:lnTo>
                  <a:pt x="2559709" y="2811973"/>
                </a:lnTo>
                <a:lnTo>
                  <a:pt x="2549939" y="2811973"/>
                </a:lnTo>
                <a:lnTo>
                  <a:pt x="2540169" y="2811973"/>
                </a:lnTo>
                <a:lnTo>
                  <a:pt x="2530399" y="2811973"/>
                </a:lnTo>
                <a:lnTo>
                  <a:pt x="2520629" y="2811973"/>
                </a:lnTo>
                <a:lnTo>
                  <a:pt x="2510859" y="2811973"/>
                </a:lnTo>
                <a:lnTo>
                  <a:pt x="2501090" y="2811973"/>
                </a:lnTo>
                <a:lnTo>
                  <a:pt x="2491320" y="2811973"/>
                </a:lnTo>
                <a:lnTo>
                  <a:pt x="2481550" y="2811973"/>
                </a:lnTo>
                <a:lnTo>
                  <a:pt x="2471780" y="2811973"/>
                </a:lnTo>
                <a:lnTo>
                  <a:pt x="2462010" y="2811973"/>
                </a:lnTo>
                <a:lnTo>
                  <a:pt x="2452240" y="2811973"/>
                </a:lnTo>
                <a:lnTo>
                  <a:pt x="2442470" y="2811973"/>
                </a:lnTo>
                <a:lnTo>
                  <a:pt x="2432700" y="2811973"/>
                </a:lnTo>
                <a:lnTo>
                  <a:pt x="2422931" y="2811973"/>
                </a:lnTo>
                <a:lnTo>
                  <a:pt x="2413161" y="2811973"/>
                </a:lnTo>
                <a:lnTo>
                  <a:pt x="2403391" y="2811973"/>
                </a:lnTo>
                <a:lnTo>
                  <a:pt x="2393621" y="2811973"/>
                </a:lnTo>
                <a:lnTo>
                  <a:pt x="2383851" y="2811973"/>
                </a:lnTo>
                <a:lnTo>
                  <a:pt x="2374081" y="2811973"/>
                </a:lnTo>
                <a:lnTo>
                  <a:pt x="2364311" y="2811973"/>
                </a:lnTo>
                <a:lnTo>
                  <a:pt x="2354541" y="2811973"/>
                </a:lnTo>
                <a:lnTo>
                  <a:pt x="2344771" y="2811973"/>
                </a:lnTo>
                <a:lnTo>
                  <a:pt x="2335002" y="2811973"/>
                </a:lnTo>
                <a:lnTo>
                  <a:pt x="2325232" y="2811973"/>
                </a:lnTo>
                <a:lnTo>
                  <a:pt x="2315462" y="2811973"/>
                </a:lnTo>
                <a:lnTo>
                  <a:pt x="2305692" y="2811973"/>
                </a:lnTo>
                <a:lnTo>
                  <a:pt x="2295922" y="2811973"/>
                </a:lnTo>
                <a:lnTo>
                  <a:pt x="2286152" y="2811973"/>
                </a:lnTo>
                <a:lnTo>
                  <a:pt x="2276382" y="2811973"/>
                </a:lnTo>
                <a:lnTo>
                  <a:pt x="2266612" y="2811973"/>
                </a:lnTo>
                <a:lnTo>
                  <a:pt x="2256843" y="2811973"/>
                </a:lnTo>
                <a:lnTo>
                  <a:pt x="2247073" y="2811973"/>
                </a:lnTo>
                <a:lnTo>
                  <a:pt x="2237303" y="2811973"/>
                </a:lnTo>
                <a:lnTo>
                  <a:pt x="2227533" y="2811973"/>
                </a:lnTo>
                <a:lnTo>
                  <a:pt x="2217763" y="2811973"/>
                </a:lnTo>
                <a:lnTo>
                  <a:pt x="2207993" y="2811973"/>
                </a:lnTo>
                <a:lnTo>
                  <a:pt x="2198223" y="2811973"/>
                </a:lnTo>
                <a:lnTo>
                  <a:pt x="2188453" y="2811973"/>
                </a:lnTo>
                <a:lnTo>
                  <a:pt x="2178683" y="2811973"/>
                </a:lnTo>
                <a:lnTo>
                  <a:pt x="2168914" y="2811973"/>
                </a:lnTo>
                <a:lnTo>
                  <a:pt x="2159144" y="2811973"/>
                </a:lnTo>
                <a:lnTo>
                  <a:pt x="2149374" y="2811973"/>
                </a:lnTo>
                <a:lnTo>
                  <a:pt x="2139604" y="2811973"/>
                </a:lnTo>
                <a:lnTo>
                  <a:pt x="2129834" y="2811973"/>
                </a:lnTo>
                <a:lnTo>
                  <a:pt x="2120064" y="2811973"/>
                </a:lnTo>
                <a:lnTo>
                  <a:pt x="2110294" y="2811973"/>
                </a:lnTo>
                <a:lnTo>
                  <a:pt x="2100524" y="2811973"/>
                </a:lnTo>
                <a:lnTo>
                  <a:pt x="2090754" y="2811973"/>
                </a:lnTo>
                <a:lnTo>
                  <a:pt x="2080985" y="2811973"/>
                </a:lnTo>
                <a:lnTo>
                  <a:pt x="2071215" y="2811973"/>
                </a:lnTo>
                <a:lnTo>
                  <a:pt x="2061445" y="2811973"/>
                </a:lnTo>
                <a:lnTo>
                  <a:pt x="2051675" y="2811973"/>
                </a:lnTo>
                <a:lnTo>
                  <a:pt x="2041905" y="2811973"/>
                </a:lnTo>
                <a:lnTo>
                  <a:pt x="2032135" y="2811973"/>
                </a:lnTo>
                <a:lnTo>
                  <a:pt x="2022365" y="2811973"/>
                </a:lnTo>
                <a:lnTo>
                  <a:pt x="2012595" y="2811973"/>
                </a:lnTo>
                <a:lnTo>
                  <a:pt x="2002826" y="2811973"/>
                </a:lnTo>
                <a:lnTo>
                  <a:pt x="1993056" y="2811973"/>
                </a:lnTo>
                <a:lnTo>
                  <a:pt x="1983286" y="2811973"/>
                </a:lnTo>
                <a:lnTo>
                  <a:pt x="1973516" y="2811973"/>
                </a:lnTo>
                <a:lnTo>
                  <a:pt x="1963746" y="2811973"/>
                </a:lnTo>
                <a:lnTo>
                  <a:pt x="1953976" y="2811973"/>
                </a:lnTo>
                <a:lnTo>
                  <a:pt x="1944206" y="2811973"/>
                </a:lnTo>
                <a:lnTo>
                  <a:pt x="1934436" y="2811973"/>
                </a:lnTo>
                <a:lnTo>
                  <a:pt x="1924666" y="2811973"/>
                </a:lnTo>
                <a:lnTo>
                  <a:pt x="1914897" y="2811973"/>
                </a:lnTo>
                <a:lnTo>
                  <a:pt x="1905127" y="2811973"/>
                </a:lnTo>
                <a:lnTo>
                  <a:pt x="1895357" y="2811973"/>
                </a:lnTo>
                <a:lnTo>
                  <a:pt x="1885587" y="2811973"/>
                </a:lnTo>
                <a:lnTo>
                  <a:pt x="1875817" y="2811973"/>
                </a:lnTo>
                <a:lnTo>
                  <a:pt x="1866047" y="2811973"/>
                </a:lnTo>
                <a:lnTo>
                  <a:pt x="1856277" y="2811973"/>
                </a:lnTo>
                <a:lnTo>
                  <a:pt x="1846507" y="2811973"/>
                </a:lnTo>
                <a:lnTo>
                  <a:pt x="1836738" y="2811973"/>
                </a:lnTo>
                <a:lnTo>
                  <a:pt x="1826968" y="2811973"/>
                </a:lnTo>
                <a:lnTo>
                  <a:pt x="1817198" y="2811973"/>
                </a:lnTo>
                <a:lnTo>
                  <a:pt x="1807428" y="2811973"/>
                </a:lnTo>
                <a:lnTo>
                  <a:pt x="1797658" y="2811973"/>
                </a:lnTo>
                <a:lnTo>
                  <a:pt x="1787888" y="2811973"/>
                </a:lnTo>
                <a:lnTo>
                  <a:pt x="1778118" y="2811973"/>
                </a:lnTo>
                <a:lnTo>
                  <a:pt x="1768348" y="2811973"/>
                </a:lnTo>
                <a:lnTo>
                  <a:pt x="1758578" y="2811973"/>
                </a:lnTo>
                <a:lnTo>
                  <a:pt x="1748809" y="2811973"/>
                </a:lnTo>
                <a:lnTo>
                  <a:pt x="1739039" y="2811973"/>
                </a:lnTo>
                <a:lnTo>
                  <a:pt x="1729269" y="2811973"/>
                </a:lnTo>
                <a:lnTo>
                  <a:pt x="1719499" y="2811973"/>
                </a:lnTo>
                <a:lnTo>
                  <a:pt x="1709729" y="2811973"/>
                </a:lnTo>
                <a:lnTo>
                  <a:pt x="1699959" y="2811973"/>
                </a:lnTo>
                <a:lnTo>
                  <a:pt x="1690189" y="2811973"/>
                </a:lnTo>
                <a:lnTo>
                  <a:pt x="1680419" y="2811973"/>
                </a:lnTo>
                <a:lnTo>
                  <a:pt x="1670650" y="2811973"/>
                </a:lnTo>
                <a:lnTo>
                  <a:pt x="1660880" y="2811973"/>
                </a:lnTo>
                <a:lnTo>
                  <a:pt x="1651110" y="2811973"/>
                </a:lnTo>
                <a:lnTo>
                  <a:pt x="1641340" y="2811973"/>
                </a:lnTo>
                <a:lnTo>
                  <a:pt x="1631570" y="2811973"/>
                </a:lnTo>
                <a:lnTo>
                  <a:pt x="1621800" y="2811973"/>
                </a:lnTo>
                <a:lnTo>
                  <a:pt x="1612030" y="2811973"/>
                </a:lnTo>
                <a:lnTo>
                  <a:pt x="1602260" y="2811973"/>
                </a:lnTo>
                <a:lnTo>
                  <a:pt x="1592490" y="2811973"/>
                </a:lnTo>
                <a:lnTo>
                  <a:pt x="1582721" y="2811973"/>
                </a:lnTo>
                <a:lnTo>
                  <a:pt x="1572951" y="2811973"/>
                </a:lnTo>
                <a:lnTo>
                  <a:pt x="1563181" y="2811973"/>
                </a:lnTo>
                <a:lnTo>
                  <a:pt x="1553411" y="2811973"/>
                </a:lnTo>
                <a:lnTo>
                  <a:pt x="1543641" y="2811973"/>
                </a:lnTo>
                <a:lnTo>
                  <a:pt x="1533871" y="2811973"/>
                </a:lnTo>
                <a:lnTo>
                  <a:pt x="1524101" y="2811973"/>
                </a:lnTo>
                <a:lnTo>
                  <a:pt x="1514331" y="2811973"/>
                </a:lnTo>
                <a:lnTo>
                  <a:pt x="1504562" y="2811973"/>
                </a:lnTo>
                <a:lnTo>
                  <a:pt x="1494792" y="2811973"/>
                </a:lnTo>
                <a:lnTo>
                  <a:pt x="1485022" y="2811973"/>
                </a:lnTo>
                <a:lnTo>
                  <a:pt x="1475252" y="2811973"/>
                </a:lnTo>
                <a:lnTo>
                  <a:pt x="1465482" y="2811973"/>
                </a:lnTo>
                <a:lnTo>
                  <a:pt x="1455712" y="2811973"/>
                </a:lnTo>
                <a:lnTo>
                  <a:pt x="1445942" y="2811973"/>
                </a:lnTo>
                <a:lnTo>
                  <a:pt x="1436172" y="2811973"/>
                </a:lnTo>
                <a:lnTo>
                  <a:pt x="1426402" y="2811973"/>
                </a:lnTo>
                <a:lnTo>
                  <a:pt x="1416633" y="2811973"/>
                </a:lnTo>
                <a:lnTo>
                  <a:pt x="1406863" y="2811973"/>
                </a:lnTo>
                <a:lnTo>
                  <a:pt x="1397093" y="2811973"/>
                </a:lnTo>
                <a:lnTo>
                  <a:pt x="1387323" y="2811973"/>
                </a:lnTo>
                <a:lnTo>
                  <a:pt x="1377553" y="2811973"/>
                </a:lnTo>
                <a:lnTo>
                  <a:pt x="1367783" y="2811973"/>
                </a:lnTo>
                <a:lnTo>
                  <a:pt x="1358013" y="2811973"/>
                </a:lnTo>
                <a:lnTo>
                  <a:pt x="1348243" y="2811973"/>
                </a:lnTo>
                <a:lnTo>
                  <a:pt x="1338473" y="2811973"/>
                </a:lnTo>
                <a:lnTo>
                  <a:pt x="1328704" y="2811973"/>
                </a:lnTo>
                <a:lnTo>
                  <a:pt x="1318934" y="2811973"/>
                </a:lnTo>
                <a:lnTo>
                  <a:pt x="1309164" y="2811973"/>
                </a:lnTo>
                <a:lnTo>
                  <a:pt x="1299394" y="2811973"/>
                </a:lnTo>
                <a:lnTo>
                  <a:pt x="1289624" y="2811973"/>
                </a:lnTo>
                <a:lnTo>
                  <a:pt x="1279854" y="2811973"/>
                </a:lnTo>
                <a:lnTo>
                  <a:pt x="1270084" y="2811973"/>
                </a:lnTo>
                <a:lnTo>
                  <a:pt x="1260314" y="2811973"/>
                </a:lnTo>
                <a:lnTo>
                  <a:pt x="1250545" y="2811973"/>
                </a:lnTo>
                <a:lnTo>
                  <a:pt x="1240775" y="2811973"/>
                </a:lnTo>
                <a:lnTo>
                  <a:pt x="1231005" y="2811973"/>
                </a:lnTo>
                <a:lnTo>
                  <a:pt x="1221235" y="2811973"/>
                </a:lnTo>
                <a:lnTo>
                  <a:pt x="1211465" y="2811973"/>
                </a:lnTo>
                <a:lnTo>
                  <a:pt x="1201695" y="2811973"/>
                </a:lnTo>
                <a:lnTo>
                  <a:pt x="1191925" y="2811973"/>
                </a:lnTo>
                <a:lnTo>
                  <a:pt x="1182155" y="2811973"/>
                </a:lnTo>
                <a:lnTo>
                  <a:pt x="1172385" y="2811973"/>
                </a:lnTo>
                <a:lnTo>
                  <a:pt x="1162616" y="2811973"/>
                </a:lnTo>
                <a:lnTo>
                  <a:pt x="1152846" y="2811973"/>
                </a:lnTo>
                <a:lnTo>
                  <a:pt x="1143076" y="2811973"/>
                </a:lnTo>
                <a:lnTo>
                  <a:pt x="1133306" y="2811973"/>
                </a:lnTo>
                <a:lnTo>
                  <a:pt x="1123536" y="2811973"/>
                </a:lnTo>
                <a:lnTo>
                  <a:pt x="1113766" y="2811973"/>
                </a:lnTo>
                <a:lnTo>
                  <a:pt x="1103996" y="2811973"/>
                </a:lnTo>
                <a:lnTo>
                  <a:pt x="1094226" y="2811973"/>
                </a:lnTo>
                <a:lnTo>
                  <a:pt x="1084457" y="2811973"/>
                </a:lnTo>
                <a:lnTo>
                  <a:pt x="1074687" y="2811973"/>
                </a:lnTo>
                <a:lnTo>
                  <a:pt x="1064917" y="2811973"/>
                </a:lnTo>
                <a:lnTo>
                  <a:pt x="1055147" y="2811973"/>
                </a:lnTo>
                <a:lnTo>
                  <a:pt x="1045377" y="2811973"/>
                </a:lnTo>
                <a:lnTo>
                  <a:pt x="1035607" y="2811973"/>
                </a:lnTo>
                <a:lnTo>
                  <a:pt x="1025837" y="2811973"/>
                </a:lnTo>
                <a:lnTo>
                  <a:pt x="1016067" y="2811973"/>
                </a:lnTo>
                <a:lnTo>
                  <a:pt x="1006297" y="2811973"/>
                </a:lnTo>
                <a:lnTo>
                  <a:pt x="996528" y="2811973"/>
                </a:lnTo>
                <a:lnTo>
                  <a:pt x="986758" y="2811973"/>
                </a:lnTo>
                <a:lnTo>
                  <a:pt x="976988" y="2811973"/>
                </a:lnTo>
                <a:lnTo>
                  <a:pt x="967218" y="2811973"/>
                </a:lnTo>
                <a:lnTo>
                  <a:pt x="957448" y="2811973"/>
                </a:lnTo>
                <a:lnTo>
                  <a:pt x="947678" y="2811973"/>
                </a:lnTo>
                <a:lnTo>
                  <a:pt x="937908" y="2811973"/>
                </a:lnTo>
                <a:lnTo>
                  <a:pt x="928138" y="2811973"/>
                </a:lnTo>
                <a:lnTo>
                  <a:pt x="918369" y="2811973"/>
                </a:lnTo>
                <a:lnTo>
                  <a:pt x="908599" y="2811973"/>
                </a:lnTo>
                <a:lnTo>
                  <a:pt x="898829" y="2811973"/>
                </a:lnTo>
                <a:lnTo>
                  <a:pt x="889059" y="2811973"/>
                </a:lnTo>
                <a:lnTo>
                  <a:pt x="879289" y="2811973"/>
                </a:lnTo>
                <a:lnTo>
                  <a:pt x="869519" y="2811973"/>
                </a:lnTo>
                <a:lnTo>
                  <a:pt x="859749" y="2811973"/>
                </a:lnTo>
                <a:lnTo>
                  <a:pt x="849979" y="2811973"/>
                </a:lnTo>
                <a:lnTo>
                  <a:pt x="840209" y="2811973"/>
                </a:lnTo>
                <a:lnTo>
                  <a:pt x="830440" y="2811973"/>
                </a:lnTo>
                <a:lnTo>
                  <a:pt x="820670" y="2811973"/>
                </a:lnTo>
                <a:lnTo>
                  <a:pt x="810900" y="2811973"/>
                </a:lnTo>
                <a:lnTo>
                  <a:pt x="801130" y="2811973"/>
                </a:lnTo>
                <a:lnTo>
                  <a:pt x="791360" y="2811973"/>
                </a:lnTo>
                <a:lnTo>
                  <a:pt x="781590" y="2811973"/>
                </a:lnTo>
                <a:lnTo>
                  <a:pt x="771820" y="2811973"/>
                </a:lnTo>
                <a:lnTo>
                  <a:pt x="762050" y="2811973"/>
                </a:lnTo>
                <a:lnTo>
                  <a:pt x="752281" y="2811973"/>
                </a:lnTo>
                <a:lnTo>
                  <a:pt x="742511" y="2811973"/>
                </a:lnTo>
                <a:lnTo>
                  <a:pt x="732741" y="2811973"/>
                </a:lnTo>
                <a:lnTo>
                  <a:pt x="722971" y="2811973"/>
                </a:lnTo>
                <a:lnTo>
                  <a:pt x="713201" y="2811973"/>
                </a:lnTo>
                <a:lnTo>
                  <a:pt x="703431" y="2811973"/>
                </a:lnTo>
                <a:lnTo>
                  <a:pt x="693661" y="2811973"/>
                </a:lnTo>
                <a:lnTo>
                  <a:pt x="683891" y="2811973"/>
                </a:lnTo>
                <a:lnTo>
                  <a:pt x="674121" y="2811973"/>
                </a:lnTo>
                <a:lnTo>
                  <a:pt x="664352" y="2811973"/>
                </a:lnTo>
                <a:lnTo>
                  <a:pt x="654582" y="2811973"/>
                </a:lnTo>
                <a:lnTo>
                  <a:pt x="644812" y="2811973"/>
                </a:lnTo>
                <a:lnTo>
                  <a:pt x="635042" y="2811973"/>
                </a:lnTo>
                <a:lnTo>
                  <a:pt x="625272" y="2811973"/>
                </a:lnTo>
                <a:lnTo>
                  <a:pt x="615502" y="2811973"/>
                </a:lnTo>
                <a:lnTo>
                  <a:pt x="605732" y="2811973"/>
                </a:lnTo>
                <a:lnTo>
                  <a:pt x="595962" y="2811973"/>
                </a:lnTo>
                <a:lnTo>
                  <a:pt x="586192" y="2811973"/>
                </a:lnTo>
                <a:lnTo>
                  <a:pt x="576423" y="2811973"/>
                </a:lnTo>
                <a:lnTo>
                  <a:pt x="566653" y="2811973"/>
                </a:lnTo>
                <a:lnTo>
                  <a:pt x="556883" y="2811973"/>
                </a:lnTo>
                <a:lnTo>
                  <a:pt x="547113" y="2811973"/>
                </a:lnTo>
                <a:lnTo>
                  <a:pt x="537343" y="2811973"/>
                </a:lnTo>
                <a:lnTo>
                  <a:pt x="527573" y="2811973"/>
                </a:lnTo>
                <a:lnTo>
                  <a:pt x="517803" y="2811973"/>
                </a:lnTo>
                <a:lnTo>
                  <a:pt x="508033" y="2811973"/>
                </a:lnTo>
                <a:lnTo>
                  <a:pt x="498264" y="2811973"/>
                </a:lnTo>
                <a:lnTo>
                  <a:pt x="488494" y="2811973"/>
                </a:lnTo>
                <a:lnTo>
                  <a:pt x="478724" y="2811973"/>
                </a:lnTo>
                <a:lnTo>
                  <a:pt x="468954" y="2811973"/>
                </a:lnTo>
                <a:lnTo>
                  <a:pt x="459184" y="2811973"/>
                </a:lnTo>
                <a:lnTo>
                  <a:pt x="449414" y="2811973"/>
                </a:lnTo>
                <a:lnTo>
                  <a:pt x="439644" y="2811973"/>
                </a:lnTo>
                <a:lnTo>
                  <a:pt x="429874" y="2811973"/>
                </a:lnTo>
                <a:lnTo>
                  <a:pt x="420104" y="2811973"/>
                </a:lnTo>
                <a:lnTo>
                  <a:pt x="410335" y="2811973"/>
                </a:lnTo>
                <a:lnTo>
                  <a:pt x="400565" y="2811973"/>
                </a:lnTo>
                <a:lnTo>
                  <a:pt x="390795" y="2811973"/>
                </a:lnTo>
                <a:lnTo>
                  <a:pt x="381025" y="2811973"/>
                </a:lnTo>
                <a:lnTo>
                  <a:pt x="371255" y="2811973"/>
                </a:lnTo>
                <a:lnTo>
                  <a:pt x="361485" y="2811973"/>
                </a:lnTo>
                <a:lnTo>
                  <a:pt x="351715" y="2811973"/>
                </a:lnTo>
                <a:lnTo>
                  <a:pt x="341945" y="2811973"/>
                </a:lnTo>
                <a:lnTo>
                  <a:pt x="332176" y="2811973"/>
                </a:lnTo>
                <a:lnTo>
                  <a:pt x="322406" y="2811973"/>
                </a:lnTo>
                <a:lnTo>
                  <a:pt x="312636" y="2811973"/>
                </a:lnTo>
                <a:lnTo>
                  <a:pt x="302866" y="2811973"/>
                </a:lnTo>
                <a:lnTo>
                  <a:pt x="293096" y="2811973"/>
                </a:lnTo>
                <a:lnTo>
                  <a:pt x="283326" y="2811973"/>
                </a:lnTo>
                <a:lnTo>
                  <a:pt x="273556" y="2811973"/>
                </a:lnTo>
                <a:lnTo>
                  <a:pt x="263786" y="2811973"/>
                </a:lnTo>
                <a:lnTo>
                  <a:pt x="254016" y="2811973"/>
                </a:lnTo>
                <a:lnTo>
                  <a:pt x="244247" y="2811973"/>
                </a:lnTo>
                <a:lnTo>
                  <a:pt x="234477" y="2811973"/>
                </a:lnTo>
                <a:lnTo>
                  <a:pt x="224707" y="2811973"/>
                </a:lnTo>
                <a:lnTo>
                  <a:pt x="214937" y="2811973"/>
                </a:lnTo>
                <a:lnTo>
                  <a:pt x="205167" y="2811973"/>
                </a:lnTo>
                <a:lnTo>
                  <a:pt x="195397" y="2811973"/>
                </a:lnTo>
                <a:lnTo>
                  <a:pt x="185627" y="2811973"/>
                </a:lnTo>
                <a:lnTo>
                  <a:pt x="175857" y="2811973"/>
                </a:lnTo>
                <a:lnTo>
                  <a:pt x="166088" y="2811973"/>
                </a:lnTo>
                <a:lnTo>
                  <a:pt x="156318" y="2811973"/>
                </a:lnTo>
                <a:lnTo>
                  <a:pt x="146548" y="2811973"/>
                </a:lnTo>
                <a:lnTo>
                  <a:pt x="136778" y="2811973"/>
                </a:lnTo>
                <a:lnTo>
                  <a:pt x="127008" y="2811973"/>
                </a:lnTo>
                <a:lnTo>
                  <a:pt x="117238" y="2811973"/>
                </a:lnTo>
                <a:lnTo>
                  <a:pt x="107468" y="2811973"/>
                </a:lnTo>
                <a:lnTo>
                  <a:pt x="97698" y="2811973"/>
                </a:lnTo>
                <a:lnTo>
                  <a:pt x="87928" y="2811973"/>
                </a:lnTo>
                <a:lnTo>
                  <a:pt x="78159" y="2811973"/>
                </a:lnTo>
                <a:lnTo>
                  <a:pt x="68389" y="2811973"/>
                </a:lnTo>
                <a:lnTo>
                  <a:pt x="58619" y="2811973"/>
                </a:lnTo>
                <a:lnTo>
                  <a:pt x="48849" y="2811973"/>
                </a:lnTo>
                <a:lnTo>
                  <a:pt x="39079" y="2811973"/>
                </a:lnTo>
                <a:lnTo>
                  <a:pt x="29309" y="2811973"/>
                </a:lnTo>
                <a:lnTo>
                  <a:pt x="19539" y="2811973"/>
                </a:lnTo>
                <a:lnTo>
                  <a:pt x="9769" y="2811973"/>
                </a:lnTo>
                <a:lnTo>
                  <a:pt x="0" y="2811973"/>
                </a:lnTo>
                <a:close/>
              </a:path>
            </a:pathLst>
          </a:custGeom>
          <a:solidFill>
            <a:srgbClr val="8EDBD4">
              <a:alpha val="30000"/>
            </a:srgbClr>
          </a:solidFill>
          <a:ln w="10160">
            <a:solidFill>
              <a:srgbClr val="8EDBD4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4-E26 polygon 22" descr="sci-ppt:o022"/>
          <p:cNvSpPr/>
          <p:nvPr/>
        </p:nvSpPr>
        <p:spPr>
          <a:xfrm>
            <a:off x="914400" y="2224533"/>
            <a:ext cx="5852160" cy="2804667"/>
          </a:xfrm>
          <a:custGeom>
            <a:avLst/>
            <a:gdLst/>
            <a:ahLst/>
            <a:cxnLst/>
            <a:rect l="l" t="t" r="r" b="b"/>
            <a:pathLst>
              <a:path w="5852160" h="2804667">
                <a:moveTo>
                  <a:pt x="0" y="2804667"/>
                </a:moveTo>
                <a:lnTo>
                  <a:pt x="39079" y="2541631"/>
                </a:lnTo>
                <a:lnTo>
                  <a:pt x="78159" y="2278596"/>
                </a:lnTo>
                <a:lnTo>
                  <a:pt x="117238" y="2015561"/>
                </a:lnTo>
                <a:lnTo>
                  <a:pt x="156318" y="1752525"/>
                </a:lnTo>
                <a:lnTo>
                  <a:pt x="195397" y="1489490"/>
                </a:lnTo>
                <a:lnTo>
                  <a:pt x="234477" y="1226455"/>
                </a:lnTo>
                <a:lnTo>
                  <a:pt x="273556" y="963419"/>
                </a:lnTo>
                <a:lnTo>
                  <a:pt x="312636" y="700384"/>
                </a:lnTo>
                <a:lnTo>
                  <a:pt x="351715" y="437349"/>
                </a:lnTo>
                <a:lnTo>
                  <a:pt x="390795" y="174313"/>
                </a:lnTo>
                <a:lnTo>
                  <a:pt x="429874" y="0"/>
                </a:lnTo>
                <a:lnTo>
                  <a:pt x="468954" y="29226"/>
                </a:lnTo>
                <a:lnTo>
                  <a:pt x="508033" y="58453"/>
                </a:lnTo>
                <a:lnTo>
                  <a:pt x="547113" y="87679"/>
                </a:lnTo>
                <a:lnTo>
                  <a:pt x="586192" y="116905"/>
                </a:lnTo>
                <a:lnTo>
                  <a:pt x="625272" y="146131"/>
                </a:lnTo>
                <a:lnTo>
                  <a:pt x="664352" y="175357"/>
                </a:lnTo>
                <a:lnTo>
                  <a:pt x="703431" y="204583"/>
                </a:lnTo>
                <a:lnTo>
                  <a:pt x="742511" y="233809"/>
                </a:lnTo>
                <a:lnTo>
                  <a:pt x="781590" y="263036"/>
                </a:lnTo>
                <a:lnTo>
                  <a:pt x="820670" y="292262"/>
                </a:lnTo>
                <a:lnTo>
                  <a:pt x="859749" y="321488"/>
                </a:lnTo>
                <a:lnTo>
                  <a:pt x="898829" y="350714"/>
                </a:lnTo>
                <a:lnTo>
                  <a:pt x="937908" y="379940"/>
                </a:lnTo>
                <a:lnTo>
                  <a:pt x="976988" y="409166"/>
                </a:lnTo>
                <a:lnTo>
                  <a:pt x="1016067" y="438392"/>
                </a:lnTo>
                <a:lnTo>
                  <a:pt x="1055147" y="467619"/>
                </a:lnTo>
                <a:lnTo>
                  <a:pt x="1094226" y="496845"/>
                </a:lnTo>
                <a:lnTo>
                  <a:pt x="1133306" y="526071"/>
                </a:lnTo>
                <a:lnTo>
                  <a:pt x="1172385" y="555297"/>
                </a:lnTo>
                <a:lnTo>
                  <a:pt x="1211465" y="584523"/>
                </a:lnTo>
                <a:lnTo>
                  <a:pt x="1250545" y="613749"/>
                </a:lnTo>
                <a:lnTo>
                  <a:pt x="1289624" y="642975"/>
                </a:lnTo>
                <a:lnTo>
                  <a:pt x="1328704" y="672202"/>
                </a:lnTo>
                <a:lnTo>
                  <a:pt x="1367783" y="701428"/>
                </a:lnTo>
                <a:lnTo>
                  <a:pt x="1406863" y="730654"/>
                </a:lnTo>
                <a:lnTo>
                  <a:pt x="1445942" y="759880"/>
                </a:lnTo>
                <a:lnTo>
                  <a:pt x="1485022" y="789106"/>
                </a:lnTo>
                <a:lnTo>
                  <a:pt x="1524101" y="818332"/>
                </a:lnTo>
                <a:lnTo>
                  <a:pt x="1563181" y="847558"/>
                </a:lnTo>
                <a:lnTo>
                  <a:pt x="1602260" y="876785"/>
                </a:lnTo>
                <a:lnTo>
                  <a:pt x="1641340" y="906011"/>
                </a:lnTo>
                <a:lnTo>
                  <a:pt x="1680419" y="935237"/>
                </a:lnTo>
                <a:lnTo>
                  <a:pt x="1719499" y="964463"/>
                </a:lnTo>
                <a:lnTo>
                  <a:pt x="1758578" y="993689"/>
                </a:lnTo>
                <a:lnTo>
                  <a:pt x="1797658" y="1022915"/>
                </a:lnTo>
                <a:lnTo>
                  <a:pt x="1836738" y="1052142"/>
                </a:lnTo>
                <a:lnTo>
                  <a:pt x="1875817" y="1081368"/>
                </a:lnTo>
                <a:lnTo>
                  <a:pt x="1914897" y="1110594"/>
                </a:lnTo>
                <a:lnTo>
                  <a:pt x="1953976" y="1139820"/>
                </a:lnTo>
                <a:lnTo>
                  <a:pt x="1993056" y="1169046"/>
                </a:lnTo>
                <a:lnTo>
                  <a:pt x="2032135" y="1198272"/>
                </a:lnTo>
                <a:lnTo>
                  <a:pt x="2071215" y="1227498"/>
                </a:lnTo>
                <a:lnTo>
                  <a:pt x="2110294" y="1256725"/>
                </a:lnTo>
                <a:lnTo>
                  <a:pt x="2149374" y="1285951"/>
                </a:lnTo>
                <a:lnTo>
                  <a:pt x="2188453" y="1315177"/>
                </a:lnTo>
                <a:lnTo>
                  <a:pt x="2227533" y="1344403"/>
                </a:lnTo>
                <a:lnTo>
                  <a:pt x="2266612" y="1373629"/>
                </a:lnTo>
                <a:lnTo>
                  <a:pt x="2305692" y="1402855"/>
                </a:lnTo>
                <a:lnTo>
                  <a:pt x="2344771" y="1432081"/>
                </a:lnTo>
                <a:lnTo>
                  <a:pt x="2383851" y="1461308"/>
                </a:lnTo>
                <a:lnTo>
                  <a:pt x="2422931" y="1490534"/>
                </a:lnTo>
                <a:lnTo>
                  <a:pt x="2462010" y="1519760"/>
                </a:lnTo>
                <a:lnTo>
                  <a:pt x="2501090" y="1548986"/>
                </a:lnTo>
                <a:lnTo>
                  <a:pt x="2540169" y="1578212"/>
                </a:lnTo>
                <a:lnTo>
                  <a:pt x="2579249" y="1607438"/>
                </a:lnTo>
                <a:lnTo>
                  <a:pt x="2618328" y="1636664"/>
                </a:lnTo>
                <a:lnTo>
                  <a:pt x="2657408" y="1665891"/>
                </a:lnTo>
                <a:lnTo>
                  <a:pt x="2696487" y="1695117"/>
                </a:lnTo>
                <a:lnTo>
                  <a:pt x="2735567" y="1724343"/>
                </a:lnTo>
                <a:lnTo>
                  <a:pt x="2774646" y="1753569"/>
                </a:lnTo>
                <a:lnTo>
                  <a:pt x="2813726" y="1782795"/>
                </a:lnTo>
                <a:lnTo>
                  <a:pt x="2852805" y="1812021"/>
                </a:lnTo>
                <a:lnTo>
                  <a:pt x="2891885" y="1841247"/>
                </a:lnTo>
                <a:lnTo>
                  <a:pt x="2930964" y="1870474"/>
                </a:lnTo>
                <a:lnTo>
                  <a:pt x="2970044" y="1899700"/>
                </a:lnTo>
                <a:lnTo>
                  <a:pt x="3009124" y="1928926"/>
                </a:lnTo>
                <a:lnTo>
                  <a:pt x="3048203" y="1958152"/>
                </a:lnTo>
                <a:lnTo>
                  <a:pt x="3087283" y="1987378"/>
                </a:lnTo>
                <a:lnTo>
                  <a:pt x="3126362" y="2016604"/>
                </a:lnTo>
                <a:lnTo>
                  <a:pt x="3165442" y="2045830"/>
                </a:lnTo>
                <a:lnTo>
                  <a:pt x="3204521" y="2075057"/>
                </a:lnTo>
                <a:lnTo>
                  <a:pt x="3243601" y="2104283"/>
                </a:lnTo>
                <a:lnTo>
                  <a:pt x="3282680" y="2133509"/>
                </a:lnTo>
                <a:lnTo>
                  <a:pt x="3321760" y="2162735"/>
                </a:lnTo>
                <a:lnTo>
                  <a:pt x="3360839" y="2191961"/>
                </a:lnTo>
                <a:lnTo>
                  <a:pt x="3399919" y="2221187"/>
                </a:lnTo>
                <a:lnTo>
                  <a:pt x="3438998" y="2250414"/>
                </a:lnTo>
                <a:lnTo>
                  <a:pt x="3478078" y="2279640"/>
                </a:lnTo>
                <a:lnTo>
                  <a:pt x="3517157" y="2308866"/>
                </a:lnTo>
                <a:lnTo>
                  <a:pt x="3556237" y="2338092"/>
                </a:lnTo>
                <a:lnTo>
                  <a:pt x="3595316" y="2367318"/>
                </a:lnTo>
                <a:lnTo>
                  <a:pt x="3634396" y="2396544"/>
                </a:lnTo>
                <a:lnTo>
                  <a:pt x="3673476" y="2425770"/>
                </a:lnTo>
                <a:lnTo>
                  <a:pt x="3712555" y="2454997"/>
                </a:lnTo>
                <a:lnTo>
                  <a:pt x="3751635" y="2484223"/>
                </a:lnTo>
                <a:lnTo>
                  <a:pt x="3790714" y="2513449"/>
                </a:lnTo>
                <a:lnTo>
                  <a:pt x="3829794" y="2542675"/>
                </a:lnTo>
                <a:lnTo>
                  <a:pt x="3868873" y="2571901"/>
                </a:lnTo>
                <a:lnTo>
                  <a:pt x="3907953" y="2601127"/>
                </a:lnTo>
                <a:lnTo>
                  <a:pt x="3947032" y="2630353"/>
                </a:lnTo>
                <a:lnTo>
                  <a:pt x="3986112" y="2659580"/>
                </a:lnTo>
                <a:lnTo>
                  <a:pt x="4025191" y="2688806"/>
                </a:lnTo>
                <a:lnTo>
                  <a:pt x="4064271" y="2718032"/>
                </a:lnTo>
                <a:lnTo>
                  <a:pt x="4103350" y="2747258"/>
                </a:lnTo>
                <a:lnTo>
                  <a:pt x="4142430" y="2776484"/>
                </a:lnTo>
                <a:lnTo>
                  <a:pt x="4181509" y="2804667"/>
                </a:lnTo>
                <a:lnTo>
                  <a:pt x="4220589" y="2804667"/>
                </a:lnTo>
                <a:lnTo>
                  <a:pt x="4259669" y="2804667"/>
                </a:lnTo>
                <a:lnTo>
                  <a:pt x="4298748" y="2804667"/>
                </a:lnTo>
                <a:lnTo>
                  <a:pt x="4337828" y="2804667"/>
                </a:lnTo>
                <a:lnTo>
                  <a:pt x="4376907" y="2804667"/>
                </a:lnTo>
                <a:lnTo>
                  <a:pt x="4415987" y="2804667"/>
                </a:lnTo>
                <a:lnTo>
                  <a:pt x="4455066" y="2804667"/>
                </a:lnTo>
                <a:lnTo>
                  <a:pt x="4494146" y="2804667"/>
                </a:lnTo>
                <a:lnTo>
                  <a:pt x="4533225" y="2804667"/>
                </a:lnTo>
                <a:lnTo>
                  <a:pt x="4572305" y="2804667"/>
                </a:lnTo>
                <a:lnTo>
                  <a:pt x="4611384" y="2804667"/>
                </a:lnTo>
                <a:lnTo>
                  <a:pt x="4650464" y="2804667"/>
                </a:lnTo>
                <a:lnTo>
                  <a:pt x="4689543" y="2804667"/>
                </a:lnTo>
                <a:lnTo>
                  <a:pt x="4728623" y="2804667"/>
                </a:lnTo>
                <a:lnTo>
                  <a:pt x="4767702" y="2804667"/>
                </a:lnTo>
                <a:lnTo>
                  <a:pt x="4806782" y="2804667"/>
                </a:lnTo>
                <a:lnTo>
                  <a:pt x="4845862" y="2804667"/>
                </a:lnTo>
                <a:lnTo>
                  <a:pt x="4884941" y="2804667"/>
                </a:lnTo>
                <a:lnTo>
                  <a:pt x="4924021" y="2804667"/>
                </a:lnTo>
                <a:lnTo>
                  <a:pt x="4963100" y="2804667"/>
                </a:lnTo>
                <a:lnTo>
                  <a:pt x="5002180" y="2804667"/>
                </a:lnTo>
                <a:lnTo>
                  <a:pt x="5041259" y="2804667"/>
                </a:lnTo>
                <a:lnTo>
                  <a:pt x="5080339" y="2804667"/>
                </a:lnTo>
                <a:lnTo>
                  <a:pt x="5119418" y="2804667"/>
                </a:lnTo>
                <a:lnTo>
                  <a:pt x="5158498" y="2804667"/>
                </a:lnTo>
                <a:lnTo>
                  <a:pt x="5197577" y="2804667"/>
                </a:lnTo>
                <a:lnTo>
                  <a:pt x="5236657" y="2804667"/>
                </a:lnTo>
                <a:lnTo>
                  <a:pt x="5275736" y="2804667"/>
                </a:lnTo>
                <a:lnTo>
                  <a:pt x="5314816" y="2804667"/>
                </a:lnTo>
                <a:lnTo>
                  <a:pt x="5353895" y="2804667"/>
                </a:lnTo>
                <a:lnTo>
                  <a:pt x="5392975" y="2804667"/>
                </a:lnTo>
                <a:lnTo>
                  <a:pt x="5432055" y="2804667"/>
                </a:lnTo>
                <a:lnTo>
                  <a:pt x="5471134" y="2804667"/>
                </a:lnTo>
                <a:lnTo>
                  <a:pt x="5510214" y="2804667"/>
                </a:lnTo>
                <a:lnTo>
                  <a:pt x="5549293" y="2804667"/>
                </a:lnTo>
                <a:lnTo>
                  <a:pt x="5588373" y="2804667"/>
                </a:lnTo>
                <a:lnTo>
                  <a:pt x="5627452" y="2804667"/>
                </a:lnTo>
                <a:lnTo>
                  <a:pt x="5666532" y="2804667"/>
                </a:lnTo>
                <a:lnTo>
                  <a:pt x="5705611" y="2804667"/>
                </a:lnTo>
                <a:lnTo>
                  <a:pt x="5744691" y="2804667"/>
                </a:lnTo>
                <a:lnTo>
                  <a:pt x="5783770" y="2804667"/>
                </a:lnTo>
                <a:lnTo>
                  <a:pt x="5822850" y="2804667"/>
                </a:lnTo>
                <a:lnTo>
                  <a:pt x="5852160" y="2804667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4-E26 polygon 23" descr="sci-ppt:o023"/>
          <p:cNvSpPr/>
          <p:nvPr/>
        </p:nvSpPr>
        <p:spPr>
          <a:xfrm>
            <a:off x="914400" y="2267329"/>
            <a:ext cx="410335" cy="2761871"/>
          </a:xfrm>
          <a:custGeom>
            <a:avLst/>
            <a:gdLst/>
            <a:ahLst/>
            <a:cxnLst/>
            <a:rect l="l" t="t" r="r" b="b"/>
            <a:pathLst>
              <a:path w="410335" h="2761871">
                <a:moveTo>
                  <a:pt x="0" y="2761871"/>
                </a:moveTo>
                <a:lnTo>
                  <a:pt x="9769" y="2696112"/>
                </a:lnTo>
                <a:lnTo>
                  <a:pt x="19539" y="2630353"/>
                </a:lnTo>
                <a:lnTo>
                  <a:pt x="29309" y="2564594"/>
                </a:lnTo>
                <a:lnTo>
                  <a:pt x="39079" y="2498835"/>
                </a:lnTo>
                <a:lnTo>
                  <a:pt x="48849" y="2433076"/>
                </a:lnTo>
                <a:lnTo>
                  <a:pt x="58619" y="2367318"/>
                </a:lnTo>
                <a:lnTo>
                  <a:pt x="68389" y="2301559"/>
                </a:lnTo>
                <a:lnTo>
                  <a:pt x="78159" y="2235800"/>
                </a:lnTo>
                <a:lnTo>
                  <a:pt x="87928" y="2170041"/>
                </a:lnTo>
                <a:lnTo>
                  <a:pt x="97698" y="2104282"/>
                </a:lnTo>
                <a:lnTo>
                  <a:pt x="107468" y="2038523"/>
                </a:lnTo>
                <a:lnTo>
                  <a:pt x="117238" y="1972765"/>
                </a:lnTo>
                <a:lnTo>
                  <a:pt x="127008" y="1907006"/>
                </a:lnTo>
                <a:lnTo>
                  <a:pt x="136778" y="1841247"/>
                </a:lnTo>
                <a:lnTo>
                  <a:pt x="146548" y="1775488"/>
                </a:lnTo>
                <a:lnTo>
                  <a:pt x="156318" y="1709729"/>
                </a:lnTo>
                <a:lnTo>
                  <a:pt x="166088" y="1643970"/>
                </a:lnTo>
                <a:lnTo>
                  <a:pt x="175857" y="1578212"/>
                </a:lnTo>
                <a:lnTo>
                  <a:pt x="185627" y="1512453"/>
                </a:lnTo>
                <a:lnTo>
                  <a:pt x="195397" y="1446694"/>
                </a:lnTo>
                <a:lnTo>
                  <a:pt x="205167" y="1380935"/>
                </a:lnTo>
                <a:lnTo>
                  <a:pt x="214937" y="1315176"/>
                </a:lnTo>
                <a:lnTo>
                  <a:pt x="224707" y="1249417"/>
                </a:lnTo>
                <a:lnTo>
                  <a:pt x="234477" y="1183659"/>
                </a:lnTo>
                <a:lnTo>
                  <a:pt x="244247" y="1117900"/>
                </a:lnTo>
                <a:lnTo>
                  <a:pt x="254016" y="1052141"/>
                </a:lnTo>
                <a:lnTo>
                  <a:pt x="263786" y="986382"/>
                </a:lnTo>
                <a:lnTo>
                  <a:pt x="273556" y="920623"/>
                </a:lnTo>
                <a:lnTo>
                  <a:pt x="283326" y="854864"/>
                </a:lnTo>
                <a:lnTo>
                  <a:pt x="293096" y="789106"/>
                </a:lnTo>
                <a:lnTo>
                  <a:pt x="302866" y="723347"/>
                </a:lnTo>
                <a:lnTo>
                  <a:pt x="312636" y="657588"/>
                </a:lnTo>
                <a:lnTo>
                  <a:pt x="322406" y="591829"/>
                </a:lnTo>
                <a:lnTo>
                  <a:pt x="332176" y="526070"/>
                </a:lnTo>
                <a:lnTo>
                  <a:pt x="341945" y="460311"/>
                </a:lnTo>
                <a:lnTo>
                  <a:pt x="351715" y="394553"/>
                </a:lnTo>
                <a:lnTo>
                  <a:pt x="361485" y="328794"/>
                </a:lnTo>
                <a:lnTo>
                  <a:pt x="371255" y="263035"/>
                </a:lnTo>
                <a:lnTo>
                  <a:pt x="381025" y="197276"/>
                </a:lnTo>
                <a:lnTo>
                  <a:pt x="390795" y="131517"/>
                </a:lnTo>
                <a:lnTo>
                  <a:pt x="400565" y="65759"/>
                </a:lnTo>
                <a:lnTo>
                  <a:pt x="410335" y="0"/>
                </a:lnTo>
                <a:lnTo>
                  <a:pt x="410335" y="2761871"/>
                </a:lnTo>
                <a:lnTo>
                  <a:pt x="400565" y="2761871"/>
                </a:lnTo>
                <a:lnTo>
                  <a:pt x="390795" y="2761871"/>
                </a:lnTo>
                <a:lnTo>
                  <a:pt x="381025" y="2761871"/>
                </a:lnTo>
                <a:lnTo>
                  <a:pt x="371255" y="2761871"/>
                </a:lnTo>
                <a:lnTo>
                  <a:pt x="361485" y="2761871"/>
                </a:lnTo>
                <a:lnTo>
                  <a:pt x="351715" y="2761871"/>
                </a:lnTo>
                <a:lnTo>
                  <a:pt x="341945" y="2761871"/>
                </a:lnTo>
                <a:lnTo>
                  <a:pt x="332176" y="2761871"/>
                </a:lnTo>
                <a:lnTo>
                  <a:pt x="322406" y="2761871"/>
                </a:lnTo>
                <a:lnTo>
                  <a:pt x="312636" y="2761871"/>
                </a:lnTo>
                <a:lnTo>
                  <a:pt x="302866" y="2761871"/>
                </a:lnTo>
                <a:lnTo>
                  <a:pt x="293096" y="2761871"/>
                </a:lnTo>
                <a:lnTo>
                  <a:pt x="283326" y="2761871"/>
                </a:lnTo>
                <a:lnTo>
                  <a:pt x="273556" y="2761871"/>
                </a:lnTo>
                <a:lnTo>
                  <a:pt x="263786" y="2761871"/>
                </a:lnTo>
                <a:lnTo>
                  <a:pt x="254016" y="2761871"/>
                </a:lnTo>
                <a:lnTo>
                  <a:pt x="244247" y="2761871"/>
                </a:lnTo>
                <a:lnTo>
                  <a:pt x="234477" y="2761871"/>
                </a:lnTo>
                <a:lnTo>
                  <a:pt x="224707" y="2761871"/>
                </a:lnTo>
                <a:lnTo>
                  <a:pt x="214937" y="2761871"/>
                </a:lnTo>
                <a:lnTo>
                  <a:pt x="205167" y="2761871"/>
                </a:lnTo>
                <a:lnTo>
                  <a:pt x="195397" y="2761871"/>
                </a:lnTo>
                <a:lnTo>
                  <a:pt x="185627" y="2761871"/>
                </a:lnTo>
                <a:lnTo>
                  <a:pt x="175857" y="2761871"/>
                </a:lnTo>
                <a:lnTo>
                  <a:pt x="166088" y="2761871"/>
                </a:lnTo>
                <a:lnTo>
                  <a:pt x="156318" y="2761871"/>
                </a:lnTo>
                <a:lnTo>
                  <a:pt x="146548" y="2761871"/>
                </a:lnTo>
                <a:lnTo>
                  <a:pt x="136778" y="2761871"/>
                </a:lnTo>
                <a:lnTo>
                  <a:pt x="127008" y="2761871"/>
                </a:lnTo>
                <a:lnTo>
                  <a:pt x="117238" y="2761871"/>
                </a:lnTo>
                <a:lnTo>
                  <a:pt x="107468" y="2761871"/>
                </a:lnTo>
                <a:lnTo>
                  <a:pt x="97698" y="2761871"/>
                </a:lnTo>
                <a:lnTo>
                  <a:pt x="87928" y="2761871"/>
                </a:lnTo>
                <a:lnTo>
                  <a:pt x="78159" y="2761871"/>
                </a:lnTo>
                <a:lnTo>
                  <a:pt x="68389" y="2761871"/>
                </a:lnTo>
                <a:lnTo>
                  <a:pt x="58619" y="2761871"/>
                </a:lnTo>
                <a:lnTo>
                  <a:pt x="48849" y="2761871"/>
                </a:lnTo>
                <a:lnTo>
                  <a:pt x="39079" y="2761871"/>
                </a:lnTo>
                <a:lnTo>
                  <a:pt x="29309" y="2761871"/>
                </a:lnTo>
                <a:lnTo>
                  <a:pt x="19539" y="2761871"/>
                </a:lnTo>
                <a:lnTo>
                  <a:pt x="9769" y="2761871"/>
                </a:lnTo>
                <a:lnTo>
                  <a:pt x="0" y="2761871"/>
                </a:lnTo>
                <a:close/>
              </a:path>
            </a:pathLst>
          </a:custGeom>
          <a:solidFill>
            <a:srgbClr val="7FC8F8">
              <a:alpha val="45000"/>
            </a:srgbClr>
          </a:solidFill>
          <a:ln w="10160">
            <a:solidFill>
              <a:srgbClr val="7FC8F8">
                <a:alpha val="4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4-E26 text 24" descr="sci-ppt:o024"/>
          <p:cNvSpPr txBox="1"/>
          <p:nvPr/>
        </p:nvSpPr>
        <p:spPr>
          <a:xfrm>
            <a:off x="3579222" y="2356338"/>
            <a:ext cx="21945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area = ½ Tₘₐₓ δ_c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= 0.0050 J/m²</a:t>
            </a:r>
          </a:p>
        </p:txBody>
      </p:sp>
      <p:sp>
        <p:nvSpPr>
          <p:cNvPr id="27" name="C4-E26 text 25" descr="sci-ppt:o025"/>
          <p:cNvSpPr txBox="1"/>
          <p:nvPr/>
        </p:nvSpPr>
        <p:spPr>
          <a:xfrm>
            <a:off x="1447364" y="1702190"/>
            <a:ext cx="23774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7FC8F8"/>
                </a:solidFill>
                <a:latin typeface="Arial"/>
              </a:rPr>
              <a:t>elastic part: ½ Tₘₐₓ δ₀</a:t>
            </a:r>
          </a:p>
        </p:txBody>
      </p:sp>
      <p:sp>
        <p:nvSpPr>
          <p:cNvPr id="28" name="C4-E26 round_rect 26" descr="sci-ppt:o026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4-E26 text 27" descr="sci-ppt:o027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Work to separate = area</a:t>
            </a:r>
          </a:p>
        </p:txBody>
      </p:sp>
      <p:sp>
        <p:nvSpPr>
          <p:cNvPr id="30" name="C4-E26 text 28" descr="sci-ppt:o028"/>
          <p:cNvSpPr txBox="1"/>
          <p:nvPr/>
        </p:nvSpPr>
        <p:spPr>
          <a:xfrm>
            <a:off x="7178040" y="1828800"/>
            <a:ext cx="4572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Γ = ∫₀^δ_c tₙ dδ = Tₘₐₓ δ₀ / 2 + Tₘₐₓ (δ_c − δ₀) / 2</a:t>
            </a:r>
          </a:p>
        </p:txBody>
      </p:sp>
      <p:sp>
        <p:nvSpPr>
          <p:cNvPr id="31" name="C4-E26 text 29" descr="sci-ppt:o029"/>
          <p:cNvSpPr txBox="1"/>
          <p:nvPr/>
        </p:nvSpPr>
        <p:spPr>
          <a:xfrm>
            <a:off x="7178040" y="2423160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Γ = Tₘₐₓ δ_c / 2   ⇒   δ_c = 2Γ / Tₘₐₓ</a:t>
            </a:r>
          </a:p>
        </p:txBody>
      </p:sp>
      <p:sp>
        <p:nvSpPr>
          <p:cNvPr id="32" name="C4-E26 text 30" descr="sci-ppt:o030"/>
          <p:cNvSpPr txBox="1"/>
          <p:nvPr/>
        </p:nvSpPr>
        <p:spPr>
          <a:xfrm>
            <a:off x="7178040" y="301752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8BA0"/>
                </a:solidFill>
                <a:latin typeface="Arial"/>
              </a:rPr>
              <a:t>δ₀ &lt; δ_c requires Kₙ &gt; Tₘₐₓ² / (2Γ)</a:t>
            </a:r>
          </a:p>
        </p:txBody>
      </p:sp>
      <p:sp>
        <p:nvSpPr>
          <p:cNvPr id="33" name="C4-E26 text 31" descr="sci-ppt:o031"/>
          <p:cNvSpPr txBox="1"/>
          <p:nvPr/>
        </p:nvSpPr>
        <p:spPr>
          <a:xfrm>
            <a:off x="7178040" y="365760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Here Tₘₐₓ²/(2Γ) = 1.00e+12 Pa/m &lt; Kₙ = 1.0×10¹³ Pa/m.</a:t>
            </a:r>
          </a:p>
        </p:txBody>
      </p:sp>
      <p:sp>
        <p:nvSpPr>
          <p:cNvPr id="34" name="C4-E26 text 32" descr="sci-ppt:o032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Complete separation needs the whole traction–opening area, not just the peak value.</a:t>
            </a:r>
          </a:p>
        </p:txBody>
      </p:sp>
      <p:sp>
        <p:nvSpPr>
          <p:cNvPr id="35" name="C4-E26 text 33" descr="sci-ppt:o03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Work integral of Eq. C4-E26 (areas by quadrature).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C4-E27 · Cohesive admissibility teaching calculation</a:t>
            </a:r>
          </a:p>
        </p:txBody>
      </p:sp>
      <p:sp>
        <p:nvSpPr>
          <p:cNvPr id="3" name="C4-E27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Cohesive admissibility check with the teaching numbers</a:t>
            </a:r>
          </a:p>
        </p:txBody>
      </p:sp>
      <p:sp>
        <p:nvSpPr>
          <p:cNvPr id="4" name="C4-E27 round_rect 2" descr="sci-ppt:o002"/>
          <p:cNvSpPr/>
          <p:nvPr/>
        </p:nvSpPr>
        <p:spPr>
          <a:xfrm>
            <a:off x="457200" y="1371600"/>
            <a:ext cx="3611880" cy="1920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4-E27 text 3" descr="sci-ppt:o003"/>
          <p:cNvSpPr txBox="1"/>
          <p:nvPr/>
        </p:nvSpPr>
        <p:spPr>
          <a:xfrm>
            <a:off x="566928" y="1426464"/>
            <a:ext cx="33924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4C7D2"/>
                </a:solidFill>
                <a:latin typeface="Arial"/>
              </a:rPr>
              <a:t>given</a:t>
            </a:r>
          </a:p>
        </p:txBody>
      </p:sp>
      <p:sp>
        <p:nvSpPr>
          <p:cNvPr id="6" name="C4-E27 text 4" descr="sci-ppt:o004"/>
          <p:cNvSpPr txBox="1"/>
          <p:nvPr/>
        </p:nvSpPr>
        <p:spPr>
          <a:xfrm>
            <a:off x="594360" y="1920240"/>
            <a:ext cx="3383280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Γ = 0.005 J/m²</a:t>
            </a:r>
          </a:p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Tₘₐₓ = 0.10 MPa</a:t>
            </a:r>
          </a:p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Kₙ = 10¹³ Pa/m</a:t>
            </a:r>
          </a:p>
        </p:txBody>
      </p:sp>
      <p:sp>
        <p:nvSpPr>
          <p:cNvPr id="7" name="C4-E27 round_rect 5" descr="sci-ppt:o005"/>
          <p:cNvSpPr/>
          <p:nvPr/>
        </p:nvSpPr>
        <p:spPr>
          <a:xfrm>
            <a:off x="4251960" y="1371600"/>
            <a:ext cx="3611880" cy="1920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4-E27 text 6" descr="sci-ppt:o006"/>
          <p:cNvSpPr txBox="1"/>
          <p:nvPr/>
        </p:nvSpPr>
        <p:spPr>
          <a:xfrm>
            <a:off x="4361688" y="1426464"/>
            <a:ext cx="33924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FC8F8"/>
                </a:solidFill>
                <a:latin typeface="Arial"/>
              </a:rPr>
              <a:t>δ₀ = Tₘₐₓ / Kₙ</a:t>
            </a:r>
          </a:p>
        </p:txBody>
      </p:sp>
      <p:sp>
        <p:nvSpPr>
          <p:cNvPr id="9" name="C4-E27 text 7" descr="sci-ppt:o007"/>
          <p:cNvSpPr txBox="1"/>
          <p:nvPr/>
        </p:nvSpPr>
        <p:spPr>
          <a:xfrm>
            <a:off x="4389120" y="1920240"/>
            <a:ext cx="3383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10⁵ / 10¹³ = 1.0×10⁻⁸ m = 10 nm</a:t>
            </a:r>
          </a:p>
        </p:txBody>
      </p:sp>
      <p:sp>
        <p:nvSpPr>
          <p:cNvPr id="10" name="C4-E27 round_rect 8" descr="sci-ppt:o008"/>
          <p:cNvSpPr/>
          <p:nvPr/>
        </p:nvSpPr>
        <p:spPr>
          <a:xfrm>
            <a:off x="8046720" y="1371600"/>
            <a:ext cx="3611880" cy="1920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4-E27 text 9" descr="sci-ppt:o009"/>
          <p:cNvSpPr txBox="1"/>
          <p:nvPr/>
        </p:nvSpPr>
        <p:spPr>
          <a:xfrm>
            <a:off x="8156448" y="1426464"/>
            <a:ext cx="33924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δ_c = 2Γ / Tₘₐₓ</a:t>
            </a:r>
          </a:p>
        </p:txBody>
      </p:sp>
      <p:sp>
        <p:nvSpPr>
          <p:cNvPr id="12" name="C4-E27 text 10" descr="sci-ppt:o010"/>
          <p:cNvSpPr txBox="1"/>
          <p:nvPr/>
        </p:nvSpPr>
        <p:spPr>
          <a:xfrm>
            <a:off x="8183880" y="1920240"/>
            <a:ext cx="3383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2(0.005) / 10⁵ = 1.0×10⁻⁷ m = 100 nm</a:t>
            </a:r>
          </a:p>
        </p:txBody>
      </p:sp>
      <p:sp>
        <p:nvSpPr>
          <p:cNvPr id="13" name="C4-E27 text 11" descr="sci-ppt:o011"/>
          <p:cNvSpPr txBox="1"/>
          <p:nvPr/>
        </p:nvSpPr>
        <p:spPr>
          <a:xfrm>
            <a:off x="457200" y="3675887"/>
            <a:ext cx="19202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δ₀  (peak)</a:t>
            </a:r>
          </a:p>
        </p:txBody>
      </p:sp>
      <p:sp>
        <p:nvSpPr>
          <p:cNvPr id="14" name="C4-E27 rect 12" descr="sci-ppt:o012"/>
          <p:cNvSpPr/>
          <p:nvPr/>
        </p:nvSpPr>
        <p:spPr>
          <a:xfrm>
            <a:off x="2468880" y="3657600"/>
            <a:ext cx="662940" cy="41148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4-E27 text 13" descr="sci-ppt:o013"/>
          <p:cNvSpPr txBox="1"/>
          <p:nvPr/>
        </p:nvSpPr>
        <p:spPr>
          <a:xfrm>
            <a:off x="3204972" y="3703320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10 nm</a:t>
            </a:r>
          </a:p>
        </p:txBody>
      </p:sp>
      <p:sp>
        <p:nvSpPr>
          <p:cNvPr id="16" name="C4-E27 text 14" descr="sci-ppt:o014"/>
          <p:cNvSpPr txBox="1"/>
          <p:nvPr/>
        </p:nvSpPr>
        <p:spPr>
          <a:xfrm>
            <a:off x="457200" y="4315968"/>
            <a:ext cx="19202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δ_c  (final)</a:t>
            </a:r>
          </a:p>
        </p:txBody>
      </p:sp>
      <p:sp>
        <p:nvSpPr>
          <p:cNvPr id="17" name="C4-E27 rect 15" descr="sci-ppt:o015"/>
          <p:cNvSpPr/>
          <p:nvPr/>
        </p:nvSpPr>
        <p:spPr>
          <a:xfrm>
            <a:off x="2468880" y="4297680"/>
            <a:ext cx="6629400" cy="41148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4-E27 text 16" descr="sci-ppt:o016"/>
          <p:cNvSpPr txBox="1"/>
          <p:nvPr/>
        </p:nvSpPr>
        <p:spPr>
          <a:xfrm>
            <a:off x="9171432" y="4343400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100 nm</a:t>
            </a:r>
          </a:p>
        </p:txBody>
      </p:sp>
      <p:sp>
        <p:nvSpPr>
          <p:cNvPr id="19" name="C4-E27 text 17" descr="sci-ppt:o017"/>
          <p:cNvSpPr txBox="1"/>
          <p:nvPr/>
        </p:nvSpPr>
        <p:spPr>
          <a:xfrm>
            <a:off x="457200" y="4937760"/>
            <a:ext cx="112471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δ_c is ten times δ₀: the law has a distinct softening stage, so it is admissible (δ₀ &lt; δ_c).</a:t>
            </a:r>
          </a:p>
        </p:txBody>
      </p:sp>
      <p:sp>
        <p:nvSpPr>
          <p:cNvPr id="20" name="C4-E27 text 18" descr="sci-ppt:o018"/>
          <p:cNvSpPr txBox="1"/>
          <p:nvPr/>
        </p:nvSpPr>
        <p:spPr>
          <a:xfrm>
            <a:off x="457200" y="5486400"/>
            <a:ext cx="11247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These are stipulated teaching values, not measured properties of a real interface.</a:t>
            </a:r>
          </a:p>
        </p:txBody>
      </p:sp>
      <p:sp>
        <p:nvSpPr>
          <p:cNvPr id="21" name="C4-E27 text 19" descr="sci-ppt:o01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Admissibility calculation of Eq. C4-E27.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C4-E28 · Finite incoming state inherited from the teaching source</a:t>
            </a:r>
          </a:p>
        </p:txBody>
      </p:sp>
      <p:sp>
        <p:nvSpPr>
          <p:cNvPr id="3" name="C4-E28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The jet that arrives at the film (inherited from Chapter 3)</a:t>
            </a:r>
          </a:p>
        </p:txBody>
      </p:sp>
      <p:sp>
        <p:nvSpPr>
          <p:cNvPr id="4" name="C4-E28 rect 2" descr="sci-ppt:o002"/>
          <p:cNvSpPr/>
          <p:nvPr/>
        </p:nvSpPr>
        <p:spPr>
          <a:xfrm>
            <a:off x="731520" y="1554480"/>
            <a:ext cx="4572000" cy="822960"/>
          </a:xfrm>
          <a:prstGeom prst="rect">
            <a:avLst/>
          </a:prstGeom>
          <a:solidFill>
            <a:srgbClr val="1E4A5A"/>
          </a:solidFill>
          <a:ln w="304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4-E28 arrow 3" descr="sci-ppt:o003"/>
          <p:cNvCxnSpPr/>
          <p:nvPr/>
        </p:nvCxnSpPr>
        <p:spPr>
          <a:xfrm>
            <a:off x="5394960" y="1965960"/>
            <a:ext cx="914400" cy="0"/>
          </a:xfrm>
          <a:prstGeom prst="line">
            <a:avLst/>
          </a:prstGeom>
          <a:ln w="508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6" name="C4-E28 line 4" descr="sci-ppt:o004"/>
          <p:cNvCxnSpPr/>
          <p:nvPr/>
        </p:nvCxnSpPr>
        <p:spPr>
          <a:xfrm>
            <a:off x="731520" y="2697480"/>
            <a:ext cx="4572000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7" name="C4-E28 line 5" descr="sci-ppt:o005"/>
          <p:cNvCxnSpPr/>
          <p:nvPr/>
        </p:nvCxnSpPr>
        <p:spPr>
          <a:xfrm>
            <a:off x="731520" y="263347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8" name="C4-E28 line 6" descr="sci-ppt:o006"/>
          <p:cNvCxnSpPr/>
          <p:nvPr/>
        </p:nvCxnSpPr>
        <p:spPr>
          <a:xfrm>
            <a:off x="5303520" y="263347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9" name="C4-E28 text 7" descr="sci-ppt:o007"/>
          <p:cNvSpPr txBox="1"/>
          <p:nvPr/>
        </p:nvSpPr>
        <p:spPr>
          <a:xfrm>
            <a:off x="2103120" y="2423160"/>
            <a:ext cx="1828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Lⱼ = 50 µm</a:t>
            </a:r>
          </a:p>
        </p:txBody>
      </p:sp>
      <p:sp>
        <p:nvSpPr>
          <p:cNvPr id="10" name="C4-E28 round_rect 8" descr="sci-ppt:o008"/>
          <p:cNvSpPr/>
          <p:nvPr/>
        </p:nvSpPr>
        <p:spPr>
          <a:xfrm>
            <a:off x="457200" y="3108960"/>
            <a:ext cx="2697480" cy="1920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4-E28 text 9" descr="sci-ppt:o009"/>
          <p:cNvSpPr txBox="1"/>
          <p:nvPr/>
        </p:nvSpPr>
        <p:spPr>
          <a:xfrm>
            <a:off x="566928" y="3163824"/>
            <a:ext cx="24780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FC8F8"/>
                </a:solidFill>
                <a:latin typeface="Arial"/>
              </a:rPr>
              <a:t>mass</a:t>
            </a:r>
          </a:p>
        </p:txBody>
      </p:sp>
      <p:sp>
        <p:nvSpPr>
          <p:cNvPr id="12" name="C4-E28 text 10" descr="sci-ppt:o010"/>
          <p:cNvSpPr txBox="1"/>
          <p:nvPr/>
        </p:nvSpPr>
        <p:spPr>
          <a:xfrm>
            <a:off x="530352" y="356616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mⱼ = ρπdⱼ²Lⱼ/4</a:t>
            </a:r>
          </a:p>
        </p:txBody>
      </p:sp>
      <p:sp>
        <p:nvSpPr>
          <p:cNvPr id="13" name="C4-E28 text 11" descr="sci-ppt:o011"/>
          <p:cNvSpPr txBox="1"/>
          <p:nvPr/>
        </p:nvSpPr>
        <p:spPr>
          <a:xfrm>
            <a:off x="530352" y="420624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3.926990817e-12 kg</a:t>
            </a:r>
          </a:p>
        </p:txBody>
      </p:sp>
      <p:sp>
        <p:nvSpPr>
          <p:cNvPr id="14" name="C4-E28 round_rect 12" descr="sci-ppt:o012"/>
          <p:cNvSpPr/>
          <p:nvPr/>
        </p:nvSpPr>
        <p:spPr>
          <a:xfrm>
            <a:off x="3291840" y="3108960"/>
            <a:ext cx="2697480" cy="1920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4-E28 text 13" descr="sci-ppt:o013"/>
          <p:cNvSpPr txBox="1"/>
          <p:nvPr/>
        </p:nvSpPr>
        <p:spPr>
          <a:xfrm>
            <a:off x="3401568" y="3163824"/>
            <a:ext cx="24780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speed</a:t>
            </a:r>
          </a:p>
        </p:txBody>
      </p:sp>
      <p:sp>
        <p:nvSpPr>
          <p:cNvPr id="16" name="C4-E28 text 14" descr="sci-ppt:o014"/>
          <p:cNvSpPr txBox="1"/>
          <p:nvPr/>
        </p:nvSpPr>
        <p:spPr>
          <a:xfrm>
            <a:off x="3364992" y="356616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Uⱼ = √(2Eⱼ/mⱼ)</a:t>
            </a:r>
          </a:p>
        </p:txBody>
      </p:sp>
      <p:sp>
        <p:nvSpPr>
          <p:cNvPr id="17" name="C4-E28 text 15" descr="sci-ppt:o015"/>
          <p:cNvSpPr txBox="1"/>
          <p:nvPr/>
        </p:nvSpPr>
        <p:spPr>
          <a:xfrm>
            <a:off x="3364992" y="420624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31.9153824 m/s</a:t>
            </a:r>
          </a:p>
        </p:txBody>
      </p:sp>
      <p:sp>
        <p:nvSpPr>
          <p:cNvPr id="18" name="C4-E28 round_rect 16" descr="sci-ppt:o016"/>
          <p:cNvSpPr/>
          <p:nvPr/>
        </p:nvSpPr>
        <p:spPr>
          <a:xfrm>
            <a:off x="6126480" y="3108960"/>
            <a:ext cx="2697480" cy="1920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4-E28 text 17" descr="sci-ppt:o017"/>
          <p:cNvSpPr txBox="1"/>
          <p:nvPr/>
        </p:nvSpPr>
        <p:spPr>
          <a:xfrm>
            <a:off x="6236208" y="3163824"/>
            <a:ext cx="24780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energy</a:t>
            </a:r>
          </a:p>
        </p:txBody>
      </p:sp>
      <p:sp>
        <p:nvSpPr>
          <p:cNvPr id="20" name="C4-E28 text 18" descr="sci-ppt:o018"/>
          <p:cNvSpPr txBox="1"/>
          <p:nvPr/>
        </p:nvSpPr>
        <p:spPr>
          <a:xfrm>
            <a:off x="6199632" y="356616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Eᵢₙ = N Eⱼ</a:t>
            </a:r>
          </a:p>
        </p:txBody>
      </p:sp>
      <p:sp>
        <p:nvSpPr>
          <p:cNvPr id="21" name="C4-E28 text 19" descr="sci-ppt:o019"/>
          <p:cNvSpPr txBox="1"/>
          <p:nvPr/>
        </p:nvSpPr>
        <p:spPr>
          <a:xfrm>
            <a:off x="6199632" y="420624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50.0 nJ</a:t>
            </a:r>
          </a:p>
        </p:txBody>
      </p:sp>
      <p:sp>
        <p:nvSpPr>
          <p:cNvPr id="22" name="C4-E28 round_rect 20" descr="sci-ppt:o020"/>
          <p:cNvSpPr/>
          <p:nvPr/>
        </p:nvSpPr>
        <p:spPr>
          <a:xfrm>
            <a:off x="8961120" y="3108960"/>
            <a:ext cx="2697480" cy="1920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4-E28 text 21" descr="sci-ppt:o021"/>
          <p:cNvSpPr txBox="1"/>
          <p:nvPr/>
        </p:nvSpPr>
        <p:spPr>
          <a:xfrm>
            <a:off x="9070848" y="3163824"/>
            <a:ext cx="24780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momentum</a:t>
            </a:r>
          </a:p>
        </p:txBody>
      </p:sp>
      <p:sp>
        <p:nvSpPr>
          <p:cNvPr id="24" name="C4-E28 text 22" descr="sci-ppt:o022"/>
          <p:cNvSpPr txBox="1"/>
          <p:nvPr/>
        </p:nvSpPr>
        <p:spPr>
          <a:xfrm>
            <a:off x="9034272" y="356616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Iᵢₙ = N mⱼ Uⱼ</a:t>
            </a:r>
          </a:p>
        </p:txBody>
      </p:sp>
      <p:sp>
        <p:nvSpPr>
          <p:cNvPr id="25" name="C4-E28 text 23" descr="sci-ppt:o023"/>
          <p:cNvSpPr txBox="1"/>
          <p:nvPr/>
        </p:nvSpPr>
        <p:spPr>
          <a:xfrm>
            <a:off x="9034272" y="420624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3.133285343e-09 N s</a:t>
            </a:r>
          </a:p>
        </p:txBody>
      </p:sp>
      <p:sp>
        <p:nvSpPr>
          <p:cNvPr id="26" name="C4-E28 text 24" descr="sci-ppt:o024"/>
          <p:cNvSpPr txBox="1"/>
          <p:nvPr/>
        </p:nvSpPr>
        <p:spPr>
          <a:xfrm>
            <a:off x="6583680" y="1645920"/>
            <a:ext cx="5212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N = 25 jets, Eⱼ = 2 nJ each, ρ = 1000 kg/m³, dⱼ = 10 µm.</a:t>
            </a:r>
          </a:p>
        </p:txBody>
      </p:sp>
      <p:sp>
        <p:nvSpPr>
          <p:cNvPr id="27" name="C4-E28 text 25" descr="sci-ppt:o025"/>
          <p:cNvSpPr txBox="1"/>
          <p:nvPr/>
        </p:nvSpPr>
        <p:spPr>
          <a:xfrm>
            <a:off x="457200" y="5303520"/>
            <a:ext cx="112471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The input to the solid is a finite energy and an aligned momentum, not a pressure peak.</a:t>
            </a:r>
          </a:p>
        </p:txBody>
      </p:sp>
      <p:sp>
        <p:nvSpPr>
          <p:cNvPr id="28" name="C4-E28 text 26" descr="sci-ppt:o026"/>
          <p:cNvSpPr txBox="1"/>
          <p:nvPr/>
        </p:nvSpPr>
        <p:spPr>
          <a:xfrm>
            <a:off x="457200" y="5806440"/>
            <a:ext cx="11247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Assumes all 25 jets are activated, aligned and identical (Chapter 3 teaching state).</a:t>
            </a:r>
          </a:p>
        </p:txBody>
      </p:sp>
      <p:sp>
        <p:nvSpPr>
          <p:cNvPr id="29" name="C4-E28 text 27" descr="sci-ppt:o02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Inherited jet state of Eq. C4-E28.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C4-E29 · Explicit conditional solid-coupling allocation</a:t>
            </a:r>
          </a:p>
        </p:txBody>
      </p:sp>
      <p:sp>
        <p:nvSpPr>
          <p:cNvPr id="3" name="C4-E29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Declared coupling turns jet budgets into payload budgets</a:t>
            </a:r>
          </a:p>
        </p:txBody>
      </p:sp>
      <p:sp>
        <p:nvSpPr>
          <p:cNvPr id="4" name="C4-E29 round_rect 2" descr="sci-ppt:o002"/>
          <p:cNvSpPr/>
          <p:nvPr/>
        </p:nvSpPr>
        <p:spPr>
          <a:xfrm>
            <a:off x="457200" y="1463040"/>
            <a:ext cx="2331720" cy="1005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4-E29 text 3" descr="sci-ppt:o003"/>
          <p:cNvSpPr txBox="1"/>
          <p:nvPr/>
        </p:nvSpPr>
        <p:spPr>
          <a:xfrm>
            <a:off x="530352" y="1517904"/>
            <a:ext cx="2185415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jet energy</a:t>
            </a:r>
          </a:p>
        </p:txBody>
      </p:sp>
      <p:sp>
        <p:nvSpPr>
          <p:cNvPr id="6" name="C4-E29 text 4" descr="sci-ppt:o004"/>
          <p:cNvSpPr txBox="1"/>
          <p:nvPr/>
        </p:nvSpPr>
        <p:spPr>
          <a:xfrm>
            <a:off x="530352" y="1791081"/>
            <a:ext cx="2185415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Eᵢₙ = 50 nJ</a:t>
            </a:r>
          </a:p>
        </p:txBody>
      </p:sp>
      <p:cxnSp>
        <p:nvCxnSpPr>
          <p:cNvPr id="7" name="C4-E29 arrow 5" descr="sci-ppt:o005"/>
          <p:cNvCxnSpPr/>
          <p:nvPr/>
        </p:nvCxnSpPr>
        <p:spPr>
          <a:xfrm>
            <a:off x="2816351" y="1965960"/>
            <a:ext cx="768097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C4-E29 round_rect 6" descr="sci-ppt:o006"/>
          <p:cNvSpPr/>
          <p:nvPr/>
        </p:nvSpPr>
        <p:spPr>
          <a:xfrm>
            <a:off x="3611879" y="1463040"/>
            <a:ext cx="2331720" cy="1005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4-E29 text 7" descr="sci-ppt:o007"/>
          <p:cNvSpPr txBox="1"/>
          <p:nvPr/>
        </p:nvSpPr>
        <p:spPr>
          <a:xfrm>
            <a:off x="3685031" y="1517904"/>
            <a:ext cx="2185415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× η_E = 0.20</a:t>
            </a:r>
          </a:p>
        </p:txBody>
      </p:sp>
      <p:sp>
        <p:nvSpPr>
          <p:cNvPr id="10" name="C4-E29 text 8" descr="sci-ppt:o008"/>
          <p:cNvSpPr txBox="1"/>
          <p:nvPr/>
        </p:nvSpPr>
        <p:spPr>
          <a:xfrm>
            <a:off x="3685031" y="1791081"/>
            <a:ext cx="2185415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E_solid = 10.0 nJ</a:t>
            </a:r>
          </a:p>
        </p:txBody>
      </p:sp>
      <p:sp>
        <p:nvSpPr>
          <p:cNvPr id="11" name="C4-E29 round_rect 9" descr="sci-ppt:o009"/>
          <p:cNvSpPr/>
          <p:nvPr/>
        </p:nvSpPr>
        <p:spPr>
          <a:xfrm>
            <a:off x="6309360" y="1463040"/>
            <a:ext cx="2331720" cy="1005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4-E29 text 10" descr="sci-ppt:o010"/>
          <p:cNvSpPr txBox="1"/>
          <p:nvPr/>
        </p:nvSpPr>
        <p:spPr>
          <a:xfrm>
            <a:off x="6382512" y="1517904"/>
            <a:ext cx="2185415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jet impulse</a:t>
            </a:r>
          </a:p>
        </p:txBody>
      </p:sp>
      <p:sp>
        <p:nvSpPr>
          <p:cNvPr id="13" name="C4-E29 text 11" descr="sci-ppt:o011"/>
          <p:cNvSpPr txBox="1"/>
          <p:nvPr/>
        </p:nvSpPr>
        <p:spPr>
          <a:xfrm>
            <a:off x="6382512" y="1791081"/>
            <a:ext cx="2185415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Iᵢₙ = 3.1333 nN s</a:t>
            </a:r>
          </a:p>
        </p:txBody>
      </p:sp>
      <p:cxnSp>
        <p:nvCxnSpPr>
          <p:cNvPr id="14" name="C4-E29 arrow 12" descr="sci-ppt:o012"/>
          <p:cNvCxnSpPr/>
          <p:nvPr/>
        </p:nvCxnSpPr>
        <p:spPr>
          <a:xfrm>
            <a:off x="8668511" y="1965960"/>
            <a:ext cx="768097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C4-E29 round_rect 13" descr="sci-ppt:o013"/>
          <p:cNvSpPr/>
          <p:nvPr/>
        </p:nvSpPr>
        <p:spPr>
          <a:xfrm>
            <a:off x="9464040" y="1463040"/>
            <a:ext cx="2331720" cy="1005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4-E29 text 14" descr="sci-ppt:o014"/>
          <p:cNvSpPr txBox="1"/>
          <p:nvPr/>
        </p:nvSpPr>
        <p:spPr>
          <a:xfrm>
            <a:off x="9537192" y="1517904"/>
            <a:ext cx="2185415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7FC8F8"/>
                </a:solidFill>
                <a:latin typeface="Arial"/>
              </a:rPr>
              <a:t>× η_I = 0.50</a:t>
            </a:r>
          </a:p>
        </p:txBody>
      </p:sp>
      <p:sp>
        <p:nvSpPr>
          <p:cNvPr id="17" name="C4-E29 text 15" descr="sci-ppt:o015"/>
          <p:cNvSpPr txBox="1"/>
          <p:nvPr/>
        </p:nvSpPr>
        <p:spPr>
          <a:xfrm>
            <a:off x="9537192" y="1791081"/>
            <a:ext cx="2185415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Iₙₑₜ = 1.5666 nN s</a:t>
            </a:r>
          </a:p>
        </p:txBody>
      </p:sp>
      <p:sp>
        <p:nvSpPr>
          <p:cNvPr id="18" name="C4-E29 round_rect 16" descr="sci-ppt:o016"/>
          <p:cNvSpPr/>
          <p:nvPr/>
        </p:nvSpPr>
        <p:spPr>
          <a:xfrm>
            <a:off x="457200" y="2926080"/>
            <a:ext cx="5486400" cy="21031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4-E29 text 17" descr="sci-ppt:o017"/>
          <p:cNvSpPr txBox="1"/>
          <p:nvPr/>
        </p:nvSpPr>
        <p:spPr>
          <a:xfrm>
            <a:off x="566928" y="298094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The film mass</a:t>
            </a:r>
          </a:p>
        </p:txBody>
      </p:sp>
      <p:sp>
        <p:nvSpPr>
          <p:cNvPr id="20" name="C4-E29 rect 18" descr="sci-ppt:o018"/>
          <p:cNvSpPr/>
          <p:nvPr/>
        </p:nvSpPr>
        <p:spPr>
          <a:xfrm>
            <a:off x="914400" y="3749039"/>
            <a:ext cx="1828800" cy="201168"/>
          </a:xfrm>
          <a:prstGeom prst="rect">
            <a:avLst/>
          </a:prstGeom>
          <a:solidFill>
            <a:srgbClr val="3A5362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4-E29 text 19" descr="sci-ppt:o019"/>
          <p:cNvSpPr txBox="1"/>
          <p:nvPr/>
        </p:nvSpPr>
        <p:spPr>
          <a:xfrm>
            <a:off x="2926080" y="3429000"/>
            <a:ext cx="2926080" cy="38658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A_f = 1.00 mm² = 1.00×10⁻⁶ m²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h_f = 1.00 µm, ρ_f = 2330 kg/m³</a:t>
            </a:r>
          </a:p>
        </p:txBody>
      </p:sp>
      <p:sp>
        <p:nvSpPr>
          <p:cNvPr id="22" name="C4-E29 text 20" descr="sci-ppt:o020"/>
          <p:cNvSpPr txBox="1"/>
          <p:nvPr/>
        </p:nvSpPr>
        <p:spPr>
          <a:xfrm>
            <a:off x="594360" y="4389120"/>
            <a:ext cx="53035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m_f = ρ_f A_f h_f = (2330)(1.00×10⁻⁶)(1.00×10⁻⁶) = 2.33×10⁻⁹ kg</a:t>
            </a:r>
          </a:p>
        </p:txBody>
      </p:sp>
      <p:sp>
        <p:nvSpPr>
          <p:cNvPr id="23" name="C4-E29 round_rect 21" descr="sci-ppt:o021"/>
          <p:cNvSpPr/>
          <p:nvPr/>
        </p:nvSpPr>
        <p:spPr>
          <a:xfrm>
            <a:off x="6217920" y="2926080"/>
            <a:ext cx="5486400" cy="21031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4-E29 text 22" descr="sci-ppt:o022"/>
          <p:cNvSpPr txBox="1"/>
          <p:nvPr/>
        </p:nvSpPr>
        <p:spPr>
          <a:xfrm>
            <a:off x="6327648" y="298094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What the factors mean</a:t>
            </a:r>
          </a:p>
        </p:txBody>
      </p:sp>
      <p:sp>
        <p:nvSpPr>
          <p:cNvPr id="25" name="C4-E29 text 23" descr="sci-ppt:o023"/>
          <p:cNvSpPr txBox="1"/>
          <p:nvPr/>
        </p:nvSpPr>
        <p:spPr>
          <a:xfrm>
            <a:off x="6556248" y="3383280"/>
            <a:ext cx="501091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η_E, η_I are declared fractions of energy and impulse that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reach the film.</a:t>
            </a:r>
          </a:p>
        </p:txBody>
      </p:sp>
      <p:sp>
        <p:nvSpPr>
          <p:cNvPr id="26" name="C4-E29 ellipse 24" descr="sci-ppt:o024"/>
          <p:cNvSpPr/>
          <p:nvPr/>
        </p:nvSpPr>
        <p:spPr>
          <a:xfrm>
            <a:off x="6387084" y="343662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4-E29 text 25" descr="sci-ppt:o025"/>
          <p:cNvSpPr txBox="1"/>
          <p:nvPr/>
        </p:nvSpPr>
        <p:spPr>
          <a:xfrm>
            <a:off x="6556248" y="3846576"/>
            <a:ext cx="50109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They are assumptions, not predictions of the model.</a:t>
            </a:r>
          </a:p>
        </p:txBody>
      </p:sp>
      <p:sp>
        <p:nvSpPr>
          <p:cNvPr id="28" name="C4-E29 ellipse 26" descr="sci-ppt:o026"/>
          <p:cNvSpPr/>
          <p:nvPr/>
        </p:nvSpPr>
        <p:spPr>
          <a:xfrm>
            <a:off x="6387084" y="389991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4-E29 text 27" descr="sci-ppt:o027"/>
          <p:cNvSpPr txBox="1"/>
          <p:nvPr/>
        </p:nvSpPr>
        <p:spPr>
          <a:xfrm>
            <a:off x="457200" y="5303520"/>
            <a:ext cx="112471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Conditional budgets: every later pass or fail depends on η_E = 0.20 and η_I = 0.50.</a:t>
            </a:r>
          </a:p>
        </p:txBody>
      </p:sp>
      <p:sp>
        <p:nvSpPr>
          <p:cNvPr id="30" name="C4-E29 text 28" descr="sci-ppt:o02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Coupling allocation of Eq. C4-E29 (declared teaching values).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C4-E30 · Necessary global energy and momentum screens</a:t>
            </a:r>
          </a:p>
        </p:txBody>
      </p:sp>
      <p:cxnSp>
        <p:nvCxnSpPr>
          <p:cNvPr id="3" name="C4-E30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30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30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30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30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4-E30 line 6" descr="sci-ppt:o006"/>
          <p:cNvCxnSpPr/>
          <p:nvPr/>
        </p:nvCxnSpPr>
        <p:spPr>
          <a:xfrm>
            <a:off x="2084832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30 line 7" descr="sci-ppt:o007"/>
          <p:cNvCxnSpPr/>
          <p:nvPr/>
        </p:nvCxnSpPr>
        <p:spPr>
          <a:xfrm>
            <a:off x="2084832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30 text 8" descr="sci-ppt:o008"/>
          <p:cNvSpPr txBox="1"/>
          <p:nvPr/>
        </p:nvSpPr>
        <p:spPr>
          <a:xfrm>
            <a:off x="1627632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4-E30 line 9" descr="sci-ppt:o009"/>
          <p:cNvCxnSpPr/>
          <p:nvPr/>
        </p:nvCxnSpPr>
        <p:spPr>
          <a:xfrm>
            <a:off x="325526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30 line 10" descr="sci-ppt:o010"/>
          <p:cNvCxnSpPr/>
          <p:nvPr/>
        </p:nvCxnSpPr>
        <p:spPr>
          <a:xfrm>
            <a:off x="325526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30 text 11" descr="sci-ppt:o011"/>
          <p:cNvSpPr txBox="1"/>
          <p:nvPr/>
        </p:nvSpPr>
        <p:spPr>
          <a:xfrm>
            <a:off x="279806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4-E30 line 12" descr="sci-ppt:o012"/>
          <p:cNvCxnSpPr/>
          <p:nvPr/>
        </p:nvCxnSpPr>
        <p:spPr>
          <a:xfrm>
            <a:off x="4425696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30 line 13" descr="sci-ppt:o013"/>
          <p:cNvCxnSpPr/>
          <p:nvPr/>
        </p:nvCxnSpPr>
        <p:spPr>
          <a:xfrm>
            <a:off x="4425696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30 text 14" descr="sci-ppt:o014"/>
          <p:cNvSpPr txBox="1"/>
          <p:nvPr/>
        </p:nvSpPr>
        <p:spPr>
          <a:xfrm>
            <a:off x="3968496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4-E30 line 15" descr="sci-ppt:o015"/>
          <p:cNvCxnSpPr/>
          <p:nvPr/>
        </p:nvCxnSpPr>
        <p:spPr>
          <a:xfrm>
            <a:off x="5596128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30 line 16" descr="sci-ppt:o016"/>
          <p:cNvCxnSpPr/>
          <p:nvPr/>
        </p:nvCxnSpPr>
        <p:spPr>
          <a:xfrm>
            <a:off x="5596128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30 text 17" descr="sci-ppt:o017"/>
          <p:cNvSpPr txBox="1"/>
          <p:nvPr/>
        </p:nvSpPr>
        <p:spPr>
          <a:xfrm>
            <a:off x="5138928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cxnSp>
        <p:nvCxnSpPr>
          <p:cNvPr id="20" name="C4-E30 line 18" descr="sci-ppt:o018"/>
          <p:cNvCxnSpPr/>
          <p:nvPr/>
        </p:nvCxnSpPr>
        <p:spPr>
          <a:xfrm>
            <a:off x="67665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30 line 19" descr="sci-ppt:o019"/>
          <p:cNvCxnSpPr/>
          <p:nvPr/>
        </p:nvCxnSpPr>
        <p:spPr>
          <a:xfrm>
            <a:off x="67665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4-E30 text 20" descr="sci-ppt:o020"/>
          <p:cNvSpPr txBox="1"/>
          <p:nvPr/>
        </p:nvSpPr>
        <p:spPr>
          <a:xfrm>
            <a:off x="63093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2.5</a:t>
            </a:r>
          </a:p>
        </p:txBody>
      </p:sp>
      <p:cxnSp>
        <p:nvCxnSpPr>
          <p:cNvPr id="23" name="C4-E30 line 21" descr="sci-ppt:o021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4-E30 line 22" descr="sci-ppt:o022"/>
          <p:cNvCxnSpPr/>
          <p:nvPr/>
        </p:nvCxnSpPr>
        <p:spPr>
          <a:xfrm>
            <a:off x="850392" y="3810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30 line 23" descr="sci-ppt:o023"/>
          <p:cNvCxnSpPr/>
          <p:nvPr/>
        </p:nvCxnSpPr>
        <p:spPr>
          <a:xfrm>
            <a:off x="914400" y="38100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30 text 24" descr="sci-ppt:o024"/>
          <p:cNvSpPr txBox="1"/>
          <p:nvPr/>
        </p:nvSpPr>
        <p:spPr>
          <a:xfrm>
            <a:off x="45720" y="3727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27" name="C4-E30 line 25" descr="sci-ppt:o025"/>
          <p:cNvCxnSpPr/>
          <p:nvPr/>
        </p:nvCxnSpPr>
        <p:spPr>
          <a:xfrm>
            <a:off x="850392" y="2590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4-E30 line 26" descr="sci-ppt:o026"/>
          <p:cNvCxnSpPr/>
          <p:nvPr/>
        </p:nvCxnSpPr>
        <p:spPr>
          <a:xfrm>
            <a:off x="914400" y="25908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4-E30 text 27" descr="sci-ppt:o027"/>
          <p:cNvSpPr txBox="1"/>
          <p:nvPr/>
        </p:nvSpPr>
        <p:spPr>
          <a:xfrm>
            <a:off x="45720" y="2508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30" name="C4-E30 line 28" descr="sci-ppt:o028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4-E30 line 29" descr="sci-ppt:o029"/>
          <p:cNvCxnSpPr/>
          <p:nvPr/>
        </p:nvCxnSpPr>
        <p:spPr>
          <a:xfrm>
            <a:off x="914400" y="13716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4-E30 text 30" descr="sci-ppt:o030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sp>
        <p:nvSpPr>
          <p:cNvPr id="33" name="C4-E30 text 31" descr="sci-ppt:o031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film departure speed v_f  (m/s)</a:t>
            </a:r>
          </a:p>
        </p:txBody>
      </p:sp>
      <p:sp>
        <p:nvSpPr>
          <p:cNvPr id="34" name="C4-E30 text 32" descr="sci-ppt:o032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E_req  (nJ)</a:t>
            </a:r>
          </a:p>
        </p:txBody>
      </p:sp>
      <p:sp>
        <p:nvSpPr>
          <p:cNvPr id="35" name="C4-E30 polygon 33" descr="sci-ppt:o033"/>
          <p:cNvSpPr/>
          <p:nvPr/>
        </p:nvSpPr>
        <p:spPr>
          <a:xfrm>
            <a:off x="914400" y="3531870"/>
            <a:ext cx="5852160" cy="887730"/>
          </a:xfrm>
          <a:custGeom>
            <a:avLst/>
            <a:gdLst/>
            <a:ahLst/>
            <a:cxnLst/>
            <a:rect l="l" t="t" r="r" b="b"/>
            <a:pathLst>
              <a:path w="5852160" h="887730">
                <a:moveTo>
                  <a:pt x="0" y="887730"/>
                </a:moveTo>
                <a:lnTo>
                  <a:pt x="29407" y="887707"/>
                </a:lnTo>
                <a:lnTo>
                  <a:pt x="58815" y="887640"/>
                </a:lnTo>
                <a:lnTo>
                  <a:pt x="88223" y="887528"/>
                </a:lnTo>
                <a:lnTo>
                  <a:pt x="117631" y="887371"/>
                </a:lnTo>
                <a:lnTo>
                  <a:pt x="147039" y="887169"/>
                </a:lnTo>
                <a:lnTo>
                  <a:pt x="176447" y="886922"/>
                </a:lnTo>
                <a:lnTo>
                  <a:pt x="205854" y="886631"/>
                </a:lnTo>
                <a:lnTo>
                  <a:pt x="235262" y="886295"/>
                </a:lnTo>
                <a:lnTo>
                  <a:pt x="264670" y="885914"/>
                </a:lnTo>
                <a:lnTo>
                  <a:pt x="294078" y="885488"/>
                </a:lnTo>
                <a:lnTo>
                  <a:pt x="323486" y="885017"/>
                </a:lnTo>
                <a:lnTo>
                  <a:pt x="352894" y="884501"/>
                </a:lnTo>
                <a:lnTo>
                  <a:pt x="382301" y="883941"/>
                </a:lnTo>
                <a:lnTo>
                  <a:pt x="411709" y="883336"/>
                </a:lnTo>
                <a:lnTo>
                  <a:pt x="441117" y="882686"/>
                </a:lnTo>
                <a:lnTo>
                  <a:pt x="470525" y="881991"/>
                </a:lnTo>
                <a:lnTo>
                  <a:pt x="499933" y="881251"/>
                </a:lnTo>
                <a:lnTo>
                  <a:pt x="529341" y="880466"/>
                </a:lnTo>
                <a:lnTo>
                  <a:pt x="558748" y="879637"/>
                </a:lnTo>
                <a:lnTo>
                  <a:pt x="588156" y="878763"/>
                </a:lnTo>
                <a:lnTo>
                  <a:pt x="617564" y="877844"/>
                </a:lnTo>
                <a:lnTo>
                  <a:pt x="646972" y="876880"/>
                </a:lnTo>
                <a:lnTo>
                  <a:pt x="676380" y="875871"/>
                </a:lnTo>
                <a:lnTo>
                  <a:pt x="705788" y="874817"/>
                </a:lnTo>
                <a:lnTo>
                  <a:pt x="735195" y="873719"/>
                </a:lnTo>
                <a:lnTo>
                  <a:pt x="764603" y="872576"/>
                </a:lnTo>
                <a:lnTo>
                  <a:pt x="794011" y="871388"/>
                </a:lnTo>
                <a:lnTo>
                  <a:pt x="823419" y="870155"/>
                </a:lnTo>
                <a:lnTo>
                  <a:pt x="852827" y="868877"/>
                </a:lnTo>
                <a:lnTo>
                  <a:pt x="882235" y="867554"/>
                </a:lnTo>
                <a:lnTo>
                  <a:pt x="911643" y="866187"/>
                </a:lnTo>
                <a:lnTo>
                  <a:pt x="941050" y="864775"/>
                </a:lnTo>
                <a:lnTo>
                  <a:pt x="970458" y="863318"/>
                </a:lnTo>
                <a:lnTo>
                  <a:pt x="999866" y="861816"/>
                </a:lnTo>
                <a:lnTo>
                  <a:pt x="1029274" y="860269"/>
                </a:lnTo>
                <a:lnTo>
                  <a:pt x="1058682" y="858677"/>
                </a:lnTo>
                <a:lnTo>
                  <a:pt x="1088090" y="857041"/>
                </a:lnTo>
                <a:lnTo>
                  <a:pt x="1117497" y="855360"/>
                </a:lnTo>
                <a:lnTo>
                  <a:pt x="1146905" y="853633"/>
                </a:lnTo>
                <a:lnTo>
                  <a:pt x="1176313" y="851863"/>
                </a:lnTo>
                <a:lnTo>
                  <a:pt x="1205721" y="850047"/>
                </a:lnTo>
                <a:lnTo>
                  <a:pt x="1235129" y="848186"/>
                </a:lnTo>
                <a:lnTo>
                  <a:pt x="1264537" y="846281"/>
                </a:lnTo>
                <a:lnTo>
                  <a:pt x="1293944" y="844330"/>
                </a:lnTo>
                <a:lnTo>
                  <a:pt x="1323352" y="842335"/>
                </a:lnTo>
                <a:lnTo>
                  <a:pt x="1352760" y="840295"/>
                </a:lnTo>
                <a:lnTo>
                  <a:pt x="1382168" y="838211"/>
                </a:lnTo>
                <a:lnTo>
                  <a:pt x="1411576" y="836081"/>
                </a:lnTo>
                <a:lnTo>
                  <a:pt x="1440984" y="833907"/>
                </a:lnTo>
                <a:lnTo>
                  <a:pt x="1470391" y="831687"/>
                </a:lnTo>
                <a:lnTo>
                  <a:pt x="1499799" y="829423"/>
                </a:lnTo>
                <a:lnTo>
                  <a:pt x="1529207" y="827114"/>
                </a:lnTo>
                <a:lnTo>
                  <a:pt x="1558615" y="824761"/>
                </a:lnTo>
                <a:lnTo>
                  <a:pt x="1588023" y="822362"/>
                </a:lnTo>
                <a:lnTo>
                  <a:pt x="1617431" y="819919"/>
                </a:lnTo>
                <a:lnTo>
                  <a:pt x="1646838" y="817430"/>
                </a:lnTo>
                <a:lnTo>
                  <a:pt x="1676246" y="814897"/>
                </a:lnTo>
                <a:lnTo>
                  <a:pt x="1705654" y="812319"/>
                </a:lnTo>
                <a:lnTo>
                  <a:pt x="1735062" y="809696"/>
                </a:lnTo>
                <a:lnTo>
                  <a:pt x="1764470" y="807029"/>
                </a:lnTo>
                <a:lnTo>
                  <a:pt x="1793878" y="804316"/>
                </a:lnTo>
                <a:lnTo>
                  <a:pt x="1823286" y="801559"/>
                </a:lnTo>
                <a:lnTo>
                  <a:pt x="1852693" y="798757"/>
                </a:lnTo>
                <a:lnTo>
                  <a:pt x="1882101" y="795910"/>
                </a:lnTo>
                <a:lnTo>
                  <a:pt x="1911509" y="793018"/>
                </a:lnTo>
                <a:lnTo>
                  <a:pt x="1940917" y="790082"/>
                </a:lnTo>
                <a:lnTo>
                  <a:pt x="1970325" y="787100"/>
                </a:lnTo>
                <a:lnTo>
                  <a:pt x="1999733" y="784074"/>
                </a:lnTo>
                <a:lnTo>
                  <a:pt x="2029140" y="781003"/>
                </a:lnTo>
                <a:lnTo>
                  <a:pt x="2058548" y="777887"/>
                </a:lnTo>
                <a:lnTo>
                  <a:pt x="2087956" y="774726"/>
                </a:lnTo>
                <a:lnTo>
                  <a:pt x="2117364" y="771521"/>
                </a:lnTo>
                <a:lnTo>
                  <a:pt x="2146772" y="768270"/>
                </a:lnTo>
                <a:lnTo>
                  <a:pt x="2176180" y="764975"/>
                </a:lnTo>
                <a:lnTo>
                  <a:pt x="2205587" y="761635"/>
                </a:lnTo>
                <a:lnTo>
                  <a:pt x="2234995" y="758250"/>
                </a:lnTo>
                <a:lnTo>
                  <a:pt x="2264403" y="754820"/>
                </a:lnTo>
                <a:lnTo>
                  <a:pt x="2293811" y="751345"/>
                </a:lnTo>
                <a:lnTo>
                  <a:pt x="2323219" y="747826"/>
                </a:lnTo>
                <a:lnTo>
                  <a:pt x="2352627" y="744262"/>
                </a:lnTo>
                <a:lnTo>
                  <a:pt x="2382034" y="740652"/>
                </a:lnTo>
                <a:lnTo>
                  <a:pt x="2411442" y="736999"/>
                </a:lnTo>
                <a:lnTo>
                  <a:pt x="2440850" y="733300"/>
                </a:lnTo>
                <a:lnTo>
                  <a:pt x="2470258" y="729556"/>
                </a:lnTo>
                <a:lnTo>
                  <a:pt x="2499666" y="725768"/>
                </a:lnTo>
                <a:lnTo>
                  <a:pt x="2529074" y="721934"/>
                </a:lnTo>
                <a:lnTo>
                  <a:pt x="2558482" y="718056"/>
                </a:lnTo>
                <a:lnTo>
                  <a:pt x="2587889" y="714133"/>
                </a:lnTo>
                <a:lnTo>
                  <a:pt x="2617297" y="710166"/>
                </a:lnTo>
                <a:lnTo>
                  <a:pt x="2646705" y="706153"/>
                </a:lnTo>
                <a:lnTo>
                  <a:pt x="2676113" y="702095"/>
                </a:lnTo>
                <a:lnTo>
                  <a:pt x="2705521" y="697993"/>
                </a:lnTo>
                <a:lnTo>
                  <a:pt x="2734929" y="693846"/>
                </a:lnTo>
                <a:lnTo>
                  <a:pt x="2764336" y="689654"/>
                </a:lnTo>
                <a:lnTo>
                  <a:pt x="2793744" y="685417"/>
                </a:lnTo>
                <a:lnTo>
                  <a:pt x="2823152" y="681136"/>
                </a:lnTo>
                <a:lnTo>
                  <a:pt x="2852560" y="676809"/>
                </a:lnTo>
                <a:lnTo>
                  <a:pt x="2881968" y="672438"/>
                </a:lnTo>
                <a:lnTo>
                  <a:pt x="2911376" y="668022"/>
                </a:lnTo>
                <a:lnTo>
                  <a:pt x="2940783" y="663561"/>
                </a:lnTo>
                <a:lnTo>
                  <a:pt x="2970191" y="659055"/>
                </a:lnTo>
                <a:lnTo>
                  <a:pt x="2999599" y="654505"/>
                </a:lnTo>
                <a:lnTo>
                  <a:pt x="3029007" y="649909"/>
                </a:lnTo>
                <a:lnTo>
                  <a:pt x="3058415" y="645269"/>
                </a:lnTo>
                <a:lnTo>
                  <a:pt x="3087823" y="640584"/>
                </a:lnTo>
                <a:lnTo>
                  <a:pt x="3117230" y="635854"/>
                </a:lnTo>
                <a:lnTo>
                  <a:pt x="3146638" y="631079"/>
                </a:lnTo>
                <a:lnTo>
                  <a:pt x="3176046" y="626259"/>
                </a:lnTo>
                <a:lnTo>
                  <a:pt x="3205454" y="621395"/>
                </a:lnTo>
                <a:lnTo>
                  <a:pt x="3234862" y="616486"/>
                </a:lnTo>
                <a:lnTo>
                  <a:pt x="3264270" y="611531"/>
                </a:lnTo>
                <a:lnTo>
                  <a:pt x="3293677" y="606532"/>
                </a:lnTo>
                <a:lnTo>
                  <a:pt x="3323085" y="601489"/>
                </a:lnTo>
                <a:lnTo>
                  <a:pt x="3352493" y="596400"/>
                </a:lnTo>
                <a:lnTo>
                  <a:pt x="3381901" y="591267"/>
                </a:lnTo>
                <a:lnTo>
                  <a:pt x="3411309" y="586088"/>
                </a:lnTo>
                <a:lnTo>
                  <a:pt x="3440717" y="580865"/>
                </a:lnTo>
                <a:lnTo>
                  <a:pt x="3470125" y="575597"/>
                </a:lnTo>
                <a:lnTo>
                  <a:pt x="3499532" y="570284"/>
                </a:lnTo>
                <a:lnTo>
                  <a:pt x="3528940" y="564927"/>
                </a:lnTo>
                <a:lnTo>
                  <a:pt x="3558348" y="559524"/>
                </a:lnTo>
                <a:lnTo>
                  <a:pt x="3587756" y="554077"/>
                </a:lnTo>
                <a:lnTo>
                  <a:pt x="3617164" y="548585"/>
                </a:lnTo>
                <a:lnTo>
                  <a:pt x="3646572" y="543048"/>
                </a:lnTo>
                <a:lnTo>
                  <a:pt x="3675979" y="537466"/>
                </a:lnTo>
                <a:lnTo>
                  <a:pt x="3705387" y="531839"/>
                </a:lnTo>
                <a:lnTo>
                  <a:pt x="3734795" y="526168"/>
                </a:lnTo>
                <a:lnTo>
                  <a:pt x="3764203" y="520452"/>
                </a:lnTo>
                <a:lnTo>
                  <a:pt x="3793611" y="514691"/>
                </a:lnTo>
                <a:lnTo>
                  <a:pt x="3823019" y="508885"/>
                </a:lnTo>
                <a:lnTo>
                  <a:pt x="3852426" y="503034"/>
                </a:lnTo>
                <a:lnTo>
                  <a:pt x="3881834" y="497138"/>
                </a:lnTo>
                <a:lnTo>
                  <a:pt x="3911242" y="491198"/>
                </a:lnTo>
                <a:lnTo>
                  <a:pt x="3940650" y="485212"/>
                </a:lnTo>
                <a:lnTo>
                  <a:pt x="3970058" y="479182"/>
                </a:lnTo>
                <a:lnTo>
                  <a:pt x="3999466" y="473107"/>
                </a:lnTo>
                <a:lnTo>
                  <a:pt x="4028873" y="466987"/>
                </a:lnTo>
                <a:lnTo>
                  <a:pt x="4058281" y="460823"/>
                </a:lnTo>
                <a:lnTo>
                  <a:pt x="4087689" y="454613"/>
                </a:lnTo>
                <a:lnTo>
                  <a:pt x="4117097" y="448359"/>
                </a:lnTo>
                <a:lnTo>
                  <a:pt x="4146505" y="442060"/>
                </a:lnTo>
                <a:lnTo>
                  <a:pt x="4175913" y="435716"/>
                </a:lnTo>
                <a:lnTo>
                  <a:pt x="4205321" y="429327"/>
                </a:lnTo>
                <a:lnTo>
                  <a:pt x="4234728" y="422894"/>
                </a:lnTo>
                <a:lnTo>
                  <a:pt x="4264136" y="416415"/>
                </a:lnTo>
                <a:lnTo>
                  <a:pt x="4293544" y="409892"/>
                </a:lnTo>
                <a:lnTo>
                  <a:pt x="4322952" y="403324"/>
                </a:lnTo>
                <a:lnTo>
                  <a:pt x="4352360" y="396711"/>
                </a:lnTo>
                <a:lnTo>
                  <a:pt x="4381768" y="390053"/>
                </a:lnTo>
                <a:lnTo>
                  <a:pt x="4411175" y="383350"/>
                </a:lnTo>
                <a:lnTo>
                  <a:pt x="4440583" y="376603"/>
                </a:lnTo>
                <a:lnTo>
                  <a:pt x="4469991" y="369810"/>
                </a:lnTo>
                <a:lnTo>
                  <a:pt x="4499399" y="362973"/>
                </a:lnTo>
                <a:lnTo>
                  <a:pt x="4528807" y="356091"/>
                </a:lnTo>
                <a:lnTo>
                  <a:pt x="4558215" y="349164"/>
                </a:lnTo>
                <a:lnTo>
                  <a:pt x="4587622" y="342193"/>
                </a:lnTo>
                <a:lnTo>
                  <a:pt x="4617030" y="335176"/>
                </a:lnTo>
                <a:lnTo>
                  <a:pt x="4646438" y="328115"/>
                </a:lnTo>
                <a:lnTo>
                  <a:pt x="4675846" y="321009"/>
                </a:lnTo>
                <a:lnTo>
                  <a:pt x="4705254" y="313858"/>
                </a:lnTo>
                <a:lnTo>
                  <a:pt x="4734662" y="306662"/>
                </a:lnTo>
                <a:lnTo>
                  <a:pt x="4764069" y="299421"/>
                </a:lnTo>
                <a:lnTo>
                  <a:pt x="4793477" y="292136"/>
                </a:lnTo>
                <a:lnTo>
                  <a:pt x="4822885" y="284806"/>
                </a:lnTo>
                <a:lnTo>
                  <a:pt x="4852293" y="277431"/>
                </a:lnTo>
                <a:lnTo>
                  <a:pt x="4881701" y="270011"/>
                </a:lnTo>
                <a:lnTo>
                  <a:pt x="4911109" y="262546"/>
                </a:lnTo>
                <a:lnTo>
                  <a:pt x="4940516" y="255036"/>
                </a:lnTo>
                <a:lnTo>
                  <a:pt x="4969924" y="247482"/>
                </a:lnTo>
                <a:lnTo>
                  <a:pt x="4999332" y="239882"/>
                </a:lnTo>
                <a:lnTo>
                  <a:pt x="5028740" y="232238"/>
                </a:lnTo>
                <a:lnTo>
                  <a:pt x="5058148" y="224549"/>
                </a:lnTo>
                <a:lnTo>
                  <a:pt x="5087556" y="216815"/>
                </a:lnTo>
                <a:lnTo>
                  <a:pt x="5116964" y="209037"/>
                </a:lnTo>
                <a:lnTo>
                  <a:pt x="5146371" y="201213"/>
                </a:lnTo>
                <a:lnTo>
                  <a:pt x="5175779" y="193345"/>
                </a:lnTo>
                <a:lnTo>
                  <a:pt x="5205187" y="185432"/>
                </a:lnTo>
                <a:lnTo>
                  <a:pt x="5234595" y="177474"/>
                </a:lnTo>
                <a:lnTo>
                  <a:pt x="5264003" y="169471"/>
                </a:lnTo>
                <a:lnTo>
                  <a:pt x="5293411" y="161423"/>
                </a:lnTo>
                <a:lnTo>
                  <a:pt x="5322818" y="153331"/>
                </a:lnTo>
                <a:lnTo>
                  <a:pt x="5352226" y="145193"/>
                </a:lnTo>
                <a:lnTo>
                  <a:pt x="5381634" y="137011"/>
                </a:lnTo>
                <a:lnTo>
                  <a:pt x="5411042" y="128784"/>
                </a:lnTo>
                <a:lnTo>
                  <a:pt x="5440450" y="120513"/>
                </a:lnTo>
                <a:lnTo>
                  <a:pt x="5469858" y="112196"/>
                </a:lnTo>
                <a:lnTo>
                  <a:pt x="5499265" y="103834"/>
                </a:lnTo>
                <a:lnTo>
                  <a:pt x="5528673" y="95428"/>
                </a:lnTo>
                <a:lnTo>
                  <a:pt x="5558081" y="86977"/>
                </a:lnTo>
                <a:lnTo>
                  <a:pt x="5587489" y="78481"/>
                </a:lnTo>
                <a:lnTo>
                  <a:pt x="5616897" y="69940"/>
                </a:lnTo>
                <a:lnTo>
                  <a:pt x="5646305" y="61354"/>
                </a:lnTo>
                <a:lnTo>
                  <a:pt x="5675712" y="52724"/>
                </a:lnTo>
                <a:lnTo>
                  <a:pt x="5705120" y="44049"/>
                </a:lnTo>
                <a:lnTo>
                  <a:pt x="5734528" y="35328"/>
                </a:lnTo>
                <a:lnTo>
                  <a:pt x="5763936" y="26563"/>
                </a:lnTo>
                <a:lnTo>
                  <a:pt x="5793344" y="17754"/>
                </a:lnTo>
                <a:lnTo>
                  <a:pt x="5822752" y="8899"/>
                </a:lnTo>
                <a:lnTo>
                  <a:pt x="585216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4-E30 polygon 34" descr="sci-ppt:o034"/>
          <p:cNvSpPr/>
          <p:nvPr/>
        </p:nvSpPr>
        <p:spPr>
          <a:xfrm>
            <a:off x="914400" y="1703069"/>
            <a:ext cx="5852160" cy="887731"/>
          </a:xfrm>
          <a:custGeom>
            <a:avLst/>
            <a:gdLst/>
            <a:ahLst/>
            <a:cxnLst/>
            <a:rect l="l" t="t" r="r" b="b"/>
            <a:pathLst>
              <a:path w="5852160" h="887731">
                <a:moveTo>
                  <a:pt x="0" y="887731"/>
                </a:moveTo>
                <a:lnTo>
                  <a:pt x="29407" y="887708"/>
                </a:lnTo>
                <a:lnTo>
                  <a:pt x="58815" y="887641"/>
                </a:lnTo>
                <a:lnTo>
                  <a:pt x="88223" y="887529"/>
                </a:lnTo>
                <a:lnTo>
                  <a:pt x="117631" y="887372"/>
                </a:lnTo>
                <a:lnTo>
                  <a:pt x="147039" y="887170"/>
                </a:lnTo>
                <a:lnTo>
                  <a:pt x="176447" y="886923"/>
                </a:lnTo>
                <a:lnTo>
                  <a:pt x="205854" y="886632"/>
                </a:lnTo>
                <a:lnTo>
                  <a:pt x="235262" y="886296"/>
                </a:lnTo>
                <a:lnTo>
                  <a:pt x="264670" y="885915"/>
                </a:lnTo>
                <a:lnTo>
                  <a:pt x="294078" y="885489"/>
                </a:lnTo>
                <a:lnTo>
                  <a:pt x="323486" y="885018"/>
                </a:lnTo>
                <a:lnTo>
                  <a:pt x="352894" y="884502"/>
                </a:lnTo>
                <a:lnTo>
                  <a:pt x="382301" y="883942"/>
                </a:lnTo>
                <a:lnTo>
                  <a:pt x="411709" y="883337"/>
                </a:lnTo>
                <a:lnTo>
                  <a:pt x="441117" y="882687"/>
                </a:lnTo>
                <a:lnTo>
                  <a:pt x="470525" y="881992"/>
                </a:lnTo>
                <a:lnTo>
                  <a:pt x="499933" y="881252"/>
                </a:lnTo>
                <a:lnTo>
                  <a:pt x="529341" y="880467"/>
                </a:lnTo>
                <a:lnTo>
                  <a:pt x="558748" y="879638"/>
                </a:lnTo>
                <a:lnTo>
                  <a:pt x="588156" y="878764"/>
                </a:lnTo>
                <a:lnTo>
                  <a:pt x="617564" y="877845"/>
                </a:lnTo>
                <a:lnTo>
                  <a:pt x="646972" y="876881"/>
                </a:lnTo>
                <a:lnTo>
                  <a:pt x="676380" y="875872"/>
                </a:lnTo>
                <a:lnTo>
                  <a:pt x="705788" y="874818"/>
                </a:lnTo>
                <a:lnTo>
                  <a:pt x="735195" y="873720"/>
                </a:lnTo>
                <a:lnTo>
                  <a:pt x="764603" y="872577"/>
                </a:lnTo>
                <a:lnTo>
                  <a:pt x="794011" y="871389"/>
                </a:lnTo>
                <a:lnTo>
                  <a:pt x="823419" y="870156"/>
                </a:lnTo>
                <a:lnTo>
                  <a:pt x="852827" y="868878"/>
                </a:lnTo>
                <a:lnTo>
                  <a:pt x="882235" y="867555"/>
                </a:lnTo>
                <a:lnTo>
                  <a:pt x="911643" y="866188"/>
                </a:lnTo>
                <a:lnTo>
                  <a:pt x="941050" y="864776"/>
                </a:lnTo>
                <a:lnTo>
                  <a:pt x="970458" y="863319"/>
                </a:lnTo>
                <a:lnTo>
                  <a:pt x="999866" y="861817"/>
                </a:lnTo>
                <a:lnTo>
                  <a:pt x="1029274" y="860270"/>
                </a:lnTo>
                <a:lnTo>
                  <a:pt x="1058682" y="858678"/>
                </a:lnTo>
                <a:lnTo>
                  <a:pt x="1088090" y="857042"/>
                </a:lnTo>
                <a:lnTo>
                  <a:pt x="1117497" y="855361"/>
                </a:lnTo>
                <a:lnTo>
                  <a:pt x="1146905" y="853634"/>
                </a:lnTo>
                <a:lnTo>
                  <a:pt x="1176313" y="851864"/>
                </a:lnTo>
                <a:lnTo>
                  <a:pt x="1205721" y="850048"/>
                </a:lnTo>
                <a:lnTo>
                  <a:pt x="1235129" y="848187"/>
                </a:lnTo>
                <a:lnTo>
                  <a:pt x="1264537" y="846282"/>
                </a:lnTo>
                <a:lnTo>
                  <a:pt x="1293944" y="844331"/>
                </a:lnTo>
                <a:lnTo>
                  <a:pt x="1323352" y="842336"/>
                </a:lnTo>
                <a:lnTo>
                  <a:pt x="1352760" y="840296"/>
                </a:lnTo>
                <a:lnTo>
                  <a:pt x="1382168" y="838212"/>
                </a:lnTo>
                <a:lnTo>
                  <a:pt x="1411576" y="836082"/>
                </a:lnTo>
                <a:lnTo>
                  <a:pt x="1440984" y="833908"/>
                </a:lnTo>
                <a:lnTo>
                  <a:pt x="1470391" y="831688"/>
                </a:lnTo>
                <a:lnTo>
                  <a:pt x="1499799" y="829424"/>
                </a:lnTo>
                <a:lnTo>
                  <a:pt x="1529207" y="827115"/>
                </a:lnTo>
                <a:lnTo>
                  <a:pt x="1558615" y="824762"/>
                </a:lnTo>
                <a:lnTo>
                  <a:pt x="1588023" y="822363"/>
                </a:lnTo>
                <a:lnTo>
                  <a:pt x="1617431" y="819920"/>
                </a:lnTo>
                <a:lnTo>
                  <a:pt x="1646838" y="817431"/>
                </a:lnTo>
                <a:lnTo>
                  <a:pt x="1676246" y="814898"/>
                </a:lnTo>
                <a:lnTo>
                  <a:pt x="1705654" y="812320"/>
                </a:lnTo>
                <a:lnTo>
                  <a:pt x="1735062" y="809697"/>
                </a:lnTo>
                <a:lnTo>
                  <a:pt x="1764470" y="807030"/>
                </a:lnTo>
                <a:lnTo>
                  <a:pt x="1793878" y="804317"/>
                </a:lnTo>
                <a:lnTo>
                  <a:pt x="1823286" y="801560"/>
                </a:lnTo>
                <a:lnTo>
                  <a:pt x="1852693" y="798758"/>
                </a:lnTo>
                <a:lnTo>
                  <a:pt x="1882101" y="795911"/>
                </a:lnTo>
                <a:lnTo>
                  <a:pt x="1911509" y="793019"/>
                </a:lnTo>
                <a:lnTo>
                  <a:pt x="1940917" y="790083"/>
                </a:lnTo>
                <a:lnTo>
                  <a:pt x="1970325" y="787101"/>
                </a:lnTo>
                <a:lnTo>
                  <a:pt x="1999733" y="784075"/>
                </a:lnTo>
                <a:lnTo>
                  <a:pt x="2029140" y="781004"/>
                </a:lnTo>
                <a:lnTo>
                  <a:pt x="2058548" y="777888"/>
                </a:lnTo>
                <a:lnTo>
                  <a:pt x="2087956" y="774727"/>
                </a:lnTo>
                <a:lnTo>
                  <a:pt x="2117364" y="771522"/>
                </a:lnTo>
                <a:lnTo>
                  <a:pt x="2146772" y="768271"/>
                </a:lnTo>
                <a:lnTo>
                  <a:pt x="2176180" y="764976"/>
                </a:lnTo>
                <a:lnTo>
                  <a:pt x="2205587" y="761636"/>
                </a:lnTo>
                <a:lnTo>
                  <a:pt x="2234995" y="758251"/>
                </a:lnTo>
                <a:lnTo>
                  <a:pt x="2264403" y="754821"/>
                </a:lnTo>
                <a:lnTo>
                  <a:pt x="2293811" y="751346"/>
                </a:lnTo>
                <a:lnTo>
                  <a:pt x="2323219" y="747827"/>
                </a:lnTo>
                <a:lnTo>
                  <a:pt x="2352627" y="744263"/>
                </a:lnTo>
                <a:lnTo>
                  <a:pt x="2382034" y="740653"/>
                </a:lnTo>
                <a:lnTo>
                  <a:pt x="2411442" y="737000"/>
                </a:lnTo>
                <a:lnTo>
                  <a:pt x="2440850" y="733301"/>
                </a:lnTo>
                <a:lnTo>
                  <a:pt x="2470258" y="729557"/>
                </a:lnTo>
                <a:lnTo>
                  <a:pt x="2499666" y="725769"/>
                </a:lnTo>
                <a:lnTo>
                  <a:pt x="2529074" y="721935"/>
                </a:lnTo>
                <a:lnTo>
                  <a:pt x="2558482" y="718057"/>
                </a:lnTo>
                <a:lnTo>
                  <a:pt x="2587889" y="714134"/>
                </a:lnTo>
                <a:lnTo>
                  <a:pt x="2617297" y="710167"/>
                </a:lnTo>
                <a:lnTo>
                  <a:pt x="2646705" y="706154"/>
                </a:lnTo>
                <a:lnTo>
                  <a:pt x="2676113" y="702096"/>
                </a:lnTo>
                <a:lnTo>
                  <a:pt x="2705521" y="697994"/>
                </a:lnTo>
                <a:lnTo>
                  <a:pt x="2734929" y="693847"/>
                </a:lnTo>
                <a:lnTo>
                  <a:pt x="2764336" y="689655"/>
                </a:lnTo>
                <a:lnTo>
                  <a:pt x="2793744" y="685418"/>
                </a:lnTo>
                <a:lnTo>
                  <a:pt x="2823152" y="681137"/>
                </a:lnTo>
                <a:lnTo>
                  <a:pt x="2852560" y="676810"/>
                </a:lnTo>
                <a:lnTo>
                  <a:pt x="2881968" y="672439"/>
                </a:lnTo>
                <a:lnTo>
                  <a:pt x="2911376" y="668023"/>
                </a:lnTo>
                <a:lnTo>
                  <a:pt x="2940783" y="663562"/>
                </a:lnTo>
                <a:lnTo>
                  <a:pt x="2970191" y="659056"/>
                </a:lnTo>
                <a:lnTo>
                  <a:pt x="2999599" y="654506"/>
                </a:lnTo>
                <a:lnTo>
                  <a:pt x="3029007" y="649910"/>
                </a:lnTo>
                <a:lnTo>
                  <a:pt x="3058415" y="645270"/>
                </a:lnTo>
                <a:lnTo>
                  <a:pt x="3087823" y="640585"/>
                </a:lnTo>
                <a:lnTo>
                  <a:pt x="3117230" y="635855"/>
                </a:lnTo>
                <a:lnTo>
                  <a:pt x="3146638" y="631080"/>
                </a:lnTo>
                <a:lnTo>
                  <a:pt x="3176046" y="626260"/>
                </a:lnTo>
                <a:lnTo>
                  <a:pt x="3205454" y="621396"/>
                </a:lnTo>
                <a:lnTo>
                  <a:pt x="3234862" y="616487"/>
                </a:lnTo>
                <a:lnTo>
                  <a:pt x="3264270" y="611532"/>
                </a:lnTo>
                <a:lnTo>
                  <a:pt x="3293677" y="606533"/>
                </a:lnTo>
                <a:lnTo>
                  <a:pt x="3323085" y="601490"/>
                </a:lnTo>
                <a:lnTo>
                  <a:pt x="3352493" y="596401"/>
                </a:lnTo>
                <a:lnTo>
                  <a:pt x="3381901" y="591268"/>
                </a:lnTo>
                <a:lnTo>
                  <a:pt x="3411309" y="586089"/>
                </a:lnTo>
                <a:lnTo>
                  <a:pt x="3440717" y="580866"/>
                </a:lnTo>
                <a:lnTo>
                  <a:pt x="3470125" y="575598"/>
                </a:lnTo>
                <a:lnTo>
                  <a:pt x="3499532" y="570285"/>
                </a:lnTo>
                <a:lnTo>
                  <a:pt x="3528940" y="564928"/>
                </a:lnTo>
                <a:lnTo>
                  <a:pt x="3558348" y="559525"/>
                </a:lnTo>
                <a:lnTo>
                  <a:pt x="3587756" y="554078"/>
                </a:lnTo>
                <a:lnTo>
                  <a:pt x="3617164" y="548586"/>
                </a:lnTo>
                <a:lnTo>
                  <a:pt x="3646572" y="543049"/>
                </a:lnTo>
                <a:lnTo>
                  <a:pt x="3675979" y="537467"/>
                </a:lnTo>
                <a:lnTo>
                  <a:pt x="3705387" y="531840"/>
                </a:lnTo>
                <a:lnTo>
                  <a:pt x="3734795" y="526169"/>
                </a:lnTo>
                <a:lnTo>
                  <a:pt x="3764203" y="520453"/>
                </a:lnTo>
                <a:lnTo>
                  <a:pt x="3793611" y="514692"/>
                </a:lnTo>
                <a:lnTo>
                  <a:pt x="3823019" y="508886"/>
                </a:lnTo>
                <a:lnTo>
                  <a:pt x="3852426" y="503035"/>
                </a:lnTo>
                <a:lnTo>
                  <a:pt x="3881834" y="497139"/>
                </a:lnTo>
                <a:lnTo>
                  <a:pt x="3911242" y="491199"/>
                </a:lnTo>
                <a:lnTo>
                  <a:pt x="3940650" y="485213"/>
                </a:lnTo>
                <a:lnTo>
                  <a:pt x="3970058" y="479183"/>
                </a:lnTo>
                <a:lnTo>
                  <a:pt x="3999466" y="473108"/>
                </a:lnTo>
                <a:lnTo>
                  <a:pt x="4028873" y="466988"/>
                </a:lnTo>
                <a:lnTo>
                  <a:pt x="4058281" y="460824"/>
                </a:lnTo>
                <a:lnTo>
                  <a:pt x="4087689" y="454614"/>
                </a:lnTo>
                <a:lnTo>
                  <a:pt x="4117097" y="448360"/>
                </a:lnTo>
                <a:lnTo>
                  <a:pt x="4146505" y="442061"/>
                </a:lnTo>
                <a:lnTo>
                  <a:pt x="4175913" y="435717"/>
                </a:lnTo>
                <a:lnTo>
                  <a:pt x="4205321" y="429328"/>
                </a:lnTo>
                <a:lnTo>
                  <a:pt x="4234728" y="422895"/>
                </a:lnTo>
                <a:lnTo>
                  <a:pt x="4264136" y="416416"/>
                </a:lnTo>
                <a:lnTo>
                  <a:pt x="4293544" y="409893"/>
                </a:lnTo>
                <a:lnTo>
                  <a:pt x="4322952" y="403325"/>
                </a:lnTo>
                <a:lnTo>
                  <a:pt x="4352360" y="396712"/>
                </a:lnTo>
                <a:lnTo>
                  <a:pt x="4381768" y="390054"/>
                </a:lnTo>
                <a:lnTo>
                  <a:pt x="4411175" y="383351"/>
                </a:lnTo>
                <a:lnTo>
                  <a:pt x="4440583" y="376604"/>
                </a:lnTo>
                <a:lnTo>
                  <a:pt x="4469991" y="369811"/>
                </a:lnTo>
                <a:lnTo>
                  <a:pt x="4499399" y="362974"/>
                </a:lnTo>
                <a:lnTo>
                  <a:pt x="4528807" y="356092"/>
                </a:lnTo>
                <a:lnTo>
                  <a:pt x="4558215" y="349165"/>
                </a:lnTo>
                <a:lnTo>
                  <a:pt x="4587622" y="342194"/>
                </a:lnTo>
                <a:lnTo>
                  <a:pt x="4617030" y="335177"/>
                </a:lnTo>
                <a:lnTo>
                  <a:pt x="4646438" y="328116"/>
                </a:lnTo>
                <a:lnTo>
                  <a:pt x="4675846" y="321010"/>
                </a:lnTo>
                <a:lnTo>
                  <a:pt x="4705254" y="313859"/>
                </a:lnTo>
                <a:lnTo>
                  <a:pt x="4734662" y="306663"/>
                </a:lnTo>
                <a:lnTo>
                  <a:pt x="4764069" y="299422"/>
                </a:lnTo>
                <a:lnTo>
                  <a:pt x="4793477" y="292137"/>
                </a:lnTo>
                <a:lnTo>
                  <a:pt x="4822885" y="284807"/>
                </a:lnTo>
                <a:lnTo>
                  <a:pt x="4852293" y="277432"/>
                </a:lnTo>
                <a:lnTo>
                  <a:pt x="4881701" y="270012"/>
                </a:lnTo>
                <a:lnTo>
                  <a:pt x="4911109" y="262547"/>
                </a:lnTo>
                <a:lnTo>
                  <a:pt x="4940516" y="255037"/>
                </a:lnTo>
                <a:lnTo>
                  <a:pt x="4969924" y="247483"/>
                </a:lnTo>
                <a:lnTo>
                  <a:pt x="4999332" y="239883"/>
                </a:lnTo>
                <a:lnTo>
                  <a:pt x="5028740" y="232239"/>
                </a:lnTo>
                <a:lnTo>
                  <a:pt x="5058148" y="224550"/>
                </a:lnTo>
                <a:lnTo>
                  <a:pt x="5087556" y="216816"/>
                </a:lnTo>
                <a:lnTo>
                  <a:pt x="5116964" y="209038"/>
                </a:lnTo>
                <a:lnTo>
                  <a:pt x="5146371" y="201214"/>
                </a:lnTo>
                <a:lnTo>
                  <a:pt x="5175779" y="193346"/>
                </a:lnTo>
                <a:lnTo>
                  <a:pt x="5205187" y="185433"/>
                </a:lnTo>
                <a:lnTo>
                  <a:pt x="5234595" y="177475"/>
                </a:lnTo>
                <a:lnTo>
                  <a:pt x="5264003" y="169472"/>
                </a:lnTo>
                <a:lnTo>
                  <a:pt x="5293411" y="161424"/>
                </a:lnTo>
                <a:lnTo>
                  <a:pt x="5322818" y="153332"/>
                </a:lnTo>
                <a:lnTo>
                  <a:pt x="5352226" y="145194"/>
                </a:lnTo>
                <a:lnTo>
                  <a:pt x="5381634" y="137012"/>
                </a:lnTo>
                <a:lnTo>
                  <a:pt x="5411042" y="128785"/>
                </a:lnTo>
                <a:lnTo>
                  <a:pt x="5440450" y="120514"/>
                </a:lnTo>
                <a:lnTo>
                  <a:pt x="5469858" y="112197"/>
                </a:lnTo>
                <a:lnTo>
                  <a:pt x="5499265" y="103835"/>
                </a:lnTo>
                <a:lnTo>
                  <a:pt x="5528673" y="95429"/>
                </a:lnTo>
                <a:lnTo>
                  <a:pt x="5558081" y="86978"/>
                </a:lnTo>
                <a:lnTo>
                  <a:pt x="5587489" y="78482"/>
                </a:lnTo>
                <a:lnTo>
                  <a:pt x="5616897" y="69941"/>
                </a:lnTo>
                <a:lnTo>
                  <a:pt x="5646305" y="61355"/>
                </a:lnTo>
                <a:lnTo>
                  <a:pt x="5675712" y="52725"/>
                </a:lnTo>
                <a:lnTo>
                  <a:pt x="5705120" y="44050"/>
                </a:lnTo>
                <a:lnTo>
                  <a:pt x="5734528" y="35329"/>
                </a:lnTo>
                <a:lnTo>
                  <a:pt x="5763936" y="26564"/>
                </a:lnTo>
                <a:lnTo>
                  <a:pt x="5793344" y="17755"/>
                </a:lnTo>
                <a:lnTo>
                  <a:pt x="5822752" y="8900"/>
                </a:lnTo>
                <a:lnTo>
                  <a:pt x="5852160" y="0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4-E30 line 35" descr="sci-ppt:o035"/>
          <p:cNvCxnSpPr/>
          <p:nvPr/>
        </p:nvCxnSpPr>
        <p:spPr>
          <a:xfrm>
            <a:off x="914400" y="3809999"/>
            <a:ext cx="585216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8" name="C4-E30 text 36" descr="sci-ppt:o036"/>
          <p:cNvSpPr txBox="1"/>
          <p:nvPr/>
        </p:nvSpPr>
        <p:spPr>
          <a:xfrm>
            <a:off x="1221638" y="3322320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E_solid = 10 nJ (budget)</a:t>
            </a:r>
          </a:p>
        </p:txBody>
      </p:sp>
      <p:sp>
        <p:nvSpPr>
          <p:cNvPr id="39" name="C4-E30 text 37" descr="sci-ppt:o037"/>
          <p:cNvSpPr txBox="1"/>
          <p:nvPr/>
        </p:nvSpPr>
        <p:spPr>
          <a:xfrm>
            <a:off x="4264761" y="4181856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Γ = 0.005 J/m²: Γ A_f = 5 nJ</a:t>
            </a:r>
          </a:p>
        </p:txBody>
      </p:sp>
      <p:sp>
        <p:nvSpPr>
          <p:cNvPr id="40" name="C4-E30 text 38" descr="sci-ppt:o038"/>
          <p:cNvSpPr txBox="1"/>
          <p:nvPr/>
        </p:nvSpPr>
        <p:spPr>
          <a:xfrm>
            <a:off x="1104595" y="1676400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Γ = 0.020 J/m²: Γ A_f = 20 nJ</a:t>
            </a:r>
          </a:p>
        </p:txBody>
      </p:sp>
      <p:sp>
        <p:nvSpPr>
          <p:cNvPr id="41" name="C4-E30 round_rect 39" descr="sci-ppt:o039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4-E30 text 40" descr="sci-ppt:o040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Necessary, not sufficient</a:t>
            </a:r>
          </a:p>
        </p:txBody>
      </p:sp>
      <p:sp>
        <p:nvSpPr>
          <p:cNvPr id="43" name="C4-E30 text 41" descr="sci-ppt:o041"/>
          <p:cNvSpPr txBox="1"/>
          <p:nvPr/>
        </p:nvSpPr>
        <p:spPr>
          <a:xfrm>
            <a:off x="7178040" y="1828800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E_req(v_f) = Γ A_f + ½ m_f v_f²</a:t>
            </a:r>
          </a:p>
        </p:txBody>
      </p:sp>
      <p:sp>
        <p:nvSpPr>
          <p:cNvPr id="44" name="C4-E30 text 42" descr="sci-ppt:o042"/>
          <p:cNvSpPr txBox="1"/>
          <p:nvPr/>
        </p:nvSpPr>
        <p:spPr>
          <a:xfrm>
            <a:off x="7178040" y="2286000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I_req(v_f) = m_f v_f</a:t>
            </a:r>
          </a:p>
        </p:txBody>
      </p:sp>
      <p:sp>
        <p:nvSpPr>
          <p:cNvPr id="45" name="C4-E30 text 43" descr="sci-ppt:o043"/>
          <p:cNvSpPr txBox="1"/>
          <p:nvPr/>
        </p:nvSpPr>
        <p:spPr>
          <a:xfrm>
            <a:off x="7178040" y="283464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pass:  E_solid ≥ E_req  and  Iₙₑₜ ≥ I_req</a:t>
            </a:r>
          </a:p>
        </p:txBody>
      </p:sp>
      <p:sp>
        <p:nvSpPr>
          <p:cNvPr id="46" name="C4-E30 text 44" descr="sci-ppt:o044"/>
          <p:cNvSpPr txBox="1"/>
          <p:nvPr/>
        </p:nvSpPr>
        <p:spPr>
          <a:xfrm>
            <a:off x="7178040" y="3474720"/>
            <a:ext cx="45720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whole release area A_f, not a pressure peak, sets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fracture energy cost.</a:t>
            </a:r>
          </a:p>
        </p:txBody>
      </p:sp>
      <p:sp>
        <p:nvSpPr>
          <p:cNvPr id="47" name="C4-E30 text 45" descr="sci-ppt:o045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Energy to open the interface (Γ A_f) plus energy to move the released film (½ m_f v_f²).</a:t>
            </a:r>
          </a:p>
        </p:txBody>
      </p:sp>
      <p:sp>
        <p:nvSpPr>
          <p:cNvPr id="48" name="C4-E30 text 46" descr="sci-ppt:o04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Global screens of Eq. C4-E30 (A_f = 1 mm², m_f = 2.33 µg).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C4-E31 · Failed release-energy screen</a:t>
            </a:r>
          </a:p>
        </p:txBody>
      </p:sp>
      <p:sp>
        <p:nvSpPr>
          <p:cNvPr id="3" name="C4-E31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Failed release-energy screen: Γ = 0.020 J/m²</a:t>
            </a:r>
          </a:p>
        </p:txBody>
      </p:sp>
      <p:sp>
        <p:nvSpPr>
          <p:cNvPr id="4" name="C4-E31 text 2" descr="sci-ppt:o002"/>
          <p:cNvSpPr txBox="1"/>
          <p:nvPr/>
        </p:nvSpPr>
        <p:spPr>
          <a:xfrm>
            <a:off x="457200" y="1572768"/>
            <a:ext cx="35661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energy needed  Γ A_f</a:t>
            </a:r>
          </a:p>
        </p:txBody>
      </p:sp>
      <p:sp>
        <p:nvSpPr>
          <p:cNvPr id="5" name="C4-E31 rect 3" descr="sci-ppt:o003"/>
          <p:cNvSpPr/>
          <p:nvPr/>
        </p:nvSpPr>
        <p:spPr>
          <a:xfrm>
            <a:off x="4114800" y="1554480"/>
            <a:ext cx="5257800" cy="54864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4-E31 text 4" descr="sci-ppt:o004"/>
          <p:cNvSpPr txBox="1"/>
          <p:nvPr/>
        </p:nvSpPr>
        <p:spPr>
          <a:xfrm>
            <a:off x="9445752" y="1600200"/>
            <a:ext cx="1371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20.0 nJ</a:t>
            </a:r>
          </a:p>
        </p:txBody>
      </p:sp>
      <p:sp>
        <p:nvSpPr>
          <p:cNvPr id="7" name="C4-E31 text 5" descr="sci-ppt:o005"/>
          <p:cNvSpPr txBox="1"/>
          <p:nvPr/>
        </p:nvSpPr>
        <p:spPr>
          <a:xfrm>
            <a:off x="457200" y="2441448"/>
            <a:ext cx="35661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energy available  E_solid</a:t>
            </a:r>
          </a:p>
        </p:txBody>
      </p:sp>
      <p:sp>
        <p:nvSpPr>
          <p:cNvPr id="8" name="C4-E31 rect 6" descr="sci-ppt:o006"/>
          <p:cNvSpPr/>
          <p:nvPr/>
        </p:nvSpPr>
        <p:spPr>
          <a:xfrm>
            <a:off x="4114800" y="2423160"/>
            <a:ext cx="2628900" cy="54864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4-E31 text 7" descr="sci-ppt:o007"/>
          <p:cNvSpPr txBox="1"/>
          <p:nvPr/>
        </p:nvSpPr>
        <p:spPr>
          <a:xfrm>
            <a:off x="6816852" y="2468879"/>
            <a:ext cx="1371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10.0 nJ</a:t>
            </a:r>
          </a:p>
        </p:txBody>
      </p:sp>
      <p:sp>
        <p:nvSpPr>
          <p:cNvPr id="10" name="C4-E31 round_rect 8" descr="sci-ppt:o008"/>
          <p:cNvSpPr/>
          <p:nvPr/>
        </p:nvSpPr>
        <p:spPr>
          <a:xfrm>
            <a:off x="457200" y="3566160"/>
            <a:ext cx="5486400" cy="21031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4-E31 text 9" descr="sci-ppt:o009"/>
          <p:cNvSpPr txBox="1"/>
          <p:nvPr/>
        </p:nvSpPr>
        <p:spPr>
          <a:xfrm>
            <a:off x="566928" y="362102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Arithmetic</a:t>
            </a:r>
          </a:p>
        </p:txBody>
      </p:sp>
      <p:sp>
        <p:nvSpPr>
          <p:cNvPr id="12" name="C4-E31 text 10" descr="sci-ppt:o010"/>
          <p:cNvSpPr txBox="1"/>
          <p:nvPr/>
        </p:nvSpPr>
        <p:spPr>
          <a:xfrm>
            <a:off x="594360" y="4023360"/>
            <a:ext cx="5212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Γ A_f = (0.020)(1.00×10⁻⁶) J = 20.0 nJ</a:t>
            </a:r>
          </a:p>
        </p:txBody>
      </p:sp>
      <p:sp>
        <p:nvSpPr>
          <p:cNvPr id="13" name="C4-E31 text 11" descr="sci-ppt:o011"/>
          <p:cNvSpPr txBox="1"/>
          <p:nvPr/>
        </p:nvSpPr>
        <p:spPr>
          <a:xfrm>
            <a:off x="594360" y="4572000"/>
            <a:ext cx="52120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8BA0"/>
                </a:solidFill>
                <a:latin typeface="Arial"/>
              </a:rPr>
              <a:t>20.0 nJ  &gt;  E_solid = 10.0 nJ</a:t>
            </a:r>
          </a:p>
        </p:txBody>
      </p:sp>
      <p:sp>
        <p:nvSpPr>
          <p:cNvPr id="14" name="C4-E31 round_rect 12" descr="sci-ppt:o012"/>
          <p:cNvSpPr/>
          <p:nvPr/>
        </p:nvSpPr>
        <p:spPr>
          <a:xfrm>
            <a:off x="6217920" y="3566160"/>
            <a:ext cx="5486400" cy="21031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4-E31 text 13" descr="sci-ppt:o013"/>
          <p:cNvSpPr txBox="1"/>
          <p:nvPr/>
        </p:nvSpPr>
        <p:spPr>
          <a:xfrm>
            <a:off x="6327648" y="362102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Verdict</a:t>
            </a:r>
          </a:p>
        </p:txBody>
      </p:sp>
      <p:sp>
        <p:nvSpPr>
          <p:cNvPr id="16" name="C4-E31 text 14" descr="sci-ppt:o014"/>
          <p:cNvSpPr txBox="1"/>
          <p:nvPr/>
        </p:nvSpPr>
        <p:spPr>
          <a:xfrm>
            <a:off x="6355080" y="4023360"/>
            <a:ext cx="521208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FAIL: the assigned source cannot release the whole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interface even before adding departure energy.</a:t>
            </a:r>
          </a:p>
        </p:txBody>
      </p:sp>
      <p:sp>
        <p:nvSpPr>
          <p:cNvPr id="17" name="C4-E31 text 15" descr="sci-ppt:o015"/>
          <p:cNvSpPr txBox="1"/>
          <p:nvPr/>
        </p:nvSpPr>
        <p:spPr>
          <a:xfrm>
            <a:off x="6355080" y="4937760"/>
            <a:ext cx="52120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The failure is for this declared Γ and η_E.</a:t>
            </a:r>
          </a:p>
        </p:txBody>
      </p:sp>
      <p:sp>
        <p:nvSpPr>
          <p:cNvPr id="18" name="C4-E31 text 16" descr="sci-ppt:o01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Failed screen of Eq. C4-E31.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C4-E32 · Passed necessary release and minimum-speed screens</a:t>
            </a:r>
          </a:p>
        </p:txBody>
      </p:sp>
      <p:sp>
        <p:nvSpPr>
          <p:cNvPr id="3" name="C4-E32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Passed screens for Γ = 0.005 J/m² and v_f = 0.50 m/s</a:t>
            </a:r>
          </a:p>
        </p:txBody>
      </p:sp>
      <p:cxnSp>
        <p:nvCxnSpPr>
          <p:cNvPr id="4" name="C4-E32 line 2" descr="sci-ppt:o002"/>
          <p:cNvCxnSpPr/>
          <p:nvPr/>
        </p:nvCxnSpPr>
        <p:spPr>
          <a:xfrm>
            <a:off x="457200" y="4572000"/>
            <a:ext cx="56692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32 line 3" descr="sci-ppt:o003"/>
          <p:cNvCxnSpPr/>
          <p:nvPr/>
        </p:nvCxnSpPr>
        <p:spPr>
          <a:xfrm>
            <a:off x="457200" y="1554480"/>
            <a:ext cx="0" cy="30175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6" name="C4-E32 line 4" descr="sci-ppt:o004"/>
          <p:cNvCxnSpPr/>
          <p:nvPr/>
        </p:nvCxnSpPr>
        <p:spPr>
          <a:xfrm>
            <a:off x="393192" y="4572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" name="C4-E32 line 5" descr="sci-ppt:o005"/>
          <p:cNvCxnSpPr/>
          <p:nvPr/>
        </p:nvCxnSpPr>
        <p:spPr>
          <a:xfrm>
            <a:off x="457200" y="4572000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8" name="C4-E32 text 6" descr="sci-ppt:o006"/>
          <p:cNvSpPr txBox="1"/>
          <p:nvPr/>
        </p:nvSpPr>
        <p:spPr>
          <a:xfrm>
            <a:off x="-411479" y="4489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9" name="C4-E32 line 7" descr="sci-ppt:o007"/>
          <p:cNvCxnSpPr/>
          <p:nvPr/>
        </p:nvCxnSpPr>
        <p:spPr>
          <a:xfrm>
            <a:off x="393192" y="3200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0" name="C4-E32 line 8" descr="sci-ppt:o008"/>
          <p:cNvCxnSpPr/>
          <p:nvPr/>
        </p:nvCxnSpPr>
        <p:spPr>
          <a:xfrm>
            <a:off x="457200" y="3200400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1" name="C4-E32 text 9" descr="sci-ppt:o009"/>
          <p:cNvSpPr txBox="1"/>
          <p:nvPr/>
        </p:nvSpPr>
        <p:spPr>
          <a:xfrm>
            <a:off x="-411479" y="3118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12" name="C4-E32 line 10" descr="sci-ppt:o010"/>
          <p:cNvCxnSpPr/>
          <p:nvPr/>
        </p:nvCxnSpPr>
        <p:spPr>
          <a:xfrm>
            <a:off x="393192" y="1828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3" name="C4-E32 line 11" descr="sci-ppt:o011"/>
          <p:cNvCxnSpPr/>
          <p:nvPr/>
        </p:nvCxnSpPr>
        <p:spPr>
          <a:xfrm>
            <a:off x="457200" y="1828800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4" name="C4-E32 text 12" descr="sci-ppt:o012"/>
          <p:cNvSpPr txBox="1"/>
          <p:nvPr/>
        </p:nvSpPr>
        <p:spPr>
          <a:xfrm>
            <a:off x="-411479" y="1746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sp>
        <p:nvSpPr>
          <p:cNvPr id="15" name="C4-E32 rect 13" descr="sci-ppt:o013"/>
          <p:cNvSpPr/>
          <p:nvPr/>
        </p:nvSpPr>
        <p:spPr>
          <a:xfrm>
            <a:off x="721766" y="3200400"/>
            <a:ext cx="1360627" cy="137160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4-E32 text 14" descr="sci-ppt:o014"/>
          <p:cNvSpPr txBox="1"/>
          <p:nvPr/>
        </p:nvSpPr>
        <p:spPr>
          <a:xfrm>
            <a:off x="493166" y="2926080"/>
            <a:ext cx="1817827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5.000</a:t>
            </a:r>
          </a:p>
        </p:txBody>
      </p:sp>
      <p:sp>
        <p:nvSpPr>
          <p:cNvPr id="17" name="C4-E32 text 15" descr="sci-ppt:o015"/>
          <p:cNvSpPr txBox="1"/>
          <p:nvPr/>
        </p:nvSpPr>
        <p:spPr>
          <a:xfrm>
            <a:off x="447446" y="4645152"/>
            <a:ext cx="1909267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Γ A_f</a:t>
            </a:r>
          </a:p>
        </p:txBody>
      </p:sp>
      <p:sp>
        <p:nvSpPr>
          <p:cNvPr id="18" name="C4-E32 rect 16" descr="sci-ppt:o016"/>
          <p:cNvSpPr/>
          <p:nvPr/>
        </p:nvSpPr>
        <p:spPr>
          <a:xfrm>
            <a:off x="2611526" y="3120504"/>
            <a:ext cx="1360627" cy="79895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4-E32 text 17" descr="sci-ppt:o017"/>
          <p:cNvSpPr txBox="1"/>
          <p:nvPr/>
        </p:nvSpPr>
        <p:spPr>
          <a:xfrm>
            <a:off x="2382926" y="2846184"/>
            <a:ext cx="1817827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+0.291</a:t>
            </a:r>
          </a:p>
        </p:txBody>
      </p:sp>
      <p:sp>
        <p:nvSpPr>
          <p:cNvPr id="20" name="C4-E32 text 18" descr="sci-ppt:o018"/>
          <p:cNvSpPr txBox="1"/>
          <p:nvPr/>
        </p:nvSpPr>
        <p:spPr>
          <a:xfrm>
            <a:off x="2337206" y="4645152"/>
            <a:ext cx="1909267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½ m_f v_f²</a:t>
            </a:r>
          </a:p>
        </p:txBody>
      </p:sp>
      <p:sp>
        <p:nvSpPr>
          <p:cNvPr id="21" name="C4-E32 rect 19" descr="sci-ppt:o019"/>
          <p:cNvSpPr/>
          <p:nvPr/>
        </p:nvSpPr>
        <p:spPr>
          <a:xfrm>
            <a:off x="4501286" y="3120504"/>
            <a:ext cx="1360627" cy="1451495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4-E32 text 20" descr="sci-ppt:o020"/>
          <p:cNvSpPr txBox="1"/>
          <p:nvPr/>
        </p:nvSpPr>
        <p:spPr>
          <a:xfrm>
            <a:off x="4272686" y="2846184"/>
            <a:ext cx="1817827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5.291</a:t>
            </a:r>
          </a:p>
        </p:txBody>
      </p:sp>
      <p:sp>
        <p:nvSpPr>
          <p:cNvPr id="23" name="C4-E32 text 21" descr="sci-ppt:o021"/>
          <p:cNvSpPr txBox="1"/>
          <p:nvPr/>
        </p:nvSpPr>
        <p:spPr>
          <a:xfrm>
            <a:off x="4226966" y="4645152"/>
            <a:ext cx="1909267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= E_req</a:t>
            </a:r>
          </a:p>
        </p:txBody>
      </p:sp>
      <p:sp>
        <p:nvSpPr>
          <p:cNvPr id="24" name="C4-E32 text 22" descr="sci-ppt:o022"/>
          <p:cNvSpPr txBox="1"/>
          <p:nvPr/>
        </p:nvSpPr>
        <p:spPr>
          <a:xfrm>
            <a:off x="6583680" y="960120"/>
            <a:ext cx="51206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Energy budget (nJ)</a:t>
            </a:r>
          </a:p>
        </p:txBody>
      </p:sp>
      <p:sp>
        <p:nvSpPr>
          <p:cNvPr id="25" name="C4-E32 text 23" descr="sci-ppt:o023"/>
          <p:cNvSpPr txBox="1"/>
          <p:nvPr/>
        </p:nvSpPr>
        <p:spPr>
          <a:xfrm>
            <a:off x="6583680" y="1572768"/>
            <a:ext cx="1737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E_req(0.50 m/s)</a:t>
            </a:r>
          </a:p>
        </p:txBody>
      </p:sp>
      <p:sp>
        <p:nvSpPr>
          <p:cNvPr id="26" name="C4-E32 rect 24" descr="sci-ppt:o024"/>
          <p:cNvSpPr/>
          <p:nvPr/>
        </p:nvSpPr>
        <p:spPr>
          <a:xfrm>
            <a:off x="8412480" y="1554480"/>
            <a:ext cx="967663" cy="45720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4-E32 text 25" descr="sci-ppt:o025"/>
          <p:cNvSpPr txBox="1"/>
          <p:nvPr/>
        </p:nvSpPr>
        <p:spPr>
          <a:xfrm>
            <a:off x="9453295" y="160020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5.291 nJ</a:t>
            </a:r>
          </a:p>
        </p:txBody>
      </p:sp>
      <p:sp>
        <p:nvSpPr>
          <p:cNvPr id="28" name="C4-E32 text 26" descr="sci-ppt:o026"/>
          <p:cNvSpPr txBox="1"/>
          <p:nvPr/>
        </p:nvSpPr>
        <p:spPr>
          <a:xfrm>
            <a:off x="6583680" y="2304288"/>
            <a:ext cx="1737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E_solid</a:t>
            </a:r>
          </a:p>
        </p:txBody>
      </p:sp>
      <p:sp>
        <p:nvSpPr>
          <p:cNvPr id="29" name="C4-E32 rect 27" descr="sci-ppt:o027"/>
          <p:cNvSpPr/>
          <p:nvPr/>
        </p:nvSpPr>
        <p:spPr>
          <a:xfrm>
            <a:off x="8412480" y="2286000"/>
            <a:ext cx="1828799" cy="45720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4-E32 text 28" descr="sci-ppt:o028"/>
          <p:cNvSpPr txBox="1"/>
          <p:nvPr/>
        </p:nvSpPr>
        <p:spPr>
          <a:xfrm>
            <a:off x="10314432" y="233172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10.000 nJ</a:t>
            </a:r>
          </a:p>
        </p:txBody>
      </p:sp>
      <p:sp>
        <p:nvSpPr>
          <p:cNvPr id="31" name="C4-E32 text 29" descr="sci-ppt:o029"/>
          <p:cNvSpPr txBox="1"/>
          <p:nvPr/>
        </p:nvSpPr>
        <p:spPr>
          <a:xfrm>
            <a:off x="6583680" y="3200400"/>
            <a:ext cx="51206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Impulse budget (nN s)</a:t>
            </a:r>
          </a:p>
        </p:txBody>
      </p:sp>
      <p:sp>
        <p:nvSpPr>
          <p:cNvPr id="32" name="C4-E32 text 30" descr="sci-ppt:o030"/>
          <p:cNvSpPr txBox="1"/>
          <p:nvPr/>
        </p:nvSpPr>
        <p:spPr>
          <a:xfrm>
            <a:off x="6583680" y="3675887"/>
            <a:ext cx="1737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I_req</a:t>
            </a:r>
          </a:p>
        </p:txBody>
      </p:sp>
      <p:sp>
        <p:nvSpPr>
          <p:cNvPr id="33" name="C4-E32 rect 31" descr="sci-ppt:o031"/>
          <p:cNvSpPr/>
          <p:nvPr/>
        </p:nvSpPr>
        <p:spPr>
          <a:xfrm>
            <a:off x="8412480" y="3657600"/>
            <a:ext cx="1302003" cy="45720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4-E32 text 32" descr="sci-ppt:o032"/>
          <p:cNvSpPr txBox="1"/>
          <p:nvPr/>
        </p:nvSpPr>
        <p:spPr>
          <a:xfrm>
            <a:off x="9787636" y="370332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1.165 nN s</a:t>
            </a:r>
          </a:p>
        </p:txBody>
      </p:sp>
      <p:sp>
        <p:nvSpPr>
          <p:cNvPr id="35" name="C4-E32 text 33" descr="sci-ppt:o033"/>
          <p:cNvSpPr txBox="1"/>
          <p:nvPr/>
        </p:nvSpPr>
        <p:spPr>
          <a:xfrm>
            <a:off x="6583680" y="4407407"/>
            <a:ext cx="1737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Iₙₑₜ</a:t>
            </a:r>
          </a:p>
        </p:txBody>
      </p:sp>
      <p:sp>
        <p:nvSpPr>
          <p:cNvPr id="36" name="C4-E32 rect 34" descr="sci-ppt:o034"/>
          <p:cNvSpPr/>
          <p:nvPr/>
        </p:nvSpPr>
        <p:spPr>
          <a:xfrm>
            <a:off x="8412480" y="4389120"/>
            <a:ext cx="1750879" cy="45720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4-E32 text 35" descr="sci-ppt:o035"/>
          <p:cNvSpPr txBox="1"/>
          <p:nvPr/>
        </p:nvSpPr>
        <p:spPr>
          <a:xfrm>
            <a:off x="10236511" y="443484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1.567 nN s</a:t>
            </a:r>
          </a:p>
        </p:txBody>
      </p:sp>
      <p:sp>
        <p:nvSpPr>
          <p:cNvPr id="38" name="C4-E32 text 36" descr="sci-ppt:o036"/>
          <p:cNvSpPr txBox="1"/>
          <p:nvPr/>
        </p:nvSpPr>
        <p:spPr>
          <a:xfrm>
            <a:off x="457200" y="4846320"/>
            <a:ext cx="112471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E_req(0.50 m/s) = 5.00 + 0.29125 = 5.29125 nJ  &lt;  E_solid = 10.0 nJ</a:t>
            </a:r>
          </a:p>
        </p:txBody>
      </p:sp>
      <p:sp>
        <p:nvSpPr>
          <p:cNvPr id="39" name="C4-E32 text 37" descr="sci-ppt:o037"/>
          <p:cNvSpPr txBox="1"/>
          <p:nvPr/>
        </p:nvSpPr>
        <p:spPr>
          <a:xfrm>
            <a:off x="457200" y="5349240"/>
            <a:ext cx="112471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I_req = m_f v_f = (2.33×10⁻⁹)(0.50) = 1.165e-09 N s  &lt;  Iₙₑₜ = 1.567e-09 N s</a:t>
            </a:r>
          </a:p>
        </p:txBody>
      </p:sp>
      <p:sp>
        <p:nvSpPr>
          <p:cNvPr id="40" name="C4-E32 text 38" descr="sci-ppt:o038"/>
          <p:cNvSpPr txBox="1"/>
          <p:nvPr/>
        </p:nvSpPr>
        <p:spPr>
          <a:xfrm>
            <a:off x="457200" y="589788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Both necessary budgets pass; success is still not established.</a:t>
            </a:r>
          </a:p>
        </p:txBody>
      </p:sp>
      <p:sp>
        <p:nvSpPr>
          <p:cNvPr id="41" name="C4-E32 text 39" descr="sci-ppt:o03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Passed screens of Eq. C4-E32.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C4-E33 · Energy–momentum compatibility check</a:t>
            </a:r>
          </a:p>
        </p:txBody>
      </p:sp>
      <p:sp>
        <p:nvSpPr>
          <p:cNvPr id="3" name="C4-E33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Do the energy and momentum budgets describe the same motion?</a:t>
            </a:r>
          </a:p>
        </p:txBody>
      </p:sp>
      <p:cxnSp>
        <p:nvCxnSpPr>
          <p:cNvPr id="4" name="C4-E33 line 2" descr="sci-ppt:o002"/>
          <p:cNvCxnSpPr/>
          <p:nvPr/>
        </p:nvCxnSpPr>
        <p:spPr>
          <a:xfrm>
            <a:off x="914400" y="484632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33 line 3" descr="sci-ppt:o003"/>
          <p:cNvCxnSpPr/>
          <p:nvPr/>
        </p:nvCxnSpPr>
        <p:spPr>
          <a:xfrm>
            <a:off x="914400" y="1828800"/>
            <a:ext cx="0" cy="30175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6" name="C4-E33 line 4" descr="sci-ppt:o004"/>
          <p:cNvCxnSpPr/>
          <p:nvPr/>
        </p:nvCxnSpPr>
        <p:spPr>
          <a:xfrm>
            <a:off x="9144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" name="C4-E33 line 5" descr="sci-ppt:o005"/>
          <p:cNvCxnSpPr/>
          <p:nvPr/>
        </p:nvCxnSpPr>
        <p:spPr>
          <a:xfrm>
            <a:off x="914400" y="182880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8" name="C4-E33 text 6" descr="sci-ppt:o006"/>
          <p:cNvSpPr txBox="1"/>
          <p:nvPr/>
        </p:nvSpPr>
        <p:spPr>
          <a:xfrm>
            <a:off x="4572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9" name="C4-E33 line 7" descr="sci-ppt:o007"/>
          <p:cNvCxnSpPr/>
          <p:nvPr/>
        </p:nvCxnSpPr>
        <p:spPr>
          <a:xfrm>
            <a:off x="237744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0" name="C4-E33 line 8" descr="sci-ppt:o008"/>
          <p:cNvCxnSpPr/>
          <p:nvPr/>
        </p:nvCxnSpPr>
        <p:spPr>
          <a:xfrm>
            <a:off x="2377440" y="182880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1" name="C4-E33 text 9" descr="sci-ppt:o009"/>
          <p:cNvSpPr txBox="1"/>
          <p:nvPr/>
        </p:nvSpPr>
        <p:spPr>
          <a:xfrm>
            <a:off x="192024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0.3</a:t>
            </a:r>
          </a:p>
        </p:txBody>
      </p:sp>
      <p:cxnSp>
        <p:nvCxnSpPr>
          <p:cNvPr id="12" name="C4-E33 line 10" descr="sci-ppt:o010"/>
          <p:cNvCxnSpPr/>
          <p:nvPr/>
        </p:nvCxnSpPr>
        <p:spPr>
          <a:xfrm>
            <a:off x="384048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3" name="C4-E33 line 11" descr="sci-ppt:o011"/>
          <p:cNvCxnSpPr/>
          <p:nvPr/>
        </p:nvCxnSpPr>
        <p:spPr>
          <a:xfrm>
            <a:off x="3840480" y="182880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4" name="C4-E33 text 12" descr="sci-ppt:o012"/>
          <p:cNvSpPr txBox="1"/>
          <p:nvPr/>
        </p:nvSpPr>
        <p:spPr>
          <a:xfrm>
            <a:off x="338328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0.6</a:t>
            </a:r>
          </a:p>
        </p:txBody>
      </p:sp>
      <p:cxnSp>
        <p:nvCxnSpPr>
          <p:cNvPr id="15" name="C4-E33 line 13" descr="sci-ppt:o013"/>
          <p:cNvCxnSpPr/>
          <p:nvPr/>
        </p:nvCxnSpPr>
        <p:spPr>
          <a:xfrm>
            <a:off x="530352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4-E33 line 14" descr="sci-ppt:o014"/>
          <p:cNvCxnSpPr/>
          <p:nvPr/>
        </p:nvCxnSpPr>
        <p:spPr>
          <a:xfrm>
            <a:off x="5303520" y="182880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4-E33 text 15" descr="sci-ppt:o015"/>
          <p:cNvSpPr txBox="1"/>
          <p:nvPr/>
        </p:nvSpPr>
        <p:spPr>
          <a:xfrm>
            <a:off x="484632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0.9</a:t>
            </a:r>
          </a:p>
        </p:txBody>
      </p:sp>
      <p:cxnSp>
        <p:nvCxnSpPr>
          <p:cNvPr id="18" name="C4-E33 line 16" descr="sci-ppt:o016"/>
          <p:cNvCxnSpPr/>
          <p:nvPr/>
        </p:nvCxnSpPr>
        <p:spPr>
          <a:xfrm>
            <a:off x="676656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4-E33 line 17" descr="sci-ppt:o017"/>
          <p:cNvCxnSpPr/>
          <p:nvPr/>
        </p:nvCxnSpPr>
        <p:spPr>
          <a:xfrm>
            <a:off x="6766560" y="182880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4-E33 text 18" descr="sci-ppt:o018"/>
          <p:cNvSpPr txBox="1"/>
          <p:nvPr/>
        </p:nvSpPr>
        <p:spPr>
          <a:xfrm>
            <a:off x="630936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1.2</a:t>
            </a:r>
          </a:p>
        </p:txBody>
      </p:sp>
      <p:cxnSp>
        <p:nvCxnSpPr>
          <p:cNvPr id="21" name="C4-E33 line 19" descr="sci-ppt:o019"/>
          <p:cNvCxnSpPr/>
          <p:nvPr/>
        </p:nvCxnSpPr>
        <p:spPr>
          <a:xfrm>
            <a:off x="85039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33 line 20" descr="sci-ppt:o020"/>
          <p:cNvCxnSpPr/>
          <p:nvPr/>
        </p:nvCxnSpPr>
        <p:spPr>
          <a:xfrm>
            <a:off x="850392" y="35890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4-E33 line 21" descr="sci-ppt:o021"/>
          <p:cNvCxnSpPr/>
          <p:nvPr/>
        </p:nvCxnSpPr>
        <p:spPr>
          <a:xfrm>
            <a:off x="914400" y="358902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4" name="C4-E33 text 22" descr="sci-ppt:o022"/>
          <p:cNvSpPr txBox="1"/>
          <p:nvPr/>
        </p:nvSpPr>
        <p:spPr>
          <a:xfrm>
            <a:off x="45720" y="35067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5" name="C4-E33 line 23" descr="sci-ppt:o023"/>
          <p:cNvCxnSpPr/>
          <p:nvPr/>
        </p:nvCxnSpPr>
        <p:spPr>
          <a:xfrm>
            <a:off x="850392" y="23317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4-E33 line 24" descr="sci-ppt:o024"/>
          <p:cNvCxnSpPr/>
          <p:nvPr/>
        </p:nvCxnSpPr>
        <p:spPr>
          <a:xfrm>
            <a:off x="914400" y="233172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7" name="C4-E33 text 25" descr="sci-ppt:o025"/>
          <p:cNvSpPr txBox="1"/>
          <p:nvPr/>
        </p:nvSpPr>
        <p:spPr>
          <a:xfrm>
            <a:off x="45720" y="22494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sp>
        <p:nvSpPr>
          <p:cNvPr id="28" name="C4-E33 text 26" descr="sci-ppt:o026"/>
          <p:cNvSpPr txBox="1"/>
          <p:nvPr/>
        </p:nvSpPr>
        <p:spPr>
          <a:xfrm>
            <a:off x="914400" y="5129783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film speed v  (m/s)</a:t>
            </a:r>
          </a:p>
        </p:txBody>
      </p:sp>
      <p:sp>
        <p:nvSpPr>
          <p:cNvPr id="29" name="C4-E33 text 27" descr="sci-ppt:o027"/>
          <p:cNvSpPr txBox="1"/>
          <p:nvPr/>
        </p:nvSpPr>
        <p:spPr>
          <a:xfrm>
            <a:off x="365760" y="14813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energy  (nJ)</a:t>
            </a:r>
          </a:p>
        </p:txBody>
      </p:sp>
      <p:sp>
        <p:nvSpPr>
          <p:cNvPr id="30" name="C4-E33 polygon 28" descr="sci-ppt:o028"/>
          <p:cNvSpPr/>
          <p:nvPr/>
        </p:nvSpPr>
        <p:spPr>
          <a:xfrm>
            <a:off x="914400" y="3167170"/>
            <a:ext cx="5852160" cy="421850"/>
          </a:xfrm>
          <a:custGeom>
            <a:avLst/>
            <a:gdLst/>
            <a:ahLst/>
            <a:cxnLst/>
            <a:rect l="l" t="t" r="r" b="b"/>
            <a:pathLst>
              <a:path w="5852160" h="421850">
                <a:moveTo>
                  <a:pt x="0" y="421850"/>
                </a:moveTo>
                <a:lnTo>
                  <a:pt x="59112" y="421806"/>
                </a:lnTo>
                <a:lnTo>
                  <a:pt x="118225" y="421677"/>
                </a:lnTo>
                <a:lnTo>
                  <a:pt x="177338" y="421462"/>
                </a:lnTo>
                <a:lnTo>
                  <a:pt x="236450" y="421161"/>
                </a:lnTo>
                <a:lnTo>
                  <a:pt x="295563" y="420773"/>
                </a:lnTo>
                <a:lnTo>
                  <a:pt x="354676" y="420300"/>
                </a:lnTo>
                <a:lnTo>
                  <a:pt x="413789" y="419740"/>
                </a:lnTo>
                <a:lnTo>
                  <a:pt x="472901" y="419095"/>
                </a:lnTo>
                <a:lnTo>
                  <a:pt x="532014" y="418363"/>
                </a:lnTo>
                <a:lnTo>
                  <a:pt x="591127" y="417545"/>
                </a:lnTo>
                <a:lnTo>
                  <a:pt x="650240" y="416641"/>
                </a:lnTo>
                <a:lnTo>
                  <a:pt x="709352" y="415652"/>
                </a:lnTo>
                <a:lnTo>
                  <a:pt x="768465" y="414575"/>
                </a:lnTo>
                <a:lnTo>
                  <a:pt x="827578" y="413413"/>
                </a:lnTo>
                <a:lnTo>
                  <a:pt x="886690" y="412165"/>
                </a:lnTo>
                <a:lnTo>
                  <a:pt x="945803" y="410831"/>
                </a:lnTo>
                <a:lnTo>
                  <a:pt x="1004916" y="409411"/>
                </a:lnTo>
                <a:lnTo>
                  <a:pt x="1064029" y="407904"/>
                </a:lnTo>
                <a:lnTo>
                  <a:pt x="1123141" y="406312"/>
                </a:lnTo>
                <a:lnTo>
                  <a:pt x="1182254" y="404633"/>
                </a:lnTo>
                <a:lnTo>
                  <a:pt x="1241367" y="402868"/>
                </a:lnTo>
                <a:lnTo>
                  <a:pt x="1300480" y="401017"/>
                </a:lnTo>
                <a:lnTo>
                  <a:pt x="1359592" y="399081"/>
                </a:lnTo>
                <a:lnTo>
                  <a:pt x="1418705" y="397058"/>
                </a:lnTo>
                <a:lnTo>
                  <a:pt x="1477818" y="394949"/>
                </a:lnTo>
                <a:lnTo>
                  <a:pt x="1536930" y="392753"/>
                </a:lnTo>
                <a:lnTo>
                  <a:pt x="1596043" y="390472"/>
                </a:lnTo>
                <a:lnTo>
                  <a:pt x="1655156" y="388105"/>
                </a:lnTo>
                <a:lnTo>
                  <a:pt x="1714269" y="385652"/>
                </a:lnTo>
                <a:lnTo>
                  <a:pt x="1773381" y="383112"/>
                </a:lnTo>
                <a:lnTo>
                  <a:pt x="1832494" y="380487"/>
                </a:lnTo>
                <a:lnTo>
                  <a:pt x="1891607" y="377775"/>
                </a:lnTo>
                <a:lnTo>
                  <a:pt x="1950720" y="374977"/>
                </a:lnTo>
                <a:lnTo>
                  <a:pt x="2009832" y="372094"/>
                </a:lnTo>
                <a:lnTo>
                  <a:pt x="2068945" y="369124"/>
                </a:lnTo>
                <a:lnTo>
                  <a:pt x="2128058" y="366068"/>
                </a:lnTo>
                <a:lnTo>
                  <a:pt x="2187170" y="362926"/>
                </a:lnTo>
                <a:lnTo>
                  <a:pt x="2246283" y="359698"/>
                </a:lnTo>
                <a:lnTo>
                  <a:pt x="2305396" y="356383"/>
                </a:lnTo>
                <a:lnTo>
                  <a:pt x="2364509" y="352983"/>
                </a:lnTo>
                <a:lnTo>
                  <a:pt x="2423621" y="349497"/>
                </a:lnTo>
                <a:lnTo>
                  <a:pt x="2482734" y="345924"/>
                </a:lnTo>
                <a:lnTo>
                  <a:pt x="2541847" y="342266"/>
                </a:lnTo>
                <a:lnTo>
                  <a:pt x="2600960" y="338521"/>
                </a:lnTo>
                <a:lnTo>
                  <a:pt x="2660072" y="334691"/>
                </a:lnTo>
                <a:lnTo>
                  <a:pt x="2719185" y="330774"/>
                </a:lnTo>
                <a:lnTo>
                  <a:pt x="2778298" y="326771"/>
                </a:lnTo>
                <a:lnTo>
                  <a:pt x="2837410" y="322682"/>
                </a:lnTo>
                <a:lnTo>
                  <a:pt x="2896523" y="318507"/>
                </a:lnTo>
                <a:lnTo>
                  <a:pt x="2955636" y="314246"/>
                </a:lnTo>
                <a:lnTo>
                  <a:pt x="3014749" y="309899"/>
                </a:lnTo>
                <a:lnTo>
                  <a:pt x="3073861" y="305465"/>
                </a:lnTo>
                <a:lnTo>
                  <a:pt x="3132974" y="300946"/>
                </a:lnTo>
                <a:lnTo>
                  <a:pt x="3192087" y="296341"/>
                </a:lnTo>
                <a:lnTo>
                  <a:pt x="3251200" y="291649"/>
                </a:lnTo>
                <a:lnTo>
                  <a:pt x="3310312" y="286871"/>
                </a:lnTo>
                <a:lnTo>
                  <a:pt x="3369425" y="282008"/>
                </a:lnTo>
                <a:lnTo>
                  <a:pt x="3428538" y="277058"/>
                </a:lnTo>
                <a:lnTo>
                  <a:pt x="3487650" y="272022"/>
                </a:lnTo>
                <a:lnTo>
                  <a:pt x="3546763" y="266900"/>
                </a:lnTo>
                <a:lnTo>
                  <a:pt x="3605876" y="261692"/>
                </a:lnTo>
                <a:lnTo>
                  <a:pt x="3664989" y="256398"/>
                </a:lnTo>
                <a:lnTo>
                  <a:pt x="3724101" y="251018"/>
                </a:lnTo>
                <a:lnTo>
                  <a:pt x="3783214" y="245552"/>
                </a:lnTo>
                <a:lnTo>
                  <a:pt x="3842327" y="239999"/>
                </a:lnTo>
                <a:lnTo>
                  <a:pt x="3901440" y="234361"/>
                </a:lnTo>
                <a:lnTo>
                  <a:pt x="3960552" y="228636"/>
                </a:lnTo>
                <a:lnTo>
                  <a:pt x="4019665" y="222826"/>
                </a:lnTo>
                <a:lnTo>
                  <a:pt x="4078778" y="216929"/>
                </a:lnTo>
                <a:lnTo>
                  <a:pt x="4137890" y="210946"/>
                </a:lnTo>
                <a:lnTo>
                  <a:pt x="4197003" y="204878"/>
                </a:lnTo>
                <a:lnTo>
                  <a:pt x="4256116" y="198723"/>
                </a:lnTo>
                <a:lnTo>
                  <a:pt x="4315229" y="192482"/>
                </a:lnTo>
                <a:lnTo>
                  <a:pt x="4374341" y="186154"/>
                </a:lnTo>
                <a:lnTo>
                  <a:pt x="4433454" y="179741"/>
                </a:lnTo>
                <a:lnTo>
                  <a:pt x="4492567" y="173242"/>
                </a:lnTo>
                <a:lnTo>
                  <a:pt x="4551680" y="166657"/>
                </a:lnTo>
                <a:lnTo>
                  <a:pt x="4610792" y="159985"/>
                </a:lnTo>
                <a:lnTo>
                  <a:pt x="4669905" y="153228"/>
                </a:lnTo>
                <a:lnTo>
                  <a:pt x="4729018" y="146384"/>
                </a:lnTo>
                <a:lnTo>
                  <a:pt x="4788130" y="139455"/>
                </a:lnTo>
                <a:lnTo>
                  <a:pt x="4847243" y="132439"/>
                </a:lnTo>
                <a:lnTo>
                  <a:pt x="4906356" y="125337"/>
                </a:lnTo>
                <a:lnTo>
                  <a:pt x="4965469" y="118149"/>
                </a:lnTo>
                <a:lnTo>
                  <a:pt x="5024581" y="110875"/>
                </a:lnTo>
                <a:lnTo>
                  <a:pt x="5083694" y="103515"/>
                </a:lnTo>
                <a:lnTo>
                  <a:pt x="5142807" y="96069"/>
                </a:lnTo>
                <a:lnTo>
                  <a:pt x="5201920" y="88536"/>
                </a:lnTo>
                <a:lnTo>
                  <a:pt x="5261032" y="80918"/>
                </a:lnTo>
                <a:lnTo>
                  <a:pt x="5320145" y="73214"/>
                </a:lnTo>
                <a:lnTo>
                  <a:pt x="5379258" y="65423"/>
                </a:lnTo>
                <a:lnTo>
                  <a:pt x="5438370" y="57547"/>
                </a:lnTo>
                <a:lnTo>
                  <a:pt x="5497483" y="49584"/>
                </a:lnTo>
                <a:lnTo>
                  <a:pt x="5556596" y="41535"/>
                </a:lnTo>
                <a:lnTo>
                  <a:pt x="5615709" y="33400"/>
                </a:lnTo>
                <a:lnTo>
                  <a:pt x="5674821" y="25179"/>
                </a:lnTo>
                <a:lnTo>
                  <a:pt x="5733934" y="16872"/>
                </a:lnTo>
                <a:lnTo>
                  <a:pt x="5793047" y="8479"/>
                </a:lnTo>
                <a:lnTo>
                  <a:pt x="585216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4-E33 line 29" descr="sci-ppt:o029"/>
          <p:cNvCxnSpPr/>
          <p:nvPr/>
        </p:nvCxnSpPr>
        <p:spPr>
          <a:xfrm>
            <a:off x="914400" y="2331719"/>
            <a:ext cx="585216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cxnSp>
        <p:nvCxnSpPr>
          <p:cNvPr id="32" name="C4-E33 line 30" descr="sci-ppt:o030"/>
          <p:cNvCxnSpPr/>
          <p:nvPr/>
        </p:nvCxnSpPr>
        <p:spPr>
          <a:xfrm>
            <a:off x="4193457" y="1828800"/>
            <a:ext cx="0" cy="3017520"/>
          </a:xfrm>
          <a:prstGeom prst="line">
            <a:avLst/>
          </a:prstGeom>
          <a:ln w="16510">
            <a:solidFill>
              <a:srgbClr val="F28BA0"/>
            </a:solidFill>
            <a:prstDash val="dash"/>
          </a:ln>
          <a:effectLst/>
        </p:spPr>
      </p:cxnSp>
      <p:sp>
        <p:nvSpPr>
          <p:cNvPr id="33" name="C4-E33 ellipse 31" descr="sci-ppt:o031"/>
          <p:cNvSpPr/>
          <p:nvPr/>
        </p:nvSpPr>
        <p:spPr>
          <a:xfrm>
            <a:off x="4120305" y="3383426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4-E33 text 32" descr="sci-ppt:o032"/>
          <p:cNvSpPr txBox="1"/>
          <p:nvPr/>
        </p:nvSpPr>
        <p:spPr>
          <a:xfrm>
            <a:off x="1907457" y="2907938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5.527 nJ at v_CM</a:t>
            </a:r>
          </a:p>
        </p:txBody>
      </p:sp>
      <p:sp>
        <p:nvSpPr>
          <p:cNvPr id="35" name="C4-E33 text 33" descr="sci-ppt:o033"/>
          <p:cNvSpPr txBox="1"/>
          <p:nvPr/>
        </p:nvSpPr>
        <p:spPr>
          <a:xfrm>
            <a:off x="1231392" y="1929384"/>
            <a:ext cx="16459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E_solid = 10 nJ</a:t>
            </a:r>
          </a:p>
        </p:txBody>
      </p:sp>
      <p:sp>
        <p:nvSpPr>
          <p:cNvPr id="36" name="C4-E33 text 34" descr="sci-ppt:o034"/>
          <p:cNvSpPr txBox="1"/>
          <p:nvPr/>
        </p:nvSpPr>
        <p:spPr>
          <a:xfrm>
            <a:off x="4284897" y="4377690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v_CM = Iₙₑₜ/m_f = 0.6724 m/s</a:t>
            </a:r>
          </a:p>
        </p:txBody>
      </p:sp>
      <p:sp>
        <p:nvSpPr>
          <p:cNvPr id="37" name="C4-E33 round_rect 35" descr="sci-ppt:o035"/>
          <p:cNvSpPr/>
          <p:nvPr/>
        </p:nvSpPr>
        <p:spPr>
          <a:xfrm>
            <a:off x="7040880" y="1463040"/>
            <a:ext cx="480060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4-E33 text 36" descr="sci-ppt:o036"/>
          <p:cNvSpPr txBox="1"/>
          <p:nvPr/>
        </p:nvSpPr>
        <p:spPr>
          <a:xfrm>
            <a:off x="7150608" y="151790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Implied speed and energy</a:t>
            </a:r>
          </a:p>
        </p:txBody>
      </p:sp>
      <p:sp>
        <p:nvSpPr>
          <p:cNvPr id="39" name="C4-E33 text 37" descr="sci-ppt:o037"/>
          <p:cNvSpPr txBox="1"/>
          <p:nvPr/>
        </p:nvSpPr>
        <p:spPr>
          <a:xfrm>
            <a:off x="7178040" y="192024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v_CM = Iₙₑₜ / m_f = 0.672378829 m/s</a:t>
            </a:r>
          </a:p>
        </p:txBody>
      </p:sp>
      <p:sp>
        <p:nvSpPr>
          <p:cNvPr id="40" name="C4-E33 text 38" descr="sci-ppt:o038"/>
          <p:cNvSpPr txBox="1"/>
          <p:nvPr/>
        </p:nvSpPr>
        <p:spPr>
          <a:xfrm>
            <a:off x="7178040" y="242316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K_CM = Iₙₑₜ² / (2 m_f) = 0.526688683 nJ</a:t>
            </a:r>
          </a:p>
        </p:txBody>
      </p:sp>
      <p:sp>
        <p:nvSpPr>
          <p:cNvPr id="41" name="C4-E33 text 39" descr="sci-ppt:o039"/>
          <p:cNvSpPr txBox="1"/>
          <p:nvPr/>
        </p:nvSpPr>
        <p:spPr>
          <a:xfrm>
            <a:off x="7178040" y="292608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Γ A_f + K_CM = 5.526688683 nJ  &lt;  E_solid</a:t>
            </a:r>
          </a:p>
        </p:txBody>
      </p:sp>
      <p:sp>
        <p:nvSpPr>
          <p:cNvPr id="42" name="C4-E33 text 40" descr="sci-ppt:o040"/>
          <p:cNvSpPr txBox="1"/>
          <p:nvPr/>
        </p:nvSpPr>
        <p:spPr>
          <a:xfrm>
            <a:off x="7178040" y="3611880"/>
            <a:ext cx="45720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Check: the impulse budget and low-Γ energy budget agree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at the implied speed.</a:t>
            </a:r>
          </a:p>
        </p:txBody>
      </p:sp>
      <p:sp>
        <p:nvSpPr>
          <p:cNvPr id="43" name="C4-E33 text 41" descr="sci-ppt:o041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Compatibility is a screen: it shows the two budgets do not contradict each other, not that the film actually leaves.</a:t>
            </a:r>
          </a:p>
        </p:txBody>
      </p:sp>
      <p:sp>
        <p:nvSpPr>
          <p:cNvPr id="44" name="C4-E33 text 42" descr="sci-ppt:o04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Energy–momentum compatibility of Eq. C4-E33.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C4-E34 · Ballistic placement estimate</a:t>
            </a:r>
          </a:p>
        </p:txBody>
      </p:sp>
      <p:cxnSp>
        <p:nvCxnSpPr>
          <p:cNvPr id="3" name="C4-E34 line 1" descr="sci-ppt:o001"/>
          <p:cNvCxnSpPr/>
          <p:nvPr/>
        </p:nvCxnSpPr>
        <p:spPr>
          <a:xfrm>
            <a:off x="7315200" y="4846320"/>
            <a:ext cx="43891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34 line 2" descr="sci-ppt:o002"/>
          <p:cNvCxnSpPr/>
          <p:nvPr/>
        </p:nvCxnSpPr>
        <p:spPr>
          <a:xfrm>
            <a:off x="731520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34 line 3" descr="sci-ppt:o003"/>
          <p:cNvCxnSpPr/>
          <p:nvPr/>
        </p:nvCxnSpPr>
        <p:spPr>
          <a:xfrm>
            <a:off x="73152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34 line 4" descr="sci-ppt:o004"/>
          <p:cNvCxnSpPr/>
          <p:nvPr/>
        </p:nvCxnSpPr>
        <p:spPr>
          <a:xfrm>
            <a:off x="73152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34 text 5" descr="sci-ppt:o005"/>
          <p:cNvSpPr txBox="1"/>
          <p:nvPr/>
        </p:nvSpPr>
        <p:spPr>
          <a:xfrm>
            <a:off x="68580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4-E34 line 6" descr="sci-ppt:o006"/>
          <p:cNvCxnSpPr/>
          <p:nvPr/>
        </p:nvCxnSpPr>
        <p:spPr>
          <a:xfrm>
            <a:off x="8193024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34 line 7" descr="sci-ppt:o007"/>
          <p:cNvCxnSpPr/>
          <p:nvPr/>
        </p:nvCxnSpPr>
        <p:spPr>
          <a:xfrm>
            <a:off x="8193024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34 text 8" descr="sci-ppt:o008"/>
          <p:cNvSpPr txBox="1"/>
          <p:nvPr/>
        </p:nvSpPr>
        <p:spPr>
          <a:xfrm>
            <a:off x="7735824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4-E34 line 9" descr="sci-ppt:o009"/>
          <p:cNvCxnSpPr/>
          <p:nvPr/>
        </p:nvCxnSpPr>
        <p:spPr>
          <a:xfrm>
            <a:off x="9070848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34 line 10" descr="sci-ppt:o010"/>
          <p:cNvCxnSpPr/>
          <p:nvPr/>
        </p:nvCxnSpPr>
        <p:spPr>
          <a:xfrm>
            <a:off x="9070848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34 text 11" descr="sci-ppt:o011"/>
          <p:cNvSpPr txBox="1"/>
          <p:nvPr/>
        </p:nvSpPr>
        <p:spPr>
          <a:xfrm>
            <a:off x="8613648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4-E34 line 12" descr="sci-ppt:o012"/>
          <p:cNvCxnSpPr/>
          <p:nvPr/>
        </p:nvCxnSpPr>
        <p:spPr>
          <a:xfrm>
            <a:off x="9948672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34 line 13" descr="sci-ppt:o013"/>
          <p:cNvCxnSpPr/>
          <p:nvPr/>
        </p:nvCxnSpPr>
        <p:spPr>
          <a:xfrm>
            <a:off x="9948672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34 text 14" descr="sci-ppt:o014"/>
          <p:cNvSpPr txBox="1"/>
          <p:nvPr/>
        </p:nvSpPr>
        <p:spPr>
          <a:xfrm>
            <a:off x="9491472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7" name="C4-E34 line 15" descr="sci-ppt:o015"/>
          <p:cNvCxnSpPr/>
          <p:nvPr/>
        </p:nvCxnSpPr>
        <p:spPr>
          <a:xfrm>
            <a:off x="10826496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34 line 16" descr="sci-ppt:o016"/>
          <p:cNvCxnSpPr/>
          <p:nvPr/>
        </p:nvCxnSpPr>
        <p:spPr>
          <a:xfrm>
            <a:off x="10826496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34 text 17" descr="sci-ppt:o017"/>
          <p:cNvSpPr txBox="1"/>
          <p:nvPr/>
        </p:nvSpPr>
        <p:spPr>
          <a:xfrm>
            <a:off x="10369296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0" name="C4-E34 line 18" descr="sci-ppt:o018"/>
          <p:cNvCxnSpPr/>
          <p:nvPr/>
        </p:nvCxnSpPr>
        <p:spPr>
          <a:xfrm>
            <a:off x="1170432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34 line 19" descr="sci-ppt:o019"/>
          <p:cNvCxnSpPr/>
          <p:nvPr/>
        </p:nvCxnSpPr>
        <p:spPr>
          <a:xfrm>
            <a:off x="1170432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4-E34 text 20" descr="sci-ppt:o020"/>
          <p:cNvSpPr txBox="1"/>
          <p:nvPr/>
        </p:nvSpPr>
        <p:spPr>
          <a:xfrm>
            <a:off x="1124712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3" name="C4-E34 line 21" descr="sci-ppt:o021"/>
          <p:cNvCxnSpPr/>
          <p:nvPr/>
        </p:nvCxnSpPr>
        <p:spPr>
          <a:xfrm>
            <a:off x="725119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4-E34 line 22" descr="sci-ppt:o022"/>
          <p:cNvCxnSpPr/>
          <p:nvPr/>
        </p:nvCxnSpPr>
        <p:spPr>
          <a:xfrm>
            <a:off x="7251192" y="40741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34 line 23" descr="sci-ppt:o023"/>
          <p:cNvCxnSpPr/>
          <p:nvPr/>
        </p:nvCxnSpPr>
        <p:spPr>
          <a:xfrm>
            <a:off x="7315200" y="4074160"/>
            <a:ext cx="43891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34 text 24" descr="sci-ppt:o024"/>
          <p:cNvSpPr txBox="1"/>
          <p:nvPr/>
        </p:nvSpPr>
        <p:spPr>
          <a:xfrm>
            <a:off x="6446520" y="39918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7" name="C4-E34 line 25" descr="sci-ppt:o025"/>
          <p:cNvCxnSpPr/>
          <p:nvPr/>
        </p:nvCxnSpPr>
        <p:spPr>
          <a:xfrm>
            <a:off x="7251192" y="3302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4-E34 line 26" descr="sci-ppt:o026"/>
          <p:cNvCxnSpPr/>
          <p:nvPr/>
        </p:nvCxnSpPr>
        <p:spPr>
          <a:xfrm>
            <a:off x="7315200" y="3302000"/>
            <a:ext cx="43891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4-E34 text 27" descr="sci-ppt:o027"/>
          <p:cNvSpPr txBox="1"/>
          <p:nvPr/>
        </p:nvSpPr>
        <p:spPr>
          <a:xfrm>
            <a:off x="6446520" y="3219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30" name="C4-E34 line 28" descr="sci-ppt:o028"/>
          <p:cNvCxnSpPr/>
          <p:nvPr/>
        </p:nvCxnSpPr>
        <p:spPr>
          <a:xfrm>
            <a:off x="7251192" y="25298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4-E34 line 29" descr="sci-ppt:o029"/>
          <p:cNvCxnSpPr/>
          <p:nvPr/>
        </p:nvCxnSpPr>
        <p:spPr>
          <a:xfrm>
            <a:off x="7315200" y="2529840"/>
            <a:ext cx="43891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4-E34 text 30" descr="sci-ppt:o030"/>
          <p:cNvSpPr txBox="1"/>
          <p:nvPr/>
        </p:nvSpPr>
        <p:spPr>
          <a:xfrm>
            <a:off x="6446520" y="24475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</a:t>
            </a:r>
          </a:p>
        </p:txBody>
      </p:sp>
      <p:cxnSp>
        <p:nvCxnSpPr>
          <p:cNvPr id="33" name="C4-E34 line 31" descr="sci-ppt:o031"/>
          <p:cNvCxnSpPr/>
          <p:nvPr/>
        </p:nvCxnSpPr>
        <p:spPr>
          <a:xfrm>
            <a:off x="7251192" y="1757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4-E34 line 32" descr="sci-ppt:o032"/>
          <p:cNvCxnSpPr/>
          <p:nvPr/>
        </p:nvCxnSpPr>
        <p:spPr>
          <a:xfrm>
            <a:off x="7315200" y="1757680"/>
            <a:ext cx="43891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4-E34 text 33" descr="sci-ppt:o033"/>
          <p:cNvSpPr txBox="1"/>
          <p:nvPr/>
        </p:nvSpPr>
        <p:spPr>
          <a:xfrm>
            <a:off x="6446520" y="1675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</a:t>
            </a:r>
          </a:p>
        </p:txBody>
      </p:sp>
      <p:sp>
        <p:nvSpPr>
          <p:cNvPr id="36" name="C4-E34 text 34" descr="sci-ppt:o034"/>
          <p:cNvSpPr txBox="1"/>
          <p:nvPr/>
        </p:nvSpPr>
        <p:spPr>
          <a:xfrm>
            <a:off x="7315200" y="5129783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launch error θ  (degrees)</a:t>
            </a:r>
          </a:p>
        </p:txBody>
      </p:sp>
      <p:sp>
        <p:nvSpPr>
          <p:cNvPr id="37" name="C4-E34 text 35" descr="sci-ppt:o035"/>
          <p:cNvSpPr txBox="1"/>
          <p:nvPr/>
        </p:nvSpPr>
        <p:spPr>
          <a:xfrm>
            <a:off x="6766560" y="1024128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Δx  (µm)</a:t>
            </a:r>
          </a:p>
        </p:txBody>
      </p:sp>
      <p:sp>
        <p:nvSpPr>
          <p:cNvPr id="38" name="C4-E34 polygon 36" descr="sci-ppt:o036"/>
          <p:cNvSpPr/>
          <p:nvPr/>
        </p:nvSpPr>
        <p:spPr>
          <a:xfrm>
            <a:off x="7315200" y="1468557"/>
            <a:ext cx="4389120" cy="3377763"/>
          </a:xfrm>
          <a:custGeom>
            <a:avLst/>
            <a:gdLst/>
            <a:ahLst/>
            <a:cxnLst/>
            <a:rect l="l" t="t" r="r" b="b"/>
            <a:pathLst>
              <a:path w="4389120" h="3377763">
                <a:moveTo>
                  <a:pt x="0" y="3377763"/>
                </a:moveTo>
                <a:lnTo>
                  <a:pt x="44334" y="3343730"/>
                </a:lnTo>
                <a:lnTo>
                  <a:pt x="88669" y="3309698"/>
                </a:lnTo>
                <a:lnTo>
                  <a:pt x="133003" y="3275666"/>
                </a:lnTo>
                <a:lnTo>
                  <a:pt x="177338" y="3241633"/>
                </a:lnTo>
                <a:lnTo>
                  <a:pt x="221672" y="3207601"/>
                </a:lnTo>
                <a:lnTo>
                  <a:pt x="266007" y="3173568"/>
                </a:lnTo>
                <a:lnTo>
                  <a:pt x="310341" y="3139534"/>
                </a:lnTo>
                <a:lnTo>
                  <a:pt x="354676" y="3105501"/>
                </a:lnTo>
                <a:lnTo>
                  <a:pt x="399010" y="3071467"/>
                </a:lnTo>
                <a:lnTo>
                  <a:pt x="443345" y="3037432"/>
                </a:lnTo>
                <a:lnTo>
                  <a:pt x="487680" y="3003397"/>
                </a:lnTo>
                <a:lnTo>
                  <a:pt x="532014" y="2969361"/>
                </a:lnTo>
                <a:lnTo>
                  <a:pt x="576349" y="2935325"/>
                </a:lnTo>
                <a:lnTo>
                  <a:pt x="620683" y="2901288"/>
                </a:lnTo>
                <a:lnTo>
                  <a:pt x="665018" y="2867250"/>
                </a:lnTo>
                <a:lnTo>
                  <a:pt x="709352" y="2833212"/>
                </a:lnTo>
                <a:lnTo>
                  <a:pt x="753687" y="2799173"/>
                </a:lnTo>
                <a:lnTo>
                  <a:pt x="798021" y="2765132"/>
                </a:lnTo>
                <a:lnTo>
                  <a:pt x="842356" y="2731091"/>
                </a:lnTo>
                <a:lnTo>
                  <a:pt x="886690" y="2697049"/>
                </a:lnTo>
                <a:lnTo>
                  <a:pt x="931025" y="2663006"/>
                </a:lnTo>
                <a:lnTo>
                  <a:pt x="975360" y="2628961"/>
                </a:lnTo>
                <a:lnTo>
                  <a:pt x="1019694" y="2594916"/>
                </a:lnTo>
                <a:lnTo>
                  <a:pt x="1064029" y="2560869"/>
                </a:lnTo>
                <a:lnTo>
                  <a:pt x="1108363" y="2526821"/>
                </a:lnTo>
                <a:lnTo>
                  <a:pt x="1152698" y="2492771"/>
                </a:lnTo>
                <a:lnTo>
                  <a:pt x="1197032" y="2458721"/>
                </a:lnTo>
                <a:lnTo>
                  <a:pt x="1241367" y="2424669"/>
                </a:lnTo>
                <a:lnTo>
                  <a:pt x="1285701" y="2390615"/>
                </a:lnTo>
                <a:lnTo>
                  <a:pt x="1330036" y="2356560"/>
                </a:lnTo>
                <a:lnTo>
                  <a:pt x="1374370" y="2322503"/>
                </a:lnTo>
                <a:lnTo>
                  <a:pt x="1418705" y="2288445"/>
                </a:lnTo>
                <a:lnTo>
                  <a:pt x="1463040" y="2254384"/>
                </a:lnTo>
                <a:lnTo>
                  <a:pt x="1507374" y="2220323"/>
                </a:lnTo>
                <a:lnTo>
                  <a:pt x="1551709" y="2186259"/>
                </a:lnTo>
                <a:lnTo>
                  <a:pt x="1596043" y="2152193"/>
                </a:lnTo>
                <a:lnTo>
                  <a:pt x="1640378" y="2118126"/>
                </a:lnTo>
                <a:lnTo>
                  <a:pt x="1684712" y="2084057"/>
                </a:lnTo>
                <a:lnTo>
                  <a:pt x="1729047" y="2049985"/>
                </a:lnTo>
                <a:lnTo>
                  <a:pt x="1773381" y="2015912"/>
                </a:lnTo>
                <a:lnTo>
                  <a:pt x="1817716" y="1981836"/>
                </a:lnTo>
                <a:lnTo>
                  <a:pt x="1862050" y="1947758"/>
                </a:lnTo>
                <a:lnTo>
                  <a:pt x="1906385" y="1913679"/>
                </a:lnTo>
                <a:lnTo>
                  <a:pt x="1950720" y="1879596"/>
                </a:lnTo>
                <a:lnTo>
                  <a:pt x="1995054" y="1845512"/>
                </a:lnTo>
                <a:lnTo>
                  <a:pt x="2039389" y="1811425"/>
                </a:lnTo>
                <a:lnTo>
                  <a:pt x="2083723" y="1777335"/>
                </a:lnTo>
                <a:lnTo>
                  <a:pt x="2128058" y="1743243"/>
                </a:lnTo>
                <a:lnTo>
                  <a:pt x="2172392" y="1709149"/>
                </a:lnTo>
                <a:lnTo>
                  <a:pt x="2216727" y="1675052"/>
                </a:lnTo>
                <a:lnTo>
                  <a:pt x="2261061" y="1640952"/>
                </a:lnTo>
                <a:lnTo>
                  <a:pt x="2305396" y="1606850"/>
                </a:lnTo>
                <a:lnTo>
                  <a:pt x="2349730" y="1572745"/>
                </a:lnTo>
                <a:lnTo>
                  <a:pt x="2394065" y="1538637"/>
                </a:lnTo>
                <a:lnTo>
                  <a:pt x="2438400" y="1504526"/>
                </a:lnTo>
                <a:lnTo>
                  <a:pt x="2482734" y="1470412"/>
                </a:lnTo>
                <a:lnTo>
                  <a:pt x="2527069" y="1436296"/>
                </a:lnTo>
                <a:lnTo>
                  <a:pt x="2571403" y="1402176"/>
                </a:lnTo>
                <a:lnTo>
                  <a:pt x="2615738" y="1368053"/>
                </a:lnTo>
                <a:lnTo>
                  <a:pt x="2660072" y="1333927"/>
                </a:lnTo>
                <a:lnTo>
                  <a:pt x="2704407" y="1299798"/>
                </a:lnTo>
                <a:lnTo>
                  <a:pt x="2748741" y="1265666"/>
                </a:lnTo>
                <a:lnTo>
                  <a:pt x="2793076" y="1231530"/>
                </a:lnTo>
                <a:lnTo>
                  <a:pt x="2837410" y="1197391"/>
                </a:lnTo>
                <a:lnTo>
                  <a:pt x="2881745" y="1163248"/>
                </a:lnTo>
                <a:lnTo>
                  <a:pt x="2926080" y="1129103"/>
                </a:lnTo>
                <a:lnTo>
                  <a:pt x="2970414" y="1094953"/>
                </a:lnTo>
                <a:lnTo>
                  <a:pt x="3014749" y="1060800"/>
                </a:lnTo>
                <a:lnTo>
                  <a:pt x="3059083" y="1026644"/>
                </a:lnTo>
                <a:lnTo>
                  <a:pt x="3103418" y="992484"/>
                </a:lnTo>
                <a:lnTo>
                  <a:pt x="3147752" y="958320"/>
                </a:lnTo>
                <a:lnTo>
                  <a:pt x="3192087" y="924152"/>
                </a:lnTo>
                <a:lnTo>
                  <a:pt x="3236421" y="889980"/>
                </a:lnTo>
                <a:lnTo>
                  <a:pt x="3280756" y="855805"/>
                </a:lnTo>
                <a:lnTo>
                  <a:pt x="3325090" y="821626"/>
                </a:lnTo>
                <a:lnTo>
                  <a:pt x="3369425" y="787442"/>
                </a:lnTo>
                <a:lnTo>
                  <a:pt x="3413760" y="753255"/>
                </a:lnTo>
                <a:lnTo>
                  <a:pt x="3458094" y="719063"/>
                </a:lnTo>
                <a:lnTo>
                  <a:pt x="3502429" y="684868"/>
                </a:lnTo>
                <a:lnTo>
                  <a:pt x="3546763" y="650668"/>
                </a:lnTo>
                <a:lnTo>
                  <a:pt x="3591098" y="616464"/>
                </a:lnTo>
                <a:lnTo>
                  <a:pt x="3635432" y="582255"/>
                </a:lnTo>
                <a:lnTo>
                  <a:pt x="3679767" y="548043"/>
                </a:lnTo>
                <a:lnTo>
                  <a:pt x="3724101" y="513825"/>
                </a:lnTo>
                <a:lnTo>
                  <a:pt x="3768436" y="479604"/>
                </a:lnTo>
                <a:lnTo>
                  <a:pt x="3812770" y="445378"/>
                </a:lnTo>
                <a:lnTo>
                  <a:pt x="3857105" y="411147"/>
                </a:lnTo>
                <a:lnTo>
                  <a:pt x="3901440" y="376911"/>
                </a:lnTo>
                <a:lnTo>
                  <a:pt x="3945774" y="342671"/>
                </a:lnTo>
                <a:lnTo>
                  <a:pt x="3990109" y="308426"/>
                </a:lnTo>
                <a:lnTo>
                  <a:pt x="4034443" y="274177"/>
                </a:lnTo>
                <a:lnTo>
                  <a:pt x="4078778" y="239922"/>
                </a:lnTo>
                <a:lnTo>
                  <a:pt x="4123112" y="205663"/>
                </a:lnTo>
                <a:lnTo>
                  <a:pt x="4167447" y="171398"/>
                </a:lnTo>
                <a:lnTo>
                  <a:pt x="4211781" y="137129"/>
                </a:lnTo>
                <a:lnTo>
                  <a:pt x="4256116" y="102855"/>
                </a:lnTo>
                <a:lnTo>
                  <a:pt x="4300450" y="68575"/>
                </a:lnTo>
                <a:lnTo>
                  <a:pt x="4344785" y="34290"/>
                </a:lnTo>
                <a:lnTo>
                  <a:pt x="438912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4-E34 ellipse 37" descr="sci-ppt:o037"/>
          <p:cNvSpPr/>
          <p:nvPr/>
        </p:nvSpPr>
        <p:spPr>
          <a:xfrm>
            <a:off x="8119872" y="4099262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4-E34 text 38" descr="sci-ppt:o038"/>
          <p:cNvSpPr txBox="1"/>
          <p:nvPr/>
        </p:nvSpPr>
        <p:spPr>
          <a:xfrm>
            <a:off x="8330184" y="4355294"/>
            <a:ext cx="2560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θ = 1°: Δx = 1.7455 µm</a:t>
            </a:r>
          </a:p>
        </p:txBody>
      </p:sp>
      <p:sp>
        <p:nvSpPr>
          <p:cNvPr id="41" name="C4-E34 round_rect 39" descr="sci-ppt:o039"/>
          <p:cNvSpPr/>
          <p:nvPr/>
        </p:nvSpPr>
        <p:spPr>
          <a:xfrm>
            <a:off x="365760" y="914400"/>
            <a:ext cx="594360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4-E34 text 40" descr="sci-ppt:o040"/>
          <p:cNvSpPr txBox="1"/>
          <p:nvPr/>
        </p:nvSpPr>
        <p:spPr>
          <a:xfrm>
            <a:off x="475488" y="969264"/>
            <a:ext cx="5724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Ballistic placement</a:t>
            </a:r>
          </a:p>
        </p:txBody>
      </p:sp>
      <p:sp>
        <p:nvSpPr>
          <p:cNvPr id="43" name="C4-E34 rect 41" descr="sci-ppt:o041"/>
          <p:cNvSpPr/>
          <p:nvPr/>
        </p:nvSpPr>
        <p:spPr>
          <a:xfrm>
            <a:off x="731520" y="1554480"/>
            <a:ext cx="5212080" cy="274320"/>
          </a:xfrm>
          <a:prstGeom prst="rect">
            <a:avLst/>
          </a:prstGeom>
          <a:solidFill>
            <a:srgbClr val="3A5362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4-E34 text 42" descr="sci-ppt:o042"/>
          <p:cNvSpPr txBox="1"/>
          <p:nvPr/>
        </p:nvSpPr>
        <p:spPr>
          <a:xfrm>
            <a:off x="731520" y="1280160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exit plane (jet source)</a:t>
            </a:r>
          </a:p>
        </p:txBody>
      </p:sp>
      <p:sp>
        <p:nvSpPr>
          <p:cNvPr id="45" name="C4-E34 rect 43" descr="sci-ppt:o043"/>
          <p:cNvSpPr/>
          <p:nvPr/>
        </p:nvSpPr>
        <p:spPr>
          <a:xfrm>
            <a:off x="731520" y="4023360"/>
            <a:ext cx="5212080" cy="274320"/>
          </a:xfrm>
          <a:prstGeom prst="rect">
            <a:avLst/>
          </a:prstGeom>
          <a:solidFill>
            <a:srgbClr val="3A5362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4-E34 text 44" descr="sci-ppt:o044"/>
          <p:cNvSpPr txBox="1"/>
          <p:nvPr/>
        </p:nvSpPr>
        <p:spPr>
          <a:xfrm>
            <a:off x="731520" y="4343400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film plane</a:t>
            </a:r>
          </a:p>
        </p:txBody>
      </p:sp>
      <p:cxnSp>
        <p:nvCxnSpPr>
          <p:cNvPr id="47" name="C4-E34 line 45" descr="sci-ppt:o045"/>
          <p:cNvCxnSpPr/>
          <p:nvPr/>
        </p:nvCxnSpPr>
        <p:spPr>
          <a:xfrm>
            <a:off x="2377440" y="1828800"/>
            <a:ext cx="0" cy="2194560"/>
          </a:xfrm>
          <a:prstGeom prst="line">
            <a:avLst/>
          </a:prstGeom>
          <a:ln w="16510">
            <a:solidFill>
              <a:srgbClr val="B4C7D2"/>
            </a:solidFill>
            <a:prstDash val="dash"/>
          </a:ln>
          <a:effectLst/>
        </p:spPr>
      </p:cxnSp>
      <p:cxnSp>
        <p:nvCxnSpPr>
          <p:cNvPr id="48" name="C4-E34 arrow 46" descr="sci-ppt:o046"/>
          <p:cNvCxnSpPr/>
          <p:nvPr/>
        </p:nvCxnSpPr>
        <p:spPr>
          <a:xfrm>
            <a:off x="2377440" y="1828800"/>
            <a:ext cx="685800" cy="2148839"/>
          </a:xfrm>
          <a:prstGeom prst="line">
            <a:avLst/>
          </a:prstGeom>
          <a:ln w="4445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49" name="C4-E34 line 47" descr="sci-ppt:o047"/>
          <p:cNvCxnSpPr/>
          <p:nvPr/>
        </p:nvCxnSpPr>
        <p:spPr>
          <a:xfrm>
            <a:off x="640080" y="1828800"/>
            <a:ext cx="0" cy="219456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50" name="C4-E34 line 48" descr="sci-ppt:o048"/>
          <p:cNvCxnSpPr/>
          <p:nvPr/>
        </p:nvCxnSpPr>
        <p:spPr>
          <a:xfrm flipH="1">
            <a:off x="576071" y="1828800"/>
            <a:ext cx="128017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51" name="C4-E34 line 49" descr="sci-ppt:o049"/>
          <p:cNvCxnSpPr/>
          <p:nvPr/>
        </p:nvCxnSpPr>
        <p:spPr>
          <a:xfrm flipH="1">
            <a:off x="576071" y="4023360"/>
            <a:ext cx="128017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52" name="C4-E34 text 50" descr="sci-ppt:o050"/>
          <p:cNvSpPr txBox="1"/>
          <p:nvPr/>
        </p:nvSpPr>
        <p:spPr>
          <a:xfrm>
            <a:off x="-457200" y="2834640"/>
            <a:ext cx="1828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H_f</a:t>
            </a:r>
          </a:p>
        </p:txBody>
      </p:sp>
      <p:cxnSp>
        <p:nvCxnSpPr>
          <p:cNvPr id="53" name="C4-E34 line 51" descr="sci-ppt:o051"/>
          <p:cNvCxnSpPr/>
          <p:nvPr/>
        </p:nvCxnSpPr>
        <p:spPr>
          <a:xfrm>
            <a:off x="2377440" y="4526280"/>
            <a:ext cx="731520" cy="0"/>
          </a:xfrm>
          <a:prstGeom prst="line">
            <a:avLst/>
          </a:prstGeom>
          <a:ln w="16510">
            <a:solidFill>
              <a:srgbClr val="F28BA0"/>
            </a:solidFill>
          </a:ln>
          <a:effectLst/>
        </p:spPr>
      </p:cxnSp>
      <p:cxnSp>
        <p:nvCxnSpPr>
          <p:cNvPr id="54" name="C4-E34 line 52" descr="sci-ppt:o052"/>
          <p:cNvCxnSpPr/>
          <p:nvPr/>
        </p:nvCxnSpPr>
        <p:spPr>
          <a:xfrm>
            <a:off x="2377440" y="4462272"/>
            <a:ext cx="0" cy="128016"/>
          </a:xfrm>
          <a:prstGeom prst="line">
            <a:avLst/>
          </a:prstGeom>
          <a:ln w="16510">
            <a:solidFill>
              <a:srgbClr val="F28BA0"/>
            </a:solidFill>
          </a:ln>
          <a:effectLst/>
        </p:spPr>
      </p:cxnSp>
      <p:cxnSp>
        <p:nvCxnSpPr>
          <p:cNvPr id="55" name="C4-E34 line 53" descr="sci-ppt:o053"/>
          <p:cNvCxnSpPr/>
          <p:nvPr/>
        </p:nvCxnSpPr>
        <p:spPr>
          <a:xfrm>
            <a:off x="3108960" y="4462272"/>
            <a:ext cx="0" cy="128016"/>
          </a:xfrm>
          <a:prstGeom prst="line">
            <a:avLst/>
          </a:prstGeom>
          <a:ln w="16510">
            <a:solidFill>
              <a:srgbClr val="F28BA0"/>
            </a:solidFill>
          </a:ln>
          <a:effectLst/>
        </p:spPr>
      </p:cxnSp>
      <p:sp>
        <p:nvSpPr>
          <p:cNvPr id="56" name="C4-E34 text 54" descr="sci-ppt:o054"/>
          <p:cNvSpPr txBox="1"/>
          <p:nvPr/>
        </p:nvSpPr>
        <p:spPr>
          <a:xfrm>
            <a:off x="1828800" y="4248150"/>
            <a:ext cx="1828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F28BA0"/>
                </a:solidFill>
                <a:latin typeface="Arial"/>
              </a:rPr>
              <a:t>Δx</a:t>
            </a:r>
          </a:p>
        </p:txBody>
      </p:sp>
      <p:sp>
        <p:nvSpPr>
          <p:cNvPr id="57" name="C4-E34 text 55" descr="sci-ppt:o055"/>
          <p:cNvSpPr txBox="1"/>
          <p:nvPr/>
        </p:nvSpPr>
        <p:spPr>
          <a:xfrm>
            <a:off x="3291840" y="2560320"/>
            <a:ext cx="25603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θ</a:t>
            </a:r>
          </a:p>
        </p:txBody>
      </p:sp>
      <p:sp>
        <p:nvSpPr>
          <p:cNvPr id="58" name="C4-E34 text 56" descr="sci-ppt:o056"/>
          <p:cNvSpPr txBox="1"/>
          <p:nvPr/>
        </p:nvSpPr>
        <p:spPr>
          <a:xfrm>
            <a:off x="548640" y="4983480"/>
            <a:ext cx="55778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Δx = H_f tan θ,   H_f = 100 µm,   θ = 1° ⇒ Δx = 1.74551 µm</a:t>
            </a:r>
          </a:p>
        </p:txBody>
      </p:sp>
      <p:sp>
        <p:nvSpPr>
          <p:cNvPr id="59" name="C4-E34 text 57" descr="sci-ppt:o057"/>
          <p:cNvSpPr txBox="1"/>
          <p:nvPr/>
        </p:nvSpPr>
        <p:spPr>
          <a:xfrm>
            <a:off x="6583680" y="5623560"/>
            <a:ext cx="512064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A receiving gap converts a small angular error into a placement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error; compare Δx with the feature size.</a:t>
            </a:r>
          </a:p>
        </p:txBody>
      </p:sp>
      <p:sp>
        <p:nvSpPr>
          <p:cNvPr id="60" name="C4-E34 text 58" descr="sci-ppt:o05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Ballistic placement of Eq. C4-E34 (the sketch angle is exaggerated).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C4-E35 · Original load, impulse and work formulas</a:t>
            </a:r>
          </a:p>
        </p:txBody>
      </p:sp>
      <p:sp>
        <p:nvSpPr>
          <p:cNvPr id="3" name="C4-E35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Defence 1: load, impulse and work are three different quantities</a:t>
            </a:r>
          </a:p>
        </p:txBody>
      </p:sp>
      <p:sp>
        <p:nvSpPr>
          <p:cNvPr id="4" name="C4-E35 round_rect 2" descr="sci-ppt:o002"/>
          <p:cNvSpPr/>
          <p:nvPr/>
        </p:nvSpPr>
        <p:spPr>
          <a:xfrm>
            <a:off x="457200" y="1371600"/>
            <a:ext cx="3611880" cy="30175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4-E35 text 3" descr="sci-ppt:o003"/>
          <p:cNvSpPr txBox="1"/>
          <p:nvPr/>
        </p:nvSpPr>
        <p:spPr>
          <a:xfrm>
            <a:off x="566928" y="1426464"/>
            <a:ext cx="3392424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7FC8F8"/>
                </a:solidFill>
                <a:latin typeface="Arial"/>
              </a:rPr>
              <a:t>traction</a:t>
            </a:r>
          </a:p>
        </p:txBody>
      </p:sp>
      <p:sp>
        <p:nvSpPr>
          <p:cNvPr id="6" name="C4-E35 text 4" descr="sci-ppt:o004"/>
          <p:cNvSpPr txBox="1"/>
          <p:nvPr/>
        </p:nvSpPr>
        <p:spPr>
          <a:xfrm>
            <a:off x="548640" y="1920240"/>
            <a:ext cx="3429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tₗ = Tₗ n_f</a:t>
            </a:r>
          </a:p>
        </p:txBody>
      </p:sp>
      <p:sp>
        <p:nvSpPr>
          <p:cNvPr id="7" name="C4-E35 text 5" descr="sci-ppt:o005"/>
          <p:cNvSpPr txBox="1"/>
          <p:nvPr/>
        </p:nvSpPr>
        <p:spPr>
          <a:xfrm>
            <a:off x="548640" y="2697480"/>
            <a:ext cx="3429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7FC8F8"/>
                </a:solidFill>
                <a:latin typeface="Arial"/>
              </a:rPr>
              <a:t>unit: Pa (local)</a:t>
            </a:r>
          </a:p>
        </p:txBody>
      </p:sp>
      <p:sp>
        <p:nvSpPr>
          <p:cNvPr id="8" name="C4-E35 text 6" descr="sci-ppt:o006"/>
          <p:cNvSpPr txBox="1"/>
          <p:nvPr/>
        </p:nvSpPr>
        <p:spPr>
          <a:xfrm>
            <a:off x="548640" y="3291840"/>
            <a:ext cx="3429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what the film feels at a point</a:t>
            </a:r>
          </a:p>
        </p:txBody>
      </p:sp>
      <p:sp>
        <p:nvSpPr>
          <p:cNvPr id="9" name="C4-E35 round_rect 7" descr="sci-ppt:o007"/>
          <p:cNvSpPr/>
          <p:nvPr/>
        </p:nvSpPr>
        <p:spPr>
          <a:xfrm>
            <a:off x="4251960" y="1371600"/>
            <a:ext cx="3611880" cy="30175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4-E35 text 8" descr="sci-ppt:o008"/>
          <p:cNvSpPr txBox="1"/>
          <p:nvPr/>
        </p:nvSpPr>
        <p:spPr>
          <a:xfrm>
            <a:off x="4361688" y="1426464"/>
            <a:ext cx="3392424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impulse</a:t>
            </a:r>
          </a:p>
        </p:txBody>
      </p:sp>
      <p:sp>
        <p:nvSpPr>
          <p:cNvPr id="11" name="C4-E35 text 9" descr="sci-ppt:o009"/>
          <p:cNvSpPr txBox="1"/>
          <p:nvPr/>
        </p:nvSpPr>
        <p:spPr>
          <a:xfrm>
            <a:off x="4343400" y="1920240"/>
            <a:ext cx="3429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Iₗ = ∫∫ tₗ dA dt</a:t>
            </a:r>
          </a:p>
        </p:txBody>
      </p:sp>
      <p:sp>
        <p:nvSpPr>
          <p:cNvPr id="12" name="C4-E35 text 10" descr="sci-ppt:o010"/>
          <p:cNvSpPr txBox="1"/>
          <p:nvPr/>
        </p:nvSpPr>
        <p:spPr>
          <a:xfrm>
            <a:off x="4343400" y="2697480"/>
            <a:ext cx="3429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unit: N s</a:t>
            </a:r>
          </a:p>
        </p:txBody>
      </p:sp>
      <p:sp>
        <p:nvSpPr>
          <p:cNvPr id="13" name="C4-E35 text 11" descr="sci-ppt:o011"/>
          <p:cNvSpPr txBox="1"/>
          <p:nvPr/>
        </p:nvSpPr>
        <p:spPr>
          <a:xfrm>
            <a:off x="4343400" y="3291840"/>
            <a:ext cx="3429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area and time integrated</a:t>
            </a:r>
          </a:p>
        </p:txBody>
      </p:sp>
      <p:sp>
        <p:nvSpPr>
          <p:cNvPr id="14" name="C4-E35 round_rect 12" descr="sci-ppt:o012"/>
          <p:cNvSpPr/>
          <p:nvPr/>
        </p:nvSpPr>
        <p:spPr>
          <a:xfrm>
            <a:off x="8046720" y="1371600"/>
            <a:ext cx="3611880" cy="30175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4-E35 text 13" descr="sci-ppt:o013"/>
          <p:cNvSpPr txBox="1"/>
          <p:nvPr/>
        </p:nvSpPr>
        <p:spPr>
          <a:xfrm>
            <a:off x="8156448" y="1426464"/>
            <a:ext cx="3392424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8BA0"/>
                </a:solidFill>
                <a:latin typeface="Arial"/>
              </a:rPr>
              <a:t>work</a:t>
            </a:r>
          </a:p>
        </p:txBody>
      </p:sp>
      <p:sp>
        <p:nvSpPr>
          <p:cNvPr id="16" name="C4-E35 text 14" descr="sci-ppt:o014"/>
          <p:cNvSpPr txBox="1"/>
          <p:nvPr/>
        </p:nvSpPr>
        <p:spPr>
          <a:xfrm>
            <a:off x="8138160" y="1920240"/>
            <a:ext cx="3429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Wₗ = ∫∫ tₗ·v_f dA dt</a:t>
            </a:r>
          </a:p>
        </p:txBody>
      </p:sp>
      <p:sp>
        <p:nvSpPr>
          <p:cNvPr id="17" name="C4-E35 text 15" descr="sci-ppt:o015"/>
          <p:cNvSpPr txBox="1"/>
          <p:nvPr/>
        </p:nvSpPr>
        <p:spPr>
          <a:xfrm>
            <a:off x="8138160" y="2697480"/>
            <a:ext cx="3429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8BA0"/>
                </a:solidFill>
                <a:latin typeface="Arial"/>
              </a:rPr>
              <a:t>unit: J</a:t>
            </a:r>
          </a:p>
        </p:txBody>
      </p:sp>
      <p:sp>
        <p:nvSpPr>
          <p:cNvPr id="18" name="C4-E35 text 16" descr="sci-ppt:o016"/>
          <p:cNvSpPr txBox="1"/>
          <p:nvPr/>
        </p:nvSpPr>
        <p:spPr>
          <a:xfrm>
            <a:off x="8138160" y="3291840"/>
            <a:ext cx="3429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needs surface motion v_f</a:t>
            </a:r>
          </a:p>
        </p:txBody>
      </p:sp>
      <p:sp>
        <p:nvSpPr>
          <p:cNvPr id="19" name="C4-E35 text 17" descr="sci-ppt:o017"/>
          <p:cNvSpPr txBox="1"/>
          <p:nvPr/>
        </p:nvSpPr>
        <p:spPr>
          <a:xfrm>
            <a:off x="457200" y="4663440"/>
            <a:ext cx="112471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Pressure alone says nothing about momentum or energy: duration, footprint and motion decide.</a:t>
            </a:r>
          </a:p>
        </p:txBody>
      </p:sp>
      <p:sp>
        <p:nvSpPr>
          <p:cNvPr id="20" name="C4-E35 text 18" descr="sci-ppt:o018"/>
          <p:cNvSpPr txBox="1"/>
          <p:nvPr/>
        </p:nvSpPr>
        <p:spPr>
          <a:xfrm>
            <a:off x="457200" y="521208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 stiff, immobile wall receives force and impulse but zero work.</a:t>
            </a:r>
          </a:p>
        </p:txBody>
      </p:sp>
      <p:sp>
        <p:nvSpPr>
          <p:cNvPr id="21" name="C4-E35 text 19" descr="sci-ppt:o01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1 answer: Eqs. C4-E01 and C4-E02.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C4-E36 · Original global screens</a:t>
            </a:r>
          </a:p>
        </p:txBody>
      </p:sp>
      <p:sp>
        <p:nvSpPr>
          <p:cNvPr id="3" name="C4-E36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Defence 1: global screens</a:t>
            </a:r>
          </a:p>
        </p:txBody>
      </p:sp>
      <p:sp>
        <p:nvSpPr>
          <p:cNvPr id="4" name="C4-E36 round_rect 2" descr="sci-ppt:o002"/>
          <p:cNvSpPr/>
          <p:nvPr/>
        </p:nvSpPr>
        <p:spPr>
          <a:xfrm>
            <a:off x="457200" y="1371600"/>
            <a:ext cx="5486400" cy="21031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4-E36 text 3" descr="sci-ppt:o003"/>
          <p:cNvSpPr txBox="1"/>
          <p:nvPr/>
        </p:nvSpPr>
        <p:spPr>
          <a:xfrm>
            <a:off x="566928" y="1426464"/>
            <a:ext cx="52669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Energy</a:t>
            </a:r>
          </a:p>
        </p:txBody>
      </p:sp>
      <p:sp>
        <p:nvSpPr>
          <p:cNvPr id="6" name="C4-E36 text 4" descr="sci-ppt:o004"/>
          <p:cNvSpPr txBox="1"/>
          <p:nvPr/>
        </p:nvSpPr>
        <p:spPr>
          <a:xfrm>
            <a:off x="594360" y="1920240"/>
            <a:ext cx="52120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E_solid ≥ Γ A_f + ½ m_f v_f²</a:t>
            </a:r>
          </a:p>
        </p:txBody>
      </p:sp>
      <p:sp>
        <p:nvSpPr>
          <p:cNvPr id="7" name="C4-E36 text 5" descr="sci-ppt:o005"/>
          <p:cNvSpPr txBox="1"/>
          <p:nvPr/>
        </p:nvSpPr>
        <p:spPr>
          <a:xfrm>
            <a:off x="594360" y="2560320"/>
            <a:ext cx="5212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fracture cost + kinetic energy of departure</a:t>
            </a:r>
          </a:p>
        </p:txBody>
      </p:sp>
      <p:sp>
        <p:nvSpPr>
          <p:cNvPr id="8" name="C4-E36 round_rect 6" descr="sci-ppt:o006"/>
          <p:cNvSpPr/>
          <p:nvPr/>
        </p:nvSpPr>
        <p:spPr>
          <a:xfrm>
            <a:off x="6217920" y="1371600"/>
            <a:ext cx="5486400" cy="21031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4-E36 text 7" descr="sci-ppt:o007"/>
          <p:cNvSpPr txBox="1"/>
          <p:nvPr/>
        </p:nvSpPr>
        <p:spPr>
          <a:xfrm>
            <a:off x="6327648" y="1426464"/>
            <a:ext cx="52669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Momentum</a:t>
            </a:r>
          </a:p>
        </p:txBody>
      </p:sp>
      <p:sp>
        <p:nvSpPr>
          <p:cNvPr id="10" name="C4-E36 text 8" descr="sci-ppt:o008"/>
          <p:cNvSpPr txBox="1"/>
          <p:nvPr/>
        </p:nvSpPr>
        <p:spPr>
          <a:xfrm>
            <a:off x="6355080" y="1920240"/>
            <a:ext cx="52120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Iₙₑₜ ≥ m_f v_f</a:t>
            </a:r>
          </a:p>
        </p:txBody>
      </p:sp>
      <p:sp>
        <p:nvSpPr>
          <p:cNvPr id="11" name="C4-E36 text 9" descr="sci-ppt:o009"/>
          <p:cNvSpPr txBox="1"/>
          <p:nvPr/>
        </p:nvSpPr>
        <p:spPr>
          <a:xfrm>
            <a:off x="6355080" y="2560320"/>
            <a:ext cx="5212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net impulse must carry the film at v_f</a:t>
            </a:r>
          </a:p>
        </p:txBody>
      </p:sp>
      <p:sp>
        <p:nvSpPr>
          <p:cNvPr id="12" name="C4-E36 text 10" descr="sci-ppt:o010"/>
          <p:cNvSpPr txBox="1"/>
          <p:nvPr/>
        </p:nvSpPr>
        <p:spPr>
          <a:xfrm>
            <a:off x="457200" y="3858768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E_solid 10.0 nJ vs Γ A_f 5.0 nJ (passes)</a:t>
            </a:r>
          </a:p>
        </p:txBody>
      </p:sp>
      <p:sp>
        <p:nvSpPr>
          <p:cNvPr id="13" name="C4-E36 rect 11" descr="sci-ppt:o011"/>
          <p:cNvSpPr/>
          <p:nvPr/>
        </p:nvSpPr>
        <p:spPr>
          <a:xfrm>
            <a:off x="6309360" y="3840480"/>
            <a:ext cx="4114800" cy="36576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4-E36 text 12" descr="sci-ppt:o012"/>
          <p:cNvSpPr txBox="1"/>
          <p:nvPr/>
        </p:nvSpPr>
        <p:spPr>
          <a:xfrm>
            <a:off x="10497312" y="388620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1.00 of need</a:t>
            </a:r>
          </a:p>
        </p:txBody>
      </p:sp>
      <p:sp>
        <p:nvSpPr>
          <p:cNvPr id="15" name="C4-E36 text 13" descr="sci-ppt:o013"/>
          <p:cNvSpPr txBox="1"/>
          <p:nvPr/>
        </p:nvSpPr>
        <p:spPr>
          <a:xfrm>
            <a:off x="457200" y="4453128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E_solid 10.0 nJ vs Γ A_f 20.0 nJ (fails)</a:t>
            </a:r>
          </a:p>
        </p:txBody>
      </p:sp>
      <p:sp>
        <p:nvSpPr>
          <p:cNvPr id="16" name="C4-E36 rect 14" descr="sci-ppt:o014"/>
          <p:cNvSpPr/>
          <p:nvPr/>
        </p:nvSpPr>
        <p:spPr>
          <a:xfrm>
            <a:off x="6309360" y="4434840"/>
            <a:ext cx="2057400" cy="36576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4-E36 text 15" descr="sci-ppt:o015"/>
          <p:cNvSpPr txBox="1"/>
          <p:nvPr/>
        </p:nvSpPr>
        <p:spPr>
          <a:xfrm>
            <a:off x="8439912" y="448056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0.50 of need</a:t>
            </a:r>
          </a:p>
        </p:txBody>
      </p:sp>
      <p:sp>
        <p:nvSpPr>
          <p:cNvPr id="18" name="C4-E36 text 16" descr="sci-ppt:o016"/>
          <p:cNvSpPr txBox="1"/>
          <p:nvPr/>
        </p:nvSpPr>
        <p:spPr>
          <a:xfrm>
            <a:off x="457200" y="521208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Both screens must pass for the same Γ, A_f, m_f and v_f; the 20 nJ case already fails the first.</a:t>
            </a:r>
          </a:p>
        </p:txBody>
      </p:sp>
      <p:sp>
        <p:nvSpPr>
          <p:cNvPr id="19" name="C4-E36 text 17" descr="sci-ppt:o01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1 answer: Eqs. C4-E30 to E33 (bar = budget / need, capped at 1).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C4-E37 · Original pressure-controlled benchmark formulas</a:t>
            </a:r>
          </a:p>
        </p:txBody>
      </p:sp>
      <p:cxnSp>
        <p:nvCxnSpPr>
          <p:cNvPr id="3" name="C4-E37 line 1" descr="sci-ppt:o001"/>
          <p:cNvCxnSpPr/>
          <p:nvPr/>
        </p:nvCxnSpPr>
        <p:spPr>
          <a:xfrm>
            <a:off x="914400" y="4846320"/>
            <a:ext cx="43891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37 line 2" descr="sci-ppt:o002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37 line 3" descr="sci-ppt:o003"/>
          <p:cNvCxnSpPr/>
          <p:nvPr/>
        </p:nvCxnSpPr>
        <p:spPr>
          <a:xfrm>
            <a:off x="9144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37 line 4" descr="sci-ppt:o004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37 text 5" descr="sci-ppt:o005"/>
          <p:cNvSpPr txBox="1"/>
          <p:nvPr/>
        </p:nvSpPr>
        <p:spPr>
          <a:xfrm>
            <a:off x="4572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4-E37 line 6" descr="sci-ppt:o006"/>
          <p:cNvCxnSpPr/>
          <p:nvPr/>
        </p:nvCxnSpPr>
        <p:spPr>
          <a:xfrm>
            <a:off x="310896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37 line 7" descr="sci-ppt:o007"/>
          <p:cNvCxnSpPr/>
          <p:nvPr/>
        </p:nvCxnSpPr>
        <p:spPr>
          <a:xfrm>
            <a:off x="310896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37 text 8" descr="sci-ppt:o008"/>
          <p:cNvSpPr txBox="1"/>
          <p:nvPr/>
        </p:nvSpPr>
        <p:spPr>
          <a:xfrm>
            <a:off x="265176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4-E37 line 9" descr="sci-ppt:o009"/>
          <p:cNvCxnSpPr/>
          <p:nvPr/>
        </p:nvCxnSpPr>
        <p:spPr>
          <a:xfrm>
            <a:off x="530352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37 line 10" descr="sci-ppt:o010"/>
          <p:cNvCxnSpPr/>
          <p:nvPr/>
        </p:nvCxnSpPr>
        <p:spPr>
          <a:xfrm>
            <a:off x="530352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37 text 11" descr="sci-ppt:o011"/>
          <p:cNvSpPr txBox="1"/>
          <p:nvPr/>
        </p:nvSpPr>
        <p:spPr>
          <a:xfrm>
            <a:off x="484632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4" name="C4-E37 line 12" descr="sci-ppt:o012"/>
          <p:cNvCxnSpPr/>
          <p:nvPr/>
        </p:nvCxnSpPr>
        <p:spPr>
          <a:xfrm>
            <a:off x="85039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37 line 13" descr="sci-ppt:o013"/>
          <p:cNvCxnSpPr/>
          <p:nvPr/>
        </p:nvCxnSpPr>
        <p:spPr>
          <a:xfrm>
            <a:off x="850392" y="326690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4-E37 line 14" descr="sci-ppt:o014"/>
          <p:cNvCxnSpPr/>
          <p:nvPr/>
        </p:nvCxnSpPr>
        <p:spPr>
          <a:xfrm>
            <a:off x="914400" y="3266901"/>
            <a:ext cx="43891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4-E37 text 15" descr="sci-ppt:o015"/>
          <p:cNvSpPr txBox="1"/>
          <p:nvPr/>
        </p:nvSpPr>
        <p:spPr>
          <a:xfrm>
            <a:off x="45720" y="318460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8" name="C4-E37 line 16" descr="sci-ppt:o016"/>
          <p:cNvCxnSpPr/>
          <p:nvPr/>
        </p:nvCxnSpPr>
        <p:spPr>
          <a:xfrm>
            <a:off x="850392" y="168748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4-E37 line 17" descr="sci-ppt:o017"/>
          <p:cNvCxnSpPr/>
          <p:nvPr/>
        </p:nvCxnSpPr>
        <p:spPr>
          <a:xfrm>
            <a:off x="914400" y="1687483"/>
            <a:ext cx="43891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4-E37 text 18" descr="sci-ppt:o018"/>
          <p:cNvSpPr txBox="1"/>
          <p:nvPr/>
        </p:nvSpPr>
        <p:spPr>
          <a:xfrm>
            <a:off x="45720" y="1605187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21" name="C4-E37 text 19" descr="sci-ppt:o019"/>
          <p:cNvSpPr txBox="1"/>
          <p:nvPr/>
        </p:nvSpPr>
        <p:spPr>
          <a:xfrm>
            <a:off x="914400" y="5129783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b</a:t>
            </a:r>
          </a:p>
        </p:txBody>
      </p:sp>
      <p:sp>
        <p:nvSpPr>
          <p:cNvPr id="22" name="C4-E37 text 20" descr="sci-ppt:o020"/>
          <p:cNvSpPr txBox="1"/>
          <p:nvPr/>
        </p:nvSpPr>
        <p:spPr>
          <a:xfrm>
            <a:off x="365760" y="1024128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 / w(0)</a:t>
            </a:r>
          </a:p>
        </p:txBody>
      </p:sp>
      <p:sp>
        <p:nvSpPr>
          <p:cNvPr id="23" name="C4-E37 polygon 21" descr="sci-ppt:o021"/>
          <p:cNvSpPr/>
          <p:nvPr/>
        </p:nvSpPr>
        <p:spPr>
          <a:xfrm>
            <a:off x="914400" y="1687483"/>
            <a:ext cx="4389120" cy="3158837"/>
          </a:xfrm>
          <a:custGeom>
            <a:avLst/>
            <a:gdLst/>
            <a:ahLst/>
            <a:cxnLst/>
            <a:rect l="l" t="t" r="r" b="b"/>
            <a:pathLst>
              <a:path w="4389120" h="3158837">
                <a:moveTo>
                  <a:pt x="0" y="0"/>
                </a:moveTo>
                <a:lnTo>
                  <a:pt x="44334" y="645"/>
                </a:lnTo>
                <a:lnTo>
                  <a:pt x="88669" y="2578"/>
                </a:lnTo>
                <a:lnTo>
                  <a:pt x="133003" y="5799"/>
                </a:lnTo>
                <a:lnTo>
                  <a:pt x="177338" y="10305"/>
                </a:lnTo>
                <a:lnTo>
                  <a:pt x="221672" y="16094"/>
                </a:lnTo>
                <a:lnTo>
                  <a:pt x="266007" y="23163"/>
                </a:lnTo>
                <a:lnTo>
                  <a:pt x="310341" y="31506"/>
                </a:lnTo>
                <a:lnTo>
                  <a:pt x="354676" y="41120"/>
                </a:lnTo>
                <a:lnTo>
                  <a:pt x="399010" y="51997"/>
                </a:lnTo>
                <a:lnTo>
                  <a:pt x="443345" y="64131"/>
                </a:lnTo>
                <a:lnTo>
                  <a:pt x="487680" y="77515"/>
                </a:lnTo>
                <a:lnTo>
                  <a:pt x="532014" y="92140"/>
                </a:lnTo>
                <a:lnTo>
                  <a:pt x="576349" y="107997"/>
                </a:lnTo>
                <a:lnTo>
                  <a:pt x="620683" y="125077"/>
                </a:lnTo>
                <a:lnTo>
                  <a:pt x="665018" y="143369"/>
                </a:lnTo>
                <a:lnTo>
                  <a:pt x="709352" y="162861"/>
                </a:lnTo>
                <a:lnTo>
                  <a:pt x="753687" y="183541"/>
                </a:lnTo>
                <a:lnTo>
                  <a:pt x="798021" y="205397"/>
                </a:lnTo>
                <a:lnTo>
                  <a:pt x="842356" y="228413"/>
                </a:lnTo>
                <a:lnTo>
                  <a:pt x="886690" y="252577"/>
                </a:lnTo>
                <a:lnTo>
                  <a:pt x="931025" y="277871"/>
                </a:lnTo>
                <a:lnTo>
                  <a:pt x="975359" y="304281"/>
                </a:lnTo>
                <a:lnTo>
                  <a:pt x="1019694" y="331788"/>
                </a:lnTo>
                <a:lnTo>
                  <a:pt x="1064029" y="360377"/>
                </a:lnTo>
                <a:lnTo>
                  <a:pt x="1108363" y="390026"/>
                </a:lnTo>
                <a:lnTo>
                  <a:pt x="1152698" y="420719"/>
                </a:lnTo>
                <a:lnTo>
                  <a:pt x="1197032" y="452434"/>
                </a:lnTo>
                <a:lnTo>
                  <a:pt x="1241367" y="485150"/>
                </a:lnTo>
                <a:lnTo>
                  <a:pt x="1285701" y="518846"/>
                </a:lnTo>
                <a:lnTo>
                  <a:pt x="1330036" y="553499"/>
                </a:lnTo>
                <a:lnTo>
                  <a:pt x="1374370" y="589086"/>
                </a:lnTo>
                <a:lnTo>
                  <a:pt x="1418705" y="625584"/>
                </a:lnTo>
                <a:lnTo>
                  <a:pt x="1463040" y="662966"/>
                </a:lnTo>
                <a:lnTo>
                  <a:pt x="1507374" y="701207"/>
                </a:lnTo>
                <a:lnTo>
                  <a:pt x="1551709" y="740282"/>
                </a:lnTo>
                <a:lnTo>
                  <a:pt x="1596043" y="780162"/>
                </a:lnTo>
                <a:lnTo>
                  <a:pt x="1640378" y="820820"/>
                </a:lnTo>
                <a:lnTo>
                  <a:pt x="1684712" y="862227"/>
                </a:lnTo>
                <a:lnTo>
                  <a:pt x="1729047" y="904353"/>
                </a:lnTo>
                <a:lnTo>
                  <a:pt x="1773381" y="947168"/>
                </a:lnTo>
                <a:lnTo>
                  <a:pt x="1817716" y="990641"/>
                </a:lnTo>
                <a:lnTo>
                  <a:pt x="1862050" y="1034740"/>
                </a:lnTo>
                <a:lnTo>
                  <a:pt x="1906385" y="1079431"/>
                </a:lnTo>
                <a:lnTo>
                  <a:pt x="1950720" y="1124683"/>
                </a:lnTo>
                <a:lnTo>
                  <a:pt x="1995054" y="1170459"/>
                </a:lnTo>
                <a:lnTo>
                  <a:pt x="2039389" y="1216725"/>
                </a:lnTo>
                <a:lnTo>
                  <a:pt x="2083723" y="1263446"/>
                </a:lnTo>
                <a:lnTo>
                  <a:pt x="2128058" y="1310584"/>
                </a:lnTo>
                <a:lnTo>
                  <a:pt x="2172392" y="1358102"/>
                </a:lnTo>
                <a:lnTo>
                  <a:pt x="2216727" y="1405961"/>
                </a:lnTo>
                <a:lnTo>
                  <a:pt x="2261061" y="1454123"/>
                </a:lnTo>
                <a:lnTo>
                  <a:pt x="2305396" y="1502548"/>
                </a:lnTo>
                <a:lnTo>
                  <a:pt x="2349730" y="1551195"/>
                </a:lnTo>
                <a:lnTo>
                  <a:pt x="2394065" y="1600023"/>
                </a:lnTo>
                <a:lnTo>
                  <a:pt x="2438400" y="1648989"/>
                </a:lnTo>
                <a:lnTo>
                  <a:pt x="2482734" y="1698050"/>
                </a:lnTo>
                <a:lnTo>
                  <a:pt x="2527069" y="1747163"/>
                </a:lnTo>
                <a:lnTo>
                  <a:pt x="2571403" y="1796284"/>
                </a:lnTo>
                <a:lnTo>
                  <a:pt x="2615738" y="1845365"/>
                </a:lnTo>
                <a:lnTo>
                  <a:pt x="2660072" y="1894363"/>
                </a:lnTo>
                <a:lnTo>
                  <a:pt x="2704407" y="1943229"/>
                </a:lnTo>
                <a:lnTo>
                  <a:pt x="2748741" y="1991915"/>
                </a:lnTo>
                <a:lnTo>
                  <a:pt x="2793076" y="2040374"/>
                </a:lnTo>
                <a:lnTo>
                  <a:pt x="2837410" y="2088556"/>
                </a:lnTo>
                <a:lnTo>
                  <a:pt x="2881745" y="2136411"/>
                </a:lnTo>
                <a:lnTo>
                  <a:pt x="2926080" y="2183887"/>
                </a:lnTo>
                <a:lnTo>
                  <a:pt x="2970414" y="2230934"/>
                </a:lnTo>
                <a:lnTo>
                  <a:pt x="3014749" y="2277498"/>
                </a:lnTo>
                <a:lnTo>
                  <a:pt x="3059083" y="2323527"/>
                </a:lnTo>
                <a:lnTo>
                  <a:pt x="3103418" y="2368966"/>
                </a:lnTo>
                <a:lnTo>
                  <a:pt x="3147752" y="2413761"/>
                </a:lnTo>
                <a:lnTo>
                  <a:pt x="3192087" y="2457856"/>
                </a:lnTo>
                <a:lnTo>
                  <a:pt x="3236421" y="2501194"/>
                </a:lnTo>
                <a:lnTo>
                  <a:pt x="3280756" y="2543718"/>
                </a:lnTo>
                <a:lnTo>
                  <a:pt x="3325090" y="2585371"/>
                </a:lnTo>
                <a:lnTo>
                  <a:pt x="3369425" y="2626093"/>
                </a:lnTo>
                <a:lnTo>
                  <a:pt x="3413760" y="2665825"/>
                </a:lnTo>
                <a:lnTo>
                  <a:pt x="3458094" y="2704506"/>
                </a:lnTo>
                <a:lnTo>
                  <a:pt x="3502429" y="2742076"/>
                </a:lnTo>
                <a:lnTo>
                  <a:pt x="3546763" y="2778472"/>
                </a:lnTo>
                <a:lnTo>
                  <a:pt x="3591098" y="2813632"/>
                </a:lnTo>
                <a:lnTo>
                  <a:pt x="3635432" y="2847492"/>
                </a:lnTo>
                <a:lnTo>
                  <a:pt x="3679767" y="2879987"/>
                </a:lnTo>
                <a:lnTo>
                  <a:pt x="3724101" y="2911054"/>
                </a:lnTo>
                <a:lnTo>
                  <a:pt x="3768436" y="2940625"/>
                </a:lnTo>
                <a:lnTo>
                  <a:pt x="3812770" y="2968634"/>
                </a:lnTo>
                <a:lnTo>
                  <a:pt x="3857105" y="2995014"/>
                </a:lnTo>
                <a:lnTo>
                  <a:pt x="3901440" y="3019696"/>
                </a:lnTo>
                <a:lnTo>
                  <a:pt x="3945774" y="3042611"/>
                </a:lnTo>
                <a:lnTo>
                  <a:pt x="3990109" y="3063690"/>
                </a:lnTo>
                <a:lnTo>
                  <a:pt x="4034443" y="3082861"/>
                </a:lnTo>
                <a:lnTo>
                  <a:pt x="4078778" y="3100054"/>
                </a:lnTo>
                <a:lnTo>
                  <a:pt x="4123112" y="3115196"/>
                </a:lnTo>
                <a:lnTo>
                  <a:pt x="4167447" y="3128214"/>
                </a:lnTo>
                <a:lnTo>
                  <a:pt x="4211781" y="3139034"/>
                </a:lnTo>
                <a:lnTo>
                  <a:pt x="4256116" y="3147583"/>
                </a:lnTo>
                <a:lnTo>
                  <a:pt x="4300450" y="3153783"/>
                </a:lnTo>
                <a:lnTo>
                  <a:pt x="4344785" y="3157560"/>
                </a:lnTo>
                <a:lnTo>
                  <a:pt x="4389120" y="3158837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C4-E37 line 22" descr="sci-ppt:o022"/>
          <p:cNvCxnSpPr/>
          <p:nvPr/>
        </p:nvCxnSpPr>
        <p:spPr>
          <a:xfrm>
            <a:off x="5943600" y="4846320"/>
            <a:ext cx="28346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5" name="C4-E37 line 23" descr="sci-ppt:o023"/>
          <p:cNvCxnSpPr/>
          <p:nvPr/>
        </p:nvCxnSpPr>
        <p:spPr>
          <a:xfrm>
            <a:off x="594360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6" name="C4-E37 line 24" descr="sci-ppt:o024"/>
          <p:cNvCxnSpPr/>
          <p:nvPr/>
        </p:nvCxnSpPr>
        <p:spPr>
          <a:xfrm>
            <a:off x="59436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4-E37 line 25" descr="sci-ppt:o025"/>
          <p:cNvCxnSpPr/>
          <p:nvPr/>
        </p:nvCxnSpPr>
        <p:spPr>
          <a:xfrm>
            <a:off x="59436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4-E37 text 26" descr="sci-ppt:o026"/>
          <p:cNvSpPr txBox="1"/>
          <p:nvPr/>
        </p:nvSpPr>
        <p:spPr>
          <a:xfrm>
            <a:off x="54864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9" name="C4-E37 line 27" descr="sci-ppt:o027"/>
          <p:cNvCxnSpPr/>
          <p:nvPr/>
        </p:nvCxnSpPr>
        <p:spPr>
          <a:xfrm>
            <a:off x="736092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4-E37 line 28" descr="sci-ppt:o028"/>
          <p:cNvCxnSpPr/>
          <p:nvPr/>
        </p:nvCxnSpPr>
        <p:spPr>
          <a:xfrm>
            <a:off x="736092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4-E37 text 29" descr="sci-ppt:o029"/>
          <p:cNvSpPr txBox="1"/>
          <p:nvPr/>
        </p:nvSpPr>
        <p:spPr>
          <a:xfrm>
            <a:off x="690372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32" name="C4-E37 line 30" descr="sci-ppt:o030"/>
          <p:cNvCxnSpPr/>
          <p:nvPr/>
        </p:nvCxnSpPr>
        <p:spPr>
          <a:xfrm>
            <a:off x="877824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4-E37 line 31" descr="sci-ppt:o031"/>
          <p:cNvCxnSpPr/>
          <p:nvPr/>
        </p:nvCxnSpPr>
        <p:spPr>
          <a:xfrm>
            <a:off x="877824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4-E37 text 32" descr="sci-ppt:o032"/>
          <p:cNvSpPr txBox="1"/>
          <p:nvPr/>
        </p:nvSpPr>
        <p:spPr>
          <a:xfrm>
            <a:off x="832104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35" name="C4-E37 line 33" descr="sci-ppt:o033"/>
          <p:cNvCxnSpPr/>
          <p:nvPr/>
        </p:nvCxnSpPr>
        <p:spPr>
          <a:xfrm>
            <a:off x="587959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4-E37 line 34" descr="sci-ppt:o034"/>
          <p:cNvCxnSpPr/>
          <p:nvPr/>
        </p:nvCxnSpPr>
        <p:spPr>
          <a:xfrm>
            <a:off x="5879592" y="31089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4-E37 line 35" descr="sci-ppt:o035"/>
          <p:cNvCxnSpPr/>
          <p:nvPr/>
        </p:nvCxnSpPr>
        <p:spPr>
          <a:xfrm>
            <a:off x="5943600" y="3108960"/>
            <a:ext cx="2834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4-E37 text 36" descr="sci-ppt:o036"/>
          <p:cNvSpPr txBox="1"/>
          <p:nvPr/>
        </p:nvSpPr>
        <p:spPr>
          <a:xfrm>
            <a:off x="5074920" y="30266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39" name="C4-E37 line 37" descr="sci-ppt:o037"/>
          <p:cNvCxnSpPr/>
          <p:nvPr/>
        </p:nvCxnSpPr>
        <p:spPr>
          <a:xfrm>
            <a:off x="58795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0" name="C4-E37 line 38" descr="sci-ppt:o038"/>
          <p:cNvCxnSpPr/>
          <p:nvPr/>
        </p:nvCxnSpPr>
        <p:spPr>
          <a:xfrm>
            <a:off x="5943600" y="1371600"/>
            <a:ext cx="2834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1" name="C4-E37 text 39" descr="sci-ppt:o039"/>
          <p:cNvSpPr txBox="1"/>
          <p:nvPr/>
        </p:nvSpPr>
        <p:spPr>
          <a:xfrm>
            <a:off x="50749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sp>
        <p:nvSpPr>
          <p:cNvPr id="42" name="C4-E37 text 40" descr="sci-ppt:o040"/>
          <p:cNvSpPr txBox="1"/>
          <p:nvPr/>
        </p:nvSpPr>
        <p:spPr>
          <a:xfrm>
            <a:off x="5943600" y="5129783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p₀ / p₀,crit</a:t>
            </a:r>
          </a:p>
        </p:txBody>
      </p:sp>
      <p:sp>
        <p:nvSpPr>
          <p:cNvPr id="43" name="C4-E37 text 41" descr="sci-ppt:o041"/>
          <p:cNvSpPr txBox="1"/>
          <p:nvPr/>
        </p:nvSpPr>
        <p:spPr>
          <a:xfrm>
            <a:off x="5394960" y="1024128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G / Γ</a:t>
            </a:r>
          </a:p>
        </p:txBody>
      </p:sp>
      <p:sp>
        <p:nvSpPr>
          <p:cNvPr id="44" name="C4-E37 polygon 42" descr="sci-ppt:o042"/>
          <p:cNvSpPr/>
          <p:nvPr/>
        </p:nvSpPr>
        <p:spPr>
          <a:xfrm>
            <a:off x="5943600" y="1371600"/>
            <a:ext cx="2834640" cy="3474720"/>
          </a:xfrm>
          <a:custGeom>
            <a:avLst/>
            <a:gdLst/>
            <a:ahLst/>
            <a:cxnLst/>
            <a:rect l="l" t="t" r="r" b="b"/>
            <a:pathLst>
              <a:path w="2834640" h="3474720">
                <a:moveTo>
                  <a:pt x="0" y="3474720"/>
                </a:moveTo>
                <a:lnTo>
                  <a:pt x="48044" y="3473721"/>
                </a:lnTo>
                <a:lnTo>
                  <a:pt x="96089" y="3470727"/>
                </a:lnTo>
                <a:lnTo>
                  <a:pt x="144134" y="3465736"/>
                </a:lnTo>
                <a:lnTo>
                  <a:pt x="192178" y="3458748"/>
                </a:lnTo>
                <a:lnTo>
                  <a:pt x="240223" y="3449765"/>
                </a:lnTo>
                <a:lnTo>
                  <a:pt x="288268" y="3438784"/>
                </a:lnTo>
                <a:lnTo>
                  <a:pt x="336313" y="3425808"/>
                </a:lnTo>
                <a:lnTo>
                  <a:pt x="384357" y="3410835"/>
                </a:lnTo>
                <a:lnTo>
                  <a:pt x="432402" y="3393866"/>
                </a:lnTo>
                <a:lnTo>
                  <a:pt x="480447" y="3374900"/>
                </a:lnTo>
                <a:lnTo>
                  <a:pt x="528492" y="3353938"/>
                </a:lnTo>
                <a:lnTo>
                  <a:pt x="576536" y="3330979"/>
                </a:lnTo>
                <a:lnTo>
                  <a:pt x="624581" y="3306024"/>
                </a:lnTo>
                <a:lnTo>
                  <a:pt x="672626" y="3279073"/>
                </a:lnTo>
                <a:lnTo>
                  <a:pt x="720671" y="3250125"/>
                </a:lnTo>
                <a:lnTo>
                  <a:pt x="768715" y="3219181"/>
                </a:lnTo>
                <a:lnTo>
                  <a:pt x="816760" y="3186241"/>
                </a:lnTo>
                <a:lnTo>
                  <a:pt x="864805" y="3151304"/>
                </a:lnTo>
                <a:lnTo>
                  <a:pt x="912850" y="3114371"/>
                </a:lnTo>
                <a:lnTo>
                  <a:pt x="960894" y="3075441"/>
                </a:lnTo>
                <a:lnTo>
                  <a:pt x="1008939" y="3034515"/>
                </a:lnTo>
                <a:lnTo>
                  <a:pt x="1056984" y="2991593"/>
                </a:lnTo>
                <a:lnTo>
                  <a:pt x="1105029" y="2946674"/>
                </a:lnTo>
                <a:lnTo>
                  <a:pt x="1153073" y="2899759"/>
                </a:lnTo>
                <a:lnTo>
                  <a:pt x="1201118" y="2850847"/>
                </a:lnTo>
                <a:lnTo>
                  <a:pt x="1249163" y="2799939"/>
                </a:lnTo>
                <a:lnTo>
                  <a:pt x="1297208" y="2747035"/>
                </a:lnTo>
                <a:lnTo>
                  <a:pt x="1345252" y="2692134"/>
                </a:lnTo>
                <a:lnTo>
                  <a:pt x="1393297" y="2635237"/>
                </a:lnTo>
                <a:lnTo>
                  <a:pt x="1441342" y="2576343"/>
                </a:lnTo>
                <a:lnTo>
                  <a:pt x="1489387" y="2515453"/>
                </a:lnTo>
                <a:lnTo>
                  <a:pt x="1537431" y="2452567"/>
                </a:lnTo>
                <a:lnTo>
                  <a:pt x="1585476" y="2387684"/>
                </a:lnTo>
                <a:lnTo>
                  <a:pt x="1633521" y="2320805"/>
                </a:lnTo>
                <a:lnTo>
                  <a:pt x="1681566" y="2251929"/>
                </a:lnTo>
                <a:lnTo>
                  <a:pt x="1729610" y="2181058"/>
                </a:lnTo>
                <a:lnTo>
                  <a:pt x="1777655" y="2108189"/>
                </a:lnTo>
                <a:lnTo>
                  <a:pt x="1825700" y="2033325"/>
                </a:lnTo>
                <a:lnTo>
                  <a:pt x="1873745" y="1956464"/>
                </a:lnTo>
                <a:lnTo>
                  <a:pt x="1921789" y="1877606"/>
                </a:lnTo>
                <a:lnTo>
                  <a:pt x="1969834" y="1796752"/>
                </a:lnTo>
                <a:lnTo>
                  <a:pt x="2017879" y="1713902"/>
                </a:lnTo>
                <a:lnTo>
                  <a:pt x="2065924" y="1629055"/>
                </a:lnTo>
                <a:lnTo>
                  <a:pt x="2113968" y="1542212"/>
                </a:lnTo>
                <a:lnTo>
                  <a:pt x="2162013" y="1453373"/>
                </a:lnTo>
                <a:lnTo>
                  <a:pt x="2210058" y="1362537"/>
                </a:lnTo>
                <a:lnTo>
                  <a:pt x="2258103" y="1269705"/>
                </a:lnTo>
                <a:lnTo>
                  <a:pt x="2306147" y="1174876"/>
                </a:lnTo>
                <a:lnTo>
                  <a:pt x="2354192" y="1078051"/>
                </a:lnTo>
                <a:lnTo>
                  <a:pt x="2402237" y="979230"/>
                </a:lnTo>
                <a:lnTo>
                  <a:pt x="2450282" y="878412"/>
                </a:lnTo>
                <a:lnTo>
                  <a:pt x="2498326" y="775598"/>
                </a:lnTo>
                <a:lnTo>
                  <a:pt x="2546371" y="670787"/>
                </a:lnTo>
                <a:lnTo>
                  <a:pt x="2594416" y="563980"/>
                </a:lnTo>
                <a:lnTo>
                  <a:pt x="2642461" y="455177"/>
                </a:lnTo>
                <a:lnTo>
                  <a:pt x="2690505" y="344377"/>
                </a:lnTo>
                <a:lnTo>
                  <a:pt x="2738550" y="231581"/>
                </a:lnTo>
                <a:lnTo>
                  <a:pt x="2786595" y="116788"/>
                </a:lnTo>
                <a:lnTo>
                  <a:pt x="2834640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4-E37 ellipse 43" descr="sci-ppt:o043"/>
          <p:cNvSpPr/>
          <p:nvPr/>
        </p:nvSpPr>
        <p:spPr>
          <a:xfrm>
            <a:off x="7287768" y="3904487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4-E37 round_rect 44" descr="sci-ppt:o044"/>
          <p:cNvSpPr/>
          <p:nvPr/>
        </p:nvSpPr>
        <p:spPr>
          <a:xfrm>
            <a:off x="9052560" y="1371600"/>
            <a:ext cx="2788920" cy="34747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4-E37 text 45" descr="sci-ppt:o045"/>
          <p:cNvSpPr txBox="1"/>
          <p:nvPr/>
        </p:nvSpPr>
        <p:spPr>
          <a:xfrm>
            <a:off x="9162288" y="1426464"/>
            <a:ext cx="2569463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Formulas</a:t>
            </a:r>
          </a:p>
        </p:txBody>
      </p:sp>
      <p:sp>
        <p:nvSpPr>
          <p:cNvPr id="48" name="C4-E37 text 46" descr="sci-ppt:o046"/>
          <p:cNvSpPr txBox="1"/>
          <p:nvPr/>
        </p:nvSpPr>
        <p:spPr>
          <a:xfrm>
            <a:off x="9144000" y="1828800"/>
            <a:ext cx="260604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E7F0F3"/>
                </a:solidFill>
                <a:latin typeface="Arial"/>
              </a:rPr>
              <a:t>w = p₀(b² − r²)² / (64 D_f)</a:t>
            </a:r>
          </a:p>
        </p:txBody>
      </p:sp>
      <p:sp>
        <p:nvSpPr>
          <p:cNvPr id="49" name="C4-E37 text 47" descr="sci-ppt:o047"/>
          <p:cNvSpPr txBox="1"/>
          <p:nvPr/>
        </p:nvSpPr>
        <p:spPr>
          <a:xfrm>
            <a:off x="9144000" y="2468880"/>
            <a:ext cx="260604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E7F0F3"/>
                </a:solidFill>
                <a:latin typeface="Arial"/>
              </a:rPr>
              <a:t>G = p₀²b⁴ / (128 D_f)</a:t>
            </a:r>
          </a:p>
        </p:txBody>
      </p:sp>
      <p:sp>
        <p:nvSpPr>
          <p:cNvPr id="50" name="C4-E37 text 48" descr="sci-ppt:o048"/>
          <p:cNvSpPr txBox="1"/>
          <p:nvPr/>
        </p:nvSpPr>
        <p:spPr>
          <a:xfrm>
            <a:off x="9144000" y="3108960"/>
            <a:ext cx="260604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2B880"/>
                </a:solidFill>
                <a:latin typeface="Arial"/>
              </a:rPr>
              <a:t>p₀,crit = √(128 D_f Γ) / b²</a:t>
            </a:r>
          </a:p>
        </p:txBody>
      </p:sp>
      <p:sp>
        <p:nvSpPr>
          <p:cNvPr id="51" name="C4-E37 text 49" descr="sci-ppt:o049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Defence 2: the 156 kPa threshold belongs to this plate, this clamp, this interface energy and a maintained-pressure source.</a:t>
            </a:r>
          </a:p>
        </p:txBody>
      </p:sp>
      <p:sp>
        <p:nvSpPr>
          <p:cNvPr id="52" name="C4-E37 text 50" descr="sci-ppt:o050"/>
          <p:cNvSpPr txBox="1"/>
          <p:nvPr/>
        </p:nvSpPr>
        <p:spPr>
          <a:xfrm>
            <a:off x="914400" y="5943600"/>
            <a:ext cx="10972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Change the loading control (fixed volume) or the geometry and the threshold changes.</a:t>
            </a:r>
          </a:p>
        </p:txBody>
      </p:sp>
      <p:sp>
        <p:nvSpPr>
          <p:cNvPr id="53" name="C4-E37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2 answer: Eqs. C4-E16, E20, E21.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C4-E38 · Original cohesive work and fracture criteria</a:t>
            </a:r>
          </a:p>
        </p:txBody>
      </p:sp>
      <p:cxnSp>
        <p:nvCxnSpPr>
          <p:cNvPr id="3" name="C4-E38 line 1" descr="sci-ppt:o001"/>
          <p:cNvCxnSpPr/>
          <p:nvPr/>
        </p:nvCxnSpPr>
        <p:spPr>
          <a:xfrm>
            <a:off x="914400" y="4846320"/>
            <a:ext cx="47548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38 line 2" descr="sci-ppt:o002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38 line 3" descr="sci-ppt:o003"/>
          <p:cNvCxnSpPr/>
          <p:nvPr/>
        </p:nvCxnSpPr>
        <p:spPr>
          <a:xfrm>
            <a:off x="9144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38 line 4" descr="sci-ppt:o004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38 text 5" descr="sci-ppt:o005"/>
          <p:cNvSpPr txBox="1"/>
          <p:nvPr/>
        </p:nvSpPr>
        <p:spPr>
          <a:xfrm>
            <a:off x="4572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4-E38 line 6" descr="sci-ppt:o006"/>
          <p:cNvCxnSpPr/>
          <p:nvPr/>
        </p:nvCxnSpPr>
        <p:spPr>
          <a:xfrm>
            <a:off x="2612571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38 line 7" descr="sci-ppt:o007"/>
          <p:cNvCxnSpPr/>
          <p:nvPr/>
        </p:nvCxnSpPr>
        <p:spPr>
          <a:xfrm>
            <a:off x="2612571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38 text 8" descr="sci-ppt:o008"/>
          <p:cNvSpPr txBox="1"/>
          <p:nvPr/>
        </p:nvSpPr>
        <p:spPr>
          <a:xfrm>
            <a:off x="2155371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50</a:t>
            </a:r>
          </a:p>
        </p:txBody>
      </p:sp>
      <p:cxnSp>
        <p:nvCxnSpPr>
          <p:cNvPr id="11" name="C4-E38 line 9" descr="sci-ppt:o009"/>
          <p:cNvCxnSpPr/>
          <p:nvPr/>
        </p:nvCxnSpPr>
        <p:spPr>
          <a:xfrm>
            <a:off x="4310742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38 line 10" descr="sci-ppt:o010"/>
          <p:cNvCxnSpPr/>
          <p:nvPr/>
        </p:nvCxnSpPr>
        <p:spPr>
          <a:xfrm>
            <a:off x="4310742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38 text 11" descr="sci-ppt:o011"/>
          <p:cNvSpPr txBox="1"/>
          <p:nvPr/>
        </p:nvSpPr>
        <p:spPr>
          <a:xfrm>
            <a:off x="3853542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14" name="C4-E38 line 12" descr="sci-ppt:o012"/>
          <p:cNvCxnSpPr/>
          <p:nvPr/>
        </p:nvCxnSpPr>
        <p:spPr>
          <a:xfrm>
            <a:off x="85039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38 line 13" descr="sci-ppt:o013"/>
          <p:cNvCxnSpPr/>
          <p:nvPr/>
        </p:nvCxnSpPr>
        <p:spPr>
          <a:xfrm>
            <a:off x="850392" y="350988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4-E38 line 14" descr="sci-ppt:o014"/>
          <p:cNvCxnSpPr/>
          <p:nvPr/>
        </p:nvCxnSpPr>
        <p:spPr>
          <a:xfrm>
            <a:off x="914400" y="3509889"/>
            <a:ext cx="47548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4-E38 text 15" descr="sci-ppt:o015"/>
          <p:cNvSpPr txBox="1"/>
          <p:nvPr/>
        </p:nvSpPr>
        <p:spPr>
          <a:xfrm>
            <a:off x="45720" y="342759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18" name="C4-E38 line 16" descr="sci-ppt:o016"/>
          <p:cNvCxnSpPr/>
          <p:nvPr/>
        </p:nvCxnSpPr>
        <p:spPr>
          <a:xfrm>
            <a:off x="850392" y="217345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4-E38 line 17" descr="sci-ppt:o017"/>
          <p:cNvCxnSpPr/>
          <p:nvPr/>
        </p:nvCxnSpPr>
        <p:spPr>
          <a:xfrm>
            <a:off x="914400" y="2173458"/>
            <a:ext cx="47548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4-E38 text 18" descr="sci-ppt:o018"/>
          <p:cNvSpPr txBox="1"/>
          <p:nvPr/>
        </p:nvSpPr>
        <p:spPr>
          <a:xfrm>
            <a:off x="45720" y="209116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0.10</a:t>
            </a:r>
          </a:p>
        </p:txBody>
      </p:sp>
      <p:sp>
        <p:nvSpPr>
          <p:cNvPr id="21" name="C4-E38 text 19" descr="sci-ppt:o019"/>
          <p:cNvSpPr txBox="1"/>
          <p:nvPr/>
        </p:nvSpPr>
        <p:spPr>
          <a:xfrm>
            <a:off x="914400" y="5129783"/>
            <a:ext cx="4754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δ (nm)</a:t>
            </a:r>
          </a:p>
        </p:txBody>
      </p:sp>
      <p:sp>
        <p:nvSpPr>
          <p:cNvPr id="22" name="C4-E38 text 20" descr="sci-ppt:o020"/>
          <p:cNvSpPr txBox="1"/>
          <p:nvPr/>
        </p:nvSpPr>
        <p:spPr>
          <a:xfrm>
            <a:off x="365760" y="1024128"/>
            <a:ext cx="4754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tₙ (MPa)</a:t>
            </a:r>
          </a:p>
        </p:txBody>
      </p:sp>
      <p:sp>
        <p:nvSpPr>
          <p:cNvPr id="23" name="C4-E38 polygon 21" descr="sci-ppt:o021"/>
          <p:cNvSpPr/>
          <p:nvPr/>
        </p:nvSpPr>
        <p:spPr>
          <a:xfrm>
            <a:off x="914400" y="2178668"/>
            <a:ext cx="4754880" cy="2667652"/>
          </a:xfrm>
          <a:custGeom>
            <a:avLst/>
            <a:gdLst/>
            <a:ahLst/>
            <a:cxnLst/>
            <a:rect l="l" t="t" r="r" b="b"/>
            <a:pathLst>
              <a:path w="4754880" h="2667652">
                <a:moveTo>
                  <a:pt x="0" y="2667652"/>
                </a:moveTo>
                <a:lnTo>
                  <a:pt x="11916" y="2573867"/>
                </a:lnTo>
                <a:lnTo>
                  <a:pt x="23833" y="2480082"/>
                </a:lnTo>
                <a:lnTo>
                  <a:pt x="35750" y="2386298"/>
                </a:lnTo>
                <a:lnTo>
                  <a:pt x="47667" y="2292513"/>
                </a:lnTo>
                <a:lnTo>
                  <a:pt x="59584" y="2198728"/>
                </a:lnTo>
                <a:lnTo>
                  <a:pt x="71501" y="2104944"/>
                </a:lnTo>
                <a:lnTo>
                  <a:pt x="83418" y="2011159"/>
                </a:lnTo>
                <a:lnTo>
                  <a:pt x="95335" y="1917375"/>
                </a:lnTo>
                <a:lnTo>
                  <a:pt x="107252" y="1823590"/>
                </a:lnTo>
                <a:lnTo>
                  <a:pt x="119169" y="1729805"/>
                </a:lnTo>
                <a:lnTo>
                  <a:pt x="131086" y="1636021"/>
                </a:lnTo>
                <a:lnTo>
                  <a:pt x="143003" y="1542236"/>
                </a:lnTo>
                <a:lnTo>
                  <a:pt x="154920" y="1448451"/>
                </a:lnTo>
                <a:lnTo>
                  <a:pt x="166837" y="1354667"/>
                </a:lnTo>
                <a:lnTo>
                  <a:pt x="178754" y="1260882"/>
                </a:lnTo>
                <a:lnTo>
                  <a:pt x="190671" y="1167098"/>
                </a:lnTo>
                <a:lnTo>
                  <a:pt x="202588" y="1073313"/>
                </a:lnTo>
                <a:lnTo>
                  <a:pt x="214505" y="979528"/>
                </a:lnTo>
                <a:lnTo>
                  <a:pt x="226422" y="885744"/>
                </a:lnTo>
                <a:lnTo>
                  <a:pt x="238339" y="791959"/>
                </a:lnTo>
                <a:lnTo>
                  <a:pt x="250256" y="698175"/>
                </a:lnTo>
                <a:lnTo>
                  <a:pt x="262173" y="604390"/>
                </a:lnTo>
                <a:lnTo>
                  <a:pt x="274090" y="510605"/>
                </a:lnTo>
                <a:lnTo>
                  <a:pt x="286007" y="416821"/>
                </a:lnTo>
                <a:lnTo>
                  <a:pt x="297924" y="323036"/>
                </a:lnTo>
                <a:lnTo>
                  <a:pt x="309841" y="229251"/>
                </a:lnTo>
                <a:lnTo>
                  <a:pt x="321758" y="135467"/>
                </a:lnTo>
                <a:lnTo>
                  <a:pt x="333675" y="41682"/>
                </a:lnTo>
                <a:lnTo>
                  <a:pt x="345592" y="0"/>
                </a:lnTo>
                <a:lnTo>
                  <a:pt x="357509" y="10421"/>
                </a:lnTo>
                <a:lnTo>
                  <a:pt x="369426" y="20841"/>
                </a:lnTo>
                <a:lnTo>
                  <a:pt x="381343" y="31262"/>
                </a:lnTo>
                <a:lnTo>
                  <a:pt x="393260" y="41682"/>
                </a:lnTo>
                <a:lnTo>
                  <a:pt x="405177" y="52103"/>
                </a:lnTo>
                <a:lnTo>
                  <a:pt x="417094" y="62523"/>
                </a:lnTo>
                <a:lnTo>
                  <a:pt x="429011" y="72944"/>
                </a:lnTo>
                <a:lnTo>
                  <a:pt x="440928" y="83364"/>
                </a:lnTo>
                <a:lnTo>
                  <a:pt x="452845" y="93785"/>
                </a:lnTo>
                <a:lnTo>
                  <a:pt x="464762" y="104205"/>
                </a:lnTo>
                <a:lnTo>
                  <a:pt x="476679" y="114626"/>
                </a:lnTo>
                <a:lnTo>
                  <a:pt x="488596" y="125046"/>
                </a:lnTo>
                <a:lnTo>
                  <a:pt x="500513" y="135467"/>
                </a:lnTo>
                <a:lnTo>
                  <a:pt x="512430" y="145887"/>
                </a:lnTo>
                <a:lnTo>
                  <a:pt x="524347" y="156308"/>
                </a:lnTo>
                <a:lnTo>
                  <a:pt x="536264" y="166728"/>
                </a:lnTo>
                <a:lnTo>
                  <a:pt x="548181" y="177149"/>
                </a:lnTo>
                <a:lnTo>
                  <a:pt x="560098" y="187569"/>
                </a:lnTo>
                <a:lnTo>
                  <a:pt x="572015" y="197990"/>
                </a:lnTo>
                <a:lnTo>
                  <a:pt x="583932" y="208410"/>
                </a:lnTo>
                <a:lnTo>
                  <a:pt x="595849" y="218831"/>
                </a:lnTo>
                <a:lnTo>
                  <a:pt x="607766" y="229252"/>
                </a:lnTo>
                <a:lnTo>
                  <a:pt x="619683" y="239672"/>
                </a:lnTo>
                <a:lnTo>
                  <a:pt x="631600" y="250093"/>
                </a:lnTo>
                <a:lnTo>
                  <a:pt x="643517" y="260513"/>
                </a:lnTo>
                <a:lnTo>
                  <a:pt x="655434" y="270934"/>
                </a:lnTo>
                <a:lnTo>
                  <a:pt x="667351" y="281354"/>
                </a:lnTo>
                <a:lnTo>
                  <a:pt x="679268" y="291775"/>
                </a:lnTo>
                <a:lnTo>
                  <a:pt x="691185" y="302195"/>
                </a:lnTo>
                <a:lnTo>
                  <a:pt x="703102" y="312616"/>
                </a:lnTo>
                <a:lnTo>
                  <a:pt x="715019" y="323036"/>
                </a:lnTo>
                <a:lnTo>
                  <a:pt x="726936" y="333457"/>
                </a:lnTo>
                <a:lnTo>
                  <a:pt x="738853" y="343877"/>
                </a:lnTo>
                <a:lnTo>
                  <a:pt x="750770" y="354298"/>
                </a:lnTo>
                <a:lnTo>
                  <a:pt x="762687" y="364718"/>
                </a:lnTo>
                <a:lnTo>
                  <a:pt x="774604" y="375139"/>
                </a:lnTo>
                <a:lnTo>
                  <a:pt x="786521" y="385559"/>
                </a:lnTo>
                <a:lnTo>
                  <a:pt x="798438" y="395980"/>
                </a:lnTo>
                <a:lnTo>
                  <a:pt x="810355" y="406400"/>
                </a:lnTo>
                <a:lnTo>
                  <a:pt x="822272" y="416821"/>
                </a:lnTo>
                <a:lnTo>
                  <a:pt x="834189" y="427241"/>
                </a:lnTo>
                <a:lnTo>
                  <a:pt x="846106" y="437662"/>
                </a:lnTo>
                <a:lnTo>
                  <a:pt x="858023" y="448082"/>
                </a:lnTo>
                <a:lnTo>
                  <a:pt x="869940" y="458503"/>
                </a:lnTo>
                <a:lnTo>
                  <a:pt x="881857" y="468923"/>
                </a:lnTo>
                <a:lnTo>
                  <a:pt x="893774" y="479344"/>
                </a:lnTo>
                <a:lnTo>
                  <a:pt x="905691" y="489764"/>
                </a:lnTo>
                <a:lnTo>
                  <a:pt x="917608" y="500185"/>
                </a:lnTo>
                <a:lnTo>
                  <a:pt x="929525" y="510605"/>
                </a:lnTo>
                <a:lnTo>
                  <a:pt x="941442" y="521026"/>
                </a:lnTo>
                <a:lnTo>
                  <a:pt x="953359" y="531446"/>
                </a:lnTo>
                <a:lnTo>
                  <a:pt x="965276" y="541867"/>
                </a:lnTo>
                <a:lnTo>
                  <a:pt x="977193" y="552287"/>
                </a:lnTo>
                <a:lnTo>
                  <a:pt x="989110" y="562708"/>
                </a:lnTo>
                <a:lnTo>
                  <a:pt x="1001027" y="573128"/>
                </a:lnTo>
                <a:lnTo>
                  <a:pt x="1012944" y="583549"/>
                </a:lnTo>
                <a:lnTo>
                  <a:pt x="1024861" y="593969"/>
                </a:lnTo>
                <a:lnTo>
                  <a:pt x="1036778" y="604390"/>
                </a:lnTo>
                <a:lnTo>
                  <a:pt x="1048695" y="614810"/>
                </a:lnTo>
                <a:lnTo>
                  <a:pt x="1060612" y="625231"/>
                </a:lnTo>
                <a:lnTo>
                  <a:pt x="1072529" y="635651"/>
                </a:lnTo>
                <a:lnTo>
                  <a:pt x="1084446" y="646072"/>
                </a:lnTo>
                <a:lnTo>
                  <a:pt x="1096363" y="656493"/>
                </a:lnTo>
                <a:lnTo>
                  <a:pt x="1108280" y="666913"/>
                </a:lnTo>
                <a:lnTo>
                  <a:pt x="1120197" y="677334"/>
                </a:lnTo>
                <a:lnTo>
                  <a:pt x="1132114" y="687754"/>
                </a:lnTo>
                <a:lnTo>
                  <a:pt x="1144031" y="698175"/>
                </a:lnTo>
                <a:lnTo>
                  <a:pt x="1155948" y="708595"/>
                </a:lnTo>
                <a:lnTo>
                  <a:pt x="1167865" y="719016"/>
                </a:lnTo>
                <a:lnTo>
                  <a:pt x="1179782" y="729436"/>
                </a:lnTo>
                <a:lnTo>
                  <a:pt x="1191699" y="739857"/>
                </a:lnTo>
                <a:lnTo>
                  <a:pt x="1203616" y="750277"/>
                </a:lnTo>
                <a:lnTo>
                  <a:pt x="1215533" y="760698"/>
                </a:lnTo>
                <a:lnTo>
                  <a:pt x="1227450" y="771118"/>
                </a:lnTo>
                <a:lnTo>
                  <a:pt x="1239367" y="781539"/>
                </a:lnTo>
                <a:lnTo>
                  <a:pt x="1251284" y="791959"/>
                </a:lnTo>
                <a:lnTo>
                  <a:pt x="1263201" y="802380"/>
                </a:lnTo>
                <a:lnTo>
                  <a:pt x="1275118" y="812800"/>
                </a:lnTo>
                <a:lnTo>
                  <a:pt x="1287035" y="823221"/>
                </a:lnTo>
                <a:lnTo>
                  <a:pt x="1298952" y="833641"/>
                </a:lnTo>
                <a:lnTo>
                  <a:pt x="1310869" y="844062"/>
                </a:lnTo>
                <a:lnTo>
                  <a:pt x="1322786" y="854482"/>
                </a:lnTo>
                <a:lnTo>
                  <a:pt x="1334703" y="864903"/>
                </a:lnTo>
                <a:lnTo>
                  <a:pt x="1346620" y="875323"/>
                </a:lnTo>
                <a:lnTo>
                  <a:pt x="1358537" y="885744"/>
                </a:lnTo>
                <a:lnTo>
                  <a:pt x="1370454" y="896164"/>
                </a:lnTo>
                <a:lnTo>
                  <a:pt x="1382371" y="906585"/>
                </a:lnTo>
                <a:lnTo>
                  <a:pt x="1394288" y="917005"/>
                </a:lnTo>
                <a:lnTo>
                  <a:pt x="1406205" y="927426"/>
                </a:lnTo>
                <a:lnTo>
                  <a:pt x="1418122" y="937846"/>
                </a:lnTo>
                <a:lnTo>
                  <a:pt x="1430039" y="948267"/>
                </a:lnTo>
                <a:lnTo>
                  <a:pt x="1441956" y="958687"/>
                </a:lnTo>
                <a:lnTo>
                  <a:pt x="1453873" y="969108"/>
                </a:lnTo>
                <a:lnTo>
                  <a:pt x="1465790" y="979528"/>
                </a:lnTo>
                <a:lnTo>
                  <a:pt x="1477707" y="989949"/>
                </a:lnTo>
                <a:lnTo>
                  <a:pt x="1489624" y="1000369"/>
                </a:lnTo>
                <a:lnTo>
                  <a:pt x="1501541" y="1010790"/>
                </a:lnTo>
                <a:lnTo>
                  <a:pt x="1513458" y="1021210"/>
                </a:lnTo>
                <a:lnTo>
                  <a:pt x="1525375" y="1031631"/>
                </a:lnTo>
                <a:lnTo>
                  <a:pt x="1537292" y="1042052"/>
                </a:lnTo>
                <a:lnTo>
                  <a:pt x="1549209" y="1052472"/>
                </a:lnTo>
                <a:lnTo>
                  <a:pt x="1561126" y="1062893"/>
                </a:lnTo>
                <a:lnTo>
                  <a:pt x="1573043" y="1073313"/>
                </a:lnTo>
                <a:lnTo>
                  <a:pt x="1584960" y="1083734"/>
                </a:lnTo>
                <a:lnTo>
                  <a:pt x="1596876" y="1094154"/>
                </a:lnTo>
                <a:lnTo>
                  <a:pt x="1608793" y="1104575"/>
                </a:lnTo>
                <a:lnTo>
                  <a:pt x="1620710" y="1114995"/>
                </a:lnTo>
                <a:lnTo>
                  <a:pt x="1632627" y="1125416"/>
                </a:lnTo>
                <a:lnTo>
                  <a:pt x="1644544" y="1135836"/>
                </a:lnTo>
                <a:lnTo>
                  <a:pt x="1656461" y="1146257"/>
                </a:lnTo>
                <a:lnTo>
                  <a:pt x="1668378" y="1156677"/>
                </a:lnTo>
                <a:lnTo>
                  <a:pt x="1680295" y="1167098"/>
                </a:lnTo>
                <a:lnTo>
                  <a:pt x="1692212" y="1177518"/>
                </a:lnTo>
                <a:lnTo>
                  <a:pt x="1704129" y="1187939"/>
                </a:lnTo>
                <a:lnTo>
                  <a:pt x="1716046" y="1198359"/>
                </a:lnTo>
                <a:lnTo>
                  <a:pt x="1727963" y="1208780"/>
                </a:lnTo>
                <a:lnTo>
                  <a:pt x="1739880" y="1219200"/>
                </a:lnTo>
                <a:lnTo>
                  <a:pt x="1751797" y="1229621"/>
                </a:lnTo>
                <a:lnTo>
                  <a:pt x="1763714" y="1240041"/>
                </a:lnTo>
                <a:lnTo>
                  <a:pt x="1775631" y="1250462"/>
                </a:lnTo>
                <a:lnTo>
                  <a:pt x="1787548" y="1260882"/>
                </a:lnTo>
                <a:lnTo>
                  <a:pt x="1799465" y="1271303"/>
                </a:lnTo>
                <a:lnTo>
                  <a:pt x="1811382" y="1281723"/>
                </a:lnTo>
                <a:lnTo>
                  <a:pt x="1823299" y="1292144"/>
                </a:lnTo>
                <a:lnTo>
                  <a:pt x="1835216" y="1302564"/>
                </a:lnTo>
                <a:lnTo>
                  <a:pt x="1847133" y="1312985"/>
                </a:lnTo>
                <a:lnTo>
                  <a:pt x="1859050" y="1323405"/>
                </a:lnTo>
                <a:lnTo>
                  <a:pt x="1870967" y="1333826"/>
                </a:lnTo>
                <a:lnTo>
                  <a:pt x="1882884" y="1344246"/>
                </a:lnTo>
                <a:lnTo>
                  <a:pt x="1894801" y="1354667"/>
                </a:lnTo>
                <a:lnTo>
                  <a:pt x="1906718" y="1365087"/>
                </a:lnTo>
                <a:lnTo>
                  <a:pt x="1918635" y="1375508"/>
                </a:lnTo>
                <a:lnTo>
                  <a:pt x="1930552" y="1385928"/>
                </a:lnTo>
                <a:lnTo>
                  <a:pt x="1942469" y="1396349"/>
                </a:lnTo>
                <a:lnTo>
                  <a:pt x="1954386" y="1406769"/>
                </a:lnTo>
                <a:lnTo>
                  <a:pt x="1966303" y="1417190"/>
                </a:lnTo>
                <a:lnTo>
                  <a:pt x="1978220" y="1427610"/>
                </a:lnTo>
                <a:lnTo>
                  <a:pt x="1990137" y="1438031"/>
                </a:lnTo>
                <a:lnTo>
                  <a:pt x="2002054" y="1448452"/>
                </a:lnTo>
                <a:lnTo>
                  <a:pt x="2013971" y="1458872"/>
                </a:lnTo>
                <a:lnTo>
                  <a:pt x="2025888" y="1469293"/>
                </a:lnTo>
                <a:lnTo>
                  <a:pt x="2037805" y="1479713"/>
                </a:lnTo>
                <a:lnTo>
                  <a:pt x="2049722" y="1490134"/>
                </a:lnTo>
                <a:lnTo>
                  <a:pt x="2061639" y="1500554"/>
                </a:lnTo>
                <a:lnTo>
                  <a:pt x="2073556" y="1510975"/>
                </a:lnTo>
                <a:lnTo>
                  <a:pt x="2085473" y="1521395"/>
                </a:lnTo>
                <a:lnTo>
                  <a:pt x="2097390" y="1531816"/>
                </a:lnTo>
                <a:lnTo>
                  <a:pt x="2109307" y="1542236"/>
                </a:lnTo>
                <a:lnTo>
                  <a:pt x="2121224" y="1552657"/>
                </a:lnTo>
                <a:lnTo>
                  <a:pt x="2133141" y="1563077"/>
                </a:lnTo>
                <a:lnTo>
                  <a:pt x="2145058" y="1573498"/>
                </a:lnTo>
                <a:lnTo>
                  <a:pt x="2156975" y="1583918"/>
                </a:lnTo>
                <a:lnTo>
                  <a:pt x="2168892" y="1594339"/>
                </a:lnTo>
                <a:lnTo>
                  <a:pt x="2180809" y="1604759"/>
                </a:lnTo>
                <a:lnTo>
                  <a:pt x="2192726" y="1615180"/>
                </a:lnTo>
                <a:lnTo>
                  <a:pt x="2204643" y="1625600"/>
                </a:lnTo>
                <a:lnTo>
                  <a:pt x="2216560" y="1636021"/>
                </a:lnTo>
                <a:lnTo>
                  <a:pt x="2228477" y="1646441"/>
                </a:lnTo>
                <a:lnTo>
                  <a:pt x="2240394" y="1656862"/>
                </a:lnTo>
                <a:lnTo>
                  <a:pt x="2252311" y="1667282"/>
                </a:lnTo>
                <a:lnTo>
                  <a:pt x="2264228" y="1677703"/>
                </a:lnTo>
                <a:lnTo>
                  <a:pt x="2276145" y="1688123"/>
                </a:lnTo>
                <a:lnTo>
                  <a:pt x="2288062" y="1698544"/>
                </a:lnTo>
                <a:lnTo>
                  <a:pt x="2299979" y="1708964"/>
                </a:lnTo>
                <a:lnTo>
                  <a:pt x="2311896" y="1719385"/>
                </a:lnTo>
                <a:lnTo>
                  <a:pt x="2323813" y="1729805"/>
                </a:lnTo>
                <a:lnTo>
                  <a:pt x="2335730" y="1740226"/>
                </a:lnTo>
                <a:lnTo>
                  <a:pt x="2347647" y="1750646"/>
                </a:lnTo>
                <a:lnTo>
                  <a:pt x="2359564" y="1761067"/>
                </a:lnTo>
                <a:lnTo>
                  <a:pt x="2371481" y="1771487"/>
                </a:lnTo>
                <a:lnTo>
                  <a:pt x="2383398" y="1781908"/>
                </a:lnTo>
                <a:lnTo>
                  <a:pt x="2395315" y="1792328"/>
                </a:lnTo>
                <a:lnTo>
                  <a:pt x="2407232" y="1802749"/>
                </a:lnTo>
                <a:lnTo>
                  <a:pt x="2419149" y="1813169"/>
                </a:lnTo>
                <a:lnTo>
                  <a:pt x="2431066" y="1823590"/>
                </a:lnTo>
                <a:lnTo>
                  <a:pt x="2442983" y="1834010"/>
                </a:lnTo>
                <a:lnTo>
                  <a:pt x="2454900" y="1844431"/>
                </a:lnTo>
                <a:lnTo>
                  <a:pt x="2466817" y="1854851"/>
                </a:lnTo>
                <a:lnTo>
                  <a:pt x="2478734" y="1865272"/>
                </a:lnTo>
                <a:lnTo>
                  <a:pt x="2490651" y="1875693"/>
                </a:lnTo>
                <a:lnTo>
                  <a:pt x="2502568" y="1886113"/>
                </a:lnTo>
                <a:lnTo>
                  <a:pt x="2514485" y="1896534"/>
                </a:lnTo>
                <a:lnTo>
                  <a:pt x="2526402" y="1906954"/>
                </a:lnTo>
                <a:lnTo>
                  <a:pt x="2538319" y="1917375"/>
                </a:lnTo>
                <a:lnTo>
                  <a:pt x="2550236" y="1927795"/>
                </a:lnTo>
                <a:lnTo>
                  <a:pt x="2562153" y="1938216"/>
                </a:lnTo>
                <a:lnTo>
                  <a:pt x="2574070" y="1948636"/>
                </a:lnTo>
                <a:lnTo>
                  <a:pt x="2585987" y="1959057"/>
                </a:lnTo>
                <a:lnTo>
                  <a:pt x="2597904" y="1969477"/>
                </a:lnTo>
                <a:lnTo>
                  <a:pt x="2609821" y="1979898"/>
                </a:lnTo>
                <a:lnTo>
                  <a:pt x="2621738" y="1990318"/>
                </a:lnTo>
                <a:lnTo>
                  <a:pt x="2633655" y="2000739"/>
                </a:lnTo>
                <a:lnTo>
                  <a:pt x="2645572" y="2011159"/>
                </a:lnTo>
                <a:lnTo>
                  <a:pt x="2657489" y="2021580"/>
                </a:lnTo>
                <a:lnTo>
                  <a:pt x="2669406" y="2032000"/>
                </a:lnTo>
                <a:lnTo>
                  <a:pt x="2681323" y="2042421"/>
                </a:lnTo>
                <a:lnTo>
                  <a:pt x="2693240" y="2052841"/>
                </a:lnTo>
                <a:lnTo>
                  <a:pt x="2705157" y="2063262"/>
                </a:lnTo>
                <a:lnTo>
                  <a:pt x="2717074" y="2073682"/>
                </a:lnTo>
                <a:lnTo>
                  <a:pt x="2728991" y="2084103"/>
                </a:lnTo>
                <a:lnTo>
                  <a:pt x="2740908" y="2094523"/>
                </a:lnTo>
                <a:lnTo>
                  <a:pt x="2752825" y="2104944"/>
                </a:lnTo>
                <a:lnTo>
                  <a:pt x="2764742" y="2115364"/>
                </a:lnTo>
                <a:lnTo>
                  <a:pt x="2776659" y="2125785"/>
                </a:lnTo>
                <a:lnTo>
                  <a:pt x="2788576" y="2136205"/>
                </a:lnTo>
                <a:lnTo>
                  <a:pt x="2800493" y="2146626"/>
                </a:lnTo>
                <a:lnTo>
                  <a:pt x="2812410" y="2157046"/>
                </a:lnTo>
                <a:lnTo>
                  <a:pt x="2824327" y="2167467"/>
                </a:lnTo>
                <a:lnTo>
                  <a:pt x="2836244" y="2177887"/>
                </a:lnTo>
                <a:lnTo>
                  <a:pt x="2848161" y="2188308"/>
                </a:lnTo>
                <a:lnTo>
                  <a:pt x="2860078" y="2198728"/>
                </a:lnTo>
                <a:lnTo>
                  <a:pt x="2871995" y="2209149"/>
                </a:lnTo>
                <a:lnTo>
                  <a:pt x="2883912" y="2219569"/>
                </a:lnTo>
                <a:lnTo>
                  <a:pt x="2895829" y="2229990"/>
                </a:lnTo>
                <a:lnTo>
                  <a:pt x="2907746" y="2240410"/>
                </a:lnTo>
                <a:lnTo>
                  <a:pt x="2919663" y="2250831"/>
                </a:lnTo>
                <a:lnTo>
                  <a:pt x="2931580" y="2261252"/>
                </a:lnTo>
                <a:lnTo>
                  <a:pt x="2943497" y="2271672"/>
                </a:lnTo>
                <a:lnTo>
                  <a:pt x="2955414" y="2282093"/>
                </a:lnTo>
                <a:lnTo>
                  <a:pt x="2967331" y="2292513"/>
                </a:lnTo>
                <a:lnTo>
                  <a:pt x="2979248" y="2302934"/>
                </a:lnTo>
                <a:lnTo>
                  <a:pt x="2991165" y="2313354"/>
                </a:lnTo>
                <a:lnTo>
                  <a:pt x="3003082" y="2323775"/>
                </a:lnTo>
                <a:lnTo>
                  <a:pt x="3014999" y="2334195"/>
                </a:lnTo>
                <a:lnTo>
                  <a:pt x="3026916" y="2344616"/>
                </a:lnTo>
                <a:lnTo>
                  <a:pt x="3038833" y="2355036"/>
                </a:lnTo>
                <a:lnTo>
                  <a:pt x="3050750" y="2365457"/>
                </a:lnTo>
                <a:lnTo>
                  <a:pt x="3062667" y="2375877"/>
                </a:lnTo>
                <a:lnTo>
                  <a:pt x="3074584" y="2386298"/>
                </a:lnTo>
                <a:lnTo>
                  <a:pt x="3086501" y="2396718"/>
                </a:lnTo>
                <a:lnTo>
                  <a:pt x="3098418" y="2407139"/>
                </a:lnTo>
                <a:lnTo>
                  <a:pt x="3110335" y="2417559"/>
                </a:lnTo>
                <a:lnTo>
                  <a:pt x="3122252" y="2427980"/>
                </a:lnTo>
                <a:lnTo>
                  <a:pt x="3134169" y="2438400"/>
                </a:lnTo>
                <a:lnTo>
                  <a:pt x="3146086" y="2448821"/>
                </a:lnTo>
                <a:lnTo>
                  <a:pt x="3158003" y="2459241"/>
                </a:lnTo>
                <a:lnTo>
                  <a:pt x="3169920" y="2469662"/>
                </a:lnTo>
                <a:lnTo>
                  <a:pt x="3181836" y="2480082"/>
                </a:lnTo>
                <a:lnTo>
                  <a:pt x="3193753" y="2490503"/>
                </a:lnTo>
                <a:lnTo>
                  <a:pt x="3205670" y="2500923"/>
                </a:lnTo>
                <a:lnTo>
                  <a:pt x="3217587" y="2511344"/>
                </a:lnTo>
                <a:lnTo>
                  <a:pt x="3229504" y="2521764"/>
                </a:lnTo>
                <a:lnTo>
                  <a:pt x="3241421" y="2532185"/>
                </a:lnTo>
                <a:lnTo>
                  <a:pt x="3253338" y="2542605"/>
                </a:lnTo>
                <a:lnTo>
                  <a:pt x="3265255" y="2553026"/>
                </a:lnTo>
                <a:lnTo>
                  <a:pt x="3277172" y="2563446"/>
                </a:lnTo>
                <a:lnTo>
                  <a:pt x="3289089" y="2573867"/>
                </a:lnTo>
                <a:lnTo>
                  <a:pt x="3301006" y="2584287"/>
                </a:lnTo>
                <a:lnTo>
                  <a:pt x="3312923" y="2594708"/>
                </a:lnTo>
                <a:lnTo>
                  <a:pt x="3324840" y="2605128"/>
                </a:lnTo>
                <a:lnTo>
                  <a:pt x="3336757" y="2615549"/>
                </a:lnTo>
                <a:lnTo>
                  <a:pt x="3348674" y="2625969"/>
                </a:lnTo>
                <a:lnTo>
                  <a:pt x="3360591" y="2636390"/>
                </a:lnTo>
                <a:lnTo>
                  <a:pt x="3372508" y="2646810"/>
                </a:lnTo>
                <a:lnTo>
                  <a:pt x="3384425" y="2657231"/>
                </a:lnTo>
                <a:lnTo>
                  <a:pt x="3396342" y="2667652"/>
                </a:lnTo>
                <a:lnTo>
                  <a:pt x="3408259" y="2667652"/>
                </a:lnTo>
                <a:lnTo>
                  <a:pt x="3420176" y="2667652"/>
                </a:lnTo>
                <a:lnTo>
                  <a:pt x="3432093" y="2667652"/>
                </a:lnTo>
                <a:lnTo>
                  <a:pt x="3444010" y="2667652"/>
                </a:lnTo>
                <a:lnTo>
                  <a:pt x="3455927" y="2667652"/>
                </a:lnTo>
                <a:lnTo>
                  <a:pt x="3467844" y="2667652"/>
                </a:lnTo>
                <a:lnTo>
                  <a:pt x="3479761" y="2667652"/>
                </a:lnTo>
                <a:lnTo>
                  <a:pt x="3491678" y="2667652"/>
                </a:lnTo>
                <a:lnTo>
                  <a:pt x="3503595" y="2667652"/>
                </a:lnTo>
                <a:lnTo>
                  <a:pt x="3515512" y="2667652"/>
                </a:lnTo>
                <a:lnTo>
                  <a:pt x="3527429" y="2667652"/>
                </a:lnTo>
                <a:lnTo>
                  <a:pt x="3539346" y="2667652"/>
                </a:lnTo>
                <a:lnTo>
                  <a:pt x="3551263" y="2667652"/>
                </a:lnTo>
                <a:lnTo>
                  <a:pt x="3563180" y="2667652"/>
                </a:lnTo>
                <a:lnTo>
                  <a:pt x="3575097" y="2667652"/>
                </a:lnTo>
                <a:lnTo>
                  <a:pt x="3587014" y="2667652"/>
                </a:lnTo>
                <a:lnTo>
                  <a:pt x="3598931" y="2667652"/>
                </a:lnTo>
                <a:lnTo>
                  <a:pt x="3610848" y="2667652"/>
                </a:lnTo>
                <a:lnTo>
                  <a:pt x="3622765" y="2667652"/>
                </a:lnTo>
                <a:lnTo>
                  <a:pt x="3634682" y="2667652"/>
                </a:lnTo>
                <a:lnTo>
                  <a:pt x="3646599" y="2667652"/>
                </a:lnTo>
                <a:lnTo>
                  <a:pt x="3658516" y="2667652"/>
                </a:lnTo>
                <a:lnTo>
                  <a:pt x="3670433" y="2667652"/>
                </a:lnTo>
                <a:lnTo>
                  <a:pt x="3682350" y="2667652"/>
                </a:lnTo>
                <a:lnTo>
                  <a:pt x="3694267" y="2667652"/>
                </a:lnTo>
                <a:lnTo>
                  <a:pt x="3706184" y="2667652"/>
                </a:lnTo>
                <a:lnTo>
                  <a:pt x="3718101" y="2667652"/>
                </a:lnTo>
                <a:lnTo>
                  <a:pt x="3730018" y="2667652"/>
                </a:lnTo>
                <a:lnTo>
                  <a:pt x="3741935" y="2667652"/>
                </a:lnTo>
                <a:lnTo>
                  <a:pt x="3753852" y="2667652"/>
                </a:lnTo>
                <a:lnTo>
                  <a:pt x="3765769" y="2667652"/>
                </a:lnTo>
                <a:lnTo>
                  <a:pt x="3777686" y="2667652"/>
                </a:lnTo>
                <a:lnTo>
                  <a:pt x="3789603" y="2667652"/>
                </a:lnTo>
                <a:lnTo>
                  <a:pt x="3801520" y="2667652"/>
                </a:lnTo>
                <a:lnTo>
                  <a:pt x="3813437" y="2667652"/>
                </a:lnTo>
                <a:lnTo>
                  <a:pt x="3825354" y="2667652"/>
                </a:lnTo>
                <a:lnTo>
                  <a:pt x="3837271" y="2667652"/>
                </a:lnTo>
                <a:lnTo>
                  <a:pt x="3849188" y="2667652"/>
                </a:lnTo>
                <a:lnTo>
                  <a:pt x="3861105" y="2667652"/>
                </a:lnTo>
                <a:lnTo>
                  <a:pt x="3873022" y="2667652"/>
                </a:lnTo>
                <a:lnTo>
                  <a:pt x="3884939" y="2667652"/>
                </a:lnTo>
                <a:lnTo>
                  <a:pt x="3896856" y="2667652"/>
                </a:lnTo>
                <a:lnTo>
                  <a:pt x="3908773" y="2667652"/>
                </a:lnTo>
                <a:lnTo>
                  <a:pt x="3920690" y="2667652"/>
                </a:lnTo>
                <a:lnTo>
                  <a:pt x="3932607" y="2667652"/>
                </a:lnTo>
                <a:lnTo>
                  <a:pt x="3944524" y="2667652"/>
                </a:lnTo>
                <a:lnTo>
                  <a:pt x="3956441" y="2667652"/>
                </a:lnTo>
                <a:lnTo>
                  <a:pt x="3968358" y="2667652"/>
                </a:lnTo>
                <a:lnTo>
                  <a:pt x="3980275" y="2667652"/>
                </a:lnTo>
                <a:lnTo>
                  <a:pt x="3992192" y="2667652"/>
                </a:lnTo>
                <a:lnTo>
                  <a:pt x="4004109" y="2667652"/>
                </a:lnTo>
                <a:lnTo>
                  <a:pt x="4016026" y="2667652"/>
                </a:lnTo>
                <a:lnTo>
                  <a:pt x="4027943" y="2667652"/>
                </a:lnTo>
                <a:lnTo>
                  <a:pt x="4039860" y="2667652"/>
                </a:lnTo>
                <a:lnTo>
                  <a:pt x="4051777" y="2667652"/>
                </a:lnTo>
                <a:lnTo>
                  <a:pt x="4063694" y="2667652"/>
                </a:lnTo>
                <a:lnTo>
                  <a:pt x="4075611" y="2667652"/>
                </a:lnTo>
                <a:lnTo>
                  <a:pt x="4087528" y="2667652"/>
                </a:lnTo>
                <a:lnTo>
                  <a:pt x="4099445" y="2667652"/>
                </a:lnTo>
                <a:lnTo>
                  <a:pt x="4111362" y="2667652"/>
                </a:lnTo>
                <a:lnTo>
                  <a:pt x="4123279" y="2667652"/>
                </a:lnTo>
                <a:lnTo>
                  <a:pt x="4135196" y="2667652"/>
                </a:lnTo>
                <a:lnTo>
                  <a:pt x="4147113" y="2667652"/>
                </a:lnTo>
                <a:lnTo>
                  <a:pt x="4159030" y="2667652"/>
                </a:lnTo>
                <a:lnTo>
                  <a:pt x="4170947" y="2667652"/>
                </a:lnTo>
                <a:lnTo>
                  <a:pt x="4182864" y="2667652"/>
                </a:lnTo>
                <a:lnTo>
                  <a:pt x="4194781" y="2667652"/>
                </a:lnTo>
                <a:lnTo>
                  <a:pt x="4206698" y="2667652"/>
                </a:lnTo>
                <a:lnTo>
                  <a:pt x="4218615" y="2667652"/>
                </a:lnTo>
                <a:lnTo>
                  <a:pt x="4230532" y="2667652"/>
                </a:lnTo>
                <a:lnTo>
                  <a:pt x="4242449" y="2667652"/>
                </a:lnTo>
                <a:lnTo>
                  <a:pt x="4254366" y="2667652"/>
                </a:lnTo>
                <a:lnTo>
                  <a:pt x="4266283" y="2667652"/>
                </a:lnTo>
                <a:lnTo>
                  <a:pt x="4278200" y="2667652"/>
                </a:lnTo>
                <a:lnTo>
                  <a:pt x="4290117" y="2667652"/>
                </a:lnTo>
                <a:lnTo>
                  <a:pt x="4302034" y="2667652"/>
                </a:lnTo>
                <a:lnTo>
                  <a:pt x="4313951" y="2667652"/>
                </a:lnTo>
                <a:lnTo>
                  <a:pt x="4325868" y="2667652"/>
                </a:lnTo>
                <a:lnTo>
                  <a:pt x="4337785" y="2667652"/>
                </a:lnTo>
                <a:lnTo>
                  <a:pt x="4349702" y="2667652"/>
                </a:lnTo>
                <a:lnTo>
                  <a:pt x="4361619" y="2667652"/>
                </a:lnTo>
                <a:lnTo>
                  <a:pt x="4373536" y="2667652"/>
                </a:lnTo>
                <a:lnTo>
                  <a:pt x="4385453" y="2667652"/>
                </a:lnTo>
                <a:lnTo>
                  <a:pt x="4397370" y="2667652"/>
                </a:lnTo>
                <a:lnTo>
                  <a:pt x="4409287" y="2667652"/>
                </a:lnTo>
                <a:lnTo>
                  <a:pt x="4421204" y="2667652"/>
                </a:lnTo>
                <a:lnTo>
                  <a:pt x="4433121" y="2667652"/>
                </a:lnTo>
                <a:lnTo>
                  <a:pt x="4445038" y="2667652"/>
                </a:lnTo>
                <a:lnTo>
                  <a:pt x="4456955" y="2667652"/>
                </a:lnTo>
                <a:lnTo>
                  <a:pt x="4468872" y="2667652"/>
                </a:lnTo>
                <a:lnTo>
                  <a:pt x="4480789" y="2667652"/>
                </a:lnTo>
                <a:lnTo>
                  <a:pt x="4492706" y="2667652"/>
                </a:lnTo>
                <a:lnTo>
                  <a:pt x="4504623" y="2667652"/>
                </a:lnTo>
                <a:lnTo>
                  <a:pt x="4516540" y="2667652"/>
                </a:lnTo>
                <a:lnTo>
                  <a:pt x="4528457" y="2667652"/>
                </a:lnTo>
                <a:lnTo>
                  <a:pt x="4540374" y="2667652"/>
                </a:lnTo>
                <a:lnTo>
                  <a:pt x="4552291" y="2667652"/>
                </a:lnTo>
                <a:lnTo>
                  <a:pt x="4564208" y="2667652"/>
                </a:lnTo>
                <a:lnTo>
                  <a:pt x="4576125" y="2667652"/>
                </a:lnTo>
                <a:lnTo>
                  <a:pt x="4588042" y="2667652"/>
                </a:lnTo>
                <a:lnTo>
                  <a:pt x="4599959" y="2667652"/>
                </a:lnTo>
                <a:lnTo>
                  <a:pt x="4611876" y="2667652"/>
                </a:lnTo>
                <a:lnTo>
                  <a:pt x="4623793" y="2667652"/>
                </a:lnTo>
                <a:lnTo>
                  <a:pt x="4635710" y="2667652"/>
                </a:lnTo>
                <a:lnTo>
                  <a:pt x="4647627" y="2667652"/>
                </a:lnTo>
                <a:lnTo>
                  <a:pt x="4659544" y="2667652"/>
                </a:lnTo>
                <a:lnTo>
                  <a:pt x="4671461" y="2667652"/>
                </a:lnTo>
                <a:lnTo>
                  <a:pt x="4683378" y="2667652"/>
                </a:lnTo>
                <a:lnTo>
                  <a:pt x="4695295" y="2667652"/>
                </a:lnTo>
                <a:lnTo>
                  <a:pt x="4707212" y="2667652"/>
                </a:lnTo>
                <a:lnTo>
                  <a:pt x="4719129" y="2667652"/>
                </a:lnTo>
                <a:lnTo>
                  <a:pt x="4731046" y="2667652"/>
                </a:lnTo>
                <a:lnTo>
                  <a:pt x="4742963" y="2667652"/>
                </a:lnTo>
                <a:lnTo>
                  <a:pt x="4754880" y="2667652"/>
                </a:lnTo>
                <a:lnTo>
                  <a:pt x="4754880" y="2667652"/>
                </a:lnTo>
                <a:lnTo>
                  <a:pt x="4742963" y="2667652"/>
                </a:lnTo>
                <a:lnTo>
                  <a:pt x="4731046" y="2667652"/>
                </a:lnTo>
                <a:lnTo>
                  <a:pt x="4719129" y="2667652"/>
                </a:lnTo>
                <a:lnTo>
                  <a:pt x="4707212" y="2667652"/>
                </a:lnTo>
                <a:lnTo>
                  <a:pt x="4695295" y="2667652"/>
                </a:lnTo>
                <a:lnTo>
                  <a:pt x="4683378" y="2667652"/>
                </a:lnTo>
                <a:lnTo>
                  <a:pt x="4671461" y="2667652"/>
                </a:lnTo>
                <a:lnTo>
                  <a:pt x="4659544" y="2667652"/>
                </a:lnTo>
                <a:lnTo>
                  <a:pt x="4647627" y="2667652"/>
                </a:lnTo>
                <a:lnTo>
                  <a:pt x="4635710" y="2667652"/>
                </a:lnTo>
                <a:lnTo>
                  <a:pt x="4623793" y="2667652"/>
                </a:lnTo>
                <a:lnTo>
                  <a:pt x="4611876" y="2667652"/>
                </a:lnTo>
                <a:lnTo>
                  <a:pt x="4599959" y="2667652"/>
                </a:lnTo>
                <a:lnTo>
                  <a:pt x="4588042" y="2667652"/>
                </a:lnTo>
                <a:lnTo>
                  <a:pt x="4576125" y="2667652"/>
                </a:lnTo>
                <a:lnTo>
                  <a:pt x="4564208" y="2667652"/>
                </a:lnTo>
                <a:lnTo>
                  <a:pt x="4552291" y="2667652"/>
                </a:lnTo>
                <a:lnTo>
                  <a:pt x="4540374" y="2667652"/>
                </a:lnTo>
                <a:lnTo>
                  <a:pt x="4528457" y="2667652"/>
                </a:lnTo>
                <a:lnTo>
                  <a:pt x="4516540" y="2667652"/>
                </a:lnTo>
                <a:lnTo>
                  <a:pt x="4504623" y="2667652"/>
                </a:lnTo>
                <a:lnTo>
                  <a:pt x="4492706" y="2667652"/>
                </a:lnTo>
                <a:lnTo>
                  <a:pt x="4480789" y="2667652"/>
                </a:lnTo>
                <a:lnTo>
                  <a:pt x="4468872" y="2667652"/>
                </a:lnTo>
                <a:lnTo>
                  <a:pt x="4456955" y="2667652"/>
                </a:lnTo>
                <a:lnTo>
                  <a:pt x="4445038" y="2667652"/>
                </a:lnTo>
                <a:lnTo>
                  <a:pt x="4433121" y="2667652"/>
                </a:lnTo>
                <a:lnTo>
                  <a:pt x="4421204" y="2667652"/>
                </a:lnTo>
                <a:lnTo>
                  <a:pt x="4409287" y="2667652"/>
                </a:lnTo>
                <a:lnTo>
                  <a:pt x="4397370" y="2667652"/>
                </a:lnTo>
                <a:lnTo>
                  <a:pt x="4385453" y="2667652"/>
                </a:lnTo>
                <a:lnTo>
                  <a:pt x="4373536" y="2667652"/>
                </a:lnTo>
                <a:lnTo>
                  <a:pt x="4361619" y="2667652"/>
                </a:lnTo>
                <a:lnTo>
                  <a:pt x="4349702" y="2667652"/>
                </a:lnTo>
                <a:lnTo>
                  <a:pt x="4337785" y="2667652"/>
                </a:lnTo>
                <a:lnTo>
                  <a:pt x="4325868" y="2667652"/>
                </a:lnTo>
                <a:lnTo>
                  <a:pt x="4313951" y="2667652"/>
                </a:lnTo>
                <a:lnTo>
                  <a:pt x="4302034" y="2667652"/>
                </a:lnTo>
                <a:lnTo>
                  <a:pt x="4290117" y="2667652"/>
                </a:lnTo>
                <a:lnTo>
                  <a:pt x="4278200" y="2667652"/>
                </a:lnTo>
                <a:lnTo>
                  <a:pt x="4266283" y="2667652"/>
                </a:lnTo>
                <a:lnTo>
                  <a:pt x="4254366" y="2667652"/>
                </a:lnTo>
                <a:lnTo>
                  <a:pt x="4242449" y="2667652"/>
                </a:lnTo>
                <a:lnTo>
                  <a:pt x="4230532" y="2667652"/>
                </a:lnTo>
                <a:lnTo>
                  <a:pt x="4218615" y="2667652"/>
                </a:lnTo>
                <a:lnTo>
                  <a:pt x="4206698" y="2667652"/>
                </a:lnTo>
                <a:lnTo>
                  <a:pt x="4194781" y="2667652"/>
                </a:lnTo>
                <a:lnTo>
                  <a:pt x="4182864" y="2667652"/>
                </a:lnTo>
                <a:lnTo>
                  <a:pt x="4170947" y="2667652"/>
                </a:lnTo>
                <a:lnTo>
                  <a:pt x="4159030" y="2667652"/>
                </a:lnTo>
                <a:lnTo>
                  <a:pt x="4147113" y="2667652"/>
                </a:lnTo>
                <a:lnTo>
                  <a:pt x="4135196" y="2667652"/>
                </a:lnTo>
                <a:lnTo>
                  <a:pt x="4123279" y="2667652"/>
                </a:lnTo>
                <a:lnTo>
                  <a:pt x="4111362" y="2667652"/>
                </a:lnTo>
                <a:lnTo>
                  <a:pt x="4099445" y="2667652"/>
                </a:lnTo>
                <a:lnTo>
                  <a:pt x="4087528" y="2667652"/>
                </a:lnTo>
                <a:lnTo>
                  <a:pt x="4075611" y="2667652"/>
                </a:lnTo>
                <a:lnTo>
                  <a:pt x="4063694" y="2667652"/>
                </a:lnTo>
                <a:lnTo>
                  <a:pt x="4051777" y="2667652"/>
                </a:lnTo>
                <a:lnTo>
                  <a:pt x="4039860" y="2667652"/>
                </a:lnTo>
                <a:lnTo>
                  <a:pt x="4027943" y="2667652"/>
                </a:lnTo>
                <a:lnTo>
                  <a:pt x="4016026" y="2667652"/>
                </a:lnTo>
                <a:lnTo>
                  <a:pt x="4004109" y="2667652"/>
                </a:lnTo>
                <a:lnTo>
                  <a:pt x="3992192" y="2667652"/>
                </a:lnTo>
                <a:lnTo>
                  <a:pt x="3980275" y="2667652"/>
                </a:lnTo>
                <a:lnTo>
                  <a:pt x="3968358" y="2667652"/>
                </a:lnTo>
                <a:lnTo>
                  <a:pt x="3956441" y="2667652"/>
                </a:lnTo>
                <a:lnTo>
                  <a:pt x="3944524" y="2667652"/>
                </a:lnTo>
                <a:lnTo>
                  <a:pt x="3932607" y="2667652"/>
                </a:lnTo>
                <a:lnTo>
                  <a:pt x="3920690" y="2667652"/>
                </a:lnTo>
                <a:lnTo>
                  <a:pt x="3908773" y="2667652"/>
                </a:lnTo>
                <a:lnTo>
                  <a:pt x="3896856" y="2667652"/>
                </a:lnTo>
                <a:lnTo>
                  <a:pt x="3884939" y="2667652"/>
                </a:lnTo>
                <a:lnTo>
                  <a:pt x="3873022" y="2667652"/>
                </a:lnTo>
                <a:lnTo>
                  <a:pt x="3861105" y="2667652"/>
                </a:lnTo>
                <a:lnTo>
                  <a:pt x="3849188" y="2667652"/>
                </a:lnTo>
                <a:lnTo>
                  <a:pt x="3837271" y="2667652"/>
                </a:lnTo>
                <a:lnTo>
                  <a:pt x="3825354" y="2667652"/>
                </a:lnTo>
                <a:lnTo>
                  <a:pt x="3813437" y="2667652"/>
                </a:lnTo>
                <a:lnTo>
                  <a:pt x="3801520" y="2667652"/>
                </a:lnTo>
                <a:lnTo>
                  <a:pt x="3789603" y="2667652"/>
                </a:lnTo>
                <a:lnTo>
                  <a:pt x="3777686" y="2667652"/>
                </a:lnTo>
                <a:lnTo>
                  <a:pt x="3765769" y="2667652"/>
                </a:lnTo>
                <a:lnTo>
                  <a:pt x="3753852" y="2667652"/>
                </a:lnTo>
                <a:lnTo>
                  <a:pt x="3741935" y="2667652"/>
                </a:lnTo>
                <a:lnTo>
                  <a:pt x="3730018" y="2667652"/>
                </a:lnTo>
                <a:lnTo>
                  <a:pt x="3718101" y="2667652"/>
                </a:lnTo>
                <a:lnTo>
                  <a:pt x="3706184" y="2667652"/>
                </a:lnTo>
                <a:lnTo>
                  <a:pt x="3694267" y="2667652"/>
                </a:lnTo>
                <a:lnTo>
                  <a:pt x="3682350" y="2667652"/>
                </a:lnTo>
                <a:lnTo>
                  <a:pt x="3670433" y="2667652"/>
                </a:lnTo>
                <a:lnTo>
                  <a:pt x="3658516" y="2667652"/>
                </a:lnTo>
                <a:lnTo>
                  <a:pt x="3646599" y="2667652"/>
                </a:lnTo>
                <a:lnTo>
                  <a:pt x="3634682" y="2667652"/>
                </a:lnTo>
                <a:lnTo>
                  <a:pt x="3622765" y="2667652"/>
                </a:lnTo>
                <a:lnTo>
                  <a:pt x="3610848" y="2667652"/>
                </a:lnTo>
                <a:lnTo>
                  <a:pt x="3598931" y="2667652"/>
                </a:lnTo>
                <a:lnTo>
                  <a:pt x="3587014" y="2667652"/>
                </a:lnTo>
                <a:lnTo>
                  <a:pt x="3575097" y="2667652"/>
                </a:lnTo>
                <a:lnTo>
                  <a:pt x="3563180" y="2667652"/>
                </a:lnTo>
                <a:lnTo>
                  <a:pt x="3551263" y="2667652"/>
                </a:lnTo>
                <a:lnTo>
                  <a:pt x="3539346" y="2667652"/>
                </a:lnTo>
                <a:lnTo>
                  <a:pt x="3527429" y="2667652"/>
                </a:lnTo>
                <a:lnTo>
                  <a:pt x="3515512" y="2667652"/>
                </a:lnTo>
                <a:lnTo>
                  <a:pt x="3503595" y="2667652"/>
                </a:lnTo>
                <a:lnTo>
                  <a:pt x="3491678" y="2667652"/>
                </a:lnTo>
                <a:lnTo>
                  <a:pt x="3479761" y="2667652"/>
                </a:lnTo>
                <a:lnTo>
                  <a:pt x="3467844" y="2667652"/>
                </a:lnTo>
                <a:lnTo>
                  <a:pt x="3455927" y="2667652"/>
                </a:lnTo>
                <a:lnTo>
                  <a:pt x="3444010" y="2667652"/>
                </a:lnTo>
                <a:lnTo>
                  <a:pt x="3432093" y="2667652"/>
                </a:lnTo>
                <a:lnTo>
                  <a:pt x="3420176" y="2667652"/>
                </a:lnTo>
                <a:lnTo>
                  <a:pt x="3408259" y="2667652"/>
                </a:lnTo>
                <a:lnTo>
                  <a:pt x="3396342" y="2667652"/>
                </a:lnTo>
                <a:lnTo>
                  <a:pt x="3384425" y="2667652"/>
                </a:lnTo>
                <a:lnTo>
                  <a:pt x="3372508" y="2667652"/>
                </a:lnTo>
                <a:lnTo>
                  <a:pt x="3360591" y="2667652"/>
                </a:lnTo>
                <a:lnTo>
                  <a:pt x="3348674" y="2667652"/>
                </a:lnTo>
                <a:lnTo>
                  <a:pt x="3336757" y="2667652"/>
                </a:lnTo>
                <a:lnTo>
                  <a:pt x="3324840" y="2667652"/>
                </a:lnTo>
                <a:lnTo>
                  <a:pt x="3312923" y="2667652"/>
                </a:lnTo>
                <a:lnTo>
                  <a:pt x="3301006" y="2667652"/>
                </a:lnTo>
                <a:lnTo>
                  <a:pt x="3289089" y="2667652"/>
                </a:lnTo>
                <a:lnTo>
                  <a:pt x="3277172" y="2667652"/>
                </a:lnTo>
                <a:lnTo>
                  <a:pt x="3265255" y="2667652"/>
                </a:lnTo>
                <a:lnTo>
                  <a:pt x="3253338" y="2667652"/>
                </a:lnTo>
                <a:lnTo>
                  <a:pt x="3241421" y="2667652"/>
                </a:lnTo>
                <a:lnTo>
                  <a:pt x="3229504" y="2667652"/>
                </a:lnTo>
                <a:lnTo>
                  <a:pt x="3217587" y="2667652"/>
                </a:lnTo>
                <a:lnTo>
                  <a:pt x="3205670" y="2667652"/>
                </a:lnTo>
                <a:lnTo>
                  <a:pt x="3193753" y="2667652"/>
                </a:lnTo>
                <a:lnTo>
                  <a:pt x="3181836" y="2667652"/>
                </a:lnTo>
                <a:lnTo>
                  <a:pt x="3169920" y="2667652"/>
                </a:lnTo>
                <a:lnTo>
                  <a:pt x="3158003" y="2667652"/>
                </a:lnTo>
                <a:lnTo>
                  <a:pt x="3146086" y="2667652"/>
                </a:lnTo>
                <a:lnTo>
                  <a:pt x="3134169" y="2667652"/>
                </a:lnTo>
                <a:lnTo>
                  <a:pt x="3122252" y="2667652"/>
                </a:lnTo>
                <a:lnTo>
                  <a:pt x="3110335" y="2667652"/>
                </a:lnTo>
                <a:lnTo>
                  <a:pt x="3098418" y="2667652"/>
                </a:lnTo>
                <a:lnTo>
                  <a:pt x="3086501" y="2667652"/>
                </a:lnTo>
                <a:lnTo>
                  <a:pt x="3074584" y="2667652"/>
                </a:lnTo>
                <a:lnTo>
                  <a:pt x="3062667" y="2667652"/>
                </a:lnTo>
                <a:lnTo>
                  <a:pt x="3050750" y="2667652"/>
                </a:lnTo>
                <a:lnTo>
                  <a:pt x="3038833" y="2667652"/>
                </a:lnTo>
                <a:lnTo>
                  <a:pt x="3026916" y="2667652"/>
                </a:lnTo>
                <a:lnTo>
                  <a:pt x="3014999" y="2667652"/>
                </a:lnTo>
                <a:lnTo>
                  <a:pt x="3003082" y="2667652"/>
                </a:lnTo>
                <a:lnTo>
                  <a:pt x="2991165" y="2667652"/>
                </a:lnTo>
                <a:lnTo>
                  <a:pt x="2979248" y="2667652"/>
                </a:lnTo>
                <a:lnTo>
                  <a:pt x="2967331" y="2667652"/>
                </a:lnTo>
                <a:lnTo>
                  <a:pt x="2955414" y="2667652"/>
                </a:lnTo>
                <a:lnTo>
                  <a:pt x="2943497" y="2667652"/>
                </a:lnTo>
                <a:lnTo>
                  <a:pt x="2931580" y="2667652"/>
                </a:lnTo>
                <a:lnTo>
                  <a:pt x="2919663" y="2667652"/>
                </a:lnTo>
                <a:lnTo>
                  <a:pt x="2907746" y="2667652"/>
                </a:lnTo>
                <a:lnTo>
                  <a:pt x="2895829" y="2667652"/>
                </a:lnTo>
                <a:lnTo>
                  <a:pt x="2883912" y="2667652"/>
                </a:lnTo>
                <a:lnTo>
                  <a:pt x="2871995" y="2667652"/>
                </a:lnTo>
                <a:lnTo>
                  <a:pt x="2860078" y="2667652"/>
                </a:lnTo>
                <a:lnTo>
                  <a:pt x="2848161" y="2667652"/>
                </a:lnTo>
                <a:lnTo>
                  <a:pt x="2836244" y="2667652"/>
                </a:lnTo>
                <a:lnTo>
                  <a:pt x="2824327" y="2667652"/>
                </a:lnTo>
                <a:lnTo>
                  <a:pt x="2812410" y="2667652"/>
                </a:lnTo>
                <a:lnTo>
                  <a:pt x="2800493" y="2667652"/>
                </a:lnTo>
                <a:lnTo>
                  <a:pt x="2788576" y="2667652"/>
                </a:lnTo>
                <a:lnTo>
                  <a:pt x="2776659" y="2667652"/>
                </a:lnTo>
                <a:lnTo>
                  <a:pt x="2764742" y="2667652"/>
                </a:lnTo>
                <a:lnTo>
                  <a:pt x="2752825" y="2667652"/>
                </a:lnTo>
                <a:lnTo>
                  <a:pt x="2740908" y="2667652"/>
                </a:lnTo>
                <a:lnTo>
                  <a:pt x="2728991" y="2667652"/>
                </a:lnTo>
                <a:lnTo>
                  <a:pt x="2717074" y="2667652"/>
                </a:lnTo>
                <a:lnTo>
                  <a:pt x="2705157" y="2667652"/>
                </a:lnTo>
                <a:lnTo>
                  <a:pt x="2693240" y="2667652"/>
                </a:lnTo>
                <a:lnTo>
                  <a:pt x="2681323" y="2667652"/>
                </a:lnTo>
                <a:lnTo>
                  <a:pt x="2669406" y="2667652"/>
                </a:lnTo>
                <a:lnTo>
                  <a:pt x="2657489" y="2667652"/>
                </a:lnTo>
                <a:lnTo>
                  <a:pt x="2645572" y="2667652"/>
                </a:lnTo>
                <a:lnTo>
                  <a:pt x="2633655" y="2667652"/>
                </a:lnTo>
                <a:lnTo>
                  <a:pt x="2621738" y="2667652"/>
                </a:lnTo>
                <a:lnTo>
                  <a:pt x="2609821" y="2667652"/>
                </a:lnTo>
                <a:lnTo>
                  <a:pt x="2597904" y="2667652"/>
                </a:lnTo>
                <a:lnTo>
                  <a:pt x="2585987" y="2667652"/>
                </a:lnTo>
                <a:lnTo>
                  <a:pt x="2574070" y="2667652"/>
                </a:lnTo>
                <a:lnTo>
                  <a:pt x="2562153" y="2667652"/>
                </a:lnTo>
                <a:lnTo>
                  <a:pt x="2550236" y="2667652"/>
                </a:lnTo>
                <a:lnTo>
                  <a:pt x="2538319" y="2667652"/>
                </a:lnTo>
                <a:lnTo>
                  <a:pt x="2526402" y="2667652"/>
                </a:lnTo>
                <a:lnTo>
                  <a:pt x="2514485" y="2667652"/>
                </a:lnTo>
                <a:lnTo>
                  <a:pt x="2502568" y="2667652"/>
                </a:lnTo>
                <a:lnTo>
                  <a:pt x="2490651" y="2667652"/>
                </a:lnTo>
                <a:lnTo>
                  <a:pt x="2478734" y="2667652"/>
                </a:lnTo>
                <a:lnTo>
                  <a:pt x="2466817" y="2667652"/>
                </a:lnTo>
                <a:lnTo>
                  <a:pt x="2454900" y="2667652"/>
                </a:lnTo>
                <a:lnTo>
                  <a:pt x="2442983" y="2667652"/>
                </a:lnTo>
                <a:lnTo>
                  <a:pt x="2431066" y="2667652"/>
                </a:lnTo>
                <a:lnTo>
                  <a:pt x="2419149" y="2667652"/>
                </a:lnTo>
                <a:lnTo>
                  <a:pt x="2407232" y="2667652"/>
                </a:lnTo>
                <a:lnTo>
                  <a:pt x="2395315" y="2667652"/>
                </a:lnTo>
                <a:lnTo>
                  <a:pt x="2383398" y="2667652"/>
                </a:lnTo>
                <a:lnTo>
                  <a:pt x="2371481" y="2667652"/>
                </a:lnTo>
                <a:lnTo>
                  <a:pt x="2359564" y="2667652"/>
                </a:lnTo>
                <a:lnTo>
                  <a:pt x="2347647" y="2667652"/>
                </a:lnTo>
                <a:lnTo>
                  <a:pt x="2335730" y="2667652"/>
                </a:lnTo>
                <a:lnTo>
                  <a:pt x="2323813" y="2667652"/>
                </a:lnTo>
                <a:lnTo>
                  <a:pt x="2311896" y="2667652"/>
                </a:lnTo>
                <a:lnTo>
                  <a:pt x="2299979" y="2667652"/>
                </a:lnTo>
                <a:lnTo>
                  <a:pt x="2288062" y="2667652"/>
                </a:lnTo>
                <a:lnTo>
                  <a:pt x="2276145" y="2667652"/>
                </a:lnTo>
                <a:lnTo>
                  <a:pt x="2264228" y="2667652"/>
                </a:lnTo>
                <a:lnTo>
                  <a:pt x="2252311" y="2667652"/>
                </a:lnTo>
                <a:lnTo>
                  <a:pt x="2240394" y="2667652"/>
                </a:lnTo>
                <a:lnTo>
                  <a:pt x="2228477" y="2667652"/>
                </a:lnTo>
                <a:lnTo>
                  <a:pt x="2216560" y="2667652"/>
                </a:lnTo>
                <a:lnTo>
                  <a:pt x="2204643" y="2667652"/>
                </a:lnTo>
                <a:lnTo>
                  <a:pt x="2192726" y="2667652"/>
                </a:lnTo>
                <a:lnTo>
                  <a:pt x="2180809" y="2667652"/>
                </a:lnTo>
                <a:lnTo>
                  <a:pt x="2168892" y="2667652"/>
                </a:lnTo>
                <a:lnTo>
                  <a:pt x="2156975" y="2667652"/>
                </a:lnTo>
                <a:lnTo>
                  <a:pt x="2145058" y="2667652"/>
                </a:lnTo>
                <a:lnTo>
                  <a:pt x="2133141" y="2667652"/>
                </a:lnTo>
                <a:lnTo>
                  <a:pt x="2121224" y="2667652"/>
                </a:lnTo>
                <a:lnTo>
                  <a:pt x="2109307" y="2667652"/>
                </a:lnTo>
                <a:lnTo>
                  <a:pt x="2097390" y="2667652"/>
                </a:lnTo>
                <a:lnTo>
                  <a:pt x="2085473" y="2667652"/>
                </a:lnTo>
                <a:lnTo>
                  <a:pt x="2073556" y="2667652"/>
                </a:lnTo>
                <a:lnTo>
                  <a:pt x="2061639" y="2667652"/>
                </a:lnTo>
                <a:lnTo>
                  <a:pt x="2049722" y="2667652"/>
                </a:lnTo>
                <a:lnTo>
                  <a:pt x="2037805" y="2667652"/>
                </a:lnTo>
                <a:lnTo>
                  <a:pt x="2025888" y="2667652"/>
                </a:lnTo>
                <a:lnTo>
                  <a:pt x="2013971" y="2667652"/>
                </a:lnTo>
                <a:lnTo>
                  <a:pt x="2002054" y="2667652"/>
                </a:lnTo>
                <a:lnTo>
                  <a:pt x="1990137" y="2667652"/>
                </a:lnTo>
                <a:lnTo>
                  <a:pt x="1978220" y="2667652"/>
                </a:lnTo>
                <a:lnTo>
                  <a:pt x="1966303" y="2667652"/>
                </a:lnTo>
                <a:lnTo>
                  <a:pt x="1954386" y="2667652"/>
                </a:lnTo>
                <a:lnTo>
                  <a:pt x="1942469" y="2667652"/>
                </a:lnTo>
                <a:lnTo>
                  <a:pt x="1930552" y="2667652"/>
                </a:lnTo>
                <a:lnTo>
                  <a:pt x="1918635" y="2667652"/>
                </a:lnTo>
                <a:lnTo>
                  <a:pt x="1906718" y="2667652"/>
                </a:lnTo>
                <a:lnTo>
                  <a:pt x="1894801" y="2667652"/>
                </a:lnTo>
                <a:lnTo>
                  <a:pt x="1882884" y="2667652"/>
                </a:lnTo>
                <a:lnTo>
                  <a:pt x="1870967" y="2667652"/>
                </a:lnTo>
                <a:lnTo>
                  <a:pt x="1859050" y="2667652"/>
                </a:lnTo>
                <a:lnTo>
                  <a:pt x="1847133" y="2667652"/>
                </a:lnTo>
                <a:lnTo>
                  <a:pt x="1835216" y="2667652"/>
                </a:lnTo>
                <a:lnTo>
                  <a:pt x="1823299" y="2667652"/>
                </a:lnTo>
                <a:lnTo>
                  <a:pt x="1811382" y="2667652"/>
                </a:lnTo>
                <a:lnTo>
                  <a:pt x="1799465" y="2667652"/>
                </a:lnTo>
                <a:lnTo>
                  <a:pt x="1787548" y="2667652"/>
                </a:lnTo>
                <a:lnTo>
                  <a:pt x="1775631" y="2667652"/>
                </a:lnTo>
                <a:lnTo>
                  <a:pt x="1763714" y="2667652"/>
                </a:lnTo>
                <a:lnTo>
                  <a:pt x="1751797" y="2667652"/>
                </a:lnTo>
                <a:lnTo>
                  <a:pt x="1739880" y="2667652"/>
                </a:lnTo>
                <a:lnTo>
                  <a:pt x="1727963" y="2667652"/>
                </a:lnTo>
                <a:lnTo>
                  <a:pt x="1716046" y="2667652"/>
                </a:lnTo>
                <a:lnTo>
                  <a:pt x="1704129" y="2667652"/>
                </a:lnTo>
                <a:lnTo>
                  <a:pt x="1692212" y="2667652"/>
                </a:lnTo>
                <a:lnTo>
                  <a:pt x="1680295" y="2667652"/>
                </a:lnTo>
                <a:lnTo>
                  <a:pt x="1668378" y="2667652"/>
                </a:lnTo>
                <a:lnTo>
                  <a:pt x="1656461" y="2667652"/>
                </a:lnTo>
                <a:lnTo>
                  <a:pt x="1644544" y="2667652"/>
                </a:lnTo>
                <a:lnTo>
                  <a:pt x="1632627" y="2667652"/>
                </a:lnTo>
                <a:lnTo>
                  <a:pt x="1620710" y="2667652"/>
                </a:lnTo>
                <a:lnTo>
                  <a:pt x="1608793" y="2667652"/>
                </a:lnTo>
                <a:lnTo>
                  <a:pt x="1596876" y="2667652"/>
                </a:lnTo>
                <a:lnTo>
                  <a:pt x="1584960" y="2667652"/>
                </a:lnTo>
                <a:lnTo>
                  <a:pt x="1573043" y="2667652"/>
                </a:lnTo>
                <a:lnTo>
                  <a:pt x="1561126" y="2667652"/>
                </a:lnTo>
                <a:lnTo>
                  <a:pt x="1549209" y="2667652"/>
                </a:lnTo>
                <a:lnTo>
                  <a:pt x="1537292" y="2667652"/>
                </a:lnTo>
                <a:lnTo>
                  <a:pt x="1525375" y="2667652"/>
                </a:lnTo>
                <a:lnTo>
                  <a:pt x="1513458" y="2667652"/>
                </a:lnTo>
                <a:lnTo>
                  <a:pt x="1501541" y="2667652"/>
                </a:lnTo>
                <a:lnTo>
                  <a:pt x="1489624" y="2667652"/>
                </a:lnTo>
                <a:lnTo>
                  <a:pt x="1477707" y="2667652"/>
                </a:lnTo>
                <a:lnTo>
                  <a:pt x="1465790" y="2667652"/>
                </a:lnTo>
                <a:lnTo>
                  <a:pt x="1453873" y="2667652"/>
                </a:lnTo>
                <a:lnTo>
                  <a:pt x="1441956" y="2667652"/>
                </a:lnTo>
                <a:lnTo>
                  <a:pt x="1430039" y="2667652"/>
                </a:lnTo>
                <a:lnTo>
                  <a:pt x="1418122" y="2667652"/>
                </a:lnTo>
                <a:lnTo>
                  <a:pt x="1406205" y="2667652"/>
                </a:lnTo>
                <a:lnTo>
                  <a:pt x="1394288" y="2667652"/>
                </a:lnTo>
                <a:lnTo>
                  <a:pt x="1382371" y="2667652"/>
                </a:lnTo>
                <a:lnTo>
                  <a:pt x="1370454" y="2667652"/>
                </a:lnTo>
                <a:lnTo>
                  <a:pt x="1358537" y="2667652"/>
                </a:lnTo>
                <a:lnTo>
                  <a:pt x="1346620" y="2667652"/>
                </a:lnTo>
                <a:lnTo>
                  <a:pt x="1334703" y="2667652"/>
                </a:lnTo>
                <a:lnTo>
                  <a:pt x="1322786" y="2667652"/>
                </a:lnTo>
                <a:lnTo>
                  <a:pt x="1310869" y="2667652"/>
                </a:lnTo>
                <a:lnTo>
                  <a:pt x="1298952" y="2667652"/>
                </a:lnTo>
                <a:lnTo>
                  <a:pt x="1287035" y="2667652"/>
                </a:lnTo>
                <a:lnTo>
                  <a:pt x="1275118" y="2667652"/>
                </a:lnTo>
                <a:lnTo>
                  <a:pt x="1263201" y="2667652"/>
                </a:lnTo>
                <a:lnTo>
                  <a:pt x="1251284" y="2667652"/>
                </a:lnTo>
                <a:lnTo>
                  <a:pt x="1239367" y="2667652"/>
                </a:lnTo>
                <a:lnTo>
                  <a:pt x="1227450" y="2667652"/>
                </a:lnTo>
                <a:lnTo>
                  <a:pt x="1215533" y="2667652"/>
                </a:lnTo>
                <a:lnTo>
                  <a:pt x="1203616" y="2667652"/>
                </a:lnTo>
                <a:lnTo>
                  <a:pt x="1191699" y="2667652"/>
                </a:lnTo>
                <a:lnTo>
                  <a:pt x="1179782" y="2667652"/>
                </a:lnTo>
                <a:lnTo>
                  <a:pt x="1167865" y="2667652"/>
                </a:lnTo>
                <a:lnTo>
                  <a:pt x="1155948" y="2667652"/>
                </a:lnTo>
                <a:lnTo>
                  <a:pt x="1144031" y="2667652"/>
                </a:lnTo>
                <a:lnTo>
                  <a:pt x="1132114" y="2667652"/>
                </a:lnTo>
                <a:lnTo>
                  <a:pt x="1120197" y="2667652"/>
                </a:lnTo>
                <a:lnTo>
                  <a:pt x="1108280" y="2667652"/>
                </a:lnTo>
                <a:lnTo>
                  <a:pt x="1096363" y="2667652"/>
                </a:lnTo>
                <a:lnTo>
                  <a:pt x="1084446" y="2667652"/>
                </a:lnTo>
                <a:lnTo>
                  <a:pt x="1072529" y="2667652"/>
                </a:lnTo>
                <a:lnTo>
                  <a:pt x="1060612" y="2667652"/>
                </a:lnTo>
                <a:lnTo>
                  <a:pt x="1048695" y="2667652"/>
                </a:lnTo>
                <a:lnTo>
                  <a:pt x="1036778" y="2667652"/>
                </a:lnTo>
                <a:lnTo>
                  <a:pt x="1024861" y="2667652"/>
                </a:lnTo>
                <a:lnTo>
                  <a:pt x="1012944" y="2667652"/>
                </a:lnTo>
                <a:lnTo>
                  <a:pt x="1001027" y="2667652"/>
                </a:lnTo>
                <a:lnTo>
                  <a:pt x="989110" y="2667652"/>
                </a:lnTo>
                <a:lnTo>
                  <a:pt x="977193" y="2667652"/>
                </a:lnTo>
                <a:lnTo>
                  <a:pt x="965276" y="2667652"/>
                </a:lnTo>
                <a:lnTo>
                  <a:pt x="953359" y="2667652"/>
                </a:lnTo>
                <a:lnTo>
                  <a:pt x="941442" y="2667652"/>
                </a:lnTo>
                <a:lnTo>
                  <a:pt x="929525" y="2667652"/>
                </a:lnTo>
                <a:lnTo>
                  <a:pt x="917608" y="2667652"/>
                </a:lnTo>
                <a:lnTo>
                  <a:pt x="905691" y="2667652"/>
                </a:lnTo>
                <a:lnTo>
                  <a:pt x="893774" y="2667652"/>
                </a:lnTo>
                <a:lnTo>
                  <a:pt x="881857" y="2667652"/>
                </a:lnTo>
                <a:lnTo>
                  <a:pt x="869940" y="2667652"/>
                </a:lnTo>
                <a:lnTo>
                  <a:pt x="858023" y="2667652"/>
                </a:lnTo>
                <a:lnTo>
                  <a:pt x="846106" y="2667652"/>
                </a:lnTo>
                <a:lnTo>
                  <a:pt x="834189" y="2667652"/>
                </a:lnTo>
                <a:lnTo>
                  <a:pt x="822272" y="2667652"/>
                </a:lnTo>
                <a:lnTo>
                  <a:pt x="810355" y="2667652"/>
                </a:lnTo>
                <a:lnTo>
                  <a:pt x="798438" y="2667652"/>
                </a:lnTo>
                <a:lnTo>
                  <a:pt x="786521" y="2667652"/>
                </a:lnTo>
                <a:lnTo>
                  <a:pt x="774604" y="2667652"/>
                </a:lnTo>
                <a:lnTo>
                  <a:pt x="762687" y="2667652"/>
                </a:lnTo>
                <a:lnTo>
                  <a:pt x="750770" y="2667652"/>
                </a:lnTo>
                <a:lnTo>
                  <a:pt x="738853" y="2667652"/>
                </a:lnTo>
                <a:lnTo>
                  <a:pt x="726936" y="2667652"/>
                </a:lnTo>
                <a:lnTo>
                  <a:pt x="715019" y="2667652"/>
                </a:lnTo>
                <a:lnTo>
                  <a:pt x="703102" y="2667652"/>
                </a:lnTo>
                <a:lnTo>
                  <a:pt x="691185" y="2667652"/>
                </a:lnTo>
                <a:lnTo>
                  <a:pt x="679268" y="2667652"/>
                </a:lnTo>
                <a:lnTo>
                  <a:pt x="667351" y="2667652"/>
                </a:lnTo>
                <a:lnTo>
                  <a:pt x="655434" y="2667652"/>
                </a:lnTo>
                <a:lnTo>
                  <a:pt x="643517" y="2667652"/>
                </a:lnTo>
                <a:lnTo>
                  <a:pt x="631600" y="2667652"/>
                </a:lnTo>
                <a:lnTo>
                  <a:pt x="619683" y="2667652"/>
                </a:lnTo>
                <a:lnTo>
                  <a:pt x="607766" y="2667652"/>
                </a:lnTo>
                <a:lnTo>
                  <a:pt x="595849" y="2667652"/>
                </a:lnTo>
                <a:lnTo>
                  <a:pt x="583932" y="2667652"/>
                </a:lnTo>
                <a:lnTo>
                  <a:pt x="572015" y="2667652"/>
                </a:lnTo>
                <a:lnTo>
                  <a:pt x="560098" y="2667652"/>
                </a:lnTo>
                <a:lnTo>
                  <a:pt x="548181" y="2667652"/>
                </a:lnTo>
                <a:lnTo>
                  <a:pt x="536264" y="2667652"/>
                </a:lnTo>
                <a:lnTo>
                  <a:pt x="524347" y="2667652"/>
                </a:lnTo>
                <a:lnTo>
                  <a:pt x="512430" y="2667652"/>
                </a:lnTo>
                <a:lnTo>
                  <a:pt x="500513" y="2667652"/>
                </a:lnTo>
                <a:lnTo>
                  <a:pt x="488596" y="2667652"/>
                </a:lnTo>
                <a:lnTo>
                  <a:pt x="476679" y="2667652"/>
                </a:lnTo>
                <a:lnTo>
                  <a:pt x="464762" y="2667652"/>
                </a:lnTo>
                <a:lnTo>
                  <a:pt x="452845" y="2667652"/>
                </a:lnTo>
                <a:lnTo>
                  <a:pt x="440928" y="2667652"/>
                </a:lnTo>
                <a:lnTo>
                  <a:pt x="429011" y="2667652"/>
                </a:lnTo>
                <a:lnTo>
                  <a:pt x="417094" y="2667652"/>
                </a:lnTo>
                <a:lnTo>
                  <a:pt x="405177" y="2667652"/>
                </a:lnTo>
                <a:lnTo>
                  <a:pt x="393260" y="2667652"/>
                </a:lnTo>
                <a:lnTo>
                  <a:pt x="381343" y="2667652"/>
                </a:lnTo>
                <a:lnTo>
                  <a:pt x="369426" y="2667652"/>
                </a:lnTo>
                <a:lnTo>
                  <a:pt x="357509" y="2667652"/>
                </a:lnTo>
                <a:lnTo>
                  <a:pt x="345592" y="2667652"/>
                </a:lnTo>
                <a:lnTo>
                  <a:pt x="333675" y="2667652"/>
                </a:lnTo>
                <a:lnTo>
                  <a:pt x="321758" y="2667652"/>
                </a:lnTo>
                <a:lnTo>
                  <a:pt x="309841" y="2667652"/>
                </a:lnTo>
                <a:lnTo>
                  <a:pt x="297924" y="2667652"/>
                </a:lnTo>
                <a:lnTo>
                  <a:pt x="286007" y="2667652"/>
                </a:lnTo>
                <a:lnTo>
                  <a:pt x="274090" y="2667652"/>
                </a:lnTo>
                <a:lnTo>
                  <a:pt x="262173" y="2667652"/>
                </a:lnTo>
                <a:lnTo>
                  <a:pt x="250256" y="2667652"/>
                </a:lnTo>
                <a:lnTo>
                  <a:pt x="238339" y="2667652"/>
                </a:lnTo>
                <a:lnTo>
                  <a:pt x="226422" y="2667652"/>
                </a:lnTo>
                <a:lnTo>
                  <a:pt x="214505" y="2667652"/>
                </a:lnTo>
                <a:lnTo>
                  <a:pt x="202588" y="2667652"/>
                </a:lnTo>
                <a:lnTo>
                  <a:pt x="190671" y="2667652"/>
                </a:lnTo>
                <a:lnTo>
                  <a:pt x="178754" y="2667652"/>
                </a:lnTo>
                <a:lnTo>
                  <a:pt x="166837" y="2667652"/>
                </a:lnTo>
                <a:lnTo>
                  <a:pt x="154920" y="2667652"/>
                </a:lnTo>
                <a:lnTo>
                  <a:pt x="143003" y="2667652"/>
                </a:lnTo>
                <a:lnTo>
                  <a:pt x="131086" y="2667652"/>
                </a:lnTo>
                <a:lnTo>
                  <a:pt x="119169" y="2667652"/>
                </a:lnTo>
                <a:lnTo>
                  <a:pt x="107252" y="2667652"/>
                </a:lnTo>
                <a:lnTo>
                  <a:pt x="95335" y="2667652"/>
                </a:lnTo>
                <a:lnTo>
                  <a:pt x="83418" y="2667652"/>
                </a:lnTo>
                <a:lnTo>
                  <a:pt x="71501" y="2667652"/>
                </a:lnTo>
                <a:lnTo>
                  <a:pt x="59584" y="2667652"/>
                </a:lnTo>
                <a:lnTo>
                  <a:pt x="47667" y="2667652"/>
                </a:lnTo>
                <a:lnTo>
                  <a:pt x="35750" y="2667652"/>
                </a:lnTo>
                <a:lnTo>
                  <a:pt x="23833" y="2667652"/>
                </a:lnTo>
                <a:lnTo>
                  <a:pt x="11916" y="2667652"/>
                </a:lnTo>
                <a:lnTo>
                  <a:pt x="0" y="2667652"/>
                </a:lnTo>
                <a:close/>
              </a:path>
            </a:pathLst>
          </a:custGeom>
          <a:solidFill>
            <a:srgbClr val="8EDBD4">
              <a:alpha val="30000"/>
            </a:srgbClr>
          </a:solidFill>
          <a:ln w="10160">
            <a:solidFill>
              <a:srgbClr val="8EDBD4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4-E38 polygon 22" descr="sci-ppt:o022"/>
          <p:cNvSpPr/>
          <p:nvPr/>
        </p:nvSpPr>
        <p:spPr>
          <a:xfrm>
            <a:off x="914400" y="2189089"/>
            <a:ext cx="4754880" cy="2657231"/>
          </a:xfrm>
          <a:custGeom>
            <a:avLst/>
            <a:gdLst/>
            <a:ahLst/>
            <a:cxnLst/>
            <a:rect l="l" t="t" r="r" b="b"/>
            <a:pathLst>
              <a:path w="4754880" h="2657231">
                <a:moveTo>
                  <a:pt x="0" y="2657231"/>
                </a:moveTo>
                <a:lnTo>
                  <a:pt x="23833" y="2469661"/>
                </a:lnTo>
                <a:lnTo>
                  <a:pt x="47667" y="2282092"/>
                </a:lnTo>
                <a:lnTo>
                  <a:pt x="71501" y="2094523"/>
                </a:lnTo>
                <a:lnTo>
                  <a:pt x="95335" y="1906954"/>
                </a:lnTo>
                <a:lnTo>
                  <a:pt x="119169" y="1719384"/>
                </a:lnTo>
                <a:lnTo>
                  <a:pt x="143003" y="1531815"/>
                </a:lnTo>
                <a:lnTo>
                  <a:pt x="166837" y="1344246"/>
                </a:lnTo>
                <a:lnTo>
                  <a:pt x="190671" y="1156677"/>
                </a:lnTo>
                <a:lnTo>
                  <a:pt x="214505" y="969107"/>
                </a:lnTo>
                <a:lnTo>
                  <a:pt x="238339" y="781538"/>
                </a:lnTo>
                <a:lnTo>
                  <a:pt x="262173" y="593969"/>
                </a:lnTo>
                <a:lnTo>
                  <a:pt x="286007" y="406400"/>
                </a:lnTo>
                <a:lnTo>
                  <a:pt x="309841" y="218830"/>
                </a:lnTo>
                <a:lnTo>
                  <a:pt x="333675" y="31261"/>
                </a:lnTo>
                <a:lnTo>
                  <a:pt x="357509" y="0"/>
                </a:lnTo>
                <a:lnTo>
                  <a:pt x="381343" y="20841"/>
                </a:lnTo>
                <a:lnTo>
                  <a:pt x="405177" y="41682"/>
                </a:lnTo>
                <a:lnTo>
                  <a:pt x="429011" y="62523"/>
                </a:lnTo>
                <a:lnTo>
                  <a:pt x="452845" y="83364"/>
                </a:lnTo>
                <a:lnTo>
                  <a:pt x="476679" y="104205"/>
                </a:lnTo>
                <a:lnTo>
                  <a:pt x="500513" y="125046"/>
                </a:lnTo>
                <a:lnTo>
                  <a:pt x="524347" y="145887"/>
                </a:lnTo>
                <a:lnTo>
                  <a:pt x="548181" y="166728"/>
                </a:lnTo>
                <a:lnTo>
                  <a:pt x="572015" y="187569"/>
                </a:lnTo>
                <a:lnTo>
                  <a:pt x="595849" y="208410"/>
                </a:lnTo>
                <a:lnTo>
                  <a:pt x="619683" y="229251"/>
                </a:lnTo>
                <a:lnTo>
                  <a:pt x="643517" y="250092"/>
                </a:lnTo>
                <a:lnTo>
                  <a:pt x="667351" y="270933"/>
                </a:lnTo>
                <a:lnTo>
                  <a:pt x="691185" y="291774"/>
                </a:lnTo>
                <a:lnTo>
                  <a:pt x="715019" y="312615"/>
                </a:lnTo>
                <a:lnTo>
                  <a:pt x="738853" y="333456"/>
                </a:lnTo>
                <a:lnTo>
                  <a:pt x="762687" y="354297"/>
                </a:lnTo>
                <a:lnTo>
                  <a:pt x="786521" y="375138"/>
                </a:lnTo>
                <a:lnTo>
                  <a:pt x="810355" y="395979"/>
                </a:lnTo>
                <a:lnTo>
                  <a:pt x="834189" y="416820"/>
                </a:lnTo>
                <a:lnTo>
                  <a:pt x="858023" y="437661"/>
                </a:lnTo>
                <a:lnTo>
                  <a:pt x="881857" y="458502"/>
                </a:lnTo>
                <a:lnTo>
                  <a:pt x="905691" y="479343"/>
                </a:lnTo>
                <a:lnTo>
                  <a:pt x="929525" y="500184"/>
                </a:lnTo>
                <a:lnTo>
                  <a:pt x="953359" y="521025"/>
                </a:lnTo>
                <a:lnTo>
                  <a:pt x="977193" y="541866"/>
                </a:lnTo>
                <a:lnTo>
                  <a:pt x="1001027" y="562707"/>
                </a:lnTo>
                <a:lnTo>
                  <a:pt x="1024861" y="583548"/>
                </a:lnTo>
                <a:lnTo>
                  <a:pt x="1048695" y="604389"/>
                </a:lnTo>
                <a:lnTo>
                  <a:pt x="1072529" y="625230"/>
                </a:lnTo>
                <a:lnTo>
                  <a:pt x="1096363" y="646072"/>
                </a:lnTo>
                <a:lnTo>
                  <a:pt x="1120197" y="666913"/>
                </a:lnTo>
                <a:lnTo>
                  <a:pt x="1144031" y="687754"/>
                </a:lnTo>
                <a:lnTo>
                  <a:pt x="1167865" y="708595"/>
                </a:lnTo>
                <a:lnTo>
                  <a:pt x="1191699" y="729436"/>
                </a:lnTo>
                <a:lnTo>
                  <a:pt x="1215533" y="750277"/>
                </a:lnTo>
                <a:lnTo>
                  <a:pt x="1239367" y="771118"/>
                </a:lnTo>
                <a:lnTo>
                  <a:pt x="1263201" y="791959"/>
                </a:lnTo>
                <a:lnTo>
                  <a:pt x="1287035" y="812800"/>
                </a:lnTo>
                <a:lnTo>
                  <a:pt x="1310869" y="833641"/>
                </a:lnTo>
                <a:lnTo>
                  <a:pt x="1334703" y="854482"/>
                </a:lnTo>
                <a:lnTo>
                  <a:pt x="1358537" y="875323"/>
                </a:lnTo>
                <a:lnTo>
                  <a:pt x="1382371" y="896164"/>
                </a:lnTo>
                <a:lnTo>
                  <a:pt x="1406205" y="917005"/>
                </a:lnTo>
                <a:lnTo>
                  <a:pt x="1430039" y="937846"/>
                </a:lnTo>
                <a:lnTo>
                  <a:pt x="1453873" y="958687"/>
                </a:lnTo>
                <a:lnTo>
                  <a:pt x="1477707" y="979528"/>
                </a:lnTo>
                <a:lnTo>
                  <a:pt x="1501541" y="1000369"/>
                </a:lnTo>
                <a:lnTo>
                  <a:pt x="1525375" y="1021210"/>
                </a:lnTo>
                <a:lnTo>
                  <a:pt x="1549209" y="1042051"/>
                </a:lnTo>
                <a:lnTo>
                  <a:pt x="1573043" y="1062892"/>
                </a:lnTo>
                <a:lnTo>
                  <a:pt x="1596876" y="1083733"/>
                </a:lnTo>
                <a:lnTo>
                  <a:pt x="1620710" y="1104574"/>
                </a:lnTo>
                <a:lnTo>
                  <a:pt x="1644544" y="1125415"/>
                </a:lnTo>
                <a:lnTo>
                  <a:pt x="1668378" y="1146256"/>
                </a:lnTo>
                <a:lnTo>
                  <a:pt x="1692212" y="1167097"/>
                </a:lnTo>
                <a:lnTo>
                  <a:pt x="1716046" y="1187938"/>
                </a:lnTo>
                <a:lnTo>
                  <a:pt x="1739880" y="1208779"/>
                </a:lnTo>
                <a:lnTo>
                  <a:pt x="1763714" y="1229620"/>
                </a:lnTo>
                <a:lnTo>
                  <a:pt x="1787548" y="1250461"/>
                </a:lnTo>
                <a:lnTo>
                  <a:pt x="1811382" y="1271302"/>
                </a:lnTo>
                <a:lnTo>
                  <a:pt x="1835216" y="1292143"/>
                </a:lnTo>
                <a:lnTo>
                  <a:pt x="1859050" y="1312984"/>
                </a:lnTo>
                <a:lnTo>
                  <a:pt x="1882884" y="1333825"/>
                </a:lnTo>
                <a:lnTo>
                  <a:pt x="1906718" y="1354666"/>
                </a:lnTo>
                <a:lnTo>
                  <a:pt x="1930552" y="1375507"/>
                </a:lnTo>
                <a:lnTo>
                  <a:pt x="1954386" y="1396348"/>
                </a:lnTo>
                <a:lnTo>
                  <a:pt x="1978220" y="1417189"/>
                </a:lnTo>
                <a:lnTo>
                  <a:pt x="2002054" y="1438031"/>
                </a:lnTo>
                <a:lnTo>
                  <a:pt x="2025888" y="1458872"/>
                </a:lnTo>
                <a:lnTo>
                  <a:pt x="2049722" y="1479713"/>
                </a:lnTo>
                <a:lnTo>
                  <a:pt x="2073556" y="1500554"/>
                </a:lnTo>
                <a:lnTo>
                  <a:pt x="2097390" y="1521395"/>
                </a:lnTo>
                <a:lnTo>
                  <a:pt x="2121224" y="1542236"/>
                </a:lnTo>
                <a:lnTo>
                  <a:pt x="2145058" y="1563077"/>
                </a:lnTo>
                <a:lnTo>
                  <a:pt x="2168892" y="1583918"/>
                </a:lnTo>
                <a:lnTo>
                  <a:pt x="2192726" y="1604759"/>
                </a:lnTo>
                <a:lnTo>
                  <a:pt x="2216560" y="1625600"/>
                </a:lnTo>
                <a:lnTo>
                  <a:pt x="2240394" y="1646441"/>
                </a:lnTo>
                <a:lnTo>
                  <a:pt x="2264228" y="1667282"/>
                </a:lnTo>
                <a:lnTo>
                  <a:pt x="2288062" y="1688123"/>
                </a:lnTo>
                <a:lnTo>
                  <a:pt x="2311896" y="1708964"/>
                </a:lnTo>
                <a:lnTo>
                  <a:pt x="2335730" y="1729805"/>
                </a:lnTo>
                <a:lnTo>
                  <a:pt x="2359564" y="1750646"/>
                </a:lnTo>
                <a:lnTo>
                  <a:pt x="2383398" y="1771487"/>
                </a:lnTo>
                <a:lnTo>
                  <a:pt x="2407232" y="1792328"/>
                </a:lnTo>
                <a:lnTo>
                  <a:pt x="2431066" y="1813169"/>
                </a:lnTo>
                <a:lnTo>
                  <a:pt x="2454900" y="1834010"/>
                </a:lnTo>
                <a:lnTo>
                  <a:pt x="2478734" y="1854851"/>
                </a:lnTo>
                <a:lnTo>
                  <a:pt x="2502568" y="1875692"/>
                </a:lnTo>
                <a:lnTo>
                  <a:pt x="2526402" y="1896533"/>
                </a:lnTo>
                <a:lnTo>
                  <a:pt x="2550236" y="1917374"/>
                </a:lnTo>
                <a:lnTo>
                  <a:pt x="2574070" y="1938215"/>
                </a:lnTo>
                <a:lnTo>
                  <a:pt x="2597904" y="1959056"/>
                </a:lnTo>
                <a:lnTo>
                  <a:pt x="2621738" y="1979897"/>
                </a:lnTo>
                <a:lnTo>
                  <a:pt x="2645572" y="2000738"/>
                </a:lnTo>
                <a:lnTo>
                  <a:pt x="2669406" y="2021579"/>
                </a:lnTo>
                <a:lnTo>
                  <a:pt x="2693240" y="2042420"/>
                </a:lnTo>
                <a:lnTo>
                  <a:pt x="2717074" y="2063261"/>
                </a:lnTo>
                <a:lnTo>
                  <a:pt x="2740908" y="2084102"/>
                </a:lnTo>
                <a:lnTo>
                  <a:pt x="2764742" y="2104943"/>
                </a:lnTo>
                <a:lnTo>
                  <a:pt x="2788576" y="2125784"/>
                </a:lnTo>
                <a:lnTo>
                  <a:pt x="2812410" y="2146625"/>
                </a:lnTo>
                <a:lnTo>
                  <a:pt x="2836244" y="2167466"/>
                </a:lnTo>
                <a:lnTo>
                  <a:pt x="2860078" y="2188307"/>
                </a:lnTo>
                <a:lnTo>
                  <a:pt x="2883912" y="2209148"/>
                </a:lnTo>
                <a:lnTo>
                  <a:pt x="2907746" y="2229989"/>
                </a:lnTo>
                <a:lnTo>
                  <a:pt x="2931580" y="2250831"/>
                </a:lnTo>
                <a:lnTo>
                  <a:pt x="2955414" y="2271672"/>
                </a:lnTo>
                <a:lnTo>
                  <a:pt x="2979248" y="2292513"/>
                </a:lnTo>
                <a:lnTo>
                  <a:pt x="3003082" y="2313354"/>
                </a:lnTo>
                <a:lnTo>
                  <a:pt x="3026916" y="2334195"/>
                </a:lnTo>
                <a:lnTo>
                  <a:pt x="3050750" y="2355036"/>
                </a:lnTo>
                <a:lnTo>
                  <a:pt x="3074584" y="2375877"/>
                </a:lnTo>
                <a:lnTo>
                  <a:pt x="3098418" y="2396718"/>
                </a:lnTo>
                <a:lnTo>
                  <a:pt x="3122252" y="2417559"/>
                </a:lnTo>
                <a:lnTo>
                  <a:pt x="3146086" y="2438400"/>
                </a:lnTo>
                <a:lnTo>
                  <a:pt x="3169920" y="2459241"/>
                </a:lnTo>
                <a:lnTo>
                  <a:pt x="3193753" y="2480082"/>
                </a:lnTo>
                <a:lnTo>
                  <a:pt x="3217587" y="2500923"/>
                </a:lnTo>
                <a:lnTo>
                  <a:pt x="3241421" y="2521764"/>
                </a:lnTo>
                <a:lnTo>
                  <a:pt x="3265255" y="2542605"/>
                </a:lnTo>
                <a:lnTo>
                  <a:pt x="3289089" y="2563446"/>
                </a:lnTo>
                <a:lnTo>
                  <a:pt x="3312923" y="2584287"/>
                </a:lnTo>
                <a:lnTo>
                  <a:pt x="3336757" y="2605128"/>
                </a:lnTo>
                <a:lnTo>
                  <a:pt x="3360591" y="2625969"/>
                </a:lnTo>
                <a:lnTo>
                  <a:pt x="3384425" y="2646810"/>
                </a:lnTo>
                <a:lnTo>
                  <a:pt x="3408259" y="2657231"/>
                </a:lnTo>
                <a:lnTo>
                  <a:pt x="3432093" y="2657231"/>
                </a:lnTo>
                <a:lnTo>
                  <a:pt x="3455927" y="2657231"/>
                </a:lnTo>
                <a:lnTo>
                  <a:pt x="3479761" y="2657231"/>
                </a:lnTo>
                <a:lnTo>
                  <a:pt x="3503595" y="2657231"/>
                </a:lnTo>
                <a:lnTo>
                  <a:pt x="3527429" y="2657231"/>
                </a:lnTo>
                <a:lnTo>
                  <a:pt x="3551263" y="2657231"/>
                </a:lnTo>
                <a:lnTo>
                  <a:pt x="3575097" y="2657231"/>
                </a:lnTo>
                <a:lnTo>
                  <a:pt x="3598931" y="2657231"/>
                </a:lnTo>
                <a:lnTo>
                  <a:pt x="3622765" y="2657231"/>
                </a:lnTo>
                <a:lnTo>
                  <a:pt x="3646599" y="2657231"/>
                </a:lnTo>
                <a:lnTo>
                  <a:pt x="3670433" y="2657231"/>
                </a:lnTo>
                <a:lnTo>
                  <a:pt x="3694267" y="2657231"/>
                </a:lnTo>
                <a:lnTo>
                  <a:pt x="3718101" y="2657231"/>
                </a:lnTo>
                <a:lnTo>
                  <a:pt x="3741935" y="2657231"/>
                </a:lnTo>
                <a:lnTo>
                  <a:pt x="3765769" y="2657231"/>
                </a:lnTo>
                <a:lnTo>
                  <a:pt x="3789603" y="2657231"/>
                </a:lnTo>
                <a:lnTo>
                  <a:pt x="3813437" y="2657231"/>
                </a:lnTo>
                <a:lnTo>
                  <a:pt x="3837271" y="2657231"/>
                </a:lnTo>
                <a:lnTo>
                  <a:pt x="3861105" y="2657231"/>
                </a:lnTo>
                <a:lnTo>
                  <a:pt x="3884939" y="2657231"/>
                </a:lnTo>
                <a:lnTo>
                  <a:pt x="3908773" y="2657231"/>
                </a:lnTo>
                <a:lnTo>
                  <a:pt x="3932607" y="2657231"/>
                </a:lnTo>
                <a:lnTo>
                  <a:pt x="3956441" y="2657231"/>
                </a:lnTo>
                <a:lnTo>
                  <a:pt x="3980275" y="2657231"/>
                </a:lnTo>
                <a:lnTo>
                  <a:pt x="4004109" y="2657231"/>
                </a:lnTo>
                <a:lnTo>
                  <a:pt x="4027943" y="2657231"/>
                </a:lnTo>
                <a:lnTo>
                  <a:pt x="4051777" y="2657231"/>
                </a:lnTo>
                <a:lnTo>
                  <a:pt x="4075611" y="2657231"/>
                </a:lnTo>
                <a:lnTo>
                  <a:pt x="4099445" y="2657231"/>
                </a:lnTo>
                <a:lnTo>
                  <a:pt x="4123279" y="2657231"/>
                </a:lnTo>
                <a:lnTo>
                  <a:pt x="4147113" y="2657231"/>
                </a:lnTo>
                <a:lnTo>
                  <a:pt x="4170947" y="2657231"/>
                </a:lnTo>
                <a:lnTo>
                  <a:pt x="4194781" y="2657231"/>
                </a:lnTo>
                <a:lnTo>
                  <a:pt x="4218615" y="2657231"/>
                </a:lnTo>
                <a:lnTo>
                  <a:pt x="4242449" y="2657231"/>
                </a:lnTo>
                <a:lnTo>
                  <a:pt x="4266283" y="2657231"/>
                </a:lnTo>
                <a:lnTo>
                  <a:pt x="4290117" y="2657231"/>
                </a:lnTo>
                <a:lnTo>
                  <a:pt x="4313951" y="2657231"/>
                </a:lnTo>
                <a:lnTo>
                  <a:pt x="4337785" y="2657231"/>
                </a:lnTo>
                <a:lnTo>
                  <a:pt x="4361619" y="2657231"/>
                </a:lnTo>
                <a:lnTo>
                  <a:pt x="4385453" y="2657231"/>
                </a:lnTo>
                <a:lnTo>
                  <a:pt x="4409287" y="2657231"/>
                </a:lnTo>
                <a:lnTo>
                  <a:pt x="4433121" y="2657231"/>
                </a:lnTo>
                <a:lnTo>
                  <a:pt x="4456955" y="2657231"/>
                </a:lnTo>
                <a:lnTo>
                  <a:pt x="4480789" y="2657231"/>
                </a:lnTo>
                <a:lnTo>
                  <a:pt x="4504623" y="2657231"/>
                </a:lnTo>
                <a:lnTo>
                  <a:pt x="4528457" y="2657231"/>
                </a:lnTo>
                <a:lnTo>
                  <a:pt x="4552291" y="2657231"/>
                </a:lnTo>
                <a:lnTo>
                  <a:pt x="4576125" y="2657231"/>
                </a:lnTo>
                <a:lnTo>
                  <a:pt x="4599959" y="2657231"/>
                </a:lnTo>
                <a:lnTo>
                  <a:pt x="4623793" y="2657231"/>
                </a:lnTo>
                <a:lnTo>
                  <a:pt x="4647627" y="2657231"/>
                </a:lnTo>
                <a:lnTo>
                  <a:pt x="4671461" y="2657231"/>
                </a:lnTo>
                <a:lnTo>
                  <a:pt x="4695295" y="2657231"/>
                </a:lnTo>
                <a:lnTo>
                  <a:pt x="4719129" y="2657231"/>
                </a:lnTo>
                <a:lnTo>
                  <a:pt x="4742963" y="2657231"/>
                </a:lnTo>
                <a:lnTo>
                  <a:pt x="4754880" y="2657231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4-E38 text 23" descr="sci-ppt:o023"/>
          <p:cNvSpPr txBox="1"/>
          <p:nvPr/>
        </p:nvSpPr>
        <p:spPr>
          <a:xfrm>
            <a:off x="3534809" y="2440744"/>
            <a:ext cx="2011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Γ = ½ Tₘₐₓ δ_c</a:t>
            </a:r>
          </a:p>
        </p:txBody>
      </p:sp>
      <p:sp>
        <p:nvSpPr>
          <p:cNvPr id="26" name="C4-E38 round_rect 24" descr="sci-ppt:o024"/>
          <p:cNvSpPr/>
          <p:nvPr/>
        </p:nvSpPr>
        <p:spPr>
          <a:xfrm>
            <a:off x="5943600" y="1371600"/>
            <a:ext cx="5897880" cy="34747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4-E38 text 25" descr="sci-ppt:o025"/>
          <p:cNvSpPr txBox="1"/>
          <p:nvPr/>
        </p:nvSpPr>
        <p:spPr>
          <a:xfrm>
            <a:off x="6053328" y="1426464"/>
            <a:ext cx="5678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conditions together</a:t>
            </a:r>
          </a:p>
        </p:txBody>
      </p:sp>
      <p:sp>
        <p:nvSpPr>
          <p:cNvPr id="28" name="C4-E38 text 26" descr="sci-ppt:o026"/>
          <p:cNvSpPr txBox="1"/>
          <p:nvPr/>
        </p:nvSpPr>
        <p:spPr>
          <a:xfrm>
            <a:off x="6080760" y="1828800"/>
            <a:ext cx="56692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Γ = ∫₀^δ_c tₙ dδ = ½ Tₘₐₓ δ_c</a:t>
            </a:r>
          </a:p>
        </p:txBody>
      </p:sp>
      <p:sp>
        <p:nvSpPr>
          <p:cNvPr id="29" name="C4-E38 text 27" descr="sci-ppt:o027"/>
          <p:cNvSpPr txBox="1"/>
          <p:nvPr/>
        </p:nvSpPr>
        <p:spPr>
          <a:xfrm>
            <a:off x="6080760" y="2377440"/>
            <a:ext cx="56692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G ≥ Γ(ψ, Tᵢ, v_c)</a:t>
            </a:r>
          </a:p>
        </p:txBody>
      </p:sp>
      <p:sp>
        <p:nvSpPr>
          <p:cNvPr id="30" name="C4-E38 text 28" descr="sci-ppt:o028"/>
          <p:cNvSpPr txBox="1"/>
          <p:nvPr/>
        </p:nvSpPr>
        <p:spPr>
          <a:xfrm>
            <a:off x="6281928" y="2926080"/>
            <a:ext cx="54681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Initiation: peak traction Tₘₐₓ must be reached.</a:t>
            </a:r>
          </a:p>
        </p:txBody>
      </p:sp>
      <p:sp>
        <p:nvSpPr>
          <p:cNvPr id="31" name="C4-E38 ellipse 29" descr="sci-ppt:o029"/>
          <p:cNvSpPr/>
          <p:nvPr/>
        </p:nvSpPr>
        <p:spPr>
          <a:xfrm>
            <a:off x="6112764" y="297942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4-E38 text 30" descr="sci-ppt:o030"/>
          <p:cNvSpPr txBox="1"/>
          <p:nvPr/>
        </p:nvSpPr>
        <p:spPr>
          <a:xfrm>
            <a:off x="6281928" y="3203448"/>
            <a:ext cx="54681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Separation: the area Γ must be supplied over the full opening δ_c.</a:t>
            </a:r>
          </a:p>
        </p:txBody>
      </p:sp>
      <p:sp>
        <p:nvSpPr>
          <p:cNvPr id="33" name="C4-E38 ellipse 31" descr="sci-ppt:o031"/>
          <p:cNvSpPr/>
          <p:nvPr/>
        </p:nvSpPr>
        <p:spPr>
          <a:xfrm>
            <a:off x="6112764" y="325678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4-E38 text 32" descr="sci-ppt:o032"/>
          <p:cNvSpPr txBox="1"/>
          <p:nvPr/>
        </p:nvSpPr>
        <p:spPr>
          <a:xfrm>
            <a:off x="6281928" y="3480816"/>
            <a:ext cx="54681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Both must refer to the interface that actually fails.</a:t>
            </a:r>
          </a:p>
        </p:txBody>
      </p:sp>
      <p:sp>
        <p:nvSpPr>
          <p:cNvPr id="35" name="C4-E38 ellipse 33" descr="sci-ppt:o033"/>
          <p:cNvSpPr/>
          <p:nvPr/>
        </p:nvSpPr>
        <p:spPr>
          <a:xfrm>
            <a:off x="6112764" y="353415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4-E38 text 34" descr="sci-ppt:o034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Defence 3: release succeeds only if both initiation and separation work are provided at the correct interface.</a:t>
            </a:r>
          </a:p>
        </p:txBody>
      </p:sp>
      <p:sp>
        <p:nvSpPr>
          <p:cNvPr id="37" name="C4-E38 text 35" descr="sci-ppt:o03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3 answer: Eqs. C4-E11, E25, E26.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C4-E39 · Original necessary operating-window checks</a:t>
            </a:r>
          </a:p>
        </p:txBody>
      </p:sp>
      <p:sp>
        <p:nvSpPr>
          <p:cNvPr id="3" name="C4-E39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Defence 3: passing global budgets starts, rather than completes, the argument</a:t>
            </a:r>
          </a:p>
        </p:txBody>
      </p:sp>
      <p:sp>
        <p:nvSpPr>
          <p:cNvPr id="4" name="C4-E39 round_rect 2" descr="sci-ppt:o002"/>
          <p:cNvSpPr/>
          <p:nvPr/>
        </p:nvSpPr>
        <p:spPr>
          <a:xfrm>
            <a:off x="457200" y="1371600"/>
            <a:ext cx="344424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4-E39 text 3" descr="sci-ppt:o003"/>
          <p:cNvSpPr txBox="1"/>
          <p:nvPr/>
        </p:nvSpPr>
        <p:spPr>
          <a:xfrm>
            <a:off x="530352" y="1426464"/>
            <a:ext cx="329793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energy</a:t>
            </a:r>
          </a:p>
        </p:txBody>
      </p:sp>
      <p:sp>
        <p:nvSpPr>
          <p:cNvPr id="6" name="C4-E39 text 4" descr="sci-ppt:o004"/>
          <p:cNvSpPr txBox="1"/>
          <p:nvPr/>
        </p:nvSpPr>
        <p:spPr>
          <a:xfrm>
            <a:off x="530352" y="1699641"/>
            <a:ext cx="3297936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E_solid ≥ Γ A_f + ½ m_f v_f²</a:t>
            </a:r>
          </a:p>
        </p:txBody>
      </p:sp>
      <p:cxnSp>
        <p:nvCxnSpPr>
          <p:cNvPr id="7" name="C4-E39 arrow 5" descr="sci-ppt:o005"/>
          <p:cNvCxnSpPr/>
          <p:nvPr/>
        </p:nvCxnSpPr>
        <p:spPr>
          <a:xfrm>
            <a:off x="3928872" y="2057400"/>
            <a:ext cx="40233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C4-E39 round_rect 6" descr="sci-ppt:o006"/>
          <p:cNvSpPr/>
          <p:nvPr/>
        </p:nvSpPr>
        <p:spPr>
          <a:xfrm>
            <a:off x="4358640" y="1371600"/>
            <a:ext cx="344424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4-E39 text 7" descr="sci-ppt:o007"/>
          <p:cNvSpPr txBox="1"/>
          <p:nvPr/>
        </p:nvSpPr>
        <p:spPr>
          <a:xfrm>
            <a:off x="4431792" y="1426464"/>
            <a:ext cx="329793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momentum</a:t>
            </a:r>
          </a:p>
        </p:txBody>
      </p:sp>
      <p:sp>
        <p:nvSpPr>
          <p:cNvPr id="10" name="C4-E39 text 8" descr="sci-ppt:o008"/>
          <p:cNvSpPr txBox="1"/>
          <p:nvPr/>
        </p:nvSpPr>
        <p:spPr>
          <a:xfrm>
            <a:off x="4431792" y="1699641"/>
            <a:ext cx="3297936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Iₙₑₜ ≥ m_f v_f</a:t>
            </a:r>
          </a:p>
        </p:txBody>
      </p:sp>
      <p:cxnSp>
        <p:nvCxnSpPr>
          <p:cNvPr id="11" name="C4-E39 arrow 9" descr="sci-ppt:o009"/>
          <p:cNvCxnSpPr/>
          <p:nvPr/>
        </p:nvCxnSpPr>
        <p:spPr>
          <a:xfrm>
            <a:off x="7830312" y="2057400"/>
            <a:ext cx="40233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C4-E39 round_rect 10" descr="sci-ppt:o010"/>
          <p:cNvSpPr/>
          <p:nvPr/>
        </p:nvSpPr>
        <p:spPr>
          <a:xfrm>
            <a:off x="8260080" y="1371600"/>
            <a:ext cx="344424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4-E39 text 11" descr="sci-ppt:o011"/>
          <p:cNvSpPr txBox="1"/>
          <p:nvPr/>
        </p:nvSpPr>
        <p:spPr>
          <a:xfrm>
            <a:off x="8333232" y="1426464"/>
            <a:ext cx="329793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placement</a:t>
            </a:r>
          </a:p>
        </p:txBody>
      </p:sp>
      <p:sp>
        <p:nvSpPr>
          <p:cNvPr id="14" name="C4-E39 text 12" descr="sci-ppt:o012"/>
          <p:cNvSpPr txBox="1"/>
          <p:nvPr/>
        </p:nvSpPr>
        <p:spPr>
          <a:xfrm>
            <a:off x="8333232" y="1699641"/>
            <a:ext cx="3297936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Δx = H_f tan θ</a:t>
            </a:r>
          </a:p>
        </p:txBody>
      </p:sp>
      <p:sp>
        <p:nvSpPr>
          <p:cNvPr id="15" name="C4-E39 round_rect 13" descr="sci-ppt:o013"/>
          <p:cNvSpPr/>
          <p:nvPr/>
        </p:nvSpPr>
        <p:spPr>
          <a:xfrm>
            <a:off x="457200" y="3108960"/>
            <a:ext cx="5486400" cy="23774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4-E39 text 14" descr="sci-ppt:o014"/>
          <p:cNvSpPr txBox="1"/>
          <p:nvPr/>
        </p:nvSpPr>
        <p:spPr>
          <a:xfrm>
            <a:off x="566928" y="316382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Passed means</a:t>
            </a:r>
          </a:p>
        </p:txBody>
      </p:sp>
      <p:sp>
        <p:nvSpPr>
          <p:cNvPr id="17" name="C4-E39 text 15" descr="sci-ppt:o015"/>
          <p:cNvSpPr txBox="1"/>
          <p:nvPr/>
        </p:nvSpPr>
        <p:spPr>
          <a:xfrm>
            <a:off x="795528" y="3566160"/>
            <a:ext cx="50109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budgets are large enough: a necessary condition.</a:t>
            </a:r>
          </a:p>
        </p:txBody>
      </p:sp>
      <p:sp>
        <p:nvSpPr>
          <p:cNvPr id="18" name="C4-E39 ellipse 16" descr="sci-ppt:o016"/>
          <p:cNvSpPr/>
          <p:nvPr/>
        </p:nvSpPr>
        <p:spPr>
          <a:xfrm>
            <a:off x="626364" y="3619499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4-E39 text 17" descr="sci-ppt:o017"/>
          <p:cNvSpPr txBox="1"/>
          <p:nvPr/>
        </p:nvSpPr>
        <p:spPr>
          <a:xfrm>
            <a:off x="795528" y="3843528"/>
            <a:ext cx="50109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No contradiction between energy and momentum.</a:t>
            </a:r>
          </a:p>
        </p:txBody>
      </p:sp>
      <p:sp>
        <p:nvSpPr>
          <p:cNvPr id="20" name="C4-E39 ellipse 18" descr="sci-ppt:o018"/>
          <p:cNvSpPr/>
          <p:nvPr/>
        </p:nvSpPr>
        <p:spPr>
          <a:xfrm>
            <a:off x="626364" y="389686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4-E39 text 19" descr="sci-ppt:o019"/>
          <p:cNvSpPr txBox="1"/>
          <p:nvPr/>
        </p:nvSpPr>
        <p:spPr>
          <a:xfrm>
            <a:off x="795528" y="4120895"/>
            <a:ext cx="50109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Placement error is smaller than the feature, if it is.</a:t>
            </a:r>
          </a:p>
        </p:txBody>
      </p:sp>
      <p:sp>
        <p:nvSpPr>
          <p:cNvPr id="22" name="C4-E39 ellipse 20" descr="sci-ppt:o020"/>
          <p:cNvSpPr/>
          <p:nvPr/>
        </p:nvSpPr>
        <p:spPr>
          <a:xfrm>
            <a:off x="626364" y="4174235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4-E39 round_rect 21" descr="sci-ppt:o021"/>
          <p:cNvSpPr/>
          <p:nvPr/>
        </p:nvSpPr>
        <p:spPr>
          <a:xfrm>
            <a:off x="6217920" y="3108960"/>
            <a:ext cx="5486400" cy="23774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4-E39 text 22" descr="sci-ppt:o022"/>
          <p:cNvSpPr txBox="1"/>
          <p:nvPr/>
        </p:nvSpPr>
        <p:spPr>
          <a:xfrm>
            <a:off x="6327648" y="316382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Still not shown</a:t>
            </a:r>
          </a:p>
        </p:txBody>
      </p:sp>
      <p:sp>
        <p:nvSpPr>
          <p:cNvPr id="25" name="C4-E39 text 23" descr="sci-ppt:o023"/>
          <p:cNvSpPr txBox="1"/>
          <p:nvPr/>
        </p:nvSpPr>
        <p:spPr>
          <a:xfrm>
            <a:off x="6556248" y="3566160"/>
            <a:ext cx="50109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That the crack front actually advances (needs G ≥ Γ locally).</a:t>
            </a:r>
          </a:p>
        </p:txBody>
      </p:sp>
      <p:sp>
        <p:nvSpPr>
          <p:cNvPr id="26" name="C4-E39 ellipse 24" descr="sci-ppt:o024"/>
          <p:cNvSpPr/>
          <p:nvPr/>
        </p:nvSpPr>
        <p:spPr>
          <a:xfrm>
            <a:off x="6387084" y="3619499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4-E39 text 25" descr="sci-ppt:o025"/>
          <p:cNvSpPr txBox="1"/>
          <p:nvPr/>
        </p:nvSpPr>
        <p:spPr>
          <a:xfrm>
            <a:off x="6556248" y="3843528"/>
            <a:ext cx="50109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That the film stays intact on departure.</a:t>
            </a:r>
          </a:p>
        </p:txBody>
      </p:sp>
      <p:sp>
        <p:nvSpPr>
          <p:cNvPr id="28" name="C4-E39 ellipse 26" descr="sci-ppt:o026"/>
          <p:cNvSpPr/>
          <p:nvPr/>
        </p:nvSpPr>
        <p:spPr>
          <a:xfrm>
            <a:off x="6387084" y="389686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4-E39 text 27" descr="sci-ppt:o027"/>
          <p:cNvSpPr txBox="1"/>
          <p:nvPr/>
        </p:nvSpPr>
        <p:spPr>
          <a:xfrm>
            <a:off x="6556248" y="4120895"/>
            <a:ext cx="50109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That the real coupling fractions are 0.20 and 0.50.</a:t>
            </a:r>
          </a:p>
        </p:txBody>
      </p:sp>
      <p:sp>
        <p:nvSpPr>
          <p:cNvPr id="30" name="C4-E39 ellipse 28" descr="sci-ppt:o028"/>
          <p:cNvSpPr/>
          <p:nvPr/>
        </p:nvSpPr>
        <p:spPr>
          <a:xfrm>
            <a:off x="6387084" y="4174235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4-E39 text 29" descr="sci-ppt:o02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3 answer: Eqs. C4-E30 and C4-E34.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