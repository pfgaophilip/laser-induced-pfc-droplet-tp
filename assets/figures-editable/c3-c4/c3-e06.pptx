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C3-E06 · Exact polygon geometry</a:t>
            </a:r>
          </a:p>
        </p:txBody>
      </p:sp>
      <p:sp>
        <p:nvSpPr>
          <p:cNvPr id="3" name="C3-E06 polygon 1" descr="sci-ppt:o001"/>
          <p:cNvSpPr/>
          <p:nvPr/>
        </p:nvSpPr>
        <p:spPr>
          <a:xfrm>
            <a:off x="1125503" y="2103120"/>
            <a:ext cx="2138113" cy="1851660"/>
          </a:xfrm>
          <a:custGeom>
            <a:avLst/>
            <a:gdLst/>
            <a:ahLst/>
            <a:cxnLst/>
            <a:rect l="l" t="t" r="r" b="b"/>
            <a:pathLst>
              <a:path w="2138113" h="1851660">
                <a:moveTo>
                  <a:pt x="1069057" y="0"/>
                </a:moveTo>
                <a:lnTo>
                  <a:pt x="2138113" y="1851659"/>
                </a:lnTo>
                <a:lnTo>
                  <a:pt x="0" y="1851660"/>
                </a:lnTo>
                <a:close/>
              </a:path>
            </a:pathLst>
          </a:custGeom>
          <a:solidFill>
            <a:srgbClr val="1E4A5A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6 ellipse 2" descr="sci-ppt:o002"/>
          <p:cNvSpPr/>
          <p:nvPr/>
        </p:nvSpPr>
        <p:spPr>
          <a:xfrm>
            <a:off x="2011679" y="192023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6 ellipse 3" descr="sci-ppt:o003"/>
          <p:cNvSpPr/>
          <p:nvPr/>
        </p:nvSpPr>
        <p:spPr>
          <a:xfrm>
            <a:off x="3080736" y="377189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06 ellipse 4" descr="sci-ppt:o004"/>
          <p:cNvSpPr/>
          <p:nvPr/>
        </p:nvSpPr>
        <p:spPr>
          <a:xfrm>
            <a:off x="942623" y="3771900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3-E06 text 5" descr="sci-ppt:o005"/>
          <p:cNvSpPr txBox="1"/>
          <p:nvPr/>
        </p:nvSpPr>
        <p:spPr>
          <a:xfrm>
            <a:off x="914400" y="4709160"/>
            <a:ext cx="25603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N = 3</a:t>
            </a:r>
          </a:p>
        </p:txBody>
      </p:sp>
      <p:sp>
        <p:nvSpPr>
          <p:cNvPr id="8" name="C3-E06 text 6" descr="sci-ppt:o006"/>
          <p:cNvSpPr txBox="1"/>
          <p:nvPr/>
        </p:nvSpPr>
        <p:spPr>
          <a:xfrm>
            <a:off x="731519" y="5029200"/>
            <a:ext cx="2926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S₃ s = 2.0000</a:t>
            </a:r>
          </a:p>
        </p:txBody>
      </p:sp>
      <p:sp>
        <p:nvSpPr>
          <p:cNvPr id="9" name="C3-E06 polygon 7" descr="sci-ppt:o007"/>
          <p:cNvSpPr/>
          <p:nvPr/>
        </p:nvSpPr>
        <p:spPr>
          <a:xfrm>
            <a:off x="4800600" y="2103120"/>
            <a:ext cx="2468879" cy="2468880"/>
          </a:xfrm>
          <a:custGeom>
            <a:avLst/>
            <a:gdLst/>
            <a:ahLst/>
            <a:cxnLst/>
            <a:rect l="l" t="t" r="r" b="b"/>
            <a:pathLst>
              <a:path w="2468879" h="2468880">
                <a:moveTo>
                  <a:pt x="1234440" y="0"/>
                </a:moveTo>
                <a:lnTo>
                  <a:pt x="2468879" y="1234440"/>
                </a:lnTo>
                <a:lnTo>
                  <a:pt x="1234440" y="2468880"/>
                </a:lnTo>
                <a:lnTo>
                  <a:pt x="0" y="1234440"/>
                </a:lnTo>
                <a:close/>
              </a:path>
            </a:pathLst>
          </a:custGeom>
          <a:solidFill>
            <a:srgbClr val="1E4A5A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3-E06 line 8" descr="sci-ppt:o008"/>
          <p:cNvCxnSpPr/>
          <p:nvPr/>
        </p:nvCxnSpPr>
        <p:spPr>
          <a:xfrm>
            <a:off x="6035040" y="2103120"/>
            <a:ext cx="0" cy="2468880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11" name="C3-E06 line 9" descr="sci-ppt:o009"/>
          <p:cNvCxnSpPr/>
          <p:nvPr/>
        </p:nvCxnSpPr>
        <p:spPr>
          <a:xfrm flipH="1">
            <a:off x="4800600" y="3337560"/>
            <a:ext cx="2468879" cy="0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12" name="C3-E06 ellipse 10" descr="sci-ppt:o010"/>
          <p:cNvSpPr/>
          <p:nvPr/>
        </p:nvSpPr>
        <p:spPr>
          <a:xfrm>
            <a:off x="5852159" y="192023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06 ellipse 11" descr="sci-ppt:o011"/>
          <p:cNvSpPr/>
          <p:nvPr/>
        </p:nvSpPr>
        <p:spPr>
          <a:xfrm>
            <a:off x="7086599" y="315467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06 ellipse 12" descr="sci-ppt:o012"/>
          <p:cNvSpPr/>
          <p:nvPr/>
        </p:nvSpPr>
        <p:spPr>
          <a:xfrm>
            <a:off x="5852159" y="4389120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3-E06 ellipse 13" descr="sci-ppt:o013"/>
          <p:cNvSpPr/>
          <p:nvPr/>
        </p:nvSpPr>
        <p:spPr>
          <a:xfrm>
            <a:off x="4617720" y="3154680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3-E06 text 14" descr="sci-ppt:o014"/>
          <p:cNvSpPr txBox="1"/>
          <p:nvPr/>
        </p:nvSpPr>
        <p:spPr>
          <a:xfrm>
            <a:off x="4754879" y="4709160"/>
            <a:ext cx="25603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N = 4</a:t>
            </a:r>
          </a:p>
        </p:txBody>
      </p:sp>
      <p:sp>
        <p:nvSpPr>
          <p:cNvPr id="17" name="C3-E06 text 15" descr="sci-ppt:o015"/>
          <p:cNvSpPr txBox="1"/>
          <p:nvPr/>
        </p:nvSpPr>
        <p:spPr>
          <a:xfrm>
            <a:off x="4572000" y="5029200"/>
            <a:ext cx="2926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S₄ s = 2.7071</a:t>
            </a:r>
          </a:p>
        </p:txBody>
      </p:sp>
      <p:sp>
        <p:nvSpPr>
          <p:cNvPr id="18" name="C3-E06 polygon 16" descr="sci-ppt:o016"/>
          <p:cNvSpPr/>
          <p:nvPr/>
        </p:nvSpPr>
        <p:spPr>
          <a:xfrm>
            <a:off x="8701497" y="2103120"/>
            <a:ext cx="2348045" cy="2233122"/>
          </a:xfrm>
          <a:custGeom>
            <a:avLst/>
            <a:gdLst/>
            <a:ahLst/>
            <a:cxnLst/>
            <a:rect l="l" t="t" r="r" b="b"/>
            <a:pathLst>
              <a:path w="2348045" h="2233122">
                <a:moveTo>
                  <a:pt x="1174023" y="0"/>
                </a:moveTo>
                <a:lnTo>
                  <a:pt x="2348045" y="852977"/>
                </a:lnTo>
                <a:lnTo>
                  <a:pt x="1899608" y="2233122"/>
                </a:lnTo>
                <a:lnTo>
                  <a:pt x="448437" y="2233122"/>
                </a:lnTo>
                <a:lnTo>
                  <a:pt x="0" y="852977"/>
                </a:lnTo>
                <a:close/>
              </a:path>
            </a:pathLst>
          </a:custGeom>
          <a:solidFill>
            <a:srgbClr val="1E4A5A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3-E06 line 17" descr="sci-ppt:o017"/>
          <p:cNvCxnSpPr/>
          <p:nvPr/>
        </p:nvCxnSpPr>
        <p:spPr>
          <a:xfrm>
            <a:off x="9875520" y="2103120"/>
            <a:ext cx="725585" cy="2233122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0" name="C3-E06 line 18" descr="sci-ppt:o018"/>
          <p:cNvCxnSpPr/>
          <p:nvPr/>
        </p:nvCxnSpPr>
        <p:spPr>
          <a:xfrm flipH="1">
            <a:off x="9149934" y="2103120"/>
            <a:ext cx="725586" cy="2233122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1" name="C3-E06 line 19" descr="sci-ppt:o019"/>
          <p:cNvCxnSpPr/>
          <p:nvPr/>
        </p:nvCxnSpPr>
        <p:spPr>
          <a:xfrm flipH="1">
            <a:off x="9149934" y="2956097"/>
            <a:ext cx="1899608" cy="1380145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2" name="C3-E06 line 20" descr="sci-ppt:o020"/>
          <p:cNvCxnSpPr/>
          <p:nvPr/>
        </p:nvCxnSpPr>
        <p:spPr>
          <a:xfrm flipH="1">
            <a:off x="8701497" y="2956097"/>
            <a:ext cx="2348045" cy="0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3" name="C3-E06 line 21" descr="sci-ppt:o021"/>
          <p:cNvCxnSpPr/>
          <p:nvPr/>
        </p:nvCxnSpPr>
        <p:spPr>
          <a:xfrm flipH="1" flipV="1">
            <a:off x="8701497" y="2956097"/>
            <a:ext cx="1899608" cy="1380145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24" name="C3-E06 ellipse 22" descr="sci-ppt:o022"/>
          <p:cNvSpPr/>
          <p:nvPr/>
        </p:nvSpPr>
        <p:spPr>
          <a:xfrm>
            <a:off x="9692640" y="192023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3-E06 ellipse 23" descr="sci-ppt:o023"/>
          <p:cNvSpPr/>
          <p:nvPr/>
        </p:nvSpPr>
        <p:spPr>
          <a:xfrm>
            <a:off x="10866662" y="2773217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3-E06 ellipse 24" descr="sci-ppt:o024"/>
          <p:cNvSpPr/>
          <p:nvPr/>
        </p:nvSpPr>
        <p:spPr>
          <a:xfrm>
            <a:off x="10418225" y="4153362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3-E06 ellipse 25" descr="sci-ppt:o025"/>
          <p:cNvSpPr/>
          <p:nvPr/>
        </p:nvSpPr>
        <p:spPr>
          <a:xfrm>
            <a:off x="8967054" y="4153362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3-E06 ellipse 26" descr="sci-ppt:o026"/>
          <p:cNvSpPr/>
          <p:nvPr/>
        </p:nvSpPr>
        <p:spPr>
          <a:xfrm>
            <a:off x="8518617" y="2773217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3-E06 text 27" descr="sci-ppt:o027"/>
          <p:cNvSpPr txBox="1"/>
          <p:nvPr/>
        </p:nvSpPr>
        <p:spPr>
          <a:xfrm>
            <a:off x="8595360" y="4709160"/>
            <a:ext cx="25603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N = 5</a:t>
            </a:r>
          </a:p>
        </p:txBody>
      </p:sp>
      <p:sp>
        <p:nvSpPr>
          <p:cNvPr id="30" name="C3-E06 text 28" descr="sci-ppt:o028"/>
          <p:cNvSpPr txBox="1"/>
          <p:nvPr/>
        </p:nvSpPr>
        <p:spPr>
          <a:xfrm>
            <a:off x="8412480" y="5029200"/>
            <a:ext cx="2926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S₅ s = 3.2361</a:t>
            </a:r>
          </a:p>
        </p:txBody>
      </p:sp>
      <p:sp>
        <p:nvSpPr>
          <p:cNvPr id="31" name="C3-E06 text 29" descr="sci-ppt:o029"/>
          <p:cNvSpPr txBox="1"/>
          <p:nvPr/>
        </p:nvSpPr>
        <p:spPr>
          <a:xfrm>
            <a:off x="457200" y="960120"/>
            <a:ext cx="112471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Regular polygons of N bubbles, neighbouring distance s</a:t>
            </a:r>
          </a:p>
        </p:txBody>
      </p:sp>
      <p:sp>
        <p:nvSpPr>
          <p:cNvPr id="32" name="C3-E06 text 30" descr="sci-ppt:o030"/>
          <p:cNvSpPr txBox="1"/>
          <p:nvPr/>
        </p:nvSpPr>
        <p:spPr>
          <a:xfrm>
            <a:off x="457200" y="1371600"/>
            <a:ext cx="112471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dₖ = s sin(kπ/N) / sin(π/N),   S_N = Σₖ₌₁^{N−1} 1/dₖ</a:t>
            </a:r>
          </a:p>
        </p:txBody>
      </p:sp>
      <p:sp>
        <p:nvSpPr>
          <p:cNvPr id="33" name="C3-E06 text 31" descr="sci-ppt:o031"/>
          <p:cNvSpPr txBox="1"/>
          <p:nvPr/>
        </p:nvSpPr>
        <p:spPr>
          <a:xfrm>
            <a:off x="457200" y="5486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S₃ = 2/s,   S₄ = (2 + 1/√2)/s,   S₅ = (2 + 2/φ)/s,   φ = (1 + √5)/2</a:t>
            </a:r>
          </a:p>
        </p:txBody>
      </p:sp>
      <p:sp>
        <p:nvSpPr>
          <p:cNvPr id="34" name="C3-E06 text 32" descr="sci-ppt:o032"/>
          <p:cNvSpPr txBox="1"/>
          <p:nvPr/>
        </p:nvSpPr>
        <p:spPr>
          <a:xfrm>
            <a:off x="457200" y="594360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Every bubble sees the same sum of reciprocal distances, so they can share one radius history in this constrained control.</a:t>
            </a:r>
          </a:p>
        </p:txBody>
      </p:sp>
      <p:sp>
        <p:nvSpPr>
          <p:cNvPr id="35" name="C3-E06 text 33" descr="sci-ppt:o03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polygon geometry of Eq. C3-E06 (chords drawn dashed).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