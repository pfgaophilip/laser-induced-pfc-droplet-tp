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C3-E06 · Exact polygon geometry</a:t>
            </a:r>
          </a:p>
        </p:txBody>
      </p:sp>
      <p:cxnSp>
        <p:nvCxnSpPr>
          <p:cNvPr id="3" name="C3-E06 line 1" descr="sci-ppt:o001"/>
          <p:cNvCxnSpPr/>
          <p:nvPr/>
        </p:nvCxnSpPr>
        <p:spPr>
          <a:xfrm>
            <a:off x="1828800" y="1234440"/>
            <a:ext cx="871082" cy="150876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3-E06 line 2" descr="sci-ppt:o002"/>
          <p:cNvCxnSpPr/>
          <p:nvPr/>
        </p:nvCxnSpPr>
        <p:spPr>
          <a:xfrm flipH="1">
            <a:off x="957717" y="2743200"/>
            <a:ext cx="1742165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5" name="C3-E06 line 3" descr="sci-ppt:o003"/>
          <p:cNvCxnSpPr/>
          <p:nvPr/>
        </p:nvCxnSpPr>
        <p:spPr>
          <a:xfrm flipV="1">
            <a:off x="957717" y="1234440"/>
            <a:ext cx="871083" cy="150876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6" name="C3-E06 ellipse 4" descr="sci-ppt:o004"/>
          <p:cNvSpPr/>
          <p:nvPr/>
        </p:nvSpPr>
        <p:spPr>
          <a:xfrm>
            <a:off x="1664208" y="106984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06 ellipse 5" descr="sci-ppt:o005"/>
          <p:cNvSpPr/>
          <p:nvPr/>
        </p:nvSpPr>
        <p:spPr>
          <a:xfrm>
            <a:off x="2535290" y="257860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3-E06 ellipse 6" descr="sci-ppt:o006"/>
          <p:cNvSpPr/>
          <p:nvPr/>
        </p:nvSpPr>
        <p:spPr>
          <a:xfrm>
            <a:off x="793125" y="257860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3-E06 text 7" descr="sci-ppt:o007"/>
          <p:cNvSpPr txBox="1"/>
          <p:nvPr/>
        </p:nvSpPr>
        <p:spPr>
          <a:xfrm>
            <a:off x="118872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N = 3</a:t>
            </a:r>
          </a:p>
        </p:txBody>
      </p:sp>
      <p:cxnSp>
        <p:nvCxnSpPr>
          <p:cNvPr id="10" name="C3-E06 line 8" descr="sci-ppt:o008"/>
          <p:cNvCxnSpPr/>
          <p:nvPr/>
        </p:nvCxnSpPr>
        <p:spPr>
          <a:xfrm>
            <a:off x="6035040" y="1234440"/>
            <a:ext cx="1005839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11" name="C3-E06 line 9" descr="sci-ppt:o009"/>
          <p:cNvCxnSpPr/>
          <p:nvPr/>
        </p:nvCxnSpPr>
        <p:spPr>
          <a:xfrm flipH="1">
            <a:off x="6035040" y="2240280"/>
            <a:ext cx="1005839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12" name="C3-E06 line 10" descr="sci-ppt:o010"/>
          <p:cNvCxnSpPr/>
          <p:nvPr/>
        </p:nvCxnSpPr>
        <p:spPr>
          <a:xfrm flipH="1" flipV="1">
            <a:off x="5029200" y="2240280"/>
            <a:ext cx="1005840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13" name="C3-E06 line 11" descr="sci-ppt:o011"/>
          <p:cNvCxnSpPr/>
          <p:nvPr/>
        </p:nvCxnSpPr>
        <p:spPr>
          <a:xfrm flipV="1">
            <a:off x="5029200" y="1234440"/>
            <a:ext cx="1005840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14" name="C3-E06 ellipse 12" descr="sci-ppt:o012"/>
          <p:cNvSpPr/>
          <p:nvPr/>
        </p:nvSpPr>
        <p:spPr>
          <a:xfrm>
            <a:off x="5870448" y="106984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3-E06 ellipse 13" descr="sci-ppt:o013"/>
          <p:cNvSpPr/>
          <p:nvPr/>
        </p:nvSpPr>
        <p:spPr>
          <a:xfrm>
            <a:off x="6876288" y="207568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3-E06 ellipse 14" descr="sci-ppt:o014"/>
          <p:cNvSpPr/>
          <p:nvPr/>
        </p:nvSpPr>
        <p:spPr>
          <a:xfrm>
            <a:off x="5870448" y="308152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3-E06 ellipse 15" descr="sci-ppt:o015"/>
          <p:cNvSpPr/>
          <p:nvPr/>
        </p:nvSpPr>
        <p:spPr>
          <a:xfrm>
            <a:off x="4864608" y="207568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06 text 16" descr="sci-ppt:o016"/>
          <p:cNvSpPr txBox="1"/>
          <p:nvPr/>
        </p:nvSpPr>
        <p:spPr>
          <a:xfrm>
            <a:off x="5394959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N = 4</a:t>
            </a:r>
          </a:p>
        </p:txBody>
      </p:sp>
      <p:cxnSp>
        <p:nvCxnSpPr>
          <p:cNvPr id="19" name="C3-E06 line 17" descr="sci-ppt:o017"/>
          <p:cNvCxnSpPr/>
          <p:nvPr/>
        </p:nvCxnSpPr>
        <p:spPr>
          <a:xfrm>
            <a:off x="10058400" y="1234440"/>
            <a:ext cx="956610" cy="695018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0" name="C3-E06 line 18" descr="sci-ppt:o018"/>
          <p:cNvCxnSpPr/>
          <p:nvPr/>
        </p:nvCxnSpPr>
        <p:spPr>
          <a:xfrm flipH="1">
            <a:off x="10649617" y="1929458"/>
            <a:ext cx="365393" cy="1124563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1" name="C3-E06 line 19" descr="sci-ppt:o019"/>
          <p:cNvCxnSpPr/>
          <p:nvPr/>
        </p:nvCxnSpPr>
        <p:spPr>
          <a:xfrm flipH="1">
            <a:off x="9467182" y="3054021"/>
            <a:ext cx="1182435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2" name="C3-E06 line 20" descr="sci-ppt:o020"/>
          <p:cNvCxnSpPr/>
          <p:nvPr/>
        </p:nvCxnSpPr>
        <p:spPr>
          <a:xfrm flipH="1" flipV="1">
            <a:off x="9101789" y="1929458"/>
            <a:ext cx="365393" cy="1124563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3" name="C3-E06 line 21" descr="sci-ppt:o021"/>
          <p:cNvCxnSpPr/>
          <p:nvPr/>
        </p:nvCxnSpPr>
        <p:spPr>
          <a:xfrm flipV="1">
            <a:off x="9101789" y="1234440"/>
            <a:ext cx="956611" cy="695018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24" name="C3-E06 ellipse 22" descr="sci-ppt:o022"/>
          <p:cNvSpPr/>
          <p:nvPr/>
        </p:nvSpPr>
        <p:spPr>
          <a:xfrm>
            <a:off x="9893808" y="106984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3-E06 ellipse 23" descr="sci-ppt:o023"/>
          <p:cNvSpPr/>
          <p:nvPr/>
        </p:nvSpPr>
        <p:spPr>
          <a:xfrm>
            <a:off x="10850418" y="1764866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3-E06 ellipse 24" descr="sci-ppt:o024"/>
          <p:cNvSpPr/>
          <p:nvPr/>
        </p:nvSpPr>
        <p:spPr>
          <a:xfrm>
            <a:off x="10485025" y="2889429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3-E06 ellipse 25" descr="sci-ppt:o025"/>
          <p:cNvSpPr/>
          <p:nvPr/>
        </p:nvSpPr>
        <p:spPr>
          <a:xfrm>
            <a:off x="9302590" y="2889429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3-E06 ellipse 26" descr="sci-ppt:o026"/>
          <p:cNvSpPr/>
          <p:nvPr/>
        </p:nvSpPr>
        <p:spPr>
          <a:xfrm>
            <a:off x="8937197" y="1764866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3-E06 text 27" descr="sci-ppt:o027"/>
          <p:cNvSpPr txBox="1"/>
          <p:nvPr/>
        </p:nvSpPr>
        <p:spPr>
          <a:xfrm>
            <a:off x="941832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N = 5</a:t>
            </a:r>
          </a:p>
        </p:txBody>
      </p:sp>
      <p:sp>
        <p:nvSpPr>
          <p:cNvPr id="30" name="C3-E06 text 28" descr="sci-ppt:o028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Regular polygons: pitch s joins adjacent bubble centres; diagonals have different lengths.</a:t>
            </a:r>
          </a:p>
        </p:txBody>
      </p:sp>
      <p:cxnSp>
        <p:nvCxnSpPr>
          <p:cNvPr id="31" name="C3-E06 line 29" descr="sci-ppt:o02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32" name="C3-E06 text 30" descr="sci-ppt:o03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= 3, 4, 5 vertices</a:t>
            </a:r>
          </a:p>
        </p:txBody>
      </p:sp>
      <p:sp>
        <p:nvSpPr>
          <p:cNvPr id="33" name="C3-E06 text 31" descr="sci-ppt:o03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 neighbor pitch</a:t>
            </a:r>
          </a:p>
        </p:txBody>
      </p:sp>
      <p:sp>
        <p:nvSpPr>
          <p:cNvPr id="34" name="C3-E06 text 32" descr="sci-ppt:o03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d_k chord distances</a:t>
            </a:r>
          </a:p>
        </p:txBody>
      </p:sp>
      <p:sp>
        <p:nvSpPr>
          <p:cNvPr id="35" name="C3-E06 text 33" descr="sci-ppt:o03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S_N = Σ 1/d_k</a:t>
            </a:r>
          </a:p>
        </p:txBody>
      </p:sp>
      <p:sp>
        <p:nvSpPr>
          <p:cNvPr id="36" name="C3-E06 text 34" descr="sci-ppt:o03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k, π, sin, φ_g: geometry legend</a:t>
            </a:r>
          </a:p>
        </p:txBody>
      </p:sp>
      <p:sp>
        <p:nvSpPr>
          <p:cNvPr id="37" name="C3-E06 text 35" descr="sci-ppt:o03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Triangle: two neighbors at s</a:t>
            </a:r>
          </a:p>
        </p:txBody>
      </p:sp>
      <p:sp>
        <p:nvSpPr>
          <p:cNvPr id="38" name="C3-E06 text 36" descr="sci-ppt:o03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Square: two at s, one at √2 s</a:t>
            </a:r>
          </a:p>
        </p:txBody>
      </p:sp>
      <p:sp>
        <p:nvSpPr>
          <p:cNvPr id="39" name="C3-E06 text 37" descr="sci-ppt:o037"/>
          <p:cNvSpPr txBox="1"/>
          <p:nvPr/>
        </p:nvSpPr>
        <p:spPr>
          <a:xfrm>
            <a:off x="320040" y="614476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Pentagon: two at s, two at φ_g s</a:t>
            </a:r>
          </a:p>
        </p:txBody>
      </p:sp>
      <p:sp>
        <p:nvSpPr>
          <p:cNvPr id="40" name="C3-E06 text 38" descr="sci-ppt:o03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