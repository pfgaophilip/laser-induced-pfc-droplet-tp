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3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C3-E23 · Dynamic-pressure definition and steady momentum flux</a:t>
            </a:r>
          </a:p>
        </p:txBody>
      </p:sp>
      <p:sp>
        <p:nvSpPr>
          <p:cNvPr id="3" name="C3-E23 rect 1" descr="sci-ppt:o001"/>
          <p:cNvSpPr/>
          <p:nvPr/>
        </p:nvSpPr>
        <p:spPr>
          <a:xfrm>
            <a:off x="731520" y="1508760"/>
            <a:ext cx="4937760" cy="7315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C3-E23 arrow 2" descr="sci-ppt:o002"/>
          <p:cNvCxnSpPr/>
          <p:nvPr/>
        </p:nvCxnSpPr>
        <p:spPr>
          <a:xfrm>
            <a:off x="1005840" y="1874519"/>
            <a:ext cx="42976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C3-E23 text 3" descr="sci-ppt:o003"/>
          <p:cNvSpPr txBox="1"/>
          <p:nvPr/>
        </p:nvSpPr>
        <p:spPr>
          <a:xfrm>
            <a:off x="1463040" y="1051560"/>
            <a:ext cx="3931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Finite emitted liquid: m_j, E_j, U_j</a:t>
            </a:r>
          </a:p>
        </p:txBody>
      </p:sp>
      <p:cxnSp>
        <p:nvCxnSpPr>
          <p:cNvPr id="6" name="C3-E23 line 4" descr="sci-ppt:o004"/>
          <p:cNvCxnSpPr/>
          <p:nvPr/>
        </p:nvCxnSpPr>
        <p:spPr>
          <a:xfrm>
            <a:off x="731520" y="2606040"/>
            <a:ext cx="493776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7" name="C3-E23 text 5" descr="sci-ppt:o005"/>
          <p:cNvSpPr txBox="1"/>
          <p:nvPr/>
        </p:nvSpPr>
        <p:spPr>
          <a:xfrm>
            <a:off x="2743200" y="269748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L_j</a:t>
            </a:r>
          </a:p>
        </p:txBody>
      </p:sp>
      <p:cxnSp>
        <p:nvCxnSpPr>
          <p:cNvPr id="8" name="C3-E23 line 6" descr="sci-ppt:o006"/>
          <p:cNvCxnSpPr/>
          <p:nvPr/>
        </p:nvCxnSpPr>
        <p:spPr>
          <a:xfrm>
            <a:off x="457200" y="1508760"/>
            <a:ext cx="0" cy="7315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" name="C3-E23 text 7" descr="sci-ppt:o007"/>
          <p:cNvSpPr txBox="1"/>
          <p:nvPr/>
        </p:nvSpPr>
        <p:spPr>
          <a:xfrm>
            <a:off x="137160" y="2377440"/>
            <a:ext cx="1645920" cy="3200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7F0F3"/>
                </a:solidFill>
                <a:latin typeface="Arial"/>
              </a:rPr>
              <a:t>d_j = 2a_j</a:t>
            </a:r>
          </a:p>
        </p:txBody>
      </p:sp>
      <p:sp>
        <p:nvSpPr>
          <p:cNvPr id="10" name="C3-E23 rect 8" descr="sci-ppt:o008"/>
          <p:cNvSpPr/>
          <p:nvPr/>
        </p:nvSpPr>
        <p:spPr>
          <a:xfrm>
            <a:off x="8412480" y="960120"/>
            <a:ext cx="365760" cy="23317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3-E23 arrow 9" descr="sci-ppt:o009"/>
          <p:cNvCxnSpPr/>
          <p:nvPr/>
        </p:nvCxnSpPr>
        <p:spPr>
          <a:xfrm>
            <a:off x="5760720" y="1874519"/>
            <a:ext cx="260604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2" name="C3-E23 arrow 10" descr="sci-ppt:o010"/>
          <p:cNvCxnSpPr/>
          <p:nvPr/>
        </p:nvCxnSpPr>
        <p:spPr>
          <a:xfrm flipV="1">
            <a:off x="8092440" y="868680"/>
            <a:ext cx="0" cy="1005839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3" name="C3-E23 arrow 11" descr="sci-ppt:o011"/>
          <p:cNvCxnSpPr/>
          <p:nvPr/>
        </p:nvCxnSpPr>
        <p:spPr>
          <a:xfrm>
            <a:off x="8092440" y="1874519"/>
            <a:ext cx="0" cy="1280161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C3-E23 text 12" descr="sci-ppt:o012"/>
          <p:cNvSpPr txBox="1"/>
          <p:nvPr/>
        </p:nvSpPr>
        <p:spPr>
          <a:xfrm>
            <a:off x="9006840" y="1280160"/>
            <a:ext cx="2560320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Redirected flow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zero axial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outlet momentum</a:t>
            </a:r>
          </a:p>
        </p:txBody>
      </p:sp>
      <p:sp>
        <p:nvSpPr>
          <p:cNvPr id="15" name="C3-E23 text 13" descr="sci-ppt:o013"/>
          <p:cNvSpPr txBox="1"/>
          <p:nvPr/>
        </p:nvSpPr>
        <p:spPr>
          <a:xfrm>
            <a:off x="914400" y="3337560"/>
            <a:ext cx="1005840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F_steady = ρ A_j U_j²; q_j = ρ U_j²/2 is a pressure scale.</a:t>
            </a:r>
          </a:p>
        </p:txBody>
      </p:sp>
      <p:cxnSp>
        <p:nvCxnSpPr>
          <p:cNvPr id="16" name="C3-E23 line 14" descr="sci-ppt:o014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7" name="C3-E23 text 15" descr="sci-ppt:o015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U_j incident jet speed</a:t>
            </a:r>
          </a:p>
        </p:txBody>
      </p:sp>
      <p:sp>
        <p:nvSpPr>
          <p:cNvPr id="18" name="C3-E23 text 16" descr="sci-ppt:o016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A_j incident area</a:t>
            </a:r>
          </a:p>
        </p:txBody>
      </p:sp>
      <p:sp>
        <p:nvSpPr>
          <p:cNvPr id="19" name="C3-E23 text 17" descr="sci-ppt:o017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ρ liquid; ṁ = ρA_jU_j</a:t>
            </a:r>
          </a:p>
        </p:txBody>
      </p:sp>
      <p:sp>
        <p:nvSpPr>
          <p:cNvPr id="20" name="C3-E23 text 18" descr="sci-ppt:o018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q_j dynamic-pressure scale</a:t>
            </a:r>
          </a:p>
        </p:txBody>
      </p:sp>
      <p:sp>
        <p:nvSpPr>
          <p:cNvPr id="21" name="C3-E23 text 19" descr="sci-ppt:o019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F_steady receiver force</a:t>
            </a:r>
          </a:p>
        </p:txBody>
      </p:sp>
      <p:sp>
        <p:nvSpPr>
          <p:cNvPr id="22" name="C3-E23 text 20" descr="sci-ppt:o020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Lateral outlet carries zero axial momentum</a:t>
            </a:r>
          </a:p>
        </p:txBody>
      </p:sp>
      <p:sp>
        <p:nvSpPr>
          <p:cNvPr id="23" name="C3-E23 text 21" descr="sci-ppt:o021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q_j is a scale, not a universal mean or local traction</a:t>
            </a:r>
          </a:p>
        </p:txBody>
      </p:sp>
      <p:sp>
        <p:nvSpPr>
          <p:cNvPr id="24" name="C3-E23 text 22" descr="sci-ppt:o022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A moving receiver changes relative speed and force</a:t>
            </a:r>
          </a:p>
        </p:txBody>
      </p:sp>
      <p:sp>
        <p:nvSpPr>
          <p:cNvPr id="25" name="C3-E23 text 23" descr="sci-ppt:o023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