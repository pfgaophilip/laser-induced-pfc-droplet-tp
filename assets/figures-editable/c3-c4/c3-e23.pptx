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23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C3-E23 · Dynamic-pressure definition and steady momentum flux</a:t>
            </a:r>
          </a:p>
        </p:txBody>
      </p:sp>
      <p:sp>
        <p:nvSpPr>
          <p:cNvPr id="3" name="C3-E23 round_rect 1" descr="sci-ppt:o001"/>
          <p:cNvSpPr/>
          <p:nvPr/>
        </p:nvSpPr>
        <p:spPr>
          <a:xfrm>
            <a:off x="365760" y="914400"/>
            <a:ext cx="6035040" cy="4846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23 text 2" descr="sci-ppt:o002"/>
          <p:cNvSpPr txBox="1"/>
          <p:nvPr/>
        </p:nvSpPr>
        <p:spPr>
          <a:xfrm>
            <a:off x="475488" y="969264"/>
            <a:ext cx="5815583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Steady redirection of a jet</a:t>
            </a:r>
          </a:p>
        </p:txBody>
      </p:sp>
      <p:sp>
        <p:nvSpPr>
          <p:cNvPr id="5" name="C3-E23 rect 3" descr="sci-ppt:o003"/>
          <p:cNvSpPr/>
          <p:nvPr/>
        </p:nvSpPr>
        <p:spPr>
          <a:xfrm>
            <a:off x="2011680" y="1417320"/>
            <a:ext cx="914400" cy="1828800"/>
          </a:xfrm>
          <a:prstGeom prst="rect">
            <a:avLst/>
          </a:prstGeom>
          <a:solidFill>
            <a:srgbClr val="1E4A5A"/>
          </a:solidFill>
          <a:ln w="2794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3-E23 arrow 4" descr="sci-ppt:o004"/>
          <p:cNvCxnSpPr/>
          <p:nvPr/>
        </p:nvCxnSpPr>
        <p:spPr>
          <a:xfrm>
            <a:off x="2468880" y="1371600"/>
            <a:ext cx="0" cy="1783080"/>
          </a:xfrm>
          <a:prstGeom prst="line">
            <a:avLst/>
          </a:prstGeom>
          <a:ln w="4445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7" name="C3-E23 text 5" descr="sci-ppt:o005"/>
          <p:cNvSpPr txBox="1"/>
          <p:nvPr/>
        </p:nvSpPr>
        <p:spPr>
          <a:xfrm>
            <a:off x="3063240" y="2011680"/>
            <a:ext cx="31089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Uⱼ, Aⱼ</a:t>
            </a:r>
          </a:p>
        </p:txBody>
      </p:sp>
      <p:sp>
        <p:nvSpPr>
          <p:cNvPr id="8" name="C3-E23 rect 6" descr="sci-ppt:o006"/>
          <p:cNvSpPr/>
          <p:nvPr/>
        </p:nvSpPr>
        <p:spPr>
          <a:xfrm>
            <a:off x="914400" y="3291840"/>
            <a:ext cx="4754880" cy="274320"/>
          </a:xfrm>
          <a:prstGeom prst="rect">
            <a:avLst/>
          </a:prstGeom>
          <a:solidFill>
            <a:srgbClr val="3A5362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" name="C3-E23 arrow 7" descr="sci-ppt:o007"/>
          <p:cNvCxnSpPr/>
          <p:nvPr/>
        </p:nvCxnSpPr>
        <p:spPr>
          <a:xfrm flipH="1" flipV="1">
            <a:off x="274320" y="3154680"/>
            <a:ext cx="1645920" cy="91440"/>
          </a:xfrm>
          <a:prstGeom prst="line">
            <a:avLst/>
          </a:prstGeom>
          <a:ln w="4445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0" name="C3-E23 arrow 8" descr="sci-ppt:o008"/>
          <p:cNvCxnSpPr/>
          <p:nvPr/>
        </p:nvCxnSpPr>
        <p:spPr>
          <a:xfrm flipV="1">
            <a:off x="3017520" y="3154680"/>
            <a:ext cx="1645920" cy="91440"/>
          </a:xfrm>
          <a:prstGeom prst="line">
            <a:avLst/>
          </a:prstGeom>
          <a:ln w="4445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11" name="C3-E23 text 9" descr="sci-ppt:o009"/>
          <p:cNvSpPr txBox="1"/>
          <p:nvPr/>
        </p:nvSpPr>
        <p:spPr>
          <a:xfrm>
            <a:off x="914400" y="3749039"/>
            <a:ext cx="53035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all axial momentum is removed; liquid leaves sideways</a:t>
            </a:r>
          </a:p>
        </p:txBody>
      </p:sp>
      <p:sp>
        <p:nvSpPr>
          <p:cNvPr id="12" name="C3-E23 text 10" descr="sci-ppt:o010"/>
          <p:cNvSpPr txBox="1"/>
          <p:nvPr/>
        </p:nvSpPr>
        <p:spPr>
          <a:xfrm>
            <a:off x="548640" y="4206240"/>
            <a:ext cx="566928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qⱼ = ½ρUⱼ²,   ṁ = ρA_jUⱼ</a:t>
            </a:r>
          </a:p>
        </p:txBody>
      </p:sp>
      <p:sp>
        <p:nvSpPr>
          <p:cNvPr id="13" name="C3-E23 text 11" descr="sci-ppt:o011"/>
          <p:cNvSpPr txBox="1"/>
          <p:nvPr/>
        </p:nvSpPr>
        <p:spPr>
          <a:xfrm>
            <a:off x="548640" y="4617720"/>
            <a:ext cx="566928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F_steady = ṁUⱼ = ρA_jUⱼ² = 2 qⱼ Aⱼ</a:t>
            </a:r>
          </a:p>
        </p:txBody>
      </p:sp>
      <p:sp>
        <p:nvSpPr>
          <p:cNvPr id="14" name="C3-E23 text 12" descr="sci-ppt:o012"/>
          <p:cNvSpPr txBox="1"/>
          <p:nvPr/>
        </p:nvSpPr>
        <p:spPr>
          <a:xfrm>
            <a:off x="548640" y="5074920"/>
            <a:ext cx="56692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Aⱼ = π(5 µm)² → F = 80 µN</a:t>
            </a:r>
          </a:p>
        </p:txBody>
      </p:sp>
      <p:sp>
        <p:nvSpPr>
          <p:cNvPr id="15" name="C3-E23 text 13" descr="sci-ppt:o013"/>
          <p:cNvSpPr txBox="1"/>
          <p:nvPr/>
        </p:nvSpPr>
        <p:spPr>
          <a:xfrm>
            <a:off x="6583680" y="960120"/>
            <a:ext cx="521208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Two very different pressure scales (MPa, log axis)</a:t>
            </a:r>
          </a:p>
        </p:txBody>
      </p:sp>
      <p:sp>
        <p:nvSpPr>
          <p:cNvPr id="16" name="C3-E23 text 14" descr="sci-ppt:o014"/>
          <p:cNvSpPr txBox="1"/>
          <p:nvPr/>
        </p:nvSpPr>
        <p:spPr>
          <a:xfrm>
            <a:off x="6583680" y="1572768"/>
            <a:ext cx="2468879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qⱼ = ½ρUⱼ²</a:t>
            </a:r>
          </a:p>
        </p:txBody>
      </p:sp>
      <p:sp>
        <p:nvSpPr>
          <p:cNvPr id="17" name="C3-E23 rect 15" descr="sci-ppt:o015"/>
          <p:cNvSpPr/>
          <p:nvPr/>
        </p:nvSpPr>
        <p:spPr>
          <a:xfrm>
            <a:off x="9144000" y="1554480"/>
            <a:ext cx="323226" cy="457200"/>
          </a:xfrm>
          <a:prstGeom prst="rect">
            <a:avLst/>
          </a:prstGeom>
          <a:solidFill>
            <a:srgbClr val="7FC8F8">
              <a:alpha val="85000"/>
            </a:srgbClr>
          </a:solidFill>
          <a:ln w="12700">
            <a:solidFill>
              <a:srgbClr val="7FC8F8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3-E23 text 16" descr="sci-ppt:o016"/>
          <p:cNvSpPr txBox="1"/>
          <p:nvPr/>
        </p:nvSpPr>
        <p:spPr>
          <a:xfrm>
            <a:off x="9540378" y="1600200"/>
            <a:ext cx="13716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0.509 MPa</a:t>
            </a:r>
          </a:p>
        </p:txBody>
      </p:sp>
      <p:sp>
        <p:nvSpPr>
          <p:cNvPr id="19" name="C3-E23 text 17" descr="sci-ppt:o017"/>
          <p:cNvSpPr txBox="1"/>
          <p:nvPr/>
        </p:nvSpPr>
        <p:spPr>
          <a:xfrm>
            <a:off x="6583680" y="2304288"/>
            <a:ext cx="2468879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ρ c Uⱼ (early rigid contact)</a:t>
            </a:r>
          </a:p>
        </p:txBody>
      </p:sp>
      <p:sp>
        <p:nvSpPr>
          <p:cNvPr id="20" name="C3-E23 rect 18" descr="sci-ppt:o018"/>
          <p:cNvSpPr/>
          <p:nvPr/>
        </p:nvSpPr>
        <p:spPr>
          <a:xfrm>
            <a:off x="9144000" y="2286000"/>
            <a:ext cx="1222672" cy="457200"/>
          </a:xfrm>
          <a:prstGeom prst="rect">
            <a:avLst/>
          </a:prstGeom>
          <a:solidFill>
            <a:srgbClr val="F28BA0">
              <a:alpha val="85000"/>
            </a:srgbClr>
          </a:solidFill>
          <a:ln w="12700">
            <a:solidFill>
              <a:srgbClr val="F28BA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3-E23 text 19" descr="sci-ppt:o019"/>
          <p:cNvSpPr txBox="1"/>
          <p:nvPr/>
        </p:nvSpPr>
        <p:spPr>
          <a:xfrm>
            <a:off x="10439824" y="2331720"/>
            <a:ext cx="13716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47.2 MPa</a:t>
            </a:r>
          </a:p>
        </p:txBody>
      </p:sp>
      <p:sp>
        <p:nvSpPr>
          <p:cNvPr id="22" name="C3-E23 text 20" descr="sci-ppt:o020"/>
          <p:cNvSpPr txBox="1"/>
          <p:nvPr/>
        </p:nvSpPr>
        <p:spPr>
          <a:xfrm>
            <a:off x="6583680" y="3017520"/>
            <a:ext cx="521208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Dynamic pressure is a scale; it is not a pressure applied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over the whole surface.</a:t>
            </a:r>
          </a:p>
        </p:txBody>
      </p:sp>
      <p:sp>
        <p:nvSpPr>
          <p:cNvPr id="23" name="C3-E23 text 21" descr="sci-ppt:o021"/>
          <p:cNvSpPr txBox="1"/>
          <p:nvPr/>
        </p:nvSpPr>
        <p:spPr>
          <a:xfrm>
            <a:off x="6583680" y="3840480"/>
            <a:ext cx="5212080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Steady force follows from momentum flux with the same Uⱼ, ρ,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Aⱼ used elsewhere. The first nanoseconds of impact (second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bar) are about 90 times larger.</a:t>
            </a:r>
          </a:p>
        </p:txBody>
      </p:sp>
      <p:sp>
        <p:nvSpPr>
          <p:cNvPr id="24" name="C3-E23 text 22" descr="sci-ppt:o022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Eq. C3-E23 with the declared jet: Uⱼ = 31.915 m/s, dⱼ = 10 µm, ρ = 1000 kg/m³, c = 1480 m/s.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