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C3-E19 · Slender-jet volume conservation</a:t>
            </a:r>
          </a:p>
        </p:txBody>
      </p:sp>
      <p:sp>
        <p:nvSpPr>
          <p:cNvPr id="3" name="C3-E19 round_rect 1" descr="sci-ppt:o001"/>
          <p:cNvSpPr/>
          <p:nvPr/>
        </p:nvSpPr>
        <p:spPr>
          <a:xfrm>
            <a:off x="365760" y="914400"/>
            <a:ext cx="704088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9 text 2" descr="sci-ppt:o002"/>
          <p:cNvSpPr txBox="1"/>
          <p:nvPr/>
        </p:nvSpPr>
        <p:spPr>
          <a:xfrm>
            <a:off x="475488" y="96926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Slender jet: a(z, t) stretched by v(z, t)</a:t>
            </a:r>
          </a:p>
        </p:txBody>
      </p:sp>
      <p:sp>
        <p:nvSpPr>
          <p:cNvPr id="5" name="C3-E19 polygon 3" descr="sci-ppt:o003"/>
          <p:cNvSpPr/>
          <p:nvPr/>
        </p:nvSpPr>
        <p:spPr>
          <a:xfrm>
            <a:off x="822960" y="2553804"/>
            <a:ext cx="6035040" cy="1476071"/>
          </a:xfrm>
          <a:custGeom>
            <a:avLst/>
            <a:gdLst/>
            <a:ahLst/>
            <a:cxnLst/>
            <a:rect l="l" t="t" r="r" b="b"/>
            <a:pathLst>
              <a:path w="6035040" h="1476071">
                <a:moveTo>
                  <a:pt x="0" y="0"/>
                </a:moveTo>
                <a:lnTo>
                  <a:pt x="102288" y="9274"/>
                </a:lnTo>
                <a:lnTo>
                  <a:pt x="204577" y="19875"/>
                </a:lnTo>
                <a:lnTo>
                  <a:pt x="306866" y="31819"/>
                </a:lnTo>
                <a:lnTo>
                  <a:pt x="409155" y="45089"/>
                </a:lnTo>
                <a:lnTo>
                  <a:pt x="511444" y="59635"/>
                </a:lnTo>
                <a:lnTo>
                  <a:pt x="613732" y="75378"/>
                </a:lnTo>
                <a:lnTo>
                  <a:pt x="716021" y="92206"/>
                </a:lnTo>
                <a:lnTo>
                  <a:pt x="818310" y="109984"/>
                </a:lnTo>
                <a:lnTo>
                  <a:pt x="920599" y="128552"/>
                </a:lnTo>
                <a:lnTo>
                  <a:pt x="1022888" y="147730"/>
                </a:lnTo>
                <a:lnTo>
                  <a:pt x="1125176" y="167325"/>
                </a:lnTo>
                <a:lnTo>
                  <a:pt x="1227465" y="187132"/>
                </a:lnTo>
                <a:lnTo>
                  <a:pt x="1329754" y="206943"/>
                </a:lnTo>
                <a:lnTo>
                  <a:pt x="1432043" y="226547"/>
                </a:lnTo>
                <a:lnTo>
                  <a:pt x="1534332" y="245740"/>
                </a:lnTo>
                <a:lnTo>
                  <a:pt x="1636621" y="264328"/>
                </a:lnTo>
                <a:lnTo>
                  <a:pt x="1738909" y="282131"/>
                </a:lnTo>
                <a:lnTo>
                  <a:pt x="1841198" y="298989"/>
                </a:lnTo>
                <a:lnTo>
                  <a:pt x="1943487" y="314764"/>
                </a:lnTo>
                <a:lnTo>
                  <a:pt x="2045776" y="329347"/>
                </a:lnTo>
                <a:lnTo>
                  <a:pt x="2148065" y="342654"/>
                </a:lnTo>
                <a:lnTo>
                  <a:pt x="2250353" y="354637"/>
                </a:lnTo>
                <a:lnTo>
                  <a:pt x="2352642" y="365277"/>
                </a:lnTo>
                <a:lnTo>
                  <a:pt x="2454931" y="374589"/>
                </a:lnTo>
                <a:lnTo>
                  <a:pt x="2557220" y="382621"/>
                </a:lnTo>
                <a:lnTo>
                  <a:pt x="2659509" y="389451"/>
                </a:lnTo>
                <a:lnTo>
                  <a:pt x="2761797" y="395188"/>
                </a:lnTo>
                <a:lnTo>
                  <a:pt x="2864086" y="399966"/>
                </a:lnTo>
                <a:lnTo>
                  <a:pt x="2966375" y="403944"/>
                </a:lnTo>
                <a:lnTo>
                  <a:pt x="3068664" y="407301"/>
                </a:lnTo>
                <a:lnTo>
                  <a:pt x="3170953" y="410229"/>
                </a:lnTo>
                <a:lnTo>
                  <a:pt x="3273242" y="412932"/>
                </a:lnTo>
                <a:lnTo>
                  <a:pt x="3375530" y="415619"/>
                </a:lnTo>
                <a:lnTo>
                  <a:pt x="3477819" y="418500"/>
                </a:lnTo>
                <a:lnTo>
                  <a:pt x="3580108" y="421781"/>
                </a:lnTo>
                <a:lnTo>
                  <a:pt x="3682397" y="425655"/>
                </a:lnTo>
                <a:lnTo>
                  <a:pt x="3784686" y="430303"/>
                </a:lnTo>
                <a:lnTo>
                  <a:pt x="3886974" y="435888"/>
                </a:lnTo>
                <a:lnTo>
                  <a:pt x="3989263" y="442548"/>
                </a:lnTo>
                <a:lnTo>
                  <a:pt x="4091552" y="450395"/>
                </a:lnTo>
                <a:lnTo>
                  <a:pt x="4193841" y="459513"/>
                </a:lnTo>
                <a:lnTo>
                  <a:pt x="4296130" y="469953"/>
                </a:lnTo>
                <a:lnTo>
                  <a:pt x="4398418" y="481736"/>
                </a:lnTo>
                <a:lnTo>
                  <a:pt x="4500707" y="494849"/>
                </a:lnTo>
                <a:lnTo>
                  <a:pt x="4602996" y="509246"/>
                </a:lnTo>
                <a:lnTo>
                  <a:pt x="4705285" y="524850"/>
                </a:lnTo>
                <a:lnTo>
                  <a:pt x="4807574" y="541555"/>
                </a:lnTo>
                <a:lnTo>
                  <a:pt x="4909863" y="559227"/>
                </a:lnTo>
                <a:lnTo>
                  <a:pt x="5012151" y="577709"/>
                </a:lnTo>
                <a:lnTo>
                  <a:pt x="5114440" y="596824"/>
                </a:lnTo>
                <a:lnTo>
                  <a:pt x="5216729" y="616380"/>
                </a:lnTo>
                <a:lnTo>
                  <a:pt x="5319018" y="636173"/>
                </a:lnTo>
                <a:lnTo>
                  <a:pt x="5421307" y="655994"/>
                </a:lnTo>
                <a:lnTo>
                  <a:pt x="5523595" y="675634"/>
                </a:lnTo>
                <a:lnTo>
                  <a:pt x="5625884" y="694887"/>
                </a:lnTo>
                <a:lnTo>
                  <a:pt x="5728173" y="713557"/>
                </a:lnTo>
                <a:lnTo>
                  <a:pt x="5830462" y="731463"/>
                </a:lnTo>
                <a:lnTo>
                  <a:pt x="5932751" y="748442"/>
                </a:lnTo>
                <a:lnTo>
                  <a:pt x="6035040" y="764354"/>
                </a:lnTo>
                <a:lnTo>
                  <a:pt x="6035040" y="711717"/>
                </a:lnTo>
                <a:lnTo>
                  <a:pt x="5932751" y="727629"/>
                </a:lnTo>
                <a:lnTo>
                  <a:pt x="5830462" y="744608"/>
                </a:lnTo>
                <a:lnTo>
                  <a:pt x="5728173" y="762514"/>
                </a:lnTo>
                <a:lnTo>
                  <a:pt x="5625884" y="781184"/>
                </a:lnTo>
                <a:lnTo>
                  <a:pt x="5523595" y="800437"/>
                </a:lnTo>
                <a:lnTo>
                  <a:pt x="5421307" y="820077"/>
                </a:lnTo>
                <a:lnTo>
                  <a:pt x="5319018" y="839898"/>
                </a:lnTo>
                <a:lnTo>
                  <a:pt x="5216729" y="859691"/>
                </a:lnTo>
                <a:lnTo>
                  <a:pt x="5114440" y="879247"/>
                </a:lnTo>
                <a:lnTo>
                  <a:pt x="5012151" y="898362"/>
                </a:lnTo>
                <a:lnTo>
                  <a:pt x="4909863" y="916844"/>
                </a:lnTo>
                <a:lnTo>
                  <a:pt x="4807574" y="934516"/>
                </a:lnTo>
                <a:lnTo>
                  <a:pt x="4705285" y="951221"/>
                </a:lnTo>
                <a:lnTo>
                  <a:pt x="4602996" y="966825"/>
                </a:lnTo>
                <a:lnTo>
                  <a:pt x="4500707" y="981222"/>
                </a:lnTo>
                <a:lnTo>
                  <a:pt x="4398418" y="994335"/>
                </a:lnTo>
                <a:lnTo>
                  <a:pt x="4296130" y="1006118"/>
                </a:lnTo>
                <a:lnTo>
                  <a:pt x="4193841" y="1016558"/>
                </a:lnTo>
                <a:lnTo>
                  <a:pt x="4091552" y="1025676"/>
                </a:lnTo>
                <a:lnTo>
                  <a:pt x="3989263" y="1033523"/>
                </a:lnTo>
                <a:lnTo>
                  <a:pt x="3886974" y="1040183"/>
                </a:lnTo>
                <a:lnTo>
                  <a:pt x="3784686" y="1045768"/>
                </a:lnTo>
                <a:lnTo>
                  <a:pt x="3682397" y="1050416"/>
                </a:lnTo>
                <a:lnTo>
                  <a:pt x="3580108" y="1054290"/>
                </a:lnTo>
                <a:lnTo>
                  <a:pt x="3477819" y="1057571"/>
                </a:lnTo>
                <a:lnTo>
                  <a:pt x="3375530" y="1060452"/>
                </a:lnTo>
                <a:lnTo>
                  <a:pt x="3273242" y="1063139"/>
                </a:lnTo>
                <a:lnTo>
                  <a:pt x="3170953" y="1065842"/>
                </a:lnTo>
                <a:lnTo>
                  <a:pt x="3068664" y="1068770"/>
                </a:lnTo>
                <a:lnTo>
                  <a:pt x="2966375" y="1072127"/>
                </a:lnTo>
                <a:lnTo>
                  <a:pt x="2864086" y="1076105"/>
                </a:lnTo>
                <a:lnTo>
                  <a:pt x="2761797" y="1080883"/>
                </a:lnTo>
                <a:lnTo>
                  <a:pt x="2659509" y="1086620"/>
                </a:lnTo>
                <a:lnTo>
                  <a:pt x="2557220" y="1093450"/>
                </a:lnTo>
                <a:lnTo>
                  <a:pt x="2454931" y="1101482"/>
                </a:lnTo>
                <a:lnTo>
                  <a:pt x="2352642" y="1110794"/>
                </a:lnTo>
                <a:lnTo>
                  <a:pt x="2250353" y="1121434"/>
                </a:lnTo>
                <a:lnTo>
                  <a:pt x="2148065" y="1133417"/>
                </a:lnTo>
                <a:lnTo>
                  <a:pt x="2045776" y="1146724"/>
                </a:lnTo>
                <a:lnTo>
                  <a:pt x="1943487" y="1161307"/>
                </a:lnTo>
                <a:lnTo>
                  <a:pt x="1841198" y="1177082"/>
                </a:lnTo>
                <a:lnTo>
                  <a:pt x="1738909" y="1193940"/>
                </a:lnTo>
                <a:lnTo>
                  <a:pt x="1636621" y="1211743"/>
                </a:lnTo>
                <a:lnTo>
                  <a:pt x="1534332" y="1230331"/>
                </a:lnTo>
                <a:lnTo>
                  <a:pt x="1432043" y="1249524"/>
                </a:lnTo>
                <a:lnTo>
                  <a:pt x="1329754" y="1269128"/>
                </a:lnTo>
                <a:lnTo>
                  <a:pt x="1227465" y="1288939"/>
                </a:lnTo>
                <a:lnTo>
                  <a:pt x="1125176" y="1308746"/>
                </a:lnTo>
                <a:lnTo>
                  <a:pt x="1022888" y="1328341"/>
                </a:lnTo>
                <a:lnTo>
                  <a:pt x="920599" y="1347519"/>
                </a:lnTo>
                <a:lnTo>
                  <a:pt x="818310" y="1366087"/>
                </a:lnTo>
                <a:lnTo>
                  <a:pt x="716021" y="1383865"/>
                </a:lnTo>
                <a:lnTo>
                  <a:pt x="613732" y="1400693"/>
                </a:lnTo>
                <a:lnTo>
                  <a:pt x="511444" y="1416436"/>
                </a:lnTo>
                <a:lnTo>
                  <a:pt x="409155" y="1430982"/>
                </a:lnTo>
                <a:lnTo>
                  <a:pt x="306866" y="1444252"/>
                </a:lnTo>
                <a:lnTo>
                  <a:pt x="204577" y="1456196"/>
                </a:lnTo>
                <a:lnTo>
                  <a:pt x="102288" y="1466797"/>
                </a:lnTo>
                <a:lnTo>
                  <a:pt x="0" y="1476071"/>
                </a:lnTo>
                <a:close/>
              </a:path>
            </a:pathLst>
          </a:cu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3-E19 arrow 4" descr="sci-ppt:o004"/>
          <p:cNvCxnSpPr/>
          <p:nvPr/>
        </p:nvCxnSpPr>
        <p:spPr>
          <a:xfrm>
            <a:off x="1463040" y="3291840"/>
            <a:ext cx="320040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3-E19 arrow 5" descr="sci-ppt:o005"/>
          <p:cNvCxnSpPr/>
          <p:nvPr/>
        </p:nvCxnSpPr>
        <p:spPr>
          <a:xfrm>
            <a:off x="2926080" y="3291840"/>
            <a:ext cx="612648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3-E19 arrow 6" descr="sci-ppt:o006"/>
          <p:cNvCxnSpPr/>
          <p:nvPr/>
        </p:nvCxnSpPr>
        <p:spPr>
          <a:xfrm>
            <a:off x="4389120" y="3291840"/>
            <a:ext cx="905256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3-E19 arrow 7" descr="sci-ppt:o007"/>
          <p:cNvCxnSpPr/>
          <p:nvPr/>
        </p:nvCxnSpPr>
        <p:spPr>
          <a:xfrm>
            <a:off x="5852160" y="3291840"/>
            <a:ext cx="1197864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19 text 8" descr="sci-ppt:o008"/>
          <p:cNvSpPr txBox="1"/>
          <p:nvPr/>
        </p:nvSpPr>
        <p:spPr>
          <a:xfrm>
            <a:off x="914400" y="4251960"/>
            <a:ext cx="6309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v(z): speed grows along z, so the column is stretched and thins</a:t>
            </a:r>
          </a:p>
        </p:txBody>
      </p:sp>
      <p:sp>
        <p:nvSpPr>
          <p:cNvPr id="11" name="C3-E19 rect 9" descr="sci-ppt:o009"/>
          <p:cNvSpPr/>
          <p:nvPr/>
        </p:nvSpPr>
        <p:spPr>
          <a:xfrm>
            <a:off x="2743200" y="1828800"/>
            <a:ext cx="1097280" cy="2926080"/>
          </a:xfrm>
          <a:prstGeom prst="rect">
            <a:avLst/>
          </a:prstGeom>
          <a:noFill/>
          <a:ln w="2286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19 text 10" descr="sci-ppt:o010"/>
          <p:cNvSpPr txBox="1"/>
          <p:nvPr/>
        </p:nvSpPr>
        <p:spPr>
          <a:xfrm>
            <a:off x="2468880" y="141732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slice Δz</a:t>
            </a:r>
          </a:p>
        </p:txBody>
      </p:sp>
      <p:cxnSp>
        <p:nvCxnSpPr>
          <p:cNvPr id="13" name="C3-E19 arrow 11" descr="sci-ppt:o011"/>
          <p:cNvCxnSpPr/>
          <p:nvPr/>
        </p:nvCxnSpPr>
        <p:spPr>
          <a:xfrm>
            <a:off x="2331720" y="2377440"/>
            <a:ext cx="36576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3-E19 arrow 12" descr="sci-ppt:o012"/>
          <p:cNvCxnSpPr/>
          <p:nvPr/>
        </p:nvCxnSpPr>
        <p:spPr>
          <a:xfrm>
            <a:off x="3886200" y="2377440"/>
            <a:ext cx="36576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3-E19 text 13" descr="sci-ppt:o013"/>
          <p:cNvSpPr txBox="1"/>
          <p:nvPr/>
        </p:nvSpPr>
        <p:spPr>
          <a:xfrm>
            <a:off x="914400" y="493776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[Av](z)</a:t>
            </a:r>
          </a:p>
        </p:txBody>
      </p:sp>
      <p:sp>
        <p:nvSpPr>
          <p:cNvPr id="16" name="C3-E19 text 14" descr="sci-ppt:o014"/>
          <p:cNvSpPr txBox="1"/>
          <p:nvPr/>
        </p:nvSpPr>
        <p:spPr>
          <a:xfrm>
            <a:off x="4206240" y="493776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[Av](z + Δz)</a:t>
            </a:r>
          </a:p>
        </p:txBody>
      </p:sp>
      <p:sp>
        <p:nvSpPr>
          <p:cNvPr id="17" name="C3-E19 round_rect 15" descr="sci-ppt:o015"/>
          <p:cNvSpPr/>
          <p:nvPr/>
        </p:nvSpPr>
        <p:spPr>
          <a:xfrm>
            <a:off x="7589520" y="914400"/>
            <a:ext cx="42519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19 text 16" descr="sci-ppt:o016"/>
          <p:cNvSpPr txBox="1"/>
          <p:nvPr/>
        </p:nvSpPr>
        <p:spPr>
          <a:xfrm>
            <a:off x="7699248" y="969264"/>
            <a:ext cx="40325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Volume balance of the slice</a:t>
            </a:r>
          </a:p>
        </p:txBody>
      </p:sp>
      <p:sp>
        <p:nvSpPr>
          <p:cNvPr id="19" name="C3-E19 text 17" descr="sci-ppt:o017"/>
          <p:cNvSpPr txBox="1"/>
          <p:nvPr/>
        </p:nvSpPr>
        <p:spPr>
          <a:xfrm>
            <a:off x="7726679" y="1417320"/>
            <a:ext cx="4023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A = πa²;  ∂ₜ∫A dξ = [Av](z) − [Av](z + Δz)</a:t>
            </a:r>
          </a:p>
        </p:txBody>
      </p:sp>
      <p:sp>
        <p:nvSpPr>
          <p:cNvPr id="20" name="C3-E19 text 18" descr="sci-ppt:o018"/>
          <p:cNvSpPr txBox="1"/>
          <p:nvPr/>
        </p:nvSpPr>
        <p:spPr>
          <a:xfrm>
            <a:off x="7726679" y="2148840"/>
            <a:ext cx="4023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Δz → 0:  ∂ₜA + ∂_z(Av) = 0</a:t>
            </a:r>
          </a:p>
        </p:txBody>
      </p:sp>
      <p:sp>
        <p:nvSpPr>
          <p:cNvPr id="21" name="C3-E19 text 19" descr="sci-ppt:o019"/>
          <p:cNvSpPr txBox="1"/>
          <p:nvPr/>
        </p:nvSpPr>
        <p:spPr>
          <a:xfrm>
            <a:off x="7726679" y="2743200"/>
            <a:ext cx="4023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dividing by 2πa:</a:t>
            </a:r>
          </a:p>
        </p:txBody>
      </p:sp>
      <p:sp>
        <p:nvSpPr>
          <p:cNvPr id="22" name="C3-E19 text 20" descr="sci-ppt:o020"/>
          <p:cNvSpPr txBox="1"/>
          <p:nvPr/>
        </p:nvSpPr>
        <p:spPr>
          <a:xfrm>
            <a:off x="7726679" y="3108960"/>
            <a:ext cx="40233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∂ₜa + v ∂_z a = −(a/2) ∂_z v</a:t>
            </a:r>
          </a:p>
        </p:txBody>
      </p:sp>
      <p:sp>
        <p:nvSpPr>
          <p:cNvPr id="23" name="C3-E19 text 21" descr="sci-ppt:o021"/>
          <p:cNvSpPr txBox="1"/>
          <p:nvPr/>
        </p:nvSpPr>
        <p:spPr>
          <a:xfrm>
            <a:off x="7726679" y="3840480"/>
            <a:ext cx="402336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If ∂_z v &gt; 0 the right side is negative: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radius shrinks even before capillary necking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grows.</a:t>
            </a:r>
          </a:p>
        </p:txBody>
      </p:sp>
      <p:sp>
        <p:nvSpPr>
          <p:cNvPr id="24" name="C3-E19 text 22" descr="sci-ppt:o02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Slender-jet volume conservation of Eq. C3-E19; schematic geometry.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