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19 text 0" descr="sci-ppt:o000"/>
          <p:cNvSpPr txBox="1"/>
          <p:nvPr/>
        </p:nvSpPr>
        <p:spPr>
          <a:xfrm>
            <a:off x="274320" y="137160"/>
            <a:ext cx="1161288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8EDBD4"/>
                </a:solidFill>
                <a:latin typeface="Arial"/>
              </a:rPr>
              <a:t>C3-E19 · Slender-jet volume conservation</a:t>
            </a:r>
          </a:p>
        </p:txBody>
      </p:sp>
      <p:sp>
        <p:nvSpPr>
          <p:cNvPr id="3" name="C3-E19 rect 1" descr="sci-ppt:o001"/>
          <p:cNvSpPr/>
          <p:nvPr/>
        </p:nvSpPr>
        <p:spPr>
          <a:xfrm>
            <a:off x="1920240" y="1463040"/>
            <a:ext cx="6583680" cy="1005840"/>
          </a:xfrm>
          <a:prstGeom prst="rect">
            <a:avLst/>
          </a:prstGeom>
          <a:noFill/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C3-E19 arrow 2" descr="sci-ppt:o002"/>
          <p:cNvCxnSpPr/>
          <p:nvPr/>
        </p:nvCxnSpPr>
        <p:spPr>
          <a:xfrm>
            <a:off x="731520" y="1965960"/>
            <a:ext cx="246888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5" name="C3-E19 arrow 3" descr="sci-ppt:o003"/>
          <p:cNvCxnSpPr/>
          <p:nvPr/>
        </p:nvCxnSpPr>
        <p:spPr>
          <a:xfrm>
            <a:off x="7132320" y="1965960"/>
            <a:ext cx="374904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C3-E19 text 4" descr="sci-ppt:o004"/>
          <p:cNvSpPr txBox="1"/>
          <p:nvPr/>
        </p:nvSpPr>
        <p:spPr>
          <a:xfrm>
            <a:off x="548640" y="2606040"/>
            <a:ext cx="36576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Incoming flux A v |z</a:t>
            </a:r>
          </a:p>
        </p:txBody>
      </p:sp>
      <p:sp>
        <p:nvSpPr>
          <p:cNvPr id="7" name="C3-E19 text 5" descr="sci-ppt:o005"/>
          <p:cNvSpPr txBox="1"/>
          <p:nvPr/>
        </p:nvSpPr>
        <p:spPr>
          <a:xfrm>
            <a:off x="7406640" y="2606040"/>
            <a:ext cx="4114800" cy="45720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Outgoing flux A v |z+Δz</a:t>
            </a:r>
          </a:p>
        </p:txBody>
      </p:sp>
      <p:sp>
        <p:nvSpPr>
          <p:cNvPr id="8" name="C3-E19 text 6" descr="sci-ppt:o006"/>
          <p:cNvSpPr txBox="1"/>
          <p:nvPr/>
        </p:nvSpPr>
        <p:spPr>
          <a:xfrm>
            <a:off x="3840480" y="1645920"/>
            <a:ext cx="3657600" cy="54864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Fixed axial slice Δz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A(z,t) = πa²</a:t>
            </a:r>
          </a:p>
        </p:txBody>
      </p:sp>
      <p:sp>
        <p:nvSpPr>
          <p:cNvPr id="9" name="C3-E19 text 7" descr="sci-ppt:o007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8EDBD4"/>
                </a:solidFill>
                <a:latin typeface="Arial"/>
              </a:rPr>
              <a:t>Slender liquid: axial velocity v(z,t); radius a(z,t)</a:t>
            </a:r>
          </a:p>
        </p:txBody>
      </p:sp>
      <p:sp>
        <p:nvSpPr>
          <p:cNvPr id="10" name="C3-E19 text 8" descr="sci-ppt:o008"/>
          <p:cNvSpPr txBox="1"/>
          <p:nvPr/>
        </p:nvSpPr>
        <p:spPr>
          <a:xfrm>
            <a:off x="914400" y="3337560"/>
            <a:ext cx="10607040" cy="365760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E7F0F3"/>
                </a:solidFill>
                <a:latin typeface="Arial"/>
              </a:rPr>
              <a:t>Storage changes by incoming minus outgoing volume flux.</a:t>
            </a:r>
          </a:p>
        </p:txBody>
      </p:sp>
      <p:cxnSp>
        <p:nvCxnSpPr>
          <p:cNvPr id="11" name="C3-E19 line 9" descr="sci-ppt:o009"/>
          <p:cNvCxnSpPr/>
          <p:nvPr/>
        </p:nvCxnSpPr>
        <p:spPr>
          <a:xfrm>
            <a:off x="274320" y="3977639"/>
            <a:ext cx="11612880" cy="0"/>
          </a:xfrm>
          <a:prstGeom prst="line">
            <a:avLst/>
          </a:prstGeom>
          <a:ln w="12700">
            <a:solidFill>
              <a:srgbClr val="405967"/>
            </a:solidFill>
          </a:ln>
          <a:effectLst/>
        </p:spPr>
      </p:cxnSp>
      <p:sp>
        <p:nvSpPr>
          <p:cNvPr id="12" name="C3-E19 text 10" descr="sci-ppt:o010"/>
          <p:cNvSpPr txBox="1"/>
          <p:nvPr/>
        </p:nvSpPr>
        <p:spPr>
          <a:xfrm>
            <a:off x="32004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z → axial flight direction</a:t>
            </a:r>
          </a:p>
        </p:txBody>
      </p:sp>
      <p:sp>
        <p:nvSpPr>
          <p:cNvPr id="13" name="C3-E19 text 11" descr="sci-ppt:o011"/>
          <p:cNvSpPr txBox="1"/>
          <p:nvPr/>
        </p:nvSpPr>
        <p:spPr>
          <a:xfrm>
            <a:off x="6217920" y="4096512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Δz fixed finite slice; ξ inside</a:t>
            </a:r>
          </a:p>
        </p:txBody>
      </p:sp>
      <p:sp>
        <p:nvSpPr>
          <p:cNvPr id="14" name="C3-E19 text 12" descr="sci-ppt:o012"/>
          <p:cNvSpPr txBox="1"/>
          <p:nvPr/>
        </p:nvSpPr>
        <p:spPr>
          <a:xfrm>
            <a:off x="32004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a(z,t), A = πa²</a:t>
            </a:r>
          </a:p>
        </p:txBody>
      </p:sp>
      <p:sp>
        <p:nvSpPr>
          <p:cNvPr id="15" name="C3-E19 text 13" descr="sci-ppt:o013"/>
          <p:cNvSpPr txBox="1"/>
          <p:nvPr/>
        </p:nvSpPr>
        <p:spPr>
          <a:xfrm>
            <a:off x="6217920" y="4329684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Av incoming and outgoing flux</a:t>
            </a:r>
          </a:p>
        </p:txBody>
      </p:sp>
      <p:sp>
        <p:nvSpPr>
          <p:cNvPr id="16" name="C3-E19 text 14" descr="sci-ppt:o014"/>
          <p:cNvSpPr txBox="1"/>
          <p:nvPr/>
        </p:nvSpPr>
        <p:spPr>
          <a:xfrm>
            <a:off x="32004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v average axial velocity</a:t>
            </a:r>
          </a:p>
        </p:txBody>
      </p:sp>
      <p:sp>
        <p:nvSpPr>
          <p:cNvPr id="17" name="C3-E19 text 15" descr="sci-ppt:o015"/>
          <p:cNvSpPr txBox="1"/>
          <p:nvPr/>
        </p:nvSpPr>
        <p:spPr>
          <a:xfrm>
            <a:off x="6217920" y="4562856"/>
            <a:ext cx="5715000" cy="24688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B4C7D2"/>
                </a:solidFill>
                <a:latin typeface="Arial"/>
              </a:rPr>
              <a:t>• ∂ₜ, ∂z, t: evolution legend</a:t>
            </a:r>
          </a:p>
        </p:txBody>
      </p:sp>
      <p:sp>
        <p:nvSpPr>
          <p:cNvPr id="18" name="C3-E19 text 16" descr="sci-ppt:o016"/>
          <p:cNvSpPr txBox="1"/>
          <p:nvPr/>
        </p:nvSpPr>
        <p:spPr>
          <a:xfrm>
            <a:off x="320040" y="559612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Positive axial strain thins the jet</a:t>
            </a:r>
          </a:p>
        </p:txBody>
      </p:sp>
      <p:sp>
        <p:nvSpPr>
          <p:cNvPr id="19" name="C3-E19 text 17" descr="sci-ppt:o017"/>
          <p:cNvSpPr txBox="1"/>
          <p:nvPr/>
        </p:nvSpPr>
        <p:spPr>
          <a:xfrm>
            <a:off x="320040" y="5870448"/>
            <a:ext cx="11430000" cy="292608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Initial/end data are required</a:t>
            </a:r>
          </a:p>
        </p:txBody>
      </p:sp>
      <p:sp>
        <p:nvSpPr>
          <p:cNvPr id="20" name="C3-E19 text 18" descr="sci-ppt:o018"/>
          <p:cNvSpPr txBox="1"/>
          <p:nvPr/>
        </p:nvSpPr>
        <p:spPr>
          <a:xfrm>
            <a:off x="320040" y="6473952"/>
            <a:ext cx="11430000" cy="256032"/>
          </a:xfrm>
          <a:prstGeom prst="rect">
            <a:avLst/>
          </a:prstGeom>
          <a:noFill/>
          <a:effectLst/>
        </p:spPr>
        <p:txBody>
          <a:bodyPr wrap="squar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Model schematic; geometry is not to scale.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