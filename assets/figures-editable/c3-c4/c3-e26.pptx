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6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C3-E26 · Observer definition and conditional impulse bound</a:t>
            </a:r>
          </a:p>
        </p:txBody>
      </p:sp>
      <p:sp>
        <p:nvSpPr>
          <p:cNvPr id="3" name="C3-E26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26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26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26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26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26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26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sp>
        <p:nvSpPr>
          <p:cNvPr id="10" name="C3-E26 rect 8" descr="sci-ppt:o008"/>
          <p:cNvSpPr/>
          <p:nvPr/>
        </p:nvSpPr>
        <p:spPr>
          <a:xfrm>
            <a:off x="8366760" y="914400"/>
            <a:ext cx="320040" cy="17373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3-E26 rect 9" descr="sci-ppt:o009"/>
          <p:cNvSpPr/>
          <p:nvPr/>
        </p:nvSpPr>
        <p:spPr>
          <a:xfrm>
            <a:off x="8321040" y="1600200"/>
            <a:ext cx="411480" cy="640080"/>
          </a:xfrm>
          <a:prstGeom prst="rect">
            <a:avLst/>
          </a:prstGeom>
          <a:solidFill>
            <a:srgbClr val="8EDBD4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3-E26 arrow 10" descr="sci-ppt:o010"/>
          <p:cNvCxnSpPr/>
          <p:nvPr/>
        </p:nvCxnSpPr>
        <p:spPr>
          <a:xfrm>
            <a:off x="5760720" y="1874519"/>
            <a:ext cx="25603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3" name="C3-E26 text 11" descr="sci-ppt:o011"/>
          <p:cNvSpPr txBox="1"/>
          <p:nvPr/>
        </p:nvSpPr>
        <p:spPr>
          <a:xfrm>
            <a:off x="8961120" y="1554480"/>
            <a:ext cx="2651760" cy="7315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Fixed footprint A_o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Fixed window τ_o</a:t>
            </a:r>
          </a:p>
        </p:txBody>
      </p:sp>
      <p:sp>
        <p:nvSpPr>
          <p:cNvPr id="14" name="C3-E26 text 12" descr="sci-ppt:o012"/>
          <p:cNvSpPr txBox="1"/>
          <p:nvPr/>
        </p:nvSpPr>
        <p:spPr>
          <a:xfrm>
            <a:off x="6217920" y="2971800"/>
            <a:ext cx="53035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p_obs: area and time average</a:t>
            </a:r>
          </a:p>
        </p:txBody>
      </p:sp>
      <p:cxnSp>
        <p:nvCxnSpPr>
          <p:cNvPr id="15" name="C3-E26 line 13" descr="sci-ppt:o013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6" name="C3-E26 text 14" descr="sci-ppt:o014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A_o fixed sensor footprint</a:t>
            </a:r>
          </a:p>
        </p:txBody>
      </p:sp>
      <p:sp>
        <p:nvSpPr>
          <p:cNvPr id="17" name="C3-E26 text 15" descr="sci-ppt:o015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τ_o averaging window</a:t>
            </a:r>
          </a:p>
        </p:txBody>
      </p:sp>
      <p:sp>
        <p:nvSpPr>
          <p:cNvPr id="18" name="C3-E26 text 16" descr="sci-ppt:o016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p(x,ξ) local surface pressure</a:t>
            </a:r>
          </a:p>
        </p:txBody>
      </p:sp>
      <p:sp>
        <p:nvSpPr>
          <p:cNvPr id="19" name="C3-E26 text 17" descr="sci-ppt:o017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p_ref reference pressure</a:t>
            </a:r>
          </a:p>
        </p:txBody>
      </p:sp>
      <p:sp>
        <p:nvSpPr>
          <p:cNvPr id="20" name="C3-E26 text 18" descr="sci-ppt:o018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p_obs(t) observed mean</a:t>
            </a:r>
          </a:p>
        </p:txBody>
      </p:sp>
      <p:sp>
        <p:nvSpPr>
          <p:cNvPr id="21" name="C3-E26 text 19" descr="sci-ppt:o019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J_rec total footprint impulse</a:t>
            </a:r>
          </a:p>
        </p:txBody>
      </p:sp>
      <p:sp>
        <p:nvSpPr>
          <p:cNvPr id="22" name="C3-E26 text 20" descr="sci-ppt:o020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dA area element; x, ξ, t</a:t>
            </a:r>
          </a:p>
        </p:txBody>
      </p:sp>
      <p:sp>
        <p:nvSpPr>
          <p:cNvPr id="23" name="C3-E26 text 21" descr="sci-ppt:o021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Fluid, exposed surface and release interface are different locations</a:t>
            </a:r>
          </a:p>
        </p:txBody>
      </p:sp>
      <p:sp>
        <p:nvSpPr>
          <p:cNvPr id="24" name="C3-E26 text 22" descr="sci-ppt:o022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Bandwidth and sign convention belong to the observation</a:t>
            </a:r>
          </a:p>
        </p:txBody>
      </p:sp>
      <p:sp>
        <p:nvSpPr>
          <p:cNvPr id="25" name="C3-E26 text 23" descr="sci-ppt:o023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