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C3-E26 · Observer definition and conditional impulse bound</a:t>
            </a:r>
          </a:p>
        </p:txBody>
      </p:sp>
      <p:cxnSp>
        <p:nvCxnSpPr>
          <p:cNvPr id="3" name="C3-E26 line 1" descr="sci-ppt:o001"/>
          <p:cNvCxnSpPr/>
          <p:nvPr/>
        </p:nvCxnSpPr>
        <p:spPr>
          <a:xfrm>
            <a:off x="914400" y="493776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26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26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26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26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3-E26 line 6" descr="sci-ppt:o006"/>
          <p:cNvCxnSpPr/>
          <p:nvPr/>
        </p:nvCxnSpPr>
        <p:spPr>
          <a:xfrm>
            <a:off x="25146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26 line 7" descr="sci-ppt:o007"/>
          <p:cNvCxnSpPr/>
          <p:nvPr/>
        </p:nvCxnSpPr>
        <p:spPr>
          <a:xfrm>
            <a:off x="25146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26 text 8" descr="sci-ppt:o008"/>
          <p:cNvSpPr txBox="1"/>
          <p:nvPr/>
        </p:nvSpPr>
        <p:spPr>
          <a:xfrm>
            <a:off x="20574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cxnSp>
        <p:nvCxnSpPr>
          <p:cNvPr id="11" name="C3-E26 line 9" descr="sci-ppt:o009"/>
          <p:cNvCxnSpPr/>
          <p:nvPr/>
        </p:nvCxnSpPr>
        <p:spPr>
          <a:xfrm>
            <a:off x="41148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26 line 10" descr="sci-ppt:o010"/>
          <p:cNvCxnSpPr/>
          <p:nvPr/>
        </p:nvCxnSpPr>
        <p:spPr>
          <a:xfrm>
            <a:off x="41148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26 text 11" descr="sci-ppt:o011"/>
          <p:cNvSpPr txBox="1"/>
          <p:nvPr/>
        </p:nvSpPr>
        <p:spPr>
          <a:xfrm>
            <a:off x="36576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80</a:t>
            </a:r>
          </a:p>
        </p:txBody>
      </p:sp>
      <p:cxnSp>
        <p:nvCxnSpPr>
          <p:cNvPr id="14" name="C3-E26 line 12" descr="sci-ppt:o012"/>
          <p:cNvCxnSpPr/>
          <p:nvPr/>
        </p:nvCxnSpPr>
        <p:spPr>
          <a:xfrm>
            <a:off x="57150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26 line 13" descr="sci-ppt:o013"/>
          <p:cNvCxnSpPr/>
          <p:nvPr/>
        </p:nvCxnSpPr>
        <p:spPr>
          <a:xfrm>
            <a:off x="57150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26 text 14" descr="sci-ppt:o014"/>
          <p:cNvSpPr txBox="1"/>
          <p:nvPr/>
        </p:nvSpPr>
        <p:spPr>
          <a:xfrm>
            <a:off x="52578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120</a:t>
            </a:r>
          </a:p>
        </p:txBody>
      </p:sp>
      <p:cxnSp>
        <p:nvCxnSpPr>
          <p:cNvPr id="17" name="C3-E26 line 15" descr="sci-ppt:o015"/>
          <p:cNvCxnSpPr/>
          <p:nvPr/>
        </p:nvCxnSpPr>
        <p:spPr>
          <a:xfrm>
            <a:off x="73152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26 line 16" descr="sci-ppt:o016"/>
          <p:cNvCxnSpPr/>
          <p:nvPr/>
        </p:nvCxnSpPr>
        <p:spPr>
          <a:xfrm>
            <a:off x="73152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26 text 17" descr="sci-ppt:o017"/>
          <p:cNvSpPr txBox="1"/>
          <p:nvPr/>
        </p:nvSpPr>
        <p:spPr>
          <a:xfrm>
            <a:off x="68580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160</a:t>
            </a:r>
          </a:p>
        </p:txBody>
      </p:sp>
      <p:cxnSp>
        <p:nvCxnSpPr>
          <p:cNvPr id="20" name="C3-E26 line 18" descr="sci-ppt:o018"/>
          <p:cNvCxnSpPr/>
          <p:nvPr/>
        </p:nvCxnSpPr>
        <p:spPr>
          <a:xfrm>
            <a:off x="85039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26 line 19" descr="sci-ppt:o019"/>
          <p:cNvCxnSpPr/>
          <p:nvPr/>
        </p:nvCxnSpPr>
        <p:spPr>
          <a:xfrm>
            <a:off x="850392" y="338725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26 line 20" descr="sci-ppt:o020"/>
          <p:cNvCxnSpPr/>
          <p:nvPr/>
        </p:nvCxnSpPr>
        <p:spPr>
          <a:xfrm>
            <a:off x="914400" y="3387255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26 text 21" descr="sci-ppt:o021"/>
          <p:cNvSpPr txBox="1"/>
          <p:nvPr/>
        </p:nvSpPr>
        <p:spPr>
          <a:xfrm>
            <a:off x="45720" y="330495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4" name="C3-E26 line 22" descr="sci-ppt:o022"/>
          <p:cNvCxnSpPr/>
          <p:nvPr/>
        </p:nvCxnSpPr>
        <p:spPr>
          <a:xfrm>
            <a:off x="850392" y="183675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26 line 23" descr="sci-ppt:o023"/>
          <p:cNvCxnSpPr/>
          <p:nvPr/>
        </p:nvCxnSpPr>
        <p:spPr>
          <a:xfrm>
            <a:off x="914400" y="1836751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26 text 24" descr="sci-ppt:o024"/>
          <p:cNvSpPr txBox="1"/>
          <p:nvPr/>
        </p:nvSpPr>
        <p:spPr>
          <a:xfrm>
            <a:off x="45720" y="175445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27" name="C3-E26 text 25" descr="sci-ppt:o025"/>
          <p:cNvSpPr txBox="1"/>
          <p:nvPr/>
        </p:nvSpPr>
        <p:spPr>
          <a:xfrm>
            <a:off x="914400" y="5221224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time t  (ns)</a:t>
            </a:r>
          </a:p>
        </p:txBody>
      </p:sp>
      <p:sp>
        <p:nvSpPr>
          <p:cNvPr id="28" name="C3-E26 text 26" descr="sci-ppt:o026"/>
          <p:cNvSpPr txBox="1"/>
          <p:nvPr/>
        </p:nvSpPr>
        <p:spPr>
          <a:xfrm>
            <a:off x="365760" y="1024128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p_obs / (ρ c Uⱼ)</a:t>
            </a:r>
          </a:p>
        </p:txBody>
      </p:sp>
      <p:sp>
        <p:nvSpPr>
          <p:cNvPr id="29" name="C3-E26 polygon 27" descr="sci-ppt:o027"/>
          <p:cNvSpPr/>
          <p:nvPr/>
        </p:nvSpPr>
        <p:spPr>
          <a:xfrm>
            <a:off x="914400" y="1836751"/>
            <a:ext cx="6387991" cy="3101009"/>
          </a:xfrm>
          <a:custGeom>
            <a:avLst/>
            <a:gdLst/>
            <a:ahLst/>
            <a:cxnLst/>
            <a:rect l="l" t="t" r="r" b="b"/>
            <a:pathLst>
              <a:path w="6387991" h="3101009">
                <a:moveTo>
                  <a:pt x="0" y="0"/>
                </a:moveTo>
                <a:lnTo>
                  <a:pt x="56035" y="0"/>
                </a:lnTo>
                <a:lnTo>
                  <a:pt x="112070" y="0"/>
                </a:lnTo>
                <a:lnTo>
                  <a:pt x="168105" y="0"/>
                </a:lnTo>
                <a:lnTo>
                  <a:pt x="224140" y="0"/>
                </a:lnTo>
                <a:lnTo>
                  <a:pt x="280175" y="0"/>
                </a:lnTo>
                <a:lnTo>
                  <a:pt x="336210" y="0"/>
                </a:lnTo>
                <a:lnTo>
                  <a:pt x="392245" y="0"/>
                </a:lnTo>
                <a:lnTo>
                  <a:pt x="448280" y="0"/>
                </a:lnTo>
                <a:lnTo>
                  <a:pt x="504315" y="0"/>
                </a:lnTo>
                <a:lnTo>
                  <a:pt x="560350" y="0"/>
                </a:lnTo>
                <a:lnTo>
                  <a:pt x="616385" y="0"/>
                </a:lnTo>
                <a:lnTo>
                  <a:pt x="672420" y="0"/>
                </a:lnTo>
                <a:lnTo>
                  <a:pt x="728455" y="0"/>
                </a:lnTo>
                <a:lnTo>
                  <a:pt x="784490" y="0"/>
                </a:lnTo>
                <a:lnTo>
                  <a:pt x="840525" y="0"/>
                </a:lnTo>
                <a:lnTo>
                  <a:pt x="896560" y="0"/>
                </a:lnTo>
                <a:lnTo>
                  <a:pt x="952595" y="0"/>
                </a:lnTo>
                <a:lnTo>
                  <a:pt x="1008630" y="0"/>
                </a:lnTo>
                <a:lnTo>
                  <a:pt x="1064665" y="0"/>
                </a:lnTo>
                <a:lnTo>
                  <a:pt x="1120700" y="0"/>
                </a:lnTo>
                <a:lnTo>
                  <a:pt x="1176735" y="0"/>
                </a:lnTo>
                <a:lnTo>
                  <a:pt x="1232770" y="0"/>
                </a:lnTo>
                <a:lnTo>
                  <a:pt x="1288805" y="0"/>
                </a:lnTo>
                <a:lnTo>
                  <a:pt x="1344840" y="0"/>
                </a:lnTo>
                <a:lnTo>
                  <a:pt x="1400875" y="3101009"/>
                </a:lnTo>
                <a:lnTo>
                  <a:pt x="1456910" y="3101009"/>
                </a:lnTo>
                <a:lnTo>
                  <a:pt x="1512945" y="3101009"/>
                </a:lnTo>
                <a:lnTo>
                  <a:pt x="1568980" y="3101009"/>
                </a:lnTo>
                <a:lnTo>
                  <a:pt x="1625015" y="3101009"/>
                </a:lnTo>
                <a:lnTo>
                  <a:pt x="1681050" y="3101009"/>
                </a:lnTo>
                <a:lnTo>
                  <a:pt x="1737085" y="3101009"/>
                </a:lnTo>
                <a:lnTo>
                  <a:pt x="1793120" y="3101009"/>
                </a:lnTo>
                <a:lnTo>
                  <a:pt x="1849155" y="3101009"/>
                </a:lnTo>
                <a:lnTo>
                  <a:pt x="1905190" y="3101009"/>
                </a:lnTo>
                <a:lnTo>
                  <a:pt x="1961225" y="3101009"/>
                </a:lnTo>
                <a:lnTo>
                  <a:pt x="2017260" y="3101009"/>
                </a:lnTo>
                <a:lnTo>
                  <a:pt x="2073295" y="3101009"/>
                </a:lnTo>
                <a:lnTo>
                  <a:pt x="2129330" y="3101009"/>
                </a:lnTo>
                <a:lnTo>
                  <a:pt x="2185365" y="3101009"/>
                </a:lnTo>
                <a:lnTo>
                  <a:pt x="2241400" y="3101009"/>
                </a:lnTo>
                <a:lnTo>
                  <a:pt x="2297435" y="3101009"/>
                </a:lnTo>
                <a:lnTo>
                  <a:pt x="2353470" y="3101009"/>
                </a:lnTo>
                <a:lnTo>
                  <a:pt x="2409505" y="3101009"/>
                </a:lnTo>
                <a:lnTo>
                  <a:pt x="2465540" y="3101009"/>
                </a:lnTo>
                <a:lnTo>
                  <a:pt x="2521575" y="3101009"/>
                </a:lnTo>
                <a:lnTo>
                  <a:pt x="2577610" y="3101009"/>
                </a:lnTo>
                <a:lnTo>
                  <a:pt x="2633645" y="3101009"/>
                </a:lnTo>
                <a:lnTo>
                  <a:pt x="2689680" y="3101009"/>
                </a:lnTo>
                <a:lnTo>
                  <a:pt x="2745715" y="3101009"/>
                </a:lnTo>
                <a:lnTo>
                  <a:pt x="2801750" y="3101009"/>
                </a:lnTo>
                <a:lnTo>
                  <a:pt x="2857785" y="3101009"/>
                </a:lnTo>
                <a:lnTo>
                  <a:pt x="2913820" y="3101009"/>
                </a:lnTo>
                <a:lnTo>
                  <a:pt x="2969855" y="3101009"/>
                </a:lnTo>
                <a:lnTo>
                  <a:pt x="3025890" y="3101009"/>
                </a:lnTo>
                <a:lnTo>
                  <a:pt x="3081925" y="3101009"/>
                </a:lnTo>
                <a:lnTo>
                  <a:pt x="3137960" y="3101009"/>
                </a:lnTo>
                <a:lnTo>
                  <a:pt x="3193995" y="3101009"/>
                </a:lnTo>
                <a:lnTo>
                  <a:pt x="3250031" y="3101009"/>
                </a:lnTo>
                <a:lnTo>
                  <a:pt x="3306066" y="3101009"/>
                </a:lnTo>
                <a:lnTo>
                  <a:pt x="3362101" y="3101009"/>
                </a:lnTo>
                <a:lnTo>
                  <a:pt x="3418136" y="3101009"/>
                </a:lnTo>
                <a:lnTo>
                  <a:pt x="3474171" y="3101009"/>
                </a:lnTo>
                <a:lnTo>
                  <a:pt x="3530206" y="3101009"/>
                </a:lnTo>
                <a:lnTo>
                  <a:pt x="3586241" y="3101009"/>
                </a:lnTo>
                <a:lnTo>
                  <a:pt x="3642276" y="3101009"/>
                </a:lnTo>
                <a:lnTo>
                  <a:pt x="3698311" y="3101009"/>
                </a:lnTo>
                <a:lnTo>
                  <a:pt x="3754346" y="3101009"/>
                </a:lnTo>
                <a:lnTo>
                  <a:pt x="3810381" y="3101009"/>
                </a:lnTo>
                <a:lnTo>
                  <a:pt x="3866416" y="3101009"/>
                </a:lnTo>
                <a:lnTo>
                  <a:pt x="3922451" y="3101009"/>
                </a:lnTo>
                <a:lnTo>
                  <a:pt x="3978486" y="3101009"/>
                </a:lnTo>
                <a:lnTo>
                  <a:pt x="4034521" y="3101009"/>
                </a:lnTo>
                <a:lnTo>
                  <a:pt x="4090556" y="3101009"/>
                </a:lnTo>
                <a:lnTo>
                  <a:pt x="4146591" y="3101009"/>
                </a:lnTo>
                <a:lnTo>
                  <a:pt x="4202626" y="3101009"/>
                </a:lnTo>
                <a:lnTo>
                  <a:pt x="4258661" y="3101009"/>
                </a:lnTo>
                <a:lnTo>
                  <a:pt x="4314696" y="3101009"/>
                </a:lnTo>
                <a:lnTo>
                  <a:pt x="4370731" y="3101009"/>
                </a:lnTo>
                <a:lnTo>
                  <a:pt x="4426766" y="3101009"/>
                </a:lnTo>
                <a:lnTo>
                  <a:pt x="4482801" y="3101009"/>
                </a:lnTo>
                <a:lnTo>
                  <a:pt x="4538836" y="3101009"/>
                </a:lnTo>
                <a:lnTo>
                  <a:pt x="4594871" y="3101009"/>
                </a:lnTo>
                <a:lnTo>
                  <a:pt x="4650906" y="3101009"/>
                </a:lnTo>
                <a:lnTo>
                  <a:pt x="4706941" y="3101009"/>
                </a:lnTo>
                <a:lnTo>
                  <a:pt x="4762976" y="3101009"/>
                </a:lnTo>
                <a:lnTo>
                  <a:pt x="4819011" y="3101009"/>
                </a:lnTo>
                <a:lnTo>
                  <a:pt x="4875046" y="3101009"/>
                </a:lnTo>
                <a:lnTo>
                  <a:pt x="4931081" y="3101009"/>
                </a:lnTo>
                <a:lnTo>
                  <a:pt x="4987116" y="3101009"/>
                </a:lnTo>
                <a:lnTo>
                  <a:pt x="5043151" y="3101009"/>
                </a:lnTo>
                <a:lnTo>
                  <a:pt x="5099186" y="3101009"/>
                </a:lnTo>
                <a:lnTo>
                  <a:pt x="5155221" y="3101009"/>
                </a:lnTo>
                <a:lnTo>
                  <a:pt x="5211256" y="3101009"/>
                </a:lnTo>
                <a:lnTo>
                  <a:pt x="5267291" y="3101009"/>
                </a:lnTo>
                <a:lnTo>
                  <a:pt x="5323326" y="3101009"/>
                </a:lnTo>
                <a:lnTo>
                  <a:pt x="5379361" y="3101009"/>
                </a:lnTo>
                <a:lnTo>
                  <a:pt x="5435396" y="3101009"/>
                </a:lnTo>
                <a:lnTo>
                  <a:pt x="5491431" y="3101009"/>
                </a:lnTo>
                <a:lnTo>
                  <a:pt x="5547466" y="3101009"/>
                </a:lnTo>
                <a:lnTo>
                  <a:pt x="5603501" y="3101009"/>
                </a:lnTo>
                <a:lnTo>
                  <a:pt x="5659536" y="3101009"/>
                </a:lnTo>
                <a:lnTo>
                  <a:pt x="5715571" y="3101009"/>
                </a:lnTo>
                <a:lnTo>
                  <a:pt x="5771606" y="3101009"/>
                </a:lnTo>
                <a:lnTo>
                  <a:pt x="5827641" y="3101009"/>
                </a:lnTo>
                <a:lnTo>
                  <a:pt x="5883676" y="3101009"/>
                </a:lnTo>
                <a:lnTo>
                  <a:pt x="5939711" y="3101009"/>
                </a:lnTo>
                <a:lnTo>
                  <a:pt x="5995746" y="3101009"/>
                </a:lnTo>
                <a:lnTo>
                  <a:pt x="6051781" y="3101009"/>
                </a:lnTo>
                <a:lnTo>
                  <a:pt x="6107816" y="3101009"/>
                </a:lnTo>
                <a:lnTo>
                  <a:pt x="6163851" y="3101009"/>
                </a:lnTo>
                <a:lnTo>
                  <a:pt x="6219886" y="3101009"/>
                </a:lnTo>
                <a:lnTo>
                  <a:pt x="6275921" y="3101009"/>
                </a:lnTo>
                <a:lnTo>
                  <a:pt x="6331956" y="3101009"/>
                </a:lnTo>
                <a:lnTo>
                  <a:pt x="6387991" y="3101009"/>
                </a:lnTo>
              </a:path>
            </a:pathLst>
          </a:custGeom>
          <a:noFill/>
          <a:ln w="20320">
            <a:solidFill>
              <a:srgbClr val="B4C7D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3-E26 polygon 28" descr="sci-ppt:o028"/>
          <p:cNvSpPr/>
          <p:nvPr/>
        </p:nvSpPr>
        <p:spPr>
          <a:xfrm>
            <a:off x="914400" y="1866225"/>
            <a:ext cx="6387991" cy="3071535"/>
          </a:xfrm>
          <a:custGeom>
            <a:avLst/>
            <a:gdLst/>
            <a:ahLst/>
            <a:cxnLst/>
            <a:rect l="l" t="t" r="r" b="b"/>
            <a:pathLst>
              <a:path w="6387991" h="3071535">
                <a:moveTo>
                  <a:pt x="0" y="3040509"/>
                </a:moveTo>
                <a:lnTo>
                  <a:pt x="56035" y="2606151"/>
                </a:lnTo>
                <a:lnTo>
                  <a:pt x="112070" y="2171792"/>
                </a:lnTo>
                <a:lnTo>
                  <a:pt x="168105" y="1737434"/>
                </a:lnTo>
                <a:lnTo>
                  <a:pt x="224140" y="1303075"/>
                </a:lnTo>
                <a:lnTo>
                  <a:pt x="280175" y="868717"/>
                </a:lnTo>
                <a:lnTo>
                  <a:pt x="336210" y="434359"/>
                </a:lnTo>
                <a:lnTo>
                  <a:pt x="392245" y="0"/>
                </a:lnTo>
                <a:lnTo>
                  <a:pt x="448280" y="0"/>
                </a:lnTo>
                <a:lnTo>
                  <a:pt x="504315" y="0"/>
                </a:lnTo>
                <a:lnTo>
                  <a:pt x="560350" y="0"/>
                </a:lnTo>
                <a:lnTo>
                  <a:pt x="616385" y="0"/>
                </a:lnTo>
                <a:lnTo>
                  <a:pt x="672420" y="0"/>
                </a:lnTo>
                <a:lnTo>
                  <a:pt x="728455" y="0"/>
                </a:lnTo>
                <a:lnTo>
                  <a:pt x="784490" y="0"/>
                </a:lnTo>
                <a:lnTo>
                  <a:pt x="840525" y="0"/>
                </a:lnTo>
                <a:lnTo>
                  <a:pt x="896560" y="0"/>
                </a:lnTo>
                <a:lnTo>
                  <a:pt x="952595" y="0"/>
                </a:lnTo>
                <a:lnTo>
                  <a:pt x="1008630" y="0"/>
                </a:lnTo>
                <a:lnTo>
                  <a:pt x="1064665" y="0"/>
                </a:lnTo>
                <a:lnTo>
                  <a:pt x="1120700" y="0"/>
                </a:lnTo>
                <a:lnTo>
                  <a:pt x="1176735" y="0"/>
                </a:lnTo>
                <a:lnTo>
                  <a:pt x="1232770" y="0"/>
                </a:lnTo>
                <a:lnTo>
                  <a:pt x="1288805" y="0"/>
                </a:lnTo>
                <a:lnTo>
                  <a:pt x="1344840" y="0"/>
                </a:lnTo>
                <a:lnTo>
                  <a:pt x="1400875" y="403333"/>
                </a:lnTo>
                <a:lnTo>
                  <a:pt x="1456910" y="837691"/>
                </a:lnTo>
                <a:lnTo>
                  <a:pt x="1512945" y="1272050"/>
                </a:lnTo>
                <a:lnTo>
                  <a:pt x="1568980" y="1706408"/>
                </a:lnTo>
                <a:lnTo>
                  <a:pt x="1625015" y="2140767"/>
                </a:lnTo>
                <a:lnTo>
                  <a:pt x="1681050" y="2575125"/>
                </a:lnTo>
                <a:lnTo>
                  <a:pt x="1737085" y="3009483"/>
                </a:lnTo>
                <a:lnTo>
                  <a:pt x="1793120" y="3071535"/>
                </a:lnTo>
                <a:lnTo>
                  <a:pt x="1849155" y="3071535"/>
                </a:lnTo>
                <a:lnTo>
                  <a:pt x="1905190" y="3071535"/>
                </a:lnTo>
                <a:lnTo>
                  <a:pt x="1961225" y="3071535"/>
                </a:lnTo>
                <a:lnTo>
                  <a:pt x="2017260" y="3071535"/>
                </a:lnTo>
                <a:lnTo>
                  <a:pt x="2073295" y="3071535"/>
                </a:lnTo>
                <a:lnTo>
                  <a:pt x="2129330" y="3071535"/>
                </a:lnTo>
                <a:lnTo>
                  <a:pt x="2185365" y="3071535"/>
                </a:lnTo>
                <a:lnTo>
                  <a:pt x="2241400" y="3071535"/>
                </a:lnTo>
                <a:lnTo>
                  <a:pt x="2297435" y="3071535"/>
                </a:lnTo>
                <a:lnTo>
                  <a:pt x="2353470" y="3071535"/>
                </a:lnTo>
                <a:lnTo>
                  <a:pt x="2409505" y="3071535"/>
                </a:lnTo>
                <a:lnTo>
                  <a:pt x="2465540" y="3071535"/>
                </a:lnTo>
                <a:lnTo>
                  <a:pt x="2521575" y="3071535"/>
                </a:lnTo>
                <a:lnTo>
                  <a:pt x="2577610" y="3071535"/>
                </a:lnTo>
                <a:lnTo>
                  <a:pt x="2633645" y="3071535"/>
                </a:lnTo>
                <a:lnTo>
                  <a:pt x="2689680" y="3071535"/>
                </a:lnTo>
                <a:lnTo>
                  <a:pt x="2745715" y="3071535"/>
                </a:lnTo>
                <a:lnTo>
                  <a:pt x="2801750" y="3071535"/>
                </a:lnTo>
                <a:lnTo>
                  <a:pt x="2857785" y="3071535"/>
                </a:lnTo>
                <a:lnTo>
                  <a:pt x="2913820" y="3071535"/>
                </a:lnTo>
                <a:lnTo>
                  <a:pt x="2969855" y="3071535"/>
                </a:lnTo>
                <a:lnTo>
                  <a:pt x="3025890" y="3071535"/>
                </a:lnTo>
                <a:lnTo>
                  <a:pt x="3081925" y="3071535"/>
                </a:lnTo>
                <a:lnTo>
                  <a:pt x="3137960" y="3071535"/>
                </a:lnTo>
                <a:lnTo>
                  <a:pt x="3193995" y="3071535"/>
                </a:lnTo>
                <a:lnTo>
                  <a:pt x="3250031" y="3071535"/>
                </a:lnTo>
                <a:lnTo>
                  <a:pt x="3306066" y="3071535"/>
                </a:lnTo>
                <a:lnTo>
                  <a:pt x="3362101" y="3071535"/>
                </a:lnTo>
                <a:lnTo>
                  <a:pt x="3418136" y="3071535"/>
                </a:lnTo>
                <a:lnTo>
                  <a:pt x="3474171" y="3071535"/>
                </a:lnTo>
                <a:lnTo>
                  <a:pt x="3530206" y="3071535"/>
                </a:lnTo>
                <a:lnTo>
                  <a:pt x="3586241" y="3071535"/>
                </a:lnTo>
                <a:lnTo>
                  <a:pt x="3642276" y="3071535"/>
                </a:lnTo>
                <a:lnTo>
                  <a:pt x="3698311" y="3071535"/>
                </a:lnTo>
                <a:lnTo>
                  <a:pt x="3754346" y="3071535"/>
                </a:lnTo>
                <a:lnTo>
                  <a:pt x="3810381" y="3071535"/>
                </a:lnTo>
                <a:lnTo>
                  <a:pt x="3866416" y="3071535"/>
                </a:lnTo>
                <a:lnTo>
                  <a:pt x="3922451" y="3071535"/>
                </a:lnTo>
                <a:lnTo>
                  <a:pt x="3978486" y="3071535"/>
                </a:lnTo>
                <a:lnTo>
                  <a:pt x="4034521" y="3071535"/>
                </a:lnTo>
                <a:lnTo>
                  <a:pt x="4090556" y="3071535"/>
                </a:lnTo>
                <a:lnTo>
                  <a:pt x="4146591" y="3071535"/>
                </a:lnTo>
                <a:lnTo>
                  <a:pt x="4202626" y="3071535"/>
                </a:lnTo>
                <a:lnTo>
                  <a:pt x="4258661" y="3071535"/>
                </a:lnTo>
                <a:lnTo>
                  <a:pt x="4314696" y="3071535"/>
                </a:lnTo>
                <a:lnTo>
                  <a:pt x="4370731" y="3071535"/>
                </a:lnTo>
                <a:lnTo>
                  <a:pt x="4426766" y="3071535"/>
                </a:lnTo>
                <a:lnTo>
                  <a:pt x="4482801" y="3071535"/>
                </a:lnTo>
                <a:lnTo>
                  <a:pt x="4538836" y="3071535"/>
                </a:lnTo>
                <a:lnTo>
                  <a:pt x="4594871" y="3071535"/>
                </a:lnTo>
                <a:lnTo>
                  <a:pt x="4650906" y="3071535"/>
                </a:lnTo>
                <a:lnTo>
                  <a:pt x="4706941" y="3071535"/>
                </a:lnTo>
                <a:lnTo>
                  <a:pt x="4762976" y="3071535"/>
                </a:lnTo>
                <a:lnTo>
                  <a:pt x="4819011" y="3071535"/>
                </a:lnTo>
                <a:lnTo>
                  <a:pt x="4875046" y="3071535"/>
                </a:lnTo>
                <a:lnTo>
                  <a:pt x="4931081" y="3071535"/>
                </a:lnTo>
                <a:lnTo>
                  <a:pt x="4987116" y="3071535"/>
                </a:lnTo>
                <a:lnTo>
                  <a:pt x="5043151" y="3071535"/>
                </a:lnTo>
                <a:lnTo>
                  <a:pt x="5099186" y="3071535"/>
                </a:lnTo>
                <a:lnTo>
                  <a:pt x="5155221" y="3071535"/>
                </a:lnTo>
                <a:lnTo>
                  <a:pt x="5211256" y="3071535"/>
                </a:lnTo>
                <a:lnTo>
                  <a:pt x="5267291" y="3071535"/>
                </a:lnTo>
                <a:lnTo>
                  <a:pt x="5323326" y="3071535"/>
                </a:lnTo>
                <a:lnTo>
                  <a:pt x="5379361" y="3071535"/>
                </a:lnTo>
                <a:lnTo>
                  <a:pt x="5435396" y="3071535"/>
                </a:lnTo>
                <a:lnTo>
                  <a:pt x="5491431" y="3071535"/>
                </a:lnTo>
                <a:lnTo>
                  <a:pt x="5547466" y="3071535"/>
                </a:lnTo>
                <a:lnTo>
                  <a:pt x="5603501" y="3071535"/>
                </a:lnTo>
                <a:lnTo>
                  <a:pt x="5659536" y="3071535"/>
                </a:lnTo>
                <a:lnTo>
                  <a:pt x="5715571" y="3071535"/>
                </a:lnTo>
                <a:lnTo>
                  <a:pt x="5771606" y="3071535"/>
                </a:lnTo>
                <a:lnTo>
                  <a:pt x="5827641" y="3071535"/>
                </a:lnTo>
                <a:lnTo>
                  <a:pt x="5883676" y="3071535"/>
                </a:lnTo>
                <a:lnTo>
                  <a:pt x="5939711" y="3071535"/>
                </a:lnTo>
                <a:lnTo>
                  <a:pt x="5995746" y="3071535"/>
                </a:lnTo>
                <a:lnTo>
                  <a:pt x="6051781" y="3071535"/>
                </a:lnTo>
                <a:lnTo>
                  <a:pt x="6107816" y="3071535"/>
                </a:lnTo>
                <a:lnTo>
                  <a:pt x="6163851" y="3071535"/>
                </a:lnTo>
                <a:lnTo>
                  <a:pt x="6219886" y="3071535"/>
                </a:lnTo>
                <a:lnTo>
                  <a:pt x="6275921" y="3071535"/>
                </a:lnTo>
                <a:lnTo>
                  <a:pt x="6331956" y="3071535"/>
                </a:lnTo>
                <a:lnTo>
                  <a:pt x="6387991" y="3071535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3-E26 polygon 29" descr="sci-ppt:o029"/>
          <p:cNvSpPr/>
          <p:nvPr/>
        </p:nvSpPr>
        <p:spPr>
          <a:xfrm>
            <a:off x="914400" y="1842894"/>
            <a:ext cx="6387991" cy="3094866"/>
          </a:xfrm>
          <a:custGeom>
            <a:avLst/>
            <a:gdLst/>
            <a:ahLst/>
            <a:cxnLst/>
            <a:rect l="l" t="t" r="r" b="b"/>
            <a:pathLst>
              <a:path w="6387991" h="3094866">
                <a:moveTo>
                  <a:pt x="0" y="3085682"/>
                </a:moveTo>
                <a:lnTo>
                  <a:pt x="56035" y="2957112"/>
                </a:lnTo>
                <a:lnTo>
                  <a:pt x="112070" y="2828542"/>
                </a:lnTo>
                <a:lnTo>
                  <a:pt x="168105" y="2699972"/>
                </a:lnTo>
                <a:lnTo>
                  <a:pt x="224140" y="2571402"/>
                </a:lnTo>
                <a:lnTo>
                  <a:pt x="280175" y="2442831"/>
                </a:lnTo>
                <a:lnTo>
                  <a:pt x="336210" y="2314261"/>
                </a:lnTo>
                <a:lnTo>
                  <a:pt x="392245" y="2185691"/>
                </a:lnTo>
                <a:lnTo>
                  <a:pt x="448280" y="2057121"/>
                </a:lnTo>
                <a:lnTo>
                  <a:pt x="504315" y="1928551"/>
                </a:lnTo>
                <a:lnTo>
                  <a:pt x="560350" y="1799981"/>
                </a:lnTo>
                <a:lnTo>
                  <a:pt x="616385" y="1671411"/>
                </a:lnTo>
                <a:lnTo>
                  <a:pt x="672420" y="1542841"/>
                </a:lnTo>
                <a:lnTo>
                  <a:pt x="728455" y="1414271"/>
                </a:lnTo>
                <a:lnTo>
                  <a:pt x="784490" y="1285701"/>
                </a:lnTo>
                <a:lnTo>
                  <a:pt x="840525" y="1157131"/>
                </a:lnTo>
                <a:lnTo>
                  <a:pt x="896560" y="1028561"/>
                </a:lnTo>
                <a:lnTo>
                  <a:pt x="952595" y="899990"/>
                </a:lnTo>
                <a:lnTo>
                  <a:pt x="1008630" y="771420"/>
                </a:lnTo>
                <a:lnTo>
                  <a:pt x="1064665" y="642850"/>
                </a:lnTo>
                <a:lnTo>
                  <a:pt x="1120700" y="514280"/>
                </a:lnTo>
                <a:lnTo>
                  <a:pt x="1176735" y="385710"/>
                </a:lnTo>
                <a:lnTo>
                  <a:pt x="1232770" y="257140"/>
                </a:lnTo>
                <a:lnTo>
                  <a:pt x="1288805" y="128570"/>
                </a:lnTo>
                <a:lnTo>
                  <a:pt x="1344840" y="0"/>
                </a:lnTo>
                <a:lnTo>
                  <a:pt x="1400875" y="119386"/>
                </a:lnTo>
                <a:lnTo>
                  <a:pt x="1456910" y="247956"/>
                </a:lnTo>
                <a:lnTo>
                  <a:pt x="1512945" y="376527"/>
                </a:lnTo>
                <a:lnTo>
                  <a:pt x="1568980" y="505097"/>
                </a:lnTo>
                <a:lnTo>
                  <a:pt x="1625015" y="633667"/>
                </a:lnTo>
                <a:lnTo>
                  <a:pt x="1681050" y="762237"/>
                </a:lnTo>
                <a:lnTo>
                  <a:pt x="1737085" y="890807"/>
                </a:lnTo>
                <a:lnTo>
                  <a:pt x="1793120" y="1019377"/>
                </a:lnTo>
                <a:lnTo>
                  <a:pt x="1849155" y="1147947"/>
                </a:lnTo>
                <a:lnTo>
                  <a:pt x="1905190" y="1276517"/>
                </a:lnTo>
                <a:lnTo>
                  <a:pt x="1961225" y="1405087"/>
                </a:lnTo>
                <a:lnTo>
                  <a:pt x="2017260" y="1533657"/>
                </a:lnTo>
                <a:lnTo>
                  <a:pt x="2073295" y="1662227"/>
                </a:lnTo>
                <a:lnTo>
                  <a:pt x="2129330" y="1790797"/>
                </a:lnTo>
                <a:lnTo>
                  <a:pt x="2185365" y="1919368"/>
                </a:lnTo>
                <a:lnTo>
                  <a:pt x="2241400" y="2047938"/>
                </a:lnTo>
                <a:lnTo>
                  <a:pt x="2297435" y="2176508"/>
                </a:lnTo>
                <a:lnTo>
                  <a:pt x="2353470" y="2305078"/>
                </a:lnTo>
                <a:lnTo>
                  <a:pt x="2409505" y="2433648"/>
                </a:lnTo>
                <a:lnTo>
                  <a:pt x="2465540" y="2562218"/>
                </a:lnTo>
                <a:lnTo>
                  <a:pt x="2521575" y="2690788"/>
                </a:lnTo>
                <a:lnTo>
                  <a:pt x="2577610" y="2819358"/>
                </a:lnTo>
                <a:lnTo>
                  <a:pt x="2633645" y="2947928"/>
                </a:lnTo>
                <a:lnTo>
                  <a:pt x="2689680" y="3076498"/>
                </a:lnTo>
                <a:lnTo>
                  <a:pt x="2745715" y="3094866"/>
                </a:lnTo>
                <a:lnTo>
                  <a:pt x="2801750" y="3094866"/>
                </a:lnTo>
                <a:lnTo>
                  <a:pt x="2857785" y="3094866"/>
                </a:lnTo>
                <a:lnTo>
                  <a:pt x="2913820" y="3094866"/>
                </a:lnTo>
                <a:lnTo>
                  <a:pt x="2969855" y="3094866"/>
                </a:lnTo>
                <a:lnTo>
                  <a:pt x="3025890" y="3094866"/>
                </a:lnTo>
                <a:lnTo>
                  <a:pt x="3081925" y="3094866"/>
                </a:lnTo>
                <a:lnTo>
                  <a:pt x="3137960" y="3094866"/>
                </a:lnTo>
                <a:lnTo>
                  <a:pt x="3193995" y="3094866"/>
                </a:lnTo>
                <a:lnTo>
                  <a:pt x="3250031" y="3094866"/>
                </a:lnTo>
                <a:lnTo>
                  <a:pt x="3306066" y="3094866"/>
                </a:lnTo>
                <a:lnTo>
                  <a:pt x="3362101" y="3094866"/>
                </a:lnTo>
                <a:lnTo>
                  <a:pt x="3418136" y="3094866"/>
                </a:lnTo>
                <a:lnTo>
                  <a:pt x="3474171" y="3094866"/>
                </a:lnTo>
                <a:lnTo>
                  <a:pt x="3530206" y="3094866"/>
                </a:lnTo>
                <a:lnTo>
                  <a:pt x="3586241" y="3094866"/>
                </a:lnTo>
                <a:lnTo>
                  <a:pt x="3642276" y="3094866"/>
                </a:lnTo>
                <a:lnTo>
                  <a:pt x="3698311" y="3094866"/>
                </a:lnTo>
                <a:lnTo>
                  <a:pt x="3754346" y="3094866"/>
                </a:lnTo>
                <a:lnTo>
                  <a:pt x="3810381" y="3094866"/>
                </a:lnTo>
                <a:lnTo>
                  <a:pt x="3866416" y="3094866"/>
                </a:lnTo>
                <a:lnTo>
                  <a:pt x="3922451" y="3094866"/>
                </a:lnTo>
                <a:lnTo>
                  <a:pt x="3978486" y="3094866"/>
                </a:lnTo>
                <a:lnTo>
                  <a:pt x="4034521" y="3094866"/>
                </a:lnTo>
                <a:lnTo>
                  <a:pt x="4090556" y="3094866"/>
                </a:lnTo>
                <a:lnTo>
                  <a:pt x="4146591" y="3094866"/>
                </a:lnTo>
                <a:lnTo>
                  <a:pt x="4202626" y="3094866"/>
                </a:lnTo>
                <a:lnTo>
                  <a:pt x="4258661" y="3094866"/>
                </a:lnTo>
                <a:lnTo>
                  <a:pt x="4314696" y="3094866"/>
                </a:lnTo>
                <a:lnTo>
                  <a:pt x="4370731" y="3094866"/>
                </a:lnTo>
                <a:lnTo>
                  <a:pt x="4426766" y="3094866"/>
                </a:lnTo>
                <a:lnTo>
                  <a:pt x="4482801" y="3094866"/>
                </a:lnTo>
                <a:lnTo>
                  <a:pt x="4538836" y="3094866"/>
                </a:lnTo>
                <a:lnTo>
                  <a:pt x="4594871" y="3094866"/>
                </a:lnTo>
                <a:lnTo>
                  <a:pt x="4650906" y="3094866"/>
                </a:lnTo>
                <a:lnTo>
                  <a:pt x="4706941" y="3094866"/>
                </a:lnTo>
                <a:lnTo>
                  <a:pt x="4762976" y="3094866"/>
                </a:lnTo>
                <a:lnTo>
                  <a:pt x="4819011" y="3094866"/>
                </a:lnTo>
                <a:lnTo>
                  <a:pt x="4875046" y="3094866"/>
                </a:lnTo>
                <a:lnTo>
                  <a:pt x="4931081" y="3094866"/>
                </a:lnTo>
                <a:lnTo>
                  <a:pt x="4987116" y="3094866"/>
                </a:lnTo>
                <a:lnTo>
                  <a:pt x="5043151" y="3094866"/>
                </a:lnTo>
                <a:lnTo>
                  <a:pt x="5099186" y="3094866"/>
                </a:lnTo>
                <a:lnTo>
                  <a:pt x="5155221" y="3094866"/>
                </a:lnTo>
                <a:lnTo>
                  <a:pt x="5211256" y="3094866"/>
                </a:lnTo>
                <a:lnTo>
                  <a:pt x="5267291" y="3094866"/>
                </a:lnTo>
                <a:lnTo>
                  <a:pt x="5323326" y="3094866"/>
                </a:lnTo>
                <a:lnTo>
                  <a:pt x="5379361" y="3094866"/>
                </a:lnTo>
                <a:lnTo>
                  <a:pt x="5435396" y="3094866"/>
                </a:lnTo>
                <a:lnTo>
                  <a:pt x="5491431" y="3094866"/>
                </a:lnTo>
                <a:lnTo>
                  <a:pt x="5547466" y="3094866"/>
                </a:lnTo>
                <a:lnTo>
                  <a:pt x="5603501" y="3094866"/>
                </a:lnTo>
                <a:lnTo>
                  <a:pt x="5659536" y="3094866"/>
                </a:lnTo>
                <a:lnTo>
                  <a:pt x="5715571" y="3094866"/>
                </a:lnTo>
                <a:lnTo>
                  <a:pt x="5771606" y="3094866"/>
                </a:lnTo>
                <a:lnTo>
                  <a:pt x="5827641" y="3094866"/>
                </a:lnTo>
                <a:lnTo>
                  <a:pt x="5883676" y="3094866"/>
                </a:lnTo>
                <a:lnTo>
                  <a:pt x="5939711" y="3094866"/>
                </a:lnTo>
                <a:lnTo>
                  <a:pt x="5995746" y="3094866"/>
                </a:lnTo>
                <a:lnTo>
                  <a:pt x="6051781" y="3094866"/>
                </a:lnTo>
                <a:lnTo>
                  <a:pt x="6107816" y="3094866"/>
                </a:lnTo>
                <a:lnTo>
                  <a:pt x="6163851" y="3094866"/>
                </a:lnTo>
                <a:lnTo>
                  <a:pt x="6219886" y="3094866"/>
                </a:lnTo>
                <a:lnTo>
                  <a:pt x="6275921" y="3094866"/>
                </a:lnTo>
                <a:lnTo>
                  <a:pt x="6331956" y="3094866"/>
                </a:lnTo>
                <a:lnTo>
                  <a:pt x="6387991" y="3094866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3-E26 line 30" descr="sci-ppt:o030"/>
          <p:cNvCxnSpPr/>
          <p:nvPr/>
        </p:nvCxnSpPr>
        <p:spPr>
          <a:xfrm>
            <a:off x="914400" y="1836751"/>
            <a:ext cx="6400800" cy="0"/>
          </a:xfrm>
          <a:prstGeom prst="line">
            <a:avLst/>
          </a:prstGeom>
          <a:ln w="15240">
            <a:solidFill>
              <a:srgbClr val="F2B880"/>
            </a:solidFill>
            <a:prstDash val="dash"/>
          </a:ln>
          <a:effectLst/>
        </p:spPr>
      </p:cxnSp>
      <p:sp>
        <p:nvSpPr>
          <p:cNvPr id="33" name="C3-E26 polygon 31" descr="sci-ppt:o031"/>
          <p:cNvSpPr/>
          <p:nvPr/>
        </p:nvSpPr>
        <p:spPr>
          <a:xfrm>
            <a:off x="914400" y="3889094"/>
            <a:ext cx="6387991" cy="1048666"/>
          </a:xfrm>
          <a:custGeom>
            <a:avLst/>
            <a:gdLst/>
            <a:ahLst/>
            <a:cxnLst/>
            <a:rect l="l" t="t" r="r" b="b"/>
            <a:pathLst>
              <a:path w="6387991" h="1048666">
                <a:moveTo>
                  <a:pt x="0" y="1045563"/>
                </a:moveTo>
                <a:lnTo>
                  <a:pt x="56035" y="1002127"/>
                </a:lnTo>
                <a:lnTo>
                  <a:pt x="112070" y="958691"/>
                </a:lnTo>
                <a:lnTo>
                  <a:pt x="168105" y="915255"/>
                </a:lnTo>
                <a:lnTo>
                  <a:pt x="224140" y="871820"/>
                </a:lnTo>
                <a:lnTo>
                  <a:pt x="280175" y="828384"/>
                </a:lnTo>
                <a:lnTo>
                  <a:pt x="336210" y="784948"/>
                </a:lnTo>
                <a:lnTo>
                  <a:pt x="392245" y="741512"/>
                </a:lnTo>
                <a:lnTo>
                  <a:pt x="448280" y="698076"/>
                </a:lnTo>
                <a:lnTo>
                  <a:pt x="504315" y="654640"/>
                </a:lnTo>
                <a:lnTo>
                  <a:pt x="560350" y="611205"/>
                </a:lnTo>
                <a:lnTo>
                  <a:pt x="616385" y="567769"/>
                </a:lnTo>
                <a:lnTo>
                  <a:pt x="672420" y="524333"/>
                </a:lnTo>
                <a:lnTo>
                  <a:pt x="728455" y="480897"/>
                </a:lnTo>
                <a:lnTo>
                  <a:pt x="784490" y="437461"/>
                </a:lnTo>
                <a:lnTo>
                  <a:pt x="840525" y="394025"/>
                </a:lnTo>
                <a:lnTo>
                  <a:pt x="896560" y="350590"/>
                </a:lnTo>
                <a:lnTo>
                  <a:pt x="952595" y="307154"/>
                </a:lnTo>
                <a:lnTo>
                  <a:pt x="1008630" y="263718"/>
                </a:lnTo>
                <a:lnTo>
                  <a:pt x="1064665" y="220282"/>
                </a:lnTo>
                <a:lnTo>
                  <a:pt x="1120700" y="176846"/>
                </a:lnTo>
                <a:lnTo>
                  <a:pt x="1176735" y="133410"/>
                </a:lnTo>
                <a:lnTo>
                  <a:pt x="1232770" y="89974"/>
                </a:lnTo>
                <a:lnTo>
                  <a:pt x="1288805" y="46539"/>
                </a:lnTo>
                <a:lnTo>
                  <a:pt x="1344840" y="3103"/>
                </a:lnTo>
                <a:lnTo>
                  <a:pt x="1400875" y="0"/>
                </a:lnTo>
                <a:lnTo>
                  <a:pt x="1456910" y="0"/>
                </a:lnTo>
                <a:lnTo>
                  <a:pt x="1512945" y="0"/>
                </a:lnTo>
                <a:lnTo>
                  <a:pt x="1568980" y="0"/>
                </a:lnTo>
                <a:lnTo>
                  <a:pt x="1625015" y="0"/>
                </a:lnTo>
                <a:lnTo>
                  <a:pt x="1681050" y="0"/>
                </a:lnTo>
                <a:lnTo>
                  <a:pt x="1737085" y="0"/>
                </a:lnTo>
                <a:lnTo>
                  <a:pt x="1793120" y="0"/>
                </a:lnTo>
                <a:lnTo>
                  <a:pt x="1849155" y="0"/>
                </a:lnTo>
                <a:lnTo>
                  <a:pt x="1905190" y="0"/>
                </a:lnTo>
                <a:lnTo>
                  <a:pt x="1961225" y="0"/>
                </a:lnTo>
                <a:lnTo>
                  <a:pt x="2017260" y="0"/>
                </a:lnTo>
                <a:lnTo>
                  <a:pt x="2073295" y="0"/>
                </a:lnTo>
                <a:lnTo>
                  <a:pt x="2129330" y="0"/>
                </a:lnTo>
                <a:lnTo>
                  <a:pt x="2185365" y="0"/>
                </a:lnTo>
                <a:lnTo>
                  <a:pt x="2241400" y="0"/>
                </a:lnTo>
                <a:lnTo>
                  <a:pt x="2297435" y="0"/>
                </a:lnTo>
                <a:lnTo>
                  <a:pt x="2353470" y="0"/>
                </a:lnTo>
                <a:lnTo>
                  <a:pt x="2409505" y="0"/>
                </a:lnTo>
                <a:lnTo>
                  <a:pt x="2465540" y="0"/>
                </a:lnTo>
                <a:lnTo>
                  <a:pt x="2521575" y="0"/>
                </a:lnTo>
                <a:lnTo>
                  <a:pt x="2577610" y="0"/>
                </a:lnTo>
                <a:lnTo>
                  <a:pt x="2633645" y="0"/>
                </a:lnTo>
                <a:lnTo>
                  <a:pt x="2689680" y="0"/>
                </a:lnTo>
                <a:lnTo>
                  <a:pt x="2745715" y="0"/>
                </a:lnTo>
                <a:lnTo>
                  <a:pt x="2801750" y="0"/>
                </a:lnTo>
                <a:lnTo>
                  <a:pt x="2857785" y="0"/>
                </a:lnTo>
                <a:lnTo>
                  <a:pt x="2913820" y="0"/>
                </a:lnTo>
                <a:lnTo>
                  <a:pt x="2969855" y="0"/>
                </a:lnTo>
                <a:lnTo>
                  <a:pt x="3025890" y="0"/>
                </a:lnTo>
                <a:lnTo>
                  <a:pt x="3081925" y="0"/>
                </a:lnTo>
                <a:lnTo>
                  <a:pt x="3137960" y="0"/>
                </a:lnTo>
                <a:lnTo>
                  <a:pt x="3193995" y="0"/>
                </a:lnTo>
                <a:lnTo>
                  <a:pt x="3250031" y="0"/>
                </a:lnTo>
                <a:lnTo>
                  <a:pt x="3306066" y="0"/>
                </a:lnTo>
                <a:lnTo>
                  <a:pt x="3362101" y="0"/>
                </a:lnTo>
                <a:lnTo>
                  <a:pt x="3418136" y="0"/>
                </a:lnTo>
                <a:lnTo>
                  <a:pt x="3474171" y="0"/>
                </a:lnTo>
                <a:lnTo>
                  <a:pt x="3530206" y="0"/>
                </a:lnTo>
                <a:lnTo>
                  <a:pt x="3586241" y="0"/>
                </a:lnTo>
                <a:lnTo>
                  <a:pt x="3642276" y="0"/>
                </a:lnTo>
                <a:lnTo>
                  <a:pt x="3698311" y="0"/>
                </a:lnTo>
                <a:lnTo>
                  <a:pt x="3754346" y="0"/>
                </a:lnTo>
                <a:lnTo>
                  <a:pt x="3810381" y="0"/>
                </a:lnTo>
                <a:lnTo>
                  <a:pt x="3866416" y="0"/>
                </a:lnTo>
                <a:lnTo>
                  <a:pt x="3922451" y="0"/>
                </a:lnTo>
                <a:lnTo>
                  <a:pt x="3978486" y="0"/>
                </a:lnTo>
                <a:lnTo>
                  <a:pt x="4034521" y="31026"/>
                </a:lnTo>
                <a:lnTo>
                  <a:pt x="4090556" y="74462"/>
                </a:lnTo>
                <a:lnTo>
                  <a:pt x="4146591" y="117898"/>
                </a:lnTo>
                <a:lnTo>
                  <a:pt x="4202626" y="161333"/>
                </a:lnTo>
                <a:lnTo>
                  <a:pt x="4258661" y="204769"/>
                </a:lnTo>
                <a:lnTo>
                  <a:pt x="4314696" y="248205"/>
                </a:lnTo>
                <a:lnTo>
                  <a:pt x="4370731" y="291641"/>
                </a:lnTo>
                <a:lnTo>
                  <a:pt x="4426766" y="335077"/>
                </a:lnTo>
                <a:lnTo>
                  <a:pt x="4482801" y="378513"/>
                </a:lnTo>
                <a:lnTo>
                  <a:pt x="4538836" y="421948"/>
                </a:lnTo>
                <a:lnTo>
                  <a:pt x="4594871" y="465384"/>
                </a:lnTo>
                <a:lnTo>
                  <a:pt x="4650906" y="508820"/>
                </a:lnTo>
                <a:lnTo>
                  <a:pt x="4706941" y="552256"/>
                </a:lnTo>
                <a:lnTo>
                  <a:pt x="4762976" y="595692"/>
                </a:lnTo>
                <a:lnTo>
                  <a:pt x="4819011" y="639128"/>
                </a:lnTo>
                <a:lnTo>
                  <a:pt x="4875046" y="682563"/>
                </a:lnTo>
                <a:lnTo>
                  <a:pt x="4931081" y="725999"/>
                </a:lnTo>
                <a:lnTo>
                  <a:pt x="4987116" y="769435"/>
                </a:lnTo>
                <a:lnTo>
                  <a:pt x="5043151" y="812871"/>
                </a:lnTo>
                <a:lnTo>
                  <a:pt x="5099186" y="856307"/>
                </a:lnTo>
                <a:lnTo>
                  <a:pt x="5155221" y="899743"/>
                </a:lnTo>
                <a:lnTo>
                  <a:pt x="5211256" y="943178"/>
                </a:lnTo>
                <a:lnTo>
                  <a:pt x="5267291" y="986614"/>
                </a:lnTo>
                <a:lnTo>
                  <a:pt x="5323326" y="1030050"/>
                </a:lnTo>
                <a:lnTo>
                  <a:pt x="5379361" y="1048666"/>
                </a:lnTo>
                <a:lnTo>
                  <a:pt x="5435396" y="1048666"/>
                </a:lnTo>
                <a:lnTo>
                  <a:pt x="5491431" y="1048666"/>
                </a:lnTo>
                <a:lnTo>
                  <a:pt x="5547466" y="1048666"/>
                </a:lnTo>
                <a:lnTo>
                  <a:pt x="5603501" y="1048666"/>
                </a:lnTo>
                <a:lnTo>
                  <a:pt x="5659536" y="1048666"/>
                </a:lnTo>
                <a:lnTo>
                  <a:pt x="5715571" y="1048666"/>
                </a:lnTo>
                <a:lnTo>
                  <a:pt x="5771606" y="1048666"/>
                </a:lnTo>
                <a:lnTo>
                  <a:pt x="5827641" y="1048666"/>
                </a:lnTo>
                <a:lnTo>
                  <a:pt x="5883676" y="1048666"/>
                </a:lnTo>
                <a:lnTo>
                  <a:pt x="5939711" y="1048666"/>
                </a:lnTo>
                <a:lnTo>
                  <a:pt x="5995746" y="1048666"/>
                </a:lnTo>
                <a:lnTo>
                  <a:pt x="6051781" y="1048666"/>
                </a:lnTo>
                <a:lnTo>
                  <a:pt x="6107816" y="1048666"/>
                </a:lnTo>
                <a:lnTo>
                  <a:pt x="6163851" y="1048666"/>
                </a:lnTo>
                <a:lnTo>
                  <a:pt x="6219886" y="1048666"/>
                </a:lnTo>
                <a:lnTo>
                  <a:pt x="6275921" y="1048666"/>
                </a:lnTo>
                <a:lnTo>
                  <a:pt x="6331956" y="1048666"/>
                </a:lnTo>
                <a:lnTo>
                  <a:pt x="6387991" y="1048666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3-E26 line 32" descr="sci-ppt:o032"/>
          <p:cNvCxnSpPr/>
          <p:nvPr/>
        </p:nvCxnSpPr>
        <p:spPr>
          <a:xfrm>
            <a:off x="914400" y="3890121"/>
            <a:ext cx="6400800" cy="0"/>
          </a:xfrm>
          <a:prstGeom prst="line">
            <a:avLst/>
          </a:prstGeom>
          <a:ln w="15240">
            <a:solidFill>
              <a:srgbClr val="F28BA0"/>
            </a:solidFill>
            <a:prstDash val="dash"/>
          </a:ln>
          <a:effectLst/>
        </p:spPr>
      </p:cxnSp>
      <p:sp>
        <p:nvSpPr>
          <p:cNvPr id="35" name="C3-E26 text 33" descr="sci-ppt:o033"/>
          <p:cNvSpPr txBox="1"/>
          <p:nvPr/>
        </p:nvSpPr>
        <p:spPr>
          <a:xfrm>
            <a:off x="5188077" y="2146852"/>
            <a:ext cx="201168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dashed grey: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the underlying pulse</a:t>
            </a:r>
          </a:p>
        </p:txBody>
      </p:sp>
      <p:sp>
        <p:nvSpPr>
          <p:cNvPr id="36" name="C3-E26 text 34" descr="sci-ppt:o034"/>
          <p:cNvSpPr txBox="1"/>
          <p:nvPr/>
        </p:nvSpPr>
        <p:spPr>
          <a:xfrm>
            <a:off x="2907792" y="2365513"/>
            <a:ext cx="14630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τₒ = 10 ns</a:t>
            </a:r>
          </a:p>
        </p:txBody>
      </p:sp>
      <p:sp>
        <p:nvSpPr>
          <p:cNvPr id="37" name="C3-E26 text 35" descr="sci-ppt:o035"/>
          <p:cNvSpPr txBox="1"/>
          <p:nvPr/>
        </p:nvSpPr>
        <p:spPr>
          <a:xfrm>
            <a:off x="4107941" y="3109755"/>
            <a:ext cx="25603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τₒ = 33.8 ns: bound = 1</a:t>
            </a:r>
          </a:p>
        </p:txBody>
      </p:sp>
      <p:sp>
        <p:nvSpPr>
          <p:cNvPr id="38" name="C3-E26 text 36" descr="sci-ppt:o036"/>
          <p:cNvSpPr txBox="1"/>
          <p:nvPr/>
        </p:nvSpPr>
        <p:spPr>
          <a:xfrm>
            <a:off x="3387852" y="4474198"/>
            <a:ext cx="25603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τₒ = 100 ns: bound = 0.34</a:t>
            </a:r>
          </a:p>
        </p:txBody>
      </p:sp>
      <p:sp>
        <p:nvSpPr>
          <p:cNvPr id="39" name="C3-E26 round_rect 37" descr="sci-ppt:o037"/>
          <p:cNvSpPr/>
          <p:nvPr/>
        </p:nvSpPr>
        <p:spPr>
          <a:xfrm>
            <a:off x="7589520" y="1371600"/>
            <a:ext cx="4251960" cy="35661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3-E26 text 38" descr="sci-ppt:o038"/>
          <p:cNvSpPr txBox="1"/>
          <p:nvPr/>
        </p:nvSpPr>
        <p:spPr>
          <a:xfrm>
            <a:off x="7699248" y="1426464"/>
            <a:ext cx="403250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A maximum needs an observer</a:t>
            </a:r>
          </a:p>
        </p:txBody>
      </p:sp>
      <p:sp>
        <p:nvSpPr>
          <p:cNvPr id="41" name="C3-E26 text 39" descr="sci-ppt:o039"/>
          <p:cNvSpPr txBox="1"/>
          <p:nvPr/>
        </p:nvSpPr>
        <p:spPr>
          <a:xfrm>
            <a:off x="7726679" y="1828800"/>
            <a:ext cx="4023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p_obs(t) = (1/A_oτₒ) ∫∫ (p − p_ref) dA dξ</a:t>
            </a:r>
          </a:p>
        </p:txBody>
      </p:sp>
      <p:sp>
        <p:nvSpPr>
          <p:cNvPr id="42" name="C3-E26 text 40" descr="sci-ppt:o040"/>
          <p:cNvSpPr txBox="1"/>
          <p:nvPr/>
        </p:nvSpPr>
        <p:spPr>
          <a:xfrm>
            <a:off x="7726679" y="2377440"/>
            <a:ext cx="4023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0 ≤ p_obs ≤ J_rec / (Aₒ τₒ)</a:t>
            </a:r>
          </a:p>
        </p:txBody>
      </p:sp>
      <p:sp>
        <p:nvSpPr>
          <p:cNvPr id="43" name="C3-E26 text 41" descr="sci-ppt:o041"/>
          <p:cNvSpPr txBox="1"/>
          <p:nvPr/>
        </p:nvSpPr>
        <p:spPr>
          <a:xfrm>
            <a:off x="7726679" y="2926080"/>
            <a:ext cx="4023360" cy="5802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valid for nonnegative excess pressure, negligible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normal viscous stress and the full-event footprint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impulse J_rec</a:t>
            </a:r>
          </a:p>
        </p:txBody>
      </p:sp>
      <p:sp>
        <p:nvSpPr>
          <p:cNvPr id="44" name="C3-E26 text 42" descr="sci-ppt:o042"/>
          <p:cNvSpPr txBox="1"/>
          <p:nvPr/>
        </p:nvSpPr>
        <p:spPr>
          <a:xfrm>
            <a:off x="7726679" y="4023360"/>
            <a:ext cx="40233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Same pulse, three observers: the reported peak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changes by a factor 3 with the window alone.</a:t>
            </a:r>
          </a:p>
        </p:txBody>
      </p:sp>
      <p:sp>
        <p:nvSpPr>
          <p:cNvPr id="45" name="C3-E26 text 43" descr="sci-ppt:o043"/>
          <p:cNvSpPr txBox="1"/>
          <p:nvPr/>
        </p:nvSpPr>
        <p:spPr>
          <a:xfrm>
            <a:off x="914400" y="5486400"/>
            <a:ext cx="109728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Dashed horizontal lines are the bound J_rec/(A_oτₒ) for each window (the 10 ns bound lies above the plot). Quote location, footprint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and window with any value.</a:t>
            </a:r>
          </a:p>
        </p:txBody>
      </p:sp>
      <p:sp>
        <p:nvSpPr>
          <p:cNvPr id="46" name="C3-E26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Observer and bound of Eq. C3-E26 for the declared rectangular pulse.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