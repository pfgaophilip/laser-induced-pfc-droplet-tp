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24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C3-E24 · Linear transient wave equations and impact matching</a:t>
            </a:r>
          </a:p>
        </p:txBody>
      </p:sp>
      <p:cxnSp>
        <p:nvCxnSpPr>
          <p:cNvPr id="3" name="C3-E24 line 1" descr="sci-ppt:o001"/>
          <p:cNvCxnSpPr/>
          <p:nvPr/>
        </p:nvCxnSpPr>
        <p:spPr>
          <a:xfrm>
            <a:off x="914400" y="5029200"/>
            <a:ext cx="603504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3-E24 line 2" descr="sci-ppt:o002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3-E24 line 3" descr="sci-ppt:o003"/>
          <p:cNvCxnSpPr/>
          <p:nvPr/>
        </p:nvCxnSpPr>
        <p:spPr>
          <a:xfrm>
            <a:off x="9144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3-E24 line 4" descr="sci-ppt:o004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3-E24 text 5" descr="sci-ppt:o005"/>
          <p:cNvSpPr txBox="1"/>
          <p:nvPr/>
        </p:nvSpPr>
        <p:spPr>
          <a:xfrm>
            <a:off x="4572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0.01</a:t>
            </a:r>
          </a:p>
        </p:txBody>
      </p:sp>
      <p:cxnSp>
        <p:nvCxnSpPr>
          <p:cNvPr id="8" name="C3-E24 line 6" descr="sci-ppt:o006"/>
          <p:cNvCxnSpPr/>
          <p:nvPr/>
        </p:nvCxnSpPr>
        <p:spPr>
          <a:xfrm>
            <a:off x="242316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3-E24 line 7" descr="sci-ppt:o007"/>
          <p:cNvCxnSpPr/>
          <p:nvPr/>
        </p:nvCxnSpPr>
        <p:spPr>
          <a:xfrm>
            <a:off x="242316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3-E24 text 8" descr="sci-ppt:o008"/>
          <p:cNvSpPr txBox="1"/>
          <p:nvPr/>
        </p:nvSpPr>
        <p:spPr>
          <a:xfrm>
            <a:off x="196596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0.1</a:t>
            </a:r>
          </a:p>
        </p:txBody>
      </p:sp>
      <p:cxnSp>
        <p:nvCxnSpPr>
          <p:cNvPr id="11" name="C3-E24 line 9" descr="sci-ppt:o009"/>
          <p:cNvCxnSpPr/>
          <p:nvPr/>
        </p:nvCxnSpPr>
        <p:spPr>
          <a:xfrm>
            <a:off x="393192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3-E24 line 10" descr="sci-ppt:o010"/>
          <p:cNvCxnSpPr/>
          <p:nvPr/>
        </p:nvCxnSpPr>
        <p:spPr>
          <a:xfrm>
            <a:off x="393192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3-E24 text 11" descr="sci-ppt:o011"/>
          <p:cNvSpPr txBox="1"/>
          <p:nvPr/>
        </p:nvSpPr>
        <p:spPr>
          <a:xfrm>
            <a:off x="347472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14" name="C3-E24 line 12" descr="sci-ppt:o012"/>
          <p:cNvCxnSpPr/>
          <p:nvPr/>
        </p:nvCxnSpPr>
        <p:spPr>
          <a:xfrm>
            <a:off x="5440679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3-E24 line 13" descr="sci-ppt:o013"/>
          <p:cNvCxnSpPr/>
          <p:nvPr/>
        </p:nvCxnSpPr>
        <p:spPr>
          <a:xfrm>
            <a:off x="5440679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3-E24 text 14" descr="sci-ppt:o014"/>
          <p:cNvSpPr txBox="1"/>
          <p:nvPr/>
        </p:nvSpPr>
        <p:spPr>
          <a:xfrm>
            <a:off x="4983479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</a:t>
            </a:r>
          </a:p>
        </p:txBody>
      </p:sp>
      <p:cxnSp>
        <p:nvCxnSpPr>
          <p:cNvPr id="17" name="C3-E24 line 15" descr="sci-ppt:o015"/>
          <p:cNvCxnSpPr/>
          <p:nvPr/>
        </p:nvCxnSpPr>
        <p:spPr>
          <a:xfrm>
            <a:off x="694944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3-E24 line 16" descr="sci-ppt:o016"/>
          <p:cNvCxnSpPr/>
          <p:nvPr/>
        </p:nvCxnSpPr>
        <p:spPr>
          <a:xfrm>
            <a:off x="694944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3-E24 text 17" descr="sci-ppt:o017"/>
          <p:cNvSpPr txBox="1"/>
          <p:nvPr/>
        </p:nvSpPr>
        <p:spPr>
          <a:xfrm>
            <a:off x="649224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100</a:t>
            </a:r>
          </a:p>
        </p:txBody>
      </p:sp>
      <p:cxnSp>
        <p:nvCxnSpPr>
          <p:cNvPr id="20" name="C3-E24 line 18" descr="sci-ppt:o018"/>
          <p:cNvCxnSpPr/>
          <p:nvPr/>
        </p:nvCxnSpPr>
        <p:spPr>
          <a:xfrm>
            <a:off x="850392" y="5029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3-E24 line 19" descr="sci-ppt:o019"/>
          <p:cNvCxnSpPr/>
          <p:nvPr/>
        </p:nvCxnSpPr>
        <p:spPr>
          <a:xfrm>
            <a:off x="850392" y="4158342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3-E24 line 20" descr="sci-ppt:o020"/>
          <p:cNvCxnSpPr/>
          <p:nvPr/>
        </p:nvCxnSpPr>
        <p:spPr>
          <a:xfrm>
            <a:off x="914400" y="4158342"/>
            <a:ext cx="60350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3-E24 text 21" descr="sci-ppt:o021"/>
          <p:cNvSpPr txBox="1"/>
          <p:nvPr/>
        </p:nvSpPr>
        <p:spPr>
          <a:xfrm>
            <a:off x="45720" y="4076046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0.25</a:t>
            </a:r>
          </a:p>
        </p:txBody>
      </p:sp>
      <p:cxnSp>
        <p:nvCxnSpPr>
          <p:cNvPr id="24" name="C3-E24 line 22" descr="sci-ppt:o022"/>
          <p:cNvCxnSpPr/>
          <p:nvPr/>
        </p:nvCxnSpPr>
        <p:spPr>
          <a:xfrm>
            <a:off x="850392" y="3287485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3-E24 line 23" descr="sci-ppt:o023"/>
          <p:cNvCxnSpPr/>
          <p:nvPr/>
        </p:nvCxnSpPr>
        <p:spPr>
          <a:xfrm>
            <a:off x="914400" y="3287485"/>
            <a:ext cx="60350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3-E24 text 24" descr="sci-ppt:o024"/>
          <p:cNvSpPr txBox="1"/>
          <p:nvPr/>
        </p:nvSpPr>
        <p:spPr>
          <a:xfrm>
            <a:off x="45720" y="3205189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0.50</a:t>
            </a:r>
          </a:p>
        </p:txBody>
      </p:sp>
      <p:cxnSp>
        <p:nvCxnSpPr>
          <p:cNvPr id="27" name="C3-E24 line 25" descr="sci-ppt:o025"/>
          <p:cNvCxnSpPr/>
          <p:nvPr/>
        </p:nvCxnSpPr>
        <p:spPr>
          <a:xfrm>
            <a:off x="850392" y="2416628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3-E24 line 26" descr="sci-ppt:o026"/>
          <p:cNvCxnSpPr/>
          <p:nvPr/>
        </p:nvCxnSpPr>
        <p:spPr>
          <a:xfrm>
            <a:off x="914400" y="2416628"/>
            <a:ext cx="60350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3-E24 text 27" descr="sci-ppt:o027"/>
          <p:cNvSpPr txBox="1"/>
          <p:nvPr/>
        </p:nvSpPr>
        <p:spPr>
          <a:xfrm>
            <a:off x="45720" y="2334332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0.75</a:t>
            </a:r>
          </a:p>
        </p:txBody>
      </p:sp>
      <p:cxnSp>
        <p:nvCxnSpPr>
          <p:cNvPr id="30" name="C3-E24 line 28" descr="sci-ppt:o028"/>
          <p:cNvCxnSpPr/>
          <p:nvPr/>
        </p:nvCxnSpPr>
        <p:spPr>
          <a:xfrm>
            <a:off x="850392" y="1545771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C3-E24 line 29" descr="sci-ppt:o029"/>
          <p:cNvCxnSpPr/>
          <p:nvPr/>
        </p:nvCxnSpPr>
        <p:spPr>
          <a:xfrm>
            <a:off x="914400" y="1545771"/>
            <a:ext cx="60350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2" name="C3-E24 text 30" descr="sci-ppt:o030"/>
          <p:cNvSpPr txBox="1"/>
          <p:nvPr/>
        </p:nvSpPr>
        <p:spPr>
          <a:xfrm>
            <a:off x="45720" y="1463475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1.00</a:t>
            </a:r>
          </a:p>
        </p:txBody>
      </p:sp>
      <p:sp>
        <p:nvSpPr>
          <p:cNvPr id="33" name="C3-E24 text 31" descr="sci-ppt:o031"/>
          <p:cNvSpPr txBox="1"/>
          <p:nvPr/>
        </p:nvSpPr>
        <p:spPr>
          <a:xfrm>
            <a:off x="914400" y="5312664"/>
            <a:ext cx="60350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receiver impedance ratio Zᵣ / Zₗ</a:t>
            </a:r>
          </a:p>
        </p:txBody>
      </p:sp>
      <p:sp>
        <p:nvSpPr>
          <p:cNvPr id="34" name="C3-E24 text 32" descr="sci-ppt:o032"/>
          <p:cNvSpPr txBox="1"/>
          <p:nvPr/>
        </p:nvSpPr>
        <p:spPr>
          <a:xfrm>
            <a:off x="365760" y="1024128"/>
            <a:ext cx="60350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fraction of ρ c Uⱼ  or  of Uⱼ</a:t>
            </a:r>
          </a:p>
        </p:txBody>
      </p:sp>
      <p:sp>
        <p:nvSpPr>
          <p:cNvPr id="35" name="C3-E24 polygon 33" descr="sci-ppt:o033"/>
          <p:cNvSpPr/>
          <p:nvPr/>
        </p:nvSpPr>
        <p:spPr>
          <a:xfrm>
            <a:off x="914400" y="1580260"/>
            <a:ext cx="6035040" cy="3414450"/>
          </a:xfrm>
          <a:custGeom>
            <a:avLst/>
            <a:gdLst/>
            <a:ahLst/>
            <a:cxnLst/>
            <a:rect l="l" t="t" r="r" b="b"/>
            <a:pathLst>
              <a:path w="6035040" h="3414450">
                <a:moveTo>
                  <a:pt x="0" y="3414450"/>
                </a:moveTo>
                <a:lnTo>
                  <a:pt x="30326" y="3412833"/>
                </a:lnTo>
                <a:lnTo>
                  <a:pt x="60653" y="3411141"/>
                </a:lnTo>
                <a:lnTo>
                  <a:pt x="90980" y="3409371"/>
                </a:lnTo>
                <a:lnTo>
                  <a:pt x="121307" y="3407519"/>
                </a:lnTo>
                <a:lnTo>
                  <a:pt x="151634" y="3405581"/>
                </a:lnTo>
                <a:lnTo>
                  <a:pt x="181961" y="3403554"/>
                </a:lnTo>
                <a:lnTo>
                  <a:pt x="212287" y="3401434"/>
                </a:lnTo>
                <a:lnTo>
                  <a:pt x="242614" y="3399215"/>
                </a:lnTo>
                <a:lnTo>
                  <a:pt x="272941" y="3396895"/>
                </a:lnTo>
                <a:lnTo>
                  <a:pt x="303268" y="3394468"/>
                </a:lnTo>
                <a:lnTo>
                  <a:pt x="333595" y="3391930"/>
                </a:lnTo>
                <a:lnTo>
                  <a:pt x="363922" y="3389276"/>
                </a:lnTo>
                <a:lnTo>
                  <a:pt x="394248" y="3386500"/>
                </a:lnTo>
                <a:lnTo>
                  <a:pt x="424575" y="3383598"/>
                </a:lnTo>
                <a:lnTo>
                  <a:pt x="454902" y="3380563"/>
                </a:lnTo>
                <a:lnTo>
                  <a:pt x="485229" y="3377391"/>
                </a:lnTo>
                <a:lnTo>
                  <a:pt x="515556" y="3374074"/>
                </a:lnTo>
                <a:lnTo>
                  <a:pt x="545883" y="3370608"/>
                </a:lnTo>
                <a:lnTo>
                  <a:pt x="576209" y="3366984"/>
                </a:lnTo>
                <a:lnTo>
                  <a:pt x="606536" y="3363198"/>
                </a:lnTo>
                <a:lnTo>
                  <a:pt x="636863" y="3359240"/>
                </a:lnTo>
                <a:lnTo>
                  <a:pt x="667190" y="3355106"/>
                </a:lnTo>
                <a:lnTo>
                  <a:pt x="697517" y="3350786"/>
                </a:lnTo>
                <a:lnTo>
                  <a:pt x="727844" y="3346273"/>
                </a:lnTo>
                <a:lnTo>
                  <a:pt x="758170" y="3341560"/>
                </a:lnTo>
                <a:lnTo>
                  <a:pt x="788497" y="3336637"/>
                </a:lnTo>
                <a:lnTo>
                  <a:pt x="818824" y="3331497"/>
                </a:lnTo>
                <a:lnTo>
                  <a:pt x="849151" y="3326130"/>
                </a:lnTo>
                <a:lnTo>
                  <a:pt x="879478" y="3320526"/>
                </a:lnTo>
                <a:lnTo>
                  <a:pt x="909805" y="3314678"/>
                </a:lnTo>
                <a:lnTo>
                  <a:pt x="940131" y="3308574"/>
                </a:lnTo>
                <a:lnTo>
                  <a:pt x="970458" y="3302205"/>
                </a:lnTo>
                <a:lnTo>
                  <a:pt x="1000785" y="3295560"/>
                </a:lnTo>
                <a:lnTo>
                  <a:pt x="1031112" y="3288629"/>
                </a:lnTo>
                <a:lnTo>
                  <a:pt x="1061439" y="3281400"/>
                </a:lnTo>
                <a:lnTo>
                  <a:pt x="1091766" y="3273862"/>
                </a:lnTo>
                <a:lnTo>
                  <a:pt x="1122092" y="3266004"/>
                </a:lnTo>
                <a:lnTo>
                  <a:pt x="1152419" y="3257814"/>
                </a:lnTo>
                <a:lnTo>
                  <a:pt x="1182746" y="3249279"/>
                </a:lnTo>
                <a:lnTo>
                  <a:pt x="1213073" y="3240387"/>
                </a:lnTo>
                <a:lnTo>
                  <a:pt x="1243400" y="3231126"/>
                </a:lnTo>
                <a:lnTo>
                  <a:pt x="1273727" y="3221481"/>
                </a:lnTo>
                <a:lnTo>
                  <a:pt x="1304053" y="3211441"/>
                </a:lnTo>
                <a:lnTo>
                  <a:pt x="1334380" y="3200991"/>
                </a:lnTo>
                <a:lnTo>
                  <a:pt x="1364707" y="3190119"/>
                </a:lnTo>
                <a:lnTo>
                  <a:pt x="1395034" y="3178809"/>
                </a:lnTo>
                <a:lnTo>
                  <a:pt x="1425361" y="3167048"/>
                </a:lnTo>
                <a:lnTo>
                  <a:pt x="1455688" y="3154822"/>
                </a:lnTo>
                <a:lnTo>
                  <a:pt x="1486014" y="3142116"/>
                </a:lnTo>
                <a:lnTo>
                  <a:pt x="1516341" y="3128917"/>
                </a:lnTo>
                <a:lnTo>
                  <a:pt x="1546668" y="3115210"/>
                </a:lnTo>
                <a:lnTo>
                  <a:pt x="1576995" y="3100980"/>
                </a:lnTo>
                <a:lnTo>
                  <a:pt x="1607322" y="3086213"/>
                </a:lnTo>
                <a:lnTo>
                  <a:pt x="1637649" y="3070895"/>
                </a:lnTo>
                <a:lnTo>
                  <a:pt x="1667975" y="3055012"/>
                </a:lnTo>
                <a:lnTo>
                  <a:pt x="1698302" y="3038550"/>
                </a:lnTo>
                <a:lnTo>
                  <a:pt x="1728629" y="3021495"/>
                </a:lnTo>
                <a:lnTo>
                  <a:pt x="1758956" y="3003834"/>
                </a:lnTo>
                <a:lnTo>
                  <a:pt x="1789283" y="2985554"/>
                </a:lnTo>
                <a:lnTo>
                  <a:pt x="1819610" y="2966642"/>
                </a:lnTo>
                <a:lnTo>
                  <a:pt x="1849936" y="2947087"/>
                </a:lnTo>
                <a:lnTo>
                  <a:pt x="1880263" y="2926876"/>
                </a:lnTo>
                <a:lnTo>
                  <a:pt x="1910590" y="2906000"/>
                </a:lnTo>
                <a:lnTo>
                  <a:pt x="1940917" y="2884449"/>
                </a:lnTo>
                <a:lnTo>
                  <a:pt x="1971244" y="2862212"/>
                </a:lnTo>
                <a:lnTo>
                  <a:pt x="2001571" y="2839283"/>
                </a:lnTo>
                <a:lnTo>
                  <a:pt x="2031897" y="2815653"/>
                </a:lnTo>
                <a:lnTo>
                  <a:pt x="2062224" y="2791317"/>
                </a:lnTo>
                <a:lnTo>
                  <a:pt x="2092551" y="2766270"/>
                </a:lnTo>
                <a:lnTo>
                  <a:pt x="2122878" y="2740508"/>
                </a:lnTo>
                <a:lnTo>
                  <a:pt x="2153205" y="2714029"/>
                </a:lnTo>
                <a:lnTo>
                  <a:pt x="2183532" y="2686832"/>
                </a:lnTo>
                <a:lnTo>
                  <a:pt x="2213858" y="2658918"/>
                </a:lnTo>
                <a:lnTo>
                  <a:pt x="2244185" y="2630289"/>
                </a:lnTo>
                <a:lnTo>
                  <a:pt x="2274512" y="2600950"/>
                </a:lnTo>
                <a:lnTo>
                  <a:pt x="2304839" y="2570905"/>
                </a:lnTo>
                <a:lnTo>
                  <a:pt x="2335166" y="2540163"/>
                </a:lnTo>
                <a:lnTo>
                  <a:pt x="2365493" y="2508733"/>
                </a:lnTo>
                <a:lnTo>
                  <a:pt x="2395819" y="2476626"/>
                </a:lnTo>
                <a:lnTo>
                  <a:pt x="2426146" y="2443856"/>
                </a:lnTo>
                <a:lnTo>
                  <a:pt x="2456473" y="2410439"/>
                </a:lnTo>
                <a:lnTo>
                  <a:pt x="2486800" y="2376391"/>
                </a:lnTo>
                <a:lnTo>
                  <a:pt x="2517127" y="2341733"/>
                </a:lnTo>
                <a:lnTo>
                  <a:pt x="2547454" y="2306485"/>
                </a:lnTo>
                <a:lnTo>
                  <a:pt x="2577780" y="2270672"/>
                </a:lnTo>
                <a:lnTo>
                  <a:pt x="2608107" y="2234318"/>
                </a:lnTo>
                <a:lnTo>
                  <a:pt x="2638434" y="2197452"/>
                </a:lnTo>
                <a:lnTo>
                  <a:pt x="2668761" y="2160103"/>
                </a:lnTo>
                <a:lnTo>
                  <a:pt x="2699088" y="2122301"/>
                </a:lnTo>
                <a:lnTo>
                  <a:pt x="2729415" y="2084080"/>
                </a:lnTo>
                <a:lnTo>
                  <a:pt x="2759741" y="2045475"/>
                </a:lnTo>
                <a:lnTo>
                  <a:pt x="2790068" y="2006521"/>
                </a:lnTo>
                <a:lnTo>
                  <a:pt x="2820395" y="1967256"/>
                </a:lnTo>
                <a:lnTo>
                  <a:pt x="2850722" y="1927719"/>
                </a:lnTo>
                <a:lnTo>
                  <a:pt x="2881049" y="1887949"/>
                </a:lnTo>
                <a:lnTo>
                  <a:pt x="2911376" y="1847988"/>
                </a:lnTo>
                <a:lnTo>
                  <a:pt x="2941702" y="1807878"/>
                </a:lnTo>
                <a:lnTo>
                  <a:pt x="2972029" y="1767660"/>
                </a:lnTo>
                <a:lnTo>
                  <a:pt x="3002356" y="1727377"/>
                </a:lnTo>
                <a:lnTo>
                  <a:pt x="3032683" y="1687073"/>
                </a:lnTo>
                <a:lnTo>
                  <a:pt x="3063010" y="1646791"/>
                </a:lnTo>
                <a:lnTo>
                  <a:pt x="3093337" y="1606573"/>
                </a:lnTo>
                <a:lnTo>
                  <a:pt x="3123663" y="1566462"/>
                </a:lnTo>
                <a:lnTo>
                  <a:pt x="3153990" y="1526501"/>
                </a:lnTo>
                <a:lnTo>
                  <a:pt x="3184317" y="1486732"/>
                </a:lnTo>
                <a:lnTo>
                  <a:pt x="3214644" y="1447195"/>
                </a:lnTo>
                <a:lnTo>
                  <a:pt x="3244971" y="1407930"/>
                </a:lnTo>
                <a:lnTo>
                  <a:pt x="3275298" y="1368976"/>
                </a:lnTo>
                <a:lnTo>
                  <a:pt x="3305624" y="1330370"/>
                </a:lnTo>
                <a:lnTo>
                  <a:pt x="3335951" y="1292149"/>
                </a:lnTo>
                <a:lnTo>
                  <a:pt x="3366278" y="1254348"/>
                </a:lnTo>
                <a:lnTo>
                  <a:pt x="3396605" y="1216998"/>
                </a:lnTo>
                <a:lnTo>
                  <a:pt x="3426932" y="1180132"/>
                </a:lnTo>
                <a:lnTo>
                  <a:pt x="3457259" y="1143779"/>
                </a:lnTo>
                <a:lnTo>
                  <a:pt x="3487585" y="1107965"/>
                </a:lnTo>
                <a:lnTo>
                  <a:pt x="3517912" y="1072718"/>
                </a:lnTo>
                <a:lnTo>
                  <a:pt x="3548239" y="1038059"/>
                </a:lnTo>
                <a:lnTo>
                  <a:pt x="3578566" y="1004012"/>
                </a:lnTo>
                <a:lnTo>
                  <a:pt x="3608893" y="970594"/>
                </a:lnTo>
                <a:lnTo>
                  <a:pt x="3639220" y="937824"/>
                </a:lnTo>
                <a:lnTo>
                  <a:pt x="3669546" y="905718"/>
                </a:lnTo>
                <a:lnTo>
                  <a:pt x="3699873" y="874288"/>
                </a:lnTo>
                <a:lnTo>
                  <a:pt x="3730200" y="843545"/>
                </a:lnTo>
                <a:lnTo>
                  <a:pt x="3760527" y="813501"/>
                </a:lnTo>
                <a:lnTo>
                  <a:pt x="3790854" y="784161"/>
                </a:lnTo>
                <a:lnTo>
                  <a:pt x="3821181" y="755532"/>
                </a:lnTo>
                <a:lnTo>
                  <a:pt x="3851507" y="727618"/>
                </a:lnTo>
                <a:lnTo>
                  <a:pt x="3881834" y="700421"/>
                </a:lnTo>
                <a:lnTo>
                  <a:pt x="3912161" y="673942"/>
                </a:lnTo>
                <a:lnTo>
                  <a:pt x="3942488" y="648180"/>
                </a:lnTo>
                <a:lnTo>
                  <a:pt x="3972815" y="623133"/>
                </a:lnTo>
                <a:lnTo>
                  <a:pt x="4003142" y="598797"/>
                </a:lnTo>
                <a:lnTo>
                  <a:pt x="4033468" y="575168"/>
                </a:lnTo>
                <a:lnTo>
                  <a:pt x="4063795" y="552238"/>
                </a:lnTo>
                <a:lnTo>
                  <a:pt x="4094122" y="530002"/>
                </a:lnTo>
                <a:lnTo>
                  <a:pt x="4124449" y="508450"/>
                </a:lnTo>
                <a:lnTo>
                  <a:pt x="4154776" y="487574"/>
                </a:lnTo>
                <a:lnTo>
                  <a:pt x="4185103" y="467364"/>
                </a:lnTo>
                <a:lnTo>
                  <a:pt x="4215429" y="447809"/>
                </a:lnTo>
                <a:lnTo>
                  <a:pt x="4245756" y="428897"/>
                </a:lnTo>
                <a:lnTo>
                  <a:pt x="4276083" y="410617"/>
                </a:lnTo>
                <a:lnTo>
                  <a:pt x="4306410" y="392955"/>
                </a:lnTo>
                <a:lnTo>
                  <a:pt x="4336737" y="375900"/>
                </a:lnTo>
                <a:lnTo>
                  <a:pt x="4367064" y="359438"/>
                </a:lnTo>
                <a:lnTo>
                  <a:pt x="4397390" y="343555"/>
                </a:lnTo>
                <a:lnTo>
                  <a:pt x="4427717" y="328237"/>
                </a:lnTo>
                <a:lnTo>
                  <a:pt x="4458044" y="313470"/>
                </a:lnTo>
                <a:lnTo>
                  <a:pt x="4488371" y="299240"/>
                </a:lnTo>
                <a:lnTo>
                  <a:pt x="4518698" y="285533"/>
                </a:lnTo>
                <a:lnTo>
                  <a:pt x="4549025" y="272334"/>
                </a:lnTo>
                <a:lnTo>
                  <a:pt x="4579351" y="259629"/>
                </a:lnTo>
                <a:lnTo>
                  <a:pt x="4609678" y="247403"/>
                </a:lnTo>
                <a:lnTo>
                  <a:pt x="4640005" y="235642"/>
                </a:lnTo>
                <a:lnTo>
                  <a:pt x="4670332" y="224332"/>
                </a:lnTo>
                <a:lnTo>
                  <a:pt x="4700659" y="213459"/>
                </a:lnTo>
                <a:lnTo>
                  <a:pt x="4730986" y="203009"/>
                </a:lnTo>
                <a:lnTo>
                  <a:pt x="4761312" y="192969"/>
                </a:lnTo>
                <a:lnTo>
                  <a:pt x="4791639" y="183325"/>
                </a:lnTo>
                <a:lnTo>
                  <a:pt x="4821966" y="174063"/>
                </a:lnTo>
                <a:lnTo>
                  <a:pt x="4852293" y="165171"/>
                </a:lnTo>
                <a:lnTo>
                  <a:pt x="4882620" y="156637"/>
                </a:lnTo>
                <a:lnTo>
                  <a:pt x="4912947" y="148446"/>
                </a:lnTo>
                <a:lnTo>
                  <a:pt x="4943273" y="140588"/>
                </a:lnTo>
                <a:lnTo>
                  <a:pt x="4973600" y="133051"/>
                </a:lnTo>
                <a:lnTo>
                  <a:pt x="5003927" y="125822"/>
                </a:lnTo>
                <a:lnTo>
                  <a:pt x="5034254" y="118890"/>
                </a:lnTo>
                <a:lnTo>
                  <a:pt x="5064581" y="112246"/>
                </a:lnTo>
                <a:lnTo>
                  <a:pt x="5094908" y="105876"/>
                </a:lnTo>
                <a:lnTo>
                  <a:pt x="5125234" y="99773"/>
                </a:lnTo>
                <a:lnTo>
                  <a:pt x="5155561" y="93924"/>
                </a:lnTo>
                <a:lnTo>
                  <a:pt x="5185888" y="88321"/>
                </a:lnTo>
                <a:lnTo>
                  <a:pt x="5216215" y="82954"/>
                </a:lnTo>
                <a:lnTo>
                  <a:pt x="5246542" y="77813"/>
                </a:lnTo>
                <a:lnTo>
                  <a:pt x="5276869" y="72890"/>
                </a:lnTo>
                <a:lnTo>
                  <a:pt x="5307195" y="68177"/>
                </a:lnTo>
                <a:lnTo>
                  <a:pt x="5337522" y="63664"/>
                </a:lnTo>
                <a:lnTo>
                  <a:pt x="5367849" y="59345"/>
                </a:lnTo>
                <a:lnTo>
                  <a:pt x="5398176" y="55210"/>
                </a:lnTo>
                <a:lnTo>
                  <a:pt x="5428503" y="51253"/>
                </a:lnTo>
                <a:lnTo>
                  <a:pt x="5458830" y="47466"/>
                </a:lnTo>
                <a:lnTo>
                  <a:pt x="5489156" y="43843"/>
                </a:lnTo>
                <a:lnTo>
                  <a:pt x="5519483" y="40376"/>
                </a:lnTo>
                <a:lnTo>
                  <a:pt x="5549810" y="37060"/>
                </a:lnTo>
                <a:lnTo>
                  <a:pt x="5580137" y="33887"/>
                </a:lnTo>
                <a:lnTo>
                  <a:pt x="5610464" y="30853"/>
                </a:lnTo>
                <a:lnTo>
                  <a:pt x="5640791" y="27950"/>
                </a:lnTo>
                <a:lnTo>
                  <a:pt x="5671117" y="25175"/>
                </a:lnTo>
                <a:lnTo>
                  <a:pt x="5701444" y="22520"/>
                </a:lnTo>
                <a:lnTo>
                  <a:pt x="5731771" y="19982"/>
                </a:lnTo>
                <a:lnTo>
                  <a:pt x="5762098" y="17555"/>
                </a:lnTo>
                <a:lnTo>
                  <a:pt x="5792425" y="15235"/>
                </a:lnTo>
                <a:lnTo>
                  <a:pt x="5822752" y="13017"/>
                </a:lnTo>
                <a:lnTo>
                  <a:pt x="5853078" y="10896"/>
                </a:lnTo>
                <a:lnTo>
                  <a:pt x="5883405" y="8869"/>
                </a:lnTo>
                <a:lnTo>
                  <a:pt x="5913732" y="6931"/>
                </a:lnTo>
                <a:lnTo>
                  <a:pt x="5944059" y="5079"/>
                </a:lnTo>
                <a:lnTo>
                  <a:pt x="5974386" y="3309"/>
                </a:lnTo>
                <a:lnTo>
                  <a:pt x="6004713" y="1617"/>
                </a:lnTo>
                <a:lnTo>
                  <a:pt x="6035040" y="0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C3-E24 polygon 34" descr="sci-ppt:o034"/>
          <p:cNvSpPr/>
          <p:nvPr/>
        </p:nvSpPr>
        <p:spPr>
          <a:xfrm>
            <a:off x="914400" y="1580260"/>
            <a:ext cx="6035040" cy="3414450"/>
          </a:xfrm>
          <a:custGeom>
            <a:avLst/>
            <a:gdLst/>
            <a:ahLst/>
            <a:cxnLst/>
            <a:rect l="l" t="t" r="r" b="b"/>
            <a:pathLst>
              <a:path w="6035040" h="3414450">
                <a:moveTo>
                  <a:pt x="0" y="0"/>
                </a:moveTo>
                <a:lnTo>
                  <a:pt x="30326" y="1617"/>
                </a:lnTo>
                <a:lnTo>
                  <a:pt x="60653" y="3309"/>
                </a:lnTo>
                <a:lnTo>
                  <a:pt x="90980" y="5079"/>
                </a:lnTo>
                <a:lnTo>
                  <a:pt x="121307" y="6931"/>
                </a:lnTo>
                <a:lnTo>
                  <a:pt x="151634" y="8869"/>
                </a:lnTo>
                <a:lnTo>
                  <a:pt x="181961" y="10896"/>
                </a:lnTo>
                <a:lnTo>
                  <a:pt x="212287" y="13017"/>
                </a:lnTo>
                <a:lnTo>
                  <a:pt x="242614" y="15235"/>
                </a:lnTo>
                <a:lnTo>
                  <a:pt x="272941" y="17555"/>
                </a:lnTo>
                <a:lnTo>
                  <a:pt x="303268" y="19982"/>
                </a:lnTo>
                <a:lnTo>
                  <a:pt x="333595" y="22520"/>
                </a:lnTo>
                <a:lnTo>
                  <a:pt x="363922" y="25175"/>
                </a:lnTo>
                <a:lnTo>
                  <a:pt x="394248" y="27950"/>
                </a:lnTo>
                <a:lnTo>
                  <a:pt x="424575" y="30853"/>
                </a:lnTo>
                <a:lnTo>
                  <a:pt x="454902" y="33887"/>
                </a:lnTo>
                <a:lnTo>
                  <a:pt x="485229" y="37060"/>
                </a:lnTo>
                <a:lnTo>
                  <a:pt x="515556" y="40376"/>
                </a:lnTo>
                <a:lnTo>
                  <a:pt x="545883" y="43843"/>
                </a:lnTo>
                <a:lnTo>
                  <a:pt x="576209" y="47466"/>
                </a:lnTo>
                <a:lnTo>
                  <a:pt x="606536" y="51253"/>
                </a:lnTo>
                <a:lnTo>
                  <a:pt x="636863" y="55210"/>
                </a:lnTo>
                <a:lnTo>
                  <a:pt x="667190" y="59345"/>
                </a:lnTo>
                <a:lnTo>
                  <a:pt x="697517" y="63664"/>
                </a:lnTo>
                <a:lnTo>
                  <a:pt x="727844" y="68177"/>
                </a:lnTo>
                <a:lnTo>
                  <a:pt x="758170" y="72890"/>
                </a:lnTo>
                <a:lnTo>
                  <a:pt x="788497" y="77813"/>
                </a:lnTo>
                <a:lnTo>
                  <a:pt x="818824" y="82954"/>
                </a:lnTo>
                <a:lnTo>
                  <a:pt x="849151" y="88321"/>
                </a:lnTo>
                <a:lnTo>
                  <a:pt x="879478" y="93924"/>
                </a:lnTo>
                <a:lnTo>
                  <a:pt x="909805" y="99773"/>
                </a:lnTo>
                <a:lnTo>
                  <a:pt x="940131" y="105876"/>
                </a:lnTo>
                <a:lnTo>
                  <a:pt x="970458" y="112246"/>
                </a:lnTo>
                <a:lnTo>
                  <a:pt x="1000785" y="118890"/>
                </a:lnTo>
                <a:lnTo>
                  <a:pt x="1031112" y="125822"/>
                </a:lnTo>
                <a:lnTo>
                  <a:pt x="1061439" y="133051"/>
                </a:lnTo>
                <a:lnTo>
                  <a:pt x="1091766" y="140588"/>
                </a:lnTo>
                <a:lnTo>
                  <a:pt x="1122092" y="148446"/>
                </a:lnTo>
                <a:lnTo>
                  <a:pt x="1152419" y="156637"/>
                </a:lnTo>
                <a:lnTo>
                  <a:pt x="1182746" y="165171"/>
                </a:lnTo>
                <a:lnTo>
                  <a:pt x="1213073" y="174063"/>
                </a:lnTo>
                <a:lnTo>
                  <a:pt x="1243400" y="183325"/>
                </a:lnTo>
                <a:lnTo>
                  <a:pt x="1273727" y="192969"/>
                </a:lnTo>
                <a:lnTo>
                  <a:pt x="1304053" y="203009"/>
                </a:lnTo>
                <a:lnTo>
                  <a:pt x="1334380" y="213459"/>
                </a:lnTo>
                <a:lnTo>
                  <a:pt x="1364707" y="224332"/>
                </a:lnTo>
                <a:lnTo>
                  <a:pt x="1395034" y="235642"/>
                </a:lnTo>
                <a:lnTo>
                  <a:pt x="1425361" y="247403"/>
                </a:lnTo>
                <a:lnTo>
                  <a:pt x="1455688" y="259629"/>
                </a:lnTo>
                <a:lnTo>
                  <a:pt x="1486014" y="272334"/>
                </a:lnTo>
                <a:lnTo>
                  <a:pt x="1516341" y="285533"/>
                </a:lnTo>
                <a:lnTo>
                  <a:pt x="1546668" y="299240"/>
                </a:lnTo>
                <a:lnTo>
                  <a:pt x="1576995" y="313470"/>
                </a:lnTo>
                <a:lnTo>
                  <a:pt x="1607322" y="328237"/>
                </a:lnTo>
                <a:lnTo>
                  <a:pt x="1637649" y="343555"/>
                </a:lnTo>
                <a:lnTo>
                  <a:pt x="1667975" y="359438"/>
                </a:lnTo>
                <a:lnTo>
                  <a:pt x="1698302" y="375900"/>
                </a:lnTo>
                <a:lnTo>
                  <a:pt x="1728629" y="392955"/>
                </a:lnTo>
                <a:lnTo>
                  <a:pt x="1758956" y="410617"/>
                </a:lnTo>
                <a:lnTo>
                  <a:pt x="1789283" y="428897"/>
                </a:lnTo>
                <a:lnTo>
                  <a:pt x="1819610" y="447809"/>
                </a:lnTo>
                <a:lnTo>
                  <a:pt x="1849936" y="467364"/>
                </a:lnTo>
                <a:lnTo>
                  <a:pt x="1880263" y="487574"/>
                </a:lnTo>
                <a:lnTo>
                  <a:pt x="1910590" y="508450"/>
                </a:lnTo>
                <a:lnTo>
                  <a:pt x="1940917" y="530002"/>
                </a:lnTo>
                <a:lnTo>
                  <a:pt x="1971244" y="552238"/>
                </a:lnTo>
                <a:lnTo>
                  <a:pt x="2001571" y="575168"/>
                </a:lnTo>
                <a:lnTo>
                  <a:pt x="2031897" y="598797"/>
                </a:lnTo>
                <a:lnTo>
                  <a:pt x="2062224" y="623133"/>
                </a:lnTo>
                <a:lnTo>
                  <a:pt x="2092551" y="648180"/>
                </a:lnTo>
                <a:lnTo>
                  <a:pt x="2122878" y="673942"/>
                </a:lnTo>
                <a:lnTo>
                  <a:pt x="2153205" y="700421"/>
                </a:lnTo>
                <a:lnTo>
                  <a:pt x="2183532" y="727618"/>
                </a:lnTo>
                <a:lnTo>
                  <a:pt x="2213858" y="755532"/>
                </a:lnTo>
                <a:lnTo>
                  <a:pt x="2244185" y="784161"/>
                </a:lnTo>
                <a:lnTo>
                  <a:pt x="2274512" y="813501"/>
                </a:lnTo>
                <a:lnTo>
                  <a:pt x="2304839" y="843545"/>
                </a:lnTo>
                <a:lnTo>
                  <a:pt x="2335166" y="874288"/>
                </a:lnTo>
                <a:lnTo>
                  <a:pt x="2365493" y="905718"/>
                </a:lnTo>
                <a:lnTo>
                  <a:pt x="2395819" y="937824"/>
                </a:lnTo>
                <a:lnTo>
                  <a:pt x="2426146" y="970594"/>
                </a:lnTo>
                <a:lnTo>
                  <a:pt x="2456473" y="1004012"/>
                </a:lnTo>
                <a:lnTo>
                  <a:pt x="2486800" y="1038059"/>
                </a:lnTo>
                <a:lnTo>
                  <a:pt x="2517127" y="1072718"/>
                </a:lnTo>
                <a:lnTo>
                  <a:pt x="2547454" y="1107965"/>
                </a:lnTo>
                <a:lnTo>
                  <a:pt x="2577780" y="1143779"/>
                </a:lnTo>
                <a:lnTo>
                  <a:pt x="2608107" y="1180132"/>
                </a:lnTo>
                <a:lnTo>
                  <a:pt x="2638434" y="1216998"/>
                </a:lnTo>
                <a:lnTo>
                  <a:pt x="2668761" y="1254348"/>
                </a:lnTo>
                <a:lnTo>
                  <a:pt x="2699088" y="1292149"/>
                </a:lnTo>
                <a:lnTo>
                  <a:pt x="2729415" y="1330370"/>
                </a:lnTo>
                <a:lnTo>
                  <a:pt x="2759741" y="1368976"/>
                </a:lnTo>
                <a:lnTo>
                  <a:pt x="2790068" y="1407930"/>
                </a:lnTo>
                <a:lnTo>
                  <a:pt x="2820395" y="1447195"/>
                </a:lnTo>
                <a:lnTo>
                  <a:pt x="2850722" y="1486732"/>
                </a:lnTo>
                <a:lnTo>
                  <a:pt x="2881049" y="1526501"/>
                </a:lnTo>
                <a:lnTo>
                  <a:pt x="2911376" y="1566462"/>
                </a:lnTo>
                <a:lnTo>
                  <a:pt x="2941702" y="1606573"/>
                </a:lnTo>
                <a:lnTo>
                  <a:pt x="2972029" y="1646791"/>
                </a:lnTo>
                <a:lnTo>
                  <a:pt x="3002356" y="1687073"/>
                </a:lnTo>
                <a:lnTo>
                  <a:pt x="3032683" y="1727377"/>
                </a:lnTo>
                <a:lnTo>
                  <a:pt x="3063010" y="1767660"/>
                </a:lnTo>
                <a:lnTo>
                  <a:pt x="3093337" y="1807878"/>
                </a:lnTo>
                <a:lnTo>
                  <a:pt x="3123663" y="1847988"/>
                </a:lnTo>
                <a:lnTo>
                  <a:pt x="3153990" y="1887949"/>
                </a:lnTo>
                <a:lnTo>
                  <a:pt x="3184317" y="1927719"/>
                </a:lnTo>
                <a:lnTo>
                  <a:pt x="3214644" y="1967256"/>
                </a:lnTo>
                <a:lnTo>
                  <a:pt x="3244971" y="2006521"/>
                </a:lnTo>
                <a:lnTo>
                  <a:pt x="3275298" y="2045475"/>
                </a:lnTo>
                <a:lnTo>
                  <a:pt x="3305624" y="2084080"/>
                </a:lnTo>
                <a:lnTo>
                  <a:pt x="3335951" y="2122301"/>
                </a:lnTo>
                <a:lnTo>
                  <a:pt x="3366278" y="2160103"/>
                </a:lnTo>
                <a:lnTo>
                  <a:pt x="3396605" y="2197452"/>
                </a:lnTo>
                <a:lnTo>
                  <a:pt x="3426932" y="2234318"/>
                </a:lnTo>
                <a:lnTo>
                  <a:pt x="3457259" y="2270672"/>
                </a:lnTo>
                <a:lnTo>
                  <a:pt x="3487585" y="2306485"/>
                </a:lnTo>
                <a:lnTo>
                  <a:pt x="3517912" y="2341733"/>
                </a:lnTo>
                <a:lnTo>
                  <a:pt x="3548239" y="2376391"/>
                </a:lnTo>
                <a:lnTo>
                  <a:pt x="3578566" y="2410439"/>
                </a:lnTo>
                <a:lnTo>
                  <a:pt x="3608893" y="2443856"/>
                </a:lnTo>
                <a:lnTo>
                  <a:pt x="3639220" y="2476626"/>
                </a:lnTo>
                <a:lnTo>
                  <a:pt x="3669546" y="2508733"/>
                </a:lnTo>
                <a:lnTo>
                  <a:pt x="3699873" y="2540163"/>
                </a:lnTo>
                <a:lnTo>
                  <a:pt x="3730200" y="2570905"/>
                </a:lnTo>
                <a:lnTo>
                  <a:pt x="3760527" y="2600950"/>
                </a:lnTo>
                <a:lnTo>
                  <a:pt x="3790854" y="2630289"/>
                </a:lnTo>
                <a:lnTo>
                  <a:pt x="3821181" y="2658918"/>
                </a:lnTo>
                <a:lnTo>
                  <a:pt x="3851507" y="2686832"/>
                </a:lnTo>
                <a:lnTo>
                  <a:pt x="3881834" y="2714029"/>
                </a:lnTo>
                <a:lnTo>
                  <a:pt x="3912161" y="2740508"/>
                </a:lnTo>
                <a:lnTo>
                  <a:pt x="3942488" y="2766270"/>
                </a:lnTo>
                <a:lnTo>
                  <a:pt x="3972815" y="2791317"/>
                </a:lnTo>
                <a:lnTo>
                  <a:pt x="4003142" y="2815653"/>
                </a:lnTo>
                <a:lnTo>
                  <a:pt x="4033468" y="2839283"/>
                </a:lnTo>
                <a:lnTo>
                  <a:pt x="4063795" y="2862212"/>
                </a:lnTo>
                <a:lnTo>
                  <a:pt x="4094122" y="2884449"/>
                </a:lnTo>
                <a:lnTo>
                  <a:pt x="4124449" y="2906000"/>
                </a:lnTo>
                <a:lnTo>
                  <a:pt x="4154776" y="2926876"/>
                </a:lnTo>
                <a:lnTo>
                  <a:pt x="4185103" y="2947087"/>
                </a:lnTo>
                <a:lnTo>
                  <a:pt x="4215429" y="2966642"/>
                </a:lnTo>
                <a:lnTo>
                  <a:pt x="4245756" y="2985554"/>
                </a:lnTo>
                <a:lnTo>
                  <a:pt x="4276083" y="3003834"/>
                </a:lnTo>
                <a:lnTo>
                  <a:pt x="4306410" y="3021495"/>
                </a:lnTo>
                <a:lnTo>
                  <a:pt x="4336737" y="3038550"/>
                </a:lnTo>
                <a:lnTo>
                  <a:pt x="4367064" y="3055012"/>
                </a:lnTo>
                <a:lnTo>
                  <a:pt x="4397390" y="3070895"/>
                </a:lnTo>
                <a:lnTo>
                  <a:pt x="4427717" y="3086213"/>
                </a:lnTo>
                <a:lnTo>
                  <a:pt x="4458044" y="3100980"/>
                </a:lnTo>
                <a:lnTo>
                  <a:pt x="4488371" y="3115210"/>
                </a:lnTo>
                <a:lnTo>
                  <a:pt x="4518698" y="3128917"/>
                </a:lnTo>
                <a:lnTo>
                  <a:pt x="4549025" y="3142116"/>
                </a:lnTo>
                <a:lnTo>
                  <a:pt x="4579351" y="3154822"/>
                </a:lnTo>
                <a:lnTo>
                  <a:pt x="4609678" y="3167048"/>
                </a:lnTo>
                <a:lnTo>
                  <a:pt x="4640005" y="3178809"/>
                </a:lnTo>
                <a:lnTo>
                  <a:pt x="4670332" y="3190119"/>
                </a:lnTo>
                <a:lnTo>
                  <a:pt x="4700659" y="3200991"/>
                </a:lnTo>
                <a:lnTo>
                  <a:pt x="4730986" y="3211441"/>
                </a:lnTo>
                <a:lnTo>
                  <a:pt x="4761312" y="3221481"/>
                </a:lnTo>
                <a:lnTo>
                  <a:pt x="4791639" y="3231126"/>
                </a:lnTo>
                <a:lnTo>
                  <a:pt x="4821966" y="3240387"/>
                </a:lnTo>
                <a:lnTo>
                  <a:pt x="4852293" y="3249279"/>
                </a:lnTo>
                <a:lnTo>
                  <a:pt x="4882620" y="3257814"/>
                </a:lnTo>
                <a:lnTo>
                  <a:pt x="4912947" y="3266004"/>
                </a:lnTo>
                <a:lnTo>
                  <a:pt x="4943273" y="3273862"/>
                </a:lnTo>
                <a:lnTo>
                  <a:pt x="4973600" y="3281400"/>
                </a:lnTo>
                <a:lnTo>
                  <a:pt x="5003927" y="3288629"/>
                </a:lnTo>
                <a:lnTo>
                  <a:pt x="5034254" y="3295560"/>
                </a:lnTo>
                <a:lnTo>
                  <a:pt x="5064581" y="3302205"/>
                </a:lnTo>
                <a:lnTo>
                  <a:pt x="5094908" y="3308574"/>
                </a:lnTo>
                <a:lnTo>
                  <a:pt x="5125234" y="3314678"/>
                </a:lnTo>
                <a:lnTo>
                  <a:pt x="5155561" y="3320526"/>
                </a:lnTo>
                <a:lnTo>
                  <a:pt x="5185888" y="3326130"/>
                </a:lnTo>
                <a:lnTo>
                  <a:pt x="5216215" y="3331497"/>
                </a:lnTo>
                <a:lnTo>
                  <a:pt x="5246542" y="3336637"/>
                </a:lnTo>
                <a:lnTo>
                  <a:pt x="5276869" y="3341560"/>
                </a:lnTo>
                <a:lnTo>
                  <a:pt x="5307195" y="3346273"/>
                </a:lnTo>
                <a:lnTo>
                  <a:pt x="5337522" y="3350786"/>
                </a:lnTo>
                <a:lnTo>
                  <a:pt x="5367849" y="3355106"/>
                </a:lnTo>
                <a:lnTo>
                  <a:pt x="5398176" y="3359240"/>
                </a:lnTo>
                <a:lnTo>
                  <a:pt x="5428503" y="3363198"/>
                </a:lnTo>
                <a:lnTo>
                  <a:pt x="5458830" y="3366984"/>
                </a:lnTo>
                <a:lnTo>
                  <a:pt x="5489156" y="3370608"/>
                </a:lnTo>
                <a:lnTo>
                  <a:pt x="5519483" y="3374074"/>
                </a:lnTo>
                <a:lnTo>
                  <a:pt x="5549810" y="3377391"/>
                </a:lnTo>
                <a:lnTo>
                  <a:pt x="5580137" y="3380563"/>
                </a:lnTo>
                <a:lnTo>
                  <a:pt x="5610464" y="3383598"/>
                </a:lnTo>
                <a:lnTo>
                  <a:pt x="5640791" y="3386500"/>
                </a:lnTo>
                <a:lnTo>
                  <a:pt x="5671117" y="3389276"/>
                </a:lnTo>
                <a:lnTo>
                  <a:pt x="5701444" y="3391930"/>
                </a:lnTo>
                <a:lnTo>
                  <a:pt x="5731771" y="3394468"/>
                </a:lnTo>
                <a:lnTo>
                  <a:pt x="5762098" y="3396895"/>
                </a:lnTo>
                <a:lnTo>
                  <a:pt x="5792425" y="3399215"/>
                </a:lnTo>
                <a:lnTo>
                  <a:pt x="5822752" y="3401434"/>
                </a:lnTo>
                <a:lnTo>
                  <a:pt x="5853078" y="3403554"/>
                </a:lnTo>
                <a:lnTo>
                  <a:pt x="5883405" y="3405581"/>
                </a:lnTo>
                <a:lnTo>
                  <a:pt x="5913732" y="3407519"/>
                </a:lnTo>
                <a:lnTo>
                  <a:pt x="5944059" y="3409371"/>
                </a:lnTo>
                <a:lnTo>
                  <a:pt x="5974386" y="3411141"/>
                </a:lnTo>
                <a:lnTo>
                  <a:pt x="6004713" y="3412833"/>
                </a:lnTo>
                <a:lnTo>
                  <a:pt x="6035040" y="3414450"/>
                </a:lnTo>
              </a:path>
            </a:pathLst>
          </a:custGeom>
          <a:noFill/>
          <a:ln w="38100">
            <a:solidFill>
              <a:srgbClr val="F2B88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" name="C3-E24 line 35" descr="sci-ppt:o035"/>
          <p:cNvCxnSpPr/>
          <p:nvPr/>
        </p:nvCxnSpPr>
        <p:spPr>
          <a:xfrm>
            <a:off x="3931920" y="1371600"/>
            <a:ext cx="0" cy="3657600"/>
          </a:xfrm>
          <a:prstGeom prst="line">
            <a:avLst/>
          </a:prstGeom>
          <a:ln w="16510">
            <a:solidFill>
              <a:srgbClr val="B4C7D2"/>
            </a:solidFill>
            <a:prstDash val="dash"/>
          </a:ln>
          <a:effectLst/>
        </p:spPr>
      </p:cxnSp>
      <p:sp>
        <p:nvSpPr>
          <p:cNvPr id="38" name="C3-E24 ellipse 36" descr="sci-ppt:o036"/>
          <p:cNvSpPr/>
          <p:nvPr/>
        </p:nvSpPr>
        <p:spPr>
          <a:xfrm>
            <a:off x="3858768" y="3214333"/>
            <a:ext cx="146304" cy="146304"/>
          </a:xfrm>
          <a:prstGeom prst="ellipse">
            <a:avLst/>
          </a:prstGeom>
          <a:solidFill>
            <a:srgbClr val="E7F0F3"/>
          </a:solidFill>
          <a:ln w="12700">
            <a:solidFill>
              <a:srgbClr val="E7F0F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C3-E24 text 37" descr="sci-ppt:o037"/>
          <p:cNvSpPr txBox="1"/>
          <p:nvPr/>
        </p:nvSpPr>
        <p:spPr>
          <a:xfrm>
            <a:off x="4041648" y="3424645"/>
            <a:ext cx="164592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matched: both 1/2</a:t>
            </a:r>
          </a:p>
        </p:txBody>
      </p:sp>
      <p:sp>
        <p:nvSpPr>
          <p:cNvPr id="40" name="C3-E24 text 38" descr="sci-ppt:o038"/>
          <p:cNvSpPr txBox="1"/>
          <p:nvPr/>
        </p:nvSpPr>
        <p:spPr>
          <a:xfrm>
            <a:off x="1107017" y="4430485"/>
            <a:ext cx="1645920" cy="40208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free surface: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p_early → 0</a:t>
            </a:r>
          </a:p>
        </p:txBody>
      </p:sp>
      <p:sp>
        <p:nvSpPr>
          <p:cNvPr id="41" name="C3-E24 text 39" descr="sci-ppt:o039"/>
          <p:cNvSpPr txBox="1"/>
          <p:nvPr/>
        </p:nvSpPr>
        <p:spPr>
          <a:xfrm>
            <a:off x="3974622" y="1881051"/>
            <a:ext cx="1828800" cy="40208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rigid receiver: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p_early → ρ c Uⱼ</a:t>
            </a:r>
          </a:p>
        </p:txBody>
      </p:sp>
      <p:sp>
        <p:nvSpPr>
          <p:cNvPr id="42" name="C3-E24 round_rect 40" descr="sci-ppt:o040"/>
          <p:cNvSpPr/>
          <p:nvPr/>
        </p:nvSpPr>
        <p:spPr>
          <a:xfrm>
            <a:off x="7223760" y="1371600"/>
            <a:ext cx="4617720" cy="3657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C3-E24 text 41" descr="sci-ppt:o041"/>
          <p:cNvSpPr txBox="1"/>
          <p:nvPr/>
        </p:nvSpPr>
        <p:spPr>
          <a:xfrm>
            <a:off x="7333488" y="1426464"/>
            <a:ext cx="439826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Contact matching</a:t>
            </a:r>
          </a:p>
        </p:txBody>
      </p:sp>
      <p:sp>
        <p:nvSpPr>
          <p:cNvPr id="44" name="C3-E24 text 42" descr="sci-ppt:o042"/>
          <p:cNvSpPr txBox="1"/>
          <p:nvPr/>
        </p:nvSpPr>
        <p:spPr>
          <a:xfrm>
            <a:off x="7360920" y="1828800"/>
            <a:ext cx="43891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(∂ₜ ± c∂_z)(u ± p′/Zₗ) = 0  (characteristics)</a:t>
            </a:r>
          </a:p>
        </p:txBody>
      </p:sp>
      <p:sp>
        <p:nvSpPr>
          <p:cNvPr id="45" name="C3-E24 text 43" descr="sci-ppt:o043"/>
          <p:cNvSpPr txBox="1"/>
          <p:nvPr/>
        </p:nvSpPr>
        <p:spPr>
          <a:xfrm>
            <a:off x="7360920" y="2331720"/>
            <a:ext cx="438912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p_early = Zₗ(Uⱼ − vᵢ) = Zᵣ vᵢ</a:t>
            </a:r>
          </a:p>
        </p:txBody>
      </p:sp>
      <p:sp>
        <p:nvSpPr>
          <p:cNvPr id="46" name="C3-E24 text 44" descr="sci-ppt:o044"/>
          <p:cNvSpPr txBox="1"/>
          <p:nvPr/>
        </p:nvSpPr>
        <p:spPr>
          <a:xfrm>
            <a:off x="7360920" y="2834640"/>
            <a:ext cx="438912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vᵢ = Zₗ Uⱼ / (Zₗ + Zᵣ)  (dashed)</a:t>
            </a:r>
          </a:p>
        </p:txBody>
      </p:sp>
      <p:sp>
        <p:nvSpPr>
          <p:cNvPr id="47" name="C3-E24 text 45" descr="sci-ppt:o045"/>
          <p:cNvSpPr txBox="1"/>
          <p:nvPr/>
        </p:nvSpPr>
        <p:spPr>
          <a:xfrm>
            <a:off x="7360920" y="3337560"/>
            <a:ext cx="438912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8EDBD4"/>
                </a:solidFill>
                <a:latin typeface="Arial"/>
              </a:rPr>
              <a:t>p_early = Zₗ Zᵣ Uⱼ / (Zₗ + Zᵣ)  (solid)</a:t>
            </a:r>
          </a:p>
        </p:txBody>
      </p:sp>
      <p:sp>
        <p:nvSpPr>
          <p:cNvPr id="48" name="C3-E24 text 46" descr="sci-ppt:o046"/>
          <p:cNvSpPr txBox="1"/>
          <p:nvPr/>
        </p:nvSpPr>
        <p:spPr>
          <a:xfrm>
            <a:off x="7360920" y="3977639"/>
            <a:ext cx="438912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Equal pressure and equal normal velocity at the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contact fix both numbers.</a:t>
            </a:r>
          </a:p>
        </p:txBody>
      </p:sp>
      <p:sp>
        <p:nvSpPr>
          <p:cNvPr id="49" name="C3-E24 text 47" descr="sci-ppt:o047"/>
          <p:cNvSpPr txBox="1"/>
          <p:nvPr/>
        </p:nvSpPr>
        <p:spPr>
          <a:xfrm>
            <a:off x="914400" y="5733288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Stiffer receivers raise the early pressure toward Zₗ Uⱼ but never above it; softer receivers lower it and let the jet keep moving.</a:t>
            </a:r>
          </a:p>
        </p:txBody>
      </p:sp>
      <p:sp>
        <p:nvSpPr>
          <p:cNvPr id="50" name="C3-E24 text 48" descr="sci-ppt:o048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Early contact state of Eq. C3-E24 (Zₗ = ρ c).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