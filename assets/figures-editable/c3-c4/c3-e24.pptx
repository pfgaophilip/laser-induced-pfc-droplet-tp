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6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C3-E24 text 0" descr="sci-ppt:o000"/>
          <p:cNvSpPr txBox="1"/>
          <p:nvPr/>
        </p:nvSpPr>
        <p:spPr>
          <a:xfrm>
            <a:off x="274320" y="137160"/>
            <a:ext cx="1161288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2100" b="0" i="0">
                <a:solidFill>
                  <a:srgbClr val="8EDBD4"/>
                </a:solidFill>
                <a:latin typeface="Arial"/>
              </a:rPr>
              <a:t>C3-E24 · Linear transient wave equations and impact matching</a:t>
            </a:r>
          </a:p>
        </p:txBody>
      </p:sp>
      <p:sp>
        <p:nvSpPr>
          <p:cNvPr id="3" name="C3-E24 rect 1" descr="sci-ppt:o001"/>
          <p:cNvSpPr/>
          <p:nvPr/>
        </p:nvSpPr>
        <p:spPr>
          <a:xfrm>
            <a:off x="731520" y="1508760"/>
            <a:ext cx="4937760" cy="7315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4" name="C3-E24 arrow 2" descr="sci-ppt:o002"/>
          <p:cNvCxnSpPr/>
          <p:nvPr/>
        </p:nvCxnSpPr>
        <p:spPr>
          <a:xfrm>
            <a:off x="1005840" y="1874519"/>
            <a:ext cx="4297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5" name="C3-E24 text 3" descr="sci-ppt:o003"/>
          <p:cNvSpPr txBox="1"/>
          <p:nvPr/>
        </p:nvSpPr>
        <p:spPr>
          <a:xfrm>
            <a:off x="1463040" y="1051560"/>
            <a:ext cx="393192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800" b="0" i="0">
                <a:solidFill>
                  <a:srgbClr val="E7F0F3"/>
                </a:solidFill>
                <a:latin typeface="Arial"/>
              </a:rPr>
              <a:t>Finite emitted liquid: m_j, E_j, U_j</a:t>
            </a:r>
          </a:p>
        </p:txBody>
      </p:sp>
      <p:cxnSp>
        <p:nvCxnSpPr>
          <p:cNvPr id="6" name="C3-E24 line 4" descr="sci-ppt:o004"/>
          <p:cNvCxnSpPr/>
          <p:nvPr/>
        </p:nvCxnSpPr>
        <p:spPr>
          <a:xfrm>
            <a:off x="731520" y="2606040"/>
            <a:ext cx="4937760" cy="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7" name="C3-E24 text 5" descr="sci-ppt:o005"/>
          <p:cNvSpPr txBox="1"/>
          <p:nvPr/>
        </p:nvSpPr>
        <p:spPr>
          <a:xfrm>
            <a:off x="2743200" y="2697480"/>
            <a:ext cx="1828800" cy="3657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E7F0F3"/>
                </a:solidFill>
                <a:latin typeface="Arial"/>
              </a:rPr>
              <a:t>L_j</a:t>
            </a:r>
          </a:p>
        </p:txBody>
      </p:sp>
      <p:cxnSp>
        <p:nvCxnSpPr>
          <p:cNvPr id="8" name="C3-E24 line 6" descr="sci-ppt:o006"/>
          <p:cNvCxnSpPr/>
          <p:nvPr/>
        </p:nvCxnSpPr>
        <p:spPr>
          <a:xfrm>
            <a:off x="457200" y="1508760"/>
            <a:ext cx="0" cy="731520"/>
          </a:xfrm>
          <a:prstGeom prst="line">
            <a:avLst/>
          </a:prstGeom>
          <a:ln w="25400">
            <a:solidFill>
              <a:srgbClr val="8EDBD4"/>
            </a:solidFill>
          </a:ln>
          <a:effectLst/>
        </p:spPr>
      </p:cxnSp>
      <p:sp>
        <p:nvSpPr>
          <p:cNvPr id="9" name="C3-E24 text 7" descr="sci-ppt:o007"/>
          <p:cNvSpPr txBox="1"/>
          <p:nvPr/>
        </p:nvSpPr>
        <p:spPr>
          <a:xfrm>
            <a:off x="137160" y="2377440"/>
            <a:ext cx="1645920" cy="32004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d_j = 2a_j</a:t>
            </a:r>
          </a:p>
        </p:txBody>
      </p:sp>
      <p:cxnSp>
        <p:nvCxnSpPr>
          <p:cNvPr id="10" name="C3-E24 arrow 8" descr="sci-ppt:o008"/>
          <p:cNvCxnSpPr/>
          <p:nvPr/>
        </p:nvCxnSpPr>
        <p:spPr>
          <a:xfrm>
            <a:off x="5669280" y="1874519"/>
            <a:ext cx="27432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1" name="C3-E24 rect 9" descr="sci-ppt:o009"/>
          <p:cNvSpPr/>
          <p:nvPr/>
        </p:nvSpPr>
        <p:spPr>
          <a:xfrm>
            <a:off x="8412480" y="960120"/>
            <a:ext cx="137160" cy="1645920"/>
          </a:xfrm>
          <a:prstGeom prst="rect">
            <a:avLst/>
          </a:prstGeom>
          <a:solidFill>
            <a:srgbClr val="213E4B"/>
          </a:solidFill>
          <a:ln w="19050">
            <a:solidFill>
              <a:srgbClr val="B4C7D2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cxnSp>
        <p:nvCxnSpPr>
          <p:cNvPr id="12" name="C3-E24 arrow 10" descr="sci-ppt:o010"/>
          <p:cNvCxnSpPr/>
          <p:nvPr/>
        </p:nvCxnSpPr>
        <p:spPr>
          <a:xfrm flipH="1">
            <a:off x="6217920" y="1234440"/>
            <a:ext cx="182880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cxnSp>
        <p:nvCxnSpPr>
          <p:cNvPr id="13" name="C3-E24 arrow 11" descr="sci-ppt:o011"/>
          <p:cNvCxnSpPr/>
          <p:nvPr/>
        </p:nvCxnSpPr>
        <p:spPr>
          <a:xfrm>
            <a:off x="8778240" y="1234440"/>
            <a:ext cx="2011680" cy="0"/>
          </a:xfrm>
          <a:prstGeom prst="line">
            <a:avLst/>
          </a:prstGeom>
          <a:ln w="25400">
            <a:solidFill>
              <a:srgbClr val="8EDBD4"/>
            </a:solidFill>
            <a:headEnd type="none" w="med" len="med"/>
            <a:tailEnd type="triangle" w="med" len="med"/>
          </a:ln>
          <a:effectLst/>
        </p:spPr>
      </p:cxnSp>
      <p:sp>
        <p:nvSpPr>
          <p:cNvPr id="14" name="C3-E24 text 12" descr="sci-ppt:o012"/>
          <p:cNvSpPr txBox="1"/>
          <p:nvPr/>
        </p:nvSpPr>
        <p:spPr>
          <a:xfrm>
            <a:off x="5394960" y="731520"/>
            <a:ext cx="297180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400" b="0" i="0">
                <a:solidFill>
                  <a:srgbClr val="E7F0F3"/>
                </a:solidFill>
                <a:latin typeface="Arial"/>
              </a:rPr>
              <a:t>Liquid deceleration wave ←</a:t>
            </a:r>
          </a:p>
        </p:txBody>
      </p:sp>
      <p:sp>
        <p:nvSpPr>
          <p:cNvPr id="15" name="C3-E24 text 13" descr="sci-ppt:o013"/>
          <p:cNvSpPr txBox="1"/>
          <p:nvPr/>
        </p:nvSpPr>
        <p:spPr>
          <a:xfrm>
            <a:off x="8778240" y="731520"/>
            <a:ext cx="2926080" cy="41148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0" i="0">
                <a:solidFill>
                  <a:srgbClr val="E7F0F3"/>
                </a:solidFill>
                <a:latin typeface="Arial"/>
              </a:rPr>
              <a:t>Receiver wave →</a:t>
            </a:r>
          </a:p>
        </p:txBody>
      </p:sp>
      <p:sp>
        <p:nvSpPr>
          <p:cNvPr id="16" name="C3-E24 text 14" descr="sci-ppt:o014"/>
          <p:cNvSpPr txBox="1"/>
          <p:nvPr/>
        </p:nvSpPr>
        <p:spPr>
          <a:xfrm>
            <a:off x="6126480" y="2834640"/>
            <a:ext cx="5394960" cy="822960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Common contact velocity v_i</a:t>
            </a:r>
          </a:p>
          <a:p>
            <a:pPr algn="l">
              <a:spcAft>
                <a:spcPts val="0"/>
              </a:spcAft>
            </a:pPr>
            <a:r>
              <a:rPr sz="1700" b="0" i="0">
                <a:solidFill>
                  <a:srgbClr val="8EDBD4"/>
                </a:solidFill>
                <a:latin typeface="Arial"/>
              </a:rPr>
              <a:t>Common compressive pressure p_early</a:t>
            </a:r>
          </a:p>
        </p:txBody>
      </p:sp>
      <p:cxnSp>
        <p:nvCxnSpPr>
          <p:cNvPr id="17" name="C3-E24 line 15" descr="sci-ppt:o015"/>
          <p:cNvCxnSpPr/>
          <p:nvPr/>
        </p:nvCxnSpPr>
        <p:spPr>
          <a:xfrm>
            <a:off x="274320" y="3977639"/>
            <a:ext cx="11612880" cy="0"/>
          </a:xfrm>
          <a:prstGeom prst="line">
            <a:avLst/>
          </a:prstGeom>
          <a:ln w="12700">
            <a:solidFill>
              <a:srgbClr val="405967"/>
            </a:solidFill>
          </a:ln>
          <a:effectLst/>
        </p:spPr>
      </p:cxnSp>
      <p:sp>
        <p:nvSpPr>
          <p:cNvPr id="18" name="C3-E24 text 16" descr="sci-ppt:o016"/>
          <p:cNvSpPr txBox="1"/>
          <p:nvPr/>
        </p:nvSpPr>
        <p:spPr>
          <a:xfrm>
            <a:off x="32004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U_j incoming liquid</a:t>
            </a:r>
          </a:p>
        </p:txBody>
      </p:sp>
      <p:sp>
        <p:nvSpPr>
          <p:cNvPr id="19" name="C3-E24 text 17" descr="sci-ppt:o017"/>
          <p:cNvSpPr txBox="1"/>
          <p:nvPr/>
        </p:nvSpPr>
        <p:spPr>
          <a:xfrm>
            <a:off x="6217920" y="4096512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v_i common interface velocity</a:t>
            </a:r>
          </a:p>
        </p:txBody>
      </p:sp>
      <p:sp>
        <p:nvSpPr>
          <p:cNvPr id="20" name="C3-E24 text 18" descr="sci-ppt:o018"/>
          <p:cNvSpPr txBox="1"/>
          <p:nvPr/>
        </p:nvSpPr>
        <p:spPr>
          <a:xfrm>
            <a:off x="32004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p_early compressive contact pressure</a:t>
            </a:r>
          </a:p>
        </p:txBody>
      </p:sp>
      <p:sp>
        <p:nvSpPr>
          <p:cNvPr id="21" name="C3-E24 text 19" descr="sci-ppt:o019"/>
          <p:cNvSpPr txBox="1"/>
          <p:nvPr/>
        </p:nvSpPr>
        <p:spPr>
          <a:xfrm>
            <a:off x="6217920" y="4329684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Z_l = ρc liquid side</a:t>
            </a:r>
          </a:p>
        </p:txBody>
      </p:sp>
      <p:sp>
        <p:nvSpPr>
          <p:cNvPr id="22" name="C3-E24 text 20" descr="sci-ppt:o020"/>
          <p:cNvSpPr txBox="1"/>
          <p:nvPr/>
        </p:nvSpPr>
        <p:spPr>
          <a:xfrm>
            <a:off x="32004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Z_r receiver side</a:t>
            </a:r>
          </a:p>
        </p:txBody>
      </p:sp>
      <p:sp>
        <p:nvSpPr>
          <p:cNvPr id="23" name="C3-E24 text 21" descr="sci-ppt:o021"/>
          <p:cNvSpPr txBox="1"/>
          <p:nvPr/>
        </p:nvSpPr>
        <p:spPr>
          <a:xfrm>
            <a:off x="6217920" y="4562856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u, p′, z, t characteristic fields</a:t>
            </a:r>
          </a:p>
        </p:txBody>
      </p:sp>
      <p:sp>
        <p:nvSpPr>
          <p:cNvPr id="24" name="C3-E24 text 22" descr="sci-ppt:o022"/>
          <p:cNvSpPr txBox="1"/>
          <p:nvPr/>
        </p:nvSpPr>
        <p:spPr>
          <a:xfrm>
            <a:off x="320040" y="4796028"/>
            <a:ext cx="5715000" cy="24688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B4C7D2"/>
                </a:solidFill>
                <a:latin typeface="Arial"/>
              </a:rPr>
              <a:t>• ∂ₜ ± c∂z; c wave speed</a:t>
            </a:r>
          </a:p>
        </p:txBody>
      </p:sp>
      <p:sp>
        <p:nvSpPr>
          <p:cNvPr id="25" name="C3-E24 text 23" descr="sci-ppt:o023"/>
          <p:cNvSpPr txBox="1"/>
          <p:nvPr/>
        </p:nvSpPr>
        <p:spPr>
          <a:xfrm>
            <a:off x="320040" y="559612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Liquid deceleration wave travels upstream</a:t>
            </a:r>
          </a:p>
        </p:txBody>
      </p:sp>
      <p:sp>
        <p:nvSpPr>
          <p:cNvPr id="26" name="C3-E24 text 24" descr="sci-ppt:o024"/>
          <p:cNvSpPr txBox="1"/>
          <p:nvPr/>
        </p:nvSpPr>
        <p:spPr>
          <a:xfrm>
            <a:off x="320040" y="587044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Receiver wave travels into receiver</a:t>
            </a:r>
          </a:p>
        </p:txBody>
      </p:sp>
      <p:sp>
        <p:nvSpPr>
          <p:cNvPr id="27" name="C3-E24 text 25" descr="sci-ppt:o025"/>
          <p:cNvSpPr txBox="1"/>
          <p:nvPr/>
        </p:nvSpPr>
        <p:spPr>
          <a:xfrm>
            <a:off x="320040" y="6144768"/>
            <a:ext cx="11430000" cy="292608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150" b="0" i="0">
                <a:solidFill>
                  <a:srgbClr val="8EDBD4"/>
                </a:solidFill>
                <a:latin typeface="Arial"/>
              </a:rPr>
              <a:t>No pre-existing incident pressure wave is separately added</a:t>
            </a:r>
          </a:p>
        </p:txBody>
      </p:sp>
      <p:sp>
        <p:nvSpPr>
          <p:cNvPr id="28" name="C3-E24 text 26" descr="sci-ppt:o026"/>
          <p:cNvSpPr txBox="1"/>
          <p:nvPr/>
        </p:nvSpPr>
        <p:spPr>
          <a:xfrm>
            <a:off x="320040" y="6473952"/>
            <a:ext cx="11430000" cy="256032"/>
          </a:xfrm>
          <a:prstGeom prst="rect">
            <a:avLst/>
          </a:prstGeom>
          <a:noFill/>
          <a:effectLst/>
        </p:spPr>
        <p:txBody>
          <a:bodyPr wrap="square" lIns="27432" rIns="27432" tIns="18288" bIns="18288" anchor="ctr">
            <a:spAutoFit/>
          </a:bodyPr>
          <a:lstStyle/>
          <a:p>
            <a:pPr algn="l">
              <a:spcAft>
                <a:spcPts val="0"/>
              </a:spcAft>
            </a:pPr>
            <a:r>
              <a:rPr sz="1000" b="0" i="0">
                <a:solidFill>
                  <a:srgbClr val="B4C7D2"/>
                </a:solidFill>
                <a:latin typeface="Arial"/>
              </a:rPr>
              <a:t>Model schematic; geometry is not to scale.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