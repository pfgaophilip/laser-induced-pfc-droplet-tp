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21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C4-E21 · Derived onset threshold within the benchmark</a:t>
            </a:r>
          </a:p>
        </p:txBody>
      </p:sp>
      <p:cxnSp>
        <p:nvCxnSpPr>
          <p:cNvPr id="3" name="C4-E21 line 1" descr="sci-ppt:o001"/>
          <p:cNvCxnSpPr/>
          <p:nvPr/>
        </p:nvCxnSpPr>
        <p:spPr>
          <a:xfrm>
            <a:off x="914400" y="4937760"/>
            <a:ext cx="566928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4-E21 line 2" descr="sci-ppt:o002"/>
          <p:cNvCxnSpPr/>
          <p:nvPr/>
        </p:nvCxnSpPr>
        <p:spPr>
          <a:xfrm>
            <a:off x="914400" y="1371600"/>
            <a:ext cx="0" cy="356616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4-E21 line 3" descr="sci-ppt:o003"/>
          <p:cNvCxnSpPr/>
          <p:nvPr/>
        </p:nvCxnSpPr>
        <p:spPr>
          <a:xfrm>
            <a:off x="91440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4-E21 line 4" descr="sci-ppt:o004"/>
          <p:cNvCxnSpPr/>
          <p:nvPr/>
        </p:nvCxnSpPr>
        <p:spPr>
          <a:xfrm>
            <a:off x="91440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4-E21 text 5" descr="sci-ppt:o005"/>
          <p:cNvSpPr txBox="1"/>
          <p:nvPr/>
        </p:nvSpPr>
        <p:spPr>
          <a:xfrm>
            <a:off x="45720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</a:t>
            </a:r>
          </a:p>
        </p:txBody>
      </p:sp>
      <p:cxnSp>
        <p:nvCxnSpPr>
          <p:cNvPr id="8" name="C4-E21 line 6" descr="sci-ppt:o006"/>
          <p:cNvCxnSpPr/>
          <p:nvPr/>
        </p:nvCxnSpPr>
        <p:spPr>
          <a:xfrm>
            <a:off x="233172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4-E21 line 7" descr="sci-ppt:o007"/>
          <p:cNvCxnSpPr/>
          <p:nvPr/>
        </p:nvCxnSpPr>
        <p:spPr>
          <a:xfrm>
            <a:off x="233172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4-E21 text 8" descr="sci-ppt:o008"/>
          <p:cNvSpPr txBox="1"/>
          <p:nvPr/>
        </p:nvSpPr>
        <p:spPr>
          <a:xfrm>
            <a:off x="1874519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11" name="C4-E21 line 9" descr="sci-ppt:o009"/>
          <p:cNvCxnSpPr/>
          <p:nvPr/>
        </p:nvCxnSpPr>
        <p:spPr>
          <a:xfrm>
            <a:off x="3749039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4-E21 line 10" descr="sci-ppt:o010"/>
          <p:cNvCxnSpPr/>
          <p:nvPr/>
        </p:nvCxnSpPr>
        <p:spPr>
          <a:xfrm>
            <a:off x="3749039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4-E21 text 11" descr="sci-ppt:o011"/>
          <p:cNvSpPr txBox="1"/>
          <p:nvPr/>
        </p:nvSpPr>
        <p:spPr>
          <a:xfrm>
            <a:off x="3291839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cxnSp>
        <p:nvCxnSpPr>
          <p:cNvPr id="14" name="C4-E21 line 12" descr="sci-ppt:o012"/>
          <p:cNvCxnSpPr/>
          <p:nvPr/>
        </p:nvCxnSpPr>
        <p:spPr>
          <a:xfrm>
            <a:off x="516636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4-E21 line 13" descr="sci-ppt:o013"/>
          <p:cNvCxnSpPr/>
          <p:nvPr/>
        </p:nvCxnSpPr>
        <p:spPr>
          <a:xfrm>
            <a:off x="516636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4-E21 text 14" descr="sci-ppt:o014"/>
          <p:cNvSpPr txBox="1"/>
          <p:nvPr/>
        </p:nvSpPr>
        <p:spPr>
          <a:xfrm>
            <a:off x="470916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1.5</a:t>
            </a:r>
          </a:p>
        </p:txBody>
      </p:sp>
      <p:cxnSp>
        <p:nvCxnSpPr>
          <p:cNvPr id="17" name="C4-E21 line 15" descr="sci-ppt:o015"/>
          <p:cNvCxnSpPr/>
          <p:nvPr/>
        </p:nvCxnSpPr>
        <p:spPr>
          <a:xfrm>
            <a:off x="658368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4-E21 line 16" descr="sci-ppt:o016"/>
          <p:cNvCxnSpPr/>
          <p:nvPr/>
        </p:nvCxnSpPr>
        <p:spPr>
          <a:xfrm>
            <a:off x="658368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4-E21 text 17" descr="sci-ppt:o017"/>
          <p:cNvSpPr txBox="1"/>
          <p:nvPr/>
        </p:nvSpPr>
        <p:spPr>
          <a:xfrm>
            <a:off x="612648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2.0</a:t>
            </a:r>
          </a:p>
        </p:txBody>
      </p:sp>
      <p:cxnSp>
        <p:nvCxnSpPr>
          <p:cNvPr id="20" name="C4-E21 line 18" descr="sci-ppt:o018"/>
          <p:cNvCxnSpPr/>
          <p:nvPr/>
        </p:nvCxnSpPr>
        <p:spPr>
          <a:xfrm>
            <a:off x="850392" y="493776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4-E21 line 19" descr="sci-ppt:o019"/>
          <p:cNvCxnSpPr/>
          <p:nvPr/>
        </p:nvCxnSpPr>
        <p:spPr>
          <a:xfrm>
            <a:off x="850392" y="4088674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4-E21 line 20" descr="sci-ppt:o020"/>
          <p:cNvCxnSpPr/>
          <p:nvPr/>
        </p:nvCxnSpPr>
        <p:spPr>
          <a:xfrm>
            <a:off x="914400" y="4088674"/>
            <a:ext cx="56692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4-E21 text 21" descr="sci-ppt:o021"/>
          <p:cNvSpPr txBox="1"/>
          <p:nvPr/>
        </p:nvSpPr>
        <p:spPr>
          <a:xfrm>
            <a:off x="45720" y="4006378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24" name="C4-E21 line 22" descr="sci-ppt:o022"/>
          <p:cNvCxnSpPr/>
          <p:nvPr/>
        </p:nvCxnSpPr>
        <p:spPr>
          <a:xfrm>
            <a:off x="850392" y="3239588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4-E21 line 23" descr="sci-ppt:o023"/>
          <p:cNvCxnSpPr/>
          <p:nvPr/>
        </p:nvCxnSpPr>
        <p:spPr>
          <a:xfrm>
            <a:off x="914400" y="3239588"/>
            <a:ext cx="56692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4-E21 text 24" descr="sci-ppt:o024"/>
          <p:cNvSpPr txBox="1"/>
          <p:nvPr/>
        </p:nvSpPr>
        <p:spPr>
          <a:xfrm>
            <a:off x="45720" y="315729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27" name="C4-E21 line 25" descr="sci-ppt:o025"/>
          <p:cNvCxnSpPr/>
          <p:nvPr/>
        </p:nvCxnSpPr>
        <p:spPr>
          <a:xfrm>
            <a:off x="850392" y="2390502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4-E21 line 26" descr="sci-ppt:o026"/>
          <p:cNvCxnSpPr/>
          <p:nvPr/>
        </p:nvCxnSpPr>
        <p:spPr>
          <a:xfrm>
            <a:off x="914400" y="2390502"/>
            <a:ext cx="56692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4-E21 text 27" descr="sci-ppt:o027"/>
          <p:cNvSpPr txBox="1"/>
          <p:nvPr/>
        </p:nvSpPr>
        <p:spPr>
          <a:xfrm>
            <a:off x="45720" y="2308206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</a:t>
            </a:r>
          </a:p>
        </p:txBody>
      </p:sp>
      <p:cxnSp>
        <p:nvCxnSpPr>
          <p:cNvPr id="30" name="C4-E21 line 28" descr="sci-ppt:o028"/>
          <p:cNvCxnSpPr/>
          <p:nvPr/>
        </p:nvCxnSpPr>
        <p:spPr>
          <a:xfrm>
            <a:off x="850392" y="1541417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C4-E21 line 29" descr="sci-ppt:o029"/>
          <p:cNvCxnSpPr/>
          <p:nvPr/>
        </p:nvCxnSpPr>
        <p:spPr>
          <a:xfrm>
            <a:off x="914400" y="1541417"/>
            <a:ext cx="56692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2" name="C4-E21 text 30" descr="sci-ppt:o030"/>
          <p:cNvSpPr txBox="1"/>
          <p:nvPr/>
        </p:nvSpPr>
        <p:spPr>
          <a:xfrm>
            <a:off x="45720" y="1459121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</a:t>
            </a:r>
          </a:p>
        </p:txBody>
      </p:sp>
      <p:sp>
        <p:nvSpPr>
          <p:cNvPr id="33" name="C4-E21 text 31" descr="sci-ppt:o031"/>
          <p:cNvSpPr txBox="1"/>
          <p:nvPr/>
        </p:nvSpPr>
        <p:spPr>
          <a:xfrm>
            <a:off x="914400" y="5221224"/>
            <a:ext cx="56692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p₀ / p₀,crit</a:t>
            </a:r>
          </a:p>
        </p:txBody>
      </p:sp>
      <p:sp>
        <p:nvSpPr>
          <p:cNvPr id="34" name="C4-E21 text 32" descr="sci-ppt:o032"/>
          <p:cNvSpPr txBox="1"/>
          <p:nvPr/>
        </p:nvSpPr>
        <p:spPr>
          <a:xfrm>
            <a:off x="365760" y="1024128"/>
            <a:ext cx="56692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G / Γ</a:t>
            </a:r>
          </a:p>
        </p:txBody>
      </p:sp>
      <p:sp>
        <p:nvSpPr>
          <p:cNvPr id="35" name="C4-E21 polygon 33" descr="sci-ppt:o033"/>
          <p:cNvSpPr/>
          <p:nvPr/>
        </p:nvSpPr>
        <p:spPr>
          <a:xfrm>
            <a:off x="914400" y="1541417"/>
            <a:ext cx="5669280" cy="3396343"/>
          </a:xfrm>
          <a:custGeom>
            <a:avLst/>
            <a:gdLst/>
            <a:ahLst/>
            <a:cxnLst/>
            <a:rect l="l" t="t" r="r" b="b"/>
            <a:pathLst>
              <a:path w="5669280" h="3396343">
                <a:moveTo>
                  <a:pt x="0" y="3396343"/>
                </a:moveTo>
                <a:lnTo>
                  <a:pt x="57265" y="3395996"/>
                </a:lnTo>
                <a:lnTo>
                  <a:pt x="114530" y="3394956"/>
                </a:lnTo>
                <a:lnTo>
                  <a:pt x="171796" y="3393224"/>
                </a:lnTo>
                <a:lnTo>
                  <a:pt x="229061" y="3390798"/>
                </a:lnTo>
                <a:lnTo>
                  <a:pt x="286327" y="3387679"/>
                </a:lnTo>
                <a:lnTo>
                  <a:pt x="343592" y="3383867"/>
                </a:lnTo>
                <a:lnTo>
                  <a:pt x="400858" y="3379363"/>
                </a:lnTo>
                <a:lnTo>
                  <a:pt x="458123" y="3374165"/>
                </a:lnTo>
                <a:lnTo>
                  <a:pt x="515389" y="3368274"/>
                </a:lnTo>
                <a:lnTo>
                  <a:pt x="572654" y="3361689"/>
                </a:lnTo>
                <a:lnTo>
                  <a:pt x="629920" y="3354412"/>
                </a:lnTo>
                <a:lnTo>
                  <a:pt x="687185" y="3346442"/>
                </a:lnTo>
                <a:lnTo>
                  <a:pt x="744450" y="3337779"/>
                </a:lnTo>
                <a:lnTo>
                  <a:pt x="801716" y="3328423"/>
                </a:lnTo>
                <a:lnTo>
                  <a:pt x="858981" y="3318373"/>
                </a:lnTo>
                <a:lnTo>
                  <a:pt x="916247" y="3307631"/>
                </a:lnTo>
                <a:lnTo>
                  <a:pt x="973512" y="3296195"/>
                </a:lnTo>
                <a:lnTo>
                  <a:pt x="1030778" y="3284067"/>
                </a:lnTo>
                <a:lnTo>
                  <a:pt x="1088043" y="3271245"/>
                </a:lnTo>
                <a:lnTo>
                  <a:pt x="1145309" y="3257730"/>
                </a:lnTo>
                <a:lnTo>
                  <a:pt x="1202574" y="3243523"/>
                </a:lnTo>
                <a:lnTo>
                  <a:pt x="1259840" y="3228622"/>
                </a:lnTo>
                <a:lnTo>
                  <a:pt x="1317105" y="3213028"/>
                </a:lnTo>
                <a:lnTo>
                  <a:pt x="1374370" y="3196741"/>
                </a:lnTo>
                <a:lnTo>
                  <a:pt x="1431636" y="3179761"/>
                </a:lnTo>
                <a:lnTo>
                  <a:pt x="1488901" y="3162088"/>
                </a:lnTo>
                <a:lnTo>
                  <a:pt x="1546167" y="3143722"/>
                </a:lnTo>
                <a:lnTo>
                  <a:pt x="1603432" y="3124663"/>
                </a:lnTo>
                <a:lnTo>
                  <a:pt x="1660698" y="3104911"/>
                </a:lnTo>
                <a:lnTo>
                  <a:pt x="1717963" y="3084465"/>
                </a:lnTo>
                <a:lnTo>
                  <a:pt x="1775229" y="3063327"/>
                </a:lnTo>
                <a:lnTo>
                  <a:pt x="1832494" y="3041496"/>
                </a:lnTo>
                <a:lnTo>
                  <a:pt x="1889760" y="3018971"/>
                </a:lnTo>
                <a:lnTo>
                  <a:pt x="1947025" y="2995754"/>
                </a:lnTo>
                <a:lnTo>
                  <a:pt x="2004290" y="2971843"/>
                </a:lnTo>
                <a:lnTo>
                  <a:pt x="2061556" y="2947239"/>
                </a:lnTo>
                <a:lnTo>
                  <a:pt x="2118821" y="2921943"/>
                </a:lnTo>
                <a:lnTo>
                  <a:pt x="2176087" y="2895953"/>
                </a:lnTo>
                <a:lnTo>
                  <a:pt x="2233352" y="2869270"/>
                </a:lnTo>
                <a:lnTo>
                  <a:pt x="2290618" y="2841894"/>
                </a:lnTo>
                <a:lnTo>
                  <a:pt x="2347883" y="2813825"/>
                </a:lnTo>
                <a:lnTo>
                  <a:pt x="2405149" y="2785063"/>
                </a:lnTo>
                <a:lnTo>
                  <a:pt x="2462414" y="2755608"/>
                </a:lnTo>
                <a:lnTo>
                  <a:pt x="2519680" y="2725460"/>
                </a:lnTo>
                <a:lnTo>
                  <a:pt x="2576945" y="2694619"/>
                </a:lnTo>
                <a:lnTo>
                  <a:pt x="2634210" y="2663085"/>
                </a:lnTo>
                <a:lnTo>
                  <a:pt x="2691476" y="2630857"/>
                </a:lnTo>
                <a:lnTo>
                  <a:pt x="2748741" y="2597937"/>
                </a:lnTo>
                <a:lnTo>
                  <a:pt x="2806007" y="2564323"/>
                </a:lnTo>
                <a:lnTo>
                  <a:pt x="2863272" y="2530017"/>
                </a:lnTo>
                <a:lnTo>
                  <a:pt x="2920538" y="2495017"/>
                </a:lnTo>
                <a:lnTo>
                  <a:pt x="2977803" y="2459325"/>
                </a:lnTo>
                <a:lnTo>
                  <a:pt x="3035069" y="2422939"/>
                </a:lnTo>
                <a:lnTo>
                  <a:pt x="3092334" y="2385860"/>
                </a:lnTo>
                <a:lnTo>
                  <a:pt x="3149600" y="2348089"/>
                </a:lnTo>
                <a:lnTo>
                  <a:pt x="3206865" y="2309624"/>
                </a:lnTo>
                <a:lnTo>
                  <a:pt x="3264130" y="2270466"/>
                </a:lnTo>
                <a:lnTo>
                  <a:pt x="3321396" y="2230615"/>
                </a:lnTo>
                <a:lnTo>
                  <a:pt x="3378661" y="2190071"/>
                </a:lnTo>
                <a:lnTo>
                  <a:pt x="3435927" y="2148834"/>
                </a:lnTo>
                <a:lnTo>
                  <a:pt x="3493192" y="2106903"/>
                </a:lnTo>
                <a:lnTo>
                  <a:pt x="3550458" y="2064280"/>
                </a:lnTo>
                <a:lnTo>
                  <a:pt x="3607723" y="2020964"/>
                </a:lnTo>
                <a:lnTo>
                  <a:pt x="3664989" y="1976955"/>
                </a:lnTo>
                <a:lnTo>
                  <a:pt x="3722254" y="1932252"/>
                </a:lnTo>
                <a:lnTo>
                  <a:pt x="3779520" y="1886857"/>
                </a:lnTo>
                <a:lnTo>
                  <a:pt x="3836785" y="1840768"/>
                </a:lnTo>
                <a:lnTo>
                  <a:pt x="3894050" y="1793987"/>
                </a:lnTo>
                <a:lnTo>
                  <a:pt x="3951316" y="1746512"/>
                </a:lnTo>
                <a:lnTo>
                  <a:pt x="4008581" y="1698344"/>
                </a:lnTo>
                <a:lnTo>
                  <a:pt x="4065847" y="1649484"/>
                </a:lnTo>
                <a:lnTo>
                  <a:pt x="4123112" y="1599930"/>
                </a:lnTo>
                <a:lnTo>
                  <a:pt x="4180378" y="1549683"/>
                </a:lnTo>
                <a:lnTo>
                  <a:pt x="4237643" y="1498743"/>
                </a:lnTo>
                <a:lnTo>
                  <a:pt x="4294909" y="1447110"/>
                </a:lnTo>
                <a:lnTo>
                  <a:pt x="4352174" y="1394784"/>
                </a:lnTo>
                <a:lnTo>
                  <a:pt x="4409440" y="1341765"/>
                </a:lnTo>
                <a:lnTo>
                  <a:pt x="4466705" y="1288053"/>
                </a:lnTo>
                <a:lnTo>
                  <a:pt x="4523970" y="1233647"/>
                </a:lnTo>
                <a:lnTo>
                  <a:pt x="4581236" y="1178549"/>
                </a:lnTo>
                <a:lnTo>
                  <a:pt x="4638501" y="1122758"/>
                </a:lnTo>
                <a:lnTo>
                  <a:pt x="4695767" y="1066273"/>
                </a:lnTo>
                <a:lnTo>
                  <a:pt x="4753032" y="1009096"/>
                </a:lnTo>
                <a:lnTo>
                  <a:pt x="4810298" y="951225"/>
                </a:lnTo>
                <a:lnTo>
                  <a:pt x="4867563" y="892662"/>
                </a:lnTo>
                <a:lnTo>
                  <a:pt x="4924829" y="833405"/>
                </a:lnTo>
                <a:lnTo>
                  <a:pt x="4982094" y="773455"/>
                </a:lnTo>
                <a:lnTo>
                  <a:pt x="5039360" y="712812"/>
                </a:lnTo>
                <a:lnTo>
                  <a:pt x="5096625" y="651476"/>
                </a:lnTo>
                <a:lnTo>
                  <a:pt x="5153890" y="589448"/>
                </a:lnTo>
                <a:lnTo>
                  <a:pt x="5211156" y="526726"/>
                </a:lnTo>
                <a:lnTo>
                  <a:pt x="5268421" y="463311"/>
                </a:lnTo>
                <a:lnTo>
                  <a:pt x="5325687" y="399202"/>
                </a:lnTo>
                <a:lnTo>
                  <a:pt x="5382952" y="334401"/>
                </a:lnTo>
                <a:lnTo>
                  <a:pt x="5440218" y="268907"/>
                </a:lnTo>
                <a:lnTo>
                  <a:pt x="5497483" y="202720"/>
                </a:lnTo>
                <a:lnTo>
                  <a:pt x="5554749" y="135839"/>
                </a:lnTo>
                <a:lnTo>
                  <a:pt x="5612014" y="68266"/>
                </a:lnTo>
                <a:lnTo>
                  <a:pt x="5669280" y="0"/>
                </a:lnTo>
              </a:path>
            </a:pathLst>
          </a:custGeom>
          <a:noFill/>
          <a:ln w="4318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" name="C4-E21 line 34" descr="sci-ppt:o034"/>
          <p:cNvCxnSpPr/>
          <p:nvPr/>
        </p:nvCxnSpPr>
        <p:spPr>
          <a:xfrm>
            <a:off x="914400" y="4088674"/>
            <a:ext cx="5669280" cy="0"/>
          </a:xfrm>
          <a:prstGeom prst="line">
            <a:avLst/>
          </a:prstGeom>
          <a:ln w="16510">
            <a:solidFill>
              <a:srgbClr val="F2B880"/>
            </a:solidFill>
            <a:prstDash val="dash"/>
          </a:ln>
          <a:effectLst/>
        </p:spPr>
      </p:cxnSp>
      <p:cxnSp>
        <p:nvCxnSpPr>
          <p:cNvPr id="37" name="C4-E21 line 35" descr="sci-ppt:o035"/>
          <p:cNvCxnSpPr/>
          <p:nvPr/>
        </p:nvCxnSpPr>
        <p:spPr>
          <a:xfrm>
            <a:off x="3749039" y="1371600"/>
            <a:ext cx="0" cy="3566160"/>
          </a:xfrm>
          <a:prstGeom prst="line">
            <a:avLst/>
          </a:prstGeom>
          <a:ln w="16510">
            <a:solidFill>
              <a:srgbClr val="F2B880"/>
            </a:solidFill>
            <a:prstDash val="dash"/>
          </a:ln>
          <a:effectLst/>
        </p:spPr>
      </p:cxnSp>
      <p:sp>
        <p:nvSpPr>
          <p:cNvPr id="38" name="C4-E21 ellipse 36" descr="sci-ppt:o036"/>
          <p:cNvSpPr/>
          <p:nvPr/>
        </p:nvSpPr>
        <p:spPr>
          <a:xfrm>
            <a:off x="3675887" y="4015522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4-E21 text 37" descr="sci-ppt:o037"/>
          <p:cNvSpPr txBox="1"/>
          <p:nvPr/>
        </p:nvSpPr>
        <p:spPr>
          <a:xfrm>
            <a:off x="4073652" y="4500154"/>
            <a:ext cx="16459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onset: G = Γ</a:t>
            </a:r>
          </a:p>
        </p:txBody>
      </p:sp>
      <p:sp>
        <p:nvSpPr>
          <p:cNvPr id="40" name="C4-E21 text 38" descr="sci-ppt:o038"/>
          <p:cNvSpPr txBox="1"/>
          <p:nvPr/>
        </p:nvSpPr>
        <p:spPr>
          <a:xfrm>
            <a:off x="1271016" y="1874520"/>
            <a:ext cx="27432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G/Γ = (p₀/p₀,crit)²</a:t>
            </a:r>
          </a:p>
        </p:txBody>
      </p:sp>
      <p:sp>
        <p:nvSpPr>
          <p:cNvPr id="41" name="C4-E21 round_rect 39" descr="sci-ppt:o039"/>
          <p:cNvSpPr/>
          <p:nvPr/>
        </p:nvSpPr>
        <p:spPr>
          <a:xfrm>
            <a:off x="6858000" y="1371600"/>
            <a:ext cx="4983480" cy="35661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C4-E21 text 40" descr="sci-ppt:o040"/>
          <p:cNvSpPr txBox="1"/>
          <p:nvPr/>
        </p:nvSpPr>
        <p:spPr>
          <a:xfrm>
            <a:off x="6967728" y="1426464"/>
            <a:ext cx="47640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Threshold pressure</a:t>
            </a:r>
          </a:p>
        </p:txBody>
      </p:sp>
      <p:sp>
        <p:nvSpPr>
          <p:cNvPr id="43" name="C4-E21 text 41" descr="sci-ppt:o041"/>
          <p:cNvSpPr txBox="1"/>
          <p:nvPr/>
        </p:nvSpPr>
        <p:spPr>
          <a:xfrm>
            <a:off x="6995160" y="1828800"/>
            <a:ext cx="475488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Gₚ₀ = Γ  ⇒  p₀,crit = √(128 D_f Γ) / b²</a:t>
            </a:r>
          </a:p>
        </p:txBody>
      </p:sp>
      <p:sp>
        <p:nvSpPr>
          <p:cNvPr id="44" name="C4-E21 text 42" descr="sci-ppt:o042"/>
          <p:cNvSpPr txBox="1"/>
          <p:nvPr/>
        </p:nvSpPr>
        <p:spPr>
          <a:xfrm>
            <a:off x="6995160" y="2651760"/>
            <a:ext cx="475488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G / Γ = (p₀ / p₀,crit)²</a:t>
            </a:r>
          </a:p>
        </p:txBody>
      </p:sp>
      <p:sp>
        <p:nvSpPr>
          <p:cNvPr id="45" name="C4-E21 text 43" descr="sci-ppt:o043"/>
          <p:cNvSpPr txBox="1"/>
          <p:nvPr/>
        </p:nvSpPr>
        <p:spPr>
          <a:xfrm>
            <a:off x="7196328" y="3291840"/>
            <a:ext cx="4553712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Doubling p₀ quadruples G.</a:t>
            </a:r>
          </a:p>
        </p:txBody>
      </p:sp>
      <p:sp>
        <p:nvSpPr>
          <p:cNvPr id="46" name="C4-E21 ellipse 44" descr="sci-ppt:o044"/>
          <p:cNvSpPr/>
          <p:nvPr/>
        </p:nvSpPr>
        <p:spPr>
          <a:xfrm>
            <a:off x="7027164" y="3345180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C4-E21 text 45" descr="sci-ppt:o045"/>
          <p:cNvSpPr txBox="1"/>
          <p:nvPr/>
        </p:nvSpPr>
        <p:spPr>
          <a:xfrm>
            <a:off x="7196328" y="3569208"/>
            <a:ext cx="4553712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A bigger blister (b) lowers the pressure needed as 1/b².</a:t>
            </a:r>
          </a:p>
        </p:txBody>
      </p:sp>
      <p:sp>
        <p:nvSpPr>
          <p:cNvPr id="48" name="C4-E21 ellipse 46" descr="sci-ppt:o046"/>
          <p:cNvSpPr/>
          <p:nvPr/>
        </p:nvSpPr>
        <p:spPr>
          <a:xfrm>
            <a:off x="7027164" y="3622548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C4-E21 text 47" descr="sci-ppt:o047"/>
          <p:cNvSpPr txBox="1"/>
          <p:nvPr/>
        </p:nvSpPr>
        <p:spPr>
          <a:xfrm>
            <a:off x="914400" y="5486400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The threshold depends on geometry and fracture resistance, not on pressure alone: a pressure peak without b and Γ says nothing.</a:t>
            </a:r>
          </a:p>
        </p:txBody>
      </p:sp>
      <p:sp>
        <p:nvSpPr>
          <p:cNvPr id="50" name="C4-E21 text 48" descr="sci-ppt:o048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Onset threshold of Eq. C4-E21.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