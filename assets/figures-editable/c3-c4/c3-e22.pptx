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C3-E22 · Finite-flight growth and regime diagnostics</a:t>
            </a:r>
          </a:p>
        </p:txBody>
      </p:sp>
      <p:sp>
        <p:nvSpPr>
          <p:cNvPr id="3" name="C3-E22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2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22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22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22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22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22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cxnSp>
        <p:nvCxnSpPr>
          <p:cNvPr id="10" name="C3-E22 arrow 8" descr="sci-ppt:o008"/>
          <p:cNvCxnSpPr/>
          <p:nvPr/>
        </p:nvCxnSpPr>
        <p:spPr>
          <a:xfrm>
            <a:off x="5760720" y="1874519"/>
            <a:ext cx="47548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22 rect 9" descr="sci-ppt:o009"/>
          <p:cNvSpPr/>
          <p:nvPr/>
        </p:nvSpPr>
        <p:spPr>
          <a:xfrm>
            <a:off x="10607040" y="1051560"/>
            <a:ext cx="182880" cy="21945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22 text 10" descr="sci-ppt:o010"/>
          <p:cNvSpPr txBox="1"/>
          <p:nvPr/>
        </p:nvSpPr>
        <p:spPr>
          <a:xfrm>
            <a:off x="7315200" y="22860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Gap H</a:t>
            </a:r>
          </a:p>
        </p:txBody>
      </p:sp>
      <p:cxnSp>
        <p:nvCxnSpPr>
          <p:cNvPr id="13" name="C3-E22 line 11" descr="sci-ppt:o011"/>
          <p:cNvCxnSpPr/>
          <p:nvPr/>
        </p:nvCxnSpPr>
        <p:spPr>
          <a:xfrm>
            <a:off x="5943600" y="1417319"/>
            <a:ext cx="59436" cy="3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3-E22 line 12" descr="sci-ppt:o012"/>
          <p:cNvCxnSpPr/>
          <p:nvPr/>
        </p:nvCxnSpPr>
        <p:spPr>
          <a:xfrm>
            <a:off x="6003036" y="1417695"/>
            <a:ext cx="59436" cy="74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3-E22 line 13" descr="sci-ppt:o013"/>
          <p:cNvCxnSpPr/>
          <p:nvPr/>
        </p:nvCxnSpPr>
        <p:spPr>
          <a:xfrm>
            <a:off x="6062472" y="1425102"/>
            <a:ext cx="59436" cy="143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3-E22 line 14" descr="sci-ppt:o014"/>
          <p:cNvCxnSpPr/>
          <p:nvPr/>
        </p:nvCxnSpPr>
        <p:spPr>
          <a:xfrm>
            <a:off x="6121908" y="1439407"/>
            <a:ext cx="59436" cy="205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3-E22 line 15" descr="sci-ppt:o015"/>
          <p:cNvCxnSpPr/>
          <p:nvPr/>
        </p:nvCxnSpPr>
        <p:spPr>
          <a:xfrm>
            <a:off x="6181344" y="1459915"/>
            <a:ext cx="59436" cy="254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3-E22 line 16" descr="sci-ppt:o016"/>
          <p:cNvCxnSpPr/>
          <p:nvPr/>
        </p:nvCxnSpPr>
        <p:spPr>
          <a:xfrm>
            <a:off x="6240780" y="1485396"/>
            <a:ext cx="59436" cy="28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3-E22 line 17" descr="sci-ppt:o017"/>
          <p:cNvCxnSpPr/>
          <p:nvPr/>
        </p:nvCxnSpPr>
        <p:spPr>
          <a:xfrm>
            <a:off x="6300216" y="1514156"/>
            <a:ext cx="59436" cy="2999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3-E22 line 18" descr="sci-ppt:o018"/>
          <p:cNvCxnSpPr/>
          <p:nvPr/>
        </p:nvCxnSpPr>
        <p:spPr>
          <a:xfrm>
            <a:off x="6359652" y="1544150"/>
            <a:ext cx="59436" cy="2897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3-E22 line 19" descr="sci-ppt:o019"/>
          <p:cNvCxnSpPr/>
          <p:nvPr/>
        </p:nvCxnSpPr>
        <p:spPr>
          <a:xfrm>
            <a:off x="6419088" y="1573123"/>
            <a:ext cx="59436" cy="2566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3-E22 line 20" descr="sci-ppt:o020"/>
          <p:cNvCxnSpPr/>
          <p:nvPr/>
        </p:nvCxnSpPr>
        <p:spPr>
          <a:xfrm>
            <a:off x="6478524" y="1598784"/>
            <a:ext cx="59436" cy="2020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3-E22 line 21" descr="sci-ppt:o021"/>
          <p:cNvCxnSpPr/>
          <p:nvPr/>
        </p:nvCxnSpPr>
        <p:spPr>
          <a:xfrm>
            <a:off x="6537960" y="1618984"/>
            <a:ext cx="59436" cy="129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3-E22 line 22" descr="sci-ppt:o022"/>
          <p:cNvCxnSpPr/>
          <p:nvPr/>
        </p:nvCxnSpPr>
        <p:spPr>
          <a:xfrm>
            <a:off x="6597396" y="1631892"/>
            <a:ext cx="59436" cy="42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3-E22 line 23" descr="sci-ppt:o023"/>
          <p:cNvCxnSpPr/>
          <p:nvPr/>
        </p:nvCxnSpPr>
        <p:spPr>
          <a:xfrm flipV="1">
            <a:off x="6656832" y="1631029"/>
            <a:ext cx="59436" cy="51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3-E22 line 24" descr="sci-ppt:o024"/>
          <p:cNvCxnSpPr/>
          <p:nvPr/>
        </p:nvCxnSpPr>
        <p:spPr>
          <a:xfrm flipV="1">
            <a:off x="6716268" y="1616458"/>
            <a:ext cx="59436" cy="145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3-E22 line 25" descr="sci-ppt:o025"/>
          <p:cNvCxnSpPr/>
          <p:nvPr/>
        </p:nvCxnSpPr>
        <p:spPr>
          <a:xfrm flipV="1">
            <a:off x="6775704" y="1593113"/>
            <a:ext cx="59436" cy="23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3-E22 line 26" descr="sci-ppt:o026"/>
          <p:cNvCxnSpPr/>
          <p:nvPr/>
        </p:nvCxnSpPr>
        <p:spPr>
          <a:xfrm flipV="1">
            <a:off x="6835140" y="1562375"/>
            <a:ext cx="59436" cy="3073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3-E22 line 27" descr="sci-ppt:o027"/>
          <p:cNvCxnSpPr/>
          <p:nvPr/>
        </p:nvCxnSpPr>
        <p:spPr>
          <a:xfrm flipV="1">
            <a:off x="6894576" y="1526249"/>
            <a:ext cx="59436" cy="361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3-E22 line 28" descr="sci-ppt:o028"/>
          <p:cNvCxnSpPr/>
          <p:nvPr/>
        </p:nvCxnSpPr>
        <p:spPr>
          <a:xfrm flipV="1">
            <a:off x="6954012" y="1487242"/>
            <a:ext cx="59436" cy="390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3-E22 line 29" descr="sci-ppt:o029"/>
          <p:cNvCxnSpPr/>
          <p:nvPr/>
        </p:nvCxnSpPr>
        <p:spPr>
          <a:xfrm flipV="1">
            <a:off x="7013448" y="1448186"/>
            <a:ext cx="59436" cy="3905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3-E22 line 30" descr="sci-ppt:o030"/>
          <p:cNvCxnSpPr/>
          <p:nvPr/>
        </p:nvCxnSpPr>
        <p:spPr>
          <a:xfrm flipV="1">
            <a:off x="7072884" y="1412032"/>
            <a:ext cx="59436" cy="361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3-E22 line 31" descr="sci-ppt:o031"/>
          <p:cNvCxnSpPr/>
          <p:nvPr/>
        </p:nvCxnSpPr>
        <p:spPr>
          <a:xfrm flipV="1">
            <a:off x="7132320" y="1381631"/>
            <a:ext cx="59436" cy="30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3-E22 line 32" descr="sci-ppt:o032"/>
          <p:cNvCxnSpPr/>
          <p:nvPr/>
        </p:nvCxnSpPr>
        <p:spPr>
          <a:xfrm flipV="1">
            <a:off x="7191756" y="1359506"/>
            <a:ext cx="59436" cy="221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3-E22 line 33" descr="sci-ppt:o033"/>
          <p:cNvCxnSpPr/>
          <p:nvPr/>
        </p:nvCxnSpPr>
        <p:spPr>
          <a:xfrm flipV="1">
            <a:off x="7251192" y="1347648"/>
            <a:ext cx="59436" cy="1185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3-E22 line 34" descr="sci-ppt:o034"/>
          <p:cNvCxnSpPr/>
          <p:nvPr/>
        </p:nvCxnSpPr>
        <p:spPr>
          <a:xfrm flipV="1">
            <a:off x="7310628" y="1347345"/>
            <a:ext cx="59436" cy="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3-E22 line 35" descr="sci-ppt:o035"/>
          <p:cNvCxnSpPr/>
          <p:nvPr/>
        </p:nvCxnSpPr>
        <p:spPr>
          <a:xfrm>
            <a:off x="7370064" y="1347345"/>
            <a:ext cx="59436" cy="1171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3-E22 line 36" descr="sci-ppt:o036"/>
          <p:cNvCxnSpPr/>
          <p:nvPr/>
        </p:nvCxnSpPr>
        <p:spPr>
          <a:xfrm>
            <a:off x="7429500" y="1359056"/>
            <a:ext cx="59436" cy="232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3-E22 line 37" descr="sci-ppt:o037"/>
          <p:cNvCxnSpPr/>
          <p:nvPr/>
        </p:nvCxnSpPr>
        <p:spPr>
          <a:xfrm>
            <a:off x="7488936" y="1382346"/>
            <a:ext cx="59436" cy="335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3-E22 line 38" descr="sci-ppt:o038"/>
          <p:cNvCxnSpPr/>
          <p:nvPr/>
        </p:nvCxnSpPr>
        <p:spPr>
          <a:xfrm>
            <a:off x="7548372" y="1415888"/>
            <a:ext cx="59436" cy="4164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3-E22 line 39" descr="sci-ppt:o039"/>
          <p:cNvCxnSpPr/>
          <p:nvPr/>
        </p:nvCxnSpPr>
        <p:spPr>
          <a:xfrm>
            <a:off x="7607808" y="1457534"/>
            <a:ext cx="59436" cy="469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3-E22 line 40" descr="sci-ppt:o040"/>
          <p:cNvCxnSpPr/>
          <p:nvPr/>
        </p:nvCxnSpPr>
        <p:spPr>
          <a:xfrm>
            <a:off x="7667244" y="1504447"/>
            <a:ext cx="59435" cy="488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3-E22 line 41" descr="sci-ppt:o041"/>
          <p:cNvCxnSpPr/>
          <p:nvPr/>
        </p:nvCxnSpPr>
        <p:spPr>
          <a:xfrm>
            <a:off x="7726679" y="1553299"/>
            <a:ext cx="59437" cy="472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3-E22 line 42" descr="sci-ppt:o042"/>
          <p:cNvCxnSpPr/>
          <p:nvPr/>
        </p:nvCxnSpPr>
        <p:spPr>
          <a:xfrm>
            <a:off x="7786116" y="1600500"/>
            <a:ext cx="59436" cy="4196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3-E22 line 43" descr="sci-ppt:o043"/>
          <p:cNvCxnSpPr/>
          <p:nvPr/>
        </p:nvCxnSpPr>
        <p:spPr>
          <a:xfrm>
            <a:off x="7845552" y="1642469"/>
            <a:ext cx="59436" cy="334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3-E22 line 44" descr="sci-ppt:o044"/>
          <p:cNvCxnSpPr/>
          <p:nvPr/>
        </p:nvCxnSpPr>
        <p:spPr>
          <a:xfrm>
            <a:off x="7904988" y="1675898"/>
            <a:ext cx="59436" cy="2211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3-E22 line 45" descr="sci-ppt:o045"/>
          <p:cNvCxnSpPr/>
          <p:nvPr/>
        </p:nvCxnSpPr>
        <p:spPr>
          <a:xfrm>
            <a:off x="7964424" y="1698017"/>
            <a:ext cx="59436" cy="879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3-E22 line 46" descr="sci-ppt:o046"/>
          <p:cNvCxnSpPr/>
          <p:nvPr/>
        </p:nvCxnSpPr>
        <p:spPr>
          <a:xfrm flipV="1">
            <a:off x="8023860" y="1701224"/>
            <a:ext cx="59436" cy="559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3-E22 line 47" descr="sci-ppt:o047"/>
          <p:cNvCxnSpPr/>
          <p:nvPr/>
        </p:nvCxnSpPr>
        <p:spPr>
          <a:xfrm flipV="1">
            <a:off x="8083296" y="1681214"/>
            <a:ext cx="59436" cy="200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3-E22 line 48" descr="sci-ppt:o048"/>
          <p:cNvCxnSpPr/>
          <p:nvPr/>
        </p:nvCxnSpPr>
        <p:spPr>
          <a:xfrm flipV="1">
            <a:off x="8142732" y="1647836"/>
            <a:ext cx="59436" cy="333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3-E22 line 49" descr="sci-ppt:o049"/>
          <p:cNvCxnSpPr/>
          <p:nvPr/>
        </p:nvCxnSpPr>
        <p:spPr>
          <a:xfrm flipV="1">
            <a:off x="8202168" y="1603176"/>
            <a:ext cx="59436" cy="446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3-E22 line 50" descr="sci-ppt:o050"/>
          <p:cNvCxnSpPr/>
          <p:nvPr/>
        </p:nvCxnSpPr>
        <p:spPr>
          <a:xfrm flipV="1">
            <a:off x="8261604" y="1550222"/>
            <a:ext cx="59436" cy="529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3-E22 line 51" descr="sci-ppt:o051"/>
          <p:cNvCxnSpPr/>
          <p:nvPr/>
        </p:nvCxnSpPr>
        <p:spPr>
          <a:xfrm flipV="1">
            <a:off x="8321040" y="1492668"/>
            <a:ext cx="59435" cy="575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3-E22 line 52" descr="sci-ppt:o052"/>
          <p:cNvCxnSpPr/>
          <p:nvPr/>
        </p:nvCxnSpPr>
        <p:spPr>
          <a:xfrm flipV="1">
            <a:off x="8380475" y="1434659"/>
            <a:ext cx="59437" cy="580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3-E22 line 53" descr="sci-ppt:o053"/>
          <p:cNvCxnSpPr/>
          <p:nvPr/>
        </p:nvCxnSpPr>
        <p:spPr>
          <a:xfrm flipV="1">
            <a:off x="8439912" y="1380488"/>
            <a:ext cx="59436" cy="54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3-E22 line 54" descr="sci-ppt:o054"/>
          <p:cNvCxnSpPr/>
          <p:nvPr/>
        </p:nvCxnSpPr>
        <p:spPr>
          <a:xfrm flipV="1">
            <a:off x="8499348" y="1334283"/>
            <a:ext cx="59436" cy="462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3-E22 line 55" descr="sci-ppt:o055"/>
          <p:cNvCxnSpPr/>
          <p:nvPr/>
        </p:nvCxnSpPr>
        <p:spPr>
          <a:xfrm flipV="1">
            <a:off x="8558784" y="1299690"/>
            <a:ext cx="59436" cy="345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3-E22 line 56" descr="sci-ppt:o056"/>
          <p:cNvCxnSpPr/>
          <p:nvPr/>
        </p:nvCxnSpPr>
        <p:spPr>
          <a:xfrm flipV="1">
            <a:off x="8618220" y="1279589"/>
            <a:ext cx="59436" cy="201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3-E22 line 57" descr="sci-ppt:o057"/>
          <p:cNvCxnSpPr/>
          <p:nvPr/>
        </p:nvCxnSpPr>
        <p:spPr>
          <a:xfrm flipV="1">
            <a:off x="8677656" y="1275855"/>
            <a:ext cx="59436" cy="37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3-E22 line 58" descr="sci-ppt:o058"/>
          <p:cNvCxnSpPr/>
          <p:nvPr/>
        </p:nvCxnSpPr>
        <p:spPr>
          <a:xfrm>
            <a:off x="8737092" y="1275855"/>
            <a:ext cx="59436" cy="133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3-E22 line 59" descr="sci-ppt:o059"/>
          <p:cNvCxnSpPr/>
          <p:nvPr/>
        </p:nvCxnSpPr>
        <p:spPr>
          <a:xfrm>
            <a:off x="8796528" y="1289197"/>
            <a:ext cx="59436" cy="298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3-E22 line 60" descr="sci-ppt:o060"/>
          <p:cNvCxnSpPr/>
          <p:nvPr/>
        </p:nvCxnSpPr>
        <p:spPr>
          <a:xfrm>
            <a:off x="8855964" y="1319073"/>
            <a:ext cx="59436" cy="4462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3-E22 line 61" descr="sci-ppt:o061"/>
          <p:cNvCxnSpPr/>
          <p:nvPr/>
        </p:nvCxnSpPr>
        <p:spPr>
          <a:xfrm>
            <a:off x="8915400" y="1363694"/>
            <a:ext cx="59436" cy="564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3-E22 line 62" descr="sci-ppt:o062"/>
          <p:cNvCxnSpPr/>
          <p:nvPr/>
        </p:nvCxnSpPr>
        <p:spPr>
          <a:xfrm>
            <a:off x="8974836" y="1420133"/>
            <a:ext cx="59436" cy="643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3-E22 line 63" descr="sci-ppt:o063"/>
          <p:cNvCxnSpPr/>
          <p:nvPr/>
        </p:nvCxnSpPr>
        <p:spPr>
          <a:xfrm>
            <a:off x="9034272" y="1484512"/>
            <a:ext cx="59436" cy="67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3-E22 line 64" descr="sci-ppt:o064"/>
          <p:cNvCxnSpPr/>
          <p:nvPr/>
        </p:nvCxnSpPr>
        <p:spPr>
          <a:xfrm>
            <a:off x="9093708" y="1552266"/>
            <a:ext cx="59436" cy="662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3-E22 line 65" descr="sci-ppt:o065"/>
          <p:cNvCxnSpPr/>
          <p:nvPr/>
        </p:nvCxnSpPr>
        <p:spPr>
          <a:xfrm>
            <a:off x="9153144" y="1618469"/>
            <a:ext cx="59436" cy="59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3-E22 line 66" descr="sci-ppt:o066"/>
          <p:cNvCxnSpPr/>
          <p:nvPr/>
        </p:nvCxnSpPr>
        <p:spPr>
          <a:xfrm>
            <a:off x="9212580" y="1678193"/>
            <a:ext cx="59436" cy="48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3-E22 line 67" descr="sci-ppt:o067"/>
          <p:cNvCxnSpPr/>
          <p:nvPr/>
        </p:nvCxnSpPr>
        <p:spPr>
          <a:xfrm>
            <a:off x="9272016" y="1726869"/>
            <a:ext cx="59436" cy="337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3-E22 line 68" descr="sci-ppt:o068"/>
          <p:cNvCxnSpPr/>
          <p:nvPr/>
        </p:nvCxnSpPr>
        <p:spPr>
          <a:xfrm>
            <a:off x="9331452" y="1760643"/>
            <a:ext cx="59436" cy="160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3-E22 line 69" descr="sci-ppt:o069"/>
          <p:cNvCxnSpPr/>
          <p:nvPr/>
        </p:nvCxnSpPr>
        <p:spPr>
          <a:xfrm flipV="1">
            <a:off x="9390888" y="1773372"/>
            <a:ext cx="59436" cy="3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3-E22 line 70" descr="sci-ppt:o070"/>
          <p:cNvCxnSpPr/>
          <p:nvPr/>
        </p:nvCxnSpPr>
        <p:spPr>
          <a:xfrm flipV="1">
            <a:off x="9450324" y="1750538"/>
            <a:ext cx="59436" cy="228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3-E22 line 71" descr="sci-ppt:o071"/>
          <p:cNvCxnSpPr/>
          <p:nvPr/>
        </p:nvCxnSpPr>
        <p:spPr>
          <a:xfrm flipV="1">
            <a:off x="9509760" y="1709416"/>
            <a:ext cx="59436" cy="41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3-E22 line 72" descr="sci-ppt:o072"/>
          <p:cNvCxnSpPr/>
          <p:nvPr/>
        </p:nvCxnSpPr>
        <p:spPr>
          <a:xfrm flipV="1">
            <a:off x="9569196" y="1652633"/>
            <a:ext cx="59436" cy="56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3-E22 line 73" descr="sci-ppt:o073"/>
          <p:cNvCxnSpPr/>
          <p:nvPr/>
        </p:nvCxnSpPr>
        <p:spPr>
          <a:xfrm flipV="1">
            <a:off x="9628632" y="1584029"/>
            <a:ext cx="59435" cy="686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3-E22 line 74" descr="sci-ppt:o074"/>
          <p:cNvCxnSpPr/>
          <p:nvPr/>
        </p:nvCxnSpPr>
        <p:spPr>
          <a:xfrm flipV="1">
            <a:off x="9688067" y="1508404"/>
            <a:ext cx="59437" cy="756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3-E22 line 75" descr="sci-ppt:o075"/>
          <p:cNvCxnSpPr/>
          <p:nvPr/>
        </p:nvCxnSpPr>
        <p:spPr>
          <a:xfrm flipV="1">
            <a:off x="9747504" y="1431179"/>
            <a:ext cx="59436" cy="772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3-E22 line 76" descr="sci-ppt:o076"/>
          <p:cNvCxnSpPr/>
          <p:nvPr/>
        </p:nvCxnSpPr>
        <p:spPr>
          <a:xfrm flipV="1">
            <a:off x="9806940" y="1358008"/>
            <a:ext cx="59436" cy="73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3-E22 line 77" descr="sci-ppt:o077"/>
          <p:cNvCxnSpPr/>
          <p:nvPr/>
        </p:nvCxnSpPr>
        <p:spPr>
          <a:xfrm flipV="1">
            <a:off x="9866376" y="1294367"/>
            <a:ext cx="59436" cy="636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3-E22 line 78" descr="sci-ppt:o078"/>
          <p:cNvCxnSpPr/>
          <p:nvPr/>
        </p:nvCxnSpPr>
        <p:spPr>
          <a:xfrm flipV="1">
            <a:off x="9925812" y="1245141"/>
            <a:ext cx="59436" cy="492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3-E22 line 79" descr="sci-ppt:o079"/>
          <p:cNvCxnSpPr/>
          <p:nvPr/>
        </p:nvCxnSpPr>
        <p:spPr>
          <a:xfrm flipV="1">
            <a:off x="9985248" y="1214251"/>
            <a:ext cx="59436" cy="308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2" name="C3-E22 text 80" descr="sci-ppt:o080"/>
          <p:cNvSpPr txBox="1"/>
          <p:nvPr/>
        </p:nvSpPr>
        <p:spPr>
          <a:xfrm>
            <a:off x="5852160" y="822960"/>
            <a:ext cx="53035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δ₀ → δ_arr during H/U_j</a:t>
            </a:r>
          </a:p>
        </p:txBody>
      </p:sp>
      <p:sp>
        <p:nvSpPr>
          <p:cNvPr id="83" name="C3-E22 text 81" descr="sci-ppt:o081"/>
          <p:cNvSpPr txBox="1"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8EDBD4"/>
                </a:solidFill>
                <a:latin typeface="Arial"/>
              </a:rPr>
              <a:t>Linear growth applies while disturbances remain small relative to radius.</a:t>
            </a:r>
          </a:p>
        </p:txBody>
      </p:sp>
      <p:cxnSp>
        <p:nvCxnSpPr>
          <p:cNvPr id="84" name="C3-E22 line 82" descr="sci-ppt:o082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85" name="C3-E22 text 83" descr="sci-ppt:o083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 flight gap; U_j travel speed</a:t>
            </a:r>
          </a:p>
        </p:txBody>
      </p:sp>
      <p:sp>
        <p:nvSpPr>
          <p:cNvPr id="86" name="C3-E22 text 84" descr="sci-ppt:o084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a₀, d_j = 2a₀</a:t>
            </a:r>
          </a:p>
        </p:txBody>
      </p:sp>
      <p:sp>
        <p:nvSpPr>
          <p:cNvPr id="87" name="C3-E22 text 85" descr="sci-ppt:o085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δ₀ → δ_arr → δ_crit</a:t>
            </a:r>
          </a:p>
        </p:txBody>
      </p:sp>
      <p:sp>
        <p:nvSpPr>
          <p:cNvPr id="88" name="C3-E22 text 86" descr="sci-ppt:o086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t_flight, t_lin, t_σ</a:t>
            </a:r>
          </a:p>
        </p:txBody>
      </p:sp>
      <p:sp>
        <p:nvSpPr>
          <p:cNvPr id="89" name="C3-E22 text 87" descr="sci-ppt:o087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g_max growth; λ_max wavelength</a:t>
            </a:r>
          </a:p>
        </p:txBody>
      </p:sp>
      <p:sp>
        <p:nvSpPr>
          <p:cNvPr id="90" name="C3-E22 text 88" descr="sci-ppt:o088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ρ, σ_j, μ; Re_j, We_j, Oh_j</a:t>
            </a:r>
          </a:p>
        </p:txBody>
      </p:sp>
      <p:sp>
        <p:nvSpPr>
          <p:cNvPr id="91" name="C3-E22 text 89" descr="sci-ppt:o089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ln, exp: growth legend</a:t>
            </a:r>
          </a:p>
        </p:txBody>
      </p:sp>
      <p:sp>
        <p:nvSpPr>
          <p:cNvPr id="92" name="C3-E22 text 90" descr="sci-ppt:o09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Radius defines capillary time; diameter defines the three groups</a:t>
            </a:r>
          </a:p>
        </p:txBody>
      </p:sp>
      <p:sp>
        <p:nvSpPr>
          <p:cNvPr id="93" name="C3-E22 text 91" descr="sci-ppt:o09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 radius-sized disturbance is outside linear validity</a:t>
            </a:r>
          </a:p>
        </p:txBody>
      </p:sp>
      <p:sp>
        <p:nvSpPr>
          <p:cNvPr id="94" name="C3-E22 text 92" descr="sci-ppt:o09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