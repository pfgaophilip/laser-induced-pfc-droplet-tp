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3-E22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C3-E22 · Finite-flight growth and regime diagnostics</a:t>
            </a:r>
          </a:p>
        </p:txBody>
      </p:sp>
      <p:cxnSp>
        <p:nvCxnSpPr>
          <p:cNvPr id="3" name="C3-E22 line 1" descr="sci-ppt:o001"/>
          <p:cNvCxnSpPr/>
          <p:nvPr/>
        </p:nvCxnSpPr>
        <p:spPr>
          <a:xfrm>
            <a:off x="914400" y="5029200"/>
            <a:ext cx="585216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C3-E22 line 2" descr="sci-ppt:o002"/>
          <p:cNvCxnSpPr/>
          <p:nvPr/>
        </p:nvCxnSpPr>
        <p:spPr>
          <a:xfrm>
            <a:off x="914400" y="1371600"/>
            <a:ext cx="0" cy="365760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C3-E22 line 3" descr="sci-ppt:o003"/>
          <p:cNvCxnSpPr/>
          <p:nvPr/>
        </p:nvCxnSpPr>
        <p:spPr>
          <a:xfrm>
            <a:off x="91440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" name="C3-E22 line 4" descr="sci-ppt:o004"/>
          <p:cNvCxnSpPr/>
          <p:nvPr/>
        </p:nvCxnSpPr>
        <p:spPr>
          <a:xfrm>
            <a:off x="91440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7" name="C3-E22 text 5" descr="sci-ppt:o005"/>
          <p:cNvSpPr txBox="1"/>
          <p:nvPr/>
        </p:nvSpPr>
        <p:spPr>
          <a:xfrm>
            <a:off x="45720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</a:t>
            </a:r>
          </a:p>
        </p:txBody>
      </p:sp>
      <p:cxnSp>
        <p:nvCxnSpPr>
          <p:cNvPr id="8" name="C3-E22 line 6" descr="sci-ppt:o006"/>
          <p:cNvCxnSpPr/>
          <p:nvPr/>
        </p:nvCxnSpPr>
        <p:spPr>
          <a:xfrm>
            <a:off x="237744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9" name="C3-E22 line 7" descr="sci-ppt:o007"/>
          <p:cNvCxnSpPr/>
          <p:nvPr/>
        </p:nvCxnSpPr>
        <p:spPr>
          <a:xfrm>
            <a:off x="237744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0" name="C3-E22 text 8" descr="sci-ppt:o008"/>
          <p:cNvSpPr txBox="1"/>
          <p:nvPr/>
        </p:nvSpPr>
        <p:spPr>
          <a:xfrm>
            <a:off x="192024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5</a:t>
            </a:r>
          </a:p>
        </p:txBody>
      </p:sp>
      <p:cxnSp>
        <p:nvCxnSpPr>
          <p:cNvPr id="11" name="C3-E22 line 9" descr="sci-ppt:o009"/>
          <p:cNvCxnSpPr/>
          <p:nvPr/>
        </p:nvCxnSpPr>
        <p:spPr>
          <a:xfrm>
            <a:off x="384048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2" name="C3-E22 line 10" descr="sci-ppt:o010"/>
          <p:cNvCxnSpPr/>
          <p:nvPr/>
        </p:nvCxnSpPr>
        <p:spPr>
          <a:xfrm>
            <a:off x="384048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3" name="C3-E22 text 11" descr="sci-ppt:o011"/>
          <p:cNvSpPr txBox="1"/>
          <p:nvPr/>
        </p:nvSpPr>
        <p:spPr>
          <a:xfrm>
            <a:off x="338328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10</a:t>
            </a:r>
          </a:p>
        </p:txBody>
      </p:sp>
      <p:cxnSp>
        <p:nvCxnSpPr>
          <p:cNvPr id="14" name="C3-E22 line 12" descr="sci-ppt:o012"/>
          <p:cNvCxnSpPr/>
          <p:nvPr/>
        </p:nvCxnSpPr>
        <p:spPr>
          <a:xfrm>
            <a:off x="530352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5" name="C3-E22 line 13" descr="sci-ppt:o013"/>
          <p:cNvCxnSpPr/>
          <p:nvPr/>
        </p:nvCxnSpPr>
        <p:spPr>
          <a:xfrm>
            <a:off x="530352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6" name="C3-E22 text 14" descr="sci-ppt:o014"/>
          <p:cNvSpPr txBox="1"/>
          <p:nvPr/>
        </p:nvSpPr>
        <p:spPr>
          <a:xfrm>
            <a:off x="484632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15</a:t>
            </a:r>
          </a:p>
        </p:txBody>
      </p:sp>
      <p:cxnSp>
        <p:nvCxnSpPr>
          <p:cNvPr id="17" name="C3-E22 line 15" descr="sci-ppt:o015"/>
          <p:cNvCxnSpPr/>
          <p:nvPr/>
        </p:nvCxnSpPr>
        <p:spPr>
          <a:xfrm>
            <a:off x="676656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8" name="C3-E22 line 16" descr="sci-ppt:o016"/>
          <p:cNvCxnSpPr/>
          <p:nvPr/>
        </p:nvCxnSpPr>
        <p:spPr>
          <a:xfrm>
            <a:off x="676656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9" name="C3-E22 text 17" descr="sci-ppt:o017"/>
          <p:cNvSpPr txBox="1"/>
          <p:nvPr/>
        </p:nvSpPr>
        <p:spPr>
          <a:xfrm>
            <a:off x="630936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20</a:t>
            </a:r>
          </a:p>
        </p:txBody>
      </p:sp>
      <p:cxnSp>
        <p:nvCxnSpPr>
          <p:cNvPr id="20" name="C3-E22 line 18" descr="sci-ppt:o018"/>
          <p:cNvCxnSpPr/>
          <p:nvPr/>
        </p:nvCxnSpPr>
        <p:spPr>
          <a:xfrm>
            <a:off x="850392" y="4584713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1" name="C3-E22 line 19" descr="sci-ppt:o019"/>
          <p:cNvCxnSpPr/>
          <p:nvPr/>
        </p:nvCxnSpPr>
        <p:spPr>
          <a:xfrm>
            <a:off x="914400" y="4584713"/>
            <a:ext cx="58521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2" name="C3-E22 text 20" descr="sci-ppt:o020"/>
          <p:cNvSpPr txBox="1"/>
          <p:nvPr/>
        </p:nvSpPr>
        <p:spPr>
          <a:xfrm>
            <a:off x="45720" y="4502417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0.01</a:t>
            </a:r>
          </a:p>
        </p:txBody>
      </p:sp>
      <p:cxnSp>
        <p:nvCxnSpPr>
          <p:cNvPr id="23" name="C3-E22 line 21" descr="sci-ppt:o021"/>
          <p:cNvCxnSpPr/>
          <p:nvPr/>
        </p:nvCxnSpPr>
        <p:spPr>
          <a:xfrm>
            <a:off x="850392" y="310816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4" name="C3-E22 line 22" descr="sci-ppt:o022"/>
          <p:cNvCxnSpPr/>
          <p:nvPr/>
        </p:nvCxnSpPr>
        <p:spPr>
          <a:xfrm>
            <a:off x="914400" y="3108160"/>
            <a:ext cx="58521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5" name="C3-E22 text 23" descr="sci-ppt:o023"/>
          <p:cNvSpPr txBox="1"/>
          <p:nvPr/>
        </p:nvSpPr>
        <p:spPr>
          <a:xfrm>
            <a:off x="45720" y="302586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0.1</a:t>
            </a:r>
          </a:p>
        </p:txBody>
      </p:sp>
      <p:cxnSp>
        <p:nvCxnSpPr>
          <p:cNvPr id="26" name="C3-E22 line 24" descr="sci-ppt:o024"/>
          <p:cNvCxnSpPr/>
          <p:nvPr/>
        </p:nvCxnSpPr>
        <p:spPr>
          <a:xfrm>
            <a:off x="850392" y="1631608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7" name="C3-E22 line 25" descr="sci-ppt:o025"/>
          <p:cNvCxnSpPr/>
          <p:nvPr/>
        </p:nvCxnSpPr>
        <p:spPr>
          <a:xfrm>
            <a:off x="914400" y="1631608"/>
            <a:ext cx="58521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8" name="C3-E22 text 26" descr="sci-ppt:o026"/>
          <p:cNvSpPr txBox="1"/>
          <p:nvPr/>
        </p:nvSpPr>
        <p:spPr>
          <a:xfrm>
            <a:off x="45720" y="1549312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sp>
        <p:nvSpPr>
          <p:cNvPr id="29" name="C3-E22 text 27" descr="sci-ppt:o027"/>
          <p:cNvSpPr txBox="1"/>
          <p:nvPr/>
        </p:nvSpPr>
        <p:spPr>
          <a:xfrm>
            <a:off x="914400" y="5312664"/>
            <a:ext cx="58521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time  (µs)</a:t>
            </a:r>
          </a:p>
        </p:txBody>
      </p:sp>
      <p:sp>
        <p:nvSpPr>
          <p:cNvPr id="30" name="C3-E22 text 28" descr="sci-ppt:o028"/>
          <p:cNvSpPr txBox="1"/>
          <p:nvPr/>
        </p:nvSpPr>
        <p:spPr>
          <a:xfrm>
            <a:off x="365760" y="1024128"/>
            <a:ext cx="58521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δ / a₀</a:t>
            </a:r>
          </a:p>
        </p:txBody>
      </p:sp>
      <p:sp>
        <p:nvSpPr>
          <p:cNvPr id="31" name="C3-E22 polygon 29" descr="sci-ppt:o029"/>
          <p:cNvSpPr/>
          <p:nvPr/>
        </p:nvSpPr>
        <p:spPr>
          <a:xfrm>
            <a:off x="914400" y="1388082"/>
            <a:ext cx="5597718" cy="3196631"/>
          </a:xfrm>
          <a:custGeom>
            <a:avLst/>
            <a:gdLst/>
            <a:ahLst/>
            <a:cxnLst/>
            <a:rect l="l" t="t" r="r" b="b"/>
            <a:pathLst>
              <a:path w="5597718" h="3196631">
                <a:moveTo>
                  <a:pt x="0" y="3196631"/>
                </a:moveTo>
                <a:lnTo>
                  <a:pt x="39144" y="3174277"/>
                </a:lnTo>
                <a:lnTo>
                  <a:pt x="78289" y="3151923"/>
                </a:lnTo>
                <a:lnTo>
                  <a:pt x="117434" y="3129569"/>
                </a:lnTo>
                <a:lnTo>
                  <a:pt x="156579" y="3107215"/>
                </a:lnTo>
                <a:lnTo>
                  <a:pt x="195724" y="3084861"/>
                </a:lnTo>
                <a:lnTo>
                  <a:pt x="234869" y="3062506"/>
                </a:lnTo>
                <a:lnTo>
                  <a:pt x="274014" y="3040152"/>
                </a:lnTo>
                <a:lnTo>
                  <a:pt x="313159" y="3017798"/>
                </a:lnTo>
                <a:lnTo>
                  <a:pt x="352303" y="2995444"/>
                </a:lnTo>
                <a:lnTo>
                  <a:pt x="391448" y="2973090"/>
                </a:lnTo>
                <a:lnTo>
                  <a:pt x="430593" y="2950736"/>
                </a:lnTo>
                <a:lnTo>
                  <a:pt x="469738" y="2928382"/>
                </a:lnTo>
                <a:lnTo>
                  <a:pt x="508883" y="2906028"/>
                </a:lnTo>
                <a:lnTo>
                  <a:pt x="548028" y="2883674"/>
                </a:lnTo>
                <a:lnTo>
                  <a:pt x="587173" y="2861320"/>
                </a:lnTo>
                <a:lnTo>
                  <a:pt x="626318" y="2838966"/>
                </a:lnTo>
                <a:lnTo>
                  <a:pt x="665463" y="2816612"/>
                </a:lnTo>
                <a:lnTo>
                  <a:pt x="704607" y="2794258"/>
                </a:lnTo>
                <a:lnTo>
                  <a:pt x="743752" y="2771904"/>
                </a:lnTo>
                <a:lnTo>
                  <a:pt x="782897" y="2749550"/>
                </a:lnTo>
                <a:lnTo>
                  <a:pt x="822042" y="2727196"/>
                </a:lnTo>
                <a:lnTo>
                  <a:pt x="861187" y="2704842"/>
                </a:lnTo>
                <a:lnTo>
                  <a:pt x="900332" y="2682487"/>
                </a:lnTo>
                <a:lnTo>
                  <a:pt x="939477" y="2660133"/>
                </a:lnTo>
                <a:lnTo>
                  <a:pt x="978622" y="2637779"/>
                </a:lnTo>
                <a:lnTo>
                  <a:pt x="1017766" y="2615425"/>
                </a:lnTo>
                <a:lnTo>
                  <a:pt x="1056911" y="2593071"/>
                </a:lnTo>
                <a:lnTo>
                  <a:pt x="1096056" y="2570717"/>
                </a:lnTo>
                <a:lnTo>
                  <a:pt x="1135201" y="2548363"/>
                </a:lnTo>
                <a:lnTo>
                  <a:pt x="1174346" y="2526009"/>
                </a:lnTo>
                <a:lnTo>
                  <a:pt x="1213491" y="2503655"/>
                </a:lnTo>
                <a:lnTo>
                  <a:pt x="1252636" y="2481301"/>
                </a:lnTo>
                <a:lnTo>
                  <a:pt x="1291781" y="2458947"/>
                </a:lnTo>
                <a:lnTo>
                  <a:pt x="1330926" y="2436593"/>
                </a:lnTo>
                <a:lnTo>
                  <a:pt x="1370070" y="2414239"/>
                </a:lnTo>
                <a:lnTo>
                  <a:pt x="1409215" y="2391885"/>
                </a:lnTo>
                <a:lnTo>
                  <a:pt x="1448360" y="2369531"/>
                </a:lnTo>
                <a:lnTo>
                  <a:pt x="1487505" y="2347177"/>
                </a:lnTo>
                <a:lnTo>
                  <a:pt x="1526650" y="2324822"/>
                </a:lnTo>
                <a:lnTo>
                  <a:pt x="1565795" y="2302468"/>
                </a:lnTo>
                <a:lnTo>
                  <a:pt x="1604940" y="2280114"/>
                </a:lnTo>
                <a:lnTo>
                  <a:pt x="1644085" y="2257760"/>
                </a:lnTo>
                <a:lnTo>
                  <a:pt x="1683229" y="2235406"/>
                </a:lnTo>
                <a:lnTo>
                  <a:pt x="1722374" y="2213052"/>
                </a:lnTo>
                <a:lnTo>
                  <a:pt x="1761519" y="2190698"/>
                </a:lnTo>
                <a:lnTo>
                  <a:pt x="1800664" y="2168344"/>
                </a:lnTo>
                <a:lnTo>
                  <a:pt x="1839809" y="2145990"/>
                </a:lnTo>
                <a:lnTo>
                  <a:pt x="1878954" y="2123636"/>
                </a:lnTo>
                <a:lnTo>
                  <a:pt x="1918099" y="2101282"/>
                </a:lnTo>
                <a:lnTo>
                  <a:pt x="1957244" y="2078928"/>
                </a:lnTo>
                <a:lnTo>
                  <a:pt x="1996389" y="2056574"/>
                </a:lnTo>
                <a:lnTo>
                  <a:pt x="2035533" y="2034220"/>
                </a:lnTo>
                <a:lnTo>
                  <a:pt x="2074678" y="2011866"/>
                </a:lnTo>
                <a:lnTo>
                  <a:pt x="2113823" y="1989512"/>
                </a:lnTo>
                <a:lnTo>
                  <a:pt x="2152968" y="1967157"/>
                </a:lnTo>
                <a:lnTo>
                  <a:pt x="2192113" y="1944803"/>
                </a:lnTo>
                <a:lnTo>
                  <a:pt x="2231258" y="1922449"/>
                </a:lnTo>
                <a:lnTo>
                  <a:pt x="2270403" y="1900095"/>
                </a:lnTo>
                <a:lnTo>
                  <a:pt x="2309548" y="1877741"/>
                </a:lnTo>
                <a:lnTo>
                  <a:pt x="2348692" y="1855387"/>
                </a:lnTo>
                <a:lnTo>
                  <a:pt x="2387837" y="1833033"/>
                </a:lnTo>
                <a:lnTo>
                  <a:pt x="2426982" y="1810679"/>
                </a:lnTo>
                <a:lnTo>
                  <a:pt x="2466127" y="1788325"/>
                </a:lnTo>
                <a:lnTo>
                  <a:pt x="2505272" y="1765971"/>
                </a:lnTo>
                <a:lnTo>
                  <a:pt x="2544417" y="1743617"/>
                </a:lnTo>
                <a:lnTo>
                  <a:pt x="2583562" y="1721263"/>
                </a:lnTo>
                <a:lnTo>
                  <a:pt x="2622707" y="1698909"/>
                </a:lnTo>
                <a:lnTo>
                  <a:pt x="2661852" y="1676555"/>
                </a:lnTo>
                <a:lnTo>
                  <a:pt x="2700996" y="1654201"/>
                </a:lnTo>
                <a:lnTo>
                  <a:pt x="2740141" y="1631847"/>
                </a:lnTo>
                <a:lnTo>
                  <a:pt x="2779286" y="1609493"/>
                </a:lnTo>
                <a:lnTo>
                  <a:pt x="2818431" y="1587138"/>
                </a:lnTo>
                <a:lnTo>
                  <a:pt x="2857576" y="1564784"/>
                </a:lnTo>
                <a:lnTo>
                  <a:pt x="2896721" y="1542430"/>
                </a:lnTo>
                <a:lnTo>
                  <a:pt x="2935866" y="1520076"/>
                </a:lnTo>
                <a:lnTo>
                  <a:pt x="2975011" y="1497722"/>
                </a:lnTo>
                <a:lnTo>
                  <a:pt x="3014155" y="1475368"/>
                </a:lnTo>
                <a:lnTo>
                  <a:pt x="3053300" y="1453014"/>
                </a:lnTo>
                <a:lnTo>
                  <a:pt x="3092445" y="1430660"/>
                </a:lnTo>
                <a:lnTo>
                  <a:pt x="3131590" y="1408306"/>
                </a:lnTo>
                <a:lnTo>
                  <a:pt x="3170735" y="1385952"/>
                </a:lnTo>
                <a:lnTo>
                  <a:pt x="3209880" y="1363598"/>
                </a:lnTo>
                <a:lnTo>
                  <a:pt x="3249025" y="1341244"/>
                </a:lnTo>
                <a:lnTo>
                  <a:pt x="3288170" y="1318890"/>
                </a:lnTo>
                <a:lnTo>
                  <a:pt x="3327315" y="1296536"/>
                </a:lnTo>
                <a:lnTo>
                  <a:pt x="3366459" y="1274182"/>
                </a:lnTo>
                <a:lnTo>
                  <a:pt x="3405604" y="1251828"/>
                </a:lnTo>
                <a:lnTo>
                  <a:pt x="3444749" y="1229473"/>
                </a:lnTo>
                <a:lnTo>
                  <a:pt x="3483894" y="1207119"/>
                </a:lnTo>
                <a:lnTo>
                  <a:pt x="3523039" y="1184765"/>
                </a:lnTo>
                <a:lnTo>
                  <a:pt x="3562184" y="1162411"/>
                </a:lnTo>
                <a:lnTo>
                  <a:pt x="3601329" y="1140057"/>
                </a:lnTo>
                <a:lnTo>
                  <a:pt x="3640474" y="1117703"/>
                </a:lnTo>
                <a:lnTo>
                  <a:pt x="3679618" y="1095349"/>
                </a:lnTo>
                <a:lnTo>
                  <a:pt x="3718763" y="1072995"/>
                </a:lnTo>
                <a:lnTo>
                  <a:pt x="3757908" y="1050641"/>
                </a:lnTo>
                <a:lnTo>
                  <a:pt x="3797053" y="1028287"/>
                </a:lnTo>
                <a:lnTo>
                  <a:pt x="3836198" y="1005933"/>
                </a:lnTo>
                <a:lnTo>
                  <a:pt x="3875343" y="983579"/>
                </a:lnTo>
                <a:lnTo>
                  <a:pt x="3914488" y="961225"/>
                </a:lnTo>
                <a:lnTo>
                  <a:pt x="3953633" y="938871"/>
                </a:lnTo>
                <a:lnTo>
                  <a:pt x="3992778" y="916517"/>
                </a:lnTo>
                <a:lnTo>
                  <a:pt x="4031922" y="894163"/>
                </a:lnTo>
                <a:lnTo>
                  <a:pt x="4071067" y="871808"/>
                </a:lnTo>
                <a:lnTo>
                  <a:pt x="4110212" y="849454"/>
                </a:lnTo>
                <a:lnTo>
                  <a:pt x="4149357" y="827100"/>
                </a:lnTo>
                <a:lnTo>
                  <a:pt x="4188502" y="804746"/>
                </a:lnTo>
                <a:lnTo>
                  <a:pt x="4227647" y="782392"/>
                </a:lnTo>
                <a:lnTo>
                  <a:pt x="4266792" y="760038"/>
                </a:lnTo>
                <a:lnTo>
                  <a:pt x="4305937" y="737684"/>
                </a:lnTo>
                <a:lnTo>
                  <a:pt x="4345082" y="715330"/>
                </a:lnTo>
                <a:lnTo>
                  <a:pt x="4384226" y="692976"/>
                </a:lnTo>
                <a:lnTo>
                  <a:pt x="4423371" y="670622"/>
                </a:lnTo>
                <a:lnTo>
                  <a:pt x="4462516" y="648268"/>
                </a:lnTo>
                <a:lnTo>
                  <a:pt x="4501661" y="625914"/>
                </a:lnTo>
                <a:lnTo>
                  <a:pt x="4540806" y="603560"/>
                </a:lnTo>
                <a:lnTo>
                  <a:pt x="4579951" y="581206"/>
                </a:lnTo>
                <a:lnTo>
                  <a:pt x="4619096" y="558852"/>
                </a:lnTo>
                <a:lnTo>
                  <a:pt x="4658241" y="536498"/>
                </a:lnTo>
                <a:lnTo>
                  <a:pt x="4697385" y="514144"/>
                </a:lnTo>
                <a:lnTo>
                  <a:pt x="4736530" y="491789"/>
                </a:lnTo>
                <a:lnTo>
                  <a:pt x="4775675" y="469435"/>
                </a:lnTo>
                <a:lnTo>
                  <a:pt x="4814820" y="447081"/>
                </a:lnTo>
                <a:lnTo>
                  <a:pt x="4853965" y="424727"/>
                </a:lnTo>
                <a:lnTo>
                  <a:pt x="4893110" y="402373"/>
                </a:lnTo>
                <a:lnTo>
                  <a:pt x="4932255" y="380019"/>
                </a:lnTo>
                <a:lnTo>
                  <a:pt x="4971400" y="357665"/>
                </a:lnTo>
                <a:lnTo>
                  <a:pt x="5010545" y="335311"/>
                </a:lnTo>
                <a:lnTo>
                  <a:pt x="5049689" y="312957"/>
                </a:lnTo>
                <a:lnTo>
                  <a:pt x="5088834" y="290603"/>
                </a:lnTo>
                <a:lnTo>
                  <a:pt x="5127979" y="268249"/>
                </a:lnTo>
                <a:lnTo>
                  <a:pt x="5167124" y="245895"/>
                </a:lnTo>
                <a:lnTo>
                  <a:pt x="5206269" y="223541"/>
                </a:lnTo>
                <a:lnTo>
                  <a:pt x="5245414" y="201187"/>
                </a:lnTo>
                <a:lnTo>
                  <a:pt x="5284559" y="178833"/>
                </a:lnTo>
                <a:lnTo>
                  <a:pt x="5323704" y="156479"/>
                </a:lnTo>
                <a:lnTo>
                  <a:pt x="5362848" y="134124"/>
                </a:lnTo>
                <a:lnTo>
                  <a:pt x="5401993" y="111770"/>
                </a:lnTo>
                <a:lnTo>
                  <a:pt x="5441138" y="89416"/>
                </a:lnTo>
                <a:lnTo>
                  <a:pt x="5480283" y="67062"/>
                </a:lnTo>
                <a:lnTo>
                  <a:pt x="5519428" y="44708"/>
                </a:lnTo>
                <a:lnTo>
                  <a:pt x="5558573" y="22354"/>
                </a:lnTo>
                <a:lnTo>
                  <a:pt x="5597718" y="0"/>
                </a:lnTo>
              </a:path>
            </a:pathLst>
          </a:custGeom>
          <a:noFill/>
          <a:ln w="381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2" name="C3-E22 line 30" descr="sci-ppt:o030"/>
          <p:cNvCxnSpPr/>
          <p:nvPr/>
        </p:nvCxnSpPr>
        <p:spPr>
          <a:xfrm>
            <a:off x="1831140" y="1371600"/>
            <a:ext cx="0" cy="3657600"/>
          </a:xfrm>
          <a:prstGeom prst="line">
            <a:avLst/>
          </a:prstGeom>
          <a:ln w="16510">
            <a:solidFill>
              <a:srgbClr val="F2B880"/>
            </a:solidFill>
            <a:prstDash val="dash"/>
          </a:ln>
          <a:effectLst/>
        </p:spPr>
      </p:cxnSp>
      <p:sp>
        <p:nvSpPr>
          <p:cNvPr id="33" name="C3-E22 ellipse 31" descr="sci-ppt:o031"/>
          <p:cNvSpPr/>
          <p:nvPr/>
        </p:nvSpPr>
        <p:spPr>
          <a:xfrm>
            <a:off x="1757988" y="3988047"/>
            <a:ext cx="146304" cy="146304"/>
          </a:xfrm>
          <a:prstGeom prst="ellipse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C3-E22 text 32" descr="sci-ppt:o032"/>
          <p:cNvSpPr txBox="1"/>
          <p:nvPr/>
        </p:nvSpPr>
        <p:spPr>
          <a:xfrm>
            <a:off x="1968300" y="3513213"/>
            <a:ext cx="27432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2B880"/>
                </a:solidFill>
                <a:latin typeface="Arial"/>
              </a:rPr>
              <a:t>flight 3.13 µs: 1 % → 2.26 %</a:t>
            </a:r>
          </a:p>
        </p:txBody>
      </p:sp>
      <p:cxnSp>
        <p:nvCxnSpPr>
          <p:cNvPr id="35" name="C3-E22 line 33" descr="sci-ppt:o033"/>
          <p:cNvCxnSpPr/>
          <p:nvPr/>
        </p:nvCxnSpPr>
        <p:spPr>
          <a:xfrm>
            <a:off x="6085673" y="1371600"/>
            <a:ext cx="0" cy="3657600"/>
          </a:xfrm>
          <a:prstGeom prst="line">
            <a:avLst/>
          </a:prstGeom>
          <a:ln w="16510">
            <a:solidFill>
              <a:srgbClr val="F28BA0"/>
            </a:solidFill>
            <a:prstDash val="dash"/>
          </a:ln>
          <a:effectLst/>
        </p:spPr>
      </p:cxnSp>
      <p:sp>
        <p:nvSpPr>
          <p:cNvPr id="36" name="C3-E22 text 34" descr="sci-ppt:o034"/>
          <p:cNvSpPr txBox="1"/>
          <p:nvPr/>
        </p:nvSpPr>
        <p:spPr>
          <a:xfrm>
            <a:off x="4348313" y="1984654"/>
            <a:ext cx="164592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28BA0"/>
                </a:solidFill>
                <a:latin typeface="Arial"/>
              </a:rPr>
              <a:t>δ = a₀ at 17.7 µs</a:t>
            </a:r>
          </a:p>
        </p:txBody>
      </p:sp>
      <p:sp>
        <p:nvSpPr>
          <p:cNvPr id="37" name="C3-E22 round_rect 35" descr="sci-ppt:o035"/>
          <p:cNvSpPr/>
          <p:nvPr/>
        </p:nvSpPr>
        <p:spPr>
          <a:xfrm>
            <a:off x="7040880" y="1371600"/>
            <a:ext cx="4800600" cy="365760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C3-E22 text 36" descr="sci-ppt:o036"/>
          <p:cNvSpPr txBox="1"/>
          <p:nvPr/>
        </p:nvSpPr>
        <p:spPr>
          <a:xfrm>
            <a:off x="7150608" y="1426464"/>
            <a:ext cx="4581144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Declared flight case</a:t>
            </a:r>
          </a:p>
        </p:txBody>
      </p:sp>
      <p:sp>
        <p:nvSpPr>
          <p:cNvPr id="39" name="C3-E22 text 37" descr="sci-ppt:o037"/>
          <p:cNvSpPr txBox="1"/>
          <p:nvPr/>
        </p:nvSpPr>
        <p:spPr>
          <a:xfrm>
            <a:off x="7178040" y="1828800"/>
            <a:ext cx="292608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t_σ = √(ρa₀³/σⱼ)</a:t>
            </a:r>
          </a:p>
        </p:txBody>
      </p:sp>
      <p:sp>
        <p:nvSpPr>
          <p:cNvPr id="40" name="C3-E22 text 38" descr="sci-ppt:o038"/>
          <p:cNvSpPr txBox="1"/>
          <p:nvPr/>
        </p:nvSpPr>
        <p:spPr>
          <a:xfrm>
            <a:off x="10058400" y="1828800"/>
            <a:ext cx="164592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B880"/>
                </a:solidFill>
                <a:latin typeface="Arial"/>
              </a:rPr>
              <a:t>1.318 µs</a:t>
            </a:r>
          </a:p>
        </p:txBody>
      </p:sp>
      <p:sp>
        <p:nvSpPr>
          <p:cNvPr id="41" name="C3-E22 text 39" descr="sci-ppt:o039"/>
          <p:cNvSpPr txBox="1"/>
          <p:nvPr/>
        </p:nvSpPr>
        <p:spPr>
          <a:xfrm>
            <a:off x="7178040" y="2286000"/>
            <a:ext cx="292608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gₘₐₓ = 0.343339 / t_σ</a:t>
            </a:r>
          </a:p>
        </p:txBody>
      </p:sp>
      <p:sp>
        <p:nvSpPr>
          <p:cNvPr id="42" name="C3-E22 text 40" descr="sci-ppt:o040"/>
          <p:cNvSpPr txBox="1"/>
          <p:nvPr/>
        </p:nvSpPr>
        <p:spPr>
          <a:xfrm>
            <a:off x="10058400" y="2286000"/>
            <a:ext cx="164592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B880"/>
                </a:solidFill>
                <a:latin typeface="Arial"/>
              </a:rPr>
              <a:t>0.2606 µs⁻¹</a:t>
            </a:r>
          </a:p>
        </p:txBody>
      </p:sp>
      <p:sp>
        <p:nvSpPr>
          <p:cNvPr id="43" name="C3-E22 text 41" descr="sci-ppt:o041"/>
          <p:cNvSpPr txBox="1"/>
          <p:nvPr/>
        </p:nvSpPr>
        <p:spPr>
          <a:xfrm>
            <a:off x="7178040" y="2743200"/>
            <a:ext cx="292608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Re = ρU_jdⱼ/μ</a:t>
            </a:r>
          </a:p>
        </p:txBody>
      </p:sp>
      <p:sp>
        <p:nvSpPr>
          <p:cNvPr id="44" name="C3-E22 text 42" descr="sci-ppt:o042"/>
          <p:cNvSpPr txBox="1"/>
          <p:nvPr/>
        </p:nvSpPr>
        <p:spPr>
          <a:xfrm>
            <a:off x="10058400" y="2743200"/>
            <a:ext cx="164592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B880"/>
                </a:solidFill>
                <a:latin typeface="Arial"/>
              </a:rPr>
              <a:t>319</a:t>
            </a:r>
          </a:p>
        </p:txBody>
      </p:sp>
      <p:sp>
        <p:nvSpPr>
          <p:cNvPr id="45" name="C3-E22 text 43" descr="sci-ppt:o043"/>
          <p:cNvSpPr txBox="1"/>
          <p:nvPr/>
        </p:nvSpPr>
        <p:spPr>
          <a:xfrm>
            <a:off x="7178040" y="3200400"/>
            <a:ext cx="292608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We = ρUⱼ²dⱼ/σⱼ</a:t>
            </a:r>
          </a:p>
        </p:txBody>
      </p:sp>
      <p:sp>
        <p:nvSpPr>
          <p:cNvPr id="46" name="C3-E22 text 44" descr="sci-ppt:o044"/>
          <p:cNvSpPr txBox="1"/>
          <p:nvPr/>
        </p:nvSpPr>
        <p:spPr>
          <a:xfrm>
            <a:off x="10058400" y="3200400"/>
            <a:ext cx="164592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B880"/>
                </a:solidFill>
                <a:latin typeface="Arial"/>
              </a:rPr>
              <a:t>141</a:t>
            </a:r>
          </a:p>
        </p:txBody>
      </p:sp>
      <p:sp>
        <p:nvSpPr>
          <p:cNvPr id="47" name="C3-E22 text 45" descr="sci-ppt:o045"/>
          <p:cNvSpPr txBox="1"/>
          <p:nvPr/>
        </p:nvSpPr>
        <p:spPr>
          <a:xfrm>
            <a:off x="7178040" y="3657600"/>
            <a:ext cx="292608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Oh = μ/√(ρσ_jdⱼ)</a:t>
            </a:r>
          </a:p>
        </p:txBody>
      </p:sp>
      <p:sp>
        <p:nvSpPr>
          <p:cNvPr id="48" name="C3-E22 text 46" descr="sci-ppt:o046"/>
          <p:cNvSpPr txBox="1"/>
          <p:nvPr/>
        </p:nvSpPr>
        <p:spPr>
          <a:xfrm>
            <a:off x="10058400" y="3657600"/>
            <a:ext cx="164592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B880"/>
                </a:solidFill>
                <a:latin typeface="Arial"/>
              </a:rPr>
              <a:t>0.0373</a:t>
            </a:r>
          </a:p>
        </p:txBody>
      </p:sp>
      <p:sp>
        <p:nvSpPr>
          <p:cNvPr id="49" name="C3-E22 text 47" descr="sci-ppt:o047"/>
          <p:cNvSpPr txBox="1"/>
          <p:nvPr/>
        </p:nvSpPr>
        <p:spPr>
          <a:xfrm>
            <a:off x="7178040" y="4297680"/>
            <a:ext cx="4572000" cy="603504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Growth during the actual flight stays small, but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extrapolating to the 17.7 µs threshold leaves exact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breakup unresolved.</a:t>
            </a:r>
          </a:p>
        </p:txBody>
      </p:sp>
      <p:sp>
        <p:nvSpPr>
          <p:cNvPr id="50" name="C3-E22 text 48" descr="sci-ppt:o048"/>
          <p:cNvSpPr txBox="1"/>
          <p:nvPr/>
        </p:nvSpPr>
        <p:spPr>
          <a:xfrm>
            <a:off x="914400" y="5733288"/>
            <a:ext cx="109728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δₐᵣᵣ/a₀ = (δ₀/a₀) exp(gₘₐₓ H/Uⱼ) with H = 100 µm, Uⱼ = 31.9 m/s, a₀ = 5 µm, ρ = 1000 kg/m³, σⱼ = 0.072 N/m, μ = 1 mPa s.</a:t>
            </a:r>
          </a:p>
        </p:txBody>
      </p:sp>
      <p:sp>
        <p:nvSpPr>
          <p:cNvPr id="51" name="C3-E22 text 49" descr="sci-ppt:o049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Finite-flight growth and regime numbers of Eq. C3-E22 (log vertical axis).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