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0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C4-E30 · Necessary global energy and momentum screens</a:t>
            </a:r>
          </a:p>
        </p:txBody>
      </p:sp>
      <p:sp>
        <p:nvSpPr>
          <p:cNvPr id="3" name="C4-E30 rect 1" descr="sci-ppt:o001"/>
          <p:cNvSpPr/>
          <p:nvPr/>
        </p:nvSpPr>
        <p:spPr>
          <a:xfrm>
            <a:off x="5943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4-E30 text 2" descr="sci-ppt:o002"/>
          <p:cNvSpPr txBox="1"/>
          <p:nvPr/>
        </p:nvSpPr>
        <p:spPr>
          <a:xfrm>
            <a:off x="7589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finite budgets</a:t>
            </a:r>
          </a:p>
        </p:txBody>
      </p:sp>
      <p:cxnSp>
        <p:nvCxnSpPr>
          <p:cNvPr id="5" name="C4-E30 arrow 3" descr="sci-ppt:o003"/>
          <p:cNvCxnSpPr/>
          <p:nvPr/>
        </p:nvCxnSpPr>
        <p:spPr>
          <a:xfrm>
            <a:off x="37947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4-E30 rect 4" descr="sci-ppt:o004"/>
          <p:cNvSpPr/>
          <p:nvPr/>
        </p:nvSpPr>
        <p:spPr>
          <a:xfrm>
            <a:off x="44805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C4-E30 text 5" descr="sci-ppt:o005"/>
          <p:cNvSpPr txBox="1"/>
          <p:nvPr/>
        </p:nvSpPr>
        <p:spPr>
          <a:xfrm>
            <a:off x="46451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Transmitted E_solid, I_net</a:t>
            </a:r>
          </a:p>
        </p:txBody>
      </p:sp>
      <p:cxnSp>
        <p:nvCxnSpPr>
          <p:cNvPr id="8" name="C4-E30 arrow 6" descr="sci-ppt:o006"/>
          <p:cNvCxnSpPr/>
          <p:nvPr/>
        </p:nvCxnSpPr>
        <p:spPr>
          <a:xfrm>
            <a:off x="7680960" y="2057400"/>
            <a:ext cx="64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C4-E30 rect 7" descr="sci-ppt:o007"/>
          <p:cNvSpPr/>
          <p:nvPr/>
        </p:nvSpPr>
        <p:spPr>
          <a:xfrm>
            <a:off x="8366760" y="1417320"/>
            <a:ext cx="3200400" cy="132588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C4-E30 text 8" descr="sci-ppt:o008"/>
          <p:cNvSpPr txBox="1"/>
          <p:nvPr/>
        </p:nvSpPr>
        <p:spPr>
          <a:xfrm>
            <a:off x="8531352" y="1627632"/>
            <a:ext cx="2871216" cy="9144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Release + departure cost</a:t>
            </a:r>
          </a:p>
        </p:txBody>
      </p:sp>
      <p:sp>
        <p:nvSpPr>
          <p:cNvPr id="11" name="C4-E30 text 9" descr="sci-ppt:o009"/>
          <p:cNvSpPr txBox="1"/>
          <p:nvPr/>
        </p:nvSpPr>
        <p:spPr>
          <a:xfrm>
            <a:off x="731520" y="3246120"/>
            <a:ext cx="1078992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Work, storage, fracture consumption and net impulse retain separate meanings.</a:t>
            </a:r>
          </a:p>
        </p:txBody>
      </p:sp>
      <p:cxnSp>
        <p:nvCxnSpPr>
          <p:cNvPr id="12" name="C4-E30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4-E30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E_solid → available budget</a:t>
            </a:r>
          </a:p>
        </p:txBody>
      </p:sp>
      <p:sp>
        <p:nvSpPr>
          <p:cNvPr id="14" name="C4-E30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ΓA_f → full release cost</a:t>
            </a:r>
          </a:p>
        </p:txBody>
      </p:sp>
      <p:sp>
        <p:nvSpPr>
          <p:cNvPr id="15" name="C4-E30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½m_f v_f² → departure kinetic energy</a:t>
            </a:r>
          </a:p>
        </p:txBody>
      </p:sp>
      <p:sp>
        <p:nvSpPr>
          <p:cNvPr id="16" name="C4-E30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I_net → net opening impulse</a:t>
            </a:r>
          </a:p>
        </p:txBody>
      </p:sp>
      <p:sp>
        <p:nvSpPr>
          <p:cNvPr id="17" name="C4-E30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m_f v_f → required momentum</a:t>
            </a:r>
          </a:p>
        </p:txBody>
      </p:sp>
      <p:sp>
        <p:nvSpPr>
          <p:cNvPr id="18" name="C4-E30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E_req, I_req — minimum screens</a:t>
            </a:r>
          </a:p>
        </p:txBody>
      </p:sp>
      <p:sp>
        <p:nvSpPr>
          <p:cNvPr id="19" name="C4-E30 text 17" descr="sci-ppt:o017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Passing is necessary, not sufficient.</a:t>
            </a:r>
          </a:p>
        </p:txBody>
      </p:sp>
      <p:sp>
        <p:nvSpPr>
          <p:cNvPr id="20" name="C4-E30 text 18" descr="sci-ppt:o018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Support reactions are already included in net impulse.</a:t>
            </a:r>
          </a:p>
        </p:txBody>
      </p:sp>
      <p:sp>
        <p:nvSpPr>
          <p:cNvPr id="21" name="C4-E30 text 19" descr="sci-ppt:o019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