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C4-E30 · Necessary global energy and momentum screens</a:t>
            </a:r>
          </a:p>
        </p:txBody>
      </p:sp>
      <p:cxnSp>
        <p:nvCxnSpPr>
          <p:cNvPr id="3" name="C4-E30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4-E30 line 6" descr="sci-ppt:o006"/>
          <p:cNvCxnSpPr/>
          <p:nvPr/>
        </p:nvCxnSpPr>
        <p:spPr>
          <a:xfrm>
            <a:off x="208483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0 line 7" descr="sci-ppt:o007"/>
          <p:cNvCxnSpPr/>
          <p:nvPr/>
        </p:nvCxnSpPr>
        <p:spPr>
          <a:xfrm>
            <a:off x="208483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0 text 8" descr="sci-ppt:o008"/>
          <p:cNvSpPr txBox="1"/>
          <p:nvPr/>
        </p:nvSpPr>
        <p:spPr>
          <a:xfrm>
            <a:off x="162763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4-E30 line 9" descr="sci-ppt:o009"/>
          <p:cNvCxnSpPr/>
          <p:nvPr/>
        </p:nvCxnSpPr>
        <p:spPr>
          <a:xfrm>
            <a:off x="325526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0 line 10" descr="sci-ppt:o010"/>
          <p:cNvCxnSpPr/>
          <p:nvPr/>
        </p:nvCxnSpPr>
        <p:spPr>
          <a:xfrm>
            <a:off x="325526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0 text 11" descr="sci-ppt:o011"/>
          <p:cNvSpPr txBox="1"/>
          <p:nvPr/>
        </p:nvSpPr>
        <p:spPr>
          <a:xfrm>
            <a:off x="279806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4-E30 line 12" descr="sci-ppt:o012"/>
          <p:cNvCxnSpPr/>
          <p:nvPr/>
        </p:nvCxnSpPr>
        <p:spPr>
          <a:xfrm>
            <a:off x="442569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0 line 13" descr="sci-ppt:o013"/>
          <p:cNvCxnSpPr/>
          <p:nvPr/>
        </p:nvCxnSpPr>
        <p:spPr>
          <a:xfrm>
            <a:off x="442569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30 text 14" descr="sci-ppt:o014"/>
          <p:cNvSpPr txBox="1"/>
          <p:nvPr/>
        </p:nvSpPr>
        <p:spPr>
          <a:xfrm>
            <a:off x="396849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4-E30 line 15" descr="sci-ppt:o015"/>
          <p:cNvCxnSpPr/>
          <p:nvPr/>
        </p:nvCxnSpPr>
        <p:spPr>
          <a:xfrm>
            <a:off x="559612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30 line 16" descr="sci-ppt:o016"/>
          <p:cNvCxnSpPr/>
          <p:nvPr/>
        </p:nvCxnSpPr>
        <p:spPr>
          <a:xfrm>
            <a:off x="559612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30 text 17" descr="sci-ppt:o017"/>
          <p:cNvSpPr txBox="1"/>
          <p:nvPr/>
        </p:nvSpPr>
        <p:spPr>
          <a:xfrm>
            <a:off x="513892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4-E30 line 18" descr="sci-ppt:o018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30 line 19" descr="sci-ppt:o019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30 text 20" descr="sci-ppt:o020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2.5</a:t>
            </a:r>
          </a:p>
        </p:txBody>
      </p:sp>
      <p:cxnSp>
        <p:nvCxnSpPr>
          <p:cNvPr id="23" name="C4-E30 line 21" descr="sci-ppt:o021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30 line 22" descr="sci-ppt:o022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30 line 23" descr="sci-ppt:o023"/>
          <p:cNvCxnSpPr/>
          <p:nvPr/>
        </p:nvCxnSpPr>
        <p:spPr>
          <a:xfrm>
            <a:off x="914400" y="38100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30 text 24" descr="sci-ppt:o024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7" name="C4-E30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30 line 26" descr="sci-ppt:o026"/>
          <p:cNvCxnSpPr/>
          <p:nvPr/>
        </p:nvCxnSpPr>
        <p:spPr>
          <a:xfrm>
            <a:off x="914400" y="25908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30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30" name="C4-E30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30 line 29" descr="sci-ppt:o029"/>
          <p:cNvCxnSpPr/>
          <p:nvPr/>
        </p:nvCxnSpPr>
        <p:spPr>
          <a:xfrm>
            <a:off x="91440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30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sp>
        <p:nvSpPr>
          <p:cNvPr id="33" name="C4-E30 text 31" descr="sci-ppt:o031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film departure speed v_f  (m/s)</a:t>
            </a:r>
          </a:p>
        </p:txBody>
      </p:sp>
      <p:sp>
        <p:nvSpPr>
          <p:cNvPr id="34" name="C4-E30 text 32" descr="sci-ppt:o032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E_req  (nJ)</a:t>
            </a:r>
          </a:p>
        </p:txBody>
      </p:sp>
      <p:sp>
        <p:nvSpPr>
          <p:cNvPr id="35" name="C4-E30 polygon 33" descr="sci-ppt:o033"/>
          <p:cNvSpPr/>
          <p:nvPr/>
        </p:nvSpPr>
        <p:spPr>
          <a:xfrm>
            <a:off x="914400" y="3531870"/>
            <a:ext cx="5852160" cy="887730"/>
          </a:xfrm>
          <a:custGeom>
            <a:avLst/>
            <a:gdLst/>
            <a:ahLst/>
            <a:cxnLst/>
            <a:rect l="l" t="t" r="r" b="b"/>
            <a:pathLst>
              <a:path w="5852160" h="887730">
                <a:moveTo>
                  <a:pt x="0" y="887730"/>
                </a:moveTo>
                <a:lnTo>
                  <a:pt x="29407" y="887707"/>
                </a:lnTo>
                <a:lnTo>
                  <a:pt x="58815" y="887640"/>
                </a:lnTo>
                <a:lnTo>
                  <a:pt x="88223" y="887528"/>
                </a:lnTo>
                <a:lnTo>
                  <a:pt x="117631" y="887371"/>
                </a:lnTo>
                <a:lnTo>
                  <a:pt x="147039" y="887169"/>
                </a:lnTo>
                <a:lnTo>
                  <a:pt x="176447" y="886922"/>
                </a:lnTo>
                <a:lnTo>
                  <a:pt x="205854" y="886631"/>
                </a:lnTo>
                <a:lnTo>
                  <a:pt x="235262" y="886295"/>
                </a:lnTo>
                <a:lnTo>
                  <a:pt x="264670" y="885914"/>
                </a:lnTo>
                <a:lnTo>
                  <a:pt x="294078" y="885488"/>
                </a:lnTo>
                <a:lnTo>
                  <a:pt x="323486" y="885017"/>
                </a:lnTo>
                <a:lnTo>
                  <a:pt x="352894" y="884501"/>
                </a:lnTo>
                <a:lnTo>
                  <a:pt x="382301" y="883941"/>
                </a:lnTo>
                <a:lnTo>
                  <a:pt x="411709" y="883336"/>
                </a:lnTo>
                <a:lnTo>
                  <a:pt x="441117" y="882686"/>
                </a:lnTo>
                <a:lnTo>
                  <a:pt x="470525" y="881991"/>
                </a:lnTo>
                <a:lnTo>
                  <a:pt x="499933" y="881251"/>
                </a:lnTo>
                <a:lnTo>
                  <a:pt x="529341" y="880466"/>
                </a:lnTo>
                <a:lnTo>
                  <a:pt x="558748" y="879637"/>
                </a:lnTo>
                <a:lnTo>
                  <a:pt x="588156" y="878763"/>
                </a:lnTo>
                <a:lnTo>
                  <a:pt x="617564" y="877844"/>
                </a:lnTo>
                <a:lnTo>
                  <a:pt x="646972" y="876880"/>
                </a:lnTo>
                <a:lnTo>
                  <a:pt x="676380" y="875871"/>
                </a:lnTo>
                <a:lnTo>
                  <a:pt x="705788" y="874817"/>
                </a:lnTo>
                <a:lnTo>
                  <a:pt x="735195" y="873719"/>
                </a:lnTo>
                <a:lnTo>
                  <a:pt x="764603" y="872576"/>
                </a:lnTo>
                <a:lnTo>
                  <a:pt x="794011" y="871388"/>
                </a:lnTo>
                <a:lnTo>
                  <a:pt x="823419" y="870155"/>
                </a:lnTo>
                <a:lnTo>
                  <a:pt x="852827" y="868877"/>
                </a:lnTo>
                <a:lnTo>
                  <a:pt x="882235" y="867554"/>
                </a:lnTo>
                <a:lnTo>
                  <a:pt x="911643" y="866187"/>
                </a:lnTo>
                <a:lnTo>
                  <a:pt x="941050" y="864775"/>
                </a:lnTo>
                <a:lnTo>
                  <a:pt x="970458" y="863318"/>
                </a:lnTo>
                <a:lnTo>
                  <a:pt x="999866" y="861816"/>
                </a:lnTo>
                <a:lnTo>
                  <a:pt x="1029274" y="860269"/>
                </a:lnTo>
                <a:lnTo>
                  <a:pt x="1058682" y="858677"/>
                </a:lnTo>
                <a:lnTo>
                  <a:pt x="1088090" y="857041"/>
                </a:lnTo>
                <a:lnTo>
                  <a:pt x="1117497" y="855360"/>
                </a:lnTo>
                <a:lnTo>
                  <a:pt x="1146905" y="853633"/>
                </a:lnTo>
                <a:lnTo>
                  <a:pt x="1176313" y="851863"/>
                </a:lnTo>
                <a:lnTo>
                  <a:pt x="1205721" y="850047"/>
                </a:lnTo>
                <a:lnTo>
                  <a:pt x="1235129" y="848186"/>
                </a:lnTo>
                <a:lnTo>
                  <a:pt x="1264537" y="846281"/>
                </a:lnTo>
                <a:lnTo>
                  <a:pt x="1293944" y="844330"/>
                </a:lnTo>
                <a:lnTo>
                  <a:pt x="1323352" y="842335"/>
                </a:lnTo>
                <a:lnTo>
                  <a:pt x="1352760" y="840295"/>
                </a:lnTo>
                <a:lnTo>
                  <a:pt x="1382168" y="838211"/>
                </a:lnTo>
                <a:lnTo>
                  <a:pt x="1411576" y="836081"/>
                </a:lnTo>
                <a:lnTo>
                  <a:pt x="1440984" y="833907"/>
                </a:lnTo>
                <a:lnTo>
                  <a:pt x="1470391" y="831687"/>
                </a:lnTo>
                <a:lnTo>
                  <a:pt x="1499799" y="829423"/>
                </a:lnTo>
                <a:lnTo>
                  <a:pt x="1529207" y="827114"/>
                </a:lnTo>
                <a:lnTo>
                  <a:pt x="1558615" y="824761"/>
                </a:lnTo>
                <a:lnTo>
                  <a:pt x="1588023" y="822362"/>
                </a:lnTo>
                <a:lnTo>
                  <a:pt x="1617431" y="819919"/>
                </a:lnTo>
                <a:lnTo>
                  <a:pt x="1646838" y="817430"/>
                </a:lnTo>
                <a:lnTo>
                  <a:pt x="1676246" y="814897"/>
                </a:lnTo>
                <a:lnTo>
                  <a:pt x="1705654" y="812319"/>
                </a:lnTo>
                <a:lnTo>
                  <a:pt x="1735062" y="809696"/>
                </a:lnTo>
                <a:lnTo>
                  <a:pt x="1764470" y="807029"/>
                </a:lnTo>
                <a:lnTo>
                  <a:pt x="1793878" y="804316"/>
                </a:lnTo>
                <a:lnTo>
                  <a:pt x="1823286" y="801559"/>
                </a:lnTo>
                <a:lnTo>
                  <a:pt x="1852693" y="798757"/>
                </a:lnTo>
                <a:lnTo>
                  <a:pt x="1882101" y="795910"/>
                </a:lnTo>
                <a:lnTo>
                  <a:pt x="1911509" y="793018"/>
                </a:lnTo>
                <a:lnTo>
                  <a:pt x="1940917" y="790082"/>
                </a:lnTo>
                <a:lnTo>
                  <a:pt x="1970325" y="787100"/>
                </a:lnTo>
                <a:lnTo>
                  <a:pt x="1999733" y="784074"/>
                </a:lnTo>
                <a:lnTo>
                  <a:pt x="2029140" y="781003"/>
                </a:lnTo>
                <a:lnTo>
                  <a:pt x="2058548" y="777887"/>
                </a:lnTo>
                <a:lnTo>
                  <a:pt x="2087956" y="774726"/>
                </a:lnTo>
                <a:lnTo>
                  <a:pt x="2117364" y="771521"/>
                </a:lnTo>
                <a:lnTo>
                  <a:pt x="2146772" y="768270"/>
                </a:lnTo>
                <a:lnTo>
                  <a:pt x="2176180" y="764975"/>
                </a:lnTo>
                <a:lnTo>
                  <a:pt x="2205587" y="761635"/>
                </a:lnTo>
                <a:lnTo>
                  <a:pt x="2234995" y="758250"/>
                </a:lnTo>
                <a:lnTo>
                  <a:pt x="2264403" y="754820"/>
                </a:lnTo>
                <a:lnTo>
                  <a:pt x="2293811" y="751345"/>
                </a:lnTo>
                <a:lnTo>
                  <a:pt x="2323219" y="747826"/>
                </a:lnTo>
                <a:lnTo>
                  <a:pt x="2352627" y="744262"/>
                </a:lnTo>
                <a:lnTo>
                  <a:pt x="2382034" y="740652"/>
                </a:lnTo>
                <a:lnTo>
                  <a:pt x="2411442" y="736999"/>
                </a:lnTo>
                <a:lnTo>
                  <a:pt x="2440850" y="733300"/>
                </a:lnTo>
                <a:lnTo>
                  <a:pt x="2470258" y="729556"/>
                </a:lnTo>
                <a:lnTo>
                  <a:pt x="2499666" y="725768"/>
                </a:lnTo>
                <a:lnTo>
                  <a:pt x="2529074" y="721934"/>
                </a:lnTo>
                <a:lnTo>
                  <a:pt x="2558482" y="718056"/>
                </a:lnTo>
                <a:lnTo>
                  <a:pt x="2587889" y="714133"/>
                </a:lnTo>
                <a:lnTo>
                  <a:pt x="2617297" y="710166"/>
                </a:lnTo>
                <a:lnTo>
                  <a:pt x="2646705" y="706153"/>
                </a:lnTo>
                <a:lnTo>
                  <a:pt x="2676113" y="702095"/>
                </a:lnTo>
                <a:lnTo>
                  <a:pt x="2705521" y="697993"/>
                </a:lnTo>
                <a:lnTo>
                  <a:pt x="2734929" y="693846"/>
                </a:lnTo>
                <a:lnTo>
                  <a:pt x="2764336" y="689654"/>
                </a:lnTo>
                <a:lnTo>
                  <a:pt x="2793744" y="685417"/>
                </a:lnTo>
                <a:lnTo>
                  <a:pt x="2823152" y="681136"/>
                </a:lnTo>
                <a:lnTo>
                  <a:pt x="2852560" y="676809"/>
                </a:lnTo>
                <a:lnTo>
                  <a:pt x="2881968" y="672438"/>
                </a:lnTo>
                <a:lnTo>
                  <a:pt x="2911376" y="668022"/>
                </a:lnTo>
                <a:lnTo>
                  <a:pt x="2940783" y="663561"/>
                </a:lnTo>
                <a:lnTo>
                  <a:pt x="2970191" y="659055"/>
                </a:lnTo>
                <a:lnTo>
                  <a:pt x="2999599" y="654505"/>
                </a:lnTo>
                <a:lnTo>
                  <a:pt x="3029007" y="649909"/>
                </a:lnTo>
                <a:lnTo>
                  <a:pt x="3058415" y="645269"/>
                </a:lnTo>
                <a:lnTo>
                  <a:pt x="3087823" y="640584"/>
                </a:lnTo>
                <a:lnTo>
                  <a:pt x="3117230" y="635854"/>
                </a:lnTo>
                <a:lnTo>
                  <a:pt x="3146638" y="631079"/>
                </a:lnTo>
                <a:lnTo>
                  <a:pt x="3176046" y="626259"/>
                </a:lnTo>
                <a:lnTo>
                  <a:pt x="3205454" y="621395"/>
                </a:lnTo>
                <a:lnTo>
                  <a:pt x="3234862" y="616486"/>
                </a:lnTo>
                <a:lnTo>
                  <a:pt x="3264270" y="611531"/>
                </a:lnTo>
                <a:lnTo>
                  <a:pt x="3293677" y="606532"/>
                </a:lnTo>
                <a:lnTo>
                  <a:pt x="3323085" y="601489"/>
                </a:lnTo>
                <a:lnTo>
                  <a:pt x="3352493" y="596400"/>
                </a:lnTo>
                <a:lnTo>
                  <a:pt x="3381901" y="591267"/>
                </a:lnTo>
                <a:lnTo>
                  <a:pt x="3411309" y="586088"/>
                </a:lnTo>
                <a:lnTo>
                  <a:pt x="3440717" y="580865"/>
                </a:lnTo>
                <a:lnTo>
                  <a:pt x="3470125" y="575597"/>
                </a:lnTo>
                <a:lnTo>
                  <a:pt x="3499532" y="570284"/>
                </a:lnTo>
                <a:lnTo>
                  <a:pt x="3528940" y="564927"/>
                </a:lnTo>
                <a:lnTo>
                  <a:pt x="3558348" y="559524"/>
                </a:lnTo>
                <a:lnTo>
                  <a:pt x="3587756" y="554077"/>
                </a:lnTo>
                <a:lnTo>
                  <a:pt x="3617164" y="548585"/>
                </a:lnTo>
                <a:lnTo>
                  <a:pt x="3646572" y="543048"/>
                </a:lnTo>
                <a:lnTo>
                  <a:pt x="3675979" y="537466"/>
                </a:lnTo>
                <a:lnTo>
                  <a:pt x="3705387" y="531839"/>
                </a:lnTo>
                <a:lnTo>
                  <a:pt x="3734795" y="526168"/>
                </a:lnTo>
                <a:lnTo>
                  <a:pt x="3764203" y="520452"/>
                </a:lnTo>
                <a:lnTo>
                  <a:pt x="3793611" y="514691"/>
                </a:lnTo>
                <a:lnTo>
                  <a:pt x="3823019" y="508885"/>
                </a:lnTo>
                <a:lnTo>
                  <a:pt x="3852426" y="503034"/>
                </a:lnTo>
                <a:lnTo>
                  <a:pt x="3881834" y="497138"/>
                </a:lnTo>
                <a:lnTo>
                  <a:pt x="3911242" y="491198"/>
                </a:lnTo>
                <a:lnTo>
                  <a:pt x="3940650" y="485212"/>
                </a:lnTo>
                <a:lnTo>
                  <a:pt x="3970058" y="479182"/>
                </a:lnTo>
                <a:lnTo>
                  <a:pt x="3999466" y="473107"/>
                </a:lnTo>
                <a:lnTo>
                  <a:pt x="4028873" y="466987"/>
                </a:lnTo>
                <a:lnTo>
                  <a:pt x="4058281" y="460823"/>
                </a:lnTo>
                <a:lnTo>
                  <a:pt x="4087689" y="454613"/>
                </a:lnTo>
                <a:lnTo>
                  <a:pt x="4117097" y="448359"/>
                </a:lnTo>
                <a:lnTo>
                  <a:pt x="4146505" y="442060"/>
                </a:lnTo>
                <a:lnTo>
                  <a:pt x="4175913" y="435716"/>
                </a:lnTo>
                <a:lnTo>
                  <a:pt x="4205321" y="429327"/>
                </a:lnTo>
                <a:lnTo>
                  <a:pt x="4234728" y="422894"/>
                </a:lnTo>
                <a:lnTo>
                  <a:pt x="4264136" y="416415"/>
                </a:lnTo>
                <a:lnTo>
                  <a:pt x="4293544" y="409892"/>
                </a:lnTo>
                <a:lnTo>
                  <a:pt x="4322952" y="403324"/>
                </a:lnTo>
                <a:lnTo>
                  <a:pt x="4352360" y="396711"/>
                </a:lnTo>
                <a:lnTo>
                  <a:pt x="4381768" y="390053"/>
                </a:lnTo>
                <a:lnTo>
                  <a:pt x="4411175" y="383350"/>
                </a:lnTo>
                <a:lnTo>
                  <a:pt x="4440583" y="376603"/>
                </a:lnTo>
                <a:lnTo>
                  <a:pt x="4469991" y="369810"/>
                </a:lnTo>
                <a:lnTo>
                  <a:pt x="4499399" y="362973"/>
                </a:lnTo>
                <a:lnTo>
                  <a:pt x="4528807" y="356091"/>
                </a:lnTo>
                <a:lnTo>
                  <a:pt x="4558215" y="349164"/>
                </a:lnTo>
                <a:lnTo>
                  <a:pt x="4587622" y="342193"/>
                </a:lnTo>
                <a:lnTo>
                  <a:pt x="4617030" y="335176"/>
                </a:lnTo>
                <a:lnTo>
                  <a:pt x="4646438" y="328115"/>
                </a:lnTo>
                <a:lnTo>
                  <a:pt x="4675846" y="321009"/>
                </a:lnTo>
                <a:lnTo>
                  <a:pt x="4705254" y="313858"/>
                </a:lnTo>
                <a:lnTo>
                  <a:pt x="4734662" y="306662"/>
                </a:lnTo>
                <a:lnTo>
                  <a:pt x="4764069" y="299421"/>
                </a:lnTo>
                <a:lnTo>
                  <a:pt x="4793477" y="292136"/>
                </a:lnTo>
                <a:lnTo>
                  <a:pt x="4822885" y="284806"/>
                </a:lnTo>
                <a:lnTo>
                  <a:pt x="4852293" y="277431"/>
                </a:lnTo>
                <a:lnTo>
                  <a:pt x="4881701" y="270011"/>
                </a:lnTo>
                <a:lnTo>
                  <a:pt x="4911109" y="262546"/>
                </a:lnTo>
                <a:lnTo>
                  <a:pt x="4940516" y="255036"/>
                </a:lnTo>
                <a:lnTo>
                  <a:pt x="4969924" y="247482"/>
                </a:lnTo>
                <a:lnTo>
                  <a:pt x="4999332" y="239882"/>
                </a:lnTo>
                <a:lnTo>
                  <a:pt x="5028740" y="232238"/>
                </a:lnTo>
                <a:lnTo>
                  <a:pt x="5058148" y="224549"/>
                </a:lnTo>
                <a:lnTo>
                  <a:pt x="5087556" y="216815"/>
                </a:lnTo>
                <a:lnTo>
                  <a:pt x="5116964" y="209037"/>
                </a:lnTo>
                <a:lnTo>
                  <a:pt x="5146371" y="201213"/>
                </a:lnTo>
                <a:lnTo>
                  <a:pt x="5175779" y="193345"/>
                </a:lnTo>
                <a:lnTo>
                  <a:pt x="5205187" y="185432"/>
                </a:lnTo>
                <a:lnTo>
                  <a:pt x="5234595" y="177474"/>
                </a:lnTo>
                <a:lnTo>
                  <a:pt x="5264003" y="169471"/>
                </a:lnTo>
                <a:lnTo>
                  <a:pt x="5293411" y="161423"/>
                </a:lnTo>
                <a:lnTo>
                  <a:pt x="5322818" y="153331"/>
                </a:lnTo>
                <a:lnTo>
                  <a:pt x="5352226" y="145193"/>
                </a:lnTo>
                <a:lnTo>
                  <a:pt x="5381634" y="137011"/>
                </a:lnTo>
                <a:lnTo>
                  <a:pt x="5411042" y="128784"/>
                </a:lnTo>
                <a:lnTo>
                  <a:pt x="5440450" y="120513"/>
                </a:lnTo>
                <a:lnTo>
                  <a:pt x="5469858" y="112196"/>
                </a:lnTo>
                <a:lnTo>
                  <a:pt x="5499265" y="103834"/>
                </a:lnTo>
                <a:lnTo>
                  <a:pt x="5528673" y="95428"/>
                </a:lnTo>
                <a:lnTo>
                  <a:pt x="5558081" y="86977"/>
                </a:lnTo>
                <a:lnTo>
                  <a:pt x="5587489" y="78481"/>
                </a:lnTo>
                <a:lnTo>
                  <a:pt x="5616897" y="69940"/>
                </a:lnTo>
                <a:lnTo>
                  <a:pt x="5646305" y="61354"/>
                </a:lnTo>
                <a:lnTo>
                  <a:pt x="5675712" y="52724"/>
                </a:lnTo>
                <a:lnTo>
                  <a:pt x="5705120" y="44049"/>
                </a:lnTo>
                <a:lnTo>
                  <a:pt x="5734528" y="35328"/>
                </a:lnTo>
                <a:lnTo>
                  <a:pt x="5763936" y="26563"/>
                </a:lnTo>
                <a:lnTo>
                  <a:pt x="5793344" y="17754"/>
                </a:lnTo>
                <a:lnTo>
                  <a:pt x="5822752" y="8899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4-E30 polygon 34" descr="sci-ppt:o034"/>
          <p:cNvSpPr/>
          <p:nvPr/>
        </p:nvSpPr>
        <p:spPr>
          <a:xfrm>
            <a:off x="914400" y="1703069"/>
            <a:ext cx="5852160" cy="887731"/>
          </a:xfrm>
          <a:custGeom>
            <a:avLst/>
            <a:gdLst/>
            <a:ahLst/>
            <a:cxnLst/>
            <a:rect l="l" t="t" r="r" b="b"/>
            <a:pathLst>
              <a:path w="5852160" h="887731">
                <a:moveTo>
                  <a:pt x="0" y="887731"/>
                </a:moveTo>
                <a:lnTo>
                  <a:pt x="29407" y="887708"/>
                </a:lnTo>
                <a:lnTo>
                  <a:pt x="58815" y="887641"/>
                </a:lnTo>
                <a:lnTo>
                  <a:pt x="88223" y="887529"/>
                </a:lnTo>
                <a:lnTo>
                  <a:pt x="117631" y="887372"/>
                </a:lnTo>
                <a:lnTo>
                  <a:pt x="147039" y="887170"/>
                </a:lnTo>
                <a:lnTo>
                  <a:pt x="176447" y="886923"/>
                </a:lnTo>
                <a:lnTo>
                  <a:pt x="205854" y="886632"/>
                </a:lnTo>
                <a:lnTo>
                  <a:pt x="235262" y="886296"/>
                </a:lnTo>
                <a:lnTo>
                  <a:pt x="264670" y="885915"/>
                </a:lnTo>
                <a:lnTo>
                  <a:pt x="294078" y="885489"/>
                </a:lnTo>
                <a:lnTo>
                  <a:pt x="323486" y="885018"/>
                </a:lnTo>
                <a:lnTo>
                  <a:pt x="352894" y="884502"/>
                </a:lnTo>
                <a:lnTo>
                  <a:pt x="382301" y="883942"/>
                </a:lnTo>
                <a:lnTo>
                  <a:pt x="411709" y="883337"/>
                </a:lnTo>
                <a:lnTo>
                  <a:pt x="441117" y="882687"/>
                </a:lnTo>
                <a:lnTo>
                  <a:pt x="470525" y="881992"/>
                </a:lnTo>
                <a:lnTo>
                  <a:pt x="499933" y="881252"/>
                </a:lnTo>
                <a:lnTo>
                  <a:pt x="529341" y="880467"/>
                </a:lnTo>
                <a:lnTo>
                  <a:pt x="558748" y="879638"/>
                </a:lnTo>
                <a:lnTo>
                  <a:pt x="588156" y="878764"/>
                </a:lnTo>
                <a:lnTo>
                  <a:pt x="617564" y="877845"/>
                </a:lnTo>
                <a:lnTo>
                  <a:pt x="646972" y="876881"/>
                </a:lnTo>
                <a:lnTo>
                  <a:pt x="676380" y="875872"/>
                </a:lnTo>
                <a:lnTo>
                  <a:pt x="705788" y="874818"/>
                </a:lnTo>
                <a:lnTo>
                  <a:pt x="735195" y="873720"/>
                </a:lnTo>
                <a:lnTo>
                  <a:pt x="764603" y="872577"/>
                </a:lnTo>
                <a:lnTo>
                  <a:pt x="794011" y="871389"/>
                </a:lnTo>
                <a:lnTo>
                  <a:pt x="823419" y="870156"/>
                </a:lnTo>
                <a:lnTo>
                  <a:pt x="852827" y="868878"/>
                </a:lnTo>
                <a:lnTo>
                  <a:pt x="882235" y="867555"/>
                </a:lnTo>
                <a:lnTo>
                  <a:pt x="911643" y="866188"/>
                </a:lnTo>
                <a:lnTo>
                  <a:pt x="941050" y="864776"/>
                </a:lnTo>
                <a:lnTo>
                  <a:pt x="970458" y="863319"/>
                </a:lnTo>
                <a:lnTo>
                  <a:pt x="999866" y="861817"/>
                </a:lnTo>
                <a:lnTo>
                  <a:pt x="1029274" y="860270"/>
                </a:lnTo>
                <a:lnTo>
                  <a:pt x="1058682" y="858678"/>
                </a:lnTo>
                <a:lnTo>
                  <a:pt x="1088090" y="857042"/>
                </a:lnTo>
                <a:lnTo>
                  <a:pt x="1117497" y="855361"/>
                </a:lnTo>
                <a:lnTo>
                  <a:pt x="1146905" y="853634"/>
                </a:lnTo>
                <a:lnTo>
                  <a:pt x="1176313" y="851864"/>
                </a:lnTo>
                <a:lnTo>
                  <a:pt x="1205721" y="850048"/>
                </a:lnTo>
                <a:lnTo>
                  <a:pt x="1235129" y="848187"/>
                </a:lnTo>
                <a:lnTo>
                  <a:pt x="1264537" y="846282"/>
                </a:lnTo>
                <a:lnTo>
                  <a:pt x="1293944" y="844331"/>
                </a:lnTo>
                <a:lnTo>
                  <a:pt x="1323352" y="842336"/>
                </a:lnTo>
                <a:lnTo>
                  <a:pt x="1352760" y="840296"/>
                </a:lnTo>
                <a:lnTo>
                  <a:pt x="1382168" y="838212"/>
                </a:lnTo>
                <a:lnTo>
                  <a:pt x="1411576" y="836082"/>
                </a:lnTo>
                <a:lnTo>
                  <a:pt x="1440984" y="833908"/>
                </a:lnTo>
                <a:lnTo>
                  <a:pt x="1470391" y="831688"/>
                </a:lnTo>
                <a:lnTo>
                  <a:pt x="1499799" y="829424"/>
                </a:lnTo>
                <a:lnTo>
                  <a:pt x="1529207" y="827115"/>
                </a:lnTo>
                <a:lnTo>
                  <a:pt x="1558615" y="824762"/>
                </a:lnTo>
                <a:lnTo>
                  <a:pt x="1588023" y="822363"/>
                </a:lnTo>
                <a:lnTo>
                  <a:pt x="1617431" y="819920"/>
                </a:lnTo>
                <a:lnTo>
                  <a:pt x="1646838" y="817431"/>
                </a:lnTo>
                <a:lnTo>
                  <a:pt x="1676246" y="814898"/>
                </a:lnTo>
                <a:lnTo>
                  <a:pt x="1705654" y="812320"/>
                </a:lnTo>
                <a:lnTo>
                  <a:pt x="1735062" y="809697"/>
                </a:lnTo>
                <a:lnTo>
                  <a:pt x="1764470" y="807030"/>
                </a:lnTo>
                <a:lnTo>
                  <a:pt x="1793878" y="804317"/>
                </a:lnTo>
                <a:lnTo>
                  <a:pt x="1823286" y="801560"/>
                </a:lnTo>
                <a:lnTo>
                  <a:pt x="1852693" y="798758"/>
                </a:lnTo>
                <a:lnTo>
                  <a:pt x="1882101" y="795911"/>
                </a:lnTo>
                <a:lnTo>
                  <a:pt x="1911509" y="793019"/>
                </a:lnTo>
                <a:lnTo>
                  <a:pt x="1940917" y="790083"/>
                </a:lnTo>
                <a:lnTo>
                  <a:pt x="1970325" y="787101"/>
                </a:lnTo>
                <a:lnTo>
                  <a:pt x="1999733" y="784075"/>
                </a:lnTo>
                <a:lnTo>
                  <a:pt x="2029140" y="781004"/>
                </a:lnTo>
                <a:lnTo>
                  <a:pt x="2058548" y="777888"/>
                </a:lnTo>
                <a:lnTo>
                  <a:pt x="2087956" y="774727"/>
                </a:lnTo>
                <a:lnTo>
                  <a:pt x="2117364" y="771522"/>
                </a:lnTo>
                <a:lnTo>
                  <a:pt x="2146772" y="768271"/>
                </a:lnTo>
                <a:lnTo>
                  <a:pt x="2176180" y="764976"/>
                </a:lnTo>
                <a:lnTo>
                  <a:pt x="2205587" y="761636"/>
                </a:lnTo>
                <a:lnTo>
                  <a:pt x="2234995" y="758251"/>
                </a:lnTo>
                <a:lnTo>
                  <a:pt x="2264403" y="754821"/>
                </a:lnTo>
                <a:lnTo>
                  <a:pt x="2293811" y="751346"/>
                </a:lnTo>
                <a:lnTo>
                  <a:pt x="2323219" y="747827"/>
                </a:lnTo>
                <a:lnTo>
                  <a:pt x="2352627" y="744263"/>
                </a:lnTo>
                <a:lnTo>
                  <a:pt x="2382034" y="740653"/>
                </a:lnTo>
                <a:lnTo>
                  <a:pt x="2411442" y="737000"/>
                </a:lnTo>
                <a:lnTo>
                  <a:pt x="2440850" y="733301"/>
                </a:lnTo>
                <a:lnTo>
                  <a:pt x="2470258" y="729557"/>
                </a:lnTo>
                <a:lnTo>
                  <a:pt x="2499666" y="725769"/>
                </a:lnTo>
                <a:lnTo>
                  <a:pt x="2529074" y="721935"/>
                </a:lnTo>
                <a:lnTo>
                  <a:pt x="2558482" y="718057"/>
                </a:lnTo>
                <a:lnTo>
                  <a:pt x="2587889" y="714134"/>
                </a:lnTo>
                <a:lnTo>
                  <a:pt x="2617297" y="710167"/>
                </a:lnTo>
                <a:lnTo>
                  <a:pt x="2646705" y="706154"/>
                </a:lnTo>
                <a:lnTo>
                  <a:pt x="2676113" y="702096"/>
                </a:lnTo>
                <a:lnTo>
                  <a:pt x="2705521" y="697994"/>
                </a:lnTo>
                <a:lnTo>
                  <a:pt x="2734929" y="693847"/>
                </a:lnTo>
                <a:lnTo>
                  <a:pt x="2764336" y="689655"/>
                </a:lnTo>
                <a:lnTo>
                  <a:pt x="2793744" y="685418"/>
                </a:lnTo>
                <a:lnTo>
                  <a:pt x="2823152" y="681137"/>
                </a:lnTo>
                <a:lnTo>
                  <a:pt x="2852560" y="676810"/>
                </a:lnTo>
                <a:lnTo>
                  <a:pt x="2881968" y="672439"/>
                </a:lnTo>
                <a:lnTo>
                  <a:pt x="2911376" y="668023"/>
                </a:lnTo>
                <a:lnTo>
                  <a:pt x="2940783" y="663562"/>
                </a:lnTo>
                <a:lnTo>
                  <a:pt x="2970191" y="659056"/>
                </a:lnTo>
                <a:lnTo>
                  <a:pt x="2999599" y="654506"/>
                </a:lnTo>
                <a:lnTo>
                  <a:pt x="3029007" y="649910"/>
                </a:lnTo>
                <a:lnTo>
                  <a:pt x="3058415" y="645270"/>
                </a:lnTo>
                <a:lnTo>
                  <a:pt x="3087823" y="640585"/>
                </a:lnTo>
                <a:lnTo>
                  <a:pt x="3117230" y="635855"/>
                </a:lnTo>
                <a:lnTo>
                  <a:pt x="3146638" y="631080"/>
                </a:lnTo>
                <a:lnTo>
                  <a:pt x="3176046" y="626260"/>
                </a:lnTo>
                <a:lnTo>
                  <a:pt x="3205454" y="621396"/>
                </a:lnTo>
                <a:lnTo>
                  <a:pt x="3234862" y="616487"/>
                </a:lnTo>
                <a:lnTo>
                  <a:pt x="3264270" y="611532"/>
                </a:lnTo>
                <a:lnTo>
                  <a:pt x="3293677" y="606533"/>
                </a:lnTo>
                <a:lnTo>
                  <a:pt x="3323085" y="601490"/>
                </a:lnTo>
                <a:lnTo>
                  <a:pt x="3352493" y="596401"/>
                </a:lnTo>
                <a:lnTo>
                  <a:pt x="3381901" y="591268"/>
                </a:lnTo>
                <a:lnTo>
                  <a:pt x="3411309" y="586089"/>
                </a:lnTo>
                <a:lnTo>
                  <a:pt x="3440717" y="580866"/>
                </a:lnTo>
                <a:lnTo>
                  <a:pt x="3470125" y="575598"/>
                </a:lnTo>
                <a:lnTo>
                  <a:pt x="3499532" y="570285"/>
                </a:lnTo>
                <a:lnTo>
                  <a:pt x="3528940" y="564928"/>
                </a:lnTo>
                <a:lnTo>
                  <a:pt x="3558348" y="559525"/>
                </a:lnTo>
                <a:lnTo>
                  <a:pt x="3587756" y="554078"/>
                </a:lnTo>
                <a:lnTo>
                  <a:pt x="3617164" y="548586"/>
                </a:lnTo>
                <a:lnTo>
                  <a:pt x="3646572" y="543049"/>
                </a:lnTo>
                <a:lnTo>
                  <a:pt x="3675979" y="537467"/>
                </a:lnTo>
                <a:lnTo>
                  <a:pt x="3705387" y="531840"/>
                </a:lnTo>
                <a:lnTo>
                  <a:pt x="3734795" y="526169"/>
                </a:lnTo>
                <a:lnTo>
                  <a:pt x="3764203" y="520453"/>
                </a:lnTo>
                <a:lnTo>
                  <a:pt x="3793611" y="514692"/>
                </a:lnTo>
                <a:lnTo>
                  <a:pt x="3823019" y="508886"/>
                </a:lnTo>
                <a:lnTo>
                  <a:pt x="3852426" y="503035"/>
                </a:lnTo>
                <a:lnTo>
                  <a:pt x="3881834" y="497139"/>
                </a:lnTo>
                <a:lnTo>
                  <a:pt x="3911242" y="491199"/>
                </a:lnTo>
                <a:lnTo>
                  <a:pt x="3940650" y="485213"/>
                </a:lnTo>
                <a:lnTo>
                  <a:pt x="3970058" y="479183"/>
                </a:lnTo>
                <a:lnTo>
                  <a:pt x="3999466" y="473108"/>
                </a:lnTo>
                <a:lnTo>
                  <a:pt x="4028873" y="466988"/>
                </a:lnTo>
                <a:lnTo>
                  <a:pt x="4058281" y="460824"/>
                </a:lnTo>
                <a:lnTo>
                  <a:pt x="4087689" y="454614"/>
                </a:lnTo>
                <a:lnTo>
                  <a:pt x="4117097" y="448360"/>
                </a:lnTo>
                <a:lnTo>
                  <a:pt x="4146505" y="442061"/>
                </a:lnTo>
                <a:lnTo>
                  <a:pt x="4175913" y="435717"/>
                </a:lnTo>
                <a:lnTo>
                  <a:pt x="4205321" y="429328"/>
                </a:lnTo>
                <a:lnTo>
                  <a:pt x="4234728" y="422895"/>
                </a:lnTo>
                <a:lnTo>
                  <a:pt x="4264136" y="416416"/>
                </a:lnTo>
                <a:lnTo>
                  <a:pt x="4293544" y="409893"/>
                </a:lnTo>
                <a:lnTo>
                  <a:pt x="4322952" y="403325"/>
                </a:lnTo>
                <a:lnTo>
                  <a:pt x="4352360" y="396712"/>
                </a:lnTo>
                <a:lnTo>
                  <a:pt x="4381768" y="390054"/>
                </a:lnTo>
                <a:lnTo>
                  <a:pt x="4411175" y="383351"/>
                </a:lnTo>
                <a:lnTo>
                  <a:pt x="4440583" y="376604"/>
                </a:lnTo>
                <a:lnTo>
                  <a:pt x="4469991" y="369811"/>
                </a:lnTo>
                <a:lnTo>
                  <a:pt x="4499399" y="362974"/>
                </a:lnTo>
                <a:lnTo>
                  <a:pt x="4528807" y="356092"/>
                </a:lnTo>
                <a:lnTo>
                  <a:pt x="4558215" y="349165"/>
                </a:lnTo>
                <a:lnTo>
                  <a:pt x="4587622" y="342194"/>
                </a:lnTo>
                <a:lnTo>
                  <a:pt x="4617030" y="335177"/>
                </a:lnTo>
                <a:lnTo>
                  <a:pt x="4646438" y="328116"/>
                </a:lnTo>
                <a:lnTo>
                  <a:pt x="4675846" y="321010"/>
                </a:lnTo>
                <a:lnTo>
                  <a:pt x="4705254" y="313859"/>
                </a:lnTo>
                <a:lnTo>
                  <a:pt x="4734662" y="306663"/>
                </a:lnTo>
                <a:lnTo>
                  <a:pt x="4764069" y="299422"/>
                </a:lnTo>
                <a:lnTo>
                  <a:pt x="4793477" y="292137"/>
                </a:lnTo>
                <a:lnTo>
                  <a:pt x="4822885" y="284807"/>
                </a:lnTo>
                <a:lnTo>
                  <a:pt x="4852293" y="277432"/>
                </a:lnTo>
                <a:lnTo>
                  <a:pt x="4881701" y="270012"/>
                </a:lnTo>
                <a:lnTo>
                  <a:pt x="4911109" y="262547"/>
                </a:lnTo>
                <a:lnTo>
                  <a:pt x="4940516" y="255037"/>
                </a:lnTo>
                <a:lnTo>
                  <a:pt x="4969924" y="247483"/>
                </a:lnTo>
                <a:lnTo>
                  <a:pt x="4999332" y="239883"/>
                </a:lnTo>
                <a:lnTo>
                  <a:pt x="5028740" y="232239"/>
                </a:lnTo>
                <a:lnTo>
                  <a:pt x="5058148" y="224550"/>
                </a:lnTo>
                <a:lnTo>
                  <a:pt x="5087556" y="216816"/>
                </a:lnTo>
                <a:lnTo>
                  <a:pt x="5116964" y="209038"/>
                </a:lnTo>
                <a:lnTo>
                  <a:pt x="5146371" y="201214"/>
                </a:lnTo>
                <a:lnTo>
                  <a:pt x="5175779" y="193346"/>
                </a:lnTo>
                <a:lnTo>
                  <a:pt x="5205187" y="185433"/>
                </a:lnTo>
                <a:lnTo>
                  <a:pt x="5234595" y="177475"/>
                </a:lnTo>
                <a:lnTo>
                  <a:pt x="5264003" y="169472"/>
                </a:lnTo>
                <a:lnTo>
                  <a:pt x="5293411" y="161424"/>
                </a:lnTo>
                <a:lnTo>
                  <a:pt x="5322818" y="153332"/>
                </a:lnTo>
                <a:lnTo>
                  <a:pt x="5352226" y="145194"/>
                </a:lnTo>
                <a:lnTo>
                  <a:pt x="5381634" y="137012"/>
                </a:lnTo>
                <a:lnTo>
                  <a:pt x="5411042" y="128785"/>
                </a:lnTo>
                <a:lnTo>
                  <a:pt x="5440450" y="120514"/>
                </a:lnTo>
                <a:lnTo>
                  <a:pt x="5469858" y="112197"/>
                </a:lnTo>
                <a:lnTo>
                  <a:pt x="5499265" y="103835"/>
                </a:lnTo>
                <a:lnTo>
                  <a:pt x="5528673" y="95429"/>
                </a:lnTo>
                <a:lnTo>
                  <a:pt x="5558081" y="86978"/>
                </a:lnTo>
                <a:lnTo>
                  <a:pt x="5587489" y="78482"/>
                </a:lnTo>
                <a:lnTo>
                  <a:pt x="5616897" y="69941"/>
                </a:lnTo>
                <a:lnTo>
                  <a:pt x="5646305" y="61355"/>
                </a:lnTo>
                <a:lnTo>
                  <a:pt x="5675712" y="52725"/>
                </a:lnTo>
                <a:lnTo>
                  <a:pt x="5705120" y="44050"/>
                </a:lnTo>
                <a:lnTo>
                  <a:pt x="5734528" y="35329"/>
                </a:lnTo>
                <a:lnTo>
                  <a:pt x="5763936" y="26564"/>
                </a:lnTo>
                <a:lnTo>
                  <a:pt x="5793344" y="17755"/>
                </a:lnTo>
                <a:lnTo>
                  <a:pt x="5822752" y="8900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4-E30 line 35" descr="sci-ppt:o035"/>
          <p:cNvCxnSpPr/>
          <p:nvPr/>
        </p:nvCxnSpPr>
        <p:spPr>
          <a:xfrm>
            <a:off x="914400" y="3809999"/>
            <a:ext cx="585216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8" name="C4-E30 text 36" descr="sci-ppt:o036"/>
          <p:cNvSpPr txBox="1"/>
          <p:nvPr/>
        </p:nvSpPr>
        <p:spPr>
          <a:xfrm>
            <a:off x="1221638" y="332232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E_solid = 10 nJ (budget)</a:t>
            </a:r>
          </a:p>
        </p:txBody>
      </p:sp>
      <p:sp>
        <p:nvSpPr>
          <p:cNvPr id="39" name="C4-E30 text 37" descr="sci-ppt:o037"/>
          <p:cNvSpPr txBox="1"/>
          <p:nvPr/>
        </p:nvSpPr>
        <p:spPr>
          <a:xfrm>
            <a:off x="4264761" y="4181856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Γ = 0.005 J/m²: Γ A_f = 5 nJ</a:t>
            </a:r>
          </a:p>
        </p:txBody>
      </p:sp>
      <p:sp>
        <p:nvSpPr>
          <p:cNvPr id="40" name="C4-E30 text 38" descr="sci-ppt:o038"/>
          <p:cNvSpPr txBox="1"/>
          <p:nvPr/>
        </p:nvSpPr>
        <p:spPr>
          <a:xfrm>
            <a:off x="1104595" y="167640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Γ = 0.020 J/m²: Γ A_f = 20 nJ</a:t>
            </a:r>
          </a:p>
        </p:txBody>
      </p:sp>
      <p:sp>
        <p:nvSpPr>
          <p:cNvPr id="41" name="C4-E30 round_rect 39" descr="sci-ppt:o039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30 text 40" descr="sci-ppt:o040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Necessary, not sufficient</a:t>
            </a:r>
          </a:p>
        </p:txBody>
      </p:sp>
      <p:sp>
        <p:nvSpPr>
          <p:cNvPr id="43" name="C4-E30 text 41" descr="sci-ppt:o041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E_req(v_f) = Γ A_f + ½ m_f v_f²</a:t>
            </a:r>
          </a:p>
        </p:txBody>
      </p:sp>
      <p:sp>
        <p:nvSpPr>
          <p:cNvPr id="44" name="C4-E30 text 42" descr="sci-ppt:o042"/>
          <p:cNvSpPr txBox="1"/>
          <p:nvPr/>
        </p:nvSpPr>
        <p:spPr>
          <a:xfrm>
            <a:off x="7178040" y="22860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I_req(v_f) = m_f v_f</a:t>
            </a:r>
          </a:p>
        </p:txBody>
      </p:sp>
      <p:sp>
        <p:nvSpPr>
          <p:cNvPr id="45" name="C4-E30 text 43" descr="sci-ppt:o043"/>
          <p:cNvSpPr txBox="1"/>
          <p:nvPr/>
        </p:nvSpPr>
        <p:spPr>
          <a:xfrm>
            <a:off x="7178040" y="283464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pass:  E_solid ≥ E_req  and  Iₙₑₜ ≥ I_req</a:t>
            </a:r>
          </a:p>
        </p:txBody>
      </p:sp>
      <p:sp>
        <p:nvSpPr>
          <p:cNvPr id="46" name="C4-E30 text 44" descr="sci-ppt:o044"/>
          <p:cNvSpPr txBox="1"/>
          <p:nvPr/>
        </p:nvSpPr>
        <p:spPr>
          <a:xfrm>
            <a:off x="7178040" y="347472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whole release area A_f, not a pressure peak, sets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fracture energy cost.</a:t>
            </a:r>
          </a:p>
        </p:txBody>
      </p:sp>
      <p:sp>
        <p:nvSpPr>
          <p:cNvPr id="47" name="C4-E30 text 45" descr="sci-ppt:o045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Energy to open the interface (Γ A_f) plus energy to move the released film (½ m_f v_f²).</a:t>
            </a:r>
          </a:p>
        </p:txBody>
      </p:sp>
      <p:sp>
        <p:nvSpPr>
          <p:cNvPr id="48" name="C4-E30 text 46" descr="sci-ppt:o04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Global screens of Eq. C4-E30 (A_f = 1 mm², m_f = 2.33 µg).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