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C4-E10 · Derived term-balance estimates</a:t>
            </a:r>
          </a:p>
        </p:txBody>
      </p:sp>
      <p:sp>
        <p:nvSpPr>
          <p:cNvPr id="3" name="C4-E10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Compare the pulse with three response times</a:t>
            </a:r>
          </a:p>
        </p:txBody>
      </p:sp>
      <p:sp>
        <p:nvSpPr>
          <p:cNvPr id="4" name="C4-E10 text 2" descr="sci-ppt:o002"/>
          <p:cNvSpPr txBox="1"/>
          <p:nvPr/>
        </p:nvSpPr>
        <p:spPr>
          <a:xfrm>
            <a:off x="457200" y="1481328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t_b = a_f² √(m_A/D_f)  (bending)</a:t>
            </a:r>
          </a:p>
        </p:txBody>
      </p:sp>
      <p:sp>
        <p:nvSpPr>
          <p:cNvPr id="5" name="C4-E10 rect 3" descr="sci-ppt:o003"/>
          <p:cNvSpPr/>
          <p:nvPr/>
        </p:nvSpPr>
        <p:spPr>
          <a:xfrm>
            <a:off x="5394960" y="1463040"/>
            <a:ext cx="2970896" cy="45720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10 text 4" descr="sci-ppt:o004"/>
          <p:cNvSpPr txBox="1"/>
          <p:nvPr/>
        </p:nvSpPr>
        <p:spPr>
          <a:xfrm>
            <a:off x="8439008" y="150876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3.5e+03 ns</a:t>
            </a:r>
          </a:p>
        </p:txBody>
      </p:sp>
      <p:sp>
        <p:nvSpPr>
          <p:cNvPr id="7" name="C4-E10 text 5" descr="sci-ppt:o005"/>
          <p:cNvSpPr txBox="1"/>
          <p:nvPr/>
        </p:nvSpPr>
        <p:spPr>
          <a:xfrm>
            <a:off x="457200" y="2212848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t_T = a_f √(m_A/T₀)  (tension, T₀ = 1 N/m)</a:t>
            </a:r>
          </a:p>
        </p:txBody>
      </p:sp>
      <p:sp>
        <p:nvSpPr>
          <p:cNvPr id="8" name="C4-E10 rect 6" descr="sci-ppt:o006"/>
          <p:cNvSpPr/>
          <p:nvPr/>
        </p:nvSpPr>
        <p:spPr>
          <a:xfrm>
            <a:off x="5394960" y="2194560"/>
            <a:ext cx="3506758" cy="45720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10 text 7" descr="sci-ppt:o007"/>
          <p:cNvSpPr txBox="1"/>
          <p:nvPr/>
        </p:nvSpPr>
        <p:spPr>
          <a:xfrm>
            <a:off x="8974870" y="224028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1.53e+04 ns</a:t>
            </a:r>
          </a:p>
        </p:txBody>
      </p:sp>
      <p:sp>
        <p:nvSpPr>
          <p:cNvPr id="10" name="C4-E10 text 8" descr="sci-ppt:o008"/>
          <p:cNvSpPr txBox="1"/>
          <p:nvPr/>
        </p:nvSpPr>
        <p:spPr>
          <a:xfrm>
            <a:off x="457200" y="2944368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tₙ = √(m_A/Kₙ)  (cohesive, Kₙ = 10¹³ Pa/m)</a:t>
            </a:r>
          </a:p>
        </p:txBody>
      </p:sp>
      <p:sp>
        <p:nvSpPr>
          <p:cNvPr id="11" name="C4-E10 rect 9" descr="sci-ppt:o009"/>
          <p:cNvSpPr/>
          <p:nvPr/>
        </p:nvSpPr>
        <p:spPr>
          <a:xfrm>
            <a:off x="5394960" y="2926080"/>
            <a:ext cx="1411258" cy="45720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4-E10 text 10" descr="sci-ppt:o010"/>
          <p:cNvSpPr txBox="1"/>
          <p:nvPr/>
        </p:nvSpPr>
        <p:spPr>
          <a:xfrm>
            <a:off x="6879370" y="297180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48.3 ns</a:t>
            </a:r>
          </a:p>
        </p:txBody>
      </p:sp>
      <p:sp>
        <p:nvSpPr>
          <p:cNvPr id="13" name="C4-E10 text 11" descr="sci-ppt:o011"/>
          <p:cNvSpPr txBox="1"/>
          <p:nvPr/>
        </p:nvSpPr>
        <p:spPr>
          <a:xfrm>
            <a:off x="457200" y="3675887"/>
            <a:ext cx="4846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impulse-equivalent pulse τ_eq</a:t>
            </a:r>
          </a:p>
        </p:txBody>
      </p:sp>
      <p:sp>
        <p:nvSpPr>
          <p:cNvPr id="14" name="C4-E10 rect 12" descr="sci-ppt:o012"/>
          <p:cNvSpPr/>
          <p:nvPr/>
        </p:nvSpPr>
        <p:spPr>
          <a:xfrm>
            <a:off x="5394960" y="3657600"/>
            <a:ext cx="1281322" cy="457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10 text 13" descr="sci-ppt:o013"/>
          <p:cNvSpPr txBox="1"/>
          <p:nvPr/>
        </p:nvSpPr>
        <p:spPr>
          <a:xfrm>
            <a:off x="6749434" y="370332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33.8 ns</a:t>
            </a:r>
          </a:p>
        </p:txBody>
      </p:sp>
      <p:sp>
        <p:nvSpPr>
          <p:cNvPr id="16" name="C4-E10 round_rect 14" descr="sci-ppt:o014"/>
          <p:cNvSpPr/>
          <p:nvPr/>
        </p:nvSpPr>
        <p:spPr>
          <a:xfrm>
            <a:off x="457200" y="4572000"/>
            <a:ext cx="548640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4-E10 text 15" descr="sci-ppt:o015"/>
          <p:cNvSpPr txBox="1"/>
          <p:nvPr/>
        </p:nvSpPr>
        <p:spPr>
          <a:xfrm>
            <a:off x="566928" y="462686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Short pulse</a:t>
            </a:r>
          </a:p>
        </p:txBody>
      </p:sp>
      <p:sp>
        <p:nvSpPr>
          <p:cNvPr id="18" name="C4-E10 text 16" descr="sci-ppt:o016"/>
          <p:cNvSpPr txBox="1"/>
          <p:nvPr/>
        </p:nvSpPr>
        <p:spPr>
          <a:xfrm>
            <a:off x="594360" y="498348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≪ response time: the film cannot react during the pulse, so it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gets a free velocity (Eq. C4-E09).</a:t>
            </a:r>
          </a:p>
        </p:txBody>
      </p:sp>
      <p:sp>
        <p:nvSpPr>
          <p:cNvPr id="19" name="C4-E10 round_rect 17" descr="sci-ppt:o017"/>
          <p:cNvSpPr/>
          <p:nvPr/>
        </p:nvSpPr>
        <p:spPr>
          <a:xfrm>
            <a:off x="6217920" y="4572000"/>
            <a:ext cx="548640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4-E10 text 18" descr="sci-ppt:o018"/>
          <p:cNvSpPr txBox="1"/>
          <p:nvPr/>
        </p:nvSpPr>
        <p:spPr>
          <a:xfrm>
            <a:off x="6327648" y="462686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Long pulse</a:t>
            </a:r>
          </a:p>
        </p:txBody>
      </p:sp>
      <p:sp>
        <p:nvSpPr>
          <p:cNvPr id="21" name="C4-E10 text 19" descr="sci-ppt:o019"/>
          <p:cNvSpPr txBox="1"/>
          <p:nvPr/>
        </p:nvSpPr>
        <p:spPr>
          <a:xfrm>
            <a:off x="6355080" y="498348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τ ≳ response time: elastic and cohesive reactions act during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pulse and reduce the net impulse.</a:t>
            </a:r>
          </a:p>
        </p:txBody>
      </p:sp>
      <p:sp>
        <p:nvSpPr>
          <p:cNvPr id="22" name="C4-E10 text 20" descr="sci-ppt:o02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Term-balance times of Eq. C4-E10 for a_f = 100 µm, h_f = 10 µm (E_f = 2 GPa, ν = 0.35); T₀ and Kₙ are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