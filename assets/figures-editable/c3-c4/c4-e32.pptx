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C4-E32 · Passed necessary release and minimum-speed screens</a:t>
            </a:r>
          </a:p>
        </p:txBody>
      </p:sp>
      <p:sp>
        <p:nvSpPr>
          <p:cNvPr id="3" name="C4-E32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Passed screens for Γ = 0.005 J/m² and v_f = 0.50 m/s</a:t>
            </a:r>
          </a:p>
        </p:txBody>
      </p:sp>
      <p:cxnSp>
        <p:nvCxnSpPr>
          <p:cNvPr id="4" name="C4-E32 line 2" descr="sci-ppt:o002"/>
          <p:cNvCxnSpPr/>
          <p:nvPr/>
        </p:nvCxnSpPr>
        <p:spPr>
          <a:xfrm>
            <a:off x="457200" y="457200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2 line 3" descr="sci-ppt:o003"/>
          <p:cNvCxnSpPr/>
          <p:nvPr/>
        </p:nvCxnSpPr>
        <p:spPr>
          <a:xfrm>
            <a:off x="45720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C4-E32 line 4" descr="sci-ppt:o004"/>
          <p:cNvCxnSpPr/>
          <p:nvPr/>
        </p:nvCxnSpPr>
        <p:spPr>
          <a:xfrm>
            <a:off x="39319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4-E32 line 5" descr="sci-ppt:o005"/>
          <p:cNvCxnSpPr/>
          <p:nvPr/>
        </p:nvCxnSpPr>
        <p:spPr>
          <a:xfrm>
            <a:off x="457200" y="457200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8" name="C4-E32 text 6" descr="sci-ppt:o006"/>
          <p:cNvSpPr txBox="1"/>
          <p:nvPr/>
        </p:nvSpPr>
        <p:spPr>
          <a:xfrm>
            <a:off x="-411479" y="4489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9" name="C4-E32 line 7" descr="sci-ppt:o007"/>
          <p:cNvCxnSpPr/>
          <p:nvPr/>
        </p:nvCxnSpPr>
        <p:spPr>
          <a:xfrm>
            <a:off x="3931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4-E32 line 8" descr="sci-ppt:o008"/>
          <p:cNvCxnSpPr/>
          <p:nvPr/>
        </p:nvCxnSpPr>
        <p:spPr>
          <a:xfrm>
            <a:off x="457200" y="320040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1" name="C4-E32 text 9" descr="sci-ppt:o009"/>
          <p:cNvSpPr txBox="1"/>
          <p:nvPr/>
        </p:nvSpPr>
        <p:spPr>
          <a:xfrm>
            <a:off x="-411479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12" name="C4-E32 line 10" descr="sci-ppt:o010"/>
          <p:cNvCxnSpPr/>
          <p:nvPr/>
        </p:nvCxnSpPr>
        <p:spPr>
          <a:xfrm>
            <a:off x="393192" y="1828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4-E32 line 11" descr="sci-ppt:o011"/>
          <p:cNvCxnSpPr/>
          <p:nvPr/>
        </p:nvCxnSpPr>
        <p:spPr>
          <a:xfrm>
            <a:off x="457200" y="182880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4" name="C4-E32 text 12" descr="sci-ppt:o012"/>
          <p:cNvSpPr txBox="1"/>
          <p:nvPr/>
        </p:nvSpPr>
        <p:spPr>
          <a:xfrm>
            <a:off x="-411479" y="1746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sp>
        <p:nvSpPr>
          <p:cNvPr id="15" name="C4-E32 rect 13" descr="sci-ppt:o013"/>
          <p:cNvSpPr/>
          <p:nvPr/>
        </p:nvSpPr>
        <p:spPr>
          <a:xfrm>
            <a:off x="721766" y="3200400"/>
            <a:ext cx="1360627" cy="13716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4-E32 text 14" descr="sci-ppt:o014"/>
          <p:cNvSpPr txBox="1"/>
          <p:nvPr/>
        </p:nvSpPr>
        <p:spPr>
          <a:xfrm>
            <a:off x="493166" y="2926080"/>
            <a:ext cx="1817827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5.000</a:t>
            </a:r>
          </a:p>
        </p:txBody>
      </p:sp>
      <p:sp>
        <p:nvSpPr>
          <p:cNvPr id="17" name="C4-E32 text 15" descr="sci-ppt:o015"/>
          <p:cNvSpPr txBox="1"/>
          <p:nvPr/>
        </p:nvSpPr>
        <p:spPr>
          <a:xfrm>
            <a:off x="447446" y="4645152"/>
            <a:ext cx="1909267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Γ A_f</a:t>
            </a:r>
          </a:p>
        </p:txBody>
      </p:sp>
      <p:sp>
        <p:nvSpPr>
          <p:cNvPr id="18" name="C4-E32 rect 16" descr="sci-ppt:o016"/>
          <p:cNvSpPr/>
          <p:nvPr/>
        </p:nvSpPr>
        <p:spPr>
          <a:xfrm>
            <a:off x="2611526" y="3120504"/>
            <a:ext cx="1360627" cy="79895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32 text 17" descr="sci-ppt:o017"/>
          <p:cNvSpPr txBox="1"/>
          <p:nvPr/>
        </p:nvSpPr>
        <p:spPr>
          <a:xfrm>
            <a:off x="2382926" y="2846184"/>
            <a:ext cx="1817827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+0.291</a:t>
            </a:r>
          </a:p>
        </p:txBody>
      </p:sp>
      <p:sp>
        <p:nvSpPr>
          <p:cNvPr id="20" name="C4-E32 text 18" descr="sci-ppt:o018"/>
          <p:cNvSpPr txBox="1"/>
          <p:nvPr/>
        </p:nvSpPr>
        <p:spPr>
          <a:xfrm>
            <a:off x="2337206" y="4645152"/>
            <a:ext cx="1909267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½ m_f v_f²</a:t>
            </a:r>
          </a:p>
        </p:txBody>
      </p:sp>
      <p:sp>
        <p:nvSpPr>
          <p:cNvPr id="21" name="C4-E32 rect 19" descr="sci-ppt:o019"/>
          <p:cNvSpPr/>
          <p:nvPr/>
        </p:nvSpPr>
        <p:spPr>
          <a:xfrm>
            <a:off x="4501286" y="3120504"/>
            <a:ext cx="1360627" cy="1451495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4-E32 text 20" descr="sci-ppt:o020"/>
          <p:cNvSpPr txBox="1"/>
          <p:nvPr/>
        </p:nvSpPr>
        <p:spPr>
          <a:xfrm>
            <a:off x="4272686" y="2846184"/>
            <a:ext cx="1817827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5.291</a:t>
            </a:r>
          </a:p>
        </p:txBody>
      </p:sp>
      <p:sp>
        <p:nvSpPr>
          <p:cNvPr id="23" name="C4-E32 text 21" descr="sci-ppt:o021"/>
          <p:cNvSpPr txBox="1"/>
          <p:nvPr/>
        </p:nvSpPr>
        <p:spPr>
          <a:xfrm>
            <a:off x="4226966" y="4645152"/>
            <a:ext cx="1909267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= E_req</a:t>
            </a:r>
          </a:p>
        </p:txBody>
      </p:sp>
      <p:sp>
        <p:nvSpPr>
          <p:cNvPr id="24" name="C4-E32 text 22" descr="sci-ppt:o022"/>
          <p:cNvSpPr txBox="1"/>
          <p:nvPr/>
        </p:nvSpPr>
        <p:spPr>
          <a:xfrm>
            <a:off x="6583680" y="960120"/>
            <a:ext cx="51206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Energy budget (nJ)</a:t>
            </a:r>
          </a:p>
        </p:txBody>
      </p:sp>
      <p:sp>
        <p:nvSpPr>
          <p:cNvPr id="25" name="C4-E32 text 23" descr="sci-ppt:o023"/>
          <p:cNvSpPr txBox="1"/>
          <p:nvPr/>
        </p:nvSpPr>
        <p:spPr>
          <a:xfrm>
            <a:off x="6583680" y="1572768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E_req(0.50 m/s)</a:t>
            </a:r>
          </a:p>
        </p:txBody>
      </p:sp>
      <p:sp>
        <p:nvSpPr>
          <p:cNvPr id="26" name="C4-E32 rect 24" descr="sci-ppt:o024"/>
          <p:cNvSpPr/>
          <p:nvPr/>
        </p:nvSpPr>
        <p:spPr>
          <a:xfrm>
            <a:off x="8412480" y="1554480"/>
            <a:ext cx="967663" cy="45720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32 text 25" descr="sci-ppt:o025"/>
          <p:cNvSpPr txBox="1"/>
          <p:nvPr/>
        </p:nvSpPr>
        <p:spPr>
          <a:xfrm>
            <a:off x="9453295" y="160020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5.291 nJ</a:t>
            </a:r>
          </a:p>
        </p:txBody>
      </p:sp>
      <p:sp>
        <p:nvSpPr>
          <p:cNvPr id="28" name="C4-E32 text 26" descr="sci-ppt:o026"/>
          <p:cNvSpPr txBox="1"/>
          <p:nvPr/>
        </p:nvSpPr>
        <p:spPr>
          <a:xfrm>
            <a:off x="6583680" y="2304288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E_solid</a:t>
            </a:r>
          </a:p>
        </p:txBody>
      </p:sp>
      <p:sp>
        <p:nvSpPr>
          <p:cNvPr id="29" name="C4-E32 rect 27" descr="sci-ppt:o027"/>
          <p:cNvSpPr/>
          <p:nvPr/>
        </p:nvSpPr>
        <p:spPr>
          <a:xfrm>
            <a:off x="8412480" y="2286000"/>
            <a:ext cx="1828799" cy="4572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32 text 28" descr="sci-ppt:o028"/>
          <p:cNvSpPr txBox="1"/>
          <p:nvPr/>
        </p:nvSpPr>
        <p:spPr>
          <a:xfrm>
            <a:off x="10314432" y="233172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10.000 nJ</a:t>
            </a:r>
          </a:p>
        </p:txBody>
      </p:sp>
      <p:sp>
        <p:nvSpPr>
          <p:cNvPr id="31" name="C4-E32 text 29" descr="sci-ppt:o029"/>
          <p:cNvSpPr txBox="1"/>
          <p:nvPr/>
        </p:nvSpPr>
        <p:spPr>
          <a:xfrm>
            <a:off x="6583680" y="3200400"/>
            <a:ext cx="51206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Impulse budget (nN s)</a:t>
            </a:r>
          </a:p>
        </p:txBody>
      </p:sp>
      <p:sp>
        <p:nvSpPr>
          <p:cNvPr id="32" name="C4-E32 text 30" descr="sci-ppt:o030"/>
          <p:cNvSpPr txBox="1"/>
          <p:nvPr/>
        </p:nvSpPr>
        <p:spPr>
          <a:xfrm>
            <a:off x="6583680" y="3675887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I_req</a:t>
            </a:r>
          </a:p>
        </p:txBody>
      </p:sp>
      <p:sp>
        <p:nvSpPr>
          <p:cNvPr id="33" name="C4-E32 rect 31" descr="sci-ppt:o031"/>
          <p:cNvSpPr/>
          <p:nvPr/>
        </p:nvSpPr>
        <p:spPr>
          <a:xfrm>
            <a:off x="8412480" y="3657600"/>
            <a:ext cx="1302003" cy="45720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4-E32 text 32" descr="sci-ppt:o032"/>
          <p:cNvSpPr txBox="1"/>
          <p:nvPr/>
        </p:nvSpPr>
        <p:spPr>
          <a:xfrm>
            <a:off x="9787636" y="370332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1.165 nN s</a:t>
            </a:r>
          </a:p>
        </p:txBody>
      </p:sp>
      <p:sp>
        <p:nvSpPr>
          <p:cNvPr id="35" name="C4-E32 text 33" descr="sci-ppt:o033"/>
          <p:cNvSpPr txBox="1"/>
          <p:nvPr/>
        </p:nvSpPr>
        <p:spPr>
          <a:xfrm>
            <a:off x="6583680" y="4407407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Iₙₑₜ</a:t>
            </a:r>
          </a:p>
        </p:txBody>
      </p:sp>
      <p:sp>
        <p:nvSpPr>
          <p:cNvPr id="36" name="C4-E32 rect 34" descr="sci-ppt:o034"/>
          <p:cNvSpPr/>
          <p:nvPr/>
        </p:nvSpPr>
        <p:spPr>
          <a:xfrm>
            <a:off x="8412480" y="4389120"/>
            <a:ext cx="1750879" cy="4572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4-E32 text 35" descr="sci-ppt:o035"/>
          <p:cNvSpPr txBox="1"/>
          <p:nvPr/>
        </p:nvSpPr>
        <p:spPr>
          <a:xfrm>
            <a:off x="10236511" y="443484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1.567 nN s</a:t>
            </a:r>
          </a:p>
        </p:txBody>
      </p:sp>
      <p:sp>
        <p:nvSpPr>
          <p:cNvPr id="38" name="C4-E32 text 36" descr="sci-ppt:o036"/>
          <p:cNvSpPr txBox="1"/>
          <p:nvPr/>
        </p:nvSpPr>
        <p:spPr>
          <a:xfrm>
            <a:off x="457200" y="484632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E_req(0.50 m/s) = 5.00 + 0.29125 = 5.29125 nJ  &lt;  E_solid = 10.0 nJ</a:t>
            </a:r>
          </a:p>
        </p:txBody>
      </p:sp>
      <p:sp>
        <p:nvSpPr>
          <p:cNvPr id="39" name="C4-E32 text 37" descr="sci-ppt:o037"/>
          <p:cNvSpPr txBox="1"/>
          <p:nvPr/>
        </p:nvSpPr>
        <p:spPr>
          <a:xfrm>
            <a:off x="457200" y="534924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I_req = m_f v_f = (2.33×10⁻⁹)(0.50) = 1.165e-09 N s  &lt;  Iₙₑₜ = 1.567e-09 N s</a:t>
            </a:r>
          </a:p>
        </p:txBody>
      </p:sp>
      <p:sp>
        <p:nvSpPr>
          <p:cNvPr id="40" name="C4-E32 text 38" descr="sci-ppt:o038"/>
          <p:cNvSpPr txBox="1"/>
          <p:nvPr/>
        </p:nvSpPr>
        <p:spPr>
          <a:xfrm>
            <a:off x="457200" y="589788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Both necessary budgets pass; success is still not established.</a:t>
            </a:r>
          </a:p>
        </p:txBody>
      </p:sp>
      <p:sp>
        <p:nvSpPr>
          <p:cNvPr id="41" name="C4-E32 text 39" descr="sci-ppt:o03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Passed screens of Eq. C4-E32.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