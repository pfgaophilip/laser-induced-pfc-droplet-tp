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9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C4-E09 · Short-pulse free-response approximation</a:t>
            </a:r>
          </a:p>
        </p:txBody>
      </p:sp>
      <p:cxnSp>
        <p:nvCxnSpPr>
          <p:cNvPr id="3" name="C4-E09 line 1" descr="sci-ppt:o001"/>
          <p:cNvCxnSpPr/>
          <p:nvPr/>
        </p:nvCxnSpPr>
        <p:spPr>
          <a:xfrm>
            <a:off x="914400" y="2468880"/>
            <a:ext cx="822960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09 line 2" descr="sci-ppt:o002"/>
          <p:cNvCxnSpPr/>
          <p:nvPr/>
        </p:nvCxnSpPr>
        <p:spPr>
          <a:xfrm flipV="1">
            <a:off x="1097280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09 line 3" descr="sci-ppt:o003"/>
          <p:cNvCxnSpPr/>
          <p:nvPr/>
        </p:nvCxnSpPr>
        <p:spPr>
          <a:xfrm flipV="1">
            <a:off x="1193292" y="2464095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09 line 4" descr="sci-ppt:o004"/>
          <p:cNvCxnSpPr/>
          <p:nvPr/>
        </p:nvCxnSpPr>
        <p:spPr>
          <a:xfrm flipV="1">
            <a:off x="1289304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09 line 5" descr="sci-ppt:o005"/>
          <p:cNvCxnSpPr/>
          <p:nvPr/>
        </p:nvCxnSpPr>
        <p:spPr>
          <a:xfrm flipV="1">
            <a:off x="1385316" y="2449859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09 line 6" descr="sci-ppt:o006"/>
          <p:cNvCxnSpPr/>
          <p:nvPr/>
        </p:nvCxnSpPr>
        <p:spPr>
          <a:xfrm flipV="1">
            <a:off x="1481328" y="2439298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09 line 7" descr="sci-ppt:o007"/>
          <p:cNvCxnSpPr/>
          <p:nvPr/>
        </p:nvCxnSpPr>
        <p:spPr>
          <a:xfrm flipV="1">
            <a:off x="1577340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09 line 8" descr="sci-ppt:o008"/>
          <p:cNvCxnSpPr/>
          <p:nvPr/>
        </p:nvCxnSpPr>
        <p:spPr>
          <a:xfrm flipV="1">
            <a:off x="1673352" y="2411613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09 line 9" descr="sci-ppt:o009"/>
          <p:cNvCxnSpPr/>
          <p:nvPr/>
        </p:nvCxnSpPr>
        <p:spPr>
          <a:xfrm flipV="1">
            <a:off x="176936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09 line 10" descr="sci-ppt:o010"/>
          <p:cNvCxnSpPr/>
          <p:nvPr/>
        </p:nvCxnSpPr>
        <p:spPr>
          <a:xfrm flipV="1">
            <a:off x="1865376" y="2375768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09 line 11" descr="sci-ppt:o011"/>
          <p:cNvCxnSpPr/>
          <p:nvPr/>
        </p:nvCxnSpPr>
        <p:spPr>
          <a:xfrm flipV="1">
            <a:off x="1961388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09 line 12" descr="sci-ppt:o012"/>
          <p:cNvCxnSpPr/>
          <p:nvPr/>
        </p:nvCxnSpPr>
        <p:spPr>
          <a:xfrm flipV="1">
            <a:off x="2057400" y="2332648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09 line 13" descr="sci-ppt:o013"/>
          <p:cNvCxnSpPr/>
          <p:nvPr/>
        </p:nvCxnSpPr>
        <p:spPr>
          <a:xfrm flipV="1">
            <a:off x="2153412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09 line 14" descr="sci-ppt:o014"/>
          <p:cNvCxnSpPr/>
          <p:nvPr/>
        </p:nvCxnSpPr>
        <p:spPr>
          <a:xfrm flipV="1">
            <a:off x="2249424" y="2283313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09 line 15" descr="sci-ppt:o015"/>
          <p:cNvCxnSpPr/>
          <p:nvPr/>
        </p:nvCxnSpPr>
        <p:spPr>
          <a:xfrm flipV="1">
            <a:off x="2345436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09 line 16" descr="sci-ppt:o016"/>
          <p:cNvCxnSpPr/>
          <p:nvPr/>
        </p:nvCxnSpPr>
        <p:spPr>
          <a:xfrm flipV="1">
            <a:off x="2441448" y="2228978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09 line 17" descr="sci-ppt:o017"/>
          <p:cNvCxnSpPr/>
          <p:nvPr/>
        </p:nvCxnSpPr>
        <p:spPr>
          <a:xfrm flipV="1">
            <a:off x="2537460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09 line 18" descr="sci-ppt:o018"/>
          <p:cNvCxnSpPr/>
          <p:nvPr/>
        </p:nvCxnSpPr>
        <p:spPr>
          <a:xfrm flipV="1">
            <a:off x="2633472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09 line 19" descr="sci-ppt:o019"/>
          <p:cNvCxnSpPr/>
          <p:nvPr/>
        </p:nvCxnSpPr>
        <p:spPr>
          <a:xfrm flipV="1">
            <a:off x="272948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09 line 20" descr="sci-ppt:o020"/>
          <p:cNvCxnSpPr/>
          <p:nvPr/>
        </p:nvCxnSpPr>
        <p:spPr>
          <a:xfrm flipV="1">
            <a:off x="2825496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09 line 21" descr="sci-ppt:o021"/>
          <p:cNvCxnSpPr/>
          <p:nvPr/>
        </p:nvCxnSpPr>
        <p:spPr>
          <a:xfrm flipV="1">
            <a:off x="2921508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09 line 22" descr="sci-ppt:o022"/>
          <p:cNvCxnSpPr/>
          <p:nvPr/>
        </p:nvCxnSpPr>
        <p:spPr>
          <a:xfrm flipV="1">
            <a:off x="3017520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09 line 23" descr="sci-ppt:o023"/>
          <p:cNvCxnSpPr/>
          <p:nvPr/>
        </p:nvCxnSpPr>
        <p:spPr>
          <a:xfrm flipV="1">
            <a:off x="3113532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09 line 24" descr="sci-ppt:o024"/>
          <p:cNvCxnSpPr/>
          <p:nvPr/>
        </p:nvCxnSpPr>
        <p:spPr>
          <a:xfrm flipV="1">
            <a:off x="320954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09 line 25" descr="sci-ppt:o025"/>
          <p:cNvCxnSpPr/>
          <p:nvPr/>
        </p:nvCxnSpPr>
        <p:spPr>
          <a:xfrm flipV="1">
            <a:off x="3305556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09 line 26" descr="sci-ppt:o026"/>
          <p:cNvCxnSpPr/>
          <p:nvPr/>
        </p:nvCxnSpPr>
        <p:spPr>
          <a:xfrm flipV="1">
            <a:off x="3401568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09 line 27" descr="sci-ppt:o027"/>
          <p:cNvCxnSpPr/>
          <p:nvPr/>
        </p:nvCxnSpPr>
        <p:spPr>
          <a:xfrm flipV="1">
            <a:off x="3497580" y="1903830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09 line 28" descr="sci-ppt:o028"/>
          <p:cNvCxnSpPr/>
          <p:nvPr/>
        </p:nvCxnSpPr>
        <p:spPr>
          <a:xfrm flipV="1">
            <a:off x="3593591" y="1877206"/>
            <a:ext cx="96013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09 line 29" descr="sci-ppt:o029"/>
          <p:cNvCxnSpPr/>
          <p:nvPr/>
        </p:nvCxnSpPr>
        <p:spPr>
          <a:xfrm flipV="1">
            <a:off x="3689604" y="1851834"/>
            <a:ext cx="96011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09 line 30" descr="sci-ppt:o030"/>
          <p:cNvCxnSpPr/>
          <p:nvPr/>
        </p:nvCxnSpPr>
        <p:spPr>
          <a:xfrm flipV="1">
            <a:off x="3785615" y="1827871"/>
            <a:ext cx="96013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09 line 31" descr="sci-ppt:o031"/>
          <p:cNvCxnSpPr/>
          <p:nvPr/>
        </p:nvCxnSpPr>
        <p:spPr>
          <a:xfrm flipV="1">
            <a:off x="3881628" y="1805464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09 line 32" descr="sci-ppt:o032"/>
          <p:cNvCxnSpPr/>
          <p:nvPr/>
        </p:nvCxnSpPr>
        <p:spPr>
          <a:xfrm flipV="1">
            <a:off x="3977639" y="1784751"/>
            <a:ext cx="96013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09 line 33" descr="sci-ppt:o033"/>
          <p:cNvCxnSpPr/>
          <p:nvPr/>
        </p:nvCxnSpPr>
        <p:spPr>
          <a:xfrm flipV="1">
            <a:off x="4073652" y="1765859"/>
            <a:ext cx="96011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09 line 34" descr="sci-ppt:o034"/>
          <p:cNvCxnSpPr/>
          <p:nvPr/>
        </p:nvCxnSpPr>
        <p:spPr>
          <a:xfrm flipV="1">
            <a:off x="4169663" y="1748906"/>
            <a:ext cx="96013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09 line 35" descr="sci-ppt:o035"/>
          <p:cNvCxnSpPr/>
          <p:nvPr/>
        </p:nvCxnSpPr>
        <p:spPr>
          <a:xfrm flipV="1">
            <a:off x="4265676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09 line 36" descr="sci-ppt:o036"/>
          <p:cNvCxnSpPr/>
          <p:nvPr/>
        </p:nvCxnSpPr>
        <p:spPr>
          <a:xfrm flipV="1">
            <a:off x="4361688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09 line 37" descr="sci-ppt:o037"/>
          <p:cNvCxnSpPr/>
          <p:nvPr/>
        </p:nvCxnSpPr>
        <p:spPr>
          <a:xfrm flipV="1">
            <a:off x="4457700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09 line 38" descr="sci-ppt:o038"/>
          <p:cNvCxnSpPr/>
          <p:nvPr/>
        </p:nvCxnSpPr>
        <p:spPr>
          <a:xfrm flipV="1">
            <a:off x="4553712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09 line 39" descr="sci-ppt:o039"/>
          <p:cNvCxnSpPr/>
          <p:nvPr/>
        </p:nvCxnSpPr>
        <p:spPr>
          <a:xfrm flipV="1">
            <a:off x="464972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09 line 40" descr="sci-ppt:o040"/>
          <p:cNvCxnSpPr/>
          <p:nvPr/>
        </p:nvCxnSpPr>
        <p:spPr>
          <a:xfrm flipV="1">
            <a:off x="4745736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09 line 41" descr="sci-ppt:o041"/>
          <p:cNvCxnSpPr/>
          <p:nvPr/>
        </p:nvCxnSpPr>
        <p:spPr>
          <a:xfrm flipV="1">
            <a:off x="4841748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09 line 42" descr="sci-ppt:o042"/>
          <p:cNvCxnSpPr/>
          <p:nvPr/>
        </p:nvCxnSpPr>
        <p:spPr>
          <a:xfrm>
            <a:off x="4937760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09 line 43" descr="sci-ppt:o043"/>
          <p:cNvCxnSpPr/>
          <p:nvPr/>
        </p:nvCxnSpPr>
        <p:spPr>
          <a:xfrm>
            <a:off x="5033772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09 line 44" descr="sci-ppt:o044"/>
          <p:cNvCxnSpPr/>
          <p:nvPr/>
        </p:nvCxnSpPr>
        <p:spPr>
          <a:xfrm>
            <a:off x="512978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09 line 45" descr="sci-ppt:o045"/>
          <p:cNvCxnSpPr/>
          <p:nvPr/>
        </p:nvCxnSpPr>
        <p:spPr>
          <a:xfrm>
            <a:off x="5225796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09 line 46" descr="sci-ppt:o046"/>
          <p:cNvCxnSpPr/>
          <p:nvPr/>
        </p:nvCxnSpPr>
        <p:spPr>
          <a:xfrm>
            <a:off x="5321808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09 line 47" descr="sci-ppt:o047"/>
          <p:cNvCxnSpPr/>
          <p:nvPr/>
        </p:nvCxnSpPr>
        <p:spPr>
          <a:xfrm>
            <a:off x="5417820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09 line 48" descr="sci-ppt:o048"/>
          <p:cNvCxnSpPr/>
          <p:nvPr/>
        </p:nvCxnSpPr>
        <p:spPr>
          <a:xfrm>
            <a:off x="5513832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09 line 49" descr="sci-ppt:o049"/>
          <p:cNvCxnSpPr/>
          <p:nvPr/>
        </p:nvCxnSpPr>
        <p:spPr>
          <a:xfrm>
            <a:off x="5609844" y="1748906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09 line 50" descr="sci-ppt:o050"/>
          <p:cNvCxnSpPr/>
          <p:nvPr/>
        </p:nvCxnSpPr>
        <p:spPr>
          <a:xfrm>
            <a:off x="5705856" y="1765859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09 line 51" descr="sci-ppt:o051"/>
          <p:cNvCxnSpPr/>
          <p:nvPr/>
        </p:nvCxnSpPr>
        <p:spPr>
          <a:xfrm>
            <a:off x="5801868" y="1784751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09 line 52" descr="sci-ppt:o052"/>
          <p:cNvCxnSpPr/>
          <p:nvPr/>
        </p:nvCxnSpPr>
        <p:spPr>
          <a:xfrm>
            <a:off x="5897880" y="1805464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09 line 53" descr="sci-ppt:o053"/>
          <p:cNvCxnSpPr/>
          <p:nvPr/>
        </p:nvCxnSpPr>
        <p:spPr>
          <a:xfrm>
            <a:off x="5993892" y="1827871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09 line 54" descr="sci-ppt:o054"/>
          <p:cNvCxnSpPr/>
          <p:nvPr/>
        </p:nvCxnSpPr>
        <p:spPr>
          <a:xfrm>
            <a:off x="6089904" y="1851834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09 line 55" descr="sci-ppt:o055"/>
          <p:cNvCxnSpPr/>
          <p:nvPr/>
        </p:nvCxnSpPr>
        <p:spPr>
          <a:xfrm>
            <a:off x="6185916" y="1877206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09 line 56" descr="sci-ppt:o056"/>
          <p:cNvCxnSpPr/>
          <p:nvPr/>
        </p:nvCxnSpPr>
        <p:spPr>
          <a:xfrm>
            <a:off x="6281928" y="1903830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09 line 57" descr="sci-ppt:o057"/>
          <p:cNvCxnSpPr/>
          <p:nvPr/>
        </p:nvCxnSpPr>
        <p:spPr>
          <a:xfrm>
            <a:off x="6377940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09 line 58" descr="sci-ppt:o058"/>
          <p:cNvCxnSpPr/>
          <p:nvPr/>
        </p:nvCxnSpPr>
        <p:spPr>
          <a:xfrm>
            <a:off x="6473952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09 line 59" descr="sci-ppt:o059"/>
          <p:cNvCxnSpPr/>
          <p:nvPr/>
        </p:nvCxnSpPr>
        <p:spPr>
          <a:xfrm>
            <a:off x="656996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09 line 60" descr="sci-ppt:o060"/>
          <p:cNvCxnSpPr/>
          <p:nvPr/>
        </p:nvCxnSpPr>
        <p:spPr>
          <a:xfrm>
            <a:off x="6665976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09 line 61" descr="sci-ppt:o061"/>
          <p:cNvCxnSpPr/>
          <p:nvPr/>
        </p:nvCxnSpPr>
        <p:spPr>
          <a:xfrm>
            <a:off x="6761988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09 line 62" descr="sci-ppt:o062"/>
          <p:cNvCxnSpPr/>
          <p:nvPr/>
        </p:nvCxnSpPr>
        <p:spPr>
          <a:xfrm>
            <a:off x="6858000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09 line 63" descr="sci-ppt:o063"/>
          <p:cNvCxnSpPr/>
          <p:nvPr/>
        </p:nvCxnSpPr>
        <p:spPr>
          <a:xfrm>
            <a:off x="6954012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09 line 64" descr="sci-ppt:o064"/>
          <p:cNvCxnSpPr/>
          <p:nvPr/>
        </p:nvCxnSpPr>
        <p:spPr>
          <a:xfrm>
            <a:off x="705002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09 line 65" descr="sci-ppt:o065"/>
          <p:cNvCxnSpPr/>
          <p:nvPr/>
        </p:nvCxnSpPr>
        <p:spPr>
          <a:xfrm>
            <a:off x="7146036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09 line 66" descr="sci-ppt:o066"/>
          <p:cNvCxnSpPr/>
          <p:nvPr/>
        </p:nvCxnSpPr>
        <p:spPr>
          <a:xfrm>
            <a:off x="7242048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09 line 67" descr="sci-ppt:o067"/>
          <p:cNvCxnSpPr/>
          <p:nvPr/>
        </p:nvCxnSpPr>
        <p:spPr>
          <a:xfrm>
            <a:off x="7338060" y="2228978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09 line 68" descr="sci-ppt:o068"/>
          <p:cNvCxnSpPr/>
          <p:nvPr/>
        </p:nvCxnSpPr>
        <p:spPr>
          <a:xfrm>
            <a:off x="7434071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09 line 69" descr="sci-ppt:o069"/>
          <p:cNvCxnSpPr/>
          <p:nvPr/>
        </p:nvCxnSpPr>
        <p:spPr>
          <a:xfrm>
            <a:off x="7530083" y="2283313"/>
            <a:ext cx="96013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09 line 70" descr="sci-ppt:o070"/>
          <p:cNvCxnSpPr/>
          <p:nvPr/>
        </p:nvCxnSpPr>
        <p:spPr>
          <a:xfrm>
            <a:off x="7626096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09 line 71" descr="sci-ppt:o071"/>
          <p:cNvCxnSpPr/>
          <p:nvPr/>
        </p:nvCxnSpPr>
        <p:spPr>
          <a:xfrm>
            <a:off x="7722108" y="2332648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09 line 72" descr="sci-ppt:o072"/>
          <p:cNvCxnSpPr/>
          <p:nvPr/>
        </p:nvCxnSpPr>
        <p:spPr>
          <a:xfrm>
            <a:off x="7818119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09 line 73" descr="sci-ppt:o073"/>
          <p:cNvCxnSpPr/>
          <p:nvPr/>
        </p:nvCxnSpPr>
        <p:spPr>
          <a:xfrm>
            <a:off x="7914131" y="2375768"/>
            <a:ext cx="96013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09 line 74" descr="sci-ppt:o074"/>
          <p:cNvCxnSpPr/>
          <p:nvPr/>
        </p:nvCxnSpPr>
        <p:spPr>
          <a:xfrm>
            <a:off x="801014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09 line 75" descr="sci-ppt:o075"/>
          <p:cNvCxnSpPr/>
          <p:nvPr/>
        </p:nvCxnSpPr>
        <p:spPr>
          <a:xfrm>
            <a:off x="8106156" y="2411613"/>
            <a:ext cx="96011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09 line 76" descr="sci-ppt:o076"/>
          <p:cNvCxnSpPr/>
          <p:nvPr/>
        </p:nvCxnSpPr>
        <p:spPr>
          <a:xfrm>
            <a:off x="8202167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09 line 77" descr="sci-ppt:o077"/>
          <p:cNvCxnSpPr/>
          <p:nvPr/>
        </p:nvCxnSpPr>
        <p:spPr>
          <a:xfrm>
            <a:off x="8298179" y="2439298"/>
            <a:ext cx="96013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09 line 78" descr="sci-ppt:o078"/>
          <p:cNvCxnSpPr/>
          <p:nvPr/>
        </p:nvCxnSpPr>
        <p:spPr>
          <a:xfrm>
            <a:off x="8394192" y="2449859"/>
            <a:ext cx="96011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09 line 79" descr="sci-ppt:o079"/>
          <p:cNvCxnSpPr/>
          <p:nvPr/>
        </p:nvCxnSpPr>
        <p:spPr>
          <a:xfrm>
            <a:off x="8490203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09 line 80" descr="sci-ppt:o080"/>
          <p:cNvCxnSpPr/>
          <p:nvPr/>
        </p:nvCxnSpPr>
        <p:spPr>
          <a:xfrm>
            <a:off x="8586215" y="2464095"/>
            <a:ext cx="96013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09 line 81" descr="sci-ppt:o081"/>
          <p:cNvCxnSpPr/>
          <p:nvPr/>
        </p:nvCxnSpPr>
        <p:spPr>
          <a:xfrm>
            <a:off x="8682228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09 rect 82" descr="sci-ppt:o082"/>
          <p:cNvSpPr/>
          <p:nvPr/>
        </p:nvSpPr>
        <p:spPr>
          <a:xfrm>
            <a:off x="86868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09 rect 83" descr="sci-ppt:o083"/>
          <p:cNvSpPr/>
          <p:nvPr/>
        </p:nvSpPr>
        <p:spPr>
          <a:xfrm>
            <a:off x="873252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09 arrow 84" descr="sci-ppt:o084"/>
          <p:cNvCxnSpPr/>
          <p:nvPr/>
        </p:nvCxnSpPr>
        <p:spPr>
          <a:xfrm flipV="1">
            <a:off x="274320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7" name="C4-E09 arrow 85" descr="sci-ppt:o085"/>
          <p:cNvCxnSpPr/>
          <p:nvPr/>
        </p:nvCxnSpPr>
        <p:spPr>
          <a:xfrm flipV="1">
            <a:off x="493776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8" name="C4-E09 arrow 86" descr="sci-ppt:o086"/>
          <p:cNvCxnSpPr/>
          <p:nvPr/>
        </p:nvCxnSpPr>
        <p:spPr>
          <a:xfrm flipV="1">
            <a:off x="713232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09 arrow 87" descr="sci-ppt:o087"/>
          <p:cNvCxnSpPr/>
          <p:nvPr/>
        </p:nvCxnSpPr>
        <p:spPr>
          <a:xfrm>
            <a:off x="4937760" y="9144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0" name="C4-E09 text 88" descr="sci-ppt:o088"/>
          <p:cNvSpPr txBox="1"/>
          <p:nvPr/>
        </p:nvSpPr>
        <p:spPr>
          <a:xfrm>
            <a:off x="5486400" y="960120"/>
            <a:ext cx="54864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t_coh ↓: opening resistance</a:t>
            </a:r>
          </a:p>
        </p:txBody>
      </p:sp>
      <p:sp>
        <p:nvSpPr>
          <p:cNvPr id="91" name="C4-E09 text 89" descr="sci-ppt:o089"/>
          <p:cNvSpPr txBox="1"/>
          <p:nvPr/>
        </p:nvSpPr>
        <p:spPr>
          <a:xfrm>
            <a:off x="2194560" y="3474720"/>
            <a:ext cx="64008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p_load ↑: applied positive departure load</a:t>
            </a:r>
          </a:p>
        </p:txBody>
      </p:sp>
      <p:sp>
        <p:nvSpPr>
          <p:cNvPr id="92" name="C4-E09 text 90" descr="sci-ppt:o090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Film: w ↑; fixed clamps</a:t>
            </a:r>
          </a:p>
        </p:txBody>
      </p:sp>
      <p:sp>
        <p:nvSpPr>
          <p:cNvPr id="93" name="C4-E09 text 91" descr="sci-ppt:o091"/>
          <p:cNvSpPr txBox="1"/>
          <p:nvPr/>
        </p:nvSpPr>
        <p:spPr>
          <a:xfrm>
            <a:off x="9326880" y="1920240"/>
            <a:ext cx="24688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Inertia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Bending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Pretension</a:t>
            </a:r>
          </a:p>
        </p:txBody>
      </p:sp>
      <p:cxnSp>
        <p:nvCxnSpPr>
          <p:cNvPr id="94" name="C4-E09 line 92" descr="sci-ppt:o09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95" name="C4-E09 text 93" descr="sci-ppt:o09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J_A ↑ pulse impulse</a:t>
            </a:r>
          </a:p>
        </p:txBody>
      </p:sp>
      <p:sp>
        <p:nvSpPr>
          <p:cNvPr id="96" name="C4-E09 text 94" descr="sci-ppt:o09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m_A — areal mass</a:t>
            </a:r>
          </a:p>
        </p:txBody>
      </p:sp>
      <p:sp>
        <p:nvSpPr>
          <p:cNvPr id="97" name="C4-E09 text 95" descr="sci-ppt:o09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Δẇ ↑ initial response</a:t>
            </a:r>
          </a:p>
        </p:txBody>
      </p:sp>
      <p:sp>
        <p:nvSpPr>
          <p:cNvPr id="98" name="C4-E09 text 96" descr="sci-ppt:o09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E_A — motion energy per area</a:t>
            </a:r>
          </a:p>
        </p:txBody>
      </p:sp>
      <p:sp>
        <p:nvSpPr>
          <p:cNvPr id="99" name="C4-E09 text 97" descr="sci-ppt:o09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Reaction impulses must be negligible.</a:t>
            </a:r>
          </a:p>
        </p:txBody>
      </p:sp>
      <p:sp>
        <p:nvSpPr>
          <p:cNvPr id="100" name="C4-E09 text 98" descr="sci-ppt:o09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