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C4-E09 · Short-pulse free-response approximation</a:t>
            </a:r>
          </a:p>
        </p:txBody>
      </p:sp>
      <p:cxnSp>
        <p:nvCxnSpPr>
          <p:cNvPr id="3" name="C4-E09 line 1" descr="sci-ppt:o001"/>
          <p:cNvCxnSpPr/>
          <p:nvPr/>
        </p:nvCxnSpPr>
        <p:spPr>
          <a:xfrm>
            <a:off x="914400" y="484632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09 line 2" descr="sci-ppt:o002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09 line 3" descr="sci-ppt:o003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09 line 4" descr="sci-ppt:o004"/>
          <p:cNvCxnSpPr/>
          <p:nvPr/>
        </p:nvCxnSpPr>
        <p:spPr>
          <a:xfrm>
            <a:off x="9144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09 text 5" descr="sci-ppt:o005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0.000</a:t>
            </a:r>
          </a:p>
        </p:txBody>
      </p:sp>
      <p:cxnSp>
        <p:nvCxnSpPr>
          <p:cNvPr id="8" name="C4-E09 line 6" descr="sci-ppt:o006"/>
          <p:cNvCxnSpPr/>
          <p:nvPr/>
        </p:nvCxnSpPr>
        <p:spPr>
          <a:xfrm>
            <a:off x="22860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09 line 7" descr="sci-ppt:o007"/>
          <p:cNvCxnSpPr/>
          <p:nvPr/>
        </p:nvCxnSpPr>
        <p:spPr>
          <a:xfrm>
            <a:off x="22860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09 text 8" descr="sci-ppt:o008"/>
          <p:cNvSpPr txBox="1"/>
          <p:nvPr/>
        </p:nvSpPr>
        <p:spPr>
          <a:xfrm>
            <a:off x="18288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0.025</a:t>
            </a:r>
          </a:p>
        </p:txBody>
      </p:sp>
      <p:cxnSp>
        <p:nvCxnSpPr>
          <p:cNvPr id="11" name="C4-E09 line 9" descr="sci-ppt:o009"/>
          <p:cNvCxnSpPr/>
          <p:nvPr/>
        </p:nvCxnSpPr>
        <p:spPr>
          <a:xfrm>
            <a:off x="36576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09 line 10" descr="sci-ppt:o010"/>
          <p:cNvCxnSpPr/>
          <p:nvPr/>
        </p:nvCxnSpPr>
        <p:spPr>
          <a:xfrm>
            <a:off x="36576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09 text 11" descr="sci-ppt:o011"/>
          <p:cNvSpPr txBox="1"/>
          <p:nvPr/>
        </p:nvSpPr>
        <p:spPr>
          <a:xfrm>
            <a:off x="32004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0.050</a:t>
            </a:r>
          </a:p>
        </p:txBody>
      </p:sp>
      <p:cxnSp>
        <p:nvCxnSpPr>
          <p:cNvPr id="14" name="C4-E09 line 12" descr="sci-ppt:o012"/>
          <p:cNvCxnSpPr/>
          <p:nvPr/>
        </p:nvCxnSpPr>
        <p:spPr>
          <a:xfrm>
            <a:off x="502919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09 line 13" descr="sci-ppt:o013"/>
          <p:cNvCxnSpPr/>
          <p:nvPr/>
        </p:nvCxnSpPr>
        <p:spPr>
          <a:xfrm>
            <a:off x="502919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09 text 14" descr="sci-ppt:o014"/>
          <p:cNvSpPr txBox="1"/>
          <p:nvPr/>
        </p:nvSpPr>
        <p:spPr>
          <a:xfrm>
            <a:off x="457199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0.075</a:t>
            </a:r>
          </a:p>
        </p:txBody>
      </p:sp>
      <p:cxnSp>
        <p:nvCxnSpPr>
          <p:cNvPr id="17" name="C4-E09 line 15" descr="sci-ppt:o015"/>
          <p:cNvCxnSpPr/>
          <p:nvPr/>
        </p:nvCxnSpPr>
        <p:spPr>
          <a:xfrm>
            <a:off x="64008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09 line 16" descr="sci-ppt:o016"/>
          <p:cNvCxnSpPr/>
          <p:nvPr/>
        </p:nvCxnSpPr>
        <p:spPr>
          <a:xfrm>
            <a:off x="640080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09 text 17" descr="sci-ppt:o017"/>
          <p:cNvSpPr txBox="1"/>
          <p:nvPr/>
        </p:nvSpPr>
        <p:spPr>
          <a:xfrm>
            <a:off x="59436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0.100</a:t>
            </a:r>
          </a:p>
        </p:txBody>
      </p:sp>
      <p:cxnSp>
        <p:nvCxnSpPr>
          <p:cNvPr id="20" name="C4-E09 line 18" descr="sci-ppt:o018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09 line 19" descr="sci-ppt:o019"/>
          <p:cNvCxnSpPr/>
          <p:nvPr/>
        </p:nvCxnSpPr>
        <p:spPr>
          <a:xfrm>
            <a:off x="850392" y="415137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09 line 20" descr="sci-ppt:o020"/>
          <p:cNvCxnSpPr/>
          <p:nvPr/>
        </p:nvCxnSpPr>
        <p:spPr>
          <a:xfrm>
            <a:off x="914400" y="4151376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09 text 21" descr="sci-ppt:o021"/>
          <p:cNvSpPr txBox="1"/>
          <p:nvPr/>
        </p:nvSpPr>
        <p:spPr>
          <a:xfrm>
            <a:off x="45720" y="406908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4-E09 line 22" descr="sci-ppt:o022"/>
          <p:cNvCxnSpPr/>
          <p:nvPr/>
        </p:nvCxnSpPr>
        <p:spPr>
          <a:xfrm>
            <a:off x="850392" y="34564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09 line 23" descr="sci-ppt:o023"/>
          <p:cNvCxnSpPr/>
          <p:nvPr/>
        </p:nvCxnSpPr>
        <p:spPr>
          <a:xfrm>
            <a:off x="914400" y="3456432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09 text 24" descr="sci-ppt:o024"/>
          <p:cNvSpPr txBox="1"/>
          <p:nvPr/>
        </p:nvSpPr>
        <p:spPr>
          <a:xfrm>
            <a:off x="45720" y="33741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7" name="C4-E09 line 25" descr="sci-ppt:o025"/>
          <p:cNvCxnSpPr/>
          <p:nvPr/>
        </p:nvCxnSpPr>
        <p:spPr>
          <a:xfrm>
            <a:off x="850392" y="276148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4-E09 line 26" descr="sci-ppt:o026"/>
          <p:cNvCxnSpPr/>
          <p:nvPr/>
        </p:nvCxnSpPr>
        <p:spPr>
          <a:xfrm>
            <a:off x="914400" y="2761488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4-E09 text 27" descr="sci-ppt:o027"/>
          <p:cNvSpPr txBox="1"/>
          <p:nvPr/>
        </p:nvSpPr>
        <p:spPr>
          <a:xfrm>
            <a:off x="45720" y="267919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0" name="C4-E09 line 28" descr="sci-ppt:o028"/>
          <p:cNvCxnSpPr/>
          <p:nvPr/>
        </p:nvCxnSpPr>
        <p:spPr>
          <a:xfrm>
            <a:off x="850392" y="206654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4-E09 line 29" descr="sci-ppt:o029"/>
          <p:cNvCxnSpPr/>
          <p:nvPr/>
        </p:nvCxnSpPr>
        <p:spPr>
          <a:xfrm>
            <a:off x="914400" y="2066543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4-E09 text 30" descr="sci-ppt:o030"/>
          <p:cNvSpPr txBox="1"/>
          <p:nvPr/>
        </p:nvSpPr>
        <p:spPr>
          <a:xfrm>
            <a:off x="45720" y="19842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33" name="C4-E09 line 31" descr="sci-ppt:o031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4-E09 line 32" descr="sci-ppt:o032"/>
          <p:cNvCxnSpPr/>
          <p:nvPr/>
        </p:nvCxnSpPr>
        <p:spPr>
          <a:xfrm>
            <a:off x="914400" y="1371600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4-E09 text 33" descr="sci-ppt:o033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sp>
        <p:nvSpPr>
          <p:cNvPr id="36" name="C4-E09 text 34" descr="sci-ppt:o034"/>
          <p:cNvSpPr txBox="1"/>
          <p:nvPr/>
        </p:nvSpPr>
        <p:spPr>
          <a:xfrm>
            <a:off x="914400" y="5129783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areal impulse J_A  (N s / m²)</a:t>
            </a:r>
          </a:p>
        </p:txBody>
      </p:sp>
      <p:sp>
        <p:nvSpPr>
          <p:cNvPr id="37" name="C4-E09 text 35" descr="sci-ppt:o035"/>
          <p:cNvSpPr txBox="1"/>
          <p:nvPr/>
        </p:nvSpPr>
        <p:spPr>
          <a:xfrm>
            <a:off x="365760" y="102412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speed Δẇ  (m/s)</a:t>
            </a:r>
          </a:p>
        </p:txBody>
      </p:sp>
      <p:sp>
        <p:nvSpPr>
          <p:cNvPr id="38" name="C4-E09 polygon 36" descr="sci-ppt:o036"/>
          <p:cNvSpPr/>
          <p:nvPr/>
        </p:nvSpPr>
        <p:spPr>
          <a:xfrm>
            <a:off x="914400" y="1863727"/>
            <a:ext cx="5486400" cy="2982593"/>
          </a:xfrm>
          <a:custGeom>
            <a:avLst/>
            <a:gdLst/>
            <a:ahLst/>
            <a:cxnLst/>
            <a:rect l="l" t="t" r="r" b="b"/>
            <a:pathLst>
              <a:path w="5486400" h="2982593">
                <a:moveTo>
                  <a:pt x="0" y="2982593"/>
                </a:moveTo>
                <a:lnTo>
                  <a:pt x="55418" y="2952465"/>
                </a:lnTo>
                <a:lnTo>
                  <a:pt x="110836" y="2922338"/>
                </a:lnTo>
                <a:lnTo>
                  <a:pt x="166254" y="2892211"/>
                </a:lnTo>
                <a:lnTo>
                  <a:pt x="221672" y="2862084"/>
                </a:lnTo>
                <a:lnTo>
                  <a:pt x="277090" y="2831957"/>
                </a:lnTo>
                <a:lnTo>
                  <a:pt x="332509" y="2801829"/>
                </a:lnTo>
                <a:lnTo>
                  <a:pt x="387927" y="2771702"/>
                </a:lnTo>
                <a:lnTo>
                  <a:pt x="443345" y="2741575"/>
                </a:lnTo>
                <a:lnTo>
                  <a:pt x="498763" y="2711448"/>
                </a:lnTo>
                <a:lnTo>
                  <a:pt x="554181" y="2681321"/>
                </a:lnTo>
                <a:lnTo>
                  <a:pt x="609599" y="2651193"/>
                </a:lnTo>
                <a:lnTo>
                  <a:pt x="665018" y="2621066"/>
                </a:lnTo>
                <a:lnTo>
                  <a:pt x="720436" y="2590939"/>
                </a:lnTo>
                <a:lnTo>
                  <a:pt x="775854" y="2560812"/>
                </a:lnTo>
                <a:lnTo>
                  <a:pt x="831272" y="2530685"/>
                </a:lnTo>
                <a:lnTo>
                  <a:pt x="886690" y="2500557"/>
                </a:lnTo>
                <a:lnTo>
                  <a:pt x="942109" y="2470430"/>
                </a:lnTo>
                <a:lnTo>
                  <a:pt x="997527" y="2440303"/>
                </a:lnTo>
                <a:lnTo>
                  <a:pt x="1052945" y="2410176"/>
                </a:lnTo>
                <a:lnTo>
                  <a:pt x="1108363" y="2380049"/>
                </a:lnTo>
                <a:lnTo>
                  <a:pt x="1163781" y="2349921"/>
                </a:lnTo>
                <a:lnTo>
                  <a:pt x="1219199" y="2319794"/>
                </a:lnTo>
                <a:lnTo>
                  <a:pt x="1274618" y="2289667"/>
                </a:lnTo>
                <a:lnTo>
                  <a:pt x="1330036" y="2259540"/>
                </a:lnTo>
                <a:lnTo>
                  <a:pt x="1385454" y="2229413"/>
                </a:lnTo>
                <a:lnTo>
                  <a:pt x="1440872" y="2199285"/>
                </a:lnTo>
                <a:lnTo>
                  <a:pt x="1496290" y="2169158"/>
                </a:lnTo>
                <a:lnTo>
                  <a:pt x="1551709" y="2139031"/>
                </a:lnTo>
                <a:lnTo>
                  <a:pt x="1607127" y="2108904"/>
                </a:lnTo>
                <a:lnTo>
                  <a:pt x="1662545" y="2078777"/>
                </a:lnTo>
                <a:lnTo>
                  <a:pt x="1717963" y="2048649"/>
                </a:lnTo>
                <a:lnTo>
                  <a:pt x="1773381" y="2018522"/>
                </a:lnTo>
                <a:lnTo>
                  <a:pt x="1828800" y="1988395"/>
                </a:lnTo>
                <a:lnTo>
                  <a:pt x="1884218" y="1958268"/>
                </a:lnTo>
                <a:lnTo>
                  <a:pt x="1939636" y="1928141"/>
                </a:lnTo>
                <a:lnTo>
                  <a:pt x="1995054" y="1898013"/>
                </a:lnTo>
                <a:lnTo>
                  <a:pt x="2050472" y="1867886"/>
                </a:lnTo>
                <a:lnTo>
                  <a:pt x="2105890" y="1837759"/>
                </a:lnTo>
                <a:lnTo>
                  <a:pt x="2161309" y="1807632"/>
                </a:lnTo>
                <a:lnTo>
                  <a:pt x="2216727" y="1777505"/>
                </a:lnTo>
                <a:lnTo>
                  <a:pt x="2272145" y="1747378"/>
                </a:lnTo>
                <a:lnTo>
                  <a:pt x="2327563" y="1717250"/>
                </a:lnTo>
                <a:lnTo>
                  <a:pt x="2382981" y="1687123"/>
                </a:lnTo>
                <a:lnTo>
                  <a:pt x="2438400" y="1656996"/>
                </a:lnTo>
                <a:lnTo>
                  <a:pt x="2493818" y="1626869"/>
                </a:lnTo>
                <a:lnTo>
                  <a:pt x="2549236" y="1596742"/>
                </a:lnTo>
                <a:lnTo>
                  <a:pt x="2604654" y="1566614"/>
                </a:lnTo>
                <a:lnTo>
                  <a:pt x="2660072" y="1536487"/>
                </a:lnTo>
                <a:lnTo>
                  <a:pt x="2715490" y="1506360"/>
                </a:lnTo>
                <a:lnTo>
                  <a:pt x="2770909" y="1476233"/>
                </a:lnTo>
                <a:lnTo>
                  <a:pt x="2826327" y="1446106"/>
                </a:lnTo>
                <a:lnTo>
                  <a:pt x="2881745" y="1415978"/>
                </a:lnTo>
                <a:lnTo>
                  <a:pt x="2937163" y="1385851"/>
                </a:lnTo>
                <a:lnTo>
                  <a:pt x="2992581" y="1355724"/>
                </a:lnTo>
                <a:lnTo>
                  <a:pt x="3047999" y="1325597"/>
                </a:lnTo>
                <a:lnTo>
                  <a:pt x="3103418" y="1295470"/>
                </a:lnTo>
                <a:lnTo>
                  <a:pt x="3158836" y="1265342"/>
                </a:lnTo>
                <a:lnTo>
                  <a:pt x="3214254" y="1235215"/>
                </a:lnTo>
                <a:lnTo>
                  <a:pt x="3269672" y="1205088"/>
                </a:lnTo>
                <a:lnTo>
                  <a:pt x="3325090" y="1174961"/>
                </a:lnTo>
                <a:lnTo>
                  <a:pt x="3380509" y="1144834"/>
                </a:lnTo>
                <a:lnTo>
                  <a:pt x="3435927" y="1114706"/>
                </a:lnTo>
                <a:lnTo>
                  <a:pt x="3491345" y="1084579"/>
                </a:lnTo>
                <a:lnTo>
                  <a:pt x="3546763" y="1054452"/>
                </a:lnTo>
                <a:lnTo>
                  <a:pt x="3602181" y="1024325"/>
                </a:lnTo>
                <a:lnTo>
                  <a:pt x="3657600" y="994198"/>
                </a:lnTo>
                <a:lnTo>
                  <a:pt x="3713018" y="964070"/>
                </a:lnTo>
                <a:lnTo>
                  <a:pt x="3768436" y="933943"/>
                </a:lnTo>
                <a:lnTo>
                  <a:pt x="3823854" y="903816"/>
                </a:lnTo>
                <a:lnTo>
                  <a:pt x="3879272" y="873689"/>
                </a:lnTo>
                <a:lnTo>
                  <a:pt x="3934690" y="843562"/>
                </a:lnTo>
                <a:lnTo>
                  <a:pt x="3990109" y="813434"/>
                </a:lnTo>
                <a:lnTo>
                  <a:pt x="4045527" y="783307"/>
                </a:lnTo>
                <a:lnTo>
                  <a:pt x="4100945" y="753180"/>
                </a:lnTo>
                <a:lnTo>
                  <a:pt x="4156363" y="723053"/>
                </a:lnTo>
                <a:lnTo>
                  <a:pt x="4211781" y="692926"/>
                </a:lnTo>
                <a:lnTo>
                  <a:pt x="4267200" y="662799"/>
                </a:lnTo>
                <a:lnTo>
                  <a:pt x="4322618" y="632671"/>
                </a:lnTo>
                <a:lnTo>
                  <a:pt x="4378036" y="602544"/>
                </a:lnTo>
                <a:lnTo>
                  <a:pt x="4433454" y="572417"/>
                </a:lnTo>
                <a:lnTo>
                  <a:pt x="4488872" y="542290"/>
                </a:lnTo>
                <a:lnTo>
                  <a:pt x="4544290" y="512163"/>
                </a:lnTo>
                <a:lnTo>
                  <a:pt x="4599709" y="482035"/>
                </a:lnTo>
                <a:lnTo>
                  <a:pt x="4655127" y="451908"/>
                </a:lnTo>
                <a:lnTo>
                  <a:pt x="4710545" y="421781"/>
                </a:lnTo>
                <a:lnTo>
                  <a:pt x="4765963" y="391654"/>
                </a:lnTo>
                <a:lnTo>
                  <a:pt x="4821381" y="361527"/>
                </a:lnTo>
                <a:lnTo>
                  <a:pt x="4876800" y="331399"/>
                </a:lnTo>
                <a:lnTo>
                  <a:pt x="4932218" y="301272"/>
                </a:lnTo>
                <a:lnTo>
                  <a:pt x="4987636" y="271145"/>
                </a:lnTo>
                <a:lnTo>
                  <a:pt x="5043054" y="241018"/>
                </a:lnTo>
                <a:lnTo>
                  <a:pt x="5098472" y="210891"/>
                </a:lnTo>
                <a:lnTo>
                  <a:pt x="5153890" y="180763"/>
                </a:lnTo>
                <a:lnTo>
                  <a:pt x="5209309" y="150636"/>
                </a:lnTo>
                <a:lnTo>
                  <a:pt x="5264727" y="120509"/>
                </a:lnTo>
                <a:lnTo>
                  <a:pt x="5320145" y="90382"/>
                </a:lnTo>
                <a:lnTo>
                  <a:pt x="5375563" y="60255"/>
                </a:lnTo>
                <a:lnTo>
                  <a:pt x="5430981" y="30127"/>
                </a:lnTo>
                <a:lnTo>
                  <a:pt x="54864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4-E09 text 37" descr="sci-ppt:o037"/>
          <p:cNvSpPr txBox="1"/>
          <p:nvPr/>
        </p:nvSpPr>
        <p:spPr>
          <a:xfrm>
            <a:off x="1261872" y="1697126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Δẇ = J_A / m_A</a:t>
            </a:r>
          </a:p>
        </p:txBody>
      </p:sp>
      <p:cxnSp>
        <p:nvCxnSpPr>
          <p:cNvPr id="40" name="C4-E09 line 38" descr="sci-ppt:o038"/>
          <p:cNvCxnSpPr/>
          <p:nvPr/>
        </p:nvCxnSpPr>
        <p:spPr>
          <a:xfrm>
            <a:off x="7132320" y="4846320"/>
            <a:ext cx="466343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1" name="C4-E09 line 39" descr="sci-ppt:o039"/>
          <p:cNvCxnSpPr/>
          <p:nvPr/>
        </p:nvCxnSpPr>
        <p:spPr>
          <a:xfrm>
            <a:off x="7132320" y="1371600"/>
            <a:ext cx="0" cy="34747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2" name="C4-E09 line 40" descr="sci-ppt:o040"/>
          <p:cNvCxnSpPr/>
          <p:nvPr/>
        </p:nvCxnSpPr>
        <p:spPr>
          <a:xfrm>
            <a:off x="71323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3" name="C4-E09 line 41" descr="sci-ppt:o041"/>
          <p:cNvCxnSpPr/>
          <p:nvPr/>
        </p:nvCxnSpPr>
        <p:spPr>
          <a:xfrm>
            <a:off x="713232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4" name="C4-E09 text 42" descr="sci-ppt:o042"/>
          <p:cNvSpPr txBox="1"/>
          <p:nvPr/>
        </p:nvSpPr>
        <p:spPr>
          <a:xfrm>
            <a:off x="66751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45" name="C4-E09 line 43" descr="sci-ppt:o043"/>
          <p:cNvCxnSpPr/>
          <p:nvPr/>
        </p:nvCxnSpPr>
        <p:spPr>
          <a:xfrm>
            <a:off x="94640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6" name="C4-E09 line 44" descr="sci-ppt:o044"/>
          <p:cNvCxnSpPr/>
          <p:nvPr/>
        </p:nvCxnSpPr>
        <p:spPr>
          <a:xfrm>
            <a:off x="9464040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7" name="C4-E09 text 45" descr="sci-ppt:o045"/>
          <p:cNvSpPr txBox="1"/>
          <p:nvPr/>
        </p:nvSpPr>
        <p:spPr>
          <a:xfrm>
            <a:off x="90068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48" name="C4-E09 line 46" descr="sci-ppt:o046"/>
          <p:cNvCxnSpPr/>
          <p:nvPr/>
        </p:nvCxnSpPr>
        <p:spPr>
          <a:xfrm>
            <a:off x="11795759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4-E09 line 47" descr="sci-ppt:o047"/>
          <p:cNvCxnSpPr/>
          <p:nvPr/>
        </p:nvCxnSpPr>
        <p:spPr>
          <a:xfrm>
            <a:off x="11795759" y="1371600"/>
            <a:ext cx="0" cy="34747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4-E09 text 48" descr="sci-ppt:o048"/>
          <p:cNvSpPr txBox="1"/>
          <p:nvPr/>
        </p:nvSpPr>
        <p:spPr>
          <a:xfrm>
            <a:off x="11338559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0.10</a:t>
            </a:r>
          </a:p>
        </p:txBody>
      </p:sp>
      <p:cxnSp>
        <p:nvCxnSpPr>
          <p:cNvPr id="51" name="C4-E09 line 49" descr="sci-ppt:o049"/>
          <p:cNvCxnSpPr/>
          <p:nvPr/>
        </p:nvCxnSpPr>
        <p:spPr>
          <a:xfrm>
            <a:off x="706831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4-E09 line 50" descr="sci-ppt:o050"/>
          <p:cNvCxnSpPr/>
          <p:nvPr/>
        </p:nvCxnSpPr>
        <p:spPr>
          <a:xfrm>
            <a:off x="7068312" y="345643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4-E09 line 51" descr="sci-ppt:o051"/>
          <p:cNvCxnSpPr/>
          <p:nvPr/>
        </p:nvCxnSpPr>
        <p:spPr>
          <a:xfrm>
            <a:off x="7132320" y="3456432"/>
            <a:ext cx="46634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4-E09 text 52" descr="sci-ppt:o052"/>
          <p:cNvSpPr txBox="1"/>
          <p:nvPr/>
        </p:nvSpPr>
        <p:spPr>
          <a:xfrm>
            <a:off x="6263640" y="337413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55" name="C4-E09 line 53" descr="sci-ppt:o053"/>
          <p:cNvCxnSpPr/>
          <p:nvPr/>
        </p:nvCxnSpPr>
        <p:spPr>
          <a:xfrm>
            <a:off x="7068312" y="206654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4-E09 line 54" descr="sci-ppt:o054"/>
          <p:cNvCxnSpPr/>
          <p:nvPr/>
        </p:nvCxnSpPr>
        <p:spPr>
          <a:xfrm>
            <a:off x="7132320" y="2066543"/>
            <a:ext cx="466343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7" name="C4-E09 text 55" descr="sci-ppt:o055"/>
          <p:cNvSpPr txBox="1"/>
          <p:nvPr/>
        </p:nvSpPr>
        <p:spPr>
          <a:xfrm>
            <a:off x="6263640" y="198424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sp>
        <p:nvSpPr>
          <p:cNvPr id="58" name="C4-E09 text 56" descr="sci-ppt:o056"/>
          <p:cNvSpPr txBox="1"/>
          <p:nvPr/>
        </p:nvSpPr>
        <p:spPr>
          <a:xfrm>
            <a:off x="7132320" y="5129783"/>
            <a:ext cx="4663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areal impulse J_A  (N s / m²)</a:t>
            </a:r>
          </a:p>
        </p:txBody>
      </p:sp>
      <p:sp>
        <p:nvSpPr>
          <p:cNvPr id="59" name="C4-E09 text 57" descr="sci-ppt:o057"/>
          <p:cNvSpPr txBox="1"/>
          <p:nvPr/>
        </p:nvSpPr>
        <p:spPr>
          <a:xfrm>
            <a:off x="6583680" y="1024128"/>
            <a:ext cx="4663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𝓔_A  (J / m²)</a:t>
            </a:r>
          </a:p>
        </p:txBody>
      </p:sp>
      <p:sp>
        <p:nvSpPr>
          <p:cNvPr id="60" name="C4-E09 polygon 58" descr="sci-ppt:o058"/>
          <p:cNvSpPr/>
          <p:nvPr/>
        </p:nvSpPr>
        <p:spPr>
          <a:xfrm>
            <a:off x="7132320" y="1863727"/>
            <a:ext cx="4663439" cy="2982593"/>
          </a:xfrm>
          <a:custGeom>
            <a:avLst/>
            <a:gdLst/>
            <a:ahLst/>
            <a:cxnLst/>
            <a:rect l="l" t="t" r="r" b="b"/>
            <a:pathLst>
              <a:path w="4663439" h="2982593">
                <a:moveTo>
                  <a:pt x="0" y="2982593"/>
                </a:moveTo>
                <a:lnTo>
                  <a:pt x="47105" y="2982288"/>
                </a:lnTo>
                <a:lnTo>
                  <a:pt x="94210" y="2981375"/>
                </a:lnTo>
                <a:lnTo>
                  <a:pt x="141316" y="2979854"/>
                </a:lnTo>
                <a:lnTo>
                  <a:pt x="188421" y="2977723"/>
                </a:lnTo>
                <a:lnTo>
                  <a:pt x="235527" y="2974985"/>
                </a:lnTo>
                <a:lnTo>
                  <a:pt x="282632" y="2971637"/>
                </a:lnTo>
                <a:lnTo>
                  <a:pt x="329738" y="2967681"/>
                </a:lnTo>
                <a:lnTo>
                  <a:pt x="376843" y="2963116"/>
                </a:lnTo>
                <a:lnTo>
                  <a:pt x="423949" y="2957943"/>
                </a:lnTo>
                <a:lnTo>
                  <a:pt x="471054" y="2952161"/>
                </a:lnTo>
                <a:lnTo>
                  <a:pt x="518160" y="2945770"/>
                </a:lnTo>
                <a:lnTo>
                  <a:pt x="565265" y="2938771"/>
                </a:lnTo>
                <a:lnTo>
                  <a:pt x="612370" y="2931163"/>
                </a:lnTo>
                <a:lnTo>
                  <a:pt x="659476" y="2922947"/>
                </a:lnTo>
                <a:lnTo>
                  <a:pt x="706581" y="2914122"/>
                </a:lnTo>
                <a:lnTo>
                  <a:pt x="753687" y="2904688"/>
                </a:lnTo>
                <a:lnTo>
                  <a:pt x="800792" y="2894645"/>
                </a:lnTo>
                <a:lnTo>
                  <a:pt x="847898" y="2883994"/>
                </a:lnTo>
                <a:lnTo>
                  <a:pt x="895003" y="2872735"/>
                </a:lnTo>
                <a:lnTo>
                  <a:pt x="942109" y="2860866"/>
                </a:lnTo>
                <a:lnTo>
                  <a:pt x="989214" y="2848390"/>
                </a:lnTo>
                <a:lnTo>
                  <a:pt x="1036320" y="2835304"/>
                </a:lnTo>
                <a:lnTo>
                  <a:pt x="1083425" y="2821610"/>
                </a:lnTo>
                <a:lnTo>
                  <a:pt x="1130530" y="2807307"/>
                </a:lnTo>
                <a:lnTo>
                  <a:pt x="1177636" y="2792396"/>
                </a:lnTo>
                <a:lnTo>
                  <a:pt x="1224741" y="2776875"/>
                </a:lnTo>
                <a:lnTo>
                  <a:pt x="1271847" y="2760747"/>
                </a:lnTo>
                <a:lnTo>
                  <a:pt x="1318952" y="2744009"/>
                </a:lnTo>
                <a:lnTo>
                  <a:pt x="1366058" y="2726664"/>
                </a:lnTo>
                <a:lnTo>
                  <a:pt x="1413163" y="2708709"/>
                </a:lnTo>
                <a:lnTo>
                  <a:pt x="1460269" y="2690146"/>
                </a:lnTo>
                <a:lnTo>
                  <a:pt x="1507374" y="2670974"/>
                </a:lnTo>
                <a:lnTo>
                  <a:pt x="1554480" y="2651193"/>
                </a:lnTo>
                <a:lnTo>
                  <a:pt x="1601585" y="2630804"/>
                </a:lnTo>
                <a:lnTo>
                  <a:pt x="1648690" y="2609807"/>
                </a:lnTo>
                <a:lnTo>
                  <a:pt x="1695796" y="2588200"/>
                </a:lnTo>
                <a:lnTo>
                  <a:pt x="1742901" y="2565985"/>
                </a:lnTo>
                <a:lnTo>
                  <a:pt x="1790007" y="2543161"/>
                </a:lnTo>
                <a:lnTo>
                  <a:pt x="1837112" y="2519729"/>
                </a:lnTo>
                <a:lnTo>
                  <a:pt x="1884218" y="2495688"/>
                </a:lnTo>
                <a:lnTo>
                  <a:pt x="1931323" y="2471039"/>
                </a:lnTo>
                <a:lnTo>
                  <a:pt x="1978429" y="2445781"/>
                </a:lnTo>
                <a:lnTo>
                  <a:pt x="2025534" y="2419914"/>
                </a:lnTo>
                <a:lnTo>
                  <a:pt x="2072640" y="2393438"/>
                </a:lnTo>
                <a:lnTo>
                  <a:pt x="2119745" y="2366354"/>
                </a:lnTo>
                <a:lnTo>
                  <a:pt x="2166850" y="2338662"/>
                </a:lnTo>
                <a:lnTo>
                  <a:pt x="2213956" y="2310360"/>
                </a:lnTo>
                <a:lnTo>
                  <a:pt x="2261061" y="2281451"/>
                </a:lnTo>
                <a:lnTo>
                  <a:pt x="2308167" y="2251932"/>
                </a:lnTo>
                <a:lnTo>
                  <a:pt x="2355272" y="2221805"/>
                </a:lnTo>
                <a:lnTo>
                  <a:pt x="2402378" y="2191069"/>
                </a:lnTo>
                <a:lnTo>
                  <a:pt x="2449483" y="2159724"/>
                </a:lnTo>
                <a:lnTo>
                  <a:pt x="2496589" y="2127771"/>
                </a:lnTo>
                <a:lnTo>
                  <a:pt x="2543694" y="2095210"/>
                </a:lnTo>
                <a:lnTo>
                  <a:pt x="2590800" y="2062039"/>
                </a:lnTo>
                <a:lnTo>
                  <a:pt x="2637905" y="2028260"/>
                </a:lnTo>
                <a:lnTo>
                  <a:pt x="2685010" y="1993873"/>
                </a:lnTo>
                <a:lnTo>
                  <a:pt x="2732116" y="1958877"/>
                </a:lnTo>
                <a:lnTo>
                  <a:pt x="2779221" y="1923272"/>
                </a:lnTo>
                <a:lnTo>
                  <a:pt x="2826327" y="1887058"/>
                </a:lnTo>
                <a:lnTo>
                  <a:pt x="2873432" y="1850236"/>
                </a:lnTo>
                <a:lnTo>
                  <a:pt x="2920538" y="1812805"/>
                </a:lnTo>
                <a:lnTo>
                  <a:pt x="2967643" y="1774766"/>
                </a:lnTo>
                <a:lnTo>
                  <a:pt x="3014749" y="1736118"/>
                </a:lnTo>
                <a:lnTo>
                  <a:pt x="3061854" y="1696861"/>
                </a:lnTo>
                <a:lnTo>
                  <a:pt x="3108960" y="1656996"/>
                </a:lnTo>
                <a:lnTo>
                  <a:pt x="3156065" y="1616522"/>
                </a:lnTo>
                <a:lnTo>
                  <a:pt x="3203170" y="1575439"/>
                </a:lnTo>
                <a:lnTo>
                  <a:pt x="3250276" y="1533748"/>
                </a:lnTo>
                <a:lnTo>
                  <a:pt x="3297381" y="1491449"/>
                </a:lnTo>
                <a:lnTo>
                  <a:pt x="3344487" y="1448540"/>
                </a:lnTo>
                <a:lnTo>
                  <a:pt x="3391592" y="1405023"/>
                </a:lnTo>
                <a:lnTo>
                  <a:pt x="3438698" y="1360897"/>
                </a:lnTo>
                <a:lnTo>
                  <a:pt x="3485803" y="1316163"/>
                </a:lnTo>
                <a:lnTo>
                  <a:pt x="3532909" y="1270820"/>
                </a:lnTo>
                <a:lnTo>
                  <a:pt x="3580014" y="1224868"/>
                </a:lnTo>
                <a:lnTo>
                  <a:pt x="3627120" y="1178308"/>
                </a:lnTo>
                <a:lnTo>
                  <a:pt x="3674225" y="1131139"/>
                </a:lnTo>
                <a:lnTo>
                  <a:pt x="3721330" y="1083362"/>
                </a:lnTo>
                <a:lnTo>
                  <a:pt x="3768436" y="1034976"/>
                </a:lnTo>
                <a:lnTo>
                  <a:pt x="3815541" y="985981"/>
                </a:lnTo>
                <a:lnTo>
                  <a:pt x="3862647" y="936378"/>
                </a:lnTo>
                <a:lnTo>
                  <a:pt x="3909752" y="886166"/>
                </a:lnTo>
                <a:lnTo>
                  <a:pt x="3956858" y="835345"/>
                </a:lnTo>
                <a:lnTo>
                  <a:pt x="4003963" y="783916"/>
                </a:lnTo>
                <a:lnTo>
                  <a:pt x="4051069" y="731878"/>
                </a:lnTo>
                <a:lnTo>
                  <a:pt x="4098174" y="679232"/>
                </a:lnTo>
                <a:lnTo>
                  <a:pt x="4145279" y="625976"/>
                </a:lnTo>
                <a:lnTo>
                  <a:pt x="4192385" y="572113"/>
                </a:lnTo>
                <a:lnTo>
                  <a:pt x="4239490" y="517640"/>
                </a:lnTo>
                <a:lnTo>
                  <a:pt x="4286596" y="462559"/>
                </a:lnTo>
                <a:lnTo>
                  <a:pt x="4333701" y="406870"/>
                </a:lnTo>
                <a:lnTo>
                  <a:pt x="4380807" y="350571"/>
                </a:lnTo>
                <a:lnTo>
                  <a:pt x="4427912" y="293664"/>
                </a:lnTo>
                <a:lnTo>
                  <a:pt x="4475018" y="236149"/>
                </a:lnTo>
                <a:lnTo>
                  <a:pt x="4522123" y="178025"/>
                </a:lnTo>
                <a:lnTo>
                  <a:pt x="4569229" y="119292"/>
                </a:lnTo>
                <a:lnTo>
                  <a:pt x="4616334" y="59950"/>
                </a:lnTo>
                <a:lnTo>
                  <a:pt x="4663439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C4-E09 text 59" descr="sci-ppt:o059"/>
          <p:cNvSpPr txBox="1"/>
          <p:nvPr/>
        </p:nvSpPr>
        <p:spPr>
          <a:xfrm>
            <a:off x="7438644" y="1697126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𝓔_A = J_A² / (2m_A)</a:t>
            </a:r>
          </a:p>
        </p:txBody>
      </p:sp>
      <p:sp>
        <p:nvSpPr>
          <p:cNvPr id="62" name="C4-E09 text 60" descr="sci-ppt:o060"/>
          <p:cNvSpPr txBox="1"/>
          <p:nvPr/>
        </p:nvSpPr>
        <p:spPr>
          <a:xfrm>
            <a:off x="914400" y="5577840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Speed grows linearly with impulse, energy quadratically. Here m_A = ρ_f h_f = 23.3 g/m² (ρ_f = 2330 kg/m³, h_f = 10 µm).</a:t>
            </a:r>
          </a:p>
        </p:txBody>
      </p:sp>
      <p:sp>
        <p:nvSpPr>
          <p:cNvPr id="63" name="C4-E09 text 61" descr="sci-ppt:o061"/>
          <p:cNvSpPr txBox="1"/>
          <p:nvPr/>
        </p:nvSpPr>
        <p:spPr>
          <a:xfrm>
            <a:off x="914400" y="603504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Valid for a pulse much shorter than the plate response times (next figure); this energy may later feed deformation and fracture.</a:t>
            </a:r>
          </a:p>
        </p:txBody>
      </p:sp>
      <p:sp>
        <p:nvSpPr>
          <p:cNvPr id="64" name="C4-E09 text 62" descr="sci-ppt:o06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Short-pulse free response of Eq. C4-E09.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