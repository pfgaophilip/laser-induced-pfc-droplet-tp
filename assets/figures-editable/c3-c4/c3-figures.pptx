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01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C3-E01 · Independent-event statistical model</a:t>
            </a:r>
          </a:p>
        </p:txBody>
      </p:sp>
      <p:sp>
        <p:nvSpPr>
          <p:cNvPr id="3" name="C3-E01 ellipse 1" descr="sci-ppt:o001"/>
          <p:cNvSpPr/>
          <p:nvPr/>
        </p:nvSpPr>
        <p:spPr>
          <a:xfrm>
            <a:off x="1005840" y="1188720"/>
            <a:ext cx="365760" cy="365760"/>
          </a:xfrm>
          <a:prstGeom prst="ellipse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3-E01 ellipse 2" descr="sci-ppt:o002"/>
          <p:cNvSpPr/>
          <p:nvPr/>
        </p:nvSpPr>
        <p:spPr>
          <a:xfrm>
            <a:off x="1627632" y="1188720"/>
            <a:ext cx="365760" cy="36576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3-E01 ellipse 3" descr="sci-ppt:o003"/>
          <p:cNvSpPr/>
          <p:nvPr/>
        </p:nvSpPr>
        <p:spPr>
          <a:xfrm>
            <a:off x="2249424" y="1188720"/>
            <a:ext cx="365760" cy="36576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3-E01 ellipse 4" descr="sci-ppt:o004"/>
          <p:cNvSpPr/>
          <p:nvPr/>
        </p:nvSpPr>
        <p:spPr>
          <a:xfrm>
            <a:off x="2871215" y="1188720"/>
            <a:ext cx="365760" cy="36576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3-E01 ellipse 5" descr="sci-ppt:o005"/>
          <p:cNvSpPr/>
          <p:nvPr/>
        </p:nvSpPr>
        <p:spPr>
          <a:xfrm>
            <a:off x="3493008" y="1188720"/>
            <a:ext cx="365760" cy="365760"/>
          </a:xfrm>
          <a:prstGeom prst="ellipse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3-E01 ellipse 6" descr="sci-ppt:o006"/>
          <p:cNvSpPr/>
          <p:nvPr/>
        </p:nvSpPr>
        <p:spPr>
          <a:xfrm>
            <a:off x="1005840" y="1828800"/>
            <a:ext cx="365760" cy="36576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3-E01 ellipse 7" descr="sci-ppt:o007"/>
          <p:cNvSpPr/>
          <p:nvPr/>
        </p:nvSpPr>
        <p:spPr>
          <a:xfrm>
            <a:off x="1627632" y="1828800"/>
            <a:ext cx="365760" cy="36576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3-E01 ellipse 8" descr="sci-ppt:o008"/>
          <p:cNvSpPr/>
          <p:nvPr/>
        </p:nvSpPr>
        <p:spPr>
          <a:xfrm>
            <a:off x="2249424" y="1828800"/>
            <a:ext cx="365760" cy="36576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3-E01 ellipse 9" descr="sci-ppt:o009"/>
          <p:cNvSpPr/>
          <p:nvPr/>
        </p:nvSpPr>
        <p:spPr>
          <a:xfrm>
            <a:off x="2871215" y="1828800"/>
            <a:ext cx="365760" cy="365760"/>
          </a:xfrm>
          <a:prstGeom prst="ellipse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3-E01 ellipse 10" descr="sci-ppt:o010"/>
          <p:cNvSpPr/>
          <p:nvPr/>
        </p:nvSpPr>
        <p:spPr>
          <a:xfrm>
            <a:off x="3493008" y="1828800"/>
            <a:ext cx="365760" cy="36576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3-E01 ellipse 11" descr="sci-ppt:o011"/>
          <p:cNvSpPr/>
          <p:nvPr/>
        </p:nvSpPr>
        <p:spPr>
          <a:xfrm>
            <a:off x="1005840" y="2468879"/>
            <a:ext cx="365760" cy="36576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3-E01 ellipse 12" descr="sci-ppt:o012"/>
          <p:cNvSpPr/>
          <p:nvPr/>
        </p:nvSpPr>
        <p:spPr>
          <a:xfrm>
            <a:off x="1627632" y="2468879"/>
            <a:ext cx="365760" cy="36576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3-E01 ellipse 13" descr="sci-ppt:o013"/>
          <p:cNvSpPr/>
          <p:nvPr/>
        </p:nvSpPr>
        <p:spPr>
          <a:xfrm>
            <a:off x="2249424" y="2468879"/>
            <a:ext cx="365760" cy="365760"/>
          </a:xfrm>
          <a:prstGeom prst="ellipse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3-E01 ellipse 14" descr="sci-ppt:o014"/>
          <p:cNvSpPr/>
          <p:nvPr/>
        </p:nvSpPr>
        <p:spPr>
          <a:xfrm>
            <a:off x="2871215" y="2468879"/>
            <a:ext cx="365760" cy="36576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3-E01 ellipse 15" descr="sci-ppt:o015"/>
          <p:cNvSpPr/>
          <p:nvPr/>
        </p:nvSpPr>
        <p:spPr>
          <a:xfrm>
            <a:off x="3493008" y="2468879"/>
            <a:ext cx="365760" cy="36576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3-E01 text 16" descr="sci-ppt:o016"/>
          <p:cNvSpPr txBox="1"/>
          <p:nvPr/>
        </p:nvSpPr>
        <p:spPr>
          <a:xfrm>
            <a:off x="5029200" y="1143000"/>
            <a:ext cx="612648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7F0F3"/>
                </a:solidFill>
                <a:latin typeface="Arial"/>
              </a:rPr>
              <a:t>Fabricated sites N_d → activated sites N_b</a:t>
            </a:r>
          </a:p>
        </p:txBody>
      </p:sp>
      <p:sp>
        <p:nvSpPr>
          <p:cNvPr id="19" name="C3-E01 text 17" descr="sci-ppt:o017"/>
          <p:cNvSpPr txBox="1"/>
          <p:nvPr/>
        </p:nvSpPr>
        <p:spPr>
          <a:xfrm>
            <a:off x="5029200" y="1920240"/>
            <a:ext cx="612648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Independent Bernoulli events with probability p_a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Outline circles indicate inactive sites.</a:t>
            </a:r>
          </a:p>
        </p:txBody>
      </p:sp>
      <p:sp>
        <p:nvSpPr>
          <p:cNvPr id="20" name="C3-E01 text 18" descr="sci-ppt:o018"/>
          <p:cNvSpPr txBox="1"/>
          <p:nvPr/>
        </p:nvSpPr>
        <p:spPr>
          <a:xfrm>
            <a:off x="5029200" y="2971800"/>
            <a:ext cx="612648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Count reproducibility and complete activation differ.</a:t>
            </a:r>
          </a:p>
        </p:txBody>
      </p:sp>
      <p:cxnSp>
        <p:nvCxnSpPr>
          <p:cNvPr id="21" name="C3-E01 line 19" descr="sci-ppt:o019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22" name="C3-E01 text 20" descr="sci-ppt:o020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N_d fabricated sites</a:t>
            </a:r>
          </a:p>
        </p:txBody>
      </p:sp>
      <p:sp>
        <p:nvSpPr>
          <p:cNvPr id="23" name="C3-E01 text 21" descr="sci-ppt:o021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N_b activated sites</a:t>
            </a:r>
          </a:p>
        </p:txBody>
      </p:sp>
      <p:sp>
        <p:nvSpPr>
          <p:cNvPr id="24" name="C3-E01 text 22" descr="sci-ppt:o022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p_a activation probability</a:t>
            </a:r>
          </a:p>
        </p:txBody>
      </p:sp>
      <p:sp>
        <p:nvSpPr>
          <p:cNvPr id="25" name="C3-E01 text 23" descr="sci-ppt:o023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E[N_b], Var, CV, Pr: count statistics</a:t>
            </a:r>
          </a:p>
        </p:txBody>
      </p:sp>
      <p:sp>
        <p:nvSpPr>
          <p:cNvPr id="26" name="C3-E01 text 24" descr="sci-ppt:o024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Missing sites change symmetry and timing</a:t>
            </a:r>
          </a:p>
        </p:txBody>
      </p:sp>
      <p:sp>
        <p:nvSpPr>
          <p:cNvPr id="27" name="C3-E01 text 25" descr="sci-ppt:o025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Independent activation is an assumption</a:t>
            </a:r>
          </a:p>
        </p:txBody>
      </p:sp>
      <p:sp>
        <p:nvSpPr>
          <p:cNvPr id="28" name="C3-E01 text 26" descr="sci-ppt:o026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02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C3-E02 · Derived optical-uniformity condition</a:t>
            </a:r>
          </a:p>
        </p:txBody>
      </p:sp>
      <p:sp>
        <p:nvSpPr>
          <p:cNvPr id="3" name="C3-E02 ellipse 1" descr="sci-ppt:o001"/>
          <p:cNvSpPr/>
          <p:nvPr/>
        </p:nvSpPr>
        <p:spPr>
          <a:xfrm>
            <a:off x="1828800" y="914400"/>
            <a:ext cx="2560320" cy="2560320"/>
          </a:xfrm>
          <a:prstGeom prst="ellipse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3-E02 ellipse 2" descr="sci-ppt:o002"/>
          <p:cNvSpPr/>
          <p:nvPr/>
        </p:nvSpPr>
        <p:spPr>
          <a:xfrm>
            <a:off x="2514600" y="1600200"/>
            <a:ext cx="1188720" cy="1188720"/>
          </a:xfrm>
          <a:prstGeom prst="ellipse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3-E02 arrow 3" descr="sci-ppt:o003"/>
          <p:cNvCxnSpPr/>
          <p:nvPr/>
        </p:nvCxnSpPr>
        <p:spPr>
          <a:xfrm>
            <a:off x="3108960" y="2194560"/>
            <a:ext cx="128016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3-E02 text 4" descr="sci-ppt:o004"/>
          <p:cNvSpPr txBox="1"/>
          <p:nvPr/>
        </p:nvSpPr>
        <p:spPr>
          <a:xfrm>
            <a:off x="3886200" y="1737360"/>
            <a:ext cx="1828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w</a:t>
            </a:r>
          </a:p>
        </p:txBody>
      </p:sp>
      <p:cxnSp>
        <p:nvCxnSpPr>
          <p:cNvPr id="7" name="C3-E02 arrow 5" descr="sci-ppt:o005"/>
          <p:cNvCxnSpPr/>
          <p:nvPr/>
        </p:nvCxnSpPr>
        <p:spPr>
          <a:xfrm flipV="1">
            <a:off x="3108960" y="16002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C3-E02 text 6" descr="sci-ppt:o006"/>
          <p:cNvSpPr txBox="1"/>
          <p:nvPr/>
        </p:nvSpPr>
        <p:spPr>
          <a:xfrm>
            <a:off x="2148840" y="1508760"/>
            <a:ext cx="1828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R_A</a:t>
            </a:r>
          </a:p>
        </p:txBody>
      </p:sp>
      <p:sp>
        <p:nvSpPr>
          <p:cNvPr id="9" name="C3-E02 text 7" descr="sci-ppt:o007"/>
          <p:cNvSpPr txBox="1"/>
          <p:nvPr/>
        </p:nvSpPr>
        <p:spPr>
          <a:xfrm>
            <a:off x="5486400" y="1188720"/>
            <a:ext cx="585216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E7F0F3"/>
                </a:solidFill>
                <a:latin typeface="Arial"/>
              </a:rPr>
              <a:t>Beam axis and array centre coincide.</a:t>
            </a:r>
          </a:p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E7F0F3"/>
                </a:solidFill>
                <a:latin typeface="Arial"/>
              </a:rPr>
              <a:t>Inner circle encloses array sites.</a:t>
            </a:r>
          </a:p>
        </p:txBody>
      </p:sp>
      <p:sp>
        <p:nvSpPr>
          <p:cNvPr id="10" name="C3-E02 text 8" descr="sci-ppt:o008"/>
          <p:cNvSpPr txBox="1"/>
          <p:nvPr/>
        </p:nvSpPr>
        <p:spPr>
          <a:xfrm>
            <a:off x="5486400" y="2423160"/>
            <a:ext cx="5760720" cy="8229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8EDBD4"/>
                </a:solidFill>
                <a:latin typeface="Arial"/>
              </a:rPr>
              <a:t>F(R_A)/F₀ ≥ 1 − ε</a:t>
            </a:r>
          </a:p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8EDBD4"/>
                </a:solidFill>
                <a:latin typeface="Arial"/>
              </a:rPr>
              <a:t>Uniformity is an optical condition.</a:t>
            </a:r>
          </a:p>
        </p:txBody>
      </p:sp>
      <p:cxnSp>
        <p:nvCxnSpPr>
          <p:cNvPr id="11" name="C3-E02 line 9" descr="sci-ppt:o009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2" name="C3-E02 text 10" descr="sci-ppt:o010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F₀ central fluence</a:t>
            </a:r>
          </a:p>
        </p:txBody>
      </p:sp>
      <p:sp>
        <p:nvSpPr>
          <p:cNvPr id="13" name="C3-E02 text 11" descr="sci-ppt:o011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F(R_A) edge fluence</a:t>
            </a:r>
          </a:p>
        </p:txBody>
      </p:sp>
      <p:sp>
        <p:nvSpPr>
          <p:cNvPr id="14" name="C3-E02 text 12" descr="sci-ppt:o012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R_A array radius</a:t>
            </a:r>
          </a:p>
        </p:txBody>
      </p:sp>
      <p:sp>
        <p:nvSpPr>
          <p:cNvPr id="15" name="C3-E02 text 13" descr="sci-ppt:o013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w beam radius</a:t>
            </a:r>
          </a:p>
        </p:txBody>
      </p:sp>
      <p:sp>
        <p:nvSpPr>
          <p:cNvPr id="16" name="C3-E02 text 14" descr="sci-ppt:o014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ε allowed decrease; exp, ln</a:t>
            </a:r>
          </a:p>
        </p:txBody>
      </p:sp>
      <p:sp>
        <p:nvSpPr>
          <p:cNvPr id="17" name="C3-E02 text 15" descr="sci-ppt:o015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Beam axis passes through array center</a:t>
            </a:r>
          </a:p>
        </p:txBody>
      </p:sp>
      <p:sp>
        <p:nvSpPr>
          <p:cNvPr id="18" name="C3-E02 text 16" descr="sci-ppt:o016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Uniform fluence does not prove uniform activation</a:t>
            </a:r>
          </a:p>
        </p:txBody>
      </p:sp>
      <p:sp>
        <p:nvSpPr>
          <p:cNvPr id="19" name="C3-E02 text 17" descr="sci-ppt:o017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03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C3-E03 · Continuity and potential integration</a:t>
            </a:r>
          </a:p>
        </p:txBody>
      </p:sp>
      <p:sp>
        <p:nvSpPr>
          <p:cNvPr id="3" name="C3-E03 ellipse 1" descr="sci-ppt:o001"/>
          <p:cNvSpPr/>
          <p:nvPr/>
        </p:nvSpPr>
        <p:spPr>
          <a:xfrm>
            <a:off x="1417319" y="1280160"/>
            <a:ext cx="1554480" cy="155448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3-E03 ellipse 2" descr="sci-ppt:o002"/>
          <p:cNvSpPr/>
          <p:nvPr/>
        </p:nvSpPr>
        <p:spPr>
          <a:xfrm>
            <a:off x="7909560" y="1280160"/>
            <a:ext cx="1554480" cy="155448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3-E03 text 3" descr="sci-ppt:o003"/>
          <p:cNvSpPr txBox="1"/>
          <p:nvPr/>
        </p:nvSpPr>
        <p:spPr>
          <a:xfrm>
            <a:off x="1645920" y="1874519"/>
            <a:ext cx="14630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j: source</a:t>
            </a:r>
          </a:p>
        </p:txBody>
      </p:sp>
      <p:sp>
        <p:nvSpPr>
          <p:cNvPr id="6" name="C3-E03 text 4" descr="sci-ppt:o004"/>
          <p:cNvSpPr txBox="1"/>
          <p:nvPr/>
        </p:nvSpPr>
        <p:spPr>
          <a:xfrm>
            <a:off x="8138160" y="1874519"/>
            <a:ext cx="15544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i: receiver</a:t>
            </a:r>
          </a:p>
        </p:txBody>
      </p:sp>
      <p:cxnSp>
        <p:nvCxnSpPr>
          <p:cNvPr id="7" name="C3-E03 line 5" descr="sci-ppt:o005"/>
          <p:cNvCxnSpPr/>
          <p:nvPr/>
        </p:nvCxnSpPr>
        <p:spPr>
          <a:xfrm>
            <a:off x="2194560" y="3108960"/>
            <a:ext cx="649224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" name="C3-E03 text 6" descr="sci-ppt:o006"/>
          <p:cNvSpPr txBox="1"/>
          <p:nvPr/>
        </p:nvSpPr>
        <p:spPr>
          <a:xfrm>
            <a:off x="4846320" y="3200400"/>
            <a:ext cx="1828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d_ij</a:t>
            </a:r>
          </a:p>
        </p:txBody>
      </p:sp>
      <p:cxnSp>
        <p:nvCxnSpPr>
          <p:cNvPr id="9" name="C3-E03 arrow 7" descr="sci-ppt:o007"/>
          <p:cNvCxnSpPr/>
          <p:nvPr/>
        </p:nvCxnSpPr>
        <p:spPr>
          <a:xfrm>
            <a:off x="3108960" y="2057400"/>
            <a:ext cx="4617719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C3-E03 text 8" descr="sci-ppt:o008"/>
          <p:cNvSpPr txBox="1"/>
          <p:nvPr/>
        </p:nvSpPr>
        <p:spPr>
          <a:xfrm>
            <a:off x="3749039" y="1600200"/>
            <a:ext cx="39319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Shared liquid: ρ, p∞</a:t>
            </a:r>
          </a:p>
        </p:txBody>
      </p:sp>
      <p:sp>
        <p:nvSpPr>
          <p:cNvPr id="11" name="C3-E03 text 9" descr="sci-ppt:o009"/>
          <p:cNvSpPr txBox="1"/>
          <p:nvPr/>
        </p:nvSpPr>
        <p:spPr>
          <a:xfrm>
            <a:off x="548640" y="777240"/>
            <a:ext cx="1097280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Fixed centres; spherical cavities; R_i, R_j ≪ d_ij</a:t>
            </a:r>
          </a:p>
        </p:txBody>
      </p:sp>
      <p:sp>
        <p:nvSpPr>
          <p:cNvPr id="12" name="C3-E03 text 10" descr="sci-ppt:o010"/>
          <p:cNvSpPr txBox="1"/>
          <p:nvPr/>
        </p:nvSpPr>
        <p:spPr>
          <a:xfrm>
            <a:off x="3657600" y="2423160"/>
            <a:ext cx="420624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Source-volume acceleration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sets the pressure correction.</a:t>
            </a:r>
          </a:p>
        </p:txBody>
      </p:sp>
      <p:cxnSp>
        <p:nvCxnSpPr>
          <p:cNvPr id="13" name="C3-E03 line 11" descr="sci-ppt:o011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4" name="C3-E03 text 12" descr="sci-ppt:o012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R_j, Ṙ_j, R̈_j: source bubble</a:t>
            </a:r>
          </a:p>
        </p:txBody>
      </p:sp>
      <p:sp>
        <p:nvSpPr>
          <p:cNvPr id="15" name="C3-E03 text 13" descr="sci-ppt:o013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r_j, ξ: radial locations</a:t>
            </a:r>
          </a:p>
        </p:txBody>
      </p:sp>
      <p:sp>
        <p:nvSpPr>
          <p:cNvPr id="16" name="C3-E03 text 14" descr="sci-ppt:o014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d_ij: center separation</a:t>
            </a:r>
          </a:p>
        </p:txBody>
      </p:sp>
      <p:sp>
        <p:nvSpPr>
          <p:cNvPr id="17" name="C3-E03 text 15" descr="sci-ppt:o015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u_j: radial liquid velocity</a:t>
            </a:r>
          </a:p>
        </p:txBody>
      </p:sp>
      <p:sp>
        <p:nvSpPr>
          <p:cNvPr id="18" name="C3-E03 text 16" descr="sci-ppt:o016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φ_j, ∂ₜφ_j: source potential</a:t>
            </a:r>
          </a:p>
        </p:txBody>
      </p:sp>
      <p:sp>
        <p:nvSpPr>
          <p:cNvPr id="19" name="C3-E03 text 17" descr="sci-ppt:o017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i receiving center; t time; π</a:t>
            </a:r>
          </a:p>
        </p:txBody>
      </p:sp>
      <p:sp>
        <p:nvSpPr>
          <p:cNvPr id="20" name="C3-E03 text 18" descr="sci-ppt:o018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Centers fixed; far separation</a:t>
            </a:r>
          </a:p>
        </p:txBody>
      </p:sp>
      <p:sp>
        <p:nvSpPr>
          <p:cNvPr id="21" name="C3-E03 text 19" descr="sci-ppt:o019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The derivative is at a fixed receiving position</a:t>
            </a:r>
          </a:p>
        </p:txBody>
      </p:sp>
      <p:sp>
        <p:nvSpPr>
          <p:cNvPr id="22" name="C3-E03 text 20" descr="sci-ppt:o020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04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C3-E04 · Leading unsteady-Bernoulli approximation</a:t>
            </a:r>
          </a:p>
        </p:txBody>
      </p:sp>
      <p:sp>
        <p:nvSpPr>
          <p:cNvPr id="3" name="C3-E04 ellipse 1" descr="sci-ppt:o001"/>
          <p:cNvSpPr/>
          <p:nvPr/>
        </p:nvSpPr>
        <p:spPr>
          <a:xfrm>
            <a:off x="1417319" y="1280160"/>
            <a:ext cx="1554480" cy="155448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3-E04 ellipse 2" descr="sci-ppt:o002"/>
          <p:cNvSpPr/>
          <p:nvPr/>
        </p:nvSpPr>
        <p:spPr>
          <a:xfrm>
            <a:off x="7909560" y="1280160"/>
            <a:ext cx="1554480" cy="155448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3-E04 text 3" descr="sci-ppt:o003"/>
          <p:cNvSpPr txBox="1"/>
          <p:nvPr/>
        </p:nvSpPr>
        <p:spPr>
          <a:xfrm>
            <a:off x="1645920" y="1874519"/>
            <a:ext cx="14630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j: source</a:t>
            </a:r>
          </a:p>
        </p:txBody>
      </p:sp>
      <p:sp>
        <p:nvSpPr>
          <p:cNvPr id="6" name="C3-E04 text 4" descr="sci-ppt:o004"/>
          <p:cNvSpPr txBox="1"/>
          <p:nvPr/>
        </p:nvSpPr>
        <p:spPr>
          <a:xfrm>
            <a:off x="8138160" y="1874519"/>
            <a:ext cx="15544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i: receiver</a:t>
            </a:r>
          </a:p>
        </p:txBody>
      </p:sp>
      <p:cxnSp>
        <p:nvCxnSpPr>
          <p:cNvPr id="7" name="C3-E04 line 5" descr="sci-ppt:o005"/>
          <p:cNvCxnSpPr/>
          <p:nvPr/>
        </p:nvCxnSpPr>
        <p:spPr>
          <a:xfrm>
            <a:off x="2194560" y="3108960"/>
            <a:ext cx="649224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" name="C3-E04 text 6" descr="sci-ppt:o006"/>
          <p:cNvSpPr txBox="1"/>
          <p:nvPr/>
        </p:nvSpPr>
        <p:spPr>
          <a:xfrm>
            <a:off x="4846320" y="3200400"/>
            <a:ext cx="1828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d_ij</a:t>
            </a:r>
          </a:p>
        </p:txBody>
      </p:sp>
      <p:cxnSp>
        <p:nvCxnSpPr>
          <p:cNvPr id="9" name="C3-E04 arrow 7" descr="sci-ppt:o007"/>
          <p:cNvCxnSpPr/>
          <p:nvPr/>
        </p:nvCxnSpPr>
        <p:spPr>
          <a:xfrm>
            <a:off x="3108960" y="2057400"/>
            <a:ext cx="4617719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C3-E04 text 8" descr="sci-ppt:o008"/>
          <p:cNvSpPr txBox="1"/>
          <p:nvPr/>
        </p:nvSpPr>
        <p:spPr>
          <a:xfrm>
            <a:off x="3749039" y="1600200"/>
            <a:ext cx="39319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Shared liquid: ρ, p∞</a:t>
            </a:r>
          </a:p>
        </p:txBody>
      </p:sp>
      <p:sp>
        <p:nvSpPr>
          <p:cNvPr id="11" name="C3-E04 text 9" descr="sci-ppt:o009"/>
          <p:cNvSpPr txBox="1"/>
          <p:nvPr/>
        </p:nvSpPr>
        <p:spPr>
          <a:xfrm>
            <a:off x="548640" y="777240"/>
            <a:ext cx="1097280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Fixed centres; spherical cavities; R_i, R_j ≪ d_ij</a:t>
            </a:r>
          </a:p>
        </p:txBody>
      </p:sp>
      <p:sp>
        <p:nvSpPr>
          <p:cNvPr id="12" name="C3-E04 text 10" descr="sci-ppt:o010"/>
          <p:cNvSpPr txBox="1"/>
          <p:nvPr/>
        </p:nvSpPr>
        <p:spPr>
          <a:xfrm>
            <a:off x="3657600" y="2423160"/>
            <a:ext cx="420624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Source-volume acceleration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sets the pressure correction.</a:t>
            </a:r>
          </a:p>
        </p:txBody>
      </p:sp>
      <p:cxnSp>
        <p:nvCxnSpPr>
          <p:cNvPr id="13" name="C3-E04 line 11" descr="sci-ppt:o011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4" name="C3-E04 text 12" descr="sci-ppt:o012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j source → i receiver</a:t>
            </a:r>
          </a:p>
        </p:txBody>
      </p:sp>
      <p:sp>
        <p:nvSpPr>
          <p:cNvPr id="15" name="C3-E04 text 13" descr="sci-ppt:o013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R_j, Ṙ_j, R̈_j</a:t>
            </a:r>
          </a:p>
        </p:txBody>
      </p:sp>
      <p:sp>
        <p:nvSpPr>
          <p:cNvPr id="16" name="C3-E04 text 14" descr="sci-ppt:o014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d_ij center separation</a:t>
            </a:r>
          </a:p>
        </p:txBody>
      </p:sp>
      <p:sp>
        <p:nvSpPr>
          <p:cNvPr id="17" name="C3-E04 text 15" descr="sci-ppt:o015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p′_j→i near receiver</a:t>
            </a:r>
          </a:p>
        </p:txBody>
      </p:sp>
      <p:sp>
        <p:nvSpPr>
          <p:cNvPr id="18" name="C3-E04 text 16" descr="sci-ppt:o016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p_ext,i = p∞ + Σ p′</a:t>
            </a:r>
          </a:p>
        </p:txBody>
      </p:sp>
      <p:sp>
        <p:nvSpPr>
          <p:cNvPr id="19" name="C3-E04 text 17" descr="sci-ppt:o017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ρ, φ_j, ∂ₜ, t, N_b: field legend</a:t>
            </a:r>
          </a:p>
        </p:txBody>
      </p:sp>
      <p:sp>
        <p:nvSpPr>
          <p:cNvPr id="20" name="C3-E04 text 18" descr="sci-ppt:o018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Positive source-volume acceleration raises surrounding pressure</a:t>
            </a:r>
          </a:p>
        </p:txBody>
      </p:sp>
      <p:sp>
        <p:nvSpPr>
          <p:cNvPr id="21" name="C3-E04 text 19" descr="sci-ppt:o019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Convective cross terms and shape gradients omitted</a:t>
            </a:r>
          </a:p>
        </p:txBody>
      </p:sp>
      <p:sp>
        <p:nvSpPr>
          <p:cNvPr id="22" name="C3-E04 text 20" descr="sci-ppt:o020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05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C3-E05 · Coupled spherical approximation</a:t>
            </a:r>
          </a:p>
        </p:txBody>
      </p:sp>
      <p:sp>
        <p:nvSpPr>
          <p:cNvPr id="3" name="C3-E05 ellipse 1" descr="sci-ppt:o001"/>
          <p:cNvSpPr/>
          <p:nvPr/>
        </p:nvSpPr>
        <p:spPr>
          <a:xfrm>
            <a:off x="1417319" y="1280160"/>
            <a:ext cx="1554480" cy="155448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3-E05 ellipse 2" descr="sci-ppt:o002"/>
          <p:cNvSpPr/>
          <p:nvPr/>
        </p:nvSpPr>
        <p:spPr>
          <a:xfrm>
            <a:off x="7909560" y="1280160"/>
            <a:ext cx="1554480" cy="155448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3-E05 text 3" descr="sci-ppt:o003"/>
          <p:cNvSpPr txBox="1"/>
          <p:nvPr/>
        </p:nvSpPr>
        <p:spPr>
          <a:xfrm>
            <a:off x="1645920" y="1874519"/>
            <a:ext cx="14630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j: source</a:t>
            </a:r>
          </a:p>
        </p:txBody>
      </p:sp>
      <p:sp>
        <p:nvSpPr>
          <p:cNvPr id="6" name="C3-E05 text 4" descr="sci-ppt:o004"/>
          <p:cNvSpPr txBox="1"/>
          <p:nvPr/>
        </p:nvSpPr>
        <p:spPr>
          <a:xfrm>
            <a:off x="8138160" y="1874519"/>
            <a:ext cx="15544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i: receiver</a:t>
            </a:r>
          </a:p>
        </p:txBody>
      </p:sp>
      <p:cxnSp>
        <p:nvCxnSpPr>
          <p:cNvPr id="7" name="C3-E05 line 5" descr="sci-ppt:o005"/>
          <p:cNvCxnSpPr/>
          <p:nvPr/>
        </p:nvCxnSpPr>
        <p:spPr>
          <a:xfrm>
            <a:off x="2194560" y="3108960"/>
            <a:ext cx="649224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" name="C3-E05 text 6" descr="sci-ppt:o006"/>
          <p:cNvSpPr txBox="1"/>
          <p:nvPr/>
        </p:nvSpPr>
        <p:spPr>
          <a:xfrm>
            <a:off x="4846320" y="3200400"/>
            <a:ext cx="1828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d_ij</a:t>
            </a:r>
          </a:p>
        </p:txBody>
      </p:sp>
      <p:cxnSp>
        <p:nvCxnSpPr>
          <p:cNvPr id="9" name="C3-E05 arrow 7" descr="sci-ppt:o007"/>
          <p:cNvCxnSpPr/>
          <p:nvPr/>
        </p:nvCxnSpPr>
        <p:spPr>
          <a:xfrm>
            <a:off x="3108960" y="2057400"/>
            <a:ext cx="4617719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C3-E05 text 8" descr="sci-ppt:o008"/>
          <p:cNvSpPr txBox="1"/>
          <p:nvPr/>
        </p:nvSpPr>
        <p:spPr>
          <a:xfrm>
            <a:off x="3749039" y="1600200"/>
            <a:ext cx="39319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Shared liquid: ρ, p∞</a:t>
            </a:r>
          </a:p>
        </p:txBody>
      </p:sp>
      <p:sp>
        <p:nvSpPr>
          <p:cNvPr id="11" name="C3-E05 text 9" descr="sci-ppt:o009"/>
          <p:cNvSpPr txBox="1"/>
          <p:nvPr/>
        </p:nvSpPr>
        <p:spPr>
          <a:xfrm>
            <a:off x="548640" y="777240"/>
            <a:ext cx="1097280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Fixed centres; spherical cavities; R_i, R_j ≪ d_ij</a:t>
            </a:r>
          </a:p>
        </p:txBody>
      </p:sp>
      <p:sp>
        <p:nvSpPr>
          <p:cNvPr id="12" name="C3-E05 text 10" descr="sci-ppt:o010"/>
          <p:cNvSpPr txBox="1"/>
          <p:nvPr/>
        </p:nvSpPr>
        <p:spPr>
          <a:xfrm>
            <a:off x="3657600" y="2423160"/>
            <a:ext cx="420624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Source-volume acceleration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sets the pressure correction.</a:t>
            </a:r>
          </a:p>
        </p:txBody>
      </p:sp>
      <p:cxnSp>
        <p:nvCxnSpPr>
          <p:cNvPr id="13" name="C3-E05 line 11" descr="sci-ppt:o011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4" name="C3-E05 text 12" descr="sci-ppt:o012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R_i, Ṙ_i, R̈_i at receiver i</a:t>
            </a:r>
          </a:p>
        </p:txBody>
      </p:sp>
      <p:sp>
        <p:nvSpPr>
          <p:cNvPr id="15" name="C3-E05 text 13" descr="sci-ppt:o013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R_j, Ṙ_j, R̈_j at source j</a:t>
            </a:r>
          </a:p>
        </p:txBody>
      </p:sp>
      <p:sp>
        <p:nvSpPr>
          <p:cNvPr id="16" name="C3-E05 text 14" descr="sci-ppt:o014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d_ij between centers</a:t>
            </a:r>
          </a:p>
        </p:txBody>
      </p:sp>
      <p:sp>
        <p:nvSpPr>
          <p:cNvPr id="17" name="C3-E05 text 15" descr="sci-ppt:o015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p_b,i inside bubble</a:t>
            </a:r>
          </a:p>
        </p:txBody>
      </p:sp>
      <p:sp>
        <p:nvSpPr>
          <p:cNvPr id="18" name="C3-E05 text 16" descr="sci-ppt:o016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p∞ remote liquid</a:t>
            </a:r>
          </a:p>
        </p:txBody>
      </p:sp>
      <p:sp>
        <p:nvSpPr>
          <p:cNvPr id="19" name="C3-E05 text 17" descr="sci-ppt:o017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B_i, σ_b, μ, ρ: radial balance legend</a:t>
            </a:r>
          </a:p>
        </p:txBody>
      </p:sp>
      <p:sp>
        <p:nvSpPr>
          <p:cNvPr id="20" name="C3-E05 text 18" descr="sci-ppt:o018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All accelerations solved together</a:t>
            </a:r>
          </a:p>
        </p:txBody>
      </p:sp>
      <p:sp>
        <p:nvSpPr>
          <p:cNvPr id="21" name="C3-E05 text 19" descr="sci-ppt:o019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No jet shape or film boundary is yet resolved</a:t>
            </a:r>
          </a:p>
        </p:txBody>
      </p:sp>
      <p:sp>
        <p:nvSpPr>
          <p:cNvPr id="22" name="C3-E05 text 20" descr="sci-ppt:o020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06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C3-E06 · Exact polygon geometry</a:t>
            </a:r>
          </a:p>
        </p:txBody>
      </p:sp>
      <p:cxnSp>
        <p:nvCxnSpPr>
          <p:cNvPr id="3" name="C3-E06 line 1" descr="sci-ppt:o001"/>
          <p:cNvCxnSpPr/>
          <p:nvPr/>
        </p:nvCxnSpPr>
        <p:spPr>
          <a:xfrm>
            <a:off x="1828800" y="1234440"/>
            <a:ext cx="871082" cy="150876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4" name="C3-E06 line 2" descr="sci-ppt:o002"/>
          <p:cNvCxnSpPr/>
          <p:nvPr/>
        </p:nvCxnSpPr>
        <p:spPr>
          <a:xfrm flipH="1">
            <a:off x="957717" y="2743200"/>
            <a:ext cx="1742165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5" name="C3-E06 line 3" descr="sci-ppt:o003"/>
          <p:cNvCxnSpPr/>
          <p:nvPr/>
        </p:nvCxnSpPr>
        <p:spPr>
          <a:xfrm flipV="1">
            <a:off x="957717" y="1234440"/>
            <a:ext cx="871083" cy="150876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sp>
        <p:nvSpPr>
          <p:cNvPr id="6" name="C3-E06 ellipse 4" descr="sci-ppt:o004"/>
          <p:cNvSpPr/>
          <p:nvPr/>
        </p:nvSpPr>
        <p:spPr>
          <a:xfrm>
            <a:off x="1664208" y="1069848"/>
            <a:ext cx="329184" cy="329184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3-E06 ellipse 5" descr="sci-ppt:o005"/>
          <p:cNvSpPr/>
          <p:nvPr/>
        </p:nvSpPr>
        <p:spPr>
          <a:xfrm>
            <a:off x="2535290" y="2578608"/>
            <a:ext cx="329184" cy="329184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3-E06 ellipse 6" descr="sci-ppt:o006"/>
          <p:cNvSpPr/>
          <p:nvPr/>
        </p:nvSpPr>
        <p:spPr>
          <a:xfrm>
            <a:off x="793125" y="2578608"/>
            <a:ext cx="329184" cy="329184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3-E06 text 7" descr="sci-ppt:o007"/>
          <p:cNvSpPr txBox="1"/>
          <p:nvPr/>
        </p:nvSpPr>
        <p:spPr>
          <a:xfrm>
            <a:off x="1188720" y="3429000"/>
            <a:ext cx="18288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N = 3</a:t>
            </a:r>
          </a:p>
        </p:txBody>
      </p:sp>
      <p:cxnSp>
        <p:nvCxnSpPr>
          <p:cNvPr id="10" name="C3-E06 line 8" descr="sci-ppt:o008"/>
          <p:cNvCxnSpPr/>
          <p:nvPr/>
        </p:nvCxnSpPr>
        <p:spPr>
          <a:xfrm>
            <a:off x="6035040" y="1234440"/>
            <a:ext cx="1005839" cy="100584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11" name="C3-E06 line 9" descr="sci-ppt:o009"/>
          <p:cNvCxnSpPr/>
          <p:nvPr/>
        </p:nvCxnSpPr>
        <p:spPr>
          <a:xfrm flipH="1">
            <a:off x="6035040" y="2240280"/>
            <a:ext cx="1005839" cy="100584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12" name="C3-E06 line 10" descr="sci-ppt:o010"/>
          <p:cNvCxnSpPr/>
          <p:nvPr/>
        </p:nvCxnSpPr>
        <p:spPr>
          <a:xfrm flipH="1" flipV="1">
            <a:off x="5029200" y="2240280"/>
            <a:ext cx="1005840" cy="100584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13" name="C3-E06 line 11" descr="sci-ppt:o011"/>
          <p:cNvCxnSpPr/>
          <p:nvPr/>
        </p:nvCxnSpPr>
        <p:spPr>
          <a:xfrm flipV="1">
            <a:off x="5029200" y="1234440"/>
            <a:ext cx="1005840" cy="100584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sp>
        <p:nvSpPr>
          <p:cNvPr id="14" name="C3-E06 ellipse 12" descr="sci-ppt:o012"/>
          <p:cNvSpPr/>
          <p:nvPr/>
        </p:nvSpPr>
        <p:spPr>
          <a:xfrm>
            <a:off x="5870448" y="1069848"/>
            <a:ext cx="329184" cy="329184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3-E06 ellipse 13" descr="sci-ppt:o013"/>
          <p:cNvSpPr/>
          <p:nvPr/>
        </p:nvSpPr>
        <p:spPr>
          <a:xfrm>
            <a:off x="6876288" y="2075688"/>
            <a:ext cx="329184" cy="329184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3-E06 ellipse 14" descr="sci-ppt:o014"/>
          <p:cNvSpPr/>
          <p:nvPr/>
        </p:nvSpPr>
        <p:spPr>
          <a:xfrm>
            <a:off x="5870448" y="3081528"/>
            <a:ext cx="329184" cy="329184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3-E06 ellipse 15" descr="sci-ppt:o015"/>
          <p:cNvSpPr/>
          <p:nvPr/>
        </p:nvSpPr>
        <p:spPr>
          <a:xfrm>
            <a:off x="4864608" y="2075688"/>
            <a:ext cx="329184" cy="329184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3-E06 text 16" descr="sci-ppt:o016"/>
          <p:cNvSpPr txBox="1"/>
          <p:nvPr/>
        </p:nvSpPr>
        <p:spPr>
          <a:xfrm>
            <a:off x="5394959" y="3429000"/>
            <a:ext cx="18288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N = 4</a:t>
            </a:r>
          </a:p>
        </p:txBody>
      </p:sp>
      <p:cxnSp>
        <p:nvCxnSpPr>
          <p:cNvPr id="19" name="C3-E06 line 17" descr="sci-ppt:o017"/>
          <p:cNvCxnSpPr/>
          <p:nvPr/>
        </p:nvCxnSpPr>
        <p:spPr>
          <a:xfrm>
            <a:off x="10058400" y="1234440"/>
            <a:ext cx="956610" cy="695018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20" name="C3-E06 line 18" descr="sci-ppt:o018"/>
          <p:cNvCxnSpPr/>
          <p:nvPr/>
        </p:nvCxnSpPr>
        <p:spPr>
          <a:xfrm flipH="1">
            <a:off x="10649617" y="1929458"/>
            <a:ext cx="365393" cy="1124563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21" name="C3-E06 line 19" descr="sci-ppt:o019"/>
          <p:cNvCxnSpPr/>
          <p:nvPr/>
        </p:nvCxnSpPr>
        <p:spPr>
          <a:xfrm flipH="1">
            <a:off x="9467182" y="3054021"/>
            <a:ext cx="1182435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22" name="C3-E06 line 20" descr="sci-ppt:o020"/>
          <p:cNvCxnSpPr/>
          <p:nvPr/>
        </p:nvCxnSpPr>
        <p:spPr>
          <a:xfrm flipH="1" flipV="1">
            <a:off x="9101789" y="1929458"/>
            <a:ext cx="365393" cy="1124563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23" name="C3-E06 line 21" descr="sci-ppt:o021"/>
          <p:cNvCxnSpPr/>
          <p:nvPr/>
        </p:nvCxnSpPr>
        <p:spPr>
          <a:xfrm flipV="1">
            <a:off x="9101789" y="1234440"/>
            <a:ext cx="956611" cy="695018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sp>
        <p:nvSpPr>
          <p:cNvPr id="24" name="C3-E06 ellipse 22" descr="sci-ppt:o022"/>
          <p:cNvSpPr/>
          <p:nvPr/>
        </p:nvSpPr>
        <p:spPr>
          <a:xfrm>
            <a:off x="9893808" y="1069848"/>
            <a:ext cx="329184" cy="329184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3-E06 ellipse 23" descr="sci-ppt:o023"/>
          <p:cNvSpPr/>
          <p:nvPr/>
        </p:nvSpPr>
        <p:spPr>
          <a:xfrm>
            <a:off x="10850418" y="1764866"/>
            <a:ext cx="329184" cy="329184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3-E06 ellipse 24" descr="sci-ppt:o024"/>
          <p:cNvSpPr/>
          <p:nvPr/>
        </p:nvSpPr>
        <p:spPr>
          <a:xfrm>
            <a:off x="10485025" y="2889429"/>
            <a:ext cx="329184" cy="329184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3-E06 ellipse 25" descr="sci-ppt:o025"/>
          <p:cNvSpPr/>
          <p:nvPr/>
        </p:nvSpPr>
        <p:spPr>
          <a:xfrm>
            <a:off x="9302590" y="2889429"/>
            <a:ext cx="329184" cy="329184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C3-E06 ellipse 26" descr="sci-ppt:o026"/>
          <p:cNvSpPr/>
          <p:nvPr/>
        </p:nvSpPr>
        <p:spPr>
          <a:xfrm>
            <a:off x="8937197" y="1764866"/>
            <a:ext cx="329184" cy="329184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3-E06 text 27" descr="sci-ppt:o027"/>
          <p:cNvSpPr txBox="1"/>
          <p:nvPr/>
        </p:nvSpPr>
        <p:spPr>
          <a:xfrm>
            <a:off x="9418320" y="3429000"/>
            <a:ext cx="18288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N = 5</a:t>
            </a:r>
          </a:p>
        </p:txBody>
      </p:sp>
      <p:sp>
        <p:nvSpPr>
          <p:cNvPr id="30" name="C3-E06 text 28" descr="sci-ppt:o028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Regular polygons: pitch s joins adjacent bubble centres; diagonals have different lengths.</a:t>
            </a:r>
          </a:p>
        </p:txBody>
      </p:sp>
      <p:cxnSp>
        <p:nvCxnSpPr>
          <p:cNvPr id="31" name="C3-E06 line 29" descr="sci-ppt:o029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32" name="C3-E06 text 30" descr="sci-ppt:o030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N = 3, 4, 5 vertices</a:t>
            </a:r>
          </a:p>
        </p:txBody>
      </p:sp>
      <p:sp>
        <p:nvSpPr>
          <p:cNvPr id="33" name="C3-E06 text 31" descr="sci-ppt:o031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s neighbor pitch</a:t>
            </a:r>
          </a:p>
        </p:txBody>
      </p:sp>
      <p:sp>
        <p:nvSpPr>
          <p:cNvPr id="34" name="C3-E06 text 32" descr="sci-ppt:o032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d_k chord distances</a:t>
            </a:r>
          </a:p>
        </p:txBody>
      </p:sp>
      <p:sp>
        <p:nvSpPr>
          <p:cNvPr id="35" name="C3-E06 text 33" descr="sci-ppt:o033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S_N = Σ 1/d_k</a:t>
            </a:r>
          </a:p>
        </p:txBody>
      </p:sp>
      <p:sp>
        <p:nvSpPr>
          <p:cNvPr id="36" name="C3-E06 text 34" descr="sci-ppt:o034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k, π, sin, φ_g: geometry legend</a:t>
            </a:r>
          </a:p>
        </p:txBody>
      </p:sp>
      <p:sp>
        <p:nvSpPr>
          <p:cNvPr id="37" name="C3-E06 text 35" descr="sci-ppt:o035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Triangle: two neighbors at s</a:t>
            </a:r>
          </a:p>
        </p:txBody>
      </p:sp>
      <p:sp>
        <p:nvSpPr>
          <p:cNvPr id="38" name="C3-E06 text 36" descr="sci-ppt:o036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Square: two at s, one at √2 s</a:t>
            </a:r>
          </a:p>
        </p:txBody>
      </p:sp>
      <p:sp>
        <p:nvSpPr>
          <p:cNvPr id="39" name="C3-E06 text 37" descr="sci-ppt:o037"/>
          <p:cNvSpPr txBox="1"/>
          <p:nvPr/>
        </p:nvSpPr>
        <p:spPr>
          <a:xfrm>
            <a:off x="320040" y="614476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Pentagon: two at s, two at φ_g s</a:t>
            </a:r>
          </a:p>
        </p:txBody>
      </p:sp>
      <p:sp>
        <p:nvSpPr>
          <p:cNvPr id="40" name="C3-E06 text 38" descr="sci-ppt:o038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07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C3-E07 · Symmetric constant-pressure collapse control</a:t>
            </a:r>
          </a:p>
        </p:txBody>
      </p:sp>
      <p:sp>
        <p:nvSpPr>
          <p:cNvPr id="3" name="C3-E07 ellipse 1" descr="sci-ppt:o001"/>
          <p:cNvSpPr/>
          <p:nvPr/>
        </p:nvSpPr>
        <p:spPr>
          <a:xfrm>
            <a:off x="1417319" y="1280160"/>
            <a:ext cx="1554480" cy="155448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3-E07 ellipse 2" descr="sci-ppt:o002"/>
          <p:cNvSpPr/>
          <p:nvPr/>
        </p:nvSpPr>
        <p:spPr>
          <a:xfrm>
            <a:off x="7909560" y="1280160"/>
            <a:ext cx="1554480" cy="155448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3-E07 text 3" descr="sci-ppt:o003"/>
          <p:cNvSpPr txBox="1"/>
          <p:nvPr/>
        </p:nvSpPr>
        <p:spPr>
          <a:xfrm>
            <a:off x="1645920" y="1874519"/>
            <a:ext cx="14630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j: source</a:t>
            </a:r>
          </a:p>
        </p:txBody>
      </p:sp>
      <p:sp>
        <p:nvSpPr>
          <p:cNvPr id="6" name="C3-E07 text 4" descr="sci-ppt:o004"/>
          <p:cNvSpPr txBox="1"/>
          <p:nvPr/>
        </p:nvSpPr>
        <p:spPr>
          <a:xfrm>
            <a:off x="8138160" y="1874519"/>
            <a:ext cx="15544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i: receiver</a:t>
            </a:r>
          </a:p>
        </p:txBody>
      </p:sp>
      <p:cxnSp>
        <p:nvCxnSpPr>
          <p:cNvPr id="7" name="C3-E07 line 5" descr="sci-ppt:o005"/>
          <p:cNvCxnSpPr/>
          <p:nvPr/>
        </p:nvCxnSpPr>
        <p:spPr>
          <a:xfrm>
            <a:off x="2194560" y="3108960"/>
            <a:ext cx="649224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" name="C3-E07 text 6" descr="sci-ppt:o006"/>
          <p:cNvSpPr txBox="1"/>
          <p:nvPr/>
        </p:nvSpPr>
        <p:spPr>
          <a:xfrm>
            <a:off x="4846320" y="3200400"/>
            <a:ext cx="1828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d_ij</a:t>
            </a:r>
          </a:p>
        </p:txBody>
      </p:sp>
      <p:cxnSp>
        <p:nvCxnSpPr>
          <p:cNvPr id="9" name="C3-E07 arrow 7" descr="sci-ppt:o007"/>
          <p:cNvCxnSpPr/>
          <p:nvPr/>
        </p:nvCxnSpPr>
        <p:spPr>
          <a:xfrm>
            <a:off x="3108960" y="2057400"/>
            <a:ext cx="4617719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C3-E07 text 8" descr="sci-ppt:o008"/>
          <p:cNvSpPr txBox="1"/>
          <p:nvPr/>
        </p:nvSpPr>
        <p:spPr>
          <a:xfrm>
            <a:off x="3749039" y="1600200"/>
            <a:ext cx="39319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Shared liquid: ρ, p∞</a:t>
            </a:r>
          </a:p>
        </p:txBody>
      </p:sp>
      <p:sp>
        <p:nvSpPr>
          <p:cNvPr id="11" name="C3-E07 text 9" descr="sci-ppt:o009"/>
          <p:cNvSpPr txBox="1"/>
          <p:nvPr/>
        </p:nvSpPr>
        <p:spPr>
          <a:xfrm>
            <a:off x="548640" y="777240"/>
            <a:ext cx="1097280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Fixed centres; spherical cavities; R_i, R_j ≪ d_ij</a:t>
            </a:r>
          </a:p>
        </p:txBody>
      </p:sp>
      <p:cxnSp>
        <p:nvCxnSpPr>
          <p:cNvPr id="12" name="C3-E07 arrow 10" descr="sci-ppt:o010"/>
          <p:cNvCxnSpPr/>
          <p:nvPr/>
        </p:nvCxnSpPr>
        <p:spPr>
          <a:xfrm>
            <a:off x="1051560" y="2057400"/>
            <a:ext cx="347472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3" name="C3-E07 arrow 11" descr="sci-ppt:o011"/>
          <p:cNvCxnSpPr/>
          <p:nvPr/>
        </p:nvCxnSpPr>
        <p:spPr>
          <a:xfrm flipH="1">
            <a:off x="2990088" y="2057400"/>
            <a:ext cx="347472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4" name="C3-E07 text 12" descr="sci-ppt:o012"/>
          <p:cNvSpPr txBox="1"/>
          <p:nvPr/>
        </p:nvSpPr>
        <p:spPr>
          <a:xfrm>
            <a:off x="3703320" y="2423160"/>
            <a:ext cx="411480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Collapse branch: Ṙ &lt; 0</a:t>
            </a:r>
          </a:p>
        </p:txBody>
      </p:sp>
      <p:sp>
        <p:nvSpPr>
          <p:cNvPr id="15" name="C3-E07 text 13" descr="sci-ppt:o013"/>
          <p:cNvSpPr txBox="1"/>
          <p:nvPr/>
        </p:nvSpPr>
        <p:spPr>
          <a:xfrm>
            <a:off x="731520" y="3611880"/>
            <a:ext cx="1078992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Interaction increases effective liquid inertia; it adds no source energy.</a:t>
            </a:r>
          </a:p>
        </p:txBody>
      </p:sp>
      <p:cxnSp>
        <p:nvCxnSpPr>
          <p:cNvPr id="16" name="C3-E07 line 14" descr="sci-ppt:o014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7" name="C3-E07 text 15" descr="sci-ppt:o015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 = R_max at t = 0</a:t>
            </a:r>
          </a:p>
        </p:txBody>
      </p:sp>
      <p:sp>
        <p:nvSpPr>
          <p:cNvPr id="18" name="C3-E07 text 16" descr="sci-ppt:o016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Ṙ = 0 initially; R̈ inward</a:t>
            </a:r>
          </a:p>
        </p:txBody>
      </p:sp>
      <p:sp>
        <p:nvSpPr>
          <p:cNvPr id="19" name="C3-E07 text 17" descr="sci-ppt:o017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S, S_N neighbor sum</a:t>
            </a:r>
          </a:p>
        </p:txBody>
      </p:sp>
      <p:sp>
        <p:nvSpPr>
          <p:cNvPr id="20" name="C3-E07 text 18" descr="sci-ppt:o018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p_b inside; p∞ outside</a:t>
            </a:r>
          </a:p>
        </p:txBody>
      </p:sp>
      <p:sp>
        <p:nvSpPr>
          <p:cNvPr id="21" name="C3-E07 text 19" descr="sci-ppt:o019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Δp_c = p∞ − p_b</a:t>
            </a:r>
          </a:p>
        </p:txBody>
      </p:sp>
      <p:sp>
        <p:nvSpPr>
          <p:cNvPr id="22" name="C3-E07 text 20" descr="sci-ppt:o020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ρ shared liquid; SR dimensionless</a:t>
            </a:r>
          </a:p>
        </p:txBody>
      </p:sp>
      <p:sp>
        <p:nvSpPr>
          <p:cNvPr id="23" name="C3-E07 text 21" descr="sci-ppt:o021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The shared-liquid inertia factor is 1 + SR</a:t>
            </a:r>
          </a:p>
        </p:txBody>
      </p:sp>
      <p:sp>
        <p:nvSpPr>
          <p:cNvPr id="24" name="C3-E07 text 22" descr="sci-ppt:o022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This is a constrained radial control, not a jet simulation</a:t>
            </a:r>
          </a:p>
        </p:txBody>
      </p:sp>
      <p:sp>
        <p:nvSpPr>
          <p:cNvPr id="25" name="C3-E07 text 23" descr="sci-ppt:o023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08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C3-E08 · Chain rule and integrating-factor derivation</a:t>
            </a:r>
          </a:p>
        </p:txBody>
      </p:sp>
      <p:sp>
        <p:nvSpPr>
          <p:cNvPr id="3" name="C3-E08 ellipse 1" descr="sci-ppt:o001"/>
          <p:cNvSpPr/>
          <p:nvPr/>
        </p:nvSpPr>
        <p:spPr>
          <a:xfrm>
            <a:off x="1417319" y="1280160"/>
            <a:ext cx="1554480" cy="155448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3-E08 ellipse 2" descr="sci-ppt:o002"/>
          <p:cNvSpPr/>
          <p:nvPr/>
        </p:nvSpPr>
        <p:spPr>
          <a:xfrm>
            <a:off x="7909560" y="1280160"/>
            <a:ext cx="1554480" cy="155448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3-E08 text 3" descr="sci-ppt:o003"/>
          <p:cNvSpPr txBox="1"/>
          <p:nvPr/>
        </p:nvSpPr>
        <p:spPr>
          <a:xfrm>
            <a:off x="1645920" y="1874519"/>
            <a:ext cx="14630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j: source</a:t>
            </a:r>
          </a:p>
        </p:txBody>
      </p:sp>
      <p:sp>
        <p:nvSpPr>
          <p:cNvPr id="6" name="C3-E08 text 4" descr="sci-ppt:o004"/>
          <p:cNvSpPr txBox="1"/>
          <p:nvPr/>
        </p:nvSpPr>
        <p:spPr>
          <a:xfrm>
            <a:off x="8138160" y="1874519"/>
            <a:ext cx="15544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i: receiver</a:t>
            </a:r>
          </a:p>
        </p:txBody>
      </p:sp>
      <p:cxnSp>
        <p:nvCxnSpPr>
          <p:cNvPr id="7" name="C3-E08 line 5" descr="sci-ppt:o005"/>
          <p:cNvCxnSpPr/>
          <p:nvPr/>
        </p:nvCxnSpPr>
        <p:spPr>
          <a:xfrm>
            <a:off x="2194560" y="3108960"/>
            <a:ext cx="649224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" name="C3-E08 text 6" descr="sci-ppt:o006"/>
          <p:cNvSpPr txBox="1"/>
          <p:nvPr/>
        </p:nvSpPr>
        <p:spPr>
          <a:xfrm>
            <a:off x="4846320" y="3200400"/>
            <a:ext cx="1828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d_ij</a:t>
            </a:r>
          </a:p>
        </p:txBody>
      </p:sp>
      <p:cxnSp>
        <p:nvCxnSpPr>
          <p:cNvPr id="9" name="C3-E08 arrow 7" descr="sci-ppt:o007"/>
          <p:cNvCxnSpPr/>
          <p:nvPr/>
        </p:nvCxnSpPr>
        <p:spPr>
          <a:xfrm>
            <a:off x="3108960" y="2057400"/>
            <a:ext cx="4617719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C3-E08 text 8" descr="sci-ppt:o008"/>
          <p:cNvSpPr txBox="1"/>
          <p:nvPr/>
        </p:nvSpPr>
        <p:spPr>
          <a:xfrm>
            <a:off x="3749039" y="1600200"/>
            <a:ext cx="39319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Shared liquid: ρ, p∞</a:t>
            </a:r>
          </a:p>
        </p:txBody>
      </p:sp>
      <p:sp>
        <p:nvSpPr>
          <p:cNvPr id="11" name="C3-E08 text 9" descr="sci-ppt:o009"/>
          <p:cNvSpPr txBox="1"/>
          <p:nvPr/>
        </p:nvSpPr>
        <p:spPr>
          <a:xfrm>
            <a:off x="548640" y="777240"/>
            <a:ext cx="1097280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Fixed centres; spherical cavities; R_i, R_j ≪ d_ij</a:t>
            </a:r>
          </a:p>
        </p:txBody>
      </p:sp>
      <p:cxnSp>
        <p:nvCxnSpPr>
          <p:cNvPr id="12" name="C3-E08 arrow 10" descr="sci-ppt:o010"/>
          <p:cNvCxnSpPr/>
          <p:nvPr/>
        </p:nvCxnSpPr>
        <p:spPr>
          <a:xfrm>
            <a:off x="1051560" y="2057400"/>
            <a:ext cx="347472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3" name="C3-E08 arrow 11" descr="sci-ppt:o011"/>
          <p:cNvCxnSpPr/>
          <p:nvPr/>
        </p:nvCxnSpPr>
        <p:spPr>
          <a:xfrm flipH="1">
            <a:off x="2990088" y="2057400"/>
            <a:ext cx="347472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4" name="C3-E08 text 12" descr="sci-ppt:o012"/>
          <p:cNvSpPr txBox="1"/>
          <p:nvPr/>
        </p:nvSpPr>
        <p:spPr>
          <a:xfrm>
            <a:off x="3703320" y="2423160"/>
            <a:ext cx="411480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Collapse branch: Ṙ &lt; 0</a:t>
            </a:r>
          </a:p>
        </p:txBody>
      </p:sp>
      <p:sp>
        <p:nvSpPr>
          <p:cNvPr id="15" name="C3-E08 text 13" descr="sci-ppt:o013"/>
          <p:cNvSpPr txBox="1"/>
          <p:nvPr/>
        </p:nvSpPr>
        <p:spPr>
          <a:xfrm>
            <a:off x="731520" y="3611880"/>
            <a:ext cx="1078992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Interaction increases effective liquid inertia; it adds no source energy.</a:t>
            </a:r>
          </a:p>
        </p:txBody>
      </p:sp>
      <p:cxnSp>
        <p:nvCxnSpPr>
          <p:cNvPr id="16" name="C3-E08 line 14" descr="sci-ppt:o014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7" name="C3-E08 text 15" descr="sci-ppt:o015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R, Ṙ, R̈: contracting bubble</a:t>
            </a:r>
          </a:p>
        </p:txBody>
      </p:sp>
      <p:sp>
        <p:nvSpPr>
          <p:cNvPr id="18" name="C3-E08 text 16" descr="sci-ppt:o016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y = Ṙ²; y′ = dy/dR</a:t>
            </a:r>
          </a:p>
        </p:txBody>
      </p:sp>
      <p:sp>
        <p:nvSpPr>
          <p:cNvPr id="19" name="C3-E08 text 17" descr="sci-ppt:o017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S, ρ, Δp_c</a:t>
            </a:r>
          </a:p>
        </p:txBody>
      </p:sp>
      <p:sp>
        <p:nvSpPr>
          <p:cNvPr id="20" name="C3-E08 text 18" descr="sci-ppt:o018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R³(1 + SR) liquid-inertia factor</a:t>
            </a:r>
          </a:p>
        </p:txBody>
      </p:sp>
      <p:sp>
        <p:nvSpPr>
          <p:cNvPr id="21" name="C3-E08 text 19" descr="sci-ppt:o019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ℓ_*: dimensional reference; ln, d/dR</a:t>
            </a:r>
          </a:p>
        </p:txBody>
      </p:sp>
      <p:sp>
        <p:nvSpPr>
          <p:cNvPr id="22" name="C3-E08 text 20" descr="sci-ppt:o020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Restrict cancellation to Ṙ ≠ 0</a:t>
            </a:r>
          </a:p>
        </p:txBody>
      </p:sp>
      <p:sp>
        <p:nvSpPr>
          <p:cNvPr id="23" name="C3-E08 text 21" descr="sci-ppt:o021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Continuous initial limit restores Ṙ = 0</a:t>
            </a:r>
          </a:p>
        </p:txBody>
      </p:sp>
      <p:sp>
        <p:nvSpPr>
          <p:cNvPr id="24" name="C3-E08 text 22" descr="sci-ppt:o022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09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C3-E09 · Integrated solution on the inward branch</a:t>
            </a:r>
          </a:p>
        </p:txBody>
      </p:sp>
      <p:sp>
        <p:nvSpPr>
          <p:cNvPr id="3" name="C3-E09 ellipse 1" descr="sci-ppt:o001"/>
          <p:cNvSpPr/>
          <p:nvPr/>
        </p:nvSpPr>
        <p:spPr>
          <a:xfrm>
            <a:off x="1417319" y="1280160"/>
            <a:ext cx="1554480" cy="155448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3-E09 ellipse 2" descr="sci-ppt:o002"/>
          <p:cNvSpPr/>
          <p:nvPr/>
        </p:nvSpPr>
        <p:spPr>
          <a:xfrm>
            <a:off x="7909560" y="1280160"/>
            <a:ext cx="1554480" cy="155448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3-E09 text 3" descr="sci-ppt:o003"/>
          <p:cNvSpPr txBox="1"/>
          <p:nvPr/>
        </p:nvSpPr>
        <p:spPr>
          <a:xfrm>
            <a:off x="1645920" y="1874519"/>
            <a:ext cx="14630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j: source</a:t>
            </a:r>
          </a:p>
        </p:txBody>
      </p:sp>
      <p:sp>
        <p:nvSpPr>
          <p:cNvPr id="6" name="C3-E09 text 4" descr="sci-ppt:o004"/>
          <p:cNvSpPr txBox="1"/>
          <p:nvPr/>
        </p:nvSpPr>
        <p:spPr>
          <a:xfrm>
            <a:off x="8138160" y="1874519"/>
            <a:ext cx="15544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i: receiver</a:t>
            </a:r>
          </a:p>
        </p:txBody>
      </p:sp>
      <p:cxnSp>
        <p:nvCxnSpPr>
          <p:cNvPr id="7" name="C3-E09 line 5" descr="sci-ppt:o005"/>
          <p:cNvCxnSpPr/>
          <p:nvPr/>
        </p:nvCxnSpPr>
        <p:spPr>
          <a:xfrm>
            <a:off x="2194560" y="3108960"/>
            <a:ext cx="649224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" name="C3-E09 text 6" descr="sci-ppt:o006"/>
          <p:cNvSpPr txBox="1"/>
          <p:nvPr/>
        </p:nvSpPr>
        <p:spPr>
          <a:xfrm>
            <a:off x="4846320" y="3200400"/>
            <a:ext cx="1828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d_ij</a:t>
            </a:r>
          </a:p>
        </p:txBody>
      </p:sp>
      <p:cxnSp>
        <p:nvCxnSpPr>
          <p:cNvPr id="9" name="C3-E09 arrow 7" descr="sci-ppt:o007"/>
          <p:cNvCxnSpPr/>
          <p:nvPr/>
        </p:nvCxnSpPr>
        <p:spPr>
          <a:xfrm>
            <a:off x="3108960" y="2057400"/>
            <a:ext cx="4617719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C3-E09 text 8" descr="sci-ppt:o008"/>
          <p:cNvSpPr txBox="1"/>
          <p:nvPr/>
        </p:nvSpPr>
        <p:spPr>
          <a:xfrm>
            <a:off x="3749039" y="1600200"/>
            <a:ext cx="39319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Shared liquid: ρ, p∞</a:t>
            </a:r>
          </a:p>
        </p:txBody>
      </p:sp>
      <p:sp>
        <p:nvSpPr>
          <p:cNvPr id="11" name="C3-E09 text 9" descr="sci-ppt:o009"/>
          <p:cNvSpPr txBox="1"/>
          <p:nvPr/>
        </p:nvSpPr>
        <p:spPr>
          <a:xfrm>
            <a:off x="548640" y="777240"/>
            <a:ext cx="1097280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Fixed centres; spherical cavities; R_i, R_j ≪ d_ij</a:t>
            </a:r>
          </a:p>
        </p:txBody>
      </p:sp>
      <p:cxnSp>
        <p:nvCxnSpPr>
          <p:cNvPr id="12" name="C3-E09 arrow 10" descr="sci-ppt:o010"/>
          <p:cNvCxnSpPr/>
          <p:nvPr/>
        </p:nvCxnSpPr>
        <p:spPr>
          <a:xfrm>
            <a:off x="1051560" y="2057400"/>
            <a:ext cx="347472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3" name="C3-E09 arrow 11" descr="sci-ppt:o011"/>
          <p:cNvCxnSpPr/>
          <p:nvPr/>
        </p:nvCxnSpPr>
        <p:spPr>
          <a:xfrm flipH="1">
            <a:off x="2990088" y="2057400"/>
            <a:ext cx="347472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4" name="C3-E09 text 12" descr="sci-ppt:o012"/>
          <p:cNvSpPr txBox="1"/>
          <p:nvPr/>
        </p:nvSpPr>
        <p:spPr>
          <a:xfrm>
            <a:off x="3703320" y="2423160"/>
            <a:ext cx="411480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Collapse branch: Ṙ &lt; 0</a:t>
            </a:r>
          </a:p>
        </p:txBody>
      </p:sp>
      <p:sp>
        <p:nvSpPr>
          <p:cNvPr id="15" name="C3-E09 text 13" descr="sci-ppt:o013"/>
          <p:cNvSpPr txBox="1"/>
          <p:nvPr/>
        </p:nvSpPr>
        <p:spPr>
          <a:xfrm>
            <a:off x="731520" y="3611880"/>
            <a:ext cx="1078992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Interaction increases effective liquid inertia; it adds no source energy.</a:t>
            </a:r>
          </a:p>
        </p:txBody>
      </p:sp>
      <p:cxnSp>
        <p:nvCxnSpPr>
          <p:cNvPr id="16" name="C3-E09 line 14" descr="sci-ppt:o014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7" name="C3-E09 text 15" descr="sci-ppt:o015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R_max initial radius</a:t>
            </a:r>
          </a:p>
        </p:txBody>
      </p:sp>
      <p:sp>
        <p:nvSpPr>
          <p:cNvPr id="18" name="C3-E09 text 16" descr="sci-ppt:o016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 contracting radius; ξ integration radius</a:t>
            </a:r>
          </a:p>
        </p:txBody>
      </p:sp>
      <p:sp>
        <p:nvSpPr>
          <p:cNvPr id="19" name="C3-E09 text 17" descr="sci-ppt:o017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Ṙ &lt; 0; y = Ṙ²</a:t>
            </a:r>
          </a:p>
        </p:txBody>
      </p:sp>
      <p:sp>
        <p:nvSpPr>
          <p:cNvPr id="20" name="C3-E09 text 18" descr="sci-ppt:o018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S, ρ, Δp_c</a:t>
            </a:r>
          </a:p>
        </p:txBody>
      </p:sp>
      <p:sp>
        <p:nvSpPr>
          <p:cNvPr id="21" name="C3-E09 text 19" descr="sci-ppt:o019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Endpoint condition y(R_max) = 0</a:t>
            </a:r>
          </a:p>
        </p:txBody>
      </p:sp>
      <p:sp>
        <p:nvSpPr>
          <p:cNvPr id="22" name="C3-E09 text 20" descr="sci-ppt:o020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At identical relative radius, interaction lowers speed</a:t>
            </a:r>
          </a:p>
        </p:txBody>
      </p:sp>
      <p:sp>
        <p:nvSpPr>
          <p:cNvPr id="23" name="C3-E09 text 21" descr="sci-ppt:o021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The zero-radius endpoint remains formal</a:t>
            </a:r>
          </a:p>
        </p:txBody>
      </p:sp>
      <p:sp>
        <p:nvSpPr>
          <p:cNvPr id="24" name="C3-E09 text 22" descr="sci-ppt:o022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10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C3-E10 · Collapse-time quadrature and sign check</a:t>
            </a:r>
          </a:p>
        </p:txBody>
      </p:sp>
      <p:cxnSp>
        <p:nvCxnSpPr>
          <p:cNvPr id="3" name="C3-E10 arrow 1" descr="sci-ppt:o001"/>
          <p:cNvCxnSpPr/>
          <p:nvPr/>
        </p:nvCxnSpPr>
        <p:spPr>
          <a:xfrm>
            <a:off x="1097280" y="3291840"/>
            <a:ext cx="969264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4" name="C3-E10 arrow 2" descr="sci-ppt:o002"/>
          <p:cNvCxnSpPr/>
          <p:nvPr/>
        </p:nvCxnSpPr>
        <p:spPr>
          <a:xfrm flipV="1">
            <a:off x="1097280" y="822960"/>
            <a:ext cx="0" cy="24688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5" name="C3-E10 line 3" descr="sci-ppt:o003"/>
          <p:cNvCxnSpPr/>
          <p:nvPr/>
        </p:nvCxnSpPr>
        <p:spPr>
          <a:xfrm>
            <a:off x="1097280" y="1097280"/>
            <a:ext cx="113157" cy="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3-E10 line 4" descr="sci-ppt:o004"/>
          <p:cNvCxnSpPr/>
          <p:nvPr/>
        </p:nvCxnSpPr>
        <p:spPr>
          <a:xfrm>
            <a:off x="1210437" y="1097284"/>
            <a:ext cx="113157" cy="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3-E10 line 5" descr="sci-ppt:o005"/>
          <p:cNvCxnSpPr/>
          <p:nvPr/>
        </p:nvCxnSpPr>
        <p:spPr>
          <a:xfrm>
            <a:off x="1323594" y="1097314"/>
            <a:ext cx="113157" cy="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" name="C3-E10 line 6" descr="sci-ppt:o006"/>
          <p:cNvCxnSpPr/>
          <p:nvPr/>
        </p:nvCxnSpPr>
        <p:spPr>
          <a:xfrm>
            <a:off x="1436751" y="1097395"/>
            <a:ext cx="113156" cy="15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9" name="C3-E10 line 7" descr="sci-ppt:o007"/>
          <p:cNvCxnSpPr/>
          <p:nvPr/>
        </p:nvCxnSpPr>
        <p:spPr>
          <a:xfrm>
            <a:off x="1549907" y="1097554"/>
            <a:ext cx="113158" cy="2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0" name="C3-E10 line 8" descr="sci-ppt:o008"/>
          <p:cNvCxnSpPr/>
          <p:nvPr/>
        </p:nvCxnSpPr>
        <p:spPr>
          <a:xfrm>
            <a:off x="1663065" y="1097815"/>
            <a:ext cx="113157" cy="3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C3-E10 line 9" descr="sci-ppt:o009"/>
          <p:cNvCxnSpPr/>
          <p:nvPr/>
        </p:nvCxnSpPr>
        <p:spPr>
          <a:xfrm>
            <a:off x="1776222" y="1098205"/>
            <a:ext cx="113157" cy="54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C3-E10 line 10" descr="sci-ppt:o010"/>
          <p:cNvCxnSpPr/>
          <p:nvPr/>
        </p:nvCxnSpPr>
        <p:spPr>
          <a:xfrm>
            <a:off x="1889379" y="1098750"/>
            <a:ext cx="113157" cy="7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C3-E10 line 11" descr="sci-ppt:o011"/>
          <p:cNvCxnSpPr/>
          <p:nvPr/>
        </p:nvCxnSpPr>
        <p:spPr>
          <a:xfrm>
            <a:off x="2002536" y="1099474"/>
            <a:ext cx="113157" cy="9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C3-E10 line 12" descr="sci-ppt:o012"/>
          <p:cNvCxnSpPr/>
          <p:nvPr/>
        </p:nvCxnSpPr>
        <p:spPr>
          <a:xfrm>
            <a:off x="2115693" y="1100404"/>
            <a:ext cx="113157" cy="116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C3-E10 line 13" descr="sci-ppt:o013"/>
          <p:cNvCxnSpPr/>
          <p:nvPr/>
        </p:nvCxnSpPr>
        <p:spPr>
          <a:xfrm>
            <a:off x="2228850" y="1101566"/>
            <a:ext cx="113157" cy="141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C3-E10 line 14" descr="sci-ppt:o014"/>
          <p:cNvCxnSpPr/>
          <p:nvPr/>
        </p:nvCxnSpPr>
        <p:spPr>
          <a:xfrm>
            <a:off x="2342007" y="1102984"/>
            <a:ext cx="113157" cy="17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C3-E10 line 15" descr="sci-ppt:o015"/>
          <p:cNvCxnSpPr/>
          <p:nvPr/>
        </p:nvCxnSpPr>
        <p:spPr>
          <a:xfrm>
            <a:off x="2455164" y="1104686"/>
            <a:ext cx="113157" cy="201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C3-E10 line 16" descr="sci-ppt:o016"/>
          <p:cNvCxnSpPr/>
          <p:nvPr/>
        </p:nvCxnSpPr>
        <p:spPr>
          <a:xfrm>
            <a:off x="2568321" y="1106696"/>
            <a:ext cx="113157" cy="234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C3-E10 line 17" descr="sci-ppt:o017"/>
          <p:cNvCxnSpPr/>
          <p:nvPr/>
        </p:nvCxnSpPr>
        <p:spPr>
          <a:xfrm>
            <a:off x="2681478" y="1109041"/>
            <a:ext cx="113157" cy="270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C3-E10 line 18" descr="sci-ppt:o018"/>
          <p:cNvCxnSpPr/>
          <p:nvPr/>
        </p:nvCxnSpPr>
        <p:spPr>
          <a:xfrm>
            <a:off x="2794635" y="1111746"/>
            <a:ext cx="113156" cy="30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C3-E10 line 19" descr="sci-ppt:o019"/>
          <p:cNvCxnSpPr/>
          <p:nvPr/>
        </p:nvCxnSpPr>
        <p:spPr>
          <a:xfrm>
            <a:off x="2907791" y="1114836"/>
            <a:ext cx="113158" cy="35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C3-E10 line 20" descr="sci-ppt:o020"/>
          <p:cNvCxnSpPr/>
          <p:nvPr/>
        </p:nvCxnSpPr>
        <p:spPr>
          <a:xfrm>
            <a:off x="3020949" y="1118338"/>
            <a:ext cx="113157" cy="393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C3-E10 line 21" descr="sci-ppt:o021"/>
          <p:cNvCxnSpPr/>
          <p:nvPr/>
        </p:nvCxnSpPr>
        <p:spPr>
          <a:xfrm>
            <a:off x="3134106" y="1122277"/>
            <a:ext cx="113156" cy="44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C3-E10 line 22" descr="sci-ppt:o022"/>
          <p:cNvCxnSpPr/>
          <p:nvPr/>
        </p:nvCxnSpPr>
        <p:spPr>
          <a:xfrm>
            <a:off x="3247262" y="1126679"/>
            <a:ext cx="113158" cy="48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C3-E10 line 23" descr="sci-ppt:o023"/>
          <p:cNvCxnSpPr/>
          <p:nvPr/>
        </p:nvCxnSpPr>
        <p:spPr>
          <a:xfrm>
            <a:off x="3360420" y="1131570"/>
            <a:ext cx="113157" cy="54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C3-E10 line 24" descr="sci-ppt:o024"/>
          <p:cNvCxnSpPr/>
          <p:nvPr/>
        </p:nvCxnSpPr>
        <p:spPr>
          <a:xfrm>
            <a:off x="3473577" y="1136974"/>
            <a:ext cx="113157" cy="594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C3-E10 line 25" descr="sci-ppt:o025"/>
          <p:cNvCxnSpPr/>
          <p:nvPr/>
        </p:nvCxnSpPr>
        <p:spPr>
          <a:xfrm>
            <a:off x="3586734" y="1142919"/>
            <a:ext cx="113157" cy="65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C3-E10 line 26" descr="sci-ppt:o026"/>
          <p:cNvCxnSpPr/>
          <p:nvPr/>
        </p:nvCxnSpPr>
        <p:spPr>
          <a:xfrm>
            <a:off x="3699891" y="1149430"/>
            <a:ext cx="113157" cy="71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C3-E10 line 27" descr="sci-ppt:o027"/>
          <p:cNvCxnSpPr/>
          <p:nvPr/>
        </p:nvCxnSpPr>
        <p:spPr>
          <a:xfrm>
            <a:off x="3813048" y="1156533"/>
            <a:ext cx="113157" cy="771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C3-E10 line 28" descr="sci-ppt:o028"/>
          <p:cNvCxnSpPr/>
          <p:nvPr/>
        </p:nvCxnSpPr>
        <p:spPr>
          <a:xfrm>
            <a:off x="3926205" y="1164252"/>
            <a:ext cx="113157" cy="83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C3-E10 line 29" descr="sci-ppt:o029"/>
          <p:cNvCxnSpPr/>
          <p:nvPr/>
        </p:nvCxnSpPr>
        <p:spPr>
          <a:xfrm>
            <a:off x="4039362" y="1172615"/>
            <a:ext cx="113157" cy="903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C3-E10 line 30" descr="sci-ppt:o030"/>
          <p:cNvCxnSpPr/>
          <p:nvPr/>
        </p:nvCxnSpPr>
        <p:spPr>
          <a:xfrm>
            <a:off x="4152519" y="1181646"/>
            <a:ext cx="113157" cy="972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C3-E10 line 31" descr="sci-ppt:o031"/>
          <p:cNvCxnSpPr/>
          <p:nvPr/>
        </p:nvCxnSpPr>
        <p:spPr>
          <a:xfrm>
            <a:off x="4265676" y="1191371"/>
            <a:ext cx="113157" cy="1044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C3-E10 line 32" descr="sci-ppt:o032"/>
          <p:cNvCxnSpPr/>
          <p:nvPr/>
        </p:nvCxnSpPr>
        <p:spPr>
          <a:xfrm>
            <a:off x="4378833" y="1201817"/>
            <a:ext cx="113157" cy="111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C3-E10 line 33" descr="sci-ppt:o033"/>
          <p:cNvCxnSpPr/>
          <p:nvPr/>
        </p:nvCxnSpPr>
        <p:spPr>
          <a:xfrm>
            <a:off x="4491990" y="1213008"/>
            <a:ext cx="113157" cy="11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C3-E10 line 34" descr="sci-ppt:o034"/>
          <p:cNvCxnSpPr/>
          <p:nvPr/>
        </p:nvCxnSpPr>
        <p:spPr>
          <a:xfrm>
            <a:off x="4605147" y="1224971"/>
            <a:ext cx="113157" cy="12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C3-E10 line 35" descr="sci-ppt:o035"/>
          <p:cNvCxnSpPr/>
          <p:nvPr/>
        </p:nvCxnSpPr>
        <p:spPr>
          <a:xfrm>
            <a:off x="4718304" y="1237731"/>
            <a:ext cx="113157" cy="135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C3-E10 line 36" descr="sci-ppt:o036"/>
          <p:cNvCxnSpPr/>
          <p:nvPr/>
        </p:nvCxnSpPr>
        <p:spPr>
          <a:xfrm>
            <a:off x="4831461" y="1251314"/>
            <a:ext cx="113157" cy="1443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C3-E10 line 37" descr="sci-ppt:o037"/>
          <p:cNvCxnSpPr/>
          <p:nvPr/>
        </p:nvCxnSpPr>
        <p:spPr>
          <a:xfrm>
            <a:off x="4944618" y="1265746"/>
            <a:ext cx="113157" cy="1530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C3-E10 line 38" descr="sci-ppt:o038"/>
          <p:cNvCxnSpPr/>
          <p:nvPr/>
        </p:nvCxnSpPr>
        <p:spPr>
          <a:xfrm>
            <a:off x="5057775" y="1281052"/>
            <a:ext cx="113157" cy="162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C3-E10 line 39" descr="sci-ppt:o039"/>
          <p:cNvCxnSpPr/>
          <p:nvPr/>
        </p:nvCxnSpPr>
        <p:spPr>
          <a:xfrm>
            <a:off x="5170932" y="1297259"/>
            <a:ext cx="113157" cy="1713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C3-E10 line 40" descr="sci-ppt:o040"/>
          <p:cNvCxnSpPr/>
          <p:nvPr/>
        </p:nvCxnSpPr>
        <p:spPr>
          <a:xfrm>
            <a:off x="5284089" y="1314391"/>
            <a:ext cx="113157" cy="1808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C3-E10 line 41" descr="sci-ppt:o041"/>
          <p:cNvCxnSpPr/>
          <p:nvPr/>
        </p:nvCxnSpPr>
        <p:spPr>
          <a:xfrm>
            <a:off x="5397246" y="1332475"/>
            <a:ext cx="113157" cy="190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C3-E10 line 42" descr="sci-ppt:o042"/>
          <p:cNvCxnSpPr/>
          <p:nvPr/>
        </p:nvCxnSpPr>
        <p:spPr>
          <a:xfrm>
            <a:off x="5510403" y="1351536"/>
            <a:ext cx="113157" cy="2006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C3-E10 line 43" descr="sci-ppt:o043"/>
          <p:cNvCxnSpPr/>
          <p:nvPr/>
        </p:nvCxnSpPr>
        <p:spPr>
          <a:xfrm>
            <a:off x="5623560" y="1371600"/>
            <a:ext cx="113157" cy="210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C3-E10 line 44" descr="sci-ppt:o044"/>
          <p:cNvCxnSpPr/>
          <p:nvPr/>
        </p:nvCxnSpPr>
        <p:spPr>
          <a:xfrm>
            <a:off x="5736717" y="1392692"/>
            <a:ext cx="113157" cy="2214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C3-E10 line 45" descr="sci-ppt:o045"/>
          <p:cNvCxnSpPr/>
          <p:nvPr/>
        </p:nvCxnSpPr>
        <p:spPr>
          <a:xfrm>
            <a:off x="5849874" y="1414839"/>
            <a:ext cx="113157" cy="2322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C3-E10 line 46" descr="sci-ppt:o046"/>
          <p:cNvCxnSpPr/>
          <p:nvPr/>
        </p:nvCxnSpPr>
        <p:spPr>
          <a:xfrm>
            <a:off x="5963031" y="1438066"/>
            <a:ext cx="113157" cy="2433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C3-E10 line 47" descr="sci-ppt:o047"/>
          <p:cNvCxnSpPr/>
          <p:nvPr/>
        </p:nvCxnSpPr>
        <p:spPr>
          <a:xfrm>
            <a:off x="6076188" y="1462399"/>
            <a:ext cx="113157" cy="2546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C3-E10 line 48" descr="sci-ppt:o048"/>
          <p:cNvCxnSpPr/>
          <p:nvPr/>
        </p:nvCxnSpPr>
        <p:spPr>
          <a:xfrm>
            <a:off x="6189345" y="1487864"/>
            <a:ext cx="113157" cy="2662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C3-E10 line 49" descr="sci-ppt:o049"/>
          <p:cNvCxnSpPr/>
          <p:nvPr/>
        </p:nvCxnSpPr>
        <p:spPr>
          <a:xfrm>
            <a:off x="6302502" y="1514486"/>
            <a:ext cx="113157" cy="2780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2" name="C3-E10 line 50" descr="sci-ppt:o050"/>
          <p:cNvCxnSpPr/>
          <p:nvPr/>
        </p:nvCxnSpPr>
        <p:spPr>
          <a:xfrm>
            <a:off x="6415659" y="1542291"/>
            <a:ext cx="113157" cy="290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3" name="C3-E10 line 51" descr="sci-ppt:o051"/>
          <p:cNvCxnSpPr/>
          <p:nvPr/>
        </p:nvCxnSpPr>
        <p:spPr>
          <a:xfrm>
            <a:off x="6528816" y="1571304"/>
            <a:ext cx="113157" cy="3024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4" name="C3-E10 line 52" descr="sci-ppt:o052"/>
          <p:cNvCxnSpPr/>
          <p:nvPr/>
        </p:nvCxnSpPr>
        <p:spPr>
          <a:xfrm>
            <a:off x="6641973" y="1601553"/>
            <a:ext cx="113157" cy="3150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5" name="C3-E10 line 53" descr="sci-ppt:o053"/>
          <p:cNvCxnSpPr/>
          <p:nvPr/>
        </p:nvCxnSpPr>
        <p:spPr>
          <a:xfrm>
            <a:off x="6755130" y="1633061"/>
            <a:ext cx="113157" cy="3279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6" name="C3-E10 line 54" descr="sci-ppt:o054"/>
          <p:cNvCxnSpPr/>
          <p:nvPr/>
        </p:nvCxnSpPr>
        <p:spPr>
          <a:xfrm>
            <a:off x="6868287" y="1665855"/>
            <a:ext cx="113157" cy="3410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7" name="C3-E10 line 55" descr="sci-ppt:o055"/>
          <p:cNvCxnSpPr/>
          <p:nvPr/>
        </p:nvCxnSpPr>
        <p:spPr>
          <a:xfrm>
            <a:off x="6981444" y="1699961"/>
            <a:ext cx="113157" cy="3544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8" name="C3-E10 line 56" descr="sci-ppt:o056"/>
          <p:cNvCxnSpPr/>
          <p:nvPr/>
        </p:nvCxnSpPr>
        <p:spPr>
          <a:xfrm>
            <a:off x="7094601" y="1735404"/>
            <a:ext cx="113157" cy="3680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9" name="C3-E10 line 57" descr="sci-ppt:o057"/>
          <p:cNvCxnSpPr/>
          <p:nvPr/>
        </p:nvCxnSpPr>
        <p:spPr>
          <a:xfrm>
            <a:off x="7207758" y="1772210"/>
            <a:ext cx="113157" cy="3819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0" name="C3-E10 line 58" descr="sci-ppt:o058"/>
          <p:cNvCxnSpPr/>
          <p:nvPr/>
        </p:nvCxnSpPr>
        <p:spPr>
          <a:xfrm>
            <a:off x="7320915" y="1810404"/>
            <a:ext cx="113156" cy="3961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1" name="C3-E10 line 59" descr="sci-ppt:o059"/>
          <p:cNvCxnSpPr/>
          <p:nvPr/>
        </p:nvCxnSpPr>
        <p:spPr>
          <a:xfrm>
            <a:off x="7434071" y="1850014"/>
            <a:ext cx="113158" cy="4104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2" name="C3-E10 line 60" descr="sci-ppt:o060"/>
          <p:cNvCxnSpPr/>
          <p:nvPr/>
        </p:nvCxnSpPr>
        <p:spPr>
          <a:xfrm>
            <a:off x="7547229" y="1891063"/>
            <a:ext cx="113157" cy="425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3" name="C3-E10 line 61" descr="sci-ppt:o061"/>
          <p:cNvCxnSpPr/>
          <p:nvPr/>
        </p:nvCxnSpPr>
        <p:spPr>
          <a:xfrm>
            <a:off x="7660386" y="1933578"/>
            <a:ext cx="113157" cy="440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4" name="C3-E10 line 62" descr="sci-ppt:o062"/>
          <p:cNvCxnSpPr/>
          <p:nvPr/>
        </p:nvCxnSpPr>
        <p:spPr>
          <a:xfrm>
            <a:off x="7773543" y="1977585"/>
            <a:ext cx="113157" cy="4552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5" name="C3-E10 line 63" descr="sci-ppt:o063"/>
          <p:cNvCxnSpPr/>
          <p:nvPr/>
        </p:nvCxnSpPr>
        <p:spPr>
          <a:xfrm>
            <a:off x="7886700" y="2023110"/>
            <a:ext cx="113156" cy="470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6" name="C3-E10 line 64" descr="sci-ppt:o064"/>
          <p:cNvCxnSpPr/>
          <p:nvPr/>
        </p:nvCxnSpPr>
        <p:spPr>
          <a:xfrm>
            <a:off x="7999856" y="2070177"/>
            <a:ext cx="113158" cy="486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7" name="C3-E10 line 65" descr="sci-ppt:o065"/>
          <p:cNvCxnSpPr/>
          <p:nvPr/>
        </p:nvCxnSpPr>
        <p:spPr>
          <a:xfrm>
            <a:off x="8113014" y="2118813"/>
            <a:ext cx="113157" cy="502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8" name="C3-E10 line 66" descr="sci-ppt:o066"/>
          <p:cNvCxnSpPr/>
          <p:nvPr/>
        </p:nvCxnSpPr>
        <p:spPr>
          <a:xfrm>
            <a:off x="8226171" y="2169043"/>
            <a:ext cx="113156" cy="518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9" name="C3-E10 line 67" descr="sci-ppt:o067"/>
          <p:cNvCxnSpPr/>
          <p:nvPr/>
        </p:nvCxnSpPr>
        <p:spPr>
          <a:xfrm>
            <a:off x="8339327" y="2220894"/>
            <a:ext cx="113157" cy="534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0" name="C3-E10 line 68" descr="sci-ppt:o068"/>
          <p:cNvCxnSpPr/>
          <p:nvPr/>
        </p:nvCxnSpPr>
        <p:spPr>
          <a:xfrm>
            <a:off x="8452484" y="2274391"/>
            <a:ext cx="113158" cy="5516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1" name="C3-E10 line 69" descr="sci-ppt:o069"/>
          <p:cNvCxnSpPr/>
          <p:nvPr/>
        </p:nvCxnSpPr>
        <p:spPr>
          <a:xfrm>
            <a:off x="8565642" y="2329559"/>
            <a:ext cx="113157" cy="5686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2" name="C3-E10 line 70" descr="sci-ppt:o070"/>
          <p:cNvCxnSpPr/>
          <p:nvPr/>
        </p:nvCxnSpPr>
        <p:spPr>
          <a:xfrm>
            <a:off x="8678799" y="2386425"/>
            <a:ext cx="113157" cy="585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3" name="C3-E10 line 71" descr="sci-ppt:o071"/>
          <p:cNvCxnSpPr/>
          <p:nvPr/>
        </p:nvCxnSpPr>
        <p:spPr>
          <a:xfrm>
            <a:off x="8791956" y="2445014"/>
            <a:ext cx="113157" cy="603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4" name="C3-E10 line 72" descr="sci-ppt:o072"/>
          <p:cNvCxnSpPr/>
          <p:nvPr/>
        </p:nvCxnSpPr>
        <p:spPr>
          <a:xfrm>
            <a:off x="8905113" y="2505351"/>
            <a:ext cx="113156" cy="6211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5" name="C3-E10 line 73" descr="sci-ppt:o073"/>
          <p:cNvCxnSpPr/>
          <p:nvPr/>
        </p:nvCxnSpPr>
        <p:spPr>
          <a:xfrm>
            <a:off x="9018269" y="2567463"/>
            <a:ext cx="113157" cy="639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6" name="C3-E10 line 74" descr="sci-ppt:o074"/>
          <p:cNvCxnSpPr/>
          <p:nvPr/>
        </p:nvCxnSpPr>
        <p:spPr>
          <a:xfrm>
            <a:off x="9131426" y="2631376"/>
            <a:ext cx="113158" cy="6573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7" name="C3-E10 line 75" descr="sci-ppt:o075"/>
          <p:cNvCxnSpPr/>
          <p:nvPr/>
        </p:nvCxnSpPr>
        <p:spPr>
          <a:xfrm>
            <a:off x="9244584" y="2697114"/>
            <a:ext cx="113157" cy="675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8" name="C3-E10 line 76" descr="sci-ppt:o076"/>
          <p:cNvCxnSpPr/>
          <p:nvPr/>
        </p:nvCxnSpPr>
        <p:spPr>
          <a:xfrm>
            <a:off x="9357741" y="2764704"/>
            <a:ext cx="113157" cy="694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9" name="C3-E10 line 77" descr="sci-ppt:o077"/>
          <p:cNvCxnSpPr/>
          <p:nvPr/>
        </p:nvCxnSpPr>
        <p:spPr>
          <a:xfrm>
            <a:off x="9470898" y="2834171"/>
            <a:ext cx="113157" cy="713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0" name="C3-E10 line 78" descr="sci-ppt:o078"/>
          <p:cNvCxnSpPr/>
          <p:nvPr/>
        </p:nvCxnSpPr>
        <p:spPr>
          <a:xfrm>
            <a:off x="9584055" y="2905541"/>
            <a:ext cx="113156" cy="7329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1" name="C3-E10 line 79" descr="sci-ppt:o079"/>
          <p:cNvCxnSpPr/>
          <p:nvPr/>
        </p:nvCxnSpPr>
        <p:spPr>
          <a:xfrm>
            <a:off x="9697211" y="2978840"/>
            <a:ext cx="113158" cy="7525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2" name="C3-E10 line 80" descr="sci-ppt:o080"/>
          <p:cNvCxnSpPr/>
          <p:nvPr/>
        </p:nvCxnSpPr>
        <p:spPr>
          <a:xfrm>
            <a:off x="9810369" y="3054094"/>
            <a:ext cx="113157" cy="7723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3" name="C3-E10 line 81" descr="sci-ppt:o081"/>
          <p:cNvCxnSpPr/>
          <p:nvPr/>
        </p:nvCxnSpPr>
        <p:spPr>
          <a:xfrm>
            <a:off x="9923526" y="3131328"/>
            <a:ext cx="113157" cy="7924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4" name="C3-E10 line 82" descr="sci-ppt:o082"/>
          <p:cNvCxnSpPr/>
          <p:nvPr/>
        </p:nvCxnSpPr>
        <p:spPr>
          <a:xfrm>
            <a:off x="10036683" y="3210568"/>
            <a:ext cx="113157" cy="8127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5" name="C3-E10 text 83" descr="sci-ppt:o083"/>
          <p:cNvSpPr txBox="1"/>
          <p:nvPr/>
        </p:nvSpPr>
        <p:spPr>
          <a:xfrm>
            <a:off x="365760" y="59436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R/R_max</a:t>
            </a:r>
          </a:p>
        </p:txBody>
      </p:sp>
      <p:sp>
        <p:nvSpPr>
          <p:cNvPr id="86" name="C3-E10 text 84" descr="sci-ppt:o084"/>
          <p:cNvSpPr txBox="1"/>
          <p:nvPr/>
        </p:nvSpPr>
        <p:spPr>
          <a:xfrm>
            <a:off x="9784080" y="3474720"/>
            <a:ext cx="18288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t/t_c</a:t>
            </a:r>
          </a:p>
        </p:txBody>
      </p:sp>
      <p:sp>
        <p:nvSpPr>
          <p:cNvPr id="87" name="C3-E10 text 85" descr="sci-ppt:o085"/>
          <p:cNvSpPr txBox="1"/>
          <p:nvPr/>
        </p:nvSpPr>
        <p:spPr>
          <a:xfrm>
            <a:off x="2743200" y="2057400"/>
            <a:ext cx="6858000" cy="6400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Initial radius R_max; initial speed zero.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Formal endpoint R → 0.</a:t>
            </a:r>
          </a:p>
        </p:txBody>
      </p:sp>
      <p:cxnSp>
        <p:nvCxnSpPr>
          <p:cNvPr id="88" name="C3-E10 line 86" descr="sci-ppt:o086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89" name="C3-E10 text 87" descr="sci-ppt:o087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t_c radial event time</a:t>
            </a:r>
          </a:p>
        </p:txBody>
      </p:sp>
      <p:sp>
        <p:nvSpPr>
          <p:cNvPr id="90" name="C3-E10 text 88" descr="sci-ppt:o088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R_max, R; x = R/R_max</a:t>
            </a:r>
          </a:p>
        </p:txBody>
      </p:sp>
      <p:sp>
        <p:nvSpPr>
          <p:cNvPr id="91" name="C3-E10 text 89" descr="sci-ppt:o089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χ = S R_max</a:t>
            </a:r>
          </a:p>
        </p:txBody>
      </p:sp>
      <p:sp>
        <p:nvSpPr>
          <p:cNvPr id="92" name="C3-E10 text 90" descr="sci-ppt:o090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C(χ), C′(χ) &gt; 0</a:t>
            </a:r>
          </a:p>
        </p:txBody>
      </p:sp>
      <p:sp>
        <p:nvSpPr>
          <p:cNvPr id="93" name="C3-E10 text 91" descr="sci-ppt:o091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ρ / Δp_c sets time scale</a:t>
            </a:r>
          </a:p>
        </p:txBody>
      </p:sp>
      <p:sp>
        <p:nvSpPr>
          <p:cNvPr id="94" name="C3-E10 text 92" descr="sci-ppt:o092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Ṙ inward speed; |Ṙ| positive</a:t>
            </a:r>
          </a:p>
        </p:txBody>
      </p:sp>
      <p:sp>
        <p:nvSpPr>
          <p:cNvPr id="95" name="C3-E10 text 93" descr="sci-ppt:o093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x = 1 endpoint behaves as (1 − x)^−1/2</a:t>
            </a:r>
          </a:p>
        </p:txBody>
      </p:sp>
      <p:sp>
        <p:nvSpPr>
          <p:cNvPr id="96" name="C3-E10 text 94" descr="sci-ppt:o094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χ = 0 recovers the Rayleigh coefficient</a:t>
            </a:r>
          </a:p>
        </p:txBody>
      </p:sp>
      <p:sp>
        <p:nvSpPr>
          <p:cNvPr id="97" name="C3-E10 text 95" descr="sci-ppt:o095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11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C3-E11 · Leading-model energy check and fixed-total-work comparison</a:t>
            </a:r>
          </a:p>
        </p:txBody>
      </p:sp>
      <p:sp>
        <p:nvSpPr>
          <p:cNvPr id="3" name="C3-E11 rect 1" descr="sci-ppt:o001"/>
          <p:cNvSpPr/>
          <p:nvPr/>
        </p:nvSpPr>
        <p:spPr>
          <a:xfrm>
            <a:off x="5943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3-E11 text 2" descr="sci-ppt:o002"/>
          <p:cNvSpPr txBox="1"/>
          <p:nvPr/>
        </p:nvSpPr>
        <p:spPr>
          <a:xfrm>
            <a:off x="7589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Pressure-work reservoir</a:t>
            </a:r>
          </a:p>
        </p:txBody>
      </p:sp>
      <p:cxnSp>
        <p:nvCxnSpPr>
          <p:cNvPr id="5" name="C3-E11 arrow 3" descr="sci-ppt:o003"/>
          <p:cNvCxnSpPr/>
          <p:nvPr/>
        </p:nvCxnSpPr>
        <p:spPr>
          <a:xfrm>
            <a:off x="37947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3-E11 rect 4" descr="sci-ppt:o004"/>
          <p:cNvSpPr/>
          <p:nvPr/>
        </p:nvSpPr>
        <p:spPr>
          <a:xfrm>
            <a:off x="44805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3-E11 text 5" descr="sci-ppt:o005"/>
          <p:cNvSpPr txBox="1"/>
          <p:nvPr/>
        </p:nvSpPr>
        <p:spPr>
          <a:xfrm>
            <a:off x="46451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K_N: self + pair kinetic energy</a:t>
            </a:r>
          </a:p>
        </p:txBody>
      </p:sp>
      <p:cxnSp>
        <p:nvCxnSpPr>
          <p:cNvPr id="8" name="C3-E11 arrow 6" descr="sci-ppt:o006"/>
          <p:cNvCxnSpPr/>
          <p:nvPr/>
        </p:nvCxnSpPr>
        <p:spPr>
          <a:xfrm>
            <a:off x="76809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C3-E11 rect 7" descr="sci-ppt:o007"/>
          <p:cNvSpPr/>
          <p:nvPr/>
        </p:nvSpPr>
        <p:spPr>
          <a:xfrm>
            <a:off x="83667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3-E11 text 8" descr="sci-ppt:o008"/>
          <p:cNvSpPr txBox="1"/>
          <p:nvPr/>
        </p:nvSpPr>
        <p:spPr>
          <a:xfrm>
            <a:off x="85313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K_N + remaining work: conserved</a:t>
            </a:r>
          </a:p>
        </p:txBody>
      </p:sp>
      <p:sp>
        <p:nvSpPr>
          <p:cNvPr id="11" name="C3-E11 text 9" descr="sci-ppt:o009"/>
          <p:cNvSpPr txBox="1"/>
          <p:nvPr/>
        </p:nvSpPr>
        <p:spPr>
          <a:xfrm>
            <a:off x="731520" y="3246120"/>
            <a:ext cx="1078992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Each energy allocation belongs to the same finite source budget.</a:t>
            </a:r>
          </a:p>
        </p:txBody>
      </p:sp>
      <p:cxnSp>
        <p:nvCxnSpPr>
          <p:cNvPr id="12" name="C3-E11 line 10" descr="sci-ppt:o010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3" name="C3-E11 text 11" descr="sci-ppt:o011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N, i, j bubble count/indices</a:t>
            </a:r>
          </a:p>
        </p:txBody>
      </p:sp>
      <p:sp>
        <p:nvSpPr>
          <p:cNvPr id="14" name="C3-E11 text 12" descr="sci-ppt:o012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R_i, R_j, R, R_max, Ṙ_i, Ṙ_j, Ṙ</a:t>
            </a:r>
          </a:p>
        </p:txBody>
      </p:sp>
      <p:sp>
        <p:nvSpPr>
          <p:cNvPr id="15" name="C3-E11 text 13" descr="sci-ppt:o013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r_i, d_ij radial/center distances</a:t>
            </a:r>
          </a:p>
        </p:txBody>
      </p:sp>
      <p:sp>
        <p:nvSpPr>
          <p:cNvPr id="16" name="C3-E11 text 14" descr="sci-ppt:o014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b_i, b_j monopole strengths</a:t>
            </a:r>
          </a:p>
        </p:txBody>
      </p:sp>
      <p:sp>
        <p:nvSpPr>
          <p:cNvPr id="17" name="C3-E11 text 15" descr="sci-ppt:o015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φ_i, φ_j; ∇φ gradients</a:t>
            </a:r>
          </a:p>
        </p:txBody>
      </p:sp>
      <p:sp>
        <p:nvSpPr>
          <p:cNvPr id="18" name="C3-E11 text 16" descr="sci-ppt:o016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Ω, Γ_j liquid domain/bubble surface; ∂ₙ</a:t>
            </a:r>
          </a:p>
        </p:txBody>
      </p:sp>
      <p:sp>
        <p:nvSpPr>
          <p:cNvPr id="19" name="C3-E11 text 17" descr="sci-ppt:o017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K_N = self + pair energy; ρ, S</a:t>
            </a:r>
          </a:p>
        </p:txBody>
      </p:sp>
      <p:sp>
        <p:nvSpPr>
          <p:cNvPr id="20" name="C3-E11 text 18" descr="sci-ppt:o018"/>
          <p:cNvSpPr txBox="1"/>
          <p:nvPr/>
        </p:nvSpPr>
        <p:spPr>
          <a:xfrm>
            <a:off x="621792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Δp_c pressure-work reservoir</a:t>
            </a:r>
          </a:p>
        </p:txBody>
      </p:sp>
      <p:sp>
        <p:nvSpPr>
          <p:cNvPr id="21" name="C3-E11 text 19" descr="sci-ppt:o019"/>
          <p:cNvSpPr txBox="1"/>
          <p:nvPr/>
        </p:nvSpPr>
        <p:spPr>
          <a:xfrm>
            <a:off x="320040" y="5029200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E_B,tot fixed total work</a:t>
            </a:r>
          </a:p>
        </p:txBody>
      </p:sp>
      <p:sp>
        <p:nvSpPr>
          <p:cNvPr id="22" name="C3-E11 text 20" descr="sci-ppt:o020"/>
          <p:cNvSpPr txBox="1"/>
          <p:nvPr/>
        </p:nvSpPr>
        <p:spPr>
          <a:xfrm>
            <a:off x="6217920" y="5029200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R_max,N = R_* N^−1/3</a:t>
            </a:r>
          </a:p>
        </p:txBody>
      </p:sp>
      <p:sp>
        <p:nvSpPr>
          <p:cNvPr id="23" name="C3-E11 text 21" descr="sci-ppt:o021"/>
          <p:cNvSpPr txBox="1"/>
          <p:nvPr/>
        </p:nvSpPr>
        <p:spPr>
          <a:xfrm>
            <a:off x="320040" y="526237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∫, Σ, dV, dA, π; * reference label</a:t>
            </a:r>
          </a:p>
        </p:txBody>
      </p:sp>
      <p:sp>
        <p:nvSpPr>
          <p:cNvPr id="24" name="C3-E11 text 22" descr="sci-ppt:o022"/>
          <p:cNvSpPr txBox="1"/>
          <p:nvPr/>
        </p:nvSpPr>
        <p:spPr>
          <a:xfrm>
            <a:off x="320040" y="5632704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Interaction raises effective inertia, not initial energy</a:t>
            </a:r>
          </a:p>
        </p:txBody>
      </p:sp>
      <p:sp>
        <p:nvSpPr>
          <p:cNvPr id="25" name="C3-E11 text 23" descr="sci-ppt:o023"/>
          <p:cNvSpPr txBox="1"/>
          <p:nvPr/>
        </p:nvSpPr>
        <p:spPr>
          <a:xfrm>
            <a:off x="320040" y="5907024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Fixed per-bubble radius increases total available work</a:t>
            </a:r>
          </a:p>
        </p:txBody>
      </p:sp>
      <p:sp>
        <p:nvSpPr>
          <p:cNvPr id="26" name="C3-E11 text 24" descr="sci-ppt:o024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12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C3-E12 · Volume-fraction definition and retarded monopole approximation</a:t>
            </a:r>
          </a:p>
        </p:txBody>
      </p:sp>
      <p:sp>
        <p:nvSpPr>
          <p:cNvPr id="3" name="C3-E12 ellipse 1" descr="sci-ppt:o001"/>
          <p:cNvSpPr/>
          <p:nvPr/>
        </p:nvSpPr>
        <p:spPr>
          <a:xfrm>
            <a:off x="987551" y="1078992"/>
            <a:ext cx="585216" cy="585216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3-E12 arrow 2" descr="sci-ppt:o002"/>
          <p:cNvCxnSpPr/>
          <p:nvPr/>
        </p:nvCxnSpPr>
        <p:spPr>
          <a:xfrm>
            <a:off x="1600200" y="1371600"/>
            <a:ext cx="6903720" cy="6400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5" name="C3-E12 ellipse 3" descr="sci-ppt:o003"/>
          <p:cNvSpPr/>
          <p:nvPr/>
        </p:nvSpPr>
        <p:spPr>
          <a:xfrm>
            <a:off x="1993392" y="2267712"/>
            <a:ext cx="585216" cy="585216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3-E12 arrow 4" descr="sci-ppt:o004"/>
          <p:cNvCxnSpPr/>
          <p:nvPr/>
        </p:nvCxnSpPr>
        <p:spPr>
          <a:xfrm flipV="1">
            <a:off x="2606040" y="2011680"/>
            <a:ext cx="5897880" cy="54864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7" name="C3-E12 ellipse 5" descr="sci-ppt:o005"/>
          <p:cNvSpPr/>
          <p:nvPr/>
        </p:nvSpPr>
        <p:spPr>
          <a:xfrm>
            <a:off x="2999232" y="1078992"/>
            <a:ext cx="585216" cy="585216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C3-E12 arrow 6" descr="sci-ppt:o006"/>
          <p:cNvCxnSpPr/>
          <p:nvPr/>
        </p:nvCxnSpPr>
        <p:spPr>
          <a:xfrm>
            <a:off x="3611880" y="1371600"/>
            <a:ext cx="4892040" cy="6400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C3-E12 ellipse 7" descr="sci-ppt:o007"/>
          <p:cNvSpPr/>
          <p:nvPr/>
        </p:nvSpPr>
        <p:spPr>
          <a:xfrm>
            <a:off x="8577072" y="1901952"/>
            <a:ext cx="219456" cy="219456"/>
          </a:xfrm>
          <a:prstGeom prst="ellipse">
            <a:avLst/>
          </a:prstGeom>
          <a:solidFill>
            <a:srgbClr val="8EDBD4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3-E12 text 8" descr="sci-ppt:o008"/>
          <p:cNvSpPr txBox="1"/>
          <p:nvPr/>
        </p:nvSpPr>
        <p:spPr>
          <a:xfrm>
            <a:off x="8046720" y="237744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Observation x, time t</a:t>
            </a:r>
          </a:p>
        </p:txBody>
      </p:sp>
      <p:sp>
        <p:nvSpPr>
          <p:cNvPr id="11" name="C3-E12 text 9" descr="sci-ppt:o009"/>
          <p:cNvSpPr txBox="1"/>
          <p:nvPr/>
        </p:nvSpPr>
        <p:spPr>
          <a:xfrm>
            <a:off x="4389120" y="914400"/>
            <a:ext cx="45720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E7F0F3"/>
                </a:solidFill>
                <a:latin typeface="Arial"/>
              </a:rPr>
              <a:t>Retarded source time: t − r_i/c</a:t>
            </a:r>
          </a:p>
        </p:txBody>
      </p:sp>
      <p:sp>
        <p:nvSpPr>
          <p:cNvPr id="12" name="C3-E12 text 10" descr="sci-ppt:o010"/>
          <p:cNvSpPr txBox="1"/>
          <p:nvPr/>
        </p:nvSpPr>
        <p:spPr>
          <a:xfrm>
            <a:off x="731520" y="3383280"/>
            <a:ext cx="107899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Volume fraction requires a defined region; travel times govern pulse overlap.</a:t>
            </a:r>
          </a:p>
        </p:txBody>
      </p:sp>
      <p:cxnSp>
        <p:nvCxnSpPr>
          <p:cNvPr id="13" name="C3-E12 line 11" descr="sci-ppt:o011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4" name="C3-E12 text 12" descr="sci-ppt:o012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V_i, R_i: bubble sites</a:t>
            </a:r>
          </a:p>
        </p:txBody>
      </p:sp>
      <p:sp>
        <p:nvSpPr>
          <p:cNvPr id="15" name="C3-E12 text 13" descr="sci-ppt:o013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V_Ω representative region</a:t>
            </a:r>
          </a:p>
        </p:txBody>
      </p:sp>
      <p:sp>
        <p:nvSpPr>
          <p:cNvPr id="16" name="C3-E12 text 14" descr="sci-ppt:o014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φ_b = ΣV_i / V_Ω</a:t>
            </a:r>
          </a:p>
        </p:txBody>
      </p:sp>
      <p:sp>
        <p:nvSpPr>
          <p:cNvPr id="17" name="C3-E12 text 15" descr="sci-ppt:o015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s, R: cubic-cell geometry</a:t>
            </a:r>
          </a:p>
        </p:txBody>
      </p:sp>
      <p:sp>
        <p:nvSpPr>
          <p:cNvPr id="18" name="C3-E12 text 16" descr="sci-ppt:o016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r_i → observation x</a:t>
            </a:r>
          </a:p>
        </p:txBody>
      </p:sp>
      <p:sp>
        <p:nvSpPr>
          <p:cNvPr id="19" name="C3-E12 text 17" descr="sci-ppt:o017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p′, φ at time t</a:t>
            </a:r>
          </a:p>
        </p:txBody>
      </p:sp>
      <p:sp>
        <p:nvSpPr>
          <p:cNvPr id="20" name="C3-E12 text 18" descr="sci-ppt:o018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ρ, c; V̇_i, V̈_i; t − r_i/c</a:t>
            </a:r>
          </a:p>
        </p:txBody>
      </p:sp>
      <p:sp>
        <p:nvSpPr>
          <p:cNvPr id="21" name="C3-E12 text 19" descr="sci-ppt:o019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Planar arrays require a declared layer thickness</a:t>
            </a:r>
          </a:p>
        </p:txBody>
      </p:sp>
      <p:sp>
        <p:nvSpPr>
          <p:cNvPr id="22" name="C3-E12 text 20" descr="sci-ppt:o020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Activation and propagation delays affect overlap</a:t>
            </a:r>
          </a:p>
        </p:txBody>
      </p:sp>
      <p:sp>
        <p:nvSpPr>
          <p:cNvPr id="23" name="C3-E12 text 21" descr="sci-ppt:o021"/>
          <p:cNvSpPr txBox="1"/>
          <p:nvPr/>
        </p:nvSpPr>
        <p:spPr>
          <a:xfrm>
            <a:off x="320040" y="614476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Weak far-field sources do not predict impact pressure</a:t>
            </a:r>
          </a:p>
        </p:txBody>
      </p:sp>
      <p:sp>
        <p:nvSpPr>
          <p:cNvPr id="24" name="C3-E12 text 22" descr="sci-ppt:o022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13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C3-E13 · Potential-flow reduction</a:t>
            </a:r>
          </a:p>
        </p:txBody>
      </p:sp>
      <p:sp>
        <p:nvSpPr>
          <p:cNvPr id="3" name="C3-E13 rect 1" descr="sci-ppt:o001"/>
          <p:cNvSpPr/>
          <p:nvPr/>
        </p:nvSpPr>
        <p:spPr>
          <a:xfrm>
            <a:off x="822960" y="1051560"/>
            <a:ext cx="9875520" cy="2377440"/>
          </a:xfrm>
          <a:prstGeom prst="rect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3-E13 ellipse 2" descr="sci-ppt:o002"/>
          <p:cNvSpPr/>
          <p:nvPr/>
        </p:nvSpPr>
        <p:spPr>
          <a:xfrm>
            <a:off x="2194560" y="1600200"/>
            <a:ext cx="1280160" cy="128016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3-E13 text 3" descr="sci-ppt:o003"/>
          <p:cNvSpPr txBox="1"/>
          <p:nvPr/>
        </p:nvSpPr>
        <p:spPr>
          <a:xfrm>
            <a:off x="2423160" y="2057400"/>
            <a:ext cx="1371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p_g</a:t>
            </a:r>
          </a:p>
        </p:txBody>
      </p:sp>
      <p:sp>
        <p:nvSpPr>
          <p:cNvPr id="6" name="C3-E13 text 4" descr="sci-ppt:o004"/>
          <p:cNvSpPr txBox="1"/>
          <p:nvPr/>
        </p:nvSpPr>
        <p:spPr>
          <a:xfrm>
            <a:off x="4663440" y="1874519"/>
            <a:ext cx="429768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E7F0F3"/>
                </a:solidFill>
                <a:latin typeface="Arial"/>
              </a:rPr>
              <a:t>Liquid Ω(t): u = ∇φ</a:t>
            </a:r>
          </a:p>
        </p:txBody>
      </p:sp>
      <p:cxnSp>
        <p:nvCxnSpPr>
          <p:cNvPr id="7" name="C3-E13 arrow 5" descr="sci-ppt:o005"/>
          <p:cNvCxnSpPr/>
          <p:nvPr/>
        </p:nvCxnSpPr>
        <p:spPr>
          <a:xfrm flipH="1">
            <a:off x="3520440" y="2240280"/>
            <a:ext cx="50292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C3-E13 text 6" descr="sci-ppt:o006"/>
          <p:cNvSpPr txBox="1"/>
          <p:nvPr/>
        </p:nvSpPr>
        <p:spPr>
          <a:xfrm>
            <a:off x="3657600" y="2606040"/>
            <a:ext cx="45720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n: liquid → cavity gas</a:t>
            </a:r>
          </a:p>
        </p:txBody>
      </p:sp>
      <p:cxnSp>
        <p:nvCxnSpPr>
          <p:cNvPr id="9" name="C3-E13 arrow 7" descr="sci-ppt:o007"/>
          <p:cNvCxnSpPr/>
          <p:nvPr/>
        </p:nvCxnSpPr>
        <p:spPr>
          <a:xfrm>
            <a:off x="8778240" y="2011680"/>
            <a:ext cx="82296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C3-E13 text 8" descr="sci-ppt:o008"/>
          <p:cNvSpPr txBox="1"/>
          <p:nvPr/>
        </p:nvSpPr>
        <p:spPr>
          <a:xfrm>
            <a:off x="7863840" y="118872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Outlet / meniscus</a:t>
            </a:r>
          </a:p>
        </p:txBody>
      </p:sp>
      <p:sp>
        <p:nvSpPr>
          <p:cNvPr id="11" name="C3-E13 text 9" descr="sci-ppt:o009"/>
          <p:cNvSpPr txBox="1"/>
          <p:nvPr/>
        </p:nvSpPr>
        <p:spPr>
          <a:xfrm>
            <a:off x="1005840" y="594360"/>
            <a:ext cx="100584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Walls, cavity and outlet are distinct boundaries.</a:t>
            </a:r>
          </a:p>
        </p:txBody>
      </p:sp>
      <p:cxnSp>
        <p:nvCxnSpPr>
          <p:cNvPr id="12" name="C3-E13 line 10" descr="sci-ppt:o010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3" name="C3-E13 text 11" descr="sci-ppt:o011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Ω(t) liquid domain</a:t>
            </a:r>
          </a:p>
        </p:txBody>
      </p:sp>
      <p:sp>
        <p:nvSpPr>
          <p:cNvPr id="14" name="C3-E13 text 12" descr="sci-ppt:o012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φ(x,t) velocity potential</a:t>
            </a:r>
          </a:p>
        </p:txBody>
      </p:sp>
      <p:sp>
        <p:nvSpPr>
          <p:cNvPr id="15" name="C3-E13 text 13" descr="sci-ppt:o013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u = ∇φ liquid velocity</a:t>
            </a:r>
          </a:p>
        </p:txBody>
      </p:sp>
      <p:sp>
        <p:nvSpPr>
          <p:cNvPr id="16" name="C3-E13 text 14" descr="sci-ppt:o014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∇·u = 0; ∇²φ = 0</a:t>
            </a:r>
          </a:p>
        </p:txBody>
      </p:sp>
      <p:sp>
        <p:nvSpPr>
          <p:cNvPr id="17" name="C3-E13 text 15" descr="sci-ppt:o015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x spatial point; t event time</a:t>
            </a:r>
          </a:p>
        </p:txBody>
      </p:sp>
      <p:sp>
        <p:nvSpPr>
          <p:cNvPr id="18" name="C3-E13 text 16" descr="sci-ppt:o016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Actual meniscus and bubble surfaces are separate boundaries</a:t>
            </a:r>
          </a:p>
        </p:txBody>
      </p:sp>
      <p:sp>
        <p:nvSpPr>
          <p:cNvPr id="19" name="C3-E13 text 17" descr="sci-ppt:o017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Zero vorticity and negligible bulk viscosity assumed</a:t>
            </a:r>
          </a:p>
        </p:txBody>
      </p:sp>
      <p:sp>
        <p:nvSpPr>
          <p:cNvPr id="20" name="C3-E13 text 18" descr="sci-ppt:o018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14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C3-E14 · Kinematic, initial and wall conditions</a:t>
            </a:r>
          </a:p>
        </p:txBody>
      </p:sp>
      <p:sp>
        <p:nvSpPr>
          <p:cNvPr id="3" name="C3-E14 rect 1" descr="sci-ppt:o001"/>
          <p:cNvSpPr/>
          <p:nvPr/>
        </p:nvSpPr>
        <p:spPr>
          <a:xfrm>
            <a:off x="822960" y="1051560"/>
            <a:ext cx="9875520" cy="2377440"/>
          </a:xfrm>
          <a:prstGeom prst="rect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3-E14 ellipse 2" descr="sci-ppt:o002"/>
          <p:cNvSpPr/>
          <p:nvPr/>
        </p:nvSpPr>
        <p:spPr>
          <a:xfrm>
            <a:off x="2194560" y="1600200"/>
            <a:ext cx="1280160" cy="128016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3-E14 text 3" descr="sci-ppt:o003"/>
          <p:cNvSpPr txBox="1"/>
          <p:nvPr/>
        </p:nvSpPr>
        <p:spPr>
          <a:xfrm>
            <a:off x="2423160" y="2057400"/>
            <a:ext cx="1371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p_g</a:t>
            </a:r>
          </a:p>
        </p:txBody>
      </p:sp>
      <p:sp>
        <p:nvSpPr>
          <p:cNvPr id="6" name="C3-E14 text 4" descr="sci-ppt:o004"/>
          <p:cNvSpPr txBox="1"/>
          <p:nvPr/>
        </p:nvSpPr>
        <p:spPr>
          <a:xfrm>
            <a:off x="4663440" y="1874519"/>
            <a:ext cx="429768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E7F0F3"/>
                </a:solidFill>
                <a:latin typeface="Arial"/>
              </a:rPr>
              <a:t>Liquid Ω(t): u = ∇φ</a:t>
            </a:r>
          </a:p>
        </p:txBody>
      </p:sp>
      <p:cxnSp>
        <p:nvCxnSpPr>
          <p:cNvPr id="7" name="C3-E14 arrow 5" descr="sci-ppt:o005"/>
          <p:cNvCxnSpPr/>
          <p:nvPr/>
        </p:nvCxnSpPr>
        <p:spPr>
          <a:xfrm flipH="1">
            <a:off x="3520440" y="2240280"/>
            <a:ext cx="50292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C3-E14 text 6" descr="sci-ppt:o006"/>
          <p:cNvSpPr txBox="1"/>
          <p:nvPr/>
        </p:nvSpPr>
        <p:spPr>
          <a:xfrm>
            <a:off x="3657600" y="2606040"/>
            <a:ext cx="45720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n: liquid → cavity gas</a:t>
            </a:r>
          </a:p>
        </p:txBody>
      </p:sp>
      <p:cxnSp>
        <p:nvCxnSpPr>
          <p:cNvPr id="9" name="C3-E14 arrow 7" descr="sci-ppt:o007"/>
          <p:cNvCxnSpPr/>
          <p:nvPr/>
        </p:nvCxnSpPr>
        <p:spPr>
          <a:xfrm>
            <a:off x="8778240" y="2011680"/>
            <a:ext cx="82296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C3-E14 text 8" descr="sci-ppt:o008"/>
          <p:cNvSpPr txBox="1"/>
          <p:nvPr/>
        </p:nvSpPr>
        <p:spPr>
          <a:xfrm>
            <a:off x="7863840" y="118872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Outlet / meniscus</a:t>
            </a:r>
          </a:p>
        </p:txBody>
      </p:sp>
      <p:sp>
        <p:nvSpPr>
          <p:cNvPr id="11" name="C3-E14 text 9" descr="sci-ppt:o009"/>
          <p:cNvSpPr txBox="1"/>
          <p:nvPr/>
        </p:nvSpPr>
        <p:spPr>
          <a:xfrm>
            <a:off x="1005840" y="594360"/>
            <a:ext cx="100584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Walls, cavity and outlet are distinct boundaries.</a:t>
            </a:r>
          </a:p>
        </p:txBody>
      </p:sp>
      <p:cxnSp>
        <p:nvCxnSpPr>
          <p:cNvPr id="12" name="C3-E14 line 10" descr="sci-ppt:o010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3" name="C3-E14 text 11" descr="sci-ppt:o011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Γ, Γ₀: meniscus and cavity shapes</a:t>
            </a:r>
          </a:p>
        </p:txBody>
      </p:sp>
      <p:sp>
        <p:nvSpPr>
          <p:cNvPr id="14" name="C3-E14 text 12" descr="sci-ppt:o012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X moves with u</a:t>
            </a:r>
          </a:p>
        </p:txBody>
      </p:sp>
      <p:sp>
        <p:nvSpPr>
          <p:cNvPr id="15" name="C3-E14 text 13" descr="sci-ppt:o013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n liquid → gas or solid</a:t>
            </a:r>
          </a:p>
        </p:txBody>
      </p:sp>
      <p:sp>
        <p:nvSpPr>
          <p:cNvPr id="16" name="C3-E14 text 14" descr="sci-ppt:o014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V_n = ∂ₙφ</a:t>
            </a:r>
          </a:p>
        </p:txBody>
      </p:sp>
      <p:sp>
        <p:nvSpPr>
          <p:cNvPr id="17" name="C3-E14 text 15" descr="sci-ppt:o015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V_w wall velocity</a:t>
            </a:r>
          </a:p>
        </p:txBody>
      </p:sp>
      <p:sp>
        <p:nvSpPr>
          <p:cNvPr id="18" name="C3-E14 text 16" descr="sci-ppt:o016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φ_Γ, φ₀; t = 0</a:t>
            </a:r>
          </a:p>
        </p:txBody>
      </p:sp>
      <p:sp>
        <p:nvSpPr>
          <p:cNvPr id="19" name="C3-E14 text 17" descr="sci-ppt:o017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φ → 0 far away</a:t>
            </a:r>
          </a:p>
        </p:txBody>
      </p:sp>
      <p:sp>
        <p:nvSpPr>
          <p:cNvPr id="20" name="C3-E14 text 18" descr="sci-ppt:o018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Outlet geometry and wall compliance must be supplied</a:t>
            </a:r>
          </a:p>
        </p:txBody>
      </p:sp>
      <p:sp>
        <p:nvSpPr>
          <p:cNvPr id="21" name="C3-E14 text 19" descr="sci-ppt:o019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Phase flux changes the material-interface condition</a:t>
            </a:r>
          </a:p>
        </p:txBody>
      </p:sp>
      <p:sp>
        <p:nvSpPr>
          <p:cNvPr id="22" name="C3-E14 text 20" descr="sci-ppt:o020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15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C3-E15 · Normal stress and material Bernoulli condition</a:t>
            </a:r>
          </a:p>
        </p:txBody>
      </p:sp>
      <p:sp>
        <p:nvSpPr>
          <p:cNvPr id="3" name="C3-E15 rect 1" descr="sci-ppt:o001"/>
          <p:cNvSpPr/>
          <p:nvPr/>
        </p:nvSpPr>
        <p:spPr>
          <a:xfrm>
            <a:off x="822960" y="1051560"/>
            <a:ext cx="9875520" cy="2377440"/>
          </a:xfrm>
          <a:prstGeom prst="rect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3-E15 ellipse 2" descr="sci-ppt:o002"/>
          <p:cNvSpPr/>
          <p:nvPr/>
        </p:nvSpPr>
        <p:spPr>
          <a:xfrm>
            <a:off x="2194560" y="1600200"/>
            <a:ext cx="1280160" cy="128016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3-E15 text 3" descr="sci-ppt:o003"/>
          <p:cNvSpPr txBox="1"/>
          <p:nvPr/>
        </p:nvSpPr>
        <p:spPr>
          <a:xfrm>
            <a:off x="2423160" y="2057400"/>
            <a:ext cx="1371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p_g</a:t>
            </a:r>
          </a:p>
        </p:txBody>
      </p:sp>
      <p:sp>
        <p:nvSpPr>
          <p:cNvPr id="6" name="C3-E15 text 4" descr="sci-ppt:o004"/>
          <p:cNvSpPr txBox="1"/>
          <p:nvPr/>
        </p:nvSpPr>
        <p:spPr>
          <a:xfrm>
            <a:off x="4663440" y="1874519"/>
            <a:ext cx="429768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E7F0F3"/>
                </a:solidFill>
                <a:latin typeface="Arial"/>
              </a:rPr>
              <a:t>Liquid Ω(t): u = ∇φ</a:t>
            </a:r>
          </a:p>
        </p:txBody>
      </p:sp>
      <p:cxnSp>
        <p:nvCxnSpPr>
          <p:cNvPr id="7" name="C3-E15 arrow 5" descr="sci-ppt:o005"/>
          <p:cNvCxnSpPr/>
          <p:nvPr/>
        </p:nvCxnSpPr>
        <p:spPr>
          <a:xfrm flipH="1">
            <a:off x="3520440" y="2240280"/>
            <a:ext cx="50292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C3-E15 text 6" descr="sci-ppt:o006"/>
          <p:cNvSpPr txBox="1"/>
          <p:nvPr/>
        </p:nvSpPr>
        <p:spPr>
          <a:xfrm>
            <a:off x="3657600" y="2606040"/>
            <a:ext cx="45720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n: liquid → cavity gas</a:t>
            </a:r>
          </a:p>
        </p:txBody>
      </p:sp>
      <p:cxnSp>
        <p:nvCxnSpPr>
          <p:cNvPr id="9" name="C3-E15 arrow 7" descr="sci-ppt:o007"/>
          <p:cNvCxnSpPr/>
          <p:nvPr/>
        </p:nvCxnSpPr>
        <p:spPr>
          <a:xfrm>
            <a:off x="8778240" y="2011680"/>
            <a:ext cx="82296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C3-E15 text 8" descr="sci-ppt:o008"/>
          <p:cNvSpPr txBox="1"/>
          <p:nvPr/>
        </p:nvSpPr>
        <p:spPr>
          <a:xfrm>
            <a:off x="7863840" y="118872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Outlet / meniscus</a:t>
            </a:r>
          </a:p>
        </p:txBody>
      </p:sp>
      <p:sp>
        <p:nvSpPr>
          <p:cNvPr id="11" name="C3-E15 text 9" descr="sci-ppt:o009"/>
          <p:cNvSpPr txBox="1"/>
          <p:nvPr/>
        </p:nvSpPr>
        <p:spPr>
          <a:xfrm>
            <a:off x="1005840" y="594360"/>
            <a:ext cx="100584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Walls, cavity and outlet are distinct boundaries.</a:t>
            </a:r>
          </a:p>
        </p:txBody>
      </p:sp>
      <p:sp>
        <p:nvSpPr>
          <p:cNvPr id="12" name="C3-E15 text 10" descr="sci-ppt:o010"/>
          <p:cNvSpPr txBox="1"/>
          <p:nvPr/>
        </p:nvSpPr>
        <p:spPr>
          <a:xfrm>
            <a:off x="1188720" y="3566160"/>
            <a:ext cx="10058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Cavity κ = −2/R; exterior cylindrical jet κ = +1/a_j.</a:t>
            </a:r>
          </a:p>
        </p:txBody>
      </p:sp>
      <p:cxnSp>
        <p:nvCxnSpPr>
          <p:cNvPr id="13" name="C3-E15 line 11" descr="sci-ppt:o011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4" name="C3-E15 text 12" descr="sci-ppt:o012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p_g gas; p_l adjacent liquid</a:t>
            </a:r>
          </a:p>
        </p:txBody>
      </p:sp>
      <p:sp>
        <p:nvSpPr>
          <p:cNvPr id="15" name="C3-E15 text 13" descr="sci-ppt:o013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n liquid → gas; κ = ∇ₛ·n</a:t>
            </a:r>
          </a:p>
        </p:txBody>
      </p:sp>
      <p:sp>
        <p:nvSpPr>
          <p:cNvPr id="16" name="C3-E15 text 14" descr="sci-ppt:o014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 cavity: κ = −2/R</a:t>
            </a:r>
          </a:p>
        </p:txBody>
      </p:sp>
      <p:sp>
        <p:nvSpPr>
          <p:cNvPr id="17" name="C3-E15 text 15" descr="sci-ppt:o015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a_j exterior jet: κ = 1/a_j</a:t>
            </a:r>
          </a:p>
        </p:txBody>
      </p:sp>
      <p:sp>
        <p:nvSpPr>
          <p:cNvPr id="18" name="C3-E15 text 16" descr="sci-ppt:o016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φ_Γ, ∇φ = u</a:t>
            </a:r>
          </a:p>
        </p:txBody>
      </p:sp>
      <p:sp>
        <p:nvSpPr>
          <p:cNvPr id="19" name="C3-E15 text 17" descr="sci-ppt:o017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p∞, σ, ρ; D/Dt, ∂ₜ, t</a:t>
            </a:r>
          </a:p>
        </p:txBody>
      </p:sp>
      <p:sp>
        <p:nvSpPr>
          <p:cNvPr id="20" name="C3-E15 text 18" descr="sci-ppt:o018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Surface shape and potential evolve together</a:t>
            </a:r>
          </a:p>
        </p:txBody>
      </p:sp>
      <p:sp>
        <p:nvSpPr>
          <p:cNvPr id="21" name="C3-E15 text 19" descr="sci-ppt:o019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Different interfaces can have different surface tensions</a:t>
            </a:r>
          </a:p>
        </p:txBody>
      </p:sp>
      <p:sp>
        <p:nvSpPr>
          <p:cNvPr id="22" name="C3-E15 text 20" descr="sci-ppt:o020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16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C3-E16 · Pressure-impulse control and distinct focusing budgets</a:t>
            </a:r>
          </a:p>
        </p:txBody>
      </p:sp>
      <p:sp>
        <p:nvSpPr>
          <p:cNvPr id="3" name="C3-E16 rect 1" descr="sci-ppt:o001"/>
          <p:cNvSpPr/>
          <p:nvPr/>
        </p:nvSpPr>
        <p:spPr>
          <a:xfrm>
            <a:off x="1005840" y="1417320"/>
            <a:ext cx="9144000" cy="10058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3-E16 arrow 2" descr="sci-ppt:o002"/>
          <p:cNvCxnSpPr/>
          <p:nvPr/>
        </p:nvCxnSpPr>
        <p:spPr>
          <a:xfrm>
            <a:off x="1280160" y="1920240"/>
            <a:ext cx="859536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5" name="C3-E16 text 3" descr="sci-ppt:o003"/>
          <p:cNvSpPr txBox="1"/>
          <p:nvPr/>
        </p:nvSpPr>
        <p:spPr>
          <a:xfrm>
            <a:off x="1005840" y="914400"/>
            <a:ext cx="3657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E7F0F3"/>
                </a:solidFill>
                <a:latin typeface="Arial"/>
              </a:rPr>
              <a:t>z = 0: Π = Π₀</a:t>
            </a:r>
          </a:p>
        </p:txBody>
      </p:sp>
      <p:sp>
        <p:nvSpPr>
          <p:cNvPr id="6" name="C3-E16 text 4" descr="sci-ppt:o004"/>
          <p:cNvSpPr txBox="1"/>
          <p:nvPr/>
        </p:nvSpPr>
        <p:spPr>
          <a:xfrm>
            <a:off x="7589520" y="914400"/>
            <a:ext cx="3657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E7F0F3"/>
                </a:solidFill>
                <a:latin typeface="Arial"/>
              </a:rPr>
              <a:t>z = L: Π = 0</a:t>
            </a:r>
          </a:p>
        </p:txBody>
      </p:sp>
      <p:sp>
        <p:nvSpPr>
          <p:cNvPr id="7" name="C3-E16 text 5" descr="sci-ppt:o005"/>
          <p:cNvSpPr txBox="1"/>
          <p:nvPr/>
        </p:nvSpPr>
        <p:spPr>
          <a:xfrm>
            <a:off x="2377440" y="2743200"/>
            <a:ext cx="822960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Δu = −∇Π/ρ; Π decreases in the launch direction.</a:t>
            </a:r>
          </a:p>
        </p:txBody>
      </p:sp>
      <p:cxnSp>
        <p:nvCxnSpPr>
          <p:cNvPr id="8" name="C3-E16 line 6" descr="sci-ppt:o006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9" name="C3-E16 text 7" descr="sci-ppt:o007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Π₀ at z = 0 source</a:t>
            </a:r>
          </a:p>
        </p:txBody>
      </p:sp>
      <p:sp>
        <p:nvSpPr>
          <p:cNvPr id="10" name="C3-E16 text 8" descr="sci-ppt:o008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Π = 0 at z = L free end</a:t>
            </a:r>
          </a:p>
        </p:txBody>
      </p:sp>
      <p:sp>
        <p:nvSpPr>
          <p:cNvPr id="11" name="C3-E16 text 9" descr="sci-ppt:o009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A column area; L length</a:t>
            </a:r>
          </a:p>
        </p:txBody>
      </p:sp>
      <p:sp>
        <p:nvSpPr>
          <p:cNvPr id="12" name="C3-E16 text 10" descr="sci-ppt:o010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Π(z), ∇Π → Δu</a:t>
            </a:r>
          </a:p>
        </p:txBody>
      </p:sp>
      <p:sp>
        <p:nvSpPr>
          <p:cNvPr id="13" name="C3-E16 text 11" descr="sci-ppt:o011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U = Π₀/(ρL)</a:t>
            </a:r>
          </a:p>
        </p:txBody>
      </p:sp>
      <p:sp>
        <p:nvSpPr>
          <p:cNvPr id="14" name="C3-E16 text 12" descr="sci-ppt:o012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m = ρAL; J = Π₀A</a:t>
            </a:r>
          </a:p>
        </p:txBody>
      </p:sp>
      <p:sp>
        <p:nvSpPr>
          <p:cNvPr id="15" name="C3-E16 text 13" descr="sci-ppt:o013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E, fixed J vs fixed E</a:t>
            </a:r>
          </a:p>
        </p:txBody>
      </p:sp>
      <p:sp>
        <p:nvSpPr>
          <p:cNvPr id="16" name="C3-E16 text 14" descr="sci-ppt:o014"/>
          <p:cNvSpPr txBox="1"/>
          <p:nvPr/>
        </p:nvSpPr>
        <p:spPr>
          <a:xfrm>
            <a:off x="621792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p, p_ref, x, t₀, τ_p, t</a:t>
            </a:r>
          </a:p>
        </p:txBody>
      </p:sp>
      <p:sp>
        <p:nvSpPr>
          <p:cNvPr id="17" name="C3-E16 text 15" descr="sci-ppt:o015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Fixed impulse per area is not fixed total impulse</a:t>
            </a:r>
          </a:p>
        </p:txBody>
      </p:sp>
      <p:sp>
        <p:nvSpPr>
          <p:cNvPr id="18" name="C3-E16 text 16" descr="sci-ppt:o016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At fixed total impulse, lower mass needs more energy</a:t>
            </a:r>
          </a:p>
        </p:txBody>
      </p:sp>
      <p:sp>
        <p:nvSpPr>
          <p:cNvPr id="19" name="C3-E16 text 17" descr="sci-ppt:o017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17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C3-E17 · Continuity plus Bernoulli focusing benchmark</a:t>
            </a:r>
          </a:p>
        </p:txBody>
      </p:sp>
      <p:cxnSp>
        <p:nvCxnSpPr>
          <p:cNvPr id="3" name="C3-E17 line 1" descr="sci-ppt:o001"/>
          <p:cNvCxnSpPr/>
          <p:nvPr/>
        </p:nvCxnSpPr>
        <p:spPr>
          <a:xfrm>
            <a:off x="914400" y="1143000"/>
            <a:ext cx="274320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" name="C3-E17 line 2" descr="sci-ppt:o002"/>
          <p:cNvCxnSpPr/>
          <p:nvPr/>
        </p:nvCxnSpPr>
        <p:spPr>
          <a:xfrm>
            <a:off x="3657600" y="1143000"/>
            <a:ext cx="2743200" cy="54864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" name="C3-E17 line 3" descr="sci-ppt:o003"/>
          <p:cNvCxnSpPr/>
          <p:nvPr/>
        </p:nvCxnSpPr>
        <p:spPr>
          <a:xfrm>
            <a:off x="6400800" y="1691640"/>
            <a:ext cx="429768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3-E17 line 4" descr="sci-ppt:o004"/>
          <p:cNvCxnSpPr/>
          <p:nvPr/>
        </p:nvCxnSpPr>
        <p:spPr>
          <a:xfrm>
            <a:off x="914400" y="2971800"/>
            <a:ext cx="274320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3-E17 line 5" descr="sci-ppt:o005"/>
          <p:cNvCxnSpPr/>
          <p:nvPr/>
        </p:nvCxnSpPr>
        <p:spPr>
          <a:xfrm flipV="1">
            <a:off x="3657600" y="2423160"/>
            <a:ext cx="2743200" cy="54864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" name="C3-E17 line 6" descr="sci-ppt:o006"/>
          <p:cNvCxnSpPr/>
          <p:nvPr/>
        </p:nvCxnSpPr>
        <p:spPr>
          <a:xfrm>
            <a:off x="6400800" y="2423160"/>
            <a:ext cx="429768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9" name="C3-E17 arrow 7" descr="sci-ppt:o007"/>
          <p:cNvCxnSpPr/>
          <p:nvPr/>
        </p:nvCxnSpPr>
        <p:spPr>
          <a:xfrm>
            <a:off x="1188720" y="2057400"/>
            <a:ext cx="93268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C3-E17 text 8" descr="sci-ppt:o008"/>
          <p:cNvSpPr txBox="1"/>
          <p:nvPr/>
        </p:nvSpPr>
        <p:spPr>
          <a:xfrm>
            <a:off x="914400" y="640080"/>
            <a:ext cx="3657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Solid inlet: a_in, U_in, p_in</a:t>
            </a:r>
          </a:p>
        </p:txBody>
      </p:sp>
      <p:sp>
        <p:nvSpPr>
          <p:cNvPr id="11" name="C3-E17 text 9" descr="sci-ppt:o009"/>
          <p:cNvSpPr txBox="1"/>
          <p:nvPr/>
        </p:nvSpPr>
        <p:spPr>
          <a:xfrm>
            <a:off x="6675120" y="868680"/>
            <a:ext cx="457200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Free jet: a_j, U_j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p_j = p_g + σ_j/a_j</a:t>
            </a:r>
          </a:p>
        </p:txBody>
      </p:sp>
      <p:sp>
        <p:nvSpPr>
          <p:cNvPr id="12" name="C3-E17 text 10" descr="sci-ppt:o010"/>
          <p:cNvSpPr txBox="1"/>
          <p:nvPr/>
        </p:nvSpPr>
        <p:spPr>
          <a:xfrm>
            <a:off x="1097280" y="3383280"/>
            <a:ext cx="100584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Continuity fixes flux; the pressure budget must support acceleration.</a:t>
            </a:r>
          </a:p>
        </p:txBody>
      </p:sp>
      <p:cxnSp>
        <p:nvCxnSpPr>
          <p:cNvPr id="13" name="C3-E17 line 11" descr="sci-ppt:o011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4" name="C3-E17 text 12" descr="sci-ppt:o012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a_in solid inlet; U_in, p_in</a:t>
            </a:r>
          </a:p>
        </p:txBody>
      </p:sp>
      <p:sp>
        <p:nvSpPr>
          <p:cNvPr id="15" name="C3-E17 text 13" descr="sci-ppt:o013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a_j free outlet; U_j</a:t>
            </a:r>
          </a:p>
        </p:txBody>
      </p:sp>
      <p:sp>
        <p:nvSpPr>
          <p:cNvPr id="16" name="C3-E17 text 14" descr="sci-ppt:o014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Q = inlet flux = outlet flux</a:t>
            </a:r>
          </a:p>
        </p:txBody>
      </p:sp>
      <p:sp>
        <p:nvSpPr>
          <p:cNvPr id="17" name="C3-E17 text 15" descr="sci-ppt:o015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p_g outside jet</a:t>
            </a:r>
          </a:p>
        </p:txBody>
      </p:sp>
      <p:sp>
        <p:nvSpPr>
          <p:cNvPr id="18" name="C3-E17 text 16" descr="sci-ppt:o016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σ_j/a_j outlet capillary pressure</a:t>
            </a:r>
          </a:p>
        </p:txBody>
      </p:sp>
      <p:sp>
        <p:nvSpPr>
          <p:cNvPr id="19" name="C3-E17 text 17" descr="sci-ppt:o017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ρ, α, Δp_loss: budget legend</a:t>
            </a:r>
          </a:p>
        </p:txBody>
      </p:sp>
      <p:sp>
        <p:nvSpPr>
          <p:cNvPr id="20" name="C3-E17 text 18" descr="sci-ppt:o018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A solid inlet has no imposed σ_j/a_in free-surface jump</a:t>
            </a:r>
          </a:p>
        </p:txBody>
      </p:sp>
      <p:sp>
        <p:nvSpPr>
          <p:cNvPr id="21" name="C3-E17 text 19" descr="sci-ppt:o019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Required pressure rises with speed gain</a:t>
            </a:r>
          </a:p>
        </p:txBody>
      </p:sp>
      <p:sp>
        <p:nvSpPr>
          <p:cNvPr id="22" name="C3-E17 text 20" descr="sci-ppt:o020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18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C3-E18 · Finite-mass definitions and Cauchy–Schwarz bound</a:t>
            </a:r>
          </a:p>
        </p:txBody>
      </p:sp>
      <p:sp>
        <p:nvSpPr>
          <p:cNvPr id="3" name="C3-E18 rect 1" descr="sci-ppt:o001"/>
          <p:cNvSpPr/>
          <p:nvPr/>
        </p:nvSpPr>
        <p:spPr>
          <a:xfrm>
            <a:off x="731520" y="1508760"/>
            <a:ext cx="4937760" cy="7315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3-E18 arrow 2" descr="sci-ppt:o002"/>
          <p:cNvCxnSpPr/>
          <p:nvPr/>
        </p:nvCxnSpPr>
        <p:spPr>
          <a:xfrm>
            <a:off x="1005840" y="1874519"/>
            <a:ext cx="42976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5" name="C3-E18 text 3" descr="sci-ppt:o003"/>
          <p:cNvSpPr txBox="1"/>
          <p:nvPr/>
        </p:nvSpPr>
        <p:spPr>
          <a:xfrm>
            <a:off x="1463040" y="1051560"/>
            <a:ext cx="39319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Finite emitted liquid: m_j, E_j, U_j</a:t>
            </a:r>
          </a:p>
        </p:txBody>
      </p:sp>
      <p:cxnSp>
        <p:nvCxnSpPr>
          <p:cNvPr id="6" name="C3-E18 line 4" descr="sci-ppt:o004"/>
          <p:cNvCxnSpPr/>
          <p:nvPr/>
        </p:nvCxnSpPr>
        <p:spPr>
          <a:xfrm>
            <a:off x="731520" y="2606040"/>
            <a:ext cx="493776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7" name="C3-E18 text 5" descr="sci-ppt:o005"/>
          <p:cNvSpPr txBox="1"/>
          <p:nvPr/>
        </p:nvSpPr>
        <p:spPr>
          <a:xfrm>
            <a:off x="2743200" y="2697480"/>
            <a:ext cx="1828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L_j</a:t>
            </a:r>
          </a:p>
        </p:txBody>
      </p:sp>
      <p:cxnSp>
        <p:nvCxnSpPr>
          <p:cNvPr id="8" name="C3-E18 line 6" descr="sci-ppt:o006"/>
          <p:cNvCxnSpPr/>
          <p:nvPr/>
        </p:nvCxnSpPr>
        <p:spPr>
          <a:xfrm>
            <a:off x="457200" y="1508760"/>
            <a:ext cx="0" cy="7315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9" name="C3-E18 text 7" descr="sci-ppt:o007"/>
          <p:cNvSpPr txBox="1"/>
          <p:nvPr/>
        </p:nvSpPr>
        <p:spPr>
          <a:xfrm>
            <a:off x="137160" y="2377440"/>
            <a:ext cx="164592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d_j = 2a_j</a:t>
            </a:r>
          </a:p>
        </p:txBody>
      </p:sp>
      <p:cxnSp>
        <p:nvCxnSpPr>
          <p:cNvPr id="10" name="C3-E18 arrow 8" descr="sci-ppt:o008"/>
          <p:cNvCxnSpPr/>
          <p:nvPr/>
        </p:nvCxnSpPr>
        <p:spPr>
          <a:xfrm>
            <a:off x="6126480" y="1874519"/>
            <a:ext cx="466344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1" name="C3-E18 text 9" descr="sci-ppt:o009"/>
          <p:cNvSpPr txBox="1"/>
          <p:nvPr/>
        </p:nvSpPr>
        <p:spPr>
          <a:xfrm>
            <a:off x="6400800" y="1188720"/>
            <a:ext cx="4572000" cy="7315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7F0F3"/>
                </a:solidFill>
                <a:latin typeface="Arial"/>
              </a:rPr>
              <a:t>Finite mass defines speed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7F0F3"/>
                </a:solidFill>
                <a:latin typeface="Arial"/>
              </a:rPr>
              <a:t>and useful momentum.</a:t>
            </a:r>
          </a:p>
        </p:txBody>
      </p:sp>
      <p:sp>
        <p:nvSpPr>
          <p:cNvPr id="12" name="C3-E18 text 10" descr="sci-ppt:o010"/>
          <p:cNvSpPr txBox="1"/>
          <p:nvPr/>
        </p:nvSpPr>
        <p:spPr>
          <a:xfrm>
            <a:off x="6400800" y="2377440"/>
            <a:ext cx="4572000" cy="7315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8EDBD4"/>
                </a:solidFill>
                <a:latin typeface="Arial"/>
              </a:rPr>
              <a:t>P_j² ≤ 2 m_j E_j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8EDBD4"/>
                </a:solidFill>
                <a:latin typeface="Arial"/>
              </a:rPr>
              <a:t>E_j ≤ E_avail</a:t>
            </a:r>
          </a:p>
        </p:txBody>
      </p:sp>
      <p:cxnSp>
        <p:nvCxnSpPr>
          <p:cNvPr id="13" name="C3-E18 line 11" descr="sci-ppt:o011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4" name="C3-E18 text 12" descr="sci-ppt:o012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d_j, A_j cross section</a:t>
            </a:r>
          </a:p>
        </p:txBody>
      </p:sp>
      <p:sp>
        <p:nvSpPr>
          <p:cNvPr id="15" name="C3-E18 text 13" descr="sci-ppt:o013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L_j emitted length</a:t>
            </a:r>
          </a:p>
        </p:txBody>
      </p:sp>
      <p:sp>
        <p:nvSpPr>
          <p:cNvPr id="16" name="C3-E18 text 14" descr="sci-ppt:o014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M_j emitted liquid; m_j = ∫dm</a:t>
            </a:r>
          </a:p>
        </p:txBody>
      </p:sp>
      <p:sp>
        <p:nvSpPr>
          <p:cNvPr id="17" name="C3-E18 text 15" descr="sci-ppt:o015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u field; e_z transfer direction</a:t>
            </a:r>
          </a:p>
        </p:txBody>
      </p:sp>
      <p:sp>
        <p:nvSpPr>
          <p:cNvPr id="18" name="C3-E18 text 16" descr="sci-ppt:o016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P_j directional momentum</a:t>
            </a:r>
          </a:p>
        </p:txBody>
      </p:sp>
      <p:sp>
        <p:nvSpPr>
          <p:cNvPr id="19" name="C3-E18 text 17" descr="sci-ppt:o017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E_j, E_avail energy budget</a:t>
            </a:r>
          </a:p>
        </p:txBody>
      </p:sp>
      <p:sp>
        <p:nvSpPr>
          <p:cNvPr id="20" name="C3-E18 text 18" descr="sci-ppt:o018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U_rms finite-mass speed; ρ, π</a:t>
            </a:r>
          </a:p>
        </p:txBody>
      </p:sp>
      <p:sp>
        <p:nvSpPr>
          <p:cNvPr id="21" name="C3-E18 text 19" descr="sci-ppt:o019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Uniform aligned velocity is required for momentum equality</a:t>
            </a:r>
          </a:p>
        </p:txBody>
      </p:sp>
      <p:sp>
        <p:nvSpPr>
          <p:cNvPr id="22" name="C3-E18 text 20" descr="sci-ppt:o020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A mathematical tip can have negligible mass</a:t>
            </a:r>
          </a:p>
        </p:txBody>
      </p:sp>
      <p:sp>
        <p:nvSpPr>
          <p:cNvPr id="23" name="C3-E18 text 21" descr="sci-ppt:o021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19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C3-E19 · Slender-jet volume conservation</a:t>
            </a:r>
          </a:p>
        </p:txBody>
      </p:sp>
      <p:sp>
        <p:nvSpPr>
          <p:cNvPr id="3" name="C3-E19 rect 1" descr="sci-ppt:o001"/>
          <p:cNvSpPr/>
          <p:nvPr/>
        </p:nvSpPr>
        <p:spPr>
          <a:xfrm>
            <a:off x="1920240" y="1463040"/>
            <a:ext cx="6583680" cy="1005840"/>
          </a:xfrm>
          <a:prstGeom prst="rect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3-E19 arrow 2" descr="sci-ppt:o002"/>
          <p:cNvCxnSpPr/>
          <p:nvPr/>
        </p:nvCxnSpPr>
        <p:spPr>
          <a:xfrm>
            <a:off x="731520" y="1965960"/>
            <a:ext cx="24688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5" name="C3-E19 arrow 3" descr="sci-ppt:o003"/>
          <p:cNvCxnSpPr/>
          <p:nvPr/>
        </p:nvCxnSpPr>
        <p:spPr>
          <a:xfrm>
            <a:off x="7132320" y="1965960"/>
            <a:ext cx="374904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3-E19 text 4" descr="sci-ppt:o004"/>
          <p:cNvSpPr txBox="1"/>
          <p:nvPr/>
        </p:nvSpPr>
        <p:spPr>
          <a:xfrm>
            <a:off x="548640" y="2606040"/>
            <a:ext cx="365760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Incoming flux A v |z</a:t>
            </a:r>
          </a:p>
        </p:txBody>
      </p:sp>
      <p:sp>
        <p:nvSpPr>
          <p:cNvPr id="7" name="C3-E19 text 5" descr="sci-ppt:o005"/>
          <p:cNvSpPr txBox="1"/>
          <p:nvPr/>
        </p:nvSpPr>
        <p:spPr>
          <a:xfrm>
            <a:off x="7406640" y="2606040"/>
            <a:ext cx="411480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Outgoing flux A v |z+Δz</a:t>
            </a:r>
          </a:p>
        </p:txBody>
      </p:sp>
      <p:sp>
        <p:nvSpPr>
          <p:cNvPr id="8" name="C3-E19 text 6" descr="sci-ppt:o006"/>
          <p:cNvSpPr txBox="1"/>
          <p:nvPr/>
        </p:nvSpPr>
        <p:spPr>
          <a:xfrm>
            <a:off x="3840480" y="1645920"/>
            <a:ext cx="365760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Fixed axial slice Δz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A(z,t) = πa²</a:t>
            </a:r>
          </a:p>
        </p:txBody>
      </p:sp>
      <p:sp>
        <p:nvSpPr>
          <p:cNvPr id="9" name="C3-E19 text 7" descr="sci-ppt:o007"/>
          <p:cNvSpPr txBox="1"/>
          <p:nvPr/>
        </p:nvSpPr>
        <p:spPr>
          <a:xfrm>
            <a:off x="731520" y="77724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8EDBD4"/>
                </a:solidFill>
                <a:latin typeface="Arial"/>
              </a:rPr>
              <a:t>Slender liquid: axial velocity v(z,t); radius a(z,t)</a:t>
            </a:r>
          </a:p>
        </p:txBody>
      </p:sp>
      <p:sp>
        <p:nvSpPr>
          <p:cNvPr id="10" name="C3-E19 text 8" descr="sci-ppt:o008"/>
          <p:cNvSpPr txBox="1"/>
          <p:nvPr/>
        </p:nvSpPr>
        <p:spPr>
          <a:xfrm>
            <a:off x="914400" y="3337560"/>
            <a:ext cx="106070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Storage changes by incoming minus outgoing volume flux.</a:t>
            </a:r>
          </a:p>
        </p:txBody>
      </p:sp>
      <p:cxnSp>
        <p:nvCxnSpPr>
          <p:cNvPr id="11" name="C3-E19 line 9" descr="sci-ppt:o009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2" name="C3-E19 text 10" descr="sci-ppt:o010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z → axial flight direction</a:t>
            </a:r>
          </a:p>
        </p:txBody>
      </p:sp>
      <p:sp>
        <p:nvSpPr>
          <p:cNvPr id="13" name="C3-E19 text 11" descr="sci-ppt:o011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Δz fixed finite slice; ξ inside</a:t>
            </a:r>
          </a:p>
        </p:txBody>
      </p:sp>
      <p:sp>
        <p:nvSpPr>
          <p:cNvPr id="14" name="C3-E19 text 12" descr="sci-ppt:o012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a(z,t), A = πa²</a:t>
            </a:r>
          </a:p>
        </p:txBody>
      </p:sp>
      <p:sp>
        <p:nvSpPr>
          <p:cNvPr id="15" name="C3-E19 text 13" descr="sci-ppt:o013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Av incoming and outgoing flux</a:t>
            </a:r>
          </a:p>
        </p:txBody>
      </p:sp>
      <p:sp>
        <p:nvSpPr>
          <p:cNvPr id="16" name="C3-E19 text 14" descr="sci-ppt:o014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v average axial velocity</a:t>
            </a:r>
          </a:p>
        </p:txBody>
      </p:sp>
      <p:sp>
        <p:nvSpPr>
          <p:cNvPr id="17" name="C3-E19 text 15" descr="sci-ppt:o015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∂ₜ, ∂z, t: evolution legend</a:t>
            </a:r>
          </a:p>
        </p:txBody>
      </p:sp>
      <p:sp>
        <p:nvSpPr>
          <p:cNvPr id="18" name="C3-E19 text 16" descr="sci-ppt:o016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Positive axial strain thins the jet</a:t>
            </a:r>
          </a:p>
        </p:txBody>
      </p:sp>
      <p:sp>
        <p:nvSpPr>
          <p:cNvPr id="19" name="C3-E19 text 17" descr="sci-ppt:o017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Initial/end data are required</a:t>
            </a:r>
          </a:p>
        </p:txBody>
      </p:sp>
      <p:sp>
        <p:nvSpPr>
          <p:cNvPr id="20" name="C3-E19 text 18" descr="sci-ppt:o018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20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C3-E20 · Newtonian stress and slender axial momentum</a:t>
            </a:r>
          </a:p>
        </p:txBody>
      </p:sp>
      <p:sp>
        <p:nvSpPr>
          <p:cNvPr id="3" name="C3-E20 rect 1" descr="sci-ppt:o001"/>
          <p:cNvSpPr/>
          <p:nvPr/>
        </p:nvSpPr>
        <p:spPr>
          <a:xfrm>
            <a:off x="1920240" y="1463040"/>
            <a:ext cx="6583680" cy="1005840"/>
          </a:xfrm>
          <a:prstGeom prst="rect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3-E20 arrow 2" descr="sci-ppt:o002"/>
          <p:cNvCxnSpPr/>
          <p:nvPr/>
        </p:nvCxnSpPr>
        <p:spPr>
          <a:xfrm>
            <a:off x="731520" y="1965960"/>
            <a:ext cx="24688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5" name="C3-E20 arrow 3" descr="sci-ppt:o003"/>
          <p:cNvCxnSpPr/>
          <p:nvPr/>
        </p:nvCxnSpPr>
        <p:spPr>
          <a:xfrm>
            <a:off x="7132320" y="1965960"/>
            <a:ext cx="374904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3-E20 text 4" descr="sci-ppt:o004"/>
          <p:cNvSpPr txBox="1"/>
          <p:nvPr/>
        </p:nvSpPr>
        <p:spPr>
          <a:xfrm>
            <a:off x="548640" y="2606040"/>
            <a:ext cx="365760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Incoming flux A v |z</a:t>
            </a:r>
          </a:p>
        </p:txBody>
      </p:sp>
      <p:sp>
        <p:nvSpPr>
          <p:cNvPr id="7" name="C3-E20 text 5" descr="sci-ppt:o005"/>
          <p:cNvSpPr txBox="1"/>
          <p:nvPr/>
        </p:nvSpPr>
        <p:spPr>
          <a:xfrm>
            <a:off x="7406640" y="2606040"/>
            <a:ext cx="411480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Outgoing flux A v |z+Δz</a:t>
            </a:r>
          </a:p>
        </p:txBody>
      </p:sp>
      <p:sp>
        <p:nvSpPr>
          <p:cNvPr id="8" name="C3-E20 text 6" descr="sci-ppt:o006"/>
          <p:cNvSpPr txBox="1"/>
          <p:nvPr/>
        </p:nvSpPr>
        <p:spPr>
          <a:xfrm>
            <a:off x="3840480" y="1645920"/>
            <a:ext cx="365760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Fixed axial slice Δz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A(z,t) = πa²</a:t>
            </a:r>
          </a:p>
        </p:txBody>
      </p:sp>
      <p:sp>
        <p:nvSpPr>
          <p:cNvPr id="9" name="C3-E20 text 7" descr="sci-ppt:o007"/>
          <p:cNvSpPr txBox="1"/>
          <p:nvPr/>
        </p:nvSpPr>
        <p:spPr>
          <a:xfrm>
            <a:off x="731520" y="77724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8EDBD4"/>
                </a:solidFill>
                <a:latin typeface="Arial"/>
              </a:rPr>
              <a:t>Slender liquid: axial velocity v(z,t); radius a(z,t)</a:t>
            </a:r>
          </a:p>
        </p:txBody>
      </p:sp>
      <p:sp>
        <p:nvSpPr>
          <p:cNvPr id="10" name="C3-E20 text 8" descr="sci-ppt:o008"/>
          <p:cNvSpPr txBox="1"/>
          <p:nvPr/>
        </p:nvSpPr>
        <p:spPr>
          <a:xfrm>
            <a:off x="914400" y="3337560"/>
            <a:ext cx="106070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Axial extension: τ_zz − τ_rr = 3μ ∂zv; capillary force follows ∂zκ.</a:t>
            </a:r>
          </a:p>
        </p:txBody>
      </p:sp>
      <p:cxnSp>
        <p:nvCxnSpPr>
          <p:cNvPr id="11" name="C3-E20 line 9" descr="sci-ppt:o009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2" name="C3-E20 text 10" descr="sci-ppt:o010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a(z,t), A jet section</a:t>
            </a:r>
          </a:p>
        </p:txBody>
      </p:sp>
      <p:sp>
        <p:nvSpPr>
          <p:cNvPr id="13" name="C3-E20 text 11" descr="sci-ppt:o011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 radial; z axial</a:t>
            </a:r>
          </a:p>
        </p:txBody>
      </p:sp>
      <p:sp>
        <p:nvSpPr>
          <p:cNvPr id="14" name="C3-E20 text 12" descr="sci-ppt:o012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u_r radial; v axial</a:t>
            </a:r>
          </a:p>
        </p:txBody>
      </p:sp>
      <p:sp>
        <p:nvSpPr>
          <p:cNvPr id="15" name="C3-E20 text 13" descr="sci-ppt:o013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τ_zz − τ_rr = 3μ ∂zv</a:t>
            </a:r>
          </a:p>
        </p:txBody>
      </p:sp>
      <p:sp>
        <p:nvSpPr>
          <p:cNvPr id="16" name="C3-E20 text 14" descr="sci-ppt:o014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κ surface curvature</a:t>
            </a:r>
          </a:p>
        </p:txBody>
      </p:sp>
      <p:sp>
        <p:nvSpPr>
          <p:cNvPr id="17" name="C3-E20 text 15" descr="sci-ppt:o015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σ_j, ρ, μ</a:t>
            </a:r>
          </a:p>
        </p:txBody>
      </p:sp>
      <p:sp>
        <p:nvSpPr>
          <p:cNvPr id="18" name="C3-E20 text 16" descr="sci-ppt:o016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∂r, ∂z, ∂zz, ∂ₜ, t</a:t>
            </a:r>
          </a:p>
        </p:txBody>
      </p:sp>
      <p:sp>
        <p:nvSpPr>
          <p:cNvPr id="19" name="C3-E20 text 17" descr="sci-ppt:o017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Regular radial velocity vanishes at r = 0</a:t>
            </a:r>
          </a:p>
        </p:txBody>
      </p:sp>
      <p:sp>
        <p:nvSpPr>
          <p:cNvPr id="20" name="C3-E20 text 18" descr="sci-ppt:o018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Curvature gradients drive axial redistribution</a:t>
            </a:r>
          </a:p>
        </p:txBody>
      </p:sp>
      <p:sp>
        <p:nvSpPr>
          <p:cNvPr id="21" name="C3-E20 text 19" descr="sci-ppt:o019"/>
          <p:cNvSpPr txBox="1"/>
          <p:nvPr/>
        </p:nvSpPr>
        <p:spPr>
          <a:xfrm>
            <a:off x="320040" y="614476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Surrounding dense liquid requires a two-fluid treatment</a:t>
            </a:r>
          </a:p>
        </p:txBody>
      </p:sp>
      <p:sp>
        <p:nvSpPr>
          <p:cNvPr id="22" name="C3-E20 text 20" descr="sci-ppt:o020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21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C3-E21 · Inviscid-cylinder instability derivation</a:t>
            </a:r>
          </a:p>
        </p:txBody>
      </p:sp>
      <p:sp>
        <p:nvSpPr>
          <p:cNvPr id="3" name="C3-E21 rect 1" descr="sci-ppt:o001"/>
          <p:cNvSpPr/>
          <p:nvPr/>
        </p:nvSpPr>
        <p:spPr>
          <a:xfrm>
            <a:off x="731520" y="1508760"/>
            <a:ext cx="4937760" cy="7315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3-E21 arrow 2" descr="sci-ppt:o002"/>
          <p:cNvCxnSpPr/>
          <p:nvPr/>
        </p:nvCxnSpPr>
        <p:spPr>
          <a:xfrm>
            <a:off x="1005840" y="1874519"/>
            <a:ext cx="42976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5" name="C3-E21 text 3" descr="sci-ppt:o003"/>
          <p:cNvSpPr txBox="1"/>
          <p:nvPr/>
        </p:nvSpPr>
        <p:spPr>
          <a:xfrm>
            <a:off x="1463040" y="1051560"/>
            <a:ext cx="39319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Finite emitted liquid: m_j, E_j, U_j</a:t>
            </a:r>
          </a:p>
        </p:txBody>
      </p:sp>
      <p:cxnSp>
        <p:nvCxnSpPr>
          <p:cNvPr id="6" name="C3-E21 line 4" descr="sci-ppt:o004"/>
          <p:cNvCxnSpPr/>
          <p:nvPr/>
        </p:nvCxnSpPr>
        <p:spPr>
          <a:xfrm>
            <a:off x="731520" y="2606040"/>
            <a:ext cx="493776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7" name="C3-E21 text 5" descr="sci-ppt:o005"/>
          <p:cNvSpPr txBox="1"/>
          <p:nvPr/>
        </p:nvSpPr>
        <p:spPr>
          <a:xfrm>
            <a:off x="2743200" y="2697480"/>
            <a:ext cx="1828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L_j</a:t>
            </a:r>
          </a:p>
        </p:txBody>
      </p:sp>
      <p:cxnSp>
        <p:nvCxnSpPr>
          <p:cNvPr id="8" name="C3-E21 line 6" descr="sci-ppt:o006"/>
          <p:cNvCxnSpPr/>
          <p:nvPr/>
        </p:nvCxnSpPr>
        <p:spPr>
          <a:xfrm>
            <a:off x="457200" y="1508760"/>
            <a:ext cx="0" cy="7315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9" name="C3-E21 text 7" descr="sci-ppt:o007"/>
          <p:cNvSpPr txBox="1"/>
          <p:nvPr/>
        </p:nvSpPr>
        <p:spPr>
          <a:xfrm>
            <a:off x="137160" y="2377440"/>
            <a:ext cx="164592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d_j = 2a_j</a:t>
            </a:r>
          </a:p>
        </p:txBody>
      </p:sp>
      <p:cxnSp>
        <p:nvCxnSpPr>
          <p:cNvPr id="10" name="C3-E21 arrow 8" descr="sci-ppt:o008"/>
          <p:cNvCxnSpPr/>
          <p:nvPr/>
        </p:nvCxnSpPr>
        <p:spPr>
          <a:xfrm>
            <a:off x="5760720" y="1874519"/>
            <a:ext cx="47548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1" name="C3-E21 rect 9" descr="sci-ppt:o009"/>
          <p:cNvSpPr/>
          <p:nvPr/>
        </p:nvSpPr>
        <p:spPr>
          <a:xfrm>
            <a:off x="10607040" y="1051560"/>
            <a:ext cx="182880" cy="219456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3-E21 text 10" descr="sci-ppt:o010"/>
          <p:cNvSpPr txBox="1"/>
          <p:nvPr/>
        </p:nvSpPr>
        <p:spPr>
          <a:xfrm>
            <a:off x="7315200" y="2286000"/>
            <a:ext cx="1828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Gap H</a:t>
            </a:r>
          </a:p>
        </p:txBody>
      </p:sp>
      <p:cxnSp>
        <p:nvCxnSpPr>
          <p:cNvPr id="13" name="C3-E21 line 11" descr="sci-ppt:o011"/>
          <p:cNvCxnSpPr/>
          <p:nvPr/>
        </p:nvCxnSpPr>
        <p:spPr>
          <a:xfrm>
            <a:off x="5943600" y="1417319"/>
            <a:ext cx="59436" cy="3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C3-E21 line 12" descr="sci-ppt:o012"/>
          <p:cNvCxnSpPr/>
          <p:nvPr/>
        </p:nvCxnSpPr>
        <p:spPr>
          <a:xfrm>
            <a:off x="6003036" y="1417695"/>
            <a:ext cx="59436" cy="7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C3-E21 line 13" descr="sci-ppt:o013"/>
          <p:cNvCxnSpPr/>
          <p:nvPr/>
        </p:nvCxnSpPr>
        <p:spPr>
          <a:xfrm>
            <a:off x="6062472" y="1425102"/>
            <a:ext cx="59436" cy="1430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C3-E21 line 14" descr="sci-ppt:o014"/>
          <p:cNvCxnSpPr/>
          <p:nvPr/>
        </p:nvCxnSpPr>
        <p:spPr>
          <a:xfrm>
            <a:off x="6121908" y="1439407"/>
            <a:ext cx="59436" cy="2050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C3-E21 line 15" descr="sci-ppt:o015"/>
          <p:cNvCxnSpPr/>
          <p:nvPr/>
        </p:nvCxnSpPr>
        <p:spPr>
          <a:xfrm>
            <a:off x="6181344" y="1459915"/>
            <a:ext cx="59436" cy="254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C3-E21 line 16" descr="sci-ppt:o016"/>
          <p:cNvCxnSpPr/>
          <p:nvPr/>
        </p:nvCxnSpPr>
        <p:spPr>
          <a:xfrm>
            <a:off x="6240780" y="1485396"/>
            <a:ext cx="59436" cy="28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C3-E21 line 17" descr="sci-ppt:o017"/>
          <p:cNvCxnSpPr/>
          <p:nvPr/>
        </p:nvCxnSpPr>
        <p:spPr>
          <a:xfrm>
            <a:off x="6300216" y="1514156"/>
            <a:ext cx="59436" cy="2999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C3-E21 line 18" descr="sci-ppt:o018"/>
          <p:cNvCxnSpPr/>
          <p:nvPr/>
        </p:nvCxnSpPr>
        <p:spPr>
          <a:xfrm>
            <a:off x="6359652" y="1544150"/>
            <a:ext cx="59436" cy="2897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C3-E21 line 19" descr="sci-ppt:o019"/>
          <p:cNvCxnSpPr/>
          <p:nvPr/>
        </p:nvCxnSpPr>
        <p:spPr>
          <a:xfrm>
            <a:off x="6419088" y="1573123"/>
            <a:ext cx="59436" cy="256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C3-E21 line 20" descr="sci-ppt:o020"/>
          <p:cNvCxnSpPr/>
          <p:nvPr/>
        </p:nvCxnSpPr>
        <p:spPr>
          <a:xfrm>
            <a:off x="6478524" y="1598784"/>
            <a:ext cx="59436" cy="2020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C3-E21 line 21" descr="sci-ppt:o021"/>
          <p:cNvCxnSpPr/>
          <p:nvPr/>
        </p:nvCxnSpPr>
        <p:spPr>
          <a:xfrm>
            <a:off x="6537960" y="1618984"/>
            <a:ext cx="59436" cy="1290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C3-E21 line 22" descr="sci-ppt:o022"/>
          <p:cNvCxnSpPr/>
          <p:nvPr/>
        </p:nvCxnSpPr>
        <p:spPr>
          <a:xfrm>
            <a:off x="6597396" y="1631892"/>
            <a:ext cx="59436" cy="426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C3-E21 line 23" descr="sci-ppt:o023"/>
          <p:cNvCxnSpPr/>
          <p:nvPr/>
        </p:nvCxnSpPr>
        <p:spPr>
          <a:xfrm flipV="1">
            <a:off x="6656832" y="1631029"/>
            <a:ext cx="59436" cy="512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C3-E21 line 24" descr="sci-ppt:o024"/>
          <p:cNvCxnSpPr/>
          <p:nvPr/>
        </p:nvCxnSpPr>
        <p:spPr>
          <a:xfrm flipV="1">
            <a:off x="6716268" y="1616458"/>
            <a:ext cx="59436" cy="1457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C3-E21 line 25" descr="sci-ppt:o025"/>
          <p:cNvCxnSpPr/>
          <p:nvPr/>
        </p:nvCxnSpPr>
        <p:spPr>
          <a:xfrm flipV="1">
            <a:off x="6775704" y="1593113"/>
            <a:ext cx="59436" cy="2334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C3-E21 line 26" descr="sci-ppt:o026"/>
          <p:cNvCxnSpPr/>
          <p:nvPr/>
        </p:nvCxnSpPr>
        <p:spPr>
          <a:xfrm flipV="1">
            <a:off x="6835140" y="1562375"/>
            <a:ext cx="59436" cy="3073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C3-E21 line 27" descr="sci-ppt:o027"/>
          <p:cNvCxnSpPr/>
          <p:nvPr/>
        </p:nvCxnSpPr>
        <p:spPr>
          <a:xfrm flipV="1">
            <a:off x="6894576" y="1526249"/>
            <a:ext cx="59436" cy="361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C3-E21 line 28" descr="sci-ppt:o028"/>
          <p:cNvCxnSpPr/>
          <p:nvPr/>
        </p:nvCxnSpPr>
        <p:spPr>
          <a:xfrm flipV="1">
            <a:off x="6954012" y="1487242"/>
            <a:ext cx="59436" cy="390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C3-E21 line 29" descr="sci-ppt:o029"/>
          <p:cNvCxnSpPr/>
          <p:nvPr/>
        </p:nvCxnSpPr>
        <p:spPr>
          <a:xfrm flipV="1">
            <a:off x="7013448" y="1448186"/>
            <a:ext cx="59436" cy="3905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C3-E21 line 30" descr="sci-ppt:o030"/>
          <p:cNvCxnSpPr/>
          <p:nvPr/>
        </p:nvCxnSpPr>
        <p:spPr>
          <a:xfrm flipV="1">
            <a:off x="7072884" y="1412032"/>
            <a:ext cx="59436" cy="3615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C3-E21 line 31" descr="sci-ppt:o031"/>
          <p:cNvCxnSpPr/>
          <p:nvPr/>
        </p:nvCxnSpPr>
        <p:spPr>
          <a:xfrm flipV="1">
            <a:off x="7132320" y="1381631"/>
            <a:ext cx="59436" cy="30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C3-E21 line 32" descr="sci-ppt:o032"/>
          <p:cNvCxnSpPr/>
          <p:nvPr/>
        </p:nvCxnSpPr>
        <p:spPr>
          <a:xfrm flipV="1">
            <a:off x="7191756" y="1359506"/>
            <a:ext cx="59436" cy="2212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C3-E21 line 33" descr="sci-ppt:o033"/>
          <p:cNvCxnSpPr/>
          <p:nvPr/>
        </p:nvCxnSpPr>
        <p:spPr>
          <a:xfrm flipV="1">
            <a:off x="7251192" y="1347648"/>
            <a:ext cx="59436" cy="1185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C3-E21 line 34" descr="sci-ppt:o034"/>
          <p:cNvCxnSpPr/>
          <p:nvPr/>
        </p:nvCxnSpPr>
        <p:spPr>
          <a:xfrm flipV="1">
            <a:off x="7310628" y="1347345"/>
            <a:ext cx="59436" cy="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C3-E21 line 35" descr="sci-ppt:o035"/>
          <p:cNvCxnSpPr/>
          <p:nvPr/>
        </p:nvCxnSpPr>
        <p:spPr>
          <a:xfrm>
            <a:off x="7370064" y="1347345"/>
            <a:ext cx="59436" cy="11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C3-E21 line 36" descr="sci-ppt:o036"/>
          <p:cNvCxnSpPr/>
          <p:nvPr/>
        </p:nvCxnSpPr>
        <p:spPr>
          <a:xfrm>
            <a:off x="7429500" y="1359056"/>
            <a:ext cx="59436" cy="232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C3-E21 line 37" descr="sci-ppt:o037"/>
          <p:cNvCxnSpPr/>
          <p:nvPr/>
        </p:nvCxnSpPr>
        <p:spPr>
          <a:xfrm>
            <a:off x="7488936" y="1382346"/>
            <a:ext cx="59436" cy="335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C3-E21 line 38" descr="sci-ppt:o038"/>
          <p:cNvCxnSpPr/>
          <p:nvPr/>
        </p:nvCxnSpPr>
        <p:spPr>
          <a:xfrm>
            <a:off x="7548372" y="1415888"/>
            <a:ext cx="59436" cy="4164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C3-E21 line 39" descr="sci-ppt:o039"/>
          <p:cNvCxnSpPr/>
          <p:nvPr/>
        </p:nvCxnSpPr>
        <p:spPr>
          <a:xfrm>
            <a:off x="7607808" y="1457534"/>
            <a:ext cx="59436" cy="469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C3-E21 line 40" descr="sci-ppt:o040"/>
          <p:cNvCxnSpPr/>
          <p:nvPr/>
        </p:nvCxnSpPr>
        <p:spPr>
          <a:xfrm>
            <a:off x="7667244" y="1504447"/>
            <a:ext cx="59435" cy="4885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C3-E21 line 41" descr="sci-ppt:o041"/>
          <p:cNvCxnSpPr/>
          <p:nvPr/>
        </p:nvCxnSpPr>
        <p:spPr>
          <a:xfrm>
            <a:off x="7726679" y="1553299"/>
            <a:ext cx="59437" cy="472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C3-E21 line 42" descr="sci-ppt:o042"/>
          <p:cNvCxnSpPr/>
          <p:nvPr/>
        </p:nvCxnSpPr>
        <p:spPr>
          <a:xfrm>
            <a:off x="7786116" y="1600500"/>
            <a:ext cx="59436" cy="419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C3-E21 line 43" descr="sci-ppt:o043"/>
          <p:cNvCxnSpPr/>
          <p:nvPr/>
        </p:nvCxnSpPr>
        <p:spPr>
          <a:xfrm>
            <a:off x="7845552" y="1642469"/>
            <a:ext cx="59436" cy="334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C3-E21 line 44" descr="sci-ppt:o044"/>
          <p:cNvCxnSpPr/>
          <p:nvPr/>
        </p:nvCxnSpPr>
        <p:spPr>
          <a:xfrm>
            <a:off x="7904988" y="1675898"/>
            <a:ext cx="59436" cy="2211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C3-E21 line 45" descr="sci-ppt:o045"/>
          <p:cNvCxnSpPr/>
          <p:nvPr/>
        </p:nvCxnSpPr>
        <p:spPr>
          <a:xfrm>
            <a:off x="7964424" y="1698017"/>
            <a:ext cx="59436" cy="879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C3-E21 line 46" descr="sci-ppt:o046"/>
          <p:cNvCxnSpPr/>
          <p:nvPr/>
        </p:nvCxnSpPr>
        <p:spPr>
          <a:xfrm flipV="1">
            <a:off x="8023860" y="1701224"/>
            <a:ext cx="59436" cy="55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C3-E21 line 47" descr="sci-ppt:o047"/>
          <p:cNvCxnSpPr/>
          <p:nvPr/>
        </p:nvCxnSpPr>
        <p:spPr>
          <a:xfrm flipV="1">
            <a:off x="8083296" y="1681214"/>
            <a:ext cx="59436" cy="2001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C3-E21 line 48" descr="sci-ppt:o048"/>
          <p:cNvCxnSpPr/>
          <p:nvPr/>
        </p:nvCxnSpPr>
        <p:spPr>
          <a:xfrm flipV="1">
            <a:off x="8142732" y="1647836"/>
            <a:ext cx="59436" cy="333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C3-E21 line 49" descr="sci-ppt:o049"/>
          <p:cNvCxnSpPr/>
          <p:nvPr/>
        </p:nvCxnSpPr>
        <p:spPr>
          <a:xfrm flipV="1">
            <a:off x="8202168" y="1603176"/>
            <a:ext cx="59436" cy="446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2" name="C3-E21 line 50" descr="sci-ppt:o050"/>
          <p:cNvCxnSpPr/>
          <p:nvPr/>
        </p:nvCxnSpPr>
        <p:spPr>
          <a:xfrm flipV="1">
            <a:off x="8261604" y="1550222"/>
            <a:ext cx="59436" cy="5295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3" name="C3-E21 line 51" descr="sci-ppt:o051"/>
          <p:cNvCxnSpPr/>
          <p:nvPr/>
        </p:nvCxnSpPr>
        <p:spPr>
          <a:xfrm flipV="1">
            <a:off x="8321040" y="1492668"/>
            <a:ext cx="59435" cy="5755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4" name="C3-E21 line 52" descr="sci-ppt:o052"/>
          <p:cNvCxnSpPr/>
          <p:nvPr/>
        </p:nvCxnSpPr>
        <p:spPr>
          <a:xfrm flipV="1">
            <a:off x="8380475" y="1434659"/>
            <a:ext cx="59437" cy="580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5" name="C3-E21 line 53" descr="sci-ppt:o053"/>
          <p:cNvCxnSpPr/>
          <p:nvPr/>
        </p:nvCxnSpPr>
        <p:spPr>
          <a:xfrm flipV="1">
            <a:off x="8439912" y="1380488"/>
            <a:ext cx="59436" cy="5417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6" name="C3-E21 line 54" descr="sci-ppt:o054"/>
          <p:cNvCxnSpPr/>
          <p:nvPr/>
        </p:nvCxnSpPr>
        <p:spPr>
          <a:xfrm flipV="1">
            <a:off x="8499348" y="1334283"/>
            <a:ext cx="59436" cy="4620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7" name="C3-E21 line 55" descr="sci-ppt:o055"/>
          <p:cNvCxnSpPr/>
          <p:nvPr/>
        </p:nvCxnSpPr>
        <p:spPr>
          <a:xfrm flipV="1">
            <a:off x="8558784" y="1299690"/>
            <a:ext cx="59436" cy="3459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8" name="C3-E21 line 56" descr="sci-ppt:o056"/>
          <p:cNvCxnSpPr/>
          <p:nvPr/>
        </p:nvCxnSpPr>
        <p:spPr>
          <a:xfrm flipV="1">
            <a:off x="8618220" y="1279589"/>
            <a:ext cx="59436" cy="201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9" name="C3-E21 line 57" descr="sci-ppt:o057"/>
          <p:cNvCxnSpPr/>
          <p:nvPr/>
        </p:nvCxnSpPr>
        <p:spPr>
          <a:xfrm flipV="1">
            <a:off x="8677656" y="1275855"/>
            <a:ext cx="59436" cy="373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0" name="C3-E21 line 58" descr="sci-ppt:o058"/>
          <p:cNvCxnSpPr/>
          <p:nvPr/>
        </p:nvCxnSpPr>
        <p:spPr>
          <a:xfrm>
            <a:off x="8737092" y="1275855"/>
            <a:ext cx="59436" cy="133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1" name="C3-E21 line 59" descr="sci-ppt:o059"/>
          <p:cNvCxnSpPr/>
          <p:nvPr/>
        </p:nvCxnSpPr>
        <p:spPr>
          <a:xfrm>
            <a:off x="8796528" y="1289197"/>
            <a:ext cx="59436" cy="298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2" name="C3-E21 line 60" descr="sci-ppt:o060"/>
          <p:cNvCxnSpPr/>
          <p:nvPr/>
        </p:nvCxnSpPr>
        <p:spPr>
          <a:xfrm>
            <a:off x="8855964" y="1319073"/>
            <a:ext cx="59436" cy="4462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3" name="C3-E21 line 61" descr="sci-ppt:o061"/>
          <p:cNvCxnSpPr/>
          <p:nvPr/>
        </p:nvCxnSpPr>
        <p:spPr>
          <a:xfrm>
            <a:off x="8915400" y="1363694"/>
            <a:ext cx="59436" cy="5643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4" name="C3-E21 line 62" descr="sci-ppt:o062"/>
          <p:cNvCxnSpPr/>
          <p:nvPr/>
        </p:nvCxnSpPr>
        <p:spPr>
          <a:xfrm>
            <a:off x="8974836" y="1420133"/>
            <a:ext cx="59436" cy="643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5" name="C3-E21 line 63" descr="sci-ppt:o063"/>
          <p:cNvCxnSpPr/>
          <p:nvPr/>
        </p:nvCxnSpPr>
        <p:spPr>
          <a:xfrm>
            <a:off x="9034272" y="1484512"/>
            <a:ext cx="59436" cy="6775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6" name="C3-E21 line 64" descr="sci-ppt:o064"/>
          <p:cNvCxnSpPr/>
          <p:nvPr/>
        </p:nvCxnSpPr>
        <p:spPr>
          <a:xfrm>
            <a:off x="9093708" y="1552266"/>
            <a:ext cx="59436" cy="662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7" name="C3-E21 line 65" descr="sci-ppt:o065"/>
          <p:cNvCxnSpPr/>
          <p:nvPr/>
        </p:nvCxnSpPr>
        <p:spPr>
          <a:xfrm>
            <a:off x="9153144" y="1618469"/>
            <a:ext cx="59436" cy="597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8" name="C3-E21 line 66" descr="sci-ppt:o066"/>
          <p:cNvCxnSpPr/>
          <p:nvPr/>
        </p:nvCxnSpPr>
        <p:spPr>
          <a:xfrm>
            <a:off x="9212580" y="1678193"/>
            <a:ext cx="59436" cy="48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9" name="C3-E21 line 67" descr="sci-ppt:o067"/>
          <p:cNvCxnSpPr/>
          <p:nvPr/>
        </p:nvCxnSpPr>
        <p:spPr>
          <a:xfrm>
            <a:off x="9272016" y="1726869"/>
            <a:ext cx="59436" cy="337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0" name="C3-E21 line 68" descr="sci-ppt:o068"/>
          <p:cNvCxnSpPr/>
          <p:nvPr/>
        </p:nvCxnSpPr>
        <p:spPr>
          <a:xfrm>
            <a:off x="9331452" y="1760643"/>
            <a:ext cx="59436" cy="1603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1" name="C3-E21 line 69" descr="sci-ppt:o069"/>
          <p:cNvCxnSpPr/>
          <p:nvPr/>
        </p:nvCxnSpPr>
        <p:spPr>
          <a:xfrm flipV="1">
            <a:off x="9390888" y="1773372"/>
            <a:ext cx="59436" cy="3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2" name="C3-E21 line 70" descr="sci-ppt:o070"/>
          <p:cNvCxnSpPr/>
          <p:nvPr/>
        </p:nvCxnSpPr>
        <p:spPr>
          <a:xfrm flipV="1">
            <a:off x="9450324" y="1750538"/>
            <a:ext cx="59436" cy="2283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3" name="C3-E21 line 71" descr="sci-ppt:o071"/>
          <p:cNvCxnSpPr/>
          <p:nvPr/>
        </p:nvCxnSpPr>
        <p:spPr>
          <a:xfrm flipV="1">
            <a:off x="9509760" y="1709416"/>
            <a:ext cx="59436" cy="4112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4" name="C3-E21 line 72" descr="sci-ppt:o072"/>
          <p:cNvCxnSpPr/>
          <p:nvPr/>
        </p:nvCxnSpPr>
        <p:spPr>
          <a:xfrm flipV="1">
            <a:off x="9569196" y="1652633"/>
            <a:ext cx="59436" cy="567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5" name="C3-E21 line 73" descr="sci-ppt:o073"/>
          <p:cNvCxnSpPr/>
          <p:nvPr/>
        </p:nvCxnSpPr>
        <p:spPr>
          <a:xfrm flipV="1">
            <a:off x="9628632" y="1584029"/>
            <a:ext cx="59435" cy="686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6" name="C3-E21 line 74" descr="sci-ppt:o074"/>
          <p:cNvCxnSpPr/>
          <p:nvPr/>
        </p:nvCxnSpPr>
        <p:spPr>
          <a:xfrm flipV="1">
            <a:off x="9688067" y="1508404"/>
            <a:ext cx="59437" cy="7562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7" name="C3-E21 line 75" descr="sci-ppt:o075"/>
          <p:cNvCxnSpPr/>
          <p:nvPr/>
        </p:nvCxnSpPr>
        <p:spPr>
          <a:xfrm flipV="1">
            <a:off x="9747504" y="1431179"/>
            <a:ext cx="59436" cy="7722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8" name="C3-E21 line 76" descr="sci-ppt:o076"/>
          <p:cNvCxnSpPr/>
          <p:nvPr/>
        </p:nvCxnSpPr>
        <p:spPr>
          <a:xfrm flipV="1">
            <a:off x="9806940" y="1358008"/>
            <a:ext cx="59436" cy="7317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9" name="C3-E21 line 77" descr="sci-ppt:o077"/>
          <p:cNvCxnSpPr/>
          <p:nvPr/>
        </p:nvCxnSpPr>
        <p:spPr>
          <a:xfrm flipV="1">
            <a:off x="9866376" y="1294367"/>
            <a:ext cx="59436" cy="636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0" name="C3-E21 line 78" descr="sci-ppt:o078"/>
          <p:cNvCxnSpPr/>
          <p:nvPr/>
        </p:nvCxnSpPr>
        <p:spPr>
          <a:xfrm flipV="1">
            <a:off x="9925812" y="1245141"/>
            <a:ext cx="59436" cy="492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1" name="C3-E21 line 79" descr="sci-ppt:o079"/>
          <p:cNvCxnSpPr/>
          <p:nvPr/>
        </p:nvCxnSpPr>
        <p:spPr>
          <a:xfrm flipV="1">
            <a:off x="9985248" y="1214251"/>
            <a:ext cx="59436" cy="308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2" name="C3-E21 text 80" descr="sci-ppt:o080"/>
          <p:cNvSpPr txBox="1"/>
          <p:nvPr/>
        </p:nvSpPr>
        <p:spPr>
          <a:xfrm>
            <a:off x="5852160" y="822960"/>
            <a:ext cx="53035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δ₀ → δ_arr during H/U_j</a:t>
            </a:r>
          </a:p>
        </p:txBody>
      </p:sp>
      <p:sp>
        <p:nvSpPr>
          <p:cNvPr id="83" name="C3-E21 text 81" descr="sci-ppt:o081"/>
          <p:cNvSpPr txBox="1"/>
          <p:nvPr/>
        </p:nvSpPr>
        <p:spPr>
          <a:xfrm>
            <a:off x="1097280" y="3383280"/>
            <a:ext cx="100584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8EDBD4"/>
                </a:solidFill>
                <a:latin typeface="Arial"/>
              </a:rPr>
              <a:t>Linear growth applies while disturbances remain small relative to radius.</a:t>
            </a:r>
          </a:p>
        </p:txBody>
      </p:sp>
      <p:cxnSp>
        <p:nvCxnSpPr>
          <p:cNvPr id="84" name="C3-E21 line 82" descr="sci-ppt:o082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85" name="C3-E21 text 83" descr="sci-ppt:o083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a₀ base radius; a perturbed radius</a:t>
            </a:r>
          </a:p>
        </p:txBody>
      </p:sp>
      <p:sp>
        <p:nvSpPr>
          <p:cNvPr id="86" name="C3-E21 text 84" descr="sci-ppt:o084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δ, δ₀ neck amplitude</a:t>
            </a:r>
          </a:p>
        </p:txBody>
      </p:sp>
      <p:sp>
        <p:nvSpPr>
          <p:cNvPr id="87" name="C3-E21 text 85" descr="sci-ppt:o085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z − U_j t moving axial position</a:t>
            </a:r>
          </a:p>
        </p:txBody>
      </p:sp>
      <p:sp>
        <p:nvSpPr>
          <p:cNvPr id="88" name="C3-E21 text 86" descr="sci-ppt:o086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r, k; q = k a₀</a:t>
            </a:r>
          </a:p>
        </p:txBody>
      </p:sp>
      <p:sp>
        <p:nvSpPr>
          <p:cNvPr id="89" name="C3-E21 text 87" descr="sci-ppt:o087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ψ, B; I₀, I₁ radial solution</a:t>
            </a:r>
          </a:p>
        </p:txBody>
      </p:sp>
      <p:sp>
        <p:nvSpPr>
          <p:cNvPr id="90" name="C3-E21 text 88" descr="sci-ppt:o088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g growth rate; exp(gt), cos</a:t>
            </a:r>
          </a:p>
        </p:txBody>
      </p:sp>
      <p:sp>
        <p:nvSpPr>
          <p:cNvPr id="91" name="C3-E21 text 89" descr="sci-ppt:o089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κ, σ_j, ρ surface balance</a:t>
            </a:r>
          </a:p>
        </p:txBody>
      </p:sp>
      <p:sp>
        <p:nvSpPr>
          <p:cNvPr id="92" name="C3-E21 text 90" descr="sci-ppt:o090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Unstable wavelengths exceed cylinder circumference</a:t>
            </a:r>
          </a:p>
        </p:txBody>
      </p:sp>
      <p:sp>
        <p:nvSpPr>
          <p:cNvPr id="93" name="C3-E21 text 91" descr="sci-ppt:o091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This is capillary breakup of an emitted jet, not acoustic bubble forcing</a:t>
            </a:r>
          </a:p>
        </p:txBody>
      </p:sp>
      <p:sp>
        <p:nvSpPr>
          <p:cNvPr id="94" name="C3-E21 text 92" descr="sci-ppt:o092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22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C3-E22 · Finite-flight growth and regime diagnostics</a:t>
            </a:r>
          </a:p>
        </p:txBody>
      </p:sp>
      <p:sp>
        <p:nvSpPr>
          <p:cNvPr id="3" name="C3-E22 rect 1" descr="sci-ppt:o001"/>
          <p:cNvSpPr/>
          <p:nvPr/>
        </p:nvSpPr>
        <p:spPr>
          <a:xfrm>
            <a:off x="731520" y="1508760"/>
            <a:ext cx="4937760" cy="7315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3-E22 arrow 2" descr="sci-ppt:o002"/>
          <p:cNvCxnSpPr/>
          <p:nvPr/>
        </p:nvCxnSpPr>
        <p:spPr>
          <a:xfrm>
            <a:off x="1005840" y="1874519"/>
            <a:ext cx="42976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5" name="C3-E22 text 3" descr="sci-ppt:o003"/>
          <p:cNvSpPr txBox="1"/>
          <p:nvPr/>
        </p:nvSpPr>
        <p:spPr>
          <a:xfrm>
            <a:off x="1463040" y="1051560"/>
            <a:ext cx="39319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Finite emitted liquid: m_j, E_j, U_j</a:t>
            </a:r>
          </a:p>
        </p:txBody>
      </p:sp>
      <p:cxnSp>
        <p:nvCxnSpPr>
          <p:cNvPr id="6" name="C3-E22 line 4" descr="sci-ppt:o004"/>
          <p:cNvCxnSpPr/>
          <p:nvPr/>
        </p:nvCxnSpPr>
        <p:spPr>
          <a:xfrm>
            <a:off x="731520" y="2606040"/>
            <a:ext cx="493776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7" name="C3-E22 text 5" descr="sci-ppt:o005"/>
          <p:cNvSpPr txBox="1"/>
          <p:nvPr/>
        </p:nvSpPr>
        <p:spPr>
          <a:xfrm>
            <a:off x="2743200" y="2697480"/>
            <a:ext cx="1828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L_j</a:t>
            </a:r>
          </a:p>
        </p:txBody>
      </p:sp>
      <p:cxnSp>
        <p:nvCxnSpPr>
          <p:cNvPr id="8" name="C3-E22 line 6" descr="sci-ppt:o006"/>
          <p:cNvCxnSpPr/>
          <p:nvPr/>
        </p:nvCxnSpPr>
        <p:spPr>
          <a:xfrm>
            <a:off x="457200" y="1508760"/>
            <a:ext cx="0" cy="7315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9" name="C3-E22 text 7" descr="sci-ppt:o007"/>
          <p:cNvSpPr txBox="1"/>
          <p:nvPr/>
        </p:nvSpPr>
        <p:spPr>
          <a:xfrm>
            <a:off x="137160" y="2377440"/>
            <a:ext cx="164592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d_j = 2a_j</a:t>
            </a:r>
          </a:p>
        </p:txBody>
      </p:sp>
      <p:cxnSp>
        <p:nvCxnSpPr>
          <p:cNvPr id="10" name="C3-E22 arrow 8" descr="sci-ppt:o008"/>
          <p:cNvCxnSpPr/>
          <p:nvPr/>
        </p:nvCxnSpPr>
        <p:spPr>
          <a:xfrm>
            <a:off x="5760720" y="1874519"/>
            <a:ext cx="47548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1" name="C3-E22 rect 9" descr="sci-ppt:o009"/>
          <p:cNvSpPr/>
          <p:nvPr/>
        </p:nvSpPr>
        <p:spPr>
          <a:xfrm>
            <a:off x="10607040" y="1051560"/>
            <a:ext cx="182880" cy="219456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3-E22 text 10" descr="sci-ppt:o010"/>
          <p:cNvSpPr txBox="1"/>
          <p:nvPr/>
        </p:nvSpPr>
        <p:spPr>
          <a:xfrm>
            <a:off x="7315200" y="2286000"/>
            <a:ext cx="1828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Gap H</a:t>
            </a:r>
          </a:p>
        </p:txBody>
      </p:sp>
      <p:cxnSp>
        <p:nvCxnSpPr>
          <p:cNvPr id="13" name="C3-E22 line 11" descr="sci-ppt:o011"/>
          <p:cNvCxnSpPr/>
          <p:nvPr/>
        </p:nvCxnSpPr>
        <p:spPr>
          <a:xfrm>
            <a:off x="5943600" y="1417319"/>
            <a:ext cx="59436" cy="3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C3-E22 line 12" descr="sci-ppt:o012"/>
          <p:cNvCxnSpPr/>
          <p:nvPr/>
        </p:nvCxnSpPr>
        <p:spPr>
          <a:xfrm>
            <a:off x="6003036" y="1417695"/>
            <a:ext cx="59436" cy="7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C3-E22 line 13" descr="sci-ppt:o013"/>
          <p:cNvCxnSpPr/>
          <p:nvPr/>
        </p:nvCxnSpPr>
        <p:spPr>
          <a:xfrm>
            <a:off x="6062472" y="1425102"/>
            <a:ext cx="59436" cy="1430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C3-E22 line 14" descr="sci-ppt:o014"/>
          <p:cNvCxnSpPr/>
          <p:nvPr/>
        </p:nvCxnSpPr>
        <p:spPr>
          <a:xfrm>
            <a:off x="6121908" y="1439407"/>
            <a:ext cx="59436" cy="2050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C3-E22 line 15" descr="sci-ppt:o015"/>
          <p:cNvCxnSpPr/>
          <p:nvPr/>
        </p:nvCxnSpPr>
        <p:spPr>
          <a:xfrm>
            <a:off x="6181344" y="1459915"/>
            <a:ext cx="59436" cy="254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C3-E22 line 16" descr="sci-ppt:o016"/>
          <p:cNvCxnSpPr/>
          <p:nvPr/>
        </p:nvCxnSpPr>
        <p:spPr>
          <a:xfrm>
            <a:off x="6240780" y="1485396"/>
            <a:ext cx="59436" cy="28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C3-E22 line 17" descr="sci-ppt:o017"/>
          <p:cNvCxnSpPr/>
          <p:nvPr/>
        </p:nvCxnSpPr>
        <p:spPr>
          <a:xfrm>
            <a:off x="6300216" y="1514156"/>
            <a:ext cx="59436" cy="2999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C3-E22 line 18" descr="sci-ppt:o018"/>
          <p:cNvCxnSpPr/>
          <p:nvPr/>
        </p:nvCxnSpPr>
        <p:spPr>
          <a:xfrm>
            <a:off x="6359652" y="1544150"/>
            <a:ext cx="59436" cy="2897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C3-E22 line 19" descr="sci-ppt:o019"/>
          <p:cNvCxnSpPr/>
          <p:nvPr/>
        </p:nvCxnSpPr>
        <p:spPr>
          <a:xfrm>
            <a:off x="6419088" y="1573123"/>
            <a:ext cx="59436" cy="256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C3-E22 line 20" descr="sci-ppt:o020"/>
          <p:cNvCxnSpPr/>
          <p:nvPr/>
        </p:nvCxnSpPr>
        <p:spPr>
          <a:xfrm>
            <a:off x="6478524" y="1598784"/>
            <a:ext cx="59436" cy="2020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C3-E22 line 21" descr="sci-ppt:o021"/>
          <p:cNvCxnSpPr/>
          <p:nvPr/>
        </p:nvCxnSpPr>
        <p:spPr>
          <a:xfrm>
            <a:off x="6537960" y="1618984"/>
            <a:ext cx="59436" cy="1290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C3-E22 line 22" descr="sci-ppt:o022"/>
          <p:cNvCxnSpPr/>
          <p:nvPr/>
        </p:nvCxnSpPr>
        <p:spPr>
          <a:xfrm>
            <a:off x="6597396" y="1631892"/>
            <a:ext cx="59436" cy="426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C3-E22 line 23" descr="sci-ppt:o023"/>
          <p:cNvCxnSpPr/>
          <p:nvPr/>
        </p:nvCxnSpPr>
        <p:spPr>
          <a:xfrm flipV="1">
            <a:off x="6656832" y="1631029"/>
            <a:ext cx="59436" cy="512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C3-E22 line 24" descr="sci-ppt:o024"/>
          <p:cNvCxnSpPr/>
          <p:nvPr/>
        </p:nvCxnSpPr>
        <p:spPr>
          <a:xfrm flipV="1">
            <a:off x="6716268" y="1616458"/>
            <a:ext cx="59436" cy="1457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C3-E22 line 25" descr="sci-ppt:o025"/>
          <p:cNvCxnSpPr/>
          <p:nvPr/>
        </p:nvCxnSpPr>
        <p:spPr>
          <a:xfrm flipV="1">
            <a:off x="6775704" y="1593113"/>
            <a:ext cx="59436" cy="2334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C3-E22 line 26" descr="sci-ppt:o026"/>
          <p:cNvCxnSpPr/>
          <p:nvPr/>
        </p:nvCxnSpPr>
        <p:spPr>
          <a:xfrm flipV="1">
            <a:off x="6835140" y="1562375"/>
            <a:ext cx="59436" cy="3073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C3-E22 line 27" descr="sci-ppt:o027"/>
          <p:cNvCxnSpPr/>
          <p:nvPr/>
        </p:nvCxnSpPr>
        <p:spPr>
          <a:xfrm flipV="1">
            <a:off x="6894576" y="1526249"/>
            <a:ext cx="59436" cy="361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C3-E22 line 28" descr="sci-ppt:o028"/>
          <p:cNvCxnSpPr/>
          <p:nvPr/>
        </p:nvCxnSpPr>
        <p:spPr>
          <a:xfrm flipV="1">
            <a:off x="6954012" y="1487242"/>
            <a:ext cx="59436" cy="390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C3-E22 line 29" descr="sci-ppt:o029"/>
          <p:cNvCxnSpPr/>
          <p:nvPr/>
        </p:nvCxnSpPr>
        <p:spPr>
          <a:xfrm flipV="1">
            <a:off x="7013448" y="1448186"/>
            <a:ext cx="59436" cy="3905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C3-E22 line 30" descr="sci-ppt:o030"/>
          <p:cNvCxnSpPr/>
          <p:nvPr/>
        </p:nvCxnSpPr>
        <p:spPr>
          <a:xfrm flipV="1">
            <a:off x="7072884" y="1412032"/>
            <a:ext cx="59436" cy="3615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C3-E22 line 31" descr="sci-ppt:o031"/>
          <p:cNvCxnSpPr/>
          <p:nvPr/>
        </p:nvCxnSpPr>
        <p:spPr>
          <a:xfrm flipV="1">
            <a:off x="7132320" y="1381631"/>
            <a:ext cx="59436" cy="30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C3-E22 line 32" descr="sci-ppt:o032"/>
          <p:cNvCxnSpPr/>
          <p:nvPr/>
        </p:nvCxnSpPr>
        <p:spPr>
          <a:xfrm flipV="1">
            <a:off x="7191756" y="1359506"/>
            <a:ext cx="59436" cy="2212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C3-E22 line 33" descr="sci-ppt:o033"/>
          <p:cNvCxnSpPr/>
          <p:nvPr/>
        </p:nvCxnSpPr>
        <p:spPr>
          <a:xfrm flipV="1">
            <a:off x="7251192" y="1347648"/>
            <a:ext cx="59436" cy="1185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C3-E22 line 34" descr="sci-ppt:o034"/>
          <p:cNvCxnSpPr/>
          <p:nvPr/>
        </p:nvCxnSpPr>
        <p:spPr>
          <a:xfrm flipV="1">
            <a:off x="7310628" y="1347345"/>
            <a:ext cx="59436" cy="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C3-E22 line 35" descr="sci-ppt:o035"/>
          <p:cNvCxnSpPr/>
          <p:nvPr/>
        </p:nvCxnSpPr>
        <p:spPr>
          <a:xfrm>
            <a:off x="7370064" y="1347345"/>
            <a:ext cx="59436" cy="11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C3-E22 line 36" descr="sci-ppt:o036"/>
          <p:cNvCxnSpPr/>
          <p:nvPr/>
        </p:nvCxnSpPr>
        <p:spPr>
          <a:xfrm>
            <a:off x="7429500" y="1359056"/>
            <a:ext cx="59436" cy="232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C3-E22 line 37" descr="sci-ppt:o037"/>
          <p:cNvCxnSpPr/>
          <p:nvPr/>
        </p:nvCxnSpPr>
        <p:spPr>
          <a:xfrm>
            <a:off x="7488936" y="1382346"/>
            <a:ext cx="59436" cy="335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C3-E22 line 38" descr="sci-ppt:o038"/>
          <p:cNvCxnSpPr/>
          <p:nvPr/>
        </p:nvCxnSpPr>
        <p:spPr>
          <a:xfrm>
            <a:off x="7548372" y="1415888"/>
            <a:ext cx="59436" cy="4164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C3-E22 line 39" descr="sci-ppt:o039"/>
          <p:cNvCxnSpPr/>
          <p:nvPr/>
        </p:nvCxnSpPr>
        <p:spPr>
          <a:xfrm>
            <a:off x="7607808" y="1457534"/>
            <a:ext cx="59436" cy="469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C3-E22 line 40" descr="sci-ppt:o040"/>
          <p:cNvCxnSpPr/>
          <p:nvPr/>
        </p:nvCxnSpPr>
        <p:spPr>
          <a:xfrm>
            <a:off x="7667244" y="1504447"/>
            <a:ext cx="59435" cy="4885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C3-E22 line 41" descr="sci-ppt:o041"/>
          <p:cNvCxnSpPr/>
          <p:nvPr/>
        </p:nvCxnSpPr>
        <p:spPr>
          <a:xfrm>
            <a:off x="7726679" y="1553299"/>
            <a:ext cx="59437" cy="472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C3-E22 line 42" descr="sci-ppt:o042"/>
          <p:cNvCxnSpPr/>
          <p:nvPr/>
        </p:nvCxnSpPr>
        <p:spPr>
          <a:xfrm>
            <a:off x="7786116" y="1600500"/>
            <a:ext cx="59436" cy="419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C3-E22 line 43" descr="sci-ppt:o043"/>
          <p:cNvCxnSpPr/>
          <p:nvPr/>
        </p:nvCxnSpPr>
        <p:spPr>
          <a:xfrm>
            <a:off x="7845552" y="1642469"/>
            <a:ext cx="59436" cy="334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C3-E22 line 44" descr="sci-ppt:o044"/>
          <p:cNvCxnSpPr/>
          <p:nvPr/>
        </p:nvCxnSpPr>
        <p:spPr>
          <a:xfrm>
            <a:off x="7904988" y="1675898"/>
            <a:ext cx="59436" cy="2211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C3-E22 line 45" descr="sci-ppt:o045"/>
          <p:cNvCxnSpPr/>
          <p:nvPr/>
        </p:nvCxnSpPr>
        <p:spPr>
          <a:xfrm>
            <a:off x="7964424" y="1698017"/>
            <a:ext cx="59436" cy="879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C3-E22 line 46" descr="sci-ppt:o046"/>
          <p:cNvCxnSpPr/>
          <p:nvPr/>
        </p:nvCxnSpPr>
        <p:spPr>
          <a:xfrm flipV="1">
            <a:off x="8023860" y="1701224"/>
            <a:ext cx="59436" cy="55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C3-E22 line 47" descr="sci-ppt:o047"/>
          <p:cNvCxnSpPr/>
          <p:nvPr/>
        </p:nvCxnSpPr>
        <p:spPr>
          <a:xfrm flipV="1">
            <a:off x="8083296" y="1681214"/>
            <a:ext cx="59436" cy="2001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C3-E22 line 48" descr="sci-ppt:o048"/>
          <p:cNvCxnSpPr/>
          <p:nvPr/>
        </p:nvCxnSpPr>
        <p:spPr>
          <a:xfrm flipV="1">
            <a:off x="8142732" y="1647836"/>
            <a:ext cx="59436" cy="333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C3-E22 line 49" descr="sci-ppt:o049"/>
          <p:cNvCxnSpPr/>
          <p:nvPr/>
        </p:nvCxnSpPr>
        <p:spPr>
          <a:xfrm flipV="1">
            <a:off x="8202168" y="1603176"/>
            <a:ext cx="59436" cy="446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2" name="C3-E22 line 50" descr="sci-ppt:o050"/>
          <p:cNvCxnSpPr/>
          <p:nvPr/>
        </p:nvCxnSpPr>
        <p:spPr>
          <a:xfrm flipV="1">
            <a:off x="8261604" y="1550222"/>
            <a:ext cx="59436" cy="5295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3" name="C3-E22 line 51" descr="sci-ppt:o051"/>
          <p:cNvCxnSpPr/>
          <p:nvPr/>
        </p:nvCxnSpPr>
        <p:spPr>
          <a:xfrm flipV="1">
            <a:off x="8321040" y="1492668"/>
            <a:ext cx="59435" cy="5755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4" name="C3-E22 line 52" descr="sci-ppt:o052"/>
          <p:cNvCxnSpPr/>
          <p:nvPr/>
        </p:nvCxnSpPr>
        <p:spPr>
          <a:xfrm flipV="1">
            <a:off x="8380475" y="1434659"/>
            <a:ext cx="59437" cy="580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5" name="C3-E22 line 53" descr="sci-ppt:o053"/>
          <p:cNvCxnSpPr/>
          <p:nvPr/>
        </p:nvCxnSpPr>
        <p:spPr>
          <a:xfrm flipV="1">
            <a:off x="8439912" y="1380488"/>
            <a:ext cx="59436" cy="5417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6" name="C3-E22 line 54" descr="sci-ppt:o054"/>
          <p:cNvCxnSpPr/>
          <p:nvPr/>
        </p:nvCxnSpPr>
        <p:spPr>
          <a:xfrm flipV="1">
            <a:off x="8499348" y="1334283"/>
            <a:ext cx="59436" cy="4620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7" name="C3-E22 line 55" descr="sci-ppt:o055"/>
          <p:cNvCxnSpPr/>
          <p:nvPr/>
        </p:nvCxnSpPr>
        <p:spPr>
          <a:xfrm flipV="1">
            <a:off x="8558784" y="1299690"/>
            <a:ext cx="59436" cy="3459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8" name="C3-E22 line 56" descr="sci-ppt:o056"/>
          <p:cNvCxnSpPr/>
          <p:nvPr/>
        </p:nvCxnSpPr>
        <p:spPr>
          <a:xfrm flipV="1">
            <a:off x="8618220" y="1279589"/>
            <a:ext cx="59436" cy="201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9" name="C3-E22 line 57" descr="sci-ppt:o057"/>
          <p:cNvCxnSpPr/>
          <p:nvPr/>
        </p:nvCxnSpPr>
        <p:spPr>
          <a:xfrm flipV="1">
            <a:off x="8677656" y="1275855"/>
            <a:ext cx="59436" cy="373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0" name="C3-E22 line 58" descr="sci-ppt:o058"/>
          <p:cNvCxnSpPr/>
          <p:nvPr/>
        </p:nvCxnSpPr>
        <p:spPr>
          <a:xfrm>
            <a:off x="8737092" y="1275855"/>
            <a:ext cx="59436" cy="133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1" name="C3-E22 line 59" descr="sci-ppt:o059"/>
          <p:cNvCxnSpPr/>
          <p:nvPr/>
        </p:nvCxnSpPr>
        <p:spPr>
          <a:xfrm>
            <a:off x="8796528" y="1289197"/>
            <a:ext cx="59436" cy="298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2" name="C3-E22 line 60" descr="sci-ppt:o060"/>
          <p:cNvCxnSpPr/>
          <p:nvPr/>
        </p:nvCxnSpPr>
        <p:spPr>
          <a:xfrm>
            <a:off x="8855964" y="1319073"/>
            <a:ext cx="59436" cy="4462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3" name="C3-E22 line 61" descr="sci-ppt:o061"/>
          <p:cNvCxnSpPr/>
          <p:nvPr/>
        </p:nvCxnSpPr>
        <p:spPr>
          <a:xfrm>
            <a:off x="8915400" y="1363694"/>
            <a:ext cx="59436" cy="5643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4" name="C3-E22 line 62" descr="sci-ppt:o062"/>
          <p:cNvCxnSpPr/>
          <p:nvPr/>
        </p:nvCxnSpPr>
        <p:spPr>
          <a:xfrm>
            <a:off x="8974836" y="1420133"/>
            <a:ext cx="59436" cy="643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5" name="C3-E22 line 63" descr="sci-ppt:o063"/>
          <p:cNvCxnSpPr/>
          <p:nvPr/>
        </p:nvCxnSpPr>
        <p:spPr>
          <a:xfrm>
            <a:off x="9034272" y="1484512"/>
            <a:ext cx="59436" cy="6775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6" name="C3-E22 line 64" descr="sci-ppt:o064"/>
          <p:cNvCxnSpPr/>
          <p:nvPr/>
        </p:nvCxnSpPr>
        <p:spPr>
          <a:xfrm>
            <a:off x="9093708" y="1552266"/>
            <a:ext cx="59436" cy="662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7" name="C3-E22 line 65" descr="sci-ppt:o065"/>
          <p:cNvCxnSpPr/>
          <p:nvPr/>
        </p:nvCxnSpPr>
        <p:spPr>
          <a:xfrm>
            <a:off x="9153144" y="1618469"/>
            <a:ext cx="59436" cy="597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8" name="C3-E22 line 66" descr="sci-ppt:o066"/>
          <p:cNvCxnSpPr/>
          <p:nvPr/>
        </p:nvCxnSpPr>
        <p:spPr>
          <a:xfrm>
            <a:off x="9212580" y="1678193"/>
            <a:ext cx="59436" cy="48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9" name="C3-E22 line 67" descr="sci-ppt:o067"/>
          <p:cNvCxnSpPr/>
          <p:nvPr/>
        </p:nvCxnSpPr>
        <p:spPr>
          <a:xfrm>
            <a:off x="9272016" y="1726869"/>
            <a:ext cx="59436" cy="337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0" name="C3-E22 line 68" descr="sci-ppt:o068"/>
          <p:cNvCxnSpPr/>
          <p:nvPr/>
        </p:nvCxnSpPr>
        <p:spPr>
          <a:xfrm>
            <a:off x="9331452" y="1760643"/>
            <a:ext cx="59436" cy="1603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1" name="C3-E22 line 69" descr="sci-ppt:o069"/>
          <p:cNvCxnSpPr/>
          <p:nvPr/>
        </p:nvCxnSpPr>
        <p:spPr>
          <a:xfrm flipV="1">
            <a:off x="9390888" y="1773372"/>
            <a:ext cx="59436" cy="3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2" name="C3-E22 line 70" descr="sci-ppt:o070"/>
          <p:cNvCxnSpPr/>
          <p:nvPr/>
        </p:nvCxnSpPr>
        <p:spPr>
          <a:xfrm flipV="1">
            <a:off x="9450324" y="1750538"/>
            <a:ext cx="59436" cy="2283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3" name="C3-E22 line 71" descr="sci-ppt:o071"/>
          <p:cNvCxnSpPr/>
          <p:nvPr/>
        </p:nvCxnSpPr>
        <p:spPr>
          <a:xfrm flipV="1">
            <a:off x="9509760" y="1709416"/>
            <a:ext cx="59436" cy="4112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4" name="C3-E22 line 72" descr="sci-ppt:o072"/>
          <p:cNvCxnSpPr/>
          <p:nvPr/>
        </p:nvCxnSpPr>
        <p:spPr>
          <a:xfrm flipV="1">
            <a:off x="9569196" y="1652633"/>
            <a:ext cx="59436" cy="567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5" name="C3-E22 line 73" descr="sci-ppt:o073"/>
          <p:cNvCxnSpPr/>
          <p:nvPr/>
        </p:nvCxnSpPr>
        <p:spPr>
          <a:xfrm flipV="1">
            <a:off x="9628632" y="1584029"/>
            <a:ext cx="59435" cy="686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6" name="C3-E22 line 74" descr="sci-ppt:o074"/>
          <p:cNvCxnSpPr/>
          <p:nvPr/>
        </p:nvCxnSpPr>
        <p:spPr>
          <a:xfrm flipV="1">
            <a:off x="9688067" y="1508404"/>
            <a:ext cx="59437" cy="7562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7" name="C3-E22 line 75" descr="sci-ppt:o075"/>
          <p:cNvCxnSpPr/>
          <p:nvPr/>
        </p:nvCxnSpPr>
        <p:spPr>
          <a:xfrm flipV="1">
            <a:off x="9747504" y="1431179"/>
            <a:ext cx="59436" cy="7722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8" name="C3-E22 line 76" descr="sci-ppt:o076"/>
          <p:cNvCxnSpPr/>
          <p:nvPr/>
        </p:nvCxnSpPr>
        <p:spPr>
          <a:xfrm flipV="1">
            <a:off x="9806940" y="1358008"/>
            <a:ext cx="59436" cy="7317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9" name="C3-E22 line 77" descr="sci-ppt:o077"/>
          <p:cNvCxnSpPr/>
          <p:nvPr/>
        </p:nvCxnSpPr>
        <p:spPr>
          <a:xfrm flipV="1">
            <a:off x="9866376" y="1294367"/>
            <a:ext cx="59436" cy="636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0" name="C3-E22 line 78" descr="sci-ppt:o078"/>
          <p:cNvCxnSpPr/>
          <p:nvPr/>
        </p:nvCxnSpPr>
        <p:spPr>
          <a:xfrm flipV="1">
            <a:off x="9925812" y="1245141"/>
            <a:ext cx="59436" cy="492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1" name="C3-E22 line 79" descr="sci-ppt:o079"/>
          <p:cNvCxnSpPr/>
          <p:nvPr/>
        </p:nvCxnSpPr>
        <p:spPr>
          <a:xfrm flipV="1">
            <a:off x="9985248" y="1214251"/>
            <a:ext cx="59436" cy="308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2" name="C3-E22 text 80" descr="sci-ppt:o080"/>
          <p:cNvSpPr txBox="1"/>
          <p:nvPr/>
        </p:nvSpPr>
        <p:spPr>
          <a:xfrm>
            <a:off x="5852160" y="822960"/>
            <a:ext cx="53035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δ₀ → δ_arr during H/U_j</a:t>
            </a:r>
          </a:p>
        </p:txBody>
      </p:sp>
      <p:sp>
        <p:nvSpPr>
          <p:cNvPr id="83" name="C3-E22 text 81" descr="sci-ppt:o081"/>
          <p:cNvSpPr txBox="1"/>
          <p:nvPr/>
        </p:nvSpPr>
        <p:spPr>
          <a:xfrm>
            <a:off x="1097280" y="3383280"/>
            <a:ext cx="100584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8EDBD4"/>
                </a:solidFill>
                <a:latin typeface="Arial"/>
              </a:rPr>
              <a:t>Linear growth applies while disturbances remain small relative to radius.</a:t>
            </a:r>
          </a:p>
        </p:txBody>
      </p:sp>
      <p:cxnSp>
        <p:nvCxnSpPr>
          <p:cNvPr id="84" name="C3-E22 line 82" descr="sci-ppt:o082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85" name="C3-E22 text 83" descr="sci-ppt:o083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H flight gap; U_j travel speed</a:t>
            </a:r>
          </a:p>
        </p:txBody>
      </p:sp>
      <p:sp>
        <p:nvSpPr>
          <p:cNvPr id="86" name="C3-E22 text 84" descr="sci-ppt:o084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a₀, d_j = 2a₀</a:t>
            </a:r>
          </a:p>
        </p:txBody>
      </p:sp>
      <p:sp>
        <p:nvSpPr>
          <p:cNvPr id="87" name="C3-E22 text 85" descr="sci-ppt:o085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δ₀ → δ_arr → δ_crit</a:t>
            </a:r>
          </a:p>
        </p:txBody>
      </p:sp>
      <p:sp>
        <p:nvSpPr>
          <p:cNvPr id="88" name="C3-E22 text 86" descr="sci-ppt:o086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t_flight, t_lin, t_σ</a:t>
            </a:r>
          </a:p>
        </p:txBody>
      </p:sp>
      <p:sp>
        <p:nvSpPr>
          <p:cNvPr id="89" name="C3-E22 text 87" descr="sci-ppt:o087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g_max growth; λ_max wavelength</a:t>
            </a:r>
          </a:p>
        </p:txBody>
      </p:sp>
      <p:sp>
        <p:nvSpPr>
          <p:cNvPr id="90" name="C3-E22 text 88" descr="sci-ppt:o088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ρ, σ_j, μ; Re_j, We_j, Oh_j</a:t>
            </a:r>
          </a:p>
        </p:txBody>
      </p:sp>
      <p:sp>
        <p:nvSpPr>
          <p:cNvPr id="91" name="C3-E22 text 89" descr="sci-ppt:o089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ln, exp: growth legend</a:t>
            </a:r>
          </a:p>
        </p:txBody>
      </p:sp>
      <p:sp>
        <p:nvSpPr>
          <p:cNvPr id="92" name="C3-E22 text 90" descr="sci-ppt:o090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Radius defines capillary time; diameter defines the three groups</a:t>
            </a:r>
          </a:p>
        </p:txBody>
      </p:sp>
      <p:sp>
        <p:nvSpPr>
          <p:cNvPr id="93" name="C3-E22 text 91" descr="sci-ppt:o091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A radius-sized disturbance is outside linear validity</a:t>
            </a:r>
          </a:p>
        </p:txBody>
      </p:sp>
      <p:sp>
        <p:nvSpPr>
          <p:cNvPr id="94" name="C3-E22 text 92" descr="sci-ppt:o092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23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C3-E23 · Dynamic-pressure definition and steady momentum flux</a:t>
            </a:r>
          </a:p>
        </p:txBody>
      </p:sp>
      <p:sp>
        <p:nvSpPr>
          <p:cNvPr id="3" name="C3-E23 rect 1" descr="sci-ppt:o001"/>
          <p:cNvSpPr/>
          <p:nvPr/>
        </p:nvSpPr>
        <p:spPr>
          <a:xfrm>
            <a:off x="731520" y="1508760"/>
            <a:ext cx="4937760" cy="7315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3-E23 arrow 2" descr="sci-ppt:o002"/>
          <p:cNvCxnSpPr/>
          <p:nvPr/>
        </p:nvCxnSpPr>
        <p:spPr>
          <a:xfrm>
            <a:off x="1005840" y="1874519"/>
            <a:ext cx="42976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5" name="C3-E23 text 3" descr="sci-ppt:o003"/>
          <p:cNvSpPr txBox="1"/>
          <p:nvPr/>
        </p:nvSpPr>
        <p:spPr>
          <a:xfrm>
            <a:off x="1463040" y="1051560"/>
            <a:ext cx="39319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Finite emitted liquid: m_j, E_j, U_j</a:t>
            </a:r>
          </a:p>
        </p:txBody>
      </p:sp>
      <p:cxnSp>
        <p:nvCxnSpPr>
          <p:cNvPr id="6" name="C3-E23 line 4" descr="sci-ppt:o004"/>
          <p:cNvCxnSpPr/>
          <p:nvPr/>
        </p:nvCxnSpPr>
        <p:spPr>
          <a:xfrm>
            <a:off x="731520" y="2606040"/>
            <a:ext cx="493776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7" name="C3-E23 text 5" descr="sci-ppt:o005"/>
          <p:cNvSpPr txBox="1"/>
          <p:nvPr/>
        </p:nvSpPr>
        <p:spPr>
          <a:xfrm>
            <a:off x="2743200" y="2697480"/>
            <a:ext cx="1828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L_j</a:t>
            </a:r>
          </a:p>
        </p:txBody>
      </p:sp>
      <p:cxnSp>
        <p:nvCxnSpPr>
          <p:cNvPr id="8" name="C3-E23 line 6" descr="sci-ppt:o006"/>
          <p:cNvCxnSpPr/>
          <p:nvPr/>
        </p:nvCxnSpPr>
        <p:spPr>
          <a:xfrm>
            <a:off x="457200" y="1508760"/>
            <a:ext cx="0" cy="7315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9" name="C3-E23 text 7" descr="sci-ppt:o007"/>
          <p:cNvSpPr txBox="1"/>
          <p:nvPr/>
        </p:nvSpPr>
        <p:spPr>
          <a:xfrm>
            <a:off x="137160" y="2377440"/>
            <a:ext cx="164592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d_j = 2a_j</a:t>
            </a:r>
          </a:p>
        </p:txBody>
      </p:sp>
      <p:sp>
        <p:nvSpPr>
          <p:cNvPr id="10" name="C3-E23 rect 8" descr="sci-ppt:o008"/>
          <p:cNvSpPr/>
          <p:nvPr/>
        </p:nvSpPr>
        <p:spPr>
          <a:xfrm>
            <a:off x="8412480" y="960120"/>
            <a:ext cx="365760" cy="23317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3-E23 arrow 9" descr="sci-ppt:o009"/>
          <p:cNvCxnSpPr/>
          <p:nvPr/>
        </p:nvCxnSpPr>
        <p:spPr>
          <a:xfrm>
            <a:off x="5760720" y="1874519"/>
            <a:ext cx="260604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2" name="C3-E23 arrow 10" descr="sci-ppt:o010"/>
          <p:cNvCxnSpPr/>
          <p:nvPr/>
        </p:nvCxnSpPr>
        <p:spPr>
          <a:xfrm flipV="1">
            <a:off x="8092440" y="868680"/>
            <a:ext cx="0" cy="1005839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3" name="C3-E23 arrow 11" descr="sci-ppt:o011"/>
          <p:cNvCxnSpPr/>
          <p:nvPr/>
        </p:nvCxnSpPr>
        <p:spPr>
          <a:xfrm>
            <a:off x="8092440" y="1874519"/>
            <a:ext cx="0" cy="1280161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4" name="C3-E23 text 12" descr="sci-ppt:o012"/>
          <p:cNvSpPr txBox="1"/>
          <p:nvPr/>
        </p:nvSpPr>
        <p:spPr>
          <a:xfrm>
            <a:off x="9006840" y="1280160"/>
            <a:ext cx="256032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Redirected flow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zero axial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outlet momentum</a:t>
            </a:r>
          </a:p>
        </p:txBody>
      </p:sp>
      <p:sp>
        <p:nvSpPr>
          <p:cNvPr id="15" name="C3-E23 text 13" descr="sci-ppt:o013"/>
          <p:cNvSpPr txBox="1"/>
          <p:nvPr/>
        </p:nvSpPr>
        <p:spPr>
          <a:xfrm>
            <a:off x="914400" y="3337560"/>
            <a:ext cx="1005840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F_steady = ρ A_j U_j²; q_j = ρ U_j²/2 is a pressure scale.</a:t>
            </a:r>
          </a:p>
        </p:txBody>
      </p:sp>
      <p:cxnSp>
        <p:nvCxnSpPr>
          <p:cNvPr id="16" name="C3-E23 line 14" descr="sci-ppt:o014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7" name="C3-E23 text 15" descr="sci-ppt:o015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U_j incident jet speed</a:t>
            </a:r>
          </a:p>
        </p:txBody>
      </p:sp>
      <p:sp>
        <p:nvSpPr>
          <p:cNvPr id="18" name="C3-E23 text 16" descr="sci-ppt:o016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A_j incident area</a:t>
            </a:r>
          </a:p>
        </p:txBody>
      </p:sp>
      <p:sp>
        <p:nvSpPr>
          <p:cNvPr id="19" name="C3-E23 text 17" descr="sci-ppt:o017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ρ liquid; ṁ = ρA_jU_j</a:t>
            </a:r>
          </a:p>
        </p:txBody>
      </p:sp>
      <p:sp>
        <p:nvSpPr>
          <p:cNvPr id="20" name="C3-E23 text 18" descr="sci-ppt:o018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q_j dynamic-pressure scale</a:t>
            </a:r>
          </a:p>
        </p:txBody>
      </p:sp>
      <p:sp>
        <p:nvSpPr>
          <p:cNvPr id="21" name="C3-E23 text 19" descr="sci-ppt:o019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F_steady receiver force</a:t>
            </a:r>
          </a:p>
        </p:txBody>
      </p:sp>
      <p:sp>
        <p:nvSpPr>
          <p:cNvPr id="22" name="C3-E23 text 20" descr="sci-ppt:o020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Lateral outlet carries zero axial momentum</a:t>
            </a:r>
          </a:p>
        </p:txBody>
      </p:sp>
      <p:sp>
        <p:nvSpPr>
          <p:cNvPr id="23" name="C3-E23 text 21" descr="sci-ppt:o021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q_j is a scale, not a universal mean or local traction</a:t>
            </a:r>
          </a:p>
        </p:txBody>
      </p:sp>
      <p:sp>
        <p:nvSpPr>
          <p:cNvPr id="24" name="C3-E23 text 22" descr="sci-ppt:o022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A moving receiver changes relative speed and force</a:t>
            </a:r>
          </a:p>
        </p:txBody>
      </p:sp>
      <p:sp>
        <p:nvSpPr>
          <p:cNvPr id="25" name="C3-E23 text 23" descr="sci-ppt:o023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24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C3-E24 · Linear transient wave equations and impact matching</a:t>
            </a:r>
          </a:p>
        </p:txBody>
      </p:sp>
      <p:sp>
        <p:nvSpPr>
          <p:cNvPr id="3" name="C3-E24 rect 1" descr="sci-ppt:o001"/>
          <p:cNvSpPr/>
          <p:nvPr/>
        </p:nvSpPr>
        <p:spPr>
          <a:xfrm>
            <a:off x="731520" y="1508760"/>
            <a:ext cx="4937760" cy="7315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3-E24 arrow 2" descr="sci-ppt:o002"/>
          <p:cNvCxnSpPr/>
          <p:nvPr/>
        </p:nvCxnSpPr>
        <p:spPr>
          <a:xfrm>
            <a:off x="1005840" y="1874519"/>
            <a:ext cx="42976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5" name="C3-E24 text 3" descr="sci-ppt:o003"/>
          <p:cNvSpPr txBox="1"/>
          <p:nvPr/>
        </p:nvSpPr>
        <p:spPr>
          <a:xfrm>
            <a:off x="1463040" y="1051560"/>
            <a:ext cx="39319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Finite emitted liquid: m_j, E_j, U_j</a:t>
            </a:r>
          </a:p>
        </p:txBody>
      </p:sp>
      <p:cxnSp>
        <p:nvCxnSpPr>
          <p:cNvPr id="6" name="C3-E24 line 4" descr="sci-ppt:o004"/>
          <p:cNvCxnSpPr/>
          <p:nvPr/>
        </p:nvCxnSpPr>
        <p:spPr>
          <a:xfrm>
            <a:off x="731520" y="2606040"/>
            <a:ext cx="493776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7" name="C3-E24 text 5" descr="sci-ppt:o005"/>
          <p:cNvSpPr txBox="1"/>
          <p:nvPr/>
        </p:nvSpPr>
        <p:spPr>
          <a:xfrm>
            <a:off x="2743200" y="2697480"/>
            <a:ext cx="1828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L_j</a:t>
            </a:r>
          </a:p>
        </p:txBody>
      </p:sp>
      <p:cxnSp>
        <p:nvCxnSpPr>
          <p:cNvPr id="8" name="C3-E24 line 6" descr="sci-ppt:o006"/>
          <p:cNvCxnSpPr/>
          <p:nvPr/>
        </p:nvCxnSpPr>
        <p:spPr>
          <a:xfrm>
            <a:off x="457200" y="1508760"/>
            <a:ext cx="0" cy="7315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9" name="C3-E24 text 7" descr="sci-ppt:o007"/>
          <p:cNvSpPr txBox="1"/>
          <p:nvPr/>
        </p:nvSpPr>
        <p:spPr>
          <a:xfrm>
            <a:off x="137160" y="2377440"/>
            <a:ext cx="164592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d_j = 2a_j</a:t>
            </a:r>
          </a:p>
        </p:txBody>
      </p:sp>
      <p:cxnSp>
        <p:nvCxnSpPr>
          <p:cNvPr id="10" name="C3-E24 arrow 8" descr="sci-ppt:o008"/>
          <p:cNvCxnSpPr/>
          <p:nvPr/>
        </p:nvCxnSpPr>
        <p:spPr>
          <a:xfrm>
            <a:off x="5669280" y="1874519"/>
            <a:ext cx="27432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1" name="C3-E24 rect 9" descr="sci-ppt:o009"/>
          <p:cNvSpPr/>
          <p:nvPr/>
        </p:nvSpPr>
        <p:spPr>
          <a:xfrm>
            <a:off x="8412480" y="960120"/>
            <a:ext cx="137160" cy="16459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3-E24 arrow 10" descr="sci-ppt:o010"/>
          <p:cNvCxnSpPr/>
          <p:nvPr/>
        </p:nvCxnSpPr>
        <p:spPr>
          <a:xfrm flipH="1">
            <a:off x="6217920" y="1234440"/>
            <a:ext cx="18288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3" name="C3-E24 arrow 11" descr="sci-ppt:o011"/>
          <p:cNvCxnSpPr/>
          <p:nvPr/>
        </p:nvCxnSpPr>
        <p:spPr>
          <a:xfrm>
            <a:off x="8778240" y="1234440"/>
            <a:ext cx="20116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4" name="C3-E24 text 12" descr="sci-ppt:o012"/>
          <p:cNvSpPr txBox="1"/>
          <p:nvPr/>
        </p:nvSpPr>
        <p:spPr>
          <a:xfrm>
            <a:off x="5394960" y="731520"/>
            <a:ext cx="297180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Liquid deceleration wave ←</a:t>
            </a:r>
          </a:p>
        </p:txBody>
      </p:sp>
      <p:sp>
        <p:nvSpPr>
          <p:cNvPr id="15" name="C3-E24 text 13" descr="sci-ppt:o013"/>
          <p:cNvSpPr txBox="1"/>
          <p:nvPr/>
        </p:nvSpPr>
        <p:spPr>
          <a:xfrm>
            <a:off x="8778240" y="731520"/>
            <a:ext cx="29260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Receiver wave →</a:t>
            </a:r>
          </a:p>
        </p:txBody>
      </p:sp>
      <p:sp>
        <p:nvSpPr>
          <p:cNvPr id="16" name="C3-E24 text 14" descr="sci-ppt:o014"/>
          <p:cNvSpPr txBox="1"/>
          <p:nvPr/>
        </p:nvSpPr>
        <p:spPr>
          <a:xfrm>
            <a:off x="6126480" y="2834640"/>
            <a:ext cx="5394960" cy="8229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Common contact velocity v_i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Common compressive pressure p_early</a:t>
            </a:r>
          </a:p>
        </p:txBody>
      </p:sp>
      <p:cxnSp>
        <p:nvCxnSpPr>
          <p:cNvPr id="17" name="C3-E24 line 15" descr="sci-ppt:o015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8" name="C3-E24 text 16" descr="sci-ppt:o016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U_j incoming liquid</a:t>
            </a:r>
          </a:p>
        </p:txBody>
      </p:sp>
      <p:sp>
        <p:nvSpPr>
          <p:cNvPr id="19" name="C3-E24 text 17" descr="sci-ppt:o017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v_i common interface velocity</a:t>
            </a:r>
          </a:p>
        </p:txBody>
      </p:sp>
      <p:sp>
        <p:nvSpPr>
          <p:cNvPr id="20" name="C3-E24 text 18" descr="sci-ppt:o018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p_early compressive contact pressure</a:t>
            </a:r>
          </a:p>
        </p:txBody>
      </p:sp>
      <p:sp>
        <p:nvSpPr>
          <p:cNvPr id="21" name="C3-E24 text 19" descr="sci-ppt:o019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Z_l = ρc liquid side</a:t>
            </a:r>
          </a:p>
        </p:txBody>
      </p:sp>
      <p:sp>
        <p:nvSpPr>
          <p:cNvPr id="22" name="C3-E24 text 20" descr="sci-ppt:o020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Z_r receiver side</a:t>
            </a:r>
          </a:p>
        </p:txBody>
      </p:sp>
      <p:sp>
        <p:nvSpPr>
          <p:cNvPr id="23" name="C3-E24 text 21" descr="sci-ppt:o021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u, p′, z, t characteristic fields</a:t>
            </a:r>
          </a:p>
        </p:txBody>
      </p:sp>
      <p:sp>
        <p:nvSpPr>
          <p:cNvPr id="24" name="C3-E24 text 22" descr="sci-ppt:o022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∂ₜ ± c∂z; c wave speed</a:t>
            </a:r>
          </a:p>
        </p:txBody>
      </p:sp>
      <p:sp>
        <p:nvSpPr>
          <p:cNvPr id="25" name="C3-E24 text 23" descr="sci-ppt:o023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Liquid deceleration wave travels upstream</a:t>
            </a:r>
          </a:p>
        </p:txBody>
      </p:sp>
      <p:sp>
        <p:nvSpPr>
          <p:cNvPr id="26" name="C3-E24 text 24" descr="sci-ppt:o024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Receiver wave travels into receiver</a:t>
            </a:r>
          </a:p>
        </p:txBody>
      </p:sp>
      <p:sp>
        <p:nvSpPr>
          <p:cNvPr id="27" name="C3-E24 text 25" descr="sci-ppt:o025"/>
          <p:cNvSpPr txBox="1"/>
          <p:nvPr/>
        </p:nvSpPr>
        <p:spPr>
          <a:xfrm>
            <a:off x="320040" y="614476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No pre-existing incident pressure wave is separately added</a:t>
            </a:r>
          </a:p>
        </p:txBody>
      </p:sp>
      <p:sp>
        <p:nvSpPr>
          <p:cNvPr id="28" name="C3-E24 text 26" descr="sci-ppt:o026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25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C3-E25 · Finite momentum and early-impact duration conditions</a:t>
            </a:r>
          </a:p>
        </p:txBody>
      </p:sp>
      <p:sp>
        <p:nvSpPr>
          <p:cNvPr id="3" name="C3-E25 rect 1" descr="sci-ppt:o001"/>
          <p:cNvSpPr/>
          <p:nvPr/>
        </p:nvSpPr>
        <p:spPr>
          <a:xfrm>
            <a:off x="731520" y="1508760"/>
            <a:ext cx="4937760" cy="7315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3-E25 arrow 2" descr="sci-ppt:o002"/>
          <p:cNvCxnSpPr/>
          <p:nvPr/>
        </p:nvCxnSpPr>
        <p:spPr>
          <a:xfrm>
            <a:off x="1005840" y="1874519"/>
            <a:ext cx="42976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5" name="C3-E25 text 3" descr="sci-ppt:o003"/>
          <p:cNvSpPr txBox="1"/>
          <p:nvPr/>
        </p:nvSpPr>
        <p:spPr>
          <a:xfrm>
            <a:off x="1463040" y="1051560"/>
            <a:ext cx="39319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Finite emitted liquid: m_j, E_j, U_j</a:t>
            </a:r>
          </a:p>
        </p:txBody>
      </p:sp>
      <p:cxnSp>
        <p:nvCxnSpPr>
          <p:cNvPr id="6" name="C3-E25 line 4" descr="sci-ppt:o004"/>
          <p:cNvCxnSpPr/>
          <p:nvPr/>
        </p:nvCxnSpPr>
        <p:spPr>
          <a:xfrm>
            <a:off x="731520" y="2606040"/>
            <a:ext cx="493776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7" name="C3-E25 text 5" descr="sci-ppt:o005"/>
          <p:cNvSpPr txBox="1"/>
          <p:nvPr/>
        </p:nvSpPr>
        <p:spPr>
          <a:xfrm>
            <a:off x="2743200" y="2697480"/>
            <a:ext cx="1828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L_j</a:t>
            </a:r>
          </a:p>
        </p:txBody>
      </p:sp>
      <p:cxnSp>
        <p:nvCxnSpPr>
          <p:cNvPr id="8" name="C3-E25 line 6" descr="sci-ppt:o006"/>
          <p:cNvCxnSpPr/>
          <p:nvPr/>
        </p:nvCxnSpPr>
        <p:spPr>
          <a:xfrm>
            <a:off x="457200" y="1508760"/>
            <a:ext cx="0" cy="7315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9" name="C3-E25 text 7" descr="sci-ppt:o007"/>
          <p:cNvSpPr txBox="1"/>
          <p:nvPr/>
        </p:nvSpPr>
        <p:spPr>
          <a:xfrm>
            <a:off x="137160" y="2377440"/>
            <a:ext cx="164592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d_j = 2a_j</a:t>
            </a:r>
          </a:p>
        </p:txBody>
      </p:sp>
      <p:sp>
        <p:nvSpPr>
          <p:cNvPr id="10" name="C3-E25 rect 8" descr="sci-ppt:o008"/>
          <p:cNvSpPr/>
          <p:nvPr/>
        </p:nvSpPr>
        <p:spPr>
          <a:xfrm>
            <a:off x="8412480" y="960120"/>
            <a:ext cx="365760" cy="16459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3-E25 arrow 9" descr="sci-ppt:o009"/>
          <p:cNvCxnSpPr/>
          <p:nvPr/>
        </p:nvCxnSpPr>
        <p:spPr>
          <a:xfrm>
            <a:off x="5760720" y="1874519"/>
            <a:ext cx="260604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C3-E25 text 10" descr="sci-ppt:o010"/>
          <p:cNvSpPr txBox="1"/>
          <p:nvPr/>
        </p:nvSpPr>
        <p:spPr>
          <a:xfrm>
            <a:off x="9006840" y="1005840"/>
            <a:ext cx="274320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Receiver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Z_r, v_i</a:t>
            </a:r>
          </a:p>
        </p:txBody>
      </p:sp>
      <p:sp>
        <p:nvSpPr>
          <p:cNvPr id="13" name="C3-E25 text 11" descr="sci-ppt:o011"/>
          <p:cNvSpPr txBox="1"/>
          <p:nvPr/>
        </p:nvSpPr>
        <p:spPr>
          <a:xfrm>
            <a:off x="6035040" y="2880360"/>
            <a:ext cx="5394960" cy="7315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Early pressure: acoustic matching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Impulse: finite momentum change</a:t>
            </a:r>
          </a:p>
        </p:txBody>
      </p:sp>
      <p:cxnSp>
        <p:nvCxnSpPr>
          <p:cNvPr id="14" name="C3-E25 line 12" descr="sci-ppt:o012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5" name="C3-E25 text 13" descr="sci-ppt:o013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m_j, U_j → P_in</a:t>
            </a:r>
          </a:p>
        </p:txBody>
      </p:sp>
      <p:sp>
        <p:nvSpPr>
          <p:cNvPr id="16" name="C3-E25 text 14" descr="sci-ppt:o014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P_out after redirection or rebound</a:t>
            </a:r>
          </a:p>
        </p:txBody>
      </p:sp>
      <p:sp>
        <p:nvSpPr>
          <p:cNvPr id="17" name="C3-E25 text 15" descr="sci-ppt:o015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J_rec delivered normal impulse</a:t>
            </a:r>
          </a:p>
        </p:txBody>
      </p:sp>
      <p:sp>
        <p:nvSpPr>
          <p:cNvPr id="18" name="C3-E25 text 16" descr="sci-ppt:o016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A_j, a_j, L_j finite plug</a:t>
            </a:r>
          </a:p>
        </p:txBody>
      </p:sp>
      <p:sp>
        <p:nvSpPr>
          <p:cNvPr id="19" name="C3-E25 text 17" descr="sci-ppt:o017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ρcU_j fictitious rectangular pressure</a:t>
            </a:r>
          </a:p>
        </p:txBody>
      </p:sp>
      <p:sp>
        <p:nvSpPr>
          <p:cNvPr id="20" name="C3-E25 text 18" descr="sci-ppt:o018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τ_eq = L_j/c</a:t>
            </a:r>
          </a:p>
        </p:txBody>
      </p:sp>
      <p:sp>
        <p:nvSpPr>
          <p:cNvPr id="21" name="C3-E25 text 19" descr="sci-ppt:o019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t_side, t_axial, t_early, t_return</a:t>
            </a:r>
          </a:p>
        </p:txBody>
      </p:sp>
      <p:sp>
        <p:nvSpPr>
          <p:cNvPr id="22" name="C3-E25 text 20" descr="sci-ppt:o020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Equivalent duration is not a predicted pulse shape</a:t>
            </a:r>
          </a:p>
        </p:txBody>
      </p:sp>
      <p:sp>
        <p:nvSpPr>
          <p:cNvPr id="23" name="C3-E25 text 21" descr="sci-ppt:o021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A free side can release the central pressure earlier</a:t>
            </a:r>
          </a:p>
        </p:txBody>
      </p:sp>
      <p:sp>
        <p:nvSpPr>
          <p:cNvPr id="24" name="C3-E25 text 22" descr="sci-ppt:o022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26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C3-E26 · Observer definition and conditional impulse bound</a:t>
            </a:r>
          </a:p>
        </p:txBody>
      </p:sp>
      <p:sp>
        <p:nvSpPr>
          <p:cNvPr id="3" name="C3-E26 rect 1" descr="sci-ppt:o001"/>
          <p:cNvSpPr/>
          <p:nvPr/>
        </p:nvSpPr>
        <p:spPr>
          <a:xfrm>
            <a:off x="731520" y="1508760"/>
            <a:ext cx="4937760" cy="7315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3-E26 arrow 2" descr="sci-ppt:o002"/>
          <p:cNvCxnSpPr/>
          <p:nvPr/>
        </p:nvCxnSpPr>
        <p:spPr>
          <a:xfrm>
            <a:off x="1005840" y="1874519"/>
            <a:ext cx="42976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5" name="C3-E26 text 3" descr="sci-ppt:o003"/>
          <p:cNvSpPr txBox="1"/>
          <p:nvPr/>
        </p:nvSpPr>
        <p:spPr>
          <a:xfrm>
            <a:off x="1463040" y="1051560"/>
            <a:ext cx="39319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Finite emitted liquid: m_j, E_j, U_j</a:t>
            </a:r>
          </a:p>
        </p:txBody>
      </p:sp>
      <p:cxnSp>
        <p:nvCxnSpPr>
          <p:cNvPr id="6" name="C3-E26 line 4" descr="sci-ppt:o004"/>
          <p:cNvCxnSpPr/>
          <p:nvPr/>
        </p:nvCxnSpPr>
        <p:spPr>
          <a:xfrm>
            <a:off x="731520" y="2606040"/>
            <a:ext cx="493776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7" name="C3-E26 text 5" descr="sci-ppt:o005"/>
          <p:cNvSpPr txBox="1"/>
          <p:nvPr/>
        </p:nvSpPr>
        <p:spPr>
          <a:xfrm>
            <a:off x="2743200" y="2697480"/>
            <a:ext cx="1828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L_j</a:t>
            </a:r>
          </a:p>
        </p:txBody>
      </p:sp>
      <p:cxnSp>
        <p:nvCxnSpPr>
          <p:cNvPr id="8" name="C3-E26 line 6" descr="sci-ppt:o006"/>
          <p:cNvCxnSpPr/>
          <p:nvPr/>
        </p:nvCxnSpPr>
        <p:spPr>
          <a:xfrm>
            <a:off x="457200" y="1508760"/>
            <a:ext cx="0" cy="7315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9" name="C3-E26 text 7" descr="sci-ppt:o007"/>
          <p:cNvSpPr txBox="1"/>
          <p:nvPr/>
        </p:nvSpPr>
        <p:spPr>
          <a:xfrm>
            <a:off x="137160" y="2377440"/>
            <a:ext cx="164592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d_j = 2a_j</a:t>
            </a:r>
          </a:p>
        </p:txBody>
      </p:sp>
      <p:sp>
        <p:nvSpPr>
          <p:cNvPr id="10" name="C3-E26 rect 8" descr="sci-ppt:o008"/>
          <p:cNvSpPr/>
          <p:nvPr/>
        </p:nvSpPr>
        <p:spPr>
          <a:xfrm>
            <a:off x="8366760" y="914400"/>
            <a:ext cx="320040" cy="173736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3-E26 rect 9" descr="sci-ppt:o009"/>
          <p:cNvSpPr/>
          <p:nvPr/>
        </p:nvSpPr>
        <p:spPr>
          <a:xfrm>
            <a:off x="8321040" y="1600200"/>
            <a:ext cx="411480" cy="640080"/>
          </a:xfrm>
          <a:prstGeom prst="rect">
            <a:avLst/>
          </a:prstGeom>
          <a:solidFill>
            <a:srgbClr val="8EDBD4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3-E26 arrow 10" descr="sci-ppt:o010"/>
          <p:cNvCxnSpPr/>
          <p:nvPr/>
        </p:nvCxnSpPr>
        <p:spPr>
          <a:xfrm>
            <a:off x="5760720" y="1874519"/>
            <a:ext cx="256032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3" name="C3-E26 text 11" descr="sci-ppt:o011"/>
          <p:cNvSpPr txBox="1"/>
          <p:nvPr/>
        </p:nvSpPr>
        <p:spPr>
          <a:xfrm>
            <a:off x="8961120" y="1554480"/>
            <a:ext cx="2651760" cy="7315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Fixed footprint A_o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Fixed window τ_o</a:t>
            </a:r>
          </a:p>
        </p:txBody>
      </p:sp>
      <p:sp>
        <p:nvSpPr>
          <p:cNvPr id="14" name="C3-E26 text 12" descr="sci-ppt:o012"/>
          <p:cNvSpPr txBox="1"/>
          <p:nvPr/>
        </p:nvSpPr>
        <p:spPr>
          <a:xfrm>
            <a:off x="6217920" y="2971800"/>
            <a:ext cx="530352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p_obs: area and time average</a:t>
            </a:r>
          </a:p>
        </p:txBody>
      </p:sp>
      <p:cxnSp>
        <p:nvCxnSpPr>
          <p:cNvPr id="15" name="C3-E26 line 13" descr="sci-ppt:o013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6" name="C3-E26 text 14" descr="sci-ppt:o014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A_o fixed sensor footprint</a:t>
            </a:r>
          </a:p>
        </p:txBody>
      </p:sp>
      <p:sp>
        <p:nvSpPr>
          <p:cNvPr id="17" name="C3-E26 text 15" descr="sci-ppt:o015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τ_o averaging window</a:t>
            </a:r>
          </a:p>
        </p:txBody>
      </p:sp>
      <p:sp>
        <p:nvSpPr>
          <p:cNvPr id="18" name="C3-E26 text 16" descr="sci-ppt:o016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p(x,ξ) local surface pressure</a:t>
            </a:r>
          </a:p>
        </p:txBody>
      </p:sp>
      <p:sp>
        <p:nvSpPr>
          <p:cNvPr id="19" name="C3-E26 text 17" descr="sci-ppt:o017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p_ref reference pressure</a:t>
            </a:r>
          </a:p>
        </p:txBody>
      </p:sp>
      <p:sp>
        <p:nvSpPr>
          <p:cNvPr id="20" name="C3-E26 text 18" descr="sci-ppt:o018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p_obs(t) observed mean</a:t>
            </a:r>
          </a:p>
        </p:txBody>
      </p:sp>
      <p:sp>
        <p:nvSpPr>
          <p:cNvPr id="21" name="C3-E26 text 19" descr="sci-ppt:o019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J_rec total footprint impulse</a:t>
            </a:r>
          </a:p>
        </p:txBody>
      </p:sp>
      <p:sp>
        <p:nvSpPr>
          <p:cNvPr id="22" name="C3-E26 text 20" descr="sci-ppt:o020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dA area element; x, ξ, t</a:t>
            </a:r>
          </a:p>
        </p:txBody>
      </p:sp>
      <p:sp>
        <p:nvSpPr>
          <p:cNvPr id="23" name="C3-E26 text 21" descr="sci-ppt:o021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Fluid, exposed surface and release interface are different locations</a:t>
            </a:r>
          </a:p>
        </p:txBody>
      </p:sp>
      <p:sp>
        <p:nvSpPr>
          <p:cNvPr id="24" name="C3-E26 text 22" descr="sci-ppt:o022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Bandwidth and sign convention belong to the observation</a:t>
            </a:r>
          </a:p>
        </p:txBody>
      </p:sp>
      <p:sp>
        <p:nvSpPr>
          <p:cNvPr id="25" name="C3-E26 text 23" descr="sci-ppt:o023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27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C3-E27 · One-way-wave energy and finite-observer Cauchy–Schwarz bound</a:t>
            </a:r>
          </a:p>
        </p:txBody>
      </p:sp>
      <p:sp>
        <p:nvSpPr>
          <p:cNvPr id="3" name="C3-E27 rect 1" descr="sci-ppt:o001"/>
          <p:cNvSpPr/>
          <p:nvPr/>
        </p:nvSpPr>
        <p:spPr>
          <a:xfrm>
            <a:off x="5943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3-E27 text 2" descr="sci-ppt:o002"/>
          <p:cNvSpPr txBox="1"/>
          <p:nvPr/>
        </p:nvSpPr>
        <p:spPr>
          <a:xfrm>
            <a:off x="7589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Source allocation</a:t>
            </a:r>
          </a:p>
        </p:txBody>
      </p:sp>
      <p:cxnSp>
        <p:nvCxnSpPr>
          <p:cNvPr id="5" name="C3-E27 arrow 3" descr="sci-ppt:o003"/>
          <p:cNvCxnSpPr/>
          <p:nvPr/>
        </p:nvCxnSpPr>
        <p:spPr>
          <a:xfrm>
            <a:off x="37947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3-E27 rect 4" descr="sci-ppt:o004"/>
          <p:cNvSpPr/>
          <p:nvPr/>
        </p:nvSpPr>
        <p:spPr>
          <a:xfrm>
            <a:off x="44805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3-E27 text 5" descr="sci-ppt:o005"/>
          <p:cNvSpPr txBox="1"/>
          <p:nvPr/>
        </p:nvSpPr>
        <p:spPr>
          <a:xfrm>
            <a:off x="46451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Outgoing wave E_w</a:t>
            </a:r>
          </a:p>
        </p:txBody>
      </p:sp>
      <p:cxnSp>
        <p:nvCxnSpPr>
          <p:cNvPr id="8" name="C3-E27 arrow 6" descr="sci-ppt:o006"/>
          <p:cNvCxnSpPr/>
          <p:nvPr/>
        </p:nvCxnSpPr>
        <p:spPr>
          <a:xfrm>
            <a:off x="76809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C3-E27 rect 7" descr="sci-ppt:o007"/>
          <p:cNvSpPr/>
          <p:nvPr/>
        </p:nvSpPr>
        <p:spPr>
          <a:xfrm>
            <a:off x="83667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3-E27 text 8" descr="sci-ppt:o008"/>
          <p:cNvSpPr txBox="1"/>
          <p:nvPr/>
        </p:nvSpPr>
        <p:spPr>
          <a:xfrm>
            <a:off x="85313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Finite A_o, τ_o observer</a:t>
            </a:r>
          </a:p>
        </p:txBody>
      </p:sp>
      <p:sp>
        <p:nvSpPr>
          <p:cNvPr id="11" name="C3-E27 text 9" descr="sci-ppt:o009"/>
          <p:cNvSpPr txBox="1"/>
          <p:nvPr/>
        </p:nvSpPr>
        <p:spPr>
          <a:xfrm>
            <a:off x="731520" y="3246120"/>
            <a:ext cx="1078992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Each energy allocation belongs to the same finite source budget.</a:t>
            </a:r>
          </a:p>
        </p:txBody>
      </p:sp>
      <p:cxnSp>
        <p:nvCxnSpPr>
          <p:cNvPr id="12" name="C3-E27 line 10" descr="sci-ppt:o010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3" name="C3-E27 text 11" descr="sci-ppt:o011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p′ outgoing wave through A_o</a:t>
            </a:r>
          </a:p>
        </p:txBody>
      </p:sp>
      <p:sp>
        <p:nvSpPr>
          <p:cNvPr id="14" name="C3-E27 text 12" descr="sci-ppt:o012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Z_l wave impedance</a:t>
            </a:r>
          </a:p>
        </p:txBody>
      </p:sp>
      <p:sp>
        <p:nvSpPr>
          <p:cNvPr id="15" name="C3-E27 text 13" descr="sci-ppt:o013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τ_o, t observation window</a:t>
            </a:r>
          </a:p>
        </p:txBody>
      </p:sp>
      <p:sp>
        <p:nvSpPr>
          <p:cNvPr id="16" name="C3-E27 text 14" descr="sci-ppt:o014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E_w = ∫p′²/Z_l</a:t>
            </a:r>
          </a:p>
        </p:txBody>
      </p:sp>
      <p:sp>
        <p:nvSpPr>
          <p:cNvPr id="17" name="C3-E27 text 15" descr="sci-ppt:o015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p̄ signed observed mean</a:t>
            </a:r>
          </a:p>
        </p:txBody>
      </p:sp>
      <p:sp>
        <p:nvSpPr>
          <p:cNvPr id="18" name="C3-E27 text 16" descr="sci-ppt:o016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dA spatial averaging</a:t>
            </a:r>
          </a:p>
        </p:txBody>
      </p:sp>
      <p:sp>
        <p:nvSpPr>
          <p:cNvPr id="19" name="C3-E27 text 17" descr="sci-ppt:o017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Wave energy must be allocated from the same source budget</a:t>
            </a:r>
          </a:p>
        </p:txBody>
      </p:sp>
      <p:sp>
        <p:nvSpPr>
          <p:cNvPr id="20" name="C3-E27 text 18" descr="sci-ppt:o018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This is a conditional wave bound, not universal film traction</a:t>
            </a:r>
          </a:p>
        </p:txBody>
      </p:sp>
      <p:sp>
        <p:nvSpPr>
          <p:cNvPr id="21" name="C3-E27 text 19" descr="sci-ppt:o019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28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C3-E28 · Compressible bulk conservation and required constitutive closure</a:t>
            </a:r>
          </a:p>
        </p:txBody>
      </p:sp>
      <p:sp>
        <p:nvSpPr>
          <p:cNvPr id="3" name="C3-E28 rect 1" descr="sci-ppt:o001"/>
          <p:cNvSpPr/>
          <p:nvPr/>
        </p:nvSpPr>
        <p:spPr>
          <a:xfrm>
            <a:off x="3383280" y="1051560"/>
            <a:ext cx="5303520" cy="2194560"/>
          </a:xfrm>
          <a:prstGeom prst="rect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3-E28 arrow 2" descr="sci-ppt:o002"/>
          <p:cNvCxnSpPr/>
          <p:nvPr/>
        </p:nvCxnSpPr>
        <p:spPr>
          <a:xfrm>
            <a:off x="640080" y="2148840"/>
            <a:ext cx="265176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5" name="C3-E28 arrow 3" descr="sci-ppt:o003"/>
          <p:cNvCxnSpPr/>
          <p:nvPr/>
        </p:nvCxnSpPr>
        <p:spPr>
          <a:xfrm>
            <a:off x="8778240" y="2148840"/>
            <a:ext cx="256032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3-E28 text 4" descr="sci-ppt:o004"/>
          <p:cNvSpPr txBox="1"/>
          <p:nvPr/>
        </p:nvSpPr>
        <p:spPr>
          <a:xfrm>
            <a:off x="3749039" y="1463040"/>
            <a:ext cx="4572000" cy="8229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E7F0F3"/>
                </a:solidFill>
                <a:latin typeface="Arial"/>
              </a:rPr>
              <a:t>Conserved state</a:t>
            </a:r>
          </a:p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E7F0F3"/>
                </a:solidFill>
                <a:latin typeface="Arial"/>
              </a:rPr>
              <a:t>ρ, ρu, ρe_t</a:t>
            </a:r>
          </a:p>
        </p:txBody>
      </p:sp>
      <p:sp>
        <p:nvSpPr>
          <p:cNvPr id="7" name="C3-E28 text 5" descr="sci-ppt:o005"/>
          <p:cNvSpPr txBox="1"/>
          <p:nvPr/>
        </p:nvSpPr>
        <p:spPr>
          <a:xfrm>
            <a:off x="731520" y="2651760"/>
            <a:ext cx="2743200" cy="5943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Mass, momentum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and energy in</a:t>
            </a:r>
          </a:p>
        </p:txBody>
      </p:sp>
      <p:sp>
        <p:nvSpPr>
          <p:cNvPr id="8" name="C3-E28 text 6" descr="sci-ppt:o006"/>
          <p:cNvSpPr txBox="1"/>
          <p:nvPr/>
        </p:nvSpPr>
        <p:spPr>
          <a:xfrm>
            <a:off x="8869680" y="2651760"/>
            <a:ext cx="2743200" cy="5943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Mass, momentum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and energy out</a:t>
            </a:r>
          </a:p>
        </p:txBody>
      </p:sp>
      <p:cxnSp>
        <p:nvCxnSpPr>
          <p:cNvPr id="9" name="C3-E28 arrow 7" descr="sci-ppt:o007"/>
          <p:cNvCxnSpPr/>
          <p:nvPr/>
        </p:nvCxnSpPr>
        <p:spPr>
          <a:xfrm>
            <a:off x="5852160" y="685800"/>
            <a:ext cx="0" cy="32004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C3-E28 text 8" descr="sci-ppt:o008"/>
          <p:cNvSpPr txBox="1"/>
          <p:nvPr/>
        </p:nvSpPr>
        <p:spPr>
          <a:xfrm>
            <a:off x="6400800" y="640080"/>
            <a:ext cx="45720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Q_abs: source counted once</a:t>
            </a:r>
          </a:p>
        </p:txBody>
      </p:sp>
      <p:sp>
        <p:nvSpPr>
          <p:cNvPr id="11" name="C3-E28 text 9" descr="sci-ppt:o009"/>
          <p:cNvSpPr txBox="1"/>
          <p:nvPr/>
        </p:nvSpPr>
        <p:spPr>
          <a:xfrm>
            <a:off x="3383280" y="3474720"/>
            <a:ext cx="73152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8EDBD4"/>
                </a:solidFill>
                <a:latin typeface="Arial"/>
              </a:rPr>
              <a:t>Closure: p = P(ρ,e,{Y_k}); stress and heat flux required.</a:t>
            </a:r>
          </a:p>
        </p:txBody>
      </p:sp>
      <p:cxnSp>
        <p:nvCxnSpPr>
          <p:cNvPr id="12" name="C3-E28 line 10" descr="sci-ppt:o010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3" name="C3-E28 text 11" descr="sci-ppt:o011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ρ, u, p compressible fields</a:t>
            </a:r>
          </a:p>
        </p:txBody>
      </p:sp>
      <p:sp>
        <p:nvSpPr>
          <p:cNvPr id="14" name="C3-E28 text 12" descr="sci-ppt:o012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 internal; e_t total energy</a:t>
            </a:r>
          </a:p>
        </p:txBody>
      </p:sp>
      <p:sp>
        <p:nvSpPr>
          <p:cNvPr id="15" name="C3-E28 text 13" descr="sci-ppt:o013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τ viscous stress; q heat flux</a:t>
            </a:r>
          </a:p>
        </p:txBody>
      </p:sp>
      <p:sp>
        <p:nvSpPr>
          <p:cNvPr id="16" name="C3-E28 text 14" descr="sci-ppt:o014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Q_abs optical source counted once</a:t>
            </a:r>
          </a:p>
        </p:txBody>
      </p:sp>
      <p:sp>
        <p:nvSpPr>
          <p:cNvPr id="17" name="C3-E28 text 15" descr="sci-ppt:o015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P(ρ,e,{Y_k}) equation of state</a:t>
            </a:r>
          </a:p>
        </p:txBody>
      </p:sp>
      <p:sp>
        <p:nvSpPr>
          <p:cNvPr id="18" name="C3-E28 text 16" descr="sci-ppt:o016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I identity; ⊗, ·, ∇· operators</a:t>
            </a:r>
          </a:p>
        </p:txBody>
      </p:sp>
      <p:sp>
        <p:nvSpPr>
          <p:cNvPr id="19" name="C3-E28 text 17" descr="sci-ppt:o017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x, t coordinates; k species index</a:t>
            </a:r>
          </a:p>
        </p:txBody>
      </p:sp>
      <p:sp>
        <p:nvSpPr>
          <p:cNvPr id="20" name="C3-E28 text 18" descr="sci-ppt:o018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Initial jet state is inherited, not recreated with extra pressure</a:t>
            </a:r>
          </a:p>
        </p:txBody>
      </p:sp>
      <p:sp>
        <p:nvSpPr>
          <p:cNvPr id="21" name="C3-E28 text 19" descr="sci-ppt:o019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Species and interfacial jump conditions must also be supplied</a:t>
            </a:r>
          </a:p>
        </p:txBody>
      </p:sp>
      <p:sp>
        <p:nvSpPr>
          <p:cNvPr id="22" name="C3-E28 text 20" descr="sci-ppt:o020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29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C3-E29 · Declared optical and mechanical allocation</a:t>
            </a:r>
          </a:p>
        </p:txBody>
      </p:sp>
      <p:sp>
        <p:nvSpPr>
          <p:cNvPr id="3" name="C3-E29 rect 1" descr="sci-ppt:o001"/>
          <p:cNvSpPr/>
          <p:nvPr/>
        </p:nvSpPr>
        <p:spPr>
          <a:xfrm>
            <a:off x="5943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3-E29 text 2" descr="sci-ppt:o002"/>
          <p:cNvSpPr txBox="1"/>
          <p:nvPr/>
        </p:nvSpPr>
        <p:spPr>
          <a:xfrm>
            <a:off x="7589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E_L = 25 μJ</a:t>
            </a:r>
          </a:p>
        </p:txBody>
      </p:sp>
      <p:cxnSp>
        <p:nvCxnSpPr>
          <p:cNvPr id="5" name="C3-E29 arrow 3" descr="sci-ppt:o003"/>
          <p:cNvCxnSpPr/>
          <p:nvPr/>
        </p:nvCxnSpPr>
        <p:spPr>
          <a:xfrm>
            <a:off x="37947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3-E29 rect 4" descr="sci-ppt:o004"/>
          <p:cNvSpPr/>
          <p:nvPr/>
        </p:nvSpPr>
        <p:spPr>
          <a:xfrm>
            <a:off x="44805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3-E29 text 5" descr="sci-ppt:o005"/>
          <p:cNvSpPr txBox="1"/>
          <p:nvPr/>
        </p:nvSpPr>
        <p:spPr>
          <a:xfrm>
            <a:off x="46451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E_abs,total = 10 μJ</a:t>
            </a:r>
          </a:p>
        </p:txBody>
      </p:sp>
      <p:cxnSp>
        <p:nvCxnSpPr>
          <p:cNvPr id="8" name="C3-E29 arrow 6" descr="sci-ppt:o006"/>
          <p:cNvCxnSpPr/>
          <p:nvPr/>
        </p:nvCxnSpPr>
        <p:spPr>
          <a:xfrm>
            <a:off x="76809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C3-E29 rect 7" descr="sci-ppt:o007"/>
          <p:cNvSpPr/>
          <p:nvPr/>
        </p:nvSpPr>
        <p:spPr>
          <a:xfrm>
            <a:off x="83667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3-E29 text 8" descr="sci-ppt:o008"/>
          <p:cNvSpPr txBox="1"/>
          <p:nvPr/>
        </p:nvSpPr>
        <p:spPr>
          <a:xfrm>
            <a:off x="85313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E_j,total = 50 nJ</a:t>
            </a:r>
          </a:p>
        </p:txBody>
      </p:sp>
      <p:sp>
        <p:nvSpPr>
          <p:cNvPr id="11" name="C3-E29 text 9" descr="sci-ppt:o009"/>
          <p:cNvSpPr txBox="1"/>
          <p:nvPr/>
        </p:nvSpPr>
        <p:spPr>
          <a:xfrm>
            <a:off x="731520" y="3246120"/>
            <a:ext cx="1078992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Each energy allocation belongs to the same finite source budget.</a:t>
            </a:r>
          </a:p>
        </p:txBody>
      </p:sp>
      <p:cxnSp>
        <p:nvCxnSpPr>
          <p:cNvPr id="12" name="C3-E29 line 10" descr="sci-ppt:o010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3" name="C3-E29 text 11" descr="sci-ppt:o011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E_L = 25 μJ incoming</a:t>
            </a:r>
          </a:p>
        </p:txBody>
      </p:sp>
      <p:sp>
        <p:nvSpPr>
          <p:cNvPr id="14" name="C3-E29 text 12" descr="sci-ppt:o012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f_geo = 0.8 intercepted</a:t>
            </a:r>
          </a:p>
        </p:txBody>
      </p:sp>
      <p:sp>
        <p:nvSpPr>
          <p:cNvPr id="15" name="C3-E29 text 13" descr="sci-ppt:o013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A_λ = 0.5 absorbed; λ wavelength</a:t>
            </a:r>
          </a:p>
        </p:txBody>
      </p:sp>
      <p:sp>
        <p:nvSpPr>
          <p:cNvPr id="16" name="C3-E29 text 14" descr="sci-ppt:o014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N_d = 25 sites</a:t>
            </a:r>
          </a:p>
        </p:txBody>
      </p:sp>
      <p:sp>
        <p:nvSpPr>
          <p:cNvPr id="17" name="C3-E29 text 15" descr="sci-ppt:o015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E_abs,tot = 10 μJ</a:t>
            </a:r>
          </a:p>
        </p:txBody>
      </p:sp>
      <p:sp>
        <p:nvSpPr>
          <p:cNvPr id="18" name="C3-E29 text 16" descr="sci-ppt:o016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E_abs,site = 400 nJ</a:t>
            </a:r>
          </a:p>
        </p:txBody>
      </p:sp>
      <p:sp>
        <p:nvSpPr>
          <p:cNvPr id="19" name="C3-E29 text 17" descr="sci-ppt:o017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f_T = 0.40 → E_PFC,deadline</a:t>
            </a:r>
          </a:p>
        </p:txBody>
      </p:sp>
      <p:sp>
        <p:nvSpPr>
          <p:cNvPr id="20" name="C3-E29 text 18" descr="sci-ppt:o018"/>
          <p:cNvSpPr txBox="1"/>
          <p:nvPr/>
        </p:nvSpPr>
        <p:spPr>
          <a:xfrm>
            <a:off x="621792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η_j = 0.005 → E_j, E_j,tot</a:t>
            </a:r>
          </a:p>
        </p:txBody>
      </p:sp>
      <p:sp>
        <p:nvSpPr>
          <p:cNvPr id="21" name="C3-E29 text 19" descr="sci-ppt:o019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Thermal preparation is checked on its own timescale</a:t>
            </a:r>
          </a:p>
        </p:txBody>
      </p:sp>
      <p:sp>
        <p:nvSpPr>
          <p:cNvPr id="22" name="C3-E29 text 20" descr="sci-ppt:o020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η_j is an assumption to be measured or solved</a:t>
            </a:r>
          </a:p>
        </p:txBody>
      </p:sp>
      <p:sp>
        <p:nvSpPr>
          <p:cNvPr id="23" name="C3-E29 text 21" descr="sci-ppt:o021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30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C3-E30 · Worked finite jet mass, speed and pressure scales</a:t>
            </a:r>
          </a:p>
        </p:txBody>
      </p:sp>
      <p:sp>
        <p:nvSpPr>
          <p:cNvPr id="3" name="C3-E30 rect 1" descr="sci-ppt:o001"/>
          <p:cNvSpPr/>
          <p:nvPr/>
        </p:nvSpPr>
        <p:spPr>
          <a:xfrm>
            <a:off x="731520" y="1508760"/>
            <a:ext cx="4937760" cy="7315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3-E30 arrow 2" descr="sci-ppt:o002"/>
          <p:cNvCxnSpPr/>
          <p:nvPr/>
        </p:nvCxnSpPr>
        <p:spPr>
          <a:xfrm>
            <a:off x="1005840" y="1874519"/>
            <a:ext cx="42976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5" name="C3-E30 text 3" descr="sci-ppt:o003"/>
          <p:cNvSpPr txBox="1"/>
          <p:nvPr/>
        </p:nvSpPr>
        <p:spPr>
          <a:xfrm>
            <a:off x="1463040" y="1051560"/>
            <a:ext cx="39319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Finite emitted liquid: m_j, E_j, U_j</a:t>
            </a:r>
          </a:p>
        </p:txBody>
      </p:sp>
      <p:cxnSp>
        <p:nvCxnSpPr>
          <p:cNvPr id="6" name="C3-E30 line 4" descr="sci-ppt:o004"/>
          <p:cNvCxnSpPr/>
          <p:nvPr/>
        </p:nvCxnSpPr>
        <p:spPr>
          <a:xfrm>
            <a:off x="731520" y="2606040"/>
            <a:ext cx="493776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7" name="C3-E30 text 5" descr="sci-ppt:o005"/>
          <p:cNvSpPr txBox="1"/>
          <p:nvPr/>
        </p:nvSpPr>
        <p:spPr>
          <a:xfrm>
            <a:off x="2743200" y="2697480"/>
            <a:ext cx="1828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L_j</a:t>
            </a:r>
          </a:p>
        </p:txBody>
      </p:sp>
      <p:cxnSp>
        <p:nvCxnSpPr>
          <p:cNvPr id="8" name="C3-E30 line 6" descr="sci-ppt:o006"/>
          <p:cNvCxnSpPr/>
          <p:nvPr/>
        </p:nvCxnSpPr>
        <p:spPr>
          <a:xfrm>
            <a:off x="457200" y="1508760"/>
            <a:ext cx="0" cy="7315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9" name="C3-E30 text 7" descr="sci-ppt:o007"/>
          <p:cNvSpPr txBox="1"/>
          <p:nvPr/>
        </p:nvSpPr>
        <p:spPr>
          <a:xfrm>
            <a:off x="137160" y="2377440"/>
            <a:ext cx="164592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d_j = 2a_j</a:t>
            </a:r>
          </a:p>
        </p:txBody>
      </p:sp>
      <p:sp>
        <p:nvSpPr>
          <p:cNvPr id="10" name="C3-E30 rect 8" descr="sci-ppt:o008"/>
          <p:cNvSpPr/>
          <p:nvPr/>
        </p:nvSpPr>
        <p:spPr>
          <a:xfrm>
            <a:off x="8412480" y="960120"/>
            <a:ext cx="365760" cy="16459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3-E30 arrow 9" descr="sci-ppt:o009"/>
          <p:cNvCxnSpPr/>
          <p:nvPr/>
        </p:nvCxnSpPr>
        <p:spPr>
          <a:xfrm>
            <a:off x="5760720" y="1874519"/>
            <a:ext cx="260604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C3-E30 text 10" descr="sci-ppt:o010"/>
          <p:cNvSpPr txBox="1"/>
          <p:nvPr/>
        </p:nvSpPr>
        <p:spPr>
          <a:xfrm>
            <a:off x="9006840" y="1005840"/>
            <a:ext cx="274320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Receiver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Z_r, v_i</a:t>
            </a:r>
          </a:p>
        </p:txBody>
      </p:sp>
      <p:sp>
        <p:nvSpPr>
          <p:cNvPr id="13" name="C3-E30 text 11" descr="sci-ppt:o011"/>
          <p:cNvSpPr txBox="1"/>
          <p:nvPr/>
        </p:nvSpPr>
        <p:spPr>
          <a:xfrm>
            <a:off x="6035040" y="2880360"/>
            <a:ext cx="5394960" cy="7315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Early pressure: acoustic matching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Impulse: finite momentum change</a:t>
            </a:r>
          </a:p>
        </p:txBody>
      </p:sp>
      <p:cxnSp>
        <p:nvCxnSpPr>
          <p:cNvPr id="14" name="C3-E30 line 12" descr="sci-ppt:o012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5" name="C3-E30 text 13" descr="sci-ppt:o013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d_j = 10 μm; L_j = 50 μm</a:t>
            </a:r>
          </a:p>
        </p:txBody>
      </p:sp>
      <p:sp>
        <p:nvSpPr>
          <p:cNvPr id="16" name="C3-E30 text 14" descr="sci-ppt:o014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m_j = 3.926991 ng</a:t>
            </a:r>
          </a:p>
        </p:txBody>
      </p:sp>
      <p:sp>
        <p:nvSpPr>
          <p:cNvPr id="17" name="C3-E30 text 15" descr="sci-ppt:o015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E_j = 2 nJ; U_j = 31.91538 m/s</a:t>
            </a:r>
          </a:p>
        </p:txBody>
      </p:sp>
      <p:sp>
        <p:nvSpPr>
          <p:cNvPr id="18" name="C3-E30 text 16" descr="sci-ppt:o016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q_j = 0.509296 MPa</a:t>
            </a:r>
          </a:p>
        </p:txBody>
      </p:sp>
      <p:sp>
        <p:nvSpPr>
          <p:cNvPr id="19" name="C3-E30 text 17" descr="sci-ppt:o017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p_rigid,early = 47.23477 MPa</a:t>
            </a:r>
          </a:p>
        </p:txBody>
      </p:sp>
      <p:sp>
        <p:nvSpPr>
          <p:cNvPr id="20" name="C3-E30 text 18" descr="sci-ppt:o018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P_j, P_tot aligned momentum</a:t>
            </a:r>
          </a:p>
        </p:txBody>
      </p:sp>
      <p:sp>
        <p:nvSpPr>
          <p:cNvPr id="21" name="C3-E30 text 19" descr="sci-ppt:o019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ρ = 1000 kg/m³; c = 1480 m/s; π</a:t>
            </a:r>
          </a:p>
        </p:txBody>
      </p:sp>
      <p:sp>
        <p:nvSpPr>
          <p:cNvPr id="22" name="C3-E30 text 20" descr="sci-ppt:o020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Carrier mass, not PFC vapor mass, is emitted</a:t>
            </a:r>
          </a:p>
        </p:txBody>
      </p:sp>
      <p:sp>
        <p:nvSpPr>
          <p:cNvPr id="23" name="C3-E30 text 21" descr="sci-ppt:o021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High early pressure does not create additional energy</a:t>
            </a:r>
          </a:p>
        </p:txBody>
      </p:sp>
      <p:sp>
        <p:nvSpPr>
          <p:cNvPr id="24" name="C3-E30 text 22" descr="sci-ppt:o022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31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C3-E31 · Reference answer: original interaction and allocation formulas</a:t>
            </a:r>
          </a:p>
        </p:txBody>
      </p:sp>
      <p:sp>
        <p:nvSpPr>
          <p:cNvPr id="3" name="C3-E31 ellipse 1" descr="sci-ppt:o001"/>
          <p:cNvSpPr/>
          <p:nvPr/>
        </p:nvSpPr>
        <p:spPr>
          <a:xfrm>
            <a:off x="1417319" y="1280160"/>
            <a:ext cx="1554480" cy="155448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3-E31 ellipse 2" descr="sci-ppt:o002"/>
          <p:cNvSpPr/>
          <p:nvPr/>
        </p:nvSpPr>
        <p:spPr>
          <a:xfrm>
            <a:off x="7909560" y="1280160"/>
            <a:ext cx="1554480" cy="155448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3-E31 text 3" descr="sci-ppt:o003"/>
          <p:cNvSpPr txBox="1"/>
          <p:nvPr/>
        </p:nvSpPr>
        <p:spPr>
          <a:xfrm>
            <a:off x="1645920" y="1874519"/>
            <a:ext cx="14630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j: source</a:t>
            </a:r>
          </a:p>
        </p:txBody>
      </p:sp>
      <p:sp>
        <p:nvSpPr>
          <p:cNvPr id="6" name="C3-E31 text 4" descr="sci-ppt:o004"/>
          <p:cNvSpPr txBox="1"/>
          <p:nvPr/>
        </p:nvSpPr>
        <p:spPr>
          <a:xfrm>
            <a:off x="8138160" y="1874519"/>
            <a:ext cx="15544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i: receiver</a:t>
            </a:r>
          </a:p>
        </p:txBody>
      </p:sp>
      <p:cxnSp>
        <p:nvCxnSpPr>
          <p:cNvPr id="7" name="C3-E31 line 5" descr="sci-ppt:o005"/>
          <p:cNvCxnSpPr/>
          <p:nvPr/>
        </p:nvCxnSpPr>
        <p:spPr>
          <a:xfrm>
            <a:off x="2194560" y="3108960"/>
            <a:ext cx="649224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" name="C3-E31 text 6" descr="sci-ppt:o006"/>
          <p:cNvSpPr txBox="1"/>
          <p:nvPr/>
        </p:nvSpPr>
        <p:spPr>
          <a:xfrm>
            <a:off x="4846320" y="3200400"/>
            <a:ext cx="1828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d_ij</a:t>
            </a:r>
          </a:p>
        </p:txBody>
      </p:sp>
      <p:cxnSp>
        <p:nvCxnSpPr>
          <p:cNvPr id="9" name="C3-E31 arrow 7" descr="sci-ppt:o007"/>
          <p:cNvCxnSpPr/>
          <p:nvPr/>
        </p:nvCxnSpPr>
        <p:spPr>
          <a:xfrm>
            <a:off x="3108960" y="2057400"/>
            <a:ext cx="4617719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C3-E31 text 8" descr="sci-ppt:o008"/>
          <p:cNvSpPr txBox="1"/>
          <p:nvPr/>
        </p:nvSpPr>
        <p:spPr>
          <a:xfrm>
            <a:off x="3749039" y="1600200"/>
            <a:ext cx="39319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Shared liquid: ρ, p∞</a:t>
            </a:r>
          </a:p>
        </p:txBody>
      </p:sp>
      <p:sp>
        <p:nvSpPr>
          <p:cNvPr id="11" name="C3-E31 text 9" descr="sci-ppt:o009"/>
          <p:cNvSpPr txBox="1"/>
          <p:nvPr/>
        </p:nvSpPr>
        <p:spPr>
          <a:xfrm>
            <a:off x="548640" y="777240"/>
            <a:ext cx="1097280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Fixed centres; spherical cavities; R_i, R_j ≪ d_ij</a:t>
            </a:r>
          </a:p>
        </p:txBody>
      </p:sp>
      <p:sp>
        <p:nvSpPr>
          <p:cNvPr id="12" name="C3-E31 text 10" descr="sci-ppt:o010"/>
          <p:cNvSpPr txBox="1"/>
          <p:nvPr/>
        </p:nvSpPr>
        <p:spPr>
          <a:xfrm>
            <a:off x="3657600" y="2423160"/>
            <a:ext cx="420624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Source-volume acceleration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sets the pressure correction.</a:t>
            </a:r>
          </a:p>
        </p:txBody>
      </p:sp>
      <p:cxnSp>
        <p:nvCxnSpPr>
          <p:cNvPr id="13" name="C3-E31 line 11" descr="sci-ppt:o011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4" name="C3-E31 text 12" descr="sci-ppt:o012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R_i, R_j bubble radii</a:t>
            </a:r>
          </a:p>
        </p:txBody>
      </p:sp>
      <p:sp>
        <p:nvSpPr>
          <p:cNvPr id="15" name="C3-E31 text 13" descr="sci-ppt:o013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d_ij separations; N sites</a:t>
            </a:r>
          </a:p>
        </p:txBody>
      </p:sp>
      <p:sp>
        <p:nvSpPr>
          <p:cNvPr id="16" name="C3-E31 text 14" descr="sci-ppt:o014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p_b,i inside; p∞ outside</a:t>
            </a:r>
          </a:p>
        </p:txBody>
      </p:sp>
      <p:sp>
        <p:nvSpPr>
          <p:cNvPr id="17" name="C3-E31 text 15" descr="sci-ppt:o015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Ṙ_i, R̈_i, Ṙ_j, R̈_j</a:t>
            </a:r>
          </a:p>
        </p:txBody>
      </p:sp>
      <p:sp>
        <p:nvSpPr>
          <p:cNvPr id="18" name="C3-E31 text 16" descr="sci-ppt:o016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σ_b, μ, ρ balance parameters</a:t>
            </a:r>
          </a:p>
        </p:txBody>
      </p:sp>
      <p:sp>
        <p:nvSpPr>
          <p:cNvPr id="19" name="C3-E31 text 17" descr="sci-ppt:o017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E_B,tot fixed work; Δp_c</a:t>
            </a:r>
          </a:p>
        </p:txBody>
      </p:sp>
      <p:sp>
        <p:nvSpPr>
          <p:cNvPr id="20" name="C3-E31 text 18" descr="sci-ppt:o018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R_max,N = R_* N^−1/3; π</a:t>
            </a:r>
          </a:p>
        </p:txBody>
      </p:sp>
      <p:sp>
        <p:nvSpPr>
          <p:cNvPr id="21" name="C3-E31 text 19" descr="sci-ppt:o019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Hydraulic connectivity decides whether sources are independent</a:t>
            </a:r>
          </a:p>
        </p:txBody>
      </p:sp>
      <p:sp>
        <p:nvSpPr>
          <p:cNvPr id="22" name="C3-E31 text 20" descr="sci-ppt:o020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Fixed total work changes each cavity scale</a:t>
            </a:r>
          </a:p>
        </p:txBody>
      </p:sp>
      <p:sp>
        <p:nvSpPr>
          <p:cNvPr id="23" name="C3-E31 text 21" descr="sci-ppt:o021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32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C3-E32 · Reference answer: original finite-mass and growth formulas</a:t>
            </a:r>
          </a:p>
        </p:txBody>
      </p:sp>
      <p:sp>
        <p:nvSpPr>
          <p:cNvPr id="3" name="C3-E32 rect 1" descr="sci-ppt:o001"/>
          <p:cNvSpPr/>
          <p:nvPr/>
        </p:nvSpPr>
        <p:spPr>
          <a:xfrm>
            <a:off x="731520" y="1508760"/>
            <a:ext cx="4937760" cy="7315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3-E32 arrow 2" descr="sci-ppt:o002"/>
          <p:cNvCxnSpPr/>
          <p:nvPr/>
        </p:nvCxnSpPr>
        <p:spPr>
          <a:xfrm>
            <a:off x="1005840" y="1874519"/>
            <a:ext cx="42976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5" name="C3-E32 text 3" descr="sci-ppt:o003"/>
          <p:cNvSpPr txBox="1"/>
          <p:nvPr/>
        </p:nvSpPr>
        <p:spPr>
          <a:xfrm>
            <a:off x="1463040" y="1051560"/>
            <a:ext cx="39319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Finite emitted liquid: m_j, E_j, U_j</a:t>
            </a:r>
          </a:p>
        </p:txBody>
      </p:sp>
      <p:cxnSp>
        <p:nvCxnSpPr>
          <p:cNvPr id="6" name="C3-E32 line 4" descr="sci-ppt:o004"/>
          <p:cNvCxnSpPr/>
          <p:nvPr/>
        </p:nvCxnSpPr>
        <p:spPr>
          <a:xfrm>
            <a:off x="731520" y="2606040"/>
            <a:ext cx="493776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7" name="C3-E32 text 5" descr="sci-ppt:o005"/>
          <p:cNvSpPr txBox="1"/>
          <p:nvPr/>
        </p:nvSpPr>
        <p:spPr>
          <a:xfrm>
            <a:off x="2743200" y="2697480"/>
            <a:ext cx="1828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L_j</a:t>
            </a:r>
          </a:p>
        </p:txBody>
      </p:sp>
      <p:cxnSp>
        <p:nvCxnSpPr>
          <p:cNvPr id="8" name="C3-E32 line 6" descr="sci-ppt:o006"/>
          <p:cNvCxnSpPr/>
          <p:nvPr/>
        </p:nvCxnSpPr>
        <p:spPr>
          <a:xfrm>
            <a:off x="457200" y="1508760"/>
            <a:ext cx="0" cy="7315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9" name="C3-E32 text 7" descr="sci-ppt:o007"/>
          <p:cNvSpPr txBox="1"/>
          <p:nvPr/>
        </p:nvSpPr>
        <p:spPr>
          <a:xfrm>
            <a:off x="137160" y="2377440"/>
            <a:ext cx="164592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d_j = 2a_j</a:t>
            </a:r>
          </a:p>
        </p:txBody>
      </p:sp>
      <p:cxnSp>
        <p:nvCxnSpPr>
          <p:cNvPr id="10" name="C3-E32 arrow 8" descr="sci-ppt:o008"/>
          <p:cNvCxnSpPr/>
          <p:nvPr/>
        </p:nvCxnSpPr>
        <p:spPr>
          <a:xfrm>
            <a:off x="5760720" y="1874519"/>
            <a:ext cx="47548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1" name="C3-E32 rect 9" descr="sci-ppt:o009"/>
          <p:cNvSpPr/>
          <p:nvPr/>
        </p:nvSpPr>
        <p:spPr>
          <a:xfrm>
            <a:off x="10607040" y="1051560"/>
            <a:ext cx="182880" cy="219456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3-E32 text 10" descr="sci-ppt:o010"/>
          <p:cNvSpPr txBox="1"/>
          <p:nvPr/>
        </p:nvSpPr>
        <p:spPr>
          <a:xfrm>
            <a:off x="7315200" y="2286000"/>
            <a:ext cx="1828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Gap H</a:t>
            </a:r>
          </a:p>
        </p:txBody>
      </p:sp>
      <p:cxnSp>
        <p:nvCxnSpPr>
          <p:cNvPr id="13" name="C3-E32 line 11" descr="sci-ppt:o011"/>
          <p:cNvCxnSpPr/>
          <p:nvPr/>
        </p:nvCxnSpPr>
        <p:spPr>
          <a:xfrm>
            <a:off x="5943600" y="1417319"/>
            <a:ext cx="59436" cy="3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C3-E32 line 12" descr="sci-ppt:o012"/>
          <p:cNvCxnSpPr/>
          <p:nvPr/>
        </p:nvCxnSpPr>
        <p:spPr>
          <a:xfrm>
            <a:off x="6003036" y="1417695"/>
            <a:ext cx="59436" cy="7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C3-E32 line 13" descr="sci-ppt:o013"/>
          <p:cNvCxnSpPr/>
          <p:nvPr/>
        </p:nvCxnSpPr>
        <p:spPr>
          <a:xfrm>
            <a:off x="6062472" y="1425102"/>
            <a:ext cx="59436" cy="1430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C3-E32 line 14" descr="sci-ppt:o014"/>
          <p:cNvCxnSpPr/>
          <p:nvPr/>
        </p:nvCxnSpPr>
        <p:spPr>
          <a:xfrm>
            <a:off x="6121908" y="1439407"/>
            <a:ext cx="59436" cy="2050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C3-E32 line 15" descr="sci-ppt:o015"/>
          <p:cNvCxnSpPr/>
          <p:nvPr/>
        </p:nvCxnSpPr>
        <p:spPr>
          <a:xfrm>
            <a:off x="6181344" y="1459915"/>
            <a:ext cx="59436" cy="254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C3-E32 line 16" descr="sci-ppt:o016"/>
          <p:cNvCxnSpPr/>
          <p:nvPr/>
        </p:nvCxnSpPr>
        <p:spPr>
          <a:xfrm>
            <a:off x="6240780" y="1485396"/>
            <a:ext cx="59436" cy="28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C3-E32 line 17" descr="sci-ppt:o017"/>
          <p:cNvCxnSpPr/>
          <p:nvPr/>
        </p:nvCxnSpPr>
        <p:spPr>
          <a:xfrm>
            <a:off x="6300216" y="1514156"/>
            <a:ext cx="59436" cy="2999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C3-E32 line 18" descr="sci-ppt:o018"/>
          <p:cNvCxnSpPr/>
          <p:nvPr/>
        </p:nvCxnSpPr>
        <p:spPr>
          <a:xfrm>
            <a:off x="6359652" y="1544150"/>
            <a:ext cx="59436" cy="2897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C3-E32 line 19" descr="sci-ppt:o019"/>
          <p:cNvCxnSpPr/>
          <p:nvPr/>
        </p:nvCxnSpPr>
        <p:spPr>
          <a:xfrm>
            <a:off x="6419088" y="1573123"/>
            <a:ext cx="59436" cy="256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C3-E32 line 20" descr="sci-ppt:o020"/>
          <p:cNvCxnSpPr/>
          <p:nvPr/>
        </p:nvCxnSpPr>
        <p:spPr>
          <a:xfrm>
            <a:off x="6478524" y="1598784"/>
            <a:ext cx="59436" cy="2020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C3-E32 line 21" descr="sci-ppt:o021"/>
          <p:cNvCxnSpPr/>
          <p:nvPr/>
        </p:nvCxnSpPr>
        <p:spPr>
          <a:xfrm>
            <a:off x="6537960" y="1618984"/>
            <a:ext cx="59436" cy="1290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C3-E32 line 22" descr="sci-ppt:o022"/>
          <p:cNvCxnSpPr/>
          <p:nvPr/>
        </p:nvCxnSpPr>
        <p:spPr>
          <a:xfrm>
            <a:off x="6597396" y="1631892"/>
            <a:ext cx="59436" cy="426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C3-E32 line 23" descr="sci-ppt:o023"/>
          <p:cNvCxnSpPr/>
          <p:nvPr/>
        </p:nvCxnSpPr>
        <p:spPr>
          <a:xfrm flipV="1">
            <a:off x="6656832" y="1631029"/>
            <a:ext cx="59436" cy="512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C3-E32 line 24" descr="sci-ppt:o024"/>
          <p:cNvCxnSpPr/>
          <p:nvPr/>
        </p:nvCxnSpPr>
        <p:spPr>
          <a:xfrm flipV="1">
            <a:off x="6716268" y="1616458"/>
            <a:ext cx="59436" cy="1457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C3-E32 line 25" descr="sci-ppt:o025"/>
          <p:cNvCxnSpPr/>
          <p:nvPr/>
        </p:nvCxnSpPr>
        <p:spPr>
          <a:xfrm flipV="1">
            <a:off x="6775704" y="1593113"/>
            <a:ext cx="59436" cy="2334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C3-E32 line 26" descr="sci-ppt:o026"/>
          <p:cNvCxnSpPr/>
          <p:nvPr/>
        </p:nvCxnSpPr>
        <p:spPr>
          <a:xfrm flipV="1">
            <a:off x="6835140" y="1562375"/>
            <a:ext cx="59436" cy="3073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C3-E32 line 27" descr="sci-ppt:o027"/>
          <p:cNvCxnSpPr/>
          <p:nvPr/>
        </p:nvCxnSpPr>
        <p:spPr>
          <a:xfrm flipV="1">
            <a:off x="6894576" y="1526249"/>
            <a:ext cx="59436" cy="361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C3-E32 line 28" descr="sci-ppt:o028"/>
          <p:cNvCxnSpPr/>
          <p:nvPr/>
        </p:nvCxnSpPr>
        <p:spPr>
          <a:xfrm flipV="1">
            <a:off x="6954012" y="1487242"/>
            <a:ext cx="59436" cy="390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C3-E32 line 29" descr="sci-ppt:o029"/>
          <p:cNvCxnSpPr/>
          <p:nvPr/>
        </p:nvCxnSpPr>
        <p:spPr>
          <a:xfrm flipV="1">
            <a:off x="7013448" y="1448186"/>
            <a:ext cx="59436" cy="3905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C3-E32 line 30" descr="sci-ppt:o030"/>
          <p:cNvCxnSpPr/>
          <p:nvPr/>
        </p:nvCxnSpPr>
        <p:spPr>
          <a:xfrm flipV="1">
            <a:off x="7072884" y="1412032"/>
            <a:ext cx="59436" cy="3615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C3-E32 line 31" descr="sci-ppt:o031"/>
          <p:cNvCxnSpPr/>
          <p:nvPr/>
        </p:nvCxnSpPr>
        <p:spPr>
          <a:xfrm flipV="1">
            <a:off x="7132320" y="1381631"/>
            <a:ext cx="59436" cy="30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C3-E32 line 32" descr="sci-ppt:o032"/>
          <p:cNvCxnSpPr/>
          <p:nvPr/>
        </p:nvCxnSpPr>
        <p:spPr>
          <a:xfrm flipV="1">
            <a:off x="7191756" y="1359506"/>
            <a:ext cx="59436" cy="2212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C3-E32 line 33" descr="sci-ppt:o033"/>
          <p:cNvCxnSpPr/>
          <p:nvPr/>
        </p:nvCxnSpPr>
        <p:spPr>
          <a:xfrm flipV="1">
            <a:off x="7251192" y="1347648"/>
            <a:ext cx="59436" cy="1185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C3-E32 line 34" descr="sci-ppt:o034"/>
          <p:cNvCxnSpPr/>
          <p:nvPr/>
        </p:nvCxnSpPr>
        <p:spPr>
          <a:xfrm flipV="1">
            <a:off x="7310628" y="1347345"/>
            <a:ext cx="59436" cy="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C3-E32 line 35" descr="sci-ppt:o035"/>
          <p:cNvCxnSpPr/>
          <p:nvPr/>
        </p:nvCxnSpPr>
        <p:spPr>
          <a:xfrm>
            <a:off x="7370064" y="1347345"/>
            <a:ext cx="59436" cy="11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C3-E32 line 36" descr="sci-ppt:o036"/>
          <p:cNvCxnSpPr/>
          <p:nvPr/>
        </p:nvCxnSpPr>
        <p:spPr>
          <a:xfrm>
            <a:off x="7429500" y="1359056"/>
            <a:ext cx="59436" cy="232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C3-E32 line 37" descr="sci-ppt:o037"/>
          <p:cNvCxnSpPr/>
          <p:nvPr/>
        </p:nvCxnSpPr>
        <p:spPr>
          <a:xfrm>
            <a:off x="7488936" y="1382346"/>
            <a:ext cx="59436" cy="335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C3-E32 line 38" descr="sci-ppt:o038"/>
          <p:cNvCxnSpPr/>
          <p:nvPr/>
        </p:nvCxnSpPr>
        <p:spPr>
          <a:xfrm>
            <a:off x="7548372" y="1415888"/>
            <a:ext cx="59436" cy="4164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C3-E32 line 39" descr="sci-ppt:o039"/>
          <p:cNvCxnSpPr/>
          <p:nvPr/>
        </p:nvCxnSpPr>
        <p:spPr>
          <a:xfrm>
            <a:off x="7607808" y="1457534"/>
            <a:ext cx="59436" cy="469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C3-E32 line 40" descr="sci-ppt:o040"/>
          <p:cNvCxnSpPr/>
          <p:nvPr/>
        </p:nvCxnSpPr>
        <p:spPr>
          <a:xfrm>
            <a:off x="7667244" y="1504447"/>
            <a:ext cx="59435" cy="4885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C3-E32 line 41" descr="sci-ppt:o041"/>
          <p:cNvCxnSpPr/>
          <p:nvPr/>
        </p:nvCxnSpPr>
        <p:spPr>
          <a:xfrm>
            <a:off x="7726679" y="1553299"/>
            <a:ext cx="59437" cy="472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C3-E32 line 42" descr="sci-ppt:o042"/>
          <p:cNvCxnSpPr/>
          <p:nvPr/>
        </p:nvCxnSpPr>
        <p:spPr>
          <a:xfrm>
            <a:off x="7786116" y="1600500"/>
            <a:ext cx="59436" cy="419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C3-E32 line 43" descr="sci-ppt:o043"/>
          <p:cNvCxnSpPr/>
          <p:nvPr/>
        </p:nvCxnSpPr>
        <p:spPr>
          <a:xfrm>
            <a:off x="7845552" y="1642469"/>
            <a:ext cx="59436" cy="334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C3-E32 line 44" descr="sci-ppt:o044"/>
          <p:cNvCxnSpPr/>
          <p:nvPr/>
        </p:nvCxnSpPr>
        <p:spPr>
          <a:xfrm>
            <a:off x="7904988" y="1675898"/>
            <a:ext cx="59436" cy="2211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C3-E32 line 45" descr="sci-ppt:o045"/>
          <p:cNvCxnSpPr/>
          <p:nvPr/>
        </p:nvCxnSpPr>
        <p:spPr>
          <a:xfrm>
            <a:off x="7964424" y="1698017"/>
            <a:ext cx="59436" cy="879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C3-E32 line 46" descr="sci-ppt:o046"/>
          <p:cNvCxnSpPr/>
          <p:nvPr/>
        </p:nvCxnSpPr>
        <p:spPr>
          <a:xfrm flipV="1">
            <a:off x="8023860" y="1701224"/>
            <a:ext cx="59436" cy="55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C3-E32 line 47" descr="sci-ppt:o047"/>
          <p:cNvCxnSpPr/>
          <p:nvPr/>
        </p:nvCxnSpPr>
        <p:spPr>
          <a:xfrm flipV="1">
            <a:off x="8083296" y="1681214"/>
            <a:ext cx="59436" cy="2001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C3-E32 line 48" descr="sci-ppt:o048"/>
          <p:cNvCxnSpPr/>
          <p:nvPr/>
        </p:nvCxnSpPr>
        <p:spPr>
          <a:xfrm flipV="1">
            <a:off x="8142732" y="1647836"/>
            <a:ext cx="59436" cy="333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C3-E32 line 49" descr="sci-ppt:o049"/>
          <p:cNvCxnSpPr/>
          <p:nvPr/>
        </p:nvCxnSpPr>
        <p:spPr>
          <a:xfrm flipV="1">
            <a:off x="8202168" y="1603176"/>
            <a:ext cx="59436" cy="446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2" name="C3-E32 line 50" descr="sci-ppt:o050"/>
          <p:cNvCxnSpPr/>
          <p:nvPr/>
        </p:nvCxnSpPr>
        <p:spPr>
          <a:xfrm flipV="1">
            <a:off x="8261604" y="1550222"/>
            <a:ext cx="59436" cy="5295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3" name="C3-E32 line 51" descr="sci-ppt:o051"/>
          <p:cNvCxnSpPr/>
          <p:nvPr/>
        </p:nvCxnSpPr>
        <p:spPr>
          <a:xfrm flipV="1">
            <a:off x="8321040" y="1492668"/>
            <a:ext cx="59435" cy="5755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4" name="C3-E32 line 52" descr="sci-ppt:o052"/>
          <p:cNvCxnSpPr/>
          <p:nvPr/>
        </p:nvCxnSpPr>
        <p:spPr>
          <a:xfrm flipV="1">
            <a:off x="8380475" y="1434659"/>
            <a:ext cx="59437" cy="580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5" name="C3-E32 line 53" descr="sci-ppt:o053"/>
          <p:cNvCxnSpPr/>
          <p:nvPr/>
        </p:nvCxnSpPr>
        <p:spPr>
          <a:xfrm flipV="1">
            <a:off x="8439912" y="1380488"/>
            <a:ext cx="59436" cy="5417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6" name="C3-E32 line 54" descr="sci-ppt:o054"/>
          <p:cNvCxnSpPr/>
          <p:nvPr/>
        </p:nvCxnSpPr>
        <p:spPr>
          <a:xfrm flipV="1">
            <a:off x="8499348" y="1334283"/>
            <a:ext cx="59436" cy="4620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7" name="C3-E32 line 55" descr="sci-ppt:o055"/>
          <p:cNvCxnSpPr/>
          <p:nvPr/>
        </p:nvCxnSpPr>
        <p:spPr>
          <a:xfrm flipV="1">
            <a:off x="8558784" y="1299690"/>
            <a:ext cx="59436" cy="3459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8" name="C3-E32 line 56" descr="sci-ppt:o056"/>
          <p:cNvCxnSpPr/>
          <p:nvPr/>
        </p:nvCxnSpPr>
        <p:spPr>
          <a:xfrm flipV="1">
            <a:off x="8618220" y="1279589"/>
            <a:ext cx="59436" cy="201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9" name="C3-E32 line 57" descr="sci-ppt:o057"/>
          <p:cNvCxnSpPr/>
          <p:nvPr/>
        </p:nvCxnSpPr>
        <p:spPr>
          <a:xfrm flipV="1">
            <a:off x="8677656" y="1275855"/>
            <a:ext cx="59436" cy="373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0" name="C3-E32 line 58" descr="sci-ppt:o058"/>
          <p:cNvCxnSpPr/>
          <p:nvPr/>
        </p:nvCxnSpPr>
        <p:spPr>
          <a:xfrm>
            <a:off x="8737092" y="1275855"/>
            <a:ext cx="59436" cy="133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1" name="C3-E32 line 59" descr="sci-ppt:o059"/>
          <p:cNvCxnSpPr/>
          <p:nvPr/>
        </p:nvCxnSpPr>
        <p:spPr>
          <a:xfrm>
            <a:off x="8796528" y="1289197"/>
            <a:ext cx="59436" cy="298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2" name="C3-E32 line 60" descr="sci-ppt:o060"/>
          <p:cNvCxnSpPr/>
          <p:nvPr/>
        </p:nvCxnSpPr>
        <p:spPr>
          <a:xfrm>
            <a:off x="8855964" y="1319073"/>
            <a:ext cx="59436" cy="4462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3" name="C3-E32 line 61" descr="sci-ppt:o061"/>
          <p:cNvCxnSpPr/>
          <p:nvPr/>
        </p:nvCxnSpPr>
        <p:spPr>
          <a:xfrm>
            <a:off x="8915400" y="1363694"/>
            <a:ext cx="59436" cy="5643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4" name="C3-E32 line 62" descr="sci-ppt:o062"/>
          <p:cNvCxnSpPr/>
          <p:nvPr/>
        </p:nvCxnSpPr>
        <p:spPr>
          <a:xfrm>
            <a:off x="8974836" y="1420133"/>
            <a:ext cx="59436" cy="643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5" name="C3-E32 line 63" descr="sci-ppt:o063"/>
          <p:cNvCxnSpPr/>
          <p:nvPr/>
        </p:nvCxnSpPr>
        <p:spPr>
          <a:xfrm>
            <a:off x="9034272" y="1484512"/>
            <a:ext cx="59436" cy="6775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6" name="C3-E32 line 64" descr="sci-ppt:o064"/>
          <p:cNvCxnSpPr/>
          <p:nvPr/>
        </p:nvCxnSpPr>
        <p:spPr>
          <a:xfrm>
            <a:off x="9093708" y="1552266"/>
            <a:ext cx="59436" cy="662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7" name="C3-E32 line 65" descr="sci-ppt:o065"/>
          <p:cNvCxnSpPr/>
          <p:nvPr/>
        </p:nvCxnSpPr>
        <p:spPr>
          <a:xfrm>
            <a:off x="9153144" y="1618469"/>
            <a:ext cx="59436" cy="597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8" name="C3-E32 line 66" descr="sci-ppt:o066"/>
          <p:cNvCxnSpPr/>
          <p:nvPr/>
        </p:nvCxnSpPr>
        <p:spPr>
          <a:xfrm>
            <a:off x="9212580" y="1678193"/>
            <a:ext cx="59436" cy="48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9" name="C3-E32 line 67" descr="sci-ppt:o067"/>
          <p:cNvCxnSpPr/>
          <p:nvPr/>
        </p:nvCxnSpPr>
        <p:spPr>
          <a:xfrm>
            <a:off x="9272016" y="1726869"/>
            <a:ext cx="59436" cy="337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0" name="C3-E32 line 68" descr="sci-ppt:o068"/>
          <p:cNvCxnSpPr/>
          <p:nvPr/>
        </p:nvCxnSpPr>
        <p:spPr>
          <a:xfrm>
            <a:off x="9331452" y="1760643"/>
            <a:ext cx="59436" cy="1603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1" name="C3-E32 line 69" descr="sci-ppt:o069"/>
          <p:cNvCxnSpPr/>
          <p:nvPr/>
        </p:nvCxnSpPr>
        <p:spPr>
          <a:xfrm flipV="1">
            <a:off x="9390888" y="1773372"/>
            <a:ext cx="59436" cy="3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2" name="C3-E32 line 70" descr="sci-ppt:o070"/>
          <p:cNvCxnSpPr/>
          <p:nvPr/>
        </p:nvCxnSpPr>
        <p:spPr>
          <a:xfrm flipV="1">
            <a:off x="9450324" y="1750538"/>
            <a:ext cx="59436" cy="2283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3" name="C3-E32 line 71" descr="sci-ppt:o071"/>
          <p:cNvCxnSpPr/>
          <p:nvPr/>
        </p:nvCxnSpPr>
        <p:spPr>
          <a:xfrm flipV="1">
            <a:off x="9509760" y="1709416"/>
            <a:ext cx="59436" cy="4112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4" name="C3-E32 line 72" descr="sci-ppt:o072"/>
          <p:cNvCxnSpPr/>
          <p:nvPr/>
        </p:nvCxnSpPr>
        <p:spPr>
          <a:xfrm flipV="1">
            <a:off x="9569196" y="1652633"/>
            <a:ext cx="59436" cy="567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5" name="C3-E32 line 73" descr="sci-ppt:o073"/>
          <p:cNvCxnSpPr/>
          <p:nvPr/>
        </p:nvCxnSpPr>
        <p:spPr>
          <a:xfrm flipV="1">
            <a:off x="9628632" y="1584029"/>
            <a:ext cx="59435" cy="686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6" name="C3-E32 line 74" descr="sci-ppt:o074"/>
          <p:cNvCxnSpPr/>
          <p:nvPr/>
        </p:nvCxnSpPr>
        <p:spPr>
          <a:xfrm flipV="1">
            <a:off x="9688067" y="1508404"/>
            <a:ext cx="59437" cy="7562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7" name="C3-E32 line 75" descr="sci-ppt:o075"/>
          <p:cNvCxnSpPr/>
          <p:nvPr/>
        </p:nvCxnSpPr>
        <p:spPr>
          <a:xfrm flipV="1">
            <a:off x="9747504" y="1431179"/>
            <a:ext cx="59436" cy="7722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8" name="C3-E32 line 76" descr="sci-ppt:o076"/>
          <p:cNvCxnSpPr/>
          <p:nvPr/>
        </p:nvCxnSpPr>
        <p:spPr>
          <a:xfrm flipV="1">
            <a:off x="9806940" y="1358008"/>
            <a:ext cx="59436" cy="7317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9" name="C3-E32 line 77" descr="sci-ppt:o077"/>
          <p:cNvCxnSpPr/>
          <p:nvPr/>
        </p:nvCxnSpPr>
        <p:spPr>
          <a:xfrm flipV="1">
            <a:off x="9866376" y="1294367"/>
            <a:ext cx="59436" cy="636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0" name="C3-E32 line 78" descr="sci-ppt:o078"/>
          <p:cNvCxnSpPr/>
          <p:nvPr/>
        </p:nvCxnSpPr>
        <p:spPr>
          <a:xfrm flipV="1">
            <a:off x="9925812" y="1245141"/>
            <a:ext cx="59436" cy="492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1" name="C3-E32 line 79" descr="sci-ppt:o079"/>
          <p:cNvCxnSpPr/>
          <p:nvPr/>
        </p:nvCxnSpPr>
        <p:spPr>
          <a:xfrm flipV="1">
            <a:off x="9985248" y="1214251"/>
            <a:ext cx="59436" cy="308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2" name="C3-E32 text 80" descr="sci-ppt:o080"/>
          <p:cNvSpPr txBox="1"/>
          <p:nvPr/>
        </p:nvSpPr>
        <p:spPr>
          <a:xfrm>
            <a:off x="5852160" y="822960"/>
            <a:ext cx="53035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δ₀ → δ_arr during H/U_j</a:t>
            </a:r>
          </a:p>
        </p:txBody>
      </p:sp>
      <p:sp>
        <p:nvSpPr>
          <p:cNvPr id="83" name="C3-E32 text 81" descr="sci-ppt:o081"/>
          <p:cNvSpPr txBox="1"/>
          <p:nvPr/>
        </p:nvSpPr>
        <p:spPr>
          <a:xfrm>
            <a:off x="1097280" y="3383280"/>
            <a:ext cx="100584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8EDBD4"/>
                </a:solidFill>
                <a:latin typeface="Arial"/>
              </a:rPr>
              <a:t>Linear growth applies while disturbances remain small relative to radius.</a:t>
            </a:r>
          </a:p>
        </p:txBody>
      </p:sp>
      <p:cxnSp>
        <p:nvCxnSpPr>
          <p:cNvPr id="84" name="C3-E32 line 82" descr="sci-ppt:o082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85" name="C3-E32 text 83" descr="sci-ppt:o083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m_j finite liquid mass</a:t>
            </a:r>
          </a:p>
        </p:txBody>
      </p:sp>
      <p:sp>
        <p:nvSpPr>
          <p:cNvPr id="86" name="C3-E32 text 84" descr="sci-ppt:o084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E_avail, E_j energy budget</a:t>
            </a:r>
          </a:p>
        </p:txBody>
      </p:sp>
      <p:sp>
        <p:nvSpPr>
          <p:cNvPr id="87" name="C3-E32 text 85" descr="sci-ppt:o085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U_rms, U_j velocities</a:t>
            </a:r>
          </a:p>
        </p:txBody>
      </p:sp>
      <p:sp>
        <p:nvSpPr>
          <p:cNvPr id="88" name="C3-E32 text 86" descr="sci-ppt:o086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P_j useful axial momentum</a:t>
            </a:r>
          </a:p>
        </p:txBody>
      </p:sp>
      <p:sp>
        <p:nvSpPr>
          <p:cNvPr id="89" name="C3-E32 text 87" descr="sci-ppt:o087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a₀, δ₀ → δ_arr</a:t>
            </a:r>
          </a:p>
        </p:txBody>
      </p:sp>
      <p:sp>
        <p:nvSpPr>
          <p:cNvPr id="90" name="C3-E32 text 88" descr="sci-ppt:o088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H flight gap; g_max growth</a:t>
            </a:r>
          </a:p>
        </p:txBody>
      </p:sp>
      <p:sp>
        <p:nvSpPr>
          <p:cNvPr id="91" name="C3-E32 text 89" descr="sci-ppt:o089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exp(g_max H/U_j) flight amplification</a:t>
            </a:r>
          </a:p>
        </p:txBody>
      </p:sp>
      <p:sp>
        <p:nvSpPr>
          <p:cNvPr id="92" name="C3-E32 text 90" descr="sci-ppt:o090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Fastest tip speed differs from a finite-mass velocity</a:t>
            </a:r>
          </a:p>
        </p:txBody>
      </p:sp>
      <p:sp>
        <p:nvSpPr>
          <p:cNvPr id="93" name="C3-E32 text 91" descr="sci-ppt:o091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Coherent arrival depends on initial disturbance and finite geometry</a:t>
            </a:r>
          </a:p>
        </p:txBody>
      </p:sp>
      <p:sp>
        <p:nvSpPr>
          <p:cNvPr id="94" name="C3-E32 text 92" descr="sci-ppt:o092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33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C3-E33 · Reference answer: original impact and observer formulas</a:t>
            </a:r>
          </a:p>
        </p:txBody>
      </p:sp>
      <p:sp>
        <p:nvSpPr>
          <p:cNvPr id="3" name="C3-E33 rect 1" descr="sci-ppt:o001"/>
          <p:cNvSpPr/>
          <p:nvPr/>
        </p:nvSpPr>
        <p:spPr>
          <a:xfrm>
            <a:off x="731520" y="1508760"/>
            <a:ext cx="4937760" cy="7315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3-E33 arrow 2" descr="sci-ppt:o002"/>
          <p:cNvCxnSpPr/>
          <p:nvPr/>
        </p:nvCxnSpPr>
        <p:spPr>
          <a:xfrm>
            <a:off x="1005840" y="1874519"/>
            <a:ext cx="42976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5" name="C3-E33 text 3" descr="sci-ppt:o003"/>
          <p:cNvSpPr txBox="1"/>
          <p:nvPr/>
        </p:nvSpPr>
        <p:spPr>
          <a:xfrm>
            <a:off x="1463040" y="1051560"/>
            <a:ext cx="39319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Finite emitted liquid: m_j, E_j, U_j</a:t>
            </a:r>
          </a:p>
        </p:txBody>
      </p:sp>
      <p:cxnSp>
        <p:nvCxnSpPr>
          <p:cNvPr id="6" name="C3-E33 line 4" descr="sci-ppt:o004"/>
          <p:cNvCxnSpPr/>
          <p:nvPr/>
        </p:nvCxnSpPr>
        <p:spPr>
          <a:xfrm>
            <a:off x="731520" y="2606040"/>
            <a:ext cx="493776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7" name="C3-E33 text 5" descr="sci-ppt:o005"/>
          <p:cNvSpPr txBox="1"/>
          <p:nvPr/>
        </p:nvSpPr>
        <p:spPr>
          <a:xfrm>
            <a:off x="2743200" y="2697480"/>
            <a:ext cx="1828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L_j</a:t>
            </a:r>
          </a:p>
        </p:txBody>
      </p:sp>
      <p:cxnSp>
        <p:nvCxnSpPr>
          <p:cNvPr id="8" name="C3-E33 line 6" descr="sci-ppt:o006"/>
          <p:cNvCxnSpPr/>
          <p:nvPr/>
        </p:nvCxnSpPr>
        <p:spPr>
          <a:xfrm>
            <a:off x="457200" y="1508760"/>
            <a:ext cx="0" cy="7315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9" name="C3-E33 text 7" descr="sci-ppt:o007"/>
          <p:cNvSpPr txBox="1"/>
          <p:nvPr/>
        </p:nvSpPr>
        <p:spPr>
          <a:xfrm>
            <a:off x="137160" y="2377440"/>
            <a:ext cx="164592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d_j = 2a_j</a:t>
            </a:r>
          </a:p>
        </p:txBody>
      </p:sp>
      <p:sp>
        <p:nvSpPr>
          <p:cNvPr id="10" name="C3-E33 rect 8" descr="sci-ppt:o008"/>
          <p:cNvSpPr/>
          <p:nvPr/>
        </p:nvSpPr>
        <p:spPr>
          <a:xfrm>
            <a:off x="8412480" y="960120"/>
            <a:ext cx="365760" cy="16459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3-E33 arrow 9" descr="sci-ppt:o009"/>
          <p:cNvCxnSpPr/>
          <p:nvPr/>
        </p:nvCxnSpPr>
        <p:spPr>
          <a:xfrm>
            <a:off x="5760720" y="1874519"/>
            <a:ext cx="260604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C3-E33 text 10" descr="sci-ppt:o010"/>
          <p:cNvSpPr txBox="1"/>
          <p:nvPr/>
        </p:nvSpPr>
        <p:spPr>
          <a:xfrm>
            <a:off x="9006840" y="1005840"/>
            <a:ext cx="274320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Receiver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Z_r, v_i</a:t>
            </a:r>
          </a:p>
        </p:txBody>
      </p:sp>
      <p:sp>
        <p:nvSpPr>
          <p:cNvPr id="13" name="C3-E33 text 11" descr="sci-ppt:o011"/>
          <p:cNvSpPr txBox="1"/>
          <p:nvPr/>
        </p:nvSpPr>
        <p:spPr>
          <a:xfrm>
            <a:off x="6035040" y="2880360"/>
            <a:ext cx="5394960" cy="7315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Early pressure: acoustic matching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Impulse: finite momentum change</a:t>
            </a:r>
          </a:p>
        </p:txBody>
      </p:sp>
      <p:cxnSp>
        <p:nvCxnSpPr>
          <p:cNvPr id="14" name="C3-E33 line 12" descr="sci-ppt:o012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5" name="C3-E33 text 13" descr="sci-ppt:o013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U_j, L_j finite incoming jet</a:t>
            </a:r>
          </a:p>
        </p:txBody>
      </p:sp>
      <p:sp>
        <p:nvSpPr>
          <p:cNvPr id="16" name="C3-E33 text 14" descr="sci-ppt:o014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ρ, c; Z_l liquid impedance</a:t>
            </a:r>
          </a:p>
        </p:txBody>
      </p:sp>
      <p:sp>
        <p:nvSpPr>
          <p:cNvPr id="17" name="C3-E33 text 15" descr="sci-ppt:o015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Z_r receiver impedance</a:t>
            </a:r>
          </a:p>
        </p:txBody>
      </p:sp>
      <p:sp>
        <p:nvSpPr>
          <p:cNvPr id="18" name="C3-E33 text 16" descr="sci-ppt:o016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p_early early contact scale</a:t>
            </a:r>
          </a:p>
        </p:txBody>
      </p:sp>
      <p:sp>
        <p:nvSpPr>
          <p:cNvPr id="19" name="C3-E33 text 17" descr="sci-ppt:o017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τ_eq = L_j/c</a:t>
            </a:r>
          </a:p>
        </p:txBody>
      </p:sp>
      <p:sp>
        <p:nvSpPr>
          <p:cNvPr id="20" name="C3-E33 text 18" descr="sci-ppt:o018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A_o, τ_o finite observer</a:t>
            </a:r>
          </a:p>
        </p:txBody>
      </p:sp>
      <p:sp>
        <p:nvSpPr>
          <p:cNvPr id="21" name="C3-E33 text 19" descr="sci-ppt:o019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p(x,ξ), p_ref, p_obs(t), dA</a:t>
            </a:r>
          </a:p>
        </p:txBody>
      </p:sp>
      <p:sp>
        <p:nvSpPr>
          <p:cNvPr id="22" name="C3-E33 text 20" descr="sci-ppt:o020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Location, footprint and time window must stay fixed</a:t>
            </a:r>
          </a:p>
        </p:txBody>
      </p:sp>
      <p:sp>
        <p:nvSpPr>
          <p:cNvPr id="23" name="C3-E33 text 21" descr="sci-ppt:o021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Early compressive pressure is not buried release-interface traction</a:t>
            </a:r>
          </a:p>
        </p:txBody>
      </p:sp>
      <p:sp>
        <p:nvSpPr>
          <p:cNvPr id="24" name="C3-E33 text 22" descr="sci-ppt:o022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