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12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C3-E12 · Volume-fraction definition and retarded monopole approximation</a:t>
            </a:r>
          </a:p>
        </p:txBody>
      </p:sp>
      <p:sp>
        <p:nvSpPr>
          <p:cNvPr id="3" name="C3-E12 ellipse 1" descr="sci-ppt:o001"/>
          <p:cNvSpPr/>
          <p:nvPr/>
        </p:nvSpPr>
        <p:spPr>
          <a:xfrm>
            <a:off x="987551" y="1078992"/>
            <a:ext cx="585216" cy="585216"/>
          </a:xfrm>
          <a:prstGeom prst="ellipse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C3-E12 arrow 2" descr="sci-ppt:o002"/>
          <p:cNvCxnSpPr/>
          <p:nvPr/>
        </p:nvCxnSpPr>
        <p:spPr>
          <a:xfrm>
            <a:off x="1600200" y="1371600"/>
            <a:ext cx="6903720" cy="64008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C3-E12 ellipse 3" descr="sci-ppt:o003"/>
          <p:cNvSpPr/>
          <p:nvPr/>
        </p:nvSpPr>
        <p:spPr>
          <a:xfrm>
            <a:off x="1993392" y="2267712"/>
            <a:ext cx="585216" cy="585216"/>
          </a:xfrm>
          <a:prstGeom prst="ellipse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" name="C3-E12 arrow 4" descr="sci-ppt:o004"/>
          <p:cNvCxnSpPr/>
          <p:nvPr/>
        </p:nvCxnSpPr>
        <p:spPr>
          <a:xfrm flipV="1">
            <a:off x="2606040" y="2011680"/>
            <a:ext cx="5897880" cy="5486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7" name="C3-E12 ellipse 5" descr="sci-ppt:o005"/>
          <p:cNvSpPr/>
          <p:nvPr/>
        </p:nvSpPr>
        <p:spPr>
          <a:xfrm>
            <a:off x="2999232" y="1078992"/>
            <a:ext cx="585216" cy="585216"/>
          </a:xfrm>
          <a:prstGeom prst="ellipse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" name="C3-E12 arrow 6" descr="sci-ppt:o006"/>
          <p:cNvCxnSpPr/>
          <p:nvPr/>
        </p:nvCxnSpPr>
        <p:spPr>
          <a:xfrm>
            <a:off x="3611880" y="1371600"/>
            <a:ext cx="4892040" cy="64008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9" name="C3-E12 ellipse 7" descr="sci-ppt:o007"/>
          <p:cNvSpPr/>
          <p:nvPr/>
        </p:nvSpPr>
        <p:spPr>
          <a:xfrm>
            <a:off x="8577072" y="1901952"/>
            <a:ext cx="219456" cy="219456"/>
          </a:xfrm>
          <a:prstGeom prst="ellipse">
            <a:avLst/>
          </a:prstGeom>
          <a:solidFill>
            <a:srgbClr val="8EDBD4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3-E12 text 8" descr="sci-ppt:o008"/>
          <p:cNvSpPr txBox="1"/>
          <p:nvPr/>
        </p:nvSpPr>
        <p:spPr>
          <a:xfrm>
            <a:off x="8046720" y="2377440"/>
            <a:ext cx="27432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Observation x, time t</a:t>
            </a:r>
          </a:p>
        </p:txBody>
      </p:sp>
      <p:sp>
        <p:nvSpPr>
          <p:cNvPr id="11" name="C3-E12 text 9" descr="sci-ppt:o009"/>
          <p:cNvSpPr txBox="1"/>
          <p:nvPr/>
        </p:nvSpPr>
        <p:spPr>
          <a:xfrm>
            <a:off x="4389120" y="914400"/>
            <a:ext cx="45720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E7F0F3"/>
                </a:solidFill>
                <a:latin typeface="Arial"/>
              </a:rPr>
              <a:t>Retarded source time: t − r_i/c</a:t>
            </a:r>
          </a:p>
        </p:txBody>
      </p:sp>
      <p:sp>
        <p:nvSpPr>
          <p:cNvPr id="12" name="C3-E12 text 10" descr="sci-ppt:o010"/>
          <p:cNvSpPr txBox="1"/>
          <p:nvPr/>
        </p:nvSpPr>
        <p:spPr>
          <a:xfrm>
            <a:off x="731520" y="3383280"/>
            <a:ext cx="1078992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Volume fraction requires a defined region; travel times govern pulse overlap.</a:t>
            </a:r>
          </a:p>
        </p:txBody>
      </p:sp>
      <p:cxnSp>
        <p:nvCxnSpPr>
          <p:cNvPr id="13" name="C3-E12 line 11" descr="sci-ppt:o011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4" name="C3-E12 text 12" descr="sci-ppt:o012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V_i, R_i: bubble sites</a:t>
            </a:r>
          </a:p>
        </p:txBody>
      </p:sp>
      <p:sp>
        <p:nvSpPr>
          <p:cNvPr id="15" name="C3-E12 text 13" descr="sci-ppt:o013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V_Ω representative region</a:t>
            </a:r>
          </a:p>
        </p:txBody>
      </p:sp>
      <p:sp>
        <p:nvSpPr>
          <p:cNvPr id="16" name="C3-E12 text 14" descr="sci-ppt:o014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φ_b = ΣV_i / V_Ω</a:t>
            </a:r>
          </a:p>
        </p:txBody>
      </p:sp>
      <p:sp>
        <p:nvSpPr>
          <p:cNvPr id="17" name="C3-E12 text 15" descr="sci-ppt:o015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s, R: cubic-cell geometry</a:t>
            </a:r>
          </a:p>
        </p:txBody>
      </p:sp>
      <p:sp>
        <p:nvSpPr>
          <p:cNvPr id="18" name="C3-E12 text 16" descr="sci-ppt:o016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r_i → observation x</a:t>
            </a:r>
          </a:p>
        </p:txBody>
      </p:sp>
      <p:sp>
        <p:nvSpPr>
          <p:cNvPr id="19" name="C3-E12 text 17" descr="sci-ppt:o017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p′, φ at time t</a:t>
            </a:r>
          </a:p>
        </p:txBody>
      </p:sp>
      <p:sp>
        <p:nvSpPr>
          <p:cNvPr id="20" name="C3-E12 text 18" descr="sci-ppt:o018"/>
          <p:cNvSpPr txBox="1"/>
          <p:nvPr/>
        </p:nvSpPr>
        <p:spPr>
          <a:xfrm>
            <a:off x="320040" y="4796028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ρ, c; V̇_i, V̈_i; t − r_i/c</a:t>
            </a:r>
          </a:p>
        </p:txBody>
      </p:sp>
      <p:sp>
        <p:nvSpPr>
          <p:cNvPr id="21" name="C3-E12 text 19" descr="sci-ppt:o019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Planar arrays require a declared layer thickness</a:t>
            </a:r>
          </a:p>
        </p:txBody>
      </p:sp>
      <p:sp>
        <p:nvSpPr>
          <p:cNvPr id="22" name="C3-E12 text 20" descr="sci-ppt:o020"/>
          <p:cNvSpPr txBox="1"/>
          <p:nvPr/>
        </p:nvSpPr>
        <p:spPr>
          <a:xfrm>
            <a:off x="320040" y="587044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Activation and propagation delays affect overlap</a:t>
            </a:r>
          </a:p>
        </p:txBody>
      </p:sp>
      <p:sp>
        <p:nvSpPr>
          <p:cNvPr id="23" name="C3-E12 text 21" descr="sci-ppt:o021"/>
          <p:cNvSpPr txBox="1"/>
          <p:nvPr/>
        </p:nvSpPr>
        <p:spPr>
          <a:xfrm>
            <a:off x="320040" y="614476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Weak far-field sources do not predict impact pressure</a:t>
            </a:r>
          </a:p>
        </p:txBody>
      </p:sp>
      <p:sp>
        <p:nvSpPr>
          <p:cNvPr id="24" name="C3-E12 text 22" descr="sci-ppt:o022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