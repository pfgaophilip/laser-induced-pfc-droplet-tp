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C3-E12 · Volume-fraction definition and retarded monopole approximation</a:t>
            </a:r>
          </a:p>
        </p:txBody>
      </p:sp>
      <p:sp>
        <p:nvSpPr>
          <p:cNvPr id="3" name="C3-E12 round_rect 1" descr="sci-ppt:o001"/>
          <p:cNvSpPr/>
          <p:nvPr/>
        </p:nvSpPr>
        <p:spPr>
          <a:xfrm>
            <a:off x="365760" y="914400"/>
            <a:ext cx="4023360" cy="4846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12 text 2" descr="sci-ppt:o002"/>
          <p:cNvSpPr txBox="1"/>
          <p:nvPr/>
        </p:nvSpPr>
        <p:spPr>
          <a:xfrm>
            <a:off x="475488" y="969264"/>
            <a:ext cx="38039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Bubbles in a cubic lattice</a:t>
            </a:r>
          </a:p>
        </p:txBody>
      </p:sp>
      <p:sp>
        <p:nvSpPr>
          <p:cNvPr id="5" name="C3-E12 ellipse 3" descr="sci-ppt:o003"/>
          <p:cNvSpPr/>
          <p:nvPr/>
        </p:nvSpPr>
        <p:spPr>
          <a:xfrm>
            <a:off x="813815" y="1499616"/>
            <a:ext cx="384048" cy="384048"/>
          </a:xfrm>
          <a:prstGeom prst="ellipse">
            <a:avLst/>
          </a:prstGeom>
          <a:solidFill>
            <a:srgbClr val="0C1820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3-E12 ellipse 4" descr="sci-ppt:o004"/>
          <p:cNvSpPr/>
          <p:nvPr/>
        </p:nvSpPr>
        <p:spPr>
          <a:xfrm>
            <a:off x="813815" y="2157984"/>
            <a:ext cx="384048" cy="384048"/>
          </a:xfrm>
          <a:prstGeom prst="ellipse">
            <a:avLst/>
          </a:prstGeom>
          <a:solidFill>
            <a:srgbClr val="0C1820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3-E12 ellipse 5" descr="sci-ppt:o005"/>
          <p:cNvSpPr/>
          <p:nvPr/>
        </p:nvSpPr>
        <p:spPr>
          <a:xfrm>
            <a:off x="813815" y="2816352"/>
            <a:ext cx="384048" cy="384048"/>
          </a:xfrm>
          <a:prstGeom prst="ellipse">
            <a:avLst/>
          </a:prstGeom>
          <a:solidFill>
            <a:srgbClr val="0C1820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3-E12 ellipse 6" descr="sci-ppt:o006"/>
          <p:cNvSpPr/>
          <p:nvPr/>
        </p:nvSpPr>
        <p:spPr>
          <a:xfrm>
            <a:off x="813815" y="3474720"/>
            <a:ext cx="384048" cy="384048"/>
          </a:xfrm>
          <a:prstGeom prst="ellipse">
            <a:avLst/>
          </a:prstGeom>
          <a:solidFill>
            <a:srgbClr val="0C1820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3-E12 ellipse 7" descr="sci-ppt:o007"/>
          <p:cNvSpPr/>
          <p:nvPr/>
        </p:nvSpPr>
        <p:spPr>
          <a:xfrm>
            <a:off x="1472184" y="1499616"/>
            <a:ext cx="384048" cy="384048"/>
          </a:xfrm>
          <a:prstGeom prst="ellipse">
            <a:avLst/>
          </a:prstGeom>
          <a:solidFill>
            <a:srgbClr val="0C1820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3-E12 ellipse 8" descr="sci-ppt:o008"/>
          <p:cNvSpPr/>
          <p:nvPr/>
        </p:nvSpPr>
        <p:spPr>
          <a:xfrm>
            <a:off x="1472184" y="2157984"/>
            <a:ext cx="384048" cy="384048"/>
          </a:xfrm>
          <a:prstGeom prst="ellipse">
            <a:avLst/>
          </a:prstGeom>
          <a:solidFill>
            <a:srgbClr val="0C1820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3-E12 ellipse 9" descr="sci-ppt:o009"/>
          <p:cNvSpPr/>
          <p:nvPr/>
        </p:nvSpPr>
        <p:spPr>
          <a:xfrm>
            <a:off x="1472184" y="2816352"/>
            <a:ext cx="384048" cy="384048"/>
          </a:xfrm>
          <a:prstGeom prst="ellipse">
            <a:avLst/>
          </a:prstGeom>
          <a:solidFill>
            <a:srgbClr val="0C1820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3-E12 ellipse 10" descr="sci-ppt:o010"/>
          <p:cNvSpPr/>
          <p:nvPr/>
        </p:nvSpPr>
        <p:spPr>
          <a:xfrm>
            <a:off x="1472184" y="3474720"/>
            <a:ext cx="384048" cy="384048"/>
          </a:xfrm>
          <a:prstGeom prst="ellipse">
            <a:avLst/>
          </a:prstGeom>
          <a:solidFill>
            <a:srgbClr val="0C1820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3-E12 ellipse 11" descr="sci-ppt:o011"/>
          <p:cNvSpPr/>
          <p:nvPr/>
        </p:nvSpPr>
        <p:spPr>
          <a:xfrm>
            <a:off x="2130551" y="1499616"/>
            <a:ext cx="384048" cy="384048"/>
          </a:xfrm>
          <a:prstGeom prst="ellipse">
            <a:avLst/>
          </a:prstGeom>
          <a:solidFill>
            <a:srgbClr val="0C1820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3-E12 ellipse 12" descr="sci-ppt:o012"/>
          <p:cNvSpPr/>
          <p:nvPr/>
        </p:nvSpPr>
        <p:spPr>
          <a:xfrm>
            <a:off x="2130551" y="2157984"/>
            <a:ext cx="384048" cy="384048"/>
          </a:xfrm>
          <a:prstGeom prst="ellipse">
            <a:avLst/>
          </a:prstGeom>
          <a:solidFill>
            <a:srgbClr val="0C1820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3-E12 ellipse 13" descr="sci-ppt:o013"/>
          <p:cNvSpPr/>
          <p:nvPr/>
        </p:nvSpPr>
        <p:spPr>
          <a:xfrm>
            <a:off x="2130551" y="2816352"/>
            <a:ext cx="384048" cy="384048"/>
          </a:xfrm>
          <a:prstGeom prst="ellipse">
            <a:avLst/>
          </a:prstGeom>
          <a:solidFill>
            <a:srgbClr val="0C1820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3-E12 ellipse 14" descr="sci-ppt:o014"/>
          <p:cNvSpPr/>
          <p:nvPr/>
        </p:nvSpPr>
        <p:spPr>
          <a:xfrm>
            <a:off x="2130551" y="3474720"/>
            <a:ext cx="384048" cy="384048"/>
          </a:xfrm>
          <a:prstGeom prst="ellipse">
            <a:avLst/>
          </a:prstGeom>
          <a:solidFill>
            <a:srgbClr val="0C1820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3-E12 ellipse 15" descr="sci-ppt:o015"/>
          <p:cNvSpPr/>
          <p:nvPr/>
        </p:nvSpPr>
        <p:spPr>
          <a:xfrm>
            <a:off x="2788920" y="1499616"/>
            <a:ext cx="384048" cy="384048"/>
          </a:xfrm>
          <a:prstGeom prst="ellipse">
            <a:avLst/>
          </a:prstGeom>
          <a:solidFill>
            <a:srgbClr val="0C1820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3-E12 ellipse 16" descr="sci-ppt:o016"/>
          <p:cNvSpPr/>
          <p:nvPr/>
        </p:nvSpPr>
        <p:spPr>
          <a:xfrm>
            <a:off x="2788920" y="2157984"/>
            <a:ext cx="384048" cy="384048"/>
          </a:xfrm>
          <a:prstGeom prst="ellipse">
            <a:avLst/>
          </a:prstGeom>
          <a:solidFill>
            <a:srgbClr val="0C1820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3-E12 ellipse 17" descr="sci-ppt:o017"/>
          <p:cNvSpPr/>
          <p:nvPr/>
        </p:nvSpPr>
        <p:spPr>
          <a:xfrm>
            <a:off x="2788920" y="2816352"/>
            <a:ext cx="384048" cy="384048"/>
          </a:xfrm>
          <a:prstGeom prst="ellipse">
            <a:avLst/>
          </a:prstGeom>
          <a:solidFill>
            <a:srgbClr val="0C1820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3-E12 ellipse 18" descr="sci-ppt:o018"/>
          <p:cNvSpPr/>
          <p:nvPr/>
        </p:nvSpPr>
        <p:spPr>
          <a:xfrm>
            <a:off x="2788920" y="3474720"/>
            <a:ext cx="384048" cy="384048"/>
          </a:xfrm>
          <a:prstGeom prst="ellipse">
            <a:avLst/>
          </a:prstGeom>
          <a:solidFill>
            <a:srgbClr val="0C1820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3-E12 line 19" descr="sci-ppt:o019"/>
          <p:cNvCxnSpPr/>
          <p:nvPr/>
        </p:nvCxnSpPr>
        <p:spPr>
          <a:xfrm>
            <a:off x="1005839" y="4526280"/>
            <a:ext cx="658368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22" name="C3-E12 line 20" descr="sci-ppt:o020"/>
          <p:cNvCxnSpPr/>
          <p:nvPr/>
        </p:nvCxnSpPr>
        <p:spPr>
          <a:xfrm>
            <a:off x="1005839" y="4462272"/>
            <a:ext cx="0" cy="128016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cxnSp>
        <p:nvCxnSpPr>
          <p:cNvPr id="23" name="C3-E12 line 21" descr="sci-ppt:o021"/>
          <p:cNvCxnSpPr/>
          <p:nvPr/>
        </p:nvCxnSpPr>
        <p:spPr>
          <a:xfrm>
            <a:off x="1664207" y="4462272"/>
            <a:ext cx="0" cy="128016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sp>
        <p:nvSpPr>
          <p:cNvPr id="24" name="C3-E12 text 22" descr="sci-ppt:o022"/>
          <p:cNvSpPr txBox="1"/>
          <p:nvPr/>
        </p:nvSpPr>
        <p:spPr>
          <a:xfrm>
            <a:off x="420623" y="4255770"/>
            <a:ext cx="18288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s</a:t>
            </a:r>
          </a:p>
        </p:txBody>
      </p:sp>
      <p:sp>
        <p:nvSpPr>
          <p:cNvPr id="25" name="C3-E12 text 23" descr="sci-ppt:o023"/>
          <p:cNvSpPr txBox="1"/>
          <p:nvPr/>
        </p:nvSpPr>
        <p:spPr>
          <a:xfrm>
            <a:off x="502920" y="4892040"/>
            <a:ext cx="3749039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φ_b = Σ Vᵢ / V_Ω = (4π/3) R³ / s³ for one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bubble per cell.</a:t>
            </a:r>
          </a:p>
        </p:txBody>
      </p:sp>
      <p:cxnSp>
        <p:nvCxnSpPr>
          <p:cNvPr id="26" name="C3-E12 line 24" descr="sci-ppt:o024"/>
          <p:cNvCxnSpPr/>
          <p:nvPr/>
        </p:nvCxnSpPr>
        <p:spPr>
          <a:xfrm>
            <a:off x="5669280" y="4754880"/>
            <a:ext cx="32004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7" name="C3-E12 line 25" descr="sci-ppt:o025"/>
          <p:cNvCxnSpPr/>
          <p:nvPr/>
        </p:nvCxnSpPr>
        <p:spPr>
          <a:xfrm>
            <a:off x="5669280" y="1371600"/>
            <a:ext cx="0" cy="338328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8" name="C3-E12 line 26" descr="sci-ppt:o026"/>
          <p:cNvCxnSpPr/>
          <p:nvPr/>
        </p:nvCxnSpPr>
        <p:spPr>
          <a:xfrm>
            <a:off x="5669280" y="47548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9" name="C3-E12 line 27" descr="sci-ppt:o027"/>
          <p:cNvCxnSpPr/>
          <p:nvPr/>
        </p:nvCxnSpPr>
        <p:spPr>
          <a:xfrm>
            <a:off x="5669280" y="1371600"/>
            <a:ext cx="0" cy="33832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0" name="C3-E12 text 28" descr="sci-ppt:o028"/>
          <p:cNvSpPr txBox="1"/>
          <p:nvPr/>
        </p:nvSpPr>
        <p:spPr>
          <a:xfrm>
            <a:off x="5212080" y="48371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</a:t>
            </a:r>
          </a:p>
        </p:txBody>
      </p:sp>
      <p:cxnSp>
        <p:nvCxnSpPr>
          <p:cNvPr id="31" name="C3-E12 line 29" descr="sci-ppt:o029"/>
          <p:cNvCxnSpPr/>
          <p:nvPr/>
        </p:nvCxnSpPr>
        <p:spPr>
          <a:xfrm>
            <a:off x="6309360" y="47548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2" name="C3-E12 line 30" descr="sci-ppt:o030"/>
          <p:cNvCxnSpPr/>
          <p:nvPr/>
        </p:nvCxnSpPr>
        <p:spPr>
          <a:xfrm>
            <a:off x="6309360" y="1371600"/>
            <a:ext cx="0" cy="33832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3" name="C3-E12 text 31" descr="sci-ppt:o031"/>
          <p:cNvSpPr txBox="1"/>
          <p:nvPr/>
        </p:nvSpPr>
        <p:spPr>
          <a:xfrm>
            <a:off x="5852160" y="48371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34" name="C3-E12 line 32" descr="sci-ppt:o032"/>
          <p:cNvCxnSpPr/>
          <p:nvPr/>
        </p:nvCxnSpPr>
        <p:spPr>
          <a:xfrm>
            <a:off x="6949440" y="47548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5" name="C3-E12 line 33" descr="sci-ppt:o033"/>
          <p:cNvCxnSpPr/>
          <p:nvPr/>
        </p:nvCxnSpPr>
        <p:spPr>
          <a:xfrm>
            <a:off x="6949440" y="1371600"/>
            <a:ext cx="0" cy="33832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6" name="C3-E12 text 34" descr="sci-ppt:o034"/>
          <p:cNvSpPr txBox="1"/>
          <p:nvPr/>
        </p:nvSpPr>
        <p:spPr>
          <a:xfrm>
            <a:off x="6492240" y="48371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</a:t>
            </a:r>
          </a:p>
        </p:txBody>
      </p:sp>
      <p:cxnSp>
        <p:nvCxnSpPr>
          <p:cNvPr id="37" name="C3-E12 line 35" descr="sci-ppt:o035"/>
          <p:cNvCxnSpPr/>
          <p:nvPr/>
        </p:nvCxnSpPr>
        <p:spPr>
          <a:xfrm>
            <a:off x="7589520" y="47548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8" name="C3-E12 line 36" descr="sci-ppt:o036"/>
          <p:cNvCxnSpPr/>
          <p:nvPr/>
        </p:nvCxnSpPr>
        <p:spPr>
          <a:xfrm>
            <a:off x="7589520" y="1371600"/>
            <a:ext cx="0" cy="33832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9" name="C3-E12 text 37" descr="sci-ppt:o037"/>
          <p:cNvSpPr txBox="1"/>
          <p:nvPr/>
        </p:nvSpPr>
        <p:spPr>
          <a:xfrm>
            <a:off x="7132320" y="48371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0.3</a:t>
            </a:r>
          </a:p>
        </p:txBody>
      </p:sp>
      <p:cxnSp>
        <p:nvCxnSpPr>
          <p:cNvPr id="40" name="C3-E12 line 38" descr="sci-ppt:o038"/>
          <p:cNvCxnSpPr/>
          <p:nvPr/>
        </p:nvCxnSpPr>
        <p:spPr>
          <a:xfrm>
            <a:off x="8229600" y="47548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1" name="C3-E12 line 39" descr="sci-ppt:o039"/>
          <p:cNvCxnSpPr/>
          <p:nvPr/>
        </p:nvCxnSpPr>
        <p:spPr>
          <a:xfrm>
            <a:off x="8229600" y="1371600"/>
            <a:ext cx="0" cy="33832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2" name="C3-E12 text 40" descr="sci-ppt:o040"/>
          <p:cNvSpPr txBox="1"/>
          <p:nvPr/>
        </p:nvSpPr>
        <p:spPr>
          <a:xfrm>
            <a:off x="7772400" y="48371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0.4</a:t>
            </a:r>
          </a:p>
        </p:txBody>
      </p:sp>
      <p:cxnSp>
        <p:nvCxnSpPr>
          <p:cNvPr id="43" name="C3-E12 line 41" descr="sci-ppt:o041"/>
          <p:cNvCxnSpPr/>
          <p:nvPr/>
        </p:nvCxnSpPr>
        <p:spPr>
          <a:xfrm>
            <a:off x="8869680" y="47548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4" name="C3-E12 line 42" descr="sci-ppt:o042"/>
          <p:cNvCxnSpPr/>
          <p:nvPr/>
        </p:nvCxnSpPr>
        <p:spPr>
          <a:xfrm>
            <a:off x="8869680" y="1371600"/>
            <a:ext cx="0" cy="33832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5" name="C3-E12 text 43" descr="sci-ppt:o043"/>
          <p:cNvSpPr txBox="1"/>
          <p:nvPr/>
        </p:nvSpPr>
        <p:spPr>
          <a:xfrm>
            <a:off x="8412480" y="48371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46" name="C3-E12 line 44" descr="sci-ppt:o044"/>
          <p:cNvCxnSpPr/>
          <p:nvPr/>
        </p:nvCxnSpPr>
        <p:spPr>
          <a:xfrm>
            <a:off x="5605272" y="47548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7" name="C3-E12 line 45" descr="sci-ppt:o045"/>
          <p:cNvCxnSpPr/>
          <p:nvPr/>
        </p:nvCxnSpPr>
        <p:spPr>
          <a:xfrm>
            <a:off x="5605272" y="413973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8" name="C3-E12 line 46" descr="sci-ppt:o046"/>
          <p:cNvCxnSpPr/>
          <p:nvPr/>
        </p:nvCxnSpPr>
        <p:spPr>
          <a:xfrm>
            <a:off x="5669280" y="4139738"/>
            <a:ext cx="3200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9" name="C3-E12 text 47" descr="sci-ppt:o047"/>
          <p:cNvSpPr txBox="1"/>
          <p:nvPr/>
        </p:nvSpPr>
        <p:spPr>
          <a:xfrm>
            <a:off x="4800600" y="405744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50" name="C3-E12 line 48" descr="sci-ppt:o048"/>
          <p:cNvCxnSpPr/>
          <p:nvPr/>
        </p:nvCxnSpPr>
        <p:spPr>
          <a:xfrm>
            <a:off x="5605272" y="352459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1" name="C3-E12 line 49" descr="sci-ppt:o049"/>
          <p:cNvCxnSpPr/>
          <p:nvPr/>
        </p:nvCxnSpPr>
        <p:spPr>
          <a:xfrm>
            <a:off x="5669280" y="3524596"/>
            <a:ext cx="3200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2" name="C3-E12 text 50" descr="sci-ppt:o050"/>
          <p:cNvSpPr txBox="1"/>
          <p:nvPr/>
        </p:nvSpPr>
        <p:spPr>
          <a:xfrm>
            <a:off x="4800600" y="344230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</a:t>
            </a:r>
          </a:p>
        </p:txBody>
      </p:sp>
      <p:cxnSp>
        <p:nvCxnSpPr>
          <p:cNvPr id="53" name="C3-E12 line 51" descr="sci-ppt:o051"/>
          <p:cNvCxnSpPr/>
          <p:nvPr/>
        </p:nvCxnSpPr>
        <p:spPr>
          <a:xfrm>
            <a:off x="5605272" y="290945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4" name="C3-E12 line 52" descr="sci-ppt:o052"/>
          <p:cNvCxnSpPr/>
          <p:nvPr/>
        </p:nvCxnSpPr>
        <p:spPr>
          <a:xfrm>
            <a:off x="5669280" y="2909454"/>
            <a:ext cx="3200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5" name="C3-E12 text 53" descr="sci-ppt:o053"/>
          <p:cNvSpPr txBox="1"/>
          <p:nvPr/>
        </p:nvSpPr>
        <p:spPr>
          <a:xfrm>
            <a:off x="4800600" y="282715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0.3</a:t>
            </a:r>
          </a:p>
        </p:txBody>
      </p:sp>
      <p:cxnSp>
        <p:nvCxnSpPr>
          <p:cNvPr id="56" name="C3-E12 line 54" descr="sci-ppt:o054"/>
          <p:cNvCxnSpPr/>
          <p:nvPr/>
        </p:nvCxnSpPr>
        <p:spPr>
          <a:xfrm>
            <a:off x="5605272" y="229431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7" name="C3-E12 line 55" descr="sci-ppt:o055"/>
          <p:cNvCxnSpPr/>
          <p:nvPr/>
        </p:nvCxnSpPr>
        <p:spPr>
          <a:xfrm>
            <a:off x="5669280" y="2294312"/>
            <a:ext cx="3200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8" name="C3-E12 text 56" descr="sci-ppt:o056"/>
          <p:cNvSpPr txBox="1"/>
          <p:nvPr/>
        </p:nvSpPr>
        <p:spPr>
          <a:xfrm>
            <a:off x="4800600" y="221201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0.4</a:t>
            </a:r>
          </a:p>
        </p:txBody>
      </p:sp>
      <p:cxnSp>
        <p:nvCxnSpPr>
          <p:cNvPr id="59" name="C3-E12 line 57" descr="sci-ppt:o057"/>
          <p:cNvCxnSpPr/>
          <p:nvPr/>
        </p:nvCxnSpPr>
        <p:spPr>
          <a:xfrm>
            <a:off x="5605272" y="167917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0" name="C3-E12 line 58" descr="sci-ppt:o058"/>
          <p:cNvCxnSpPr/>
          <p:nvPr/>
        </p:nvCxnSpPr>
        <p:spPr>
          <a:xfrm>
            <a:off x="5669280" y="1679170"/>
            <a:ext cx="3200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1" name="C3-E12 text 59" descr="sci-ppt:o059"/>
          <p:cNvSpPr txBox="1"/>
          <p:nvPr/>
        </p:nvSpPr>
        <p:spPr>
          <a:xfrm>
            <a:off x="4800600" y="159687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sp>
        <p:nvSpPr>
          <p:cNvPr id="62" name="C3-E12 text 60" descr="sci-ppt:o060"/>
          <p:cNvSpPr txBox="1"/>
          <p:nvPr/>
        </p:nvSpPr>
        <p:spPr>
          <a:xfrm>
            <a:off x="5669280" y="5038344"/>
            <a:ext cx="3200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s</a:t>
            </a:r>
          </a:p>
        </p:txBody>
      </p:sp>
      <p:sp>
        <p:nvSpPr>
          <p:cNvPr id="63" name="C3-E12 text 61" descr="sci-ppt:o061"/>
          <p:cNvSpPr txBox="1"/>
          <p:nvPr/>
        </p:nvSpPr>
        <p:spPr>
          <a:xfrm>
            <a:off x="5120640" y="1024128"/>
            <a:ext cx="3200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volume fraction φ_b</a:t>
            </a:r>
          </a:p>
        </p:txBody>
      </p:sp>
      <p:sp>
        <p:nvSpPr>
          <p:cNvPr id="64" name="C3-E12 polygon 62" descr="sci-ppt:o062"/>
          <p:cNvSpPr/>
          <p:nvPr/>
        </p:nvSpPr>
        <p:spPr>
          <a:xfrm>
            <a:off x="5669280" y="1534004"/>
            <a:ext cx="3200400" cy="3220876"/>
          </a:xfrm>
          <a:custGeom>
            <a:avLst/>
            <a:gdLst/>
            <a:ahLst/>
            <a:cxnLst/>
            <a:rect l="l" t="t" r="r" b="b"/>
            <a:pathLst>
              <a:path w="3200400" h="3220876">
                <a:moveTo>
                  <a:pt x="0" y="3220876"/>
                </a:moveTo>
                <a:lnTo>
                  <a:pt x="32327" y="3220872"/>
                </a:lnTo>
                <a:lnTo>
                  <a:pt x="64654" y="3220849"/>
                </a:lnTo>
                <a:lnTo>
                  <a:pt x="96981" y="3220786"/>
                </a:lnTo>
                <a:lnTo>
                  <a:pt x="129309" y="3220663"/>
                </a:lnTo>
                <a:lnTo>
                  <a:pt x="161636" y="3220461"/>
                </a:lnTo>
                <a:lnTo>
                  <a:pt x="193963" y="3220158"/>
                </a:lnTo>
                <a:lnTo>
                  <a:pt x="226290" y="3219737"/>
                </a:lnTo>
                <a:lnTo>
                  <a:pt x="258618" y="3219176"/>
                </a:lnTo>
                <a:lnTo>
                  <a:pt x="290945" y="3218456"/>
                </a:lnTo>
                <a:lnTo>
                  <a:pt x="323272" y="3217556"/>
                </a:lnTo>
                <a:lnTo>
                  <a:pt x="355600" y="3216457"/>
                </a:lnTo>
                <a:lnTo>
                  <a:pt x="387927" y="3215139"/>
                </a:lnTo>
                <a:lnTo>
                  <a:pt x="420254" y="3213583"/>
                </a:lnTo>
                <a:lnTo>
                  <a:pt x="452581" y="3211767"/>
                </a:lnTo>
                <a:lnTo>
                  <a:pt x="484909" y="3209672"/>
                </a:lnTo>
                <a:lnTo>
                  <a:pt x="517236" y="3207279"/>
                </a:lnTo>
                <a:lnTo>
                  <a:pt x="549563" y="3204567"/>
                </a:lnTo>
                <a:lnTo>
                  <a:pt x="581890" y="3201516"/>
                </a:lnTo>
                <a:lnTo>
                  <a:pt x="614218" y="3198107"/>
                </a:lnTo>
                <a:lnTo>
                  <a:pt x="646545" y="3194320"/>
                </a:lnTo>
                <a:lnTo>
                  <a:pt x="678872" y="3190134"/>
                </a:lnTo>
                <a:lnTo>
                  <a:pt x="711200" y="3185530"/>
                </a:lnTo>
                <a:lnTo>
                  <a:pt x="743527" y="3180488"/>
                </a:lnTo>
                <a:lnTo>
                  <a:pt x="775854" y="3174987"/>
                </a:lnTo>
                <a:lnTo>
                  <a:pt x="808181" y="3169009"/>
                </a:lnTo>
                <a:lnTo>
                  <a:pt x="840509" y="3162533"/>
                </a:lnTo>
                <a:lnTo>
                  <a:pt x="872836" y="3155538"/>
                </a:lnTo>
                <a:lnTo>
                  <a:pt x="905163" y="3148007"/>
                </a:lnTo>
                <a:lnTo>
                  <a:pt x="937490" y="3139917"/>
                </a:lnTo>
                <a:lnTo>
                  <a:pt x="969818" y="3131250"/>
                </a:lnTo>
                <a:lnTo>
                  <a:pt x="1002145" y="3121985"/>
                </a:lnTo>
                <a:lnTo>
                  <a:pt x="1034472" y="3112103"/>
                </a:lnTo>
                <a:lnTo>
                  <a:pt x="1066800" y="3101584"/>
                </a:lnTo>
                <a:lnTo>
                  <a:pt x="1099127" y="3090407"/>
                </a:lnTo>
                <a:lnTo>
                  <a:pt x="1131454" y="3078553"/>
                </a:lnTo>
                <a:lnTo>
                  <a:pt x="1163781" y="3066002"/>
                </a:lnTo>
                <a:lnTo>
                  <a:pt x="1196109" y="3052735"/>
                </a:lnTo>
                <a:lnTo>
                  <a:pt x="1228436" y="3038730"/>
                </a:lnTo>
                <a:lnTo>
                  <a:pt x="1260763" y="3023968"/>
                </a:lnTo>
                <a:lnTo>
                  <a:pt x="1293090" y="3008430"/>
                </a:lnTo>
                <a:lnTo>
                  <a:pt x="1325418" y="2992095"/>
                </a:lnTo>
                <a:lnTo>
                  <a:pt x="1357745" y="2974943"/>
                </a:lnTo>
                <a:lnTo>
                  <a:pt x="1390072" y="2956955"/>
                </a:lnTo>
                <a:lnTo>
                  <a:pt x="1422400" y="2938110"/>
                </a:lnTo>
                <a:lnTo>
                  <a:pt x="1454727" y="2918389"/>
                </a:lnTo>
                <a:lnTo>
                  <a:pt x="1487054" y="2897772"/>
                </a:lnTo>
                <a:lnTo>
                  <a:pt x="1519381" y="2876239"/>
                </a:lnTo>
                <a:lnTo>
                  <a:pt x="1551709" y="2853769"/>
                </a:lnTo>
                <a:lnTo>
                  <a:pt x="1584036" y="2830344"/>
                </a:lnTo>
                <a:lnTo>
                  <a:pt x="1616363" y="2805942"/>
                </a:lnTo>
                <a:lnTo>
                  <a:pt x="1648690" y="2780545"/>
                </a:lnTo>
                <a:lnTo>
                  <a:pt x="1681018" y="2754132"/>
                </a:lnTo>
                <a:lnTo>
                  <a:pt x="1713345" y="2726683"/>
                </a:lnTo>
                <a:lnTo>
                  <a:pt x="1745672" y="2698179"/>
                </a:lnTo>
                <a:lnTo>
                  <a:pt x="1778000" y="2668599"/>
                </a:lnTo>
                <a:lnTo>
                  <a:pt x="1810327" y="2637924"/>
                </a:lnTo>
                <a:lnTo>
                  <a:pt x="1842654" y="2606134"/>
                </a:lnTo>
                <a:lnTo>
                  <a:pt x="1874981" y="2573208"/>
                </a:lnTo>
                <a:lnTo>
                  <a:pt x="1907309" y="2539127"/>
                </a:lnTo>
                <a:lnTo>
                  <a:pt x="1939636" y="2503871"/>
                </a:lnTo>
                <a:lnTo>
                  <a:pt x="1971963" y="2467420"/>
                </a:lnTo>
                <a:lnTo>
                  <a:pt x="2004290" y="2429754"/>
                </a:lnTo>
                <a:lnTo>
                  <a:pt x="2036618" y="2390853"/>
                </a:lnTo>
                <a:lnTo>
                  <a:pt x="2068945" y="2350697"/>
                </a:lnTo>
                <a:lnTo>
                  <a:pt x="2101272" y="2309267"/>
                </a:lnTo>
                <a:lnTo>
                  <a:pt x="2133600" y="2266542"/>
                </a:lnTo>
                <a:lnTo>
                  <a:pt x="2165927" y="2222503"/>
                </a:lnTo>
                <a:lnTo>
                  <a:pt x="2198254" y="2177129"/>
                </a:lnTo>
                <a:lnTo>
                  <a:pt x="2230581" y="2130401"/>
                </a:lnTo>
                <a:lnTo>
                  <a:pt x="2262909" y="2082298"/>
                </a:lnTo>
                <a:lnTo>
                  <a:pt x="2295236" y="2032802"/>
                </a:lnTo>
                <a:lnTo>
                  <a:pt x="2327563" y="1981891"/>
                </a:lnTo>
                <a:lnTo>
                  <a:pt x="2359890" y="1929547"/>
                </a:lnTo>
                <a:lnTo>
                  <a:pt x="2392218" y="1875748"/>
                </a:lnTo>
                <a:lnTo>
                  <a:pt x="2424545" y="1820476"/>
                </a:lnTo>
                <a:lnTo>
                  <a:pt x="2456872" y="1763709"/>
                </a:lnTo>
                <a:lnTo>
                  <a:pt x="2489200" y="1705429"/>
                </a:lnTo>
                <a:lnTo>
                  <a:pt x="2521527" y="1645616"/>
                </a:lnTo>
                <a:lnTo>
                  <a:pt x="2553854" y="1584249"/>
                </a:lnTo>
                <a:lnTo>
                  <a:pt x="2586181" y="1521309"/>
                </a:lnTo>
                <a:lnTo>
                  <a:pt x="2618509" y="1456775"/>
                </a:lnTo>
                <a:lnTo>
                  <a:pt x="2650836" y="1390628"/>
                </a:lnTo>
                <a:lnTo>
                  <a:pt x="2683163" y="1322848"/>
                </a:lnTo>
                <a:lnTo>
                  <a:pt x="2715490" y="1253414"/>
                </a:lnTo>
                <a:lnTo>
                  <a:pt x="2747818" y="1182308"/>
                </a:lnTo>
                <a:lnTo>
                  <a:pt x="2780145" y="1109509"/>
                </a:lnTo>
                <a:lnTo>
                  <a:pt x="2812472" y="1034997"/>
                </a:lnTo>
                <a:lnTo>
                  <a:pt x="2844800" y="958752"/>
                </a:lnTo>
                <a:lnTo>
                  <a:pt x="2877127" y="880755"/>
                </a:lnTo>
                <a:lnTo>
                  <a:pt x="2909454" y="800984"/>
                </a:lnTo>
                <a:lnTo>
                  <a:pt x="2941781" y="719422"/>
                </a:lnTo>
                <a:lnTo>
                  <a:pt x="2974109" y="636047"/>
                </a:lnTo>
                <a:lnTo>
                  <a:pt x="3006436" y="550839"/>
                </a:lnTo>
                <a:lnTo>
                  <a:pt x="3038763" y="463780"/>
                </a:lnTo>
                <a:lnTo>
                  <a:pt x="3071090" y="374848"/>
                </a:lnTo>
                <a:lnTo>
                  <a:pt x="3103418" y="284024"/>
                </a:lnTo>
                <a:lnTo>
                  <a:pt x="3135745" y="191288"/>
                </a:lnTo>
                <a:lnTo>
                  <a:pt x="3168072" y="96620"/>
                </a:lnTo>
                <a:lnTo>
                  <a:pt x="320040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C3-E12 ellipse 63" descr="sci-ppt:o063"/>
          <p:cNvSpPr/>
          <p:nvPr/>
        </p:nvSpPr>
        <p:spPr>
          <a:xfrm>
            <a:off x="6254496" y="4674248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C3-E12 text 64" descr="sci-ppt:o064"/>
          <p:cNvSpPr txBox="1"/>
          <p:nvPr/>
        </p:nvSpPr>
        <p:spPr>
          <a:xfrm>
            <a:off x="6382512" y="4363352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B880"/>
                </a:solidFill>
                <a:latin typeface="Arial"/>
              </a:rPr>
              <a:t>0.004</a:t>
            </a:r>
          </a:p>
        </p:txBody>
      </p:sp>
      <p:sp>
        <p:nvSpPr>
          <p:cNvPr id="67" name="C3-E12 ellipse 65" descr="sci-ppt:o065"/>
          <p:cNvSpPr/>
          <p:nvPr/>
        </p:nvSpPr>
        <p:spPr>
          <a:xfrm>
            <a:off x="6894576" y="4493879"/>
            <a:ext cx="109728" cy="109728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C3-E12 text 66" descr="sci-ppt:o066"/>
          <p:cNvSpPr txBox="1"/>
          <p:nvPr/>
        </p:nvSpPr>
        <p:spPr>
          <a:xfrm>
            <a:off x="7022592" y="4182983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8BA0"/>
                </a:solidFill>
                <a:latin typeface="Arial"/>
              </a:rPr>
              <a:t>0.034</a:t>
            </a:r>
          </a:p>
        </p:txBody>
      </p:sp>
      <p:sp>
        <p:nvSpPr>
          <p:cNvPr id="69" name="C3-E12 ellipse 67" descr="sci-ppt:o067"/>
          <p:cNvSpPr/>
          <p:nvPr/>
        </p:nvSpPr>
        <p:spPr>
          <a:xfrm>
            <a:off x="7534656" y="4004306"/>
            <a:ext cx="109728" cy="109728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C3-E12 text 68" descr="sci-ppt:o068"/>
          <p:cNvSpPr txBox="1"/>
          <p:nvPr/>
        </p:nvSpPr>
        <p:spPr>
          <a:xfrm>
            <a:off x="7662672" y="3693410"/>
            <a:ext cx="8229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FC8F8"/>
                </a:solidFill>
                <a:latin typeface="Arial"/>
              </a:rPr>
              <a:t>0.113</a:t>
            </a:r>
          </a:p>
        </p:txBody>
      </p:sp>
      <p:sp>
        <p:nvSpPr>
          <p:cNvPr id="71" name="C3-E12 round_rect 69" descr="sci-ppt:o069"/>
          <p:cNvSpPr/>
          <p:nvPr/>
        </p:nvSpPr>
        <p:spPr>
          <a:xfrm>
            <a:off x="9052560" y="1371600"/>
            <a:ext cx="2788920" cy="33832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C3-E12 text 70" descr="sci-ppt:o070"/>
          <p:cNvSpPr txBox="1"/>
          <p:nvPr/>
        </p:nvSpPr>
        <p:spPr>
          <a:xfrm>
            <a:off x="9162288" y="1426464"/>
            <a:ext cx="2569463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Delay rᵢ/c</a:t>
            </a:r>
          </a:p>
        </p:txBody>
      </p:sp>
      <p:sp>
        <p:nvSpPr>
          <p:cNvPr id="73" name="C3-E12 ellipse 71" descr="sci-ppt:o071"/>
          <p:cNvSpPr/>
          <p:nvPr/>
        </p:nvSpPr>
        <p:spPr>
          <a:xfrm>
            <a:off x="9326880" y="2651760"/>
            <a:ext cx="182880" cy="182880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3-E12 text 72" descr="sci-ppt:o072"/>
          <p:cNvSpPr txBox="1"/>
          <p:nvPr/>
        </p:nvSpPr>
        <p:spPr>
          <a:xfrm>
            <a:off x="9235440" y="2011680"/>
            <a:ext cx="24688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B880"/>
                </a:solidFill>
                <a:latin typeface="Arial"/>
              </a:rPr>
              <a:t>source i</a:t>
            </a:r>
          </a:p>
        </p:txBody>
      </p:sp>
      <p:cxnSp>
        <p:nvCxnSpPr>
          <p:cNvPr id="75" name="C3-E12 arrow 73" descr="sci-ppt:o073"/>
          <p:cNvCxnSpPr/>
          <p:nvPr/>
        </p:nvCxnSpPr>
        <p:spPr>
          <a:xfrm>
            <a:off x="9509760" y="2743200"/>
            <a:ext cx="1828800" cy="0"/>
          </a:xfrm>
          <a:prstGeom prst="line">
            <a:avLst/>
          </a:prstGeom>
          <a:ln w="3175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76" name="C3-E12 ellipse 74" descr="sci-ppt:o074"/>
          <p:cNvSpPr/>
          <p:nvPr/>
        </p:nvSpPr>
        <p:spPr>
          <a:xfrm>
            <a:off x="11439144" y="2660904"/>
            <a:ext cx="164592" cy="164592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C3-E12 text 75" descr="sci-ppt:o075"/>
          <p:cNvSpPr txBox="1"/>
          <p:nvPr/>
        </p:nvSpPr>
        <p:spPr>
          <a:xfrm>
            <a:off x="10972800" y="2926080"/>
            <a:ext cx="914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x</a:t>
            </a:r>
          </a:p>
        </p:txBody>
      </p:sp>
      <p:sp>
        <p:nvSpPr>
          <p:cNvPr id="78" name="C3-E12 text 76" descr="sci-ppt:o076"/>
          <p:cNvSpPr txBox="1"/>
          <p:nvPr/>
        </p:nvSpPr>
        <p:spPr>
          <a:xfrm>
            <a:off x="9144000" y="3246120"/>
            <a:ext cx="2651760" cy="38658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the signal at x now was emitted at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t − rᵢ/c</a:t>
            </a:r>
          </a:p>
        </p:txBody>
      </p:sp>
      <p:sp>
        <p:nvSpPr>
          <p:cNvPr id="79" name="C3-E12 text 77" descr="sci-ppt:o077"/>
          <p:cNvSpPr txBox="1"/>
          <p:nvPr/>
        </p:nvSpPr>
        <p:spPr>
          <a:xfrm>
            <a:off x="5669280" y="5303520"/>
            <a:ext cx="61264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φ(x,t) ≃ −Σ V̇ᵢ(t − rᵢ/c) / (4π rᵢ),   p′ ≃ Σ ρ V̈ᵢ(t − rᵢ/c) / (4π rᵢ)</a:t>
            </a:r>
          </a:p>
        </p:txBody>
      </p:sp>
      <p:sp>
        <p:nvSpPr>
          <p:cNvPr id="80" name="C3-E12 text 78" descr="sci-ppt:o078"/>
          <p:cNvSpPr txBox="1"/>
          <p:nvPr/>
        </p:nvSpPr>
        <p:spPr>
          <a:xfrm>
            <a:off x="5669280" y="5760720"/>
            <a:ext cx="612648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A spatial sum needs source histories and travel times, not just a site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count.</a:t>
            </a:r>
          </a:p>
        </p:txBody>
      </p:sp>
      <p:sp>
        <p:nvSpPr>
          <p:cNvPr id="81" name="C3-E12 text 79" descr="sci-ppt:o07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Volume fraction and retarded monopole approximation of Eq. C3-E12 (far, compact, weak sources).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