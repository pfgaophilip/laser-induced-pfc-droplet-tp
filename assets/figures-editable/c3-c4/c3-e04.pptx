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4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C3-E04 · Leading unsteady-Bernoulli approximation</a:t>
            </a:r>
          </a:p>
        </p:txBody>
      </p:sp>
      <p:sp>
        <p:nvSpPr>
          <p:cNvPr id="3" name="C3-E04 ellipse 1" descr="sci-ppt:o001"/>
          <p:cNvSpPr/>
          <p:nvPr/>
        </p:nvSpPr>
        <p:spPr>
          <a:xfrm>
            <a:off x="1417319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4 ellipse 2" descr="sci-ppt:o002"/>
          <p:cNvSpPr/>
          <p:nvPr/>
        </p:nvSpPr>
        <p:spPr>
          <a:xfrm>
            <a:off x="7909560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3-E04 text 3" descr="sci-ppt:o003"/>
          <p:cNvSpPr txBox="1"/>
          <p:nvPr/>
        </p:nvSpPr>
        <p:spPr>
          <a:xfrm>
            <a:off x="1645920" y="1874519"/>
            <a:ext cx="146304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j: source</a:t>
            </a:r>
          </a:p>
        </p:txBody>
      </p:sp>
      <p:sp>
        <p:nvSpPr>
          <p:cNvPr id="6" name="C3-E04 text 4" descr="sci-ppt:o004"/>
          <p:cNvSpPr txBox="1"/>
          <p:nvPr/>
        </p:nvSpPr>
        <p:spPr>
          <a:xfrm>
            <a:off x="8138160" y="1874519"/>
            <a:ext cx="15544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i: receiver</a:t>
            </a:r>
          </a:p>
        </p:txBody>
      </p:sp>
      <p:cxnSp>
        <p:nvCxnSpPr>
          <p:cNvPr id="7" name="C3-E04 line 5" descr="sci-ppt:o005"/>
          <p:cNvCxnSpPr/>
          <p:nvPr/>
        </p:nvCxnSpPr>
        <p:spPr>
          <a:xfrm>
            <a:off x="2194560" y="3108960"/>
            <a:ext cx="6492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" name="C3-E04 text 6" descr="sci-ppt:o006"/>
          <p:cNvSpPr txBox="1"/>
          <p:nvPr/>
        </p:nvSpPr>
        <p:spPr>
          <a:xfrm>
            <a:off x="4846320" y="320040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d_ij</a:t>
            </a:r>
          </a:p>
        </p:txBody>
      </p:sp>
      <p:cxnSp>
        <p:nvCxnSpPr>
          <p:cNvPr id="9" name="C3-E04 arrow 7" descr="sci-ppt:o007"/>
          <p:cNvCxnSpPr/>
          <p:nvPr/>
        </p:nvCxnSpPr>
        <p:spPr>
          <a:xfrm>
            <a:off x="3108960" y="2057400"/>
            <a:ext cx="46177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3-E04 text 8" descr="sci-ppt:o008"/>
          <p:cNvSpPr txBox="1"/>
          <p:nvPr/>
        </p:nvSpPr>
        <p:spPr>
          <a:xfrm>
            <a:off x="3749039" y="160020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Shared liquid: ρ, p∞</a:t>
            </a:r>
          </a:p>
        </p:txBody>
      </p:sp>
      <p:sp>
        <p:nvSpPr>
          <p:cNvPr id="11" name="C3-E04 text 9" descr="sci-ppt:o009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Fixed centres; spherical cavities; R_i, R_j ≪ d_ij</a:t>
            </a:r>
          </a:p>
        </p:txBody>
      </p:sp>
      <p:sp>
        <p:nvSpPr>
          <p:cNvPr id="12" name="C3-E04 text 10" descr="sci-ppt:o010"/>
          <p:cNvSpPr txBox="1"/>
          <p:nvPr/>
        </p:nvSpPr>
        <p:spPr>
          <a:xfrm>
            <a:off x="3657600" y="2423160"/>
            <a:ext cx="420624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Source-volume acceleration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sets the pressure correction.</a:t>
            </a:r>
          </a:p>
        </p:txBody>
      </p:sp>
      <p:cxnSp>
        <p:nvCxnSpPr>
          <p:cNvPr id="13" name="C3-E04 line 11" descr="sci-ppt:o011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4" name="C3-E04 text 12" descr="sci-ppt:o012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j source → i receiver</a:t>
            </a:r>
          </a:p>
        </p:txBody>
      </p:sp>
      <p:sp>
        <p:nvSpPr>
          <p:cNvPr id="15" name="C3-E04 text 13" descr="sci-ppt:o013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R_j, Ṙ_j, R̈_j</a:t>
            </a:r>
          </a:p>
        </p:txBody>
      </p:sp>
      <p:sp>
        <p:nvSpPr>
          <p:cNvPr id="16" name="C3-E04 text 14" descr="sci-ppt:o014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d_ij center separation</a:t>
            </a:r>
          </a:p>
        </p:txBody>
      </p:sp>
      <p:sp>
        <p:nvSpPr>
          <p:cNvPr id="17" name="C3-E04 text 15" descr="sci-ppt:o015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p′_j→i near receiver</a:t>
            </a:r>
          </a:p>
        </p:txBody>
      </p:sp>
      <p:sp>
        <p:nvSpPr>
          <p:cNvPr id="18" name="C3-E04 text 16" descr="sci-ppt:o016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p_ext,i = p∞ + Σ p′</a:t>
            </a:r>
          </a:p>
        </p:txBody>
      </p:sp>
      <p:sp>
        <p:nvSpPr>
          <p:cNvPr id="19" name="C3-E04 text 17" descr="sci-ppt:o017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ρ, φ_j, ∂ₜ, t, N_b: field legend</a:t>
            </a:r>
          </a:p>
        </p:txBody>
      </p:sp>
      <p:sp>
        <p:nvSpPr>
          <p:cNvPr id="20" name="C3-E04 text 18" descr="sci-ppt:o018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Positive source-volume acceleration raises surrounding pressure</a:t>
            </a:r>
          </a:p>
        </p:txBody>
      </p:sp>
      <p:sp>
        <p:nvSpPr>
          <p:cNvPr id="21" name="C3-E04 text 19" descr="sci-ppt:o019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Convective cross terms and shape gradients omitted</a:t>
            </a:r>
          </a:p>
        </p:txBody>
      </p:sp>
      <p:sp>
        <p:nvSpPr>
          <p:cNvPr id="22" name="C3-E04 text 20" descr="sci-ppt:o020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