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C3-E04 · Leading unsteady-Bernoulli approximation</a:t>
            </a:r>
          </a:p>
        </p:txBody>
      </p:sp>
      <p:cxnSp>
        <p:nvCxnSpPr>
          <p:cNvPr id="3" name="C3-E04 line 1" descr="sci-ppt:o001"/>
          <p:cNvCxnSpPr/>
          <p:nvPr/>
        </p:nvCxnSpPr>
        <p:spPr>
          <a:xfrm>
            <a:off x="6949440" y="5029200"/>
            <a:ext cx="47548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04 line 2" descr="sci-ppt:o002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04 line 3" descr="sci-ppt:o003"/>
          <p:cNvCxnSpPr/>
          <p:nvPr/>
        </p:nvCxnSpPr>
        <p:spPr>
          <a:xfrm>
            <a:off x="722913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04 line 4" descr="sci-ppt:o004"/>
          <p:cNvCxnSpPr/>
          <p:nvPr/>
        </p:nvCxnSpPr>
        <p:spPr>
          <a:xfrm>
            <a:off x="722913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04 text 5" descr="sci-ppt:o005"/>
          <p:cNvSpPr txBox="1"/>
          <p:nvPr/>
        </p:nvSpPr>
        <p:spPr>
          <a:xfrm>
            <a:off x="677193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8" name="C3-E04 line 6" descr="sci-ppt:o006"/>
          <p:cNvCxnSpPr/>
          <p:nvPr/>
        </p:nvCxnSpPr>
        <p:spPr>
          <a:xfrm>
            <a:off x="834793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04 line 7" descr="sci-ppt:o007"/>
          <p:cNvCxnSpPr/>
          <p:nvPr/>
        </p:nvCxnSpPr>
        <p:spPr>
          <a:xfrm>
            <a:off x="834793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04 text 8" descr="sci-ppt:o008"/>
          <p:cNvSpPr txBox="1"/>
          <p:nvPr/>
        </p:nvSpPr>
        <p:spPr>
          <a:xfrm>
            <a:off x="789073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40</a:t>
            </a:r>
          </a:p>
        </p:txBody>
      </p:sp>
      <p:cxnSp>
        <p:nvCxnSpPr>
          <p:cNvPr id="11" name="C3-E04 line 9" descr="sci-ppt:o009"/>
          <p:cNvCxnSpPr/>
          <p:nvPr/>
        </p:nvCxnSpPr>
        <p:spPr>
          <a:xfrm>
            <a:off x="946672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04 line 10" descr="sci-ppt:o010"/>
          <p:cNvCxnSpPr/>
          <p:nvPr/>
        </p:nvCxnSpPr>
        <p:spPr>
          <a:xfrm>
            <a:off x="946672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04 text 11" descr="sci-ppt:o011"/>
          <p:cNvSpPr txBox="1"/>
          <p:nvPr/>
        </p:nvSpPr>
        <p:spPr>
          <a:xfrm>
            <a:off x="900952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60</a:t>
            </a:r>
          </a:p>
        </p:txBody>
      </p:sp>
      <p:cxnSp>
        <p:nvCxnSpPr>
          <p:cNvPr id="14" name="C3-E04 line 12" descr="sci-ppt:o012"/>
          <p:cNvCxnSpPr/>
          <p:nvPr/>
        </p:nvCxnSpPr>
        <p:spPr>
          <a:xfrm>
            <a:off x="1058552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04 line 13" descr="sci-ppt:o013"/>
          <p:cNvCxnSpPr/>
          <p:nvPr/>
        </p:nvCxnSpPr>
        <p:spPr>
          <a:xfrm>
            <a:off x="1058552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04 text 14" descr="sci-ppt:o014"/>
          <p:cNvSpPr txBox="1"/>
          <p:nvPr/>
        </p:nvSpPr>
        <p:spPr>
          <a:xfrm>
            <a:off x="1012832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80</a:t>
            </a:r>
          </a:p>
        </p:txBody>
      </p:sp>
      <p:cxnSp>
        <p:nvCxnSpPr>
          <p:cNvPr id="17" name="C3-E04 line 15" descr="sci-ppt:o015"/>
          <p:cNvCxnSpPr/>
          <p:nvPr/>
        </p:nvCxnSpPr>
        <p:spPr>
          <a:xfrm>
            <a:off x="117043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04 line 16" descr="sci-ppt:o016"/>
          <p:cNvCxnSpPr/>
          <p:nvPr/>
        </p:nvCxnSpPr>
        <p:spPr>
          <a:xfrm>
            <a:off x="117043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04 text 17" descr="sci-ppt:o017"/>
          <p:cNvSpPr txBox="1"/>
          <p:nvPr/>
        </p:nvSpPr>
        <p:spPr>
          <a:xfrm>
            <a:off x="112471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0" name="C3-E04 line 18" descr="sci-ppt:o018"/>
          <p:cNvCxnSpPr/>
          <p:nvPr/>
        </p:nvCxnSpPr>
        <p:spPr>
          <a:xfrm>
            <a:off x="6885431" y="50292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04 line 19" descr="sci-ppt:o019"/>
          <p:cNvCxnSpPr/>
          <p:nvPr/>
        </p:nvCxnSpPr>
        <p:spPr>
          <a:xfrm>
            <a:off x="6949440" y="5029200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3-E04 text 20" descr="sci-ppt:o020"/>
          <p:cNvSpPr txBox="1"/>
          <p:nvPr/>
        </p:nvSpPr>
        <p:spPr>
          <a:xfrm>
            <a:off x="6080759" y="4946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23" name="C3-E04 line 21" descr="sci-ppt:o021"/>
          <p:cNvCxnSpPr/>
          <p:nvPr/>
        </p:nvCxnSpPr>
        <p:spPr>
          <a:xfrm>
            <a:off x="6885431" y="42164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3-E04 line 22" descr="sci-ppt:o022"/>
          <p:cNvCxnSpPr/>
          <p:nvPr/>
        </p:nvCxnSpPr>
        <p:spPr>
          <a:xfrm>
            <a:off x="6949440" y="4216400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3-E04 text 23" descr="sci-ppt:o023"/>
          <p:cNvSpPr txBox="1"/>
          <p:nvPr/>
        </p:nvSpPr>
        <p:spPr>
          <a:xfrm>
            <a:off x="6080759" y="4134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0.07</a:t>
            </a:r>
          </a:p>
        </p:txBody>
      </p:sp>
      <p:cxnSp>
        <p:nvCxnSpPr>
          <p:cNvPr id="26" name="C3-E04 line 24" descr="sci-ppt:o024"/>
          <p:cNvCxnSpPr/>
          <p:nvPr/>
        </p:nvCxnSpPr>
        <p:spPr>
          <a:xfrm>
            <a:off x="6885431" y="328748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3-E04 line 25" descr="sci-ppt:o025"/>
          <p:cNvCxnSpPr/>
          <p:nvPr/>
        </p:nvCxnSpPr>
        <p:spPr>
          <a:xfrm>
            <a:off x="6949440" y="3287485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3-E04 text 26" descr="sci-ppt:o026"/>
          <p:cNvSpPr txBox="1"/>
          <p:nvPr/>
        </p:nvSpPr>
        <p:spPr>
          <a:xfrm>
            <a:off x="6080759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0.15</a:t>
            </a:r>
          </a:p>
        </p:txBody>
      </p:sp>
      <p:cxnSp>
        <p:nvCxnSpPr>
          <p:cNvPr id="29" name="C3-E04 line 27" descr="sci-ppt:o027"/>
          <p:cNvCxnSpPr/>
          <p:nvPr/>
        </p:nvCxnSpPr>
        <p:spPr>
          <a:xfrm>
            <a:off x="6885431" y="247468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3-E04 line 28" descr="sci-ppt:o028"/>
          <p:cNvCxnSpPr/>
          <p:nvPr/>
        </p:nvCxnSpPr>
        <p:spPr>
          <a:xfrm>
            <a:off x="6949440" y="2474685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3-E04 text 29" descr="sci-ppt:o029"/>
          <p:cNvSpPr txBox="1"/>
          <p:nvPr/>
        </p:nvSpPr>
        <p:spPr>
          <a:xfrm>
            <a:off x="6080759" y="23923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0.22</a:t>
            </a:r>
          </a:p>
        </p:txBody>
      </p:sp>
      <p:cxnSp>
        <p:nvCxnSpPr>
          <p:cNvPr id="32" name="C3-E04 line 30" descr="sci-ppt:o030"/>
          <p:cNvCxnSpPr/>
          <p:nvPr/>
        </p:nvCxnSpPr>
        <p:spPr>
          <a:xfrm>
            <a:off x="6885431" y="1545771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3-E04 line 31" descr="sci-ppt:o031"/>
          <p:cNvCxnSpPr/>
          <p:nvPr/>
        </p:nvCxnSpPr>
        <p:spPr>
          <a:xfrm>
            <a:off x="6949440" y="1545771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3-E04 text 32" descr="sci-ppt:o032"/>
          <p:cNvSpPr txBox="1"/>
          <p:nvPr/>
        </p:nvSpPr>
        <p:spPr>
          <a:xfrm>
            <a:off x="6080759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0.30</a:t>
            </a:r>
          </a:p>
        </p:txBody>
      </p:sp>
      <p:sp>
        <p:nvSpPr>
          <p:cNvPr id="35" name="C3-E04 text 33" descr="sci-ppt:o033"/>
          <p:cNvSpPr txBox="1"/>
          <p:nvPr/>
        </p:nvSpPr>
        <p:spPr>
          <a:xfrm>
            <a:off x="6949440" y="5312664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distance dᵢⱼ  (µm)</a:t>
            </a:r>
          </a:p>
        </p:txBody>
      </p:sp>
      <p:sp>
        <p:nvSpPr>
          <p:cNvPr id="36" name="C3-E04 text 34" descr="sci-ppt:o034"/>
          <p:cNvSpPr txBox="1"/>
          <p:nvPr/>
        </p:nvSpPr>
        <p:spPr>
          <a:xfrm>
            <a:off x="6400800" y="1024128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p′ (MPa)</a:t>
            </a:r>
          </a:p>
        </p:txBody>
      </p:sp>
      <p:sp>
        <p:nvSpPr>
          <p:cNvPr id="37" name="C3-E04 polygon 35" descr="sci-ppt:o035"/>
          <p:cNvSpPr/>
          <p:nvPr/>
        </p:nvSpPr>
        <p:spPr>
          <a:xfrm>
            <a:off x="6949440" y="1666021"/>
            <a:ext cx="4754880" cy="2858702"/>
          </a:xfrm>
          <a:custGeom>
            <a:avLst/>
            <a:gdLst/>
            <a:ahLst/>
            <a:cxnLst/>
            <a:rect l="l" t="t" r="r" b="b"/>
            <a:pathLst>
              <a:path w="4754880" h="2858702">
                <a:moveTo>
                  <a:pt x="0" y="0"/>
                </a:moveTo>
                <a:lnTo>
                  <a:pt x="23893" y="93117"/>
                </a:lnTo>
                <a:lnTo>
                  <a:pt x="47787" y="181217"/>
                </a:lnTo>
                <a:lnTo>
                  <a:pt x="71681" y="264695"/>
                </a:lnTo>
                <a:lnTo>
                  <a:pt x="95575" y="343904"/>
                </a:lnTo>
                <a:lnTo>
                  <a:pt x="119469" y="419164"/>
                </a:lnTo>
                <a:lnTo>
                  <a:pt x="143363" y="490764"/>
                </a:lnTo>
                <a:lnTo>
                  <a:pt x="167257" y="558964"/>
                </a:lnTo>
                <a:lnTo>
                  <a:pt x="191150" y="624000"/>
                </a:lnTo>
                <a:lnTo>
                  <a:pt x="215044" y="686088"/>
                </a:lnTo>
                <a:lnTo>
                  <a:pt x="238938" y="745424"/>
                </a:lnTo>
                <a:lnTo>
                  <a:pt x="262832" y="802187"/>
                </a:lnTo>
                <a:lnTo>
                  <a:pt x="286726" y="856540"/>
                </a:lnTo>
                <a:lnTo>
                  <a:pt x="310620" y="908634"/>
                </a:lnTo>
                <a:lnTo>
                  <a:pt x="334514" y="958606"/>
                </a:lnTo>
                <a:lnTo>
                  <a:pt x="358408" y="1006585"/>
                </a:lnTo>
                <a:lnTo>
                  <a:pt x="382301" y="1052686"/>
                </a:lnTo>
                <a:lnTo>
                  <a:pt x="406195" y="1097019"/>
                </a:lnTo>
                <a:lnTo>
                  <a:pt x="430089" y="1139682"/>
                </a:lnTo>
                <a:lnTo>
                  <a:pt x="453983" y="1180768"/>
                </a:lnTo>
                <a:lnTo>
                  <a:pt x="477877" y="1220364"/>
                </a:lnTo>
                <a:lnTo>
                  <a:pt x="501771" y="1258548"/>
                </a:lnTo>
                <a:lnTo>
                  <a:pt x="525665" y="1295395"/>
                </a:lnTo>
                <a:lnTo>
                  <a:pt x="549558" y="1330974"/>
                </a:lnTo>
                <a:lnTo>
                  <a:pt x="573452" y="1365350"/>
                </a:lnTo>
                <a:lnTo>
                  <a:pt x="597346" y="1398582"/>
                </a:lnTo>
                <a:lnTo>
                  <a:pt x="621240" y="1430727"/>
                </a:lnTo>
                <a:lnTo>
                  <a:pt x="645134" y="1461836"/>
                </a:lnTo>
                <a:lnTo>
                  <a:pt x="669028" y="1491960"/>
                </a:lnTo>
                <a:lnTo>
                  <a:pt x="692922" y="1521144"/>
                </a:lnTo>
                <a:lnTo>
                  <a:pt x="716816" y="1549432"/>
                </a:lnTo>
                <a:lnTo>
                  <a:pt x="740709" y="1576864"/>
                </a:lnTo>
                <a:lnTo>
                  <a:pt x="764603" y="1603479"/>
                </a:lnTo>
                <a:lnTo>
                  <a:pt x="788497" y="1629312"/>
                </a:lnTo>
                <a:lnTo>
                  <a:pt x="812391" y="1654398"/>
                </a:lnTo>
                <a:lnTo>
                  <a:pt x="836285" y="1678768"/>
                </a:lnTo>
                <a:lnTo>
                  <a:pt x="860179" y="1702453"/>
                </a:lnTo>
                <a:lnTo>
                  <a:pt x="884073" y="1725481"/>
                </a:lnTo>
                <a:lnTo>
                  <a:pt x="907967" y="1747879"/>
                </a:lnTo>
                <a:lnTo>
                  <a:pt x="931860" y="1769672"/>
                </a:lnTo>
                <a:lnTo>
                  <a:pt x="955754" y="1790886"/>
                </a:lnTo>
                <a:lnTo>
                  <a:pt x="979648" y="1811542"/>
                </a:lnTo>
                <a:lnTo>
                  <a:pt x="1003542" y="1831662"/>
                </a:lnTo>
                <a:lnTo>
                  <a:pt x="1027436" y="1851268"/>
                </a:lnTo>
                <a:lnTo>
                  <a:pt x="1051330" y="1870377"/>
                </a:lnTo>
                <a:lnTo>
                  <a:pt x="1075224" y="1889010"/>
                </a:lnTo>
                <a:lnTo>
                  <a:pt x="1099117" y="1907183"/>
                </a:lnTo>
                <a:lnTo>
                  <a:pt x="1123011" y="1924914"/>
                </a:lnTo>
                <a:lnTo>
                  <a:pt x="1146905" y="1942218"/>
                </a:lnTo>
                <a:lnTo>
                  <a:pt x="1170799" y="1959110"/>
                </a:lnTo>
                <a:lnTo>
                  <a:pt x="1194693" y="1975606"/>
                </a:lnTo>
                <a:lnTo>
                  <a:pt x="1218587" y="1991718"/>
                </a:lnTo>
                <a:lnTo>
                  <a:pt x="1242481" y="2007461"/>
                </a:lnTo>
                <a:lnTo>
                  <a:pt x="1266375" y="2022846"/>
                </a:lnTo>
                <a:lnTo>
                  <a:pt x="1290268" y="2037886"/>
                </a:lnTo>
                <a:lnTo>
                  <a:pt x="1314162" y="2052593"/>
                </a:lnTo>
                <a:lnTo>
                  <a:pt x="1338056" y="2066976"/>
                </a:lnTo>
                <a:lnTo>
                  <a:pt x="1361950" y="2081047"/>
                </a:lnTo>
                <a:lnTo>
                  <a:pt x="1385844" y="2094816"/>
                </a:lnTo>
                <a:lnTo>
                  <a:pt x="1409738" y="2108292"/>
                </a:lnTo>
                <a:lnTo>
                  <a:pt x="1433632" y="2121485"/>
                </a:lnTo>
                <a:lnTo>
                  <a:pt x="1457526" y="2134404"/>
                </a:lnTo>
                <a:lnTo>
                  <a:pt x="1481419" y="2147056"/>
                </a:lnTo>
                <a:lnTo>
                  <a:pt x="1505313" y="2159451"/>
                </a:lnTo>
                <a:lnTo>
                  <a:pt x="1529207" y="2171595"/>
                </a:lnTo>
                <a:lnTo>
                  <a:pt x="1553101" y="2183497"/>
                </a:lnTo>
                <a:lnTo>
                  <a:pt x="1576995" y="2195164"/>
                </a:lnTo>
                <a:lnTo>
                  <a:pt x="1600889" y="2206602"/>
                </a:lnTo>
                <a:lnTo>
                  <a:pt x="1624783" y="2217818"/>
                </a:lnTo>
                <a:lnTo>
                  <a:pt x="1648676" y="2228818"/>
                </a:lnTo>
                <a:lnTo>
                  <a:pt x="1672570" y="2239610"/>
                </a:lnTo>
                <a:lnTo>
                  <a:pt x="1696464" y="2250198"/>
                </a:lnTo>
                <a:lnTo>
                  <a:pt x="1720358" y="2260588"/>
                </a:lnTo>
                <a:lnTo>
                  <a:pt x="1744252" y="2270786"/>
                </a:lnTo>
                <a:lnTo>
                  <a:pt x="1768146" y="2280797"/>
                </a:lnTo>
                <a:lnTo>
                  <a:pt x="1792040" y="2290626"/>
                </a:lnTo>
                <a:lnTo>
                  <a:pt x="1815934" y="2300279"/>
                </a:lnTo>
                <a:lnTo>
                  <a:pt x="1839827" y="2309759"/>
                </a:lnTo>
                <a:lnTo>
                  <a:pt x="1863721" y="2319072"/>
                </a:lnTo>
                <a:lnTo>
                  <a:pt x="1887615" y="2328221"/>
                </a:lnTo>
                <a:lnTo>
                  <a:pt x="1911509" y="2337211"/>
                </a:lnTo>
                <a:lnTo>
                  <a:pt x="1935403" y="2346047"/>
                </a:lnTo>
                <a:lnTo>
                  <a:pt x="1959297" y="2354732"/>
                </a:lnTo>
                <a:lnTo>
                  <a:pt x="1983191" y="2363269"/>
                </a:lnTo>
                <a:lnTo>
                  <a:pt x="2007085" y="2371664"/>
                </a:lnTo>
                <a:lnTo>
                  <a:pt x="2030978" y="2379918"/>
                </a:lnTo>
                <a:lnTo>
                  <a:pt x="2054872" y="2388036"/>
                </a:lnTo>
                <a:lnTo>
                  <a:pt x="2078766" y="2396022"/>
                </a:lnTo>
                <a:lnTo>
                  <a:pt x="2102660" y="2403877"/>
                </a:lnTo>
                <a:lnTo>
                  <a:pt x="2126554" y="2411606"/>
                </a:lnTo>
                <a:lnTo>
                  <a:pt x="2150448" y="2419212"/>
                </a:lnTo>
                <a:lnTo>
                  <a:pt x="2174342" y="2426696"/>
                </a:lnTo>
                <a:lnTo>
                  <a:pt x="2198235" y="2434063"/>
                </a:lnTo>
                <a:lnTo>
                  <a:pt x="2222129" y="2441315"/>
                </a:lnTo>
                <a:lnTo>
                  <a:pt x="2246023" y="2448455"/>
                </a:lnTo>
                <a:lnTo>
                  <a:pt x="2269917" y="2455485"/>
                </a:lnTo>
                <a:lnTo>
                  <a:pt x="2293811" y="2462408"/>
                </a:lnTo>
                <a:lnTo>
                  <a:pt x="2317705" y="2469226"/>
                </a:lnTo>
                <a:lnTo>
                  <a:pt x="2341599" y="2475941"/>
                </a:lnTo>
                <a:lnTo>
                  <a:pt x="2365493" y="2482557"/>
                </a:lnTo>
                <a:lnTo>
                  <a:pt x="2389386" y="2489074"/>
                </a:lnTo>
                <a:lnTo>
                  <a:pt x="2413280" y="2495496"/>
                </a:lnTo>
                <a:lnTo>
                  <a:pt x="2437174" y="2501824"/>
                </a:lnTo>
                <a:lnTo>
                  <a:pt x="2461068" y="2508060"/>
                </a:lnTo>
                <a:lnTo>
                  <a:pt x="2484962" y="2514207"/>
                </a:lnTo>
                <a:lnTo>
                  <a:pt x="2508856" y="2520266"/>
                </a:lnTo>
                <a:lnTo>
                  <a:pt x="2532750" y="2526239"/>
                </a:lnTo>
                <a:lnTo>
                  <a:pt x="2556644" y="2532128"/>
                </a:lnTo>
                <a:lnTo>
                  <a:pt x="2580537" y="2537935"/>
                </a:lnTo>
                <a:lnTo>
                  <a:pt x="2604431" y="2543661"/>
                </a:lnTo>
                <a:lnTo>
                  <a:pt x="2628325" y="2549308"/>
                </a:lnTo>
                <a:lnTo>
                  <a:pt x="2652219" y="2554878"/>
                </a:lnTo>
                <a:lnTo>
                  <a:pt x="2676113" y="2560373"/>
                </a:lnTo>
                <a:lnTo>
                  <a:pt x="2700007" y="2565793"/>
                </a:lnTo>
                <a:lnTo>
                  <a:pt x="2723901" y="2571140"/>
                </a:lnTo>
                <a:lnTo>
                  <a:pt x="2747794" y="2576416"/>
                </a:lnTo>
                <a:lnTo>
                  <a:pt x="2771688" y="2581622"/>
                </a:lnTo>
                <a:lnTo>
                  <a:pt x="2795582" y="2586760"/>
                </a:lnTo>
                <a:lnTo>
                  <a:pt x="2819476" y="2591831"/>
                </a:lnTo>
                <a:lnTo>
                  <a:pt x="2843370" y="2596836"/>
                </a:lnTo>
                <a:lnTo>
                  <a:pt x="2867264" y="2601776"/>
                </a:lnTo>
                <a:lnTo>
                  <a:pt x="2891158" y="2606653"/>
                </a:lnTo>
                <a:lnTo>
                  <a:pt x="2915052" y="2611468"/>
                </a:lnTo>
                <a:lnTo>
                  <a:pt x="2938945" y="2616223"/>
                </a:lnTo>
                <a:lnTo>
                  <a:pt x="2962839" y="2620917"/>
                </a:lnTo>
                <a:lnTo>
                  <a:pt x="2986733" y="2625553"/>
                </a:lnTo>
                <a:lnTo>
                  <a:pt x="3010627" y="2630131"/>
                </a:lnTo>
                <a:lnTo>
                  <a:pt x="3034521" y="2634653"/>
                </a:lnTo>
                <a:lnTo>
                  <a:pt x="3058415" y="2639119"/>
                </a:lnTo>
                <a:lnTo>
                  <a:pt x="3082309" y="2643531"/>
                </a:lnTo>
                <a:lnTo>
                  <a:pt x="3106203" y="2647889"/>
                </a:lnTo>
                <a:lnTo>
                  <a:pt x="3130096" y="2652195"/>
                </a:lnTo>
                <a:lnTo>
                  <a:pt x="3153990" y="2656449"/>
                </a:lnTo>
                <a:lnTo>
                  <a:pt x="3177884" y="2660653"/>
                </a:lnTo>
                <a:lnTo>
                  <a:pt x="3201778" y="2664807"/>
                </a:lnTo>
                <a:lnTo>
                  <a:pt x="3225672" y="2668912"/>
                </a:lnTo>
                <a:lnTo>
                  <a:pt x="3249566" y="2672970"/>
                </a:lnTo>
                <a:lnTo>
                  <a:pt x="3273460" y="2676980"/>
                </a:lnTo>
                <a:lnTo>
                  <a:pt x="3297353" y="2680943"/>
                </a:lnTo>
                <a:lnTo>
                  <a:pt x="3321247" y="2684862"/>
                </a:lnTo>
                <a:lnTo>
                  <a:pt x="3345141" y="2688735"/>
                </a:lnTo>
                <a:lnTo>
                  <a:pt x="3369035" y="2692565"/>
                </a:lnTo>
                <a:lnTo>
                  <a:pt x="3392929" y="2696351"/>
                </a:lnTo>
                <a:lnTo>
                  <a:pt x="3416823" y="2700095"/>
                </a:lnTo>
                <a:lnTo>
                  <a:pt x="3440717" y="2703797"/>
                </a:lnTo>
                <a:lnTo>
                  <a:pt x="3464611" y="2707458"/>
                </a:lnTo>
                <a:lnTo>
                  <a:pt x="3488504" y="2711078"/>
                </a:lnTo>
                <a:lnTo>
                  <a:pt x="3512398" y="2714659"/>
                </a:lnTo>
                <a:lnTo>
                  <a:pt x="3536292" y="2718200"/>
                </a:lnTo>
                <a:lnTo>
                  <a:pt x="3560186" y="2721703"/>
                </a:lnTo>
                <a:lnTo>
                  <a:pt x="3584080" y="2725168"/>
                </a:lnTo>
                <a:lnTo>
                  <a:pt x="3607974" y="2728596"/>
                </a:lnTo>
                <a:lnTo>
                  <a:pt x="3631868" y="2731988"/>
                </a:lnTo>
                <a:lnTo>
                  <a:pt x="3655762" y="2735343"/>
                </a:lnTo>
                <a:lnTo>
                  <a:pt x="3679655" y="2738663"/>
                </a:lnTo>
                <a:lnTo>
                  <a:pt x="3703549" y="2741948"/>
                </a:lnTo>
                <a:lnTo>
                  <a:pt x="3727443" y="2745198"/>
                </a:lnTo>
                <a:lnTo>
                  <a:pt x="3751337" y="2748415"/>
                </a:lnTo>
                <a:lnTo>
                  <a:pt x="3775231" y="2751598"/>
                </a:lnTo>
                <a:lnTo>
                  <a:pt x="3799125" y="2754749"/>
                </a:lnTo>
                <a:lnTo>
                  <a:pt x="3823019" y="2757867"/>
                </a:lnTo>
                <a:lnTo>
                  <a:pt x="3846912" y="2760954"/>
                </a:lnTo>
                <a:lnTo>
                  <a:pt x="3870806" y="2764009"/>
                </a:lnTo>
                <a:lnTo>
                  <a:pt x="3894700" y="2767033"/>
                </a:lnTo>
                <a:lnTo>
                  <a:pt x="3918594" y="2770027"/>
                </a:lnTo>
                <a:lnTo>
                  <a:pt x="3942488" y="2772991"/>
                </a:lnTo>
                <a:lnTo>
                  <a:pt x="3966382" y="2775926"/>
                </a:lnTo>
                <a:lnTo>
                  <a:pt x="3990276" y="2778831"/>
                </a:lnTo>
                <a:lnTo>
                  <a:pt x="4014170" y="2781708"/>
                </a:lnTo>
                <a:lnTo>
                  <a:pt x="4038063" y="2784557"/>
                </a:lnTo>
                <a:lnTo>
                  <a:pt x="4061957" y="2787378"/>
                </a:lnTo>
                <a:lnTo>
                  <a:pt x="4085851" y="2790171"/>
                </a:lnTo>
                <a:lnTo>
                  <a:pt x="4109745" y="2792938"/>
                </a:lnTo>
                <a:lnTo>
                  <a:pt x="4133639" y="2795678"/>
                </a:lnTo>
                <a:lnTo>
                  <a:pt x="4157533" y="2798392"/>
                </a:lnTo>
                <a:lnTo>
                  <a:pt x="4181427" y="2801080"/>
                </a:lnTo>
                <a:lnTo>
                  <a:pt x="4205321" y="2803742"/>
                </a:lnTo>
                <a:lnTo>
                  <a:pt x="4229214" y="2806379"/>
                </a:lnTo>
                <a:lnTo>
                  <a:pt x="4253108" y="2808992"/>
                </a:lnTo>
                <a:lnTo>
                  <a:pt x="4277002" y="2811580"/>
                </a:lnTo>
                <a:lnTo>
                  <a:pt x="4300896" y="2814144"/>
                </a:lnTo>
                <a:lnTo>
                  <a:pt x="4324790" y="2816685"/>
                </a:lnTo>
                <a:lnTo>
                  <a:pt x="4348684" y="2819202"/>
                </a:lnTo>
                <a:lnTo>
                  <a:pt x="4372578" y="2821696"/>
                </a:lnTo>
                <a:lnTo>
                  <a:pt x="4396471" y="2824167"/>
                </a:lnTo>
                <a:lnTo>
                  <a:pt x="4420365" y="2826616"/>
                </a:lnTo>
                <a:lnTo>
                  <a:pt x="4444259" y="2829042"/>
                </a:lnTo>
                <a:lnTo>
                  <a:pt x="4468153" y="2831447"/>
                </a:lnTo>
                <a:lnTo>
                  <a:pt x="4492047" y="2833830"/>
                </a:lnTo>
                <a:lnTo>
                  <a:pt x="4515941" y="2836192"/>
                </a:lnTo>
                <a:lnTo>
                  <a:pt x="4539835" y="2838533"/>
                </a:lnTo>
                <a:lnTo>
                  <a:pt x="4563729" y="2840853"/>
                </a:lnTo>
                <a:lnTo>
                  <a:pt x="4587622" y="2843153"/>
                </a:lnTo>
                <a:lnTo>
                  <a:pt x="4611516" y="2845433"/>
                </a:lnTo>
                <a:lnTo>
                  <a:pt x="4635410" y="2847693"/>
                </a:lnTo>
                <a:lnTo>
                  <a:pt x="4659304" y="2849933"/>
                </a:lnTo>
                <a:lnTo>
                  <a:pt x="4683198" y="2852153"/>
                </a:lnTo>
                <a:lnTo>
                  <a:pt x="4707092" y="2854355"/>
                </a:lnTo>
                <a:lnTo>
                  <a:pt x="4730986" y="2856538"/>
                </a:lnTo>
                <a:lnTo>
                  <a:pt x="4754880" y="2858702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3-E04 text 36" descr="sci-ppt:o036"/>
          <p:cNvSpPr txBox="1"/>
          <p:nvPr/>
        </p:nvSpPr>
        <p:spPr>
          <a:xfrm>
            <a:off x="7861688" y="1976845"/>
            <a:ext cx="4114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p′ = ρ(Rⱼ²R̈ⱼ + 2RⱼṘⱼ²) / dᵢⱼ</a:t>
            </a:r>
          </a:p>
        </p:txBody>
      </p:sp>
      <p:sp>
        <p:nvSpPr>
          <p:cNvPr id="39" name="C3-E04 round_rect 37" descr="sci-ppt:o037"/>
          <p:cNvSpPr/>
          <p:nvPr/>
        </p:nvSpPr>
        <p:spPr>
          <a:xfrm>
            <a:off x="365760" y="914400"/>
            <a:ext cx="566928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3-E04 text 38" descr="sci-ppt:o038"/>
          <p:cNvSpPr txBox="1"/>
          <p:nvPr/>
        </p:nvSpPr>
        <p:spPr>
          <a:xfrm>
            <a:off x="475488" y="969264"/>
            <a:ext cx="54498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Neighbours add pressure at i</a:t>
            </a:r>
          </a:p>
        </p:txBody>
      </p:sp>
      <p:sp>
        <p:nvSpPr>
          <p:cNvPr id="41" name="C3-E04 ellipse 39" descr="sci-ppt:o039"/>
          <p:cNvSpPr/>
          <p:nvPr/>
        </p:nvSpPr>
        <p:spPr>
          <a:xfrm>
            <a:off x="2788920" y="2880360"/>
            <a:ext cx="822960" cy="82296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3-E04 text 40" descr="sci-ppt:o040"/>
          <p:cNvSpPr txBox="1"/>
          <p:nvPr/>
        </p:nvSpPr>
        <p:spPr>
          <a:xfrm>
            <a:off x="2834640" y="3154680"/>
            <a:ext cx="73152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8BA0"/>
                </a:solidFill>
                <a:latin typeface="Arial"/>
              </a:rPr>
              <a:t>i</a:t>
            </a:r>
          </a:p>
        </p:txBody>
      </p:sp>
      <p:sp>
        <p:nvSpPr>
          <p:cNvPr id="43" name="C3-E04 ellipse 41" descr="sci-ppt:o041"/>
          <p:cNvSpPr/>
          <p:nvPr/>
        </p:nvSpPr>
        <p:spPr>
          <a:xfrm>
            <a:off x="4472738" y="2454582"/>
            <a:ext cx="548640" cy="54864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3-E04 arrow 42" descr="sci-ppt:o042"/>
          <p:cNvCxnSpPr/>
          <p:nvPr/>
        </p:nvCxnSpPr>
        <p:spPr>
          <a:xfrm flipH="1">
            <a:off x="3672990" y="2822725"/>
            <a:ext cx="816292" cy="29710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45" name="C3-E04 ellipse 43" descr="sci-ppt:o043"/>
          <p:cNvSpPr/>
          <p:nvPr/>
        </p:nvSpPr>
        <p:spPr>
          <a:xfrm>
            <a:off x="2488239" y="1814563"/>
            <a:ext cx="548640" cy="54864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3-E04 arrow 44" descr="sci-ppt:o044"/>
          <p:cNvCxnSpPr/>
          <p:nvPr/>
        </p:nvCxnSpPr>
        <p:spPr>
          <a:xfrm>
            <a:off x="2856382" y="2346659"/>
            <a:ext cx="172009" cy="47259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47" name="C3-E04 ellipse 45" descr="sci-ppt:o045"/>
          <p:cNvSpPr/>
          <p:nvPr/>
        </p:nvSpPr>
        <p:spPr>
          <a:xfrm>
            <a:off x="1293495" y="3611732"/>
            <a:ext cx="548640" cy="54864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3-E04 arrow 46" descr="sci-ppt:o046"/>
          <p:cNvCxnSpPr/>
          <p:nvPr/>
        </p:nvCxnSpPr>
        <p:spPr>
          <a:xfrm flipV="1">
            <a:off x="1825592" y="3463848"/>
            <a:ext cx="902217" cy="328381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49" name="C3-E04 ellipse 47" descr="sci-ppt:o047"/>
          <p:cNvSpPr/>
          <p:nvPr/>
        </p:nvSpPr>
        <p:spPr>
          <a:xfrm>
            <a:off x="3395194" y="4306402"/>
            <a:ext cx="548640" cy="54864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3-E04 arrow 48" descr="sci-ppt:o048"/>
          <p:cNvCxnSpPr/>
          <p:nvPr/>
        </p:nvCxnSpPr>
        <p:spPr>
          <a:xfrm flipH="1" flipV="1">
            <a:off x="3372408" y="3764430"/>
            <a:ext cx="203283" cy="558515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1" name="C3-E04 text 49" descr="sci-ppt:o049"/>
          <p:cNvSpPr txBox="1"/>
          <p:nvPr/>
        </p:nvSpPr>
        <p:spPr>
          <a:xfrm>
            <a:off x="502920" y="4892040"/>
            <a:ext cx="53035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pₑₓₜ,i ≈ p∞ + Σ_{j≠i} p′_{j→i}: each source changes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surrounding pressure; none adds energy.</a:t>
            </a:r>
          </a:p>
        </p:txBody>
      </p:sp>
      <p:sp>
        <p:nvSpPr>
          <p:cNvPr id="52" name="C3-E04 text 50" descr="sci-ppt:o050"/>
          <p:cNvSpPr txBox="1"/>
          <p:nvPr/>
        </p:nvSpPr>
        <p:spPr>
          <a:xfrm>
            <a:off x="6309360" y="5760720"/>
            <a:ext cx="54864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Snapshot of fastest wall acceleration of a 5 µm bubble: R = 5.0 µm, Ṙ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= 1 m/s, R̈ = 1.7e+08 m/s².</a:t>
            </a:r>
          </a:p>
        </p:txBody>
      </p:sp>
      <p:sp>
        <p:nvSpPr>
          <p:cNvPr id="53" name="C3-E04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Leading unsteady-Bernoulli correction of Eq. C3-E04; snapshot from a Rayleigh–Plesset run (p_g0 = 1 MPa).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