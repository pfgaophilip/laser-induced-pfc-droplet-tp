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31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C3-E31 · Reference answer: original interaction and allocation formulas</a:t>
            </a:r>
          </a:p>
        </p:txBody>
      </p:sp>
      <p:sp>
        <p:nvSpPr>
          <p:cNvPr id="3" name="C3-E31 ellipse 1" descr="sci-ppt:o001"/>
          <p:cNvSpPr/>
          <p:nvPr/>
        </p:nvSpPr>
        <p:spPr>
          <a:xfrm>
            <a:off x="1417319" y="1280160"/>
            <a:ext cx="1554480" cy="1554480"/>
          </a:xfrm>
          <a:prstGeom prst="ellipse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3-E31 ellipse 2" descr="sci-ppt:o002"/>
          <p:cNvSpPr/>
          <p:nvPr/>
        </p:nvSpPr>
        <p:spPr>
          <a:xfrm>
            <a:off x="7909560" y="1280160"/>
            <a:ext cx="1554480" cy="1554480"/>
          </a:xfrm>
          <a:prstGeom prst="ellipse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3-E31 text 3" descr="sci-ppt:o003"/>
          <p:cNvSpPr txBox="1"/>
          <p:nvPr/>
        </p:nvSpPr>
        <p:spPr>
          <a:xfrm>
            <a:off x="1645920" y="1874519"/>
            <a:ext cx="146304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j: source</a:t>
            </a:r>
          </a:p>
        </p:txBody>
      </p:sp>
      <p:sp>
        <p:nvSpPr>
          <p:cNvPr id="6" name="C3-E31 text 4" descr="sci-ppt:o004"/>
          <p:cNvSpPr txBox="1"/>
          <p:nvPr/>
        </p:nvSpPr>
        <p:spPr>
          <a:xfrm>
            <a:off x="8138160" y="1874519"/>
            <a:ext cx="15544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i: receiver</a:t>
            </a:r>
          </a:p>
        </p:txBody>
      </p:sp>
      <p:cxnSp>
        <p:nvCxnSpPr>
          <p:cNvPr id="7" name="C3-E31 line 5" descr="sci-ppt:o005"/>
          <p:cNvCxnSpPr/>
          <p:nvPr/>
        </p:nvCxnSpPr>
        <p:spPr>
          <a:xfrm>
            <a:off x="2194560" y="3108960"/>
            <a:ext cx="649224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8" name="C3-E31 text 6" descr="sci-ppt:o006"/>
          <p:cNvSpPr txBox="1"/>
          <p:nvPr/>
        </p:nvSpPr>
        <p:spPr>
          <a:xfrm>
            <a:off x="4846320" y="3200400"/>
            <a:ext cx="18288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d_ij</a:t>
            </a:r>
          </a:p>
        </p:txBody>
      </p:sp>
      <p:cxnSp>
        <p:nvCxnSpPr>
          <p:cNvPr id="9" name="C3-E31 arrow 7" descr="sci-ppt:o007"/>
          <p:cNvCxnSpPr/>
          <p:nvPr/>
        </p:nvCxnSpPr>
        <p:spPr>
          <a:xfrm>
            <a:off x="3108960" y="2057400"/>
            <a:ext cx="4617719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C3-E31 text 8" descr="sci-ppt:o008"/>
          <p:cNvSpPr txBox="1"/>
          <p:nvPr/>
        </p:nvSpPr>
        <p:spPr>
          <a:xfrm>
            <a:off x="3749039" y="1600200"/>
            <a:ext cx="393192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Shared liquid: ρ, p∞</a:t>
            </a:r>
          </a:p>
        </p:txBody>
      </p:sp>
      <p:sp>
        <p:nvSpPr>
          <p:cNvPr id="11" name="C3-E31 text 9" descr="sci-ppt:o009"/>
          <p:cNvSpPr txBox="1"/>
          <p:nvPr/>
        </p:nvSpPr>
        <p:spPr>
          <a:xfrm>
            <a:off x="548640" y="777240"/>
            <a:ext cx="10972800" cy="41148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Fixed centres; spherical cavities; R_i, R_j ≪ d_ij</a:t>
            </a:r>
          </a:p>
        </p:txBody>
      </p:sp>
      <p:sp>
        <p:nvSpPr>
          <p:cNvPr id="12" name="C3-E31 text 10" descr="sci-ppt:o010"/>
          <p:cNvSpPr txBox="1"/>
          <p:nvPr/>
        </p:nvSpPr>
        <p:spPr>
          <a:xfrm>
            <a:off x="3657600" y="2423160"/>
            <a:ext cx="4206240" cy="54864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8EDBD4"/>
                </a:solidFill>
                <a:latin typeface="Arial"/>
              </a:rPr>
              <a:t>Source-volume acceleration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8EDBD4"/>
                </a:solidFill>
                <a:latin typeface="Arial"/>
              </a:rPr>
              <a:t>sets the pressure correction.</a:t>
            </a:r>
          </a:p>
        </p:txBody>
      </p:sp>
      <p:cxnSp>
        <p:nvCxnSpPr>
          <p:cNvPr id="13" name="C3-E31 line 11" descr="sci-ppt:o011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4" name="C3-E31 text 12" descr="sci-ppt:o012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R_i, R_j bubble radii</a:t>
            </a:r>
          </a:p>
        </p:txBody>
      </p:sp>
      <p:sp>
        <p:nvSpPr>
          <p:cNvPr id="15" name="C3-E31 text 13" descr="sci-ppt:o013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d_ij separations; N sites</a:t>
            </a:r>
          </a:p>
        </p:txBody>
      </p:sp>
      <p:sp>
        <p:nvSpPr>
          <p:cNvPr id="16" name="C3-E31 text 14" descr="sci-ppt:o014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p_b,i inside; p∞ outside</a:t>
            </a:r>
          </a:p>
        </p:txBody>
      </p:sp>
      <p:sp>
        <p:nvSpPr>
          <p:cNvPr id="17" name="C3-E31 text 15" descr="sci-ppt:o015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Ṙ_i, R̈_i, Ṙ_j, R̈_j</a:t>
            </a:r>
          </a:p>
        </p:txBody>
      </p:sp>
      <p:sp>
        <p:nvSpPr>
          <p:cNvPr id="18" name="C3-E31 text 16" descr="sci-ppt:o016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σ_b, μ, ρ balance parameters</a:t>
            </a:r>
          </a:p>
        </p:txBody>
      </p:sp>
      <p:sp>
        <p:nvSpPr>
          <p:cNvPr id="19" name="C3-E31 text 17" descr="sci-ppt:o017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E_B,tot fixed work; Δp_c</a:t>
            </a:r>
          </a:p>
        </p:txBody>
      </p:sp>
      <p:sp>
        <p:nvSpPr>
          <p:cNvPr id="20" name="C3-E31 text 18" descr="sci-ppt:o018"/>
          <p:cNvSpPr txBox="1"/>
          <p:nvPr/>
        </p:nvSpPr>
        <p:spPr>
          <a:xfrm>
            <a:off x="320040" y="4796028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R_max,N = R_* N^−1/3; π</a:t>
            </a:r>
          </a:p>
        </p:txBody>
      </p:sp>
      <p:sp>
        <p:nvSpPr>
          <p:cNvPr id="21" name="C3-E31 text 19" descr="sci-ppt:o019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Hydraulic connectivity decides whether sources are independent</a:t>
            </a:r>
          </a:p>
        </p:txBody>
      </p:sp>
      <p:sp>
        <p:nvSpPr>
          <p:cNvPr id="22" name="C3-E31 text 20" descr="sci-ppt:o020"/>
          <p:cNvSpPr txBox="1"/>
          <p:nvPr/>
        </p:nvSpPr>
        <p:spPr>
          <a:xfrm>
            <a:off x="320040" y="587044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Fixed total work changes each cavity scale</a:t>
            </a:r>
          </a:p>
        </p:txBody>
      </p:sp>
      <p:sp>
        <p:nvSpPr>
          <p:cNvPr id="23" name="C3-E31 text 21" descr="sci-ppt:o021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