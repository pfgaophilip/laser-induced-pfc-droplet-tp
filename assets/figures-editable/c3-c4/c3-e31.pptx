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C3-E31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C3-E31 · Reference answer: original interaction and allocation formulas</a:t>
            </a:r>
          </a:p>
        </p:txBody>
      </p:sp>
      <p:cxnSp>
        <p:nvCxnSpPr>
          <p:cNvPr id="3" name="C3-E31 line 1" descr="sci-ppt:o001"/>
          <p:cNvCxnSpPr/>
          <p:nvPr/>
        </p:nvCxnSpPr>
        <p:spPr>
          <a:xfrm>
            <a:off x="8686800" y="4526280"/>
            <a:ext cx="301752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C3-E31 line 2" descr="sci-ppt:o002"/>
          <p:cNvCxnSpPr/>
          <p:nvPr/>
        </p:nvCxnSpPr>
        <p:spPr>
          <a:xfrm>
            <a:off x="8686800" y="1783080"/>
            <a:ext cx="0" cy="27432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C3-E31 line 3" descr="sci-ppt:o003"/>
          <p:cNvCxnSpPr/>
          <p:nvPr/>
        </p:nvCxnSpPr>
        <p:spPr>
          <a:xfrm>
            <a:off x="8686800" y="45262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C3-E31 line 4" descr="sci-ppt:o004"/>
          <p:cNvCxnSpPr/>
          <p:nvPr/>
        </p:nvCxnSpPr>
        <p:spPr>
          <a:xfrm>
            <a:off x="8686800" y="1783080"/>
            <a:ext cx="0" cy="27432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C3-E31 text 5" descr="sci-ppt:o005"/>
          <p:cNvSpPr txBox="1"/>
          <p:nvPr/>
        </p:nvSpPr>
        <p:spPr>
          <a:xfrm>
            <a:off x="8229600" y="46085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8" name="C3-E31 line 6" descr="sci-ppt:o006"/>
          <p:cNvCxnSpPr/>
          <p:nvPr/>
        </p:nvCxnSpPr>
        <p:spPr>
          <a:xfrm>
            <a:off x="9189720" y="45262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C3-E31 line 7" descr="sci-ppt:o007"/>
          <p:cNvCxnSpPr/>
          <p:nvPr/>
        </p:nvCxnSpPr>
        <p:spPr>
          <a:xfrm>
            <a:off x="9189720" y="1783080"/>
            <a:ext cx="0" cy="27432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C3-E31 text 8" descr="sci-ppt:o008"/>
          <p:cNvSpPr txBox="1"/>
          <p:nvPr/>
        </p:nvSpPr>
        <p:spPr>
          <a:xfrm>
            <a:off x="8732520" y="46085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11" name="C3-E31 line 9" descr="sci-ppt:o009"/>
          <p:cNvCxnSpPr/>
          <p:nvPr/>
        </p:nvCxnSpPr>
        <p:spPr>
          <a:xfrm>
            <a:off x="9818370" y="45262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C3-E31 line 10" descr="sci-ppt:o010"/>
          <p:cNvCxnSpPr/>
          <p:nvPr/>
        </p:nvCxnSpPr>
        <p:spPr>
          <a:xfrm>
            <a:off x="9818370" y="1783080"/>
            <a:ext cx="0" cy="27432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C3-E31 text 11" descr="sci-ppt:o011"/>
          <p:cNvSpPr txBox="1"/>
          <p:nvPr/>
        </p:nvSpPr>
        <p:spPr>
          <a:xfrm>
            <a:off x="9361170" y="46085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10</a:t>
            </a:r>
          </a:p>
        </p:txBody>
      </p:sp>
      <p:cxnSp>
        <p:nvCxnSpPr>
          <p:cNvPr id="14" name="C3-E31 line 12" descr="sci-ppt:o012"/>
          <p:cNvCxnSpPr/>
          <p:nvPr/>
        </p:nvCxnSpPr>
        <p:spPr>
          <a:xfrm>
            <a:off x="10447020" y="45262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C3-E31 line 13" descr="sci-ppt:o013"/>
          <p:cNvCxnSpPr/>
          <p:nvPr/>
        </p:nvCxnSpPr>
        <p:spPr>
          <a:xfrm>
            <a:off x="10447020" y="1783080"/>
            <a:ext cx="0" cy="27432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C3-E31 text 14" descr="sci-ppt:o014"/>
          <p:cNvSpPr txBox="1"/>
          <p:nvPr/>
        </p:nvSpPr>
        <p:spPr>
          <a:xfrm>
            <a:off x="9989820" y="46085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15</a:t>
            </a:r>
          </a:p>
        </p:txBody>
      </p:sp>
      <p:cxnSp>
        <p:nvCxnSpPr>
          <p:cNvPr id="17" name="C3-E31 line 15" descr="sci-ppt:o015"/>
          <p:cNvCxnSpPr/>
          <p:nvPr/>
        </p:nvCxnSpPr>
        <p:spPr>
          <a:xfrm>
            <a:off x="11075670" y="45262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C3-E31 line 16" descr="sci-ppt:o016"/>
          <p:cNvCxnSpPr/>
          <p:nvPr/>
        </p:nvCxnSpPr>
        <p:spPr>
          <a:xfrm>
            <a:off x="11075670" y="1783080"/>
            <a:ext cx="0" cy="27432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C3-E31 text 17" descr="sci-ppt:o017"/>
          <p:cNvSpPr txBox="1"/>
          <p:nvPr/>
        </p:nvSpPr>
        <p:spPr>
          <a:xfrm>
            <a:off x="10618470" y="46085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20</a:t>
            </a:r>
          </a:p>
        </p:txBody>
      </p:sp>
      <p:cxnSp>
        <p:nvCxnSpPr>
          <p:cNvPr id="20" name="C3-E31 line 18" descr="sci-ppt:o018"/>
          <p:cNvCxnSpPr/>
          <p:nvPr/>
        </p:nvCxnSpPr>
        <p:spPr>
          <a:xfrm>
            <a:off x="11704320" y="452628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C3-E31 line 19" descr="sci-ppt:o019"/>
          <p:cNvCxnSpPr/>
          <p:nvPr/>
        </p:nvCxnSpPr>
        <p:spPr>
          <a:xfrm>
            <a:off x="11704320" y="1783080"/>
            <a:ext cx="0" cy="27432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C3-E31 text 20" descr="sci-ppt:o020"/>
          <p:cNvSpPr txBox="1"/>
          <p:nvPr/>
        </p:nvSpPr>
        <p:spPr>
          <a:xfrm>
            <a:off x="11247120" y="460857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25</a:t>
            </a:r>
          </a:p>
        </p:txBody>
      </p:sp>
      <p:cxnSp>
        <p:nvCxnSpPr>
          <p:cNvPr id="23" name="C3-E31 line 21" descr="sci-ppt:o021"/>
          <p:cNvCxnSpPr/>
          <p:nvPr/>
        </p:nvCxnSpPr>
        <p:spPr>
          <a:xfrm>
            <a:off x="8622792" y="452628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C3-E31 line 22" descr="sci-ppt:o022"/>
          <p:cNvCxnSpPr/>
          <p:nvPr/>
        </p:nvCxnSpPr>
        <p:spPr>
          <a:xfrm>
            <a:off x="8622792" y="3279370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5" name="C3-E31 line 23" descr="sci-ppt:o023"/>
          <p:cNvCxnSpPr/>
          <p:nvPr/>
        </p:nvCxnSpPr>
        <p:spPr>
          <a:xfrm>
            <a:off x="8686800" y="3279370"/>
            <a:ext cx="30175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6" name="C3-E31 text 24" descr="sci-ppt:o024"/>
          <p:cNvSpPr txBox="1"/>
          <p:nvPr/>
        </p:nvSpPr>
        <p:spPr>
          <a:xfrm>
            <a:off x="7818120" y="3197074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0.5</a:t>
            </a:r>
          </a:p>
        </p:txBody>
      </p:sp>
      <p:cxnSp>
        <p:nvCxnSpPr>
          <p:cNvPr id="27" name="C3-E31 line 25" descr="sci-ppt:o025"/>
          <p:cNvCxnSpPr/>
          <p:nvPr/>
        </p:nvCxnSpPr>
        <p:spPr>
          <a:xfrm>
            <a:off x="8622792" y="2032461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8" name="C3-E31 line 26" descr="sci-ppt:o026"/>
          <p:cNvCxnSpPr/>
          <p:nvPr/>
        </p:nvCxnSpPr>
        <p:spPr>
          <a:xfrm>
            <a:off x="8686800" y="2032461"/>
            <a:ext cx="301752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9" name="C3-E31 text 27" descr="sci-ppt:o027"/>
          <p:cNvSpPr txBox="1"/>
          <p:nvPr/>
        </p:nvSpPr>
        <p:spPr>
          <a:xfrm>
            <a:off x="7818120" y="1950165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1.0</a:t>
            </a:r>
          </a:p>
        </p:txBody>
      </p:sp>
      <p:sp>
        <p:nvSpPr>
          <p:cNvPr id="30" name="C3-E31 text 28" descr="sci-ppt:o028"/>
          <p:cNvSpPr txBox="1"/>
          <p:nvPr/>
        </p:nvSpPr>
        <p:spPr>
          <a:xfrm>
            <a:off x="8686800" y="4809744"/>
            <a:ext cx="30175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N</a:t>
            </a:r>
          </a:p>
        </p:txBody>
      </p:sp>
      <p:sp>
        <p:nvSpPr>
          <p:cNvPr id="31" name="C3-E31 text 29" descr="sci-ppt:o029"/>
          <p:cNvSpPr txBox="1"/>
          <p:nvPr/>
        </p:nvSpPr>
        <p:spPr>
          <a:xfrm>
            <a:off x="8138160" y="1435607"/>
            <a:ext cx="301752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Rₘₐₓ,N / R_*</a:t>
            </a:r>
          </a:p>
        </p:txBody>
      </p:sp>
      <p:sp>
        <p:nvSpPr>
          <p:cNvPr id="32" name="C3-E31 polygon 30" descr="sci-ppt:o030"/>
          <p:cNvSpPr/>
          <p:nvPr/>
        </p:nvSpPr>
        <p:spPr>
          <a:xfrm>
            <a:off x="8686800" y="2032461"/>
            <a:ext cx="3017520" cy="1640945"/>
          </a:xfrm>
          <a:custGeom>
            <a:avLst/>
            <a:gdLst/>
            <a:ahLst/>
            <a:cxnLst/>
            <a:rect l="l" t="t" r="r" b="b"/>
            <a:pathLst>
              <a:path w="3017520" h="1640945">
                <a:moveTo>
                  <a:pt x="0" y="0"/>
                </a:moveTo>
                <a:lnTo>
                  <a:pt x="125730" y="514474"/>
                </a:lnTo>
                <a:lnTo>
                  <a:pt x="251460" y="764702"/>
                </a:lnTo>
                <a:lnTo>
                  <a:pt x="377190" y="922811"/>
                </a:lnTo>
                <a:lnTo>
                  <a:pt x="502920" y="1035425"/>
                </a:lnTo>
                <a:lnTo>
                  <a:pt x="628650" y="1121417"/>
                </a:lnTo>
                <a:lnTo>
                  <a:pt x="754380" y="1190155"/>
                </a:lnTo>
                <a:lnTo>
                  <a:pt x="880110" y="1246909"/>
                </a:lnTo>
                <a:lnTo>
                  <a:pt x="1005840" y="1294916"/>
                </a:lnTo>
                <a:lnTo>
                  <a:pt x="1131570" y="1336291"/>
                </a:lnTo>
                <a:lnTo>
                  <a:pt x="1257300" y="1372487"/>
                </a:lnTo>
                <a:lnTo>
                  <a:pt x="1383030" y="1404543"/>
                </a:lnTo>
                <a:lnTo>
                  <a:pt x="1508760" y="1433222"/>
                </a:lnTo>
                <a:lnTo>
                  <a:pt x="1634490" y="1459100"/>
                </a:lnTo>
                <a:lnTo>
                  <a:pt x="1760220" y="1482625"/>
                </a:lnTo>
                <a:lnTo>
                  <a:pt x="1885950" y="1504146"/>
                </a:lnTo>
                <a:lnTo>
                  <a:pt x="2011680" y="1523945"/>
                </a:lnTo>
                <a:lnTo>
                  <a:pt x="2137410" y="1542249"/>
                </a:lnTo>
                <a:lnTo>
                  <a:pt x="2263140" y="1559245"/>
                </a:lnTo>
                <a:lnTo>
                  <a:pt x="2388870" y="1575088"/>
                </a:lnTo>
                <a:lnTo>
                  <a:pt x="2514600" y="1589909"/>
                </a:lnTo>
                <a:lnTo>
                  <a:pt x="2640330" y="1603817"/>
                </a:lnTo>
                <a:lnTo>
                  <a:pt x="2766060" y="1616908"/>
                </a:lnTo>
                <a:lnTo>
                  <a:pt x="2891790" y="1629260"/>
                </a:lnTo>
                <a:lnTo>
                  <a:pt x="3017520" y="1640945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C3-E31 text 31" descr="sci-ppt:o031"/>
          <p:cNvSpPr txBox="1"/>
          <p:nvPr/>
        </p:nvSpPr>
        <p:spPr>
          <a:xfrm>
            <a:off x="7680960" y="960120"/>
            <a:ext cx="411480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8EDBD4"/>
                </a:solidFill>
                <a:latin typeface="Arial"/>
              </a:rPr>
              <a:t>Fixed total work shrinks each bubble</a:t>
            </a:r>
          </a:p>
        </p:txBody>
      </p:sp>
      <p:sp>
        <p:nvSpPr>
          <p:cNvPr id="34" name="C3-E31 round_rect 32" descr="sci-ppt:o032"/>
          <p:cNvSpPr/>
          <p:nvPr/>
        </p:nvSpPr>
        <p:spPr>
          <a:xfrm>
            <a:off x="365760" y="914400"/>
            <a:ext cx="7040880" cy="237744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C3-E31 text 33" descr="sci-ppt:o033"/>
          <p:cNvSpPr txBox="1"/>
          <p:nvPr/>
        </p:nvSpPr>
        <p:spPr>
          <a:xfrm>
            <a:off x="475488" y="969264"/>
            <a:ext cx="68214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Coupled radial equation</a:t>
            </a:r>
          </a:p>
        </p:txBody>
      </p:sp>
      <p:sp>
        <p:nvSpPr>
          <p:cNvPr id="36" name="C3-E31 text 34" descr="sci-ppt:o034"/>
          <p:cNvSpPr txBox="1"/>
          <p:nvPr/>
        </p:nvSpPr>
        <p:spPr>
          <a:xfrm>
            <a:off x="502920" y="1371600"/>
            <a:ext cx="676656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R_iR̈ᵢ + (3/2)Ṙᵢ² = [p_b,i − p∞ − 2σ_b/Rᵢ − 4μṘᵢ/Rᵢ]/ρ − Σ_{j≠i} (Rⱼ²R̈ⱼ +</a:t>
            </a:r>
          </a:p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E7F0F3"/>
                </a:solidFill>
                <a:latin typeface="Arial"/>
              </a:rPr>
              <a:t>2RⱼṘⱼ²)/dᵢⱼ</a:t>
            </a:r>
          </a:p>
        </p:txBody>
      </p:sp>
      <p:sp>
        <p:nvSpPr>
          <p:cNvPr id="37" name="C3-E31 text 35" descr="sci-ppt:o035"/>
          <p:cNvSpPr txBox="1"/>
          <p:nvPr/>
        </p:nvSpPr>
        <p:spPr>
          <a:xfrm>
            <a:off x="502920" y="2148840"/>
            <a:ext cx="676656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Neighbours change the pressure each bubble feels, so single-bubble results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B4C7D2"/>
                </a:solidFill>
                <a:latin typeface="Arial"/>
              </a:rPr>
              <a:t>cannot simply be multiplied by the count.</a:t>
            </a:r>
          </a:p>
        </p:txBody>
      </p:sp>
      <p:sp>
        <p:nvSpPr>
          <p:cNvPr id="38" name="C3-E31 round_rect 36" descr="sci-ppt:o036"/>
          <p:cNvSpPr/>
          <p:nvPr/>
        </p:nvSpPr>
        <p:spPr>
          <a:xfrm>
            <a:off x="365760" y="3474720"/>
            <a:ext cx="7040880" cy="22860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F2B8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C3-E31 text 37" descr="sci-ppt:o037"/>
          <p:cNvSpPr txBox="1"/>
          <p:nvPr/>
        </p:nvSpPr>
        <p:spPr>
          <a:xfrm>
            <a:off x="475488" y="3529584"/>
            <a:ext cx="682142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F2B880"/>
                </a:solidFill>
                <a:latin typeface="Arial"/>
              </a:rPr>
              <a:t>Fixed total pressure work</a:t>
            </a:r>
          </a:p>
        </p:txBody>
      </p:sp>
      <p:sp>
        <p:nvSpPr>
          <p:cNvPr id="40" name="C3-E31 text 38" descr="sci-ppt:o038"/>
          <p:cNvSpPr txBox="1"/>
          <p:nvPr/>
        </p:nvSpPr>
        <p:spPr>
          <a:xfrm>
            <a:off x="502920" y="3931920"/>
            <a:ext cx="6766560" cy="247142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E7F0F3"/>
                </a:solidFill>
                <a:latin typeface="Arial"/>
              </a:rPr>
              <a:t>E_B,tot = N (4π/3) Δp_c Rₘₐₓ,N³,   Rₘₐₓ,N = R_* N^(−1/3)</a:t>
            </a:r>
          </a:p>
        </p:txBody>
      </p:sp>
      <p:sp>
        <p:nvSpPr>
          <p:cNvPr id="41" name="C3-E31 text 39" descr="sci-ppt:o039"/>
          <p:cNvSpPr txBox="1"/>
          <p:nvPr/>
        </p:nvSpPr>
        <p:spPr>
          <a:xfrm>
            <a:off x="502920" y="4572000"/>
            <a:ext cx="676656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Identical constant-pressure ideal cavities; the coupled row needs far separation.</a:t>
            </a:r>
          </a:p>
        </p:txBody>
      </p:sp>
      <p:sp>
        <p:nvSpPr>
          <p:cNvPr id="42" name="C3-E31 text 40" descr="sci-ppt:o040"/>
          <p:cNvSpPr txBox="1"/>
          <p:nvPr/>
        </p:nvSpPr>
        <p:spPr>
          <a:xfrm>
            <a:off x="7680960" y="5074920"/>
            <a:ext cx="4114800" cy="43307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Use connectivity and source allocation before</a:t>
            </a:r>
          </a:p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F2B880"/>
                </a:solidFill>
                <a:latin typeface="Arial"/>
              </a:rPr>
              <a:t>summing outputs.</a:t>
            </a:r>
          </a:p>
        </p:txBody>
      </p:sp>
      <p:sp>
        <p:nvSpPr>
          <p:cNvPr id="43" name="C3-E31 text 41" descr="sci-ppt:o041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Reference formulas of the Defence 1 answer: Eqs. C3-E05 and C3-E11.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