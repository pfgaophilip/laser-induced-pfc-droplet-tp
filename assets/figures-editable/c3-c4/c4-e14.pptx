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C4-E14 · Derived first two radial integrations</a:t>
            </a:r>
          </a:p>
        </p:txBody>
      </p:sp>
      <p:cxnSp>
        <p:nvCxnSpPr>
          <p:cNvPr id="3" name="C4-E14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4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4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4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4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4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4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4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4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4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4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4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4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4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4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4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4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4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4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4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4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4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4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4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4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4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4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4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4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4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4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4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4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4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4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4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4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4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4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4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4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4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4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4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4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4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4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4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4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4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4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4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4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4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4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4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4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4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4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4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4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4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4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4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4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4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4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4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4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4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4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4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4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4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4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4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4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4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4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4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4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4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4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4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4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4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4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4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4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4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4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4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4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4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4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4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4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4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→ curvature forcing</a:t>
            </a:r>
          </a:p>
        </p:txBody>
      </p:sp>
      <p:sp>
        <p:nvSpPr>
          <p:cNvPr id="101" name="C4-E14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resistance</a:t>
            </a:r>
          </a:p>
        </p:txBody>
      </p:sp>
      <p:sp>
        <p:nvSpPr>
          <p:cNvPr id="102" name="C4-E14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b — radial domain</a:t>
            </a:r>
          </a:p>
        </p:txBody>
      </p:sp>
      <p:sp>
        <p:nvSpPr>
          <p:cNvPr id="103" name="C4-E14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g(r), g′ — curvature fields</a:t>
            </a:r>
          </a:p>
        </p:txBody>
      </p:sp>
      <p:sp>
        <p:nvSpPr>
          <p:cNvPr id="104" name="C4-E14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C₁ = 0 — centre regularity</a:t>
            </a:r>
          </a:p>
        </p:txBody>
      </p:sp>
      <p:sp>
        <p:nvSpPr>
          <p:cNvPr id="105" name="C4-E14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C₂ — remaining curvature offset</a:t>
            </a:r>
          </a:p>
        </p:txBody>
      </p:sp>
      <p:sp>
        <p:nvSpPr>
          <p:cNvPr id="106" name="C4-E14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An inverse-radius curvature gradient is rejected at the centre.</a:t>
            </a:r>
          </a:p>
        </p:txBody>
      </p:sp>
      <p:sp>
        <p:nvSpPr>
          <p:cNvPr id="107" name="C4-E14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