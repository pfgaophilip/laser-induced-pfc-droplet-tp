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C4-E14 · Derived first two radial integrations</a:t>
            </a:r>
          </a:p>
        </p:txBody>
      </p:sp>
      <p:sp>
        <p:nvSpPr>
          <p:cNvPr id="3" name="C4-E14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First pair of integrations: regularity removes C₁</a:t>
            </a:r>
          </a:p>
        </p:txBody>
      </p:sp>
      <p:sp>
        <p:nvSpPr>
          <p:cNvPr id="4" name="C4-E14 text 2" descr="sci-ppt:o002"/>
          <p:cNvSpPr txBox="1"/>
          <p:nvPr/>
        </p:nvSpPr>
        <p:spPr>
          <a:xfrm>
            <a:off x="548640" y="1417320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FC8F8"/>
                </a:solidFill>
                <a:latin typeface="Arial"/>
              </a:rPr>
              <a:t>start</a:t>
            </a:r>
          </a:p>
        </p:txBody>
      </p:sp>
      <p:sp>
        <p:nvSpPr>
          <p:cNvPr id="5" name="C4-E14 text 3" descr="sci-ppt:o003"/>
          <p:cNvSpPr txBox="1"/>
          <p:nvPr/>
        </p:nvSpPr>
        <p:spPr>
          <a:xfrm>
            <a:off x="3474720" y="1417320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d/dr (r g′) = p₀ r / D_f</a:t>
            </a:r>
          </a:p>
        </p:txBody>
      </p:sp>
      <p:sp>
        <p:nvSpPr>
          <p:cNvPr id="6" name="C4-E14 text 4" descr="sci-ppt:o004"/>
          <p:cNvSpPr txBox="1"/>
          <p:nvPr/>
        </p:nvSpPr>
        <p:spPr>
          <a:xfrm>
            <a:off x="548640" y="2075688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FC8F8"/>
                </a:solidFill>
                <a:latin typeface="Arial"/>
              </a:rPr>
              <a:t>integrate</a:t>
            </a:r>
          </a:p>
        </p:txBody>
      </p:sp>
      <p:sp>
        <p:nvSpPr>
          <p:cNvPr id="7" name="C4-E14 text 5" descr="sci-ppt:o005"/>
          <p:cNvSpPr txBox="1"/>
          <p:nvPr/>
        </p:nvSpPr>
        <p:spPr>
          <a:xfrm>
            <a:off x="3474720" y="2075688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r g′ = p₀ r² / (2D_f) + C₁</a:t>
            </a:r>
          </a:p>
        </p:txBody>
      </p:sp>
      <p:sp>
        <p:nvSpPr>
          <p:cNvPr id="8" name="C4-E14 text 6" descr="sci-ppt:o006"/>
          <p:cNvSpPr txBox="1"/>
          <p:nvPr/>
        </p:nvSpPr>
        <p:spPr>
          <a:xfrm>
            <a:off x="548640" y="2734056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divide by r</a:t>
            </a:r>
          </a:p>
        </p:txBody>
      </p:sp>
      <p:sp>
        <p:nvSpPr>
          <p:cNvPr id="9" name="C4-E14 text 7" descr="sci-ppt:o007"/>
          <p:cNvSpPr txBox="1"/>
          <p:nvPr/>
        </p:nvSpPr>
        <p:spPr>
          <a:xfrm>
            <a:off x="3474720" y="2734056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g′ = p₀ r / (2D_f) + C₁ / r</a:t>
            </a:r>
          </a:p>
        </p:txBody>
      </p:sp>
      <p:sp>
        <p:nvSpPr>
          <p:cNvPr id="10" name="C4-E14 text 8" descr="sci-ppt:o008"/>
          <p:cNvSpPr txBox="1"/>
          <p:nvPr/>
        </p:nvSpPr>
        <p:spPr>
          <a:xfrm>
            <a:off x="548640" y="3392424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regular at r = 0 ⇒ C₁ = 0</a:t>
            </a:r>
          </a:p>
        </p:txBody>
      </p:sp>
      <p:sp>
        <p:nvSpPr>
          <p:cNvPr id="11" name="C4-E14 text 9" descr="sci-ppt:o009"/>
          <p:cNvSpPr txBox="1"/>
          <p:nvPr/>
        </p:nvSpPr>
        <p:spPr>
          <a:xfrm>
            <a:off x="3474720" y="3392424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g′ = p₀ r / (2D_f)</a:t>
            </a:r>
          </a:p>
        </p:txBody>
      </p:sp>
      <p:sp>
        <p:nvSpPr>
          <p:cNvPr id="12" name="C4-E14 text 10" descr="sci-ppt:o010"/>
          <p:cNvSpPr txBox="1"/>
          <p:nvPr/>
        </p:nvSpPr>
        <p:spPr>
          <a:xfrm>
            <a:off x="548640" y="4050791"/>
            <a:ext cx="2834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integrate</a:t>
            </a:r>
          </a:p>
        </p:txBody>
      </p:sp>
      <p:sp>
        <p:nvSpPr>
          <p:cNvPr id="13" name="C4-E14 text 11" descr="sci-ppt:o011"/>
          <p:cNvSpPr txBox="1"/>
          <p:nvPr/>
        </p:nvSpPr>
        <p:spPr>
          <a:xfrm>
            <a:off x="3474720" y="4050791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g(r) = p₀ r² / (4D_f) + C₂</a:t>
            </a:r>
          </a:p>
        </p:txBody>
      </p:sp>
      <p:cxnSp>
        <p:nvCxnSpPr>
          <p:cNvPr id="14" name="C4-E14 line 12" descr="sci-ppt:o012"/>
          <p:cNvCxnSpPr/>
          <p:nvPr/>
        </p:nvCxnSpPr>
        <p:spPr>
          <a:xfrm>
            <a:off x="8503920" y="4572000"/>
            <a:ext cx="32004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5" name="C4-E14 line 13" descr="sci-ppt:o013"/>
          <p:cNvCxnSpPr/>
          <p:nvPr/>
        </p:nvCxnSpPr>
        <p:spPr>
          <a:xfrm>
            <a:off x="8503920" y="1463040"/>
            <a:ext cx="0" cy="31089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6" name="C4-E14 line 14" descr="sci-ppt:o014"/>
          <p:cNvCxnSpPr/>
          <p:nvPr/>
        </p:nvCxnSpPr>
        <p:spPr>
          <a:xfrm>
            <a:off x="85039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7" name="C4-E14 line 15" descr="sci-ppt:o015"/>
          <p:cNvCxnSpPr/>
          <p:nvPr/>
        </p:nvCxnSpPr>
        <p:spPr>
          <a:xfrm>
            <a:off x="8503920" y="1463040"/>
            <a:ext cx="0" cy="31089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8" name="C4-E14 text 16" descr="sci-ppt:o016"/>
          <p:cNvSpPr txBox="1"/>
          <p:nvPr/>
        </p:nvSpPr>
        <p:spPr>
          <a:xfrm>
            <a:off x="80467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19" name="C4-E14 line 17" descr="sci-ppt:o017"/>
          <p:cNvCxnSpPr/>
          <p:nvPr/>
        </p:nvCxnSpPr>
        <p:spPr>
          <a:xfrm>
            <a:off x="101041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0" name="C4-E14 line 18" descr="sci-ppt:o018"/>
          <p:cNvCxnSpPr/>
          <p:nvPr/>
        </p:nvCxnSpPr>
        <p:spPr>
          <a:xfrm>
            <a:off x="10104120" y="1463040"/>
            <a:ext cx="0" cy="31089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1" name="C4-E14 text 19" descr="sci-ppt:o019"/>
          <p:cNvSpPr txBox="1"/>
          <p:nvPr/>
        </p:nvSpPr>
        <p:spPr>
          <a:xfrm>
            <a:off x="96469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2" name="C4-E14 line 20" descr="sci-ppt:o020"/>
          <p:cNvCxnSpPr/>
          <p:nvPr/>
        </p:nvCxnSpPr>
        <p:spPr>
          <a:xfrm>
            <a:off x="117043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4-E14 line 21" descr="sci-ppt:o021"/>
          <p:cNvCxnSpPr/>
          <p:nvPr/>
        </p:nvCxnSpPr>
        <p:spPr>
          <a:xfrm>
            <a:off x="11704320" y="1463040"/>
            <a:ext cx="0" cy="31089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4" name="C4-E14 text 22" descr="sci-ppt:o022"/>
          <p:cNvSpPr txBox="1"/>
          <p:nvPr/>
        </p:nvSpPr>
        <p:spPr>
          <a:xfrm>
            <a:off x="112471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5" name="C4-E14 line 23" descr="sci-ppt:o023"/>
          <p:cNvCxnSpPr/>
          <p:nvPr/>
        </p:nvCxnSpPr>
        <p:spPr>
          <a:xfrm>
            <a:off x="8439912" y="4572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4-E14 line 24" descr="sci-ppt:o024"/>
          <p:cNvCxnSpPr/>
          <p:nvPr/>
        </p:nvCxnSpPr>
        <p:spPr>
          <a:xfrm>
            <a:off x="8439912" y="30175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4-E14 line 25" descr="sci-ppt:o025"/>
          <p:cNvCxnSpPr/>
          <p:nvPr/>
        </p:nvCxnSpPr>
        <p:spPr>
          <a:xfrm>
            <a:off x="8503920" y="3017520"/>
            <a:ext cx="3200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4-E14 text 26" descr="sci-ppt:o026"/>
          <p:cNvSpPr txBox="1"/>
          <p:nvPr/>
        </p:nvSpPr>
        <p:spPr>
          <a:xfrm>
            <a:off x="7635240" y="29352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9" name="C4-E14 line 27" descr="sci-ppt:o027"/>
          <p:cNvCxnSpPr/>
          <p:nvPr/>
        </p:nvCxnSpPr>
        <p:spPr>
          <a:xfrm>
            <a:off x="8439912" y="14630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4-E14 line 28" descr="sci-ppt:o028"/>
          <p:cNvCxnSpPr/>
          <p:nvPr/>
        </p:nvCxnSpPr>
        <p:spPr>
          <a:xfrm>
            <a:off x="8503920" y="1463040"/>
            <a:ext cx="3200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4-E14 text 29" descr="sci-ppt:o029"/>
          <p:cNvSpPr txBox="1"/>
          <p:nvPr/>
        </p:nvSpPr>
        <p:spPr>
          <a:xfrm>
            <a:off x="7635240" y="13807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</a:t>
            </a:r>
          </a:p>
        </p:txBody>
      </p:sp>
      <p:sp>
        <p:nvSpPr>
          <p:cNvPr id="32" name="C4-E14 text 30" descr="sci-ppt:o030"/>
          <p:cNvSpPr txBox="1"/>
          <p:nvPr/>
        </p:nvSpPr>
        <p:spPr>
          <a:xfrm>
            <a:off x="8503920" y="4855464"/>
            <a:ext cx="3200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b</a:t>
            </a:r>
          </a:p>
        </p:txBody>
      </p:sp>
      <p:sp>
        <p:nvSpPr>
          <p:cNvPr id="33" name="C4-E14 text 31" descr="sci-ppt:o031"/>
          <p:cNvSpPr txBox="1"/>
          <p:nvPr/>
        </p:nvSpPr>
        <p:spPr>
          <a:xfrm>
            <a:off x="7955280" y="1115568"/>
            <a:ext cx="3200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C₁ / r  term</a:t>
            </a:r>
          </a:p>
        </p:txBody>
      </p:sp>
      <p:sp>
        <p:nvSpPr>
          <p:cNvPr id="34" name="C4-E14 polygon 32" descr="sci-ppt:o032"/>
          <p:cNvSpPr/>
          <p:nvPr/>
        </p:nvSpPr>
        <p:spPr>
          <a:xfrm>
            <a:off x="8709131" y="1502328"/>
            <a:ext cx="2995189" cy="1418037"/>
          </a:xfrm>
          <a:custGeom>
            <a:avLst/>
            <a:gdLst/>
            <a:ahLst/>
            <a:cxnLst/>
            <a:rect l="l" t="t" r="r" b="b"/>
            <a:pathLst>
              <a:path w="2995189" h="1418037">
                <a:moveTo>
                  <a:pt x="0" y="0"/>
                </a:moveTo>
                <a:lnTo>
                  <a:pt x="15600" y="107045"/>
                </a:lnTo>
                <a:lnTo>
                  <a:pt x="31200" y="199964"/>
                </a:lnTo>
                <a:lnTo>
                  <a:pt x="46800" y="281379"/>
                </a:lnTo>
                <a:lnTo>
                  <a:pt x="62400" y="353302"/>
                </a:lnTo>
                <a:lnTo>
                  <a:pt x="78000" y="417301"/>
                </a:lnTo>
                <a:lnTo>
                  <a:pt x="93600" y="474619"/>
                </a:lnTo>
                <a:lnTo>
                  <a:pt x="109200" y="526248"/>
                </a:lnTo>
                <a:lnTo>
                  <a:pt x="124800" y="572996"/>
                </a:lnTo>
                <a:lnTo>
                  <a:pt x="140400" y="615524"/>
                </a:lnTo>
                <a:lnTo>
                  <a:pt x="155999" y="654379"/>
                </a:lnTo>
                <a:lnTo>
                  <a:pt x="171599" y="690017"/>
                </a:lnTo>
                <a:lnTo>
                  <a:pt x="187199" y="722821"/>
                </a:lnTo>
                <a:lnTo>
                  <a:pt x="202799" y="753116"/>
                </a:lnTo>
                <a:lnTo>
                  <a:pt x="218399" y="781181"/>
                </a:lnTo>
                <a:lnTo>
                  <a:pt x="233999" y="807251"/>
                </a:lnTo>
                <a:lnTo>
                  <a:pt x="249599" y="831534"/>
                </a:lnTo>
                <a:lnTo>
                  <a:pt x="265199" y="854205"/>
                </a:lnTo>
                <a:lnTo>
                  <a:pt x="280799" y="875422"/>
                </a:lnTo>
                <a:lnTo>
                  <a:pt x="296399" y="895318"/>
                </a:lnTo>
                <a:lnTo>
                  <a:pt x="311999" y="914015"/>
                </a:lnTo>
                <a:lnTo>
                  <a:pt x="327599" y="931616"/>
                </a:lnTo>
                <a:lnTo>
                  <a:pt x="343199" y="948217"/>
                </a:lnTo>
                <a:lnTo>
                  <a:pt x="358799" y="963899"/>
                </a:lnTo>
                <a:lnTo>
                  <a:pt x="374399" y="978736"/>
                </a:lnTo>
                <a:lnTo>
                  <a:pt x="389999" y="992796"/>
                </a:lnTo>
                <a:lnTo>
                  <a:pt x="405599" y="1006138"/>
                </a:lnTo>
                <a:lnTo>
                  <a:pt x="421198" y="1018816"/>
                </a:lnTo>
                <a:lnTo>
                  <a:pt x="436798" y="1030877"/>
                </a:lnTo>
                <a:lnTo>
                  <a:pt x="452398" y="1042366"/>
                </a:lnTo>
                <a:lnTo>
                  <a:pt x="467998" y="1053322"/>
                </a:lnTo>
                <a:lnTo>
                  <a:pt x="483598" y="1063783"/>
                </a:lnTo>
                <a:lnTo>
                  <a:pt x="499198" y="1073780"/>
                </a:lnTo>
                <a:lnTo>
                  <a:pt x="514798" y="1083343"/>
                </a:lnTo>
                <a:lnTo>
                  <a:pt x="530398" y="1092501"/>
                </a:lnTo>
                <a:lnTo>
                  <a:pt x="545998" y="1101279"/>
                </a:lnTo>
                <a:lnTo>
                  <a:pt x="561598" y="1109700"/>
                </a:lnTo>
                <a:lnTo>
                  <a:pt x="577198" y="1117785"/>
                </a:lnTo>
                <a:lnTo>
                  <a:pt x="592798" y="1125553"/>
                </a:lnTo>
                <a:lnTo>
                  <a:pt x="608398" y="1133024"/>
                </a:lnTo>
                <a:lnTo>
                  <a:pt x="623998" y="1140214"/>
                </a:lnTo>
                <a:lnTo>
                  <a:pt x="639598" y="1147138"/>
                </a:lnTo>
                <a:lnTo>
                  <a:pt x="655198" y="1153811"/>
                </a:lnTo>
                <a:lnTo>
                  <a:pt x="670797" y="1160247"/>
                </a:lnTo>
                <a:lnTo>
                  <a:pt x="686397" y="1166457"/>
                </a:lnTo>
                <a:lnTo>
                  <a:pt x="701997" y="1172454"/>
                </a:lnTo>
                <a:lnTo>
                  <a:pt x="717597" y="1178248"/>
                </a:lnTo>
                <a:lnTo>
                  <a:pt x="733197" y="1183849"/>
                </a:lnTo>
                <a:lnTo>
                  <a:pt x="748797" y="1189267"/>
                </a:lnTo>
                <a:lnTo>
                  <a:pt x="764397" y="1194511"/>
                </a:lnTo>
                <a:lnTo>
                  <a:pt x="779997" y="1199588"/>
                </a:lnTo>
                <a:lnTo>
                  <a:pt x="795597" y="1204508"/>
                </a:lnTo>
                <a:lnTo>
                  <a:pt x="811197" y="1209276"/>
                </a:lnTo>
                <a:lnTo>
                  <a:pt x="826797" y="1213900"/>
                </a:lnTo>
                <a:lnTo>
                  <a:pt x="842397" y="1218387"/>
                </a:lnTo>
                <a:lnTo>
                  <a:pt x="857997" y="1222742"/>
                </a:lnTo>
                <a:lnTo>
                  <a:pt x="873597" y="1226971"/>
                </a:lnTo>
                <a:lnTo>
                  <a:pt x="889197" y="1231079"/>
                </a:lnTo>
                <a:lnTo>
                  <a:pt x="904797" y="1235072"/>
                </a:lnTo>
                <a:lnTo>
                  <a:pt x="920397" y="1238954"/>
                </a:lnTo>
                <a:lnTo>
                  <a:pt x="935996" y="1242730"/>
                </a:lnTo>
                <a:lnTo>
                  <a:pt x="951596" y="1246405"/>
                </a:lnTo>
                <a:lnTo>
                  <a:pt x="967196" y="1249981"/>
                </a:lnTo>
                <a:lnTo>
                  <a:pt x="982796" y="1253464"/>
                </a:lnTo>
                <a:lnTo>
                  <a:pt x="998396" y="1256856"/>
                </a:lnTo>
                <a:lnTo>
                  <a:pt x="1013996" y="1260161"/>
                </a:lnTo>
                <a:lnTo>
                  <a:pt x="1029596" y="1263383"/>
                </a:lnTo>
                <a:lnTo>
                  <a:pt x="1045196" y="1266525"/>
                </a:lnTo>
                <a:lnTo>
                  <a:pt x="1060796" y="1269589"/>
                </a:lnTo>
                <a:lnTo>
                  <a:pt x="1076396" y="1272578"/>
                </a:lnTo>
                <a:lnTo>
                  <a:pt x="1091996" y="1275496"/>
                </a:lnTo>
                <a:lnTo>
                  <a:pt x="1107596" y="1278344"/>
                </a:lnTo>
                <a:lnTo>
                  <a:pt x="1123196" y="1281126"/>
                </a:lnTo>
                <a:lnTo>
                  <a:pt x="1138796" y="1283842"/>
                </a:lnTo>
                <a:lnTo>
                  <a:pt x="1154396" y="1286497"/>
                </a:lnTo>
                <a:lnTo>
                  <a:pt x="1169996" y="1289091"/>
                </a:lnTo>
                <a:lnTo>
                  <a:pt x="1185595" y="1291627"/>
                </a:lnTo>
                <a:lnTo>
                  <a:pt x="1201195" y="1294107"/>
                </a:lnTo>
                <a:lnTo>
                  <a:pt x="1216795" y="1296532"/>
                </a:lnTo>
                <a:lnTo>
                  <a:pt x="1232395" y="1298905"/>
                </a:lnTo>
                <a:lnTo>
                  <a:pt x="1247995" y="1301227"/>
                </a:lnTo>
                <a:lnTo>
                  <a:pt x="1263595" y="1303499"/>
                </a:lnTo>
                <a:lnTo>
                  <a:pt x="1279195" y="1305724"/>
                </a:lnTo>
                <a:lnTo>
                  <a:pt x="1294795" y="1307903"/>
                </a:lnTo>
                <a:lnTo>
                  <a:pt x="1310395" y="1310036"/>
                </a:lnTo>
                <a:lnTo>
                  <a:pt x="1325995" y="1312126"/>
                </a:lnTo>
                <a:lnTo>
                  <a:pt x="1341595" y="1314174"/>
                </a:lnTo>
                <a:lnTo>
                  <a:pt x="1357195" y="1316181"/>
                </a:lnTo>
                <a:lnTo>
                  <a:pt x="1372795" y="1318149"/>
                </a:lnTo>
                <a:lnTo>
                  <a:pt x="1388395" y="1320078"/>
                </a:lnTo>
                <a:lnTo>
                  <a:pt x="1403995" y="1321969"/>
                </a:lnTo>
                <a:lnTo>
                  <a:pt x="1419595" y="1323824"/>
                </a:lnTo>
                <a:lnTo>
                  <a:pt x="1435195" y="1325644"/>
                </a:lnTo>
                <a:lnTo>
                  <a:pt x="1450794" y="1327430"/>
                </a:lnTo>
                <a:lnTo>
                  <a:pt x="1466394" y="1329182"/>
                </a:lnTo>
                <a:lnTo>
                  <a:pt x="1481994" y="1330902"/>
                </a:lnTo>
                <a:lnTo>
                  <a:pt x="1497594" y="1332590"/>
                </a:lnTo>
                <a:lnTo>
                  <a:pt x="1513194" y="1334248"/>
                </a:lnTo>
                <a:lnTo>
                  <a:pt x="1528794" y="1335876"/>
                </a:lnTo>
                <a:lnTo>
                  <a:pt x="1544394" y="1337474"/>
                </a:lnTo>
                <a:lnTo>
                  <a:pt x="1559994" y="1339045"/>
                </a:lnTo>
                <a:lnTo>
                  <a:pt x="1575594" y="1340588"/>
                </a:lnTo>
                <a:lnTo>
                  <a:pt x="1591194" y="1342104"/>
                </a:lnTo>
                <a:lnTo>
                  <a:pt x="1606794" y="1343594"/>
                </a:lnTo>
                <a:lnTo>
                  <a:pt x="1622394" y="1345059"/>
                </a:lnTo>
                <a:lnTo>
                  <a:pt x="1637994" y="1346499"/>
                </a:lnTo>
                <a:lnTo>
                  <a:pt x="1653594" y="1347915"/>
                </a:lnTo>
                <a:lnTo>
                  <a:pt x="1669194" y="1349307"/>
                </a:lnTo>
                <a:lnTo>
                  <a:pt x="1684794" y="1350676"/>
                </a:lnTo>
                <a:lnTo>
                  <a:pt x="1700394" y="1352023"/>
                </a:lnTo>
                <a:lnTo>
                  <a:pt x="1715993" y="1353348"/>
                </a:lnTo>
                <a:lnTo>
                  <a:pt x="1731593" y="1354651"/>
                </a:lnTo>
                <a:lnTo>
                  <a:pt x="1747193" y="1355934"/>
                </a:lnTo>
                <a:lnTo>
                  <a:pt x="1762793" y="1357197"/>
                </a:lnTo>
                <a:lnTo>
                  <a:pt x="1778393" y="1358439"/>
                </a:lnTo>
                <a:lnTo>
                  <a:pt x="1793993" y="1359662"/>
                </a:lnTo>
                <a:lnTo>
                  <a:pt x="1809593" y="1360866"/>
                </a:lnTo>
                <a:lnTo>
                  <a:pt x="1825193" y="1362052"/>
                </a:lnTo>
                <a:lnTo>
                  <a:pt x="1840793" y="1363220"/>
                </a:lnTo>
                <a:lnTo>
                  <a:pt x="1856393" y="1364370"/>
                </a:lnTo>
                <a:lnTo>
                  <a:pt x="1871993" y="1365502"/>
                </a:lnTo>
                <a:lnTo>
                  <a:pt x="1887593" y="1366618"/>
                </a:lnTo>
                <a:lnTo>
                  <a:pt x="1903193" y="1367717"/>
                </a:lnTo>
                <a:lnTo>
                  <a:pt x="1918793" y="1368801"/>
                </a:lnTo>
                <a:lnTo>
                  <a:pt x="1934393" y="1369868"/>
                </a:lnTo>
                <a:lnTo>
                  <a:pt x="1949993" y="1370920"/>
                </a:lnTo>
                <a:lnTo>
                  <a:pt x="1965592" y="1371957"/>
                </a:lnTo>
                <a:lnTo>
                  <a:pt x="1981192" y="1372979"/>
                </a:lnTo>
                <a:lnTo>
                  <a:pt x="1996792" y="1373986"/>
                </a:lnTo>
                <a:lnTo>
                  <a:pt x="2012392" y="1374979"/>
                </a:lnTo>
                <a:lnTo>
                  <a:pt x="2027992" y="1375959"/>
                </a:lnTo>
                <a:lnTo>
                  <a:pt x="2043592" y="1376925"/>
                </a:lnTo>
                <a:lnTo>
                  <a:pt x="2059192" y="1377877"/>
                </a:lnTo>
                <a:lnTo>
                  <a:pt x="2074792" y="1378817"/>
                </a:lnTo>
                <a:lnTo>
                  <a:pt x="2090392" y="1379744"/>
                </a:lnTo>
                <a:lnTo>
                  <a:pt x="2105992" y="1380658"/>
                </a:lnTo>
                <a:lnTo>
                  <a:pt x="2121592" y="1381560"/>
                </a:lnTo>
                <a:lnTo>
                  <a:pt x="2137192" y="1382450"/>
                </a:lnTo>
                <a:lnTo>
                  <a:pt x="2152792" y="1383328"/>
                </a:lnTo>
                <a:lnTo>
                  <a:pt x="2168392" y="1384195"/>
                </a:lnTo>
                <a:lnTo>
                  <a:pt x="2183992" y="1385050"/>
                </a:lnTo>
                <a:lnTo>
                  <a:pt x="2199592" y="1385894"/>
                </a:lnTo>
                <a:lnTo>
                  <a:pt x="2215192" y="1386727"/>
                </a:lnTo>
                <a:lnTo>
                  <a:pt x="2230791" y="1387550"/>
                </a:lnTo>
                <a:lnTo>
                  <a:pt x="2246391" y="1388362"/>
                </a:lnTo>
                <a:lnTo>
                  <a:pt x="2261991" y="1389164"/>
                </a:lnTo>
                <a:lnTo>
                  <a:pt x="2277591" y="1389956"/>
                </a:lnTo>
                <a:lnTo>
                  <a:pt x="2293191" y="1390738"/>
                </a:lnTo>
                <a:lnTo>
                  <a:pt x="2308791" y="1391510"/>
                </a:lnTo>
                <a:lnTo>
                  <a:pt x="2324391" y="1392273"/>
                </a:lnTo>
                <a:lnTo>
                  <a:pt x="2339991" y="1393026"/>
                </a:lnTo>
                <a:lnTo>
                  <a:pt x="2355591" y="1393771"/>
                </a:lnTo>
                <a:lnTo>
                  <a:pt x="2371191" y="1394506"/>
                </a:lnTo>
                <a:lnTo>
                  <a:pt x="2386791" y="1395232"/>
                </a:lnTo>
                <a:lnTo>
                  <a:pt x="2402391" y="1395950"/>
                </a:lnTo>
                <a:lnTo>
                  <a:pt x="2417991" y="1396659"/>
                </a:lnTo>
                <a:lnTo>
                  <a:pt x="2433591" y="1397360"/>
                </a:lnTo>
                <a:lnTo>
                  <a:pt x="2449191" y="1398052"/>
                </a:lnTo>
                <a:lnTo>
                  <a:pt x="2464791" y="1398737"/>
                </a:lnTo>
                <a:lnTo>
                  <a:pt x="2480390" y="1399413"/>
                </a:lnTo>
                <a:lnTo>
                  <a:pt x="2495990" y="1400082"/>
                </a:lnTo>
                <a:lnTo>
                  <a:pt x="2511590" y="1400743"/>
                </a:lnTo>
                <a:lnTo>
                  <a:pt x="2527190" y="1401396"/>
                </a:lnTo>
                <a:lnTo>
                  <a:pt x="2542790" y="1402042"/>
                </a:lnTo>
                <a:lnTo>
                  <a:pt x="2558390" y="1402681"/>
                </a:lnTo>
                <a:lnTo>
                  <a:pt x="2573990" y="1403312"/>
                </a:lnTo>
                <a:lnTo>
                  <a:pt x="2589590" y="1403937"/>
                </a:lnTo>
                <a:lnTo>
                  <a:pt x="2605190" y="1404554"/>
                </a:lnTo>
                <a:lnTo>
                  <a:pt x="2620790" y="1405165"/>
                </a:lnTo>
                <a:lnTo>
                  <a:pt x="2636390" y="1405769"/>
                </a:lnTo>
                <a:lnTo>
                  <a:pt x="2651990" y="1406367"/>
                </a:lnTo>
                <a:lnTo>
                  <a:pt x="2667590" y="1406957"/>
                </a:lnTo>
                <a:lnTo>
                  <a:pt x="2683190" y="1407542"/>
                </a:lnTo>
                <a:lnTo>
                  <a:pt x="2698790" y="1408120"/>
                </a:lnTo>
                <a:lnTo>
                  <a:pt x="2714390" y="1408692"/>
                </a:lnTo>
                <a:lnTo>
                  <a:pt x="2729990" y="1409258"/>
                </a:lnTo>
                <a:lnTo>
                  <a:pt x="2745589" y="1409818"/>
                </a:lnTo>
                <a:lnTo>
                  <a:pt x="2761189" y="1410373"/>
                </a:lnTo>
                <a:lnTo>
                  <a:pt x="2776789" y="1410921"/>
                </a:lnTo>
                <a:lnTo>
                  <a:pt x="2792389" y="1411464"/>
                </a:lnTo>
                <a:lnTo>
                  <a:pt x="2807989" y="1412001"/>
                </a:lnTo>
                <a:lnTo>
                  <a:pt x="2823589" y="1412532"/>
                </a:lnTo>
                <a:lnTo>
                  <a:pt x="2839189" y="1413058"/>
                </a:lnTo>
                <a:lnTo>
                  <a:pt x="2854789" y="1413579"/>
                </a:lnTo>
                <a:lnTo>
                  <a:pt x="2870389" y="1414094"/>
                </a:lnTo>
                <a:lnTo>
                  <a:pt x="2885989" y="1414604"/>
                </a:lnTo>
                <a:lnTo>
                  <a:pt x="2901589" y="1415109"/>
                </a:lnTo>
                <a:lnTo>
                  <a:pt x="2917189" y="1415610"/>
                </a:lnTo>
                <a:lnTo>
                  <a:pt x="2932789" y="1416105"/>
                </a:lnTo>
                <a:lnTo>
                  <a:pt x="2948389" y="1416595"/>
                </a:lnTo>
                <a:lnTo>
                  <a:pt x="2963989" y="1417080"/>
                </a:lnTo>
                <a:lnTo>
                  <a:pt x="2979589" y="1417561"/>
                </a:lnTo>
                <a:lnTo>
                  <a:pt x="2995189" y="1418037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4-E14 text 33" descr="sci-ppt:o033"/>
          <p:cNvSpPr txBox="1"/>
          <p:nvPr/>
        </p:nvSpPr>
        <p:spPr>
          <a:xfrm>
            <a:off x="9057132" y="1754505"/>
            <a:ext cx="1828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C₁/r diverges</a:t>
            </a:r>
          </a:p>
        </p:txBody>
      </p:sp>
      <p:sp>
        <p:nvSpPr>
          <p:cNvPr id="36" name="C4-E14 text 34" descr="sci-ppt:o034"/>
          <p:cNvSpPr txBox="1"/>
          <p:nvPr/>
        </p:nvSpPr>
        <p:spPr>
          <a:xfrm>
            <a:off x="9857232" y="3217545"/>
            <a:ext cx="1828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regular: C₁ = 0</a:t>
            </a:r>
          </a:p>
        </p:txBody>
      </p:sp>
      <p:cxnSp>
        <p:nvCxnSpPr>
          <p:cNvPr id="37" name="C4-E14 line 35" descr="sci-ppt:o035"/>
          <p:cNvCxnSpPr/>
          <p:nvPr/>
        </p:nvCxnSpPr>
        <p:spPr>
          <a:xfrm>
            <a:off x="8503920" y="3017520"/>
            <a:ext cx="3200400" cy="0"/>
          </a:xfrm>
          <a:prstGeom prst="line">
            <a:avLst/>
          </a:prstGeom>
          <a:ln w="31750">
            <a:solidFill>
              <a:srgbClr val="8EDBD4"/>
            </a:solidFill>
          </a:ln>
          <a:effectLst/>
        </p:spPr>
      </p:cxnSp>
      <p:sp>
        <p:nvSpPr>
          <p:cNvPr id="38" name="C4-E14 text 36" descr="sci-ppt:o036"/>
          <p:cNvSpPr txBox="1"/>
          <p:nvPr/>
        </p:nvSpPr>
        <p:spPr>
          <a:xfrm>
            <a:off x="548640" y="489204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 term C₁/r would make the slope infinite at the centre of a smooth plate; the physical solution cannot contain it.</a:t>
            </a:r>
          </a:p>
        </p:txBody>
      </p:sp>
      <p:sp>
        <p:nvSpPr>
          <p:cNvPr id="39" name="C4-E14 text 37" descr="sci-ppt:o037"/>
          <p:cNvSpPr txBox="1"/>
          <p:nvPr/>
        </p:nvSpPr>
        <p:spPr>
          <a:xfrm>
            <a:off x="548640" y="544068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C₂ is still free: it will be fixed with the clamp conditions in Eq. C4-E16.</a:t>
            </a:r>
          </a:p>
        </p:txBody>
      </p:sp>
      <p:sp>
        <p:nvSpPr>
          <p:cNvPr id="40" name="C4-E14 text 38" descr="sci-ppt:o03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Radial integration of Eq. C4-E14; the right plot is the C₁/r term for C₁ = 0.5 (schematic).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