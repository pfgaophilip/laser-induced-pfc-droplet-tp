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2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C3-E20 · Newtonian stress and slender axial momentum</a:t>
            </a:r>
          </a:p>
        </p:txBody>
      </p:sp>
      <p:cxnSp>
        <p:nvCxnSpPr>
          <p:cNvPr id="3" name="C3-E20 line 1" descr="sci-ppt:o001"/>
          <p:cNvCxnSpPr/>
          <p:nvPr/>
        </p:nvCxnSpPr>
        <p:spPr>
          <a:xfrm>
            <a:off x="914400" y="466344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20 line 2" descr="sci-ppt:o002"/>
          <p:cNvCxnSpPr/>
          <p:nvPr/>
        </p:nvCxnSpPr>
        <p:spPr>
          <a:xfrm>
            <a:off x="914400" y="1463040"/>
            <a:ext cx="0" cy="32004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20 line 3" descr="sci-ppt:o003"/>
          <p:cNvCxnSpPr/>
          <p:nvPr/>
        </p:nvCxnSpPr>
        <p:spPr>
          <a:xfrm>
            <a:off x="91440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20 line 4" descr="sci-ppt:o004"/>
          <p:cNvCxnSpPr/>
          <p:nvPr/>
        </p:nvCxnSpPr>
        <p:spPr>
          <a:xfrm>
            <a:off x="914400" y="146304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20 text 5" descr="sci-ppt:o005"/>
          <p:cNvSpPr txBox="1"/>
          <p:nvPr/>
        </p:nvSpPr>
        <p:spPr>
          <a:xfrm>
            <a:off x="45720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3-E20 line 6" descr="sci-ppt:o006"/>
          <p:cNvCxnSpPr/>
          <p:nvPr/>
        </p:nvCxnSpPr>
        <p:spPr>
          <a:xfrm>
            <a:off x="365760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20 line 7" descr="sci-ppt:o007"/>
          <p:cNvCxnSpPr/>
          <p:nvPr/>
        </p:nvCxnSpPr>
        <p:spPr>
          <a:xfrm>
            <a:off x="3657600" y="146304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20 text 8" descr="sci-ppt:o008"/>
          <p:cNvSpPr txBox="1"/>
          <p:nvPr/>
        </p:nvSpPr>
        <p:spPr>
          <a:xfrm>
            <a:off x="320040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3.14</a:t>
            </a:r>
          </a:p>
        </p:txBody>
      </p:sp>
      <p:cxnSp>
        <p:nvCxnSpPr>
          <p:cNvPr id="11" name="C3-E20 line 9" descr="sci-ppt:o009"/>
          <p:cNvCxnSpPr/>
          <p:nvPr/>
        </p:nvCxnSpPr>
        <p:spPr>
          <a:xfrm>
            <a:off x="6400800" y="46634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20 line 10" descr="sci-ppt:o010"/>
          <p:cNvCxnSpPr/>
          <p:nvPr/>
        </p:nvCxnSpPr>
        <p:spPr>
          <a:xfrm>
            <a:off x="6400800" y="146304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20 text 11" descr="sci-ppt:o011"/>
          <p:cNvSpPr txBox="1"/>
          <p:nvPr/>
        </p:nvSpPr>
        <p:spPr>
          <a:xfrm>
            <a:off x="5943600" y="47457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6.28</a:t>
            </a:r>
          </a:p>
        </p:txBody>
      </p:sp>
      <p:cxnSp>
        <p:nvCxnSpPr>
          <p:cNvPr id="14" name="C3-E20 line 12" descr="sci-ppt:o012"/>
          <p:cNvCxnSpPr/>
          <p:nvPr/>
        </p:nvCxnSpPr>
        <p:spPr>
          <a:xfrm>
            <a:off x="850392" y="41300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20 line 13" descr="sci-ppt:o013"/>
          <p:cNvCxnSpPr/>
          <p:nvPr/>
        </p:nvCxnSpPr>
        <p:spPr>
          <a:xfrm>
            <a:off x="914400" y="413003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20 text 14" descr="sci-ppt:o014"/>
          <p:cNvSpPr txBox="1"/>
          <p:nvPr/>
        </p:nvSpPr>
        <p:spPr>
          <a:xfrm>
            <a:off x="45720" y="404774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cxnSp>
        <p:nvCxnSpPr>
          <p:cNvPr id="17" name="C3-E20 line 15" descr="sci-ppt:o015"/>
          <p:cNvCxnSpPr/>
          <p:nvPr/>
        </p:nvCxnSpPr>
        <p:spPr>
          <a:xfrm>
            <a:off x="850392" y="30632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20 line 16" descr="sci-ppt:o016"/>
          <p:cNvCxnSpPr/>
          <p:nvPr/>
        </p:nvCxnSpPr>
        <p:spPr>
          <a:xfrm>
            <a:off x="914400" y="306323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20 text 17" descr="sci-ppt:o017"/>
          <p:cNvSpPr txBox="1"/>
          <p:nvPr/>
        </p:nvSpPr>
        <p:spPr>
          <a:xfrm>
            <a:off x="45720" y="29809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20" name="C3-E20 line 18" descr="sci-ppt:o018"/>
          <p:cNvCxnSpPr/>
          <p:nvPr/>
        </p:nvCxnSpPr>
        <p:spPr>
          <a:xfrm>
            <a:off x="850392" y="199643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20 line 19" descr="sci-ppt:o019"/>
          <p:cNvCxnSpPr/>
          <p:nvPr/>
        </p:nvCxnSpPr>
        <p:spPr>
          <a:xfrm>
            <a:off x="914400" y="199643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20 text 20" descr="sci-ppt:o020"/>
          <p:cNvSpPr txBox="1"/>
          <p:nvPr/>
        </p:nvSpPr>
        <p:spPr>
          <a:xfrm>
            <a:off x="45720" y="19141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1.2</a:t>
            </a:r>
          </a:p>
        </p:txBody>
      </p:sp>
      <p:sp>
        <p:nvSpPr>
          <p:cNvPr id="23" name="C3-E20 text 21" descr="sci-ppt:o021"/>
          <p:cNvSpPr txBox="1"/>
          <p:nvPr/>
        </p:nvSpPr>
        <p:spPr>
          <a:xfrm>
            <a:off x="914400" y="4946903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 z  (one wavelength)</a:t>
            </a:r>
          </a:p>
        </p:txBody>
      </p:sp>
      <p:sp>
        <p:nvSpPr>
          <p:cNvPr id="24" name="C3-E20 text 22" descr="sci-ppt:o022"/>
          <p:cNvSpPr txBox="1"/>
          <p:nvPr/>
        </p:nvSpPr>
        <p:spPr>
          <a:xfrm>
            <a:off x="365760" y="111556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κ a₀</a:t>
            </a:r>
          </a:p>
        </p:txBody>
      </p:sp>
      <p:sp>
        <p:nvSpPr>
          <p:cNvPr id="25" name="C3-E20 polygon 23" descr="sci-ppt:o023"/>
          <p:cNvSpPr/>
          <p:nvPr/>
        </p:nvSpPr>
        <p:spPr>
          <a:xfrm>
            <a:off x="914400" y="2649545"/>
            <a:ext cx="5486400" cy="671555"/>
          </a:xfrm>
          <a:custGeom>
            <a:avLst/>
            <a:gdLst/>
            <a:ahLst/>
            <a:cxnLst/>
            <a:rect l="l" t="t" r="r" b="b"/>
            <a:pathLst>
              <a:path w="5486400" h="671555">
                <a:moveTo>
                  <a:pt x="0" y="671555"/>
                </a:moveTo>
                <a:lnTo>
                  <a:pt x="36698" y="671417"/>
                </a:lnTo>
                <a:lnTo>
                  <a:pt x="73396" y="671002"/>
                </a:lnTo>
                <a:lnTo>
                  <a:pt x="110094" y="670309"/>
                </a:lnTo>
                <a:lnTo>
                  <a:pt x="146793" y="669335"/>
                </a:lnTo>
                <a:lnTo>
                  <a:pt x="183491" y="668077"/>
                </a:lnTo>
                <a:lnTo>
                  <a:pt x="220189" y="666531"/>
                </a:lnTo>
                <a:lnTo>
                  <a:pt x="256888" y="664691"/>
                </a:lnTo>
                <a:lnTo>
                  <a:pt x="293586" y="662553"/>
                </a:lnTo>
                <a:lnTo>
                  <a:pt x="330284" y="660108"/>
                </a:lnTo>
                <a:lnTo>
                  <a:pt x="366983" y="657351"/>
                </a:lnTo>
                <a:lnTo>
                  <a:pt x="403681" y="654272"/>
                </a:lnTo>
                <a:lnTo>
                  <a:pt x="440379" y="650864"/>
                </a:lnTo>
                <a:lnTo>
                  <a:pt x="477078" y="647118"/>
                </a:lnTo>
                <a:lnTo>
                  <a:pt x="513776" y="643025"/>
                </a:lnTo>
                <a:lnTo>
                  <a:pt x="550474" y="638576"/>
                </a:lnTo>
                <a:lnTo>
                  <a:pt x="587173" y="633762"/>
                </a:lnTo>
                <a:lnTo>
                  <a:pt x="623871" y="628572"/>
                </a:lnTo>
                <a:lnTo>
                  <a:pt x="660569" y="622999"/>
                </a:lnTo>
                <a:lnTo>
                  <a:pt x="697268" y="617034"/>
                </a:lnTo>
                <a:lnTo>
                  <a:pt x="733966" y="610668"/>
                </a:lnTo>
                <a:lnTo>
                  <a:pt x="770664" y="603893"/>
                </a:lnTo>
                <a:lnTo>
                  <a:pt x="807363" y="596702"/>
                </a:lnTo>
                <a:lnTo>
                  <a:pt x="844061" y="589089"/>
                </a:lnTo>
                <a:lnTo>
                  <a:pt x="880759" y="581048"/>
                </a:lnTo>
                <a:lnTo>
                  <a:pt x="917458" y="572576"/>
                </a:lnTo>
                <a:lnTo>
                  <a:pt x="954156" y="563668"/>
                </a:lnTo>
                <a:lnTo>
                  <a:pt x="990854" y="554323"/>
                </a:lnTo>
                <a:lnTo>
                  <a:pt x="1027553" y="544541"/>
                </a:lnTo>
                <a:lnTo>
                  <a:pt x="1064251" y="534321"/>
                </a:lnTo>
                <a:lnTo>
                  <a:pt x="1100949" y="523668"/>
                </a:lnTo>
                <a:lnTo>
                  <a:pt x="1137648" y="512585"/>
                </a:lnTo>
                <a:lnTo>
                  <a:pt x="1174346" y="501079"/>
                </a:lnTo>
                <a:lnTo>
                  <a:pt x="1211044" y="489158"/>
                </a:lnTo>
                <a:lnTo>
                  <a:pt x="1247743" y="476831"/>
                </a:lnTo>
                <a:lnTo>
                  <a:pt x="1284441" y="464111"/>
                </a:lnTo>
                <a:lnTo>
                  <a:pt x="1321139" y="451012"/>
                </a:lnTo>
                <a:lnTo>
                  <a:pt x="1357838" y="437551"/>
                </a:lnTo>
                <a:lnTo>
                  <a:pt x="1394536" y="423747"/>
                </a:lnTo>
                <a:lnTo>
                  <a:pt x="1431234" y="409620"/>
                </a:lnTo>
                <a:lnTo>
                  <a:pt x="1467933" y="395193"/>
                </a:lnTo>
                <a:lnTo>
                  <a:pt x="1504631" y="380493"/>
                </a:lnTo>
                <a:lnTo>
                  <a:pt x="1541329" y="365546"/>
                </a:lnTo>
                <a:lnTo>
                  <a:pt x="1578028" y="350384"/>
                </a:lnTo>
                <a:lnTo>
                  <a:pt x="1614726" y="335037"/>
                </a:lnTo>
                <a:lnTo>
                  <a:pt x="1651424" y="319541"/>
                </a:lnTo>
                <a:lnTo>
                  <a:pt x="1688123" y="303932"/>
                </a:lnTo>
                <a:lnTo>
                  <a:pt x="1724821" y="288249"/>
                </a:lnTo>
                <a:lnTo>
                  <a:pt x="1761519" y="272530"/>
                </a:lnTo>
                <a:lnTo>
                  <a:pt x="1798218" y="256820"/>
                </a:lnTo>
                <a:lnTo>
                  <a:pt x="1834916" y="241160"/>
                </a:lnTo>
                <a:lnTo>
                  <a:pt x="1871614" y="225597"/>
                </a:lnTo>
                <a:lnTo>
                  <a:pt x="1908313" y="210176"/>
                </a:lnTo>
                <a:lnTo>
                  <a:pt x="1945011" y="194944"/>
                </a:lnTo>
                <a:lnTo>
                  <a:pt x="1981709" y="179951"/>
                </a:lnTo>
                <a:lnTo>
                  <a:pt x="2018408" y="165244"/>
                </a:lnTo>
                <a:lnTo>
                  <a:pt x="2055106" y="150872"/>
                </a:lnTo>
                <a:lnTo>
                  <a:pt x="2091804" y="136885"/>
                </a:lnTo>
                <a:lnTo>
                  <a:pt x="2128503" y="123332"/>
                </a:lnTo>
                <a:lnTo>
                  <a:pt x="2165201" y="110261"/>
                </a:lnTo>
                <a:lnTo>
                  <a:pt x="2201899" y="97719"/>
                </a:lnTo>
                <a:lnTo>
                  <a:pt x="2238597" y="85754"/>
                </a:lnTo>
                <a:lnTo>
                  <a:pt x="2275296" y="74411"/>
                </a:lnTo>
                <a:lnTo>
                  <a:pt x="2311994" y="63734"/>
                </a:lnTo>
                <a:lnTo>
                  <a:pt x="2348692" y="53764"/>
                </a:lnTo>
                <a:lnTo>
                  <a:pt x="2385391" y="44540"/>
                </a:lnTo>
                <a:lnTo>
                  <a:pt x="2422089" y="36101"/>
                </a:lnTo>
                <a:lnTo>
                  <a:pt x="2458787" y="28480"/>
                </a:lnTo>
                <a:lnTo>
                  <a:pt x="2495486" y="21708"/>
                </a:lnTo>
                <a:lnTo>
                  <a:pt x="2532184" y="15815"/>
                </a:lnTo>
                <a:lnTo>
                  <a:pt x="2568882" y="10823"/>
                </a:lnTo>
                <a:lnTo>
                  <a:pt x="2605581" y="6755"/>
                </a:lnTo>
                <a:lnTo>
                  <a:pt x="2642279" y="3627"/>
                </a:lnTo>
                <a:lnTo>
                  <a:pt x="2678977" y="1453"/>
                </a:lnTo>
                <a:lnTo>
                  <a:pt x="2715676" y="243"/>
                </a:lnTo>
                <a:lnTo>
                  <a:pt x="2752374" y="0"/>
                </a:lnTo>
                <a:lnTo>
                  <a:pt x="2789072" y="727"/>
                </a:lnTo>
                <a:lnTo>
                  <a:pt x="2825771" y="2420"/>
                </a:lnTo>
                <a:lnTo>
                  <a:pt x="2862469" y="5073"/>
                </a:lnTo>
                <a:lnTo>
                  <a:pt x="2899167" y="8672"/>
                </a:lnTo>
                <a:lnTo>
                  <a:pt x="2935866" y="13205"/>
                </a:lnTo>
                <a:lnTo>
                  <a:pt x="2972564" y="18650"/>
                </a:lnTo>
                <a:lnTo>
                  <a:pt x="3009262" y="24986"/>
                </a:lnTo>
                <a:lnTo>
                  <a:pt x="3045961" y="32186"/>
                </a:lnTo>
                <a:lnTo>
                  <a:pt x="3082659" y="40220"/>
                </a:lnTo>
                <a:lnTo>
                  <a:pt x="3119357" y="49056"/>
                </a:lnTo>
                <a:lnTo>
                  <a:pt x="3156056" y="58658"/>
                </a:lnTo>
                <a:lnTo>
                  <a:pt x="3192754" y="68987"/>
                </a:lnTo>
                <a:lnTo>
                  <a:pt x="3229452" y="80002"/>
                </a:lnTo>
                <a:lnTo>
                  <a:pt x="3266151" y="91662"/>
                </a:lnTo>
                <a:lnTo>
                  <a:pt x="3302849" y="103921"/>
                </a:lnTo>
                <a:lnTo>
                  <a:pt x="3339547" y="116733"/>
                </a:lnTo>
                <a:lnTo>
                  <a:pt x="3376246" y="130051"/>
                </a:lnTo>
                <a:lnTo>
                  <a:pt x="3412944" y="143828"/>
                </a:lnTo>
                <a:lnTo>
                  <a:pt x="3449642" y="158013"/>
                </a:lnTo>
                <a:lnTo>
                  <a:pt x="3486341" y="172559"/>
                </a:lnTo>
                <a:lnTo>
                  <a:pt x="3523039" y="187415"/>
                </a:lnTo>
                <a:lnTo>
                  <a:pt x="3559737" y="202533"/>
                </a:lnTo>
                <a:lnTo>
                  <a:pt x="3596436" y="217866"/>
                </a:lnTo>
                <a:lnTo>
                  <a:pt x="3633134" y="233364"/>
                </a:lnTo>
                <a:lnTo>
                  <a:pt x="3669832" y="248981"/>
                </a:lnTo>
                <a:lnTo>
                  <a:pt x="3706531" y="264671"/>
                </a:lnTo>
                <a:lnTo>
                  <a:pt x="3743229" y="280391"/>
                </a:lnTo>
                <a:lnTo>
                  <a:pt x="3779927" y="296097"/>
                </a:lnTo>
                <a:lnTo>
                  <a:pt x="3816626" y="311749"/>
                </a:lnTo>
                <a:lnTo>
                  <a:pt x="3853324" y="327306"/>
                </a:lnTo>
                <a:lnTo>
                  <a:pt x="3890022" y="342731"/>
                </a:lnTo>
                <a:lnTo>
                  <a:pt x="3926721" y="357990"/>
                </a:lnTo>
                <a:lnTo>
                  <a:pt x="3963419" y="373048"/>
                </a:lnTo>
                <a:lnTo>
                  <a:pt x="4000117" y="387876"/>
                </a:lnTo>
                <a:lnTo>
                  <a:pt x="4036816" y="402442"/>
                </a:lnTo>
                <a:lnTo>
                  <a:pt x="4073514" y="416722"/>
                </a:lnTo>
                <a:lnTo>
                  <a:pt x="4110212" y="430691"/>
                </a:lnTo>
                <a:lnTo>
                  <a:pt x="4146911" y="444326"/>
                </a:lnTo>
                <a:lnTo>
                  <a:pt x="4183609" y="457608"/>
                </a:lnTo>
                <a:lnTo>
                  <a:pt x="4220307" y="470519"/>
                </a:lnTo>
                <a:lnTo>
                  <a:pt x="4257006" y="483044"/>
                </a:lnTo>
                <a:lnTo>
                  <a:pt x="4293704" y="495170"/>
                </a:lnTo>
                <a:lnTo>
                  <a:pt x="4330402" y="506885"/>
                </a:lnTo>
                <a:lnTo>
                  <a:pt x="4367101" y="518180"/>
                </a:lnTo>
                <a:lnTo>
                  <a:pt x="4403799" y="529049"/>
                </a:lnTo>
                <a:lnTo>
                  <a:pt x="4440497" y="539485"/>
                </a:lnTo>
                <a:lnTo>
                  <a:pt x="4477195" y="549486"/>
                </a:lnTo>
                <a:lnTo>
                  <a:pt x="4513894" y="559050"/>
                </a:lnTo>
                <a:lnTo>
                  <a:pt x="4550592" y="568176"/>
                </a:lnTo>
                <a:lnTo>
                  <a:pt x="4587290" y="576866"/>
                </a:lnTo>
                <a:lnTo>
                  <a:pt x="4623989" y="585122"/>
                </a:lnTo>
                <a:lnTo>
                  <a:pt x="4660687" y="592949"/>
                </a:lnTo>
                <a:lnTo>
                  <a:pt x="4697385" y="600350"/>
                </a:lnTo>
                <a:lnTo>
                  <a:pt x="4734084" y="607332"/>
                </a:lnTo>
                <a:lnTo>
                  <a:pt x="4770782" y="613901"/>
                </a:lnTo>
                <a:lnTo>
                  <a:pt x="4807480" y="620066"/>
                </a:lnTo>
                <a:lnTo>
                  <a:pt x="4844179" y="625834"/>
                </a:lnTo>
                <a:lnTo>
                  <a:pt x="4880877" y="631214"/>
                </a:lnTo>
                <a:lnTo>
                  <a:pt x="4917575" y="636215"/>
                </a:lnTo>
                <a:lnTo>
                  <a:pt x="4954274" y="640846"/>
                </a:lnTo>
                <a:lnTo>
                  <a:pt x="4990972" y="645116"/>
                </a:lnTo>
                <a:lnTo>
                  <a:pt x="5027670" y="649034"/>
                </a:lnTo>
                <a:lnTo>
                  <a:pt x="5064369" y="652610"/>
                </a:lnTo>
                <a:lnTo>
                  <a:pt x="5101067" y="655852"/>
                </a:lnTo>
                <a:lnTo>
                  <a:pt x="5137765" y="658769"/>
                </a:lnTo>
                <a:lnTo>
                  <a:pt x="5174464" y="661369"/>
                </a:lnTo>
                <a:lnTo>
                  <a:pt x="5211162" y="663660"/>
                </a:lnTo>
                <a:lnTo>
                  <a:pt x="5247860" y="665648"/>
                </a:lnTo>
                <a:lnTo>
                  <a:pt x="5284559" y="667340"/>
                </a:lnTo>
                <a:lnTo>
                  <a:pt x="5321257" y="668742"/>
                </a:lnTo>
                <a:lnTo>
                  <a:pt x="5357955" y="669857"/>
                </a:lnTo>
                <a:lnTo>
                  <a:pt x="5394654" y="670690"/>
                </a:lnTo>
                <a:lnTo>
                  <a:pt x="5431352" y="671244"/>
                </a:lnTo>
                <a:lnTo>
                  <a:pt x="5468050" y="671521"/>
                </a:lnTo>
                <a:lnTo>
                  <a:pt x="5486400" y="671555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3-E20 polygon 24" descr="sci-ppt:o024"/>
          <p:cNvSpPr/>
          <p:nvPr/>
        </p:nvSpPr>
        <p:spPr>
          <a:xfrm>
            <a:off x="914400" y="2335921"/>
            <a:ext cx="5486400" cy="1298818"/>
          </a:xfrm>
          <a:custGeom>
            <a:avLst/>
            <a:gdLst/>
            <a:ahLst/>
            <a:cxnLst/>
            <a:rect l="l" t="t" r="r" b="b"/>
            <a:pathLst>
              <a:path w="5486400" h="1298818">
                <a:moveTo>
                  <a:pt x="0" y="1298818"/>
                </a:moveTo>
                <a:lnTo>
                  <a:pt x="36698" y="1298368"/>
                </a:lnTo>
                <a:lnTo>
                  <a:pt x="73396" y="1297016"/>
                </a:lnTo>
                <a:lnTo>
                  <a:pt x="110094" y="1294765"/>
                </a:lnTo>
                <a:lnTo>
                  <a:pt x="146793" y="1291614"/>
                </a:lnTo>
                <a:lnTo>
                  <a:pt x="183491" y="1287567"/>
                </a:lnTo>
                <a:lnTo>
                  <a:pt x="220189" y="1282626"/>
                </a:lnTo>
                <a:lnTo>
                  <a:pt x="256888" y="1276794"/>
                </a:lnTo>
                <a:lnTo>
                  <a:pt x="293586" y="1270075"/>
                </a:lnTo>
                <a:lnTo>
                  <a:pt x="330284" y="1262473"/>
                </a:lnTo>
                <a:lnTo>
                  <a:pt x="366983" y="1253994"/>
                </a:lnTo>
                <a:lnTo>
                  <a:pt x="403681" y="1244644"/>
                </a:lnTo>
                <a:lnTo>
                  <a:pt x="440379" y="1234429"/>
                </a:lnTo>
                <a:lnTo>
                  <a:pt x="477078" y="1223356"/>
                </a:lnTo>
                <a:lnTo>
                  <a:pt x="513776" y="1211434"/>
                </a:lnTo>
                <a:lnTo>
                  <a:pt x="550474" y="1198672"/>
                </a:lnTo>
                <a:lnTo>
                  <a:pt x="587173" y="1185080"/>
                </a:lnTo>
                <a:lnTo>
                  <a:pt x="623871" y="1170668"/>
                </a:lnTo>
                <a:lnTo>
                  <a:pt x="660569" y="1155448"/>
                </a:lnTo>
                <a:lnTo>
                  <a:pt x="697268" y="1139433"/>
                </a:lnTo>
                <a:lnTo>
                  <a:pt x="733966" y="1122638"/>
                </a:lnTo>
                <a:lnTo>
                  <a:pt x="770664" y="1105076"/>
                </a:lnTo>
                <a:lnTo>
                  <a:pt x="807363" y="1086765"/>
                </a:lnTo>
                <a:lnTo>
                  <a:pt x="844061" y="1067721"/>
                </a:lnTo>
                <a:lnTo>
                  <a:pt x="880759" y="1047964"/>
                </a:lnTo>
                <a:lnTo>
                  <a:pt x="917458" y="1027513"/>
                </a:lnTo>
                <a:lnTo>
                  <a:pt x="954156" y="1006390"/>
                </a:lnTo>
                <a:lnTo>
                  <a:pt x="990854" y="984618"/>
                </a:lnTo>
                <a:lnTo>
                  <a:pt x="1027553" y="962222"/>
                </a:lnTo>
                <a:lnTo>
                  <a:pt x="1064251" y="939226"/>
                </a:lnTo>
                <a:lnTo>
                  <a:pt x="1100949" y="915660"/>
                </a:lnTo>
                <a:lnTo>
                  <a:pt x="1137648" y="891552"/>
                </a:lnTo>
                <a:lnTo>
                  <a:pt x="1174346" y="866934"/>
                </a:lnTo>
                <a:lnTo>
                  <a:pt x="1211044" y="841837"/>
                </a:lnTo>
                <a:lnTo>
                  <a:pt x="1247743" y="816297"/>
                </a:lnTo>
                <a:lnTo>
                  <a:pt x="1284441" y="790349"/>
                </a:lnTo>
                <a:lnTo>
                  <a:pt x="1321139" y="764033"/>
                </a:lnTo>
                <a:lnTo>
                  <a:pt x="1357838" y="737387"/>
                </a:lnTo>
                <a:lnTo>
                  <a:pt x="1394536" y="710454"/>
                </a:lnTo>
                <a:lnTo>
                  <a:pt x="1431234" y="683277"/>
                </a:lnTo>
                <a:lnTo>
                  <a:pt x="1467933" y="655902"/>
                </a:lnTo>
                <a:lnTo>
                  <a:pt x="1504631" y="628376"/>
                </a:lnTo>
                <a:lnTo>
                  <a:pt x="1541329" y="600748"/>
                </a:lnTo>
                <a:lnTo>
                  <a:pt x="1578028" y="573069"/>
                </a:lnTo>
                <a:lnTo>
                  <a:pt x="1614726" y="545391"/>
                </a:lnTo>
                <a:lnTo>
                  <a:pt x="1651424" y="517768"/>
                </a:lnTo>
                <a:lnTo>
                  <a:pt x="1688123" y="490255"/>
                </a:lnTo>
                <a:lnTo>
                  <a:pt x="1724821" y="462910"/>
                </a:lnTo>
                <a:lnTo>
                  <a:pt x="1761519" y="435790"/>
                </a:lnTo>
                <a:lnTo>
                  <a:pt x="1798218" y="408953"/>
                </a:lnTo>
                <a:lnTo>
                  <a:pt x="1834916" y="382462"/>
                </a:lnTo>
                <a:lnTo>
                  <a:pt x="1871614" y="356375"/>
                </a:lnTo>
                <a:lnTo>
                  <a:pt x="1908313" y="330754"/>
                </a:lnTo>
                <a:lnTo>
                  <a:pt x="1945011" y="305661"/>
                </a:lnTo>
                <a:lnTo>
                  <a:pt x="1981709" y="281159"/>
                </a:lnTo>
                <a:lnTo>
                  <a:pt x="2018408" y="257307"/>
                </a:lnTo>
                <a:lnTo>
                  <a:pt x="2055106" y="234169"/>
                </a:lnTo>
                <a:lnTo>
                  <a:pt x="2091804" y="211804"/>
                </a:lnTo>
                <a:lnTo>
                  <a:pt x="2128503" y="190273"/>
                </a:lnTo>
                <a:lnTo>
                  <a:pt x="2165201" y="169635"/>
                </a:lnTo>
                <a:lnTo>
                  <a:pt x="2201899" y="149946"/>
                </a:lnTo>
                <a:lnTo>
                  <a:pt x="2238597" y="131263"/>
                </a:lnTo>
                <a:lnTo>
                  <a:pt x="2275296" y="113638"/>
                </a:lnTo>
                <a:lnTo>
                  <a:pt x="2311994" y="97124"/>
                </a:lnTo>
                <a:lnTo>
                  <a:pt x="2348692" y="81770"/>
                </a:lnTo>
                <a:lnTo>
                  <a:pt x="2385391" y="67620"/>
                </a:lnTo>
                <a:lnTo>
                  <a:pt x="2422089" y="54718"/>
                </a:lnTo>
                <a:lnTo>
                  <a:pt x="2458787" y="43104"/>
                </a:lnTo>
                <a:lnTo>
                  <a:pt x="2495486" y="32813"/>
                </a:lnTo>
                <a:lnTo>
                  <a:pt x="2532184" y="23878"/>
                </a:lnTo>
                <a:lnTo>
                  <a:pt x="2568882" y="16326"/>
                </a:lnTo>
                <a:lnTo>
                  <a:pt x="2605581" y="10182"/>
                </a:lnTo>
                <a:lnTo>
                  <a:pt x="2642279" y="5464"/>
                </a:lnTo>
                <a:lnTo>
                  <a:pt x="2678977" y="2189"/>
                </a:lnTo>
                <a:lnTo>
                  <a:pt x="2715676" y="365"/>
                </a:lnTo>
                <a:lnTo>
                  <a:pt x="2752374" y="0"/>
                </a:lnTo>
                <a:lnTo>
                  <a:pt x="2789072" y="1095"/>
                </a:lnTo>
                <a:lnTo>
                  <a:pt x="2825771" y="3645"/>
                </a:lnTo>
                <a:lnTo>
                  <a:pt x="2862469" y="7644"/>
                </a:lnTo>
                <a:lnTo>
                  <a:pt x="2899167" y="13077"/>
                </a:lnTo>
                <a:lnTo>
                  <a:pt x="2935866" y="19928"/>
                </a:lnTo>
                <a:lnTo>
                  <a:pt x="2972564" y="28174"/>
                </a:lnTo>
                <a:lnTo>
                  <a:pt x="3009262" y="37791"/>
                </a:lnTo>
                <a:lnTo>
                  <a:pt x="3045961" y="48748"/>
                </a:lnTo>
                <a:lnTo>
                  <a:pt x="3082659" y="61011"/>
                </a:lnTo>
                <a:lnTo>
                  <a:pt x="3119357" y="74541"/>
                </a:lnTo>
                <a:lnTo>
                  <a:pt x="3156056" y="89299"/>
                </a:lnTo>
                <a:lnTo>
                  <a:pt x="3192754" y="105239"/>
                </a:lnTo>
                <a:lnTo>
                  <a:pt x="3229452" y="122315"/>
                </a:lnTo>
                <a:lnTo>
                  <a:pt x="3266151" y="140475"/>
                </a:lnTo>
                <a:lnTo>
                  <a:pt x="3302849" y="159668"/>
                </a:lnTo>
                <a:lnTo>
                  <a:pt x="3339547" y="179839"/>
                </a:lnTo>
                <a:lnTo>
                  <a:pt x="3376246" y="200931"/>
                </a:lnTo>
                <a:lnTo>
                  <a:pt x="3412944" y="222886"/>
                </a:lnTo>
                <a:lnTo>
                  <a:pt x="3449642" y="245645"/>
                </a:lnTo>
                <a:lnTo>
                  <a:pt x="3486341" y="269148"/>
                </a:lnTo>
                <a:lnTo>
                  <a:pt x="3523039" y="293332"/>
                </a:lnTo>
                <a:lnTo>
                  <a:pt x="3559737" y="318138"/>
                </a:lnTo>
                <a:lnTo>
                  <a:pt x="3596436" y="343502"/>
                </a:lnTo>
                <a:lnTo>
                  <a:pt x="3633134" y="369364"/>
                </a:lnTo>
                <a:lnTo>
                  <a:pt x="3669832" y="395661"/>
                </a:lnTo>
                <a:lnTo>
                  <a:pt x="3706531" y="422332"/>
                </a:lnTo>
                <a:lnTo>
                  <a:pt x="3743229" y="449318"/>
                </a:lnTo>
                <a:lnTo>
                  <a:pt x="3779927" y="476558"/>
                </a:lnTo>
                <a:lnTo>
                  <a:pt x="3816626" y="503994"/>
                </a:lnTo>
                <a:lnTo>
                  <a:pt x="3853324" y="531569"/>
                </a:lnTo>
                <a:lnTo>
                  <a:pt x="3890022" y="559227"/>
                </a:lnTo>
                <a:lnTo>
                  <a:pt x="3926721" y="586912"/>
                </a:lnTo>
                <a:lnTo>
                  <a:pt x="3963419" y="614572"/>
                </a:lnTo>
                <a:lnTo>
                  <a:pt x="4000117" y="642155"/>
                </a:lnTo>
                <a:lnTo>
                  <a:pt x="4036816" y="669612"/>
                </a:lnTo>
                <a:lnTo>
                  <a:pt x="4073514" y="696893"/>
                </a:lnTo>
                <a:lnTo>
                  <a:pt x="4110212" y="723954"/>
                </a:lnTo>
                <a:lnTo>
                  <a:pt x="4146911" y="750748"/>
                </a:lnTo>
                <a:lnTo>
                  <a:pt x="4183609" y="777235"/>
                </a:lnTo>
                <a:lnTo>
                  <a:pt x="4220307" y="803372"/>
                </a:lnTo>
                <a:lnTo>
                  <a:pt x="4257006" y="829120"/>
                </a:lnTo>
                <a:lnTo>
                  <a:pt x="4293704" y="854443"/>
                </a:lnTo>
                <a:lnTo>
                  <a:pt x="4330402" y="879305"/>
                </a:lnTo>
                <a:lnTo>
                  <a:pt x="4367101" y="903672"/>
                </a:lnTo>
                <a:lnTo>
                  <a:pt x="4403799" y="927513"/>
                </a:lnTo>
                <a:lnTo>
                  <a:pt x="4440497" y="950797"/>
                </a:lnTo>
                <a:lnTo>
                  <a:pt x="4477195" y="973496"/>
                </a:lnTo>
                <a:lnTo>
                  <a:pt x="4513894" y="995584"/>
                </a:lnTo>
                <a:lnTo>
                  <a:pt x="4550592" y="1017034"/>
                </a:lnTo>
                <a:lnTo>
                  <a:pt x="4587290" y="1037824"/>
                </a:lnTo>
                <a:lnTo>
                  <a:pt x="4623989" y="1057930"/>
                </a:lnTo>
                <a:lnTo>
                  <a:pt x="4660687" y="1077333"/>
                </a:lnTo>
                <a:lnTo>
                  <a:pt x="4697385" y="1096013"/>
                </a:lnTo>
                <a:lnTo>
                  <a:pt x="4734084" y="1113952"/>
                </a:lnTo>
                <a:lnTo>
                  <a:pt x="4770782" y="1131132"/>
                </a:lnTo>
                <a:lnTo>
                  <a:pt x="4807480" y="1147539"/>
                </a:lnTo>
                <a:lnTo>
                  <a:pt x="4844179" y="1163158"/>
                </a:lnTo>
                <a:lnTo>
                  <a:pt x="4880877" y="1177976"/>
                </a:lnTo>
                <a:lnTo>
                  <a:pt x="4917575" y="1191979"/>
                </a:lnTo>
                <a:lnTo>
                  <a:pt x="4954274" y="1205158"/>
                </a:lnTo>
                <a:lnTo>
                  <a:pt x="4990972" y="1217501"/>
                </a:lnTo>
                <a:lnTo>
                  <a:pt x="5027670" y="1228999"/>
                </a:lnTo>
                <a:lnTo>
                  <a:pt x="5064369" y="1239644"/>
                </a:lnTo>
                <a:lnTo>
                  <a:pt x="5101067" y="1249428"/>
                </a:lnTo>
                <a:lnTo>
                  <a:pt x="5137765" y="1258343"/>
                </a:lnTo>
                <a:lnTo>
                  <a:pt x="5174464" y="1266384"/>
                </a:lnTo>
                <a:lnTo>
                  <a:pt x="5211162" y="1273545"/>
                </a:lnTo>
                <a:lnTo>
                  <a:pt x="5247860" y="1279821"/>
                </a:lnTo>
                <a:lnTo>
                  <a:pt x="5284559" y="1285208"/>
                </a:lnTo>
                <a:lnTo>
                  <a:pt x="5321257" y="1289702"/>
                </a:lnTo>
                <a:lnTo>
                  <a:pt x="5357955" y="1293302"/>
                </a:lnTo>
                <a:lnTo>
                  <a:pt x="5394654" y="1296003"/>
                </a:lnTo>
                <a:lnTo>
                  <a:pt x="5431352" y="1297805"/>
                </a:lnTo>
                <a:lnTo>
                  <a:pt x="5468050" y="1298706"/>
                </a:lnTo>
                <a:lnTo>
                  <a:pt x="5486400" y="1298818"/>
                </a:lnTo>
              </a:path>
            </a:pathLst>
          </a:custGeom>
          <a:noFill/>
          <a:ln w="22860">
            <a:solidFill>
              <a:srgbClr val="B4C7D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3-E20 polygon 25" descr="sci-ppt:o025"/>
          <p:cNvSpPr/>
          <p:nvPr/>
        </p:nvSpPr>
        <p:spPr>
          <a:xfrm>
            <a:off x="914400" y="3063239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 h="0">
                <a:moveTo>
                  <a:pt x="0" y="0"/>
                </a:moveTo>
                <a:lnTo>
                  <a:pt x="36698" y="0"/>
                </a:lnTo>
                <a:lnTo>
                  <a:pt x="73396" y="0"/>
                </a:lnTo>
                <a:lnTo>
                  <a:pt x="110094" y="0"/>
                </a:lnTo>
                <a:lnTo>
                  <a:pt x="146793" y="0"/>
                </a:lnTo>
                <a:lnTo>
                  <a:pt x="183491" y="0"/>
                </a:lnTo>
                <a:lnTo>
                  <a:pt x="220189" y="0"/>
                </a:lnTo>
                <a:lnTo>
                  <a:pt x="256888" y="0"/>
                </a:lnTo>
                <a:lnTo>
                  <a:pt x="293586" y="0"/>
                </a:lnTo>
                <a:lnTo>
                  <a:pt x="330284" y="0"/>
                </a:lnTo>
                <a:lnTo>
                  <a:pt x="366983" y="0"/>
                </a:lnTo>
                <a:lnTo>
                  <a:pt x="403681" y="0"/>
                </a:lnTo>
                <a:lnTo>
                  <a:pt x="440379" y="0"/>
                </a:lnTo>
                <a:lnTo>
                  <a:pt x="477078" y="0"/>
                </a:lnTo>
                <a:lnTo>
                  <a:pt x="513776" y="0"/>
                </a:lnTo>
                <a:lnTo>
                  <a:pt x="550474" y="0"/>
                </a:lnTo>
                <a:lnTo>
                  <a:pt x="587173" y="0"/>
                </a:lnTo>
                <a:lnTo>
                  <a:pt x="623871" y="0"/>
                </a:lnTo>
                <a:lnTo>
                  <a:pt x="660569" y="0"/>
                </a:lnTo>
                <a:lnTo>
                  <a:pt x="697268" y="0"/>
                </a:lnTo>
                <a:lnTo>
                  <a:pt x="733966" y="0"/>
                </a:lnTo>
                <a:lnTo>
                  <a:pt x="770664" y="0"/>
                </a:lnTo>
                <a:lnTo>
                  <a:pt x="807363" y="0"/>
                </a:lnTo>
                <a:lnTo>
                  <a:pt x="844061" y="0"/>
                </a:lnTo>
                <a:lnTo>
                  <a:pt x="880759" y="0"/>
                </a:lnTo>
                <a:lnTo>
                  <a:pt x="917458" y="0"/>
                </a:lnTo>
                <a:lnTo>
                  <a:pt x="954156" y="0"/>
                </a:lnTo>
                <a:lnTo>
                  <a:pt x="990854" y="0"/>
                </a:lnTo>
                <a:lnTo>
                  <a:pt x="1027553" y="0"/>
                </a:lnTo>
                <a:lnTo>
                  <a:pt x="1064251" y="0"/>
                </a:lnTo>
                <a:lnTo>
                  <a:pt x="1100949" y="0"/>
                </a:lnTo>
                <a:lnTo>
                  <a:pt x="1137648" y="0"/>
                </a:lnTo>
                <a:lnTo>
                  <a:pt x="1174346" y="0"/>
                </a:lnTo>
                <a:lnTo>
                  <a:pt x="1211044" y="0"/>
                </a:lnTo>
                <a:lnTo>
                  <a:pt x="1247743" y="0"/>
                </a:lnTo>
                <a:lnTo>
                  <a:pt x="1284441" y="0"/>
                </a:lnTo>
                <a:lnTo>
                  <a:pt x="1321139" y="0"/>
                </a:lnTo>
                <a:lnTo>
                  <a:pt x="1357838" y="0"/>
                </a:lnTo>
                <a:lnTo>
                  <a:pt x="1394536" y="0"/>
                </a:lnTo>
                <a:lnTo>
                  <a:pt x="1431234" y="0"/>
                </a:lnTo>
                <a:lnTo>
                  <a:pt x="1467933" y="0"/>
                </a:lnTo>
                <a:lnTo>
                  <a:pt x="1504631" y="0"/>
                </a:lnTo>
                <a:lnTo>
                  <a:pt x="1541329" y="0"/>
                </a:lnTo>
                <a:lnTo>
                  <a:pt x="1578028" y="0"/>
                </a:lnTo>
                <a:lnTo>
                  <a:pt x="1614726" y="0"/>
                </a:lnTo>
                <a:lnTo>
                  <a:pt x="1651424" y="0"/>
                </a:lnTo>
                <a:lnTo>
                  <a:pt x="1688123" y="0"/>
                </a:lnTo>
                <a:lnTo>
                  <a:pt x="1724821" y="0"/>
                </a:lnTo>
                <a:lnTo>
                  <a:pt x="1761519" y="0"/>
                </a:lnTo>
                <a:lnTo>
                  <a:pt x="1798218" y="0"/>
                </a:lnTo>
                <a:lnTo>
                  <a:pt x="1834916" y="0"/>
                </a:lnTo>
                <a:lnTo>
                  <a:pt x="1871614" y="0"/>
                </a:lnTo>
                <a:lnTo>
                  <a:pt x="1908313" y="0"/>
                </a:lnTo>
                <a:lnTo>
                  <a:pt x="1945011" y="0"/>
                </a:lnTo>
                <a:lnTo>
                  <a:pt x="1981709" y="0"/>
                </a:lnTo>
                <a:lnTo>
                  <a:pt x="2018408" y="0"/>
                </a:lnTo>
                <a:lnTo>
                  <a:pt x="2055106" y="0"/>
                </a:lnTo>
                <a:lnTo>
                  <a:pt x="2091804" y="0"/>
                </a:lnTo>
                <a:lnTo>
                  <a:pt x="2128503" y="0"/>
                </a:lnTo>
                <a:lnTo>
                  <a:pt x="2165201" y="0"/>
                </a:lnTo>
                <a:lnTo>
                  <a:pt x="2201899" y="0"/>
                </a:lnTo>
                <a:lnTo>
                  <a:pt x="2238597" y="0"/>
                </a:lnTo>
                <a:lnTo>
                  <a:pt x="2275296" y="0"/>
                </a:lnTo>
                <a:lnTo>
                  <a:pt x="2311994" y="0"/>
                </a:lnTo>
                <a:lnTo>
                  <a:pt x="2348692" y="0"/>
                </a:lnTo>
                <a:lnTo>
                  <a:pt x="2385391" y="0"/>
                </a:lnTo>
                <a:lnTo>
                  <a:pt x="2422089" y="0"/>
                </a:lnTo>
                <a:lnTo>
                  <a:pt x="2458787" y="0"/>
                </a:lnTo>
                <a:lnTo>
                  <a:pt x="2495486" y="0"/>
                </a:lnTo>
                <a:lnTo>
                  <a:pt x="2532184" y="0"/>
                </a:lnTo>
                <a:lnTo>
                  <a:pt x="2568882" y="0"/>
                </a:lnTo>
                <a:lnTo>
                  <a:pt x="2605581" y="0"/>
                </a:lnTo>
                <a:lnTo>
                  <a:pt x="2642279" y="0"/>
                </a:lnTo>
                <a:lnTo>
                  <a:pt x="2678977" y="0"/>
                </a:lnTo>
                <a:lnTo>
                  <a:pt x="2715676" y="0"/>
                </a:lnTo>
                <a:lnTo>
                  <a:pt x="2752374" y="0"/>
                </a:lnTo>
                <a:lnTo>
                  <a:pt x="2789072" y="0"/>
                </a:lnTo>
                <a:lnTo>
                  <a:pt x="2825771" y="0"/>
                </a:lnTo>
                <a:lnTo>
                  <a:pt x="2862469" y="0"/>
                </a:lnTo>
                <a:lnTo>
                  <a:pt x="2899167" y="0"/>
                </a:lnTo>
                <a:lnTo>
                  <a:pt x="2935866" y="0"/>
                </a:lnTo>
                <a:lnTo>
                  <a:pt x="2972564" y="0"/>
                </a:lnTo>
                <a:lnTo>
                  <a:pt x="3009262" y="0"/>
                </a:lnTo>
                <a:lnTo>
                  <a:pt x="3045961" y="0"/>
                </a:lnTo>
                <a:lnTo>
                  <a:pt x="3082659" y="0"/>
                </a:lnTo>
                <a:lnTo>
                  <a:pt x="3119357" y="0"/>
                </a:lnTo>
                <a:lnTo>
                  <a:pt x="3156056" y="0"/>
                </a:lnTo>
                <a:lnTo>
                  <a:pt x="3192754" y="0"/>
                </a:lnTo>
                <a:lnTo>
                  <a:pt x="3229452" y="0"/>
                </a:lnTo>
                <a:lnTo>
                  <a:pt x="3266151" y="0"/>
                </a:lnTo>
                <a:lnTo>
                  <a:pt x="3302849" y="0"/>
                </a:lnTo>
                <a:lnTo>
                  <a:pt x="3339547" y="0"/>
                </a:lnTo>
                <a:lnTo>
                  <a:pt x="3376246" y="0"/>
                </a:lnTo>
                <a:lnTo>
                  <a:pt x="3412944" y="0"/>
                </a:lnTo>
                <a:lnTo>
                  <a:pt x="3449642" y="0"/>
                </a:lnTo>
                <a:lnTo>
                  <a:pt x="3486341" y="0"/>
                </a:lnTo>
                <a:lnTo>
                  <a:pt x="3523039" y="0"/>
                </a:lnTo>
                <a:lnTo>
                  <a:pt x="3559737" y="0"/>
                </a:lnTo>
                <a:lnTo>
                  <a:pt x="3596436" y="0"/>
                </a:lnTo>
                <a:lnTo>
                  <a:pt x="3633134" y="0"/>
                </a:lnTo>
                <a:lnTo>
                  <a:pt x="3669832" y="0"/>
                </a:lnTo>
                <a:lnTo>
                  <a:pt x="3706531" y="0"/>
                </a:lnTo>
                <a:lnTo>
                  <a:pt x="3743229" y="0"/>
                </a:lnTo>
                <a:lnTo>
                  <a:pt x="3779927" y="0"/>
                </a:lnTo>
                <a:lnTo>
                  <a:pt x="3816626" y="0"/>
                </a:lnTo>
                <a:lnTo>
                  <a:pt x="3853324" y="0"/>
                </a:lnTo>
                <a:lnTo>
                  <a:pt x="3890022" y="0"/>
                </a:lnTo>
                <a:lnTo>
                  <a:pt x="3926721" y="0"/>
                </a:lnTo>
                <a:lnTo>
                  <a:pt x="3963419" y="0"/>
                </a:lnTo>
                <a:lnTo>
                  <a:pt x="4000117" y="0"/>
                </a:lnTo>
                <a:lnTo>
                  <a:pt x="4036816" y="0"/>
                </a:lnTo>
                <a:lnTo>
                  <a:pt x="4073514" y="0"/>
                </a:lnTo>
                <a:lnTo>
                  <a:pt x="4110212" y="0"/>
                </a:lnTo>
                <a:lnTo>
                  <a:pt x="4146911" y="0"/>
                </a:lnTo>
                <a:lnTo>
                  <a:pt x="4183609" y="0"/>
                </a:lnTo>
                <a:lnTo>
                  <a:pt x="4220307" y="0"/>
                </a:lnTo>
                <a:lnTo>
                  <a:pt x="4257006" y="0"/>
                </a:lnTo>
                <a:lnTo>
                  <a:pt x="4293704" y="0"/>
                </a:lnTo>
                <a:lnTo>
                  <a:pt x="4330402" y="0"/>
                </a:lnTo>
                <a:lnTo>
                  <a:pt x="4367101" y="0"/>
                </a:lnTo>
                <a:lnTo>
                  <a:pt x="4403799" y="0"/>
                </a:lnTo>
                <a:lnTo>
                  <a:pt x="4440497" y="0"/>
                </a:lnTo>
                <a:lnTo>
                  <a:pt x="4477195" y="0"/>
                </a:lnTo>
                <a:lnTo>
                  <a:pt x="4513894" y="0"/>
                </a:lnTo>
                <a:lnTo>
                  <a:pt x="4550592" y="0"/>
                </a:lnTo>
                <a:lnTo>
                  <a:pt x="4587290" y="0"/>
                </a:lnTo>
                <a:lnTo>
                  <a:pt x="4623989" y="0"/>
                </a:lnTo>
                <a:lnTo>
                  <a:pt x="4660687" y="0"/>
                </a:lnTo>
                <a:lnTo>
                  <a:pt x="4697385" y="0"/>
                </a:lnTo>
                <a:lnTo>
                  <a:pt x="4734084" y="0"/>
                </a:lnTo>
                <a:lnTo>
                  <a:pt x="4770782" y="0"/>
                </a:lnTo>
                <a:lnTo>
                  <a:pt x="4807480" y="0"/>
                </a:lnTo>
                <a:lnTo>
                  <a:pt x="4844179" y="0"/>
                </a:lnTo>
                <a:lnTo>
                  <a:pt x="4880877" y="0"/>
                </a:lnTo>
                <a:lnTo>
                  <a:pt x="4917575" y="0"/>
                </a:lnTo>
                <a:lnTo>
                  <a:pt x="4954274" y="0"/>
                </a:lnTo>
                <a:lnTo>
                  <a:pt x="4990972" y="0"/>
                </a:lnTo>
                <a:lnTo>
                  <a:pt x="5027670" y="0"/>
                </a:lnTo>
                <a:lnTo>
                  <a:pt x="5064369" y="0"/>
                </a:lnTo>
                <a:lnTo>
                  <a:pt x="5101067" y="0"/>
                </a:lnTo>
                <a:lnTo>
                  <a:pt x="5137765" y="0"/>
                </a:lnTo>
                <a:lnTo>
                  <a:pt x="5174464" y="0"/>
                </a:lnTo>
                <a:lnTo>
                  <a:pt x="5211162" y="0"/>
                </a:lnTo>
                <a:lnTo>
                  <a:pt x="5247860" y="0"/>
                </a:lnTo>
                <a:lnTo>
                  <a:pt x="5284559" y="0"/>
                </a:lnTo>
                <a:lnTo>
                  <a:pt x="5321257" y="0"/>
                </a:lnTo>
                <a:lnTo>
                  <a:pt x="5357955" y="0"/>
                </a:lnTo>
                <a:lnTo>
                  <a:pt x="5394654" y="0"/>
                </a:lnTo>
                <a:lnTo>
                  <a:pt x="5431352" y="0"/>
                </a:lnTo>
                <a:lnTo>
                  <a:pt x="5468050" y="0"/>
                </a:lnTo>
                <a:lnTo>
                  <a:pt x="5486400" y="0"/>
                </a:lnTo>
              </a:path>
            </a:pathLst>
          </a:custGeom>
          <a:noFill/>
          <a:ln w="15240">
            <a:solidFill>
              <a:srgbClr val="2E47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3-E20 text 26" descr="sci-ppt:o026"/>
          <p:cNvSpPr txBox="1"/>
          <p:nvPr/>
        </p:nvSpPr>
        <p:spPr>
          <a:xfrm>
            <a:off x="1249508" y="1577339"/>
            <a:ext cx="493776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DBD4"/>
                </a:solidFill>
                <a:latin typeface="Arial"/>
              </a:rPr>
              <a:t>κ(z) of Eq. C3-E20 for a = a₀(1 + 0.12 cos kz), k a₀ = 0.7</a:t>
            </a:r>
          </a:p>
        </p:txBody>
      </p:sp>
      <p:sp>
        <p:nvSpPr>
          <p:cNvPr id="29" name="C3-E20 text 27" descr="sci-ppt:o027"/>
          <p:cNvSpPr txBox="1"/>
          <p:nvPr/>
        </p:nvSpPr>
        <p:spPr>
          <a:xfrm>
            <a:off x="3956390" y="4251959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dashed: 1/a alone</a:t>
            </a:r>
          </a:p>
        </p:txBody>
      </p:sp>
      <p:sp>
        <p:nvSpPr>
          <p:cNvPr id="30" name="C3-E20 text 28" descr="sci-ppt:o028"/>
          <p:cNvSpPr txBox="1"/>
          <p:nvPr/>
        </p:nvSpPr>
        <p:spPr>
          <a:xfrm>
            <a:off x="914400" y="1005840"/>
            <a:ext cx="54864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Curvature varies along the jet and drives the flow</a:t>
            </a:r>
          </a:p>
        </p:txBody>
      </p:sp>
      <p:sp>
        <p:nvSpPr>
          <p:cNvPr id="31" name="C3-E20 round_rect 29" descr="sci-ppt:o029"/>
          <p:cNvSpPr/>
          <p:nvPr/>
        </p:nvSpPr>
        <p:spPr>
          <a:xfrm>
            <a:off x="6766560" y="914400"/>
            <a:ext cx="5074920" cy="2148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3-E20 text 30" descr="sci-ppt:o030"/>
          <p:cNvSpPr txBox="1"/>
          <p:nvPr/>
        </p:nvSpPr>
        <p:spPr>
          <a:xfrm>
            <a:off x="6876288" y="969264"/>
            <a:ext cx="485546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Why the factor is three</a:t>
            </a:r>
          </a:p>
        </p:txBody>
      </p:sp>
      <p:sp>
        <p:nvSpPr>
          <p:cNvPr id="33" name="C3-E20 text 31" descr="sci-ppt:o031"/>
          <p:cNvSpPr txBox="1"/>
          <p:nvPr/>
        </p:nvSpPr>
        <p:spPr>
          <a:xfrm>
            <a:off x="6903720" y="1371600"/>
            <a:ext cx="48463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uᵣ = −(r/2) ∂_z v,   τ_zz = 2μ ∂_z v,   τᵣᵣ = −μ ∂_z v</a:t>
            </a:r>
          </a:p>
        </p:txBody>
      </p:sp>
      <p:sp>
        <p:nvSpPr>
          <p:cNvPr id="34" name="C3-E20 text 32" descr="sci-ppt:o032"/>
          <p:cNvSpPr txBox="1"/>
          <p:nvPr/>
        </p:nvSpPr>
        <p:spPr>
          <a:xfrm>
            <a:off x="6903720" y="1920240"/>
            <a:ext cx="484632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τ_zz − τᵣᵣ = 3μ ∂_z v:  extensional stress is three times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shear-viscosity scale.</a:t>
            </a:r>
          </a:p>
        </p:txBody>
      </p:sp>
      <p:sp>
        <p:nvSpPr>
          <p:cNvPr id="35" name="C3-E20 text 33" descr="sci-ppt:o033"/>
          <p:cNvSpPr txBox="1"/>
          <p:nvPr/>
        </p:nvSpPr>
        <p:spPr>
          <a:xfrm>
            <a:off x="6858000" y="326440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simple shear: μ</a:t>
            </a:r>
          </a:p>
        </p:txBody>
      </p:sp>
      <p:sp>
        <p:nvSpPr>
          <p:cNvPr id="36" name="C3-E20 rect 34" descr="sci-ppt:o034"/>
          <p:cNvSpPr/>
          <p:nvPr/>
        </p:nvSpPr>
        <p:spPr>
          <a:xfrm>
            <a:off x="9052560" y="3246120"/>
            <a:ext cx="471487" cy="36576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3-E20 text 35" descr="sci-ppt:o035"/>
          <p:cNvSpPr txBox="1"/>
          <p:nvPr/>
        </p:nvSpPr>
        <p:spPr>
          <a:xfrm>
            <a:off x="9597199" y="3291839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1μ</a:t>
            </a:r>
          </a:p>
        </p:txBody>
      </p:sp>
      <p:sp>
        <p:nvSpPr>
          <p:cNvPr id="38" name="C3-E20 text 36" descr="sci-ppt:o036"/>
          <p:cNvSpPr txBox="1"/>
          <p:nvPr/>
        </p:nvSpPr>
        <p:spPr>
          <a:xfrm>
            <a:off x="6858000" y="3813048"/>
            <a:ext cx="2103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stretching: 3μ</a:t>
            </a:r>
          </a:p>
        </p:txBody>
      </p:sp>
      <p:sp>
        <p:nvSpPr>
          <p:cNvPr id="39" name="C3-E20 rect 37" descr="sci-ppt:o037"/>
          <p:cNvSpPr/>
          <p:nvPr/>
        </p:nvSpPr>
        <p:spPr>
          <a:xfrm>
            <a:off x="9052560" y="3794760"/>
            <a:ext cx="1414462" cy="36576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3-E20 text 38" descr="sci-ppt:o038"/>
          <p:cNvSpPr txBox="1"/>
          <p:nvPr/>
        </p:nvSpPr>
        <p:spPr>
          <a:xfrm>
            <a:off x="10540174" y="3840480"/>
            <a:ext cx="1371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3μ</a:t>
            </a:r>
          </a:p>
        </p:txBody>
      </p:sp>
      <p:sp>
        <p:nvSpPr>
          <p:cNvPr id="41" name="C3-E20 text 39" descr="sci-ppt:o039"/>
          <p:cNvSpPr txBox="1"/>
          <p:nvPr/>
        </p:nvSpPr>
        <p:spPr>
          <a:xfrm>
            <a:off x="6858000" y="4480560"/>
            <a:ext cx="49377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∂ₜv + v∂_z v = −(σⱼ/ρ) ∂_z κ + [3μ/(ρA)] ∂_z(A ∂_z v)</a:t>
            </a:r>
          </a:p>
        </p:txBody>
      </p:sp>
      <p:sp>
        <p:nvSpPr>
          <p:cNvPr id="42" name="C3-E20 text 40" descr="sci-ppt:o040"/>
          <p:cNvSpPr txBox="1"/>
          <p:nvPr/>
        </p:nvSpPr>
        <p:spPr>
          <a:xfrm>
            <a:off x="914400" y="5486400"/>
            <a:ext cx="54864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Where the jet is thinner (a &lt; a₀ with k a₀ &lt; 1) κ is larger, so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pressure pushes liquid toward the thicker parts.</a:t>
            </a:r>
          </a:p>
        </p:txBody>
      </p:sp>
      <p:sp>
        <p:nvSpPr>
          <p:cNvPr id="43" name="C3-E20 text 41" descr="sci-ppt:o041"/>
          <p:cNvSpPr txBox="1"/>
          <p:nvPr/>
        </p:nvSpPr>
        <p:spPr>
          <a:xfrm>
            <a:off x="6858000" y="5074920"/>
            <a:ext cx="493776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The slender axial momentum law keeps the full geometric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curvature.</a:t>
            </a:r>
          </a:p>
        </p:txBody>
      </p:sp>
      <p:sp>
        <p:nvSpPr>
          <p:cNvPr id="44" name="C3-E20 text 42" descr="sci-ppt:o04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Newtonian stress and slender momentum of Eq. C3-E20.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