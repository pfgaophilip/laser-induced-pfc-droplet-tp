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0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C3-E20 · Newtonian stress and slender axial momentum</a:t>
            </a:r>
          </a:p>
        </p:txBody>
      </p:sp>
      <p:sp>
        <p:nvSpPr>
          <p:cNvPr id="3" name="C3-E20 rect 1" descr="sci-ppt:o001"/>
          <p:cNvSpPr/>
          <p:nvPr/>
        </p:nvSpPr>
        <p:spPr>
          <a:xfrm>
            <a:off x="1920240" y="1463040"/>
            <a:ext cx="6583680" cy="100584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20 arrow 2" descr="sci-ppt:o002"/>
          <p:cNvCxnSpPr/>
          <p:nvPr/>
        </p:nvCxnSpPr>
        <p:spPr>
          <a:xfrm>
            <a:off x="731520" y="1965960"/>
            <a:ext cx="24688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5" name="C3-E20 arrow 3" descr="sci-ppt:o003"/>
          <p:cNvCxnSpPr/>
          <p:nvPr/>
        </p:nvCxnSpPr>
        <p:spPr>
          <a:xfrm>
            <a:off x="7132320" y="1965960"/>
            <a:ext cx="37490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3-E20 text 4" descr="sci-ppt:o004"/>
          <p:cNvSpPr txBox="1"/>
          <p:nvPr/>
        </p:nvSpPr>
        <p:spPr>
          <a:xfrm>
            <a:off x="548640" y="2606040"/>
            <a:ext cx="365760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Incoming flux A v |z</a:t>
            </a:r>
          </a:p>
        </p:txBody>
      </p:sp>
      <p:sp>
        <p:nvSpPr>
          <p:cNvPr id="7" name="C3-E20 text 5" descr="sci-ppt:o005"/>
          <p:cNvSpPr txBox="1"/>
          <p:nvPr/>
        </p:nvSpPr>
        <p:spPr>
          <a:xfrm>
            <a:off x="7406640" y="2606040"/>
            <a:ext cx="411480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Outgoing flux A v |z+Δz</a:t>
            </a:r>
          </a:p>
        </p:txBody>
      </p:sp>
      <p:sp>
        <p:nvSpPr>
          <p:cNvPr id="8" name="C3-E20 text 6" descr="sci-ppt:o006"/>
          <p:cNvSpPr txBox="1"/>
          <p:nvPr/>
        </p:nvSpPr>
        <p:spPr>
          <a:xfrm>
            <a:off x="3840480" y="1645920"/>
            <a:ext cx="36576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axial slice Δz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A(z,t) = πa²</a:t>
            </a:r>
          </a:p>
        </p:txBody>
      </p:sp>
      <p:sp>
        <p:nvSpPr>
          <p:cNvPr id="9" name="C3-E20 text 7" descr="sci-ppt:o007"/>
          <p:cNvSpPr txBox="1"/>
          <p:nvPr/>
        </p:nvSpPr>
        <p:spPr>
          <a:xfrm>
            <a:off x="731520" y="77724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8EDBD4"/>
                </a:solidFill>
                <a:latin typeface="Arial"/>
              </a:rPr>
              <a:t>Slender liquid: axial velocity v(z,t); radius a(z,t)</a:t>
            </a:r>
          </a:p>
        </p:txBody>
      </p:sp>
      <p:sp>
        <p:nvSpPr>
          <p:cNvPr id="10" name="C3-E20 text 8" descr="sci-ppt:o008"/>
          <p:cNvSpPr txBox="1"/>
          <p:nvPr/>
        </p:nvSpPr>
        <p:spPr>
          <a:xfrm>
            <a:off x="914400" y="3337560"/>
            <a:ext cx="10607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Axial extension: τ_zz − τ_rr = 3μ ∂zv; capillary force follows ∂zκ.</a:t>
            </a:r>
          </a:p>
        </p:txBody>
      </p:sp>
      <p:cxnSp>
        <p:nvCxnSpPr>
          <p:cNvPr id="11" name="C3-E20 line 9" descr="sci-ppt:o009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2" name="C3-E20 text 10" descr="sci-ppt:o010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a(z,t), A jet section</a:t>
            </a:r>
          </a:p>
        </p:txBody>
      </p:sp>
      <p:sp>
        <p:nvSpPr>
          <p:cNvPr id="13" name="C3-E20 text 11" descr="sci-ppt:o011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radial; z axial</a:t>
            </a:r>
          </a:p>
        </p:txBody>
      </p:sp>
      <p:sp>
        <p:nvSpPr>
          <p:cNvPr id="14" name="C3-E20 text 12" descr="sci-ppt:o012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u_r radial; v axial</a:t>
            </a:r>
          </a:p>
        </p:txBody>
      </p:sp>
      <p:sp>
        <p:nvSpPr>
          <p:cNvPr id="15" name="C3-E20 text 13" descr="sci-ppt:o013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τ_zz − τ_rr = 3μ ∂zv</a:t>
            </a:r>
          </a:p>
        </p:txBody>
      </p:sp>
      <p:sp>
        <p:nvSpPr>
          <p:cNvPr id="16" name="C3-E20 text 14" descr="sci-ppt:o014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κ surface curvature</a:t>
            </a:r>
          </a:p>
        </p:txBody>
      </p:sp>
      <p:sp>
        <p:nvSpPr>
          <p:cNvPr id="17" name="C3-E20 text 15" descr="sci-ppt:o015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σ_j, ρ, μ</a:t>
            </a:r>
          </a:p>
        </p:txBody>
      </p:sp>
      <p:sp>
        <p:nvSpPr>
          <p:cNvPr id="18" name="C3-E20 text 16" descr="sci-ppt:o016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∂r, ∂z, ∂zz, ∂ₜ, t</a:t>
            </a:r>
          </a:p>
        </p:txBody>
      </p:sp>
      <p:sp>
        <p:nvSpPr>
          <p:cNvPr id="19" name="C3-E20 text 17" descr="sci-ppt:o017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Regular radial velocity vanishes at r = 0</a:t>
            </a:r>
          </a:p>
        </p:txBody>
      </p:sp>
      <p:sp>
        <p:nvSpPr>
          <p:cNvPr id="20" name="C3-E20 text 18" descr="sci-ppt:o018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Curvature gradients drive axial redistribution</a:t>
            </a:r>
          </a:p>
        </p:txBody>
      </p:sp>
      <p:sp>
        <p:nvSpPr>
          <p:cNvPr id="21" name="C3-E20 text 19" descr="sci-ppt:o019"/>
          <p:cNvSpPr txBox="1"/>
          <p:nvPr/>
        </p:nvSpPr>
        <p:spPr>
          <a:xfrm>
            <a:off x="320040" y="614476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Surrounding dense liquid requires a two-fluid treatment</a:t>
            </a:r>
          </a:p>
        </p:txBody>
      </p:sp>
      <p:sp>
        <p:nvSpPr>
          <p:cNvPr id="22" name="C3-E20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