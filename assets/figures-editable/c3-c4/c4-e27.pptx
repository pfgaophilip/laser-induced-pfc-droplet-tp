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2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C4-E27 · Cohesive admissibility teaching calculation</a:t>
            </a:r>
          </a:p>
        </p:txBody>
      </p:sp>
      <p:sp>
        <p:nvSpPr>
          <p:cNvPr id="3" name="C4-E27 text 1" descr="sci-ppt:o001"/>
          <p:cNvSpPr txBox="1"/>
          <p:nvPr/>
        </p:nvSpPr>
        <p:spPr>
          <a:xfrm>
            <a:off x="457200" y="914400"/>
            <a:ext cx="1124712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Cohesive admissibility check with the teaching numbers</a:t>
            </a:r>
          </a:p>
        </p:txBody>
      </p:sp>
      <p:sp>
        <p:nvSpPr>
          <p:cNvPr id="4" name="C4-E27 round_rect 2" descr="sci-ppt:o002"/>
          <p:cNvSpPr/>
          <p:nvPr/>
        </p:nvSpPr>
        <p:spPr>
          <a:xfrm>
            <a:off x="457200" y="1371600"/>
            <a:ext cx="3611880" cy="19202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4-E27 text 3" descr="sci-ppt:o003"/>
          <p:cNvSpPr txBox="1"/>
          <p:nvPr/>
        </p:nvSpPr>
        <p:spPr>
          <a:xfrm>
            <a:off x="566928" y="1426464"/>
            <a:ext cx="339242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4C7D2"/>
                </a:solidFill>
                <a:latin typeface="Arial"/>
              </a:rPr>
              <a:t>given</a:t>
            </a:r>
          </a:p>
        </p:txBody>
      </p:sp>
      <p:sp>
        <p:nvSpPr>
          <p:cNvPr id="6" name="C4-E27 text 4" descr="sci-ppt:o004"/>
          <p:cNvSpPr txBox="1"/>
          <p:nvPr/>
        </p:nvSpPr>
        <p:spPr>
          <a:xfrm>
            <a:off x="594360" y="1920240"/>
            <a:ext cx="3383280" cy="62674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Γ = 0.005 J/m²</a:t>
            </a:r>
          </a:p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Tₘₐₓ = 0.10 MPa</a:t>
            </a:r>
          </a:p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Kₙ = 10¹³ Pa/m</a:t>
            </a:r>
          </a:p>
        </p:txBody>
      </p:sp>
      <p:sp>
        <p:nvSpPr>
          <p:cNvPr id="7" name="C4-E27 round_rect 5" descr="sci-ppt:o005"/>
          <p:cNvSpPr/>
          <p:nvPr/>
        </p:nvSpPr>
        <p:spPr>
          <a:xfrm>
            <a:off x="4251960" y="1371600"/>
            <a:ext cx="3611880" cy="19202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C4-E27 text 6" descr="sci-ppt:o006"/>
          <p:cNvSpPr txBox="1"/>
          <p:nvPr/>
        </p:nvSpPr>
        <p:spPr>
          <a:xfrm>
            <a:off x="4361688" y="1426464"/>
            <a:ext cx="339242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7FC8F8"/>
                </a:solidFill>
                <a:latin typeface="Arial"/>
              </a:rPr>
              <a:t>δ₀ = Tₘₐₓ / Kₙ</a:t>
            </a:r>
          </a:p>
        </p:txBody>
      </p:sp>
      <p:sp>
        <p:nvSpPr>
          <p:cNvPr id="9" name="C4-E27 text 7" descr="sci-ppt:o007"/>
          <p:cNvSpPr txBox="1"/>
          <p:nvPr/>
        </p:nvSpPr>
        <p:spPr>
          <a:xfrm>
            <a:off x="4389120" y="1920240"/>
            <a:ext cx="33832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10⁵ / 10¹³ = 1.0×10⁻⁸ m = 10 nm</a:t>
            </a:r>
          </a:p>
        </p:txBody>
      </p:sp>
      <p:sp>
        <p:nvSpPr>
          <p:cNvPr id="10" name="C4-E27 round_rect 8" descr="sci-ppt:o008"/>
          <p:cNvSpPr/>
          <p:nvPr/>
        </p:nvSpPr>
        <p:spPr>
          <a:xfrm>
            <a:off x="8046720" y="1371600"/>
            <a:ext cx="3611880" cy="19202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4-E27 text 9" descr="sci-ppt:o009"/>
          <p:cNvSpPr txBox="1"/>
          <p:nvPr/>
        </p:nvSpPr>
        <p:spPr>
          <a:xfrm>
            <a:off x="8156448" y="1426464"/>
            <a:ext cx="3392424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28BA0"/>
                </a:solidFill>
                <a:latin typeface="Arial"/>
              </a:rPr>
              <a:t>δ_c = 2Γ / Tₘₐₓ</a:t>
            </a:r>
          </a:p>
        </p:txBody>
      </p:sp>
      <p:sp>
        <p:nvSpPr>
          <p:cNvPr id="12" name="C4-E27 text 10" descr="sci-ppt:o010"/>
          <p:cNvSpPr txBox="1"/>
          <p:nvPr/>
        </p:nvSpPr>
        <p:spPr>
          <a:xfrm>
            <a:off x="8183880" y="1920240"/>
            <a:ext cx="338328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2(0.005) / 10⁵ = 1.0×10⁻⁷ m = 100 nm</a:t>
            </a:r>
          </a:p>
        </p:txBody>
      </p:sp>
      <p:sp>
        <p:nvSpPr>
          <p:cNvPr id="13" name="C4-E27 text 11" descr="sci-ppt:o011"/>
          <p:cNvSpPr txBox="1"/>
          <p:nvPr/>
        </p:nvSpPr>
        <p:spPr>
          <a:xfrm>
            <a:off x="457200" y="3675887"/>
            <a:ext cx="19202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δ₀  (peak)</a:t>
            </a:r>
          </a:p>
        </p:txBody>
      </p:sp>
      <p:sp>
        <p:nvSpPr>
          <p:cNvPr id="14" name="C4-E27 rect 12" descr="sci-ppt:o012"/>
          <p:cNvSpPr/>
          <p:nvPr/>
        </p:nvSpPr>
        <p:spPr>
          <a:xfrm>
            <a:off x="2468880" y="3657600"/>
            <a:ext cx="662940" cy="41148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C4-E27 text 13" descr="sci-ppt:o013"/>
          <p:cNvSpPr txBox="1"/>
          <p:nvPr/>
        </p:nvSpPr>
        <p:spPr>
          <a:xfrm>
            <a:off x="3204972" y="3703320"/>
            <a:ext cx="13716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10 nm</a:t>
            </a:r>
          </a:p>
        </p:txBody>
      </p:sp>
      <p:sp>
        <p:nvSpPr>
          <p:cNvPr id="16" name="C4-E27 text 14" descr="sci-ppt:o014"/>
          <p:cNvSpPr txBox="1"/>
          <p:nvPr/>
        </p:nvSpPr>
        <p:spPr>
          <a:xfrm>
            <a:off x="457200" y="4315968"/>
            <a:ext cx="192024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δ_c  (final)</a:t>
            </a:r>
          </a:p>
        </p:txBody>
      </p:sp>
      <p:sp>
        <p:nvSpPr>
          <p:cNvPr id="17" name="C4-E27 rect 15" descr="sci-ppt:o015"/>
          <p:cNvSpPr/>
          <p:nvPr/>
        </p:nvSpPr>
        <p:spPr>
          <a:xfrm>
            <a:off x="2468880" y="4297680"/>
            <a:ext cx="6629400" cy="411480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C4-E27 text 16" descr="sci-ppt:o016"/>
          <p:cNvSpPr txBox="1"/>
          <p:nvPr/>
        </p:nvSpPr>
        <p:spPr>
          <a:xfrm>
            <a:off x="9171432" y="4343400"/>
            <a:ext cx="13716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100 nm</a:t>
            </a:r>
          </a:p>
        </p:txBody>
      </p:sp>
      <p:sp>
        <p:nvSpPr>
          <p:cNvPr id="19" name="C4-E27 text 17" descr="sci-ppt:o017"/>
          <p:cNvSpPr txBox="1"/>
          <p:nvPr/>
        </p:nvSpPr>
        <p:spPr>
          <a:xfrm>
            <a:off x="457200" y="4937760"/>
            <a:ext cx="1124712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δ_c is ten times δ₀: the law has a distinct softening stage, so it is admissible (δ₀ &lt; δ_c).</a:t>
            </a:r>
          </a:p>
        </p:txBody>
      </p:sp>
      <p:sp>
        <p:nvSpPr>
          <p:cNvPr id="20" name="C4-E27 text 18" descr="sci-ppt:o018"/>
          <p:cNvSpPr txBox="1"/>
          <p:nvPr/>
        </p:nvSpPr>
        <p:spPr>
          <a:xfrm>
            <a:off x="457200" y="5486400"/>
            <a:ext cx="11247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These are stipulated teaching values, not measured properties of a real interface.</a:t>
            </a:r>
          </a:p>
        </p:txBody>
      </p:sp>
      <p:sp>
        <p:nvSpPr>
          <p:cNvPr id="21" name="C4-E27 text 19" descr="sci-ppt:o019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Admissibility calculation of Eq. C4-E27.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