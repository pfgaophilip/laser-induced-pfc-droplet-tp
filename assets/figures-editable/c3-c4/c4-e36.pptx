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C4-E36 · Original global screens</a:t>
            </a:r>
          </a:p>
        </p:txBody>
      </p:sp>
      <p:sp>
        <p:nvSpPr>
          <p:cNvPr id="3" name="C4-E36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Defence 1: global screens</a:t>
            </a:r>
          </a:p>
        </p:txBody>
      </p:sp>
      <p:sp>
        <p:nvSpPr>
          <p:cNvPr id="4" name="C4-E36 round_rect 2" descr="sci-ppt:o002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36 text 3" descr="sci-ppt:o003"/>
          <p:cNvSpPr txBox="1"/>
          <p:nvPr/>
        </p:nvSpPr>
        <p:spPr>
          <a:xfrm>
            <a:off x="56692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Energy</a:t>
            </a:r>
          </a:p>
        </p:txBody>
      </p:sp>
      <p:sp>
        <p:nvSpPr>
          <p:cNvPr id="6" name="C4-E36 text 4" descr="sci-ppt:o004"/>
          <p:cNvSpPr txBox="1"/>
          <p:nvPr/>
        </p:nvSpPr>
        <p:spPr>
          <a:xfrm>
            <a:off x="594360" y="1920240"/>
            <a:ext cx="52120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E_solid ≥ Γ A_f + ½ m_f v_f²</a:t>
            </a:r>
          </a:p>
        </p:txBody>
      </p:sp>
      <p:sp>
        <p:nvSpPr>
          <p:cNvPr id="7" name="C4-E36 text 5" descr="sci-ppt:o005"/>
          <p:cNvSpPr txBox="1"/>
          <p:nvPr/>
        </p:nvSpPr>
        <p:spPr>
          <a:xfrm>
            <a:off x="594360" y="256032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fracture cost + kinetic energy of departure</a:t>
            </a:r>
          </a:p>
        </p:txBody>
      </p:sp>
      <p:sp>
        <p:nvSpPr>
          <p:cNvPr id="8" name="C4-E36 round_rect 6" descr="sci-ppt:o006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4-E36 text 7" descr="sci-ppt:o007"/>
          <p:cNvSpPr txBox="1"/>
          <p:nvPr/>
        </p:nvSpPr>
        <p:spPr>
          <a:xfrm>
            <a:off x="632764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Momentum</a:t>
            </a:r>
          </a:p>
        </p:txBody>
      </p:sp>
      <p:sp>
        <p:nvSpPr>
          <p:cNvPr id="10" name="C4-E36 text 8" descr="sci-ppt:o008"/>
          <p:cNvSpPr txBox="1"/>
          <p:nvPr/>
        </p:nvSpPr>
        <p:spPr>
          <a:xfrm>
            <a:off x="6355080" y="1920240"/>
            <a:ext cx="52120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Iₙₑₜ ≥ m_f v_f</a:t>
            </a:r>
          </a:p>
        </p:txBody>
      </p:sp>
      <p:sp>
        <p:nvSpPr>
          <p:cNvPr id="11" name="C4-E36 text 9" descr="sci-ppt:o009"/>
          <p:cNvSpPr txBox="1"/>
          <p:nvPr/>
        </p:nvSpPr>
        <p:spPr>
          <a:xfrm>
            <a:off x="6355080" y="256032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net impulse must carry the film at v_f</a:t>
            </a:r>
          </a:p>
        </p:txBody>
      </p:sp>
      <p:sp>
        <p:nvSpPr>
          <p:cNvPr id="12" name="C4-E36 text 10" descr="sci-ppt:o010"/>
          <p:cNvSpPr txBox="1"/>
          <p:nvPr/>
        </p:nvSpPr>
        <p:spPr>
          <a:xfrm>
            <a:off x="457200" y="385876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E_solid 10.0 nJ vs Γ A_f 5.0 nJ (passes)</a:t>
            </a:r>
          </a:p>
        </p:txBody>
      </p:sp>
      <p:sp>
        <p:nvSpPr>
          <p:cNvPr id="13" name="C4-E36 rect 11" descr="sci-ppt:o011"/>
          <p:cNvSpPr/>
          <p:nvPr/>
        </p:nvSpPr>
        <p:spPr>
          <a:xfrm>
            <a:off x="6309360" y="3840480"/>
            <a:ext cx="4114800" cy="36576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4-E36 text 12" descr="sci-ppt:o012"/>
          <p:cNvSpPr txBox="1"/>
          <p:nvPr/>
        </p:nvSpPr>
        <p:spPr>
          <a:xfrm>
            <a:off x="10497312" y="3886200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1.00 of need</a:t>
            </a:r>
          </a:p>
        </p:txBody>
      </p:sp>
      <p:sp>
        <p:nvSpPr>
          <p:cNvPr id="15" name="C4-E36 text 13" descr="sci-ppt:o013"/>
          <p:cNvSpPr txBox="1"/>
          <p:nvPr/>
        </p:nvSpPr>
        <p:spPr>
          <a:xfrm>
            <a:off x="457200" y="4453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E_solid 10.0 nJ vs Γ A_f 20.0 nJ (fails)</a:t>
            </a:r>
          </a:p>
        </p:txBody>
      </p:sp>
      <p:sp>
        <p:nvSpPr>
          <p:cNvPr id="16" name="C4-E36 rect 14" descr="sci-ppt:o014"/>
          <p:cNvSpPr/>
          <p:nvPr/>
        </p:nvSpPr>
        <p:spPr>
          <a:xfrm>
            <a:off x="6309360" y="4434840"/>
            <a:ext cx="2057400" cy="36576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4-E36 text 15" descr="sci-ppt:o015"/>
          <p:cNvSpPr txBox="1"/>
          <p:nvPr/>
        </p:nvSpPr>
        <p:spPr>
          <a:xfrm>
            <a:off x="8439912" y="4480560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0.50 of need</a:t>
            </a:r>
          </a:p>
        </p:txBody>
      </p:sp>
      <p:sp>
        <p:nvSpPr>
          <p:cNvPr id="18" name="C4-E36 text 16" descr="sci-ppt:o016"/>
          <p:cNvSpPr txBox="1"/>
          <p:nvPr/>
        </p:nvSpPr>
        <p:spPr>
          <a:xfrm>
            <a:off x="457200" y="521208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Both screens must pass for the same Γ, A_f, m_f and v_f; the 20 nJ case already fails the first.</a:t>
            </a:r>
          </a:p>
        </p:txBody>
      </p:sp>
      <p:sp>
        <p:nvSpPr>
          <p:cNvPr id="19" name="C4-E36 text 17" descr="sci-ppt:o01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1 answer: Eqs. C4-E30 to E33 (bar = budget / need, capped at 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