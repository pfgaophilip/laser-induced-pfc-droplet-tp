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6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C4-E36 · Original global screens</a:t>
            </a:r>
          </a:p>
        </p:txBody>
      </p:sp>
      <p:sp>
        <p:nvSpPr>
          <p:cNvPr id="3" name="C4-E36 rect 1" descr="sci-ppt:o001"/>
          <p:cNvSpPr/>
          <p:nvPr/>
        </p:nvSpPr>
        <p:spPr>
          <a:xfrm>
            <a:off x="5943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36 text 2" descr="sci-ppt:o002"/>
          <p:cNvSpPr txBox="1"/>
          <p:nvPr/>
        </p:nvSpPr>
        <p:spPr>
          <a:xfrm>
            <a:off x="7589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Incoming finite budgets</a:t>
            </a:r>
          </a:p>
        </p:txBody>
      </p:sp>
      <p:cxnSp>
        <p:nvCxnSpPr>
          <p:cNvPr id="5" name="C4-E36 arrow 3" descr="sci-ppt:o003"/>
          <p:cNvCxnSpPr/>
          <p:nvPr/>
        </p:nvCxnSpPr>
        <p:spPr>
          <a:xfrm>
            <a:off x="37947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4-E36 rect 4" descr="sci-ppt:o004"/>
          <p:cNvSpPr/>
          <p:nvPr/>
        </p:nvSpPr>
        <p:spPr>
          <a:xfrm>
            <a:off x="44805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4-E36 text 5" descr="sci-ppt:o005"/>
          <p:cNvSpPr txBox="1"/>
          <p:nvPr/>
        </p:nvSpPr>
        <p:spPr>
          <a:xfrm>
            <a:off x="46451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Transmitted E_solid, I_net</a:t>
            </a:r>
          </a:p>
        </p:txBody>
      </p:sp>
      <p:cxnSp>
        <p:nvCxnSpPr>
          <p:cNvPr id="8" name="C4-E36 arrow 6" descr="sci-ppt:o006"/>
          <p:cNvCxnSpPr/>
          <p:nvPr/>
        </p:nvCxnSpPr>
        <p:spPr>
          <a:xfrm>
            <a:off x="76809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4-E36 rect 7" descr="sci-ppt:o007"/>
          <p:cNvSpPr/>
          <p:nvPr/>
        </p:nvSpPr>
        <p:spPr>
          <a:xfrm>
            <a:off x="83667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4-E36 text 8" descr="sci-ppt:o008"/>
          <p:cNvSpPr txBox="1"/>
          <p:nvPr/>
        </p:nvSpPr>
        <p:spPr>
          <a:xfrm>
            <a:off x="85313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Release + departure cost</a:t>
            </a:r>
          </a:p>
        </p:txBody>
      </p:sp>
      <p:sp>
        <p:nvSpPr>
          <p:cNvPr id="11" name="C4-E36 text 9" descr="sci-ppt:o009"/>
          <p:cNvSpPr txBox="1"/>
          <p:nvPr/>
        </p:nvSpPr>
        <p:spPr>
          <a:xfrm>
            <a:off x="731520" y="3246120"/>
            <a:ext cx="1078992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Work, storage, fracture consumption and net impulse retain separate meanings.</a:t>
            </a:r>
          </a:p>
        </p:txBody>
      </p:sp>
      <p:cxnSp>
        <p:nvCxnSpPr>
          <p:cNvPr id="12" name="C4-E36 line 10" descr="sci-ppt:o010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3" name="C4-E36 text 11" descr="sci-ppt:o011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E_solid — available work budget</a:t>
            </a:r>
          </a:p>
        </p:txBody>
      </p:sp>
      <p:sp>
        <p:nvSpPr>
          <p:cNvPr id="14" name="C4-E36 text 12" descr="sci-ppt:o012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ΓA_f — release cost</a:t>
            </a:r>
          </a:p>
        </p:txBody>
      </p:sp>
      <p:sp>
        <p:nvSpPr>
          <p:cNvPr id="15" name="C4-E36 text 13" descr="sci-ppt:o013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m_f, v_f — finite payload translation</a:t>
            </a:r>
          </a:p>
        </p:txBody>
      </p:sp>
      <p:sp>
        <p:nvSpPr>
          <p:cNvPr id="16" name="C4-E36 text 14" descr="sci-ppt:o014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I_net — actual net impulse</a:t>
            </a:r>
          </a:p>
        </p:txBody>
      </p:sp>
      <p:sp>
        <p:nvSpPr>
          <p:cNvPr id="17" name="C4-E36 text 15" descr="sci-ppt:o015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Peak pressure supplies neither the area nor the energy budget.</a:t>
            </a:r>
          </a:p>
        </p:txBody>
      </p:sp>
      <p:sp>
        <p:nvSpPr>
          <p:cNvPr id="18" name="C4-E36 text 16" descr="sci-ppt:o016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