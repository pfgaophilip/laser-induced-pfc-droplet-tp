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02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C4-E02 · Exact mechanical definitions</a:t>
            </a:r>
          </a:p>
        </p:txBody>
      </p:sp>
      <p:sp>
        <p:nvSpPr>
          <p:cNvPr id="3" name="C4-E02 rect 1" descr="sci-ppt:o001"/>
          <p:cNvSpPr/>
          <p:nvPr/>
        </p:nvSpPr>
        <p:spPr>
          <a:xfrm>
            <a:off x="1005840" y="1280160"/>
            <a:ext cx="9144000" cy="36576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4-E02 arrow 2" descr="sci-ppt:o002"/>
          <p:cNvCxnSpPr/>
          <p:nvPr/>
        </p:nvCxnSpPr>
        <p:spPr>
          <a:xfrm flipV="1">
            <a:off x="2743200" y="1737360"/>
            <a:ext cx="0" cy="10972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5" name="C4-E02 arrow 3" descr="sci-ppt:o003"/>
          <p:cNvCxnSpPr/>
          <p:nvPr/>
        </p:nvCxnSpPr>
        <p:spPr>
          <a:xfrm flipV="1">
            <a:off x="5486400" y="1737360"/>
            <a:ext cx="0" cy="10972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6" name="C4-E02 arrow 4" descr="sci-ppt:o004"/>
          <p:cNvCxnSpPr/>
          <p:nvPr/>
        </p:nvCxnSpPr>
        <p:spPr>
          <a:xfrm flipV="1">
            <a:off x="8229600" y="1737360"/>
            <a:ext cx="0" cy="10972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7" name="C4-E02 arrow 5" descr="sci-ppt:o005"/>
          <p:cNvCxnSpPr/>
          <p:nvPr/>
        </p:nvCxnSpPr>
        <p:spPr>
          <a:xfrm>
            <a:off x="9601200" y="1691640"/>
            <a:ext cx="0" cy="8686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C4-E02 text 6" descr="sci-ppt:o006"/>
          <p:cNvSpPr txBox="1"/>
          <p:nvPr/>
        </p:nvSpPr>
        <p:spPr>
          <a:xfrm>
            <a:off x="9829800" y="2011680"/>
            <a:ext cx="18288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n_f ↓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solid → liquid</a:t>
            </a:r>
          </a:p>
        </p:txBody>
      </p:sp>
      <p:sp>
        <p:nvSpPr>
          <p:cNvPr id="9" name="C4-E02 text 7" descr="sci-ppt:o007"/>
          <p:cNvSpPr txBox="1"/>
          <p:nvPr/>
        </p:nvSpPr>
        <p:spPr>
          <a:xfrm>
            <a:off x="1005840" y="731520"/>
            <a:ext cx="91440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Film / solid; positive departure and velocity v_f ↑</a:t>
            </a:r>
          </a:p>
        </p:txBody>
      </p:sp>
      <p:sp>
        <p:nvSpPr>
          <p:cNvPr id="10" name="C4-E02 text 8" descr="sci-ppt:o008"/>
          <p:cNvSpPr txBox="1"/>
          <p:nvPr/>
        </p:nvSpPr>
        <p:spPr>
          <a:xfrm>
            <a:off x="1188720" y="3108960"/>
            <a:ext cx="91440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Liquid below: t_l = T_l n_f; pressure traction opposes n_f.</a:t>
            </a:r>
          </a:p>
        </p:txBody>
      </p:sp>
      <p:cxnSp>
        <p:nvCxnSpPr>
          <p:cNvPr id="11" name="C4-E02 line 9" descr="sci-ppt:o009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2" name="C4-E02 text 10" descr="sci-ppt:o010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A_f(t) — loaded footprint</a:t>
            </a:r>
          </a:p>
        </p:txBody>
      </p:sp>
      <p:sp>
        <p:nvSpPr>
          <p:cNvPr id="13" name="C4-E02 text 11" descr="sci-ppt:o011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t_l → applied traction</a:t>
            </a:r>
          </a:p>
        </p:txBody>
      </p:sp>
      <p:sp>
        <p:nvSpPr>
          <p:cNvPr id="14" name="C4-E02 text 12" descr="sci-ppt:o012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v_f ↑ moving film</a:t>
            </a:r>
          </a:p>
        </p:txBody>
      </p:sp>
      <p:sp>
        <p:nvSpPr>
          <p:cNvPr id="15" name="C4-E02 text 13" descr="sci-ppt:o013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F_l — surface resultant</a:t>
            </a:r>
          </a:p>
        </p:txBody>
      </p:sp>
      <p:sp>
        <p:nvSpPr>
          <p:cNvPr id="16" name="C4-E02 text 14" descr="sci-ppt:o014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I_l — force-time area</a:t>
            </a:r>
          </a:p>
        </p:txBody>
      </p:sp>
      <p:sp>
        <p:nvSpPr>
          <p:cNvPr id="17" name="C4-E02 text 15" descr="sci-ppt:o015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W_l — traction × displacement</a:t>
            </a:r>
          </a:p>
        </p:txBody>
      </p:sp>
      <p:sp>
        <p:nvSpPr>
          <p:cNvPr id="18" name="C4-E02 text 16" descr="sci-ppt:o016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t_a → t_b — event interval</a:t>
            </a:r>
          </a:p>
        </p:txBody>
      </p:sp>
      <p:sp>
        <p:nvSpPr>
          <p:cNvPr id="19" name="C4-E02 text 17" descr="sci-ppt:o017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A high pressure maximum does not specify work.</a:t>
            </a:r>
          </a:p>
        </p:txBody>
      </p:sp>
      <p:sp>
        <p:nvSpPr>
          <p:cNvPr id="20" name="C4-E02 text 18" descr="sci-ppt:o018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