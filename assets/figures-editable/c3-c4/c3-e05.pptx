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C3-E05 · Coupled spherical approximation</a:t>
            </a:r>
          </a:p>
        </p:txBody>
      </p:sp>
      <p:cxnSp>
        <p:nvCxnSpPr>
          <p:cNvPr id="3" name="C3-E05 line 1" descr="sci-ppt:o001"/>
          <p:cNvCxnSpPr/>
          <p:nvPr/>
        </p:nvCxnSpPr>
        <p:spPr>
          <a:xfrm>
            <a:off x="914400" y="5029200"/>
            <a:ext cx="59436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05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05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05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05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3-E05 line 6" descr="sci-ppt:o006"/>
          <p:cNvCxnSpPr/>
          <p:nvPr/>
        </p:nvCxnSpPr>
        <p:spPr>
          <a:xfrm>
            <a:off x="2895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05 line 7" descr="sci-ppt:o007"/>
          <p:cNvCxnSpPr/>
          <p:nvPr/>
        </p:nvCxnSpPr>
        <p:spPr>
          <a:xfrm>
            <a:off x="2895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05 text 8" descr="sci-ppt:o008"/>
          <p:cNvSpPr txBox="1"/>
          <p:nvPr/>
        </p:nvSpPr>
        <p:spPr>
          <a:xfrm>
            <a:off x="2438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3-E05 line 9" descr="sci-ppt:o009"/>
          <p:cNvCxnSpPr/>
          <p:nvPr/>
        </p:nvCxnSpPr>
        <p:spPr>
          <a:xfrm>
            <a:off x="48768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05 line 10" descr="sci-ppt:o010"/>
          <p:cNvCxnSpPr/>
          <p:nvPr/>
        </p:nvCxnSpPr>
        <p:spPr>
          <a:xfrm>
            <a:off x="48768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05 text 11" descr="sci-ppt:o011"/>
          <p:cNvSpPr txBox="1"/>
          <p:nvPr/>
        </p:nvSpPr>
        <p:spPr>
          <a:xfrm>
            <a:off x="44196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3-E05 line 12" descr="sci-ppt:o012"/>
          <p:cNvCxnSpPr/>
          <p:nvPr/>
        </p:nvCxnSpPr>
        <p:spPr>
          <a:xfrm>
            <a:off x="68580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05 line 13" descr="sci-ppt:o013"/>
          <p:cNvCxnSpPr/>
          <p:nvPr/>
        </p:nvCxnSpPr>
        <p:spPr>
          <a:xfrm>
            <a:off x="68580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05 text 14" descr="sci-ppt:o014"/>
          <p:cNvSpPr txBox="1"/>
          <p:nvPr/>
        </p:nvSpPr>
        <p:spPr>
          <a:xfrm>
            <a:off x="64008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3-E05 line 15" descr="sci-ppt:o015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05 line 16" descr="sci-ppt:o016"/>
          <p:cNvCxnSpPr/>
          <p:nvPr/>
        </p:nvCxnSpPr>
        <p:spPr>
          <a:xfrm>
            <a:off x="850392" y="3886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3-E05 line 17" descr="sci-ppt:o017"/>
          <p:cNvCxnSpPr/>
          <p:nvPr/>
        </p:nvCxnSpPr>
        <p:spPr>
          <a:xfrm>
            <a:off x="914400" y="3886200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3-E05 text 18" descr="sci-ppt:o018"/>
          <p:cNvSpPr txBox="1"/>
          <p:nvPr/>
        </p:nvSpPr>
        <p:spPr>
          <a:xfrm>
            <a:off x="45720" y="3803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1" name="C3-E05 line 19" descr="sci-ppt:o019"/>
          <p:cNvCxnSpPr/>
          <p:nvPr/>
        </p:nvCxnSpPr>
        <p:spPr>
          <a:xfrm>
            <a:off x="850392" y="2743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05 line 20" descr="sci-ppt:o020"/>
          <p:cNvCxnSpPr/>
          <p:nvPr/>
        </p:nvCxnSpPr>
        <p:spPr>
          <a:xfrm>
            <a:off x="914400" y="2743200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05 text 21" descr="sci-ppt:o021"/>
          <p:cNvSpPr txBox="1"/>
          <p:nvPr/>
        </p:nvSpPr>
        <p:spPr>
          <a:xfrm>
            <a:off x="45720" y="2660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3-E05 line 22" descr="sci-ppt:o022"/>
          <p:cNvCxnSpPr/>
          <p:nvPr/>
        </p:nvCxnSpPr>
        <p:spPr>
          <a:xfrm>
            <a:off x="850392" y="1600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05 line 23" descr="sci-ppt:o023"/>
          <p:cNvCxnSpPr/>
          <p:nvPr/>
        </p:nvCxnSpPr>
        <p:spPr>
          <a:xfrm>
            <a:off x="914400" y="1600200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05 text 24" descr="sci-ppt:o024"/>
          <p:cNvSpPr txBox="1"/>
          <p:nvPr/>
        </p:nvSpPr>
        <p:spPr>
          <a:xfrm>
            <a:off x="45720" y="1517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sp>
        <p:nvSpPr>
          <p:cNvPr id="27" name="C3-E05 text 25" descr="sci-ppt:o025"/>
          <p:cNvSpPr txBox="1"/>
          <p:nvPr/>
        </p:nvSpPr>
        <p:spPr>
          <a:xfrm>
            <a:off x="914400" y="5312664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28" name="C3-E05 text 26" descr="sci-ppt:o026"/>
          <p:cNvSpPr txBox="1"/>
          <p:nvPr/>
        </p:nvSpPr>
        <p:spPr>
          <a:xfrm>
            <a:off x="365760" y="1024128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R₀</a:t>
            </a:r>
          </a:p>
        </p:txBody>
      </p:sp>
      <p:sp>
        <p:nvSpPr>
          <p:cNvPr id="29" name="C3-E05 polygon 27" descr="sci-ppt:o027"/>
          <p:cNvSpPr/>
          <p:nvPr/>
        </p:nvSpPr>
        <p:spPr>
          <a:xfrm>
            <a:off x="914400" y="2231317"/>
            <a:ext cx="5943600" cy="1654883"/>
          </a:xfrm>
          <a:custGeom>
            <a:avLst/>
            <a:gdLst/>
            <a:ahLst/>
            <a:cxnLst/>
            <a:rect l="l" t="t" r="r" b="b"/>
            <a:pathLst>
              <a:path w="5943600" h="1654883">
                <a:moveTo>
                  <a:pt x="0" y="1654883"/>
                </a:moveTo>
                <a:lnTo>
                  <a:pt x="39690" y="1652893"/>
                </a:lnTo>
                <a:lnTo>
                  <a:pt x="79380" y="1646991"/>
                </a:lnTo>
                <a:lnTo>
                  <a:pt x="119070" y="1637353"/>
                </a:lnTo>
                <a:lnTo>
                  <a:pt x="158760" y="1624256"/>
                </a:lnTo>
                <a:lnTo>
                  <a:pt x="198450" y="1608041"/>
                </a:lnTo>
                <a:lnTo>
                  <a:pt x="238140" y="1589092"/>
                </a:lnTo>
                <a:lnTo>
                  <a:pt x="277831" y="1567805"/>
                </a:lnTo>
                <a:lnTo>
                  <a:pt x="317521" y="1544569"/>
                </a:lnTo>
                <a:lnTo>
                  <a:pt x="357211" y="1519750"/>
                </a:lnTo>
                <a:lnTo>
                  <a:pt x="396901" y="1493678"/>
                </a:lnTo>
                <a:lnTo>
                  <a:pt x="436591" y="1466649"/>
                </a:lnTo>
                <a:lnTo>
                  <a:pt x="476281" y="1438916"/>
                </a:lnTo>
                <a:lnTo>
                  <a:pt x="515971" y="1410697"/>
                </a:lnTo>
                <a:lnTo>
                  <a:pt x="555662" y="1382175"/>
                </a:lnTo>
                <a:lnTo>
                  <a:pt x="595352" y="1353503"/>
                </a:lnTo>
                <a:lnTo>
                  <a:pt x="635042" y="1324805"/>
                </a:lnTo>
                <a:lnTo>
                  <a:pt x="674732" y="1296184"/>
                </a:lnTo>
                <a:lnTo>
                  <a:pt x="714422" y="1267724"/>
                </a:lnTo>
                <a:lnTo>
                  <a:pt x="754112" y="1239490"/>
                </a:lnTo>
                <a:lnTo>
                  <a:pt x="793803" y="1211537"/>
                </a:lnTo>
                <a:lnTo>
                  <a:pt x="833493" y="1183906"/>
                </a:lnTo>
                <a:lnTo>
                  <a:pt x="873183" y="1156630"/>
                </a:lnTo>
                <a:lnTo>
                  <a:pt x="912873" y="1129733"/>
                </a:lnTo>
                <a:lnTo>
                  <a:pt x="952563" y="1103236"/>
                </a:lnTo>
                <a:lnTo>
                  <a:pt x="992253" y="1077151"/>
                </a:lnTo>
                <a:lnTo>
                  <a:pt x="1031943" y="1051489"/>
                </a:lnTo>
                <a:lnTo>
                  <a:pt x="1071634" y="1026254"/>
                </a:lnTo>
                <a:lnTo>
                  <a:pt x="1111324" y="1001451"/>
                </a:lnTo>
                <a:lnTo>
                  <a:pt x="1151014" y="977081"/>
                </a:lnTo>
                <a:lnTo>
                  <a:pt x="1190704" y="953143"/>
                </a:lnTo>
                <a:lnTo>
                  <a:pt x="1230394" y="929636"/>
                </a:lnTo>
                <a:lnTo>
                  <a:pt x="1270084" y="906555"/>
                </a:lnTo>
                <a:lnTo>
                  <a:pt x="1309774" y="883897"/>
                </a:lnTo>
                <a:lnTo>
                  <a:pt x="1349465" y="861657"/>
                </a:lnTo>
                <a:lnTo>
                  <a:pt x="1389155" y="839830"/>
                </a:lnTo>
                <a:lnTo>
                  <a:pt x="1428845" y="818410"/>
                </a:lnTo>
                <a:lnTo>
                  <a:pt x="1468535" y="797391"/>
                </a:lnTo>
                <a:lnTo>
                  <a:pt x="1508225" y="776767"/>
                </a:lnTo>
                <a:lnTo>
                  <a:pt x="1547915" y="756532"/>
                </a:lnTo>
                <a:lnTo>
                  <a:pt x="1587606" y="736679"/>
                </a:lnTo>
                <a:lnTo>
                  <a:pt x="1627296" y="717201"/>
                </a:lnTo>
                <a:lnTo>
                  <a:pt x="1666986" y="698093"/>
                </a:lnTo>
                <a:lnTo>
                  <a:pt x="1706676" y="679348"/>
                </a:lnTo>
                <a:lnTo>
                  <a:pt x="1746366" y="660959"/>
                </a:lnTo>
                <a:lnTo>
                  <a:pt x="1786056" y="642920"/>
                </a:lnTo>
                <a:lnTo>
                  <a:pt x="1825746" y="625226"/>
                </a:lnTo>
                <a:lnTo>
                  <a:pt x="1865437" y="607871"/>
                </a:lnTo>
                <a:lnTo>
                  <a:pt x="1905127" y="590847"/>
                </a:lnTo>
                <a:lnTo>
                  <a:pt x="1944817" y="574151"/>
                </a:lnTo>
                <a:lnTo>
                  <a:pt x="1984507" y="557775"/>
                </a:lnTo>
                <a:lnTo>
                  <a:pt x="2024197" y="541716"/>
                </a:lnTo>
                <a:lnTo>
                  <a:pt x="2063887" y="525967"/>
                </a:lnTo>
                <a:lnTo>
                  <a:pt x="2103577" y="510523"/>
                </a:lnTo>
                <a:lnTo>
                  <a:pt x="2143268" y="495379"/>
                </a:lnTo>
                <a:lnTo>
                  <a:pt x="2182958" y="480531"/>
                </a:lnTo>
                <a:lnTo>
                  <a:pt x="2222648" y="465974"/>
                </a:lnTo>
                <a:lnTo>
                  <a:pt x="2262338" y="451703"/>
                </a:lnTo>
                <a:lnTo>
                  <a:pt x="2302028" y="437714"/>
                </a:lnTo>
                <a:lnTo>
                  <a:pt x="2341718" y="424002"/>
                </a:lnTo>
                <a:lnTo>
                  <a:pt x="2381409" y="410564"/>
                </a:lnTo>
                <a:lnTo>
                  <a:pt x="2421099" y="397395"/>
                </a:lnTo>
                <a:lnTo>
                  <a:pt x="2460789" y="384492"/>
                </a:lnTo>
                <a:lnTo>
                  <a:pt x="2500479" y="371850"/>
                </a:lnTo>
                <a:lnTo>
                  <a:pt x="2540169" y="359466"/>
                </a:lnTo>
                <a:lnTo>
                  <a:pt x="2579859" y="347336"/>
                </a:lnTo>
                <a:lnTo>
                  <a:pt x="2619549" y="335457"/>
                </a:lnTo>
                <a:lnTo>
                  <a:pt x="2659240" y="323827"/>
                </a:lnTo>
                <a:lnTo>
                  <a:pt x="2698930" y="312440"/>
                </a:lnTo>
                <a:lnTo>
                  <a:pt x="2738620" y="301295"/>
                </a:lnTo>
                <a:lnTo>
                  <a:pt x="2778310" y="290388"/>
                </a:lnTo>
                <a:lnTo>
                  <a:pt x="2818000" y="279717"/>
                </a:lnTo>
                <a:lnTo>
                  <a:pt x="2857690" y="269278"/>
                </a:lnTo>
                <a:lnTo>
                  <a:pt x="2897380" y="259069"/>
                </a:lnTo>
                <a:lnTo>
                  <a:pt x="2937071" y="249087"/>
                </a:lnTo>
                <a:lnTo>
                  <a:pt x="2976761" y="239330"/>
                </a:lnTo>
                <a:lnTo>
                  <a:pt x="3016451" y="229795"/>
                </a:lnTo>
                <a:lnTo>
                  <a:pt x="3056141" y="220480"/>
                </a:lnTo>
                <a:lnTo>
                  <a:pt x="3095831" y="211382"/>
                </a:lnTo>
                <a:lnTo>
                  <a:pt x="3135521" y="202500"/>
                </a:lnTo>
                <a:lnTo>
                  <a:pt x="3175212" y="193830"/>
                </a:lnTo>
                <a:lnTo>
                  <a:pt x="3214902" y="185372"/>
                </a:lnTo>
                <a:lnTo>
                  <a:pt x="3254592" y="177122"/>
                </a:lnTo>
                <a:lnTo>
                  <a:pt x="3294282" y="169080"/>
                </a:lnTo>
                <a:lnTo>
                  <a:pt x="3333972" y="161242"/>
                </a:lnTo>
                <a:lnTo>
                  <a:pt x="3373662" y="153608"/>
                </a:lnTo>
                <a:lnTo>
                  <a:pt x="3413352" y="146176"/>
                </a:lnTo>
                <a:lnTo>
                  <a:pt x="3453043" y="138943"/>
                </a:lnTo>
                <a:lnTo>
                  <a:pt x="3492733" y="131908"/>
                </a:lnTo>
                <a:lnTo>
                  <a:pt x="3532423" y="125070"/>
                </a:lnTo>
                <a:lnTo>
                  <a:pt x="3572113" y="118427"/>
                </a:lnTo>
                <a:lnTo>
                  <a:pt x="3611803" y="111978"/>
                </a:lnTo>
                <a:lnTo>
                  <a:pt x="3651493" y="105721"/>
                </a:lnTo>
                <a:lnTo>
                  <a:pt x="3691183" y="99654"/>
                </a:lnTo>
                <a:lnTo>
                  <a:pt x="3730874" y="93777"/>
                </a:lnTo>
                <a:lnTo>
                  <a:pt x="3770564" y="88088"/>
                </a:lnTo>
                <a:lnTo>
                  <a:pt x="3810254" y="82587"/>
                </a:lnTo>
                <a:lnTo>
                  <a:pt x="3849944" y="77270"/>
                </a:lnTo>
                <a:lnTo>
                  <a:pt x="3889634" y="72139"/>
                </a:lnTo>
                <a:lnTo>
                  <a:pt x="3929324" y="67191"/>
                </a:lnTo>
                <a:lnTo>
                  <a:pt x="3969015" y="62426"/>
                </a:lnTo>
                <a:lnTo>
                  <a:pt x="4008705" y="57842"/>
                </a:lnTo>
                <a:lnTo>
                  <a:pt x="4048395" y="53438"/>
                </a:lnTo>
                <a:lnTo>
                  <a:pt x="4088085" y="49215"/>
                </a:lnTo>
                <a:lnTo>
                  <a:pt x="4127775" y="45170"/>
                </a:lnTo>
                <a:lnTo>
                  <a:pt x="4167465" y="41303"/>
                </a:lnTo>
                <a:lnTo>
                  <a:pt x="4207155" y="37613"/>
                </a:lnTo>
                <a:lnTo>
                  <a:pt x="4246846" y="34099"/>
                </a:lnTo>
                <a:lnTo>
                  <a:pt x="4286536" y="30761"/>
                </a:lnTo>
                <a:lnTo>
                  <a:pt x="4326226" y="27598"/>
                </a:lnTo>
                <a:lnTo>
                  <a:pt x="4365916" y="24609"/>
                </a:lnTo>
                <a:lnTo>
                  <a:pt x="4405606" y="21794"/>
                </a:lnTo>
                <a:lnTo>
                  <a:pt x="4445296" y="19152"/>
                </a:lnTo>
                <a:lnTo>
                  <a:pt x="4484986" y="16682"/>
                </a:lnTo>
                <a:lnTo>
                  <a:pt x="4524677" y="14385"/>
                </a:lnTo>
                <a:lnTo>
                  <a:pt x="4564367" y="12259"/>
                </a:lnTo>
                <a:lnTo>
                  <a:pt x="4604057" y="10304"/>
                </a:lnTo>
                <a:lnTo>
                  <a:pt x="4643747" y="8520"/>
                </a:lnTo>
                <a:lnTo>
                  <a:pt x="4683437" y="6906"/>
                </a:lnTo>
                <a:lnTo>
                  <a:pt x="4723127" y="5462"/>
                </a:lnTo>
                <a:lnTo>
                  <a:pt x="4762818" y="4188"/>
                </a:lnTo>
                <a:lnTo>
                  <a:pt x="4802508" y="3084"/>
                </a:lnTo>
                <a:lnTo>
                  <a:pt x="4842198" y="2148"/>
                </a:lnTo>
                <a:lnTo>
                  <a:pt x="4881888" y="1381"/>
                </a:lnTo>
                <a:lnTo>
                  <a:pt x="4921578" y="783"/>
                </a:lnTo>
                <a:lnTo>
                  <a:pt x="4961268" y="354"/>
                </a:lnTo>
                <a:lnTo>
                  <a:pt x="5000958" y="93"/>
                </a:lnTo>
                <a:lnTo>
                  <a:pt x="5040649" y="0"/>
                </a:lnTo>
                <a:lnTo>
                  <a:pt x="5080339" y="76"/>
                </a:lnTo>
                <a:lnTo>
                  <a:pt x="5120029" y="320"/>
                </a:lnTo>
                <a:lnTo>
                  <a:pt x="5159719" y="732"/>
                </a:lnTo>
                <a:lnTo>
                  <a:pt x="5199409" y="1313"/>
                </a:lnTo>
                <a:lnTo>
                  <a:pt x="5239099" y="2062"/>
                </a:lnTo>
                <a:lnTo>
                  <a:pt x="5278789" y="2979"/>
                </a:lnTo>
                <a:lnTo>
                  <a:pt x="5318480" y="4065"/>
                </a:lnTo>
                <a:lnTo>
                  <a:pt x="5358170" y="5320"/>
                </a:lnTo>
                <a:lnTo>
                  <a:pt x="5397860" y="6743"/>
                </a:lnTo>
                <a:lnTo>
                  <a:pt x="5437550" y="8336"/>
                </a:lnTo>
                <a:lnTo>
                  <a:pt x="5477240" y="10098"/>
                </a:lnTo>
                <a:lnTo>
                  <a:pt x="5516930" y="12030"/>
                </a:lnTo>
                <a:lnTo>
                  <a:pt x="5556621" y="14131"/>
                </a:lnTo>
                <a:lnTo>
                  <a:pt x="5596311" y="16403"/>
                </a:lnTo>
                <a:lnTo>
                  <a:pt x="5636001" y="18846"/>
                </a:lnTo>
                <a:lnTo>
                  <a:pt x="5675691" y="21460"/>
                </a:lnTo>
                <a:lnTo>
                  <a:pt x="5715381" y="24245"/>
                </a:lnTo>
                <a:lnTo>
                  <a:pt x="5755071" y="27202"/>
                </a:lnTo>
                <a:lnTo>
                  <a:pt x="5794761" y="30332"/>
                </a:lnTo>
                <a:lnTo>
                  <a:pt x="5834452" y="33635"/>
                </a:lnTo>
                <a:lnTo>
                  <a:pt x="5874142" y="37111"/>
                </a:lnTo>
                <a:lnTo>
                  <a:pt x="5913832" y="40762"/>
                </a:lnTo>
                <a:lnTo>
                  <a:pt x="5943600" y="43615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3-E05 polygon 28" descr="sci-ppt:o028"/>
          <p:cNvSpPr/>
          <p:nvPr/>
        </p:nvSpPr>
        <p:spPr>
          <a:xfrm>
            <a:off x="914400" y="2227731"/>
            <a:ext cx="5943600" cy="1658469"/>
          </a:xfrm>
          <a:custGeom>
            <a:avLst/>
            <a:gdLst/>
            <a:ahLst/>
            <a:cxnLst/>
            <a:rect l="l" t="t" r="r" b="b"/>
            <a:pathLst>
              <a:path w="5943600" h="1658469">
                <a:moveTo>
                  <a:pt x="0" y="1658469"/>
                </a:moveTo>
                <a:lnTo>
                  <a:pt x="39690" y="1656763"/>
                </a:lnTo>
                <a:lnTo>
                  <a:pt x="79380" y="1651695"/>
                </a:lnTo>
                <a:lnTo>
                  <a:pt x="119070" y="1643402"/>
                </a:lnTo>
                <a:lnTo>
                  <a:pt x="158760" y="1632095"/>
                </a:lnTo>
                <a:lnTo>
                  <a:pt x="198450" y="1618040"/>
                </a:lnTo>
                <a:lnTo>
                  <a:pt x="238140" y="1601542"/>
                </a:lnTo>
                <a:lnTo>
                  <a:pt x="277831" y="1582918"/>
                </a:lnTo>
                <a:lnTo>
                  <a:pt x="317521" y="1562490"/>
                </a:lnTo>
                <a:lnTo>
                  <a:pt x="357211" y="1540561"/>
                </a:lnTo>
                <a:lnTo>
                  <a:pt x="396901" y="1517414"/>
                </a:lnTo>
                <a:lnTo>
                  <a:pt x="436591" y="1493307"/>
                </a:lnTo>
                <a:lnTo>
                  <a:pt x="476281" y="1468464"/>
                </a:lnTo>
                <a:lnTo>
                  <a:pt x="515971" y="1443082"/>
                </a:lnTo>
                <a:lnTo>
                  <a:pt x="555662" y="1417329"/>
                </a:lnTo>
                <a:lnTo>
                  <a:pt x="595352" y="1391349"/>
                </a:lnTo>
                <a:lnTo>
                  <a:pt x="635042" y="1365261"/>
                </a:lnTo>
                <a:lnTo>
                  <a:pt x="674732" y="1339164"/>
                </a:lnTo>
                <a:lnTo>
                  <a:pt x="714422" y="1313141"/>
                </a:lnTo>
                <a:lnTo>
                  <a:pt x="754112" y="1287259"/>
                </a:lnTo>
                <a:lnTo>
                  <a:pt x="793803" y="1261573"/>
                </a:lnTo>
                <a:lnTo>
                  <a:pt x="833493" y="1236126"/>
                </a:lnTo>
                <a:lnTo>
                  <a:pt x="873183" y="1210955"/>
                </a:lnTo>
                <a:lnTo>
                  <a:pt x="912873" y="1186085"/>
                </a:lnTo>
                <a:lnTo>
                  <a:pt x="952563" y="1161540"/>
                </a:lnTo>
                <a:lnTo>
                  <a:pt x="992253" y="1137335"/>
                </a:lnTo>
                <a:lnTo>
                  <a:pt x="1031943" y="1113482"/>
                </a:lnTo>
                <a:lnTo>
                  <a:pt x="1071634" y="1089990"/>
                </a:lnTo>
                <a:lnTo>
                  <a:pt x="1111324" y="1066865"/>
                </a:lnTo>
                <a:lnTo>
                  <a:pt x="1151014" y="1044110"/>
                </a:lnTo>
                <a:lnTo>
                  <a:pt x="1190704" y="1021726"/>
                </a:lnTo>
                <a:lnTo>
                  <a:pt x="1230394" y="999714"/>
                </a:lnTo>
                <a:lnTo>
                  <a:pt x="1270084" y="978072"/>
                </a:lnTo>
                <a:lnTo>
                  <a:pt x="1309774" y="956797"/>
                </a:lnTo>
                <a:lnTo>
                  <a:pt x="1349465" y="935887"/>
                </a:lnTo>
                <a:lnTo>
                  <a:pt x="1389155" y="915338"/>
                </a:lnTo>
                <a:lnTo>
                  <a:pt x="1428845" y="895144"/>
                </a:lnTo>
                <a:lnTo>
                  <a:pt x="1468535" y="875302"/>
                </a:lnTo>
                <a:lnTo>
                  <a:pt x="1508225" y="855806"/>
                </a:lnTo>
                <a:lnTo>
                  <a:pt x="1547915" y="836651"/>
                </a:lnTo>
                <a:lnTo>
                  <a:pt x="1587606" y="817831"/>
                </a:lnTo>
                <a:lnTo>
                  <a:pt x="1627296" y="799341"/>
                </a:lnTo>
                <a:lnTo>
                  <a:pt x="1666986" y="781175"/>
                </a:lnTo>
                <a:lnTo>
                  <a:pt x="1706676" y="763328"/>
                </a:lnTo>
                <a:lnTo>
                  <a:pt x="1746366" y="745794"/>
                </a:lnTo>
                <a:lnTo>
                  <a:pt x="1786056" y="728567"/>
                </a:lnTo>
                <a:lnTo>
                  <a:pt x="1825746" y="711643"/>
                </a:lnTo>
                <a:lnTo>
                  <a:pt x="1865437" y="695014"/>
                </a:lnTo>
                <a:lnTo>
                  <a:pt x="1905127" y="678677"/>
                </a:lnTo>
                <a:lnTo>
                  <a:pt x="1944817" y="662626"/>
                </a:lnTo>
                <a:lnTo>
                  <a:pt x="1984507" y="646856"/>
                </a:lnTo>
                <a:lnTo>
                  <a:pt x="2024197" y="631361"/>
                </a:lnTo>
                <a:lnTo>
                  <a:pt x="2063887" y="616138"/>
                </a:lnTo>
                <a:lnTo>
                  <a:pt x="2103577" y="601180"/>
                </a:lnTo>
                <a:lnTo>
                  <a:pt x="2143268" y="586484"/>
                </a:lnTo>
                <a:lnTo>
                  <a:pt x="2182958" y="572044"/>
                </a:lnTo>
                <a:lnTo>
                  <a:pt x="2222648" y="557857"/>
                </a:lnTo>
                <a:lnTo>
                  <a:pt x="2262338" y="543919"/>
                </a:lnTo>
                <a:lnTo>
                  <a:pt x="2302028" y="530224"/>
                </a:lnTo>
                <a:lnTo>
                  <a:pt x="2341718" y="516769"/>
                </a:lnTo>
                <a:lnTo>
                  <a:pt x="2381409" y="503549"/>
                </a:lnTo>
                <a:lnTo>
                  <a:pt x="2421099" y="490562"/>
                </a:lnTo>
                <a:lnTo>
                  <a:pt x="2460789" y="477803"/>
                </a:lnTo>
                <a:lnTo>
                  <a:pt x="2500479" y="465269"/>
                </a:lnTo>
                <a:lnTo>
                  <a:pt x="2540169" y="452956"/>
                </a:lnTo>
                <a:lnTo>
                  <a:pt x="2579859" y="440860"/>
                </a:lnTo>
                <a:lnTo>
                  <a:pt x="2619549" y="428979"/>
                </a:lnTo>
                <a:lnTo>
                  <a:pt x="2659240" y="417309"/>
                </a:lnTo>
                <a:lnTo>
                  <a:pt x="2698930" y="405847"/>
                </a:lnTo>
                <a:lnTo>
                  <a:pt x="2738620" y="394590"/>
                </a:lnTo>
                <a:lnTo>
                  <a:pt x="2778310" y="383535"/>
                </a:lnTo>
                <a:lnTo>
                  <a:pt x="2818000" y="372679"/>
                </a:lnTo>
                <a:lnTo>
                  <a:pt x="2857690" y="362020"/>
                </a:lnTo>
                <a:lnTo>
                  <a:pt x="2897380" y="351554"/>
                </a:lnTo>
                <a:lnTo>
                  <a:pt x="2937071" y="341280"/>
                </a:lnTo>
                <a:lnTo>
                  <a:pt x="2976761" y="331194"/>
                </a:lnTo>
                <a:lnTo>
                  <a:pt x="3016451" y="321294"/>
                </a:lnTo>
                <a:lnTo>
                  <a:pt x="3056141" y="311578"/>
                </a:lnTo>
                <a:lnTo>
                  <a:pt x="3095831" y="302043"/>
                </a:lnTo>
                <a:lnTo>
                  <a:pt x="3135521" y="292688"/>
                </a:lnTo>
                <a:lnTo>
                  <a:pt x="3175212" y="283509"/>
                </a:lnTo>
                <a:lnTo>
                  <a:pt x="3214902" y="274506"/>
                </a:lnTo>
                <a:lnTo>
                  <a:pt x="3254592" y="265675"/>
                </a:lnTo>
                <a:lnTo>
                  <a:pt x="3294282" y="257015"/>
                </a:lnTo>
                <a:lnTo>
                  <a:pt x="3333972" y="248523"/>
                </a:lnTo>
                <a:lnTo>
                  <a:pt x="3373662" y="240199"/>
                </a:lnTo>
                <a:lnTo>
                  <a:pt x="3413352" y="232040"/>
                </a:lnTo>
                <a:lnTo>
                  <a:pt x="3453043" y="224045"/>
                </a:lnTo>
                <a:lnTo>
                  <a:pt x="3492733" y="216211"/>
                </a:lnTo>
                <a:lnTo>
                  <a:pt x="3532423" y="208537"/>
                </a:lnTo>
                <a:lnTo>
                  <a:pt x="3572113" y="201021"/>
                </a:lnTo>
                <a:lnTo>
                  <a:pt x="3611803" y="193663"/>
                </a:lnTo>
                <a:lnTo>
                  <a:pt x="3651493" y="186459"/>
                </a:lnTo>
                <a:lnTo>
                  <a:pt x="3691183" y="179410"/>
                </a:lnTo>
                <a:lnTo>
                  <a:pt x="3730874" y="172513"/>
                </a:lnTo>
                <a:lnTo>
                  <a:pt x="3770564" y="165767"/>
                </a:lnTo>
                <a:lnTo>
                  <a:pt x="3810254" y="159170"/>
                </a:lnTo>
                <a:lnTo>
                  <a:pt x="3849944" y="152722"/>
                </a:lnTo>
                <a:lnTo>
                  <a:pt x="3889634" y="146421"/>
                </a:lnTo>
                <a:lnTo>
                  <a:pt x="3929324" y="140266"/>
                </a:lnTo>
                <a:lnTo>
                  <a:pt x="3969015" y="134256"/>
                </a:lnTo>
                <a:lnTo>
                  <a:pt x="4008705" y="128389"/>
                </a:lnTo>
                <a:lnTo>
                  <a:pt x="4048395" y="122665"/>
                </a:lnTo>
                <a:lnTo>
                  <a:pt x="4088085" y="117082"/>
                </a:lnTo>
                <a:lnTo>
                  <a:pt x="4127775" y="111639"/>
                </a:lnTo>
                <a:lnTo>
                  <a:pt x="4167465" y="106336"/>
                </a:lnTo>
                <a:lnTo>
                  <a:pt x="4207155" y="101170"/>
                </a:lnTo>
                <a:lnTo>
                  <a:pt x="4246846" y="96143"/>
                </a:lnTo>
                <a:lnTo>
                  <a:pt x="4286536" y="91251"/>
                </a:lnTo>
                <a:lnTo>
                  <a:pt x="4326226" y="86495"/>
                </a:lnTo>
                <a:lnTo>
                  <a:pt x="4365916" y="81874"/>
                </a:lnTo>
                <a:lnTo>
                  <a:pt x="4405606" y="77386"/>
                </a:lnTo>
                <a:lnTo>
                  <a:pt x="4445296" y="73032"/>
                </a:lnTo>
                <a:lnTo>
                  <a:pt x="4484986" y="68809"/>
                </a:lnTo>
                <a:lnTo>
                  <a:pt x="4524677" y="64719"/>
                </a:lnTo>
                <a:lnTo>
                  <a:pt x="4564367" y="60759"/>
                </a:lnTo>
                <a:lnTo>
                  <a:pt x="4604057" y="56929"/>
                </a:lnTo>
                <a:lnTo>
                  <a:pt x="4643747" y="53228"/>
                </a:lnTo>
                <a:lnTo>
                  <a:pt x="4683437" y="49657"/>
                </a:lnTo>
                <a:lnTo>
                  <a:pt x="4723127" y="46213"/>
                </a:lnTo>
                <a:lnTo>
                  <a:pt x="4762818" y="42897"/>
                </a:lnTo>
                <a:lnTo>
                  <a:pt x="4802508" y="39708"/>
                </a:lnTo>
                <a:lnTo>
                  <a:pt x="4842198" y="36645"/>
                </a:lnTo>
                <a:lnTo>
                  <a:pt x="4881888" y="33708"/>
                </a:lnTo>
                <a:lnTo>
                  <a:pt x="4921578" y="30897"/>
                </a:lnTo>
                <a:lnTo>
                  <a:pt x="4961268" y="28210"/>
                </a:lnTo>
                <a:lnTo>
                  <a:pt x="5000958" y="25648"/>
                </a:lnTo>
                <a:lnTo>
                  <a:pt x="5040649" y="23210"/>
                </a:lnTo>
                <a:lnTo>
                  <a:pt x="5080339" y="20896"/>
                </a:lnTo>
                <a:lnTo>
                  <a:pt x="5120029" y="18704"/>
                </a:lnTo>
                <a:lnTo>
                  <a:pt x="5159719" y="16636"/>
                </a:lnTo>
                <a:lnTo>
                  <a:pt x="5199409" y="14690"/>
                </a:lnTo>
                <a:lnTo>
                  <a:pt x="5239099" y="12866"/>
                </a:lnTo>
                <a:lnTo>
                  <a:pt x="5278789" y="11164"/>
                </a:lnTo>
                <a:lnTo>
                  <a:pt x="5318480" y="9583"/>
                </a:lnTo>
                <a:lnTo>
                  <a:pt x="5358170" y="8124"/>
                </a:lnTo>
                <a:lnTo>
                  <a:pt x="5397860" y="6786"/>
                </a:lnTo>
                <a:lnTo>
                  <a:pt x="5437550" y="5569"/>
                </a:lnTo>
                <a:lnTo>
                  <a:pt x="5477240" y="4472"/>
                </a:lnTo>
                <a:lnTo>
                  <a:pt x="5516930" y="3495"/>
                </a:lnTo>
                <a:lnTo>
                  <a:pt x="5556621" y="2639"/>
                </a:lnTo>
                <a:lnTo>
                  <a:pt x="5596311" y="1903"/>
                </a:lnTo>
                <a:lnTo>
                  <a:pt x="5636001" y="1286"/>
                </a:lnTo>
                <a:lnTo>
                  <a:pt x="5675691" y="790"/>
                </a:lnTo>
                <a:lnTo>
                  <a:pt x="5715381" y="413"/>
                </a:lnTo>
                <a:lnTo>
                  <a:pt x="5755071" y="156"/>
                </a:lnTo>
                <a:lnTo>
                  <a:pt x="5794761" y="18"/>
                </a:lnTo>
                <a:lnTo>
                  <a:pt x="5834452" y="0"/>
                </a:lnTo>
                <a:lnTo>
                  <a:pt x="5874142" y="101"/>
                </a:lnTo>
                <a:lnTo>
                  <a:pt x="5913832" y="322"/>
                </a:lnTo>
                <a:lnTo>
                  <a:pt x="5943600" y="566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3-E05 polygon 29" descr="sci-ppt:o029"/>
          <p:cNvSpPr/>
          <p:nvPr/>
        </p:nvSpPr>
        <p:spPr>
          <a:xfrm>
            <a:off x="914400" y="2234452"/>
            <a:ext cx="5943600" cy="1651748"/>
          </a:xfrm>
          <a:custGeom>
            <a:avLst/>
            <a:gdLst/>
            <a:ahLst/>
            <a:cxnLst/>
            <a:rect l="l" t="t" r="r" b="b"/>
            <a:pathLst>
              <a:path w="5943600" h="1651748">
                <a:moveTo>
                  <a:pt x="0" y="1651748"/>
                </a:moveTo>
                <a:lnTo>
                  <a:pt x="39690" y="1650255"/>
                </a:lnTo>
                <a:lnTo>
                  <a:pt x="79380" y="1645815"/>
                </a:lnTo>
                <a:lnTo>
                  <a:pt x="119070" y="1638535"/>
                </a:lnTo>
                <a:lnTo>
                  <a:pt x="158760" y="1628583"/>
                </a:lnTo>
                <a:lnTo>
                  <a:pt x="198450" y="1616174"/>
                </a:lnTo>
                <a:lnTo>
                  <a:pt x="238140" y="1601551"/>
                </a:lnTo>
                <a:lnTo>
                  <a:pt x="277831" y="1584979"/>
                </a:lnTo>
                <a:lnTo>
                  <a:pt x="317521" y="1566723"/>
                </a:lnTo>
                <a:lnTo>
                  <a:pt x="357211" y="1547043"/>
                </a:lnTo>
                <a:lnTo>
                  <a:pt x="396901" y="1526182"/>
                </a:lnTo>
                <a:lnTo>
                  <a:pt x="436591" y="1504364"/>
                </a:lnTo>
                <a:lnTo>
                  <a:pt x="476281" y="1481793"/>
                </a:lnTo>
                <a:lnTo>
                  <a:pt x="515971" y="1458645"/>
                </a:lnTo>
                <a:lnTo>
                  <a:pt x="555662" y="1435075"/>
                </a:lnTo>
                <a:lnTo>
                  <a:pt x="595352" y="1411219"/>
                </a:lnTo>
                <a:lnTo>
                  <a:pt x="635042" y="1387188"/>
                </a:lnTo>
                <a:lnTo>
                  <a:pt x="674732" y="1363081"/>
                </a:lnTo>
                <a:lnTo>
                  <a:pt x="714422" y="1338976"/>
                </a:lnTo>
                <a:lnTo>
                  <a:pt x="754112" y="1314942"/>
                </a:lnTo>
                <a:lnTo>
                  <a:pt x="793803" y="1291034"/>
                </a:lnTo>
                <a:lnTo>
                  <a:pt x="833493" y="1267297"/>
                </a:lnTo>
                <a:lnTo>
                  <a:pt x="873183" y="1243769"/>
                </a:lnTo>
                <a:lnTo>
                  <a:pt x="912873" y="1220479"/>
                </a:lnTo>
                <a:lnTo>
                  <a:pt x="952563" y="1197450"/>
                </a:lnTo>
                <a:lnTo>
                  <a:pt x="992253" y="1174702"/>
                </a:lnTo>
                <a:lnTo>
                  <a:pt x="1031943" y="1152249"/>
                </a:lnTo>
                <a:lnTo>
                  <a:pt x="1071634" y="1130102"/>
                </a:lnTo>
                <a:lnTo>
                  <a:pt x="1111324" y="1108269"/>
                </a:lnTo>
                <a:lnTo>
                  <a:pt x="1151014" y="1086755"/>
                </a:lnTo>
                <a:lnTo>
                  <a:pt x="1190704" y="1065564"/>
                </a:lnTo>
                <a:lnTo>
                  <a:pt x="1230394" y="1044697"/>
                </a:lnTo>
                <a:lnTo>
                  <a:pt x="1270084" y="1024155"/>
                </a:lnTo>
                <a:lnTo>
                  <a:pt x="1309774" y="1003938"/>
                </a:lnTo>
                <a:lnTo>
                  <a:pt x="1349465" y="984043"/>
                </a:lnTo>
                <a:lnTo>
                  <a:pt x="1389155" y="964468"/>
                </a:lnTo>
                <a:lnTo>
                  <a:pt x="1428845" y="945209"/>
                </a:lnTo>
                <a:lnTo>
                  <a:pt x="1468535" y="926265"/>
                </a:lnTo>
                <a:lnTo>
                  <a:pt x="1508225" y="907630"/>
                </a:lnTo>
                <a:lnTo>
                  <a:pt x="1547915" y="889300"/>
                </a:lnTo>
                <a:lnTo>
                  <a:pt x="1587606" y="871271"/>
                </a:lnTo>
                <a:lnTo>
                  <a:pt x="1627296" y="853538"/>
                </a:lnTo>
                <a:lnTo>
                  <a:pt x="1666986" y="836097"/>
                </a:lnTo>
                <a:lnTo>
                  <a:pt x="1706676" y="818942"/>
                </a:lnTo>
                <a:lnTo>
                  <a:pt x="1746366" y="802069"/>
                </a:lnTo>
                <a:lnTo>
                  <a:pt x="1786056" y="785474"/>
                </a:lnTo>
                <a:lnTo>
                  <a:pt x="1825746" y="769151"/>
                </a:lnTo>
                <a:lnTo>
                  <a:pt x="1865437" y="753095"/>
                </a:lnTo>
                <a:lnTo>
                  <a:pt x="1905127" y="737302"/>
                </a:lnTo>
                <a:lnTo>
                  <a:pt x="1944817" y="721767"/>
                </a:lnTo>
                <a:lnTo>
                  <a:pt x="1984507" y="706486"/>
                </a:lnTo>
                <a:lnTo>
                  <a:pt x="2024197" y="691453"/>
                </a:lnTo>
                <a:lnTo>
                  <a:pt x="2063887" y="676665"/>
                </a:lnTo>
                <a:lnTo>
                  <a:pt x="2103577" y="662117"/>
                </a:lnTo>
                <a:lnTo>
                  <a:pt x="2143268" y="647805"/>
                </a:lnTo>
                <a:lnTo>
                  <a:pt x="2182958" y="633724"/>
                </a:lnTo>
                <a:lnTo>
                  <a:pt x="2222648" y="619872"/>
                </a:lnTo>
                <a:lnTo>
                  <a:pt x="2262338" y="606242"/>
                </a:lnTo>
                <a:lnTo>
                  <a:pt x="2302028" y="592833"/>
                </a:lnTo>
                <a:lnTo>
                  <a:pt x="2341718" y="579640"/>
                </a:lnTo>
                <a:lnTo>
                  <a:pt x="2381409" y="566658"/>
                </a:lnTo>
                <a:lnTo>
                  <a:pt x="2421099" y="553886"/>
                </a:lnTo>
                <a:lnTo>
                  <a:pt x="2460789" y="541319"/>
                </a:lnTo>
                <a:lnTo>
                  <a:pt x="2500479" y="528954"/>
                </a:lnTo>
                <a:lnTo>
                  <a:pt x="2540169" y="516787"/>
                </a:lnTo>
                <a:lnTo>
                  <a:pt x="2579859" y="504815"/>
                </a:lnTo>
                <a:lnTo>
                  <a:pt x="2619549" y="493036"/>
                </a:lnTo>
                <a:lnTo>
                  <a:pt x="2659240" y="481446"/>
                </a:lnTo>
                <a:lnTo>
                  <a:pt x="2698930" y="470043"/>
                </a:lnTo>
                <a:lnTo>
                  <a:pt x="2738620" y="458822"/>
                </a:lnTo>
                <a:lnTo>
                  <a:pt x="2778310" y="447782"/>
                </a:lnTo>
                <a:lnTo>
                  <a:pt x="2818000" y="436921"/>
                </a:lnTo>
                <a:lnTo>
                  <a:pt x="2857690" y="426234"/>
                </a:lnTo>
                <a:lnTo>
                  <a:pt x="2897380" y="415720"/>
                </a:lnTo>
                <a:lnTo>
                  <a:pt x="2937071" y="405376"/>
                </a:lnTo>
                <a:lnTo>
                  <a:pt x="2976761" y="395200"/>
                </a:lnTo>
                <a:lnTo>
                  <a:pt x="3016451" y="385189"/>
                </a:lnTo>
                <a:lnTo>
                  <a:pt x="3056141" y="375342"/>
                </a:lnTo>
                <a:lnTo>
                  <a:pt x="3095831" y="365655"/>
                </a:lnTo>
                <a:lnTo>
                  <a:pt x="3135521" y="356128"/>
                </a:lnTo>
                <a:lnTo>
                  <a:pt x="3175212" y="346756"/>
                </a:lnTo>
                <a:lnTo>
                  <a:pt x="3214902" y="337540"/>
                </a:lnTo>
                <a:lnTo>
                  <a:pt x="3254592" y="328476"/>
                </a:lnTo>
                <a:lnTo>
                  <a:pt x="3294282" y="319562"/>
                </a:lnTo>
                <a:lnTo>
                  <a:pt x="3333972" y="310798"/>
                </a:lnTo>
                <a:lnTo>
                  <a:pt x="3373662" y="302180"/>
                </a:lnTo>
                <a:lnTo>
                  <a:pt x="3413352" y="293708"/>
                </a:lnTo>
                <a:lnTo>
                  <a:pt x="3453043" y="285379"/>
                </a:lnTo>
                <a:lnTo>
                  <a:pt x="3492733" y="277192"/>
                </a:lnTo>
                <a:lnTo>
                  <a:pt x="3532423" y="269145"/>
                </a:lnTo>
                <a:lnTo>
                  <a:pt x="3572113" y="261237"/>
                </a:lnTo>
                <a:lnTo>
                  <a:pt x="3611803" y="253466"/>
                </a:lnTo>
                <a:lnTo>
                  <a:pt x="3651493" y="245830"/>
                </a:lnTo>
                <a:lnTo>
                  <a:pt x="3691183" y="238328"/>
                </a:lnTo>
                <a:lnTo>
                  <a:pt x="3730874" y="230959"/>
                </a:lnTo>
                <a:lnTo>
                  <a:pt x="3770564" y="223721"/>
                </a:lnTo>
                <a:lnTo>
                  <a:pt x="3810254" y="216613"/>
                </a:lnTo>
                <a:lnTo>
                  <a:pt x="3849944" y="209634"/>
                </a:lnTo>
                <a:lnTo>
                  <a:pt x="3889634" y="202782"/>
                </a:lnTo>
                <a:lnTo>
                  <a:pt x="3929324" y="196056"/>
                </a:lnTo>
                <a:lnTo>
                  <a:pt x="3969015" y="189455"/>
                </a:lnTo>
                <a:lnTo>
                  <a:pt x="4008705" y="182977"/>
                </a:lnTo>
                <a:lnTo>
                  <a:pt x="4048395" y="176623"/>
                </a:lnTo>
                <a:lnTo>
                  <a:pt x="4088085" y="170389"/>
                </a:lnTo>
                <a:lnTo>
                  <a:pt x="4127775" y="164276"/>
                </a:lnTo>
                <a:lnTo>
                  <a:pt x="4167465" y="158283"/>
                </a:lnTo>
                <a:lnTo>
                  <a:pt x="4207155" y="152407"/>
                </a:lnTo>
                <a:lnTo>
                  <a:pt x="4246846" y="146649"/>
                </a:lnTo>
                <a:lnTo>
                  <a:pt x="4286536" y="141008"/>
                </a:lnTo>
                <a:lnTo>
                  <a:pt x="4326226" y="135482"/>
                </a:lnTo>
                <a:lnTo>
                  <a:pt x="4365916" y="130070"/>
                </a:lnTo>
                <a:lnTo>
                  <a:pt x="4405606" y="124772"/>
                </a:lnTo>
                <a:lnTo>
                  <a:pt x="4445296" y="119586"/>
                </a:lnTo>
                <a:lnTo>
                  <a:pt x="4484986" y="114513"/>
                </a:lnTo>
                <a:lnTo>
                  <a:pt x="4524677" y="109550"/>
                </a:lnTo>
                <a:lnTo>
                  <a:pt x="4564367" y="104698"/>
                </a:lnTo>
                <a:lnTo>
                  <a:pt x="4604057" y="99956"/>
                </a:lnTo>
                <a:lnTo>
                  <a:pt x="4643747" y="95322"/>
                </a:lnTo>
                <a:lnTo>
                  <a:pt x="4683437" y="90796"/>
                </a:lnTo>
                <a:lnTo>
                  <a:pt x="4723127" y="86378"/>
                </a:lnTo>
                <a:lnTo>
                  <a:pt x="4762818" y="82066"/>
                </a:lnTo>
                <a:lnTo>
                  <a:pt x="4802508" y="77861"/>
                </a:lnTo>
                <a:lnTo>
                  <a:pt x="4842198" y="73760"/>
                </a:lnTo>
                <a:lnTo>
                  <a:pt x="4881888" y="69765"/>
                </a:lnTo>
                <a:lnTo>
                  <a:pt x="4921578" y="65873"/>
                </a:lnTo>
                <a:lnTo>
                  <a:pt x="4961268" y="62085"/>
                </a:lnTo>
                <a:lnTo>
                  <a:pt x="5000958" y="58400"/>
                </a:lnTo>
                <a:lnTo>
                  <a:pt x="5040649" y="54818"/>
                </a:lnTo>
                <a:lnTo>
                  <a:pt x="5080339" y="51337"/>
                </a:lnTo>
                <a:lnTo>
                  <a:pt x="5120029" y="47958"/>
                </a:lnTo>
                <a:lnTo>
                  <a:pt x="5159719" y="44680"/>
                </a:lnTo>
                <a:lnTo>
                  <a:pt x="5199409" y="41502"/>
                </a:lnTo>
                <a:lnTo>
                  <a:pt x="5239099" y="38424"/>
                </a:lnTo>
                <a:lnTo>
                  <a:pt x="5278789" y="35445"/>
                </a:lnTo>
                <a:lnTo>
                  <a:pt x="5318480" y="32566"/>
                </a:lnTo>
                <a:lnTo>
                  <a:pt x="5358170" y="29785"/>
                </a:lnTo>
                <a:lnTo>
                  <a:pt x="5397860" y="27103"/>
                </a:lnTo>
                <a:lnTo>
                  <a:pt x="5437550" y="24518"/>
                </a:lnTo>
                <a:lnTo>
                  <a:pt x="5477240" y="22031"/>
                </a:lnTo>
                <a:lnTo>
                  <a:pt x="5516930" y="19641"/>
                </a:lnTo>
                <a:lnTo>
                  <a:pt x="5556621" y="17348"/>
                </a:lnTo>
                <a:lnTo>
                  <a:pt x="5596311" y="15151"/>
                </a:lnTo>
                <a:lnTo>
                  <a:pt x="5636001" y="13050"/>
                </a:lnTo>
                <a:lnTo>
                  <a:pt x="5675691" y="11045"/>
                </a:lnTo>
                <a:lnTo>
                  <a:pt x="5715381" y="9136"/>
                </a:lnTo>
                <a:lnTo>
                  <a:pt x="5755071" y="7322"/>
                </a:lnTo>
                <a:lnTo>
                  <a:pt x="5794761" y="5603"/>
                </a:lnTo>
                <a:lnTo>
                  <a:pt x="5834452" y="3979"/>
                </a:lnTo>
                <a:lnTo>
                  <a:pt x="5874142" y="2450"/>
                </a:lnTo>
                <a:lnTo>
                  <a:pt x="5913832" y="1014"/>
                </a:lnTo>
                <a:lnTo>
                  <a:pt x="5943600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3-E05 rect 30" descr="sci-ppt:o030"/>
          <p:cNvSpPr/>
          <p:nvPr/>
        </p:nvSpPr>
        <p:spPr>
          <a:xfrm>
            <a:off x="1188720" y="1481328"/>
            <a:ext cx="274320" cy="182880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3-E05 text 31" descr="sci-ppt:o031"/>
          <p:cNvSpPr txBox="1"/>
          <p:nvPr/>
        </p:nvSpPr>
        <p:spPr>
          <a:xfrm>
            <a:off x="1572768" y="1435608"/>
            <a:ext cx="3840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isolated bubble</a:t>
            </a:r>
          </a:p>
        </p:txBody>
      </p:sp>
      <p:sp>
        <p:nvSpPr>
          <p:cNvPr id="34" name="C3-E05 rect 32" descr="sci-ppt:o032"/>
          <p:cNvSpPr/>
          <p:nvPr/>
        </p:nvSpPr>
        <p:spPr>
          <a:xfrm>
            <a:off x="1188720" y="1810512"/>
            <a:ext cx="274320" cy="182880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3-E05 text 33" descr="sci-ppt:o033"/>
          <p:cNvSpPr txBox="1"/>
          <p:nvPr/>
        </p:nvSpPr>
        <p:spPr>
          <a:xfrm>
            <a:off x="1572768" y="1764792"/>
            <a:ext cx="3840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identical neighbour, d = 30 µm</a:t>
            </a:r>
          </a:p>
        </p:txBody>
      </p:sp>
      <p:sp>
        <p:nvSpPr>
          <p:cNvPr id="36" name="C3-E05 rect 34" descr="sci-ppt:o034"/>
          <p:cNvSpPr/>
          <p:nvPr/>
        </p:nvSpPr>
        <p:spPr>
          <a:xfrm>
            <a:off x="1188720" y="2139696"/>
            <a:ext cx="274320" cy="182880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3-E05 text 35" descr="sci-ppt:o035"/>
          <p:cNvSpPr txBox="1"/>
          <p:nvPr/>
        </p:nvSpPr>
        <p:spPr>
          <a:xfrm>
            <a:off x="1572768" y="2093976"/>
            <a:ext cx="3840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identical neighbour, d = 15 µm</a:t>
            </a:r>
          </a:p>
        </p:txBody>
      </p:sp>
      <p:sp>
        <p:nvSpPr>
          <p:cNvPr id="38" name="C3-E05 round_rect 36" descr="sci-ppt:o036"/>
          <p:cNvSpPr/>
          <p:nvPr/>
        </p:nvSpPr>
        <p:spPr>
          <a:xfrm>
            <a:off x="7132320" y="1371600"/>
            <a:ext cx="470916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3-E05 text 37" descr="sci-ppt:o037"/>
          <p:cNvSpPr txBox="1"/>
          <p:nvPr/>
        </p:nvSpPr>
        <p:spPr>
          <a:xfrm>
            <a:off x="7242048" y="1426464"/>
            <a:ext cx="44897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Same equation, extra inertia</a:t>
            </a:r>
          </a:p>
        </p:txBody>
      </p:sp>
      <p:sp>
        <p:nvSpPr>
          <p:cNvPr id="40" name="C3-E05 text 38" descr="sci-ppt:o038"/>
          <p:cNvSpPr txBox="1"/>
          <p:nvPr/>
        </p:nvSpPr>
        <p:spPr>
          <a:xfrm>
            <a:off x="7269480" y="1828800"/>
            <a:ext cx="4480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R_iR̈ᵢ + (3/2)Ṙᵢ² + Σ (Rⱼ²R̈ⱼ + 2RⱼṘⱼ²)/dᵢⱼ = Bᵢ</a:t>
            </a:r>
          </a:p>
        </p:txBody>
      </p:sp>
      <p:sp>
        <p:nvSpPr>
          <p:cNvPr id="41" name="C3-E05 text 39" descr="sci-ppt:o039"/>
          <p:cNvSpPr txBox="1"/>
          <p:nvPr/>
        </p:nvSpPr>
        <p:spPr>
          <a:xfrm>
            <a:off x="7269480" y="2606040"/>
            <a:ext cx="448056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Bᵢ = [p_b,i − p∞ − 2σ_b/Rᵢ − 4μṘᵢ/Rᵢ] / ρ  (isolated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driving)</a:t>
            </a:r>
          </a:p>
        </p:txBody>
      </p:sp>
      <p:sp>
        <p:nvSpPr>
          <p:cNvPr id="42" name="C3-E05 text 40" descr="sci-ppt:o040"/>
          <p:cNvSpPr txBox="1"/>
          <p:nvPr/>
        </p:nvSpPr>
        <p:spPr>
          <a:xfrm>
            <a:off x="7470648" y="3291840"/>
            <a:ext cx="427939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Identical neighbours move together, so the extra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term acts as added liquid mass.</a:t>
            </a:r>
          </a:p>
        </p:txBody>
      </p:sp>
      <p:sp>
        <p:nvSpPr>
          <p:cNvPr id="43" name="C3-E05 ellipse 41" descr="sci-ppt:o041"/>
          <p:cNvSpPr/>
          <p:nvPr/>
        </p:nvSpPr>
        <p:spPr>
          <a:xfrm>
            <a:off x="7301483" y="33451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3-E05 text 42" descr="sci-ppt:o042"/>
          <p:cNvSpPr txBox="1"/>
          <p:nvPr/>
        </p:nvSpPr>
        <p:spPr>
          <a:xfrm>
            <a:off x="7470648" y="3755136"/>
            <a:ext cx="427939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closer the neighbour, the slower the expansion.</a:t>
            </a:r>
          </a:p>
        </p:txBody>
      </p:sp>
      <p:sp>
        <p:nvSpPr>
          <p:cNvPr id="45" name="C3-E05 ellipse 43" descr="sci-ppt:o043"/>
          <p:cNvSpPr/>
          <p:nvPr/>
        </p:nvSpPr>
        <p:spPr>
          <a:xfrm>
            <a:off x="7301483" y="380847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3-E05 text 44" descr="sci-ppt:o044"/>
          <p:cNvSpPr txBox="1"/>
          <p:nvPr/>
        </p:nvSpPr>
        <p:spPr>
          <a:xfrm>
            <a:off x="7470648" y="4032503"/>
            <a:ext cx="427939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Energy is shared, not created.</a:t>
            </a:r>
          </a:p>
        </p:txBody>
      </p:sp>
      <p:sp>
        <p:nvSpPr>
          <p:cNvPr id="47" name="C3-E05 ellipse 45" descr="sci-ppt:o045"/>
          <p:cNvSpPr/>
          <p:nvPr/>
        </p:nvSpPr>
        <p:spPr>
          <a:xfrm>
            <a:off x="7301483" y="4085843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3-E05 text 46" descr="sci-ppt:o046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Two identical bubbles (p_g0 = 1 MPa, γ = 1.4) integrated with the coupled equation of Eq. C3-E05.</a:t>
            </a:r>
          </a:p>
        </p:txBody>
      </p:sp>
      <p:sp>
        <p:nvSpPr>
          <p:cNvPr id="49" name="C3-E05 text 47" descr="sci-ppt:o04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Coupled spherical approximation of Eq. C3-E05 for N = 2 identical bubbles.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