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C4-E23 · Checked teaching substitution</a:t>
            </a:r>
          </a:p>
        </p:txBody>
      </p:sp>
      <p:sp>
        <p:nvSpPr>
          <p:cNvPr id="3" name="C4-E23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Teaching calculation, step by step</a:t>
            </a:r>
          </a:p>
        </p:txBody>
      </p:sp>
      <p:sp>
        <p:nvSpPr>
          <p:cNvPr id="4" name="C4-E23 round_rect 2" descr="sci-ppt:o002"/>
          <p:cNvSpPr/>
          <p:nvPr/>
        </p:nvSpPr>
        <p:spPr>
          <a:xfrm>
            <a:off x="457200" y="1371600"/>
            <a:ext cx="5532120" cy="21945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4-E23 text 3" descr="sci-ppt:o003"/>
          <p:cNvSpPr txBox="1"/>
          <p:nvPr/>
        </p:nvSpPr>
        <p:spPr>
          <a:xfrm>
            <a:off x="566928" y="1426464"/>
            <a:ext cx="531266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FC8F8"/>
                </a:solidFill>
                <a:latin typeface="Arial"/>
              </a:rPr>
              <a:t>plate stiffness</a:t>
            </a:r>
          </a:p>
        </p:txBody>
      </p:sp>
      <p:sp>
        <p:nvSpPr>
          <p:cNvPr id="6" name="C4-E23 text 4" descr="sci-ppt:o004"/>
          <p:cNvSpPr txBox="1"/>
          <p:nvPr/>
        </p:nvSpPr>
        <p:spPr>
          <a:xfrm>
            <a:off x="594360" y="1828800"/>
            <a:ext cx="53035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D_f = E_f h_f³ / [12(1 − ν²)]</a:t>
            </a:r>
          </a:p>
        </p:txBody>
      </p:sp>
      <p:sp>
        <p:nvSpPr>
          <p:cNvPr id="7" name="C4-E23 text 5" descr="sci-ppt:o005"/>
          <p:cNvSpPr txBox="1"/>
          <p:nvPr/>
        </p:nvSpPr>
        <p:spPr>
          <a:xfrm>
            <a:off x="594360" y="2331720"/>
            <a:ext cx="53035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E_f = 2.00 GPa, h_f = 10.0 µm, ν = 0.35</a:t>
            </a:r>
          </a:p>
        </p:txBody>
      </p:sp>
      <p:sp>
        <p:nvSpPr>
          <p:cNvPr id="8" name="C4-E23 text 6" descr="sci-ppt:o006"/>
          <p:cNvSpPr txBox="1"/>
          <p:nvPr/>
        </p:nvSpPr>
        <p:spPr>
          <a:xfrm>
            <a:off x="594360" y="2834640"/>
            <a:ext cx="530352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FC8F8"/>
                </a:solidFill>
                <a:latin typeface="Arial"/>
              </a:rPr>
              <a:t>D_f = 1.899335e-07 N m</a:t>
            </a:r>
          </a:p>
        </p:txBody>
      </p:sp>
      <p:sp>
        <p:nvSpPr>
          <p:cNvPr id="9" name="C4-E23 round_rect 7" descr="sci-ppt:o007"/>
          <p:cNvSpPr/>
          <p:nvPr/>
        </p:nvSpPr>
        <p:spPr>
          <a:xfrm>
            <a:off x="6172200" y="1371600"/>
            <a:ext cx="5532120" cy="21945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23 text 8" descr="sci-ppt:o008"/>
          <p:cNvSpPr txBox="1"/>
          <p:nvPr/>
        </p:nvSpPr>
        <p:spPr>
          <a:xfrm>
            <a:off x="6281928" y="1426464"/>
            <a:ext cx="531266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critical pressure</a:t>
            </a:r>
          </a:p>
        </p:txBody>
      </p:sp>
      <p:sp>
        <p:nvSpPr>
          <p:cNvPr id="11" name="C4-E23 text 9" descr="sci-ppt:o009"/>
          <p:cNvSpPr txBox="1"/>
          <p:nvPr/>
        </p:nvSpPr>
        <p:spPr>
          <a:xfrm>
            <a:off x="6309360" y="1828800"/>
            <a:ext cx="53035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p₀,crit = √(128 D_f Γ) / b²</a:t>
            </a:r>
          </a:p>
        </p:txBody>
      </p:sp>
      <p:sp>
        <p:nvSpPr>
          <p:cNvPr id="12" name="C4-E23 text 10" descr="sci-ppt:o010"/>
          <p:cNvSpPr txBox="1"/>
          <p:nvPr/>
        </p:nvSpPr>
        <p:spPr>
          <a:xfrm>
            <a:off x="6309360" y="2331720"/>
            <a:ext cx="53035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Γ = 0.10 J/m², b = 100 µm</a:t>
            </a:r>
          </a:p>
        </p:txBody>
      </p:sp>
      <p:sp>
        <p:nvSpPr>
          <p:cNvPr id="13" name="C4-E23 text 11" descr="sci-ppt:o011"/>
          <p:cNvSpPr txBox="1"/>
          <p:nvPr/>
        </p:nvSpPr>
        <p:spPr>
          <a:xfrm>
            <a:off x="6309360" y="2834640"/>
            <a:ext cx="530352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p₀,crit = 155.921 kPa</a:t>
            </a:r>
          </a:p>
        </p:txBody>
      </p:sp>
      <p:sp>
        <p:nvSpPr>
          <p:cNvPr id="14" name="C4-E23 round_rect 12" descr="sci-ppt:o012"/>
          <p:cNvSpPr/>
          <p:nvPr/>
        </p:nvSpPr>
        <p:spPr>
          <a:xfrm>
            <a:off x="457200" y="3931920"/>
            <a:ext cx="246888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4-E23 text 13" descr="sci-ppt:o013"/>
          <p:cNvSpPr txBox="1"/>
          <p:nvPr/>
        </p:nvSpPr>
        <p:spPr>
          <a:xfrm>
            <a:off x="530352" y="3986783"/>
            <a:ext cx="232257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B4C7D2"/>
                </a:solidFill>
                <a:latin typeface="Arial"/>
              </a:rPr>
              <a:t>inputs</a:t>
            </a:r>
          </a:p>
        </p:txBody>
      </p:sp>
      <p:sp>
        <p:nvSpPr>
          <p:cNvPr id="16" name="C4-E23 text 14" descr="sci-ppt:o014"/>
          <p:cNvSpPr txBox="1"/>
          <p:nvPr/>
        </p:nvSpPr>
        <p:spPr>
          <a:xfrm>
            <a:off x="530352" y="4259960"/>
            <a:ext cx="232257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E_f, h_f, ν, Γ, b</a:t>
            </a:r>
          </a:p>
        </p:txBody>
      </p:sp>
      <p:cxnSp>
        <p:nvCxnSpPr>
          <p:cNvPr id="17" name="C4-E23 arrow 15" descr="sci-ppt:o015"/>
          <p:cNvCxnSpPr/>
          <p:nvPr/>
        </p:nvCxnSpPr>
        <p:spPr>
          <a:xfrm>
            <a:off x="2953512" y="4434840"/>
            <a:ext cx="40233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8" name="C4-E23 round_rect 16" descr="sci-ppt:o016"/>
          <p:cNvSpPr/>
          <p:nvPr/>
        </p:nvSpPr>
        <p:spPr>
          <a:xfrm>
            <a:off x="3383280" y="3931920"/>
            <a:ext cx="246888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4-E23 text 17" descr="sci-ppt:o017"/>
          <p:cNvSpPr txBox="1"/>
          <p:nvPr/>
        </p:nvSpPr>
        <p:spPr>
          <a:xfrm>
            <a:off x="3456432" y="3986783"/>
            <a:ext cx="232257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7FC8F8"/>
                </a:solidFill>
                <a:latin typeface="Arial"/>
              </a:rPr>
              <a:t>D_f</a:t>
            </a:r>
          </a:p>
        </p:txBody>
      </p:sp>
      <p:sp>
        <p:nvSpPr>
          <p:cNvPr id="20" name="C4-E23 text 18" descr="sci-ppt:o018"/>
          <p:cNvSpPr txBox="1"/>
          <p:nvPr/>
        </p:nvSpPr>
        <p:spPr>
          <a:xfrm>
            <a:off x="3456432" y="4259960"/>
            <a:ext cx="232257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1.899e-07 N m</a:t>
            </a:r>
          </a:p>
        </p:txBody>
      </p:sp>
      <p:cxnSp>
        <p:nvCxnSpPr>
          <p:cNvPr id="21" name="C4-E23 arrow 19" descr="sci-ppt:o019"/>
          <p:cNvCxnSpPr/>
          <p:nvPr/>
        </p:nvCxnSpPr>
        <p:spPr>
          <a:xfrm>
            <a:off x="5879592" y="4434840"/>
            <a:ext cx="40233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22" name="C4-E23 round_rect 20" descr="sci-ppt:o020"/>
          <p:cNvSpPr/>
          <p:nvPr/>
        </p:nvSpPr>
        <p:spPr>
          <a:xfrm>
            <a:off x="6309360" y="3931920"/>
            <a:ext cx="246888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4-E23 text 21" descr="sci-ppt:o021"/>
          <p:cNvSpPr txBox="1"/>
          <p:nvPr/>
        </p:nvSpPr>
        <p:spPr>
          <a:xfrm>
            <a:off x="6382512" y="3986783"/>
            <a:ext cx="232257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28BA0"/>
                </a:solidFill>
                <a:latin typeface="Arial"/>
              </a:rPr>
              <a:t>√(128 D_f Γ)</a:t>
            </a:r>
          </a:p>
        </p:txBody>
      </p:sp>
      <p:sp>
        <p:nvSpPr>
          <p:cNvPr id="24" name="C4-E23 text 22" descr="sci-ppt:o022"/>
          <p:cNvSpPr txBox="1"/>
          <p:nvPr/>
        </p:nvSpPr>
        <p:spPr>
          <a:xfrm>
            <a:off x="6382512" y="4259960"/>
            <a:ext cx="232257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1.5592e-03</a:t>
            </a:r>
          </a:p>
        </p:txBody>
      </p:sp>
      <p:cxnSp>
        <p:nvCxnSpPr>
          <p:cNvPr id="25" name="C4-E23 arrow 23" descr="sci-ppt:o023"/>
          <p:cNvCxnSpPr/>
          <p:nvPr/>
        </p:nvCxnSpPr>
        <p:spPr>
          <a:xfrm>
            <a:off x="8805672" y="4434840"/>
            <a:ext cx="40233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26" name="C4-E23 round_rect 24" descr="sci-ppt:o024"/>
          <p:cNvSpPr/>
          <p:nvPr/>
        </p:nvSpPr>
        <p:spPr>
          <a:xfrm>
            <a:off x="9235440" y="3931920"/>
            <a:ext cx="246888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4-E23 text 25" descr="sci-ppt:o025"/>
          <p:cNvSpPr txBox="1"/>
          <p:nvPr/>
        </p:nvSpPr>
        <p:spPr>
          <a:xfrm>
            <a:off x="9308592" y="3986783"/>
            <a:ext cx="232257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÷ b²</a:t>
            </a:r>
          </a:p>
        </p:txBody>
      </p:sp>
      <p:sp>
        <p:nvSpPr>
          <p:cNvPr id="28" name="C4-E23 text 26" descr="sci-ppt:o026"/>
          <p:cNvSpPr txBox="1"/>
          <p:nvPr/>
        </p:nvSpPr>
        <p:spPr>
          <a:xfrm>
            <a:off x="9308592" y="4259960"/>
            <a:ext cx="232257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155.92 kPa</a:t>
            </a:r>
          </a:p>
        </p:txBody>
      </p:sp>
      <p:sp>
        <p:nvSpPr>
          <p:cNvPr id="29" name="C4-E23 text 27" descr="sci-ppt:o027"/>
          <p:cNvSpPr txBox="1"/>
          <p:nvPr/>
        </p:nvSpPr>
        <p:spPr>
          <a:xfrm>
            <a:off x="457200" y="5212080"/>
            <a:ext cx="1124712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The 156 kPa threshold is conditional: it holds for this plate, this interface energy and this geometry, with pressure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maintained.</a:t>
            </a:r>
          </a:p>
        </p:txBody>
      </p:sp>
      <p:sp>
        <p:nvSpPr>
          <p:cNvPr id="30" name="C4-E23 text 28" descr="sci-ppt:o028"/>
          <p:cNvSpPr txBox="1"/>
          <p:nvPr/>
        </p:nvSpPr>
        <p:spPr>
          <a:xfrm>
            <a:off x="457200" y="5760720"/>
            <a:ext cx="11247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It is far below the 47 MPa early-contact scale of Chapter 3, but the pulse lasts only nanoseconds.</a:t>
            </a:r>
          </a:p>
        </p:txBody>
      </p:sp>
      <p:sp>
        <p:nvSpPr>
          <p:cNvPr id="31" name="C4-E23 text 29" descr="sci-ppt:o02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Checked substitution of Eq. C4-E23 (all inputs are declared teaching values).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