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8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C4-E18 · Exact geometric volume integral for the benchmark</a:t>
            </a:r>
          </a:p>
        </p:txBody>
      </p:sp>
      <p:cxnSp>
        <p:nvCxnSpPr>
          <p:cNvPr id="3" name="C4-E18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18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18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18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18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18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18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18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18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18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18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18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18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18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18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18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18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18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18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18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18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18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18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18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18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18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18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18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18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18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18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18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18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18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18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18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18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18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18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18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18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18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18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18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18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18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18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18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18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18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18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18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18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18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18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18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18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18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18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18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18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18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18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18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18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18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18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18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18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18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18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18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18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18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18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18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18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18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18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18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18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18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18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18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18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18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18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18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18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18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18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18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18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18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18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18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18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18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V_bl — volume below lifted plate</a:t>
            </a:r>
          </a:p>
        </p:txBody>
      </p:sp>
      <p:sp>
        <p:nvSpPr>
          <p:cNvPr id="101" name="C4-E18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w(r) ↑ local opening</a:t>
            </a:r>
          </a:p>
        </p:txBody>
      </p:sp>
      <p:sp>
        <p:nvSpPr>
          <p:cNvPr id="102" name="C4-E18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dr → annular area weight</a:t>
            </a:r>
          </a:p>
        </p:txBody>
      </p:sp>
      <p:sp>
        <p:nvSpPr>
          <p:cNvPr id="103" name="C4-E18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 — circular crack edge</a:t>
            </a:r>
          </a:p>
        </p:txBody>
      </p:sp>
      <p:sp>
        <p:nvSpPr>
          <p:cNvPr id="104" name="C4-E18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p₀, D_f — compliance inputs</a:t>
            </a:r>
          </a:p>
        </p:txBody>
      </p:sp>
      <p:sp>
        <p:nvSpPr>
          <p:cNvPr id="105" name="C4-E18 text 103" descr="sci-ppt:o103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Every annulus contributes its own displacement.</a:t>
            </a:r>
          </a:p>
        </p:txBody>
      </p:sp>
      <p:sp>
        <p:nvSpPr>
          <p:cNvPr id="106" name="C4-E18 text 104" descr="sci-ppt:o104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