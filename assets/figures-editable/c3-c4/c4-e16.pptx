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4-E16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C4-E16 · Exact solution of the stated linear-plate benchmark</a:t>
            </a:r>
          </a:p>
        </p:txBody>
      </p:sp>
      <p:cxnSp>
        <p:nvCxnSpPr>
          <p:cNvPr id="3" name="C4-E16 line 1" descr="sci-ppt:o001"/>
          <p:cNvCxnSpPr/>
          <p:nvPr/>
        </p:nvCxnSpPr>
        <p:spPr>
          <a:xfrm>
            <a:off x="914400" y="4937760"/>
            <a:ext cx="5669280" cy="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4" name="C4-E16 line 2" descr="sci-ppt:o002"/>
          <p:cNvCxnSpPr/>
          <p:nvPr/>
        </p:nvCxnSpPr>
        <p:spPr>
          <a:xfrm>
            <a:off x="914400" y="1371600"/>
            <a:ext cx="0" cy="356616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5" name="C4-E16 line 3" descr="sci-ppt:o003"/>
          <p:cNvCxnSpPr/>
          <p:nvPr/>
        </p:nvCxnSpPr>
        <p:spPr>
          <a:xfrm>
            <a:off x="914400" y="493776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6" name="C4-E16 line 4" descr="sci-ppt:o004"/>
          <p:cNvCxnSpPr/>
          <p:nvPr/>
        </p:nvCxnSpPr>
        <p:spPr>
          <a:xfrm>
            <a:off x="914400" y="1371600"/>
            <a:ext cx="0" cy="356616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7" name="C4-E16 text 5" descr="sci-ppt:o005"/>
          <p:cNvSpPr txBox="1"/>
          <p:nvPr/>
        </p:nvSpPr>
        <p:spPr>
          <a:xfrm>
            <a:off x="457200" y="502005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0.00</a:t>
            </a:r>
          </a:p>
        </p:txBody>
      </p:sp>
      <p:cxnSp>
        <p:nvCxnSpPr>
          <p:cNvPr id="8" name="C4-E16 line 6" descr="sci-ppt:o006"/>
          <p:cNvCxnSpPr/>
          <p:nvPr/>
        </p:nvCxnSpPr>
        <p:spPr>
          <a:xfrm>
            <a:off x="2331720" y="493776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9" name="C4-E16 line 7" descr="sci-ppt:o007"/>
          <p:cNvCxnSpPr/>
          <p:nvPr/>
        </p:nvCxnSpPr>
        <p:spPr>
          <a:xfrm>
            <a:off x="2331720" y="1371600"/>
            <a:ext cx="0" cy="356616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0" name="C4-E16 text 8" descr="sci-ppt:o008"/>
          <p:cNvSpPr txBox="1"/>
          <p:nvPr/>
        </p:nvSpPr>
        <p:spPr>
          <a:xfrm>
            <a:off x="1874519" y="502005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0.25</a:t>
            </a:r>
          </a:p>
        </p:txBody>
      </p:sp>
      <p:cxnSp>
        <p:nvCxnSpPr>
          <p:cNvPr id="11" name="C4-E16 line 9" descr="sci-ppt:o009"/>
          <p:cNvCxnSpPr/>
          <p:nvPr/>
        </p:nvCxnSpPr>
        <p:spPr>
          <a:xfrm>
            <a:off x="3749039" y="493776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2" name="C4-E16 line 10" descr="sci-ppt:o010"/>
          <p:cNvCxnSpPr/>
          <p:nvPr/>
        </p:nvCxnSpPr>
        <p:spPr>
          <a:xfrm>
            <a:off x="3749039" y="1371600"/>
            <a:ext cx="0" cy="356616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3" name="C4-E16 text 11" descr="sci-ppt:o011"/>
          <p:cNvSpPr txBox="1"/>
          <p:nvPr/>
        </p:nvSpPr>
        <p:spPr>
          <a:xfrm>
            <a:off x="3291839" y="502005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0.50</a:t>
            </a:r>
          </a:p>
        </p:txBody>
      </p:sp>
      <p:cxnSp>
        <p:nvCxnSpPr>
          <p:cNvPr id="14" name="C4-E16 line 12" descr="sci-ppt:o012"/>
          <p:cNvCxnSpPr/>
          <p:nvPr/>
        </p:nvCxnSpPr>
        <p:spPr>
          <a:xfrm>
            <a:off x="5166360" y="493776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5" name="C4-E16 line 13" descr="sci-ppt:o013"/>
          <p:cNvCxnSpPr/>
          <p:nvPr/>
        </p:nvCxnSpPr>
        <p:spPr>
          <a:xfrm>
            <a:off x="5166360" y="1371600"/>
            <a:ext cx="0" cy="356616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6" name="C4-E16 text 14" descr="sci-ppt:o014"/>
          <p:cNvSpPr txBox="1"/>
          <p:nvPr/>
        </p:nvSpPr>
        <p:spPr>
          <a:xfrm>
            <a:off x="4709160" y="502005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0.75</a:t>
            </a:r>
          </a:p>
        </p:txBody>
      </p:sp>
      <p:cxnSp>
        <p:nvCxnSpPr>
          <p:cNvPr id="17" name="C4-E16 line 15" descr="sci-ppt:o015"/>
          <p:cNvCxnSpPr/>
          <p:nvPr/>
        </p:nvCxnSpPr>
        <p:spPr>
          <a:xfrm>
            <a:off x="6583680" y="493776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8" name="C4-E16 line 16" descr="sci-ppt:o016"/>
          <p:cNvCxnSpPr/>
          <p:nvPr/>
        </p:nvCxnSpPr>
        <p:spPr>
          <a:xfrm>
            <a:off x="6583680" y="1371600"/>
            <a:ext cx="0" cy="356616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9" name="C4-E16 text 17" descr="sci-ppt:o017"/>
          <p:cNvSpPr txBox="1"/>
          <p:nvPr/>
        </p:nvSpPr>
        <p:spPr>
          <a:xfrm>
            <a:off x="6126480" y="502005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1.00</a:t>
            </a:r>
          </a:p>
        </p:txBody>
      </p:sp>
      <p:cxnSp>
        <p:nvCxnSpPr>
          <p:cNvPr id="20" name="C4-E16 line 18" descr="sci-ppt:o018"/>
          <p:cNvCxnSpPr/>
          <p:nvPr/>
        </p:nvCxnSpPr>
        <p:spPr>
          <a:xfrm>
            <a:off x="850392" y="493776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1" name="C4-E16 line 19" descr="sci-ppt:o019"/>
          <p:cNvCxnSpPr/>
          <p:nvPr/>
        </p:nvCxnSpPr>
        <p:spPr>
          <a:xfrm>
            <a:off x="850392" y="3316778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2" name="C4-E16 line 20" descr="sci-ppt:o020"/>
          <p:cNvCxnSpPr/>
          <p:nvPr/>
        </p:nvCxnSpPr>
        <p:spPr>
          <a:xfrm>
            <a:off x="914400" y="3316778"/>
            <a:ext cx="566928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3" name="C4-E16 text 21" descr="sci-ppt:o021"/>
          <p:cNvSpPr txBox="1"/>
          <p:nvPr/>
        </p:nvSpPr>
        <p:spPr>
          <a:xfrm>
            <a:off x="45720" y="3234482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0.5</a:t>
            </a:r>
          </a:p>
        </p:txBody>
      </p:sp>
      <p:cxnSp>
        <p:nvCxnSpPr>
          <p:cNvPr id="24" name="C4-E16 line 22" descr="sci-ppt:o022"/>
          <p:cNvCxnSpPr/>
          <p:nvPr/>
        </p:nvCxnSpPr>
        <p:spPr>
          <a:xfrm>
            <a:off x="850392" y="1695796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5" name="C4-E16 line 23" descr="sci-ppt:o023"/>
          <p:cNvCxnSpPr/>
          <p:nvPr/>
        </p:nvCxnSpPr>
        <p:spPr>
          <a:xfrm>
            <a:off x="914400" y="1695796"/>
            <a:ext cx="566928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6" name="C4-E16 text 24" descr="sci-ppt:o024"/>
          <p:cNvSpPr txBox="1"/>
          <p:nvPr/>
        </p:nvSpPr>
        <p:spPr>
          <a:xfrm>
            <a:off x="45720" y="1613500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1.0</a:t>
            </a:r>
          </a:p>
        </p:txBody>
      </p:sp>
      <p:sp>
        <p:nvSpPr>
          <p:cNvPr id="27" name="C4-E16 text 25" descr="sci-ppt:o025"/>
          <p:cNvSpPr txBox="1"/>
          <p:nvPr/>
        </p:nvSpPr>
        <p:spPr>
          <a:xfrm>
            <a:off x="914400" y="5221224"/>
            <a:ext cx="566928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r / b</a:t>
            </a:r>
          </a:p>
        </p:txBody>
      </p:sp>
      <p:sp>
        <p:nvSpPr>
          <p:cNvPr id="28" name="C4-E16 text 26" descr="sci-ppt:o026"/>
          <p:cNvSpPr txBox="1"/>
          <p:nvPr/>
        </p:nvSpPr>
        <p:spPr>
          <a:xfrm>
            <a:off x="365760" y="1024128"/>
            <a:ext cx="566928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w(r) / w(0)</a:t>
            </a:r>
          </a:p>
        </p:txBody>
      </p:sp>
      <p:sp>
        <p:nvSpPr>
          <p:cNvPr id="29" name="C4-E16 polygon 27" descr="sci-ppt:o027"/>
          <p:cNvSpPr/>
          <p:nvPr/>
        </p:nvSpPr>
        <p:spPr>
          <a:xfrm>
            <a:off x="914400" y="1695796"/>
            <a:ext cx="5669280" cy="3241964"/>
          </a:xfrm>
          <a:custGeom>
            <a:avLst/>
            <a:gdLst/>
            <a:ahLst/>
            <a:cxnLst/>
            <a:rect l="l" t="t" r="r" b="b"/>
            <a:pathLst>
              <a:path w="5669280" h="3241964">
                <a:moveTo>
                  <a:pt x="0" y="0"/>
                </a:moveTo>
                <a:lnTo>
                  <a:pt x="28488" y="164"/>
                </a:lnTo>
                <a:lnTo>
                  <a:pt x="56977" y="655"/>
                </a:lnTo>
                <a:lnTo>
                  <a:pt x="85466" y="1473"/>
                </a:lnTo>
                <a:lnTo>
                  <a:pt x="113955" y="2619"/>
                </a:lnTo>
                <a:lnTo>
                  <a:pt x="142444" y="4092"/>
                </a:lnTo>
                <a:lnTo>
                  <a:pt x="170933" y="5892"/>
                </a:lnTo>
                <a:lnTo>
                  <a:pt x="199421" y="8018"/>
                </a:lnTo>
                <a:lnTo>
                  <a:pt x="227910" y="10470"/>
                </a:lnTo>
                <a:lnTo>
                  <a:pt x="256399" y="13249"/>
                </a:lnTo>
                <a:lnTo>
                  <a:pt x="284888" y="16352"/>
                </a:lnTo>
                <a:lnTo>
                  <a:pt x="313377" y="19781"/>
                </a:lnTo>
                <a:lnTo>
                  <a:pt x="341866" y="23534"/>
                </a:lnTo>
                <a:lnTo>
                  <a:pt x="370354" y="27611"/>
                </a:lnTo>
                <a:lnTo>
                  <a:pt x="398843" y="32012"/>
                </a:lnTo>
                <a:lnTo>
                  <a:pt x="427332" y="36735"/>
                </a:lnTo>
                <a:lnTo>
                  <a:pt x="455821" y="41780"/>
                </a:lnTo>
                <a:lnTo>
                  <a:pt x="484310" y="47146"/>
                </a:lnTo>
                <a:lnTo>
                  <a:pt x="512799" y="52832"/>
                </a:lnTo>
                <a:lnTo>
                  <a:pt x="541288" y="58837"/>
                </a:lnTo>
                <a:lnTo>
                  <a:pt x="569776" y="65162"/>
                </a:lnTo>
                <a:lnTo>
                  <a:pt x="598265" y="71803"/>
                </a:lnTo>
                <a:lnTo>
                  <a:pt x="626754" y="78762"/>
                </a:lnTo>
                <a:lnTo>
                  <a:pt x="655243" y="86035"/>
                </a:lnTo>
                <a:lnTo>
                  <a:pt x="683732" y="93623"/>
                </a:lnTo>
                <a:lnTo>
                  <a:pt x="712221" y="101524"/>
                </a:lnTo>
                <a:lnTo>
                  <a:pt x="740709" y="109738"/>
                </a:lnTo>
                <a:lnTo>
                  <a:pt x="769198" y="118261"/>
                </a:lnTo>
                <a:lnTo>
                  <a:pt x="797687" y="127095"/>
                </a:lnTo>
                <a:lnTo>
                  <a:pt x="826176" y="136236"/>
                </a:lnTo>
                <a:lnTo>
                  <a:pt x="854665" y="145684"/>
                </a:lnTo>
                <a:lnTo>
                  <a:pt x="883154" y="155437"/>
                </a:lnTo>
                <a:lnTo>
                  <a:pt x="911643" y="165493"/>
                </a:lnTo>
                <a:lnTo>
                  <a:pt x="940131" y="175852"/>
                </a:lnTo>
                <a:lnTo>
                  <a:pt x="968620" y="186511"/>
                </a:lnTo>
                <a:lnTo>
                  <a:pt x="997109" y="197469"/>
                </a:lnTo>
                <a:lnTo>
                  <a:pt x="1025598" y="208724"/>
                </a:lnTo>
                <a:lnTo>
                  <a:pt x="1054087" y="220274"/>
                </a:lnTo>
                <a:lnTo>
                  <a:pt x="1082576" y="232117"/>
                </a:lnTo>
                <a:lnTo>
                  <a:pt x="1111064" y="244253"/>
                </a:lnTo>
                <a:lnTo>
                  <a:pt x="1139553" y="256678"/>
                </a:lnTo>
                <a:lnTo>
                  <a:pt x="1168042" y="269391"/>
                </a:lnTo>
                <a:lnTo>
                  <a:pt x="1196531" y="282389"/>
                </a:lnTo>
                <a:lnTo>
                  <a:pt x="1225020" y="295672"/>
                </a:lnTo>
                <a:lnTo>
                  <a:pt x="1253509" y="309236"/>
                </a:lnTo>
                <a:lnTo>
                  <a:pt x="1281997" y="323079"/>
                </a:lnTo>
                <a:lnTo>
                  <a:pt x="1310486" y="337199"/>
                </a:lnTo>
                <a:lnTo>
                  <a:pt x="1338975" y="351595"/>
                </a:lnTo>
                <a:lnTo>
                  <a:pt x="1367464" y="366263"/>
                </a:lnTo>
                <a:lnTo>
                  <a:pt x="1395953" y="381202"/>
                </a:lnTo>
                <a:lnTo>
                  <a:pt x="1424442" y="396408"/>
                </a:lnTo>
                <a:lnTo>
                  <a:pt x="1452931" y="411880"/>
                </a:lnTo>
                <a:lnTo>
                  <a:pt x="1481419" y="427615"/>
                </a:lnTo>
                <a:lnTo>
                  <a:pt x="1509908" y="443610"/>
                </a:lnTo>
                <a:lnTo>
                  <a:pt x="1538397" y="459863"/>
                </a:lnTo>
                <a:lnTo>
                  <a:pt x="1566886" y="476371"/>
                </a:lnTo>
                <a:lnTo>
                  <a:pt x="1595375" y="493131"/>
                </a:lnTo>
                <a:lnTo>
                  <a:pt x="1623864" y="510141"/>
                </a:lnTo>
                <a:lnTo>
                  <a:pt x="1652352" y="527398"/>
                </a:lnTo>
                <a:lnTo>
                  <a:pt x="1680841" y="544899"/>
                </a:lnTo>
                <a:lnTo>
                  <a:pt x="1709330" y="562641"/>
                </a:lnTo>
                <a:lnTo>
                  <a:pt x="1737819" y="580621"/>
                </a:lnTo>
                <a:lnTo>
                  <a:pt x="1766308" y="598837"/>
                </a:lnTo>
                <a:lnTo>
                  <a:pt x="1794797" y="617284"/>
                </a:lnTo>
                <a:lnTo>
                  <a:pt x="1823286" y="635961"/>
                </a:lnTo>
                <a:lnTo>
                  <a:pt x="1851774" y="654863"/>
                </a:lnTo>
                <a:lnTo>
                  <a:pt x="1880263" y="673988"/>
                </a:lnTo>
                <a:lnTo>
                  <a:pt x="1908752" y="693332"/>
                </a:lnTo>
                <a:lnTo>
                  <a:pt x="1937241" y="712893"/>
                </a:lnTo>
                <a:lnTo>
                  <a:pt x="1965730" y="732666"/>
                </a:lnTo>
                <a:lnTo>
                  <a:pt x="1994219" y="752649"/>
                </a:lnTo>
                <a:lnTo>
                  <a:pt x="2022707" y="772837"/>
                </a:lnTo>
                <a:lnTo>
                  <a:pt x="2051196" y="793228"/>
                </a:lnTo>
                <a:lnTo>
                  <a:pt x="2079685" y="813818"/>
                </a:lnTo>
                <a:lnTo>
                  <a:pt x="2108174" y="834603"/>
                </a:lnTo>
                <a:lnTo>
                  <a:pt x="2136663" y="855579"/>
                </a:lnTo>
                <a:lnTo>
                  <a:pt x="2165152" y="876744"/>
                </a:lnTo>
                <a:lnTo>
                  <a:pt x="2193641" y="898093"/>
                </a:lnTo>
                <a:lnTo>
                  <a:pt x="2222129" y="919622"/>
                </a:lnTo>
                <a:lnTo>
                  <a:pt x="2250618" y="941327"/>
                </a:lnTo>
                <a:lnTo>
                  <a:pt x="2279107" y="963206"/>
                </a:lnTo>
                <a:lnTo>
                  <a:pt x="2307596" y="985253"/>
                </a:lnTo>
                <a:lnTo>
                  <a:pt x="2336085" y="1007464"/>
                </a:lnTo>
                <a:lnTo>
                  <a:pt x="2364574" y="1029837"/>
                </a:lnTo>
                <a:lnTo>
                  <a:pt x="2393062" y="1052366"/>
                </a:lnTo>
                <a:lnTo>
                  <a:pt x="2421551" y="1075047"/>
                </a:lnTo>
                <a:lnTo>
                  <a:pt x="2450040" y="1097876"/>
                </a:lnTo>
                <a:lnTo>
                  <a:pt x="2478529" y="1120850"/>
                </a:lnTo>
                <a:lnTo>
                  <a:pt x="2507018" y="1143963"/>
                </a:lnTo>
                <a:lnTo>
                  <a:pt x="2535507" y="1167212"/>
                </a:lnTo>
                <a:lnTo>
                  <a:pt x="2563995" y="1190591"/>
                </a:lnTo>
                <a:lnTo>
                  <a:pt x="2592484" y="1214097"/>
                </a:lnTo>
                <a:lnTo>
                  <a:pt x="2620973" y="1237725"/>
                </a:lnTo>
                <a:lnTo>
                  <a:pt x="2649462" y="1261471"/>
                </a:lnTo>
                <a:lnTo>
                  <a:pt x="2677951" y="1285329"/>
                </a:lnTo>
                <a:lnTo>
                  <a:pt x="2706440" y="1309296"/>
                </a:lnTo>
                <a:lnTo>
                  <a:pt x="2734929" y="1333366"/>
                </a:lnTo>
                <a:lnTo>
                  <a:pt x="2763417" y="1357535"/>
                </a:lnTo>
                <a:lnTo>
                  <a:pt x="2791906" y="1381798"/>
                </a:lnTo>
                <a:lnTo>
                  <a:pt x="2820395" y="1406151"/>
                </a:lnTo>
                <a:lnTo>
                  <a:pt x="2848884" y="1430588"/>
                </a:lnTo>
                <a:lnTo>
                  <a:pt x="2877373" y="1455104"/>
                </a:lnTo>
                <a:lnTo>
                  <a:pt x="2905862" y="1479694"/>
                </a:lnTo>
                <a:lnTo>
                  <a:pt x="2934350" y="1504354"/>
                </a:lnTo>
                <a:lnTo>
                  <a:pt x="2962839" y="1529078"/>
                </a:lnTo>
                <a:lnTo>
                  <a:pt x="2991328" y="1553861"/>
                </a:lnTo>
                <a:lnTo>
                  <a:pt x="3019817" y="1578699"/>
                </a:lnTo>
                <a:lnTo>
                  <a:pt x="3048306" y="1603585"/>
                </a:lnTo>
                <a:lnTo>
                  <a:pt x="3076795" y="1628514"/>
                </a:lnTo>
                <a:lnTo>
                  <a:pt x="3105284" y="1653482"/>
                </a:lnTo>
                <a:lnTo>
                  <a:pt x="3133772" y="1678482"/>
                </a:lnTo>
                <a:lnTo>
                  <a:pt x="3162261" y="1703509"/>
                </a:lnTo>
                <a:lnTo>
                  <a:pt x="3190750" y="1728559"/>
                </a:lnTo>
                <a:lnTo>
                  <a:pt x="3219239" y="1753624"/>
                </a:lnTo>
                <a:lnTo>
                  <a:pt x="3247728" y="1778701"/>
                </a:lnTo>
                <a:lnTo>
                  <a:pt x="3276217" y="1803782"/>
                </a:lnTo>
                <a:lnTo>
                  <a:pt x="3304705" y="1828863"/>
                </a:lnTo>
                <a:lnTo>
                  <a:pt x="3333194" y="1853937"/>
                </a:lnTo>
                <a:lnTo>
                  <a:pt x="3361683" y="1878999"/>
                </a:lnTo>
                <a:lnTo>
                  <a:pt x="3390172" y="1904044"/>
                </a:lnTo>
                <a:lnTo>
                  <a:pt x="3418661" y="1929064"/>
                </a:lnTo>
                <a:lnTo>
                  <a:pt x="3447150" y="1954055"/>
                </a:lnTo>
                <a:lnTo>
                  <a:pt x="3475638" y="1979010"/>
                </a:lnTo>
                <a:lnTo>
                  <a:pt x="3504127" y="2003923"/>
                </a:lnTo>
                <a:lnTo>
                  <a:pt x="3532616" y="2028789"/>
                </a:lnTo>
                <a:lnTo>
                  <a:pt x="3561105" y="2053600"/>
                </a:lnTo>
                <a:lnTo>
                  <a:pt x="3589594" y="2078351"/>
                </a:lnTo>
                <a:lnTo>
                  <a:pt x="3618083" y="2103036"/>
                </a:lnTo>
                <a:lnTo>
                  <a:pt x="3646572" y="2127648"/>
                </a:lnTo>
                <a:lnTo>
                  <a:pt x="3675060" y="2152182"/>
                </a:lnTo>
                <a:lnTo>
                  <a:pt x="3703549" y="2176629"/>
                </a:lnTo>
                <a:lnTo>
                  <a:pt x="3732038" y="2200986"/>
                </a:lnTo>
                <a:lnTo>
                  <a:pt x="3760527" y="2225243"/>
                </a:lnTo>
                <a:lnTo>
                  <a:pt x="3789016" y="2249396"/>
                </a:lnTo>
                <a:lnTo>
                  <a:pt x="3817505" y="2273438"/>
                </a:lnTo>
                <a:lnTo>
                  <a:pt x="3845993" y="2297362"/>
                </a:lnTo>
                <a:lnTo>
                  <a:pt x="3874482" y="2321161"/>
                </a:lnTo>
                <a:lnTo>
                  <a:pt x="3902971" y="2344829"/>
                </a:lnTo>
                <a:lnTo>
                  <a:pt x="3931460" y="2368358"/>
                </a:lnTo>
                <a:lnTo>
                  <a:pt x="3959949" y="2391743"/>
                </a:lnTo>
                <a:lnTo>
                  <a:pt x="3988438" y="2414975"/>
                </a:lnTo>
                <a:lnTo>
                  <a:pt x="4016927" y="2438049"/>
                </a:lnTo>
                <a:lnTo>
                  <a:pt x="4045415" y="2460958"/>
                </a:lnTo>
                <a:lnTo>
                  <a:pt x="4073904" y="2483693"/>
                </a:lnTo>
                <a:lnTo>
                  <a:pt x="4102393" y="2506249"/>
                </a:lnTo>
                <a:lnTo>
                  <a:pt x="4130882" y="2528617"/>
                </a:lnTo>
                <a:lnTo>
                  <a:pt x="4159371" y="2550792"/>
                </a:lnTo>
                <a:lnTo>
                  <a:pt x="4187860" y="2572765"/>
                </a:lnTo>
                <a:lnTo>
                  <a:pt x="4216348" y="2594530"/>
                </a:lnTo>
                <a:lnTo>
                  <a:pt x="4244837" y="2616079"/>
                </a:lnTo>
                <a:lnTo>
                  <a:pt x="4273326" y="2637404"/>
                </a:lnTo>
                <a:lnTo>
                  <a:pt x="4301815" y="2658499"/>
                </a:lnTo>
                <a:lnTo>
                  <a:pt x="4330304" y="2679356"/>
                </a:lnTo>
                <a:lnTo>
                  <a:pt x="4358793" y="2699967"/>
                </a:lnTo>
                <a:lnTo>
                  <a:pt x="4387282" y="2720324"/>
                </a:lnTo>
                <a:lnTo>
                  <a:pt x="4415770" y="2740421"/>
                </a:lnTo>
                <a:lnTo>
                  <a:pt x="4444259" y="2760249"/>
                </a:lnTo>
                <a:lnTo>
                  <a:pt x="4472748" y="2779801"/>
                </a:lnTo>
                <a:lnTo>
                  <a:pt x="4501237" y="2799069"/>
                </a:lnTo>
                <a:lnTo>
                  <a:pt x="4529726" y="2818045"/>
                </a:lnTo>
                <a:lnTo>
                  <a:pt x="4558215" y="2836722"/>
                </a:lnTo>
                <a:lnTo>
                  <a:pt x="4586703" y="2855091"/>
                </a:lnTo>
                <a:lnTo>
                  <a:pt x="4615192" y="2873144"/>
                </a:lnTo>
                <a:lnTo>
                  <a:pt x="4643681" y="2890874"/>
                </a:lnTo>
                <a:lnTo>
                  <a:pt x="4672170" y="2908272"/>
                </a:lnTo>
                <a:lnTo>
                  <a:pt x="4700659" y="2925330"/>
                </a:lnTo>
                <a:lnTo>
                  <a:pt x="4729148" y="2942041"/>
                </a:lnTo>
                <a:lnTo>
                  <a:pt x="4757636" y="2958395"/>
                </a:lnTo>
                <a:lnTo>
                  <a:pt x="4786125" y="2974385"/>
                </a:lnTo>
                <a:lnTo>
                  <a:pt x="4814614" y="2990002"/>
                </a:lnTo>
                <a:lnTo>
                  <a:pt x="4843103" y="3005238"/>
                </a:lnTo>
                <a:lnTo>
                  <a:pt x="4871592" y="3020085"/>
                </a:lnTo>
                <a:lnTo>
                  <a:pt x="4900081" y="3034534"/>
                </a:lnTo>
                <a:lnTo>
                  <a:pt x="4928570" y="3048576"/>
                </a:lnTo>
                <a:lnTo>
                  <a:pt x="4957058" y="3062203"/>
                </a:lnTo>
                <a:lnTo>
                  <a:pt x="4985547" y="3075407"/>
                </a:lnTo>
                <a:lnTo>
                  <a:pt x="5014036" y="3088178"/>
                </a:lnTo>
                <a:lnTo>
                  <a:pt x="5042525" y="3100509"/>
                </a:lnTo>
                <a:lnTo>
                  <a:pt x="5071014" y="3112390"/>
                </a:lnTo>
                <a:lnTo>
                  <a:pt x="5099503" y="3123812"/>
                </a:lnTo>
                <a:lnTo>
                  <a:pt x="5127991" y="3134767"/>
                </a:lnTo>
                <a:lnTo>
                  <a:pt x="5156480" y="3145245"/>
                </a:lnTo>
                <a:lnTo>
                  <a:pt x="5184969" y="3155239"/>
                </a:lnTo>
                <a:lnTo>
                  <a:pt x="5213458" y="3164738"/>
                </a:lnTo>
                <a:lnTo>
                  <a:pt x="5241947" y="3173733"/>
                </a:lnTo>
                <a:lnTo>
                  <a:pt x="5270436" y="3182217"/>
                </a:lnTo>
                <a:lnTo>
                  <a:pt x="5298925" y="3190178"/>
                </a:lnTo>
                <a:lnTo>
                  <a:pt x="5327413" y="3197609"/>
                </a:lnTo>
                <a:lnTo>
                  <a:pt x="5355902" y="3204500"/>
                </a:lnTo>
                <a:lnTo>
                  <a:pt x="5384391" y="3210842"/>
                </a:lnTo>
                <a:lnTo>
                  <a:pt x="5412880" y="3216625"/>
                </a:lnTo>
                <a:lnTo>
                  <a:pt x="5441369" y="3221840"/>
                </a:lnTo>
                <a:lnTo>
                  <a:pt x="5469858" y="3226477"/>
                </a:lnTo>
                <a:lnTo>
                  <a:pt x="5498346" y="3230528"/>
                </a:lnTo>
                <a:lnTo>
                  <a:pt x="5526835" y="3233981"/>
                </a:lnTo>
                <a:lnTo>
                  <a:pt x="5555324" y="3236829"/>
                </a:lnTo>
                <a:lnTo>
                  <a:pt x="5583813" y="3239061"/>
                </a:lnTo>
                <a:lnTo>
                  <a:pt x="5612302" y="3240667"/>
                </a:lnTo>
                <a:lnTo>
                  <a:pt x="5640791" y="3241638"/>
                </a:lnTo>
                <a:lnTo>
                  <a:pt x="5669280" y="3241964"/>
                </a:lnTo>
              </a:path>
            </a:pathLst>
          </a:custGeom>
          <a:noFill/>
          <a:ln w="4318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C4-E16 ellipse 28" descr="sci-ppt:o028"/>
          <p:cNvSpPr/>
          <p:nvPr/>
        </p:nvSpPr>
        <p:spPr>
          <a:xfrm>
            <a:off x="841248" y="1622644"/>
            <a:ext cx="146304" cy="146304"/>
          </a:xfrm>
          <a:prstGeom prst="ellipse">
            <a:avLst/>
          </a:prstGeom>
          <a:solidFill>
            <a:srgbClr val="F2B880"/>
          </a:solidFill>
          <a:ln w="127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C4-E16 text 29" descr="sci-ppt:o029"/>
          <p:cNvSpPr txBox="1"/>
          <p:nvPr/>
        </p:nvSpPr>
        <p:spPr>
          <a:xfrm>
            <a:off x="1005840" y="1558636"/>
            <a:ext cx="256032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F2B880"/>
                </a:solidFill>
                <a:latin typeface="Arial"/>
              </a:rPr>
              <a:t>w(0) = p₀b⁴/(64D_f)</a:t>
            </a:r>
          </a:p>
        </p:txBody>
      </p:sp>
      <p:sp>
        <p:nvSpPr>
          <p:cNvPr id="32" name="C4-E16 ellipse 30" descr="sci-ppt:o030"/>
          <p:cNvSpPr/>
          <p:nvPr/>
        </p:nvSpPr>
        <p:spPr>
          <a:xfrm>
            <a:off x="6510528" y="4864608"/>
            <a:ext cx="146304" cy="146304"/>
          </a:xfrm>
          <a:prstGeom prst="ellipse">
            <a:avLst/>
          </a:prstGeom>
          <a:solidFill>
            <a:srgbClr val="F28BA0"/>
          </a:solidFill>
          <a:ln w="12700">
            <a:solidFill>
              <a:srgbClr val="F28BA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C4-E16 text 31" descr="sci-ppt:o031"/>
          <p:cNvSpPr txBox="1"/>
          <p:nvPr/>
        </p:nvSpPr>
        <p:spPr>
          <a:xfrm>
            <a:off x="1157630" y="4548724"/>
            <a:ext cx="27432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F28BA0"/>
                </a:solidFill>
                <a:latin typeface="Arial"/>
              </a:rPr>
              <a:t>clamped at r = b: w = w′ = 0</a:t>
            </a:r>
          </a:p>
        </p:txBody>
      </p:sp>
      <p:sp>
        <p:nvSpPr>
          <p:cNvPr id="34" name="C4-E16 round_rect 32" descr="sci-ppt:o032"/>
          <p:cNvSpPr/>
          <p:nvPr/>
        </p:nvSpPr>
        <p:spPr>
          <a:xfrm>
            <a:off x="6858000" y="1371600"/>
            <a:ext cx="4983480" cy="356616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C4-E16 text 33" descr="sci-ppt:o033"/>
          <p:cNvSpPr txBox="1"/>
          <p:nvPr/>
        </p:nvSpPr>
        <p:spPr>
          <a:xfrm>
            <a:off x="6967728" y="1426464"/>
            <a:ext cx="4764024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Fixing C₂ and C₄</a:t>
            </a:r>
          </a:p>
        </p:txBody>
      </p:sp>
      <p:sp>
        <p:nvSpPr>
          <p:cNvPr id="36" name="C4-E16 text 34" descr="sci-ppt:o034"/>
          <p:cNvSpPr txBox="1"/>
          <p:nvPr/>
        </p:nvSpPr>
        <p:spPr>
          <a:xfrm>
            <a:off x="6995160" y="1828800"/>
            <a:ext cx="475488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E7F0F3"/>
                </a:solidFill>
                <a:latin typeface="Arial"/>
              </a:rPr>
              <a:t>w′(b) = 0:  C₂ = −p₀b² / (8D_f)</a:t>
            </a:r>
          </a:p>
        </p:txBody>
      </p:sp>
      <p:sp>
        <p:nvSpPr>
          <p:cNvPr id="37" name="C4-E16 text 35" descr="sci-ppt:o035"/>
          <p:cNvSpPr txBox="1"/>
          <p:nvPr/>
        </p:nvSpPr>
        <p:spPr>
          <a:xfrm>
            <a:off x="6995160" y="2377440"/>
            <a:ext cx="475488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E7F0F3"/>
                </a:solidFill>
                <a:latin typeface="Arial"/>
              </a:rPr>
              <a:t>w(b) = 0:  C₄ = p₀b⁴ / (64D_f)</a:t>
            </a:r>
          </a:p>
        </p:txBody>
      </p:sp>
      <p:sp>
        <p:nvSpPr>
          <p:cNvPr id="38" name="C4-E16 text 36" descr="sci-ppt:o036"/>
          <p:cNvSpPr txBox="1"/>
          <p:nvPr/>
        </p:nvSpPr>
        <p:spPr>
          <a:xfrm>
            <a:off x="6995160" y="3063240"/>
            <a:ext cx="4754880" cy="27813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F2B880"/>
                </a:solidFill>
                <a:latin typeface="Arial"/>
              </a:rPr>
              <a:t>w(r) = p₀ (b² − r²)² / (64D_f)</a:t>
            </a:r>
          </a:p>
        </p:txBody>
      </p:sp>
      <p:sp>
        <p:nvSpPr>
          <p:cNvPr id="39" name="C4-E16 text 37" descr="sci-ppt:o037"/>
          <p:cNvSpPr txBox="1"/>
          <p:nvPr/>
        </p:nvSpPr>
        <p:spPr>
          <a:xfrm>
            <a:off x="6995160" y="3749039"/>
            <a:ext cx="4754880" cy="41757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B4C7D2"/>
                </a:solidFill>
                <a:latin typeface="Arial"/>
              </a:rPr>
              <a:t>Unique regular solution; the profile is a squared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B4C7D2"/>
                </a:solidFill>
                <a:latin typeface="Arial"/>
              </a:rPr>
              <a:t>parabola.</a:t>
            </a:r>
          </a:p>
        </p:txBody>
      </p:sp>
      <p:sp>
        <p:nvSpPr>
          <p:cNvPr id="40" name="C4-E16 text 38" descr="sci-ppt:o038"/>
          <p:cNvSpPr txBox="1"/>
          <p:nvPr/>
        </p:nvSpPr>
        <p:spPr>
          <a:xfrm>
            <a:off x="914400" y="5486400"/>
            <a:ext cx="1097280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Both edge conditions are satisfied exactly; there is no free constant left.</a:t>
            </a:r>
          </a:p>
        </p:txBody>
      </p:sp>
      <p:sp>
        <p:nvSpPr>
          <p:cNvPr id="41" name="C4-E16 text 39" descr="sci-ppt:o039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Exact solution of Eq. C4-E16, drawn as w/w(0) = (1 − (r/b)²)².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