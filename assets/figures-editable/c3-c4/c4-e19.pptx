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9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C4-E19 · Derived potential under maintained-pressure control</a:t>
            </a:r>
          </a:p>
        </p:txBody>
      </p:sp>
      <p:sp>
        <p:nvSpPr>
          <p:cNvPr id="3" name="C4-E19 rect 1" descr="sci-ppt:o001"/>
          <p:cNvSpPr/>
          <p:nvPr/>
        </p:nvSpPr>
        <p:spPr>
          <a:xfrm>
            <a:off x="5943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19 text 2" descr="sci-ppt:o002"/>
          <p:cNvSpPr txBox="1"/>
          <p:nvPr/>
        </p:nvSpPr>
        <p:spPr>
          <a:xfrm>
            <a:off x="7589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Plate storage U_b</a:t>
            </a:r>
          </a:p>
        </p:txBody>
      </p:sp>
      <p:cxnSp>
        <p:nvCxnSpPr>
          <p:cNvPr id="5" name="C4-E19 arrow 3" descr="sci-ppt:o003"/>
          <p:cNvCxnSpPr/>
          <p:nvPr/>
        </p:nvCxnSpPr>
        <p:spPr>
          <a:xfrm>
            <a:off x="37947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C4-E19 rect 4" descr="sci-ppt:o004"/>
          <p:cNvSpPr/>
          <p:nvPr/>
        </p:nvSpPr>
        <p:spPr>
          <a:xfrm>
            <a:off x="44805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4-E19 text 5" descr="sci-ppt:o005"/>
          <p:cNvSpPr txBox="1"/>
          <p:nvPr/>
        </p:nvSpPr>
        <p:spPr>
          <a:xfrm>
            <a:off x="46451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Source potential −p₀V_bl</a:t>
            </a:r>
          </a:p>
        </p:txBody>
      </p:sp>
      <p:cxnSp>
        <p:nvCxnSpPr>
          <p:cNvPr id="8" name="C4-E19 arrow 6" descr="sci-ppt:o006"/>
          <p:cNvCxnSpPr/>
          <p:nvPr/>
        </p:nvCxnSpPr>
        <p:spPr>
          <a:xfrm>
            <a:off x="76809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" name="C4-E19 rect 7" descr="sci-ppt:o007"/>
          <p:cNvSpPr/>
          <p:nvPr/>
        </p:nvSpPr>
        <p:spPr>
          <a:xfrm>
            <a:off x="83667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4-E19 text 8" descr="sci-ppt:o008"/>
          <p:cNvSpPr txBox="1"/>
          <p:nvPr/>
        </p:nvSpPr>
        <p:spPr>
          <a:xfrm>
            <a:off x="85313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System potential P</a:t>
            </a:r>
          </a:p>
        </p:txBody>
      </p:sp>
      <p:sp>
        <p:nvSpPr>
          <p:cNvPr id="11" name="C4-E19 text 9" descr="sci-ppt:o009"/>
          <p:cNvSpPr txBox="1"/>
          <p:nvPr/>
        </p:nvSpPr>
        <p:spPr>
          <a:xfrm>
            <a:off x="731520" y="3246120"/>
            <a:ext cx="10789920" cy="4572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Work, storage, fracture consumption and net impulse retain separate meanings.</a:t>
            </a:r>
          </a:p>
        </p:txBody>
      </p:sp>
      <p:cxnSp>
        <p:nvCxnSpPr>
          <p:cNvPr id="12" name="C4-E19 line 10" descr="sci-ppt:o010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3" name="C4-E19 text 11" descr="sci-ppt:o011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p₀ — maintained source pressure</a:t>
            </a:r>
          </a:p>
        </p:txBody>
      </p:sp>
      <p:sp>
        <p:nvSpPr>
          <p:cNvPr id="14" name="C4-E19 text 12" descr="sci-ppt:o012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V_bl, v — cavity volume</a:t>
            </a:r>
          </a:p>
        </p:txBody>
      </p:sp>
      <p:sp>
        <p:nvSpPr>
          <p:cNvPr id="15" name="C4-E19 text 13" descr="sci-ppt:o013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C_b — volume compliance</a:t>
            </a:r>
          </a:p>
        </p:txBody>
      </p:sp>
      <p:sp>
        <p:nvSpPr>
          <p:cNvPr id="16" name="C4-E19 text 14" descr="sci-ppt:o014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U_b = ½p₀V_bl — plate storage</a:t>
            </a:r>
          </a:p>
        </p:txBody>
      </p:sp>
      <p:sp>
        <p:nvSpPr>
          <p:cNvPr id="17" name="C4-E19 text 15" descr="sci-ppt:o015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−p₀V_bl — source potential</a:t>
            </a:r>
          </a:p>
        </p:txBody>
      </p:sp>
      <p:sp>
        <p:nvSpPr>
          <p:cNvPr id="18" name="C4-E19 text 16" descr="sci-ppt:o016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 = U_b − p₀V_bl</a:t>
            </a:r>
          </a:p>
        </p:txBody>
      </p:sp>
      <p:sp>
        <p:nvSpPr>
          <p:cNvPr id="19" name="C4-E19 text 17" descr="sci-ppt:o017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b, D_f — geometry and stiffness</a:t>
            </a:r>
          </a:p>
        </p:txBody>
      </p:sp>
      <p:sp>
        <p:nvSpPr>
          <p:cNvPr id="20" name="C4-E19 text 18" descr="sci-ppt:o018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The external pressure reservoir supplies work as the crack grows.</a:t>
            </a:r>
          </a:p>
        </p:txBody>
      </p:sp>
      <p:sp>
        <p:nvSpPr>
          <p:cNvPr id="21" name="C4-E19 text 19" descr="sci-ppt:o019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