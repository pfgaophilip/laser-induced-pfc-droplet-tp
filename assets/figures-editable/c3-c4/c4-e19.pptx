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C4-E19 · Derived potential under maintained-pressure control</a:t>
            </a:r>
          </a:p>
        </p:txBody>
      </p:sp>
      <p:cxnSp>
        <p:nvCxnSpPr>
          <p:cNvPr id="3" name="C4-E19 line 1" descr="sci-ppt:o001"/>
          <p:cNvCxnSpPr/>
          <p:nvPr/>
        </p:nvCxnSpPr>
        <p:spPr>
          <a:xfrm>
            <a:off x="914400" y="493776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4-E19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19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4-E19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4-E19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4-E19 line 6" descr="sci-ppt:o006"/>
          <p:cNvCxnSpPr/>
          <p:nvPr/>
        </p:nvCxnSpPr>
        <p:spPr>
          <a:xfrm>
            <a:off x="23317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4-E19 line 7" descr="sci-ppt:o007"/>
          <p:cNvCxnSpPr/>
          <p:nvPr/>
        </p:nvCxnSpPr>
        <p:spPr>
          <a:xfrm>
            <a:off x="23317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4-E19 text 8" descr="sci-ppt:o008"/>
          <p:cNvSpPr txBox="1"/>
          <p:nvPr/>
        </p:nvSpPr>
        <p:spPr>
          <a:xfrm>
            <a:off x="187451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4-E19 line 9" descr="sci-ppt:o009"/>
          <p:cNvCxnSpPr/>
          <p:nvPr/>
        </p:nvCxnSpPr>
        <p:spPr>
          <a:xfrm>
            <a:off x="37490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4-E19 line 10" descr="sci-ppt:o010"/>
          <p:cNvCxnSpPr/>
          <p:nvPr/>
        </p:nvCxnSpPr>
        <p:spPr>
          <a:xfrm>
            <a:off x="37490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4-E19 text 11" descr="sci-ppt:o011"/>
          <p:cNvSpPr txBox="1"/>
          <p:nvPr/>
        </p:nvSpPr>
        <p:spPr>
          <a:xfrm>
            <a:off x="32918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4-E19 line 12" descr="sci-ppt:o012"/>
          <p:cNvCxnSpPr/>
          <p:nvPr/>
        </p:nvCxnSpPr>
        <p:spPr>
          <a:xfrm>
            <a:off x="51663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19 line 13" descr="sci-ppt:o013"/>
          <p:cNvCxnSpPr/>
          <p:nvPr/>
        </p:nvCxnSpPr>
        <p:spPr>
          <a:xfrm>
            <a:off x="51663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4-E19 text 14" descr="sci-ppt:o014"/>
          <p:cNvSpPr txBox="1"/>
          <p:nvPr/>
        </p:nvSpPr>
        <p:spPr>
          <a:xfrm>
            <a:off x="47091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4-E19 line 15" descr="sci-ppt:o015"/>
          <p:cNvCxnSpPr/>
          <p:nvPr/>
        </p:nvCxnSpPr>
        <p:spPr>
          <a:xfrm>
            <a:off x="6583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19 line 16" descr="sci-ppt:o016"/>
          <p:cNvCxnSpPr/>
          <p:nvPr/>
        </p:nvCxnSpPr>
        <p:spPr>
          <a:xfrm>
            <a:off x="6583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4-E19 text 17" descr="sci-ppt:o017"/>
          <p:cNvSpPr txBox="1"/>
          <p:nvPr/>
        </p:nvSpPr>
        <p:spPr>
          <a:xfrm>
            <a:off x="612648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4-E19 line 18" descr="sci-ppt:o018"/>
          <p:cNvCxnSpPr/>
          <p:nvPr/>
        </p:nvCxnSpPr>
        <p:spPr>
          <a:xfrm>
            <a:off x="850392" y="477566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4-E19 line 19" descr="sci-ppt:o019"/>
          <p:cNvCxnSpPr/>
          <p:nvPr/>
        </p:nvCxnSpPr>
        <p:spPr>
          <a:xfrm>
            <a:off x="914400" y="4775661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4-E19 text 20" descr="sci-ppt:o020"/>
          <p:cNvSpPr txBox="1"/>
          <p:nvPr/>
        </p:nvSpPr>
        <p:spPr>
          <a:xfrm>
            <a:off x="45720" y="469336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23" name="C4-E19 line 21" descr="sci-ppt:o021"/>
          <p:cNvCxnSpPr/>
          <p:nvPr/>
        </p:nvCxnSpPr>
        <p:spPr>
          <a:xfrm>
            <a:off x="850392" y="396517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4-E19 line 22" descr="sci-ppt:o022"/>
          <p:cNvCxnSpPr/>
          <p:nvPr/>
        </p:nvCxnSpPr>
        <p:spPr>
          <a:xfrm>
            <a:off x="914400" y="396517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4-E19 text 23" descr="sci-ppt:o023"/>
          <p:cNvSpPr txBox="1"/>
          <p:nvPr/>
        </p:nvSpPr>
        <p:spPr>
          <a:xfrm>
            <a:off x="45720" y="388287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-0.5</a:t>
            </a:r>
          </a:p>
        </p:txBody>
      </p:sp>
      <p:cxnSp>
        <p:nvCxnSpPr>
          <p:cNvPr id="26" name="C4-E19 line 24" descr="sci-ppt:o024"/>
          <p:cNvCxnSpPr/>
          <p:nvPr/>
        </p:nvCxnSpPr>
        <p:spPr>
          <a:xfrm>
            <a:off x="850392" y="3154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4-E19 line 25" descr="sci-ppt:o025"/>
          <p:cNvCxnSpPr/>
          <p:nvPr/>
        </p:nvCxnSpPr>
        <p:spPr>
          <a:xfrm>
            <a:off x="914400" y="315468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4-E19 text 26" descr="sci-ppt:o026"/>
          <p:cNvSpPr txBox="1"/>
          <p:nvPr/>
        </p:nvSpPr>
        <p:spPr>
          <a:xfrm>
            <a:off x="45720" y="3072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9" name="C4-E19 line 27" descr="sci-ppt:o027"/>
          <p:cNvCxnSpPr/>
          <p:nvPr/>
        </p:nvCxnSpPr>
        <p:spPr>
          <a:xfrm>
            <a:off x="850392" y="234418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4-E19 line 28" descr="sci-ppt:o028"/>
          <p:cNvCxnSpPr/>
          <p:nvPr/>
        </p:nvCxnSpPr>
        <p:spPr>
          <a:xfrm>
            <a:off x="914400" y="2344189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4-E19 text 29" descr="sci-ppt:o029"/>
          <p:cNvSpPr txBox="1"/>
          <p:nvPr/>
        </p:nvSpPr>
        <p:spPr>
          <a:xfrm>
            <a:off x="45720" y="226189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32" name="C4-E19 line 30" descr="sci-ppt:o030"/>
          <p:cNvCxnSpPr/>
          <p:nvPr/>
        </p:nvCxnSpPr>
        <p:spPr>
          <a:xfrm>
            <a:off x="850392" y="153369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4-E19 line 31" descr="sci-ppt:o031"/>
          <p:cNvCxnSpPr/>
          <p:nvPr/>
        </p:nvCxnSpPr>
        <p:spPr>
          <a:xfrm>
            <a:off x="914400" y="1533698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4-E19 text 32" descr="sci-ppt:o032"/>
          <p:cNvSpPr txBox="1"/>
          <p:nvPr/>
        </p:nvSpPr>
        <p:spPr>
          <a:xfrm>
            <a:off x="45720" y="145140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5" name="C4-E19 text 33" descr="sci-ppt:o033"/>
          <p:cNvSpPr txBox="1"/>
          <p:nvPr/>
        </p:nvSpPr>
        <p:spPr>
          <a:xfrm>
            <a:off x="914400" y="522122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V_bl / V*</a:t>
            </a:r>
          </a:p>
        </p:txBody>
      </p:sp>
      <p:sp>
        <p:nvSpPr>
          <p:cNvPr id="36" name="C4-E19 text 34" descr="sci-ppt:o034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energy / (p*V*)</a:t>
            </a:r>
          </a:p>
        </p:txBody>
      </p:sp>
      <p:sp>
        <p:nvSpPr>
          <p:cNvPr id="37" name="C4-E19 polygon 35" descr="sci-ppt:o035"/>
          <p:cNvSpPr/>
          <p:nvPr/>
        </p:nvSpPr>
        <p:spPr>
          <a:xfrm>
            <a:off x="914400" y="2344189"/>
            <a:ext cx="5669280" cy="810491"/>
          </a:xfrm>
          <a:custGeom>
            <a:avLst/>
            <a:gdLst/>
            <a:ahLst/>
            <a:cxnLst/>
            <a:rect l="l" t="t" r="r" b="b"/>
            <a:pathLst>
              <a:path w="5669280" h="810491">
                <a:moveTo>
                  <a:pt x="0" y="810491"/>
                </a:moveTo>
                <a:lnTo>
                  <a:pt x="57265" y="810408"/>
                </a:lnTo>
                <a:lnTo>
                  <a:pt x="114530" y="810160"/>
                </a:lnTo>
                <a:lnTo>
                  <a:pt x="171796" y="809746"/>
                </a:lnTo>
                <a:lnTo>
                  <a:pt x="229061" y="809167"/>
                </a:lnTo>
                <a:lnTo>
                  <a:pt x="286327" y="808423"/>
                </a:lnTo>
                <a:lnTo>
                  <a:pt x="343592" y="807513"/>
                </a:lnTo>
                <a:lnTo>
                  <a:pt x="400858" y="806438"/>
                </a:lnTo>
                <a:lnTo>
                  <a:pt x="458123" y="805198"/>
                </a:lnTo>
                <a:lnTo>
                  <a:pt x="515389" y="803792"/>
                </a:lnTo>
                <a:lnTo>
                  <a:pt x="572654" y="802221"/>
                </a:lnTo>
                <a:lnTo>
                  <a:pt x="629920" y="800484"/>
                </a:lnTo>
                <a:lnTo>
                  <a:pt x="687185" y="798582"/>
                </a:lnTo>
                <a:lnTo>
                  <a:pt x="744450" y="796515"/>
                </a:lnTo>
                <a:lnTo>
                  <a:pt x="801716" y="794282"/>
                </a:lnTo>
                <a:lnTo>
                  <a:pt x="858981" y="791884"/>
                </a:lnTo>
                <a:lnTo>
                  <a:pt x="916247" y="789321"/>
                </a:lnTo>
                <a:lnTo>
                  <a:pt x="973512" y="786592"/>
                </a:lnTo>
                <a:lnTo>
                  <a:pt x="1030778" y="783697"/>
                </a:lnTo>
                <a:lnTo>
                  <a:pt x="1088043" y="780638"/>
                </a:lnTo>
                <a:lnTo>
                  <a:pt x="1145309" y="777413"/>
                </a:lnTo>
                <a:lnTo>
                  <a:pt x="1202574" y="774022"/>
                </a:lnTo>
                <a:lnTo>
                  <a:pt x="1259840" y="770466"/>
                </a:lnTo>
                <a:lnTo>
                  <a:pt x="1317105" y="766745"/>
                </a:lnTo>
                <a:lnTo>
                  <a:pt x="1374370" y="762858"/>
                </a:lnTo>
                <a:lnTo>
                  <a:pt x="1431636" y="758806"/>
                </a:lnTo>
                <a:lnTo>
                  <a:pt x="1488901" y="754589"/>
                </a:lnTo>
                <a:lnTo>
                  <a:pt x="1546167" y="750206"/>
                </a:lnTo>
                <a:lnTo>
                  <a:pt x="1603432" y="745658"/>
                </a:lnTo>
                <a:lnTo>
                  <a:pt x="1660698" y="740944"/>
                </a:lnTo>
                <a:lnTo>
                  <a:pt x="1717963" y="736065"/>
                </a:lnTo>
                <a:lnTo>
                  <a:pt x="1775229" y="731021"/>
                </a:lnTo>
                <a:lnTo>
                  <a:pt x="1832494" y="725811"/>
                </a:lnTo>
                <a:lnTo>
                  <a:pt x="1889760" y="720436"/>
                </a:lnTo>
                <a:lnTo>
                  <a:pt x="1947025" y="714895"/>
                </a:lnTo>
                <a:lnTo>
                  <a:pt x="2004290" y="709189"/>
                </a:lnTo>
                <a:lnTo>
                  <a:pt x="2061556" y="703318"/>
                </a:lnTo>
                <a:lnTo>
                  <a:pt x="2118821" y="697281"/>
                </a:lnTo>
                <a:lnTo>
                  <a:pt x="2176087" y="691079"/>
                </a:lnTo>
                <a:lnTo>
                  <a:pt x="2233352" y="684712"/>
                </a:lnTo>
                <a:lnTo>
                  <a:pt x="2290618" y="678179"/>
                </a:lnTo>
                <a:lnTo>
                  <a:pt x="2347883" y="671481"/>
                </a:lnTo>
                <a:lnTo>
                  <a:pt x="2405149" y="664617"/>
                </a:lnTo>
                <a:lnTo>
                  <a:pt x="2462414" y="657588"/>
                </a:lnTo>
                <a:lnTo>
                  <a:pt x="2519680" y="650394"/>
                </a:lnTo>
                <a:lnTo>
                  <a:pt x="2576945" y="643034"/>
                </a:lnTo>
                <a:lnTo>
                  <a:pt x="2634210" y="635508"/>
                </a:lnTo>
                <a:lnTo>
                  <a:pt x="2691476" y="627818"/>
                </a:lnTo>
                <a:lnTo>
                  <a:pt x="2748741" y="619962"/>
                </a:lnTo>
                <a:lnTo>
                  <a:pt x="2806007" y="611940"/>
                </a:lnTo>
                <a:lnTo>
                  <a:pt x="2863272" y="603754"/>
                </a:lnTo>
                <a:lnTo>
                  <a:pt x="2920538" y="595402"/>
                </a:lnTo>
                <a:lnTo>
                  <a:pt x="2977803" y="586884"/>
                </a:lnTo>
                <a:lnTo>
                  <a:pt x="3035069" y="578201"/>
                </a:lnTo>
                <a:lnTo>
                  <a:pt x="3092334" y="569353"/>
                </a:lnTo>
                <a:lnTo>
                  <a:pt x="3149600" y="560339"/>
                </a:lnTo>
                <a:lnTo>
                  <a:pt x="3206865" y="551160"/>
                </a:lnTo>
                <a:lnTo>
                  <a:pt x="3264130" y="541815"/>
                </a:lnTo>
                <a:lnTo>
                  <a:pt x="3321396" y="532305"/>
                </a:lnTo>
                <a:lnTo>
                  <a:pt x="3378661" y="522630"/>
                </a:lnTo>
                <a:lnTo>
                  <a:pt x="3435927" y="512790"/>
                </a:lnTo>
                <a:lnTo>
                  <a:pt x="3493192" y="502783"/>
                </a:lnTo>
                <a:lnTo>
                  <a:pt x="3550458" y="492612"/>
                </a:lnTo>
                <a:lnTo>
                  <a:pt x="3607723" y="482275"/>
                </a:lnTo>
                <a:lnTo>
                  <a:pt x="3664989" y="471773"/>
                </a:lnTo>
                <a:lnTo>
                  <a:pt x="3722254" y="461105"/>
                </a:lnTo>
                <a:lnTo>
                  <a:pt x="3779520" y="450272"/>
                </a:lnTo>
                <a:lnTo>
                  <a:pt x="3836785" y="439274"/>
                </a:lnTo>
                <a:lnTo>
                  <a:pt x="3894050" y="428110"/>
                </a:lnTo>
                <a:lnTo>
                  <a:pt x="3951316" y="416781"/>
                </a:lnTo>
                <a:lnTo>
                  <a:pt x="4008581" y="405286"/>
                </a:lnTo>
                <a:lnTo>
                  <a:pt x="4065847" y="393626"/>
                </a:lnTo>
                <a:lnTo>
                  <a:pt x="4123112" y="381801"/>
                </a:lnTo>
                <a:lnTo>
                  <a:pt x="4180378" y="369810"/>
                </a:lnTo>
                <a:lnTo>
                  <a:pt x="4237643" y="357654"/>
                </a:lnTo>
                <a:lnTo>
                  <a:pt x="4294909" y="345333"/>
                </a:lnTo>
                <a:lnTo>
                  <a:pt x="4352174" y="332846"/>
                </a:lnTo>
                <a:lnTo>
                  <a:pt x="4409440" y="320194"/>
                </a:lnTo>
                <a:lnTo>
                  <a:pt x="4466705" y="307376"/>
                </a:lnTo>
                <a:lnTo>
                  <a:pt x="4523970" y="294393"/>
                </a:lnTo>
                <a:lnTo>
                  <a:pt x="4581236" y="281244"/>
                </a:lnTo>
                <a:lnTo>
                  <a:pt x="4638501" y="267930"/>
                </a:lnTo>
                <a:lnTo>
                  <a:pt x="4695767" y="254451"/>
                </a:lnTo>
                <a:lnTo>
                  <a:pt x="4753032" y="240807"/>
                </a:lnTo>
                <a:lnTo>
                  <a:pt x="4810298" y="226997"/>
                </a:lnTo>
                <a:lnTo>
                  <a:pt x="4867563" y="213021"/>
                </a:lnTo>
                <a:lnTo>
                  <a:pt x="4924829" y="198880"/>
                </a:lnTo>
                <a:lnTo>
                  <a:pt x="4982094" y="184574"/>
                </a:lnTo>
                <a:lnTo>
                  <a:pt x="5039360" y="170103"/>
                </a:lnTo>
                <a:lnTo>
                  <a:pt x="5096625" y="155466"/>
                </a:lnTo>
                <a:lnTo>
                  <a:pt x="5153890" y="140663"/>
                </a:lnTo>
                <a:lnTo>
                  <a:pt x="5211156" y="125696"/>
                </a:lnTo>
                <a:lnTo>
                  <a:pt x="5268421" y="110562"/>
                </a:lnTo>
                <a:lnTo>
                  <a:pt x="5325687" y="95264"/>
                </a:lnTo>
                <a:lnTo>
                  <a:pt x="5382952" y="79800"/>
                </a:lnTo>
                <a:lnTo>
                  <a:pt x="5440218" y="64171"/>
                </a:lnTo>
                <a:lnTo>
                  <a:pt x="5497483" y="48376"/>
                </a:lnTo>
                <a:lnTo>
                  <a:pt x="5554749" y="32416"/>
                </a:lnTo>
                <a:lnTo>
                  <a:pt x="5612014" y="16290"/>
                </a:lnTo>
                <a:lnTo>
                  <a:pt x="5669280" y="0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4-E19 polygon 36" descr="sci-ppt:o036"/>
          <p:cNvSpPr/>
          <p:nvPr/>
        </p:nvSpPr>
        <p:spPr>
          <a:xfrm>
            <a:off x="914400" y="3154680"/>
            <a:ext cx="5669280" cy="1620981"/>
          </a:xfrm>
          <a:custGeom>
            <a:avLst/>
            <a:gdLst/>
            <a:ahLst/>
            <a:cxnLst/>
            <a:rect l="l" t="t" r="r" b="b"/>
            <a:pathLst>
              <a:path w="5669280" h="1620981">
                <a:moveTo>
                  <a:pt x="0" y="0"/>
                </a:moveTo>
                <a:lnTo>
                  <a:pt x="57265" y="16373"/>
                </a:lnTo>
                <a:lnTo>
                  <a:pt x="114530" y="32747"/>
                </a:lnTo>
                <a:lnTo>
                  <a:pt x="171796" y="49120"/>
                </a:lnTo>
                <a:lnTo>
                  <a:pt x="229061" y="65494"/>
                </a:lnTo>
                <a:lnTo>
                  <a:pt x="286327" y="81867"/>
                </a:lnTo>
                <a:lnTo>
                  <a:pt x="343592" y="98241"/>
                </a:lnTo>
                <a:lnTo>
                  <a:pt x="400858" y="114614"/>
                </a:lnTo>
                <a:lnTo>
                  <a:pt x="458123" y="130988"/>
                </a:lnTo>
                <a:lnTo>
                  <a:pt x="515389" y="147361"/>
                </a:lnTo>
                <a:lnTo>
                  <a:pt x="572654" y="163735"/>
                </a:lnTo>
                <a:lnTo>
                  <a:pt x="629920" y="180109"/>
                </a:lnTo>
                <a:lnTo>
                  <a:pt x="687185" y="196482"/>
                </a:lnTo>
                <a:lnTo>
                  <a:pt x="744450" y="212856"/>
                </a:lnTo>
                <a:lnTo>
                  <a:pt x="801716" y="229229"/>
                </a:lnTo>
                <a:lnTo>
                  <a:pt x="858981" y="245603"/>
                </a:lnTo>
                <a:lnTo>
                  <a:pt x="916247" y="261976"/>
                </a:lnTo>
                <a:lnTo>
                  <a:pt x="973512" y="278350"/>
                </a:lnTo>
                <a:lnTo>
                  <a:pt x="1030778" y="294723"/>
                </a:lnTo>
                <a:lnTo>
                  <a:pt x="1088043" y="311097"/>
                </a:lnTo>
                <a:lnTo>
                  <a:pt x="1145309" y="327471"/>
                </a:lnTo>
                <a:lnTo>
                  <a:pt x="1202574" y="343844"/>
                </a:lnTo>
                <a:lnTo>
                  <a:pt x="1259840" y="360218"/>
                </a:lnTo>
                <a:lnTo>
                  <a:pt x="1317105" y="376591"/>
                </a:lnTo>
                <a:lnTo>
                  <a:pt x="1374370" y="392965"/>
                </a:lnTo>
                <a:lnTo>
                  <a:pt x="1431636" y="409338"/>
                </a:lnTo>
                <a:lnTo>
                  <a:pt x="1488901" y="425712"/>
                </a:lnTo>
                <a:lnTo>
                  <a:pt x="1546167" y="442085"/>
                </a:lnTo>
                <a:lnTo>
                  <a:pt x="1603432" y="458459"/>
                </a:lnTo>
                <a:lnTo>
                  <a:pt x="1660698" y="474833"/>
                </a:lnTo>
                <a:lnTo>
                  <a:pt x="1717963" y="491206"/>
                </a:lnTo>
                <a:lnTo>
                  <a:pt x="1775229" y="507580"/>
                </a:lnTo>
                <a:lnTo>
                  <a:pt x="1832494" y="523953"/>
                </a:lnTo>
                <a:lnTo>
                  <a:pt x="1889760" y="540327"/>
                </a:lnTo>
                <a:lnTo>
                  <a:pt x="1947025" y="556700"/>
                </a:lnTo>
                <a:lnTo>
                  <a:pt x="2004290" y="573074"/>
                </a:lnTo>
                <a:lnTo>
                  <a:pt x="2061556" y="589447"/>
                </a:lnTo>
                <a:lnTo>
                  <a:pt x="2118821" y="605821"/>
                </a:lnTo>
                <a:lnTo>
                  <a:pt x="2176087" y="622195"/>
                </a:lnTo>
                <a:lnTo>
                  <a:pt x="2233352" y="638568"/>
                </a:lnTo>
                <a:lnTo>
                  <a:pt x="2290618" y="654942"/>
                </a:lnTo>
                <a:lnTo>
                  <a:pt x="2347883" y="671315"/>
                </a:lnTo>
                <a:lnTo>
                  <a:pt x="2405149" y="687689"/>
                </a:lnTo>
                <a:lnTo>
                  <a:pt x="2462414" y="704062"/>
                </a:lnTo>
                <a:lnTo>
                  <a:pt x="2519680" y="720436"/>
                </a:lnTo>
                <a:lnTo>
                  <a:pt x="2576945" y="736809"/>
                </a:lnTo>
                <a:lnTo>
                  <a:pt x="2634210" y="753183"/>
                </a:lnTo>
                <a:lnTo>
                  <a:pt x="2691476" y="769557"/>
                </a:lnTo>
                <a:lnTo>
                  <a:pt x="2748741" y="785930"/>
                </a:lnTo>
                <a:lnTo>
                  <a:pt x="2806007" y="802304"/>
                </a:lnTo>
                <a:lnTo>
                  <a:pt x="2863272" y="818677"/>
                </a:lnTo>
                <a:lnTo>
                  <a:pt x="2920538" y="835051"/>
                </a:lnTo>
                <a:lnTo>
                  <a:pt x="2977803" y="851424"/>
                </a:lnTo>
                <a:lnTo>
                  <a:pt x="3035069" y="867798"/>
                </a:lnTo>
                <a:lnTo>
                  <a:pt x="3092334" y="884171"/>
                </a:lnTo>
                <a:lnTo>
                  <a:pt x="3149600" y="900545"/>
                </a:lnTo>
                <a:lnTo>
                  <a:pt x="3206865" y="916919"/>
                </a:lnTo>
                <a:lnTo>
                  <a:pt x="3264130" y="933292"/>
                </a:lnTo>
                <a:lnTo>
                  <a:pt x="3321396" y="949666"/>
                </a:lnTo>
                <a:lnTo>
                  <a:pt x="3378661" y="966039"/>
                </a:lnTo>
                <a:lnTo>
                  <a:pt x="3435927" y="982413"/>
                </a:lnTo>
                <a:lnTo>
                  <a:pt x="3493192" y="998786"/>
                </a:lnTo>
                <a:lnTo>
                  <a:pt x="3550458" y="1015160"/>
                </a:lnTo>
                <a:lnTo>
                  <a:pt x="3607723" y="1031533"/>
                </a:lnTo>
                <a:lnTo>
                  <a:pt x="3664989" y="1047907"/>
                </a:lnTo>
                <a:lnTo>
                  <a:pt x="3722254" y="1064280"/>
                </a:lnTo>
                <a:lnTo>
                  <a:pt x="3779520" y="1080654"/>
                </a:lnTo>
                <a:lnTo>
                  <a:pt x="3836785" y="1097028"/>
                </a:lnTo>
                <a:lnTo>
                  <a:pt x="3894050" y="1113401"/>
                </a:lnTo>
                <a:lnTo>
                  <a:pt x="3951316" y="1129775"/>
                </a:lnTo>
                <a:lnTo>
                  <a:pt x="4008581" y="1146148"/>
                </a:lnTo>
                <a:lnTo>
                  <a:pt x="4065847" y="1162522"/>
                </a:lnTo>
                <a:lnTo>
                  <a:pt x="4123112" y="1178895"/>
                </a:lnTo>
                <a:lnTo>
                  <a:pt x="4180378" y="1195269"/>
                </a:lnTo>
                <a:lnTo>
                  <a:pt x="4237643" y="1211642"/>
                </a:lnTo>
                <a:lnTo>
                  <a:pt x="4294909" y="1228016"/>
                </a:lnTo>
                <a:lnTo>
                  <a:pt x="4352174" y="1244390"/>
                </a:lnTo>
                <a:lnTo>
                  <a:pt x="4409440" y="1260763"/>
                </a:lnTo>
                <a:lnTo>
                  <a:pt x="4466705" y="1277137"/>
                </a:lnTo>
                <a:lnTo>
                  <a:pt x="4523970" y="1293510"/>
                </a:lnTo>
                <a:lnTo>
                  <a:pt x="4581236" y="1309884"/>
                </a:lnTo>
                <a:lnTo>
                  <a:pt x="4638501" y="1326257"/>
                </a:lnTo>
                <a:lnTo>
                  <a:pt x="4695767" y="1342631"/>
                </a:lnTo>
                <a:lnTo>
                  <a:pt x="4753032" y="1359004"/>
                </a:lnTo>
                <a:lnTo>
                  <a:pt x="4810298" y="1375378"/>
                </a:lnTo>
                <a:lnTo>
                  <a:pt x="4867563" y="1391752"/>
                </a:lnTo>
                <a:lnTo>
                  <a:pt x="4924829" y="1408125"/>
                </a:lnTo>
                <a:lnTo>
                  <a:pt x="4982094" y="1424499"/>
                </a:lnTo>
                <a:lnTo>
                  <a:pt x="5039360" y="1440872"/>
                </a:lnTo>
                <a:lnTo>
                  <a:pt x="5096625" y="1457246"/>
                </a:lnTo>
                <a:lnTo>
                  <a:pt x="5153890" y="1473619"/>
                </a:lnTo>
                <a:lnTo>
                  <a:pt x="5211156" y="1489993"/>
                </a:lnTo>
                <a:lnTo>
                  <a:pt x="5268421" y="1506366"/>
                </a:lnTo>
                <a:lnTo>
                  <a:pt x="5325687" y="1522740"/>
                </a:lnTo>
                <a:lnTo>
                  <a:pt x="5382952" y="1539114"/>
                </a:lnTo>
                <a:lnTo>
                  <a:pt x="5440218" y="1555487"/>
                </a:lnTo>
                <a:lnTo>
                  <a:pt x="5497483" y="1571861"/>
                </a:lnTo>
                <a:lnTo>
                  <a:pt x="5554749" y="1588234"/>
                </a:lnTo>
                <a:lnTo>
                  <a:pt x="5612014" y="1604608"/>
                </a:lnTo>
                <a:lnTo>
                  <a:pt x="5669280" y="1620981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4-E19 polygon 37" descr="sci-ppt:o037"/>
          <p:cNvSpPr/>
          <p:nvPr/>
        </p:nvSpPr>
        <p:spPr>
          <a:xfrm>
            <a:off x="914400" y="3154680"/>
            <a:ext cx="5669280" cy="810490"/>
          </a:xfrm>
          <a:custGeom>
            <a:avLst/>
            <a:gdLst/>
            <a:ahLst/>
            <a:cxnLst/>
            <a:rect l="l" t="t" r="r" b="b"/>
            <a:pathLst>
              <a:path w="5669280" h="810490">
                <a:moveTo>
                  <a:pt x="0" y="0"/>
                </a:moveTo>
                <a:lnTo>
                  <a:pt x="57265" y="16290"/>
                </a:lnTo>
                <a:lnTo>
                  <a:pt x="114530" y="32416"/>
                </a:lnTo>
                <a:lnTo>
                  <a:pt x="171796" y="48376"/>
                </a:lnTo>
                <a:lnTo>
                  <a:pt x="229061" y="64171"/>
                </a:lnTo>
                <a:lnTo>
                  <a:pt x="286327" y="79800"/>
                </a:lnTo>
                <a:lnTo>
                  <a:pt x="343592" y="95264"/>
                </a:lnTo>
                <a:lnTo>
                  <a:pt x="400858" y="110562"/>
                </a:lnTo>
                <a:lnTo>
                  <a:pt x="458123" y="125695"/>
                </a:lnTo>
                <a:lnTo>
                  <a:pt x="515389" y="140663"/>
                </a:lnTo>
                <a:lnTo>
                  <a:pt x="572654" y="155466"/>
                </a:lnTo>
                <a:lnTo>
                  <a:pt x="629920" y="170103"/>
                </a:lnTo>
                <a:lnTo>
                  <a:pt x="687185" y="184574"/>
                </a:lnTo>
                <a:lnTo>
                  <a:pt x="744450" y="198880"/>
                </a:lnTo>
                <a:lnTo>
                  <a:pt x="801716" y="213021"/>
                </a:lnTo>
                <a:lnTo>
                  <a:pt x="858981" y="226996"/>
                </a:lnTo>
                <a:lnTo>
                  <a:pt x="916247" y="240807"/>
                </a:lnTo>
                <a:lnTo>
                  <a:pt x="973512" y="254451"/>
                </a:lnTo>
                <a:lnTo>
                  <a:pt x="1030778" y="267930"/>
                </a:lnTo>
                <a:lnTo>
                  <a:pt x="1088043" y="281244"/>
                </a:lnTo>
                <a:lnTo>
                  <a:pt x="1145309" y="294393"/>
                </a:lnTo>
                <a:lnTo>
                  <a:pt x="1202574" y="307376"/>
                </a:lnTo>
                <a:lnTo>
                  <a:pt x="1259840" y="320193"/>
                </a:lnTo>
                <a:lnTo>
                  <a:pt x="1317105" y="332846"/>
                </a:lnTo>
                <a:lnTo>
                  <a:pt x="1374370" y="345333"/>
                </a:lnTo>
                <a:lnTo>
                  <a:pt x="1431636" y="357654"/>
                </a:lnTo>
                <a:lnTo>
                  <a:pt x="1488901" y="369810"/>
                </a:lnTo>
                <a:lnTo>
                  <a:pt x="1546167" y="381801"/>
                </a:lnTo>
                <a:lnTo>
                  <a:pt x="1603432" y="393626"/>
                </a:lnTo>
                <a:lnTo>
                  <a:pt x="1660698" y="405286"/>
                </a:lnTo>
                <a:lnTo>
                  <a:pt x="1717963" y="416781"/>
                </a:lnTo>
                <a:lnTo>
                  <a:pt x="1775229" y="428110"/>
                </a:lnTo>
                <a:lnTo>
                  <a:pt x="1832494" y="439274"/>
                </a:lnTo>
                <a:lnTo>
                  <a:pt x="1889760" y="450272"/>
                </a:lnTo>
                <a:lnTo>
                  <a:pt x="1947025" y="461105"/>
                </a:lnTo>
                <a:lnTo>
                  <a:pt x="2004290" y="471773"/>
                </a:lnTo>
                <a:lnTo>
                  <a:pt x="2061556" y="482275"/>
                </a:lnTo>
                <a:lnTo>
                  <a:pt x="2118821" y="492612"/>
                </a:lnTo>
                <a:lnTo>
                  <a:pt x="2176087" y="502783"/>
                </a:lnTo>
                <a:lnTo>
                  <a:pt x="2233352" y="512789"/>
                </a:lnTo>
                <a:lnTo>
                  <a:pt x="2290618" y="522630"/>
                </a:lnTo>
                <a:lnTo>
                  <a:pt x="2347883" y="532305"/>
                </a:lnTo>
                <a:lnTo>
                  <a:pt x="2405149" y="541815"/>
                </a:lnTo>
                <a:lnTo>
                  <a:pt x="2462414" y="551160"/>
                </a:lnTo>
                <a:lnTo>
                  <a:pt x="2519680" y="560339"/>
                </a:lnTo>
                <a:lnTo>
                  <a:pt x="2576945" y="569353"/>
                </a:lnTo>
                <a:lnTo>
                  <a:pt x="2634210" y="578201"/>
                </a:lnTo>
                <a:lnTo>
                  <a:pt x="2691476" y="586884"/>
                </a:lnTo>
                <a:lnTo>
                  <a:pt x="2748741" y="595401"/>
                </a:lnTo>
                <a:lnTo>
                  <a:pt x="2806007" y="603754"/>
                </a:lnTo>
                <a:lnTo>
                  <a:pt x="2863272" y="611940"/>
                </a:lnTo>
                <a:lnTo>
                  <a:pt x="2920538" y="619962"/>
                </a:lnTo>
                <a:lnTo>
                  <a:pt x="2977803" y="627818"/>
                </a:lnTo>
                <a:lnTo>
                  <a:pt x="3035069" y="635508"/>
                </a:lnTo>
                <a:lnTo>
                  <a:pt x="3092334" y="643034"/>
                </a:lnTo>
                <a:lnTo>
                  <a:pt x="3149600" y="650393"/>
                </a:lnTo>
                <a:lnTo>
                  <a:pt x="3206865" y="657588"/>
                </a:lnTo>
                <a:lnTo>
                  <a:pt x="3264130" y="664617"/>
                </a:lnTo>
                <a:lnTo>
                  <a:pt x="3321396" y="671481"/>
                </a:lnTo>
                <a:lnTo>
                  <a:pt x="3378661" y="678179"/>
                </a:lnTo>
                <a:lnTo>
                  <a:pt x="3435927" y="684712"/>
                </a:lnTo>
                <a:lnTo>
                  <a:pt x="3493192" y="691079"/>
                </a:lnTo>
                <a:lnTo>
                  <a:pt x="3550458" y="697281"/>
                </a:lnTo>
                <a:lnTo>
                  <a:pt x="3607723" y="703318"/>
                </a:lnTo>
                <a:lnTo>
                  <a:pt x="3664989" y="709189"/>
                </a:lnTo>
                <a:lnTo>
                  <a:pt x="3722254" y="714895"/>
                </a:lnTo>
                <a:lnTo>
                  <a:pt x="3779520" y="720436"/>
                </a:lnTo>
                <a:lnTo>
                  <a:pt x="3836785" y="725811"/>
                </a:lnTo>
                <a:lnTo>
                  <a:pt x="3894050" y="731021"/>
                </a:lnTo>
                <a:lnTo>
                  <a:pt x="3951316" y="736065"/>
                </a:lnTo>
                <a:lnTo>
                  <a:pt x="4008581" y="740944"/>
                </a:lnTo>
                <a:lnTo>
                  <a:pt x="4065847" y="745658"/>
                </a:lnTo>
                <a:lnTo>
                  <a:pt x="4123112" y="750206"/>
                </a:lnTo>
                <a:lnTo>
                  <a:pt x="4180378" y="754589"/>
                </a:lnTo>
                <a:lnTo>
                  <a:pt x="4237643" y="758806"/>
                </a:lnTo>
                <a:lnTo>
                  <a:pt x="4294909" y="762858"/>
                </a:lnTo>
                <a:lnTo>
                  <a:pt x="4352174" y="766745"/>
                </a:lnTo>
                <a:lnTo>
                  <a:pt x="4409440" y="770466"/>
                </a:lnTo>
                <a:lnTo>
                  <a:pt x="4466705" y="774022"/>
                </a:lnTo>
                <a:lnTo>
                  <a:pt x="4523970" y="777413"/>
                </a:lnTo>
                <a:lnTo>
                  <a:pt x="4581236" y="780638"/>
                </a:lnTo>
                <a:lnTo>
                  <a:pt x="4638501" y="783697"/>
                </a:lnTo>
                <a:lnTo>
                  <a:pt x="4695767" y="786592"/>
                </a:lnTo>
                <a:lnTo>
                  <a:pt x="4753032" y="789321"/>
                </a:lnTo>
                <a:lnTo>
                  <a:pt x="4810298" y="791884"/>
                </a:lnTo>
                <a:lnTo>
                  <a:pt x="4867563" y="794282"/>
                </a:lnTo>
                <a:lnTo>
                  <a:pt x="4924829" y="796515"/>
                </a:lnTo>
                <a:lnTo>
                  <a:pt x="4982094" y="798582"/>
                </a:lnTo>
                <a:lnTo>
                  <a:pt x="5039360" y="800484"/>
                </a:lnTo>
                <a:lnTo>
                  <a:pt x="5096625" y="802221"/>
                </a:lnTo>
                <a:lnTo>
                  <a:pt x="5153890" y="803792"/>
                </a:lnTo>
                <a:lnTo>
                  <a:pt x="5211156" y="805198"/>
                </a:lnTo>
                <a:lnTo>
                  <a:pt x="5268421" y="806438"/>
                </a:lnTo>
                <a:lnTo>
                  <a:pt x="5325687" y="807513"/>
                </a:lnTo>
                <a:lnTo>
                  <a:pt x="5382952" y="808423"/>
                </a:lnTo>
                <a:lnTo>
                  <a:pt x="5440218" y="809167"/>
                </a:lnTo>
                <a:lnTo>
                  <a:pt x="5497483" y="809746"/>
                </a:lnTo>
                <a:lnTo>
                  <a:pt x="5554749" y="810160"/>
                </a:lnTo>
                <a:lnTo>
                  <a:pt x="5612014" y="810408"/>
                </a:lnTo>
                <a:lnTo>
                  <a:pt x="5669280" y="810490"/>
                </a:lnTo>
              </a:path>
            </a:pathLst>
          </a:custGeom>
          <a:noFill/>
          <a:ln w="4318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4-E19 line 38" descr="sci-ppt:o038"/>
          <p:cNvCxnSpPr/>
          <p:nvPr/>
        </p:nvCxnSpPr>
        <p:spPr>
          <a:xfrm>
            <a:off x="914400" y="3154680"/>
            <a:ext cx="5669280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41" name="C4-E19 text 39" descr="sci-ppt:o039"/>
          <p:cNvSpPr txBox="1"/>
          <p:nvPr/>
        </p:nvSpPr>
        <p:spPr>
          <a:xfrm>
            <a:off x="1554480" y="1776845"/>
            <a:ext cx="25603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7FC8F8"/>
                </a:solidFill>
                <a:latin typeface="Arial"/>
              </a:rPr>
              <a:t>U_b = V²/(2C_b)  (stored)</a:t>
            </a:r>
          </a:p>
        </p:txBody>
      </p:sp>
      <p:sp>
        <p:nvSpPr>
          <p:cNvPr id="42" name="C4-E19 text 40" descr="sci-ppt:o040"/>
          <p:cNvSpPr txBox="1"/>
          <p:nvPr/>
        </p:nvSpPr>
        <p:spPr>
          <a:xfrm>
            <a:off x="1441094" y="4451465"/>
            <a:ext cx="23774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−p₀V  (source work)</a:t>
            </a:r>
          </a:p>
        </p:txBody>
      </p:sp>
      <p:sp>
        <p:nvSpPr>
          <p:cNvPr id="43" name="C4-E19 ellipse 41" descr="sci-ppt:o041"/>
          <p:cNvSpPr/>
          <p:nvPr/>
        </p:nvSpPr>
        <p:spPr>
          <a:xfrm>
            <a:off x="6510528" y="389201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4-E19 text 42" descr="sci-ppt:o042"/>
          <p:cNvSpPr txBox="1"/>
          <p:nvPr/>
        </p:nvSpPr>
        <p:spPr>
          <a:xfrm>
            <a:off x="4846320" y="3690850"/>
            <a:ext cx="1645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𝒫 = −p₀V/2</a:t>
            </a:r>
          </a:p>
        </p:txBody>
      </p:sp>
      <p:sp>
        <p:nvSpPr>
          <p:cNvPr id="45" name="C4-E19 round_rect 43" descr="sci-ppt:o043"/>
          <p:cNvSpPr/>
          <p:nvPr/>
        </p:nvSpPr>
        <p:spPr>
          <a:xfrm>
            <a:off x="6858000" y="1371600"/>
            <a:ext cx="4983480" cy="35661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4-E19 text 44" descr="sci-ppt:o044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Maintained pressure</a:t>
            </a:r>
          </a:p>
        </p:txBody>
      </p:sp>
      <p:sp>
        <p:nvSpPr>
          <p:cNvPr id="47" name="C4-E19 text 45" descr="sci-ppt:o045"/>
          <p:cNvSpPr txBox="1"/>
          <p:nvPr/>
        </p:nvSpPr>
        <p:spPr>
          <a:xfrm>
            <a:off x="6995160" y="1828800"/>
            <a:ext cx="47548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C_b = ∂V_bl/∂p₀ = π b⁶ / (192 D_f),   V_bl = C_b p₀</a:t>
            </a:r>
          </a:p>
        </p:txBody>
      </p:sp>
      <p:sp>
        <p:nvSpPr>
          <p:cNvPr id="48" name="C4-E19 text 46" descr="sci-ppt:o046"/>
          <p:cNvSpPr txBox="1"/>
          <p:nvPr/>
        </p:nvSpPr>
        <p:spPr>
          <a:xfrm>
            <a:off x="6995160" y="237744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U_b = V_bl² / (2C_b) = p₀V_bl / 2</a:t>
            </a:r>
          </a:p>
        </p:txBody>
      </p:sp>
      <p:sp>
        <p:nvSpPr>
          <p:cNvPr id="49" name="C4-E19 text 47" descr="sci-ppt:o047"/>
          <p:cNvSpPr txBox="1"/>
          <p:nvPr/>
        </p:nvSpPr>
        <p:spPr>
          <a:xfrm>
            <a:off x="6995160" y="288036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𝒫 = U_b − p₀V_bl = −π p₀² b⁶ / (384 D_f)</a:t>
            </a:r>
          </a:p>
        </p:txBody>
      </p:sp>
      <p:sp>
        <p:nvSpPr>
          <p:cNvPr id="50" name="C4-E19 text 48" descr="sci-ppt:o048"/>
          <p:cNvSpPr txBox="1"/>
          <p:nvPr/>
        </p:nvSpPr>
        <p:spPr>
          <a:xfrm>
            <a:off x="6995160" y="3566160"/>
            <a:ext cx="475488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Half of the source work is stored; the other half is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loss of potential.</a:t>
            </a:r>
          </a:p>
        </p:txBody>
      </p:sp>
      <p:sp>
        <p:nvSpPr>
          <p:cNvPr id="51" name="C4-E19 text 49" descr="sci-ppt:o049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With p₀ held fixed the source does work p₀V; the total potential is negative: the system gains energy by opening.</a:t>
            </a:r>
          </a:p>
        </p:txBody>
      </p:sp>
      <p:sp>
        <p:nvSpPr>
          <p:cNvPr id="52" name="C4-E19 text 50" descr="sci-ppt:o05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Potential under maintained pressure, Eq. C4-E19 (normalised: V* = 1, p* = 1; U_b = V²/2 along the linear compliance).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