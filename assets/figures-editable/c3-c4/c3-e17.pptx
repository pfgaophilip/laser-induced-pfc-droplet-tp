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7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C3-E17 · Continuity plus Bernoulli focusing benchmark</a:t>
            </a:r>
          </a:p>
        </p:txBody>
      </p:sp>
      <p:cxnSp>
        <p:nvCxnSpPr>
          <p:cNvPr id="3" name="C3-E17 line 1" descr="sci-ppt:o001"/>
          <p:cNvCxnSpPr/>
          <p:nvPr/>
        </p:nvCxnSpPr>
        <p:spPr>
          <a:xfrm>
            <a:off x="914400" y="1143000"/>
            <a:ext cx="274320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" name="C3-E17 line 2" descr="sci-ppt:o002"/>
          <p:cNvCxnSpPr/>
          <p:nvPr/>
        </p:nvCxnSpPr>
        <p:spPr>
          <a:xfrm>
            <a:off x="3657600" y="1143000"/>
            <a:ext cx="2743200" cy="54864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" name="C3-E17 line 3" descr="sci-ppt:o003"/>
          <p:cNvCxnSpPr/>
          <p:nvPr/>
        </p:nvCxnSpPr>
        <p:spPr>
          <a:xfrm>
            <a:off x="6400800" y="1691640"/>
            <a:ext cx="429768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" name="C3-E17 line 4" descr="sci-ppt:o004"/>
          <p:cNvCxnSpPr/>
          <p:nvPr/>
        </p:nvCxnSpPr>
        <p:spPr>
          <a:xfrm>
            <a:off x="914400" y="2971800"/>
            <a:ext cx="274320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" name="C3-E17 line 5" descr="sci-ppt:o005"/>
          <p:cNvCxnSpPr/>
          <p:nvPr/>
        </p:nvCxnSpPr>
        <p:spPr>
          <a:xfrm flipV="1">
            <a:off x="3657600" y="2423160"/>
            <a:ext cx="2743200" cy="54864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C3-E17 line 6" descr="sci-ppt:o006"/>
          <p:cNvCxnSpPr/>
          <p:nvPr/>
        </p:nvCxnSpPr>
        <p:spPr>
          <a:xfrm>
            <a:off x="6400800" y="2423160"/>
            <a:ext cx="429768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C3-E17 arrow 7" descr="sci-ppt:o007"/>
          <p:cNvCxnSpPr/>
          <p:nvPr/>
        </p:nvCxnSpPr>
        <p:spPr>
          <a:xfrm>
            <a:off x="1188720" y="2057400"/>
            <a:ext cx="93268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3-E17 text 8" descr="sci-ppt:o008"/>
          <p:cNvSpPr txBox="1"/>
          <p:nvPr/>
        </p:nvSpPr>
        <p:spPr>
          <a:xfrm>
            <a:off x="914400" y="640080"/>
            <a:ext cx="36576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Solid inlet: a_in, U_in, p_in</a:t>
            </a:r>
          </a:p>
        </p:txBody>
      </p:sp>
      <p:sp>
        <p:nvSpPr>
          <p:cNvPr id="11" name="C3-E17 text 9" descr="sci-ppt:o009"/>
          <p:cNvSpPr txBox="1"/>
          <p:nvPr/>
        </p:nvSpPr>
        <p:spPr>
          <a:xfrm>
            <a:off x="6675120" y="868680"/>
            <a:ext cx="457200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Free jet: a_j, U_j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p_j = p_g + σ_j/a_j</a:t>
            </a:r>
          </a:p>
        </p:txBody>
      </p:sp>
      <p:sp>
        <p:nvSpPr>
          <p:cNvPr id="12" name="C3-E17 text 10" descr="sci-ppt:o010"/>
          <p:cNvSpPr txBox="1"/>
          <p:nvPr/>
        </p:nvSpPr>
        <p:spPr>
          <a:xfrm>
            <a:off x="1097280" y="3383280"/>
            <a:ext cx="100584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Continuity fixes flux; the pressure budget must support acceleration.</a:t>
            </a:r>
          </a:p>
        </p:txBody>
      </p:sp>
      <p:cxnSp>
        <p:nvCxnSpPr>
          <p:cNvPr id="13" name="C3-E17 line 11" descr="sci-ppt:o011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4" name="C3-E17 text 12" descr="sci-ppt:o012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a_in solid inlet; U_in, p_in</a:t>
            </a:r>
          </a:p>
        </p:txBody>
      </p:sp>
      <p:sp>
        <p:nvSpPr>
          <p:cNvPr id="15" name="C3-E17 text 13" descr="sci-ppt:o013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a_j free outlet; U_j</a:t>
            </a:r>
          </a:p>
        </p:txBody>
      </p:sp>
      <p:sp>
        <p:nvSpPr>
          <p:cNvPr id="16" name="C3-E17 text 14" descr="sci-ppt:o014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Q = inlet flux = outlet flux</a:t>
            </a:r>
          </a:p>
        </p:txBody>
      </p:sp>
      <p:sp>
        <p:nvSpPr>
          <p:cNvPr id="17" name="C3-E17 text 15" descr="sci-ppt:o015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p_g outside jet</a:t>
            </a:r>
          </a:p>
        </p:txBody>
      </p:sp>
      <p:sp>
        <p:nvSpPr>
          <p:cNvPr id="18" name="C3-E17 text 16" descr="sci-ppt:o016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σ_j/a_j outlet capillary pressure</a:t>
            </a:r>
          </a:p>
        </p:txBody>
      </p:sp>
      <p:sp>
        <p:nvSpPr>
          <p:cNvPr id="19" name="C3-E17 text 17" descr="sci-ppt:o017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ρ, α, Δp_loss: budget legend</a:t>
            </a:r>
          </a:p>
        </p:txBody>
      </p:sp>
      <p:sp>
        <p:nvSpPr>
          <p:cNvPr id="20" name="C3-E17 text 18" descr="sci-ppt:o018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A solid inlet has no imposed σ_j/a_in free-surface jump</a:t>
            </a:r>
          </a:p>
        </p:txBody>
      </p:sp>
      <p:sp>
        <p:nvSpPr>
          <p:cNvPr id="21" name="C3-E17 text 19" descr="sci-ppt:o019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Required pressure rises with speed gain</a:t>
            </a:r>
          </a:p>
        </p:txBody>
      </p:sp>
      <p:sp>
        <p:nvSpPr>
          <p:cNvPr id="22" name="C3-E17 text 20" descr="sci-ppt:o020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