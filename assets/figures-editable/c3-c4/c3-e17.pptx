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17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C3-E17 · Continuity plus Bernoulli focusing benchmark</a:t>
            </a:r>
          </a:p>
        </p:txBody>
      </p:sp>
      <p:sp>
        <p:nvSpPr>
          <p:cNvPr id="3" name="C3-E17 round_rect 1" descr="sci-ppt:o001"/>
          <p:cNvSpPr/>
          <p:nvPr/>
        </p:nvSpPr>
        <p:spPr>
          <a:xfrm>
            <a:off x="365760" y="914400"/>
            <a:ext cx="5852160" cy="4846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17 text 2" descr="sci-ppt:o002"/>
          <p:cNvSpPr txBox="1"/>
          <p:nvPr/>
        </p:nvSpPr>
        <p:spPr>
          <a:xfrm>
            <a:off x="475488" y="969264"/>
            <a:ext cx="563270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Contracting tube feeding a jet</a:t>
            </a:r>
          </a:p>
        </p:txBody>
      </p:sp>
      <p:sp>
        <p:nvSpPr>
          <p:cNvPr id="5" name="C3-E17 polygon 3" descr="sci-ppt:o003"/>
          <p:cNvSpPr/>
          <p:nvPr/>
        </p:nvSpPr>
        <p:spPr>
          <a:xfrm>
            <a:off x="731520" y="2194560"/>
            <a:ext cx="5120640" cy="2103120"/>
          </a:xfrm>
          <a:custGeom>
            <a:avLst/>
            <a:gdLst/>
            <a:ahLst/>
            <a:cxnLst/>
            <a:rect l="l" t="t" r="r" b="b"/>
            <a:pathLst>
              <a:path w="5120640" h="2103120">
                <a:moveTo>
                  <a:pt x="0" y="0"/>
                </a:moveTo>
                <a:lnTo>
                  <a:pt x="1645920" y="0"/>
                </a:lnTo>
                <a:lnTo>
                  <a:pt x="3108960" y="731520"/>
                </a:lnTo>
                <a:lnTo>
                  <a:pt x="5120640" y="731520"/>
                </a:lnTo>
                <a:lnTo>
                  <a:pt x="5120640" y="1371600"/>
                </a:lnTo>
                <a:lnTo>
                  <a:pt x="3108960" y="1371600"/>
                </a:lnTo>
                <a:lnTo>
                  <a:pt x="164592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1E4A5A"/>
          </a:solidFill>
          <a:ln w="2794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3-E17 text 4" descr="sci-ppt:o004"/>
          <p:cNvSpPr txBox="1"/>
          <p:nvPr/>
        </p:nvSpPr>
        <p:spPr>
          <a:xfrm>
            <a:off x="822960" y="1554480"/>
            <a:ext cx="2286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EDBD4"/>
                </a:solidFill>
                <a:latin typeface="Arial"/>
              </a:rPr>
              <a:t>aᵢₙ, Uᵢₙ, pᵢₙ</a:t>
            </a:r>
          </a:p>
        </p:txBody>
      </p:sp>
      <p:sp>
        <p:nvSpPr>
          <p:cNvPr id="7" name="C3-E17 text 5" descr="sci-ppt:o005"/>
          <p:cNvSpPr txBox="1"/>
          <p:nvPr/>
        </p:nvSpPr>
        <p:spPr>
          <a:xfrm>
            <a:off x="3657600" y="2377440"/>
            <a:ext cx="2286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jet aⱼ, Uⱼ</a:t>
            </a:r>
          </a:p>
        </p:txBody>
      </p:sp>
      <p:cxnSp>
        <p:nvCxnSpPr>
          <p:cNvPr id="8" name="C3-E17 arrow 6" descr="sci-ppt:o006"/>
          <p:cNvCxnSpPr/>
          <p:nvPr/>
        </p:nvCxnSpPr>
        <p:spPr>
          <a:xfrm>
            <a:off x="914400" y="3246120"/>
            <a:ext cx="1097280" cy="0"/>
          </a:xfrm>
          <a:prstGeom prst="line">
            <a:avLst/>
          </a:prstGeom>
          <a:ln w="3048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" name="C3-E17 arrow 7" descr="sci-ppt:o007"/>
          <p:cNvCxnSpPr/>
          <p:nvPr/>
        </p:nvCxnSpPr>
        <p:spPr>
          <a:xfrm>
            <a:off x="4023360" y="3246120"/>
            <a:ext cx="1737360" cy="0"/>
          </a:xfrm>
          <a:prstGeom prst="line">
            <a:avLst/>
          </a:prstGeom>
          <a:ln w="508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3-E17 text 8" descr="sci-ppt:o008"/>
          <p:cNvSpPr txBox="1"/>
          <p:nvPr/>
        </p:nvSpPr>
        <p:spPr>
          <a:xfrm>
            <a:off x="548640" y="4572000"/>
            <a:ext cx="54864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Q = π aᵢₙ² Uᵢₙ = π aⱼ² Uⱼ,   α = (aⱼ/aᵢₙ)²</a:t>
            </a:r>
          </a:p>
        </p:txBody>
      </p:sp>
      <p:sp>
        <p:nvSpPr>
          <p:cNvPr id="11" name="C3-E17 text 9" descr="sci-ppt:o009"/>
          <p:cNvSpPr txBox="1"/>
          <p:nvPr/>
        </p:nvSpPr>
        <p:spPr>
          <a:xfrm>
            <a:off x="548640" y="5029200"/>
            <a:ext cx="5486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Bernoulli with tension and loss gives the jet speed.</a:t>
            </a:r>
          </a:p>
        </p:txBody>
      </p:sp>
      <p:cxnSp>
        <p:nvCxnSpPr>
          <p:cNvPr id="12" name="C3-E17 line 10" descr="sci-ppt:o010"/>
          <p:cNvCxnSpPr/>
          <p:nvPr/>
        </p:nvCxnSpPr>
        <p:spPr>
          <a:xfrm>
            <a:off x="7315200" y="4572000"/>
            <a:ext cx="44805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3" name="C3-E17 line 11" descr="sci-ppt:o011"/>
          <p:cNvCxnSpPr/>
          <p:nvPr/>
        </p:nvCxnSpPr>
        <p:spPr>
          <a:xfrm>
            <a:off x="7315200" y="1371600"/>
            <a:ext cx="0" cy="32004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4" name="C3-E17 line 12" descr="sci-ppt:o012"/>
          <p:cNvCxnSpPr/>
          <p:nvPr/>
        </p:nvCxnSpPr>
        <p:spPr>
          <a:xfrm>
            <a:off x="731520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3-E17 line 13" descr="sci-ppt:o013"/>
          <p:cNvCxnSpPr/>
          <p:nvPr/>
        </p:nvCxnSpPr>
        <p:spPr>
          <a:xfrm>
            <a:off x="7315200" y="1371600"/>
            <a:ext cx="0" cy="32004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3-E17 text 14" descr="sci-ppt:o014"/>
          <p:cNvSpPr txBox="1"/>
          <p:nvPr/>
        </p:nvSpPr>
        <p:spPr>
          <a:xfrm>
            <a:off x="685800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</a:t>
            </a:r>
          </a:p>
        </p:txBody>
      </p:sp>
      <p:cxnSp>
        <p:nvCxnSpPr>
          <p:cNvPr id="17" name="C3-E17 line 15" descr="sci-ppt:o015"/>
          <p:cNvCxnSpPr/>
          <p:nvPr/>
        </p:nvCxnSpPr>
        <p:spPr>
          <a:xfrm>
            <a:off x="843534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3-E17 line 16" descr="sci-ppt:o016"/>
          <p:cNvCxnSpPr/>
          <p:nvPr/>
        </p:nvCxnSpPr>
        <p:spPr>
          <a:xfrm>
            <a:off x="8435340" y="1371600"/>
            <a:ext cx="0" cy="32004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3-E17 text 17" descr="sci-ppt:o017"/>
          <p:cNvSpPr txBox="1"/>
          <p:nvPr/>
        </p:nvSpPr>
        <p:spPr>
          <a:xfrm>
            <a:off x="797814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20" name="C3-E17 line 18" descr="sci-ppt:o018"/>
          <p:cNvCxnSpPr/>
          <p:nvPr/>
        </p:nvCxnSpPr>
        <p:spPr>
          <a:xfrm>
            <a:off x="955548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3-E17 line 19" descr="sci-ppt:o019"/>
          <p:cNvCxnSpPr/>
          <p:nvPr/>
        </p:nvCxnSpPr>
        <p:spPr>
          <a:xfrm>
            <a:off x="9555480" y="1371600"/>
            <a:ext cx="0" cy="32004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3-E17 text 20" descr="sci-ppt:o020"/>
          <p:cNvSpPr txBox="1"/>
          <p:nvPr/>
        </p:nvSpPr>
        <p:spPr>
          <a:xfrm>
            <a:off x="909828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23" name="C3-E17 line 21" descr="sci-ppt:o021"/>
          <p:cNvCxnSpPr/>
          <p:nvPr/>
        </p:nvCxnSpPr>
        <p:spPr>
          <a:xfrm>
            <a:off x="1067562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3-E17 line 22" descr="sci-ppt:o022"/>
          <p:cNvCxnSpPr/>
          <p:nvPr/>
        </p:nvCxnSpPr>
        <p:spPr>
          <a:xfrm>
            <a:off x="10675620" y="1371600"/>
            <a:ext cx="0" cy="32004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C3-E17 text 23" descr="sci-ppt:o023"/>
          <p:cNvSpPr txBox="1"/>
          <p:nvPr/>
        </p:nvSpPr>
        <p:spPr>
          <a:xfrm>
            <a:off x="1021842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26" name="C3-E17 line 24" descr="sci-ppt:o024"/>
          <p:cNvCxnSpPr/>
          <p:nvPr/>
        </p:nvCxnSpPr>
        <p:spPr>
          <a:xfrm>
            <a:off x="11795760" y="45720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3-E17 line 25" descr="sci-ppt:o025"/>
          <p:cNvCxnSpPr/>
          <p:nvPr/>
        </p:nvCxnSpPr>
        <p:spPr>
          <a:xfrm>
            <a:off x="11795760" y="1371600"/>
            <a:ext cx="0" cy="32004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C3-E17 text 26" descr="sci-ppt:o026"/>
          <p:cNvSpPr txBox="1"/>
          <p:nvPr/>
        </p:nvSpPr>
        <p:spPr>
          <a:xfrm>
            <a:off x="11338560" y="46542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cxnSp>
        <p:nvCxnSpPr>
          <p:cNvPr id="29" name="C3-E17 line 27" descr="sci-ppt:o027"/>
          <p:cNvCxnSpPr/>
          <p:nvPr/>
        </p:nvCxnSpPr>
        <p:spPr>
          <a:xfrm>
            <a:off x="7251192" y="45720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C3-E17 line 28" descr="sci-ppt:o028"/>
          <p:cNvCxnSpPr/>
          <p:nvPr/>
        </p:nvCxnSpPr>
        <p:spPr>
          <a:xfrm>
            <a:off x="7251192" y="3505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3-E17 line 29" descr="sci-ppt:o029"/>
          <p:cNvCxnSpPr/>
          <p:nvPr/>
        </p:nvCxnSpPr>
        <p:spPr>
          <a:xfrm>
            <a:off x="7315200" y="3505200"/>
            <a:ext cx="4480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3-E17 text 30" descr="sci-ppt:o030"/>
          <p:cNvSpPr txBox="1"/>
          <p:nvPr/>
        </p:nvSpPr>
        <p:spPr>
          <a:xfrm>
            <a:off x="6446520" y="34229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33" name="C3-E17 line 31" descr="sci-ppt:o031"/>
          <p:cNvCxnSpPr/>
          <p:nvPr/>
        </p:nvCxnSpPr>
        <p:spPr>
          <a:xfrm>
            <a:off x="7251192" y="24384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C3-E17 line 32" descr="sci-ppt:o032"/>
          <p:cNvCxnSpPr/>
          <p:nvPr/>
        </p:nvCxnSpPr>
        <p:spPr>
          <a:xfrm>
            <a:off x="7315200" y="2438400"/>
            <a:ext cx="4480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5" name="C3-E17 text 33" descr="sci-ppt:o033"/>
          <p:cNvSpPr txBox="1"/>
          <p:nvPr/>
        </p:nvSpPr>
        <p:spPr>
          <a:xfrm>
            <a:off x="6446520" y="23561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36" name="C3-E17 line 34" descr="sci-ppt:o034"/>
          <p:cNvCxnSpPr/>
          <p:nvPr/>
        </p:nvCxnSpPr>
        <p:spPr>
          <a:xfrm>
            <a:off x="72511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7" name="C3-E17 line 35" descr="sci-ppt:o035"/>
          <p:cNvCxnSpPr/>
          <p:nvPr/>
        </p:nvCxnSpPr>
        <p:spPr>
          <a:xfrm>
            <a:off x="7315200" y="1371600"/>
            <a:ext cx="4480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8" name="C3-E17 text 36" descr="sci-ppt:o036"/>
          <p:cNvSpPr txBox="1"/>
          <p:nvPr/>
        </p:nvSpPr>
        <p:spPr>
          <a:xfrm>
            <a:off x="64465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sp>
        <p:nvSpPr>
          <p:cNvPr id="39" name="C3-E17 text 37" descr="sci-ppt:o037"/>
          <p:cNvSpPr txBox="1"/>
          <p:nvPr/>
        </p:nvSpPr>
        <p:spPr>
          <a:xfrm>
            <a:off x="7315200" y="4855464"/>
            <a:ext cx="44805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area ratio α</a:t>
            </a:r>
          </a:p>
        </p:txBody>
      </p:sp>
      <p:sp>
        <p:nvSpPr>
          <p:cNvPr id="40" name="C3-E17 text 38" descr="sci-ppt:o038"/>
          <p:cNvSpPr txBox="1"/>
          <p:nvPr/>
        </p:nvSpPr>
        <p:spPr>
          <a:xfrm>
            <a:off x="6766560" y="1024128"/>
            <a:ext cx="44805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Uⱼ / √(2Δ/ρ)</a:t>
            </a:r>
          </a:p>
        </p:txBody>
      </p:sp>
      <p:sp>
        <p:nvSpPr>
          <p:cNvPr id="41" name="C3-E17 polygon 39" descr="sci-ppt:o039"/>
          <p:cNvSpPr/>
          <p:nvPr/>
        </p:nvSpPr>
        <p:spPr>
          <a:xfrm>
            <a:off x="7319680" y="2222305"/>
            <a:ext cx="4252052" cy="2349694"/>
          </a:xfrm>
          <a:custGeom>
            <a:avLst/>
            <a:gdLst/>
            <a:ahLst/>
            <a:cxnLst/>
            <a:rect l="l" t="t" r="r" b="b"/>
            <a:pathLst>
              <a:path w="4252052" h="2349694">
                <a:moveTo>
                  <a:pt x="0" y="2349694"/>
                </a:moveTo>
                <a:lnTo>
                  <a:pt x="21367" y="2349677"/>
                </a:lnTo>
                <a:lnTo>
                  <a:pt x="42734" y="2349635"/>
                </a:lnTo>
                <a:lnTo>
                  <a:pt x="64101" y="2349570"/>
                </a:lnTo>
                <a:lnTo>
                  <a:pt x="85468" y="2349479"/>
                </a:lnTo>
                <a:lnTo>
                  <a:pt x="106836" y="2349365"/>
                </a:lnTo>
                <a:lnTo>
                  <a:pt x="128203" y="2349226"/>
                </a:lnTo>
                <a:lnTo>
                  <a:pt x="149570" y="2349063"/>
                </a:lnTo>
                <a:lnTo>
                  <a:pt x="170937" y="2348876"/>
                </a:lnTo>
                <a:lnTo>
                  <a:pt x="192304" y="2348664"/>
                </a:lnTo>
                <a:lnTo>
                  <a:pt x="213671" y="2348428"/>
                </a:lnTo>
                <a:lnTo>
                  <a:pt x="235038" y="2348167"/>
                </a:lnTo>
                <a:lnTo>
                  <a:pt x="256405" y="2347882"/>
                </a:lnTo>
                <a:lnTo>
                  <a:pt x="277772" y="2347571"/>
                </a:lnTo>
                <a:lnTo>
                  <a:pt x="299139" y="2347237"/>
                </a:lnTo>
                <a:lnTo>
                  <a:pt x="320506" y="2346877"/>
                </a:lnTo>
                <a:lnTo>
                  <a:pt x="341874" y="2346493"/>
                </a:lnTo>
                <a:lnTo>
                  <a:pt x="363241" y="2346084"/>
                </a:lnTo>
                <a:lnTo>
                  <a:pt x="384608" y="2345649"/>
                </a:lnTo>
                <a:lnTo>
                  <a:pt x="405975" y="2345190"/>
                </a:lnTo>
                <a:lnTo>
                  <a:pt x="427342" y="2344705"/>
                </a:lnTo>
                <a:lnTo>
                  <a:pt x="448709" y="2344195"/>
                </a:lnTo>
                <a:lnTo>
                  <a:pt x="470076" y="2343660"/>
                </a:lnTo>
                <a:lnTo>
                  <a:pt x="491443" y="2343099"/>
                </a:lnTo>
                <a:lnTo>
                  <a:pt x="512810" y="2342513"/>
                </a:lnTo>
                <a:lnTo>
                  <a:pt x="534177" y="2341901"/>
                </a:lnTo>
                <a:lnTo>
                  <a:pt x="555544" y="2341263"/>
                </a:lnTo>
                <a:lnTo>
                  <a:pt x="576912" y="2340598"/>
                </a:lnTo>
                <a:lnTo>
                  <a:pt x="598279" y="2339908"/>
                </a:lnTo>
                <a:lnTo>
                  <a:pt x="619646" y="2339192"/>
                </a:lnTo>
                <a:lnTo>
                  <a:pt x="641013" y="2338449"/>
                </a:lnTo>
                <a:lnTo>
                  <a:pt x="662380" y="2337679"/>
                </a:lnTo>
                <a:lnTo>
                  <a:pt x="683747" y="2336882"/>
                </a:lnTo>
                <a:lnTo>
                  <a:pt x="705114" y="2336059"/>
                </a:lnTo>
                <a:lnTo>
                  <a:pt x="726481" y="2335208"/>
                </a:lnTo>
                <a:lnTo>
                  <a:pt x="747848" y="2334330"/>
                </a:lnTo>
                <a:lnTo>
                  <a:pt x="769215" y="2333425"/>
                </a:lnTo>
                <a:lnTo>
                  <a:pt x="790582" y="2332492"/>
                </a:lnTo>
                <a:lnTo>
                  <a:pt x="811950" y="2331531"/>
                </a:lnTo>
                <a:lnTo>
                  <a:pt x="833317" y="2330541"/>
                </a:lnTo>
                <a:lnTo>
                  <a:pt x="854684" y="2329524"/>
                </a:lnTo>
                <a:lnTo>
                  <a:pt x="876051" y="2328477"/>
                </a:lnTo>
                <a:lnTo>
                  <a:pt x="897418" y="2327402"/>
                </a:lnTo>
                <a:lnTo>
                  <a:pt x="918785" y="2326298"/>
                </a:lnTo>
                <a:lnTo>
                  <a:pt x="940152" y="2325165"/>
                </a:lnTo>
                <a:lnTo>
                  <a:pt x="961519" y="2324001"/>
                </a:lnTo>
                <a:lnTo>
                  <a:pt x="982886" y="2322808"/>
                </a:lnTo>
                <a:lnTo>
                  <a:pt x="1004253" y="2321585"/>
                </a:lnTo>
                <a:lnTo>
                  <a:pt x="1025621" y="2320332"/>
                </a:lnTo>
                <a:lnTo>
                  <a:pt x="1046988" y="2319048"/>
                </a:lnTo>
                <a:lnTo>
                  <a:pt x="1068355" y="2317732"/>
                </a:lnTo>
                <a:lnTo>
                  <a:pt x="1089722" y="2316386"/>
                </a:lnTo>
                <a:lnTo>
                  <a:pt x="1111089" y="2315007"/>
                </a:lnTo>
                <a:lnTo>
                  <a:pt x="1132456" y="2313597"/>
                </a:lnTo>
                <a:lnTo>
                  <a:pt x="1153823" y="2312154"/>
                </a:lnTo>
                <a:lnTo>
                  <a:pt x="1175190" y="2310679"/>
                </a:lnTo>
                <a:lnTo>
                  <a:pt x="1196557" y="2309170"/>
                </a:lnTo>
                <a:lnTo>
                  <a:pt x="1217924" y="2307628"/>
                </a:lnTo>
                <a:lnTo>
                  <a:pt x="1239291" y="2306053"/>
                </a:lnTo>
                <a:lnTo>
                  <a:pt x="1260659" y="2304443"/>
                </a:lnTo>
                <a:lnTo>
                  <a:pt x="1282026" y="2302798"/>
                </a:lnTo>
                <a:lnTo>
                  <a:pt x="1303393" y="2301119"/>
                </a:lnTo>
                <a:lnTo>
                  <a:pt x="1324760" y="2299404"/>
                </a:lnTo>
                <a:lnTo>
                  <a:pt x="1346127" y="2297653"/>
                </a:lnTo>
                <a:lnTo>
                  <a:pt x="1367494" y="2295865"/>
                </a:lnTo>
                <a:lnTo>
                  <a:pt x="1388861" y="2294041"/>
                </a:lnTo>
                <a:lnTo>
                  <a:pt x="1410228" y="2292180"/>
                </a:lnTo>
                <a:lnTo>
                  <a:pt x="1431595" y="2290280"/>
                </a:lnTo>
                <a:lnTo>
                  <a:pt x="1452962" y="2288343"/>
                </a:lnTo>
                <a:lnTo>
                  <a:pt x="1474329" y="2286366"/>
                </a:lnTo>
                <a:lnTo>
                  <a:pt x="1495697" y="2284350"/>
                </a:lnTo>
                <a:lnTo>
                  <a:pt x="1517064" y="2282294"/>
                </a:lnTo>
                <a:lnTo>
                  <a:pt x="1538431" y="2280197"/>
                </a:lnTo>
                <a:lnTo>
                  <a:pt x="1559798" y="2278060"/>
                </a:lnTo>
                <a:lnTo>
                  <a:pt x="1581165" y="2275880"/>
                </a:lnTo>
                <a:lnTo>
                  <a:pt x="1602532" y="2273658"/>
                </a:lnTo>
                <a:lnTo>
                  <a:pt x="1623899" y="2271393"/>
                </a:lnTo>
                <a:lnTo>
                  <a:pt x="1645266" y="2269085"/>
                </a:lnTo>
                <a:lnTo>
                  <a:pt x="1666633" y="2266732"/>
                </a:lnTo>
                <a:lnTo>
                  <a:pt x="1688000" y="2264333"/>
                </a:lnTo>
                <a:lnTo>
                  <a:pt x="1709367" y="2261890"/>
                </a:lnTo>
                <a:lnTo>
                  <a:pt x="1730735" y="2259399"/>
                </a:lnTo>
                <a:lnTo>
                  <a:pt x="1752102" y="2256861"/>
                </a:lnTo>
                <a:lnTo>
                  <a:pt x="1773469" y="2254275"/>
                </a:lnTo>
                <a:lnTo>
                  <a:pt x="1794836" y="2251640"/>
                </a:lnTo>
                <a:lnTo>
                  <a:pt x="1816203" y="2248955"/>
                </a:lnTo>
                <a:lnTo>
                  <a:pt x="1837570" y="2246220"/>
                </a:lnTo>
                <a:lnTo>
                  <a:pt x="1858937" y="2243433"/>
                </a:lnTo>
                <a:lnTo>
                  <a:pt x="1880304" y="2240593"/>
                </a:lnTo>
                <a:lnTo>
                  <a:pt x="1901671" y="2237700"/>
                </a:lnTo>
                <a:lnTo>
                  <a:pt x="1923038" y="2234753"/>
                </a:lnTo>
                <a:lnTo>
                  <a:pt x="1944405" y="2231750"/>
                </a:lnTo>
                <a:lnTo>
                  <a:pt x="1965773" y="2228691"/>
                </a:lnTo>
                <a:lnTo>
                  <a:pt x="1987140" y="2225574"/>
                </a:lnTo>
                <a:lnTo>
                  <a:pt x="2008507" y="2222398"/>
                </a:lnTo>
                <a:lnTo>
                  <a:pt x="2029874" y="2219163"/>
                </a:lnTo>
                <a:lnTo>
                  <a:pt x="2051241" y="2215866"/>
                </a:lnTo>
                <a:lnTo>
                  <a:pt x="2072608" y="2212508"/>
                </a:lnTo>
                <a:lnTo>
                  <a:pt x="2093975" y="2209085"/>
                </a:lnTo>
                <a:lnTo>
                  <a:pt x="2115342" y="2205598"/>
                </a:lnTo>
                <a:lnTo>
                  <a:pt x="2136709" y="2202045"/>
                </a:lnTo>
                <a:lnTo>
                  <a:pt x="2158076" y="2198424"/>
                </a:lnTo>
                <a:lnTo>
                  <a:pt x="2179444" y="2194734"/>
                </a:lnTo>
                <a:lnTo>
                  <a:pt x="2200811" y="2190974"/>
                </a:lnTo>
                <a:lnTo>
                  <a:pt x="2222178" y="2187142"/>
                </a:lnTo>
                <a:lnTo>
                  <a:pt x="2243545" y="2183235"/>
                </a:lnTo>
                <a:lnTo>
                  <a:pt x="2264912" y="2179254"/>
                </a:lnTo>
                <a:lnTo>
                  <a:pt x="2286279" y="2175196"/>
                </a:lnTo>
                <a:lnTo>
                  <a:pt x="2307646" y="2171058"/>
                </a:lnTo>
                <a:lnTo>
                  <a:pt x="2329013" y="2166840"/>
                </a:lnTo>
                <a:lnTo>
                  <a:pt x="2350380" y="2162540"/>
                </a:lnTo>
                <a:lnTo>
                  <a:pt x="2371747" y="2158155"/>
                </a:lnTo>
                <a:lnTo>
                  <a:pt x="2393114" y="2153684"/>
                </a:lnTo>
                <a:lnTo>
                  <a:pt x="2414482" y="2149123"/>
                </a:lnTo>
                <a:lnTo>
                  <a:pt x="2435849" y="2144472"/>
                </a:lnTo>
                <a:lnTo>
                  <a:pt x="2457216" y="2139728"/>
                </a:lnTo>
                <a:lnTo>
                  <a:pt x="2478583" y="2134888"/>
                </a:lnTo>
                <a:lnTo>
                  <a:pt x="2499950" y="2129950"/>
                </a:lnTo>
                <a:lnTo>
                  <a:pt x="2521317" y="2124912"/>
                </a:lnTo>
                <a:lnTo>
                  <a:pt x="2542684" y="2119770"/>
                </a:lnTo>
                <a:lnTo>
                  <a:pt x="2564051" y="2114523"/>
                </a:lnTo>
                <a:lnTo>
                  <a:pt x="2585418" y="2109166"/>
                </a:lnTo>
                <a:lnTo>
                  <a:pt x="2606785" y="2103698"/>
                </a:lnTo>
                <a:lnTo>
                  <a:pt x="2628152" y="2098115"/>
                </a:lnTo>
                <a:lnTo>
                  <a:pt x="2649520" y="2092413"/>
                </a:lnTo>
                <a:lnTo>
                  <a:pt x="2670887" y="2086590"/>
                </a:lnTo>
                <a:lnTo>
                  <a:pt x="2692254" y="2080641"/>
                </a:lnTo>
                <a:lnTo>
                  <a:pt x="2713621" y="2074564"/>
                </a:lnTo>
                <a:lnTo>
                  <a:pt x="2734988" y="2068354"/>
                </a:lnTo>
                <a:lnTo>
                  <a:pt x="2756355" y="2062008"/>
                </a:lnTo>
                <a:lnTo>
                  <a:pt x="2777722" y="2055520"/>
                </a:lnTo>
                <a:lnTo>
                  <a:pt x="2799089" y="2048888"/>
                </a:lnTo>
                <a:lnTo>
                  <a:pt x="2820456" y="2042105"/>
                </a:lnTo>
                <a:lnTo>
                  <a:pt x="2841823" y="2035169"/>
                </a:lnTo>
                <a:lnTo>
                  <a:pt x="2863190" y="2028072"/>
                </a:lnTo>
                <a:lnTo>
                  <a:pt x="2884558" y="2020811"/>
                </a:lnTo>
                <a:lnTo>
                  <a:pt x="2905925" y="2013379"/>
                </a:lnTo>
                <a:lnTo>
                  <a:pt x="2927292" y="2005771"/>
                </a:lnTo>
                <a:lnTo>
                  <a:pt x="2948659" y="1997981"/>
                </a:lnTo>
                <a:lnTo>
                  <a:pt x="2970026" y="1990003"/>
                </a:lnTo>
                <a:lnTo>
                  <a:pt x="2991393" y="1981829"/>
                </a:lnTo>
                <a:lnTo>
                  <a:pt x="3012760" y="1973453"/>
                </a:lnTo>
                <a:lnTo>
                  <a:pt x="3034127" y="1964868"/>
                </a:lnTo>
                <a:lnTo>
                  <a:pt x="3055494" y="1956065"/>
                </a:lnTo>
                <a:lnTo>
                  <a:pt x="3076861" y="1947037"/>
                </a:lnTo>
                <a:lnTo>
                  <a:pt x="3098228" y="1937775"/>
                </a:lnTo>
                <a:lnTo>
                  <a:pt x="3119596" y="1928269"/>
                </a:lnTo>
                <a:lnTo>
                  <a:pt x="3140963" y="1918510"/>
                </a:lnTo>
                <a:lnTo>
                  <a:pt x="3162330" y="1908489"/>
                </a:lnTo>
                <a:lnTo>
                  <a:pt x="3183697" y="1898194"/>
                </a:lnTo>
                <a:lnTo>
                  <a:pt x="3205064" y="1887613"/>
                </a:lnTo>
                <a:lnTo>
                  <a:pt x="3226431" y="1876736"/>
                </a:lnTo>
                <a:lnTo>
                  <a:pt x="3247798" y="1865548"/>
                </a:lnTo>
                <a:lnTo>
                  <a:pt x="3269165" y="1854036"/>
                </a:lnTo>
                <a:lnTo>
                  <a:pt x="3290532" y="1842187"/>
                </a:lnTo>
                <a:lnTo>
                  <a:pt x="3311899" y="1829983"/>
                </a:lnTo>
                <a:lnTo>
                  <a:pt x="3333267" y="1817410"/>
                </a:lnTo>
                <a:lnTo>
                  <a:pt x="3354634" y="1804450"/>
                </a:lnTo>
                <a:lnTo>
                  <a:pt x="3376001" y="1791083"/>
                </a:lnTo>
                <a:lnTo>
                  <a:pt x="3397368" y="1777290"/>
                </a:lnTo>
                <a:lnTo>
                  <a:pt x="3418735" y="1763050"/>
                </a:lnTo>
                <a:lnTo>
                  <a:pt x="3440102" y="1748339"/>
                </a:lnTo>
                <a:lnTo>
                  <a:pt x="3461469" y="1733133"/>
                </a:lnTo>
                <a:lnTo>
                  <a:pt x="3482836" y="1717405"/>
                </a:lnTo>
                <a:lnTo>
                  <a:pt x="3504203" y="1701128"/>
                </a:lnTo>
                <a:lnTo>
                  <a:pt x="3525570" y="1684269"/>
                </a:lnTo>
                <a:lnTo>
                  <a:pt x="3546937" y="1666797"/>
                </a:lnTo>
                <a:lnTo>
                  <a:pt x="3568305" y="1648674"/>
                </a:lnTo>
                <a:lnTo>
                  <a:pt x="3589672" y="1629863"/>
                </a:lnTo>
                <a:lnTo>
                  <a:pt x="3611039" y="1610320"/>
                </a:lnTo>
                <a:lnTo>
                  <a:pt x="3632406" y="1590000"/>
                </a:lnTo>
                <a:lnTo>
                  <a:pt x="3653773" y="1568852"/>
                </a:lnTo>
                <a:lnTo>
                  <a:pt x="3675140" y="1546822"/>
                </a:lnTo>
                <a:lnTo>
                  <a:pt x="3696507" y="1523849"/>
                </a:lnTo>
                <a:lnTo>
                  <a:pt x="3717874" y="1499867"/>
                </a:lnTo>
                <a:lnTo>
                  <a:pt x="3739241" y="1474803"/>
                </a:lnTo>
                <a:lnTo>
                  <a:pt x="3760608" y="1448577"/>
                </a:lnTo>
                <a:lnTo>
                  <a:pt x="3781975" y="1421101"/>
                </a:lnTo>
                <a:lnTo>
                  <a:pt x="3803343" y="1392274"/>
                </a:lnTo>
                <a:lnTo>
                  <a:pt x="3824710" y="1361988"/>
                </a:lnTo>
                <a:lnTo>
                  <a:pt x="3846077" y="1330119"/>
                </a:lnTo>
                <a:lnTo>
                  <a:pt x="3867444" y="1296529"/>
                </a:lnTo>
                <a:lnTo>
                  <a:pt x="3888811" y="1261063"/>
                </a:lnTo>
                <a:lnTo>
                  <a:pt x="3910178" y="1223544"/>
                </a:lnTo>
                <a:lnTo>
                  <a:pt x="3931545" y="1183772"/>
                </a:lnTo>
                <a:lnTo>
                  <a:pt x="3952912" y="1141520"/>
                </a:lnTo>
                <a:lnTo>
                  <a:pt x="3974279" y="1096526"/>
                </a:lnTo>
                <a:lnTo>
                  <a:pt x="3995646" y="1048486"/>
                </a:lnTo>
                <a:lnTo>
                  <a:pt x="4017013" y="997049"/>
                </a:lnTo>
                <a:lnTo>
                  <a:pt x="4038381" y="941806"/>
                </a:lnTo>
                <a:lnTo>
                  <a:pt x="4059748" y="882271"/>
                </a:lnTo>
                <a:lnTo>
                  <a:pt x="4081115" y="817872"/>
                </a:lnTo>
                <a:lnTo>
                  <a:pt x="4102482" y="747920"/>
                </a:lnTo>
                <a:lnTo>
                  <a:pt x="4123849" y="671584"/>
                </a:lnTo>
                <a:lnTo>
                  <a:pt x="4145216" y="587846"/>
                </a:lnTo>
                <a:lnTo>
                  <a:pt x="4166583" y="495446"/>
                </a:lnTo>
                <a:lnTo>
                  <a:pt x="4187950" y="392805"/>
                </a:lnTo>
                <a:lnTo>
                  <a:pt x="4209317" y="277906"/>
                </a:lnTo>
                <a:lnTo>
                  <a:pt x="4230684" y="148129"/>
                </a:lnTo>
                <a:lnTo>
                  <a:pt x="4252052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3-E17 ellipse 40" descr="sci-ppt:o040"/>
          <p:cNvSpPr/>
          <p:nvPr/>
        </p:nvSpPr>
        <p:spPr>
          <a:xfrm>
            <a:off x="7522083" y="4496758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3-E17 text 41" descr="sci-ppt:o041"/>
          <p:cNvSpPr txBox="1"/>
          <p:nvPr/>
        </p:nvSpPr>
        <p:spPr>
          <a:xfrm>
            <a:off x="7836408" y="4290060"/>
            <a:ext cx="301752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α = 0.0625 (aⱼ/aᵢₙ = 1/4): 1.002</a:t>
            </a:r>
          </a:p>
        </p:txBody>
      </p:sp>
      <p:sp>
        <p:nvSpPr>
          <p:cNvPr id="44" name="C3-E17 text 42" descr="sci-ppt:o042"/>
          <p:cNvSpPr txBox="1"/>
          <p:nvPr/>
        </p:nvSpPr>
        <p:spPr>
          <a:xfrm>
            <a:off x="9404604" y="1706880"/>
            <a:ext cx="20116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8BA0"/>
                </a:solidFill>
                <a:latin typeface="Arial"/>
              </a:rPr>
              <a:t>diverges as α → 1</a:t>
            </a:r>
          </a:p>
        </p:txBody>
      </p:sp>
      <p:sp>
        <p:nvSpPr>
          <p:cNvPr id="45" name="C3-E17 text 43" descr="sci-ppt:o043"/>
          <p:cNvSpPr txBox="1"/>
          <p:nvPr/>
        </p:nvSpPr>
        <p:spPr>
          <a:xfrm>
            <a:off x="6675120" y="5303520"/>
            <a:ext cx="512064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Uⱼ = √{ 2[pᵢₙ − p_g − σⱼ/aⱼ − Δpₗₒₛₛ] / [ρ(1 − α²)] },  0 &lt; α &lt;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1.</a:t>
            </a:r>
          </a:p>
        </p:txBody>
      </p:sp>
      <p:sp>
        <p:nvSpPr>
          <p:cNvPr id="46" name="C3-E17 text 44" descr="sci-ppt:o044"/>
          <p:cNvSpPr txBox="1"/>
          <p:nvPr/>
        </p:nvSpPr>
        <p:spPr>
          <a:xfrm>
            <a:off x="457200" y="5806440"/>
            <a:ext cx="113385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Specify either the source pressure or the flow, then solve for the compatible rest. Valid for a steady, inviscid core only.</a:t>
            </a:r>
          </a:p>
        </p:txBody>
      </p:sp>
      <p:sp>
        <p:nvSpPr>
          <p:cNvPr id="47" name="C3-E17 text 45" descr="sci-ppt:o045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Continuity + Bernoulli benchmark of Eq. C3-E17; Δ = pᵢₙ − p_g − σⱼ/aⱼ − Δpₗₒₛₛ.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