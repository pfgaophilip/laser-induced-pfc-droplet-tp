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40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C4-E40 · Explicit integration-by-parts boundary terms</a:t>
            </a:r>
          </a:p>
        </p:txBody>
      </p:sp>
      <p:sp>
        <p:nvSpPr>
          <p:cNvPr id="3" name="C4-E40 text 1" descr="sci-ppt:o001"/>
          <p:cNvSpPr txBox="1"/>
          <p:nvPr/>
        </p:nvSpPr>
        <p:spPr>
          <a:xfrm>
            <a:off x="457200" y="914400"/>
            <a:ext cx="1124712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Integrating by parts twice moves derivatives from δw onto the moment tensor</a:t>
            </a:r>
          </a:p>
        </p:txBody>
      </p:sp>
      <p:sp>
        <p:nvSpPr>
          <p:cNvPr id="4" name="C4-E40 round_rect 2" descr="sci-ppt:o002"/>
          <p:cNvSpPr/>
          <p:nvPr/>
        </p:nvSpPr>
        <p:spPr>
          <a:xfrm>
            <a:off x="457200" y="1417320"/>
            <a:ext cx="11247120" cy="9601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4-E40 text 3" descr="sci-ppt:o003"/>
          <p:cNvSpPr txBox="1"/>
          <p:nvPr/>
        </p:nvSpPr>
        <p:spPr>
          <a:xfrm>
            <a:off x="594360" y="1490472"/>
            <a:ext cx="100584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Start</a:t>
            </a:r>
          </a:p>
        </p:txBody>
      </p:sp>
      <p:sp>
        <p:nvSpPr>
          <p:cNvPr id="6" name="C4-E40 text 4" descr="sci-ppt:o004"/>
          <p:cNvSpPr txBox="1"/>
          <p:nvPr/>
        </p:nvSpPr>
        <p:spPr>
          <a:xfrm>
            <a:off x="1645920" y="1508760"/>
            <a:ext cx="69494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δU_b = ∫ B_αβ ∂α∂β(δw) dA</a:t>
            </a:r>
          </a:p>
        </p:txBody>
      </p:sp>
      <p:sp>
        <p:nvSpPr>
          <p:cNvPr id="7" name="C4-E40 text 5" descr="sci-ppt:o005"/>
          <p:cNvSpPr txBox="1"/>
          <p:nvPr/>
        </p:nvSpPr>
        <p:spPr>
          <a:xfrm>
            <a:off x="8778240" y="1508760"/>
            <a:ext cx="28346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derivatives sit on δw</a:t>
            </a:r>
          </a:p>
        </p:txBody>
      </p:sp>
      <p:sp>
        <p:nvSpPr>
          <p:cNvPr id="8" name="C4-E40 round_rect 6" descr="sci-ppt:o006"/>
          <p:cNvSpPr/>
          <p:nvPr/>
        </p:nvSpPr>
        <p:spPr>
          <a:xfrm>
            <a:off x="457200" y="2514600"/>
            <a:ext cx="11247120" cy="9601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4-E40 text 7" descr="sci-ppt:o007"/>
          <p:cNvSpPr txBox="1"/>
          <p:nvPr/>
        </p:nvSpPr>
        <p:spPr>
          <a:xfrm>
            <a:off x="594360" y="2587752"/>
            <a:ext cx="100584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Once</a:t>
            </a:r>
          </a:p>
        </p:txBody>
      </p:sp>
      <p:sp>
        <p:nvSpPr>
          <p:cNvPr id="10" name="C4-E40 text 8" descr="sci-ppt:o008"/>
          <p:cNvSpPr txBox="1"/>
          <p:nvPr/>
        </p:nvSpPr>
        <p:spPr>
          <a:xfrm>
            <a:off x="1645920" y="2606040"/>
            <a:ext cx="69494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= ∮ n_α B_αβ ∂β(δw) dℓ − ∫ (∂α B_αβ) ∂β(δw) dA</a:t>
            </a:r>
          </a:p>
        </p:txBody>
      </p:sp>
      <p:sp>
        <p:nvSpPr>
          <p:cNvPr id="11" name="C4-E40 text 9" descr="sci-ppt:o009"/>
          <p:cNvSpPr txBox="1"/>
          <p:nvPr/>
        </p:nvSpPr>
        <p:spPr>
          <a:xfrm>
            <a:off x="8778240" y="2606040"/>
            <a:ext cx="28346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edge moment term appears</a:t>
            </a:r>
          </a:p>
        </p:txBody>
      </p:sp>
      <p:sp>
        <p:nvSpPr>
          <p:cNvPr id="12" name="C4-E40 round_rect 10" descr="sci-ppt:o010"/>
          <p:cNvSpPr/>
          <p:nvPr/>
        </p:nvSpPr>
        <p:spPr>
          <a:xfrm>
            <a:off x="457200" y="3611880"/>
            <a:ext cx="11247120" cy="9601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4-E40 text 11" descr="sci-ppt:o011"/>
          <p:cNvSpPr txBox="1"/>
          <p:nvPr/>
        </p:nvSpPr>
        <p:spPr>
          <a:xfrm>
            <a:off x="594360" y="3685032"/>
            <a:ext cx="100584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8BA0"/>
                </a:solidFill>
                <a:latin typeface="Arial"/>
              </a:rPr>
              <a:t>Twice</a:t>
            </a:r>
          </a:p>
        </p:txBody>
      </p:sp>
      <p:sp>
        <p:nvSpPr>
          <p:cNvPr id="14" name="C4-E40 text 12" descr="sci-ppt:o012"/>
          <p:cNvSpPr txBox="1"/>
          <p:nvPr/>
        </p:nvSpPr>
        <p:spPr>
          <a:xfrm>
            <a:off x="1645920" y="3703320"/>
            <a:ext cx="69494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= ∮ n_α B_αβ ∂β δw dℓ − ∮ nᵦ ∂αB_αβ δw dℓ + ∫ (∂α∂β B_αβ) δw dA</a:t>
            </a:r>
          </a:p>
        </p:txBody>
      </p:sp>
      <p:sp>
        <p:nvSpPr>
          <p:cNvPr id="15" name="C4-E40 text 13" descr="sci-ppt:o013"/>
          <p:cNvSpPr txBox="1"/>
          <p:nvPr/>
        </p:nvSpPr>
        <p:spPr>
          <a:xfrm>
            <a:off x="8778240" y="3703320"/>
            <a:ext cx="28346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edge shear term appears</a:t>
            </a:r>
          </a:p>
        </p:txBody>
      </p:sp>
      <p:sp>
        <p:nvSpPr>
          <p:cNvPr id="16" name="C4-E40 round_rect 14" descr="sci-ppt:o014"/>
          <p:cNvSpPr/>
          <p:nvPr/>
        </p:nvSpPr>
        <p:spPr>
          <a:xfrm>
            <a:off x="457200" y="4754880"/>
            <a:ext cx="5486400" cy="10515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4-E40 text 15" descr="sci-ppt:o015"/>
          <p:cNvSpPr txBox="1"/>
          <p:nvPr/>
        </p:nvSpPr>
        <p:spPr>
          <a:xfrm>
            <a:off x="566928" y="4809744"/>
            <a:ext cx="526694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B_αβ</a:t>
            </a:r>
          </a:p>
        </p:txBody>
      </p:sp>
      <p:sp>
        <p:nvSpPr>
          <p:cNvPr id="18" name="C4-E40 text 16" descr="sci-ppt:o016"/>
          <p:cNvSpPr txBox="1"/>
          <p:nvPr/>
        </p:nvSpPr>
        <p:spPr>
          <a:xfrm>
            <a:off x="594360" y="5120640"/>
            <a:ext cx="52120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B_αβ = D_f[(1−ν_f) w_αβ + ν_f δ_αβ ∇²w]</a:t>
            </a:r>
          </a:p>
        </p:txBody>
      </p:sp>
      <p:sp>
        <p:nvSpPr>
          <p:cNvPr id="19" name="C4-E40 round_rect 17" descr="sci-ppt:o017"/>
          <p:cNvSpPr/>
          <p:nvPr/>
        </p:nvSpPr>
        <p:spPr>
          <a:xfrm>
            <a:off x="6217920" y="4754880"/>
            <a:ext cx="5486400" cy="10515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4-E40 text 18" descr="sci-ppt:o018"/>
          <p:cNvSpPr txBox="1"/>
          <p:nvPr/>
        </p:nvSpPr>
        <p:spPr>
          <a:xfrm>
            <a:off x="6327648" y="4809744"/>
            <a:ext cx="526694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Fixed clamp</a:t>
            </a:r>
          </a:p>
        </p:txBody>
      </p:sp>
      <p:sp>
        <p:nvSpPr>
          <p:cNvPr id="21" name="C4-E40 text 19" descr="sci-ppt:o019"/>
          <p:cNvSpPr txBox="1"/>
          <p:nvPr/>
        </p:nvSpPr>
        <p:spPr>
          <a:xfrm>
            <a:off x="6355080" y="5120640"/>
            <a:ext cx="52120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w = 0 and ∂ₙw = 0 on the edge ⇒ both boundary terms vanish</a:t>
            </a:r>
          </a:p>
        </p:txBody>
      </p:sp>
      <p:sp>
        <p:nvSpPr>
          <p:cNvPr id="22" name="C4-E40 text 20" descr="sci-ppt:o020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Boundary terms of Eq. C4-E40 (the term order follows the equation).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