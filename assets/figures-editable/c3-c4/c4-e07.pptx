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7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C4-E07 · Conditional coupled-sheet model</a:t>
            </a:r>
          </a:p>
        </p:txBody>
      </p:sp>
      <p:sp>
        <p:nvSpPr>
          <p:cNvPr id="3" name="C4-E07 rect 1" descr="sci-ppt:o001"/>
          <p:cNvSpPr/>
          <p:nvPr/>
        </p:nvSpPr>
        <p:spPr>
          <a:xfrm>
            <a:off x="1097280" y="1325880"/>
            <a:ext cx="8138160" cy="2286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7 rect 2" descr="sci-ppt:o002"/>
          <p:cNvSpPr/>
          <p:nvPr/>
        </p:nvSpPr>
        <p:spPr>
          <a:xfrm>
            <a:off x="1097280" y="2240280"/>
            <a:ext cx="8138160" cy="3200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07 text 3" descr="sci-ppt:o003"/>
          <p:cNvSpPr txBox="1"/>
          <p:nvPr/>
        </p:nvSpPr>
        <p:spPr>
          <a:xfrm>
            <a:off x="1188720" y="914400"/>
            <a:ext cx="82296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Payload film: w, m_A, D_f, T₀</a:t>
            </a:r>
          </a:p>
        </p:txBody>
      </p:sp>
      <p:sp>
        <p:nvSpPr>
          <p:cNvPr id="6" name="C4-E07 text 4" descr="sci-ppt:o004"/>
          <p:cNvSpPr txBox="1"/>
          <p:nvPr/>
        </p:nvSpPr>
        <p:spPr>
          <a:xfrm>
            <a:off x="1188720" y="3657600"/>
            <a:ext cx="8229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Intact PVC: w_P, m_A,P, D_P, T_P</a:t>
            </a:r>
          </a:p>
        </p:txBody>
      </p:sp>
      <p:cxnSp>
        <p:nvCxnSpPr>
          <p:cNvPr id="7" name="C4-E07 arrow 5" descr="sci-ppt:o005"/>
          <p:cNvCxnSpPr/>
          <p:nvPr/>
        </p:nvCxnSpPr>
        <p:spPr>
          <a:xfrm flipV="1">
            <a:off x="2743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C4-E07 arrow 6" descr="sci-ppt:o006"/>
          <p:cNvCxnSpPr/>
          <p:nvPr/>
        </p:nvCxnSpPr>
        <p:spPr>
          <a:xfrm flipV="1">
            <a:off x="2743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4-E07 arrow 7" descr="sci-ppt:o007"/>
          <p:cNvCxnSpPr/>
          <p:nvPr/>
        </p:nvCxnSpPr>
        <p:spPr>
          <a:xfrm flipV="1">
            <a:off x="5029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0" name="C4-E07 arrow 8" descr="sci-ppt:o008"/>
          <p:cNvCxnSpPr/>
          <p:nvPr/>
        </p:nvCxnSpPr>
        <p:spPr>
          <a:xfrm flipV="1">
            <a:off x="5029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1" name="C4-E07 arrow 9" descr="sci-ppt:o009"/>
          <p:cNvCxnSpPr/>
          <p:nvPr/>
        </p:nvCxnSpPr>
        <p:spPr>
          <a:xfrm flipV="1">
            <a:off x="7315200" y="2606040"/>
            <a:ext cx="0" cy="960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12" name="C4-E07 arrow 10" descr="sci-ppt:o010"/>
          <p:cNvCxnSpPr/>
          <p:nvPr/>
        </p:nvCxnSpPr>
        <p:spPr>
          <a:xfrm flipV="1">
            <a:off x="7315200" y="16002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C4-E07 text 11" descr="sci-ppt:o011"/>
          <p:cNvSpPr txBox="1"/>
          <p:nvPr/>
        </p:nvSpPr>
        <p:spPr>
          <a:xfrm>
            <a:off x="9509760" y="1874519"/>
            <a:ext cx="228600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t_P→f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transmitted load</a:t>
            </a:r>
          </a:p>
        </p:txBody>
      </p:sp>
      <p:sp>
        <p:nvSpPr>
          <p:cNvPr id="14" name="C4-E07 text 12" descr="sci-ppt:o012"/>
          <p:cNvSpPr txBox="1"/>
          <p:nvPr/>
        </p:nvSpPr>
        <p:spPr>
          <a:xfrm>
            <a:off x="9509760" y="310896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Liquid load ↑</a:t>
            </a:r>
          </a:p>
        </p:txBody>
      </p:sp>
      <p:sp>
        <p:nvSpPr>
          <p:cNvPr id="15" name="C4-E07 text 13" descr="sci-ppt:o013"/>
          <p:cNvSpPr txBox="1"/>
          <p:nvPr/>
        </p:nvSpPr>
        <p:spPr>
          <a:xfrm>
            <a:off x="274320" y="169164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EDBD4"/>
                </a:solidFill>
                <a:latin typeface="Arial"/>
              </a:rPr>
              <a:t>Contact or bond</a:t>
            </a:r>
          </a:p>
        </p:txBody>
      </p:sp>
      <p:cxnSp>
        <p:nvCxnSpPr>
          <p:cNvPr id="16" name="C4-E07 line 14" descr="sci-ppt:o014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7" name="C4-E07 text 15" descr="sci-ppt:o015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p_liq → PVC</a:t>
            </a:r>
          </a:p>
        </p:txBody>
      </p:sp>
      <p:sp>
        <p:nvSpPr>
          <p:cNvPr id="18" name="C4-E07 text 16" descr="sci-ppt:o016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w_P, m_A,P, D_P, T_P — PVC response</a:t>
            </a:r>
          </a:p>
        </p:txBody>
      </p:sp>
      <p:sp>
        <p:nvSpPr>
          <p:cNvPr id="19" name="C4-E07 text 17" descr="sci-ppt:o017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t_P→f → contact or bond</a:t>
            </a:r>
          </a:p>
        </p:txBody>
      </p:sp>
      <p:sp>
        <p:nvSpPr>
          <p:cNvPr id="20" name="C4-E07 text 18" descr="sci-ppt:o018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m_A, D_f, T₀ — film response</a:t>
            </a:r>
          </a:p>
        </p:txBody>
      </p:sp>
      <p:sp>
        <p:nvSpPr>
          <p:cNvPr id="21" name="C4-E07 text 19" descr="sci-ppt:o019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t_coh → release interface</a:t>
            </a:r>
          </a:p>
        </p:txBody>
      </p:sp>
      <p:sp>
        <p:nvSpPr>
          <p:cNvPr id="22" name="C4-E07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No liquid passes through intact PVC.</a:t>
            </a:r>
          </a:p>
        </p:txBody>
      </p:sp>
      <p:sp>
        <p:nvSpPr>
          <p:cNvPr id="23" name="C4-E07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Transmitted traction is an unknown, not a copied pressure.</a:t>
            </a:r>
          </a:p>
        </p:txBody>
      </p:sp>
      <p:sp>
        <p:nvSpPr>
          <p:cNvPr id="24" name="C4-E07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