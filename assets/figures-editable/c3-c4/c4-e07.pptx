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C4-E07 · Conditional coupled-sheet model</a:t>
            </a:r>
          </a:p>
        </p:txBody>
      </p:sp>
      <p:sp>
        <p:nvSpPr>
          <p:cNvPr id="3" name="C4-E07 round_rect 1" descr="sci-ppt:o001"/>
          <p:cNvSpPr/>
          <p:nvPr/>
        </p:nvSpPr>
        <p:spPr>
          <a:xfrm>
            <a:off x="457200" y="914400"/>
            <a:ext cx="6583680" cy="4846320"/>
          </a:xfrm>
          <a:prstGeom prst="roundRect">
            <a:avLst/>
          </a:prstGeom>
          <a:solidFill>
            <a:srgbClr val="1E4A5A"/>
          </a:solidFill>
          <a:ln w="1524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7 text 2" descr="sci-ppt:o002"/>
          <p:cNvSpPr txBox="1"/>
          <p:nvPr/>
        </p:nvSpPr>
        <p:spPr>
          <a:xfrm>
            <a:off x="594360" y="960120"/>
            <a:ext cx="63093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sheets in series</a:t>
            </a:r>
          </a:p>
        </p:txBody>
      </p:sp>
      <p:cxnSp>
        <p:nvCxnSpPr>
          <p:cNvPr id="5" name="C4-E07 arrow 3" descr="sci-ppt:o003"/>
          <p:cNvCxnSpPr/>
          <p:nvPr/>
        </p:nvCxnSpPr>
        <p:spPr>
          <a:xfrm>
            <a:off x="1828800" y="1737360"/>
            <a:ext cx="0" cy="777240"/>
          </a:xfrm>
          <a:prstGeom prst="line">
            <a:avLst/>
          </a:prstGeom>
          <a:ln w="508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07 text 4" descr="sci-ppt:o004"/>
          <p:cNvSpPr txBox="1"/>
          <p:nvPr/>
        </p:nvSpPr>
        <p:spPr>
          <a:xfrm>
            <a:off x="1920240" y="169164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p_liq from the liquid</a:t>
            </a:r>
          </a:p>
        </p:txBody>
      </p:sp>
      <p:sp>
        <p:nvSpPr>
          <p:cNvPr id="7" name="C4-E07 rect 5" descr="sci-ppt:o005"/>
          <p:cNvSpPr/>
          <p:nvPr/>
        </p:nvSpPr>
        <p:spPr>
          <a:xfrm>
            <a:off x="1097280" y="2560320"/>
            <a:ext cx="512064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4-E07 text 6" descr="sci-ppt:o006"/>
          <p:cNvSpPr txBox="1"/>
          <p:nvPr/>
        </p:nvSpPr>
        <p:spPr>
          <a:xfrm>
            <a:off x="3566160" y="224028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PVC sheet (P)</a:t>
            </a:r>
          </a:p>
        </p:txBody>
      </p:sp>
      <p:sp>
        <p:nvSpPr>
          <p:cNvPr id="9" name="C4-E07 polygon 7" descr="sci-ppt:o007"/>
          <p:cNvSpPr/>
          <p:nvPr/>
        </p:nvSpPr>
        <p:spPr>
          <a:xfrm>
            <a:off x="2651760" y="2834640"/>
            <a:ext cx="182880" cy="822960"/>
          </a:xfrm>
          <a:custGeom>
            <a:avLst/>
            <a:gdLst/>
            <a:ahLst/>
            <a:cxnLst/>
            <a:rect l="l" t="t" r="r" b="b"/>
            <a:pathLst>
              <a:path w="182880" h="822960">
                <a:moveTo>
                  <a:pt x="91440" y="0"/>
                </a:moveTo>
                <a:lnTo>
                  <a:pt x="91440" y="98755"/>
                </a:lnTo>
                <a:lnTo>
                  <a:pt x="0" y="124815"/>
                </a:lnTo>
                <a:lnTo>
                  <a:pt x="182880" y="176936"/>
                </a:lnTo>
                <a:lnTo>
                  <a:pt x="0" y="229057"/>
                </a:lnTo>
                <a:lnTo>
                  <a:pt x="182880" y="281178"/>
                </a:lnTo>
                <a:lnTo>
                  <a:pt x="0" y="333298"/>
                </a:lnTo>
                <a:lnTo>
                  <a:pt x="182880" y="385419"/>
                </a:lnTo>
                <a:lnTo>
                  <a:pt x="0" y="437540"/>
                </a:lnTo>
                <a:lnTo>
                  <a:pt x="182880" y="489661"/>
                </a:lnTo>
                <a:lnTo>
                  <a:pt x="0" y="541782"/>
                </a:lnTo>
                <a:lnTo>
                  <a:pt x="182880" y="593902"/>
                </a:lnTo>
                <a:lnTo>
                  <a:pt x="0" y="646023"/>
                </a:lnTo>
                <a:lnTo>
                  <a:pt x="182880" y="698144"/>
                </a:lnTo>
                <a:lnTo>
                  <a:pt x="91440" y="724204"/>
                </a:lnTo>
                <a:lnTo>
                  <a:pt x="91440" y="822960"/>
                </a:lnTo>
              </a:path>
            </a:pathLst>
          </a:custGeom>
          <a:noFill/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07 polygon 8" descr="sci-ppt:o008"/>
          <p:cNvSpPr/>
          <p:nvPr/>
        </p:nvSpPr>
        <p:spPr>
          <a:xfrm>
            <a:off x="4480560" y="2834640"/>
            <a:ext cx="182880" cy="822960"/>
          </a:xfrm>
          <a:custGeom>
            <a:avLst/>
            <a:gdLst/>
            <a:ahLst/>
            <a:cxnLst/>
            <a:rect l="l" t="t" r="r" b="b"/>
            <a:pathLst>
              <a:path w="182880" h="822960">
                <a:moveTo>
                  <a:pt x="91440" y="0"/>
                </a:moveTo>
                <a:lnTo>
                  <a:pt x="91440" y="98755"/>
                </a:lnTo>
                <a:lnTo>
                  <a:pt x="0" y="124815"/>
                </a:lnTo>
                <a:lnTo>
                  <a:pt x="182880" y="176936"/>
                </a:lnTo>
                <a:lnTo>
                  <a:pt x="0" y="229057"/>
                </a:lnTo>
                <a:lnTo>
                  <a:pt x="182880" y="281178"/>
                </a:lnTo>
                <a:lnTo>
                  <a:pt x="0" y="333298"/>
                </a:lnTo>
                <a:lnTo>
                  <a:pt x="182880" y="385419"/>
                </a:lnTo>
                <a:lnTo>
                  <a:pt x="0" y="437540"/>
                </a:lnTo>
                <a:lnTo>
                  <a:pt x="182880" y="489661"/>
                </a:lnTo>
                <a:lnTo>
                  <a:pt x="0" y="541782"/>
                </a:lnTo>
                <a:lnTo>
                  <a:pt x="182880" y="593902"/>
                </a:lnTo>
                <a:lnTo>
                  <a:pt x="0" y="646023"/>
                </a:lnTo>
                <a:lnTo>
                  <a:pt x="182880" y="698144"/>
                </a:lnTo>
                <a:lnTo>
                  <a:pt x="91440" y="724204"/>
                </a:lnTo>
                <a:lnTo>
                  <a:pt x="91440" y="822960"/>
                </a:lnTo>
              </a:path>
            </a:pathLst>
          </a:custGeom>
          <a:noFill/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07 text 9" descr="sci-ppt:o009"/>
          <p:cNvSpPr txBox="1"/>
          <p:nvPr/>
        </p:nvSpPr>
        <p:spPr>
          <a:xfrm>
            <a:off x="2926080" y="3108960"/>
            <a:ext cx="182880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EDBD4"/>
                </a:solidFill>
                <a:latin typeface="Arial"/>
              </a:rPr>
              <a:t>contact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EDBD4"/>
                </a:solidFill>
                <a:latin typeface="Arial"/>
              </a:rPr>
              <a:t>load t_P→f</a:t>
            </a:r>
          </a:p>
        </p:txBody>
      </p:sp>
      <p:sp>
        <p:nvSpPr>
          <p:cNvPr id="12" name="C4-E07 rect 10" descr="sci-ppt:o010"/>
          <p:cNvSpPr/>
          <p:nvPr/>
        </p:nvSpPr>
        <p:spPr>
          <a:xfrm>
            <a:off x="1097280" y="3657600"/>
            <a:ext cx="5120640" cy="274320"/>
          </a:xfrm>
          <a:prstGeom prst="rect">
            <a:avLst/>
          </a:prstGeom>
          <a:solidFill>
            <a:srgbClr val="3A5362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4-E07 text 11" descr="sci-ppt:o011"/>
          <p:cNvSpPr txBox="1"/>
          <p:nvPr/>
        </p:nvSpPr>
        <p:spPr>
          <a:xfrm>
            <a:off x="1097280" y="402336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film (f)</a:t>
            </a:r>
          </a:p>
        </p:txBody>
      </p:sp>
      <p:cxnSp>
        <p:nvCxnSpPr>
          <p:cNvPr id="14" name="C4-E07 arrow 12" descr="sci-ppt:o012"/>
          <p:cNvCxnSpPr/>
          <p:nvPr/>
        </p:nvCxnSpPr>
        <p:spPr>
          <a:xfrm flipV="1">
            <a:off x="3657600" y="4023360"/>
            <a:ext cx="0" cy="73152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4-E07 text 13" descr="sci-ppt:o013"/>
          <p:cNvSpPr txBox="1"/>
          <p:nvPr/>
        </p:nvSpPr>
        <p:spPr>
          <a:xfrm>
            <a:off x="3749039" y="443484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t_coh (resists)</a:t>
            </a:r>
          </a:p>
        </p:txBody>
      </p:sp>
      <p:sp>
        <p:nvSpPr>
          <p:cNvPr id="16" name="C4-E07 text 14" descr="sci-ppt:o014"/>
          <p:cNvSpPr txBox="1"/>
          <p:nvPr/>
        </p:nvSpPr>
        <p:spPr>
          <a:xfrm>
            <a:off x="914400" y="5120640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The film sees t_P→f, not p_liq: the intermediate sheet filters the load.</a:t>
            </a:r>
          </a:p>
        </p:txBody>
      </p:sp>
      <p:sp>
        <p:nvSpPr>
          <p:cNvPr id="17" name="C4-E07 round_rect 15" descr="sci-ppt:o015"/>
          <p:cNvSpPr/>
          <p:nvPr/>
        </p:nvSpPr>
        <p:spPr>
          <a:xfrm>
            <a:off x="7223760" y="914400"/>
            <a:ext cx="461772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07 text 16" descr="sci-ppt:o016"/>
          <p:cNvSpPr txBox="1"/>
          <p:nvPr/>
        </p:nvSpPr>
        <p:spPr>
          <a:xfrm>
            <a:off x="7333488" y="9692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coupled plate equations</a:t>
            </a:r>
          </a:p>
        </p:txBody>
      </p:sp>
      <p:sp>
        <p:nvSpPr>
          <p:cNvPr id="19" name="C4-E07 text 17" descr="sci-ppt:o017"/>
          <p:cNvSpPr txBox="1"/>
          <p:nvPr/>
        </p:nvSpPr>
        <p:spPr>
          <a:xfrm>
            <a:off x="7360920" y="14173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m_A,P ẅ_P + D_P∇⁴w_P − T_P∇²w_P = p_liq − t_P→f</a:t>
            </a:r>
          </a:p>
        </p:txBody>
      </p:sp>
      <p:sp>
        <p:nvSpPr>
          <p:cNvPr id="20" name="C4-E07 text 18" descr="sci-ppt:o018"/>
          <p:cNvSpPr txBox="1"/>
          <p:nvPr/>
        </p:nvSpPr>
        <p:spPr>
          <a:xfrm>
            <a:off x="7360920" y="23317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m_A ẅ + D_f∇⁴w − T₀∇²w = t_P→f − t_coh</a:t>
            </a:r>
          </a:p>
        </p:txBody>
      </p:sp>
      <p:sp>
        <p:nvSpPr>
          <p:cNvPr id="21" name="C4-E07 text 19" descr="sci-ppt:o019"/>
          <p:cNvSpPr txBox="1"/>
          <p:nvPr/>
        </p:nvSpPr>
        <p:spPr>
          <a:xfrm>
            <a:off x="7360920" y="3200400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same t_P→f is a loss for P and a load for f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(Newton third law).</a:t>
            </a:r>
          </a:p>
        </p:txBody>
      </p:sp>
      <p:sp>
        <p:nvSpPr>
          <p:cNvPr id="22" name="C4-E07 text 20" descr="sci-ppt:o020"/>
          <p:cNvSpPr txBox="1"/>
          <p:nvPr/>
        </p:nvSpPr>
        <p:spPr>
          <a:xfrm>
            <a:off x="7360920" y="4023360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Conditional: valid only while the sheets stay in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contact; t_P→f itself needs a contact law.</a:t>
            </a:r>
          </a:p>
        </p:txBody>
      </p:sp>
      <p:sp>
        <p:nvSpPr>
          <p:cNvPr id="23" name="C4-E07 text 21" descr="sci-ppt:o02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Coupled-sheet model of Eq. C4-E07; schematic.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