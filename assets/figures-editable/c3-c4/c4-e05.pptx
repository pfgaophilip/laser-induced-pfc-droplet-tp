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05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C4-E05 · Derived variational identity for fixed clamps</a:t>
            </a:r>
          </a:p>
        </p:txBody>
      </p:sp>
      <p:sp>
        <p:nvSpPr>
          <p:cNvPr id="3" name="C4-E05 text 1" descr="sci-ppt:o001"/>
          <p:cNvSpPr txBox="1"/>
          <p:nvPr/>
        </p:nvSpPr>
        <p:spPr>
          <a:xfrm>
            <a:off x="457200" y="914400"/>
            <a:ext cx="1124712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With a fixed clamp, the boundary terms drop and one operator is left</a:t>
            </a:r>
          </a:p>
        </p:txBody>
      </p:sp>
      <p:sp>
        <p:nvSpPr>
          <p:cNvPr id="4" name="C4-E05 round_rect 2" descr="sci-ppt:o002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4-E05 text 3" descr="sci-ppt:o003"/>
          <p:cNvSpPr txBox="1"/>
          <p:nvPr/>
        </p:nvSpPr>
        <p:spPr>
          <a:xfrm>
            <a:off x="566928" y="1426464"/>
            <a:ext cx="52669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2B880"/>
                </a:solidFill>
                <a:latin typeface="Arial"/>
              </a:rPr>
              <a:t>Bending variation</a:t>
            </a:r>
          </a:p>
        </p:txBody>
      </p:sp>
      <p:sp>
        <p:nvSpPr>
          <p:cNvPr id="6" name="C4-E05 text 4" descr="sci-ppt:o004"/>
          <p:cNvSpPr txBox="1"/>
          <p:nvPr/>
        </p:nvSpPr>
        <p:spPr>
          <a:xfrm>
            <a:off x="594360" y="1828800"/>
            <a:ext cx="52120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coefficient of w_xxyy:  2ν_f + 2(1 − ν_f) = 2</a:t>
            </a:r>
          </a:p>
        </p:txBody>
      </p:sp>
      <p:sp>
        <p:nvSpPr>
          <p:cNvPr id="7" name="C4-E05 text 5" descr="sci-ppt:o005"/>
          <p:cNvSpPr txBox="1"/>
          <p:nvPr/>
        </p:nvSpPr>
        <p:spPr>
          <a:xfrm>
            <a:off x="594360" y="2377440"/>
            <a:ext cx="52120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δU_b = D_f ∫ (wₓₓₓₓ + 2w_xxyy + w_yyyy) δw dA = D_f ∫ ∇⁴w δw dA</a:t>
            </a:r>
          </a:p>
        </p:txBody>
      </p:sp>
      <p:sp>
        <p:nvSpPr>
          <p:cNvPr id="8" name="C4-E05 text 6" descr="sci-ppt:o006"/>
          <p:cNvSpPr txBox="1"/>
          <p:nvPr/>
        </p:nvSpPr>
        <p:spPr>
          <a:xfrm>
            <a:off x="594360" y="3063240"/>
            <a:ext cx="52120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Poisson ratio cancels from the interior operator.</a:t>
            </a:r>
          </a:p>
        </p:txBody>
      </p:sp>
      <p:sp>
        <p:nvSpPr>
          <p:cNvPr id="9" name="C4-E05 round_rect 7" descr="sci-ppt:o007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4-E05 text 8" descr="sci-ppt:o008"/>
          <p:cNvSpPr txBox="1"/>
          <p:nvPr/>
        </p:nvSpPr>
        <p:spPr>
          <a:xfrm>
            <a:off x="6327648" y="1426464"/>
            <a:ext cx="52669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28BA0"/>
                </a:solidFill>
                <a:latin typeface="Arial"/>
              </a:rPr>
              <a:t>Tension variation</a:t>
            </a:r>
          </a:p>
        </p:txBody>
      </p:sp>
      <p:sp>
        <p:nvSpPr>
          <p:cNvPr id="11" name="C4-E05 text 9" descr="sci-ppt:o009"/>
          <p:cNvSpPr txBox="1"/>
          <p:nvPr/>
        </p:nvSpPr>
        <p:spPr>
          <a:xfrm>
            <a:off x="6355080" y="1828800"/>
            <a:ext cx="52120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δU_T = T₀ ∫ ∇w·∇δw dA</a:t>
            </a:r>
          </a:p>
        </p:txBody>
      </p:sp>
      <p:sp>
        <p:nvSpPr>
          <p:cNvPr id="12" name="C4-E05 text 10" descr="sci-ppt:o010"/>
          <p:cNvSpPr txBox="1"/>
          <p:nvPr/>
        </p:nvSpPr>
        <p:spPr>
          <a:xfrm>
            <a:off x="6355080" y="2331720"/>
            <a:ext cx="52120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8BA0"/>
                </a:solidFill>
                <a:latin typeface="Arial"/>
              </a:rPr>
              <a:t>= −T₀ ∫ ∇²w δw dA   (δw = 0 on the clamp)</a:t>
            </a:r>
          </a:p>
        </p:txBody>
      </p:sp>
      <p:cxnSp>
        <p:nvCxnSpPr>
          <p:cNvPr id="13" name="C4-E05 line 11" descr="sci-ppt:o011"/>
          <p:cNvCxnSpPr/>
          <p:nvPr/>
        </p:nvCxnSpPr>
        <p:spPr>
          <a:xfrm>
            <a:off x="914400" y="5577840"/>
            <a:ext cx="475488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14" name="C4-E05 line 12" descr="sci-ppt:o012"/>
          <p:cNvCxnSpPr/>
          <p:nvPr/>
        </p:nvCxnSpPr>
        <p:spPr>
          <a:xfrm>
            <a:off x="914400" y="4023360"/>
            <a:ext cx="0" cy="155448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15" name="C4-E05 line 13" descr="sci-ppt:o013"/>
          <p:cNvCxnSpPr/>
          <p:nvPr/>
        </p:nvCxnSpPr>
        <p:spPr>
          <a:xfrm>
            <a:off x="914400" y="55778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6" name="C4-E05 line 14" descr="sci-ppt:o014"/>
          <p:cNvCxnSpPr/>
          <p:nvPr/>
        </p:nvCxnSpPr>
        <p:spPr>
          <a:xfrm>
            <a:off x="914400" y="4023360"/>
            <a:ext cx="0" cy="155448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7" name="C4-E05 text 15" descr="sci-ppt:o015"/>
          <p:cNvSpPr txBox="1"/>
          <p:nvPr/>
        </p:nvSpPr>
        <p:spPr>
          <a:xfrm>
            <a:off x="457200" y="566013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18" name="C4-E05 line 16" descr="sci-ppt:o016"/>
          <p:cNvCxnSpPr/>
          <p:nvPr/>
        </p:nvCxnSpPr>
        <p:spPr>
          <a:xfrm>
            <a:off x="3291840" y="55778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4-E05 line 17" descr="sci-ppt:o017"/>
          <p:cNvCxnSpPr/>
          <p:nvPr/>
        </p:nvCxnSpPr>
        <p:spPr>
          <a:xfrm>
            <a:off x="3291840" y="4023360"/>
            <a:ext cx="0" cy="155448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4-E05 text 18" descr="sci-ppt:o018"/>
          <p:cNvSpPr txBox="1"/>
          <p:nvPr/>
        </p:nvSpPr>
        <p:spPr>
          <a:xfrm>
            <a:off x="2834640" y="566013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21" name="C4-E05 line 19" descr="sci-ppt:o019"/>
          <p:cNvCxnSpPr/>
          <p:nvPr/>
        </p:nvCxnSpPr>
        <p:spPr>
          <a:xfrm>
            <a:off x="5669280" y="55778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4-E05 line 20" descr="sci-ppt:o020"/>
          <p:cNvCxnSpPr/>
          <p:nvPr/>
        </p:nvCxnSpPr>
        <p:spPr>
          <a:xfrm>
            <a:off x="5669280" y="4023360"/>
            <a:ext cx="0" cy="155448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4-E05 text 21" descr="sci-ppt:o021"/>
          <p:cNvSpPr txBox="1"/>
          <p:nvPr/>
        </p:nvSpPr>
        <p:spPr>
          <a:xfrm>
            <a:off x="5212080" y="566013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24" name="C4-E05 line 22" descr="sci-ppt:o022"/>
          <p:cNvCxnSpPr/>
          <p:nvPr/>
        </p:nvCxnSpPr>
        <p:spPr>
          <a:xfrm>
            <a:off x="850392" y="4800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4-E05 line 23" descr="sci-ppt:o023"/>
          <p:cNvCxnSpPr/>
          <p:nvPr/>
        </p:nvCxnSpPr>
        <p:spPr>
          <a:xfrm>
            <a:off x="914400" y="4800600"/>
            <a:ext cx="47548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4-E05 text 24" descr="sci-ppt:o024"/>
          <p:cNvSpPr txBox="1"/>
          <p:nvPr/>
        </p:nvSpPr>
        <p:spPr>
          <a:xfrm>
            <a:off x="45720" y="4718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sp>
        <p:nvSpPr>
          <p:cNvPr id="27" name="C4-E05 text 25" descr="sci-ppt:o025"/>
          <p:cNvSpPr txBox="1"/>
          <p:nvPr/>
        </p:nvSpPr>
        <p:spPr>
          <a:xfrm>
            <a:off x="914400" y="5861304"/>
            <a:ext cx="47548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ν_f</a:t>
            </a:r>
          </a:p>
        </p:txBody>
      </p:sp>
      <p:sp>
        <p:nvSpPr>
          <p:cNvPr id="28" name="C4-E05 text 26" descr="sci-ppt:o026"/>
          <p:cNvSpPr txBox="1"/>
          <p:nvPr/>
        </p:nvSpPr>
        <p:spPr>
          <a:xfrm>
            <a:off x="365760" y="3675888"/>
            <a:ext cx="47548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coefficient</a:t>
            </a:r>
          </a:p>
        </p:txBody>
      </p:sp>
      <p:sp>
        <p:nvSpPr>
          <p:cNvPr id="29" name="C4-E05 polygon 27" descr="sci-ppt:o027"/>
          <p:cNvSpPr/>
          <p:nvPr/>
        </p:nvSpPr>
        <p:spPr>
          <a:xfrm>
            <a:off x="914400" y="4800600"/>
            <a:ext cx="4754880" cy="0"/>
          </a:xfrm>
          <a:custGeom>
            <a:avLst/>
            <a:gdLst/>
            <a:ahLst/>
            <a:cxnLst/>
            <a:rect l="l" t="t" r="r" b="b"/>
            <a:pathLst>
              <a:path w="4754880" h="0">
                <a:moveTo>
                  <a:pt x="0" y="0"/>
                </a:moveTo>
                <a:lnTo>
                  <a:pt x="97038" y="0"/>
                </a:lnTo>
                <a:lnTo>
                  <a:pt x="194076" y="0"/>
                </a:lnTo>
                <a:lnTo>
                  <a:pt x="291115" y="0"/>
                </a:lnTo>
                <a:lnTo>
                  <a:pt x="388153" y="0"/>
                </a:lnTo>
                <a:lnTo>
                  <a:pt x="485191" y="0"/>
                </a:lnTo>
                <a:lnTo>
                  <a:pt x="582230" y="0"/>
                </a:lnTo>
                <a:lnTo>
                  <a:pt x="679268" y="0"/>
                </a:lnTo>
                <a:lnTo>
                  <a:pt x="776306" y="0"/>
                </a:lnTo>
                <a:lnTo>
                  <a:pt x="873345" y="0"/>
                </a:lnTo>
                <a:lnTo>
                  <a:pt x="970383" y="0"/>
                </a:lnTo>
                <a:lnTo>
                  <a:pt x="1067422" y="0"/>
                </a:lnTo>
                <a:lnTo>
                  <a:pt x="1164460" y="0"/>
                </a:lnTo>
                <a:lnTo>
                  <a:pt x="1261498" y="0"/>
                </a:lnTo>
                <a:lnTo>
                  <a:pt x="1358537" y="0"/>
                </a:lnTo>
                <a:lnTo>
                  <a:pt x="1455575" y="0"/>
                </a:lnTo>
                <a:lnTo>
                  <a:pt x="1552613" y="0"/>
                </a:lnTo>
                <a:lnTo>
                  <a:pt x="1649652" y="0"/>
                </a:lnTo>
                <a:lnTo>
                  <a:pt x="1746690" y="0"/>
                </a:lnTo>
                <a:lnTo>
                  <a:pt x="1843728" y="0"/>
                </a:lnTo>
                <a:lnTo>
                  <a:pt x="1940767" y="0"/>
                </a:lnTo>
                <a:lnTo>
                  <a:pt x="2037805" y="0"/>
                </a:lnTo>
                <a:lnTo>
                  <a:pt x="2134844" y="0"/>
                </a:lnTo>
                <a:lnTo>
                  <a:pt x="2231882" y="0"/>
                </a:lnTo>
                <a:lnTo>
                  <a:pt x="2328920" y="0"/>
                </a:lnTo>
                <a:lnTo>
                  <a:pt x="2425959" y="0"/>
                </a:lnTo>
                <a:lnTo>
                  <a:pt x="2522997" y="0"/>
                </a:lnTo>
                <a:lnTo>
                  <a:pt x="2620035" y="0"/>
                </a:lnTo>
                <a:lnTo>
                  <a:pt x="2717074" y="0"/>
                </a:lnTo>
                <a:lnTo>
                  <a:pt x="2814112" y="0"/>
                </a:lnTo>
                <a:lnTo>
                  <a:pt x="2911151" y="0"/>
                </a:lnTo>
                <a:lnTo>
                  <a:pt x="3008189" y="0"/>
                </a:lnTo>
                <a:lnTo>
                  <a:pt x="3105227" y="0"/>
                </a:lnTo>
                <a:lnTo>
                  <a:pt x="3202266" y="0"/>
                </a:lnTo>
                <a:lnTo>
                  <a:pt x="3299304" y="0"/>
                </a:lnTo>
                <a:lnTo>
                  <a:pt x="3396342" y="0"/>
                </a:lnTo>
                <a:lnTo>
                  <a:pt x="3493381" y="0"/>
                </a:lnTo>
                <a:lnTo>
                  <a:pt x="3590419" y="0"/>
                </a:lnTo>
                <a:lnTo>
                  <a:pt x="3687457" y="0"/>
                </a:lnTo>
                <a:lnTo>
                  <a:pt x="3784496" y="0"/>
                </a:lnTo>
                <a:lnTo>
                  <a:pt x="3881534" y="0"/>
                </a:lnTo>
                <a:lnTo>
                  <a:pt x="3978573" y="0"/>
                </a:lnTo>
                <a:lnTo>
                  <a:pt x="4075611" y="0"/>
                </a:lnTo>
                <a:lnTo>
                  <a:pt x="4172649" y="0"/>
                </a:lnTo>
                <a:lnTo>
                  <a:pt x="4269688" y="0"/>
                </a:lnTo>
                <a:lnTo>
                  <a:pt x="4366726" y="0"/>
                </a:lnTo>
                <a:lnTo>
                  <a:pt x="4463764" y="0"/>
                </a:lnTo>
                <a:lnTo>
                  <a:pt x="4560803" y="0"/>
                </a:lnTo>
                <a:lnTo>
                  <a:pt x="4657841" y="0"/>
                </a:lnTo>
                <a:lnTo>
                  <a:pt x="4754880" y="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4-E05 text 28" descr="sci-ppt:o028"/>
          <p:cNvSpPr txBox="1"/>
          <p:nvPr/>
        </p:nvSpPr>
        <p:spPr>
          <a:xfrm>
            <a:off x="1463040" y="4242816"/>
            <a:ext cx="31089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2ν + 2(1 − ν) = 2 for every ν</a:t>
            </a:r>
          </a:p>
        </p:txBody>
      </p:sp>
      <p:sp>
        <p:nvSpPr>
          <p:cNvPr id="31" name="C4-E05 text 29" descr="sci-ppt:o029"/>
          <p:cNvSpPr txBox="1"/>
          <p:nvPr/>
        </p:nvSpPr>
        <p:spPr>
          <a:xfrm>
            <a:off x="6400800" y="4023360"/>
            <a:ext cx="530352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2B880"/>
                </a:solidFill>
                <a:latin typeface="Arial"/>
              </a:rPr>
              <a:t>Result: D_f ∇⁴w − T₀ ∇²w are the elastic restoring terms.</a:t>
            </a:r>
          </a:p>
        </p:txBody>
      </p:sp>
      <p:sp>
        <p:nvSpPr>
          <p:cNvPr id="32" name="C4-E05 text 30" descr="sci-ppt:o030"/>
          <p:cNvSpPr txBox="1"/>
          <p:nvPr/>
        </p:nvSpPr>
        <p:spPr>
          <a:xfrm>
            <a:off x="6400800" y="4663440"/>
            <a:ext cx="530352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They are the same terms that enter the transient balance of Eq.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C4-E06.</a:t>
            </a:r>
          </a:p>
        </p:txBody>
      </p:sp>
      <p:sp>
        <p:nvSpPr>
          <p:cNvPr id="33" name="C4-E05 text 31" descr="sci-ppt:o031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Clamped variational identity of Eq. C4-E05.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