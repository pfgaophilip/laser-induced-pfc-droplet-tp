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C4-E15 · Derived second pair of radial integrations</a:t>
            </a:r>
          </a:p>
        </p:txBody>
      </p:sp>
      <p:sp>
        <p:nvSpPr>
          <p:cNvPr id="3" name="C4-E15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Second pair of integrations: build w(r)</a:t>
            </a:r>
          </a:p>
        </p:txBody>
      </p:sp>
      <p:sp>
        <p:nvSpPr>
          <p:cNvPr id="4" name="C4-E15 text 2" descr="sci-ppt:o002"/>
          <p:cNvSpPr txBox="1"/>
          <p:nvPr/>
        </p:nvSpPr>
        <p:spPr>
          <a:xfrm>
            <a:off x="548640" y="1417320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start</a:t>
            </a:r>
          </a:p>
        </p:txBody>
      </p:sp>
      <p:sp>
        <p:nvSpPr>
          <p:cNvPr id="5" name="C4-E15 text 3" descr="sci-ppt:o003"/>
          <p:cNvSpPr txBox="1"/>
          <p:nvPr/>
        </p:nvSpPr>
        <p:spPr>
          <a:xfrm>
            <a:off x="3474720" y="1417320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d/dr (r w′) = r g = p₀ r³ / (4D_f) + C₂ r</a:t>
            </a:r>
          </a:p>
        </p:txBody>
      </p:sp>
      <p:sp>
        <p:nvSpPr>
          <p:cNvPr id="6" name="C4-E15 text 4" descr="sci-ppt:o004"/>
          <p:cNvSpPr txBox="1"/>
          <p:nvPr/>
        </p:nvSpPr>
        <p:spPr>
          <a:xfrm>
            <a:off x="548640" y="2075688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integrate</a:t>
            </a:r>
          </a:p>
        </p:txBody>
      </p:sp>
      <p:sp>
        <p:nvSpPr>
          <p:cNvPr id="7" name="C4-E15 text 5" descr="sci-ppt:o005"/>
          <p:cNvSpPr txBox="1"/>
          <p:nvPr/>
        </p:nvSpPr>
        <p:spPr>
          <a:xfrm>
            <a:off x="3474720" y="2075688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r w′ = p₀ r⁴ / (16D_f) + C₂ r² / 2 + C₃</a:t>
            </a:r>
          </a:p>
        </p:txBody>
      </p:sp>
      <p:sp>
        <p:nvSpPr>
          <p:cNvPr id="8" name="C4-E15 text 6" descr="sci-ppt:o006"/>
          <p:cNvSpPr txBox="1"/>
          <p:nvPr/>
        </p:nvSpPr>
        <p:spPr>
          <a:xfrm>
            <a:off x="548640" y="2734056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C₃ = 0 (regular)</a:t>
            </a:r>
          </a:p>
        </p:txBody>
      </p:sp>
      <p:sp>
        <p:nvSpPr>
          <p:cNvPr id="9" name="C4-E15 text 7" descr="sci-ppt:o007"/>
          <p:cNvSpPr txBox="1"/>
          <p:nvPr/>
        </p:nvSpPr>
        <p:spPr>
          <a:xfrm>
            <a:off x="3474720" y="2734056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w′ = p₀ r³ / (16D_f) + C₂ r / 2</a:t>
            </a:r>
          </a:p>
        </p:txBody>
      </p:sp>
      <p:sp>
        <p:nvSpPr>
          <p:cNvPr id="10" name="C4-E15 text 8" descr="sci-ppt:o008"/>
          <p:cNvSpPr txBox="1"/>
          <p:nvPr/>
        </p:nvSpPr>
        <p:spPr>
          <a:xfrm>
            <a:off x="548640" y="3392424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integrate</a:t>
            </a:r>
          </a:p>
        </p:txBody>
      </p:sp>
      <p:sp>
        <p:nvSpPr>
          <p:cNvPr id="11" name="C4-E15 text 9" descr="sci-ppt:o009"/>
          <p:cNvSpPr txBox="1"/>
          <p:nvPr/>
        </p:nvSpPr>
        <p:spPr>
          <a:xfrm>
            <a:off x="3474720" y="3392424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w = p₀ r⁴ / (64D_f) + C₂ r² / 4 + C₄</a:t>
            </a:r>
          </a:p>
        </p:txBody>
      </p:sp>
      <p:cxnSp>
        <p:nvCxnSpPr>
          <p:cNvPr id="12" name="C4-E15 line 10" descr="sci-ppt:o010"/>
          <p:cNvCxnSpPr/>
          <p:nvPr/>
        </p:nvCxnSpPr>
        <p:spPr>
          <a:xfrm>
            <a:off x="8778240" y="4480560"/>
            <a:ext cx="29260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3" name="C4-E15 line 11" descr="sci-ppt:o011"/>
          <p:cNvCxnSpPr/>
          <p:nvPr/>
        </p:nvCxnSpPr>
        <p:spPr>
          <a:xfrm>
            <a:off x="8778240" y="1371600"/>
            <a:ext cx="0" cy="31089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4" name="C4-E15 line 12" descr="sci-ppt:o012"/>
          <p:cNvCxnSpPr/>
          <p:nvPr/>
        </p:nvCxnSpPr>
        <p:spPr>
          <a:xfrm>
            <a:off x="877824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15 line 13" descr="sci-ppt:o013"/>
          <p:cNvCxnSpPr/>
          <p:nvPr/>
        </p:nvCxnSpPr>
        <p:spPr>
          <a:xfrm>
            <a:off x="8778240" y="1371600"/>
            <a:ext cx="0" cy="31089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15 text 14" descr="sci-ppt:o014"/>
          <p:cNvSpPr txBox="1"/>
          <p:nvPr/>
        </p:nvSpPr>
        <p:spPr>
          <a:xfrm>
            <a:off x="832104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7" name="C4-E15 line 15" descr="sci-ppt:o015"/>
          <p:cNvCxnSpPr/>
          <p:nvPr/>
        </p:nvCxnSpPr>
        <p:spPr>
          <a:xfrm>
            <a:off x="1024128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15 line 16" descr="sci-ppt:o016"/>
          <p:cNvCxnSpPr/>
          <p:nvPr/>
        </p:nvCxnSpPr>
        <p:spPr>
          <a:xfrm>
            <a:off x="10241280" y="1371600"/>
            <a:ext cx="0" cy="31089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15 text 17" descr="sci-ppt:o017"/>
          <p:cNvSpPr txBox="1"/>
          <p:nvPr/>
        </p:nvSpPr>
        <p:spPr>
          <a:xfrm>
            <a:off x="978408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0" name="C4-E15 line 18" descr="sci-ppt:o018"/>
          <p:cNvCxnSpPr/>
          <p:nvPr/>
        </p:nvCxnSpPr>
        <p:spPr>
          <a:xfrm>
            <a:off x="1170432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15 line 19" descr="sci-ppt:o019"/>
          <p:cNvCxnSpPr/>
          <p:nvPr/>
        </p:nvCxnSpPr>
        <p:spPr>
          <a:xfrm>
            <a:off x="11704320" y="1371600"/>
            <a:ext cx="0" cy="31089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4-E15 text 20" descr="sci-ppt:o020"/>
          <p:cNvSpPr txBox="1"/>
          <p:nvPr/>
        </p:nvSpPr>
        <p:spPr>
          <a:xfrm>
            <a:off x="1124712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C4-E15 line 21" descr="sci-ppt:o021"/>
          <p:cNvCxnSpPr/>
          <p:nvPr/>
        </p:nvCxnSpPr>
        <p:spPr>
          <a:xfrm>
            <a:off x="8714232" y="432112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4-E15 line 22" descr="sci-ppt:o022"/>
          <p:cNvCxnSpPr/>
          <p:nvPr/>
        </p:nvCxnSpPr>
        <p:spPr>
          <a:xfrm>
            <a:off x="8778240" y="4321126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4-E15 text 23" descr="sci-ppt:o023"/>
          <p:cNvSpPr txBox="1"/>
          <p:nvPr/>
        </p:nvSpPr>
        <p:spPr>
          <a:xfrm>
            <a:off x="7909560" y="423883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</a:t>
            </a:r>
          </a:p>
        </p:txBody>
      </p:sp>
      <p:cxnSp>
        <p:nvCxnSpPr>
          <p:cNvPr id="26" name="C4-E15 line 24" descr="sci-ppt:o024"/>
          <p:cNvCxnSpPr/>
          <p:nvPr/>
        </p:nvCxnSpPr>
        <p:spPr>
          <a:xfrm>
            <a:off x="8714232" y="352395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4-E15 line 25" descr="sci-ppt:o025"/>
          <p:cNvCxnSpPr/>
          <p:nvPr/>
        </p:nvCxnSpPr>
        <p:spPr>
          <a:xfrm>
            <a:off x="8778240" y="3523956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4-E15 text 26" descr="sci-ppt:o026"/>
          <p:cNvSpPr txBox="1"/>
          <p:nvPr/>
        </p:nvSpPr>
        <p:spPr>
          <a:xfrm>
            <a:off x="7909560" y="344166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9" name="C4-E15 line 27" descr="sci-ppt:o027"/>
          <p:cNvCxnSpPr/>
          <p:nvPr/>
        </p:nvCxnSpPr>
        <p:spPr>
          <a:xfrm>
            <a:off x="8714232" y="272678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4-E15 line 28" descr="sci-ppt:o028"/>
          <p:cNvCxnSpPr/>
          <p:nvPr/>
        </p:nvCxnSpPr>
        <p:spPr>
          <a:xfrm>
            <a:off x="8778240" y="2726787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4-E15 text 29" descr="sci-ppt:o029"/>
          <p:cNvSpPr txBox="1"/>
          <p:nvPr/>
        </p:nvSpPr>
        <p:spPr>
          <a:xfrm>
            <a:off x="7909560" y="264449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2" name="C4-E15 line 30" descr="sci-ppt:o030"/>
          <p:cNvCxnSpPr/>
          <p:nvPr/>
        </p:nvCxnSpPr>
        <p:spPr>
          <a:xfrm>
            <a:off x="8714232" y="192961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4-E15 line 31" descr="sci-ppt:o031"/>
          <p:cNvCxnSpPr/>
          <p:nvPr/>
        </p:nvCxnSpPr>
        <p:spPr>
          <a:xfrm>
            <a:off x="8778240" y="1929618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4-E15 text 32" descr="sci-ppt:o032"/>
          <p:cNvSpPr txBox="1"/>
          <p:nvPr/>
        </p:nvSpPr>
        <p:spPr>
          <a:xfrm>
            <a:off x="7909560" y="184732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5" name="C4-E15 text 33" descr="sci-ppt:o033"/>
          <p:cNvSpPr txBox="1"/>
          <p:nvPr/>
        </p:nvSpPr>
        <p:spPr>
          <a:xfrm>
            <a:off x="8778240" y="4764024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b</a:t>
            </a:r>
          </a:p>
        </p:txBody>
      </p:sp>
      <p:sp>
        <p:nvSpPr>
          <p:cNvPr id="36" name="C4-E15 text 34" descr="sci-ppt:o034"/>
          <p:cNvSpPr txBox="1"/>
          <p:nvPr/>
        </p:nvSpPr>
        <p:spPr>
          <a:xfrm>
            <a:off x="8229600" y="1024128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terms of 64D_f w / p₀b⁴</a:t>
            </a:r>
          </a:p>
        </p:txBody>
      </p:sp>
      <p:sp>
        <p:nvSpPr>
          <p:cNvPr id="37" name="C4-E15 polygon 35" descr="sci-ppt:o035"/>
          <p:cNvSpPr/>
          <p:nvPr/>
        </p:nvSpPr>
        <p:spPr>
          <a:xfrm>
            <a:off x="8778240" y="1929618"/>
            <a:ext cx="2926080" cy="797169"/>
          </a:xfrm>
          <a:custGeom>
            <a:avLst/>
            <a:gdLst/>
            <a:ahLst/>
            <a:cxnLst/>
            <a:rect l="l" t="t" r="r" b="b"/>
            <a:pathLst>
              <a:path w="2926080" h="797169">
                <a:moveTo>
                  <a:pt x="0" y="797169"/>
                </a:moveTo>
                <a:lnTo>
                  <a:pt x="29556" y="797169"/>
                </a:lnTo>
                <a:lnTo>
                  <a:pt x="59112" y="797169"/>
                </a:lnTo>
                <a:lnTo>
                  <a:pt x="88669" y="797169"/>
                </a:lnTo>
                <a:lnTo>
                  <a:pt x="118225" y="797167"/>
                </a:lnTo>
                <a:lnTo>
                  <a:pt x="147781" y="797164"/>
                </a:lnTo>
                <a:lnTo>
                  <a:pt x="177338" y="797158"/>
                </a:lnTo>
                <a:lnTo>
                  <a:pt x="206894" y="797149"/>
                </a:lnTo>
                <a:lnTo>
                  <a:pt x="236450" y="797135"/>
                </a:lnTo>
                <a:lnTo>
                  <a:pt x="266007" y="797115"/>
                </a:lnTo>
                <a:lnTo>
                  <a:pt x="295563" y="797086"/>
                </a:lnTo>
                <a:lnTo>
                  <a:pt x="325120" y="797048"/>
                </a:lnTo>
                <a:lnTo>
                  <a:pt x="354676" y="796997"/>
                </a:lnTo>
                <a:lnTo>
                  <a:pt x="384232" y="796932"/>
                </a:lnTo>
                <a:lnTo>
                  <a:pt x="413789" y="796850"/>
                </a:lnTo>
                <a:lnTo>
                  <a:pt x="443345" y="796749"/>
                </a:lnTo>
                <a:lnTo>
                  <a:pt x="472901" y="796625"/>
                </a:lnTo>
                <a:lnTo>
                  <a:pt x="502458" y="796476"/>
                </a:lnTo>
                <a:lnTo>
                  <a:pt x="532014" y="796298"/>
                </a:lnTo>
                <a:lnTo>
                  <a:pt x="561570" y="796088"/>
                </a:lnTo>
                <a:lnTo>
                  <a:pt x="591127" y="795841"/>
                </a:lnTo>
                <a:lnTo>
                  <a:pt x="620683" y="795555"/>
                </a:lnTo>
                <a:lnTo>
                  <a:pt x="650239" y="795225"/>
                </a:lnTo>
                <a:lnTo>
                  <a:pt x="679796" y="794847"/>
                </a:lnTo>
                <a:lnTo>
                  <a:pt x="709352" y="794416"/>
                </a:lnTo>
                <a:lnTo>
                  <a:pt x="738909" y="793928"/>
                </a:lnTo>
                <a:lnTo>
                  <a:pt x="768465" y="793377"/>
                </a:lnTo>
                <a:lnTo>
                  <a:pt x="798021" y="792759"/>
                </a:lnTo>
                <a:lnTo>
                  <a:pt x="827578" y="792068"/>
                </a:lnTo>
                <a:lnTo>
                  <a:pt x="857134" y="791300"/>
                </a:lnTo>
                <a:lnTo>
                  <a:pt x="886690" y="790447"/>
                </a:lnTo>
                <a:lnTo>
                  <a:pt x="916247" y="789505"/>
                </a:lnTo>
                <a:lnTo>
                  <a:pt x="945803" y="788467"/>
                </a:lnTo>
                <a:lnTo>
                  <a:pt x="975360" y="787328"/>
                </a:lnTo>
                <a:lnTo>
                  <a:pt x="1004916" y="786079"/>
                </a:lnTo>
                <a:lnTo>
                  <a:pt x="1034472" y="784716"/>
                </a:lnTo>
                <a:lnTo>
                  <a:pt x="1064029" y="783231"/>
                </a:lnTo>
                <a:lnTo>
                  <a:pt x="1093585" y="781616"/>
                </a:lnTo>
                <a:lnTo>
                  <a:pt x="1123141" y="779865"/>
                </a:lnTo>
                <a:lnTo>
                  <a:pt x="1152698" y="777971"/>
                </a:lnTo>
                <a:lnTo>
                  <a:pt x="1182254" y="775925"/>
                </a:lnTo>
                <a:lnTo>
                  <a:pt x="1211810" y="773719"/>
                </a:lnTo>
                <a:lnTo>
                  <a:pt x="1241367" y="771346"/>
                </a:lnTo>
                <a:lnTo>
                  <a:pt x="1270923" y="768798"/>
                </a:lnTo>
                <a:lnTo>
                  <a:pt x="1300480" y="766065"/>
                </a:lnTo>
                <a:lnTo>
                  <a:pt x="1330036" y="763139"/>
                </a:lnTo>
                <a:lnTo>
                  <a:pt x="1359592" y="760012"/>
                </a:lnTo>
                <a:lnTo>
                  <a:pt x="1389149" y="756674"/>
                </a:lnTo>
                <a:lnTo>
                  <a:pt x="1418705" y="753116"/>
                </a:lnTo>
                <a:lnTo>
                  <a:pt x="1448261" y="749329"/>
                </a:lnTo>
                <a:lnTo>
                  <a:pt x="1477818" y="745302"/>
                </a:lnTo>
                <a:lnTo>
                  <a:pt x="1507374" y="741027"/>
                </a:lnTo>
                <a:lnTo>
                  <a:pt x="1536930" y="736492"/>
                </a:lnTo>
                <a:lnTo>
                  <a:pt x="1566487" y="731689"/>
                </a:lnTo>
                <a:lnTo>
                  <a:pt x="1596043" y="726605"/>
                </a:lnTo>
                <a:lnTo>
                  <a:pt x="1625600" y="721231"/>
                </a:lnTo>
                <a:lnTo>
                  <a:pt x="1655156" y="715556"/>
                </a:lnTo>
                <a:lnTo>
                  <a:pt x="1684712" y="709568"/>
                </a:lnTo>
                <a:lnTo>
                  <a:pt x="1714269" y="703257"/>
                </a:lnTo>
                <a:lnTo>
                  <a:pt x="1743825" y="696611"/>
                </a:lnTo>
                <a:lnTo>
                  <a:pt x="1773381" y="689618"/>
                </a:lnTo>
                <a:lnTo>
                  <a:pt x="1802938" y="682267"/>
                </a:lnTo>
                <a:lnTo>
                  <a:pt x="1832494" y="674545"/>
                </a:lnTo>
                <a:lnTo>
                  <a:pt x="1862050" y="666440"/>
                </a:lnTo>
                <a:lnTo>
                  <a:pt x="1891607" y="657940"/>
                </a:lnTo>
                <a:lnTo>
                  <a:pt x="1921163" y="649032"/>
                </a:lnTo>
                <a:lnTo>
                  <a:pt x="1950720" y="639704"/>
                </a:lnTo>
                <a:lnTo>
                  <a:pt x="1980276" y="629941"/>
                </a:lnTo>
                <a:lnTo>
                  <a:pt x="2009832" y="619732"/>
                </a:lnTo>
                <a:lnTo>
                  <a:pt x="2039389" y="609062"/>
                </a:lnTo>
                <a:lnTo>
                  <a:pt x="2068945" y="597918"/>
                </a:lnTo>
                <a:lnTo>
                  <a:pt x="2098501" y="586285"/>
                </a:lnTo>
                <a:lnTo>
                  <a:pt x="2128058" y="574151"/>
                </a:lnTo>
                <a:lnTo>
                  <a:pt x="2157614" y="561501"/>
                </a:lnTo>
                <a:lnTo>
                  <a:pt x="2187170" y="548320"/>
                </a:lnTo>
                <a:lnTo>
                  <a:pt x="2216727" y="534593"/>
                </a:lnTo>
                <a:lnTo>
                  <a:pt x="2246283" y="520307"/>
                </a:lnTo>
                <a:lnTo>
                  <a:pt x="2275840" y="505445"/>
                </a:lnTo>
                <a:lnTo>
                  <a:pt x="2305396" y="489993"/>
                </a:lnTo>
                <a:lnTo>
                  <a:pt x="2334952" y="473934"/>
                </a:lnTo>
                <a:lnTo>
                  <a:pt x="2364509" y="457255"/>
                </a:lnTo>
                <a:lnTo>
                  <a:pt x="2394065" y="439938"/>
                </a:lnTo>
                <a:lnTo>
                  <a:pt x="2423621" y="421967"/>
                </a:lnTo>
                <a:lnTo>
                  <a:pt x="2453178" y="403327"/>
                </a:lnTo>
                <a:lnTo>
                  <a:pt x="2482734" y="384001"/>
                </a:lnTo>
                <a:lnTo>
                  <a:pt x="2512290" y="363972"/>
                </a:lnTo>
                <a:lnTo>
                  <a:pt x="2541847" y="343224"/>
                </a:lnTo>
                <a:lnTo>
                  <a:pt x="2571403" y="321739"/>
                </a:lnTo>
                <a:lnTo>
                  <a:pt x="2600960" y="299500"/>
                </a:lnTo>
                <a:lnTo>
                  <a:pt x="2630516" y="276491"/>
                </a:lnTo>
                <a:lnTo>
                  <a:pt x="2660072" y="252692"/>
                </a:lnTo>
                <a:lnTo>
                  <a:pt x="2689629" y="228087"/>
                </a:lnTo>
                <a:lnTo>
                  <a:pt x="2719185" y="202657"/>
                </a:lnTo>
                <a:lnTo>
                  <a:pt x="2748741" y="176384"/>
                </a:lnTo>
                <a:lnTo>
                  <a:pt x="2778298" y="149250"/>
                </a:lnTo>
                <a:lnTo>
                  <a:pt x="2807854" y="121235"/>
                </a:lnTo>
                <a:lnTo>
                  <a:pt x="2837410" y="92322"/>
                </a:lnTo>
                <a:lnTo>
                  <a:pt x="2866967" y="62492"/>
                </a:lnTo>
                <a:lnTo>
                  <a:pt x="2896523" y="31724"/>
                </a:lnTo>
                <a:lnTo>
                  <a:pt x="2926080" y="0"/>
                </a:lnTo>
              </a:path>
            </a:pathLst>
          </a:custGeom>
          <a:noFill/>
          <a:ln w="330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4-E15 polygon 36" descr="sci-ppt:o036"/>
          <p:cNvSpPr/>
          <p:nvPr/>
        </p:nvSpPr>
        <p:spPr>
          <a:xfrm>
            <a:off x="8778240" y="2726787"/>
            <a:ext cx="2926080" cy="1594339"/>
          </a:xfrm>
          <a:custGeom>
            <a:avLst/>
            <a:gdLst/>
            <a:ahLst/>
            <a:cxnLst/>
            <a:rect l="l" t="t" r="r" b="b"/>
            <a:pathLst>
              <a:path w="2926080" h="1594339">
                <a:moveTo>
                  <a:pt x="0" y="0"/>
                </a:moveTo>
                <a:lnTo>
                  <a:pt x="29556" y="163"/>
                </a:lnTo>
                <a:lnTo>
                  <a:pt x="59112" y="651"/>
                </a:lnTo>
                <a:lnTo>
                  <a:pt x="88669" y="1464"/>
                </a:lnTo>
                <a:lnTo>
                  <a:pt x="118225" y="2603"/>
                </a:lnTo>
                <a:lnTo>
                  <a:pt x="147781" y="4067"/>
                </a:lnTo>
                <a:lnTo>
                  <a:pt x="177338" y="5856"/>
                </a:lnTo>
                <a:lnTo>
                  <a:pt x="206894" y="7971"/>
                </a:lnTo>
                <a:lnTo>
                  <a:pt x="236450" y="10411"/>
                </a:lnTo>
                <a:lnTo>
                  <a:pt x="266007" y="13177"/>
                </a:lnTo>
                <a:lnTo>
                  <a:pt x="295563" y="16267"/>
                </a:lnTo>
                <a:lnTo>
                  <a:pt x="325120" y="19683"/>
                </a:lnTo>
                <a:lnTo>
                  <a:pt x="354676" y="23425"/>
                </a:lnTo>
                <a:lnTo>
                  <a:pt x="384232" y="27492"/>
                </a:lnTo>
                <a:lnTo>
                  <a:pt x="413789" y="31884"/>
                </a:lnTo>
                <a:lnTo>
                  <a:pt x="443345" y="36601"/>
                </a:lnTo>
                <a:lnTo>
                  <a:pt x="472901" y="41644"/>
                </a:lnTo>
                <a:lnTo>
                  <a:pt x="502458" y="47012"/>
                </a:lnTo>
                <a:lnTo>
                  <a:pt x="532014" y="52706"/>
                </a:lnTo>
                <a:lnTo>
                  <a:pt x="561570" y="58724"/>
                </a:lnTo>
                <a:lnTo>
                  <a:pt x="591127" y="65069"/>
                </a:lnTo>
                <a:lnTo>
                  <a:pt x="620683" y="71738"/>
                </a:lnTo>
                <a:lnTo>
                  <a:pt x="650239" y="78733"/>
                </a:lnTo>
                <a:lnTo>
                  <a:pt x="679796" y="86053"/>
                </a:lnTo>
                <a:lnTo>
                  <a:pt x="709352" y="93699"/>
                </a:lnTo>
                <a:lnTo>
                  <a:pt x="738909" y="101670"/>
                </a:lnTo>
                <a:lnTo>
                  <a:pt x="768465" y="109966"/>
                </a:lnTo>
                <a:lnTo>
                  <a:pt x="798021" y="118587"/>
                </a:lnTo>
                <a:lnTo>
                  <a:pt x="827578" y="127534"/>
                </a:lnTo>
                <a:lnTo>
                  <a:pt x="857134" y="136807"/>
                </a:lnTo>
                <a:lnTo>
                  <a:pt x="886690" y="146404"/>
                </a:lnTo>
                <a:lnTo>
                  <a:pt x="916247" y="156327"/>
                </a:lnTo>
                <a:lnTo>
                  <a:pt x="945803" y="166575"/>
                </a:lnTo>
                <a:lnTo>
                  <a:pt x="975360" y="177149"/>
                </a:lnTo>
                <a:lnTo>
                  <a:pt x="1004916" y="188048"/>
                </a:lnTo>
                <a:lnTo>
                  <a:pt x="1034472" y="199272"/>
                </a:lnTo>
                <a:lnTo>
                  <a:pt x="1064029" y="210822"/>
                </a:lnTo>
                <a:lnTo>
                  <a:pt x="1093585" y="222697"/>
                </a:lnTo>
                <a:lnTo>
                  <a:pt x="1123141" y="234897"/>
                </a:lnTo>
                <a:lnTo>
                  <a:pt x="1152698" y="247423"/>
                </a:lnTo>
                <a:lnTo>
                  <a:pt x="1182254" y="260274"/>
                </a:lnTo>
                <a:lnTo>
                  <a:pt x="1211810" y="273450"/>
                </a:lnTo>
                <a:lnTo>
                  <a:pt x="1241367" y="286952"/>
                </a:lnTo>
                <a:lnTo>
                  <a:pt x="1270923" y="300779"/>
                </a:lnTo>
                <a:lnTo>
                  <a:pt x="1300480" y="314931"/>
                </a:lnTo>
                <a:lnTo>
                  <a:pt x="1330036" y="329409"/>
                </a:lnTo>
                <a:lnTo>
                  <a:pt x="1359592" y="344212"/>
                </a:lnTo>
                <a:lnTo>
                  <a:pt x="1389149" y="359340"/>
                </a:lnTo>
                <a:lnTo>
                  <a:pt x="1418705" y="374794"/>
                </a:lnTo>
                <a:lnTo>
                  <a:pt x="1448261" y="390573"/>
                </a:lnTo>
                <a:lnTo>
                  <a:pt x="1477818" y="406678"/>
                </a:lnTo>
                <a:lnTo>
                  <a:pt x="1507374" y="423107"/>
                </a:lnTo>
                <a:lnTo>
                  <a:pt x="1536930" y="439863"/>
                </a:lnTo>
                <a:lnTo>
                  <a:pt x="1566487" y="456943"/>
                </a:lnTo>
                <a:lnTo>
                  <a:pt x="1596043" y="474349"/>
                </a:lnTo>
                <a:lnTo>
                  <a:pt x="1625600" y="492080"/>
                </a:lnTo>
                <a:lnTo>
                  <a:pt x="1655156" y="510136"/>
                </a:lnTo>
                <a:lnTo>
                  <a:pt x="1684712" y="528518"/>
                </a:lnTo>
                <a:lnTo>
                  <a:pt x="1714269" y="547225"/>
                </a:lnTo>
                <a:lnTo>
                  <a:pt x="1743825" y="566258"/>
                </a:lnTo>
                <a:lnTo>
                  <a:pt x="1773381" y="585616"/>
                </a:lnTo>
                <a:lnTo>
                  <a:pt x="1802938" y="605299"/>
                </a:lnTo>
                <a:lnTo>
                  <a:pt x="1832494" y="625308"/>
                </a:lnTo>
                <a:lnTo>
                  <a:pt x="1862050" y="645641"/>
                </a:lnTo>
                <a:lnTo>
                  <a:pt x="1891607" y="666301"/>
                </a:lnTo>
                <a:lnTo>
                  <a:pt x="1921163" y="687285"/>
                </a:lnTo>
                <a:lnTo>
                  <a:pt x="1950720" y="708595"/>
                </a:lnTo>
                <a:lnTo>
                  <a:pt x="1980276" y="730230"/>
                </a:lnTo>
                <a:lnTo>
                  <a:pt x="2009832" y="752191"/>
                </a:lnTo>
                <a:lnTo>
                  <a:pt x="2039389" y="774477"/>
                </a:lnTo>
                <a:lnTo>
                  <a:pt x="2068945" y="797088"/>
                </a:lnTo>
                <a:lnTo>
                  <a:pt x="2098501" y="820025"/>
                </a:lnTo>
                <a:lnTo>
                  <a:pt x="2128058" y="843287"/>
                </a:lnTo>
                <a:lnTo>
                  <a:pt x="2157614" y="866874"/>
                </a:lnTo>
                <a:lnTo>
                  <a:pt x="2187170" y="890787"/>
                </a:lnTo>
                <a:lnTo>
                  <a:pt x="2216727" y="915025"/>
                </a:lnTo>
                <a:lnTo>
                  <a:pt x="2246283" y="939588"/>
                </a:lnTo>
                <a:lnTo>
                  <a:pt x="2275840" y="964477"/>
                </a:lnTo>
                <a:lnTo>
                  <a:pt x="2305396" y="989691"/>
                </a:lnTo>
                <a:lnTo>
                  <a:pt x="2334952" y="1015230"/>
                </a:lnTo>
                <a:lnTo>
                  <a:pt x="2364509" y="1041095"/>
                </a:lnTo>
                <a:lnTo>
                  <a:pt x="2394065" y="1067285"/>
                </a:lnTo>
                <a:lnTo>
                  <a:pt x="2423621" y="1093800"/>
                </a:lnTo>
                <a:lnTo>
                  <a:pt x="2453178" y="1120641"/>
                </a:lnTo>
                <a:lnTo>
                  <a:pt x="2482734" y="1147807"/>
                </a:lnTo>
                <a:lnTo>
                  <a:pt x="2512290" y="1175298"/>
                </a:lnTo>
                <a:lnTo>
                  <a:pt x="2541847" y="1203115"/>
                </a:lnTo>
                <a:lnTo>
                  <a:pt x="2571403" y="1231257"/>
                </a:lnTo>
                <a:lnTo>
                  <a:pt x="2600960" y="1259724"/>
                </a:lnTo>
                <a:lnTo>
                  <a:pt x="2630516" y="1288517"/>
                </a:lnTo>
                <a:lnTo>
                  <a:pt x="2660072" y="1317635"/>
                </a:lnTo>
                <a:lnTo>
                  <a:pt x="2689629" y="1347079"/>
                </a:lnTo>
                <a:lnTo>
                  <a:pt x="2719185" y="1376848"/>
                </a:lnTo>
                <a:lnTo>
                  <a:pt x="2748741" y="1406942"/>
                </a:lnTo>
                <a:lnTo>
                  <a:pt x="2778298" y="1437361"/>
                </a:lnTo>
                <a:lnTo>
                  <a:pt x="2807854" y="1468106"/>
                </a:lnTo>
                <a:lnTo>
                  <a:pt x="2837410" y="1499176"/>
                </a:lnTo>
                <a:lnTo>
                  <a:pt x="2866967" y="1530572"/>
                </a:lnTo>
                <a:lnTo>
                  <a:pt x="2896523" y="1562292"/>
                </a:lnTo>
                <a:lnTo>
                  <a:pt x="2926080" y="1594339"/>
                </a:lnTo>
              </a:path>
            </a:pathLst>
          </a:custGeom>
          <a:noFill/>
          <a:ln w="330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4-E15 polygon 37" descr="sci-ppt:o037"/>
          <p:cNvSpPr/>
          <p:nvPr/>
        </p:nvSpPr>
        <p:spPr>
          <a:xfrm>
            <a:off x="8778240" y="1929618"/>
            <a:ext cx="2926080" cy="0"/>
          </a:xfrm>
          <a:custGeom>
            <a:avLst/>
            <a:gdLst/>
            <a:ahLst/>
            <a:cxnLst/>
            <a:rect l="l" t="t" r="r" b="b"/>
            <a:pathLst>
              <a:path w="2926080" h="0">
                <a:moveTo>
                  <a:pt x="0" y="0"/>
                </a:moveTo>
                <a:lnTo>
                  <a:pt x="29556" y="0"/>
                </a:lnTo>
                <a:lnTo>
                  <a:pt x="59112" y="0"/>
                </a:lnTo>
                <a:lnTo>
                  <a:pt x="88669" y="0"/>
                </a:lnTo>
                <a:lnTo>
                  <a:pt x="118225" y="0"/>
                </a:lnTo>
                <a:lnTo>
                  <a:pt x="147781" y="0"/>
                </a:lnTo>
                <a:lnTo>
                  <a:pt x="177338" y="0"/>
                </a:lnTo>
                <a:lnTo>
                  <a:pt x="206894" y="0"/>
                </a:lnTo>
                <a:lnTo>
                  <a:pt x="236450" y="0"/>
                </a:lnTo>
                <a:lnTo>
                  <a:pt x="266007" y="0"/>
                </a:lnTo>
                <a:lnTo>
                  <a:pt x="295563" y="0"/>
                </a:lnTo>
                <a:lnTo>
                  <a:pt x="325120" y="0"/>
                </a:lnTo>
                <a:lnTo>
                  <a:pt x="354676" y="0"/>
                </a:lnTo>
                <a:lnTo>
                  <a:pt x="384232" y="0"/>
                </a:lnTo>
                <a:lnTo>
                  <a:pt x="413789" y="0"/>
                </a:lnTo>
                <a:lnTo>
                  <a:pt x="443345" y="0"/>
                </a:lnTo>
                <a:lnTo>
                  <a:pt x="472901" y="0"/>
                </a:lnTo>
                <a:lnTo>
                  <a:pt x="502458" y="0"/>
                </a:lnTo>
                <a:lnTo>
                  <a:pt x="532014" y="0"/>
                </a:lnTo>
                <a:lnTo>
                  <a:pt x="561570" y="0"/>
                </a:lnTo>
                <a:lnTo>
                  <a:pt x="591127" y="0"/>
                </a:lnTo>
                <a:lnTo>
                  <a:pt x="620683" y="0"/>
                </a:lnTo>
                <a:lnTo>
                  <a:pt x="650239" y="0"/>
                </a:lnTo>
                <a:lnTo>
                  <a:pt x="679796" y="0"/>
                </a:lnTo>
                <a:lnTo>
                  <a:pt x="709352" y="0"/>
                </a:lnTo>
                <a:lnTo>
                  <a:pt x="738909" y="0"/>
                </a:lnTo>
                <a:lnTo>
                  <a:pt x="768465" y="0"/>
                </a:lnTo>
                <a:lnTo>
                  <a:pt x="798021" y="0"/>
                </a:lnTo>
                <a:lnTo>
                  <a:pt x="827578" y="0"/>
                </a:lnTo>
                <a:lnTo>
                  <a:pt x="857134" y="0"/>
                </a:lnTo>
                <a:lnTo>
                  <a:pt x="886690" y="0"/>
                </a:lnTo>
                <a:lnTo>
                  <a:pt x="916247" y="0"/>
                </a:lnTo>
                <a:lnTo>
                  <a:pt x="945803" y="0"/>
                </a:lnTo>
                <a:lnTo>
                  <a:pt x="975360" y="0"/>
                </a:lnTo>
                <a:lnTo>
                  <a:pt x="1004916" y="0"/>
                </a:lnTo>
                <a:lnTo>
                  <a:pt x="1034472" y="0"/>
                </a:lnTo>
                <a:lnTo>
                  <a:pt x="1064029" y="0"/>
                </a:lnTo>
                <a:lnTo>
                  <a:pt x="1093585" y="0"/>
                </a:lnTo>
                <a:lnTo>
                  <a:pt x="1123141" y="0"/>
                </a:lnTo>
                <a:lnTo>
                  <a:pt x="1152698" y="0"/>
                </a:lnTo>
                <a:lnTo>
                  <a:pt x="1182254" y="0"/>
                </a:lnTo>
                <a:lnTo>
                  <a:pt x="1211810" y="0"/>
                </a:lnTo>
                <a:lnTo>
                  <a:pt x="1241367" y="0"/>
                </a:lnTo>
                <a:lnTo>
                  <a:pt x="1270923" y="0"/>
                </a:lnTo>
                <a:lnTo>
                  <a:pt x="1300480" y="0"/>
                </a:lnTo>
                <a:lnTo>
                  <a:pt x="1330036" y="0"/>
                </a:lnTo>
                <a:lnTo>
                  <a:pt x="1359592" y="0"/>
                </a:lnTo>
                <a:lnTo>
                  <a:pt x="1389149" y="0"/>
                </a:lnTo>
                <a:lnTo>
                  <a:pt x="1418705" y="0"/>
                </a:lnTo>
                <a:lnTo>
                  <a:pt x="1448261" y="0"/>
                </a:lnTo>
                <a:lnTo>
                  <a:pt x="1477818" y="0"/>
                </a:lnTo>
                <a:lnTo>
                  <a:pt x="1507374" y="0"/>
                </a:lnTo>
                <a:lnTo>
                  <a:pt x="1536930" y="0"/>
                </a:lnTo>
                <a:lnTo>
                  <a:pt x="1566487" y="0"/>
                </a:lnTo>
                <a:lnTo>
                  <a:pt x="1596043" y="0"/>
                </a:lnTo>
                <a:lnTo>
                  <a:pt x="1625600" y="0"/>
                </a:lnTo>
                <a:lnTo>
                  <a:pt x="1655156" y="0"/>
                </a:lnTo>
                <a:lnTo>
                  <a:pt x="1684712" y="0"/>
                </a:lnTo>
                <a:lnTo>
                  <a:pt x="1714269" y="0"/>
                </a:lnTo>
                <a:lnTo>
                  <a:pt x="1743825" y="0"/>
                </a:lnTo>
                <a:lnTo>
                  <a:pt x="1773381" y="0"/>
                </a:lnTo>
                <a:lnTo>
                  <a:pt x="1802938" y="0"/>
                </a:lnTo>
                <a:lnTo>
                  <a:pt x="1832494" y="0"/>
                </a:lnTo>
                <a:lnTo>
                  <a:pt x="1862050" y="0"/>
                </a:lnTo>
                <a:lnTo>
                  <a:pt x="1891607" y="0"/>
                </a:lnTo>
                <a:lnTo>
                  <a:pt x="1921163" y="0"/>
                </a:lnTo>
                <a:lnTo>
                  <a:pt x="1950720" y="0"/>
                </a:lnTo>
                <a:lnTo>
                  <a:pt x="1980276" y="0"/>
                </a:lnTo>
                <a:lnTo>
                  <a:pt x="2009832" y="0"/>
                </a:lnTo>
                <a:lnTo>
                  <a:pt x="2039389" y="0"/>
                </a:lnTo>
                <a:lnTo>
                  <a:pt x="2068945" y="0"/>
                </a:lnTo>
                <a:lnTo>
                  <a:pt x="2098501" y="0"/>
                </a:lnTo>
                <a:lnTo>
                  <a:pt x="2128058" y="0"/>
                </a:lnTo>
                <a:lnTo>
                  <a:pt x="2157614" y="0"/>
                </a:lnTo>
                <a:lnTo>
                  <a:pt x="2187170" y="0"/>
                </a:lnTo>
                <a:lnTo>
                  <a:pt x="2216727" y="0"/>
                </a:lnTo>
                <a:lnTo>
                  <a:pt x="2246283" y="0"/>
                </a:lnTo>
                <a:lnTo>
                  <a:pt x="2275840" y="0"/>
                </a:lnTo>
                <a:lnTo>
                  <a:pt x="2305396" y="0"/>
                </a:lnTo>
                <a:lnTo>
                  <a:pt x="2334952" y="0"/>
                </a:lnTo>
                <a:lnTo>
                  <a:pt x="2364509" y="0"/>
                </a:lnTo>
                <a:lnTo>
                  <a:pt x="2394065" y="0"/>
                </a:lnTo>
                <a:lnTo>
                  <a:pt x="2423621" y="0"/>
                </a:lnTo>
                <a:lnTo>
                  <a:pt x="2453178" y="0"/>
                </a:lnTo>
                <a:lnTo>
                  <a:pt x="2482734" y="0"/>
                </a:lnTo>
                <a:lnTo>
                  <a:pt x="2512290" y="0"/>
                </a:lnTo>
                <a:lnTo>
                  <a:pt x="2541847" y="0"/>
                </a:lnTo>
                <a:lnTo>
                  <a:pt x="2571403" y="0"/>
                </a:lnTo>
                <a:lnTo>
                  <a:pt x="2600960" y="0"/>
                </a:lnTo>
                <a:lnTo>
                  <a:pt x="2630516" y="0"/>
                </a:lnTo>
                <a:lnTo>
                  <a:pt x="2660072" y="0"/>
                </a:lnTo>
                <a:lnTo>
                  <a:pt x="2689629" y="0"/>
                </a:lnTo>
                <a:lnTo>
                  <a:pt x="2719185" y="0"/>
                </a:lnTo>
                <a:lnTo>
                  <a:pt x="2748741" y="0"/>
                </a:lnTo>
                <a:lnTo>
                  <a:pt x="2778298" y="0"/>
                </a:lnTo>
                <a:lnTo>
                  <a:pt x="2807854" y="0"/>
                </a:lnTo>
                <a:lnTo>
                  <a:pt x="2837410" y="0"/>
                </a:lnTo>
                <a:lnTo>
                  <a:pt x="2866967" y="0"/>
                </a:lnTo>
                <a:lnTo>
                  <a:pt x="2896523" y="0"/>
                </a:lnTo>
                <a:lnTo>
                  <a:pt x="2926080" y="0"/>
                </a:lnTo>
              </a:path>
            </a:pathLst>
          </a:custGeom>
          <a:noFill/>
          <a:ln w="330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4-E15 polygon 38" descr="sci-ppt:o038"/>
          <p:cNvSpPr/>
          <p:nvPr/>
        </p:nvSpPr>
        <p:spPr>
          <a:xfrm>
            <a:off x="8778240" y="1929618"/>
            <a:ext cx="2926080" cy="797169"/>
          </a:xfrm>
          <a:custGeom>
            <a:avLst/>
            <a:gdLst/>
            <a:ahLst/>
            <a:cxnLst/>
            <a:rect l="l" t="t" r="r" b="b"/>
            <a:pathLst>
              <a:path w="2926080" h="797169">
                <a:moveTo>
                  <a:pt x="0" y="0"/>
                </a:moveTo>
                <a:lnTo>
                  <a:pt x="29556" y="163"/>
                </a:lnTo>
                <a:lnTo>
                  <a:pt x="59112" y="651"/>
                </a:lnTo>
                <a:lnTo>
                  <a:pt x="88669" y="1463"/>
                </a:lnTo>
                <a:lnTo>
                  <a:pt x="118225" y="2601"/>
                </a:lnTo>
                <a:lnTo>
                  <a:pt x="147781" y="4062"/>
                </a:lnTo>
                <a:lnTo>
                  <a:pt x="177338" y="5845"/>
                </a:lnTo>
                <a:lnTo>
                  <a:pt x="206894" y="7951"/>
                </a:lnTo>
                <a:lnTo>
                  <a:pt x="236450" y="10377"/>
                </a:lnTo>
                <a:lnTo>
                  <a:pt x="266007" y="13122"/>
                </a:lnTo>
                <a:lnTo>
                  <a:pt x="295563" y="16184"/>
                </a:lnTo>
                <a:lnTo>
                  <a:pt x="325120" y="19562"/>
                </a:lnTo>
                <a:lnTo>
                  <a:pt x="354676" y="23253"/>
                </a:lnTo>
                <a:lnTo>
                  <a:pt x="384232" y="27254"/>
                </a:lnTo>
                <a:lnTo>
                  <a:pt x="413789" y="31565"/>
                </a:lnTo>
                <a:lnTo>
                  <a:pt x="443345" y="36181"/>
                </a:lnTo>
                <a:lnTo>
                  <a:pt x="472901" y="41100"/>
                </a:lnTo>
                <a:lnTo>
                  <a:pt x="502458" y="46319"/>
                </a:lnTo>
                <a:lnTo>
                  <a:pt x="532014" y="51834"/>
                </a:lnTo>
                <a:lnTo>
                  <a:pt x="561570" y="57643"/>
                </a:lnTo>
                <a:lnTo>
                  <a:pt x="591127" y="63741"/>
                </a:lnTo>
                <a:lnTo>
                  <a:pt x="620683" y="70124"/>
                </a:lnTo>
                <a:lnTo>
                  <a:pt x="650239" y="76789"/>
                </a:lnTo>
                <a:lnTo>
                  <a:pt x="679796" y="83731"/>
                </a:lnTo>
                <a:lnTo>
                  <a:pt x="709352" y="90945"/>
                </a:lnTo>
                <a:lnTo>
                  <a:pt x="738909" y="98428"/>
                </a:lnTo>
                <a:lnTo>
                  <a:pt x="768465" y="106173"/>
                </a:lnTo>
                <a:lnTo>
                  <a:pt x="798021" y="114177"/>
                </a:lnTo>
                <a:lnTo>
                  <a:pt x="827578" y="122433"/>
                </a:lnTo>
                <a:lnTo>
                  <a:pt x="857134" y="130937"/>
                </a:lnTo>
                <a:lnTo>
                  <a:pt x="886690" y="139682"/>
                </a:lnTo>
                <a:lnTo>
                  <a:pt x="916247" y="148663"/>
                </a:lnTo>
                <a:lnTo>
                  <a:pt x="945803" y="157873"/>
                </a:lnTo>
                <a:lnTo>
                  <a:pt x="975360" y="167307"/>
                </a:lnTo>
                <a:lnTo>
                  <a:pt x="1004916" y="176958"/>
                </a:lnTo>
                <a:lnTo>
                  <a:pt x="1034472" y="186819"/>
                </a:lnTo>
                <a:lnTo>
                  <a:pt x="1064029" y="196883"/>
                </a:lnTo>
                <a:lnTo>
                  <a:pt x="1093585" y="207143"/>
                </a:lnTo>
                <a:lnTo>
                  <a:pt x="1123141" y="217593"/>
                </a:lnTo>
                <a:lnTo>
                  <a:pt x="1152698" y="228224"/>
                </a:lnTo>
                <a:lnTo>
                  <a:pt x="1182254" y="239029"/>
                </a:lnTo>
                <a:lnTo>
                  <a:pt x="1211810" y="250000"/>
                </a:lnTo>
                <a:lnTo>
                  <a:pt x="1241367" y="261129"/>
                </a:lnTo>
                <a:lnTo>
                  <a:pt x="1270923" y="272407"/>
                </a:lnTo>
                <a:lnTo>
                  <a:pt x="1300480" y="283827"/>
                </a:lnTo>
                <a:lnTo>
                  <a:pt x="1330036" y="295379"/>
                </a:lnTo>
                <a:lnTo>
                  <a:pt x="1359592" y="307055"/>
                </a:lnTo>
                <a:lnTo>
                  <a:pt x="1389149" y="318845"/>
                </a:lnTo>
                <a:lnTo>
                  <a:pt x="1418705" y="330741"/>
                </a:lnTo>
                <a:lnTo>
                  <a:pt x="1448261" y="342733"/>
                </a:lnTo>
                <a:lnTo>
                  <a:pt x="1477818" y="354811"/>
                </a:lnTo>
                <a:lnTo>
                  <a:pt x="1507374" y="366965"/>
                </a:lnTo>
                <a:lnTo>
                  <a:pt x="1536930" y="379185"/>
                </a:lnTo>
                <a:lnTo>
                  <a:pt x="1566487" y="391462"/>
                </a:lnTo>
                <a:lnTo>
                  <a:pt x="1596043" y="403784"/>
                </a:lnTo>
                <a:lnTo>
                  <a:pt x="1625600" y="416141"/>
                </a:lnTo>
                <a:lnTo>
                  <a:pt x="1655156" y="428523"/>
                </a:lnTo>
                <a:lnTo>
                  <a:pt x="1684712" y="440917"/>
                </a:lnTo>
                <a:lnTo>
                  <a:pt x="1714269" y="453313"/>
                </a:lnTo>
                <a:lnTo>
                  <a:pt x="1743825" y="465699"/>
                </a:lnTo>
                <a:lnTo>
                  <a:pt x="1773381" y="478064"/>
                </a:lnTo>
                <a:lnTo>
                  <a:pt x="1802938" y="490396"/>
                </a:lnTo>
                <a:lnTo>
                  <a:pt x="1832494" y="502683"/>
                </a:lnTo>
                <a:lnTo>
                  <a:pt x="1862050" y="514912"/>
                </a:lnTo>
                <a:lnTo>
                  <a:pt x="1891607" y="527071"/>
                </a:lnTo>
                <a:lnTo>
                  <a:pt x="1921163" y="539148"/>
                </a:lnTo>
                <a:lnTo>
                  <a:pt x="1950720" y="551129"/>
                </a:lnTo>
                <a:lnTo>
                  <a:pt x="1980276" y="563002"/>
                </a:lnTo>
                <a:lnTo>
                  <a:pt x="2009832" y="574753"/>
                </a:lnTo>
                <a:lnTo>
                  <a:pt x="2039389" y="586369"/>
                </a:lnTo>
                <a:lnTo>
                  <a:pt x="2068945" y="597836"/>
                </a:lnTo>
                <a:lnTo>
                  <a:pt x="2098501" y="609141"/>
                </a:lnTo>
                <a:lnTo>
                  <a:pt x="2128058" y="620269"/>
                </a:lnTo>
                <a:lnTo>
                  <a:pt x="2157614" y="631205"/>
                </a:lnTo>
                <a:lnTo>
                  <a:pt x="2187170" y="641937"/>
                </a:lnTo>
                <a:lnTo>
                  <a:pt x="2216727" y="652448"/>
                </a:lnTo>
                <a:lnTo>
                  <a:pt x="2246283" y="662725"/>
                </a:lnTo>
                <a:lnTo>
                  <a:pt x="2275840" y="672752"/>
                </a:lnTo>
                <a:lnTo>
                  <a:pt x="2305396" y="682514"/>
                </a:lnTo>
                <a:lnTo>
                  <a:pt x="2334952" y="691995"/>
                </a:lnTo>
                <a:lnTo>
                  <a:pt x="2364509" y="701180"/>
                </a:lnTo>
                <a:lnTo>
                  <a:pt x="2394065" y="710053"/>
                </a:lnTo>
                <a:lnTo>
                  <a:pt x="2423621" y="718598"/>
                </a:lnTo>
                <a:lnTo>
                  <a:pt x="2453178" y="726798"/>
                </a:lnTo>
                <a:lnTo>
                  <a:pt x="2482734" y="734638"/>
                </a:lnTo>
                <a:lnTo>
                  <a:pt x="2512290" y="742101"/>
                </a:lnTo>
                <a:lnTo>
                  <a:pt x="2541847" y="749169"/>
                </a:lnTo>
                <a:lnTo>
                  <a:pt x="2571403" y="755827"/>
                </a:lnTo>
                <a:lnTo>
                  <a:pt x="2600960" y="762055"/>
                </a:lnTo>
                <a:lnTo>
                  <a:pt x="2630516" y="767838"/>
                </a:lnTo>
                <a:lnTo>
                  <a:pt x="2660072" y="773158"/>
                </a:lnTo>
                <a:lnTo>
                  <a:pt x="2689629" y="777996"/>
                </a:lnTo>
                <a:lnTo>
                  <a:pt x="2719185" y="782335"/>
                </a:lnTo>
                <a:lnTo>
                  <a:pt x="2748741" y="786156"/>
                </a:lnTo>
                <a:lnTo>
                  <a:pt x="2778298" y="789441"/>
                </a:lnTo>
                <a:lnTo>
                  <a:pt x="2807854" y="792172"/>
                </a:lnTo>
                <a:lnTo>
                  <a:pt x="2837410" y="794329"/>
                </a:lnTo>
                <a:lnTo>
                  <a:pt x="2866967" y="795894"/>
                </a:lnTo>
                <a:lnTo>
                  <a:pt x="2896523" y="796847"/>
                </a:lnTo>
                <a:lnTo>
                  <a:pt x="2926080" y="797169"/>
                </a:lnTo>
              </a:path>
            </a:pathLst>
          </a:custGeom>
          <a:noFill/>
          <a:ln w="27940">
            <a:solidFill>
              <a:srgbClr val="E7F0F3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4-E15 text 39" descr="sci-ppt:o039"/>
          <p:cNvSpPr txBox="1"/>
          <p:nvPr/>
        </p:nvSpPr>
        <p:spPr>
          <a:xfrm>
            <a:off x="10314432" y="3085513"/>
            <a:ext cx="1463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sum (dashed)</a:t>
            </a:r>
          </a:p>
        </p:txBody>
      </p:sp>
      <p:sp>
        <p:nvSpPr>
          <p:cNvPr id="42" name="C4-E15 text 40" descr="sci-ppt:o040"/>
          <p:cNvSpPr txBox="1"/>
          <p:nvPr/>
        </p:nvSpPr>
        <p:spPr>
          <a:xfrm>
            <a:off x="10460736" y="3990535"/>
            <a:ext cx="10972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r² term</a:t>
            </a:r>
          </a:p>
        </p:txBody>
      </p:sp>
      <p:sp>
        <p:nvSpPr>
          <p:cNvPr id="43" name="C4-E15 text 41" descr="sci-ppt:o041"/>
          <p:cNvSpPr txBox="1"/>
          <p:nvPr/>
        </p:nvSpPr>
        <p:spPr>
          <a:xfrm>
            <a:off x="10168128" y="1570892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8BA0"/>
                </a:solidFill>
                <a:latin typeface="Arial"/>
              </a:rPr>
              <a:t>constant C₄</a:t>
            </a:r>
          </a:p>
        </p:txBody>
      </p:sp>
      <p:sp>
        <p:nvSpPr>
          <p:cNvPr id="44" name="C4-E15 text 42" descr="sci-ppt:o042"/>
          <p:cNvSpPr txBox="1"/>
          <p:nvPr/>
        </p:nvSpPr>
        <p:spPr>
          <a:xfrm>
            <a:off x="9729215" y="2447778"/>
            <a:ext cx="10972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DBD4"/>
                </a:solidFill>
                <a:latin typeface="Arial"/>
              </a:rPr>
              <a:t>r⁴ term</a:t>
            </a:r>
          </a:p>
        </p:txBody>
      </p:sp>
      <p:sp>
        <p:nvSpPr>
          <p:cNvPr id="45" name="C4-E15 text 43" descr="sci-ppt:o043"/>
          <p:cNvSpPr txBox="1"/>
          <p:nvPr/>
        </p:nvSpPr>
        <p:spPr>
          <a:xfrm>
            <a:off x="548640" y="4297680"/>
            <a:ext cx="78638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regular solution has three pieces: quartic (from the load), quadratic and constant (both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fixed by the clamp).</a:t>
            </a:r>
          </a:p>
        </p:txBody>
      </p:sp>
      <p:sp>
        <p:nvSpPr>
          <p:cNvPr id="46" name="C4-E15 text 44" descr="sci-ppt:o044"/>
          <p:cNvSpPr txBox="1"/>
          <p:nvPr/>
        </p:nvSpPr>
        <p:spPr>
          <a:xfrm>
            <a:off x="548640" y="4892040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Right: the three terms (solid) add up to the final profile (dashed), using the constants found in Eq. C4-E16.</a:t>
            </a:r>
          </a:p>
        </p:txBody>
      </p:sp>
      <p:sp>
        <p:nvSpPr>
          <p:cNvPr id="47" name="C4-E15 text 45" descr="sci-ppt:o04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Radial integration of Eq. C4-E15; pieces drawn for C₂ = −p₀b²/(8D_f) and C₄ = p₀b⁴/(64D_f) (preview of Eq. C4-E16).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