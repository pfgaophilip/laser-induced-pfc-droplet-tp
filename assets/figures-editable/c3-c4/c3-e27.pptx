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C3-E27 · One-way-wave energy and finite-observer Cauchy–Schwarz bound</a:t>
            </a:r>
          </a:p>
        </p:txBody>
      </p:sp>
      <p:sp>
        <p:nvSpPr>
          <p:cNvPr id="3" name="C3-E27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27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Source allocation</a:t>
            </a:r>
          </a:p>
        </p:txBody>
      </p:sp>
      <p:cxnSp>
        <p:nvCxnSpPr>
          <p:cNvPr id="5" name="C3-E27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7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27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Outgoing wave E_w</a:t>
            </a:r>
          </a:p>
        </p:txBody>
      </p:sp>
      <p:cxnSp>
        <p:nvCxnSpPr>
          <p:cNvPr id="8" name="C3-E27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3-E27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27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A_o, τ_o observer</a:t>
            </a:r>
          </a:p>
        </p:txBody>
      </p:sp>
      <p:sp>
        <p:nvSpPr>
          <p:cNvPr id="11" name="C3-E27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Each energy allocation belongs to the same finite source budget.</a:t>
            </a:r>
          </a:p>
        </p:txBody>
      </p:sp>
      <p:cxnSp>
        <p:nvCxnSpPr>
          <p:cNvPr id="12" name="C3-E27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27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p′ outgoing wave through A_o</a:t>
            </a:r>
          </a:p>
        </p:txBody>
      </p:sp>
      <p:sp>
        <p:nvSpPr>
          <p:cNvPr id="14" name="C3-E27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Z_l wave impedance</a:t>
            </a:r>
          </a:p>
        </p:txBody>
      </p:sp>
      <p:sp>
        <p:nvSpPr>
          <p:cNvPr id="15" name="C3-E27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τ_o, t observation window</a:t>
            </a:r>
          </a:p>
        </p:txBody>
      </p:sp>
      <p:sp>
        <p:nvSpPr>
          <p:cNvPr id="16" name="C3-E27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E_w = ∫p′²/Z_l</a:t>
            </a:r>
          </a:p>
        </p:txBody>
      </p:sp>
      <p:sp>
        <p:nvSpPr>
          <p:cNvPr id="17" name="C3-E27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p̄ signed observed mean</a:t>
            </a:r>
          </a:p>
        </p:txBody>
      </p:sp>
      <p:sp>
        <p:nvSpPr>
          <p:cNvPr id="18" name="C3-E27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dA spatial averaging</a:t>
            </a:r>
          </a:p>
        </p:txBody>
      </p:sp>
      <p:sp>
        <p:nvSpPr>
          <p:cNvPr id="19" name="C3-E27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Wave energy must be allocated from the same source budget</a:t>
            </a:r>
          </a:p>
        </p:txBody>
      </p:sp>
      <p:sp>
        <p:nvSpPr>
          <p:cNvPr id="20" name="C3-E27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is a conditional wave bound, not universal film traction</a:t>
            </a:r>
          </a:p>
        </p:txBody>
      </p:sp>
      <p:sp>
        <p:nvSpPr>
          <p:cNvPr id="21" name="C3-E27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