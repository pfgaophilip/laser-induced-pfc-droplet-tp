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C3-E27 · One-way-wave energy and finite-observer Cauchy–Schwarz bound</a:t>
            </a:r>
          </a:p>
        </p:txBody>
      </p:sp>
      <p:cxnSp>
        <p:nvCxnSpPr>
          <p:cNvPr id="3" name="C3-E27 line 1" descr="sci-ppt:o001"/>
          <p:cNvCxnSpPr/>
          <p:nvPr/>
        </p:nvCxnSpPr>
        <p:spPr>
          <a:xfrm>
            <a:off x="914400" y="493776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7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7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7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7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3-E27 line 6" descr="sci-ppt:o006"/>
          <p:cNvCxnSpPr/>
          <p:nvPr/>
        </p:nvCxnSpPr>
        <p:spPr>
          <a:xfrm>
            <a:off x="2125804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7 line 7" descr="sci-ppt:o007"/>
          <p:cNvCxnSpPr/>
          <p:nvPr/>
        </p:nvCxnSpPr>
        <p:spPr>
          <a:xfrm>
            <a:off x="2125804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7 text 8" descr="sci-ppt:o008"/>
          <p:cNvSpPr txBox="1"/>
          <p:nvPr/>
        </p:nvSpPr>
        <p:spPr>
          <a:xfrm>
            <a:off x="1668604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3-E27 line 9" descr="sci-ppt:o009"/>
          <p:cNvCxnSpPr/>
          <p:nvPr/>
        </p:nvCxnSpPr>
        <p:spPr>
          <a:xfrm>
            <a:off x="3727194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7 line 10" descr="sci-ppt:o010"/>
          <p:cNvCxnSpPr/>
          <p:nvPr/>
        </p:nvCxnSpPr>
        <p:spPr>
          <a:xfrm>
            <a:off x="3727194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7 text 11" descr="sci-ppt:o011"/>
          <p:cNvSpPr txBox="1"/>
          <p:nvPr/>
        </p:nvSpPr>
        <p:spPr>
          <a:xfrm>
            <a:off x="3269994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4" name="C3-E27 line 12" descr="sci-ppt:o012"/>
          <p:cNvCxnSpPr/>
          <p:nvPr/>
        </p:nvCxnSpPr>
        <p:spPr>
          <a:xfrm>
            <a:off x="49385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7 line 13" descr="sci-ppt:o013"/>
          <p:cNvCxnSpPr/>
          <p:nvPr/>
        </p:nvCxnSpPr>
        <p:spPr>
          <a:xfrm>
            <a:off x="49385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7 text 14" descr="sci-ppt:o014"/>
          <p:cNvSpPr txBox="1"/>
          <p:nvPr/>
        </p:nvSpPr>
        <p:spPr>
          <a:xfrm>
            <a:off x="44813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7" name="C3-E27 line 15" descr="sci-ppt:o015"/>
          <p:cNvCxnSpPr/>
          <p:nvPr/>
        </p:nvCxnSpPr>
        <p:spPr>
          <a:xfrm>
            <a:off x="685863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7 line 16" descr="sci-ppt:o016"/>
          <p:cNvCxnSpPr/>
          <p:nvPr/>
        </p:nvCxnSpPr>
        <p:spPr>
          <a:xfrm>
            <a:off x="685863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7 text 17" descr="sci-ppt:o017"/>
          <p:cNvSpPr txBox="1"/>
          <p:nvPr/>
        </p:nvSpPr>
        <p:spPr>
          <a:xfrm>
            <a:off x="640143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20" name="C3-E27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7 line 19" descr="sci-ppt:o019"/>
          <p:cNvCxnSpPr/>
          <p:nvPr/>
        </p:nvCxnSpPr>
        <p:spPr>
          <a:xfrm>
            <a:off x="850392" y="394300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7 line 20" descr="sci-ppt:o020"/>
          <p:cNvCxnSpPr/>
          <p:nvPr/>
        </p:nvCxnSpPr>
        <p:spPr>
          <a:xfrm>
            <a:off x="914400" y="394300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7 text 21" descr="sci-ppt:o021"/>
          <p:cNvSpPr txBox="1"/>
          <p:nvPr/>
        </p:nvSpPr>
        <p:spPr>
          <a:xfrm>
            <a:off x="45720" y="386070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3-E27 line 22" descr="sci-ppt:o022"/>
          <p:cNvCxnSpPr/>
          <p:nvPr/>
        </p:nvCxnSpPr>
        <p:spPr>
          <a:xfrm>
            <a:off x="850392" y="262801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7 line 23" descr="sci-ppt:o023"/>
          <p:cNvCxnSpPr/>
          <p:nvPr/>
        </p:nvCxnSpPr>
        <p:spPr>
          <a:xfrm>
            <a:off x="914400" y="262801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7 text 24" descr="sci-ppt:o024"/>
          <p:cNvSpPr txBox="1"/>
          <p:nvPr/>
        </p:nvSpPr>
        <p:spPr>
          <a:xfrm>
            <a:off x="45720" y="25457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7" name="C3-E27 line 25" descr="sci-ppt:o025"/>
          <p:cNvCxnSpPr/>
          <p:nvPr/>
        </p:nvCxnSpPr>
        <p:spPr>
          <a:xfrm>
            <a:off x="850392" y="16332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27 line 26" descr="sci-ppt:o026"/>
          <p:cNvCxnSpPr/>
          <p:nvPr/>
        </p:nvCxnSpPr>
        <p:spPr>
          <a:xfrm>
            <a:off x="914400" y="163325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27 text 27" descr="sci-ppt:o027"/>
          <p:cNvSpPr txBox="1"/>
          <p:nvPr/>
        </p:nvSpPr>
        <p:spPr>
          <a:xfrm>
            <a:off x="45720" y="15509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0" name="C3-E27 text 28" descr="sci-ppt:o028"/>
          <p:cNvSpPr txBox="1"/>
          <p:nvPr/>
        </p:nvSpPr>
        <p:spPr>
          <a:xfrm>
            <a:off x="914400" y="522122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window ratio τₒ / τ_eq</a:t>
            </a:r>
          </a:p>
        </p:txBody>
      </p:sp>
      <p:sp>
        <p:nvSpPr>
          <p:cNvPr id="31" name="C3-E27 text 29" descr="sci-ppt:o029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|p̄| / p₀</a:t>
            </a:r>
          </a:p>
        </p:txBody>
      </p:sp>
      <p:sp>
        <p:nvSpPr>
          <p:cNvPr id="32" name="C3-E27 polygon 30" descr="sci-ppt:o030"/>
          <p:cNvSpPr/>
          <p:nvPr/>
        </p:nvSpPr>
        <p:spPr>
          <a:xfrm>
            <a:off x="914400" y="1633254"/>
            <a:ext cx="4003977" cy="3287900"/>
          </a:xfrm>
          <a:custGeom>
            <a:avLst/>
            <a:gdLst/>
            <a:ahLst/>
            <a:cxnLst/>
            <a:rect l="l" t="t" r="r" b="b"/>
            <a:pathLst>
              <a:path w="4003977" h="3287900">
                <a:moveTo>
                  <a:pt x="0" y="0"/>
                </a:moveTo>
                <a:lnTo>
                  <a:pt x="30333" y="24909"/>
                </a:lnTo>
                <a:lnTo>
                  <a:pt x="60666" y="49817"/>
                </a:lnTo>
                <a:lnTo>
                  <a:pt x="90999" y="74725"/>
                </a:lnTo>
                <a:lnTo>
                  <a:pt x="121332" y="99634"/>
                </a:lnTo>
                <a:lnTo>
                  <a:pt x="151665" y="124542"/>
                </a:lnTo>
                <a:lnTo>
                  <a:pt x="181998" y="149450"/>
                </a:lnTo>
                <a:lnTo>
                  <a:pt x="212332" y="174359"/>
                </a:lnTo>
                <a:lnTo>
                  <a:pt x="242665" y="199267"/>
                </a:lnTo>
                <a:lnTo>
                  <a:pt x="272998" y="224175"/>
                </a:lnTo>
                <a:lnTo>
                  <a:pt x="303331" y="249084"/>
                </a:lnTo>
                <a:lnTo>
                  <a:pt x="333664" y="273992"/>
                </a:lnTo>
                <a:lnTo>
                  <a:pt x="363997" y="298900"/>
                </a:lnTo>
                <a:lnTo>
                  <a:pt x="394331" y="323809"/>
                </a:lnTo>
                <a:lnTo>
                  <a:pt x="424664" y="348717"/>
                </a:lnTo>
                <a:lnTo>
                  <a:pt x="454997" y="373625"/>
                </a:lnTo>
                <a:lnTo>
                  <a:pt x="485330" y="398534"/>
                </a:lnTo>
                <a:lnTo>
                  <a:pt x="515663" y="423442"/>
                </a:lnTo>
                <a:lnTo>
                  <a:pt x="545996" y="448350"/>
                </a:lnTo>
                <a:lnTo>
                  <a:pt x="576330" y="473259"/>
                </a:lnTo>
                <a:lnTo>
                  <a:pt x="606663" y="498167"/>
                </a:lnTo>
                <a:lnTo>
                  <a:pt x="636996" y="523075"/>
                </a:lnTo>
                <a:lnTo>
                  <a:pt x="667329" y="547984"/>
                </a:lnTo>
                <a:lnTo>
                  <a:pt x="697662" y="572892"/>
                </a:lnTo>
                <a:lnTo>
                  <a:pt x="727995" y="597800"/>
                </a:lnTo>
                <a:lnTo>
                  <a:pt x="758329" y="622709"/>
                </a:lnTo>
                <a:lnTo>
                  <a:pt x="788662" y="647617"/>
                </a:lnTo>
                <a:lnTo>
                  <a:pt x="818995" y="672525"/>
                </a:lnTo>
                <a:lnTo>
                  <a:pt x="849328" y="697434"/>
                </a:lnTo>
                <a:lnTo>
                  <a:pt x="879661" y="722342"/>
                </a:lnTo>
                <a:lnTo>
                  <a:pt x="909994" y="747250"/>
                </a:lnTo>
                <a:lnTo>
                  <a:pt x="940328" y="772159"/>
                </a:lnTo>
                <a:lnTo>
                  <a:pt x="970661" y="797067"/>
                </a:lnTo>
                <a:lnTo>
                  <a:pt x="1000994" y="821975"/>
                </a:lnTo>
                <a:lnTo>
                  <a:pt x="1031327" y="846884"/>
                </a:lnTo>
                <a:lnTo>
                  <a:pt x="1061660" y="871792"/>
                </a:lnTo>
                <a:lnTo>
                  <a:pt x="1091993" y="896700"/>
                </a:lnTo>
                <a:lnTo>
                  <a:pt x="1122326" y="921609"/>
                </a:lnTo>
                <a:lnTo>
                  <a:pt x="1152660" y="946517"/>
                </a:lnTo>
                <a:lnTo>
                  <a:pt x="1182993" y="971425"/>
                </a:lnTo>
                <a:lnTo>
                  <a:pt x="1213326" y="996334"/>
                </a:lnTo>
                <a:lnTo>
                  <a:pt x="1243659" y="1021242"/>
                </a:lnTo>
                <a:lnTo>
                  <a:pt x="1273992" y="1046150"/>
                </a:lnTo>
                <a:lnTo>
                  <a:pt x="1304325" y="1071059"/>
                </a:lnTo>
                <a:lnTo>
                  <a:pt x="1334659" y="1095967"/>
                </a:lnTo>
                <a:lnTo>
                  <a:pt x="1364992" y="1120875"/>
                </a:lnTo>
                <a:lnTo>
                  <a:pt x="1395325" y="1145784"/>
                </a:lnTo>
                <a:lnTo>
                  <a:pt x="1425658" y="1170692"/>
                </a:lnTo>
                <a:lnTo>
                  <a:pt x="1455991" y="1195600"/>
                </a:lnTo>
                <a:lnTo>
                  <a:pt x="1486324" y="1220509"/>
                </a:lnTo>
                <a:lnTo>
                  <a:pt x="1516658" y="1245417"/>
                </a:lnTo>
                <a:lnTo>
                  <a:pt x="1546991" y="1270325"/>
                </a:lnTo>
                <a:lnTo>
                  <a:pt x="1577324" y="1295234"/>
                </a:lnTo>
                <a:lnTo>
                  <a:pt x="1607657" y="1320142"/>
                </a:lnTo>
                <a:lnTo>
                  <a:pt x="1637990" y="1345050"/>
                </a:lnTo>
                <a:lnTo>
                  <a:pt x="1668323" y="1369959"/>
                </a:lnTo>
                <a:lnTo>
                  <a:pt x="1698657" y="1394867"/>
                </a:lnTo>
                <a:lnTo>
                  <a:pt x="1728990" y="1419775"/>
                </a:lnTo>
                <a:lnTo>
                  <a:pt x="1759323" y="1444683"/>
                </a:lnTo>
                <a:lnTo>
                  <a:pt x="1789656" y="1469592"/>
                </a:lnTo>
                <a:lnTo>
                  <a:pt x="1819989" y="1494500"/>
                </a:lnTo>
                <a:lnTo>
                  <a:pt x="1850322" y="1519408"/>
                </a:lnTo>
                <a:lnTo>
                  <a:pt x="1880656" y="1544317"/>
                </a:lnTo>
                <a:lnTo>
                  <a:pt x="1910989" y="1569225"/>
                </a:lnTo>
                <a:lnTo>
                  <a:pt x="1941322" y="1594133"/>
                </a:lnTo>
                <a:lnTo>
                  <a:pt x="1971655" y="1619042"/>
                </a:lnTo>
                <a:lnTo>
                  <a:pt x="2001988" y="1643950"/>
                </a:lnTo>
                <a:lnTo>
                  <a:pt x="2032321" y="1668858"/>
                </a:lnTo>
                <a:lnTo>
                  <a:pt x="2062655" y="1693767"/>
                </a:lnTo>
                <a:lnTo>
                  <a:pt x="2092988" y="1718675"/>
                </a:lnTo>
                <a:lnTo>
                  <a:pt x="2123321" y="1743583"/>
                </a:lnTo>
                <a:lnTo>
                  <a:pt x="2153654" y="1768492"/>
                </a:lnTo>
                <a:lnTo>
                  <a:pt x="2183987" y="1793400"/>
                </a:lnTo>
                <a:lnTo>
                  <a:pt x="2214320" y="1818308"/>
                </a:lnTo>
                <a:lnTo>
                  <a:pt x="2244653" y="1843217"/>
                </a:lnTo>
                <a:lnTo>
                  <a:pt x="2274987" y="1868125"/>
                </a:lnTo>
                <a:lnTo>
                  <a:pt x="2305320" y="1893033"/>
                </a:lnTo>
                <a:lnTo>
                  <a:pt x="2335653" y="1917942"/>
                </a:lnTo>
                <a:lnTo>
                  <a:pt x="2365986" y="1942850"/>
                </a:lnTo>
                <a:lnTo>
                  <a:pt x="2396319" y="1967758"/>
                </a:lnTo>
                <a:lnTo>
                  <a:pt x="2426652" y="1992667"/>
                </a:lnTo>
                <a:lnTo>
                  <a:pt x="2456986" y="2017575"/>
                </a:lnTo>
                <a:lnTo>
                  <a:pt x="2487319" y="2042483"/>
                </a:lnTo>
                <a:lnTo>
                  <a:pt x="2517652" y="2067392"/>
                </a:lnTo>
                <a:lnTo>
                  <a:pt x="2547985" y="2092300"/>
                </a:lnTo>
                <a:lnTo>
                  <a:pt x="2578318" y="2117208"/>
                </a:lnTo>
                <a:lnTo>
                  <a:pt x="2608651" y="2142117"/>
                </a:lnTo>
                <a:lnTo>
                  <a:pt x="2638985" y="2167025"/>
                </a:lnTo>
                <a:lnTo>
                  <a:pt x="2669318" y="2191933"/>
                </a:lnTo>
                <a:lnTo>
                  <a:pt x="2699651" y="2216842"/>
                </a:lnTo>
                <a:lnTo>
                  <a:pt x="2729984" y="2241750"/>
                </a:lnTo>
                <a:lnTo>
                  <a:pt x="2760317" y="2266658"/>
                </a:lnTo>
                <a:lnTo>
                  <a:pt x="2790650" y="2291567"/>
                </a:lnTo>
                <a:lnTo>
                  <a:pt x="2820984" y="2316475"/>
                </a:lnTo>
                <a:lnTo>
                  <a:pt x="2851317" y="2341383"/>
                </a:lnTo>
                <a:lnTo>
                  <a:pt x="2881650" y="2366292"/>
                </a:lnTo>
                <a:lnTo>
                  <a:pt x="2911983" y="2391200"/>
                </a:lnTo>
                <a:lnTo>
                  <a:pt x="2942316" y="2416108"/>
                </a:lnTo>
                <a:lnTo>
                  <a:pt x="2972649" y="2441017"/>
                </a:lnTo>
                <a:lnTo>
                  <a:pt x="3002983" y="2465925"/>
                </a:lnTo>
                <a:lnTo>
                  <a:pt x="3033316" y="2490833"/>
                </a:lnTo>
                <a:lnTo>
                  <a:pt x="3063649" y="2515742"/>
                </a:lnTo>
                <a:lnTo>
                  <a:pt x="3093982" y="2540650"/>
                </a:lnTo>
                <a:lnTo>
                  <a:pt x="3124315" y="2565558"/>
                </a:lnTo>
                <a:lnTo>
                  <a:pt x="3154648" y="2590467"/>
                </a:lnTo>
                <a:lnTo>
                  <a:pt x="3184982" y="2615375"/>
                </a:lnTo>
                <a:lnTo>
                  <a:pt x="3215315" y="2640283"/>
                </a:lnTo>
                <a:lnTo>
                  <a:pt x="3245648" y="2665192"/>
                </a:lnTo>
                <a:lnTo>
                  <a:pt x="3275981" y="2690100"/>
                </a:lnTo>
                <a:lnTo>
                  <a:pt x="3306314" y="2715008"/>
                </a:lnTo>
                <a:lnTo>
                  <a:pt x="3336647" y="2739917"/>
                </a:lnTo>
                <a:lnTo>
                  <a:pt x="3366980" y="2764825"/>
                </a:lnTo>
                <a:lnTo>
                  <a:pt x="3397314" y="2789733"/>
                </a:lnTo>
                <a:lnTo>
                  <a:pt x="3427647" y="2814642"/>
                </a:lnTo>
                <a:lnTo>
                  <a:pt x="3457980" y="2839550"/>
                </a:lnTo>
                <a:lnTo>
                  <a:pt x="3488313" y="2864458"/>
                </a:lnTo>
                <a:lnTo>
                  <a:pt x="3518646" y="2889367"/>
                </a:lnTo>
                <a:lnTo>
                  <a:pt x="3548979" y="2914275"/>
                </a:lnTo>
                <a:lnTo>
                  <a:pt x="3579313" y="2939183"/>
                </a:lnTo>
                <a:lnTo>
                  <a:pt x="3609646" y="2964092"/>
                </a:lnTo>
                <a:lnTo>
                  <a:pt x="3639979" y="2989000"/>
                </a:lnTo>
                <a:lnTo>
                  <a:pt x="3670312" y="3013908"/>
                </a:lnTo>
                <a:lnTo>
                  <a:pt x="3700645" y="3038817"/>
                </a:lnTo>
                <a:lnTo>
                  <a:pt x="3730978" y="3063725"/>
                </a:lnTo>
                <a:lnTo>
                  <a:pt x="3761312" y="3088633"/>
                </a:lnTo>
                <a:lnTo>
                  <a:pt x="3791645" y="3113542"/>
                </a:lnTo>
                <a:lnTo>
                  <a:pt x="3821978" y="3138450"/>
                </a:lnTo>
                <a:lnTo>
                  <a:pt x="3852311" y="3163358"/>
                </a:lnTo>
                <a:lnTo>
                  <a:pt x="3882644" y="3188267"/>
                </a:lnTo>
                <a:lnTo>
                  <a:pt x="3912977" y="3213175"/>
                </a:lnTo>
                <a:lnTo>
                  <a:pt x="3943311" y="3238083"/>
                </a:lnTo>
                <a:lnTo>
                  <a:pt x="3973644" y="3262992"/>
                </a:lnTo>
                <a:lnTo>
                  <a:pt x="4003977" y="32879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27 polygon 31" descr="sci-ppt:o031"/>
          <p:cNvSpPr/>
          <p:nvPr/>
        </p:nvSpPr>
        <p:spPr>
          <a:xfrm>
            <a:off x="914400" y="1633254"/>
            <a:ext cx="6005966" cy="2465925"/>
          </a:xfrm>
          <a:custGeom>
            <a:avLst/>
            <a:gdLst/>
            <a:ahLst/>
            <a:cxnLst/>
            <a:rect l="l" t="t" r="r" b="b"/>
            <a:pathLst>
              <a:path w="6005966" h="2465925">
                <a:moveTo>
                  <a:pt x="0" y="0"/>
                </a:moveTo>
                <a:lnTo>
                  <a:pt x="30333" y="12455"/>
                </a:lnTo>
                <a:lnTo>
                  <a:pt x="60666" y="24909"/>
                </a:lnTo>
                <a:lnTo>
                  <a:pt x="90999" y="37363"/>
                </a:lnTo>
                <a:lnTo>
                  <a:pt x="121332" y="49817"/>
                </a:lnTo>
                <a:lnTo>
                  <a:pt x="151665" y="62271"/>
                </a:lnTo>
                <a:lnTo>
                  <a:pt x="181998" y="74725"/>
                </a:lnTo>
                <a:lnTo>
                  <a:pt x="212332" y="87179"/>
                </a:lnTo>
                <a:lnTo>
                  <a:pt x="242665" y="99634"/>
                </a:lnTo>
                <a:lnTo>
                  <a:pt x="272998" y="112088"/>
                </a:lnTo>
                <a:lnTo>
                  <a:pt x="303331" y="124542"/>
                </a:lnTo>
                <a:lnTo>
                  <a:pt x="333664" y="136996"/>
                </a:lnTo>
                <a:lnTo>
                  <a:pt x="363997" y="149450"/>
                </a:lnTo>
                <a:lnTo>
                  <a:pt x="394331" y="161904"/>
                </a:lnTo>
                <a:lnTo>
                  <a:pt x="424664" y="174359"/>
                </a:lnTo>
                <a:lnTo>
                  <a:pt x="454997" y="186813"/>
                </a:lnTo>
                <a:lnTo>
                  <a:pt x="485330" y="199267"/>
                </a:lnTo>
                <a:lnTo>
                  <a:pt x="515663" y="211721"/>
                </a:lnTo>
                <a:lnTo>
                  <a:pt x="545996" y="224175"/>
                </a:lnTo>
                <a:lnTo>
                  <a:pt x="576330" y="236629"/>
                </a:lnTo>
                <a:lnTo>
                  <a:pt x="606663" y="249084"/>
                </a:lnTo>
                <a:lnTo>
                  <a:pt x="636996" y="261538"/>
                </a:lnTo>
                <a:lnTo>
                  <a:pt x="667329" y="273992"/>
                </a:lnTo>
                <a:lnTo>
                  <a:pt x="697662" y="286446"/>
                </a:lnTo>
                <a:lnTo>
                  <a:pt x="727995" y="298900"/>
                </a:lnTo>
                <a:lnTo>
                  <a:pt x="758329" y="311354"/>
                </a:lnTo>
                <a:lnTo>
                  <a:pt x="788662" y="323809"/>
                </a:lnTo>
                <a:lnTo>
                  <a:pt x="818995" y="336263"/>
                </a:lnTo>
                <a:lnTo>
                  <a:pt x="849328" y="348717"/>
                </a:lnTo>
                <a:lnTo>
                  <a:pt x="879661" y="361171"/>
                </a:lnTo>
                <a:lnTo>
                  <a:pt x="909994" y="373625"/>
                </a:lnTo>
                <a:lnTo>
                  <a:pt x="940328" y="386079"/>
                </a:lnTo>
                <a:lnTo>
                  <a:pt x="970661" y="398534"/>
                </a:lnTo>
                <a:lnTo>
                  <a:pt x="1000994" y="410988"/>
                </a:lnTo>
                <a:lnTo>
                  <a:pt x="1031327" y="423442"/>
                </a:lnTo>
                <a:lnTo>
                  <a:pt x="1061660" y="435896"/>
                </a:lnTo>
                <a:lnTo>
                  <a:pt x="1091993" y="448350"/>
                </a:lnTo>
                <a:lnTo>
                  <a:pt x="1122326" y="460804"/>
                </a:lnTo>
                <a:lnTo>
                  <a:pt x="1152660" y="473259"/>
                </a:lnTo>
                <a:lnTo>
                  <a:pt x="1182993" y="485713"/>
                </a:lnTo>
                <a:lnTo>
                  <a:pt x="1213326" y="498167"/>
                </a:lnTo>
                <a:lnTo>
                  <a:pt x="1243659" y="510621"/>
                </a:lnTo>
                <a:lnTo>
                  <a:pt x="1273992" y="523075"/>
                </a:lnTo>
                <a:lnTo>
                  <a:pt x="1304325" y="535529"/>
                </a:lnTo>
                <a:lnTo>
                  <a:pt x="1334659" y="547984"/>
                </a:lnTo>
                <a:lnTo>
                  <a:pt x="1364992" y="560438"/>
                </a:lnTo>
                <a:lnTo>
                  <a:pt x="1395325" y="572892"/>
                </a:lnTo>
                <a:lnTo>
                  <a:pt x="1425658" y="585346"/>
                </a:lnTo>
                <a:lnTo>
                  <a:pt x="1455991" y="597800"/>
                </a:lnTo>
                <a:lnTo>
                  <a:pt x="1486324" y="610254"/>
                </a:lnTo>
                <a:lnTo>
                  <a:pt x="1516658" y="622709"/>
                </a:lnTo>
                <a:lnTo>
                  <a:pt x="1546991" y="635163"/>
                </a:lnTo>
                <a:lnTo>
                  <a:pt x="1577324" y="647617"/>
                </a:lnTo>
                <a:lnTo>
                  <a:pt x="1607657" y="660071"/>
                </a:lnTo>
                <a:lnTo>
                  <a:pt x="1637990" y="672525"/>
                </a:lnTo>
                <a:lnTo>
                  <a:pt x="1668323" y="684979"/>
                </a:lnTo>
                <a:lnTo>
                  <a:pt x="1698657" y="697434"/>
                </a:lnTo>
                <a:lnTo>
                  <a:pt x="1728990" y="709888"/>
                </a:lnTo>
                <a:lnTo>
                  <a:pt x="1759323" y="722342"/>
                </a:lnTo>
                <a:lnTo>
                  <a:pt x="1789656" y="734796"/>
                </a:lnTo>
                <a:lnTo>
                  <a:pt x="1819989" y="747250"/>
                </a:lnTo>
                <a:lnTo>
                  <a:pt x="1850322" y="759704"/>
                </a:lnTo>
                <a:lnTo>
                  <a:pt x="1880656" y="772159"/>
                </a:lnTo>
                <a:lnTo>
                  <a:pt x="1910989" y="784613"/>
                </a:lnTo>
                <a:lnTo>
                  <a:pt x="1941322" y="797067"/>
                </a:lnTo>
                <a:lnTo>
                  <a:pt x="1971655" y="809521"/>
                </a:lnTo>
                <a:lnTo>
                  <a:pt x="2001988" y="821975"/>
                </a:lnTo>
                <a:lnTo>
                  <a:pt x="2032321" y="834429"/>
                </a:lnTo>
                <a:lnTo>
                  <a:pt x="2062655" y="846884"/>
                </a:lnTo>
                <a:lnTo>
                  <a:pt x="2092988" y="859338"/>
                </a:lnTo>
                <a:lnTo>
                  <a:pt x="2123321" y="871792"/>
                </a:lnTo>
                <a:lnTo>
                  <a:pt x="2153654" y="884246"/>
                </a:lnTo>
                <a:lnTo>
                  <a:pt x="2183987" y="896700"/>
                </a:lnTo>
                <a:lnTo>
                  <a:pt x="2214320" y="909154"/>
                </a:lnTo>
                <a:lnTo>
                  <a:pt x="2244653" y="921609"/>
                </a:lnTo>
                <a:lnTo>
                  <a:pt x="2274987" y="934063"/>
                </a:lnTo>
                <a:lnTo>
                  <a:pt x="2305320" y="946517"/>
                </a:lnTo>
                <a:lnTo>
                  <a:pt x="2335653" y="958971"/>
                </a:lnTo>
                <a:lnTo>
                  <a:pt x="2365986" y="971425"/>
                </a:lnTo>
                <a:lnTo>
                  <a:pt x="2396319" y="983879"/>
                </a:lnTo>
                <a:lnTo>
                  <a:pt x="2426652" y="996334"/>
                </a:lnTo>
                <a:lnTo>
                  <a:pt x="2456986" y="1008788"/>
                </a:lnTo>
                <a:lnTo>
                  <a:pt x="2487319" y="1021242"/>
                </a:lnTo>
                <a:lnTo>
                  <a:pt x="2517652" y="1033696"/>
                </a:lnTo>
                <a:lnTo>
                  <a:pt x="2547985" y="1046150"/>
                </a:lnTo>
                <a:lnTo>
                  <a:pt x="2578318" y="1058604"/>
                </a:lnTo>
                <a:lnTo>
                  <a:pt x="2608651" y="1071059"/>
                </a:lnTo>
                <a:lnTo>
                  <a:pt x="2638985" y="1083513"/>
                </a:lnTo>
                <a:lnTo>
                  <a:pt x="2669318" y="1095967"/>
                </a:lnTo>
                <a:lnTo>
                  <a:pt x="2699651" y="1108421"/>
                </a:lnTo>
                <a:lnTo>
                  <a:pt x="2729984" y="1120875"/>
                </a:lnTo>
                <a:lnTo>
                  <a:pt x="2760317" y="1133329"/>
                </a:lnTo>
                <a:lnTo>
                  <a:pt x="2790650" y="1145784"/>
                </a:lnTo>
                <a:lnTo>
                  <a:pt x="2820984" y="1158238"/>
                </a:lnTo>
                <a:lnTo>
                  <a:pt x="2851317" y="1170692"/>
                </a:lnTo>
                <a:lnTo>
                  <a:pt x="2881650" y="1183146"/>
                </a:lnTo>
                <a:lnTo>
                  <a:pt x="2911983" y="1195600"/>
                </a:lnTo>
                <a:lnTo>
                  <a:pt x="2942316" y="1208054"/>
                </a:lnTo>
                <a:lnTo>
                  <a:pt x="2972649" y="1220509"/>
                </a:lnTo>
                <a:lnTo>
                  <a:pt x="3002983" y="1232963"/>
                </a:lnTo>
                <a:lnTo>
                  <a:pt x="3033316" y="1245417"/>
                </a:lnTo>
                <a:lnTo>
                  <a:pt x="3063649" y="1257871"/>
                </a:lnTo>
                <a:lnTo>
                  <a:pt x="3093982" y="1270325"/>
                </a:lnTo>
                <a:lnTo>
                  <a:pt x="3124315" y="1282779"/>
                </a:lnTo>
                <a:lnTo>
                  <a:pt x="3154648" y="1295234"/>
                </a:lnTo>
                <a:lnTo>
                  <a:pt x="3184982" y="1307688"/>
                </a:lnTo>
                <a:lnTo>
                  <a:pt x="3215315" y="1320142"/>
                </a:lnTo>
                <a:lnTo>
                  <a:pt x="3245648" y="1332596"/>
                </a:lnTo>
                <a:lnTo>
                  <a:pt x="3275981" y="1345050"/>
                </a:lnTo>
                <a:lnTo>
                  <a:pt x="3306314" y="1357504"/>
                </a:lnTo>
                <a:lnTo>
                  <a:pt x="3336647" y="1369959"/>
                </a:lnTo>
                <a:lnTo>
                  <a:pt x="3366980" y="1382413"/>
                </a:lnTo>
                <a:lnTo>
                  <a:pt x="3397314" y="1394867"/>
                </a:lnTo>
                <a:lnTo>
                  <a:pt x="3427647" y="1407321"/>
                </a:lnTo>
                <a:lnTo>
                  <a:pt x="3457980" y="1419775"/>
                </a:lnTo>
                <a:lnTo>
                  <a:pt x="3488313" y="1432229"/>
                </a:lnTo>
                <a:lnTo>
                  <a:pt x="3518646" y="1444683"/>
                </a:lnTo>
                <a:lnTo>
                  <a:pt x="3548979" y="1457138"/>
                </a:lnTo>
                <a:lnTo>
                  <a:pt x="3579313" y="1469592"/>
                </a:lnTo>
                <a:lnTo>
                  <a:pt x="3609646" y="1482046"/>
                </a:lnTo>
                <a:lnTo>
                  <a:pt x="3639979" y="1494500"/>
                </a:lnTo>
                <a:lnTo>
                  <a:pt x="3670312" y="1506954"/>
                </a:lnTo>
                <a:lnTo>
                  <a:pt x="3700645" y="1519408"/>
                </a:lnTo>
                <a:lnTo>
                  <a:pt x="3730978" y="1531863"/>
                </a:lnTo>
                <a:lnTo>
                  <a:pt x="3761312" y="1544317"/>
                </a:lnTo>
                <a:lnTo>
                  <a:pt x="3791645" y="1556771"/>
                </a:lnTo>
                <a:lnTo>
                  <a:pt x="3821978" y="1569225"/>
                </a:lnTo>
                <a:lnTo>
                  <a:pt x="3852311" y="1581679"/>
                </a:lnTo>
                <a:lnTo>
                  <a:pt x="3882644" y="1594133"/>
                </a:lnTo>
                <a:lnTo>
                  <a:pt x="3912977" y="1606588"/>
                </a:lnTo>
                <a:lnTo>
                  <a:pt x="3943311" y="1619042"/>
                </a:lnTo>
                <a:lnTo>
                  <a:pt x="3973644" y="1631496"/>
                </a:lnTo>
                <a:lnTo>
                  <a:pt x="4003977" y="1643950"/>
                </a:lnTo>
                <a:lnTo>
                  <a:pt x="4034310" y="1656404"/>
                </a:lnTo>
                <a:lnTo>
                  <a:pt x="4064643" y="1668858"/>
                </a:lnTo>
                <a:lnTo>
                  <a:pt x="4094976" y="1681313"/>
                </a:lnTo>
                <a:lnTo>
                  <a:pt x="4125310" y="1693767"/>
                </a:lnTo>
                <a:lnTo>
                  <a:pt x="4155643" y="1706221"/>
                </a:lnTo>
                <a:lnTo>
                  <a:pt x="4185976" y="1718675"/>
                </a:lnTo>
                <a:lnTo>
                  <a:pt x="4216309" y="1731129"/>
                </a:lnTo>
                <a:lnTo>
                  <a:pt x="4246642" y="1743583"/>
                </a:lnTo>
                <a:lnTo>
                  <a:pt x="4276975" y="1756038"/>
                </a:lnTo>
                <a:lnTo>
                  <a:pt x="4307309" y="1768492"/>
                </a:lnTo>
                <a:lnTo>
                  <a:pt x="4337642" y="1780946"/>
                </a:lnTo>
                <a:lnTo>
                  <a:pt x="4367975" y="1793400"/>
                </a:lnTo>
                <a:lnTo>
                  <a:pt x="4398308" y="1805854"/>
                </a:lnTo>
                <a:lnTo>
                  <a:pt x="4428641" y="1818308"/>
                </a:lnTo>
                <a:lnTo>
                  <a:pt x="4458974" y="1830763"/>
                </a:lnTo>
                <a:lnTo>
                  <a:pt x="4489307" y="1843217"/>
                </a:lnTo>
                <a:lnTo>
                  <a:pt x="4519641" y="1855671"/>
                </a:lnTo>
                <a:lnTo>
                  <a:pt x="4549974" y="1868125"/>
                </a:lnTo>
                <a:lnTo>
                  <a:pt x="4580307" y="1880579"/>
                </a:lnTo>
                <a:lnTo>
                  <a:pt x="4610640" y="1893033"/>
                </a:lnTo>
                <a:lnTo>
                  <a:pt x="4640973" y="1905488"/>
                </a:lnTo>
                <a:lnTo>
                  <a:pt x="4671306" y="1917942"/>
                </a:lnTo>
                <a:lnTo>
                  <a:pt x="4701640" y="1930396"/>
                </a:lnTo>
                <a:lnTo>
                  <a:pt x="4731973" y="1942850"/>
                </a:lnTo>
                <a:lnTo>
                  <a:pt x="4762306" y="1955304"/>
                </a:lnTo>
                <a:lnTo>
                  <a:pt x="4792639" y="1967758"/>
                </a:lnTo>
                <a:lnTo>
                  <a:pt x="4822972" y="1980213"/>
                </a:lnTo>
                <a:lnTo>
                  <a:pt x="4853305" y="1992667"/>
                </a:lnTo>
                <a:lnTo>
                  <a:pt x="4883639" y="2005121"/>
                </a:lnTo>
                <a:lnTo>
                  <a:pt x="4913972" y="2017575"/>
                </a:lnTo>
                <a:lnTo>
                  <a:pt x="4944305" y="2030029"/>
                </a:lnTo>
                <a:lnTo>
                  <a:pt x="4974638" y="2042483"/>
                </a:lnTo>
                <a:lnTo>
                  <a:pt x="5004971" y="2054938"/>
                </a:lnTo>
                <a:lnTo>
                  <a:pt x="5035304" y="2067392"/>
                </a:lnTo>
                <a:lnTo>
                  <a:pt x="5065638" y="2079846"/>
                </a:lnTo>
                <a:lnTo>
                  <a:pt x="5095971" y="2092300"/>
                </a:lnTo>
                <a:lnTo>
                  <a:pt x="5126304" y="2104754"/>
                </a:lnTo>
                <a:lnTo>
                  <a:pt x="5156637" y="2117208"/>
                </a:lnTo>
                <a:lnTo>
                  <a:pt x="5186970" y="2129663"/>
                </a:lnTo>
                <a:lnTo>
                  <a:pt x="5217303" y="2142117"/>
                </a:lnTo>
                <a:lnTo>
                  <a:pt x="5247637" y="2154571"/>
                </a:lnTo>
                <a:lnTo>
                  <a:pt x="5277970" y="2167025"/>
                </a:lnTo>
                <a:lnTo>
                  <a:pt x="5308303" y="2179479"/>
                </a:lnTo>
                <a:lnTo>
                  <a:pt x="5338636" y="2191933"/>
                </a:lnTo>
                <a:lnTo>
                  <a:pt x="5368969" y="2204388"/>
                </a:lnTo>
                <a:lnTo>
                  <a:pt x="5399302" y="2216842"/>
                </a:lnTo>
                <a:lnTo>
                  <a:pt x="5429636" y="2229296"/>
                </a:lnTo>
                <a:lnTo>
                  <a:pt x="5459969" y="2241750"/>
                </a:lnTo>
                <a:lnTo>
                  <a:pt x="5490302" y="2254204"/>
                </a:lnTo>
                <a:lnTo>
                  <a:pt x="5520635" y="2266658"/>
                </a:lnTo>
                <a:lnTo>
                  <a:pt x="5550968" y="2279113"/>
                </a:lnTo>
                <a:lnTo>
                  <a:pt x="5581301" y="2291567"/>
                </a:lnTo>
                <a:lnTo>
                  <a:pt x="5611634" y="2304021"/>
                </a:lnTo>
                <a:lnTo>
                  <a:pt x="5641968" y="2316475"/>
                </a:lnTo>
                <a:lnTo>
                  <a:pt x="5672301" y="2328929"/>
                </a:lnTo>
                <a:lnTo>
                  <a:pt x="5702634" y="2341383"/>
                </a:lnTo>
                <a:lnTo>
                  <a:pt x="5732967" y="2353838"/>
                </a:lnTo>
                <a:lnTo>
                  <a:pt x="5763300" y="2366292"/>
                </a:lnTo>
                <a:lnTo>
                  <a:pt x="5793633" y="2378746"/>
                </a:lnTo>
                <a:lnTo>
                  <a:pt x="5823967" y="2391200"/>
                </a:lnTo>
                <a:lnTo>
                  <a:pt x="5854300" y="2403654"/>
                </a:lnTo>
                <a:lnTo>
                  <a:pt x="5884633" y="2416108"/>
                </a:lnTo>
                <a:lnTo>
                  <a:pt x="5914966" y="2428563"/>
                </a:lnTo>
                <a:lnTo>
                  <a:pt x="5945299" y="2441017"/>
                </a:lnTo>
                <a:lnTo>
                  <a:pt x="5975632" y="2453471"/>
                </a:lnTo>
                <a:lnTo>
                  <a:pt x="6005966" y="2465925"/>
                </a:lnTo>
              </a:path>
            </a:pathLst>
          </a:custGeom>
          <a:noFill/>
          <a:ln w="3810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3-E27 text 32" descr="sci-ppt:o032"/>
          <p:cNvSpPr txBox="1"/>
          <p:nvPr/>
        </p:nvSpPr>
        <p:spPr>
          <a:xfrm>
            <a:off x="1154124" y="4454879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|p̄| = p₀ τ_eq/τₒ  (actual mean)</a:t>
            </a:r>
          </a:p>
        </p:txBody>
      </p:sp>
      <p:sp>
        <p:nvSpPr>
          <p:cNvPr id="35" name="C3-E27 text 33" descr="sci-ppt:o033"/>
          <p:cNvSpPr txBox="1"/>
          <p:nvPr/>
        </p:nvSpPr>
        <p:spPr>
          <a:xfrm>
            <a:off x="2365529" y="1770614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bound √(Zₗ E_w / A_oτₒ) = p₀ √(τ_eq/τₒ)</a:t>
            </a:r>
          </a:p>
        </p:txBody>
      </p:sp>
      <p:sp>
        <p:nvSpPr>
          <p:cNvPr id="36" name="C3-E27 round_rect 34" descr="sci-ppt:o034"/>
          <p:cNvSpPr/>
          <p:nvPr/>
        </p:nvSpPr>
        <p:spPr>
          <a:xfrm>
            <a:off x="7223760" y="1371600"/>
            <a:ext cx="461772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27 text 35" descr="sci-ppt:o035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Finite window, finite energy</a:t>
            </a:r>
          </a:p>
        </p:txBody>
      </p:sp>
      <p:sp>
        <p:nvSpPr>
          <p:cNvPr id="38" name="C3-E27 text 36" descr="sci-ppt:o036"/>
          <p:cNvSpPr txBox="1"/>
          <p:nvPr/>
        </p:nvSpPr>
        <p:spPr>
          <a:xfrm>
            <a:off x="7360920" y="1828800"/>
            <a:ext cx="4389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E_w = ∫∫ p′²/Zₗ dA dt</a:t>
            </a:r>
          </a:p>
        </p:txBody>
      </p:sp>
      <p:sp>
        <p:nvSpPr>
          <p:cNvPr id="39" name="C3-E27 text 37" descr="sci-ppt:o037"/>
          <p:cNvSpPr txBox="1"/>
          <p:nvPr/>
        </p:nvSpPr>
        <p:spPr>
          <a:xfrm>
            <a:off x="7360920" y="2286000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|p̄|² ≤ (1/A_oτₒ) ∫∫ p′² dA dt = Zₗ E_w/(A_oτₒ)</a:t>
            </a:r>
          </a:p>
        </p:txBody>
      </p:sp>
      <p:sp>
        <p:nvSpPr>
          <p:cNvPr id="40" name="C3-E27 text 38" descr="sci-ppt:o038"/>
          <p:cNvSpPr txBox="1"/>
          <p:nvPr/>
        </p:nvSpPr>
        <p:spPr>
          <a:xfrm>
            <a:off x="7562088" y="2926080"/>
            <a:ext cx="418795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Mean ≤ root-mean-square (Cauchy–Schwarz).</a:t>
            </a:r>
          </a:p>
        </p:txBody>
      </p:sp>
      <p:sp>
        <p:nvSpPr>
          <p:cNvPr id="41" name="C3-E27 ellipse 39" descr="sci-ppt:o039"/>
          <p:cNvSpPr/>
          <p:nvPr/>
        </p:nvSpPr>
        <p:spPr>
          <a:xfrm>
            <a:off x="7392924" y="29794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27 text 40" descr="sci-ppt:o040"/>
          <p:cNvSpPr txBox="1"/>
          <p:nvPr/>
        </p:nvSpPr>
        <p:spPr>
          <a:xfrm>
            <a:off x="7562088" y="3203448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bound uses the one-way wave relation u′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p′/Zₗ.</a:t>
            </a:r>
          </a:p>
        </p:txBody>
      </p:sp>
      <p:sp>
        <p:nvSpPr>
          <p:cNvPr id="43" name="C3-E27 ellipse 41" descr="sci-ppt:o041"/>
          <p:cNvSpPr/>
          <p:nvPr/>
        </p:nvSpPr>
        <p:spPr>
          <a:xfrm>
            <a:off x="7392924" y="325678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27 text 42" descr="sci-ppt:o042"/>
          <p:cNvSpPr txBox="1"/>
          <p:nvPr/>
        </p:nvSpPr>
        <p:spPr>
          <a:xfrm>
            <a:off x="7562088" y="3666744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point spike with no measured area or time cannot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stand for delivered loading.</a:t>
            </a:r>
          </a:p>
        </p:txBody>
      </p:sp>
      <p:sp>
        <p:nvSpPr>
          <p:cNvPr id="45" name="C3-E27 ellipse 43" descr="sci-ppt:o043"/>
          <p:cNvSpPr/>
          <p:nvPr/>
        </p:nvSpPr>
        <p:spPr>
          <a:xfrm>
            <a:off x="7392924" y="372008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27 text 44" descr="sci-ppt:o044"/>
          <p:cNvSpPr txBox="1"/>
          <p:nvPr/>
        </p:nvSpPr>
        <p:spPr>
          <a:xfrm>
            <a:off x="914400" y="5486400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For a window longer than the pulse the true mean falls as 1/x while the energy bound falls only as 1/√x: the bound is safe, not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tight.</a:t>
            </a:r>
          </a:p>
        </p:txBody>
      </p:sp>
      <p:sp>
        <p:nvSpPr>
          <p:cNvPr id="47" name="C3-E27 text 45" descr="sci-ppt:o04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One-way-wave energy bound of Eq. C3-E27 evaluated for a rectangular pulse of amplitude p₀ and duration τ_eq.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