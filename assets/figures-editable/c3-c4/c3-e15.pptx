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15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C3-E15 · Normal stress and material Bernoulli condition</a:t>
            </a:r>
          </a:p>
        </p:txBody>
      </p:sp>
      <p:sp>
        <p:nvSpPr>
          <p:cNvPr id="3" name="C3-E15 round_rect 1" descr="sci-ppt:o001"/>
          <p:cNvSpPr/>
          <p:nvPr/>
        </p:nvSpPr>
        <p:spPr>
          <a:xfrm>
            <a:off x="365760" y="914400"/>
            <a:ext cx="3657600" cy="40233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3-E15 text 2" descr="sci-ppt:o002"/>
          <p:cNvSpPr txBox="1"/>
          <p:nvPr/>
        </p:nvSpPr>
        <p:spPr>
          <a:xfrm>
            <a:off x="475488" y="969264"/>
            <a:ext cx="34381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Cavity (gas inside liquid)</a:t>
            </a:r>
          </a:p>
        </p:txBody>
      </p:sp>
      <p:sp>
        <p:nvSpPr>
          <p:cNvPr id="5" name="C3-E15 ellipse 3" descr="sci-ppt:o003"/>
          <p:cNvSpPr/>
          <p:nvPr/>
        </p:nvSpPr>
        <p:spPr>
          <a:xfrm>
            <a:off x="1417319" y="2057400"/>
            <a:ext cx="1554480" cy="155448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" name="C3-E15 arrow 4" descr="sci-ppt:o004"/>
          <p:cNvCxnSpPr/>
          <p:nvPr/>
        </p:nvCxnSpPr>
        <p:spPr>
          <a:xfrm flipH="1">
            <a:off x="2404701" y="2335039"/>
            <a:ext cx="385259" cy="323271"/>
          </a:xfrm>
          <a:prstGeom prst="line">
            <a:avLst/>
          </a:prstGeom>
          <a:ln w="38100">
            <a:solidFill>
              <a:srgbClr val="F28BA0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7" name="C3-E15 arrow 5" descr="sci-ppt:o005"/>
          <p:cNvCxnSpPr/>
          <p:nvPr/>
        </p:nvCxnSpPr>
        <p:spPr>
          <a:xfrm>
            <a:off x="1599159" y="2335039"/>
            <a:ext cx="385259" cy="323271"/>
          </a:xfrm>
          <a:prstGeom prst="line">
            <a:avLst/>
          </a:prstGeom>
          <a:ln w="38100">
            <a:solidFill>
              <a:srgbClr val="F28BA0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8" name="C3-E15 arrow 6" descr="sci-ppt:o006"/>
          <p:cNvCxnSpPr/>
          <p:nvPr/>
        </p:nvCxnSpPr>
        <p:spPr>
          <a:xfrm flipV="1">
            <a:off x="1928728" y="3092416"/>
            <a:ext cx="172009" cy="472590"/>
          </a:xfrm>
          <a:prstGeom prst="line">
            <a:avLst/>
          </a:prstGeom>
          <a:ln w="38100">
            <a:solidFill>
              <a:srgbClr val="F28BA0"/>
            </a:solidFill>
            <a:headEnd type="none" w="med" len="med"/>
            <a:tailEnd type="triangle" w="med" len="med"/>
          </a:ln>
          <a:effectLst/>
        </p:spPr>
      </p:cxnSp>
      <p:sp>
        <p:nvSpPr>
          <p:cNvPr id="9" name="C3-E15 text 7" descr="sci-ppt:o007"/>
          <p:cNvSpPr txBox="1"/>
          <p:nvPr/>
        </p:nvSpPr>
        <p:spPr>
          <a:xfrm>
            <a:off x="548640" y="3840480"/>
            <a:ext cx="32918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8BA0"/>
                </a:solidFill>
                <a:latin typeface="Arial"/>
              </a:rPr>
              <a:t>n points into the gas</a:t>
            </a:r>
          </a:p>
        </p:txBody>
      </p:sp>
      <p:sp>
        <p:nvSpPr>
          <p:cNvPr id="10" name="C3-E15 text 8" descr="sci-ppt:o008"/>
          <p:cNvSpPr txBox="1"/>
          <p:nvPr/>
        </p:nvSpPr>
        <p:spPr>
          <a:xfrm>
            <a:off x="548640" y="4251960"/>
            <a:ext cx="329184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κ = −2/R,  pₗ = p_g − 2σ/R</a:t>
            </a:r>
          </a:p>
        </p:txBody>
      </p:sp>
      <p:sp>
        <p:nvSpPr>
          <p:cNvPr id="11" name="C3-E15 text 9" descr="sci-ppt:o009"/>
          <p:cNvSpPr txBox="1"/>
          <p:nvPr/>
        </p:nvSpPr>
        <p:spPr>
          <a:xfrm>
            <a:off x="548640" y="4617720"/>
            <a:ext cx="32918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R = 10 µm: −2σ/R = -14.4 kPa</a:t>
            </a:r>
          </a:p>
        </p:txBody>
      </p:sp>
      <p:sp>
        <p:nvSpPr>
          <p:cNvPr id="12" name="C3-E15 round_rect 10" descr="sci-ppt:o010"/>
          <p:cNvSpPr/>
          <p:nvPr/>
        </p:nvSpPr>
        <p:spPr>
          <a:xfrm>
            <a:off x="4206240" y="914400"/>
            <a:ext cx="3657600" cy="40233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3-E15 text 11" descr="sci-ppt:o011"/>
          <p:cNvSpPr txBox="1"/>
          <p:nvPr/>
        </p:nvSpPr>
        <p:spPr>
          <a:xfrm>
            <a:off x="4315968" y="969264"/>
            <a:ext cx="34381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F2B880"/>
                </a:solidFill>
                <a:latin typeface="Arial"/>
              </a:rPr>
              <a:t>Liquid jet (liquid inside gas)</a:t>
            </a:r>
          </a:p>
        </p:txBody>
      </p:sp>
      <p:sp>
        <p:nvSpPr>
          <p:cNvPr id="14" name="C3-E15 rect 12" descr="sci-ppt:o012"/>
          <p:cNvSpPr/>
          <p:nvPr/>
        </p:nvSpPr>
        <p:spPr>
          <a:xfrm>
            <a:off x="5120640" y="1737360"/>
            <a:ext cx="1828800" cy="1554480"/>
          </a:xfrm>
          <a:prstGeom prst="rect">
            <a:avLst/>
          </a:prstGeom>
          <a:solidFill>
            <a:srgbClr val="1E4A5A"/>
          </a:solidFill>
          <a:ln w="3048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5" name="C3-E15 line 13" descr="sci-ppt:o013"/>
          <p:cNvCxnSpPr/>
          <p:nvPr/>
        </p:nvCxnSpPr>
        <p:spPr>
          <a:xfrm>
            <a:off x="5120640" y="3291840"/>
            <a:ext cx="1828800" cy="0"/>
          </a:xfrm>
          <a:prstGeom prst="line">
            <a:avLst/>
          </a:prstGeom>
          <a:ln w="30480">
            <a:solidFill>
              <a:srgbClr val="8EDBD4"/>
            </a:solidFill>
          </a:ln>
          <a:effectLst/>
        </p:spPr>
      </p:cxnSp>
      <p:cxnSp>
        <p:nvCxnSpPr>
          <p:cNvPr id="16" name="C3-E15 arrow 14" descr="sci-ppt:o014"/>
          <p:cNvCxnSpPr/>
          <p:nvPr/>
        </p:nvCxnSpPr>
        <p:spPr>
          <a:xfrm flipV="1">
            <a:off x="5486400" y="1234440"/>
            <a:ext cx="0" cy="502920"/>
          </a:xfrm>
          <a:prstGeom prst="line">
            <a:avLst/>
          </a:prstGeom>
          <a:ln w="38100">
            <a:solidFill>
              <a:srgbClr val="F28BA0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7" name="C3-E15 arrow 15" descr="sci-ppt:o015"/>
          <p:cNvCxnSpPr/>
          <p:nvPr/>
        </p:nvCxnSpPr>
        <p:spPr>
          <a:xfrm flipV="1">
            <a:off x="6583680" y="1234440"/>
            <a:ext cx="0" cy="502920"/>
          </a:xfrm>
          <a:prstGeom prst="line">
            <a:avLst/>
          </a:prstGeom>
          <a:ln w="38100">
            <a:solidFill>
              <a:srgbClr val="F28BA0"/>
            </a:solidFill>
            <a:headEnd type="none" w="med" len="med"/>
            <a:tailEnd type="triangle" w="med" len="med"/>
          </a:ln>
          <a:effectLst/>
        </p:spPr>
      </p:cxnSp>
      <p:sp>
        <p:nvSpPr>
          <p:cNvPr id="18" name="C3-E15 text 16" descr="sci-ppt:o016"/>
          <p:cNvSpPr txBox="1"/>
          <p:nvPr/>
        </p:nvSpPr>
        <p:spPr>
          <a:xfrm>
            <a:off x="4389120" y="3840480"/>
            <a:ext cx="32918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8BA0"/>
                </a:solidFill>
                <a:latin typeface="Arial"/>
              </a:rPr>
              <a:t>n points out into the gas</a:t>
            </a:r>
          </a:p>
        </p:txBody>
      </p:sp>
      <p:sp>
        <p:nvSpPr>
          <p:cNvPr id="19" name="C3-E15 text 17" descr="sci-ppt:o017"/>
          <p:cNvSpPr txBox="1"/>
          <p:nvPr/>
        </p:nvSpPr>
        <p:spPr>
          <a:xfrm>
            <a:off x="4389120" y="4251960"/>
            <a:ext cx="329184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κ = +1/aⱼ,  pₗ = p_g + σ/aⱼ</a:t>
            </a:r>
          </a:p>
        </p:txBody>
      </p:sp>
      <p:sp>
        <p:nvSpPr>
          <p:cNvPr id="20" name="C3-E15 text 18" descr="sci-ppt:o018"/>
          <p:cNvSpPr txBox="1"/>
          <p:nvPr/>
        </p:nvSpPr>
        <p:spPr>
          <a:xfrm>
            <a:off x="4389120" y="4617720"/>
            <a:ext cx="32918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aⱼ = 5 µm: +σ/aⱼ = +14.4 kPa</a:t>
            </a:r>
          </a:p>
        </p:txBody>
      </p:sp>
      <p:sp>
        <p:nvSpPr>
          <p:cNvPr id="21" name="C3-E15 round_rect 19" descr="sci-ppt:o019"/>
          <p:cNvSpPr/>
          <p:nvPr/>
        </p:nvSpPr>
        <p:spPr>
          <a:xfrm>
            <a:off x="8046720" y="914400"/>
            <a:ext cx="3794760" cy="40233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C3-E15 text 20" descr="sci-ppt:o020"/>
          <p:cNvSpPr txBox="1"/>
          <p:nvPr/>
        </p:nvSpPr>
        <p:spPr>
          <a:xfrm>
            <a:off x="8156448" y="969264"/>
            <a:ext cx="357530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Dynamic condition on Γ</a:t>
            </a:r>
          </a:p>
        </p:txBody>
      </p:sp>
      <p:sp>
        <p:nvSpPr>
          <p:cNvPr id="23" name="C3-E15 text 21" descr="sci-ppt:o021"/>
          <p:cNvSpPr txBox="1"/>
          <p:nvPr/>
        </p:nvSpPr>
        <p:spPr>
          <a:xfrm>
            <a:off x="8183879" y="1371600"/>
            <a:ext cx="356616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pₗ = p_g + σκ,   κ = ∇ₛ·n</a:t>
            </a:r>
          </a:p>
        </p:txBody>
      </p:sp>
      <p:sp>
        <p:nvSpPr>
          <p:cNvPr id="24" name="C3-E15 text 22" descr="sci-ppt:o022"/>
          <p:cNvSpPr txBox="1"/>
          <p:nvPr/>
        </p:nvSpPr>
        <p:spPr>
          <a:xfrm>
            <a:off x="8183879" y="2011680"/>
            <a:ext cx="356616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Dφ_Γ/Dt = ½|∇φ|² + (p∞ − p_g − σκ)/ρ</a:t>
            </a:r>
          </a:p>
        </p:txBody>
      </p:sp>
      <p:sp>
        <p:nvSpPr>
          <p:cNvPr id="25" name="C3-E15 text 23" descr="sci-ppt:o023"/>
          <p:cNvSpPr txBox="1"/>
          <p:nvPr/>
        </p:nvSpPr>
        <p:spPr>
          <a:xfrm>
            <a:off x="8183879" y="2926080"/>
            <a:ext cx="356616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D/Dt = ∂ₜ + u·∇ follows the moving surface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point.</a:t>
            </a:r>
          </a:p>
        </p:txBody>
      </p:sp>
      <p:sp>
        <p:nvSpPr>
          <p:cNvPr id="26" name="C3-E15 text 24" descr="sci-ppt:o024"/>
          <p:cNvSpPr txBox="1"/>
          <p:nvPr/>
        </p:nvSpPr>
        <p:spPr>
          <a:xfrm>
            <a:off x="8183879" y="3657600"/>
            <a:ext cx="356616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A wrong sign of κ reverses the capillary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pressure and the surface evolution.</a:t>
            </a:r>
          </a:p>
        </p:txBody>
      </p:sp>
      <p:sp>
        <p:nvSpPr>
          <p:cNvPr id="27" name="C3-E15 text 25" descr="sci-ppt:o025"/>
          <p:cNvSpPr txBox="1"/>
          <p:nvPr/>
        </p:nvSpPr>
        <p:spPr>
          <a:xfrm>
            <a:off x="457200" y="5212080"/>
            <a:ext cx="113385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2B880"/>
                </a:solidFill>
                <a:latin typeface="Arial"/>
              </a:rPr>
              <a:t>Same σ, opposite signs: a concave-to-liquid cavity lowers the liquid pressure; a liquid cylinder raises it.</a:t>
            </a:r>
          </a:p>
        </p:txBody>
      </p:sp>
      <p:sp>
        <p:nvSpPr>
          <p:cNvPr id="28" name="C3-E15 text 26" descr="sci-ppt:o026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Signed curvature and material Bernoulli condition of Eq. C3-E15 (σ = 0.072 N/m for the example).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