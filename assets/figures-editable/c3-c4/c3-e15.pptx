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15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C3-E15 · Normal stress and material Bernoulli condition</a:t>
            </a:r>
          </a:p>
        </p:txBody>
      </p:sp>
      <p:sp>
        <p:nvSpPr>
          <p:cNvPr id="3" name="C3-E15 rect 1" descr="sci-ppt:o001"/>
          <p:cNvSpPr/>
          <p:nvPr/>
        </p:nvSpPr>
        <p:spPr>
          <a:xfrm>
            <a:off x="822960" y="1051560"/>
            <a:ext cx="9875520" cy="2377440"/>
          </a:xfrm>
          <a:prstGeom prst="rect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3-E15 ellipse 2" descr="sci-ppt:o002"/>
          <p:cNvSpPr/>
          <p:nvPr/>
        </p:nvSpPr>
        <p:spPr>
          <a:xfrm>
            <a:off x="2194560" y="1600200"/>
            <a:ext cx="1280160" cy="1280160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3-E15 text 3" descr="sci-ppt:o003"/>
          <p:cNvSpPr txBox="1"/>
          <p:nvPr/>
        </p:nvSpPr>
        <p:spPr>
          <a:xfrm>
            <a:off x="2423160" y="2057400"/>
            <a:ext cx="1371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p_g</a:t>
            </a:r>
          </a:p>
        </p:txBody>
      </p:sp>
      <p:sp>
        <p:nvSpPr>
          <p:cNvPr id="6" name="C3-E15 text 4" descr="sci-ppt:o004"/>
          <p:cNvSpPr txBox="1"/>
          <p:nvPr/>
        </p:nvSpPr>
        <p:spPr>
          <a:xfrm>
            <a:off x="4663440" y="1874519"/>
            <a:ext cx="429768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E7F0F3"/>
                </a:solidFill>
                <a:latin typeface="Arial"/>
              </a:rPr>
              <a:t>Liquid Ω(t): u = ∇φ</a:t>
            </a:r>
          </a:p>
        </p:txBody>
      </p:sp>
      <p:cxnSp>
        <p:nvCxnSpPr>
          <p:cNvPr id="7" name="C3-E15 arrow 5" descr="sci-ppt:o005"/>
          <p:cNvCxnSpPr/>
          <p:nvPr/>
        </p:nvCxnSpPr>
        <p:spPr>
          <a:xfrm flipH="1">
            <a:off x="3520440" y="2240280"/>
            <a:ext cx="50292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C3-E15 text 6" descr="sci-ppt:o006"/>
          <p:cNvSpPr txBox="1"/>
          <p:nvPr/>
        </p:nvSpPr>
        <p:spPr>
          <a:xfrm>
            <a:off x="3657600" y="2606040"/>
            <a:ext cx="45720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n: liquid → cavity gas</a:t>
            </a:r>
          </a:p>
        </p:txBody>
      </p:sp>
      <p:cxnSp>
        <p:nvCxnSpPr>
          <p:cNvPr id="9" name="C3-E15 arrow 7" descr="sci-ppt:o007"/>
          <p:cNvCxnSpPr/>
          <p:nvPr/>
        </p:nvCxnSpPr>
        <p:spPr>
          <a:xfrm>
            <a:off x="8778240" y="2011680"/>
            <a:ext cx="82296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C3-E15 text 8" descr="sci-ppt:o008"/>
          <p:cNvSpPr txBox="1"/>
          <p:nvPr/>
        </p:nvSpPr>
        <p:spPr>
          <a:xfrm>
            <a:off x="7863840" y="118872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Outlet / meniscus</a:t>
            </a:r>
          </a:p>
        </p:txBody>
      </p:sp>
      <p:sp>
        <p:nvSpPr>
          <p:cNvPr id="11" name="C3-E15 text 9" descr="sci-ppt:o009"/>
          <p:cNvSpPr txBox="1"/>
          <p:nvPr/>
        </p:nvSpPr>
        <p:spPr>
          <a:xfrm>
            <a:off x="1005840" y="594360"/>
            <a:ext cx="100584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Walls, cavity and outlet are distinct boundaries.</a:t>
            </a:r>
          </a:p>
        </p:txBody>
      </p:sp>
      <p:sp>
        <p:nvSpPr>
          <p:cNvPr id="12" name="C3-E15 text 10" descr="sci-ppt:o010"/>
          <p:cNvSpPr txBox="1"/>
          <p:nvPr/>
        </p:nvSpPr>
        <p:spPr>
          <a:xfrm>
            <a:off x="1188720" y="3566160"/>
            <a:ext cx="10058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Cavity κ = −2/R; exterior cylindrical jet κ = +1/a_j.</a:t>
            </a:r>
          </a:p>
        </p:txBody>
      </p:sp>
      <p:cxnSp>
        <p:nvCxnSpPr>
          <p:cNvPr id="13" name="C3-E15 line 11" descr="sci-ppt:o011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4" name="C3-E15 text 12" descr="sci-ppt:o012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p_g gas; p_l adjacent liquid</a:t>
            </a:r>
          </a:p>
        </p:txBody>
      </p:sp>
      <p:sp>
        <p:nvSpPr>
          <p:cNvPr id="15" name="C3-E15 text 13" descr="sci-ppt:o013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n liquid → gas; κ = ∇ₛ·n</a:t>
            </a:r>
          </a:p>
        </p:txBody>
      </p:sp>
      <p:sp>
        <p:nvSpPr>
          <p:cNvPr id="16" name="C3-E15 text 14" descr="sci-ppt:o014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 cavity: κ = −2/R</a:t>
            </a:r>
          </a:p>
        </p:txBody>
      </p:sp>
      <p:sp>
        <p:nvSpPr>
          <p:cNvPr id="17" name="C3-E15 text 15" descr="sci-ppt:o015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a_j exterior jet: κ = 1/a_j</a:t>
            </a:r>
          </a:p>
        </p:txBody>
      </p:sp>
      <p:sp>
        <p:nvSpPr>
          <p:cNvPr id="18" name="C3-E15 text 16" descr="sci-ppt:o016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φ_Γ, ∇φ = u</a:t>
            </a:r>
          </a:p>
        </p:txBody>
      </p:sp>
      <p:sp>
        <p:nvSpPr>
          <p:cNvPr id="19" name="C3-E15 text 17" descr="sci-ppt:o017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p∞, σ, ρ; D/Dt, ∂ₜ, t</a:t>
            </a:r>
          </a:p>
        </p:txBody>
      </p:sp>
      <p:sp>
        <p:nvSpPr>
          <p:cNvPr id="20" name="C3-E15 text 18" descr="sci-ppt:o018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Surface shape and potential evolve together</a:t>
            </a:r>
          </a:p>
        </p:txBody>
      </p:sp>
      <p:sp>
        <p:nvSpPr>
          <p:cNvPr id="21" name="C3-E15 text 19" descr="sci-ppt:o019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Different interfaces can have different surface tensions</a:t>
            </a:r>
          </a:p>
        </p:txBody>
      </p:sp>
      <p:sp>
        <p:nvSpPr>
          <p:cNvPr id="22" name="C3-E15 text 20" descr="sci-ppt:o020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