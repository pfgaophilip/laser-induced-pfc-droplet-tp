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C3-E25 · Finite momentum and early-impact duration conditions</a:t>
            </a:r>
          </a:p>
        </p:txBody>
      </p:sp>
      <p:sp>
        <p:nvSpPr>
          <p:cNvPr id="3" name="C3-E25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5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25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25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25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25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25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sp>
        <p:nvSpPr>
          <p:cNvPr id="10" name="C3-E25 rect 8" descr="sci-ppt:o008"/>
          <p:cNvSpPr/>
          <p:nvPr/>
        </p:nvSpPr>
        <p:spPr>
          <a:xfrm>
            <a:off x="8412480" y="960120"/>
            <a:ext cx="365760" cy="16459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3-E25 arrow 9" descr="sci-ppt:o009"/>
          <p:cNvCxnSpPr/>
          <p:nvPr/>
        </p:nvCxnSpPr>
        <p:spPr>
          <a:xfrm>
            <a:off x="5760720" y="1874519"/>
            <a:ext cx="2606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3-E25 text 10" descr="sci-ppt:o010"/>
          <p:cNvSpPr txBox="1"/>
          <p:nvPr/>
        </p:nvSpPr>
        <p:spPr>
          <a:xfrm>
            <a:off x="9006840" y="1005840"/>
            <a:ext cx="2743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Receiver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Z_r, v_i</a:t>
            </a:r>
          </a:p>
        </p:txBody>
      </p:sp>
      <p:sp>
        <p:nvSpPr>
          <p:cNvPr id="13" name="C3-E25 text 11" descr="sci-ppt:o011"/>
          <p:cNvSpPr txBox="1"/>
          <p:nvPr/>
        </p:nvSpPr>
        <p:spPr>
          <a:xfrm>
            <a:off x="6035040" y="2880360"/>
            <a:ext cx="539496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Early pressure: acoustic matching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Impulse: finite momentum change</a:t>
            </a:r>
          </a:p>
        </p:txBody>
      </p:sp>
      <p:cxnSp>
        <p:nvCxnSpPr>
          <p:cNvPr id="14" name="C3-E25 line 12" descr="sci-ppt:o01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5" name="C3-E25 text 13" descr="sci-ppt:o01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m_j, U_j → P_in</a:t>
            </a:r>
          </a:p>
        </p:txBody>
      </p:sp>
      <p:sp>
        <p:nvSpPr>
          <p:cNvPr id="16" name="C3-E25 text 14" descr="sci-ppt:o01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P_out after redirection or rebound</a:t>
            </a:r>
          </a:p>
        </p:txBody>
      </p:sp>
      <p:sp>
        <p:nvSpPr>
          <p:cNvPr id="17" name="C3-E25 text 15" descr="sci-ppt:o01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J_rec delivered normal impulse</a:t>
            </a:r>
          </a:p>
        </p:txBody>
      </p:sp>
      <p:sp>
        <p:nvSpPr>
          <p:cNvPr id="18" name="C3-E25 text 16" descr="sci-ppt:o01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A_j, a_j, L_j finite plug</a:t>
            </a:r>
          </a:p>
        </p:txBody>
      </p:sp>
      <p:sp>
        <p:nvSpPr>
          <p:cNvPr id="19" name="C3-E25 text 17" descr="sci-ppt:o01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ρcU_j fictitious rectangular pressure</a:t>
            </a:r>
          </a:p>
        </p:txBody>
      </p:sp>
      <p:sp>
        <p:nvSpPr>
          <p:cNvPr id="20" name="C3-E25 text 18" descr="sci-ppt:o01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τ_eq = L_j/c</a:t>
            </a:r>
          </a:p>
        </p:txBody>
      </p:sp>
      <p:sp>
        <p:nvSpPr>
          <p:cNvPr id="21" name="C3-E25 text 19" descr="sci-ppt:o01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t_side, t_axial, t_early, t_return</a:t>
            </a:r>
          </a:p>
        </p:txBody>
      </p:sp>
      <p:sp>
        <p:nvSpPr>
          <p:cNvPr id="22" name="C3-E25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Equivalent duration is not a predicted pulse shape</a:t>
            </a:r>
          </a:p>
        </p:txBody>
      </p:sp>
      <p:sp>
        <p:nvSpPr>
          <p:cNvPr id="23" name="C3-E25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free side can release the central pressure earlier</a:t>
            </a:r>
          </a:p>
        </p:txBody>
      </p:sp>
      <p:sp>
        <p:nvSpPr>
          <p:cNvPr id="24" name="C3-E25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