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C4-E33 · Energy–momentum compatibility check</a:t>
            </a:r>
          </a:p>
        </p:txBody>
      </p:sp>
      <p:sp>
        <p:nvSpPr>
          <p:cNvPr id="3" name="C4-E33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Do the energy and momentum budgets describe the same motion?</a:t>
            </a:r>
          </a:p>
        </p:txBody>
      </p:sp>
      <p:cxnSp>
        <p:nvCxnSpPr>
          <p:cNvPr id="4" name="C4-E33 line 2" descr="sci-ppt:o002"/>
          <p:cNvCxnSpPr/>
          <p:nvPr/>
        </p:nvCxnSpPr>
        <p:spPr>
          <a:xfrm>
            <a:off x="914400" y="484632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4-E33 line 3" descr="sci-ppt:o003"/>
          <p:cNvCxnSpPr/>
          <p:nvPr/>
        </p:nvCxnSpPr>
        <p:spPr>
          <a:xfrm>
            <a:off x="914400" y="1828800"/>
            <a:ext cx="0" cy="301752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6" name="C4-E33 line 4" descr="sci-ppt:o004"/>
          <p:cNvCxnSpPr/>
          <p:nvPr/>
        </p:nvCxnSpPr>
        <p:spPr>
          <a:xfrm>
            <a:off x="91440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4-E33 line 5" descr="sci-ppt:o005"/>
          <p:cNvCxnSpPr/>
          <p:nvPr/>
        </p:nvCxnSpPr>
        <p:spPr>
          <a:xfrm>
            <a:off x="91440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8" name="C4-E33 text 6" descr="sci-ppt:o006"/>
          <p:cNvSpPr txBox="1"/>
          <p:nvPr/>
        </p:nvSpPr>
        <p:spPr>
          <a:xfrm>
            <a:off x="45720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9" name="C4-E33 line 7" descr="sci-ppt:o007"/>
          <p:cNvCxnSpPr/>
          <p:nvPr/>
        </p:nvCxnSpPr>
        <p:spPr>
          <a:xfrm>
            <a:off x="237744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4-E33 line 8" descr="sci-ppt:o008"/>
          <p:cNvCxnSpPr/>
          <p:nvPr/>
        </p:nvCxnSpPr>
        <p:spPr>
          <a:xfrm>
            <a:off x="237744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1" name="C4-E33 text 9" descr="sci-ppt:o009"/>
          <p:cNvSpPr txBox="1"/>
          <p:nvPr/>
        </p:nvSpPr>
        <p:spPr>
          <a:xfrm>
            <a:off x="192024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12" name="C4-E33 line 10" descr="sci-ppt:o010"/>
          <p:cNvCxnSpPr/>
          <p:nvPr/>
        </p:nvCxnSpPr>
        <p:spPr>
          <a:xfrm>
            <a:off x="384048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4-E33 line 11" descr="sci-ppt:o011"/>
          <p:cNvCxnSpPr/>
          <p:nvPr/>
        </p:nvCxnSpPr>
        <p:spPr>
          <a:xfrm>
            <a:off x="384048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4" name="C4-E33 text 12" descr="sci-ppt:o012"/>
          <p:cNvSpPr txBox="1"/>
          <p:nvPr/>
        </p:nvSpPr>
        <p:spPr>
          <a:xfrm>
            <a:off x="338328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cxnSp>
        <p:nvCxnSpPr>
          <p:cNvPr id="15" name="C4-E33 line 13" descr="sci-ppt:o013"/>
          <p:cNvCxnSpPr/>
          <p:nvPr/>
        </p:nvCxnSpPr>
        <p:spPr>
          <a:xfrm>
            <a:off x="530352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4-E33 line 14" descr="sci-ppt:o014"/>
          <p:cNvCxnSpPr/>
          <p:nvPr/>
        </p:nvCxnSpPr>
        <p:spPr>
          <a:xfrm>
            <a:off x="530352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4-E33 text 15" descr="sci-ppt:o015"/>
          <p:cNvSpPr txBox="1"/>
          <p:nvPr/>
        </p:nvSpPr>
        <p:spPr>
          <a:xfrm>
            <a:off x="484632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0.9</a:t>
            </a:r>
          </a:p>
        </p:txBody>
      </p:sp>
      <p:cxnSp>
        <p:nvCxnSpPr>
          <p:cNvPr id="18" name="C4-E33 line 16" descr="sci-ppt:o016"/>
          <p:cNvCxnSpPr/>
          <p:nvPr/>
        </p:nvCxnSpPr>
        <p:spPr>
          <a:xfrm>
            <a:off x="6766560" y="484632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4-E33 line 17" descr="sci-ppt:o017"/>
          <p:cNvCxnSpPr/>
          <p:nvPr/>
        </p:nvCxnSpPr>
        <p:spPr>
          <a:xfrm>
            <a:off x="6766560" y="1828800"/>
            <a:ext cx="0" cy="301752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4-E33 text 18" descr="sci-ppt:o018"/>
          <p:cNvSpPr txBox="1"/>
          <p:nvPr/>
        </p:nvSpPr>
        <p:spPr>
          <a:xfrm>
            <a:off x="6309360" y="492861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</a:t>
            </a:r>
          </a:p>
        </p:txBody>
      </p:sp>
      <p:cxnSp>
        <p:nvCxnSpPr>
          <p:cNvPr id="21" name="C4-E33 line 19" descr="sci-ppt:o019"/>
          <p:cNvCxnSpPr/>
          <p:nvPr/>
        </p:nvCxnSpPr>
        <p:spPr>
          <a:xfrm>
            <a:off x="850392" y="48463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4-E33 line 20" descr="sci-ppt:o020"/>
          <p:cNvCxnSpPr/>
          <p:nvPr/>
        </p:nvCxnSpPr>
        <p:spPr>
          <a:xfrm>
            <a:off x="850392" y="35890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4-E33 line 21" descr="sci-ppt:o021"/>
          <p:cNvCxnSpPr/>
          <p:nvPr/>
        </p:nvCxnSpPr>
        <p:spPr>
          <a:xfrm>
            <a:off x="914400" y="358902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4-E33 text 22" descr="sci-ppt:o022"/>
          <p:cNvSpPr txBox="1"/>
          <p:nvPr/>
        </p:nvSpPr>
        <p:spPr>
          <a:xfrm>
            <a:off x="45720" y="35067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5" name="C4-E33 line 23" descr="sci-ppt:o023"/>
          <p:cNvCxnSpPr/>
          <p:nvPr/>
        </p:nvCxnSpPr>
        <p:spPr>
          <a:xfrm>
            <a:off x="850392" y="23317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4-E33 line 24" descr="sci-ppt:o024"/>
          <p:cNvCxnSpPr/>
          <p:nvPr/>
        </p:nvCxnSpPr>
        <p:spPr>
          <a:xfrm>
            <a:off x="914400" y="233172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4-E33 text 25" descr="sci-ppt:o025"/>
          <p:cNvSpPr txBox="1"/>
          <p:nvPr/>
        </p:nvSpPr>
        <p:spPr>
          <a:xfrm>
            <a:off x="45720" y="22494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sp>
        <p:nvSpPr>
          <p:cNvPr id="28" name="C4-E33 text 26" descr="sci-ppt:o026"/>
          <p:cNvSpPr txBox="1"/>
          <p:nvPr/>
        </p:nvSpPr>
        <p:spPr>
          <a:xfrm>
            <a:off x="914400" y="512978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film speed v  (m/s)</a:t>
            </a:r>
          </a:p>
        </p:txBody>
      </p:sp>
      <p:sp>
        <p:nvSpPr>
          <p:cNvPr id="29" name="C4-E33 text 27" descr="sci-ppt:o027"/>
          <p:cNvSpPr txBox="1"/>
          <p:nvPr/>
        </p:nvSpPr>
        <p:spPr>
          <a:xfrm>
            <a:off x="365760" y="14813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 (nJ)</a:t>
            </a:r>
          </a:p>
        </p:txBody>
      </p:sp>
      <p:sp>
        <p:nvSpPr>
          <p:cNvPr id="30" name="C4-E33 polygon 28" descr="sci-ppt:o028"/>
          <p:cNvSpPr/>
          <p:nvPr/>
        </p:nvSpPr>
        <p:spPr>
          <a:xfrm>
            <a:off x="914400" y="3167170"/>
            <a:ext cx="5852160" cy="421850"/>
          </a:xfrm>
          <a:custGeom>
            <a:avLst/>
            <a:gdLst/>
            <a:ahLst/>
            <a:cxnLst/>
            <a:rect l="l" t="t" r="r" b="b"/>
            <a:pathLst>
              <a:path w="5852160" h="421850">
                <a:moveTo>
                  <a:pt x="0" y="421850"/>
                </a:moveTo>
                <a:lnTo>
                  <a:pt x="59112" y="421806"/>
                </a:lnTo>
                <a:lnTo>
                  <a:pt x="118225" y="421677"/>
                </a:lnTo>
                <a:lnTo>
                  <a:pt x="177338" y="421462"/>
                </a:lnTo>
                <a:lnTo>
                  <a:pt x="236450" y="421161"/>
                </a:lnTo>
                <a:lnTo>
                  <a:pt x="295563" y="420773"/>
                </a:lnTo>
                <a:lnTo>
                  <a:pt x="354676" y="420300"/>
                </a:lnTo>
                <a:lnTo>
                  <a:pt x="413789" y="419740"/>
                </a:lnTo>
                <a:lnTo>
                  <a:pt x="472901" y="419095"/>
                </a:lnTo>
                <a:lnTo>
                  <a:pt x="532014" y="418363"/>
                </a:lnTo>
                <a:lnTo>
                  <a:pt x="591127" y="417545"/>
                </a:lnTo>
                <a:lnTo>
                  <a:pt x="650240" y="416641"/>
                </a:lnTo>
                <a:lnTo>
                  <a:pt x="709352" y="415652"/>
                </a:lnTo>
                <a:lnTo>
                  <a:pt x="768465" y="414575"/>
                </a:lnTo>
                <a:lnTo>
                  <a:pt x="827578" y="413413"/>
                </a:lnTo>
                <a:lnTo>
                  <a:pt x="886690" y="412165"/>
                </a:lnTo>
                <a:lnTo>
                  <a:pt x="945803" y="410831"/>
                </a:lnTo>
                <a:lnTo>
                  <a:pt x="1004916" y="409411"/>
                </a:lnTo>
                <a:lnTo>
                  <a:pt x="1064029" y="407904"/>
                </a:lnTo>
                <a:lnTo>
                  <a:pt x="1123141" y="406312"/>
                </a:lnTo>
                <a:lnTo>
                  <a:pt x="1182254" y="404633"/>
                </a:lnTo>
                <a:lnTo>
                  <a:pt x="1241367" y="402868"/>
                </a:lnTo>
                <a:lnTo>
                  <a:pt x="1300480" y="401017"/>
                </a:lnTo>
                <a:lnTo>
                  <a:pt x="1359592" y="399081"/>
                </a:lnTo>
                <a:lnTo>
                  <a:pt x="1418705" y="397058"/>
                </a:lnTo>
                <a:lnTo>
                  <a:pt x="1477818" y="394949"/>
                </a:lnTo>
                <a:lnTo>
                  <a:pt x="1536930" y="392753"/>
                </a:lnTo>
                <a:lnTo>
                  <a:pt x="1596043" y="390472"/>
                </a:lnTo>
                <a:lnTo>
                  <a:pt x="1655156" y="388105"/>
                </a:lnTo>
                <a:lnTo>
                  <a:pt x="1714269" y="385652"/>
                </a:lnTo>
                <a:lnTo>
                  <a:pt x="1773381" y="383112"/>
                </a:lnTo>
                <a:lnTo>
                  <a:pt x="1832494" y="380487"/>
                </a:lnTo>
                <a:lnTo>
                  <a:pt x="1891607" y="377775"/>
                </a:lnTo>
                <a:lnTo>
                  <a:pt x="1950720" y="374977"/>
                </a:lnTo>
                <a:lnTo>
                  <a:pt x="2009832" y="372094"/>
                </a:lnTo>
                <a:lnTo>
                  <a:pt x="2068945" y="369124"/>
                </a:lnTo>
                <a:lnTo>
                  <a:pt x="2128058" y="366068"/>
                </a:lnTo>
                <a:lnTo>
                  <a:pt x="2187170" y="362926"/>
                </a:lnTo>
                <a:lnTo>
                  <a:pt x="2246283" y="359698"/>
                </a:lnTo>
                <a:lnTo>
                  <a:pt x="2305396" y="356383"/>
                </a:lnTo>
                <a:lnTo>
                  <a:pt x="2364509" y="352983"/>
                </a:lnTo>
                <a:lnTo>
                  <a:pt x="2423621" y="349497"/>
                </a:lnTo>
                <a:lnTo>
                  <a:pt x="2482734" y="345924"/>
                </a:lnTo>
                <a:lnTo>
                  <a:pt x="2541847" y="342266"/>
                </a:lnTo>
                <a:lnTo>
                  <a:pt x="2600960" y="338521"/>
                </a:lnTo>
                <a:lnTo>
                  <a:pt x="2660072" y="334691"/>
                </a:lnTo>
                <a:lnTo>
                  <a:pt x="2719185" y="330774"/>
                </a:lnTo>
                <a:lnTo>
                  <a:pt x="2778298" y="326771"/>
                </a:lnTo>
                <a:lnTo>
                  <a:pt x="2837410" y="322682"/>
                </a:lnTo>
                <a:lnTo>
                  <a:pt x="2896523" y="318507"/>
                </a:lnTo>
                <a:lnTo>
                  <a:pt x="2955636" y="314246"/>
                </a:lnTo>
                <a:lnTo>
                  <a:pt x="3014749" y="309899"/>
                </a:lnTo>
                <a:lnTo>
                  <a:pt x="3073861" y="305465"/>
                </a:lnTo>
                <a:lnTo>
                  <a:pt x="3132974" y="300946"/>
                </a:lnTo>
                <a:lnTo>
                  <a:pt x="3192087" y="296341"/>
                </a:lnTo>
                <a:lnTo>
                  <a:pt x="3251200" y="291649"/>
                </a:lnTo>
                <a:lnTo>
                  <a:pt x="3310312" y="286871"/>
                </a:lnTo>
                <a:lnTo>
                  <a:pt x="3369425" y="282008"/>
                </a:lnTo>
                <a:lnTo>
                  <a:pt x="3428538" y="277058"/>
                </a:lnTo>
                <a:lnTo>
                  <a:pt x="3487650" y="272022"/>
                </a:lnTo>
                <a:lnTo>
                  <a:pt x="3546763" y="266900"/>
                </a:lnTo>
                <a:lnTo>
                  <a:pt x="3605876" y="261692"/>
                </a:lnTo>
                <a:lnTo>
                  <a:pt x="3664989" y="256398"/>
                </a:lnTo>
                <a:lnTo>
                  <a:pt x="3724101" y="251018"/>
                </a:lnTo>
                <a:lnTo>
                  <a:pt x="3783214" y="245552"/>
                </a:lnTo>
                <a:lnTo>
                  <a:pt x="3842327" y="239999"/>
                </a:lnTo>
                <a:lnTo>
                  <a:pt x="3901440" y="234361"/>
                </a:lnTo>
                <a:lnTo>
                  <a:pt x="3960552" y="228636"/>
                </a:lnTo>
                <a:lnTo>
                  <a:pt x="4019665" y="222826"/>
                </a:lnTo>
                <a:lnTo>
                  <a:pt x="4078778" y="216929"/>
                </a:lnTo>
                <a:lnTo>
                  <a:pt x="4137890" y="210946"/>
                </a:lnTo>
                <a:lnTo>
                  <a:pt x="4197003" y="204878"/>
                </a:lnTo>
                <a:lnTo>
                  <a:pt x="4256116" y="198723"/>
                </a:lnTo>
                <a:lnTo>
                  <a:pt x="4315229" y="192482"/>
                </a:lnTo>
                <a:lnTo>
                  <a:pt x="4374341" y="186154"/>
                </a:lnTo>
                <a:lnTo>
                  <a:pt x="4433454" y="179741"/>
                </a:lnTo>
                <a:lnTo>
                  <a:pt x="4492567" y="173242"/>
                </a:lnTo>
                <a:lnTo>
                  <a:pt x="4551680" y="166657"/>
                </a:lnTo>
                <a:lnTo>
                  <a:pt x="4610792" y="159985"/>
                </a:lnTo>
                <a:lnTo>
                  <a:pt x="4669905" y="153228"/>
                </a:lnTo>
                <a:lnTo>
                  <a:pt x="4729018" y="146384"/>
                </a:lnTo>
                <a:lnTo>
                  <a:pt x="4788130" y="139455"/>
                </a:lnTo>
                <a:lnTo>
                  <a:pt x="4847243" y="132439"/>
                </a:lnTo>
                <a:lnTo>
                  <a:pt x="4906356" y="125337"/>
                </a:lnTo>
                <a:lnTo>
                  <a:pt x="4965469" y="118149"/>
                </a:lnTo>
                <a:lnTo>
                  <a:pt x="5024581" y="110875"/>
                </a:lnTo>
                <a:lnTo>
                  <a:pt x="5083694" y="103515"/>
                </a:lnTo>
                <a:lnTo>
                  <a:pt x="5142807" y="96069"/>
                </a:lnTo>
                <a:lnTo>
                  <a:pt x="5201920" y="88536"/>
                </a:lnTo>
                <a:lnTo>
                  <a:pt x="5261032" y="80918"/>
                </a:lnTo>
                <a:lnTo>
                  <a:pt x="5320145" y="73214"/>
                </a:lnTo>
                <a:lnTo>
                  <a:pt x="5379258" y="65423"/>
                </a:lnTo>
                <a:lnTo>
                  <a:pt x="5438370" y="57547"/>
                </a:lnTo>
                <a:lnTo>
                  <a:pt x="5497483" y="49584"/>
                </a:lnTo>
                <a:lnTo>
                  <a:pt x="5556596" y="41535"/>
                </a:lnTo>
                <a:lnTo>
                  <a:pt x="5615709" y="33400"/>
                </a:lnTo>
                <a:lnTo>
                  <a:pt x="5674821" y="25179"/>
                </a:lnTo>
                <a:lnTo>
                  <a:pt x="5733934" y="16872"/>
                </a:lnTo>
                <a:lnTo>
                  <a:pt x="5793047" y="8479"/>
                </a:lnTo>
                <a:lnTo>
                  <a:pt x="58521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4-E33 line 29" descr="sci-ppt:o029"/>
          <p:cNvCxnSpPr/>
          <p:nvPr/>
        </p:nvCxnSpPr>
        <p:spPr>
          <a:xfrm>
            <a:off x="914400" y="2331719"/>
            <a:ext cx="585216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cxnSp>
        <p:nvCxnSpPr>
          <p:cNvPr id="32" name="C4-E33 line 30" descr="sci-ppt:o030"/>
          <p:cNvCxnSpPr/>
          <p:nvPr/>
        </p:nvCxnSpPr>
        <p:spPr>
          <a:xfrm>
            <a:off x="4193457" y="1828800"/>
            <a:ext cx="0" cy="301752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3" name="C4-E33 ellipse 31" descr="sci-ppt:o031"/>
          <p:cNvSpPr/>
          <p:nvPr/>
        </p:nvSpPr>
        <p:spPr>
          <a:xfrm>
            <a:off x="4120305" y="3383426"/>
            <a:ext cx="146304" cy="146304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4-E33 text 32" descr="sci-ppt:o032"/>
          <p:cNvSpPr txBox="1"/>
          <p:nvPr/>
        </p:nvSpPr>
        <p:spPr>
          <a:xfrm>
            <a:off x="1907457" y="2907938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5.527 nJ at v_CM</a:t>
            </a:r>
          </a:p>
        </p:txBody>
      </p:sp>
      <p:sp>
        <p:nvSpPr>
          <p:cNvPr id="35" name="C4-E33 text 33" descr="sci-ppt:o033"/>
          <p:cNvSpPr txBox="1"/>
          <p:nvPr/>
        </p:nvSpPr>
        <p:spPr>
          <a:xfrm>
            <a:off x="1231392" y="1929384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E_solid = 10 nJ</a:t>
            </a:r>
          </a:p>
        </p:txBody>
      </p:sp>
      <p:sp>
        <p:nvSpPr>
          <p:cNvPr id="36" name="C4-E33 text 34" descr="sci-ppt:o034"/>
          <p:cNvSpPr txBox="1"/>
          <p:nvPr/>
        </p:nvSpPr>
        <p:spPr>
          <a:xfrm>
            <a:off x="4284897" y="437769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v_CM = Iₙₑₜ/m_f = 0.6724 m/s</a:t>
            </a:r>
          </a:p>
        </p:txBody>
      </p:sp>
      <p:sp>
        <p:nvSpPr>
          <p:cNvPr id="37" name="C4-E33 round_rect 35" descr="sci-ppt:o035"/>
          <p:cNvSpPr/>
          <p:nvPr/>
        </p:nvSpPr>
        <p:spPr>
          <a:xfrm>
            <a:off x="7040880" y="1463040"/>
            <a:ext cx="480060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4-E33 text 36" descr="sci-ppt:o036"/>
          <p:cNvSpPr txBox="1"/>
          <p:nvPr/>
        </p:nvSpPr>
        <p:spPr>
          <a:xfrm>
            <a:off x="7150608" y="151790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Implied speed and energy</a:t>
            </a:r>
          </a:p>
        </p:txBody>
      </p:sp>
      <p:sp>
        <p:nvSpPr>
          <p:cNvPr id="39" name="C4-E33 text 37" descr="sci-ppt:o037"/>
          <p:cNvSpPr txBox="1"/>
          <p:nvPr/>
        </p:nvSpPr>
        <p:spPr>
          <a:xfrm>
            <a:off x="7178040" y="192024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v_CM = Iₙₑₜ / m_f = 0.672378829 m/s</a:t>
            </a:r>
          </a:p>
        </p:txBody>
      </p:sp>
      <p:sp>
        <p:nvSpPr>
          <p:cNvPr id="40" name="C4-E33 text 38" descr="sci-ppt:o038"/>
          <p:cNvSpPr txBox="1"/>
          <p:nvPr/>
        </p:nvSpPr>
        <p:spPr>
          <a:xfrm>
            <a:off x="7178040" y="242316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K_CM = Iₙₑₜ² / (2 m_f) = 0.526688683 nJ</a:t>
            </a:r>
          </a:p>
        </p:txBody>
      </p:sp>
      <p:sp>
        <p:nvSpPr>
          <p:cNvPr id="41" name="C4-E33 text 39" descr="sci-ppt:o039"/>
          <p:cNvSpPr txBox="1"/>
          <p:nvPr/>
        </p:nvSpPr>
        <p:spPr>
          <a:xfrm>
            <a:off x="7178040" y="292608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Γ A_f + K_CM = 5.526688683 nJ  &lt;  E_solid</a:t>
            </a:r>
          </a:p>
        </p:txBody>
      </p:sp>
      <p:sp>
        <p:nvSpPr>
          <p:cNvPr id="42" name="C4-E33 text 40" descr="sci-ppt:o040"/>
          <p:cNvSpPr txBox="1"/>
          <p:nvPr/>
        </p:nvSpPr>
        <p:spPr>
          <a:xfrm>
            <a:off x="7178040" y="361188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Check: the impulse budget and low-Γ energy budget agree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at the implied speed.</a:t>
            </a:r>
          </a:p>
        </p:txBody>
      </p:sp>
      <p:sp>
        <p:nvSpPr>
          <p:cNvPr id="43" name="C4-E33 text 41" descr="sci-ppt:o041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Compatibility is a screen: it shows the two budgets do not contradict each other, not that the film actually leaves.</a:t>
            </a:r>
          </a:p>
        </p:txBody>
      </p:sp>
      <p:sp>
        <p:nvSpPr>
          <p:cNvPr id="44" name="C4-E33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Energy–momentum compatibility of Eq. C4-E33.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