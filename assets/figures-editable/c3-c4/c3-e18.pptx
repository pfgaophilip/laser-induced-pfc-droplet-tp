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C3-E18 · Finite-mass definitions and Cauchy–Schwarz bound</a:t>
            </a:r>
          </a:p>
        </p:txBody>
      </p:sp>
      <p:cxnSp>
        <p:nvCxnSpPr>
          <p:cNvPr id="3" name="C3-E18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18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18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18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18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0e+00</a:t>
            </a:r>
          </a:p>
        </p:txBody>
      </p:sp>
      <p:cxnSp>
        <p:nvCxnSpPr>
          <p:cNvPr id="8" name="C3-E18 line 6" descr="sci-ppt:o006"/>
          <p:cNvCxnSpPr/>
          <p:nvPr/>
        </p:nvCxnSpPr>
        <p:spPr>
          <a:xfrm>
            <a:off x="224443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18 line 7" descr="sci-ppt:o007"/>
          <p:cNvCxnSpPr/>
          <p:nvPr/>
        </p:nvCxnSpPr>
        <p:spPr>
          <a:xfrm>
            <a:off x="224443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18 text 8" descr="sci-ppt:o008"/>
          <p:cNvSpPr txBox="1"/>
          <p:nvPr/>
        </p:nvSpPr>
        <p:spPr>
          <a:xfrm>
            <a:off x="178723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5e-11</a:t>
            </a:r>
          </a:p>
        </p:txBody>
      </p:sp>
      <p:cxnSp>
        <p:nvCxnSpPr>
          <p:cNvPr id="11" name="C3-E18 line 9" descr="sci-ppt:o009"/>
          <p:cNvCxnSpPr/>
          <p:nvPr/>
        </p:nvCxnSpPr>
        <p:spPr>
          <a:xfrm>
            <a:off x="357447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18 line 10" descr="sci-ppt:o010"/>
          <p:cNvCxnSpPr/>
          <p:nvPr/>
        </p:nvCxnSpPr>
        <p:spPr>
          <a:xfrm>
            <a:off x="357447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18 text 11" descr="sci-ppt:o011"/>
          <p:cNvSpPr txBox="1"/>
          <p:nvPr/>
        </p:nvSpPr>
        <p:spPr>
          <a:xfrm>
            <a:off x="311727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1e-10</a:t>
            </a:r>
          </a:p>
        </p:txBody>
      </p:sp>
      <p:cxnSp>
        <p:nvCxnSpPr>
          <p:cNvPr id="14" name="C3-E18 line 12" descr="sci-ppt:o012"/>
          <p:cNvCxnSpPr/>
          <p:nvPr/>
        </p:nvCxnSpPr>
        <p:spPr>
          <a:xfrm>
            <a:off x="490450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18 line 13" descr="sci-ppt:o013"/>
          <p:cNvCxnSpPr/>
          <p:nvPr/>
        </p:nvCxnSpPr>
        <p:spPr>
          <a:xfrm>
            <a:off x="490450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18 text 14" descr="sci-ppt:o014"/>
          <p:cNvSpPr txBox="1"/>
          <p:nvPr/>
        </p:nvSpPr>
        <p:spPr>
          <a:xfrm>
            <a:off x="444730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1e-10</a:t>
            </a:r>
          </a:p>
        </p:txBody>
      </p:sp>
      <p:cxnSp>
        <p:nvCxnSpPr>
          <p:cNvPr id="17" name="C3-E18 line 15" descr="sci-ppt:o015"/>
          <p:cNvCxnSpPr/>
          <p:nvPr/>
        </p:nvCxnSpPr>
        <p:spPr>
          <a:xfrm>
            <a:off x="6234545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18 line 16" descr="sci-ppt:o016"/>
          <p:cNvCxnSpPr/>
          <p:nvPr/>
        </p:nvCxnSpPr>
        <p:spPr>
          <a:xfrm>
            <a:off x="6234545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18 text 17" descr="sci-ppt:o017"/>
          <p:cNvSpPr txBox="1"/>
          <p:nvPr/>
        </p:nvSpPr>
        <p:spPr>
          <a:xfrm>
            <a:off x="5777345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2e-10</a:t>
            </a:r>
          </a:p>
        </p:txBody>
      </p:sp>
      <p:cxnSp>
        <p:nvCxnSpPr>
          <p:cNvPr id="20" name="C3-E18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18 line 19" descr="sci-ppt:o019"/>
          <p:cNvCxnSpPr/>
          <p:nvPr/>
        </p:nvCxnSpPr>
        <p:spPr>
          <a:xfrm>
            <a:off x="85039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18 line 20" descr="sci-ppt:o020"/>
          <p:cNvCxnSpPr/>
          <p:nvPr/>
        </p:nvCxnSpPr>
        <p:spPr>
          <a:xfrm>
            <a:off x="914400" y="38100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18 text 21" descr="sci-ppt:o021"/>
          <p:cNvSpPr txBox="1"/>
          <p:nvPr/>
        </p:nvSpPr>
        <p:spPr>
          <a:xfrm>
            <a:off x="4572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3-E18 line 22" descr="sci-ppt:o022"/>
          <p:cNvCxnSpPr/>
          <p:nvPr/>
        </p:nvCxnSpPr>
        <p:spPr>
          <a:xfrm>
            <a:off x="85039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18 line 23" descr="sci-ppt:o023"/>
          <p:cNvCxnSpPr/>
          <p:nvPr/>
        </p:nvCxnSpPr>
        <p:spPr>
          <a:xfrm>
            <a:off x="914400" y="25908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18 text 24" descr="sci-ppt:o024"/>
          <p:cNvSpPr txBox="1"/>
          <p:nvPr/>
        </p:nvSpPr>
        <p:spPr>
          <a:xfrm>
            <a:off x="4572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7" name="C3-E18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3-E18 line 26" descr="sci-ppt:o026"/>
          <p:cNvCxnSpPr/>
          <p:nvPr/>
        </p:nvCxnSpPr>
        <p:spPr>
          <a:xfrm>
            <a:off x="91440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3-E18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30" name="C3-E18 text 28" descr="sci-ppt:o028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directed momentum Pⱼ  (N s)</a:t>
            </a:r>
          </a:p>
        </p:txBody>
      </p:sp>
      <p:sp>
        <p:nvSpPr>
          <p:cNvPr id="31" name="C3-E18 text 29" descr="sci-ppt:o029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kinetic energy Eⱼ  (nJ)</a:t>
            </a:r>
          </a:p>
        </p:txBody>
      </p:sp>
      <p:sp>
        <p:nvSpPr>
          <p:cNvPr id="32" name="C3-E18 polygon 30" descr="sci-ppt:o030"/>
          <p:cNvSpPr/>
          <p:nvPr/>
        </p:nvSpPr>
        <p:spPr>
          <a:xfrm>
            <a:off x="914400" y="1371600"/>
            <a:ext cx="5852160" cy="3657600"/>
          </a:xfrm>
          <a:custGeom>
            <a:avLst/>
            <a:gdLst/>
            <a:ahLst/>
            <a:cxnLst/>
            <a:rect l="l" t="t" r="r" b="b"/>
            <a:pathLst>
              <a:path w="5852160" h="3657600">
                <a:moveTo>
                  <a:pt x="0" y="0"/>
                </a:moveTo>
                <a:lnTo>
                  <a:pt x="29407" y="0"/>
                </a:lnTo>
                <a:lnTo>
                  <a:pt x="58815" y="0"/>
                </a:lnTo>
                <a:lnTo>
                  <a:pt x="88223" y="0"/>
                </a:lnTo>
                <a:lnTo>
                  <a:pt x="117631" y="0"/>
                </a:lnTo>
                <a:lnTo>
                  <a:pt x="147039" y="0"/>
                </a:lnTo>
                <a:lnTo>
                  <a:pt x="176447" y="0"/>
                </a:lnTo>
                <a:lnTo>
                  <a:pt x="205854" y="0"/>
                </a:lnTo>
                <a:lnTo>
                  <a:pt x="235262" y="0"/>
                </a:lnTo>
                <a:lnTo>
                  <a:pt x="264670" y="0"/>
                </a:lnTo>
                <a:lnTo>
                  <a:pt x="294078" y="0"/>
                </a:lnTo>
                <a:lnTo>
                  <a:pt x="323486" y="0"/>
                </a:lnTo>
                <a:lnTo>
                  <a:pt x="352894" y="0"/>
                </a:lnTo>
                <a:lnTo>
                  <a:pt x="382301" y="0"/>
                </a:lnTo>
                <a:lnTo>
                  <a:pt x="411709" y="0"/>
                </a:lnTo>
                <a:lnTo>
                  <a:pt x="441117" y="0"/>
                </a:lnTo>
                <a:lnTo>
                  <a:pt x="470525" y="0"/>
                </a:lnTo>
                <a:lnTo>
                  <a:pt x="499933" y="0"/>
                </a:lnTo>
                <a:lnTo>
                  <a:pt x="529341" y="0"/>
                </a:lnTo>
                <a:lnTo>
                  <a:pt x="558748" y="0"/>
                </a:lnTo>
                <a:lnTo>
                  <a:pt x="588156" y="0"/>
                </a:lnTo>
                <a:lnTo>
                  <a:pt x="617564" y="0"/>
                </a:lnTo>
                <a:lnTo>
                  <a:pt x="646972" y="0"/>
                </a:lnTo>
                <a:lnTo>
                  <a:pt x="676380" y="0"/>
                </a:lnTo>
                <a:lnTo>
                  <a:pt x="705788" y="0"/>
                </a:lnTo>
                <a:lnTo>
                  <a:pt x="735195" y="0"/>
                </a:lnTo>
                <a:lnTo>
                  <a:pt x="764603" y="0"/>
                </a:lnTo>
                <a:lnTo>
                  <a:pt x="794011" y="0"/>
                </a:lnTo>
                <a:lnTo>
                  <a:pt x="823419" y="0"/>
                </a:lnTo>
                <a:lnTo>
                  <a:pt x="852827" y="0"/>
                </a:lnTo>
                <a:lnTo>
                  <a:pt x="882235" y="0"/>
                </a:lnTo>
                <a:lnTo>
                  <a:pt x="911643" y="0"/>
                </a:lnTo>
                <a:lnTo>
                  <a:pt x="941050" y="0"/>
                </a:lnTo>
                <a:lnTo>
                  <a:pt x="970458" y="0"/>
                </a:lnTo>
                <a:lnTo>
                  <a:pt x="999866" y="0"/>
                </a:lnTo>
                <a:lnTo>
                  <a:pt x="1029274" y="0"/>
                </a:lnTo>
                <a:lnTo>
                  <a:pt x="1058682" y="0"/>
                </a:lnTo>
                <a:lnTo>
                  <a:pt x="1088090" y="0"/>
                </a:lnTo>
                <a:lnTo>
                  <a:pt x="1117497" y="0"/>
                </a:lnTo>
                <a:lnTo>
                  <a:pt x="1146905" y="0"/>
                </a:lnTo>
                <a:lnTo>
                  <a:pt x="1176313" y="0"/>
                </a:lnTo>
                <a:lnTo>
                  <a:pt x="1205721" y="0"/>
                </a:lnTo>
                <a:lnTo>
                  <a:pt x="1235129" y="0"/>
                </a:lnTo>
                <a:lnTo>
                  <a:pt x="1264537" y="0"/>
                </a:lnTo>
                <a:lnTo>
                  <a:pt x="1293944" y="0"/>
                </a:lnTo>
                <a:lnTo>
                  <a:pt x="1323352" y="0"/>
                </a:lnTo>
                <a:lnTo>
                  <a:pt x="1352760" y="0"/>
                </a:lnTo>
                <a:lnTo>
                  <a:pt x="1382168" y="0"/>
                </a:lnTo>
                <a:lnTo>
                  <a:pt x="1411576" y="0"/>
                </a:lnTo>
                <a:lnTo>
                  <a:pt x="1440984" y="0"/>
                </a:lnTo>
                <a:lnTo>
                  <a:pt x="1470391" y="0"/>
                </a:lnTo>
                <a:lnTo>
                  <a:pt x="1499799" y="0"/>
                </a:lnTo>
                <a:lnTo>
                  <a:pt x="1529207" y="0"/>
                </a:lnTo>
                <a:lnTo>
                  <a:pt x="1558615" y="0"/>
                </a:lnTo>
                <a:lnTo>
                  <a:pt x="1588023" y="0"/>
                </a:lnTo>
                <a:lnTo>
                  <a:pt x="1617431" y="0"/>
                </a:lnTo>
                <a:lnTo>
                  <a:pt x="1646838" y="0"/>
                </a:lnTo>
                <a:lnTo>
                  <a:pt x="1676246" y="0"/>
                </a:lnTo>
                <a:lnTo>
                  <a:pt x="1705654" y="0"/>
                </a:lnTo>
                <a:lnTo>
                  <a:pt x="1735062" y="0"/>
                </a:lnTo>
                <a:lnTo>
                  <a:pt x="1764470" y="0"/>
                </a:lnTo>
                <a:lnTo>
                  <a:pt x="1793878" y="0"/>
                </a:lnTo>
                <a:lnTo>
                  <a:pt x="1823286" y="0"/>
                </a:lnTo>
                <a:lnTo>
                  <a:pt x="1852693" y="0"/>
                </a:lnTo>
                <a:lnTo>
                  <a:pt x="1882101" y="0"/>
                </a:lnTo>
                <a:lnTo>
                  <a:pt x="1911509" y="0"/>
                </a:lnTo>
                <a:lnTo>
                  <a:pt x="1940917" y="0"/>
                </a:lnTo>
                <a:lnTo>
                  <a:pt x="1970325" y="0"/>
                </a:lnTo>
                <a:lnTo>
                  <a:pt x="1999733" y="0"/>
                </a:lnTo>
                <a:lnTo>
                  <a:pt x="2029140" y="0"/>
                </a:lnTo>
                <a:lnTo>
                  <a:pt x="2058548" y="0"/>
                </a:lnTo>
                <a:lnTo>
                  <a:pt x="2087956" y="0"/>
                </a:lnTo>
                <a:lnTo>
                  <a:pt x="2117364" y="0"/>
                </a:lnTo>
                <a:lnTo>
                  <a:pt x="2146772" y="0"/>
                </a:lnTo>
                <a:lnTo>
                  <a:pt x="2176180" y="0"/>
                </a:lnTo>
                <a:lnTo>
                  <a:pt x="2205587" y="0"/>
                </a:lnTo>
                <a:lnTo>
                  <a:pt x="2234995" y="0"/>
                </a:lnTo>
                <a:lnTo>
                  <a:pt x="2264403" y="0"/>
                </a:lnTo>
                <a:lnTo>
                  <a:pt x="2293811" y="0"/>
                </a:lnTo>
                <a:lnTo>
                  <a:pt x="2323219" y="0"/>
                </a:lnTo>
                <a:lnTo>
                  <a:pt x="2352627" y="0"/>
                </a:lnTo>
                <a:lnTo>
                  <a:pt x="2382034" y="0"/>
                </a:lnTo>
                <a:lnTo>
                  <a:pt x="2411442" y="0"/>
                </a:lnTo>
                <a:lnTo>
                  <a:pt x="2440850" y="0"/>
                </a:lnTo>
                <a:lnTo>
                  <a:pt x="2470258" y="0"/>
                </a:lnTo>
                <a:lnTo>
                  <a:pt x="2499666" y="0"/>
                </a:lnTo>
                <a:lnTo>
                  <a:pt x="2529074" y="0"/>
                </a:lnTo>
                <a:lnTo>
                  <a:pt x="2558482" y="0"/>
                </a:lnTo>
                <a:lnTo>
                  <a:pt x="2587889" y="0"/>
                </a:lnTo>
                <a:lnTo>
                  <a:pt x="2617297" y="0"/>
                </a:lnTo>
                <a:lnTo>
                  <a:pt x="2646705" y="0"/>
                </a:lnTo>
                <a:lnTo>
                  <a:pt x="2676113" y="0"/>
                </a:lnTo>
                <a:lnTo>
                  <a:pt x="2705521" y="0"/>
                </a:lnTo>
                <a:lnTo>
                  <a:pt x="2734929" y="0"/>
                </a:lnTo>
                <a:lnTo>
                  <a:pt x="2764336" y="0"/>
                </a:lnTo>
                <a:lnTo>
                  <a:pt x="2793744" y="0"/>
                </a:lnTo>
                <a:lnTo>
                  <a:pt x="2823152" y="0"/>
                </a:lnTo>
                <a:lnTo>
                  <a:pt x="2852560" y="0"/>
                </a:lnTo>
                <a:lnTo>
                  <a:pt x="2881968" y="0"/>
                </a:lnTo>
                <a:lnTo>
                  <a:pt x="2911376" y="0"/>
                </a:lnTo>
                <a:lnTo>
                  <a:pt x="2940783" y="0"/>
                </a:lnTo>
                <a:lnTo>
                  <a:pt x="2970191" y="0"/>
                </a:lnTo>
                <a:lnTo>
                  <a:pt x="2999599" y="0"/>
                </a:lnTo>
                <a:lnTo>
                  <a:pt x="3029007" y="0"/>
                </a:lnTo>
                <a:lnTo>
                  <a:pt x="3058415" y="0"/>
                </a:lnTo>
                <a:lnTo>
                  <a:pt x="3087823" y="0"/>
                </a:lnTo>
                <a:lnTo>
                  <a:pt x="3117230" y="0"/>
                </a:lnTo>
                <a:lnTo>
                  <a:pt x="3146638" y="0"/>
                </a:lnTo>
                <a:lnTo>
                  <a:pt x="3176046" y="0"/>
                </a:lnTo>
                <a:lnTo>
                  <a:pt x="3205454" y="0"/>
                </a:lnTo>
                <a:lnTo>
                  <a:pt x="3234862" y="0"/>
                </a:lnTo>
                <a:lnTo>
                  <a:pt x="3264270" y="0"/>
                </a:lnTo>
                <a:lnTo>
                  <a:pt x="3293677" y="0"/>
                </a:lnTo>
                <a:lnTo>
                  <a:pt x="3323085" y="0"/>
                </a:lnTo>
                <a:lnTo>
                  <a:pt x="3352493" y="0"/>
                </a:lnTo>
                <a:lnTo>
                  <a:pt x="3381901" y="0"/>
                </a:lnTo>
                <a:lnTo>
                  <a:pt x="3411309" y="0"/>
                </a:lnTo>
                <a:lnTo>
                  <a:pt x="3440717" y="0"/>
                </a:lnTo>
                <a:lnTo>
                  <a:pt x="3470125" y="0"/>
                </a:lnTo>
                <a:lnTo>
                  <a:pt x="3499532" y="0"/>
                </a:lnTo>
                <a:lnTo>
                  <a:pt x="3528940" y="0"/>
                </a:lnTo>
                <a:lnTo>
                  <a:pt x="3558348" y="0"/>
                </a:lnTo>
                <a:lnTo>
                  <a:pt x="3587756" y="0"/>
                </a:lnTo>
                <a:lnTo>
                  <a:pt x="3617164" y="0"/>
                </a:lnTo>
                <a:lnTo>
                  <a:pt x="3646572" y="0"/>
                </a:lnTo>
                <a:lnTo>
                  <a:pt x="3675979" y="0"/>
                </a:lnTo>
                <a:lnTo>
                  <a:pt x="3705387" y="0"/>
                </a:lnTo>
                <a:lnTo>
                  <a:pt x="3734795" y="0"/>
                </a:lnTo>
                <a:lnTo>
                  <a:pt x="3764203" y="0"/>
                </a:lnTo>
                <a:lnTo>
                  <a:pt x="3793611" y="0"/>
                </a:lnTo>
                <a:lnTo>
                  <a:pt x="3823019" y="0"/>
                </a:lnTo>
                <a:lnTo>
                  <a:pt x="3852426" y="0"/>
                </a:lnTo>
                <a:lnTo>
                  <a:pt x="3881834" y="0"/>
                </a:lnTo>
                <a:lnTo>
                  <a:pt x="3911242" y="0"/>
                </a:lnTo>
                <a:lnTo>
                  <a:pt x="3940650" y="0"/>
                </a:lnTo>
                <a:lnTo>
                  <a:pt x="3970058" y="0"/>
                </a:lnTo>
                <a:lnTo>
                  <a:pt x="3999466" y="0"/>
                </a:lnTo>
                <a:lnTo>
                  <a:pt x="4028873" y="0"/>
                </a:lnTo>
                <a:lnTo>
                  <a:pt x="4058281" y="0"/>
                </a:lnTo>
                <a:lnTo>
                  <a:pt x="4087689" y="0"/>
                </a:lnTo>
                <a:lnTo>
                  <a:pt x="4117097" y="0"/>
                </a:lnTo>
                <a:lnTo>
                  <a:pt x="4146505" y="0"/>
                </a:lnTo>
                <a:lnTo>
                  <a:pt x="4175913" y="0"/>
                </a:lnTo>
                <a:lnTo>
                  <a:pt x="4205321" y="0"/>
                </a:lnTo>
                <a:lnTo>
                  <a:pt x="4234728" y="0"/>
                </a:lnTo>
                <a:lnTo>
                  <a:pt x="4264136" y="0"/>
                </a:lnTo>
                <a:lnTo>
                  <a:pt x="4293544" y="0"/>
                </a:lnTo>
                <a:lnTo>
                  <a:pt x="4322952" y="0"/>
                </a:lnTo>
                <a:lnTo>
                  <a:pt x="4352360" y="0"/>
                </a:lnTo>
                <a:lnTo>
                  <a:pt x="4381768" y="0"/>
                </a:lnTo>
                <a:lnTo>
                  <a:pt x="4411175" y="0"/>
                </a:lnTo>
                <a:lnTo>
                  <a:pt x="4440583" y="0"/>
                </a:lnTo>
                <a:lnTo>
                  <a:pt x="4469991" y="0"/>
                </a:lnTo>
                <a:lnTo>
                  <a:pt x="4499399" y="0"/>
                </a:lnTo>
                <a:lnTo>
                  <a:pt x="4528807" y="0"/>
                </a:lnTo>
                <a:lnTo>
                  <a:pt x="4558215" y="0"/>
                </a:lnTo>
                <a:lnTo>
                  <a:pt x="4587622" y="0"/>
                </a:lnTo>
                <a:lnTo>
                  <a:pt x="4617030" y="0"/>
                </a:lnTo>
                <a:lnTo>
                  <a:pt x="4646438" y="0"/>
                </a:lnTo>
                <a:lnTo>
                  <a:pt x="4675846" y="0"/>
                </a:lnTo>
                <a:lnTo>
                  <a:pt x="4705254" y="0"/>
                </a:lnTo>
                <a:lnTo>
                  <a:pt x="4734662" y="0"/>
                </a:lnTo>
                <a:lnTo>
                  <a:pt x="4764069" y="0"/>
                </a:lnTo>
                <a:lnTo>
                  <a:pt x="4793477" y="0"/>
                </a:lnTo>
                <a:lnTo>
                  <a:pt x="4822885" y="0"/>
                </a:lnTo>
                <a:lnTo>
                  <a:pt x="4852293" y="0"/>
                </a:lnTo>
                <a:lnTo>
                  <a:pt x="4881701" y="0"/>
                </a:lnTo>
                <a:lnTo>
                  <a:pt x="4911109" y="0"/>
                </a:lnTo>
                <a:lnTo>
                  <a:pt x="4940516" y="0"/>
                </a:lnTo>
                <a:lnTo>
                  <a:pt x="4969924" y="0"/>
                </a:lnTo>
                <a:lnTo>
                  <a:pt x="4999332" y="0"/>
                </a:lnTo>
                <a:lnTo>
                  <a:pt x="5028740" y="0"/>
                </a:lnTo>
                <a:lnTo>
                  <a:pt x="5058148" y="0"/>
                </a:lnTo>
                <a:lnTo>
                  <a:pt x="5087556" y="0"/>
                </a:lnTo>
                <a:lnTo>
                  <a:pt x="5116964" y="0"/>
                </a:lnTo>
                <a:lnTo>
                  <a:pt x="5146371" y="0"/>
                </a:lnTo>
                <a:lnTo>
                  <a:pt x="5175779" y="0"/>
                </a:lnTo>
                <a:lnTo>
                  <a:pt x="5205187" y="0"/>
                </a:lnTo>
                <a:lnTo>
                  <a:pt x="5234595" y="0"/>
                </a:lnTo>
                <a:lnTo>
                  <a:pt x="5264003" y="0"/>
                </a:lnTo>
                <a:lnTo>
                  <a:pt x="5293411" y="0"/>
                </a:lnTo>
                <a:lnTo>
                  <a:pt x="5322818" y="0"/>
                </a:lnTo>
                <a:lnTo>
                  <a:pt x="5352226" y="0"/>
                </a:lnTo>
                <a:lnTo>
                  <a:pt x="5381634" y="0"/>
                </a:lnTo>
                <a:lnTo>
                  <a:pt x="5411042" y="0"/>
                </a:lnTo>
                <a:lnTo>
                  <a:pt x="5440450" y="0"/>
                </a:lnTo>
                <a:lnTo>
                  <a:pt x="5469858" y="0"/>
                </a:lnTo>
                <a:lnTo>
                  <a:pt x="5499265" y="0"/>
                </a:lnTo>
                <a:lnTo>
                  <a:pt x="5528673" y="0"/>
                </a:lnTo>
                <a:lnTo>
                  <a:pt x="5558081" y="0"/>
                </a:lnTo>
                <a:lnTo>
                  <a:pt x="5587489" y="0"/>
                </a:lnTo>
                <a:lnTo>
                  <a:pt x="5616897" y="0"/>
                </a:lnTo>
                <a:lnTo>
                  <a:pt x="5646305" y="0"/>
                </a:lnTo>
                <a:lnTo>
                  <a:pt x="5675712" y="0"/>
                </a:lnTo>
                <a:lnTo>
                  <a:pt x="5705120" y="0"/>
                </a:lnTo>
                <a:lnTo>
                  <a:pt x="5734528" y="0"/>
                </a:lnTo>
                <a:lnTo>
                  <a:pt x="5763936" y="0"/>
                </a:lnTo>
                <a:lnTo>
                  <a:pt x="5793344" y="0"/>
                </a:lnTo>
                <a:lnTo>
                  <a:pt x="5822752" y="0"/>
                </a:lnTo>
                <a:lnTo>
                  <a:pt x="5852160" y="0"/>
                </a:lnTo>
                <a:lnTo>
                  <a:pt x="5852160" y="0"/>
                </a:lnTo>
                <a:lnTo>
                  <a:pt x="5822752" y="0"/>
                </a:lnTo>
                <a:lnTo>
                  <a:pt x="5793344" y="0"/>
                </a:lnTo>
                <a:lnTo>
                  <a:pt x="5763936" y="13364"/>
                </a:lnTo>
                <a:lnTo>
                  <a:pt x="5734528" y="50455"/>
                </a:lnTo>
                <a:lnTo>
                  <a:pt x="5705120" y="87357"/>
                </a:lnTo>
                <a:lnTo>
                  <a:pt x="5675712" y="124069"/>
                </a:lnTo>
                <a:lnTo>
                  <a:pt x="5646305" y="160591"/>
                </a:lnTo>
                <a:lnTo>
                  <a:pt x="5616897" y="196923"/>
                </a:lnTo>
                <a:lnTo>
                  <a:pt x="5587489" y="233066"/>
                </a:lnTo>
                <a:lnTo>
                  <a:pt x="5558081" y="269018"/>
                </a:lnTo>
                <a:lnTo>
                  <a:pt x="5528673" y="304782"/>
                </a:lnTo>
                <a:lnTo>
                  <a:pt x="5499265" y="340355"/>
                </a:lnTo>
                <a:lnTo>
                  <a:pt x="5469858" y="375739"/>
                </a:lnTo>
                <a:lnTo>
                  <a:pt x="5440450" y="410933"/>
                </a:lnTo>
                <a:lnTo>
                  <a:pt x="5411042" y="445937"/>
                </a:lnTo>
                <a:lnTo>
                  <a:pt x="5381634" y="480751"/>
                </a:lnTo>
                <a:lnTo>
                  <a:pt x="5352226" y="515376"/>
                </a:lnTo>
                <a:lnTo>
                  <a:pt x="5322818" y="549811"/>
                </a:lnTo>
                <a:lnTo>
                  <a:pt x="5293411" y="584057"/>
                </a:lnTo>
                <a:lnTo>
                  <a:pt x="5264003" y="618112"/>
                </a:lnTo>
                <a:lnTo>
                  <a:pt x="5234595" y="651978"/>
                </a:lnTo>
                <a:lnTo>
                  <a:pt x="5205187" y="685654"/>
                </a:lnTo>
                <a:lnTo>
                  <a:pt x="5175779" y="719141"/>
                </a:lnTo>
                <a:lnTo>
                  <a:pt x="5146371" y="752437"/>
                </a:lnTo>
                <a:lnTo>
                  <a:pt x="5116964" y="785544"/>
                </a:lnTo>
                <a:lnTo>
                  <a:pt x="5087556" y="818462"/>
                </a:lnTo>
                <a:lnTo>
                  <a:pt x="5058148" y="851189"/>
                </a:lnTo>
                <a:lnTo>
                  <a:pt x="5028740" y="883727"/>
                </a:lnTo>
                <a:lnTo>
                  <a:pt x="4999332" y="916075"/>
                </a:lnTo>
                <a:lnTo>
                  <a:pt x="4969924" y="948234"/>
                </a:lnTo>
                <a:lnTo>
                  <a:pt x="4940516" y="980202"/>
                </a:lnTo>
                <a:lnTo>
                  <a:pt x="4911109" y="1011981"/>
                </a:lnTo>
                <a:lnTo>
                  <a:pt x="4881701" y="1043570"/>
                </a:lnTo>
                <a:lnTo>
                  <a:pt x="4852293" y="1074970"/>
                </a:lnTo>
                <a:lnTo>
                  <a:pt x="4822885" y="1106179"/>
                </a:lnTo>
                <a:lnTo>
                  <a:pt x="4793477" y="1137199"/>
                </a:lnTo>
                <a:lnTo>
                  <a:pt x="4764069" y="1168030"/>
                </a:lnTo>
                <a:lnTo>
                  <a:pt x="4734662" y="1198670"/>
                </a:lnTo>
                <a:lnTo>
                  <a:pt x="4705254" y="1229121"/>
                </a:lnTo>
                <a:lnTo>
                  <a:pt x="4675846" y="1259382"/>
                </a:lnTo>
                <a:lnTo>
                  <a:pt x="4646438" y="1289454"/>
                </a:lnTo>
                <a:lnTo>
                  <a:pt x="4617030" y="1319335"/>
                </a:lnTo>
                <a:lnTo>
                  <a:pt x="4587622" y="1349027"/>
                </a:lnTo>
                <a:lnTo>
                  <a:pt x="4558215" y="1378530"/>
                </a:lnTo>
                <a:lnTo>
                  <a:pt x="4528807" y="1407842"/>
                </a:lnTo>
                <a:lnTo>
                  <a:pt x="4499399" y="1436965"/>
                </a:lnTo>
                <a:lnTo>
                  <a:pt x="4469991" y="1465898"/>
                </a:lnTo>
                <a:lnTo>
                  <a:pt x="4440583" y="1494641"/>
                </a:lnTo>
                <a:lnTo>
                  <a:pt x="4411175" y="1523195"/>
                </a:lnTo>
                <a:lnTo>
                  <a:pt x="4381768" y="1551559"/>
                </a:lnTo>
                <a:lnTo>
                  <a:pt x="4352360" y="1579733"/>
                </a:lnTo>
                <a:lnTo>
                  <a:pt x="4322952" y="1607717"/>
                </a:lnTo>
                <a:lnTo>
                  <a:pt x="4293544" y="1635512"/>
                </a:lnTo>
                <a:lnTo>
                  <a:pt x="4264136" y="1663117"/>
                </a:lnTo>
                <a:lnTo>
                  <a:pt x="4234728" y="1690532"/>
                </a:lnTo>
                <a:lnTo>
                  <a:pt x="4205321" y="1717758"/>
                </a:lnTo>
                <a:lnTo>
                  <a:pt x="4175913" y="1744793"/>
                </a:lnTo>
                <a:lnTo>
                  <a:pt x="4146505" y="1771639"/>
                </a:lnTo>
                <a:lnTo>
                  <a:pt x="4117097" y="1798296"/>
                </a:lnTo>
                <a:lnTo>
                  <a:pt x="4087689" y="1824762"/>
                </a:lnTo>
                <a:lnTo>
                  <a:pt x="4058281" y="1851039"/>
                </a:lnTo>
                <a:lnTo>
                  <a:pt x="4028873" y="1877126"/>
                </a:lnTo>
                <a:lnTo>
                  <a:pt x="3999466" y="1903024"/>
                </a:lnTo>
                <a:lnTo>
                  <a:pt x="3970058" y="1928732"/>
                </a:lnTo>
                <a:lnTo>
                  <a:pt x="3940650" y="1954250"/>
                </a:lnTo>
                <a:lnTo>
                  <a:pt x="3911242" y="1979578"/>
                </a:lnTo>
                <a:lnTo>
                  <a:pt x="3881834" y="2004716"/>
                </a:lnTo>
                <a:lnTo>
                  <a:pt x="3852426" y="2029665"/>
                </a:lnTo>
                <a:lnTo>
                  <a:pt x="3823019" y="2054424"/>
                </a:lnTo>
                <a:lnTo>
                  <a:pt x="3793611" y="2078994"/>
                </a:lnTo>
                <a:lnTo>
                  <a:pt x="3764203" y="2103373"/>
                </a:lnTo>
                <a:lnTo>
                  <a:pt x="3734795" y="2127563"/>
                </a:lnTo>
                <a:lnTo>
                  <a:pt x="3705387" y="2151563"/>
                </a:lnTo>
                <a:lnTo>
                  <a:pt x="3675979" y="2175374"/>
                </a:lnTo>
                <a:lnTo>
                  <a:pt x="3646572" y="2198995"/>
                </a:lnTo>
                <a:lnTo>
                  <a:pt x="3617164" y="2222426"/>
                </a:lnTo>
                <a:lnTo>
                  <a:pt x="3587756" y="2245667"/>
                </a:lnTo>
                <a:lnTo>
                  <a:pt x="3558348" y="2268719"/>
                </a:lnTo>
                <a:lnTo>
                  <a:pt x="3528940" y="2291580"/>
                </a:lnTo>
                <a:lnTo>
                  <a:pt x="3499532" y="2314253"/>
                </a:lnTo>
                <a:lnTo>
                  <a:pt x="3470125" y="2336735"/>
                </a:lnTo>
                <a:lnTo>
                  <a:pt x="3440717" y="2359028"/>
                </a:lnTo>
                <a:lnTo>
                  <a:pt x="3411309" y="2381131"/>
                </a:lnTo>
                <a:lnTo>
                  <a:pt x="3381901" y="2403044"/>
                </a:lnTo>
                <a:lnTo>
                  <a:pt x="3352493" y="2424767"/>
                </a:lnTo>
                <a:lnTo>
                  <a:pt x="3323085" y="2446301"/>
                </a:lnTo>
                <a:lnTo>
                  <a:pt x="3293677" y="2467645"/>
                </a:lnTo>
                <a:lnTo>
                  <a:pt x="3264270" y="2488799"/>
                </a:lnTo>
                <a:lnTo>
                  <a:pt x="3234862" y="2509764"/>
                </a:lnTo>
                <a:lnTo>
                  <a:pt x="3205454" y="2530539"/>
                </a:lnTo>
                <a:lnTo>
                  <a:pt x="3176046" y="2551124"/>
                </a:lnTo>
                <a:lnTo>
                  <a:pt x="3146638" y="2571519"/>
                </a:lnTo>
                <a:lnTo>
                  <a:pt x="3117230" y="2591725"/>
                </a:lnTo>
                <a:lnTo>
                  <a:pt x="3087823" y="2611741"/>
                </a:lnTo>
                <a:lnTo>
                  <a:pt x="3058415" y="2631567"/>
                </a:lnTo>
                <a:lnTo>
                  <a:pt x="3029007" y="2651204"/>
                </a:lnTo>
                <a:lnTo>
                  <a:pt x="2999599" y="2670651"/>
                </a:lnTo>
                <a:lnTo>
                  <a:pt x="2970191" y="2689908"/>
                </a:lnTo>
                <a:lnTo>
                  <a:pt x="2940783" y="2708975"/>
                </a:lnTo>
                <a:lnTo>
                  <a:pt x="2911376" y="2727853"/>
                </a:lnTo>
                <a:lnTo>
                  <a:pt x="2881968" y="2746541"/>
                </a:lnTo>
                <a:lnTo>
                  <a:pt x="2852560" y="2765039"/>
                </a:lnTo>
                <a:lnTo>
                  <a:pt x="2823152" y="2783347"/>
                </a:lnTo>
                <a:lnTo>
                  <a:pt x="2793744" y="2801466"/>
                </a:lnTo>
                <a:lnTo>
                  <a:pt x="2764336" y="2819395"/>
                </a:lnTo>
                <a:lnTo>
                  <a:pt x="2734929" y="2837134"/>
                </a:lnTo>
                <a:lnTo>
                  <a:pt x="2705521" y="2854684"/>
                </a:lnTo>
                <a:lnTo>
                  <a:pt x="2676113" y="2872044"/>
                </a:lnTo>
                <a:lnTo>
                  <a:pt x="2646705" y="2889214"/>
                </a:lnTo>
                <a:lnTo>
                  <a:pt x="2617297" y="2906194"/>
                </a:lnTo>
                <a:lnTo>
                  <a:pt x="2587889" y="2922985"/>
                </a:lnTo>
                <a:lnTo>
                  <a:pt x="2558482" y="2939586"/>
                </a:lnTo>
                <a:lnTo>
                  <a:pt x="2529074" y="2955997"/>
                </a:lnTo>
                <a:lnTo>
                  <a:pt x="2499666" y="2972218"/>
                </a:lnTo>
                <a:lnTo>
                  <a:pt x="2470258" y="2988250"/>
                </a:lnTo>
                <a:lnTo>
                  <a:pt x="2440850" y="3004092"/>
                </a:lnTo>
                <a:lnTo>
                  <a:pt x="2411442" y="3019744"/>
                </a:lnTo>
                <a:lnTo>
                  <a:pt x="2382034" y="3035207"/>
                </a:lnTo>
                <a:lnTo>
                  <a:pt x="2352627" y="3050480"/>
                </a:lnTo>
                <a:lnTo>
                  <a:pt x="2323219" y="3065563"/>
                </a:lnTo>
                <a:lnTo>
                  <a:pt x="2293811" y="3080456"/>
                </a:lnTo>
                <a:lnTo>
                  <a:pt x="2264403" y="3095160"/>
                </a:lnTo>
                <a:lnTo>
                  <a:pt x="2234995" y="3109674"/>
                </a:lnTo>
                <a:lnTo>
                  <a:pt x="2205587" y="3123998"/>
                </a:lnTo>
                <a:lnTo>
                  <a:pt x="2176180" y="3138133"/>
                </a:lnTo>
                <a:lnTo>
                  <a:pt x="2146772" y="3152078"/>
                </a:lnTo>
                <a:lnTo>
                  <a:pt x="2117364" y="3165833"/>
                </a:lnTo>
                <a:lnTo>
                  <a:pt x="2087956" y="3179398"/>
                </a:lnTo>
                <a:lnTo>
                  <a:pt x="2058548" y="3192774"/>
                </a:lnTo>
                <a:lnTo>
                  <a:pt x="2029140" y="3205959"/>
                </a:lnTo>
                <a:lnTo>
                  <a:pt x="1999733" y="3218956"/>
                </a:lnTo>
                <a:lnTo>
                  <a:pt x="1970325" y="3231762"/>
                </a:lnTo>
                <a:lnTo>
                  <a:pt x="1940917" y="3244379"/>
                </a:lnTo>
                <a:lnTo>
                  <a:pt x="1911509" y="3256806"/>
                </a:lnTo>
                <a:lnTo>
                  <a:pt x="1882101" y="3269043"/>
                </a:lnTo>
                <a:lnTo>
                  <a:pt x="1852693" y="3281090"/>
                </a:lnTo>
                <a:lnTo>
                  <a:pt x="1823286" y="3292948"/>
                </a:lnTo>
                <a:lnTo>
                  <a:pt x="1793878" y="3304616"/>
                </a:lnTo>
                <a:lnTo>
                  <a:pt x="1764470" y="3316095"/>
                </a:lnTo>
                <a:lnTo>
                  <a:pt x="1735062" y="3327383"/>
                </a:lnTo>
                <a:lnTo>
                  <a:pt x="1705654" y="3338482"/>
                </a:lnTo>
                <a:lnTo>
                  <a:pt x="1676246" y="3349391"/>
                </a:lnTo>
                <a:lnTo>
                  <a:pt x="1646838" y="3360111"/>
                </a:lnTo>
                <a:lnTo>
                  <a:pt x="1617431" y="3370641"/>
                </a:lnTo>
                <a:lnTo>
                  <a:pt x="1588023" y="3380981"/>
                </a:lnTo>
                <a:lnTo>
                  <a:pt x="1558615" y="3391131"/>
                </a:lnTo>
                <a:lnTo>
                  <a:pt x="1529207" y="3401091"/>
                </a:lnTo>
                <a:lnTo>
                  <a:pt x="1499799" y="3410862"/>
                </a:lnTo>
                <a:lnTo>
                  <a:pt x="1470391" y="3420443"/>
                </a:lnTo>
                <a:lnTo>
                  <a:pt x="1440984" y="3429835"/>
                </a:lnTo>
                <a:lnTo>
                  <a:pt x="1411576" y="3439036"/>
                </a:lnTo>
                <a:lnTo>
                  <a:pt x="1382168" y="3448048"/>
                </a:lnTo>
                <a:lnTo>
                  <a:pt x="1352760" y="3456871"/>
                </a:lnTo>
                <a:lnTo>
                  <a:pt x="1323352" y="3465503"/>
                </a:lnTo>
                <a:lnTo>
                  <a:pt x="1293944" y="3473946"/>
                </a:lnTo>
                <a:lnTo>
                  <a:pt x="1264537" y="3482199"/>
                </a:lnTo>
                <a:lnTo>
                  <a:pt x="1235129" y="3490262"/>
                </a:lnTo>
                <a:lnTo>
                  <a:pt x="1205721" y="3498136"/>
                </a:lnTo>
                <a:lnTo>
                  <a:pt x="1176313" y="3505820"/>
                </a:lnTo>
                <a:lnTo>
                  <a:pt x="1146905" y="3513314"/>
                </a:lnTo>
                <a:lnTo>
                  <a:pt x="1117497" y="3520618"/>
                </a:lnTo>
                <a:lnTo>
                  <a:pt x="1088090" y="3527733"/>
                </a:lnTo>
                <a:lnTo>
                  <a:pt x="1058682" y="3534658"/>
                </a:lnTo>
                <a:lnTo>
                  <a:pt x="1029274" y="3541393"/>
                </a:lnTo>
                <a:lnTo>
                  <a:pt x="999866" y="3547939"/>
                </a:lnTo>
                <a:lnTo>
                  <a:pt x="970458" y="3554294"/>
                </a:lnTo>
                <a:lnTo>
                  <a:pt x="941050" y="3560460"/>
                </a:lnTo>
                <a:lnTo>
                  <a:pt x="911643" y="3566437"/>
                </a:lnTo>
                <a:lnTo>
                  <a:pt x="882235" y="3572223"/>
                </a:lnTo>
                <a:lnTo>
                  <a:pt x="852827" y="3577820"/>
                </a:lnTo>
                <a:lnTo>
                  <a:pt x="823419" y="3583227"/>
                </a:lnTo>
                <a:lnTo>
                  <a:pt x="794011" y="3588445"/>
                </a:lnTo>
                <a:lnTo>
                  <a:pt x="764603" y="3593472"/>
                </a:lnTo>
                <a:lnTo>
                  <a:pt x="735195" y="3598310"/>
                </a:lnTo>
                <a:lnTo>
                  <a:pt x="705788" y="3602959"/>
                </a:lnTo>
                <a:lnTo>
                  <a:pt x="676380" y="3607417"/>
                </a:lnTo>
                <a:lnTo>
                  <a:pt x="646972" y="3611686"/>
                </a:lnTo>
                <a:lnTo>
                  <a:pt x="617564" y="3615765"/>
                </a:lnTo>
                <a:lnTo>
                  <a:pt x="588156" y="3619655"/>
                </a:lnTo>
                <a:lnTo>
                  <a:pt x="558748" y="3623354"/>
                </a:lnTo>
                <a:lnTo>
                  <a:pt x="529341" y="3626864"/>
                </a:lnTo>
                <a:lnTo>
                  <a:pt x="499933" y="3630184"/>
                </a:lnTo>
                <a:lnTo>
                  <a:pt x="470525" y="3633315"/>
                </a:lnTo>
                <a:lnTo>
                  <a:pt x="441117" y="3636255"/>
                </a:lnTo>
                <a:lnTo>
                  <a:pt x="411709" y="3639006"/>
                </a:lnTo>
                <a:lnTo>
                  <a:pt x="382301" y="3641568"/>
                </a:lnTo>
                <a:lnTo>
                  <a:pt x="352894" y="3643939"/>
                </a:lnTo>
                <a:lnTo>
                  <a:pt x="323486" y="3646121"/>
                </a:lnTo>
                <a:lnTo>
                  <a:pt x="294078" y="3648113"/>
                </a:lnTo>
                <a:lnTo>
                  <a:pt x="264670" y="3649916"/>
                </a:lnTo>
                <a:lnTo>
                  <a:pt x="235262" y="3651528"/>
                </a:lnTo>
                <a:lnTo>
                  <a:pt x="205854" y="3652951"/>
                </a:lnTo>
                <a:lnTo>
                  <a:pt x="176447" y="3654184"/>
                </a:lnTo>
                <a:lnTo>
                  <a:pt x="147039" y="3655228"/>
                </a:lnTo>
                <a:lnTo>
                  <a:pt x="117631" y="3656082"/>
                </a:lnTo>
                <a:lnTo>
                  <a:pt x="88223" y="3656746"/>
                </a:lnTo>
                <a:lnTo>
                  <a:pt x="58815" y="3657220"/>
                </a:lnTo>
                <a:lnTo>
                  <a:pt x="29407" y="3657505"/>
                </a:lnTo>
                <a:lnTo>
                  <a:pt x="0" y="3657600"/>
                </a:lnTo>
                <a:close/>
              </a:path>
            </a:pathLst>
          </a:custGeom>
          <a:solidFill>
            <a:srgbClr val="8EDBD4">
              <a:alpha val="18000"/>
            </a:srgbClr>
          </a:solidFill>
          <a:ln w="10160">
            <a:solidFill>
              <a:srgbClr val="8EDBD4">
                <a:alpha val="1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3-E18 polygon 31" descr="sci-ppt:o031"/>
          <p:cNvSpPr/>
          <p:nvPr/>
        </p:nvSpPr>
        <p:spPr>
          <a:xfrm>
            <a:off x="914400" y="1384964"/>
            <a:ext cx="5763936" cy="3644236"/>
          </a:xfrm>
          <a:custGeom>
            <a:avLst/>
            <a:gdLst/>
            <a:ahLst/>
            <a:cxnLst/>
            <a:rect l="l" t="t" r="r" b="b"/>
            <a:pathLst>
              <a:path w="5763936" h="3644236">
                <a:moveTo>
                  <a:pt x="0" y="3644236"/>
                </a:moveTo>
                <a:lnTo>
                  <a:pt x="29407" y="3644141"/>
                </a:lnTo>
                <a:lnTo>
                  <a:pt x="58815" y="3643856"/>
                </a:lnTo>
                <a:lnTo>
                  <a:pt x="88223" y="3643382"/>
                </a:lnTo>
                <a:lnTo>
                  <a:pt x="117631" y="3642718"/>
                </a:lnTo>
                <a:lnTo>
                  <a:pt x="147039" y="3641864"/>
                </a:lnTo>
                <a:lnTo>
                  <a:pt x="176447" y="3640820"/>
                </a:lnTo>
                <a:lnTo>
                  <a:pt x="205854" y="3639587"/>
                </a:lnTo>
                <a:lnTo>
                  <a:pt x="235262" y="3638164"/>
                </a:lnTo>
                <a:lnTo>
                  <a:pt x="264670" y="3636552"/>
                </a:lnTo>
                <a:lnTo>
                  <a:pt x="294078" y="3634749"/>
                </a:lnTo>
                <a:lnTo>
                  <a:pt x="323486" y="3632757"/>
                </a:lnTo>
                <a:lnTo>
                  <a:pt x="352894" y="3630575"/>
                </a:lnTo>
                <a:lnTo>
                  <a:pt x="382301" y="3628204"/>
                </a:lnTo>
                <a:lnTo>
                  <a:pt x="411709" y="3625642"/>
                </a:lnTo>
                <a:lnTo>
                  <a:pt x="441117" y="3622891"/>
                </a:lnTo>
                <a:lnTo>
                  <a:pt x="470525" y="3619951"/>
                </a:lnTo>
                <a:lnTo>
                  <a:pt x="499933" y="3616820"/>
                </a:lnTo>
                <a:lnTo>
                  <a:pt x="529341" y="3613500"/>
                </a:lnTo>
                <a:lnTo>
                  <a:pt x="558748" y="3609990"/>
                </a:lnTo>
                <a:lnTo>
                  <a:pt x="588156" y="3606291"/>
                </a:lnTo>
                <a:lnTo>
                  <a:pt x="617564" y="3602401"/>
                </a:lnTo>
                <a:lnTo>
                  <a:pt x="646972" y="3598322"/>
                </a:lnTo>
                <a:lnTo>
                  <a:pt x="676380" y="3594053"/>
                </a:lnTo>
                <a:lnTo>
                  <a:pt x="705788" y="3589595"/>
                </a:lnTo>
                <a:lnTo>
                  <a:pt x="735195" y="3584946"/>
                </a:lnTo>
                <a:lnTo>
                  <a:pt x="764603" y="3580108"/>
                </a:lnTo>
                <a:lnTo>
                  <a:pt x="794011" y="3575081"/>
                </a:lnTo>
                <a:lnTo>
                  <a:pt x="823419" y="3569863"/>
                </a:lnTo>
                <a:lnTo>
                  <a:pt x="852827" y="3564456"/>
                </a:lnTo>
                <a:lnTo>
                  <a:pt x="882235" y="3558859"/>
                </a:lnTo>
                <a:lnTo>
                  <a:pt x="911643" y="3553073"/>
                </a:lnTo>
                <a:lnTo>
                  <a:pt x="941050" y="3547096"/>
                </a:lnTo>
                <a:lnTo>
                  <a:pt x="970458" y="3540930"/>
                </a:lnTo>
                <a:lnTo>
                  <a:pt x="999866" y="3534575"/>
                </a:lnTo>
                <a:lnTo>
                  <a:pt x="1029274" y="3528029"/>
                </a:lnTo>
                <a:lnTo>
                  <a:pt x="1058682" y="3521294"/>
                </a:lnTo>
                <a:lnTo>
                  <a:pt x="1088090" y="3514369"/>
                </a:lnTo>
                <a:lnTo>
                  <a:pt x="1117497" y="3507254"/>
                </a:lnTo>
                <a:lnTo>
                  <a:pt x="1146905" y="3499950"/>
                </a:lnTo>
                <a:lnTo>
                  <a:pt x="1176313" y="3492456"/>
                </a:lnTo>
                <a:lnTo>
                  <a:pt x="1205721" y="3484772"/>
                </a:lnTo>
                <a:lnTo>
                  <a:pt x="1235129" y="3476898"/>
                </a:lnTo>
                <a:lnTo>
                  <a:pt x="1264537" y="3468835"/>
                </a:lnTo>
                <a:lnTo>
                  <a:pt x="1293944" y="3460582"/>
                </a:lnTo>
                <a:lnTo>
                  <a:pt x="1323352" y="3452139"/>
                </a:lnTo>
                <a:lnTo>
                  <a:pt x="1352760" y="3443507"/>
                </a:lnTo>
                <a:lnTo>
                  <a:pt x="1382168" y="3434684"/>
                </a:lnTo>
                <a:lnTo>
                  <a:pt x="1411576" y="3425672"/>
                </a:lnTo>
                <a:lnTo>
                  <a:pt x="1440984" y="3416471"/>
                </a:lnTo>
                <a:lnTo>
                  <a:pt x="1470391" y="3407079"/>
                </a:lnTo>
                <a:lnTo>
                  <a:pt x="1499799" y="3397498"/>
                </a:lnTo>
                <a:lnTo>
                  <a:pt x="1529207" y="3387727"/>
                </a:lnTo>
                <a:lnTo>
                  <a:pt x="1558615" y="3377767"/>
                </a:lnTo>
                <a:lnTo>
                  <a:pt x="1588023" y="3367617"/>
                </a:lnTo>
                <a:lnTo>
                  <a:pt x="1617431" y="3357277"/>
                </a:lnTo>
                <a:lnTo>
                  <a:pt x="1646838" y="3346747"/>
                </a:lnTo>
                <a:lnTo>
                  <a:pt x="1676246" y="3336027"/>
                </a:lnTo>
                <a:lnTo>
                  <a:pt x="1705654" y="3325118"/>
                </a:lnTo>
                <a:lnTo>
                  <a:pt x="1735062" y="3314019"/>
                </a:lnTo>
                <a:lnTo>
                  <a:pt x="1764470" y="3302731"/>
                </a:lnTo>
                <a:lnTo>
                  <a:pt x="1793878" y="3291252"/>
                </a:lnTo>
                <a:lnTo>
                  <a:pt x="1823286" y="3279584"/>
                </a:lnTo>
                <a:lnTo>
                  <a:pt x="1852693" y="3267726"/>
                </a:lnTo>
                <a:lnTo>
                  <a:pt x="1882101" y="3255679"/>
                </a:lnTo>
                <a:lnTo>
                  <a:pt x="1911509" y="3243442"/>
                </a:lnTo>
                <a:lnTo>
                  <a:pt x="1940917" y="3231015"/>
                </a:lnTo>
                <a:lnTo>
                  <a:pt x="1970325" y="3218398"/>
                </a:lnTo>
                <a:lnTo>
                  <a:pt x="1999733" y="3205592"/>
                </a:lnTo>
                <a:lnTo>
                  <a:pt x="2029140" y="3192595"/>
                </a:lnTo>
                <a:lnTo>
                  <a:pt x="2058548" y="3179410"/>
                </a:lnTo>
                <a:lnTo>
                  <a:pt x="2087956" y="3166034"/>
                </a:lnTo>
                <a:lnTo>
                  <a:pt x="2117364" y="3152469"/>
                </a:lnTo>
                <a:lnTo>
                  <a:pt x="2146772" y="3138714"/>
                </a:lnTo>
                <a:lnTo>
                  <a:pt x="2176180" y="3124769"/>
                </a:lnTo>
                <a:lnTo>
                  <a:pt x="2205587" y="3110634"/>
                </a:lnTo>
                <a:lnTo>
                  <a:pt x="2234995" y="3096310"/>
                </a:lnTo>
                <a:lnTo>
                  <a:pt x="2264403" y="3081796"/>
                </a:lnTo>
                <a:lnTo>
                  <a:pt x="2293811" y="3067092"/>
                </a:lnTo>
                <a:lnTo>
                  <a:pt x="2323219" y="3052199"/>
                </a:lnTo>
                <a:lnTo>
                  <a:pt x="2352627" y="3037116"/>
                </a:lnTo>
                <a:lnTo>
                  <a:pt x="2382034" y="3021843"/>
                </a:lnTo>
                <a:lnTo>
                  <a:pt x="2411442" y="3006380"/>
                </a:lnTo>
                <a:lnTo>
                  <a:pt x="2440850" y="2990728"/>
                </a:lnTo>
                <a:lnTo>
                  <a:pt x="2470258" y="2974886"/>
                </a:lnTo>
                <a:lnTo>
                  <a:pt x="2499666" y="2958854"/>
                </a:lnTo>
                <a:lnTo>
                  <a:pt x="2529074" y="2942633"/>
                </a:lnTo>
                <a:lnTo>
                  <a:pt x="2558482" y="2926222"/>
                </a:lnTo>
                <a:lnTo>
                  <a:pt x="2587889" y="2909621"/>
                </a:lnTo>
                <a:lnTo>
                  <a:pt x="2617297" y="2892830"/>
                </a:lnTo>
                <a:lnTo>
                  <a:pt x="2646705" y="2875850"/>
                </a:lnTo>
                <a:lnTo>
                  <a:pt x="2676113" y="2858680"/>
                </a:lnTo>
                <a:lnTo>
                  <a:pt x="2705521" y="2841320"/>
                </a:lnTo>
                <a:lnTo>
                  <a:pt x="2734929" y="2823770"/>
                </a:lnTo>
                <a:lnTo>
                  <a:pt x="2764336" y="2806031"/>
                </a:lnTo>
                <a:lnTo>
                  <a:pt x="2793744" y="2788102"/>
                </a:lnTo>
                <a:lnTo>
                  <a:pt x="2823152" y="2769983"/>
                </a:lnTo>
                <a:lnTo>
                  <a:pt x="2852560" y="2751675"/>
                </a:lnTo>
                <a:lnTo>
                  <a:pt x="2881968" y="2733177"/>
                </a:lnTo>
                <a:lnTo>
                  <a:pt x="2911376" y="2714489"/>
                </a:lnTo>
                <a:lnTo>
                  <a:pt x="2940783" y="2695611"/>
                </a:lnTo>
                <a:lnTo>
                  <a:pt x="2970191" y="2676544"/>
                </a:lnTo>
                <a:lnTo>
                  <a:pt x="2999599" y="2657287"/>
                </a:lnTo>
                <a:lnTo>
                  <a:pt x="3029007" y="2637840"/>
                </a:lnTo>
                <a:lnTo>
                  <a:pt x="3058415" y="2618203"/>
                </a:lnTo>
                <a:lnTo>
                  <a:pt x="3087823" y="2598377"/>
                </a:lnTo>
                <a:lnTo>
                  <a:pt x="3117230" y="2578361"/>
                </a:lnTo>
                <a:lnTo>
                  <a:pt x="3146638" y="2558155"/>
                </a:lnTo>
                <a:lnTo>
                  <a:pt x="3176046" y="2537760"/>
                </a:lnTo>
                <a:lnTo>
                  <a:pt x="3205454" y="2517175"/>
                </a:lnTo>
                <a:lnTo>
                  <a:pt x="3234862" y="2496400"/>
                </a:lnTo>
                <a:lnTo>
                  <a:pt x="3264270" y="2475435"/>
                </a:lnTo>
                <a:lnTo>
                  <a:pt x="3293677" y="2454281"/>
                </a:lnTo>
                <a:lnTo>
                  <a:pt x="3323085" y="2432937"/>
                </a:lnTo>
                <a:lnTo>
                  <a:pt x="3352493" y="2411403"/>
                </a:lnTo>
                <a:lnTo>
                  <a:pt x="3381901" y="2389680"/>
                </a:lnTo>
                <a:lnTo>
                  <a:pt x="3411309" y="2367767"/>
                </a:lnTo>
                <a:lnTo>
                  <a:pt x="3440717" y="2345664"/>
                </a:lnTo>
                <a:lnTo>
                  <a:pt x="3470125" y="2323371"/>
                </a:lnTo>
                <a:lnTo>
                  <a:pt x="3499532" y="2300889"/>
                </a:lnTo>
                <a:lnTo>
                  <a:pt x="3528940" y="2278216"/>
                </a:lnTo>
                <a:lnTo>
                  <a:pt x="3558348" y="2255355"/>
                </a:lnTo>
                <a:lnTo>
                  <a:pt x="3587756" y="2232303"/>
                </a:lnTo>
                <a:lnTo>
                  <a:pt x="3617164" y="2209062"/>
                </a:lnTo>
                <a:lnTo>
                  <a:pt x="3646572" y="2185631"/>
                </a:lnTo>
                <a:lnTo>
                  <a:pt x="3675979" y="2162010"/>
                </a:lnTo>
                <a:lnTo>
                  <a:pt x="3705387" y="2138199"/>
                </a:lnTo>
                <a:lnTo>
                  <a:pt x="3734795" y="2114199"/>
                </a:lnTo>
                <a:lnTo>
                  <a:pt x="3764203" y="2090009"/>
                </a:lnTo>
                <a:lnTo>
                  <a:pt x="3793611" y="2065630"/>
                </a:lnTo>
                <a:lnTo>
                  <a:pt x="3823019" y="2041060"/>
                </a:lnTo>
                <a:lnTo>
                  <a:pt x="3852426" y="2016301"/>
                </a:lnTo>
                <a:lnTo>
                  <a:pt x="3881834" y="1991352"/>
                </a:lnTo>
                <a:lnTo>
                  <a:pt x="3911242" y="1966214"/>
                </a:lnTo>
                <a:lnTo>
                  <a:pt x="3940650" y="1940886"/>
                </a:lnTo>
                <a:lnTo>
                  <a:pt x="3970058" y="1915368"/>
                </a:lnTo>
                <a:lnTo>
                  <a:pt x="3999466" y="1889660"/>
                </a:lnTo>
                <a:lnTo>
                  <a:pt x="4028873" y="1863762"/>
                </a:lnTo>
                <a:lnTo>
                  <a:pt x="4058281" y="1837675"/>
                </a:lnTo>
                <a:lnTo>
                  <a:pt x="4087689" y="1811398"/>
                </a:lnTo>
                <a:lnTo>
                  <a:pt x="4117097" y="1784932"/>
                </a:lnTo>
                <a:lnTo>
                  <a:pt x="4146505" y="1758275"/>
                </a:lnTo>
                <a:lnTo>
                  <a:pt x="4175913" y="1731429"/>
                </a:lnTo>
                <a:lnTo>
                  <a:pt x="4205321" y="1704394"/>
                </a:lnTo>
                <a:lnTo>
                  <a:pt x="4234728" y="1677168"/>
                </a:lnTo>
                <a:lnTo>
                  <a:pt x="4264136" y="1649753"/>
                </a:lnTo>
                <a:lnTo>
                  <a:pt x="4293544" y="1622148"/>
                </a:lnTo>
                <a:lnTo>
                  <a:pt x="4322952" y="1594353"/>
                </a:lnTo>
                <a:lnTo>
                  <a:pt x="4352360" y="1566369"/>
                </a:lnTo>
                <a:lnTo>
                  <a:pt x="4381768" y="1538195"/>
                </a:lnTo>
                <a:lnTo>
                  <a:pt x="4411175" y="1509831"/>
                </a:lnTo>
                <a:lnTo>
                  <a:pt x="4440583" y="1481277"/>
                </a:lnTo>
                <a:lnTo>
                  <a:pt x="4469991" y="1452534"/>
                </a:lnTo>
                <a:lnTo>
                  <a:pt x="4499399" y="1423601"/>
                </a:lnTo>
                <a:lnTo>
                  <a:pt x="4528807" y="1394478"/>
                </a:lnTo>
                <a:lnTo>
                  <a:pt x="4558215" y="1365166"/>
                </a:lnTo>
                <a:lnTo>
                  <a:pt x="4587622" y="1335663"/>
                </a:lnTo>
                <a:lnTo>
                  <a:pt x="4617030" y="1305971"/>
                </a:lnTo>
                <a:lnTo>
                  <a:pt x="4646438" y="1276090"/>
                </a:lnTo>
                <a:lnTo>
                  <a:pt x="4675846" y="1246018"/>
                </a:lnTo>
                <a:lnTo>
                  <a:pt x="4705254" y="1215757"/>
                </a:lnTo>
                <a:lnTo>
                  <a:pt x="4734662" y="1185306"/>
                </a:lnTo>
                <a:lnTo>
                  <a:pt x="4764069" y="1154666"/>
                </a:lnTo>
                <a:lnTo>
                  <a:pt x="4793477" y="1123835"/>
                </a:lnTo>
                <a:lnTo>
                  <a:pt x="4822885" y="1092815"/>
                </a:lnTo>
                <a:lnTo>
                  <a:pt x="4852293" y="1061606"/>
                </a:lnTo>
                <a:lnTo>
                  <a:pt x="4881701" y="1030206"/>
                </a:lnTo>
                <a:lnTo>
                  <a:pt x="4911109" y="998617"/>
                </a:lnTo>
                <a:lnTo>
                  <a:pt x="4940516" y="966838"/>
                </a:lnTo>
                <a:lnTo>
                  <a:pt x="4969924" y="934870"/>
                </a:lnTo>
                <a:lnTo>
                  <a:pt x="4999332" y="902711"/>
                </a:lnTo>
                <a:lnTo>
                  <a:pt x="5028740" y="870363"/>
                </a:lnTo>
                <a:lnTo>
                  <a:pt x="5058148" y="837825"/>
                </a:lnTo>
                <a:lnTo>
                  <a:pt x="5087556" y="805098"/>
                </a:lnTo>
                <a:lnTo>
                  <a:pt x="5116964" y="772180"/>
                </a:lnTo>
                <a:lnTo>
                  <a:pt x="5146371" y="739073"/>
                </a:lnTo>
                <a:lnTo>
                  <a:pt x="5175779" y="705777"/>
                </a:lnTo>
                <a:lnTo>
                  <a:pt x="5205187" y="672290"/>
                </a:lnTo>
                <a:lnTo>
                  <a:pt x="5234595" y="638614"/>
                </a:lnTo>
                <a:lnTo>
                  <a:pt x="5264003" y="604748"/>
                </a:lnTo>
                <a:lnTo>
                  <a:pt x="5293411" y="570693"/>
                </a:lnTo>
                <a:lnTo>
                  <a:pt x="5322818" y="536447"/>
                </a:lnTo>
                <a:lnTo>
                  <a:pt x="5352226" y="502012"/>
                </a:lnTo>
                <a:lnTo>
                  <a:pt x="5381634" y="467387"/>
                </a:lnTo>
                <a:lnTo>
                  <a:pt x="5411042" y="432573"/>
                </a:lnTo>
                <a:lnTo>
                  <a:pt x="5440450" y="397569"/>
                </a:lnTo>
                <a:lnTo>
                  <a:pt x="5469858" y="362375"/>
                </a:lnTo>
                <a:lnTo>
                  <a:pt x="5499265" y="326991"/>
                </a:lnTo>
                <a:lnTo>
                  <a:pt x="5528673" y="291418"/>
                </a:lnTo>
                <a:lnTo>
                  <a:pt x="5558081" y="255654"/>
                </a:lnTo>
                <a:lnTo>
                  <a:pt x="5587489" y="219702"/>
                </a:lnTo>
                <a:lnTo>
                  <a:pt x="5616897" y="183559"/>
                </a:lnTo>
                <a:lnTo>
                  <a:pt x="5646305" y="147227"/>
                </a:lnTo>
                <a:lnTo>
                  <a:pt x="5675712" y="110705"/>
                </a:lnTo>
                <a:lnTo>
                  <a:pt x="5705120" y="73993"/>
                </a:lnTo>
                <a:lnTo>
                  <a:pt x="5734528" y="37091"/>
                </a:lnTo>
                <a:lnTo>
                  <a:pt x="5763936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3-E18 ellipse 32" descr="sci-ppt:o032"/>
          <p:cNvSpPr/>
          <p:nvPr/>
        </p:nvSpPr>
        <p:spPr>
          <a:xfrm>
            <a:off x="4175154" y="373684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3-E18 text 33" descr="sci-ppt:o033"/>
          <p:cNvSpPr txBox="1"/>
          <p:nvPr/>
        </p:nvSpPr>
        <p:spPr>
          <a:xfrm>
            <a:off x="4358034" y="4038600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uniform jet: on the boundary</a:t>
            </a:r>
          </a:p>
        </p:txBody>
      </p:sp>
      <p:sp>
        <p:nvSpPr>
          <p:cNvPr id="36" name="C3-E18 ellipse 34" descr="sci-ppt:o034"/>
          <p:cNvSpPr/>
          <p:nvPr/>
        </p:nvSpPr>
        <p:spPr>
          <a:xfrm>
            <a:off x="3174982" y="3736848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3-E18 text 35" descr="sci-ppt:o035"/>
          <p:cNvSpPr txBox="1"/>
          <p:nvPr/>
        </p:nvSpPr>
        <p:spPr>
          <a:xfrm>
            <a:off x="1099294" y="3307080"/>
            <a:ext cx="201168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spread of velocities: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same E, less P</a:t>
            </a:r>
          </a:p>
        </p:txBody>
      </p:sp>
      <p:sp>
        <p:nvSpPr>
          <p:cNvPr id="38" name="C3-E18 text 36" descr="sci-ppt:o036"/>
          <p:cNvSpPr txBox="1"/>
          <p:nvPr/>
        </p:nvSpPr>
        <p:spPr>
          <a:xfrm>
            <a:off x="1572768" y="1645919"/>
            <a:ext cx="2194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allowed: E ≥ P²/2m</a:t>
            </a:r>
          </a:p>
        </p:txBody>
      </p:sp>
      <p:sp>
        <p:nvSpPr>
          <p:cNvPr id="39" name="C3-E18 text 37" descr="sci-ppt:o037"/>
          <p:cNvSpPr txBox="1"/>
          <p:nvPr/>
        </p:nvSpPr>
        <p:spPr>
          <a:xfrm>
            <a:off x="4711653" y="4632960"/>
            <a:ext cx="1097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forbidden</a:t>
            </a:r>
          </a:p>
        </p:txBody>
      </p:sp>
      <p:sp>
        <p:nvSpPr>
          <p:cNvPr id="40" name="C3-E18 round_rect 38" descr="sci-ppt:o038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3-E18 text 39" descr="sci-ppt:o039"/>
          <p:cNvSpPr txBox="1"/>
          <p:nvPr/>
        </p:nvSpPr>
        <p:spPr>
          <a:xfrm>
            <a:off x="7150608" y="1426464"/>
            <a:ext cx="45811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Cauchy–Schwarz on the jet liquid</a:t>
            </a:r>
          </a:p>
        </p:txBody>
      </p:sp>
      <p:sp>
        <p:nvSpPr>
          <p:cNvPr id="42" name="C3-E18 text 40" descr="sci-ppt:o040"/>
          <p:cNvSpPr txBox="1"/>
          <p:nvPr/>
        </p:nvSpPr>
        <p:spPr>
          <a:xfrm>
            <a:off x="7178040" y="182880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Aⱼ = πdⱼ²/4,  mⱼ = ρA_jLⱼ</a:t>
            </a:r>
          </a:p>
        </p:txBody>
      </p:sp>
      <p:sp>
        <p:nvSpPr>
          <p:cNvPr id="43" name="C3-E18 text 41" descr="sci-ppt:o041"/>
          <p:cNvSpPr txBox="1"/>
          <p:nvPr/>
        </p:nvSpPr>
        <p:spPr>
          <a:xfrm>
            <a:off x="7178040" y="228600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mⱼ = 1000 × π(10 µm)²/4 × 50 µm = 3.927 ng</a:t>
            </a:r>
          </a:p>
        </p:txBody>
      </p:sp>
      <p:sp>
        <p:nvSpPr>
          <p:cNvPr id="44" name="C3-E18 text 42" descr="sci-ppt:o042"/>
          <p:cNvSpPr txBox="1"/>
          <p:nvPr/>
        </p:nvSpPr>
        <p:spPr>
          <a:xfrm>
            <a:off x="7178040" y="283464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|Pⱼ|² ≤ (∫dm)(∫u_z² dm) ≤ 2 mⱼ Eⱼ</a:t>
            </a:r>
          </a:p>
        </p:txBody>
      </p:sp>
      <p:sp>
        <p:nvSpPr>
          <p:cNvPr id="45" name="C3-E18 text 43" descr="sci-ppt:o043"/>
          <p:cNvSpPr txBox="1"/>
          <p:nvPr/>
        </p:nvSpPr>
        <p:spPr>
          <a:xfrm>
            <a:off x="7178040" y="338328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Uᵣₘₛ ≤ √(2Eₐᵥₐᵢₗ / mⱼ)</a:t>
            </a:r>
          </a:p>
        </p:txBody>
      </p:sp>
      <p:sp>
        <p:nvSpPr>
          <p:cNvPr id="46" name="C3-E18 text 44" descr="sci-ppt:o044"/>
          <p:cNvSpPr txBox="1"/>
          <p:nvPr/>
        </p:nvSpPr>
        <p:spPr>
          <a:xfrm>
            <a:off x="7178040" y="393192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Finite mass turns an energy budget into a bound on both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speed and momentum.</a:t>
            </a:r>
          </a:p>
        </p:txBody>
      </p:sp>
      <p:sp>
        <p:nvSpPr>
          <p:cNvPr id="47" name="C3-E18 text 45" descr="sci-ppt:o045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jet carries at most P = √(2 m E) of useful momentum; a non-uniform velocity spends energy without adding momentum.</a:t>
            </a:r>
          </a:p>
        </p:txBody>
      </p:sp>
      <p:sp>
        <p:nvSpPr>
          <p:cNvPr id="48" name="C3-E18 text 46" descr="sci-ppt:o04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Finite-mass definitions and bound of Eq. C3-E18.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