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C3-E28 · Compressible bulk conservation and required constitutive closure</a:t>
            </a:r>
          </a:p>
        </p:txBody>
      </p:sp>
      <p:sp>
        <p:nvSpPr>
          <p:cNvPr id="3" name="C3-E28 rect 1" descr="sci-ppt:o001"/>
          <p:cNvSpPr/>
          <p:nvPr/>
        </p:nvSpPr>
        <p:spPr>
          <a:xfrm>
            <a:off x="3383280" y="1051560"/>
            <a:ext cx="5303520" cy="219456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28 arrow 2" descr="sci-ppt:o002"/>
          <p:cNvCxnSpPr/>
          <p:nvPr/>
        </p:nvCxnSpPr>
        <p:spPr>
          <a:xfrm>
            <a:off x="640080" y="2148840"/>
            <a:ext cx="26517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28 arrow 3" descr="sci-ppt:o003"/>
          <p:cNvCxnSpPr/>
          <p:nvPr/>
        </p:nvCxnSpPr>
        <p:spPr>
          <a:xfrm>
            <a:off x="8778240" y="2148840"/>
            <a:ext cx="25603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28 text 4" descr="sci-ppt:o004"/>
          <p:cNvSpPr txBox="1"/>
          <p:nvPr/>
        </p:nvSpPr>
        <p:spPr>
          <a:xfrm>
            <a:off x="3749039" y="1463040"/>
            <a:ext cx="457200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7F0F3"/>
                </a:solidFill>
                <a:latin typeface="Arial"/>
              </a:rPr>
              <a:t>Conserved state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7F0F3"/>
                </a:solidFill>
                <a:latin typeface="Arial"/>
              </a:rPr>
              <a:t>ρ, ρu, ρe_t</a:t>
            </a:r>
          </a:p>
        </p:txBody>
      </p:sp>
      <p:sp>
        <p:nvSpPr>
          <p:cNvPr id="7" name="C3-E28 text 5" descr="sci-ppt:o005"/>
          <p:cNvSpPr txBox="1"/>
          <p:nvPr/>
        </p:nvSpPr>
        <p:spPr>
          <a:xfrm>
            <a:off x="731520" y="2651760"/>
            <a:ext cx="2743200" cy="5943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Mass, momentum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and energy in</a:t>
            </a:r>
          </a:p>
        </p:txBody>
      </p:sp>
      <p:sp>
        <p:nvSpPr>
          <p:cNvPr id="8" name="C3-E28 text 6" descr="sci-ppt:o006"/>
          <p:cNvSpPr txBox="1"/>
          <p:nvPr/>
        </p:nvSpPr>
        <p:spPr>
          <a:xfrm>
            <a:off x="8869680" y="2651760"/>
            <a:ext cx="2743200" cy="5943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Mass, momentum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and energy out</a:t>
            </a:r>
          </a:p>
        </p:txBody>
      </p:sp>
      <p:cxnSp>
        <p:nvCxnSpPr>
          <p:cNvPr id="9" name="C3-E28 arrow 7" descr="sci-ppt:o007"/>
          <p:cNvCxnSpPr/>
          <p:nvPr/>
        </p:nvCxnSpPr>
        <p:spPr>
          <a:xfrm>
            <a:off x="5852160" y="685800"/>
            <a:ext cx="0" cy="320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28 text 8" descr="sci-ppt:o008"/>
          <p:cNvSpPr txBox="1"/>
          <p:nvPr/>
        </p:nvSpPr>
        <p:spPr>
          <a:xfrm>
            <a:off x="6400800" y="64008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Q_abs: source counted once</a:t>
            </a:r>
          </a:p>
        </p:txBody>
      </p:sp>
      <p:sp>
        <p:nvSpPr>
          <p:cNvPr id="11" name="C3-E28 text 9" descr="sci-ppt:o009"/>
          <p:cNvSpPr txBox="1"/>
          <p:nvPr/>
        </p:nvSpPr>
        <p:spPr>
          <a:xfrm>
            <a:off x="3383280" y="3474720"/>
            <a:ext cx="7315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8EDBD4"/>
                </a:solidFill>
                <a:latin typeface="Arial"/>
              </a:rPr>
              <a:t>Closure: p = P(ρ,e,{Y_k}); stress and heat flux required.</a:t>
            </a:r>
          </a:p>
        </p:txBody>
      </p:sp>
      <p:cxnSp>
        <p:nvCxnSpPr>
          <p:cNvPr id="12" name="C3-E28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28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u, p compressible fields</a:t>
            </a:r>
          </a:p>
        </p:txBody>
      </p:sp>
      <p:sp>
        <p:nvSpPr>
          <p:cNvPr id="14" name="C3-E28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 internal; e_t total energy</a:t>
            </a:r>
          </a:p>
        </p:txBody>
      </p:sp>
      <p:sp>
        <p:nvSpPr>
          <p:cNvPr id="15" name="C3-E28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 viscous stress; q heat flux</a:t>
            </a:r>
          </a:p>
        </p:txBody>
      </p:sp>
      <p:sp>
        <p:nvSpPr>
          <p:cNvPr id="16" name="C3-E28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Q_abs optical source counted once</a:t>
            </a:r>
          </a:p>
        </p:txBody>
      </p:sp>
      <p:sp>
        <p:nvSpPr>
          <p:cNvPr id="17" name="C3-E28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P(ρ,e,{Y_k}) equation of state</a:t>
            </a:r>
          </a:p>
        </p:txBody>
      </p:sp>
      <p:sp>
        <p:nvSpPr>
          <p:cNvPr id="18" name="C3-E28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 identity; ⊗, ·, ∇· operators</a:t>
            </a:r>
          </a:p>
        </p:txBody>
      </p:sp>
      <p:sp>
        <p:nvSpPr>
          <p:cNvPr id="19" name="C3-E28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t coordinates; k species index</a:t>
            </a:r>
          </a:p>
        </p:txBody>
      </p:sp>
      <p:sp>
        <p:nvSpPr>
          <p:cNvPr id="20" name="C3-E28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Initial jet state is inherited, not recreated with extra pressure</a:t>
            </a:r>
          </a:p>
        </p:txBody>
      </p:sp>
      <p:sp>
        <p:nvSpPr>
          <p:cNvPr id="21" name="C3-E28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Species and interfacial jump conditions must also be supplied</a:t>
            </a:r>
          </a:p>
        </p:txBody>
      </p:sp>
      <p:sp>
        <p:nvSpPr>
          <p:cNvPr id="22" name="C3-E28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