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C3-E28 · Compressible bulk conservation and required constitutive closure</a:t>
            </a:r>
          </a:p>
        </p:txBody>
      </p:sp>
      <p:sp>
        <p:nvSpPr>
          <p:cNvPr id="3" name="C3-E28 round_rect 1" descr="sci-ppt:o001"/>
          <p:cNvSpPr/>
          <p:nvPr/>
        </p:nvSpPr>
        <p:spPr>
          <a:xfrm>
            <a:off x="365760" y="914400"/>
            <a:ext cx="11475720" cy="2926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28 text 2" descr="sci-ppt:o002"/>
          <p:cNvSpPr txBox="1"/>
          <p:nvPr/>
        </p:nvSpPr>
        <p:spPr>
          <a:xfrm>
            <a:off x="475488" y="969264"/>
            <a:ext cx="11256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Compressible conservation in a fixed volume</a:t>
            </a:r>
          </a:p>
        </p:txBody>
      </p:sp>
      <p:sp>
        <p:nvSpPr>
          <p:cNvPr id="5" name="C3-E28 round_rect 3" descr="sci-ppt:o003"/>
          <p:cNvSpPr/>
          <p:nvPr/>
        </p:nvSpPr>
        <p:spPr>
          <a:xfrm>
            <a:off x="54864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28 text 4" descr="sci-ppt:o004"/>
          <p:cNvSpPr txBox="1"/>
          <p:nvPr/>
        </p:nvSpPr>
        <p:spPr>
          <a:xfrm>
            <a:off x="64008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7FC8F8"/>
                </a:solidFill>
                <a:latin typeface="Arial"/>
              </a:rPr>
              <a:t>Mass</a:t>
            </a:r>
          </a:p>
        </p:txBody>
      </p:sp>
      <p:sp>
        <p:nvSpPr>
          <p:cNvPr id="7" name="C3-E28 text 5" descr="sci-ppt:o005"/>
          <p:cNvSpPr txBox="1"/>
          <p:nvPr/>
        </p:nvSpPr>
        <p:spPr>
          <a:xfrm>
            <a:off x="640080" y="201168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∂ₜρ + ∇·(ρu) = 0</a:t>
            </a:r>
          </a:p>
        </p:txBody>
      </p:sp>
      <p:sp>
        <p:nvSpPr>
          <p:cNvPr id="8" name="C3-E28 text 6" descr="sci-ppt:o006"/>
          <p:cNvSpPr txBox="1"/>
          <p:nvPr/>
        </p:nvSpPr>
        <p:spPr>
          <a:xfrm>
            <a:off x="640080" y="3017520"/>
            <a:ext cx="34747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what enters equals the change of density</a:t>
            </a:r>
          </a:p>
        </p:txBody>
      </p:sp>
      <p:sp>
        <p:nvSpPr>
          <p:cNvPr id="9" name="C3-E28 round_rect 7" descr="sci-ppt:o007"/>
          <p:cNvSpPr/>
          <p:nvPr/>
        </p:nvSpPr>
        <p:spPr>
          <a:xfrm>
            <a:off x="434340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28 text 8" descr="sci-ppt:o008"/>
          <p:cNvSpPr txBox="1"/>
          <p:nvPr/>
        </p:nvSpPr>
        <p:spPr>
          <a:xfrm>
            <a:off x="443484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Momentum</a:t>
            </a:r>
          </a:p>
        </p:txBody>
      </p:sp>
      <p:sp>
        <p:nvSpPr>
          <p:cNvPr id="11" name="C3-E28 text 9" descr="sci-ppt:o009"/>
          <p:cNvSpPr txBox="1"/>
          <p:nvPr/>
        </p:nvSpPr>
        <p:spPr>
          <a:xfrm>
            <a:off x="4434840" y="201168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∂ₜ(ρu) + ∇·(ρu⊗u + pI − τ) = 0</a:t>
            </a:r>
          </a:p>
        </p:txBody>
      </p:sp>
      <p:sp>
        <p:nvSpPr>
          <p:cNvPr id="12" name="C3-E28 text 10" descr="sci-ppt:o010"/>
          <p:cNvSpPr txBox="1"/>
          <p:nvPr/>
        </p:nvSpPr>
        <p:spPr>
          <a:xfrm>
            <a:off x="4434840" y="301752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pressure and viscous traction cross the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surface</a:t>
            </a:r>
          </a:p>
        </p:txBody>
      </p:sp>
      <p:sp>
        <p:nvSpPr>
          <p:cNvPr id="13" name="C3-E28 round_rect 11" descr="sci-ppt:o011"/>
          <p:cNvSpPr/>
          <p:nvPr/>
        </p:nvSpPr>
        <p:spPr>
          <a:xfrm>
            <a:off x="813816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28 text 12" descr="sci-ppt:o012"/>
          <p:cNvSpPr txBox="1"/>
          <p:nvPr/>
        </p:nvSpPr>
        <p:spPr>
          <a:xfrm>
            <a:off x="822960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Total energy</a:t>
            </a:r>
          </a:p>
        </p:txBody>
      </p:sp>
      <p:sp>
        <p:nvSpPr>
          <p:cNvPr id="15" name="C3-E28 text 13" descr="sci-ppt:o013"/>
          <p:cNvSpPr txBox="1"/>
          <p:nvPr/>
        </p:nvSpPr>
        <p:spPr>
          <a:xfrm>
            <a:off x="8229600" y="2011680"/>
            <a:ext cx="34747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∂ₜ(ρeₜ) + ∇·[(ρeₜ + p)u − τ·u + q] =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Q_abs</a:t>
            </a:r>
          </a:p>
        </p:txBody>
      </p:sp>
      <p:sp>
        <p:nvSpPr>
          <p:cNvPr id="16" name="C3-E28 text 14" descr="sci-ppt:o014"/>
          <p:cNvSpPr txBox="1"/>
          <p:nvPr/>
        </p:nvSpPr>
        <p:spPr>
          <a:xfrm>
            <a:off x="8229600" y="301752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pressure work, viscous work, heat, optical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source</a:t>
            </a:r>
          </a:p>
        </p:txBody>
      </p:sp>
      <p:sp>
        <p:nvSpPr>
          <p:cNvPr id="17" name="C3-E28 round_rect 15" descr="sci-ppt:o015"/>
          <p:cNvSpPr/>
          <p:nvPr/>
        </p:nvSpPr>
        <p:spPr>
          <a:xfrm>
            <a:off x="365760" y="4069080"/>
            <a:ext cx="5577840" cy="1691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28 text 16" descr="sci-ppt:o016"/>
          <p:cNvSpPr txBox="1"/>
          <p:nvPr/>
        </p:nvSpPr>
        <p:spPr>
          <a:xfrm>
            <a:off x="475488" y="4123944"/>
            <a:ext cx="53583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Closure still required</a:t>
            </a:r>
          </a:p>
        </p:txBody>
      </p:sp>
      <p:sp>
        <p:nvSpPr>
          <p:cNvPr id="19" name="C3-E28 text 17" descr="sci-ppt:o017"/>
          <p:cNvSpPr txBox="1"/>
          <p:nvPr/>
        </p:nvSpPr>
        <p:spPr>
          <a:xfrm>
            <a:off x="502920" y="4480560"/>
            <a:ext cx="5303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p = 𝒫(ρ, e, {Yₖ}),   eₜ = e + |u|²/2</a:t>
            </a:r>
          </a:p>
        </p:txBody>
      </p:sp>
      <p:sp>
        <p:nvSpPr>
          <p:cNvPr id="20" name="C3-E28 text 18" descr="sci-ppt:o018"/>
          <p:cNvSpPr txBox="1"/>
          <p:nvPr/>
        </p:nvSpPr>
        <p:spPr>
          <a:xfrm>
            <a:off x="502920" y="498348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An equation of state, species fractions and interface jump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conditions complete the system.</a:t>
            </a:r>
          </a:p>
        </p:txBody>
      </p:sp>
      <p:sp>
        <p:nvSpPr>
          <p:cNvPr id="21" name="C3-E28 round_rect 19" descr="sci-ppt:o019"/>
          <p:cNvSpPr/>
          <p:nvPr/>
        </p:nvSpPr>
        <p:spPr>
          <a:xfrm>
            <a:off x="6126480" y="4069080"/>
            <a:ext cx="5715000" cy="1691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28 text 20" descr="sci-ppt:o020"/>
          <p:cNvSpPr txBox="1"/>
          <p:nvPr/>
        </p:nvSpPr>
        <p:spPr>
          <a:xfrm>
            <a:off x="6236208" y="4123944"/>
            <a:ext cx="54955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Why it matters at impact</a:t>
            </a:r>
          </a:p>
        </p:txBody>
      </p:sp>
      <p:sp>
        <p:nvSpPr>
          <p:cNvPr id="23" name="C3-E28 text 21" descr="sci-ppt:o021"/>
          <p:cNvSpPr txBox="1"/>
          <p:nvPr/>
        </p:nvSpPr>
        <p:spPr>
          <a:xfrm>
            <a:off x="6263640" y="4480560"/>
            <a:ext cx="54406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Strong compression is not captured by the incompressible potential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model. Optical heating Q_abs is counted once, and the solid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response needs its own law.</a:t>
            </a:r>
          </a:p>
        </p:txBody>
      </p:sp>
      <p:sp>
        <p:nvSpPr>
          <p:cNvPr id="24" name="C3-E28 text 22" descr="sci-ppt:o02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Compressible bulk conservation of Eq. C3-E28;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