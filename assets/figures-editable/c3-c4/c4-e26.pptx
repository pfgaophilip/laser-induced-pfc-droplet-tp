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26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C4-E26 · Exact work integral of the adopted cohesive law</a:t>
            </a:r>
          </a:p>
        </p:txBody>
      </p:sp>
      <p:cxnSp>
        <p:nvCxnSpPr>
          <p:cNvPr id="3" name="C4-E26 arrow 1" descr="sci-ppt:o001"/>
          <p:cNvCxnSpPr/>
          <p:nvPr/>
        </p:nvCxnSpPr>
        <p:spPr>
          <a:xfrm>
            <a:off x="1005840" y="3246120"/>
            <a:ext cx="987552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4" name="C4-E26 arrow 2" descr="sci-ppt:o002"/>
          <p:cNvCxnSpPr/>
          <p:nvPr/>
        </p:nvCxnSpPr>
        <p:spPr>
          <a:xfrm flipV="1">
            <a:off x="1097280" y="822960"/>
            <a:ext cx="0" cy="246888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5" name="C4-E26 line 3" descr="sci-ppt:o003"/>
          <p:cNvCxnSpPr/>
          <p:nvPr/>
        </p:nvCxnSpPr>
        <p:spPr>
          <a:xfrm flipV="1">
            <a:off x="1097280" y="1143000"/>
            <a:ext cx="2560320" cy="21031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" name="C4-E26 line 4" descr="sci-ppt:o004"/>
          <p:cNvCxnSpPr/>
          <p:nvPr/>
        </p:nvCxnSpPr>
        <p:spPr>
          <a:xfrm>
            <a:off x="3657600" y="1143000"/>
            <a:ext cx="6217920" cy="21031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" name="C4-E26 line 5" descr="sci-ppt:o005"/>
          <p:cNvCxnSpPr/>
          <p:nvPr/>
        </p:nvCxnSpPr>
        <p:spPr>
          <a:xfrm>
            <a:off x="3657600" y="1143000"/>
            <a:ext cx="0" cy="210312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sp>
        <p:nvSpPr>
          <p:cNvPr id="8" name="C4-E26 text 6" descr="sci-ppt:o006"/>
          <p:cNvSpPr txBox="1"/>
          <p:nvPr/>
        </p:nvSpPr>
        <p:spPr>
          <a:xfrm>
            <a:off x="320040" y="640080"/>
            <a:ext cx="2743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t_n: tensile resistance</a:t>
            </a:r>
          </a:p>
        </p:txBody>
      </p:sp>
      <p:sp>
        <p:nvSpPr>
          <p:cNvPr id="9" name="C4-E26 text 7" descr="sci-ppt:o007"/>
          <p:cNvSpPr txBox="1"/>
          <p:nvPr/>
        </p:nvSpPr>
        <p:spPr>
          <a:xfrm>
            <a:off x="3794760" y="914400"/>
            <a:ext cx="2743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T_max</a:t>
            </a:r>
          </a:p>
        </p:txBody>
      </p:sp>
      <p:sp>
        <p:nvSpPr>
          <p:cNvPr id="10" name="C4-E26 text 8" descr="sci-ppt:o008"/>
          <p:cNvSpPr txBox="1"/>
          <p:nvPr/>
        </p:nvSpPr>
        <p:spPr>
          <a:xfrm>
            <a:off x="3337560" y="3429000"/>
            <a:ext cx="18288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δ₀</a:t>
            </a:r>
          </a:p>
        </p:txBody>
      </p:sp>
      <p:sp>
        <p:nvSpPr>
          <p:cNvPr id="11" name="C4-E26 text 9" descr="sci-ppt:o009"/>
          <p:cNvSpPr txBox="1"/>
          <p:nvPr/>
        </p:nvSpPr>
        <p:spPr>
          <a:xfrm>
            <a:off x="9646920" y="3429000"/>
            <a:ext cx="12801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δ_c</a:t>
            </a:r>
          </a:p>
        </p:txBody>
      </p:sp>
      <p:sp>
        <p:nvSpPr>
          <p:cNvPr id="12" name="C4-E26 text 10" descr="sci-ppt:o010"/>
          <p:cNvSpPr txBox="1"/>
          <p:nvPr/>
        </p:nvSpPr>
        <p:spPr>
          <a:xfrm>
            <a:off x="10789920" y="342900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δ</a:t>
            </a:r>
          </a:p>
        </p:txBody>
      </p:sp>
      <p:sp>
        <p:nvSpPr>
          <p:cNvPr id="13" name="C4-E26 text 11" descr="sci-ppt:o011"/>
          <p:cNvSpPr txBox="1"/>
          <p:nvPr/>
        </p:nvSpPr>
        <p:spPr>
          <a:xfrm>
            <a:off x="4754880" y="2377440"/>
            <a:ext cx="457200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8EDBD4"/>
                </a:solidFill>
                <a:latin typeface="Arial"/>
              </a:rPr>
              <a:t>Full area = Γ</a:t>
            </a:r>
          </a:p>
        </p:txBody>
      </p:sp>
      <p:sp>
        <p:nvSpPr>
          <p:cNvPr id="14" name="C4-E26 text 12" descr="sci-ppt:o012"/>
          <p:cNvSpPr txBox="1"/>
          <p:nvPr/>
        </p:nvSpPr>
        <p:spPr>
          <a:xfrm>
            <a:off x="5943600" y="731520"/>
            <a:ext cx="45720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Monotonic tensile opening branch</a:t>
            </a:r>
          </a:p>
        </p:txBody>
      </p:sp>
      <p:cxnSp>
        <p:nvCxnSpPr>
          <p:cNvPr id="15" name="C4-E26 line 13" descr="sci-ppt:o013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6" name="C4-E26 text 14" descr="sci-ppt:o014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t_n(δ) — tensile traction curve</a:t>
            </a:r>
          </a:p>
        </p:txBody>
      </p:sp>
      <p:sp>
        <p:nvSpPr>
          <p:cNvPr id="17" name="C4-E26 text 15" descr="sci-ppt:o015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δ, dδ — separation distance</a:t>
            </a:r>
          </a:p>
        </p:txBody>
      </p:sp>
      <p:sp>
        <p:nvSpPr>
          <p:cNvPr id="18" name="C4-E26 text 16" descr="sci-ppt:o016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δ₀, δ_c — branch endpoints</a:t>
            </a:r>
          </a:p>
        </p:txBody>
      </p:sp>
      <p:sp>
        <p:nvSpPr>
          <p:cNvPr id="19" name="C4-E26 text 17" descr="sci-ppt:o017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T_max — curve peak</a:t>
            </a:r>
          </a:p>
        </p:txBody>
      </p:sp>
      <p:sp>
        <p:nvSpPr>
          <p:cNvPr id="20" name="C4-E26 text 18" descr="sci-ppt:o018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K_n — ascending slope</a:t>
            </a:r>
          </a:p>
        </p:txBody>
      </p:sp>
      <p:sp>
        <p:nvSpPr>
          <p:cNvPr id="21" name="C4-E26 text 19" descr="sci-ppt:o019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Γ — full curve area</a:t>
            </a:r>
          </a:p>
        </p:txBody>
      </p:sp>
      <p:sp>
        <p:nvSpPr>
          <p:cNvPr id="22" name="C4-E26 text 20" descr="sci-ppt:o020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Reaching the peak does not pay the entire curve area.</a:t>
            </a:r>
          </a:p>
        </p:txBody>
      </p:sp>
      <p:sp>
        <p:nvSpPr>
          <p:cNvPr id="23" name="C4-E26 text 21" descr="sci-ppt:o021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