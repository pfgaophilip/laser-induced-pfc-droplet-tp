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06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C4-E06 · Reduced transient momentum balance with explicit initial/boundary data</a:t>
            </a:r>
          </a:p>
        </p:txBody>
      </p:sp>
      <p:cxnSp>
        <p:nvCxnSpPr>
          <p:cNvPr id="3" name="C4-E06 line 1" descr="sci-ppt:o001"/>
          <p:cNvCxnSpPr/>
          <p:nvPr/>
        </p:nvCxnSpPr>
        <p:spPr>
          <a:xfrm>
            <a:off x="914400" y="2468880"/>
            <a:ext cx="822960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4-E06 line 2" descr="sci-ppt:o002"/>
          <p:cNvCxnSpPr/>
          <p:nvPr/>
        </p:nvCxnSpPr>
        <p:spPr>
          <a:xfrm flipV="1">
            <a:off x="1097280" y="2467682"/>
            <a:ext cx="96012" cy="11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06 line 3" descr="sci-ppt:o003"/>
          <p:cNvCxnSpPr/>
          <p:nvPr/>
        </p:nvCxnSpPr>
        <p:spPr>
          <a:xfrm flipV="1">
            <a:off x="1193292" y="2464095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06 line 4" descr="sci-ppt:o004"/>
          <p:cNvCxnSpPr/>
          <p:nvPr/>
        </p:nvCxnSpPr>
        <p:spPr>
          <a:xfrm flipV="1">
            <a:off x="1289304" y="2458142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06 line 5" descr="sci-ppt:o005"/>
          <p:cNvCxnSpPr/>
          <p:nvPr/>
        </p:nvCxnSpPr>
        <p:spPr>
          <a:xfrm flipV="1">
            <a:off x="1385316" y="2449859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4-E06 line 6" descr="sci-ppt:o006"/>
          <p:cNvCxnSpPr/>
          <p:nvPr/>
        </p:nvCxnSpPr>
        <p:spPr>
          <a:xfrm flipV="1">
            <a:off x="1481328" y="2439298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4-E06 line 7" descr="sci-ppt:o007"/>
          <p:cNvCxnSpPr/>
          <p:nvPr/>
        </p:nvCxnSpPr>
        <p:spPr>
          <a:xfrm flipV="1">
            <a:off x="1577340" y="2426522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4-E06 line 8" descr="sci-ppt:o008"/>
          <p:cNvCxnSpPr/>
          <p:nvPr/>
        </p:nvCxnSpPr>
        <p:spPr>
          <a:xfrm flipV="1">
            <a:off x="1673352" y="2411613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4-E06 line 9" descr="sci-ppt:o009"/>
          <p:cNvCxnSpPr/>
          <p:nvPr/>
        </p:nvCxnSpPr>
        <p:spPr>
          <a:xfrm flipV="1">
            <a:off x="1769364" y="2394660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4-E06 line 10" descr="sci-ppt:o010"/>
          <p:cNvCxnSpPr/>
          <p:nvPr/>
        </p:nvCxnSpPr>
        <p:spPr>
          <a:xfrm flipV="1">
            <a:off x="1865376" y="2375768"/>
            <a:ext cx="96012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4-E06 line 11" descr="sci-ppt:o011"/>
          <p:cNvCxnSpPr/>
          <p:nvPr/>
        </p:nvCxnSpPr>
        <p:spPr>
          <a:xfrm flipV="1">
            <a:off x="1961388" y="2355055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4-E06 line 12" descr="sci-ppt:o012"/>
          <p:cNvCxnSpPr/>
          <p:nvPr/>
        </p:nvCxnSpPr>
        <p:spPr>
          <a:xfrm flipV="1">
            <a:off x="2057400" y="2332648"/>
            <a:ext cx="96012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4-E06 line 13" descr="sci-ppt:o013"/>
          <p:cNvCxnSpPr/>
          <p:nvPr/>
        </p:nvCxnSpPr>
        <p:spPr>
          <a:xfrm flipV="1">
            <a:off x="2153412" y="2308685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4-E06 line 14" descr="sci-ppt:o014"/>
          <p:cNvCxnSpPr/>
          <p:nvPr/>
        </p:nvCxnSpPr>
        <p:spPr>
          <a:xfrm flipV="1">
            <a:off x="2249424" y="2283313"/>
            <a:ext cx="96012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4-E06 line 15" descr="sci-ppt:o015"/>
          <p:cNvCxnSpPr/>
          <p:nvPr/>
        </p:nvCxnSpPr>
        <p:spPr>
          <a:xfrm flipV="1">
            <a:off x="2345436" y="2256689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4-E06 line 16" descr="sci-ppt:o016"/>
          <p:cNvCxnSpPr/>
          <p:nvPr/>
        </p:nvCxnSpPr>
        <p:spPr>
          <a:xfrm flipV="1">
            <a:off x="2441448" y="2228978"/>
            <a:ext cx="96012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4-E06 line 17" descr="sci-ppt:o017"/>
          <p:cNvCxnSpPr/>
          <p:nvPr/>
        </p:nvCxnSpPr>
        <p:spPr>
          <a:xfrm flipV="1">
            <a:off x="2537460" y="2200350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4-E06 line 18" descr="sci-ppt:o018"/>
          <p:cNvCxnSpPr/>
          <p:nvPr/>
        </p:nvCxnSpPr>
        <p:spPr>
          <a:xfrm flipV="1">
            <a:off x="2633472" y="2170981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4-E06 line 19" descr="sci-ppt:o019"/>
          <p:cNvCxnSpPr/>
          <p:nvPr/>
        </p:nvCxnSpPr>
        <p:spPr>
          <a:xfrm flipV="1">
            <a:off x="2729484" y="2141053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4-E06 line 20" descr="sci-ppt:o020"/>
          <p:cNvCxnSpPr/>
          <p:nvPr/>
        </p:nvCxnSpPr>
        <p:spPr>
          <a:xfrm flipV="1">
            <a:off x="2825496" y="2110750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4-E06 line 21" descr="sci-ppt:o021"/>
          <p:cNvCxnSpPr/>
          <p:nvPr/>
        </p:nvCxnSpPr>
        <p:spPr>
          <a:xfrm flipV="1">
            <a:off x="2921508" y="2080260"/>
            <a:ext cx="96012" cy="304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4-E06 line 22" descr="sci-ppt:o022"/>
          <p:cNvCxnSpPr/>
          <p:nvPr/>
        </p:nvCxnSpPr>
        <p:spPr>
          <a:xfrm flipV="1">
            <a:off x="3017520" y="2049769"/>
            <a:ext cx="96012" cy="304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4-E06 line 23" descr="sci-ppt:o023"/>
          <p:cNvCxnSpPr/>
          <p:nvPr/>
        </p:nvCxnSpPr>
        <p:spPr>
          <a:xfrm flipV="1">
            <a:off x="3113532" y="2019466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4-E06 line 24" descr="sci-ppt:o024"/>
          <p:cNvCxnSpPr/>
          <p:nvPr/>
        </p:nvCxnSpPr>
        <p:spPr>
          <a:xfrm flipV="1">
            <a:off x="3209544" y="1989538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4-E06 line 25" descr="sci-ppt:o025"/>
          <p:cNvCxnSpPr/>
          <p:nvPr/>
        </p:nvCxnSpPr>
        <p:spPr>
          <a:xfrm flipV="1">
            <a:off x="3305556" y="1960169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4-E06 line 26" descr="sci-ppt:o026"/>
          <p:cNvCxnSpPr/>
          <p:nvPr/>
        </p:nvCxnSpPr>
        <p:spPr>
          <a:xfrm flipV="1">
            <a:off x="3401568" y="1931541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4-E06 line 27" descr="sci-ppt:o027"/>
          <p:cNvCxnSpPr/>
          <p:nvPr/>
        </p:nvCxnSpPr>
        <p:spPr>
          <a:xfrm flipV="1">
            <a:off x="3497580" y="1903830"/>
            <a:ext cx="96011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4-E06 line 28" descr="sci-ppt:o028"/>
          <p:cNvCxnSpPr/>
          <p:nvPr/>
        </p:nvCxnSpPr>
        <p:spPr>
          <a:xfrm flipV="1">
            <a:off x="3593591" y="1877206"/>
            <a:ext cx="96013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4-E06 line 29" descr="sci-ppt:o029"/>
          <p:cNvCxnSpPr/>
          <p:nvPr/>
        </p:nvCxnSpPr>
        <p:spPr>
          <a:xfrm flipV="1">
            <a:off x="3689604" y="1851834"/>
            <a:ext cx="96011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4-E06 line 30" descr="sci-ppt:o030"/>
          <p:cNvCxnSpPr/>
          <p:nvPr/>
        </p:nvCxnSpPr>
        <p:spPr>
          <a:xfrm flipV="1">
            <a:off x="3785615" y="1827871"/>
            <a:ext cx="96013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4-E06 line 31" descr="sci-ppt:o031"/>
          <p:cNvCxnSpPr/>
          <p:nvPr/>
        </p:nvCxnSpPr>
        <p:spPr>
          <a:xfrm flipV="1">
            <a:off x="3881628" y="1805464"/>
            <a:ext cx="96011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4-E06 line 32" descr="sci-ppt:o032"/>
          <p:cNvCxnSpPr/>
          <p:nvPr/>
        </p:nvCxnSpPr>
        <p:spPr>
          <a:xfrm flipV="1">
            <a:off x="3977639" y="1784751"/>
            <a:ext cx="96013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4-E06 line 33" descr="sci-ppt:o033"/>
          <p:cNvCxnSpPr/>
          <p:nvPr/>
        </p:nvCxnSpPr>
        <p:spPr>
          <a:xfrm flipV="1">
            <a:off x="4073652" y="1765859"/>
            <a:ext cx="96011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4-E06 line 34" descr="sci-ppt:o034"/>
          <p:cNvCxnSpPr/>
          <p:nvPr/>
        </p:nvCxnSpPr>
        <p:spPr>
          <a:xfrm flipV="1">
            <a:off x="4169663" y="1748906"/>
            <a:ext cx="96013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4-E06 line 35" descr="sci-ppt:o035"/>
          <p:cNvCxnSpPr/>
          <p:nvPr/>
        </p:nvCxnSpPr>
        <p:spPr>
          <a:xfrm flipV="1">
            <a:off x="4265676" y="1733997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4-E06 line 36" descr="sci-ppt:o036"/>
          <p:cNvCxnSpPr/>
          <p:nvPr/>
        </p:nvCxnSpPr>
        <p:spPr>
          <a:xfrm flipV="1">
            <a:off x="4361688" y="1721221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4-E06 line 37" descr="sci-ppt:o037"/>
          <p:cNvCxnSpPr/>
          <p:nvPr/>
        </p:nvCxnSpPr>
        <p:spPr>
          <a:xfrm flipV="1">
            <a:off x="4457700" y="1710660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4-E06 line 38" descr="sci-ppt:o038"/>
          <p:cNvCxnSpPr/>
          <p:nvPr/>
        </p:nvCxnSpPr>
        <p:spPr>
          <a:xfrm flipV="1">
            <a:off x="4553712" y="1702377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4-E06 line 39" descr="sci-ppt:o039"/>
          <p:cNvCxnSpPr/>
          <p:nvPr/>
        </p:nvCxnSpPr>
        <p:spPr>
          <a:xfrm flipV="1">
            <a:off x="4649724" y="1696424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4-E06 line 40" descr="sci-ppt:o040"/>
          <p:cNvCxnSpPr/>
          <p:nvPr/>
        </p:nvCxnSpPr>
        <p:spPr>
          <a:xfrm flipV="1">
            <a:off x="4745736" y="1692837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4-E06 line 41" descr="sci-ppt:o041"/>
          <p:cNvCxnSpPr/>
          <p:nvPr/>
        </p:nvCxnSpPr>
        <p:spPr>
          <a:xfrm flipV="1">
            <a:off x="4841748" y="1691640"/>
            <a:ext cx="96012" cy="11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4-E06 line 42" descr="sci-ppt:o042"/>
          <p:cNvCxnSpPr/>
          <p:nvPr/>
        </p:nvCxnSpPr>
        <p:spPr>
          <a:xfrm>
            <a:off x="4937760" y="1691640"/>
            <a:ext cx="96012" cy="11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4-E06 line 43" descr="sci-ppt:o043"/>
          <p:cNvCxnSpPr/>
          <p:nvPr/>
        </p:nvCxnSpPr>
        <p:spPr>
          <a:xfrm>
            <a:off x="5033772" y="1692837"/>
            <a:ext cx="96012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4-E06 line 44" descr="sci-ppt:o044"/>
          <p:cNvCxnSpPr/>
          <p:nvPr/>
        </p:nvCxnSpPr>
        <p:spPr>
          <a:xfrm>
            <a:off x="5129784" y="1696424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4-E06 line 45" descr="sci-ppt:o045"/>
          <p:cNvCxnSpPr/>
          <p:nvPr/>
        </p:nvCxnSpPr>
        <p:spPr>
          <a:xfrm>
            <a:off x="5225796" y="1702377"/>
            <a:ext cx="96012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4-E06 line 46" descr="sci-ppt:o046"/>
          <p:cNvCxnSpPr/>
          <p:nvPr/>
        </p:nvCxnSpPr>
        <p:spPr>
          <a:xfrm>
            <a:off x="5321808" y="1710660"/>
            <a:ext cx="96012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4-E06 line 47" descr="sci-ppt:o047"/>
          <p:cNvCxnSpPr/>
          <p:nvPr/>
        </p:nvCxnSpPr>
        <p:spPr>
          <a:xfrm>
            <a:off x="5417820" y="1721221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4-E06 line 48" descr="sci-ppt:o048"/>
          <p:cNvCxnSpPr/>
          <p:nvPr/>
        </p:nvCxnSpPr>
        <p:spPr>
          <a:xfrm>
            <a:off x="5513832" y="1733997"/>
            <a:ext cx="96012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4-E06 line 49" descr="sci-ppt:o049"/>
          <p:cNvCxnSpPr/>
          <p:nvPr/>
        </p:nvCxnSpPr>
        <p:spPr>
          <a:xfrm>
            <a:off x="5609844" y="1748906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4-E06 line 50" descr="sci-ppt:o050"/>
          <p:cNvCxnSpPr/>
          <p:nvPr/>
        </p:nvCxnSpPr>
        <p:spPr>
          <a:xfrm>
            <a:off x="5705856" y="1765859"/>
            <a:ext cx="96012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4-E06 line 51" descr="sci-ppt:o051"/>
          <p:cNvCxnSpPr/>
          <p:nvPr/>
        </p:nvCxnSpPr>
        <p:spPr>
          <a:xfrm>
            <a:off x="5801868" y="1784751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4-E06 line 52" descr="sci-ppt:o052"/>
          <p:cNvCxnSpPr/>
          <p:nvPr/>
        </p:nvCxnSpPr>
        <p:spPr>
          <a:xfrm>
            <a:off x="5897880" y="1805464"/>
            <a:ext cx="96012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4-E06 line 53" descr="sci-ppt:o053"/>
          <p:cNvCxnSpPr/>
          <p:nvPr/>
        </p:nvCxnSpPr>
        <p:spPr>
          <a:xfrm>
            <a:off x="5993892" y="1827871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4-E06 line 54" descr="sci-ppt:o054"/>
          <p:cNvCxnSpPr/>
          <p:nvPr/>
        </p:nvCxnSpPr>
        <p:spPr>
          <a:xfrm>
            <a:off x="6089904" y="1851834"/>
            <a:ext cx="96012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4-E06 line 55" descr="sci-ppt:o055"/>
          <p:cNvCxnSpPr/>
          <p:nvPr/>
        </p:nvCxnSpPr>
        <p:spPr>
          <a:xfrm>
            <a:off x="6185916" y="1877206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4-E06 line 56" descr="sci-ppt:o056"/>
          <p:cNvCxnSpPr/>
          <p:nvPr/>
        </p:nvCxnSpPr>
        <p:spPr>
          <a:xfrm>
            <a:off x="6281928" y="1903830"/>
            <a:ext cx="96012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4-E06 line 57" descr="sci-ppt:o057"/>
          <p:cNvCxnSpPr/>
          <p:nvPr/>
        </p:nvCxnSpPr>
        <p:spPr>
          <a:xfrm>
            <a:off x="6377940" y="1931541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4-E06 line 58" descr="sci-ppt:o058"/>
          <p:cNvCxnSpPr/>
          <p:nvPr/>
        </p:nvCxnSpPr>
        <p:spPr>
          <a:xfrm>
            <a:off x="6473952" y="1960169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4-E06 line 59" descr="sci-ppt:o059"/>
          <p:cNvCxnSpPr/>
          <p:nvPr/>
        </p:nvCxnSpPr>
        <p:spPr>
          <a:xfrm>
            <a:off x="6569964" y="1989538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4-E06 line 60" descr="sci-ppt:o060"/>
          <p:cNvCxnSpPr/>
          <p:nvPr/>
        </p:nvCxnSpPr>
        <p:spPr>
          <a:xfrm>
            <a:off x="6665976" y="2019466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4-E06 line 61" descr="sci-ppt:o061"/>
          <p:cNvCxnSpPr/>
          <p:nvPr/>
        </p:nvCxnSpPr>
        <p:spPr>
          <a:xfrm>
            <a:off x="6761988" y="2049769"/>
            <a:ext cx="96012" cy="304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4-E06 line 62" descr="sci-ppt:o062"/>
          <p:cNvCxnSpPr/>
          <p:nvPr/>
        </p:nvCxnSpPr>
        <p:spPr>
          <a:xfrm>
            <a:off x="6858000" y="2080260"/>
            <a:ext cx="96012" cy="304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4-E06 line 63" descr="sci-ppt:o063"/>
          <p:cNvCxnSpPr/>
          <p:nvPr/>
        </p:nvCxnSpPr>
        <p:spPr>
          <a:xfrm>
            <a:off x="6954012" y="2110750"/>
            <a:ext cx="96012" cy="303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4-E06 line 64" descr="sci-ppt:o064"/>
          <p:cNvCxnSpPr/>
          <p:nvPr/>
        </p:nvCxnSpPr>
        <p:spPr>
          <a:xfrm>
            <a:off x="7050024" y="2141053"/>
            <a:ext cx="96012" cy="299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4-E06 line 65" descr="sci-ppt:o065"/>
          <p:cNvCxnSpPr/>
          <p:nvPr/>
        </p:nvCxnSpPr>
        <p:spPr>
          <a:xfrm>
            <a:off x="7146036" y="2170981"/>
            <a:ext cx="96012" cy="293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4-E06 line 66" descr="sci-ppt:o066"/>
          <p:cNvCxnSpPr/>
          <p:nvPr/>
        </p:nvCxnSpPr>
        <p:spPr>
          <a:xfrm>
            <a:off x="7242048" y="2200350"/>
            <a:ext cx="96012" cy="286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4-E06 line 67" descr="sci-ppt:o067"/>
          <p:cNvCxnSpPr/>
          <p:nvPr/>
        </p:nvCxnSpPr>
        <p:spPr>
          <a:xfrm>
            <a:off x="7338060" y="2228978"/>
            <a:ext cx="96011" cy="2771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4-E06 line 68" descr="sci-ppt:o068"/>
          <p:cNvCxnSpPr/>
          <p:nvPr/>
        </p:nvCxnSpPr>
        <p:spPr>
          <a:xfrm>
            <a:off x="7434071" y="2256689"/>
            <a:ext cx="96012" cy="26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4-E06 line 69" descr="sci-ppt:o069"/>
          <p:cNvCxnSpPr/>
          <p:nvPr/>
        </p:nvCxnSpPr>
        <p:spPr>
          <a:xfrm>
            <a:off x="7530083" y="2283313"/>
            <a:ext cx="96013" cy="253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4-E06 line 70" descr="sci-ppt:o070"/>
          <p:cNvCxnSpPr/>
          <p:nvPr/>
        </p:nvCxnSpPr>
        <p:spPr>
          <a:xfrm>
            <a:off x="7626096" y="2308685"/>
            <a:ext cx="96012" cy="239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4-E06 line 71" descr="sci-ppt:o071"/>
          <p:cNvCxnSpPr/>
          <p:nvPr/>
        </p:nvCxnSpPr>
        <p:spPr>
          <a:xfrm>
            <a:off x="7722108" y="2332648"/>
            <a:ext cx="96011" cy="224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4-E06 line 72" descr="sci-ppt:o072"/>
          <p:cNvCxnSpPr/>
          <p:nvPr/>
        </p:nvCxnSpPr>
        <p:spPr>
          <a:xfrm>
            <a:off x="7818119" y="2355055"/>
            <a:ext cx="96012" cy="2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4-E06 line 73" descr="sci-ppt:o073"/>
          <p:cNvCxnSpPr/>
          <p:nvPr/>
        </p:nvCxnSpPr>
        <p:spPr>
          <a:xfrm>
            <a:off x="7914131" y="2375768"/>
            <a:ext cx="96013" cy="188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4-E06 line 74" descr="sci-ppt:o074"/>
          <p:cNvCxnSpPr/>
          <p:nvPr/>
        </p:nvCxnSpPr>
        <p:spPr>
          <a:xfrm>
            <a:off x="8010144" y="2394660"/>
            <a:ext cx="96012" cy="16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4-E06 line 75" descr="sci-ppt:o075"/>
          <p:cNvCxnSpPr/>
          <p:nvPr/>
        </p:nvCxnSpPr>
        <p:spPr>
          <a:xfrm>
            <a:off x="8106156" y="2411613"/>
            <a:ext cx="96011" cy="149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4-E06 line 76" descr="sci-ppt:o076"/>
          <p:cNvCxnSpPr/>
          <p:nvPr/>
        </p:nvCxnSpPr>
        <p:spPr>
          <a:xfrm>
            <a:off x="8202167" y="2426522"/>
            <a:ext cx="96012" cy="127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4-E06 line 77" descr="sci-ppt:o077"/>
          <p:cNvCxnSpPr/>
          <p:nvPr/>
        </p:nvCxnSpPr>
        <p:spPr>
          <a:xfrm>
            <a:off x="8298179" y="2439298"/>
            <a:ext cx="96013" cy="105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4-E06 line 78" descr="sci-ppt:o078"/>
          <p:cNvCxnSpPr/>
          <p:nvPr/>
        </p:nvCxnSpPr>
        <p:spPr>
          <a:xfrm>
            <a:off x="8394192" y="2449859"/>
            <a:ext cx="96011" cy="82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4-E06 line 79" descr="sci-ppt:o079"/>
          <p:cNvCxnSpPr/>
          <p:nvPr/>
        </p:nvCxnSpPr>
        <p:spPr>
          <a:xfrm>
            <a:off x="8490203" y="2458142"/>
            <a:ext cx="96012" cy="59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4-E06 line 80" descr="sci-ppt:o080"/>
          <p:cNvCxnSpPr/>
          <p:nvPr/>
        </p:nvCxnSpPr>
        <p:spPr>
          <a:xfrm>
            <a:off x="8586215" y="2464095"/>
            <a:ext cx="96013" cy="35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4-E06 line 81" descr="sci-ppt:o081"/>
          <p:cNvCxnSpPr/>
          <p:nvPr/>
        </p:nvCxnSpPr>
        <p:spPr>
          <a:xfrm>
            <a:off x="8682228" y="2467682"/>
            <a:ext cx="96012" cy="11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4" name="C4-E06 rect 82" descr="sci-ppt:o082"/>
          <p:cNvSpPr/>
          <p:nvPr/>
        </p:nvSpPr>
        <p:spPr>
          <a:xfrm>
            <a:off x="868680" y="2194560"/>
            <a:ext cx="274320" cy="5486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4-E06 rect 83" descr="sci-ppt:o083"/>
          <p:cNvSpPr/>
          <p:nvPr/>
        </p:nvSpPr>
        <p:spPr>
          <a:xfrm>
            <a:off x="8732520" y="2194560"/>
            <a:ext cx="274320" cy="5486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4-E06 arrow 84" descr="sci-ppt:o084"/>
          <p:cNvCxnSpPr/>
          <p:nvPr/>
        </p:nvCxnSpPr>
        <p:spPr>
          <a:xfrm flipV="1">
            <a:off x="274320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7" name="C4-E06 arrow 85" descr="sci-ppt:o085"/>
          <p:cNvCxnSpPr/>
          <p:nvPr/>
        </p:nvCxnSpPr>
        <p:spPr>
          <a:xfrm flipV="1">
            <a:off x="493776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8" name="C4-E06 arrow 86" descr="sci-ppt:o086"/>
          <p:cNvCxnSpPr/>
          <p:nvPr/>
        </p:nvCxnSpPr>
        <p:spPr>
          <a:xfrm flipV="1">
            <a:off x="7132320" y="2606040"/>
            <a:ext cx="0" cy="8229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9" name="C4-E06 arrow 87" descr="sci-ppt:o087"/>
          <p:cNvCxnSpPr/>
          <p:nvPr/>
        </p:nvCxnSpPr>
        <p:spPr>
          <a:xfrm>
            <a:off x="4937760" y="9144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0" name="C4-E06 text 88" descr="sci-ppt:o088"/>
          <p:cNvSpPr txBox="1"/>
          <p:nvPr/>
        </p:nvSpPr>
        <p:spPr>
          <a:xfrm>
            <a:off x="5486400" y="960120"/>
            <a:ext cx="54864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t_coh ↓: opening resistance</a:t>
            </a:r>
          </a:p>
        </p:txBody>
      </p:sp>
      <p:sp>
        <p:nvSpPr>
          <p:cNvPr id="91" name="C4-E06 text 89" descr="sci-ppt:o089"/>
          <p:cNvSpPr txBox="1"/>
          <p:nvPr/>
        </p:nvSpPr>
        <p:spPr>
          <a:xfrm>
            <a:off x="2194560" y="3474720"/>
            <a:ext cx="64008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p_load ↑: applied positive departure load</a:t>
            </a:r>
          </a:p>
        </p:txBody>
      </p:sp>
      <p:sp>
        <p:nvSpPr>
          <p:cNvPr id="92" name="C4-E06 text 90" descr="sci-ppt:o090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Film: w ↑; fixed clamps</a:t>
            </a:r>
          </a:p>
        </p:txBody>
      </p:sp>
      <p:sp>
        <p:nvSpPr>
          <p:cNvPr id="93" name="C4-E06 text 91" descr="sci-ppt:o091"/>
          <p:cNvSpPr txBox="1"/>
          <p:nvPr/>
        </p:nvSpPr>
        <p:spPr>
          <a:xfrm>
            <a:off x="9326880" y="1920240"/>
            <a:ext cx="246888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Inertia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Bending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Pretension</a:t>
            </a:r>
          </a:p>
        </p:txBody>
      </p:sp>
      <p:cxnSp>
        <p:nvCxnSpPr>
          <p:cNvPr id="94" name="C4-E06 line 92" descr="sci-ppt:o092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95" name="C4-E06 text 93" descr="sci-ppt:o093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w, ẇ, ẅ ↑ positive departure</a:t>
            </a:r>
          </a:p>
        </p:txBody>
      </p:sp>
      <p:sp>
        <p:nvSpPr>
          <p:cNvPr id="96" name="C4-E06 text 94" descr="sci-ppt:o094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x, t — location and time</a:t>
            </a:r>
          </a:p>
        </p:txBody>
      </p:sp>
      <p:sp>
        <p:nvSpPr>
          <p:cNvPr id="97" name="C4-E06 text 95" descr="sci-ppt:o095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m_A — film inertia</a:t>
            </a:r>
          </a:p>
        </p:txBody>
      </p:sp>
      <p:sp>
        <p:nvSpPr>
          <p:cNvPr id="98" name="C4-E06 text 96" descr="sci-ppt:o096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D_f — bending stiffness</a:t>
            </a:r>
          </a:p>
        </p:txBody>
      </p:sp>
      <p:sp>
        <p:nvSpPr>
          <p:cNvPr id="99" name="C4-E06 text 97" descr="sci-ppt:o097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T₀ — pretension</a:t>
            </a:r>
          </a:p>
        </p:txBody>
      </p:sp>
      <p:sp>
        <p:nvSpPr>
          <p:cNvPr id="100" name="C4-E06 text 98" descr="sci-ppt:o098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p_load ↑ exposed load</a:t>
            </a:r>
          </a:p>
        </p:txBody>
      </p:sp>
      <p:sp>
        <p:nvSpPr>
          <p:cNvPr id="101" name="C4-E06 text 99" descr="sci-ppt:o099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t_coh ↓ opening resistance</a:t>
            </a:r>
          </a:p>
        </p:txBody>
      </p:sp>
      <p:sp>
        <p:nvSpPr>
          <p:cNvPr id="102" name="C4-E06 text 100" descr="sci-ppt:o100"/>
          <p:cNvSpPr txBox="1"/>
          <p:nvPr/>
        </p:nvSpPr>
        <p:spPr>
          <a:xfrm>
            <a:off x="621792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clamp: w = 0, ∂ₙw = 0</a:t>
            </a:r>
          </a:p>
        </p:txBody>
      </p:sp>
      <p:sp>
        <p:nvSpPr>
          <p:cNvPr id="103" name="C4-E06 text 101" descr="sci-ppt:o101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The film starts at rest.</a:t>
            </a:r>
          </a:p>
        </p:txBody>
      </p:sp>
      <p:sp>
        <p:nvSpPr>
          <p:cNvPr id="104" name="C4-E06 text 102" descr="sci-ppt:o102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The release interface supplies resistance.</a:t>
            </a:r>
          </a:p>
        </p:txBody>
      </p:sp>
      <p:sp>
        <p:nvSpPr>
          <p:cNvPr id="105" name="C4-E06 text 103" descr="sci-ppt:o103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