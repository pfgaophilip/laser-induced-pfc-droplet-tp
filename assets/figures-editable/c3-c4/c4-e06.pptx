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C4-E06 · Reduced transient momentum balance with explicit initial/boundary data</a:t>
            </a:r>
          </a:p>
        </p:txBody>
      </p:sp>
      <p:sp>
        <p:nvSpPr>
          <p:cNvPr id="3" name="C4-E06 round_rect 1" descr="sci-ppt:o001"/>
          <p:cNvSpPr/>
          <p:nvPr/>
        </p:nvSpPr>
        <p:spPr>
          <a:xfrm>
            <a:off x="457200" y="914400"/>
            <a:ext cx="5669280" cy="4846320"/>
          </a:xfrm>
          <a:prstGeom prst="round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6 text 2" descr="sci-ppt:o002"/>
          <p:cNvSpPr txBox="1"/>
          <p:nvPr/>
        </p:nvSpPr>
        <p:spPr>
          <a:xfrm>
            <a:off x="594360" y="960120"/>
            <a:ext cx="5394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Film element: four forces balance inertia</a:t>
            </a:r>
          </a:p>
        </p:txBody>
      </p:sp>
      <p:sp>
        <p:nvSpPr>
          <p:cNvPr id="5" name="C4-E06 rect 3" descr="sci-ppt:o003"/>
          <p:cNvSpPr/>
          <p:nvPr/>
        </p:nvSpPr>
        <p:spPr>
          <a:xfrm>
            <a:off x="1097280" y="3200400"/>
            <a:ext cx="438912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4-E06 arrow 4" descr="sci-ppt:o004"/>
          <p:cNvCxnSpPr/>
          <p:nvPr/>
        </p:nvCxnSpPr>
        <p:spPr>
          <a:xfrm>
            <a:off x="3291840" y="2103120"/>
            <a:ext cx="0" cy="1051560"/>
          </a:xfrm>
          <a:prstGeom prst="line">
            <a:avLst/>
          </a:prstGeom>
          <a:ln w="508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4-E06 text 5" descr="sci-ppt:o005"/>
          <p:cNvSpPr txBox="1"/>
          <p:nvPr/>
        </p:nvSpPr>
        <p:spPr>
          <a:xfrm>
            <a:off x="3383280" y="21945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p_load (pressure)</a:t>
            </a:r>
          </a:p>
        </p:txBody>
      </p:sp>
      <p:cxnSp>
        <p:nvCxnSpPr>
          <p:cNvPr id="8" name="C4-E06 arrow 6" descr="sci-ppt:o006"/>
          <p:cNvCxnSpPr/>
          <p:nvPr/>
        </p:nvCxnSpPr>
        <p:spPr>
          <a:xfrm flipV="1">
            <a:off x="2011680" y="3520440"/>
            <a:ext cx="0" cy="502920"/>
          </a:xfrm>
          <a:prstGeom prst="line">
            <a:avLst/>
          </a:prstGeom>
          <a:ln w="4445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06 text 7" descr="sci-ppt:o007"/>
          <p:cNvSpPr txBox="1"/>
          <p:nvPr/>
        </p:nvSpPr>
        <p:spPr>
          <a:xfrm>
            <a:off x="914400" y="4114800"/>
            <a:ext cx="2286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D_f∇⁴w − T₀∇²w (elastic)</a:t>
            </a:r>
          </a:p>
        </p:txBody>
      </p:sp>
      <p:cxnSp>
        <p:nvCxnSpPr>
          <p:cNvPr id="10" name="C4-E06 arrow 8" descr="sci-ppt:o008"/>
          <p:cNvCxnSpPr/>
          <p:nvPr/>
        </p:nvCxnSpPr>
        <p:spPr>
          <a:xfrm flipV="1">
            <a:off x="4572000" y="3520440"/>
            <a:ext cx="0" cy="50292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4-E06 text 9" descr="sci-ppt:o009"/>
          <p:cNvSpPr txBox="1"/>
          <p:nvPr/>
        </p:nvSpPr>
        <p:spPr>
          <a:xfrm>
            <a:off x="3657600" y="4114800"/>
            <a:ext cx="22860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t_coh (cohesive)</a:t>
            </a:r>
          </a:p>
        </p:txBody>
      </p:sp>
      <p:cxnSp>
        <p:nvCxnSpPr>
          <p:cNvPr id="12" name="C4-E06 line 10" descr="sci-ppt:o010"/>
          <p:cNvCxnSpPr/>
          <p:nvPr/>
        </p:nvCxnSpPr>
        <p:spPr>
          <a:xfrm flipV="1">
            <a:off x="3291840" y="2240280"/>
            <a:ext cx="0" cy="320040"/>
          </a:xfrm>
          <a:prstGeom prst="line">
            <a:avLst/>
          </a:prstGeom>
          <a:ln w="12700">
            <a:solidFill>
              <a:srgbClr val="B4C7D2"/>
            </a:solidFill>
            <a:prstDash val="dash"/>
          </a:ln>
          <a:effectLst/>
        </p:spPr>
      </p:cxnSp>
      <p:sp>
        <p:nvSpPr>
          <p:cNvPr id="13" name="C4-E06 text 11" descr="sci-ppt:o011"/>
          <p:cNvSpPr txBox="1"/>
          <p:nvPr/>
        </p:nvSpPr>
        <p:spPr>
          <a:xfrm>
            <a:off x="914400" y="4800600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m_A ẅ + D_f∇⁴w − T₀∇²w = p_load − t_coh</a:t>
            </a:r>
          </a:p>
        </p:txBody>
      </p:sp>
      <p:sp>
        <p:nvSpPr>
          <p:cNvPr id="14" name="C4-E06 text 12" descr="sci-ppt:o012"/>
          <p:cNvSpPr txBox="1"/>
          <p:nvPr/>
        </p:nvSpPr>
        <p:spPr>
          <a:xfrm>
            <a:off x="914400" y="5257800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m_A ẅ is the inertia that is left over.</a:t>
            </a:r>
          </a:p>
        </p:txBody>
      </p:sp>
      <p:sp>
        <p:nvSpPr>
          <p:cNvPr id="15" name="C4-E06 round_rect 13" descr="sci-ppt:o013"/>
          <p:cNvSpPr/>
          <p:nvPr/>
        </p:nvSpPr>
        <p:spPr>
          <a:xfrm>
            <a:off x="6309360" y="914400"/>
            <a:ext cx="55321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4-E06 text 14" descr="sci-ppt:o014"/>
          <p:cNvSpPr txBox="1"/>
          <p:nvPr/>
        </p:nvSpPr>
        <p:spPr>
          <a:xfrm>
            <a:off x="6419088" y="969264"/>
            <a:ext cx="53126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Initial and boundary data</a:t>
            </a:r>
          </a:p>
        </p:txBody>
      </p:sp>
      <p:sp>
        <p:nvSpPr>
          <p:cNvPr id="17" name="C4-E06 text 15" descr="sci-ppt:o015"/>
          <p:cNvSpPr txBox="1"/>
          <p:nvPr/>
        </p:nvSpPr>
        <p:spPr>
          <a:xfrm>
            <a:off x="6647688" y="1463040"/>
            <a:ext cx="510235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rest at t = 0:  w = 0,  ẇ = 0 everywhere.</a:t>
            </a:r>
          </a:p>
        </p:txBody>
      </p:sp>
      <p:sp>
        <p:nvSpPr>
          <p:cNvPr id="18" name="C4-E06 ellipse 16" descr="sci-ppt:o016"/>
          <p:cNvSpPr/>
          <p:nvPr/>
        </p:nvSpPr>
        <p:spPr>
          <a:xfrm>
            <a:off x="6478524" y="1520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06 text 17" descr="sci-ppt:o017"/>
          <p:cNvSpPr txBox="1"/>
          <p:nvPr/>
        </p:nvSpPr>
        <p:spPr>
          <a:xfrm>
            <a:off x="6647688" y="1748155"/>
            <a:ext cx="510235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Clamped edge:  w = 0 and ∂ₙw = 0 (no deflection, no slope).</a:t>
            </a:r>
          </a:p>
        </p:txBody>
      </p:sp>
      <p:sp>
        <p:nvSpPr>
          <p:cNvPr id="20" name="C4-E06 ellipse 18" descr="sci-ppt:o018"/>
          <p:cNvSpPr/>
          <p:nvPr/>
        </p:nvSpPr>
        <p:spPr>
          <a:xfrm>
            <a:off x="6478524" y="18054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06 text 19" descr="sci-ppt:o019"/>
          <p:cNvSpPr txBox="1"/>
          <p:nvPr/>
        </p:nvSpPr>
        <p:spPr>
          <a:xfrm>
            <a:off x="6647688" y="2033269"/>
            <a:ext cx="51023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Loading enters only through p_load; cohesive resistance only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through t_coh.</a:t>
            </a:r>
          </a:p>
        </p:txBody>
      </p:sp>
      <p:sp>
        <p:nvSpPr>
          <p:cNvPr id="22" name="C4-E06 ellipse 20" descr="sci-ppt:o020"/>
          <p:cNvSpPr/>
          <p:nvPr/>
        </p:nvSpPr>
        <p:spPr>
          <a:xfrm>
            <a:off x="6478524" y="20905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06 text 21" descr="sci-ppt:o021"/>
          <p:cNvSpPr txBox="1"/>
          <p:nvPr/>
        </p:nvSpPr>
        <p:spPr>
          <a:xfrm>
            <a:off x="6446520" y="3474720"/>
            <a:ext cx="53035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initial data the equation has many solutions;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clamp it cannot be solved.</a:t>
            </a:r>
          </a:p>
        </p:txBody>
      </p:sp>
      <p:sp>
        <p:nvSpPr>
          <p:cNvPr id="24" name="C4-E06 text 22" descr="sci-ppt:o022"/>
          <p:cNvSpPr txBox="1"/>
          <p:nvPr/>
        </p:nvSpPr>
        <p:spPr>
          <a:xfrm>
            <a:off x="6446520" y="429768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Reduced model: small deflection, thin uniform film, tension T₀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prescribed.</a:t>
            </a:r>
          </a:p>
        </p:txBody>
      </p:sp>
      <p:sp>
        <p:nvSpPr>
          <p:cNvPr id="25" name="C4-E06 text 23" descr="sci-ppt:o02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Reduced transient plate balance of Eq. C4-E06;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