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2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C3-E32 · Reference answer: original finite-mass and growth formulas</a:t>
            </a:r>
          </a:p>
        </p:txBody>
      </p:sp>
      <p:cxnSp>
        <p:nvCxnSpPr>
          <p:cNvPr id="3" name="C3-E32 line 1" descr="sci-ppt:o001"/>
          <p:cNvCxnSpPr/>
          <p:nvPr/>
        </p:nvCxnSpPr>
        <p:spPr>
          <a:xfrm>
            <a:off x="8686800" y="4526280"/>
            <a:ext cx="30175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32 line 2" descr="sci-ppt:o002"/>
          <p:cNvCxnSpPr/>
          <p:nvPr/>
        </p:nvCxnSpPr>
        <p:spPr>
          <a:xfrm>
            <a:off x="8686800" y="1783080"/>
            <a:ext cx="0" cy="27432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32 line 3" descr="sci-ppt:o003"/>
          <p:cNvCxnSpPr/>
          <p:nvPr/>
        </p:nvCxnSpPr>
        <p:spPr>
          <a:xfrm>
            <a:off x="868680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32 line 4" descr="sci-ppt:o004"/>
          <p:cNvCxnSpPr/>
          <p:nvPr/>
        </p:nvCxnSpPr>
        <p:spPr>
          <a:xfrm>
            <a:off x="868680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32 text 5" descr="sci-ppt:o005"/>
          <p:cNvSpPr txBox="1"/>
          <p:nvPr/>
        </p:nvSpPr>
        <p:spPr>
          <a:xfrm>
            <a:off x="822960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0e+00</a:t>
            </a:r>
          </a:p>
        </p:txBody>
      </p:sp>
      <p:cxnSp>
        <p:nvCxnSpPr>
          <p:cNvPr id="8" name="C3-E32 line 6" descr="sci-ppt:o006"/>
          <p:cNvCxnSpPr/>
          <p:nvPr/>
        </p:nvCxnSpPr>
        <p:spPr>
          <a:xfrm>
            <a:off x="1005840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32 line 7" descr="sci-ppt:o007"/>
          <p:cNvCxnSpPr/>
          <p:nvPr/>
        </p:nvCxnSpPr>
        <p:spPr>
          <a:xfrm>
            <a:off x="1005840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32 text 8" descr="sci-ppt:o008"/>
          <p:cNvSpPr txBox="1"/>
          <p:nvPr/>
        </p:nvSpPr>
        <p:spPr>
          <a:xfrm>
            <a:off x="960120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1e-10</a:t>
            </a:r>
          </a:p>
        </p:txBody>
      </p:sp>
      <p:cxnSp>
        <p:nvCxnSpPr>
          <p:cNvPr id="11" name="C3-E32 line 9" descr="sci-ppt:o009"/>
          <p:cNvCxnSpPr/>
          <p:nvPr/>
        </p:nvCxnSpPr>
        <p:spPr>
          <a:xfrm>
            <a:off x="1143000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32 line 10" descr="sci-ppt:o010"/>
          <p:cNvCxnSpPr/>
          <p:nvPr/>
        </p:nvCxnSpPr>
        <p:spPr>
          <a:xfrm>
            <a:off x="1143000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32 text 11" descr="sci-ppt:o011"/>
          <p:cNvSpPr txBox="1"/>
          <p:nvPr/>
        </p:nvSpPr>
        <p:spPr>
          <a:xfrm>
            <a:off x="1097280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2e-10</a:t>
            </a:r>
          </a:p>
        </p:txBody>
      </p:sp>
      <p:cxnSp>
        <p:nvCxnSpPr>
          <p:cNvPr id="14" name="C3-E32 line 12" descr="sci-ppt:o012"/>
          <p:cNvCxnSpPr/>
          <p:nvPr/>
        </p:nvCxnSpPr>
        <p:spPr>
          <a:xfrm>
            <a:off x="8622792" y="4526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32 line 13" descr="sci-ppt:o013"/>
          <p:cNvCxnSpPr/>
          <p:nvPr/>
        </p:nvCxnSpPr>
        <p:spPr>
          <a:xfrm>
            <a:off x="8622792" y="36118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3-E32 line 14" descr="sci-ppt:o014"/>
          <p:cNvCxnSpPr/>
          <p:nvPr/>
        </p:nvCxnSpPr>
        <p:spPr>
          <a:xfrm>
            <a:off x="8686800" y="3611880"/>
            <a:ext cx="3017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3-E32 text 15" descr="sci-ppt:o015"/>
          <p:cNvSpPr txBox="1"/>
          <p:nvPr/>
        </p:nvSpPr>
        <p:spPr>
          <a:xfrm>
            <a:off x="7818120" y="35295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8" name="C3-E32 line 16" descr="sci-ppt:o016"/>
          <p:cNvCxnSpPr/>
          <p:nvPr/>
        </p:nvCxnSpPr>
        <p:spPr>
          <a:xfrm>
            <a:off x="8622792" y="2697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3-E32 line 17" descr="sci-ppt:o017"/>
          <p:cNvCxnSpPr/>
          <p:nvPr/>
        </p:nvCxnSpPr>
        <p:spPr>
          <a:xfrm>
            <a:off x="8686800" y="2697480"/>
            <a:ext cx="3017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3-E32 text 18" descr="sci-ppt:o018"/>
          <p:cNvSpPr txBox="1"/>
          <p:nvPr/>
        </p:nvSpPr>
        <p:spPr>
          <a:xfrm>
            <a:off x="7818120" y="26151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1" name="C3-E32 line 19" descr="sci-ppt:o019"/>
          <p:cNvCxnSpPr/>
          <p:nvPr/>
        </p:nvCxnSpPr>
        <p:spPr>
          <a:xfrm>
            <a:off x="8622792" y="1783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3-E32 line 20" descr="sci-ppt:o020"/>
          <p:cNvCxnSpPr/>
          <p:nvPr/>
        </p:nvCxnSpPr>
        <p:spPr>
          <a:xfrm>
            <a:off x="8686800" y="1783080"/>
            <a:ext cx="3017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3-E32 text 21" descr="sci-ppt:o021"/>
          <p:cNvSpPr txBox="1"/>
          <p:nvPr/>
        </p:nvSpPr>
        <p:spPr>
          <a:xfrm>
            <a:off x="7818120" y="1700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24" name="C3-E32 text 22" descr="sci-ppt:o022"/>
          <p:cNvSpPr txBox="1"/>
          <p:nvPr/>
        </p:nvSpPr>
        <p:spPr>
          <a:xfrm>
            <a:off x="8686800" y="4809744"/>
            <a:ext cx="3017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Pⱼ  (N s)</a:t>
            </a:r>
          </a:p>
        </p:txBody>
      </p:sp>
      <p:sp>
        <p:nvSpPr>
          <p:cNvPr id="25" name="C3-E32 text 23" descr="sci-ppt:o023"/>
          <p:cNvSpPr txBox="1"/>
          <p:nvPr/>
        </p:nvSpPr>
        <p:spPr>
          <a:xfrm>
            <a:off x="8138160" y="1435607"/>
            <a:ext cx="3017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Eⱼ  (nJ)</a:t>
            </a:r>
          </a:p>
        </p:txBody>
      </p:sp>
      <p:sp>
        <p:nvSpPr>
          <p:cNvPr id="26" name="C3-E32 polygon 24" descr="sci-ppt:o024"/>
          <p:cNvSpPr/>
          <p:nvPr/>
        </p:nvSpPr>
        <p:spPr>
          <a:xfrm>
            <a:off x="8686800" y="1821482"/>
            <a:ext cx="2956560" cy="2704798"/>
          </a:xfrm>
          <a:custGeom>
            <a:avLst/>
            <a:gdLst/>
            <a:ahLst/>
            <a:cxnLst/>
            <a:rect l="l" t="t" r="r" b="b"/>
            <a:pathLst>
              <a:path w="2956560" h="2704798">
                <a:moveTo>
                  <a:pt x="0" y="2704798"/>
                </a:moveTo>
                <a:lnTo>
                  <a:pt x="30480" y="2704510"/>
                </a:lnTo>
                <a:lnTo>
                  <a:pt x="60960" y="2703648"/>
                </a:lnTo>
                <a:lnTo>
                  <a:pt x="91440" y="2702210"/>
                </a:lnTo>
                <a:lnTo>
                  <a:pt x="121920" y="2700198"/>
                </a:lnTo>
                <a:lnTo>
                  <a:pt x="152400" y="2697611"/>
                </a:lnTo>
                <a:lnTo>
                  <a:pt x="182880" y="2694449"/>
                </a:lnTo>
                <a:lnTo>
                  <a:pt x="213360" y="2690712"/>
                </a:lnTo>
                <a:lnTo>
                  <a:pt x="243840" y="2686399"/>
                </a:lnTo>
                <a:lnTo>
                  <a:pt x="274320" y="2681512"/>
                </a:lnTo>
                <a:lnTo>
                  <a:pt x="304800" y="2676051"/>
                </a:lnTo>
                <a:lnTo>
                  <a:pt x="335280" y="2670014"/>
                </a:lnTo>
                <a:lnTo>
                  <a:pt x="365760" y="2663402"/>
                </a:lnTo>
                <a:lnTo>
                  <a:pt x="396240" y="2656215"/>
                </a:lnTo>
                <a:lnTo>
                  <a:pt x="426720" y="2648454"/>
                </a:lnTo>
                <a:lnTo>
                  <a:pt x="457200" y="2640117"/>
                </a:lnTo>
                <a:lnTo>
                  <a:pt x="487680" y="2631205"/>
                </a:lnTo>
                <a:lnTo>
                  <a:pt x="518160" y="2621719"/>
                </a:lnTo>
                <a:lnTo>
                  <a:pt x="548640" y="2611657"/>
                </a:lnTo>
                <a:lnTo>
                  <a:pt x="579120" y="2601021"/>
                </a:lnTo>
                <a:lnTo>
                  <a:pt x="609600" y="2589810"/>
                </a:lnTo>
                <a:lnTo>
                  <a:pt x="640080" y="2578024"/>
                </a:lnTo>
                <a:lnTo>
                  <a:pt x="670560" y="2565662"/>
                </a:lnTo>
                <a:lnTo>
                  <a:pt x="701040" y="2552726"/>
                </a:lnTo>
                <a:lnTo>
                  <a:pt x="731520" y="2539215"/>
                </a:lnTo>
                <a:lnTo>
                  <a:pt x="762000" y="2525129"/>
                </a:lnTo>
                <a:lnTo>
                  <a:pt x="792480" y="2510468"/>
                </a:lnTo>
                <a:lnTo>
                  <a:pt x="822960" y="2495232"/>
                </a:lnTo>
                <a:lnTo>
                  <a:pt x="853440" y="2479422"/>
                </a:lnTo>
                <a:lnTo>
                  <a:pt x="883920" y="2463036"/>
                </a:lnTo>
                <a:lnTo>
                  <a:pt x="914400" y="2446075"/>
                </a:lnTo>
                <a:lnTo>
                  <a:pt x="944880" y="2428540"/>
                </a:lnTo>
                <a:lnTo>
                  <a:pt x="975360" y="2410429"/>
                </a:lnTo>
                <a:lnTo>
                  <a:pt x="1005840" y="2391744"/>
                </a:lnTo>
                <a:lnTo>
                  <a:pt x="1036320" y="2372483"/>
                </a:lnTo>
                <a:lnTo>
                  <a:pt x="1066800" y="2352648"/>
                </a:lnTo>
                <a:lnTo>
                  <a:pt x="1097280" y="2332237"/>
                </a:lnTo>
                <a:lnTo>
                  <a:pt x="1127760" y="2311252"/>
                </a:lnTo>
                <a:lnTo>
                  <a:pt x="1158240" y="2289692"/>
                </a:lnTo>
                <a:lnTo>
                  <a:pt x="1188719" y="2267557"/>
                </a:lnTo>
                <a:lnTo>
                  <a:pt x="1219199" y="2244847"/>
                </a:lnTo>
                <a:lnTo>
                  <a:pt x="1249680" y="2221562"/>
                </a:lnTo>
                <a:lnTo>
                  <a:pt x="1280160" y="2197702"/>
                </a:lnTo>
                <a:lnTo>
                  <a:pt x="1310640" y="2173267"/>
                </a:lnTo>
                <a:lnTo>
                  <a:pt x="1341120" y="2148257"/>
                </a:lnTo>
                <a:lnTo>
                  <a:pt x="1371600" y="2122672"/>
                </a:lnTo>
                <a:lnTo>
                  <a:pt x="1402080" y="2096513"/>
                </a:lnTo>
                <a:lnTo>
                  <a:pt x="1432560" y="2069778"/>
                </a:lnTo>
                <a:lnTo>
                  <a:pt x="1463040" y="2042469"/>
                </a:lnTo>
                <a:lnTo>
                  <a:pt x="1493520" y="2014584"/>
                </a:lnTo>
                <a:lnTo>
                  <a:pt x="1524000" y="1986125"/>
                </a:lnTo>
                <a:lnTo>
                  <a:pt x="1554480" y="1957090"/>
                </a:lnTo>
                <a:lnTo>
                  <a:pt x="1584960" y="1927481"/>
                </a:lnTo>
                <a:lnTo>
                  <a:pt x="1615440" y="1897297"/>
                </a:lnTo>
                <a:lnTo>
                  <a:pt x="1645919" y="1866537"/>
                </a:lnTo>
                <a:lnTo>
                  <a:pt x="1676399" y="1835203"/>
                </a:lnTo>
                <a:lnTo>
                  <a:pt x="1706879" y="1803294"/>
                </a:lnTo>
                <a:lnTo>
                  <a:pt x="1737360" y="1770810"/>
                </a:lnTo>
                <a:lnTo>
                  <a:pt x="1767840" y="1737751"/>
                </a:lnTo>
                <a:lnTo>
                  <a:pt x="1798320" y="1704117"/>
                </a:lnTo>
                <a:lnTo>
                  <a:pt x="1828800" y="1669908"/>
                </a:lnTo>
                <a:lnTo>
                  <a:pt x="1859280" y="1635125"/>
                </a:lnTo>
                <a:lnTo>
                  <a:pt x="1889760" y="1599766"/>
                </a:lnTo>
                <a:lnTo>
                  <a:pt x="1920240" y="1563832"/>
                </a:lnTo>
                <a:lnTo>
                  <a:pt x="1950720" y="1527324"/>
                </a:lnTo>
                <a:lnTo>
                  <a:pt x="1981200" y="1490240"/>
                </a:lnTo>
                <a:lnTo>
                  <a:pt x="2011680" y="1452582"/>
                </a:lnTo>
                <a:lnTo>
                  <a:pt x="2042160" y="1414348"/>
                </a:lnTo>
                <a:lnTo>
                  <a:pt x="2072640" y="1375540"/>
                </a:lnTo>
                <a:lnTo>
                  <a:pt x="2103120" y="1336157"/>
                </a:lnTo>
                <a:lnTo>
                  <a:pt x="2133599" y="1296199"/>
                </a:lnTo>
                <a:lnTo>
                  <a:pt x="2164080" y="1255665"/>
                </a:lnTo>
                <a:lnTo>
                  <a:pt x="2194560" y="1214557"/>
                </a:lnTo>
                <a:lnTo>
                  <a:pt x="2225040" y="1172874"/>
                </a:lnTo>
                <a:lnTo>
                  <a:pt x="2255520" y="1130616"/>
                </a:lnTo>
                <a:lnTo>
                  <a:pt x="2286000" y="1087783"/>
                </a:lnTo>
                <a:lnTo>
                  <a:pt x="2316480" y="1044376"/>
                </a:lnTo>
                <a:lnTo>
                  <a:pt x="2346960" y="1000393"/>
                </a:lnTo>
                <a:lnTo>
                  <a:pt x="2377440" y="955835"/>
                </a:lnTo>
                <a:lnTo>
                  <a:pt x="2407920" y="910702"/>
                </a:lnTo>
                <a:lnTo>
                  <a:pt x="2438400" y="864995"/>
                </a:lnTo>
                <a:lnTo>
                  <a:pt x="2468880" y="818712"/>
                </a:lnTo>
                <a:lnTo>
                  <a:pt x="2499360" y="771855"/>
                </a:lnTo>
                <a:lnTo>
                  <a:pt x="2529840" y="724422"/>
                </a:lnTo>
                <a:lnTo>
                  <a:pt x="2560319" y="676415"/>
                </a:lnTo>
                <a:lnTo>
                  <a:pt x="2590799" y="627833"/>
                </a:lnTo>
                <a:lnTo>
                  <a:pt x="2621280" y="578675"/>
                </a:lnTo>
                <a:lnTo>
                  <a:pt x="2651760" y="528943"/>
                </a:lnTo>
                <a:lnTo>
                  <a:pt x="2682240" y="478636"/>
                </a:lnTo>
                <a:lnTo>
                  <a:pt x="2712720" y="427754"/>
                </a:lnTo>
                <a:lnTo>
                  <a:pt x="2743200" y="376297"/>
                </a:lnTo>
                <a:lnTo>
                  <a:pt x="2773680" y="324265"/>
                </a:lnTo>
                <a:lnTo>
                  <a:pt x="2804160" y="271658"/>
                </a:lnTo>
                <a:lnTo>
                  <a:pt x="2834640" y="218477"/>
                </a:lnTo>
                <a:lnTo>
                  <a:pt x="2865120" y="164720"/>
                </a:lnTo>
                <a:lnTo>
                  <a:pt x="2895600" y="110388"/>
                </a:lnTo>
                <a:lnTo>
                  <a:pt x="2926080" y="55482"/>
                </a:lnTo>
                <a:lnTo>
                  <a:pt x="295656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3-E32 polygon 25" descr="sci-ppt:o025"/>
          <p:cNvSpPr/>
          <p:nvPr/>
        </p:nvSpPr>
        <p:spPr>
          <a:xfrm>
            <a:off x="8686800" y="1783080"/>
            <a:ext cx="3017520" cy="2743200"/>
          </a:xfrm>
          <a:custGeom>
            <a:avLst/>
            <a:gdLst/>
            <a:ahLst/>
            <a:cxnLst/>
            <a:rect l="l" t="t" r="r" b="b"/>
            <a:pathLst>
              <a:path w="3017520" h="2743200">
                <a:moveTo>
                  <a:pt x="0" y="0"/>
                </a:moveTo>
                <a:lnTo>
                  <a:pt x="30480" y="0"/>
                </a:lnTo>
                <a:lnTo>
                  <a:pt x="60960" y="0"/>
                </a:lnTo>
                <a:lnTo>
                  <a:pt x="91440" y="0"/>
                </a:lnTo>
                <a:lnTo>
                  <a:pt x="121920" y="0"/>
                </a:lnTo>
                <a:lnTo>
                  <a:pt x="152400" y="0"/>
                </a:lnTo>
                <a:lnTo>
                  <a:pt x="182880" y="0"/>
                </a:lnTo>
                <a:lnTo>
                  <a:pt x="213360" y="0"/>
                </a:lnTo>
                <a:lnTo>
                  <a:pt x="243840" y="0"/>
                </a:lnTo>
                <a:lnTo>
                  <a:pt x="274320" y="0"/>
                </a:lnTo>
                <a:lnTo>
                  <a:pt x="304800" y="0"/>
                </a:lnTo>
                <a:lnTo>
                  <a:pt x="335280" y="0"/>
                </a:lnTo>
                <a:lnTo>
                  <a:pt x="365760" y="0"/>
                </a:lnTo>
                <a:lnTo>
                  <a:pt x="396240" y="0"/>
                </a:lnTo>
                <a:lnTo>
                  <a:pt x="426720" y="0"/>
                </a:lnTo>
                <a:lnTo>
                  <a:pt x="457200" y="0"/>
                </a:lnTo>
                <a:lnTo>
                  <a:pt x="487680" y="0"/>
                </a:lnTo>
                <a:lnTo>
                  <a:pt x="518160" y="0"/>
                </a:lnTo>
                <a:lnTo>
                  <a:pt x="548640" y="0"/>
                </a:lnTo>
                <a:lnTo>
                  <a:pt x="579120" y="0"/>
                </a:lnTo>
                <a:lnTo>
                  <a:pt x="609600" y="0"/>
                </a:lnTo>
                <a:lnTo>
                  <a:pt x="640080" y="0"/>
                </a:lnTo>
                <a:lnTo>
                  <a:pt x="670560" y="0"/>
                </a:lnTo>
                <a:lnTo>
                  <a:pt x="701040" y="0"/>
                </a:lnTo>
                <a:lnTo>
                  <a:pt x="731520" y="0"/>
                </a:lnTo>
                <a:lnTo>
                  <a:pt x="762000" y="0"/>
                </a:lnTo>
                <a:lnTo>
                  <a:pt x="792480" y="0"/>
                </a:lnTo>
                <a:lnTo>
                  <a:pt x="822960" y="0"/>
                </a:lnTo>
                <a:lnTo>
                  <a:pt x="853440" y="0"/>
                </a:lnTo>
                <a:lnTo>
                  <a:pt x="883920" y="0"/>
                </a:lnTo>
                <a:lnTo>
                  <a:pt x="914400" y="0"/>
                </a:lnTo>
                <a:lnTo>
                  <a:pt x="944880" y="0"/>
                </a:lnTo>
                <a:lnTo>
                  <a:pt x="975360" y="0"/>
                </a:lnTo>
                <a:lnTo>
                  <a:pt x="1005840" y="0"/>
                </a:lnTo>
                <a:lnTo>
                  <a:pt x="1036320" y="0"/>
                </a:lnTo>
                <a:lnTo>
                  <a:pt x="1066800" y="0"/>
                </a:lnTo>
                <a:lnTo>
                  <a:pt x="1097280" y="0"/>
                </a:lnTo>
                <a:lnTo>
                  <a:pt x="1127760" y="0"/>
                </a:lnTo>
                <a:lnTo>
                  <a:pt x="1158240" y="0"/>
                </a:lnTo>
                <a:lnTo>
                  <a:pt x="1188719" y="0"/>
                </a:lnTo>
                <a:lnTo>
                  <a:pt x="1219199" y="0"/>
                </a:lnTo>
                <a:lnTo>
                  <a:pt x="1249680" y="0"/>
                </a:lnTo>
                <a:lnTo>
                  <a:pt x="1280160" y="0"/>
                </a:lnTo>
                <a:lnTo>
                  <a:pt x="1310640" y="0"/>
                </a:lnTo>
                <a:lnTo>
                  <a:pt x="1341120" y="0"/>
                </a:lnTo>
                <a:lnTo>
                  <a:pt x="1371600" y="0"/>
                </a:lnTo>
                <a:lnTo>
                  <a:pt x="1402080" y="0"/>
                </a:lnTo>
                <a:lnTo>
                  <a:pt x="1432560" y="0"/>
                </a:lnTo>
                <a:lnTo>
                  <a:pt x="1463040" y="0"/>
                </a:lnTo>
                <a:lnTo>
                  <a:pt x="1493520" y="0"/>
                </a:lnTo>
                <a:lnTo>
                  <a:pt x="1524000" y="0"/>
                </a:lnTo>
                <a:lnTo>
                  <a:pt x="1554480" y="0"/>
                </a:lnTo>
                <a:lnTo>
                  <a:pt x="1584960" y="0"/>
                </a:lnTo>
                <a:lnTo>
                  <a:pt x="1615440" y="0"/>
                </a:lnTo>
                <a:lnTo>
                  <a:pt x="1645919" y="0"/>
                </a:lnTo>
                <a:lnTo>
                  <a:pt x="1676399" y="0"/>
                </a:lnTo>
                <a:lnTo>
                  <a:pt x="1706879" y="0"/>
                </a:lnTo>
                <a:lnTo>
                  <a:pt x="1737360" y="0"/>
                </a:lnTo>
                <a:lnTo>
                  <a:pt x="1767840" y="0"/>
                </a:lnTo>
                <a:lnTo>
                  <a:pt x="1798320" y="0"/>
                </a:lnTo>
                <a:lnTo>
                  <a:pt x="1828800" y="0"/>
                </a:lnTo>
                <a:lnTo>
                  <a:pt x="1859280" y="0"/>
                </a:lnTo>
                <a:lnTo>
                  <a:pt x="1889760" y="0"/>
                </a:lnTo>
                <a:lnTo>
                  <a:pt x="1920240" y="0"/>
                </a:lnTo>
                <a:lnTo>
                  <a:pt x="1950720" y="0"/>
                </a:lnTo>
                <a:lnTo>
                  <a:pt x="1981200" y="0"/>
                </a:lnTo>
                <a:lnTo>
                  <a:pt x="2011680" y="0"/>
                </a:lnTo>
                <a:lnTo>
                  <a:pt x="2042160" y="0"/>
                </a:lnTo>
                <a:lnTo>
                  <a:pt x="2072640" y="0"/>
                </a:lnTo>
                <a:lnTo>
                  <a:pt x="2103120" y="0"/>
                </a:lnTo>
                <a:lnTo>
                  <a:pt x="2133599" y="0"/>
                </a:lnTo>
                <a:lnTo>
                  <a:pt x="2164080" y="0"/>
                </a:lnTo>
                <a:lnTo>
                  <a:pt x="2194560" y="0"/>
                </a:lnTo>
                <a:lnTo>
                  <a:pt x="2225040" y="0"/>
                </a:lnTo>
                <a:lnTo>
                  <a:pt x="2255520" y="0"/>
                </a:lnTo>
                <a:lnTo>
                  <a:pt x="2286000" y="0"/>
                </a:lnTo>
                <a:lnTo>
                  <a:pt x="2316480" y="0"/>
                </a:lnTo>
                <a:lnTo>
                  <a:pt x="2346960" y="0"/>
                </a:lnTo>
                <a:lnTo>
                  <a:pt x="2377440" y="0"/>
                </a:lnTo>
                <a:lnTo>
                  <a:pt x="2407920" y="0"/>
                </a:lnTo>
                <a:lnTo>
                  <a:pt x="2438400" y="0"/>
                </a:lnTo>
                <a:lnTo>
                  <a:pt x="2468880" y="0"/>
                </a:lnTo>
                <a:lnTo>
                  <a:pt x="2499360" y="0"/>
                </a:lnTo>
                <a:lnTo>
                  <a:pt x="2529840" y="0"/>
                </a:lnTo>
                <a:lnTo>
                  <a:pt x="2560319" y="0"/>
                </a:lnTo>
                <a:lnTo>
                  <a:pt x="2590799" y="0"/>
                </a:lnTo>
                <a:lnTo>
                  <a:pt x="2621280" y="0"/>
                </a:lnTo>
                <a:lnTo>
                  <a:pt x="2651760" y="0"/>
                </a:lnTo>
                <a:lnTo>
                  <a:pt x="2682240" y="0"/>
                </a:lnTo>
                <a:lnTo>
                  <a:pt x="2712720" y="0"/>
                </a:lnTo>
                <a:lnTo>
                  <a:pt x="2743200" y="0"/>
                </a:lnTo>
                <a:lnTo>
                  <a:pt x="2773680" y="0"/>
                </a:lnTo>
                <a:lnTo>
                  <a:pt x="2804160" y="0"/>
                </a:lnTo>
                <a:lnTo>
                  <a:pt x="2834640" y="0"/>
                </a:lnTo>
                <a:lnTo>
                  <a:pt x="2865120" y="0"/>
                </a:lnTo>
                <a:lnTo>
                  <a:pt x="2895600" y="0"/>
                </a:lnTo>
                <a:lnTo>
                  <a:pt x="2926080" y="0"/>
                </a:lnTo>
                <a:lnTo>
                  <a:pt x="2956560" y="0"/>
                </a:lnTo>
                <a:lnTo>
                  <a:pt x="2987040" y="0"/>
                </a:lnTo>
                <a:lnTo>
                  <a:pt x="3017520" y="0"/>
                </a:lnTo>
                <a:lnTo>
                  <a:pt x="3017520" y="0"/>
                </a:lnTo>
                <a:lnTo>
                  <a:pt x="2987040" y="0"/>
                </a:lnTo>
                <a:lnTo>
                  <a:pt x="2956560" y="38402"/>
                </a:lnTo>
                <a:lnTo>
                  <a:pt x="2926080" y="93884"/>
                </a:lnTo>
                <a:lnTo>
                  <a:pt x="2895600" y="148790"/>
                </a:lnTo>
                <a:lnTo>
                  <a:pt x="2865120" y="203122"/>
                </a:lnTo>
                <a:lnTo>
                  <a:pt x="2834640" y="256879"/>
                </a:lnTo>
                <a:lnTo>
                  <a:pt x="2804160" y="310060"/>
                </a:lnTo>
                <a:lnTo>
                  <a:pt x="2773680" y="362667"/>
                </a:lnTo>
                <a:lnTo>
                  <a:pt x="2743200" y="414699"/>
                </a:lnTo>
                <a:lnTo>
                  <a:pt x="2712720" y="466156"/>
                </a:lnTo>
                <a:lnTo>
                  <a:pt x="2682240" y="517038"/>
                </a:lnTo>
                <a:lnTo>
                  <a:pt x="2651760" y="567345"/>
                </a:lnTo>
                <a:lnTo>
                  <a:pt x="2621280" y="617077"/>
                </a:lnTo>
                <a:lnTo>
                  <a:pt x="2590799" y="666235"/>
                </a:lnTo>
                <a:lnTo>
                  <a:pt x="2560319" y="714817"/>
                </a:lnTo>
                <a:lnTo>
                  <a:pt x="2529840" y="762824"/>
                </a:lnTo>
                <a:lnTo>
                  <a:pt x="2499360" y="810257"/>
                </a:lnTo>
                <a:lnTo>
                  <a:pt x="2468880" y="857114"/>
                </a:lnTo>
                <a:lnTo>
                  <a:pt x="2438400" y="903397"/>
                </a:lnTo>
                <a:lnTo>
                  <a:pt x="2407920" y="949104"/>
                </a:lnTo>
                <a:lnTo>
                  <a:pt x="2377440" y="994237"/>
                </a:lnTo>
                <a:lnTo>
                  <a:pt x="2346960" y="1038795"/>
                </a:lnTo>
                <a:lnTo>
                  <a:pt x="2316480" y="1082778"/>
                </a:lnTo>
                <a:lnTo>
                  <a:pt x="2286000" y="1126185"/>
                </a:lnTo>
                <a:lnTo>
                  <a:pt x="2255520" y="1169018"/>
                </a:lnTo>
                <a:lnTo>
                  <a:pt x="2225040" y="1211276"/>
                </a:lnTo>
                <a:lnTo>
                  <a:pt x="2194560" y="1252959"/>
                </a:lnTo>
                <a:lnTo>
                  <a:pt x="2164080" y="1294067"/>
                </a:lnTo>
                <a:lnTo>
                  <a:pt x="2133599" y="1334601"/>
                </a:lnTo>
                <a:lnTo>
                  <a:pt x="2103120" y="1374559"/>
                </a:lnTo>
                <a:lnTo>
                  <a:pt x="2072640" y="1413942"/>
                </a:lnTo>
                <a:lnTo>
                  <a:pt x="2042160" y="1452750"/>
                </a:lnTo>
                <a:lnTo>
                  <a:pt x="2011680" y="1490984"/>
                </a:lnTo>
                <a:lnTo>
                  <a:pt x="1981200" y="1528642"/>
                </a:lnTo>
                <a:lnTo>
                  <a:pt x="1950720" y="1565726"/>
                </a:lnTo>
                <a:lnTo>
                  <a:pt x="1920240" y="1602234"/>
                </a:lnTo>
                <a:lnTo>
                  <a:pt x="1889760" y="1638168"/>
                </a:lnTo>
                <a:lnTo>
                  <a:pt x="1859280" y="1673527"/>
                </a:lnTo>
                <a:lnTo>
                  <a:pt x="1828800" y="1708310"/>
                </a:lnTo>
                <a:lnTo>
                  <a:pt x="1798320" y="1742519"/>
                </a:lnTo>
                <a:lnTo>
                  <a:pt x="1767840" y="1776153"/>
                </a:lnTo>
                <a:lnTo>
                  <a:pt x="1737360" y="1809212"/>
                </a:lnTo>
                <a:lnTo>
                  <a:pt x="1706879" y="1841696"/>
                </a:lnTo>
                <a:lnTo>
                  <a:pt x="1676399" y="1873605"/>
                </a:lnTo>
                <a:lnTo>
                  <a:pt x="1645919" y="1904939"/>
                </a:lnTo>
                <a:lnTo>
                  <a:pt x="1615440" y="1935699"/>
                </a:lnTo>
                <a:lnTo>
                  <a:pt x="1584960" y="1965883"/>
                </a:lnTo>
                <a:lnTo>
                  <a:pt x="1554480" y="1995492"/>
                </a:lnTo>
                <a:lnTo>
                  <a:pt x="1524000" y="2024527"/>
                </a:lnTo>
                <a:lnTo>
                  <a:pt x="1493520" y="2052986"/>
                </a:lnTo>
                <a:lnTo>
                  <a:pt x="1463040" y="2080871"/>
                </a:lnTo>
                <a:lnTo>
                  <a:pt x="1432560" y="2108180"/>
                </a:lnTo>
                <a:lnTo>
                  <a:pt x="1402080" y="2134915"/>
                </a:lnTo>
                <a:lnTo>
                  <a:pt x="1371600" y="2161074"/>
                </a:lnTo>
                <a:lnTo>
                  <a:pt x="1341120" y="2186659"/>
                </a:lnTo>
                <a:lnTo>
                  <a:pt x="1310640" y="2211669"/>
                </a:lnTo>
                <a:lnTo>
                  <a:pt x="1280160" y="2236104"/>
                </a:lnTo>
                <a:lnTo>
                  <a:pt x="1249680" y="2259964"/>
                </a:lnTo>
                <a:lnTo>
                  <a:pt x="1219199" y="2283249"/>
                </a:lnTo>
                <a:lnTo>
                  <a:pt x="1188719" y="2305959"/>
                </a:lnTo>
                <a:lnTo>
                  <a:pt x="1158240" y="2328094"/>
                </a:lnTo>
                <a:lnTo>
                  <a:pt x="1127760" y="2349654"/>
                </a:lnTo>
                <a:lnTo>
                  <a:pt x="1097280" y="2370639"/>
                </a:lnTo>
                <a:lnTo>
                  <a:pt x="1066800" y="2391050"/>
                </a:lnTo>
                <a:lnTo>
                  <a:pt x="1036320" y="2410885"/>
                </a:lnTo>
                <a:lnTo>
                  <a:pt x="1005840" y="2430146"/>
                </a:lnTo>
                <a:lnTo>
                  <a:pt x="975360" y="2448831"/>
                </a:lnTo>
                <a:lnTo>
                  <a:pt x="944880" y="2466942"/>
                </a:lnTo>
                <a:lnTo>
                  <a:pt x="914400" y="2484477"/>
                </a:lnTo>
                <a:lnTo>
                  <a:pt x="883920" y="2501438"/>
                </a:lnTo>
                <a:lnTo>
                  <a:pt x="853440" y="2517824"/>
                </a:lnTo>
                <a:lnTo>
                  <a:pt x="822960" y="2533634"/>
                </a:lnTo>
                <a:lnTo>
                  <a:pt x="792480" y="2548870"/>
                </a:lnTo>
                <a:lnTo>
                  <a:pt x="762000" y="2563531"/>
                </a:lnTo>
                <a:lnTo>
                  <a:pt x="731520" y="2577617"/>
                </a:lnTo>
                <a:lnTo>
                  <a:pt x="701040" y="2591128"/>
                </a:lnTo>
                <a:lnTo>
                  <a:pt x="670560" y="2604064"/>
                </a:lnTo>
                <a:lnTo>
                  <a:pt x="640080" y="2616426"/>
                </a:lnTo>
                <a:lnTo>
                  <a:pt x="609600" y="2628212"/>
                </a:lnTo>
                <a:lnTo>
                  <a:pt x="579120" y="2639423"/>
                </a:lnTo>
                <a:lnTo>
                  <a:pt x="548640" y="2650059"/>
                </a:lnTo>
                <a:lnTo>
                  <a:pt x="518160" y="2660121"/>
                </a:lnTo>
                <a:lnTo>
                  <a:pt x="487680" y="2669607"/>
                </a:lnTo>
                <a:lnTo>
                  <a:pt x="457200" y="2678519"/>
                </a:lnTo>
                <a:lnTo>
                  <a:pt x="426720" y="2686856"/>
                </a:lnTo>
                <a:lnTo>
                  <a:pt x="396240" y="2694617"/>
                </a:lnTo>
                <a:lnTo>
                  <a:pt x="365760" y="2701804"/>
                </a:lnTo>
                <a:lnTo>
                  <a:pt x="335280" y="2708416"/>
                </a:lnTo>
                <a:lnTo>
                  <a:pt x="304800" y="2714453"/>
                </a:lnTo>
                <a:lnTo>
                  <a:pt x="274320" y="2719914"/>
                </a:lnTo>
                <a:lnTo>
                  <a:pt x="243840" y="2724801"/>
                </a:lnTo>
                <a:lnTo>
                  <a:pt x="213360" y="2729114"/>
                </a:lnTo>
                <a:lnTo>
                  <a:pt x="182880" y="2732851"/>
                </a:lnTo>
                <a:lnTo>
                  <a:pt x="152400" y="2736013"/>
                </a:lnTo>
                <a:lnTo>
                  <a:pt x="121920" y="2738600"/>
                </a:lnTo>
                <a:lnTo>
                  <a:pt x="91440" y="2740612"/>
                </a:lnTo>
                <a:lnTo>
                  <a:pt x="60960" y="2742050"/>
                </a:lnTo>
                <a:lnTo>
                  <a:pt x="30480" y="2742912"/>
                </a:lnTo>
                <a:lnTo>
                  <a:pt x="0" y="2743200"/>
                </a:lnTo>
                <a:close/>
              </a:path>
            </a:pathLst>
          </a:custGeom>
          <a:solidFill>
            <a:srgbClr val="8EDBD4">
              <a:alpha val="18000"/>
            </a:srgbClr>
          </a:solidFill>
          <a:ln w="10160">
            <a:solidFill>
              <a:srgbClr val="8EDBD4">
                <a:alpha val="1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3-E32 text 26" descr="sci-ppt:o026"/>
          <p:cNvSpPr txBox="1"/>
          <p:nvPr/>
        </p:nvSpPr>
        <p:spPr>
          <a:xfrm>
            <a:off x="7680960" y="960120"/>
            <a:ext cx="40233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P² ≤ 2mE: the allowed region</a:t>
            </a:r>
          </a:p>
        </p:txBody>
      </p:sp>
      <p:sp>
        <p:nvSpPr>
          <p:cNvPr id="29" name="C3-E32 round_rect 27" descr="sci-ppt:o027"/>
          <p:cNvSpPr/>
          <p:nvPr/>
        </p:nvSpPr>
        <p:spPr>
          <a:xfrm>
            <a:off x="365760" y="914400"/>
            <a:ext cx="7040880" cy="173736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3-E32 text 28" descr="sci-ppt:o028"/>
          <p:cNvSpPr txBox="1"/>
          <p:nvPr/>
        </p:nvSpPr>
        <p:spPr>
          <a:xfrm>
            <a:off x="475488" y="969264"/>
            <a:ext cx="6821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Bounds from finite mass</a:t>
            </a:r>
          </a:p>
        </p:txBody>
      </p:sp>
      <p:sp>
        <p:nvSpPr>
          <p:cNvPr id="31" name="C3-E32 text 29" descr="sci-ppt:o029"/>
          <p:cNvSpPr txBox="1"/>
          <p:nvPr/>
        </p:nvSpPr>
        <p:spPr>
          <a:xfrm>
            <a:off x="502920" y="1371600"/>
            <a:ext cx="67665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Uᵣₘₛ ≤ √(2Eₐᵥₐᵢₗ / mⱼ),    Pⱼ² ≤ 2 mⱼ Eⱼ</a:t>
            </a:r>
          </a:p>
        </p:txBody>
      </p:sp>
      <p:sp>
        <p:nvSpPr>
          <p:cNvPr id="32" name="C3-E32 round_rect 30" descr="sci-ppt:o030"/>
          <p:cNvSpPr/>
          <p:nvPr/>
        </p:nvSpPr>
        <p:spPr>
          <a:xfrm>
            <a:off x="365760" y="2834640"/>
            <a:ext cx="7040880" cy="155448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3-E32 text 31" descr="sci-ppt:o031"/>
          <p:cNvSpPr txBox="1"/>
          <p:nvPr/>
        </p:nvSpPr>
        <p:spPr>
          <a:xfrm>
            <a:off x="475488" y="2889504"/>
            <a:ext cx="6821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Growth during flight</a:t>
            </a:r>
          </a:p>
        </p:txBody>
      </p:sp>
      <p:sp>
        <p:nvSpPr>
          <p:cNvPr id="34" name="C3-E32 text 32" descr="sci-ppt:o032"/>
          <p:cNvSpPr txBox="1"/>
          <p:nvPr/>
        </p:nvSpPr>
        <p:spPr>
          <a:xfrm>
            <a:off x="502920" y="3291840"/>
            <a:ext cx="67665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δₐᵣᵣ / a₀ = (δ₀/a₀) exp(gₘₐₓ H / Uⱼ)</a:t>
            </a:r>
          </a:p>
        </p:txBody>
      </p:sp>
      <p:sp>
        <p:nvSpPr>
          <p:cNvPr id="35" name="C3-E32 text 33" descr="sci-ppt:o033"/>
          <p:cNvSpPr txBox="1"/>
          <p:nvPr/>
        </p:nvSpPr>
        <p:spPr>
          <a:xfrm>
            <a:off x="502920" y="3840480"/>
            <a:ext cx="6766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gₘₐₓ is the fastest inviscid growth rate of a cylinder.</a:t>
            </a:r>
          </a:p>
        </p:txBody>
      </p:sp>
      <p:sp>
        <p:nvSpPr>
          <p:cNvPr id="36" name="C3-E32 text 34" descr="sci-ppt:o034"/>
          <p:cNvSpPr txBox="1"/>
          <p:nvPr/>
        </p:nvSpPr>
        <p:spPr>
          <a:xfrm>
            <a:off x="365760" y="4892040"/>
            <a:ext cx="114300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Speed, focusing and survival must all refer to the same emitted liquid state: the same mⱼ, Eⱼ and Uⱼ.</a:t>
            </a:r>
          </a:p>
        </p:txBody>
      </p:sp>
      <p:sp>
        <p:nvSpPr>
          <p:cNvPr id="37" name="C3-E32 text 35" descr="sci-ppt:o035"/>
          <p:cNvSpPr txBox="1"/>
          <p:nvPr/>
        </p:nvSpPr>
        <p:spPr>
          <a:xfrm>
            <a:off x="365760" y="5440680"/>
            <a:ext cx="11430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Teaching case: mⱼ = 3.927 ng, Eⱼ = 2 nJ gives Uᵣₘₛ ≤ 31.9 m/s and Pⱼ ≤ 1.253×10⁻¹⁰ N s; flight 3.13 µs → δ/a₀ grows from 1 % to 2.26 %.</a:t>
            </a:r>
          </a:p>
        </p:txBody>
      </p:sp>
      <p:sp>
        <p:nvSpPr>
          <p:cNvPr id="38" name="C3-E32 text 36" descr="sci-ppt:o036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the Defence 2 answer: Eqs. C3-E18, E21, E22.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