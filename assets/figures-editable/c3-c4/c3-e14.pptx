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C3-E14 · Kinematic, initial and wall conditions</a:t>
            </a:r>
          </a:p>
        </p:txBody>
      </p:sp>
      <p:sp>
        <p:nvSpPr>
          <p:cNvPr id="3" name="C3-E14 round_rect 1" descr="sci-ppt:o001"/>
          <p:cNvSpPr/>
          <p:nvPr/>
        </p:nvSpPr>
        <p:spPr>
          <a:xfrm>
            <a:off x="365760" y="914400"/>
            <a:ext cx="7223760" cy="4846320"/>
          </a:xfrm>
          <a:prstGeom prst="roundRect">
            <a:avLst/>
          </a:pr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4 rect 2" descr="sci-ppt:o002"/>
          <p:cNvSpPr/>
          <p:nvPr/>
        </p:nvSpPr>
        <p:spPr>
          <a:xfrm>
            <a:off x="822960" y="5074920"/>
            <a:ext cx="6400800" cy="237744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3-E14 line 3" descr="sci-ppt:o003"/>
          <p:cNvCxnSpPr/>
          <p:nvPr/>
        </p:nvCxnSpPr>
        <p:spPr>
          <a:xfrm>
            <a:off x="8412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4 line 4" descr="sci-ppt:o004"/>
          <p:cNvCxnSpPr/>
          <p:nvPr/>
        </p:nvCxnSpPr>
        <p:spPr>
          <a:xfrm>
            <a:off x="10241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3-E14 line 5" descr="sci-ppt:o005"/>
          <p:cNvCxnSpPr/>
          <p:nvPr/>
        </p:nvCxnSpPr>
        <p:spPr>
          <a:xfrm>
            <a:off x="12070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8" name="C3-E14 line 6" descr="sci-ppt:o006"/>
          <p:cNvCxnSpPr/>
          <p:nvPr/>
        </p:nvCxnSpPr>
        <p:spPr>
          <a:xfrm>
            <a:off x="13898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4 line 7" descr="sci-ppt:o007"/>
          <p:cNvCxnSpPr/>
          <p:nvPr/>
        </p:nvCxnSpPr>
        <p:spPr>
          <a:xfrm>
            <a:off x="15727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3-E14 line 8" descr="sci-ppt:o008"/>
          <p:cNvCxnSpPr/>
          <p:nvPr/>
        </p:nvCxnSpPr>
        <p:spPr>
          <a:xfrm>
            <a:off x="1755648" y="5312664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C3-E14 line 9" descr="sci-ppt:o009"/>
          <p:cNvCxnSpPr/>
          <p:nvPr/>
        </p:nvCxnSpPr>
        <p:spPr>
          <a:xfrm>
            <a:off x="19385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4 line 10" descr="sci-ppt:o010"/>
          <p:cNvCxnSpPr/>
          <p:nvPr/>
        </p:nvCxnSpPr>
        <p:spPr>
          <a:xfrm>
            <a:off x="21214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3-E14 line 11" descr="sci-ppt:o011"/>
          <p:cNvCxnSpPr/>
          <p:nvPr/>
        </p:nvCxnSpPr>
        <p:spPr>
          <a:xfrm>
            <a:off x="23042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C3-E14 line 12" descr="sci-ppt:o012"/>
          <p:cNvCxnSpPr/>
          <p:nvPr/>
        </p:nvCxnSpPr>
        <p:spPr>
          <a:xfrm>
            <a:off x="24871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4 line 13" descr="sci-ppt:o013"/>
          <p:cNvCxnSpPr/>
          <p:nvPr/>
        </p:nvCxnSpPr>
        <p:spPr>
          <a:xfrm>
            <a:off x="26700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3-E14 line 14" descr="sci-ppt:o014"/>
          <p:cNvCxnSpPr/>
          <p:nvPr/>
        </p:nvCxnSpPr>
        <p:spPr>
          <a:xfrm>
            <a:off x="28529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3-E14 line 15" descr="sci-ppt:o015"/>
          <p:cNvCxnSpPr/>
          <p:nvPr/>
        </p:nvCxnSpPr>
        <p:spPr>
          <a:xfrm>
            <a:off x="30358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4 line 16" descr="sci-ppt:o016"/>
          <p:cNvCxnSpPr/>
          <p:nvPr/>
        </p:nvCxnSpPr>
        <p:spPr>
          <a:xfrm>
            <a:off x="32186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14 line 17" descr="sci-ppt:o017"/>
          <p:cNvCxnSpPr/>
          <p:nvPr/>
        </p:nvCxnSpPr>
        <p:spPr>
          <a:xfrm>
            <a:off x="34015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3-E14 line 18" descr="sci-ppt:o018"/>
          <p:cNvCxnSpPr/>
          <p:nvPr/>
        </p:nvCxnSpPr>
        <p:spPr>
          <a:xfrm>
            <a:off x="35844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4 line 19" descr="sci-ppt:o019"/>
          <p:cNvCxnSpPr/>
          <p:nvPr/>
        </p:nvCxnSpPr>
        <p:spPr>
          <a:xfrm>
            <a:off x="37673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14 line 20" descr="sci-ppt:o020"/>
          <p:cNvCxnSpPr/>
          <p:nvPr/>
        </p:nvCxnSpPr>
        <p:spPr>
          <a:xfrm>
            <a:off x="39502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3-E14 line 21" descr="sci-ppt:o021"/>
          <p:cNvCxnSpPr/>
          <p:nvPr/>
        </p:nvCxnSpPr>
        <p:spPr>
          <a:xfrm>
            <a:off x="4133087" y="531266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4 line 22" descr="sci-ppt:o022"/>
          <p:cNvCxnSpPr/>
          <p:nvPr/>
        </p:nvCxnSpPr>
        <p:spPr>
          <a:xfrm>
            <a:off x="43159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14 line 23" descr="sci-ppt:o023"/>
          <p:cNvCxnSpPr/>
          <p:nvPr/>
        </p:nvCxnSpPr>
        <p:spPr>
          <a:xfrm>
            <a:off x="44988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3-E14 line 24" descr="sci-ppt:o024"/>
          <p:cNvCxnSpPr/>
          <p:nvPr/>
        </p:nvCxnSpPr>
        <p:spPr>
          <a:xfrm>
            <a:off x="46817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4 line 25" descr="sci-ppt:o025"/>
          <p:cNvCxnSpPr/>
          <p:nvPr/>
        </p:nvCxnSpPr>
        <p:spPr>
          <a:xfrm>
            <a:off x="48646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14 line 26" descr="sci-ppt:o026"/>
          <p:cNvCxnSpPr/>
          <p:nvPr/>
        </p:nvCxnSpPr>
        <p:spPr>
          <a:xfrm>
            <a:off x="50474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3-E14 line 27" descr="sci-ppt:o027"/>
          <p:cNvCxnSpPr/>
          <p:nvPr/>
        </p:nvCxnSpPr>
        <p:spPr>
          <a:xfrm>
            <a:off x="52303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4 line 28" descr="sci-ppt:o028"/>
          <p:cNvCxnSpPr/>
          <p:nvPr/>
        </p:nvCxnSpPr>
        <p:spPr>
          <a:xfrm>
            <a:off x="54132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14 line 29" descr="sci-ppt:o029"/>
          <p:cNvCxnSpPr/>
          <p:nvPr/>
        </p:nvCxnSpPr>
        <p:spPr>
          <a:xfrm>
            <a:off x="55961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3-E14 line 30" descr="sci-ppt:o030"/>
          <p:cNvCxnSpPr/>
          <p:nvPr/>
        </p:nvCxnSpPr>
        <p:spPr>
          <a:xfrm>
            <a:off x="57790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3-E14 line 31" descr="sci-ppt:o031"/>
          <p:cNvCxnSpPr/>
          <p:nvPr/>
        </p:nvCxnSpPr>
        <p:spPr>
          <a:xfrm>
            <a:off x="59618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3-E14 line 32" descr="sci-ppt:o032"/>
          <p:cNvCxnSpPr/>
          <p:nvPr/>
        </p:nvCxnSpPr>
        <p:spPr>
          <a:xfrm>
            <a:off x="61447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3-E14 line 33" descr="sci-ppt:o033"/>
          <p:cNvCxnSpPr/>
          <p:nvPr/>
        </p:nvCxnSpPr>
        <p:spPr>
          <a:xfrm>
            <a:off x="63276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3-E14 line 34" descr="sci-ppt:o034"/>
          <p:cNvCxnSpPr/>
          <p:nvPr/>
        </p:nvCxnSpPr>
        <p:spPr>
          <a:xfrm>
            <a:off x="65105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3-E14 line 35" descr="sci-ppt:o035"/>
          <p:cNvCxnSpPr/>
          <p:nvPr/>
        </p:nvCxnSpPr>
        <p:spPr>
          <a:xfrm>
            <a:off x="66934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3-E14 line 36" descr="sci-ppt:o036"/>
          <p:cNvCxnSpPr/>
          <p:nvPr/>
        </p:nvCxnSpPr>
        <p:spPr>
          <a:xfrm>
            <a:off x="68762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3-E14 line 37" descr="sci-ppt:o037"/>
          <p:cNvCxnSpPr/>
          <p:nvPr/>
        </p:nvCxnSpPr>
        <p:spPr>
          <a:xfrm>
            <a:off x="70591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sp>
        <p:nvSpPr>
          <p:cNvPr id="40" name="C3-E14 ellipse 38" descr="sci-ppt:o038"/>
          <p:cNvSpPr/>
          <p:nvPr/>
        </p:nvSpPr>
        <p:spPr>
          <a:xfrm>
            <a:off x="2011680" y="2651760"/>
            <a:ext cx="1828800" cy="182880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14 text 39" descr="sci-ppt:o039"/>
          <p:cNvSpPr txBox="1"/>
          <p:nvPr/>
        </p:nvSpPr>
        <p:spPr>
          <a:xfrm>
            <a:off x="2286000" y="3429000"/>
            <a:ext cx="1280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gas</a:t>
            </a:r>
          </a:p>
        </p:txBody>
      </p:sp>
      <p:sp>
        <p:nvSpPr>
          <p:cNvPr id="42" name="C3-E14 ellipse 40" descr="sci-ppt:o040"/>
          <p:cNvSpPr/>
          <p:nvPr/>
        </p:nvSpPr>
        <p:spPr>
          <a:xfrm>
            <a:off x="3368262" y="2734831"/>
            <a:ext cx="164592" cy="164592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14 text 41" descr="sci-ppt:o041"/>
          <p:cNvSpPr txBox="1"/>
          <p:nvPr/>
        </p:nvSpPr>
        <p:spPr>
          <a:xfrm>
            <a:off x="640080" y="1920240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X: material point on Γ</a:t>
            </a:r>
          </a:p>
        </p:txBody>
      </p:sp>
      <p:cxnSp>
        <p:nvCxnSpPr>
          <p:cNvPr id="44" name="C3-E14 arrow 42" descr="sci-ppt:o042"/>
          <p:cNvCxnSpPr/>
          <p:nvPr/>
        </p:nvCxnSpPr>
        <p:spPr>
          <a:xfrm flipV="1">
            <a:off x="3450558" y="2314207"/>
            <a:ext cx="685800" cy="50292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45" name="C3-E14 text 43" descr="sci-ppt:o043"/>
          <p:cNvSpPr txBox="1"/>
          <p:nvPr/>
        </p:nvSpPr>
        <p:spPr>
          <a:xfrm>
            <a:off x="4182078" y="2268487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dX/dt = u(X, t)</a:t>
            </a:r>
          </a:p>
        </p:txBody>
      </p:sp>
      <p:cxnSp>
        <p:nvCxnSpPr>
          <p:cNvPr id="46" name="C3-E14 arrow 44" descr="sci-ppt:o044"/>
          <p:cNvCxnSpPr/>
          <p:nvPr/>
        </p:nvCxnSpPr>
        <p:spPr>
          <a:xfrm flipH="1">
            <a:off x="2901918" y="2862847"/>
            <a:ext cx="457200" cy="36576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7" name="C3-E14 text 45" descr="sci-ppt:o045"/>
          <p:cNvSpPr txBox="1"/>
          <p:nvPr/>
        </p:nvSpPr>
        <p:spPr>
          <a:xfrm>
            <a:off x="640080" y="2286000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8EDBD4"/>
                </a:solidFill>
                <a:latin typeface="Arial"/>
              </a:rPr>
              <a:t>Vₙ = ∂ₙφ  (normal speed)</a:t>
            </a:r>
          </a:p>
        </p:txBody>
      </p:sp>
      <p:cxnSp>
        <p:nvCxnSpPr>
          <p:cNvPr id="48" name="C3-E14 arrow 46" descr="sci-ppt:o046"/>
          <p:cNvCxnSpPr/>
          <p:nvPr/>
        </p:nvCxnSpPr>
        <p:spPr>
          <a:xfrm flipV="1">
            <a:off x="4754880" y="4572000"/>
            <a:ext cx="0" cy="45720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49" name="C3-E14 text 47" descr="sci-ppt:o047"/>
          <p:cNvSpPr txBox="1"/>
          <p:nvPr/>
        </p:nvSpPr>
        <p:spPr>
          <a:xfrm>
            <a:off x="4892040" y="4343400"/>
            <a:ext cx="2651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wall: ∂ₙφ = V_w·n</a:t>
            </a:r>
          </a:p>
        </p:txBody>
      </p:sp>
      <p:sp>
        <p:nvSpPr>
          <p:cNvPr id="50" name="C3-E14 text 48" descr="sci-ppt:o048"/>
          <p:cNvSpPr txBox="1"/>
          <p:nvPr/>
        </p:nvSpPr>
        <p:spPr>
          <a:xfrm>
            <a:off x="4846320" y="1051560"/>
            <a:ext cx="2651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far field: φ → 0</a:t>
            </a:r>
          </a:p>
        </p:txBody>
      </p:sp>
      <p:sp>
        <p:nvSpPr>
          <p:cNvPr id="51" name="C3-E14 text 49" descr="sci-ppt:o049"/>
          <p:cNvSpPr txBox="1"/>
          <p:nvPr/>
        </p:nvSpPr>
        <p:spPr>
          <a:xfrm>
            <a:off x="548640" y="1005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initial data: (Γ, φ_Γ) at t = 0 = (Γ₀, φ₀)</a:t>
            </a:r>
          </a:p>
        </p:txBody>
      </p:sp>
      <p:sp>
        <p:nvSpPr>
          <p:cNvPr id="52" name="C3-E14 round_rect 50" descr="sci-ppt:o050"/>
          <p:cNvSpPr/>
          <p:nvPr/>
        </p:nvSpPr>
        <p:spPr>
          <a:xfrm>
            <a:off x="7863840" y="914400"/>
            <a:ext cx="3977639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3-E14 text 51" descr="sci-ppt:o051"/>
          <p:cNvSpPr txBox="1"/>
          <p:nvPr/>
        </p:nvSpPr>
        <p:spPr>
          <a:xfrm>
            <a:off x="7973567" y="969264"/>
            <a:ext cx="375818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Four things a jet prediction needs</a:t>
            </a:r>
          </a:p>
        </p:txBody>
      </p:sp>
      <p:sp>
        <p:nvSpPr>
          <p:cNvPr id="54" name="C3-E14 text 52" descr="sci-ppt:o052"/>
          <p:cNvSpPr txBox="1"/>
          <p:nvPr/>
        </p:nvSpPr>
        <p:spPr>
          <a:xfrm>
            <a:off x="8202168" y="1463040"/>
            <a:ext cx="3547871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Kinematic condition: the surface moves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the liquid, dX/dt = u(X, t), and Vₙ =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∂ₙφ.</a:t>
            </a:r>
          </a:p>
        </p:txBody>
      </p:sp>
      <p:sp>
        <p:nvSpPr>
          <p:cNvPr id="55" name="C3-E14 ellipse 53" descr="sci-ppt:o053"/>
          <p:cNvSpPr/>
          <p:nvPr/>
        </p:nvSpPr>
        <p:spPr>
          <a:xfrm>
            <a:off x="8033004" y="152031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3-E14 text 54" descr="sci-ppt:o054"/>
          <p:cNvSpPr txBox="1"/>
          <p:nvPr/>
        </p:nvSpPr>
        <p:spPr>
          <a:xfrm>
            <a:off x="8202168" y="2135505"/>
            <a:ext cx="3547871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Wall condition: the liquid cannot pass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through a moving wall, ∂ₙφ = V_w·n.</a:t>
            </a:r>
          </a:p>
        </p:txBody>
      </p:sp>
      <p:sp>
        <p:nvSpPr>
          <p:cNvPr id="57" name="C3-E14 ellipse 55" descr="sci-ppt:o055"/>
          <p:cNvSpPr/>
          <p:nvPr/>
        </p:nvSpPr>
        <p:spPr>
          <a:xfrm>
            <a:off x="8033004" y="219278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3-E14 text 56" descr="sci-ppt:o056"/>
          <p:cNvSpPr txBox="1"/>
          <p:nvPr/>
        </p:nvSpPr>
        <p:spPr>
          <a:xfrm>
            <a:off x="8202168" y="2614294"/>
            <a:ext cx="3547871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Far field: the liquid is quiescent far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away, φ → 0.</a:t>
            </a:r>
          </a:p>
        </p:txBody>
      </p:sp>
      <p:sp>
        <p:nvSpPr>
          <p:cNvPr id="59" name="C3-E14 ellipse 57" descr="sci-ppt:o057"/>
          <p:cNvSpPr/>
          <p:nvPr/>
        </p:nvSpPr>
        <p:spPr>
          <a:xfrm>
            <a:off x="8033004" y="267157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3-E14 text 58" descr="sci-ppt:o058"/>
          <p:cNvSpPr txBox="1"/>
          <p:nvPr/>
        </p:nvSpPr>
        <p:spPr>
          <a:xfrm>
            <a:off x="8202168" y="3093084"/>
            <a:ext cx="3547871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Initial shape Γ₀ and potential φ₀.</a:t>
            </a:r>
          </a:p>
        </p:txBody>
      </p:sp>
      <p:sp>
        <p:nvSpPr>
          <p:cNvPr id="61" name="C3-E14 ellipse 59" descr="sci-ppt:o059"/>
          <p:cNvSpPr/>
          <p:nvPr/>
        </p:nvSpPr>
        <p:spPr>
          <a:xfrm>
            <a:off x="8033004" y="315036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C3-E14 text 60" descr="sci-ppt:o060"/>
          <p:cNvSpPr txBox="1"/>
          <p:nvPr/>
        </p:nvSpPr>
        <p:spPr>
          <a:xfrm>
            <a:off x="8001000" y="448056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Without the last item the potential equation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has no starting state, so it cannot predict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 jet.</a:t>
            </a:r>
          </a:p>
        </p:txBody>
      </p:sp>
      <p:sp>
        <p:nvSpPr>
          <p:cNvPr id="63" name="C3-E14 text 61" descr="sci-ppt:o06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Boundary and initial conditions of Eq. C3-E14.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