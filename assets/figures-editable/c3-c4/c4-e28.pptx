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C4-E28 · Finite incoming state inherited from the teaching source</a:t>
            </a:r>
          </a:p>
        </p:txBody>
      </p:sp>
      <p:sp>
        <p:nvSpPr>
          <p:cNvPr id="3" name="C4-E28 text 1" descr="sci-ppt:o001"/>
          <p:cNvSpPr txBox="1"/>
          <p:nvPr/>
        </p:nvSpPr>
        <p:spPr>
          <a:xfrm>
            <a:off x="457200" y="914400"/>
            <a:ext cx="11247120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jet that arrives at the film (inherited from Chapter 3)</a:t>
            </a:r>
          </a:p>
        </p:txBody>
      </p:sp>
      <p:sp>
        <p:nvSpPr>
          <p:cNvPr id="4" name="C4-E28 rect 2" descr="sci-ppt:o002"/>
          <p:cNvSpPr/>
          <p:nvPr/>
        </p:nvSpPr>
        <p:spPr>
          <a:xfrm>
            <a:off x="731520" y="1554480"/>
            <a:ext cx="4572000" cy="822960"/>
          </a:xfrm>
          <a:prstGeom prst="rect">
            <a:avLst/>
          </a:prstGeom>
          <a:solidFill>
            <a:srgbClr val="1E4A5A"/>
          </a:solidFill>
          <a:ln w="3048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4-E28 arrow 3" descr="sci-ppt:o003"/>
          <p:cNvCxnSpPr/>
          <p:nvPr/>
        </p:nvCxnSpPr>
        <p:spPr>
          <a:xfrm>
            <a:off x="5394960" y="1965960"/>
            <a:ext cx="914400" cy="0"/>
          </a:xfrm>
          <a:prstGeom prst="line">
            <a:avLst/>
          </a:prstGeom>
          <a:ln w="50800">
            <a:solidFill>
              <a:srgbClr val="F2B880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6" name="C4-E28 line 4" descr="sci-ppt:o004"/>
          <p:cNvCxnSpPr/>
          <p:nvPr/>
        </p:nvCxnSpPr>
        <p:spPr>
          <a:xfrm>
            <a:off x="731520" y="2697480"/>
            <a:ext cx="4572000" cy="0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7" name="C4-E28 line 5" descr="sci-ppt:o005"/>
          <p:cNvCxnSpPr/>
          <p:nvPr/>
        </p:nvCxnSpPr>
        <p:spPr>
          <a:xfrm>
            <a:off x="731520" y="26334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cxnSp>
        <p:nvCxnSpPr>
          <p:cNvPr id="8" name="C4-E28 line 6" descr="sci-ppt:o006"/>
          <p:cNvCxnSpPr/>
          <p:nvPr/>
        </p:nvCxnSpPr>
        <p:spPr>
          <a:xfrm>
            <a:off x="5303520" y="2633472"/>
            <a:ext cx="0" cy="128016"/>
          </a:xfrm>
          <a:prstGeom prst="line">
            <a:avLst/>
          </a:prstGeom>
          <a:ln w="16510">
            <a:solidFill>
              <a:srgbClr val="B4C7D2"/>
            </a:solidFill>
          </a:ln>
          <a:effectLst/>
        </p:spPr>
      </p:cxnSp>
      <p:sp>
        <p:nvSpPr>
          <p:cNvPr id="9" name="C4-E28 text 7" descr="sci-ppt:o007"/>
          <p:cNvSpPr txBox="1"/>
          <p:nvPr/>
        </p:nvSpPr>
        <p:spPr>
          <a:xfrm>
            <a:off x="2103120" y="2423160"/>
            <a:ext cx="18288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Lⱼ = 50 µm</a:t>
            </a:r>
          </a:p>
        </p:txBody>
      </p:sp>
      <p:sp>
        <p:nvSpPr>
          <p:cNvPr id="10" name="C4-E28 round_rect 8" descr="sci-ppt:o008"/>
          <p:cNvSpPr/>
          <p:nvPr/>
        </p:nvSpPr>
        <p:spPr>
          <a:xfrm>
            <a:off x="45720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7FC8F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C4-E28 text 9" descr="sci-ppt:o009"/>
          <p:cNvSpPr txBox="1"/>
          <p:nvPr/>
        </p:nvSpPr>
        <p:spPr>
          <a:xfrm>
            <a:off x="56692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7FC8F8"/>
                </a:solidFill>
                <a:latin typeface="Arial"/>
              </a:rPr>
              <a:t>mass</a:t>
            </a:r>
          </a:p>
        </p:txBody>
      </p:sp>
      <p:sp>
        <p:nvSpPr>
          <p:cNvPr id="12" name="C4-E28 text 10" descr="sci-ppt:o010"/>
          <p:cNvSpPr txBox="1"/>
          <p:nvPr/>
        </p:nvSpPr>
        <p:spPr>
          <a:xfrm>
            <a:off x="53035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mⱼ = ρπdⱼ²Lⱼ/4</a:t>
            </a:r>
          </a:p>
        </p:txBody>
      </p:sp>
      <p:sp>
        <p:nvSpPr>
          <p:cNvPr id="13" name="C4-E28 text 11" descr="sci-ppt:o011"/>
          <p:cNvSpPr txBox="1"/>
          <p:nvPr/>
        </p:nvSpPr>
        <p:spPr>
          <a:xfrm>
            <a:off x="53035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3.926990817e-12 kg</a:t>
            </a:r>
          </a:p>
        </p:txBody>
      </p:sp>
      <p:sp>
        <p:nvSpPr>
          <p:cNvPr id="14" name="C4-E28 round_rect 12" descr="sci-ppt:o012"/>
          <p:cNvSpPr/>
          <p:nvPr/>
        </p:nvSpPr>
        <p:spPr>
          <a:xfrm>
            <a:off x="329184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C4-E28 text 13" descr="sci-ppt:o013"/>
          <p:cNvSpPr txBox="1"/>
          <p:nvPr/>
        </p:nvSpPr>
        <p:spPr>
          <a:xfrm>
            <a:off x="340156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8EDBD4"/>
                </a:solidFill>
                <a:latin typeface="Arial"/>
              </a:rPr>
              <a:t>speed</a:t>
            </a:r>
          </a:p>
        </p:txBody>
      </p:sp>
      <p:sp>
        <p:nvSpPr>
          <p:cNvPr id="16" name="C4-E28 text 14" descr="sci-ppt:o014"/>
          <p:cNvSpPr txBox="1"/>
          <p:nvPr/>
        </p:nvSpPr>
        <p:spPr>
          <a:xfrm>
            <a:off x="336499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Uⱼ = √(2Eⱼ/mⱼ)</a:t>
            </a:r>
          </a:p>
        </p:txBody>
      </p:sp>
      <p:sp>
        <p:nvSpPr>
          <p:cNvPr id="17" name="C4-E28 text 15" descr="sci-ppt:o015"/>
          <p:cNvSpPr txBox="1"/>
          <p:nvPr/>
        </p:nvSpPr>
        <p:spPr>
          <a:xfrm>
            <a:off x="336499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31.9153824 m/s</a:t>
            </a:r>
          </a:p>
        </p:txBody>
      </p:sp>
      <p:sp>
        <p:nvSpPr>
          <p:cNvPr id="18" name="C4-E28 round_rect 16" descr="sci-ppt:o016"/>
          <p:cNvSpPr/>
          <p:nvPr/>
        </p:nvSpPr>
        <p:spPr>
          <a:xfrm>
            <a:off x="612648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C4-E28 text 17" descr="sci-ppt:o017"/>
          <p:cNvSpPr txBox="1"/>
          <p:nvPr/>
        </p:nvSpPr>
        <p:spPr>
          <a:xfrm>
            <a:off x="623620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B880"/>
                </a:solidFill>
                <a:latin typeface="Arial"/>
              </a:rPr>
              <a:t>energy</a:t>
            </a:r>
          </a:p>
        </p:txBody>
      </p:sp>
      <p:sp>
        <p:nvSpPr>
          <p:cNvPr id="20" name="C4-E28 text 18" descr="sci-ppt:o018"/>
          <p:cNvSpPr txBox="1"/>
          <p:nvPr/>
        </p:nvSpPr>
        <p:spPr>
          <a:xfrm>
            <a:off x="619963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Eᵢₙ = N Eⱼ</a:t>
            </a:r>
          </a:p>
        </p:txBody>
      </p:sp>
      <p:sp>
        <p:nvSpPr>
          <p:cNvPr id="21" name="C4-E28 text 19" descr="sci-ppt:o019"/>
          <p:cNvSpPr txBox="1"/>
          <p:nvPr/>
        </p:nvSpPr>
        <p:spPr>
          <a:xfrm>
            <a:off x="619963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50.0 nJ</a:t>
            </a:r>
          </a:p>
        </p:txBody>
      </p:sp>
      <p:sp>
        <p:nvSpPr>
          <p:cNvPr id="22" name="C4-E28 round_rect 20" descr="sci-ppt:o020"/>
          <p:cNvSpPr/>
          <p:nvPr/>
        </p:nvSpPr>
        <p:spPr>
          <a:xfrm>
            <a:off x="8961120" y="3108960"/>
            <a:ext cx="2697480" cy="192024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F28B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C4-E28 text 21" descr="sci-ppt:o021"/>
          <p:cNvSpPr txBox="1"/>
          <p:nvPr/>
        </p:nvSpPr>
        <p:spPr>
          <a:xfrm>
            <a:off x="9070848" y="3163824"/>
            <a:ext cx="2478024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28BA0"/>
                </a:solidFill>
                <a:latin typeface="Arial"/>
              </a:rPr>
              <a:t>momentum</a:t>
            </a:r>
          </a:p>
        </p:txBody>
      </p:sp>
      <p:sp>
        <p:nvSpPr>
          <p:cNvPr id="24" name="C4-E28 text 22" descr="sci-ppt:o022"/>
          <p:cNvSpPr txBox="1"/>
          <p:nvPr/>
        </p:nvSpPr>
        <p:spPr>
          <a:xfrm>
            <a:off x="9034272" y="356616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E7F0F3"/>
                </a:solidFill>
                <a:latin typeface="Arial"/>
              </a:rPr>
              <a:t>Iᵢₙ = N mⱼ Uⱼ</a:t>
            </a:r>
          </a:p>
        </p:txBody>
      </p:sp>
      <p:sp>
        <p:nvSpPr>
          <p:cNvPr id="25" name="C4-E28 text 23" descr="sci-ppt:o023"/>
          <p:cNvSpPr txBox="1"/>
          <p:nvPr/>
        </p:nvSpPr>
        <p:spPr>
          <a:xfrm>
            <a:off x="9034272" y="4206240"/>
            <a:ext cx="256032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2B880"/>
                </a:solidFill>
                <a:latin typeface="Arial"/>
              </a:rPr>
              <a:t>3.133285343e-09 N s</a:t>
            </a:r>
          </a:p>
        </p:txBody>
      </p:sp>
      <p:sp>
        <p:nvSpPr>
          <p:cNvPr id="26" name="C4-E28 text 24" descr="sci-ppt:o024"/>
          <p:cNvSpPr txBox="1"/>
          <p:nvPr/>
        </p:nvSpPr>
        <p:spPr>
          <a:xfrm>
            <a:off x="6583680" y="1645920"/>
            <a:ext cx="52120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N = 25 jets, Eⱼ = 2 nJ each, ρ = 1000 kg/m³, dⱼ = 10 µm.</a:t>
            </a:r>
          </a:p>
        </p:txBody>
      </p:sp>
      <p:sp>
        <p:nvSpPr>
          <p:cNvPr id="27" name="C4-E28 text 25" descr="sci-ppt:o025"/>
          <p:cNvSpPr txBox="1"/>
          <p:nvPr/>
        </p:nvSpPr>
        <p:spPr>
          <a:xfrm>
            <a:off x="457200" y="5303520"/>
            <a:ext cx="11247120" cy="247142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F2B880"/>
                </a:solidFill>
                <a:latin typeface="Arial"/>
              </a:rPr>
              <a:t>The input to the solid is a finite energy and an aligned momentum, not a pressure peak.</a:t>
            </a:r>
          </a:p>
        </p:txBody>
      </p:sp>
      <p:sp>
        <p:nvSpPr>
          <p:cNvPr id="28" name="C4-E28 text 26" descr="sci-ppt:o026"/>
          <p:cNvSpPr txBox="1"/>
          <p:nvPr/>
        </p:nvSpPr>
        <p:spPr>
          <a:xfrm>
            <a:off x="457200" y="5806440"/>
            <a:ext cx="112471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Assumes all 25 jets are activated, aligned and identical (Chapter 3 teaching state).</a:t>
            </a:r>
          </a:p>
        </p:txBody>
      </p:sp>
      <p:sp>
        <p:nvSpPr>
          <p:cNvPr id="29" name="C4-E28 text 27" descr="sci-ppt:o027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Inherited jet state of Eq. C4-E28.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