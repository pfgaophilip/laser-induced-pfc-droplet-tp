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8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C4-E28 · Finite incoming state inherited from the teaching source</a:t>
            </a:r>
          </a:p>
        </p:txBody>
      </p:sp>
      <p:sp>
        <p:nvSpPr>
          <p:cNvPr id="3" name="C4-E28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4-E28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4-E28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4-E28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4-E28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4-E28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4-E28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cxnSp>
        <p:nvCxnSpPr>
          <p:cNvPr id="10" name="C4-E28 arrow 8" descr="sci-ppt:o008"/>
          <p:cNvCxnSpPr/>
          <p:nvPr/>
        </p:nvCxnSpPr>
        <p:spPr>
          <a:xfrm>
            <a:off x="6126480" y="1874519"/>
            <a:ext cx="46634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C4-E28 text 9" descr="sci-ppt:o009"/>
          <p:cNvSpPr txBox="1"/>
          <p:nvPr/>
        </p:nvSpPr>
        <p:spPr>
          <a:xfrm>
            <a:off x="6400800" y="1188720"/>
            <a:ext cx="457200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Finite mass defines speed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and useful momentum.</a:t>
            </a:r>
          </a:p>
        </p:txBody>
      </p:sp>
      <p:sp>
        <p:nvSpPr>
          <p:cNvPr id="12" name="C4-E28 text 10" descr="sci-ppt:o010"/>
          <p:cNvSpPr txBox="1"/>
          <p:nvPr/>
        </p:nvSpPr>
        <p:spPr>
          <a:xfrm>
            <a:off x="6400800" y="2377440"/>
            <a:ext cx="457200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EDBD4"/>
                </a:solidFill>
                <a:latin typeface="Arial"/>
              </a:rPr>
              <a:t>P_j² ≤ 2 m_j E_j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EDBD4"/>
                </a:solidFill>
                <a:latin typeface="Arial"/>
              </a:rPr>
              <a:t>E_j ≤ E_avail</a:t>
            </a:r>
          </a:p>
        </p:txBody>
      </p:sp>
      <p:cxnSp>
        <p:nvCxnSpPr>
          <p:cNvPr id="13" name="C4-E28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4-E28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 = 25 — independent cells</a:t>
            </a:r>
          </a:p>
        </p:txBody>
      </p:sp>
      <p:sp>
        <p:nvSpPr>
          <p:cNvPr id="15" name="C4-E28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d_j = 10 μm</a:t>
            </a:r>
          </a:p>
        </p:txBody>
      </p:sp>
      <p:sp>
        <p:nvSpPr>
          <p:cNvPr id="16" name="C4-E28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L_j = 50 μm</a:t>
            </a:r>
          </a:p>
        </p:txBody>
      </p:sp>
      <p:sp>
        <p:nvSpPr>
          <p:cNvPr id="17" name="C4-E28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 = 1000 kg/m³ → m_j</a:t>
            </a:r>
          </a:p>
        </p:txBody>
      </p:sp>
      <p:sp>
        <p:nvSpPr>
          <p:cNvPr id="18" name="C4-E28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E_j = 2 nJ → U_j = 31.915 m/s</a:t>
            </a:r>
          </a:p>
        </p:txBody>
      </p:sp>
      <p:sp>
        <p:nvSpPr>
          <p:cNvPr id="19" name="C4-E28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E_in = 50 nJ</a:t>
            </a:r>
          </a:p>
        </p:txBody>
      </p:sp>
      <p:sp>
        <p:nvSpPr>
          <p:cNvPr id="20" name="C4-E28 text 18" descr="sci-ppt:o018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I_in = 3.1333×10⁻⁹ N s</a:t>
            </a:r>
          </a:p>
        </p:txBody>
      </p:sp>
      <p:sp>
        <p:nvSpPr>
          <p:cNvPr id="21" name="C4-E28 text 19" descr="sci-ppt:o019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Finite carrier mass, not PFC vapor mass.</a:t>
            </a:r>
          </a:p>
        </p:txBody>
      </p:sp>
      <p:sp>
        <p:nvSpPr>
          <p:cNvPr id="22" name="C4-E28 text 20" descr="sci-ppt:o020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No additional cluster amplification factor.</a:t>
            </a:r>
          </a:p>
        </p:txBody>
      </p:sp>
      <p:sp>
        <p:nvSpPr>
          <p:cNvPr id="23" name="C4-E28 text 21" descr="sci-ppt:o021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