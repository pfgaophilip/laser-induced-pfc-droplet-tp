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3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C3-E13 · Potential-flow reduction</a:t>
            </a:r>
          </a:p>
        </p:txBody>
      </p:sp>
      <p:sp>
        <p:nvSpPr>
          <p:cNvPr id="3" name="C3-E13 rect 1" descr="sci-ppt:o001"/>
          <p:cNvSpPr/>
          <p:nvPr/>
        </p:nvSpPr>
        <p:spPr>
          <a:xfrm>
            <a:off x="822960" y="1051560"/>
            <a:ext cx="9875520" cy="23774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13 ellipse 2" descr="sci-ppt:o002"/>
          <p:cNvSpPr/>
          <p:nvPr/>
        </p:nvSpPr>
        <p:spPr>
          <a:xfrm>
            <a:off x="2194560" y="1600200"/>
            <a:ext cx="1280160" cy="12801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13 text 3" descr="sci-ppt:o003"/>
          <p:cNvSpPr txBox="1"/>
          <p:nvPr/>
        </p:nvSpPr>
        <p:spPr>
          <a:xfrm>
            <a:off x="2423160" y="2057400"/>
            <a:ext cx="1371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p_g</a:t>
            </a:r>
          </a:p>
        </p:txBody>
      </p:sp>
      <p:sp>
        <p:nvSpPr>
          <p:cNvPr id="6" name="C3-E13 text 4" descr="sci-ppt:o004"/>
          <p:cNvSpPr txBox="1"/>
          <p:nvPr/>
        </p:nvSpPr>
        <p:spPr>
          <a:xfrm>
            <a:off x="4663440" y="1874519"/>
            <a:ext cx="429768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Liquid Ω(t): u = ∇φ</a:t>
            </a:r>
          </a:p>
        </p:txBody>
      </p:sp>
      <p:cxnSp>
        <p:nvCxnSpPr>
          <p:cNvPr id="7" name="C3-E13 arrow 5" descr="sci-ppt:o005"/>
          <p:cNvCxnSpPr/>
          <p:nvPr/>
        </p:nvCxnSpPr>
        <p:spPr>
          <a:xfrm flipH="1">
            <a:off x="3520440" y="2240280"/>
            <a:ext cx="5029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3-E13 text 6" descr="sci-ppt:o006"/>
          <p:cNvSpPr txBox="1"/>
          <p:nvPr/>
        </p:nvSpPr>
        <p:spPr>
          <a:xfrm>
            <a:off x="3657600" y="260604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liquid → cavity gas</a:t>
            </a:r>
          </a:p>
        </p:txBody>
      </p:sp>
      <p:cxnSp>
        <p:nvCxnSpPr>
          <p:cNvPr id="9" name="C3-E13 arrow 7" descr="sci-ppt:o007"/>
          <p:cNvCxnSpPr/>
          <p:nvPr/>
        </p:nvCxnSpPr>
        <p:spPr>
          <a:xfrm>
            <a:off x="8778240" y="2011680"/>
            <a:ext cx="8229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13 text 8" descr="sci-ppt:o008"/>
          <p:cNvSpPr txBox="1"/>
          <p:nvPr/>
        </p:nvSpPr>
        <p:spPr>
          <a:xfrm>
            <a:off x="7863840" y="118872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Outlet / meniscus</a:t>
            </a:r>
          </a:p>
        </p:txBody>
      </p:sp>
      <p:sp>
        <p:nvSpPr>
          <p:cNvPr id="11" name="C3-E13 text 9" descr="sci-ppt:o009"/>
          <p:cNvSpPr txBox="1"/>
          <p:nvPr/>
        </p:nvSpPr>
        <p:spPr>
          <a:xfrm>
            <a:off x="1005840" y="59436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Walls, cavity and outlet are distinct boundaries.</a:t>
            </a:r>
          </a:p>
        </p:txBody>
      </p:sp>
      <p:cxnSp>
        <p:nvCxnSpPr>
          <p:cNvPr id="12" name="C3-E13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13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Ω(t) liquid domain</a:t>
            </a:r>
          </a:p>
        </p:txBody>
      </p:sp>
      <p:sp>
        <p:nvSpPr>
          <p:cNvPr id="14" name="C3-E13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φ(x,t) velocity potential</a:t>
            </a:r>
          </a:p>
        </p:txBody>
      </p:sp>
      <p:sp>
        <p:nvSpPr>
          <p:cNvPr id="15" name="C3-E13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 = ∇φ liquid velocity</a:t>
            </a:r>
          </a:p>
        </p:txBody>
      </p:sp>
      <p:sp>
        <p:nvSpPr>
          <p:cNvPr id="16" name="C3-E13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∇·u = 0; ∇²φ = 0</a:t>
            </a:r>
          </a:p>
        </p:txBody>
      </p:sp>
      <p:sp>
        <p:nvSpPr>
          <p:cNvPr id="17" name="C3-E13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 spatial point; t event time</a:t>
            </a:r>
          </a:p>
        </p:txBody>
      </p:sp>
      <p:sp>
        <p:nvSpPr>
          <p:cNvPr id="18" name="C3-E13 text 16" descr="sci-ppt:o016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Actual meniscus and bubble surfaces are separate boundaries</a:t>
            </a:r>
          </a:p>
        </p:txBody>
      </p:sp>
      <p:sp>
        <p:nvSpPr>
          <p:cNvPr id="19" name="C3-E13 text 17" descr="sci-ppt:o017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Zero vorticity and negligible bulk viscosity assumed</a:t>
            </a:r>
          </a:p>
        </p:txBody>
      </p:sp>
      <p:sp>
        <p:nvSpPr>
          <p:cNvPr id="20" name="C3-E13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