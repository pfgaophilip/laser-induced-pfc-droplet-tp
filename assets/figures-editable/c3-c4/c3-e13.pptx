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C3-E13 · Potential-flow reduction</a:t>
            </a:r>
          </a:p>
        </p:txBody>
      </p:sp>
      <p:sp>
        <p:nvSpPr>
          <p:cNvPr id="3" name="C3-E13 round_rect 1" descr="sci-ppt:o001"/>
          <p:cNvSpPr/>
          <p:nvPr/>
        </p:nvSpPr>
        <p:spPr>
          <a:xfrm>
            <a:off x="365760" y="914400"/>
            <a:ext cx="6766560" cy="4846320"/>
          </a:xfrm>
          <a:prstGeom prst="roundRect">
            <a:avLst/>
          </a:prstGeom>
          <a:solidFill>
            <a:srgbClr val="1E4A5A"/>
          </a:solidFill>
          <a:ln w="1778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13 text 2" descr="sci-ppt:o002"/>
          <p:cNvSpPr txBox="1"/>
          <p:nvPr/>
        </p:nvSpPr>
        <p:spPr>
          <a:xfrm>
            <a:off x="548640" y="1005840"/>
            <a:ext cx="64008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Liquid region Ω(t):  ∇²φ = 0,  u = ∇φ</a:t>
            </a:r>
          </a:p>
        </p:txBody>
      </p:sp>
      <p:sp>
        <p:nvSpPr>
          <p:cNvPr id="5" name="C3-E13 rect 3" descr="sci-ppt:o003"/>
          <p:cNvSpPr/>
          <p:nvPr/>
        </p:nvSpPr>
        <p:spPr>
          <a:xfrm>
            <a:off x="822960" y="5120640"/>
            <a:ext cx="6035040" cy="237744"/>
          </a:xfrm>
          <a:prstGeom prst="rect">
            <a:avLst/>
          </a:prstGeom>
          <a:solidFill>
            <a:srgbClr val="3A5362"/>
          </a:solidFill>
          <a:ln w="1651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3-E13 line 4" descr="sci-ppt:o004"/>
          <p:cNvCxnSpPr/>
          <p:nvPr/>
        </p:nvCxnSpPr>
        <p:spPr>
          <a:xfrm>
            <a:off x="8412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C3-E13 line 5" descr="sci-ppt:o005"/>
          <p:cNvCxnSpPr/>
          <p:nvPr/>
        </p:nvCxnSpPr>
        <p:spPr>
          <a:xfrm>
            <a:off x="10241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8" name="C3-E13 line 6" descr="sci-ppt:o006"/>
          <p:cNvCxnSpPr/>
          <p:nvPr/>
        </p:nvCxnSpPr>
        <p:spPr>
          <a:xfrm>
            <a:off x="12070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13 line 7" descr="sci-ppt:o007"/>
          <p:cNvCxnSpPr/>
          <p:nvPr/>
        </p:nvCxnSpPr>
        <p:spPr>
          <a:xfrm>
            <a:off x="138988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3-E13 line 8" descr="sci-ppt:o008"/>
          <p:cNvCxnSpPr/>
          <p:nvPr/>
        </p:nvCxnSpPr>
        <p:spPr>
          <a:xfrm>
            <a:off x="15727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1" name="C3-E13 line 9" descr="sci-ppt:o009"/>
          <p:cNvCxnSpPr/>
          <p:nvPr/>
        </p:nvCxnSpPr>
        <p:spPr>
          <a:xfrm>
            <a:off x="1755648" y="5358383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13 line 10" descr="sci-ppt:o010"/>
          <p:cNvCxnSpPr/>
          <p:nvPr/>
        </p:nvCxnSpPr>
        <p:spPr>
          <a:xfrm>
            <a:off x="19385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3-E13 line 11" descr="sci-ppt:o011"/>
          <p:cNvCxnSpPr/>
          <p:nvPr/>
        </p:nvCxnSpPr>
        <p:spPr>
          <a:xfrm>
            <a:off x="21214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4" name="C3-E13 line 12" descr="sci-ppt:o012"/>
          <p:cNvCxnSpPr/>
          <p:nvPr/>
        </p:nvCxnSpPr>
        <p:spPr>
          <a:xfrm>
            <a:off x="230428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13 line 13" descr="sci-ppt:o013"/>
          <p:cNvCxnSpPr/>
          <p:nvPr/>
        </p:nvCxnSpPr>
        <p:spPr>
          <a:xfrm>
            <a:off x="24871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3-E13 line 14" descr="sci-ppt:o014"/>
          <p:cNvCxnSpPr/>
          <p:nvPr/>
        </p:nvCxnSpPr>
        <p:spPr>
          <a:xfrm>
            <a:off x="26700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7" name="C3-E13 line 15" descr="sci-ppt:o015"/>
          <p:cNvCxnSpPr/>
          <p:nvPr/>
        </p:nvCxnSpPr>
        <p:spPr>
          <a:xfrm>
            <a:off x="28529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13 line 16" descr="sci-ppt:o016"/>
          <p:cNvCxnSpPr/>
          <p:nvPr/>
        </p:nvCxnSpPr>
        <p:spPr>
          <a:xfrm>
            <a:off x="30358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3-E13 line 17" descr="sci-ppt:o017"/>
          <p:cNvCxnSpPr/>
          <p:nvPr/>
        </p:nvCxnSpPr>
        <p:spPr>
          <a:xfrm>
            <a:off x="321868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0" name="C3-E13 line 18" descr="sci-ppt:o018"/>
          <p:cNvCxnSpPr/>
          <p:nvPr/>
        </p:nvCxnSpPr>
        <p:spPr>
          <a:xfrm>
            <a:off x="34015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13 line 19" descr="sci-ppt:o019"/>
          <p:cNvCxnSpPr/>
          <p:nvPr/>
        </p:nvCxnSpPr>
        <p:spPr>
          <a:xfrm>
            <a:off x="35844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13 line 20" descr="sci-ppt:o020"/>
          <p:cNvCxnSpPr/>
          <p:nvPr/>
        </p:nvCxnSpPr>
        <p:spPr>
          <a:xfrm>
            <a:off x="37673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3-E13 line 21" descr="sci-ppt:o021"/>
          <p:cNvCxnSpPr/>
          <p:nvPr/>
        </p:nvCxnSpPr>
        <p:spPr>
          <a:xfrm>
            <a:off x="39502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13 line 22" descr="sci-ppt:o022"/>
          <p:cNvCxnSpPr/>
          <p:nvPr/>
        </p:nvCxnSpPr>
        <p:spPr>
          <a:xfrm>
            <a:off x="4133087" y="5358383"/>
            <a:ext cx="137161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13 line 23" descr="sci-ppt:o023"/>
          <p:cNvCxnSpPr/>
          <p:nvPr/>
        </p:nvCxnSpPr>
        <p:spPr>
          <a:xfrm>
            <a:off x="43159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3-E13 line 24" descr="sci-ppt:o024"/>
          <p:cNvCxnSpPr/>
          <p:nvPr/>
        </p:nvCxnSpPr>
        <p:spPr>
          <a:xfrm>
            <a:off x="44988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13 line 25" descr="sci-ppt:o025"/>
          <p:cNvCxnSpPr/>
          <p:nvPr/>
        </p:nvCxnSpPr>
        <p:spPr>
          <a:xfrm>
            <a:off x="46817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13 line 26" descr="sci-ppt:o026"/>
          <p:cNvCxnSpPr/>
          <p:nvPr/>
        </p:nvCxnSpPr>
        <p:spPr>
          <a:xfrm>
            <a:off x="48646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3-E13 line 27" descr="sci-ppt:o027"/>
          <p:cNvCxnSpPr/>
          <p:nvPr/>
        </p:nvCxnSpPr>
        <p:spPr>
          <a:xfrm>
            <a:off x="504748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3-E13 line 28" descr="sci-ppt:o028"/>
          <p:cNvCxnSpPr/>
          <p:nvPr/>
        </p:nvCxnSpPr>
        <p:spPr>
          <a:xfrm>
            <a:off x="52303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3-E13 line 29" descr="sci-ppt:o029"/>
          <p:cNvCxnSpPr/>
          <p:nvPr/>
        </p:nvCxnSpPr>
        <p:spPr>
          <a:xfrm>
            <a:off x="54132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3-E13 line 30" descr="sci-ppt:o030"/>
          <p:cNvCxnSpPr/>
          <p:nvPr/>
        </p:nvCxnSpPr>
        <p:spPr>
          <a:xfrm>
            <a:off x="55961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3-E13 line 31" descr="sci-ppt:o031"/>
          <p:cNvCxnSpPr/>
          <p:nvPr/>
        </p:nvCxnSpPr>
        <p:spPr>
          <a:xfrm>
            <a:off x="57790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3-E13 line 32" descr="sci-ppt:o032"/>
          <p:cNvCxnSpPr/>
          <p:nvPr/>
        </p:nvCxnSpPr>
        <p:spPr>
          <a:xfrm>
            <a:off x="596188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3-E13 line 33" descr="sci-ppt:o033"/>
          <p:cNvCxnSpPr/>
          <p:nvPr/>
        </p:nvCxnSpPr>
        <p:spPr>
          <a:xfrm>
            <a:off x="61447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3-E13 line 34" descr="sci-ppt:o034"/>
          <p:cNvCxnSpPr/>
          <p:nvPr/>
        </p:nvCxnSpPr>
        <p:spPr>
          <a:xfrm>
            <a:off x="63276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3-E13 line 35" descr="sci-ppt:o035"/>
          <p:cNvCxnSpPr/>
          <p:nvPr/>
        </p:nvCxnSpPr>
        <p:spPr>
          <a:xfrm>
            <a:off x="65105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sp>
        <p:nvSpPr>
          <p:cNvPr id="38" name="C3-E13 ellipse 36" descr="sci-ppt:o036"/>
          <p:cNvSpPr/>
          <p:nvPr/>
        </p:nvSpPr>
        <p:spPr>
          <a:xfrm>
            <a:off x="1828800" y="2651760"/>
            <a:ext cx="1828800" cy="182880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3-E13 text 37" descr="sci-ppt:o037"/>
          <p:cNvSpPr txBox="1"/>
          <p:nvPr/>
        </p:nvSpPr>
        <p:spPr>
          <a:xfrm>
            <a:off x="2103120" y="3429000"/>
            <a:ext cx="12801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gas</a:t>
            </a:r>
          </a:p>
        </p:txBody>
      </p:sp>
      <p:sp>
        <p:nvSpPr>
          <p:cNvPr id="40" name="C3-E13 text 38" descr="sci-ppt:o038"/>
          <p:cNvSpPr txBox="1"/>
          <p:nvPr/>
        </p:nvSpPr>
        <p:spPr>
          <a:xfrm>
            <a:off x="914400" y="155448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interface Γ(t)</a:t>
            </a:r>
          </a:p>
        </p:txBody>
      </p:sp>
      <p:sp>
        <p:nvSpPr>
          <p:cNvPr id="41" name="C3-E13 text 39" descr="sci-ppt:o039"/>
          <p:cNvSpPr txBox="1"/>
          <p:nvPr/>
        </p:nvSpPr>
        <p:spPr>
          <a:xfrm>
            <a:off x="4846320" y="3200400"/>
            <a:ext cx="2103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B4C7D2"/>
                </a:solidFill>
                <a:latin typeface="Arial"/>
              </a:rPr>
              <a:t>wall</a:t>
            </a:r>
          </a:p>
        </p:txBody>
      </p:sp>
      <p:sp>
        <p:nvSpPr>
          <p:cNvPr id="42" name="C3-E13 text 40" descr="sci-ppt:o040"/>
          <p:cNvSpPr txBox="1"/>
          <p:nvPr/>
        </p:nvSpPr>
        <p:spPr>
          <a:xfrm>
            <a:off x="4572000" y="1645920"/>
            <a:ext cx="2468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far field φ → 0</a:t>
            </a:r>
          </a:p>
        </p:txBody>
      </p:sp>
      <p:cxnSp>
        <p:nvCxnSpPr>
          <p:cNvPr id="43" name="C3-E13 arrow 41" descr="sci-ppt:o041"/>
          <p:cNvCxnSpPr/>
          <p:nvPr/>
        </p:nvCxnSpPr>
        <p:spPr>
          <a:xfrm flipV="1">
            <a:off x="3688380" y="3034496"/>
            <a:ext cx="515553" cy="187646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4" name="C3-E13 arrow 42" descr="sci-ppt:o042"/>
          <p:cNvCxnSpPr/>
          <p:nvPr/>
        </p:nvCxnSpPr>
        <p:spPr>
          <a:xfrm flipV="1">
            <a:off x="3003530" y="2064647"/>
            <a:ext cx="141999" cy="529946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5" name="C3-E13 arrow 43" descr="sci-ppt:o043"/>
          <p:cNvCxnSpPr/>
          <p:nvPr/>
        </p:nvCxnSpPr>
        <p:spPr>
          <a:xfrm flipH="1" flipV="1">
            <a:off x="1743999" y="2375359"/>
            <a:ext cx="352659" cy="420282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6" name="C3-E13 arrow 44" descr="sci-ppt:o044"/>
          <p:cNvCxnSpPr/>
          <p:nvPr/>
        </p:nvCxnSpPr>
        <p:spPr>
          <a:xfrm flipH="1">
            <a:off x="1194635" y="3653824"/>
            <a:ext cx="546552" cy="47817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7" name="C3-E13 arrow 45" descr="sci-ppt:o045"/>
          <p:cNvCxnSpPr/>
          <p:nvPr/>
        </p:nvCxnSpPr>
        <p:spPr>
          <a:xfrm>
            <a:off x="3614282" y="4069080"/>
            <a:ext cx="475137" cy="27432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48" name="C3-E13 round_rect 46" descr="sci-ppt:o046"/>
          <p:cNvSpPr/>
          <p:nvPr/>
        </p:nvSpPr>
        <p:spPr>
          <a:xfrm>
            <a:off x="7406640" y="914400"/>
            <a:ext cx="443484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3-E13 text 47" descr="sci-ppt:o047"/>
          <p:cNvSpPr txBox="1"/>
          <p:nvPr/>
        </p:nvSpPr>
        <p:spPr>
          <a:xfrm>
            <a:off x="7516367" y="969264"/>
            <a:ext cx="4215383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Geometry enters through Ω and its boundary</a:t>
            </a:r>
          </a:p>
        </p:txBody>
      </p:sp>
      <p:sp>
        <p:nvSpPr>
          <p:cNvPr id="50" name="C3-E13 text 48" descr="sci-ppt:o048"/>
          <p:cNvSpPr txBox="1"/>
          <p:nvPr/>
        </p:nvSpPr>
        <p:spPr>
          <a:xfrm>
            <a:off x="7543800" y="1417320"/>
            <a:ext cx="42062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Irrotational, incompressible flow reduces to one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scalar equation:</a:t>
            </a:r>
          </a:p>
        </p:txBody>
      </p:sp>
      <p:sp>
        <p:nvSpPr>
          <p:cNvPr id="51" name="C3-E13 text 49" descr="sci-ppt:o049"/>
          <p:cNvSpPr txBox="1"/>
          <p:nvPr/>
        </p:nvSpPr>
        <p:spPr>
          <a:xfrm>
            <a:off x="7543800" y="2011680"/>
            <a:ext cx="420624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∇·u = 0  and  u = ∇φ  ⇒  ∇²φ = 0 in Ω(t)</a:t>
            </a:r>
          </a:p>
        </p:txBody>
      </p:sp>
      <p:sp>
        <p:nvSpPr>
          <p:cNvPr id="52" name="C3-E13 text 50" descr="sci-ppt:o050"/>
          <p:cNvSpPr txBox="1"/>
          <p:nvPr/>
        </p:nvSpPr>
        <p:spPr>
          <a:xfrm>
            <a:off x="7744968" y="2743200"/>
            <a:ext cx="4005072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Laplace has no time derivative: φ at one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instant follows from the shape and boundary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data at that instant.</a:t>
            </a:r>
          </a:p>
        </p:txBody>
      </p:sp>
      <p:sp>
        <p:nvSpPr>
          <p:cNvPr id="53" name="C3-E13 ellipse 51" descr="sci-ppt:o051"/>
          <p:cNvSpPr/>
          <p:nvPr/>
        </p:nvSpPr>
        <p:spPr>
          <a:xfrm>
            <a:off x="7575804" y="280047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3-E13 text 52" descr="sci-ppt:o052"/>
          <p:cNvSpPr txBox="1"/>
          <p:nvPr/>
        </p:nvSpPr>
        <p:spPr>
          <a:xfrm>
            <a:off x="7744968" y="3415665"/>
            <a:ext cx="400507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domain Ω(t) changes with the moving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interface, so geometry drives the dynamics.</a:t>
            </a:r>
          </a:p>
        </p:txBody>
      </p:sp>
      <p:sp>
        <p:nvSpPr>
          <p:cNvPr id="55" name="C3-E13 ellipse 53" descr="sci-ppt:o053"/>
          <p:cNvSpPr/>
          <p:nvPr/>
        </p:nvSpPr>
        <p:spPr>
          <a:xfrm>
            <a:off x="7575804" y="347294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3-E13 text 54" descr="sci-ppt:o054"/>
          <p:cNvSpPr txBox="1"/>
          <p:nvPr/>
        </p:nvSpPr>
        <p:spPr>
          <a:xfrm>
            <a:off x="7744968" y="3894455"/>
            <a:ext cx="400507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equation alone predicts nothing without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boundary conditions (next figure).</a:t>
            </a:r>
          </a:p>
        </p:txBody>
      </p:sp>
      <p:sp>
        <p:nvSpPr>
          <p:cNvPr id="57" name="C3-E13 ellipse 55" descr="sci-ppt:o055"/>
          <p:cNvSpPr/>
          <p:nvPr/>
        </p:nvSpPr>
        <p:spPr>
          <a:xfrm>
            <a:off x="7575804" y="395173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3-E13 text 56" descr="sci-ppt:o05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Potential-flow reduction of Eq. C3-E13; schematic.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