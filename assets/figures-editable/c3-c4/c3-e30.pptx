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30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C3-E30 · Worked finite jet mass, speed and pressure scales</a:t>
            </a:r>
          </a:p>
        </p:txBody>
      </p:sp>
      <p:sp>
        <p:nvSpPr>
          <p:cNvPr id="3" name="C3-E30 text 1" descr="sci-ppt:o001"/>
          <p:cNvSpPr txBox="1"/>
          <p:nvPr/>
        </p:nvSpPr>
        <p:spPr>
          <a:xfrm>
            <a:off x="457200" y="914400"/>
            <a:ext cx="1133856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The declared jet drawn to scale (10 µm diameter, 50 µm long)</a:t>
            </a:r>
          </a:p>
        </p:txBody>
      </p:sp>
      <p:sp>
        <p:nvSpPr>
          <p:cNvPr id="4" name="C3-E30 rect 2" descr="sci-ppt:o002"/>
          <p:cNvSpPr/>
          <p:nvPr/>
        </p:nvSpPr>
        <p:spPr>
          <a:xfrm>
            <a:off x="731520" y="1645920"/>
            <a:ext cx="4572000" cy="914400"/>
          </a:xfrm>
          <a:prstGeom prst="rect">
            <a:avLst/>
          </a:prstGeom>
          <a:solidFill>
            <a:srgbClr val="1E4A5A"/>
          </a:solidFill>
          <a:ln w="3048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3-E30 arrow 3" descr="sci-ppt:o003"/>
          <p:cNvCxnSpPr/>
          <p:nvPr/>
        </p:nvCxnSpPr>
        <p:spPr>
          <a:xfrm>
            <a:off x="5394960" y="2103120"/>
            <a:ext cx="914400" cy="0"/>
          </a:xfrm>
          <a:prstGeom prst="line">
            <a:avLst/>
          </a:prstGeom>
          <a:ln w="508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3-E30 text 4" descr="sci-ppt:o004"/>
          <p:cNvSpPr txBox="1"/>
          <p:nvPr/>
        </p:nvSpPr>
        <p:spPr>
          <a:xfrm>
            <a:off x="5486400" y="1691640"/>
            <a:ext cx="1371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Uⱼ</a:t>
            </a:r>
          </a:p>
        </p:txBody>
      </p:sp>
      <p:cxnSp>
        <p:nvCxnSpPr>
          <p:cNvPr id="7" name="C3-E30 line 5" descr="sci-ppt:o005"/>
          <p:cNvCxnSpPr/>
          <p:nvPr/>
        </p:nvCxnSpPr>
        <p:spPr>
          <a:xfrm>
            <a:off x="731520" y="2880360"/>
            <a:ext cx="4572000" cy="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8" name="C3-E30 line 6" descr="sci-ppt:o006"/>
          <p:cNvCxnSpPr/>
          <p:nvPr/>
        </p:nvCxnSpPr>
        <p:spPr>
          <a:xfrm>
            <a:off x="731520" y="2816352"/>
            <a:ext cx="0" cy="128016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9" name="C3-E30 line 7" descr="sci-ppt:o007"/>
          <p:cNvCxnSpPr/>
          <p:nvPr/>
        </p:nvCxnSpPr>
        <p:spPr>
          <a:xfrm>
            <a:off x="5303520" y="2816352"/>
            <a:ext cx="0" cy="128016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sp>
        <p:nvSpPr>
          <p:cNvPr id="10" name="C3-E30 text 8" descr="sci-ppt:o008"/>
          <p:cNvSpPr txBox="1"/>
          <p:nvPr/>
        </p:nvSpPr>
        <p:spPr>
          <a:xfrm>
            <a:off x="2103120" y="2606039"/>
            <a:ext cx="1828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Lⱼ = 50 µm</a:t>
            </a:r>
          </a:p>
        </p:txBody>
      </p:sp>
      <p:cxnSp>
        <p:nvCxnSpPr>
          <p:cNvPr id="11" name="C3-E30 line 9" descr="sci-ppt:o009"/>
          <p:cNvCxnSpPr/>
          <p:nvPr/>
        </p:nvCxnSpPr>
        <p:spPr>
          <a:xfrm>
            <a:off x="594360" y="1645920"/>
            <a:ext cx="0" cy="91440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sp>
        <p:nvSpPr>
          <p:cNvPr id="12" name="C3-E30 text 10" descr="sci-ppt:o010"/>
          <p:cNvSpPr txBox="1"/>
          <p:nvPr/>
        </p:nvSpPr>
        <p:spPr>
          <a:xfrm>
            <a:off x="731520" y="1280160"/>
            <a:ext cx="27432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dⱼ = 10 µm (cylinder height)</a:t>
            </a:r>
          </a:p>
        </p:txBody>
      </p:sp>
      <p:sp>
        <p:nvSpPr>
          <p:cNvPr id="13" name="C3-E30 round_rect 11" descr="sci-ppt:o011"/>
          <p:cNvSpPr/>
          <p:nvPr/>
        </p:nvSpPr>
        <p:spPr>
          <a:xfrm>
            <a:off x="457200" y="3383280"/>
            <a:ext cx="2148840" cy="22860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3-E30 text 12" descr="sci-ppt:o012"/>
          <p:cNvSpPr txBox="1"/>
          <p:nvPr/>
        </p:nvSpPr>
        <p:spPr>
          <a:xfrm>
            <a:off x="530352" y="3456432"/>
            <a:ext cx="2011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7FC8F8"/>
                </a:solidFill>
                <a:latin typeface="Arial"/>
              </a:rPr>
              <a:t>mass</a:t>
            </a:r>
          </a:p>
        </p:txBody>
      </p:sp>
      <p:sp>
        <p:nvSpPr>
          <p:cNvPr id="15" name="C3-E30 text 13" descr="sci-ppt:o013"/>
          <p:cNvSpPr txBox="1"/>
          <p:nvPr/>
        </p:nvSpPr>
        <p:spPr>
          <a:xfrm>
            <a:off x="530352" y="3931920"/>
            <a:ext cx="201168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mⱼ = ρ π dⱼ² Lⱼ / 4</a:t>
            </a:r>
          </a:p>
        </p:txBody>
      </p:sp>
      <p:sp>
        <p:nvSpPr>
          <p:cNvPr id="16" name="C3-E30 text 14" descr="sci-ppt:o014"/>
          <p:cNvSpPr txBox="1"/>
          <p:nvPr/>
        </p:nvSpPr>
        <p:spPr>
          <a:xfrm>
            <a:off x="530352" y="4754880"/>
            <a:ext cx="2011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3.927 ng</a:t>
            </a:r>
          </a:p>
        </p:txBody>
      </p:sp>
      <p:sp>
        <p:nvSpPr>
          <p:cNvPr id="17" name="C3-E30 round_rect 15" descr="sci-ppt:o015"/>
          <p:cNvSpPr/>
          <p:nvPr/>
        </p:nvSpPr>
        <p:spPr>
          <a:xfrm>
            <a:off x="2743200" y="3383280"/>
            <a:ext cx="2148840" cy="22860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3-E30 text 16" descr="sci-ppt:o016"/>
          <p:cNvSpPr txBox="1"/>
          <p:nvPr/>
        </p:nvSpPr>
        <p:spPr>
          <a:xfrm>
            <a:off x="2816352" y="3456432"/>
            <a:ext cx="2011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8EDBD4"/>
                </a:solidFill>
                <a:latin typeface="Arial"/>
              </a:rPr>
              <a:t>speed</a:t>
            </a:r>
          </a:p>
        </p:txBody>
      </p:sp>
      <p:sp>
        <p:nvSpPr>
          <p:cNvPr id="19" name="C3-E30 text 17" descr="sci-ppt:o017"/>
          <p:cNvSpPr txBox="1"/>
          <p:nvPr/>
        </p:nvSpPr>
        <p:spPr>
          <a:xfrm>
            <a:off x="2816352" y="3931920"/>
            <a:ext cx="201168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Uⱼ = √(2Eⱼ/mⱼ), Eⱼ = 2 nJ</a:t>
            </a:r>
          </a:p>
        </p:txBody>
      </p:sp>
      <p:sp>
        <p:nvSpPr>
          <p:cNvPr id="20" name="C3-E30 text 18" descr="sci-ppt:o018"/>
          <p:cNvSpPr txBox="1"/>
          <p:nvPr/>
        </p:nvSpPr>
        <p:spPr>
          <a:xfrm>
            <a:off x="2816352" y="4754880"/>
            <a:ext cx="2011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31.915 m/s</a:t>
            </a:r>
          </a:p>
        </p:txBody>
      </p:sp>
      <p:sp>
        <p:nvSpPr>
          <p:cNvPr id="21" name="C3-E30 round_rect 19" descr="sci-ppt:o019"/>
          <p:cNvSpPr/>
          <p:nvPr/>
        </p:nvSpPr>
        <p:spPr>
          <a:xfrm>
            <a:off x="5029200" y="3383280"/>
            <a:ext cx="2148840" cy="22860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C3-E30 text 20" descr="sci-ppt:o020"/>
          <p:cNvSpPr txBox="1"/>
          <p:nvPr/>
        </p:nvSpPr>
        <p:spPr>
          <a:xfrm>
            <a:off x="5102352" y="3456432"/>
            <a:ext cx="2011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dynamic pressure</a:t>
            </a:r>
          </a:p>
        </p:txBody>
      </p:sp>
      <p:sp>
        <p:nvSpPr>
          <p:cNvPr id="23" name="C3-E30 text 21" descr="sci-ppt:o021"/>
          <p:cNvSpPr txBox="1"/>
          <p:nvPr/>
        </p:nvSpPr>
        <p:spPr>
          <a:xfrm>
            <a:off x="5102352" y="3931920"/>
            <a:ext cx="201168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qⱼ = ½ρUⱼ²</a:t>
            </a:r>
          </a:p>
        </p:txBody>
      </p:sp>
      <p:sp>
        <p:nvSpPr>
          <p:cNvPr id="24" name="C3-E30 text 22" descr="sci-ppt:o022"/>
          <p:cNvSpPr txBox="1"/>
          <p:nvPr/>
        </p:nvSpPr>
        <p:spPr>
          <a:xfrm>
            <a:off x="5102352" y="4754880"/>
            <a:ext cx="2011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0.5093 MPa</a:t>
            </a:r>
          </a:p>
        </p:txBody>
      </p:sp>
      <p:sp>
        <p:nvSpPr>
          <p:cNvPr id="25" name="C3-E30 round_rect 23" descr="sci-ppt:o023"/>
          <p:cNvSpPr/>
          <p:nvPr/>
        </p:nvSpPr>
        <p:spPr>
          <a:xfrm>
            <a:off x="7315200" y="3383280"/>
            <a:ext cx="2148840" cy="22860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3-E30 text 24" descr="sci-ppt:o024"/>
          <p:cNvSpPr txBox="1"/>
          <p:nvPr/>
        </p:nvSpPr>
        <p:spPr>
          <a:xfrm>
            <a:off x="7388352" y="3456432"/>
            <a:ext cx="2011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28BA0"/>
                </a:solidFill>
                <a:latin typeface="Arial"/>
              </a:rPr>
              <a:t>early rigid contact</a:t>
            </a:r>
          </a:p>
        </p:txBody>
      </p:sp>
      <p:sp>
        <p:nvSpPr>
          <p:cNvPr id="27" name="C3-E30 text 25" descr="sci-ppt:o025"/>
          <p:cNvSpPr txBox="1"/>
          <p:nvPr/>
        </p:nvSpPr>
        <p:spPr>
          <a:xfrm>
            <a:off x="7388352" y="3931920"/>
            <a:ext cx="201168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ρ c Uⱼ (c = 1480 m/s)</a:t>
            </a:r>
          </a:p>
        </p:txBody>
      </p:sp>
      <p:sp>
        <p:nvSpPr>
          <p:cNvPr id="28" name="C3-E30 text 26" descr="sci-ppt:o026"/>
          <p:cNvSpPr txBox="1"/>
          <p:nvPr/>
        </p:nvSpPr>
        <p:spPr>
          <a:xfrm>
            <a:off x="7388352" y="4754880"/>
            <a:ext cx="2011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47.23 MPa</a:t>
            </a:r>
          </a:p>
        </p:txBody>
      </p:sp>
      <p:sp>
        <p:nvSpPr>
          <p:cNvPr id="29" name="C3-E30 round_rect 27" descr="sci-ppt:o027"/>
          <p:cNvSpPr/>
          <p:nvPr/>
        </p:nvSpPr>
        <p:spPr>
          <a:xfrm>
            <a:off x="9601200" y="3383280"/>
            <a:ext cx="2148840" cy="22860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A8E6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3-E30 text 28" descr="sci-ppt:o028"/>
          <p:cNvSpPr txBox="1"/>
          <p:nvPr/>
        </p:nvSpPr>
        <p:spPr>
          <a:xfrm>
            <a:off x="9674352" y="3456432"/>
            <a:ext cx="2011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A8E6A1"/>
                </a:solidFill>
                <a:latin typeface="Arial"/>
              </a:rPr>
              <a:t>momentum</a:t>
            </a:r>
          </a:p>
        </p:txBody>
      </p:sp>
      <p:sp>
        <p:nvSpPr>
          <p:cNvPr id="31" name="C3-E30 text 29" descr="sci-ppt:o029"/>
          <p:cNvSpPr txBox="1"/>
          <p:nvPr/>
        </p:nvSpPr>
        <p:spPr>
          <a:xfrm>
            <a:off x="9674352" y="3931920"/>
            <a:ext cx="201168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Pⱼ = mⱼ Uⱼ;  25 jets: 25 Pⱼ</a:t>
            </a:r>
          </a:p>
        </p:txBody>
      </p:sp>
      <p:sp>
        <p:nvSpPr>
          <p:cNvPr id="32" name="C3-E30 text 30" descr="sci-ppt:o030"/>
          <p:cNvSpPr txBox="1"/>
          <p:nvPr/>
        </p:nvSpPr>
        <p:spPr>
          <a:xfrm>
            <a:off x="9674352" y="4754880"/>
            <a:ext cx="201168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1.2533×10⁻¹⁰ N s;</a:t>
            </a:r>
          </a:p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3.1333×10⁻⁹ N s</a:t>
            </a:r>
          </a:p>
        </p:txBody>
      </p:sp>
      <p:sp>
        <p:nvSpPr>
          <p:cNvPr id="33" name="C3-E30 text 31" descr="sci-ppt:o031"/>
          <p:cNvSpPr txBox="1"/>
          <p:nvPr/>
        </p:nvSpPr>
        <p:spPr>
          <a:xfrm>
            <a:off x="6949440" y="1737360"/>
            <a:ext cx="4846320" cy="44856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The state carried into Chapter 4 includes mass, energy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and momentum, not a pressure peak alone.</a:t>
            </a:r>
          </a:p>
        </p:txBody>
      </p:sp>
      <p:sp>
        <p:nvSpPr>
          <p:cNvPr id="34" name="C3-E30 text 32" descr="sci-ppt:o032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Worked finite jet of Eq. C3-E30 (ρ = 1000 kg/m³, uniform direction, full activation, independent cells).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