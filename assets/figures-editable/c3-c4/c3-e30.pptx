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0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C3-E30 · Worked finite jet mass, speed and pressure scales</a:t>
            </a:r>
          </a:p>
        </p:txBody>
      </p:sp>
      <p:sp>
        <p:nvSpPr>
          <p:cNvPr id="3" name="C3-E30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30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30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30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30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30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30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sp>
        <p:nvSpPr>
          <p:cNvPr id="10" name="C3-E30 rect 8" descr="sci-ppt:o008"/>
          <p:cNvSpPr/>
          <p:nvPr/>
        </p:nvSpPr>
        <p:spPr>
          <a:xfrm>
            <a:off x="8412480" y="960120"/>
            <a:ext cx="365760" cy="16459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3-E30 arrow 9" descr="sci-ppt:o009"/>
          <p:cNvCxnSpPr/>
          <p:nvPr/>
        </p:nvCxnSpPr>
        <p:spPr>
          <a:xfrm>
            <a:off x="5760720" y="1874519"/>
            <a:ext cx="26060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3-E30 text 10" descr="sci-ppt:o010"/>
          <p:cNvSpPr txBox="1"/>
          <p:nvPr/>
        </p:nvSpPr>
        <p:spPr>
          <a:xfrm>
            <a:off x="9006840" y="1005840"/>
            <a:ext cx="27432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Receiver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Z_r, v_i</a:t>
            </a:r>
          </a:p>
        </p:txBody>
      </p:sp>
      <p:sp>
        <p:nvSpPr>
          <p:cNvPr id="13" name="C3-E30 text 11" descr="sci-ppt:o011"/>
          <p:cNvSpPr txBox="1"/>
          <p:nvPr/>
        </p:nvSpPr>
        <p:spPr>
          <a:xfrm>
            <a:off x="6035040" y="2880360"/>
            <a:ext cx="5394960" cy="7315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Early pressure: acoustic matching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Impulse: finite momentum change</a:t>
            </a:r>
          </a:p>
        </p:txBody>
      </p:sp>
      <p:cxnSp>
        <p:nvCxnSpPr>
          <p:cNvPr id="14" name="C3-E30 line 12" descr="sci-ppt:o012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5" name="C3-E30 text 13" descr="sci-ppt:o013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d_j = 10 μm; L_j = 50 μm</a:t>
            </a:r>
          </a:p>
        </p:txBody>
      </p:sp>
      <p:sp>
        <p:nvSpPr>
          <p:cNvPr id="16" name="C3-E30 text 14" descr="sci-ppt:o014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m_j = 3.926991 ng</a:t>
            </a:r>
          </a:p>
        </p:txBody>
      </p:sp>
      <p:sp>
        <p:nvSpPr>
          <p:cNvPr id="17" name="C3-E30 text 15" descr="sci-ppt:o015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E_j = 2 nJ; U_j = 31.91538 m/s</a:t>
            </a:r>
          </a:p>
        </p:txBody>
      </p:sp>
      <p:sp>
        <p:nvSpPr>
          <p:cNvPr id="18" name="C3-E30 text 16" descr="sci-ppt:o016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q_j = 0.509296 MPa</a:t>
            </a:r>
          </a:p>
        </p:txBody>
      </p:sp>
      <p:sp>
        <p:nvSpPr>
          <p:cNvPr id="19" name="C3-E30 text 17" descr="sci-ppt:o017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p_rigid,early = 47.23477 MPa</a:t>
            </a:r>
          </a:p>
        </p:txBody>
      </p:sp>
      <p:sp>
        <p:nvSpPr>
          <p:cNvPr id="20" name="C3-E30 text 18" descr="sci-ppt:o018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P_j, P_tot aligned momentum</a:t>
            </a:r>
          </a:p>
        </p:txBody>
      </p:sp>
      <p:sp>
        <p:nvSpPr>
          <p:cNvPr id="21" name="C3-E30 text 19" descr="sci-ppt:o019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 = 1000 kg/m³; c = 1480 m/s; π</a:t>
            </a:r>
          </a:p>
        </p:txBody>
      </p:sp>
      <p:sp>
        <p:nvSpPr>
          <p:cNvPr id="22" name="C3-E30 text 20" descr="sci-ppt:o02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Carrier mass, not PFC vapor mass, is emitted</a:t>
            </a:r>
          </a:p>
        </p:txBody>
      </p:sp>
      <p:sp>
        <p:nvSpPr>
          <p:cNvPr id="23" name="C3-E30 text 21" descr="sci-ppt:o02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High early pressure does not create additional energy</a:t>
            </a:r>
          </a:p>
        </p:txBody>
      </p:sp>
      <p:sp>
        <p:nvSpPr>
          <p:cNvPr id="24" name="C3-E30 text 22" descr="sci-ppt:o02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