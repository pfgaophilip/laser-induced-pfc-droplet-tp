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1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C3-E11 · Leading-model energy check and fixed-total-work comparison</a:t>
            </a:r>
          </a:p>
        </p:txBody>
      </p:sp>
      <p:sp>
        <p:nvSpPr>
          <p:cNvPr id="3" name="C3-E11 rect 1" descr="sci-ppt:o001"/>
          <p:cNvSpPr/>
          <p:nvPr/>
        </p:nvSpPr>
        <p:spPr>
          <a:xfrm>
            <a:off x="5943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11 text 2" descr="sci-ppt:o002"/>
          <p:cNvSpPr txBox="1"/>
          <p:nvPr/>
        </p:nvSpPr>
        <p:spPr>
          <a:xfrm>
            <a:off x="7589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Pressure-work reservoir</a:t>
            </a:r>
          </a:p>
        </p:txBody>
      </p:sp>
      <p:cxnSp>
        <p:nvCxnSpPr>
          <p:cNvPr id="5" name="C3-E11 arrow 3" descr="sci-ppt:o003"/>
          <p:cNvCxnSpPr/>
          <p:nvPr/>
        </p:nvCxnSpPr>
        <p:spPr>
          <a:xfrm>
            <a:off x="37947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3-E11 rect 4" descr="sci-ppt:o004"/>
          <p:cNvSpPr/>
          <p:nvPr/>
        </p:nvSpPr>
        <p:spPr>
          <a:xfrm>
            <a:off x="44805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3-E11 text 5" descr="sci-ppt:o005"/>
          <p:cNvSpPr txBox="1"/>
          <p:nvPr/>
        </p:nvSpPr>
        <p:spPr>
          <a:xfrm>
            <a:off x="46451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K_N: self + pair kinetic energy</a:t>
            </a:r>
          </a:p>
        </p:txBody>
      </p:sp>
      <p:cxnSp>
        <p:nvCxnSpPr>
          <p:cNvPr id="8" name="C3-E11 arrow 6" descr="sci-ppt:o006"/>
          <p:cNvCxnSpPr/>
          <p:nvPr/>
        </p:nvCxnSpPr>
        <p:spPr>
          <a:xfrm>
            <a:off x="76809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C3-E11 rect 7" descr="sci-ppt:o007"/>
          <p:cNvSpPr/>
          <p:nvPr/>
        </p:nvSpPr>
        <p:spPr>
          <a:xfrm>
            <a:off x="83667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3-E11 text 8" descr="sci-ppt:o008"/>
          <p:cNvSpPr txBox="1"/>
          <p:nvPr/>
        </p:nvSpPr>
        <p:spPr>
          <a:xfrm>
            <a:off x="85313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K_N + remaining work: conserved</a:t>
            </a:r>
          </a:p>
        </p:txBody>
      </p:sp>
      <p:sp>
        <p:nvSpPr>
          <p:cNvPr id="11" name="C3-E11 text 9" descr="sci-ppt:o009"/>
          <p:cNvSpPr txBox="1"/>
          <p:nvPr/>
        </p:nvSpPr>
        <p:spPr>
          <a:xfrm>
            <a:off x="731520" y="3246120"/>
            <a:ext cx="1078992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Each energy allocation belongs to the same finite source budget.</a:t>
            </a:r>
          </a:p>
        </p:txBody>
      </p:sp>
      <p:cxnSp>
        <p:nvCxnSpPr>
          <p:cNvPr id="12" name="C3-E11 line 10" descr="sci-ppt:o010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3" name="C3-E11 text 11" descr="sci-ppt:o011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N, i, j bubble count/indices</a:t>
            </a:r>
          </a:p>
        </p:txBody>
      </p:sp>
      <p:sp>
        <p:nvSpPr>
          <p:cNvPr id="14" name="C3-E11 text 12" descr="sci-ppt:o012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R_i, R_j, R, R_max, Ṙ_i, Ṙ_j, Ṙ</a:t>
            </a:r>
          </a:p>
        </p:txBody>
      </p:sp>
      <p:sp>
        <p:nvSpPr>
          <p:cNvPr id="15" name="C3-E11 text 13" descr="sci-ppt:o013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r_i, d_ij radial/center distances</a:t>
            </a:r>
          </a:p>
        </p:txBody>
      </p:sp>
      <p:sp>
        <p:nvSpPr>
          <p:cNvPr id="16" name="C3-E11 text 14" descr="sci-ppt:o014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b_i, b_j monopole strengths</a:t>
            </a:r>
          </a:p>
        </p:txBody>
      </p:sp>
      <p:sp>
        <p:nvSpPr>
          <p:cNvPr id="17" name="C3-E11 text 15" descr="sci-ppt:o015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φ_i, φ_j; ∇φ gradients</a:t>
            </a:r>
          </a:p>
        </p:txBody>
      </p:sp>
      <p:sp>
        <p:nvSpPr>
          <p:cNvPr id="18" name="C3-E11 text 16" descr="sci-ppt:o016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Ω, Γ_j liquid domain/bubble surface; ∂ₙ</a:t>
            </a:r>
          </a:p>
        </p:txBody>
      </p:sp>
      <p:sp>
        <p:nvSpPr>
          <p:cNvPr id="19" name="C3-E11 text 17" descr="sci-ppt:o017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K_N = self + pair energy; ρ, S</a:t>
            </a:r>
          </a:p>
        </p:txBody>
      </p:sp>
      <p:sp>
        <p:nvSpPr>
          <p:cNvPr id="20" name="C3-E11 text 18" descr="sci-ppt:o018"/>
          <p:cNvSpPr txBox="1"/>
          <p:nvPr/>
        </p:nvSpPr>
        <p:spPr>
          <a:xfrm>
            <a:off x="621792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Δp_c pressure-work reservoir</a:t>
            </a:r>
          </a:p>
        </p:txBody>
      </p:sp>
      <p:sp>
        <p:nvSpPr>
          <p:cNvPr id="21" name="C3-E11 text 19" descr="sci-ppt:o019"/>
          <p:cNvSpPr txBox="1"/>
          <p:nvPr/>
        </p:nvSpPr>
        <p:spPr>
          <a:xfrm>
            <a:off x="320040" y="5029200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E_B,tot fixed total work</a:t>
            </a:r>
          </a:p>
        </p:txBody>
      </p:sp>
      <p:sp>
        <p:nvSpPr>
          <p:cNvPr id="22" name="C3-E11 text 20" descr="sci-ppt:o020"/>
          <p:cNvSpPr txBox="1"/>
          <p:nvPr/>
        </p:nvSpPr>
        <p:spPr>
          <a:xfrm>
            <a:off x="6217920" y="5029200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R_max,N = R_* N^−1/3</a:t>
            </a:r>
          </a:p>
        </p:txBody>
      </p:sp>
      <p:sp>
        <p:nvSpPr>
          <p:cNvPr id="23" name="C3-E11 text 21" descr="sci-ppt:o021"/>
          <p:cNvSpPr txBox="1"/>
          <p:nvPr/>
        </p:nvSpPr>
        <p:spPr>
          <a:xfrm>
            <a:off x="320040" y="526237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∫, Σ, dV, dA, π; * reference label</a:t>
            </a:r>
          </a:p>
        </p:txBody>
      </p:sp>
      <p:sp>
        <p:nvSpPr>
          <p:cNvPr id="24" name="C3-E11 text 22" descr="sci-ppt:o022"/>
          <p:cNvSpPr txBox="1"/>
          <p:nvPr/>
        </p:nvSpPr>
        <p:spPr>
          <a:xfrm>
            <a:off x="320040" y="5632704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Interaction raises effective inertia, not initial energy</a:t>
            </a:r>
          </a:p>
        </p:txBody>
      </p:sp>
      <p:sp>
        <p:nvSpPr>
          <p:cNvPr id="25" name="C3-E11 text 23" descr="sci-ppt:o023"/>
          <p:cNvSpPr txBox="1"/>
          <p:nvPr/>
        </p:nvSpPr>
        <p:spPr>
          <a:xfrm>
            <a:off x="320040" y="5907024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Fixed per-bubble radius increases total available work</a:t>
            </a:r>
          </a:p>
        </p:txBody>
      </p:sp>
      <p:sp>
        <p:nvSpPr>
          <p:cNvPr id="26" name="C3-E11 text 24" descr="sci-ppt:o024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