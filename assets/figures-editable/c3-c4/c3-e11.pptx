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C3-E11 · Leading-model energy check and fixed-total-work comparison</a:t>
            </a:r>
          </a:p>
        </p:txBody>
      </p:sp>
      <p:cxnSp>
        <p:nvCxnSpPr>
          <p:cNvPr id="3" name="C3-E11 line 1" descr="sci-ppt:o001"/>
          <p:cNvCxnSpPr/>
          <p:nvPr/>
        </p:nvCxnSpPr>
        <p:spPr>
          <a:xfrm>
            <a:off x="914400" y="4937760"/>
            <a:ext cx="5120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11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11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11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11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3-E11 line 6" descr="sci-ppt:o006"/>
          <p:cNvCxnSpPr/>
          <p:nvPr/>
        </p:nvCxnSpPr>
        <p:spPr>
          <a:xfrm>
            <a:off x="17678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11 line 7" descr="sci-ppt:o007"/>
          <p:cNvCxnSpPr/>
          <p:nvPr/>
        </p:nvCxnSpPr>
        <p:spPr>
          <a:xfrm>
            <a:off x="17678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11 text 8" descr="sci-ppt:o008"/>
          <p:cNvSpPr txBox="1"/>
          <p:nvPr/>
        </p:nvSpPr>
        <p:spPr>
          <a:xfrm>
            <a:off x="13106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11" name="C3-E11 line 9" descr="sci-ppt:o009"/>
          <p:cNvCxnSpPr/>
          <p:nvPr/>
        </p:nvCxnSpPr>
        <p:spPr>
          <a:xfrm>
            <a:off x="28346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11 line 10" descr="sci-ppt:o010"/>
          <p:cNvCxnSpPr/>
          <p:nvPr/>
        </p:nvCxnSpPr>
        <p:spPr>
          <a:xfrm>
            <a:off x="28346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11 text 11" descr="sci-ppt:o011"/>
          <p:cNvSpPr txBox="1"/>
          <p:nvPr/>
        </p:nvSpPr>
        <p:spPr>
          <a:xfrm>
            <a:off x="23774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4" name="C3-E11 line 12" descr="sci-ppt:o012"/>
          <p:cNvCxnSpPr/>
          <p:nvPr/>
        </p:nvCxnSpPr>
        <p:spPr>
          <a:xfrm>
            <a:off x="39014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11 line 13" descr="sci-ppt:o013"/>
          <p:cNvCxnSpPr/>
          <p:nvPr/>
        </p:nvCxnSpPr>
        <p:spPr>
          <a:xfrm>
            <a:off x="39014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11 text 14" descr="sci-ppt:o014"/>
          <p:cNvSpPr txBox="1"/>
          <p:nvPr/>
        </p:nvSpPr>
        <p:spPr>
          <a:xfrm>
            <a:off x="34442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17" name="C3-E11 line 15" descr="sci-ppt:o015"/>
          <p:cNvCxnSpPr/>
          <p:nvPr/>
        </p:nvCxnSpPr>
        <p:spPr>
          <a:xfrm>
            <a:off x="49682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11 line 16" descr="sci-ppt:o016"/>
          <p:cNvCxnSpPr/>
          <p:nvPr/>
        </p:nvCxnSpPr>
        <p:spPr>
          <a:xfrm>
            <a:off x="49682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11 text 17" descr="sci-ppt:o017"/>
          <p:cNvSpPr txBox="1"/>
          <p:nvPr/>
        </p:nvSpPr>
        <p:spPr>
          <a:xfrm>
            <a:off x="45110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0" name="C3-E11 line 18" descr="sci-ppt:o018"/>
          <p:cNvCxnSpPr/>
          <p:nvPr/>
        </p:nvCxnSpPr>
        <p:spPr>
          <a:xfrm>
            <a:off x="603504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11 line 19" descr="sci-ppt:o019"/>
          <p:cNvCxnSpPr/>
          <p:nvPr/>
        </p:nvCxnSpPr>
        <p:spPr>
          <a:xfrm>
            <a:off x="603504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11 text 20" descr="sci-ppt:o020"/>
          <p:cNvSpPr txBox="1"/>
          <p:nvPr/>
        </p:nvSpPr>
        <p:spPr>
          <a:xfrm>
            <a:off x="557784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23" name="C3-E11 line 21" descr="sci-ppt:o021"/>
          <p:cNvCxnSpPr/>
          <p:nvPr/>
        </p:nvCxnSpPr>
        <p:spPr>
          <a:xfrm>
            <a:off x="85039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3-E11 line 22" descr="sci-ppt:o022"/>
          <p:cNvCxnSpPr/>
          <p:nvPr/>
        </p:nvCxnSpPr>
        <p:spPr>
          <a:xfrm>
            <a:off x="850392" y="412726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11 line 23" descr="sci-ppt:o023"/>
          <p:cNvCxnSpPr/>
          <p:nvPr/>
        </p:nvCxnSpPr>
        <p:spPr>
          <a:xfrm>
            <a:off x="914400" y="4127269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11 text 24" descr="sci-ppt:o024"/>
          <p:cNvSpPr txBox="1"/>
          <p:nvPr/>
        </p:nvSpPr>
        <p:spPr>
          <a:xfrm>
            <a:off x="45720" y="404497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7" name="C3-E11 line 25" descr="sci-ppt:o025"/>
          <p:cNvCxnSpPr/>
          <p:nvPr/>
        </p:nvCxnSpPr>
        <p:spPr>
          <a:xfrm>
            <a:off x="850392" y="331677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11 line 26" descr="sci-ppt:o026"/>
          <p:cNvCxnSpPr/>
          <p:nvPr/>
        </p:nvCxnSpPr>
        <p:spPr>
          <a:xfrm>
            <a:off x="914400" y="3316778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11 text 27" descr="sci-ppt:o027"/>
          <p:cNvSpPr txBox="1"/>
          <p:nvPr/>
        </p:nvSpPr>
        <p:spPr>
          <a:xfrm>
            <a:off x="45720" y="323448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30" name="C3-E11 line 28" descr="sci-ppt:o028"/>
          <p:cNvCxnSpPr/>
          <p:nvPr/>
        </p:nvCxnSpPr>
        <p:spPr>
          <a:xfrm>
            <a:off x="850392" y="250628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3-E11 line 29" descr="sci-ppt:o029"/>
          <p:cNvCxnSpPr/>
          <p:nvPr/>
        </p:nvCxnSpPr>
        <p:spPr>
          <a:xfrm>
            <a:off x="914400" y="2506287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3-E11 text 30" descr="sci-ppt:o030"/>
          <p:cNvSpPr txBox="1"/>
          <p:nvPr/>
        </p:nvSpPr>
        <p:spPr>
          <a:xfrm>
            <a:off x="45720" y="242399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33" name="C3-E11 line 31" descr="sci-ppt:o031"/>
          <p:cNvCxnSpPr/>
          <p:nvPr/>
        </p:nvCxnSpPr>
        <p:spPr>
          <a:xfrm>
            <a:off x="850392" y="16957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3-E11 line 32" descr="sci-ppt:o032"/>
          <p:cNvCxnSpPr/>
          <p:nvPr/>
        </p:nvCxnSpPr>
        <p:spPr>
          <a:xfrm>
            <a:off x="914400" y="1695796"/>
            <a:ext cx="5120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C3-E11 text 33" descr="sci-ppt:o033"/>
          <p:cNvSpPr txBox="1"/>
          <p:nvPr/>
        </p:nvSpPr>
        <p:spPr>
          <a:xfrm>
            <a:off x="45720" y="16135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sp>
        <p:nvSpPr>
          <p:cNvPr id="36" name="C3-E11 text 34" descr="sci-ppt:o034"/>
          <p:cNvSpPr txBox="1"/>
          <p:nvPr/>
        </p:nvSpPr>
        <p:spPr>
          <a:xfrm>
            <a:off x="914400" y="5221224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number of bubbles N</a:t>
            </a:r>
          </a:p>
        </p:txBody>
      </p:sp>
      <p:sp>
        <p:nvSpPr>
          <p:cNvPr id="37" name="C3-E11 text 35" descr="sci-ppt:o035"/>
          <p:cNvSpPr txBox="1"/>
          <p:nvPr/>
        </p:nvSpPr>
        <p:spPr>
          <a:xfrm>
            <a:off x="365760" y="1024128"/>
            <a:ext cx="5120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Rₘₐₓ,N / R_*</a:t>
            </a:r>
          </a:p>
        </p:txBody>
      </p:sp>
      <p:sp>
        <p:nvSpPr>
          <p:cNvPr id="38" name="C3-E11 polygon 36" descr="sci-ppt:o036"/>
          <p:cNvSpPr/>
          <p:nvPr/>
        </p:nvSpPr>
        <p:spPr>
          <a:xfrm>
            <a:off x="914400" y="1695796"/>
            <a:ext cx="5120640" cy="2133228"/>
          </a:xfrm>
          <a:custGeom>
            <a:avLst/>
            <a:gdLst/>
            <a:ahLst/>
            <a:cxnLst/>
            <a:rect l="l" t="t" r="r" b="b"/>
            <a:pathLst>
              <a:path w="5120640" h="2133228">
                <a:moveTo>
                  <a:pt x="0" y="0"/>
                </a:moveTo>
                <a:lnTo>
                  <a:pt x="213360" y="668815"/>
                </a:lnTo>
                <a:lnTo>
                  <a:pt x="426720" y="994111"/>
                </a:lnTo>
                <a:lnTo>
                  <a:pt x="640080" y="1199654"/>
                </a:lnTo>
                <a:lnTo>
                  <a:pt x="853439" y="1346052"/>
                </a:lnTo>
                <a:lnTo>
                  <a:pt x="1066800" y="1457842"/>
                </a:lnTo>
                <a:lnTo>
                  <a:pt x="1280160" y="1547201"/>
                </a:lnTo>
                <a:lnTo>
                  <a:pt x="1493520" y="1620982"/>
                </a:lnTo>
                <a:lnTo>
                  <a:pt x="1706879" y="1683390"/>
                </a:lnTo>
                <a:lnTo>
                  <a:pt x="1920239" y="1737177"/>
                </a:lnTo>
                <a:lnTo>
                  <a:pt x="2133600" y="1784233"/>
                </a:lnTo>
                <a:lnTo>
                  <a:pt x="2346960" y="1825905"/>
                </a:lnTo>
                <a:lnTo>
                  <a:pt x="2560320" y="1863188"/>
                </a:lnTo>
                <a:lnTo>
                  <a:pt x="2773680" y="1896830"/>
                </a:lnTo>
                <a:lnTo>
                  <a:pt x="2987040" y="1927412"/>
                </a:lnTo>
                <a:lnTo>
                  <a:pt x="3200400" y="1955389"/>
                </a:lnTo>
                <a:lnTo>
                  <a:pt x="3413759" y="1981128"/>
                </a:lnTo>
                <a:lnTo>
                  <a:pt x="3627120" y="2004923"/>
                </a:lnTo>
                <a:lnTo>
                  <a:pt x="3840479" y="2027018"/>
                </a:lnTo>
                <a:lnTo>
                  <a:pt x="4053839" y="2047614"/>
                </a:lnTo>
                <a:lnTo>
                  <a:pt x="4267200" y="2066881"/>
                </a:lnTo>
                <a:lnTo>
                  <a:pt x="4480559" y="2084962"/>
                </a:lnTo>
                <a:lnTo>
                  <a:pt x="4693920" y="2101979"/>
                </a:lnTo>
                <a:lnTo>
                  <a:pt x="4907280" y="2118037"/>
                </a:lnTo>
                <a:lnTo>
                  <a:pt x="5120640" y="2133228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11 ellipse 37" descr="sci-ppt:o037"/>
          <p:cNvSpPr/>
          <p:nvPr/>
        </p:nvSpPr>
        <p:spPr>
          <a:xfrm>
            <a:off x="5961888" y="3755872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3-E11 text 38" descr="sci-ppt:o038"/>
          <p:cNvSpPr txBox="1"/>
          <p:nvPr/>
        </p:nvSpPr>
        <p:spPr>
          <a:xfrm>
            <a:off x="4480559" y="3371824"/>
            <a:ext cx="14630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880"/>
                </a:solidFill>
                <a:latin typeface="Arial"/>
              </a:rPr>
              <a:t>N = 25: 0.342</a:t>
            </a:r>
          </a:p>
        </p:txBody>
      </p:sp>
      <p:sp>
        <p:nvSpPr>
          <p:cNvPr id="41" name="C3-E11 text 39" descr="sci-ppt:o039"/>
          <p:cNvSpPr txBox="1"/>
          <p:nvPr/>
        </p:nvSpPr>
        <p:spPr>
          <a:xfrm>
            <a:off x="1200912" y="1766454"/>
            <a:ext cx="2743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EDBD4"/>
                </a:solidFill>
                <a:latin typeface="Arial"/>
              </a:rPr>
              <a:t>Rₘₐₓ,N = R_* N^(−1/3)</a:t>
            </a:r>
          </a:p>
        </p:txBody>
      </p:sp>
      <p:cxnSp>
        <p:nvCxnSpPr>
          <p:cNvPr id="42" name="C3-E11 line 40" descr="sci-ppt:o040"/>
          <p:cNvCxnSpPr/>
          <p:nvPr/>
        </p:nvCxnSpPr>
        <p:spPr>
          <a:xfrm>
            <a:off x="6766560" y="4937760"/>
            <a:ext cx="50292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3" name="C3-E11 line 41" descr="sci-ppt:o041"/>
          <p:cNvCxnSpPr/>
          <p:nvPr/>
        </p:nvCxnSpPr>
        <p:spPr>
          <a:xfrm>
            <a:off x="676656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4" name="C3-E11 line 42" descr="sci-ppt:o042"/>
          <p:cNvCxnSpPr/>
          <p:nvPr/>
        </p:nvCxnSpPr>
        <p:spPr>
          <a:xfrm>
            <a:off x="67665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3-E11 line 43" descr="sci-ppt:o043"/>
          <p:cNvCxnSpPr/>
          <p:nvPr/>
        </p:nvCxnSpPr>
        <p:spPr>
          <a:xfrm>
            <a:off x="67665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6" name="C3-E11 text 44" descr="sci-ppt:o044"/>
          <p:cNvSpPr txBox="1"/>
          <p:nvPr/>
        </p:nvSpPr>
        <p:spPr>
          <a:xfrm>
            <a:off x="63093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7" name="C3-E11 line 45" descr="sci-ppt:o045"/>
          <p:cNvCxnSpPr/>
          <p:nvPr/>
        </p:nvCxnSpPr>
        <p:spPr>
          <a:xfrm>
            <a:off x="76047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8" name="C3-E11 line 46" descr="sci-ppt:o046"/>
          <p:cNvCxnSpPr/>
          <p:nvPr/>
        </p:nvCxnSpPr>
        <p:spPr>
          <a:xfrm>
            <a:off x="76047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9" name="C3-E11 text 47" descr="sci-ppt:o047"/>
          <p:cNvSpPr txBox="1"/>
          <p:nvPr/>
        </p:nvSpPr>
        <p:spPr>
          <a:xfrm>
            <a:off x="71475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50" name="C3-E11 line 48" descr="sci-ppt:o048"/>
          <p:cNvCxnSpPr/>
          <p:nvPr/>
        </p:nvCxnSpPr>
        <p:spPr>
          <a:xfrm>
            <a:off x="865251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1" name="C3-E11 line 49" descr="sci-ppt:o049"/>
          <p:cNvCxnSpPr/>
          <p:nvPr/>
        </p:nvCxnSpPr>
        <p:spPr>
          <a:xfrm>
            <a:off x="865251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2" name="C3-E11 text 50" descr="sci-ppt:o050"/>
          <p:cNvSpPr txBox="1"/>
          <p:nvPr/>
        </p:nvSpPr>
        <p:spPr>
          <a:xfrm>
            <a:off x="819531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53" name="C3-E11 line 51" descr="sci-ppt:o051"/>
          <p:cNvCxnSpPr/>
          <p:nvPr/>
        </p:nvCxnSpPr>
        <p:spPr>
          <a:xfrm>
            <a:off x="97002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4" name="C3-E11 line 52" descr="sci-ppt:o052"/>
          <p:cNvCxnSpPr/>
          <p:nvPr/>
        </p:nvCxnSpPr>
        <p:spPr>
          <a:xfrm>
            <a:off x="97002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5" name="C3-E11 text 53" descr="sci-ppt:o053"/>
          <p:cNvSpPr txBox="1"/>
          <p:nvPr/>
        </p:nvSpPr>
        <p:spPr>
          <a:xfrm>
            <a:off x="92430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56" name="C3-E11 line 54" descr="sci-ppt:o054"/>
          <p:cNvCxnSpPr/>
          <p:nvPr/>
        </p:nvCxnSpPr>
        <p:spPr>
          <a:xfrm>
            <a:off x="1074801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7" name="C3-E11 line 55" descr="sci-ppt:o055"/>
          <p:cNvCxnSpPr/>
          <p:nvPr/>
        </p:nvCxnSpPr>
        <p:spPr>
          <a:xfrm>
            <a:off x="1074801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8" name="C3-E11 text 56" descr="sci-ppt:o056"/>
          <p:cNvSpPr txBox="1"/>
          <p:nvPr/>
        </p:nvSpPr>
        <p:spPr>
          <a:xfrm>
            <a:off x="1029081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59" name="C3-E11 line 57" descr="sci-ppt:o057"/>
          <p:cNvCxnSpPr/>
          <p:nvPr/>
        </p:nvCxnSpPr>
        <p:spPr>
          <a:xfrm>
            <a:off x="117957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0" name="C3-E11 line 58" descr="sci-ppt:o058"/>
          <p:cNvCxnSpPr/>
          <p:nvPr/>
        </p:nvCxnSpPr>
        <p:spPr>
          <a:xfrm>
            <a:off x="117957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1" name="C3-E11 text 59" descr="sci-ppt:o059"/>
          <p:cNvSpPr txBox="1"/>
          <p:nvPr/>
        </p:nvSpPr>
        <p:spPr>
          <a:xfrm>
            <a:off x="113385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62" name="C3-E11 line 60" descr="sci-ppt:o060"/>
          <p:cNvCxnSpPr/>
          <p:nvPr/>
        </p:nvCxnSpPr>
        <p:spPr>
          <a:xfrm>
            <a:off x="6702552" y="49377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3" name="C3-E11 line 61" descr="sci-ppt:o061"/>
          <p:cNvCxnSpPr/>
          <p:nvPr/>
        </p:nvCxnSpPr>
        <p:spPr>
          <a:xfrm>
            <a:off x="6702552" y="331677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4" name="C3-E11 line 62" descr="sci-ppt:o062"/>
          <p:cNvCxnSpPr/>
          <p:nvPr/>
        </p:nvCxnSpPr>
        <p:spPr>
          <a:xfrm>
            <a:off x="6766560" y="3316778"/>
            <a:ext cx="5029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5" name="C3-E11 text 63" descr="sci-ppt:o063"/>
          <p:cNvSpPr txBox="1"/>
          <p:nvPr/>
        </p:nvSpPr>
        <p:spPr>
          <a:xfrm>
            <a:off x="5897880" y="323448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66" name="C3-E11 line 64" descr="sci-ppt:o064"/>
          <p:cNvCxnSpPr/>
          <p:nvPr/>
        </p:nvCxnSpPr>
        <p:spPr>
          <a:xfrm>
            <a:off x="6702552" y="16957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7" name="C3-E11 line 65" descr="sci-ppt:o065"/>
          <p:cNvCxnSpPr/>
          <p:nvPr/>
        </p:nvCxnSpPr>
        <p:spPr>
          <a:xfrm>
            <a:off x="6766560" y="1695796"/>
            <a:ext cx="50292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8" name="C3-E11 text 66" descr="sci-ppt:o066"/>
          <p:cNvSpPr txBox="1"/>
          <p:nvPr/>
        </p:nvSpPr>
        <p:spPr>
          <a:xfrm>
            <a:off x="5897880" y="16135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69" name="C3-E11 text 67" descr="sci-ppt:o067"/>
          <p:cNvSpPr txBox="1"/>
          <p:nvPr/>
        </p:nvSpPr>
        <p:spPr>
          <a:xfrm>
            <a:off x="6766560" y="5221224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number of bubbles N</a:t>
            </a:r>
          </a:p>
        </p:txBody>
      </p:sp>
      <p:sp>
        <p:nvSpPr>
          <p:cNvPr id="70" name="C3-E11 text 68" descr="sci-ppt:o068"/>
          <p:cNvSpPr txBox="1"/>
          <p:nvPr/>
        </p:nvSpPr>
        <p:spPr>
          <a:xfrm>
            <a:off x="6217920" y="1024128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energy (relative to isolated)</a:t>
            </a:r>
          </a:p>
        </p:txBody>
      </p:sp>
      <p:sp>
        <p:nvSpPr>
          <p:cNvPr id="71" name="C3-E11 polygon 69" descr="sci-ppt:o069"/>
          <p:cNvSpPr/>
          <p:nvPr/>
        </p:nvSpPr>
        <p:spPr>
          <a:xfrm>
            <a:off x="6766560" y="1695796"/>
            <a:ext cx="5029200" cy="0"/>
          </a:xfrm>
          <a:custGeom>
            <a:avLst/>
            <a:gdLst/>
            <a:ahLst/>
            <a:cxnLst/>
            <a:rect l="l" t="t" r="r" b="b"/>
            <a:pathLst>
              <a:path w="5029200" h="0">
                <a:moveTo>
                  <a:pt x="0" y="0"/>
                </a:moveTo>
                <a:lnTo>
                  <a:pt x="209550" y="0"/>
                </a:lnTo>
                <a:lnTo>
                  <a:pt x="419100" y="0"/>
                </a:lnTo>
                <a:lnTo>
                  <a:pt x="628650" y="0"/>
                </a:lnTo>
                <a:lnTo>
                  <a:pt x="838200" y="0"/>
                </a:lnTo>
                <a:lnTo>
                  <a:pt x="1047750" y="0"/>
                </a:lnTo>
                <a:lnTo>
                  <a:pt x="1257300" y="0"/>
                </a:lnTo>
                <a:lnTo>
                  <a:pt x="1466850" y="0"/>
                </a:lnTo>
                <a:lnTo>
                  <a:pt x="1676400" y="0"/>
                </a:lnTo>
                <a:lnTo>
                  <a:pt x="1885950" y="0"/>
                </a:lnTo>
                <a:lnTo>
                  <a:pt x="2095500" y="0"/>
                </a:lnTo>
                <a:lnTo>
                  <a:pt x="2305050" y="0"/>
                </a:lnTo>
                <a:lnTo>
                  <a:pt x="2514600" y="0"/>
                </a:lnTo>
                <a:lnTo>
                  <a:pt x="2724150" y="0"/>
                </a:lnTo>
                <a:lnTo>
                  <a:pt x="2933700" y="0"/>
                </a:lnTo>
                <a:lnTo>
                  <a:pt x="3143250" y="0"/>
                </a:lnTo>
                <a:lnTo>
                  <a:pt x="3352800" y="0"/>
                </a:lnTo>
                <a:lnTo>
                  <a:pt x="3562350" y="0"/>
                </a:lnTo>
                <a:lnTo>
                  <a:pt x="3771900" y="0"/>
                </a:lnTo>
                <a:lnTo>
                  <a:pt x="3981450" y="0"/>
                </a:lnTo>
                <a:lnTo>
                  <a:pt x="4191000" y="0"/>
                </a:lnTo>
                <a:lnTo>
                  <a:pt x="4400550" y="0"/>
                </a:lnTo>
                <a:lnTo>
                  <a:pt x="4610100" y="0"/>
                </a:lnTo>
                <a:lnTo>
                  <a:pt x="4819650" y="0"/>
                </a:lnTo>
                <a:lnTo>
                  <a:pt x="5029200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C3-E11 polygon 70" descr="sci-ppt:o070"/>
          <p:cNvSpPr/>
          <p:nvPr/>
        </p:nvSpPr>
        <p:spPr>
          <a:xfrm>
            <a:off x="6766560" y="1695796"/>
            <a:ext cx="5029200" cy="3112285"/>
          </a:xfrm>
          <a:custGeom>
            <a:avLst/>
            <a:gdLst/>
            <a:ahLst/>
            <a:cxnLst/>
            <a:rect l="l" t="t" r="r" b="b"/>
            <a:pathLst>
              <a:path w="5029200" h="3112285">
                <a:moveTo>
                  <a:pt x="0" y="0"/>
                </a:moveTo>
                <a:lnTo>
                  <a:pt x="209550" y="1620982"/>
                </a:lnTo>
                <a:lnTo>
                  <a:pt x="419100" y="2161309"/>
                </a:lnTo>
                <a:lnTo>
                  <a:pt x="628650" y="2431473"/>
                </a:lnTo>
                <a:lnTo>
                  <a:pt x="838200" y="2593571"/>
                </a:lnTo>
                <a:lnTo>
                  <a:pt x="1047750" y="2701636"/>
                </a:lnTo>
                <a:lnTo>
                  <a:pt x="1257300" y="2778826"/>
                </a:lnTo>
                <a:lnTo>
                  <a:pt x="1466850" y="2836718"/>
                </a:lnTo>
                <a:lnTo>
                  <a:pt x="1676400" y="2881745"/>
                </a:lnTo>
                <a:lnTo>
                  <a:pt x="1885950" y="2917767"/>
                </a:lnTo>
                <a:lnTo>
                  <a:pt x="2095500" y="2947240"/>
                </a:lnTo>
                <a:lnTo>
                  <a:pt x="2305050" y="2971800"/>
                </a:lnTo>
                <a:lnTo>
                  <a:pt x="2514600" y="2992582"/>
                </a:lnTo>
                <a:lnTo>
                  <a:pt x="2724150" y="3010395"/>
                </a:lnTo>
                <a:lnTo>
                  <a:pt x="2933700" y="3025833"/>
                </a:lnTo>
                <a:lnTo>
                  <a:pt x="3143250" y="3039341"/>
                </a:lnTo>
                <a:lnTo>
                  <a:pt x="3352800" y="3051260"/>
                </a:lnTo>
                <a:lnTo>
                  <a:pt x="3562350" y="3061854"/>
                </a:lnTo>
                <a:lnTo>
                  <a:pt x="3771900" y="3071334"/>
                </a:lnTo>
                <a:lnTo>
                  <a:pt x="3981450" y="3079865"/>
                </a:lnTo>
                <a:lnTo>
                  <a:pt x="4191000" y="3087584"/>
                </a:lnTo>
                <a:lnTo>
                  <a:pt x="4400550" y="3094602"/>
                </a:lnTo>
                <a:lnTo>
                  <a:pt x="4610100" y="3101009"/>
                </a:lnTo>
                <a:lnTo>
                  <a:pt x="4819650" y="3106882"/>
                </a:lnTo>
                <a:lnTo>
                  <a:pt x="5029200" y="3112285"/>
                </a:lnTo>
              </a:path>
            </a:pathLst>
          </a:custGeom>
          <a:noFill/>
          <a:ln w="38100">
            <a:solidFill>
              <a:srgbClr val="8EDBD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C3-E11 text 71" descr="sci-ppt:o071"/>
          <p:cNvSpPr txBox="1"/>
          <p:nvPr/>
        </p:nvSpPr>
        <p:spPr>
          <a:xfrm>
            <a:off x="7258812" y="1348324"/>
            <a:ext cx="38404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total work E_B,tot = (4π/3)Δp_c R_*³: fixed</a:t>
            </a:r>
          </a:p>
        </p:txBody>
      </p:sp>
      <p:sp>
        <p:nvSpPr>
          <p:cNvPr id="74" name="C3-E11 text 72" descr="sci-ppt:o072"/>
          <p:cNvSpPr txBox="1"/>
          <p:nvPr/>
        </p:nvSpPr>
        <p:spPr>
          <a:xfrm>
            <a:off x="8306562" y="3873730"/>
            <a:ext cx="2926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work per bubble = E_B,tot / N</a:t>
            </a:r>
          </a:p>
        </p:txBody>
      </p:sp>
      <p:sp>
        <p:nvSpPr>
          <p:cNvPr id="75" name="C3-E11 text 73" descr="sci-ppt:o073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K_N ≃ 2πρ N R³(1 + SR) Ṙ² = (4πN/3) Δp_c (Rₘₐₓ³ − R³)   in the leading symmetric model (energy balance holds).</a:t>
            </a:r>
          </a:p>
        </p:txBody>
      </p:sp>
      <p:sp>
        <p:nvSpPr>
          <p:cNvPr id="76" name="C3-E11 text 74" descr="sci-ppt:o074"/>
          <p:cNvSpPr txBox="1"/>
          <p:nvPr/>
        </p:nvSpPr>
        <p:spPr>
          <a:xfrm>
            <a:off x="914400" y="59436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Splitting a fixed pressure-work budget among N bubbles shrinks each one: Rₘₐₓ,N = R_* N^(−1/3).</a:t>
            </a:r>
          </a:p>
        </p:txBody>
      </p:sp>
      <p:sp>
        <p:nvSpPr>
          <p:cNvPr id="77" name="C3-E11 text 75" descr="sci-ppt:o07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Energy check and fixed-total-work comparison of Eq. C3-E11.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