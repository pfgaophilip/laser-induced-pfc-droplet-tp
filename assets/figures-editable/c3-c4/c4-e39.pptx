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C4-E39 · Original necessary operating-window checks</a:t>
            </a:r>
          </a:p>
        </p:txBody>
      </p:sp>
      <p:sp>
        <p:nvSpPr>
          <p:cNvPr id="3" name="C4-E39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Defence 3: passing global budgets starts, rather than completes, the argument</a:t>
            </a:r>
          </a:p>
        </p:txBody>
      </p:sp>
      <p:sp>
        <p:nvSpPr>
          <p:cNvPr id="4" name="C4-E39 round_rect 2" descr="sci-ppt:o002"/>
          <p:cNvSpPr/>
          <p:nvPr/>
        </p:nvSpPr>
        <p:spPr>
          <a:xfrm>
            <a:off x="457200" y="1371600"/>
            <a:ext cx="344424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39 text 3" descr="sci-ppt:o003"/>
          <p:cNvSpPr txBox="1"/>
          <p:nvPr/>
        </p:nvSpPr>
        <p:spPr>
          <a:xfrm>
            <a:off x="530352" y="1426464"/>
            <a:ext cx="329793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energy</a:t>
            </a:r>
          </a:p>
        </p:txBody>
      </p:sp>
      <p:sp>
        <p:nvSpPr>
          <p:cNvPr id="6" name="C4-E39 text 4" descr="sci-ppt:o004"/>
          <p:cNvSpPr txBox="1"/>
          <p:nvPr/>
        </p:nvSpPr>
        <p:spPr>
          <a:xfrm>
            <a:off x="530352" y="1699641"/>
            <a:ext cx="329793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E_solid ≥ Γ A_f + ½ m_f v_f²</a:t>
            </a:r>
          </a:p>
        </p:txBody>
      </p:sp>
      <p:cxnSp>
        <p:nvCxnSpPr>
          <p:cNvPr id="7" name="C4-E39 arrow 5" descr="sci-ppt:o005"/>
          <p:cNvCxnSpPr/>
          <p:nvPr/>
        </p:nvCxnSpPr>
        <p:spPr>
          <a:xfrm>
            <a:off x="3928872" y="2057400"/>
            <a:ext cx="40233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39 round_rect 6" descr="sci-ppt:o006"/>
          <p:cNvSpPr/>
          <p:nvPr/>
        </p:nvSpPr>
        <p:spPr>
          <a:xfrm>
            <a:off x="4358640" y="1371600"/>
            <a:ext cx="344424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4-E39 text 7" descr="sci-ppt:o007"/>
          <p:cNvSpPr txBox="1"/>
          <p:nvPr/>
        </p:nvSpPr>
        <p:spPr>
          <a:xfrm>
            <a:off x="4431792" y="1426464"/>
            <a:ext cx="329793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momentum</a:t>
            </a:r>
          </a:p>
        </p:txBody>
      </p:sp>
      <p:sp>
        <p:nvSpPr>
          <p:cNvPr id="10" name="C4-E39 text 8" descr="sci-ppt:o008"/>
          <p:cNvSpPr txBox="1"/>
          <p:nvPr/>
        </p:nvSpPr>
        <p:spPr>
          <a:xfrm>
            <a:off x="4431792" y="1699641"/>
            <a:ext cx="329793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Iₙₑₜ ≥ m_f v_f</a:t>
            </a:r>
          </a:p>
        </p:txBody>
      </p:sp>
      <p:cxnSp>
        <p:nvCxnSpPr>
          <p:cNvPr id="11" name="C4-E39 arrow 9" descr="sci-ppt:o009"/>
          <p:cNvCxnSpPr/>
          <p:nvPr/>
        </p:nvCxnSpPr>
        <p:spPr>
          <a:xfrm>
            <a:off x="7830312" y="2057400"/>
            <a:ext cx="40233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4-E39 round_rect 10" descr="sci-ppt:o010"/>
          <p:cNvSpPr/>
          <p:nvPr/>
        </p:nvSpPr>
        <p:spPr>
          <a:xfrm>
            <a:off x="8260080" y="1371600"/>
            <a:ext cx="344424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4-E39 text 11" descr="sci-ppt:o011"/>
          <p:cNvSpPr txBox="1"/>
          <p:nvPr/>
        </p:nvSpPr>
        <p:spPr>
          <a:xfrm>
            <a:off x="8333232" y="1426464"/>
            <a:ext cx="329793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placement</a:t>
            </a:r>
          </a:p>
        </p:txBody>
      </p:sp>
      <p:sp>
        <p:nvSpPr>
          <p:cNvPr id="14" name="C4-E39 text 12" descr="sci-ppt:o012"/>
          <p:cNvSpPr txBox="1"/>
          <p:nvPr/>
        </p:nvSpPr>
        <p:spPr>
          <a:xfrm>
            <a:off x="8333232" y="1699641"/>
            <a:ext cx="329793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Δx = H_f tan θ</a:t>
            </a:r>
          </a:p>
        </p:txBody>
      </p:sp>
      <p:sp>
        <p:nvSpPr>
          <p:cNvPr id="15" name="C4-E39 round_rect 13" descr="sci-ppt:o013"/>
          <p:cNvSpPr/>
          <p:nvPr/>
        </p:nvSpPr>
        <p:spPr>
          <a:xfrm>
            <a:off x="457200" y="310896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4-E39 text 14" descr="sci-ppt:o014"/>
          <p:cNvSpPr txBox="1"/>
          <p:nvPr/>
        </p:nvSpPr>
        <p:spPr>
          <a:xfrm>
            <a:off x="566928" y="31638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Passed means</a:t>
            </a:r>
          </a:p>
        </p:txBody>
      </p:sp>
      <p:sp>
        <p:nvSpPr>
          <p:cNvPr id="17" name="C4-E39 text 15" descr="sci-ppt:o015"/>
          <p:cNvSpPr txBox="1"/>
          <p:nvPr/>
        </p:nvSpPr>
        <p:spPr>
          <a:xfrm>
            <a:off x="795528" y="3566160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budgets are large enough: a necessary condition.</a:t>
            </a:r>
          </a:p>
        </p:txBody>
      </p:sp>
      <p:sp>
        <p:nvSpPr>
          <p:cNvPr id="18" name="C4-E39 ellipse 16" descr="sci-ppt:o016"/>
          <p:cNvSpPr/>
          <p:nvPr/>
        </p:nvSpPr>
        <p:spPr>
          <a:xfrm>
            <a:off x="626364" y="3619499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4-E39 text 17" descr="sci-ppt:o017"/>
          <p:cNvSpPr txBox="1"/>
          <p:nvPr/>
        </p:nvSpPr>
        <p:spPr>
          <a:xfrm>
            <a:off x="795528" y="3843528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No contradiction between energy and momentum.</a:t>
            </a:r>
          </a:p>
        </p:txBody>
      </p:sp>
      <p:sp>
        <p:nvSpPr>
          <p:cNvPr id="20" name="C4-E39 ellipse 18" descr="sci-ppt:o018"/>
          <p:cNvSpPr/>
          <p:nvPr/>
        </p:nvSpPr>
        <p:spPr>
          <a:xfrm>
            <a:off x="626364" y="389686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4-E39 text 19" descr="sci-ppt:o019"/>
          <p:cNvSpPr txBox="1"/>
          <p:nvPr/>
        </p:nvSpPr>
        <p:spPr>
          <a:xfrm>
            <a:off x="795528" y="4120895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Placement error is smaller than the feature, if it is.</a:t>
            </a:r>
          </a:p>
        </p:txBody>
      </p:sp>
      <p:sp>
        <p:nvSpPr>
          <p:cNvPr id="22" name="C4-E39 ellipse 20" descr="sci-ppt:o020"/>
          <p:cNvSpPr/>
          <p:nvPr/>
        </p:nvSpPr>
        <p:spPr>
          <a:xfrm>
            <a:off x="626364" y="4174235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4-E39 round_rect 21" descr="sci-ppt:o021"/>
          <p:cNvSpPr/>
          <p:nvPr/>
        </p:nvSpPr>
        <p:spPr>
          <a:xfrm>
            <a:off x="6217920" y="310896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4-E39 text 22" descr="sci-ppt:o022"/>
          <p:cNvSpPr txBox="1"/>
          <p:nvPr/>
        </p:nvSpPr>
        <p:spPr>
          <a:xfrm>
            <a:off x="6327648" y="31638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Still not shown</a:t>
            </a:r>
          </a:p>
        </p:txBody>
      </p:sp>
      <p:sp>
        <p:nvSpPr>
          <p:cNvPr id="25" name="C4-E39 text 23" descr="sci-ppt:o023"/>
          <p:cNvSpPr txBox="1"/>
          <p:nvPr/>
        </p:nvSpPr>
        <p:spPr>
          <a:xfrm>
            <a:off x="6556248" y="3566160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That the crack front actually advances (needs G ≥ Γ locally).</a:t>
            </a:r>
          </a:p>
        </p:txBody>
      </p:sp>
      <p:sp>
        <p:nvSpPr>
          <p:cNvPr id="26" name="C4-E39 ellipse 24" descr="sci-ppt:o024"/>
          <p:cNvSpPr/>
          <p:nvPr/>
        </p:nvSpPr>
        <p:spPr>
          <a:xfrm>
            <a:off x="6387084" y="3619499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4-E39 text 25" descr="sci-ppt:o025"/>
          <p:cNvSpPr txBox="1"/>
          <p:nvPr/>
        </p:nvSpPr>
        <p:spPr>
          <a:xfrm>
            <a:off x="6556248" y="3843528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That the film stays intact on departure.</a:t>
            </a:r>
          </a:p>
        </p:txBody>
      </p:sp>
      <p:sp>
        <p:nvSpPr>
          <p:cNvPr id="28" name="C4-E39 ellipse 26" descr="sci-ppt:o026"/>
          <p:cNvSpPr/>
          <p:nvPr/>
        </p:nvSpPr>
        <p:spPr>
          <a:xfrm>
            <a:off x="6387084" y="389686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4-E39 text 27" descr="sci-ppt:o027"/>
          <p:cNvSpPr txBox="1"/>
          <p:nvPr/>
        </p:nvSpPr>
        <p:spPr>
          <a:xfrm>
            <a:off x="6556248" y="4120895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That the real coupling fractions are 0.20 and 0.50.</a:t>
            </a:r>
          </a:p>
        </p:txBody>
      </p:sp>
      <p:sp>
        <p:nvSpPr>
          <p:cNvPr id="30" name="C4-E39 ellipse 28" descr="sci-ppt:o028"/>
          <p:cNvSpPr/>
          <p:nvPr/>
        </p:nvSpPr>
        <p:spPr>
          <a:xfrm>
            <a:off x="6387084" y="4174235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4-E39 text 29" descr="sci-ppt:o02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3 answer: Eqs. C4-E30 and C4-E34.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