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4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C4-E41 · Transient plate power identity under fixed clamps</a:t>
            </a:r>
          </a:p>
        </p:txBody>
      </p:sp>
      <p:sp>
        <p:nvSpPr>
          <p:cNvPr id="3" name="C4-E41 round_rect 1" descr="sci-ppt:o001"/>
          <p:cNvSpPr/>
          <p:nvPr/>
        </p:nvSpPr>
        <p:spPr>
          <a:xfrm>
            <a:off x="365760" y="914400"/>
            <a:ext cx="539496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41 text 2" descr="sci-ppt:o002"/>
          <p:cNvSpPr txBox="1"/>
          <p:nvPr/>
        </p:nvSpPr>
        <p:spPr>
          <a:xfrm>
            <a:off x="475488" y="969264"/>
            <a:ext cx="51755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Power ledger (schematic)</a:t>
            </a:r>
          </a:p>
        </p:txBody>
      </p:sp>
      <p:cxnSp>
        <p:nvCxnSpPr>
          <p:cNvPr id="5" name="C4-E41 line 3" descr="sci-ppt:o003"/>
          <p:cNvCxnSpPr/>
          <p:nvPr/>
        </p:nvCxnSpPr>
        <p:spPr>
          <a:xfrm>
            <a:off x="640080" y="4572000"/>
            <a:ext cx="48463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6" name="C4-E41 line 4" descr="sci-ppt:o004"/>
          <p:cNvCxnSpPr/>
          <p:nvPr/>
        </p:nvCxnSpPr>
        <p:spPr>
          <a:xfrm>
            <a:off x="640080" y="1554480"/>
            <a:ext cx="0" cy="30175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7" name="C4-E41 line 5" descr="sci-ppt:o005"/>
          <p:cNvCxnSpPr/>
          <p:nvPr/>
        </p:nvCxnSpPr>
        <p:spPr>
          <a:xfrm>
            <a:off x="576071" y="45720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8" name="C4-E41 line 6" descr="sci-ppt:o006"/>
          <p:cNvCxnSpPr/>
          <p:nvPr/>
        </p:nvCxnSpPr>
        <p:spPr>
          <a:xfrm>
            <a:off x="640080" y="4572000"/>
            <a:ext cx="48463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9" name="C4-E41 text 7" descr="sci-ppt:o007"/>
          <p:cNvSpPr txBox="1"/>
          <p:nvPr/>
        </p:nvSpPr>
        <p:spPr>
          <a:xfrm>
            <a:off x="-228600" y="4489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0" name="C4-E41 line 8" descr="sci-ppt:o008"/>
          <p:cNvCxnSpPr/>
          <p:nvPr/>
        </p:nvCxnSpPr>
        <p:spPr>
          <a:xfrm>
            <a:off x="576071" y="33147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1" name="C4-E41 line 9" descr="sci-ppt:o009"/>
          <p:cNvCxnSpPr/>
          <p:nvPr/>
        </p:nvCxnSpPr>
        <p:spPr>
          <a:xfrm>
            <a:off x="640080" y="3314700"/>
            <a:ext cx="48463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2" name="C4-E41 text 10" descr="sci-ppt:o010"/>
          <p:cNvSpPr txBox="1"/>
          <p:nvPr/>
        </p:nvSpPr>
        <p:spPr>
          <a:xfrm>
            <a:off x="-228600" y="32324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3" name="C4-E41 line 11" descr="sci-ppt:o011"/>
          <p:cNvCxnSpPr/>
          <p:nvPr/>
        </p:nvCxnSpPr>
        <p:spPr>
          <a:xfrm>
            <a:off x="576071" y="20574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C4-E41 line 12" descr="sci-ppt:o012"/>
          <p:cNvCxnSpPr/>
          <p:nvPr/>
        </p:nvCxnSpPr>
        <p:spPr>
          <a:xfrm>
            <a:off x="640080" y="2057400"/>
            <a:ext cx="48463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5" name="C4-E41 text 13" descr="sci-ppt:o013"/>
          <p:cNvSpPr txBox="1"/>
          <p:nvPr/>
        </p:nvSpPr>
        <p:spPr>
          <a:xfrm>
            <a:off x="-228600" y="1975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16" name="C4-E41 rect 14" descr="sci-ppt:o014"/>
          <p:cNvSpPr/>
          <p:nvPr/>
        </p:nvSpPr>
        <p:spPr>
          <a:xfrm>
            <a:off x="866241" y="2057400"/>
            <a:ext cx="1163116" cy="251460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4-E41 text 15" descr="sci-ppt:o015"/>
          <p:cNvSpPr txBox="1"/>
          <p:nvPr/>
        </p:nvSpPr>
        <p:spPr>
          <a:xfrm>
            <a:off x="637641" y="1783080"/>
            <a:ext cx="16203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1.00</a:t>
            </a:r>
          </a:p>
        </p:txBody>
      </p:sp>
      <p:sp>
        <p:nvSpPr>
          <p:cNvPr id="18" name="C4-E41 text 16" descr="sci-ppt:o016"/>
          <p:cNvSpPr txBox="1"/>
          <p:nvPr/>
        </p:nvSpPr>
        <p:spPr>
          <a:xfrm>
            <a:off x="591921" y="4645152"/>
            <a:ext cx="1711756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applied work</a:t>
            </a:r>
          </a:p>
        </p:txBody>
      </p:sp>
      <p:sp>
        <p:nvSpPr>
          <p:cNvPr id="19" name="C4-E41 rect 17" descr="sci-ppt:o017"/>
          <p:cNvSpPr/>
          <p:nvPr/>
        </p:nvSpPr>
        <p:spPr>
          <a:xfrm>
            <a:off x="2481681" y="2057400"/>
            <a:ext cx="1163116" cy="62865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4-E41 text 18" descr="sci-ppt:o018"/>
          <p:cNvSpPr txBox="1"/>
          <p:nvPr/>
        </p:nvSpPr>
        <p:spPr>
          <a:xfrm>
            <a:off x="2253081" y="1783080"/>
            <a:ext cx="16203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-0.25</a:t>
            </a:r>
          </a:p>
        </p:txBody>
      </p:sp>
      <p:sp>
        <p:nvSpPr>
          <p:cNvPr id="21" name="C4-E41 text 19" descr="sci-ppt:o019"/>
          <p:cNvSpPr txBox="1"/>
          <p:nvPr/>
        </p:nvSpPr>
        <p:spPr>
          <a:xfrm>
            <a:off x="2207361" y="4645152"/>
            <a:ext cx="1711756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cohesive loss</a:t>
            </a:r>
          </a:p>
        </p:txBody>
      </p:sp>
      <p:sp>
        <p:nvSpPr>
          <p:cNvPr id="22" name="C4-E41 rect 20" descr="sci-ppt:o020"/>
          <p:cNvSpPr/>
          <p:nvPr/>
        </p:nvSpPr>
        <p:spPr>
          <a:xfrm>
            <a:off x="4097121" y="2686050"/>
            <a:ext cx="1163116" cy="188595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4-E41 text 21" descr="sci-ppt:o021"/>
          <p:cNvSpPr txBox="1"/>
          <p:nvPr/>
        </p:nvSpPr>
        <p:spPr>
          <a:xfrm>
            <a:off x="3868521" y="2411730"/>
            <a:ext cx="16203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0.75</a:t>
            </a:r>
          </a:p>
        </p:txBody>
      </p:sp>
      <p:sp>
        <p:nvSpPr>
          <p:cNvPr id="24" name="C4-E41 text 22" descr="sci-ppt:o022"/>
          <p:cNvSpPr txBox="1"/>
          <p:nvPr/>
        </p:nvSpPr>
        <p:spPr>
          <a:xfrm>
            <a:off x="3822801" y="4645152"/>
            <a:ext cx="1711756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= stored + moving</a:t>
            </a:r>
          </a:p>
        </p:txBody>
      </p:sp>
      <p:sp>
        <p:nvSpPr>
          <p:cNvPr id="25" name="C4-E41 text 23" descr="sci-ppt:o023"/>
          <p:cNvSpPr txBox="1"/>
          <p:nvPr/>
        </p:nvSpPr>
        <p:spPr>
          <a:xfrm>
            <a:off x="548640" y="4983480"/>
            <a:ext cx="51206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d(K_f + U_b + U_T)/dt = ∫ p_load ẇ dA − ∫ t_coh ẇ dA</a:t>
            </a:r>
          </a:p>
        </p:txBody>
      </p:sp>
      <p:sp>
        <p:nvSpPr>
          <p:cNvPr id="26" name="C4-E41 text 24" descr="sci-ppt:o024"/>
          <p:cNvSpPr txBox="1"/>
          <p:nvPr/>
        </p:nvSpPr>
        <p:spPr>
          <a:xfrm>
            <a:off x="548640" y="5394960"/>
            <a:ext cx="51206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Each term has units of watts.</a:t>
            </a:r>
          </a:p>
        </p:txBody>
      </p:sp>
      <p:sp>
        <p:nvSpPr>
          <p:cNvPr id="27" name="C4-E41 round_rect 25" descr="sci-ppt:o025"/>
          <p:cNvSpPr/>
          <p:nvPr/>
        </p:nvSpPr>
        <p:spPr>
          <a:xfrm>
            <a:off x="5943600" y="914400"/>
            <a:ext cx="589788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4-E41 text 26" descr="sci-ppt:o026"/>
          <p:cNvSpPr txBox="1"/>
          <p:nvPr/>
        </p:nvSpPr>
        <p:spPr>
          <a:xfrm>
            <a:off x="6053328" y="969264"/>
            <a:ext cx="56784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Multiply the balance by ẇ and integrate</a:t>
            </a:r>
          </a:p>
        </p:txBody>
      </p:sp>
      <p:sp>
        <p:nvSpPr>
          <p:cNvPr id="29" name="C4-E41 text 27" descr="sci-ppt:o027"/>
          <p:cNvSpPr txBox="1"/>
          <p:nvPr/>
        </p:nvSpPr>
        <p:spPr>
          <a:xfrm>
            <a:off x="6126480" y="1508760"/>
            <a:ext cx="11887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7FC8F8"/>
                </a:solidFill>
                <a:latin typeface="Arial"/>
              </a:rPr>
              <a:t>inertia</a:t>
            </a:r>
          </a:p>
        </p:txBody>
      </p:sp>
      <p:sp>
        <p:nvSpPr>
          <p:cNvPr id="30" name="C4-E41 text 28" descr="sci-ppt:o028"/>
          <p:cNvSpPr txBox="1"/>
          <p:nvPr/>
        </p:nvSpPr>
        <p:spPr>
          <a:xfrm>
            <a:off x="7315200" y="1508760"/>
            <a:ext cx="4480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∫ m_A ẅ ẇ dA = dK_f/dt</a:t>
            </a:r>
          </a:p>
        </p:txBody>
      </p:sp>
      <p:sp>
        <p:nvSpPr>
          <p:cNvPr id="31" name="C4-E41 text 29" descr="sci-ppt:o029"/>
          <p:cNvSpPr txBox="1"/>
          <p:nvPr/>
        </p:nvSpPr>
        <p:spPr>
          <a:xfrm>
            <a:off x="6126480" y="2194560"/>
            <a:ext cx="11887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bending</a:t>
            </a:r>
          </a:p>
        </p:txBody>
      </p:sp>
      <p:sp>
        <p:nvSpPr>
          <p:cNvPr id="32" name="C4-E41 text 30" descr="sci-ppt:o030"/>
          <p:cNvSpPr txBox="1"/>
          <p:nvPr/>
        </p:nvSpPr>
        <p:spPr>
          <a:xfrm>
            <a:off x="7315200" y="2194560"/>
            <a:ext cx="4480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∫ D_f ∇⁴w ẇ dA = dU_b/dt</a:t>
            </a:r>
          </a:p>
        </p:txBody>
      </p:sp>
      <p:sp>
        <p:nvSpPr>
          <p:cNvPr id="33" name="C4-E41 text 31" descr="sci-ppt:o031"/>
          <p:cNvSpPr txBox="1"/>
          <p:nvPr/>
        </p:nvSpPr>
        <p:spPr>
          <a:xfrm>
            <a:off x="6126480" y="2880360"/>
            <a:ext cx="11887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8BA0"/>
                </a:solidFill>
                <a:latin typeface="Arial"/>
              </a:rPr>
              <a:t>tension</a:t>
            </a:r>
          </a:p>
        </p:txBody>
      </p:sp>
      <p:sp>
        <p:nvSpPr>
          <p:cNvPr id="34" name="C4-E41 text 32" descr="sci-ppt:o032"/>
          <p:cNvSpPr txBox="1"/>
          <p:nvPr/>
        </p:nvSpPr>
        <p:spPr>
          <a:xfrm>
            <a:off x="7315200" y="2880360"/>
            <a:ext cx="4480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−∫ T₀ ∇²w ẇ dA = dU_T/dt</a:t>
            </a:r>
          </a:p>
        </p:txBody>
      </p:sp>
      <p:sp>
        <p:nvSpPr>
          <p:cNvPr id="35" name="C4-E41 text 33" descr="sci-ppt:o033"/>
          <p:cNvSpPr txBox="1"/>
          <p:nvPr/>
        </p:nvSpPr>
        <p:spPr>
          <a:xfrm>
            <a:off x="6126480" y="3657600"/>
            <a:ext cx="5577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These identities need the fixed clamp: boundary power terms are zero.</a:t>
            </a:r>
          </a:p>
        </p:txBody>
      </p:sp>
      <p:sp>
        <p:nvSpPr>
          <p:cNvPr id="36" name="C4-E41 text 34" descr="sci-ppt:o034"/>
          <p:cNvSpPr txBox="1"/>
          <p:nvPr/>
        </p:nvSpPr>
        <p:spPr>
          <a:xfrm>
            <a:off x="6126480" y="4297680"/>
            <a:ext cx="55778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Reading: the film cannot gain energy except through the work of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load, minus what the cohesive layer takes.</a:t>
            </a:r>
          </a:p>
        </p:txBody>
      </p:sp>
      <p:sp>
        <p:nvSpPr>
          <p:cNvPr id="37" name="C4-E41 text 35" descr="sci-ppt:o035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Plate power identity of Eq. C4-E41; waterfall values are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