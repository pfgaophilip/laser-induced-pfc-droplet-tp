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41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C4-E41 · Transient plate power identity under fixed clamps</a:t>
            </a:r>
          </a:p>
        </p:txBody>
      </p:sp>
      <p:sp>
        <p:nvSpPr>
          <p:cNvPr id="3" name="C4-E41 rect 1" descr="sci-ppt:o001"/>
          <p:cNvSpPr/>
          <p:nvPr/>
        </p:nvSpPr>
        <p:spPr>
          <a:xfrm>
            <a:off x="5943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C4-E41 text 2" descr="sci-ppt:o002"/>
          <p:cNvSpPr txBox="1"/>
          <p:nvPr/>
        </p:nvSpPr>
        <p:spPr>
          <a:xfrm>
            <a:off x="7589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Applied solid power</a:t>
            </a:r>
          </a:p>
        </p:txBody>
      </p:sp>
      <p:cxnSp>
        <p:nvCxnSpPr>
          <p:cNvPr id="5" name="C4-E41 arrow 3" descr="sci-ppt:o003"/>
          <p:cNvCxnSpPr/>
          <p:nvPr/>
        </p:nvCxnSpPr>
        <p:spPr>
          <a:xfrm>
            <a:off x="37947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6" name="C4-E41 rect 4" descr="sci-ppt:o004"/>
          <p:cNvSpPr/>
          <p:nvPr/>
        </p:nvSpPr>
        <p:spPr>
          <a:xfrm>
            <a:off x="44805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C4-E41 text 5" descr="sci-ppt:o005"/>
          <p:cNvSpPr txBox="1"/>
          <p:nvPr/>
        </p:nvSpPr>
        <p:spPr>
          <a:xfrm>
            <a:off x="46451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Kinetic + elastic storage</a:t>
            </a:r>
          </a:p>
        </p:txBody>
      </p:sp>
      <p:cxnSp>
        <p:nvCxnSpPr>
          <p:cNvPr id="8" name="C4-E41 arrow 6" descr="sci-ppt:o006"/>
          <p:cNvCxnSpPr/>
          <p:nvPr/>
        </p:nvCxnSpPr>
        <p:spPr>
          <a:xfrm>
            <a:off x="7680960" y="2057400"/>
            <a:ext cx="6400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9" name="C4-E41 rect 7" descr="sci-ppt:o007"/>
          <p:cNvSpPr/>
          <p:nvPr/>
        </p:nvSpPr>
        <p:spPr>
          <a:xfrm>
            <a:off x="8366760" y="1417320"/>
            <a:ext cx="3200400" cy="132588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C4-E41 text 8" descr="sci-ppt:o008"/>
          <p:cNvSpPr txBox="1"/>
          <p:nvPr/>
        </p:nvSpPr>
        <p:spPr>
          <a:xfrm>
            <a:off x="8531352" y="1627632"/>
            <a:ext cx="2871216" cy="9144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Interface power + losses</a:t>
            </a:r>
          </a:p>
        </p:txBody>
      </p:sp>
      <p:sp>
        <p:nvSpPr>
          <p:cNvPr id="11" name="C4-E41 text 9" descr="sci-ppt:o009"/>
          <p:cNvSpPr txBox="1"/>
          <p:nvPr/>
        </p:nvSpPr>
        <p:spPr>
          <a:xfrm>
            <a:off x="731520" y="3246120"/>
            <a:ext cx="10789920" cy="45720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8EDBD4"/>
                </a:solidFill>
                <a:latin typeface="Arial"/>
              </a:rPr>
              <a:t>Work, storage, fracture consumption and net impulse retain separate meanings.</a:t>
            </a:r>
          </a:p>
        </p:txBody>
      </p:sp>
      <p:cxnSp>
        <p:nvCxnSpPr>
          <p:cNvPr id="12" name="C4-E41 line 10" descr="sci-ppt:o010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3" name="C4-E41 text 11" descr="sci-ppt:o011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p_load ẇ → incoming solid power</a:t>
            </a:r>
          </a:p>
        </p:txBody>
      </p:sp>
      <p:sp>
        <p:nvSpPr>
          <p:cNvPr id="14" name="C4-E41 text 12" descr="sci-ppt:o012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t_coh ẇ → interface power</a:t>
            </a:r>
          </a:p>
        </p:txBody>
      </p:sp>
      <p:sp>
        <p:nvSpPr>
          <p:cNvPr id="15" name="C4-E41 text 13" descr="sci-ppt:o013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m_A, ẇ, ẅ → K_f storage</a:t>
            </a:r>
          </a:p>
        </p:txBody>
      </p:sp>
      <p:sp>
        <p:nvSpPr>
          <p:cNvPr id="16" name="C4-E41 text 14" descr="sci-ppt:o014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D_f, ∇⁴w → U_b storage</a:t>
            </a:r>
          </a:p>
        </p:txBody>
      </p:sp>
      <p:sp>
        <p:nvSpPr>
          <p:cNvPr id="17" name="C4-E41 text 15" descr="sci-ppt:o015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T₀, ∇²w → U_T storage</a:t>
            </a:r>
          </a:p>
        </p:txBody>
      </p:sp>
      <p:sp>
        <p:nvSpPr>
          <p:cNvPr id="18" name="C4-E41 text 16" descr="sci-ppt:o016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Ω_f, dA — reference plane</a:t>
            </a:r>
          </a:p>
        </p:txBody>
      </p:sp>
      <p:sp>
        <p:nvSpPr>
          <p:cNvPr id="19" name="C4-E41 text 17" descr="sci-ppt:o017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t — event time</a:t>
            </a:r>
          </a:p>
        </p:txBody>
      </p:sp>
      <p:sp>
        <p:nvSpPr>
          <p:cNvPr id="20" name="C4-E41 text 18" descr="sci-ppt:o018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Fixed clamps perform no boundary work.</a:t>
            </a:r>
          </a:p>
        </p:txBody>
      </p:sp>
      <p:sp>
        <p:nvSpPr>
          <p:cNvPr id="21" name="C4-E41 text 19" descr="sci-ppt:o019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Recoverable cohesion and fracture loss must be counted once.</a:t>
            </a:r>
          </a:p>
        </p:txBody>
      </p:sp>
      <p:sp>
        <p:nvSpPr>
          <p:cNvPr id="22" name="C4-E41 text 20" descr="sci-ppt:o020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