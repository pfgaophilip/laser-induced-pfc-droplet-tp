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C4-E29 · Explicit conditional solid-coupling allocation</a:t>
            </a:r>
          </a:p>
        </p:txBody>
      </p:sp>
      <p:sp>
        <p:nvSpPr>
          <p:cNvPr id="3" name="C4-E29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Declared coupling turns jet budgets into payload budgets</a:t>
            </a:r>
          </a:p>
        </p:txBody>
      </p:sp>
      <p:sp>
        <p:nvSpPr>
          <p:cNvPr id="4" name="C4-E29 round_rect 2" descr="sci-ppt:o002"/>
          <p:cNvSpPr/>
          <p:nvPr/>
        </p:nvSpPr>
        <p:spPr>
          <a:xfrm>
            <a:off x="457200" y="1463040"/>
            <a:ext cx="233172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29 text 3" descr="sci-ppt:o003"/>
          <p:cNvSpPr txBox="1"/>
          <p:nvPr/>
        </p:nvSpPr>
        <p:spPr>
          <a:xfrm>
            <a:off x="530352" y="1517904"/>
            <a:ext cx="2185415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jet energy</a:t>
            </a:r>
          </a:p>
        </p:txBody>
      </p:sp>
      <p:sp>
        <p:nvSpPr>
          <p:cNvPr id="6" name="C4-E29 text 4" descr="sci-ppt:o004"/>
          <p:cNvSpPr txBox="1"/>
          <p:nvPr/>
        </p:nvSpPr>
        <p:spPr>
          <a:xfrm>
            <a:off x="530352" y="1791081"/>
            <a:ext cx="2185415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Eᵢₙ = 50 nJ</a:t>
            </a:r>
          </a:p>
        </p:txBody>
      </p:sp>
      <p:cxnSp>
        <p:nvCxnSpPr>
          <p:cNvPr id="7" name="C4-E29 arrow 5" descr="sci-ppt:o005"/>
          <p:cNvCxnSpPr/>
          <p:nvPr/>
        </p:nvCxnSpPr>
        <p:spPr>
          <a:xfrm>
            <a:off x="2816351" y="1965960"/>
            <a:ext cx="768097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29 round_rect 6" descr="sci-ppt:o006"/>
          <p:cNvSpPr/>
          <p:nvPr/>
        </p:nvSpPr>
        <p:spPr>
          <a:xfrm>
            <a:off x="3611879" y="1463040"/>
            <a:ext cx="233172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4-E29 text 7" descr="sci-ppt:o007"/>
          <p:cNvSpPr txBox="1"/>
          <p:nvPr/>
        </p:nvSpPr>
        <p:spPr>
          <a:xfrm>
            <a:off x="3685031" y="1517904"/>
            <a:ext cx="2185415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× η_E = 0.20</a:t>
            </a:r>
          </a:p>
        </p:txBody>
      </p:sp>
      <p:sp>
        <p:nvSpPr>
          <p:cNvPr id="10" name="C4-E29 text 8" descr="sci-ppt:o008"/>
          <p:cNvSpPr txBox="1"/>
          <p:nvPr/>
        </p:nvSpPr>
        <p:spPr>
          <a:xfrm>
            <a:off x="3685031" y="1791081"/>
            <a:ext cx="2185415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E_solid = 10.0 nJ</a:t>
            </a:r>
          </a:p>
        </p:txBody>
      </p:sp>
      <p:sp>
        <p:nvSpPr>
          <p:cNvPr id="11" name="C4-E29 round_rect 9" descr="sci-ppt:o009"/>
          <p:cNvSpPr/>
          <p:nvPr/>
        </p:nvSpPr>
        <p:spPr>
          <a:xfrm>
            <a:off x="6309360" y="1463040"/>
            <a:ext cx="233172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4-E29 text 10" descr="sci-ppt:o010"/>
          <p:cNvSpPr txBox="1"/>
          <p:nvPr/>
        </p:nvSpPr>
        <p:spPr>
          <a:xfrm>
            <a:off x="6382512" y="1517904"/>
            <a:ext cx="2185415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8BA0"/>
                </a:solidFill>
                <a:latin typeface="Arial"/>
              </a:rPr>
              <a:t>jet impulse</a:t>
            </a:r>
          </a:p>
        </p:txBody>
      </p:sp>
      <p:sp>
        <p:nvSpPr>
          <p:cNvPr id="13" name="C4-E29 text 11" descr="sci-ppt:o011"/>
          <p:cNvSpPr txBox="1"/>
          <p:nvPr/>
        </p:nvSpPr>
        <p:spPr>
          <a:xfrm>
            <a:off x="6382512" y="1791081"/>
            <a:ext cx="2185415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Iᵢₙ = 3.1333 nN s</a:t>
            </a:r>
          </a:p>
        </p:txBody>
      </p:sp>
      <p:cxnSp>
        <p:nvCxnSpPr>
          <p:cNvPr id="14" name="C4-E29 arrow 12" descr="sci-ppt:o012"/>
          <p:cNvCxnSpPr/>
          <p:nvPr/>
        </p:nvCxnSpPr>
        <p:spPr>
          <a:xfrm>
            <a:off x="8668511" y="1965960"/>
            <a:ext cx="768097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5" name="C4-E29 round_rect 13" descr="sci-ppt:o013"/>
          <p:cNvSpPr/>
          <p:nvPr/>
        </p:nvSpPr>
        <p:spPr>
          <a:xfrm>
            <a:off x="9464040" y="1463040"/>
            <a:ext cx="233172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4-E29 text 14" descr="sci-ppt:o014"/>
          <p:cNvSpPr txBox="1"/>
          <p:nvPr/>
        </p:nvSpPr>
        <p:spPr>
          <a:xfrm>
            <a:off x="9537192" y="1517904"/>
            <a:ext cx="2185415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× η_I = 0.50</a:t>
            </a:r>
          </a:p>
        </p:txBody>
      </p:sp>
      <p:sp>
        <p:nvSpPr>
          <p:cNvPr id="17" name="C4-E29 text 15" descr="sci-ppt:o015"/>
          <p:cNvSpPr txBox="1"/>
          <p:nvPr/>
        </p:nvSpPr>
        <p:spPr>
          <a:xfrm>
            <a:off x="9537192" y="1791081"/>
            <a:ext cx="2185415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Iₙₑₜ = 1.5666 nN s</a:t>
            </a:r>
          </a:p>
        </p:txBody>
      </p:sp>
      <p:sp>
        <p:nvSpPr>
          <p:cNvPr id="18" name="C4-E29 round_rect 16" descr="sci-ppt:o016"/>
          <p:cNvSpPr/>
          <p:nvPr/>
        </p:nvSpPr>
        <p:spPr>
          <a:xfrm>
            <a:off x="457200" y="292608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4-E29 text 17" descr="sci-ppt:o017"/>
          <p:cNvSpPr txBox="1"/>
          <p:nvPr/>
        </p:nvSpPr>
        <p:spPr>
          <a:xfrm>
            <a:off x="566928" y="298094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The film mass</a:t>
            </a:r>
          </a:p>
        </p:txBody>
      </p:sp>
      <p:sp>
        <p:nvSpPr>
          <p:cNvPr id="20" name="C4-E29 rect 18" descr="sci-ppt:o018"/>
          <p:cNvSpPr/>
          <p:nvPr/>
        </p:nvSpPr>
        <p:spPr>
          <a:xfrm>
            <a:off x="914400" y="3749039"/>
            <a:ext cx="1828800" cy="201168"/>
          </a:xfrm>
          <a:prstGeom prst="rect">
            <a:avLst/>
          </a:prstGeom>
          <a:solidFill>
            <a:srgbClr val="3A5362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4-E29 text 19" descr="sci-ppt:o019"/>
          <p:cNvSpPr txBox="1"/>
          <p:nvPr/>
        </p:nvSpPr>
        <p:spPr>
          <a:xfrm>
            <a:off x="2926080" y="3429000"/>
            <a:ext cx="2926080" cy="38658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A_f = 1.00 mm² = 1.00×10⁻⁶ m²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h_f = 1.00 µm, ρ_f = 2330 kg/m³</a:t>
            </a:r>
          </a:p>
        </p:txBody>
      </p:sp>
      <p:sp>
        <p:nvSpPr>
          <p:cNvPr id="22" name="C4-E29 text 20" descr="sci-ppt:o020"/>
          <p:cNvSpPr txBox="1"/>
          <p:nvPr/>
        </p:nvSpPr>
        <p:spPr>
          <a:xfrm>
            <a:off x="594360" y="4389120"/>
            <a:ext cx="53035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2B880"/>
                </a:solidFill>
                <a:latin typeface="Arial"/>
              </a:rPr>
              <a:t>m_f = ρ_f A_f h_f = (2330)(1.00×10⁻⁶)(1.00×10⁻⁶) = 2.33×10⁻⁹ kg</a:t>
            </a:r>
          </a:p>
        </p:txBody>
      </p:sp>
      <p:sp>
        <p:nvSpPr>
          <p:cNvPr id="23" name="C4-E29 round_rect 21" descr="sci-ppt:o021"/>
          <p:cNvSpPr/>
          <p:nvPr/>
        </p:nvSpPr>
        <p:spPr>
          <a:xfrm>
            <a:off x="6217920" y="2926080"/>
            <a:ext cx="5486400" cy="21031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4-E29 text 22" descr="sci-ppt:o022"/>
          <p:cNvSpPr txBox="1"/>
          <p:nvPr/>
        </p:nvSpPr>
        <p:spPr>
          <a:xfrm>
            <a:off x="6327648" y="298094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What the factors mean</a:t>
            </a:r>
          </a:p>
        </p:txBody>
      </p:sp>
      <p:sp>
        <p:nvSpPr>
          <p:cNvPr id="25" name="C4-E29 text 23" descr="sci-ppt:o023"/>
          <p:cNvSpPr txBox="1"/>
          <p:nvPr/>
        </p:nvSpPr>
        <p:spPr>
          <a:xfrm>
            <a:off x="6556248" y="3383280"/>
            <a:ext cx="501091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η_E, η_I are declared fractions of energy and impulse that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reach the film.</a:t>
            </a:r>
          </a:p>
        </p:txBody>
      </p:sp>
      <p:sp>
        <p:nvSpPr>
          <p:cNvPr id="26" name="C4-E29 ellipse 24" descr="sci-ppt:o024"/>
          <p:cNvSpPr/>
          <p:nvPr/>
        </p:nvSpPr>
        <p:spPr>
          <a:xfrm>
            <a:off x="6387084" y="343662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4-E29 text 25" descr="sci-ppt:o025"/>
          <p:cNvSpPr txBox="1"/>
          <p:nvPr/>
        </p:nvSpPr>
        <p:spPr>
          <a:xfrm>
            <a:off x="6556248" y="3846576"/>
            <a:ext cx="5010912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They are assumptions, not predictions of the model.</a:t>
            </a:r>
          </a:p>
        </p:txBody>
      </p:sp>
      <p:sp>
        <p:nvSpPr>
          <p:cNvPr id="28" name="C4-E29 ellipse 26" descr="sci-ppt:o026"/>
          <p:cNvSpPr/>
          <p:nvPr/>
        </p:nvSpPr>
        <p:spPr>
          <a:xfrm>
            <a:off x="6387084" y="38999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4-E29 text 27" descr="sci-ppt:o027"/>
          <p:cNvSpPr txBox="1"/>
          <p:nvPr/>
        </p:nvSpPr>
        <p:spPr>
          <a:xfrm>
            <a:off x="457200" y="5303520"/>
            <a:ext cx="11247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Conditional budgets: every later pass or fail depends on η_E = 0.20 and η_I = 0.50.</a:t>
            </a:r>
          </a:p>
        </p:txBody>
      </p:sp>
      <p:sp>
        <p:nvSpPr>
          <p:cNvPr id="30" name="C4-E29 text 28" descr="sci-ppt:o02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Coupling allocation of Eq. C4-E29 (declared teaching values).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