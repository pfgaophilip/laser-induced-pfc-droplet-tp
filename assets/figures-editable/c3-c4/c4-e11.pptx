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C4-E11 · Definition with quasistatic fracture criterion</a:t>
            </a:r>
          </a:p>
        </p:txBody>
      </p:sp>
      <p:sp>
        <p:nvSpPr>
          <p:cNvPr id="3" name="C4-E11 round_rect 1" descr="sci-ppt:o001"/>
          <p:cNvSpPr/>
          <p:nvPr/>
        </p:nvSpPr>
        <p:spPr>
          <a:xfrm>
            <a:off x="365760" y="914400"/>
            <a:ext cx="57607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11 text 2" descr="sci-ppt:o002"/>
          <p:cNvSpPr txBox="1"/>
          <p:nvPr/>
        </p:nvSpPr>
        <p:spPr>
          <a:xfrm>
            <a:off x="475488" y="969264"/>
            <a:ext cx="5541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 released per area of crack</a:t>
            </a:r>
          </a:p>
        </p:txBody>
      </p:sp>
      <p:sp>
        <p:nvSpPr>
          <p:cNvPr id="5" name="C4-E11 rect 3" descr="sci-ppt:o003"/>
          <p:cNvSpPr/>
          <p:nvPr/>
        </p:nvSpPr>
        <p:spPr>
          <a:xfrm>
            <a:off x="731520" y="1828800"/>
            <a:ext cx="5029200" cy="32004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11 rect 4" descr="sci-ppt:o004"/>
          <p:cNvSpPr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11 rect 5" descr="sci-ppt:o005"/>
          <p:cNvSpPr/>
          <p:nvPr/>
        </p:nvSpPr>
        <p:spPr>
          <a:xfrm>
            <a:off x="731520" y="2148840"/>
            <a:ext cx="5029200" cy="1417320"/>
          </a:xfrm>
          <a:prstGeom prst="rect">
            <a:avLst/>
          </a:prstGeom>
          <a:solidFill>
            <a:srgbClr val="1E4A5A">
              <a:alpha val="50000"/>
            </a:srgbClr>
          </a:solidFill>
          <a:ln w="10160">
            <a:solidFill>
              <a:srgbClr val="B4C7D2">
                <a:alpha val="5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4-E11 polygon 6" descr="sci-ppt:o006"/>
          <p:cNvSpPr/>
          <p:nvPr/>
        </p:nvSpPr>
        <p:spPr>
          <a:xfrm>
            <a:off x="731520" y="2743200"/>
            <a:ext cx="2011680" cy="228600"/>
          </a:xfrm>
          <a:custGeom>
            <a:avLst/>
            <a:gdLst/>
            <a:ahLst/>
            <a:cxnLst/>
            <a:rect l="l" t="t" r="r" b="b"/>
            <a:pathLst>
              <a:path w="2011680" h="228600">
                <a:moveTo>
                  <a:pt x="0" y="0"/>
                </a:moveTo>
                <a:lnTo>
                  <a:pt x="2011680" y="0"/>
                </a:lnTo>
                <a:lnTo>
                  <a:pt x="2011680" y="228600"/>
                </a:lnTo>
                <a:lnTo>
                  <a:pt x="0" y="228600"/>
                </a:lnTo>
                <a:close/>
              </a:path>
            </a:pathLst>
          </a:custGeom>
          <a:solidFill>
            <a:srgbClr val="142632"/>
          </a:solidFill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4-E11 text 7" descr="sci-ppt:o007"/>
          <p:cNvSpPr txBox="1"/>
          <p:nvPr/>
        </p:nvSpPr>
        <p:spPr>
          <a:xfrm>
            <a:off x="914400" y="2331720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open crack</a:t>
            </a:r>
          </a:p>
        </p:txBody>
      </p:sp>
      <p:cxnSp>
        <p:nvCxnSpPr>
          <p:cNvPr id="10" name="C4-E11 arrow 8" descr="sci-ppt:o008"/>
          <p:cNvCxnSpPr/>
          <p:nvPr/>
        </p:nvCxnSpPr>
        <p:spPr>
          <a:xfrm>
            <a:off x="2743200" y="2852928"/>
            <a:ext cx="914400" cy="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4-E11 text 9" descr="sci-ppt:o009"/>
          <p:cNvSpPr txBox="1"/>
          <p:nvPr/>
        </p:nvSpPr>
        <p:spPr>
          <a:xfrm>
            <a:off x="2834640" y="242316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advances by dA_c</a:t>
            </a:r>
          </a:p>
        </p:txBody>
      </p:sp>
      <p:sp>
        <p:nvSpPr>
          <p:cNvPr id="12" name="C4-E11 text 10" descr="sci-ppt:o010"/>
          <p:cNvSpPr txBox="1"/>
          <p:nvPr/>
        </p:nvSpPr>
        <p:spPr>
          <a:xfrm>
            <a:off x="548640" y="420624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G = −∂𝒫/∂A_c |𝒞   (𝒞 = the chosen load control)</a:t>
            </a:r>
          </a:p>
        </p:txBody>
      </p:sp>
      <p:sp>
        <p:nvSpPr>
          <p:cNvPr id="13" name="C4-E11 text 11" descr="sci-ppt:o011"/>
          <p:cNvSpPr txBox="1"/>
          <p:nvPr/>
        </p:nvSpPr>
        <p:spPr>
          <a:xfrm>
            <a:off x="548640" y="466344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Fracture advances when G ≥ Γ(ψ, Tᵢ, v_c).</a:t>
            </a:r>
          </a:p>
        </p:txBody>
      </p:sp>
      <p:sp>
        <p:nvSpPr>
          <p:cNvPr id="14" name="C4-E11 text 12" descr="sci-ppt:o012"/>
          <p:cNvSpPr txBox="1"/>
          <p:nvPr/>
        </p:nvSpPr>
        <p:spPr>
          <a:xfrm>
            <a:off x="548640" y="5166360"/>
            <a:ext cx="54864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𝒫 depends on the control: fixed load and fixed displacement differ.</a:t>
            </a:r>
          </a:p>
        </p:txBody>
      </p:sp>
      <p:cxnSp>
        <p:nvCxnSpPr>
          <p:cNvPr id="15" name="C4-E11 line 13" descr="sci-ppt:o013"/>
          <p:cNvCxnSpPr/>
          <p:nvPr/>
        </p:nvCxnSpPr>
        <p:spPr>
          <a:xfrm>
            <a:off x="6858000" y="4663440"/>
            <a:ext cx="48463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6" name="C4-E11 line 14" descr="sci-ppt:o014"/>
          <p:cNvCxnSpPr/>
          <p:nvPr/>
        </p:nvCxnSpPr>
        <p:spPr>
          <a:xfrm>
            <a:off x="6858000" y="1371600"/>
            <a:ext cx="0" cy="32918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7" name="C4-E11 line 15" descr="sci-ppt:o015"/>
          <p:cNvCxnSpPr/>
          <p:nvPr/>
        </p:nvCxnSpPr>
        <p:spPr>
          <a:xfrm>
            <a:off x="68580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1 line 16" descr="sci-ppt:o016"/>
          <p:cNvCxnSpPr/>
          <p:nvPr/>
        </p:nvCxnSpPr>
        <p:spPr>
          <a:xfrm>
            <a:off x="6858000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1 text 17" descr="sci-ppt:o017"/>
          <p:cNvSpPr txBox="1"/>
          <p:nvPr/>
        </p:nvSpPr>
        <p:spPr>
          <a:xfrm>
            <a:off x="64008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0" name="C4-E11 line 18" descr="sci-ppt:o018"/>
          <p:cNvCxnSpPr/>
          <p:nvPr/>
        </p:nvCxnSpPr>
        <p:spPr>
          <a:xfrm>
            <a:off x="8796528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1 line 19" descr="sci-ppt:o019"/>
          <p:cNvCxnSpPr/>
          <p:nvPr/>
        </p:nvCxnSpPr>
        <p:spPr>
          <a:xfrm>
            <a:off x="8796528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4-E11 text 20" descr="sci-ppt:o020"/>
          <p:cNvSpPr txBox="1"/>
          <p:nvPr/>
        </p:nvSpPr>
        <p:spPr>
          <a:xfrm>
            <a:off x="8339328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4-E11 line 21" descr="sci-ppt:o021"/>
          <p:cNvCxnSpPr/>
          <p:nvPr/>
        </p:nvCxnSpPr>
        <p:spPr>
          <a:xfrm>
            <a:off x="10735056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4-E11 line 22" descr="sci-ppt:o022"/>
          <p:cNvCxnSpPr/>
          <p:nvPr/>
        </p:nvCxnSpPr>
        <p:spPr>
          <a:xfrm>
            <a:off x="10735056" y="1371600"/>
            <a:ext cx="0" cy="32918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4-E11 text 23" descr="sci-ppt:o023"/>
          <p:cNvSpPr txBox="1"/>
          <p:nvPr/>
        </p:nvSpPr>
        <p:spPr>
          <a:xfrm>
            <a:off x="10277856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6" name="C4-E11 line 24" descr="sci-ppt:o024"/>
          <p:cNvCxnSpPr/>
          <p:nvPr/>
        </p:nvCxnSpPr>
        <p:spPr>
          <a:xfrm>
            <a:off x="67939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4-E11 line 25" descr="sci-ppt:o025"/>
          <p:cNvCxnSpPr/>
          <p:nvPr/>
        </p:nvCxnSpPr>
        <p:spPr>
          <a:xfrm>
            <a:off x="6793992" y="1920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11 line 26" descr="sci-ppt:o026"/>
          <p:cNvCxnSpPr/>
          <p:nvPr/>
        </p:nvCxnSpPr>
        <p:spPr>
          <a:xfrm>
            <a:off x="6858000" y="1920239"/>
            <a:ext cx="48463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11 text 27" descr="sci-ppt:o027"/>
          <p:cNvSpPr txBox="1"/>
          <p:nvPr/>
        </p:nvSpPr>
        <p:spPr>
          <a:xfrm>
            <a:off x="5989320" y="18379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0" name="C4-E11 text 28" descr="sci-ppt:o028"/>
          <p:cNvSpPr txBox="1"/>
          <p:nvPr/>
        </p:nvSpPr>
        <p:spPr>
          <a:xfrm>
            <a:off x="6858000" y="4946903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driving force G / Γ</a:t>
            </a:r>
          </a:p>
        </p:txBody>
      </p:sp>
      <p:sp>
        <p:nvSpPr>
          <p:cNvPr id="31" name="C4-E11 text 29" descr="sci-ppt:o029"/>
          <p:cNvSpPr txBox="1"/>
          <p:nvPr/>
        </p:nvSpPr>
        <p:spPr>
          <a:xfrm>
            <a:off x="6309360" y="1024128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crack state</a:t>
            </a:r>
          </a:p>
        </p:txBody>
      </p:sp>
      <p:sp>
        <p:nvSpPr>
          <p:cNvPr id="32" name="C4-E11 polygon 30" descr="sci-ppt:o030"/>
          <p:cNvSpPr/>
          <p:nvPr/>
        </p:nvSpPr>
        <p:spPr>
          <a:xfrm>
            <a:off x="6858000" y="1920239"/>
            <a:ext cx="4846320" cy="2743201"/>
          </a:xfrm>
          <a:custGeom>
            <a:avLst/>
            <a:gdLst/>
            <a:ahLst/>
            <a:cxnLst/>
            <a:rect l="l" t="t" r="r" b="b"/>
            <a:pathLst>
              <a:path w="4846320" h="2743201">
                <a:moveTo>
                  <a:pt x="0" y="2743201"/>
                </a:moveTo>
                <a:lnTo>
                  <a:pt x="1938528" y="2743201"/>
                </a:lnTo>
                <a:lnTo>
                  <a:pt x="1938528" y="0"/>
                </a:lnTo>
                <a:lnTo>
                  <a:pt x="48463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4-E11 line 31" descr="sci-ppt:o031"/>
          <p:cNvCxnSpPr/>
          <p:nvPr/>
        </p:nvCxnSpPr>
        <p:spPr>
          <a:xfrm>
            <a:off x="8796528" y="1371600"/>
            <a:ext cx="0" cy="329184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4" name="C4-E11 text 32" descr="sci-ppt:o032"/>
          <p:cNvSpPr txBox="1"/>
          <p:nvPr/>
        </p:nvSpPr>
        <p:spPr>
          <a:xfrm>
            <a:off x="7028078" y="3474719"/>
            <a:ext cx="1463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stays shut</a:t>
            </a:r>
          </a:p>
        </p:txBody>
      </p:sp>
      <p:sp>
        <p:nvSpPr>
          <p:cNvPr id="35" name="C4-E11 text 33" descr="sci-ppt:o033"/>
          <p:cNvSpPr txBox="1"/>
          <p:nvPr/>
        </p:nvSpPr>
        <p:spPr>
          <a:xfrm>
            <a:off x="9160459" y="3200399"/>
            <a:ext cx="1280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advances</a:t>
            </a:r>
          </a:p>
        </p:txBody>
      </p:sp>
      <p:sp>
        <p:nvSpPr>
          <p:cNvPr id="36" name="C4-E11 text 34" descr="sci-ppt:o034"/>
          <p:cNvSpPr txBox="1"/>
          <p:nvPr/>
        </p:nvSpPr>
        <p:spPr>
          <a:xfrm>
            <a:off x="8887968" y="1499615"/>
            <a:ext cx="914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G = Γ</a:t>
            </a:r>
          </a:p>
        </p:txBody>
      </p:sp>
      <p:sp>
        <p:nvSpPr>
          <p:cNvPr id="37" name="C4-E11 text 35" descr="sci-ppt:o035"/>
          <p:cNvSpPr txBox="1"/>
          <p:nvPr/>
        </p:nvSpPr>
        <p:spPr>
          <a:xfrm>
            <a:off x="6858000" y="5486400"/>
            <a:ext cx="49377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Quasistatic criterion: needs G computed with the correct load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path.</a:t>
            </a:r>
          </a:p>
        </p:txBody>
      </p:sp>
      <p:sp>
        <p:nvSpPr>
          <p:cNvPr id="38" name="C4-E11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Energy-release criterion of Eq. C4-E11; schematic threshold.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