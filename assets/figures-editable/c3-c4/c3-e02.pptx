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02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C3-E02 · Derived optical-uniformity condition</a:t>
            </a:r>
          </a:p>
        </p:txBody>
      </p:sp>
      <p:sp>
        <p:nvSpPr>
          <p:cNvPr id="3" name="C3-E02 round_rect 1" descr="sci-ppt:o001"/>
          <p:cNvSpPr/>
          <p:nvPr/>
        </p:nvSpPr>
        <p:spPr>
          <a:xfrm>
            <a:off x="365760" y="914400"/>
            <a:ext cx="4206240" cy="4846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02 text 2" descr="sci-ppt:o002"/>
          <p:cNvSpPr txBox="1"/>
          <p:nvPr/>
        </p:nvSpPr>
        <p:spPr>
          <a:xfrm>
            <a:off x="475488" y="969264"/>
            <a:ext cx="3986783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Array inside the beam</a:t>
            </a:r>
          </a:p>
        </p:txBody>
      </p:sp>
      <p:sp>
        <p:nvSpPr>
          <p:cNvPr id="5" name="C3-E02 ellipse 3" descr="sci-ppt:o003"/>
          <p:cNvSpPr/>
          <p:nvPr/>
        </p:nvSpPr>
        <p:spPr>
          <a:xfrm>
            <a:off x="640080" y="1554480"/>
            <a:ext cx="3657600" cy="3657600"/>
          </a:xfrm>
          <a:prstGeom prst="ellipse">
            <a:avLst/>
          </a:prstGeom>
          <a:solidFill>
            <a:srgbClr val="8EDBD4">
              <a:alpha val="7243"/>
            </a:srgbClr>
          </a:solidFill>
          <a:ln>
            <a:solidFill>
              <a:srgbClr val="8EDBD4">
                <a:alpha val="7243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3-E02 ellipse 4" descr="sci-ppt:o004"/>
          <p:cNvSpPr/>
          <p:nvPr/>
        </p:nvSpPr>
        <p:spPr>
          <a:xfrm>
            <a:off x="723207" y="1637607"/>
            <a:ext cx="3491345" cy="3491345"/>
          </a:xfrm>
          <a:prstGeom prst="ellipse">
            <a:avLst/>
          </a:prstGeom>
          <a:solidFill>
            <a:srgbClr val="8EDBD4">
              <a:alpha val="8915"/>
            </a:srgbClr>
          </a:solidFill>
          <a:ln>
            <a:solidFill>
              <a:srgbClr val="8EDBD4">
                <a:alpha val="8915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3-E02 ellipse 5" descr="sci-ppt:o005"/>
          <p:cNvSpPr/>
          <p:nvPr/>
        </p:nvSpPr>
        <p:spPr>
          <a:xfrm>
            <a:off x="806334" y="1720734"/>
            <a:ext cx="3325090" cy="3325090"/>
          </a:xfrm>
          <a:prstGeom prst="ellipse">
            <a:avLst/>
          </a:prstGeom>
          <a:solidFill>
            <a:srgbClr val="8EDBD4">
              <a:alpha val="10867"/>
            </a:srgbClr>
          </a:solidFill>
          <a:ln>
            <a:solidFill>
              <a:srgbClr val="8EDBD4">
                <a:alpha val="10867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3-E02 ellipse 6" descr="sci-ppt:o006"/>
          <p:cNvSpPr/>
          <p:nvPr/>
        </p:nvSpPr>
        <p:spPr>
          <a:xfrm>
            <a:off x="889461" y="1803861"/>
            <a:ext cx="3158836" cy="3158836"/>
          </a:xfrm>
          <a:prstGeom prst="ellipse">
            <a:avLst/>
          </a:prstGeom>
          <a:solidFill>
            <a:srgbClr val="8EDBD4">
              <a:alpha val="13119"/>
            </a:srgbClr>
          </a:solidFill>
          <a:ln>
            <a:solidFill>
              <a:srgbClr val="8EDBD4">
                <a:alpha val="13119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3-E02 ellipse 7" descr="sci-ppt:o007"/>
          <p:cNvSpPr/>
          <p:nvPr/>
        </p:nvSpPr>
        <p:spPr>
          <a:xfrm>
            <a:off x="972589" y="1886989"/>
            <a:ext cx="2992581" cy="2992581"/>
          </a:xfrm>
          <a:prstGeom prst="ellipse">
            <a:avLst/>
          </a:prstGeom>
          <a:solidFill>
            <a:srgbClr val="8EDBD4">
              <a:alpha val="15685"/>
            </a:srgbClr>
          </a:solidFill>
          <a:ln>
            <a:solidFill>
              <a:srgbClr val="8EDBD4">
                <a:alpha val="15685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3-E02 ellipse 8" descr="sci-ppt:o008"/>
          <p:cNvSpPr/>
          <p:nvPr/>
        </p:nvSpPr>
        <p:spPr>
          <a:xfrm>
            <a:off x="1055716" y="1970116"/>
            <a:ext cx="2826327" cy="2826327"/>
          </a:xfrm>
          <a:prstGeom prst="ellipse">
            <a:avLst/>
          </a:prstGeom>
          <a:solidFill>
            <a:srgbClr val="8EDBD4">
              <a:alpha val="18574"/>
            </a:srgbClr>
          </a:solidFill>
          <a:ln>
            <a:solidFill>
              <a:srgbClr val="8EDBD4">
                <a:alpha val="18574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3-E02 ellipse 9" descr="sci-ppt:o009"/>
          <p:cNvSpPr/>
          <p:nvPr/>
        </p:nvSpPr>
        <p:spPr>
          <a:xfrm>
            <a:off x="1138843" y="2053243"/>
            <a:ext cx="2660072" cy="2660072"/>
          </a:xfrm>
          <a:prstGeom prst="ellipse">
            <a:avLst/>
          </a:prstGeom>
          <a:solidFill>
            <a:srgbClr val="8EDBD4">
              <a:alpha val="21783"/>
            </a:srgbClr>
          </a:solidFill>
          <a:ln>
            <a:solidFill>
              <a:srgbClr val="8EDBD4">
                <a:alpha val="21783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3-E02 ellipse 10" descr="sci-ppt:o010"/>
          <p:cNvSpPr/>
          <p:nvPr/>
        </p:nvSpPr>
        <p:spPr>
          <a:xfrm>
            <a:off x="1221970" y="2136370"/>
            <a:ext cx="2493818" cy="2493818"/>
          </a:xfrm>
          <a:prstGeom prst="ellipse">
            <a:avLst/>
          </a:prstGeom>
          <a:solidFill>
            <a:srgbClr val="8EDBD4">
              <a:alpha val="25301"/>
            </a:srgbClr>
          </a:solidFill>
          <a:ln>
            <a:solidFill>
              <a:srgbClr val="8EDBD4">
                <a:alpha val="25301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3-E02 ellipse 11" descr="sci-ppt:o011"/>
          <p:cNvSpPr/>
          <p:nvPr/>
        </p:nvSpPr>
        <p:spPr>
          <a:xfrm>
            <a:off x="1305098" y="2219498"/>
            <a:ext cx="2327563" cy="2327563"/>
          </a:xfrm>
          <a:prstGeom prst="ellipse">
            <a:avLst/>
          </a:prstGeom>
          <a:solidFill>
            <a:srgbClr val="8EDBD4">
              <a:alpha val="29105"/>
            </a:srgbClr>
          </a:solidFill>
          <a:ln>
            <a:solidFill>
              <a:srgbClr val="8EDBD4">
                <a:alpha val="29105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3-E02 ellipse 12" descr="sci-ppt:o012"/>
          <p:cNvSpPr/>
          <p:nvPr/>
        </p:nvSpPr>
        <p:spPr>
          <a:xfrm>
            <a:off x="1388225" y="2302625"/>
            <a:ext cx="2161309" cy="2161309"/>
          </a:xfrm>
          <a:prstGeom prst="ellipse">
            <a:avLst/>
          </a:prstGeom>
          <a:solidFill>
            <a:srgbClr val="8EDBD4">
              <a:alpha val="33159"/>
            </a:srgbClr>
          </a:solidFill>
          <a:ln>
            <a:solidFill>
              <a:srgbClr val="8EDBD4">
                <a:alpha val="33159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3-E02 ellipse 13" descr="sci-ppt:o013"/>
          <p:cNvSpPr/>
          <p:nvPr/>
        </p:nvSpPr>
        <p:spPr>
          <a:xfrm>
            <a:off x="1471352" y="2385752"/>
            <a:ext cx="1995054" cy="1995054"/>
          </a:xfrm>
          <a:prstGeom prst="ellipse">
            <a:avLst/>
          </a:prstGeom>
          <a:solidFill>
            <a:srgbClr val="8EDBD4">
              <a:alpha val="37414"/>
            </a:srgbClr>
          </a:solidFill>
          <a:ln>
            <a:solidFill>
              <a:srgbClr val="8EDBD4">
                <a:alpha val="37414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3-E02 ellipse 14" descr="sci-ppt:o014"/>
          <p:cNvSpPr/>
          <p:nvPr/>
        </p:nvSpPr>
        <p:spPr>
          <a:xfrm>
            <a:off x="1554480" y="2468880"/>
            <a:ext cx="1828800" cy="1828800"/>
          </a:xfrm>
          <a:prstGeom prst="ellipse">
            <a:avLst/>
          </a:prstGeom>
          <a:solidFill>
            <a:srgbClr val="8EDBD4">
              <a:alpha val="41809"/>
            </a:srgbClr>
          </a:solidFill>
          <a:ln>
            <a:solidFill>
              <a:srgbClr val="8EDBD4">
                <a:alpha val="41809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3-E02 ellipse 15" descr="sci-ppt:o015"/>
          <p:cNvSpPr/>
          <p:nvPr/>
        </p:nvSpPr>
        <p:spPr>
          <a:xfrm>
            <a:off x="1637607" y="2552007"/>
            <a:ext cx="1662545" cy="1662545"/>
          </a:xfrm>
          <a:prstGeom prst="ellipse">
            <a:avLst/>
          </a:prstGeom>
          <a:solidFill>
            <a:srgbClr val="8EDBD4">
              <a:alpha val="46272"/>
            </a:srgbClr>
          </a:solidFill>
          <a:ln>
            <a:solidFill>
              <a:srgbClr val="8EDBD4">
                <a:alpha val="46272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3-E02 ellipse 16" descr="sci-ppt:o016"/>
          <p:cNvSpPr/>
          <p:nvPr/>
        </p:nvSpPr>
        <p:spPr>
          <a:xfrm>
            <a:off x="1720734" y="2635134"/>
            <a:ext cx="1496290" cy="1496290"/>
          </a:xfrm>
          <a:prstGeom prst="ellipse">
            <a:avLst/>
          </a:prstGeom>
          <a:solidFill>
            <a:srgbClr val="8EDBD4">
              <a:alpha val="50719"/>
            </a:srgbClr>
          </a:solidFill>
          <a:ln>
            <a:solidFill>
              <a:srgbClr val="8EDBD4">
                <a:alpha val="50719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3-E02 ellipse 17" descr="sci-ppt:o017"/>
          <p:cNvSpPr/>
          <p:nvPr/>
        </p:nvSpPr>
        <p:spPr>
          <a:xfrm>
            <a:off x="1803861" y="2718261"/>
            <a:ext cx="1330036" cy="1330036"/>
          </a:xfrm>
          <a:prstGeom prst="ellipse">
            <a:avLst/>
          </a:prstGeom>
          <a:solidFill>
            <a:srgbClr val="8EDBD4">
              <a:alpha val="55059"/>
            </a:srgbClr>
          </a:solidFill>
          <a:ln>
            <a:solidFill>
              <a:srgbClr val="8EDBD4">
                <a:alpha val="55059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3-E02 ellipse 18" descr="sci-ppt:o018"/>
          <p:cNvSpPr/>
          <p:nvPr/>
        </p:nvSpPr>
        <p:spPr>
          <a:xfrm>
            <a:off x="1886989" y="2801389"/>
            <a:ext cx="1163781" cy="1163781"/>
          </a:xfrm>
          <a:prstGeom prst="ellipse">
            <a:avLst/>
          </a:prstGeom>
          <a:solidFill>
            <a:srgbClr val="8EDBD4">
              <a:alpha val="59195"/>
            </a:srgbClr>
          </a:solidFill>
          <a:ln>
            <a:solidFill>
              <a:srgbClr val="8EDBD4">
                <a:alpha val="59195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3-E02 ellipse 19" descr="sci-ppt:o019"/>
          <p:cNvSpPr/>
          <p:nvPr/>
        </p:nvSpPr>
        <p:spPr>
          <a:xfrm>
            <a:off x="1970116" y="2884516"/>
            <a:ext cx="997527" cy="997527"/>
          </a:xfrm>
          <a:prstGeom prst="ellipse">
            <a:avLst/>
          </a:prstGeom>
          <a:solidFill>
            <a:srgbClr val="8EDBD4">
              <a:alpha val="63031"/>
            </a:srgbClr>
          </a:solidFill>
          <a:ln>
            <a:solidFill>
              <a:srgbClr val="8EDBD4">
                <a:alpha val="63031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C3-E02 ellipse 20" descr="sci-ppt:o020"/>
          <p:cNvSpPr/>
          <p:nvPr/>
        </p:nvSpPr>
        <p:spPr>
          <a:xfrm>
            <a:off x="2053243" y="2967643"/>
            <a:ext cx="831272" cy="831272"/>
          </a:xfrm>
          <a:prstGeom prst="ellipse">
            <a:avLst/>
          </a:prstGeom>
          <a:solidFill>
            <a:srgbClr val="8EDBD4">
              <a:alpha val="66470"/>
            </a:srgbClr>
          </a:solidFill>
          <a:ln>
            <a:solidFill>
              <a:srgbClr val="8EDBD4">
                <a:alpha val="6647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3-E02 ellipse 21" descr="sci-ppt:o021"/>
          <p:cNvSpPr/>
          <p:nvPr/>
        </p:nvSpPr>
        <p:spPr>
          <a:xfrm>
            <a:off x="2136370" y="3050770"/>
            <a:ext cx="665018" cy="665018"/>
          </a:xfrm>
          <a:prstGeom prst="ellipse">
            <a:avLst/>
          </a:prstGeom>
          <a:solidFill>
            <a:srgbClr val="8EDBD4">
              <a:alpha val="69423"/>
            </a:srgbClr>
          </a:solidFill>
          <a:ln>
            <a:solidFill>
              <a:srgbClr val="8EDBD4">
                <a:alpha val="69423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3-E02 ellipse 22" descr="sci-ppt:o022"/>
          <p:cNvSpPr/>
          <p:nvPr/>
        </p:nvSpPr>
        <p:spPr>
          <a:xfrm>
            <a:off x="2219498" y="3133898"/>
            <a:ext cx="498763" cy="498763"/>
          </a:xfrm>
          <a:prstGeom prst="ellipse">
            <a:avLst/>
          </a:prstGeom>
          <a:solidFill>
            <a:srgbClr val="8EDBD4">
              <a:alpha val="71810"/>
            </a:srgbClr>
          </a:solidFill>
          <a:ln>
            <a:solidFill>
              <a:srgbClr val="8EDBD4">
                <a:alpha val="7181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3-E02 ellipse 23" descr="sci-ppt:o023"/>
          <p:cNvSpPr/>
          <p:nvPr/>
        </p:nvSpPr>
        <p:spPr>
          <a:xfrm>
            <a:off x="2302625" y="3217025"/>
            <a:ext cx="332509" cy="332509"/>
          </a:xfrm>
          <a:prstGeom prst="ellipse">
            <a:avLst/>
          </a:prstGeom>
          <a:solidFill>
            <a:srgbClr val="8EDBD4">
              <a:alpha val="73565"/>
            </a:srgbClr>
          </a:solidFill>
          <a:ln>
            <a:solidFill>
              <a:srgbClr val="8EDBD4">
                <a:alpha val="73565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3-E02 ellipse 24" descr="sci-ppt:o024"/>
          <p:cNvSpPr/>
          <p:nvPr/>
        </p:nvSpPr>
        <p:spPr>
          <a:xfrm>
            <a:off x="2385752" y="3300152"/>
            <a:ext cx="166254" cy="166254"/>
          </a:xfrm>
          <a:prstGeom prst="ellipse">
            <a:avLst/>
          </a:prstGeom>
          <a:solidFill>
            <a:srgbClr val="8EDBD4">
              <a:alpha val="74639"/>
            </a:srgbClr>
          </a:solidFill>
          <a:ln>
            <a:solidFill>
              <a:srgbClr val="8EDBD4">
                <a:alpha val="74639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3-E02 ellipse 25" descr="sci-ppt:o025"/>
          <p:cNvSpPr/>
          <p:nvPr/>
        </p:nvSpPr>
        <p:spPr>
          <a:xfrm>
            <a:off x="777240" y="1691640"/>
            <a:ext cx="3383280" cy="3383280"/>
          </a:xfrm>
          <a:prstGeom prst="ellipse">
            <a:avLst/>
          </a:prstGeom>
          <a:noFill/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3-E02 text 26" descr="sci-ppt:o026"/>
          <p:cNvSpPr txBox="1"/>
          <p:nvPr/>
        </p:nvSpPr>
        <p:spPr>
          <a:xfrm>
            <a:off x="2194560" y="1371600"/>
            <a:ext cx="12801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2B880"/>
                </a:solidFill>
                <a:latin typeface="Arial"/>
              </a:rPr>
              <a:t>beam w</a:t>
            </a:r>
          </a:p>
        </p:txBody>
      </p:sp>
      <p:sp>
        <p:nvSpPr>
          <p:cNvPr id="29" name="C3-E02 ellipse 27" descr="sci-ppt:o027"/>
          <p:cNvSpPr/>
          <p:nvPr/>
        </p:nvSpPr>
        <p:spPr>
          <a:xfrm>
            <a:off x="2194777" y="3109177"/>
            <a:ext cx="82296" cy="82296"/>
          </a:xfrm>
          <a:prstGeom prst="ellipse">
            <a:avLst/>
          </a:prstGeom>
          <a:solidFill>
            <a:srgbClr val="E7F0F3"/>
          </a:solidFill>
          <a:ln w="12700">
            <a:solidFill>
              <a:srgbClr val="E7F0F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3-E02 ellipse 28" descr="sci-ppt:o028"/>
          <p:cNvSpPr/>
          <p:nvPr/>
        </p:nvSpPr>
        <p:spPr>
          <a:xfrm>
            <a:off x="2194777" y="3342132"/>
            <a:ext cx="82296" cy="82296"/>
          </a:xfrm>
          <a:prstGeom prst="ellipse">
            <a:avLst/>
          </a:prstGeom>
          <a:solidFill>
            <a:srgbClr val="E7F0F3"/>
          </a:solidFill>
          <a:ln w="12700">
            <a:solidFill>
              <a:srgbClr val="E7F0F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3-E02 ellipse 29" descr="sci-ppt:o029"/>
          <p:cNvSpPr/>
          <p:nvPr/>
        </p:nvSpPr>
        <p:spPr>
          <a:xfrm>
            <a:off x="2194777" y="3575086"/>
            <a:ext cx="82296" cy="82296"/>
          </a:xfrm>
          <a:prstGeom prst="ellipse">
            <a:avLst/>
          </a:prstGeom>
          <a:solidFill>
            <a:srgbClr val="E7F0F3"/>
          </a:solidFill>
          <a:ln w="12700">
            <a:solidFill>
              <a:srgbClr val="E7F0F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3-E02 ellipse 30" descr="sci-ppt:o030"/>
          <p:cNvSpPr/>
          <p:nvPr/>
        </p:nvSpPr>
        <p:spPr>
          <a:xfrm>
            <a:off x="2427732" y="3109177"/>
            <a:ext cx="82296" cy="82296"/>
          </a:xfrm>
          <a:prstGeom prst="ellipse">
            <a:avLst/>
          </a:prstGeom>
          <a:solidFill>
            <a:srgbClr val="E7F0F3"/>
          </a:solidFill>
          <a:ln w="12700">
            <a:solidFill>
              <a:srgbClr val="E7F0F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3-E02 ellipse 31" descr="sci-ppt:o031"/>
          <p:cNvSpPr/>
          <p:nvPr/>
        </p:nvSpPr>
        <p:spPr>
          <a:xfrm>
            <a:off x="2427732" y="3342132"/>
            <a:ext cx="82296" cy="82296"/>
          </a:xfrm>
          <a:prstGeom prst="ellipse">
            <a:avLst/>
          </a:prstGeom>
          <a:solidFill>
            <a:srgbClr val="E7F0F3"/>
          </a:solidFill>
          <a:ln w="12700">
            <a:solidFill>
              <a:srgbClr val="E7F0F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C3-E02 ellipse 32" descr="sci-ppt:o032"/>
          <p:cNvSpPr/>
          <p:nvPr/>
        </p:nvSpPr>
        <p:spPr>
          <a:xfrm>
            <a:off x="2427732" y="3575086"/>
            <a:ext cx="82296" cy="82296"/>
          </a:xfrm>
          <a:prstGeom prst="ellipse">
            <a:avLst/>
          </a:prstGeom>
          <a:solidFill>
            <a:srgbClr val="E7F0F3"/>
          </a:solidFill>
          <a:ln w="12700">
            <a:solidFill>
              <a:srgbClr val="E7F0F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3-E02 ellipse 33" descr="sci-ppt:o033"/>
          <p:cNvSpPr/>
          <p:nvPr/>
        </p:nvSpPr>
        <p:spPr>
          <a:xfrm>
            <a:off x="2660686" y="3109177"/>
            <a:ext cx="82296" cy="82296"/>
          </a:xfrm>
          <a:prstGeom prst="ellipse">
            <a:avLst/>
          </a:prstGeom>
          <a:solidFill>
            <a:srgbClr val="E7F0F3"/>
          </a:solidFill>
          <a:ln w="12700">
            <a:solidFill>
              <a:srgbClr val="E7F0F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3-E02 ellipse 34" descr="sci-ppt:o034"/>
          <p:cNvSpPr/>
          <p:nvPr/>
        </p:nvSpPr>
        <p:spPr>
          <a:xfrm>
            <a:off x="2660686" y="3342132"/>
            <a:ext cx="82296" cy="82296"/>
          </a:xfrm>
          <a:prstGeom prst="ellipse">
            <a:avLst/>
          </a:prstGeom>
          <a:solidFill>
            <a:srgbClr val="E7F0F3"/>
          </a:solidFill>
          <a:ln w="12700">
            <a:solidFill>
              <a:srgbClr val="E7F0F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3-E02 ellipse 35" descr="sci-ppt:o035"/>
          <p:cNvSpPr/>
          <p:nvPr/>
        </p:nvSpPr>
        <p:spPr>
          <a:xfrm>
            <a:off x="2660686" y="3575086"/>
            <a:ext cx="82296" cy="82296"/>
          </a:xfrm>
          <a:prstGeom prst="ellipse">
            <a:avLst/>
          </a:prstGeom>
          <a:solidFill>
            <a:srgbClr val="E7F0F3"/>
          </a:solidFill>
          <a:ln w="12700">
            <a:solidFill>
              <a:srgbClr val="E7F0F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3-E02 ellipse 36" descr="sci-ppt:o036"/>
          <p:cNvSpPr/>
          <p:nvPr/>
        </p:nvSpPr>
        <p:spPr>
          <a:xfrm>
            <a:off x="2080622" y="2995022"/>
            <a:ext cx="776515" cy="776515"/>
          </a:xfrm>
          <a:prstGeom prst="ellipse">
            <a:avLst/>
          </a:prstGeom>
          <a:noFill/>
          <a:ln w="3048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3-E02 text 37" descr="sci-ppt:o037"/>
          <p:cNvSpPr txBox="1"/>
          <p:nvPr/>
        </p:nvSpPr>
        <p:spPr>
          <a:xfrm>
            <a:off x="2560320" y="3817257"/>
            <a:ext cx="11887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8BA0"/>
                </a:solidFill>
                <a:latin typeface="Arial"/>
              </a:rPr>
              <a:t>R_A</a:t>
            </a:r>
          </a:p>
        </p:txBody>
      </p:sp>
      <p:sp>
        <p:nvSpPr>
          <p:cNvPr id="40" name="C3-E02 text 38" descr="sci-ppt:o038"/>
          <p:cNvSpPr txBox="1"/>
          <p:nvPr/>
        </p:nvSpPr>
        <p:spPr>
          <a:xfrm>
            <a:off x="502920" y="5120640"/>
            <a:ext cx="393192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Wide beam, small array: edge sites receive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nearly the same fluence as the centre.</a:t>
            </a:r>
          </a:p>
        </p:txBody>
      </p:sp>
      <p:cxnSp>
        <p:nvCxnSpPr>
          <p:cNvPr id="41" name="C3-E02 line 39" descr="sci-ppt:o039"/>
          <p:cNvCxnSpPr/>
          <p:nvPr/>
        </p:nvCxnSpPr>
        <p:spPr>
          <a:xfrm>
            <a:off x="5760720" y="5029200"/>
            <a:ext cx="59436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2" name="C3-E02 line 40" descr="sci-ppt:o040"/>
          <p:cNvCxnSpPr/>
          <p:nvPr/>
        </p:nvCxnSpPr>
        <p:spPr>
          <a:xfrm>
            <a:off x="576072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3" name="C3-E02 line 41" descr="sci-ppt:o041"/>
          <p:cNvCxnSpPr/>
          <p:nvPr/>
        </p:nvCxnSpPr>
        <p:spPr>
          <a:xfrm>
            <a:off x="57607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4" name="C3-E02 line 42" descr="sci-ppt:o042"/>
          <p:cNvCxnSpPr/>
          <p:nvPr/>
        </p:nvCxnSpPr>
        <p:spPr>
          <a:xfrm>
            <a:off x="57607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5" name="C3-E02 text 43" descr="sci-ppt:o043"/>
          <p:cNvSpPr txBox="1"/>
          <p:nvPr/>
        </p:nvSpPr>
        <p:spPr>
          <a:xfrm>
            <a:off x="53035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</a:t>
            </a:r>
          </a:p>
        </p:txBody>
      </p:sp>
      <p:cxnSp>
        <p:nvCxnSpPr>
          <p:cNvPr id="46" name="C3-E02 line 44" descr="sci-ppt:o044"/>
          <p:cNvCxnSpPr/>
          <p:nvPr/>
        </p:nvCxnSpPr>
        <p:spPr>
          <a:xfrm>
            <a:off x="77419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7" name="C3-E02 line 45" descr="sci-ppt:o045"/>
          <p:cNvCxnSpPr/>
          <p:nvPr/>
        </p:nvCxnSpPr>
        <p:spPr>
          <a:xfrm>
            <a:off x="77419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8" name="C3-E02 text 46" descr="sci-ppt:o046"/>
          <p:cNvSpPr txBox="1"/>
          <p:nvPr/>
        </p:nvSpPr>
        <p:spPr>
          <a:xfrm>
            <a:off x="72847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49" name="C3-E02 line 47" descr="sci-ppt:o047"/>
          <p:cNvCxnSpPr/>
          <p:nvPr/>
        </p:nvCxnSpPr>
        <p:spPr>
          <a:xfrm>
            <a:off x="97231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0" name="C3-E02 line 48" descr="sci-ppt:o048"/>
          <p:cNvCxnSpPr/>
          <p:nvPr/>
        </p:nvCxnSpPr>
        <p:spPr>
          <a:xfrm>
            <a:off x="97231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1" name="C3-E02 text 49" descr="sci-ppt:o049"/>
          <p:cNvSpPr txBox="1"/>
          <p:nvPr/>
        </p:nvSpPr>
        <p:spPr>
          <a:xfrm>
            <a:off x="92659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</a:t>
            </a:r>
          </a:p>
        </p:txBody>
      </p:sp>
      <p:cxnSp>
        <p:nvCxnSpPr>
          <p:cNvPr id="52" name="C3-E02 line 50" descr="sci-ppt:o050"/>
          <p:cNvCxnSpPr/>
          <p:nvPr/>
        </p:nvCxnSpPr>
        <p:spPr>
          <a:xfrm>
            <a:off x="117043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3" name="C3-E02 line 51" descr="sci-ppt:o051"/>
          <p:cNvCxnSpPr/>
          <p:nvPr/>
        </p:nvCxnSpPr>
        <p:spPr>
          <a:xfrm>
            <a:off x="117043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4" name="C3-E02 text 52" descr="sci-ppt:o052"/>
          <p:cNvSpPr txBox="1"/>
          <p:nvPr/>
        </p:nvSpPr>
        <p:spPr>
          <a:xfrm>
            <a:off x="112471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0.3</a:t>
            </a:r>
          </a:p>
        </p:txBody>
      </p:sp>
      <p:cxnSp>
        <p:nvCxnSpPr>
          <p:cNvPr id="55" name="C3-E02 line 53" descr="sci-ppt:o053"/>
          <p:cNvCxnSpPr/>
          <p:nvPr/>
        </p:nvCxnSpPr>
        <p:spPr>
          <a:xfrm>
            <a:off x="569671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6" name="C3-E02 line 54" descr="sci-ppt:o054"/>
          <p:cNvCxnSpPr/>
          <p:nvPr/>
        </p:nvCxnSpPr>
        <p:spPr>
          <a:xfrm>
            <a:off x="5696712" y="41148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7" name="C3-E02 line 55" descr="sci-ppt:o055"/>
          <p:cNvCxnSpPr/>
          <p:nvPr/>
        </p:nvCxnSpPr>
        <p:spPr>
          <a:xfrm>
            <a:off x="5760720" y="4114800"/>
            <a:ext cx="59436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8" name="C3-E02 text 56" descr="sci-ppt:o056"/>
          <p:cNvSpPr txBox="1"/>
          <p:nvPr/>
        </p:nvSpPr>
        <p:spPr>
          <a:xfrm>
            <a:off x="4892040" y="40325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59" name="C3-E02 line 57" descr="sci-ppt:o057"/>
          <p:cNvCxnSpPr/>
          <p:nvPr/>
        </p:nvCxnSpPr>
        <p:spPr>
          <a:xfrm>
            <a:off x="5696712" y="32004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0" name="C3-E02 line 58" descr="sci-ppt:o058"/>
          <p:cNvCxnSpPr/>
          <p:nvPr/>
        </p:nvCxnSpPr>
        <p:spPr>
          <a:xfrm>
            <a:off x="5760720" y="3200400"/>
            <a:ext cx="59436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61" name="C3-E02 text 59" descr="sci-ppt:o059"/>
          <p:cNvSpPr txBox="1"/>
          <p:nvPr/>
        </p:nvSpPr>
        <p:spPr>
          <a:xfrm>
            <a:off x="4892040" y="31181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cxnSp>
        <p:nvCxnSpPr>
          <p:cNvPr id="62" name="C3-E02 line 60" descr="sci-ppt:o060"/>
          <p:cNvCxnSpPr/>
          <p:nvPr/>
        </p:nvCxnSpPr>
        <p:spPr>
          <a:xfrm>
            <a:off x="5696712" y="2286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3" name="C3-E02 line 61" descr="sci-ppt:o061"/>
          <p:cNvCxnSpPr/>
          <p:nvPr/>
        </p:nvCxnSpPr>
        <p:spPr>
          <a:xfrm>
            <a:off x="5760720" y="2286000"/>
            <a:ext cx="59436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64" name="C3-E02 text 62" descr="sci-ppt:o062"/>
          <p:cNvSpPr txBox="1"/>
          <p:nvPr/>
        </p:nvSpPr>
        <p:spPr>
          <a:xfrm>
            <a:off x="4892040" y="22037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9</a:t>
            </a:r>
          </a:p>
        </p:txBody>
      </p:sp>
      <p:cxnSp>
        <p:nvCxnSpPr>
          <p:cNvPr id="65" name="C3-E02 line 63" descr="sci-ppt:o063"/>
          <p:cNvCxnSpPr/>
          <p:nvPr/>
        </p:nvCxnSpPr>
        <p:spPr>
          <a:xfrm>
            <a:off x="569671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6" name="C3-E02 line 64" descr="sci-ppt:o064"/>
          <p:cNvCxnSpPr/>
          <p:nvPr/>
        </p:nvCxnSpPr>
        <p:spPr>
          <a:xfrm>
            <a:off x="5760720" y="1371600"/>
            <a:ext cx="59436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67" name="C3-E02 text 65" descr="sci-ppt:o065"/>
          <p:cNvSpPr txBox="1"/>
          <p:nvPr/>
        </p:nvSpPr>
        <p:spPr>
          <a:xfrm>
            <a:off x="489204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12</a:t>
            </a:r>
          </a:p>
        </p:txBody>
      </p:sp>
      <p:sp>
        <p:nvSpPr>
          <p:cNvPr id="68" name="C3-E02 text 66" descr="sci-ppt:o066"/>
          <p:cNvSpPr txBox="1"/>
          <p:nvPr/>
        </p:nvSpPr>
        <p:spPr>
          <a:xfrm>
            <a:off x="5760720" y="5312664"/>
            <a:ext cx="59436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allowed edge decrease ε</a:t>
            </a:r>
          </a:p>
        </p:txBody>
      </p:sp>
      <p:sp>
        <p:nvSpPr>
          <p:cNvPr id="69" name="C3-E02 text 67" descr="sci-ppt:o067"/>
          <p:cNvSpPr txBox="1"/>
          <p:nvPr/>
        </p:nvSpPr>
        <p:spPr>
          <a:xfrm>
            <a:off x="5212080" y="1024128"/>
            <a:ext cx="59436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required beam radius  w / R_A</a:t>
            </a:r>
          </a:p>
        </p:txBody>
      </p:sp>
      <p:sp>
        <p:nvSpPr>
          <p:cNvPr id="70" name="C3-E02 polygon 68" descr="sci-ppt:o068"/>
          <p:cNvSpPr/>
          <p:nvPr/>
        </p:nvSpPr>
        <p:spPr>
          <a:xfrm>
            <a:off x="6045455" y="1446556"/>
            <a:ext cx="5658865" cy="2860882"/>
          </a:xfrm>
          <a:custGeom>
            <a:avLst/>
            <a:gdLst/>
            <a:ahLst/>
            <a:cxnLst/>
            <a:rect l="l" t="t" r="r" b="b"/>
            <a:pathLst>
              <a:path w="5658865" h="2860882">
                <a:moveTo>
                  <a:pt x="0" y="0"/>
                </a:moveTo>
                <a:lnTo>
                  <a:pt x="28872" y="170155"/>
                </a:lnTo>
                <a:lnTo>
                  <a:pt x="57743" y="318368"/>
                </a:lnTo>
                <a:lnTo>
                  <a:pt x="86615" y="448990"/>
                </a:lnTo>
                <a:lnTo>
                  <a:pt x="115487" y="565253"/>
                </a:lnTo>
                <a:lnTo>
                  <a:pt x="144359" y="669614"/>
                </a:lnTo>
                <a:lnTo>
                  <a:pt x="173230" y="763979"/>
                </a:lnTo>
                <a:lnTo>
                  <a:pt x="202102" y="849853"/>
                </a:lnTo>
                <a:lnTo>
                  <a:pt x="230974" y="928440"/>
                </a:lnTo>
                <a:lnTo>
                  <a:pt x="259846" y="1000718"/>
                </a:lnTo>
                <a:lnTo>
                  <a:pt x="288717" y="1067493"/>
                </a:lnTo>
                <a:lnTo>
                  <a:pt x="317589" y="1129430"/>
                </a:lnTo>
                <a:lnTo>
                  <a:pt x="346461" y="1187089"/>
                </a:lnTo>
                <a:lnTo>
                  <a:pt x="375333" y="1240944"/>
                </a:lnTo>
                <a:lnTo>
                  <a:pt x="404204" y="1291396"/>
                </a:lnTo>
                <a:lnTo>
                  <a:pt x="433076" y="1338790"/>
                </a:lnTo>
                <a:lnTo>
                  <a:pt x="461948" y="1383426"/>
                </a:lnTo>
                <a:lnTo>
                  <a:pt x="490820" y="1425562"/>
                </a:lnTo>
                <a:lnTo>
                  <a:pt x="519691" y="1465424"/>
                </a:lnTo>
                <a:lnTo>
                  <a:pt x="548563" y="1503210"/>
                </a:lnTo>
                <a:lnTo>
                  <a:pt x="577435" y="1539096"/>
                </a:lnTo>
                <a:lnTo>
                  <a:pt x="606307" y="1573237"/>
                </a:lnTo>
                <a:lnTo>
                  <a:pt x="635178" y="1605770"/>
                </a:lnTo>
                <a:lnTo>
                  <a:pt x="664050" y="1636819"/>
                </a:lnTo>
                <a:lnTo>
                  <a:pt x="692922" y="1666494"/>
                </a:lnTo>
                <a:lnTo>
                  <a:pt x="721794" y="1694893"/>
                </a:lnTo>
                <a:lnTo>
                  <a:pt x="750666" y="1722108"/>
                </a:lnTo>
                <a:lnTo>
                  <a:pt x="779537" y="1748217"/>
                </a:lnTo>
                <a:lnTo>
                  <a:pt x="808409" y="1773295"/>
                </a:lnTo>
                <a:lnTo>
                  <a:pt x="837281" y="1797408"/>
                </a:lnTo>
                <a:lnTo>
                  <a:pt x="866153" y="1820618"/>
                </a:lnTo>
                <a:lnTo>
                  <a:pt x="895024" y="1842979"/>
                </a:lnTo>
                <a:lnTo>
                  <a:pt x="923896" y="1864542"/>
                </a:lnTo>
                <a:lnTo>
                  <a:pt x="952768" y="1885355"/>
                </a:lnTo>
                <a:lnTo>
                  <a:pt x="981640" y="1905460"/>
                </a:lnTo>
                <a:lnTo>
                  <a:pt x="1010511" y="1924896"/>
                </a:lnTo>
                <a:lnTo>
                  <a:pt x="1039383" y="1943701"/>
                </a:lnTo>
                <a:lnTo>
                  <a:pt x="1068255" y="1961908"/>
                </a:lnTo>
                <a:lnTo>
                  <a:pt x="1097127" y="1979549"/>
                </a:lnTo>
                <a:lnTo>
                  <a:pt x="1125998" y="1996652"/>
                </a:lnTo>
                <a:lnTo>
                  <a:pt x="1154870" y="2013245"/>
                </a:lnTo>
                <a:lnTo>
                  <a:pt x="1183742" y="2029353"/>
                </a:lnTo>
                <a:lnTo>
                  <a:pt x="1212614" y="2044999"/>
                </a:lnTo>
                <a:lnTo>
                  <a:pt x="1241485" y="2060205"/>
                </a:lnTo>
                <a:lnTo>
                  <a:pt x="1270357" y="2074991"/>
                </a:lnTo>
                <a:lnTo>
                  <a:pt x="1299229" y="2089378"/>
                </a:lnTo>
                <a:lnTo>
                  <a:pt x="1328101" y="2103382"/>
                </a:lnTo>
                <a:lnTo>
                  <a:pt x="1356972" y="2117021"/>
                </a:lnTo>
                <a:lnTo>
                  <a:pt x="1385844" y="2130310"/>
                </a:lnTo>
                <a:lnTo>
                  <a:pt x="1414716" y="2143264"/>
                </a:lnTo>
                <a:lnTo>
                  <a:pt x="1443588" y="2155898"/>
                </a:lnTo>
                <a:lnTo>
                  <a:pt x="1472459" y="2168224"/>
                </a:lnTo>
                <a:lnTo>
                  <a:pt x="1501331" y="2180255"/>
                </a:lnTo>
                <a:lnTo>
                  <a:pt x="1530203" y="2192003"/>
                </a:lnTo>
                <a:lnTo>
                  <a:pt x="1559075" y="2203478"/>
                </a:lnTo>
                <a:lnTo>
                  <a:pt x="1587947" y="2214692"/>
                </a:lnTo>
                <a:lnTo>
                  <a:pt x="1616818" y="2225654"/>
                </a:lnTo>
                <a:lnTo>
                  <a:pt x="1645690" y="2236374"/>
                </a:lnTo>
                <a:lnTo>
                  <a:pt x="1674562" y="2246860"/>
                </a:lnTo>
                <a:lnTo>
                  <a:pt x="1703434" y="2257122"/>
                </a:lnTo>
                <a:lnTo>
                  <a:pt x="1732305" y="2267167"/>
                </a:lnTo>
                <a:lnTo>
                  <a:pt x="1761177" y="2277002"/>
                </a:lnTo>
                <a:lnTo>
                  <a:pt x="1790049" y="2286636"/>
                </a:lnTo>
                <a:lnTo>
                  <a:pt x="1818921" y="2296074"/>
                </a:lnTo>
                <a:lnTo>
                  <a:pt x="1847792" y="2305325"/>
                </a:lnTo>
                <a:lnTo>
                  <a:pt x="1876664" y="2314393"/>
                </a:lnTo>
                <a:lnTo>
                  <a:pt x="1905536" y="2323285"/>
                </a:lnTo>
                <a:lnTo>
                  <a:pt x="1934408" y="2332007"/>
                </a:lnTo>
                <a:lnTo>
                  <a:pt x="1963279" y="2340564"/>
                </a:lnTo>
                <a:lnTo>
                  <a:pt x="1992151" y="2348961"/>
                </a:lnTo>
                <a:lnTo>
                  <a:pt x="2021023" y="2357204"/>
                </a:lnTo>
                <a:lnTo>
                  <a:pt x="2049895" y="2365297"/>
                </a:lnTo>
                <a:lnTo>
                  <a:pt x="2078766" y="2373245"/>
                </a:lnTo>
                <a:lnTo>
                  <a:pt x="2107638" y="2381051"/>
                </a:lnTo>
                <a:lnTo>
                  <a:pt x="2136510" y="2388722"/>
                </a:lnTo>
                <a:lnTo>
                  <a:pt x="2165382" y="2396259"/>
                </a:lnTo>
                <a:lnTo>
                  <a:pt x="2194253" y="2403668"/>
                </a:lnTo>
                <a:lnTo>
                  <a:pt x="2223125" y="2410951"/>
                </a:lnTo>
                <a:lnTo>
                  <a:pt x="2251997" y="2418113"/>
                </a:lnTo>
                <a:lnTo>
                  <a:pt x="2280869" y="2425157"/>
                </a:lnTo>
                <a:lnTo>
                  <a:pt x="2309740" y="2432087"/>
                </a:lnTo>
                <a:lnTo>
                  <a:pt x="2338612" y="2438904"/>
                </a:lnTo>
                <a:lnTo>
                  <a:pt x="2367484" y="2445613"/>
                </a:lnTo>
                <a:lnTo>
                  <a:pt x="2396356" y="2452216"/>
                </a:lnTo>
                <a:lnTo>
                  <a:pt x="2425228" y="2458717"/>
                </a:lnTo>
                <a:lnTo>
                  <a:pt x="2454099" y="2465117"/>
                </a:lnTo>
                <a:lnTo>
                  <a:pt x="2482971" y="2471420"/>
                </a:lnTo>
                <a:lnTo>
                  <a:pt x="2511843" y="2477627"/>
                </a:lnTo>
                <a:lnTo>
                  <a:pt x="2540715" y="2483742"/>
                </a:lnTo>
                <a:lnTo>
                  <a:pt x="2569586" y="2489767"/>
                </a:lnTo>
                <a:lnTo>
                  <a:pt x="2598458" y="2495704"/>
                </a:lnTo>
                <a:lnTo>
                  <a:pt x="2627330" y="2501555"/>
                </a:lnTo>
                <a:lnTo>
                  <a:pt x="2656202" y="2507322"/>
                </a:lnTo>
                <a:lnTo>
                  <a:pt x="2685073" y="2513007"/>
                </a:lnTo>
                <a:lnTo>
                  <a:pt x="2713945" y="2518613"/>
                </a:lnTo>
                <a:lnTo>
                  <a:pt x="2742817" y="2524141"/>
                </a:lnTo>
                <a:lnTo>
                  <a:pt x="2771689" y="2529593"/>
                </a:lnTo>
                <a:lnTo>
                  <a:pt x="2800560" y="2534971"/>
                </a:lnTo>
                <a:lnTo>
                  <a:pt x="2829432" y="2540277"/>
                </a:lnTo>
                <a:lnTo>
                  <a:pt x="2858304" y="2545511"/>
                </a:lnTo>
                <a:lnTo>
                  <a:pt x="2887176" y="2550677"/>
                </a:lnTo>
                <a:lnTo>
                  <a:pt x="2916047" y="2555774"/>
                </a:lnTo>
                <a:lnTo>
                  <a:pt x="2944919" y="2560806"/>
                </a:lnTo>
                <a:lnTo>
                  <a:pt x="2973791" y="2565773"/>
                </a:lnTo>
                <a:lnTo>
                  <a:pt x="3002663" y="2570676"/>
                </a:lnTo>
                <a:lnTo>
                  <a:pt x="3031534" y="2575518"/>
                </a:lnTo>
                <a:lnTo>
                  <a:pt x="3060406" y="2580299"/>
                </a:lnTo>
                <a:lnTo>
                  <a:pt x="3089278" y="2585021"/>
                </a:lnTo>
                <a:lnTo>
                  <a:pt x="3118150" y="2589685"/>
                </a:lnTo>
                <a:lnTo>
                  <a:pt x="3147021" y="2594293"/>
                </a:lnTo>
                <a:lnTo>
                  <a:pt x="3175893" y="2598844"/>
                </a:lnTo>
                <a:lnTo>
                  <a:pt x="3204765" y="2603342"/>
                </a:lnTo>
                <a:lnTo>
                  <a:pt x="3233637" y="2607786"/>
                </a:lnTo>
                <a:lnTo>
                  <a:pt x="3262509" y="2612177"/>
                </a:lnTo>
                <a:lnTo>
                  <a:pt x="3291380" y="2616518"/>
                </a:lnTo>
                <a:lnTo>
                  <a:pt x="3320252" y="2620808"/>
                </a:lnTo>
                <a:lnTo>
                  <a:pt x="3349124" y="2625049"/>
                </a:lnTo>
                <a:lnTo>
                  <a:pt x="3377996" y="2629242"/>
                </a:lnTo>
                <a:lnTo>
                  <a:pt x="3406867" y="2633388"/>
                </a:lnTo>
                <a:lnTo>
                  <a:pt x="3435739" y="2637488"/>
                </a:lnTo>
                <a:lnTo>
                  <a:pt x="3464611" y="2641542"/>
                </a:lnTo>
                <a:lnTo>
                  <a:pt x="3493483" y="2645551"/>
                </a:lnTo>
                <a:lnTo>
                  <a:pt x="3522354" y="2649517"/>
                </a:lnTo>
                <a:lnTo>
                  <a:pt x="3551226" y="2653440"/>
                </a:lnTo>
                <a:lnTo>
                  <a:pt x="3580098" y="2657320"/>
                </a:lnTo>
                <a:lnTo>
                  <a:pt x="3608970" y="2661160"/>
                </a:lnTo>
                <a:lnTo>
                  <a:pt x="3637841" y="2664959"/>
                </a:lnTo>
                <a:lnTo>
                  <a:pt x="3666713" y="2668718"/>
                </a:lnTo>
                <a:lnTo>
                  <a:pt x="3695585" y="2672438"/>
                </a:lnTo>
                <a:lnTo>
                  <a:pt x="3724457" y="2676119"/>
                </a:lnTo>
                <a:lnTo>
                  <a:pt x="3753328" y="2679763"/>
                </a:lnTo>
                <a:lnTo>
                  <a:pt x="3782200" y="2683370"/>
                </a:lnTo>
                <a:lnTo>
                  <a:pt x="3811072" y="2686940"/>
                </a:lnTo>
                <a:lnTo>
                  <a:pt x="3839944" y="2690475"/>
                </a:lnTo>
                <a:lnTo>
                  <a:pt x="3868815" y="2693974"/>
                </a:lnTo>
                <a:lnTo>
                  <a:pt x="3897687" y="2697439"/>
                </a:lnTo>
                <a:lnTo>
                  <a:pt x="3926559" y="2700871"/>
                </a:lnTo>
                <a:lnTo>
                  <a:pt x="3955431" y="2704268"/>
                </a:lnTo>
                <a:lnTo>
                  <a:pt x="3984302" y="2707633"/>
                </a:lnTo>
                <a:lnTo>
                  <a:pt x="4013174" y="2710966"/>
                </a:lnTo>
                <a:lnTo>
                  <a:pt x="4042046" y="2714267"/>
                </a:lnTo>
                <a:lnTo>
                  <a:pt x="4070918" y="2717537"/>
                </a:lnTo>
                <a:lnTo>
                  <a:pt x="4099790" y="2720776"/>
                </a:lnTo>
                <a:lnTo>
                  <a:pt x="4128661" y="2723986"/>
                </a:lnTo>
                <a:lnTo>
                  <a:pt x="4157533" y="2727165"/>
                </a:lnTo>
                <a:lnTo>
                  <a:pt x="4186405" y="2730315"/>
                </a:lnTo>
                <a:lnTo>
                  <a:pt x="4215277" y="2733437"/>
                </a:lnTo>
                <a:lnTo>
                  <a:pt x="4244148" y="2736530"/>
                </a:lnTo>
                <a:lnTo>
                  <a:pt x="4273020" y="2739596"/>
                </a:lnTo>
                <a:lnTo>
                  <a:pt x="4301892" y="2742634"/>
                </a:lnTo>
                <a:lnTo>
                  <a:pt x="4330764" y="2745645"/>
                </a:lnTo>
                <a:lnTo>
                  <a:pt x="4359635" y="2748630"/>
                </a:lnTo>
                <a:lnTo>
                  <a:pt x="4388507" y="2751588"/>
                </a:lnTo>
                <a:lnTo>
                  <a:pt x="4417379" y="2754521"/>
                </a:lnTo>
                <a:lnTo>
                  <a:pt x="4446251" y="2757429"/>
                </a:lnTo>
                <a:lnTo>
                  <a:pt x="4475122" y="2760311"/>
                </a:lnTo>
                <a:lnTo>
                  <a:pt x="4503994" y="2763169"/>
                </a:lnTo>
                <a:lnTo>
                  <a:pt x="4532866" y="2766003"/>
                </a:lnTo>
                <a:lnTo>
                  <a:pt x="4561738" y="2768813"/>
                </a:lnTo>
                <a:lnTo>
                  <a:pt x="4590609" y="2771600"/>
                </a:lnTo>
                <a:lnTo>
                  <a:pt x="4619481" y="2774364"/>
                </a:lnTo>
                <a:lnTo>
                  <a:pt x="4648353" y="2777104"/>
                </a:lnTo>
                <a:lnTo>
                  <a:pt x="4677225" y="2779822"/>
                </a:lnTo>
                <a:lnTo>
                  <a:pt x="4706096" y="2782519"/>
                </a:lnTo>
                <a:lnTo>
                  <a:pt x="4734968" y="2785193"/>
                </a:lnTo>
                <a:lnTo>
                  <a:pt x="4763840" y="2787846"/>
                </a:lnTo>
                <a:lnTo>
                  <a:pt x="4792712" y="2790477"/>
                </a:lnTo>
                <a:lnTo>
                  <a:pt x="4821583" y="2793088"/>
                </a:lnTo>
                <a:lnTo>
                  <a:pt x="4850455" y="2795678"/>
                </a:lnTo>
                <a:lnTo>
                  <a:pt x="4879327" y="2798248"/>
                </a:lnTo>
                <a:lnTo>
                  <a:pt x="4908199" y="2800798"/>
                </a:lnTo>
                <a:lnTo>
                  <a:pt x="4937071" y="2803328"/>
                </a:lnTo>
                <a:lnTo>
                  <a:pt x="4965942" y="2805839"/>
                </a:lnTo>
                <a:lnTo>
                  <a:pt x="4994814" y="2808330"/>
                </a:lnTo>
                <a:lnTo>
                  <a:pt x="5023686" y="2810803"/>
                </a:lnTo>
                <a:lnTo>
                  <a:pt x="5052558" y="2813257"/>
                </a:lnTo>
                <a:lnTo>
                  <a:pt x="5081429" y="2815692"/>
                </a:lnTo>
                <a:lnTo>
                  <a:pt x="5110301" y="2818110"/>
                </a:lnTo>
                <a:lnTo>
                  <a:pt x="5139173" y="2820509"/>
                </a:lnTo>
                <a:lnTo>
                  <a:pt x="5168045" y="2822890"/>
                </a:lnTo>
                <a:lnTo>
                  <a:pt x="5196916" y="2825255"/>
                </a:lnTo>
                <a:lnTo>
                  <a:pt x="5225788" y="2827602"/>
                </a:lnTo>
                <a:lnTo>
                  <a:pt x="5254660" y="2829931"/>
                </a:lnTo>
                <a:lnTo>
                  <a:pt x="5283532" y="2832245"/>
                </a:lnTo>
                <a:lnTo>
                  <a:pt x="5312403" y="2834541"/>
                </a:lnTo>
                <a:lnTo>
                  <a:pt x="5341275" y="2836821"/>
                </a:lnTo>
                <a:lnTo>
                  <a:pt x="5370147" y="2839085"/>
                </a:lnTo>
                <a:lnTo>
                  <a:pt x="5399019" y="2841334"/>
                </a:lnTo>
                <a:lnTo>
                  <a:pt x="5427890" y="2843566"/>
                </a:lnTo>
                <a:lnTo>
                  <a:pt x="5456762" y="2845783"/>
                </a:lnTo>
                <a:lnTo>
                  <a:pt x="5485634" y="2847984"/>
                </a:lnTo>
                <a:lnTo>
                  <a:pt x="5514506" y="2850171"/>
                </a:lnTo>
                <a:lnTo>
                  <a:pt x="5543377" y="2852342"/>
                </a:lnTo>
                <a:lnTo>
                  <a:pt x="5572249" y="2854499"/>
                </a:lnTo>
                <a:lnTo>
                  <a:pt x="5601121" y="2856641"/>
                </a:lnTo>
                <a:lnTo>
                  <a:pt x="5629993" y="2858769"/>
                </a:lnTo>
                <a:lnTo>
                  <a:pt x="5658865" y="2860882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C3-E02 ellipse 69" descr="sci-ppt:o069"/>
          <p:cNvSpPr/>
          <p:nvPr/>
        </p:nvSpPr>
        <p:spPr>
          <a:xfrm>
            <a:off x="7668768" y="3628069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C3-E02 text 70" descr="sci-ppt:o070"/>
          <p:cNvSpPr txBox="1"/>
          <p:nvPr/>
        </p:nvSpPr>
        <p:spPr>
          <a:xfrm>
            <a:off x="7851647" y="3609781"/>
            <a:ext cx="21945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ε = 0.1: w ≥ 4.36 R_A</a:t>
            </a:r>
          </a:p>
        </p:txBody>
      </p:sp>
      <p:sp>
        <p:nvSpPr>
          <p:cNvPr id="73" name="C3-E02 ellipse 71" descr="sci-ppt:o071"/>
          <p:cNvSpPr/>
          <p:nvPr/>
        </p:nvSpPr>
        <p:spPr>
          <a:xfrm>
            <a:off x="6678167" y="3052781"/>
            <a:ext cx="146304" cy="146304"/>
          </a:xfrm>
          <a:prstGeom prst="ellipse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3-E02 text 72" descr="sci-ppt:o072"/>
          <p:cNvSpPr txBox="1"/>
          <p:nvPr/>
        </p:nvSpPr>
        <p:spPr>
          <a:xfrm>
            <a:off x="6861048" y="3034493"/>
            <a:ext cx="21945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FC8F8"/>
                </a:solidFill>
                <a:latin typeface="Arial"/>
              </a:rPr>
              <a:t>ε = 0.05: w ≥ 6.24 R_A</a:t>
            </a:r>
          </a:p>
        </p:txBody>
      </p:sp>
      <p:sp>
        <p:nvSpPr>
          <p:cNvPr id="75" name="C3-E02 ellipse 73" descr="sci-ppt:o073"/>
          <p:cNvSpPr/>
          <p:nvPr/>
        </p:nvSpPr>
        <p:spPr>
          <a:xfrm>
            <a:off x="6083808" y="1923377"/>
            <a:ext cx="146304" cy="146304"/>
          </a:xfrm>
          <a:prstGeom prst="ellipse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C3-E02 text 74" descr="sci-ppt:o074"/>
          <p:cNvSpPr txBox="1"/>
          <p:nvPr/>
        </p:nvSpPr>
        <p:spPr>
          <a:xfrm>
            <a:off x="6248400" y="1905089"/>
            <a:ext cx="21945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ε = 0.02: w ≥ 9.95 R_A</a:t>
            </a:r>
          </a:p>
        </p:txBody>
      </p:sp>
      <p:sp>
        <p:nvSpPr>
          <p:cNvPr id="77" name="C3-E02 text 75" descr="sci-ppt:o075"/>
          <p:cNvSpPr txBox="1"/>
          <p:nvPr/>
        </p:nvSpPr>
        <p:spPr>
          <a:xfrm>
            <a:off x="5760720" y="5733288"/>
            <a:ext cx="5943600" cy="44856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w ≥ R_A √[ 2 / (−ln(1 − ε)) ].  A 10 % edge drop needs w = 4.357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R_A.</a:t>
            </a:r>
          </a:p>
        </p:txBody>
      </p:sp>
      <p:sp>
        <p:nvSpPr>
          <p:cNvPr id="78" name="C3-E02 text 76" descr="sci-ppt:o076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Optical-uniformity condition of Eq. C3-E02; this is checked before any cavity mechanics.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