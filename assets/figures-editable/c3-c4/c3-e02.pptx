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2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C3-E02 · Derived optical-uniformity condition</a:t>
            </a:r>
          </a:p>
        </p:txBody>
      </p:sp>
      <p:sp>
        <p:nvSpPr>
          <p:cNvPr id="3" name="C3-E02 ellipse 1" descr="sci-ppt:o001"/>
          <p:cNvSpPr/>
          <p:nvPr/>
        </p:nvSpPr>
        <p:spPr>
          <a:xfrm>
            <a:off x="1828800" y="914400"/>
            <a:ext cx="2560320" cy="256032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3-E02 ellipse 2" descr="sci-ppt:o002"/>
          <p:cNvSpPr/>
          <p:nvPr/>
        </p:nvSpPr>
        <p:spPr>
          <a:xfrm>
            <a:off x="2514600" y="1600200"/>
            <a:ext cx="1188720" cy="1188720"/>
          </a:xfrm>
          <a:prstGeom prst="ellipse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C3-E02 arrow 3" descr="sci-ppt:o003"/>
          <p:cNvCxnSpPr/>
          <p:nvPr/>
        </p:nvCxnSpPr>
        <p:spPr>
          <a:xfrm>
            <a:off x="3108960" y="2194560"/>
            <a:ext cx="12801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3-E02 text 4" descr="sci-ppt:o004"/>
          <p:cNvSpPr txBox="1"/>
          <p:nvPr/>
        </p:nvSpPr>
        <p:spPr>
          <a:xfrm>
            <a:off x="3886200" y="173736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w</a:t>
            </a:r>
          </a:p>
        </p:txBody>
      </p:sp>
      <p:cxnSp>
        <p:nvCxnSpPr>
          <p:cNvPr id="7" name="C3-E02 arrow 5" descr="sci-ppt:o005"/>
          <p:cNvCxnSpPr/>
          <p:nvPr/>
        </p:nvCxnSpPr>
        <p:spPr>
          <a:xfrm flipV="1">
            <a:off x="3108960" y="1600200"/>
            <a:ext cx="0" cy="59436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8" name="C3-E02 text 6" descr="sci-ppt:o006"/>
          <p:cNvSpPr txBox="1"/>
          <p:nvPr/>
        </p:nvSpPr>
        <p:spPr>
          <a:xfrm>
            <a:off x="2148840" y="150876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R_A</a:t>
            </a:r>
          </a:p>
        </p:txBody>
      </p:sp>
      <p:sp>
        <p:nvSpPr>
          <p:cNvPr id="9" name="C3-E02 text 7" descr="sci-ppt:o007"/>
          <p:cNvSpPr txBox="1"/>
          <p:nvPr/>
        </p:nvSpPr>
        <p:spPr>
          <a:xfrm>
            <a:off x="5486400" y="1188720"/>
            <a:ext cx="5852160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E7F0F3"/>
                </a:solidFill>
                <a:latin typeface="Arial"/>
              </a:rPr>
              <a:t>Beam axis and array centre coincide.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E7F0F3"/>
                </a:solidFill>
                <a:latin typeface="Arial"/>
              </a:rPr>
              <a:t>Inner circle encloses array sites.</a:t>
            </a:r>
          </a:p>
        </p:txBody>
      </p:sp>
      <p:sp>
        <p:nvSpPr>
          <p:cNvPr id="10" name="C3-E02 text 8" descr="sci-ppt:o008"/>
          <p:cNvSpPr txBox="1"/>
          <p:nvPr/>
        </p:nvSpPr>
        <p:spPr>
          <a:xfrm>
            <a:off x="5486400" y="2423160"/>
            <a:ext cx="5760720" cy="8229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8EDBD4"/>
                </a:solidFill>
                <a:latin typeface="Arial"/>
              </a:rPr>
              <a:t>F(R_A)/F₀ ≥ 1 − ε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8EDBD4"/>
                </a:solidFill>
                <a:latin typeface="Arial"/>
              </a:rPr>
              <a:t>Uniformity is an optical condition.</a:t>
            </a:r>
          </a:p>
        </p:txBody>
      </p:sp>
      <p:cxnSp>
        <p:nvCxnSpPr>
          <p:cNvPr id="11" name="C3-E02 line 9" descr="sci-ppt:o009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2" name="C3-E02 text 10" descr="sci-ppt:o010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F₀ central fluence</a:t>
            </a:r>
          </a:p>
        </p:txBody>
      </p:sp>
      <p:sp>
        <p:nvSpPr>
          <p:cNvPr id="13" name="C3-E02 text 11" descr="sci-ppt:o011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F(R_A) edge fluence</a:t>
            </a:r>
          </a:p>
        </p:txBody>
      </p:sp>
      <p:sp>
        <p:nvSpPr>
          <p:cNvPr id="14" name="C3-E02 text 12" descr="sci-ppt:o012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R_A array radius</a:t>
            </a:r>
          </a:p>
        </p:txBody>
      </p:sp>
      <p:sp>
        <p:nvSpPr>
          <p:cNvPr id="15" name="C3-E02 text 13" descr="sci-ppt:o013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w beam radius</a:t>
            </a:r>
          </a:p>
        </p:txBody>
      </p:sp>
      <p:sp>
        <p:nvSpPr>
          <p:cNvPr id="16" name="C3-E02 text 14" descr="sci-ppt:o014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ε allowed decrease; exp, ln</a:t>
            </a:r>
          </a:p>
        </p:txBody>
      </p:sp>
      <p:sp>
        <p:nvSpPr>
          <p:cNvPr id="17" name="C3-E02 text 15" descr="sci-ppt:o015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Beam axis passes through array center</a:t>
            </a:r>
          </a:p>
        </p:txBody>
      </p:sp>
      <p:sp>
        <p:nvSpPr>
          <p:cNvPr id="18" name="C3-E02 text 16" descr="sci-ppt:o016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Uniform fluence does not prove uniform activation</a:t>
            </a:r>
          </a:p>
        </p:txBody>
      </p:sp>
      <p:sp>
        <p:nvSpPr>
          <p:cNvPr id="19" name="C3-E02 text 17" descr="sci-ppt:o017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