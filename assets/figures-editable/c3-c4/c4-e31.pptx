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C4-E31 · Failed release-energy screen</a:t>
            </a:r>
          </a:p>
        </p:txBody>
      </p:sp>
      <p:sp>
        <p:nvSpPr>
          <p:cNvPr id="3" name="C4-E31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Failed release-energy screen: Γ = 0.020 J/m²</a:t>
            </a:r>
          </a:p>
        </p:txBody>
      </p:sp>
      <p:sp>
        <p:nvSpPr>
          <p:cNvPr id="4" name="C4-E31 text 2" descr="sci-ppt:o002"/>
          <p:cNvSpPr txBox="1"/>
          <p:nvPr/>
        </p:nvSpPr>
        <p:spPr>
          <a:xfrm>
            <a:off x="457200" y="1572768"/>
            <a:ext cx="3566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energy needed  Γ A_f</a:t>
            </a:r>
          </a:p>
        </p:txBody>
      </p:sp>
      <p:sp>
        <p:nvSpPr>
          <p:cNvPr id="5" name="C4-E31 rect 3" descr="sci-ppt:o003"/>
          <p:cNvSpPr/>
          <p:nvPr/>
        </p:nvSpPr>
        <p:spPr>
          <a:xfrm>
            <a:off x="4114800" y="1554480"/>
            <a:ext cx="5257800" cy="54864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4-E31 text 4" descr="sci-ppt:o004"/>
          <p:cNvSpPr txBox="1"/>
          <p:nvPr/>
        </p:nvSpPr>
        <p:spPr>
          <a:xfrm>
            <a:off x="9445752" y="160020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20.0 nJ</a:t>
            </a:r>
          </a:p>
        </p:txBody>
      </p:sp>
      <p:sp>
        <p:nvSpPr>
          <p:cNvPr id="7" name="C4-E31 text 5" descr="sci-ppt:o005"/>
          <p:cNvSpPr txBox="1"/>
          <p:nvPr/>
        </p:nvSpPr>
        <p:spPr>
          <a:xfrm>
            <a:off x="457200" y="2441448"/>
            <a:ext cx="3566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energy available  E_solid</a:t>
            </a:r>
          </a:p>
        </p:txBody>
      </p:sp>
      <p:sp>
        <p:nvSpPr>
          <p:cNvPr id="8" name="C4-E31 rect 6" descr="sci-ppt:o006"/>
          <p:cNvSpPr/>
          <p:nvPr/>
        </p:nvSpPr>
        <p:spPr>
          <a:xfrm>
            <a:off x="4114800" y="2423160"/>
            <a:ext cx="2628900" cy="54864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4-E31 text 7" descr="sci-ppt:o007"/>
          <p:cNvSpPr txBox="1"/>
          <p:nvPr/>
        </p:nvSpPr>
        <p:spPr>
          <a:xfrm>
            <a:off x="6816852" y="2468879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10.0 nJ</a:t>
            </a:r>
          </a:p>
        </p:txBody>
      </p:sp>
      <p:sp>
        <p:nvSpPr>
          <p:cNvPr id="10" name="C4-E31 round_rect 8" descr="sci-ppt:o008"/>
          <p:cNvSpPr/>
          <p:nvPr/>
        </p:nvSpPr>
        <p:spPr>
          <a:xfrm>
            <a:off x="45720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4-E31 text 9" descr="sci-ppt:o009"/>
          <p:cNvSpPr txBox="1"/>
          <p:nvPr/>
        </p:nvSpPr>
        <p:spPr>
          <a:xfrm>
            <a:off x="56692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Arithmetic</a:t>
            </a:r>
          </a:p>
        </p:txBody>
      </p:sp>
      <p:sp>
        <p:nvSpPr>
          <p:cNvPr id="12" name="C4-E31 text 10" descr="sci-ppt:o010"/>
          <p:cNvSpPr txBox="1"/>
          <p:nvPr/>
        </p:nvSpPr>
        <p:spPr>
          <a:xfrm>
            <a:off x="594360" y="402336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Γ A_f = (0.020)(1.00×10⁻⁶) J = 20.0 nJ</a:t>
            </a:r>
          </a:p>
        </p:txBody>
      </p:sp>
      <p:sp>
        <p:nvSpPr>
          <p:cNvPr id="13" name="C4-E31 text 11" descr="sci-ppt:o011"/>
          <p:cNvSpPr txBox="1"/>
          <p:nvPr/>
        </p:nvSpPr>
        <p:spPr>
          <a:xfrm>
            <a:off x="594360" y="4572000"/>
            <a:ext cx="52120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20.0 nJ  &gt;  E_solid = 10.0 nJ</a:t>
            </a:r>
          </a:p>
        </p:txBody>
      </p:sp>
      <p:sp>
        <p:nvSpPr>
          <p:cNvPr id="14" name="C4-E31 round_rect 12" descr="sci-ppt:o012"/>
          <p:cNvSpPr/>
          <p:nvPr/>
        </p:nvSpPr>
        <p:spPr>
          <a:xfrm>
            <a:off x="621792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4-E31 text 13" descr="sci-ppt:o013"/>
          <p:cNvSpPr txBox="1"/>
          <p:nvPr/>
        </p:nvSpPr>
        <p:spPr>
          <a:xfrm>
            <a:off x="632764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Verdict</a:t>
            </a:r>
          </a:p>
        </p:txBody>
      </p:sp>
      <p:sp>
        <p:nvSpPr>
          <p:cNvPr id="16" name="C4-E31 text 14" descr="sci-ppt:o014"/>
          <p:cNvSpPr txBox="1"/>
          <p:nvPr/>
        </p:nvSpPr>
        <p:spPr>
          <a:xfrm>
            <a:off x="6355080" y="4023360"/>
            <a:ext cx="521208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FAIL: the assigned source cannot release the whole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interface even before adding departure energy.</a:t>
            </a:r>
          </a:p>
        </p:txBody>
      </p:sp>
      <p:sp>
        <p:nvSpPr>
          <p:cNvPr id="17" name="C4-E31 text 15" descr="sci-ppt:o015"/>
          <p:cNvSpPr txBox="1"/>
          <p:nvPr/>
        </p:nvSpPr>
        <p:spPr>
          <a:xfrm>
            <a:off x="6355080" y="493776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The failure is for this declared Γ and η_E.</a:t>
            </a:r>
          </a:p>
        </p:txBody>
      </p:sp>
      <p:sp>
        <p:nvSpPr>
          <p:cNvPr id="18" name="C4-E31 text 16" descr="sci-ppt:o01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Failed screen of Eq. C4-E31.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