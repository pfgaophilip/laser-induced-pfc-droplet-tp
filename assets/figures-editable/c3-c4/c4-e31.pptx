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1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C4-E31 · Failed release-energy screen</a:t>
            </a:r>
          </a:p>
        </p:txBody>
      </p:sp>
      <p:sp>
        <p:nvSpPr>
          <p:cNvPr id="3" name="C4-E31 rect 1" descr="sci-ppt:o001"/>
          <p:cNvSpPr/>
          <p:nvPr/>
        </p:nvSpPr>
        <p:spPr>
          <a:xfrm>
            <a:off x="5943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31 text 2" descr="sci-ppt:o002"/>
          <p:cNvSpPr txBox="1"/>
          <p:nvPr/>
        </p:nvSpPr>
        <p:spPr>
          <a:xfrm>
            <a:off x="7589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Incoming finite budgets</a:t>
            </a:r>
          </a:p>
        </p:txBody>
      </p:sp>
      <p:cxnSp>
        <p:nvCxnSpPr>
          <p:cNvPr id="5" name="C4-E31 arrow 3" descr="sci-ppt:o003"/>
          <p:cNvCxnSpPr/>
          <p:nvPr/>
        </p:nvCxnSpPr>
        <p:spPr>
          <a:xfrm>
            <a:off x="37947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4-E31 rect 4" descr="sci-ppt:o004"/>
          <p:cNvSpPr/>
          <p:nvPr/>
        </p:nvSpPr>
        <p:spPr>
          <a:xfrm>
            <a:off x="44805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4-E31 text 5" descr="sci-ppt:o005"/>
          <p:cNvSpPr txBox="1"/>
          <p:nvPr/>
        </p:nvSpPr>
        <p:spPr>
          <a:xfrm>
            <a:off x="46451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Transmitted E_solid, I_net</a:t>
            </a:r>
          </a:p>
        </p:txBody>
      </p:sp>
      <p:cxnSp>
        <p:nvCxnSpPr>
          <p:cNvPr id="8" name="C4-E31 arrow 6" descr="sci-ppt:o006"/>
          <p:cNvCxnSpPr/>
          <p:nvPr/>
        </p:nvCxnSpPr>
        <p:spPr>
          <a:xfrm>
            <a:off x="76809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C4-E31 rect 7" descr="sci-ppt:o007"/>
          <p:cNvSpPr/>
          <p:nvPr/>
        </p:nvSpPr>
        <p:spPr>
          <a:xfrm>
            <a:off x="83667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4-E31 text 8" descr="sci-ppt:o008"/>
          <p:cNvSpPr txBox="1"/>
          <p:nvPr/>
        </p:nvSpPr>
        <p:spPr>
          <a:xfrm>
            <a:off x="85313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Release + departure cost</a:t>
            </a:r>
          </a:p>
        </p:txBody>
      </p:sp>
      <p:sp>
        <p:nvSpPr>
          <p:cNvPr id="11" name="C4-E31 text 9" descr="sci-ppt:o009"/>
          <p:cNvSpPr txBox="1"/>
          <p:nvPr/>
        </p:nvSpPr>
        <p:spPr>
          <a:xfrm>
            <a:off x="731520" y="3246120"/>
            <a:ext cx="1078992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Work, storage, fracture consumption and net impulse retain separate meanings.</a:t>
            </a:r>
          </a:p>
        </p:txBody>
      </p:sp>
      <p:cxnSp>
        <p:nvCxnSpPr>
          <p:cNvPr id="12" name="C4-E31 line 10" descr="sci-ppt:o010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3" name="C4-E31 text 11" descr="sci-ppt:o011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Γ = 0.020 J/m²</a:t>
            </a:r>
          </a:p>
        </p:txBody>
      </p:sp>
      <p:sp>
        <p:nvSpPr>
          <p:cNvPr id="14" name="C4-E31 text 12" descr="sci-ppt:o012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A_f = 1 mm²</a:t>
            </a:r>
          </a:p>
        </p:txBody>
      </p:sp>
      <p:sp>
        <p:nvSpPr>
          <p:cNvPr id="15" name="C4-E31 text 13" descr="sci-ppt:o013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ΓA_f = 20 nJ — required release</a:t>
            </a:r>
          </a:p>
        </p:txBody>
      </p:sp>
      <p:sp>
        <p:nvSpPr>
          <p:cNvPr id="16" name="C4-E31 text 14" descr="sci-ppt:o014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E_solid = 10 nJ — available</a:t>
            </a:r>
          </a:p>
        </p:txBody>
      </p:sp>
      <p:sp>
        <p:nvSpPr>
          <p:cNvPr id="17" name="C4-E31 text 15" descr="sci-ppt:o015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early rigid impact ≈ 47.23 MPa</a:t>
            </a:r>
          </a:p>
        </p:txBody>
      </p:sp>
      <p:sp>
        <p:nvSpPr>
          <p:cNvPr id="18" name="C4-E31 text 16" descr="sci-ppt:o016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High local pressure coexists with insufficient total release work.</a:t>
            </a:r>
          </a:p>
        </p:txBody>
      </p:sp>
      <p:sp>
        <p:nvSpPr>
          <p:cNvPr id="19" name="C4-E31 text 17" descr="sci-ppt:o017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