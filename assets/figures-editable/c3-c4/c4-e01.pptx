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1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C4-E01 · Constitutive assumption and traction identity</a:t>
            </a:r>
          </a:p>
        </p:txBody>
      </p:sp>
      <p:sp>
        <p:nvSpPr>
          <p:cNvPr id="3" name="C4-E01 rect 1" descr="sci-ppt:o001"/>
          <p:cNvSpPr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01 arrow 2" descr="sci-ppt:o002"/>
          <p:cNvCxnSpPr/>
          <p:nvPr/>
        </p:nvCxnSpPr>
        <p:spPr>
          <a:xfrm flipV="1">
            <a:off x="27432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01 arrow 3" descr="sci-ppt:o003"/>
          <p:cNvCxnSpPr/>
          <p:nvPr/>
        </p:nvCxnSpPr>
        <p:spPr>
          <a:xfrm flipV="1">
            <a:off x="54864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C4-E01 arrow 4" descr="sci-ppt:o004"/>
          <p:cNvCxnSpPr/>
          <p:nvPr/>
        </p:nvCxnSpPr>
        <p:spPr>
          <a:xfrm flipV="1">
            <a:off x="82296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01 arrow 5" descr="sci-ppt:o005"/>
          <p:cNvCxnSpPr/>
          <p:nvPr/>
        </p:nvCxnSpPr>
        <p:spPr>
          <a:xfrm>
            <a:off x="9601200" y="169164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1 text 6" descr="sci-ppt:o006"/>
          <p:cNvSpPr txBox="1"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n_f ↓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solid → liquid</a:t>
            </a:r>
          </a:p>
        </p:txBody>
      </p:sp>
      <p:sp>
        <p:nvSpPr>
          <p:cNvPr id="9" name="C4-E01 text 7" descr="sci-ppt:o007"/>
          <p:cNvSpPr txBox="1"/>
          <p:nvPr/>
        </p:nvSpPr>
        <p:spPr>
          <a:xfrm>
            <a:off x="1005840" y="731520"/>
            <a:ext cx="9144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 / solid; positive departure and velocity v_f ↑</a:t>
            </a:r>
          </a:p>
        </p:txBody>
      </p:sp>
      <p:sp>
        <p:nvSpPr>
          <p:cNvPr id="10" name="C4-E01 text 8" descr="sci-ppt:o00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Liquid below: t_l = T_l n_f; pressure traction opposes n_f.</a:t>
            </a:r>
          </a:p>
        </p:txBody>
      </p:sp>
      <p:cxnSp>
        <p:nvCxnSpPr>
          <p:cNvPr id="11" name="C4-E01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01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film surface</a:t>
            </a:r>
          </a:p>
        </p:txBody>
      </p:sp>
      <p:sp>
        <p:nvSpPr>
          <p:cNvPr id="13" name="C4-E01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n_f ↓ solid → liquid</a:t>
            </a:r>
          </a:p>
        </p:txBody>
      </p:sp>
      <p:sp>
        <p:nvSpPr>
          <p:cNvPr id="14" name="C4-E01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 → compressive load</a:t>
            </a:r>
          </a:p>
        </p:txBody>
      </p:sp>
      <p:sp>
        <p:nvSpPr>
          <p:cNvPr id="15" name="C4-E01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u, x, t in liquid</a:t>
            </a:r>
          </a:p>
        </p:txBody>
      </p:sp>
      <p:sp>
        <p:nvSpPr>
          <p:cNvPr id="16" name="C4-E01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μ, D_u — shear</a:t>
            </a:r>
          </a:p>
        </p:txBody>
      </p:sp>
      <p:sp>
        <p:nvSpPr>
          <p:cNvPr id="17" name="C4-E01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T_l, t_l at exposed face</a:t>
            </a:r>
          </a:p>
        </p:txBody>
      </p:sp>
      <p:sp>
        <p:nvSpPr>
          <p:cNvPr id="18" name="C4-E01 text 16" descr="sci-ppt:o016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 — identity tensor</a:t>
            </a:r>
          </a:p>
        </p:txBody>
      </p:sp>
      <p:sp>
        <p:nvSpPr>
          <p:cNvPr id="19" name="C4-E01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Positive opening direction ↑</a:t>
            </a:r>
          </a:p>
        </p:txBody>
      </p:sp>
      <p:sp>
        <p:nvSpPr>
          <p:cNvPr id="20" name="C4-E01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The release interface is a separate surface.</a:t>
            </a:r>
          </a:p>
        </p:txBody>
      </p:sp>
      <p:sp>
        <p:nvSpPr>
          <p:cNvPr id="21" name="C4-E01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