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0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C4-E01 · Constitutive assumption and traction identity</a:t>
            </a:r>
          </a:p>
        </p:txBody>
      </p:sp>
      <p:sp>
        <p:nvSpPr>
          <p:cNvPr id="3" name="C4-E01 round_rect 1" descr="sci-ppt:o001"/>
          <p:cNvSpPr/>
          <p:nvPr/>
        </p:nvSpPr>
        <p:spPr>
          <a:xfrm>
            <a:off x="365760" y="914400"/>
            <a:ext cx="67665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01 text 2" descr="sci-ppt:o002"/>
          <p:cNvSpPr txBox="1"/>
          <p:nvPr/>
        </p:nvSpPr>
        <p:spPr>
          <a:xfrm>
            <a:off x="475488" y="969264"/>
            <a:ext cx="65471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Traction on the exposed film face</a:t>
            </a:r>
          </a:p>
        </p:txBody>
      </p:sp>
      <p:sp>
        <p:nvSpPr>
          <p:cNvPr id="5" name="C4-E01 rect 3" descr="sci-ppt:o003"/>
          <p:cNvSpPr/>
          <p:nvPr/>
        </p:nvSpPr>
        <p:spPr>
          <a:xfrm>
            <a:off x="731520" y="3127248"/>
            <a:ext cx="6035040" cy="1078992"/>
          </a:xfrm>
          <a:prstGeom prst="rect">
            <a:avLst/>
          </a:prstGeom>
          <a:solidFill>
            <a:srgbClr val="1E4A5A"/>
          </a:solidFill>
          <a:ln w="1270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4-E01 rect 4" descr="sci-ppt:o004"/>
          <p:cNvSpPr/>
          <p:nvPr/>
        </p:nvSpPr>
        <p:spPr>
          <a:xfrm>
            <a:off x="731520" y="1463040"/>
            <a:ext cx="6035040" cy="1463040"/>
          </a:xfrm>
          <a:prstGeom prst="rect">
            <a:avLst/>
          </a:prstGeom>
          <a:solidFill>
            <a:srgbClr val="3A5362">
              <a:alpha val="80000"/>
            </a:srgbClr>
          </a:solidFill>
          <a:ln w="15240">
            <a:solidFill>
              <a:srgbClr val="B4C7D2">
                <a:alpha val="8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01 text 5" descr="sci-ppt:o005"/>
          <p:cNvSpPr txBox="1"/>
          <p:nvPr/>
        </p:nvSpPr>
        <p:spPr>
          <a:xfrm>
            <a:off x="822960" y="155448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C7D2"/>
                </a:solidFill>
                <a:latin typeface="Arial"/>
              </a:rPr>
              <a:t>solid film</a:t>
            </a:r>
          </a:p>
        </p:txBody>
      </p:sp>
      <p:sp>
        <p:nvSpPr>
          <p:cNvPr id="8" name="C4-E01 text 6" descr="sci-ppt:o006"/>
          <p:cNvSpPr txBox="1"/>
          <p:nvPr/>
        </p:nvSpPr>
        <p:spPr>
          <a:xfrm>
            <a:off x="822960" y="329184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liquid</a:t>
            </a:r>
          </a:p>
        </p:txBody>
      </p:sp>
      <p:cxnSp>
        <p:nvCxnSpPr>
          <p:cNvPr id="9" name="C4-E01 arrow 7" descr="sci-ppt:o007"/>
          <p:cNvCxnSpPr/>
          <p:nvPr/>
        </p:nvCxnSpPr>
        <p:spPr>
          <a:xfrm flipV="1">
            <a:off x="2011680" y="2194560"/>
            <a:ext cx="0" cy="73152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4-E01 text 8" descr="sci-ppt:o008"/>
          <p:cNvSpPr txBox="1"/>
          <p:nvPr/>
        </p:nvSpPr>
        <p:spPr>
          <a:xfrm>
            <a:off x="914400" y="2286000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n_f</a:t>
            </a:r>
          </a:p>
        </p:txBody>
      </p:sp>
      <p:cxnSp>
        <p:nvCxnSpPr>
          <p:cNvPr id="11" name="C4-E01 arrow 9" descr="sci-ppt:o009"/>
          <p:cNvCxnSpPr/>
          <p:nvPr/>
        </p:nvCxnSpPr>
        <p:spPr>
          <a:xfrm>
            <a:off x="4023360" y="2971800"/>
            <a:ext cx="0" cy="868680"/>
          </a:xfrm>
          <a:prstGeom prst="line">
            <a:avLst/>
          </a:prstGeom>
          <a:ln w="4445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C4-E01 text 10" descr="sci-ppt:o010"/>
          <p:cNvSpPr txBox="1"/>
          <p:nvPr/>
        </p:nvSpPr>
        <p:spPr>
          <a:xfrm>
            <a:off x="4160520" y="3611880"/>
            <a:ext cx="24688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normal part −p n</a:t>
            </a:r>
          </a:p>
        </p:txBody>
      </p:sp>
      <p:cxnSp>
        <p:nvCxnSpPr>
          <p:cNvPr id="13" name="C4-E01 arrow 11" descr="sci-ppt:o011"/>
          <p:cNvCxnSpPr/>
          <p:nvPr/>
        </p:nvCxnSpPr>
        <p:spPr>
          <a:xfrm>
            <a:off x="4572000" y="2834640"/>
            <a:ext cx="1280160" cy="0"/>
          </a:xfrm>
          <a:prstGeom prst="line">
            <a:avLst/>
          </a:prstGeom>
          <a:ln w="44450">
            <a:solidFill>
              <a:srgbClr val="7FC8F8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4-E01 text 12" descr="sci-ppt:o012"/>
          <p:cNvSpPr txBox="1"/>
          <p:nvPr/>
        </p:nvSpPr>
        <p:spPr>
          <a:xfrm>
            <a:off x="4572000" y="2331720"/>
            <a:ext cx="21945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7FC8F8"/>
                </a:solidFill>
                <a:latin typeface="Arial"/>
              </a:rPr>
              <a:t>shear part 2μ D·n</a:t>
            </a:r>
          </a:p>
        </p:txBody>
      </p:sp>
      <p:sp>
        <p:nvSpPr>
          <p:cNvPr id="15" name="C4-E01 text 13" descr="sci-ppt:o013"/>
          <p:cNvSpPr txBox="1"/>
          <p:nvPr/>
        </p:nvSpPr>
        <p:spPr>
          <a:xfrm>
            <a:off x="548640" y="4709160"/>
            <a:ext cx="6400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Dᵤ = (∇u + ∇uᵀ)/2,   Tₗ = −pI + 2μDᵤ,   tₗ = Tₗ n_f</a:t>
            </a:r>
          </a:p>
        </p:txBody>
      </p:sp>
      <p:sp>
        <p:nvSpPr>
          <p:cNvPr id="16" name="C4-E01 text 14" descr="sci-ppt:o014"/>
          <p:cNvSpPr txBox="1"/>
          <p:nvPr/>
        </p:nvSpPr>
        <p:spPr>
          <a:xfrm>
            <a:off x="548640" y="5166360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The normal fixes the sign: positive pressure presses on the film.</a:t>
            </a:r>
          </a:p>
        </p:txBody>
      </p:sp>
      <p:sp>
        <p:nvSpPr>
          <p:cNvPr id="17" name="C4-E01 round_rect 15" descr="sci-ppt:o015"/>
          <p:cNvSpPr/>
          <p:nvPr/>
        </p:nvSpPr>
        <p:spPr>
          <a:xfrm>
            <a:off x="7315200" y="914400"/>
            <a:ext cx="452628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4-E01 text 16" descr="sci-ppt:o016"/>
          <p:cNvSpPr txBox="1"/>
          <p:nvPr/>
        </p:nvSpPr>
        <p:spPr>
          <a:xfrm>
            <a:off x="7424927" y="969264"/>
            <a:ext cx="4306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parts of one traction</a:t>
            </a:r>
          </a:p>
        </p:txBody>
      </p:sp>
      <p:sp>
        <p:nvSpPr>
          <p:cNvPr id="19" name="C4-E01 text 17" descr="sci-ppt:o017"/>
          <p:cNvSpPr txBox="1"/>
          <p:nvPr/>
        </p:nvSpPr>
        <p:spPr>
          <a:xfrm>
            <a:off x="7452360" y="1572768"/>
            <a:ext cx="164591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pressure −p (Pa)</a:t>
            </a:r>
          </a:p>
        </p:txBody>
      </p:sp>
      <p:sp>
        <p:nvSpPr>
          <p:cNvPr id="20" name="C4-E01 rect 18" descr="sci-ppt:o018"/>
          <p:cNvSpPr/>
          <p:nvPr/>
        </p:nvSpPr>
        <p:spPr>
          <a:xfrm>
            <a:off x="9189720" y="1554480"/>
            <a:ext cx="1196678" cy="36576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4-E01 text 19" descr="sci-ppt:o019"/>
          <p:cNvSpPr txBox="1"/>
          <p:nvPr/>
        </p:nvSpPr>
        <p:spPr>
          <a:xfrm>
            <a:off x="10459550" y="1600200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4.72e+07</a:t>
            </a:r>
          </a:p>
        </p:txBody>
      </p:sp>
      <p:sp>
        <p:nvSpPr>
          <p:cNvPr id="22" name="C4-E01 text 20" descr="sci-ppt:o020"/>
          <p:cNvSpPr txBox="1"/>
          <p:nvPr/>
        </p:nvSpPr>
        <p:spPr>
          <a:xfrm>
            <a:off x="7452360" y="2167128"/>
            <a:ext cx="1645919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viscous 2μD (Pa)</a:t>
            </a:r>
          </a:p>
        </p:txBody>
      </p:sp>
      <p:sp>
        <p:nvSpPr>
          <p:cNvPr id="23" name="C4-E01 rect 21" descr="sci-ppt:o021"/>
          <p:cNvSpPr/>
          <p:nvPr/>
        </p:nvSpPr>
        <p:spPr>
          <a:xfrm>
            <a:off x="9189720" y="2148840"/>
            <a:ext cx="129334" cy="36576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4-E01 text 22" descr="sci-ppt:o022"/>
          <p:cNvSpPr txBox="1"/>
          <p:nvPr/>
        </p:nvSpPr>
        <p:spPr>
          <a:xfrm>
            <a:off x="9392206" y="2194560"/>
            <a:ext cx="13716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E7F0F3"/>
                </a:solidFill>
                <a:latin typeface="Arial"/>
              </a:rPr>
              <a:t>3.2e+03</a:t>
            </a:r>
          </a:p>
        </p:txBody>
      </p:sp>
      <p:sp>
        <p:nvSpPr>
          <p:cNvPr id="25" name="C4-E01 text 23" descr="sci-ppt:o023"/>
          <p:cNvSpPr txBox="1"/>
          <p:nvPr/>
        </p:nvSpPr>
        <p:spPr>
          <a:xfrm>
            <a:off x="7653528" y="2834640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Pressure acts along n; viscous stress adds 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tangential part.</a:t>
            </a:r>
          </a:p>
        </p:txBody>
      </p:sp>
      <p:sp>
        <p:nvSpPr>
          <p:cNvPr id="26" name="C4-E01 ellipse 24" descr="sci-ppt:o024"/>
          <p:cNvSpPr/>
          <p:nvPr/>
        </p:nvSpPr>
        <p:spPr>
          <a:xfrm>
            <a:off x="7484364" y="28879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4-E01 text 25" descr="sci-ppt:o025"/>
          <p:cNvSpPr txBox="1"/>
          <p:nvPr/>
        </p:nvSpPr>
        <p:spPr>
          <a:xfrm>
            <a:off x="7653528" y="3297936"/>
            <a:ext cx="4096512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For μ = 1 mPa s and strain rate 3×10⁶ s⁻¹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shear is thousands of Pa, far below the 47 MPa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contact scale.</a:t>
            </a:r>
          </a:p>
        </p:txBody>
      </p:sp>
      <p:sp>
        <p:nvSpPr>
          <p:cNvPr id="28" name="C4-E01 ellipse 26" descr="sci-ppt:o026"/>
          <p:cNvSpPr/>
          <p:nvPr/>
        </p:nvSpPr>
        <p:spPr>
          <a:xfrm>
            <a:off x="7484364" y="335127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4-E01 text 27" descr="sci-ppt:o027"/>
          <p:cNvSpPr txBox="1"/>
          <p:nvPr/>
        </p:nvSpPr>
        <p:spPr>
          <a:xfrm>
            <a:off x="7653528" y="3947160"/>
            <a:ext cx="409651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film feels the traction, not the liquid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velocity.</a:t>
            </a:r>
          </a:p>
        </p:txBody>
      </p:sp>
      <p:sp>
        <p:nvSpPr>
          <p:cNvPr id="30" name="C4-E01 ellipse 28" descr="sci-ppt:o028"/>
          <p:cNvSpPr/>
          <p:nvPr/>
        </p:nvSpPr>
        <p:spPr>
          <a:xfrm>
            <a:off x="7484364" y="400050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4-E01 text 29" descr="sci-ppt:o02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Newtonian traction of Eq. C4-E01; bar values are order-of-magnitude illustrations (log axis).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