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08 text 0" descr="sci-ppt:o000"/>
          <p:cNvSpPr txBox="1"/>
          <p:nvPr/>
        </p:nvSpPr>
        <p:spPr>
          <a:xfrm>
            <a:off x="274320" y="118872"/>
            <a:ext cx="11612880" cy="34010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900" b="1" i="0">
                <a:solidFill>
                  <a:srgbClr val="8EDBD4"/>
                </a:solidFill>
                <a:latin typeface="Arial"/>
              </a:rPr>
              <a:t>C3-E08 · Chain rule and integrating-factor derivation</a:t>
            </a:r>
          </a:p>
        </p:txBody>
      </p:sp>
      <p:cxnSp>
        <p:nvCxnSpPr>
          <p:cNvPr id="3" name="C3-E08 line 1" descr="sci-ppt:o001"/>
          <p:cNvCxnSpPr/>
          <p:nvPr/>
        </p:nvCxnSpPr>
        <p:spPr>
          <a:xfrm>
            <a:off x="6949440" y="4937760"/>
            <a:ext cx="4846319" cy="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4" name="C3-E08 line 2" descr="sci-ppt:o002"/>
          <p:cNvCxnSpPr/>
          <p:nvPr/>
        </p:nvCxnSpPr>
        <p:spPr>
          <a:xfrm>
            <a:off x="6949440" y="1371600"/>
            <a:ext cx="0" cy="3566160"/>
          </a:xfrm>
          <a:prstGeom prst="line">
            <a:avLst/>
          </a:prstGeom>
          <a:ln w="19050">
            <a:solidFill>
              <a:srgbClr val="B4C7D2"/>
            </a:solidFill>
          </a:ln>
          <a:effectLst/>
        </p:spPr>
      </p:cxnSp>
      <p:cxnSp>
        <p:nvCxnSpPr>
          <p:cNvPr id="5" name="C3-E08 line 3" descr="sci-ppt:o003"/>
          <p:cNvCxnSpPr/>
          <p:nvPr/>
        </p:nvCxnSpPr>
        <p:spPr>
          <a:xfrm>
            <a:off x="694944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6" name="C3-E08 line 4" descr="sci-ppt:o004"/>
          <p:cNvCxnSpPr/>
          <p:nvPr/>
        </p:nvCxnSpPr>
        <p:spPr>
          <a:xfrm>
            <a:off x="694944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7" name="C3-E08 text 5" descr="sci-ppt:o005"/>
          <p:cNvSpPr txBox="1"/>
          <p:nvPr/>
        </p:nvSpPr>
        <p:spPr>
          <a:xfrm>
            <a:off x="649224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0.2</a:t>
            </a:r>
          </a:p>
        </p:txBody>
      </p:sp>
      <p:cxnSp>
        <p:nvCxnSpPr>
          <p:cNvPr id="8" name="C3-E08 line 6" descr="sci-ppt:o006"/>
          <p:cNvCxnSpPr/>
          <p:nvPr/>
        </p:nvCxnSpPr>
        <p:spPr>
          <a:xfrm>
            <a:off x="816101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9" name="C3-E08 line 7" descr="sci-ppt:o007"/>
          <p:cNvCxnSpPr/>
          <p:nvPr/>
        </p:nvCxnSpPr>
        <p:spPr>
          <a:xfrm>
            <a:off x="816101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0" name="C3-E08 text 8" descr="sci-ppt:o008"/>
          <p:cNvSpPr txBox="1"/>
          <p:nvPr/>
        </p:nvSpPr>
        <p:spPr>
          <a:xfrm>
            <a:off x="770381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0.4</a:t>
            </a:r>
          </a:p>
        </p:txBody>
      </p:sp>
      <p:cxnSp>
        <p:nvCxnSpPr>
          <p:cNvPr id="11" name="C3-E08 line 9" descr="sci-ppt:o009"/>
          <p:cNvCxnSpPr/>
          <p:nvPr/>
        </p:nvCxnSpPr>
        <p:spPr>
          <a:xfrm>
            <a:off x="937260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2" name="C3-E08 line 10" descr="sci-ppt:o010"/>
          <p:cNvCxnSpPr/>
          <p:nvPr/>
        </p:nvCxnSpPr>
        <p:spPr>
          <a:xfrm>
            <a:off x="937260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3" name="C3-E08 text 11" descr="sci-ppt:o011"/>
          <p:cNvSpPr txBox="1"/>
          <p:nvPr/>
        </p:nvSpPr>
        <p:spPr>
          <a:xfrm>
            <a:off x="891540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0.6</a:t>
            </a:r>
          </a:p>
        </p:txBody>
      </p:sp>
      <p:cxnSp>
        <p:nvCxnSpPr>
          <p:cNvPr id="14" name="C3-E08 line 12" descr="sci-ppt:o012"/>
          <p:cNvCxnSpPr/>
          <p:nvPr/>
        </p:nvCxnSpPr>
        <p:spPr>
          <a:xfrm>
            <a:off x="10584180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5" name="C3-E08 line 13" descr="sci-ppt:o013"/>
          <p:cNvCxnSpPr/>
          <p:nvPr/>
        </p:nvCxnSpPr>
        <p:spPr>
          <a:xfrm>
            <a:off x="10584180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6" name="C3-E08 text 14" descr="sci-ppt:o014"/>
          <p:cNvSpPr txBox="1"/>
          <p:nvPr/>
        </p:nvSpPr>
        <p:spPr>
          <a:xfrm>
            <a:off x="10126980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0.8</a:t>
            </a:r>
          </a:p>
        </p:txBody>
      </p:sp>
      <p:cxnSp>
        <p:nvCxnSpPr>
          <p:cNvPr id="17" name="C3-E08 line 15" descr="sci-ppt:o015"/>
          <p:cNvCxnSpPr/>
          <p:nvPr/>
        </p:nvCxnSpPr>
        <p:spPr>
          <a:xfrm>
            <a:off x="11795759" y="4937760"/>
            <a:ext cx="0" cy="64008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18" name="C3-E08 line 16" descr="sci-ppt:o016"/>
          <p:cNvCxnSpPr/>
          <p:nvPr/>
        </p:nvCxnSpPr>
        <p:spPr>
          <a:xfrm>
            <a:off x="11795759" y="1371600"/>
            <a:ext cx="0" cy="356616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19" name="C3-E08 text 17" descr="sci-ppt:o017"/>
          <p:cNvSpPr txBox="1"/>
          <p:nvPr/>
        </p:nvSpPr>
        <p:spPr>
          <a:xfrm>
            <a:off x="11338559" y="5020056"/>
            <a:ext cx="91440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1.0</a:t>
            </a:r>
          </a:p>
        </p:txBody>
      </p:sp>
      <p:cxnSp>
        <p:nvCxnSpPr>
          <p:cNvPr id="20" name="C3-E08 line 18" descr="sci-ppt:o018"/>
          <p:cNvCxnSpPr/>
          <p:nvPr/>
        </p:nvCxnSpPr>
        <p:spPr>
          <a:xfrm>
            <a:off x="6885431" y="493776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1" name="C3-E08 line 19" descr="sci-ppt:o019"/>
          <p:cNvCxnSpPr/>
          <p:nvPr/>
        </p:nvCxnSpPr>
        <p:spPr>
          <a:xfrm>
            <a:off x="6885431" y="404622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2" name="C3-E08 line 20" descr="sci-ppt:o020"/>
          <p:cNvCxnSpPr/>
          <p:nvPr/>
        </p:nvCxnSpPr>
        <p:spPr>
          <a:xfrm>
            <a:off x="6949440" y="4046220"/>
            <a:ext cx="484631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3" name="C3-E08 text 21" descr="sci-ppt:o021"/>
          <p:cNvSpPr txBox="1"/>
          <p:nvPr/>
        </p:nvSpPr>
        <p:spPr>
          <a:xfrm>
            <a:off x="6080759" y="396392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4</a:t>
            </a:r>
          </a:p>
        </p:txBody>
      </p:sp>
      <p:cxnSp>
        <p:nvCxnSpPr>
          <p:cNvPr id="24" name="C3-E08 line 22" descr="sci-ppt:o022"/>
          <p:cNvCxnSpPr/>
          <p:nvPr/>
        </p:nvCxnSpPr>
        <p:spPr>
          <a:xfrm>
            <a:off x="6885431" y="315468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5" name="C3-E08 line 23" descr="sci-ppt:o023"/>
          <p:cNvCxnSpPr/>
          <p:nvPr/>
        </p:nvCxnSpPr>
        <p:spPr>
          <a:xfrm>
            <a:off x="6949440" y="3154680"/>
            <a:ext cx="484631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6" name="C3-E08 text 24" descr="sci-ppt:o024"/>
          <p:cNvSpPr txBox="1"/>
          <p:nvPr/>
        </p:nvSpPr>
        <p:spPr>
          <a:xfrm>
            <a:off x="6080759" y="307238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8</a:t>
            </a:r>
          </a:p>
        </p:txBody>
      </p:sp>
      <p:cxnSp>
        <p:nvCxnSpPr>
          <p:cNvPr id="27" name="C3-E08 line 25" descr="sci-ppt:o025"/>
          <p:cNvCxnSpPr/>
          <p:nvPr/>
        </p:nvCxnSpPr>
        <p:spPr>
          <a:xfrm>
            <a:off x="6885431" y="226314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28" name="C3-E08 line 26" descr="sci-ppt:o026"/>
          <p:cNvCxnSpPr/>
          <p:nvPr/>
        </p:nvCxnSpPr>
        <p:spPr>
          <a:xfrm>
            <a:off x="6949440" y="2263140"/>
            <a:ext cx="484631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29" name="C3-E08 text 27" descr="sci-ppt:o027"/>
          <p:cNvSpPr txBox="1"/>
          <p:nvPr/>
        </p:nvSpPr>
        <p:spPr>
          <a:xfrm>
            <a:off x="6080759" y="218084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12</a:t>
            </a:r>
          </a:p>
        </p:txBody>
      </p:sp>
      <p:cxnSp>
        <p:nvCxnSpPr>
          <p:cNvPr id="30" name="C3-E08 line 28" descr="sci-ppt:o028"/>
          <p:cNvCxnSpPr/>
          <p:nvPr/>
        </p:nvCxnSpPr>
        <p:spPr>
          <a:xfrm>
            <a:off x="6885431" y="1371600"/>
            <a:ext cx="64009" cy="0"/>
          </a:xfrm>
          <a:prstGeom prst="line">
            <a:avLst/>
          </a:prstGeom>
          <a:ln w="12700">
            <a:solidFill>
              <a:srgbClr val="B4C7D2"/>
            </a:solidFill>
          </a:ln>
          <a:effectLst/>
        </p:spPr>
      </p:cxnSp>
      <p:cxnSp>
        <p:nvCxnSpPr>
          <p:cNvPr id="31" name="C3-E08 line 29" descr="sci-ppt:o029"/>
          <p:cNvCxnSpPr/>
          <p:nvPr/>
        </p:nvCxnSpPr>
        <p:spPr>
          <a:xfrm>
            <a:off x="6949440" y="1371600"/>
            <a:ext cx="4846319" cy="0"/>
          </a:xfrm>
          <a:prstGeom prst="line">
            <a:avLst/>
          </a:prstGeom>
          <a:ln w="7620">
            <a:solidFill>
              <a:srgbClr val="2E4756"/>
            </a:solidFill>
          </a:ln>
          <a:effectLst/>
        </p:spPr>
      </p:cxnSp>
      <p:sp>
        <p:nvSpPr>
          <p:cNvPr id="32" name="C3-E08 text 30" descr="sci-ppt:o030"/>
          <p:cNvSpPr txBox="1"/>
          <p:nvPr/>
        </p:nvSpPr>
        <p:spPr>
          <a:xfrm>
            <a:off x="6080759" y="1289304"/>
            <a:ext cx="777240" cy="208407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r">
              <a:spcAft>
                <a:spcPts val="0"/>
              </a:spcAft>
            </a:pPr>
            <a:r>
              <a:rPr sz="1050" b="0" i="0">
                <a:solidFill>
                  <a:srgbClr val="B4C7D2"/>
                </a:solidFill>
                <a:latin typeface="Arial"/>
              </a:rPr>
              <a:t>16</a:t>
            </a:r>
          </a:p>
        </p:txBody>
      </p:sp>
      <p:sp>
        <p:nvSpPr>
          <p:cNvPr id="33" name="C3-E08 text 31" descr="sci-ppt:o031"/>
          <p:cNvSpPr txBox="1"/>
          <p:nvPr/>
        </p:nvSpPr>
        <p:spPr>
          <a:xfrm>
            <a:off x="6949440" y="5221224"/>
            <a:ext cx="4846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x = R / Rₘₐₓ</a:t>
            </a:r>
          </a:p>
        </p:txBody>
      </p:sp>
      <p:sp>
        <p:nvSpPr>
          <p:cNvPr id="34" name="C3-E08 text 32" descr="sci-ppt:o032"/>
          <p:cNvSpPr txBox="1"/>
          <p:nvPr/>
        </p:nvSpPr>
        <p:spPr>
          <a:xfrm>
            <a:off x="6400800" y="1024128"/>
            <a:ext cx="48463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coefficient × Rₘₐₓ</a:t>
            </a:r>
          </a:p>
        </p:txBody>
      </p:sp>
      <p:sp>
        <p:nvSpPr>
          <p:cNvPr id="35" name="C3-E08 polygon 33" descr="sci-ppt:o033"/>
          <p:cNvSpPr/>
          <p:nvPr/>
        </p:nvSpPr>
        <p:spPr>
          <a:xfrm>
            <a:off x="6970916" y="1467524"/>
            <a:ext cx="4824843" cy="2690138"/>
          </a:xfrm>
          <a:custGeom>
            <a:avLst/>
            <a:gdLst/>
            <a:ahLst/>
            <a:cxnLst/>
            <a:rect l="l" t="t" r="r" b="b"/>
            <a:pathLst>
              <a:path w="4824843" h="2690138">
                <a:moveTo>
                  <a:pt x="0" y="0"/>
                </a:moveTo>
                <a:lnTo>
                  <a:pt x="39710" y="103497"/>
                </a:lnTo>
                <a:lnTo>
                  <a:pt x="79421" y="200782"/>
                </a:lnTo>
                <a:lnTo>
                  <a:pt x="119132" y="292400"/>
                </a:lnTo>
                <a:lnTo>
                  <a:pt x="158842" y="378836"/>
                </a:lnTo>
                <a:lnTo>
                  <a:pt x="198553" y="460520"/>
                </a:lnTo>
                <a:lnTo>
                  <a:pt x="238264" y="537837"/>
                </a:lnTo>
                <a:lnTo>
                  <a:pt x="277974" y="611130"/>
                </a:lnTo>
                <a:lnTo>
                  <a:pt x="317685" y="680707"/>
                </a:lnTo>
                <a:lnTo>
                  <a:pt x="357396" y="746847"/>
                </a:lnTo>
                <a:lnTo>
                  <a:pt x="397106" y="809800"/>
                </a:lnTo>
                <a:lnTo>
                  <a:pt x="436817" y="869793"/>
                </a:lnTo>
                <a:lnTo>
                  <a:pt x="476527" y="927032"/>
                </a:lnTo>
                <a:lnTo>
                  <a:pt x="516238" y="981703"/>
                </a:lnTo>
                <a:lnTo>
                  <a:pt x="555949" y="1033977"/>
                </a:lnTo>
                <a:lnTo>
                  <a:pt x="595659" y="1084011"/>
                </a:lnTo>
                <a:lnTo>
                  <a:pt x="635370" y="1131945"/>
                </a:lnTo>
                <a:lnTo>
                  <a:pt x="675081" y="1177912"/>
                </a:lnTo>
                <a:lnTo>
                  <a:pt x="714791" y="1222031"/>
                </a:lnTo>
                <a:lnTo>
                  <a:pt x="754502" y="1264412"/>
                </a:lnTo>
                <a:lnTo>
                  <a:pt x="794213" y="1305157"/>
                </a:lnTo>
                <a:lnTo>
                  <a:pt x="833923" y="1344360"/>
                </a:lnTo>
                <a:lnTo>
                  <a:pt x="873634" y="1382108"/>
                </a:lnTo>
                <a:lnTo>
                  <a:pt x="913345" y="1418481"/>
                </a:lnTo>
                <a:lnTo>
                  <a:pt x="953055" y="1453555"/>
                </a:lnTo>
                <a:lnTo>
                  <a:pt x="992766" y="1487397"/>
                </a:lnTo>
                <a:lnTo>
                  <a:pt x="1032477" y="1520073"/>
                </a:lnTo>
                <a:lnTo>
                  <a:pt x="1072187" y="1551643"/>
                </a:lnTo>
                <a:lnTo>
                  <a:pt x="1111898" y="1582163"/>
                </a:lnTo>
                <a:lnTo>
                  <a:pt x="1151608" y="1611684"/>
                </a:lnTo>
                <a:lnTo>
                  <a:pt x="1191319" y="1640255"/>
                </a:lnTo>
                <a:lnTo>
                  <a:pt x="1231030" y="1667923"/>
                </a:lnTo>
                <a:lnTo>
                  <a:pt x="1270740" y="1694730"/>
                </a:lnTo>
                <a:lnTo>
                  <a:pt x="1310451" y="1720716"/>
                </a:lnTo>
                <a:lnTo>
                  <a:pt x="1350162" y="1745919"/>
                </a:lnTo>
                <a:lnTo>
                  <a:pt x="1389872" y="1770374"/>
                </a:lnTo>
                <a:lnTo>
                  <a:pt x="1429583" y="1794115"/>
                </a:lnTo>
                <a:lnTo>
                  <a:pt x="1469294" y="1817172"/>
                </a:lnTo>
                <a:lnTo>
                  <a:pt x="1509004" y="1839575"/>
                </a:lnTo>
                <a:lnTo>
                  <a:pt x="1548715" y="1861352"/>
                </a:lnTo>
                <a:lnTo>
                  <a:pt x="1588426" y="1882529"/>
                </a:lnTo>
                <a:lnTo>
                  <a:pt x="1628136" y="1903132"/>
                </a:lnTo>
                <a:lnTo>
                  <a:pt x="1667847" y="1923183"/>
                </a:lnTo>
                <a:lnTo>
                  <a:pt x="1707558" y="1942704"/>
                </a:lnTo>
                <a:lnTo>
                  <a:pt x="1747268" y="1961717"/>
                </a:lnTo>
                <a:lnTo>
                  <a:pt x="1786979" y="1980242"/>
                </a:lnTo>
                <a:lnTo>
                  <a:pt x="1826690" y="1998297"/>
                </a:lnTo>
                <a:lnTo>
                  <a:pt x="1866400" y="2015901"/>
                </a:lnTo>
                <a:lnTo>
                  <a:pt x="1906111" y="2033070"/>
                </a:lnTo>
                <a:lnTo>
                  <a:pt x="1945821" y="2049820"/>
                </a:lnTo>
                <a:lnTo>
                  <a:pt x="1985532" y="2066167"/>
                </a:lnTo>
                <a:lnTo>
                  <a:pt x="2025243" y="2082126"/>
                </a:lnTo>
                <a:lnTo>
                  <a:pt x="2064953" y="2097710"/>
                </a:lnTo>
                <a:lnTo>
                  <a:pt x="2104664" y="2112932"/>
                </a:lnTo>
                <a:lnTo>
                  <a:pt x="2144375" y="2127806"/>
                </a:lnTo>
                <a:lnTo>
                  <a:pt x="2184085" y="2142343"/>
                </a:lnTo>
                <a:lnTo>
                  <a:pt x="2223796" y="2156555"/>
                </a:lnTo>
                <a:lnTo>
                  <a:pt x="2263507" y="2170453"/>
                </a:lnTo>
                <a:lnTo>
                  <a:pt x="2303217" y="2184047"/>
                </a:lnTo>
                <a:lnTo>
                  <a:pt x="2342928" y="2197347"/>
                </a:lnTo>
                <a:lnTo>
                  <a:pt x="2382639" y="2210363"/>
                </a:lnTo>
                <a:lnTo>
                  <a:pt x="2422349" y="2223104"/>
                </a:lnTo>
                <a:lnTo>
                  <a:pt x="2462060" y="2235579"/>
                </a:lnTo>
                <a:lnTo>
                  <a:pt x="2501771" y="2247796"/>
                </a:lnTo>
                <a:lnTo>
                  <a:pt x="2541481" y="2259763"/>
                </a:lnTo>
                <a:lnTo>
                  <a:pt x="2581192" y="2271488"/>
                </a:lnTo>
                <a:lnTo>
                  <a:pt x="2620902" y="2282978"/>
                </a:lnTo>
                <a:lnTo>
                  <a:pt x="2660613" y="2294241"/>
                </a:lnTo>
                <a:lnTo>
                  <a:pt x="2700324" y="2305283"/>
                </a:lnTo>
                <a:lnTo>
                  <a:pt x="2740034" y="2316111"/>
                </a:lnTo>
                <a:lnTo>
                  <a:pt x="2779745" y="2326731"/>
                </a:lnTo>
                <a:lnTo>
                  <a:pt x="2819456" y="2337149"/>
                </a:lnTo>
                <a:lnTo>
                  <a:pt x="2859166" y="2347371"/>
                </a:lnTo>
                <a:lnTo>
                  <a:pt x="2898877" y="2357403"/>
                </a:lnTo>
                <a:lnTo>
                  <a:pt x="2938588" y="2367249"/>
                </a:lnTo>
                <a:lnTo>
                  <a:pt x="2978298" y="2376915"/>
                </a:lnTo>
                <a:lnTo>
                  <a:pt x="3018009" y="2386407"/>
                </a:lnTo>
                <a:lnTo>
                  <a:pt x="3057720" y="2395728"/>
                </a:lnTo>
                <a:lnTo>
                  <a:pt x="3097430" y="2404883"/>
                </a:lnTo>
                <a:lnTo>
                  <a:pt x="3137141" y="2413878"/>
                </a:lnTo>
                <a:lnTo>
                  <a:pt x="3176852" y="2422715"/>
                </a:lnTo>
                <a:lnTo>
                  <a:pt x="3216562" y="2431400"/>
                </a:lnTo>
                <a:lnTo>
                  <a:pt x="3256273" y="2439937"/>
                </a:lnTo>
                <a:lnTo>
                  <a:pt x="3295984" y="2448328"/>
                </a:lnTo>
                <a:lnTo>
                  <a:pt x="3335694" y="2456578"/>
                </a:lnTo>
                <a:lnTo>
                  <a:pt x="3375405" y="2464691"/>
                </a:lnTo>
                <a:lnTo>
                  <a:pt x="3415115" y="2472670"/>
                </a:lnTo>
                <a:lnTo>
                  <a:pt x="3454826" y="2480518"/>
                </a:lnTo>
                <a:lnTo>
                  <a:pt x="3494537" y="2488238"/>
                </a:lnTo>
                <a:lnTo>
                  <a:pt x="3534247" y="2495835"/>
                </a:lnTo>
                <a:lnTo>
                  <a:pt x="3573958" y="2503310"/>
                </a:lnTo>
                <a:lnTo>
                  <a:pt x="3613669" y="2510666"/>
                </a:lnTo>
                <a:lnTo>
                  <a:pt x="3653379" y="2517907"/>
                </a:lnTo>
                <a:lnTo>
                  <a:pt x="3693090" y="2525036"/>
                </a:lnTo>
                <a:lnTo>
                  <a:pt x="3732801" y="2532054"/>
                </a:lnTo>
                <a:lnTo>
                  <a:pt x="3772511" y="2538965"/>
                </a:lnTo>
                <a:lnTo>
                  <a:pt x="3812222" y="2545771"/>
                </a:lnTo>
                <a:lnTo>
                  <a:pt x="3851933" y="2552474"/>
                </a:lnTo>
                <a:lnTo>
                  <a:pt x="3891643" y="2559077"/>
                </a:lnTo>
                <a:lnTo>
                  <a:pt x="3931354" y="2565582"/>
                </a:lnTo>
                <a:lnTo>
                  <a:pt x="3971065" y="2571991"/>
                </a:lnTo>
                <a:lnTo>
                  <a:pt x="4010775" y="2578307"/>
                </a:lnTo>
                <a:lnTo>
                  <a:pt x="4050486" y="2584531"/>
                </a:lnTo>
                <a:lnTo>
                  <a:pt x="4090196" y="2590665"/>
                </a:lnTo>
                <a:lnTo>
                  <a:pt x="4129907" y="2596712"/>
                </a:lnTo>
                <a:lnTo>
                  <a:pt x="4169618" y="2602673"/>
                </a:lnTo>
                <a:lnTo>
                  <a:pt x="4209328" y="2608551"/>
                </a:lnTo>
                <a:lnTo>
                  <a:pt x="4249039" y="2614346"/>
                </a:lnTo>
                <a:lnTo>
                  <a:pt x="4288750" y="2620061"/>
                </a:lnTo>
                <a:lnTo>
                  <a:pt x="4328460" y="2625698"/>
                </a:lnTo>
                <a:lnTo>
                  <a:pt x="4368171" y="2631257"/>
                </a:lnTo>
                <a:lnTo>
                  <a:pt x="4407882" y="2636741"/>
                </a:lnTo>
                <a:lnTo>
                  <a:pt x="4447592" y="2642151"/>
                </a:lnTo>
                <a:lnTo>
                  <a:pt x="4487303" y="2647489"/>
                </a:lnTo>
                <a:lnTo>
                  <a:pt x="4527014" y="2652756"/>
                </a:lnTo>
                <a:lnTo>
                  <a:pt x="4566724" y="2657954"/>
                </a:lnTo>
                <a:lnTo>
                  <a:pt x="4606435" y="2663083"/>
                </a:lnTo>
                <a:lnTo>
                  <a:pt x="4646146" y="2668146"/>
                </a:lnTo>
                <a:lnTo>
                  <a:pt x="4685856" y="2673143"/>
                </a:lnTo>
                <a:lnTo>
                  <a:pt x="4725567" y="2678077"/>
                </a:lnTo>
                <a:lnTo>
                  <a:pt x="4765278" y="2682947"/>
                </a:lnTo>
                <a:lnTo>
                  <a:pt x="4804988" y="2687756"/>
                </a:lnTo>
                <a:lnTo>
                  <a:pt x="4824843" y="2690138"/>
                </a:lnTo>
              </a:path>
            </a:pathLst>
          </a:custGeom>
          <a:noFill/>
          <a:ln w="38100">
            <a:solidFill>
              <a:srgbClr val="F2B88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C3-E08 polygon 34" descr="sci-ppt:o034"/>
          <p:cNvSpPr/>
          <p:nvPr/>
        </p:nvSpPr>
        <p:spPr>
          <a:xfrm>
            <a:off x="6970916" y="1652714"/>
            <a:ext cx="4824843" cy="2616391"/>
          </a:xfrm>
          <a:custGeom>
            <a:avLst/>
            <a:gdLst/>
            <a:ahLst/>
            <a:cxnLst/>
            <a:rect l="l" t="t" r="r" b="b"/>
            <a:pathLst>
              <a:path w="4824843" h="2616391">
                <a:moveTo>
                  <a:pt x="0" y="0"/>
                </a:moveTo>
                <a:lnTo>
                  <a:pt x="39710" y="102495"/>
                </a:lnTo>
                <a:lnTo>
                  <a:pt x="79421" y="198787"/>
                </a:lnTo>
                <a:lnTo>
                  <a:pt x="119132" y="289423"/>
                </a:lnTo>
                <a:lnTo>
                  <a:pt x="158842" y="374888"/>
                </a:lnTo>
                <a:lnTo>
                  <a:pt x="198553" y="455611"/>
                </a:lnTo>
                <a:lnTo>
                  <a:pt x="238264" y="531977"/>
                </a:lnTo>
                <a:lnTo>
                  <a:pt x="277974" y="604329"/>
                </a:lnTo>
                <a:lnTo>
                  <a:pt x="317685" y="672975"/>
                </a:lnTo>
                <a:lnTo>
                  <a:pt x="357396" y="738194"/>
                </a:lnTo>
                <a:lnTo>
                  <a:pt x="397106" y="800235"/>
                </a:lnTo>
                <a:lnTo>
                  <a:pt x="436817" y="859325"/>
                </a:lnTo>
                <a:lnTo>
                  <a:pt x="476527" y="915671"/>
                </a:lnTo>
                <a:lnTo>
                  <a:pt x="516238" y="969458"/>
                </a:lnTo>
                <a:lnTo>
                  <a:pt x="555949" y="1020857"/>
                </a:lnTo>
                <a:lnTo>
                  <a:pt x="595659" y="1070024"/>
                </a:lnTo>
                <a:lnTo>
                  <a:pt x="635370" y="1117101"/>
                </a:lnTo>
                <a:lnTo>
                  <a:pt x="675081" y="1162219"/>
                </a:lnTo>
                <a:lnTo>
                  <a:pt x="714791" y="1205496"/>
                </a:lnTo>
                <a:lnTo>
                  <a:pt x="754502" y="1247045"/>
                </a:lnTo>
                <a:lnTo>
                  <a:pt x="794213" y="1286966"/>
                </a:lnTo>
                <a:lnTo>
                  <a:pt x="833923" y="1325353"/>
                </a:lnTo>
                <a:lnTo>
                  <a:pt x="873634" y="1362293"/>
                </a:lnTo>
                <a:lnTo>
                  <a:pt x="913345" y="1397866"/>
                </a:lnTo>
                <a:lnTo>
                  <a:pt x="953055" y="1432146"/>
                </a:lnTo>
                <a:lnTo>
                  <a:pt x="992766" y="1465203"/>
                </a:lnTo>
                <a:lnTo>
                  <a:pt x="1032477" y="1497102"/>
                </a:lnTo>
                <a:lnTo>
                  <a:pt x="1072187" y="1527901"/>
                </a:lnTo>
                <a:lnTo>
                  <a:pt x="1111898" y="1557658"/>
                </a:lnTo>
                <a:lnTo>
                  <a:pt x="1151608" y="1586423"/>
                </a:lnTo>
                <a:lnTo>
                  <a:pt x="1191319" y="1614246"/>
                </a:lnTo>
                <a:lnTo>
                  <a:pt x="1231030" y="1641172"/>
                </a:lnTo>
                <a:lnTo>
                  <a:pt x="1270740" y="1667245"/>
                </a:lnTo>
                <a:lnTo>
                  <a:pt x="1310451" y="1692503"/>
                </a:lnTo>
                <a:lnTo>
                  <a:pt x="1350162" y="1716984"/>
                </a:lnTo>
                <a:lnTo>
                  <a:pt x="1389872" y="1740724"/>
                </a:lnTo>
                <a:lnTo>
                  <a:pt x="1429583" y="1763756"/>
                </a:lnTo>
                <a:lnTo>
                  <a:pt x="1469294" y="1786111"/>
                </a:lnTo>
                <a:lnTo>
                  <a:pt x="1509004" y="1807819"/>
                </a:lnTo>
                <a:lnTo>
                  <a:pt x="1548715" y="1828907"/>
                </a:lnTo>
                <a:lnTo>
                  <a:pt x="1588426" y="1849401"/>
                </a:lnTo>
                <a:lnTo>
                  <a:pt x="1628136" y="1869326"/>
                </a:lnTo>
                <a:lnTo>
                  <a:pt x="1667847" y="1888706"/>
                </a:lnTo>
                <a:lnTo>
                  <a:pt x="1707558" y="1907563"/>
                </a:lnTo>
                <a:lnTo>
                  <a:pt x="1747268" y="1925917"/>
                </a:lnTo>
                <a:lnTo>
                  <a:pt x="1786979" y="1943788"/>
                </a:lnTo>
                <a:lnTo>
                  <a:pt x="1826690" y="1961195"/>
                </a:lnTo>
                <a:lnTo>
                  <a:pt x="1866400" y="1978157"/>
                </a:lnTo>
                <a:lnTo>
                  <a:pt x="1906111" y="1994689"/>
                </a:lnTo>
                <a:lnTo>
                  <a:pt x="1945821" y="2010808"/>
                </a:lnTo>
                <a:lnTo>
                  <a:pt x="1985532" y="2026530"/>
                </a:lnTo>
                <a:lnTo>
                  <a:pt x="2025243" y="2041868"/>
                </a:lnTo>
                <a:lnTo>
                  <a:pt x="2064953" y="2056837"/>
                </a:lnTo>
                <a:lnTo>
                  <a:pt x="2104664" y="2071449"/>
                </a:lnTo>
                <a:lnTo>
                  <a:pt x="2144375" y="2085718"/>
                </a:lnTo>
                <a:lnTo>
                  <a:pt x="2184085" y="2099656"/>
                </a:lnTo>
                <a:lnTo>
                  <a:pt x="2223796" y="2113273"/>
                </a:lnTo>
                <a:lnTo>
                  <a:pt x="2263507" y="2126581"/>
                </a:lnTo>
                <a:lnTo>
                  <a:pt x="2303217" y="2139590"/>
                </a:lnTo>
                <a:lnTo>
                  <a:pt x="2342928" y="2152310"/>
                </a:lnTo>
                <a:lnTo>
                  <a:pt x="2382639" y="2164751"/>
                </a:lnTo>
                <a:lnTo>
                  <a:pt x="2422349" y="2176921"/>
                </a:lnTo>
                <a:lnTo>
                  <a:pt x="2462060" y="2188830"/>
                </a:lnTo>
                <a:lnTo>
                  <a:pt x="2501771" y="2200485"/>
                </a:lnTo>
                <a:lnTo>
                  <a:pt x="2541481" y="2211896"/>
                </a:lnTo>
                <a:lnTo>
                  <a:pt x="2581192" y="2223068"/>
                </a:lnTo>
                <a:lnTo>
                  <a:pt x="2620902" y="2234011"/>
                </a:lnTo>
                <a:lnTo>
                  <a:pt x="2660613" y="2244730"/>
                </a:lnTo>
                <a:lnTo>
                  <a:pt x="2700324" y="2255233"/>
                </a:lnTo>
                <a:lnTo>
                  <a:pt x="2740034" y="2265526"/>
                </a:lnTo>
                <a:lnTo>
                  <a:pt x="2779745" y="2275615"/>
                </a:lnTo>
                <a:lnTo>
                  <a:pt x="2819456" y="2285506"/>
                </a:lnTo>
                <a:lnTo>
                  <a:pt x="2859166" y="2295206"/>
                </a:lnTo>
                <a:lnTo>
                  <a:pt x="2898877" y="2304719"/>
                </a:lnTo>
                <a:lnTo>
                  <a:pt x="2938588" y="2314051"/>
                </a:lnTo>
                <a:lnTo>
                  <a:pt x="2978298" y="2323207"/>
                </a:lnTo>
                <a:lnTo>
                  <a:pt x="3018009" y="2332191"/>
                </a:lnTo>
                <a:lnTo>
                  <a:pt x="3057720" y="2341010"/>
                </a:lnTo>
                <a:lnTo>
                  <a:pt x="3097430" y="2349667"/>
                </a:lnTo>
                <a:lnTo>
                  <a:pt x="3137141" y="2358166"/>
                </a:lnTo>
                <a:lnTo>
                  <a:pt x="3176852" y="2366513"/>
                </a:lnTo>
                <a:lnTo>
                  <a:pt x="3216562" y="2374710"/>
                </a:lnTo>
                <a:lnTo>
                  <a:pt x="3256273" y="2382763"/>
                </a:lnTo>
                <a:lnTo>
                  <a:pt x="3295984" y="2390674"/>
                </a:lnTo>
                <a:lnTo>
                  <a:pt x="3335694" y="2398448"/>
                </a:lnTo>
                <a:lnTo>
                  <a:pt x="3375405" y="2406087"/>
                </a:lnTo>
                <a:lnTo>
                  <a:pt x="3415115" y="2413596"/>
                </a:lnTo>
                <a:lnTo>
                  <a:pt x="3454826" y="2420978"/>
                </a:lnTo>
                <a:lnTo>
                  <a:pt x="3494537" y="2428236"/>
                </a:lnTo>
                <a:lnTo>
                  <a:pt x="3534247" y="2435373"/>
                </a:lnTo>
                <a:lnTo>
                  <a:pt x="3573958" y="2442393"/>
                </a:lnTo>
                <a:lnTo>
                  <a:pt x="3613669" y="2449297"/>
                </a:lnTo>
                <a:lnTo>
                  <a:pt x="3653379" y="2456089"/>
                </a:lnTo>
                <a:lnTo>
                  <a:pt x="3693090" y="2462771"/>
                </a:lnTo>
                <a:lnTo>
                  <a:pt x="3732801" y="2469346"/>
                </a:lnTo>
                <a:lnTo>
                  <a:pt x="3772511" y="2475818"/>
                </a:lnTo>
                <a:lnTo>
                  <a:pt x="3812222" y="2482187"/>
                </a:lnTo>
                <a:lnTo>
                  <a:pt x="3851933" y="2488457"/>
                </a:lnTo>
                <a:lnTo>
                  <a:pt x="3891643" y="2494629"/>
                </a:lnTo>
                <a:lnTo>
                  <a:pt x="3931354" y="2500707"/>
                </a:lnTo>
                <a:lnTo>
                  <a:pt x="3971065" y="2506692"/>
                </a:lnTo>
                <a:lnTo>
                  <a:pt x="4010775" y="2512586"/>
                </a:lnTo>
                <a:lnTo>
                  <a:pt x="4050486" y="2518392"/>
                </a:lnTo>
                <a:lnTo>
                  <a:pt x="4090196" y="2524111"/>
                </a:lnTo>
                <a:lnTo>
                  <a:pt x="4129907" y="2529746"/>
                </a:lnTo>
                <a:lnTo>
                  <a:pt x="4169618" y="2535297"/>
                </a:lnTo>
                <a:lnTo>
                  <a:pt x="4209328" y="2540768"/>
                </a:lnTo>
                <a:lnTo>
                  <a:pt x="4249039" y="2546159"/>
                </a:lnTo>
                <a:lnTo>
                  <a:pt x="4288750" y="2551473"/>
                </a:lnTo>
                <a:lnTo>
                  <a:pt x="4328460" y="2556711"/>
                </a:lnTo>
                <a:lnTo>
                  <a:pt x="4368171" y="2561875"/>
                </a:lnTo>
                <a:lnTo>
                  <a:pt x="4407882" y="2566965"/>
                </a:lnTo>
                <a:lnTo>
                  <a:pt x="4447592" y="2571985"/>
                </a:lnTo>
                <a:lnTo>
                  <a:pt x="4487303" y="2576935"/>
                </a:lnTo>
                <a:lnTo>
                  <a:pt x="4527014" y="2581817"/>
                </a:lnTo>
                <a:lnTo>
                  <a:pt x="4566724" y="2586632"/>
                </a:lnTo>
                <a:lnTo>
                  <a:pt x="4606435" y="2591381"/>
                </a:lnTo>
                <a:lnTo>
                  <a:pt x="4646146" y="2596067"/>
                </a:lnTo>
                <a:lnTo>
                  <a:pt x="4685856" y="2600689"/>
                </a:lnTo>
                <a:lnTo>
                  <a:pt x="4725567" y="2605250"/>
                </a:lnTo>
                <a:lnTo>
                  <a:pt x="4765278" y="2609750"/>
                </a:lnTo>
                <a:lnTo>
                  <a:pt x="4804988" y="2614192"/>
                </a:lnTo>
                <a:lnTo>
                  <a:pt x="4824843" y="2616391"/>
                </a:lnTo>
              </a:path>
            </a:pathLst>
          </a:custGeom>
          <a:noFill/>
          <a:ln w="25400">
            <a:solidFill>
              <a:srgbClr val="8EDBD4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C3-E08 polygon 35" descr="sci-ppt:o035"/>
          <p:cNvSpPr/>
          <p:nvPr/>
        </p:nvSpPr>
        <p:spPr>
          <a:xfrm>
            <a:off x="6970916" y="4752569"/>
            <a:ext cx="4824843" cy="73748"/>
          </a:xfrm>
          <a:custGeom>
            <a:avLst/>
            <a:gdLst/>
            <a:ahLst/>
            <a:cxnLst/>
            <a:rect l="l" t="t" r="r" b="b"/>
            <a:pathLst>
              <a:path w="4824843" h="73748">
                <a:moveTo>
                  <a:pt x="0" y="0"/>
                </a:moveTo>
                <a:lnTo>
                  <a:pt x="39710" y="1003"/>
                </a:lnTo>
                <a:lnTo>
                  <a:pt x="79421" y="1996"/>
                </a:lnTo>
                <a:lnTo>
                  <a:pt x="119132" y="2977"/>
                </a:lnTo>
                <a:lnTo>
                  <a:pt x="158842" y="3949"/>
                </a:lnTo>
                <a:lnTo>
                  <a:pt x="198553" y="4910"/>
                </a:lnTo>
                <a:lnTo>
                  <a:pt x="238264" y="5860"/>
                </a:lnTo>
                <a:lnTo>
                  <a:pt x="277974" y="6801"/>
                </a:lnTo>
                <a:lnTo>
                  <a:pt x="317685" y="7732"/>
                </a:lnTo>
                <a:lnTo>
                  <a:pt x="357396" y="8654"/>
                </a:lnTo>
                <a:lnTo>
                  <a:pt x="397106" y="9566"/>
                </a:lnTo>
                <a:lnTo>
                  <a:pt x="436817" y="10468"/>
                </a:lnTo>
                <a:lnTo>
                  <a:pt x="476527" y="11361"/>
                </a:lnTo>
                <a:lnTo>
                  <a:pt x="516238" y="12246"/>
                </a:lnTo>
                <a:lnTo>
                  <a:pt x="555949" y="13121"/>
                </a:lnTo>
                <a:lnTo>
                  <a:pt x="595659" y="13987"/>
                </a:lnTo>
                <a:lnTo>
                  <a:pt x="635370" y="14845"/>
                </a:lnTo>
                <a:lnTo>
                  <a:pt x="675081" y="15694"/>
                </a:lnTo>
                <a:lnTo>
                  <a:pt x="714791" y="16535"/>
                </a:lnTo>
                <a:lnTo>
                  <a:pt x="754502" y="17367"/>
                </a:lnTo>
                <a:lnTo>
                  <a:pt x="794213" y="18192"/>
                </a:lnTo>
                <a:lnTo>
                  <a:pt x="833923" y="19008"/>
                </a:lnTo>
                <a:lnTo>
                  <a:pt x="873634" y="19816"/>
                </a:lnTo>
                <a:lnTo>
                  <a:pt x="913345" y="20616"/>
                </a:lnTo>
                <a:lnTo>
                  <a:pt x="953055" y="21409"/>
                </a:lnTo>
                <a:lnTo>
                  <a:pt x="992766" y="22194"/>
                </a:lnTo>
                <a:lnTo>
                  <a:pt x="1032477" y="22972"/>
                </a:lnTo>
                <a:lnTo>
                  <a:pt x="1072187" y="23742"/>
                </a:lnTo>
                <a:lnTo>
                  <a:pt x="1111898" y="24505"/>
                </a:lnTo>
                <a:lnTo>
                  <a:pt x="1151608" y="25261"/>
                </a:lnTo>
                <a:lnTo>
                  <a:pt x="1191319" y="26010"/>
                </a:lnTo>
                <a:lnTo>
                  <a:pt x="1231030" y="26751"/>
                </a:lnTo>
                <a:lnTo>
                  <a:pt x="1270740" y="27486"/>
                </a:lnTo>
                <a:lnTo>
                  <a:pt x="1310451" y="28214"/>
                </a:lnTo>
                <a:lnTo>
                  <a:pt x="1350162" y="28936"/>
                </a:lnTo>
                <a:lnTo>
                  <a:pt x="1389872" y="29651"/>
                </a:lnTo>
                <a:lnTo>
                  <a:pt x="1429583" y="30359"/>
                </a:lnTo>
                <a:lnTo>
                  <a:pt x="1469294" y="31061"/>
                </a:lnTo>
                <a:lnTo>
                  <a:pt x="1509004" y="31756"/>
                </a:lnTo>
                <a:lnTo>
                  <a:pt x="1548715" y="32446"/>
                </a:lnTo>
                <a:lnTo>
                  <a:pt x="1588426" y="33129"/>
                </a:lnTo>
                <a:lnTo>
                  <a:pt x="1628136" y="33806"/>
                </a:lnTo>
                <a:lnTo>
                  <a:pt x="1667847" y="34477"/>
                </a:lnTo>
                <a:lnTo>
                  <a:pt x="1707558" y="35142"/>
                </a:lnTo>
                <a:lnTo>
                  <a:pt x="1747268" y="35801"/>
                </a:lnTo>
                <a:lnTo>
                  <a:pt x="1786979" y="36455"/>
                </a:lnTo>
                <a:lnTo>
                  <a:pt x="1826690" y="37102"/>
                </a:lnTo>
                <a:lnTo>
                  <a:pt x="1866400" y="37745"/>
                </a:lnTo>
                <a:lnTo>
                  <a:pt x="1906111" y="38381"/>
                </a:lnTo>
                <a:lnTo>
                  <a:pt x="1945821" y="39012"/>
                </a:lnTo>
                <a:lnTo>
                  <a:pt x="1985532" y="39638"/>
                </a:lnTo>
                <a:lnTo>
                  <a:pt x="2025243" y="40259"/>
                </a:lnTo>
                <a:lnTo>
                  <a:pt x="2064953" y="40874"/>
                </a:lnTo>
                <a:lnTo>
                  <a:pt x="2104664" y="41484"/>
                </a:lnTo>
                <a:lnTo>
                  <a:pt x="2144375" y="42088"/>
                </a:lnTo>
                <a:lnTo>
                  <a:pt x="2184085" y="42688"/>
                </a:lnTo>
                <a:lnTo>
                  <a:pt x="2223796" y="43283"/>
                </a:lnTo>
                <a:lnTo>
                  <a:pt x="2263507" y="43873"/>
                </a:lnTo>
                <a:lnTo>
                  <a:pt x="2303217" y="44458"/>
                </a:lnTo>
                <a:lnTo>
                  <a:pt x="2342928" y="45038"/>
                </a:lnTo>
                <a:lnTo>
                  <a:pt x="2382639" y="45613"/>
                </a:lnTo>
                <a:lnTo>
                  <a:pt x="2422349" y="46184"/>
                </a:lnTo>
                <a:lnTo>
                  <a:pt x="2462060" y="46750"/>
                </a:lnTo>
                <a:lnTo>
                  <a:pt x="2501771" y="47311"/>
                </a:lnTo>
                <a:lnTo>
                  <a:pt x="2541481" y="47868"/>
                </a:lnTo>
                <a:lnTo>
                  <a:pt x="2581192" y="48420"/>
                </a:lnTo>
                <a:lnTo>
                  <a:pt x="2620902" y="48968"/>
                </a:lnTo>
                <a:lnTo>
                  <a:pt x="2660613" y="49512"/>
                </a:lnTo>
                <a:lnTo>
                  <a:pt x="2700324" y="50051"/>
                </a:lnTo>
                <a:lnTo>
                  <a:pt x="2740034" y="50586"/>
                </a:lnTo>
                <a:lnTo>
                  <a:pt x="2779745" y="51117"/>
                </a:lnTo>
                <a:lnTo>
                  <a:pt x="2819456" y="51644"/>
                </a:lnTo>
                <a:lnTo>
                  <a:pt x="2859166" y="52166"/>
                </a:lnTo>
                <a:lnTo>
                  <a:pt x="2898877" y="52684"/>
                </a:lnTo>
                <a:lnTo>
                  <a:pt x="2938588" y="53199"/>
                </a:lnTo>
                <a:lnTo>
                  <a:pt x="2978298" y="53709"/>
                </a:lnTo>
                <a:lnTo>
                  <a:pt x="3018009" y="54216"/>
                </a:lnTo>
                <a:lnTo>
                  <a:pt x="3057720" y="54718"/>
                </a:lnTo>
                <a:lnTo>
                  <a:pt x="3097430" y="55217"/>
                </a:lnTo>
                <a:lnTo>
                  <a:pt x="3137141" y="55712"/>
                </a:lnTo>
                <a:lnTo>
                  <a:pt x="3176852" y="56203"/>
                </a:lnTo>
                <a:lnTo>
                  <a:pt x="3216562" y="56691"/>
                </a:lnTo>
                <a:lnTo>
                  <a:pt x="3256273" y="57174"/>
                </a:lnTo>
                <a:lnTo>
                  <a:pt x="3295984" y="57655"/>
                </a:lnTo>
                <a:lnTo>
                  <a:pt x="3335694" y="58131"/>
                </a:lnTo>
                <a:lnTo>
                  <a:pt x="3375405" y="58604"/>
                </a:lnTo>
                <a:lnTo>
                  <a:pt x="3415115" y="59074"/>
                </a:lnTo>
                <a:lnTo>
                  <a:pt x="3454826" y="59540"/>
                </a:lnTo>
                <a:lnTo>
                  <a:pt x="3494537" y="60002"/>
                </a:lnTo>
                <a:lnTo>
                  <a:pt x="3534247" y="60462"/>
                </a:lnTo>
                <a:lnTo>
                  <a:pt x="3573958" y="60918"/>
                </a:lnTo>
                <a:lnTo>
                  <a:pt x="3613669" y="61370"/>
                </a:lnTo>
                <a:lnTo>
                  <a:pt x="3653379" y="61819"/>
                </a:lnTo>
                <a:lnTo>
                  <a:pt x="3693090" y="62265"/>
                </a:lnTo>
                <a:lnTo>
                  <a:pt x="3732801" y="62708"/>
                </a:lnTo>
                <a:lnTo>
                  <a:pt x="3772511" y="63148"/>
                </a:lnTo>
                <a:lnTo>
                  <a:pt x="3812222" y="63584"/>
                </a:lnTo>
                <a:lnTo>
                  <a:pt x="3851933" y="64018"/>
                </a:lnTo>
                <a:lnTo>
                  <a:pt x="3891643" y="64448"/>
                </a:lnTo>
                <a:lnTo>
                  <a:pt x="3931354" y="64875"/>
                </a:lnTo>
                <a:lnTo>
                  <a:pt x="3971065" y="65299"/>
                </a:lnTo>
                <a:lnTo>
                  <a:pt x="4010775" y="65721"/>
                </a:lnTo>
                <a:lnTo>
                  <a:pt x="4050486" y="66139"/>
                </a:lnTo>
                <a:lnTo>
                  <a:pt x="4090196" y="66554"/>
                </a:lnTo>
                <a:lnTo>
                  <a:pt x="4129907" y="66967"/>
                </a:lnTo>
                <a:lnTo>
                  <a:pt x="4169618" y="67377"/>
                </a:lnTo>
                <a:lnTo>
                  <a:pt x="4209328" y="67783"/>
                </a:lnTo>
                <a:lnTo>
                  <a:pt x="4249039" y="68187"/>
                </a:lnTo>
                <a:lnTo>
                  <a:pt x="4288750" y="68589"/>
                </a:lnTo>
                <a:lnTo>
                  <a:pt x="4328460" y="68987"/>
                </a:lnTo>
                <a:lnTo>
                  <a:pt x="4368171" y="69383"/>
                </a:lnTo>
                <a:lnTo>
                  <a:pt x="4407882" y="69776"/>
                </a:lnTo>
                <a:lnTo>
                  <a:pt x="4447592" y="70166"/>
                </a:lnTo>
                <a:lnTo>
                  <a:pt x="4487303" y="70554"/>
                </a:lnTo>
                <a:lnTo>
                  <a:pt x="4527014" y="70939"/>
                </a:lnTo>
                <a:lnTo>
                  <a:pt x="4566724" y="71322"/>
                </a:lnTo>
                <a:lnTo>
                  <a:pt x="4606435" y="71702"/>
                </a:lnTo>
                <a:lnTo>
                  <a:pt x="4646146" y="72080"/>
                </a:lnTo>
                <a:lnTo>
                  <a:pt x="4685856" y="72455"/>
                </a:lnTo>
                <a:lnTo>
                  <a:pt x="4725567" y="72827"/>
                </a:lnTo>
                <a:lnTo>
                  <a:pt x="4765278" y="73197"/>
                </a:lnTo>
                <a:lnTo>
                  <a:pt x="4804988" y="73565"/>
                </a:lnTo>
                <a:lnTo>
                  <a:pt x="4824843" y="73748"/>
                </a:lnTo>
              </a:path>
            </a:pathLst>
          </a:custGeom>
          <a:noFill/>
          <a:ln w="25400">
            <a:solidFill>
              <a:srgbClr val="F28BA0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C3-E08 text 36" descr="sci-ppt:o036"/>
          <p:cNvSpPr txBox="1"/>
          <p:nvPr/>
        </p:nvSpPr>
        <p:spPr>
          <a:xfrm>
            <a:off x="7628381" y="1437322"/>
            <a:ext cx="3108960" cy="22390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F2B880"/>
                </a:solidFill>
                <a:latin typeface="Arial"/>
              </a:rPr>
              <a:t>(3 + 4SR)/[R(1 + SR)], χ = 1</a:t>
            </a:r>
          </a:p>
        </p:txBody>
      </p:sp>
      <p:sp>
        <p:nvSpPr>
          <p:cNvPr id="39" name="C3-E08 text 37" descr="sci-ppt:o037"/>
          <p:cNvSpPr txBox="1"/>
          <p:nvPr/>
        </p:nvSpPr>
        <p:spPr>
          <a:xfrm>
            <a:off x="9566909" y="3464433"/>
            <a:ext cx="73152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8EDBD4"/>
                </a:solidFill>
                <a:latin typeface="Arial"/>
              </a:rPr>
              <a:t>3/R</a:t>
            </a:r>
          </a:p>
        </p:txBody>
      </p:sp>
      <p:sp>
        <p:nvSpPr>
          <p:cNvPr id="40" name="C3-E08 text 38" descr="sci-ppt:o038"/>
          <p:cNvSpPr txBox="1"/>
          <p:nvPr/>
        </p:nvSpPr>
        <p:spPr>
          <a:xfrm>
            <a:off x="9142857" y="4511992"/>
            <a:ext cx="146304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F28BA0"/>
                </a:solidFill>
                <a:latin typeface="Arial"/>
              </a:rPr>
              <a:t>S/(1 + SR)</a:t>
            </a:r>
          </a:p>
        </p:txBody>
      </p:sp>
      <p:sp>
        <p:nvSpPr>
          <p:cNvPr id="41" name="C3-E08 round_rect 39" descr="sci-ppt:o039"/>
          <p:cNvSpPr/>
          <p:nvPr/>
        </p:nvSpPr>
        <p:spPr>
          <a:xfrm>
            <a:off x="365760" y="914400"/>
            <a:ext cx="6035040" cy="4846320"/>
          </a:xfrm>
          <a:prstGeom prst="roundRect">
            <a:avLst/>
          </a:prstGeom>
          <a:solidFill>
            <a:srgbClr val="213E4B"/>
          </a:solidFill>
          <a:ln w="20320">
            <a:solidFill>
              <a:srgbClr val="8EDBD4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C3-E08 text 40" descr="sci-ppt:o040"/>
          <p:cNvSpPr txBox="1"/>
          <p:nvPr/>
        </p:nvSpPr>
        <p:spPr>
          <a:xfrm>
            <a:off x="475488" y="969264"/>
            <a:ext cx="5815583" cy="254889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350" b="1" i="0">
                <a:solidFill>
                  <a:srgbClr val="8EDBD4"/>
                </a:solidFill>
                <a:latin typeface="Arial"/>
              </a:rPr>
              <a:t>Rebuilding the integrating factor</a:t>
            </a:r>
          </a:p>
        </p:txBody>
      </p:sp>
      <p:sp>
        <p:nvSpPr>
          <p:cNvPr id="43" name="C3-E08 text 41" descr="sci-ppt:o041"/>
          <p:cNvSpPr txBox="1"/>
          <p:nvPr/>
        </p:nvSpPr>
        <p:spPr>
          <a:xfrm>
            <a:off x="548640" y="1371600"/>
            <a:ext cx="5669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1  y = Ṙ²,  dy/dR = 2R̈</a:t>
            </a:r>
          </a:p>
        </p:txBody>
      </p:sp>
      <p:sp>
        <p:nvSpPr>
          <p:cNvPr id="44" name="C3-E08 text 42" descr="sci-ppt:o042"/>
          <p:cNvSpPr txBox="1"/>
          <p:nvPr/>
        </p:nvSpPr>
        <p:spPr>
          <a:xfrm>
            <a:off x="777240" y="1673352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turns the radial equation into a first-order ODE for y(R)</a:t>
            </a:r>
          </a:p>
        </p:txBody>
      </p:sp>
      <p:sp>
        <p:nvSpPr>
          <p:cNvPr id="45" name="C3-E08 text 43" descr="sci-ppt:o043"/>
          <p:cNvSpPr txBox="1"/>
          <p:nvPr/>
        </p:nvSpPr>
        <p:spPr>
          <a:xfrm>
            <a:off x="548640" y="2179320"/>
            <a:ext cx="5669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2  y′ + [(3 + 4SR)/(R(1 + SR))] y = −2Δp_c / [ρR(1 + SR)]</a:t>
            </a:r>
          </a:p>
        </p:txBody>
      </p:sp>
      <p:sp>
        <p:nvSpPr>
          <p:cNvPr id="46" name="C3-E08 text 44" descr="sci-ppt:o044"/>
          <p:cNvSpPr txBox="1"/>
          <p:nvPr/>
        </p:nvSpPr>
        <p:spPr>
          <a:xfrm>
            <a:off x="777240" y="2636520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linear first order</a:t>
            </a:r>
          </a:p>
        </p:txBody>
      </p:sp>
      <p:sp>
        <p:nvSpPr>
          <p:cNvPr id="47" name="C3-E08 text 45" descr="sci-ppt:o045"/>
          <p:cNvSpPr txBox="1"/>
          <p:nvPr/>
        </p:nvSpPr>
        <p:spPr>
          <a:xfrm>
            <a:off x="548640" y="3142488"/>
            <a:ext cx="5669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3  (3 + 4SR)/(R(1 + SR)) = 3/R + S/(1 + SR)</a:t>
            </a:r>
          </a:p>
        </p:txBody>
      </p:sp>
      <p:sp>
        <p:nvSpPr>
          <p:cNvPr id="48" name="C3-E08 text 46" descr="sci-ppt:o046"/>
          <p:cNvSpPr txBox="1"/>
          <p:nvPr/>
        </p:nvSpPr>
        <p:spPr>
          <a:xfrm>
            <a:off x="777240" y="3444240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partial fractions: both pieces are logarithmic derivatives</a:t>
            </a:r>
          </a:p>
        </p:txBody>
      </p:sp>
      <p:sp>
        <p:nvSpPr>
          <p:cNvPr id="49" name="C3-E08 text 47" descr="sci-ppt:o047"/>
          <p:cNvSpPr txBox="1"/>
          <p:nvPr/>
        </p:nvSpPr>
        <p:spPr>
          <a:xfrm>
            <a:off x="548640" y="3950207"/>
            <a:ext cx="5669280" cy="239395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50" b="1" i="0">
                <a:solidFill>
                  <a:srgbClr val="F2B880"/>
                </a:solidFill>
                <a:latin typeface="Arial"/>
              </a:rPr>
              <a:t>4  integrating factor R³(1 + SR)</a:t>
            </a:r>
          </a:p>
        </p:txBody>
      </p:sp>
      <p:sp>
        <p:nvSpPr>
          <p:cNvPr id="50" name="C3-E08 text 48" descr="sci-ppt:o048"/>
          <p:cNvSpPr txBox="1"/>
          <p:nvPr/>
        </p:nvSpPr>
        <p:spPr>
          <a:xfrm>
            <a:off x="777240" y="4251959"/>
            <a:ext cx="5486400" cy="231648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then d/dR [R³(1 + SR) y] = −(2Δp_c/ρ) R²</a:t>
            </a:r>
          </a:p>
        </p:txBody>
      </p:sp>
      <p:sp>
        <p:nvSpPr>
          <p:cNvPr id="51" name="C3-E08 text 49" descr="sci-ppt:o049"/>
          <p:cNvSpPr txBox="1"/>
          <p:nvPr/>
        </p:nvSpPr>
        <p:spPr>
          <a:xfrm>
            <a:off x="6675120" y="5715000"/>
            <a:ext cx="5120640" cy="417576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The two dashed pieces add to the solid curve (partial</a:t>
            </a:r>
          </a:p>
          <a:p>
            <a:pPr algn="l">
              <a:spcAft>
                <a:spcPts val="0"/>
              </a:spcAft>
            </a:pPr>
            <a:r>
              <a:rPr sz="1200" b="0" i="0">
                <a:solidFill>
                  <a:srgbClr val="E7F0F3"/>
                </a:solidFill>
                <a:latin typeface="Arial"/>
              </a:rPr>
              <a:t>fractions).</a:t>
            </a:r>
          </a:p>
        </p:txBody>
      </p:sp>
      <p:sp>
        <p:nvSpPr>
          <p:cNvPr id="52" name="C3-E08 text 50" descr="sci-ppt:o050"/>
          <p:cNvSpPr txBox="1"/>
          <p:nvPr/>
        </p:nvSpPr>
        <p:spPr>
          <a:xfrm>
            <a:off x="320040" y="6510528"/>
            <a:ext cx="11521440" cy="200660"/>
          </a:xfrm>
          <a:prstGeom prst="rect">
            <a:avLst/>
          </a:prstGeom>
          <a:noFill/>
          <a:effectLst/>
        </p:spPr>
        <p:txBody>
          <a:bodyPr wrap="none" lIns="18288" rIns="18288" tIns="18288" bIns="18288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Integrating factor of Eq. C3-E08.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