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08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C3-E08 · Chain rule and integrating-factor derivation</a:t>
            </a:r>
          </a:p>
        </p:txBody>
      </p:sp>
      <p:sp>
        <p:nvSpPr>
          <p:cNvPr id="3" name="C3-E08 ellipse 1" descr="sci-ppt:o001"/>
          <p:cNvSpPr/>
          <p:nvPr/>
        </p:nvSpPr>
        <p:spPr>
          <a:xfrm>
            <a:off x="1417319" y="1280160"/>
            <a:ext cx="1554480" cy="155448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08 ellipse 2" descr="sci-ppt:o002"/>
          <p:cNvSpPr/>
          <p:nvPr/>
        </p:nvSpPr>
        <p:spPr>
          <a:xfrm>
            <a:off x="7909560" y="1280160"/>
            <a:ext cx="1554480" cy="155448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3-E08 text 3" descr="sci-ppt:o003"/>
          <p:cNvSpPr txBox="1"/>
          <p:nvPr/>
        </p:nvSpPr>
        <p:spPr>
          <a:xfrm>
            <a:off x="1645920" y="1874519"/>
            <a:ext cx="14630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j: source</a:t>
            </a:r>
          </a:p>
        </p:txBody>
      </p:sp>
      <p:sp>
        <p:nvSpPr>
          <p:cNvPr id="6" name="C3-E08 text 4" descr="sci-ppt:o004"/>
          <p:cNvSpPr txBox="1"/>
          <p:nvPr/>
        </p:nvSpPr>
        <p:spPr>
          <a:xfrm>
            <a:off x="8138160" y="1874519"/>
            <a:ext cx="15544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i: receiver</a:t>
            </a:r>
          </a:p>
        </p:txBody>
      </p:sp>
      <p:cxnSp>
        <p:nvCxnSpPr>
          <p:cNvPr id="7" name="C3-E08 line 5" descr="sci-ppt:o005"/>
          <p:cNvCxnSpPr/>
          <p:nvPr/>
        </p:nvCxnSpPr>
        <p:spPr>
          <a:xfrm>
            <a:off x="2194560" y="3108960"/>
            <a:ext cx="6492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" name="C3-E08 text 6" descr="sci-ppt:o006"/>
          <p:cNvSpPr txBox="1"/>
          <p:nvPr/>
        </p:nvSpPr>
        <p:spPr>
          <a:xfrm>
            <a:off x="4846320" y="3200400"/>
            <a:ext cx="1828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d_ij</a:t>
            </a:r>
          </a:p>
        </p:txBody>
      </p:sp>
      <p:cxnSp>
        <p:nvCxnSpPr>
          <p:cNvPr id="9" name="C3-E08 arrow 7" descr="sci-ppt:o007"/>
          <p:cNvCxnSpPr/>
          <p:nvPr/>
        </p:nvCxnSpPr>
        <p:spPr>
          <a:xfrm>
            <a:off x="3108960" y="2057400"/>
            <a:ext cx="4617719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08 text 8" descr="sci-ppt:o008"/>
          <p:cNvSpPr txBox="1"/>
          <p:nvPr/>
        </p:nvSpPr>
        <p:spPr>
          <a:xfrm>
            <a:off x="3749039" y="1600200"/>
            <a:ext cx="3931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Shared liquid: ρ, p∞</a:t>
            </a:r>
          </a:p>
        </p:txBody>
      </p:sp>
      <p:sp>
        <p:nvSpPr>
          <p:cNvPr id="11" name="C3-E08 text 9" descr="sci-ppt:o009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Fixed centres; spherical cavities; R_i, R_j ≪ d_ij</a:t>
            </a:r>
          </a:p>
        </p:txBody>
      </p:sp>
      <p:cxnSp>
        <p:nvCxnSpPr>
          <p:cNvPr id="12" name="C3-E08 arrow 10" descr="sci-ppt:o010"/>
          <p:cNvCxnSpPr/>
          <p:nvPr/>
        </p:nvCxnSpPr>
        <p:spPr>
          <a:xfrm>
            <a:off x="1051560" y="2057400"/>
            <a:ext cx="347472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3" name="C3-E08 arrow 11" descr="sci-ppt:o011"/>
          <p:cNvCxnSpPr/>
          <p:nvPr/>
        </p:nvCxnSpPr>
        <p:spPr>
          <a:xfrm flipH="1">
            <a:off x="2990088" y="2057400"/>
            <a:ext cx="347472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C3-E08 text 12" descr="sci-ppt:o012"/>
          <p:cNvSpPr txBox="1"/>
          <p:nvPr/>
        </p:nvSpPr>
        <p:spPr>
          <a:xfrm>
            <a:off x="3703320" y="2423160"/>
            <a:ext cx="41148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Collapse branch: Ṙ &lt; 0</a:t>
            </a:r>
          </a:p>
        </p:txBody>
      </p:sp>
      <p:sp>
        <p:nvSpPr>
          <p:cNvPr id="15" name="C3-E08 text 13" descr="sci-ppt:o013"/>
          <p:cNvSpPr txBox="1"/>
          <p:nvPr/>
        </p:nvSpPr>
        <p:spPr>
          <a:xfrm>
            <a:off x="731520" y="3611880"/>
            <a:ext cx="10789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Interaction increases effective liquid inertia; it adds no source energy.</a:t>
            </a:r>
          </a:p>
        </p:txBody>
      </p:sp>
      <p:cxnSp>
        <p:nvCxnSpPr>
          <p:cNvPr id="16" name="C3-E08 line 14" descr="sci-ppt:o014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7" name="C3-E08 text 15" descr="sci-ppt:o015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R, Ṙ, R̈: contracting bubble</a:t>
            </a:r>
          </a:p>
        </p:txBody>
      </p:sp>
      <p:sp>
        <p:nvSpPr>
          <p:cNvPr id="18" name="C3-E08 text 16" descr="sci-ppt:o016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y = Ṙ²; y′ = dy/dR</a:t>
            </a:r>
          </a:p>
        </p:txBody>
      </p:sp>
      <p:sp>
        <p:nvSpPr>
          <p:cNvPr id="19" name="C3-E08 text 17" descr="sci-ppt:o017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S, ρ, Δp_c</a:t>
            </a:r>
          </a:p>
        </p:txBody>
      </p:sp>
      <p:sp>
        <p:nvSpPr>
          <p:cNvPr id="20" name="C3-E08 text 18" descr="sci-ppt:o018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R³(1 + SR) liquid-inertia factor</a:t>
            </a:r>
          </a:p>
        </p:txBody>
      </p:sp>
      <p:sp>
        <p:nvSpPr>
          <p:cNvPr id="21" name="C3-E08 text 19" descr="sci-ppt:o019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ℓ_*: dimensional reference; ln, d/dR</a:t>
            </a:r>
          </a:p>
        </p:txBody>
      </p:sp>
      <p:sp>
        <p:nvSpPr>
          <p:cNvPr id="22" name="C3-E08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Restrict cancellation to Ṙ ≠ 0</a:t>
            </a:r>
          </a:p>
        </p:txBody>
      </p:sp>
      <p:sp>
        <p:nvSpPr>
          <p:cNvPr id="23" name="C3-E08 text 21" descr="sci-ppt:o021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Continuous initial limit restores Ṙ = 0</a:t>
            </a:r>
          </a:p>
        </p:txBody>
      </p:sp>
      <p:sp>
        <p:nvSpPr>
          <p:cNvPr id="24" name="C3-E08 text 22" descr="sci-ppt:o02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