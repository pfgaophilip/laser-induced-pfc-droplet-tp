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0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C4-E20 · Derived quasistatic energy-release rate</a:t>
            </a:r>
          </a:p>
        </p:txBody>
      </p:sp>
      <p:cxnSp>
        <p:nvCxnSpPr>
          <p:cNvPr id="3" name="C4-E20 line 1" descr="sci-ppt:o001"/>
          <p:cNvCxnSpPr/>
          <p:nvPr/>
        </p:nvCxnSpPr>
        <p:spPr>
          <a:xfrm>
            <a:off x="914400" y="4937760"/>
            <a:ext cx="566928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4-E20 line 2" descr="sci-ppt:o002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20 line 3" descr="sci-ppt:o003"/>
          <p:cNvCxnSpPr/>
          <p:nvPr/>
        </p:nvCxnSpPr>
        <p:spPr>
          <a:xfrm>
            <a:off x="91440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4-E20 line 4" descr="sci-ppt:o004"/>
          <p:cNvCxnSpPr/>
          <p:nvPr/>
        </p:nvCxnSpPr>
        <p:spPr>
          <a:xfrm>
            <a:off x="91440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4-E20 text 5" descr="sci-ppt:o005"/>
          <p:cNvSpPr txBox="1"/>
          <p:nvPr/>
        </p:nvSpPr>
        <p:spPr>
          <a:xfrm>
            <a:off x="45720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8" name="C4-E20 line 6" descr="sci-ppt:o006"/>
          <p:cNvCxnSpPr/>
          <p:nvPr/>
        </p:nvCxnSpPr>
        <p:spPr>
          <a:xfrm>
            <a:off x="233172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4-E20 line 7" descr="sci-ppt:o007"/>
          <p:cNvCxnSpPr/>
          <p:nvPr/>
        </p:nvCxnSpPr>
        <p:spPr>
          <a:xfrm>
            <a:off x="233172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4-E20 text 8" descr="sci-ppt:o008"/>
          <p:cNvSpPr txBox="1"/>
          <p:nvPr/>
        </p:nvSpPr>
        <p:spPr>
          <a:xfrm>
            <a:off x="187451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1" name="C4-E20 line 9" descr="sci-ppt:o009"/>
          <p:cNvCxnSpPr/>
          <p:nvPr/>
        </p:nvCxnSpPr>
        <p:spPr>
          <a:xfrm>
            <a:off x="3749039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4-E20 line 10" descr="sci-ppt:o010"/>
          <p:cNvCxnSpPr/>
          <p:nvPr/>
        </p:nvCxnSpPr>
        <p:spPr>
          <a:xfrm>
            <a:off x="3749039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4-E20 text 11" descr="sci-ppt:o011"/>
          <p:cNvSpPr txBox="1"/>
          <p:nvPr/>
        </p:nvSpPr>
        <p:spPr>
          <a:xfrm>
            <a:off x="3291839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14" name="C4-E20 line 12" descr="sci-ppt:o012"/>
          <p:cNvCxnSpPr/>
          <p:nvPr/>
        </p:nvCxnSpPr>
        <p:spPr>
          <a:xfrm>
            <a:off x="516636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20 line 13" descr="sci-ppt:o013"/>
          <p:cNvCxnSpPr/>
          <p:nvPr/>
        </p:nvCxnSpPr>
        <p:spPr>
          <a:xfrm>
            <a:off x="516636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4-E20 text 14" descr="sci-ppt:o014"/>
          <p:cNvSpPr txBox="1"/>
          <p:nvPr/>
        </p:nvSpPr>
        <p:spPr>
          <a:xfrm>
            <a:off x="470916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1.25</a:t>
            </a:r>
          </a:p>
        </p:txBody>
      </p:sp>
      <p:cxnSp>
        <p:nvCxnSpPr>
          <p:cNvPr id="17" name="C4-E20 line 15" descr="sci-ppt:o015"/>
          <p:cNvCxnSpPr/>
          <p:nvPr/>
        </p:nvCxnSpPr>
        <p:spPr>
          <a:xfrm>
            <a:off x="6583680" y="493776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4-E20 line 16" descr="sci-ppt:o016"/>
          <p:cNvCxnSpPr/>
          <p:nvPr/>
        </p:nvCxnSpPr>
        <p:spPr>
          <a:xfrm>
            <a:off x="6583680" y="1371600"/>
            <a:ext cx="0" cy="356616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4-E20 text 17" descr="sci-ppt:o017"/>
          <p:cNvSpPr txBox="1"/>
          <p:nvPr/>
        </p:nvSpPr>
        <p:spPr>
          <a:xfrm>
            <a:off x="6126480" y="502005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1.50</a:t>
            </a:r>
          </a:p>
        </p:txBody>
      </p:sp>
      <p:cxnSp>
        <p:nvCxnSpPr>
          <p:cNvPr id="20" name="C4-E20 line 18" descr="sci-ppt:o018"/>
          <p:cNvCxnSpPr/>
          <p:nvPr/>
        </p:nvCxnSpPr>
        <p:spPr>
          <a:xfrm>
            <a:off x="850392" y="442830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4-E20 line 19" descr="sci-ppt:o019"/>
          <p:cNvCxnSpPr/>
          <p:nvPr/>
        </p:nvCxnSpPr>
        <p:spPr>
          <a:xfrm>
            <a:off x="914400" y="4428308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4-E20 text 20" descr="sci-ppt:o020"/>
          <p:cNvSpPr txBox="1"/>
          <p:nvPr/>
        </p:nvSpPr>
        <p:spPr>
          <a:xfrm>
            <a:off x="45720" y="434601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-1.2</a:t>
            </a:r>
          </a:p>
        </p:txBody>
      </p:sp>
      <p:cxnSp>
        <p:nvCxnSpPr>
          <p:cNvPr id="23" name="C4-E20 line 21" descr="sci-ppt:o021"/>
          <p:cNvCxnSpPr/>
          <p:nvPr/>
        </p:nvCxnSpPr>
        <p:spPr>
          <a:xfrm>
            <a:off x="850392" y="340940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4-E20 line 22" descr="sci-ppt:o022"/>
          <p:cNvCxnSpPr/>
          <p:nvPr/>
        </p:nvCxnSpPr>
        <p:spPr>
          <a:xfrm>
            <a:off x="914400" y="3409405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4-E20 text 23" descr="sci-ppt:o023"/>
          <p:cNvSpPr txBox="1"/>
          <p:nvPr/>
        </p:nvSpPr>
        <p:spPr>
          <a:xfrm>
            <a:off x="45720" y="332710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-0.8</a:t>
            </a:r>
          </a:p>
        </p:txBody>
      </p:sp>
      <p:cxnSp>
        <p:nvCxnSpPr>
          <p:cNvPr id="26" name="C4-E20 line 24" descr="sci-ppt:o024"/>
          <p:cNvCxnSpPr/>
          <p:nvPr/>
        </p:nvCxnSpPr>
        <p:spPr>
          <a:xfrm>
            <a:off x="850392" y="239050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4-E20 line 25" descr="sci-ppt:o025"/>
          <p:cNvCxnSpPr/>
          <p:nvPr/>
        </p:nvCxnSpPr>
        <p:spPr>
          <a:xfrm>
            <a:off x="914400" y="2390502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4-E20 text 26" descr="sci-ppt:o026"/>
          <p:cNvSpPr txBox="1"/>
          <p:nvPr/>
        </p:nvSpPr>
        <p:spPr>
          <a:xfrm>
            <a:off x="45720" y="230820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-0.4</a:t>
            </a:r>
          </a:p>
        </p:txBody>
      </p:sp>
      <p:cxnSp>
        <p:nvCxnSpPr>
          <p:cNvPr id="29" name="C4-E20 line 27" descr="sci-ppt:o027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4-E20 line 28" descr="sci-ppt:o028"/>
          <p:cNvCxnSpPr/>
          <p:nvPr/>
        </p:nvCxnSpPr>
        <p:spPr>
          <a:xfrm>
            <a:off x="914400" y="1371600"/>
            <a:ext cx="566928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4-E20 text 29" descr="sci-ppt:o029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sp>
        <p:nvSpPr>
          <p:cNvPr id="32" name="C4-E20 text 30" descr="sci-ppt:o030"/>
          <p:cNvSpPr txBox="1"/>
          <p:nvPr/>
        </p:nvSpPr>
        <p:spPr>
          <a:xfrm>
            <a:off x="914400" y="5221224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b / b₀</a:t>
            </a:r>
          </a:p>
        </p:txBody>
      </p:sp>
      <p:sp>
        <p:nvSpPr>
          <p:cNvPr id="33" name="C4-E20 text 31" descr="sci-ppt:o031"/>
          <p:cNvSpPr txBox="1"/>
          <p:nvPr/>
        </p:nvSpPr>
        <p:spPr>
          <a:xfrm>
            <a:off x="365760" y="1024128"/>
            <a:ext cx="56692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𝒫 / 𝒫(b₀)</a:t>
            </a:r>
          </a:p>
        </p:txBody>
      </p:sp>
      <p:sp>
        <p:nvSpPr>
          <p:cNvPr id="34" name="C4-E20 polygon 32" descr="sci-ppt:o032"/>
          <p:cNvSpPr/>
          <p:nvPr/>
        </p:nvSpPr>
        <p:spPr>
          <a:xfrm>
            <a:off x="914400" y="1411400"/>
            <a:ext cx="3149600" cy="3483579"/>
          </a:xfrm>
          <a:custGeom>
            <a:avLst/>
            <a:gdLst/>
            <a:ahLst/>
            <a:cxnLst/>
            <a:rect l="l" t="t" r="r" b="b"/>
            <a:pathLst>
              <a:path w="3149600" h="3483579">
                <a:moveTo>
                  <a:pt x="0" y="0"/>
                </a:moveTo>
                <a:lnTo>
                  <a:pt x="57265" y="5075"/>
                </a:lnTo>
                <a:lnTo>
                  <a:pt x="114530" y="10678"/>
                </a:lnTo>
                <a:lnTo>
                  <a:pt x="171796" y="16852"/>
                </a:lnTo>
                <a:lnTo>
                  <a:pt x="229061" y="23643"/>
                </a:lnTo>
                <a:lnTo>
                  <a:pt x="286327" y="31099"/>
                </a:lnTo>
                <a:lnTo>
                  <a:pt x="343592" y="39271"/>
                </a:lnTo>
                <a:lnTo>
                  <a:pt x="400858" y="48214"/>
                </a:lnTo>
                <a:lnTo>
                  <a:pt x="458123" y="57984"/>
                </a:lnTo>
                <a:lnTo>
                  <a:pt x="515389" y="68641"/>
                </a:lnTo>
                <a:lnTo>
                  <a:pt x="572654" y="80250"/>
                </a:lnTo>
                <a:lnTo>
                  <a:pt x="629920" y="92876"/>
                </a:lnTo>
                <a:lnTo>
                  <a:pt x="687185" y="106590"/>
                </a:lnTo>
                <a:lnTo>
                  <a:pt x="744450" y="121465"/>
                </a:lnTo>
                <a:lnTo>
                  <a:pt x="801716" y="137579"/>
                </a:lnTo>
                <a:lnTo>
                  <a:pt x="858981" y="155013"/>
                </a:lnTo>
                <a:lnTo>
                  <a:pt x="916247" y="173853"/>
                </a:lnTo>
                <a:lnTo>
                  <a:pt x="973512" y="194186"/>
                </a:lnTo>
                <a:lnTo>
                  <a:pt x="1030778" y="216108"/>
                </a:lnTo>
                <a:lnTo>
                  <a:pt x="1088043" y="239714"/>
                </a:lnTo>
                <a:lnTo>
                  <a:pt x="1145309" y="265109"/>
                </a:lnTo>
                <a:lnTo>
                  <a:pt x="1202574" y="292397"/>
                </a:lnTo>
                <a:lnTo>
                  <a:pt x="1259840" y="321691"/>
                </a:lnTo>
                <a:lnTo>
                  <a:pt x="1317105" y="353106"/>
                </a:lnTo>
                <a:lnTo>
                  <a:pt x="1374370" y="386765"/>
                </a:lnTo>
                <a:lnTo>
                  <a:pt x="1431636" y="422793"/>
                </a:lnTo>
                <a:lnTo>
                  <a:pt x="1488901" y="461321"/>
                </a:lnTo>
                <a:lnTo>
                  <a:pt x="1546167" y="502488"/>
                </a:lnTo>
                <a:lnTo>
                  <a:pt x="1603432" y="546435"/>
                </a:lnTo>
                <a:lnTo>
                  <a:pt x="1660698" y="593310"/>
                </a:lnTo>
                <a:lnTo>
                  <a:pt x="1717963" y="643268"/>
                </a:lnTo>
                <a:lnTo>
                  <a:pt x="1775229" y="696469"/>
                </a:lnTo>
                <a:lnTo>
                  <a:pt x="1832494" y="753079"/>
                </a:lnTo>
                <a:lnTo>
                  <a:pt x="1889760" y="813271"/>
                </a:lnTo>
                <a:lnTo>
                  <a:pt x="1947025" y="877223"/>
                </a:lnTo>
                <a:lnTo>
                  <a:pt x="2004290" y="945122"/>
                </a:lnTo>
                <a:lnTo>
                  <a:pt x="2061556" y="1017159"/>
                </a:lnTo>
                <a:lnTo>
                  <a:pt x="2118821" y="1093534"/>
                </a:lnTo>
                <a:lnTo>
                  <a:pt x="2176087" y="1174455"/>
                </a:lnTo>
                <a:lnTo>
                  <a:pt x="2233352" y="1260133"/>
                </a:lnTo>
                <a:lnTo>
                  <a:pt x="2290618" y="1350792"/>
                </a:lnTo>
                <a:lnTo>
                  <a:pt x="2347883" y="1446659"/>
                </a:lnTo>
                <a:lnTo>
                  <a:pt x="2405149" y="1547972"/>
                </a:lnTo>
                <a:lnTo>
                  <a:pt x="2462414" y="1654974"/>
                </a:lnTo>
                <a:lnTo>
                  <a:pt x="2519680" y="1767920"/>
                </a:lnTo>
                <a:lnTo>
                  <a:pt x="2576945" y="1887070"/>
                </a:lnTo>
                <a:lnTo>
                  <a:pt x="2634210" y="2012693"/>
                </a:lnTo>
                <a:lnTo>
                  <a:pt x="2691476" y="2145069"/>
                </a:lnTo>
                <a:lnTo>
                  <a:pt x="2748741" y="2284484"/>
                </a:lnTo>
                <a:lnTo>
                  <a:pt x="2806007" y="2431235"/>
                </a:lnTo>
                <a:lnTo>
                  <a:pt x="2863272" y="2585627"/>
                </a:lnTo>
                <a:lnTo>
                  <a:pt x="2920538" y="2747976"/>
                </a:lnTo>
                <a:lnTo>
                  <a:pt x="2977803" y="2918606"/>
                </a:lnTo>
                <a:lnTo>
                  <a:pt x="3035069" y="3097852"/>
                </a:lnTo>
                <a:lnTo>
                  <a:pt x="3092334" y="3286058"/>
                </a:lnTo>
                <a:lnTo>
                  <a:pt x="3149600" y="348357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4-E20 ellipse 33" descr="sci-ppt:o033"/>
          <p:cNvSpPr/>
          <p:nvPr/>
        </p:nvSpPr>
        <p:spPr>
          <a:xfrm>
            <a:off x="3675887" y="3845705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4-E20 text 34" descr="sci-ppt:o034"/>
          <p:cNvSpPr txBox="1"/>
          <p:nvPr/>
        </p:nvSpPr>
        <p:spPr>
          <a:xfrm>
            <a:off x="4502505" y="2645228"/>
            <a:ext cx="1828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slope −6𝒫₀/b₀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at b = b₀</a:t>
            </a:r>
          </a:p>
        </p:txBody>
      </p:sp>
      <p:sp>
        <p:nvSpPr>
          <p:cNvPr id="37" name="C4-E20 round_rect 35" descr="sci-ppt:o035"/>
          <p:cNvSpPr/>
          <p:nvPr/>
        </p:nvSpPr>
        <p:spPr>
          <a:xfrm>
            <a:off x="6858000" y="1371600"/>
            <a:ext cx="4983480" cy="35661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4-E20 text 36" descr="sci-ppt:o036"/>
          <p:cNvSpPr txBox="1"/>
          <p:nvPr/>
        </p:nvSpPr>
        <p:spPr>
          <a:xfrm>
            <a:off x="6967728" y="1426464"/>
            <a:ext cx="47640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From potential to G</a:t>
            </a:r>
          </a:p>
        </p:txBody>
      </p:sp>
      <p:sp>
        <p:nvSpPr>
          <p:cNvPr id="39" name="C4-E20 text 37" descr="sci-ppt:o037"/>
          <p:cNvSpPr txBox="1"/>
          <p:nvPr/>
        </p:nvSpPr>
        <p:spPr>
          <a:xfrm>
            <a:off x="6995160" y="178308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A_c = π b²,   dA_c/db = 2π b</a:t>
            </a:r>
          </a:p>
        </p:txBody>
      </p:sp>
      <p:sp>
        <p:nvSpPr>
          <p:cNvPr id="40" name="C4-E20 text 38" descr="sci-ppt:o038"/>
          <p:cNvSpPr txBox="1"/>
          <p:nvPr/>
        </p:nvSpPr>
        <p:spPr>
          <a:xfrm>
            <a:off x="6995160" y="228600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(d𝒫/db)_{p₀} = −6π p₀² b⁵ / (384 D_f)</a:t>
            </a:r>
          </a:p>
        </p:txBody>
      </p:sp>
      <p:sp>
        <p:nvSpPr>
          <p:cNvPr id="41" name="C4-E20 text 39" descr="sci-ppt:o039"/>
          <p:cNvSpPr txBox="1"/>
          <p:nvPr/>
        </p:nvSpPr>
        <p:spPr>
          <a:xfrm>
            <a:off x="6995160" y="2788920"/>
            <a:ext cx="47548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G = −(d𝒫/db) / (dA_c/db)</a:t>
            </a:r>
          </a:p>
        </p:txBody>
      </p:sp>
      <p:sp>
        <p:nvSpPr>
          <p:cNvPr id="42" name="C4-E20 text 40" descr="sci-ppt:o040"/>
          <p:cNvSpPr txBox="1"/>
          <p:nvPr/>
        </p:nvSpPr>
        <p:spPr>
          <a:xfrm>
            <a:off x="6995160" y="3337560"/>
            <a:ext cx="47548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Gₚ₀ = p₀² b⁴ / (128 D_f)</a:t>
            </a:r>
          </a:p>
        </p:txBody>
      </p:sp>
      <p:sp>
        <p:nvSpPr>
          <p:cNvPr id="43" name="C4-E20 text 41" descr="sci-ppt:o041"/>
          <p:cNvSpPr txBox="1"/>
          <p:nvPr/>
        </p:nvSpPr>
        <p:spPr>
          <a:xfrm>
            <a:off x="6995160" y="4023360"/>
            <a:ext cx="47548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Pressure squared times radius to the fourth.</a:t>
            </a:r>
          </a:p>
        </p:txBody>
      </p:sp>
      <p:sp>
        <p:nvSpPr>
          <p:cNvPr id="44" name="C4-E20 text 42" descr="sci-ppt:o042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𝒫 ∝ b⁶ falls faster as the blister grows: at fixed pressure each increment of area releases more energy.</a:t>
            </a:r>
          </a:p>
        </p:txBody>
      </p:sp>
      <p:sp>
        <p:nvSpPr>
          <p:cNvPr id="45" name="C4-E20 text 43" descr="sci-ppt:o043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Energy-release rate of Eq. C4-E20 (curve is −b⁶ normalised, schematic of the b⁶ dependence).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