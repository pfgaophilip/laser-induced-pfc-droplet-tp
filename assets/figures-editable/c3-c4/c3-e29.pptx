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9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C3-E29 · Declared optical and mechanical allocation</a:t>
            </a:r>
          </a:p>
        </p:txBody>
      </p:sp>
      <p:sp>
        <p:nvSpPr>
          <p:cNvPr id="3" name="C3-E29 rect 1" descr="sci-ppt:o001"/>
          <p:cNvSpPr/>
          <p:nvPr/>
        </p:nvSpPr>
        <p:spPr>
          <a:xfrm>
            <a:off x="5943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29 text 2" descr="sci-ppt:o002"/>
          <p:cNvSpPr txBox="1"/>
          <p:nvPr/>
        </p:nvSpPr>
        <p:spPr>
          <a:xfrm>
            <a:off x="7589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E_L = 25 μJ</a:t>
            </a:r>
          </a:p>
        </p:txBody>
      </p:sp>
      <p:cxnSp>
        <p:nvCxnSpPr>
          <p:cNvPr id="5" name="C3-E29 arrow 3" descr="sci-ppt:o003"/>
          <p:cNvCxnSpPr/>
          <p:nvPr/>
        </p:nvCxnSpPr>
        <p:spPr>
          <a:xfrm>
            <a:off x="37947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3-E29 rect 4" descr="sci-ppt:o004"/>
          <p:cNvSpPr/>
          <p:nvPr/>
        </p:nvSpPr>
        <p:spPr>
          <a:xfrm>
            <a:off x="44805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3-E29 text 5" descr="sci-ppt:o005"/>
          <p:cNvSpPr txBox="1"/>
          <p:nvPr/>
        </p:nvSpPr>
        <p:spPr>
          <a:xfrm>
            <a:off x="46451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E_abs,total = 10 μJ</a:t>
            </a:r>
          </a:p>
        </p:txBody>
      </p:sp>
      <p:cxnSp>
        <p:nvCxnSpPr>
          <p:cNvPr id="8" name="C3-E29 arrow 6" descr="sci-ppt:o006"/>
          <p:cNvCxnSpPr/>
          <p:nvPr/>
        </p:nvCxnSpPr>
        <p:spPr>
          <a:xfrm>
            <a:off x="76809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3-E29 rect 7" descr="sci-ppt:o007"/>
          <p:cNvSpPr/>
          <p:nvPr/>
        </p:nvSpPr>
        <p:spPr>
          <a:xfrm>
            <a:off x="83667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3-E29 text 8" descr="sci-ppt:o008"/>
          <p:cNvSpPr txBox="1"/>
          <p:nvPr/>
        </p:nvSpPr>
        <p:spPr>
          <a:xfrm>
            <a:off x="85313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E_j,total = 50 nJ</a:t>
            </a:r>
          </a:p>
        </p:txBody>
      </p:sp>
      <p:sp>
        <p:nvSpPr>
          <p:cNvPr id="11" name="C3-E29 text 9" descr="sci-ppt:o009"/>
          <p:cNvSpPr txBox="1"/>
          <p:nvPr/>
        </p:nvSpPr>
        <p:spPr>
          <a:xfrm>
            <a:off x="731520" y="3246120"/>
            <a:ext cx="1078992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Each energy allocation belongs to the same finite source budget.</a:t>
            </a:r>
          </a:p>
        </p:txBody>
      </p:sp>
      <p:cxnSp>
        <p:nvCxnSpPr>
          <p:cNvPr id="12" name="C3-E29 line 10" descr="sci-ppt:o010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3" name="C3-E29 text 11" descr="sci-ppt:o011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E_L = 25 μJ incoming</a:t>
            </a:r>
          </a:p>
        </p:txBody>
      </p:sp>
      <p:sp>
        <p:nvSpPr>
          <p:cNvPr id="14" name="C3-E29 text 12" descr="sci-ppt:o012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f_geo = 0.8 intercepted</a:t>
            </a:r>
          </a:p>
        </p:txBody>
      </p:sp>
      <p:sp>
        <p:nvSpPr>
          <p:cNvPr id="15" name="C3-E29 text 13" descr="sci-ppt:o013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A_λ = 0.5 absorbed; λ wavelength</a:t>
            </a:r>
          </a:p>
        </p:txBody>
      </p:sp>
      <p:sp>
        <p:nvSpPr>
          <p:cNvPr id="16" name="C3-E29 text 14" descr="sci-ppt:o014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N_d = 25 sites</a:t>
            </a:r>
          </a:p>
        </p:txBody>
      </p:sp>
      <p:sp>
        <p:nvSpPr>
          <p:cNvPr id="17" name="C3-E29 text 15" descr="sci-ppt:o015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E_abs,tot = 10 μJ</a:t>
            </a:r>
          </a:p>
        </p:txBody>
      </p:sp>
      <p:sp>
        <p:nvSpPr>
          <p:cNvPr id="18" name="C3-E29 text 16" descr="sci-ppt:o016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E_abs,site = 400 nJ</a:t>
            </a:r>
          </a:p>
        </p:txBody>
      </p:sp>
      <p:sp>
        <p:nvSpPr>
          <p:cNvPr id="19" name="C3-E29 text 17" descr="sci-ppt:o017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f_T = 0.40 → E_PFC,deadline</a:t>
            </a:r>
          </a:p>
        </p:txBody>
      </p:sp>
      <p:sp>
        <p:nvSpPr>
          <p:cNvPr id="20" name="C3-E29 text 18" descr="sci-ppt:o018"/>
          <p:cNvSpPr txBox="1"/>
          <p:nvPr/>
        </p:nvSpPr>
        <p:spPr>
          <a:xfrm>
            <a:off x="621792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η_j = 0.005 → E_j, E_j,tot</a:t>
            </a:r>
          </a:p>
        </p:txBody>
      </p:sp>
      <p:sp>
        <p:nvSpPr>
          <p:cNvPr id="21" name="C3-E29 text 19" descr="sci-ppt:o019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Thermal preparation is checked on its own timescale</a:t>
            </a:r>
          </a:p>
        </p:txBody>
      </p:sp>
      <p:sp>
        <p:nvSpPr>
          <p:cNvPr id="22" name="C3-E29 text 20" descr="sci-ppt:o020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η_j is an assumption to be measured or solved</a:t>
            </a:r>
          </a:p>
        </p:txBody>
      </p:sp>
      <p:sp>
        <p:nvSpPr>
          <p:cNvPr id="23" name="C3-E29 text 21" descr="sci-ppt:o021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