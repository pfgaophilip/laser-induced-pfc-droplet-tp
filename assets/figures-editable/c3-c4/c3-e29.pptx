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C3-E29 · Declared optical and mechanical allocation</a:t>
            </a:r>
          </a:p>
        </p:txBody>
      </p:sp>
      <p:sp>
        <p:nvSpPr>
          <p:cNvPr id="3" name="C3-E29 text 1" descr="sci-ppt:o001"/>
          <p:cNvSpPr txBox="1"/>
          <p:nvPr/>
        </p:nvSpPr>
        <p:spPr>
          <a:xfrm>
            <a:off x="457200" y="914400"/>
            <a:ext cx="113385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From 25 µJ of laser light to 2 nJ of jet kinetic energy (nJ, log axis)</a:t>
            </a:r>
          </a:p>
        </p:txBody>
      </p:sp>
      <p:sp>
        <p:nvSpPr>
          <p:cNvPr id="4" name="C3-E29 text 2" descr="sci-ppt:o002"/>
          <p:cNvSpPr txBox="1"/>
          <p:nvPr/>
        </p:nvSpPr>
        <p:spPr>
          <a:xfrm>
            <a:off x="457200" y="1481328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incident laser energy E_L</a:t>
            </a:r>
          </a:p>
        </p:txBody>
      </p:sp>
      <p:sp>
        <p:nvSpPr>
          <p:cNvPr id="5" name="C3-E29 rect 3" descr="sci-ppt:o003"/>
          <p:cNvSpPr/>
          <p:nvPr/>
        </p:nvSpPr>
        <p:spPr>
          <a:xfrm>
            <a:off x="5577840" y="1463040"/>
            <a:ext cx="4850432" cy="41148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3-E29 text 4" descr="sci-ppt:o004"/>
          <p:cNvSpPr txBox="1"/>
          <p:nvPr/>
        </p:nvSpPr>
        <p:spPr>
          <a:xfrm>
            <a:off x="10501424" y="1508760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25000 nJ</a:t>
            </a:r>
          </a:p>
        </p:txBody>
      </p:sp>
      <p:sp>
        <p:nvSpPr>
          <p:cNvPr id="7" name="C3-E29 text 5" descr="sci-ppt:o005"/>
          <p:cNvSpPr txBox="1"/>
          <p:nvPr/>
        </p:nvSpPr>
        <p:spPr>
          <a:xfrm>
            <a:off x="457200" y="2121408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absorbed E_abs,tot = 0.8 × 0.5 × E_L</a:t>
            </a:r>
          </a:p>
        </p:txBody>
      </p:sp>
      <p:sp>
        <p:nvSpPr>
          <p:cNvPr id="8" name="C3-E29 rect 6" descr="sci-ppt:o006"/>
          <p:cNvSpPr/>
          <p:nvPr/>
        </p:nvSpPr>
        <p:spPr>
          <a:xfrm>
            <a:off x="5577840" y="2103120"/>
            <a:ext cx="4411549" cy="41148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3-E29 text 7" descr="sci-ppt:o007"/>
          <p:cNvSpPr txBox="1"/>
          <p:nvPr/>
        </p:nvSpPr>
        <p:spPr>
          <a:xfrm>
            <a:off x="10062541" y="2148839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10000 nJ</a:t>
            </a:r>
          </a:p>
        </p:txBody>
      </p:sp>
      <p:sp>
        <p:nvSpPr>
          <p:cNvPr id="10" name="C3-E29 text 8" descr="sci-ppt:o008"/>
          <p:cNvSpPr txBox="1"/>
          <p:nvPr/>
        </p:nvSpPr>
        <p:spPr>
          <a:xfrm>
            <a:off x="457200" y="2761488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per site E_abs,site = E_abs,tot / 25</a:t>
            </a:r>
          </a:p>
        </p:txBody>
      </p:sp>
      <p:sp>
        <p:nvSpPr>
          <p:cNvPr id="11" name="C3-E29 rect 9" descr="sci-ppt:o009"/>
          <p:cNvSpPr/>
          <p:nvPr/>
        </p:nvSpPr>
        <p:spPr>
          <a:xfrm>
            <a:off x="5577840" y="2743200"/>
            <a:ext cx="2869778" cy="41148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29 text 10" descr="sci-ppt:o010"/>
          <p:cNvSpPr txBox="1"/>
          <p:nvPr/>
        </p:nvSpPr>
        <p:spPr>
          <a:xfrm>
            <a:off x="8520770" y="2788920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400 nJ</a:t>
            </a:r>
          </a:p>
        </p:txBody>
      </p:sp>
      <p:sp>
        <p:nvSpPr>
          <p:cNvPr id="13" name="C3-E29 text 11" descr="sci-ppt:o011"/>
          <p:cNvSpPr txBox="1"/>
          <p:nvPr/>
        </p:nvSpPr>
        <p:spPr>
          <a:xfrm>
            <a:off x="457200" y="3401568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to PFC by deadline f_T E_abs,site (f_T = 0.40)</a:t>
            </a:r>
          </a:p>
        </p:txBody>
      </p:sp>
      <p:sp>
        <p:nvSpPr>
          <p:cNvPr id="14" name="C3-E29 rect 12" descr="sci-ppt:o012"/>
          <p:cNvSpPr/>
          <p:nvPr/>
        </p:nvSpPr>
        <p:spPr>
          <a:xfrm>
            <a:off x="5577840" y="3383279"/>
            <a:ext cx="2430895" cy="41148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29 text 13" descr="sci-ppt:o013"/>
          <p:cNvSpPr txBox="1"/>
          <p:nvPr/>
        </p:nvSpPr>
        <p:spPr>
          <a:xfrm>
            <a:off x="8081887" y="3428999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160 nJ</a:t>
            </a:r>
          </a:p>
        </p:txBody>
      </p:sp>
      <p:sp>
        <p:nvSpPr>
          <p:cNvPr id="16" name="C3-E29 text 14" descr="sci-ppt:o014"/>
          <p:cNvSpPr txBox="1"/>
          <p:nvPr/>
        </p:nvSpPr>
        <p:spPr>
          <a:xfrm>
            <a:off x="457200" y="4041648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jet kinetic energy Eⱼ = ηⱼ E_abs,site</a:t>
            </a:r>
          </a:p>
        </p:txBody>
      </p:sp>
      <p:sp>
        <p:nvSpPr>
          <p:cNvPr id="17" name="C3-E29 rect 15" descr="sci-ppt:o015"/>
          <p:cNvSpPr/>
          <p:nvPr/>
        </p:nvSpPr>
        <p:spPr>
          <a:xfrm>
            <a:off x="5577840" y="4023360"/>
            <a:ext cx="332002" cy="411480"/>
          </a:xfrm>
          <a:prstGeom prst="rect">
            <a:avLst/>
          </a:prstGeom>
          <a:solidFill>
            <a:srgbClr val="A8E6A1">
              <a:alpha val="85000"/>
            </a:srgbClr>
          </a:solidFill>
          <a:ln w="12700">
            <a:solidFill>
              <a:srgbClr val="A8E6A1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29 text 16" descr="sci-ppt:o016"/>
          <p:cNvSpPr txBox="1"/>
          <p:nvPr/>
        </p:nvSpPr>
        <p:spPr>
          <a:xfrm>
            <a:off x="5982994" y="4069080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2 nJ</a:t>
            </a:r>
          </a:p>
        </p:txBody>
      </p:sp>
      <p:sp>
        <p:nvSpPr>
          <p:cNvPr id="19" name="C3-E29 round_rect 17" descr="sci-ppt:o017"/>
          <p:cNvSpPr/>
          <p:nvPr/>
        </p:nvSpPr>
        <p:spPr>
          <a:xfrm>
            <a:off x="457200" y="4480560"/>
            <a:ext cx="5486400" cy="13258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3-E29 text 18" descr="sci-ppt:o018"/>
          <p:cNvSpPr txBox="1"/>
          <p:nvPr/>
        </p:nvSpPr>
        <p:spPr>
          <a:xfrm>
            <a:off x="594360" y="4572000"/>
            <a:ext cx="52120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Efficiencies are stipulated: f_geo = 0.8, A_λ = 0.5, f_T =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0.40, ηⱼ = 0.005.</a:t>
            </a:r>
          </a:p>
        </p:txBody>
      </p:sp>
      <p:sp>
        <p:nvSpPr>
          <p:cNvPr id="21" name="C3-E29 text 19" descr="sci-ppt:o019"/>
          <p:cNvSpPr txBox="1"/>
          <p:nvPr/>
        </p:nvSpPr>
        <p:spPr>
          <a:xfrm>
            <a:off x="594360" y="507492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N_d = 25 sites share the energy equally.</a:t>
            </a:r>
          </a:p>
        </p:txBody>
      </p:sp>
      <p:sp>
        <p:nvSpPr>
          <p:cNvPr id="22" name="C3-E29 round_rect 20" descr="sci-ppt:o020"/>
          <p:cNvSpPr/>
          <p:nvPr/>
        </p:nvSpPr>
        <p:spPr>
          <a:xfrm>
            <a:off x="6126480" y="4480560"/>
            <a:ext cx="5669280" cy="13258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3-E29 text 21" descr="sci-ppt:o021"/>
          <p:cNvSpPr txBox="1"/>
          <p:nvPr/>
        </p:nvSpPr>
        <p:spPr>
          <a:xfrm>
            <a:off x="6236208" y="4535424"/>
            <a:ext cx="54498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Total jet energy</a:t>
            </a:r>
          </a:p>
        </p:txBody>
      </p:sp>
      <p:sp>
        <p:nvSpPr>
          <p:cNvPr id="24" name="C3-E29 text 22" descr="sci-ppt:o022"/>
          <p:cNvSpPr txBox="1"/>
          <p:nvPr/>
        </p:nvSpPr>
        <p:spPr>
          <a:xfrm>
            <a:off x="6263640" y="4937760"/>
            <a:ext cx="53949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Eⱼ,tot = N_d Eⱼ = 25 × 2.00 nJ = 50.0 nJ</a:t>
            </a:r>
          </a:p>
        </p:txBody>
      </p:sp>
      <p:sp>
        <p:nvSpPr>
          <p:cNvPr id="25" name="C3-E29 text 23" descr="sci-ppt:o02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Allocation chain of Eq. C3-E29: each stage uses only the energy left by the previous one (no double counting).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