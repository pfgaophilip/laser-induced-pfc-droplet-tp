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03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C4-E03 · Derived plate parameters under constitutive assumptions</a:t>
            </a:r>
          </a:p>
        </p:txBody>
      </p:sp>
      <p:sp>
        <p:nvSpPr>
          <p:cNvPr id="3" name="C4-E03 round_rect 1" descr="sci-ppt:o001"/>
          <p:cNvSpPr/>
          <p:nvPr/>
        </p:nvSpPr>
        <p:spPr>
          <a:xfrm>
            <a:off x="365760" y="914400"/>
            <a:ext cx="5669280" cy="48463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4-E03 text 2" descr="sci-ppt:o002"/>
          <p:cNvSpPr txBox="1"/>
          <p:nvPr/>
        </p:nvSpPr>
        <p:spPr>
          <a:xfrm>
            <a:off x="475488" y="969264"/>
            <a:ext cx="544982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One film, two thickness integrals</a:t>
            </a:r>
          </a:p>
        </p:txBody>
      </p:sp>
      <p:sp>
        <p:nvSpPr>
          <p:cNvPr id="5" name="C4-E03 rect 3" descr="sci-ppt:o003"/>
          <p:cNvSpPr/>
          <p:nvPr/>
        </p:nvSpPr>
        <p:spPr>
          <a:xfrm>
            <a:off x="914400" y="2011680"/>
            <a:ext cx="3291840" cy="2194560"/>
          </a:xfrm>
          <a:prstGeom prst="rect">
            <a:avLst/>
          </a:prstGeom>
          <a:solidFill>
            <a:srgbClr val="1E4A5A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4-E03 line 4" descr="sci-ppt:o004"/>
          <p:cNvCxnSpPr/>
          <p:nvPr/>
        </p:nvCxnSpPr>
        <p:spPr>
          <a:xfrm>
            <a:off x="4434840" y="2011680"/>
            <a:ext cx="0" cy="2194560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cxnSp>
        <p:nvCxnSpPr>
          <p:cNvPr id="7" name="C4-E03 line 5" descr="sci-ppt:o005"/>
          <p:cNvCxnSpPr/>
          <p:nvPr/>
        </p:nvCxnSpPr>
        <p:spPr>
          <a:xfrm flipH="1">
            <a:off x="4370831" y="2011680"/>
            <a:ext cx="128017" cy="0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cxnSp>
        <p:nvCxnSpPr>
          <p:cNvPr id="8" name="C4-E03 line 6" descr="sci-ppt:o006"/>
          <p:cNvCxnSpPr/>
          <p:nvPr/>
        </p:nvCxnSpPr>
        <p:spPr>
          <a:xfrm flipH="1">
            <a:off x="4370831" y="4206240"/>
            <a:ext cx="128017" cy="0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sp>
        <p:nvSpPr>
          <p:cNvPr id="9" name="C4-E03 text 7" descr="sci-ppt:o007"/>
          <p:cNvSpPr txBox="1"/>
          <p:nvPr/>
        </p:nvSpPr>
        <p:spPr>
          <a:xfrm>
            <a:off x="3337559" y="3017520"/>
            <a:ext cx="18288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h_f</a:t>
            </a:r>
          </a:p>
        </p:txBody>
      </p:sp>
      <p:cxnSp>
        <p:nvCxnSpPr>
          <p:cNvPr id="10" name="C4-E03 line 8" descr="sci-ppt:o008"/>
          <p:cNvCxnSpPr/>
          <p:nvPr/>
        </p:nvCxnSpPr>
        <p:spPr>
          <a:xfrm>
            <a:off x="914400" y="3108960"/>
            <a:ext cx="3291840" cy="0"/>
          </a:xfrm>
          <a:prstGeom prst="line">
            <a:avLst/>
          </a:prstGeom>
          <a:ln w="15240">
            <a:solidFill>
              <a:srgbClr val="B4C7D2"/>
            </a:solidFill>
            <a:prstDash val="dash"/>
          </a:ln>
          <a:effectLst/>
        </p:spPr>
      </p:cxnSp>
      <p:sp>
        <p:nvSpPr>
          <p:cNvPr id="11" name="C4-E03 text 9" descr="sci-ppt:o009"/>
          <p:cNvSpPr txBox="1"/>
          <p:nvPr/>
        </p:nvSpPr>
        <p:spPr>
          <a:xfrm>
            <a:off x="1188720" y="3154680"/>
            <a:ext cx="13716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mid-plane</a:t>
            </a:r>
          </a:p>
        </p:txBody>
      </p:sp>
      <p:sp>
        <p:nvSpPr>
          <p:cNvPr id="12" name="C4-E03 text 10" descr="sci-ppt:o010"/>
          <p:cNvSpPr txBox="1"/>
          <p:nvPr/>
        </p:nvSpPr>
        <p:spPr>
          <a:xfrm>
            <a:off x="1097280" y="2148840"/>
            <a:ext cx="27432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density ρ_f is uniform</a:t>
            </a:r>
          </a:p>
        </p:txBody>
      </p:sp>
      <p:sp>
        <p:nvSpPr>
          <p:cNvPr id="13" name="C4-E03 text 11" descr="sci-ppt:o011"/>
          <p:cNvSpPr txBox="1"/>
          <p:nvPr/>
        </p:nvSpPr>
        <p:spPr>
          <a:xfrm>
            <a:off x="548640" y="4572000"/>
            <a:ext cx="530352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m_A = ∫ρ_f dz = ρ_f h_f</a:t>
            </a:r>
          </a:p>
        </p:txBody>
      </p:sp>
      <p:sp>
        <p:nvSpPr>
          <p:cNvPr id="14" name="C4-E03 text 12" descr="sci-ppt:o012"/>
          <p:cNvSpPr txBox="1"/>
          <p:nvPr/>
        </p:nvSpPr>
        <p:spPr>
          <a:xfrm>
            <a:off x="548640" y="5029200"/>
            <a:ext cx="53035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D_f = E_f/(1−ν²) ∫z² dz = E_f h_f³ / [12(1−ν_f²)]</a:t>
            </a:r>
          </a:p>
        </p:txBody>
      </p:sp>
      <p:cxnSp>
        <p:nvCxnSpPr>
          <p:cNvPr id="15" name="C4-E03 line 13" descr="sci-ppt:o013"/>
          <p:cNvCxnSpPr/>
          <p:nvPr/>
        </p:nvCxnSpPr>
        <p:spPr>
          <a:xfrm>
            <a:off x="6583680" y="4663440"/>
            <a:ext cx="23774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16" name="C4-E03 line 14" descr="sci-ppt:o014"/>
          <p:cNvCxnSpPr/>
          <p:nvPr/>
        </p:nvCxnSpPr>
        <p:spPr>
          <a:xfrm>
            <a:off x="6583680" y="1371600"/>
            <a:ext cx="0" cy="329184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17" name="C4-E03 line 15" descr="sci-ppt:o015"/>
          <p:cNvCxnSpPr/>
          <p:nvPr/>
        </p:nvCxnSpPr>
        <p:spPr>
          <a:xfrm>
            <a:off x="6583680" y="46634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4-E03 line 16" descr="sci-ppt:o016"/>
          <p:cNvCxnSpPr/>
          <p:nvPr/>
        </p:nvCxnSpPr>
        <p:spPr>
          <a:xfrm>
            <a:off x="6583680" y="1371600"/>
            <a:ext cx="0" cy="32918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4-E03 text 17" descr="sci-ppt:o017"/>
          <p:cNvSpPr txBox="1"/>
          <p:nvPr/>
        </p:nvSpPr>
        <p:spPr>
          <a:xfrm>
            <a:off x="6126480" y="474573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20" name="C4-E03 line 18" descr="sci-ppt:o018"/>
          <p:cNvCxnSpPr/>
          <p:nvPr/>
        </p:nvCxnSpPr>
        <p:spPr>
          <a:xfrm>
            <a:off x="8961120" y="46634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4-E03 line 19" descr="sci-ppt:o019"/>
          <p:cNvCxnSpPr/>
          <p:nvPr/>
        </p:nvCxnSpPr>
        <p:spPr>
          <a:xfrm>
            <a:off x="8961120" y="1371600"/>
            <a:ext cx="0" cy="32918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C4-E03 text 20" descr="sci-ppt:o020"/>
          <p:cNvSpPr txBox="1"/>
          <p:nvPr/>
        </p:nvSpPr>
        <p:spPr>
          <a:xfrm>
            <a:off x="8503920" y="474573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23" name="C4-E03 line 21" descr="sci-ppt:o021"/>
          <p:cNvCxnSpPr/>
          <p:nvPr/>
        </p:nvCxnSpPr>
        <p:spPr>
          <a:xfrm>
            <a:off x="6519672" y="466344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4-E03 line 22" descr="sci-ppt:o022"/>
          <p:cNvCxnSpPr/>
          <p:nvPr/>
        </p:nvCxnSpPr>
        <p:spPr>
          <a:xfrm>
            <a:off x="6519672" y="30175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4-E03 line 23" descr="sci-ppt:o023"/>
          <p:cNvCxnSpPr/>
          <p:nvPr/>
        </p:nvCxnSpPr>
        <p:spPr>
          <a:xfrm>
            <a:off x="6583680" y="3017520"/>
            <a:ext cx="23774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4-E03 text 24" descr="sci-ppt:o024"/>
          <p:cNvSpPr txBox="1"/>
          <p:nvPr/>
        </p:nvSpPr>
        <p:spPr>
          <a:xfrm>
            <a:off x="5715000" y="293522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27" name="C4-E03 line 25" descr="sci-ppt:o025"/>
          <p:cNvCxnSpPr/>
          <p:nvPr/>
        </p:nvCxnSpPr>
        <p:spPr>
          <a:xfrm>
            <a:off x="6519672" y="137159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4-E03 line 26" descr="sci-ppt:o026"/>
          <p:cNvCxnSpPr/>
          <p:nvPr/>
        </p:nvCxnSpPr>
        <p:spPr>
          <a:xfrm>
            <a:off x="6583680" y="1371599"/>
            <a:ext cx="23774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4-E03 text 27" descr="sci-ppt:o027"/>
          <p:cNvSpPr txBox="1"/>
          <p:nvPr/>
        </p:nvSpPr>
        <p:spPr>
          <a:xfrm>
            <a:off x="5715000" y="1289303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sp>
        <p:nvSpPr>
          <p:cNvPr id="30" name="C4-E03 text 28" descr="sci-ppt:o028"/>
          <p:cNvSpPr txBox="1"/>
          <p:nvPr/>
        </p:nvSpPr>
        <p:spPr>
          <a:xfrm>
            <a:off x="6583680" y="4946903"/>
            <a:ext cx="23774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weight</a:t>
            </a:r>
          </a:p>
        </p:txBody>
      </p:sp>
      <p:sp>
        <p:nvSpPr>
          <p:cNvPr id="31" name="C4-E03 text 29" descr="sci-ppt:o029"/>
          <p:cNvSpPr txBox="1"/>
          <p:nvPr/>
        </p:nvSpPr>
        <p:spPr>
          <a:xfrm>
            <a:off x="6035040" y="1024128"/>
            <a:ext cx="27432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z / h_f</a:t>
            </a:r>
          </a:p>
        </p:txBody>
      </p:sp>
      <p:sp>
        <p:nvSpPr>
          <p:cNvPr id="32" name="C4-E03 rect 30" descr="sci-ppt:o030"/>
          <p:cNvSpPr/>
          <p:nvPr/>
        </p:nvSpPr>
        <p:spPr>
          <a:xfrm>
            <a:off x="6583680" y="1371599"/>
            <a:ext cx="2377440" cy="3291840"/>
          </a:xfrm>
          <a:prstGeom prst="rect">
            <a:avLst/>
          </a:prstGeom>
          <a:solidFill>
            <a:srgbClr val="8EDBD4">
              <a:alpha val="30000"/>
            </a:srgbClr>
          </a:solidFill>
          <a:ln w="12700">
            <a:solidFill>
              <a:srgbClr val="8EDBD4">
                <a:alpha val="3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4-E03 text 31" descr="sci-ppt:o031"/>
          <p:cNvSpPr txBox="1"/>
          <p:nvPr/>
        </p:nvSpPr>
        <p:spPr>
          <a:xfrm>
            <a:off x="6775704" y="1609343"/>
            <a:ext cx="12801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inertia: 1</a:t>
            </a:r>
          </a:p>
        </p:txBody>
      </p:sp>
      <p:cxnSp>
        <p:nvCxnSpPr>
          <p:cNvPr id="34" name="C4-E03 line 32" descr="sci-ppt:o032"/>
          <p:cNvCxnSpPr/>
          <p:nvPr/>
        </p:nvCxnSpPr>
        <p:spPr>
          <a:xfrm>
            <a:off x="9601200" y="4663440"/>
            <a:ext cx="21945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35" name="C4-E03 line 33" descr="sci-ppt:o033"/>
          <p:cNvCxnSpPr/>
          <p:nvPr/>
        </p:nvCxnSpPr>
        <p:spPr>
          <a:xfrm>
            <a:off x="9601200" y="1371600"/>
            <a:ext cx="0" cy="329184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36" name="C4-E03 line 34" descr="sci-ppt:o034"/>
          <p:cNvCxnSpPr/>
          <p:nvPr/>
        </p:nvCxnSpPr>
        <p:spPr>
          <a:xfrm>
            <a:off x="9601200" y="46634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7" name="C4-E03 line 35" descr="sci-ppt:o035"/>
          <p:cNvCxnSpPr/>
          <p:nvPr/>
        </p:nvCxnSpPr>
        <p:spPr>
          <a:xfrm>
            <a:off x="9601200" y="1371600"/>
            <a:ext cx="0" cy="32918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8" name="C4-E03 text 36" descr="sci-ppt:o036"/>
          <p:cNvSpPr txBox="1"/>
          <p:nvPr/>
        </p:nvSpPr>
        <p:spPr>
          <a:xfrm>
            <a:off x="9144000" y="474573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39" name="C4-E03 line 37" descr="sci-ppt:o037"/>
          <p:cNvCxnSpPr/>
          <p:nvPr/>
        </p:nvCxnSpPr>
        <p:spPr>
          <a:xfrm>
            <a:off x="11430000" y="46634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0" name="C4-E03 line 38" descr="sci-ppt:o038"/>
          <p:cNvCxnSpPr/>
          <p:nvPr/>
        </p:nvCxnSpPr>
        <p:spPr>
          <a:xfrm>
            <a:off x="11430000" y="1371600"/>
            <a:ext cx="0" cy="32918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1" name="C4-E03 text 39" descr="sci-ppt:o039"/>
          <p:cNvSpPr txBox="1"/>
          <p:nvPr/>
        </p:nvSpPr>
        <p:spPr>
          <a:xfrm>
            <a:off x="10972800" y="474573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42" name="C4-E03 line 40" descr="sci-ppt:o040"/>
          <p:cNvCxnSpPr/>
          <p:nvPr/>
        </p:nvCxnSpPr>
        <p:spPr>
          <a:xfrm>
            <a:off x="9537192" y="466344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3" name="C4-E03 line 41" descr="sci-ppt:o041"/>
          <p:cNvCxnSpPr/>
          <p:nvPr/>
        </p:nvCxnSpPr>
        <p:spPr>
          <a:xfrm>
            <a:off x="9537192" y="30175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4" name="C4-E03 line 42" descr="sci-ppt:o042"/>
          <p:cNvCxnSpPr/>
          <p:nvPr/>
        </p:nvCxnSpPr>
        <p:spPr>
          <a:xfrm>
            <a:off x="9601200" y="3017520"/>
            <a:ext cx="2194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5" name="C4-E03 text 43" descr="sci-ppt:o043"/>
          <p:cNvSpPr txBox="1"/>
          <p:nvPr/>
        </p:nvSpPr>
        <p:spPr>
          <a:xfrm>
            <a:off x="8732520" y="293522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46" name="C4-E03 line 44" descr="sci-ppt:o044"/>
          <p:cNvCxnSpPr/>
          <p:nvPr/>
        </p:nvCxnSpPr>
        <p:spPr>
          <a:xfrm>
            <a:off x="9537192" y="137159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7" name="C4-E03 line 45" descr="sci-ppt:o045"/>
          <p:cNvCxnSpPr/>
          <p:nvPr/>
        </p:nvCxnSpPr>
        <p:spPr>
          <a:xfrm>
            <a:off x="9601200" y="1371599"/>
            <a:ext cx="2194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8" name="C4-E03 text 46" descr="sci-ppt:o046"/>
          <p:cNvSpPr txBox="1"/>
          <p:nvPr/>
        </p:nvSpPr>
        <p:spPr>
          <a:xfrm>
            <a:off x="8732520" y="1289303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sp>
        <p:nvSpPr>
          <p:cNvPr id="49" name="C4-E03 text 47" descr="sci-ppt:o047"/>
          <p:cNvSpPr txBox="1"/>
          <p:nvPr/>
        </p:nvSpPr>
        <p:spPr>
          <a:xfrm>
            <a:off x="9601200" y="4946903"/>
            <a:ext cx="21945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z²</a:t>
            </a:r>
          </a:p>
        </p:txBody>
      </p:sp>
      <p:sp>
        <p:nvSpPr>
          <p:cNvPr id="50" name="C4-E03 polygon 48" descr="sci-ppt:o048"/>
          <p:cNvSpPr/>
          <p:nvPr/>
        </p:nvSpPr>
        <p:spPr>
          <a:xfrm>
            <a:off x="9601386" y="1371599"/>
            <a:ext cx="1828614" cy="3291841"/>
          </a:xfrm>
          <a:custGeom>
            <a:avLst/>
            <a:gdLst/>
            <a:ahLst/>
            <a:cxnLst/>
            <a:rect l="l" t="t" r="r" b="b"/>
            <a:pathLst>
              <a:path w="1828614" h="3291841">
                <a:moveTo>
                  <a:pt x="1828614" y="3291841"/>
                </a:moveTo>
                <a:lnTo>
                  <a:pt x="1755469" y="3258590"/>
                </a:lnTo>
                <a:lnTo>
                  <a:pt x="1683817" y="3225339"/>
                </a:lnTo>
                <a:lnTo>
                  <a:pt x="1613658" y="3192088"/>
                </a:lnTo>
                <a:lnTo>
                  <a:pt x="1544992" y="3158837"/>
                </a:lnTo>
                <a:lnTo>
                  <a:pt x="1477818" y="3125586"/>
                </a:lnTo>
                <a:lnTo>
                  <a:pt x="1412137" y="3092335"/>
                </a:lnTo>
                <a:lnTo>
                  <a:pt x="1347949" y="3059084"/>
                </a:lnTo>
                <a:lnTo>
                  <a:pt x="1285254" y="3025833"/>
                </a:lnTo>
                <a:lnTo>
                  <a:pt x="1224052" y="2992582"/>
                </a:lnTo>
                <a:lnTo>
                  <a:pt x="1164342" y="2959331"/>
                </a:lnTo>
                <a:lnTo>
                  <a:pt x="1106125" y="2926080"/>
                </a:lnTo>
                <a:lnTo>
                  <a:pt x="1049400" y="2892830"/>
                </a:lnTo>
                <a:lnTo>
                  <a:pt x="994169" y="2859579"/>
                </a:lnTo>
                <a:lnTo>
                  <a:pt x="940430" y="2826328"/>
                </a:lnTo>
                <a:lnTo>
                  <a:pt x="888184" y="2793077"/>
                </a:lnTo>
                <a:lnTo>
                  <a:pt x="837430" y="2759826"/>
                </a:lnTo>
                <a:lnTo>
                  <a:pt x="788170" y="2726575"/>
                </a:lnTo>
                <a:lnTo>
                  <a:pt x="740402" y="2693324"/>
                </a:lnTo>
                <a:lnTo>
                  <a:pt x="694127" y="2660073"/>
                </a:lnTo>
                <a:lnTo>
                  <a:pt x="649344" y="2626822"/>
                </a:lnTo>
                <a:lnTo>
                  <a:pt x="606055" y="2593571"/>
                </a:lnTo>
                <a:lnTo>
                  <a:pt x="564258" y="2560321"/>
                </a:lnTo>
                <a:lnTo>
                  <a:pt x="523954" y="2527070"/>
                </a:lnTo>
                <a:lnTo>
                  <a:pt x="485142" y="2493819"/>
                </a:lnTo>
                <a:lnTo>
                  <a:pt x="447824" y="2460568"/>
                </a:lnTo>
                <a:lnTo>
                  <a:pt x="411998" y="2427317"/>
                </a:lnTo>
                <a:lnTo>
                  <a:pt x="377665" y="2394066"/>
                </a:lnTo>
                <a:lnTo>
                  <a:pt x="344824" y="2360815"/>
                </a:lnTo>
                <a:lnTo>
                  <a:pt x="313477" y="2327564"/>
                </a:lnTo>
                <a:lnTo>
                  <a:pt x="283622" y="2294313"/>
                </a:lnTo>
                <a:lnTo>
                  <a:pt x="255260" y="2261062"/>
                </a:lnTo>
                <a:lnTo>
                  <a:pt x="228390" y="2227811"/>
                </a:lnTo>
                <a:lnTo>
                  <a:pt x="203014" y="2194560"/>
                </a:lnTo>
                <a:lnTo>
                  <a:pt x="179130" y="2161310"/>
                </a:lnTo>
                <a:lnTo>
                  <a:pt x="156738" y="2128059"/>
                </a:lnTo>
                <a:lnTo>
                  <a:pt x="135840" y="2094808"/>
                </a:lnTo>
                <a:lnTo>
                  <a:pt x="116434" y="2061557"/>
                </a:lnTo>
                <a:lnTo>
                  <a:pt x="98521" y="2028306"/>
                </a:lnTo>
                <a:lnTo>
                  <a:pt x="82101" y="1995055"/>
                </a:lnTo>
                <a:lnTo>
                  <a:pt x="67174" y="1961804"/>
                </a:lnTo>
                <a:lnTo>
                  <a:pt x="53739" y="1928553"/>
                </a:lnTo>
                <a:lnTo>
                  <a:pt x="41797" y="1895302"/>
                </a:lnTo>
                <a:lnTo>
                  <a:pt x="31348" y="1862051"/>
                </a:lnTo>
                <a:lnTo>
                  <a:pt x="22391" y="1828800"/>
                </a:lnTo>
                <a:lnTo>
                  <a:pt x="14928" y="1795550"/>
                </a:lnTo>
                <a:lnTo>
                  <a:pt x="8957" y="1762299"/>
                </a:lnTo>
                <a:lnTo>
                  <a:pt x="4478" y="1729048"/>
                </a:lnTo>
                <a:lnTo>
                  <a:pt x="1493" y="1695797"/>
                </a:lnTo>
                <a:lnTo>
                  <a:pt x="0" y="1662546"/>
                </a:lnTo>
                <a:lnTo>
                  <a:pt x="0" y="1629295"/>
                </a:lnTo>
                <a:lnTo>
                  <a:pt x="1493" y="1596044"/>
                </a:lnTo>
                <a:lnTo>
                  <a:pt x="4478" y="1562793"/>
                </a:lnTo>
                <a:lnTo>
                  <a:pt x="8957" y="1529542"/>
                </a:lnTo>
                <a:lnTo>
                  <a:pt x="14928" y="1496291"/>
                </a:lnTo>
                <a:lnTo>
                  <a:pt x="22391" y="1463040"/>
                </a:lnTo>
                <a:lnTo>
                  <a:pt x="31348" y="1429790"/>
                </a:lnTo>
                <a:lnTo>
                  <a:pt x="41797" y="1396539"/>
                </a:lnTo>
                <a:lnTo>
                  <a:pt x="53739" y="1363288"/>
                </a:lnTo>
                <a:lnTo>
                  <a:pt x="67174" y="1330037"/>
                </a:lnTo>
                <a:lnTo>
                  <a:pt x="82101" y="1296786"/>
                </a:lnTo>
                <a:lnTo>
                  <a:pt x="98521" y="1263535"/>
                </a:lnTo>
                <a:lnTo>
                  <a:pt x="116434" y="1230284"/>
                </a:lnTo>
                <a:lnTo>
                  <a:pt x="135840" y="1197033"/>
                </a:lnTo>
                <a:lnTo>
                  <a:pt x="156738" y="1163782"/>
                </a:lnTo>
                <a:lnTo>
                  <a:pt x="179130" y="1130531"/>
                </a:lnTo>
                <a:lnTo>
                  <a:pt x="203014" y="1097280"/>
                </a:lnTo>
                <a:lnTo>
                  <a:pt x="228390" y="1064030"/>
                </a:lnTo>
                <a:lnTo>
                  <a:pt x="255260" y="1030779"/>
                </a:lnTo>
                <a:lnTo>
                  <a:pt x="283622" y="997528"/>
                </a:lnTo>
                <a:lnTo>
                  <a:pt x="313477" y="964277"/>
                </a:lnTo>
                <a:lnTo>
                  <a:pt x="344824" y="931026"/>
                </a:lnTo>
                <a:lnTo>
                  <a:pt x="377665" y="897775"/>
                </a:lnTo>
                <a:lnTo>
                  <a:pt x="411998" y="864524"/>
                </a:lnTo>
                <a:lnTo>
                  <a:pt x="447824" y="831273"/>
                </a:lnTo>
                <a:lnTo>
                  <a:pt x="485142" y="798022"/>
                </a:lnTo>
                <a:lnTo>
                  <a:pt x="523954" y="764771"/>
                </a:lnTo>
                <a:lnTo>
                  <a:pt x="564258" y="731520"/>
                </a:lnTo>
                <a:lnTo>
                  <a:pt x="606055" y="698270"/>
                </a:lnTo>
                <a:lnTo>
                  <a:pt x="649344" y="665019"/>
                </a:lnTo>
                <a:lnTo>
                  <a:pt x="694127" y="631768"/>
                </a:lnTo>
                <a:lnTo>
                  <a:pt x="740402" y="598517"/>
                </a:lnTo>
                <a:lnTo>
                  <a:pt x="788170" y="565266"/>
                </a:lnTo>
                <a:lnTo>
                  <a:pt x="837430" y="532015"/>
                </a:lnTo>
                <a:lnTo>
                  <a:pt x="888184" y="498764"/>
                </a:lnTo>
                <a:lnTo>
                  <a:pt x="940430" y="465513"/>
                </a:lnTo>
                <a:lnTo>
                  <a:pt x="994169" y="432262"/>
                </a:lnTo>
                <a:lnTo>
                  <a:pt x="1049400" y="399011"/>
                </a:lnTo>
                <a:lnTo>
                  <a:pt x="1106125" y="365760"/>
                </a:lnTo>
                <a:lnTo>
                  <a:pt x="1164342" y="332510"/>
                </a:lnTo>
                <a:lnTo>
                  <a:pt x="1224052" y="299259"/>
                </a:lnTo>
                <a:lnTo>
                  <a:pt x="1285254" y="266008"/>
                </a:lnTo>
                <a:lnTo>
                  <a:pt x="1347949" y="232757"/>
                </a:lnTo>
                <a:lnTo>
                  <a:pt x="1412137" y="199506"/>
                </a:lnTo>
                <a:lnTo>
                  <a:pt x="1477818" y="166255"/>
                </a:lnTo>
                <a:lnTo>
                  <a:pt x="1544992" y="133004"/>
                </a:lnTo>
                <a:lnTo>
                  <a:pt x="1613658" y="99753"/>
                </a:lnTo>
                <a:lnTo>
                  <a:pt x="1683817" y="66502"/>
                </a:lnTo>
                <a:lnTo>
                  <a:pt x="1755469" y="33251"/>
                </a:lnTo>
                <a:lnTo>
                  <a:pt x="1828614" y="0"/>
                </a:lnTo>
              </a:path>
            </a:pathLst>
          </a:custGeom>
          <a:noFill/>
          <a:ln w="381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C4-E03 text 49" descr="sci-ppt:o049"/>
          <p:cNvSpPr txBox="1"/>
          <p:nvPr/>
        </p:nvSpPr>
        <p:spPr>
          <a:xfrm>
            <a:off x="9820656" y="1543507"/>
            <a:ext cx="12801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stiffness: z²</a:t>
            </a:r>
          </a:p>
        </p:txBody>
      </p:sp>
      <p:sp>
        <p:nvSpPr>
          <p:cNvPr id="52" name="C4-E03 text 50" descr="sci-ppt:o050"/>
          <p:cNvSpPr txBox="1"/>
          <p:nvPr/>
        </p:nvSpPr>
        <p:spPr>
          <a:xfrm>
            <a:off x="6583680" y="5440680"/>
            <a:ext cx="521208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h_f = 10 µm, E_f = 2 GPa, ν_f = 0.35: m_A = 23.300 g/m², D_f =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1.899e-07 N m.</a:t>
            </a:r>
          </a:p>
        </p:txBody>
      </p:sp>
      <p:sp>
        <p:nvSpPr>
          <p:cNvPr id="53" name="C4-E03 text 51" descr="sci-ppt:o051"/>
          <p:cNvSpPr txBox="1"/>
          <p:nvPr/>
        </p:nvSpPr>
        <p:spPr>
          <a:xfrm>
            <a:off x="6583680" y="5989320"/>
            <a:ext cx="521208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Outer fibres dominate bending: thickness enters as h³, inertia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only as h.</a:t>
            </a:r>
          </a:p>
        </p:txBody>
      </p:sp>
      <p:sp>
        <p:nvSpPr>
          <p:cNvPr id="54" name="C4-E03 text 52" descr="sci-ppt:o052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Plate parameters of Eq. C4-E03 (ρ_f = 2330 kg/m³ for the film mass).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