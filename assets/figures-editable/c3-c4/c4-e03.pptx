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3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C4-E03 · Derived plate parameters under constitutive assumptions</a:t>
            </a:r>
          </a:p>
        </p:txBody>
      </p:sp>
      <p:sp>
        <p:nvSpPr>
          <p:cNvPr id="3" name="C4-E03 rect 1" descr="sci-ppt:o001"/>
          <p:cNvSpPr/>
          <p:nvPr/>
        </p:nvSpPr>
        <p:spPr>
          <a:xfrm>
            <a:off x="1188720" y="1371600"/>
            <a:ext cx="7498079" cy="11430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4-E03 line 2" descr="sci-ppt:o002"/>
          <p:cNvCxnSpPr/>
          <p:nvPr/>
        </p:nvCxnSpPr>
        <p:spPr>
          <a:xfrm>
            <a:off x="1005840" y="1943100"/>
            <a:ext cx="795528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" name="C4-E03 arrow 3" descr="sci-ppt:o003"/>
          <p:cNvCxnSpPr/>
          <p:nvPr/>
        </p:nvCxnSpPr>
        <p:spPr>
          <a:xfrm flipV="1">
            <a:off x="9235440" y="868680"/>
            <a:ext cx="0" cy="107442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4-E03 text 4" descr="sci-ppt:o004"/>
          <p:cNvSpPr txBox="1"/>
          <p:nvPr/>
        </p:nvSpPr>
        <p:spPr>
          <a:xfrm>
            <a:off x="9464040" y="914400"/>
            <a:ext cx="9144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+z</a:t>
            </a:r>
          </a:p>
        </p:txBody>
      </p:sp>
      <p:cxnSp>
        <p:nvCxnSpPr>
          <p:cNvPr id="7" name="C4-E03 line 5" descr="sci-ppt:o005"/>
          <p:cNvCxnSpPr/>
          <p:nvPr/>
        </p:nvCxnSpPr>
        <p:spPr>
          <a:xfrm>
            <a:off x="822960" y="1371600"/>
            <a:ext cx="0" cy="114300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" name="C4-E03 text 6" descr="sci-ppt:o006"/>
          <p:cNvSpPr txBox="1"/>
          <p:nvPr/>
        </p:nvSpPr>
        <p:spPr>
          <a:xfrm>
            <a:off x="274320" y="265176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h_f</a:t>
            </a:r>
          </a:p>
        </p:txBody>
      </p:sp>
      <p:sp>
        <p:nvSpPr>
          <p:cNvPr id="9" name="C4-E03 text 7" descr="sci-ppt:o007"/>
          <p:cNvSpPr txBox="1"/>
          <p:nvPr/>
        </p:nvSpPr>
        <p:spPr>
          <a:xfrm>
            <a:off x="2743200" y="1965960"/>
            <a:ext cx="45720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z = 0: neutral midplane</a:t>
            </a:r>
          </a:p>
        </p:txBody>
      </p:sp>
      <p:sp>
        <p:nvSpPr>
          <p:cNvPr id="10" name="C4-E03 text 8" descr="sci-ppt:o008"/>
          <p:cNvSpPr txBox="1"/>
          <p:nvPr/>
        </p:nvSpPr>
        <p:spPr>
          <a:xfrm>
            <a:off x="1188720" y="3108960"/>
            <a:ext cx="1005840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8EDBD4"/>
                </a:solidFill>
                <a:latin typeface="Arial"/>
              </a:rPr>
              <a:t>m_A = ρ_f h_f; bending weights each layer by z².</a:t>
            </a:r>
          </a:p>
        </p:txBody>
      </p:sp>
      <p:cxnSp>
        <p:nvCxnSpPr>
          <p:cNvPr id="11" name="C4-E03 line 9" descr="sci-ppt:o009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2" name="C4-E03 text 10" descr="sci-ppt:o010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h_f — thickness</a:t>
            </a:r>
          </a:p>
        </p:txBody>
      </p:sp>
      <p:sp>
        <p:nvSpPr>
          <p:cNvPr id="13" name="C4-E03 text 11" descr="sci-ppt:o011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z = 0 — neutral midplane</a:t>
            </a:r>
          </a:p>
        </p:txBody>
      </p:sp>
      <p:sp>
        <p:nvSpPr>
          <p:cNvPr id="14" name="C4-E03 text 12" descr="sci-ppt:o012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ρ_f → m_A</a:t>
            </a:r>
          </a:p>
        </p:txBody>
      </p:sp>
      <p:sp>
        <p:nvSpPr>
          <p:cNvPr id="15" name="C4-E03 text 13" descr="sci-ppt:o013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E_f, ν_f → D_f</a:t>
            </a:r>
          </a:p>
        </p:txBody>
      </p:sp>
      <p:sp>
        <p:nvSpPr>
          <p:cNvPr id="16" name="C4-E03 text 14" descr="sci-ppt:o014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z² dz — bending moment weight</a:t>
            </a:r>
          </a:p>
        </p:txBody>
      </p:sp>
      <p:sp>
        <p:nvSpPr>
          <p:cNvPr id="17" name="C4-E03 text 15" descr="sci-ppt:o015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Density integrates once; bending weights distance squared.</a:t>
            </a:r>
          </a:p>
        </p:txBody>
      </p:sp>
      <p:sp>
        <p:nvSpPr>
          <p:cNvPr id="18" name="C4-E03 text 16" descr="sci-ppt:o016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