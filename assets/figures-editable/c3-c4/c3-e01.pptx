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01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C3-E01 · Independent-event statistical model</a:t>
            </a:r>
          </a:p>
        </p:txBody>
      </p:sp>
      <p:cxnSp>
        <p:nvCxnSpPr>
          <p:cNvPr id="3" name="C3-E01 line 1" descr="sci-ppt:o001"/>
          <p:cNvCxnSpPr/>
          <p:nvPr/>
        </p:nvCxnSpPr>
        <p:spPr>
          <a:xfrm>
            <a:off x="914400" y="5029200"/>
            <a:ext cx="603504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3-E01 line 2" descr="sci-ppt:o002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3-E01 line 3" descr="sci-ppt:o003"/>
          <p:cNvCxnSpPr/>
          <p:nvPr/>
        </p:nvCxnSpPr>
        <p:spPr>
          <a:xfrm>
            <a:off x="1137919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3-E01 line 4" descr="sci-ppt:o004"/>
          <p:cNvCxnSpPr/>
          <p:nvPr/>
        </p:nvCxnSpPr>
        <p:spPr>
          <a:xfrm>
            <a:off x="1137919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3-E01 text 5" descr="sci-ppt:o005"/>
          <p:cNvSpPr txBox="1"/>
          <p:nvPr/>
        </p:nvSpPr>
        <p:spPr>
          <a:xfrm>
            <a:off x="680719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</a:t>
            </a:r>
          </a:p>
        </p:txBody>
      </p:sp>
      <p:cxnSp>
        <p:nvCxnSpPr>
          <p:cNvPr id="8" name="C3-E01 line 6" descr="sci-ppt:o006"/>
          <p:cNvCxnSpPr/>
          <p:nvPr/>
        </p:nvCxnSpPr>
        <p:spPr>
          <a:xfrm>
            <a:off x="3000586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3-E01 line 7" descr="sci-ppt:o007"/>
          <p:cNvCxnSpPr/>
          <p:nvPr/>
        </p:nvCxnSpPr>
        <p:spPr>
          <a:xfrm>
            <a:off x="3000586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3-E01 text 8" descr="sci-ppt:o008"/>
          <p:cNvSpPr txBox="1"/>
          <p:nvPr/>
        </p:nvSpPr>
        <p:spPr>
          <a:xfrm>
            <a:off x="2543386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15</a:t>
            </a:r>
          </a:p>
        </p:txBody>
      </p:sp>
      <p:cxnSp>
        <p:nvCxnSpPr>
          <p:cNvPr id="11" name="C3-E01 line 9" descr="sci-ppt:o009"/>
          <p:cNvCxnSpPr/>
          <p:nvPr/>
        </p:nvCxnSpPr>
        <p:spPr>
          <a:xfrm>
            <a:off x="4863253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3-E01 line 10" descr="sci-ppt:o010"/>
          <p:cNvCxnSpPr/>
          <p:nvPr/>
        </p:nvCxnSpPr>
        <p:spPr>
          <a:xfrm>
            <a:off x="4863253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3-E01 text 11" descr="sci-ppt:o011"/>
          <p:cNvSpPr txBox="1"/>
          <p:nvPr/>
        </p:nvSpPr>
        <p:spPr>
          <a:xfrm>
            <a:off x="4406053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20</a:t>
            </a:r>
          </a:p>
        </p:txBody>
      </p:sp>
      <p:cxnSp>
        <p:nvCxnSpPr>
          <p:cNvPr id="14" name="C3-E01 line 12" descr="sci-ppt:o012"/>
          <p:cNvCxnSpPr/>
          <p:nvPr/>
        </p:nvCxnSpPr>
        <p:spPr>
          <a:xfrm>
            <a:off x="6725919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3-E01 line 13" descr="sci-ppt:o013"/>
          <p:cNvCxnSpPr/>
          <p:nvPr/>
        </p:nvCxnSpPr>
        <p:spPr>
          <a:xfrm>
            <a:off x="6725919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3-E01 text 14" descr="sci-ppt:o014"/>
          <p:cNvSpPr txBox="1"/>
          <p:nvPr/>
        </p:nvSpPr>
        <p:spPr>
          <a:xfrm>
            <a:off x="6268719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25</a:t>
            </a:r>
          </a:p>
        </p:txBody>
      </p:sp>
      <p:cxnSp>
        <p:nvCxnSpPr>
          <p:cNvPr id="17" name="C3-E01 line 15" descr="sci-ppt:o015"/>
          <p:cNvCxnSpPr/>
          <p:nvPr/>
        </p:nvCxnSpPr>
        <p:spPr>
          <a:xfrm>
            <a:off x="850392" y="50292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3-E01 line 16" descr="sci-ppt:o016"/>
          <p:cNvCxnSpPr/>
          <p:nvPr/>
        </p:nvCxnSpPr>
        <p:spPr>
          <a:xfrm>
            <a:off x="914400" y="5029200"/>
            <a:ext cx="60350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C3-E01 text 17" descr="sci-ppt:o017"/>
          <p:cNvSpPr txBox="1"/>
          <p:nvPr/>
        </p:nvSpPr>
        <p:spPr>
          <a:xfrm>
            <a:off x="45720" y="49469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</a:t>
            </a:r>
          </a:p>
        </p:txBody>
      </p:sp>
      <p:cxnSp>
        <p:nvCxnSpPr>
          <p:cNvPr id="20" name="C3-E01 line 18" descr="sci-ppt:o018"/>
          <p:cNvCxnSpPr/>
          <p:nvPr/>
        </p:nvCxnSpPr>
        <p:spPr>
          <a:xfrm>
            <a:off x="850392" y="4158342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C3-E01 line 19" descr="sci-ppt:o019"/>
          <p:cNvCxnSpPr/>
          <p:nvPr/>
        </p:nvCxnSpPr>
        <p:spPr>
          <a:xfrm>
            <a:off x="914400" y="4158342"/>
            <a:ext cx="60350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2" name="C3-E01 text 20" descr="sci-ppt:o020"/>
          <p:cNvSpPr txBox="1"/>
          <p:nvPr/>
        </p:nvSpPr>
        <p:spPr>
          <a:xfrm>
            <a:off x="45720" y="4076046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0.1</a:t>
            </a:r>
          </a:p>
        </p:txBody>
      </p:sp>
      <p:cxnSp>
        <p:nvCxnSpPr>
          <p:cNvPr id="23" name="C3-E01 line 21" descr="sci-ppt:o021"/>
          <p:cNvCxnSpPr/>
          <p:nvPr/>
        </p:nvCxnSpPr>
        <p:spPr>
          <a:xfrm>
            <a:off x="850392" y="3287485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4" name="C3-E01 line 22" descr="sci-ppt:o022"/>
          <p:cNvCxnSpPr/>
          <p:nvPr/>
        </p:nvCxnSpPr>
        <p:spPr>
          <a:xfrm>
            <a:off x="914400" y="3287485"/>
            <a:ext cx="60350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5" name="C3-E01 text 23" descr="sci-ppt:o023"/>
          <p:cNvSpPr txBox="1"/>
          <p:nvPr/>
        </p:nvSpPr>
        <p:spPr>
          <a:xfrm>
            <a:off x="45720" y="3205189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0.2</a:t>
            </a:r>
          </a:p>
        </p:txBody>
      </p:sp>
      <p:cxnSp>
        <p:nvCxnSpPr>
          <p:cNvPr id="26" name="C3-E01 line 24" descr="sci-ppt:o024"/>
          <p:cNvCxnSpPr/>
          <p:nvPr/>
        </p:nvCxnSpPr>
        <p:spPr>
          <a:xfrm>
            <a:off x="850392" y="2416628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7" name="C3-E01 line 25" descr="sci-ppt:o025"/>
          <p:cNvCxnSpPr/>
          <p:nvPr/>
        </p:nvCxnSpPr>
        <p:spPr>
          <a:xfrm>
            <a:off x="914400" y="2416628"/>
            <a:ext cx="60350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8" name="C3-E01 text 26" descr="sci-ppt:o026"/>
          <p:cNvSpPr txBox="1"/>
          <p:nvPr/>
        </p:nvSpPr>
        <p:spPr>
          <a:xfrm>
            <a:off x="45720" y="2334332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0.3</a:t>
            </a:r>
          </a:p>
        </p:txBody>
      </p:sp>
      <p:cxnSp>
        <p:nvCxnSpPr>
          <p:cNvPr id="29" name="C3-E01 line 27" descr="sci-ppt:o027"/>
          <p:cNvCxnSpPr/>
          <p:nvPr/>
        </p:nvCxnSpPr>
        <p:spPr>
          <a:xfrm>
            <a:off x="850392" y="1545771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0" name="C3-E01 line 28" descr="sci-ppt:o028"/>
          <p:cNvCxnSpPr/>
          <p:nvPr/>
        </p:nvCxnSpPr>
        <p:spPr>
          <a:xfrm>
            <a:off x="914400" y="1545771"/>
            <a:ext cx="60350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1" name="C3-E01 text 29" descr="sci-ppt:o029"/>
          <p:cNvSpPr txBox="1"/>
          <p:nvPr/>
        </p:nvSpPr>
        <p:spPr>
          <a:xfrm>
            <a:off x="45720" y="1463475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0.4</a:t>
            </a:r>
          </a:p>
        </p:txBody>
      </p:sp>
      <p:sp>
        <p:nvSpPr>
          <p:cNvPr id="32" name="C3-E01 text 30" descr="sci-ppt:o030"/>
          <p:cNvSpPr txBox="1"/>
          <p:nvPr/>
        </p:nvSpPr>
        <p:spPr>
          <a:xfrm>
            <a:off x="914400" y="5312664"/>
            <a:ext cx="60350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activated sites N_b</a:t>
            </a:r>
          </a:p>
        </p:txBody>
      </p:sp>
      <p:sp>
        <p:nvSpPr>
          <p:cNvPr id="33" name="C3-E01 text 31" descr="sci-ppt:o031"/>
          <p:cNvSpPr txBox="1"/>
          <p:nvPr/>
        </p:nvSpPr>
        <p:spPr>
          <a:xfrm>
            <a:off x="365760" y="1024128"/>
            <a:ext cx="60350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probability</a:t>
            </a:r>
          </a:p>
        </p:txBody>
      </p:sp>
      <p:sp>
        <p:nvSpPr>
          <p:cNvPr id="34" name="C3-E01 rect 32" descr="sci-ppt:o032"/>
          <p:cNvSpPr/>
          <p:nvPr/>
        </p:nvSpPr>
        <p:spPr>
          <a:xfrm>
            <a:off x="988906" y="5029199"/>
            <a:ext cx="298026" cy="0"/>
          </a:xfrm>
          <a:prstGeom prst="rect">
            <a:avLst/>
          </a:prstGeom>
          <a:solidFill>
            <a:srgbClr val="8EDBD4">
              <a:alpha val="85000"/>
            </a:srgbClr>
          </a:solidFill>
          <a:ln w="12700">
            <a:solidFill>
              <a:srgbClr val="8EDBD4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C3-E01 rect 33" descr="sci-ppt:o033"/>
          <p:cNvSpPr/>
          <p:nvPr/>
        </p:nvSpPr>
        <p:spPr>
          <a:xfrm>
            <a:off x="1361439" y="5029199"/>
            <a:ext cx="298026" cy="0"/>
          </a:xfrm>
          <a:prstGeom prst="rect">
            <a:avLst/>
          </a:prstGeom>
          <a:solidFill>
            <a:srgbClr val="8EDBD4">
              <a:alpha val="85000"/>
            </a:srgbClr>
          </a:solidFill>
          <a:ln w="12700">
            <a:solidFill>
              <a:srgbClr val="8EDBD4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C3-E01 rect 34" descr="sci-ppt:o034"/>
          <p:cNvSpPr/>
          <p:nvPr/>
        </p:nvSpPr>
        <p:spPr>
          <a:xfrm>
            <a:off x="1733973" y="5029199"/>
            <a:ext cx="298026" cy="0"/>
          </a:xfrm>
          <a:prstGeom prst="rect">
            <a:avLst/>
          </a:prstGeom>
          <a:solidFill>
            <a:srgbClr val="8EDBD4">
              <a:alpha val="85000"/>
            </a:srgbClr>
          </a:solidFill>
          <a:ln w="12700">
            <a:solidFill>
              <a:srgbClr val="8EDBD4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C3-E01 rect 35" descr="sci-ppt:o035"/>
          <p:cNvSpPr/>
          <p:nvPr/>
        </p:nvSpPr>
        <p:spPr>
          <a:xfrm>
            <a:off x="2106506" y="5029199"/>
            <a:ext cx="298026" cy="0"/>
          </a:xfrm>
          <a:prstGeom prst="rect">
            <a:avLst/>
          </a:prstGeom>
          <a:solidFill>
            <a:srgbClr val="8EDBD4">
              <a:alpha val="85000"/>
            </a:srgbClr>
          </a:solidFill>
          <a:ln w="12700">
            <a:solidFill>
              <a:srgbClr val="8EDBD4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C3-E01 rect 36" descr="sci-ppt:o036"/>
          <p:cNvSpPr/>
          <p:nvPr/>
        </p:nvSpPr>
        <p:spPr>
          <a:xfrm>
            <a:off x="2479039" y="5029199"/>
            <a:ext cx="298026" cy="0"/>
          </a:xfrm>
          <a:prstGeom prst="rect">
            <a:avLst/>
          </a:prstGeom>
          <a:solidFill>
            <a:srgbClr val="8EDBD4">
              <a:alpha val="85000"/>
            </a:srgbClr>
          </a:solidFill>
          <a:ln w="12700">
            <a:solidFill>
              <a:srgbClr val="8EDBD4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C3-E01 rect 37" descr="sci-ppt:o037"/>
          <p:cNvSpPr/>
          <p:nvPr/>
        </p:nvSpPr>
        <p:spPr>
          <a:xfrm>
            <a:off x="2851573" y="5029198"/>
            <a:ext cx="298026" cy="1"/>
          </a:xfrm>
          <a:prstGeom prst="rect">
            <a:avLst/>
          </a:prstGeom>
          <a:solidFill>
            <a:srgbClr val="8EDBD4">
              <a:alpha val="85000"/>
            </a:srgbClr>
          </a:solidFill>
          <a:ln w="12700">
            <a:solidFill>
              <a:srgbClr val="8EDBD4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C3-E01 rect 38" descr="sci-ppt:o038"/>
          <p:cNvSpPr/>
          <p:nvPr/>
        </p:nvSpPr>
        <p:spPr>
          <a:xfrm>
            <a:off x="3224106" y="5029184"/>
            <a:ext cx="298026" cy="15"/>
          </a:xfrm>
          <a:prstGeom prst="rect">
            <a:avLst/>
          </a:prstGeom>
          <a:solidFill>
            <a:srgbClr val="8EDBD4">
              <a:alpha val="85000"/>
            </a:srgbClr>
          </a:solidFill>
          <a:ln w="12700">
            <a:solidFill>
              <a:srgbClr val="8EDBD4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C3-E01 rect 39" descr="sci-ppt:o039"/>
          <p:cNvSpPr/>
          <p:nvPr/>
        </p:nvSpPr>
        <p:spPr>
          <a:xfrm>
            <a:off x="3596640" y="5029046"/>
            <a:ext cx="298026" cy="153"/>
          </a:xfrm>
          <a:prstGeom prst="rect">
            <a:avLst/>
          </a:prstGeom>
          <a:solidFill>
            <a:srgbClr val="8EDBD4">
              <a:alpha val="85000"/>
            </a:srgbClr>
          </a:solidFill>
          <a:ln w="12700">
            <a:solidFill>
              <a:srgbClr val="8EDBD4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C3-E01 rect 40" descr="sci-ppt:o040"/>
          <p:cNvSpPr/>
          <p:nvPr/>
        </p:nvSpPr>
        <p:spPr>
          <a:xfrm>
            <a:off x="3969173" y="5027900"/>
            <a:ext cx="298026" cy="1299"/>
          </a:xfrm>
          <a:prstGeom prst="rect">
            <a:avLst/>
          </a:prstGeom>
          <a:solidFill>
            <a:srgbClr val="8EDBD4">
              <a:alpha val="85000"/>
            </a:srgbClr>
          </a:solidFill>
          <a:ln w="12700">
            <a:solidFill>
              <a:srgbClr val="8EDBD4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C3-E01 rect 41" descr="sci-ppt:o041"/>
          <p:cNvSpPr/>
          <p:nvPr/>
        </p:nvSpPr>
        <p:spPr>
          <a:xfrm>
            <a:off x="4341706" y="5020106"/>
            <a:ext cx="298026" cy="9093"/>
          </a:xfrm>
          <a:prstGeom prst="rect">
            <a:avLst/>
          </a:prstGeom>
          <a:solidFill>
            <a:srgbClr val="8EDBD4">
              <a:alpha val="85000"/>
            </a:srgbClr>
          </a:solidFill>
          <a:ln w="12700">
            <a:solidFill>
              <a:srgbClr val="8EDBD4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C3-E01 rect 42" descr="sci-ppt:o042"/>
          <p:cNvSpPr/>
          <p:nvPr/>
        </p:nvSpPr>
        <p:spPr>
          <a:xfrm>
            <a:off x="4714239" y="4977366"/>
            <a:ext cx="298026" cy="51833"/>
          </a:xfrm>
          <a:prstGeom prst="rect">
            <a:avLst/>
          </a:prstGeom>
          <a:solidFill>
            <a:srgbClr val="8EDBD4">
              <a:alpha val="85000"/>
            </a:srgbClr>
          </a:solidFill>
          <a:ln w="12700">
            <a:solidFill>
              <a:srgbClr val="8EDBD4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C3-E01 rect 43" descr="sci-ppt:o043"/>
          <p:cNvSpPr/>
          <p:nvPr/>
        </p:nvSpPr>
        <p:spPr>
          <a:xfrm>
            <a:off x="5086773" y="4794716"/>
            <a:ext cx="298026" cy="234483"/>
          </a:xfrm>
          <a:prstGeom prst="rect">
            <a:avLst/>
          </a:prstGeom>
          <a:solidFill>
            <a:srgbClr val="8EDBD4">
              <a:alpha val="85000"/>
            </a:srgbClr>
          </a:solidFill>
          <a:ln w="12700">
            <a:solidFill>
              <a:srgbClr val="8EDBD4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C3-E01 rect 44" descr="sci-ppt:o044"/>
          <p:cNvSpPr/>
          <p:nvPr/>
        </p:nvSpPr>
        <p:spPr>
          <a:xfrm>
            <a:off x="5459306" y="4219164"/>
            <a:ext cx="298026" cy="810035"/>
          </a:xfrm>
          <a:prstGeom prst="rect">
            <a:avLst/>
          </a:prstGeom>
          <a:solidFill>
            <a:srgbClr val="8EDBD4">
              <a:alpha val="85000"/>
            </a:srgbClr>
          </a:solidFill>
          <a:ln w="12700">
            <a:solidFill>
              <a:srgbClr val="8EDBD4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C3-E01 rect 45" descr="sci-ppt:o045"/>
          <p:cNvSpPr/>
          <p:nvPr/>
        </p:nvSpPr>
        <p:spPr>
          <a:xfrm>
            <a:off x="5831840" y="3021720"/>
            <a:ext cx="298026" cy="2007479"/>
          </a:xfrm>
          <a:prstGeom prst="rect">
            <a:avLst/>
          </a:prstGeom>
          <a:solidFill>
            <a:srgbClr val="8EDBD4">
              <a:alpha val="85000"/>
            </a:srgbClr>
          </a:solidFill>
          <a:ln w="12700">
            <a:solidFill>
              <a:srgbClr val="8EDBD4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C3-E01 rect 46" descr="sci-ppt:o046"/>
          <p:cNvSpPr/>
          <p:nvPr/>
        </p:nvSpPr>
        <p:spPr>
          <a:xfrm>
            <a:off x="6204373" y="1850690"/>
            <a:ext cx="298026" cy="3178509"/>
          </a:xfrm>
          <a:prstGeom prst="rect">
            <a:avLst/>
          </a:prstGeom>
          <a:solidFill>
            <a:srgbClr val="8EDBD4">
              <a:alpha val="85000"/>
            </a:srgbClr>
          </a:solidFill>
          <a:ln w="12700">
            <a:solidFill>
              <a:srgbClr val="8EDBD4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C3-E01 rect 47" descr="sci-ppt:o047"/>
          <p:cNvSpPr/>
          <p:nvPr/>
        </p:nvSpPr>
        <p:spPr>
          <a:xfrm>
            <a:off x="6576906" y="2613533"/>
            <a:ext cx="298026" cy="2415666"/>
          </a:xfrm>
          <a:prstGeom prst="rect">
            <a:avLst/>
          </a:prstGeom>
          <a:solidFill>
            <a:srgbClr val="F2B880">
              <a:alpha val="85000"/>
            </a:srgbClr>
          </a:solidFill>
          <a:ln w="12700">
            <a:solidFill>
              <a:srgbClr val="F2B880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0" name="C3-E01 line 48" descr="sci-ppt:o048"/>
          <p:cNvCxnSpPr/>
          <p:nvPr/>
        </p:nvCxnSpPr>
        <p:spPr>
          <a:xfrm>
            <a:off x="6260253" y="1371600"/>
            <a:ext cx="0" cy="3657600"/>
          </a:xfrm>
          <a:prstGeom prst="line">
            <a:avLst/>
          </a:prstGeom>
          <a:ln w="16510">
            <a:solidFill>
              <a:srgbClr val="F28BA0"/>
            </a:solidFill>
            <a:prstDash val="dash"/>
          </a:ln>
          <a:effectLst/>
        </p:spPr>
      </p:cxnSp>
      <p:sp>
        <p:nvSpPr>
          <p:cNvPr id="51" name="C3-E01 text 49" descr="sci-ppt:o049"/>
          <p:cNvSpPr txBox="1"/>
          <p:nvPr/>
        </p:nvSpPr>
        <p:spPr>
          <a:xfrm>
            <a:off x="4705773" y="1458685"/>
            <a:ext cx="146304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8BA0"/>
                </a:solidFill>
                <a:latin typeface="Arial"/>
              </a:rPr>
              <a:t>mean 23.75</a:t>
            </a:r>
          </a:p>
        </p:txBody>
      </p:sp>
      <p:sp>
        <p:nvSpPr>
          <p:cNvPr id="52" name="C3-E01 text 50" descr="sci-ppt:o050"/>
          <p:cNvSpPr txBox="1"/>
          <p:nvPr/>
        </p:nvSpPr>
        <p:spPr>
          <a:xfrm>
            <a:off x="4897119" y="2156333"/>
            <a:ext cx="173736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all 25: 27.7 %</a:t>
            </a:r>
          </a:p>
        </p:txBody>
      </p:sp>
      <p:sp>
        <p:nvSpPr>
          <p:cNvPr id="53" name="C3-E01 round_rect 51" descr="sci-ppt:o051"/>
          <p:cNvSpPr/>
          <p:nvPr/>
        </p:nvSpPr>
        <p:spPr>
          <a:xfrm>
            <a:off x="7223760" y="1371600"/>
            <a:ext cx="4617720" cy="36576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C3-E01 text 52" descr="sci-ppt:o052"/>
          <p:cNvSpPr txBox="1"/>
          <p:nvPr/>
        </p:nvSpPr>
        <p:spPr>
          <a:xfrm>
            <a:off x="7333488" y="1426464"/>
            <a:ext cx="4398264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EDBD4"/>
                </a:solidFill>
                <a:latin typeface="Arial"/>
              </a:rPr>
              <a:t>N_d = 25 independent sites, pₐ = 0.95</a:t>
            </a:r>
          </a:p>
        </p:txBody>
      </p:sp>
      <p:sp>
        <p:nvSpPr>
          <p:cNvPr id="55" name="C3-E01 text 53" descr="sci-ppt:o053"/>
          <p:cNvSpPr txBox="1"/>
          <p:nvPr/>
        </p:nvSpPr>
        <p:spPr>
          <a:xfrm>
            <a:off x="7360920" y="1828800"/>
            <a:ext cx="32004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E[N_b] = N_d pₐ</a:t>
            </a:r>
          </a:p>
        </p:txBody>
      </p:sp>
      <p:sp>
        <p:nvSpPr>
          <p:cNvPr id="56" name="C3-E01 text 54" descr="sci-ppt:o054"/>
          <p:cNvSpPr txBox="1"/>
          <p:nvPr/>
        </p:nvSpPr>
        <p:spPr>
          <a:xfrm>
            <a:off x="10424160" y="1828800"/>
            <a:ext cx="128016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23.75</a:t>
            </a:r>
          </a:p>
        </p:txBody>
      </p:sp>
      <p:sp>
        <p:nvSpPr>
          <p:cNvPr id="57" name="C3-E01 text 55" descr="sci-ppt:o055"/>
          <p:cNvSpPr txBox="1"/>
          <p:nvPr/>
        </p:nvSpPr>
        <p:spPr>
          <a:xfrm>
            <a:off x="7360920" y="2331720"/>
            <a:ext cx="32004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Var(N_b) = N_d pₐ (1 − pₐ)</a:t>
            </a:r>
          </a:p>
        </p:txBody>
      </p:sp>
      <p:sp>
        <p:nvSpPr>
          <p:cNvPr id="58" name="C3-E01 text 56" descr="sci-ppt:o056"/>
          <p:cNvSpPr txBox="1"/>
          <p:nvPr/>
        </p:nvSpPr>
        <p:spPr>
          <a:xfrm>
            <a:off x="10424160" y="2331720"/>
            <a:ext cx="128016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1.1875</a:t>
            </a:r>
          </a:p>
        </p:txBody>
      </p:sp>
      <p:sp>
        <p:nvSpPr>
          <p:cNvPr id="59" name="C3-E01 text 57" descr="sci-ppt:o057"/>
          <p:cNvSpPr txBox="1"/>
          <p:nvPr/>
        </p:nvSpPr>
        <p:spPr>
          <a:xfrm>
            <a:off x="7360920" y="2834639"/>
            <a:ext cx="32004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CV = √[(1 − pₐ)/(N_d pₐ)]</a:t>
            </a:r>
          </a:p>
        </p:txBody>
      </p:sp>
      <p:sp>
        <p:nvSpPr>
          <p:cNvPr id="60" name="C3-E01 text 58" descr="sci-ppt:o058"/>
          <p:cNvSpPr txBox="1"/>
          <p:nvPr/>
        </p:nvSpPr>
        <p:spPr>
          <a:xfrm>
            <a:off x="10424160" y="2834639"/>
            <a:ext cx="128016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4.588 %</a:t>
            </a:r>
          </a:p>
        </p:txBody>
      </p:sp>
      <p:sp>
        <p:nvSpPr>
          <p:cNvPr id="61" name="C3-E01 text 59" descr="sci-ppt:o059"/>
          <p:cNvSpPr txBox="1"/>
          <p:nvPr/>
        </p:nvSpPr>
        <p:spPr>
          <a:xfrm>
            <a:off x="7360920" y="3337559"/>
            <a:ext cx="32004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Pr(N_b = N_d) = pₐ^N_d</a:t>
            </a:r>
          </a:p>
        </p:txBody>
      </p:sp>
      <p:sp>
        <p:nvSpPr>
          <p:cNvPr id="62" name="C3-E01 text 60" descr="sci-ppt:o060"/>
          <p:cNvSpPr txBox="1"/>
          <p:nvPr/>
        </p:nvSpPr>
        <p:spPr>
          <a:xfrm>
            <a:off x="10424160" y="3337559"/>
            <a:ext cx="128016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0.27739</a:t>
            </a:r>
          </a:p>
        </p:txBody>
      </p:sp>
      <p:sp>
        <p:nvSpPr>
          <p:cNvPr id="63" name="C3-E01 text 61" descr="sci-ppt:o061"/>
          <p:cNvSpPr txBox="1"/>
          <p:nvPr/>
        </p:nvSpPr>
        <p:spPr>
          <a:xfrm>
            <a:off x="7360920" y="3977639"/>
            <a:ext cx="4389120" cy="603504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Count reproducibility (CV small) and complete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activation (all 25) are different tests: here CV is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4.6 % but all 25 fire in only 28 % of shots.</a:t>
            </a:r>
          </a:p>
        </p:txBody>
      </p:sp>
      <p:sp>
        <p:nvSpPr>
          <p:cNvPr id="64" name="C3-E01 text 62" descr="sci-ppt:o062"/>
          <p:cNvSpPr txBox="1"/>
          <p:nvPr/>
        </p:nvSpPr>
        <p:spPr>
          <a:xfrm>
            <a:off x="914400" y="5733288"/>
            <a:ext cx="109728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B4C7D2"/>
                </a:solidFill>
                <a:latin typeface="Arial"/>
              </a:rPr>
              <a:t>Binomial model: sites activate independently with the same probability; common heating or feedback would break that assumption.</a:t>
            </a:r>
          </a:p>
        </p:txBody>
      </p:sp>
      <p:sp>
        <p:nvSpPr>
          <p:cNvPr id="65" name="C3-E01 text 63" descr="sci-ppt:o063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Statistics of Eq. C3-E01 (exact binomial distribution).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