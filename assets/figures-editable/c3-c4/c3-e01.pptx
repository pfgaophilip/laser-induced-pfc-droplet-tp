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1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C3-E01 · Independent-event statistical model</a:t>
            </a:r>
          </a:p>
        </p:txBody>
      </p:sp>
      <p:sp>
        <p:nvSpPr>
          <p:cNvPr id="3" name="C3-E01 ellipse 1" descr="sci-ppt:o001"/>
          <p:cNvSpPr/>
          <p:nvPr/>
        </p:nvSpPr>
        <p:spPr>
          <a:xfrm>
            <a:off x="1005840" y="1188720"/>
            <a:ext cx="365760" cy="36576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1 ellipse 2" descr="sci-ppt:o002"/>
          <p:cNvSpPr/>
          <p:nvPr/>
        </p:nvSpPr>
        <p:spPr>
          <a:xfrm>
            <a:off x="1627632" y="1188720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01 ellipse 3" descr="sci-ppt:o003"/>
          <p:cNvSpPr/>
          <p:nvPr/>
        </p:nvSpPr>
        <p:spPr>
          <a:xfrm>
            <a:off x="2249424" y="1188720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01 ellipse 4" descr="sci-ppt:o004"/>
          <p:cNvSpPr/>
          <p:nvPr/>
        </p:nvSpPr>
        <p:spPr>
          <a:xfrm>
            <a:off x="2871215" y="1188720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3-E01 ellipse 5" descr="sci-ppt:o005"/>
          <p:cNvSpPr/>
          <p:nvPr/>
        </p:nvSpPr>
        <p:spPr>
          <a:xfrm>
            <a:off x="3493008" y="1188720"/>
            <a:ext cx="365760" cy="36576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3-E01 ellipse 6" descr="sci-ppt:o006"/>
          <p:cNvSpPr/>
          <p:nvPr/>
        </p:nvSpPr>
        <p:spPr>
          <a:xfrm>
            <a:off x="1005840" y="1828800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3-E01 ellipse 7" descr="sci-ppt:o007"/>
          <p:cNvSpPr/>
          <p:nvPr/>
        </p:nvSpPr>
        <p:spPr>
          <a:xfrm>
            <a:off x="1627632" y="1828800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3-E01 ellipse 8" descr="sci-ppt:o008"/>
          <p:cNvSpPr/>
          <p:nvPr/>
        </p:nvSpPr>
        <p:spPr>
          <a:xfrm>
            <a:off x="2249424" y="1828800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3-E01 ellipse 9" descr="sci-ppt:o009"/>
          <p:cNvSpPr/>
          <p:nvPr/>
        </p:nvSpPr>
        <p:spPr>
          <a:xfrm>
            <a:off x="2871215" y="1828800"/>
            <a:ext cx="365760" cy="36576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01 ellipse 10" descr="sci-ppt:o010"/>
          <p:cNvSpPr/>
          <p:nvPr/>
        </p:nvSpPr>
        <p:spPr>
          <a:xfrm>
            <a:off x="3493008" y="1828800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3-E01 ellipse 11" descr="sci-ppt:o011"/>
          <p:cNvSpPr/>
          <p:nvPr/>
        </p:nvSpPr>
        <p:spPr>
          <a:xfrm>
            <a:off x="1005840" y="2468879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3-E01 ellipse 12" descr="sci-ppt:o012"/>
          <p:cNvSpPr/>
          <p:nvPr/>
        </p:nvSpPr>
        <p:spPr>
          <a:xfrm>
            <a:off x="1627632" y="2468879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3-E01 ellipse 13" descr="sci-ppt:o013"/>
          <p:cNvSpPr/>
          <p:nvPr/>
        </p:nvSpPr>
        <p:spPr>
          <a:xfrm>
            <a:off x="2249424" y="2468879"/>
            <a:ext cx="365760" cy="36576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3-E01 ellipse 14" descr="sci-ppt:o014"/>
          <p:cNvSpPr/>
          <p:nvPr/>
        </p:nvSpPr>
        <p:spPr>
          <a:xfrm>
            <a:off x="2871215" y="2468879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3-E01 ellipse 15" descr="sci-ppt:o015"/>
          <p:cNvSpPr/>
          <p:nvPr/>
        </p:nvSpPr>
        <p:spPr>
          <a:xfrm>
            <a:off x="3493008" y="2468879"/>
            <a:ext cx="365760" cy="36576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01 text 16" descr="sci-ppt:o016"/>
          <p:cNvSpPr txBox="1"/>
          <p:nvPr/>
        </p:nvSpPr>
        <p:spPr>
          <a:xfrm>
            <a:off x="5029200" y="1143000"/>
            <a:ext cx="612648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Fabricated sites N_d → activated sites N_b</a:t>
            </a:r>
          </a:p>
        </p:txBody>
      </p:sp>
      <p:sp>
        <p:nvSpPr>
          <p:cNvPr id="19" name="C3-E01 text 17" descr="sci-ppt:o017"/>
          <p:cNvSpPr txBox="1"/>
          <p:nvPr/>
        </p:nvSpPr>
        <p:spPr>
          <a:xfrm>
            <a:off x="5029200" y="1920240"/>
            <a:ext cx="6126480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Independent Bernoulli events with probability p_a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Outline circles indicate inactive sites.</a:t>
            </a:r>
          </a:p>
        </p:txBody>
      </p:sp>
      <p:sp>
        <p:nvSpPr>
          <p:cNvPr id="20" name="C3-E01 text 18" descr="sci-ppt:o018"/>
          <p:cNvSpPr txBox="1"/>
          <p:nvPr/>
        </p:nvSpPr>
        <p:spPr>
          <a:xfrm>
            <a:off x="5029200" y="2971800"/>
            <a:ext cx="612648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Count reproducibility and complete activation differ.</a:t>
            </a:r>
          </a:p>
        </p:txBody>
      </p:sp>
      <p:cxnSp>
        <p:nvCxnSpPr>
          <p:cNvPr id="21" name="C3-E01 line 19" descr="sci-ppt:o019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22" name="C3-E01 text 20" descr="sci-ppt:o020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N_d fabricated sites</a:t>
            </a:r>
          </a:p>
        </p:txBody>
      </p:sp>
      <p:sp>
        <p:nvSpPr>
          <p:cNvPr id="23" name="C3-E01 text 21" descr="sci-ppt:o021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N_b activated sites</a:t>
            </a:r>
          </a:p>
        </p:txBody>
      </p:sp>
      <p:sp>
        <p:nvSpPr>
          <p:cNvPr id="24" name="C3-E01 text 22" descr="sci-ppt:o022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p_a activation probability</a:t>
            </a:r>
          </a:p>
        </p:txBody>
      </p:sp>
      <p:sp>
        <p:nvSpPr>
          <p:cNvPr id="25" name="C3-E01 text 23" descr="sci-ppt:o023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E[N_b], Var, CV, Pr: count statistics</a:t>
            </a:r>
          </a:p>
        </p:txBody>
      </p:sp>
      <p:sp>
        <p:nvSpPr>
          <p:cNvPr id="26" name="C3-E01 text 24" descr="sci-ppt:o024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Missing sites change symmetry and timing</a:t>
            </a:r>
          </a:p>
        </p:txBody>
      </p:sp>
      <p:sp>
        <p:nvSpPr>
          <p:cNvPr id="27" name="C3-E01 text 25" descr="sci-ppt:o025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Independent activation is an assumption</a:t>
            </a:r>
          </a:p>
        </p:txBody>
      </p:sp>
      <p:sp>
        <p:nvSpPr>
          <p:cNvPr id="28" name="C3-E01 text 26" descr="sci-ppt:o026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