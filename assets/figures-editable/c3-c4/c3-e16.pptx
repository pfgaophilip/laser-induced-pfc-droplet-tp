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C3-E16 · Pressure-impulse control and distinct focusing budgets</a:t>
            </a:r>
          </a:p>
        </p:txBody>
      </p:sp>
      <p:cxnSp>
        <p:nvCxnSpPr>
          <p:cNvPr id="3" name="C3-E16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6 line 3" descr="sci-ppt:o003"/>
          <p:cNvCxnSpPr/>
          <p:nvPr/>
        </p:nvCxnSpPr>
        <p:spPr>
          <a:xfrm>
            <a:off x="154851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6 line 4" descr="sci-ppt:o004"/>
          <p:cNvCxnSpPr/>
          <p:nvPr/>
        </p:nvCxnSpPr>
        <p:spPr>
          <a:xfrm>
            <a:off x="154851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6 text 5" descr="sci-ppt:o005"/>
          <p:cNvSpPr txBox="1"/>
          <p:nvPr/>
        </p:nvSpPr>
        <p:spPr>
          <a:xfrm>
            <a:off x="109131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1e-13</a:t>
            </a:r>
          </a:p>
        </p:txBody>
      </p:sp>
      <p:cxnSp>
        <p:nvCxnSpPr>
          <p:cNvPr id="8" name="C3-E16 line 6" descr="sci-ppt:o006"/>
          <p:cNvCxnSpPr/>
          <p:nvPr/>
        </p:nvCxnSpPr>
        <p:spPr>
          <a:xfrm>
            <a:off x="365501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6 line 7" descr="sci-ppt:o007"/>
          <p:cNvCxnSpPr/>
          <p:nvPr/>
        </p:nvCxnSpPr>
        <p:spPr>
          <a:xfrm>
            <a:off x="365501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6 text 8" descr="sci-ppt:o008"/>
          <p:cNvSpPr txBox="1"/>
          <p:nvPr/>
        </p:nvSpPr>
        <p:spPr>
          <a:xfrm>
            <a:off x="319781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1e-12</a:t>
            </a:r>
          </a:p>
        </p:txBody>
      </p:sp>
      <p:cxnSp>
        <p:nvCxnSpPr>
          <p:cNvPr id="11" name="C3-E16 line 9" descr="sci-ppt:o009"/>
          <p:cNvCxnSpPr/>
          <p:nvPr/>
        </p:nvCxnSpPr>
        <p:spPr>
          <a:xfrm>
            <a:off x="576150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6 line 10" descr="sci-ppt:o010"/>
          <p:cNvCxnSpPr/>
          <p:nvPr/>
        </p:nvCxnSpPr>
        <p:spPr>
          <a:xfrm>
            <a:off x="576150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6 text 11" descr="sci-ppt:o011"/>
          <p:cNvSpPr txBox="1"/>
          <p:nvPr/>
        </p:nvSpPr>
        <p:spPr>
          <a:xfrm>
            <a:off x="530430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1e-11</a:t>
            </a:r>
          </a:p>
        </p:txBody>
      </p:sp>
      <p:cxnSp>
        <p:nvCxnSpPr>
          <p:cNvPr id="14" name="C3-E16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6 line 13" descr="sci-ppt:o013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6 text 14" descr="sci-ppt:o014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3-E16 line 15" descr="sci-ppt:o015"/>
          <p:cNvCxnSpPr/>
          <p:nvPr/>
        </p:nvCxnSpPr>
        <p:spPr>
          <a:xfrm>
            <a:off x="850392" y="43917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6 line 16" descr="sci-ppt:o016"/>
          <p:cNvCxnSpPr/>
          <p:nvPr/>
        </p:nvCxnSpPr>
        <p:spPr>
          <a:xfrm>
            <a:off x="914400" y="43917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6 text 17" descr="sci-ppt:o017"/>
          <p:cNvSpPr txBox="1"/>
          <p:nvPr/>
        </p:nvSpPr>
        <p:spPr>
          <a:xfrm>
            <a:off x="45720" y="43094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0" name="C3-E16 line 18" descr="sci-ppt:o018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6 line 19" descr="sci-ppt:o019"/>
          <p:cNvCxnSpPr/>
          <p:nvPr/>
        </p:nvCxnSpPr>
        <p:spPr>
          <a:xfrm>
            <a:off x="914400" y="3810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6 text 20" descr="sci-ppt:o020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23" name="C3-E16 line 21" descr="sci-ppt:o021"/>
          <p:cNvCxnSpPr/>
          <p:nvPr/>
        </p:nvCxnSpPr>
        <p:spPr>
          <a:xfrm>
            <a:off x="850392" y="31725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6 line 22" descr="sci-ppt:o022"/>
          <p:cNvCxnSpPr/>
          <p:nvPr/>
        </p:nvCxnSpPr>
        <p:spPr>
          <a:xfrm>
            <a:off x="914400" y="31725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16 text 23" descr="sci-ppt:o023"/>
          <p:cNvSpPr txBox="1"/>
          <p:nvPr/>
        </p:nvSpPr>
        <p:spPr>
          <a:xfrm>
            <a:off x="45720" y="30902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6" name="C3-E16 line 24" descr="sci-ppt:o024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6 line 25" descr="sci-ppt:o025"/>
          <p:cNvCxnSpPr/>
          <p:nvPr/>
        </p:nvCxnSpPr>
        <p:spPr>
          <a:xfrm>
            <a:off x="914400" y="2590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16 text 26" descr="sci-ppt:o026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29" name="C3-E16 line 27" descr="sci-ppt:o027"/>
          <p:cNvCxnSpPr/>
          <p:nvPr/>
        </p:nvCxnSpPr>
        <p:spPr>
          <a:xfrm>
            <a:off x="850392" y="19533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6 line 28" descr="sci-ppt:o028"/>
          <p:cNvCxnSpPr/>
          <p:nvPr/>
        </p:nvCxnSpPr>
        <p:spPr>
          <a:xfrm>
            <a:off x="914400" y="19533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16 text 29" descr="sci-ppt:o029"/>
          <p:cNvSpPr txBox="1"/>
          <p:nvPr/>
        </p:nvSpPr>
        <p:spPr>
          <a:xfrm>
            <a:off x="45720" y="18710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2" name="C3-E16 text 30" descr="sci-ppt:o030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liquid mass m  (kg)</a:t>
            </a:r>
          </a:p>
        </p:txBody>
      </p:sp>
      <p:sp>
        <p:nvSpPr>
          <p:cNvPr id="33" name="C3-E16 text 31" descr="sci-ppt:o031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jet speed U  (m/s)</a:t>
            </a:r>
          </a:p>
        </p:txBody>
      </p:sp>
      <p:sp>
        <p:nvSpPr>
          <p:cNvPr id="34" name="C3-E16 polygon 32" descr="sci-ppt:o032"/>
          <p:cNvSpPr/>
          <p:nvPr/>
        </p:nvSpPr>
        <p:spPr>
          <a:xfrm>
            <a:off x="916569" y="1467991"/>
            <a:ext cx="5838607" cy="3379278"/>
          </a:xfrm>
          <a:custGeom>
            <a:avLst/>
            <a:gdLst/>
            <a:ahLst/>
            <a:cxnLst/>
            <a:rect l="l" t="t" r="r" b="b"/>
            <a:pathLst>
              <a:path w="5838607" h="3379278">
                <a:moveTo>
                  <a:pt x="0" y="0"/>
                </a:moveTo>
                <a:lnTo>
                  <a:pt x="59578" y="34482"/>
                </a:lnTo>
                <a:lnTo>
                  <a:pt x="119155" y="68965"/>
                </a:lnTo>
                <a:lnTo>
                  <a:pt x="178733" y="103447"/>
                </a:lnTo>
                <a:lnTo>
                  <a:pt x="238311" y="137930"/>
                </a:lnTo>
                <a:lnTo>
                  <a:pt x="297888" y="172412"/>
                </a:lnTo>
                <a:lnTo>
                  <a:pt x="357466" y="206895"/>
                </a:lnTo>
                <a:lnTo>
                  <a:pt x="417044" y="241377"/>
                </a:lnTo>
                <a:lnTo>
                  <a:pt x="476621" y="275859"/>
                </a:lnTo>
                <a:lnTo>
                  <a:pt x="536199" y="310342"/>
                </a:lnTo>
                <a:lnTo>
                  <a:pt x="595776" y="344824"/>
                </a:lnTo>
                <a:lnTo>
                  <a:pt x="655354" y="379307"/>
                </a:lnTo>
                <a:lnTo>
                  <a:pt x="714932" y="413789"/>
                </a:lnTo>
                <a:lnTo>
                  <a:pt x="774509" y="448272"/>
                </a:lnTo>
                <a:lnTo>
                  <a:pt x="834087" y="482754"/>
                </a:lnTo>
                <a:lnTo>
                  <a:pt x="893664" y="517236"/>
                </a:lnTo>
                <a:lnTo>
                  <a:pt x="953242" y="551719"/>
                </a:lnTo>
                <a:lnTo>
                  <a:pt x="1012820" y="586201"/>
                </a:lnTo>
                <a:lnTo>
                  <a:pt x="1072397" y="620684"/>
                </a:lnTo>
                <a:lnTo>
                  <a:pt x="1131975" y="655166"/>
                </a:lnTo>
                <a:lnTo>
                  <a:pt x="1191553" y="689649"/>
                </a:lnTo>
                <a:lnTo>
                  <a:pt x="1251130" y="724131"/>
                </a:lnTo>
                <a:lnTo>
                  <a:pt x="1310708" y="758613"/>
                </a:lnTo>
                <a:lnTo>
                  <a:pt x="1370285" y="793096"/>
                </a:lnTo>
                <a:lnTo>
                  <a:pt x="1429863" y="827578"/>
                </a:lnTo>
                <a:lnTo>
                  <a:pt x="1489441" y="862061"/>
                </a:lnTo>
                <a:lnTo>
                  <a:pt x="1549018" y="896543"/>
                </a:lnTo>
                <a:lnTo>
                  <a:pt x="1608596" y="931025"/>
                </a:lnTo>
                <a:lnTo>
                  <a:pt x="1668174" y="965508"/>
                </a:lnTo>
                <a:lnTo>
                  <a:pt x="1727751" y="999990"/>
                </a:lnTo>
                <a:lnTo>
                  <a:pt x="1787329" y="1034473"/>
                </a:lnTo>
                <a:lnTo>
                  <a:pt x="1846906" y="1068955"/>
                </a:lnTo>
                <a:lnTo>
                  <a:pt x="1906484" y="1103438"/>
                </a:lnTo>
                <a:lnTo>
                  <a:pt x="1966062" y="1137920"/>
                </a:lnTo>
                <a:lnTo>
                  <a:pt x="2025639" y="1172402"/>
                </a:lnTo>
                <a:lnTo>
                  <a:pt x="2085217" y="1206885"/>
                </a:lnTo>
                <a:lnTo>
                  <a:pt x="2144794" y="1241367"/>
                </a:lnTo>
                <a:lnTo>
                  <a:pt x="2204372" y="1275850"/>
                </a:lnTo>
                <a:lnTo>
                  <a:pt x="2263950" y="1310332"/>
                </a:lnTo>
                <a:lnTo>
                  <a:pt x="2323527" y="1344815"/>
                </a:lnTo>
                <a:lnTo>
                  <a:pt x="2383105" y="1379297"/>
                </a:lnTo>
                <a:lnTo>
                  <a:pt x="2442683" y="1413779"/>
                </a:lnTo>
                <a:lnTo>
                  <a:pt x="2502260" y="1448262"/>
                </a:lnTo>
                <a:lnTo>
                  <a:pt x="2561838" y="1482744"/>
                </a:lnTo>
                <a:lnTo>
                  <a:pt x="2621415" y="1517227"/>
                </a:lnTo>
                <a:lnTo>
                  <a:pt x="2680993" y="1551709"/>
                </a:lnTo>
                <a:lnTo>
                  <a:pt x="2740571" y="1586192"/>
                </a:lnTo>
                <a:lnTo>
                  <a:pt x="2800148" y="1620674"/>
                </a:lnTo>
                <a:lnTo>
                  <a:pt x="2859726" y="1655156"/>
                </a:lnTo>
                <a:lnTo>
                  <a:pt x="2919304" y="1689639"/>
                </a:lnTo>
                <a:lnTo>
                  <a:pt x="2978881" y="1724121"/>
                </a:lnTo>
                <a:lnTo>
                  <a:pt x="3038459" y="1758604"/>
                </a:lnTo>
                <a:lnTo>
                  <a:pt x="3098036" y="1793086"/>
                </a:lnTo>
                <a:lnTo>
                  <a:pt x="3157614" y="1827569"/>
                </a:lnTo>
                <a:lnTo>
                  <a:pt x="3217192" y="1862051"/>
                </a:lnTo>
                <a:lnTo>
                  <a:pt x="3276769" y="1896533"/>
                </a:lnTo>
                <a:lnTo>
                  <a:pt x="3336347" y="1931016"/>
                </a:lnTo>
                <a:lnTo>
                  <a:pt x="3395924" y="1965498"/>
                </a:lnTo>
                <a:lnTo>
                  <a:pt x="3455502" y="1999981"/>
                </a:lnTo>
                <a:lnTo>
                  <a:pt x="3515080" y="2034463"/>
                </a:lnTo>
                <a:lnTo>
                  <a:pt x="3574657" y="2068945"/>
                </a:lnTo>
                <a:lnTo>
                  <a:pt x="3634235" y="2103428"/>
                </a:lnTo>
                <a:lnTo>
                  <a:pt x="3693813" y="2137910"/>
                </a:lnTo>
                <a:lnTo>
                  <a:pt x="3753390" y="2172393"/>
                </a:lnTo>
                <a:lnTo>
                  <a:pt x="3812968" y="2206875"/>
                </a:lnTo>
                <a:lnTo>
                  <a:pt x="3872545" y="2241358"/>
                </a:lnTo>
                <a:lnTo>
                  <a:pt x="3932123" y="2275840"/>
                </a:lnTo>
                <a:lnTo>
                  <a:pt x="3991701" y="2310322"/>
                </a:lnTo>
                <a:lnTo>
                  <a:pt x="4051278" y="2344805"/>
                </a:lnTo>
                <a:lnTo>
                  <a:pt x="4110856" y="2379287"/>
                </a:lnTo>
                <a:lnTo>
                  <a:pt x="4170434" y="2413770"/>
                </a:lnTo>
                <a:lnTo>
                  <a:pt x="4230011" y="2448252"/>
                </a:lnTo>
                <a:lnTo>
                  <a:pt x="4289589" y="2482735"/>
                </a:lnTo>
                <a:lnTo>
                  <a:pt x="4349166" y="2517217"/>
                </a:lnTo>
                <a:lnTo>
                  <a:pt x="4408744" y="2551699"/>
                </a:lnTo>
                <a:lnTo>
                  <a:pt x="4468322" y="2586182"/>
                </a:lnTo>
                <a:lnTo>
                  <a:pt x="4527899" y="2620664"/>
                </a:lnTo>
                <a:lnTo>
                  <a:pt x="4587477" y="2655147"/>
                </a:lnTo>
                <a:lnTo>
                  <a:pt x="4647054" y="2689629"/>
                </a:lnTo>
                <a:lnTo>
                  <a:pt x="4706632" y="2724112"/>
                </a:lnTo>
                <a:lnTo>
                  <a:pt x="4766210" y="2758594"/>
                </a:lnTo>
                <a:lnTo>
                  <a:pt x="4825787" y="2793076"/>
                </a:lnTo>
                <a:lnTo>
                  <a:pt x="4885365" y="2827559"/>
                </a:lnTo>
                <a:lnTo>
                  <a:pt x="4944943" y="2862041"/>
                </a:lnTo>
                <a:lnTo>
                  <a:pt x="5004520" y="2896524"/>
                </a:lnTo>
                <a:lnTo>
                  <a:pt x="5064098" y="2931006"/>
                </a:lnTo>
                <a:lnTo>
                  <a:pt x="5123675" y="2965489"/>
                </a:lnTo>
                <a:lnTo>
                  <a:pt x="5183253" y="2999971"/>
                </a:lnTo>
                <a:lnTo>
                  <a:pt x="5242831" y="3034453"/>
                </a:lnTo>
                <a:lnTo>
                  <a:pt x="5302408" y="3068936"/>
                </a:lnTo>
                <a:lnTo>
                  <a:pt x="5361986" y="3103418"/>
                </a:lnTo>
                <a:lnTo>
                  <a:pt x="5421563" y="3137901"/>
                </a:lnTo>
                <a:lnTo>
                  <a:pt x="5481141" y="3172383"/>
                </a:lnTo>
                <a:lnTo>
                  <a:pt x="5540719" y="3206865"/>
                </a:lnTo>
                <a:lnTo>
                  <a:pt x="5600296" y="3241348"/>
                </a:lnTo>
                <a:lnTo>
                  <a:pt x="5659874" y="3275830"/>
                </a:lnTo>
                <a:lnTo>
                  <a:pt x="5719452" y="3310313"/>
                </a:lnTo>
                <a:lnTo>
                  <a:pt x="5779029" y="3344795"/>
                </a:lnTo>
                <a:lnTo>
                  <a:pt x="5838607" y="3379278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16 polygon 33" descr="sci-ppt:o033"/>
          <p:cNvSpPr/>
          <p:nvPr/>
        </p:nvSpPr>
        <p:spPr>
          <a:xfrm>
            <a:off x="916569" y="2622610"/>
            <a:ext cx="5838607" cy="1689639"/>
          </a:xfrm>
          <a:custGeom>
            <a:avLst/>
            <a:gdLst/>
            <a:ahLst/>
            <a:cxnLst/>
            <a:rect l="l" t="t" r="r" b="b"/>
            <a:pathLst>
              <a:path w="5838607" h="1689639">
                <a:moveTo>
                  <a:pt x="0" y="0"/>
                </a:moveTo>
                <a:lnTo>
                  <a:pt x="59578" y="17241"/>
                </a:lnTo>
                <a:lnTo>
                  <a:pt x="119155" y="34482"/>
                </a:lnTo>
                <a:lnTo>
                  <a:pt x="178733" y="51724"/>
                </a:lnTo>
                <a:lnTo>
                  <a:pt x="238311" y="68965"/>
                </a:lnTo>
                <a:lnTo>
                  <a:pt x="297888" y="86206"/>
                </a:lnTo>
                <a:lnTo>
                  <a:pt x="357466" y="103447"/>
                </a:lnTo>
                <a:lnTo>
                  <a:pt x="417044" y="120688"/>
                </a:lnTo>
                <a:lnTo>
                  <a:pt x="476621" y="137930"/>
                </a:lnTo>
                <a:lnTo>
                  <a:pt x="536199" y="155171"/>
                </a:lnTo>
                <a:lnTo>
                  <a:pt x="595776" y="172412"/>
                </a:lnTo>
                <a:lnTo>
                  <a:pt x="655354" y="189653"/>
                </a:lnTo>
                <a:lnTo>
                  <a:pt x="714932" y="206895"/>
                </a:lnTo>
                <a:lnTo>
                  <a:pt x="774509" y="224136"/>
                </a:lnTo>
                <a:lnTo>
                  <a:pt x="834087" y="241377"/>
                </a:lnTo>
                <a:lnTo>
                  <a:pt x="893664" y="258618"/>
                </a:lnTo>
                <a:lnTo>
                  <a:pt x="953242" y="275859"/>
                </a:lnTo>
                <a:lnTo>
                  <a:pt x="1012820" y="293101"/>
                </a:lnTo>
                <a:lnTo>
                  <a:pt x="1072397" y="310342"/>
                </a:lnTo>
                <a:lnTo>
                  <a:pt x="1131975" y="327583"/>
                </a:lnTo>
                <a:lnTo>
                  <a:pt x="1191553" y="344824"/>
                </a:lnTo>
                <a:lnTo>
                  <a:pt x="1251130" y="362065"/>
                </a:lnTo>
                <a:lnTo>
                  <a:pt x="1310708" y="379307"/>
                </a:lnTo>
                <a:lnTo>
                  <a:pt x="1370285" y="396548"/>
                </a:lnTo>
                <a:lnTo>
                  <a:pt x="1429863" y="413789"/>
                </a:lnTo>
                <a:lnTo>
                  <a:pt x="1489441" y="431030"/>
                </a:lnTo>
                <a:lnTo>
                  <a:pt x="1549018" y="448271"/>
                </a:lnTo>
                <a:lnTo>
                  <a:pt x="1608596" y="465513"/>
                </a:lnTo>
                <a:lnTo>
                  <a:pt x="1668174" y="482754"/>
                </a:lnTo>
                <a:lnTo>
                  <a:pt x="1727751" y="499995"/>
                </a:lnTo>
                <a:lnTo>
                  <a:pt x="1787329" y="517236"/>
                </a:lnTo>
                <a:lnTo>
                  <a:pt x="1846906" y="534478"/>
                </a:lnTo>
                <a:lnTo>
                  <a:pt x="1906484" y="551719"/>
                </a:lnTo>
                <a:lnTo>
                  <a:pt x="1966062" y="568960"/>
                </a:lnTo>
                <a:lnTo>
                  <a:pt x="2025639" y="586201"/>
                </a:lnTo>
                <a:lnTo>
                  <a:pt x="2085217" y="603442"/>
                </a:lnTo>
                <a:lnTo>
                  <a:pt x="2144794" y="620684"/>
                </a:lnTo>
                <a:lnTo>
                  <a:pt x="2204372" y="637925"/>
                </a:lnTo>
                <a:lnTo>
                  <a:pt x="2263950" y="655166"/>
                </a:lnTo>
                <a:lnTo>
                  <a:pt x="2323527" y="672407"/>
                </a:lnTo>
                <a:lnTo>
                  <a:pt x="2383105" y="689648"/>
                </a:lnTo>
                <a:lnTo>
                  <a:pt x="2442683" y="706890"/>
                </a:lnTo>
                <a:lnTo>
                  <a:pt x="2502260" y="724131"/>
                </a:lnTo>
                <a:lnTo>
                  <a:pt x="2561838" y="741372"/>
                </a:lnTo>
                <a:lnTo>
                  <a:pt x="2621415" y="758613"/>
                </a:lnTo>
                <a:lnTo>
                  <a:pt x="2680993" y="775855"/>
                </a:lnTo>
                <a:lnTo>
                  <a:pt x="2740571" y="793096"/>
                </a:lnTo>
                <a:lnTo>
                  <a:pt x="2800148" y="810337"/>
                </a:lnTo>
                <a:lnTo>
                  <a:pt x="2859726" y="827578"/>
                </a:lnTo>
                <a:lnTo>
                  <a:pt x="2919304" y="844819"/>
                </a:lnTo>
                <a:lnTo>
                  <a:pt x="2978881" y="862061"/>
                </a:lnTo>
                <a:lnTo>
                  <a:pt x="3038459" y="879302"/>
                </a:lnTo>
                <a:lnTo>
                  <a:pt x="3098036" y="896543"/>
                </a:lnTo>
                <a:lnTo>
                  <a:pt x="3157614" y="913784"/>
                </a:lnTo>
                <a:lnTo>
                  <a:pt x="3217192" y="931025"/>
                </a:lnTo>
                <a:lnTo>
                  <a:pt x="3276769" y="948267"/>
                </a:lnTo>
                <a:lnTo>
                  <a:pt x="3336347" y="965508"/>
                </a:lnTo>
                <a:lnTo>
                  <a:pt x="3395924" y="982749"/>
                </a:lnTo>
                <a:lnTo>
                  <a:pt x="3455502" y="999990"/>
                </a:lnTo>
                <a:lnTo>
                  <a:pt x="3515080" y="1017231"/>
                </a:lnTo>
                <a:lnTo>
                  <a:pt x="3574657" y="1034473"/>
                </a:lnTo>
                <a:lnTo>
                  <a:pt x="3634235" y="1051714"/>
                </a:lnTo>
                <a:lnTo>
                  <a:pt x="3693813" y="1068955"/>
                </a:lnTo>
                <a:lnTo>
                  <a:pt x="3753390" y="1086196"/>
                </a:lnTo>
                <a:lnTo>
                  <a:pt x="3812968" y="1103438"/>
                </a:lnTo>
                <a:lnTo>
                  <a:pt x="3872545" y="1120679"/>
                </a:lnTo>
                <a:lnTo>
                  <a:pt x="3932123" y="1137920"/>
                </a:lnTo>
                <a:lnTo>
                  <a:pt x="3991701" y="1155161"/>
                </a:lnTo>
                <a:lnTo>
                  <a:pt x="4051278" y="1172402"/>
                </a:lnTo>
                <a:lnTo>
                  <a:pt x="4110856" y="1189644"/>
                </a:lnTo>
                <a:lnTo>
                  <a:pt x="4170434" y="1206885"/>
                </a:lnTo>
                <a:lnTo>
                  <a:pt x="4230011" y="1224126"/>
                </a:lnTo>
                <a:lnTo>
                  <a:pt x="4289589" y="1241367"/>
                </a:lnTo>
                <a:lnTo>
                  <a:pt x="4349166" y="1258608"/>
                </a:lnTo>
                <a:lnTo>
                  <a:pt x="4408744" y="1275850"/>
                </a:lnTo>
                <a:lnTo>
                  <a:pt x="4468322" y="1293091"/>
                </a:lnTo>
                <a:lnTo>
                  <a:pt x="4527899" y="1310332"/>
                </a:lnTo>
                <a:lnTo>
                  <a:pt x="4587477" y="1327573"/>
                </a:lnTo>
                <a:lnTo>
                  <a:pt x="4647054" y="1344815"/>
                </a:lnTo>
                <a:lnTo>
                  <a:pt x="4706632" y="1362056"/>
                </a:lnTo>
                <a:lnTo>
                  <a:pt x="4766210" y="1379297"/>
                </a:lnTo>
                <a:lnTo>
                  <a:pt x="4825787" y="1396538"/>
                </a:lnTo>
                <a:lnTo>
                  <a:pt x="4885365" y="1413779"/>
                </a:lnTo>
                <a:lnTo>
                  <a:pt x="4944943" y="1431021"/>
                </a:lnTo>
                <a:lnTo>
                  <a:pt x="5004520" y="1448262"/>
                </a:lnTo>
                <a:lnTo>
                  <a:pt x="5064098" y="1465503"/>
                </a:lnTo>
                <a:lnTo>
                  <a:pt x="5123675" y="1482744"/>
                </a:lnTo>
                <a:lnTo>
                  <a:pt x="5183253" y="1499985"/>
                </a:lnTo>
                <a:lnTo>
                  <a:pt x="5242831" y="1517227"/>
                </a:lnTo>
                <a:lnTo>
                  <a:pt x="5302408" y="1534468"/>
                </a:lnTo>
                <a:lnTo>
                  <a:pt x="5361986" y="1551709"/>
                </a:lnTo>
                <a:lnTo>
                  <a:pt x="5421563" y="1568950"/>
                </a:lnTo>
                <a:lnTo>
                  <a:pt x="5481141" y="1586191"/>
                </a:lnTo>
                <a:lnTo>
                  <a:pt x="5540719" y="1603433"/>
                </a:lnTo>
                <a:lnTo>
                  <a:pt x="5600296" y="1620674"/>
                </a:lnTo>
                <a:lnTo>
                  <a:pt x="5659874" y="1637915"/>
                </a:lnTo>
                <a:lnTo>
                  <a:pt x="5719452" y="1655156"/>
                </a:lnTo>
                <a:lnTo>
                  <a:pt x="5779029" y="1672398"/>
                </a:lnTo>
                <a:lnTo>
                  <a:pt x="5838607" y="168963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16 ellipse 34" descr="sci-ppt:o034"/>
          <p:cNvSpPr/>
          <p:nvPr/>
        </p:nvSpPr>
        <p:spPr>
          <a:xfrm>
            <a:off x="4833244" y="370407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16 text 35" descr="sci-ppt:o035"/>
          <p:cNvSpPr txBox="1"/>
          <p:nvPr/>
        </p:nvSpPr>
        <p:spPr>
          <a:xfrm>
            <a:off x="1751716" y="388695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3.93 ng, 31.9 m/s: the declared jet</a:t>
            </a:r>
          </a:p>
        </p:txBody>
      </p:sp>
      <p:sp>
        <p:nvSpPr>
          <p:cNvPr id="38" name="C3-E16 text 36" descr="sci-ppt:o036"/>
          <p:cNvSpPr txBox="1"/>
          <p:nvPr/>
        </p:nvSpPr>
        <p:spPr>
          <a:xfrm>
            <a:off x="1154346" y="1811048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fixed impulse J: U = J/m</a:t>
            </a:r>
          </a:p>
        </p:txBody>
      </p:sp>
      <p:sp>
        <p:nvSpPr>
          <p:cNvPr id="39" name="C3-E16 text 37" descr="sci-ppt:o037"/>
          <p:cNvSpPr txBox="1"/>
          <p:nvPr/>
        </p:nvSpPr>
        <p:spPr>
          <a:xfrm>
            <a:off x="2255787" y="2984528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fixed energy E: U = √(2E/m)</a:t>
            </a:r>
          </a:p>
        </p:txBody>
      </p:sp>
      <p:sp>
        <p:nvSpPr>
          <p:cNvPr id="40" name="C3-E16 round_rect 38" descr="sci-ppt:o038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6 text 39" descr="sci-ppt:o039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different budgets</a:t>
            </a:r>
          </a:p>
        </p:txBody>
      </p:sp>
      <p:sp>
        <p:nvSpPr>
          <p:cNvPr id="42" name="C3-E16 text 40" descr="sci-ppt:o040"/>
          <p:cNvSpPr txBox="1"/>
          <p:nvPr/>
        </p:nvSpPr>
        <p:spPr>
          <a:xfrm>
            <a:off x="7178040" y="1828800"/>
            <a:ext cx="45720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Π(z) = Π₀(1 − z/L),  U = Π₀/(ρL)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 = ρAL,  J = Π₀A = mU</a:t>
            </a:r>
          </a:p>
        </p:txBody>
      </p:sp>
      <p:sp>
        <p:nvSpPr>
          <p:cNvPr id="43" name="C3-E16 text 41" descr="sci-ppt:o041"/>
          <p:cNvSpPr txBox="1"/>
          <p:nvPr/>
        </p:nvSpPr>
        <p:spPr>
          <a:xfrm>
            <a:off x="7178040" y="265176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J = 1.253e-10 N s,   E = 2.00 nJ</a:t>
            </a:r>
          </a:p>
        </p:txBody>
      </p:sp>
      <p:sp>
        <p:nvSpPr>
          <p:cNvPr id="44" name="C3-E16 text 42" descr="sci-ppt:o042"/>
          <p:cNvSpPr txBox="1"/>
          <p:nvPr/>
        </p:nvSpPr>
        <p:spPr>
          <a:xfrm>
            <a:off x="7379208" y="3154680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Quarter the mass at fixed J: speed ×4, energy ×4.</a:t>
            </a:r>
          </a:p>
        </p:txBody>
      </p:sp>
      <p:sp>
        <p:nvSpPr>
          <p:cNvPr id="45" name="C3-E16 ellipse 43" descr="sci-ppt:o043"/>
          <p:cNvSpPr/>
          <p:nvPr/>
        </p:nvSpPr>
        <p:spPr>
          <a:xfrm>
            <a:off x="7210044" y="32080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16 text 44" descr="sci-ppt:o044"/>
          <p:cNvSpPr txBox="1"/>
          <p:nvPr/>
        </p:nvSpPr>
        <p:spPr>
          <a:xfrm>
            <a:off x="7379208" y="3432048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Quarter the mass at fixed E: speed ×2, momentum ÷2.</a:t>
            </a:r>
          </a:p>
        </p:txBody>
      </p:sp>
      <p:sp>
        <p:nvSpPr>
          <p:cNvPr id="47" name="C3-E16 ellipse 45" descr="sci-ppt:o045"/>
          <p:cNvSpPr/>
          <p:nvPr/>
        </p:nvSpPr>
        <p:spPr>
          <a:xfrm>
            <a:off x="7210044" y="34853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3-E16 text 46" descr="sci-ppt:o046"/>
          <p:cNvSpPr txBox="1"/>
          <p:nvPr/>
        </p:nvSpPr>
        <p:spPr>
          <a:xfrm>
            <a:off x="7379208" y="3709416"/>
            <a:ext cx="43708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pressure-impulse field and the total energy must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both be satisfied.</a:t>
            </a:r>
          </a:p>
        </p:txBody>
      </p:sp>
      <p:sp>
        <p:nvSpPr>
          <p:cNvPr id="49" name="C3-E16 ellipse 47" descr="sci-ppt:o047"/>
          <p:cNvSpPr/>
          <p:nvPr/>
        </p:nvSpPr>
        <p:spPr>
          <a:xfrm>
            <a:off x="7210044" y="37627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3-E16 text 48" descr="sci-ppt:o048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Focusing a given source into a lighter jet buys speed only at a price set by which quantity is conserved.</a:t>
            </a:r>
          </a:p>
        </p:txBody>
      </p:sp>
      <p:sp>
        <p:nvSpPr>
          <p:cNvPr id="51" name="C3-E16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Pressure-impulse column and focusing budgets of Eq. C3-E16 (m = 3.927 ng, E = 2 nJ).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