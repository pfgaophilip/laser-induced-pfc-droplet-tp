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6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C3-E16 · Pressure-impulse control and distinct focusing budgets</a:t>
            </a:r>
          </a:p>
        </p:txBody>
      </p:sp>
      <p:sp>
        <p:nvSpPr>
          <p:cNvPr id="3" name="C3-E16 rect 1" descr="sci-ppt:o001"/>
          <p:cNvSpPr/>
          <p:nvPr/>
        </p:nvSpPr>
        <p:spPr>
          <a:xfrm>
            <a:off x="1005840" y="1417320"/>
            <a:ext cx="9144000" cy="10058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16 arrow 2" descr="sci-ppt:o002"/>
          <p:cNvCxnSpPr/>
          <p:nvPr/>
        </p:nvCxnSpPr>
        <p:spPr>
          <a:xfrm>
            <a:off x="1280160" y="1920240"/>
            <a:ext cx="859536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C3-E16 text 3" descr="sci-ppt:o003"/>
          <p:cNvSpPr txBox="1"/>
          <p:nvPr/>
        </p:nvSpPr>
        <p:spPr>
          <a:xfrm>
            <a:off x="1005840" y="91440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E7F0F3"/>
                </a:solidFill>
                <a:latin typeface="Arial"/>
              </a:rPr>
              <a:t>z = 0: Π = Π₀</a:t>
            </a:r>
          </a:p>
        </p:txBody>
      </p:sp>
      <p:sp>
        <p:nvSpPr>
          <p:cNvPr id="6" name="C3-E16 text 4" descr="sci-ppt:o004"/>
          <p:cNvSpPr txBox="1"/>
          <p:nvPr/>
        </p:nvSpPr>
        <p:spPr>
          <a:xfrm>
            <a:off x="7589520" y="91440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E7F0F3"/>
                </a:solidFill>
                <a:latin typeface="Arial"/>
              </a:rPr>
              <a:t>z = L: Π = 0</a:t>
            </a:r>
          </a:p>
        </p:txBody>
      </p:sp>
      <p:sp>
        <p:nvSpPr>
          <p:cNvPr id="7" name="C3-E16 text 5" descr="sci-ppt:o005"/>
          <p:cNvSpPr txBox="1"/>
          <p:nvPr/>
        </p:nvSpPr>
        <p:spPr>
          <a:xfrm>
            <a:off x="2377440" y="2743200"/>
            <a:ext cx="82296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Δu = −∇Π/ρ; Π decreases in the launch direction.</a:t>
            </a:r>
          </a:p>
        </p:txBody>
      </p:sp>
      <p:cxnSp>
        <p:nvCxnSpPr>
          <p:cNvPr id="8" name="C3-E16 line 6" descr="sci-ppt:o006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9" name="C3-E16 text 7" descr="sci-ppt:o007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Π₀ at z = 0 source</a:t>
            </a:r>
          </a:p>
        </p:txBody>
      </p:sp>
      <p:sp>
        <p:nvSpPr>
          <p:cNvPr id="10" name="C3-E16 text 8" descr="sci-ppt:o008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Π = 0 at z = L free end</a:t>
            </a:r>
          </a:p>
        </p:txBody>
      </p:sp>
      <p:sp>
        <p:nvSpPr>
          <p:cNvPr id="11" name="C3-E16 text 9" descr="sci-ppt:o009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 column area; L length</a:t>
            </a:r>
          </a:p>
        </p:txBody>
      </p:sp>
      <p:sp>
        <p:nvSpPr>
          <p:cNvPr id="12" name="C3-E16 text 10" descr="sci-ppt:o010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Π(z), ∇Π → Δu</a:t>
            </a:r>
          </a:p>
        </p:txBody>
      </p:sp>
      <p:sp>
        <p:nvSpPr>
          <p:cNvPr id="13" name="C3-E16 text 11" descr="sci-ppt:o011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 = Π₀/(ρL)</a:t>
            </a:r>
          </a:p>
        </p:txBody>
      </p:sp>
      <p:sp>
        <p:nvSpPr>
          <p:cNvPr id="14" name="C3-E16 text 12" descr="sci-ppt:o012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 = ρAL; J = Π₀A</a:t>
            </a:r>
          </a:p>
        </p:txBody>
      </p:sp>
      <p:sp>
        <p:nvSpPr>
          <p:cNvPr id="15" name="C3-E16 text 13" descr="sci-ppt:o013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E, fixed J vs fixed E</a:t>
            </a:r>
          </a:p>
        </p:txBody>
      </p:sp>
      <p:sp>
        <p:nvSpPr>
          <p:cNvPr id="16" name="C3-E16 text 14" descr="sci-ppt:o014"/>
          <p:cNvSpPr txBox="1"/>
          <p:nvPr/>
        </p:nvSpPr>
        <p:spPr>
          <a:xfrm>
            <a:off x="621792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p, p_ref, x, t₀, τ_p, t</a:t>
            </a:r>
          </a:p>
        </p:txBody>
      </p:sp>
      <p:sp>
        <p:nvSpPr>
          <p:cNvPr id="17" name="C3-E16 text 15" descr="sci-ppt:o015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Fixed impulse per area is not fixed total impulse</a:t>
            </a:r>
          </a:p>
        </p:txBody>
      </p:sp>
      <p:sp>
        <p:nvSpPr>
          <p:cNvPr id="18" name="C3-E16 text 16" descr="sci-ppt:o016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At fixed total impulse, lower mass needs more energy</a:t>
            </a:r>
          </a:p>
        </p:txBody>
      </p:sp>
      <p:sp>
        <p:nvSpPr>
          <p:cNvPr id="19" name="C3-E16 text 17" descr="sci-ppt:o017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