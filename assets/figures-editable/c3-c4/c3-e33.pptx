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C3-E33 · Reference answer: original impact and observer formulas</a:t>
            </a:r>
          </a:p>
        </p:txBody>
      </p:sp>
      <p:sp>
        <p:nvSpPr>
          <p:cNvPr id="3" name="C3-E33 rect 1" descr="sci-ppt:o001"/>
          <p:cNvSpPr/>
          <p:nvPr/>
        </p:nvSpPr>
        <p:spPr>
          <a:xfrm>
            <a:off x="731520" y="1508760"/>
            <a:ext cx="4937760" cy="7315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33 arrow 2" descr="sci-ppt:o002"/>
          <p:cNvCxnSpPr/>
          <p:nvPr/>
        </p:nvCxnSpPr>
        <p:spPr>
          <a:xfrm>
            <a:off x="1005840" y="1874519"/>
            <a:ext cx="42976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C3-E33 text 3" descr="sci-ppt:o003"/>
          <p:cNvSpPr txBox="1"/>
          <p:nvPr/>
        </p:nvSpPr>
        <p:spPr>
          <a:xfrm>
            <a:off x="1463040" y="10515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Finite emitted liquid: m_j, E_j, U_j</a:t>
            </a:r>
          </a:p>
        </p:txBody>
      </p:sp>
      <p:cxnSp>
        <p:nvCxnSpPr>
          <p:cNvPr id="6" name="C3-E33 line 4" descr="sci-ppt:o004"/>
          <p:cNvCxnSpPr/>
          <p:nvPr/>
        </p:nvCxnSpPr>
        <p:spPr>
          <a:xfrm>
            <a:off x="731520" y="2606040"/>
            <a:ext cx="4937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7" name="C3-E33 text 5" descr="sci-ppt:o005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L_j</a:t>
            </a:r>
          </a:p>
        </p:txBody>
      </p:sp>
      <p:cxnSp>
        <p:nvCxnSpPr>
          <p:cNvPr id="8" name="C3-E33 line 6" descr="sci-ppt:o006"/>
          <p:cNvCxnSpPr/>
          <p:nvPr/>
        </p:nvCxnSpPr>
        <p:spPr>
          <a:xfrm>
            <a:off x="457200" y="1508760"/>
            <a:ext cx="0" cy="7315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" name="C3-E33 text 7" descr="sci-ppt:o007"/>
          <p:cNvSpPr txBox="1"/>
          <p:nvPr/>
        </p:nvSpPr>
        <p:spPr>
          <a:xfrm>
            <a:off x="137160" y="2377440"/>
            <a:ext cx="164592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d_j = 2a_j</a:t>
            </a:r>
          </a:p>
        </p:txBody>
      </p:sp>
      <p:sp>
        <p:nvSpPr>
          <p:cNvPr id="10" name="C3-E33 rect 8" descr="sci-ppt:o008"/>
          <p:cNvSpPr/>
          <p:nvPr/>
        </p:nvSpPr>
        <p:spPr>
          <a:xfrm>
            <a:off x="8412480" y="960120"/>
            <a:ext cx="365760" cy="16459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3-E33 arrow 9" descr="sci-ppt:o009"/>
          <p:cNvCxnSpPr/>
          <p:nvPr/>
        </p:nvCxnSpPr>
        <p:spPr>
          <a:xfrm>
            <a:off x="5760720" y="1874519"/>
            <a:ext cx="2606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3-E33 text 10" descr="sci-ppt:o010"/>
          <p:cNvSpPr txBox="1"/>
          <p:nvPr/>
        </p:nvSpPr>
        <p:spPr>
          <a:xfrm>
            <a:off x="9006840" y="1005840"/>
            <a:ext cx="2743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Receiver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Z_r, v_i</a:t>
            </a:r>
          </a:p>
        </p:txBody>
      </p:sp>
      <p:sp>
        <p:nvSpPr>
          <p:cNvPr id="13" name="C3-E33 text 11" descr="sci-ppt:o011"/>
          <p:cNvSpPr txBox="1"/>
          <p:nvPr/>
        </p:nvSpPr>
        <p:spPr>
          <a:xfrm>
            <a:off x="6035040" y="2880360"/>
            <a:ext cx="539496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Early pressure: acoustic matching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Impulse: finite momentum change</a:t>
            </a:r>
          </a:p>
        </p:txBody>
      </p:sp>
      <p:cxnSp>
        <p:nvCxnSpPr>
          <p:cNvPr id="14" name="C3-E33 line 12" descr="sci-ppt:o012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5" name="C3-E33 text 13" descr="sci-ppt:o013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U_j, L_j finite incoming jet</a:t>
            </a:r>
          </a:p>
        </p:txBody>
      </p:sp>
      <p:sp>
        <p:nvSpPr>
          <p:cNvPr id="16" name="C3-E33 text 14" descr="sci-ppt:o014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ρ, c; Z_l liquid impedance</a:t>
            </a:r>
          </a:p>
        </p:txBody>
      </p:sp>
      <p:sp>
        <p:nvSpPr>
          <p:cNvPr id="17" name="C3-E33 text 15" descr="sci-ppt:o015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Z_r receiver impedance</a:t>
            </a:r>
          </a:p>
        </p:txBody>
      </p:sp>
      <p:sp>
        <p:nvSpPr>
          <p:cNvPr id="18" name="C3-E33 text 16" descr="sci-ppt:o016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p_early early contact scale</a:t>
            </a:r>
          </a:p>
        </p:txBody>
      </p:sp>
      <p:sp>
        <p:nvSpPr>
          <p:cNvPr id="19" name="C3-E33 text 17" descr="sci-ppt:o017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τ_eq = L_j/c</a:t>
            </a:r>
          </a:p>
        </p:txBody>
      </p:sp>
      <p:sp>
        <p:nvSpPr>
          <p:cNvPr id="20" name="C3-E33 text 18" descr="sci-ppt:o018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A_o, τ_o finite observer</a:t>
            </a:r>
          </a:p>
        </p:txBody>
      </p:sp>
      <p:sp>
        <p:nvSpPr>
          <p:cNvPr id="21" name="C3-E33 text 19" descr="sci-ppt:o019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p(x,ξ), p_ref, p_obs(t), dA</a:t>
            </a:r>
          </a:p>
        </p:txBody>
      </p:sp>
      <p:sp>
        <p:nvSpPr>
          <p:cNvPr id="22" name="C3-E33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Location, footprint and time window must stay fixed</a:t>
            </a:r>
          </a:p>
        </p:txBody>
      </p:sp>
      <p:sp>
        <p:nvSpPr>
          <p:cNvPr id="23" name="C3-E33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Early compressive pressure is not buried release-interface traction</a:t>
            </a:r>
          </a:p>
        </p:txBody>
      </p:sp>
      <p:sp>
        <p:nvSpPr>
          <p:cNvPr id="24" name="C3-E33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