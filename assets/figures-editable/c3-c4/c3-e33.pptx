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3-E33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C3-E33 · Reference answer: original impact and observer formulas</a:t>
            </a:r>
          </a:p>
        </p:txBody>
      </p:sp>
      <p:cxnSp>
        <p:nvCxnSpPr>
          <p:cNvPr id="3" name="C3-E33 line 1" descr="sci-ppt:o001"/>
          <p:cNvCxnSpPr/>
          <p:nvPr/>
        </p:nvCxnSpPr>
        <p:spPr>
          <a:xfrm>
            <a:off x="8686800" y="4526280"/>
            <a:ext cx="3017520" cy="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4" name="C3-E33 line 2" descr="sci-ppt:o002"/>
          <p:cNvCxnSpPr/>
          <p:nvPr/>
        </p:nvCxnSpPr>
        <p:spPr>
          <a:xfrm>
            <a:off x="8686800" y="1783080"/>
            <a:ext cx="0" cy="274320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5" name="C3-E33 line 3" descr="sci-ppt:o003"/>
          <p:cNvCxnSpPr/>
          <p:nvPr/>
        </p:nvCxnSpPr>
        <p:spPr>
          <a:xfrm>
            <a:off x="8686800" y="452628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6" name="C3-E33 line 4" descr="sci-ppt:o004"/>
          <p:cNvCxnSpPr/>
          <p:nvPr/>
        </p:nvCxnSpPr>
        <p:spPr>
          <a:xfrm>
            <a:off x="8686800" y="1783080"/>
            <a:ext cx="0" cy="27432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7" name="C3-E33 text 5" descr="sci-ppt:o005"/>
          <p:cNvSpPr txBox="1"/>
          <p:nvPr/>
        </p:nvSpPr>
        <p:spPr>
          <a:xfrm>
            <a:off x="8229600" y="460857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0.01</a:t>
            </a:r>
          </a:p>
        </p:txBody>
      </p:sp>
      <p:cxnSp>
        <p:nvCxnSpPr>
          <p:cNvPr id="8" name="C3-E33 line 6" descr="sci-ppt:o006"/>
          <p:cNvCxnSpPr/>
          <p:nvPr/>
        </p:nvCxnSpPr>
        <p:spPr>
          <a:xfrm>
            <a:off x="10195560" y="452628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9" name="C3-E33 line 7" descr="sci-ppt:o007"/>
          <p:cNvCxnSpPr/>
          <p:nvPr/>
        </p:nvCxnSpPr>
        <p:spPr>
          <a:xfrm>
            <a:off x="10195560" y="1783080"/>
            <a:ext cx="0" cy="27432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0" name="C3-E33 text 8" descr="sci-ppt:o008"/>
          <p:cNvSpPr txBox="1"/>
          <p:nvPr/>
        </p:nvSpPr>
        <p:spPr>
          <a:xfrm>
            <a:off x="9738360" y="460857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</a:t>
            </a:r>
          </a:p>
        </p:txBody>
      </p:sp>
      <p:cxnSp>
        <p:nvCxnSpPr>
          <p:cNvPr id="11" name="C3-E33 line 9" descr="sci-ppt:o009"/>
          <p:cNvCxnSpPr/>
          <p:nvPr/>
        </p:nvCxnSpPr>
        <p:spPr>
          <a:xfrm>
            <a:off x="11704320" y="452628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2" name="C3-E33 line 10" descr="sci-ppt:o010"/>
          <p:cNvCxnSpPr/>
          <p:nvPr/>
        </p:nvCxnSpPr>
        <p:spPr>
          <a:xfrm>
            <a:off x="11704320" y="1783080"/>
            <a:ext cx="0" cy="27432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3" name="C3-E33 text 11" descr="sci-ppt:o011"/>
          <p:cNvSpPr txBox="1"/>
          <p:nvPr/>
        </p:nvSpPr>
        <p:spPr>
          <a:xfrm>
            <a:off x="11247120" y="460857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100</a:t>
            </a:r>
          </a:p>
        </p:txBody>
      </p:sp>
      <p:cxnSp>
        <p:nvCxnSpPr>
          <p:cNvPr id="14" name="C3-E33 line 12" descr="sci-ppt:o012"/>
          <p:cNvCxnSpPr/>
          <p:nvPr/>
        </p:nvCxnSpPr>
        <p:spPr>
          <a:xfrm>
            <a:off x="8622792" y="452628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5" name="C3-E33 line 13" descr="sci-ppt:o013"/>
          <p:cNvCxnSpPr/>
          <p:nvPr/>
        </p:nvCxnSpPr>
        <p:spPr>
          <a:xfrm>
            <a:off x="8622792" y="3219994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6" name="C3-E33 line 14" descr="sci-ppt:o014"/>
          <p:cNvCxnSpPr/>
          <p:nvPr/>
        </p:nvCxnSpPr>
        <p:spPr>
          <a:xfrm>
            <a:off x="8686800" y="3219994"/>
            <a:ext cx="301752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7" name="C3-E33 text 15" descr="sci-ppt:o015"/>
          <p:cNvSpPr txBox="1"/>
          <p:nvPr/>
        </p:nvSpPr>
        <p:spPr>
          <a:xfrm>
            <a:off x="7818120" y="3137698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0.5</a:t>
            </a:r>
          </a:p>
        </p:txBody>
      </p:sp>
      <p:cxnSp>
        <p:nvCxnSpPr>
          <p:cNvPr id="18" name="C3-E33 line 16" descr="sci-ppt:o016"/>
          <p:cNvCxnSpPr/>
          <p:nvPr/>
        </p:nvCxnSpPr>
        <p:spPr>
          <a:xfrm>
            <a:off x="8622792" y="1913708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9" name="C3-E33 line 17" descr="sci-ppt:o017"/>
          <p:cNvCxnSpPr/>
          <p:nvPr/>
        </p:nvCxnSpPr>
        <p:spPr>
          <a:xfrm>
            <a:off x="8686800" y="1913708"/>
            <a:ext cx="301752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0" name="C3-E33 text 18" descr="sci-ppt:o018"/>
          <p:cNvSpPr txBox="1"/>
          <p:nvPr/>
        </p:nvSpPr>
        <p:spPr>
          <a:xfrm>
            <a:off x="7818120" y="1831412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1.0</a:t>
            </a:r>
          </a:p>
        </p:txBody>
      </p:sp>
      <p:sp>
        <p:nvSpPr>
          <p:cNvPr id="21" name="C3-E33 text 19" descr="sci-ppt:o019"/>
          <p:cNvSpPr txBox="1"/>
          <p:nvPr/>
        </p:nvSpPr>
        <p:spPr>
          <a:xfrm>
            <a:off x="8686800" y="4809744"/>
            <a:ext cx="301752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Zᵣ / Zₗ</a:t>
            </a:r>
          </a:p>
        </p:txBody>
      </p:sp>
      <p:sp>
        <p:nvSpPr>
          <p:cNvPr id="22" name="C3-E33 text 20" descr="sci-ppt:o020"/>
          <p:cNvSpPr txBox="1"/>
          <p:nvPr/>
        </p:nvSpPr>
        <p:spPr>
          <a:xfrm>
            <a:off x="8138160" y="1435607"/>
            <a:ext cx="301752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p/ρcU</a:t>
            </a:r>
          </a:p>
        </p:txBody>
      </p:sp>
      <p:sp>
        <p:nvSpPr>
          <p:cNvPr id="23" name="C3-E33 polygon 21" descr="sci-ppt:o021"/>
          <p:cNvSpPr/>
          <p:nvPr/>
        </p:nvSpPr>
        <p:spPr>
          <a:xfrm>
            <a:off x="8686800" y="1939575"/>
            <a:ext cx="3017520" cy="2560837"/>
          </a:xfrm>
          <a:custGeom>
            <a:avLst/>
            <a:gdLst/>
            <a:ahLst/>
            <a:cxnLst/>
            <a:rect l="l" t="t" r="r" b="b"/>
            <a:pathLst>
              <a:path w="3017520" h="2560837">
                <a:moveTo>
                  <a:pt x="0" y="2560837"/>
                </a:moveTo>
                <a:lnTo>
                  <a:pt x="30480" y="2558343"/>
                </a:lnTo>
                <a:lnTo>
                  <a:pt x="60960" y="2555611"/>
                </a:lnTo>
                <a:lnTo>
                  <a:pt x="91440" y="2552618"/>
                </a:lnTo>
                <a:lnTo>
                  <a:pt x="121920" y="2549343"/>
                </a:lnTo>
                <a:lnTo>
                  <a:pt x="152400" y="2545757"/>
                </a:lnTo>
                <a:lnTo>
                  <a:pt x="182880" y="2541833"/>
                </a:lnTo>
                <a:lnTo>
                  <a:pt x="213360" y="2537541"/>
                </a:lnTo>
                <a:lnTo>
                  <a:pt x="243840" y="2532846"/>
                </a:lnTo>
                <a:lnTo>
                  <a:pt x="274320" y="2527713"/>
                </a:lnTo>
                <a:lnTo>
                  <a:pt x="304800" y="2522104"/>
                </a:lnTo>
                <a:lnTo>
                  <a:pt x="335280" y="2515976"/>
                </a:lnTo>
                <a:lnTo>
                  <a:pt x="365760" y="2509285"/>
                </a:lnTo>
                <a:lnTo>
                  <a:pt x="396240" y="2501981"/>
                </a:lnTo>
                <a:lnTo>
                  <a:pt x="426720" y="2494014"/>
                </a:lnTo>
                <a:lnTo>
                  <a:pt x="457200" y="2485327"/>
                </a:lnTo>
                <a:lnTo>
                  <a:pt x="487680" y="2475862"/>
                </a:lnTo>
                <a:lnTo>
                  <a:pt x="518160" y="2465557"/>
                </a:lnTo>
                <a:lnTo>
                  <a:pt x="548640" y="2454343"/>
                </a:lnTo>
                <a:lnTo>
                  <a:pt x="579120" y="2442152"/>
                </a:lnTo>
                <a:lnTo>
                  <a:pt x="609600" y="2428910"/>
                </a:lnTo>
                <a:lnTo>
                  <a:pt x="640080" y="2414539"/>
                </a:lnTo>
                <a:lnTo>
                  <a:pt x="670560" y="2398959"/>
                </a:lnTo>
                <a:lnTo>
                  <a:pt x="701040" y="2382088"/>
                </a:lnTo>
                <a:lnTo>
                  <a:pt x="731520" y="2363840"/>
                </a:lnTo>
                <a:lnTo>
                  <a:pt x="762000" y="2344128"/>
                </a:lnTo>
                <a:lnTo>
                  <a:pt x="792480" y="2322866"/>
                </a:lnTo>
                <a:lnTo>
                  <a:pt x="822960" y="2299965"/>
                </a:lnTo>
                <a:lnTo>
                  <a:pt x="853440" y="2275340"/>
                </a:lnTo>
                <a:lnTo>
                  <a:pt x="883920" y="2248908"/>
                </a:lnTo>
                <a:lnTo>
                  <a:pt x="914400" y="2220588"/>
                </a:lnTo>
                <a:lnTo>
                  <a:pt x="944880" y="2190308"/>
                </a:lnTo>
                <a:lnTo>
                  <a:pt x="975360" y="2158002"/>
                </a:lnTo>
                <a:lnTo>
                  <a:pt x="1005840" y="2123613"/>
                </a:lnTo>
                <a:lnTo>
                  <a:pt x="1036320" y="2087097"/>
                </a:lnTo>
                <a:lnTo>
                  <a:pt x="1066800" y="2048422"/>
                </a:lnTo>
                <a:lnTo>
                  <a:pt x="1097280" y="2007573"/>
                </a:lnTo>
                <a:lnTo>
                  <a:pt x="1127760" y="1964555"/>
                </a:lnTo>
                <a:lnTo>
                  <a:pt x="1158240" y="1919390"/>
                </a:lnTo>
                <a:lnTo>
                  <a:pt x="1188720" y="1872123"/>
                </a:lnTo>
                <a:lnTo>
                  <a:pt x="1219200" y="1822823"/>
                </a:lnTo>
                <a:lnTo>
                  <a:pt x="1249680" y="1771583"/>
                </a:lnTo>
                <a:lnTo>
                  <a:pt x="1280160" y="1718519"/>
                </a:lnTo>
                <a:lnTo>
                  <a:pt x="1310640" y="1663775"/>
                </a:lnTo>
                <a:lnTo>
                  <a:pt x="1341120" y="1607517"/>
                </a:lnTo>
                <a:lnTo>
                  <a:pt x="1371600" y="1549933"/>
                </a:lnTo>
                <a:lnTo>
                  <a:pt x="1402080" y="1491235"/>
                </a:lnTo>
                <a:lnTo>
                  <a:pt x="1432560" y="1431648"/>
                </a:lnTo>
                <a:lnTo>
                  <a:pt x="1463040" y="1371418"/>
                </a:lnTo>
                <a:lnTo>
                  <a:pt x="1493520" y="1310795"/>
                </a:lnTo>
                <a:lnTo>
                  <a:pt x="1524000" y="1250042"/>
                </a:lnTo>
                <a:lnTo>
                  <a:pt x="1554480" y="1189420"/>
                </a:lnTo>
                <a:lnTo>
                  <a:pt x="1584960" y="1129189"/>
                </a:lnTo>
                <a:lnTo>
                  <a:pt x="1615440" y="1069603"/>
                </a:lnTo>
                <a:lnTo>
                  <a:pt x="1645920" y="1010904"/>
                </a:lnTo>
                <a:lnTo>
                  <a:pt x="1676400" y="953321"/>
                </a:lnTo>
                <a:lnTo>
                  <a:pt x="1706880" y="897062"/>
                </a:lnTo>
                <a:lnTo>
                  <a:pt x="1737360" y="842318"/>
                </a:lnTo>
                <a:lnTo>
                  <a:pt x="1767840" y="789255"/>
                </a:lnTo>
                <a:lnTo>
                  <a:pt x="1798320" y="738014"/>
                </a:lnTo>
                <a:lnTo>
                  <a:pt x="1828800" y="688714"/>
                </a:lnTo>
                <a:lnTo>
                  <a:pt x="1859280" y="641448"/>
                </a:lnTo>
                <a:lnTo>
                  <a:pt x="1889760" y="596282"/>
                </a:lnTo>
                <a:lnTo>
                  <a:pt x="1920240" y="553264"/>
                </a:lnTo>
                <a:lnTo>
                  <a:pt x="1950720" y="512416"/>
                </a:lnTo>
                <a:lnTo>
                  <a:pt x="1981200" y="473741"/>
                </a:lnTo>
                <a:lnTo>
                  <a:pt x="2011680" y="437224"/>
                </a:lnTo>
                <a:lnTo>
                  <a:pt x="2042160" y="402835"/>
                </a:lnTo>
                <a:lnTo>
                  <a:pt x="2072640" y="370529"/>
                </a:lnTo>
                <a:lnTo>
                  <a:pt x="2103120" y="340249"/>
                </a:lnTo>
                <a:lnTo>
                  <a:pt x="2133600" y="311930"/>
                </a:lnTo>
                <a:lnTo>
                  <a:pt x="2164080" y="285497"/>
                </a:lnTo>
                <a:lnTo>
                  <a:pt x="2194560" y="260873"/>
                </a:lnTo>
                <a:lnTo>
                  <a:pt x="2225040" y="237972"/>
                </a:lnTo>
                <a:lnTo>
                  <a:pt x="2255520" y="216709"/>
                </a:lnTo>
                <a:lnTo>
                  <a:pt x="2286000" y="196998"/>
                </a:lnTo>
                <a:lnTo>
                  <a:pt x="2316480" y="178750"/>
                </a:lnTo>
                <a:lnTo>
                  <a:pt x="2346960" y="161879"/>
                </a:lnTo>
                <a:lnTo>
                  <a:pt x="2377440" y="146299"/>
                </a:lnTo>
                <a:lnTo>
                  <a:pt x="2407920" y="131928"/>
                </a:lnTo>
                <a:lnTo>
                  <a:pt x="2438400" y="118685"/>
                </a:lnTo>
                <a:lnTo>
                  <a:pt x="2468880" y="106494"/>
                </a:lnTo>
                <a:lnTo>
                  <a:pt x="2499360" y="95281"/>
                </a:lnTo>
                <a:lnTo>
                  <a:pt x="2529840" y="84975"/>
                </a:lnTo>
                <a:lnTo>
                  <a:pt x="2560320" y="75510"/>
                </a:lnTo>
                <a:lnTo>
                  <a:pt x="2590800" y="66824"/>
                </a:lnTo>
                <a:lnTo>
                  <a:pt x="2621280" y="58856"/>
                </a:lnTo>
                <a:lnTo>
                  <a:pt x="2651760" y="51553"/>
                </a:lnTo>
                <a:lnTo>
                  <a:pt x="2682240" y="44861"/>
                </a:lnTo>
                <a:lnTo>
                  <a:pt x="2712720" y="38733"/>
                </a:lnTo>
                <a:lnTo>
                  <a:pt x="2743200" y="33124"/>
                </a:lnTo>
                <a:lnTo>
                  <a:pt x="2773680" y="27992"/>
                </a:lnTo>
                <a:lnTo>
                  <a:pt x="2804160" y="23297"/>
                </a:lnTo>
                <a:lnTo>
                  <a:pt x="2834640" y="19004"/>
                </a:lnTo>
                <a:lnTo>
                  <a:pt x="2865120" y="15081"/>
                </a:lnTo>
                <a:lnTo>
                  <a:pt x="2895600" y="11495"/>
                </a:lnTo>
                <a:lnTo>
                  <a:pt x="2926080" y="8219"/>
                </a:lnTo>
                <a:lnTo>
                  <a:pt x="2956560" y="5227"/>
                </a:lnTo>
                <a:lnTo>
                  <a:pt x="2987040" y="2495"/>
                </a:lnTo>
                <a:lnTo>
                  <a:pt x="3017520" y="0"/>
                </a:lnTo>
              </a:path>
            </a:pathLst>
          </a:custGeom>
          <a:noFill/>
          <a:ln w="381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C3-E33 text 22" descr="sci-ppt:o022"/>
          <p:cNvSpPr txBox="1"/>
          <p:nvPr/>
        </p:nvSpPr>
        <p:spPr>
          <a:xfrm>
            <a:off x="7680960" y="960120"/>
            <a:ext cx="402336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8EDBD4"/>
                </a:solidFill>
                <a:latin typeface="Arial"/>
              </a:rPr>
              <a:t>Contact pressure fraction</a:t>
            </a:r>
          </a:p>
        </p:txBody>
      </p:sp>
      <p:sp>
        <p:nvSpPr>
          <p:cNvPr id="25" name="C3-E33 round_rect 23" descr="sci-ppt:o023"/>
          <p:cNvSpPr/>
          <p:nvPr/>
        </p:nvSpPr>
        <p:spPr>
          <a:xfrm>
            <a:off x="365760" y="914400"/>
            <a:ext cx="7040880" cy="141732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C3-E33 text 24" descr="sci-ppt:o024"/>
          <p:cNvSpPr txBox="1"/>
          <p:nvPr/>
        </p:nvSpPr>
        <p:spPr>
          <a:xfrm>
            <a:off x="475488" y="969264"/>
            <a:ext cx="6821424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Early contact</a:t>
            </a:r>
          </a:p>
        </p:txBody>
      </p:sp>
      <p:sp>
        <p:nvSpPr>
          <p:cNvPr id="27" name="C3-E33 text 25" descr="sci-ppt:o025"/>
          <p:cNvSpPr txBox="1"/>
          <p:nvPr/>
        </p:nvSpPr>
        <p:spPr>
          <a:xfrm>
            <a:off x="502920" y="1325880"/>
            <a:ext cx="6766560" cy="26263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E7F0F3"/>
                </a:solidFill>
                <a:latin typeface="Arial"/>
              </a:rPr>
              <a:t>p_early ≃ Zₗ Zᵣ Uⱼ / (Zₗ + Zᵣ),   Zₗ = ρc</a:t>
            </a:r>
          </a:p>
        </p:txBody>
      </p:sp>
      <p:sp>
        <p:nvSpPr>
          <p:cNvPr id="28" name="C3-E33 round_rect 26" descr="sci-ppt:o026"/>
          <p:cNvSpPr/>
          <p:nvPr/>
        </p:nvSpPr>
        <p:spPr>
          <a:xfrm>
            <a:off x="365760" y="2468880"/>
            <a:ext cx="7040880" cy="141732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C3-E33 text 27" descr="sci-ppt:o027"/>
          <p:cNvSpPr txBox="1"/>
          <p:nvPr/>
        </p:nvSpPr>
        <p:spPr>
          <a:xfrm>
            <a:off x="475488" y="2523744"/>
            <a:ext cx="6821424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F2B880"/>
                </a:solidFill>
                <a:latin typeface="Arial"/>
              </a:rPr>
              <a:t>Duration</a:t>
            </a:r>
          </a:p>
        </p:txBody>
      </p:sp>
      <p:sp>
        <p:nvSpPr>
          <p:cNvPr id="30" name="C3-E33 text 28" descr="sci-ppt:o028"/>
          <p:cNvSpPr txBox="1"/>
          <p:nvPr/>
        </p:nvSpPr>
        <p:spPr>
          <a:xfrm>
            <a:off x="502920" y="2880360"/>
            <a:ext cx="6766560" cy="26263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E7F0F3"/>
                </a:solidFill>
                <a:latin typeface="Arial"/>
              </a:rPr>
              <a:t>τ_eq = Lⱼ / c</a:t>
            </a:r>
          </a:p>
        </p:txBody>
      </p:sp>
      <p:sp>
        <p:nvSpPr>
          <p:cNvPr id="31" name="C3-E33 round_rect 29" descr="sci-ppt:o029"/>
          <p:cNvSpPr/>
          <p:nvPr/>
        </p:nvSpPr>
        <p:spPr>
          <a:xfrm>
            <a:off x="365760" y="4023360"/>
            <a:ext cx="7040880" cy="173736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F28BA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C3-E33 text 30" descr="sci-ppt:o030"/>
          <p:cNvSpPr txBox="1"/>
          <p:nvPr/>
        </p:nvSpPr>
        <p:spPr>
          <a:xfrm>
            <a:off x="475488" y="4078224"/>
            <a:ext cx="6821424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F28BA0"/>
                </a:solidFill>
                <a:latin typeface="Arial"/>
              </a:rPr>
              <a:t>Observer</a:t>
            </a:r>
          </a:p>
        </p:txBody>
      </p:sp>
      <p:sp>
        <p:nvSpPr>
          <p:cNvPr id="33" name="C3-E33 text 31" descr="sci-ppt:o031"/>
          <p:cNvSpPr txBox="1"/>
          <p:nvPr/>
        </p:nvSpPr>
        <p:spPr>
          <a:xfrm>
            <a:off x="502920" y="4434840"/>
            <a:ext cx="6766560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E7F0F3"/>
                </a:solidFill>
                <a:latin typeface="Arial"/>
              </a:rPr>
              <a:t>p_obs(t) = (1/A_oτₒ) ∫∫ (p − p_ref) dA dξ</a:t>
            </a:r>
          </a:p>
        </p:txBody>
      </p:sp>
      <p:sp>
        <p:nvSpPr>
          <p:cNvPr id="34" name="C3-E33 text 32" descr="sci-ppt:o032"/>
          <p:cNvSpPr txBox="1"/>
          <p:nvPr/>
        </p:nvSpPr>
        <p:spPr>
          <a:xfrm>
            <a:off x="7680960" y="5074920"/>
            <a:ext cx="4114800" cy="43307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F2B880"/>
                </a:solidFill>
                <a:latin typeface="Arial"/>
              </a:rPr>
              <a:t>A finite impact scale is an input to load-path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F2B880"/>
                </a:solidFill>
                <a:latin typeface="Arial"/>
              </a:rPr>
              <a:t>analysis, not proof of intact release.</a:t>
            </a:r>
          </a:p>
        </p:txBody>
      </p:sp>
      <p:sp>
        <p:nvSpPr>
          <p:cNvPr id="35" name="C3-E33 text 33" descr="sci-ppt:o033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Reference formulas of the Defence 3 answer: Eqs. C3-E24, E25, E26.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