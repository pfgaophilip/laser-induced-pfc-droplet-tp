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4-E24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C4-E24 · Magnitude, geometric-validity and competing-failure checks</a:t>
            </a:r>
          </a:p>
        </p:txBody>
      </p:sp>
      <p:sp>
        <p:nvSpPr>
          <p:cNvPr id="3" name="C4-E24 text 1" descr="sci-ppt:o001"/>
          <p:cNvSpPr txBox="1"/>
          <p:nvPr/>
        </p:nvSpPr>
        <p:spPr>
          <a:xfrm>
            <a:off x="457200" y="914400"/>
            <a:ext cx="11247120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Three checks on the 156 kPa threshold</a:t>
            </a:r>
          </a:p>
        </p:txBody>
      </p:sp>
      <p:sp>
        <p:nvSpPr>
          <p:cNvPr id="4" name="C4-E24 round_rect 2" descr="sci-ppt:o002"/>
          <p:cNvSpPr/>
          <p:nvPr/>
        </p:nvSpPr>
        <p:spPr>
          <a:xfrm>
            <a:off x="457200" y="1371600"/>
            <a:ext cx="3657600" cy="347472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C4-E24 text 3" descr="sci-ppt:o003"/>
          <p:cNvSpPr txBox="1"/>
          <p:nvPr/>
        </p:nvSpPr>
        <p:spPr>
          <a:xfrm>
            <a:off x="566928" y="1426464"/>
            <a:ext cx="343814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Deflection</a:t>
            </a:r>
          </a:p>
        </p:txBody>
      </p:sp>
      <p:sp>
        <p:nvSpPr>
          <p:cNvPr id="6" name="C4-E24 polygon 4" descr="sci-ppt:o004"/>
          <p:cNvSpPr/>
          <p:nvPr/>
        </p:nvSpPr>
        <p:spPr>
          <a:xfrm>
            <a:off x="731520" y="2195190"/>
            <a:ext cx="3108960" cy="1096649"/>
          </a:xfrm>
          <a:custGeom>
            <a:avLst/>
            <a:gdLst/>
            <a:ahLst/>
            <a:cxnLst/>
            <a:rect l="l" t="t" r="r" b="b"/>
            <a:pathLst>
              <a:path w="3108960" h="1096649">
                <a:moveTo>
                  <a:pt x="0" y="1096649"/>
                </a:moveTo>
                <a:lnTo>
                  <a:pt x="52694" y="1091776"/>
                </a:lnTo>
                <a:lnTo>
                  <a:pt x="105388" y="1077820"/>
                </a:lnTo>
                <a:lnTo>
                  <a:pt x="158082" y="1055757"/>
                </a:lnTo>
                <a:lnTo>
                  <a:pt x="210776" y="1026524"/>
                </a:lnTo>
                <a:lnTo>
                  <a:pt x="263471" y="991027"/>
                </a:lnTo>
                <a:lnTo>
                  <a:pt x="316165" y="950134"/>
                </a:lnTo>
                <a:lnTo>
                  <a:pt x="368859" y="904680"/>
                </a:lnTo>
                <a:lnTo>
                  <a:pt x="421553" y="855465"/>
                </a:lnTo>
                <a:lnTo>
                  <a:pt x="474248" y="803253"/>
                </a:lnTo>
                <a:lnTo>
                  <a:pt x="526942" y="748776"/>
                </a:lnTo>
                <a:lnTo>
                  <a:pt x="579636" y="692728"/>
                </a:lnTo>
                <a:lnTo>
                  <a:pt x="632330" y="635770"/>
                </a:lnTo>
                <a:lnTo>
                  <a:pt x="685025" y="578528"/>
                </a:lnTo>
                <a:lnTo>
                  <a:pt x="737719" y="521593"/>
                </a:lnTo>
                <a:lnTo>
                  <a:pt x="790413" y="465522"/>
                </a:lnTo>
                <a:lnTo>
                  <a:pt x="843107" y="410836"/>
                </a:lnTo>
                <a:lnTo>
                  <a:pt x="895802" y="358021"/>
                </a:lnTo>
                <a:lnTo>
                  <a:pt x="948496" y="307531"/>
                </a:lnTo>
                <a:lnTo>
                  <a:pt x="1001190" y="259782"/>
                </a:lnTo>
                <a:lnTo>
                  <a:pt x="1053884" y="215157"/>
                </a:lnTo>
                <a:lnTo>
                  <a:pt x="1106578" y="174003"/>
                </a:lnTo>
                <a:lnTo>
                  <a:pt x="1159273" y="136634"/>
                </a:lnTo>
                <a:lnTo>
                  <a:pt x="1211967" y="103327"/>
                </a:lnTo>
                <a:lnTo>
                  <a:pt x="1264661" y="74327"/>
                </a:lnTo>
                <a:lnTo>
                  <a:pt x="1317355" y="49841"/>
                </a:lnTo>
                <a:lnTo>
                  <a:pt x="1370050" y="30044"/>
                </a:lnTo>
                <a:lnTo>
                  <a:pt x="1422744" y="15074"/>
                </a:lnTo>
                <a:lnTo>
                  <a:pt x="1475438" y="5036"/>
                </a:lnTo>
                <a:lnTo>
                  <a:pt x="1528132" y="0"/>
                </a:lnTo>
                <a:lnTo>
                  <a:pt x="1580827" y="0"/>
                </a:lnTo>
                <a:lnTo>
                  <a:pt x="1633521" y="5036"/>
                </a:lnTo>
                <a:lnTo>
                  <a:pt x="1686215" y="15074"/>
                </a:lnTo>
                <a:lnTo>
                  <a:pt x="1738909" y="30044"/>
                </a:lnTo>
                <a:lnTo>
                  <a:pt x="1791604" y="49841"/>
                </a:lnTo>
                <a:lnTo>
                  <a:pt x="1844298" y="74327"/>
                </a:lnTo>
                <a:lnTo>
                  <a:pt x="1896992" y="103327"/>
                </a:lnTo>
                <a:lnTo>
                  <a:pt x="1949686" y="136634"/>
                </a:lnTo>
                <a:lnTo>
                  <a:pt x="2002381" y="174003"/>
                </a:lnTo>
                <a:lnTo>
                  <a:pt x="2055075" y="215157"/>
                </a:lnTo>
                <a:lnTo>
                  <a:pt x="2107769" y="259782"/>
                </a:lnTo>
                <a:lnTo>
                  <a:pt x="2160463" y="307531"/>
                </a:lnTo>
                <a:lnTo>
                  <a:pt x="2213157" y="358021"/>
                </a:lnTo>
                <a:lnTo>
                  <a:pt x="2265852" y="410836"/>
                </a:lnTo>
                <a:lnTo>
                  <a:pt x="2318546" y="465522"/>
                </a:lnTo>
                <a:lnTo>
                  <a:pt x="2371240" y="521593"/>
                </a:lnTo>
                <a:lnTo>
                  <a:pt x="2423934" y="578528"/>
                </a:lnTo>
                <a:lnTo>
                  <a:pt x="2476629" y="635770"/>
                </a:lnTo>
                <a:lnTo>
                  <a:pt x="2529323" y="692728"/>
                </a:lnTo>
                <a:lnTo>
                  <a:pt x="2582017" y="748776"/>
                </a:lnTo>
                <a:lnTo>
                  <a:pt x="2634711" y="803253"/>
                </a:lnTo>
                <a:lnTo>
                  <a:pt x="2687406" y="855465"/>
                </a:lnTo>
                <a:lnTo>
                  <a:pt x="2740100" y="904680"/>
                </a:lnTo>
                <a:lnTo>
                  <a:pt x="2792794" y="950134"/>
                </a:lnTo>
                <a:lnTo>
                  <a:pt x="2845488" y="991027"/>
                </a:lnTo>
                <a:lnTo>
                  <a:pt x="2898183" y="1026524"/>
                </a:lnTo>
                <a:lnTo>
                  <a:pt x="2950877" y="1055757"/>
                </a:lnTo>
                <a:lnTo>
                  <a:pt x="3003571" y="1077820"/>
                </a:lnTo>
                <a:lnTo>
                  <a:pt x="3056265" y="1091776"/>
                </a:lnTo>
                <a:lnTo>
                  <a:pt x="3108960" y="1096649"/>
                </a:lnTo>
              </a:path>
            </a:pathLst>
          </a:custGeom>
          <a:noFill/>
          <a:ln w="381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C4-E24 text 5" descr="sci-ppt:o005"/>
          <p:cNvSpPr txBox="1"/>
          <p:nvPr/>
        </p:nvSpPr>
        <p:spPr>
          <a:xfrm>
            <a:off x="640080" y="3383280"/>
            <a:ext cx="329184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E7F0F3"/>
                </a:solidFill>
                <a:latin typeface="Arial"/>
              </a:rPr>
              <a:t>w(0) = 1.2827 µm</a:t>
            </a:r>
          </a:p>
        </p:txBody>
      </p:sp>
      <p:sp>
        <p:nvSpPr>
          <p:cNvPr id="8" name="C4-E24 text 6" descr="sci-ppt:o006"/>
          <p:cNvSpPr txBox="1"/>
          <p:nvPr/>
        </p:nvSpPr>
        <p:spPr>
          <a:xfrm>
            <a:off x="640080" y="3840480"/>
            <a:ext cx="329184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2B880"/>
                </a:solidFill>
                <a:latin typeface="Arial"/>
              </a:rPr>
              <a:t>w(0)/h_f = 0.12827</a:t>
            </a:r>
          </a:p>
        </p:txBody>
      </p:sp>
      <p:sp>
        <p:nvSpPr>
          <p:cNvPr id="9" name="C4-E24 text 7" descr="sci-ppt:o007"/>
          <p:cNvSpPr txBox="1"/>
          <p:nvPr/>
        </p:nvSpPr>
        <p:spPr>
          <a:xfrm>
            <a:off x="640080" y="4297680"/>
            <a:ext cx="329184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small-deflection theory needs w ≪ h_f</a:t>
            </a:r>
          </a:p>
        </p:txBody>
      </p:sp>
      <p:sp>
        <p:nvSpPr>
          <p:cNvPr id="10" name="C4-E24 round_rect 8" descr="sci-ppt:o008"/>
          <p:cNvSpPr/>
          <p:nvPr/>
        </p:nvSpPr>
        <p:spPr>
          <a:xfrm>
            <a:off x="4297680" y="1371600"/>
            <a:ext cx="3657600" cy="347472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C4-E24 text 9" descr="sci-ppt:o009"/>
          <p:cNvSpPr txBox="1"/>
          <p:nvPr/>
        </p:nvSpPr>
        <p:spPr>
          <a:xfrm>
            <a:off x="4407408" y="1426464"/>
            <a:ext cx="343814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F2B880"/>
                </a:solidFill>
                <a:latin typeface="Arial"/>
              </a:rPr>
              <a:t>Blister volume</a:t>
            </a:r>
          </a:p>
        </p:txBody>
      </p:sp>
      <p:sp>
        <p:nvSpPr>
          <p:cNvPr id="12" name="C4-E24 text 10" descr="sci-ppt:o010"/>
          <p:cNvSpPr txBox="1"/>
          <p:nvPr/>
        </p:nvSpPr>
        <p:spPr>
          <a:xfrm>
            <a:off x="4480560" y="2011680"/>
            <a:ext cx="329184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E7F0F3"/>
                </a:solidFill>
                <a:latin typeface="Arial"/>
              </a:rPr>
              <a:t>V_bl = 1.34324e-14 m³</a:t>
            </a:r>
          </a:p>
        </p:txBody>
      </p:sp>
      <p:sp>
        <p:nvSpPr>
          <p:cNvPr id="13" name="C4-E24 text 11" descr="sci-ppt:o011"/>
          <p:cNvSpPr txBox="1"/>
          <p:nvPr/>
        </p:nvSpPr>
        <p:spPr>
          <a:xfrm>
            <a:off x="4480560" y="2651760"/>
            <a:ext cx="32918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= 13.4 pL (about 13 400 µm³)</a:t>
            </a:r>
          </a:p>
        </p:txBody>
      </p:sp>
      <p:sp>
        <p:nvSpPr>
          <p:cNvPr id="14" name="C4-E24 text 12" descr="sci-ppt:o012"/>
          <p:cNvSpPr txBox="1"/>
          <p:nvPr/>
        </p:nvSpPr>
        <p:spPr>
          <a:xfrm>
            <a:off x="4480560" y="3383280"/>
            <a:ext cx="3291840" cy="402081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the liquid volume needed to inflate the</a:t>
            </a:r>
          </a:p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blister</a:t>
            </a:r>
          </a:p>
        </p:txBody>
      </p:sp>
      <p:sp>
        <p:nvSpPr>
          <p:cNvPr id="15" name="C4-E24 round_rect 13" descr="sci-ppt:o013"/>
          <p:cNvSpPr/>
          <p:nvPr/>
        </p:nvSpPr>
        <p:spPr>
          <a:xfrm>
            <a:off x="8138160" y="1371600"/>
            <a:ext cx="3703320" cy="347472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F28B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C4-E24 text 14" descr="sci-ppt:o014"/>
          <p:cNvSpPr txBox="1"/>
          <p:nvPr/>
        </p:nvSpPr>
        <p:spPr>
          <a:xfrm>
            <a:off x="8247888" y="1426464"/>
            <a:ext cx="3483863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F28BA0"/>
                </a:solidFill>
                <a:latin typeface="Arial"/>
              </a:rPr>
              <a:t>Edge bending stress</a:t>
            </a:r>
          </a:p>
        </p:txBody>
      </p:sp>
      <p:sp>
        <p:nvSpPr>
          <p:cNvPr id="17" name="C4-E24 text 15" descr="sci-ppt:o015"/>
          <p:cNvSpPr txBox="1"/>
          <p:nvPr/>
        </p:nvSpPr>
        <p:spPr>
          <a:xfrm>
            <a:off x="8275320" y="1828800"/>
            <a:ext cx="347472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E7F0F3"/>
                </a:solidFill>
                <a:latin typeface="Arial"/>
              </a:rPr>
              <a:t>|Mᵣ(b)| = p₀,crit b² / 8</a:t>
            </a:r>
          </a:p>
        </p:txBody>
      </p:sp>
      <p:sp>
        <p:nvSpPr>
          <p:cNvPr id="18" name="C4-E24 text 16" descr="sci-ppt:o016"/>
          <p:cNvSpPr txBox="1"/>
          <p:nvPr/>
        </p:nvSpPr>
        <p:spPr>
          <a:xfrm>
            <a:off x="8275320" y="2468880"/>
            <a:ext cx="34747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F2B880"/>
                </a:solidFill>
                <a:latin typeface="Arial"/>
              </a:rPr>
              <a:t>|σᵣᵣ|_edge = 6|Mᵣ|/h_f² = 11.6941 MPa</a:t>
            </a:r>
          </a:p>
        </p:txBody>
      </p:sp>
      <p:sp>
        <p:nvSpPr>
          <p:cNvPr id="19" name="C4-E24 text 17" descr="sci-ppt:o017"/>
          <p:cNvSpPr txBox="1"/>
          <p:nvPr/>
        </p:nvSpPr>
        <p:spPr>
          <a:xfrm>
            <a:off x="8275320" y="3291840"/>
            <a:ext cx="3474720" cy="402081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a tensile stress at the clamp: compare with</a:t>
            </a:r>
          </a:p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the payload strength</a:t>
            </a:r>
          </a:p>
        </p:txBody>
      </p:sp>
      <p:sp>
        <p:nvSpPr>
          <p:cNvPr id="20" name="C4-E24 text 18" descr="sci-ppt:o018"/>
          <p:cNvSpPr txBox="1"/>
          <p:nvPr/>
        </p:nvSpPr>
        <p:spPr>
          <a:xfrm>
            <a:off x="457200" y="5212080"/>
            <a:ext cx="11247120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Deflection is only 12.8 % of the thickness, so linear theory holds; edge bending stress of 11.7 MPa must still be checked against the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payload material.</a:t>
            </a:r>
          </a:p>
        </p:txBody>
      </p:sp>
      <p:sp>
        <p:nvSpPr>
          <p:cNvPr id="21" name="C4-E24 text 19" descr="sci-ppt:o019"/>
          <p:cNvSpPr txBox="1"/>
          <p:nvPr/>
        </p:nvSpPr>
        <p:spPr>
          <a:xfrm>
            <a:off x="457200" y="5806440"/>
            <a:ext cx="112471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The payload strength is an input that must be supplied; no value is assumed here.</a:t>
            </a:r>
          </a:p>
        </p:txBody>
      </p:sp>
      <p:sp>
        <p:nvSpPr>
          <p:cNvPr id="22" name="C4-E24 text 20" descr="sci-ppt:o020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Checks of Eq. C4-E24 at p₀ = p₀,crit.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