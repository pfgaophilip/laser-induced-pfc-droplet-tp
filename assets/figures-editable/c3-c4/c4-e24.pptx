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C4-E24 · Magnitude, geometric-validity and competing-failure checks</a:t>
            </a:r>
          </a:p>
        </p:txBody>
      </p:sp>
      <p:cxnSp>
        <p:nvCxnSpPr>
          <p:cNvPr id="3" name="C4-E24 line 1" descr="sci-ppt:o001"/>
          <p:cNvCxnSpPr/>
          <p:nvPr/>
        </p:nvCxnSpPr>
        <p:spPr>
          <a:xfrm>
            <a:off x="731520" y="2880360"/>
            <a:ext cx="6675120" cy="0"/>
          </a:xfrm>
          <a:prstGeom prst="line">
            <a:avLst/>
          </a:prstGeom>
          <a:ln w="25400">
            <a:solidFill>
              <a:srgbClr val="B4C7D2"/>
            </a:solidFill>
          </a:ln>
          <a:effectLst/>
        </p:spPr>
      </p:cxnSp>
      <p:cxnSp>
        <p:nvCxnSpPr>
          <p:cNvPr id="4" name="C4-E24 line 2" descr="sci-ppt:o002"/>
          <p:cNvCxnSpPr/>
          <p:nvPr/>
        </p:nvCxnSpPr>
        <p:spPr>
          <a:xfrm flipV="1">
            <a:off x="1005840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" name="C4-E24 line 3" descr="sci-ppt:o003"/>
          <p:cNvCxnSpPr/>
          <p:nvPr/>
        </p:nvCxnSpPr>
        <p:spPr>
          <a:xfrm flipV="1">
            <a:off x="1082421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" name="C4-E24 line 4" descr="sci-ppt:o004"/>
          <p:cNvCxnSpPr/>
          <p:nvPr/>
        </p:nvCxnSpPr>
        <p:spPr>
          <a:xfrm flipV="1">
            <a:off x="1159002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" name="C4-E24 line 5" descr="sci-ppt:o005"/>
          <p:cNvCxnSpPr/>
          <p:nvPr/>
        </p:nvCxnSpPr>
        <p:spPr>
          <a:xfrm flipV="1">
            <a:off x="1235583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C4-E24 line 6" descr="sci-ppt:o006"/>
          <p:cNvCxnSpPr/>
          <p:nvPr/>
        </p:nvCxnSpPr>
        <p:spPr>
          <a:xfrm flipV="1">
            <a:off x="1312164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C4-E24 line 7" descr="sci-ppt:o007"/>
          <p:cNvCxnSpPr/>
          <p:nvPr/>
        </p:nvCxnSpPr>
        <p:spPr>
          <a:xfrm flipV="1">
            <a:off x="1388745" y="2760655"/>
            <a:ext cx="76581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C4-E24 line 8" descr="sci-ppt:o008"/>
          <p:cNvCxnSpPr/>
          <p:nvPr/>
        </p:nvCxnSpPr>
        <p:spPr>
          <a:xfrm flipV="1">
            <a:off x="1465326" y="2721802"/>
            <a:ext cx="76581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C4-E24 line 9" descr="sci-ppt:o009"/>
          <p:cNvCxnSpPr/>
          <p:nvPr/>
        </p:nvCxnSpPr>
        <p:spPr>
          <a:xfrm flipV="1">
            <a:off x="1541907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2" name="C4-E24 line 10" descr="sci-ppt:o010"/>
          <p:cNvCxnSpPr/>
          <p:nvPr/>
        </p:nvCxnSpPr>
        <p:spPr>
          <a:xfrm flipV="1">
            <a:off x="1618488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3" name="C4-E24 line 11" descr="sci-ppt:o011"/>
          <p:cNvCxnSpPr/>
          <p:nvPr/>
        </p:nvCxnSpPr>
        <p:spPr>
          <a:xfrm flipV="1">
            <a:off x="1695069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4" name="C4-E24 line 12" descr="sci-ppt:o012"/>
          <p:cNvCxnSpPr/>
          <p:nvPr/>
        </p:nvCxnSpPr>
        <p:spPr>
          <a:xfrm flipV="1">
            <a:off x="1771650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5" name="C4-E24 line 13" descr="sci-ppt:o013"/>
          <p:cNvCxnSpPr/>
          <p:nvPr/>
        </p:nvCxnSpPr>
        <p:spPr>
          <a:xfrm flipV="1">
            <a:off x="1848231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6" name="C4-E24 line 14" descr="sci-ppt:o014"/>
          <p:cNvCxnSpPr/>
          <p:nvPr/>
        </p:nvCxnSpPr>
        <p:spPr>
          <a:xfrm flipV="1">
            <a:off x="1924812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7" name="C4-E24 line 15" descr="sci-ppt:o015"/>
          <p:cNvCxnSpPr/>
          <p:nvPr/>
        </p:nvCxnSpPr>
        <p:spPr>
          <a:xfrm flipV="1">
            <a:off x="2001393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8" name="C4-E24 line 16" descr="sci-ppt:o016"/>
          <p:cNvCxnSpPr/>
          <p:nvPr/>
        </p:nvCxnSpPr>
        <p:spPr>
          <a:xfrm flipV="1">
            <a:off x="2077974" y="2303122"/>
            <a:ext cx="76581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9" name="C4-E24 line 17" descr="sci-ppt:o017"/>
          <p:cNvCxnSpPr/>
          <p:nvPr/>
        </p:nvCxnSpPr>
        <p:spPr>
          <a:xfrm flipV="1">
            <a:off x="2154555" y="2243644"/>
            <a:ext cx="76581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0" name="C4-E24 line 18" descr="sci-ppt:o018"/>
          <p:cNvCxnSpPr/>
          <p:nvPr/>
        </p:nvCxnSpPr>
        <p:spPr>
          <a:xfrm flipV="1">
            <a:off x="2231136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1" name="C4-E24 line 19" descr="sci-ppt:o019"/>
          <p:cNvCxnSpPr/>
          <p:nvPr/>
        </p:nvCxnSpPr>
        <p:spPr>
          <a:xfrm flipV="1">
            <a:off x="2307717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2" name="C4-E24 line 20" descr="sci-ppt:o020"/>
          <p:cNvCxnSpPr/>
          <p:nvPr/>
        </p:nvCxnSpPr>
        <p:spPr>
          <a:xfrm flipV="1">
            <a:off x="2384298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3" name="C4-E24 line 21" descr="sci-ppt:o021"/>
          <p:cNvCxnSpPr/>
          <p:nvPr/>
        </p:nvCxnSpPr>
        <p:spPr>
          <a:xfrm flipV="1">
            <a:off x="2460879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4" name="C4-E24 line 22" descr="sci-ppt:o022"/>
          <p:cNvCxnSpPr/>
          <p:nvPr/>
        </p:nvCxnSpPr>
        <p:spPr>
          <a:xfrm flipV="1">
            <a:off x="2537460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5" name="C4-E24 line 23" descr="sci-ppt:o023"/>
          <p:cNvCxnSpPr/>
          <p:nvPr/>
        </p:nvCxnSpPr>
        <p:spPr>
          <a:xfrm flipV="1">
            <a:off x="2614041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6" name="C4-E24 line 24" descr="sci-ppt:o024"/>
          <p:cNvCxnSpPr/>
          <p:nvPr/>
        </p:nvCxnSpPr>
        <p:spPr>
          <a:xfrm flipV="1">
            <a:off x="2690622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7" name="C4-E24 line 25" descr="sci-ppt:o025"/>
          <p:cNvCxnSpPr/>
          <p:nvPr/>
        </p:nvCxnSpPr>
        <p:spPr>
          <a:xfrm flipV="1">
            <a:off x="2767203" y="1783518"/>
            <a:ext cx="76581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8" name="C4-E24 line 26" descr="sci-ppt:o026"/>
          <p:cNvCxnSpPr/>
          <p:nvPr/>
        </p:nvCxnSpPr>
        <p:spPr>
          <a:xfrm flipV="1">
            <a:off x="2843784" y="1732337"/>
            <a:ext cx="76581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29" name="C4-E24 line 27" descr="sci-ppt:o027"/>
          <p:cNvCxnSpPr/>
          <p:nvPr/>
        </p:nvCxnSpPr>
        <p:spPr>
          <a:xfrm flipV="1">
            <a:off x="2920365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0" name="C4-E24 line 28" descr="sci-ppt:o028"/>
          <p:cNvCxnSpPr/>
          <p:nvPr/>
        </p:nvCxnSpPr>
        <p:spPr>
          <a:xfrm flipV="1">
            <a:off x="2996946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1" name="C4-E24 line 29" descr="sci-ppt:o029"/>
          <p:cNvCxnSpPr/>
          <p:nvPr/>
        </p:nvCxnSpPr>
        <p:spPr>
          <a:xfrm flipV="1">
            <a:off x="3073527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2" name="C4-E24 line 30" descr="sci-ppt:o030"/>
          <p:cNvCxnSpPr/>
          <p:nvPr/>
        </p:nvCxnSpPr>
        <p:spPr>
          <a:xfrm flipV="1">
            <a:off x="3150108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3" name="C4-E24 line 31" descr="sci-ppt:o031"/>
          <p:cNvCxnSpPr/>
          <p:nvPr/>
        </p:nvCxnSpPr>
        <p:spPr>
          <a:xfrm flipV="1">
            <a:off x="3226689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4" name="C4-E24 line 32" descr="sci-ppt:o032"/>
          <p:cNvCxnSpPr/>
          <p:nvPr/>
        </p:nvCxnSpPr>
        <p:spPr>
          <a:xfrm flipV="1">
            <a:off x="3303270" y="1479287"/>
            <a:ext cx="76581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5" name="C4-E24 line 33" descr="sci-ppt:o033"/>
          <p:cNvCxnSpPr/>
          <p:nvPr/>
        </p:nvCxnSpPr>
        <p:spPr>
          <a:xfrm flipV="1">
            <a:off x="3379851" y="1447751"/>
            <a:ext cx="76581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6" name="C4-E24 line 34" descr="sci-ppt:o034"/>
          <p:cNvCxnSpPr/>
          <p:nvPr/>
        </p:nvCxnSpPr>
        <p:spPr>
          <a:xfrm flipV="1">
            <a:off x="3456432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7" name="C4-E24 line 35" descr="sci-ppt:o035"/>
          <p:cNvCxnSpPr/>
          <p:nvPr/>
        </p:nvCxnSpPr>
        <p:spPr>
          <a:xfrm flipV="1">
            <a:off x="3533013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8" name="C4-E24 line 36" descr="sci-ppt:o036"/>
          <p:cNvCxnSpPr/>
          <p:nvPr/>
        </p:nvCxnSpPr>
        <p:spPr>
          <a:xfrm flipV="1">
            <a:off x="3609594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39" name="C4-E24 line 37" descr="sci-ppt:o037"/>
          <p:cNvCxnSpPr/>
          <p:nvPr/>
        </p:nvCxnSpPr>
        <p:spPr>
          <a:xfrm flipV="1">
            <a:off x="3686175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0" name="C4-E24 line 38" descr="sci-ppt:o038"/>
          <p:cNvCxnSpPr/>
          <p:nvPr/>
        </p:nvCxnSpPr>
        <p:spPr>
          <a:xfrm flipV="1">
            <a:off x="3762756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1" name="C4-E24 line 39" descr="sci-ppt:o039"/>
          <p:cNvCxnSpPr/>
          <p:nvPr/>
        </p:nvCxnSpPr>
        <p:spPr>
          <a:xfrm flipV="1">
            <a:off x="3839337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2" name="C4-E24 line 40" descr="sci-ppt:o040"/>
          <p:cNvCxnSpPr/>
          <p:nvPr/>
        </p:nvCxnSpPr>
        <p:spPr>
          <a:xfrm flipV="1">
            <a:off x="3915918" y="1327822"/>
            <a:ext cx="76581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3" name="C4-E24 line 41" descr="sci-ppt:o041"/>
          <p:cNvCxnSpPr/>
          <p:nvPr/>
        </p:nvCxnSpPr>
        <p:spPr>
          <a:xfrm flipV="1">
            <a:off x="3992499" y="1325880"/>
            <a:ext cx="76581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4" name="C4-E24 line 42" descr="sci-ppt:o042"/>
          <p:cNvCxnSpPr/>
          <p:nvPr/>
        </p:nvCxnSpPr>
        <p:spPr>
          <a:xfrm>
            <a:off x="4069080" y="1325880"/>
            <a:ext cx="76580" cy="194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5" name="C4-E24 line 43" descr="sci-ppt:o043"/>
          <p:cNvCxnSpPr/>
          <p:nvPr/>
        </p:nvCxnSpPr>
        <p:spPr>
          <a:xfrm>
            <a:off x="4145660" y="1327822"/>
            <a:ext cx="76582" cy="582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6" name="C4-E24 line 44" descr="sci-ppt:o044"/>
          <p:cNvCxnSpPr/>
          <p:nvPr/>
        </p:nvCxnSpPr>
        <p:spPr>
          <a:xfrm>
            <a:off x="4222242" y="1333642"/>
            <a:ext cx="76581" cy="967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7" name="C4-E24 line 45" descr="sci-ppt:o045"/>
          <p:cNvCxnSpPr/>
          <p:nvPr/>
        </p:nvCxnSpPr>
        <p:spPr>
          <a:xfrm>
            <a:off x="4298823" y="1343318"/>
            <a:ext cx="76581" cy="1349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8" name="C4-E24 line 46" descr="sci-ppt:o046"/>
          <p:cNvCxnSpPr/>
          <p:nvPr/>
        </p:nvCxnSpPr>
        <p:spPr>
          <a:xfrm>
            <a:off x="4375404" y="1356814"/>
            <a:ext cx="76581" cy="1726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49" name="C4-E24 line 47" descr="sci-ppt:o047"/>
          <p:cNvCxnSpPr/>
          <p:nvPr/>
        </p:nvCxnSpPr>
        <p:spPr>
          <a:xfrm>
            <a:off x="4451985" y="1374077"/>
            <a:ext cx="76581" cy="209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0" name="C4-E24 line 48" descr="sci-ppt:o048"/>
          <p:cNvCxnSpPr/>
          <p:nvPr/>
        </p:nvCxnSpPr>
        <p:spPr>
          <a:xfrm>
            <a:off x="4528566" y="1395044"/>
            <a:ext cx="76581" cy="245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1" name="C4-E24 line 49" descr="sci-ppt:o049"/>
          <p:cNvCxnSpPr/>
          <p:nvPr/>
        </p:nvCxnSpPr>
        <p:spPr>
          <a:xfrm>
            <a:off x="4605147" y="1419633"/>
            <a:ext cx="76581" cy="2811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2" name="C4-E24 line 50" descr="sci-ppt:o050"/>
          <p:cNvCxnSpPr/>
          <p:nvPr/>
        </p:nvCxnSpPr>
        <p:spPr>
          <a:xfrm>
            <a:off x="4681728" y="1447751"/>
            <a:ext cx="76580" cy="3153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3" name="C4-E24 line 51" descr="sci-ppt:o051"/>
          <p:cNvCxnSpPr/>
          <p:nvPr/>
        </p:nvCxnSpPr>
        <p:spPr>
          <a:xfrm>
            <a:off x="4758308" y="1479287"/>
            <a:ext cx="76582" cy="3483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4" name="C4-E24 line 52" descr="sci-ppt:o052"/>
          <p:cNvCxnSpPr/>
          <p:nvPr/>
        </p:nvCxnSpPr>
        <p:spPr>
          <a:xfrm>
            <a:off x="4834890" y="1514117"/>
            <a:ext cx="76581" cy="3798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5" name="C4-E24 line 53" descr="sci-ppt:o053"/>
          <p:cNvCxnSpPr/>
          <p:nvPr/>
        </p:nvCxnSpPr>
        <p:spPr>
          <a:xfrm>
            <a:off x="4911471" y="1552104"/>
            <a:ext cx="76581" cy="4099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6" name="C4-E24 line 54" descr="sci-ppt:o054"/>
          <p:cNvCxnSpPr/>
          <p:nvPr/>
        </p:nvCxnSpPr>
        <p:spPr>
          <a:xfrm>
            <a:off x="4988052" y="1593095"/>
            <a:ext cx="76581" cy="43826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7" name="C4-E24 line 55" descr="sci-ppt:o055"/>
          <p:cNvCxnSpPr/>
          <p:nvPr/>
        </p:nvCxnSpPr>
        <p:spPr>
          <a:xfrm>
            <a:off x="5064633" y="1636921"/>
            <a:ext cx="76581" cy="4647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8" name="C4-E24 line 56" descr="sci-ppt:o056"/>
          <p:cNvCxnSpPr/>
          <p:nvPr/>
        </p:nvCxnSpPr>
        <p:spPr>
          <a:xfrm>
            <a:off x="5141214" y="1683400"/>
            <a:ext cx="76581" cy="4893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59" name="C4-E24 line 57" descr="sci-ppt:o057"/>
          <p:cNvCxnSpPr/>
          <p:nvPr/>
        </p:nvCxnSpPr>
        <p:spPr>
          <a:xfrm>
            <a:off x="5217795" y="1732337"/>
            <a:ext cx="76580" cy="511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0" name="C4-E24 line 58" descr="sci-ppt:o058"/>
          <p:cNvCxnSpPr/>
          <p:nvPr/>
        </p:nvCxnSpPr>
        <p:spPr>
          <a:xfrm>
            <a:off x="5294375" y="1783518"/>
            <a:ext cx="76582" cy="53202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1" name="C4-E24 line 59" descr="sci-ppt:o059"/>
          <p:cNvCxnSpPr/>
          <p:nvPr/>
        </p:nvCxnSpPr>
        <p:spPr>
          <a:xfrm>
            <a:off x="5370957" y="1836720"/>
            <a:ext cx="76581" cy="5498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2" name="C4-E24 line 60" descr="sci-ppt:o060"/>
          <p:cNvCxnSpPr/>
          <p:nvPr/>
        </p:nvCxnSpPr>
        <p:spPr>
          <a:xfrm>
            <a:off x="5447538" y="1891701"/>
            <a:ext cx="76581" cy="5650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3" name="C4-E24 line 61" descr="sci-ppt:o061"/>
          <p:cNvCxnSpPr/>
          <p:nvPr/>
        </p:nvCxnSpPr>
        <p:spPr>
          <a:xfrm>
            <a:off x="5524119" y="1948205"/>
            <a:ext cx="76581" cy="57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4" name="C4-E24 line 62" descr="sci-ppt:o062"/>
          <p:cNvCxnSpPr/>
          <p:nvPr/>
        </p:nvCxnSpPr>
        <p:spPr>
          <a:xfrm>
            <a:off x="5600700" y="2005965"/>
            <a:ext cx="76581" cy="5872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5" name="C4-E24 line 63" descr="sci-ppt:o063"/>
          <p:cNvCxnSpPr/>
          <p:nvPr/>
        </p:nvCxnSpPr>
        <p:spPr>
          <a:xfrm>
            <a:off x="5677281" y="2064694"/>
            <a:ext cx="76581" cy="5940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6" name="C4-E24 line 64" descr="sci-ppt:o064"/>
          <p:cNvCxnSpPr/>
          <p:nvPr/>
        </p:nvCxnSpPr>
        <p:spPr>
          <a:xfrm>
            <a:off x="5753862" y="2124095"/>
            <a:ext cx="76581" cy="5976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7" name="C4-E24 line 65" descr="sci-ppt:o065"/>
          <p:cNvCxnSpPr/>
          <p:nvPr/>
        </p:nvCxnSpPr>
        <p:spPr>
          <a:xfrm>
            <a:off x="5830443" y="2183855"/>
            <a:ext cx="76581" cy="5978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8" name="C4-E24 line 66" descr="sci-ppt:o066"/>
          <p:cNvCxnSpPr/>
          <p:nvPr/>
        </p:nvCxnSpPr>
        <p:spPr>
          <a:xfrm>
            <a:off x="5907024" y="2243644"/>
            <a:ext cx="76580" cy="5947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69" name="C4-E24 line 67" descr="sci-ppt:o067"/>
          <p:cNvCxnSpPr/>
          <p:nvPr/>
        </p:nvCxnSpPr>
        <p:spPr>
          <a:xfrm>
            <a:off x="5983604" y="2303122"/>
            <a:ext cx="76582" cy="58809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0" name="C4-E24 line 68" descr="sci-ppt:o068"/>
          <p:cNvCxnSpPr/>
          <p:nvPr/>
        </p:nvCxnSpPr>
        <p:spPr>
          <a:xfrm>
            <a:off x="6060186" y="2361931"/>
            <a:ext cx="76581" cy="5776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1" name="C4-E24 line 69" descr="sci-ppt:o069"/>
          <p:cNvCxnSpPr/>
          <p:nvPr/>
        </p:nvCxnSpPr>
        <p:spPr>
          <a:xfrm>
            <a:off x="6136767" y="2419698"/>
            <a:ext cx="76581" cy="56341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2" name="C4-E24 line 70" descr="sci-ppt:o070"/>
          <p:cNvCxnSpPr/>
          <p:nvPr/>
        </p:nvCxnSpPr>
        <p:spPr>
          <a:xfrm>
            <a:off x="6213348" y="2476039"/>
            <a:ext cx="76581" cy="5451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3" name="C4-E24 line 71" descr="sci-ppt:o071"/>
          <p:cNvCxnSpPr/>
          <p:nvPr/>
        </p:nvCxnSpPr>
        <p:spPr>
          <a:xfrm>
            <a:off x="6289929" y="2530552"/>
            <a:ext cx="76581" cy="5227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4" name="C4-E24 line 72" descr="sci-ppt:o072"/>
          <p:cNvCxnSpPr/>
          <p:nvPr/>
        </p:nvCxnSpPr>
        <p:spPr>
          <a:xfrm>
            <a:off x="6366510" y="2582822"/>
            <a:ext cx="76581" cy="49597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5" name="C4-E24 line 73" descr="sci-ppt:o073"/>
          <p:cNvCxnSpPr/>
          <p:nvPr/>
        </p:nvCxnSpPr>
        <p:spPr>
          <a:xfrm>
            <a:off x="6443091" y="2632419"/>
            <a:ext cx="76581" cy="4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6" name="C4-E24 line 74" descr="sci-ppt:o074"/>
          <p:cNvCxnSpPr/>
          <p:nvPr/>
        </p:nvCxnSpPr>
        <p:spPr>
          <a:xfrm>
            <a:off x="6519672" y="2678899"/>
            <a:ext cx="76581" cy="4290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7" name="C4-E24 line 75" descr="sci-ppt:o075"/>
          <p:cNvCxnSpPr/>
          <p:nvPr/>
        </p:nvCxnSpPr>
        <p:spPr>
          <a:xfrm>
            <a:off x="6596253" y="2721802"/>
            <a:ext cx="76580" cy="38853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8" name="C4-E24 line 76" descr="sci-ppt:o076"/>
          <p:cNvCxnSpPr/>
          <p:nvPr/>
        </p:nvCxnSpPr>
        <p:spPr>
          <a:xfrm>
            <a:off x="6672833" y="2760655"/>
            <a:ext cx="76582" cy="3431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79" name="C4-E24 line 77" descr="sci-ppt:o077"/>
          <p:cNvCxnSpPr/>
          <p:nvPr/>
        </p:nvCxnSpPr>
        <p:spPr>
          <a:xfrm>
            <a:off x="6749415" y="2794969"/>
            <a:ext cx="76581" cy="2927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0" name="C4-E24 line 78" descr="sci-ppt:o078"/>
          <p:cNvCxnSpPr/>
          <p:nvPr/>
        </p:nvCxnSpPr>
        <p:spPr>
          <a:xfrm>
            <a:off x="6825996" y="2824243"/>
            <a:ext cx="76581" cy="23715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1" name="C4-E24 line 79" descr="sci-ppt:o079"/>
          <p:cNvCxnSpPr/>
          <p:nvPr/>
        </p:nvCxnSpPr>
        <p:spPr>
          <a:xfrm>
            <a:off x="6902577" y="2847958"/>
            <a:ext cx="76581" cy="17624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2" name="C4-E24 line 80" descr="sci-ppt:o080"/>
          <p:cNvCxnSpPr/>
          <p:nvPr/>
        </p:nvCxnSpPr>
        <p:spPr>
          <a:xfrm>
            <a:off x="6979158" y="2865582"/>
            <a:ext cx="76581" cy="10988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3" name="C4-E24 line 81" descr="sci-ppt:o081"/>
          <p:cNvCxnSpPr/>
          <p:nvPr/>
        </p:nvCxnSpPr>
        <p:spPr>
          <a:xfrm>
            <a:off x="7055739" y="2876570"/>
            <a:ext cx="76581" cy="379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84" name="C4-E24 rect 82" descr="sci-ppt:o082"/>
          <p:cNvSpPr/>
          <p:nvPr/>
        </p:nvSpPr>
        <p:spPr>
          <a:xfrm>
            <a:off x="77724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4-E24 rect 83" descr="sci-ppt:o083"/>
          <p:cNvSpPr/>
          <p:nvPr/>
        </p:nvSpPr>
        <p:spPr>
          <a:xfrm>
            <a:off x="7086600" y="2651760"/>
            <a:ext cx="274320" cy="457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4-E24 arrow 84" descr="sci-ppt:o084"/>
          <p:cNvCxnSpPr/>
          <p:nvPr/>
        </p:nvCxnSpPr>
        <p:spPr>
          <a:xfrm flipV="1">
            <a:off x="4069080" y="1371600"/>
            <a:ext cx="0" cy="14630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7" name="C4-E24 text 85" descr="sci-ppt:o085"/>
          <p:cNvSpPr txBox="1"/>
          <p:nvPr/>
        </p:nvSpPr>
        <p:spPr>
          <a:xfrm>
            <a:off x="4206240" y="1920240"/>
            <a:ext cx="2560320" cy="41148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w(r) ↑</a:t>
            </a:r>
          </a:p>
        </p:txBody>
      </p:sp>
      <p:cxnSp>
        <p:nvCxnSpPr>
          <p:cNvPr id="88" name="C4-E24 arrow 86" descr="sci-ppt:o086"/>
          <p:cNvCxnSpPr/>
          <p:nvPr/>
        </p:nvCxnSpPr>
        <p:spPr>
          <a:xfrm flipV="1">
            <a:off x="228600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89" name="C4-E24 arrow 87" descr="sci-ppt:o087"/>
          <p:cNvCxnSpPr/>
          <p:nvPr/>
        </p:nvCxnSpPr>
        <p:spPr>
          <a:xfrm flipV="1">
            <a:off x="406908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90" name="C4-E24 arrow 88" descr="sci-ppt:o088"/>
          <p:cNvCxnSpPr/>
          <p:nvPr/>
        </p:nvCxnSpPr>
        <p:spPr>
          <a:xfrm flipV="1">
            <a:off x="5852160" y="2971800"/>
            <a:ext cx="0" cy="59436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1" name="C4-E24 text 89" descr="sci-ppt:o089"/>
          <p:cNvSpPr txBox="1"/>
          <p:nvPr/>
        </p:nvSpPr>
        <p:spPr>
          <a:xfrm>
            <a:off x="2834640" y="3611880"/>
            <a:ext cx="36576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p₀: maintained pressure</a:t>
            </a:r>
          </a:p>
        </p:txBody>
      </p:sp>
      <p:cxnSp>
        <p:nvCxnSpPr>
          <p:cNvPr id="92" name="C4-E24 line 90" descr="sci-ppt:o090"/>
          <p:cNvCxnSpPr/>
          <p:nvPr/>
        </p:nvCxnSpPr>
        <p:spPr>
          <a:xfrm>
            <a:off x="4069080" y="3200400"/>
            <a:ext cx="306324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93" name="C4-E24 text 91" descr="sci-ppt:o091"/>
          <p:cNvSpPr txBox="1"/>
          <p:nvPr/>
        </p:nvSpPr>
        <p:spPr>
          <a:xfrm>
            <a:off x="5486400" y="32461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4" name="C4-E24 ellipse 92" descr="sci-ppt:o092"/>
          <p:cNvSpPr/>
          <p:nvPr/>
        </p:nvSpPr>
        <p:spPr>
          <a:xfrm>
            <a:off x="8686800" y="1097280"/>
            <a:ext cx="1920240" cy="1920240"/>
          </a:xfrm>
          <a:prstGeom prst="ellipse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5" name="C4-E24 arrow 93" descr="sci-ppt:o093"/>
          <p:cNvCxnSpPr/>
          <p:nvPr/>
        </p:nvCxnSpPr>
        <p:spPr>
          <a:xfrm>
            <a:off x="9646920" y="2057400"/>
            <a:ext cx="9601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96" name="C4-E24 text 94" descr="sci-ppt:o094"/>
          <p:cNvSpPr txBox="1"/>
          <p:nvPr/>
        </p:nvSpPr>
        <p:spPr>
          <a:xfrm>
            <a:off x="9875520" y="1645920"/>
            <a:ext cx="914400" cy="27432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b</a:t>
            </a:r>
          </a:p>
        </p:txBody>
      </p:sp>
      <p:sp>
        <p:nvSpPr>
          <p:cNvPr id="97" name="C4-E24 text 95" descr="sci-ppt:o095"/>
          <p:cNvSpPr txBox="1"/>
          <p:nvPr/>
        </p:nvSpPr>
        <p:spPr>
          <a:xfrm>
            <a:off x="8503920" y="329184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A_c = π b²</a:t>
            </a:r>
          </a:p>
        </p:txBody>
      </p:sp>
      <p:sp>
        <p:nvSpPr>
          <p:cNvPr id="98" name="C4-E24 text 96" descr="sci-ppt:o096"/>
          <p:cNvSpPr txBox="1"/>
          <p:nvPr/>
        </p:nvSpPr>
        <p:spPr>
          <a:xfrm>
            <a:off x="685800" y="73152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Clamped circular blister: w(b) = 0; w′(b) = 0; regular centre.</a:t>
            </a:r>
          </a:p>
        </p:txBody>
      </p:sp>
      <p:cxnSp>
        <p:nvCxnSpPr>
          <p:cNvPr id="99" name="C4-E24 line 97" descr="sci-ppt:o097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00" name="C4-E24 text 98" descr="sci-ppt:o098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w(0) = 1.283 μm — centre lift</a:t>
            </a:r>
          </a:p>
        </p:txBody>
      </p:sp>
      <p:sp>
        <p:nvSpPr>
          <p:cNvPr id="101" name="C4-E24 text 99" descr="sci-ppt:o099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h_f = 10 μm — thickness</a:t>
            </a:r>
          </a:p>
        </p:txBody>
      </p:sp>
      <p:sp>
        <p:nvSpPr>
          <p:cNvPr id="102" name="C4-E24 text 100" descr="sci-ppt:o100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b = 100 μm — clamp</a:t>
            </a:r>
          </a:p>
        </p:txBody>
      </p:sp>
      <p:sp>
        <p:nvSpPr>
          <p:cNvPr id="103" name="C4-E24 text 101" descr="sci-ppt:o101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V_bl = 13.4324 pL</a:t>
            </a:r>
          </a:p>
        </p:txBody>
      </p:sp>
      <p:sp>
        <p:nvSpPr>
          <p:cNvPr id="104" name="C4-E24 text 102" descr="sci-ppt:o102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p₀,crit, D_f — input state</a:t>
            </a:r>
          </a:p>
        </p:txBody>
      </p:sp>
      <p:sp>
        <p:nvSpPr>
          <p:cNvPr id="105" name="C4-E24 text 103" descr="sci-ppt:o103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M_r, σ_rr — edge bending</a:t>
            </a:r>
          </a:p>
        </p:txBody>
      </p:sp>
      <p:sp>
        <p:nvSpPr>
          <p:cNvPr id="106" name="C4-E24 text 104" descr="sci-ppt:o104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|σ_rr| = 11.694 MPa</a:t>
            </a:r>
          </a:p>
        </p:txBody>
      </p:sp>
      <p:sp>
        <p:nvSpPr>
          <p:cNvPr id="107" name="C4-E24 text 105" descr="sci-ppt:o105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Small deflection relative to thickness is checked.</a:t>
            </a:r>
          </a:p>
        </p:txBody>
      </p:sp>
      <p:sp>
        <p:nvSpPr>
          <p:cNvPr id="108" name="C4-E24 text 106" descr="sci-ppt:o106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Payload allowable strength is still missing.</a:t>
            </a:r>
          </a:p>
        </p:txBody>
      </p:sp>
      <p:sp>
        <p:nvSpPr>
          <p:cNvPr id="109" name="C4-E24 text 107" descr="sci-ppt:o107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