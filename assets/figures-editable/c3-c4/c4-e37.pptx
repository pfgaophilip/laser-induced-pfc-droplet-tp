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4-E37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C4-E37 · Original pressure-controlled benchmark formulas</a:t>
            </a:r>
          </a:p>
        </p:txBody>
      </p:sp>
      <p:cxnSp>
        <p:nvCxnSpPr>
          <p:cNvPr id="3" name="C4-E37 line 1" descr="sci-ppt:o001"/>
          <p:cNvCxnSpPr/>
          <p:nvPr/>
        </p:nvCxnSpPr>
        <p:spPr>
          <a:xfrm>
            <a:off x="914400" y="4846320"/>
            <a:ext cx="43891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4-E37 line 2" descr="sci-ppt:o002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4-E37 line 3" descr="sci-ppt:o003"/>
          <p:cNvCxnSpPr/>
          <p:nvPr/>
        </p:nvCxnSpPr>
        <p:spPr>
          <a:xfrm>
            <a:off x="9144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4-E37 line 4" descr="sci-ppt:o004"/>
          <p:cNvCxnSpPr/>
          <p:nvPr/>
        </p:nvCxnSpPr>
        <p:spPr>
          <a:xfrm>
            <a:off x="9144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4-E37 text 5" descr="sci-ppt:o005"/>
          <p:cNvSpPr txBox="1"/>
          <p:nvPr/>
        </p:nvSpPr>
        <p:spPr>
          <a:xfrm>
            <a:off x="4572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8" name="C4-E37 line 6" descr="sci-ppt:o006"/>
          <p:cNvCxnSpPr/>
          <p:nvPr/>
        </p:nvCxnSpPr>
        <p:spPr>
          <a:xfrm>
            <a:off x="310896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4-E37 line 7" descr="sci-ppt:o007"/>
          <p:cNvCxnSpPr/>
          <p:nvPr/>
        </p:nvCxnSpPr>
        <p:spPr>
          <a:xfrm>
            <a:off x="310896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4-E37 text 8" descr="sci-ppt:o008"/>
          <p:cNvSpPr txBox="1"/>
          <p:nvPr/>
        </p:nvSpPr>
        <p:spPr>
          <a:xfrm>
            <a:off x="265176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1" name="C4-E37 line 9" descr="sci-ppt:o009"/>
          <p:cNvCxnSpPr/>
          <p:nvPr/>
        </p:nvCxnSpPr>
        <p:spPr>
          <a:xfrm>
            <a:off x="53035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4-E37 line 10" descr="sci-ppt:o010"/>
          <p:cNvCxnSpPr/>
          <p:nvPr/>
        </p:nvCxnSpPr>
        <p:spPr>
          <a:xfrm>
            <a:off x="53035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4-E37 text 11" descr="sci-ppt:o011"/>
          <p:cNvSpPr txBox="1"/>
          <p:nvPr/>
        </p:nvSpPr>
        <p:spPr>
          <a:xfrm>
            <a:off x="48463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4" name="C4-E37 line 12" descr="sci-ppt:o012"/>
          <p:cNvCxnSpPr/>
          <p:nvPr/>
        </p:nvCxnSpPr>
        <p:spPr>
          <a:xfrm>
            <a:off x="8503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4-E37 line 13" descr="sci-ppt:o013"/>
          <p:cNvCxnSpPr/>
          <p:nvPr/>
        </p:nvCxnSpPr>
        <p:spPr>
          <a:xfrm>
            <a:off x="850392" y="326690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6" name="C4-E37 line 14" descr="sci-ppt:o014"/>
          <p:cNvCxnSpPr/>
          <p:nvPr/>
        </p:nvCxnSpPr>
        <p:spPr>
          <a:xfrm>
            <a:off x="914400" y="3266901"/>
            <a:ext cx="43891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7" name="C4-E37 text 15" descr="sci-ppt:o015"/>
          <p:cNvSpPr txBox="1"/>
          <p:nvPr/>
        </p:nvSpPr>
        <p:spPr>
          <a:xfrm>
            <a:off x="45720" y="318460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18" name="C4-E37 line 16" descr="sci-ppt:o016"/>
          <p:cNvCxnSpPr/>
          <p:nvPr/>
        </p:nvCxnSpPr>
        <p:spPr>
          <a:xfrm>
            <a:off x="850392" y="1687483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9" name="C4-E37 line 17" descr="sci-ppt:o017"/>
          <p:cNvCxnSpPr/>
          <p:nvPr/>
        </p:nvCxnSpPr>
        <p:spPr>
          <a:xfrm>
            <a:off x="914400" y="1687483"/>
            <a:ext cx="43891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0" name="C4-E37 text 18" descr="sci-ppt:o018"/>
          <p:cNvSpPr txBox="1"/>
          <p:nvPr/>
        </p:nvSpPr>
        <p:spPr>
          <a:xfrm>
            <a:off x="45720" y="1605187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21" name="C4-E37 text 19" descr="sci-ppt:o019"/>
          <p:cNvSpPr txBox="1"/>
          <p:nvPr/>
        </p:nvSpPr>
        <p:spPr>
          <a:xfrm>
            <a:off x="914400" y="5129783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b</a:t>
            </a:r>
          </a:p>
        </p:txBody>
      </p:sp>
      <p:sp>
        <p:nvSpPr>
          <p:cNvPr id="22" name="C4-E37 text 20" descr="sci-ppt:o020"/>
          <p:cNvSpPr txBox="1"/>
          <p:nvPr/>
        </p:nvSpPr>
        <p:spPr>
          <a:xfrm>
            <a:off x="365760" y="1024128"/>
            <a:ext cx="43891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w / w(0)</a:t>
            </a:r>
          </a:p>
        </p:txBody>
      </p:sp>
      <p:sp>
        <p:nvSpPr>
          <p:cNvPr id="23" name="C4-E37 polygon 21" descr="sci-ppt:o021"/>
          <p:cNvSpPr/>
          <p:nvPr/>
        </p:nvSpPr>
        <p:spPr>
          <a:xfrm>
            <a:off x="914400" y="1687483"/>
            <a:ext cx="4389120" cy="3158837"/>
          </a:xfrm>
          <a:custGeom>
            <a:avLst/>
            <a:gdLst/>
            <a:ahLst/>
            <a:cxnLst/>
            <a:rect l="l" t="t" r="r" b="b"/>
            <a:pathLst>
              <a:path w="4389120" h="3158837">
                <a:moveTo>
                  <a:pt x="0" y="0"/>
                </a:moveTo>
                <a:lnTo>
                  <a:pt x="44334" y="645"/>
                </a:lnTo>
                <a:lnTo>
                  <a:pt x="88669" y="2578"/>
                </a:lnTo>
                <a:lnTo>
                  <a:pt x="133003" y="5799"/>
                </a:lnTo>
                <a:lnTo>
                  <a:pt x="177338" y="10305"/>
                </a:lnTo>
                <a:lnTo>
                  <a:pt x="221672" y="16094"/>
                </a:lnTo>
                <a:lnTo>
                  <a:pt x="266007" y="23163"/>
                </a:lnTo>
                <a:lnTo>
                  <a:pt x="310341" y="31506"/>
                </a:lnTo>
                <a:lnTo>
                  <a:pt x="354676" y="41120"/>
                </a:lnTo>
                <a:lnTo>
                  <a:pt x="399010" y="51997"/>
                </a:lnTo>
                <a:lnTo>
                  <a:pt x="443345" y="64131"/>
                </a:lnTo>
                <a:lnTo>
                  <a:pt x="487680" y="77515"/>
                </a:lnTo>
                <a:lnTo>
                  <a:pt x="532014" y="92140"/>
                </a:lnTo>
                <a:lnTo>
                  <a:pt x="576349" y="107997"/>
                </a:lnTo>
                <a:lnTo>
                  <a:pt x="620683" y="125077"/>
                </a:lnTo>
                <a:lnTo>
                  <a:pt x="665018" y="143369"/>
                </a:lnTo>
                <a:lnTo>
                  <a:pt x="709352" y="162861"/>
                </a:lnTo>
                <a:lnTo>
                  <a:pt x="753687" y="183541"/>
                </a:lnTo>
                <a:lnTo>
                  <a:pt x="798021" y="205397"/>
                </a:lnTo>
                <a:lnTo>
                  <a:pt x="842356" y="228413"/>
                </a:lnTo>
                <a:lnTo>
                  <a:pt x="886690" y="252577"/>
                </a:lnTo>
                <a:lnTo>
                  <a:pt x="931025" y="277871"/>
                </a:lnTo>
                <a:lnTo>
                  <a:pt x="975359" y="304281"/>
                </a:lnTo>
                <a:lnTo>
                  <a:pt x="1019694" y="331788"/>
                </a:lnTo>
                <a:lnTo>
                  <a:pt x="1064029" y="360377"/>
                </a:lnTo>
                <a:lnTo>
                  <a:pt x="1108363" y="390026"/>
                </a:lnTo>
                <a:lnTo>
                  <a:pt x="1152698" y="420719"/>
                </a:lnTo>
                <a:lnTo>
                  <a:pt x="1197032" y="452434"/>
                </a:lnTo>
                <a:lnTo>
                  <a:pt x="1241367" y="485150"/>
                </a:lnTo>
                <a:lnTo>
                  <a:pt x="1285701" y="518846"/>
                </a:lnTo>
                <a:lnTo>
                  <a:pt x="1330036" y="553499"/>
                </a:lnTo>
                <a:lnTo>
                  <a:pt x="1374370" y="589086"/>
                </a:lnTo>
                <a:lnTo>
                  <a:pt x="1418705" y="625584"/>
                </a:lnTo>
                <a:lnTo>
                  <a:pt x="1463040" y="662966"/>
                </a:lnTo>
                <a:lnTo>
                  <a:pt x="1507374" y="701207"/>
                </a:lnTo>
                <a:lnTo>
                  <a:pt x="1551709" y="740282"/>
                </a:lnTo>
                <a:lnTo>
                  <a:pt x="1596043" y="780162"/>
                </a:lnTo>
                <a:lnTo>
                  <a:pt x="1640378" y="820820"/>
                </a:lnTo>
                <a:lnTo>
                  <a:pt x="1684712" y="862227"/>
                </a:lnTo>
                <a:lnTo>
                  <a:pt x="1729047" y="904353"/>
                </a:lnTo>
                <a:lnTo>
                  <a:pt x="1773381" y="947168"/>
                </a:lnTo>
                <a:lnTo>
                  <a:pt x="1817716" y="990641"/>
                </a:lnTo>
                <a:lnTo>
                  <a:pt x="1862050" y="1034740"/>
                </a:lnTo>
                <a:lnTo>
                  <a:pt x="1906385" y="1079431"/>
                </a:lnTo>
                <a:lnTo>
                  <a:pt x="1950720" y="1124683"/>
                </a:lnTo>
                <a:lnTo>
                  <a:pt x="1995054" y="1170459"/>
                </a:lnTo>
                <a:lnTo>
                  <a:pt x="2039389" y="1216725"/>
                </a:lnTo>
                <a:lnTo>
                  <a:pt x="2083723" y="1263446"/>
                </a:lnTo>
                <a:lnTo>
                  <a:pt x="2128058" y="1310584"/>
                </a:lnTo>
                <a:lnTo>
                  <a:pt x="2172392" y="1358102"/>
                </a:lnTo>
                <a:lnTo>
                  <a:pt x="2216727" y="1405961"/>
                </a:lnTo>
                <a:lnTo>
                  <a:pt x="2261061" y="1454123"/>
                </a:lnTo>
                <a:lnTo>
                  <a:pt x="2305396" y="1502548"/>
                </a:lnTo>
                <a:lnTo>
                  <a:pt x="2349730" y="1551195"/>
                </a:lnTo>
                <a:lnTo>
                  <a:pt x="2394065" y="1600023"/>
                </a:lnTo>
                <a:lnTo>
                  <a:pt x="2438400" y="1648989"/>
                </a:lnTo>
                <a:lnTo>
                  <a:pt x="2482734" y="1698050"/>
                </a:lnTo>
                <a:lnTo>
                  <a:pt x="2527069" y="1747163"/>
                </a:lnTo>
                <a:lnTo>
                  <a:pt x="2571403" y="1796284"/>
                </a:lnTo>
                <a:lnTo>
                  <a:pt x="2615738" y="1845365"/>
                </a:lnTo>
                <a:lnTo>
                  <a:pt x="2660072" y="1894363"/>
                </a:lnTo>
                <a:lnTo>
                  <a:pt x="2704407" y="1943229"/>
                </a:lnTo>
                <a:lnTo>
                  <a:pt x="2748741" y="1991915"/>
                </a:lnTo>
                <a:lnTo>
                  <a:pt x="2793076" y="2040374"/>
                </a:lnTo>
                <a:lnTo>
                  <a:pt x="2837410" y="2088556"/>
                </a:lnTo>
                <a:lnTo>
                  <a:pt x="2881745" y="2136411"/>
                </a:lnTo>
                <a:lnTo>
                  <a:pt x="2926080" y="2183887"/>
                </a:lnTo>
                <a:lnTo>
                  <a:pt x="2970414" y="2230934"/>
                </a:lnTo>
                <a:lnTo>
                  <a:pt x="3014749" y="2277498"/>
                </a:lnTo>
                <a:lnTo>
                  <a:pt x="3059083" y="2323527"/>
                </a:lnTo>
                <a:lnTo>
                  <a:pt x="3103418" y="2368966"/>
                </a:lnTo>
                <a:lnTo>
                  <a:pt x="3147752" y="2413761"/>
                </a:lnTo>
                <a:lnTo>
                  <a:pt x="3192087" y="2457856"/>
                </a:lnTo>
                <a:lnTo>
                  <a:pt x="3236421" y="2501194"/>
                </a:lnTo>
                <a:lnTo>
                  <a:pt x="3280756" y="2543718"/>
                </a:lnTo>
                <a:lnTo>
                  <a:pt x="3325090" y="2585371"/>
                </a:lnTo>
                <a:lnTo>
                  <a:pt x="3369425" y="2626093"/>
                </a:lnTo>
                <a:lnTo>
                  <a:pt x="3413760" y="2665825"/>
                </a:lnTo>
                <a:lnTo>
                  <a:pt x="3458094" y="2704506"/>
                </a:lnTo>
                <a:lnTo>
                  <a:pt x="3502429" y="2742076"/>
                </a:lnTo>
                <a:lnTo>
                  <a:pt x="3546763" y="2778472"/>
                </a:lnTo>
                <a:lnTo>
                  <a:pt x="3591098" y="2813632"/>
                </a:lnTo>
                <a:lnTo>
                  <a:pt x="3635432" y="2847492"/>
                </a:lnTo>
                <a:lnTo>
                  <a:pt x="3679767" y="2879987"/>
                </a:lnTo>
                <a:lnTo>
                  <a:pt x="3724101" y="2911054"/>
                </a:lnTo>
                <a:lnTo>
                  <a:pt x="3768436" y="2940625"/>
                </a:lnTo>
                <a:lnTo>
                  <a:pt x="3812770" y="2968634"/>
                </a:lnTo>
                <a:lnTo>
                  <a:pt x="3857105" y="2995014"/>
                </a:lnTo>
                <a:lnTo>
                  <a:pt x="3901440" y="3019696"/>
                </a:lnTo>
                <a:lnTo>
                  <a:pt x="3945774" y="3042611"/>
                </a:lnTo>
                <a:lnTo>
                  <a:pt x="3990109" y="3063690"/>
                </a:lnTo>
                <a:lnTo>
                  <a:pt x="4034443" y="3082861"/>
                </a:lnTo>
                <a:lnTo>
                  <a:pt x="4078778" y="3100054"/>
                </a:lnTo>
                <a:lnTo>
                  <a:pt x="4123112" y="3115196"/>
                </a:lnTo>
                <a:lnTo>
                  <a:pt x="4167447" y="3128214"/>
                </a:lnTo>
                <a:lnTo>
                  <a:pt x="4211781" y="3139034"/>
                </a:lnTo>
                <a:lnTo>
                  <a:pt x="4256116" y="3147583"/>
                </a:lnTo>
                <a:lnTo>
                  <a:pt x="4300450" y="3153783"/>
                </a:lnTo>
                <a:lnTo>
                  <a:pt x="4344785" y="3157560"/>
                </a:lnTo>
                <a:lnTo>
                  <a:pt x="4389120" y="3158837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" name="C4-E37 line 22" descr="sci-ppt:o022"/>
          <p:cNvCxnSpPr/>
          <p:nvPr/>
        </p:nvCxnSpPr>
        <p:spPr>
          <a:xfrm>
            <a:off x="5943600" y="4846320"/>
            <a:ext cx="283464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5" name="C4-E37 line 23" descr="sci-ppt:o023"/>
          <p:cNvCxnSpPr/>
          <p:nvPr/>
        </p:nvCxnSpPr>
        <p:spPr>
          <a:xfrm>
            <a:off x="5943600" y="1371600"/>
            <a:ext cx="0" cy="347472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26" name="C4-E37 line 24" descr="sci-ppt:o024"/>
          <p:cNvCxnSpPr/>
          <p:nvPr/>
        </p:nvCxnSpPr>
        <p:spPr>
          <a:xfrm>
            <a:off x="594360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C4-E37 line 25" descr="sci-ppt:o025"/>
          <p:cNvCxnSpPr/>
          <p:nvPr/>
        </p:nvCxnSpPr>
        <p:spPr>
          <a:xfrm>
            <a:off x="594360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C4-E37 text 26" descr="sci-ppt:o026"/>
          <p:cNvSpPr txBox="1"/>
          <p:nvPr/>
        </p:nvSpPr>
        <p:spPr>
          <a:xfrm>
            <a:off x="548640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9" name="C4-E37 line 27" descr="sci-ppt:o027"/>
          <p:cNvCxnSpPr/>
          <p:nvPr/>
        </p:nvCxnSpPr>
        <p:spPr>
          <a:xfrm>
            <a:off x="736092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C4-E37 line 28" descr="sci-ppt:o028"/>
          <p:cNvCxnSpPr/>
          <p:nvPr/>
        </p:nvCxnSpPr>
        <p:spPr>
          <a:xfrm>
            <a:off x="736092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C4-E37 text 29" descr="sci-ppt:o029"/>
          <p:cNvSpPr txBox="1"/>
          <p:nvPr/>
        </p:nvSpPr>
        <p:spPr>
          <a:xfrm>
            <a:off x="690372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32" name="C4-E37 line 30" descr="sci-ppt:o030"/>
          <p:cNvCxnSpPr/>
          <p:nvPr/>
        </p:nvCxnSpPr>
        <p:spPr>
          <a:xfrm>
            <a:off x="8778240" y="484632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3" name="C4-E37 line 31" descr="sci-ppt:o031"/>
          <p:cNvCxnSpPr/>
          <p:nvPr/>
        </p:nvCxnSpPr>
        <p:spPr>
          <a:xfrm>
            <a:off x="8778240" y="1371600"/>
            <a:ext cx="0" cy="347472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4" name="C4-E37 text 32" descr="sci-ppt:o032"/>
          <p:cNvSpPr txBox="1"/>
          <p:nvPr/>
        </p:nvSpPr>
        <p:spPr>
          <a:xfrm>
            <a:off x="8321040" y="492861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5" name="C4-E37 line 33" descr="sci-ppt:o033"/>
          <p:cNvCxnSpPr/>
          <p:nvPr/>
        </p:nvCxnSpPr>
        <p:spPr>
          <a:xfrm>
            <a:off x="5879592" y="484632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6" name="C4-E37 line 34" descr="sci-ppt:o034"/>
          <p:cNvCxnSpPr/>
          <p:nvPr/>
        </p:nvCxnSpPr>
        <p:spPr>
          <a:xfrm>
            <a:off x="5879592" y="310896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7" name="C4-E37 line 35" descr="sci-ppt:o035"/>
          <p:cNvCxnSpPr/>
          <p:nvPr/>
        </p:nvCxnSpPr>
        <p:spPr>
          <a:xfrm>
            <a:off x="5943600" y="3108960"/>
            <a:ext cx="2834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8" name="C4-E37 text 36" descr="sci-ppt:o036"/>
          <p:cNvSpPr txBox="1"/>
          <p:nvPr/>
        </p:nvSpPr>
        <p:spPr>
          <a:xfrm>
            <a:off x="5074920" y="302666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39" name="C4-E37 line 37" descr="sci-ppt:o037"/>
          <p:cNvCxnSpPr/>
          <p:nvPr/>
        </p:nvCxnSpPr>
        <p:spPr>
          <a:xfrm>
            <a:off x="5879592" y="137160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40" name="C4-E37 line 38" descr="sci-ppt:o038"/>
          <p:cNvCxnSpPr/>
          <p:nvPr/>
        </p:nvCxnSpPr>
        <p:spPr>
          <a:xfrm>
            <a:off x="5943600" y="1371600"/>
            <a:ext cx="283464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41" name="C4-E37 text 39" descr="sci-ppt:o039"/>
          <p:cNvSpPr txBox="1"/>
          <p:nvPr/>
        </p:nvSpPr>
        <p:spPr>
          <a:xfrm>
            <a:off x="5074920" y="128930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sp>
        <p:nvSpPr>
          <p:cNvPr id="42" name="C4-E37 text 40" descr="sci-ppt:o040"/>
          <p:cNvSpPr txBox="1"/>
          <p:nvPr/>
        </p:nvSpPr>
        <p:spPr>
          <a:xfrm>
            <a:off x="5943600" y="5129783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p₀ / p₀,crit</a:t>
            </a:r>
          </a:p>
        </p:txBody>
      </p:sp>
      <p:sp>
        <p:nvSpPr>
          <p:cNvPr id="43" name="C4-E37 text 41" descr="sci-ppt:o041"/>
          <p:cNvSpPr txBox="1"/>
          <p:nvPr/>
        </p:nvSpPr>
        <p:spPr>
          <a:xfrm>
            <a:off x="5394960" y="1024128"/>
            <a:ext cx="283464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G / Γ</a:t>
            </a:r>
          </a:p>
        </p:txBody>
      </p:sp>
      <p:sp>
        <p:nvSpPr>
          <p:cNvPr id="44" name="C4-E37 polygon 42" descr="sci-ppt:o042"/>
          <p:cNvSpPr/>
          <p:nvPr/>
        </p:nvSpPr>
        <p:spPr>
          <a:xfrm>
            <a:off x="5943600" y="1371600"/>
            <a:ext cx="2834640" cy="3474720"/>
          </a:xfrm>
          <a:custGeom>
            <a:avLst/>
            <a:gdLst/>
            <a:ahLst/>
            <a:cxnLst/>
            <a:rect l="l" t="t" r="r" b="b"/>
            <a:pathLst>
              <a:path w="2834640" h="3474720">
                <a:moveTo>
                  <a:pt x="0" y="3474720"/>
                </a:moveTo>
                <a:lnTo>
                  <a:pt x="48044" y="3473721"/>
                </a:lnTo>
                <a:lnTo>
                  <a:pt x="96089" y="3470727"/>
                </a:lnTo>
                <a:lnTo>
                  <a:pt x="144134" y="3465736"/>
                </a:lnTo>
                <a:lnTo>
                  <a:pt x="192178" y="3458748"/>
                </a:lnTo>
                <a:lnTo>
                  <a:pt x="240223" y="3449765"/>
                </a:lnTo>
                <a:lnTo>
                  <a:pt x="288268" y="3438784"/>
                </a:lnTo>
                <a:lnTo>
                  <a:pt x="336313" y="3425808"/>
                </a:lnTo>
                <a:lnTo>
                  <a:pt x="384357" y="3410835"/>
                </a:lnTo>
                <a:lnTo>
                  <a:pt x="432402" y="3393866"/>
                </a:lnTo>
                <a:lnTo>
                  <a:pt x="480447" y="3374900"/>
                </a:lnTo>
                <a:lnTo>
                  <a:pt x="528492" y="3353938"/>
                </a:lnTo>
                <a:lnTo>
                  <a:pt x="576536" y="3330979"/>
                </a:lnTo>
                <a:lnTo>
                  <a:pt x="624581" y="3306024"/>
                </a:lnTo>
                <a:lnTo>
                  <a:pt x="672626" y="3279073"/>
                </a:lnTo>
                <a:lnTo>
                  <a:pt x="720671" y="3250125"/>
                </a:lnTo>
                <a:lnTo>
                  <a:pt x="768715" y="3219181"/>
                </a:lnTo>
                <a:lnTo>
                  <a:pt x="816760" y="3186241"/>
                </a:lnTo>
                <a:lnTo>
                  <a:pt x="864805" y="3151304"/>
                </a:lnTo>
                <a:lnTo>
                  <a:pt x="912850" y="3114371"/>
                </a:lnTo>
                <a:lnTo>
                  <a:pt x="960894" y="3075441"/>
                </a:lnTo>
                <a:lnTo>
                  <a:pt x="1008939" y="3034515"/>
                </a:lnTo>
                <a:lnTo>
                  <a:pt x="1056984" y="2991593"/>
                </a:lnTo>
                <a:lnTo>
                  <a:pt x="1105029" y="2946674"/>
                </a:lnTo>
                <a:lnTo>
                  <a:pt x="1153073" y="2899759"/>
                </a:lnTo>
                <a:lnTo>
                  <a:pt x="1201118" y="2850847"/>
                </a:lnTo>
                <a:lnTo>
                  <a:pt x="1249163" y="2799939"/>
                </a:lnTo>
                <a:lnTo>
                  <a:pt x="1297208" y="2747035"/>
                </a:lnTo>
                <a:lnTo>
                  <a:pt x="1345252" y="2692134"/>
                </a:lnTo>
                <a:lnTo>
                  <a:pt x="1393297" y="2635237"/>
                </a:lnTo>
                <a:lnTo>
                  <a:pt x="1441342" y="2576343"/>
                </a:lnTo>
                <a:lnTo>
                  <a:pt x="1489387" y="2515453"/>
                </a:lnTo>
                <a:lnTo>
                  <a:pt x="1537431" y="2452567"/>
                </a:lnTo>
                <a:lnTo>
                  <a:pt x="1585476" y="2387684"/>
                </a:lnTo>
                <a:lnTo>
                  <a:pt x="1633521" y="2320805"/>
                </a:lnTo>
                <a:lnTo>
                  <a:pt x="1681566" y="2251929"/>
                </a:lnTo>
                <a:lnTo>
                  <a:pt x="1729610" y="2181058"/>
                </a:lnTo>
                <a:lnTo>
                  <a:pt x="1777655" y="2108189"/>
                </a:lnTo>
                <a:lnTo>
                  <a:pt x="1825700" y="2033325"/>
                </a:lnTo>
                <a:lnTo>
                  <a:pt x="1873745" y="1956464"/>
                </a:lnTo>
                <a:lnTo>
                  <a:pt x="1921789" y="1877606"/>
                </a:lnTo>
                <a:lnTo>
                  <a:pt x="1969834" y="1796752"/>
                </a:lnTo>
                <a:lnTo>
                  <a:pt x="2017879" y="1713902"/>
                </a:lnTo>
                <a:lnTo>
                  <a:pt x="2065924" y="1629055"/>
                </a:lnTo>
                <a:lnTo>
                  <a:pt x="2113968" y="1542212"/>
                </a:lnTo>
                <a:lnTo>
                  <a:pt x="2162013" y="1453373"/>
                </a:lnTo>
                <a:lnTo>
                  <a:pt x="2210058" y="1362537"/>
                </a:lnTo>
                <a:lnTo>
                  <a:pt x="2258103" y="1269705"/>
                </a:lnTo>
                <a:lnTo>
                  <a:pt x="2306147" y="1174876"/>
                </a:lnTo>
                <a:lnTo>
                  <a:pt x="2354192" y="1078051"/>
                </a:lnTo>
                <a:lnTo>
                  <a:pt x="2402237" y="979230"/>
                </a:lnTo>
                <a:lnTo>
                  <a:pt x="2450282" y="878412"/>
                </a:lnTo>
                <a:lnTo>
                  <a:pt x="2498326" y="775598"/>
                </a:lnTo>
                <a:lnTo>
                  <a:pt x="2546371" y="670787"/>
                </a:lnTo>
                <a:lnTo>
                  <a:pt x="2594416" y="563980"/>
                </a:lnTo>
                <a:lnTo>
                  <a:pt x="2642461" y="455177"/>
                </a:lnTo>
                <a:lnTo>
                  <a:pt x="2690505" y="344377"/>
                </a:lnTo>
                <a:lnTo>
                  <a:pt x="2738550" y="231581"/>
                </a:lnTo>
                <a:lnTo>
                  <a:pt x="2786595" y="116788"/>
                </a:lnTo>
                <a:lnTo>
                  <a:pt x="2834640" y="0"/>
                </a:lnTo>
              </a:path>
            </a:pathLst>
          </a:custGeom>
          <a:noFill/>
          <a:ln w="381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4-E37 ellipse 43" descr="sci-ppt:o043"/>
          <p:cNvSpPr/>
          <p:nvPr/>
        </p:nvSpPr>
        <p:spPr>
          <a:xfrm>
            <a:off x="7287768" y="3904487"/>
            <a:ext cx="146304" cy="146304"/>
          </a:xfrm>
          <a:prstGeom prst="ellipse">
            <a:avLst/>
          </a:prstGeom>
          <a:solidFill>
            <a:srgbClr val="F2B880"/>
          </a:solidFill>
          <a:ln w="1270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4-E37 round_rect 44" descr="sci-ppt:o044"/>
          <p:cNvSpPr/>
          <p:nvPr/>
        </p:nvSpPr>
        <p:spPr>
          <a:xfrm>
            <a:off x="9052560" y="1371600"/>
            <a:ext cx="2788920" cy="347472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C4-E37 text 45" descr="sci-ppt:o045"/>
          <p:cNvSpPr txBox="1"/>
          <p:nvPr/>
        </p:nvSpPr>
        <p:spPr>
          <a:xfrm>
            <a:off x="9162288" y="1426464"/>
            <a:ext cx="2569463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Formulas</a:t>
            </a:r>
          </a:p>
        </p:txBody>
      </p:sp>
      <p:sp>
        <p:nvSpPr>
          <p:cNvPr id="48" name="C4-E37 text 46" descr="sci-ppt:o046"/>
          <p:cNvSpPr txBox="1"/>
          <p:nvPr/>
        </p:nvSpPr>
        <p:spPr>
          <a:xfrm>
            <a:off x="9144000" y="1828800"/>
            <a:ext cx="2606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F0F3"/>
                </a:solidFill>
                <a:latin typeface="Arial"/>
              </a:rPr>
              <a:t>w = p₀(b² − r²)² / (64 D_f)</a:t>
            </a:r>
          </a:p>
        </p:txBody>
      </p:sp>
      <p:sp>
        <p:nvSpPr>
          <p:cNvPr id="49" name="C4-E37 text 47" descr="sci-ppt:o047"/>
          <p:cNvSpPr txBox="1"/>
          <p:nvPr/>
        </p:nvSpPr>
        <p:spPr>
          <a:xfrm>
            <a:off x="9144000" y="2468880"/>
            <a:ext cx="2606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7F0F3"/>
                </a:solidFill>
                <a:latin typeface="Arial"/>
              </a:rPr>
              <a:t>G = p₀²b⁴ / (128 D_f)</a:t>
            </a:r>
          </a:p>
        </p:txBody>
      </p:sp>
      <p:sp>
        <p:nvSpPr>
          <p:cNvPr id="50" name="C4-E37 text 48" descr="sci-ppt:o048"/>
          <p:cNvSpPr txBox="1"/>
          <p:nvPr/>
        </p:nvSpPr>
        <p:spPr>
          <a:xfrm>
            <a:off x="9144000" y="3108960"/>
            <a:ext cx="2606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2B880"/>
                </a:solidFill>
                <a:latin typeface="Arial"/>
              </a:rPr>
              <a:t>p₀,crit = √(128 D_f Γ) / b²</a:t>
            </a:r>
          </a:p>
        </p:txBody>
      </p:sp>
      <p:sp>
        <p:nvSpPr>
          <p:cNvPr id="51" name="C4-E37 text 49" descr="sci-ppt:o049"/>
          <p:cNvSpPr txBox="1"/>
          <p:nvPr/>
        </p:nvSpPr>
        <p:spPr>
          <a:xfrm>
            <a:off x="914400" y="5486400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Defence 2: the 156 kPa threshold belongs to this plate, this clamp, this interface energy and a maintained-pressure source.</a:t>
            </a:r>
          </a:p>
        </p:txBody>
      </p:sp>
      <p:sp>
        <p:nvSpPr>
          <p:cNvPr id="52" name="C4-E37 text 50" descr="sci-ppt:o050"/>
          <p:cNvSpPr txBox="1"/>
          <p:nvPr/>
        </p:nvSpPr>
        <p:spPr>
          <a:xfrm>
            <a:off x="914400" y="5943600"/>
            <a:ext cx="10972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Change the loading control (fixed volume) or the geometry and the threshold changes.</a:t>
            </a:r>
          </a:p>
        </p:txBody>
      </p:sp>
      <p:sp>
        <p:nvSpPr>
          <p:cNvPr id="53" name="C4-E37 text 51" descr="sci-ppt:o05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Reference formulas of the Defence 2 answer: Eqs. C4-E16, E20, E21.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