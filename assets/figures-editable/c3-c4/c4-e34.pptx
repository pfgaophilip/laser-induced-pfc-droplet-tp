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34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C4-E34 · Ballistic placement estimate</a:t>
            </a:r>
          </a:p>
        </p:txBody>
      </p:sp>
      <p:sp>
        <p:nvSpPr>
          <p:cNvPr id="3" name="C4-E34 rect 1" descr="sci-ppt:o001"/>
          <p:cNvSpPr/>
          <p:nvPr/>
        </p:nvSpPr>
        <p:spPr>
          <a:xfrm>
            <a:off x="1097280" y="914400"/>
            <a:ext cx="1828800" cy="2286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34 rect 2" descr="sci-ppt:o002"/>
          <p:cNvSpPr/>
          <p:nvPr/>
        </p:nvSpPr>
        <p:spPr>
          <a:xfrm>
            <a:off x="914400" y="3383280"/>
            <a:ext cx="10332720" cy="27432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4-E34 line 3" descr="sci-ppt:o003"/>
          <p:cNvCxnSpPr/>
          <p:nvPr/>
        </p:nvCxnSpPr>
        <p:spPr>
          <a:xfrm>
            <a:off x="2011680" y="1234440"/>
            <a:ext cx="0" cy="210312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6" name="C4-E34 arrow 4" descr="sci-ppt:o004"/>
          <p:cNvCxnSpPr/>
          <p:nvPr/>
        </p:nvCxnSpPr>
        <p:spPr>
          <a:xfrm>
            <a:off x="2011680" y="1234440"/>
            <a:ext cx="2560320" cy="210312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7" name="C4-E34 line 5" descr="sci-ppt:o005"/>
          <p:cNvCxnSpPr/>
          <p:nvPr/>
        </p:nvCxnSpPr>
        <p:spPr>
          <a:xfrm>
            <a:off x="2011680" y="3017520"/>
            <a:ext cx="256032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" name="C4-E34 text 6" descr="sci-ppt:o006"/>
          <p:cNvSpPr txBox="1"/>
          <p:nvPr/>
        </p:nvSpPr>
        <p:spPr>
          <a:xfrm>
            <a:off x="2880360" y="2697480"/>
            <a:ext cx="1828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Δx</a:t>
            </a:r>
          </a:p>
        </p:txBody>
      </p:sp>
      <p:sp>
        <p:nvSpPr>
          <p:cNvPr id="9" name="C4-E34 text 7" descr="sci-ppt:o007"/>
          <p:cNvSpPr txBox="1"/>
          <p:nvPr/>
        </p:nvSpPr>
        <p:spPr>
          <a:xfrm>
            <a:off x="411480" y="2011680"/>
            <a:ext cx="14630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H_f</a:t>
            </a:r>
          </a:p>
        </p:txBody>
      </p:sp>
      <p:sp>
        <p:nvSpPr>
          <p:cNvPr id="10" name="C4-E34 text 8" descr="sci-ppt:o008"/>
          <p:cNvSpPr txBox="1"/>
          <p:nvPr/>
        </p:nvSpPr>
        <p:spPr>
          <a:xfrm>
            <a:off x="2286000" y="1554480"/>
            <a:ext cx="1828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θ</a:t>
            </a:r>
          </a:p>
        </p:txBody>
      </p:sp>
      <p:sp>
        <p:nvSpPr>
          <p:cNvPr id="11" name="C4-E34 text 9" descr="sci-ppt:o009"/>
          <p:cNvSpPr txBox="1"/>
          <p:nvPr/>
        </p:nvSpPr>
        <p:spPr>
          <a:xfrm>
            <a:off x="5852160" y="1463040"/>
            <a:ext cx="5029200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7F0F3"/>
                </a:solidFill>
                <a:latin typeface="Arial"/>
              </a:rPr>
              <a:t>Normal gap H_f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7F0F3"/>
                </a:solidFill>
                <a:latin typeface="Arial"/>
              </a:rPr>
              <a:t>Lateral error Δx = H_f tan θ</a:t>
            </a:r>
          </a:p>
        </p:txBody>
      </p:sp>
      <p:cxnSp>
        <p:nvCxnSpPr>
          <p:cNvPr id="12" name="C4-E34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4-E34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H_f — payload normal flight gap</a:t>
            </a:r>
          </a:p>
        </p:txBody>
      </p:sp>
      <p:sp>
        <p:nvSpPr>
          <p:cNvPr id="14" name="C4-E34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θ — departure angle</a:t>
            </a:r>
          </a:p>
        </p:txBody>
      </p:sp>
      <p:sp>
        <p:nvSpPr>
          <p:cNvPr id="15" name="C4-E34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Δx — lateral placement error</a:t>
            </a:r>
          </a:p>
        </p:txBody>
      </p:sp>
      <p:sp>
        <p:nvSpPr>
          <p:cNvPr id="16" name="C4-E34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target normal ↓ receiver</a:t>
            </a:r>
          </a:p>
        </p:txBody>
      </p:sp>
      <p:sp>
        <p:nvSpPr>
          <p:cNvPr id="17" name="C4-E34 text 15" descr="sci-ppt:o015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H_f = 100 μm, θ = 1°</a:t>
            </a:r>
          </a:p>
        </p:txBody>
      </p:sp>
      <p:sp>
        <p:nvSpPr>
          <p:cNvPr id="18" name="C4-E34 text 16" descr="sci-ppt:o016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A 1° departure error gives about 1.75 μm offset in this example.</a:t>
            </a:r>
          </a:p>
        </p:txBody>
      </p:sp>
      <p:sp>
        <p:nvSpPr>
          <p:cNvPr id="19" name="C4-E34 text 17" descr="sci-ppt:o017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