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C4-E34 · Ballistic placement estimate</a:t>
            </a:r>
          </a:p>
        </p:txBody>
      </p:sp>
      <p:cxnSp>
        <p:nvCxnSpPr>
          <p:cNvPr id="3" name="C4-E34 line 1" descr="sci-ppt:o001"/>
          <p:cNvCxnSpPr/>
          <p:nvPr/>
        </p:nvCxnSpPr>
        <p:spPr>
          <a:xfrm>
            <a:off x="7315200" y="4846320"/>
            <a:ext cx="43891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34 line 2" descr="sci-ppt:o002"/>
          <p:cNvCxnSpPr/>
          <p:nvPr/>
        </p:nvCxnSpPr>
        <p:spPr>
          <a:xfrm>
            <a:off x="731520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34 line 3" descr="sci-ppt:o003"/>
          <p:cNvCxnSpPr/>
          <p:nvPr/>
        </p:nvCxnSpPr>
        <p:spPr>
          <a:xfrm>
            <a:off x="73152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34 line 4" descr="sci-ppt:o004"/>
          <p:cNvCxnSpPr/>
          <p:nvPr/>
        </p:nvCxnSpPr>
        <p:spPr>
          <a:xfrm>
            <a:off x="73152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34 text 5" descr="sci-ppt:o005"/>
          <p:cNvSpPr txBox="1"/>
          <p:nvPr/>
        </p:nvSpPr>
        <p:spPr>
          <a:xfrm>
            <a:off x="68580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4-E34 line 6" descr="sci-ppt:o006"/>
          <p:cNvCxnSpPr/>
          <p:nvPr/>
        </p:nvCxnSpPr>
        <p:spPr>
          <a:xfrm>
            <a:off x="8193024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34 line 7" descr="sci-ppt:o007"/>
          <p:cNvCxnSpPr/>
          <p:nvPr/>
        </p:nvCxnSpPr>
        <p:spPr>
          <a:xfrm>
            <a:off x="8193024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34 text 8" descr="sci-ppt:o008"/>
          <p:cNvSpPr txBox="1"/>
          <p:nvPr/>
        </p:nvSpPr>
        <p:spPr>
          <a:xfrm>
            <a:off x="7735824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4-E34 line 9" descr="sci-ppt:o009"/>
          <p:cNvCxnSpPr/>
          <p:nvPr/>
        </p:nvCxnSpPr>
        <p:spPr>
          <a:xfrm>
            <a:off x="9070848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34 line 10" descr="sci-ppt:o010"/>
          <p:cNvCxnSpPr/>
          <p:nvPr/>
        </p:nvCxnSpPr>
        <p:spPr>
          <a:xfrm>
            <a:off x="9070848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34 text 11" descr="sci-ppt:o011"/>
          <p:cNvSpPr txBox="1"/>
          <p:nvPr/>
        </p:nvSpPr>
        <p:spPr>
          <a:xfrm>
            <a:off x="8613648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4" name="C4-E34 line 12" descr="sci-ppt:o012"/>
          <p:cNvCxnSpPr/>
          <p:nvPr/>
        </p:nvCxnSpPr>
        <p:spPr>
          <a:xfrm>
            <a:off x="9948672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34 line 13" descr="sci-ppt:o013"/>
          <p:cNvCxnSpPr/>
          <p:nvPr/>
        </p:nvCxnSpPr>
        <p:spPr>
          <a:xfrm>
            <a:off x="9948672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34 text 14" descr="sci-ppt:o014"/>
          <p:cNvSpPr txBox="1"/>
          <p:nvPr/>
        </p:nvSpPr>
        <p:spPr>
          <a:xfrm>
            <a:off x="9491472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7" name="C4-E34 line 15" descr="sci-ppt:o015"/>
          <p:cNvCxnSpPr/>
          <p:nvPr/>
        </p:nvCxnSpPr>
        <p:spPr>
          <a:xfrm>
            <a:off x="10826496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34 line 16" descr="sci-ppt:o016"/>
          <p:cNvCxnSpPr/>
          <p:nvPr/>
        </p:nvCxnSpPr>
        <p:spPr>
          <a:xfrm>
            <a:off x="10826496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34 text 17" descr="sci-ppt:o017"/>
          <p:cNvSpPr txBox="1"/>
          <p:nvPr/>
        </p:nvSpPr>
        <p:spPr>
          <a:xfrm>
            <a:off x="10369296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20" name="C4-E34 line 18" descr="sci-ppt:o018"/>
          <p:cNvCxnSpPr/>
          <p:nvPr/>
        </p:nvCxnSpPr>
        <p:spPr>
          <a:xfrm>
            <a:off x="1170432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34 line 19" descr="sci-ppt:o019"/>
          <p:cNvCxnSpPr/>
          <p:nvPr/>
        </p:nvCxnSpPr>
        <p:spPr>
          <a:xfrm>
            <a:off x="1170432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4-E34 text 20" descr="sci-ppt:o020"/>
          <p:cNvSpPr txBox="1"/>
          <p:nvPr/>
        </p:nvSpPr>
        <p:spPr>
          <a:xfrm>
            <a:off x="1124712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23" name="C4-E34 line 21" descr="sci-ppt:o021"/>
          <p:cNvCxnSpPr/>
          <p:nvPr/>
        </p:nvCxnSpPr>
        <p:spPr>
          <a:xfrm>
            <a:off x="725119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4-E34 line 22" descr="sci-ppt:o022"/>
          <p:cNvCxnSpPr/>
          <p:nvPr/>
        </p:nvCxnSpPr>
        <p:spPr>
          <a:xfrm>
            <a:off x="7251192" y="40741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34 line 23" descr="sci-ppt:o023"/>
          <p:cNvCxnSpPr/>
          <p:nvPr/>
        </p:nvCxnSpPr>
        <p:spPr>
          <a:xfrm>
            <a:off x="7315200" y="4074160"/>
            <a:ext cx="43891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34 text 24" descr="sci-ppt:o024"/>
          <p:cNvSpPr txBox="1"/>
          <p:nvPr/>
        </p:nvSpPr>
        <p:spPr>
          <a:xfrm>
            <a:off x="6446520" y="39918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7" name="C4-E34 line 25" descr="sci-ppt:o025"/>
          <p:cNvCxnSpPr/>
          <p:nvPr/>
        </p:nvCxnSpPr>
        <p:spPr>
          <a:xfrm>
            <a:off x="7251192" y="3302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4-E34 line 26" descr="sci-ppt:o026"/>
          <p:cNvCxnSpPr/>
          <p:nvPr/>
        </p:nvCxnSpPr>
        <p:spPr>
          <a:xfrm>
            <a:off x="7315200" y="3302000"/>
            <a:ext cx="43891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4-E34 text 27" descr="sci-ppt:o027"/>
          <p:cNvSpPr txBox="1"/>
          <p:nvPr/>
        </p:nvSpPr>
        <p:spPr>
          <a:xfrm>
            <a:off x="6446520" y="3219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30" name="C4-E34 line 28" descr="sci-ppt:o028"/>
          <p:cNvCxnSpPr/>
          <p:nvPr/>
        </p:nvCxnSpPr>
        <p:spPr>
          <a:xfrm>
            <a:off x="7251192" y="25298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4-E34 line 29" descr="sci-ppt:o029"/>
          <p:cNvCxnSpPr/>
          <p:nvPr/>
        </p:nvCxnSpPr>
        <p:spPr>
          <a:xfrm>
            <a:off x="7315200" y="2529840"/>
            <a:ext cx="43891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4-E34 text 30" descr="sci-ppt:o030"/>
          <p:cNvSpPr txBox="1"/>
          <p:nvPr/>
        </p:nvSpPr>
        <p:spPr>
          <a:xfrm>
            <a:off x="6446520" y="24475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</a:t>
            </a:r>
          </a:p>
        </p:txBody>
      </p:sp>
      <p:cxnSp>
        <p:nvCxnSpPr>
          <p:cNvPr id="33" name="C4-E34 line 31" descr="sci-ppt:o031"/>
          <p:cNvCxnSpPr/>
          <p:nvPr/>
        </p:nvCxnSpPr>
        <p:spPr>
          <a:xfrm>
            <a:off x="7251192" y="17576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4-E34 line 32" descr="sci-ppt:o032"/>
          <p:cNvCxnSpPr/>
          <p:nvPr/>
        </p:nvCxnSpPr>
        <p:spPr>
          <a:xfrm>
            <a:off x="7315200" y="1757680"/>
            <a:ext cx="43891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4-E34 text 33" descr="sci-ppt:o033"/>
          <p:cNvSpPr txBox="1"/>
          <p:nvPr/>
        </p:nvSpPr>
        <p:spPr>
          <a:xfrm>
            <a:off x="6446520" y="16753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8</a:t>
            </a:r>
          </a:p>
        </p:txBody>
      </p:sp>
      <p:sp>
        <p:nvSpPr>
          <p:cNvPr id="36" name="C4-E34 text 34" descr="sci-ppt:o034"/>
          <p:cNvSpPr txBox="1"/>
          <p:nvPr/>
        </p:nvSpPr>
        <p:spPr>
          <a:xfrm>
            <a:off x="7315200" y="5129783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launch error θ  (degrees)</a:t>
            </a:r>
          </a:p>
        </p:txBody>
      </p:sp>
      <p:sp>
        <p:nvSpPr>
          <p:cNvPr id="37" name="C4-E34 text 35" descr="sci-ppt:o035"/>
          <p:cNvSpPr txBox="1"/>
          <p:nvPr/>
        </p:nvSpPr>
        <p:spPr>
          <a:xfrm>
            <a:off x="6766560" y="1024128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Δx  (µm)</a:t>
            </a:r>
          </a:p>
        </p:txBody>
      </p:sp>
      <p:sp>
        <p:nvSpPr>
          <p:cNvPr id="38" name="C4-E34 polygon 36" descr="sci-ppt:o036"/>
          <p:cNvSpPr/>
          <p:nvPr/>
        </p:nvSpPr>
        <p:spPr>
          <a:xfrm>
            <a:off x="7315200" y="1468557"/>
            <a:ext cx="4389120" cy="3377763"/>
          </a:xfrm>
          <a:custGeom>
            <a:avLst/>
            <a:gdLst/>
            <a:ahLst/>
            <a:cxnLst/>
            <a:rect l="l" t="t" r="r" b="b"/>
            <a:pathLst>
              <a:path w="4389120" h="3377763">
                <a:moveTo>
                  <a:pt x="0" y="3377763"/>
                </a:moveTo>
                <a:lnTo>
                  <a:pt x="44334" y="3343730"/>
                </a:lnTo>
                <a:lnTo>
                  <a:pt x="88669" y="3309698"/>
                </a:lnTo>
                <a:lnTo>
                  <a:pt x="133003" y="3275666"/>
                </a:lnTo>
                <a:lnTo>
                  <a:pt x="177338" y="3241633"/>
                </a:lnTo>
                <a:lnTo>
                  <a:pt x="221672" y="3207601"/>
                </a:lnTo>
                <a:lnTo>
                  <a:pt x="266007" y="3173568"/>
                </a:lnTo>
                <a:lnTo>
                  <a:pt x="310341" y="3139534"/>
                </a:lnTo>
                <a:lnTo>
                  <a:pt x="354676" y="3105501"/>
                </a:lnTo>
                <a:lnTo>
                  <a:pt x="399010" y="3071467"/>
                </a:lnTo>
                <a:lnTo>
                  <a:pt x="443345" y="3037432"/>
                </a:lnTo>
                <a:lnTo>
                  <a:pt x="487680" y="3003397"/>
                </a:lnTo>
                <a:lnTo>
                  <a:pt x="532014" y="2969361"/>
                </a:lnTo>
                <a:lnTo>
                  <a:pt x="576349" y="2935325"/>
                </a:lnTo>
                <a:lnTo>
                  <a:pt x="620683" y="2901288"/>
                </a:lnTo>
                <a:lnTo>
                  <a:pt x="665018" y="2867250"/>
                </a:lnTo>
                <a:lnTo>
                  <a:pt x="709352" y="2833212"/>
                </a:lnTo>
                <a:lnTo>
                  <a:pt x="753687" y="2799173"/>
                </a:lnTo>
                <a:lnTo>
                  <a:pt x="798021" y="2765132"/>
                </a:lnTo>
                <a:lnTo>
                  <a:pt x="842356" y="2731091"/>
                </a:lnTo>
                <a:lnTo>
                  <a:pt x="886690" y="2697049"/>
                </a:lnTo>
                <a:lnTo>
                  <a:pt x="931025" y="2663006"/>
                </a:lnTo>
                <a:lnTo>
                  <a:pt x="975360" y="2628961"/>
                </a:lnTo>
                <a:lnTo>
                  <a:pt x="1019694" y="2594916"/>
                </a:lnTo>
                <a:lnTo>
                  <a:pt x="1064029" y="2560869"/>
                </a:lnTo>
                <a:lnTo>
                  <a:pt x="1108363" y="2526821"/>
                </a:lnTo>
                <a:lnTo>
                  <a:pt x="1152698" y="2492771"/>
                </a:lnTo>
                <a:lnTo>
                  <a:pt x="1197032" y="2458721"/>
                </a:lnTo>
                <a:lnTo>
                  <a:pt x="1241367" y="2424669"/>
                </a:lnTo>
                <a:lnTo>
                  <a:pt x="1285701" y="2390615"/>
                </a:lnTo>
                <a:lnTo>
                  <a:pt x="1330036" y="2356560"/>
                </a:lnTo>
                <a:lnTo>
                  <a:pt x="1374370" y="2322503"/>
                </a:lnTo>
                <a:lnTo>
                  <a:pt x="1418705" y="2288445"/>
                </a:lnTo>
                <a:lnTo>
                  <a:pt x="1463040" y="2254384"/>
                </a:lnTo>
                <a:lnTo>
                  <a:pt x="1507374" y="2220323"/>
                </a:lnTo>
                <a:lnTo>
                  <a:pt x="1551709" y="2186259"/>
                </a:lnTo>
                <a:lnTo>
                  <a:pt x="1596043" y="2152193"/>
                </a:lnTo>
                <a:lnTo>
                  <a:pt x="1640378" y="2118126"/>
                </a:lnTo>
                <a:lnTo>
                  <a:pt x="1684712" y="2084057"/>
                </a:lnTo>
                <a:lnTo>
                  <a:pt x="1729047" y="2049985"/>
                </a:lnTo>
                <a:lnTo>
                  <a:pt x="1773381" y="2015912"/>
                </a:lnTo>
                <a:lnTo>
                  <a:pt x="1817716" y="1981836"/>
                </a:lnTo>
                <a:lnTo>
                  <a:pt x="1862050" y="1947758"/>
                </a:lnTo>
                <a:lnTo>
                  <a:pt x="1906385" y="1913679"/>
                </a:lnTo>
                <a:lnTo>
                  <a:pt x="1950720" y="1879596"/>
                </a:lnTo>
                <a:lnTo>
                  <a:pt x="1995054" y="1845512"/>
                </a:lnTo>
                <a:lnTo>
                  <a:pt x="2039389" y="1811425"/>
                </a:lnTo>
                <a:lnTo>
                  <a:pt x="2083723" y="1777335"/>
                </a:lnTo>
                <a:lnTo>
                  <a:pt x="2128058" y="1743243"/>
                </a:lnTo>
                <a:lnTo>
                  <a:pt x="2172392" y="1709149"/>
                </a:lnTo>
                <a:lnTo>
                  <a:pt x="2216727" y="1675052"/>
                </a:lnTo>
                <a:lnTo>
                  <a:pt x="2261061" y="1640952"/>
                </a:lnTo>
                <a:lnTo>
                  <a:pt x="2305396" y="1606850"/>
                </a:lnTo>
                <a:lnTo>
                  <a:pt x="2349730" y="1572745"/>
                </a:lnTo>
                <a:lnTo>
                  <a:pt x="2394065" y="1538637"/>
                </a:lnTo>
                <a:lnTo>
                  <a:pt x="2438400" y="1504526"/>
                </a:lnTo>
                <a:lnTo>
                  <a:pt x="2482734" y="1470412"/>
                </a:lnTo>
                <a:lnTo>
                  <a:pt x="2527069" y="1436296"/>
                </a:lnTo>
                <a:lnTo>
                  <a:pt x="2571403" y="1402176"/>
                </a:lnTo>
                <a:lnTo>
                  <a:pt x="2615738" y="1368053"/>
                </a:lnTo>
                <a:lnTo>
                  <a:pt x="2660072" y="1333927"/>
                </a:lnTo>
                <a:lnTo>
                  <a:pt x="2704407" y="1299798"/>
                </a:lnTo>
                <a:lnTo>
                  <a:pt x="2748741" y="1265666"/>
                </a:lnTo>
                <a:lnTo>
                  <a:pt x="2793076" y="1231530"/>
                </a:lnTo>
                <a:lnTo>
                  <a:pt x="2837410" y="1197391"/>
                </a:lnTo>
                <a:lnTo>
                  <a:pt x="2881745" y="1163248"/>
                </a:lnTo>
                <a:lnTo>
                  <a:pt x="2926080" y="1129103"/>
                </a:lnTo>
                <a:lnTo>
                  <a:pt x="2970414" y="1094953"/>
                </a:lnTo>
                <a:lnTo>
                  <a:pt x="3014749" y="1060800"/>
                </a:lnTo>
                <a:lnTo>
                  <a:pt x="3059083" y="1026644"/>
                </a:lnTo>
                <a:lnTo>
                  <a:pt x="3103418" y="992484"/>
                </a:lnTo>
                <a:lnTo>
                  <a:pt x="3147752" y="958320"/>
                </a:lnTo>
                <a:lnTo>
                  <a:pt x="3192087" y="924152"/>
                </a:lnTo>
                <a:lnTo>
                  <a:pt x="3236421" y="889980"/>
                </a:lnTo>
                <a:lnTo>
                  <a:pt x="3280756" y="855805"/>
                </a:lnTo>
                <a:lnTo>
                  <a:pt x="3325090" y="821626"/>
                </a:lnTo>
                <a:lnTo>
                  <a:pt x="3369425" y="787442"/>
                </a:lnTo>
                <a:lnTo>
                  <a:pt x="3413760" y="753255"/>
                </a:lnTo>
                <a:lnTo>
                  <a:pt x="3458094" y="719063"/>
                </a:lnTo>
                <a:lnTo>
                  <a:pt x="3502429" y="684868"/>
                </a:lnTo>
                <a:lnTo>
                  <a:pt x="3546763" y="650668"/>
                </a:lnTo>
                <a:lnTo>
                  <a:pt x="3591098" y="616464"/>
                </a:lnTo>
                <a:lnTo>
                  <a:pt x="3635432" y="582255"/>
                </a:lnTo>
                <a:lnTo>
                  <a:pt x="3679767" y="548043"/>
                </a:lnTo>
                <a:lnTo>
                  <a:pt x="3724101" y="513825"/>
                </a:lnTo>
                <a:lnTo>
                  <a:pt x="3768436" y="479604"/>
                </a:lnTo>
                <a:lnTo>
                  <a:pt x="3812770" y="445378"/>
                </a:lnTo>
                <a:lnTo>
                  <a:pt x="3857105" y="411147"/>
                </a:lnTo>
                <a:lnTo>
                  <a:pt x="3901440" y="376911"/>
                </a:lnTo>
                <a:lnTo>
                  <a:pt x="3945774" y="342671"/>
                </a:lnTo>
                <a:lnTo>
                  <a:pt x="3990109" y="308426"/>
                </a:lnTo>
                <a:lnTo>
                  <a:pt x="4034443" y="274177"/>
                </a:lnTo>
                <a:lnTo>
                  <a:pt x="4078778" y="239922"/>
                </a:lnTo>
                <a:lnTo>
                  <a:pt x="4123112" y="205663"/>
                </a:lnTo>
                <a:lnTo>
                  <a:pt x="4167447" y="171398"/>
                </a:lnTo>
                <a:lnTo>
                  <a:pt x="4211781" y="137129"/>
                </a:lnTo>
                <a:lnTo>
                  <a:pt x="4256116" y="102855"/>
                </a:lnTo>
                <a:lnTo>
                  <a:pt x="4300450" y="68575"/>
                </a:lnTo>
                <a:lnTo>
                  <a:pt x="4344785" y="34290"/>
                </a:lnTo>
                <a:lnTo>
                  <a:pt x="438912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4-E34 ellipse 37" descr="sci-ppt:o037"/>
          <p:cNvSpPr/>
          <p:nvPr/>
        </p:nvSpPr>
        <p:spPr>
          <a:xfrm>
            <a:off x="8119872" y="4099262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4-E34 text 38" descr="sci-ppt:o038"/>
          <p:cNvSpPr txBox="1"/>
          <p:nvPr/>
        </p:nvSpPr>
        <p:spPr>
          <a:xfrm>
            <a:off x="8330184" y="4355294"/>
            <a:ext cx="2560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θ = 1°: Δx = 1.7455 µm</a:t>
            </a:r>
          </a:p>
        </p:txBody>
      </p:sp>
      <p:sp>
        <p:nvSpPr>
          <p:cNvPr id="41" name="C4-E34 round_rect 39" descr="sci-ppt:o039"/>
          <p:cNvSpPr/>
          <p:nvPr/>
        </p:nvSpPr>
        <p:spPr>
          <a:xfrm>
            <a:off x="365760" y="914400"/>
            <a:ext cx="594360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4-E34 text 40" descr="sci-ppt:o040"/>
          <p:cNvSpPr txBox="1"/>
          <p:nvPr/>
        </p:nvSpPr>
        <p:spPr>
          <a:xfrm>
            <a:off x="475488" y="969264"/>
            <a:ext cx="5724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Ballistic placement</a:t>
            </a:r>
          </a:p>
        </p:txBody>
      </p:sp>
      <p:sp>
        <p:nvSpPr>
          <p:cNvPr id="43" name="C4-E34 rect 41" descr="sci-ppt:o041"/>
          <p:cNvSpPr/>
          <p:nvPr/>
        </p:nvSpPr>
        <p:spPr>
          <a:xfrm>
            <a:off x="731520" y="1554480"/>
            <a:ext cx="5212080" cy="274320"/>
          </a:xfrm>
          <a:prstGeom prst="rect">
            <a:avLst/>
          </a:prstGeom>
          <a:solidFill>
            <a:srgbClr val="3A5362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4-E34 text 42" descr="sci-ppt:o042"/>
          <p:cNvSpPr txBox="1"/>
          <p:nvPr/>
        </p:nvSpPr>
        <p:spPr>
          <a:xfrm>
            <a:off x="731520" y="1280160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exit plane (jet source)</a:t>
            </a:r>
          </a:p>
        </p:txBody>
      </p:sp>
      <p:sp>
        <p:nvSpPr>
          <p:cNvPr id="45" name="C4-E34 rect 43" descr="sci-ppt:o043"/>
          <p:cNvSpPr/>
          <p:nvPr/>
        </p:nvSpPr>
        <p:spPr>
          <a:xfrm>
            <a:off x="731520" y="4023360"/>
            <a:ext cx="5212080" cy="274320"/>
          </a:xfrm>
          <a:prstGeom prst="rect">
            <a:avLst/>
          </a:prstGeom>
          <a:solidFill>
            <a:srgbClr val="3A5362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4-E34 text 44" descr="sci-ppt:o044"/>
          <p:cNvSpPr txBox="1"/>
          <p:nvPr/>
        </p:nvSpPr>
        <p:spPr>
          <a:xfrm>
            <a:off x="731520" y="4343400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film plane</a:t>
            </a:r>
          </a:p>
        </p:txBody>
      </p:sp>
      <p:cxnSp>
        <p:nvCxnSpPr>
          <p:cNvPr id="47" name="C4-E34 line 45" descr="sci-ppt:o045"/>
          <p:cNvCxnSpPr/>
          <p:nvPr/>
        </p:nvCxnSpPr>
        <p:spPr>
          <a:xfrm>
            <a:off x="2377440" y="1828800"/>
            <a:ext cx="0" cy="2194560"/>
          </a:xfrm>
          <a:prstGeom prst="line">
            <a:avLst/>
          </a:prstGeom>
          <a:ln w="16510">
            <a:solidFill>
              <a:srgbClr val="B4C7D2"/>
            </a:solidFill>
            <a:prstDash val="dash"/>
          </a:ln>
          <a:effectLst/>
        </p:spPr>
      </p:cxnSp>
      <p:cxnSp>
        <p:nvCxnSpPr>
          <p:cNvPr id="48" name="C4-E34 arrow 46" descr="sci-ppt:o046"/>
          <p:cNvCxnSpPr/>
          <p:nvPr/>
        </p:nvCxnSpPr>
        <p:spPr>
          <a:xfrm>
            <a:off x="2377440" y="1828800"/>
            <a:ext cx="685800" cy="2148839"/>
          </a:xfrm>
          <a:prstGeom prst="line">
            <a:avLst/>
          </a:prstGeom>
          <a:ln w="4445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49" name="C4-E34 line 47" descr="sci-ppt:o047"/>
          <p:cNvCxnSpPr/>
          <p:nvPr/>
        </p:nvCxnSpPr>
        <p:spPr>
          <a:xfrm>
            <a:off x="640080" y="1828800"/>
            <a:ext cx="0" cy="219456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50" name="C4-E34 line 48" descr="sci-ppt:o048"/>
          <p:cNvCxnSpPr/>
          <p:nvPr/>
        </p:nvCxnSpPr>
        <p:spPr>
          <a:xfrm flipH="1">
            <a:off x="576071" y="1828800"/>
            <a:ext cx="128017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51" name="C4-E34 line 49" descr="sci-ppt:o049"/>
          <p:cNvCxnSpPr/>
          <p:nvPr/>
        </p:nvCxnSpPr>
        <p:spPr>
          <a:xfrm flipH="1">
            <a:off x="576071" y="4023360"/>
            <a:ext cx="128017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52" name="C4-E34 text 50" descr="sci-ppt:o050"/>
          <p:cNvSpPr txBox="1"/>
          <p:nvPr/>
        </p:nvSpPr>
        <p:spPr>
          <a:xfrm>
            <a:off x="-457200" y="2834640"/>
            <a:ext cx="1828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H_f</a:t>
            </a:r>
          </a:p>
        </p:txBody>
      </p:sp>
      <p:cxnSp>
        <p:nvCxnSpPr>
          <p:cNvPr id="53" name="C4-E34 line 51" descr="sci-ppt:o051"/>
          <p:cNvCxnSpPr/>
          <p:nvPr/>
        </p:nvCxnSpPr>
        <p:spPr>
          <a:xfrm>
            <a:off x="2377440" y="4526280"/>
            <a:ext cx="731520" cy="0"/>
          </a:xfrm>
          <a:prstGeom prst="line">
            <a:avLst/>
          </a:prstGeom>
          <a:ln w="16510">
            <a:solidFill>
              <a:srgbClr val="F28BA0"/>
            </a:solidFill>
          </a:ln>
          <a:effectLst/>
        </p:spPr>
      </p:cxnSp>
      <p:cxnSp>
        <p:nvCxnSpPr>
          <p:cNvPr id="54" name="C4-E34 line 52" descr="sci-ppt:o052"/>
          <p:cNvCxnSpPr/>
          <p:nvPr/>
        </p:nvCxnSpPr>
        <p:spPr>
          <a:xfrm>
            <a:off x="2377440" y="4462272"/>
            <a:ext cx="0" cy="128016"/>
          </a:xfrm>
          <a:prstGeom prst="line">
            <a:avLst/>
          </a:prstGeom>
          <a:ln w="16510">
            <a:solidFill>
              <a:srgbClr val="F28BA0"/>
            </a:solidFill>
          </a:ln>
          <a:effectLst/>
        </p:spPr>
      </p:cxnSp>
      <p:cxnSp>
        <p:nvCxnSpPr>
          <p:cNvPr id="55" name="C4-E34 line 53" descr="sci-ppt:o053"/>
          <p:cNvCxnSpPr/>
          <p:nvPr/>
        </p:nvCxnSpPr>
        <p:spPr>
          <a:xfrm>
            <a:off x="3108960" y="4462272"/>
            <a:ext cx="0" cy="128016"/>
          </a:xfrm>
          <a:prstGeom prst="line">
            <a:avLst/>
          </a:prstGeom>
          <a:ln w="16510">
            <a:solidFill>
              <a:srgbClr val="F28BA0"/>
            </a:solidFill>
          </a:ln>
          <a:effectLst/>
        </p:spPr>
      </p:cxnSp>
      <p:sp>
        <p:nvSpPr>
          <p:cNvPr id="56" name="C4-E34 text 54" descr="sci-ppt:o054"/>
          <p:cNvSpPr txBox="1"/>
          <p:nvPr/>
        </p:nvSpPr>
        <p:spPr>
          <a:xfrm>
            <a:off x="1828800" y="4248150"/>
            <a:ext cx="1828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F28BA0"/>
                </a:solidFill>
                <a:latin typeface="Arial"/>
              </a:rPr>
              <a:t>Δx</a:t>
            </a:r>
          </a:p>
        </p:txBody>
      </p:sp>
      <p:sp>
        <p:nvSpPr>
          <p:cNvPr id="57" name="C4-E34 text 55" descr="sci-ppt:o055"/>
          <p:cNvSpPr txBox="1"/>
          <p:nvPr/>
        </p:nvSpPr>
        <p:spPr>
          <a:xfrm>
            <a:off x="3291840" y="2560320"/>
            <a:ext cx="25603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θ</a:t>
            </a:r>
          </a:p>
        </p:txBody>
      </p:sp>
      <p:sp>
        <p:nvSpPr>
          <p:cNvPr id="58" name="C4-E34 text 56" descr="sci-ppt:o056"/>
          <p:cNvSpPr txBox="1"/>
          <p:nvPr/>
        </p:nvSpPr>
        <p:spPr>
          <a:xfrm>
            <a:off x="548640" y="4983480"/>
            <a:ext cx="55778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Δx = H_f tan θ,   H_f = 100 µm,   θ = 1° ⇒ Δx = 1.74551 µm</a:t>
            </a:r>
          </a:p>
        </p:txBody>
      </p:sp>
      <p:sp>
        <p:nvSpPr>
          <p:cNvPr id="59" name="C4-E34 text 57" descr="sci-ppt:o057"/>
          <p:cNvSpPr txBox="1"/>
          <p:nvPr/>
        </p:nvSpPr>
        <p:spPr>
          <a:xfrm>
            <a:off x="6583680" y="5623560"/>
            <a:ext cx="512064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A receiving gap converts a small angular error into a placement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error; compare Δx with the feature size.</a:t>
            </a:r>
          </a:p>
        </p:txBody>
      </p:sp>
      <p:sp>
        <p:nvSpPr>
          <p:cNvPr id="60" name="C4-E34 text 58" descr="sci-ppt:o05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Ballistic placement of Eq. C4-E34 (the sketch angle is exaggerated).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