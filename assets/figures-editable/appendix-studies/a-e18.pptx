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18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A-E18 · Teaching response-time comparison</a:t>
            </a:r>
          </a:p>
        </p:txBody>
      </p:sp>
      <p:sp>
        <p:nvSpPr>
          <p:cNvPr id="3" name="A-E18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How long does the gel need to answer, compared with the collapse it is meant to follow?</a:t>
            </a:r>
          </a:p>
        </p:txBody>
      </p:sp>
      <p:sp>
        <p:nvSpPr>
          <p:cNvPr id="4" name="A-E18 text 2" descr="sci-ppt:o002"/>
          <p:cNvSpPr txBox="1"/>
          <p:nvPr/>
        </p:nvSpPr>
        <p:spPr>
          <a:xfrm>
            <a:off x="457200" y="1481328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shear-wave crossing  tₛ = L_g / cₛ</a:t>
            </a:r>
          </a:p>
        </p:txBody>
      </p:sp>
      <p:sp>
        <p:nvSpPr>
          <p:cNvPr id="5" name="A-E18 rect 3" descr="sci-ppt:o003"/>
          <p:cNvSpPr/>
          <p:nvPr/>
        </p:nvSpPr>
        <p:spPr>
          <a:xfrm>
            <a:off x="5029200" y="1463040"/>
            <a:ext cx="4523811" cy="548640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A-E18 text 4" descr="sci-ppt:o004"/>
          <p:cNvSpPr txBox="1"/>
          <p:nvPr/>
        </p:nvSpPr>
        <p:spPr>
          <a:xfrm>
            <a:off x="9626163" y="1508760"/>
            <a:ext cx="1371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6.7082 µs</a:t>
            </a:r>
          </a:p>
        </p:txBody>
      </p:sp>
      <p:sp>
        <p:nvSpPr>
          <p:cNvPr id="7" name="A-E18 text 5" descr="sci-ppt:o005"/>
          <p:cNvSpPr txBox="1"/>
          <p:nvPr/>
        </p:nvSpPr>
        <p:spPr>
          <a:xfrm>
            <a:off x="457200" y="2350008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ideal liquid collapse  t_c,liq</a:t>
            </a:r>
          </a:p>
        </p:txBody>
      </p:sp>
      <p:sp>
        <p:nvSpPr>
          <p:cNvPr id="8" name="A-E18 rect 6" descr="sci-ppt:o006"/>
          <p:cNvSpPr/>
          <p:nvPr/>
        </p:nvSpPr>
        <p:spPr>
          <a:xfrm>
            <a:off x="5029200" y="2331720"/>
            <a:ext cx="1850500" cy="54864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A-E18 text 7" descr="sci-ppt:o007"/>
          <p:cNvSpPr txBox="1"/>
          <p:nvPr/>
        </p:nvSpPr>
        <p:spPr>
          <a:xfrm>
            <a:off x="6952852" y="2377439"/>
            <a:ext cx="1371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2.7440 µs</a:t>
            </a:r>
          </a:p>
        </p:txBody>
      </p:sp>
      <p:sp>
        <p:nvSpPr>
          <p:cNvPr id="10" name="A-E18 round_rect 8" descr="sci-ppt:o008"/>
          <p:cNvSpPr/>
          <p:nvPr/>
        </p:nvSpPr>
        <p:spPr>
          <a:xfrm>
            <a:off x="457200" y="3566160"/>
            <a:ext cx="5486400" cy="21031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A-E18 text 9" descr="sci-ppt:o009"/>
          <p:cNvSpPr txBox="1"/>
          <p:nvPr/>
        </p:nvSpPr>
        <p:spPr>
          <a:xfrm>
            <a:off x="566928" y="3621024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Numbers</a:t>
            </a:r>
          </a:p>
        </p:txBody>
      </p:sp>
      <p:sp>
        <p:nvSpPr>
          <p:cNvPr id="12" name="A-E18 text 10" descr="sci-ppt:o010"/>
          <p:cNvSpPr txBox="1"/>
          <p:nvPr/>
        </p:nvSpPr>
        <p:spPr>
          <a:xfrm>
            <a:off x="594360" y="402336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cₛ = √(G_g/ρ_g) = 4.47213595 m/s</a:t>
            </a:r>
          </a:p>
        </p:txBody>
      </p:sp>
      <p:sp>
        <p:nvSpPr>
          <p:cNvPr id="13" name="A-E18 text 11" descr="sci-ppt:o011"/>
          <p:cNvSpPr txBox="1"/>
          <p:nvPr/>
        </p:nvSpPr>
        <p:spPr>
          <a:xfrm>
            <a:off x="594360" y="452628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tₛ = 30 µm / cₛ = 6.70820393 µs</a:t>
            </a:r>
          </a:p>
        </p:txBody>
      </p:sp>
      <p:sp>
        <p:nvSpPr>
          <p:cNvPr id="14" name="A-E18 text 12" descr="sci-ppt:o012"/>
          <p:cNvSpPr txBox="1"/>
          <p:nvPr/>
        </p:nvSpPr>
        <p:spPr>
          <a:xfrm>
            <a:off x="594360" y="5029200"/>
            <a:ext cx="52120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t_c,liq = 0.91468 Rₘₐₓ √(ρₗ/Δp_c) = 2.74404407 µs</a:t>
            </a:r>
          </a:p>
        </p:txBody>
      </p:sp>
      <p:sp>
        <p:nvSpPr>
          <p:cNvPr id="15" name="A-E18 round_rect 13" descr="sci-ppt:o013"/>
          <p:cNvSpPr/>
          <p:nvPr/>
        </p:nvSpPr>
        <p:spPr>
          <a:xfrm>
            <a:off x="6217920" y="3566160"/>
            <a:ext cx="5486400" cy="21031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A-E18 text 14" descr="sci-ppt:o014"/>
          <p:cNvSpPr txBox="1"/>
          <p:nvPr/>
        </p:nvSpPr>
        <p:spPr>
          <a:xfrm>
            <a:off x="6327648" y="3621024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Ratio</a:t>
            </a:r>
          </a:p>
        </p:txBody>
      </p:sp>
      <p:sp>
        <p:nvSpPr>
          <p:cNvPr id="17" name="A-E18 text 15" descr="sci-ppt:o015"/>
          <p:cNvSpPr txBox="1"/>
          <p:nvPr/>
        </p:nvSpPr>
        <p:spPr>
          <a:xfrm>
            <a:off x="6355080" y="4114800"/>
            <a:ext cx="521208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tₛ / t_c,liq = 2.44464147</a:t>
            </a:r>
          </a:p>
        </p:txBody>
      </p:sp>
      <p:sp>
        <p:nvSpPr>
          <p:cNvPr id="18" name="A-E18 text 16" descr="sci-ppt:o016"/>
          <p:cNvSpPr txBox="1"/>
          <p:nvPr/>
        </p:nvSpPr>
        <p:spPr>
          <a:xfrm>
            <a:off x="6355080" y="4754880"/>
            <a:ext cx="52120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The gel communicates slower than the ideal liquid collapses: it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cannot be treated as quasi-static over the event.</a:t>
            </a:r>
          </a:p>
        </p:txBody>
      </p:sp>
      <p:sp>
        <p:nvSpPr>
          <p:cNvPr id="19" name="A-E18 text 17" descr="sci-ppt:o017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Teaching response-time comparison of Eq. A-E18 (Rₘₐₓ = 30 µm, ρₗ = 1000 kg/m³, Δp_c = 100 kPa, L_g = 30 µm).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