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961120" cy="60807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 descr="sci-ppt:obj-000"/>
          <p:cNvSpPr txBox="1"/>
          <p:nvPr/>
        </p:nvSpPr>
        <p:spPr>
          <a:xfrm>
            <a:off x="256032" y="137160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39" b="0" i="0">
                <a:solidFill>
                  <a:srgbClr val="8EDBD4"/>
                </a:solidFill>
                <a:latin typeface="Arial"/>
              </a:rPr>
              <a:t>A-E18 · Physical variable map</a:t>
            </a:r>
          </a:p>
        </p:txBody>
      </p:sp>
      <p:sp>
        <p:nvSpPr>
          <p:cNvPr id="3" name="text 1" descr="sci-ppt:obj-001"/>
          <p:cNvSpPr txBox="1"/>
          <p:nvPr/>
        </p:nvSpPr>
        <p:spPr>
          <a:xfrm>
            <a:off x="886968" y="612648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Comparison of two declared controls</a:t>
            </a:r>
          </a:p>
        </p:txBody>
      </p:sp>
      <p:sp>
        <p:nvSpPr>
          <p:cNvPr id="4" name="rect 2" descr="sci-ppt:obj-002"/>
          <p:cNvSpPr/>
          <p:nvPr/>
        </p:nvSpPr>
        <p:spPr>
          <a:xfrm>
            <a:off x="996696" y="1088136"/>
            <a:ext cx="5577840" cy="365760"/>
          </a:xfrm>
          <a:prstGeom prst="rect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3" descr="sci-ppt:obj-003"/>
          <p:cNvSpPr txBox="1"/>
          <p:nvPr/>
        </p:nvSpPr>
        <p:spPr>
          <a:xfrm>
            <a:off x="1188720" y="1143000"/>
            <a:ext cx="512064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ts = 6.70820 µs — shear transit</a:t>
            </a:r>
          </a:p>
        </p:txBody>
      </p:sp>
      <p:sp>
        <p:nvSpPr>
          <p:cNvPr id="6" name="rect 4" descr="sci-ppt:obj-004"/>
          <p:cNvSpPr/>
          <p:nvPr/>
        </p:nvSpPr>
        <p:spPr>
          <a:xfrm>
            <a:off x="996696" y="1892807"/>
            <a:ext cx="2286000" cy="365760"/>
          </a:xfrm>
          <a:prstGeom prst="rect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 5" descr="sci-ppt:obj-005"/>
          <p:cNvSpPr txBox="1"/>
          <p:nvPr/>
        </p:nvSpPr>
        <p:spPr>
          <a:xfrm>
            <a:off x="1188720" y="1947672"/>
            <a:ext cx="210312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tc,liq = 2.74404 µs</a:t>
            </a:r>
          </a:p>
        </p:txBody>
      </p:sp>
      <p:sp>
        <p:nvSpPr>
          <p:cNvPr id="8" name="text 6" descr="sci-ppt:obj-006"/>
          <p:cNvSpPr txBox="1"/>
          <p:nvPr/>
        </p:nvSpPr>
        <p:spPr>
          <a:xfrm>
            <a:off x="3566160" y="1965960"/>
            <a:ext cx="3749039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24" b="0" i="0">
                <a:solidFill>
                  <a:srgbClr val="E7F0F3"/>
                </a:solidFill>
                <a:latin typeface="Arial"/>
              </a:rPr>
              <a:t>Ideal liquid collapse</a:t>
            </a:r>
          </a:p>
        </p:txBody>
      </p:sp>
      <p:sp>
        <p:nvSpPr>
          <p:cNvPr id="9" name="text 7" descr="sci-ppt:obj-007"/>
          <p:cNvSpPr txBox="1"/>
          <p:nvPr/>
        </p:nvSpPr>
        <p:spPr>
          <a:xfrm>
            <a:off x="1005840" y="2670048"/>
            <a:ext cx="7498079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ts / tc,liq = 2.44464 ; Lg = Rmax = 30 µm</a:t>
            </a:r>
          </a:p>
        </p:txBody>
      </p:sp>
      <p:sp>
        <p:nvSpPr>
          <p:cNvPr id="10" name="text 8" descr="sci-ppt:obj-008"/>
          <p:cNvSpPr txBox="1"/>
          <p:nvPr/>
        </p:nvSpPr>
        <p:spPr>
          <a:xfrm>
            <a:off x="256032" y="3465576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8EDBD4"/>
                </a:solidFill>
                <a:latin typeface="Arial"/>
              </a:rPr>
              <a:t>Variables and physical limits</a:t>
            </a:r>
          </a:p>
        </p:txBody>
      </p:sp>
      <p:sp>
        <p:nvSpPr>
          <p:cNvPr id="11" name="text 9" descr="sci-ppt:obj-009"/>
          <p:cNvSpPr txBox="1"/>
          <p:nvPr/>
        </p:nvSpPr>
        <p:spPr>
          <a:xfrm>
            <a:off x="365760" y="381304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Lg = Rmax = 30 µm</a:t>
            </a:r>
          </a:p>
        </p:txBody>
      </p:sp>
      <p:sp>
        <p:nvSpPr>
          <p:cNvPr id="12" name="text 10" descr="sci-ppt:obj-010"/>
          <p:cNvSpPr txBox="1"/>
          <p:nvPr/>
        </p:nvSpPr>
        <p:spPr>
          <a:xfrm>
            <a:off x="365760" y="402336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Gg = 20 kPa</a:t>
            </a:r>
          </a:p>
        </p:txBody>
      </p:sp>
      <p:sp>
        <p:nvSpPr>
          <p:cNvPr id="13" name="text 11" descr="sci-ppt:obj-011"/>
          <p:cNvSpPr txBox="1"/>
          <p:nvPr/>
        </p:nvSpPr>
        <p:spPr>
          <a:xfrm>
            <a:off x="365760" y="4233672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ρg = ρl = 1000 kg/m³</a:t>
            </a:r>
          </a:p>
        </p:txBody>
      </p:sp>
      <p:sp>
        <p:nvSpPr>
          <p:cNvPr id="14" name="text 12" descr="sci-ppt:obj-012"/>
          <p:cNvSpPr txBox="1"/>
          <p:nvPr/>
        </p:nvSpPr>
        <p:spPr>
          <a:xfrm>
            <a:off x="365760" y="4443984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cs = 4.47214 m/s</a:t>
            </a:r>
          </a:p>
        </p:txBody>
      </p:sp>
      <p:sp>
        <p:nvSpPr>
          <p:cNvPr id="15" name="text 13" descr="sci-ppt:obj-013"/>
          <p:cNvSpPr txBox="1"/>
          <p:nvPr/>
        </p:nvSpPr>
        <p:spPr>
          <a:xfrm>
            <a:off x="365760" y="4654296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ts = 6.70820 µs</a:t>
            </a:r>
          </a:p>
        </p:txBody>
      </p:sp>
      <p:sp>
        <p:nvSpPr>
          <p:cNvPr id="16" name="text 14" descr="sci-ppt:obj-014"/>
          <p:cNvSpPr txBox="1"/>
          <p:nvPr/>
        </p:nvSpPr>
        <p:spPr>
          <a:xfrm>
            <a:off x="365760" y="486460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tc,liq = 2.74404 µs</a:t>
            </a:r>
          </a:p>
        </p:txBody>
      </p:sp>
      <p:sp>
        <p:nvSpPr>
          <p:cNvPr id="17" name="text 15" descr="sci-ppt:obj-015"/>
          <p:cNvSpPr txBox="1"/>
          <p:nvPr/>
        </p:nvSpPr>
        <p:spPr>
          <a:xfrm>
            <a:off x="365760" y="507492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Δpc = 100 kPa</a:t>
            </a:r>
          </a:p>
        </p:txBody>
      </p:sp>
      <p:sp>
        <p:nvSpPr>
          <p:cNvPr id="18" name="text 16" descr="sci-ppt:obj-016"/>
          <p:cNvSpPr txBox="1"/>
          <p:nvPr/>
        </p:nvSpPr>
        <p:spPr>
          <a:xfrm>
            <a:off x="365760" y="5285232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Compare two distinct controls, not an actual gel-collapse prediction</a:t>
            </a:r>
          </a:p>
        </p:txBody>
      </p:sp>
      <p:sp>
        <p:nvSpPr>
          <p:cNvPr id="19" name="text 17" descr="sci-ppt:obj-017"/>
          <p:cNvSpPr txBox="1"/>
          <p:nvPr/>
        </p:nvSpPr>
        <p:spPr>
          <a:xfrm>
            <a:off x="365760" y="5495544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Support deformation need not equilibrate during the event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