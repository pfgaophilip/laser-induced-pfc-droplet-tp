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28443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84433"/>
          </a:xfrm>
          <a:custGeom>
            <a:avLst/>
            <a:gdLst/>
            <a:ahLst/>
            <a:cxnLst/>
            <a:rect l="l" t="t" r="r" b="b"/>
            <a:pathLst>
              <a:path w="12191695" h="5284433">
                <a:moveTo>
                  <a:pt x="0" y="5284433"/>
                </a:moveTo>
                <a:lnTo>
                  <a:pt x="12191695" y="5284433"/>
                </a:lnTo>
                <a:lnTo>
                  <a:pt x="12191695" y="0"/>
                </a:lnTo>
                <a:lnTo>
                  <a:pt x="0" y="0"/>
                </a:lnTo>
                <a:lnTo>
                  <a:pt x="0" y="5284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66155" y="417808"/>
            <a:ext cx="5128086" cy="4151483"/>
          </a:xfrm>
          <a:custGeom>
            <a:avLst/>
            <a:gdLst/>
            <a:ahLst/>
            <a:cxnLst/>
            <a:rect l="l" t="t" r="r" b="b"/>
            <a:pathLst>
              <a:path w="5128086" h="4151483">
                <a:moveTo>
                  <a:pt x="0" y="4151483"/>
                </a:moveTo>
                <a:lnTo>
                  <a:pt x="5128086" y="4151483"/>
                </a:lnTo>
                <a:lnTo>
                  <a:pt x="5128086" y="0"/>
                </a:lnTo>
                <a:lnTo>
                  <a:pt x="0" y="0"/>
                </a:lnTo>
                <a:lnTo>
                  <a:pt x="0" y="4151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999250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999250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6" name="text 5: 1.000" descr="sci-ppt:obj-0005"/>
          <p:cNvSpPr txBox="1"/>
          <p:nvPr/>
        </p:nvSpPr>
        <p:spPr>
          <a:xfrm>
            <a:off x="703850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1.000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1581987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1581987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" name="text 8: 1.025" descr="sci-ppt:obj-0008"/>
          <p:cNvSpPr txBox="1"/>
          <p:nvPr/>
        </p:nvSpPr>
        <p:spPr>
          <a:xfrm>
            <a:off x="1286587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1.025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164724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164724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2" name="text 11: 1.050" descr="sci-ppt:obj-0011"/>
          <p:cNvSpPr txBox="1"/>
          <p:nvPr/>
        </p:nvSpPr>
        <p:spPr>
          <a:xfrm>
            <a:off x="1869324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1.050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2747461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2747461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5" name="text 14: 1.075" descr="sci-ppt:obj-0014"/>
          <p:cNvSpPr txBox="1"/>
          <p:nvPr/>
        </p:nvSpPr>
        <p:spPr>
          <a:xfrm>
            <a:off x="2452061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1.075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3330198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3330198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8" name="text 17: 1.100" descr="sci-ppt:obj-0017"/>
          <p:cNvSpPr txBox="1"/>
          <p:nvPr/>
        </p:nvSpPr>
        <p:spPr>
          <a:xfrm>
            <a:off x="3034798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1.100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 flipV="1">
            <a:off x="3912935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3912935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21" name="text 20: 1.125" descr="sci-ppt:obj-0020"/>
          <p:cNvSpPr txBox="1"/>
          <p:nvPr/>
        </p:nvSpPr>
        <p:spPr>
          <a:xfrm>
            <a:off x="3617535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1.125</a:t>
            </a:r>
          </a:p>
        </p:txBody>
      </p:sp>
      <p:cxnSp>
        <p:nvCxnSpPr>
          <p:cNvPr id="22" name="line 21: plot geometry" descr="sci-ppt:obj-0021"/>
          <p:cNvCxnSpPr/>
          <p:nvPr/>
        </p:nvCxnSpPr>
        <p:spPr>
          <a:xfrm flipV="1">
            <a:off x="4495672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4495672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24" name="text 23: 1.150" descr="sci-ppt:obj-0023"/>
          <p:cNvSpPr txBox="1"/>
          <p:nvPr/>
        </p:nvSpPr>
        <p:spPr>
          <a:xfrm>
            <a:off x="4200272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1.150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 flipV="1">
            <a:off x="5078409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078409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27" name="text 26: 1.175" descr="sci-ppt:obj-0026"/>
          <p:cNvSpPr txBox="1"/>
          <p:nvPr/>
        </p:nvSpPr>
        <p:spPr>
          <a:xfrm>
            <a:off x="4783009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1.175</a:t>
            </a:r>
          </a:p>
        </p:txBody>
      </p:sp>
      <p:cxnSp>
        <p:nvCxnSpPr>
          <p:cNvPr id="28" name="line 27: plot geometry" descr="sci-ppt:obj-0027"/>
          <p:cNvCxnSpPr/>
          <p:nvPr/>
        </p:nvCxnSpPr>
        <p:spPr>
          <a:xfrm flipV="1">
            <a:off x="5661146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9" name="line 28: plot geometry" descr="sci-ppt:obj-0028"/>
          <p:cNvCxnSpPr/>
          <p:nvPr/>
        </p:nvCxnSpPr>
        <p:spPr>
          <a:xfrm>
            <a:off x="5661146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30" name="text 29: 1.200" descr="sci-ppt:obj-0029"/>
          <p:cNvSpPr txBox="1"/>
          <p:nvPr/>
        </p:nvSpPr>
        <p:spPr>
          <a:xfrm>
            <a:off x="5365746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1.200</a:t>
            </a:r>
          </a:p>
        </p:txBody>
      </p:sp>
      <p:sp>
        <p:nvSpPr>
          <p:cNvPr id="31" name="text 30: Wall radius / unstressed radius" descr="sci-ppt:obj-0030"/>
          <p:cNvSpPr txBox="1"/>
          <p:nvPr/>
        </p:nvSpPr>
        <p:spPr>
          <a:xfrm>
            <a:off x="1864950" y="4911849"/>
            <a:ext cx="3497151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Wall radius / unstressed radius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766155" y="438058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700633" y="438058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34" name="text 33: 0" descr="sci-ppt:obj-0033"/>
          <p:cNvSpPr txBox="1"/>
          <p:nvPr/>
        </p:nvSpPr>
        <p:spPr>
          <a:xfrm>
            <a:off x="488569" y="4258881"/>
            <a:ext cx="183603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766155" y="374329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700633" y="374329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37" name="text 36: 10" descr="sci-ppt:obj-0036"/>
          <p:cNvSpPr txBox="1"/>
          <p:nvPr/>
        </p:nvSpPr>
        <p:spPr>
          <a:xfrm>
            <a:off x="369459" y="362159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766155" y="310600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700633" y="310600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0" name="text 39: 20" descr="sci-ppt:obj-0039"/>
          <p:cNvSpPr txBox="1"/>
          <p:nvPr/>
        </p:nvSpPr>
        <p:spPr>
          <a:xfrm>
            <a:off x="369459" y="298430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766155" y="246871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700633" y="246871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3" name="text 42: 30" descr="sci-ppt:obj-0042"/>
          <p:cNvSpPr txBox="1"/>
          <p:nvPr/>
        </p:nvSpPr>
        <p:spPr>
          <a:xfrm>
            <a:off x="369459" y="234701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766155" y="183142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700633" y="183142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6" name="text 45: 40" descr="sci-ppt:obj-0045"/>
          <p:cNvSpPr txBox="1"/>
          <p:nvPr/>
        </p:nvSpPr>
        <p:spPr>
          <a:xfrm>
            <a:off x="369459" y="170972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47" name="line 46: plot geometry" descr="sci-ppt:obj-0046"/>
          <p:cNvCxnSpPr/>
          <p:nvPr/>
        </p:nvCxnSpPr>
        <p:spPr>
          <a:xfrm>
            <a:off x="766155" y="119413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 flipH="1">
            <a:off x="700633" y="119413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9" name="text 48: 50" descr="sci-ppt:obj-0048"/>
          <p:cNvSpPr txBox="1"/>
          <p:nvPr/>
        </p:nvSpPr>
        <p:spPr>
          <a:xfrm>
            <a:off x="369459" y="107243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50" name="line 49: plot geometry" descr="sci-ppt:obj-0049"/>
          <p:cNvCxnSpPr/>
          <p:nvPr/>
        </p:nvCxnSpPr>
        <p:spPr>
          <a:xfrm>
            <a:off x="766155" y="55684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1" name="line 50: plot geometry" descr="sci-ppt:obj-0050"/>
          <p:cNvCxnSpPr/>
          <p:nvPr/>
        </p:nvCxnSpPr>
        <p:spPr>
          <a:xfrm flipH="1">
            <a:off x="700633" y="55684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52" name="text 51: 60" descr="sci-ppt:obj-0051"/>
          <p:cNvSpPr txBox="1"/>
          <p:nvPr/>
        </p:nvSpPr>
        <p:spPr>
          <a:xfrm>
            <a:off x="369459" y="43514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53" name="text 52: Elastic resistance (kPa)" descr="sci-ppt:obj-0052"/>
          <p:cNvSpPr txBox="1"/>
          <p:nvPr/>
        </p:nvSpPr>
        <p:spPr>
          <a:xfrm rot="16200000">
            <a:off x="-1052094" y="2367185"/>
            <a:ext cx="2481350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Elastic resistance (kPa)</a:t>
            </a:r>
          </a:p>
        </p:txBody>
      </p:sp>
      <p:sp>
        <p:nvSpPr>
          <p:cNvPr id="54" name="polygon 53: plot geometry" descr="sci-ppt:obj-0053"/>
          <p:cNvSpPr/>
          <p:nvPr/>
        </p:nvSpPr>
        <p:spPr>
          <a:xfrm>
            <a:off x="999250" y="4191883"/>
            <a:ext cx="4661896" cy="188704"/>
          </a:xfrm>
          <a:custGeom>
            <a:avLst/>
            <a:gdLst/>
            <a:ahLst/>
            <a:cxnLst/>
            <a:rect l="l" t="t" r="r" b="b"/>
            <a:pathLst>
              <a:path w="4661896" h="188704">
                <a:moveTo>
                  <a:pt x="0" y="188704"/>
                </a:moveTo>
                <a:lnTo>
                  <a:pt x="722594" y="151227"/>
                </a:lnTo>
                <a:lnTo>
                  <a:pt x="1515116" y="114331"/>
                </a:lnTo>
                <a:lnTo>
                  <a:pt x="2377567" y="78426"/>
                </a:lnTo>
                <a:lnTo>
                  <a:pt x="3309946" y="43811"/>
                </a:lnTo>
                <a:lnTo>
                  <a:pt x="4335563" y="9962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 54: plot geometry" descr="sci-ppt:obj-0054"/>
          <p:cNvSpPr/>
          <p:nvPr/>
        </p:nvSpPr>
        <p:spPr>
          <a:xfrm>
            <a:off x="999250" y="3625772"/>
            <a:ext cx="4661896" cy="754815"/>
          </a:xfrm>
          <a:custGeom>
            <a:avLst/>
            <a:gdLst/>
            <a:ahLst/>
            <a:cxnLst/>
            <a:rect l="l" t="t" r="r" b="b"/>
            <a:pathLst>
              <a:path w="4661896" h="754815">
                <a:moveTo>
                  <a:pt x="0" y="754815"/>
                </a:moveTo>
                <a:lnTo>
                  <a:pt x="372952" y="675465"/>
                </a:lnTo>
                <a:lnTo>
                  <a:pt x="745903" y="600329"/>
                </a:lnTo>
                <a:lnTo>
                  <a:pt x="1142164" y="524753"/>
                </a:lnTo>
                <a:lnTo>
                  <a:pt x="1561735" y="449132"/>
                </a:lnTo>
                <a:lnTo>
                  <a:pt x="1981306" y="377673"/>
                </a:lnTo>
                <a:lnTo>
                  <a:pt x="2424186" y="306390"/>
                </a:lnTo>
                <a:lnTo>
                  <a:pt x="2890375" y="235576"/>
                </a:lnTo>
                <a:lnTo>
                  <a:pt x="3379874" y="165485"/>
                </a:lnTo>
                <a:lnTo>
                  <a:pt x="3892683" y="96336"/>
                </a:lnTo>
                <a:lnTo>
                  <a:pt x="4428801" y="28313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 55: plot geometry" descr="sci-ppt:obj-0055"/>
          <p:cNvSpPr/>
          <p:nvPr/>
        </p:nvSpPr>
        <p:spPr>
          <a:xfrm>
            <a:off x="999250" y="606512"/>
            <a:ext cx="4661896" cy="3774075"/>
          </a:xfrm>
          <a:custGeom>
            <a:avLst/>
            <a:gdLst/>
            <a:ahLst/>
            <a:cxnLst/>
            <a:rect l="l" t="t" r="r" b="b"/>
            <a:pathLst>
              <a:path w="4661896" h="3774075">
                <a:moveTo>
                  <a:pt x="0" y="3774075"/>
                </a:moveTo>
                <a:lnTo>
                  <a:pt x="186476" y="3572959"/>
                </a:lnTo>
                <a:lnTo>
                  <a:pt x="396261" y="3353245"/>
                </a:lnTo>
                <a:lnTo>
                  <a:pt x="606046" y="3140160"/>
                </a:lnTo>
                <a:lnTo>
                  <a:pt x="815832" y="2933415"/>
                </a:lnTo>
                <a:lnTo>
                  <a:pt x="1025617" y="2732732"/>
                </a:lnTo>
                <a:lnTo>
                  <a:pt x="1235402" y="2537852"/>
                </a:lnTo>
                <a:lnTo>
                  <a:pt x="1445188" y="2348527"/>
                </a:lnTo>
                <a:lnTo>
                  <a:pt x="1654973" y="2164526"/>
                </a:lnTo>
                <a:lnTo>
                  <a:pt x="1864758" y="1985627"/>
                </a:lnTo>
                <a:lnTo>
                  <a:pt x="2097853" y="1792581"/>
                </a:lnTo>
                <a:lnTo>
                  <a:pt x="2330948" y="1605304"/>
                </a:lnTo>
                <a:lnTo>
                  <a:pt x="2564043" y="1423541"/>
                </a:lnTo>
                <a:lnTo>
                  <a:pt x="2797137" y="1247050"/>
                </a:lnTo>
                <a:lnTo>
                  <a:pt x="3030232" y="1075603"/>
                </a:lnTo>
                <a:lnTo>
                  <a:pt x="3263327" y="908985"/>
                </a:lnTo>
                <a:lnTo>
                  <a:pt x="3519731" y="731040"/>
                </a:lnTo>
                <a:lnTo>
                  <a:pt x="3776136" y="558435"/>
                </a:lnTo>
                <a:lnTo>
                  <a:pt x="4032540" y="390929"/>
                </a:lnTo>
                <a:lnTo>
                  <a:pt x="4288944" y="228296"/>
                </a:lnTo>
                <a:lnTo>
                  <a:pt x="4545348" y="70322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line 56: plot geometry" descr="sci-ppt:obj-0056"/>
          <p:cNvCxnSpPr/>
          <p:nvPr/>
        </p:nvCxnSpPr>
        <p:spPr>
          <a:xfrm flipV="1">
            <a:off x="766155" y="417808"/>
            <a:ext cx="0" cy="4151483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cxnSp>
        <p:nvCxnSpPr>
          <p:cNvPr id="58" name="line 57: plot geometry" descr="sci-ppt:obj-0057"/>
          <p:cNvCxnSpPr/>
          <p:nvPr/>
        </p:nvCxnSpPr>
        <p:spPr>
          <a:xfrm>
            <a:off x="766155" y="4569291"/>
            <a:ext cx="5128086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59" name="text 58: Intact spherical gel" descr="sci-ppt:obj-0058"/>
          <p:cNvSpPr txBox="1"/>
          <p:nvPr/>
        </p:nvSpPr>
        <p:spPr>
          <a:xfrm>
            <a:off x="2227460" y="74098"/>
            <a:ext cx="2723990" cy="303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68" b="0" i="0">
                <a:solidFill>
                  <a:srgbClr val="000000"/>
                </a:solidFill>
                <a:latin typeface="Arial"/>
              </a:rPr>
              <a:t>Intact spherical gel</a:t>
            </a:r>
          </a:p>
        </p:txBody>
      </p:sp>
      <p:sp>
        <p:nvSpPr>
          <p:cNvPr id="60" name="polygon 59: plot geometry" descr="sci-ppt:obj-0059"/>
          <p:cNvSpPr/>
          <p:nvPr/>
        </p:nvSpPr>
        <p:spPr>
          <a:xfrm>
            <a:off x="934641" y="663019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 60: G = 5 kPa" descr="sci-ppt:obj-0060"/>
          <p:cNvSpPr txBox="1"/>
          <p:nvPr/>
        </p:nvSpPr>
        <p:spPr>
          <a:xfrm>
            <a:off x="1431386" y="535719"/>
            <a:ext cx="106721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G = 5 kPa</a:t>
            </a:r>
          </a:p>
        </p:txBody>
      </p:sp>
      <p:sp>
        <p:nvSpPr>
          <p:cNvPr id="62" name="polygon 61: plot geometry" descr="sci-ppt:obj-0061"/>
          <p:cNvSpPr/>
          <p:nvPr/>
        </p:nvSpPr>
        <p:spPr>
          <a:xfrm>
            <a:off x="934641" y="943843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 62: G = 20 kPa" descr="sci-ppt:obj-0062"/>
          <p:cNvSpPr txBox="1"/>
          <p:nvPr/>
        </p:nvSpPr>
        <p:spPr>
          <a:xfrm>
            <a:off x="1431386" y="816543"/>
            <a:ext cx="1177667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G = 20 kPa</a:t>
            </a:r>
          </a:p>
        </p:txBody>
      </p:sp>
      <p:sp>
        <p:nvSpPr>
          <p:cNvPr id="64" name="polygon 63: plot geometry" descr="sci-ppt:obj-0063"/>
          <p:cNvSpPr/>
          <p:nvPr/>
        </p:nvSpPr>
        <p:spPr>
          <a:xfrm>
            <a:off x="934641" y="1224667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 64: G = 100 kPa" descr="sci-ppt:obj-0064"/>
          <p:cNvSpPr txBox="1"/>
          <p:nvPr/>
        </p:nvSpPr>
        <p:spPr>
          <a:xfrm>
            <a:off x="1431386" y="1097367"/>
            <a:ext cx="128811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G = 100 kPa</a:t>
            </a:r>
          </a:p>
        </p:txBody>
      </p:sp>
      <p:sp>
        <p:nvSpPr>
          <p:cNvPr id="66" name="polygon 65: plot geometry" descr="sci-ppt:obj-0065"/>
          <p:cNvSpPr/>
          <p:nvPr/>
        </p:nvSpPr>
        <p:spPr>
          <a:xfrm>
            <a:off x="6919858" y="417808"/>
            <a:ext cx="5128085" cy="4151483"/>
          </a:xfrm>
          <a:custGeom>
            <a:avLst/>
            <a:gdLst/>
            <a:ahLst/>
            <a:cxnLst/>
            <a:rect l="l" t="t" r="r" b="b"/>
            <a:pathLst>
              <a:path w="5128085" h="4151483">
                <a:moveTo>
                  <a:pt x="0" y="4151483"/>
                </a:moveTo>
                <a:lnTo>
                  <a:pt x="5128085" y="4151483"/>
                </a:lnTo>
                <a:lnTo>
                  <a:pt x="5128085" y="0"/>
                </a:lnTo>
                <a:lnTo>
                  <a:pt x="0" y="0"/>
                </a:lnTo>
                <a:lnTo>
                  <a:pt x="0" y="4151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line 66: plot geometry" descr="sci-ppt:obj-0066"/>
          <p:cNvCxnSpPr/>
          <p:nvPr/>
        </p:nvCxnSpPr>
        <p:spPr>
          <a:xfrm flipV="1">
            <a:off x="7152952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8" name="line 67: plot geometry" descr="sci-ppt:obj-0067"/>
          <p:cNvCxnSpPr/>
          <p:nvPr/>
        </p:nvCxnSpPr>
        <p:spPr>
          <a:xfrm>
            <a:off x="7152952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69" name="text 68: 0.0" descr="sci-ppt:obj-0068"/>
          <p:cNvSpPr txBox="1"/>
          <p:nvPr/>
        </p:nvSpPr>
        <p:spPr>
          <a:xfrm>
            <a:off x="6976662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8103972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8103972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72" name="text 71: 0.5" descr="sci-ppt:obj-0071"/>
          <p:cNvSpPr txBox="1"/>
          <p:nvPr/>
        </p:nvSpPr>
        <p:spPr>
          <a:xfrm>
            <a:off x="7927681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 flipV="1">
            <a:off x="9054991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>
            <a:off x="9054991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75" name="text 74: 1.0" descr="sci-ppt:obj-0074"/>
          <p:cNvSpPr txBox="1"/>
          <p:nvPr/>
        </p:nvSpPr>
        <p:spPr>
          <a:xfrm>
            <a:off x="8878701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 flipV="1">
            <a:off x="10006010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>
            <a:off x="10006010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78" name="text 77: 1.5" descr="sci-ppt:obj-0077"/>
          <p:cNvSpPr txBox="1"/>
          <p:nvPr/>
        </p:nvSpPr>
        <p:spPr>
          <a:xfrm>
            <a:off x="9829720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 flipV="1">
            <a:off x="10957029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>
            <a:off x="10957029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81" name="text 80: 2.0" descr="sci-ppt:obj-0080"/>
          <p:cNvSpPr txBox="1"/>
          <p:nvPr/>
        </p:nvSpPr>
        <p:spPr>
          <a:xfrm>
            <a:off x="10780739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cxnSp>
        <p:nvCxnSpPr>
          <p:cNvPr id="82" name="line 81: plot geometry" descr="sci-ppt:obj-0081"/>
          <p:cNvCxnSpPr/>
          <p:nvPr/>
        </p:nvCxnSpPr>
        <p:spPr>
          <a:xfrm flipV="1">
            <a:off x="11908048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>
            <a:off x="11908048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84" name="text 83: 2.5" descr="sci-ppt:obj-0083"/>
          <p:cNvSpPr txBox="1"/>
          <p:nvPr/>
        </p:nvSpPr>
        <p:spPr>
          <a:xfrm>
            <a:off x="11731758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85" name="text 84: Time after initialization (µs)" descr="sci-ppt:obj-0084"/>
          <p:cNvSpPr txBox="1"/>
          <p:nvPr/>
        </p:nvSpPr>
        <p:spPr>
          <a:xfrm>
            <a:off x="8166180" y="4911849"/>
            <a:ext cx="338669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Time after initialization (µs)</a:t>
            </a:r>
          </a:p>
        </p:txBody>
      </p:sp>
      <p:cxnSp>
        <p:nvCxnSpPr>
          <p:cNvPr id="86" name="line 85: plot geometry" descr="sci-ppt:obj-0085"/>
          <p:cNvCxnSpPr/>
          <p:nvPr/>
        </p:nvCxnSpPr>
        <p:spPr>
          <a:xfrm>
            <a:off x="6919858" y="4380587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 flipH="1">
            <a:off x="6854336" y="438058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88" name="text 87: 0" descr="sci-ppt:obj-0087"/>
          <p:cNvSpPr txBox="1"/>
          <p:nvPr/>
        </p:nvSpPr>
        <p:spPr>
          <a:xfrm>
            <a:off x="6642272" y="4258881"/>
            <a:ext cx="183603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89" name="line 88: plot geometry" descr="sci-ppt:obj-0088"/>
          <p:cNvCxnSpPr/>
          <p:nvPr/>
        </p:nvCxnSpPr>
        <p:spPr>
          <a:xfrm>
            <a:off x="6919858" y="3858618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 flipH="1">
            <a:off x="6854336" y="3858618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1" name="text 90: 5" descr="sci-ppt:obj-0090"/>
          <p:cNvSpPr txBox="1"/>
          <p:nvPr/>
        </p:nvSpPr>
        <p:spPr>
          <a:xfrm>
            <a:off x="6642272" y="3736912"/>
            <a:ext cx="183603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92" name="line 91: plot geometry" descr="sci-ppt:obj-0091"/>
          <p:cNvCxnSpPr/>
          <p:nvPr/>
        </p:nvCxnSpPr>
        <p:spPr>
          <a:xfrm>
            <a:off x="6919858" y="3336649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 flipH="1">
            <a:off x="6854336" y="3336649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4" name="text 93: 10" descr="sci-ppt:obj-0093"/>
          <p:cNvSpPr txBox="1"/>
          <p:nvPr/>
        </p:nvSpPr>
        <p:spPr>
          <a:xfrm>
            <a:off x="6523162" y="3214943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95" name="line 94: plot geometry" descr="sci-ppt:obj-0094"/>
          <p:cNvCxnSpPr/>
          <p:nvPr/>
        </p:nvCxnSpPr>
        <p:spPr>
          <a:xfrm>
            <a:off x="6919858" y="2814680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6" name="line 95: plot geometry" descr="sci-ppt:obj-0095"/>
          <p:cNvCxnSpPr/>
          <p:nvPr/>
        </p:nvCxnSpPr>
        <p:spPr>
          <a:xfrm flipH="1">
            <a:off x="6854336" y="2814680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7" name="text 96: 15" descr="sci-ppt:obj-0096"/>
          <p:cNvSpPr txBox="1"/>
          <p:nvPr/>
        </p:nvSpPr>
        <p:spPr>
          <a:xfrm>
            <a:off x="6523162" y="2692974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98" name="line 97: plot geometry" descr="sci-ppt:obj-0097"/>
          <p:cNvCxnSpPr/>
          <p:nvPr/>
        </p:nvCxnSpPr>
        <p:spPr>
          <a:xfrm>
            <a:off x="6919858" y="2292711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6854336" y="2292711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0" name="text 99: 20" descr="sci-ppt:obj-0099"/>
          <p:cNvSpPr txBox="1"/>
          <p:nvPr/>
        </p:nvSpPr>
        <p:spPr>
          <a:xfrm>
            <a:off x="6523162" y="2171005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6919858" y="1770742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854336" y="1770742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3" name="text 102: 25" descr="sci-ppt:obj-0102"/>
          <p:cNvSpPr txBox="1"/>
          <p:nvPr/>
        </p:nvSpPr>
        <p:spPr>
          <a:xfrm>
            <a:off x="6523162" y="1649036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104" name="line 103: plot geometry" descr="sci-ppt:obj-0103"/>
          <p:cNvCxnSpPr/>
          <p:nvPr/>
        </p:nvCxnSpPr>
        <p:spPr>
          <a:xfrm>
            <a:off x="6919858" y="1248773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5" name="line 104: plot geometry" descr="sci-ppt:obj-0104"/>
          <p:cNvCxnSpPr/>
          <p:nvPr/>
        </p:nvCxnSpPr>
        <p:spPr>
          <a:xfrm flipH="1">
            <a:off x="6854336" y="1248773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6" name="text 105: 30" descr="sci-ppt:obj-0105"/>
          <p:cNvSpPr txBox="1"/>
          <p:nvPr/>
        </p:nvSpPr>
        <p:spPr>
          <a:xfrm>
            <a:off x="6523162" y="1127067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107" name="line 106: plot geometry" descr="sci-ppt:obj-0106"/>
          <p:cNvCxnSpPr/>
          <p:nvPr/>
        </p:nvCxnSpPr>
        <p:spPr>
          <a:xfrm>
            <a:off x="6919858" y="726804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8" name="line 107: plot geometry" descr="sci-ppt:obj-0107"/>
          <p:cNvCxnSpPr/>
          <p:nvPr/>
        </p:nvCxnSpPr>
        <p:spPr>
          <a:xfrm flipH="1">
            <a:off x="6854336" y="726804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9" name="text 108: 35" descr="sci-ppt:obj-0108"/>
          <p:cNvSpPr txBox="1"/>
          <p:nvPr/>
        </p:nvSpPr>
        <p:spPr>
          <a:xfrm>
            <a:off x="6523162" y="605098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110" name="text 109: One-hemisphere axial resistance (µN)" descr="sci-ppt:obj-0109"/>
          <p:cNvSpPr txBox="1"/>
          <p:nvPr/>
        </p:nvSpPr>
        <p:spPr>
          <a:xfrm rot="16200000">
            <a:off x="4322138" y="2367185"/>
            <a:ext cx="404028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One-hemisphere axial resistance (µN)</a:t>
            </a:r>
          </a:p>
        </p:txBody>
      </p:sp>
      <p:sp>
        <p:nvSpPr>
          <p:cNvPr id="111" name="polygon 110: plot geometry" descr="sci-ppt:obj-0110"/>
          <p:cNvSpPr/>
          <p:nvPr/>
        </p:nvSpPr>
        <p:spPr>
          <a:xfrm>
            <a:off x="7152952" y="855157"/>
            <a:ext cx="3684249" cy="3525430"/>
          </a:xfrm>
          <a:custGeom>
            <a:avLst/>
            <a:gdLst/>
            <a:ahLst/>
            <a:cxnLst/>
            <a:rect l="l" t="t" r="r" b="b"/>
            <a:pathLst>
              <a:path w="3684249" h="3525430">
                <a:moveTo>
                  <a:pt x="0" y="3525430"/>
                </a:moveTo>
                <a:lnTo>
                  <a:pt x="45649" y="3523319"/>
                </a:lnTo>
                <a:lnTo>
                  <a:pt x="91298" y="3517008"/>
                </a:lnTo>
                <a:lnTo>
                  <a:pt x="136947" y="3506556"/>
                </a:lnTo>
                <a:lnTo>
                  <a:pt x="184498" y="3491363"/>
                </a:lnTo>
                <a:lnTo>
                  <a:pt x="233951" y="3471051"/>
                </a:lnTo>
                <a:lnTo>
                  <a:pt x="285306" y="3445293"/>
                </a:lnTo>
                <a:lnTo>
                  <a:pt x="338563" y="3413821"/>
                </a:lnTo>
                <a:lnTo>
                  <a:pt x="395624" y="3375066"/>
                </a:lnTo>
                <a:lnTo>
                  <a:pt x="454588" y="3329959"/>
                </a:lnTo>
                <a:lnTo>
                  <a:pt x="519257" y="3275104"/>
                </a:lnTo>
                <a:lnTo>
                  <a:pt x="587730" y="3211527"/>
                </a:lnTo>
                <a:lnTo>
                  <a:pt x="663812" y="3135077"/>
                </a:lnTo>
                <a:lnTo>
                  <a:pt x="747501" y="3044954"/>
                </a:lnTo>
                <a:lnTo>
                  <a:pt x="842603" y="2936231"/>
                </a:lnTo>
                <a:lnTo>
                  <a:pt x="952922" y="2803539"/>
                </a:lnTo>
                <a:lnTo>
                  <a:pt x="1087966" y="2634232"/>
                </a:lnTo>
                <a:lnTo>
                  <a:pt x="1276268" y="2390821"/>
                </a:lnTo>
                <a:lnTo>
                  <a:pt x="1732757" y="1798451"/>
                </a:lnTo>
                <a:lnTo>
                  <a:pt x="1905843" y="1582015"/>
                </a:lnTo>
                <a:lnTo>
                  <a:pt x="2059908" y="1395921"/>
                </a:lnTo>
                <a:lnTo>
                  <a:pt x="2200659" y="1232282"/>
                </a:lnTo>
                <a:lnTo>
                  <a:pt x="2333801" y="1083729"/>
                </a:lnTo>
                <a:lnTo>
                  <a:pt x="2461238" y="947680"/>
                </a:lnTo>
                <a:lnTo>
                  <a:pt x="2584871" y="821773"/>
                </a:lnTo>
                <a:lnTo>
                  <a:pt x="2702797" y="707518"/>
                </a:lnTo>
                <a:lnTo>
                  <a:pt x="2818821" y="600877"/>
                </a:lnTo>
                <a:lnTo>
                  <a:pt x="2931041" y="503341"/>
                </a:lnTo>
                <a:lnTo>
                  <a:pt x="3041360" y="412968"/>
                </a:lnTo>
                <a:lnTo>
                  <a:pt x="3147874" y="331000"/>
                </a:lnTo>
                <a:lnTo>
                  <a:pt x="3252486" y="255641"/>
                </a:lnTo>
                <a:lnTo>
                  <a:pt x="3355196" y="186684"/>
                </a:lnTo>
                <a:lnTo>
                  <a:pt x="3456004" y="123911"/>
                </a:lnTo>
                <a:lnTo>
                  <a:pt x="3556812" y="66049"/>
                </a:lnTo>
                <a:lnTo>
                  <a:pt x="3655718" y="14095"/>
                </a:lnTo>
                <a:lnTo>
                  <a:pt x="3684249" y="0"/>
                </a:lnTo>
                <a:lnTo>
                  <a:pt x="3684249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polygon 111: plot geometry" descr="sci-ppt:obj-0111"/>
          <p:cNvSpPr/>
          <p:nvPr/>
        </p:nvSpPr>
        <p:spPr>
          <a:xfrm>
            <a:off x="7152952" y="606512"/>
            <a:ext cx="4661896" cy="3774075"/>
          </a:xfrm>
          <a:custGeom>
            <a:avLst/>
            <a:gdLst/>
            <a:ahLst/>
            <a:cxnLst/>
            <a:rect l="l" t="t" r="r" b="b"/>
            <a:pathLst>
              <a:path w="4661896" h="3774075">
                <a:moveTo>
                  <a:pt x="0" y="3774075"/>
                </a:moveTo>
                <a:lnTo>
                  <a:pt x="45649" y="3771964"/>
                </a:lnTo>
                <a:lnTo>
                  <a:pt x="91298" y="3765653"/>
                </a:lnTo>
                <a:lnTo>
                  <a:pt x="136947" y="3755200"/>
                </a:lnTo>
                <a:lnTo>
                  <a:pt x="184498" y="3740007"/>
                </a:lnTo>
                <a:lnTo>
                  <a:pt x="233951" y="3719693"/>
                </a:lnTo>
                <a:lnTo>
                  <a:pt x="285306" y="3693931"/>
                </a:lnTo>
                <a:lnTo>
                  <a:pt x="338563" y="3662452"/>
                </a:lnTo>
                <a:lnTo>
                  <a:pt x="395624" y="3623686"/>
                </a:lnTo>
                <a:lnTo>
                  <a:pt x="454588" y="3578563"/>
                </a:lnTo>
                <a:lnTo>
                  <a:pt x="519257" y="3523683"/>
                </a:lnTo>
                <a:lnTo>
                  <a:pt x="587730" y="3460070"/>
                </a:lnTo>
                <a:lnTo>
                  <a:pt x="663812" y="3383570"/>
                </a:lnTo>
                <a:lnTo>
                  <a:pt x="747501" y="3293378"/>
                </a:lnTo>
                <a:lnTo>
                  <a:pt x="842603" y="3184557"/>
                </a:lnTo>
                <a:lnTo>
                  <a:pt x="952922" y="3051727"/>
                </a:lnTo>
                <a:lnTo>
                  <a:pt x="1087966" y="2882219"/>
                </a:lnTo>
                <a:lnTo>
                  <a:pt x="1274366" y="2640955"/>
                </a:lnTo>
                <a:lnTo>
                  <a:pt x="1738463" y="2037809"/>
                </a:lnTo>
                <a:lnTo>
                  <a:pt x="1911549" y="1821151"/>
                </a:lnTo>
                <a:lnTo>
                  <a:pt x="2065614" y="1634887"/>
                </a:lnTo>
                <a:lnTo>
                  <a:pt x="2206365" y="1471111"/>
                </a:lnTo>
                <a:lnTo>
                  <a:pt x="2339508" y="1322440"/>
                </a:lnTo>
                <a:lnTo>
                  <a:pt x="2466944" y="1186289"/>
                </a:lnTo>
                <a:lnTo>
                  <a:pt x="2590577" y="1060291"/>
                </a:lnTo>
                <a:lnTo>
                  <a:pt x="2708503" y="945954"/>
                </a:lnTo>
                <a:lnTo>
                  <a:pt x="2824527" y="839239"/>
                </a:lnTo>
                <a:lnTo>
                  <a:pt x="2936748" y="741636"/>
                </a:lnTo>
                <a:lnTo>
                  <a:pt x="3047066" y="651201"/>
                </a:lnTo>
                <a:lnTo>
                  <a:pt x="3153580" y="569178"/>
                </a:lnTo>
                <a:lnTo>
                  <a:pt x="3258192" y="493767"/>
                </a:lnTo>
                <a:lnTo>
                  <a:pt x="3360902" y="424762"/>
                </a:lnTo>
                <a:lnTo>
                  <a:pt x="3461710" y="361945"/>
                </a:lnTo>
                <a:lnTo>
                  <a:pt x="3562518" y="304042"/>
                </a:lnTo>
                <a:lnTo>
                  <a:pt x="3661424" y="252050"/>
                </a:lnTo>
                <a:lnTo>
                  <a:pt x="3758428" y="205727"/>
                </a:lnTo>
                <a:lnTo>
                  <a:pt x="3853530" y="164830"/>
                </a:lnTo>
                <a:lnTo>
                  <a:pt x="3948632" y="128428"/>
                </a:lnTo>
                <a:lnTo>
                  <a:pt x="4041832" y="97133"/>
                </a:lnTo>
                <a:lnTo>
                  <a:pt x="4135032" y="70188"/>
                </a:lnTo>
                <a:lnTo>
                  <a:pt x="4228232" y="47602"/>
                </a:lnTo>
                <a:lnTo>
                  <a:pt x="4319529" y="29712"/>
                </a:lnTo>
                <a:lnTo>
                  <a:pt x="4410827" y="16018"/>
                </a:lnTo>
                <a:lnTo>
                  <a:pt x="4502125" y="6522"/>
                </a:lnTo>
                <a:lnTo>
                  <a:pt x="4593423" y="1223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line 112: plot geometry" descr="sci-ppt:obj-0112"/>
          <p:cNvCxnSpPr/>
          <p:nvPr/>
        </p:nvCxnSpPr>
        <p:spPr>
          <a:xfrm flipV="1">
            <a:off x="6919858" y="417808"/>
            <a:ext cx="0" cy="4151483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cxnSp>
        <p:nvCxnSpPr>
          <p:cNvPr id="114" name="line 113: plot geometry" descr="sci-ppt:obj-0113"/>
          <p:cNvCxnSpPr/>
          <p:nvPr/>
        </p:nvCxnSpPr>
        <p:spPr>
          <a:xfrm>
            <a:off x="6919858" y="4569291"/>
            <a:ext cx="5128085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15" name="text 114: Hemisphere resistance, G = 20 kPa" descr="sci-ppt:obj-0114"/>
          <p:cNvSpPr txBox="1"/>
          <p:nvPr/>
        </p:nvSpPr>
        <p:spPr>
          <a:xfrm>
            <a:off x="7468515" y="74098"/>
            <a:ext cx="4447035" cy="303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68" b="0" i="0">
                <a:solidFill>
                  <a:srgbClr val="000000"/>
                </a:solidFill>
                <a:latin typeface="Arial"/>
              </a:rPr>
              <a:t>Hemisphere resistance, G = 20 kPa</a:t>
            </a:r>
          </a:p>
        </p:txBody>
      </p:sp>
      <p:sp>
        <p:nvSpPr>
          <p:cNvPr id="116" name="polygon 115: plot geometry" descr="sci-ppt:obj-0115"/>
          <p:cNvSpPr/>
          <p:nvPr/>
        </p:nvSpPr>
        <p:spPr>
          <a:xfrm>
            <a:off x="7088343" y="663019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 116: Open channel" descr="sci-ppt:obj-0116"/>
          <p:cNvSpPr txBox="1"/>
          <p:nvPr/>
        </p:nvSpPr>
        <p:spPr>
          <a:xfrm>
            <a:off x="7585088" y="535719"/>
            <a:ext cx="1398571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Open channel</a:t>
            </a:r>
          </a:p>
        </p:txBody>
      </p:sp>
      <p:sp>
        <p:nvSpPr>
          <p:cNvPr id="118" name="polygon 117: plot geometry" descr="sci-ppt:obj-0117"/>
          <p:cNvSpPr/>
          <p:nvPr/>
        </p:nvSpPr>
        <p:spPr>
          <a:xfrm>
            <a:off x="7088343" y="943843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 118: Sealed control" descr="sci-ppt:obj-0118"/>
          <p:cNvSpPr txBox="1"/>
          <p:nvPr/>
        </p:nvSpPr>
        <p:spPr>
          <a:xfrm>
            <a:off x="7585088" y="816543"/>
            <a:ext cx="1619474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Sealed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