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961120" cy="5660136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 descr="sci-ppt:obj-000"/>
          <p:cNvSpPr txBox="1"/>
          <p:nvPr/>
        </p:nvSpPr>
        <p:spPr>
          <a:xfrm>
            <a:off x="256032" y="137160"/>
            <a:ext cx="73152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39" b="0" i="0">
                <a:solidFill>
                  <a:srgbClr val="8EDBD4"/>
                </a:solidFill>
                <a:latin typeface="Arial"/>
              </a:rPr>
              <a:t>A-E17 · Physical variable map</a:t>
            </a:r>
          </a:p>
        </p:txBody>
      </p:sp>
      <p:sp>
        <p:nvSpPr>
          <p:cNvPr id="3" name="text 1" descr="sci-ppt:obj-001"/>
          <p:cNvSpPr txBox="1"/>
          <p:nvPr/>
        </p:nvSpPr>
        <p:spPr>
          <a:xfrm>
            <a:off x="905256" y="612648"/>
            <a:ext cx="7498079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Response times and dimensionless comparisons</a:t>
            </a:r>
          </a:p>
        </p:txBody>
      </p:sp>
      <p:sp>
        <p:nvSpPr>
          <p:cNvPr id="4" name="rect 2" descr="sci-ppt:obj-002"/>
          <p:cNvSpPr/>
          <p:nvPr/>
        </p:nvSpPr>
        <p:spPr>
          <a:xfrm>
            <a:off x="996696" y="1069848"/>
            <a:ext cx="6766560" cy="347472"/>
          </a:xfrm>
          <a:prstGeom prst="rect">
            <a:avLst/>
          </a:prstGeom>
          <a:solidFill>
            <a:srgbClr val="213E4B"/>
          </a:solidFill>
          <a:ln w="1778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 3" descr="sci-ppt:obj-003"/>
          <p:cNvSpPr txBox="1"/>
          <p:nvPr/>
        </p:nvSpPr>
        <p:spPr>
          <a:xfrm>
            <a:off x="1179576" y="1106424"/>
            <a:ext cx="649224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Unloaded Kelvin–Voigt shear: Tsh = 0</a:t>
            </a:r>
          </a:p>
        </p:txBody>
      </p:sp>
      <p:sp>
        <p:nvSpPr>
          <p:cNvPr id="6" name="rect 4" descr="sci-ppt:obj-004"/>
          <p:cNvSpPr/>
          <p:nvPr/>
        </p:nvSpPr>
        <p:spPr>
          <a:xfrm>
            <a:off x="996696" y="1645920"/>
            <a:ext cx="6766560" cy="347472"/>
          </a:xfrm>
          <a:prstGeom prst="rect">
            <a:avLst/>
          </a:prstGeom>
          <a:solidFill>
            <a:srgbClr val="213E4B"/>
          </a:solidFill>
          <a:ln w="1778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 5" descr="sci-ppt:obj-005"/>
          <p:cNvSpPr txBox="1"/>
          <p:nvPr/>
        </p:nvSpPr>
        <p:spPr>
          <a:xfrm>
            <a:off x="1179576" y="1682496"/>
            <a:ext cx="649224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Strain recovers after unloading</a:t>
            </a:r>
          </a:p>
        </p:txBody>
      </p:sp>
      <p:sp>
        <p:nvSpPr>
          <p:cNvPr id="8" name="rect 6" descr="sci-ppt:obj-006"/>
          <p:cNvSpPr/>
          <p:nvPr/>
        </p:nvSpPr>
        <p:spPr>
          <a:xfrm>
            <a:off x="996696" y="2221992"/>
            <a:ext cx="6766560" cy="347472"/>
          </a:xfrm>
          <a:prstGeom prst="rect">
            <a:avLst/>
          </a:prstGeom>
          <a:solidFill>
            <a:srgbClr val="213E4B"/>
          </a:solidFill>
          <a:ln w="1778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 7" descr="sci-ppt:obj-007"/>
          <p:cNvSpPr txBox="1"/>
          <p:nvPr/>
        </p:nvSpPr>
        <p:spPr>
          <a:xfrm>
            <a:off x="1179576" y="2258568"/>
            <a:ext cx="649224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τKV = ηg / Gg</a:t>
            </a:r>
          </a:p>
        </p:txBody>
      </p:sp>
      <p:sp>
        <p:nvSpPr>
          <p:cNvPr id="10" name="text 8" descr="sci-ppt:obj-008"/>
          <p:cNvSpPr txBox="1"/>
          <p:nvPr/>
        </p:nvSpPr>
        <p:spPr>
          <a:xfrm>
            <a:off x="1005840" y="2862072"/>
            <a:ext cx="768096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Equal boxes list definitions; lengths do not encode time</a:t>
            </a:r>
          </a:p>
        </p:txBody>
      </p:sp>
      <p:sp>
        <p:nvSpPr>
          <p:cNvPr id="11" name="text 9" descr="sci-ppt:obj-009"/>
          <p:cNvSpPr txBox="1"/>
          <p:nvPr/>
        </p:nvSpPr>
        <p:spPr>
          <a:xfrm>
            <a:off x="256032" y="3465576"/>
            <a:ext cx="73152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8EDBD4"/>
                </a:solidFill>
                <a:latin typeface="Arial"/>
              </a:rPr>
              <a:t>Variables and physical limits</a:t>
            </a:r>
          </a:p>
        </p:txBody>
      </p:sp>
      <p:sp>
        <p:nvSpPr>
          <p:cNvPr id="12" name="text 10" descr="sci-ppt:obj-010"/>
          <p:cNvSpPr txBox="1"/>
          <p:nvPr/>
        </p:nvSpPr>
        <p:spPr>
          <a:xfrm>
            <a:off x="365760" y="3813048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• Tsh = 0 after unloading</a:t>
            </a:r>
          </a:p>
        </p:txBody>
      </p:sp>
      <p:sp>
        <p:nvSpPr>
          <p:cNvPr id="13" name="text 11" descr="sci-ppt:obj-011"/>
          <p:cNvSpPr txBox="1"/>
          <p:nvPr/>
        </p:nvSpPr>
        <p:spPr>
          <a:xfrm>
            <a:off x="365760" y="4023360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• γ₀ → γ(t)</a:t>
            </a:r>
          </a:p>
        </p:txBody>
      </p:sp>
      <p:sp>
        <p:nvSpPr>
          <p:cNvPr id="14" name="text 12" descr="sci-ppt:obj-012"/>
          <p:cNvSpPr txBox="1"/>
          <p:nvPr/>
        </p:nvSpPr>
        <p:spPr>
          <a:xfrm>
            <a:off x="365760" y="4233672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• Gg, ηg</a:t>
            </a:r>
          </a:p>
        </p:txBody>
      </p:sp>
      <p:sp>
        <p:nvSpPr>
          <p:cNvPr id="15" name="text 13" descr="sci-ppt:obj-013"/>
          <p:cNvSpPr txBox="1"/>
          <p:nvPr/>
        </p:nvSpPr>
        <p:spPr>
          <a:xfrm>
            <a:off x="365760" y="4443984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• τKV = ηg/Gg</a:t>
            </a:r>
          </a:p>
        </p:txBody>
      </p:sp>
      <p:sp>
        <p:nvSpPr>
          <p:cNvPr id="16" name="text 14" descr="sci-ppt:obj-014"/>
          <p:cNvSpPr txBox="1"/>
          <p:nvPr/>
        </p:nvSpPr>
        <p:spPr>
          <a:xfrm>
            <a:off x="365760" y="4654296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• γ̇, t</a:t>
            </a:r>
          </a:p>
        </p:txBody>
      </p:sp>
      <p:sp>
        <p:nvSpPr>
          <p:cNvPr id="17" name="text 15" descr="sci-ppt:obj-015"/>
          <p:cNvSpPr txBox="1"/>
          <p:nvPr/>
        </p:nvSpPr>
        <p:spPr>
          <a:xfrm>
            <a:off x="365760" y="4864608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Zero-stress strain recovery is not held-strain stress relaxation</a:t>
            </a:r>
          </a:p>
        </p:txBody>
      </p:sp>
      <p:sp>
        <p:nvSpPr>
          <p:cNvPr id="18" name="text 16" descr="sci-ppt:obj-016"/>
          <p:cNvSpPr txBox="1"/>
          <p:nvPr/>
        </p:nvSpPr>
        <p:spPr>
          <a:xfrm>
            <a:off x="365760" y="5074920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No periodic forcing is assumed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