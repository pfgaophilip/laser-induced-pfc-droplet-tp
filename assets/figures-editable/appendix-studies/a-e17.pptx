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A-E17 · Linear constitutive check for the chosen dashpot</a:t>
            </a:r>
          </a:p>
        </p:txBody>
      </p:sp>
      <p:cxnSp>
        <p:nvCxnSpPr>
          <p:cNvPr id="3" name="A-E17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17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17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17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17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A-E17 line 6" descr="sci-ppt:o006"/>
          <p:cNvCxnSpPr/>
          <p:nvPr/>
        </p:nvCxnSpPr>
        <p:spPr>
          <a:xfrm>
            <a:off x="23774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17 line 7" descr="sci-ppt:o007"/>
          <p:cNvCxnSpPr/>
          <p:nvPr/>
        </p:nvCxnSpPr>
        <p:spPr>
          <a:xfrm>
            <a:off x="23774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17 text 8" descr="sci-ppt:o008"/>
          <p:cNvSpPr txBox="1"/>
          <p:nvPr/>
        </p:nvSpPr>
        <p:spPr>
          <a:xfrm>
            <a:off x="19202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A-E17 line 9" descr="sci-ppt:o009"/>
          <p:cNvCxnSpPr/>
          <p:nvPr/>
        </p:nvCxnSpPr>
        <p:spPr>
          <a:xfrm>
            <a:off x="38404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17 line 10" descr="sci-ppt:o010"/>
          <p:cNvCxnSpPr/>
          <p:nvPr/>
        </p:nvCxnSpPr>
        <p:spPr>
          <a:xfrm>
            <a:off x="38404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17 text 11" descr="sci-ppt:o011"/>
          <p:cNvSpPr txBox="1"/>
          <p:nvPr/>
        </p:nvSpPr>
        <p:spPr>
          <a:xfrm>
            <a:off x="338328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4" name="A-E17 line 12" descr="sci-ppt:o012"/>
          <p:cNvCxnSpPr/>
          <p:nvPr/>
        </p:nvCxnSpPr>
        <p:spPr>
          <a:xfrm>
            <a:off x="53035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17 line 13" descr="sci-ppt:o013"/>
          <p:cNvCxnSpPr/>
          <p:nvPr/>
        </p:nvCxnSpPr>
        <p:spPr>
          <a:xfrm>
            <a:off x="53035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17 text 14" descr="sci-ppt:o014"/>
          <p:cNvSpPr txBox="1"/>
          <p:nvPr/>
        </p:nvSpPr>
        <p:spPr>
          <a:xfrm>
            <a:off x="48463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7" name="A-E17 line 15" descr="sci-ppt:o015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17 line 16" descr="sci-ppt:o016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17 text 17" descr="sci-ppt:o017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20" name="A-E17 line 18" descr="sci-ppt:o018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17 line 19" descr="sci-ppt:o019"/>
          <p:cNvCxnSpPr/>
          <p:nvPr/>
        </p:nvCxnSpPr>
        <p:spPr>
          <a:xfrm>
            <a:off x="850392" y="415834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A-E17 line 20" descr="sci-ppt:o020"/>
          <p:cNvCxnSpPr/>
          <p:nvPr/>
        </p:nvCxnSpPr>
        <p:spPr>
          <a:xfrm>
            <a:off x="914400" y="4158342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A-E17 text 21" descr="sci-ppt:o021"/>
          <p:cNvSpPr txBox="1"/>
          <p:nvPr/>
        </p:nvSpPr>
        <p:spPr>
          <a:xfrm>
            <a:off x="45720" y="407604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24" name="A-E17 line 22" descr="sci-ppt:o022"/>
          <p:cNvCxnSpPr/>
          <p:nvPr/>
        </p:nvCxnSpPr>
        <p:spPr>
          <a:xfrm>
            <a:off x="850392" y="328748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17 line 23" descr="sci-ppt:o023"/>
          <p:cNvCxnSpPr/>
          <p:nvPr/>
        </p:nvCxnSpPr>
        <p:spPr>
          <a:xfrm>
            <a:off x="914400" y="3287485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17 text 24" descr="sci-ppt:o024"/>
          <p:cNvSpPr txBox="1"/>
          <p:nvPr/>
        </p:nvSpPr>
        <p:spPr>
          <a:xfrm>
            <a:off x="45720" y="3205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27" name="A-E17 line 25" descr="sci-ppt:o025"/>
          <p:cNvCxnSpPr/>
          <p:nvPr/>
        </p:nvCxnSpPr>
        <p:spPr>
          <a:xfrm>
            <a:off x="850392" y="241662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17 line 26" descr="sci-ppt:o026"/>
          <p:cNvCxnSpPr/>
          <p:nvPr/>
        </p:nvCxnSpPr>
        <p:spPr>
          <a:xfrm>
            <a:off x="914400" y="2416628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17 text 27" descr="sci-ppt:o027"/>
          <p:cNvSpPr txBox="1"/>
          <p:nvPr/>
        </p:nvSpPr>
        <p:spPr>
          <a:xfrm>
            <a:off x="45720" y="23343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30" name="A-E17 line 28" descr="sci-ppt:o028"/>
          <p:cNvCxnSpPr/>
          <p:nvPr/>
        </p:nvCxnSpPr>
        <p:spPr>
          <a:xfrm>
            <a:off x="850392" y="15457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A-E17 line 29" descr="sci-ppt:o029"/>
          <p:cNvCxnSpPr/>
          <p:nvPr/>
        </p:nvCxnSpPr>
        <p:spPr>
          <a:xfrm>
            <a:off x="914400" y="1545771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A-E17 text 30" descr="sci-ppt:o030"/>
          <p:cNvSpPr txBox="1"/>
          <p:nvPr/>
        </p:nvSpPr>
        <p:spPr>
          <a:xfrm>
            <a:off x="45720" y="1463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sp>
        <p:nvSpPr>
          <p:cNvPr id="33" name="A-E17 text 31" descr="sci-ppt:o031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time  t / τ_KV</a:t>
            </a:r>
          </a:p>
        </p:txBody>
      </p:sp>
      <p:sp>
        <p:nvSpPr>
          <p:cNvPr id="34" name="A-E17 text 32" descr="sci-ppt:o032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γ(t) / γ₀</a:t>
            </a:r>
          </a:p>
        </p:txBody>
      </p:sp>
      <p:sp>
        <p:nvSpPr>
          <p:cNvPr id="35" name="A-E17 polygon 33" descr="sci-ppt:o033"/>
          <p:cNvSpPr/>
          <p:nvPr/>
        </p:nvSpPr>
        <p:spPr>
          <a:xfrm>
            <a:off x="914400" y="1545771"/>
            <a:ext cx="5852160" cy="3419627"/>
          </a:xfrm>
          <a:custGeom>
            <a:avLst/>
            <a:gdLst/>
            <a:ahLst/>
            <a:cxnLst/>
            <a:rect l="l" t="t" r="r" b="b"/>
            <a:pathLst>
              <a:path w="5852160" h="3419627">
                <a:moveTo>
                  <a:pt x="0" y="0"/>
                </a:moveTo>
                <a:lnTo>
                  <a:pt x="39144" y="91966"/>
                </a:lnTo>
                <a:lnTo>
                  <a:pt x="78289" y="181505"/>
                </a:lnTo>
                <a:lnTo>
                  <a:pt x="117434" y="268679"/>
                </a:lnTo>
                <a:lnTo>
                  <a:pt x="156579" y="353552"/>
                </a:lnTo>
                <a:lnTo>
                  <a:pt x="195724" y="436184"/>
                </a:lnTo>
                <a:lnTo>
                  <a:pt x="234869" y="516634"/>
                </a:lnTo>
                <a:lnTo>
                  <a:pt x="274014" y="594961"/>
                </a:lnTo>
                <a:lnTo>
                  <a:pt x="313159" y="671220"/>
                </a:lnTo>
                <a:lnTo>
                  <a:pt x="352303" y="745465"/>
                </a:lnTo>
                <a:lnTo>
                  <a:pt x="391448" y="817750"/>
                </a:lnTo>
                <a:lnTo>
                  <a:pt x="430593" y="888127"/>
                </a:lnTo>
                <a:lnTo>
                  <a:pt x="469738" y="956646"/>
                </a:lnTo>
                <a:lnTo>
                  <a:pt x="508883" y="1023356"/>
                </a:lnTo>
                <a:lnTo>
                  <a:pt x="548028" y="1088304"/>
                </a:lnTo>
                <a:lnTo>
                  <a:pt x="587173" y="1151538"/>
                </a:lnTo>
                <a:lnTo>
                  <a:pt x="626318" y="1213103"/>
                </a:lnTo>
                <a:lnTo>
                  <a:pt x="665463" y="1273042"/>
                </a:lnTo>
                <a:lnTo>
                  <a:pt x="704607" y="1331398"/>
                </a:lnTo>
                <a:lnTo>
                  <a:pt x="743752" y="1388214"/>
                </a:lnTo>
                <a:lnTo>
                  <a:pt x="782897" y="1443530"/>
                </a:lnTo>
                <a:lnTo>
                  <a:pt x="822042" y="1497386"/>
                </a:lnTo>
                <a:lnTo>
                  <a:pt x="861187" y="1549819"/>
                </a:lnTo>
                <a:lnTo>
                  <a:pt x="900332" y="1600869"/>
                </a:lnTo>
                <a:lnTo>
                  <a:pt x="939477" y="1650570"/>
                </a:lnTo>
                <a:lnTo>
                  <a:pt x="978622" y="1698960"/>
                </a:lnTo>
                <a:lnTo>
                  <a:pt x="1017766" y="1746072"/>
                </a:lnTo>
                <a:lnTo>
                  <a:pt x="1056911" y="1791940"/>
                </a:lnTo>
                <a:lnTo>
                  <a:pt x="1096056" y="1836597"/>
                </a:lnTo>
                <a:lnTo>
                  <a:pt x="1135201" y="1880075"/>
                </a:lnTo>
                <a:lnTo>
                  <a:pt x="1174346" y="1922405"/>
                </a:lnTo>
                <a:lnTo>
                  <a:pt x="1213491" y="1963618"/>
                </a:lnTo>
                <a:lnTo>
                  <a:pt x="1252636" y="2003743"/>
                </a:lnTo>
                <a:lnTo>
                  <a:pt x="1291781" y="2042808"/>
                </a:lnTo>
                <a:lnTo>
                  <a:pt x="1330926" y="2080842"/>
                </a:lnTo>
                <a:lnTo>
                  <a:pt x="1370070" y="2117872"/>
                </a:lnTo>
                <a:lnTo>
                  <a:pt x="1409215" y="2153924"/>
                </a:lnTo>
                <a:lnTo>
                  <a:pt x="1448360" y="2189024"/>
                </a:lnTo>
                <a:lnTo>
                  <a:pt x="1487505" y="2223198"/>
                </a:lnTo>
                <a:lnTo>
                  <a:pt x="1526650" y="2256469"/>
                </a:lnTo>
                <a:lnTo>
                  <a:pt x="1565795" y="2288863"/>
                </a:lnTo>
                <a:lnTo>
                  <a:pt x="1604940" y="2320400"/>
                </a:lnTo>
                <a:lnTo>
                  <a:pt x="1644085" y="2351106"/>
                </a:lnTo>
                <a:lnTo>
                  <a:pt x="1683229" y="2381000"/>
                </a:lnTo>
                <a:lnTo>
                  <a:pt x="1722374" y="2410105"/>
                </a:lnTo>
                <a:lnTo>
                  <a:pt x="1761519" y="2438442"/>
                </a:lnTo>
                <a:lnTo>
                  <a:pt x="1800664" y="2466031"/>
                </a:lnTo>
                <a:lnTo>
                  <a:pt x="1839809" y="2492891"/>
                </a:lnTo>
                <a:lnTo>
                  <a:pt x="1878954" y="2519043"/>
                </a:lnTo>
                <a:lnTo>
                  <a:pt x="1918099" y="2544504"/>
                </a:lnTo>
                <a:lnTo>
                  <a:pt x="1957244" y="2569292"/>
                </a:lnTo>
                <a:lnTo>
                  <a:pt x="1996389" y="2593426"/>
                </a:lnTo>
                <a:lnTo>
                  <a:pt x="2035533" y="2616923"/>
                </a:lnTo>
                <a:lnTo>
                  <a:pt x="2074678" y="2639800"/>
                </a:lnTo>
                <a:lnTo>
                  <a:pt x="2113823" y="2662073"/>
                </a:lnTo>
                <a:lnTo>
                  <a:pt x="2152968" y="2683757"/>
                </a:lnTo>
                <a:lnTo>
                  <a:pt x="2192113" y="2704870"/>
                </a:lnTo>
                <a:lnTo>
                  <a:pt x="2231258" y="2725424"/>
                </a:lnTo>
                <a:lnTo>
                  <a:pt x="2270403" y="2745437"/>
                </a:lnTo>
                <a:lnTo>
                  <a:pt x="2309548" y="2764920"/>
                </a:lnTo>
                <a:lnTo>
                  <a:pt x="2348692" y="2783890"/>
                </a:lnTo>
                <a:lnTo>
                  <a:pt x="2387837" y="2802358"/>
                </a:lnTo>
                <a:lnTo>
                  <a:pt x="2426982" y="2820339"/>
                </a:lnTo>
                <a:lnTo>
                  <a:pt x="2466127" y="2837846"/>
                </a:lnTo>
                <a:lnTo>
                  <a:pt x="2505272" y="2854890"/>
                </a:lnTo>
                <a:lnTo>
                  <a:pt x="2544417" y="2871484"/>
                </a:lnTo>
                <a:lnTo>
                  <a:pt x="2583562" y="2887640"/>
                </a:lnTo>
                <a:lnTo>
                  <a:pt x="2622707" y="2903369"/>
                </a:lnTo>
                <a:lnTo>
                  <a:pt x="2661852" y="2918683"/>
                </a:lnTo>
                <a:lnTo>
                  <a:pt x="2700996" y="2933593"/>
                </a:lnTo>
                <a:lnTo>
                  <a:pt x="2740141" y="2948110"/>
                </a:lnTo>
                <a:lnTo>
                  <a:pt x="2779286" y="2962243"/>
                </a:lnTo>
                <a:lnTo>
                  <a:pt x="2818431" y="2976002"/>
                </a:lnTo>
                <a:lnTo>
                  <a:pt x="2857576" y="2989399"/>
                </a:lnTo>
                <a:lnTo>
                  <a:pt x="2896721" y="3002442"/>
                </a:lnTo>
                <a:lnTo>
                  <a:pt x="2935866" y="3015141"/>
                </a:lnTo>
                <a:lnTo>
                  <a:pt x="2975011" y="3027504"/>
                </a:lnTo>
                <a:lnTo>
                  <a:pt x="3014155" y="3039541"/>
                </a:lnTo>
                <a:lnTo>
                  <a:pt x="3053300" y="3051260"/>
                </a:lnTo>
                <a:lnTo>
                  <a:pt x="3092445" y="3062670"/>
                </a:lnTo>
                <a:lnTo>
                  <a:pt x="3131590" y="3073778"/>
                </a:lnTo>
                <a:lnTo>
                  <a:pt x="3170735" y="3084593"/>
                </a:lnTo>
                <a:lnTo>
                  <a:pt x="3209880" y="3095123"/>
                </a:lnTo>
                <a:lnTo>
                  <a:pt x="3249025" y="3105375"/>
                </a:lnTo>
                <a:lnTo>
                  <a:pt x="3288170" y="3115356"/>
                </a:lnTo>
                <a:lnTo>
                  <a:pt x="3327315" y="3125073"/>
                </a:lnTo>
                <a:lnTo>
                  <a:pt x="3366459" y="3134534"/>
                </a:lnTo>
                <a:lnTo>
                  <a:pt x="3405604" y="3143745"/>
                </a:lnTo>
                <a:lnTo>
                  <a:pt x="3444749" y="3152713"/>
                </a:lnTo>
                <a:lnTo>
                  <a:pt x="3483894" y="3161445"/>
                </a:lnTo>
                <a:lnTo>
                  <a:pt x="3523039" y="3169945"/>
                </a:lnTo>
                <a:lnTo>
                  <a:pt x="3562184" y="3178222"/>
                </a:lnTo>
                <a:lnTo>
                  <a:pt x="3601329" y="3186279"/>
                </a:lnTo>
                <a:lnTo>
                  <a:pt x="3640474" y="3194125"/>
                </a:lnTo>
                <a:lnTo>
                  <a:pt x="3679618" y="3201762"/>
                </a:lnTo>
                <a:lnTo>
                  <a:pt x="3718763" y="3209199"/>
                </a:lnTo>
                <a:lnTo>
                  <a:pt x="3757908" y="3216439"/>
                </a:lnTo>
                <a:lnTo>
                  <a:pt x="3797053" y="3223488"/>
                </a:lnTo>
                <a:lnTo>
                  <a:pt x="3836198" y="3230350"/>
                </a:lnTo>
                <a:lnTo>
                  <a:pt x="3875343" y="3237032"/>
                </a:lnTo>
                <a:lnTo>
                  <a:pt x="3914488" y="3243537"/>
                </a:lnTo>
                <a:lnTo>
                  <a:pt x="3953633" y="3249870"/>
                </a:lnTo>
                <a:lnTo>
                  <a:pt x="3992778" y="3256037"/>
                </a:lnTo>
                <a:lnTo>
                  <a:pt x="4031922" y="3262040"/>
                </a:lnTo>
                <a:lnTo>
                  <a:pt x="4071067" y="3267885"/>
                </a:lnTo>
                <a:lnTo>
                  <a:pt x="4110212" y="3273575"/>
                </a:lnTo>
                <a:lnTo>
                  <a:pt x="4149357" y="3279116"/>
                </a:lnTo>
                <a:lnTo>
                  <a:pt x="4188502" y="3284510"/>
                </a:lnTo>
                <a:lnTo>
                  <a:pt x="4227647" y="3289761"/>
                </a:lnTo>
                <a:lnTo>
                  <a:pt x="4266792" y="3294875"/>
                </a:lnTo>
                <a:lnTo>
                  <a:pt x="4305937" y="3299853"/>
                </a:lnTo>
                <a:lnTo>
                  <a:pt x="4345082" y="3304699"/>
                </a:lnTo>
                <a:lnTo>
                  <a:pt x="4384226" y="3309418"/>
                </a:lnTo>
                <a:lnTo>
                  <a:pt x="4423371" y="3314012"/>
                </a:lnTo>
                <a:lnTo>
                  <a:pt x="4462516" y="3318485"/>
                </a:lnTo>
                <a:lnTo>
                  <a:pt x="4501661" y="3322839"/>
                </a:lnTo>
                <a:lnTo>
                  <a:pt x="4540806" y="3327079"/>
                </a:lnTo>
                <a:lnTo>
                  <a:pt x="4579951" y="3331207"/>
                </a:lnTo>
                <a:lnTo>
                  <a:pt x="4619096" y="3335226"/>
                </a:lnTo>
                <a:lnTo>
                  <a:pt x="4658241" y="3339138"/>
                </a:lnTo>
                <a:lnTo>
                  <a:pt x="4697385" y="3342948"/>
                </a:lnTo>
                <a:lnTo>
                  <a:pt x="4736530" y="3346657"/>
                </a:lnTo>
                <a:lnTo>
                  <a:pt x="4775675" y="3350268"/>
                </a:lnTo>
                <a:lnTo>
                  <a:pt x="4814820" y="3353783"/>
                </a:lnTo>
                <a:lnTo>
                  <a:pt x="4853965" y="3357206"/>
                </a:lnTo>
                <a:lnTo>
                  <a:pt x="4893110" y="3360538"/>
                </a:lnTo>
                <a:lnTo>
                  <a:pt x="4932255" y="3363783"/>
                </a:lnTo>
                <a:lnTo>
                  <a:pt x="4971400" y="3366942"/>
                </a:lnTo>
                <a:lnTo>
                  <a:pt x="5010545" y="3370017"/>
                </a:lnTo>
                <a:lnTo>
                  <a:pt x="5049689" y="3373011"/>
                </a:lnTo>
                <a:lnTo>
                  <a:pt x="5088834" y="3375926"/>
                </a:lnTo>
                <a:lnTo>
                  <a:pt x="5127979" y="3378764"/>
                </a:lnTo>
                <a:lnTo>
                  <a:pt x="5167124" y="3381528"/>
                </a:lnTo>
                <a:lnTo>
                  <a:pt x="5206269" y="3384218"/>
                </a:lnTo>
                <a:lnTo>
                  <a:pt x="5245414" y="3386837"/>
                </a:lnTo>
                <a:lnTo>
                  <a:pt x="5284559" y="3389387"/>
                </a:lnTo>
                <a:lnTo>
                  <a:pt x="5323704" y="3391870"/>
                </a:lnTo>
                <a:lnTo>
                  <a:pt x="5362848" y="3394287"/>
                </a:lnTo>
                <a:lnTo>
                  <a:pt x="5401993" y="3396641"/>
                </a:lnTo>
                <a:lnTo>
                  <a:pt x="5441138" y="3398932"/>
                </a:lnTo>
                <a:lnTo>
                  <a:pt x="5480283" y="3401163"/>
                </a:lnTo>
                <a:lnTo>
                  <a:pt x="5519428" y="3403335"/>
                </a:lnTo>
                <a:lnTo>
                  <a:pt x="5558573" y="3405449"/>
                </a:lnTo>
                <a:lnTo>
                  <a:pt x="5597718" y="3407508"/>
                </a:lnTo>
                <a:lnTo>
                  <a:pt x="5636863" y="3409512"/>
                </a:lnTo>
                <a:lnTo>
                  <a:pt x="5676008" y="3411464"/>
                </a:lnTo>
                <a:lnTo>
                  <a:pt x="5715152" y="3413364"/>
                </a:lnTo>
                <a:lnTo>
                  <a:pt x="5754297" y="3415214"/>
                </a:lnTo>
                <a:lnTo>
                  <a:pt x="5793442" y="3417015"/>
                </a:lnTo>
                <a:lnTo>
                  <a:pt x="5832587" y="3418768"/>
                </a:lnTo>
                <a:lnTo>
                  <a:pt x="5852160" y="3419627"/>
                </a:lnTo>
              </a:path>
            </a:pathLst>
          </a:custGeom>
          <a:noFill/>
          <a:ln w="4318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A-E17 ellipse 34" descr="sci-ppt:o034"/>
          <p:cNvSpPr/>
          <p:nvPr/>
        </p:nvSpPr>
        <p:spPr>
          <a:xfrm>
            <a:off x="2304288" y="3674566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A-E17 line 35" descr="sci-ppt:o035"/>
          <p:cNvCxnSpPr/>
          <p:nvPr/>
        </p:nvCxnSpPr>
        <p:spPr>
          <a:xfrm>
            <a:off x="2377440" y="1371600"/>
            <a:ext cx="0" cy="3657600"/>
          </a:xfrm>
          <a:prstGeom prst="line">
            <a:avLst/>
          </a:prstGeom>
          <a:ln w="16510">
            <a:solidFill>
              <a:srgbClr val="F2B880"/>
            </a:solidFill>
            <a:prstDash val="dash"/>
          </a:ln>
          <a:effectLst/>
        </p:spPr>
      </p:cxnSp>
      <p:cxnSp>
        <p:nvCxnSpPr>
          <p:cNvPr id="38" name="A-E17 line 36" descr="sci-ppt:o036"/>
          <p:cNvCxnSpPr/>
          <p:nvPr/>
        </p:nvCxnSpPr>
        <p:spPr>
          <a:xfrm>
            <a:off x="914400" y="3747718"/>
            <a:ext cx="5852160" cy="0"/>
          </a:xfrm>
          <a:prstGeom prst="line">
            <a:avLst/>
          </a:prstGeom>
          <a:ln w="16510">
            <a:solidFill>
              <a:srgbClr val="B4C7D2"/>
            </a:solidFill>
            <a:prstDash val="dash"/>
          </a:ln>
          <a:effectLst/>
        </p:spPr>
      </p:cxnSp>
      <p:sp>
        <p:nvSpPr>
          <p:cNvPr id="39" name="A-E17 text 37" descr="sci-ppt:o037"/>
          <p:cNvSpPr txBox="1"/>
          <p:nvPr/>
        </p:nvSpPr>
        <p:spPr>
          <a:xfrm>
            <a:off x="2514600" y="3290518"/>
            <a:ext cx="1828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1/e at t = τ_KV</a:t>
            </a:r>
          </a:p>
        </p:txBody>
      </p:sp>
      <p:sp>
        <p:nvSpPr>
          <p:cNvPr id="40" name="A-E17 round_rect 38" descr="sci-ppt:o038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A-E17 text 39" descr="sci-ppt:o039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Kelvin–Voigt dashpot in shear</a:t>
            </a:r>
          </a:p>
        </p:txBody>
      </p:sp>
      <p:sp>
        <p:nvSpPr>
          <p:cNvPr id="42" name="A-E17 text 40" descr="sci-ppt:o040"/>
          <p:cNvSpPr txBox="1"/>
          <p:nvPr/>
        </p:nvSpPr>
        <p:spPr>
          <a:xfrm>
            <a:off x="7178040" y="1828800"/>
            <a:ext cx="4572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Tₛₕ = G_g γ + η_g γ̇</a:t>
            </a:r>
          </a:p>
        </p:txBody>
      </p:sp>
      <p:sp>
        <p:nvSpPr>
          <p:cNvPr id="43" name="A-E17 text 41" descr="sci-ppt:o041"/>
          <p:cNvSpPr txBox="1"/>
          <p:nvPr/>
        </p:nvSpPr>
        <p:spPr>
          <a:xfrm>
            <a:off x="7178040" y="233172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Tₛₕ = 0:  γ̇ = −(G_g/η_g) γ</a:t>
            </a:r>
          </a:p>
        </p:txBody>
      </p:sp>
      <p:sp>
        <p:nvSpPr>
          <p:cNvPr id="44" name="A-E17 text 42" descr="sci-ppt:o042"/>
          <p:cNvSpPr txBox="1"/>
          <p:nvPr/>
        </p:nvSpPr>
        <p:spPr>
          <a:xfrm>
            <a:off x="7178040" y="283464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γ = γ₀ exp(−t/τ_KV),   τ_KV = η_g/G_g</a:t>
            </a:r>
          </a:p>
        </p:txBody>
      </p:sp>
      <p:sp>
        <p:nvSpPr>
          <p:cNvPr id="45" name="A-E17 text 43" descr="sci-ppt:o043"/>
          <p:cNvSpPr txBox="1"/>
          <p:nvPr/>
        </p:nvSpPr>
        <p:spPr>
          <a:xfrm>
            <a:off x="7178040" y="3383280"/>
            <a:ext cx="4572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τ_KV = 0.010 / 20 000 = 0.50 µs</a:t>
            </a:r>
          </a:p>
        </p:txBody>
      </p:sp>
      <p:sp>
        <p:nvSpPr>
          <p:cNvPr id="46" name="A-E17 text 44" descr="sci-ppt:o044"/>
          <p:cNvSpPr txBox="1"/>
          <p:nvPr/>
        </p:nvSpPr>
        <p:spPr>
          <a:xfrm>
            <a:off x="7178040" y="3931920"/>
            <a:ext cx="45720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This is the recovery time after unloading; it is not a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relaxation time for stress under constant strain.</a:t>
            </a:r>
          </a:p>
        </p:txBody>
      </p:sp>
      <p:sp>
        <p:nvSpPr>
          <p:cNvPr id="47" name="A-E17 text 45" descr="sci-ppt:o045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 Kelvin–Voigt solid recovers strain exponentially; it cannot relax stress at constant strain, so τ_KV must not be reused as τᵣₑₗ.</a:t>
            </a:r>
          </a:p>
        </p:txBody>
      </p:sp>
      <p:sp>
        <p:nvSpPr>
          <p:cNvPr id="48" name="A-E17 text 46" descr="sci-ppt:o04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Linear constitutive check of Eq. A-E17 (G_g = 20 kPa, η_g = 0.010 Pa 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