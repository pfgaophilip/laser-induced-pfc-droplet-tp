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-E0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A-E04 · Exact change of variable for expansion</a:t>
            </a:r>
          </a:p>
        </p:txBody>
      </p:sp>
      <p:cxnSp>
        <p:nvCxnSpPr>
          <p:cNvPr id="3" name="A-E04 line 1" descr="sci-ppt:o001"/>
          <p:cNvCxnSpPr/>
          <p:nvPr/>
        </p:nvCxnSpPr>
        <p:spPr>
          <a:xfrm>
            <a:off x="914400" y="4846320"/>
            <a:ext cx="31089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A-E04 line 2" descr="sci-ppt:o002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A-E04 line 3" descr="sci-ppt:o003"/>
          <p:cNvCxnSpPr/>
          <p:nvPr/>
        </p:nvCxnSpPr>
        <p:spPr>
          <a:xfrm>
            <a:off x="9144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A-E04 line 4" descr="sci-ppt:o004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A-E04 text 5" descr="sci-ppt:o005"/>
          <p:cNvSpPr txBox="1"/>
          <p:nvPr/>
        </p:nvSpPr>
        <p:spPr>
          <a:xfrm>
            <a:off x="4572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8" name="A-E04 line 6" descr="sci-ppt:o006"/>
          <p:cNvCxnSpPr/>
          <p:nvPr/>
        </p:nvCxnSpPr>
        <p:spPr>
          <a:xfrm>
            <a:off x="2246811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A-E04 line 7" descr="sci-ppt:o007"/>
          <p:cNvCxnSpPr/>
          <p:nvPr/>
        </p:nvCxnSpPr>
        <p:spPr>
          <a:xfrm>
            <a:off x="2246811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A-E04 text 8" descr="sci-ppt:o008"/>
          <p:cNvSpPr txBox="1"/>
          <p:nvPr/>
        </p:nvSpPr>
        <p:spPr>
          <a:xfrm>
            <a:off x="1789611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11" name="A-E04 line 9" descr="sci-ppt:o009"/>
          <p:cNvCxnSpPr/>
          <p:nvPr/>
        </p:nvCxnSpPr>
        <p:spPr>
          <a:xfrm>
            <a:off x="402336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A-E04 line 10" descr="sci-ppt:o010"/>
          <p:cNvCxnSpPr/>
          <p:nvPr/>
        </p:nvCxnSpPr>
        <p:spPr>
          <a:xfrm>
            <a:off x="402336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A-E04 text 11" descr="sci-ppt:o011"/>
          <p:cNvSpPr txBox="1"/>
          <p:nvPr/>
        </p:nvSpPr>
        <p:spPr>
          <a:xfrm>
            <a:off x="356616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</a:t>
            </a:r>
          </a:p>
        </p:txBody>
      </p:sp>
      <p:cxnSp>
        <p:nvCxnSpPr>
          <p:cNvPr id="14" name="A-E04 line 12" descr="sci-ppt:o012"/>
          <p:cNvCxnSpPr/>
          <p:nvPr/>
        </p:nvCxnSpPr>
        <p:spPr>
          <a:xfrm>
            <a:off x="85039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A-E04 line 13" descr="sci-ppt:o013"/>
          <p:cNvCxnSpPr/>
          <p:nvPr/>
        </p:nvCxnSpPr>
        <p:spPr>
          <a:xfrm>
            <a:off x="850392" y="319169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A-E04 line 14" descr="sci-ppt:o014"/>
          <p:cNvCxnSpPr/>
          <p:nvPr/>
        </p:nvCxnSpPr>
        <p:spPr>
          <a:xfrm>
            <a:off x="914400" y="3191691"/>
            <a:ext cx="31089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A-E04 text 15" descr="sci-ppt:o015"/>
          <p:cNvSpPr txBox="1"/>
          <p:nvPr/>
        </p:nvSpPr>
        <p:spPr>
          <a:xfrm>
            <a:off x="45720" y="310939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8" name="A-E04 line 16" descr="sci-ppt:o016"/>
          <p:cNvCxnSpPr/>
          <p:nvPr/>
        </p:nvCxnSpPr>
        <p:spPr>
          <a:xfrm>
            <a:off x="850392" y="153706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A-E04 line 17" descr="sci-ppt:o017"/>
          <p:cNvCxnSpPr/>
          <p:nvPr/>
        </p:nvCxnSpPr>
        <p:spPr>
          <a:xfrm>
            <a:off x="914400" y="1537062"/>
            <a:ext cx="31089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A-E04 text 18" descr="sci-ppt:o018"/>
          <p:cNvSpPr txBox="1"/>
          <p:nvPr/>
        </p:nvSpPr>
        <p:spPr>
          <a:xfrm>
            <a:off x="45720" y="145476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1" name="A-E04 text 19" descr="sci-ppt:o019"/>
          <p:cNvSpPr txBox="1"/>
          <p:nvPr/>
        </p:nvSpPr>
        <p:spPr>
          <a:xfrm>
            <a:off x="914400" y="5129783"/>
            <a:ext cx="31089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</a:t>
            </a:r>
          </a:p>
        </p:txBody>
      </p:sp>
      <p:sp>
        <p:nvSpPr>
          <p:cNvPr id="22" name="A-E04 text 20" descr="sci-ppt:o020"/>
          <p:cNvSpPr txBox="1"/>
          <p:nvPr/>
        </p:nvSpPr>
        <p:spPr>
          <a:xfrm>
            <a:off x="365760" y="1024128"/>
            <a:ext cx="31089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</a:t>
            </a:r>
          </a:p>
        </p:txBody>
      </p:sp>
      <p:sp>
        <p:nvSpPr>
          <p:cNvPr id="23" name="A-E04 polygon 21" descr="sci-ppt:o021"/>
          <p:cNvSpPr/>
          <p:nvPr/>
        </p:nvSpPr>
        <p:spPr>
          <a:xfrm>
            <a:off x="914400" y="1539208"/>
            <a:ext cx="3108960" cy="2755569"/>
          </a:xfrm>
          <a:custGeom>
            <a:avLst/>
            <a:gdLst/>
            <a:ahLst/>
            <a:cxnLst/>
            <a:rect l="l" t="t" r="r" b="b"/>
            <a:pathLst>
              <a:path w="3108960" h="2755569">
                <a:moveTo>
                  <a:pt x="0" y="2755569"/>
                </a:moveTo>
                <a:lnTo>
                  <a:pt x="20795" y="1620843"/>
                </a:lnTo>
                <a:lnTo>
                  <a:pt x="41591" y="1253297"/>
                </a:lnTo>
                <a:lnTo>
                  <a:pt x="62387" y="1022632"/>
                </a:lnTo>
                <a:lnTo>
                  <a:pt x="83182" y="858150"/>
                </a:lnTo>
                <a:lnTo>
                  <a:pt x="103978" y="733377"/>
                </a:lnTo>
                <a:lnTo>
                  <a:pt x="124774" y="635097"/>
                </a:lnTo>
                <a:lnTo>
                  <a:pt x="145570" y="555664"/>
                </a:lnTo>
                <a:lnTo>
                  <a:pt x="166365" y="490228"/>
                </a:lnTo>
                <a:lnTo>
                  <a:pt x="187161" y="435517"/>
                </a:lnTo>
                <a:lnTo>
                  <a:pt x="207957" y="389222"/>
                </a:lnTo>
                <a:lnTo>
                  <a:pt x="228752" y="349656"/>
                </a:lnTo>
                <a:lnTo>
                  <a:pt x="249548" y="315554"/>
                </a:lnTo>
                <a:lnTo>
                  <a:pt x="270344" y="285944"/>
                </a:lnTo>
                <a:lnTo>
                  <a:pt x="291140" y="260070"/>
                </a:lnTo>
                <a:lnTo>
                  <a:pt x="311935" y="237330"/>
                </a:lnTo>
                <a:lnTo>
                  <a:pt x="332731" y="217242"/>
                </a:lnTo>
                <a:lnTo>
                  <a:pt x="353527" y="199415"/>
                </a:lnTo>
                <a:lnTo>
                  <a:pt x="374322" y="183527"/>
                </a:lnTo>
                <a:lnTo>
                  <a:pt x="395118" y="169312"/>
                </a:lnTo>
                <a:lnTo>
                  <a:pt x="415914" y="156550"/>
                </a:lnTo>
                <a:lnTo>
                  <a:pt x="436710" y="145053"/>
                </a:lnTo>
                <a:lnTo>
                  <a:pt x="457505" y="134665"/>
                </a:lnTo>
                <a:lnTo>
                  <a:pt x="478301" y="125251"/>
                </a:lnTo>
                <a:lnTo>
                  <a:pt x="499097" y="116698"/>
                </a:lnTo>
                <a:lnTo>
                  <a:pt x="519892" y="108907"/>
                </a:lnTo>
                <a:lnTo>
                  <a:pt x="540688" y="101793"/>
                </a:lnTo>
                <a:lnTo>
                  <a:pt x="561484" y="95284"/>
                </a:lnTo>
                <a:lnTo>
                  <a:pt x="582280" y="89314"/>
                </a:lnTo>
                <a:lnTo>
                  <a:pt x="603075" y="83829"/>
                </a:lnTo>
                <a:lnTo>
                  <a:pt x="623871" y="78780"/>
                </a:lnTo>
                <a:lnTo>
                  <a:pt x="644667" y="74123"/>
                </a:lnTo>
                <a:lnTo>
                  <a:pt x="665463" y="69820"/>
                </a:lnTo>
                <a:lnTo>
                  <a:pt x="686258" y="65838"/>
                </a:lnTo>
                <a:lnTo>
                  <a:pt x="707054" y="62148"/>
                </a:lnTo>
                <a:lnTo>
                  <a:pt x="727850" y="58722"/>
                </a:lnTo>
                <a:lnTo>
                  <a:pt x="748645" y="55538"/>
                </a:lnTo>
                <a:lnTo>
                  <a:pt x="769441" y="52574"/>
                </a:lnTo>
                <a:lnTo>
                  <a:pt x="790237" y="49811"/>
                </a:lnTo>
                <a:lnTo>
                  <a:pt x="811033" y="47232"/>
                </a:lnTo>
                <a:lnTo>
                  <a:pt x="831828" y="44823"/>
                </a:lnTo>
                <a:lnTo>
                  <a:pt x="852624" y="42569"/>
                </a:lnTo>
                <a:lnTo>
                  <a:pt x="873420" y="40457"/>
                </a:lnTo>
                <a:lnTo>
                  <a:pt x="894215" y="38478"/>
                </a:lnTo>
                <a:lnTo>
                  <a:pt x="915011" y="36620"/>
                </a:lnTo>
                <a:lnTo>
                  <a:pt x="935807" y="34874"/>
                </a:lnTo>
                <a:lnTo>
                  <a:pt x="956603" y="33232"/>
                </a:lnTo>
                <a:lnTo>
                  <a:pt x="977398" y="31686"/>
                </a:lnTo>
                <a:lnTo>
                  <a:pt x="998194" y="30229"/>
                </a:lnTo>
                <a:lnTo>
                  <a:pt x="1018990" y="28855"/>
                </a:lnTo>
                <a:lnTo>
                  <a:pt x="1039785" y="27558"/>
                </a:lnTo>
                <a:lnTo>
                  <a:pt x="1060581" y="26333"/>
                </a:lnTo>
                <a:lnTo>
                  <a:pt x="1081377" y="25175"/>
                </a:lnTo>
                <a:lnTo>
                  <a:pt x="1102173" y="24079"/>
                </a:lnTo>
                <a:lnTo>
                  <a:pt x="1122968" y="23040"/>
                </a:lnTo>
                <a:lnTo>
                  <a:pt x="1143764" y="22057"/>
                </a:lnTo>
                <a:lnTo>
                  <a:pt x="1164560" y="21123"/>
                </a:lnTo>
                <a:lnTo>
                  <a:pt x="1185355" y="20238"/>
                </a:lnTo>
                <a:lnTo>
                  <a:pt x="1206151" y="19397"/>
                </a:lnTo>
                <a:lnTo>
                  <a:pt x="1226947" y="18598"/>
                </a:lnTo>
                <a:lnTo>
                  <a:pt x="1247743" y="17837"/>
                </a:lnTo>
                <a:lnTo>
                  <a:pt x="1268538" y="17114"/>
                </a:lnTo>
                <a:lnTo>
                  <a:pt x="1289334" y="16425"/>
                </a:lnTo>
                <a:lnTo>
                  <a:pt x="1310130" y="15769"/>
                </a:lnTo>
                <a:lnTo>
                  <a:pt x="1330926" y="15144"/>
                </a:lnTo>
                <a:lnTo>
                  <a:pt x="1351721" y="14547"/>
                </a:lnTo>
                <a:lnTo>
                  <a:pt x="1372517" y="13977"/>
                </a:lnTo>
                <a:lnTo>
                  <a:pt x="1393313" y="13434"/>
                </a:lnTo>
                <a:lnTo>
                  <a:pt x="1414108" y="12914"/>
                </a:lnTo>
                <a:lnTo>
                  <a:pt x="1434904" y="12417"/>
                </a:lnTo>
                <a:lnTo>
                  <a:pt x="1455700" y="11942"/>
                </a:lnTo>
                <a:lnTo>
                  <a:pt x="1476496" y="11488"/>
                </a:lnTo>
                <a:lnTo>
                  <a:pt x="1497291" y="11053"/>
                </a:lnTo>
                <a:lnTo>
                  <a:pt x="1518087" y="10636"/>
                </a:lnTo>
                <a:lnTo>
                  <a:pt x="1538883" y="10236"/>
                </a:lnTo>
                <a:lnTo>
                  <a:pt x="1559678" y="9853"/>
                </a:lnTo>
                <a:lnTo>
                  <a:pt x="1580474" y="9486"/>
                </a:lnTo>
                <a:lnTo>
                  <a:pt x="1601270" y="9134"/>
                </a:lnTo>
                <a:lnTo>
                  <a:pt x="1622066" y="8796"/>
                </a:lnTo>
                <a:lnTo>
                  <a:pt x="1642861" y="8471"/>
                </a:lnTo>
                <a:lnTo>
                  <a:pt x="1663657" y="8159"/>
                </a:lnTo>
                <a:lnTo>
                  <a:pt x="1684453" y="7859"/>
                </a:lnTo>
                <a:lnTo>
                  <a:pt x="1705248" y="7570"/>
                </a:lnTo>
                <a:lnTo>
                  <a:pt x="1726044" y="7293"/>
                </a:lnTo>
                <a:lnTo>
                  <a:pt x="1746840" y="7026"/>
                </a:lnTo>
                <a:lnTo>
                  <a:pt x="1767636" y="6769"/>
                </a:lnTo>
                <a:lnTo>
                  <a:pt x="1788431" y="6521"/>
                </a:lnTo>
                <a:lnTo>
                  <a:pt x="1809227" y="6283"/>
                </a:lnTo>
                <a:lnTo>
                  <a:pt x="1830023" y="6053"/>
                </a:lnTo>
                <a:lnTo>
                  <a:pt x="1850818" y="5832"/>
                </a:lnTo>
                <a:lnTo>
                  <a:pt x="1871614" y="5618"/>
                </a:lnTo>
                <a:lnTo>
                  <a:pt x="1892410" y="5412"/>
                </a:lnTo>
                <a:lnTo>
                  <a:pt x="1913206" y="5214"/>
                </a:lnTo>
                <a:lnTo>
                  <a:pt x="1934001" y="5022"/>
                </a:lnTo>
                <a:lnTo>
                  <a:pt x="1954797" y="4837"/>
                </a:lnTo>
                <a:lnTo>
                  <a:pt x="1975593" y="4658"/>
                </a:lnTo>
                <a:lnTo>
                  <a:pt x="1996389" y="4485"/>
                </a:lnTo>
                <a:lnTo>
                  <a:pt x="2017184" y="4318"/>
                </a:lnTo>
                <a:lnTo>
                  <a:pt x="2037980" y="4157"/>
                </a:lnTo>
                <a:lnTo>
                  <a:pt x="2058776" y="4001"/>
                </a:lnTo>
                <a:lnTo>
                  <a:pt x="2079571" y="3850"/>
                </a:lnTo>
                <a:lnTo>
                  <a:pt x="2100367" y="3704"/>
                </a:lnTo>
                <a:lnTo>
                  <a:pt x="2121163" y="3562"/>
                </a:lnTo>
                <a:lnTo>
                  <a:pt x="2141959" y="3425"/>
                </a:lnTo>
                <a:lnTo>
                  <a:pt x="2162754" y="3293"/>
                </a:lnTo>
                <a:lnTo>
                  <a:pt x="2183550" y="3165"/>
                </a:lnTo>
                <a:lnTo>
                  <a:pt x="2204346" y="3040"/>
                </a:lnTo>
                <a:lnTo>
                  <a:pt x="2225141" y="2920"/>
                </a:lnTo>
                <a:lnTo>
                  <a:pt x="2245937" y="2803"/>
                </a:lnTo>
                <a:lnTo>
                  <a:pt x="2266733" y="2690"/>
                </a:lnTo>
                <a:lnTo>
                  <a:pt x="2287529" y="2580"/>
                </a:lnTo>
                <a:lnTo>
                  <a:pt x="2308324" y="2474"/>
                </a:lnTo>
                <a:lnTo>
                  <a:pt x="2329120" y="2370"/>
                </a:lnTo>
                <a:lnTo>
                  <a:pt x="2349916" y="2270"/>
                </a:lnTo>
                <a:lnTo>
                  <a:pt x="2370711" y="2173"/>
                </a:lnTo>
                <a:lnTo>
                  <a:pt x="2391507" y="2079"/>
                </a:lnTo>
                <a:lnTo>
                  <a:pt x="2412303" y="1987"/>
                </a:lnTo>
                <a:lnTo>
                  <a:pt x="2433099" y="1898"/>
                </a:lnTo>
                <a:lnTo>
                  <a:pt x="2453894" y="1811"/>
                </a:lnTo>
                <a:lnTo>
                  <a:pt x="2474690" y="1727"/>
                </a:lnTo>
                <a:lnTo>
                  <a:pt x="2495486" y="1645"/>
                </a:lnTo>
                <a:lnTo>
                  <a:pt x="2516282" y="1566"/>
                </a:lnTo>
                <a:lnTo>
                  <a:pt x="2537077" y="1489"/>
                </a:lnTo>
                <a:lnTo>
                  <a:pt x="2557873" y="1414"/>
                </a:lnTo>
                <a:lnTo>
                  <a:pt x="2578669" y="1341"/>
                </a:lnTo>
                <a:lnTo>
                  <a:pt x="2599464" y="1270"/>
                </a:lnTo>
                <a:lnTo>
                  <a:pt x="2620260" y="1201"/>
                </a:lnTo>
                <a:lnTo>
                  <a:pt x="2641056" y="1133"/>
                </a:lnTo>
                <a:lnTo>
                  <a:pt x="2661852" y="1068"/>
                </a:lnTo>
                <a:lnTo>
                  <a:pt x="2682647" y="1004"/>
                </a:lnTo>
                <a:lnTo>
                  <a:pt x="2703443" y="942"/>
                </a:lnTo>
                <a:lnTo>
                  <a:pt x="2724239" y="881"/>
                </a:lnTo>
                <a:lnTo>
                  <a:pt x="2745034" y="823"/>
                </a:lnTo>
                <a:lnTo>
                  <a:pt x="2765830" y="765"/>
                </a:lnTo>
                <a:lnTo>
                  <a:pt x="2786626" y="709"/>
                </a:lnTo>
                <a:lnTo>
                  <a:pt x="2807422" y="655"/>
                </a:lnTo>
                <a:lnTo>
                  <a:pt x="2828217" y="602"/>
                </a:lnTo>
                <a:lnTo>
                  <a:pt x="2849013" y="550"/>
                </a:lnTo>
                <a:lnTo>
                  <a:pt x="2869809" y="500"/>
                </a:lnTo>
                <a:lnTo>
                  <a:pt x="2890604" y="450"/>
                </a:lnTo>
                <a:lnTo>
                  <a:pt x="2911400" y="402"/>
                </a:lnTo>
                <a:lnTo>
                  <a:pt x="2932196" y="355"/>
                </a:lnTo>
                <a:lnTo>
                  <a:pt x="2952992" y="310"/>
                </a:lnTo>
                <a:lnTo>
                  <a:pt x="2973787" y="265"/>
                </a:lnTo>
                <a:lnTo>
                  <a:pt x="2994583" y="222"/>
                </a:lnTo>
                <a:lnTo>
                  <a:pt x="3015379" y="179"/>
                </a:lnTo>
                <a:lnTo>
                  <a:pt x="3036174" y="138"/>
                </a:lnTo>
                <a:lnTo>
                  <a:pt x="3056970" y="97"/>
                </a:lnTo>
                <a:lnTo>
                  <a:pt x="3077766" y="58"/>
                </a:lnTo>
                <a:lnTo>
                  <a:pt x="3098562" y="19"/>
                </a:lnTo>
                <a:lnTo>
                  <a:pt x="310896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A-E04 ellipse 22" descr="sci-ppt:o022"/>
          <p:cNvSpPr/>
          <p:nvPr/>
        </p:nvSpPr>
        <p:spPr>
          <a:xfrm>
            <a:off x="841248" y="4221625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A-E04 text 23" descr="sci-ppt:o023"/>
          <p:cNvSpPr txBox="1"/>
          <p:nvPr/>
        </p:nvSpPr>
        <p:spPr>
          <a:xfrm>
            <a:off x="1097280" y="4020457"/>
            <a:ext cx="164592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2B880"/>
                </a:solidFill>
                <a:latin typeface="Arial"/>
              </a:rPr>
              <a:t>q(R) = R_ref/R</a:t>
            </a:r>
          </a:p>
        </p:txBody>
      </p:sp>
      <p:cxnSp>
        <p:nvCxnSpPr>
          <p:cNvPr id="26" name="A-E04 line 24" descr="sci-ppt:o024"/>
          <p:cNvCxnSpPr/>
          <p:nvPr/>
        </p:nvCxnSpPr>
        <p:spPr>
          <a:xfrm>
            <a:off x="914400" y="1537062"/>
            <a:ext cx="3108960" cy="0"/>
          </a:xfrm>
          <a:prstGeom prst="line">
            <a:avLst/>
          </a:prstGeom>
          <a:ln w="16510">
            <a:solidFill>
              <a:srgbClr val="B4C7D2"/>
            </a:solidFill>
            <a:prstDash val="dash"/>
          </a:ln>
          <a:effectLst/>
        </p:spPr>
      </p:cxnSp>
      <p:cxnSp>
        <p:nvCxnSpPr>
          <p:cNvPr id="27" name="A-E04 line 25" descr="sci-ppt:o025"/>
          <p:cNvCxnSpPr/>
          <p:nvPr/>
        </p:nvCxnSpPr>
        <p:spPr>
          <a:xfrm>
            <a:off x="4937760" y="4846320"/>
            <a:ext cx="29260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8" name="A-E04 line 26" descr="sci-ppt:o026"/>
          <p:cNvCxnSpPr/>
          <p:nvPr/>
        </p:nvCxnSpPr>
        <p:spPr>
          <a:xfrm>
            <a:off x="493776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9" name="A-E04 line 27" descr="sci-ppt:o027"/>
          <p:cNvCxnSpPr/>
          <p:nvPr/>
        </p:nvCxnSpPr>
        <p:spPr>
          <a:xfrm>
            <a:off x="493776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A-E04 line 28" descr="sci-ppt:o028"/>
          <p:cNvCxnSpPr/>
          <p:nvPr/>
        </p:nvCxnSpPr>
        <p:spPr>
          <a:xfrm>
            <a:off x="493776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A-E04 text 29" descr="sci-ppt:o029"/>
          <p:cNvSpPr txBox="1"/>
          <p:nvPr/>
        </p:nvSpPr>
        <p:spPr>
          <a:xfrm>
            <a:off x="448056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32" name="A-E04 line 30" descr="sci-ppt:o030"/>
          <p:cNvCxnSpPr/>
          <p:nvPr/>
        </p:nvCxnSpPr>
        <p:spPr>
          <a:xfrm>
            <a:off x="64008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A-E04 line 31" descr="sci-ppt:o031"/>
          <p:cNvCxnSpPr/>
          <p:nvPr/>
        </p:nvCxnSpPr>
        <p:spPr>
          <a:xfrm>
            <a:off x="64008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A-E04 text 32" descr="sci-ppt:o032"/>
          <p:cNvSpPr txBox="1"/>
          <p:nvPr/>
        </p:nvSpPr>
        <p:spPr>
          <a:xfrm>
            <a:off x="59436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35" name="A-E04 line 33" descr="sci-ppt:o033"/>
          <p:cNvCxnSpPr/>
          <p:nvPr/>
        </p:nvCxnSpPr>
        <p:spPr>
          <a:xfrm>
            <a:off x="786384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A-E04 line 34" descr="sci-ppt:o034"/>
          <p:cNvCxnSpPr/>
          <p:nvPr/>
        </p:nvCxnSpPr>
        <p:spPr>
          <a:xfrm>
            <a:off x="786384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7" name="A-E04 text 35" descr="sci-ppt:o035"/>
          <p:cNvSpPr txBox="1"/>
          <p:nvPr/>
        </p:nvSpPr>
        <p:spPr>
          <a:xfrm>
            <a:off x="740664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38" name="A-E04 line 36" descr="sci-ppt:o036"/>
          <p:cNvCxnSpPr/>
          <p:nvPr/>
        </p:nvCxnSpPr>
        <p:spPr>
          <a:xfrm>
            <a:off x="487375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9" name="A-E04 line 37" descr="sci-ppt:o037"/>
          <p:cNvCxnSpPr/>
          <p:nvPr/>
        </p:nvCxnSpPr>
        <p:spPr>
          <a:xfrm>
            <a:off x="4873752" y="319169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A-E04 line 38" descr="sci-ppt:o038"/>
          <p:cNvCxnSpPr/>
          <p:nvPr/>
        </p:nvCxnSpPr>
        <p:spPr>
          <a:xfrm>
            <a:off x="4937760" y="3191691"/>
            <a:ext cx="29260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A-E04 text 39" descr="sci-ppt:o039"/>
          <p:cNvSpPr txBox="1"/>
          <p:nvPr/>
        </p:nvSpPr>
        <p:spPr>
          <a:xfrm>
            <a:off x="4069080" y="310939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42" name="A-E04 line 40" descr="sci-ppt:o040"/>
          <p:cNvCxnSpPr/>
          <p:nvPr/>
        </p:nvCxnSpPr>
        <p:spPr>
          <a:xfrm>
            <a:off x="4873752" y="153706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A-E04 line 41" descr="sci-ppt:o041"/>
          <p:cNvCxnSpPr/>
          <p:nvPr/>
        </p:nvCxnSpPr>
        <p:spPr>
          <a:xfrm>
            <a:off x="4937760" y="1537062"/>
            <a:ext cx="29260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A-E04 text 42" descr="sci-ppt:o042"/>
          <p:cNvSpPr txBox="1"/>
          <p:nvPr/>
        </p:nvSpPr>
        <p:spPr>
          <a:xfrm>
            <a:off x="4069080" y="145476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sp>
        <p:nvSpPr>
          <p:cNvPr id="45" name="A-E04 text 43" descr="sci-ppt:o043"/>
          <p:cNvSpPr txBox="1"/>
          <p:nvPr/>
        </p:nvSpPr>
        <p:spPr>
          <a:xfrm>
            <a:off x="4937760" y="5129783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</a:t>
            </a:r>
          </a:p>
        </p:txBody>
      </p:sp>
      <p:sp>
        <p:nvSpPr>
          <p:cNvPr id="46" name="A-E04 text 44" descr="sci-ppt:o044"/>
          <p:cNvSpPr txBox="1"/>
          <p:nvPr/>
        </p:nvSpPr>
        <p:spPr>
          <a:xfrm>
            <a:off x="4389120" y="1024128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integrand</a:t>
            </a:r>
          </a:p>
        </p:txBody>
      </p:sp>
      <p:sp>
        <p:nvSpPr>
          <p:cNvPr id="47" name="A-E04 polygon 45" descr="sci-ppt:o045"/>
          <p:cNvSpPr/>
          <p:nvPr/>
        </p:nvSpPr>
        <p:spPr>
          <a:xfrm>
            <a:off x="5425440" y="1542021"/>
            <a:ext cx="2435473" cy="3304299"/>
          </a:xfrm>
          <a:custGeom>
            <a:avLst/>
            <a:gdLst/>
            <a:ahLst/>
            <a:cxnLst/>
            <a:rect l="l" t="t" r="r" b="b"/>
            <a:pathLst>
              <a:path w="2435473" h="3304299">
                <a:moveTo>
                  <a:pt x="0" y="1642010"/>
                </a:moveTo>
                <a:lnTo>
                  <a:pt x="24600" y="1640791"/>
                </a:lnTo>
                <a:lnTo>
                  <a:pt x="49201" y="1639449"/>
                </a:lnTo>
                <a:lnTo>
                  <a:pt x="73802" y="1637979"/>
                </a:lnTo>
                <a:lnTo>
                  <a:pt x="98402" y="1636374"/>
                </a:lnTo>
                <a:lnTo>
                  <a:pt x="123003" y="1634628"/>
                </a:lnTo>
                <a:lnTo>
                  <a:pt x="147604" y="1632736"/>
                </a:lnTo>
                <a:lnTo>
                  <a:pt x="172205" y="1630692"/>
                </a:lnTo>
                <a:lnTo>
                  <a:pt x="196805" y="1628489"/>
                </a:lnTo>
                <a:lnTo>
                  <a:pt x="221406" y="1626123"/>
                </a:lnTo>
                <a:lnTo>
                  <a:pt x="246007" y="1623586"/>
                </a:lnTo>
                <a:lnTo>
                  <a:pt x="270608" y="1620873"/>
                </a:lnTo>
                <a:lnTo>
                  <a:pt x="295208" y="1617978"/>
                </a:lnTo>
                <a:lnTo>
                  <a:pt x="319809" y="1614896"/>
                </a:lnTo>
                <a:lnTo>
                  <a:pt x="344410" y="1611620"/>
                </a:lnTo>
                <a:lnTo>
                  <a:pt x="369011" y="1608144"/>
                </a:lnTo>
                <a:lnTo>
                  <a:pt x="393611" y="1604463"/>
                </a:lnTo>
                <a:lnTo>
                  <a:pt x="418212" y="1600571"/>
                </a:lnTo>
                <a:lnTo>
                  <a:pt x="442813" y="1596461"/>
                </a:lnTo>
                <a:lnTo>
                  <a:pt x="467414" y="1592129"/>
                </a:lnTo>
                <a:lnTo>
                  <a:pt x="492014" y="1587567"/>
                </a:lnTo>
                <a:lnTo>
                  <a:pt x="516615" y="1582770"/>
                </a:lnTo>
                <a:lnTo>
                  <a:pt x="541216" y="1577732"/>
                </a:lnTo>
                <a:lnTo>
                  <a:pt x="565817" y="1572448"/>
                </a:lnTo>
                <a:lnTo>
                  <a:pt x="590417" y="1566911"/>
                </a:lnTo>
                <a:lnTo>
                  <a:pt x="615018" y="1561115"/>
                </a:lnTo>
                <a:lnTo>
                  <a:pt x="639619" y="1555055"/>
                </a:lnTo>
                <a:lnTo>
                  <a:pt x="664220" y="1548725"/>
                </a:lnTo>
                <a:lnTo>
                  <a:pt x="688820" y="1542118"/>
                </a:lnTo>
                <a:lnTo>
                  <a:pt x="713421" y="1535229"/>
                </a:lnTo>
                <a:lnTo>
                  <a:pt x="738022" y="1528052"/>
                </a:lnTo>
                <a:lnTo>
                  <a:pt x="762623" y="1520581"/>
                </a:lnTo>
                <a:lnTo>
                  <a:pt x="787223" y="1512811"/>
                </a:lnTo>
                <a:lnTo>
                  <a:pt x="811824" y="1504734"/>
                </a:lnTo>
                <a:lnTo>
                  <a:pt x="836425" y="1496346"/>
                </a:lnTo>
                <a:lnTo>
                  <a:pt x="861026" y="1487640"/>
                </a:lnTo>
                <a:lnTo>
                  <a:pt x="885626" y="1478611"/>
                </a:lnTo>
                <a:lnTo>
                  <a:pt x="910227" y="1469253"/>
                </a:lnTo>
                <a:lnTo>
                  <a:pt x="934828" y="1459559"/>
                </a:lnTo>
                <a:lnTo>
                  <a:pt x="959429" y="1449524"/>
                </a:lnTo>
                <a:lnTo>
                  <a:pt x="984029" y="1439143"/>
                </a:lnTo>
                <a:lnTo>
                  <a:pt x="1008630" y="1428408"/>
                </a:lnTo>
                <a:lnTo>
                  <a:pt x="1033231" y="1417314"/>
                </a:lnTo>
                <a:lnTo>
                  <a:pt x="1057832" y="1405856"/>
                </a:lnTo>
                <a:lnTo>
                  <a:pt x="1082432" y="1394027"/>
                </a:lnTo>
                <a:lnTo>
                  <a:pt x="1107033" y="1381821"/>
                </a:lnTo>
                <a:lnTo>
                  <a:pt x="1131634" y="1369233"/>
                </a:lnTo>
                <a:lnTo>
                  <a:pt x="1156235" y="1356256"/>
                </a:lnTo>
                <a:lnTo>
                  <a:pt x="1180835" y="1342886"/>
                </a:lnTo>
                <a:lnTo>
                  <a:pt x="1205436" y="1329115"/>
                </a:lnTo>
                <a:lnTo>
                  <a:pt x="1230037" y="1314938"/>
                </a:lnTo>
                <a:lnTo>
                  <a:pt x="1254638" y="1300349"/>
                </a:lnTo>
                <a:lnTo>
                  <a:pt x="1279238" y="1285343"/>
                </a:lnTo>
                <a:lnTo>
                  <a:pt x="1303839" y="1269912"/>
                </a:lnTo>
                <a:lnTo>
                  <a:pt x="1328440" y="1254052"/>
                </a:lnTo>
                <a:lnTo>
                  <a:pt x="1353041" y="1237757"/>
                </a:lnTo>
                <a:lnTo>
                  <a:pt x="1377641" y="1221020"/>
                </a:lnTo>
                <a:lnTo>
                  <a:pt x="1402242" y="1203835"/>
                </a:lnTo>
                <a:lnTo>
                  <a:pt x="1426843" y="1186197"/>
                </a:lnTo>
                <a:lnTo>
                  <a:pt x="1451444" y="1168101"/>
                </a:lnTo>
                <a:lnTo>
                  <a:pt x="1476044" y="1149539"/>
                </a:lnTo>
                <a:lnTo>
                  <a:pt x="1500645" y="1130506"/>
                </a:lnTo>
                <a:lnTo>
                  <a:pt x="1525246" y="1110997"/>
                </a:lnTo>
                <a:lnTo>
                  <a:pt x="1549847" y="1091004"/>
                </a:lnTo>
                <a:lnTo>
                  <a:pt x="1574447" y="1070523"/>
                </a:lnTo>
                <a:lnTo>
                  <a:pt x="1599048" y="1049548"/>
                </a:lnTo>
                <a:lnTo>
                  <a:pt x="1623649" y="1028072"/>
                </a:lnTo>
                <a:lnTo>
                  <a:pt x="1648250" y="1006089"/>
                </a:lnTo>
                <a:lnTo>
                  <a:pt x="1672850" y="983595"/>
                </a:lnTo>
                <a:lnTo>
                  <a:pt x="1697451" y="960582"/>
                </a:lnTo>
                <a:lnTo>
                  <a:pt x="1722052" y="937045"/>
                </a:lnTo>
                <a:lnTo>
                  <a:pt x="1746653" y="912978"/>
                </a:lnTo>
                <a:lnTo>
                  <a:pt x="1771253" y="888376"/>
                </a:lnTo>
                <a:lnTo>
                  <a:pt x="1795854" y="863232"/>
                </a:lnTo>
                <a:lnTo>
                  <a:pt x="1820455" y="837540"/>
                </a:lnTo>
                <a:lnTo>
                  <a:pt x="1845056" y="811294"/>
                </a:lnTo>
                <a:lnTo>
                  <a:pt x="1869656" y="784489"/>
                </a:lnTo>
                <a:lnTo>
                  <a:pt x="1894257" y="757119"/>
                </a:lnTo>
                <a:lnTo>
                  <a:pt x="1918858" y="729177"/>
                </a:lnTo>
                <a:lnTo>
                  <a:pt x="1943458" y="700659"/>
                </a:lnTo>
                <a:lnTo>
                  <a:pt x="1968059" y="671557"/>
                </a:lnTo>
                <a:lnTo>
                  <a:pt x="1992660" y="641866"/>
                </a:lnTo>
                <a:lnTo>
                  <a:pt x="2017261" y="611581"/>
                </a:lnTo>
                <a:lnTo>
                  <a:pt x="2041861" y="580695"/>
                </a:lnTo>
                <a:lnTo>
                  <a:pt x="2066462" y="549202"/>
                </a:lnTo>
                <a:lnTo>
                  <a:pt x="2091063" y="517097"/>
                </a:lnTo>
                <a:lnTo>
                  <a:pt x="2115664" y="484373"/>
                </a:lnTo>
                <a:lnTo>
                  <a:pt x="2140264" y="451025"/>
                </a:lnTo>
                <a:lnTo>
                  <a:pt x="2164865" y="417046"/>
                </a:lnTo>
                <a:lnTo>
                  <a:pt x="2189466" y="382432"/>
                </a:lnTo>
                <a:lnTo>
                  <a:pt x="2214067" y="347175"/>
                </a:lnTo>
                <a:lnTo>
                  <a:pt x="2238667" y="311270"/>
                </a:lnTo>
                <a:lnTo>
                  <a:pt x="2263268" y="274712"/>
                </a:lnTo>
                <a:lnTo>
                  <a:pt x="2287869" y="237494"/>
                </a:lnTo>
                <a:lnTo>
                  <a:pt x="2312470" y="199610"/>
                </a:lnTo>
                <a:lnTo>
                  <a:pt x="2337070" y="161055"/>
                </a:lnTo>
                <a:lnTo>
                  <a:pt x="2361671" y="121822"/>
                </a:lnTo>
                <a:lnTo>
                  <a:pt x="2386272" y="81906"/>
                </a:lnTo>
                <a:lnTo>
                  <a:pt x="2410873" y="41301"/>
                </a:lnTo>
                <a:lnTo>
                  <a:pt x="2435473" y="0"/>
                </a:lnTo>
                <a:lnTo>
                  <a:pt x="2435473" y="3304299"/>
                </a:lnTo>
                <a:lnTo>
                  <a:pt x="2410873" y="3304299"/>
                </a:lnTo>
                <a:lnTo>
                  <a:pt x="2386272" y="3304299"/>
                </a:lnTo>
                <a:lnTo>
                  <a:pt x="2361671" y="3304299"/>
                </a:lnTo>
                <a:lnTo>
                  <a:pt x="2337070" y="3304299"/>
                </a:lnTo>
                <a:lnTo>
                  <a:pt x="2312470" y="3304299"/>
                </a:lnTo>
                <a:lnTo>
                  <a:pt x="2287869" y="3304299"/>
                </a:lnTo>
                <a:lnTo>
                  <a:pt x="2263268" y="3304299"/>
                </a:lnTo>
                <a:lnTo>
                  <a:pt x="2238667" y="3304299"/>
                </a:lnTo>
                <a:lnTo>
                  <a:pt x="2214067" y="3304299"/>
                </a:lnTo>
                <a:lnTo>
                  <a:pt x="2189466" y="3304299"/>
                </a:lnTo>
                <a:lnTo>
                  <a:pt x="2164865" y="3304299"/>
                </a:lnTo>
                <a:lnTo>
                  <a:pt x="2140264" y="3304299"/>
                </a:lnTo>
                <a:lnTo>
                  <a:pt x="2115664" y="3304299"/>
                </a:lnTo>
                <a:lnTo>
                  <a:pt x="2091063" y="3304299"/>
                </a:lnTo>
                <a:lnTo>
                  <a:pt x="2066462" y="3304299"/>
                </a:lnTo>
                <a:lnTo>
                  <a:pt x="2041861" y="3304299"/>
                </a:lnTo>
                <a:lnTo>
                  <a:pt x="2017261" y="3304299"/>
                </a:lnTo>
                <a:lnTo>
                  <a:pt x="1992660" y="3304299"/>
                </a:lnTo>
                <a:lnTo>
                  <a:pt x="1968059" y="3304299"/>
                </a:lnTo>
                <a:lnTo>
                  <a:pt x="1943458" y="3304299"/>
                </a:lnTo>
                <a:lnTo>
                  <a:pt x="1918858" y="3304299"/>
                </a:lnTo>
                <a:lnTo>
                  <a:pt x="1894257" y="3304299"/>
                </a:lnTo>
                <a:lnTo>
                  <a:pt x="1869656" y="3304299"/>
                </a:lnTo>
                <a:lnTo>
                  <a:pt x="1845056" y="3304299"/>
                </a:lnTo>
                <a:lnTo>
                  <a:pt x="1820455" y="3304299"/>
                </a:lnTo>
                <a:lnTo>
                  <a:pt x="1795854" y="3304299"/>
                </a:lnTo>
                <a:lnTo>
                  <a:pt x="1771253" y="3304299"/>
                </a:lnTo>
                <a:lnTo>
                  <a:pt x="1746653" y="3304299"/>
                </a:lnTo>
                <a:lnTo>
                  <a:pt x="1722052" y="3304299"/>
                </a:lnTo>
                <a:lnTo>
                  <a:pt x="1697451" y="3304299"/>
                </a:lnTo>
                <a:lnTo>
                  <a:pt x="1672850" y="3304299"/>
                </a:lnTo>
                <a:lnTo>
                  <a:pt x="1648250" y="3304299"/>
                </a:lnTo>
                <a:lnTo>
                  <a:pt x="1623649" y="3304299"/>
                </a:lnTo>
                <a:lnTo>
                  <a:pt x="1599048" y="3304299"/>
                </a:lnTo>
                <a:lnTo>
                  <a:pt x="1574447" y="3304299"/>
                </a:lnTo>
                <a:lnTo>
                  <a:pt x="1549847" y="3304299"/>
                </a:lnTo>
                <a:lnTo>
                  <a:pt x="1525246" y="3304299"/>
                </a:lnTo>
                <a:lnTo>
                  <a:pt x="1500645" y="3304299"/>
                </a:lnTo>
                <a:lnTo>
                  <a:pt x="1476044" y="3304299"/>
                </a:lnTo>
                <a:lnTo>
                  <a:pt x="1451444" y="3304299"/>
                </a:lnTo>
                <a:lnTo>
                  <a:pt x="1426843" y="3304299"/>
                </a:lnTo>
                <a:lnTo>
                  <a:pt x="1402242" y="3304299"/>
                </a:lnTo>
                <a:lnTo>
                  <a:pt x="1377641" y="3304299"/>
                </a:lnTo>
                <a:lnTo>
                  <a:pt x="1353041" y="3304299"/>
                </a:lnTo>
                <a:lnTo>
                  <a:pt x="1328440" y="3304299"/>
                </a:lnTo>
                <a:lnTo>
                  <a:pt x="1303839" y="3304299"/>
                </a:lnTo>
                <a:lnTo>
                  <a:pt x="1279238" y="3304299"/>
                </a:lnTo>
                <a:lnTo>
                  <a:pt x="1254638" y="3304299"/>
                </a:lnTo>
                <a:lnTo>
                  <a:pt x="1230037" y="3304299"/>
                </a:lnTo>
                <a:lnTo>
                  <a:pt x="1205436" y="3304299"/>
                </a:lnTo>
                <a:lnTo>
                  <a:pt x="1180835" y="3304299"/>
                </a:lnTo>
                <a:lnTo>
                  <a:pt x="1156235" y="3304299"/>
                </a:lnTo>
                <a:lnTo>
                  <a:pt x="1131634" y="3304299"/>
                </a:lnTo>
                <a:lnTo>
                  <a:pt x="1107033" y="3304299"/>
                </a:lnTo>
                <a:lnTo>
                  <a:pt x="1082432" y="3304299"/>
                </a:lnTo>
                <a:lnTo>
                  <a:pt x="1057832" y="3304299"/>
                </a:lnTo>
                <a:lnTo>
                  <a:pt x="1033231" y="3304299"/>
                </a:lnTo>
                <a:lnTo>
                  <a:pt x="1008630" y="3304299"/>
                </a:lnTo>
                <a:lnTo>
                  <a:pt x="984029" y="3304299"/>
                </a:lnTo>
                <a:lnTo>
                  <a:pt x="959429" y="3304299"/>
                </a:lnTo>
                <a:lnTo>
                  <a:pt x="934828" y="3304299"/>
                </a:lnTo>
                <a:lnTo>
                  <a:pt x="910227" y="3304299"/>
                </a:lnTo>
                <a:lnTo>
                  <a:pt x="885626" y="3304299"/>
                </a:lnTo>
                <a:lnTo>
                  <a:pt x="861026" y="3304299"/>
                </a:lnTo>
                <a:lnTo>
                  <a:pt x="836425" y="3304299"/>
                </a:lnTo>
                <a:lnTo>
                  <a:pt x="811824" y="3304299"/>
                </a:lnTo>
                <a:lnTo>
                  <a:pt x="787223" y="3304299"/>
                </a:lnTo>
                <a:lnTo>
                  <a:pt x="762623" y="3304299"/>
                </a:lnTo>
                <a:lnTo>
                  <a:pt x="738022" y="3304299"/>
                </a:lnTo>
                <a:lnTo>
                  <a:pt x="713421" y="3304299"/>
                </a:lnTo>
                <a:lnTo>
                  <a:pt x="688820" y="3304299"/>
                </a:lnTo>
                <a:lnTo>
                  <a:pt x="664220" y="3304299"/>
                </a:lnTo>
                <a:lnTo>
                  <a:pt x="639619" y="3304299"/>
                </a:lnTo>
                <a:lnTo>
                  <a:pt x="615018" y="3304299"/>
                </a:lnTo>
                <a:lnTo>
                  <a:pt x="590417" y="3304299"/>
                </a:lnTo>
                <a:lnTo>
                  <a:pt x="565817" y="3304299"/>
                </a:lnTo>
                <a:lnTo>
                  <a:pt x="541216" y="3304299"/>
                </a:lnTo>
                <a:lnTo>
                  <a:pt x="516615" y="3304299"/>
                </a:lnTo>
                <a:lnTo>
                  <a:pt x="492014" y="3304299"/>
                </a:lnTo>
                <a:lnTo>
                  <a:pt x="467414" y="3304299"/>
                </a:lnTo>
                <a:lnTo>
                  <a:pt x="442813" y="3304299"/>
                </a:lnTo>
                <a:lnTo>
                  <a:pt x="418212" y="3304299"/>
                </a:lnTo>
                <a:lnTo>
                  <a:pt x="393611" y="3304299"/>
                </a:lnTo>
                <a:lnTo>
                  <a:pt x="369011" y="3304299"/>
                </a:lnTo>
                <a:lnTo>
                  <a:pt x="344410" y="3304299"/>
                </a:lnTo>
                <a:lnTo>
                  <a:pt x="319809" y="3304299"/>
                </a:lnTo>
                <a:lnTo>
                  <a:pt x="295208" y="3304299"/>
                </a:lnTo>
                <a:lnTo>
                  <a:pt x="270608" y="3304299"/>
                </a:lnTo>
                <a:lnTo>
                  <a:pt x="246007" y="3304299"/>
                </a:lnTo>
                <a:lnTo>
                  <a:pt x="221406" y="3304299"/>
                </a:lnTo>
                <a:lnTo>
                  <a:pt x="196805" y="3304299"/>
                </a:lnTo>
                <a:lnTo>
                  <a:pt x="172205" y="3304299"/>
                </a:lnTo>
                <a:lnTo>
                  <a:pt x="147604" y="3304299"/>
                </a:lnTo>
                <a:lnTo>
                  <a:pt x="123003" y="3304299"/>
                </a:lnTo>
                <a:lnTo>
                  <a:pt x="98402" y="3304299"/>
                </a:lnTo>
                <a:lnTo>
                  <a:pt x="73802" y="3304299"/>
                </a:lnTo>
                <a:lnTo>
                  <a:pt x="49201" y="3304299"/>
                </a:lnTo>
                <a:lnTo>
                  <a:pt x="24600" y="3304299"/>
                </a:lnTo>
                <a:lnTo>
                  <a:pt x="0" y="3304299"/>
                </a:lnTo>
                <a:close/>
              </a:path>
            </a:pathLst>
          </a:custGeom>
          <a:solidFill>
            <a:srgbClr val="8EDBD4">
              <a:alpha val="25000"/>
            </a:srgbClr>
          </a:solidFill>
          <a:ln w="10160">
            <a:solidFill>
              <a:srgbClr val="8EDBD4">
                <a:alpha val="2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A-E04 polygon 46" descr="sci-ppt:o046"/>
          <p:cNvSpPr/>
          <p:nvPr/>
        </p:nvSpPr>
        <p:spPr>
          <a:xfrm>
            <a:off x="4937760" y="1537062"/>
            <a:ext cx="2926080" cy="1654629"/>
          </a:xfrm>
          <a:custGeom>
            <a:avLst/>
            <a:gdLst/>
            <a:ahLst/>
            <a:cxnLst/>
            <a:rect l="l" t="t" r="r" b="b"/>
            <a:pathLst>
              <a:path w="2926080" h="1654629">
                <a:moveTo>
                  <a:pt x="0" y="1654629"/>
                </a:moveTo>
                <a:lnTo>
                  <a:pt x="29556" y="1654627"/>
                </a:lnTo>
                <a:lnTo>
                  <a:pt x="59112" y="1654615"/>
                </a:lnTo>
                <a:lnTo>
                  <a:pt x="88669" y="1654583"/>
                </a:lnTo>
                <a:lnTo>
                  <a:pt x="118225" y="1654520"/>
                </a:lnTo>
                <a:lnTo>
                  <a:pt x="147781" y="1654416"/>
                </a:lnTo>
                <a:lnTo>
                  <a:pt x="177338" y="1654261"/>
                </a:lnTo>
                <a:lnTo>
                  <a:pt x="206894" y="1654044"/>
                </a:lnTo>
                <a:lnTo>
                  <a:pt x="236450" y="1653756"/>
                </a:lnTo>
                <a:lnTo>
                  <a:pt x="266007" y="1653386"/>
                </a:lnTo>
                <a:lnTo>
                  <a:pt x="295563" y="1652924"/>
                </a:lnTo>
                <a:lnTo>
                  <a:pt x="325120" y="1652359"/>
                </a:lnTo>
                <a:lnTo>
                  <a:pt x="354676" y="1651682"/>
                </a:lnTo>
                <a:lnTo>
                  <a:pt x="384232" y="1650882"/>
                </a:lnTo>
                <a:lnTo>
                  <a:pt x="413789" y="1649950"/>
                </a:lnTo>
                <a:lnTo>
                  <a:pt x="443345" y="1648874"/>
                </a:lnTo>
                <a:lnTo>
                  <a:pt x="472901" y="1647644"/>
                </a:lnTo>
                <a:lnTo>
                  <a:pt x="502458" y="1646251"/>
                </a:lnTo>
                <a:lnTo>
                  <a:pt x="532014" y="1644684"/>
                </a:lnTo>
                <a:lnTo>
                  <a:pt x="561570" y="1642932"/>
                </a:lnTo>
                <a:lnTo>
                  <a:pt x="591127" y="1640987"/>
                </a:lnTo>
                <a:lnTo>
                  <a:pt x="620683" y="1638836"/>
                </a:lnTo>
                <a:lnTo>
                  <a:pt x="650240" y="1636471"/>
                </a:lnTo>
                <a:lnTo>
                  <a:pt x="679796" y="1633881"/>
                </a:lnTo>
                <a:lnTo>
                  <a:pt x="709352" y="1631055"/>
                </a:lnTo>
                <a:lnTo>
                  <a:pt x="738909" y="1627984"/>
                </a:lnTo>
                <a:lnTo>
                  <a:pt x="768465" y="1624657"/>
                </a:lnTo>
                <a:lnTo>
                  <a:pt x="798021" y="1621064"/>
                </a:lnTo>
                <a:lnTo>
                  <a:pt x="827578" y="1617195"/>
                </a:lnTo>
                <a:lnTo>
                  <a:pt x="857134" y="1613039"/>
                </a:lnTo>
                <a:lnTo>
                  <a:pt x="886690" y="1608586"/>
                </a:lnTo>
                <a:lnTo>
                  <a:pt x="916247" y="1603827"/>
                </a:lnTo>
                <a:lnTo>
                  <a:pt x="945803" y="1598750"/>
                </a:lnTo>
                <a:lnTo>
                  <a:pt x="975360" y="1593346"/>
                </a:lnTo>
                <a:lnTo>
                  <a:pt x="1004916" y="1587605"/>
                </a:lnTo>
                <a:lnTo>
                  <a:pt x="1034472" y="1581515"/>
                </a:lnTo>
                <a:lnTo>
                  <a:pt x="1064029" y="1575068"/>
                </a:lnTo>
                <a:lnTo>
                  <a:pt x="1093585" y="1568252"/>
                </a:lnTo>
                <a:lnTo>
                  <a:pt x="1123141" y="1561057"/>
                </a:lnTo>
                <a:lnTo>
                  <a:pt x="1152698" y="1553474"/>
                </a:lnTo>
                <a:lnTo>
                  <a:pt x="1182254" y="1545491"/>
                </a:lnTo>
                <a:lnTo>
                  <a:pt x="1211810" y="1537100"/>
                </a:lnTo>
                <a:lnTo>
                  <a:pt x="1241367" y="1528288"/>
                </a:lnTo>
                <a:lnTo>
                  <a:pt x="1270923" y="1519047"/>
                </a:lnTo>
                <a:lnTo>
                  <a:pt x="1300480" y="1509367"/>
                </a:lnTo>
                <a:lnTo>
                  <a:pt x="1330036" y="1499236"/>
                </a:lnTo>
                <a:lnTo>
                  <a:pt x="1359592" y="1488644"/>
                </a:lnTo>
                <a:lnTo>
                  <a:pt x="1389149" y="1477582"/>
                </a:lnTo>
                <a:lnTo>
                  <a:pt x="1418705" y="1466039"/>
                </a:lnTo>
                <a:lnTo>
                  <a:pt x="1448261" y="1454005"/>
                </a:lnTo>
                <a:lnTo>
                  <a:pt x="1477818" y="1441469"/>
                </a:lnTo>
                <a:lnTo>
                  <a:pt x="1507374" y="1428422"/>
                </a:lnTo>
                <a:lnTo>
                  <a:pt x="1536930" y="1414853"/>
                </a:lnTo>
                <a:lnTo>
                  <a:pt x="1566487" y="1400752"/>
                </a:lnTo>
                <a:lnTo>
                  <a:pt x="1596043" y="1386109"/>
                </a:lnTo>
                <a:lnTo>
                  <a:pt x="1625600" y="1370913"/>
                </a:lnTo>
                <a:lnTo>
                  <a:pt x="1655156" y="1355155"/>
                </a:lnTo>
                <a:lnTo>
                  <a:pt x="1684712" y="1338824"/>
                </a:lnTo>
                <a:lnTo>
                  <a:pt x="1714269" y="1321909"/>
                </a:lnTo>
                <a:lnTo>
                  <a:pt x="1743825" y="1304401"/>
                </a:lnTo>
                <a:lnTo>
                  <a:pt x="1773381" y="1286289"/>
                </a:lnTo>
                <a:lnTo>
                  <a:pt x="1802938" y="1267563"/>
                </a:lnTo>
                <a:lnTo>
                  <a:pt x="1832494" y="1248214"/>
                </a:lnTo>
                <a:lnTo>
                  <a:pt x="1862050" y="1228230"/>
                </a:lnTo>
                <a:lnTo>
                  <a:pt x="1891607" y="1207601"/>
                </a:lnTo>
                <a:lnTo>
                  <a:pt x="1921163" y="1186317"/>
                </a:lnTo>
                <a:lnTo>
                  <a:pt x="1950720" y="1164369"/>
                </a:lnTo>
                <a:lnTo>
                  <a:pt x="1980276" y="1141745"/>
                </a:lnTo>
                <a:lnTo>
                  <a:pt x="2009832" y="1118435"/>
                </a:lnTo>
                <a:lnTo>
                  <a:pt x="2039389" y="1094430"/>
                </a:lnTo>
                <a:lnTo>
                  <a:pt x="2068945" y="1069719"/>
                </a:lnTo>
                <a:lnTo>
                  <a:pt x="2098501" y="1044292"/>
                </a:lnTo>
                <a:lnTo>
                  <a:pt x="2128058" y="1018138"/>
                </a:lnTo>
                <a:lnTo>
                  <a:pt x="2157614" y="991247"/>
                </a:lnTo>
                <a:lnTo>
                  <a:pt x="2187170" y="963610"/>
                </a:lnTo>
                <a:lnTo>
                  <a:pt x="2216727" y="935215"/>
                </a:lnTo>
                <a:lnTo>
                  <a:pt x="2246283" y="906053"/>
                </a:lnTo>
                <a:lnTo>
                  <a:pt x="2275840" y="876114"/>
                </a:lnTo>
                <a:lnTo>
                  <a:pt x="2305396" y="845386"/>
                </a:lnTo>
                <a:lnTo>
                  <a:pt x="2334952" y="813861"/>
                </a:lnTo>
                <a:lnTo>
                  <a:pt x="2364509" y="781527"/>
                </a:lnTo>
                <a:lnTo>
                  <a:pt x="2394065" y="748375"/>
                </a:lnTo>
                <a:lnTo>
                  <a:pt x="2423621" y="714394"/>
                </a:lnTo>
                <a:lnTo>
                  <a:pt x="2453178" y="679574"/>
                </a:lnTo>
                <a:lnTo>
                  <a:pt x="2482734" y="643904"/>
                </a:lnTo>
                <a:lnTo>
                  <a:pt x="2512290" y="607376"/>
                </a:lnTo>
                <a:lnTo>
                  <a:pt x="2541847" y="569977"/>
                </a:lnTo>
                <a:lnTo>
                  <a:pt x="2571403" y="531699"/>
                </a:lnTo>
                <a:lnTo>
                  <a:pt x="2600960" y="492530"/>
                </a:lnTo>
                <a:lnTo>
                  <a:pt x="2630516" y="452462"/>
                </a:lnTo>
                <a:lnTo>
                  <a:pt x="2660072" y="411482"/>
                </a:lnTo>
                <a:lnTo>
                  <a:pt x="2689629" y="369582"/>
                </a:lnTo>
                <a:lnTo>
                  <a:pt x="2719185" y="326750"/>
                </a:lnTo>
                <a:lnTo>
                  <a:pt x="2748741" y="282977"/>
                </a:lnTo>
                <a:lnTo>
                  <a:pt x="2778298" y="238253"/>
                </a:lnTo>
                <a:lnTo>
                  <a:pt x="2807854" y="192567"/>
                </a:lnTo>
                <a:lnTo>
                  <a:pt x="2837410" y="145909"/>
                </a:lnTo>
                <a:lnTo>
                  <a:pt x="2866967" y="98269"/>
                </a:lnTo>
                <a:lnTo>
                  <a:pt x="2896523" y="49636"/>
                </a:lnTo>
                <a:lnTo>
                  <a:pt x="292608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A-E04 text 47" descr="sci-ppt:o047"/>
          <p:cNvSpPr txBox="1"/>
          <p:nvPr/>
        </p:nvSpPr>
        <p:spPr>
          <a:xfrm>
            <a:off x="5157216" y="1776548"/>
            <a:ext cx="1097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(1 + q³)</a:t>
            </a:r>
          </a:p>
        </p:txBody>
      </p:sp>
      <p:sp>
        <p:nvSpPr>
          <p:cNvPr id="50" name="A-E04 round_rect 48" descr="sci-ppt:o048"/>
          <p:cNvSpPr/>
          <p:nvPr/>
        </p:nvSpPr>
        <p:spPr>
          <a:xfrm>
            <a:off x="8229600" y="1371600"/>
            <a:ext cx="3611880" cy="34747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A-E04 text 49" descr="sci-ppt:o049"/>
          <p:cNvSpPr txBox="1"/>
          <p:nvPr/>
        </p:nvSpPr>
        <p:spPr>
          <a:xfrm>
            <a:off x="8339327" y="1426464"/>
            <a:ext cx="33924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Change of variable</a:t>
            </a:r>
          </a:p>
        </p:txBody>
      </p:sp>
      <p:sp>
        <p:nvSpPr>
          <p:cNvPr id="52" name="A-E04 text 50" descr="sci-ppt:o050"/>
          <p:cNvSpPr txBox="1"/>
          <p:nvPr/>
        </p:nvSpPr>
        <p:spPr>
          <a:xfrm>
            <a:off x="8321040" y="1828800"/>
            <a:ext cx="34290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E7F0F3"/>
                </a:solidFill>
                <a:latin typeface="Arial"/>
              </a:rPr>
              <a:t>q³ = 1 − (R³ − R_ref³)/r³</a:t>
            </a:r>
          </a:p>
        </p:txBody>
      </p:sp>
      <p:sp>
        <p:nvSpPr>
          <p:cNvPr id="53" name="A-E04 text 51" descr="sci-ppt:o051"/>
          <p:cNvSpPr txBox="1"/>
          <p:nvPr/>
        </p:nvSpPr>
        <p:spPr>
          <a:xfrm>
            <a:off x="8321040" y="2377440"/>
            <a:ext cx="3429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dr/r = q² dq / (1 − q³)</a:t>
            </a:r>
          </a:p>
        </p:txBody>
      </p:sp>
      <p:sp>
        <p:nvSpPr>
          <p:cNvPr id="54" name="A-E04 text 52" descr="sci-ppt:o052"/>
          <p:cNvSpPr txBox="1"/>
          <p:nvPr/>
        </p:nvSpPr>
        <p:spPr>
          <a:xfrm>
            <a:off x="8321040" y="2926080"/>
            <a:ext cx="3429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(q⁻² − q⁴) dr/r = (1 + q³) dq</a:t>
            </a:r>
          </a:p>
        </p:txBody>
      </p:sp>
      <p:sp>
        <p:nvSpPr>
          <p:cNvPr id="55" name="A-E04 text 53" descr="sci-ppt:o053"/>
          <p:cNvSpPr txBox="1"/>
          <p:nvPr/>
        </p:nvSpPr>
        <p:spPr>
          <a:xfrm>
            <a:off x="8321040" y="3657600"/>
            <a:ext cx="342900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A messy spatial integral becomes a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polynomial.</a:t>
            </a:r>
          </a:p>
        </p:txBody>
      </p:sp>
      <p:sp>
        <p:nvSpPr>
          <p:cNvPr id="56" name="A-E04 text 54" descr="sci-ppt:o054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Check: (q⁻² − q⁴) q²/(1 − q³) = 1 + q³ on the whole range (max difference 1.3e-14).</a:t>
            </a:r>
          </a:p>
        </p:txBody>
      </p:sp>
      <p:sp>
        <p:nvSpPr>
          <p:cNvPr id="57" name="A-E04 text 55" descr="sci-ppt:o055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Exact change of variable of Eq. A-E04.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