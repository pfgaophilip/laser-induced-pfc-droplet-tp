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A-E24 · Original load and interface-work accounting</a:t>
            </a:r>
          </a:p>
        </p:txBody>
      </p:sp>
      <p:sp>
        <p:nvSpPr>
          <p:cNvPr id="3" name="A-E24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Follow the delivered load to the intended interface and the final placement</a:t>
            </a:r>
          </a:p>
        </p:txBody>
      </p:sp>
      <p:sp>
        <p:nvSpPr>
          <p:cNvPr id="4" name="A-E24 round_rect 2" descr="sci-ppt:o002"/>
          <p:cNvSpPr/>
          <p:nvPr/>
        </p:nvSpPr>
        <p:spPr>
          <a:xfrm>
            <a:off x="457200" y="1463040"/>
            <a:ext cx="243459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A-E24 text 3" descr="sci-ppt:o003"/>
          <p:cNvSpPr txBox="1"/>
          <p:nvPr/>
        </p:nvSpPr>
        <p:spPr>
          <a:xfrm>
            <a:off x="530352" y="1517904"/>
            <a:ext cx="228828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load</a:t>
            </a:r>
          </a:p>
        </p:txBody>
      </p:sp>
      <p:sp>
        <p:nvSpPr>
          <p:cNvPr id="6" name="A-E24 text 4" descr="sci-ppt:o004"/>
          <p:cNvSpPr txBox="1"/>
          <p:nvPr/>
        </p:nvSpPr>
        <p:spPr>
          <a:xfrm>
            <a:off x="530352" y="1791081"/>
            <a:ext cx="228828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t_load on Aₜ</a:t>
            </a:r>
          </a:p>
        </p:txBody>
      </p:sp>
      <p:cxnSp>
        <p:nvCxnSpPr>
          <p:cNvPr id="7" name="A-E24 arrow 5" descr="sci-ppt:o005"/>
          <p:cNvCxnSpPr/>
          <p:nvPr/>
        </p:nvCxnSpPr>
        <p:spPr>
          <a:xfrm>
            <a:off x="2919222" y="2148840"/>
            <a:ext cx="44805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A-E24 round_rect 6" descr="sci-ppt:o006"/>
          <p:cNvSpPr/>
          <p:nvPr/>
        </p:nvSpPr>
        <p:spPr>
          <a:xfrm>
            <a:off x="3394710" y="1463040"/>
            <a:ext cx="243459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A-E24 text 7" descr="sci-ppt:o007"/>
          <p:cNvSpPr txBox="1"/>
          <p:nvPr/>
        </p:nvSpPr>
        <p:spPr>
          <a:xfrm>
            <a:off x="3467862" y="1517904"/>
            <a:ext cx="228828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impulse</a:t>
            </a:r>
          </a:p>
        </p:txBody>
      </p:sp>
      <p:sp>
        <p:nvSpPr>
          <p:cNvPr id="10" name="A-E24 text 8" descr="sci-ppt:o008"/>
          <p:cNvSpPr txBox="1"/>
          <p:nvPr/>
        </p:nvSpPr>
        <p:spPr>
          <a:xfrm>
            <a:off x="3467862" y="1791081"/>
            <a:ext cx="228828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J_target = ∫∫ t_load dA dt</a:t>
            </a:r>
          </a:p>
        </p:txBody>
      </p:sp>
      <p:cxnSp>
        <p:nvCxnSpPr>
          <p:cNvPr id="11" name="A-E24 arrow 9" descr="sci-ppt:o009"/>
          <p:cNvCxnSpPr/>
          <p:nvPr/>
        </p:nvCxnSpPr>
        <p:spPr>
          <a:xfrm>
            <a:off x="5856732" y="2148840"/>
            <a:ext cx="44805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A-E24 round_rect 10" descr="sci-ppt:o010"/>
          <p:cNvSpPr/>
          <p:nvPr/>
        </p:nvSpPr>
        <p:spPr>
          <a:xfrm>
            <a:off x="6332220" y="1463040"/>
            <a:ext cx="243459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A-E24 text 11" descr="sci-ppt:o011"/>
          <p:cNvSpPr txBox="1"/>
          <p:nvPr/>
        </p:nvSpPr>
        <p:spPr>
          <a:xfrm>
            <a:off x="6405372" y="1517904"/>
            <a:ext cx="228828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interface</a:t>
            </a:r>
          </a:p>
        </p:txBody>
      </p:sp>
      <p:sp>
        <p:nvSpPr>
          <p:cNvPr id="14" name="A-E24 text 12" descr="sci-ppt:o012"/>
          <p:cNvSpPr txBox="1"/>
          <p:nvPr/>
        </p:nvSpPr>
        <p:spPr>
          <a:xfrm>
            <a:off x="6405372" y="1791081"/>
            <a:ext cx="228828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Wₛₑₚ,min = ∫ Γ_c dA</a:t>
            </a:r>
          </a:p>
        </p:txBody>
      </p:sp>
      <p:cxnSp>
        <p:nvCxnSpPr>
          <p:cNvPr id="15" name="A-E24 arrow 13" descr="sci-ppt:o013"/>
          <p:cNvCxnSpPr/>
          <p:nvPr/>
        </p:nvCxnSpPr>
        <p:spPr>
          <a:xfrm>
            <a:off x="8794242" y="2148840"/>
            <a:ext cx="44805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A-E24 round_rect 14" descr="sci-ppt:o014"/>
          <p:cNvSpPr/>
          <p:nvPr/>
        </p:nvSpPr>
        <p:spPr>
          <a:xfrm>
            <a:off x="9269730" y="1463040"/>
            <a:ext cx="2434590" cy="1371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A8E6A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A-E24 text 15" descr="sci-ppt:o015"/>
          <p:cNvSpPr txBox="1"/>
          <p:nvPr/>
        </p:nvSpPr>
        <p:spPr>
          <a:xfrm>
            <a:off x="9342882" y="1517904"/>
            <a:ext cx="228828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A8E6A1"/>
                </a:solidFill>
                <a:latin typeface="Arial"/>
              </a:rPr>
              <a:t>placement</a:t>
            </a:r>
          </a:p>
        </p:txBody>
      </p:sp>
      <p:sp>
        <p:nvSpPr>
          <p:cNvPr id="18" name="A-E24 text 16" descr="sci-ppt:o016"/>
          <p:cNvSpPr txBox="1"/>
          <p:nvPr/>
        </p:nvSpPr>
        <p:spPr>
          <a:xfrm>
            <a:off x="9342882" y="1791081"/>
            <a:ext cx="2288286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final position</a:t>
            </a:r>
          </a:p>
        </p:txBody>
      </p:sp>
      <p:sp>
        <p:nvSpPr>
          <p:cNvPr id="19" name="A-E24 round_rect 17" descr="sci-ppt:o017"/>
          <p:cNvSpPr/>
          <p:nvPr/>
        </p:nvSpPr>
        <p:spPr>
          <a:xfrm>
            <a:off x="457200" y="3200400"/>
            <a:ext cx="54864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A-E24 text 18" descr="sci-ppt:o018"/>
          <p:cNvSpPr txBox="1"/>
          <p:nvPr/>
        </p:nvSpPr>
        <p:spPr>
          <a:xfrm>
            <a:off x="566928" y="32552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Delivered</a:t>
            </a:r>
          </a:p>
        </p:txBody>
      </p:sp>
      <p:sp>
        <p:nvSpPr>
          <p:cNvPr id="21" name="A-E24 text 19" descr="sci-ppt:o019"/>
          <p:cNvSpPr txBox="1"/>
          <p:nvPr/>
        </p:nvSpPr>
        <p:spPr>
          <a:xfrm>
            <a:off x="594360" y="365760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J_target = ∫_{t₀}^{t₁} ∫_{A_t} t_load dA dt</a:t>
            </a:r>
          </a:p>
        </p:txBody>
      </p:sp>
      <p:sp>
        <p:nvSpPr>
          <p:cNvPr id="22" name="A-E24 text 20" descr="sci-ppt:o020"/>
          <p:cNvSpPr txBox="1"/>
          <p:nvPr/>
        </p:nvSpPr>
        <p:spPr>
          <a:xfrm>
            <a:off x="594360" y="4297680"/>
            <a:ext cx="5212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load that actually reaches the target footprint Aₜ over its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time window</a:t>
            </a:r>
          </a:p>
        </p:txBody>
      </p:sp>
      <p:sp>
        <p:nvSpPr>
          <p:cNvPr id="23" name="A-E24 round_rect 21" descr="sci-ppt:o021"/>
          <p:cNvSpPr/>
          <p:nvPr/>
        </p:nvSpPr>
        <p:spPr>
          <a:xfrm>
            <a:off x="6217920" y="3200400"/>
            <a:ext cx="54864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A-E24 text 22" descr="sci-ppt:o022"/>
          <p:cNvSpPr txBox="1"/>
          <p:nvPr/>
        </p:nvSpPr>
        <p:spPr>
          <a:xfrm>
            <a:off x="6327648" y="3255264"/>
            <a:ext cx="52669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Required</a:t>
            </a:r>
          </a:p>
        </p:txBody>
      </p:sp>
      <p:sp>
        <p:nvSpPr>
          <p:cNvPr id="25" name="A-E24 text 23" descr="sci-ppt:o023"/>
          <p:cNvSpPr txBox="1"/>
          <p:nvPr/>
        </p:nvSpPr>
        <p:spPr>
          <a:xfrm>
            <a:off x="6355080" y="365760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Wₛₑₚ,min = ∫_{A_rel} Γ_c dA</a:t>
            </a:r>
          </a:p>
        </p:txBody>
      </p:sp>
      <p:sp>
        <p:nvSpPr>
          <p:cNvPr id="26" name="A-E24 text 24" descr="sci-ppt:o024"/>
          <p:cNvSpPr txBox="1"/>
          <p:nvPr/>
        </p:nvSpPr>
        <p:spPr>
          <a:xfrm>
            <a:off x="6355080" y="4297680"/>
            <a:ext cx="5212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least energy to separate the intended release area</a:t>
            </a:r>
          </a:p>
        </p:txBody>
      </p:sp>
      <p:sp>
        <p:nvSpPr>
          <p:cNvPr id="27" name="A-E24 text 25" descr="sci-ppt:o025"/>
          <p:cNvSpPr txBox="1"/>
          <p:nvPr/>
        </p:nvSpPr>
        <p:spPr>
          <a:xfrm>
            <a:off x="457200" y="56692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fair comparison with the gel path must use the same load, interface and placement accounting.</a:t>
            </a:r>
          </a:p>
        </p:txBody>
      </p:sp>
      <p:sp>
        <p:nvSpPr>
          <p:cNvPr id="28" name="A-E24 text 26" descr="sci-ppt:o02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Original load and interface-work accounting: Eq. A-E24 (Defence 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