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2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A-E20 · Darcy/storage approximation and derived diffusion</a:t>
            </a:r>
          </a:p>
        </p:txBody>
      </p:sp>
      <p:cxnSp>
        <p:nvCxnSpPr>
          <p:cNvPr id="3" name="A-E20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20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20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20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20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8" name="A-E20 line 6" descr="sci-ppt:o006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20 line 7" descr="sci-ppt:o007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20 text 8" descr="sci-ppt:o008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1e-05</a:t>
            </a:r>
          </a:p>
        </p:txBody>
      </p:sp>
      <p:cxnSp>
        <p:nvCxnSpPr>
          <p:cNvPr id="11" name="A-E20 line 9" descr="sci-ppt:o009"/>
          <p:cNvCxnSpPr/>
          <p:nvPr/>
        </p:nvCxnSpPr>
        <p:spPr>
          <a:xfrm>
            <a:off x="48158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20 line 10" descr="sci-ppt:o010"/>
          <p:cNvCxnSpPr/>
          <p:nvPr/>
        </p:nvCxnSpPr>
        <p:spPr>
          <a:xfrm>
            <a:off x="48158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20 text 11" descr="sci-ppt:o011"/>
          <p:cNvSpPr txBox="1"/>
          <p:nvPr/>
        </p:nvSpPr>
        <p:spPr>
          <a:xfrm>
            <a:off x="43586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1e-04</a:t>
            </a:r>
          </a:p>
        </p:txBody>
      </p:sp>
      <p:cxnSp>
        <p:nvCxnSpPr>
          <p:cNvPr id="14" name="A-E20 line 12" descr="sci-ppt:o012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20 line 13" descr="sci-ppt:o013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20 text 14" descr="sci-ppt:o014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17" name="A-E20 line 15" descr="sci-ppt:o015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20 line 16" descr="sci-ppt:o016"/>
          <p:cNvCxnSpPr/>
          <p:nvPr/>
        </p:nvCxnSpPr>
        <p:spPr>
          <a:xfrm>
            <a:off x="850392" y="4114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A-E20 line 17" descr="sci-ppt:o017"/>
          <p:cNvCxnSpPr/>
          <p:nvPr/>
        </p:nvCxnSpPr>
        <p:spPr>
          <a:xfrm>
            <a:off x="914400" y="41148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A-E20 text 18" descr="sci-ppt:o018"/>
          <p:cNvSpPr txBox="1"/>
          <p:nvPr/>
        </p:nvSpPr>
        <p:spPr>
          <a:xfrm>
            <a:off x="45720" y="4032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1e-06</a:t>
            </a:r>
          </a:p>
        </p:txBody>
      </p:sp>
      <p:cxnSp>
        <p:nvCxnSpPr>
          <p:cNvPr id="21" name="A-E20 line 19" descr="sci-ppt:o019"/>
          <p:cNvCxnSpPr/>
          <p:nvPr/>
        </p:nvCxnSpPr>
        <p:spPr>
          <a:xfrm>
            <a:off x="850392" y="3200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A-E20 line 20" descr="sci-ppt:o020"/>
          <p:cNvCxnSpPr/>
          <p:nvPr/>
        </p:nvCxnSpPr>
        <p:spPr>
          <a:xfrm>
            <a:off x="914400" y="32004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A-E20 text 21" descr="sci-ppt:o021"/>
          <p:cNvSpPr txBox="1"/>
          <p:nvPr/>
        </p:nvSpPr>
        <p:spPr>
          <a:xfrm>
            <a:off x="45720" y="3118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1e-03</a:t>
            </a:r>
          </a:p>
        </p:txBody>
      </p:sp>
      <p:cxnSp>
        <p:nvCxnSpPr>
          <p:cNvPr id="24" name="A-E20 line 22" descr="sci-ppt:o022"/>
          <p:cNvCxnSpPr/>
          <p:nvPr/>
        </p:nvCxnSpPr>
        <p:spPr>
          <a:xfrm>
            <a:off x="850392" y="2286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20 line 23" descr="sci-ppt:o023"/>
          <p:cNvCxnSpPr/>
          <p:nvPr/>
        </p:nvCxnSpPr>
        <p:spPr>
          <a:xfrm>
            <a:off x="914400" y="22860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20 text 24" descr="sci-ppt:o024"/>
          <p:cNvSpPr txBox="1"/>
          <p:nvPr/>
        </p:nvSpPr>
        <p:spPr>
          <a:xfrm>
            <a:off x="45720" y="2203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1e+00</a:t>
            </a:r>
          </a:p>
        </p:txBody>
      </p:sp>
      <p:cxnSp>
        <p:nvCxnSpPr>
          <p:cNvPr id="27" name="A-E20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20 line 26" descr="sci-ppt:o026"/>
          <p:cNvCxnSpPr/>
          <p:nvPr/>
        </p:nvCxnSpPr>
        <p:spPr>
          <a:xfrm>
            <a:off x="91440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20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1e+03</a:t>
            </a:r>
          </a:p>
        </p:txBody>
      </p:sp>
      <p:sp>
        <p:nvSpPr>
          <p:cNvPr id="30" name="A-E20 text 28" descr="sci-ppt:o028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drainage length L_g  (m)</a:t>
            </a:r>
          </a:p>
        </p:txBody>
      </p:sp>
      <p:sp>
        <p:nvSpPr>
          <p:cNvPr id="31" name="A-E20 text 29" descr="sci-ppt:o029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tₚₒᵣₒ  (s)</a:t>
            </a:r>
          </a:p>
        </p:txBody>
      </p:sp>
      <p:sp>
        <p:nvSpPr>
          <p:cNvPr id="32" name="A-E20 polygon 30" descr="sci-ppt:o030"/>
          <p:cNvSpPr/>
          <p:nvPr/>
        </p:nvSpPr>
        <p:spPr>
          <a:xfrm>
            <a:off x="914400" y="1377871"/>
            <a:ext cx="5615709" cy="1754909"/>
          </a:xfrm>
          <a:custGeom>
            <a:avLst/>
            <a:gdLst/>
            <a:ahLst/>
            <a:cxnLst/>
            <a:rect l="l" t="t" r="r" b="b"/>
            <a:pathLst>
              <a:path w="5615709" h="1754909">
                <a:moveTo>
                  <a:pt x="0" y="1754909"/>
                </a:moveTo>
                <a:lnTo>
                  <a:pt x="59112" y="1736436"/>
                </a:lnTo>
                <a:lnTo>
                  <a:pt x="118225" y="1717964"/>
                </a:lnTo>
                <a:lnTo>
                  <a:pt x="177338" y="1699491"/>
                </a:lnTo>
                <a:lnTo>
                  <a:pt x="236450" y="1681018"/>
                </a:lnTo>
                <a:lnTo>
                  <a:pt x="295563" y="1662545"/>
                </a:lnTo>
                <a:lnTo>
                  <a:pt x="354676" y="1644073"/>
                </a:lnTo>
                <a:lnTo>
                  <a:pt x="413789" y="1625600"/>
                </a:lnTo>
                <a:lnTo>
                  <a:pt x="472901" y="1607127"/>
                </a:lnTo>
                <a:lnTo>
                  <a:pt x="532014" y="1588654"/>
                </a:lnTo>
                <a:lnTo>
                  <a:pt x="591127" y="1570182"/>
                </a:lnTo>
                <a:lnTo>
                  <a:pt x="650239" y="1551709"/>
                </a:lnTo>
                <a:lnTo>
                  <a:pt x="709352" y="1533236"/>
                </a:lnTo>
                <a:lnTo>
                  <a:pt x="768465" y="1514764"/>
                </a:lnTo>
                <a:lnTo>
                  <a:pt x="827578" y="1496291"/>
                </a:lnTo>
                <a:lnTo>
                  <a:pt x="886690" y="1477818"/>
                </a:lnTo>
                <a:lnTo>
                  <a:pt x="945803" y="1459345"/>
                </a:lnTo>
                <a:lnTo>
                  <a:pt x="1004916" y="1440873"/>
                </a:lnTo>
                <a:lnTo>
                  <a:pt x="1064029" y="1422400"/>
                </a:lnTo>
                <a:lnTo>
                  <a:pt x="1123141" y="1403927"/>
                </a:lnTo>
                <a:lnTo>
                  <a:pt x="1182254" y="1385454"/>
                </a:lnTo>
                <a:lnTo>
                  <a:pt x="1241367" y="1366982"/>
                </a:lnTo>
                <a:lnTo>
                  <a:pt x="1300480" y="1348509"/>
                </a:lnTo>
                <a:lnTo>
                  <a:pt x="1359592" y="1330036"/>
                </a:lnTo>
                <a:lnTo>
                  <a:pt x="1418705" y="1311564"/>
                </a:lnTo>
                <a:lnTo>
                  <a:pt x="1477818" y="1293091"/>
                </a:lnTo>
                <a:lnTo>
                  <a:pt x="1536930" y="1274618"/>
                </a:lnTo>
                <a:lnTo>
                  <a:pt x="1596043" y="1256145"/>
                </a:lnTo>
                <a:lnTo>
                  <a:pt x="1655156" y="1237673"/>
                </a:lnTo>
                <a:lnTo>
                  <a:pt x="1714269" y="1219200"/>
                </a:lnTo>
                <a:lnTo>
                  <a:pt x="1773381" y="1200727"/>
                </a:lnTo>
                <a:lnTo>
                  <a:pt x="1832494" y="1182254"/>
                </a:lnTo>
                <a:lnTo>
                  <a:pt x="1891607" y="1163782"/>
                </a:lnTo>
                <a:lnTo>
                  <a:pt x="1950720" y="1145309"/>
                </a:lnTo>
                <a:lnTo>
                  <a:pt x="2009832" y="1126836"/>
                </a:lnTo>
                <a:lnTo>
                  <a:pt x="2068945" y="1108364"/>
                </a:lnTo>
                <a:lnTo>
                  <a:pt x="2128058" y="1089891"/>
                </a:lnTo>
                <a:lnTo>
                  <a:pt x="2187170" y="1071418"/>
                </a:lnTo>
                <a:lnTo>
                  <a:pt x="2246283" y="1052945"/>
                </a:lnTo>
                <a:lnTo>
                  <a:pt x="2305396" y="1034473"/>
                </a:lnTo>
                <a:lnTo>
                  <a:pt x="2364509" y="1016000"/>
                </a:lnTo>
                <a:lnTo>
                  <a:pt x="2423621" y="997527"/>
                </a:lnTo>
                <a:lnTo>
                  <a:pt x="2482734" y="979054"/>
                </a:lnTo>
                <a:lnTo>
                  <a:pt x="2541847" y="960582"/>
                </a:lnTo>
                <a:lnTo>
                  <a:pt x="2600960" y="942109"/>
                </a:lnTo>
                <a:lnTo>
                  <a:pt x="2660072" y="923636"/>
                </a:lnTo>
                <a:lnTo>
                  <a:pt x="2719185" y="905164"/>
                </a:lnTo>
                <a:lnTo>
                  <a:pt x="2778298" y="886691"/>
                </a:lnTo>
                <a:lnTo>
                  <a:pt x="2837410" y="868218"/>
                </a:lnTo>
                <a:lnTo>
                  <a:pt x="2896523" y="849745"/>
                </a:lnTo>
                <a:lnTo>
                  <a:pt x="2955636" y="831273"/>
                </a:lnTo>
                <a:lnTo>
                  <a:pt x="3014749" y="812800"/>
                </a:lnTo>
                <a:lnTo>
                  <a:pt x="3073861" y="794327"/>
                </a:lnTo>
                <a:lnTo>
                  <a:pt x="3132974" y="775854"/>
                </a:lnTo>
                <a:lnTo>
                  <a:pt x="3192087" y="757382"/>
                </a:lnTo>
                <a:lnTo>
                  <a:pt x="3251200" y="738909"/>
                </a:lnTo>
                <a:lnTo>
                  <a:pt x="3310312" y="720436"/>
                </a:lnTo>
                <a:lnTo>
                  <a:pt x="3369425" y="701964"/>
                </a:lnTo>
                <a:lnTo>
                  <a:pt x="3428538" y="683491"/>
                </a:lnTo>
                <a:lnTo>
                  <a:pt x="3487650" y="665018"/>
                </a:lnTo>
                <a:lnTo>
                  <a:pt x="3546763" y="646545"/>
                </a:lnTo>
                <a:lnTo>
                  <a:pt x="3605876" y="628073"/>
                </a:lnTo>
                <a:lnTo>
                  <a:pt x="3664989" y="609600"/>
                </a:lnTo>
                <a:lnTo>
                  <a:pt x="3724101" y="591127"/>
                </a:lnTo>
                <a:lnTo>
                  <a:pt x="3783214" y="572654"/>
                </a:lnTo>
                <a:lnTo>
                  <a:pt x="3842327" y="554182"/>
                </a:lnTo>
                <a:lnTo>
                  <a:pt x="3901440" y="535709"/>
                </a:lnTo>
                <a:lnTo>
                  <a:pt x="3960552" y="517236"/>
                </a:lnTo>
                <a:lnTo>
                  <a:pt x="4019665" y="498764"/>
                </a:lnTo>
                <a:lnTo>
                  <a:pt x="4078778" y="480291"/>
                </a:lnTo>
                <a:lnTo>
                  <a:pt x="4137890" y="461818"/>
                </a:lnTo>
                <a:lnTo>
                  <a:pt x="4197003" y="443345"/>
                </a:lnTo>
                <a:lnTo>
                  <a:pt x="4256116" y="424873"/>
                </a:lnTo>
                <a:lnTo>
                  <a:pt x="4315229" y="406400"/>
                </a:lnTo>
                <a:lnTo>
                  <a:pt x="4374341" y="387927"/>
                </a:lnTo>
                <a:lnTo>
                  <a:pt x="4433454" y="369454"/>
                </a:lnTo>
                <a:lnTo>
                  <a:pt x="4492567" y="350982"/>
                </a:lnTo>
                <a:lnTo>
                  <a:pt x="4551680" y="332509"/>
                </a:lnTo>
                <a:lnTo>
                  <a:pt x="4610792" y="314036"/>
                </a:lnTo>
                <a:lnTo>
                  <a:pt x="4669905" y="295564"/>
                </a:lnTo>
                <a:lnTo>
                  <a:pt x="4729018" y="277091"/>
                </a:lnTo>
                <a:lnTo>
                  <a:pt x="4788130" y="258618"/>
                </a:lnTo>
                <a:lnTo>
                  <a:pt x="4847243" y="240145"/>
                </a:lnTo>
                <a:lnTo>
                  <a:pt x="4906356" y="221673"/>
                </a:lnTo>
                <a:lnTo>
                  <a:pt x="4965469" y="203200"/>
                </a:lnTo>
                <a:lnTo>
                  <a:pt x="5024581" y="184727"/>
                </a:lnTo>
                <a:lnTo>
                  <a:pt x="5083694" y="166254"/>
                </a:lnTo>
                <a:lnTo>
                  <a:pt x="5142807" y="147782"/>
                </a:lnTo>
                <a:lnTo>
                  <a:pt x="5201920" y="129309"/>
                </a:lnTo>
                <a:lnTo>
                  <a:pt x="5261032" y="110836"/>
                </a:lnTo>
                <a:lnTo>
                  <a:pt x="5320145" y="92364"/>
                </a:lnTo>
                <a:lnTo>
                  <a:pt x="5379258" y="73891"/>
                </a:lnTo>
                <a:lnTo>
                  <a:pt x="5438370" y="55418"/>
                </a:lnTo>
                <a:lnTo>
                  <a:pt x="5497483" y="36945"/>
                </a:lnTo>
                <a:lnTo>
                  <a:pt x="5556596" y="18473"/>
                </a:lnTo>
                <a:lnTo>
                  <a:pt x="5615709" y="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A-E20 ellipse 31" descr="sci-ppt:o031"/>
          <p:cNvSpPr/>
          <p:nvPr/>
        </p:nvSpPr>
        <p:spPr>
          <a:xfrm>
            <a:off x="3722697" y="215917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-E20 text 32" descr="sci-ppt:o032"/>
          <p:cNvSpPr txBox="1"/>
          <p:nvPr/>
        </p:nvSpPr>
        <p:spPr>
          <a:xfrm>
            <a:off x="3933009" y="2598087"/>
            <a:ext cx="2560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tₚₒᵣₒ = 1.5 s at 30 µm</a:t>
            </a:r>
          </a:p>
        </p:txBody>
      </p:sp>
      <p:cxnSp>
        <p:nvCxnSpPr>
          <p:cNvPr id="35" name="A-E20 line 33" descr="sci-ppt:o033"/>
          <p:cNvCxnSpPr/>
          <p:nvPr/>
        </p:nvCxnSpPr>
        <p:spPr>
          <a:xfrm>
            <a:off x="914400" y="3969373"/>
            <a:ext cx="5852160" cy="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6" name="A-E20 text 34" descr="sci-ppt:o034"/>
          <p:cNvSpPr txBox="1"/>
          <p:nvPr/>
        </p:nvSpPr>
        <p:spPr>
          <a:xfrm>
            <a:off x="1331056" y="3557893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event time 3 µs</a:t>
            </a:r>
          </a:p>
        </p:txBody>
      </p:sp>
      <p:sp>
        <p:nvSpPr>
          <p:cNvPr id="37" name="A-E20 text 35" descr="sci-ppt:o035"/>
          <p:cNvSpPr txBox="1"/>
          <p:nvPr/>
        </p:nvSpPr>
        <p:spPr>
          <a:xfrm>
            <a:off x="3281776" y="167640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slope 2: t ∝ L_g²</a:t>
            </a:r>
          </a:p>
        </p:txBody>
      </p:sp>
      <p:sp>
        <p:nvSpPr>
          <p:cNvPr id="38" name="A-E20 round_rect 36" descr="sci-ppt:o036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20 text 37" descr="sci-ppt:o037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Darcy flow and diffusion</a:t>
            </a:r>
          </a:p>
        </p:txBody>
      </p:sp>
      <p:sp>
        <p:nvSpPr>
          <p:cNvPr id="40" name="A-E20 text 38" descr="sci-ppt:o038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jₗ = −(k/μₗ) ∇pₚₒᵣₑ</a:t>
            </a:r>
          </a:p>
        </p:txBody>
      </p:sp>
      <p:sp>
        <p:nvSpPr>
          <p:cNvPr id="41" name="A-E20 text 39" descr="sci-ppt:o039"/>
          <p:cNvSpPr txBox="1"/>
          <p:nvPr/>
        </p:nvSpPr>
        <p:spPr>
          <a:xfrm>
            <a:off x="7178040" y="228600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∂p/∂t = Dₚₒᵣₒ ∇²p,   Dₚₒᵣₒ = k M_d / μₗ</a:t>
            </a:r>
          </a:p>
        </p:txBody>
      </p:sp>
      <p:sp>
        <p:nvSpPr>
          <p:cNvPr id="42" name="A-E20 text 40" descr="sci-ppt:o040"/>
          <p:cNvSpPr txBox="1"/>
          <p:nvPr/>
        </p:nvSpPr>
        <p:spPr>
          <a:xfrm>
            <a:off x="7178040" y="278892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tₚₒᵣₒ ~ L_g² / Dₚₒᵣₒ = μₗ L_g² / (k M_d)</a:t>
            </a:r>
          </a:p>
        </p:txBody>
      </p:sp>
      <p:sp>
        <p:nvSpPr>
          <p:cNvPr id="43" name="A-E20 text 41" descr="sci-ppt:o041"/>
          <p:cNvSpPr txBox="1"/>
          <p:nvPr/>
        </p:nvSpPr>
        <p:spPr>
          <a:xfrm>
            <a:off x="7178040" y="3337560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k = 10⁻¹⁷ m², M_d = 60 kPa, μₗ = 1 mPa s (prescribed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teaching values).</a:t>
            </a:r>
          </a:p>
        </p:txBody>
      </p:sp>
      <p:sp>
        <p:nvSpPr>
          <p:cNvPr id="44" name="A-E20 text 42" descr="sci-ppt:o042"/>
          <p:cNvSpPr txBox="1"/>
          <p:nvPr/>
        </p:nvSpPr>
        <p:spPr>
          <a:xfrm>
            <a:off x="7178040" y="3977639"/>
            <a:ext cx="45720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A 3 µs event is approximately undrained at 30 µm; local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solvent motion remains possible.</a:t>
            </a:r>
          </a:p>
        </p:txBody>
      </p:sp>
      <p:sp>
        <p:nvSpPr>
          <p:cNvPr id="45" name="A-E20 text 43" descr="sci-ppt:o043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Permeability and modulus are inputs from characterisation; only the quadratic scaling with length is a result of the model.</a:t>
            </a:r>
          </a:p>
        </p:txBody>
      </p:sp>
      <p:sp>
        <p:nvSpPr>
          <p:cNvPr id="46" name="A-E20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Darcy/storage drainage time of Eq. A-E20.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