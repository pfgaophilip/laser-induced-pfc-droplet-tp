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8704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A-E20 · Physical variable map</a:t>
            </a:r>
          </a:p>
        </p:txBody>
      </p:sp>
      <p:cxnSp>
        <p:nvCxnSpPr>
          <p:cNvPr id="3" name="line 1" descr="sci-ppt:obj-001"/>
          <p:cNvCxnSpPr/>
          <p:nvPr/>
        </p:nvCxnSpPr>
        <p:spPr>
          <a:xfrm>
            <a:off x="96012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4" name="line 2" descr="sci-ppt:obj-002"/>
          <p:cNvCxnSpPr/>
          <p:nvPr/>
        </p:nvCxnSpPr>
        <p:spPr>
          <a:xfrm>
            <a:off x="137160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5" name="line 3" descr="sci-ppt:obj-003"/>
          <p:cNvCxnSpPr/>
          <p:nvPr/>
        </p:nvCxnSpPr>
        <p:spPr>
          <a:xfrm>
            <a:off x="178308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6" name="line 4" descr="sci-ppt:obj-004"/>
          <p:cNvCxnSpPr/>
          <p:nvPr/>
        </p:nvCxnSpPr>
        <p:spPr>
          <a:xfrm>
            <a:off x="219456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7" name="line 5" descr="sci-ppt:obj-005"/>
          <p:cNvCxnSpPr/>
          <p:nvPr/>
        </p:nvCxnSpPr>
        <p:spPr>
          <a:xfrm>
            <a:off x="260604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8" name="line 6" descr="sci-ppt:obj-006"/>
          <p:cNvCxnSpPr/>
          <p:nvPr/>
        </p:nvCxnSpPr>
        <p:spPr>
          <a:xfrm>
            <a:off x="301752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9" name="line 7" descr="sci-ppt:obj-007"/>
          <p:cNvCxnSpPr/>
          <p:nvPr/>
        </p:nvCxnSpPr>
        <p:spPr>
          <a:xfrm>
            <a:off x="342900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0" name="line 8" descr="sci-ppt:obj-008"/>
          <p:cNvCxnSpPr/>
          <p:nvPr/>
        </p:nvCxnSpPr>
        <p:spPr>
          <a:xfrm>
            <a:off x="384048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1" name="line 9" descr="sci-ppt:obj-009"/>
          <p:cNvCxnSpPr/>
          <p:nvPr/>
        </p:nvCxnSpPr>
        <p:spPr>
          <a:xfrm>
            <a:off x="425196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2" name="line 10" descr="sci-ppt:obj-010"/>
          <p:cNvCxnSpPr/>
          <p:nvPr/>
        </p:nvCxnSpPr>
        <p:spPr>
          <a:xfrm>
            <a:off x="466344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3" name="line 11" descr="sci-ppt:obj-011"/>
          <p:cNvCxnSpPr/>
          <p:nvPr/>
        </p:nvCxnSpPr>
        <p:spPr>
          <a:xfrm>
            <a:off x="507492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4" name="line 12" descr="sci-ppt:obj-012"/>
          <p:cNvCxnSpPr/>
          <p:nvPr/>
        </p:nvCxnSpPr>
        <p:spPr>
          <a:xfrm>
            <a:off x="5486400" y="1024128"/>
            <a:ext cx="0" cy="1408176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5" name="line 13" descr="sci-ppt:obj-013"/>
          <p:cNvCxnSpPr/>
          <p:nvPr/>
        </p:nvCxnSpPr>
        <p:spPr>
          <a:xfrm>
            <a:off x="877824" y="1060704"/>
            <a:ext cx="4809744" cy="0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6" name="line 14" descr="sci-ppt:obj-014"/>
          <p:cNvCxnSpPr/>
          <p:nvPr/>
        </p:nvCxnSpPr>
        <p:spPr>
          <a:xfrm>
            <a:off x="877824" y="1408176"/>
            <a:ext cx="4809744" cy="0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7" name="line 15" descr="sci-ppt:obj-015"/>
          <p:cNvCxnSpPr/>
          <p:nvPr/>
        </p:nvCxnSpPr>
        <p:spPr>
          <a:xfrm>
            <a:off x="877824" y="1755648"/>
            <a:ext cx="4809744" cy="0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8" name="line 16" descr="sci-ppt:obj-016"/>
          <p:cNvCxnSpPr/>
          <p:nvPr/>
        </p:nvCxnSpPr>
        <p:spPr>
          <a:xfrm>
            <a:off x="877824" y="2103120"/>
            <a:ext cx="4809744" cy="0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19" name="line 17" descr="sci-ppt:obj-017"/>
          <p:cNvCxnSpPr/>
          <p:nvPr/>
        </p:nvCxnSpPr>
        <p:spPr>
          <a:xfrm>
            <a:off x="877824" y="2450592"/>
            <a:ext cx="4809744" cy="0"/>
          </a:xfrm>
          <a:prstGeom prst="line">
            <a:avLst/>
          </a:prstGeom>
          <a:ln w="21590">
            <a:solidFill>
              <a:srgbClr val="B4C7D2"/>
            </a:solidFill>
          </a:ln>
          <a:effectLst/>
        </p:spPr>
      </p:cxnSp>
      <p:cxnSp>
        <p:nvCxnSpPr>
          <p:cNvPr id="20" name="arrow 18" descr="sci-ppt:obj-018"/>
          <p:cNvCxnSpPr/>
          <p:nvPr/>
        </p:nvCxnSpPr>
        <p:spPr>
          <a:xfrm>
            <a:off x="1078992" y="1280160"/>
            <a:ext cx="5413248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21" name="arrow 19" descr="sci-ppt:obj-019"/>
          <p:cNvCxnSpPr/>
          <p:nvPr/>
        </p:nvCxnSpPr>
        <p:spPr>
          <a:xfrm>
            <a:off x="1078992" y="1764792"/>
            <a:ext cx="5413248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22" name="arrow 20" descr="sci-ppt:obj-020"/>
          <p:cNvCxnSpPr/>
          <p:nvPr/>
        </p:nvCxnSpPr>
        <p:spPr>
          <a:xfrm>
            <a:off x="1078992" y="2231136"/>
            <a:ext cx="5413248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23" name="text 21" descr="sci-ppt:obj-021"/>
          <p:cNvSpPr txBox="1"/>
          <p:nvPr/>
        </p:nvSpPr>
        <p:spPr>
          <a:xfrm>
            <a:off x="960120" y="612648"/>
            <a:ext cx="74066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Solvent flow relative to an intact network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6720840" y="1453896"/>
            <a:ext cx="1554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jl →</a:t>
            </a:r>
          </a:p>
        </p:txBody>
      </p:sp>
      <p:cxnSp>
        <p:nvCxnSpPr>
          <p:cNvPr id="25" name="arrow 23" descr="sci-ppt:obj-023"/>
          <p:cNvCxnSpPr/>
          <p:nvPr/>
        </p:nvCxnSpPr>
        <p:spPr>
          <a:xfrm flipH="1">
            <a:off x="1965960" y="2651760"/>
            <a:ext cx="269748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26" name="text 24" descr="sci-ppt:obj-024"/>
          <p:cNvSpPr txBox="1"/>
          <p:nvPr/>
        </p:nvSpPr>
        <p:spPr>
          <a:xfrm>
            <a:off x="5120640" y="2532888"/>
            <a:ext cx="2926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∇ppore ←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1426464" y="2862072"/>
            <a:ext cx="67665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Lg , kperm , μl , Md ; tporo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ppore: solvent pressure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jl: solvent relative to network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kperm: network permeability</a:t>
            </a:r>
          </a:p>
        </p:txBody>
      </p:sp>
      <p:sp>
        <p:nvSpPr>
          <p:cNvPr id="32" name="text 30" descr="sci-ppt:obj-030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μl: solvent resistance</a:t>
            </a:r>
          </a:p>
        </p:txBody>
      </p:sp>
      <p:sp>
        <p:nvSpPr>
          <p:cNvPr id="33" name="text 31" descr="sci-ppt:obj-031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Md: storage modulus</a:t>
            </a:r>
          </a:p>
        </p:txBody>
      </p:sp>
      <p:sp>
        <p:nvSpPr>
          <p:cNvPr id="34" name="text 32" descr="sci-ppt:obj-032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Lg, tporo, Dporo, t</a:t>
            </a:r>
          </a:p>
        </p:txBody>
      </p:sp>
      <p:sp>
        <p:nvSpPr>
          <p:cNvPr id="35" name="text 33" descr="sci-ppt:obj-033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Drainage redistributes solvent over Lg</a:t>
            </a:r>
          </a:p>
        </p:txBody>
      </p:sp>
      <p:sp>
        <p:nvSpPr>
          <p:cNvPr id="36" name="text 34" descr="sci-ppt:obj-034"/>
          <p:cNvSpPr txBox="1"/>
          <p:nvPr/>
        </p:nvSpPr>
        <p:spPr>
          <a:xfrm>
            <a:off x="365760" y="528523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Small perturbation and constant-coefficient assumptions are separate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