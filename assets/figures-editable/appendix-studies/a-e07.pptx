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-E0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A-E07 · Exact work integral within the elastic model</a:t>
            </a:r>
          </a:p>
        </p:txBody>
      </p:sp>
      <p:cxnSp>
        <p:nvCxnSpPr>
          <p:cNvPr id="3" name="A-E07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A-E07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A-E07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A-E07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A-E07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8" name="A-E07 line 6" descr="sci-ppt:o006"/>
          <p:cNvCxnSpPr/>
          <p:nvPr/>
        </p:nvCxnSpPr>
        <p:spPr>
          <a:xfrm>
            <a:off x="2084832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A-E07 line 7" descr="sci-ppt:o007"/>
          <p:cNvCxnSpPr/>
          <p:nvPr/>
        </p:nvCxnSpPr>
        <p:spPr>
          <a:xfrm>
            <a:off x="2084832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A-E07 text 8" descr="sci-ppt:o008"/>
          <p:cNvSpPr txBox="1"/>
          <p:nvPr/>
        </p:nvSpPr>
        <p:spPr>
          <a:xfrm>
            <a:off x="1627632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11" name="A-E07 line 9" descr="sci-ppt:o009"/>
          <p:cNvCxnSpPr/>
          <p:nvPr/>
        </p:nvCxnSpPr>
        <p:spPr>
          <a:xfrm>
            <a:off x="3255264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A-E07 line 10" descr="sci-ppt:o010"/>
          <p:cNvCxnSpPr/>
          <p:nvPr/>
        </p:nvCxnSpPr>
        <p:spPr>
          <a:xfrm>
            <a:off x="3255264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A-E07 text 11" descr="sci-ppt:o011"/>
          <p:cNvSpPr txBox="1"/>
          <p:nvPr/>
        </p:nvSpPr>
        <p:spPr>
          <a:xfrm>
            <a:off x="2798064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15</a:t>
            </a:r>
          </a:p>
        </p:txBody>
      </p:sp>
      <p:cxnSp>
        <p:nvCxnSpPr>
          <p:cNvPr id="14" name="A-E07 line 12" descr="sci-ppt:o012"/>
          <p:cNvCxnSpPr/>
          <p:nvPr/>
        </p:nvCxnSpPr>
        <p:spPr>
          <a:xfrm>
            <a:off x="4425696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A-E07 line 13" descr="sci-ppt:o013"/>
          <p:cNvCxnSpPr/>
          <p:nvPr/>
        </p:nvCxnSpPr>
        <p:spPr>
          <a:xfrm>
            <a:off x="4425696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A-E07 text 14" descr="sci-ppt:o014"/>
          <p:cNvSpPr txBox="1"/>
          <p:nvPr/>
        </p:nvSpPr>
        <p:spPr>
          <a:xfrm>
            <a:off x="3968496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17" name="A-E07 line 15" descr="sci-ppt:o015"/>
          <p:cNvCxnSpPr/>
          <p:nvPr/>
        </p:nvCxnSpPr>
        <p:spPr>
          <a:xfrm>
            <a:off x="5596128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A-E07 line 16" descr="sci-ppt:o016"/>
          <p:cNvCxnSpPr/>
          <p:nvPr/>
        </p:nvCxnSpPr>
        <p:spPr>
          <a:xfrm>
            <a:off x="5596128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A-E07 text 17" descr="sci-ppt:o017"/>
          <p:cNvSpPr txBox="1"/>
          <p:nvPr/>
        </p:nvSpPr>
        <p:spPr>
          <a:xfrm>
            <a:off x="5138928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25</a:t>
            </a:r>
          </a:p>
        </p:txBody>
      </p:sp>
      <p:cxnSp>
        <p:nvCxnSpPr>
          <p:cNvPr id="20" name="A-E07 line 18" descr="sci-ppt:o018"/>
          <p:cNvCxnSpPr/>
          <p:nvPr/>
        </p:nvCxnSpPr>
        <p:spPr>
          <a:xfrm>
            <a:off x="67665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A-E07 line 19" descr="sci-ppt:o019"/>
          <p:cNvCxnSpPr/>
          <p:nvPr/>
        </p:nvCxnSpPr>
        <p:spPr>
          <a:xfrm>
            <a:off x="67665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A-E07 text 20" descr="sci-ppt:o020"/>
          <p:cNvSpPr txBox="1"/>
          <p:nvPr/>
        </p:nvSpPr>
        <p:spPr>
          <a:xfrm>
            <a:off x="63093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</a:t>
            </a:r>
          </a:p>
        </p:txBody>
      </p:sp>
      <p:cxnSp>
        <p:nvCxnSpPr>
          <p:cNvPr id="23" name="A-E07 line 21" descr="sci-ppt:o021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A-E07 line 22" descr="sci-ppt:o022"/>
          <p:cNvCxnSpPr/>
          <p:nvPr/>
        </p:nvCxnSpPr>
        <p:spPr>
          <a:xfrm>
            <a:off x="850392" y="432581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A-E07 line 23" descr="sci-ppt:o023"/>
          <p:cNvCxnSpPr/>
          <p:nvPr/>
        </p:nvCxnSpPr>
        <p:spPr>
          <a:xfrm>
            <a:off x="914400" y="4325815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A-E07 text 24" descr="sci-ppt:o024"/>
          <p:cNvSpPr txBox="1"/>
          <p:nvPr/>
        </p:nvSpPr>
        <p:spPr>
          <a:xfrm>
            <a:off x="45720" y="424351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7" name="A-E07 line 25" descr="sci-ppt:o025"/>
          <p:cNvCxnSpPr/>
          <p:nvPr/>
        </p:nvCxnSpPr>
        <p:spPr>
          <a:xfrm>
            <a:off x="850392" y="362243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A-E07 line 26" descr="sci-ppt:o026"/>
          <p:cNvCxnSpPr/>
          <p:nvPr/>
        </p:nvCxnSpPr>
        <p:spPr>
          <a:xfrm>
            <a:off x="914400" y="362243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A-E07 text 27" descr="sci-ppt:o027"/>
          <p:cNvSpPr txBox="1"/>
          <p:nvPr/>
        </p:nvSpPr>
        <p:spPr>
          <a:xfrm>
            <a:off x="45720" y="354013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30" name="A-E07 line 28" descr="sci-ppt:o028"/>
          <p:cNvCxnSpPr/>
          <p:nvPr/>
        </p:nvCxnSpPr>
        <p:spPr>
          <a:xfrm>
            <a:off x="850392" y="291904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A-E07 line 29" descr="sci-ppt:o029"/>
          <p:cNvCxnSpPr/>
          <p:nvPr/>
        </p:nvCxnSpPr>
        <p:spPr>
          <a:xfrm>
            <a:off x="914400" y="2919046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A-E07 text 30" descr="sci-ppt:o030"/>
          <p:cNvSpPr txBox="1"/>
          <p:nvPr/>
        </p:nvSpPr>
        <p:spPr>
          <a:xfrm>
            <a:off x="45720" y="283675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33" name="A-E07 line 31" descr="sci-ppt:o031"/>
          <p:cNvCxnSpPr/>
          <p:nvPr/>
        </p:nvCxnSpPr>
        <p:spPr>
          <a:xfrm>
            <a:off x="850392" y="221566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A-E07 line 32" descr="sci-ppt:o032"/>
          <p:cNvCxnSpPr/>
          <p:nvPr/>
        </p:nvCxnSpPr>
        <p:spPr>
          <a:xfrm>
            <a:off x="914400" y="2215661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A-E07 text 33" descr="sci-ppt:o033"/>
          <p:cNvSpPr txBox="1"/>
          <p:nvPr/>
        </p:nvSpPr>
        <p:spPr>
          <a:xfrm>
            <a:off x="45720" y="213336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36" name="A-E07 line 34" descr="sci-ppt:o034"/>
          <p:cNvCxnSpPr/>
          <p:nvPr/>
        </p:nvCxnSpPr>
        <p:spPr>
          <a:xfrm>
            <a:off x="850392" y="151227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A-E07 line 35" descr="sci-ppt:o035"/>
          <p:cNvCxnSpPr/>
          <p:nvPr/>
        </p:nvCxnSpPr>
        <p:spPr>
          <a:xfrm>
            <a:off x="914400" y="1512276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8" name="A-E07 text 36" descr="sci-ppt:o036"/>
          <p:cNvSpPr txBox="1"/>
          <p:nvPr/>
        </p:nvSpPr>
        <p:spPr>
          <a:xfrm>
            <a:off x="45720" y="142998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sp>
        <p:nvSpPr>
          <p:cNvPr id="39" name="A-E07 text 37" descr="sci-ppt:o037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cavity radius R  (µm)</a:t>
            </a:r>
          </a:p>
        </p:txBody>
      </p:sp>
      <p:sp>
        <p:nvSpPr>
          <p:cNvPr id="40" name="A-E07 text 38" descr="sci-ppt:o038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stored work W_g  (nJ)</a:t>
            </a:r>
          </a:p>
        </p:txBody>
      </p:sp>
      <p:sp>
        <p:nvSpPr>
          <p:cNvPr id="41" name="A-E07 polygon 39" descr="sci-ppt:o039"/>
          <p:cNvSpPr/>
          <p:nvPr/>
        </p:nvSpPr>
        <p:spPr>
          <a:xfrm>
            <a:off x="914400" y="1852687"/>
            <a:ext cx="5852160" cy="3176513"/>
          </a:xfrm>
          <a:custGeom>
            <a:avLst/>
            <a:gdLst/>
            <a:ahLst/>
            <a:cxnLst/>
            <a:rect l="l" t="t" r="r" b="b"/>
            <a:pathLst>
              <a:path w="5852160" h="3176513">
                <a:moveTo>
                  <a:pt x="0" y="3176513"/>
                </a:moveTo>
                <a:lnTo>
                  <a:pt x="49177" y="3176434"/>
                </a:lnTo>
                <a:lnTo>
                  <a:pt x="98355" y="3176196"/>
                </a:lnTo>
                <a:lnTo>
                  <a:pt x="147533" y="3175793"/>
                </a:lnTo>
                <a:lnTo>
                  <a:pt x="196711" y="3175222"/>
                </a:lnTo>
                <a:lnTo>
                  <a:pt x="245889" y="3174476"/>
                </a:lnTo>
                <a:lnTo>
                  <a:pt x="295066" y="3173550"/>
                </a:lnTo>
                <a:lnTo>
                  <a:pt x="344244" y="3172438"/>
                </a:lnTo>
                <a:lnTo>
                  <a:pt x="393422" y="3171134"/>
                </a:lnTo>
                <a:lnTo>
                  <a:pt x="442600" y="3169630"/>
                </a:lnTo>
                <a:lnTo>
                  <a:pt x="491778" y="3167921"/>
                </a:lnTo>
                <a:lnTo>
                  <a:pt x="540955" y="3166000"/>
                </a:lnTo>
                <a:lnTo>
                  <a:pt x="590133" y="3163858"/>
                </a:lnTo>
                <a:lnTo>
                  <a:pt x="639311" y="3161490"/>
                </a:lnTo>
                <a:lnTo>
                  <a:pt x="688489" y="3158888"/>
                </a:lnTo>
                <a:lnTo>
                  <a:pt x="737667" y="3156044"/>
                </a:lnTo>
                <a:lnTo>
                  <a:pt x="786845" y="3152951"/>
                </a:lnTo>
                <a:lnTo>
                  <a:pt x="836022" y="3149602"/>
                </a:lnTo>
                <a:lnTo>
                  <a:pt x="885200" y="3145989"/>
                </a:lnTo>
                <a:lnTo>
                  <a:pt x="934378" y="3142103"/>
                </a:lnTo>
                <a:lnTo>
                  <a:pt x="983556" y="3137939"/>
                </a:lnTo>
                <a:lnTo>
                  <a:pt x="1032734" y="3133487"/>
                </a:lnTo>
                <a:lnTo>
                  <a:pt x="1081911" y="3128740"/>
                </a:lnTo>
                <a:lnTo>
                  <a:pt x="1131089" y="3123690"/>
                </a:lnTo>
                <a:lnTo>
                  <a:pt x="1180267" y="3118330"/>
                </a:lnTo>
                <a:lnTo>
                  <a:pt x="1229445" y="3112651"/>
                </a:lnTo>
                <a:lnTo>
                  <a:pt x="1278623" y="3106646"/>
                </a:lnTo>
                <a:lnTo>
                  <a:pt x="1327801" y="3100306"/>
                </a:lnTo>
                <a:lnTo>
                  <a:pt x="1376978" y="3093624"/>
                </a:lnTo>
                <a:lnTo>
                  <a:pt x="1426156" y="3086592"/>
                </a:lnTo>
                <a:lnTo>
                  <a:pt x="1475334" y="3079201"/>
                </a:lnTo>
                <a:lnTo>
                  <a:pt x="1524512" y="3071444"/>
                </a:lnTo>
                <a:lnTo>
                  <a:pt x="1573690" y="3063313"/>
                </a:lnTo>
                <a:lnTo>
                  <a:pt x="1622867" y="3054800"/>
                </a:lnTo>
                <a:lnTo>
                  <a:pt x="1672045" y="3045896"/>
                </a:lnTo>
                <a:lnTo>
                  <a:pt x="1721223" y="3036593"/>
                </a:lnTo>
                <a:lnTo>
                  <a:pt x="1770401" y="3026885"/>
                </a:lnTo>
                <a:lnTo>
                  <a:pt x="1819579" y="3016761"/>
                </a:lnTo>
                <a:lnTo>
                  <a:pt x="1868756" y="3006216"/>
                </a:lnTo>
                <a:lnTo>
                  <a:pt x="1917934" y="2995239"/>
                </a:lnTo>
                <a:lnTo>
                  <a:pt x="1967112" y="2983824"/>
                </a:lnTo>
                <a:lnTo>
                  <a:pt x="2016290" y="2971961"/>
                </a:lnTo>
                <a:lnTo>
                  <a:pt x="2065468" y="2959644"/>
                </a:lnTo>
                <a:lnTo>
                  <a:pt x="2114646" y="2946864"/>
                </a:lnTo>
                <a:lnTo>
                  <a:pt x="2163823" y="2933612"/>
                </a:lnTo>
                <a:lnTo>
                  <a:pt x="2213001" y="2919881"/>
                </a:lnTo>
                <a:lnTo>
                  <a:pt x="2262179" y="2905663"/>
                </a:lnTo>
                <a:lnTo>
                  <a:pt x="2311357" y="2890949"/>
                </a:lnTo>
                <a:lnTo>
                  <a:pt x="2360535" y="2875731"/>
                </a:lnTo>
                <a:lnTo>
                  <a:pt x="2409712" y="2860002"/>
                </a:lnTo>
                <a:lnTo>
                  <a:pt x="2458890" y="2843753"/>
                </a:lnTo>
                <a:lnTo>
                  <a:pt x="2508068" y="2826975"/>
                </a:lnTo>
                <a:lnTo>
                  <a:pt x="2557246" y="2809661"/>
                </a:lnTo>
                <a:lnTo>
                  <a:pt x="2606424" y="2791803"/>
                </a:lnTo>
                <a:lnTo>
                  <a:pt x="2655602" y="2773392"/>
                </a:lnTo>
                <a:lnTo>
                  <a:pt x="2704779" y="2754421"/>
                </a:lnTo>
                <a:lnTo>
                  <a:pt x="2753957" y="2734880"/>
                </a:lnTo>
                <a:lnTo>
                  <a:pt x="2803135" y="2714763"/>
                </a:lnTo>
                <a:lnTo>
                  <a:pt x="2852313" y="2694060"/>
                </a:lnTo>
                <a:lnTo>
                  <a:pt x="2901491" y="2672764"/>
                </a:lnTo>
                <a:lnTo>
                  <a:pt x="2950668" y="2650867"/>
                </a:lnTo>
                <a:lnTo>
                  <a:pt x="2999846" y="2628360"/>
                </a:lnTo>
                <a:lnTo>
                  <a:pt x="3049024" y="2605235"/>
                </a:lnTo>
                <a:lnTo>
                  <a:pt x="3098202" y="2581484"/>
                </a:lnTo>
                <a:lnTo>
                  <a:pt x="3147380" y="2557099"/>
                </a:lnTo>
                <a:lnTo>
                  <a:pt x="3196557" y="2532071"/>
                </a:lnTo>
                <a:lnTo>
                  <a:pt x="3245735" y="2506393"/>
                </a:lnTo>
                <a:lnTo>
                  <a:pt x="3294913" y="2480057"/>
                </a:lnTo>
                <a:lnTo>
                  <a:pt x="3344091" y="2453053"/>
                </a:lnTo>
                <a:lnTo>
                  <a:pt x="3393269" y="2425375"/>
                </a:lnTo>
                <a:lnTo>
                  <a:pt x="3442447" y="2397013"/>
                </a:lnTo>
                <a:lnTo>
                  <a:pt x="3491624" y="2367960"/>
                </a:lnTo>
                <a:lnTo>
                  <a:pt x="3540802" y="2338208"/>
                </a:lnTo>
                <a:lnTo>
                  <a:pt x="3589980" y="2307747"/>
                </a:lnTo>
                <a:lnTo>
                  <a:pt x="3639158" y="2276571"/>
                </a:lnTo>
                <a:lnTo>
                  <a:pt x="3688336" y="2244671"/>
                </a:lnTo>
                <a:lnTo>
                  <a:pt x="3737513" y="2212039"/>
                </a:lnTo>
                <a:lnTo>
                  <a:pt x="3786691" y="2178666"/>
                </a:lnTo>
                <a:lnTo>
                  <a:pt x="3835869" y="2144544"/>
                </a:lnTo>
                <a:lnTo>
                  <a:pt x="3885047" y="2109666"/>
                </a:lnTo>
                <a:lnTo>
                  <a:pt x="3934225" y="2074023"/>
                </a:lnTo>
                <a:lnTo>
                  <a:pt x="3983403" y="2037606"/>
                </a:lnTo>
                <a:lnTo>
                  <a:pt x="4032580" y="2000408"/>
                </a:lnTo>
                <a:lnTo>
                  <a:pt x="4081758" y="1962421"/>
                </a:lnTo>
                <a:lnTo>
                  <a:pt x="4130936" y="1923636"/>
                </a:lnTo>
                <a:lnTo>
                  <a:pt x="4180114" y="1884045"/>
                </a:lnTo>
                <a:lnTo>
                  <a:pt x="4229292" y="1843640"/>
                </a:lnTo>
                <a:lnTo>
                  <a:pt x="4278469" y="1802413"/>
                </a:lnTo>
                <a:lnTo>
                  <a:pt x="4327647" y="1760355"/>
                </a:lnTo>
                <a:lnTo>
                  <a:pt x="4376825" y="1717459"/>
                </a:lnTo>
                <a:lnTo>
                  <a:pt x="4426003" y="1673716"/>
                </a:lnTo>
                <a:lnTo>
                  <a:pt x="4475181" y="1629118"/>
                </a:lnTo>
                <a:lnTo>
                  <a:pt x="4524358" y="1583657"/>
                </a:lnTo>
                <a:lnTo>
                  <a:pt x="4573536" y="1537324"/>
                </a:lnTo>
                <a:lnTo>
                  <a:pt x="4622714" y="1490112"/>
                </a:lnTo>
                <a:lnTo>
                  <a:pt x="4671892" y="1442012"/>
                </a:lnTo>
                <a:lnTo>
                  <a:pt x="4721070" y="1393016"/>
                </a:lnTo>
                <a:lnTo>
                  <a:pt x="4770248" y="1343116"/>
                </a:lnTo>
                <a:lnTo>
                  <a:pt x="4819425" y="1292304"/>
                </a:lnTo>
                <a:lnTo>
                  <a:pt x="4868603" y="1240571"/>
                </a:lnTo>
                <a:lnTo>
                  <a:pt x="4917781" y="1187910"/>
                </a:lnTo>
                <a:lnTo>
                  <a:pt x="4966959" y="1134311"/>
                </a:lnTo>
                <a:lnTo>
                  <a:pt x="5016137" y="1079768"/>
                </a:lnTo>
                <a:lnTo>
                  <a:pt x="5065314" y="1024271"/>
                </a:lnTo>
                <a:lnTo>
                  <a:pt x="5114492" y="967813"/>
                </a:lnTo>
                <a:lnTo>
                  <a:pt x="5163670" y="910386"/>
                </a:lnTo>
                <a:lnTo>
                  <a:pt x="5212848" y="851980"/>
                </a:lnTo>
                <a:lnTo>
                  <a:pt x="5262026" y="792588"/>
                </a:lnTo>
                <a:lnTo>
                  <a:pt x="5311204" y="732203"/>
                </a:lnTo>
                <a:lnTo>
                  <a:pt x="5360381" y="670815"/>
                </a:lnTo>
                <a:lnTo>
                  <a:pt x="5409559" y="608416"/>
                </a:lnTo>
                <a:lnTo>
                  <a:pt x="5458737" y="544998"/>
                </a:lnTo>
                <a:lnTo>
                  <a:pt x="5507915" y="480554"/>
                </a:lnTo>
                <a:lnTo>
                  <a:pt x="5557093" y="415074"/>
                </a:lnTo>
                <a:lnTo>
                  <a:pt x="5606270" y="348551"/>
                </a:lnTo>
                <a:lnTo>
                  <a:pt x="5655448" y="280977"/>
                </a:lnTo>
                <a:lnTo>
                  <a:pt x="5704626" y="212343"/>
                </a:lnTo>
                <a:lnTo>
                  <a:pt x="5753804" y="142641"/>
                </a:lnTo>
                <a:lnTo>
                  <a:pt x="5802982" y="71862"/>
                </a:lnTo>
                <a:lnTo>
                  <a:pt x="5852160" y="0"/>
                </a:lnTo>
                <a:lnTo>
                  <a:pt x="5852160" y="3176513"/>
                </a:lnTo>
                <a:lnTo>
                  <a:pt x="5802982" y="3176513"/>
                </a:lnTo>
                <a:lnTo>
                  <a:pt x="5753804" y="3176513"/>
                </a:lnTo>
                <a:lnTo>
                  <a:pt x="5704626" y="3176513"/>
                </a:lnTo>
                <a:lnTo>
                  <a:pt x="5655448" y="3176513"/>
                </a:lnTo>
                <a:lnTo>
                  <a:pt x="5606270" y="3176513"/>
                </a:lnTo>
                <a:lnTo>
                  <a:pt x="5557093" y="3176513"/>
                </a:lnTo>
                <a:lnTo>
                  <a:pt x="5507915" y="3176513"/>
                </a:lnTo>
                <a:lnTo>
                  <a:pt x="5458737" y="3176513"/>
                </a:lnTo>
                <a:lnTo>
                  <a:pt x="5409559" y="3176513"/>
                </a:lnTo>
                <a:lnTo>
                  <a:pt x="5360381" y="3176513"/>
                </a:lnTo>
                <a:lnTo>
                  <a:pt x="5311204" y="3176513"/>
                </a:lnTo>
                <a:lnTo>
                  <a:pt x="5262026" y="3176513"/>
                </a:lnTo>
                <a:lnTo>
                  <a:pt x="5212848" y="3176513"/>
                </a:lnTo>
                <a:lnTo>
                  <a:pt x="5163670" y="3176513"/>
                </a:lnTo>
                <a:lnTo>
                  <a:pt x="5114492" y="3176513"/>
                </a:lnTo>
                <a:lnTo>
                  <a:pt x="5065314" y="3176513"/>
                </a:lnTo>
                <a:lnTo>
                  <a:pt x="5016137" y="3176513"/>
                </a:lnTo>
                <a:lnTo>
                  <a:pt x="4966959" y="3176513"/>
                </a:lnTo>
                <a:lnTo>
                  <a:pt x="4917781" y="3176513"/>
                </a:lnTo>
                <a:lnTo>
                  <a:pt x="4868603" y="3176513"/>
                </a:lnTo>
                <a:lnTo>
                  <a:pt x="4819425" y="3176513"/>
                </a:lnTo>
                <a:lnTo>
                  <a:pt x="4770248" y="3176513"/>
                </a:lnTo>
                <a:lnTo>
                  <a:pt x="4721070" y="3176513"/>
                </a:lnTo>
                <a:lnTo>
                  <a:pt x="4671892" y="3176513"/>
                </a:lnTo>
                <a:lnTo>
                  <a:pt x="4622714" y="3176513"/>
                </a:lnTo>
                <a:lnTo>
                  <a:pt x="4573536" y="3176513"/>
                </a:lnTo>
                <a:lnTo>
                  <a:pt x="4524358" y="3176513"/>
                </a:lnTo>
                <a:lnTo>
                  <a:pt x="4475181" y="3176513"/>
                </a:lnTo>
                <a:lnTo>
                  <a:pt x="4426003" y="3176513"/>
                </a:lnTo>
                <a:lnTo>
                  <a:pt x="4376825" y="3176513"/>
                </a:lnTo>
                <a:lnTo>
                  <a:pt x="4327647" y="3176513"/>
                </a:lnTo>
                <a:lnTo>
                  <a:pt x="4278469" y="3176513"/>
                </a:lnTo>
                <a:lnTo>
                  <a:pt x="4229292" y="3176513"/>
                </a:lnTo>
                <a:lnTo>
                  <a:pt x="4180114" y="3176513"/>
                </a:lnTo>
                <a:lnTo>
                  <a:pt x="4130936" y="3176513"/>
                </a:lnTo>
                <a:lnTo>
                  <a:pt x="4081758" y="3176513"/>
                </a:lnTo>
                <a:lnTo>
                  <a:pt x="4032580" y="3176513"/>
                </a:lnTo>
                <a:lnTo>
                  <a:pt x="3983403" y="3176513"/>
                </a:lnTo>
                <a:lnTo>
                  <a:pt x="3934225" y="3176513"/>
                </a:lnTo>
                <a:lnTo>
                  <a:pt x="3885047" y="3176513"/>
                </a:lnTo>
                <a:lnTo>
                  <a:pt x="3835869" y="3176513"/>
                </a:lnTo>
                <a:lnTo>
                  <a:pt x="3786691" y="3176513"/>
                </a:lnTo>
                <a:lnTo>
                  <a:pt x="3737513" y="3176513"/>
                </a:lnTo>
                <a:lnTo>
                  <a:pt x="3688336" y="3176513"/>
                </a:lnTo>
                <a:lnTo>
                  <a:pt x="3639158" y="3176513"/>
                </a:lnTo>
                <a:lnTo>
                  <a:pt x="3589980" y="3176513"/>
                </a:lnTo>
                <a:lnTo>
                  <a:pt x="3540802" y="3176513"/>
                </a:lnTo>
                <a:lnTo>
                  <a:pt x="3491624" y="3176513"/>
                </a:lnTo>
                <a:lnTo>
                  <a:pt x="3442447" y="3176513"/>
                </a:lnTo>
                <a:lnTo>
                  <a:pt x="3393269" y="3176513"/>
                </a:lnTo>
                <a:lnTo>
                  <a:pt x="3344091" y="3176513"/>
                </a:lnTo>
                <a:lnTo>
                  <a:pt x="3294913" y="3176513"/>
                </a:lnTo>
                <a:lnTo>
                  <a:pt x="3245735" y="3176513"/>
                </a:lnTo>
                <a:lnTo>
                  <a:pt x="3196557" y="3176513"/>
                </a:lnTo>
                <a:lnTo>
                  <a:pt x="3147380" y="3176513"/>
                </a:lnTo>
                <a:lnTo>
                  <a:pt x="3098202" y="3176513"/>
                </a:lnTo>
                <a:lnTo>
                  <a:pt x="3049024" y="3176513"/>
                </a:lnTo>
                <a:lnTo>
                  <a:pt x="2999846" y="3176513"/>
                </a:lnTo>
                <a:lnTo>
                  <a:pt x="2950668" y="3176513"/>
                </a:lnTo>
                <a:lnTo>
                  <a:pt x="2901491" y="3176513"/>
                </a:lnTo>
                <a:lnTo>
                  <a:pt x="2852313" y="3176513"/>
                </a:lnTo>
                <a:lnTo>
                  <a:pt x="2803135" y="3176513"/>
                </a:lnTo>
                <a:lnTo>
                  <a:pt x="2753957" y="3176513"/>
                </a:lnTo>
                <a:lnTo>
                  <a:pt x="2704779" y="3176513"/>
                </a:lnTo>
                <a:lnTo>
                  <a:pt x="2655602" y="3176513"/>
                </a:lnTo>
                <a:lnTo>
                  <a:pt x="2606424" y="3176513"/>
                </a:lnTo>
                <a:lnTo>
                  <a:pt x="2557246" y="3176513"/>
                </a:lnTo>
                <a:lnTo>
                  <a:pt x="2508068" y="3176513"/>
                </a:lnTo>
                <a:lnTo>
                  <a:pt x="2458890" y="3176513"/>
                </a:lnTo>
                <a:lnTo>
                  <a:pt x="2409712" y="3176513"/>
                </a:lnTo>
                <a:lnTo>
                  <a:pt x="2360535" y="3176513"/>
                </a:lnTo>
                <a:lnTo>
                  <a:pt x="2311357" y="3176513"/>
                </a:lnTo>
                <a:lnTo>
                  <a:pt x="2262179" y="3176513"/>
                </a:lnTo>
                <a:lnTo>
                  <a:pt x="2213001" y="3176513"/>
                </a:lnTo>
                <a:lnTo>
                  <a:pt x="2163823" y="3176513"/>
                </a:lnTo>
                <a:lnTo>
                  <a:pt x="2114646" y="3176513"/>
                </a:lnTo>
                <a:lnTo>
                  <a:pt x="2065468" y="3176513"/>
                </a:lnTo>
                <a:lnTo>
                  <a:pt x="2016290" y="3176513"/>
                </a:lnTo>
                <a:lnTo>
                  <a:pt x="1967112" y="3176513"/>
                </a:lnTo>
                <a:lnTo>
                  <a:pt x="1917934" y="3176513"/>
                </a:lnTo>
                <a:lnTo>
                  <a:pt x="1868756" y="3176513"/>
                </a:lnTo>
                <a:lnTo>
                  <a:pt x="1819579" y="3176513"/>
                </a:lnTo>
                <a:lnTo>
                  <a:pt x="1770401" y="3176513"/>
                </a:lnTo>
                <a:lnTo>
                  <a:pt x="1721223" y="3176513"/>
                </a:lnTo>
                <a:lnTo>
                  <a:pt x="1672045" y="3176513"/>
                </a:lnTo>
                <a:lnTo>
                  <a:pt x="1622867" y="3176513"/>
                </a:lnTo>
                <a:lnTo>
                  <a:pt x="1573690" y="3176513"/>
                </a:lnTo>
                <a:lnTo>
                  <a:pt x="1524512" y="3176513"/>
                </a:lnTo>
                <a:lnTo>
                  <a:pt x="1475334" y="3176513"/>
                </a:lnTo>
                <a:lnTo>
                  <a:pt x="1426156" y="3176513"/>
                </a:lnTo>
                <a:lnTo>
                  <a:pt x="1376978" y="3176513"/>
                </a:lnTo>
                <a:lnTo>
                  <a:pt x="1327801" y="3176513"/>
                </a:lnTo>
                <a:lnTo>
                  <a:pt x="1278623" y="3176513"/>
                </a:lnTo>
                <a:lnTo>
                  <a:pt x="1229445" y="3176513"/>
                </a:lnTo>
                <a:lnTo>
                  <a:pt x="1180267" y="3176513"/>
                </a:lnTo>
                <a:lnTo>
                  <a:pt x="1131089" y="3176513"/>
                </a:lnTo>
                <a:lnTo>
                  <a:pt x="1081911" y="3176513"/>
                </a:lnTo>
                <a:lnTo>
                  <a:pt x="1032734" y="3176513"/>
                </a:lnTo>
                <a:lnTo>
                  <a:pt x="983556" y="3176513"/>
                </a:lnTo>
                <a:lnTo>
                  <a:pt x="934378" y="3176513"/>
                </a:lnTo>
                <a:lnTo>
                  <a:pt x="885200" y="3176513"/>
                </a:lnTo>
                <a:lnTo>
                  <a:pt x="836022" y="3176513"/>
                </a:lnTo>
                <a:lnTo>
                  <a:pt x="786845" y="3176513"/>
                </a:lnTo>
                <a:lnTo>
                  <a:pt x="737667" y="3176513"/>
                </a:lnTo>
                <a:lnTo>
                  <a:pt x="688489" y="3176513"/>
                </a:lnTo>
                <a:lnTo>
                  <a:pt x="639311" y="3176513"/>
                </a:lnTo>
                <a:lnTo>
                  <a:pt x="590133" y="3176513"/>
                </a:lnTo>
                <a:lnTo>
                  <a:pt x="540955" y="3176513"/>
                </a:lnTo>
                <a:lnTo>
                  <a:pt x="491778" y="3176513"/>
                </a:lnTo>
                <a:lnTo>
                  <a:pt x="442600" y="3176513"/>
                </a:lnTo>
                <a:lnTo>
                  <a:pt x="393422" y="3176513"/>
                </a:lnTo>
                <a:lnTo>
                  <a:pt x="344244" y="3176513"/>
                </a:lnTo>
                <a:lnTo>
                  <a:pt x="295066" y="3176513"/>
                </a:lnTo>
                <a:lnTo>
                  <a:pt x="245889" y="3176513"/>
                </a:lnTo>
                <a:lnTo>
                  <a:pt x="196711" y="3176513"/>
                </a:lnTo>
                <a:lnTo>
                  <a:pt x="147533" y="3176513"/>
                </a:lnTo>
                <a:lnTo>
                  <a:pt x="98355" y="3176513"/>
                </a:lnTo>
                <a:lnTo>
                  <a:pt x="49177" y="3176513"/>
                </a:lnTo>
                <a:lnTo>
                  <a:pt x="0" y="3176513"/>
                </a:lnTo>
                <a:close/>
              </a:path>
            </a:pathLst>
          </a:custGeom>
          <a:solidFill>
            <a:srgbClr val="8EDBD4">
              <a:alpha val="22000"/>
            </a:srgbClr>
          </a:solidFill>
          <a:ln w="10160">
            <a:solidFill>
              <a:srgbClr val="8EDBD4">
                <a:alpha val="22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A-E07 polygon 40" descr="sci-ppt:o040"/>
          <p:cNvSpPr/>
          <p:nvPr/>
        </p:nvSpPr>
        <p:spPr>
          <a:xfrm>
            <a:off x="914400" y="1924549"/>
            <a:ext cx="5802982" cy="3104651"/>
          </a:xfrm>
          <a:custGeom>
            <a:avLst/>
            <a:gdLst/>
            <a:ahLst/>
            <a:cxnLst/>
            <a:rect l="l" t="t" r="r" b="b"/>
            <a:pathLst>
              <a:path w="5802982" h="3104651">
                <a:moveTo>
                  <a:pt x="0" y="3104651"/>
                </a:moveTo>
                <a:lnTo>
                  <a:pt x="49177" y="3104572"/>
                </a:lnTo>
                <a:lnTo>
                  <a:pt x="98355" y="3104334"/>
                </a:lnTo>
                <a:lnTo>
                  <a:pt x="147533" y="3103931"/>
                </a:lnTo>
                <a:lnTo>
                  <a:pt x="196711" y="3103360"/>
                </a:lnTo>
                <a:lnTo>
                  <a:pt x="245889" y="3102614"/>
                </a:lnTo>
                <a:lnTo>
                  <a:pt x="295066" y="3101688"/>
                </a:lnTo>
                <a:lnTo>
                  <a:pt x="344244" y="3100576"/>
                </a:lnTo>
                <a:lnTo>
                  <a:pt x="393422" y="3099272"/>
                </a:lnTo>
                <a:lnTo>
                  <a:pt x="442600" y="3097768"/>
                </a:lnTo>
                <a:lnTo>
                  <a:pt x="491778" y="3096059"/>
                </a:lnTo>
                <a:lnTo>
                  <a:pt x="540955" y="3094138"/>
                </a:lnTo>
                <a:lnTo>
                  <a:pt x="590133" y="3091996"/>
                </a:lnTo>
                <a:lnTo>
                  <a:pt x="639311" y="3089628"/>
                </a:lnTo>
                <a:lnTo>
                  <a:pt x="688489" y="3087026"/>
                </a:lnTo>
                <a:lnTo>
                  <a:pt x="737667" y="3084182"/>
                </a:lnTo>
                <a:lnTo>
                  <a:pt x="786845" y="3081089"/>
                </a:lnTo>
                <a:lnTo>
                  <a:pt x="836022" y="3077740"/>
                </a:lnTo>
                <a:lnTo>
                  <a:pt x="885200" y="3074127"/>
                </a:lnTo>
                <a:lnTo>
                  <a:pt x="934378" y="3070241"/>
                </a:lnTo>
                <a:lnTo>
                  <a:pt x="983556" y="3066077"/>
                </a:lnTo>
                <a:lnTo>
                  <a:pt x="1032734" y="3061625"/>
                </a:lnTo>
                <a:lnTo>
                  <a:pt x="1081911" y="3056878"/>
                </a:lnTo>
                <a:lnTo>
                  <a:pt x="1131089" y="3051828"/>
                </a:lnTo>
                <a:lnTo>
                  <a:pt x="1180267" y="3046468"/>
                </a:lnTo>
                <a:lnTo>
                  <a:pt x="1229445" y="3040789"/>
                </a:lnTo>
                <a:lnTo>
                  <a:pt x="1278623" y="3034784"/>
                </a:lnTo>
                <a:lnTo>
                  <a:pt x="1327801" y="3028444"/>
                </a:lnTo>
                <a:lnTo>
                  <a:pt x="1376978" y="3021762"/>
                </a:lnTo>
                <a:lnTo>
                  <a:pt x="1426156" y="3014730"/>
                </a:lnTo>
                <a:lnTo>
                  <a:pt x="1475334" y="3007339"/>
                </a:lnTo>
                <a:lnTo>
                  <a:pt x="1524512" y="2999582"/>
                </a:lnTo>
                <a:lnTo>
                  <a:pt x="1573690" y="2991451"/>
                </a:lnTo>
                <a:lnTo>
                  <a:pt x="1622867" y="2982938"/>
                </a:lnTo>
                <a:lnTo>
                  <a:pt x="1672045" y="2974034"/>
                </a:lnTo>
                <a:lnTo>
                  <a:pt x="1721223" y="2964731"/>
                </a:lnTo>
                <a:lnTo>
                  <a:pt x="1770401" y="2955023"/>
                </a:lnTo>
                <a:lnTo>
                  <a:pt x="1819579" y="2944899"/>
                </a:lnTo>
                <a:lnTo>
                  <a:pt x="1868756" y="2934354"/>
                </a:lnTo>
                <a:lnTo>
                  <a:pt x="1917934" y="2923377"/>
                </a:lnTo>
                <a:lnTo>
                  <a:pt x="1967112" y="2911962"/>
                </a:lnTo>
                <a:lnTo>
                  <a:pt x="2016290" y="2900099"/>
                </a:lnTo>
                <a:lnTo>
                  <a:pt x="2065468" y="2887782"/>
                </a:lnTo>
                <a:lnTo>
                  <a:pt x="2114646" y="2875002"/>
                </a:lnTo>
                <a:lnTo>
                  <a:pt x="2163823" y="2861750"/>
                </a:lnTo>
                <a:lnTo>
                  <a:pt x="2213001" y="2848019"/>
                </a:lnTo>
                <a:lnTo>
                  <a:pt x="2262179" y="2833801"/>
                </a:lnTo>
                <a:lnTo>
                  <a:pt x="2311357" y="2819087"/>
                </a:lnTo>
                <a:lnTo>
                  <a:pt x="2360535" y="2803869"/>
                </a:lnTo>
                <a:lnTo>
                  <a:pt x="2409712" y="2788140"/>
                </a:lnTo>
                <a:lnTo>
                  <a:pt x="2458890" y="2771891"/>
                </a:lnTo>
                <a:lnTo>
                  <a:pt x="2508068" y="2755113"/>
                </a:lnTo>
                <a:lnTo>
                  <a:pt x="2557246" y="2737799"/>
                </a:lnTo>
                <a:lnTo>
                  <a:pt x="2606424" y="2719941"/>
                </a:lnTo>
                <a:lnTo>
                  <a:pt x="2655602" y="2701530"/>
                </a:lnTo>
                <a:lnTo>
                  <a:pt x="2704779" y="2682559"/>
                </a:lnTo>
                <a:lnTo>
                  <a:pt x="2753957" y="2663018"/>
                </a:lnTo>
                <a:lnTo>
                  <a:pt x="2803135" y="2642901"/>
                </a:lnTo>
                <a:lnTo>
                  <a:pt x="2852313" y="2622198"/>
                </a:lnTo>
                <a:lnTo>
                  <a:pt x="2901491" y="2600902"/>
                </a:lnTo>
                <a:lnTo>
                  <a:pt x="2950668" y="2579005"/>
                </a:lnTo>
                <a:lnTo>
                  <a:pt x="2999846" y="2556498"/>
                </a:lnTo>
                <a:lnTo>
                  <a:pt x="3049024" y="2533373"/>
                </a:lnTo>
                <a:lnTo>
                  <a:pt x="3098202" y="2509622"/>
                </a:lnTo>
                <a:lnTo>
                  <a:pt x="3147380" y="2485237"/>
                </a:lnTo>
                <a:lnTo>
                  <a:pt x="3196557" y="2460209"/>
                </a:lnTo>
                <a:lnTo>
                  <a:pt x="3245735" y="2434531"/>
                </a:lnTo>
                <a:lnTo>
                  <a:pt x="3294913" y="2408195"/>
                </a:lnTo>
                <a:lnTo>
                  <a:pt x="3344091" y="2381191"/>
                </a:lnTo>
                <a:lnTo>
                  <a:pt x="3393269" y="2353513"/>
                </a:lnTo>
                <a:lnTo>
                  <a:pt x="3442447" y="2325151"/>
                </a:lnTo>
                <a:lnTo>
                  <a:pt x="3491624" y="2296098"/>
                </a:lnTo>
                <a:lnTo>
                  <a:pt x="3540802" y="2266346"/>
                </a:lnTo>
                <a:lnTo>
                  <a:pt x="3589980" y="2235885"/>
                </a:lnTo>
                <a:lnTo>
                  <a:pt x="3639158" y="2204709"/>
                </a:lnTo>
                <a:lnTo>
                  <a:pt x="3688336" y="2172809"/>
                </a:lnTo>
                <a:lnTo>
                  <a:pt x="3737513" y="2140177"/>
                </a:lnTo>
                <a:lnTo>
                  <a:pt x="3786691" y="2106804"/>
                </a:lnTo>
                <a:lnTo>
                  <a:pt x="3835869" y="2072682"/>
                </a:lnTo>
                <a:lnTo>
                  <a:pt x="3885047" y="2037804"/>
                </a:lnTo>
                <a:lnTo>
                  <a:pt x="3934225" y="2002161"/>
                </a:lnTo>
                <a:lnTo>
                  <a:pt x="3983403" y="1965744"/>
                </a:lnTo>
                <a:lnTo>
                  <a:pt x="4032580" y="1928546"/>
                </a:lnTo>
                <a:lnTo>
                  <a:pt x="4081758" y="1890559"/>
                </a:lnTo>
                <a:lnTo>
                  <a:pt x="4130936" y="1851774"/>
                </a:lnTo>
                <a:lnTo>
                  <a:pt x="4180114" y="1812183"/>
                </a:lnTo>
                <a:lnTo>
                  <a:pt x="4229292" y="1771778"/>
                </a:lnTo>
                <a:lnTo>
                  <a:pt x="4278469" y="1730551"/>
                </a:lnTo>
                <a:lnTo>
                  <a:pt x="4327647" y="1688493"/>
                </a:lnTo>
                <a:lnTo>
                  <a:pt x="4376825" y="1645597"/>
                </a:lnTo>
                <a:lnTo>
                  <a:pt x="4426003" y="1601854"/>
                </a:lnTo>
                <a:lnTo>
                  <a:pt x="4475181" y="1557256"/>
                </a:lnTo>
                <a:lnTo>
                  <a:pt x="4524358" y="1511795"/>
                </a:lnTo>
                <a:lnTo>
                  <a:pt x="4573536" y="1465462"/>
                </a:lnTo>
                <a:lnTo>
                  <a:pt x="4622714" y="1418250"/>
                </a:lnTo>
                <a:lnTo>
                  <a:pt x="4671892" y="1370150"/>
                </a:lnTo>
                <a:lnTo>
                  <a:pt x="4721070" y="1321154"/>
                </a:lnTo>
                <a:lnTo>
                  <a:pt x="4770248" y="1271254"/>
                </a:lnTo>
                <a:lnTo>
                  <a:pt x="4819425" y="1220442"/>
                </a:lnTo>
                <a:lnTo>
                  <a:pt x="4868603" y="1168709"/>
                </a:lnTo>
                <a:lnTo>
                  <a:pt x="4917781" y="1116048"/>
                </a:lnTo>
                <a:lnTo>
                  <a:pt x="4966959" y="1062449"/>
                </a:lnTo>
                <a:lnTo>
                  <a:pt x="5016137" y="1007906"/>
                </a:lnTo>
                <a:lnTo>
                  <a:pt x="5065314" y="952409"/>
                </a:lnTo>
                <a:lnTo>
                  <a:pt x="5114492" y="895951"/>
                </a:lnTo>
                <a:lnTo>
                  <a:pt x="5163670" y="838524"/>
                </a:lnTo>
                <a:lnTo>
                  <a:pt x="5212848" y="780118"/>
                </a:lnTo>
                <a:lnTo>
                  <a:pt x="5262026" y="720726"/>
                </a:lnTo>
                <a:lnTo>
                  <a:pt x="5311204" y="660341"/>
                </a:lnTo>
                <a:lnTo>
                  <a:pt x="5360381" y="598953"/>
                </a:lnTo>
                <a:lnTo>
                  <a:pt x="5409559" y="536554"/>
                </a:lnTo>
                <a:lnTo>
                  <a:pt x="5458737" y="473136"/>
                </a:lnTo>
                <a:lnTo>
                  <a:pt x="5507915" y="408692"/>
                </a:lnTo>
                <a:lnTo>
                  <a:pt x="5557093" y="343212"/>
                </a:lnTo>
                <a:lnTo>
                  <a:pt x="5606270" y="276689"/>
                </a:lnTo>
                <a:lnTo>
                  <a:pt x="5655448" y="209115"/>
                </a:lnTo>
                <a:lnTo>
                  <a:pt x="5704626" y="140481"/>
                </a:lnTo>
                <a:lnTo>
                  <a:pt x="5753804" y="70779"/>
                </a:lnTo>
                <a:lnTo>
                  <a:pt x="5802982" y="0"/>
                </a:lnTo>
              </a:path>
            </a:pathLst>
          </a:custGeom>
          <a:noFill/>
          <a:ln w="431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A-E07 ellipse 41" descr="sci-ppt:o041"/>
          <p:cNvSpPr/>
          <p:nvPr/>
        </p:nvSpPr>
        <p:spPr>
          <a:xfrm>
            <a:off x="6693408" y="1779535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A-E07 text 42" descr="sci-ppt:o042"/>
          <p:cNvSpPr txBox="1"/>
          <p:nvPr/>
        </p:nvSpPr>
        <p:spPr>
          <a:xfrm>
            <a:off x="4114800" y="1395487"/>
            <a:ext cx="2560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W_g(30 µm) = 4.5160 nJ</a:t>
            </a:r>
          </a:p>
        </p:txBody>
      </p:sp>
      <p:sp>
        <p:nvSpPr>
          <p:cNvPr id="45" name="A-E07 round_rect 43" descr="sci-ppt:o043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A-E07 text 44" descr="sci-ppt:o044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Integrate pressure over volume</a:t>
            </a:r>
          </a:p>
        </p:txBody>
      </p:sp>
      <p:sp>
        <p:nvSpPr>
          <p:cNvPr id="47" name="A-E07 text 45" descr="sci-ppt:o045"/>
          <p:cNvSpPr txBox="1"/>
          <p:nvPr/>
        </p:nvSpPr>
        <p:spPr>
          <a:xfrm>
            <a:off x="7178040" y="1828800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W_g = 4π ∫ pₑₗ(ξ) ξ² dξ</a:t>
            </a:r>
          </a:p>
        </p:txBody>
      </p:sp>
      <p:sp>
        <p:nvSpPr>
          <p:cNvPr id="48" name="A-E07 text 46" descr="sci-ppt:o046"/>
          <p:cNvSpPr txBox="1"/>
          <p:nvPr/>
        </p:nvSpPr>
        <p:spPr>
          <a:xfrm>
            <a:off x="7178040" y="2331720"/>
            <a:ext cx="4572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= 2πG_g [5ξ³/3 − 2R_ref ξ² + R_ref⁴/ξ]</a:t>
            </a:r>
          </a:p>
        </p:txBody>
      </p:sp>
      <p:sp>
        <p:nvSpPr>
          <p:cNvPr id="49" name="A-E07 text 47" descr="sci-ppt:o047"/>
          <p:cNvSpPr txBox="1"/>
          <p:nvPr/>
        </p:nvSpPr>
        <p:spPr>
          <a:xfrm>
            <a:off x="7178040" y="2834640"/>
            <a:ext cx="457200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2B880"/>
                </a:solidFill>
                <a:latin typeface="Arial"/>
              </a:rPr>
              <a:t>W_g = 2πG_g[5R³/3 − 2R_ref R² + R_ref⁴/R − 2R_ref³/3]</a:t>
            </a:r>
          </a:p>
        </p:txBody>
      </p:sp>
      <p:sp>
        <p:nvSpPr>
          <p:cNvPr id="50" name="A-E07 text 48" descr="sci-ppt:o048"/>
          <p:cNvSpPr txBox="1"/>
          <p:nvPr/>
        </p:nvSpPr>
        <p:spPr>
          <a:xfrm>
            <a:off x="7178040" y="3474720"/>
            <a:ext cx="45720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Numerical quadrature: 4.516040 nJ;  closed form: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4.516039 nJ.</a:t>
            </a:r>
          </a:p>
        </p:txBody>
      </p:sp>
      <p:sp>
        <p:nvSpPr>
          <p:cNvPr id="51" name="A-E07 text 49" descr="sci-ppt:o049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4πξ² dξ is the cavity volume increment, so the integral is work done against the network.</a:t>
            </a:r>
          </a:p>
        </p:txBody>
      </p:sp>
      <p:sp>
        <p:nvSpPr>
          <p:cNvPr id="52" name="A-E07 text 50" descr="sci-ppt:o05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Elastic work of Eq. A-E07 (R_ref = 5 µm, G_g = 20 kPa).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