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3701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 1: plot geometry" descr="sci-ppt:obj-0001"/>
          <p:cNvSpPr/>
          <p:nvPr/>
        </p:nvSpPr>
        <p:spPr>
          <a:xfrm>
            <a:off x="0" y="0"/>
            <a:ext cx="12191695" cy="370105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 2: plot geometry" descr="sci-ppt:obj-0002"/>
          <p:cNvSpPr/>
          <p:nvPr/>
        </p:nvSpPr>
        <p:spPr>
          <a:xfrm>
            <a:off x="217708" y="217708"/>
            <a:ext cx="3265632" cy="2612506"/>
          </a:xfrm>
          <a:prstGeom prst="rect">
            <a:avLst/>
          </a:prstGeom>
          <a:solidFill>
            <a:srgbClr val="E3EB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 3: plot geometry" descr="sci-ppt:obj-0003"/>
          <p:cNvSpPr/>
          <p:nvPr/>
        </p:nvSpPr>
        <p:spPr>
          <a:xfrm>
            <a:off x="3646623" y="217708"/>
            <a:ext cx="4626312" cy="2612506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 4: plot geometry" descr="sci-ppt:obj-0004"/>
          <p:cNvSpPr/>
          <p:nvPr/>
        </p:nvSpPr>
        <p:spPr>
          <a:xfrm>
            <a:off x="8436217" y="217708"/>
            <a:ext cx="3537768" cy="2612506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 5: 1 · Model Builder" descr="sci-ppt:obj-0005"/>
          <p:cNvSpPr txBox="1"/>
          <p:nvPr/>
        </p:nvSpPr>
        <p:spPr>
          <a:xfrm>
            <a:off x="386214" y="319052"/>
            <a:ext cx="2584314" cy="337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71" b="0" i="0">
                <a:solidFill>
                  <a:srgbClr val="183348"/>
                </a:solidFill>
                <a:latin typeface="Arial"/>
              </a:rPr>
              <a:t>1 · Model Builder</a:t>
            </a:r>
          </a:p>
        </p:txBody>
      </p:sp>
      <p:sp>
        <p:nvSpPr>
          <p:cNvPr id="7" name="text 6: 2 · Settings" descr="sci-ppt:obj-0006"/>
          <p:cNvSpPr txBox="1"/>
          <p:nvPr/>
        </p:nvSpPr>
        <p:spPr>
          <a:xfrm>
            <a:off x="3826014" y="319052"/>
            <a:ext cx="1845737" cy="337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71" b="0" i="0">
                <a:solidFill>
                  <a:srgbClr val="183348"/>
                </a:solidFill>
                <a:latin typeface="Arial"/>
              </a:rPr>
              <a:t>2 · Settings</a:t>
            </a:r>
          </a:p>
        </p:txBody>
      </p:sp>
      <p:sp>
        <p:nvSpPr>
          <p:cNvPr id="8" name="text 7: 3 · Graphics" descr="sci-ppt:obj-0007"/>
          <p:cNvSpPr txBox="1"/>
          <p:nvPr/>
        </p:nvSpPr>
        <p:spPr>
          <a:xfrm>
            <a:off x="8615609" y="319052"/>
            <a:ext cx="1845737" cy="337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71" b="0" i="0">
                <a:solidFill>
                  <a:srgbClr val="183348"/>
                </a:solidFill>
                <a:latin typeface="Arial"/>
              </a:rPr>
              <a:t>3 · Graphics</a:t>
            </a:r>
          </a:p>
        </p:txBody>
      </p:sp>
      <p:sp>
        <p:nvSpPr>
          <p:cNvPr id="9" name="text 8: Global Definitions" descr="sci-ppt:obj-0008"/>
          <p:cNvSpPr txBox="1"/>
          <p:nvPr/>
        </p:nvSpPr>
        <p:spPr>
          <a:xfrm>
            <a:off x="386214" y="810856"/>
            <a:ext cx="2038409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Global Definitions</a:t>
            </a:r>
          </a:p>
        </p:txBody>
      </p:sp>
      <p:sp>
        <p:nvSpPr>
          <p:cNvPr id="10" name="text 9: Parameters 1" descr="sci-ppt:obj-0009"/>
          <p:cNvSpPr txBox="1"/>
          <p:nvPr/>
        </p:nvSpPr>
        <p:spPr>
          <a:xfrm>
            <a:off x="614809" y="1159190"/>
            <a:ext cx="1383323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Parameters 1</a:t>
            </a:r>
          </a:p>
        </p:txBody>
      </p:sp>
      <p:sp>
        <p:nvSpPr>
          <p:cNvPr id="11" name="text 10: Component c" descr="sci-ppt:obj-0010"/>
          <p:cNvSpPr txBox="1"/>
          <p:nvPr/>
        </p:nvSpPr>
        <p:spPr>
          <a:xfrm>
            <a:off x="386214" y="1507524"/>
            <a:ext cx="1274142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Component c</a:t>
            </a:r>
          </a:p>
        </p:txBody>
      </p:sp>
      <p:sp>
        <p:nvSpPr>
          <p:cNvPr id="12" name="text 11: Definitions → Variables" descr="sci-ppt:obj-0011"/>
          <p:cNvSpPr txBox="1"/>
          <p:nvPr/>
        </p:nvSpPr>
        <p:spPr>
          <a:xfrm>
            <a:off x="614809" y="1855859"/>
            <a:ext cx="2584314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Definitions → Variables</a:t>
            </a:r>
          </a:p>
        </p:txBody>
      </p:sp>
      <p:sp>
        <p:nvSpPr>
          <p:cNvPr id="13" name="text 12: Global Equations 1" descr="sci-ppt:obj-0012"/>
          <p:cNvSpPr txBox="1"/>
          <p:nvPr/>
        </p:nvSpPr>
        <p:spPr>
          <a:xfrm>
            <a:off x="614809" y="2215078"/>
            <a:ext cx="2038409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Global Equations 1</a:t>
            </a:r>
          </a:p>
        </p:txBody>
      </p:sp>
      <p:sp>
        <p:nvSpPr>
          <p:cNvPr id="14" name="text 13: Selected equation row:" descr="sci-ppt:obj-0013"/>
          <p:cNvSpPr txBox="1"/>
          <p:nvPr/>
        </p:nvSpPr>
        <p:spPr>
          <a:xfrm>
            <a:off x="3826014" y="854398"/>
            <a:ext cx="2475133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Selected equation row:</a:t>
            </a:r>
          </a:p>
        </p:txBody>
      </p:sp>
      <p:sp>
        <p:nvSpPr>
          <p:cNvPr id="15" name="text 14: Name: vv" descr="sci-ppt:obj-0014"/>
          <p:cNvSpPr txBox="1"/>
          <p:nvPr/>
        </p:nvSpPr>
        <p:spPr>
          <a:xfrm>
            <a:off x="3826014" y="1246274"/>
            <a:ext cx="946599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Name: vv</a:t>
            </a:r>
          </a:p>
        </p:txBody>
      </p:sp>
      <p:sp>
        <p:nvSpPr>
          <p:cNvPr id="16" name="text 15: f: tau*(vvt-acc/Us)" descr="sci-ppt:obj-0015"/>
          <p:cNvSpPr txBox="1"/>
          <p:nvPr/>
        </p:nvSpPr>
        <p:spPr>
          <a:xfrm>
            <a:off x="3826014" y="1616379"/>
            <a:ext cx="2147590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f: tau*(vvt-acc/Us)</a:t>
            </a:r>
          </a:p>
        </p:txBody>
      </p:sp>
      <p:sp>
        <p:nvSpPr>
          <p:cNvPr id="17" name="text 16: Initial u: 0     Initial ut: 0" descr="sci-ppt:obj-0016"/>
          <p:cNvSpPr txBox="1"/>
          <p:nvPr/>
        </p:nvSpPr>
        <p:spPr>
          <a:xfrm>
            <a:off x="3826014" y="2008255"/>
            <a:ext cx="3348581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Initial u: 0     Initial ut: 0</a:t>
            </a:r>
          </a:p>
        </p:txBody>
      </p:sp>
      <p:sp>
        <p:nvSpPr>
          <p:cNvPr id="18" name="text 17: Commit cells with Tab" descr="sci-ppt:obj-0017"/>
          <p:cNvSpPr txBox="1"/>
          <p:nvPr/>
        </p:nvSpPr>
        <p:spPr>
          <a:xfrm>
            <a:off x="3826014" y="2389245"/>
            <a:ext cx="2365952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Commit cells with Tab</a:t>
            </a:r>
          </a:p>
        </p:txBody>
      </p:sp>
      <p:cxnSp>
        <p:nvCxnSpPr>
          <p:cNvPr id="19" name="line 18: plot geometry" descr="sci-ppt:obj-0018"/>
          <p:cNvCxnSpPr/>
          <p:nvPr/>
        </p:nvCxnSpPr>
        <p:spPr>
          <a:xfrm>
            <a:off x="8784551" y="2394797"/>
            <a:ext cx="2928184" cy="0"/>
          </a:xfrm>
          <a:prstGeom prst="line">
            <a:avLst/>
          </a:prstGeom>
          <a:ln w="21770">
            <a:solidFill>
              <a:srgbClr val="627B91"/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 flipV="1">
            <a:off x="8784551" y="936148"/>
            <a:ext cx="0" cy="1458649"/>
          </a:xfrm>
          <a:prstGeom prst="line">
            <a:avLst/>
          </a:prstGeom>
          <a:ln w="21770">
            <a:solidFill>
              <a:srgbClr val="627B91"/>
            </a:solidFill>
          </a:ln>
          <a:effectLst/>
        </p:spPr>
      </p:cxnSp>
      <p:sp>
        <p:nvSpPr>
          <p:cNvPr id="21" name="polygon 20: plot geometry" descr="sci-ppt:obj-0020"/>
          <p:cNvSpPr/>
          <p:nvPr/>
        </p:nvSpPr>
        <p:spPr>
          <a:xfrm>
            <a:off x="8784551" y="1214407"/>
            <a:ext cx="2917299" cy="1180390"/>
          </a:xfrm>
          <a:custGeom>
            <a:avLst/>
            <a:gdLst/>
            <a:ahLst/>
            <a:cxnLst/>
            <a:rect l="l" t="t" r="r" b="b"/>
            <a:pathLst>
              <a:path w="2917299" h="1180390">
                <a:moveTo>
                  <a:pt x="0" y="1169504"/>
                </a:moveTo>
                <a:lnTo>
                  <a:pt x="33948" y="906313"/>
                </a:lnTo>
                <a:lnTo>
                  <a:pt x="80180" y="681373"/>
                </a:lnTo>
                <a:lnTo>
                  <a:pt x="136919" y="492566"/>
                </a:lnTo>
                <a:lnTo>
                  <a:pt x="202389" y="337776"/>
                </a:lnTo>
                <a:lnTo>
                  <a:pt x="274814" y="214886"/>
                </a:lnTo>
                <a:lnTo>
                  <a:pt x="352416" y="121781"/>
                </a:lnTo>
                <a:lnTo>
                  <a:pt x="433421" y="56342"/>
                </a:lnTo>
                <a:lnTo>
                  <a:pt x="516051" y="16454"/>
                </a:lnTo>
                <a:lnTo>
                  <a:pt x="598530" y="0"/>
                </a:lnTo>
                <a:lnTo>
                  <a:pt x="679081" y="4863"/>
                </a:lnTo>
                <a:lnTo>
                  <a:pt x="755927" y="28927"/>
                </a:lnTo>
                <a:lnTo>
                  <a:pt x="827294" y="70075"/>
                </a:lnTo>
                <a:lnTo>
                  <a:pt x="901470" y="127469"/>
                </a:lnTo>
                <a:lnTo>
                  <a:pt x="988912" y="199944"/>
                </a:lnTo>
                <a:lnTo>
                  <a:pt x="1091096" y="284892"/>
                </a:lnTo>
                <a:lnTo>
                  <a:pt x="1209494" y="379705"/>
                </a:lnTo>
                <a:lnTo>
                  <a:pt x="1345581" y="481775"/>
                </a:lnTo>
                <a:lnTo>
                  <a:pt x="1500831" y="588494"/>
                </a:lnTo>
                <a:lnTo>
                  <a:pt x="1676717" y="697254"/>
                </a:lnTo>
                <a:lnTo>
                  <a:pt x="1874715" y="805447"/>
                </a:lnTo>
                <a:lnTo>
                  <a:pt x="2096298" y="910465"/>
                </a:lnTo>
                <a:lnTo>
                  <a:pt x="2342941" y="1009700"/>
                </a:lnTo>
                <a:lnTo>
                  <a:pt x="2616116" y="1100544"/>
                </a:lnTo>
                <a:lnTo>
                  <a:pt x="2917299" y="1180390"/>
                </a:lnTo>
              </a:path>
            </a:pathLst>
          </a:custGeom>
          <a:noFill/>
          <a:ln w="4354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: U(t)" descr="sci-ppt:obj-0021"/>
          <p:cNvSpPr txBox="1"/>
          <p:nvPr/>
        </p:nvSpPr>
        <p:spPr>
          <a:xfrm>
            <a:off x="8833317" y="691116"/>
            <a:ext cx="509875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U(t)</a:t>
            </a:r>
          </a:p>
        </p:txBody>
      </p:sp>
      <p:sp>
        <p:nvSpPr>
          <p:cNvPr id="23" name="text 22: First ejection time" descr="sci-ppt:obj-0022"/>
          <p:cNvSpPr txBox="1"/>
          <p:nvPr/>
        </p:nvSpPr>
        <p:spPr>
          <a:xfrm>
            <a:off x="10237539" y="2487541"/>
            <a:ext cx="2025564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First ejection time</a:t>
            </a:r>
          </a:p>
        </p:txBody>
      </p:sp>
      <p:sp>
        <p:nvSpPr>
          <p:cNvPr id="24" name="rect 23: plot geometry" descr="sci-ppt:obj-0023"/>
          <p:cNvSpPr/>
          <p:nvPr/>
        </p:nvSpPr>
        <p:spPr>
          <a:xfrm>
            <a:off x="217708" y="2993496"/>
            <a:ext cx="11756277" cy="489844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 24: Bottom: Progress · Messages · Log · numerical result tables" descr="sci-ppt:obj-0024"/>
          <p:cNvSpPr txBox="1"/>
          <p:nvPr/>
        </p:nvSpPr>
        <p:spPr>
          <a:xfrm>
            <a:off x="407985" y="3107358"/>
            <a:ext cx="6893752" cy="264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2" b="0" i="0">
                <a:solidFill>
                  <a:srgbClr val="183348"/>
                </a:solidFill>
                <a:latin typeface="Arial"/>
              </a:rPr>
              <a:t>Bottom: Progress · Messages · Log · numerical result tables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