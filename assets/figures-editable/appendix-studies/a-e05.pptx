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A-E05 · Derived neo-Hookean elastic resistance</a:t>
            </a:r>
          </a:p>
        </p:txBody>
      </p:sp>
      <p:cxnSp>
        <p:nvCxnSpPr>
          <p:cNvPr id="3" name="A-E05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5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5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5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5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5 line 6" descr="sci-ppt:o006"/>
          <p:cNvCxnSpPr/>
          <p:nvPr/>
        </p:nvCxnSpPr>
        <p:spPr>
          <a:xfrm>
            <a:off x="15646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5 line 7" descr="sci-ppt:o007"/>
          <p:cNvCxnSpPr/>
          <p:nvPr/>
        </p:nvCxnSpPr>
        <p:spPr>
          <a:xfrm>
            <a:off x="15646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5 text 8" descr="sci-ppt:o008"/>
          <p:cNvSpPr txBox="1"/>
          <p:nvPr/>
        </p:nvSpPr>
        <p:spPr>
          <a:xfrm>
            <a:off x="11074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5 line 9" descr="sci-ppt:o009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5 line 10" descr="sci-ppt:o010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5 text 11" descr="sci-ppt:o011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4" name="A-E05 line 12" descr="sci-ppt:o012"/>
          <p:cNvCxnSpPr/>
          <p:nvPr/>
        </p:nvCxnSpPr>
        <p:spPr>
          <a:xfrm>
            <a:off x="4165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5 line 13" descr="sci-ppt:o013"/>
          <p:cNvCxnSpPr/>
          <p:nvPr/>
        </p:nvCxnSpPr>
        <p:spPr>
          <a:xfrm>
            <a:off x="4165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5 text 14" descr="sci-ppt:o014"/>
          <p:cNvSpPr txBox="1"/>
          <p:nvPr/>
        </p:nvSpPr>
        <p:spPr>
          <a:xfrm>
            <a:off x="3708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17" name="A-E05 line 15" descr="sci-ppt:o015"/>
          <p:cNvCxnSpPr/>
          <p:nvPr/>
        </p:nvCxnSpPr>
        <p:spPr>
          <a:xfrm>
            <a:off x="54660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5 line 16" descr="sci-ppt:o016"/>
          <p:cNvCxnSpPr/>
          <p:nvPr/>
        </p:nvCxnSpPr>
        <p:spPr>
          <a:xfrm>
            <a:off x="54660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5 text 17" descr="sci-ppt:o017"/>
          <p:cNvSpPr txBox="1"/>
          <p:nvPr/>
        </p:nvSpPr>
        <p:spPr>
          <a:xfrm>
            <a:off x="50088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20" name="A-E05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5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5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3" name="A-E05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5 line 22" descr="sci-ppt:o022"/>
          <p:cNvCxnSpPr/>
          <p:nvPr/>
        </p:nvCxnSpPr>
        <p:spPr>
          <a:xfrm>
            <a:off x="850392" y="437605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5 line 23" descr="sci-ppt:o023"/>
          <p:cNvCxnSpPr/>
          <p:nvPr/>
        </p:nvCxnSpPr>
        <p:spPr>
          <a:xfrm>
            <a:off x="914400" y="4376057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5 text 24" descr="sci-ppt:o024"/>
          <p:cNvSpPr txBox="1"/>
          <p:nvPr/>
        </p:nvSpPr>
        <p:spPr>
          <a:xfrm>
            <a:off x="45720" y="429376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7" name="A-E05 line 25" descr="sci-ppt:o025"/>
          <p:cNvCxnSpPr/>
          <p:nvPr/>
        </p:nvCxnSpPr>
        <p:spPr>
          <a:xfrm>
            <a:off x="850392" y="37229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5 line 26" descr="sci-ppt:o026"/>
          <p:cNvCxnSpPr/>
          <p:nvPr/>
        </p:nvCxnSpPr>
        <p:spPr>
          <a:xfrm>
            <a:off x="914400" y="3722914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5 text 27" descr="sci-ppt:o027"/>
          <p:cNvSpPr txBox="1"/>
          <p:nvPr/>
        </p:nvSpPr>
        <p:spPr>
          <a:xfrm>
            <a:off x="45720" y="36406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30" name="A-E05 line 28" descr="sci-ppt:o028"/>
          <p:cNvCxnSpPr/>
          <p:nvPr/>
        </p:nvCxnSpPr>
        <p:spPr>
          <a:xfrm>
            <a:off x="850392" y="3069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5 line 29" descr="sci-ppt:o029"/>
          <p:cNvCxnSpPr/>
          <p:nvPr/>
        </p:nvCxnSpPr>
        <p:spPr>
          <a:xfrm>
            <a:off x="914400" y="306977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5 text 30" descr="sci-ppt:o030"/>
          <p:cNvSpPr txBox="1"/>
          <p:nvPr/>
        </p:nvSpPr>
        <p:spPr>
          <a:xfrm>
            <a:off x="45720" y="2987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33" name="A-E05 line 31" descr="sci-ppt:o031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5 line 32" descr="sci-ppt:o032"/>
          <p:cNvCxnSpPr/>
          <p:nvPr/>
        </p:nvCxnSpPr>
        <p:spPr>
          <a:xfrm>
            <a:off x="914400" y="241662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5 text 33" descr="sci-ppt:o033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2.0</a:t>
            </a:r>
          </a:p>
        </p:txBody>
      </p:sp>
      <p:cxnSp>
        <p:nvCxnSpPr>
          <p:cNvPr id="36" name="A-E05 line 34" descr="sci-ppt:o034"/>
          <p:cNvCxnSpPr/>
          <p:nvPr/>
        </p:nvCxnSpPr>
        <p:spPr>
          <a:xfrm>
            <a:off x="850392" y="1763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A-E05 line 35" descr="sci-ppt:o035"/>
          <p:cNvCxnSpPr/>
          <p:nvPr/>
        </p:nvCxnSpPr>
        <p:spPr>
          <a:xfrm>
            <a:off x="914400" y="176348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A-E05 text 36" descr="sci-ppt:o036"/>
          <p:cNvSpPr txBox="1"/>
          <p:nvPr/>
        </p:nvSpPr>
        <p:spPr>
          <a:xfrm>
            <a:off x="45720" y="1681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2.5</a:t>
            </a:r>
          </a:p>
        </p:txBody>
      </p:sp>
      <p:sp>
        <p:nvSpPr>
          <p:cNvPr id="39" name="A-E05 text 37" descr="sci-ppt:o037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R_ref</a:t>
            </a:r>
          </a:p>
        </p:txBody>
      </p:sp>
      <p:sp>
        <p:nvSpPr>
          <p:cNvPr id="40" name="A-E05 text 38" descr="sci-ppt:o038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pₑₗ / G_g</a:t>
            </a:r>
          </a:p>
        </p:txBody>
      </p:sp>
      <p:sp>
        <p:nvSpPr>
          <p:cNvPr id="41" name="A-E05 polygon 39" descr="sci-ppt:o039"/>
          <p:cNvSpPr/>
          <p:nvPr/>
        </p:nvSpPr>
        <p:spPr>
          <a:xfrm>
            <a:off x="914400" y="2024808"/>
            <a:ext cx="5852160" cy="3004392"/>
          </a:xfrm>
          <a:custGeom>
            <a:avLst/>
            <a:gdLst/>
            <a:ahLst/>
            <a:cxnLst/>
            <a:rect l="l" t="t" r="r" b="b"/>
            <a:pathLst>
              <a:path w="5852160" h="3004392">
                <a:moveTo>
                  <a:pt x="0" y="3004392"/>
                </a:moveTo>
                <a:lnTo>
                  <a:pt x="39144" y="2719859"/>
                </a:lnTo>
                <a:lnTo>
                  <a:pt x="78289" y="2484984"/>
                </a:lnTo>
                <a:lnTo>
                  <a:pt x="117434" y="2287789"/>
                </a:lnTo>
                <a:lnTo>
                  <a:pt x="156579" y="2119775"/>
                </a:lnTo>
                <a:lnTo>
                  <a:pt x="195724" y="1974777"/>
                </a:lnTo>
                <a:lnTo>
                  <a:pt x="234869" y="1848232"/>
                </a:lnTo>
                <a:lnTo>
                  <a:pt x="274014" y="1736704"/>
                </a:lnTo>
                <a:lnTo>
                  <a:pt x="313159" y="1637559"/>
                </a:lnTo>
                <a:lnTo>
                  <a:pt x="352303" y="1548747"/>
                </a:lnTo>
                <a:lnTo>
                  <a:pt x="391448" y="1468652"/>
                </a:lnTo>
                <a:lnTo>
                  <a:pt x="430593" y="1395985"/>
                </a:lnTo>
                <a:lnTo>
                  <a:pt x="469738" y="1329701"/>
                </a:lnTo>
                <a:lnTo>
                  <a:pt x="508883" y="1268948"/>
                </a:lnTo>
                <a:lnTo>
                  <a:pt x="548028" y="1213024"/>
                </a:lnTo>
                <a:lnTo>
                  <a:pt x="587173" y="1161342"/>
                </a:lnTo>
                <a:lnTo>
                  <a:pt x="626318" y="1113410"/>
                </a:lnTo>
                <a:lnTo>
                  <a:pt x="665463" y="1068814"/>
                </a:lnTo>
                <a:lnTo>
                  <a:pt x="704607" y="1027197"/>
                </a:lnTo>
                <a:lnTo>
                  <a:pt x="743752" y="988255"/>
                </a:lnTo>
                <a:lnTo>
                  <a:pt x="782897" y="951726"/>
                </a:lnTo>
                <a:lnTo>
                  <a:pt x="822042" y="917381"/>
                </a:lnTo>
                <a:lnTo>
                  <a:pt x="861187" y="885021"/>
                </a:lnTo>
                <a:lnTo>
                  <a:pt x="900332" y="854471"/>
                </a:lnTo>
                <a:lnTo>
                  <a:pt x="939477" y="825576"/>
                </a:lnTo>
                <a:lnTo>
                  <a:pt x="978622" y="798200"/>
                </a:lnTo>
                <a:lnTo>
                  <a:pt x="1017766" y="772221"/>
                </a:lnTo>
                <a:lnTo>
                  <a:pt x="1056911" y="747531"/>
                </a:lnTo>
                <a:lnTo>
                  <a:pt x="1096056" y="724033"/>
                </a:lnTo>
                <a:lnTo>
                  <a:pt x="1135201" y="701640"/>
                </a:lnTo>
                <a:lnTo>
                  <a:pt x="1174346" y="680272"/>
                </a:lnTo>
                <a:lnTo>
                  <a:pt x="1213491" y="659859"/>
                </a:lnTo>
                <a:lnTo>
                  <a:pt x="1252636" y="640336"/>
                </a:lnTo>
                <a:lnTo>
                  <a:pt x="1291781" y="621644"/>
                </a:lnTo>
                <a:lnTo>
                  <a:pt x="1330926" y="603730"/>
                </a:lnTo>
                <a:lnTo>
                  <a:pt x="1370070" y="586546"/>
                </a:lnTo>
                <a:lnTo>
                  <a:pt x="1409215" y="570045"/>
                </a:lnTo>
                <a:lnTo>
                  <a:pt x="1448360" y="554188"/>
                </a:lnTo>
                <a:lnTo>
                  <a:pt x="1487505" y="538936"/>
                </a:lnTo>
                <a:lnTo>
                  <a:pt x="1526650" y="524255"/>
                </a:lnTo>
                <a:lnTo>
                  <a:pt x="1565795" y="510112"/>
                </a:lnTo>
                <a:lnTo>
                  <a:pt x="1604940" y="496479"/>
                </a:lnTo>
                <a:lnTo>
                  <a:pt x="1644085" y="483326"/>
                </a:lnTo>
                <a:lnTo>
                  <a:pt x="1683229" y="470629"/>
                </a:lnTo>
                <a:lnTo>
                  <a:pt x="1722374" y="458364"/>
                </a:lnTo>
                <a:lnTo>
                  <a:pt x="1761519" y="446510"/>
                </a:lnTo>
                <a:lnTo>
                  <a:pt x="1800664" y="435044"/>
                </a:lnTo>
                <a:lnTo>
                  <a:pt x="1839809" y="423949"/>
                </a:lnTo>
                <a:lnTo>
                  <a:pt x="1878954" y="413206"/>
                </a:lnTo>
                <a:lnTo>
                  <a:pt x="1918099" y="402799"/>
                </a:lnTo>
                <a:lnTo>
                  <a:pt x="1957244" y="392712"/>
                </a:lnTo>
                <a:lnTo>
                  <a:pt x="1996389" y="382929"/>
                </a:lnTo>
                <a:lnTo>
                  <a:pt x="2035533" y="373439"/>
                </a:lnTo>
                <a:lnTo>
                  <a:pt x="2074678" y="364226"/>
                </a:lnTo>
                <a:lnTo>
                  <a:pt x="2113823" y="355279"/>
                </a:lnTo>
                <a:lnTo>
                  <a:pt x="2152968" y="346587"/>
                </a:lnTo>
                <a:lnTo>
                  <a:pt x="2192113" y="338139"/>
                </a:lnTo>
                <a:lnTo>
                  <a:pt x="2231258" y="329925"/>
                </a:lnTo>
                <a:lnTo>
                  <a:pt x="2270403" y="321934"/>
                </a:lnTo>
                <a:lnTo>
                  <a:pt x="2309548" y="314158"/>
                </a:lnTo>
                <a:lnTo>
                  <a:pt x="2348692" y="306588"/>
                </a:lnTo>
                <a:lnTo>
                  <a:pt x="2387837" y="299217"/>
                </a:lnTo>
                <a:lnTo>
                  <a:pt x="2426982" y="292035"/>
                </a:lnTo>
                <a:lnTo>
                  <a:pt x="2466127" y="285037"/>
                </a:lnTo>
                <a:lnTo>
                  <a:pt x="2505272" y="278214"/>
                </a:lnTo>
                <a:lnTo>
                  <a:pt x="2544417" y="271561"/>
                </a:lnTo>
                <a:lnTo>
                  <a:pt x="2583562" y="265070"/>
                </a:lnTo>
                <a:lnTo>
                  <a:pt x="2622707" y="258737"/>
                </a:lnTo>
                <a:lnTo>
                  <a:pt x="2661852" y="252555"/>
                </a:lnTo>
                <a:lnTo>
                  <a:pt x="2700996" y="246520"/>
                </a:lnTo>
                <a:lnTo>
                  <a:pt x="2740141" y="240625"/>
                </a:lnTo>
                <a:lnTo>
                  <a:pt x="2779286" y="234866"/>
                </a:lnTo>
                <a:lnTo>
                  <a:pt x="2818431" y="229239"/>
                </a:lnTo>
                <a:lnTo>
                  <a:pt x="2857576" y="223738"/>
                </a:lnTo>
                <a:lnTo>
                  <a:pt x="2896721" y="218360"/>
                </a:lnTo>
                <a:lnTo>
                  <a:pt x="2935866" y="213100"/>
                </a:lnTo>
                <a:lnTo>
                  <a:pt x="2975011" y="207955"/>
                </a:lnTo>
                <a:lnTo>
                  <a:pt x="3014155" y="202921"/>
                </a:lnTo>
                <a:lnTo>
                  <a:pt x="3053300" y="197994"/>
                </a:lnTo>
                <a:lnTo>
                  <a:pt x="3092445" y="193171"/>
                </a:lnTo>
                <a:lnTo>
                  <a:pt x="3131590" y="188448"/>
                </a:lnTo>
                <a:lnTo>
                  <a:pt x="3170735" y="183823"/>
                </a:lnTo>
                <a:lnTo>
                  <a:pt x="3209880" y="179293"/>
                </a:lnTo>
                <a:lnTo>
                  <a:pt x="3249025" y="174854"/>
                </a:lnTo>
                <a:lnTo>
                  <a:pt x="3288170" y="170504"/>
                </a:lnTo>
                <a:lnTo>
                  <a:pt x="3327315" y="166240"/>
                </a:lnTo>
                <a:lnTo>
                  <a:pt x="3366459" y="162060"/>
                </a:lnTo>
                <a:lnTo>
                  <a:pt x="3405604" y="157961"/>
                </a:lnTo>
                <a:lnTo>
                  <a:pt x="3444749" y="153940"/>
                </a:lnTo>
                <a:lnTo>
                  <a:pt x="3483894" y="149997"/>
                </a:lnTo>
                <a:lnTo>
                  <a:pt x="3523039" y="146128"/>
                </a:lnTo>
                <a:lnTo>
                  <a:pt x="3562184" y="142331"/>
                </a:lnTo>
                <a:lnTo>
                  <a:pt x="3601329" y="138604"/>
                </a:lnTo>
                <a:lnTo>
                  <a:pt x="3640474" y="134946"/>
                </a:lnTo>
                <a:lnTo>
                  <a:pt x="3679618" y="131354"/>
                </a:lnTo>
                <a:lnTo>
                  <a:pt x="3718763" y="127827"/>
                </a:lnTo>
                <a:lnTo>
                  <a:pt x="3757908" y="124363"/>
                </a:lnTo>
                <a:lnTo>
                  <a:pt x="3797053" y="120960"/>
                </a:lnTo>
                <a:lnTo>
                  <a:pt x="3836198" y="117617"/>
                </a:lnTo>
                <a:lnTo>
                  <a:pt x="3875343" y="114332"/>
                </a:lnTo>
                <a:lnTo>
                  <a:pt x="3914488" y="111104"/>
                </a:lnTo>
                <a:lnTo>
                  <a:pt x="3953633" y="107930"/>
                </a:lnTo>
                <a:lnTo>
                  <a:pt x="3992778" y="104811"/>
                </a:lnTo>
                <a:lnTo>
                  <a:pt x="4031922" y="101744"/>
                </a:lnTo>
                <a:lnTo>
                  <a:pt x="4071067" y="98727"/>
                </a:lnTo>
                <a:lnTo>
                  <a:pt x="4110212" y="95761"/>
                </a:lnTo>
                <a:lnTo>
                  <a:pt x="4149357" y="92843"/>
                </a:lnTo>
                <a:lnTo>
                  <a:pt x="4188502" y="89973"/>
                </a:lnTo>
                <a:lnTo>
                  <a:pt x="4227647" y="87149"/>
                </a:lnTo>
                <a:lnTo>
                  <a:pt x="4266792" y="84370"/>
                </a:lnTo>
                <a:lnTo>
                  <a:pt x="4305937" y="81635"/>
                </a:lnTo>
                <a:lnTo>
                  <a:pt x="4345082" y="78943"/>
                </a:lnTo>
                <a:lnTo>
                  <a:pt x="4384226" y="76293"/>
                </a:lnTo>
                <a:lnTo>
                  <a:pt x="4423371" y="73684"/>
                </a:lnTo>
                <a:lnTo>
                  <a:pt x="4462516" y="71115"/>
                </a:lnTo>
                <a:lnTo>
                  <a:pt x="4501661" y="68585"/>
                </a:lnTo>
                <a:lnTo>
                  <a:pt x="4540806" y="66094"/>
                </a:lnTo>
                <a:lnTo>
                  <a:pt x="4579951" y="63639"/>
                </a:lnTo>
                <a:lnTo>
                  <a:pt x="4619096" y="61222"/>
                </a:lnTo>
                <a:lnTo>
                  <a:pt x="4658241" y="58840"/>
                </a:lnTo>
                <a:lnTo>
                  <a:pt x="4697385" y="56493"/>
                </a:lnTo>
                <a:lnTo>
                  <a:pt x="4736530" y="54181"/>
                </a:lnTo>
                <a:lnTo>
                  <a:pt x="4775675" y="51902"/>
                </a:lnTo>
                <a:lnTo>
                  <a:pt x="4814820" y="49655"/>
                </a:lnTo>
                <a:lnTo>
                  <a:pt x="4853965" y="47441"/>
                </a:lnTo>
                <a:lnTo>
                  <a:pt x="4893110" y="45258"/>
                </a:lnTo>
                <a:lnTo>
                  <a:pt x="4932255" y="43106"/>
                </a:lnTo>
                <a:lnTo>
                  <a:pt x="4971400" y="40983"/>
                </a:lnTo>
                <a:lnTo>
                  <a:pt x="5010545" y="38890"/>
                </a:lnTo>
                <a:lnTo>
                  <a:pt x="5049689" y="36826"/>
                </a:lnTo>
                <a:lnTo>
                  <a:pt x="5088834" y="34790"/>
                </a:lnTo>
                <a:lnTo>
                  <a:pt x="5127979" y="32782"/>
                </a:lnTo>
                <a:lnTo>
                  <a:pt x="5167124" y="30801"/>
                </a:lnTo>
                <a:lnTo>
                  <a:pt x="5206269" y="28847"/>
                </a:lnTo>
                <a:lnTo>
                  <a:pt x="5245414" y="26918"/>
                </a:lnTo>
                <a:lnTo>
                  <a:pt x="5284559" y="25015"/>
                </a:lnTo>
                <a:lnTo>
                  <a:pt x="5323704" y="23137"/>
                </a:lnTo>
                <a:lnTo>
                  <a:pt x="5362848" y="21283"/>
                </a:lnTo>
                <a:lnTo>
                  <a:pt x="5401993" y="19454"/>
                </a:lnTo>
                <a:lnTo>
                  <a:pt x="5441138" y="17648"/>
                </a:lnTo>
                <a:lnTo>
                  <a:pt x="5480283" y="15865"/>
                </a:lnTo>
                <a:lnTo>
                  <a:pt x="5519428" y="14105"/>
                </a:lnTo>
                <a:lnTo>
                  <a:pt x="5558573" y="12367"/>
                </a:lnTo>
                <a:lnTo>
                  <a:pt x="5597718" y="10650"/>
                </a:lnTo>
                <a:lnTo>
                  <a:pt x="5636863" y="8956"/>
                </a:lnTo>
                <a:lnTo>
                  <a:pt x="5676008" y="7282"/>
                </a:lnTo>
                <a:lnTo>
                  <a:pt x="5715152" y="5629"/>
                </a:lnTo>
                <a:lnTo>
                  <a:pt x="5754297" y="3996"/>
                </a:lnTo>
                <a:lnTo>
                  <a:pt x="5793442" y="2383"/>
                </a:lnTo>
                <a:lnTo>
                  <a:pt x="5832587" y="789"/>
                </a:lnTo>
                <a:lnTo>
                  <a:pt x="5852160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A-E05 line 40" descr="sci-ppt:o040"/>
          <p:cNvCxnSpPr/>
          <p:nvPr/>
        </p:nvCxnSpPr>
        <p:spPr>
          <a:xfrm>
            <a:off x="914400" y="1763485"/>
            <a:ext cx="5852160" cy="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43" name="A-E05 text 41" descr="sci-ppt:o041"/>
          <p:cNvSpPr txBox="1"/>
          <p:nvPr/>
        </p:nvSpPr>
        <p:spPr>
          <a:xfrm>
            <a:off x="3588512" y="1698171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limit 5/2</a:t>
            </a:r>
          </a:p>
        </p:txBody>
      </p:sp>
      <p:sp>
        <p:nvSpPr>
          <p:cNvPr id="44" name="A-E05 ellipse 42" descr="sci-ppt:o042"/>
          <p:cNvSpPr/>
          <p:nvPr/>
        </p:nvSpPr>
        <p:spPr>
          <a:xfrm>
            <a:off x="4092447" y="212626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A-E05 text 43" descr="sci-ppt:o043"/>
          <p:cNvSpPr txBox="1"/>
          <p:nvPr/>
        </p:nvSpPr>
        <p:spPr>
          <a:xfrm>
            <a:off x="4165600" y="2519458"/>
            <a:ext cx="237744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R/R_ref = 6: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2.1663 G_g = 43325.6 Pa</a:t>
            </a:r>
          </a:p>
        </p:txBody>
      </p:sp>
      <p:sp>
        <p:nvSpPr>
          <p:cNvPr id="46" name="A-E05 round_rect 44" descr="sci-ppt:o044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A-E05 text 45" descr="sci-ppt:o045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Closed form</a:t>
            </a:r>
          </a:p>
        </p:txBody>
      </p:sp>
      <p:sp>
        <p:nvSpPr>
          <p:cNvPr id="48" name="A-E05 text 46" descr="sci-ppt:o046"/>
          <p:cNvSpPr txBox="1"/>
          <p:nvPr/>
        </p:nvSpPr>
        <p:spPr>
          <a:xfrm>
            <a:off x="7178040" y="1828800"/>
            <a:ext cx="4572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pₑₗ = 2G_g ∫ (1 + q³) dq   (q: R_ref/R → 1)</a:t>
            </a:r>
          </a:p>
        </p:txBody>
      </p:sp>
      <p:sp>
        <p:nvSpPr>
          <p:cNvPr id="49" name="A-E05 text 47" descr="sci-ppt:o047"/>
          <p:cNvSpPr txBox="1"/>
          <p:nvPr/>
        </p:nvSpPr>
        <p:spPr>
          <a:xfrm>
            <a:off x="7178040" y="233172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= 2G_g [q + q⁴/4]</a:t>
            </a:r>
          </a:p>
        </p:txBody>
      </p:sp>
      <p:sp>
        <p:nvSpPr>
          <p:cNvPr id="50" name="A-E05 text 48" descr="sci-ppt:o048"/>
          <p:cNvSpPr txBox="1"/>
          <p:nvPr/>
        </p:nvSpPr>
        <p:spPr>
          <a:xfrm>
            <a:off x="7178040" y="283464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= (G_g/2)[5 − 4R_ref/R − (R_ref/R)⁴]</a:t>
            </a:r>
          </a:p>
        </p:txBody>
      </p:sp>
      <p:sp>
        <p:nvSpPr>
          <p:cNvPr id="51" name="A-E05 text 49" descr="sci-ppt:o049"/>
          <p:cNvSpPr txBox="1"/>
          <p:nvPr/>
        </p:nvSpPr>
        <p:spPr>
          <a:xfrm>
            <a:off x="7178040" y="347472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Obtained from the stretch field, not a guessed constant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pressure.</a:t>
            </a:r>
          </a:p>
        </p:txBody>
      </p:sp>
      <p:sp>
        <p:nvSpPr>
          <p:cNvPr id="52" name="A-E05 text 50" descr="sci-ppt:o050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Resistance rises steeply at first and saturates near 5G_g/2 when the cavity is many times its reference size.</a:t>
            </a:r>
          </a:p>
        </p:txBody>
      </p:sp>
      <p:sp>
        <p:nvSpPr>
          <p:cNvPr id="53" name="A-E05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Neo-Hookean elastic resistance of Eq. A-E05 (curve normalised by G_g).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