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6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A-E09 text 0" descr="sci-ppt:o000"/>
          <p:cNvSpPr txBox="1"/>
          <p:nvPr/>
        </p:nvSpPr>
        <p:spPr>
          <a:xfrm>
            <a:off x="274320" y="118872"/>
            <a:ext cx="11612880" cy="34010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8EDBD4"/>
                </a:solidFill>
                <a:latin typeface="Arial"/>
              </a:rPr>
              <a:t>A-E09 · Kelvin–Voigt closure and exact radial kinematics</a:t>
            </a:r>
          </a:p>
        </p:txBody>
      </p:sp>
      <p:cxnSp>
        <p:nvCxnSpPr>
          <p:cNvPr id="3" name="A-E09 line 1" descr="sci-ppt:o001"/>
          <p:cNvCxnSpPr/>
          <p:nvPr/>
        </p:nvCxnSpPr>
        <p:spPr>
          <a:xfrm>
            <a:off x="914400" y="5029200"/>
            <a:ext cx="5486400" cy="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4" name="A-E09 line 2" descr="sci-ppt:o002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19050">
            <a:solidFill>
              <a:srgbClr val="B4C7D2"/>
            </a:solidFill>
          </a:ln>
          <a:effectLst/>
        </p:spPr>
      </p:cxnSp>
      <p:cxnSp>
        <p:nvCxnSpPr>
          <p:cNvPr id="5" name="A-E09 line 3" descr="sci-ppt:o003"/>
          <p:cNvCxnSpPr/>
          <p:nvPr/>
        </p:nvCxnSpPr>
        <p:spPr>
          <a:xfrm>
            <a:off x="9144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6" name="A-E09 line 4" descr="sci-ppt:o004"/>
          <p:cNvCxnSpPr/>
          <p:nvPr/>
        </p:nvCxnSpPr>
        <p:spPr>
          <a:xfrm>
            <a:off x="9144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7" name="A-E09 text 5" descr="sci-ppt:o005"/>
          <p:cNvSpPr txBox="1"/>
          <p:nvPr/>
        </p:nvSpPr>
        <p:spPr>
          <a:xfrm>
            <a:off x="4572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cxnSp>
        <p:nvCxnSpPr>
          <p:cNvPr id="8" name="A-E09 line 6" descr="sci-ppt:o006"/>
          <p:cNvCxnSpPr/>
          <p:nvPr/>
        </p:nvCxnSpPr>
        <p:spPr>
          <a:xfrm>
            <a:off x="22860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9" name="A-E09 line 7" descr="sci-ppt:o007"/>
          <p:cNvCxnSpPr/>
          <p:nvPr/>
        </p:nvCxnSpPr>
        <p:spPr>
          <a:xfrm>
            <a:off x="22860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0" name="A-E09 text 8" descr="sci-ppt:o008"/>
          <p:cNvSpPr txBox="1"/>
          <p:nvPr/>
        </p:nvSpPr>
        <p:spPr>
          <a:xfrm>
            <a:off x="18288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2</a:t>
            </a:r>
          </a:p>
        </p:txBody>
      </p:sp>
      <p:cxnSp>
        <p:nvCxnSpPr>
          <p:cNvPr id="11" name="A-E09 line 9" descr="sci-ppt:o009"/>
          <p:cNvCxnSpPr/>
          <p:nvPr/>
        </p:nvCxnSpPr>
        <p:spPr>
          <a:xfrm>
            <a:off x="36576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2" name="A-E09 line 10" descr="sci-ppt:o010"/>
          <p:cNvCxnSpPr/>
          <p:nvPr/>
        </p:nvCxnSpPr>
        <p:spPr>
          <a:xfrm>
            <a:off x="36576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3" name="A-E09 text 11" descr="sci-ppt:o011"/>
          <p:cNvSpPr txBox="1"/>
          <p:nvPr/>
        </p:nvSpPr>
        <p:spPr>
          <a:xfrm>
            <a:off x="32004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3</a:t>
            </a:r>
          </a:p>
        </p:txBody>
      </p:sp>
      <p:cxnSp>
        <p:nvCxnSpPr>
          <p:cNvPr id="14" name="A-E09 line 12" descr="sci-ppt:o012"/>
          <p:cNvCxnSpPr/>
          <p:nvPr/>
        </p:nvCxnSpPr>
        <p:spPr>
          <a:xfrm>
            <a:off x="50292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5" name="A-E09 line 13" descr="sci-ppt:o013"/>
          <p:cNvCxnSpPr/>
          <p:nvPr/>
        </p:nvCxnSpPr>
        <p:spPr>
          <a:xfrm>
            <a:off x="50292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6" name="A-E09 text 14" descr="sci-ppt:o014"/>
          <p:cNvSpPr txBox="1"/>
          <p:nvPr/>
        </p:nvSpPr>
        <p:spPr>
          <a:xfrm>
            <a:off x="45720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4</a:t>
            </a:r>
          </a:p>
        </p:txBody>
      </p:sp>
      <p:cxnSp>
        <p:nvCxnSpPr>
          <p:cNvPr id="17" name="A-E09 line 15" descr="sci-ppt:o015"/>
          <p:cNvCxnSpPr/>
          <p:nvPr/>
        </p:nvCxnSpPr>
        <p:spPr>
          <a:xfrm>
            <a:off x="6400800" y="5029200"/>
            <a:ext cx="0" cy="64008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18" name="A-E09 line 16" descr="sci-ppt:o016"/>
          <p:cNvCxnSpPr/>
          <p:nvPr/>
        </p:nvCxnSpPr>
        <p:spPr>
          <a:xfrm>
            <a:off x="6400800" y="1371600"/>
            <a:ext cx="0" cy="365760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19" name="A-E09 text 17" descr="sci-ppt:o017"/>
          <p:cNvSpPr txBox="1"/>
          <p:nvPr/>
        </p:nvSpPr>
        <p:spPr>
          <a:xfrm>
            <a:off x="5943600" y="5111496"/>
            <a:ext cx="91440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5</a:t>
            </a:r>
          </a:p>
        </p:txBody>
      </p:sp>
      <p:cxnSp>
        <p:nvCxnSpPr>
          <p:cNvPr id="20" name="A-E09 line 18" descr="sci-ppt:o018"/>
          <p:cNvCxnSpPr/>
          <p:nvPr/>
        </p:nvCxnSpPr>
        <p:spPr>
          <a:xfrm>
            <a:off x="850392" y="481404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1" name="A-E09 line 19" descr="sci-ppt:o019"/>
          <p:cNvCxnSpPr/>
          <p:nvPr/>
        </p:nvCxnSpPr>
        <p:spPr>
          <a:xfrm>
            <a:off x="914400" y="4814047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2" name="A-E09 text 20" descr="sci-ppt:o020"/>
          <p:cNvSpPr txBox="1"/>
          <p:nvPr/>
        </p:nvSpPr>
        <p:spPr>
          <a:xfrm>
            <a:off x="45720" y="473175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-2</a:t>
            </a:r>
          </a:p>
        </p:txBody>
      </p:sp>
      <p:cxnSp>
        <p:nvCxnSpPr>
          <p:cNvPr id="23" name="A-E09 line 21" descr="sci-ppt:o021"/>
          <p:cNvCxnSpPr/>
          <p:nvPr/>
        </p:nvCxnSpPr>
        <p:spPr>
          <a:xfrm>
            <a:off x="850392" y="373828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4" name="A-E09 line 22" descr="sci-ppt:o022"/>
          <p:cNvCxnSpPr/>
          <p:nvPr/>
        </p:nvCxnSpPr>
        <p:spPr>
          <a:xfrm>
            <a:off x="914400" y="3738282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5" name="A-E09 text 23" descr="sci-ppt:o023"/>
          <p:cNvSpPr txBox="1"/>
          <p:nvPr/>
        </p:nvSpPr>
        <p:spPr>
          <a:xfrm>
            <a:off x="45720" y="365598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-1</a:t>
            </a:r>
          </a:p>
        </p:txBody>
      </p:sp>
      <p:cxnSp>
        <p:nvCxnSpPr>
          <p:cNvPr id="26" name="A-E09 line 24" descr="sci-ppt:o024"/>
          <p:cNvCxnSpPr/>
          <p:nvPr/>
        </p:nvCxnSpPr>
        <p:spPr>
          <a:xfrm>
            <a:off x="850392" y="2662517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27" name="A-E09 line 25" descr="sci-ppt:o025"/>
          <p:cNvCxnSpPr/>
          <p:nvPr/>
        </p:nvCxnSpPr>
        <p:spPr>
          <a:xfrm>
            <a:off x="914400" y="2662517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28" name="A-E09 text 26" descr="sci-ppt:o026"/>
          <p:cNvSpPr txBox="1"/>
          <p:nvPr/>
        </p:nvSpPr>
        <p:spPr>
          <a:xfrm>
            <a:off x="45720" y="2580221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0</a:t>
            </a:r>
          </a:p>
        </p:txBody>
      </p:sp>
      <p:cxnSp>
        <p:nvCxnSpPr>
          <p:cNvPr id="29" name="A-E09 line 27" descr="sci-ppt:o027"/>
          <p:cNvCxnSpPr/>
          <p:nvPr/>
        </p:nvCxnSpPr>
        <p:spPr>
          <a:xfrm>
            <a:off x="850392" y="1586752"/>
            <a:ext cx="64008" cy="0"/>
          </a:xfrm>
          <a:prstGeom prst="line">
            <a:avLst/>
          </a:prstGeom>
          <a:ln w="12700">
            <a:solidFill>
              <a:srgbClr val="B4C7D2"/>
            </a:solidFill>
          </a:ln>
          <a:effectLst/>
        </p:spPr>
      </p:cxnSp>
      <p:cxnSp>
        <p:nvCxnSpPr>
          <p:cNvPr id="30" name="A-E09 line 28" descr="sci-ppt:o028"/>
          <p:cNvCxnSpPr/>
          <p:nvPr/>
        </p:nvCxnSpPr>
        <p:spPr>
          <a:xfrm>
            <a:off x="914400" y="1586752"/>
            <a:ext cx="5486400" cy="0"/>
          </a:xfrm>
          <a:prstGeom prst="line">
            <a:avLst/>
          </a:prstGeom>
          <a:ln w="7620">
            <a:solidFill>
              <a:srgbClr val="2E4756"/>
            </a:solidFill>
          </a:ln>
          <a:effectLst/>
        </p:spPr>
      </p:cxnSp>
      <p:sp>
        <p:nvSpPr>
          <p:cNvPr id="31" name="A-E09 text 29" descr="sci-ppt:o029"/>
          <p:cNvSpPr txBox="1"/>
          <p:nvPr/>
        </p:nvSpPr>
        <p:spPr>
          <a:xfrm>
            <a:off x="45720" y="1504456"/>
            <a:ext cx="777240" cy="208407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 i="0">
                <a:solidFill>
                  <a:srgbClr val="B4C7D2"/>
                </a:solidFill>
                <a:latin typeface="Arial"/>
              </a:rPr>
              <a:t>1</a:t>
            </a:r>
          </a:p>
        </p:txBody>
      </p:sp>
      <p:sp>
        <p:nvSpPr>
          <p:cNvPr id="32" name="A-E09 text 30" descr="sci-ppt:o030"/>
          <p:cNvSpPr txBox="1"/>
          <p:nvPr/>
        </p:nvSpPr>
        <p:spPr>
          <a:xfrm>
            <a:off x="914400" y="5312664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r / R</a:t>
            </a:r>
          </a:p>
        </p:txBody>
      </p:sp>
      <p:sp>
        <p:nvSpPr>
          <p:cNvPr id="33" name="A-E09 text 31" descr="sci-ppt:o031"/>
          <p:cNvSpPr txBox="1"/>
          <p:nvPr/>
        </p:nvSpPr>
        <p:spPr>
          <a:xfrm>
            <a:off x="365760" y="1024128"/>
            <a:ext cx="54864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E7F0F3"/>
                </a:solidFill>
                <a:latin typeface="Arial"/>
              </a:rPr>
              <a:t>strain rate  (units Ṙ / R)</a:t>
            </a:r>
          </a:p>
        </p:txBody>
      </p:sp>
      <p:sp>
        <p:nvSpPr>
          <p:cNvPr id="34" name="A-E09 polygon 32" descr="sci-ppt:o032"/>
          <p:cNvSpPr/>
          <p:nvPr/>
        </p:nvSpPr>
        <p:spPr>
          <a:xfrm>
            <a:off x="914400" y="2679729"/>
            <a:ext cx="5486400" cy="2134318"/>
          </a:xfrm>
          <a:custGeom>
            <a:avLst/>
            <a:gdLst/>
            <a:ahLst/>
            <a:cxnLst/>
            <a:rect l="l" t="t" r="r" b="b"/>
            <a:pathLst>
              <a:path w="5486400" h="2134318">
                <a:moveTo>
                  <a:pt x="0" y="2134318"/>
                </a:moveTo>
                <a:lnTo>
                  <a:pt x="27569" y="2009623"/>
                </a:lnTo>
                <a:lnTo>
                  <a:pt x="55139" y="1894381"/>
                </a:lnTo>
                <a:lnTo>
                  <a:pt x="82709" y="1787713"/>
                </a:lnTo>
                <a:lnTo>
                  <a:pt x="110279" y="1688836"/>
                </a:lnTo>
                <a:lnTo>
                  <a:pt x="137849" y="1597051"/>
                </a:lnTo>
                <a:lnTo>
                  <a:pt x="165419" y="1511733"/>
                </a:lnTo>
                <a:lnTo>
                  <a:pt x="192988" y="1432324"/>
                </a:lnTo>
                <a:lnTo>
                  <a:pt x="220558" y="1358320"/>
                </a:lnTo>
                <a:lnTo>
                  <a:pt x="248128" y="1289269"/>
                </a:lnTo>
                <a:lnTo>
                  <a:pt x="275698" y="1224763"/>
                </a:lnTo>
                <a:lnTo>
                  <a:pt x="303268" y="1164435"/>
                </a:lnTo>
                <a:lnTo>
                  <a:pt x="330838" y="1107952"/>
                </a:lnTo>
                <a:lnTo>
                  <a:pt x="358408" y="1055012"/>
                </a:lnTo>
                <a:lnTo>
                  <a:pt x="385977" y="1005341"/>
                </a:lnTo>
                <a:lnTo>
                  <a:pt x="413547" y="958692"/>
                </a:lnTo>
                <a:lnTo>
                  <a:pt x="441117" y="914838"/>
                </a:lnTo>
                <a:lnTo>
                  <a:pt x="468687" y="873573"/>
                </a:lnTo>
                <a:lnTo>
                  <a:pt x="496257" y="834708"/>
                </a:lnTo>
                <a:lnTo>
                  <a:pt x="523827" y="798071"/>
                </a:lnTo>
                <a:lnTo>
                  <a:pt x="551396" y="763506"/>
                </a:lnTo>
                <a:lnTo>
                  <a:pt x="578966" y="730867"/>
                </a:lnTo>
                <a:lnTo>
                  <a:pt x="606536" y="700022"/>
                </a:lnTo>
                <a:lnTo>
                  <a:pt x="634106" y="670850"/>
                </a:lnTo>
                <a:lnTo>
                  <a:pt x="661676" y="643239"/>
                </a:lnTo>
                <a:lnTo>
                  <a:pt x="689246" y="617086"/>
                </a:lnTo>
                <a:lnTo>
                  <a:pt x="716816" y="592295"/>
                </a:lnTo>
                <a:lnTo>
                  <a:pt x="744385" y="568780"/>
                </a:lnTo>
                <a:lnTo>
                  <a:pt x="771955" y="546459"/>
                </a:lnTo>
                <a:lnTo>
                  <a:pt x="799525" y="525257"/>
                </a:lnTo>
                <a:lnTo>
                  <a:pt x="827095" y="505106"/>
                </a:lnTo>
                <a:lnTo>
                  <a:pt x="854665" y="485940"/>
                </a:lnTo>
                <a:lnTo>
                  <a:pt x="882235" y="467701"/>
                </a:lnTo>
                <a:lnTo>
                  <a:pt x="909805" y="450332"/>
                </a:lnTo>
                <a:lnTo>
                  <a:pt x="937374" y="433784"/>
                </a:lnTo>
                <a:lnTo>
                  <a:pt x="964944" y="418007"/>
                </a:lnTo>
                <a:lnTo>
                  <a:pt x="992514" y="402957"/>
                </a:lnTo>
                <a:lnTo>
                  <a:pt x="1020084" y="388594"/>
                </a:lnTo>
                <a:lnTo>
                  <a:pt x="1047654" y="374878"/>
                </a:lnTo>
                <a:lnTo>
                  <a:pt x="1075224" y="361773"/>
                </a:lnTo>
                <a:lnTo>
                  <a:pt x="1102793" y="349245"/>
                </a:lnTo>
                <a:lnTo>
                  <a:pt x="1130363" y="337264"/>
                </a:lnTo>
                <a:lnTo>
                  <a:pt x="1157933" y="325799"/>
                </a:lnTo>
                <a:lnTo>
                  <a:pt x="1185503" y="314824"/>
                </a:lnTo>
                <a:lnTo>
                  <a:pt x="1213073" y="304312"/>
                </a:lnTo>
                <a:lnTo>
                  <a:pt x="1240643" y="294239"/>
                </a:lnTo>
                <a:lnTo>
                  <a:pt x="1268213" y="284582"/>
                </a:lnTo>
                <a:lnTo>
                  <a:pt x="1295782" y="275320"/>
                </a:lnTo>
                <a:lnTo>
                  <a:pt x="1323352" y="266434"/>
                </a:lnTo>
                <a:lnTo>
                  <a:pt x="1350922" y="257904"/>
                </a:lnTo>
                <a:lnTo>
                  <a:pt x="1378492" y="249712"/>
                </a:lnTo>
                <a:lnTo>
                  <a:pt x="1406062" y="241843"/>
                </a:lnTo>
                <a:lnTo>
                  <a:pt x="1433632" y="234280"/>
                </a:lnTo>
                <a:lnTo>
                  <a:pt x="1461202" y="227008"/>
                </a:lnTo>
                <a:lnTo>
                  <a:pt x="1488771" y="220014"/>
                </a:lnTo>
                <a:lnTo>
                  <a:pt x="1516341" y="213285"/>
                </a:lnTo>
                <a:lnTo>
                  <a:pt x="1543911" y="206807"/>
                </a:lnTo>
                <a:lnTo>
                  <a:pt x="1571481" y="200571"/>
                </a:lnTo>
                <a:lnTo>
                  <a:pt x="1599051" y="194563"/>
                </a:lnTo>
                <a:lnTo>
                  <a:pt x="1626621" y="188775"/>
                </a:lnTo>
                <a:lnTo>
                  <a:pt x="1654190" y="183195"/>
                </a:lnTo>
                <a:lnTo>
                  <a:pt x="1681760" y="177815"/>
                </a:lnTo>
                <a:lnTo>
                  <a:pt x="1709330" y="172626"/>
                </a:lnTo>
                <a:lnTo>
                  <a:pt x="1736900" y="167620"/>
                </a:lnTo>
                <a:lnTo>
                  <a:pt x="1764470" y="162788"/>
                </a:lnTo>
                <a:lnTo>
                  <a:pt x="1792040" y="158123"/>
                </a:lnTo>
                <a:lnTo>
                  <a:pt x="1819610" y="153618"/>
                </a:lnTo>
                <a:lnTo>
                  <a:pt x="1847179" y="149266"/>
                </a:lnTo>
                <a:lnTo>
                  <a:pt x="1874749" y="145060"/>
                </a:lnTo>
                <a:lnTo>
                  <a:pt x="1902319" y="140995"/>
                </a:lnTo>
                <a:lnTo>
                  <a:pt x="1929889" y="137065"/>
                </a:lnTo>
                <a:lnTo>
                  <a:pt x="1957459" y="133263"/>
                </a:lnTo>
                <a:lnTo>
                  <a:pt x="1985029" y="129586"/>
                </a:lnTo>
                <a:lnTo>
                  <a:pt x="2012598" y="126027"/>
                </a:lnTo>
                <a:lnTo>
                  <a:pt x="2040168" y="122583"/>
                </a:lnTo>
                <a:lnTo>
                  <a:pt x="2067738" y="119248"/>
                </a:lnTo>
                <a:lnTo>
                  <a:pt x="2095308" y="116018"/>
                </a:lnTo>
                <a:lnTo>
                  <a:pt x="2122878" y="112890"/>
                </a:lnTo>
                <a:lnTo>
                  <a:pt x="2150448" y="109858"/>
                </a:lnTo>
                <a:lnTo>
                  <a:pt x="2178018" y="106920"/>
                </a:lnTo>
                <a:lnTo>
                  <a:pt x="2205587" y="104072"/>
                </a:lnTo>
                <a:lnTo>
                  <a:pt x="2233157" y="101311"/>
                </a:lnTo>
                <a:lnTo>
                  <a:pt x="2260727" y="98632"/>
                </a:lnTo>
                <a:lnTo>
                  <a:pt x="2288297" y="96034"/>
                </a:lnTo>
                <a:lnTo>
                  <a:pt x="2315867" y="93513"/>
                </a:lnTo>
                <a:lnTo>
                  <a:pt x="2343437" y="91066"/>
                </a:lnTo>
                <a:lnTo>
                  <a:pt x="2371007" y="88691"/>
                </a:lnTo>
                <a:lnTo>
                  <a:pt x="2398576" y="86385"/>
                </a:lnTo>
                <a:lnTo>
                  <a:pt x="2426146" y="84145"/>
                </a:lnTo>
                <a:lnTo>
                  <a:pt x="2453716" y="81969"/>
                </a:lnTo>
                <a:lnTo>
                  <a:pt x="2481286" y="79855"/>
                </a:lnTo>
                <a:lnTo>
                  <a:pt x="2508856" y="77801"/>
                </a:lnTo>
                <a:lnTo>
                  <a:pt x="2536426" y="75804"/>
                </a:lnTo>
                <a:lnTo>
                  <a:pt x="2563995" y="73863"/>
                </a:lnTo>
                <a:lnTo>
                  <a:pt x="2591565" y="71975"/>
                </a:lnTo>
                <a:lnTo>
                  <a:pt x="2619135" y="70140"/>
                </a:lnTo>
                <a:lnTo>
                  <a:pt x="2646705" y="68354"/>
                </a:lnTo>
                <a:lnTo>
                  <a:pt x="2674275" y="66617"/>
                </a:lnTo>
                <a:lnTo>
                  <a:pt x="2701845" y="64926"/>
                </a:lnTo>
                <a:lnTo>
                  <a:pt x="2729415" y="63281"/>
                </a:lnTo>
                <a:lnTo>
                  <a:pt x="2756984" y="61679"/>
                </a:lnTo>
                <a:lnTo>
                  <a:pt x="2784554" y="60119"/>
                </a:lnTo>
                <a:lnTo>
                  <a:pt x="2812124" y="58601"/>
                </a:lnTo>
                <a:lnTo>
                  <a:pt x="2839694" y="57121"/>
                </a:lnTo>
                <a:lnTo>
                  <a:pt x="2867264" y="55680"/>
                </a:lnTo>
                <a:lnTo>
                  <a:pt x="2894834" y="54276"/>
                </a:lnTo>
                <a:lnTo>
                  <a:pt x="2922404" y="52908"/>
                </a:lnTo>
                <a:lnTo>
                  <a:pt x="2949973" y="51575"/>
                </a:lnTo>
                <a:lnTo>
                  <a:pt x="2977543" y="50275"/>
                </a:lnTo>
                <a:lnTo>
                  <a:pt x="3005113" y="49008"/>
                </a:lnTo>
                <a:lnTo>
                  <a:pt x="3032683" y="47772"/>
                </a:lnTo>
                <a:lnTo>
                  <a:pt x="3060253" y="46567"/>
                </a:lnTo>
                <a:lnTo>
                  <a:pt x="3087823" y="45391"/>
                </a:lnTo>
                <a:lnTo>
                  <a:pt x="3115392" y="44244"/>
                </a:lnTo>
                <a:lnTo>
                  <a:pt x="3142962" y="43125"/>
                </a:lnTo>
                <a:lnTo>
                  <a:pt x="3170532" y="42033"/>
                </a:lnTo>
                <a:lnTo>
                  <a:pt x="3198102" y="40967"/>
                </a:lnTo>
                <a:lnTo>
                  <a:pt x="3225672" y="39927"/>
                </a:lnTo>
                <a:lnTo>
                  <a:pt x="3253242" y="38911"/>
                </a:lnTo>
                <a:lnTo>
                  <a:pt x="3280812" y="37919"/>
                </a:lnTo>
                <a:lnTo>
                  <a:pt x="3308381" y="36950"/>
                </a:lnTo>
                <a:lnTo>
                  <a:pt x="3335951" y="36004"/>
                </a:lnTo>
                <a:lnTo>
                  <a:pt x="3363521" y="35080"/>
                </a:lnTo>
                <a:lnTo>
                  <a:pt x="3391091" y="34177"/>
                </a:lnTo>
                <a:lnTo>
                  <a:pt x="3418661" y="33295"/>
                </a:lnTo>
                <a:lnTo>
                  <a:pt x="3446231" y="32433"/>
                </a:lnTo>
                <a:lnTo>
                  <a:pt x="3473801" y="31590"/>
                </a:lnTo>
                <a:lnTo>
                  <a:pt x="3501370" y="30767"/>
                </a:lnTo>
                <a:lnTo>
                  <a:pt x="3528940" y="29962"/>
                </a:lnTo>
                <a:lnTo>
                  <a:pt x="3556510" y="29174"/>
                </a:lnTo>
                <a:lnTo>
                  <a:pt x="3584080" y="28404"/>
                </a:lnTo>
                <a:lnTo>
                  <a:pt x="3611650" y="27651"/>
                </a:lnTo>
                <a:lnTo>
                  <a:pt x="3639220" y="26915"/>
                </a:lnTo>
                <a:lnTo>
                  <a:pt x="3666789" y="26195"/>
                </a:lnTo>
                <a:lnTo>
                  <a:pt x="3694359" y="25490"/>
                </a:lnTo>
                <a:lnTo>
                  <a:pt x="3721929" y="24800"/>
                </a:lnTo>
                <a:lnTo>
                  <a:pt x="3749499" y="24125"/>
                </a:lnTo>
                <a:lnTo>
                  <a:pt x="3777069" y="23465"/>
                </a:lnTo>
                <a:lnTo>
                  <a:pt x="3804639" y="22818"/>
                </a:lnTo>
                <a:lnTo>
                  <a:pt x="3832209" y="22185"/>
                </a:lnTo>
                <a:lnTo>
                  <a:pt x="3859778" y="21566"/>
                </a:lnTo>
                <a:lnTo>
                  <a:pt x="3887348" y="20959"/>
                </a:lnTo>
                <a:lnTo>
                  <a:pt x="3914918" y="20365"/>
                </a:lnTo>
                <a:lnTo>
                  <a:pt x="3942488" y="19783"/>
                </a:lnTo>
                <a:lnTo>
                  <a:pt x="3970058" y="19213"/>
                </a:lnTo>
                <a:lnTo>
                  <a:pt x="3997628" y="18655"/>
                </a:lnTo>
                <a:lnTo>
                  <a:pt x="4025197" y="18108"/>
                </a:lnTo>
                <a:lnTo>
                  <a:pt x="4052767" y="17572"/>
                </a:lnTo>
                <a:lnTo>
                  <a:pt x="4080337" y="17047"/>
                </a:lnTo>
                <a:lnTo>
                  <a:pt x="4107907" y="16533"/>
                </a:lnTo>
                <a:lnTo>
                  <a:pt x="4135477" y="16029"/>
                </a:lnTo>
                <a:lnTo>
                  <a:pt x="4163047" y="15534"/>
                </a:lnTo>
                <a:lnTo>
                  <a:pt x="4190617" y="15050"/>
                </a:lnTo>
                <a:lnTo>
                  <a:pt x="4218186" y="14575"/>
                </a:lnTo>
                <a:lnTo>
                  <a:pt x="4245756" y="14109"/>
                </a:lnTo>
                <a:lnTo>
                  <a:pt x="4273326" y="13652"/>
                </a:lnTo>
                <a:lnTo>
                  <a:pt x="4300896" y="13204"/>
                </a:lnTo>
                <a:lnTo>
                  <a:pt x="4328466" y="12765"/>
                </a:lnTo>
                <a:lnTo>
                  <a:pt x="4356036" y="12334"/>
                </a:lnTo>
                <a:lnTo>
                  <a:pt x="4383606" y="11912"/>
                </a:lnTo>
                <a:lnTo>
                  <a:pt x="4411175" y="11497"/>
                </a:lnTo>
                <a:lnTo>
                  <a:pt x="4438745" y="11091"/>
                </a:lnTo>
                <a:lnTo>
                  <a:pt x="4466315" y="10691"/>
                </a:lnTo>
                <a:lnTo>
                  <a:pt x="4493885" y="10300"/>
                </a:lnTo>
                <a:lnTo>
                  <a:pt x="4521455" y="9916"/>
                </a:lnTo>
                <a:lnTo>
                  <a:pt x="4549025" y="9538"/>
                </a:lnTo>
                <a:lnTo>
                  <a:pt x="4576594" y="9168"/>
                </a:lnTo>
                <a:lnTo>
                  <a:pt x="4604164" y="8805"/>
                </a:lnTo>
                <a:lnTo>
                  <a:pt x="4631734" y="8448"/>
                </a:lnTo>
                <a:lnTo>
                  <a:pt x="4659304" y="8098"/>
                </a:lnTo>
                <a:lnTo>
                  <a:pt x="4686874" y="7754"/>
                </a:lnTo>
                <a:lnTo>
                  <a:pt x="4714444" y="7416"/>
                </a:lnTo>
                <a:lnTo>
                  <a:pt x="4742014" y="7084"/>
                </a:lnTo>
                <a:lnTo>
                  <a:pt x="4769583" y="6758"/>
                </a:lnTo>
                <a:lnTo>
                  <a:pt x="4797153" y="6438"/>
                </a:lnTo>
                <a:lnTo>
                  <a:pt x="4824723" y="6124"/>
                </a:lnTo>
                <a:lnTo>
                  <a:pt x="4852293" y="5815"/>
                </a:lnTo>
                <a:lnTo>
                  <a:pt x="4879863" y="5512"/>
                </a:lnTo>
                <a:lnTo>
                  <a:pt x="4907433" y="5214"/>
                </a:lnTo>
                <a:lnTo>
                  <a:pt x="4935003" y="4921"/>
                </a:lnTo>
                <a:lnTo>
                  <a:pt x="4962572" y="4634"/>
                </a:lnTo>
                <a:lnTo>
                  <a:pt x="4990142" y="4351"/>
                </a:lnTo>
                <a:lnTo>
                  <a:pt x="5017712" y="4073"/>
                </a:lnTo>
                <a:lnTo>
                  <a:pt x="5045282" y="3800"/>
                </a:lnTo>
                <a:lnTo>
                  <a:pt x="5072852" y="3531"/>
                </a:lnTo>
                <a:lnTo>
                  <a:pt x="5100422" y="3267"/>
                </a:lnTo>
                <a:lnTo>
                  <a:pt x="5127991" y="3008"/>
                </a:lnTo>
                <a:lnTo>
                  <a:pt x="5155561" y="2753"/>
                </a:lnTo>
                <a:lnTo>
                  <a:pt x="5183131" y="2502"/>
                </a:lnTo>
                <a:lnTo>
                  <a:pt x="5210701" y="2255"/>
                </a:lnTo>
                <a:lnTo>
                  <a:pt x="5238271" y="2012"/>
                </a:lnTo>
                <a:lnTo>
                  <a:pt x="5265841" y="1774"/>
                </a:lnTo>
                <a:lnTo>
                  <a:pt x="5293411" y="1539"/>
                </a:lnTo>
                <a:lnTo>
                  <a:pt x="5320980" y="1308"/>
                </a:lnTo>
                <a:lnTo>
                  <a:pt x="5348550" y="1081"/>
                </a:lnTo>
                <a:lnTo>
                  <a:pt x="5376120" y="858"/>
                </a:lnTo>
                <a:lnTo>
                  <a:pt x="5403690" y="638"/>
                </a:lnTo>
                <a:lnTo>
                  <a:pt x="5431260" y="422"/>
                </a:lnTo>
                <a:lnTo>
                  <a:pt x="5458830" y="210"/>
                </a:lnTo>
                <a:lnTo>
                  <a:pt x="5486400" y="0"/>
                </a:lnTo>
              </a:path>
            </a:pathLst>
          </a:custGeom>
          <a:noFill/>
          <a:ln w="38100">
            <a:solidFill>
              <a:srgbClr val="F28BA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A-E09 polygon 33" descr="sci-ppt:o033"/>
          <p:cNvSpPr/>
          <p:nvPr/>
        </p:nvSpPr>
        <p:spPr>
          <a:xfrm>
            <a:off x="914400" y="1586752"/>
            <a:ext cx="5486400" cy="1067159"/>
          </a:xfrm>
          <a:custGeom>
            <a:avLst/>
            <a:gdLst/>
            <a:ahLst/>
            <a:cxnLst/>
            <a:rect l="l" t="t" r="r" b="b"/>
            <a:pathLst>
              <a:path w="5486400" h="1067159">
                <a:moveTo>
                  <a:pt x="0" y="0"/>
                </a:moveTo>
                <a:lnTo>
                  <a:pt x="27569" y="62348"/>
                </a:lnTo>
                <a:lnTo>
                  <a:pt x="55139" y="119969"/>
                </a:lnTo>
                <a:lnTo>
                  <a:pt x="82709" y="173303"/>
                </a:lnTo>
                <a:lnTo>
                  <a:pt x="110279" y="222741"/>
                </a:lnTo>
                <a:lnTo>
                  <a:pt x="137849" y="268634"/>
                </a:lnTo>
                <a:lnTo>
                  <a:pt x="165419" y="311293"/>
                </a:lnTo>
                <a:lnTo>
                  <a:pt x="192988" y="350997"/>
                </a:lnTo>
                <a:lnTo>
                  <a:pt x="220558" y="387999"/>
                </a:lnTo>
                <a:lnTo>
                  <a:pt x="248128" y="422525"/>
                </a:lnTo>
                <a:lnTo>
                  <a:pt x="275698" y="454778"/>
                </a:lnTo>
                <a:lnTo>
                  <a:pt x="303268" y="484942"/>
                </a:lnTo>
                <a:lnTo>
                  <a:pt x="330838" y="513183"/>
                </a:lnTo>
                <a:lnTo>
                  <a:pt x="358408" y="539653"/>
                </a:lnTo>
                <a:lnTo>
                  <a:pt x="385977" y="564488"/>
                </a:lnTo>
                <a:lnTo>
                  <a:pt x="413547" y="587813"/>
                </a:lnTo>
                <a:lnTo>
                  <a:pt x="441117" y="609740"/>
                </a:lnTo>
                <a:lnTo>
                  <a:pt x="468687" y="630373"/>
                </a:lnTo>
                <a:lnTo>
                  <a:pt x="496257" y="649805"/>
                </a:lnTo>
                <a:lnTo>
                  <a:pt x="523827" y="668124"/>
                </a:lnTo>
                <a:lnTo>
                  <a:pt x="551396" y="685406"/>
                </a:lnTo>
                <a:lnTo>
                  <a:pt x="578966" y="701726"/>
                </a:lnTo>
                <a:lnTo>
                  <a:pt x="606536" y="717148"/>
                </a:lnTo>
                <a:lnTo>
                  <a:pt x="634106" y="731734"/>
                </a:lnTo>
                <a:lnTo>
                  <a:pt x="661676" y="745540"/>
                </a:lnTo>
                <a:lnTo>
                  <a:pt x="689246" y="758616"/>
                </a:lnTo>
                <a:lnTo>
                  <a:pt x="716816" y="771012"/>
                </a:lnTo>
                <a:lnTo>
                  <a:pt x="744385" y="782769"/>
                </a:lnTo>
                <a:lnTo>
                  <a:pt x="771955" y="793930"/>
                </a:lnTo>
                <a:lnTo>
                  <a:pt x="799525" y="804531"/>
                </a:lnTo>
                <a:lnTo>
                  <a:pt x="827095" y="814606"/>
                </a:lnTo>
                <a:lnTo>
                  <a:pt x="854665" y="824189"/>
                </a:lnTo>
                <a:lnTo>
                  <a:pt x="882235" y="833309"/>
                </a:lnTo>
                <a:lnTo>
                  <a:pt x="909805" y="841993"/>
                </a:lnTo>
                <a:lnTo>
                  <a:pt x="937374" y="850267"/>
                </a:lnTo>
                <a:lnTo>
                  <a:pt x="964944" y="858156"/>
                </a:lnTo>
                <a:lnTo>
                  <a:pt x="992514" y="865681"/>
                </a:lnTo>
                <a:lnTo>
                  <a:pt x="1020084" y="872862"/>
                </a:lnTo>
                <a:lnTo>
                  <a:pt x="1047654" y="879720"/>
                </a:lnTo>
                <a:lnTo>
                  <a:pt x="1075224" y="886273"/>
                </a:lnTo>
                <a:lnTo>
                  <a:pt x="1102793" y="892537"/>
                </a:lnTo>
                <a:lnTo>
                  <a:pt x="1130363" y="898527"/>
                </a:lnTo>
                <a:lnTo>
                  <a:pt x="1157933" y="904260"/>
                </a:lnTo>
                <a:lnTo>
                  <a:pt x="1185503" y="909747"/>
                </a:lnTo>
                <a:lnTo>
                  <a:pt x="1213073" y="915003"/>
                </a:lnTo>
                <a:lnTo>
                  <a:pt x="1240643" y="920040"/>
                </a:lnTo>
                <a:lnTo>
                  <a:pt x="1268213" y="924868"/>
                </a:lnTo>
                <a:lnTo>
                  <a:pt x="1295782" y="929499"/>
                </a:lnTo>
                <a:lnTo>
                  <a:pt x="1323352" y="933942"/>
                </a:lnTo>
                <a:lnTo>
                  <a:pt x="1350922" y="938207"/>
                </a:lnTo>
                <a:lnTo>
                  <a:pt x="1378492" y="942303"/>
                </a:lnTo>
                <a:lnTo>
                  <a:pt x="1406062" y="946238"/>
                </a:lnTo>
                <a:lnTo>
                  <a:pt x="1433632" y="950019"/>
                </a:lnTo>
                <a:lnTo>
                  <a:pt x="1461202" y="953655"/>
                </a:lnTo>
                <a:lnTo>
                  <a:pt x="1488771" y="957152"/>
                </a:lnTo>
                <a:lnTo>
                  <a:pt x="1516341" y="960517"/>
                </a:lnTo>
                <a:lnTo>
                  <a:pt x="1543911" y="963756"/>
                </a:lnTo>
                <a:lnTo>
                  <a:pt x="1571481" y="966874"/>
                </a:lnTo>
                <a:lnTo>
                  <a:pt x="1599051" y="969878"/>
                </a:lnTo>
                <a:lnTo>
                  <a:pt x="1626621" y="972772"/>
                </a:lnTo>
                <a:lnTo>
                  <a:pt x="1654190" y="975562"/>
                </a:lnTo>
                <a:lnTo>
                  <a:pt x="1681760" y="978252"/>
                </a:lnTo>
                <a:lnTo>
                  <a:pt x="1709330" y="980846"/>
                </a:lnTo>
                <a:lnTo>
                  <a:pt x="1736900" y="983349"/>
                </a:lnTo>
                <a:lnTo>
                  <a:pt x="1764470" y="985765"/>
                </a:lnTo>
                <a:lnTo>
                  <a:pt x="1792040" y="988098"/>
                </a:lnTo>
                <a:lnTo>
                  <a:pt x="1819610" y="990350"/>
                </a:lnTo>
                <a:lnTo>
                  <a:pt x="1847179" y="992526"/>
                </a:lnTo>
                <a:lnTo>
                  <a:pt x="1874749" y="994629"/>
                </a:lnTo>
                <a:lnTo>
                  <a:pt x="1902319" y="996662"/>
                </a:lnTo>
                <a:lnTo>
                  <a:pt x="1929889" y="998627"/>
                </a:lnTo>
                <a:lnTo>
                  <a:pt x="1957459" y="1000528"/>
                </a:lnTo>
                <a:lnTo>
                  <a:pt x="1985029" y="1002366"/>
                </a:lnTo>
                <a:lnTo>
                  <a:pt x="2012598" y="1004146"/>
                </a:lnTo>
                <a:lnTo>
                  <a:pt x="2040168" y="1005868"/>
                </a:lnTo>
                <a:lnTo>
                  <a:pt x="2067738" y="1007535"/>
                </a:lnTo>
                <a:lnTo>
                  <a:pt x="2095308" y="1009150"/>
                </a:lnTo>
                <a:lnTo>
                  <a:pt x="2122878" y="1010714"/>
                </a:lnTo>
                <a:lnTo>
                  <a:pt x="2150448" y="1012230"/>
                </a:lnTo>
                <a:lnTo>
                  <a:pt x="2178018" y="1013699"/>
                </a:lnTo>
                <a:lnTo>
                  <a:pt x="2205587" y="1015123"/>
                </a:lnTo>
                <a:lnTo>
                  <a:pt x="2233157" y="1016504"/>
                </a:lnTo>
                <a:lnTo>
                  <a:pt x="2260727" y="1017843"/>
                </a:lnTo>
                <a:lnTo>
                  <a:pt x="2288297" y="1019142"/>
                </a:lnTo>
                <a:lnTo>
                  <a:pt x="2315867" y="1020403"/>
                </a:lnTo>
                <a:lnTo>
                  <a:pt x="2343437" y="1021626"/>
                </a:lnTo>
                <a:lnTo>
                  <a:pt x="2371007" y="1022814"/>
                </a:lnTo>
                <a:lnTo>
                  <a:pt x="2398576" y="1023967"/>
                </a:lnTo>
                <a:lnTo>
                  <a:pt x="2426146" y="1025087"/>
                </a:lnTo>
                <a:lnTo>
                  <a:pt x="2453716" y="1026175"/>
                </a:lnTo>
                <a:lnTo>
                  <a:pt x="2481286" y="1027232"/>
                </a:lnTo>
                <a:lnTo>
                  <a:pt x="2508856" y="1028259"/>
                </a:lnTo>
                <a:lnTo>
                  <a:pt x="2536426" y="1029257"/>
                </a:lnTo>
                <a:lnTo>
                  <a:pt x="2563995" y="1030228"/>
                </a:lnTo>
                <a:lnTo>
                  <a:pt x="2591565" y="1031172"/>
                </a:lnTo>
                <a:lnTo>
                  <a:pt x="2619135" y="1032089"/>
                </a:lnTo>
                <a:lnTo>
                  <a:pt x="2646705" y="1032982"/>
                </a:lnTo>
                <a:lnTo>
                  <a:pt x="2674275" y="1033851"/>
                </a:lnTo>
                <a:lnTo>
                  <a:pt x="2701845" y="1034696"/>
                </a:lnTo>
                <a:lnTo>
                  <a:pt x="2729415" y="1035519"/>
                </a:lnTo>
                <a:lnTo>
                  <a:pt x="2756984" y="1036320"/>
                </a:lnTo>
                <a:lnTo>
                  <a:pt x="2784554" y="1037100"/>
                </a:lnTo>
                <a:lnTo>
                  <a:pt x="2812124" y="1037859"/>
                </a:lnTo>
                <a:lnTo>
                  <a:pt x="2839694" y="1038599"/>
                </a:lnTo>
                <a:lnTo>
                  <a:pt x="2867264" y="1039319"/>
                </a:lnTo>
                <a:lnTo>
                  <a:pt x="2894834" y="1040021"/>
                </a:lnTo>
                <a:lnTo>
                  <a:pt x="2922404" y="1040705"/>
                </a:lnTo>
                <a:lnTo>
                  <a:pt x="2949973" y="1041372"/>
                </a:lnTo>
                <a:lnTo>
                  <a:pt x="2977543" y="1042022"/>
                </a:lnTo>
                <a:lnTo>
                  <a:pt x="3005113" y="1042655"/>
                </a:lnTo>
                <a:lnTo>
                  <a:pt x="3032683" y="1043273"/>
                </a:lnTo>
                <a:lnTo>
                  <a:pt x="3060253" y="1043876"/>
                </a:lnTo>
                <a:lnTo>
                  <a:pt x="3087823" y="1044464"/>
                </a:lnTo>
                <a:lnTo>
                  <a:pt x="3115392" y="1045037"/>
                </a:lnTo>
                <a:lnTo>
                  <a:pt x="3142962" y="1045597"/>
                </a:lnTo>
                <a:lnTo>
                  <a:pt x="3170532" y="1046143"/>
                </a:lnTo>
                <a:lnTo>
                  <a:pt x="3198102" y="1046676"/>
                </a:lnTo>
                <a:lnTo>
                  <a:pt x="3225672" y="1047196"/>
                </a:lnTo>
                <a:lnTo>
                  <a:pt x="3253242" y="1047704"/>
                </a:lnTo>
                <a:lnTo>
                  <a:pt x="3280812" y="1048200"/>
                </a:lnTo>
                <a:lnTo>
                  <a:pt x="3308381" y="1048684"/>
                </a:lnTo>
                <a:lnTo>
                  <a:pt x="3335951" y="1049157"/>
                </a:lnTo>
                <a:lnTo>
                  <a:pt x="3363521" y="1049619"/>
                </a:lnTo>
                <a:lnTo>
                  <a:pt x="3391091" y="1050071"/>
                </a:lnTo>
                <a:lnTo>
                  <a:pt x="3418661" y="1050512"/>
                </a:lnTo>
                <a:lnTo>
                  <a:pt x="3446231" y="1050943"/>
                </a:lnTo>
                <a:lnTo>
                  <a:pt x="3473801" y="1051364"/>
                </a:lnTo>
                <a:lnTo>
                  <a:pt x="3501370" y="1051776"/>
                </a:lnTo>
                <a:lnTo>
                  <a:pt x="3528940" y="1052178"/>
                </a:lnTo>
                <a:lnTo>
                  <a:pt x="3556510" y="1052572"/>
                </a:lnTo>
                <a:lnTo>
                  <a:pt x="3584080" y="1052957"/>
                </a:lnTo>
                <a:lnTo>
                  <a:pt x="3611650" y="1053333"/>
                </a:lnTo>
                <a:lnTo>
                  <a:pt x="3639220" y="1053702"/>
                </a:lnTo>
                <a:lnTo>
                  <a:pt x="3666789" y="1054062"/>
                </a:lnTo>
                <a:lnTo>
                  <a:pt x="3694359" y="1054414"/>
                </a:lnTo>
                <a:lnTo>
                  <a:pt x="3721929" y="1054759"/>
                </a:lnTo>
                <a:lnTo>
                  <a:pt x="3749499" y="1055097"/>
                </a:lnTo>
                <a:lnTo>
                  <a:pt x="3777069" y="1055427"/>
                </a:lnTo>
                <a:lnTo>
                  <a:pt x="3804639" y="1055750"/>
                </a:lnTo>
                <a:lnTo>
                  <a:pt x="3832209" y="1056067"/>
                </a:lnTo>
                <a:lnTo>
                  <a:pt x="3859778" y="1056376"/>
                </a:lnTo>
                <a:lnTo>
                  <a:pt x="3887348" y="1056680"/>
                </a:lnTo>
                <a:lnTo>
                  <a:pt x="3914918" y="1056977"/>
                </a:lnTo>
                <a:lnTo>
                  <a:pt x="3942488" y="1057268"/>
                </a:lnTo>
                <a:lnTo>
                  <a:pt x="3970058" y="1057553"/>
                </a:lnTo>
                <a:lnTo>
                  <a:pt x="3997628" y="1057832"/>
                </a:lnTo>
                <a:lnTo>
                  <a:pt x="4025197" y="1058105"/>
                </a:lnTo>
                <a:lnTo>
                  <a:pt x="4052767" y="1058373"/>
                </a:lnTo>
                <a:lnTo>
                  <a:pt x="4080337" y="1058636"/>
                </a:lnTo>
                <a:lnTo>
                  <a:pt x="4107907" y="1058893"/>
                </a:lnTo>
                <a:lnTo>
                  <a:pt x="4135477" y="1059145"/>
                </a:lnTo>
                <a:lnTo>
                  <a:pt x="4163047" y="1059392"/>
                </a:lnTo>
                <a:lnTo>
                  <a:pt x="4190617" y="1059634"/>
                </a:lnTo>
                <a:lnTo>
                  <a:pt x="4218186" y="1059872"/>
                </a:lnTo>
                <a:lnTo>
                  <a:pt x="4245756" y="1060105"/>
                </a:lnTo>
                <a:lnTo>
                  <a:pt x="4273326" y="1060333"/>
                </a:lnTo>
                <a:lnTo>
                  <a:pt x="4300896" y="1060557"/>
                </a:lnTo>
                <a:lnTo>
                  <a:pt x="4328466" y="1060777"/>
                </a:lnTo>
                <a:lnTo>
                  <a:pt x="4356036" y="1060992"/>
                </a:lnTo>
                <a:lnTo>
                  <a:pt x="4383606" y="1061203"/>
                </a:lnTo>
                <a:lnTo>
                  <a:pt x="4411175" y="1061411"/>
                </a:lnTo>
                <a:lnTo>
                  <a:pt x="4438745" y="1061614"/>
                </a:lnTo>
                <a:lnTo>
                  <a:pt x="4466315" y="1061813"/>
                </a:lnTo>
                <a:lnTo>
                  <a:pt x="4493885" y="1062009"/>
                </a:lnTo>
                <a:lnTo>
                  <a:pt x="4521455" y="1062201"/>
                </a:lnTo>
                <a:lnTo>
                  <a:pt x="4549025" y="1062390"/>
                </a:lnTo>
                <a:lnTo>
                  <a:pt x="4576594" y="1062575"/>
                </a:lnTo>
                <a:lnTo>
                  <a:pt x="4604164" y="1062757"/>
                </a:lnTo>
                <a:lnTo>
                  <a:pt x="4631734" y="1062935"/>
                </a:lnTo>
                <a:lnTo>
                  <a:pt x="4659304" y="1063110"/>
                </a:lnTo>
                <a:lnTo>
                  <a:pt x="4686874" y="1063282"/>
                </a:lnTo>
                <a:lnTo>
                  <a:pt x="4714444" y="1063451"/>
                </a:lnTo>
                <a:lnTo>
                  <a:pt x="4742014" y="1063617"/>
                </a:lnTo>
                <a:lnTo>
                  <a:pt x="4769583" y="1063780"/>
                </a:lnTo>
                <a:lnTo>
                  <a:pt x="4797153" y="1063940"/>
                </a:lnTo>
                <a:lnTo>
                  <a:pt x="4824723" y="1064097"/>
                </a:lnTo>
                <a:lnTo>
                  <a:pt x="4852293" y="1064251"/>
                </a:lnTo>
                <a:lnTo>
                  <a:pt x="4879863" y="1064403"/>
                </a:lnTo>
                <a:lnTo>
                  <a:pt x="4907433" y="1064552"/>
                </a:lnTo>
                <a:lnTo>
                  <a:pt x="4935003" y="1064699"/>
                </a:lnTo>
                <a:lnTo>
                  <a:pt x="4962572" y="1064842"/>
                </a:lnTo>
                <a:lnTo>
                  <a:pt x="4990142" y="1064984"/>
                </a:lnTo>
                <a:lnTo>
                  <a:pt x="5017712" y="1065123"/>
                </a:lnTo>
                <a:lnTo>
                  <a:pt x="5045282" y="1065259"/>
                </a:lnTo>
                <a:lnTo>
                  <a:pt x="5072852" y="1065394"/>
                </a:lnTo>
                <a:lnTo>
                  <a:pt x="5100422" y="1065526"/>
                </a:lnTo>
                <a:lnTo>
                  <a:pt x="5127991" y="1065655"/>
                </a:lnTo>
                <a:lnTo>
                  <a:pt x="5155561" y="1065783"/>
                </a:lnTo>
                <a:lnTo>
                  <a:pt x="5183131" y="1065908"/>
                </a:lnTo>
                <a:lnTo>
                  <a:pt x="5210701" y="1066032"/>
                </a:lnTo>
                <a:lnTo>
                  <a:pt x="5238271" y="1066153"/>
                </a:lnTo>
                <a:lnTo>
                  <a:pt x="5265841" y="1066272"/>
                </a:lnTo>
                <a:lnTo>
                  <a:pt x="5293411" y="1066390"/>
                </a:lnTo>
                <a:lnTo>
                  <a:pt x="5320980" y="1066505"/>
                </a:lnTo>
                <a:lnTo>
                  <a:pt x="5348550" y="1066618"/>
                </a:lnTo>
                <a:lnTo>
                  <a:pt x="5376120" y="1066730"/>
                </a:lnTo>
                <a:lnTo>
                  <a:pt x="5403690" y="1066840"/>
                </a:lnTo>
                <a:lnTo>
                  <a:pt x="5431260" y="1066948"/>
                </a:lnTo>
                <a:lnTo>
                  <a:pt x="5458830" y="1067054"/>
                </a:lnTo>
                <a:lnTo>
                  <a:pt x="5486400" y="1067159"/>
                </a:lnTo>
              </a:path>
            </a:pathLst>
          </a:custGeom>
          <a:noFill/>
          <a:ln w="3810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A-E09 text 34" descr="sci-ppt:o034"/>
          <p:cNvSpPr txBox="1"/>
          <p:nvPr/>
        </p:nvSpPr>
        <p:spPr>
          <a:xfrm>
            <a:off x="2221991" y="4329952"/>
            <a:ext cx="274320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28BA0"/>
                </a:solidFill>
                <a:latin typeface="Arial"/>
              </a:rPr>
              <a:t>Dᵣᵣ = −2R²Ṙ/r³  (radial)</a:t>
            </a:r>
          </a:p>
        </p:txBody>
      </p:sp>
      <p:sp>
        <p:nvSpPr>
          <p:cNvPr id="37" name="A-E09 text 35" descr="sci-ppt:o035"/>
          <p:cNvSpPr txBox="1"/>
          <p:nvPr/>
        </p:nvSpPr>
        <p:spPr>
          <a:xfrm>
            <a:off x="2359152" y="2070847"/>
            <a:ext cx="3291840" cy="22390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8EDBD4"/>
                </a:solidFill>
                <a:latin typeface="Arial"/>
              </a:rPr>
              <a:t>D_θθ = Dᵩᵩ = R²Ṙ/r³  (tangential)</a:t>
            </a:r>
          </a:p>
        </p:txBody>
      </p:sp>
      <p:cxnSp>
        <p:nvCxnSpPr>
          <p:cNvPr id="38" name="A-E09 line 36" descr="sci-ppt:o036"/>
          <p:cNvCxnSpPr/>
          <p:nvPr/>
        </p:nvCxnSpPr>
        <p:spPr>
          <a:xfrm>
            <a:off x="914400" y="2662517"/>
            <a:ext cx="5486400" cy="0"/>
          </a:xfrm>
          <a:prstGeom prst="line">
            <a:avLst/>
          </a:prstGeom>
          <a:ln w="15240">
            <a:solidFill>
              <a:srgbClr val="2E4756"/>
            </a:solidFill>
          </a:ln>
          <a:effectLst/>
        </p:spPr>
      </p:cxnSp>
      <p:sp>
        <p:nvSpPr>
          <p:cNvPr id="39" name="A-E09 round_rect 37" descr="sci-ppt:o037"/>
          <p:cNvSpPr/>
          <p:nvPr/>
        </p:nvSpPr>
        <p:spPr>
          <a:xfrm>
            <a:off x="6583680" y="1371600"/>
            <a:ext cx="5257800" cy="3657600"/>
          </a:xfrm>
          <a:prstGeom prst="roundRect">
            <a:avLst/>
          </a:prstGeom>
          <a:solidFill>
            <a:srgbClr val="213E4B"/>
          </a:solidFill>
          <a:ln w="20320">
            <a:solidFill>
              <a:srgbClr val="8EDBD4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A-E09 text 38" descr="sci-ppt:o038"/>
          <p:cNvSpPr txBox="1"/>
          <p:nvPr/>
        </p:nvSpPr>
        <p:spPr>
          <a:xfrm>
            <a:off x="6693408" y="1426464"/>
            <a:ext cx="5038344" cy="254889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 i="0">
                <a:solidFill>
                  <a:srgbClr val="8EDBD4"/>
                </a:solidFill>
                <a:latin typeface="Arial"/>
              </a:rPr>
              <a:t>Kelvin–Voigt closure</a:t>
            </a:r>
          </a:p>
        </p:txBody>
      </p:sp>
      <p:sp>
        <p:nvSpPr>
          <p:cNvPr id="41" name="A-E09 text 39" descr="sci-ppt:o039"/>
          <p:cNvSpPr txBox="1"/>
          <p:nvPr/>
        </p:nvSpPr>
        <p:spPr>
          <a:xfrm>
            <a:off x="6720840" y="1828800"/>
            <a:ext cx="5029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E7F0F3"/>
                </a:solidFill>
                <a:latin typeface="Arial"/>
              </a:rPr>
              <a:t>T = T^e + 2η_g D,   uᵣ = R²Ṙ / r²</a:t>
            </a:r>
          </a:p>
        </p:txBody>
      </p:sp>
      <p:sp>
        <p:nvSpPr>
          <p:cNvPr id="42" name="A-E09 text 40" descr="sci-ppt:o040"/>
          <p:cNvSpPr txBox="1"/>
          <p:nvPr/>
        </p:nvSpPr>
        <p:spPr>
          <a:xfrm>
            <a:off x="6720840" y="2377440"/>
            <a:ext cx="5029200" cy="231648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2B880"/>
                </a:solidFill>
                <a:latin typeface="Arial"/>
              </a:rPr>
              <a:t>trace D = −2 + 1 + 1 = 0  (incompressible)</a:t>
            </a:r>
          </a:p>
        </p:txBody>
      </p:sp>
      <p:sp>
        <p:nvSpPr>
          <p:cNvPr id="43" name="A-E09 text 41" descr="sci-ppt:o041"/>
          <p:cNvSpPr txBox="1"/>
          <p:nvPr/>
        </p:nvSpPr>
        <p:spPr>
          <a:xfrm>
            <a:off x="6720840" y="2926080"/>
            <a:ext cx="50292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 i="0">
                <a:solidFill>
                  <a:srgbClr val="F2B880"/>
                </a:solidFill>
                <a:latin typeface="Arial"/>
              </a:rPr>
              <a:t>T_θθ − Tᵣᵣ = (elastic) + 6η_g R²Ṙ / r³</a:t>
            </a:r>
          </a:p>
        </p:txBody>
      </p:sp>
      <p:sp>
        <p:nvSpPr>
          <p:cNvPr id="44" name="A-E09 text 42" descr="sci-ppt:o042"/>
          <p:cNvSpPr txBox="1"/>
          <p:nvPr/>
        </p:nvSpPr>
        <p:spPr>
          <a:xfrm>
            <a:off x="6720840" y="3566160"/>
            <a:ext cx="5029200" cy="417576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viscous term follows the strain rate of the medium, not</a:t>
            </a:r>
          </a:p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4C7D2"/>
                </a:solidFill>
                <a:latin typeface="Arial"/>
              </a:rPr>
              <a:t>the mass of the bubble.</a:t>
            </a:r>
          </a:p>
        </p:txBody>
      </p:sp>
      <p:sp>
        <p:nvSpPr>
          <p:cNvPr id="45" name="A-E09 text 43" descr="sci-ppt:o043"/>
          <p:cNvSpPr txBox="1"/>
          <p:nvPr/>
        </p:nvSpPr>
        <p:spPr>
          <a:xfrm>
            <a:off x="914400" y="5733288"/>
            <a:ext cx="10972800" cy="239395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 i="0">
                <a:solidFill>
                  <a:srgbClr val="E7F0F3"/>
                </a:solidFill>
                <a:latin typeface="Arial"/>
              </a:rPr>
              <a:t>Radial strain rate is −2 and tangential +1 in units of Ṙ R²/r³: incompressibility forces the 2 : 1 split.</a:t>
            </a:r>
          </a:p>
        </p:txBody>
      </p:sp>
      <p:sp>
        <p:nvSpPr>
          <p:cNvPr id="46" name="A-E09 text 44" descr="sci-ppt:o044"/>
          <p:cNvSpPr txBox="1"/>
          <p:nvPr/>
        </p:nvSpPr>
        <p:spPr>
          <a:xfrm>
            <a:off x="320040" y="6510528"/>
            <a:ext cx="11521440" cy="200660"/>
          </a:xfrm>
          <a:prstGeom prst="rect">
            <a:avLst/>
          </a:prstGeom>
          <a:noFill/>
          <a:effectLst/>
        </p:spPr>
        <p:txBody>
          <a:bodyPr wrap="non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4C7D2"/>
                </a:solidFill>
                <a:latin typeface="Arial"/>
              </a:rPr>
              <a:t>Radial kinematics and viscous stress difference of Eq. A-E09.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