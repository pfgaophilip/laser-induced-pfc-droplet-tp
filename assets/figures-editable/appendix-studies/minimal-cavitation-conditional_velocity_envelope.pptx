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21191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5211911"/>
          </a:xfrm>
          <a:custGeom>
            <a:avLst/>
            <a:gdLst/>
            <a:ahLst/>
            <a:cxnLst/>
            <a:rect l="l" t="t" r="r" b="b"/>
            <a:pathLst>
              <a:path w="12191695" h="5211911">
                <a:moveTo>
                  <a:pt x="0" y="5211911"/>
                </a:moveTo>
                <a:lnTo>
                  <a:pt x="12191695" y="5211911"/>
                </a:lnTo>
                <a:lnTo>
                  <a:pt x="12191695" y="0"/>
                </a:lnTo>
                <a:lnTo>
                  <a:pt x="0" y="0"/>
                </a:lnTo>
                <a:lnTo>
                  <a:pt x="0" y="52119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931796" y="412075"/>
            <a:ext cx="5057709" cy="4094508"/>
          </a:xfrm>
          <a:custGeom>
            <a:avLst/>
            <a:gdLst/>
            <a:ahLst/>
            <a:cxnLst/>
            <a:rect l="l" t="t" r="r" b="b"/>
            <a:pathLst>
              <a:path w="5057709" h="4094508">
                <a:moveTo>
                  <a:pt x="0" y="4094508"/>
                </a:moveTo>
                <a:lnTo>
                  <a:pt x="5057709" y="4094508"/>
                </a:lnTo>
                <a:lnTo>
                  <a:pt x="5057709" y="0"/>
                </a:lnTo>
                <a:lnTo>
                  <a:pt x="0" y="0"/>
                </a:lnTo>
                <a:lnTo>
                  <a:pt x="0" y="40945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1672571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1672571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6" name="text 5: 1" descr="sci-ppt:obj-0005"/>
          <p:cNvSpPr txBox="1"/>
          <p:nvPr/>
        </p:nvSpPr>
        <p:spPr>
          <a:xfrm>
            <a:off x="1586402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7" name="line 6: plot geometry" descr="sci-ppt:obj-0006"/>
          <p:cNvCxnSpPr/>
          <p:nvPr/>
        </p:nvCxnSpPr>
        <p:spPr>
          <a:xfrm flipV="1">
            <a:off x="2694331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" name="line 7: plot geometry" descr="sci-ppt:obj-0007"/>
          <p:cNvCxnSpPr/>
          <p:nvPr/>
        </p:nvCxnSpPr>
        <p:spPr>
          <a:xfrm>
            <a:off x="2694331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9" name="text 8: 2" descr="sci-ppt:obj-0008"/>
          <p:cNvSpPr txBox="1"/>
          <p:nvPr/>
        </p:nvSpPr>
        <p:spPr>
          <a:xfrm>
            <a:off x="2608161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0" name="line 9: plot geometry" descr="sci-ppt:obj-0009"/>
          <p:cNvCxnSpPr/>
          <p:nvPr/>
        </p:nvCxnSpPr>
        <p:spPr>
          <a:xfrm flipV="1">
            <a:off x="3716090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1" name="line 10: plot geometry" descr="sci-ppt:obj-0010"/>
          <p:cNvCxnSpPr/>
          <p:nvPr/>
        </p:nvCxnSpPr>
        <p:spPr>
          <a:xfrm>
            <a:off x="3716090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2" name="text 11: 3" descr="sci-ppt:obj-0011"/>
          <p:cNvSpPr txBox="1"/>
          <p:nvPr/>
        </p:nvSpPr>
        <p:spPr>
          <a:xfrm>
            <a:off x="3629921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13" name="line 12: plot geometry" descr="sci-ppt:obj-0012"/>
          <p:cNvCxnSpPr/>
          <p:nvPr/>
        </p:nvCxnSpPr>
        <p:spPr>
          <a:xfrm flipV="1">
            <a:off x="4737850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4" name="line 13: plot geometry" descr="sci-ppt:obj-0013"/>
          <p:cNvCxnSpPr/>
          <p:nvPr/>
        </p:nvCxnSpPr>
        <p:spPr>
          <a:xfrm>
            <a:off x="4737850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5" name="text 14: 4" descr="sci-ppt:obj-0014"/>
          <p:cNvSpPr txBox="1"/>
          <p:nvPr/>
        </p:nvSpPr>
        <p:spPr>
          <a:xfrm>
            <a:off x="4651680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16" name="line 15: plot geometry" descr="sci-ppt:obj-0015"/>
          <p:cNvCxnSpPr/>
          <p:nvPr/>
        </p:nvCxnSpPr>
        <p:spPr>
          <a:xfrm flipV="1">
            <a:off x="5759609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7" name="line 16: plot geometry" descr="sci-ppt:obj-0016"/>
          <p:cNvCxnSpPr/>
          <p:nvPr/>
        </p:nvCxnSpPr>
        <p:spPr>
          <a:xfrm>
            <a:off x="5759609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8" name="text 17: 5" descr="sci-ppt:obj-0017"/>
          <p:cNvSpPr txBox="1"/>
          <p:nvPr/>
        </p:nvSpPr>
        <p:spPr>
          <a:xfrm>
            <a:off x="5673440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9" name="text 18: Available post-activation work (nJ)" descr="sci-ppt:obj-0018"/>
          <p:cNvSpPr txBox="1"/>
          <p:nvPr/>
        </p:nvSpPr>
        <p:spPr>
          <a:xfrm>
            <a:off x="1856231" y="4844440"/>
            <a:ext cx="3885904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Available post-activation work (nJ)</a:t>
            </a:r>
          </a:p>
        </p:txBody>
      </p:sp>
      <p:cxnSp>
        <p:nvCxnSpPr>
          <p:cNvPr id="20" name="line 19: plot geometry" descr="sci-ppt:obj-0019"/>
          <p:cNvCxnSpPr/>
          <p:nvPr/>
        </p:nvCxnSpPr>
        <p:spPr>
          <a:xfrm>
            <a:off x="931796" y="4485338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1" name="line 20: plot geometry" descr="sci-ppt:obj-0020"/>
          <p:cNvCxnSpPr/>
          <p:nvPr/>
        </p:nvCxnSpPr>
        <p:spPr>
          <a:xfrm flipH="1">
            <a:off x="867173" y="4485338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22" name="text 21: 5.0" descr="sci-ppt:obj-0021"/>
          <p:cNvSpPr txBox="1"/>
          <p:nvPr/>
        </p:nvSpPr>
        <p:spPr>
          <a:xfrm>
            <a:off x="481487" y="4365302"/>
            <a:ext cx="399959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cxnSp>
        <p:nvCxnSpPr>
          <p:cNvPr id="23" name="line 22: plot geometry" descr="sci-ppt:obj-0022"/>
          <p:cNvCxnSpPr/>
          <p:nvPr/>
        </p:nvCxnSpPr>
        <p:spPr>
          <a:xfrm>
            <a:off x="931796" y="4006149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4" name="line 23: plot geometry" descr="sci-ppt:obj-0023"/>
          <p:cNvCxnSpPr/>
          <p:nvPr/>
        </p:nvCxnSpPr>
        <p:spPr>
          <a:xfrm flipH="1">
            <a:off x="867173" y="4006149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25" name="text 24: 7.5" descr="sci-ppt:obj-0024"/>
          <p:cNvSpPr txBox="1"/>
          <p:nvPr/>
        </p:nvSpPr>
        <p:spPr>
          <a:xfrm>
            <a:off x="481487" y="3886113"/>
            <a:ext cx="399959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cxnSp>
        <p:nvCxnSpPr>
          <p:cNvPr id="26" name="line 25: plot geometry" descr="sci-ppt:obj-0025"/>
          <p:cNvCxnSpPr/>
          <p:nvPr/>
        </p:nvCxnSpPr>
        <p:spPr>
          <a:xfrm>
            <a:off x="931796" y="3526959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7" name="line 26: plot geometry" descr="sci-ppt:obj-0026"/>
          <p:cNvCxnSpPr/>
          <p:nvPr/>
        </p:nvCxnSpPr>
        <p:spPr>
          <a:xfrm flipH="1">
            <a:off x="867173" y="3526959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28" name="text 27: 10.0" descr="sci-ppt:obj-0027"/>
          <p:cNvSpPr txBox="1"/>
          <p:nvPr/>
        </p:nvSpPr>
        <p:spPr>
          <a:xfrm>
            <a:off x="364012" y="3406924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cxnSp>
        <p:nvCxnSpPr>
          <p:cNvPr id="29" name="line 28: plot geometry" descr="sci-ppt:obj-0028"/>
          <p:cNvCxnSpPr/>
          <p:nvPr/>
        </p:nvCxnSpPr>
        <p:spPr>
          <a:xfrm>
            <a:off x="931796" y="3047770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0" name="line 29: plot geometry" descr="sci-ppt:obj-0029"/>
          <p:cNvCxnSpPr/>
          <p:nvPr/>
        </p:nvCxnSpPr>
        <p:spPr>
          <a:xfrm flipH="1">
            <a:off x="867173" y="3047770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31" name="text 30: 12.5" descr="sci-ppt:obj-0030"/>
          <p:cNvSpPr txBox="1"/>
          <p:nvPr/>
        </p:nvSpPr>
        <p:spPr>
          <a:xfrm>
            <a:off x="364012" y="2927734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12.5</a:t>
            </a:r>
          </a:p>
        </p:txBody>
      </p:sp>
      <p:cxnSp>
        <p:nvCxnSpPr>
          <p:cNvPr id="32" name="line 31: plot geometry" descr="sci-ppt:obj-0031"/>
          <p:cNvCxnSpPr/>
          <p:nvPr/>
        </p:nvCxnSpPr>
        <p:spPr>
          <a:xfrm>
            <a:off x="931796" y="2568580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3" name="line 32: plot geometry" descr="sci-ppt:obj-0032"/>
          <p:cNvCxnSpPr/>
          <p:nvPr/>
        </p:nvCxnSpPr>
        <p:spPr>
          <a:xfrm flipH="1">
            <a:off x="867173" y="2568580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34" name="text 33: 15.0" descr="sci-ppt:obj-0033"/>
          <p:cNvSpPr txBox="1"/>
          <p:nvPr/>
        </p:nvSpPr>
        <p:spPr>
          <a:xfrm>
            <a:off x="364012" y="2448545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15.0</a:t>
            </a:r>
          </a:p>
        </p:txBody>
      </p:sp>
      <p:cxnSp>
        <p:nvCxnSpPr>
          <p:cNvPr id="35" name="line 34: plot geometry" descr="sci-ppt:obj-0034"/>
          <p:cNvCxnSpPr/>
          <p:nvPr/>
        </p:nvCxnSpPr>
        <p:spPr>
          <a:xfrm>
            <a:off x="931796" y="2089391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6" name="line 35: plot geometry" descr="sci-ppt:obj-0035"/>
          <p:cNvCxnSpPr/>
          <p:nvPr/>
        </p:nvCxnSpPr>
        <p:spPr>
          <a:xfrm flipH="1">
            <a:off x="867173" y="2089391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37" name="text 36: 17.5" descr="sci-ppt:obj-0036"/>
          <p:cNvSpPr txBox="1"/>
          <p:nvPr/>
        </p:nvSpPr>
        <p:spPr>
          <a:xfrm>
            <a:off x="364012" y="1969355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17.5</a:t>
            </a:r>
          </a:p>
        </p:txBody>
      </p:sp>
      <p:cxnSp>
        <p:nvCxnSpPr>
          <p:cNvPr id="38" name="line 37: plot geometry" descr="sci-ppt:obj-0037"/>
          <p:cNvCxnSpPr/>
          <p:nvPr/>
        </p:nvCxnSpPr>
        <p:spPr>
          <a:xfrm>
            <a:off x="931796" y="1610202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9" name="line 38: plot geometry" descr="sci-ppt:obj-0038"/>
          <p:cNvCxnSpPr/>
          <p:nvPr/>
        </p:nvCxnSpPr>
        <p:spPr>
          <a:xfrm flipH="1">
            <a:off x="867173" y="1610202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40" name="text 39: 20.0" descr="sci-ppt:obj-0039"/>
          <p:cNvSpPr txBox="1"/>
          <p:nvPr/>
        </p:nvSpPr>
        <p:spPr>
          <a:xfrm>
            <a:off x="364012" y="1490166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20.0</a:t>
            </a:r>
          </a:p>
        </p:txBody>
      </p:sp>
      <p:cxnSp>
        <p:nvCxnSpPr>
          <p:cNvPr id="41" name="line 40: plot geometry" descr="sci-ppt:obj-0040"/>
          <p:cNvCxnSpPr/>
          <p:nvPr/>
        </p:nvCxnSpPr>
        <p:spPr>
          <a:xfrm>
            <a:off x="931796" y="1131012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2" name="line 41: plot geometry" descr="sci-ppt:obj-0041"/>
          <p:cNvCxnSpPr/>
          <p:nvPr/>
        </p:nvCxnSpPr>
        <p:spPr>
          <a:xfrm flipH="1">
            <a:off x="867173" y="1131012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43" name="text 42: 22.5" descr="sci-ppt:obj-0042"/>
          <p:cNvSpPr txBox="1"/>
          <p:nvPr/>
        </p:nvSpPr>
        <p:spPr>
          <a:xfrm>
            <a:off x="364012" y="1010977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22.5</a:t>
            </a:r>
          </a:p>
        </p:txBody>
      </p:sp>
      <p:cxnSp>
        <p:nvCxnSpPr>
          <p:cNvPr id="44" name="line 43: plot geometry" descr="sci-ppt:obj-0043"/>
          <p:cNvCxnSpPr/>
          <p:nvPr/>
        </p:nvCxnSpPr>
        <p:spPr>
          <a:xfrm>
            <a:off x="931796" y="651823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 flipH="1">
            <a:off x="867173" y="651823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46" name="text 45: 25.0" descr="sci-ppt:obj-0045"/>
          <p:cNvSpPr txBox="1"/>
          <p:nvPr/>
        </p:nvSpPr>
        <p:spPr>
          <a:xfrm>
            <a:off x="364012" y="531787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25.0</a:t>
            </a:r>
          </a:p>
        </p:txBody>
      </p:sp>
      <p:sp>
        <p:nvSpPr>
          <p:cNvPr id="47" name="text 46: Outlet speed (m/s)" descr="sci-ppt:obj-0046"/>
          <p:cNvSpPr txBox="1"/>
          <p:nvPr/>
        </p:nvSpPr>
        <p:spPr>
          <a:xfrm rot="16200000">
            <a:off x="-809478" y="2334699"/>
            <a:ext cx="199094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Outlet speed (m/s)</a:t>
            </a:r>
          </a:p>
        </p:txBody>
      </p:sp>
      <p:sp>
        <p:nvSpPr>
          <p:cNvPr id="48" name="polygon 47: plot geometry" descr="sci-ppt:obj-0047"/>
          <p:cNvSpPr/>
          <p:nvPr/>
        </p:nvSpPr>
        <p:spPr>
          <a:xfrm>
            <a:off x="1161692" y="598189"/>
            <a:ext cx="4597917" cy="3204761"/>
          </a:xfrm>
          <a:custGeom>
            <a:avLst/>
            <a:gdLst/>
            <a:ahLst/>
            <a:cxnLst/>
            <a:rect l="l" t="t" r="r" b="b"/>
            <a:pathLst>
              <a:path w="4597917" h="3204761">
                <a:moveTo>
                  <a:pt x="0" y="3204761"/>
                </a:moveTo>
                <a:lnTo>
                  <a:pt x="1532639" y="1532138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gon 48: plot geometry" descr="sci-ppt:obj-0048"/>
          <p:cNvSpPr/>
          <p:nvPr/>
        </p:nvSpPr>
        <p:spPr>
          <a:xfrm>
            <a:off x="1161692" y="1159657"/>
            <a:ext cx="4597917" cy="2737553"/>
          </a:xfrm>
          <a:custGeom>
            <a:avLst/>
            <a:gdLst/>
            <a:ahLst/>
            <a:cxnLst/>
            <a:rect l="l" t="t" r="r" b="b"/>
            <a:pathLst>
              <a:path w="4597917" h="2737553">
                <a:moveTo>
                  <a:pt x="0" y="2737553"/>
                </a:moveTo>
                <a:lnTo>
                  <a:pt x="1532639" y="1336838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 49: plot geometry" descr="sci-ppt:obj-0049"/>
          <p:cNvSpPr/>
          <p:nvPr/>
        </p:nvSpPr>
        <p:spPr>
          <a:xfrm>
            <a:off x="1161692" y="2261521"/>
            <a:ext cx="4597917" cy="2058948"/>
          </a:xfrm>
          <a:custGeom>
            <a:avLst/>
            <a:gdLst/>
            <a:ahLst/>
            <a:cxnLst/>
            <a:rect l="l" t="t" r="r" b="b"/>
            <a:pathLst>
              <a:path w="4597917" h="2058948">
                <a:moveTo>
                  <a:pt x="0" y="2058948"/>
                </a:moveTo>
                <a:lnTo>
                  <a:pt x="1532639" y="1028232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line 50: plot geometry" descr="sci-ppt:obj-0050"/>
          <p:cNvCxnSpPr/>
          <p:nvPr/>
        </p:nvCxnSpPr>
        <p:spPr>
          <a:xfrm flipV="1">
            <a:off x="931796" y="412075"/>
            <a:ext cx="0" cy="4094508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cxnSp>
        <p:nvCxnSpPr>
          <p:cNvPr id="52" name="line 51: plot geometry" descr="sci-ppt:obj-0051"/>
          <p:cNvCxnSpPr/>
          <p:nvPr/>
        </p:nvCxnSpPr>
        <p:spPr>
          <a:xfrm>
            <a:off x="931796" y="4506583"/>
            <a:ext cx="5057709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53" name="text 52: Maximum speed by case" descr="sci-ppt:obj-0052"/>
          <p:cNvSpPr txBox="1"/>
          <p:nvPr/>
        </p:nvSpPr>
        <p:spPr>
          <a:xfrm>
            <a:off x="2056473" y="73081"/>
            <a:ext cx="2818333" cy="2991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44" b="0" i="0">
                <a:solidFill>
                  <a:srgbClr val="000000"/>
                </a:solidFill>
                <a:latin typeface="Arial"/>
              </a:rPr>
              <a:t>Maximum speed by case</a:t>
            </a:r>
          </a:p>
        </p:txBody>
      </p:sp>
      <p:sp>
        <p:nvSpPr>
          <p:cNvPr id="54" name="polygon 53: plot geometry" descr="sci-ppt:obj-0053"/>
          <p:cNvSpPr/>
          <p:nvPr/>
        </p:nvSpPr>
        <p:spPr>
          <a:xfrm>
            <a:off x="1064734" y="605551"/>
            <a:ext cx="295419" cy="0"/>
          </a:xfrm>
          <a:custGeom>
            <a:avLst/>
            <a:gdLst/>
            <a:ahLst/>
            <a:cxnLst/>
            <a:rect l="l" t="t" r="r" b="b"/>
            <a:pathLst>
              <a:path w="295419" h="0">
                <a:moveTo>
                  <a:pt x="0" y="0"/>
                </a:moveTo>
                <a:lnTo>
                  <a:pt x="147710" y="0"/>
                </a:lnTo>
                <a:lnTo>
                  <a:pt x="295419" y="0"/>
                </a:lnTo>
              </a:path>
            </a:pathLst>
          </a:custGeom>
          <a:noFill/>
          <a:ln w="27695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gon 54: plot geometry" descr="sci-ppt:obj-0054"/>
          <p:cNvSpPr/>
          <p:nvPr/>
        </p:nvSpPr>
        <p:spPr>
          <a:xfrm>
            <a:off x="1157053" y="550160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2"/>
                </a:lnTo>
                <a:lnTo>
                  <a:pt x="66247" y="109708"/>
                </a:lnTo>
                <a:lnTo>
                  <a:pt x="69766" y="108884"/>
                </a:lnTo>
                <a:lnTo>
                  <a:pt x="73216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0" y="99367"/>
                </a:lnTo>
                <a:lnTo>
                  <a:pt x="91886" y="97060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5" y="86122"/>
                </a:lnTo>
                <a:lnTo>
                  <a:pt x="103381" y="83052"/>
                </a:lnTo>
                <a:lnTo>
                  <a:pt x="105079" y="79870"/>
                </a:lnTo>
                <a:lnTo>
                  <a:pt x="106565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2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3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5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5" y="24660"/>
                </a:lnTo>
                <a:lnTo>
                  <a:pt x="99367" y="21711"/>
                </a:lnTo>
                <a:lnTo>
                  <a:pt x="97060" y="18896"/>
                </a:lnTo>
                <a:lnTo>
                  <a:pt x="94558" y="16224"/>
                </a:lnTo>
                <a:lnTo>
                  <a:pt x="91886" y="13722"/>
                </a:lnTo>
                <a:lnTo>
                  <a:pt x="89070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3"/>
                </a:lnTo>
                <a:lnTo>
                  <a:pt x="76588" y="4216"/>
                </a:lnTo>
                <a:lnTo>
                  <a:pt x="73216" y="2947"/>
                </a:lnTo>
                <a:lnTo>
                  <a:pt x="69766" y="1898"/>
                </a:lnTo>
                <a:lnTo>
                  <a:pt x="66247" y="1074"/>
                </a:lnTo>
                <a:lnTo>
                  <a:pt x="62672" y="480"/>
                </a:lnTo>
                <a:lnTo>
                  <a:pt x="59049" y="121"/>
                </a:lnTo>
                <a:lnTo>
                  <a:pt x="55391" y="0"/>
                </a:lnTo>
                <a:lnTo>
                  <a:pt x="51733" y="121"/>
                </a:lnTo>
                <a:lnTo>
                  <a:pt x="48110" y="480"/>
                </a:lnTo>
                <a:lnTo>
                  <a:pt x="44534" y="1074"/>
                </a:lnTo>
                <a:lnTo>
                  <a:pt x="41016" y="1898"/>
                </a:lnTo>
                <a:lnTo>
                  <a:pt x="37565" y="2947"/>
                </a:lnTo>
                <a:lnTo>
                  <a:pt x="34194" y="4216"/>
                </a:lnTo>
                <a:lnTo>
                  <a:pt x="30912" y="5703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4"/>
                </a:lnTo>
                <a:lnTo>
                  <a:pt x="13722" y="18896"/>
                </a:lnTo>
                <a:lnTo>
                  <a:pt x="11415" y="21711"/>
                </a:lnTo>
                <a:lnTo>
                  <a:pt x="9306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6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3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2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6" y="76588"/>
                </a:lnTo>
                <a:lnTo>
                  <a:pt x="5703" y="79870"/>
                </a:lnTo>
                <a:lnTo>
                  <a:pt x="7401" y="83052"/>
                </a:lnTo>
                <a:lnTo>
                  <a:pt x="9306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60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4" y="109708"/>
                </a:lnTo>
                <a:lnTo>
                  <a:pt x="48110" y="110302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3479CB"/>
          </a:solidFill>
          <a:ln w="18463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 55: Outlet radius 3 µm" descr="sci-ppt:obj-0055"/>
          <p:cNvSpPr txBox="1"/>
          <p:nvPr/>
        </p:nvSpPr>
        <p:spPr>
          <a:xfrm>
            <a:off x="1450889" y="505108"/>
            <a:ext cx="1641827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Outlet radius 3 µm</a:t>
            </a:r>
          </a:p>
        </p:txBody>
      </p:sp>
      <p:sp>
        <p:nvSpPr>
          <p:cNvPr id="57" name="polygon 56: plot geometry" descr="sci-ppt:obj-0056"/>
          <p:cNvSpPr/>
          <p:nvPr/>
        </p:nvSpPr>
        <p:spPr>
          <a:xfrm>
            <a:off x="1064734" y="827127"/>
            <a:ext cx="295419" cy="0"/>
          </a:xfrm>
          <a:custGeom>
            <a:avLst/>
            <a:gdLst/>
            <a:ahLst/>
            <a:cxnLst/>
            <a:rect l="l" t="t" r="r" b="b"/>
            <a:pathLst>
              <a:path w="295419" h="0">
                <a:moveTo>
                  <a:pt x="0" y="0"/>
                </a:moveTo>
                <a:lnTo>
                  <a:pt x="147710" y="0"/>
                </a:lnTo>
                <a:lnTo>
                  <a:pt x="295419" y="0"/>
                </a:lnTo>
              </a:path>
            </a:pathLst>
          </a:custGeom>
          <a:noFill/>
          <a:ln w="27695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gon 57: plot geometry" descr="sci-ppt:obj-0057"/>
          <p:cNvSpPr/>
          <p:nvPr/>
        </p:nvSpPr>
        <p:spPr>
          <a:xfrm>
            <a:off x="1157053" y="771736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1"/>
                </a:lnTo>
                <a:lnTo>
                  <a:pt x="66247" y="109708"/>
                </a:lnTo>
                <a:lnTo>
                  <a:pt x="69766" y="108884"/>
                </a:lnTo>
                <a:lnTo>
                  <a:pt x="73216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0" y="99367"/>
                </a:lnTo>
                <a:lnTo>
                  <a:pt x="91886" y="97059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5" y="86122"/>
                </a:lnTo>
                <a:lnTo>
                  <a:pt x="103381" y="83052"/>
                </a:lnTo>
                <a:lnTo>
                  <a:pt x="105079" y="79870"/>
                </a:lnTo>
                <a:lnTo>
                  <a:pt x="106565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1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3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5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5" y="24660"/>
                </a:lnTo>
                <a:lnTo>
                  <a:pt x="99367" y="21711"/>
                </a:lnTo>
                <a:lnTo>
                  <a:pt x="97060" y="18896"/>
                </a:lnTo>
                <a:lnTo>
                  <a:pt x="94558" y="16223"/>
                </a:lnTo>
                <a:lnTo>
                  <a:pt x="91886" y="13722"/>
                </a:lnTo>
                <a:lnTo>
                  <a:pt x="89070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3"/>
                </a:lnTo>
                <a:lnTo>
                  <a:pt x="76588" y="4216"/>
                </a:lnTo>
                <a:lnTo>
                  <a:pt x="73216" y="2947"/>
                </a:lnTo>
                <a:lnTo>
                  <a:pt x="69766" y="1898"/>
                </a:lnTo>
                <a:lnTo>
                  <a:pt x="66247" y="1074"/>
                </a:lnTo>
                <a:lnTo>
                  <a:pt x="62672" y="480"/>
                </a:lnTo>
                <a:lnTo>
                  <a:pt x="59049" y="121"/>
                </a:lnTo>
                <a:lnTo>
                  <a:pt x="55391" y="0"/>
                </a:lnTo>
                <a:lnTo>
                  <a:pt x="51733" y="121"/>
                </a:lnTo>
                <a:lnTo>
                  <a:pt x="48110" y="480"/>
                </a:lnTo>
                <a:lnTo>
                  <a:pt x="44534" y="1074"/>
                </a:lnTo>
                <a:lnTo>
                  <a:pt x="41016" y="1898"/>
                </a:lnTo>
                <a:lnTo>
                  <a:pt x="37565" y="2947"/>
                </a:lnTo>
                <a:lnTo>
                  <a:pt x="34194" y="4216"/>
                </a:lnTo>
                <a:lnTo>
                  <a:pt x="30912" y="5703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3"/>
                </a:lnTo>
                <a:lnTo>
                  <a:pt x="13722" y="18896"/>
                </a:lnTo>
                <a:lnTo>
                  <a:pt x="11415" y="21711"/>
                </a:lnTo>
                <a:lnTo>
                  <a:pt x="9306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6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3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1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6" y="76588"/>
                </a:lnTo>
                <a:lnTo>
                  <a:pt x="5703" y="79870"/>
                </a:lnTo>
                <a:lnTo>
                  <a:pt x="7401" y="83052"/>
                </a:lnTo>
                <a:lnTo>
                  <a:pt x="9306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59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4" y="109708"/>
                </a:lnTo>
                <a:lnTo>
                  <a:pt x="48110" y="110301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D16B34"/>
          </a:solidFill>
          <a:ln w="18463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 58: Outlet radius 5 µm" descr="sci-ppt:obj-0058"/>
          <p:cNvSpPr txBox="1"/>
          <p:nvPr/>
        </p:nvSpPr>
        <p:spPr>
          <a:xfrm>
            <a:off x="1450889" y="726684"/>
            <a:ext cx="1641827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Outlet radius 5 µm</a:t>
            </a:r>
          </a:p>
        </p:txBody>
      </p:sp>
      <p:sp>
        <p:nvSpPr>
          <p:cNvPr id="60" name="polygon 59: plot geometry" descr="sci-ppt:obj-0059"/>
          <p:cNvSpPr/>
          <p:nvPr/>
        </p:nvSpPr>
        <p:spPr>
          <a:xfrm>
            <a:off x="1064734" y="1048703"/>
            <a:ext cx="295419" cy="0"/>
          </a:xfrm>
          <a:custGeom>
            <a:avLst/>
            <a:gdLst/>
            <a:ahLst/>
            <a:cxnLst/>
            <a:rect l="l" t="t" r="r" b="b"/>
            <a:pathLst>
              <a:path w="295419" h="0">
                <a:moveTo>
                  <a:pt x="0" y="0"/>
                </a:moveTo>
                <a:lnTo>
                  <a:pt x="147710" y="0"/>
                </a:lnTo>
                <a:lnTo>
                  <a:pt x="295419" y="0"/>
                </a:lnTo>
              </a:path>
            </a:pathLst>
          </a:custGeom>
          <a:noFill/>
          <a:ln w="27695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olygon 60: plot geometry" descr="sci-ppt:obj-0060"/>
          <p:cNvSpPr/>
          <p:nvPr/>
        </p:nvSpPr>
        <p:spPr>
          <a:xfrm>
            <a:off x="1157053" y="993312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1"/>
                </a:lnTo>
                <a:lnTo>
                  <a:pt x="66247" y="109708"/>
                </a:lnTo>
                <a:lnTo>
                  <a:pt x="69766" y="108884"/>
                </a:lnTo>
                <a:lnTo>
                  <a:pt x="73216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0" y="99367"/>
                </a:lnTo>
                <a:lnTo>
                  <a:pt x="91886" y="97059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5" y="86122"/>
                </a:lnTo>
                <a:lnTo>
                  <a:pt x="103381" y="83051"/>
                </a:lnTo>
                <a:lnTo>
                  <a:pt x="105079" y="79870"/>
                </a:lnTo>
                <a:lnTo>
                  <a:pt x="106565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1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2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5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5" y="24660"/>
                </a:lnTo>
                <a:lnTo>
                  <a:pt x="99367" y="21711"/>
                </a:lnTo>
                <a:lnTo>
                  <a:pt x="97060" y="18895"/>
                </a:lnTo>
                <a:lnTo>
                  <a:pt x="94558" y="16223"/>
                </a:lnTo>
                <a:lnTo>
                  <a:pt x="91886" y="13722"/>
                </a:lnTo>
                <a:lnTo>
                  <a:pt x="89070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2"/>
                </a:lnTo>
                <a:lnTo>
                  <a:pt x="76588" y="4216"/>
                </a:lnTo>
                <a:lnTo>
                  <a:pt x="73216" y="2946"/>
                </a:lnTo>
                <a:lnTo>
                  <a:pt x="69766" y="1897"/>
                </a:lnTo>
                <a:lnTo>
                  <a:pt x="66247" y="1074"/>
                </a:lnTo>
                <a:lnTo>
                  <a:pt x="62672" y="480"/>
                </a:lnTo>
                <a:lnTo>
                  <a:pt x="59049" y="120"/>
                </a:lnTo>
                <a:lnTo>
                  <a:pt x="55391" y="0"/>
                </a:lnTo>
                <a:lnTo>
                  <a:pt x="51733" y="120"/>
                </a:lnTo>
                <a:lnTo>
                  <a:pt x="48110" y="480"/>
                </a:lnTo>
                <a:lnTo>
                  <a:pt x="44534" y="1074"/>
                </a:lnTo>
                <a:lnTo>
                  <a:pt x="41016" y="1897"/>
                </a:lnTo>
                <a:lnTo>
                  <a:pt x="37565" y="2946"/>
                </a:lnTo>
                <a:lnTo>
                  <a:pt x="34194" y="4216"/>
                </a:lnTo>
                <a:lnTo>
                  <a:pt x="30912" y="5702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3"/>
                </a:lnTo>
                <a:lnTo>
                  <a:pt x="13722" y="18895"/>
                </a:lnTo>
                <a:lnTo>
                  <a:pt x="11415" y="21711"/>
                </a:lnTo>
                <a:lnTo>
                  <a:pt x="9306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6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2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1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6" y="76588"/>
                </a:lnTo>
                <a:lnTo>
                  <a:pt x="5703" y="79870"/>
                </a:lnTo>
                <a:lnTo>
                  <a:pt x="7401" y="83051"/>
                </a:lnTo>
                <a:lnTo>
                  <a:pt x="9306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59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4" y="109708"/>
                </a:lnTo>
                <a:lnTo>
                  <a:pt x="48110" y="110301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9460A5"/>
          </a:solidFill>
          <a:ln w="18463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 61: Outlet radius 10 µm" descr="sci-ppt:obj-0061"/>
          <p:cNvSpPr txBox="1"/>
          <p:nvPr/>
        </p:nvSpPr>
        <p:spPr>
          <a:xfrm>
            <a:off x="1450889" y="948260"/>
            <a:ext cx="1728976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Outlet radius 10 µm</a:t>
            </a:r>
          </a:p>
        </p:txBody>
      </p:sp>
      <p:sp>
        <p:nvSpPr>
          <p:cNvPr id="63" name="polygon 62: plot geometry" descr="sci-ppt:obj-0062"/>
          <p:cNvSpPr/>
          <p:nvPr/>
        </p:nvSpPr>
        <p:spPr>
          <a:xfrm>
            <a:off x="7001047" y="412075"/>
            <a:ext cx="5057709" cy="4094508"/>
          </a:xfrm>
          <a:custGeom>
            <a:avLst/>
            <a:gdLst/>
            <a:ahLst/>
            <a:cxnLst/>
            <a:rect l="l" t="t" r="r" b="b"/>
            <a:pathLst>
              <a:path w="5057709" h="4094508">
                <a:moveTo>
                  <a:pt x="0" y="4094508"/>
                </a:moveTo>
                <a:lnTo>
                  <a:pt x="5057709" y="4094508"/>
                </a:lnTo>
                <a:lnTo>
                  <a:pt x="5057709" y="0"/>
                </a:lnTo>
                <a:lnTo>
                  <a:pt x="0" y="0"/>
                </a:lnTo>
                <a:lnTo>
                  <a:pt x="0" y="40945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line 63: plot geometry" descr="sci-ppt:obj-0063"/>
          <p:cNvCxnSpPr/>
          <p:nvPr/>
        </p:nvCxnSpPr>
        <p:spPr>
          <a:xfrm flipV="1">
            <a:off x="7741822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5" name="line 64: plot geometry" descr="sci-ppt:obj-0064"/>
          <p:cNvCxnSpPr/>
          <p:nvPr/>
        </p:nvCxnSpPr>
        <p:spPr>
          <a:xfrm>
            <a:off x="7741822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66" name="text 65: 1" descr="sci-ppt:obj-0065"/>
          <p:cNvSpPr txBox="1"/>
          <p:nvPr/>
        </p:nvSpPr>
        <p:spPr>
          <a:xfrm>
            <a:off x="7655653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67" name="line 66: plot geometry" descr="sci-ppt:obj-0066"/>
          <p:cNvCxnSpPr/>
          <p:nvPr/>
        </p:nvCxnSpPr>
        <p:spPr>
          <a:xfrm flipV="1">
            <a:off x="8763582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8" name="line 67: plot geometry" descr="sci-ppt:obj-0067"/>
          <p:cNvCxnSpPr/>
          <p:nvPr/>
        </p:nvCxnSpPr>
        <p:spPr>
          <a:xfrm>
            <a:off x="8763582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69" name="text 68: 2" descr="sci-ppt:obj-0068"/>
          <p:cNvSpPr txBox="1"/>
          <p:nvPr/>
        </p:nvSpPr>
        <p:spPr>
          <a:xfrm>
            <a:off x="8677412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70" name="line 69: plot geometry" descr="sci-ppt:obj-0069"/>
          <p:cNvCxnSpPr/>
          <p:nvPr/>
        </p:nvCxnSpPr>
        <p:spPr>
          <a:xfrm flipV="1">
            <a:off x="9785341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1" name="line 70: plot geometry" descr="sci-ppt:obj-0070"/>
          <p:cNvCxnSpPr/>
          <p:nvPr/>
        </p:nvCxnSpPr>
        <p:spPr>
          <a:xfrm>
            <a:off x="9785341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72" name="text 71: 3" descr="sci-ppt:obj-0071"/>
          <p:cNvSpPr txBox="1"/>
          <p:nvPr/>
        </p:nvSpPr>
        <p:spPr>
          <a:xfrm>
            <a:off x="9699172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73" name="line 72: plot geometry" descr="sci-ppt:obj-0072"/>
          <p:cNvCxnSpPr/>
          <p:nvPr/>
        </p:nvCxnSpPr>
        <p:spPr>
          <a:xfrm flipV="1">
            <a:off x="10807101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4" name="line 73: plot geometry" descr="sci-ppt:obj-0073"/>
          <p:cNvCxnSpPr/>
          <p:nvPr/>
        </p:nvCxnSpPr>
        <p:spPr>
          <a:xfrm>
            <a:off x="10807101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75" name="text 74: 4" descr="sci-ppt:obj-0074"/>
          <p:cNvSpPr txBox="1"/>
          <p:nvPr/>
        </p:nvSpPr>
        <p:spPr>
          <a:xfrm>
            <a:off x="10720931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76" name="line 75: plot geometry" descr="sci-ppt:obj-0075"/>
          <p:cNvCxnSpPr/>
          <p:nvPr/>
        </p:nvCxnSpPr>
        <p:spPr>
          <a:xfrm flipV="1">
            <a:off x="11828860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7" name="line 76: plot geometry" descr="sci-ppt:obj-0076"/>
          <p:cNvCxnSpPr/>
          <p:nvPr/>
        </p:nvCxnSpPr>
        <p:spPr>
          <a:xfrm>
            <a:off x="11828860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78" name="text 77: 5" descr="sci-ppt:obj-0077"/>
          <p:cNvSpPr txBox="1"/>
          <p:nvPr/>
        </p:nvSpPr>
        <p:spPr>
          <a:xfrm>
            <a:off x="11742691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79" name="text 78: Available post-activation work (nJ)" descr="sci-ppt:obj-0078"/>
          <p:cNvSpPr txBox="1"/>
          <p:nvPr/>
        </p:nvSpPr>
        <p:spPr>
          <a:xfrm>
            <a:off x="7925483" y="4844440"/>
            <a:ext cx="3885904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Available post-activation work (nJ)</a:t>
            </a:r>
          </a:p>
        </p:txBody>
      </p:sp>
      <p:cxnSp>
        <p:nvCxnSpPr>
          <p:cNvPr id="80" name="line 79: plot geometry" descr="sci-ppt:obj-0079"/>
          <p:cNvCxnSpPr/>
          <p:nvPr/>
        </p:nvCxnSpPr>
        <p:spPr>
          <a:xfrm>
            <a:off x="7001047" y="4123526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1" name="line 80: plot geometry" descr="sci-ppt:obj-0080"/>
          <p:cNvCxnSpPr/>
          <p:nvPr/>
        </p:nvCxnSpPr>
        <p:spPr>
          <a:xfrm flipH="1">
            <a:off x="6936424" y="4123526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82" name="text 81: 10" descr="sci-ppt:obj-0081"/>
          <p:cNvSpPr txBox="1"/>
          <p:nvPr/>
        </p:nvSpPr>
        <p:spPr>
          <a:xfrm>
            <a:off x="6609419" y="4003490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83" name="line 82: plot geometry" descr="sci-ppt:obj-0082"/>
          <p:cNvCxnSpPr/>
          <p:nvPr/>
        </p:nvCxnSpPr>
        <p:spPr>
          <a:xfrm>
            <a:off x="7001047" y="3647800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4" name="line 83: plot geometry" descr="sci-ppt:obj-0083"/>
          <p:cNvCxnSpPr/>
          <p:nvPr/>
        </p:nvCxnSpPr>
        <p:spPr>
          <a:xfrm flipH="1">
            <a:off x="6936424" y="3647800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85" name="text 84: 20" descr="sci-ppt:obj-0084"/>
          <p:cNvSpPr txBox="1"/>
          <p:nvPr/>
        </p:nvSpPr>
        <p:spPr>
          <a:xfrm>
            <a:off x="6609419" y="3527764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86" name="line 85: plot geometry" descr="sci-ppt:obj-0085"/>
          <p:cNvCxnSpPr/>
          <p:nvPr/>
        </p:nvCxnSpPr>
        <p:spPr>
          <a:xfrm>
            <a:off x="7001047" y="3172074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7" name="line 86: plot geometry" descr="sci-ppt:obj-0086"/>
          <p:cNvCxnSpPr/>
          <p:nvPr/>
        </p:nvCxnSpPr>
        <p:spPr>
          <a:xfrm flipH="1">
            <a:off x="6936424" y="3172074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88" name="text 87: 30" descr="sci-ppt:obj-0087"/>
          <p:cNvSpPr txBox="1"/>
          <p:nvPr/>
        </p:nvSpPr>
        <p:spPr>
          <a:xfrm>
            <a:off x="6609419" y="3052039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89" name="line 88: plot geometry" descr="sci-ppt:obj-0088"/>
          <p:cNvCxnSpPr/>
          <p:nvPr/>
        </p:nvCxnSpPr>
        <p:spPr>
          <a:xfrm>
            <a:off x="7001047" y="2696349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0" name="line 89: plot geometry" descr="sci-ppt:obj-0089"/>
          <p:cNvCxnSpPr/>
          <p:nvPr/>
        </p:nvCxnSpPr>
        <p:spPr>
          <a:xfrm flipH="1">
            <a:off x="6936424" y="2696349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91" name="text 90: 40" descr="sci-ppt:obj-0090"/>
          <p:cNvSpPr txBox="1"/>
          <p:nvPr/>
        </p:nvSpPr>
        <p:spPr>
          <a:xfrm>
            <a:off x="6609419" y="2576313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cxnSp>
        <p:nvCxnSpPr>
          <p:cNvPr id="92" name="line 91: plot geometry" descr="sci-ppt:obj-0091"/>
          <p:cNvCxnSpPr/>
          <p:nvPr/>
        </p:nvCxnSpPr>
        <p:spPr>
          <a:xfrm>
            <a:off x="7001047" y="2220623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3" name="line 92: plot geometry" descr="sci-ppt:obj-0092"/>
          <p:cNvCxnSpPr/>
          <p:nvPr/>
        </p:nvCxnSpPr>
        <p:spPr>
          <a:xfrm flipH="1">
            <a:off x="6936424" y="2220623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94" name="text 93: 50" descr="sci-ppt:obj-0093"/>
          <p:cNvSpPr txBox="1"/>
          <p:nvPr/>
        </p:nvSpPr>
        <p:spPr>
          <a:xfrm>
            <a:off x="6609419" y="2100587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cxnSp>
        <p:nvCxnSpPr>
          <p:cNvPr id="95" name="line 94: plot geometry" descr="sci-ppt:obj-0094"/>
          <p:cNvCxnSpPr/>
          <p:nvPr/>
        </p:nvCxnSpPr>
        <p:spPr>
          <a:xfrm>
            <a:off x="7001047" y="1744897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6" name="line 95: plot geometry" descr="sci-ppt:obj-0095"/>
          <p:cNvCxnSpPr/>
          <p:nvPr/>
        </p:nvCxnSpPr>
        <p:spPr>
          <a:xfrm flipH="1">
            <a:off x="6936424" y="1744897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97" name="text 96: 60" descr="sci-ppt:obj-0096"/>
          <p:cNvSpPr txBox="1"/>
          <p:nvPr/>
        </p:nvSpPr>
        <p:spPr>
          <a:xfrm>
            <a:off x="6609419" y="1624862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cxnSp>
        <p:nvCxnSpPr>
          <p:cNvPr id="98" name="line 97: plot geometry" descr="sci-ppt:obj-0097"/>
          <p:cNvCxnSpPr/>
          <p:nvPr/>
        </p:nvCxnSpPr>
        <p:spPr>
          <a:xfrm>
            <a:off x="7001047" y="1269172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9" name="line 98: plot geometry" descr="sci-ppt:obj-0098"/>
          <p:cNvCxnSpPr/>
          <p:nvPr/>
        </p:nvCxnSpPr>
        <p:spPr>
          <a:xfrm flipH="1">
            <a:off x="6936424" y="1269172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00" name="text 99: 70" descr="sci-ppt:obj-0099"/>
          <p:cNvSpPr txBox="1"/>
          <p:nvPr/>
        </p:nvSpPr>
        <p:spPr>
          <a:xfrm>
            <a:off x="6609419" y="1149136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  <p:cxnSp>
        <p:nvCxnSpPr>
          <p:cNvPr id="101" name="line 100: plot geometry" descr="sci-ppt:obj-0100"/>
          <p:cNvCxnSpPr/>
          <p:nvPr/>
        </p:nvCxnSpPr>
        <p:spPr>
          <a:xfrm>
            <a:off x="7001047" y="793446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2" name="line 101: plot geometry" descr="sci-ppt:obj-0101"/>
          <p:cNvCxnSpPr/>
          <p:nvPr/>
        </p:nvCxnSpPr>
        <p:spPr>
          <a:xfrm flipH="1">
            <a:off x="6936424" y="793446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03" name="text 102: 80" descr="sci-ppt:obj-0102"/>
          <p:cNvSpPr txBox="1"/>
          <p:nvPr/>
        </p:nvSpPr>
        <p:spPr>
          <a:xfrm>
            <a:off x="6609419" y="673411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04" name="text 103: Outlet speed (m/s)" descr="sci-ppt:obj-0103"/>
          <p:cNvSpPr txBox="1"/>
          <p:nvPr/>
        </p:nvSpPr>
        <p:spPr>
          <a:xfrm rot="16200000">
            <a:off x="5435927" y="2334699"/>
            <a:ext cx="199094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Outlet speed (m/s)</a:t>
            </a:r>
          </a:p>
        </p:txBody>
      </p:sp>
      <p:sp>
        <p:nvSpPr>
          <p:cNvPr id="105" name="polygon 104: plot geometry" descr="sci-ppt:obj-0104"/>
          <p:cNvSpPr/>
          <p:nvPr/>
        </p:nvSpPr>
        <p:spPr>
          <a:xfrm>
            <a:off x="7230943" y="598189"/>
            <a:ext cx="4597917" cy="2735815"/>
          </a:xfrm>
          <a:custGeom>
            <a:avLst/>
            <a:gdLst/>
            <a:ahLst/>
            <a:cxnLst/>
            <a:rect l="l" t="t" r="r" b="b"/>
            <a:pathLst>
              <a:path w="4597917" h="2735815">
                <a:moveTo>
                  <a:pt x="0" y="2735815"/>
                </a:moveTo>
                <a:lnTo>
                  <a:pt x="1532639" y="1470568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3479CB">
                <a:alpha val="7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polygon 105: plot geometry" descr="sci-ppt:obj-0105"/>
          <p:cNvSpPr/>
          <p:nvPr/>
        </p:nvSpPr>
        <p:spPr>
          <a:xfrm>
            <a:off x="7230943" y="3396625"/>
            <a:ext cx="4597917" cy="795400"/>
          </a:xfrm>
          <a:custGeom>
            <a:avLst/>
            <a:gdLst/>
            <a:ahLst/>
            <a:cxnLst/>
            <a:rect l="l" t="t" r="r" b="b"/>
            <a:pathLst>
              <a:path w="4597917" h="795400">
                <a:moveTo>
                  <a:pt x="0" y="795400"/>
                </a:moveTo>
                <a:lnTo>
                  <a:pt x="1532639" y="380266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polygon 106: plot geometry" descr="sci-ppt:obj-0106"/>
          <p:cNvSpPr/>
          <p:nvPr/>
        </p:nvSpPr>
        <p:spPr>
          <a:xfrm>
            <a:off x="7230943" y="2198614"/>
            <a:ext cx="4597917" cy="1641489"/>
          </a:xfrm>
          <a:custGeom>
            <a:avLst/>
            <a:gdLst/>
            <a:ahLst/>
            <a:cxnLst/>
            <a:rect l="l" t="t" r="r" b="b"/>
            <a:pathLst>
              <a:path w="4597917" h="1641489">
                <a:moveTo>
                  <a:pt x="0" y="1641489"/>
                </a:moveTo>
                <a:lnTo>
                  <a:pt x="1532639" y="882341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D16B34">
                <a:alpha val="7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polygon 107: plot geometry" descr="sci-ppt:obj-0107"/>
          <p:cNvSpPr/>
          <p:nvPr/>
        </p:nvSpPr>
        <p:spPr>
          <a:xfrm>
            <a:off x="7230943" y="3535978"/>
            <a:ext cx="4597917" cy="679441"/>
          </a:xfrm>
          <a:custGeom>
            <a:avLst/>
            <a:gdLst/>
            <a:ahLst/>
            <a:cxnLst/>
            <a:rect l="l" t="t" r="r" b="b"/>
            <a:pathLst>
              <a:path w="4597917" h="679441">
                <a:moveTo>
                  <a:pt x="0" y="679441"/>
                </a:moveTo>
                <a:lnTo>
                  <a:pt x="1532639" y="331794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olygon 108: plot geometry" descr="sci-ppt:obj-0108"/>
          <p:cNvSpPr/>
          <p:nvPr/>
        </p:nvSpPr>
        <p:spPr>
          <a:xfrm>
            <a:off x="7230943" y="3398932"/>
            <a:ext cx="4597917" cy="820745"/>
          </a:xfrm>
          <a:custGeom>
            <a:avLst/>
            <a:gdLst/>
            <a:ahLst/>
            <a:cxnLst/>
            <a:rect l="l" t="t" r="r" b="b"/>
            <a:pathLst>
              <a:path w="4597917" h="820745">
                <a:moveTo>
                  <a:pt x="0" y="820745"/>
                </a:moveTo>
                <a:lnTo>
                  <a:pt x="1532639" y="441171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9460A5">
                <a:alpha val="7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polygon 109: plot geometry" descr="sci-ppt:obj-0109"/>
          <p:cNvSpPr/>
          <p:nvPr/>
        </p:nvSpPr>
        <p:spPr>
          <a:xfrm>
            <a:off x="7230943" y="3809453"/>
            <a:ext cx="4597917" cy="511016"/>
          </a:xfrm>
          <a:custGeom>
            <a:avLst/>
            <a:gdLst/>
            <a:ahLst/>
            <a:cxnLst/>
            <a:rect l="l" t="t" r="r" b="b"/>
            <a:pathLst>
              <a:path w="4597917" h="511016">
                <a:moveTo>
                  <a:pt x="0" y="511016"/>
                </a:moveTo>
                <a:lnTo>
                  <a:pt x="1532639" y="255200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line 110: plot geometry" descr="sci-ppt:obj-0110"/>
          <p:cNvCxnSpPr/>
          <p:nvPr/>
        </p:nvCxnSpPr>
        <p:spPr>
          <a:xfrm flipV="1">
            <a:off x="7001047" y="412075"/>
            <a:ext cx="0" cy="4094508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cxnSp>
        <p:nvCxnSpPr>
          <p:cNvPr id="112" name="line 111: plot geometry" descr="sci-ppt:obj-0111"/>
          <p:cNvCxnSpPr/>
          <p:nvPr/>
        </p:nvCxnSpPr>
        <p:spPr>
          <a:xfrm>
            <a:off x="7001047" y="4506583"/>
            <a:ext cx="5057709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13" name="text 112: Solved speeds and energy ceilings" descr="sci-ppt:obj-0112"/>
          <p:cNvSpPr txBox="1"/>
          <p:nvPr/>
        </p:nvSpPr>
        <p:spPr>
          <a:xfrm>
            <a:off x="7582147" y="73081"/>
            <a:ext cx="4387009" cy="2991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44" b="0" i="0">
                <a:solidFill>
                  <a:srgbClr val="000000"/>
                </a:solidFill>
                <a:latin typeface="Arial"/>
              </a:rPr>
              <a:t>Solved speeds and energy ceilings</a:t>
            </a:r>
          </a:p>
        </p:txBody>
      </p:sp>
      <p:sp>
        <p:nvSpPr>
          <p:cNvPr id="114" name="polygon 113: plot geometry" descr="sci-ppt:obj-0113"/>
          <p:cNvSpPr/>
          <p:nvPr/>
        </p:nvSpPr>
        <p:spPr>
          <a:xfrm>
            <a:off x="7133985" y="605551"/>
            <a:ext cx="295420" cy="0"/>
          </a:xfrm>
          <a:custGeom>
            <a:avLst/>
            <a:gdLst/>
            <a:ahLst/>
            <a:cxnLst/>
            <a:rect l="l" t="t" r="r" b="b"/>
            <a:pathLst>
              <a:path w="295420" h="0">
                <a:moveTo>
                  <a:pt x="0" y="0"/>
                </a:moveTo>
                <a:lnTo>
                  <a:pt x="147710" y="0"/>
                </a:lnTo>
                <a:lnTo>
                  <a:pt x="295420" y="0"/>
                </a:lnTo>
              </a:path>
            </a:pathLst>
          </a:custGeom>
          <a:noFill/>
          <a:ln w="27695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olygon 114: plot geometry" descr="sci-ppt:obj-0114"/>
          <p:cNvSpPr/>
          <p:nvPr/>
        </p:nvSpPr>
        <p:spPr>
          <a:xfrm>
            <a:off x="7226304" y="550160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2"/>
                </a:lnTo>
                <a:lnTo>
                  <a:pt x="66248" y="109708"/>
                </a:lnTo>
                <a:lnTo>
                  <a:pt x="69766" y="108884"/>
                </a:lnTo>
                <a:lnTo>
                  <a:pt x="73217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1" y="99367"/>
                </a:lnTo>
                <a:lnTo>
                  <a:pt x="91886" y="97060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6" y="86122"/>
                </a:lnTo>
                <a:lnTo>
                  <a:pt x="103381" y="83052"/>
                </a:lnTo>
                <a:lnTo>
                  <a:pt x="105079" y="79870"/>
                </a:lnTo>
                <a:lnTo>
                  <a:pt x="106566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2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3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6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6" y="24660"/>
                </a:lnTo>
                <a:lnTo>
                  <a:pt x="99367" y="21711"/>
                </a:lnTo>
                <a:lnTo>
                  <a:pt x="97060" y="18896"/>
                </a:lnTo>
                <a:lnTo>
                  <a:pt x="94558" y="16224"/>
                </a:lnTo>
                <a:lnTo>
                  <a:pt x="91886" y="13722"/>
                </a:lnTo>
                <a:lnTo>
                  <a:pt x="89071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3"/>
                </a:lnTo>
                <a:lnTo>
                  <a:pt x="76588" y="4216"/>
                </a:lnTo>
                <a:lnTo>
                  <a:pt x="73217" y="2947"/>
                </a:lnTo>
                <a:lnTo>
                  <a:pt x="69766" y="1898"/>
                </a:lnTo>
                <a:lnTo>
                  <a:pt x="66248" y="1074"/>
                </a:lnTo>
                <a:lnTo>
                  <a:pt x="62672" y="480"/>
                </a:lnTo>
                <a:lnTo>
                  <a:pt x="59049" y="121"/>
                </a:lnTo>
                <a:lnTo>
                  <a:pt x="55391" y="0"/>
                </a:lnTo>
                <a:lnTo>
                  <a:pt x="51733" y="121"/>
                </a:lnTo>
                <a:lnTo>
                  <a:pt x="48110" y="480"/>
                </a:lnTo>
                <a:lnTo>
                  <a:pt x="44535" y="1074"/>
                </a:lnTo>
                <a:lnTo>
                  <a:pt x="41016" y="1898"/>
                </a:lnTo>
                <a:lnTo>
                  <a:pt x="37565" y="2947"/>
                </a:lnTo>
                <a:lnTo>
                  <a:pt x="34194" y="4216"/>
                </a:lnTo>
                <a:lnTo>
                  <a:pt x="30912" y="5703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4"/>
                </a:lnTo>
                <a:lnTo>
                  <a:pt x="13722" y="18896"/>
                </a:lnTo>
                <a:lnTo>
                  <a:pt x="11415" y="21711"/>
                </a:lnTo>
                <a:lnTo>
                  <a:pt x="9307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7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3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2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7" y="76588"/>
                </a:lnTo>
                <a:lnTo>
                  <a:pt x="5703" y="79870"/>
                </a:lnTo>
                <a:lnTo>
                  <a:pt x="7401" y="83052"/>
                </a:lnTo>
                <a:lnTo>
                  <a:pt x="9307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60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5" y="109708"/>
                </a:lnTo>
                <a:lnTo>
                  <a:pt x="48110" y="110302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3479CB"/>
          </a:solidFill>
          <a:ln w="18463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 115: 3 µm: solved / dashed ceiling" descr="sci-ppt:obj-0115"/>
          <p:cNvSpPr txBox="1"/>
          <p:nvPr/>
        </p:nvSpPr>
        <p:spPr>
          <a:xfrm>
            <a:off x="7520140" y="505108"/>
            <a:ext cx="2600462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3 µm: solved / dashed ceiling</a:t>
            </a:r>
          </a:p>
        </p:txBody>
      </p:sp>
      <p:sp>
        <p:nvSpPr>
          <p:cNvPr id="117" name="polygon 116: plot geometry" descr="sci-ppt:obj-0116"/>
          <p:cNvSpPr/>
          <p:nvPr/>
        </p:nvSpPr>
        <p:spPr>
          <a:xfrm>
            <a:off x="7133985" y="827127"/>
            <a:ext cx="295420" cy="0"/>
          </a:xfrm>
          <a:custGeom>
            <a:avLst/>
            <a:gdLst/>
            <a:ahLst/>
            <a:cxnLst/>
            <a:rect l="l" t="t" r="r" b="b"/>
            <a:pathLst>
              <a:path w="295420" h="0">
                <a:moveTo>
                  <a:pt x="0" y="0"/>
                </a:moveTo>
                <a:lnTo>
                  <a:pt x="147710" y="0"/>
                </a:lnTo>
                <a:lnTo>
                  <a:pt x="295420" y="0"/>
                </a:lnTo>
              </a:path>
            </a:pathLst>
          </a:custGeom>
          <a:noFill/>
          <a:ln w="27695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polygon 117: plot geometry" descr="sci-ppt:obj-0117"/>
          <p:cNvSpPr/>
          <p:nvPr/>
        </p:nvSpPr>
        <p:spPr>
          <a:xfrm>
            <a:off x="7226304" y="771736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1"/>
                </a:lnTo>
                <a:lnTo>
                  <a:pt x="66248" y="109708"/>
                </a:lnTo>
                <a:lnTo>
                  <a:pt x="69766" y="108884"/>
                </a:lnTo>
                <a:lnTo>
                  <a:pt x="73217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1" y="99367"/>
                </a:lnTo>
                <a:lnTo>
                  <a:pt x="91886" y="97059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6" y="86122"/>
                </a:lnTo>
                <a:lnTo>
                  <a:pt x="103381" y="83052"/>
                </a:lnTo>
                <a:lnTo>
                  <a:pt x="105079" y="79870"/>
                </a:lnTo>
                <a:lnTo>
                  <a:pt x="106566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1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3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6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6" y="24660"/>
                </a:lnTo>
                <a:lnTo>
                  <a:pt x="99367" y="21711"/>
                </a:lnTo>
                <a:lnTo>
                  <a:pt x="97060" y="18896"/>
                </a:lnTo>
                <a:lnTo>
                  <a:pt x="94558" y="16223"/>
                </a:lnTo>
                <a:lnTo>
                  <a:pt x="91886" y="13722"/>
                </a:lnTo>
                <a:lnTo>
                  <a:pt x="89071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3"/>
                </a:lnTo>
                <a:lnTo>
                  <a:pt x="76588" y="4216"/>
                </a:lnTo>
                <a:lnTo>
                  <a:pt x="73217" y="2947"/>
                </a:lnTo>
                <a:lnTo>
                  <a:pt x="69766" y="1898"/>
                </a:lnTo>
                <a:lnTo>
                  <a:pt x="66248" y="1074"/>
                </a:lnTo>
                <a:lnTo>
                  <a:pt x="62672" y="480"/>
                </a:lnTo>
                <a:lnTo>
                  <a:pt x="59049" y="121"/>
                </a:lnTo>
                <a:lnTo>
                  <a:pt x="55391" y="0"/>
                </a:lnTo>
                <a:lnTo>
                  <a:pt x="51733" y="121"/>
                </a:lnTo>
                <a:lnTo>
                  <a:pt x="48110" y="480"/>
                </a:lnTo>
                <a:lnTo>
                  <a:pt x="44535" y="1074"/>
                </a:lnTo>
                <a:lnTo>
                  <a:pt x="41016" y="1898"/>
                </a:lnTo>
                <a:lnTo>
                  <a:pt x="37565" y="2947"/>
                </a:lnTo>
                <a:lnTo>
                  <a:pt x="34194" y="4216"/>
                </a:lnTo>
                <a:lnTo>
                  <a:pt x="30912" y="5703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3"/>
                </a:lnTo>
                <a:lnTo>
                  <a:pt x="13722" y="18896"/>
                </a:lnTo>
                <a:lnTo>
                  <a:pt x="11415" y="21711"/>
                </a:lnTo>
                <a:lnTo>
                  <a:pt x="9307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7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3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1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7" y="76588"/>
                </a:lnTo>
                <a:lnTo>
                  <a:pt x="5703" y="79870"/>
                </a:lnTo>
                <a:lnTo>
                  <a:pt x="7401" y="83052"/>
                </a:lnTo>
                <a:lnTo>
                  <a:pt x="9307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59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5" y="109708"/>
                </a:lnTo>
                <a:lnTo>
                  <a:pt x="48110" y="110301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D16B34"/>
          </a:solidFill>
          <a:ln w="18463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 118: 5 µm: solved / dashed ceiling" descr="sci-ppt:obj-0118"/>
          <p:cNvSpPr txBox="1"/>
          <p:nvPr/>
        </p:nvSpPr>
        <p:spPr>
          <a:xfrm>
            <a:off x="7520140" y="726684"/>
            <a:ext cx="2600462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5 µm: solved / dashed ceiling</a:t>
            </a:r>
          </a:p>
        </p:txBody>
      </p:sp>
      <p:sp>
        <p:nvSpPr>
          <p:cNvPr id="120" name="polygon 119: plot geometry" descr="sci-ppt:obj-0119"/>
          <p:cNvSpPr/>
          <p:nvPr/>
        </p:nvSpPr>
        <p:spPr>
          <a:xfrm>
            <a:off x="7133985" y="1048703"/>
            <a:ext cx="295420" cy="0"/>
          </a:xfrm>
          <a:custGeom>
            <a:avLst/>
            <a:gdLst/>
            <a:ahLst/>
            <a:cxnLst/>
            <a:rect l="l" t="t" r="r" b="b"/>
            <a:pathLst>
              <a:path w="295420" h="0">
                <a:moveTo>
                  <a:pt x="0" y="0"/>
                </a:moveTo>
                <a:lnTo>
                  <a:pt x="147710" y="0"/>
                </a:lnTo>
                <a:lnTo>
                  <a:pt x="295420" y="0"/>
                </a:lnTo>
              </a:path>
            </a:pathLst>
          </a:custGeom>
          <a:noFill/>
          <a:ln w="27695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polygon 120: plot geometry" descr="sci-ppt:obj-0120"/>
          <p:cNvSpPr/>
          <p:nvPr/>
        </p:nvSpPr>
        <p:spPr>
          <a:xfrm>
            <a:off x="7226304" y="993312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1"/>
                </a:lnTo>
                <a:lnTo>
                  <a:pt x="66248" y="109708"/>
                </a:lnTo>
                <a:lnTo>
                  <a:pt x="69766" y="108884"/>
                </a:lnTo>
                <a:lnTo>
                  <a:pt x="73217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1" y="99367"/>
                </a:lnTo>
                <a:lnTo>
                  <a:pt x="91886" y="97059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6" y="86122"/>
                </a:lnTo>
                <a:lnTo>
                  <a:pt x="103381" y="83051"/>
                </a:lnTo>
                <a:lnTo>
                  <a:pt x="105079" y="79870"/>
                </a:lnTo>
                <a:lnTo>
                  <a:pt x="106566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1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2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6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6" y="24660"/>
                </a:lnTo>
                <a:lnTo>
                  <a:pt x="99367" y="21711"/>
                </a:lnTo>
                <a:lnTo>
                  <a:pt x="97060" y="18895"/>
                </a:lnTo>
                <a:lnTo>
                  <a:pt x="94558" y="16223"/>
                </a:lnTo>
                <a:lnTo>
                  <a:pt x="91886" y="13722"/>
                </a:lnTo>
                <a:lnTo>
                  <a:pt x="89071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2"/>
                </a:lnTo>
                <a:lnTo>
                  <a:pt x="76588" y="4216"/>
                </a:lnTo>
                <a:lnTo>
                  <a:pt x="73217" y="2946"/>
                </a:lnTo>
                <a:lnTo>
                  <a:pt x="69766" y="1897"/>
                </a:lnTo>
                <a:lnTo>
                  <a:pt x="66248" y="1074"/>
                </a:lnTo>
                <a:lnTo>
                  <a:pt x="62672" y="480"/>
                </a:lnTo>
                <a:lnTo>
                  <a:pt x="59049" y="120"/>
                </a:lnTo>
                <a:lnTo>
                  <a:pt x="55391" y="0"/>
                </a:lnTo>
                <a:lnTo>
                  <a:pt x="51733" y="120"/>
                </a:lnTo>
                <a:lnTo>
                  <a:pt x="48110" y="480"/>
                </a:lnTo>
                <a:lnTo>
                  <a:pt x="44535" y="1074"/>
                </a:lnTo>
                <a:lnTo>
                  <a:pt x="41016" y="1897"/>
                </a:lnTo>
                <a:lnTo>
                  <a:pt x="37565" y="2946"/>
                </a:lnTo>
                <a:lnTo>
                  <a:pt x="34194" y="4216"/>
                </a:lnTo>
                <a:lnTo>
                  <a:pt x="30912" y="5702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3"/>
                </a:lnTo>
                <a:lnTo>
                  <a:pt x="13722" y="18895"/>
                </a:lnTo>
                <a:lnTo>
                  <a:pt x="11415" y="21711"/>
                </a:lnTo>
                <a:lnTo>
                  <a:pt x="9307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7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2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1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7" y="76588"/>
                </a:lnTo>
                <a:lnTo>
                  <a:pt x="5703" y="79870"/>
                </a:lnTo>
                <a:lnTo>
                  <a:pt x="7401" y="83051"/>
                </a:lnTo>
                <a:lnTo>
                  <a:pt x="9307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59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5" y="109708"/>
                </a:lnTo>
                <a:lnTo>
                  <a:pt x="48110" y="110301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9460A5"/>
          </a:solidFill>
          <a:ln w="18463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 121: 10 µm: solved / dashed ceiling" descr="sci-ppt:obj-0121"/>
          <p:cNvSpPr txBox="1"/>
          <p:nvPr/>
        </p:nvSpPr>
        <p:spPr>
          <a:xfrm>
            <a:off x="7520140" y="948260"/>
            <a:ext cx="2687611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10 µm: solved / dashed ceiling</a:t>
            </a:r>
          </a:p>
        </p:txBody>
      </p:sp>
      <p:sp>
        <p:nvSpPr>
          <p:cNvPr id="123" name="Original data sample marker 121" descr="sci-ppt:sample-marker-121"/>
          <p:cNvSpPr/>
          <p:nvPr/>
        </p:nvSpPr>
        <p:spPr>
          <a:xfrm>
            <a:off x="1106301" y="3747559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Original data sample marker 122" descr="sci-ppt:sample-marker-122"/>
          <p:cNvSpPr/>
          <p:nvPr/>
        </p:nvSpPr>
        <p:spPr>
          <a:xfrm>
            <a:off x="2638940" y="2074936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riginal data sample marker 123" descr="sci-ppt:sample-marker-123"/>
          <p:cNvSpPr/>
          <p:nvPr/>
        </p:nvSpPr>
        <p:spPr>
          <a:xfrm>
            <a:off x="5704218" y="542797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Original data sample marker 124" descr="sci-ppt:sample-marker-124"/>
          <p:cNvSpPr/>
          <p:nvPr/>
        </p:nvSpPr>
        <p:spPr>
          <a:xfrm>
            <a:off x="1106301" y="3841819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riginal data sample marker 125" descr="sci-ppt:sample-marker-125"/>
          <p:cNvSpPr/>
          <p:nvPr/>
        </p:nvSpPr>
        <p:spPr>
          <a:xfrm>
            <a:off x="2638940" y="2441104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riginal data sample marker 126" descr="sci-ppt:sample-marker-126"/>
          <p:cNvSpPr/>
          <p:nvPr/>
        </p:nvSpPr>
        <p:spPr>
          <a:xfrm>
            <a:off x="5704218" y="1104266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riginal data sample marker 127" descr="sci-ppt:sample-marker-127"/>
          <p:cNvSpPr/>
          <p:nvPr/>
        </p:nvSpPr>
        <p:spPr>
          <a:xfrm>
            <a:off x="1106301" y="4265078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Original data sample marker 128" descr="sci-ppt:sample-marker-128"/>
          <p:cNvSpPr/>
          <p:nvPr/>
        </p:nvSpPr>
        <p:spPr>
          <a:xfrm>
            <a:off x="2638940" y="3234362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riginal data sample marker 129" descr="sci-ppt:sample-marker-129"/>
          <p:cNvSpPr/>
          <p:nvPr/>
        </p:nvSpPr>
        <p:spPr>
          <a:xfrm>
            <a:off x="5704218" y="2206130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Original data sample marker 130" descr="sci-ppt:sample-marker-130"/>
          <p:cNvSpPr/>
          <p:nvPr/>
        </p:nvSpPr>
        <p:spPr>
          <a:xfrm>
            <a:off x="7175552" y="4136633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Original data sample marker 131" descr="sci-ppt:sample-marker-131"/>
          <p:cNvSpPr/>
          <p:nvPr/>
        </p:nvSpPr>
        <p:spPr>
          <a:xfrm>
            <a:off x="8708191" y="3721500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Original data sample marker 132" descr="sci-ppt:sample-marker-132"/>
          <p:cNvSpPr/>
          <p:nvPr/>
        </p:nvSpPr>
        <p:spPr>
          <a:xfrm>
            <a:off x="11773469" y="3341234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Original data sample marker 133" descr="sci-ppt:sample-marker-133"/>
          <p:cNvSpPr/>
          <p:nvPr/>
        </p:nvSpPr>
        <p:spPr>
          <a:xfrm>
            <a:off x="7175552" y="4160028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Original data sample marker 134" descr="sci-ppt:sample-marker-134"/>
          <p:cNvSpPr/>
          <p:nvPr/>
        </p:nvSpPr>
        <p:spPr>
          <a:xfrm>
            <a:off x="8708191" y="3812381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Original data sample marker 135" descr="sci-ppt:sample-marker-135"/>
          <p:cNvSpPr/>
          <p:nvPr/>
        </p:nvSpPr>
        <p:spPr>
          <a:xfrm>
            <a:off x="11773469" y="3480587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Original data sample marker 136" descr="sci-ppt:sample-marker-136"/>
          <p:cNvSpPr/>
          <p:nvPr/>
        </p:nvSpPr>
        <p:spPr>
          <a:xfrm>
            <a:off x="7175552" y="4265078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Original data sample marker 137" descr="sci-ppt:sample-marker-137"/>
          <p:cNvSpPr/>
          <p:nvPr/>
        </p:nvSpPr>
        <p:spPr>
          <a:xfrm>
            <a:off x="8708191" y="4009262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Original data sample marker 138" descr="sci-ppt:sample-marker-138"/>
          <p:cNvSpPr/>
          <p:nvPr/>
        </p:nvSpPr>
        <p:spPr>
          <a:xfrm>
            <a:off x="11773469" y="3754062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