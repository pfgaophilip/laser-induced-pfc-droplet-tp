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8961120" cy="587044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0" descr="sci-ppt:obj-000"/>
          <p:cNvSpPr txBox="1"/>
          <p:nvPr/>
        </p:nvSpPr>
        <p:spPr>
          <a:xfrm>
            <a:off x="256032" y="137160"/>
            <a:ext cx="7315200" cy="310896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439" b="0" i="0">
                <a:solidFill>
                  <a:srgbClr val="8EDBD4"/>
                </a:solidFill>
                <a:latin typeface="Arial"/>
              </a:rPr>
              <a:t>A-E10 · Physical variable map</a:t>
            </a:r>
          </a:p>
        </p:txBody>
      </p:sp>
      <p:sp>
        <p:nvSpPr>
          <p:cNvPr id="3" name="ellipse 1" descr="sci-ppt:obj-001"/>
          <p:cNvSpPr/>
          <p:nvPr/>
        </p:nvSpPr>
        <p:spPr>
          <a:xfrm>
            <a:off x="1060704" y="914400"/>
            <a:ext cx="1463040" cy="1463040"/>
          </a:xfrm>
          <a:prstGeom prst="ellipse">
            <a:avLst/>
          </a:prstGeom>
          <a:noFill/>
          <a:ln w="1778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ellipse 2" descr="sci-ppt:obj-002"/>
          <p:cNvSpPr/>
          <p:nvPr/>
        </p:nvSpPr>
        <p:spPr>
          <a:xfrm>
            <a:off x="1463040" y="1316736"/>
            <a:ext cx="658368" cy="658368"/>
          </a:xfrm>
          <a:prstGeom prst="ellipse">
            <a:avLst/>
          </a:prstGeom>
          <a:solidFill>
            <a:srgbClr val="213E4B"/>
          </a:solidFill>
          <a:ln w="1778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5" name="arrow 3" descr="sci-ppt:obj-003"/>
          <p:cNvCxnSpPr/>
          <p:nvPr/>
        </p:nvCxnSpPr>
        <p:spPr>
          <a:xfrm>
            <a:off x="1792224" y="1645920"/>
            <a:ext cx="329184" cy="0"/>
          </a:xfrm>
          <a:prstGeom prst="line">
            <a:avLst/>
          </a:prstGeom>
          <a:ln w="2159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sp>
        <p:nvSpPr>
          <p:cNvPr id="6" name="text 4" descr="sci-ppt:obj-004"/>
          <p:cNvSpPr txBox="1"/>
          <p:nvPr/>
        </p:nvSpPr>
        <p:spPr>
          <a:xfrm>
            <a:off x="1755648" y="1271016"/>
            <a:ext cx="1097280" cy="310896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96" b="0" i="0">
                <a:solidFill>
                  <a:srgbClr val="E7F0F3"/>
                </a:solidFill>
                <a:latin typeface="Arial"/>
              </a:rPr>
              <a:t>Rref</a:t>
            </a:r>
          </a:p>
        </p:txBody>
      </p:sp>
      <p:cxnSp>
        <p:nvCxnSpPr>
          <p:cNvPr id="7" name="arrow 5" descr="sci-ppt:obj-005"/>
          <p:cNvCxnSpPr/>
          <p:nvPr/>
        </p:nvCxnSpPr>
        <p:spPr>
          <a:xfrm>
            <a:off x="1792224" y="1645920"/>
            <a:ext cx="517262" cy="517262"/>
          </a:xfrm>
          <a:prstGeom prst="line">
            <a:avLst/>
          </a:prstGeom>
          <a:ln w="2159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sp>
        <p:nvSpPr>
          <p:cNvPr id="8" name="text 6" descr="sci-ppt:obj-006"/>
          <p:cNvSpPr txBox="1"/>
          <p:nvPr/>
        </p:nvSpPr>
        <p:spPr>
          <a:xfrm>
            <a:off x="2304288" y="2139696"/>
            <a:ext cx="822960" cy="310896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96" b="0" i="0">
                <a:solidFill>
                  <a:srgbClr val="E7F0F3"/>
                </a:solidFill>
                <a:latin typeface="Arial"/>
              </a:rPr>
              <a:t>r₀</a:t>
            </a:r>
          </a:p>
        </p:txBody>
      </p:sp>
      <p:sp>
        <p:nvSpPr>
          <p:cNvPr id="9" name="ellipse 7" descr="sci-ppt:obj-007"/>
          <p:cNvSpPr/>
          <p:nvPr/>
        </p:nvSpPr>
        <p:spPr>
          <a:xfrm>
            <a:off x="4682139" y="750219"/>
            <a:ext cx="1791401" cy="1791401"/>
          </a:xfrm>
          <a:prstGeom prst="ellipse">
            <a:avLst/>
          </a:prstGeom>
          <a:noFill/>
          <a:ln w="1778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ellipse 8" descr="sci-ppt:obj-008"/>
          <p:cNvSpPr/>
          <p:nvPr/>
        </p:nvSpPr>
        <p:spPr>
          <a:xfrm>
            <a:off x="4864608" y="932688"/>
            <a:ext cx="1426464" cy="1426464"/>
          </a:xfrm>
          <a:prstGeom prst="ellipse">
            <a:avLst/>
          </a:prstGeom>
          <a:solidFill>
            <a:srgbClr val="213E4B"/>
          </a:solidFill>
          <a:ln w="1778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1" name="arrow 9" descr="sci-ppt:obj-009"/>
          <p:cNvCxnSpPr/>
          <p:nvPr/>
        </p:nvCxnSpPr>
        <p:spPr>
          <a:xfrm>
            <a:off x="5577840" y="1645920"/>
            <a:ext cx="713232" cy="0"/>
          </a:xfrm>
          <a:prstGeom prst="line">
            <a:avLst/>
          </a:prstGeom>
          <a:ln w="2159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sp>
        <p:nvSpPr>
          <p:cNvPr id="12" name="text 10" descr="sci-ppt:obj-010"/>
          <p:cNvSpPr txBox="1"/>
          <p:nvPr/>
        </p:nvSpPr>
        <p:spPr>
          <a:xfrm>
            <a:off x="5952744" y="1271016"/>
            <a:ext cx="640080" cy="310896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96" b="0" i="0">
                <a:solidFill>
                  <a:srgbClr val="E7F0F3"/>
                </a:solidFill>
                <a:latin typeface="Arial"/>
              </a:rPr>
              <a:t>R</a:t>
            </a:r>
          </a:p>
        </p:txBody>
      </p:sp>
      <p:cxnSp>
        <p:nvCxnSpPr>
          <p:cNvPr id="13" name="arrow 11" descr="sci-ppt:obj-011"/>
          <p:cNvCxnSpPr/>
          <p:nvPr/>
        </p:nvCxnSpPr>
        <p:spPr>
          <a:xfrm>
            <a:off x="5577840" y="1645920"/>
            <a:ext cx="633355" cy="633355"/>
          </a:xfrm>
          <a:prstGeom prst="line">
            <a:avLst/>
          </a:prstGeom>
          <a:ln w="2159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sp>
        <p:nvSpPr>
          <p:cNvPr id="14" name="text 12" descr="sci-ppt:obj-012"/>
          <p:cNvSpPr txBox="1"/>
          <p:nvPr/>
        </p:nvSpPr>
        <p:spPr>
          <a:xfrm>
            <a:off x="6373368" y="2231136"/>
            <a:ext cx="640080" cy="310896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96" b="0" i="0">
                <a:solidFill>
                  <a:srgbClr val="E7F0F3"/>
                </a:solidFill>
                <a:latin typeface="Arial"/>
              </a:rPr>
              <a:t>r</a:t>
            </a:r>
          </a:p>
        </p:txBody>
      </p:sp>
      <p:cxnSp>
        <p:nvCxnSpPr>
          <p:cNvPr id="15" name="arrow 13" descr="sci-ppt:obj-013"/>
          <p:cNvCxnSpPr/>
          <p:nvPr/>
        </p:nvCxnSpPr>
        <p:spPr>
          <a:xfrm>
            <a:off x="2697480" y="1645920"/>
            <a:ext cx="1691640" cy="0"/>
          </a:xfrm>
          <a:prstGeom prst="line">
            <a:avLst/>
          </a:prstGeom>
          <a:ln w="2159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sp>
        <p:nvSpPr>
          <p:cNvPr id="16" name="text 14" descr="sci-ppt:obj-014"/>
          <p:cNvSpPr txBox="1"/>
          <p:nvPr/>
        </p:nvSpPr>
        <p:spPr>
          <a:xfrm>
            <a:off x="2834640" y="1143000"/>
            <a:ext cx="2286000" cy="310896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96" b="0" i="0">
                <a:solidFill>
                  <a:srgbClr val="E7F0F3"/>
                </a:solidFill>
                <a:latin typeface="Arial"/>
              </a:rPr>
              <a:t>Material map</a:t>
            </a:r>
          </a:p>
        </p:txBody>
      </p:sp>
      <p:sp>
        <p:nvSpPr>
          <p:cNvPr id="17" name="text 15" descr="sci-ppt:obj-015"/>
          <p:cNvSpPr txBox="1"/>
          <p:nvPr/>
        </p:nvSpPr>
        <p:spPr>
          <a:xfrm>
            <a:off x="1005840" y="2578608"/>
            <a:ext cx="2286000" cy="310896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96" b="0" i="0">
                <a:solidFill>
                  <a:srgbClr val="E7F0F3"/>
                </a:solidFill>
                <a:latin typeface="Arial"/>
              </a:rPr>
              <a:t>Reference</a:t>
            </a:r>
          </a:p>
        </p:txBody>
      </p:sp>
      <p:sp>
        <p:nvSpPr>
          <p:cNvPr id="18" name="text 16" descr="sci-ppt:obj-016"/>
          <p:cNvSpPr txBox="1"/>
          <p:nvPr/>
        </p:nvSpPr>
        <p:spPr>
          <a:xfrm>
            <a:off x="4846320" y="2660904"/>
            <a:ext cx="3383280" cy="310896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96" b="0" i="0">
                <a:solidFill>
                  <a:srgbClr val="E7F0F3"/>
                </a:solidFill>
                <a:latin typeface="Arial"/>
              </a:rPr>
              <a:t>Deformed: λr , λθ</a:t>
            </a:r>
          </a:p>
        </p:txBody>
      </p:sp>
      <p:sp>
        <p:nvSpPr>
          <p:cNvPr id="19" name="text 17" descr="sci-ppt:obj-017"/>
          <p:cNvSpPr txBox="1"/>
          <p:nvPr/>
        </p:nvSpPr>
        <p:spPr>
          <a:xfrm>
            <a:off x="6839712" y="777240"/>
            <a:ext cx="1645920" cy="310896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96" b="0" i="0">
                <a:solidFill>
                  <a:srgbClr val="E7F0F3"/>
                </a:solidFill>
                <a:latin typeface="Arial"/>
              </a:rPr>
              <a:t>Gg , ηg</a:t>
            </a:r>
          </a:p>
        </p:txBody>
      </p:sp>
      <p:sp>
        <p:nvSpPr>
          <p:cNvPr id="20" name="text 18" descr="sci-ppt:obj-018"/>
          <p:cNvSpPr txBox="1"/>
          <p:nvPr/>
        </p:nvSpPr>
        <p:spPr>
          <a:xfrm>
            <a:off x="6839712" y="1207008"/>
            <a:ext cx="1828800" cy="310896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96" b="0" i="0">
                <a:solidFill>
                  <a:srgbClr val="E7F0F3"/>
                </a:solidFill>
                <a:latin typeface="Arial"/>
              </a:rPr>
              <a:t>σrr , σθθ</a:t>
            </a:r>
          </a:p>
        </p:txBody>
      </p:sp>
      <p:sp>
        <p:nvSpPr>
          <p:cNvPr id="21" name="text 19" descr="sci-ppt:obj-019"/>
          <p:cNvSpPr txBox="1"/>
          <p:nvPr/>
        </p:nvSpPr>
        <p:spPr>
          <a:xfrm>
            <a:off x="6839712" y="1645920"/>
            <a:ext cx="1371600" cy="310896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96" b="0" i="0">
                <a:solidFill>
                  <a:srgbClr val="E7F0F3"/>
                </a:solidFill>
                <a:latin typeface="Arial"/>
              </a:rPr>
              <a:t>p∞</a:t>
            </a:r>
          </a:p>
        </p:txBody>
      </p:sp>
      <p:sp>
        <p:nvSpPr>
          <p:cNvPr id="22" name="text 20" descr="sci-ppt:obj-020"/>
          <p:cNvSpPr txBox="1"/>
          <p:nvPr/>
        </p:nvSpPr>
        <p:spPr>
          <a:xfrm>
            <a:off x="5266944" y="1682496"/>
            <a:ext cx="822960" cy="310896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96" b="0" i="0">
                <a:solidFill>
                  <a:srgbClr val="E7F0F3"/>
                </a:solidFill>
                <a:latin typeface="Arial"/>
              </a:rPr>
              <a:t>pb</a:t>
            </a:r>
          </a:p>
        </p:txBody>
      </p:sp>
      <p:sp>
        <p:nvSpPr>
          <p:cNvPr id="23" name="text 21" descr="sci-ppt:obj-021"/>
          <p:cNvSpPr txBox="1"/>
          <p:nvPr/>
        </p:nvSpPr>
        <p:spPr>
          <a:xfrm>
            <a:off x="868680" y="2990088"/>
            <a:ext cx="7772400" cy="310896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2" b="0" i="0">
                <a:solidFill>
                  <a:srgbClr val="E7F0F3"/>
                </a:solidFill>
                <a:latin typeface="Arial"/>
              </a:rPr>
              <a:t>r₀³ − Rref³ = r³ − R³ ; radial coordinates point outward</a:t>
            </a:r>
          </a:p>
        </p:txBody>
      </p:sp>
      <p:sp>
        <p:nvSpPr>
          <p:cNvPr id="24" name="text 22" descr="sci-ppt:obj-022"/>
          <p:cNvSpPr txBox="1"/>
          <p:nvPr/>
        </p:nvSpPr>
        <p:spPr>
          <a:xfrm>
            <a:off x="256032" y="3465576"/>
            <a:ext cx="7315200" cy="310896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96" b="0" i="0">
                <a:solidFill>
                  <a:srgbClr val="8EDBD4"/>
                </a:solidFill>
                <a:latin typeface="Arial"/>
              </a:rPr>
              <a:t>Variables and physical limits</a:t>
            </a:r>
          </a:p>
        </p:txBody>
      </p:sp>
      <p:sp>
        <p:nvSpPr>
          <p:cNvPr id="25" name="text 23" descr="sci-ppt:obj-023"/>
          <p:cNvSpPr txBox="1"/>
          <p:nvPr/>
        </p:nvSpPr>
        <p:spPr>
          <a:xfrm>
            <a:off x="365760" y="3813048"/>
            <a:ext cx="8412480" cy="310896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2" b="0" i="0">
                <a:solidFill>
                  <a:srgbClr val="E7F0F3"/>
                </a:solidFill>
                <a:latin typeface="Arial"/>
              </a:rPr>
              <a:t>• R, Ṙ, R̈: wall motion</a:t>
            </a:r>
          </a:p>
        </p:txBody>
      </p:sp>
      <p:sp>
        <p:nvSpPr>
          <p:cNvPr id="26" name="text 24" descr="sci-ppt:obj-024"/>
          <p:cNvSpPr txBox="1"/>
          <p:nvPr/>
        </p:nvSpPr>
        <p:spPr>
          <a:xfrm>
            <a:off x="365760" y="4023360"/>
            <a:ext cx="8412480" cy="310896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2" b="0" i="0">
                <a:solidFill>
                  <a:srgbClr val="E7F0F3"/>
                </a:solidFill>
                <a:latin typeface="Arial"/>
              </a:rPr>
              <a:t>• ar: material acceleration at r</a:t>
            </a:r>
          </a:p>
        </p:txBody>
      </p:sp>
      <p:sp>
        <p:nvSpPr>
          <p:cNvPr id="27" name="text 25" descr="sci-ppt:obj-025"/>
          <p:cNvSpPr txBox="1"/>
          <p:nvPr/>
        </p:nvSpPr>
        <p:spPr>
          <a:xfrm>
            <a:off x="365760" y="4233672"/>
            <a:ext cx="8412480" cy="310896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2" b="0" i="0">
                <a:solidFill>
                  <a:srgbClr val="E7F0F3"/>
                </a:solidFill>
                <a:latin typeface="Arial"/>
              </a:rPr>
              <a:t>• ρg: exterior inertia</a:t>
            </a:r>
          </a:p>
        </p:txBody>
      </p:sp>
      <p:sp>
        <p:nvSpPr>
          <p:cNvPr id="28" name="text 26" descr="sci-ppt:obj-026"/>
          <p:cNvSpPr txBox="1"/>
          <p:nvPr/>
        </p:nvSpPr>
        <p:spPr>
          <a:xfrm>
            <a:off x="365760" y="4443984"/>
            <a:ext cx="8412480" cy="310896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2" b="0" i="0">
                <a:solidFill>
                  <a:srgbClr val="E7F0F3"/>
                </a:solidFill>
                <a:latin typeface="Arial"/>
              </a:rPr>
              <a:t>• Trr, Tθθ: total stresses</a:t>
            </a:r>
          </a:p>
        </p:txBody>
      </p:sp>
      <p:sp>
        <p:nvSpPr>
          <p:cNvPr id="29" name="text 27" descr="sci-ppt:obj-027"/>
          <p:cNvSpPr txBox="1"/>
          <p:nvPr/>
        </p:nvSpPr>
        <p:spPr>
          <a:xfrm>
            <a:off x="365760" y="4654296"/>
            <a:ext cx="8412480" cy="310896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2" b="0" i="0">
                <a:solidFill>
                  <a:srgbClr val="E7F0F3"/>
                </a:solidFill>
                <a:latin typeface="Arial"/>
              </a:rPr>
              <a:t>• 4ηgṘ/R: signed resistance</a:t>
            </a:r>
          </a:p>
        </p:txBody>
      </p:sp>
      <p:sp>
        <p:nvSpPr>
          <p:cNvPr id="30" name="text 28" descr="sci-ppt:obj-028"/>
          <p:cNvSpPr txBox="1"/>
          <p:nvPr/>
        </p:nvSpPr>
        <p:spPr>
          <a:xfrm>
            <a:off x="365760" y="4864608"/>
            <a:ext cx="8412480" cy="310896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2" b="0" i="0">
                <a:solidFill>
                  <a:srgbClr val="E7F0F3"/>
                </a:solidFill>
                <a:latin typeface="Arial"/>
              </a:rPr>
              <a:t>• ur, t</a:t>
            </a:r>
          </a:p>
        </p:txBody>
      </p:sp>
      <p:sp>
        <p:nvSpPr>
          <p:cNvPr id="31" name="text 29" descr="sci-ppt:obj-029"/>
          <p:cNvSpPr txBox="1"/>
          <p:nvPr/>
        </p:nvSpPr>
        <p:spPr>
          <a:xfrm>
            <a:off x="365760" y="5074920"/>
            <a:ext cx="8412480" cy="310896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2" b="0" i="0">
                <a:solidFill>
                  <a:srgbClr val="E7F0F3"/>
                </a:solidFill>
                <a:latin typeface="Arial"/>
              </a:rPr>
              <a:t>Both Eulerian and convective acceleration are retained</a:t>
            </a:r>
          </a:p>
        </p:txBody>
      </p:sp>
      <p:sp>
        <p:nvSpPr>
          <p:cNvPr id="32" name="text 30" descr="sci-ppt:obj-030"/>
          <p:cNvSpPr txBox="1"/>
          <p:nvPr/>
        </p:nvSpPr>
        <p:spPr>
          <a:xfrm>
            <a:off x="365760" y="5285232"/>
            <a:ext cx="8412480" cy="310896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2" b="0" i="0">
                <a:solidFill>
                  <a:srgbClr val="E7F0F3"/>
                </a:solidFill>
                <a:latin typeface="Arial"/>
              </a:rPr>
              <a:t>The infinite exterior supplies effective inertia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