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-E1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A-E14 · Finite work-budget comparison</a:t>
            </a:r>
          </a:p>
        </p:txBody>
      </p:sp>
      <p:sp>
        <p:nvSpPr>
          <p:cNvPr id="3" name="A-E14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Work needed to open the cavity against a 100 kPa overpressure</a:t>
            </a:r>
          </a:p>
        </p:txBody>
      </p:sp>
      <p:sp>
        <p:nvSpPr>
          <p:cNvPr id="4" name="A-E14 text 2" descr="sci-ppt:o002"/>
          <p:cNvSpPr txBox="1"/>
          <p:nvPr/>
        </p:nvSpPr>
        <p:spPr>
          <a:xfrm>
            <a:off x="457200" y="1481328"/>
            <a:ext cx="4114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available  W₁₀₀ = Δp_w ΔV</a:t>
            </a:r>
          </a:p>
        </p:txBody>
      </p:sp>
      <p:sp>
        <p:nvSpPr>
          <p:cNvPr id="5" name="A-E14 rect 3" descr="sci-ppt:o003"/>
          <p:cNvSpPr/>
          <p:nvPr/>
        </p:nvSpPr>
        <p:spPr>
          <a:xfrm>
            <a:off x="4663440" y="1463040"/>
            <a:ext cx="5188046" cy="50292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A-E14 text 4" descr="sci-ppt:o004"/>
          <p:cNvSpPr txBox="1"/>
          <p:nvPr/>
        </p:nvSpPr>
        <p:spPr>
          <a:xfrm>
            <a:off x="9924638" y="1508760"/>
            <a:ext cx="1371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11.257 nJ</a:t>
            </a:r>
          </a:p>
        </p:txBody>
      </p:sp>
      <p:sp>
        <p:nvSpPr>
          <p:cNvPr id="7" name="A-E14 text 5" descr="sci-ppt:o005"/>
          <p:cNvSpPr txBox="1"/>
          <p:nvPr/>
        </p:nvSpPr>
        <p:spPr>
          <a:xfrm>
            <a:off x="457200" y="2258568"/>
            <a:ext cx="4114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elastic cost  W_g</a:t>
            </a:r>
          </a:p>
        </p:txBody>
      </p:sp>
      <p:sp>
        <p:nvSpPr>
          <p:cNvPr id="8" name="A-E14 rect 6" descr="sci-ppt:o006"/>
          <p:cNvSpPr/>
          <p:nvPr/>
        </p:nvSpPr>
        <p:spPr>
          <a:xfrm>
            <a:off x="4663440" y="2240280"/>
            <a:ext cx="2081251" cy="50292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A-E14 text 7" descr="sci-ppt:o007"/>
          <p:cNvSpPr txBox="1"/>
          <p:nvPr/>
        </p:nvSpPr>
        <p:spPr>
          <a:xfrm>
            <a:off x="6817843" y="2286000"/>
            <a:ext cx="1371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4.516 nJ</a:t>
            </a:r>
          </a:p>
        </p:txBody>
      </p:sp>
      <p:sp>
        <p:nvSpPr>
          <p:cNvPr id="10" name="A-E14 text 8" descr="sci-ppt:o008"/>
          <p:cNvSpPr txBox="1"/>
          <p:nvPr/>
        </p:nvSpPr>
        <p:spPr>
          <a:xfrm>
            <a:off x="457200" y="3035808"/>
            <a:ext cx="4114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left over  W₁₀₀ − W_g</a:t>
            </a:r>
          </a:p>
        </p:txBody>
      </p:sp>
      <p:sp>
        <p:nvSpPr>
          <p:cNvPr id="11" name="A-E14 rect 9" descr="sci-ppt:o009"/>
          <p:cNvSpPr/>
          <p:nvPr/>
        </p:nvSpPr>
        <p:spPr>
          <a:xfrm>
            <a:off x="4663440" y="3017520"/>
            <a:ext cx="3106795" cy="502920"/>
          </a:xfrm>
          <a:prstGeom prst="rect">
            <a:avLst/>
          </a:prstGeom>
          <a:solidFill>
            <a:srgbClr val="A8E6A1">
              <a:alpha val="85000"/>
            </a:srgbClr>
          </a:solidFill>
          <a:ln w="12700">
            <a:solidFill>
              <a:srgbClr val="A8E6A1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A-E14 text 10" descr="sci-ppt:o010"/>
          <p:cNvSpPr txBox="1"/>
          <p:nvPr/>
        </p:nvSpPr>
        <p:spPr>
          <a:xfrm>
            <a:off x="7843387" y="3063240"/>
            <a:ext cx="1371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6.741 nJ</a:t>
            </a:r>
          </a:p>
        </p:txBody>
      </p:sp>
      <p:sp>
        <p:nvSpPr>
          <p:cNvPr id="13" name="A-E14 round_rect 11" descr="sci-ppt:o011"/>
          <p:cNvSpPr/>
          <p:nvPr/>
        </p:nvSpPr>
        <p:spPr>
          <a:xfrm>
            <a:off x="457200" y="3931920"/>
            <a:ext cx="5486400" cy="1737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A-E14 text 12" descr="sci-ppt:o012"/>
          <p:cNvSpPr txBox="1"/>
          <p:nvPr/>
        </p:nvSpPr>
        <p:spPr>
          <a:xfrm>
            <a:off x="566928" y="3986783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Volume and budget</a:t>
            </a:r>
          </a:p>
        </p:txBody>
      </p:sp>
      <p:sp>
        <p:nvSpPr>
          <p:cNvPr id="15" name="A-E14 text 13" descr="sci-ppt:o013"/>
          <p:cNvSpPr txBox="1"/>
          <p:nvPr/>
        </p:nvSpPr>
        <p:spPr>
          <a:xfrm>
            <a:off x="594360" y="4389120"/>
            <a:ext cx="5212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ΔV = (4π/3)(R³ − R_ref³) = 1.12573737e-13 m³</a:t>
            </a:r>
          </a:p>
        </p:txBody>
      </p:sp>
      <p:sp>
        <p:nvSpPr>
          <p:cNvPr id="16" name="A-E14 text 14" descr="sci-ppt:o014"/>
          <p:cNvSpPr txBox="1"/>
          <p:nvPr/>
        </p:nvSpPr>
        <p:spPr>
          <a:xfrm>
            <a:off x="594360" y="4937760"/>
            <a:ext cx="5212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W₁₀₀ = (100 kPa)(ΔV) = 11.2574 nJ</a:t>
            </a:r>
          </a:p>
        </p:txBody>
      </p:sp>
      <p:sp>
        <p:nvSpPr>
          <p:cNvPr id="17" name="A-E14 round_rect 15" descr="sci-ppt:o015"/>
          <p:cNvSpPr/>
          <p:nvPr/>
        </p:nvSpPr>
        <p:spPr>
          <a:xfrm>
            <a:off x="6217920" y="3931920"/>
            <a:ext cx="5486400" cy="1737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A-E14 text 16" descr="sci-ppt:o016"/>
          <p:cNvSpPr txBox="1"/>
          <p:nvPr/>
        </p:nvSpPr>
        <p:spPr>
          <a:xfrm>
            <a:off x="6327648" y="3986783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Fraction</a:t>
            </a:r>
          </a:p>
        </p:txBody>
      </p:sp>
      <p:sp>
        <p:nvSpPr>
          <p:cNvPr id="19" name="A-E14 text 17" descr="sci-ppt:o017"/>
          <p:cNvSpPr txBox="1"/>
          <p:nvPr/>
        </p:nvSpPr>
        <p:spPr>
          <a:xfrm>
            <a:off x="6355080" y="4389120"/>
            <a:ext cx="521208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8BA0"/>
                </a:solidFill>
                <a:latin typeface="Arial"/>
              </a:rPr>
              <a:t>W_g / W₁₀₀ = 0.401163</a:t>
            </a:r>
          </a:p>
        </p:txBody>
      </p:sp>
      <p:sp>
        <p:nvSpPr>
          <p:cNvPr id="20" name="A-E14 text 18" descr="sci-ppt:o018"/>
          <p:cNvSpPr txBox="1"/>
          <p:nvPr/>
        </p:nvSpPr>
        <p:spPr>
          <a:xfrm>
            <a:off x="6355080" y="4983480"/>
            <a:ext cx="5212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about 40 % of the work budget is taken by elasticity</a:t>
            </a:r>
          </a:p>
        </p:txBody>
      </p:sp>
      <p:sp>
        <p:nvSpPr>
          <p:cNvPr id="21" name="A-E14 text 19" descr="sci-ppt:o01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Finite work-budget comparison of Eq. A-E14 (Δp_w = 100 kPa).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