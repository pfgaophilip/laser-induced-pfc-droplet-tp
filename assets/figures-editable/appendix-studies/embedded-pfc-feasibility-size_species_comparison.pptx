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46832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4683274"/>
          </a:xfrm>
          <a:custGeom>
            <a:avLst/>
            <a:gdLst/>
            <a:ahLst/>
            <a:cxnLst/>
            <a:rect l="l" t="t" r="r" b="b"/>
            <a:pathLst>
              <a:path w="12191695" h="4683274">
                <a:moveTo>
                  <a:pt x="0" y="4683274"/>
                </a:moveTo>
                <a:lnTo>
                  <a:pt x="12191695" y="4683274"/>
                </a:lnTo>
                <a:lnTo>
                  <a:pt x="12191695" y="0"/>
                </a:lnTo>
                <a:lnTo>
                  <a:pt x="0" y="0"/>
                </a:lnTo>
                <a:lnTo>
                  <a:pt x="0" y="46832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47180" y="625804"/>
            <a:ext cx="5300124" cy="3425399"/>
          </a:xfrm>
          <a:custGeom>
            <a:avLst/>
            <a:gdLst/>
            <a:ahLst/>
            <a:cxnLst/>
            <a:rect l="l" t="t" r="r" b="b"/>
            <a:pathLst>
              <a:path w="5300124" h="3425399">
                <a:moveTo>
                  <a:pt x="0" y="3425399"/>
                </a:moveTo>
                <a:lnTo>
                  <a:pt x="5300124" y="3425399"/>
                </a:lnTo>
                <a:lnTo>
                  <a:pt x="5300124" y="0"/>
                </a:lnTo>
                <a:lnTo>
                  <a:pt x="0" y="0"/>
                </a:lnTo>
                <a:lnTo>
                  <a:pt x="0" y="34253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2560685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2560685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" name="text 5: 1" descr="sci-ppt:obj-0005"/>
          <p:cNvSpPr txBox="1"/>
          <p:nvPr/>
        </p:nvSpPr>
        <p:spPr>
          <a:xfrm>
            <a:off x="2394208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 6: 0" descr="sci-ppt:obj-0006"/>
          <p:cNvSpPr txBox="1"/>
          <p:nvPr/>
        </p:nvSpPr>
        <p:spPr>
          <a:xfrm>
            <a:off x="2494736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 7: 0" descr="sci-ppt:obj-0007"/>
          <p:cNvSpPr txBox="1"/>
          <p:nvPr/>
        </p:nvSpPr>
        <p:spPr>
          <a:xfrm>
            <a:off x="2596776" y="4120493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9" name="line 8: plot geometry" descr="sci-ppt:obj-0008"/>
          <p:cNvCxnSpPr/>
          <p:nvPr/>
        </p:nvCxnSpPr>
        <p:spPr>
          <a:xfrm flipV="1">
            <a:off x="5568247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0" name="line 9: plot geometry" descr="sci-ppt:obj-0009"/>
          <p:cNvCxnSpPr/>
          <p:nvPr/>
        </p:nvCxnSpPr>
        <p:spPr>
          <a:xfrm>
            <a:off x="5568247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" name="text 10: 1" descr="sci-ppt:obj-0010"/>
          <p:cNvSpPr txBox="1"/>
          <p:nvPr/>
        </p:nvSpPr>
        <p:spPr>
          <a:xfrm>
            <a:off x="5401770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" name="text 11: 0" descr="sci-ppt:obj-0011"/>
          <p:cNvSpPr txBox="1"/>
          <p:nvPr/>
        </p:nvSpPr>
        <p:spPr>
          <a:xfrm>
            <a:off x="5502298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" name="text 12: 1" descr="sci-ppt:obj-0012"/>
          <p:cNvSpPr txBox="1"/>
          <p:nvPr/>
        </p:nvSpPr>
        <p:spPr>
          <a:xfrm>
            <a:off x="5604338" y="41175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4" name="line 13: plot geometry" descr="sci-ppt:obj-0013"/>
          <p:cNvCxnSpPr/>
          <p:nvPr/>
        </p:nvCxnSpPr>
        <p:spPr>
          <a:xfrm>
            <a:off x="988095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" name="line 14: plot geometry" descr="sci-ppt:obj-0014"/>
          <p:cNvCxnSpPr/>
          <p:nvPr/>
        </p:nvCxnSpPr>
        <p:spPr>
          <a:xfrm>
            <a:off x="1363856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" name="line 15: plot geometry" descr="sci-ppt:obj-0015"/>
          <p:cNvCxnSpPr/>
          <p:nvPr/>
        </p:nvCxnSpPr>
        <p:spPr>
          <a:xfrm>
            <a:off x="1655319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1893461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" name="line 17: plot geometry" descr="sci-ppt:obj-0017"/>
          <p:cNvCxnSpPr/>
          <p:nvPr/>
        </p:nvCxnSpPr>
        <p:spPr>
          <a:xfrm>
            <a:off x="209480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9" name="line 18: plot geometry" descr="sci-ppt:obj-0018"/>
          <p:cNvCxnSpPr/>
          <p:nvPr/>
        </p:nvCxnSpPr>
        <p:spPr>
          <a:xfrm>
            <a:off x="2269222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2423067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1" name="line 20: plot geometry" descr="sci-ppt:obj-0020"/>
          <p:cNvCxnSpPr/>
          <p:nvPr/>
        </p:nvCxnSpPr>
        <p:spPr>
          <a:xfrm>
            <a:off x="3466051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" name="line 21: plot geometry" descr="sci-ppt:obj-0021"/>
          <p:cNvCxnSpPr/>
          <p:nvPr/>
        </p:nvCxnSpPr>
        <p:spPr>
          <a:xfrm>
            <a:off x="3995657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437141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" name="line 23: plot geometry" descr="sci-ppt:obj-0023"/>
          <p:cNvCxnSpPr/>
          <p:nvPr/>
        </p:nvCxnSpPr>
        <p:spPr>
          <a:xfrm>
            <a:off x="4662880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" name="line 24: plot geometry" descr="sci-ppt:obj-0024"/>
          <p:cNvCxnSpPr/>
          <p:nvPr/>
        </p:nvCxnSpPr>
        <p:spPr>
          <a:xfrm>
            <a:off x="4901023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102369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7" name="line 26: plot geometry" descr="sci-ppt:obj-0026"/>
          <p:cNvCxnSpPr/>
          <p:nvPr/>
        </p:nvCxnSpPr>
        <p:spPr>
          <a:xfrm>
            <a:off x="5276784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8" name="line 27: plot geometry" descr="sci-ppt:obj-0027"/>
          <p:cNvCxnSpPr/>
          <p:nvPr/>
        </p:nvCxnSpPr>
        <p:spPr>
          <a:xfrm>
            <a:off x="543062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29" name="text 28: Initial liquid droplet diameter (µm)" descr="sci-ppt:obj-0028"/>
          <p:cNvSpPr txBox="1"/>
          <p:nvPr/>
        </p:nvSpPr>
        <p:spPr>
          <a:xfrm>
            <a:off x="1682648" y="4368806"/>
            <a:ext cx="342918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Initial liquid droplet diameter (µm)</a:t>
            </a:r>
          </a:p>
        </p:txBody>
      </p:sp>
      <p:cxnSp>
        <p:nvCxnSpPr>
          <p:cNvPr id="30" name="line 29: plot geometry" descr="sci-ppt:obj-0029"/>
          <p:cNvCxnSpPr/>
          <p:nvPr/>
        </p:nvCxnSpPr>
        <p:spPr>
          <a:xfrm>
            <a:off x="747180" y="3962209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1" name="line 30: plot geometry" descr="sci-ppt:obj-0030"/>
          <p:cNvCxnSpPr/>
          <p:nvPr/>
        </p:nvCxnSpPr>
        <p:spPr>
          <a:xfrm flipH="1">
            <a:off x="691878" y="3962209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2" name="text 31: 310" descr="sci-ppt:obj-0031"/>
          <p:cNvSpPr txBox="1"/>
          <p:nvPr/>
        </p:nvSpPr>
        <p:spPr>
          <a:xfrm>
            <a:off x="320331" y="3859487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310</a:t>
            </a:r>
          </a:p>
        </p:txBody>
      </p:sp>
      <p:cxnSp>
        <p:nvCxnSpPr>
          <p:cNvPr id="33" name="line 32: plot geometry" descr="sci-ppt:obj-0032"/>
          <p:cNvCxnSpPr/>
          <p:nvPr/>
        </p:nvCxnSpPr>
        <p:spPr>
          <a:xfrm>
            <a:off x="747180" y="3573673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4" name="line 33: plot geometry" descr="sci-ppt:obj-0033"/>
          <p:cNvCxnSpPr/>
          <p:nvPr/>
        </p:nvCxnSpPr>
        <p:spPr>
          <a:xfrm flipH="1">
            <a:off x="691878" y="357367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5" name="text 34: 320" descr="sci-ppt:obj-0034"/>
          <p:cNvSpPr txBox="1"/>
          <p:nvPr/>
        </p:nvSpPr>
        <p:spPr>
          <a:xfrm>
            <a:off x="320331" y="3470951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320</a:t>
            </a:r>
          </a:p>
        </p:txBody>
      </p:sp>
      <p:cxnSp>
        <p:nvCxnSpPr>
          <p:cNvPr id="36" name="line 35: plot geometry" descr="sci-ppt:obj-0035"/>
          <p:cNvCxnSpPr/>
          <p:nvPr/>
        </p:nvCxnSpPr>
        <p:spPr>
          <a:xfrm>
            <a:off x="747180" y="3185137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7" name="line 36: plot geometry" descr="sci-ppt:obj-0036"/>
          <p:cNvCxnSpPr/>
          <p:nvPr/>
        </p:nvCxnSpPr>
        <p:spPr>
          <a:xfrm flipH="1">
            <a:off x="691878" y="318513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8" name="text 37: 330" descr="sci-ppt:obj-0037"/>
          <p:cNvSpPr txBox="1"/>
          <p:nvPr/>
        </p:nvSpPr>
        <p:spPr>
          <a:xfrm>
            <a:off x="320331" y="308241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330</a:t>
            </a:r>
          </a:p>
        </p:txBody>
      </p:sp>
      <p:cxnSp>
        <p:nvCxnSpPr>
          <p:cNvPr id="39" name="line 38: plot geometry" descr="sci-ppt:obj-0038"/>
          <p:cNvCxnSpPr/>
          <p:nvPr/>
        </p:nvCxnSpPr>
        <p:spPr>
          <a:xfrm>
            <a:off x="747180" y="279660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0" name="line 39: plot geometry" descr="sci-ppt:obj-0039"/>
          <p:cNvCxnSpPr/>
          <p:nvPr/>
        </p:nvCxnSpPr>
        <p:spPr>
          <a:xfrm flipH="1">
            <a:off x="691878" y="279660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1" name="text 40: 340" descr="sci-ppt:obj-0040"/>
          <p:cNvSpPr txBox="1"/>
          <p:nvPr/>
        </p:nvSpPr>
        <p:spPr>
          <a:xfrm>
            <a:off x="320331" y="2693878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340</a:t>
            </a:r>
          </a:p>
        </p:txBody>
      </p:sp>
      <p:cxnSp>
        <p:nvCxnSpPr>
          <p:cNvPr id="42" name="line 41: plot geometry" descr="sci-ppt:obj-0041"/>
          <p:cNvCxnSpPr/>
          <p:nvPr/>
        </p:nvCxnSpPr>
        <p:spPr>
          <a:xfrm>
            <a:off x="747180" y="2408064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3" name="line 42: plot geometry" descr="sci-ppt:obj-0042"/>
          <p:cNvCxnSpPr/>
          <p:nvPr/>
        </p:nvCxnSpPr>
        <p:spPr>
          <a:xfrm flipH="1">
            <a:off x="691878" y="240806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4" name="text 43: 350" descr="sci-ppt:obj-0043"/>
          <p:cNvSpPr txBox="1"/>
          <p:nvPr/>
        </p:nvSpPr>
        <p:spPr>
          <a:xfrm>
            <a:off x="320331" y="2305342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350</a:t>
            </a:r>
          </a:p>
        </p:txBody>
      </p:sp>
      <p:cxnSp>
        <p:nvCxnSpPr>
          <p:cNvPr id="45" name="line 44: plot geometry" descr="sci-ppt:obj-0044"/>
          <p:cNvCxnSpPr/>
          <p:nvPr/>
        </p:nvCxnSpPr>
        <p:spPr>
          <a:xfrm>
            <a:off x="747180" y="2019528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6" name="line 45: plot geometry" descr="sci-ppt:obj-0045"/>
          <p:cNvCxnSpPr/>
          <p:nvPr/>
        </p:nvCxnSpPr>
        <p:spPr>
          <a:xfrm flipH="1">
            <a:off x="691878" y="201952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7" name="text 46: 360" descr="sci-ppt:obj-0046"/>
          <p:cNvSpPr txBox="1"/>
          <p:nvPr/>
        </p:nvSpPr>
        <p:spPr>
          <a:xfrm>
            <a:off x="320331" y="1916806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360</a:t>
            </a:r>
          </a:p>
        </p:txBody>
      </p:sp>
      <p:cxnSp>
        <p:nvCxnSpPr>
          <p:cNvPr id="48" name="line 47: plot geometry" descr="sci-ppt:obj-0047"/>
          <p:cNvCxnSpPr/>
          <p:nvPr/>
        </p:nvCxnSpPr>
        <p:spPr>
          <a:xfrm>
            <a:off x="747180" y="1630992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9" name="line 48: plot geometry" descr="sci-ppt:obj-0048"/>
          <p:cNvCxnSpPr/>
          <p:nvPr/>
        </p:nvCxnSpPr>
        <p:spPr>
          <a:xfrm flipH="1">
            <a:off x="691878" y="163099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0" name="text 49: 370" descr="sci-ppt:obj-0049"/>
          <p:cNvSpPr txBox="1"/>
          <p:nvPr/>
        </p:nvSpPr>
        <p:spPr>
          <a:xfrm>
            <a:off x="320331" y="152827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370</a:t>
            </a:r>
          </a:p>
        </p:txBody>
      </p:sp>
      <p:cxnSp>
        <p:nvCxnSpPr>
          <p:cNvPr id="51" name="line 50: plot geometry" descr="sci-ppt:obj-0050"/>
          <p:cNvCxnSpPr/>
          <p:nvPr/>
        </p:nvCxnSpPr>
        <p:spPr>
          <a:xfrm>
            <a:off x="747180" y="1242455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2" name="line 51: plot geometry" descr="sci-ppt:obj-0051"/>
          <p:cNvCxnSpPr/>
          <p:nvPr/>
        </p:nvCxnSpPr>
        <p:spPr>
          <a:xfrm flipH="1">
            <a:off x="691878" y="12424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3" name="text 52: 380" descr="sci-ppt:obj-0052"/>
          <p:cNvSpPr txBox="1"/>
          <p:nvPr/>
        </p:nvSpPr>
        <p:spPr>
          <a:xfrm>
            <a:off x="320331" y="113973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380</a:t>
            </a:r>
          </a:p>
        </p:txBody>
      </p:sp>
      <p:cxnSp>
        <p:nvCxnSpPr>
          <p:cNvPr id="54" name="line 53: plot geometry" descr="sci-ppt:obj-0053"/>
          <p:cNvCxnSpPr/>
          <p:nvPr/>
        </p:nvCxnSpPr>
        <p:spPr>
          <a:xfrm>
            <a:off x="747180" y="853919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5" name="line 54: plot geometry" descr="sci-ppt:obj-0054"/>
          <p:cNvCxnSpPr/>
          <p:nvPr/>
        </p:nvCxnSpPr>
        <p:spPr>
          <a:xfrm flipH="1">
            <a:off x="691878" y="853919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6" name="text 55: 390" descr="sci-ppt:obj-0055"/>
          <p:cNvSpPr txBox="1"/>
          <p:nvPr/>
        </p:nvSpPr>
        <p:spPr>
          <a:xfrm>
            <a:off x="320331" y="751197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390</a:t>
            </a:r>
          </a:p>
        </p:txBody>
      </p:sp>
      <p:sp>
        <p:nvSpPr>
          <p:cNvPr id="57" name="text 56: Equilibrium temperature (K)" descr="sci-ppt:obj-0056"/>
          <p:cNvSpPr txBox="1"/>
          <p:nvPr/>
        </p:nvSpPr>
        <p:spPr>
          <a:xfrm rot="16200000">
            <a:off x="-1061266" y="2175758"/>
            <a:ext cx="2590179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Equilibrium temperature (K)</a:t>
            </a:r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988095" y="2097859"/>
            <a:ext cx="4818294" cy="1797644"/>
          </a:xfrm>
          <a:custGeom>
            <a:avLst/>
            <a:gdLst/>
            <a:ahLst/>
            <a:cxnLst/>
            <a:rect l="l" t="t" r="r" b="b"/>
            <a:pathLst>
              <a:path w="4818294" h="1797644">
                <a:moveTo>
                  <a:pt x="0" y="0"/>
                </a:moveTo>
                <a:lnTo>
                  <a:pt x="905366" y="706801"/>
                </a:lnTo>
                <a:lnTo>
                  <a:pt x="3007562" y="1569245"/>
                </a:lnTo>
                <a:lnTo>
                  <a:pt x="3912928" y="1717618"/>
                </a:lnTo>
                <a:lnTo>
                  <a:pt x="4818294" y="1797644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 58: plot geometry" descr="sci-ppt:obj-0058"/>
          <p:cNvSpPr/>
          <p:nvPr/>
        </p:nvSpPr>
        <p:spPr>
          <a:xfrm>
            <a:off x="988095" y="781504"/>
            <a:ext cx="4818294" cy="1999526"/>
          </a:xfrm>
          <a:custGeom>
            <a:avLst/>
            <a:gdLst/>
            <a:ahLst/>
            <a:cxnLst/>
            <a:rect l="l" t="t" r="r" b="b"/>
            <a:pathLst>
              <a:path w="4818294" h="1999526">
                <a:moveTo>
                  <a:pt x="0" y="0"/>
                </a:moveTo>
                <a:lnTo>
                  <a:pt x="905366" y="781879"/>
                </a:lnTo>
                <a:lnTo>
                  <a:pt x="3007562" y="1742847"/>
                </a:lnTo>
                <a:lnTo>
                  <a:pt x="3912928" y="1909445"/>
                </a:lnTo>
                <a:lnTo>
                  <a:pt x="4818294" y="1999526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line 59: plot geometry" descr="sci-ppt:obj-0059"/>
          <p:cNvCxnSpPr/>
          <p:nvPr/>
        </p:nvCxnSpPr>
        <p:spPr>
          <a:xfrm flipV="1">
            <a:off x="747180" y="625804"/>
            <a:ext cx="0" cy="3425399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61" name="line 60: plot geometry" descr="sci-ppt:obj-0060"/>
          <p:cNvCxnSpPr/>
          <p:nvPr/>
        </p:nvCxnSpPr>
        <p:spPr>
          <a:xfrm>
            <a:off x="747180" y="4051203"/>
            <a:ext cx="530012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2" name="polygon 61: plot geometry" descr="sci-ppt:obj-0061"/>
          <p:cNvSpPr/>
          <p:nvPr/>
        </p:nvSpPr>
        <p:spPr>
          <a:xfrm>
            <a:off x="5094506" y="704807"/>
            <a:ext cx="873795" cy="521442"/>
          </a:xfrm>
          <a:custGeom>
            <a:avLst/>
            <a:gdLst/>
            <a:ahLst/>
            <a:cxnLst/>
            <a:rect l="l" t="t" r="r" b="b"/>
            <a:pathLst>
              <a:path w="873795" h="521442">
                <a:moveTo>
                  <a:pt x="31601" y="521442"/>
                </a:moveTo>
                <a:lnTo>
                  <a:pt x="842194" y="521442"/>
                </a:lnTo>
                <a:lnTo>
                  <a:pt x="847241" y="521223"/>
                </a:lnTo>
                <a:lnTo>
                  <a:pt x="851850" y="520565"/>
                </a:lnTo>
                <a:lnTo>
                  <a:pt x="856020" y="519467"/>
                </a:lnTo>
                <a:lnTo>
                  <a:pt x="859750" y="517931"/>
                </a:lnTo>
                <a:lnTo>
                  <a:pt x="863042" y="515956"/>
                </a:lnTo>
                <a:lnTo>
                  <a:pt x="865895" y="513542"/>
                </a:lnTo>
                <a:lnTo>
                  <a:pt x="868309" y="510689"/>
                </a:lnTo>
                <a:lnTo>
                  <a:pt x="870284" y="507397"/>
                </a:lnTo>
                <a:lnTo>
                  <a:pt x="871820" y="503667"/>
                </a:lnTo>
                <a:lnTo>
                  <a:pt x="872917" y="499497"/>
                </a:lnTo>
                <a:lnTo>
                  <a:pt x="873576" y="494889"/>
                </a:lnTo>
                <a:lnTo>
                  <a:pt x="873795" y="489841"/>
                </a:lnTo>
                <a:lnTo>
                  <a:pt x="873795" y="31601"/>
                </a:lnTo>
                <a:lnTo>
                  <a:pt x="873576" y="26553"/>
                </a:lnTo>
                <a:lnTo>
                  <a:pt x="872917" y="21945"/>
                </a:lnTo>
                <a:lnTo>
                  <a:pt x="871820" y="17775"/>
                </a:lnTo>
                <a:lnTo>
                  <a:pt x="870284" y="14045"/>
                </a:lnTo>
                <a:lnTo>
                  <a:pt x="868309" y="10753"/>
                </a:lnTo>
                <a:lnTo>
                  <a:pt x="865895" y="7900"/>
                </a:lnTo>
                <a:lnTo>
                  <a:pt x="863042" y="5486"/>
                </a:lnTo>
                <a:lnTo>
                  <a:pt x="859750" y="3511"/>
                </a:lnTo>
                <a:lnTo>
                  <a:pt x="856020" y="1975"/>
                </a:lnTo>
                <a:lnTo>
                  <a:pt x="851850" y="877"/>
                </a:lnTo>
                <a:lnTo>
                  <a:pt x="847241" y="219"/>
                </a:lnTo>
                <a:lnTo>
                  <a:pt x="842194" y="0"/>
                </a:lnTo>
                <a:lnTo>
                  <a:pt x="31601" y="0"/>
                </a:lnTo>
                <a:lnTo>
                  <a:pt x="26554" y="219"/>
                </a:lnTo>
                <a:lnTo>
                  <a:pt x="21945" y="877"/>
                </a:lnTo>
                <a:lnTo>
                  <a:pt x="17776" y="1975"/>
                </a:lnTo>
                <a:lnTo>
                  <a:pt x="14045" y="3511"/>
                </a:lnTo>
                <a:lnTo>
                  <a:pt x="10753" y="5486"/>
                </a:lnTo>
                <a:lnTo>
                  <a:pt x="7900" y="7900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5"/>
                </a:lnTo>
                <a:lnTo>
                  <a:pt x="878" y="21945"/>
                </a:lnTo>
                <a:lnTo>
                  <a:pt x="220" y="26553"/>
                </a:lnTo>
                <a:lnTo>
                  <a:pt x="0" y="31601"/>
                </a:lnTo>
                <a:lnTo>
                  <a:pt x="0" y="489841"/>
                </a:lnTo>
                <a:lnTo>
                  <a:pt x="220" y="494889"/>
                </a:lnTo>
                <a:lnTo>
                  <a:pt x="878" y="499497"/>
                </a:lnTo>
                <a:lnTo>
                  <a:pt x="1975" y="503667"/>
                </a:lnTo>
                <a:lnTo>
                  <a:pt x="3511" y="507397"/>
                </a:lnTo>
                <a:lnTo>
                  <a:pt x="5486" y="510689"/>
                </a:lnTo>
                <a:lnTo>
                  <a:pt x="7900" y="513542"/>
                </a:lnTo>
                <a:lnTo>
                  <a:pt x="10753" y="515956"/>
                </a:lnTo>
                <a:lnTo>
                  <a:pt x="14045" y="517931"/>
                </a:lnTo>
                <a:lnTo>
                  <a:pt x="17776" y="519467"/>
                </a:lnTo>
                <a:lnTo>
                  <a:pt x="21945" y="520565"/>
                </a:lnTo>
                <a:lnTo>
                  <a:pt x="26554" y="521223"/>
                </a:lnTo>
                <a:lnTo>
                  <a:pt x="31601" y="52144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olygon 62: plot geometry" descr="sci-ppt:obj-0062"/>
          <p:cNvSpPr/>
          <p:nvPr/>
        </p:nvSpPr>
        <p:spPr>
          <a:xfrm>
            <a:off x="5157708" y="832766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olygon 63: plot geometry" descr="sci-ppt:obj-0063"/>
          <p:cNvSpPr/>
          <p:nvPr/>
        </p:nvSpPr>
        <p:spPr>
          <a:xfrm>
            <a:off x="5268312" y="785365"/>
            <a:ext cx="94803" cy="94803"/>
          </a:xfrm>
          <a:custGeom>
            <a:avLst/>
            <a:gdLst/>
            <a:ahLst/>
            <a:cxnLst/>
            <a:rect l="l" t="t" r="r" b="b"/>
            <a:pathLst>
              <a:path w="94803" h="94803">
                <a:moveTo>
                  <a:pt x="47402" y="94803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1"/>
                </a:lnTo>
                <a:lnTo>
                  <a:pt x="65542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4" y="85034"/>
                </a:lnTo>
                <a:lnTo>
                  <a:pt x="78633" y="83060"/>
                </a:lnTo>
                <a:lnTo>
                  <a:pt x="80920" y="80919"/>
                </a:lnTo>
                <a:lnTo>
                  <a:pt x="83060" y="78633"/>
                </a:lnTo>
                <a:lnTo>
                  <a:pt x="85035" y="76223"/>
                </a:lnTo>
                <a:lnTo>
                  <a:pt x="86839" y="73700"/>
                </a:lnTo>
                <a:lnTo>
                  <a:pt x="88470" y="71072"/>
                </a:lnTo>
                <a:lnTo>
                  <a:pt x="89923" y="68350"/>
                </a:lnTo>
                <a:lnTo>
                  <a:pt x="91195" y="65541"/>
                </a:lnTo>
                <a:lnTo>
                  <a:pt x="92282" y="62656"/>
                </a:lnTo>
                <a:lnTo>
                  <a:pt x="93179" y="59703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1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2" y="32147"/>
                </a:lnTo>
                <a:lnTo>
                  <a:pt x="91195" y="29262"/>
                </a:lnTo>
                <a:lnTo>
                  <a:pt x="89923" y="26453"/>
                </a:lnTo>
                <a:lnTo>
                  <a:pt x="88470" y="23730"/>
                </a:lnTo>
                <a:lnTo>
                  <a:pt x="86839" y="21103"/>
                </a:lnTo>
                <a:lnTo>
                  <a:pt x="85035" y="18580"/>
                </a:lnTo>
                <a:lnTo>
                  <a:pt x="83060" y="16170"/>
                </a:lnTo>
                <a:lnTo>
                  <a:pt x="80920" y="13883"/>
                </a:lnTo>
                <a:lnTo>
                  <a:pt x="78633" y="11743"/>
                </a:lnTo>
                <a:lnTo>
                  <a:pt x="76224" y="9768"/>
                </a:lnTo>
                <a:lnTo>
                  <a:pt x="73700" y="7964"/>
                </a:lnTo>
                <a:lnTo>
                  <a:pt x="71073" y="6333"/>
                </a:lnTo>
                <a:lnTo>
                  <a:pt x="68350" y="4880"/>
                </a:lnTo>
                <a:lnTo>
                  <a:pt x="65542" y="3608"/>
                </a:lnTo>
                <a:lnTo>
                  <a:pt x="62656" y="2521"/>
                </a:lnTo>
                <a:lnTo>
                  <a:pt x="59703" y="1624"/>
                </a:lnTo>
                <a:lnTo>
                  <a:pt x="56692" y="919"/>
                </a:lnTo>
                <a:lnTo>
                  <a:pt x="53632" y="411"/>
                </a:lnTo>
                <a:lnTo>
                  <a:pt x="50532" y="103"/>
                </a:lnTo>
                <a:lnTo>
                  <a:pt x="47402" y="0"/>
                </a:lnTo>
                <a:lnTo>
                  <a:pt x="44271" y="103"/>
                </a:lnTo>
                <a:lnTo>
                  <a:pt x="41171" y="411"/>
                </a:lnTo>
                <a:lnTo>
                  <a:pt x="38111" y="919"/>
                </a:lnTo>
                <a:lnTo>
                  <a:pt x="35100" y="1624"/>
                </a:lnTo>
                <a:lnTo>
                  <a:pt x="32147" y="2521"/>
                </a:lnTo>
                <a:lnTo>
                  <a:pt x="29262" y="3608"/>
                </a:lnTo>
                <a:lnTo>
                  <a:pt x="26453" y="4880"/>
                </a:lnTo>
                <a:lnTo>
                  <a:pt x="23731" y="6333"/>
                </a:lnTo>
                <a:lnTo>
                  <a:pt x="21103" y="7964"/>
                </a:lnTo>
                <a:lnTo>
                  <a:pt x="18580" y="9768"/>
                </a:lnTo>
                <a:lnTo>
                  <a:pt x="16171" y="11743"/>
                </a:lnTo>
                <a:lnTo>
                  <a:pt x="13884" y="13883"/>
                </a:lnTo>
                <a:lnTo>
                  <a:pt x="11743" y="16170"/>
                </a:lnTo>
                <a:lnTo>
                  <a:pt x="9769" y="18580"/>
                </a:lnTo>
                <a:lnTo>
                  <a:pt x="7964" y="21103"/>
                </a:lnTo>
                <a:lnTo>
                  <a:pt x="6334" y="23730"/>
                </a:lnTo>
                <a:lnTo>
                  <a:pt x="4880" y="26453"/>
                </a:lnTo>
                <a:lnTo>
                  <a:pt x="3609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4" y="44271"/>
                </a:lnTo>
                <a:lnTo>
                  <a:pt x="0" y="47401"/>
                </a:lnTo>
                <a:lnTo>
                  <a:pt x="104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3"/>
                </a:lnTo>
                <a:lnTo>
                  <a:pt x="2522" y="62656"/>
                </a:lnTo>
                <a:lnTo>
                  <a:pt x="3609" y="65541"/>
                </a:lnTo>
                <a:lnTo>
                  <a:pt x="4880" y="68350"/>
                </a:lnTo>
                <a:lnTo>
                  <a:pt x="6334" y="71072"/>
                </a:lnTo>
                <a:lnTo>
                  <a:pt x="7964" y="73700"/>
                </a:lnTo>
                <a:lnTo>
                  <a:pt x="9769" y="76223"/>
                </a:lnTo>
                <a:lnTo>
                  <a:pt x="11743" y="78633"/>
                </a:lnTo>
                <a:lnTo>
                  <a:pt x="13884" y="80919"/>
                </a:lnTo>
                <a:lnTo>
                  <a:pt x="16171" y="83060"/>
                </a:lnTo>
                <a:lnTo>
                  <a:pt x="18580" y="85034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1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3"/>
                </a:lnTo>
                <a:close/>
              </a:path>
            </a:pathLst>
          </a:custGeom>
          <a:solidFill>
            <a:srgbClr val="176C8E"/>
          </a:solidFill>
          <a:ln w="158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 64: PFP" descr="sci-ppt:obj-0064"/>
          <p:cNvSpPr txBox="1"/>
          <p:nvPr/>
        </p:nvSpPr>
        <p:spPr>
          <a:xfrm>
            <a:off x="5572692" y="72532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PFP</a:t>
            </a:r>
          </a:p>
        </p:txBody>
      </p:sp>
      <p:sp>
        <p:nvSpPr>
          <p:cNvPr id="66" name="polygon 65: plot geometry" descr="sci-ppt:obj-0065"/>
          <p:cNvSpPr/>
          <p:nvPr/>
        </p:nvSpPr>
        <p:spPr>
          <a:xfrm>
            <a:off x="5157708" y="1069787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gon 66: plot geometry" descr="sci-ppt:obj-0066"/>
          <p:cNvSpPr/>
          <p:nvPr/>
        </p:nvSpPr>
        <p:spPr>
          <a:xfrm>
            <a:off x="5268312" y="1022385"/>
            <a:ext cx="94803" cy="94804"/>
          </a:xfrm>
          <a:custGeom>
            <a:avLst/>
            <a:gdLst/>
            <a:ahLst/>
            <a:cxnLst/>
            <a:rect l="l" t="t" r="r" b="b"/>
            <a:pathLst>
              <a:path w="94803" h="94804">
                <a:moveTo>
                  <a:pt x="47402" y="94804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2"/>
                </a:lnTo>
                <a:lnTo>
                  <a:pt x="65542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4" y="85035"/>
                </a:lnTo>
                <a:lnTo>
                  <a:pt x="78633" y="83060"/>
                </a:lnTo>
                <a:lnTo>
                  <a:pt x="80920" y="80920"/>
                </a:lnTo>
                <a:lnTo>
                  <a:pt x="83060" y="78633"/>
                </a:lnTo>
                <a:lnTo>
                  <a:pt x="85035" y="76224"/>
                </a:lnTo>
                <a:lnTo>
                  <a:pt x="86839" y="73700"/>
                </a:lnTo>
                <a:lnTo>
                  <a:pt x="88470" y="71073"/>
                </a:lnTo>
                <a:lnTo>
                  <a:pt x="89923" y="68350"/>
                </a:lnTo>
                <a:lnTo>
                  <a:pt x="91195" y="65542"/>
                </a:lnTo>
                <a:lnTo>
                  <a:pt x="92282" y="62656"/>
                </a:lnTo>
                <a:lnTo>
                  <a:pt x="93179" y="59704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2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2" y="32147"/>
                </a:lnTo>
                <a:lnTo>
                  <a:pt x="91195" y="29262"/>
                </a:lnTo>
                <a:lnTo>
                  <a:pt x="89923" y="26454"/>
                </a:lnTo>
                <a:lnTo>
                  <a:pt x="88470" y="23731"/>
                </a:lnTo>
                <a:lnTo>
                  <a:pt x="86839" y="21103"/>
                </a:lnTo>
                <a:lnTo>
                  <a:pt x="85035" y="18580"/>
                </a:lnTo>
                <a:lnTo>
                  <a:pt x="83060" y="16171"/>
                </a:lnTo>
                <a:lnTo>
                  <a:pt x="80920" y="13884"/>
                </a:lnTo>
                <a:lnTo>
                  <a:pt x="78633" y="11743"/>
                </a:lnTo>
                <a:lnTo>
                  <a:pt x="76224" y="9769"/>
                </a:lnTo>
                <a:lnTo>
                  <a:pt x="73700" y="7964"/>
                </a:lnTo>
                <a:lnTo>
                  <a:pt x="71073" y="6334"/>
                </a:lnTo>
                <a:lnTo>
                  <a:pt x="68350" y="4880"/>
                </a:lnTo>
                <a:lnTo>
                  <a:pt x="65542" y="3609"/>
                </a:lnTo>
                <a:lnTo>
                  <a:pt x="62656" y="2522"/>
                </a:lnTo>
                <a:lnTo>
                  <a:pt x="59703" y="1624"/>
                </a:lnTo>
                <a:lnTo>
                  <a:pt x="56692" y="920"/>
                </a:lnTo>
                <a:lnTo>
                  <a:pt x="53632" y="411"/>
                </a:lnTo>
                <a:lnTo>
                  <a:pt x="50532" y="104"/>
                </a:lnTo>
                <a:lnTo>
                  <a:pt x="47402" y="0"/>
                </a:lnTo>
                <a:lnTo>
                  <a:pt x="44271" y="104"/>
                </a:lnTo>
                <a:lnTo>
                  <a:pt x="41171" y="411"/>
                </a:lnTo>
                <a:lnTo>
                  <a:pt x="38111" y="920"/>
                </a:lnTo>
                <a:lnTo>
                  <a:pt x="35100" y="1624"/>
                </a:lnTo>
                <a:lnTo>
                  <a:pt x="32147" y="2522"/>
                </a:lnTo>
                <a:lnTo>
                  <a:pt x="29262" y="3609"/>
                </a:lnTo>
                <a:lnTo>
                  <a:pt x="26453" y="4880"/>
                </a:lnTo>
                <a:lnTo>
                  <a:pt x="23731" y="6334"/>
                </a:lnTo>
                <a:lnTo>
                  <a:pt x="21103" y="7964"/>
                </a:lnTo>
                <a:lnTo>
                  <a:pt x="18580" y="9769"/>
                </a:lnTo>
                <a:lnTo>
                  <a:pt x="16171" y="11743"/>
                </a:lnTo>
                <a:lnTo>
                  <a:pt x="13884" y="13884"/>
                </a:lnTo>
                <a:lnTo>
                  <a:pt x="11743" y="16171"/>
                </a:lnTo>
                <a:lnTo>
                  <a:pt x="9769" y="18580"/>
                </a:lnTo>
                <a:lnTo>
                  <a:pt x="7964" y="21103"/>
                </a:lnTo>
                <a:lnTo>
                  <a:pt x="6334" y="23731"/>
                </a:lnTo>
                <a:lnTo>
                  <a:pt x="4880" y="26454"/>
                </a:lnTo>
                <a:lnTo>
                  <a:pt x="3609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4" y="44271"/>
                </a:lnTo>
                <a:lnTo>
                  <a:pt x="0" y="47402"/>
                </a:lnTo>
                <a:lnTo>
                  <a:pt x="104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4"/>
                </a:lnTo>
                <a:lnTo>
                  <a:pt x="2522" y="62656"/>
                </a:lnTo>
                <a:lnTo>
                  <a:pt x="3609" y="65542"/>
                </a:lnTo>
                <a:lnTo>
                  <a:pt x="4880" y="68350"/>
                </a:lnTo>
                <a:lnTo>
                  <a:pt x="6334" y="71073"/>
                </a:lnTo>
                <a:lnTo>
                  <a:pt x="7964" y="73700"/>
                </a:lnTo>
                <a:lnTo>
                  <a:pt x="9769" y="76224"/>
                </a:lnTo>
                <a:lnTo>
                  <a:pt x="11743" y="78633"/>
                </a:lnTo>
                <a:lnTo>
                  <a:pt x="13884" y="80920"/>
                </a:lnTo>
                <a:lnTo>
                  <a:pt x="16171" y="83060"/>
                </a:lnTo>
                <a:lnTo>
                  <a:pt x="18580" y="85035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2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4"/>
                </a:lnTo>
                <a:close/>
              </a:path>
            </a:pathLst>
          </a:custGeom>
          <a:solidFill>
            <a:srgbClr val="B95E23"/>
          </a:solidFill>
          <a:ln w="158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 67: PFH" descr="sci-ppt:obj-0067"/>
          <p:cNvSpPr txBox="1"/>
          <p:nvPr/>
        </p:nvSpPr>
        <p:spPr>
          <a:xfrm>
            <a:off x="5572692" y="96234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PFH</a:t>
            </a:r>
          </a:p>
        </p:txBody>
      </p:sp>
      <p:sp>
        <p:nvSpPr>
          <p:cNvPr id="69" name="polygon 68: plot geometry" descr="sci-ppt:obj-0068"/>
          <p:cNvSpPr/>
          <p:nvPr/>
        </p:nvSpPr>
        <p:spPr>
          <a:xfrm>
            <a:off x="6777807" y="625804"/>
            <a:ext cx="5300124" cy="3425399"/>
          </a:xfrm>
          <a:custGeom>
            <a:avLst/>
            <a:gdLst/>
            <a:ahLst/>
            <a:cxnLst/>
            <a:rect l="l" t="t" r="r" b="b"/>
            <a:pathLst>
              <a:path w="5300124" h="3425399">
                <a:moveTo>
                  <a:pt x="0" y="3425399"/>
                </a:moveTo>
                <a:lnTo>
                  <a:pt x="5300124" y="3425399"/>
                </a:lnTo>
                <a:lnTo>
                  <a:pt x="5300124" y="0"/>
                </a:lnTo>
                <a:lnTo>
                  <a:pt x="0" y="0"/>
                </a:lnTo>
                <a:lnTo>
                  <a:pt x="0" y="34253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8591312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8591312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2" name="text 71: 1" descr="sci-ppt:obj-0071"/>
          <p:cNvSpPr txBox="1"/>
          <p:nvPr/>
        </p:nvSpPr>
        <p:spPr>
          <a:xfrm>
            <a:off x="8424835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3" name="text 72: 0" descr="sci-ppt:obj-0072"/>
          <p:cNvSpPr txBox="1"/>
          <p:nvPr/>
        </p:nvSpPr>
        <p:spPr>
          <a:xfrm>
            <a:off x="8525363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4" name="text 73: 0" descr="sci-ppt:obj-0073"/>
          <p:cNvSpPr txBox="1"/>
          <p:nvPr/>
        </p:nvSpPr>
        <p:spPr>
          <a:xfrm>
            <a:off x="8627403" y="4120493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75" name="line 74: plot geometry" descr="sci-ppt:obj-0074"/>
          <p:cNvCxnSpPr/>
          <p:nvPr/>
        </p:nvCxnSpPr>
        <p:spPr>
          <a:xfrm flipV="1">
            <a:off x="11598874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6" name="line 75: plot geometry" descr="sci-ppt:obj-0075"/>
          <p:cNvCxnSpPr/>
          <p:nvPr/>
        </p:nvCxnSpPr>
        <p:spPr>
          <a:xfrm>
            <a:off x="11598874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7" name="text 76: 1" descr="sci-ppt:obj-0076"/>
          <p:cNvSpPr txBox="1"/>
          <p:nvPr/>
        </p:nvSpPr>
        <p:spPr>
          <a:xfrm>
            <a:off x="11432397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8" name="text 77: 0" descr="sci-ppt:obj-0077"/>
          <p:cNvSpPr txBox="1"/>
          <p:nvPr/>
        </p:nvSpPr>
        <p:spPr>
          <a:xfrm>
            <a:off x="11532925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9" name="text 78: 1" descr="sci-ppt:obj-0078"/>
          <p:cNvSpPr txBox="1"/>
          <p:nvPr/>
        </p:nvSpPr>
        <p:spPr>
          <a:xfrm>
            <a:off x="11634965" y="41175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80" name="line 79: plot geometry" descr="sci-ppt:obj-0079"/>
          <p:cNvCxnSpPr/>
          <p:nvPr/>
        </p:nvCxnSpPr>
        <p:spPr>
          <a:xfrm>
            <a:off x="7018722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1" name="line 80: plot geometry" descr="sci-ppt:obj-0080"/>
          <p:cNvCxnSpPr/>
          <p:nvPr/>
        </p:nvCxnSpPr>
        <p:spPr>
          <a:xfrm>
            <a:off x="7394483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2" name="line 81: plot geometry" descr="sci-ppt:obj-0081"/>
          <p:cNvCxnSpPr/>
          <p:nvPr/>
        </p:nvCxnSpPr>
        <p:spPr>
          <a:xfrm>
            <a:off x="7685946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>
            <a:off x="792408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4" name="line 83: plot geometry" descr="sci-ppt:obj-0083"/>
          <p:cNvCxnSpPr/>
          <p:nvPr/>
        </p:nvCxnSpPr>
        <p:spPr>
          <a:xfrm>
            <a:off x="8125435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5" name="line 84: plot geometry" descr="sci-ppt:obj-0084"/>
          <p:cNvCxnSpPr/>
          <p:nvPr/>
        </p:nvCxnSpPr>
        <p:spPr>
          <a:xfrm>
            <a:off x="8299849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>
            <a:off x="8453693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>
            <a:off x="949667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8" name="line 87: plot geometry" descr="sci-ppt:obj-0087"/>
          <p:cNvCxnSpPr/>
          <p:nvPr/>
        </p:nvCxnSpPr>
        <p:spPr>
          <a:xfrm>
            <a:off x="10026284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9" name="line 88: plot geometry" descr="sci-ppt:obj-0088"/>
          <p:cNvCxnSpPr/>
          <p:nvPr/>
        </p:nvCxnSpPr>
        <p:spPr>
          <a:xfrm>
            <a:off x="10402044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>
            <a:off x="10693507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1" name="line 90: plot geometry" descr="sci-ppt:obj-0090"/>
          <p:cNvCxnSpPr/>
          <p:nvPr/>
        </p:nvCxnSpPr>
        <p:spPr>
          <a:xfrm>
            <a:off x="10931650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2" name="line 91: plot geometry" descr="sci-ppt:obj-0091"/>
          <p:cNvCxnSpPr/>
          <p:nvPr/>
        </p:nvCxnSpPr>
        <p:spPr>
          <a:xfrm>
            <a:off x="11132996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>
            <a:off x="11307411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4" name="line 93: plot geometry" descr="sci-ppt:obj-0093"/>
          <p:cNvCxnSpPr/>
          <p:nvPr/>
        </p:nvCxnSpPr>
        <p:spPr>
          <a:xfrm>
            <a:off x="11461255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95" name="text 94: Initial liquid droplet diameter (µm)" descr="sci-ppt:obj-0094"/>
          <p:cNvSpPr txBox="1"/>
          <p:nvPr/>
        </p:nvSpPr>
        <p:spPr>
          <a:xfrm>
            <a:off x="7713275" y="4368806"/>
            <a:ext cx="342918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Initial liquid droplet diameter (µm)</a:t>
            </a:r>
          </a:p>
        </p:txBody>
      </p:sp>
      <p:cxnSp>
        <p:nvCxnSpPr>
          <p:cNvPr id="96" name="line 95: plot geometry" descr="sci-ppt:obj-0095"/>
          <p:cNvCxnSpPr/>
          <p:nvPr/>
        </p:nvCxnSpPr>
        <p:spPr>
          <a:xfrm>
            <a:off x="6777807" y="345156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97" name="line 96: plot geometry" descr="sci-ppt:obj-0096"/>
          <p:cNvCxnSpPr/>
          <p:nvPr/>
        </p:nvCxnSpPr>
        <p:spPr>
          <a:xfrm flipH="1">
            <a:off x="6722505" y="345156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8" name="text 97: 1" descr="sci-ppt:obj-0097"/>
          <p:cNvSpPr txBox="1"/>
          <p:nvPr/>
        </p:nvSpPr>
        <p:spPr>
          <a:xfrm>
            <a:off x="6361682" y="335024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99" name="text 98: 0" descr="sci-ppt:obj-0098"/>
          <p:cNvSpPr txBox="1"/>
          <p:nvPr/>
        </p:nvSpPr>
        <p:spPr>
          <a:xfrm>
            <a:off x="6462210" y="335024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0" name="text 99: 1" descr="sci-ppt:obj-0099"/>
          <p:cNvSpPr txBox="1"/>
          <p:nvPr/>
        </p:nvSpPr>
        <p:spPr>
          <a:xfrm>
            <a:off x="6564250" y="333381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6777807" y="2775425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722505" y="277542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03" name="text 102: 1" descr="sci-ppt:obj-0102"/>
          <p:cNvSpPr txBox="1"/>
          <p:nvPr/>
        </p:nvSpPr>
        <p:spPr>
          <a:xfrm>
            <a:off x="6361682" y="26762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4" name="text 103: 0" descr="sci-ppt:obj-0103"/>
          <p:cNvSpPr txBox="1"/>
          <p:nvPr/>
        </p:nvSpPr>
        <p:spPr>
          <a:xfrm>
            <a:off x="6462210" y="26762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5" name="text 104: 2" descr="sci-ppt:obj-0104"/>
          <p:cNvSpPr txBox="1"/>
          <p:nvPr/>
        </p:nvSpPr>
        <p:spPr>
          <a:xfrm>
            <a:off x="6564250" y="265984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06" name="line 105: plot geometry" descr="sci-ppt:obj-0105"/>
          <p:cNvCxnSpPr/>
          <p:nvPr/>
        </p:nvCxnSpPr>
        <p:spPr>
          <a:xfrm>
            <a:off x="6777807" y="209929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07" name="line 106: plot geometry" descr="sci-ppt:obj-0106"/>
          <p:cNvCxnSpPr/>
          <p:nvPr/>
        </p:nvCxnSpPr>
        <p:spPr>
          <a:xfrm flipH="1">
            <a:off x="6722505" y="209929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08" name="text 107: 1" descr="sci-ppt:obj-0107"/>
          <p:cNvSpPr txBox="1"/>
          <p:nvPr/>
        </p:nvSpPr>
        <p:spPr>
          <a:xfrm>
            <a:off x="6361682" y="200014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9" name="text 108: 0" descr="sci-ppt:obj-0108"/>
          <p:cNvSpPr txBox="1"/>
          <p:nvPr/>
        </p:nvSpPr>
        <p:spPr>
          <a:xfrm>
            <a:off x="6462210" y="200014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0" name="text 109: 3" descr="sci-ppt:obj-0109"/>
          <p:cNvSpPr txBox="1"/>
          <p:nvPr/>
        </p:nvSpPr>
        <p:spPr>
          <a:xfrm>
            <a:off x="6564250" y="1983714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11" name="line 110: plot geometry" descr="sci-ppt:obj-0110"/>
          <p:cNvCxnSpPr/>
          <p:nvPr/>
        </p:nvCxnSpPr>
        <p:spPr>
          <a:xfrm>
            <a:off x="6777807" y="1423155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 flipH="1">
            <a:off x="6722505" y="14231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3" name="text 112: 1" descr="sci-ppt:obj-0112"/>
          <p:cNvSpPr txBox="1"/>
          <p:nvPr/>
        </p:nvSpPr>
        <p:spPr>
          <a:xfrm>
            <a:off x="6361682" y="132183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4" name="text 113: 0" descr="sci-ppt:obj-0113"/>
          <p:cNvSpPr txBox="1"/>
          <p:nvPr/>
        </p:nvSpPr>
        <p:spPr>
          <a:xfrm>
            <a:off x="6462210" y="132183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5" name="text 114: 4" descr="sci-ppt:obj-0114"/>
          <p:cNvSpPr txBox="1"/>
          <p:nvPr/>
        </p:nvSpPr>
        <p:spPr>
          <a:xfrm>
            <a:off x="6564250" y="1305407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16" name="line 115: plot geometry" descr="sci-ppt:obj-0115"/>
          <p:cNvCxnSpPr/>
          <p:nvPr/>
        </p:nvCxnSpPr>
        <p:spPr>
          <a:xfrm>
            <a:off x="6777807" y="74702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7" name="line 116: plot geometry" descr="sci-ppt:obj-0116"/>
          <p:cNvCxnSpPr/>
          <p:nvPr/>
        </p:nvCxnSpPr>
        <p:spPr>
          <a:xfrm flipH="1">
            <a:off x="6722505" y="74702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8" name="text 117: 1" descr="sci-ppt:obj-0117"/>
          <p:cNvSpPr txBox="1"/>
          <p:nvPr/>
        </p:nvSpPr>
        <p:spPr>
          <a:xfrm>
            <a:off x="6361682" y="64570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9" name="text 118: 0" descr="sci-ppt:obj-0118"/>
          <p:cNvSpPr txBox="1"/>
          <p:nvPr/>
        </p:nvSpPr>
        <p:spPr>
          <a:xfrm>
            <a:off x="6462210" y="64570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0" name="text 119: 5" descr="sci-ppt:obj-0119"/>
          <p:cNvSpPr txBox="1"/>
          <p:nvPr/>
        </p:nvSpPr>
        <p:spPr>
          <a:xfrm>
            <a:off x="6564250" y="629272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121" name="line 120: plot geometry" descr="sci-ppt:obj-0120"/>
          <p:cNvCxnSpPr/>
          <p:nvPr/>
        </p:nvCxnSpPr>
        <p:spPr>
          <a:xfrm flipH="1">
            <a:off x="6746206" y="392415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2" name="line 121: plot geometry" descr="sci-ppt:obj-0121"/>
          <p:cNvCxnSpPr/>
          <p:nvPr/>
        </p:nvCxnSpPr>
        <p:spPr>
          <a:xfrm flipH="1">
            <a:off x="6746206" y="38050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3" name="line 122: plot geometry" descr="sci-ppt:obj-0122"/>
          <p:cNvCxnSpPr/>
          <p:nvPr/>
        </p:nvCxnSpPr>
        <p:spPr>
          <a:xfrm flipH="1">
            <a:off x="6746206" y="372062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4" name="line 123: plot geometry" descr="sci-ppt:obj-0123"/>
          <p:cNvCxnSpPr/>
          <p:nvPr/>
        </p:nvCxnSpPr>
        <p:spPr>
          <a:xfrm flipH="1">
            <a:off x="6746206" y="36550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5" name="line 124: plot geometry" descr="sci-ppt:obj-0124"/>
          <p:cNvCxnSpPr/>
          <p:nvPr/>
        </p:nvCxnSpPr>
        <p:spPr>
          <a:xfrm flipH="1">
            <a:off x="6746206" y="36015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6" name="line 125: plot geometry" descr="sci-ppt:obj-0125"/>
          <p:cNvCxnSpPr/>
          <p:nvPr/>
        </p:nvCxnSpPr>
        <p:spPr>
          <a:xfrm flipH="1">
            <a:off x="6746206" y="355629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7" name="line 126: plot geometry" descr="sci-ppt:obj-0126"/>
          <p:cNvCxnSpPr/>
          <p:nvPr/>
        </p:nvCxnSpPr>
        <p:spPr>
          <a:xfrm flipH="1">
            <a:off x="6746206" y="351708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8" name="line 127: plot geometry" descr="sci-ppt:obj-0127"/>
          <p:cNvCxnSpPr/>
          <p:nvPr/>
        </p:nvCxnSpPr>
        <p:spPr>
          <a:xfrm flipH="1">
            <a:off x="6746206" y="348249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9" name="line 128: plot geometry" descr="sci-ppt:obj-0128"/>
          <p:cNvCxnSpPr/>
          <p:nvPr/>
        </p:nvCxnSpPr>
        <p:spPr>
          <a:xfrm flipH="1">
            <a:off x="6746206" y="324802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0" name="line 129: plot geometry" descr="sci-ppt:obj-0129"/>
          <p:cNvCxnSpPr/>
          <p:nvPr/>
        </p:nvCxnSpPr>
        <p:spPr>
          <a:xfrm flipH="1">
            <a:off x="6746206" y="312896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1" name="line 130: plot geometry" descr="sci-ppt:obj-0130"/>
          <p:cNvCxnSpPr/>
          <p:nvPr/>
        </p:nvCxnSpPr>
        <p:spPr>
          <a:xfrm flipH="1">
            <a:off x="6746206" y="304448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2" name="line 131: plot geometry" descr="sci-ppt:obj-0131"/>
          <p:cNvCxnSpPr/>
          <p:nvPr/>
        </p:nvCxnSpPr>
        <p:spPr>
          <a:xfrm flipH="1">
            <a:off x="6746206" y="297896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3" name="line 132: plot geometry" descr="sci-ppt:obj-0132"/>
          <p:cNvCxnSpPr/>
          <p:nvPr/>
        </p:nvCxnSpPr>
        <p:spPr>
          <a:xfrm flipH="1">
            <a:off x="6746206" y="292542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4" name="line 133: plot geometry" descr="sci-ppt:obj-0133"/>
          <p:cNvCxnSpPr/>
          <p:nvPr/>
        </p:nvCxnSpPr>
        <p:spPr>
          <a:xfrm flipH="1">
            <a:off x="6746206" y="28801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5" name="line 134: plot geometry" descr="sci-ppt:obj-0134"/>
          <p:cNvCxnSpPr/>
          <p:nvPr/>
        </p:nvCxnSpPr>
        <p:spPr>
          <a:xfrm flipH="1">
            <a:off x="6746206" y="284094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6" name="line 135: plot geometry" descr="sci-ppt:obj-0135"/>
          <p:cNvCxnSpPr/>
          <p:nvPr/>
        </p:nvCxnSpPr>
        <p:spPr>
          <a:xfrm flipH="1">
            <a:off x="6746206" y="28063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7" name="line 136: plot geometry" descr="sci-ppt:obj-0136"/>
          <p:cNvCxnSpPr/>
          <p:nvPr/>
        </p:nvCxnSpPr>
        <p:spPr>
          <a:xfrm flipH="1">
            <a:off x="6746206" y="257188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8" name="line 137: plot geometry" descr="sci-ppt:obj-0137"/>
          <p:cNvCxnSpPr/>
          <p:nvPr/>
        </p:nvCxnSpPr>
        <p:spPr>
          <a:xfrm flipH="1">
            <a:off x="6746206" y="24528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9" name="line 138: plot geometry" descr="sci-ppt:obj-0138"/>
          <p:cNvCxnSpPr/>
          <p:nvPr/>
        </p:nvCxnSpPr>
        <p:spPr>
          <a:xfrm flipH="1">
            <a:off x="6746206" y="236835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0" name="line 139: plot geometry" descr="sci-ppt:obj-0139"/>
          <p:cNvCxnSpPr/>
          <p:nvPr/>
        </p:nvCxnSpPr>
        <p:spPr>
          <a:xfrm flipH="1">
            <a:off x="6746206" y="23028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1" name="line 140: plot geometry" descr="sci-ppt:obj-0140"/>
          <p:cNvCxnSpPr/>
          <p:nvPr/>
        </p:nvCxnSpPr>
        <p:spPr>
          <a:xfrm flipH="1">
            <a:off x="6746206" y="224929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2" name="line 141: plot geometry" descr="sci-ppt:obj-0141"/>
          <p:cNvCxnSpPr/>
          <p:nvPr/>
        </p:nvCxnSpPr>
        <p:spPr>
          <a:xfrm flipH="1">
            <a:off x="6746206" y="220402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3" name="line 142: plot geometry" descr="sci-ppt:obj-0142"/>
          <p:cNvCxnSpPr/>
          <p:nvPr/>
        </p:nvCxnSpPr>
        <p:spPr>
          <a:xfrm flipH="1">
            <a:off x="6746206" y="216481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4" name="line 143: plot geometry" descr="sci-ppt:obj-0143"/>
          <p:cNvCxnSpPr/>
          <p:nvPr/>
        </p:nvCxnSpPr>
        <p:spPr>
          <a:xfrm flipH="1">
            <a:off x="6746206" y="213022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5" name="line 144: plot geometry" descr="sci-ppt:obj-0144"/>
          <p:cNvCxnSpPr/>
          <p:nvPr/>
        </p:nvCxnSpPr>
        <p:spPr>
          <a:xfrm flipH="1">
            <a:off x="6746206" y="189575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6" name="line 145: plot geometry" descr="sci-ppt:obj-0145"/>
          <p:cNvCxnSpPr/>
          <p:nvPr/>
        </p:nvCxnSpPr>
        <p:spPr>
          <a:xfrm flipH="1">
            <a:off x="6746206" y="177669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7" name="line 146: plot geometry" descr="sci-ppt:obj-0146"/>
          <p:cNvCxnSpPr/>
          <p:nvPr/>
        </p:nvCxnSpPr>
        <p:spPr>
          <a:xfrm flipH="1">
            <a:off x="6746206" y="169221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8" name="line 147: plot geometry" descr="sci-ppt:obj-0147"/>
          <p:cNvCxnSpPr/>
          <p:nvPr/>
        </p:nvCxnSpPr>
        <p:spPr>
          <a:xfrm flipH="1">
            <a:off x="6746206" y="162669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9" name="line 148: plot geometry" descr="sci-ppt:obj-0148"/>
          <p:cNvCxnSpPr/>
          <p:nvPr/>
        </p:nvCxnSpPr>
        <p:spPr>
          <a:xfrm flipH="1">
            <a:off x="6746206" y="157315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0" name="line 149: plot geometry" descr="sci-ppt:obj-0149"/>
          <p:cNvCxnSpPr/>
          <p:nvPr/>
        </p:nvCxnSpPr>
        <p:spPr>
          <a:xfrm flipH="1">
            <a:off x="6746206" y="152789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1" name="line 150: plot geometry" descr="sci-ppt:obj-0150"/>
          <p:cNvCxnSpPr/>
          <p:nvPr/>
        </p:nvCxnSpPr>
        <p:spPr>
          <a:xfrm flipH="1">
            <a:off x="6746206" y="148868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2" name="line 151: plot geometry" descr="sci-ppt:obj-0151"/>
          <p:cNvCxnSpPr/>
          <p:nvPr/>
        </p:nvCxnSpPr>
        <p:spPr>
          <a:xfrm flipH="1">
            <a:off x="6746206" y="145409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3" name="line 152: plot geometry" descr="sci-ppt:obj-0152"/>
          <p:cNvCxnSpPr/>
          <p:nvPr/>
        </p:nvCxnSpPr>
        <p:spPr>
          <a:xfrm flipH="1">
            <a:off x="6746206" y="121961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4" name="line 153: plot geometry" descr="sci-ppt:obj-0153"/>
          <p:cNvCxnSpPr/>
          <p:nvPr/>
        </p:nvCxnSpPr>
        <p:spPr>
          <a:xfrm flipH="1">
            <a:off x="6746206" y="11005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5" name="line 154: plot geometry" descr="sci-ppt:obj-0154"/>
          <p:cNvCxnSpPr/>
          <p:nvPr/>
        </p:nvCxnSpPr>
        <p:spPr>
          <a:xfrm flipH="1">
            <a:off x="6746206" y="101608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6" name="line 155: plot geometry" descr="sci-ppt:obj-0155"/>
          <p:cNvCxnSpPr/>
          <p:nvPr/>
        </p:nvCxnSpPr>
        <p:spPr>
          <a:xfrm flipH="1">
            <a:off x="6746206" y="9505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7" name="line 156: plot geometry" descr="sci-ppt:obj-0156"/>
          <p:cNvCxnSpPr/>
          <p:nvPr/>
        </p:nvCxnSpPr>
        <p:spPr>
          <a:xfrm flipH="1">
            <a:off x="6746206" y="89702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8" name="line 157: plot geometry" descr="sci-ppt:obj-0157"/>
          <p:cNvCxnSpPr/>
          <p:nvPr/>
        </p:nvCxnSpPr>
        <p:spPr>
          <a:xfrm flipH="1">
            <a:off x="6746206" y="85175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9" name="line 158: plot geometry" descr="sci-ppt:obj-0158"/>
          <p:cNvCxnSpPr/>
          <p:nvPr/>
        </p:nvCxnSpPr>
        <p:spPr>
          <a:xfrm flipH="1">
            <a:off x="6746206" y="81254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0" name="line 159: plot geometry" descr="sci-ppt:obj-0159"/>
          <p:cNvCxnSpPr/>
          <p:nvPr/>
        </p:nvCxnSpPr>
        <p:spPr>
          <a:xfrm flipH="1">
            <a:off x="6746206" y="77795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161" name="text 160: Equilibrium state energy (pJ)" descr="sci-ppt:obj-0160"/>
          <p:cNvSpPr txBox="1"/>
          <p:nvPr/>
        </p:nvSpPr>
        <p:spPr>
          <a:xfrm rot="16200000">
            <a:off x="4899640" y="2175758"/>
            <a:ext cx="277662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Equilibrium state energy (pJ)</a:t>
            </a:r>
          </a:p>
        </p:txBody>
      </p:sp>
      <p:sp>
        <p:nvSpPr>
          <p:cNvPr id="162" name="polygon 161: plot geometry" descr="sci-ppt:obj-0161"/>
          <p:cNvSpPr/>
          <p:nvPr/>
        </p:nvSpPr>
        <p:spPr>
          <a:xfrm>
            <a:off x="7018722" y="1017252"/>
            <a:ext cx="4818294" cy="2878251"/>
          </a:xfrm>
          <a:custGeom>
            <a:avLst/>
            <a:gdLst/>
            <a:ahLst/>
            <a:cxnLst/>
            <a:rect l="l" t="t" r="r" b="b"/>
            <a:pathLst>
              <a:path w="4818294" h="2878251">
                <a:moveTo>
                  <a:pt x="0" y="2878251"/>
                </a:moveTo>
                <a:lnTo>
                  <a:pt x="905366" y="2374563"/>
                </a:lnTo>
                <a:lnTo>
                  <a:pt x="3007562" y="1147050"/>
                </a:lnTo>
                <a:lnTo>
                  <a:pt x="3912928" y="582718"/>
                </a:lnTo>
                <a:lnTo>
                  <a:pt x="4818294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polygon 162: plot geometry" descr="sci-ppt:obj-0162"/>
          <p:cNvSpPr/>
          <p:nvPr/>
        </p:nvSpPr>
        <p:spPr>
          <a:xfrm>
            <a:off x="7018722" y="781504"/>
            <a:ext cx="4818294" cy="3002446"/>
          </a:xfrm>
          <a:custGeom>
            <a:avLst/>
            <a:gdLst/>
            <a:ahLst/>
            <a:cxnLst/>
            <a:rect l="l" t="t" r="r" b="b"/>
            <a:pathLst>
              <a:path w="4818294" h="3002446">
                <a:moveTo>
                  <a:pt x="0" y="3002446"/>
                </a:moveTo>
                <a:lnTo>
                  <a:pt x="905366" y="2472245"/>
                </a:lnTo>
                <a:lnTo>
                  <a:pt x="3007562" y="1179618"/>
                </a:lnTo>
                <a:lnTo>
                  <a:pt x="3912928" y="595470"/>
                </a:lnTo>
                <a:lnTo>
                  <a:pt x="4818294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4" name="line 163: plot geometry" descr="sci-ppt:obj-0163"/>
          <p:cNvCxnSpPr/>
          <p:nvPr/>
        </p:nvCxnSpPr>
        <p:spPr>
          <a:xfrm flipV="1">
            <a:off x="6777807" y="625804"/>
            <a:ext cx="0" cy="3425399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65" name="line 164: plot geometry" descr="sci-ppt:obj-0164"/>
          <p:cNvCxnSpPr/>
          <p:nvPr/>
        </p:nvCxnSpPr>
        <p:spPr>
          <a:xfrm>
            <a:off x="6777807" y="4051203"/>
            <a:ext cx="530012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6" name="polygon 165: plot geometry" descr="sci-ppt:obj-0165"/>
          <p:cNvSpPr/>
          <p:nvPr/>
        </p:nvSpPr>
        <p:spPr>
          <a:xfrm>
            <a:off x="6856810" y="704807"/>
            <a:ext cx="873795" cy="521442"/>
          </a:xfrm>
          <a:custGeom>
            <a:avLst/>
            <a:gdLst/>
            <a:ahLst/>
            <a:cxnLst/>
            <a:rect l="l" t="t" r="r" b="b"/>
            <a:pathLst>
              <a:path w="873795" h="521442">
                <a:moveTo>
                  <a:pt x="31601" y="521442"/>
                </a:moveTo>
                <a:lnTo>
                  <a:pt x="842194" y="521442"/>
                </a:lnTo>
                <a:lnTo>
                  <a:pt x="847241" y="521223"/>
                </a:lnTo>
                <a:lnTo>
                  <a:pt x="851850" y="520565"/>
                </a:lnTo>
                <a:lnTo>
                  <a:pt x="856019" y="519467"/>
                </a:lnTo>
                <a:lnTo>
                  <a:pt x="859750" y="517931"/>
                </a:lnTo>
                <a:lnTo>
                  <a:pt x="863042" y="515956"/>
                </a:lnTo>
                <a:lnTo>
                  <a:pt x="865895" y="513542"/>
                </a:lnTo>
                <a:lnTo>
                  <a:pt x="868309" y="510689"/>
                </a:lnTo>
                <a:lnTo>
                  <a:pt x="870284" y="507397"/>
                </a:lnTo>
                <a:lnTo>
                  <a:pt x="871820" y="503667"/>
                </a:lnTo>
                <a:lnTo>
                  <a:pt x="872917" y="499497"/>
                </a:lnTo>
                <a:lnTo>
                  <a:pt x="873575" y="494889"/>
                </a:lnTo>
                <a:lnTo>
                  <a:pt x="873795" y="489841"/>
                </a:lnTo>
                <a:lnTo>
                  <a:pt x="873795" y="31601"/>
                </a:lnTo>
                <a:lnTo>
                  <a:pt x="873575" y="26553"/>
                </a:lnTo>
                <a:lnTo>
                  <a:pt x="872917" y="21945"/>
                </a:lnTo>
                <a:lnTo>
                  <a:pt x="871820" y="17775"/>
                </a:lnTo>
                <a:lnTo>
                  <a:pt x="870284" y="14045"/>
                </a:lnTo>
                <a:lnTo>
                  <a:pt x="868309" y="10753"/>
                </a:lnTo>
                <a:lnTo>
                  <a:pt x="865895" y="7900"/>
                </a:lnTo>
                <a:lnTo>
                  <a:pt x="863042" y="5486"/>
                </a:lnTo>
                <a:lnTo>
                  <a:pt x="859750" y="3511"/>
                </a:lnTo>
                <a:lnTo>
                  <a:pt x="856019" y="1975"/>
                </a:lnTo>
                <a:lnTo>
                  <a:pt x="851850" y="877"/>
                </a:lnTo>
                <a:lnTo>
                  <a:pt x="847241" y="219"/>
                </a:lnTo>
                <a:lnTo>
                  <a:pt x="842194" y="0"/>
                </a:lnTo>
                <a:lnTo>
                  <a:pt x="31601" y="0"/>
                </a:lnTo>
                <a:lnTo>
                  <a:pt x="26554" y="219"/>
                </a:lnTo>
                <a:lnTo>
                  <a:pt x="21945" y="877"/>
                </a:lnTo>
                <a:lnTo>
                  <a:pt x="17775" y="1975"/>
                </a:lnTo>
                <a:lnTo>
                  <a:pt x="14045" y="3511"/>
                </a:lnTo>
                <a:lnTo>
                  <a:pt x="10753" y="5486"/>
                </a:lnTo>
                <a:lnTo>
                  <a:pt x="7900" y="7900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5"/>
                </a:lnTo>
                <a:lnTo>
                  <a:pt x="878" y="21945"/>
                </a:lnTo>
                <a:lnTo>
                  <a:pt x="219" y="26553"/>
                </a:lnTo>
                <a:lnTo>
                  <a:pt x="0" y="31601"/>
                </a:lnTo>
                <a:lnTo>
                  <a:pt x="0" y="489841"/>
                </a:lnTo>
                <a:lnTo>
                  <a:pt x="219" y="494889"/>
                </a:lnTo>
                <a:lnTo>
                  <a:pt x="878" y="499497"/>
                </a:lnTo>
                <a:lnTo>
                  <a:pt x="1975" y="503667"/>
                </a:lnTo>
                <a:lnTo>
                  <a:pt x="3511" y="507397"/>
                </a:lnTo>
                <a:lnTo>
                  <a:pt x="5486" y="510689"/>
                </a:lnTo>
                <a:lnTo>
                  <a:pt x="7900" y="513542"/>
                </a:lnTo>
                <a:lnTo>
                  <a:pt x="10753" y="515956"/>
                </a:lnTo>
                <a:lnTo>
                  <a:pt x="14045" y="517931"/>
                </a:lnTo>
                <a:lnTo>
                  <a:pt x="17775" y="519467"/>
                </a:lnTo>
                <a:lnTo>
                  <a:pt x="21945" y="520565"/>
                </a:lnTo>
                <a:lnTo>
                  <a:pt x="26554" y="521223"/>
                </a:lnTo>
                <a:lnTo>
                  <a:pt x="31601" y="52144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polygon 166: plot geometry" descr="sci-ppt:obj-0166"/>
          <p:cNvSpPr/>
          <p:nvPr/>
        </p:nvSpPr>
        <p:spPr>
          <a:xfrm>
            <a:off x="6920012" y="832766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polygon 167: plot geometry" descr="sci-ppt:obj-0167"/>
          <p:cNvSpPr/>
          <p:nvPr/>
        </p:nvSpPr>
        <p:spPr>
          <a:xfrm>
            <a:off x="7030616" y="785365"/>
            <a:ext cx="94803" cy="94803"/>
          </a:xfrm>
          <a:custGeom>
            <a:avLst/>
            <a:gdLst/>
            <a:ahLst/>
            <a:cxnLst/>
            <a:rect l="l" t="t" r="r" b="b"/>
            <a:pathLst>
              <a:path w="94803" h="94803">
                <a:moveTo>
                  <a:pt x="47402" y="94803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1"/>
                </a:lnTo>
                <a:lnTo>
                  <a:pt x="65541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3" y="85034"/>
                </a:lnTo>
                <a:lnTo>
                  <a:pt x="78633" y="83060"/>
                </a:lnTo>
                <a:lnTo>
                  <a:pt x="80920" y="80919"/>
                </a:lnTo>
                <a:lnTo>
                  <a:pt x="83060" y="78633"/>
                </a:lnTo>
                <a:lnTo>
                  <a:pt x="85034" y="76223"/>
                </a:lnTo>
                <a:lnTo>
                  <a:pt x="86839" y="73700"/>
                </a:lnTo>
                <a:lnTo>
                  <a:pt x="88470" y="71072"/>
                </a:lnTo>
                <a:lnTo>
                  <a:pt x="89923" y="68350"/>
                </a:lnTo>
                <a:lnTo>
                  <a:pt x="91195" y="65541"/>
                </a:lnTo>
                <a:lnTo>
                  <a:pt x="92281" y="62656"/>
                </a:lnTo>
                <a:lnTo>
                  <a:pt x="93179" y="59703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1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1" y="32147"/>
                </a:lnTo>
                <a:lnTo>
                  <a:pt x="91195" y="29262"/>
                </a:lnTo>
                <a:lnTo>
                  <a:pt x="89923" y="26453"/>
                </a:lnTo>
                <a:lnTo>
                  <a:pt x="88470" y="23730"/>
                </a:lnTo>
                <a:lnTo>
                  <a:pt x="86839" y="21103"/>
                </a:lnTo>
                <a:lnTo>
                  <a:pt x="85034" y="18580"/>
                </a:lnTo>
                <a:lnTo>
                  <a:pt x="83060" y="16170"/>
                </a:lnTo>
                <a:lnTo>
                  <a:pt x="80920" y="13883"/>
                </a:lnTo>
                <a:lnTo>
                  <a:pt x="78633" y="11743"/>
                </a:lnTo>
                <a:lnTo>
                  <a:pt x="76223" y="9768"/>
                </a:lnTo>
                <a:lnTo>
                  <a:pt x="73700" y="7964"/>
                </a:lnTo>
                <a:lnTo>
                  <a:pt x="71073" y="6333"/>
                </a:lnTo>
                <a:lnTo>
                  <a:pt x="68350" y="4880"/>
                </a:lnTo>
                <a:lnTo>
                  <a:pt x="65541" y="3608"/>
                </a:lnTo>
                <a:lnTo>
                  <a:pt x="62656" y="2521"/>
                </a:lnTo>
                <a:lnTo>
                  <a:pt x="59703" y="1624"/>
                </a:lnTo>
                <a:lnTo>
                  <a:pt x="56692" y="919"/>
                </a:lnTo>
                <a:lnTo>
                  <a:pt x="53632" y="411"/>
                </a:lnTo>
                <a:lnTo>
                  <a:pt x="50532" y="103"/>
                </a:lnTo>
                <a:lnTo>
                  <a:pt x="47402" y="0"/>
                </a:lnTo>
                <a:lnTo>
                  <a:pt x="44271" y="103"/>
                </a:lnTo>
                <a:lnTo>
                  <a:pt x="41171" y="411"/>
                </a:lnTo>
                <a:lnTo>
                  <a:pt x="38111" y="919"/>
                </a:lnTo>
                <a:lnTo>
                  <a:pt x="35100" y="1624"/>
                </a:lnTo>
                <a:lnTo>
                  <a:pt x="32147" y="2521"/>
                </a:lnTo>
                <a:lnTo>
                  <a:pt x="29262" y="3608"/>
                </a:lnTo>
                <a:lnTo>
                  <a:pt x="26453" y="4880"/>
                </a:lnTo>
                <a:lnTo>
                  <a:pt x="23731" y="6333"/>
                </a:lnTo>
                <a:lnTo>
                  <a:pt x="21103" y="7964"/>
                </a:lnTo>
                <a:lnTo>
                  <a:pt x="18580" y="9768"/>
                </a:lnTo>
                <a:lnTo>
                  <a:pt x="16170" y="11743"/>
                </a:lnTo>
                <a:lnTo>
                  <a:pt x="13884" y="13883"/>
                </a:lnTo>
                <a:lnTo>
                  <a:pt x="11743" y="16170"/>
                </a:lnTo>
                <a:lnTo>
                  <a:pt x="9769" y="18580"/>
                </a:lnTo>
                <a:lnTo>
                  <a:pt x="7964" y="21103"/>
                </a:lnTo>
                <a:lnTo>
                  <a:pt x="6333" y="23730"/>
                </a:lnTo>
                <a:lnTo>
                  <a:pt x="4880" y="26453"/>
                </a:lnTo>
                <a:lnTo>
                  <a:pt x="3608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3" y="44271"/>
                </a:lnTo>
                <a:lnTo>
                  <a:pt x="0" y="47401"/>
                </a:lnTo>
                <a:lnTo>
                  <a:pt x="103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3"/>
                </a:lnTo>
                <a:lnTo>
                  <a:pt x="2522" y="62656"/>
                </a:lnTo>
                <a:lnTo>
                  <a:pt x="3608" y="65541"/>
                </a:lnTo>
                <a:lnTo>
                  <a:pt x="4880" y="68350"/>
                </a:lnTo>
                <a:lnTo>
                  <a:pt x="6333" y="71072"/>
                </a:lnTo>
                <a:lnTo>
                  <a:pt x="7964" y="73700"/>
                </a:lnTo>
                <a:lnTo>
                  <a:pt x="9769" y="76223"/>
                </a:lnTo>
                <a:lnTo>
                  <a:pt x="11743" y="78633"/>
                </a:lnTo>
                <a:lnTo>
                  <a:pt x="13884" y="80919"/>
                </a:lnTo>
                <a:lnTo>
                  <a:pt x="16170" y="83060"/>
                </a:lnTo>
                <a:lnTo>
                  <a:pt x="18580" y="85034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1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3"/>
                </a:lnTo>
                <a:close/>
              </a:path>
            </a:pathLst>
          </a:custGeom>
          <a:solidFill>
            <a:srgbClr val="176C8E"/>
          </a:solidFill>
          <a:ln w="158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 168: PFP" descr="sci-ppt:obj-0168"/>
          <p:cNvSpPr txBox="1"/>
          <p:nvPr/>
        </p:nvSpPr>
        <p:spPr>
          <a:xfrm>
            <a:off x="7334995" y="72532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PFP</a:t>
            </a:r>
          </a:p>
        </p:txBody>
      </p:sp>
      <p:sp>
        <p:nvSpPr>
          <p:cNvPr id="170" name="polygon 169: plot geometry" descr="sci-ppt:obj-0169"/>
          <p:cNvSpPr/>
          <p:nvPr/>
        </p:nvSpPr>
        <p:spPr>
          <a:xfrm>
            <a:off x="6920012" y="1069787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polygon 170: plot geometry" descr="sci-ppt:obj-0170"/>
          <p:cNvSpPr/>
          <p:nvPr/>
        </p:nvSpPr>
        <p:spPr>
          <a:xfrm>
            <a:off x="7030616" y="1022385"/>
            <a:ext cx="94803" cy="94804"/>
          </a:xfrm>
          <a:custGeom>
            <a:avLst/>
            <a:gdLst/>
            <a:ahLst/>
            <a:cxnLst/>
            <a:rect l="l" t="t" r="r" b="b"/>
            <a:pathLst>
              <a:path w="94803" h="94804">
                <a:moveTo>
                  <a:pt x="47402" y="94804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2"/>
                </a:lnTo>
                <a:lnTo>
                  <a:pt x="65541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3" y="85035"/>
                </a:lnTo>
                <a:lnTo>
                  <a:pt x="78633" y="83060"/>
                </a:lnTo>
                <a:lnTo>
                  <a:pt x="80920" y="80920"/>
                </a:lnTo>
                <a:lnTo>
                  <a:pt x="83060" y="78633"/>
                </a:lnTo>
                <a:lnTo>
                  <a:pt x="85034" y="76224"/>
                </a:lnTo>
                <a:lnTo>
                  <a:pt x="86839" y="73700"/>
                </a:lnTo>
                <a:lnTo>
                  <a:pt x="88470" y="71073"/>
                </a:lnTo>
                <a:lnTo>
                  <a:pt x="89923" y="68350"/>
                </a:lnTo>
                <a:lnTo>
                  <a:pt x="91195" y="65542"/>
                </a:lnTo>
                <a:lnTo>
                  <a:pt x="92281" y="62656"/>
                </a:lnTo>
                <a:lnTo>
                  <a:pt x="93179" y="59704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2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1" y="32147"/>
                </a:lnTo>
                <a:lnTo>
                  <a:pt x="91195" y="29262"/>
                </a:lnTo>
                <a:lnTo>
                  <a:pt x="89923" y="26454"/>
                </a:lnTo>
                <a:lnTo>
                  <a:pt x="88470" y="23731"/>
                </a:lnTo>
                <a:lnTo>
                  <a:pt x="86839" y="21103"/>
                </a:lnTo>
                <a:lnTo>
                  <a:pt x="85034" y="18580"/>
                </a:lnTo>
                <a:lnTo>
                  <a:pt x="83060" y="16171"/>
                </a:lnTo>
                <a:lnTo>
                  <a:pt x="80920" y="13884"/>
                </a:lnTo>
                <a:lnTo>
                  <a:pt x="78633" y="11743"/>
                </a:lnTo>
                <a:lnTo>
                  <a:pt x="76223" y="9769"/>
                </a:lnTo>
                <a:lnTo>
                  <a:pt x="73700" y="7964"/>
                </a:lnTo>
                <a:lnTo>
                  <a:pt x="71073" y="6334"/>
                </a:lnTo>
                <a:lnTo>
                  <a:pt x="68350" y="4880"/>
                </a:lnTo>
                <a:lnTo>
                  <a:pt x="65541" y="3609"/>
                </a:lnTo>
                <a:lnTo>
                  <a:pt x="62656" y="2522"/>
                </a:lnTo>
                <a:lnTo>
                  <a:pt x="59703" y="1624"/>
                </a:lnTo>
                <a:lnTo>
                  <a:pt x="56692" y="920"/>
                </a:lnTo>
                <a:lnTo>
                  <a:pt x="53632" y="411"/>
                </a:lnTo>
                <a:lnTo>
                  <a:pt x="50532" y="104"/>
                </a:lnTo>
                <a:lnTo>
                  <a:pt x="47402" y="0"/>
                </a:lnTo>
                <a:lnTo>
                  <a:pt x="44271" y="104"/>
                </a:lnTo>
                <a:lnTo>
                  <a:pt x="41171" y="411"/>
                </a:lnTo>
                <a:lnTo>
                  <a:pt x="38111" y="920"/>
                </a:lnTo>
                <a:lnTo>
                  <a:pt x="35100" y="1624"/>
                </a:lnTo>
                <a:lnTo>
                  <a:pt x="32147" y="2522"/>
                </a:lnTo>
                <a:lnTo>
                  <a:pt x="29262" y="3609"/>
                </a:lnTo>
                <a:lnTo>
                  <a:pt x="26453" y="4880"/>
                </a:lnTo>
                <a:lnTo>
                  <a:pt x="23731" y="6334"/>
                </a:lnTo>
                <a:lnTo>
                  <a:pt x="21103" y="7964"/>
                </a:lnTo>
                <a:lnTo>
                  <a:pt x="18580" y="9769"/>
                </a:lnTo>
                <a:lnTo>
                  <a:pt x="16170" y="11743"/>
                </a:lnTo>
                <a:lnTo>
                  <a:pt x="13884" y="13884"/>
                </a:lnTo>
                <a:lnTo>
                  <a:pt x="11743" y="16171"/>
                </a:lnTo>
                <a:lnTo>
                  <a:pt x="9769" y="18580"/>
                </a:lnTo>
                <a:lnTo>
                  <a:pt x="7964" y="21103"/>
                </a:lnTo>
                <a:lnTo>
                  <a:pt x="6333" y="23731"/>
                </a:lnTo>
                <a:lnTo>
                  <a:pt x="4880" y="26454"/>
                </a:lnTo>
                <a:lnTo>
                  <a:pt x="3608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3" y="44271"/>
                </a:lnTo>
                <a:lnTo>
                  <a:pt x="0" y="47402"/>
                </a:lnTo>
                <a:lnTo>
                  <a:pt x="103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4"/>
                </a:lnTo>
                <a:lnTo>
                  <a:pt x="2522" y="62656"/>
                </a:lnTo>
                <a:lnTo>
                  <a:pt x="3608" y="65542"/>
                </a:lnTo>
                <a:lnTo>
                  <a:pt x="4880" y="68350"/>
                </a:lnTo>
                <a:lnTo>
                  <a:pt x="6333" y="71073"/>
                </a:lnTo>
                <a:lnTo>
                  <a:pt x="7964" y="73700"/>
                </a:lnTo>
                <a:lnTo>
                  <a:pt x="9769" y="76224"/>
                </a:lnTo>
                <a:lnTo>
                  <a:pt x="11743" y="78633"/>
                </a:lnTo>
                <a:lnTo>
                  <a:pt x="13884" y="80920"/>
                </a:lnTo>
                <a:lnTo>
                  <a:pt x="16170" y="83060"/>
                </a:lnTo>
                <a:lnTo>
                  <a:pt x="18580" y="85035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2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4"/>
                </a:lnTo>
                <a:close/>
              </a:path>
            </a:pathLst>
          </a:custGeom>
          <a:solidFill>
            <a:srgbClr val="B95E23"/>
          </a:solidFill>
          <a:ln w="158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 171: PFH" descr="sci-ppt:obj-0171"/>
          <p:cNvSpPr txBox="1"/>
          <p:nvPr/>
        </p:nvSpPr>
        <p:spPr>
          <a:xfrm>
            <a:off x="7334995" y="96234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PFH</a:t>
            </a:r>
          </a:p>
        </p:txBody>
      </p:sp>
      <p:sp>
        <p:nvSpPr>
          <p:cNvPr id="173" name="text 172: Finite PFC: equal stretch 2.1, G = 20 kPa, stipulated outer tension 54" descr="sci-ppt:obj-0172"/>
          <p:cNvSpPr txBox="1"/>
          <p:nvPr/>
        </p:nvSpPr>
        <p:spPr>
          <a:xfrm>
            <a:off x="2781743" y="84206"/>
            <a:ext cx="7764068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Finite PFC: equal stretch 2.1, G = 20 kPa, stipulated outer tension 54 mN/m</a:t>
            </a:r>
          </a:p>
        </p:txBody>
      </p:sp>
      <p:sp>
        <p:nvSpPr>
          <p:cNvPr id="174" name="text 173: State budgets and temperatures; not activation thresholds" descr="sci-ppt:obj-0173"/>
          <p:cNvSpPr txBox="1"/>
          <p:nvPr/>
        </p:nvSpPr>
        <p:spPr>
          <a:xfrm>
            <a:off x="3507736" y="292821"/>
            <a:ext cx="5918248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State budgets and temperatures; not activation thresholds</a:t>
            </a:r>
          </a:p>
        </p:txBody>
      </p:sp>
      <p:sp>
        <p:nvSpPr>
          <p:cNvPr id="175" name="Original data sample marker 173" descr="sci-ppt:sample-marker-173"/>
          <p:cNvSpPr/>
          <p:nvPr/>
        </p:nvSpPr>
        <p:spPr>
          <a:xfrm>
            <a:off x="940693" y="2050457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Original data sample marker 174" descr="sci-ppt:sample-marker-174"/>
          <p:cNvSpPr/>
          <p:nvPr/>
        </p:nvSpPr>
        <p:spPr>
          <a:xfrm>
            <a:off x="1846060" y="2757258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Original data sample marker 175" descr="sci-ppt:sample-marker-175"/>
          <p:cNvSpPr/>
          <p:nvPr/>
        </p:nvSpPr>
        <p:spPr>
          <a:xfrm>
            <a:off x="3948255" y="3619702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Original data sample marker 176" descr="sci-ppt:sample-marker-176"/>
          <p:cNvSpPr/>
          <p:nvPr/>
        </p:nvSpPr>
        <p:spPr>
          <a:xfrm>
            <a:off x="4853621" y="3768076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riginal data sample marker 177" descr="sci-ppt:sample-marker-177"/>
          <p:cNvSpPr/>
          <p:nvPr/>
        </p:nvSpPr>
        <p:spPr>
          <a:xfrm>
            <a:off x="5758988" y="3848101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Original data sample marker 178" descr="sci-ppt:sample-marker-178"/>
          <p:cNvSpPr/>
          <p:nvPr/>
        </p:nvSpPr>
        <p:spPr>
          <a:xfrm>
            <a:off x="940693" y="734102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Original data sample marker 179" descr="sci-ppt:sample-marker-179"/>
          <p:cNvSpPr/>
          <p:nvPr/>
        </p:nvSpPr>
        <p:spPr>
          <a:xfrm>
            <a:off x="1846060" y="1515981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Original data sample marker 180" descr="sci-ppt:sample-marker-180"/>
          <p:cNvSpPr/>
          <p:nvPr/>
        </p:nvSpPr>
        <p:spPr>
          <a:xfrm>
            <a:off x="3948255" y="2476949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Original data sample marker 181" descr="sci-ppt:sample-marker-181"/>
          <p:cNvSpPr/>
          <p:nvPr/>
        </p:nvSpPr>
        <p:spPr>
          <a:xfrm>
            <a:off x="4853621" y="264354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riginal data sample marker 182" descr="sci-ppt:sample-marker-182"/>
          <p:cNvSpPr/>
          <p:nvPr/>
        </p:nvSpPr>
        <p:spPr>
          <a:xfrm>
            <a:off x="5758988" y="273362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Original data sample marker 183" descr="sci-ppt:sample-marker-183"/>
          <p:cNvSpPr/>
          <p:nvPr/>
        </p:nvSpPr>
        <p:spPr>
          <a:xfrm>
            <a:off x="6971320" y="3848101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Original data sample marker 184" descr="sci-ppt:sample-marker-184"/>
          <p:cNvSpPr/>
          <p:nvPr/>
        </p:nvSpPr>
        <p:spPr>
          <a:xfrm>
            <a:off x="7876686" y="3344413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Original data sample marker 185" descr="sci-ppt:sample-marker-185"/>
          <p:cNvSpPr/>
          <p:nvPr/>
        </p:nvSpPr>
        <p:spPr>
          <a:xfrm>
            <a:off x="9978882" y="2116900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Original data sample marker 186" descr="sci-ppt:sample-marker-186"/>
          <p:cNvSpPr/>
          <p:nvPr/>
        </p:nvSpPr>
        <p:spPr>
          <a:xfrm>
            <a:off x="10884248" y="1552568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Original data sample marker 187" descr="sci-ppt:sample-marker-187"/>
          <p:cNvSpPr/>
          <p:nvPr/>
        </p:nvSpPr>
        <p:spPr>
          <a:xfrm>
            <a:off x="11789614" y="969851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Original data sample marker 188" descr="sci-ppt:sample-marker-188"/>
          <p:cNvSpPr/>
          <p:nvPr/>
        </p:nvSpPr>
        <p:spPr>
          <a:xfrm>
            <a:off x="6971320" y="373654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Original data sample marker 189" descr="sci-ppt:sample-marker-189"/>
          <p:cNvSpPr/>
          <p:nvPr/>
        </p:nvSpPr>
        <p:spPr>
          <a:xfrm>
            <a:off x="7876686" y="320634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riginal data sample marker 190" descr="sci-ppt:sample-marker-190"/>
          <p:cNvSpPr/>
          <p:nvPr/>
        </p:nvSpPr>
        <p:spPr>
          <a:xfrm>
            <a:off x="9978882" y="1913720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Original data sample marker 191" descr="sci-ppt:sample-marker-191"/>
          <p:cNvSpPr/>
          <p:nvPr/>
        </p:nvSpPr>
        <p:spPr>
          <a:xfrm>
            <a:off x="10884248" y="1329572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Original data sample marker 192" descr="sci-ppt:sample-marker-192"/>
          <p:cNvSpPr/>
          <p:nvPr/>
        </p:nvSpPr>
        <p:spPr>
          <a:xfrm>
            <a:off x="11789614" y="734102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