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1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A-E11 · Derived intact-medium radial control</a:t>
            </a:r>
          </a:p>
        </p:txBody>
      </p:sp>
      <p:sp>
        <p:nvSpPr>
          <p:cNvPr id="3" name="A-E11 text 1" descr="sci-ppt:o001"/>
          <p:cNvSpPr txBox="1"/>
          <p:nvPr/>
        </p:nvSpPr>
        <p:spPr>
          <a:xfrm>
            <a:off x="457200" y="914400"/>
            <a:ext cx="59436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Pressure ledger at one instant (kPa)</a:t>
            </a:r>
          </a:p>
        </p:txBody>
      </p:sp>
      <p:cxnSp>
        <p:nvCxnSpPr>
          <p:cNvPr id="4" name="A-E11 line 2" descr="sci-ppt:o002"/>
          <p:cNvCxnSpPr/>
          <p:nvPr/>
        </p:nvCxnSpPr>
        <p:spPr>
          <a:xfrm>
            <a:off x="548640" y="475488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A-E11 line 3" descr="sci-ppt:o003"/>
          <p:cNvCxnSpPr/>
          <p:nvPr/>
        </p:nvCxnSpPr>
        <p:spPr>
          <a:xfrm>
            <a:off x="548640" y="146304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A-E11 line 4" descr="sci-ppt:o004"/>
          <p:cNvCxnSpPr/>
          <p:nvPr/>
        </p:nvCxnSpPr>
        <p:spPr>
          <a:xfrm>
            <a:off x="484632" y="47548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A-E11 line 5" descr="sci-ppt:o005"/>
          <p:cNvCxnSpPr/>
          <p:nvPr/>
        </p:nvCxnSpPr>
        <p:spPr>
          <a:xfrm>
            <a:off x="548640" y="475488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A-E11 text 6" descr="sci-ppt:o006"/>
          <p:cNvSpPr txBox="1"/>
          <p:nvPr/>
        </p:nvSpPr>
        <p:spPr>
          <a:xfrm>
            <a:off x="-320040" y="46725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9" name="A-E11 line 7" descr="sci-ppt:o007"/>
          <p:cNvCxnSpPr/>
          <p:nvPr/>
        </p:nvCxnSpPr>
        <p:spPr>
          <a:xfrm>
            <a:off x="484632" y="409651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A-E11 line 8" descr="sci-ppt:o008"/>
          <p:cNvCxnSpPr/>
          <p:nvPr/>
        </p:nvCxnSpPr>
        <p:spPr>
          <a:xfrm>
            <a:off x="548640" y="4096512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A-E11 text 9" descr="sci-ppt:o009"/>
          <p:cNvSpPr txBox="1"/>
          <p:nvPr/>
        </p:nvSpPr>
        <p:spPr>
          <a:xfrm>
            <a:off x="-320040" y="401421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</a:t>
            </a:r>
          </a:p>
        </p:txBody>
      </p:sp>
      <p:cxnSp>
        <p:nvCxnSpPr>
          <p:cNvPr id="12" name="A-E11 line 10" descr="sci-ppt:o010"/>
          <p:cNvCxnSpPr/>
          <p:nvPr/>
        </p:nvCxnSpPr>
        <p:spPr>
          <a:xfrm>
            <a:off x="484632" y="343814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A-E11 line 11" descr="sci-ppt:o011"/>
          <p:cNvCxnSpPr/>
          <p:nvPr/>
        </p:nvCxnSpPr>
        <p:spPr>
          <a:xfrm>
            <a:off x="548640" y="3438144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A-E11 text 12" descr="sci-ppt:o012"/>
          <p:cNvSpPr txBox="1"/>
          <p:nvPr/>
        </p:nvSpPr>
        <p:spPr>
          <a:xfrm>
            <a:off x="-320040" y="33558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</a:t>
            </a:r>
          </a:p>
        </p:txBody>
      </p:sp>
      <p:cxnSp>
        <p:nvCxnSpPr>
          <p:cNvPr id="15" name="A-E11 line 13" descr="sci-ppt:o013"/>
          <p:cNvCxnSpPr/>
          <p:nvPr/>
        </p:nvCxnSpPr>
        <p:spPr>
          <a:xfrm>
            <a:off x="484632" y="277977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A-E11 line 14" descr="sci-ppt:o014"/>
          <p:cNvCxnSpPr/>
          <p:nvPr/>
        </p:nvCxnSpPr>
        <p:spPr>
          <a:xfrm>
            <a:off x="548640" y="2779776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A-E11 text 15" descr="sci-ppt:o015"/>
          <p:cNvSpPr txBox="1"/>
          <p:nvPr/>
        </p:nvSpPr>
        <p:spPr>
          <a:xfrm>
            <a:off x="-320040" y="269748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75</a:t>
            </a:r>
          </a:p>
        </p:txBody>
      </p:sp>
      <p:cxnSp>
        <p:nvCxnSpPr>
          <p:cNvPr id="18" name="A-E11 line 16" descr="sci-ppt:o016"/>
          <p:cNvCxnSpPr/>
          <p:nvPr/>
        </p:nvCxnSpPr>
        <p:spPr>
          <a:xfrm>
            <a:off x="484632" y="212140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A-E11 line 17" descr="sci-ppt:o017"/>
          <p:cNvCxnSpPr/>
          <p:nvPr/>
        </p:nvCxnSpPr>
        <p:spPr>
          <a:xfrm>
            <a:off x="548640" y="2121408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A-E11 text 18" descr="sci-ppt:o018"/>
          <p:cNvSpPr txBox="1"/>
          <p:nvPr/>
        </p:nvSpPr>
        <p:spPr>
          <a:xfrm>
            <a:off x="-320040" y="203911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1" name="A-E11 line 19" descr="sci-ppt:o019"/>
          <p:cNvCxnSpPr/>
          <p:nvPr/>
        </p:nvCxnSpPr>
        <p:spPr>
          <a:xfrm>
            <a:off x="484632" y="14630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A-E11 line 20" descr="sci-ppt:o020"/>
          <p:cNvCxnSpPr/>
          <p:nvPr/>
        </p:nvCxnSpPr>
        <p:spPr>
          <a:xfrm>
            <a:off x="548640" y="146304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A-E11 text 21" descr="sci-ppt:o021"/>
          <p:cNvSpPr txBox="1"/>
          <p:nvPr/>
        </p:nvSpPr>
        <p:spPr>
          <a:xfrm>
            <a:off x="-320040" y="13807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125</a:t>
            </a:r>
          </a:p>
        </p:txBody>
      </p:sp>
      <p:sp>
        <p:nvSpPr>
          <p:cNvPr id="24" name="A-E11 rect 22" descr="sci-ppt:o022"/>
          <p:cNvSpPr/>
          <p:nvPr/>
        </p:nvSpPr>
        <p:spPr>
          <a:xfrm>
            <a:off x="727862" y="2121408"/>
            <a:ext cx="921715" cy="2633472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A-E11 text 23" descr="sci-ppt:o023"/>
          <p:cNvSpPr txBox="1"/>
          <p:nvPr/>
        </p:nvSpPr>
        <p:spPr>
          <a:xfrm>
            <a:off x="499262" y="1847088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100.0</a:t>
            </a:r>
          </a:p>
        </p:txBody>
      </p:sp>
      <p:sp>
        <p:nvSpPr>
          <p:cNvPr id="26" name="A-E11 text 24" descr="sci-ppt:o024"/>
          <p:cNvSpPr txBox="1"/>
          <p:nvPr/>
        </p:nvSpPr>
        <p:spPr>
          <a:xfrm>
            <a:off x="45354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p_b − p_∞</a:t>
            </a:r>
          </a:p>
        </p:txBody>
      </p:sp>
      <p:sp>
        <p:nvSpPr>
          <p:cNvPr id="27" name="A-E11 rect 25" descr="sci-ppt:o025"/>
          <p:cNvSpPr/>
          <p:nvPr/>
        </p:nvSpPr>
        <p:spPr>
          <a:xfrm>
            <a:off x="2008022" y="2121408"/>
            <a:ext cx="921715" cy="126406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A-E11 text 26" descr="sci-ppt:o026"/>
          <p:cNvSpPr txBox="1"/>
          <p:nvPr/>
        </p:nvSpPr>
        <p:spPr>
          <a:xfrm>
            <a:off x="1779422" y="1847088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-4.8</a:t>
            </a:r>
          </a:p>
        </p:txBody>
      </p:sp>
      <p:sp>
        <p:nvSpPr>
          <p:cNvPr id="29" name="A-E11 text 27" descr="sci-ppt:o027"/>
          <p:cNvSpPr txBox="1"/>
          <p:nvPr/>
        </p:nvSpPr>
        <p:spPr>
          <a:xfrm>
            <a:off x="173370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− 2σ/R</a:t>
            </a:r>
          </a:p>
        </p:txBody>
      </p:sp>
      <p:sp>
        <p:nvSpPr>
          <p:cNvPr id="30" name="A-E11 rect 28" descr="sci-ppt:o028"/>
          <p:cNvSpPr/>
          <p:nvPr/>
        </p:nvSpPr>
        <p:spPr>
          <a:xfrm>
            <a:off x="3288182" y="2247814"/>
            <a:ext cx="921715" cy="1140968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A-E11 text 29" descr="sci-ppt:o029"/>
          <p:cNvSpPr txBox="1"/>
          <p:nvPr/>
        </p:nvSpPr>
        <p:spPr>
          <a:xfrm>
            <a:off x="3059582" y="1973494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-43.3</a:t>
            </a:r>
          </a:p>
        </p:txBody>
      </p:sp>
      <p:sp>
        <p:nvSpPr>
          <p:cNvPr id="32" name="A-E11 text 30" descr="sci-ppt:o030"/>
          <p:cNvSpPr txBox="1"/>
          <p:nvPr/>
        </p:nvSpPr>
        <p:spPr>
          <a:xfrm>
            <a:off x="301386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pₑₗ</a:t>
            </a:r>
          </a:p>
        </p:txBody>
      </p:sp>
      <p:sp>
        <p:nvSpPr>
          <p:cNvPr id="33" name="A-E11 rect 31" descr="sci-ppt:o031"/>
          <p:cNvSpPr/>
          <p:nvPr/>
        </p:nvSpPr>
        <p:spPr>
          <a:xfrm>
            <a:off x="4568342" y="3037653"/>
            <a:ext cx="921715" cy="351129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A-E11 text 32" descr="sci-ppt:o032"/>
          <p:cNvSpPr txBox="1"/>
          <p:nvPr/>
        </p:nvSpPr>
        <p:spPr>
          <a:xfrm>
            <a:off x="4339742" y="2763333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+13.3</a:t>
            </a:r>
          </a:p>
        </p:txBody>
      </p:sp>
      <p:sp>
        <p:nvSpPr>
          <p:cNvPr id="35" name="A-E11 text 33" descr="sci-ppt:o033"/>
          <p:cNvSpPr txBox="1"/>
          <p:nvPr/>
        </p:nvSpPr>
        <p:spPr>
          <a:xfrm>
            <a:off x="429402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− 4η_gṘ/R</a:t>
            </a:r>
          </a:p>
        </p:txBody>
      </p:sp>
      <p:sp>
        <p:nvSpPr>
          <p:cNvPr id="36" name="A-E11 rect 34" descr="sci-ppt:o034"/>
          <p:cNvSpPr/>
          <p:nvPr/>
        </p:nvSpPr>
        <p:spPr>
          <a:xfrm>
            <a:off x="5848502" y="3037653"/>
            <a:ext cx="921715" cy="1717226"/>
          </a:xfrm>
          <a:prstGeom prst="rect">
            <a:avLst/>
          </a:prstGeom>
          <a:solidFill>
            <a:srgbClr val="A8E6A1">
              <a:alpha val="85000"/>
            </a:srgbClr>
          </a:solidFill>
          <a:ln w="12700">
            <a:solidFill>
              <a:srgbClr val="A8E6A1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A-E11 text 35" descr="sci-ppt:o035"/>
          <p:cNvSpPr txBox="1"/>
          <p:nvPr/>
        </p:nvSpPr>
        <p:spPr>
          <a:xfrm>
            <a:off x="5619902" y="2763333"/>
            <a:ext cx="1378915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65.2</a:t>
            </a:r>
          </a:p>
        </p:txBody>
      </p:sp>
      <p:sp>
        <p:nvSpPr>
          <p:cNvPr id="38" name="A-E11 text 36" descr="sci-ppt:o036"/>
          <p:cNvSpPr txBox="1"/>
          <p:nvPr/>
        </p:nvSpPr>
        <p:spPr>
          <a:xfrm>
            <a:off x="5574182" y="4828032"/>
            <a:ext cx="1470355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ρ_g(RR̈ + 3Ṙ²/2)</a:t>
            </a:r>
          </a:p>
        </p:txBody>
      </p:sp>
      <p:sp>
        <p:nvSpPr>
          <p:cNvPr id="39" name="A-E11 round_rect 37" descr="sci-ppt:o037"/>
          <p:cNvSpPr/>
          <p:nvPr/>
        </p:nvSpPr>
        <p:spPr>
          <a:xfrm>
            <a:off x="7315200" y="914400"/>
            <a:ext cx="452628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A-E11 text 38" descr="sci-ppt:o038"/>
          <p:cNvSpPr txBox="1"/>
          <p:nvPr/>
        </p:nvSpPr>
        <p:spPr>
          <a:xfrm>
            <a:off x="7424927" y="9692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Spherical radial control</a:t>
            </a:r>
          </a:p>
        </p:txBody>
      </p:sp>
      <p:sp>
        <p:nvSpPr>
          <p:cNvPr id="41" name="A-E11 text 39" descr="sci-ppt:o039"/>
          <p:cNvSpPr txBox="1"/>
          <p:nvPr/>
        </p:nvSpPr>
        <p:spPr>
          <a:xfrm>
            <a:off x="7452360" y="1371600"/>
            <a:ext cx="4297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ρ_g(RR̈ + 3Ṙ²/2) = p_b − p_∞ − 2σ/R − pₑₗ − 4η_gṘ/R</a:t>
            </a:r>
          </a:p>
        </p:txBody>
      </p:sp>
      <p:sp>
        <p:nvSpPr>
          <p:cNvPr id="42" name="A-E11 text 40" descr="sci-ppt:o040"/>
          <p:cNvSpPr txBox="1"/>
          <p:nvPr/>
        </p:nvSpPr>
        <p:spPr>
          <a:xfrm>
            <a:off x="7653528" y="2286000"/>
            <a:ext cx="409651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Left: inertia of the surrounding gel.</a:t>
            </a:r>
          </a:p>
        </p:txBody>
      </p:sp>
      <p:sp>
        <p:nvSpPr>
          <p:cNvPr id="43" name="A-E11 ellipse 41" descr="sci-ppt:o041"/>
          <p:cNvSpPr/>
          <p:nvPr/>
        </p:nvSpPr>
        <p:spPr>
          <a:xfrm>
            <a:off x="7484364" y="233934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A-E11 text 42" descr="sci-ppt:o042"/>
          <p:cNvSpPr txBox="1"/>
          <p:nvPr/>
        </p:nvSpPr>
        <p:spPr>
          <a:xfrm>
            <a:off x="7653528" y="2563368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Right: driving overpressure minus capillary,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elastic and viscous resistance.</a:t>
            </a:r>
          </a:p>
        </p:txBody>
      </p:sp>
      <p:sp>
        <p:nvSpPr>
          <p:cNvPr id="45" name="A-E11 ellipse 43" descr="sci-ppt:o043"/>
          <p:cNvSpPr/>
          <p:nvPr/>
        </p:nvSpPr>
        <p:spPr>
          <a:xfrm>
            <a:off x="7484364" y="261670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A-E11 text 44" descr="sci-ppt:o044"/>
          <p:cNvSpPr txBox="1"/>
          <p:nvPr/>
        </p:nvSpPr>
        <p:spPr>
          <a:xfrm>
            <a:off x="7653528" y="3026663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Inward motion (Ṙ &lt; 0) turns the viscous term into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push.</a:t>
            </a:r>
          </a:p>
        </p:txBody>
      </p:sp>
      <p:sp>
        <p:nvSpPr>
          <p:cNvPr id="47" name="A-E11 ellipse 45" descr="sci-ppt:o045"/>
          <p:cNvSpPr/>
          <p:nvPr/>
        </p:nvSpPr>
        <p:spPr>
          <a:xfrm>
            <a:off x="7484364" y="3080004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A-E11 text 46" descr="sci-ppt:o046"/>
          <p:cNvSpPr txBox="1"/>
          <p:nvPr/>
        </p:nvSpPr>
        <p:spPr>
          <a:xfrm>
            <a:off x="548640" y="507492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Illustration: p_b − p_∞ = 100 kPa, R = 30 µm, Ṙ = −10 m/s, σ = 0.072 N/m (assumed), η_g = 0.010 Pa s, G_g = 20 kPa, R_ref = 5 µm.</a:t>
            </a:r>
          </a:p>
        </p:txBody>
      </p:sp>
      <p:sp>
        <p:nvSpPr>
          <p:cNvPr id="49" name="A-E11 text 47" descr="sci-ppt:o047"/>
          <p:cNvSpPr txBox="1"/>
          <p:nvPr/>
        </p:nvSpPr>
        <p:spPr>
          <a:xfrm>
            <a:off x="548640" y="557784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model quantifies cavity work before any directional-flow calculation; it does not create an outlet.</a:t>
            </a:r>
          </a:p>
        </p:txBody>
      </p:sp>
      <p:sp>
        <p:nvSpPr>
          <p:cNvPr id="50" name="A-E11 text 48" descr="sci-ppt:o04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Radial control of Eq. A-E11 (values illustrative; the inertia bar is what is left over).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