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3701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 1: plot geometry" descr="sci-ppt:obj-0001"/>
          <p:cNvSpPr/>
          <p:nvPr/>
        </p:nvSpPr>
        <p:spPr>
          <a:xfrm>
            <a:off x="0" y="0"/>
            <a:ext cx="12191695" cy="370105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 2: plot geometry" descr="sci-ppt:obj-0002"/>
          <p:cNvSpPr/>
          <p:nvPr/>
        </p:nvSpPr>
        <p:spPr>
          <a:xfrm>
            <a:off x="326563" y="1088544"/>
            <a:ext cx="3374487" cy="1741670"/>
          </a:xfrm>
          <a:prstGeom prst="rect">
            <a:avLst/>
          </a:prstGeom>
          <a:solidFill>
            <a:srgbClr val="DCEBF6"/>
          </a:solidFill>
          <a:ln w="10885">
            <a:solidFill>
              <a:srgbClr val="8CAA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 3: Finite initialized source" descr="sci-ppt:obj-0003"/>
          <p:cNvSpPr txBox="1"/>
          <p:nvPr/>
        </p:nvSpPr>
        <p:spPr>
          <a:xfrm>
            <a:off x="538610" y="1233756"/>
            <a:ext cx="3605477" cy="3232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85" b="0" i="0">
                <a:solidFill>
                  <a:srgbClr val="183348"/>
                </a:solidFill>
                <a:latin typeface="Arial"/>
              </a:rPr>
              <a:t>Finite initialized source</a:t>
            </a:r>
          </a:p>
        </p:txBody>
      </p:sp>
      <p:sp>
        <p:nvSpPr>
          <p:cNvPr id="5" name="text 4: p0 + gas volume → available E0" descr="sci-ppt:obj-0004"/>
          <p:cNvSpPr txBox="1"/>
          <p:nvPr/>
        </p:nvSpPr>
        <p:spPr>
          <a:xfrm>
            <a:off x="538610" y="1670479"/>
            <a:ext cx="3541253" cy="264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2" b="0" i="0">
                <a:solidFill>
                  <a:srgbClr val="183348"/>
                </a:solidFill>
                <a:latin typeface="Arial"/>
              </a:rPr>
              <a:t>p0 + gas volume → available E0</a:t>
            </a:r>
          </a:p>
        </p:txBody>
      </p:sp>
      <p:sp>
        <p:nvSpPr>
          <p:cNvPr id="6" name="text 5: Pressure falls as Vg grows" descr="sci-ppt:obj-0005"/>
          <p:cNvSpPr txBox="1"/>
          <p:nvPr/>
        </p:nvSpPr>
        <p:spPr>
          <a:xfrm>
            <a:off x="538610" y="2040911"/>
            <a:ext cx="2911857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Pressure falls as Vg grows</a:t>
            </a:r>
          </a:p>
        </p:txBody>
      </p:sp>
      <p:sp>
        <p:nvSpPr>
          <p:cNvPr id="7" name="text 6: One short activation; initial data" descr="sci-ppt:obj-0006"/>
          <p:cNvSpPr txBox="1"/>
          <p:nvPr/>
        </p:nvSpPr>
        <p:spPr>
          <a:xfrm>
            <a:off x="538610" y="2400131"/>
            <a:ext cx="3785305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One short activation; initial data</a:t>
            </a:r>
          </a:p>
        </p:txBody>
      </p:sp>
      <p:sp>
        <p:nvSpPr>
          <p:cNvPr id="8" name="rect 7: plot geometry" descr="sci-ppt:obj-0007"/>
          <p:cNvSpPr/>
          <p:nvPr/>
        </p:nvSpPr>
        <p:spPr>
          <a:xfrm>
            <a:off x="6422410" y="380990"/>
            <a:ext cx="5333866" cy="1251825"/>
          </a:xfrm>
          <a:prstGeom prst="rect">
            <a:avLst/>
          </a:prstGeom>
          <a:solidFill>
            <a:srgbClr val="E2EDF9"/>
          </a:solidFill>
          <a:ln w="10885">
            <a:solidFill>
              <a:srgbClr val="8CAA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8: Liquid outlet — A and open B" descr="sci-ppt:obj-0008"/>
          <p:cNvSpPr txBox="1"/>
          <p:nvPr/>
        </p:nvSpPr>
        <p:spPr>
          <a:xfrm>
            <a:off x="6645344" y="537087"/>
            <a:ext cx="4029357" cy="3232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85" b="0" i="0">
                <a:solidFill>
                  <a:srgbClr val="183348"/>
                </a:solidFill>
                <a:latin typeface="Arial"/>
              </a:rPr>
              <a:t>Liquid outlet — A and open B</a:t>
            </a:r>
          </a:p>
        </p:txBody>
      </p:sp>
      <p:sp>
        <p:nvSpPr>
          <p:cNvPr id="10" name="text 9: U → emitted mass, energy Eout, impulse Iout" descr="sci-ppt:obj-0009"/>
          <p:cNvSpPr txBox="1"/>
          <p:nvPr/>
        </p:nvSpPr>
        <p:spPr>
          <a:xfrm>
            <a:off x="6645344" y="952040"/>
            <a:ext cx="5044098" cy="264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2" b="0" i="0">
                <a:solidFill>
                  <a:srgbClr val="183348"/>
                </a:solidFill>
                <a:latin typeface="Arial"/>
              </a:rPr>
              <a:t>U → emitted mass, energy Eout, impulse Iout</a:t>
            </a:r>
          </a:p>
        </p:txBody>
      </p:sp>
      <p:sp>
        <p:nvSpPr>
          <p:cNvPr id="11" name="text 10: Column storage Kjet remains a separate output" descr="sci-ppt:obj-0010"/>
          <p:cNvSpPr txBox="1"/>
          <p:nvPr/>
        </p:nvSpPr>
        <p:spPr>
          <a:xfrm>
            <a:off x="6645344" y="1290142"/>
            <a:ext cx="4697287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Column storage Kjet remains a separate output</a:t>
            </a:r>
          </a:p>
        </p:txBody>
      </p:sp>
      <p:sp>
        <p:nvSpPr>
          <p:cNvPr id="12" name="rect 11: plot geometry" descr="sci-ppt:obj-0011"/>
          <p:cNvSpPr/>
          <p:nvPr/>
        </p:nvSpPr>
        <p:spPr>
          <a:xfrm>
            <a:off x="6422410" y="2122661"/>
            <a:ext cx="5333866" cy="1251825"/>
          </a:xfrm>
          <a:prstGeom prst="rect">
            <a:avLst/>
          </a:prstGeom>
          <a:solidFill>
            <a:srgbClr val="EEE3F4"/>
          </a:solidFill>
          <a:ln w="10885">
            <a:solidFill>
              <a:srgbClr val="AA90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 12: Gel wall — Model B" descr="sci-ppt:obj-0012"/>
          <p:cNvSpPr txBox="1"/>
          <p:nvPr/>
        </p:nvSpPr>
        <p:spPr>
          <a:xfrm>
            <a:off x="6645344" y="2267873"/>
            <a:ext cx="2616426" cy="3232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85" b="0" i="0">
                <a:solidFill>
                  <a:srgbClr val="183348"/>
                </a:solidFill>
                <a:latin typeface="Arial"/>
              </a:rPr>
              <a:t>Gel wall — Model B</a:t>
            </a:r>
          </a:p>
        </p:txBody>
      </p:sp>
      <p:sp>
        <p:nvSpPr>
          <p:cNvPr id="14" name="text 13: R, Uw → elastic pressure and hemisphere force" descr="sci-ppt:obj-0013"/>
          <p:cNvSpPr txBox="1"/>
          <p:nvPr/>
        </p:nvSpPr>
        <p:spPr>
          <a:xfrm>
            <a:off x="6645344" y="2682826"/>
            <a:ext cx="5275304" cy="264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2" b="0" i="0">
                <a:solidFill>
                  <a:srgbClr val="183348"/>
                </a:solidFill>
                <a:latin typeface="Arial"/>
              </a:rPr>
              <a:t>R, Uw → elastic pressure and hemisphere force</a:t>
            </a:r>
          </a:p>
        </p:txBody>
      </p:sp>
      <p:sp>
        <p:nvSpPr>
          <p:cNvPr id="15" name="text 14: Radial inertia + stored elastic work + loss" descr="sci-ppt:obj-0014"/>
          <p:cNvSpPr txBox="1"/>
          <p:nvPr/>
        </p:nvSpPr>
        <p:spPr>
          <a:xfrm>
            <a:off x="6645344" y="3020927"/>
            <a:ext cx="4491770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Radial inertia + stored elastic work + loss</a:t>
            </a:r>
          </a:p>
        </p:txBody>
      </p:sp>
      <p:sp>
        <p:nvSpPr>
          <p:cNvPr id="16" name="polygon 15: plot geometry" descr="sci-ppt:obj-0015"/>
          <p:cNvSpPr/>
          <p:nvPr/>
        </p:nvSpPr>
        <p:spPr>
          <a:xfrm>
            <a:off x="3701050" y="1023231"/>
            <a:ext cx="2612506" cy="642241"/>
          </a:xfrm>
          <a:custGeom>
            <a:avLst/>
            <a:gdLst/>
            <a:ahLst/>
            <a:cxnLst/>
            <a:rect l="l" t="t" r="r" b="b"/>
            <a:pathLst>
              <a:path w="2612506" h="642241">
                <a:moveTo>
                  <a:pt x="0" y="642241"/>
                </a:moveTo>
                <a:lnTo>
                  <a:pt x="201078" y="629604"/>
                </a:lnTo>
                <a:lnTo>
                  <a:pt x="374943" y="594668"/>
                </a:lnTo>
                <a:lnTo>
                  <a:pt x="530665" y="541891"/>
                </a:lnTo>
                <a:lnTo>
                  <a:pt x="677316" y="475734"/>
                </a:lnTo>
                <a:lnTo>
                  <a:pt x="823967" y="400657"/>
                </a:lnTo>
                <a:lnTo>
                  <a:pt x="979690" y="321121"/>
                </a:lnTo>
                <a:lnTo>
                  <a:pt x="1153554" y="241584"/>
                </a:lnTo>
                <a:lnTo>
                  <a:pt x="1354633" y="166507"/>
                </a:lnTo>
                <a:lnTo>
                  <a:pt x="1591996" y="100350"/>
                </a:lnTo>
                <a:lnTo>
                  <a:pt x="1874715" y="47573"/>
                </a:lnTo>
                <a:lnTo>
                  <a:pt x="2211861" y="12637"/>
                </a:lnTo>
                <a:lnTo>
                  <a:pt x="2612506" y="0"/>
                </a:lnTo>
              </a:path>
            </a:pathLst>
          </a:custGeom>
          <a:noFill/>
          <a:ln w="32656">
            <a:solidFill>
              <a:srgbClr val="526D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 16: plot geometry" descr="sci-ppt:obj-0016"/>
          <p:cNvSpPr/>
          <p:nvPr/>
        </p:nvSpPr>
        <p:spPr>
          <a:xfrm>
            <a:off x="3701050" y="2264171"/>
            <a:ext cx="2612506" cy="489845"/>
          </a:xfrm>
          <a:custGeom>
            <a:avLst/>
            <a:gdLst/>
            <a:ahLst/>
            <a:cxnLst/>
            <a:rect l="l" t="t" r="r" b="b"/>
            <a:pathLst>
              <a:path w="2612506" h="489845">
                <a:moveTo>
                  <a:pt x="0" y="0"/>
                </a:moveTo>
                <a:lnTo>
                  <a:pt x="201078" y="9639"/>
                </a:lnTo>
                <a:lnTo>
                  <a:pt x="374943" y="36285"/>
                </a:lnTo>
                <a:lnTo>
                  <a:pt x="530665" y="76539"/>
                </a:lnTo>
                <a:lnTo>
                  <a:pt x="677316" y="126997"/>
                </a:lnTo>
                <a:lnTo>
                  <a:pt x="823967" y="184259"/>
                </a:lnTo>
                <a:lnTo>
                  <a:pt x="979690" y="244923"/>
                </a:lnTo>
                <a:lnTo>
                  <a:pt x="1153554" y="305587"/>
                </a:lnTo>
                <a:lnTo>
                  <a:pt x="1354633" y="362849"/>
                </a:lnTo>
                <a:lnTo>
                  <a:pt x="1591996" y="413307"/>
                </a:lnTo>
                <a:lnTo>
                  <a:pt x="1874715" y="453561"/>
                </a:lnTo>
                <a:lnTo>
                  <a:pt x="2211861" y="480207"/>
                </a:lnTo>
                <a:lnTo>
                  <a:pt x="2612506" y="489845"/>
                </a:lnTo>
              </a:path>
            </a:pathLst>
          </a:custGeom>
          <a:noFill/>
          <a:ln w="32656">
            <a:solidFill>
              <a:srgbClr val="526D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: Discharge increases Vg" descr="sci-ppt:obj-0017"/>
          <p:cNvSpPr txBox="1"/>
          <p:nvPr/>
        </p:nvSpPr>
        <p:spPr>
          <a:xfrm>
            <a:off x="3913098" y="593474"/>
            <a:ext cx="2333840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Discharge increases Vg</a:t>
            </a:r>
          </a:p>
        </p:txBody>
      </p:sp>
      <p:sp>
        <p:nvSpPr>
          <p:cNvPr id="19" name="text 18: Wall expansion increases Vg" descr="sci-ppt:obj-0018"/>
          <p:cNvSpPr txBox="1"/>
          <p:nvPr/>
        </p:nvSpPr>
        <p:spPr>
          <a:xfrm>
            <a:off x="3858670" y="3064469"/>
            <a:ext cx="2847633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Wall expansion increases Vg</a:t>
            </a:r>
          </a:p>
        </p:txBody>
      </p:sp>
      <p:sp>
        <p:nvSpPr>
          <p:cNvPr id="20" name="text 19: A: fixed wall     B open: two energy routes     B sealed: wall route, " descr="sci-ppt:obj-0019"/>
          <p:cNvSpPr txBox="1"/>
          <p:nvPr/>
        </p:nvSpPr>
        <p:spPr>
          <a:xfrm>
            <a:off x="320902" y="200618"/>
            <a:ext cx="10323319" cy="2792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28" b="0" i="0">
                <a:solidFill>
                  <a:srgbClr val="183348"/>
                </a:solidFill>
                <a:latin typeface="Arial"/>
              </a:rPr>
              <a:t>A: fixed wall     B open: two energy routes     B sealed: wall route, zero discharge</a:t>
            </a:r>
          </a:p>
        </p:txBody>
      </p:sp>
      <p:cxnSp>
        <p:nvCxnSpPr>
          <p:cNvPr id="21" name="Energy route arrow 1" descr="sci-ppt:route-head-0"/>
          <p:cNvCxnSpPr/>
          <p:nvPr/>
        </p:nvCxnSpPr>
        <p:spPr>
          <a:xfrm>
            <a:off x="6095847" y="1023231"/>
            <a:ext cx="217709" cy="0"/>
          </a:xfrm>
          <a:prstGeom prst="line">
            <a:avLst/>
          </a:prstGeom>
          <a:ln w="25400">
            <a:solidFill>
              <a:srgbClr val="526D83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22" name="Energy route arrow 2" descr="sci-ppt:route-head-1"/>
          <p:cNvCxnSpPr/>
          <p:nvPr/>
        </p:nvCxnSpPr>
        <p:spPr>
          <a:xfrm>
            <a:off x="6095847" y="2754016"/>
            <a:ext cx="217709" cy="0"/>
          </a:xfrm>
          <a:prstGeom prst="line">
            <a:avLst/>
          </a:prstGeom>
          <a:ln w="25400">
            <a:solidFill>
              <a:srgbClr val="526D83"/>
            </a:solidFill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