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-E21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A-E21 · Original radial control recalled</a:t>
            </a:r>
          </a:p>
        </p:txBody>
      </p:sp>
      <p:sp>
        <p:nvSpPr>
          <p:cNvPr id="3" name="A-E21 text 1" descr="sci-ppt:o001"/>
          <p:cNvSpPr txBox="1"/>
          <p:nvPr/>
        </p:nvSpPr>
        <p:spPr>
          <a:xfrm>
            <a:off x="457200" y="914400"/>
            <a:ext cx="1124712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Recalled radial control: expansion and resistance, not an outlet</a:t>
            </a:r>
          </a:p>
        </p:txBody>
      </p:sp>
      <p:sp>
        <p:nvSpPr>
          <p:cNvPr id="4" name="A-E21 text 2" descr="sci-ppt:o002"/>
          <p:cNvSpPr txBox="1"/>
          <p:nvPr/>
        </p:nvSpPr>
        <p:spPr>
          <a:xfrm>
            <a:off x="457200" y="1371600"/>
            <a:ext cx="11247120" cy="29362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E7F0F3"/>
                </a:solidFill>
                <a:latin typeface="Arial"/>
              </a:rPr>
              <a:t>ρ_g(RR̈ + 3Ṙ²/2) = p_b − p_∞ − 2σ/R − pₑₗ(R) − 4η_gṘ/R</a:t>
            </a:r>
          </a:p>
        </p:txBody>
      </p:sp>
      <p:sp>
        <p:nvSpPr>
          <p:cNvPr id="5" name="A-E21 round_rect 3" descr="sci-ppt:o003"/>
          <p:cNvSpPr/>
          <p:nvPr/>
        </p:nvSpPr>
        <p:spPr>
          <a:xfrm>
            <a:off x="457200" y="2286000"/>
            <a:ext cx="2148840" cy="155448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7FC8F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A-E21 text 4" descr="sci-ppt:o004"/>
          <p:cNvSpPr txBox="1"/>
          <p:nvPr/>
        </p:nvSpPr>
        <p:spPr>
          <a:xfrm>
            <a:off x="566928" y="2340864"/>
            <a:ext cx="1929384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7FC8F8"/>
                </a:solidFill>
                <a:latin typeface="Arial"/>
              </a:rPr>
              <a:t>inertia</a:t>
            </a:r>
          </a:p>
        </p:txBody>
      </p:sp>
      <p:sp>
        <p:nvSpPr>
          <p:cNvPr id="7" name="A-E21 text 5" descr="sci-ppt:o005"/>
          <p:cNvSpPr txBox="1"/>
          <p:nvPr/>
        </p:nvSpPr>
        <p:spPr>
          <a:xfrm>
            <a:off x="530352" y="2880360"/>
            <a:ext cx="201168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E7F0F3"/>
                </a:solidFill>
                <a:latin typeface="Arial"/>
              </a:rPr>
              <a:t>ρ_g(RR̈ + 3Ṙ²/2)</a:t>
            </a:r>
          </a:p>
        </p:txBody>
      </p:sp>
      <p:sp>
        <p:nvSpPr>
          <p:cNvPr id="8" name="A-E21 round_rect 6" descr="sci-ppt:o006"/>
          <p:cNvSpPr/>
          <p:nvPr/>
        </p:nvSpPr>
        <p:spPr>
          <a:xfrm>
            <a:off x="2743200" y="2286000"/>
            <a:ext cx="2148840" cy="155448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A-E21 text 7" descr="sci-ppt:o007"/>
          <p:cNvSpPr txBox="1"/>
          <p:nvPr/>
        </p:nvSpPr>
        <p:spPr>
          <a:xfrm>
            <a:off x="2852928" y="2340864"/>
            <a:ext cx="1929384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8EDBD4"/>
                </a:solidFill>
                <a:latin typeface="Arial"/>
              </a:rPr>
              <a:t>driving</a:t>
            </a:r>
          </a:p>
        </p:txBody>
      </p:sp>
      <p:sp>
        <p:nvSpPr>
          <p:cNvPr id="10" name="A-E21 text 8" descr="sci-ppt:o008"/>
          <p:cNvSpPr txBox="1"/>
          <p:nvPr/>
        </p:nvSpPr>
        <p:spPr>
          <a:xfrm>
            <a:off x="2816352" y="2880360"/>
            <a:ext cx="201168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E7F0F3"/>
                </a:solidFill>
                <a:latin typeface="Arial"/>
              </a:rPr>
              <a:t>p_b − p_∞</a:t>
            </a:r>
          </a:p>
        </p:txBody>
      </p:sp>
      <p:sp>
        <p:nvSpPr>
          <p:cNvPr id="11" name="A-E21 round_rect 9" descr="sci-ppt:o009"/>
          <p:cNvSpPr/>
          <p:nvPr/>
        </p:nvSpPr>
        <p:spPr>
          <a:xfrm>
            <a:off x="5029200" y="2286000"/>
            <a:ext cx="2148840" cy="155448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A-E21 text 10" descr="sci-ppt:o010"/>
          <p:cNvSpPr txBox="1"/>
          <p:nvPr/>
        </p:nvSpPr>
        <p:spPr>
          <a:xfrm>
            <a:off x="5138928" y="2340864"/>
            <a:ext cx="1929384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capillary</a:t>
            </a:r>
          </a:p>
        </p:txBody>
      </p:sp>
      <p:sp>
        <p:nvSpPr>
          <p:cNvPr id="13" name="A-E21 text 11" descr="sci-ppt:o011"/>
          <p:cNvSpPr txBox="1"/>
          <p:nvPr/>
        </p:nvSpPr>
        <p:spPr>
          <a:xfrm>
            <a:off x="5102352" y="2880360"/>
            <a:ext cx="201168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E7F0F3"/>
                </a:solidFill>
                <a:latin typeface="Arial"/>
              </a:rPr>
              <a:t>2σ/R</a:t>
            </a:r>
          </a:p>
        </p:txBody>
      </p:sp>
      <p:sp>
        <p:nvSpPr>
          <p:cNvPr id="14" name="A-E21 round_rect 12" descr="sci-ppt:o012"/>
          <p:cNvSpPr/>
          <p:nvPr/>
        </p:nvSpPr>
        <p:spPr>
          <a:xfrm>
            <a:off x="7315200" y="2286000"/>
            <a:ext cx="2148840" cy="155448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A-E21 text 13" descr="sci-ppt:o013"/>
          <p:cNvSpPr txBox="1"/>
          <p:nvPr/>
        </p:nvSpPr>
        <p:spPr>
          <a:xfrm>
            <a:off x="7424927" y="2340864"/>
            <a:ext cx="1929384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8BA0"/>
                </a:solidFill>
                <a:latin typeface="Arial"/>
              </a:rPr>
              <a:t>elastic</a:t>
            </a:r>
          </a:p>
        </p:txBody>
      </p:sp>
      <p:sp>
        <p:nvSpPr>
          <p:cNvPr id="16" name="A-E21 text 14" descr="sci-ppt:o014"/>
          <p:cNvSpPr txBox="1"/>
          <p:nvPr/>
        </p:nvSpPr>
        <p:spPr>
          <a:xfrm>
            <a:off x="7388352" y="2880360"/>
            <a:ext cx="201168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E7F0F3"/>
                </a:solidFill>
                <a:latin typeface="Arial"/>
              </a:rPr>
              <a:t>pₑₗ(R)</a:t>
            </a:r>
          </a:p>
        </p:txBody>
      </p:sp>
      <p:sp>
        <p:nvSpPr>
          <p:cNvPr id="17" name="A-E21 round_rect 15" descr="sci-ppt:o015"/>
          <p:cNvSpPr/>
          <p:nvPr/>
        </p:nvSpPr>
        <p:spPr>
          <a:xfrm>
            <a:off x="9601200" y="2286000"/>
            <a:ext cx="2148840" cy="155448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A8E6A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A-E21 text 16" descr="sci-ppt:o016"/>
          <p:cNvSpPr txBox="1"/>
          <p:nvPr/>
        </p:nvSpPr>
        <p:spPr>
          <a:xfrm>
            <a:off x="9710928" y="2340864"/>
            <a:ext cx="1929384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A8E6A1"/>
                </a:solidFill>
                <a:latin typeface="Arial"/>
              </a:rPr>
              <a:t>viscous</a:t>
            </a:r>
          </a:p>
        </p:txBody>
      </p:sp>
      <p:sp>
        <p:nvSpPr>
          <p:cNvPr id="19" name="A-E21 text 17" descr="sci-ppt:o017"/>
          <p:cNvSpPr txBox="1"/>
          <p:nvPr/>
        </p:nvSpPr>
        <p:spPr>
          <a:xfrm>
            <a:off x="9674352" y="2880360"/>
            <a:ext cx="201168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E7F0F3"/>
                </a:solidFill>
                <a:latin typeface="Arial"/>
              </a:rPr>
              <a:t>4η_gṘ/R</a:t>
            </a:r>
          </a:p>
        </p:txBody>
      </p:sp>
      <p:sp>
        <p:nvSpPr>
          <p:cNvPr id="20" name="A-E21 round_rect 18" descr="sci-ppt:o018"/>
          <p:cNvSpPr/>
          <p:nvPr/>
        </p:nvSpPr>
        <p:spPr>
          <a:xfrm>
            <a:off x="457200" y="4114800"/>
            <a:ext cx="5486400" cy="16002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A-E21 text 19" descr="sci-ppt:o019"/>
          <p:cNvSpPr txBox="1"/>
          <p:nvPr/>
        </p:nvSpPr>
        <p:spPr>
          <a:xfrm>
            <a:off x="566928" y="4169663"/>
            <a:ext cx="5266944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8EDBD4"/>
                </a:solidFill>
                <a:latin typeface="Arial"/>
              </a:rPr>
              <a:t>What it describes</a:t>
            </a:r>
          </a:p>
        </p:txBody>
      </p:sp>
      <p:sp>
        <p:nvSpPr>
          <p:cNvPr id="22" name="A-E21 text 20" descr="sci-ppt:o020"/>
          <p:cNvSpPr txBox="1"/>
          <p:nvPr/>
        </p:nvSpPr>
        <p:spPr>
          <a:xfrm>
            <a:off x="594360" y="4572000"/>
            <a:ext cx="521208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Spherical expansion of a cavity and the resistance of the gel to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it.</a:t>
            </a:r>
          </a:p>
        </p:txBody>
      </p:sp>
      <p:sp>
        <p:nvSpPr>
          <p:cNvPr id="23" name="A-E21 round_rect 21" descr="sci-ppt:o021"/>
          <p:cNvSpPr/>
          <p:nvPr/>
        </p:nvSpPr>
        <p:spPr>
          <a:xfrm>
            <a:off x="6217920" y="4114800"/>
            <a:ext cx="5486400" cy="16002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A-E21 text 22" descr="sci-ppt:o022"/>
          <p:cNvSpPr txBox="1"/>
          <p:nvPr/>
        </p:nvSpPr>
        <p:spPr>
          <a:xfrm>
            <a:off x="6327648" y="4169663"/>
            <a:ext cx="5266944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8BA0"/>
                </a:solidFill>
                <a:latin typeface="Arial"/>
              </a:rPr>
              <a:t>What it cannot do</a:t>
            </a:r>
          </a:p>
        </p:txBody>
      </p:sp>
      <p:sp>
        <p:nvSpPr>
          <p:cNvPr id="25" name="A-E21 text 23" descr="sci-ppt:o023"/>
          <p:cNvSpPr txBox="1"/>
          <p:nvPr/>
        </p:nvSpPr>
        <p:spPr>
          <a:xfrm>
            <a:off x="6355080" y="4572000"/>
            <a:ext cx="521208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It does not manufacture an outlet: no hole, no jet exit, no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directional flow.</a:t>
            </a:r>
          </a:p>
        </p:txBody>
      </p:sp>
      <p:sp>
        <p:nvSpPr>
          <p:cNvPr id="26" name="A-E21 text 24" descr="sci-ppt:o024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Original answer recalled: Eq. A-E11 (Defence 1).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