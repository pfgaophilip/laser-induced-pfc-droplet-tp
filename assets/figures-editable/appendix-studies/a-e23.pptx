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-E2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A-E23 · Original event-response formulas recalled</a:t>
            </a:r>
          </a:p>
        </p:txBody>
      </p:sp>
      <p:sp>
        <p:nvSpPr>
          <p:cNvPr id="3" name="A-E23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Three timescale comparisons, three assumptions</a:t>
            </a:r>
          </a:p>
        </p:txBody>
      </p:sp>
      <p:sp>
        <p:nvSpPr>
          <p:cNvPr id="4" name="A-E23 round_rect 2" descr="sci-ppt:o002"/>
          <p:cNvSpPr/>
          <p:nvPr/>
        </p:nvSpPr>
        <p:spPr>
          <a:xfrm>
            <a:off x="457200" y="1371600"/>
            <a:ext cx="3611880" cy="31089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A-E23 text 3" descr="sci-ppt:o003"/>
          <p:cNvSpPr txBox="1"/>
          <p:nvPr/>
        </p:nvSpPr>
        <p:spPr>
          <a:xfrm>
            <a:off x="566928" y="1426464"/>
            <a:ext cx="3392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FC8F8"/>
                </a:solidFill>
                <a:latin typeface="Arial"/>
              </a:rPr>
              <a:t>Deborah number</a:t>
            </a:r>
          </a:p>
        </p:txBody>
      </p:sp>
      <p:sp>
        <p:nvSpPr>
          <p:cNvPr id="6" name="A-E23 text 4" descr="sci-ppt:o004"/>
          <p:cNvSpPr txBox="1"/>
          <p:nvPr/>
        </p:nvSpPr>
        <p:spPr>
          <a:xfrm>
            <a:off x="548640" y="1920240"/>
            <a:ext cx="3429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De = τᵣₑₗ / τₑ</a:t>
            </a:r>
          </a:p>
        </p:txBody>
      </p:sp>
      <p:sp>
        <p:nvSpPr>
          <p:cNvPr id="7" name="A-E23 text 5" descr="sci-ppt:o005"/>
          <p:cNvSpPr txBox="1"/>
          <p:nvPr/>
        </p:nvSpPr>
        <p:spPr>
          <a:xfrm>
            <a:off x="548640" y="2926080"/>
            <a:ext cx="3429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does the network relax during the event?</a:t>
            </a:r>
          </a:p>
        </p:txBody>
      </p:sp>
      <p:sp>
        <p:nvSpPr>
          <p:cNvPr id="8" name="A-E23 text 6" descr="sci-ppt:o006"/>
          <p:cNvSpPr txBox="1"/>
          <p:nvPr/>
        </p:nvSpPr>
        <p:spPr>
          <a:xfrm>
            <a:off x="548640" y="3749039"/>
            <a:ext cx="34290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viscoelastic response</a:t>
            </a:r>
          </a:p>
        </p:txBody>
      </p:sp>
      <p:sp>
        <p:nvSpPr>
          <p:cNvPr id="9" name="A-E23 round_rect 7" descr="sci-ppt:o007"/>
          <p:cNvSpPr/>
          <p:nvPr/>
        </p:nvSpPr>
        <p:spPr>
          <a:xfrm>
            <a:off x="4251960" y="1371600"/>
            <a:ext cx="3611880" cy="31089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A-E23 text 8" descr="sci-ppt:o008"/>
          <p:cNvSpPr txBox="1"/>
          <p:nvPr/>
        </p:nvSpPr>
        <p:spPr>
          <a:xfrm>
            <a:off x="4361688" y="1426464"/>
            <a:ext cx="3392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Shear crossing</a:t>
            </a:r>
          </a:p>
        </p:txBody>
      </p:sp>
      <p:sp>
        <p:nvSpPr>
          <p:cNvPr id="11" name="A-E23 text 9" descr="sci-ppt:o009"/>
          <p:cNvSpPr txBox="1"/>
          <p:nvPr/>
        </p:nvSpPr>
        <p:spPr>
          <a:xfrm>
            <a:off x="4343400" y="1920240"/>
            <a:ext cx="3429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tₛ = L_g / √(G_g/ρ_g) = 6.71 µs</a:t>
            </a:r>
          </a:p>
        </p:txBody>
      </p:sp>
      <p:sp>
        <p:nvSpPr>
          <p:cNvPr id="12" name="A-E23 text 10" descr="sci-ppt:o010"/>
          <p:cNvSpPr txBox="1"/>
          <p:nvPr/>
        </p:nvSpPr>
        <p:spPr>
          <a:xfrm>
            <a:off x="4343400" y="2926080"/>
            <a:ext cx="3429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is the gel quasi-static over the event?</a:t>
            </a:r>
          </a:p>
        </p:txBody>
      </p:sp>
      <p:sp>
        <p:nvSpPr>
          <p:cNvPr id="13" name="A-E23 text 11" descr="sci-ppt:o011"/>
          <p:cNvSpPr txBox="1"/>
          <p:nvPr/>
        </p:nvSpPr>
        <p:spPr>
          <a:xfrm>
            <a:off x="4343400" y="3749039"/>
            <a:ext cx="34290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inertia / wave travel</a:t>
            </a:r>
          </a:p>
        </p:txBody>
      </p:sp>
      <p:sp>
        <p:nvSpPr>
          <p:cNvPr id="14" name="A-E23 round_rect 12" descr="sci-ppt:o012"/>
          <p:cNvSpPr/>
          <p:nvPr/>
        </p:nvSpPr>
        <p:spPr>
          <a:xfrm>
            <a:off x="8046720" y="1371600"/>
            <a:ext cx="3611880" cy="31089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A-E23 text 13" descr="sci-ppt:o013"/>
          <p:cNvSpPr txBox="1"/>
          <p:nvPr/>
        </p:nvSpPr>
        <p:spPr>
          <a:xfrm>
            <a:off x="8156448" y="1426464"/>
            <a:ext cx="3392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Drainage</a:t>
            </a:r>
          </a:p>
        </p:txBody>
      </p:sp>
      <p:sp>
        <p:nvSpPr>
          <p:cNvPr id="16" name="A-E23 text 14" descr="sci-ppt:o014"/>
          <p:cNvSpPr txBox="1"/>
          <p:nvPr/>
        </p:nvSpPr>
        <p:spPr>
          <a:xfrm>
            <a:off x="8138160" y="1920240"/>
            <a:ext cx="3429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tₚₒᵣₒ ~ μₗ L_g² / (k M_d) = 1.5 s</a:t>
            </a:r>
          </a:p>
        </p:txBody>
      </p:sp>
      <p:sp>
        <p:nvSpPr>
          <p:cNvPr id="17" name="A-E23 text 15" descr="sci-ppt:o015"/>
          <p:cNvSpPr txBox="1"/>
          <p:nvPr/>
        </p:nvSpPr>
        <p:spPr>
          <a:xfrm>
            <a:off x="8138160" y="2926080"/>
            <a:ext cx="3429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can solvent leave during the event?</a:t>
            </a:r>
          </a:p>
        </p:txBody>
      </p:sp>
      <p:sp>
        <p:nvSpPr>
          <p:cNvPr id="18" name="A-E23 text 16" descr="sci-ppt:o016"/>
          <p:cNvSpPr txBox="1"/>
          <p:nvPr/>
        </p:nvSpPr>
        <p:spPr>
          <a:xfrm>
            <a:off x="8138160" y="3749039"/>
            <a:ext cx="34290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poroelastic transport</a:t>
            </a:r>
          </a:p>
        </p:txBody>
      </p:sp>
      <p:sp>
        <p:nvSpPr>
          <p:cNvPr id="19" name="A-E23 text 17" descr="sci-ppt:o017"/>
          <p:cNvSpPr txBox="1"/>
          <p:nvPr/>
        </p:nvSpPr>
        <p:spPr>
          <a:xfrm>
            <a:off x="457200" y="484632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Each ratio against the event time constrains a different physical assumption; one passing test does not cover the others.</a:t>
            </a:r>
          </a:p>
        </p:txBody>
      </p:sp>
      <p:sp>
        <p:nvSpPr>
          <p:cNvPr id="20" name="A-E23 text 18" descr="sci-ppt:o01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Original event-response formulas recalled: Eqs. A-E16, A-E18, A-E20 (Defence 3).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