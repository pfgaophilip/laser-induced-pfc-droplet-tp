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961120" cy="52395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A-E23 · Physical variable map</a:t>
            </a:r>
          </a:p>
        </p:txBody>
      </p:sp>
      <p:sp>
        <p:nvSpPr>
          <p:cNvPr id="3" name="text 1" descr="sci-ppt:obj-001"/>
          <p:cNvSpPr txBox="1"/>
          <p:nvPr/>
        </p:nvSpPr>
        <p:spPr>
          <a:xfrm>
            <a:off x="905256" y="612648"/>
            <a:ext cx="7498079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Response times and dimensionless comparisons</a:t>
            </a:r>
          </a:p>
        </p:txBody>
      </p:sp>
      <p:sp>
        <p:nvSpPr>
          <p:cNvPr id="4" name="rect 2" descr="sci-ppt:obj-002"/>
          <p:cNvSpPr/>
          <p:nvPr/>
        </p:nvSpPr>
        <p:spPr>
          <a:xfrm>
            <a:off x="996696" y="1069848"/>
            <a:ext cx="6766560" cy="34747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 3" descr="sci-ppt:obj-003"/>
          <p:cNvSpPr txBox="1"/>
          <p:nvPr/>
        </p:nvSpPr>
        <p:spPr>
          <a:xfrm>
            <a:off x="1179576" y="1106424"/>
            <a:ext cx="649224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De = τrel / τe</a:t>
            </a:r>
          </a:p>
        </p:txBody>
      </p:sp>
      <p:sp>
        <p:nvSpPr>
          <p:cNvPr id="6" name="rect 4" descr="sci-ppt:obj-004"/>
          <p:cNvSpPr/>
          <p:nvPr/>
        </p:nvSpPr>
        <p:spPr>
          <a:xfrm>
            <a:off x="996696" y="1645920"/>
            <a:ext cx="6766560" cy="34747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 5" descr="sci-ppt:obj-005"/>
          <p:cNvSpPr txBox="1"/>
          <p:nvPr/>
        </p:nvSpPr>
        <p:spPr>
          <a:xfrm>
            <a:off x="1179576" y="1682496"/>
            <a:ext cx="649224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ts = Lg √(ρg / Gg)</a:t>
            </a:r>
          </a:p>
        </p:txBody>
      </p:sp>
      <p:sp>
        <p:nvSpPr>
          <p:cNvPr id="8" name="rect 6" descr="sci-ppt:obj-006"/>
          <p:cNvSpPr/>
          <p:nvPr/>
        </p:nvSpPr>
        <p:spPr>
          <a:xfrm>
            <a:off x="996696" y="2221992"/>
            <a:ext cx="6766560" cy="34747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 7" descr="sci-ppt:obj-007"/>
          <p:cNvSpPr txBox="1"/>
          <p:nvPr/>
        </p:nvSpPr>
        <p:spPr>
          <a:xfrm>
            <a:off x="1179576" y="2258568"/>
            <a:ext cx="649224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tporo ≈ μl Lg² / (kperm Md)</a:t>
            </a:r>
          </a:p>
        </p:txBody>
      </p:sp>
      <p:sp>
        <p:nvSpPr>
          <p:cNvPr id="10" name="text 8" descr="sci-ppt:obj-008"/>
          <p:cNvSpPr txBox="1"/>
          <p:nvPr/>
        </p:nvSpPr>
        <p:spPr>
          <a:xfrm>
            <a:off x="1005840" y="2862072"/>
            <a:ext cx="7680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Equal boxes list definitions; lengths do not encode time</a:t>
            </a:r>
          </a:p>
        </p:txBody>
      </p:sp>
      <p:sp>
        <p:nvSpPr>
          <p:cNvPr id="11" name="text 9" descr="sci-ppt:obj-009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12" name="text 10" descr="sci-ppt:obj-010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τrel/τe = De</a:t>
            </a:r>
          </a:p>
        </p:txBody>
      </p:sp>
      <p:sp>
        <p:nvSpPr>
          <p:cNvPr id="13" name="text 11" descr="sci-ppt:obj-011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Lg√(ρg/Gg) = ts</a:t>
            </a:r>
          </a:p>
        </p:txBody>
      </p:sp>
      <p:sp>
        <p:nvSpPr>
          <p:cNvPr id="14" name="text 12" descr="sci-ppt:obj-012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μlLg²/(kpermMd) ≈ tporo</a:t>
            </a:r>
          </a:p>
        </p:txBody>
      </p:sp>
      <p:sp>
        <p:nvSpPr>
          <p:cNvPr id="15" name="text 13" descr="sci-ppt:obj-013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Match material response to the transient event</a:t>
            </a:r>
          </a:p>
        </p:txBody>
      </p:sp>
      <p:sp>
        <p:nvSpPr>
          <p:cNvPr id="16" name="text 14" descr="sci-ppt:obj-014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Do not substitute slow stiffness for every 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