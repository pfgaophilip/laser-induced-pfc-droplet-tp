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491080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olygon 1: plot geometry" descr="sci-ppt:obj-0001"/>
          <p:cNvSpPr/>
          <p:nvPr/>
        </p:nvSpPr>
        <p:spPr>
          <a:xfrm>
            <a:off x="0" y="0"/>
            <a:ext cx="12191695" cy="4910802"/>
          </a:xfrm>
          <a:custGeom>
            <a:avLst/>
            <a:gdLst/>
            <a:ahLst/>
            <a:cxnLst/>
            <a:rect l="l" t="t" r="r" b="b"/>
            <a:pathLst>
              <a:path w="12191695" h="4910802">
                <a:moveTo>
                  <a:pt x="0" y="4910802"/>
                </a:moveTo>
                <a:lnTo>
                  <a:pt x="12191695" y="4910802"/>
                </a:lnTo>
                <a:lnTo>
                  <a:pt x="12191695" y="0"/>
                </a:lnTo>
                <a:lnTo>
                  <a:pt x="0" y="0"/>
                </a:lnTo>
                <a:lnTo>
                  <a:pt x="0" y="491080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olygon 2: plot geometry" descr="sci-ppt:obj-0002"/>
          <p:cNvSpPr/>
          <p:nvPr/>
        </p:nvSpPr>
        <p:spPr>
          <a:xfrm>
            <a:off x="816900" y="864678"/>
            <a:ext cx="5265264" cy="3414053"/>
          </a:xfrm>
          <a:custGeom>
            <a:avLst/>
            <a:gdLst/>
            <a:ahLst/>
            <a:cxnLst/>
            <a:rect l="l" t="t" r="r" b="b"/>
            <a:pathLst>
              <a:path w="5265264" h="3414053">
                <a:moveTo>
                  <a:pt x="0" y="3414053"/>
                </a:moveTo>
                <a:lnTo>
                  <a:pt x="5265264" y="3414053"/>
                </a:lnTo>
                <a:lnTo>
                  <a:pt x="5265264" y="0"/>
                </a:lnTo>
                <a:lnTo>
                  <a:pt x="0" y="0"/>
                </a:lnTo>
                <a:lnTo>
                  <a:pt x="0" y="341405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 3: plot geometry" descr="sci-ppt:obj-0003"/>
          <p:cNvCxnSpPr/>
          <p:nvPr/>
        </p:nvCxnSpPr>
        <p:spPr>
          <a:xfrm flipV="1">
            <a:off x="1056230" y="864678"/>
            <a:ext cx="0" cy="3414053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5" name="line 4: plot geometry" descr="sci-ppt:obj-0004"/>
          <p:cNvCxnSpPr/>
          <p:nvPr/>
        </p:nvCxnSpPr>
        <p:spPr>
          <a:xfrm>
            <a:off x="1056230" y="4278731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6" name="text 5: 1" descr="sci-ppt:obj-0005"/>
          <p:cNvSpPr txBox="1"/>
          <p:nvPr/>
        </p:nvSpPr>
        <p:spPr>
          <a:xfrm>
            <a:off x="843142" y="436149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7" name="text 6: 0" descr="sci-ppt:obj-0006"/>
          <p:cNvSpPr txBox="1"/>
          <p:nvPr/>
        </p:nvSpPr>
        <p:spPr>
          <a:xfrm>
            <a:off x="943670" y="436149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8" name="text 7: −" descr="sci-ppt:obj-0007"/>
          <p:cNvSpPr txBox="1"/>
          <p:nvPr/>
        </p:nvSpPr>
        <p:spPr>
          <a:xfrm>
            <a:off x="1045710" y="4345059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−</a:t>
            </a:r>
          </a:p>
        </p:txBody>
      </p:sp>
      <p:sp>
        <p:nvSpPr>
          <p:cNvPr id="9" name="text 8: 1" descr="sci-ppt:obj-0008"/>
          <p:cNvSpPr txBox="1"/>
          <p:nvPr/>
        </p:nvSpPr>
        <p:spPr>
          <a:xfrm>
            <a:off x="1138384" y="4345059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10" name="line 9: plot geometry" descr="sci-ppt:obj-0009"/>
          <p:cNvCxnSpPr/>
          <p:nvPr/>
        </p:nvCxnSpPr>
        <p:spPr>
          <a:xfrm flipV="1">
            <a:off x="2651765" y="864678"/>
            <a:ext cx="0" cy="3414053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1" name="line 10: plot geometry" descr="sci-ppt:obj-0010"/>
          <p:cNvCxnSpPr/>
          <p:nvPr/>
        </p:nvCxnSpPr>
        <p:spPr>
          <a:xfrm>
            <a:off x="2651765" y="4278731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2" name="text 11: 1" descr="sci-ppt:obj-0011"/>
          <p:cNvSpPr txBox="1"/>
          <p:nvPr/>
        </p:nvSpPr>
        <p:spPr>
          <a:xfrm>
            <a:off x="2485288" y="436445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3" name="text 12: 0" descr="sci-ppt:obj-0012"/>
          <p:cNvSpPr txBox="1"/>
          <p:nvPr/>
        </p:nvSpPr>
        <p:spPr>
          <a:xfrm>
            <a:off x="2585816" y="436445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4" name="text 13: 0" descr="sci-ppt:obj-0013"/>
          <p:cNvSpPr txBox="1"/>
          <p:nvPr/>
        </p:nvSpPr>
        <p:spPr>
          <a:xfrm>
            <a:off x="2687856" y="4348021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15" name="line 14: plot geometry" descr="sci-ppt:obj-0014"/>
          <p:cNvCxnSpPr/>
          <p:nvPr/>
        </p:nvCxnSpPr>
        <p:spPr>
          <a:xfrm flipV="1">
            <a:off x="4247299" y="864678"/>
            <a:ext cx="0" cy="3414053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6" name="line 15: plot geometry" descr="sci-ppt:obj-0015"/>
          <p:cNvCxnSpPr/>
          <p:nvPr/>
        </p:nvCxnSpPr>
        <p:spPr>
          <a:xfrm>
            <a:off x="4247299" y="4278731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7" name="text 16: 1" descr="sci-ppt:obj-0016"/>
          <p:cNvSpPr txBox="1"/>
          <p:nvPr/>
        </p:nvSpPr>
        <p:spPr>
          <a:xfrm>
            <a:off x="4080822" y="436149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8" name="text 17: 0" descr="sci-ppt:obj-0017"/>
          <p:cNvSpPr txBox="1"/>
          <p:nvPr/>
        </p:nvSpPr>
        <p:spPr>
          <a:xfrm>
            <a:off x="4181350" y="436149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9" name="text 18: 1" descr="sci-ppt:obj-0018"/>
          <p:cNvSpPr txBox="1"/>
          <p:nvPr/>
        </p:nvSpPr>
        <p:spPr>
          <a:xfrm>
            <a:off x="4283390" y="4345059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20" name="line 19: plot geometry" descr="sci-ppt:obj-0019"/>
          <p:cNvCxnSpPr/>
          <p:nvPr/>
        </p:nvCxnSpPr>
        <p:spPr>
          <a:xfrm flipV="1">
            <a:off x="5842834" y="864678"/>
            <a:ext cx="0" cy="3414053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21" name="line 20: plot geometry" descr="sci-ppt:obj-0020"/>
          <p:cNvCxnSpPr/>
          <p:nvPr/>
        </p:nvCxnSpPr>
        <p:spPr>
          <a:xfrm>
            <a:off x="5842834" y="4278731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22" name="text 21: 1" descr="sci-ppt:obj-0021"/>
          <p:cNvSpPr txBox="1"/>
          <p:nvPr/>
        </p:nvSpPr>
        <p:spPr>
          <a:xfrm>
            <a:off x="5676357" y="436445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23" name="text 22: 0" descr="sci-ppt:obj-0022"/>
          <p:cNvSpPr txBox="1"/>
          <p:nvPr/>
        </p:nvSpPr>
        <p:spPr>
          <a:xfrm>
            <a:off x="5776885" y="436445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4" name="text 23: 2" descr="sci-ppt:obj-0023"/>
          <p:cNvSpPr txBox="1"/>
          <p:nvPr/>
        </p:nvSpPr>
        <p:spPr>
          <a:xfrm>
            <a:off x="5878925" y="4348021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25" name="line 24: plot geometry" descr="sci-ppt:obj-0024"/>
          <p:cNvCxnSpPr/>
          <p:nvPr/>
        </p:nvCxnSpPr>
        <p:spPr>
          <a:xfrm>
            <a:off x="901607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6" name="line 25: plot geometry" descr="sci-ppt:obj-0025"/>
          <p:cNvCxnSpPr/>
          <p:nvPr/>
        </p:nvCxnSpPr>
        <p:spPr>
          <a:xfrm>
            <a:off x="983223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7" name="line 26: plot geometry" descr="sci-ppt:obj-0026"/>
          <p:cNvCxnSpPr/>
          <p:nvPr/>
        </p:nvCxnSpPr>
        <p:spPr>
          <a:xfrm>
            <a:off x="1536534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8" name="line 27: plot geometry" descr="sci-ppt:obj-0027"/>
          <p:cNvCxnSpPr/>
          <p:nvPr/>
        </p:nvCxnSpPr>
        <p:spPr>
          <a:xfrm>
            <a:off x="1817494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9" name="line 28: plot geometry" descr="sci-ppt:obj-0028"/>
          <p:cNvCxnSpPr/>
          <p:nvPr/>
        </p:nvCxnSpPr>
        <p:spPr>
          <a:xfrm>
            <a:off x="2016838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30" name="line 29: plot geometry" descr="sci-ppt:obj-0029"/>
          <p:cNvCxnSpPr/>
          <p:nvPr/>
        </p:nvCxnSpPr>
        <p:spPr>
          <a:xfrm>
            <a:off x="2171461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31" name="line 30: plot geometry" descr="sci-ppt:obj-0030"/>
          <p:cNvCxnSpPr/>
          <p:nvPr/>
        </p:nvCxnSpPr>
        <p:spPr>
          <a:xfrm>
            <a:off x="2297797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32" name="line 31: plot geometry" descr="sci-ppt:obj-0031"/>
          <p:cNvCxnSpPr/>
          <p:nvPr/>
        </p:nvCxnSpPr>
        <p:spPr>
          <a:xfrm>
            <a:off x="2404613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33" name="line 32: plot geometry" descr="sci-ppt:obj-0032"/>
          <p:cNvCxnSpPr/>
          <p:nvPr/>
        </p:nvCxnSpPr>
        <p:spPr>
          <a:xfrm>
            <a:off x="2497142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34" name="line 33: plot geometry" descr="sci-ppt:obj-0033"/>
          <p:cNvCxnSpPr/>
          <p:nvPr/>
        </p:nvCxnSpPr>
        <p:spPr>
          <a:xfrm>
            <a:off x="2578757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35" name="line 34: plot geometry" descr="sci-ppt:obj-0034"/>
          <p:cNvCxnSpPr/>
          <p:nvPr/>
        </p:nvCxnSpPr>
        <p:spPr>
          <a:xfrm>
            <a:off x="3132069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36" name="line 35: plot geometry" descr="sci-ppt:obj-0035"/>
          <p:cNvCxnSpPr/>
          <p:nvPr/>
        </p:nvCxnSpPr>
        <p:spPr>
          <a:xfrm>
            <a:off x="3413028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37" name="line 36: plot geometry" descr="sci-ppt:obj-0036"/>
          <p:cNvCxnSpPr/>
          <p:nvPr/>
        </p:nvCxnSpPr>
        <p:spPr>
          <a:xfrm>
            <a:off x="3612372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38" name="line 37: plot geometry" descr="sci-ppt:obj-0037"/>
          <p:cNvCxnSpPr/>
          <p:nvPr/>
        </p:nvCxnSpPr>
        <p:spPr>
          <a:xfrm>
            <a:off x="3766995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39" name="line 38: plot geometry" descr="sci-ppt:obj-0038"/>
          <p:cNvCxnSpPr/>
          <p:nvPr/>
        </p:nvCxnSpPr>
        <p:spPr>
          <a:xfrm>
            <a:off x="3893332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40" name="line 39: plot geometry" descr="sci-ppt:obj-0039"/>
          <p:cNvCxnSpPr/>
          <p:nvPr/>
        </p:nvCxnSpPr>
        <p:spPr>
          <a:xfrm>
            <a:off x="4000148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41" name="line 40: plot geometry" descr="sci-ppt:obj-0040"/>
          <p:cNvCxnSpPr/>
          <p:nvPr/>
        </p:nvCxnSpPr>
        <p:spPr>
          <a:xfrm>
            <a:off x="4092676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42" name="line 41: plot geometry" descr="sci-ppt:obj-0041"/>
          <p:cNvCxnSpPr/>
          <p:nvPr/>
        </p:nvCxnSpPr>
        <p:spPr>
          <a:xfrm>
            <a:off x="4174292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43" name="line 42: plot geometry" descr="sci-ppt:obj-0042"/>
          <p:cNvCxnSpPr/>
          <p:nvPr/>
        </p:nvCxnSpPr>
        <p:spPr>
          <a:xfrm>
            <a:off x="4727603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44" name="line 43: plot geometry" descr="sci-ppt:obj-0043"/>
          <p:cNvCxnSpPr/>
          <p:nvPr/>
        </p:nvCxnSpPr>
        <p:spPr>
          <a:xfrm>
            <a:off x="5008563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45" name="line 44: plot geometry" descr="sci-ppt:obj-0044"/>
          <p:cNvCxnSpPr/>
          <p:nvPr/>
        </p:nvCxnSpPr>
        <p:spPr>
          <a:xfrm>
            <a:off x="5207907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46" name="line 45: plot geometry" descr="sci-ppt:obj-0045"/>
          <p:cNvCxnSpPr/>
          <p:nvPr/>
        </p:nvCxnSpPr>
        <p:spPr>
          <a:xfrm>
            <a:off x="5362530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47" name="line 46: plot geometry" descr="sci-ppt:obj-0046"/>
          <p:cNvCxnSpPr/>
          <p:nvPr/>
        </p:nvCxnSpPr>
        <p:spPr>
          <a:xfrm>
            <a:off x="5488866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48" name="line 47: plot geometry" descr="sci-ppt:obj-0047"/>
          <p:cNvCxnSpPr/>
          <p:nvPr/>
        </p:nvCxnSpPr>
        <p:spPr>
          <a:xfrm>
            <a:off x="5595682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49" name="line 48: plot geometry" descr="sci-ppt:obj-0048"/>
          <p:cNvCxnSpPr/>
          <p:nvPr/>
        </p:nvCxnSpPr>
        <p:spPr>
          <a:xfrm>
            <a:off x="5688210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50" name="line 49: plot geometry" descr="sci-ppt:obj-0049"/>
          <p:cNvCxnSpPr/>
          <p:nvPr/>
        </p:nvCxnSpPr>
        <p:spPr>
          <a:xfrm>
            <a:off x="5769826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sp>
        <p:nvSpPr>
          <p:cNvPr id="51" name="text 50: Stipulated fracture energy (J/m²)" descr="sci-ppt:obj-0050"/>
          <p:cNvSpPr txBox="1"/>
          <p:nvPr/>
        </p:nvSpPr>
        <p:spPr>
          <a:xfrm>
            <a:off x="1874773" y="4596334"/>
            <a:ext cx="3149518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Stipulated fracture energy (J/m²)</a:t>
            </a:r>
          </a:p>
        </p:txBody>
      </p:sp>
      <p:cxnSp>
        <p:nvCxnSpPr>
          <p:cNvPr id="52" name="line 51: plot geometry" descr="sci-ppt:obj-0051"/>
          <p:cNvCxnSpPr/>
          <p:nvPr/>
        </p:nvCxnSpPr>
        <p:spPr>
          <a:xfrm>
            <a:off x="816900" y="3748007"/>
            <a:ext cx="526526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53" name="line 52: plot geometry" descr="sci-ppt:obj-0052"/>
          <p:cNvCxnSpPr/>
          <p:nvPr/>
        </p:nvCxnSpPr>
        <p:spPr>
          <a:xfrm flipH="1">
            <a:off x="761598" y="3748007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54" name="text 53: 1" descr="sci-ppt:obj-0053"/>
          <p:cNvSpPr txBox="1"/>
          <p:nvPr/>
        </p:nvSpPr>
        <p:spPr>
          <a:xfrm>
            <a:off x="307551" y="364886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55" name="text 54: 0" descr="sci-ppt:obj-0054"/>
          <p:cNvSpPr txBox="1"/>
          <p:nvPr/>
        </p:nvSpPr>
        <p:spPr>
          <a:xfrm>
            <a:off x="408079" y="364886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56" name="text 55: −" descr="sci-ppt:obj-0055"/>
          <p:cNvSpPr txBox="1"/>
          <p:nvPr/>
        </p:nvSpPr>
        <p:spPr>
          <a:xfrm>
            <a:off x="510119" y="3632431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−</a:t>
            </a:r>
          </a:p>
        </p:txBody>
      </p:sp>
      <p:sp>
        <p:nvSpPr>
          <p:cNvPr id="57" name="text 56: 2" descr="sci-ppt:obj-0056"/>
          <p:cNvSpPr txBox="1"/>
          <p:nvPr/>
        </p:nvSpPr>
        <p:spPr>
          <a:xfrm>
            <a:off x="602793" y="3632431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58" name="line 57: plot geometry" descr="sci-ppt:obj-0057"/>
          <p:cNvCxnSpPr/>
          <p:nvPr/>
        </p:nvCxnSpPr>
        <p:spPr>
          <a:xfrm>
            <a:off x="816900" y="3087504"/>
            <a:ext cx="526526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59" name="line 58: plot geometry" descr="sci-ppt:obj-0058"/>
          <p:cNvCxnSpPr/>
          <p:nvPr/>
        </p:nvCxnSpPr>
        <p:spPr>
          <a:xfrm flipH="1">
            <a:off x="761598" y="3087504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60" name="text 59: 1" descr="sci-ppt:obj-0059"/>
          <p:cNvSpPr txBox="1"/>
          <p:nvPr/>
        </p:nvSpPr>
        <p:spPr>
          <a:xfrm>
            <a:off x="307551" y="2986188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61" name="text 60: 0" descr="sci-ppt:obj-0060"/>
          <p:cNvSpPr txBox="1"/>
          <p:nvPr/>
        </p:nvSpPr>
        <p:spPr>
          <a:xfrm>
            <a:off x="408079" y="2986188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62" name="text 61: −" descr="sci-ppt:obj-0061"/>
          <p:cNvSpPr txBox="1"/>
          <p:nvPr/>
        </p:nvSpPr>
        <p:spPr>
          <a:xfrm>
            <a:off x="510119" y="2969755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−</a:t>
            </a:r>
          </a:p>
        </p:txBody>
      </p:sp>
      <p:sp>
        <p:nvSpPr>
          <p:cNvPr id="63" name="text 62: 1" descr="sci-ppt:obj-0062"/>
          <p:cNvSpPr txBox="1"/>
          <p:nvPr/>
        </p:nvSpPr>
        <p:spPr>
          <a:xfrm>
            <a:off x="602793" y="2969755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64" name="line 63: plot geometry" descr="sci-ppt:obj-0063"/>
          <p:cNvCxnSpPr/>
          <p:nvPr/>
        </p:nvCxnSpPr>
        <p:spPr>
          <a:xfrm>
            <a:off x="816900" y="2427001"/>
            <a:ext cx="526526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65" name="line 64: plot geometry" descr="sci-ppt:obj-0064"/>
          <p:cNvCxnSpPr/>
          <p:nvPr/>
        </p:nvCxnSpPr>
        <p:spPr>
          <a:xfrm flipH="1">
            <a:off x="761598" y="2427001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66" name="text 65: 1" descr="sci-ppt:obj-0065"/>
          <p:cNvSpPr txBox="1"/>
          <p:nvPr/>
        </p:nvSpPr>
        <p:spPr>
          <a:xfrm>
            <a:off x="400775" y="2327858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67" name="text 66: 0" descr="sci-ppt:obj-0066"/>
          <p:cNvSpPr txBox="1"/>
          <p:nvPr/>
        </p:nvSpPr>
        <p:spPr>
          <a:xfrm>
            <a:off x="501303" y="2327858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68" name="text 67: 0" descr="sci-ppt:obj-0067"/>
          <p:cNvSpPr txBox="1"/>
          <p:nvPr/>
        </p:nvSpPr>
        <p:spPr>
          <a:xfrm>
            <a:off x="603343" y="2311425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69" name="line 68: plot geometry" descr="sci-ppt:obj-0068"/>
          <p:cNvCxnSpPr/>
          <p:nvPr/>
        </p:nvCxnSpPr>
        <p:spPr>
          <a:xfrm>
            <a:off x="816900" y="1766498"/>
            <a:ext cx="526526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70" name="line 69: plot geometry" descr="sci-ppt:obj-0069"/>
          <p:cNvCxnSpPr/>
          <p:nvPr/>
        </p:nvCxnSpPr>
        <p:spPr>
          <a:xfrm flipH="1">
            <a:off x="761598" y="1766498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71" name="text 70: 1" descr="sci-ppt:obj-0070"/>
          <p:cNvSpPr txBox="1"/>
          <p:nvPr/>
        </p:nvSpPr>
        <p:spPr>
          <a:xfrm>
            <a:off x="400775" y="1665182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72" name="text 71: 0" descr="sci-ppt:obj-0071"/>
          <p:cNvSpPr txBox="1"/>
          <p:nvPr/>
        </p:nvSpPr>
        <p:spPr>
          <a:xfrm>
            <a:off x="501303" y="1665182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73" name="text 72: 1" descr="sci-ppt:obj-0072"/>
          <p:cNvSpPr txBox="1"/>
          <p:nvPr/>
        </p:nvSpPr>
        <p:spPr>
          <a:xfrm>
            <a:off x="603343" y="1648749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74" name="line 73: plot geometry" descr="sci-ppt:obj-0073"/>
          <p:cNvCxnSpPr/>
          <p:nvPr/>
        </p:nvCxnSpPr>
        <p:spPr>
          <a:xfrm>
            <a:off x="816900" y="1105995"/>
            <a:ext cx="526526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75" name="line 74: plot geometry" descr="sci-ppt:obj-0074"/>
          <p:cNvCxnSpPr/>
          <p:nvPr/>
        </p:nvCxnSpPr>
        <p:spPr>
          <a:xfrm flipH="1">
            <a:off x="761598" y="1105995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76" name="text 75: 1" descr="sci-ppt:obj-0075"/>
          <p:cNvSpPr txBox="1"/>
          <p:nvPr/>
        </p:nvSpPr>
        <p:spPr>
          <a:xfrm>
            <a:off x="400775" y="100685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77" name="text 76: 0" descr="sci-ppt:obj-0076"/>
          <p:cNvSpPr txBox="1"/>
          <p:nvPr/>
        </p:nvSpPr>
        <p:spPr>
          <a:xfrm>
            <a:off x="501303" y="100685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78" name="text 77: 2" descr="sci-ppt:obj-0077"/>
          <p:cNvSpPr txBox="1"/>
          <p:nvPr/>
        </p:nvSpPr>
        <p:spPr>
          <a:xfrm>
            <a:off x="603343" y="990419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79" name="line 78: plot geometry" descr="sci-ppt:obj-0078"/>
          <p:cNvCxnSpPr/>
          <p:nvPr/>
        </p:nvCxnSpPr>
        <p:spPr>
          <a:xfrm flipH="1">
            <a:off x="785299" y="4209679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0" name="line 79: plot geometry" descr="sci-ppt:obj-0079"/>
          <p:cNvCxnSpPr/>
          <p:nvPr/>
        </p:nvCxnSpPr>
        <p:spPr>
          <a:xfrm flipH="1">
            <a:off x="785299" y="409337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1" name="line 80: plot geometry" descr="sci-ppt:obj-0080"/>
          <p:cNvCxnSpPr/>
          <p:nvPr/>
        </p:nvCxnSpPr>
        <p:spPr>
          <a:xfrm flipH="1">
            <a:off x="785299" y="401084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2" name="line 81: plot geometry" descr="sci-ppt:obj-0081"/>
          <p:cNvCxnSpPr/>
          <p:nvPr/>
        </p:nvCxnSpPr>
        <p:spPr>
          <a:xfrm flipH="1">
            <a:off x="785299" y="394683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3" name="line 82: plot geometry" descr="sci-ppt:obj-0082"/>
          <p:cNvCxnSpPr/>
          <p:nvPr/>
        </p:nvCxnSpPr>
        <p:spPr>
          <a:xfrm flipH="1">
            <a:off x="785299" y="3894539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4" name="line 83: plot geometry" descr="sci-ppt:obj-0083"/>
          <p:cNvCxnSpPr/>
          <p:nvPr/>
        </p:nvCxnSpPr>
        <p:spPr>
          <a:xfrm flipH="1">
            <a:off x="785299" y="385032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5" name="line 84: plot geometry" descr="sci-ppt:obj-0084"/>
          <p:cNvCxnSpPr/>
          <p:nvPr/>
        </p:nvCxnSpPr>
        <p:spPr>
          <a:xfrm flipH="1">
            <a:off x="785299" y="381201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6" name="line 85: plot geometry" descr="sci-ppt:obj-0085"/>
          <p:cNvCxnSpPr/>
          <p:nvPr/>
        </p:nvCxnSpPr>
        <p:spPr>
          <a:xfrm flipH="1">
            <a:off x="785299" y="377823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7" name="line 86: plot geometry" descr="sci-ppt:obj-0086"/>
          <p:cNvCxnSpPr/>
          <p:nvPr/>
        </p:nvCxnSpPr>
        <p:spPr>
          <a:xfrm flipH="1">
            <a:off x="785299" y="3549176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8" name="line 87: plot geometry" descr="sci-ppt:obj-0087"/>
          <p:cNvCxnSpPr/>
          <p:nvPr/>
        </p:nvCxnSpPr>
        <p:spPr>
          <a:xfrm flipH="1">
            <a:off x="785299" y="343286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89" name="line 88: plot geometry" descr="sci-ppt:obj-0088"/>
          <p:cNvCxnSpPr/>
          <p:nvPr/>
        </p:nvCxnSpPr>
        <p:spPr>
          <a:xfrm flipH="1">
            <a:off x="785299" y="3350345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90" name="line 89: plot geometry" descr="sci-ppt:obj-0089"/>
          <p:cNvCxnSpPr/>
          <p:nvPr/>
        </p:nvCxnSpPr>
        <p:spPr>
          <a:xfrm flipH="1">
            <a:off x="785299" y="3286335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91" name="line 90: plot geometry" descr="sci-ppt:obj-0090"/>
          <p:cNvCxnSpPr/>
          <p:nvPr/>
        </p:nvCxnSpPr>
        <p:spPr>
          <a:xfrm flipH="1">
            <a:off x="785299" y="3234036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92" name="line 91: plot geometry" descr="sci-ppt:obj-0091"/>
          <p:cNvCxnSpPr/>
          <p:nvPr/>
        </p:nvCxnSpPr>
        <p:spPr>
          <a:xfrm flipH="1">
            <a:off x="785299" y="318981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93" name="line 92: plot geometry" descr="sci-ppt:obj-0092"/>
          <p:cNvCxnSpPr/>
          <p:nvPr/>
        </p:nvCxnSpPr>
        <p:spPr>
          <a:xfrm flipH="1">
            <a:off x="785299" y="3151513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94" name="line 93: plot geometry" descr="sci-ppt:obj-0093"/>
          <p:cNvCxnSpPr/>
          <p:nvPr/>
        </p:nvCxnSpPr>
        <p:spPr>
          <a:xfrm flipH="1">
            <a:off x="785299" y="311772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95" name="line 94: plot geometry" descr="sci-ppt:obj-0094"/>
          <p:cNvCxnSpPr/>
          <p:nvPr/>
        </p:nvCxnSpPr>
        <p:spPr>
          <a:xfrm flipH="1">
            <a:off x="785299" y="2888673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96" name="line 95: plot geometry" descr="sci-ppt:obj-0095"/>
          <p:cNvCxnSpPr/>
          <p:nvPr/>
        </p:nvCxnSpPr>
        <p:spPr>
          <a:xfrm flipH="1">
            <a:off x="785299" y="2772364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97" name="line 96: plot geometry" descr="sci-ppt:obj-0096"/>
          <p:cNvCxnSpPr/>
          <p:nvPr/>
        </p:nvCxnSpPr>
        <p:spPr>
          <a:xfrm flipH="1">
            <a:off x="785299" y="2689842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98" name="line 97: plot geometry" descr="sci-ppt:obj-0097"/>
          <p:cNvCxnSpPr/>
          <p:nvPr/>
        </p:nvCxnSpPr>
        <p:spPr>
          <a:xfrm flipH="1">
            <a:off x="785299" y="2625832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99" name="line 98: plot geometry" descr="sci-ppt:obj-0098"/>
          <p:cNvCxnSpPr/>
          <p:nvPr/>
        </p:nvCxnSpPr>
        <p:spPr>
          <a:xfrm flipH="1">
            <a:off x="785299" y="2573533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00" name="line 99: plot geometry" descr="sci-ppt:obj-0099"/>
          <p:cNvCxnSpPr/>
          <p:nvPr/>
        </p:nvCxnSpPr>
        <p:spPr>
          <a:xfrm flipH="1">
            <a:off x="785299" y="2529314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01" name="line 100: plot geometry" descr="sci-ppt:obj-0100"/>
          <p:cNvCxnSpPr/>
          <p:nvPr/>
        </p:nvCxnSpPr>
        <p:spPr>
          <a:xfrm flipH="1">
            <a:off x="785299" y="249101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02" name="line 101: plot geometry" descr="sci-ppt:obj-0101"/>
          <p:cNvCxnSpPr/>
          <p:nvPr/>
        </p:nvCxnSpPr>
        <p:spPr>
          <a:xfrm flipH="1">
            <a:off x="785299" y="2457224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03" name="line 102: plot geometry" descr="sci-ppt:obj-0102"/>
          <p:cNvCxnSpPr/>
          <p:nvPr/>
        </p:nvCxnSpPr>
        <p:spPr>
          <a:xfrm flipH="1">
            <a:off x="785299" y="222817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04" name="line 103: plot geometry" descr="sci-ppt:obj-0103"/>
          <p:cNvCxnSpPr/>
          <p:nvPr/>
        </p:nvCxnSpPr>
        <p:spPr>
          <a:xfrm flipH="1">
            <a:off x="785299" y="2111861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05" name="line 104: plot geometry" descr="sci-ppt:obj-0104"/>
          <p:cNvCxnSpPr/>
          <p:nvPr/>
        </p:nvCxnSpPr>
        <p:spPr>
          <a:xfrm flipH="1">
            <a:off x="785299" y="2029339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06" name="line 105: plot geometry" descr="sci-ppt:obj-0105"/>
          <p:cNvCxnSpPr/>
          <p:nvPr/>
        </p:nvCxnSpPr>
        <p:spPr>
          <a:xfrm flipH="1">
            <a:off x="785299" y="1965329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07" name="line 106: plot geometry" descr="sci-ppt:obj-0106"/>
          <p:cNvCxnSpPr/>
          <p:nvPr/>
        </p:nvCxnSpPr>
        <p:spPr>
          <a:xfrm flipH="1">
            <a:off x="785299" y="191303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08" name="line 107: plot geometry" descr="sci-ppt:obj-0107"/>
          <p:cNvCxnSpPr/>
          <p:nvPr/>
        </p:nvCxnSpPr>
        <p:spPr>
          <a:xfrm flipH="1">
            <a:off x="785299" y="1868811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09" name="line 108: plot geometry" descr="sci-ppt:obj-0108"/>
          <p:cNvCxnSpPr/>
          <p:nvPr/>
        </p:nvCxnSpPr>
        <p:spPr>
          <a:xfrm flipH="1">
            <a:off x="785299" y="183050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10" name="line 109: plot geometry" descr="sci-ppt:obj-0109"/>
          <p:cNvCxnSpPr/>
          <p:nvPr/>
        </p:nvCxnSpPr>
        <p:spPr>
          <a:xfrm flipH="1">
            <a:off x="785299" y="1796721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11" name="line 110: plot geometry" descr="sci-ppt:obj-0110"/>
          <p:cNvCxnSpPr/>
          <p:nvPr/>
        </p:nvCxnSpPr>
        <p:spPr>
          <a:xfrm flipH="1">
            <a:off x="785299" y="156766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12" name="line 111: plot geometry" descr="sci-ppt:obj-0111"/>
          <p:cNvCxnSpPr/>
          <p:nvPr/>
        </p:nvCxnSpPr>
        <p:spPr>
          <a:xfrm flipH="1">
            <a:off x="785299" y="145135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13" name="line 112: plot geometry" descr="sci-ppt:obj-0112"/>
          <p:cNvCxnSpPr/>
          <p:nvPr/>
        </p:nvCxnSpPr>
        <p:spPr>
          <a:xfrm flipH="1">
            <a:off x="785299" y="1368836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14" name="line 113: plot geometry" descr="sci-ppt:obj-0113"/>
          <p:cNvCxnSpPr/>
          <p:nvPr/>
        </p:nvCxnSpPr>
        <p:spPr>
          <a:xfrm flipH="1">
            <a:off x="785299" y="1304826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15" name="line 114: plot geometry" descr="sci-ppt:obj-0114"/>
          <p:cNvCxnSpPr/>
          <p:nvPr/>
        </p:nvCxnSpPr>
        <p:spPr>
          <a:xfrm flipH="1">
            <a:off x="785299" y="125252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16" name="line 115: plot geometry" descr="sci-ppt:obj-0115"/>
          <p:cNvCxnSpPr/>
          <p:nvPr/>
        </p:nvCxnSpPr>
        <p:spPr>
          <a:xfrm flipH="1">
            <a:off x="785299" y="120830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17" name="line 116: plot geometry" descr="sci-ppt:obj-0116"/>
          <p:cNvCxnSpPr/>
          <p:nvPr/>
        </p:nvCxnSpPr>
        <p:spPr>
          <a:xfrm flipH="1">
            <a:off x="785299" y="1170004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18" name="line 117: plot geometry" descr="sci-ppt:obj-0117"/>
          <p:cNvCxnSpPr/>
          <p:nvPr/>
        </p:nvCxnSpPr>
        <p:spPr>
          <a:xfrm flipH="1">
            <a:off x="785299" y="113621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19" name="line 118: plot geometry" descr="sci-ppt:obj-0118"/>
          <p:cNvCxnSpPr/>
          <p:nvPr/>
        </p:nvCxnSpPr>
        <p:spPr>
          <a:xfrm flipH="1">
            <a:off x="785299" y="907164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sp>
        <p:nvSpPr>
          <p:cNvPr id="120" name="text 119: Retained seed energy / slit work" descr="sci-ppt:obj-0119"/>
          <p:cNvSpPr txBox="1"/>
          <p:nvPr/>
        </p:nvSpPr>
        <p:spPr>
          <a:xfrm rot="16200000">
            <a:off x="-1294324" y="2408959"/>
            <a:ext cx="305629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Retained seed energy / slit work</a:t>
            </a:r>
          </a:p>
        </p:txBody>
      </p:sp>
      <p:sp>
        <p:nvSpPr>
          <p:cNvPr id="121" name="polygon 120: plot geometry" descr="sci-ppt:obj-0120"/>
          <p:cNvSpPr/>
          <p:nvPr/>
        </p:nvSpPr>
        <p:spPr>
          <a:xfrm>
            <a:off x="1056230" y="1019863"/>
            <a:ext cx="4786604" cy="1981509"/>
          </a:xfrm>
          <a:custGeom>
            <a:avLst/>
            <a:gdLst/>
            <a:ahLst/>
            <a:cxnLst/>
            <a:rect l="l" t="t" r="r" b="b"/>
            <a:pathLst>
              <a:path w="4786604" h="1981509">
                <a:moveTo>
                  <a:pt x="0" y="0"/>
                </a:moveTo>
                <a:lnTo>
                  <a:pt x="40224" y="16651"/>
                </a:lnTo>
                <a:lnTo>
                  <a:pt x="80447" y="33302"/>
                </a:lnTo>
                <a:lnTo>
                  <a:pt x="120671" y="49954"/>
                </a:lnTo>
                <a:lnTo>
                  <a:pt x="160895" y="66605"/>
                </a:lnTo>
                <a:lnTo>
                  <a:pt x="201118" y="83256"/>
                </a:lnTo>
                <a:lnTo>
                  <a:pt x="241342" y="99908"/>
                </a:lnTo>
                <a:lnTo>
                  <a:pt x="281565" y="116559"/>
                </a:lnTo>
                <a:lnTo>
                  <a:pt x="321789" y="133210"/>
                </a:lnTo>
                <a:lnTo>
                  <a:pt x="362012" y="149862"/>
                </a:lnTo>
                <a:lnTo>
                  <a:pt x="402236" y="166513"/>
                </a:lnTo>
                <a:lnTo>
                  <a:pt x="442459" y="183164"/>
                </a:lnTo>
                <a:lnTo>
                  <a:pt x="482683" y="199816"/>
                </a:lnTo>
                <a:lnTo>
                  <a:pt x="522907" y="216467"/>
                </a:lnTo>
                <a:lnTo>
                  <a:pt x="563130" y="233118"/>
                </a:lnTo>
                <a:lnTo>
                  <a:pt x="603354" y="249770"/>
                </a:lnTo>
                <a:lnTo>
                  <a:pt x="643577" y="266421"/>
                </a:lnTo>
                <a:lnTo>
                  <a:pt x="683801" y="283072"/>
                </a:lnTo>
                <a:lnTo>
                  <a:pt x="724024" y="299724"/>
                </a:lnTo>
                <a:lnTo>
                  <a:pt x="764248" y="316375"/>
                </a:lnTo>
                <a:lnTo>
                  <a:pt x="804471" y="333026"/>
                </a:lnTo>
                <a:lnTo>
                  <a:pt x="844695" y="349678"/>
                </a:lnTo>
                <a:lnTo>
                  <a:pt x="884919" y="366329"/>
                </a:lnTo>
                <a:lnTo>
                  <a:pt x="925142" y="382980"/>
                </a:lnTo>
                <a:lnTo>
                  <a:pt x="965366" y="399632"/>
                </a:lnTo>
                <a:lnTo>
                  <a:pt x="1005589" y="416283"/>
                </a:lnTo>
                <a:lnTo>
                  <a:pt x="1045813" y="432934"/>
                </a:lnTo>
                <a:lnTo>
                  <a:pt x="1086036" y="449586"/>
                </a:lnTo>
                <a:lnTo>
                  <a:pt x="1126260" y="466237"/>
                </a:lnTo>
                <a:lnTo>
                  <a:pt x="1166484" y="482888"/>
                </a:lnTo>
                <a:lnTo>
                  <a:pt x="1206707" y="499540"/>
                </a:lnTo>
                <a:lnTo>
                  <a:pt x="1246931" y="516191"/>
                </a:lnTo>
                <a:lnTo>
                  <a:pt x="1287154" y="532842"/>
                </a:lnTo>
                <a:lnTo>
                  <a:pt x="1327378" y="549494"/>
                </a:lnTo>
                <a:lnTo>
                  <a:pt x="1367601" y="566145"/>
                </a:lnTo>
                <a:lnTo>
                  <a:pt x="1407825" y="582797"/>
                </a:lnTo>
                <a:lnTo>
                  <a:pt x="1448048" y="599448"/>
                </a:lnTo>
                <a:lnTo>
                  <a:pt x="1488272" y="616099"/>
                </a:lnTo>
                <a:lnTo>
                  <a:pt x="1528496" y="632751"/>
                </a:lnTo>
                <a:lnTo>
                  <a:pt x="1568719" y="649402"/>
                </a:lnTo>
                <a:lnTo>
                  <a:pt x="1608943" y="666053"/>
                </a:lnTo>
                <a:lnTo>
                  <a:pt x="1649166" y="682705"/>
                </a:lnTo>
                <a:lnTo>
                  <a:pt x="1689390" y="699356"/>
                </a:lnTo>
                <a:lnTo>
                  <a:pt x="1729613" y="716007"/>
                </a:lnTo>
                <a:lnTo>
                  <a:pt x="1769837" y="732659"/>
                </a:lnTo>
                <a:lnTo>
                  <a:pt x="1810060" y="749310"/>
                </a:lnTo>
                <a:lnTo>
                  <a:pt x="1850284" y="765961"/>
                </a:lnTo>
                <a:lnTo>
                  <a:pt x="1890508" y="782613"/>
                </a:lnTo>
                <a:lnTo>
                  <a:pt x="1930731" y="799264"/>
                </a:lnTo>
                <a:lnTo>
                  <a:pt x="1970955" y="815915"/>
                </a:lnTo>
                <a:lnTo>
                  <a:pt x="2011178" y="832567"/>
                </a:lnTo>
                <a:lnTo>
                  <a:pt x="2051402" y="849218"/>
                </a:lnTo>
                <a:lnTo>
                  <a:pt x="2091625" y="865869"/>
                </a:lnTo>
                <a:lnTo>
                  <a:pt x="2131849" y="882521"/>
                </a:lnTo>
                <a:lnTo>
                  <a:pt x="2172072" y="899172"/>
                </a:lnTo>
                <a:lnTo>
                  <a:pt x="2212296" y="915823"/>
                </a:lnTo>
                <a:lnTo>
                  <a:pt x="2252520" y="932475"/>
                </a:lnTo>
                <a:lnTo>
                  <a:pt x="2292743" y="949126"/>
                </a:lnTo>
                <a:lnTo>
                  <a:pt x="2332967" y="965777"/>
                </a:lnTo>
                <a:lnTo>
                  <a:pt x="2373190" y="982429"/>
                </a:lnTo>
                <a:lnTo>
                  <a:pt x="2413414" y="999080"/>
                </a:lnTo>
                <a:lnTo>
                  <a:pt x="2453637" y="1015731"/>
                </a:lnTo>
                <a:lnTo>
                  <a:pt x="2493861" y="1032383"/>
                </a:lnTo>
                <a:lnTo>
                  <a:pt x="2534084" y="1049034"/>
                </a:lnTo>
                <a:lnTo>
                  <a:pt x="2574308" y="1065685"/>
                </a:lnTo>
                <a:lnTo>
                  <a:pt x="2614532" y="1082337"/>
                </a:lnTo>
                <a:lnTo>
                  <a:pt x="2654755" y="1098988"/>
                </a:lnTo>
                <a:lnTo>
                  <a:pt x="2694979" y="1115639"/>
                </a:lnTo>
                <a:lnTo>
                  <a:pt x="2735202" y="1132291"/>
                </a:lnTo>
                <a:lnTo>
                  <a:pt x="2775426" y="1148942"/>
                </a:lnTo>
                <a:lnTo>
                  <a:pt x="2815649" y="1165593"/>
                </a:lnTo>
                <a:lnTo>
                  <a:pt x="2855873" y="1182245"/>
                </a:lnTo>
                <a:lnTo>
                  <a:pt x="2896096" y="1198896"/>
                </a:lnTo>
                <a:lnTo>
                  <a:pt x="2936320" y="1215547"/>
                </a:lnTo>
                <a:lnTo>
                  <a:pt x="2976544" y="1232199"/>
                </a:lnTo>
                <a:lnTo>
                  <a:pt x="3016767" y="1248850"/>
                </a:lnTo>
                <a:lnTo>
                  <a:pt x="3056991" y="1265501"/>
                </a:lnTo>
                <a:lnTo>
                  <a:pt x="3097214" y="1282153"/>
                </a:lnTo>
                <a:lnTo>
                  <a:pt x="3137438" y="1298804"/>
                </a:lnTo>
                <a:lnTo>
                  <a:pt x="3177661" y="1315455"/>
                </a:lnTo>
                <a:lnTo>
                  <a:pt x="3217885" y="1332107"/>
                </a:lnTo>
                <a:lnTo>
                  <a:pt x="3258108" y="1348758"/>
                </a:lnTo>
                <a:lnTo>
                  <a:pt x="3298332" y="1365409"/>
                </a:lnTo>
                <a:lnTo>
                  <a:pt x="3338556" y="1382061"/>
                </a:lnTo>
                <a:lnTo>
                  <a:pt x="3378779" y="1398712"/>
                </a:lnTo>
                <a:lnTo>
                  <a:pt x="3419003" y="1415363"/>
                </a:lnTo>
                <a:lnTo>
                  <a:pt x="3459226" y="1432015"/>
                </a:lnTo>
                <a:lnTo>
                  <a:pt x="3499450" y="1448666"/>
                </a:lnTo>
                <a:lnTo>
                  <a:pt x="3539673" y="1465317"/>
                </a:lnTo>
                <a:lnTo>
                  <a:pt x="3579897" y="1481969"/>
                </a:lnTo>
                <a:lnTo>
                  <a:pt x="3620120" y="1498620"/>
                </a:lnTo>
                <a:lnTo>
                  <a:pt x="3660344" y="1515271"/>
                </a:lnTo>
                <a:lnTo>
                  <a:pt x="3700568" y="1531923"/>
                </a:lnTo>
                <a:lnTo>
                  <a:pt x="3740791" y="1548574"/>
                </a:lnTo>
                <a:lnTo>
                  <a:pt x="3781015" y="1565225"/>
                </a:lnTo>
                <a:lnTo>
                  <a:pt x="3821238" y="1581877"/>
                </a:lnTo>
                <a:lnTo>
                  <a:pt x="3861462" y="1598528"/>
                </a:lnTo>
                <a:lnTo>
                  <a:pt x="3901685" y="1615179"/>
                </a:lnTo>
                <a:lnTo>
                  <a:pt x="3941909" y="1631831"/>
                </a:lnTo>
                <a:lnTo>
                  <a:pt x="3982133" y="1648482"/>
                </a:lnTo>
                <a:lnTo>
                  <a:pt x="4022356" y="1665133"/>
                </a:lnTo>
                <a:lnTo>
                  <a:pt x="4062580" y="1681785"/>
                </a:lnTo>
                <a:lnTo>
                  <a:pt x="4102803" y="1698436"/>
                </a:lnTo>
                <a:lnTo>
                  <a:pt x="4143027" y="1715087"/>
                </a:lnTo>
                <a:lnTo>
                  <a:pt x="4183250" y="1731739"/>
                </a:lnTo>
                <a:lnTo>
                  <a:pt x="4223474" y="1748390"/>
                </a:lnTo>
                <a:lnTo>
                  <a:pt x="4263697" y="1765041"/>
                </a:lnTo>
                <a:lnTo>
                  <a:pt x="4303921" y="1781693"/>
                </a:lnTo>
                <a:lnTo>
                  <a:pt x="4344145" y="1798344"/>
                </a:lnTo>
                <a:lnTo>
                  <a:pt x="4384368" y="1814995"/>
                </a:lnTo>
                <a:lnTo>
                  <a:pt x="4424592" y="1831647"/>
                </a:lnTo>
                <a:lnTo>
                  <a:pt x="4464815" y="1848298"/>
                </a:lnTo>
                <a:lnTo>
                  <a:pt x="4505039" y="1864949"/>
                </a:lnTo>
                <a:lnTo>
                  <a:pt x="4545262" y="1881601"/>
                </a:lnTo>
                <a:lnTo>
                  <a:pt x="4585486" y="1898252"/>
                </a:lnTo>
                <a:lnTo>
                  <a:pt x="4625709" y="1914903"/>
                </a:lnTo>
                <a:lnTo>
                  <a:pt x="4665933" y="1931555"/>
                </a:lnTo>
                <a:lnTo>
                  <a:pt x="4706157" y="1948206"/>
                </a:lnTo>
                <a:lnTo>
                  <a:pt x="4746380" y="1964858"/>
                </a:lnTo>
                <a:lnTo>
                  <a:pt x="4786604" y="1981509"/>
                </a:lnTo>
              </a:path>
            </a:pathLst>
          </a:custGeom>
          <a:noFill/>
          <a:ln w="23700">
            <a:solidFill>
              <a:srgbClr val="1F77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polygon 121: plot geometry" descr="sci-ppt:obj-0121"/>
          <p:cNvSpPr/>
          <p:nvPr/>
        </p:nvSpPr>
        <p:spPr>
          <a:xfrm>
            <a:off x="1056230" y="1481535"/>
            <a:ext cx="4786604" cy="1981509"/>
          </a:xfrm>
          <a:custGeom>
            <a:avLst/>
            <a:gdLst/>
            <a:ahLst/>
            <a:cxnLst/>
            <a:rect l="l" t="t" r="r" b="b"/>
            <a:pathLst>
              <a:path w="4786604" h="1981509">
                <a:moveTo>
                  <a:pt x="0" y="0"/>
                </a:moveTo>
                <a:lnTo>
                  <a:pt x="40224" y="16651"/>
                </a:lnTo>
                <a:lnTo>
                  <a:pt x="80447" y="33302"/>
                </a:lnTo>
                <a:lnTo>
                  <a:pt x="120671" y="49954"/>
                </a:lnTo>
                <a:lnTo>
                  <a:pt x="160895" y="66605"/>
                </a:lnTo>
                <a:lnTo>
                  <a:pt x="201118" y="83256"/>
                </a:lnTo>
                <a:lnTo>
                  <a:pt x="241342" y="99908"/>
                </a:lnTo>
                <a:lnTo>
                  <a:pt x="281565" y="116559"/>
                </a:lnTo>
                <a:lnTo>
                  <a:pt x="321789" y="133210"/>
                </a:lnTo>
                <a:lnTo>
                  <a:pt x="362012" y="149862"/>
                </a:lnTo>
                <a:lnTo>
                  <a:pt x="402236" y="166513"/>
                </a:lnTo>
                <a:lnTo>
                  <a:pt x="442459" y="183164"/>
                </a:lnTo>
                <a:lnTo>
                  <a:pt x="482683" y="199816"/>
                </a:lnTo>
                <a:lnTo>
                  <a:pt x="522907" y="216467"/>
                </a:lnTo>
                <a:lnTo>
                  <a:pt x="563130" y="233118"/>
                </a:lnTo>
                <a:lnTo>
                  <a:pt x="603354" y="249770"/>
                </a:lnTo>
                <a:lnTo>
                  <a:pt x="643577" y="266421"/>
                </a:lnTo>
                <a:lnTo>
                  <a:pt x="683801" y="283072"/>
                </a:lnTo>
                <a:lnTo>
                  <a:pt x="724024" y="299724"/>
                </a:lnTo>
                <a:lnTo>
                  <a:pt x="764248" y="316375"/>
                </a:lnTo>
                <a:lnTo>
                  <a:pt x="804471" y="333026"/>
                </a:lnTo>
                <a:lnTo>
                  <a:pt x="844695" y="349678"/>
                </a:lnTo>
                <a:lnTo>
                  <a:pt x="884919" y="366329"/>
                </a:lnTo>
                <a:lnTo>
                  <a:pt x="925142" y="382980"/>
                </a:lnTo>
                <a:lnTo>
                  <a:pt x="965366" y="399632"/>
                </a:lnTo>
                <a:lnTo>
                  <a:pt x="1005589" y="416283"/>
                </a:lnTo>
                <a:lnTo>
                  <a:pt x="1045813" y="432934"/>
                </a:lnTo>
                <a:lnTo>
                  <a:pt x="1086036" y="449586"/>
                </a:lnTo>
                <a:lnTo>
                  <a:pt x="1126260" y="466237"/>
                </a:lnTo>
                <a:lnTo>
                  <a:pt x="1166484" y="482888"/>
                </a:lnTo>
                <a:lnTo>
                  <a:pt x="1206707" y="499540"/>
                </a:lnTo>
                <a:lnTo>
                  <a:pt x="1246931" y="516191"/>
                </a:lnTo>
                <a:lnTo>
                  <a:pt x="1287154" y="532842"/>
                </a:lnTo>
                <a:lnTo>
                  <a:pt x="1327378" y="549494"/>
                </a:lnTo>
                <a:lnTo>
                  <a:pt x="1367601" y="566145"/>
                </a:lnTo>
                <a:lnTo>
                  <a:pt x="1407825" y="582796"/>
                </a:lnTo>
                <a:lnTo>
                  <a:pt x="1448048" y="599448"/>
                </a:lnTo>
                <a:lnTo>
                  <a:pt x="1488272" y="616099"/>
                </a:lnTo>
                <a:lnTo>
                  <a:pt x="1528496" y="632750"/>
                </a:lnTo>
                <a:lnTo>
                  <a:pt x="1568719" y="649402"/>
                </a:lnTo>
                <a:lnTo>
                  <a:pt x="1608943" y="666053"/>
                </a:lnTo>
                <a:lnTo>
                  <a:pt x="1649166" y="682704"/>
                </a:lnTo>
                <a:lnTo>
                  <a:pt x="1689390" y="699356"/>
                </a:lnTo>
                <a:lnTo>
                  <a:pt x="1729613" y="716007"/>
                </a:lnTo>
                <a:lnTo>
                  <a:pt x="1769837" y="732658"/>
                </a:lnTo>
                <a:lnTo>
                  <a:pt x="1810060" y="749310"/>
                </a:lnTo>
                <a:lnTo>
                  <a:pt x="1850284" y="765961"/>
                </a:lnTo>
                <a:lnTo>
                  <a:pt x="1890508" y="782612"/>
                </a:lnTo>
                <a:lnTo>
                  <a:pt x="1930731" y="799264"/>
                </a:lnTo>
                <a:lnTo>
                  <a:pt x="1970955" y="815915"/>
                </a:lnTo>
                <a:lnTo>
                  <a:pt x="2011178" y="832566"/>
                </a:lnTo>
                <a:lnTo>
                  <a:pt x="2051402" y="849218"/>
                </a:lnTo>
                <a:lnTo>
                  <a:pt x="2091625" y="865869"/>
                </a:lnTo>
                <a:lnTo>
                  <a:pt x="2131849" y="882520"/>
                </a:lnTo>
                <a:lnTo>
                  <a:pt x="2172072" y="899172"/>
                </a:lnTo>
                <a:lnTo>
                  <a:pt x="2212296" y="915823"/>
                </a:lnTo>
                <a:lnTo>
                  <a:pt x="2252520" y="932474"/>
                </a:lnTo>
                <a:lnTo>
                  <a:pt x="2292743" y="949126"/>
                </a:lnTo>
                <a:lnTo>
                  <a:pt x="2332967" y="965777"/>
                </a:lnTo>
                <a:lnTo>
                  <a:pt x="2373190" y="982428"/>
                </a:lnTo>
                <a:lnTo>
                  <a:pt x="2413414" y="999080"/>
                </a:lnTo>
                <a:lnTo>
                  <a:pt x="2453637" y="1015731"/>
                </a:lnTo>
                <a:lnTo>
                  <a:pt x="2493861" y="1032382"/>
                </a:lnTo>
                <a:lnTo>
                  <a:pt x="2534084" y="1049034"/>
                </a:lnTo>
                <a:lnTo>
                  <a:pt x="2574308" y="1065685"/>
                </a:lnTo>
                <a:lnTo>
                  <a:pt x="2614532" y="1082336"/>
                </a:lnTo>
                <a:lnTo>
                  <a:pt x="2654755" y="1098988"/>
                </a:lnTo>
                <a:lnTo>
                  <a:pt x="2694979" y="1115639"/>
                </a:lnTo>
                <a:lnTo>
                  <a:pt x="2735202" y="1132290"/>
                </a:lnTo>
                <a:lnTo>
                  <a:pt x="2775426" y="1148942"/>
                </a:lnTo>
                <a:lnTo>
                  <a:pt x="2815649" y="1165593"/>
                </a:lnTo>
                <a:lnTo>
                  <a:pt x="2855873" y="1182244"/>
                </a:lnTo>
                <a:lnTo>
                  <a:pt x="2896096" y="1198896"/>
                </a:lnTo>
                <a:lnTo>
                  <a:pt x="2936320" y="1215547"/>
                </a:lnTo>
                <a:lnTo>
                  <a:pt x="2976544" y="1232198"/>
                </a:lnTo>
                <a:lnTo>
                  <a:pt x="3016767" y="1248850"/>
                </a:lnTo>
                <a:lnTo>
                  <a:pt x="3056991" y="1265501"/>
                </a:lnTo>
                <a:lnTo>
                  <a:pt x="3097214" y="1282152"/>
                </a:lnTo>
                <a:lnTo>
                  <a:pt x="3137438" y="1298804"/>
                </a:lnTo>
                <a:lnTo>
                  <a:pt x="3177661" y="1315455"/>
                </a:lnTo>
                <a:lnTo>
                  <a:pt x="3217885" y="1332107"/>
                </a:lnTo>
                <a:lnTo>
                  <a:pt x="3258108" y="1348758"/>
                </a:lnTo>
                <a:lnTo>
                  <a:pt x="3298332" y="1365409"/>
                </a:lnTo>
                <a:lnTo>
                  <a:pt x="3338556" y="1382061"/>
                </a:lnTo>
                <a:lnTo>
                  <a:pt x="3378779" y="1398712"/>
                </a:lnTo>
                <a:lnTo>
                  <a:pt x="3419003" y="1415363"/>
                </a:lnTo>
                <a:lnTo>
                  <a:pt x="3459226" y="1432015"/>
                </a:lnTo>
                <a:lnTo>
                  <a:pt x="3499450" y="1448666"/>
                </a:lnTo>
                <a:lnTo>
                  <a:pt x="3539673" y="1465317"/>
                </a:lnTo>
                <a:lnTo>
                  <a:pt x="3579897" y="1481969"/>
                </a:lnTo>
                <a:lnTo>
                  <a:pt x="3620120" y="1498620"/>
                </a:lnTo>
                <a:lnTo>
                  <a:pt x="3660344" y="1515271"/>
                </a:lnTo>
                <a:lnTo>
                  <a:pt x="3700568" y="1531923"/>
                </a:lnTo>
                <a:lnTo>
                  <a:pt x="3740791" y="1548574"/>
                </a:lnTo>
                <a:lnTo>
                  <a:pt x="3781015" y="1565225"/>
                </a:lnTo>
                <a:lnTo>
                  <a:pt x="3821238" y="1581877"/>
                </a:lnTo>
                <a:lnTo>
                  <a:pt x="3861462" y="1598528"/>
                </a:lnTo>
                <a:lnTo>
                  <a:pt x="3901685" y="1615179"/>
                </a:lnTo>
                <a:lnTo>
                  <a:pt x="3941909" y="1631831"/>
                </a:lnTo>
                <a:lnTo>
                  <a:pt x="3982133" y="1648482"/>
                </a:lnTo>
                <a:lnTo>
                  <a:pt x="4022356" y="1665133"/>
                </a:lnTo>
                <a:lnTo>
                  <a:pt x="4062580" y="1681785"/>
                </a:lnTo>
                <a:lnTo>
                  <a:pt x="4102803" y="1698436"/>
                </a:lnTo>
                <a:lnTo>
                  <a:pt x="4143027" y="1715087"/>
                </a:lnTo>
                <a:lnTo>
                  <a:pt x="4183250" y="1731739"/>
                </a:lnTo>
                <a:lnTo>
                  <a:pt x="4223474" y="1748390"/>
                </a:lnTo>
                <a:lnTo>
                  <a:pt x="4263697" y="1765041"/>
                </a:lnTo>
                <a:lnTo>
                  <a:pt x="4303921" y="1781693"/>
                </a:lnTo>
                <a:lnTo>
                  <a:pt x="4344145" y="1798344"/>
                </a:lnTo>
                <a:lnTo>
                  <a:pt x="4384368" y="1814995"/>
                </a:lnTo>
                <a:lnTo>
                  <a:pt x="4424592" y="1831647"/>
                </a:lnTo>
                <a:lnTo>
                  <a:pt x="4464815" y="1848298"/>
                </a:lnTo>
                <a:lnTo>
                  <a:pt x="4505039" y="1864949"/>
                </a:lnTo>
                <a:lnTo>
                  <a:pt x="4545262" y="1881601"/>
                </a:lnTo>
                <a:lnTo>
                  <a:pt x="4585486" y="1898252"/>
                </a:lnTo>
                <a:lnTo>
                  <a:pt x="4625709" y="1914903"/>
                </a:lnTo>
                <a:lnTo>
                  <a:pt x="4665933" y="1931555"/>
                </a:lnTo>
                <a:lnTo>
                  <a:pt x="4706157" y="1948206"/>
                </a:lnTo>
                <a:lnTo>
                  <a:pt x="4746380" y="1964857"/>
                </a:lnTo>
                <a:lnTo>
                  <a:pt x="4786604" y="1981509"/>
                </a:lnTo>
              </a:path>
            </a:pathLst>
          </a:custGeom>
          <a:noFill/>
          <a:ln w="23700">
            <a:solidFill>
              <a:srgbClr val="FF7F0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polygon 122: plot geometry" descr="sci-ppt:obj-0122"/>
          <p:cNvSpPr/>
          <p:nvPr/>
        </p:nvSpPr>
        <p:spPr>
          <a:xfrm>
            <a:off x="1056230" y="1879197"/>
            <a:ext cx="4786604" cy="1981509"/>
          </a:xfrm>
          <a:custGeom>
            <a:avLst/>
            <a:gdLst/>
            <a:ahLst/>
            <a:cxnLst/>
            <a:rect l="l" t="t" r="r" b="b"/>
            <a:pathLst>
              <a:path w="4786604" h="1981509">
                <a:moveTo>
                  <a:pt x="0" y="0"/>
                </a:moveTo>
                <a:lnTo>
                  <a:pt x="40224" y="16651"/>
                </a:lnTo>
                <a:lnTo>
                  <a:pt x="80447" y="33303"/>
                </a:lnTo>
                <a:lnTo>
                  <a:pt x="120671" y="49954"/>
                </a:lnTo>
                <a:lnTo>
                  <a:pt x="160895" y="66605"/>
                </a:lnTo>
                <a:lnTo>
                  <a:pt x="201118" y="83257"/>
                </a:lnTo>
                <a:lnTo>
                  <a:pt x="241342" y="99908"/>
                </a:lnTo>
                <a:lnTo>
                  <a:pt x="281565" y="116559"/>
                </a:lnTo>
                <a:lnTo>
                  <a:pt x="321789" y="133211"/>
                </a:lnTo>
                <a:lnTo>
                  <a:pt x="362012" y="149862"/>
                </a:lnTo>
                <a:lnTo>
                  <a:pt x="402236" y="166513"/>
                </a:lnTo>
                <a:lnTo>
                  <a:pt x="442459" y="183165"/>
                </a:lnTo>
                <a:lnTo>
                  <a:pt x="482683" y="199816"/>
                </a:lnTo>
                <a:lnTo>
                  <a:pt x="522907" y="216467"/>
                </a:lnTo>
                <a:lnTo>
                  <a:pt x="563130" y="233119"/>
                </a:lnTo>
                <a:lnTo>
                  <a:pt x="603354" y="249770"/>
                </a:lnTo>
                <a:lnTo>
                  <a:pt x="643577" y="266421"/>
                </a:lnTo>
                <a:lnTo>
                  <a:pt x="683801" y="283073"/>
                </a:lnTo>
                <a:lnTo>
                  <a:pt x="724024" y="299724"/>
                </a:lnTo>
                <a:lnTo>
                  <a:pt x="764248" y="316375"/>
                </a:lnTo>
                <a:lnTo>
                  <a:pt x="804471" y="333027"/>
                </a:lnTo>
                <a:lnTo>
                  <a:pt x="844695" y="349678"/>
                </a:lnTo>
                <a:lnTo>
                  <a:pt x="884919" y="366329"/>
                </a:lnTo>
                <a:lnTo>
                  <a:pt x="925142" y="382981"/>
                </a:lnTo>
                <a:lnTo>
                  <a:pt x="965366" y="399632"/>
                </a:lnTo>
                <a:lnTo>
                  <a:pt x="1005589" y="416283"/>
                </a:lnTo>
                <a:lnTo>
                  <a:pt x="1045813" y="432935"/>
                </a:lnTo>
                <a:lnTo>
                  <a:pt x="1086036" y="449586"/>
                </a:lnTo>
                <a:lnTo>
                  <a:pt x="1126260" y="466237"/>
                </a:lnTo>
                <a:lnTo>
                  <a:pt x="1166484" y="482889"/>
                </a:lnTo>
                <a:lnTo>
                  <a:pt x="1206707" y="499540"/>
                </a:lnTo>
                <a:lnTo>
                  <a:pt x="1246931" y="516191"/>
                </a:lnTo>
                <a:lnTo>
                  <a:pt x="1287154" y="532843"/>
                </a:lnTo>
                <a:lnTo>
                  <a:pt x="1327378" y="549494"/>
                </a:lnTo>
                <a:lnTo>
                  <a:pt x="1367601" y="566145"/>
                </a:lnTo>
                <a:lnTo>
                  <a:pt x="1407825" y="582797"/>
                </a:lnTo>
                <a:lnTo>
                  <a:pt x="1448048" y="599448"/>
                </a:lnTo>
                <a:lnTo>
                  <a:pt x="1488272" y="616099"/>
                </a:lnTo>
                <a:lnTo>
                  <a:pt x="1528496" y="632751"/>
                </a:lnTo>
                <a:lnTo>
                  <a:pt x="1568719" y="649402"/>
                </a:lnTo>
                <a:lnTo>
                  <a:pt x="1608943" y="666053"/>
                </a:lnTo>
                <a:lnTo>
                  <a:pt x="1649166" y="682705"/>
                </a:lnTo>
                <a:lnTo>
                  <a:pt x="1689390" y="699356"/>
                </a:lnTo>
                <a:lnTo>
                  <a:pt x="1729613" y="716007"/>
                </a:lnTo>
                <a:lnTo>
                  <a:pt x="1769837" y="732659"/>
                </a:lnTo>
                <a:lnTo>
                  <a:pt x="1810060" y="749310"/>
                </a:lnTo>
                <a:lnTo>
                  <a:pt x="1850284" y="765962"/>
                </a:lnTo>
                <a:lnTo>
                  <a:pt x="1890508" y="782613"/>
                </a:lnTo>
                <a:lnTo>
                  <a:pt x="1930731" y="799264"/>
                </a:lnTo>
                <a:lnTo>
                  <a:pt x="1970955" y="815916"/>
                </a:lnTo>
                <a:lnTo>
                  <a:pt x="2011178" y="832567"/>
                </a:lnTo>
                <a:lnTo>
                  <a:pt x="2051402" y="849218"/>
                </a:lnTo>
                <a:lnTo>
                  <a:pt x="2091625" y="865870"/>
                </a:lnTo>
                <a:lnTo>
                  <a:pt x="2131849" y="882521"/>
                </a:lnTo>
                <a:lnTo>
                  <a:pt x="2172072" y="899172"/>
                </a:lnTo>
                <a:lnTo>
                  <a:pt x="2212296" y="915824"/>
                </a:lnTo>
                <a:lnTo>
                  <a:pt x="2252520" y="932475"/>
                </a:lnTo>
                <a:lnTo>
                  <a:pt x="2292743" y="949126"/>
                </a:lnTo>
                <a:lnTo>
                  <a:pt x="2332967" y="965778"/>
                </a:lnTo>
                <a:lnTo>
                  <a:pt x="2373190" y="982429"/>
                </a:lnTo>
                <a:lnTo>
                  <a:pt x="2413414" y="999080"/>
                </a:lnTo>
                <a:lnTo>
                  <a:pt x="2453637" y="1015732"/>
                </a:lnTo>
                <a:lnTo>
                  <a:pt x="2493861" y="1032383"/>
                </a:lnTo>
                <a:lnTo>
                  <a:pt x="2534084" y="1049034"/>
                </a:lnTo>
                <a:lnTo>
                  <a:pt x="2574308" y="1065686"/>
                </a:lnTo>
                <a:lnTo>
                  <a:pt x="2614532" y="1082337"/>
                </a:lnTo>
                <a:lnTo>
                  <a:pt x="2654755" y="1098988"/>
                </a:lnTo>
                <a:lnTo>
                  <a:pt x="2694979" y="1115640"/>
                </a:lnTo>
                <a:lnTo>
                  <a:pt x="2735202" y="1132291"/>
                </a:lnTo>
                <a:lnTo>
                  <a:pt x="2775426" y="1148942"/>
                </a:lnTo>
                <a:lnTo>
                  <a:pt x="2815649" y="1165594"/>
                </a:lnTo>
                <a:lnTo>
                  <a:pt x="2855873" y="1182245"/>
                </a:lnTo>
                <a:lnTo>
                  <a:pt x="2896096" y="1198896"/>
                </a:lnTo>
                <a:lnTo>
                  <a:pt x="2936320" y="1215548"/>
                </a:lnTo>
                <a:lnTo>
                  <a:pt x="2976544" y="1232199"/>
                </a:lnTo>
                <a:lnTo>
                  <a:pt x="3016767" y="1248850"/>
                </a:lnTo>
                <a:lnTo>
                  <a:pt x="3056991" y="1265502"/>
                </a:lnTo>
                <a:lnTo>
                  <a:pt x="3097214" y="1282153"/>
                </a:lnTo>
                <a:lnTo>
                  <a:pt x="3137438" y="1298804"/>
                </a:lnTo>
                <a:lnTo>
                  <a:pt x="3177661" y="1315456"/>
                </a:lnTo>
                <a:lnTo>
                  <a:pt x="3217885" y="1332107"/>
                </a:lnTo>
                <a:lnTo>
                  <a:pt x="3258108" y="1348758"/>
                </a:lnTo>
                <a:lnTo>
                  <a:pt x="3298332" y="1365410"/>
                </a:lnTo>
                <a:lnTo>
                  <a:pt x="3338556" y="1382061"/>
                </a:lnTo>
                <a:lnTo>
                  <a:pt x="3378779" y="1398712"/>
                </a:lnTo>
                <a:lnTo>
                  <a:pt x="3419003" y="1415364"/>
                </a:lnTo>
                <a:lnTo>
                  <a:pt x="3459226" y="1432015"/>
                </a:lnTo>
                <a:lnTo>
                  <a:pt x="3499450" y="1448666"/>
                </a:lnTo>
                <a:lnTo>
                  <a:pt x="3539673" y="1465318"/>
                </a:lnTo>
                <a:lnTo>
                  <a:pt x="3579897" y="1481969"/>
                </a:lnTo>
                <a:lnTo>
                  <a:pt x="3620120" y="1498620"/>
                </a:lnTo>
                <a:lnTo>
                  <a:pt x="3660344" y="1515272"/>
                </a:lnTo>
                <a:lnTo>
                  <a:pt x="3700568" y="1531923"/>
                </a:lnTo>
                <a:lnTo>
                  <a:pt x="3740791" y="1548574"/>
                </a:lnTo>
                <a:lnTo>
                  <a:pt x="3781015" y="1565226"/>
                </a:lnTo>
                <a:lnTo>
                  <a:pt x="3821238" y="1581877"/>
                </a:lnTo>
                <a:lnTo>
                  <a:pt x="3861462" y="1598528"/>
                </a:lnTo>
                <a:lnTo>
                  <a:pt x="3901685" y="1615180"/>
                </a:lnTo>
                <a:lnTo>
                  <a:pt x="3941909" y="1631831"/>
                </a:lnTo>
                <a:lnTo>
                  <a:pt x="3982133" y="1648482"/>
                </a:lnTo>
                <a:lnTo>
                  <a:pt x="4022356" y="1665134"/>
                </a:lnTo>
                <a:lnTo>
                  <a:pt x="4062580" y="1681785"/>
                </a:lnTo>
                <a:lnTo>
                  <a:pt x="4102803" y="1698436"/>
                </a:lnTo>
                <a:lnTo>
                  <a:pt x="4143027" y="1715088"/>
                </a:lnTo>
                <a:lnTo>
                  <a:pt x="4183250" y="1731739"/>
                </a:lnTo>
                <a:lnTo>
                  <a:pt x="4223474" y="1748390"/>
                </a:lnTo>
                <a:lnTo>
                  <a:pt x="4263697" y="1765042"/>
                </a:lnTo>
                <a:lnTo>
                  <a:pt x="4303921" y="1781693"/>
                </a:lnTo>
                <a:lnTo>
                  <a:pt x="4344145" y="1798344"/>
                </a:lnTo>
                <a:lnTo>
                  <a:pt x="4384368" y="1814996"/>
                </a:lnTo>
                <a:lnTo>
                  <a:pt x="4424592" y="1831647"/>
                </a:lnTo>
                <a:lnTo>
                  <a:pt x="4464815" y="1848298"/>
                </a:lnTo>
                <a:lnTo>
                  <a:pt x="4505039" y="1864950"/>
                </a:lnTo>
                <a:lnTo>
                  <a:pt x="4545262" y="1881601"/>
                </a:lnTo>
                <a:lnTo>
                  <a:pt x="4585486" y="1898252"/>
                </a:lnTo>
                <a:lnTo>
                  <a:pt x="4625709" y="1914904"/>
                </a:lnTo>
                <a:lnTo>
                  <a:pt x="4665933" y="1931555"/>
                </a:lnTo>
                <a:lnTo>
                  <a:pt x="4706157" y="1948206"/>
                </a:lnTo>
                <a:lnTo>
                  <a:pt x="4746380" y="1964858"/>
                </a:lnTo>
                <a:lnTo>
                  <a:pt x="4786604" y="1981509"/>
                </a:lnTo>
              </a:path>
            </a:pathLst>
          </a:custGeom>
          <a:noFill/>
          <a:ln w="23700">
            <a:solidFill>
              <a:srgbClr val="2CA0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polygon 123: plot geometry" descr="sci-ppt:obj-0123"/>
          <p:cNvSpPr/>
          <p:nvPr/>
        </p:nvSpPr>
        <p:spPr>
          <a:xfrm>
            <a:off x="1056230" y="2142038"/>
            <a:ext cx="4786604" cy="1981509"/>
          </a:xfrm>
          <a:custGeom>
            <a:avLst/>
            <a:gdLst/>
            <a:ahLst/>
            <a:cxnLst/>
            <a:rect l="l" t="t" r="r" b="b"/>
            <a:pathLst>
              <a:path w="4786604" h="1981509">
                <a:moveTo>
                  <a:pt x="0" y="0"/>
                </a:moveTo>
                <a:lnTo>
                  <a:pt x="40224" y="16651"/>
                </a:lnTo>
                <a:lnTo>
                  <a:pt x="80447" y="33302"/>
                </a:lnTo>
                <a:lnTo>
                  <a:pt x="120671" y="49954"/>
                </a:lnTo>
                <a:lnTo>
                  <a:pt x="160895" y="66605"/>
                </a:lnTo>
                <a:lnTo>
                  <a:pt x="201118" y="83256"/>
                </a:lnTo>
                <a:lnTo>
                  <a:pt x="241342" y="99908"/>
                </a:lnTo>
                <a:lnTo>
                  <a:pt x="281565" y="116559"/>
                </a:lnTo>
                <a:lnTo>
                  <a:pt x="321789" y="133210"/>
                </a:lnTo>
                <a:lnTo>
                  <a:pt x="362012" y="149862"/>
                </a:lnTo>
                <a:lnTo>
                  <a:pt x="402236" y="166513"/>
                </a:lnTo>
                <a:lnTo>
                  <a:pt x="442459" y="183164"/>
                </a:lnTo>
                <a:lnTo>
                  <a:pt x="482683" y="199816"/>
                </a:lnTo>
                <a:lnTo>
                  <a:pt x="522907" y="216467"/>
                </a:lnTo>
                <a:lnTo>
                  <a:pt x="563130" y="233118"/>
                </a:lnTo>
                <a:lnTo>
                  <a:pt x="603354" y="249770"/>
                </a:lnTo>
                <a:lnTo>
                  <a:pt x="643577" y="266421"/>
                </a:lnTo>
                <a:lnTo>
                  <a:pt x="683801" y="283072"/>
                </a:lnTo>
                <a:lnTo>
                  <a:pt x="724024" y="299724"/>
                </a:lnTo>
                <a:lnTo>
                  <a:pt x="764248" y="316375"/>
                </a:lnTo>
                <a:lnTo>
                  <a:pt x="804471" y="333026"/>
                </a:lnTo>
                <a:lnTo>
                  <a:pt x="844695" y="349678"/>
                </a:lnTo>
                <a:lnTo>
                  <a:pt x="884919" y="366329"/>
                </a:lnTo>
                <a:lnTo>
                  <a:pt x="925142" y="382980"/>
                </a:lnTo>
                <a:lnTo>
                  <a:pt x="965366" y="399632"/>
                </a:lnTo>
                <a:lnTo>
                  <a:pt x="1005589" y="416283"/>
                </a:lnTo>
                <a:lnTo>
                  <a:pt x="1045813" y="432934"/>
                </a:lnTo>
                <a:lnTo>
                  <a:pt x="1086036" y="449586"/>
                </a:lnTo>
                <a:lnTo>
                  <a:pt x="1126260" y="466237"/>
                </a:lnTo>
                <a:lnTo>
                  <a:pt x="1166484" y="482888"/>
                </a:lnTo>
                <a:lnTo>
                  <a:pt x="1206707" y="499540"/>
                </a:lnTo>
                <a:lnTo>
                  <a:pt x="1246931" y="516191"/>
                </a:lnTo>
                <a:lnTo>
                  <a:pt x="1287154" y="532842"/>
                </a:lnTo>
                <a:lnTo>
                  <a:pt x="1327378" y="549494"/>
                </a:lnTo>
                <a:lnTo>
                  <a:pt x="1367601" y="566145"/>
                </a:lnTo>
                <a:lnTo>
                  <a:pt x="1407825" y="582796"/>
                </a:lnTo>
                <a:lnTo>
                  <a:pt x="1448048" y="599448"/>
                </a:lnTo>
                <a:lnTo>
                  <a:pt x="1488272" y="616099"/>
                </a:lnTo>
                <a:lnTo>
                  <a:pt x="1528496" y="632750"/>
                </a:lnTo>
                <a:lnTo>
                  <a:pt x="1568719" y="649402"/>
                </a:lnTo>
                <a:lnTo>
                  <a:pt x="1608943" y="666053"/>
                </a:lnTo>
                <a:lnTo>
                  <a:pt x="1649166" y="682704"/>
                </a:lnTo>
                <a:lnTo>
                  <a:pt x="1689390" y="699356"/>
                </a:lnTo>
                <a:lnTo>
                  <a:pt x="1729613" y="716007"/>
                </a:lnTo>
                <a:lnTo>
                  <a:pt x="1769837" y="732658"/>
                </a:lnTo>
                <a:lnTo>
                  <a:pt x="1810060" y="749310"/>
                </a:lnTo>
                <a:lnTo>
                  <a:pt x="1850284" y="765961"/>
                </a:lnTo>
                <a:lnTo>
                  <a:pt x="1890508" y="782612"/>
                </a:lnTo>
                <a:lnTo>
                  <a:pt x="1930731" y="799264"/>
                </a:lnTo>
                <a:lnTo>
                  <a:pt x="1970955" y="815915"/>
                </a:lnTo>
                <a:lnTo>
                  <a:pt x="2011178" y="832566"/>
                </a:lnTo>
                <a:lnTo>
                  <a:pt x="2051402" y="849218"/>
                </a:lnTo>
                <a:lnTo>
                  <a:pt x="2091625" y="865869"/>
                </a:lnTo>
                <a:lnTo>
                  <a:pt x="2131849" y="882520"/>
                </a:lnTo>
                <a:lnTo>
                  <a:pt x="2172072" y="899172"/>
                </a:lnTo>
                <a:lnTo>
                  <a:pt x="2212296" y="915823"/>
                </a:lnTo>
                <a:lnTo>
                  <a:pt x="2252520" y="932474"/>
                </a:lnTo>
                <a:lnTo>
                  <a:pt x="2292743" y="949126"/>
                </a:lnTo>
                <a:lnTo>
                  <a:pt x="2332967" y="965777"/>
                </a:lnTo>
                <a:lnTo>
                  <a:pt x="2373190" y="982428"/>
                </a:lnTo>
                <a:lnTo>
                  <a:pt x="2413414" y="999080"/>
                </a:lnTo>
                <a:lnTo>
                  <a:pt x="2453637" y="1015731"/>
                </a:lnTo>
                <a:lnTo>
                  <a:pt x="2493861" y="1032382"/>
                </a:lnTo>
                <a:lnTo>
                  <a:pt x="2534084" y="1049034"/>
                </a:lnTo>
                <a:lnTo>
                  <a:pt x="2574308" y="1065685"/>
                </a:lnTo>
                <a:lnTo>
                  <a:pt x="2614532" y="1082336"/>
                </a:lnTo>
                <a:lnTo>
                  <a:pt x="2654755" y="1098988"/>
                </a:lnTo>
                <a:lnTo>
                  <a:pt x="2694979" y="1115639"/>
                </a:lnTo>
                <a:lnTo>
                  <a:pt x="2735202" y="1132291"/>
                </a:lnTo>
                <a:lnTo>
                  <a:pt x="2775426" y="1148942"/>
                </a:lnTo>
                <a:lnTo>
                  <a:pt x="2815649" y="1165593"/>
                </a:lnTo>
                <a:lnTo>
                  <a:pt x="2855873" y="1182245"/>
                </a:lnTo>
                <a:lnTo>
                  <a:pt x="2896096" y="1198896"/>
                </a:lnTo>
                <a:lnTo>
                  <a:pt x="2936320" y="1215547"/>
                </a:lnTo>
                <a:lnTo>
                  <a:pt x="2976544" y="1232199"/>
                </a:lnTo>
                <a:lnTo>
                  <a:pt x="3016767" y="1248850"/>
                </a:lnTo>
                <a:lnTo>
                  <a:pt x="3056991" y="1265501"/>
                </a:lnTo>
                <a:lnTo>
                  <a:pt x="3097214" y="1282153"/>
                </a:lnTo>
                <a:lnTo>
                  <a:pt x="3137438" y="1298804"/>
                </a:lnTo>
                <a:lnTo>
                  <a:pt x="3177661" y="1315455"/>
                </a:lnTo>
                <a:lnTo>
                  <a:pt x="3217885" y="1332107"/>
                </a:lnTo>
                <a:lnTo>
                  <a:pt x="3258108" y="1348758"/>
                </a:lnTo>
                <a:lnTo>
                  <a:pt x="3298332" y="1365409"/>
                </a:lnTo>
                <a:lnTo>
                  <a:pt x="3338556" y="1382061"/>
                </a:lnTo>
                <a:lnTo>
                  <a:pt x="3378779" y="1398712"/>
                </a:lnTo>
                <a:lnTo>
                  <a:pt x="3419003" y="1415363"/>
                </a:lnTo>
                <a:lnTo>
                  <a:pt x="3459226" y="1432015"/>
                </a:lnTo>
                <a:lnTo>
                  <a:pt x="3499450" y="1448666"/>
                </a:lnTo>
                <a:lnTo>
                  <a:pt x="3539673" y="1465317"/>
                </a:lnTo>
                <a:lnTo>
                  <a:pt x="3579897" y="1481969"/>
                </a:lnTo>
                <a:lnTo>
                  <a:pt x="3620120" y="1498620"/>
                </a:lnTo>
                <a:lnTo>
                  <a:pt x="3660344" y="1515271"/>
                </a:lnTo>
                <a:lnTo>
                  <a:pt x="3700568" y="1531923"/>
                </a:lnTo>
                <a:lnTo>
                  <a:pt x="3740791" y="1548574"/>
                </a:lnTo>
                <a:lnTo>
                  <a:pt x="3781015" y="1565225"/>
                </a:lnTo>
                <a:lnTo>
                  <a:pt x="3821238" y="1581877"/>
                </a:lnTo>
                <a:lnTo>
                  <a:pt x="3861462" y="1598528"/>
                </a:lnTo>
                <a:lnTo>
                  <a:pt x="3901685" y="1615179"/>
                </a:lnTo>
                <a:lnTo>
                  <a:pt x="3941909" y="1631831"/>
                </a:lnTo>
                <a:lnTo>
                  <a:pt x="3982133" y="1648482"/>
                </a:lnTo>
                <a:lnTo>
                  <a:pt x="4022356" y="1665133"/>
                </a:lnTo>
                <a:lnTo>
                  <a:pt x="4062580" y="1681785"/>
                </a:lnTo>
                <a:lnTo>
                  <a:pt x="4102803" y="1698436"/>
                </a:lnTo>
                <a:lnTo>
                  <a:pt x="4143027" y="1715087"/>
                </a:lnTo>
                <a:lnTo>
                  <a:pt x="4183250" y="1731739"/>
                </a:lnTo>
                <a:lnTo>
                  <a:pt x="4223474" y="1748390"/>
                </a:lnTo>
                <a:lnTo>
                  <a:pt x="4263697" y="1765041"/>
                </a:lnTo>
                <a:lnTo>
                  <a:pt x="4303921" y="1781693"/>
                </a:lnTo>
                <a:lnTo>
                  <a:pt x="4344145" y="1798344"/>
                </a:lnTo>
                <a:lnTo>
                  <a:pt x="4384368" y="1814995"/>
                </a:lnTo>
                <a:lnTo>
                  <a:pt x="4424592" y="1831647"/>
                </a:lnTo>
                <a:lnTo>
                  <a:pt x="4464815" y="1848298"/>
                </a:lnTo>
                <a:lnTo>
                  <a:pt x="4505039" y="1864949"/>
                </a:lnTo>
                <a:lnTo>
                  <a:pt x="4545262" y="1881601"/>
                </a:lnTo>
                <a:lnTo>
                  <a:pt x="4585486" y="1898252"/>
                </a:lnTo>
                <a:lnTo>
                  <a:pt x="4625709" y="1914903"/>
                </a:lnTo>
                <a:lnTo>
                  <a:pt x="4665933" y="1931555"/>
                </a:lnTo>
                <a:lnTo>
                  <a:pt x="4706157" y="1948206"/>
                </a:lnTo>
                <a:lnTo>
                  <a:pt x="4746380" y="1964857"/>
                </a:lnTo>
                <a:lnTo>
                  <a:pt x="4786604" y="1981509"/>
                </a:lnTo>
              </a:path>
            </a:pathLst>
          </a:custGeom>
          <a:noFill/>
          <a:ln w="23700">
            <a:solidFill>
              <a:srgbClr val="D6272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5" name="line 124: plot geometry" descr="sci-ppt:obj-0124"/>
          <p:cNvCxnSpPr/>
          <p:nvPr/>
        </p:nvCxnSpPr>
        <p:spPr>
          <a:xfrm>
            <a:off x="816900" y="2427001"/>
            <a:ext cx="5265264" cy="0"/>
          </a:xfrm>
          <a:prstGeom prst="line">
            <a:avLst/>
          </a:prstGeom>
          <a:ln w="12640">
            <a:solidFill>
              <a:srgbClr val="333333"/>
            </a:solidFill>
          </a:ln>
          <a:effectLst/>
        </p:spPr>
      </p:cxnSp>
      <p:cxnSp>
        <p:nvCxnSpPr>
          <p:cNvPr id="126" name="line 125: plot geometry" descr="sci-ppt:obj-0125"/>
          <p:cNvCxnSpPr/>
          <p:nvPr/>
        </p:nvCxnSpPr>
        <p:spPr>
          <a:xfrm flipV="1">
            <a:off x="816900" y="864678"/>
            <a:ext cx="0" cy="3414053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cxnSp>
        <p:nvCxnSpPr>
          <p:cNvPr id="127" name="line 126: plot geometry" descr="sci-ppt:obj-0126"/>
          <p:cNvCxnSpPr/>
          <p:nvPr/>
        </p:nvCxnSpPr>
        <p:spPr>
          <a:xfrm>
            <a:off x="816900" y="4278731"/>
            <a:ext cx="5265264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28" name="text 127: Diameter 0.6 µm; half-width 0.5 µm" descr="sci-ppt:obj-0127"/>
          <p:cNvSpPr txBox="1"/>
          <p:nvPr/>
        </p:nvSpPr>
        <p:spPr>
          <a:xfrm>
            <a:off x="1511202" y="574580"/>
            <a:ext cx="3876659" cy="2559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92" b="0" i="0">
                <a:solidFill>
                  <a:srgbClr val="000000"/>
                </a:solidFill>
                <a:latin typeface="Arial"/>
              </a:rPr>
              <a:t>Diameter 0.6 µm; half-width 0.5 µm</a:t>
            </a:r>
          </a:p>
        </p:txBody>
      </p:sp>
      <p:sp>
        <p:nvSpPr>
          <p:cNvPr id="129" name="polygon 128: plot geometry" descr="sci-ppt:obj-0128"/>
          <p:cNvSpPr/>
          <p:nvPr/>
        </p:nvSpPr>
        <p:spPr>
          <a:xfrm>
            <a:off x="4582346" y="935781"/>
            <a:ext cx="1428715" cy="895935"/>
          </a:xfrm>
          <a:custGeom>
            <a:avLst/>
            <a:gdLst/>
            <a:ahLst/>
            <a:cxnLst/>
            <a:rect l="l" t="t" r="r" b="b"/>
            <a:pathLst>
              <a:path w="1428715" h="895935">
                <a:moveTo>
                  <a:pt x="28441" y="895935"/>
                </a:moveTo>
                <a:lnTo>
                  <a:pt x="1400274" y="895935"/>
                </a:lnTo>
                <a:lnTo>
                  <a:pt x="1404817" y="895738"/>
                </a:lnTo>
                <a:lnTo>
                  <a:pt x="1408965" y="895145"/>
                </a:lnTo>
                <a:lnTo>
                  <a:pt x="1412717" y="894158"/>
                </a:lnTo>
                <a:lnTo>
                  <a:pt x="1416075" y="892775"/>
                </a:lnTo>
                <a:lnTo>
                  <a:pt x="1419038" y="890998"/>
                </a:lnTo>
                <a:lnTo>
                  <a:pt x="1421605" y="888825"/>
                </a:lnTo>
                <a:lnTo>
                  <a:pt x="1423778" y="886258"/>
                </a:lnTo>
                <a:lnTo>
                  <a:pt x="1425555" y="883295"/>
                </a:lnTo>
                <a:lnTo>
                  <a:pt x="1426938" y="879937"/>
                </a:lnTo>
                <a:lnTo>
                  <a:pt x="1427925" y="876185"/>
                </a:lnTo>
                <a:lnTo>
                  <a:pt x="1428518" y="872037"/>
                </a:lnTo>
                <a:lnTo>
                  <a:pt x="1428715" y="867494"/>
                </a:lnTo>
                <a:lnTo>
                  <a:pt x="1428715" y="28441"/>
                </a:lnTo>
                <a:lnTo>
                  <a:pt x="1428518" y="23898"/>
                </a:lnTo>
                <a:lnTo>
                  <a:pt x="1427925" y="19751"/>
                </a:lnTo>
                <a:lnTo>
                  <a:pt x="1426938" y="15998"/>
                </a:lnTo>
                <a:lnTo>
                  <a:pt x="1425555" y="12640"/>
                </a:lnTo>
                <a:lnTo>
                  <a:pt x="1423778" y="9678"/>
                </a:lnTo>
                <a:lnTo>
                  <a:pt x="1421605" y="7110"/>
                </a:lnTo>
                <a:lnTo>
                  <a:pt x="1419038" y="4938"/>
                </a:lnTo>
                <a:lnTo>
                  <a:pt x="1416075" y="3160"/>
                </a:lnTo>
                <a:lnTo>
                  <a:pt x="1412717" y="1778"/>
                </a:lnTo>
                <a:lnTo>
                  <a:pt x="1408965" y="790"/>
                </a:lnTo>
                <a:lnTo>
                  <a:pt x="1404817" y="197"/>
                </a:lnTo>
                <a:lnTo>
                  <a:pt x="1400274" y="0"/>
                </a:lnTo>
                <a:lnTo>
                  <a:pt x="28441" y="0"/>
                </a:lnTo>
                <a:lnTo>
                  <a:pt x="23899" y="197"/>
                </a:lnTo>
                <a:lnTo>
                  <a:pt x="19751" y="790"/>
                </a:lnTo>
                <a:lnTo>
                  <a:pt x="15998" y="1778"/>
                </a:lnTo>
                <a:lnTo>
                  <a:pt x="12641" y="3160"/>
                </a:lnTo>
                <a:lnTo>
                  <a:pt x="9678" y="4938"/>
                </a:lnTo>
                <a:lnTo>
                  <a:pt x="7110" y="7110"/>
                </a:lnTo>
                <a:lnTo>
                  <a:pt x="4938" y="9678"/>
                </a:lnTo>
                <a:lnTo>
                  <a:pt x="3160" y="12640"/>
                </a:lnTo>
                <a:lnTo>
                  <a:pt x="1778" y="15998"/>
                </a:lnTo>
                <a:lnTo>
                  <a:pt x="790" y="19751"/>
                </a:lnTo>
                <a:lnTo>
                  <a:pt x="198" y="23898"/>
                </a:lnTo>
                <a:lnTo>
                  <a:pt x="0" y="28441"/>
                </a:lnTo>
                <a:lnTo>
                  <a:pt x="0" y="867494"/>
                </a:lnTo>
                <a:lnTo>
                  <a:pt x="198" y="872037"/>
                </a:lnTo>
                <a:lnTo>
                  <a:pt x="790" y="876185"/>
                </a:lnTo>
                <a:lnTo>
                  <a:pt x="1778" y="879937"/>
                </a:lnTo>
                <a:lnTo>
                  <a:pt x="3160" y="883295"/>
                </a:lnTo>
                <a:lnTo>
                  <a:pt x="4938" y="886258"/>
                </a:lnTo>
                <a:lnTo>
                  <a:pt x="7110" y="888825"/>
                </a:lnTo>
                <a:lnTo>
                  <a:pt x="9678" y="890998"/>
                </a:lnTo>
                <a:lnTo>
                  <a:pt x="12641" y="892775"/>
                </a:lnTo>
                <a:lnTo>
                  <a:pt x="15998" y="894158"/>
                </a:lnTo>
                <a:lnTo>
                  <a:pt x="19751" y="895145"/>
                </a:lnTo>
                <a:lnTo>
                  <a:pt x="23899" y="895738"/>
                </a:lnTo>
                <a:lnTo>
                  <a:pt x="28441" y="895935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5800">
            <a:solidFill>
              <a:srgbClr val="CCCCCC">
                <a:alpha val="8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polygon 129: plot geometry" descr="sci-ppt:obj-0129"/>
          <p:cNvSpPr/>
          <p:nvPr/>
        </p:nvSpPr>
        <p:spPr>
          <a:xfrm>
            <a:off x="4639228" y="1050945"/>
            <a:ext cx="284410" cy="0"/>
          </a:xfrm>
          <a:custGeom>
            <a:avLst/>
            <a:gdLst/>
            <a:ahLst/>
            <a:cxnLst/>
            <a:rect l="l" t="t" r="r" b="b"/>
            <a:pathLst>
              <a:path w="284410" h="0">
                <a:moveTo>
                  <a:pt x="0" y="0"/>
                </a:moveTo>
                <a:lnTo>
                  <a:pt x="142205" y="0"/>
                </a:lnTo>
                <a:lnTo>
                  <a:pt x="284410" y="0"/>
                </a:lnTo>
              </a:path>
            </a:pathLst>
          </a:custGeom>
          <a:noFill/>
          <a:ln w="23700">
            <a:solidFill>
              <a:srgbClr val="1F77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text 130: Cover 1 µm" descr="sci-ppt:obj-0130"/>
          <p:cNvSpPr txBox="1"/>
          <p:nvPr/>
        </p:nvSpPr>
        <p:spPr>
          <a:xfrm>
            <a:off x="5009970" y="954245"/>
            <a:ext cx="912161" cy="1919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9" b="0" i="0">
                <a:solidFill>
                  <a:srgbClr val="000000"/>
                </a:solidFill>
                <a:latin typeface="Arial"/>
              </a:rPr>
              <a:t>Cover 1 µm</a:t>
            </a:r>
          </a:p>
        </p:txBody>
      </p:sp>
      <p:sp>
        <p:nvSpPr>
          <p:cNvPr id="132" name="polygon 131: plot geometry" descr="sci-ppt:obj-0131"/>
          <p:cNvSpPr/>
          <p:nvPr/>
        </p:nvSpPr>
        <p:spPr>
          <a:xfrm>
            <a:off x="4639228" y="1264263"/>
            <a:ext cx="284410" cy="0"/>
          </a:xfrm>
          <a:custGeom>
            <a:avLst/>
            <a:gdLst/>
            <a:ahLst/>
            <a:cxnLst/>
            <a:rect l="l" t="t" r="r" b="b"/>
            <a:pathLst>
              <a:path w="284410" h="0">
                <a:moveTo>
                  <a:pt x="0" y="0"/>
                </a:moveTo>
                <a:lnTo>
                  <a:pt x="142205" y="0"/>
                </a:lnTo>
                <a:lnTo>
                  <a:pt x="284410" y="0"/>
                </a:lnTo>
              </a:path>
            </a:pathLst>
          </a:custGeom>
          <a:noFill/>
          <a:ln w="23700">
            <a:solidFill>
              <a:srgbClr val="FF7F0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text 132: Cover 5 µm" descr="sci-ppt:obj-0132"/>
          <p:cNvSpPr txBox="1"/>
          <p:nvPr/>
        </p:nvSpPr>
        <p:spPr>
          <a:xfrm>
            <a:off x="5009970" y="1167564"/>
            <a:ext cx="912161" cy="1919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9" b="0" i="0">
                <a:solidFill>
                  <a:srgbClr val="000000"/>
                </a:solidFill>
                <a:latin typeface="Arial"/>
              </a:rPr>
              <a:t>Cover 5 µm</a:t>
            </a:r>
          </a:p>
        </p:txBody>
      </p:sp>
      <p:sp>
        <p:nvSpPr>
          <p:cNvPr id="134" name="polygon 133: plot geometry" descr="sci-ppt:obj-0133"/>
          <p:cNvSpPr/>
          <p:nvPr/>
        </p:nvSpPr>
        <p:spPr>
          <a:xfrm>
            <a:off x="4639228" y="1477582"/>
            <a:ext cx="284410" cy="0"/>
          </a:xfrm>
          <a:custGeom>
            <a:avLst/>
            <a:gdLst/>
            <a:ahLst/>
            <a:cxnLst/>
            <a:rect l="l" t="t" r="r" b="b"/>
            <a:pathLst>
              <a:path w="284410" h="0">
                <a:moveTo>
                  <a:pt x="0" y="0"/>
                </a:moveTo>
                <a:lnTo>
                  <a:pt x="142205" y="0"/>
                </a:lnTo>
                <a:lnTo>
                  <a:pt x="284410" y="0"/>
                </a:lnTo>
              </a:path>
            </a:pathLst>
          </a:custGeom>
          <a:noFill/>
          <a:ln w="23700">
            <a:solidFill>
              <a:srgbClr val="2CA0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text 134: Cover 20 µm" descr="sci-ppt:obj-0134"/>
          <p:cNvSpPr txBox="1"/>
          <p:nvPr/>
        </p:nvSpPr>
        <p:spPr>
          <a:xfrm>
            <a:off x="5009970" y="1380882"/>
            <a:ext cx="996062" cy="1919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9" b="0" i="0">
                <a:solidFill>
                  <a:srgbClr val="000000"/>
                </a:solidFill>
                <a:latin typeface="Arial"/>
              </a:rPr>
              <a:t>Cover 20 µm</a:t>
            </a:r>
          </a:p>
        </p:txBody>
      </p:sp>
      <p:sp>
        <p:nvSpPr>
          <p:cNvPr id="136" name="polygon 135: plot geometry" descr="sci-ppt:obj-0135"/>
          <p:cNvSpPr/>
          <p:nvPr/>
        </p:nvSpPr>
        <p:spPr>
          <a:xfrm>
            <a:off x="4639228" y="1690900"/>
            <a:ext cx="284410" cy="0"/>
          </a:xfrm>
          <a:custGeom>
            <a:avLst/>
            <a:gdLst/>
            <a:ahLst/>
            <a:cxnLst/>
            <a:rect l="l" t="t" r="r" b="b"/>
            <a:pathLst>
              <a:path w="284410" h="0">
                <a:moveTo>
                  <a:pt x="0" y="0"/>
                </a:moveTo>
                <a:lnTo>
                  <a:pt x="142205" y="0"/>
                </a:lnTo>
                <a:lnTo>
                  <a:pt x="284410" y="0"/>
                </a:lnTo>
              </a:path>
            </a:pathLst>
          </a:custGeom>
          <a:noFill/>
          <a:ln w="23700">
            <a:solidFill>
              <a:srgbClr val="D6272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text 136: Cover 50 µm" descr="sci-ppt:obj-0136"/>
          <p:cNvSpPr txBox="1"/>
          <p:nvPr/>
        </p:nvSpPr>
        <p:spPr>
          <a:xfrm>
            <a:off x="5009970" y="1594201"/>
            <a:ext cx="996062" cy="1919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9" b="0" i="0">
                <a:solidFill>
                  <a:srgbClr val="000000"/>
                </a:solidFill>
                <a:latin typeface="Arial"/>
              </a:rPr>
              <a:t>Cover 50 µm</a:t>
            </a:r>
          </a:p>
        </p:txBody>
      </p:sp>
      <p:sp>
        <p:nvSpPr>
          <p:cNvPr id="138" name="polygon 137: plot geometry" descr="sci-ppt:obj-0137"/>
          <p:cNvSpPr/>
          <p:nvPr/>
        </p:nvSpPr>
        <p:spPr>
          <a:xfrm>
            <a:off x="6812667" y="864678"/>
            <a:ext cx="5265264" cy="3414053"/>
          </a:xfrm>
          <a:custGeom>
            <a:avLst/>
            <a:gdLst/>
            <a:ahLst/>
            <a:cxnLst/>
            <a:rect l="l" t="t" r="r" b="b"/>
            <a:pathLst>
              <a:path w="5265264" h="3414053">
                <a:moveTo>
                  <a:pt x="0" y="3414053"/>
                </a:moveTo>
                <a:lnTo>
                  <a:pt x="5265264" y="3414053"/>
                </a:lnTo>
                <a:lnTo>
                  <a:pt x="5265264" y="0"/>
                </a:lnTo>
                <a:lnTo>
                  <a:pt x="0" y="0"/>
                </a:lnTo>
                <a:lnTo>
                  <a:pt x="0" y="341405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9" name="line 138: plot geometry" descr="sci-ppt:obj-0138"/>
          <p:cNvCxnSpPr/>
          <p:nvPr/>
        </p:nvCxnSpPr>
        <p:spPr>
          <a:xfrm flipV="1">
            <a:off x="7051997" y="864678"/>
            <a:ext cx="0" cy="3414053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40" name="line 139: plot geometry" descr="sci-ppt:obj-0139"/>
          <p:cNvCxnSpPr/>
          <p:nvPr/>
        </p:nvCxnSpPr>
        <p:spPr>
          <a:xfrm>
            <a:off x="7051997" y="4278731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41" name="text 140: 1" descr="sci-ppt:obj-0140"/>
          <p:cNvSpPr txBox="1"/>
          <p:nvPr/>
        </p:nvSpPr>
        <p:spPr>
          <a:xfrm>
            <a:off x="6838909" y="436149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42" name="text 141: 0" descr="sci-ppt:obj-0141"/>
          <p:cNvSpPr txBox="1"/>
          <p:nvPr/>
        </p:nvSpPr>
        <p:spPr>
          <a:xfrm>
            <a:off x="6939437" y="436149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43" name="text 142: −" descr="sci-ppt:obj-0142"/>
          <p:cNvSpPr txBox="1"/>
          <p:nvPr/>
        </p:nvSpPr>
        <p:spPr>
          <a:xfrm>
            <a:off x="7041477" y="4345059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−</a:t>
            </a:r>
          </a:p>
        </p:txBody>
      </p:sp>
      <p:sp>
        <p:nvSpPr>
          <p:cNvPr id="144" name="text 143: 1" descr="sci-ppt:obj-0143"/>
          <p:cNvSpPr txBox="1"/>
          <p:nvPr/>
        </p:nvSpPr>
        <p:spPr>
          <a:xfrm>
            <a:off x="7134151" y="4345059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145" name="line 144: plot geometry" descr="sci-ppt:obj-0144"/>
          <p:cNvCxnSpPr/>
          <p:nvPr/>
        </p:nvCxnSpPr>
        <p:spPr>
          <a:xfrm flipV="1">
            <a:off x="8647532" y="864678"/>
            <a:ext cx="0" cy="3414053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46" name="line 145: plot geometry" descr="sci-ppt:obj-0145"/>
          <p:cNvCxnSpPr/>
          <p:nvPr/>
        </p:nvCxnSpPr>
        <p:spPr>
          <a:xfrm>
            <a:off x="8647532" y="4278731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47" name="text 146: 1" descr="sci-ppt:obj-0146"/>
          <p:cNvSpPr txBox="1"/>
          <p:nvPr/>
        </p:nvSpPr>
        <p:spPr>
          <a:xfrm>
            <a:off x="8481055" y="436445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48" name="text 147: 0" descr="sci-ppt:obj-0147"/>
          <p:cNvSpPr txBox="1"/>
          <p:nvPr/>
        </p:nvSpPr>
        <p:spPr>
          <a:xfrm>
            <a:off x="8581583" y="436445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49" name="text 148: 0" descr="sci-ppt:obj-0148"/>
          <p:cNvSpPr txBox="1"/>
          <p:nvPr/>
        </p:nvSpPr>
        <p:spPr>
          <a:xfrm>
            <a:off x="8683623" y="4348021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150" name="line 149: plot geometry" descr="sci-ppt:obj-0149"/>
          <p:cNvCxnSpPr/>
          <p:nvPr/>
        </p:nvCxnSpPr>
        <p:spPr>
          <a:xfrm flipV="1">
            <a:off x="10243066" y="864678"/>
            <a:ext cx="0" cy="3414053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51" name="line 150: plot geometry" descr="sci-ppt:obj-0150"/>
          <p:cNvCxnSpPr/>
          <p:nvPr/>
        </p:nvCxnSpPr>
        <p:spPr>
          <a:xfrm>
            <a:off x="10243066" y="4278731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52" name="text 151: 1" descr="sci-ppt:obj-0151"/>
          <p:cNvSpPr txBox="1"/>
          <p:nvPr/>
        </p:nvSpPr>
        <p:spPr>
          <a:xfrm>
            <a:off x="10076589" y="436149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53" name="text 152: 0" descr="sci-ppt:obj-0152"/>
          <p:cNvSpPr txBox="1"/>
          <p:nvPr/>
        </p:nvSpPr>
        <p:spPr>
          <a:xfrm>
            <a:off x="10177117" y="436149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54" name="text 153: 1" descr="sci-ppt:obj-0153"/>
          <p:cNvSpPr txBox="1"/>
          <p:nvPr/>
        </p:nvSpPr>
        <p:spPr>
          <a:xfrm>
            <a:off x="10279157" y="4345059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155" name="line 154: plot geometry" descr="sci-ppt:obj-0154"/>
          <p:cNvCxnSpPr/>
          <p:nvPr/>
        </p:nvCxnSpPr>
        <p:spPr>
          <a:xfrm flipV="1">
            <a:off x="11838601" y="864678"/>
            <a:ext cx="0" cy="3414053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56" name="line 155: plot geometry" descr="sci-ppt:obj-0155"/>
          <p:cNvCxnSpPr/>
          <p:nvPr/>
        </p:nvCxnSpPr>
        <p:spPr>
          <a:xfrm>
            <a:off x="11838601" y="4278731"/>
            <a:ext cx="0" cy="55302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57" name="text 156: 1" descr="sci-ppt:obj-0156"/>
          <p:cNvSpPr txBox="1"/>
          <p:nvPr/>
        </p:nvSpPr>
        <p:spPr>
          <a:xfrm>
            <a:off x="11672124" y="436445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58" name="text 157: 0" descr="sci-ppt:obj-0157"/>
          <p:cNvSpPr txBox="1"/>
          <p:nvPr/>
        </p:nvSpPr>
        <p:spPr>
          <a:xfrm>
            <a:off x="11772652" y="4364454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59" name="text 158: 2" descr="sci-ppt:obj-0158"/>
          <p:cNvSpPr txBox="1"/>
          <p:nvPr/>
        </p:nvSpPr>
        <p:spPr>
          <a:xfrm>
            <a:off x="11874692" y="4348021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160" name="line 159: plot geometry" descr="sci-ppt:obj-0159"/>
          <p:cNvCxnSpPr/>
          <p:nvPr/>
        </p:nvCxnSpPr>
        <p:spPr>
          <a:xfrm>
            <a:off x="6897374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61" name="line 160: plot geometry" descr="sci-ppt:obj-0160"/>
          <p:cNvCxnSpPr/>
          <p:nvPr/>
        </p:nvCxnSpPr>
        <p:spPr>
          <a:xfrm>
            <a:off x="6978990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62" name="line 161: plot geometry" descr="sci-ppt:obj-0161"/>
          <p:cNvCxnSpPr/>
          <p:nvPr/>
        </p:nvCxnSpPr>
        <p:spPr>
          <a:xfrm>
            <a:off x="7532301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63" name="line 162: plot geometry" descr="sci-ppt:obj-0162"/>
          <p:cNvCxnSpPr/>
          <p:nvPr/>
        </p:nvCxnSpPr>
        <p:spPr>
          <a:xfrm>
            <a:off x="7813261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64" name="line 163: plot geometry" descr="sci-ppt:obj-0163"/>
          <p:cNvCxnSpPr/>
          <p:nvPr/>
        </p:nvCxnSpPr>
        <p:spPr>
          <a:xfrm>
            <a:off x="8012605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65" name="line 164: plot geometry" descr="sci-ppt:obj-0164"/>
          <p:cNvCxnSpPr/>
          <p:nvPr/>
        </p:nvCxnSpPr>
        <p:spPr>
          <a:xfrm>
            <a:off x="8167228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66" name="line 165: plot geometry" descr="sci-ppt:obj-0165"/>
          <p:cNvCxnSpPr/>
          <p:nvPr/>
        </p:nvCxnSpPr>
        <p:spPr>
          <a:xfrm>
            <a:off x="8293564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67" name="line 166: plot geometry" descr="sci-ppt:obj-0166"/>
          <p:cNvCxnSpPr/>
          <p:nvPr/>
        </p:nvCxnSpPr>
        <p:spPr>
          <a:xfrm>
            <a:off x="8400380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68" name="line 167: plot geometry" descr="sci-ppt:obj-0167"/>
          <p:cNvCxnSpPr/>
          <p:nvPr/>
        </p:nvCxnSpPr>
        <p:spPr>
          <a:xfrm>
            <a:off x="8492908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69" name="line 168: plot geometry" descr="sci-ppt:obj-0168"/>
          <p:cNvCxnSpPr/>
          <p:nvPr/>
        </p:nvCxnSpPr>
        <p:spPr>
          <a:xfrm>
            <a:off x="8574524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70" name="line 169: plot geometry" descr="sci-ppt:obj-0169"/>
          <p:cNvCxnSpPr/>
          <p:nvPr/>
        </p:nvCxnSpPr>
        <p:spPr>
          <a:xfrm>
            <a:off x="9127835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71" name="line 170: plot geometry" descr="sci-ppt:obj-0170"/>
          <p:cNvCxnSpPr/>
          <p:nvPr/>
        </p:nvCxnSpPr>
        <p:spPr>
          <a:xfrm>
            <a:off x="9408795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72" name="line 171: plot geometry" descr="sci-ppt:obj-0171"/>
          <p:cNvCxnSpPr/>
          <p:nvPr/>
        </p:nvCxnSpPr>
        <p:spPr>
          <a:xfrm>
            <a:off x="9608139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73" name="line 172: plot geometry" descr="sci-ppt:obj-0172"/>
          <p:cNvCxnSpPr/>
          <p:nvPr/>
        </p:nvCxnSpPr>
        <p:spPr>
          <a:xfrm>
            <a:off x="9762762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74" name="line 173: plot geometry" descr="sci-ppt:obj-0173"/>
          <p:cNvCxnSpPr/>
          <p:nvPr/>
        </p:nvCxnSpPr>
        <p:spPr>
          <a:xfrm>
            <a:off x="9889099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75" name="line 174: plot geometry" descr="sci-ppt:obj-0174"/>
          <p:cNvCxnSpPr/>
          <p:nvPr/>
        </p:nvCxnSpPr>
        <p:spPr>
          <a:xfrm>
            <a:off x="9995915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76" name="line 175: plot geometry" descr="sci-ppt:obj-0175"/>
          <p:cNvCxnSpPr/>
          <p:nvPr/>
        </p:nvCxnSpPr>
        <p:spPr>
          <a:xfrm>
            <a:off x="10088443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77" name="line 176: plot geometry" descr="sci-ppt:obj-0176"/>
          <p:cNvCxnSpPr/>
          <p:nvPr/>
        </p:nvCxnSpPr>
        <p:spPr>
          <a:xfrm>
            <a:off x="10170059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78" name="line 177: plot geometry" descr="sci-ppt:obj-0177"/>
          <p:cNvCxnSpPr/>
          <p:nvPr/>
        </p:nvCxnSpPr>
        <p:spPr>
          <a:xfrm>
            <a:off x="10723370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79" name="line 178: plot geometry" descr="sci-ppt:obj-0178"/>
          <p:cNvCxnSpPr/>
          <p:nvPr/>
        </p:nvCxnSpPr>
        <p:spPr>
          <a:xfrm>
            <a:off x="11004330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80" name="line 179: plot geometry" descr="sci-ppt:obj-0179"/>
          <p:cNvCxnSpPr/>
          <p:nvPr/>
        </p:nvCxnSpPr>
        <p:spPr>
          <a:xfrm>
            <a:off x="11203674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81" name="line 180: plot geometry" descr="sci-ppt:obj-0180"/>
          <p:cNvCxnSpPr/>
          <p:nvPr/>
        </p:nvCxnSpPr>
        <p:spPr>
          <a:xfrm>
            <a:off x="11358297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82" name="line 181: plot geometry" descr="sci-ppt:obj-0181"/>
          <p:cNvCxnSpPr/>
          <p:nvPr/>
        </p:nvCxnSpPr>
        <p:spPr>
          <a:xfrm>
            <a:off x="11484633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83" name="line 182: plot geometry" descr="sci-ppt:obj-0182"/>
          <p:cNvCxnSpPr/>
          <p:nvPr/>
        </p:nvCxnSpPr>
        <p:spPr>
          <a:xfrm>
            <a:off x="11591449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84" name="line 183: plot geometry" descr="sci-ppt:obj-0183"/>
          <p:cNvCxnSpPr/>
          <p:nvPr/>
        </p:nvCxnSpPr>
        <p:spPr>
          <a:xfrm>
            <a:off x="11683977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185" name="line 184: plot geometry" descr="sci-ppt:obj-0184"/>
          <p:cNvCxnSpPr/>
          <p:nvPr/>
        </p:nvCxnSpPr>
        <p:spPr>
          <a:xfrm>
            <a:off x="11765593" y="4278731"/>
            <a:ext cx="0" cy="31601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sp>
        <p:nvSpPr>
          <p:cNvPr id="186" name="text 185: Stipulated fracture energy (J/m²)" descr="sci-ppt:obj-0185"/>
          <p:cNvSpPr txBox="1"/>
          <p:nvPr/>
        </p:nvSpPr>
        <p:spPr>
          <a:xfrm>
            <a:off x="7870540" y="4596334"/>
            <a:ext cx="3149518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Stipulated fracture energy (J/m²)</a:t>
            </a:r>
          </a:p>
        </p:txBody>
      </p:sp>
      <p:cxnSp>
        <p:nvCxnSpPr>
          <p:cNvPr id="187" name="line 186: plot geometry" descr="sci-ppt:obj-0186"/>
          <p:cNvCxnSpPr/>
          <p:nvPr/>
        </p:nvCxnSpPr>
        <p:spPr>
          <a:xfrm>
            <a:off x="6812667" y="4168940"/>
            <a:ext cx="526526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88" name="line 187: plot geometry" descr="sci-ppt:obj-0187"/>
          <p:cNvCxnSpPr/>
          <p:nvPr/>
        </p:nvCxnSpPr>
        <p:spPr>
          <a:xfrm flipH="1">
            <a:off x="6757365" y="4168940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89" name="text 188: 1" descr="sci-ppt:obj-0188"/>
          <p:cNvSpPr txBox="1"/>
          <p:nvPr/>
        </p:nvSpPr>
        <p:spPr>
          <a:xfrm>
            <a:off x="6396542" y="4069797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90" name="text 189: 0" descr="sci-ppt:obj-0189"/>
          <p:cNvSpPr txBox="1"/>
          <p:nvPr/>
        </p:nvSpPr>
        <p:spPr>
          <a:xfrm>
            <a:off x="6497070" y="4069797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91" name="text 190: 0" descr="sci-ppt:obj-0190"/>
          <p:cNvSpPr txBox="1"/>
          <p:nvPr/>
        </p:nvSpPr>
        <p:spPr>
          <a:xfrm>
            <a:off x="6599110" y="4053364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192" name="line 191: plot geometry" descr="sci-ppt:obj-0191"/>
          <p:cNvCxnSpPr/>
          <p:nvPr/>
        </p:nvCxnSpPr>
        <p:spPr>
          <a:xfrm>
            <a:off x="6812667" y="3508437"/>
            <a:ext cx="526526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93" name="line 192: plot geometry" descr="sci-ppt:obj-0192"/>
          <p:cNvCxnSpPr/>
          <p:nvPr/>
        </p:nvCxnSpPr>
        <p:spPr>
          <a:xfrm flipH="1">
            <a:off x="6757365" y="3508437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94" name="text 193: 1" descr="sci-ppt:obj-0193"/>
          <p:cNvSpPr txBox="1"/>
          <p:nvPr/>
        </p:nvSpPr>
        <p:spPr>
          <a:xfrm>
            <a:off x="6396542" y="340712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95" name="text 194: 0" descr="sci-ppt:obj-0194"/>
          <p:cNvSpPr txBox="1"/>
          <p:nvPr/>
        </p:nvSpPr>
        <p:spPr>
          <a:xfrm>
            <a:off x="6497070" y="340712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96" name="text 195: 1" descr="sci-ppt:obj-0195"/>
          <p:cNvSpPr txBox="1"/>
          <p:nvPr/>
        </p:nvSpPr>
        <p:spPr>
          <a:xfrm>
            <a:off x="6599110" y="3390689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197" name="line 196: plot geometry" descr="sci-ppt:obj-0196"/>
          <p:cNvCxnSpPr/>
          <p:nvPr/>
        </p:nvCxnSpPr>
        <p:spPr>
          <a:xfrm>
            <a:off x="6812667" y="2847934"/>
            <a:ext cx="526526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198" name="line 197: plot geometry" descr="sci-ppt:obj-0197"/>
          <p:cNvCxnSpPr/>
          <p:nvPr/>
        </p:nvCxnSpPr>
        <p:spPr>
          <a:xfrm flipH="1">
            <a:off x="6757365" y="2847934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199" name="text 198: 1" descr="sci-ppt:obj-0198"/>
          <p:cNvSpPr txBox="1"/>
          <p:nvPr/>
        </p:nvSpPr>
        <p:spPr>
          <a:xfrm>
            <a:off x="6396542" y="274879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200" name="text 199: 0" descr="sci-ppt:obj-0199"/>
          <p:cNvSpPr txBox="1"/>
          <p:nvPr/>
        </p:nvSpPr>
        <p:spPr>
          <a:xfrm>
            <a:off x="6497070" y="2748791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01" name="text 200: 2" descr="sci-ppt:obj-0200"/>
          <p:cNvSpPr txBox="1"/>
          <p:nvPr/>
        </p:nvSpPr>
        <p:spPr>
          <a:xfrm>
            <a:off x="6599110" y="2732358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202" name="line 201: plot geometry" descr="sci-ppt:obj-0201"/>
          <p:cNvCxnSpPr/>
          <p:nvPr/>
        </p:nvCxnSpPr>
        <p:spPr>
          <a:xfrm>
            <a:off x="6812667" y="2187431"/>
            <a:ext cx="526526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203" name="line 202: plot geometry" descr="sci-ppt:obj-0202"/>
          <p:cNvCxnSpPr/>
          <p:nvPr/>
        </p:nvCxnSpPr>
        <p:spPr>
          <a:xfrm flipH="1">
            <a:off x="6757365" y="2187431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204" name="text 203: 1" descr="sci-ppt:obj-0203"/>
          <p:cNvSpPr txBox="1"/>
          <p:nvPr/>
        </p:nvSpPr>
        <p:spPr>
          <a:xfrm>
            <a:off x="6396542" y="2088288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205" name="text 204: 0" descr="sci-ppt:obj-0204"/>
          <p:cNvSpPr txBox="1"/>
          <p:nvPr/>
        </p:nvSpPr>
        <p:spPr>
          <a:xfrm>
            <a:off x="6497070" y="2088288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06" name="text 205: 3" descr="sci-ppt:obj-0205"/>
          <p:cNvSpPr txBox="1"/>
          <p:nvPr/>
        </p:nvSpPr>
        <p:spPr>
          <a:xfrm>
            <a:off x="6599110" y="2071855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cxnSp>
        <p:nvCxnSpPr>
          <p:cNvPr id="207" name="line 206: plot geometry" descr="sci-ppt:obj-0206"/>
          <p:cNvCxnSpPr/>
          <p:nvPr/>
        </p:nvCxnSpPr>
        <p:spPr>
          <a:xfrm>
            <a:off x="6812667" y="1526928"/>
            <a:ext cx="526526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208" name="line 207: plot geometry" descr="sci-ppt:obj-0207"/>
          <p:cNvCxnSpPr/>
          <p:nvPr/>
        </p:nvCxnSpPr>
        <p:spPr>
          <a:xfrm flipH="1">
            <a:off x="6757365" y="1526928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209" name="text 208: 1" descr="sci-ppt:obj-0208"/>
          <p:cNvSpPr txBox="1"/>
          <p:nvPr/>
        </p:nvSpPr>
        <p:spPr>
          <a:xfrm>
            <a:off x="6396542" y="1425612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210" name="text 209: 0" descr="sci-ppt:obj-0209"/>
          <p:cNvSpPr txBox="1"/>
          <p:nvPr/>
        </p:nvSpPr>
        <p:spPr>
          <a:xfrm>
            <a:off x="6497070" y="1425612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11" name="text 210: 4" descr="sci-ppt:obj-0210"/>
          <p:cNvSpPr txBox="1"/>
          <p:nvPr/>
        </p:nvSpPr>
        <p:spPr>
          <a:xfrm>
            <a:off x="6599110" y="1409180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cxnSp>
        <p:nvCxnSpPr>
          <p:cNvPr id="212" name="line 211: plot geometry" descr="sci-ppt:obj-0211"/>
          <p:cNvCxnSpPr/>
          <p:nvPr/>
        </p:nvCxnSpPr>
        <p:spPr>
          <a:xfrm>
            <a:off x="6812667" y="866425"/>
            <a:ext cx="5265264" cy="0"/>
          </a:xfrm>
          <a:prstGeom prst="line">
            <a:avLst/>
          </a:prstGeom>
          <a:ln w="12640">
            <a:solidFill>
              <a:srgbClr val="B0B0B0">
                <a:alpha val="20000"/>
              </a:srgbClr>
            </a:solidFill>
          </a:ln>
          <a:effectLst/>
        </p:spPr>
      </p:cxnSp>
      <p:cxnSp>
        <p:nvCxnSpPr>
          <p:cNvPr id="213" name="line 212: plot geometry" descr="sci-ppt:obj-0212"/>
          <p:cNvCxnSpPr/>
          <p:nvPr/>
        </p:nvCxnSpPr>
        <p:spPr>
          <a:xfrm flipH="1">
            <a:off x="6757365" y="866425"/>
            <a:ext cx="55302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214" name="text 213: 1" descr="sci-ppt:obj-0213"/>
          <p:cNvSpPr txBox="1"/>
          <p:nvPr/>
        </p:nvSpPr>
        <p:spPr>
          <a:xfrm>
            <a:off x="6396542" y="765109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215" name="text 214: 0" descr="sci-ppt:obj-0214"/>
          <p:cNvSpPr txBox="1"/>
          <p:nvPr/>
        </p:nvSpPr>
        <p:spPr>
          <a:xfrm>
            <a:off x="6497070" y="765109"/>
            <a:ext cx="16637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16" name="text 215: 5" descr="sci-ppt:obj-0215"/>
          <p:cNvSpPr txBox="1"/>
          <p:nvPr/>
        </p:nvSpPr>
        <p:spPr>
          <a:xfrm>
            <a:off x="6599110" y="748677"/>
            <a:ext cx="138408" cy="1493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7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cxnSp>
        <p:nvCxnSpPr>
          <p:cNvPr id="217" name="line 216: plot geometry" descr="sci-ppt:obj-0216"/>
          <p:cNvCxnSpPr/>
          <p:nvPr/>
        </p:nvCxnSpPr>
        <p:spPr>
          <a:xfrm flipH="1">
            <a:off x="6781066" y="4271254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18" name="line 217: plot geometry" descr="sci-ppt:obj-0217"/>
          <p:cNvCxnSpPr/>
          <p:nvPr/>
        </p:nvCxnSpPr>
        <p:spPr>
          <a:xfrm flipH="1">
            <a:off x="6781066" y="423295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19" name="line 218: plot geometry" descr="sci-ppt:obj-0218"/>
          <p:cNvCxnSpPr/>
          <p:nvPr/>
        </p:nvCxnSpPr>
        <p:spPr>
          <a:xfrm flipH="1">
            <a:off x="6781066" y="4199163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20" name="line 219: plot geometry" descr="sci-ppt:obj-0219"/>
          <p:cNvCxnSpPr/>
          <p:nvPr/>
        </p:nvCxnSpPr>
        <p:spPr>
          <a:xfrm flipH="1">
            <a:off x="6781066" y="3970109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21" name="line 220: plot geometry" descr="sci-ppt:obj-0220"/>
          <p:cNvCxnSpPr/>
          <p:nvPr/>
        </p:nvCxnSpPr>
        <p:spPr>
          <a:xfrm flipH="1">
            <a:off x="6781066" y="385380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22" name="line 221: plot geometry" descr="sci-ppt:obj-0221"/>
          <p:cNvCxnSpPr/>
          <p:nvPr/>
        </p:nvCxnSpPr>
        <p:spPr>
          <a:xfrm flipH="1">
            <a:off x="6781066" y="377127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23" name="line 222: plot geometry" descr="sci-ppt:obj-0222"/>
          <p:cNvCxnSpPr/>
          <p:nvPr/>
        </p:nvCxnSpPr>
        <p:spPr>
          <a:xfrm flipH="1">
            <a:off x="6781066" y="3707269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24" name="line 223: plot geometry" descr="sci-ppt:obj-0223"/>
          <p:cNvCxnSpPr/>
          <p:nvPr/>
        </p:nvCxnSpPr>
        <p:spPr>
          <a:xfrm flipH="1">
            <a:off x="6781066" y="3654969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25" name="line 224: plot geometry" descr="sci-ppt:obj-0224"/>
          <p:cNvCxnSpPr/>
          <p:nvPr/>
        </p:nvCxnSpPr>
        <p:spPr>
          <a:xfrm flipH="1">
            <a:off x="6781066" y="3610751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26" name="line 225: plot geometry" descr="sci-ppt:obj-0225"/>
          <p:cNvCxnSpPr/>
          <p:nvPr/>
        </p:nvCxnSpPr>
        <p:spPr>
          <a:xfrm flipH="1">
            <a:off x="6781066" y="357244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27" name="line 226: plot geometry" descr="sci-ppt:obj-0226"/>
          <p:cNvCxnSpPr/>
          <p:nvPr/>
        </p:nvCxnSpPr>
        <p:spPr>
          <a:xfrm flipH="1">
            <a:off x="6781066" y="353866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28" name="line 227: plot geometry" descr="sci-ppt:obj-0227"/>
          <p:cNvCxnSpPr/>
          <p:nvPr/>
        </p:nvCxnSpPr>
        <p:spPr>
          <a:xfrm flipH="1">
            <a:off x="6781066" y="3309606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29" name="line 228: plot geometry" descr="sci-ppt:obj-0228"/>
          <p:cNvCxnSpPr/>
          <p:nvPr/>
        </p:nvCxnSpPr>
        <p:spPr>
          <a:xfrm flipH="1">
            <a:off x="6781066" y="319329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30" name="line 229: plot geometry" descr="sci-ppt:obj-0229"/>
          <p:cNvCxnSpPr/>
          <p:nvPr/>
        </p:nvCxnSpPr>
        <p:spPr>
          <a:xfrm flipH="1">
            <a:off x="6781066" y="3110775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31" name="line 230: plot geometry" descr="sci-ppt:obj-0230"/>
          <p:cNvCxnSpPr/>
          <p:nvPr/>
        </p:nvCxnSpPr>
        <p:spPr>
          <a:xfrm flipH="1">
            <a:off x="6781066" y="3046766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32" name="line 231: plot geometry" descr="sci-ppt:obj-0231"/>
          <p:cNvCxnSpPr/>
          <p:nvPr/>
        </p:nvCxnSpPr>
        <p:spPr>
          <a:xfrm flipH="1">
            <a:off x="6781066" y="2994466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33" name="line 232: plot geometry" descr="sci-ppt:obj-0232"/>
          <p:cNvCxnSpPr/>
          <p:nvPr/>
        </p:nvCxnSpPr>
        <p:spPr>
          <a:xfrm flipH="1">
            <a:off x="6781066" y="295024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34" name="line 233: plot geometry" descr="sci-ppt:obj-0233"/>
          <p:cNvCxnSpPr/>
          <p:nvPr/>
        </p:nvCxnSpPr>
        <p:spPr>
          <a:xfrm flipH="1">
            <a:off x="6781066" y="2911944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35" name="line 234: plot geometry" descr="sci-ppt:obj-0234"/>
          <p:cNvCxnSpPr/>
          <p:nvPr/>
        </p:nvCxnSpPr>
        <p:spPr>
          <a:xfrm flipH="1">
            <a:off x="6781066" y="287815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36" name="line 235: plot geometry" descr="sci-ppt:obj-0235"/>
          <p:cNvCxnSpPr/>
          <p:nvPr/>
        </p:nvCxnSpPr>
        <p:spPr>
          <a:xfrm flipH="1">
            <a:off x="6781066" y="2649103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37" name="line 236: plot geometry" descr="sci-ppt:obj-0236"/>
          <p:cNvCxnSpPr/>
          <p:nvPr/>
        </p:nvCxnSpPr>
        <p:spPr>
          <a:xfrm flipH="1">
            <a:off x="6781066" y="2532794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38" name="line 237: plot geometry" descr="sci-ppt:obj-0237"/>
          <p:cNvCxnSpPr/>
          <p:nvPr/>
        </p:nvCxnSpPr>
        <p:spPr>
          <a:xfrm flipH="1">
            <a:off x="6781066" y="2450272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39" name="line 238: plot geometry" descr="sci-ppt:obj-0238"/>
          <p:cNvCxnSpPr/>
          <p:nvPr/>
        </p:nvCxnSpPr>
        <p:spPr>
          <a:xfrm flipH="1">
            <a:off x="6781066" y="2386263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40" name="line 239: plot geometry" descr="sci-ppt:obj-0239"/>
          <p:cNvCxnSpPr/>
          <p:nvPr/>
        </p:nvCxnSpPr>
        <p:spPr>
          <a:xfrm flipH="1">
            <a:off x="6781066" y="2333963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41" name="line 240: plot geometry" descr="sci-ppt:obj-0240"/>
          <p:cNvCxnSpPr/>
          <p:nvPr/>
        </p:nvCxnSpPr>
        <p:spPr>
          <a:xfrm flipH="1">
            <a:off x="6781066" y="2289745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42" name="line 241: plot geometry" descr="sci-ppt:obj-0241"/>
          <p:cNvCxnSpPr/>
          <p:nvPr/>
        </p:nvCxnSpPr>
        <p:spPr>
          <a:xfrm flipH="1">
            <a:off x="6781066" y="2251441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43" name="line 242: plot geometry" descr="sci-ppt:obj-0242"/>
          <p:cNvCxnSpPr/>
          <p:nvPr/>
        </p:nvCxnSpPr>
        <p:spPr>
          <a:xfrm flipH="1">
            <a:off x="6781066" y="2217654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44" name="line 243: plot geometry" descr="sci-ppt:obj-0243"/>
          <p:cNvCxnSpPr/>
          <p:nvPr/>
        </p:nvCxnSpPr>
        <p:spPr>
          <a:xfrm flipH="1">
            <a:off x="6781066" y="198860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45" name="line 244: plot geometry" descr="sci-ppt:obj-0244"/>
          <p:cNvCxnSpPr/>
          <p:nvPr/>
        </p:nvCxnSpPr>
        <p:spPr>
          <a:xfrm flipH="1">
            <a:off x="6781066" y="1872291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46" name="line 245: plot geometry" descr="sci-ppt:obj-0245"/>
          <p:cNvCxnSpPr/>
          <p:nvPr/>
        </p:nvCxnSpPr>
        <p:spPr>
          <a:xfrm flipH="1">
            <a:off x="6781066" y="1789769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47" name="line 246: plot geometry" descr="sci-ppt:obj-0246"/>
          <p:cNvCxnSpPr/>
          <p:nvPr/>
        </p:nvCxnSpPr>
        <p:spPr>
          <a:xfrm flipH="1">
            <a:off x="6781066" y="1725759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48" name="line 247: plot geometry" descr="sci-ppt:obj-0247"/>
          <p:cNvCxnSpPr/>
          <p:nvPr/>
        </p:nvCxnSpPr>
        <p:spPr>
          <a:xfrm flipH="1">
            <a:off x="6781066" y="1673460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49" name="line 248: plot geometry" descr="sci-ppt:obj-0248"/>
          <p:cNvCxnSpPr/>
          <p:nvPr/>
        </p:nvCxnSpPr>
        <p:spPr>
          <a:xfrm flipH="1">
            <a:off x="6781066" y="1629241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50" name="line 249: plot geometry" descr="sci-ppt:obj-0249"/>
          <p:cNvCxnSpPr/>
          <p:nvPr/>
        </p:nvCxnSpPr>
        <p:spPr>
          <a:xfrm flipH="1">
            <a:off x="6781066" y="159093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51" name="line 250: plot geometry" descr="sci-ppt:obj-0250"/>
          <p:cNvCxnSpPr/>
          <p:nvPr/>
        </p:nvCxnSpPr>
        <p:spPr>
          <a:xfrm flipH="1">
            <a:off x="6781066" y="1557151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52" name="line 251: plot geometry" descr="sci-ppt:obj-0251"/>
          <p:cNvCxnSpPr/>
          <p:nvPr/>
        </p:nvCxnSpPr>
        <p:spPr>
          <a:xfrm flipH="1">
            <a:off x="6781066" y="132809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53" name="line 252: plot geometry" descr="sci-ppt:obj-0252"/>
          <p:cNvCxnSpPr/>
          <p:nvPr/>
        </p:nvCxnSpPr>
        <p:spPr>
          <a:xfrm flipH="1">
            <a:off x="6781066" y="121178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54" name="line 253: plot geometry" descr="sci-ppt:obj-0253"/>
          <p:cNvCxnSpPr/>
          <p:nvPr/>
        </p:nvCxnSpPr>
        <p:spPr>
          <a:xfrm flipH="1">
            <a:off x="6781066" y="1129266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55" name="line 254: plot geometry" descr="sci-ppt:obj-0254"/>
          <p:cNvCxnSpPr/>
          <p:nvPr/>
        </p:nvCxnSpPr>
        <p:spPr>
          <a:xfrm flipH="1">
            <a:off x="6781066" y="1065256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56" name="line 255: plot geometry" descr="sci-ppt:obj-0255"/>
          <p:cNvCxnSpPr/>
          <p:nvPr/>
        </p:nvCxnSpPr>
        <p:spPr>
          <a:xfrm flipH="1">
            <a:off x="6781066" y="1012957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57" name="line 256: plot geometry" descr="sci-ppt:obj-0256"/>
          <p:cNvCxnSpPr/>
          <p:nvPr/>
        </p:nvCxnSpPr>
        <p:spPr>
          <a:xfrm flipH="1">
            <a:off x="6781066" y="96873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58" name="line 257: plot geometry" descr="sci-ppt:obj-0257"/>
          <p:cNvCxnSpPr/>
          <p:nvPr/>
        </p:nvCxnSpPr>
        <p:spPr>
          <a:xfrm flipH="1">
            <a:off x="6781066" y="930435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cxnSp>
        <p:nvCxnSpPr>
          <p:cNvPr id="259" name="line 258: plot geometry" descr="sci-ppt:obj-0258"/>
          <p:cNvCxnSpPr/>
          <p:nvPr/>
        </p:nvCxnSpPr>
        <p:spPr>
          <a:xfrm flipH="1">
            <a:off x="6781066" y="896648"/>
            <a:ext cx="31601" cy="0"/>
          </a:xfrm>
          <a:prstGeom prst="line">
            <a:avLst/>
          </a:prstGeom>
          <a:ln w="9480">
            <a:solidFill>
              <a:srgbClr val="000000"/>
            </a:solidFill>
          </a:ln>
          <a:effectLst/>
        </p:spPr>
      </p:cxnSp>
      <p:sp>
        <p:nvSpPr>
          <p:cNvPr id="260" name="text 259: Retained seed energy / slit work" descr="sci-ppt:obj-0259"/>
          <p:cNvSpPr txBox="1"/>
          <p:nvPr/>
        </p:nvSpPr>
        <p:spPr>
          <a:xfrm rot="16200000">
            <a:off x="4794665" y="2408959"/>
            <a:ext cx="3056295" cy="213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4" b="0" i="0">
                <a:solidFill>
                  <a:srgbClr val="000000"/>
                </a:solidFill>
                <a:latin typeface="Arial"/>
              </a:rPr>
              <a:t>Retained seed energy / slit work</a:t>
            </a:r>
          </a:p>
        </p:txBody>
      </p:sp>
      <p:sp>
        <p:nvSpPr>
          <p:cNvPr id="261" name="polygon 260: plot geometry" descr="sci-ppt:obj-0260"/>
          <p:cNvSpPr/>
          <p:nvPr/>
        </p:nvSpPr>
        <p:spPr>
          <a:xfrm>
            <a:off x="7051997" y="1019863"/>
            <a:ext cx="4786604" cy="1981509"/>
          </a:xfrm>
          <a:custGeom>
            <a:avLst/>
            <a:gdLst/>
            <a:ahLst/>
            <a:cxnLst/>
            <a:rect l="l" t="t" r="r" b="b"/>
            <a:pathLst>
              <a:path w="4786604" h="1981509">
                <a:moveTo>
                  <a:pt x="0" y="0"/>
                </a:moveTo>
                <a:lnTo>
                  <a:pt x="40224" y="16651"/>
                </a:lnTo>
                <a:lnTo>
                  <a:pt x="80447" y="33302"/>
                </a:lnTo>
                <a:lnTo>
                  <a:pt x="120671" y="49954"/>
                </a:lnTo>
                <a:lnTo>
                  <a:pt x="160895" y="66605"/>
                </a:lnTo>
                <a:lnTo>
                  <a:pt x="201118" y="83256"/>
                </a:lnTo>
                <a:lnTo>
                  <a:pt x="241342" y="99908"/>
                </a:lnTo>
                <a:lnTo>
                  <a:pt x="281565" y="116559"/>
                </a:lnTo>
                <a:lnTo>
                  <a:pt x="321789" y="133210"/>
                </a:lnTo>
                <a:lnTo>
                  <a:pt x="362012" y="149862"/>
                </a:lnTo>
                <a:lnTo>
                  <a:pt x="402236" y="166513"/>
                </a:lnTo>
                <a:lnTo>
                  <a:pt x="442459" y="183164"/>
                </a:lnTo>
                <a:lnTo>
                  <a:pt x="482683" y="199816"/>
                </a:lnTo>
                <a:lnTo>
                  <a:pt x="522907" y="216467"/>
                </a:lnTo>
                <a:lnTo>
                  <a:pt x="563130" y="233118"/>
                </a:lnTo>
                <a:lnTo>
                  <a:pt x="603354" y="249770"/>
                </a:lnTo>
                <a:lnTo>
                  <a:pt x="643577" y="266421"/>
                </a:lnTo>
                <a:lnTo>
                  <a:pt x="683801" y="283072"/>
                </a:lnTo>
                <a:lnTo>
                  <a:pt x="724024" y="299724"/>
                </a:lnTo>
                <a:lnTo>
                  <a:pt x="764248" y="316375"/>
                </a:lnTo>
                <a:lnTo>
                  <a:pt x="804471" y="333026"/>
                </a:lnTo>
                <a:lnTo>
                  <a:pt x="844695" y="349678"/>
                </a:lnTo>
                <a:lnTo>
                  <a:pt x="884919" y="366329"/>
                </a:lnTo>
                <a:lnTo>
                  <a:pt x="925142" y="382980"/>
                </a:lnTo>
                <a:lnTo>
                  <a:pt x="965366" y="399632"/>
                </a:lnTo>
                <a:lnTo>
                  <a:pt x="1005589" y="416283"/>
                </a:lnTo>
                <a:lnTo>
                  <a:pt x="1045813" y="432934"/>
                </a:lnTo>
                <a:lnTo>
                  <a:pt x="1086036" y="449586"/>
                </a:lnTo>
                <a:lnTo>
                  <a:pt x="1126260" y="466237"/>
                </a:lnTo>
                <a:lnTo>
                  <a:pt x="1166483" y="482888"/>
                </a:lnTo>
                <a:lnTo>
                  <a:pt x="1206707" y="499540"/>
                </a:lnTo>
                <a:lnTo>
                  <a:pt x="1246931" y="516191"/>
                </a:lnTo>
                <a:lnTo>
                  <a:pt x="1287154" y="532842"/>
                </a:lnTo>
                <a:lnTo>
                  <a:pt x="1327378" y="549494"/>
                </a:lnTo>
                <a:lnTo>
                  <a:pt x="1367601" y="566145"/>
                </a:lnTo>
                <a:lnTo>
                  <a:pt x="1407825" y="582797"/>
                </a:lnTo>
                <a:lnTo>
                  <a:pt x="1448048" y="599448"/>
                </a:lnTo>
                <a:lnTo>
                  <a:pt x="1488272" y="616099"/>
                </a:lnTo>
                <a:lnTo>
                  <a:pt x="1528495" y="632751"/>
                </a:lnTo>
                <a:lnTo>
                  <a:pt x="1568719" y="649402"/>
                </a:lnTo>
                <a:lnTo>
                  <a:pt x="1608943" y="666053"/>
                </a:lnTo>
                <a:lnTo>
                  <a:pt x="1649166" y="682705"/>
                </a:lnTo>
                <a:lnTo>
                  <a:pt x="1689390" y="699356"/>
                </a:lnTo>
                <a:lnTo>
                  <a:pt x="1729613" y="716007"/>
                </a:lnTo>
                <a:lnTo>
                  <a:pt x="1769837" y="732659"/>
                </a:lnTo>
                <a:lnTo>
                  <a:pt x="1810060" y="749310"/>
                </a:lnTo>
                <a:lnTo>
                  <a:pt x="1850284" y="765961"/>
                </a:lnTo>
                <a:lnTo>
                  <a:pt x="1890507" y="782613"/>
                </a:lnTo>
                <a:lnTo>
                  <a:pt x="1930731" y="799264"/>
                </a:lnTo>
                <a:lnTo>
                  <a:pt x="1970955" y="815915"/>
                </a:lnTo>
                <a:lnTo>
                  <a:pt x="2011178" y="832567"/>
                </a:lnTo>
                <a:lnTo>
                  <a:pt x="2051402" y="849218"/>
                </a:lnTo>
                <a:lnTo>
                  <a:pt x="2091625" y="865869"/>
                </a:lnTo>
                <a:lnTo>
                  <a:pt x="2131849" y="882521"/>
                </a:lnTo>
                <a:lnTo>
                  <a:pt x="2172072" y="899172"/>
                </a:lnTo>
                <a:lnTo>
                  <a:pt x="2212296" y="915823"/>
                </a:lnTo>
                <a:lnTo>
                  <a:pt x="2252519" y="932475"/>
                </a:lnTo>
                <a:lnTo>
                  <a:pt x="2292743" y="949126"/>
                </a:lnTo>
                <a:lnTo>
                  <a:pt x="2332967" y="965777"/>
                </a:lnTo>
                <a:lnTo>
                  <a:pt x="2373190" y="982429"/>
                </a:lnTo>
                <a:lnTo>
                  <a:pt x="2413414" y="999080"/>
                </a:lnTo>
                <a:lnTo>
                  <a:pt x="2453637" y="1015731"/>
                </a:lnTo>
                <a:lnTo>
                  <a:pt x="2493861" y="1032383"/>
                </a:lnTo>
                <a:lnTo>
                  <a:pt x="2534084" y="1049034"/>
                </a:lnTo>
                <a:lnTo>
                  <a:pt x="2574308" y="1065685"/>
                </a:lnTo>
                <a:lnTo>
                  <a:pt x="2614531" y="1082337"/>
                </a:lnTo>
                <a:lnTo>
                  <a:pt x="2654755" y="1098988"/>
                </a:lnTo>
                <a:lnTo>
                  <a:pt x="2694979" y="1115639"/>
                </a:lnTo>
                <a:lnTo>
                  <a:pt x="2735202" y="1132291"/>
                </a:lnTo>
                <a:lnTo>
                  <a:pt x="2775426" y="1148942"/>
                </a:lnTo>
                <a:lnTo>
                  <a:pt x="2815649" y="1165593"/>
                </a:lnTo>
                <a:lnTo>
                  <a:pt x="2855873" y="1182245"/>
                </a:lnTo>
                <a:lnTo>
                  <a:pt x="2896096" y="1198896"/>
                </a:lnTo>
                <a:lnTo>
                  <a:pt x="2936320" y="1215547"/>
                </a:lnTo>
                <a:lnTo>
                  <a:pt x="2976544" y="1232199"/>
                </a:lnTo>
                <a:lnTo>
                  <a:pt x="3016767" y="1248850"/>
                </a:lnTo>
                <a:lnTo>
                  <a:pt x="3056991" y="1265501"/>
                </a:lnTo>
                <a:lnTo>
                  <a:pt x="3097214" y="1282153"/>
                </a:lnTo>
                <a:lnTo>
                  <a:pt x="3137438" y="1298804"/>
                </a:lnTo>
                <a:lnTo>
                  <a:pt x="3177661" y="1315455"/>
                </a:lnTo>
                <a:lnTo>
                  <a:pt x="3217885" y="1332107"/>
                </a:lnTo>
                <a:lnTo>
                  <a:pt x="3258108" y="1348758"/>
                </a:lnTo>
                <a:lnTo>
                  <a:pt x="3298332" y="1365409"/>
                </a:lnTo>
                <a:lnTo>
                  <a:pt x="3338556" y="1382061"/>
                </a:lnTo>
                <a:lnTo>
                  <a:pt x="3378779" y="1398712"/>
                </a:lnTo>
                <a:lnTo>
                  <a:pt x="3419003" y="1415363"/>
                </a:lnTo>
                <a:lnTo>
                  <a:pt x="3459226" y="1432015"/>
                </a:lnTo>
                <a:lnTo>
                  <a:pt x="3499450" y="1448666"/>
                </a:lnTo>
                <a:lnTo>
                  <a:pt x="3539673" y="1465317"/>
                </a:lnTo>
                <a:lnTo>
                  <a:pt x="3579897" y="1481969"/>
                </a:lnTo>
                <a:lnTo>
                  <a:pt x="3620120" y="1498620"/>
                </a:lnTo>
                <a:lnTo>
                  <a:pt x="3660344" y="1515271"/>
                </a:lnTo>
                <a:lnTo>
                  <a:pt x="3700568" y="1531923"/>
                </a:lnTo>
                <a:lnTo>
                  <a:pt x="3740791" y="1548574"/>
                </a:lnTo>
                <a:lnTo>
                  <a:pt x="3781015" y="1565225"/>
                </a:lnTo>
                <a:lnTo>
                  <a:pt x="3821238" y="1581877"/>
                </a:lnTo>
                <a:lnTo>
                  <a:pt x="3861462" y="1598528"/>
                </a:lnTo>
                <a:lnTo>
                  <a:pt x="3901685" y="1615179"/>
                </a:lnTo>
                <a:lnTo>
                  <a:pt x="3941909" y="1631831"/>
                </a:lnTo>
                <a:lnTo>
                  <a:pt x="3982132" y="1648482"/>
                </a:lnTo>
                <a:lnTo>
                  <a:pt x="4022356" y="1665133"/>
                </a:lnTo>
                <a:lnTo>
                  <a:pt x="4062580" y="1681785"/>
                </a:lnTo>
                <a:lnTo>
                  <a:pt x="4102803" y="1698436"/>
                </a:lnTo>
                <a:lnTo>
                  <a:pt x="4143027" y="1715087"/>
                </a:lnTo>
                <a:lnTo>
                  <a:pt x="4183250" y="1731739"/>
                </a:lnTo>
                <a:lnTo>
                  <a:pt x="4223474" y="1748390"/>
                </a:lnTo>
                <a:lnTo>
                  <a:pt x="4263697" y="1765041"/>
                </a:lnTo>
                <a:lnTo>
                  <a:pt x="4303921" y="1781693"/>
                </a:lnTo>
                <a:lnTo>
                  <a:pt x="4344144" y="1798344"/>
                </a:lnTo>
                <a:lnTo>
                  <a:pt x="4384368" y="1814995"/>
                </a:lnTo>
                <a:lnTo>
                  <a:pt x="4424592" y="1831647"/>
                </a:lnTo>
                <a:lnTo>
                  <a:pt x="4464815" y="1848298"/>
                </a:lnTo>
                <a:lnTo>
                  <a:pt x="4505039" y="1864949"/>
                </a:lnTo>
                <a:lnTo>
                  <a:pt x="4545262" y="1881601"/>
                </a:lnTo>
                <a:lnTo>
                  <a:pt x="4585486" y="1898252"/>
                </a:lnTo>
                <a:lnTo>
                  <a:pt x="4625709" y="1914903"/>
                </a:lnTo>
                <a:lnTo>
                  <a:pt x="4665933" y="1931555"/>
                </a:lnTo>
                <a:lnTo>
                  <a:pt x="4706156" y="1948206"/>
                </a:lnTo>
                <a:lnTo>
                  <a:pt x="4746380" y="1964858"/>
                </a:lnTo>
                <a:lnTo>
                  <a:pt x="4786604" y="1981509"/>
                </a:lnTo>
              </a:path>
            </a:pathLst>
          </a:custGeom>
          <a:noFill/>
          <a:ln w="23700">
            <a:solidFill>
              <a:srgbClr val="1F77B4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polygon 261: plot geometry" descr="sci-ppt:obj-0261"/>
          <p:cNvSpPr/>
          <p:nvPr/>
        </p:nvSpPr>
        <p:spPr>
          <a:xfrm>
            <a:off x="7051997" y="1481535"/>
            <a:ext cx="4786604" cy="1981509"/>
          </a:xfrm>
          <a:custGeom>
            <a:avLst/>
            <a:gdLst/>
            <a:ahLst/>
            <a:cxnLst/>
            <a:rect l="l" t="t" r="r" b="b"/>
            <a:pathLst>
              <a:path w="4786604" h="1981509">
                <a:moveTo>
                  <a:pt x="0" y="0"/>
                </a:moveTo>
                <a:lnTo>
                  <a:pt x="40224" y="16651"/>
                </a:lnTo>
                <a:lnTo>
                  <a:pt x="80447" y="33302"/>
                </a:lnTo>
                <a:lnTo>
                  <a:pt x="120671" y="49954"/>
                </a:lnTo>
                <a:lnTo>
                  <a:pt x="160895" y="66605"/>
                </a:lnTo>
                <a:lnTo>
                  <a:pt x="201118" y="83256"/>
                </a:lnTo>
                <a:lnTo>
                  <a:pt x="241342" y="99908"/>
                </a:lnTo>
                <a:lnTo>
                  <a:pt x="281565" y="116559"/>
                </a:lnTo>
                <a:lnTo>
                  <a:pt x="321789" y="133210"/>
                </a:lnTo>
                <a:lnTo>
                  <a:pt x="362012" y="149862"/>
                </a:lnTo>
                <a:lnTo>
                  <a:pt x="402236" y="166513"/>
                </a:lnTo>
                <a:lnTo>
                  <a:pt x="442459" y="183164"/>
                </a:lnTo>
                <a:lnTo>
                  <a:pt x="482683" y="199816"/>
                </a:lnTo>
                <a:lnTo>
                  <a:pt x="522907" y="216467"/>
                </a:lnTo>
                <a:lnTo>
                  <a:pt x="563130" y="233118"/>
                </a:lnTo>
                <a:lnTo>
                  <a:pt x="603354" y="249770"/>
                </a:lnTo>
                <a:lnTo>
                  <a:pt x="643577" y="266421"/>
                </a:lnTo>
                <a:lnTo>
                  <a:pt x="683801" y="283072"/>
                </a:lnTo>
                <a:lnTo>
                  <a:pt x="724024" y="299724"/>
                </a:lnTo>
                <a:lnTo>
                  <a:pt x="764248" y="316375"/>
                </a:lnTo>
                <a:lnTo>
                  <a:pt x="804471" y="333026"/>
                </a:lnTo>
                <a:lnTo>
                  <a:pt x="844695" y="349678"/>
                </a:lnTo>
                <a:lnTo>
                  <a:pt x="884919" y="366329"/>
                </a:lnTo>
                <a:lnTo>
                  <a:pt x="925142" y="382980"/>
                </a:lnTo>
                <a:lnTo>
                  <a:pt x="965366" y="399632"/>
                </a:lnTo>
                <a:lnTo>
                  <a:pt x="1005589" y="416283"/>
                </a:lnTo>
                <a:lnTo>
                  <a:pt x="1045813" y="432934"/>
                </a:lnTo>
                <a:lnTo>
                  <a:pt x="1086036" y="449586"/>
                </a:lnTo>
                <a:lnTo>
                  <a:pt x="1126260" y="466237"/>
                </a:lnTo>
                <a:lnTo>
                  <a:pt x="1166483" y="482888"/>
                </a:lnTo>
                <a:lnTo>
                  <a:pt x="1206707" y="499540"/>
                </a:lnTo>
                <a:lnTo>
                  <a:pt x="1246931" y="516191"/>
                </a:lnTo>
                <a:lnTo>
                  <a:pt x="1287154" y="532842"/>
                </a:lnTo>
                <a:lnTo>
                  <a:pt x="1327378" y="549494"/>
                </a:lnTo>
                <a:lnTo>
                  <a:pt x="1367601" y="566145"/>
                </a:lnTo>
                <a:lnTo>
                  <a:pt x="1407825" y="582796"/>
                </a:lnTo>
                <a:lnTo>
                  <a:pt x="1448048" y="599448"/>
                </a:lnTo>
                <a:lnTo>
                  <a:pt x="1488272" y="616099"/>
                </a:lnTo>
                <a:lnTo>
                  <a:pt x="1528495" y="632750"/>
                </a:lnTo>
                <a:lnTo>
                  <a:pt x="1568719" y="649402"/>
                </a:lnTo>
                <a:lnTo>
                  <a:pt x="1608943" y="666053"/>
                </a:lnTo>
                <a:lnTo>
                  <a:pt x="1649166" y="682704"/>
                </a:lnTo>
                <a:lnTo>
                  <a:pt x="1689390" y="699356"/>
                </a:lnTo>
                <a:lnTo>
                  <a:pt x="1729613" y="716007"/>
                </a:lnTo>
                <a:lnTo>
                  <a:pt x="1769837" y="732658"/>
                </a:lnTo>
                <a:lnTo>
                  <a:pt x="1810060" y="749310"/>
                </a:lnTo>
                <a:lnTo>
                  <a:pt x="1850284" y="765961"/>
                </a:lnTo>
                <a:lnTo>
                  <a:pt x="1890507" y="782612"/>
                </a:lnTo>
                <a:lnTo>
                  <a:pt x="1930731" y="799264"/>
                </a:lnTo>
                <a:lnTo>
                  <a:pt x="1970955" y="815915"/>
                </a:lnTo>
                <a:lnTo>
                  <a:pt x="2011178" y="832566"/>
                </a:lnTo>
                <a:lnTo>
                  <a:pt x="2051402" y="849218"/>
                </a:lnTo>
                <a:lnTo>
                  <a:pt x="2091625" y="865869"/>
                </a:lnTo>
                <a:lnTo>
                  <a:pt x="2131849" y="882520"/>
                </a:lnTo>
                <a:lnTo>
                  <a:pt x="2172072" y="899172"/>
                </a:lnTo>
                <a:lnTo>
                  <a:pt x="2212296" y="915823"/>
                </a:lnTo>
                <a:lnTo>
                  <a:pt x="2252519" y="932474"/>
                </a:lnTo>
                <a:lnTo>
                  <a:pt x="2292743" y="949126"/>
                </a:lnTo>
                <a:lnTo>
                  <a:pt x="2332967" y="965777"/>
                </a:lnTo>
                <a:lnTo>
                  <a:pt x="2373190" y="982428"/>
                </a:lnTo>
                <a:lnTo>
                  <a:pt x="2413414" y="999080"/>
                </a:lnTo>
                <a:lnTo>
                  <a:pt x="2453637" y="1015731"/>
                </a:lnTo>
                <a:lnTo>
                  <a:pt x="2493861" y="1032382"/>
                </a:lnTo>
                <a:lnTo>
                  <a:pt x="2534084" y="1049034"/>
                </a:lnTo>
                <a:lnTo>
                  <a:pt x="2574308" y="1065685"/>
                </a:lnTo>
                <a:lnTo>
                  <a:pt x="2614531" y="1082336"/>
                </a:lnTo>
                <a:lnTo>
                  <a:pt x="2654755" y="1098988"/>
                </a:lnTo>
                <a:lnTo>
                  <a:pt x="2694979" y="1115639"/>
                </a:lnTo>
                <a:lnTo>
                  <a:pt x="2735202" y="1132290"/>
                </a:lnTo>
                <a:lnTo>
                  <a:pt x="2775426" y="1148942"/>
                </a:lnTo>
                <a:lnTo>
                  <a:pt x="2815649" y="1165593"/>
                </a:lnTo>
                <a:lnTo>
                  <a:pt x="2855873" y="1182244"/>
                </a:lnTo>
                <a:lnTo>
                  <a:pt x="2896096" y="1198896"/>
                </a:lnTo>
                <a:lnTo>
                  <a:pt x="2936320" y="1215547"/>
                </a:lnTo>
                <a:lnTo>
                  <a:pt x="2976544" y="1232198"/>
                </a:lnTo>
                <a:lnTo>
                  <a:pt x="3016767" y="1248850"/>
                </a:lnTo>
                <a:lnTo>
                  <a:pt x="3056991" y="1265501"/>
                </a:lnTo>
                <a:lnTo>
                  <a:pt x="3097214" y="1282152"/>
                </a:lnTo>
                <a:lnTo>
                  <a:pt x="3137438" y="1298804"/>
                </a:lnTo>
                <a:lnTo>
                  <a:pt x="3177661" y="1315455"/>
                </a:lnTo>
                <a:lnTo>
                  <a:pt x="3217885" y="1332107"/>
                </a:lnTo>
                <a:lnTo>
                  <a:pt x="3258108" y="1348758"/>
                </a:lnTo>
                <a:lnTo>
                  <a:pt x="3298332" y="1365409"/>
                </a:lnTo>
                <a:lnTo>
                  <a:pt x="3338556" y="1382061"/>
                </a:lnTo>
                <a:lnTo>
                  <a:pt x="3378779" y="1398712"/>
                </a:lnTo>
                <a:lnTo>
                  <a:pt x="3419003" y="1415363"/>
                </a:lnTo>
                <a:lnTo>
                  <a:pt x="3459226" y="1432015"/>
                </a:lnTo>
                <a:lnTo>
                  <a:pt x="3499450" y="1448666"/>
                </a:lnTo>
                <a:lnTo>
                  <a:pt x="3539673" y="1465317"/>
                </a:lnTo>
                <a:lnTo>
                  <a:pt x="3579897" y="1481969"/>
                </a:lnTo>
                <a:lnTo>
                  <a:pt x="3620120" y="1498620"/>
                </a:lnTo>
                <a:lnTo>
                  <a:pt x="3660344" y="1515271"/>
                </a:lnTo>
                <a:lnTo>
                  <a:pt x="3700568" y="1531923"/>
                </a:lnTo>
                <a:lnTo>
                  <a:pt x="3740791" y="1548574"/>
                </a:lnTo>
                <a:lnTo>
                  <a:pt x="3781015" y="1565225"/>
                </a:lnTo>
                <a:lnTo>
                  <a:pt x="3821238" y="1581877"/>
                </a:lnTo>
                <a:lnTo>
                  <a:pt x="3861462" y="1598528"/>
                </a:lnTo>
                <a:lnTo>
                  <a:pt x="3901685" y="1615179"/>
                </a:lnTo>
                <a:lnTo>
                  <a:pt x="3941909" y="1631831"/>
                </a:lnTo>
                <a:lnTo>
                  <a:pt x="3982132" y="1648482"/>
                </a:lnTo>
                <a:lnTo>
                  <a:pt x="4022356" y="1665133"/>
                </a:lnTo>
                <a:lnTo>
                  <a:pt x="4062580" y="1681785"/>
                </a:lnTo>
                <a:lnTo>
                  <a:pt x="4102803" y="1698436"/>
                </a:lnTo>
                <a:lnTo>
                  <a:pt x="4143027" y="1715087"/>
                </a:lnTo>
                <a:lnTo>
                  <a:pt x="4183250" y="1731739"/>
                </a:lnTo>
                <a:lnTo>
                  <a:pt x="4223474" y="1748390"/>
                </a:lnTo>
                <a:lnTo>
                  <a:pt x="4263697" y="1765041"/>
                </a:lnTo>
                <a:lnTo>
                  <a:pt x="4303921" y="1781693"/>
                </a:lnTo>
                <a:lnTo>
                  <a:pt x="4344144" y="1798344"/>
                </a:lnTo>
                <a:lnTo>
                  <a:pt x="4384368" y="1814995"/>
                </a:lnTo>
                <a:lnTo>
                  <a:pt x="4424592" y="1831647"/>
                </a:lnTo>
                <a:lnTo>
                  <a:pt x="4464815" y="1848298"/>
                </a:lnTo>
                <a:lnTo>
                  <a:pt x="4505039" y="1864949"/>
                </a:lnTo>
                <a:lnTo>
                  <a:pt x="4545262" y="1881601"/>
                </a:lnTo>
                <a:lnTo>
                  <a:pt x="4585486" y="1898252"/>
                </a:lnTo>
                <a:lnTo>
                  <a:pt x="4625709" y="1914903"/>
                </a:lnTo>
                <a:lnTo>
                  <a:pt x="4665933" y="1931555"/>
                </a:lnTo>
                <a:lnTo>
                  <a:pt x="4706156" y="1948206"/>
                </a:lnTo>
                <a:lnTo>
                  <a:pt x="4746380" y="1964857"/>
                </a:lnTo>
                <a:lnTo>
                  <a:pt x="4786604" y="1981509"/>
                </a:lnTo>
              </a:path>
            </a:pathLst>
          </a:custGeom>
          <a:noFill/>
          <a:ln w="23700">
            <a:solidFill>
              <a:srgbClr val="FF7F0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polygon 262: plot geometry" descr="sci-ppt:obj-0262"/>
          <p:cNvSpPr/>
          <p:nvPr/>
        </p:nvSpPr>
        <p:spPr>
          <a:xfrm>
            <a:off x="7051997" y="1879197"/>
            <a:ext cx="4786604" cy="1981509"/>
          </a:xfrm>
          <a:custGeom>
            <a:avLst/>
            <a:gdLst/>
            <a:ahLst/>
            <a:cxnLst/>
            <a:rect l="l" t="t" r="r" b="b"/>
            <a:pathLst>
              <a:path w="4786604" h="1981509">
                <a:moveTo>
                  <a:pt x="0" y="0"/>
                </a:moveTo>
                <a:lnTo>
                  <a:pt x="40224" y="16651"/>
                </a:lnTo>
                <a:lnTo>
                  <a:pt x="80447" y="33303"/>
                </a:lnTo>
                <a:lnTo>
                  <a:pt x="120671" y="49954"/>
                </a:lnTo>
                <a:lnTo>
                  <a:pt x="160895" y="66605"/>
                </a:lnTo>
                <a:lnTo>
                  <a:pt x="201118" y="83257"/>
                </a:lnTo>
                <a:lnTo>
                  <a:pt x="241342" y="99908"/>
                </a:lnTo>
                <a:lnTo>
                  <a:pt x="281565" y="116559"/>
                </a:lnTo>
                <a:lnTo>
                  <a:pt x="321789" y="133211"/>
                </a:lnTo>
                <a:lnTo>
                  <a:pt x="362012" y="149862"/>
                </a:lnTo>
                <a:lnTo>
                  <a:pt x="402236" y="166513"/>
                </a:lnTo>
                <a:lnTo>
                  <a:pt x="442459" y="183165"/>
                </a:lnTo>
                <a:lnTo>
                  <a:pt x="482683" y="199816"/>
                </a:lnTo>
                <a:lnTo>
                  <a:pt x="522907" y="216467"/>
                </a:lnTo>
                <a:lnTo>
                  <a:pt x="563130" y="233119"/>
                </a:lnTo>
                <a:lnTo>
                  <a:pt x="603354" y="249770"/>
                </a:lnTo>
                <a:lnTo>
                  <a:pt x="643577" y="266421"/>
                </a:lnTo>
                <a:lnTo>
                  <a:pt x="683801" y="283073"/>
                </a:lnTo>
                <a:lnTo>
                  <a:pt x="724024" y="299724"/>
                </a:lnTo>
                <a:lnTo>
                  <a:pt x="764248" y="316375"/>
                </a:lnTo>
                <a:lnTo>
                  <a:pt x="804471" y="333027"/>
                </a:lnTo>
                <a:lnTo>
                  <a:pt x="844695" y="349678"/>
                </a:lnTo>
                <a:lnTo>
                  <a:pt x="884919" y="366329"/>
                </a:lnTo>
                <a:lnTo>
                  <a:pt x="925142" y="382981"/>
                </a:lnTo>
                <a:lnTo>
                  <a:pt x="965366" y="399632"/>
                </a:lnTo>
                <a:lnTo>
                  <a:pt x="1005589" y="416283"/>
                </a:lnTo>
                <a:lnTo>
                  <a:pt x="1045813" y="432935"/>
                </a:lnTo>
                <a:lnTo>
                  <a:pt x="1086036" y="449586"/>
                </a:lnTo>
                <a:lnTo>
                  <a:pt x="1126260" y="466237"/>
                </a:lnTo>
                <a:lnTo>
                  <a:pt x="1166483" y="482889"/>
                </a:lnTo>
                <a:lnTo>
                  <a:pt x="1206707" y="499540"/>
                </a:lnTo>
                <a:lnTo>
                  <a:pt x="1246931" y="516191"/>
                </a:lnTo>
                <a:lnTo>
                  <a:pt x="1287154" y="532843"/>
                </a:lnTo>
                <a:lnTo>
                  <a:pt x="1327378" y="549494"/>
                </a:lnTo>
                <a:lnTo>
                  <a:pt x="1367601" y="566145"/>
                </a:lnTo>
                <a:lnTo>
                  <a:pt x="1407825" y="582797"/>
                </a:lnTo>
                <a:lnTo>
                  <a:pt x="1448048" y="599448"/>
                </a:lnTo>
                <a:lnTo>
                  <a:pt x="1488272" y="616099"/>
                </a:lnTo>
                <a:lnTo>
                  <a:pt x="1528495" y="632751"/>
                </a:lnTo>
                <a:lnTo>
                  <a:pt x="1568719" y="649402"/>
                </a:lnTo>
                <a:lnTo>
                  <a:pt x="1608943" y="666053"/>
                </a:lnTo>
                <a:lnTo>
                  <a:pt x="1649166" y="682705"/>
                </a:lnTo>
                <a:lnTo>
                  <a:pt x="1689390" y="699356"/>
                </a:lnTo>
                <a:lnTo>
                  <a:pt x="1729613" y="716007"/>
                </a:lnTo>
                <a:lnTo>
                  <a:pt x="1769837" y="732659"/>
                </a:lnTo>
                <a:lnTo>
                  <a:pt x="1810060" y="749310"/>
                </a:lnTo>
                <a:lnTo>
                  <a:pt x="1850284" y="765962"/>
                </a:lnTo>
                <a:lnTo>
                  <a:pt x="1890507" y="782613"/>
                </a:lnTo>
                <a:lnTo>
                  <a:pt x="1930731" y="799264"/>
                </a:lnTo>
                <a:lnTo>
                  <a:pt x="1970955" y="815916"/>
                </a:lnTo>
                <a:lnTo>
                  <a:pt x="2011178" y="832567"/>
                </a:lnTo>
                <a:lnTo>
                  <a:pt x="2051402" y="849218"/>
                </a:lnTo>
                <a:lnTo>
                  <a:pt x="2091625" y="865870"/>
                </a:lnTo>
                <a:lnTo>
                  <a:pt x="2131849" y="882521"/>
                </a:lnTo>
                <a:lnTo>
                  <a:pt x="2172072" y="899172"/>
                </a:lnTo>
                <a:lnTo>
                  <a:pt x="2212296" y="915824"/>
                </a:lnTo>
                <a:lnTo>
                  <a:pt x="2252519" y="932475"/>
                </a:lnTo>
                <a:lnTo>
                  <a:pt x="2292743" y="949126"/>
                </a:lnTo>
                <a:lnTo>
                  <a:pt x="2332967" y="965778"/>
                </a:lnTo>
                <a:lnTo>
                  <a:pt x="2373190" y="982429"/>
                </a:lnTo>
                <a:lnTo>
                  <a:pt x="2413414" y="999080"/>
                </a:lnTo>
                <a:lnTo>
                  <a:pt x="2453637" y="1015732"/>
                </a:lnTo>
                <a:lnTo>
                  <a:pt x="2493861" y="1032383"/>
                </a:lnTo>
                <a:lnTo>
                  <a:pt x="2534084" y="1049034"/>
                </a:lnTo>
                <a:lnTo>
                  <a:pt x="2574308" y="1065686"/>
                </a:lnTo>
                <a:lnTo>
                  <a:pt x="2614531" y="1082337"/>
                </a:lnTo>
                <a:lnTo>
                  <a:pt x="2654755" y="1098988"/>
                </a:lnTo>
                <a:lnTo>
                  <a:pt x="2694979" y="1115640"/>
                </a:lnTo>
                <a:lnTo>
                  <a:pt x="2735202" y="1132291"/>
                </a:lnTo>
                <a:lnTo>
                  <a:pt x="2775426" y="1148942"/>
                </a:lnTo>
                <a:lnTo>
                  <a:pt x="2815649" y="1165594"/>
                </a:lnTo>
                <a:lnTo>
                  <a:pt x="2855873" y="1182245"/>
                </a:lnTo>
                <a:lnTo>
                  <a:pt x="2896096" y="1198896"/>
                </a:lnTo>
                <a:lnTo>
                  <a:pt x="2936320" y="1215548"/>
                </a:lnTo>
                <a:lnTo>
                  <a:pt x="2976544" y="1232199"/>
                </a:lnTo>
                <a:lnTo>
                  <a:pt x="3016767" y="1248850"/>
                </a:lnTo>
                <a:lnTo>
                  <a:pt x="3056991" y="1265502"/>
                </a:lnTo>
                <a:lnTo>
                  <a:pt x="3097214" y="1282153"/>
                </a:lnTo>
                <a:lnTo>
                  <a:pt x="3137438" y="1298804"/>
                </a:lnTo>
                <a:lnTo>
                  <a:pt x="3177661" y="1315456"/>
                </a:lnTo>
                <a:lnTo>
                  <a:pt x="3217885" y="1332107"/>
                </a:lnTo>
                <a:lnTo>
                  <a:pt x="3258108" y="1348758"/>
                </a:lnTo>
                <a:lnTo>
                  <a:pt x="3298332" y="1365410"/>
                </a:lnTo>
                <a:lnTo>
                  <a:pt x="3338556" y="1382061"/>
                </a:lnTo>
                <a:lnTo>
                  <a:pt x="3378779" y="1398712"/>
                </a:lnTo>
                <a:lnTo>
                  <a:pt x="3419003" y="1415364"/>
                </a:lnTo>
                <a:lnTo>
                  <a:pt x="3459226" y="1432015"/>
                </a:lnTo>
                <a:lnTo>
                  <a:pt x="3499450" y="1448666"/>
                </a:lnTo>
                <a:lnTo>
                  <a:pt x="3539673" y="1465318"/>
                </a:lnTo>
                <a:lnTo>
                  <a:pt x="3579897" y="1481969"/>
                </a:lnTo>
                <a:lnTo>
                  <a:pt x="3620120" y="1498620"/>
                </a:lnTo>
                <a:lnTo>
                  <a:pt x="3660344" y="1515272"/>
                </a:lnTo>
                <a:lnTo>
                  <a:pt x="3700568" y="1531923"/>
                </a:lnTo>
                <a:lnTo>
                  <a:pt x="3740791" y="1548574"/>
                </a:lnTo>
                <a:lnTo>
                  <a:pt x="3781015" y="1565226"/>
                </a:lnTo>
                <a:lnTo>
                  <a:pt x="3821238" y="1581877"/>
                </a:lnTo>
                <a:lnTo>
                  <a:pt x="3861462" y="1598528"/>
                </a:lnTo>
                <a:lnTo>
                  <a:pt x="3901685" y="1615180"/>
                </a:lnTo>
                <a:lnTo>
                  <a:pt x="3941909" y="1631831"/>
                </a:lnTo>
                <a:lnTo>
                  <a:pt x="3982132" y="1648482"/>
                </a:lnTo>
                <a:lnTo>
                  <a:pt x="4022356" y="1665134"/>
                </a:lnTo>
                <a:lnTo>
                  <a:pt x="4062580" y="1681785"/>
                </a:lnTo>
                <a:lnTo>
                  <a:pt x="4102803" y="1698436"/>
                </a:lnTo>
                <a:lnTo>
                  <a:pt x="4143027" y="1715088"/>
                </a:lnTo>
                <a:lnTo>
                  <a:pt x="4183250" y="1731739"/>
                </a:lnTo>
                <a:lnTo>
                  <a:pt x="4223474" y="1748390"/>
                </a:lnTo>
                <a:lnTo>
                  <a:pt x="4263697" y="1765042"/>
                </a:lnTo>
                <a:lnTo>
                  <a:pt x="4303921" y="1781693"/>
                </a:lnTo>
                <a:lnTo>
                  <a:pt x="4344144" y="1798344"/>
                </a:lnTo>
                <a:lnTo>
                  <a:pt x="4384368" y="1814996"/>
                </a:lnTo>
                <a:lnTo>
                  <a:pt x="4424592" y="1831647"/>
                </a:lnTo>
                <a:lnTo>
                  <a:pt x="4464815" y="1848298"/>
                </a:lnTo>
                <a:lnTo>
                  <a:pt x="4505039" y="1864950"/>
                </a:lnTo>
                <a:lnTo>
                  <a:pt x="4545262" y="1881601"/>
                </a:lnTo>
                <a:lnTo>
                  <a:pt x="4585486" y="1898252"/>
                </a:lnTo>
                <a:lnTo>
                  <a:pt x="4625709" y="1914904"/>
                </a:lnTo>
                <a:lnTo>
                  <a:pt x="4665933" y="1931555"/>
                </a:lnTo>
                <a:lnTo>
                  <a:pt x="4706156" y="1948206"/>
                </a:lnTo>
                <a:lnTo>
                  <a:pt x="4746380" y="1964858"/>
                </a:lnTo>
                <a:lnTo>
                  <a:pt x="4786604" y="1981509"/>
                </a:lnTo>
              </a:path>
            </a:pathLst>
          </a:custGeom>
          <a:noFill/>
          <a:ln w="23700">
            <a:solidFill>
              <a:srgbClr val="2CA0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polygon 263: plot geometry" descr="sci-ppt:obj-0263"/>
          <p:cNvSpPr/>
          <p:nvPr/>
        </p:nvSpPr>
        <p:spPr>
          <a:xfrm>
            <a:off x="7051997" y="2142038"/>
            <a:ext cx="4786604" cy="1981509"/>
          </a:xfrm>
          <a:custGeom>
            <a:avLst/>
            <a:gdLst/>
            <a:ahLst/>
            <a:cxnLst/>
            <a:rect l="l" t="t" r="r" b="b"/>
            <a:pathLst>
              <a:path w="4786604" h="1981509">
                <a:moveTo>
                  <a:pt x="0" y="0"/>
                </a:moveTo>
                <a:lnTo>
                  <a:pt x="40224" y="16651"/>
                </a:lnTo>
                <a:lnTo>
                  <a:pt x="80447" y="33302"/>
                </a:lnTo>
                <a:lnTo>
                  <a:pt x="120671" y="49954"/>
                </a:lnTo>
                <a:lnTo>
                  <a:pt x="160895" y="66605"/>
                </a:lnTo>
                <a:lnTo>
                  <a:pt x="201118" y="83256"/>
                </a:lnTo>
                <a:lnTo>
                  <a:pt x="241342" y="99908"/>
                </a:lnTo>
                <a:lnTo>
                  <a:pt x="281565" y="116559"/>
                </a:lnTo>
                <a:lnTo>
                  <a:pt x="321789" y="133210"/>
                </a:lnTo>
                <a:lnTo>
                  <a:pt x="362012" y="149862"/>
                </a:lnTo>
                <a:lnTo>
                  <a:pt x="402236" y="166513"/>
                </a:lnTo>
                <a:lnTo>
                  <a:pt x="442459" y="183164"/>
                </a:lnTo>
                <a:lnTo>
                  <a:pt x="482683" y="199816"/>
                </a:lnTo>
                <a:lnTo>
                  <a:pt x="522907" y="216467"/>
                </a:lnTo>
                <a:lnTo>
                  <a:pt x="563130" y="233118"/>
                </a:lnTo>
                <a:lnTo>
                  <a:pt x="603354" y="249770"/>
                </a:lnTo>
                <a:lnTo>
                  <a:pt x="643577" y="266421"/>
                </a:lnTo>
                <a:lnTo>
                  <a:pt x="683801" y="283072"/>
                </a:lnTo>
                <a:lnTo>
                  <a:pt x="724024" y="299724"/>
                </a:lnTo>
                <a:lnTo>
                  <a:pt x="764248" y="316375"/>
                </a:lnTo>
                <a:lnTo>
                  <a:pt x="804471" y="333026"/>
                </a:lnTo>
                <a:lnTo>
                  <a:pt x="844695" y="349678"/>
                </a:lnTo>
                <a:lnTo>
                  <a:pt x="884919" y="366329"/>
                </a:lnTo>
                <a:lnTo>
                  <a:pt x="925142" y="382980"/>
                </a:lnTo>
                <a:lnTo>
                  <a:pt x="965366" y="399632"/>
                </a:lnTo>
                <a:lnTo>
                  <a:pt x="1005589" y="416283"/>
                </a:lnTo>
                <a:lnTo>
                  <a:pt x="1045813" y="432934"/>
                </a:lnTo>
                <a:lnTo>
                  <a:pt x="1086036" y="449586"/>
                </a:lnTo>
                <a:lnTo>
                  <a:pt x="1126260" y="466237"/>
                </a:lnTo>
                <a:lnTo>
                  <a:pt x="1166483" y="482888"/>
                </a:lnTo>
                <a:lnTo>
                  <a:pt x="1206707" y="499540"/>
                </a:lnTo>
                <a:lnTo>
                  <a:pt x="1246931" y="516191"/>
                </a:lnTo>
                <a:lnTo>
                  <a:pt x="1287154" y="532842"/>
                </a:lnTo>
                <a:lnTo>
                  <a:pt x="1327378" y="549494"/>
                </a:lnTo>
                <a:lnTo>
                  <a:pt x="1367601" y="566145"/>
                </a:lnTo>
                <a:lnTo>
                  <a:pt x="1407825" y="582796"/>
                </a:lnTo>
                <a:lnTo>
                  <a:pt x="1448048" y="599448"/>
                </a:lnTo>
                <a:lnTo>
                  <a:pt x="1488272" y="616099"/>
                </a:lnTo>
                <a:lnTo>
                  <a:pt x="1528495" y="632750"/>
                </a:lnTo>
                <a:lnTo>
                  <a:pt x="1568719" y="649402"/>
                </a:lnTo>
                <a:lnTo>
                  <a:pt x="1608943" y="666053"/>
                </a:lnTo>
                <a:lnTo>
                  <a:pt x="1649166" y="682704"/>
                </a:lnTo>
                <a:lnTo>
                  <a:pt x="1689390" y="699356"/>
                </a:lnTo>
                <a:lnTo>
                  <a:pt x="1729613" y="716007"/>
                </a:lnTo>
                <a:lnTo>
                  <a:pt x="1769837" y="732658"/>
                </a:lnTo>
                <a:lnTo>
                  <a:pt x="1810060" y="749310"/>
                </a:lnTo>
                <a:lnTo>
                  <a:pt x="1850284" y="765961"/>
                </a:lnTo>
                <a:lnTo>
                  <a:pt x="1890507" y="782612"/>
                </a:lnTo>
                <a:lnTo>
                  <a:pt x="1930731" y="799264"/>
                </a:lnTo>
                <a:lnTo>
                  <a:pt x="1970955" y="815915"/>
                </a:lnTo>
                <a:lnTo>
                  <a:pt x="2011178" y="832566"/>
                </a:lnTo>
                <a:lnTo>
                  <a:pt x="2051402" y="849218"/>
                </a:lnTo>
                <a:lnTo>
                  <a:pt x="2091625" y="865869"/>
                </a:lnTo>
                <a:lnTo>
                  <a:pt x="2131849" y="882520"/>
                </a:lnTo>
                <a:lnTo>
                  <a:pt x="2172072" y="899172"/>
                </a:lnTo>
                <a:lnTo>
                  <a:pt x="2212296" y="915823"/>
                </a:lnTo>
                <a:lnTo>
                  <a:pt x="2252519" y="932474"/>
                </a:lnTo>
                <a:lnTo>
                  <a:pt x="2292743" y="949126"/>
                </a:lnTo>
                <a:lnTo>
                  <a:pt x="2332967" y="965777"/>
                </a:lnTo>
                <a:lnTo>
                  <a:pt x="2373190" y="982428"/>
                </a:lnTo>
                <a:lnTo>
                  <a:pt x="2413414" y="999080"/>
                </a:lnTo>
                <a:lnTo>
                  <a:pt x="2453637" y="1015731"/>
                </a:lnTo>
                <a:lnTo>
                  <a:pt x="2493861" y="1032382"/>
                </a:lnTo>
                <a:lnTo>
                  <a:pt x="2534084" y="1049034"/>
                </a:lnTo>
                <a:lnTo>
                  <a:pt x="2574308" y="1065685"/>
                </a:lnTo>
                <a:lnTo>
                  <a:pt x="2614531" y="1082336"/>
                </a:lnTo>
                <a:lnTo>
                  <a:pt x="2654755" y="1098988"/>
                </a:lnTo>
                <a:lnTo>
                  <a:pt x="2694979" y="1115639"/>
                </a:lnTo>
                <a:lnTo>
                  <a:pt x="2735202" y="1132291"/>
                </a:lnTo>
                <a:lnTo>
                  <a:pt x="2775426" y="1148942"/>
                </a:lnTo>
                <a:lnTo>
                  <a:pt x="2815649" y="1165593"/>
                </a:lnTo>
                <a:lnTo>
                  <a:pt x="2855873" y="1182245"/>
                </a:lnTo>
                <a:lnTo>
                  <a:pt x="2896096" y="1198896"/>
                </a:lnTo>
                <a:lnTo>
                  <a:pt x="2936320" y="1215547"/>
                </a:lnTo>
                <a:lnTo>
                  <a:pt x="2976544" y="1232199"/>
                </a:lnTo>
                <a:lnTo>
                  <a:pt x="3016767" y="1248850"/>
                </a:lnTo>
                <a:lnTo>
                  <a:pt x="3056991" y="1265501"/>
                </a:lnTo>
                <a:lnTo>
                  <a:pt x="3097214" y="1282153"/>
                </a:lnTo>
                <a:lnTo>
                  <a:pt x="3137438" y="1298804"/>
                </a:lnTo>
                <a:lnTo>
                  <a:pt x="3177661" y="1315455"/>
                </a:lnTo>
                <a:lnTo>
                  <a:pt x="3217885" y="1332107"/>
                </a:lnTo>
                <a:lnTo>
                  <a:pt x="3258108" y="1348758"/>
                </a:lnTo>
                <a:lnTo>
                  <a:pt x="3298332" y="1365409"/>
                </a:lnTo>
                <a:lnTo>
                  <a:pt x="3338556" y="1382061"/>
                </a:lnTo>
                <a:lnTo>
                  <a:pt x="3378779" y="1398712"/>
                </a:lnTo>
                <a:lnTo>
                  <a:pt x="3419003" y="1415363"/>
                </a:lnTo>
                <a:lnTo>
                  <a:pt x="3459226" y="1432015"/>
                </a:lnTo>
                <a:lnTo>
                  <a:pt x="3499450" y="1448666"/>
                </a:lnTo>
                <a:lnTo>
                  <a:pt x="3539673" y="1465317"/>
                </a:lnTo>
                <a:lnTo>
                  <a:pt x="3579897" y="1481969"/>
                </a:lnTo>
                <a:lnTo>
                  <a:pt x="3620120" y="1498620"/>
                </a:lnTo>
                <a:lnTo>
                  <a:pt x="3660344" y="1515271"/>
                </a:lnTo>
                <a:lnTo>
                  <a:pt x="3700568" y="1531923"/>
                </a:lnTo>
                <a:lnTo>
                  <a:pt x="3740791" y="1548574"/>
                </a:lnTo>
                <a:lnTo>
                  <a:pt x="3781015" y="1565225"/>
                </a:lnTo>
                <a:lnTo>
                  <a:pt x="3821238" y="1581877"/>
                </a:lnTo>
                <a:lnTo>
                  <a:pt x="3861462" y="1598528"/>
                </a:lnTo>
                <a:lnTo>
                  <a:pt x="3901685" y="1615179"/>
                </a:lnTo>
                <a:lnTo>
                  <a:pt x="3941909" y="1631831"/>
                </a:lnTo>
                <a:lnTo>
                  <a:pt x="3982132" y="1648482"/>
                </a:lnTo>
                <a:lnTo>
                  <a:pt x="4022356" y="1665133"/>
                </a:lnTo>
                <a:lnTo>
                  <a:pt x="4062580" y="1681785"/>
                </a:lnTo>
                <a:lnTo>
                  <a:pt x="4102803" y="1698436"/>
                </a:lnTo>
                <a:lnTo>
                  <a:pt x="4143027" y="1715087"/>
                </a:lnTo>
                <a:lnTo>
                  <a:pt x="4183250" y="1731739"/>
                </a:lnTo>
                <a:lnTo>
                  <a:pt x="4223474" y="1748390"/>
                </a:lnTo>
                <a:lnTo>
                  <a:pt x="4263697" y="1765041"/>
                </a:lnTo>
                <a:lnTo>
                  <a:pt x="4303921" y="1781693"/>
                </a:lnTo>
                <a:lnTo>
                  <a:pt x="4344144" y="1798344"/>
                </a:lnTo>
                <a:lnTo>
                  <a:pt x="4384368" y="1814995"/>
                </a:lnTo>
                <a:lnTo>
                  <a:pt x="4424592" y="1831647"/>
                </a:lnTo>
                <a:lnTo>
                  <a:pt x="4464815" y="1848298"/>
                </a:lnTo>
                <a:lnTo>
                  <a:pt x="4505039" y="1864949"/>
                </a:lnTo>
                <a:lnTo>
                  <a:pt x="4545262" y="1881601"/>
                </a:lnTo>
                <a:lnTo>
                  <a:pt x="4585486" y="1898252"/>
                </a:lnTo>
                <a:lnTo>
                  <a:pt x="4625709" y="1914903"/>
                </a:lnTo>
                <a:lnTo>
                  <a:pt x="4665933" y="1931555"/>
                </a:lnTo>
                <a:lnTo>
                  <a:pt x="4706156" y="1948206"/>
                </a:lnTo>
                <a:lnTo>
                  <a:pt x="4746380" y="1964857"/>
                </a:lnTo>
                <a:lnTo>
                  <a:pt x="4786604" y="1981509"/>
                </a:lnTo>
              </a:path>
            </a:pathLst>
          </a:custGeom>
          <a:noFill/>
          <a:ln w="23700">
            <a:solidFill>
              <a:srgbClr val="D6272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5" name="line 264: plot geometry" descr="sci-ppt:obj-0264"/>
          <p:cNvCxnSpPr/>
          <p:nvPr/>
        </p:nvCxnSpPr>
        <p:spPr>
          <a:xfrm>
            <a:off x="6812667" y="4168940"/>
            <a:ext cx="5265264" cy="0"/>
          </a:xfrm>
          <a:prstGeom prst="line">
            <a:avLst/>
          </a:prstGeom>
          <a:ln w="12640">
            <a:solidFill>
              <a:srgbClr val="333333"/>
            </a:solidFill>
          </a:ln>
          <a:effectLst/>
        </p:spPr>
      </p:cxnSp>
      <p:cxnSp>
        <p:nvCxnSpPr>
          <p:cNvPr id="266" name="line 265: plot geometry" descr="sci-ppt:obj-0265"/>
          <p:cNvCxnSpPr/>
          <p:nvPr/>
        </p:nvCxnSpPr>
        <p:spPr>
          <a:xfrm flipV="1">
            <a:off x="6812667" y="864678"/>
            <a:ext cx="0" cy="3414053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cxnSp>
        <p:nvCxnSpPr>
          <p:cNvPr id="267" name="line 266: plot geometry" descr="sci-ppt:obj-0266"/>
          <p:cNvCxnSpPr/>
          <p:nvPr/>
        </p:nvCxnSpPr>
        <p:spPr>
          <a:xfrm>
            <a:off x="6812667" y="4278731"/>
            <a:ext cx="5265264" cy="0"/>
          </a:xfrm>
          <a:prstGeom prst="line">
            <a:avLst/>
          </a:prstGeom>
          <a:ln w="12640">
            <a:solidFill>
              <a:srgbClr val="000000"/>
            </a:solidFill>
          </a:ln>
          <a:effectLst/>
        </p:spPr>
      </p:cxnSp>
      <p:sp>
        <p:nvSpPr>
          <p:cNvPr id="268" name="text 267: Diameter 6 µm; half-width 0.5 µm" descr="sci-ppt:obj-0267"/>
          <p:cNvSpPr txBox="1"/>
          <p:nvPr/>
        </p:nvSpPr>
        <p:spPr>
          <a:xfrm>
            <a:off x="7618837" y="574580"/>
            <a:ext cx="3652924" cy="25596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92" b="0" i="0">
                <a:solidFill>
                  <a:srgbClr val="000000"/>
                </a:solidFill>
                <a:latin typeface="Arial"/>
              </a:rPr>
              <a:t>Diameter 6 µm; half-width 0.5 µm</a:t>
            </a:r>
          </a:p>
        </p:txBody>
      </p:sp>
      <p:sp>
        <p:nvSpPr>
          <p:cNvPr id="269" name="polygon 268: plot geometry" descr="sci-ppt:obj-0268"/>
          <p:cNvSpPr/>
          <p:nvPr/>
        </p:nvSpPr>
        <p:spPr>
          <a:xfrm>
            <a:off x="10552294" y="935781"/>
            <a:ext cx="1454534" cy="895935"/>
          </a:xfrm>
          <a:custGeom>
            <a:avLst/>
            <a:gdLst/>
            <a:ahLst/>
            <a:cxnLst/>
            <a:rect l="l" t="t" r="r" b="b"/>
            <a:pathLst>
              <a:path w="1454534" h="895935">
                <a:moveTo>
                  <a:pt x="28441" y="895935"/>
                </a:moveTo>
                <a:lnTo>
                  <a:pt x="1426093" y="895935"/>
                </a:lnTo>
                <a:lnTo>
                  <a:pt x="1430636" y="895738"/>
                </a:lnTo>
                <a:lnTo>
                  <a:pt x="1434784" y="895145"/>
                </a:lnTo>
                <a:lnTo>
                  <a:pt x="1438536" y="894158"/>
                </a:lnTo>
                <a:lnTo>
                  <a:pt x="1441894" y="892775"/>
                </a:lnTo>
                <a:lnTo>
                  <a:pt x="1444856" y="890998"/>
                </a:lnTo>
                <a:lnTo>
                  <a:pt x="1447424" y="888825"/>
                </a:lnTo>
                <a:lnTo>
                  <a:pt x="1449597" y="886258"/>
                </a:lnTo>
                <a:lnTo>
                  <a:pt x="1451374" y="883295"/>
                </a:lnTo>
                <a:lnTo>
                  <a:pt x="1452757" y="879937"/>
                </a:lnTo>
                <a:lnTo>
                  <a:pt x="1453744" y="876185"/>
                </a:lnTo>
                <a:lnTo>
                  <a:pt x="1454337" y="872037"/>
                </a:lnTo>
                <a:lnTo>
                  <a:pt x="1454534" y="867494"/>
                </a:lnTo>
                <a:lnTo>
                  <a:pt x="1454534" y="28441"/>
                </a:lnTo>
                <a:lnTo>
                  <a:pt x="1454337" y="23898"/>
                </a:lnTo>
                <a:lnTo>
                  <a:pt x="1453744" y="19751"/>
                </a:lnTo>
                <a:lnTo>
                  <a:pt x="1452757" y="15998"/>
                </a:lnTo>
                <a:lnTo>
                  <a:pt x="1451374" y="12640"/>
                </a:lnTo>
                <a:lnTo>
                  <a:pt x="1449597" y="9678"/>
                </a:lnTo>
                <a:lnTo>
                  <a:pt x="1447424" y="7110"/>
                </a:lnTo>
                <a:lnTo>
                  <a:pt x="1444856" y="4938"/>
                </a:lnTo>
                <a:lnTo>
                  <a:pt x="1441894" y="3160"/>
                </a:lnTo>
                <a:lnTo>
                  <a:pt x="1438536" y="1778"/>
                </a:lnTo>
                <a:lnTo>
                  <a:pt x="1434784" y="790"/>
                </a:lnTo>
                <a:lnTo>
                  <a:pt x="1430636" y="197"/>
                </a:lnTo>
                <a:lnTo>
                  <a:pt x="1426093" y="0"/>
                </a:lnTo>
                <a:lnTo>
                  <a:pt x="28441" y="0"/>
                </a:lnTo>
                <a:lnTo>
                  <a:pt x="23898" y="197"/>
                </a:lnTo>
                <a:lnTo>
                  <a:pt x="19751" y="790"/>
                </a:lnTo>
                <a:lnTo>
                  <a:pt x="15998" y="1778"/>
                </a:lnTo>
                <a:lnTo>
                  <a:pt x="12640" y="3160"/>
                </a:lnTo>
                <a:lnTo>
                  <a:pt x="9678" y="4938"/>
                </a:lnTo>
                <a:lnTo>
                  <a:pt x="7110" y="7110"/>
                </a:lnTo>
                <a:lnTo>
                  <a:pt x="4938" y="9678"/>
                </a:lnTo>
                <a:lnTo>
                  <a:pt x="3160" y="12640"/>
                </a:lnTo>
                <a:lnTo>
                  <a:pt x="1778" y="15998"/>
                </a:lnTo>
                <a:lnTo>
                  <a:pt x="790" y="19751"/>
                </a:lnTo>
                <a:lnTo>
                  <a:pt x="198" y="23898"/>
                </a:lnTo>
                <a:lnTo>
                  <a:pt x="0" y="28441"/>
                </a:lnTo>
                <a:lnTo>
                  <a:pt x="0" y="867494"/>
                </a:lnTo>
                <a:lnTo>
                  <a:pt x="198" y="872037"/>
                </a:lnTo>
                <a:lnTo>
                  <a:pt x="790" y="876185"/>
                </a:lnTo>
                <a:lnTo>
                  <a:pt x="1778" y="879937"/>
                </a:lnTo>
                <a:lnTo>
                  <a:pt x="3160" y="883295"/>
                </a:lnTo>
                <a:lnTo>
                  <a:pt x="4938" y="886258"/>
                </a:lnTo>
                <a:lnTo>
                  <a:pt x="7110" y="888825"/>
                </a:lnTo>
                <a:lnTo>
                  <a:pt x="9678" y="890998"/>
                </a:lnTo>
                <a:lnTo>
                  <a:pt x="12640" y="892775"/>
                </a:lnTo>
                <a:lnTo>
                  <a:pt x="15998" y="894158"/>
                </a:lnTo>
                <a:lnTo>
                  <a:pt x="19751" y="895145"/>
                </a:lnTo>
                <a:lnTo>
                  <a:pt x="23898" y="895738"/>
                </a:lnTo>
                <a:lnTo>
                  <a:pt x="28441" y="895935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5800">
            <a:solidFill>
              <a:srgbClr val="CCCCCC">
                <a:alpha val="8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polygon 269: plot geometry" descr="sci-ppt:obj-0269"/>
          <p:cNvSpPr/>
          <p:nvPr/>
        </p:nvSpPr>
        <p:spPr>
          <a:xfrm>
            <a:off x="10609176" y="1050945"/>
            <a:ext cx="284410" cy="0"/>
          </a:xfrm>
          <a:custGeom>
            <a:avLst/>
            <a:gdLst/>
            <a:ahLst/>
            <a:cxnLst/>
            <a:rect l="l" t="t" r="r" b="b"/>
            <a:pathLst>
              <a:path w="284410" h="0">
                <a:moveTo>
                  <a:pt x="0" y="0"/>
                </a:moveTo>
                <a:lnTo>
                  <a:pt x="142205" y="0"/>
                </a:lnTo>
                <a:lnTo>
                  <a:pt x="284410" y="0"/>
                </a:lnTo>
              </a:path>
            </a:pathLst>
          </a:custGeom>
          <a:noFill/>
          <a:ln w="23700">
            <a:solidFill>
              <a:srgbClr val="1F77B4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text 270: Cover 1 µm *" descr="sci-ppt:obj-0270"/>
          <p:cNvSpPr txBox="1"/>
          <p:nvPr/>
        </p:nvSpPr>
        <p:spPr>
          <a:xfrm>
            <a:off x="10979918" y="954245"/>
            <a:ext cx="1079962" cy="1919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9" b="0" i="0">
                <a:solidFill>
                  <a:srgbClr val="000000"/>
                </a:solidFill>
                <a:latin typeface="Arial"/>
              </a:rPr>
              <a:t>Cover 1 µm *</a:t>
            </a:r>
          </a:p>
        </p:txBody>
      </p:sp>
      <p:sp>
        <p:nvSpPr>
          <p:cNvPr id="272" name="polygon 271: plot geometry" descr="sci-ppt:obj-0271"/>
          <p:cNvSpPr/>
          <p:nvPr/>
        </p:nvSpPr>
        <p:spPr>
          <a:xfrm>
            <a:off x="10609176" y="1264263"/>
            <a:ext cx="284410" cy="0"/>
          </a:xfrm>
          <a:custGeom>
            <a:avLst/>
            <a:gdLst/>
            <a:ahLst/>
            <a:cxnLst/>
            <a:rect l="l" t="t" r="r" b="b"/>
            <a:pathLst>
              <a:path w="284410" h="0">
                <a:moveTo>
                  <a:pt x="0" y="0"/>
                </a:moveTo>
                <a:lnTo>
                  <a:pt x="142205" y="0"/>
                </a:lnTo>
                <a:lnTo>
                  <a:pt x="284410" y="0"/>
                </a:lnTo>
              </a:path>
            </a:pathLst>
          </a:custGeom>
          <a:noFill/>
          <a:ln w="23700">
            <a:solidFill>
              <a:srgbClr val="FF7F0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text 272: Cover 5 µm" descr="sci-ppt:obj-0272"/>
          <p:cNvSpPr txBox="1"/>
          <p:nvPr/>
        </p:nvSpPr>
        <p:spPr>
          <a:xfrm>
            <a:off x="10979918" y="1167564"/>
            <a:ext cx="912161" cy="1919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9" b="0" i="0">
                <a:solidFill>
                  <a:srgbClr val="000000"/>
                </a:solidFill>
                <a:latin typeface="Arial"/>
              </a:rPr>
              <a:t>Cover 5 µm</a:t>
            </a:r>
          </a:p>
        </p:txBody>
      </p:sp>
      <p:sp>
        <p:nvSpPr>
          <p:cNvPr id="274" name="polygon 273: plot geometry" descr="sci-ppt:obj-0273"/>
          <p:cNvSpPr/>
          <p:nvPr/>
        </p:nvSpPr>
        <p:spPr>
          <a:xfrm>
            <a:off x="10609176" y="1477582"/>
            <a:ext cx="284410" cy="0"/>
          </a:xfrm>
          <a:custGeom>
            <a:avLst/>
            <a:gdLst/>
            <a:ahLst/>
            <a:cxnLst/>
            <a:rect l="l" t="t" r="r" b="b"/>
            <a:pathLst>
              <a:path w="284410" h="0">
                <a:moveTo>
                  <a:pt x="0" y="0"/>
                </a:moveTo>
                <a:lnTo>
                  <a:pt x="142205" y="0"/>
                </a:lnTo>
                <a:lnTo>
                  <a:pt x="284410" y="0"/>
                </a:lnTo>
              </a:path>
            </a:pathLst>
          </a:custGeom>
          <a:noFill/>
          <a:ln w="23700">
            <a:solidFill>
              <a:srgbClr val="2CA02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text 274: Cover 20 µm" descr="sci-ppt:obj-0274"/>
          <p:cNvSpPr txBox="1"/>
          <p:nvPr/>
        </p:nvSpPr>
        <p:spPr>
          <a:xfrm>
            <a:off x="10979918" y="1380882"/>
            <a:ext cx="996062" cy="1919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9" b="0" i="0">
                <a:solidFill>
                  <a:srgbClr val="000000"/>
                </a:solidFill>
                <a:latin typeface="Arial"/>
              </a:rPr>
              <a:t>Cover 20 µm</a:t>
            </a:r>
          </a:p>
        </p:txBody>
      </p:sp>
      <p:sp>
        <p:nvSpPr>
          <p:cNvPr id="276" name="polygon 275: plot geometry" descr="sci-ppt:obj-0275"/>
          <p:cNvSpPr/>
          <p:nvPr/>
        </p:nvSpPr>
        <p:spPr>
          <a:xfrm>
            <a:off x="10609176" y="1690900"/>
            <a:ext cx="284410" cy="0"/>
          </a:xfrm>
          <a:custGeom>
            <a:avLst/>
            <a:gdLst/>
            <a:ahLst/>
            <a:cxnLst/>
            <a:rect l="l" t="t" r="r" b="b"/>
            <a:pathLst>
              <a:path w="284410" h="0">
                <a:moveTo>
                  <a:pt x="0" y="0"/>
                </a:moveTo>
                <a:lnTo>
                  <a:pt x="142205" y="0"/>
                </a:lnTo>
                <a:lnTo>
                  <a:pt x="284410" y="0"/>
                </a:lnTo>
              </a:path>
            </a:pathLst>
          </a:custGeom>
          <a:noFill/>
          <a:ln w="23700">
            <a:solidFill>
              <a:srgbClr val="D6272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text 276: Cover 50 µm" descr="sci-ppt:obj-0276"/>
          <p:cNvSpPr txBox="1"/>
          <p:nvPr/>
        </p:nvSpPr>
        <p:spPr>
          <a:xfrm>
            <a:off x="10979918" y="1594201"/>
            <a:ext cx="996062" cy="1919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9" b="0" i="0">
                <a:solidFill>
                  <a:srgbClr val="000000"/>
                </a:solidFill>
                <a:latin typeface="Arial"/>
              </a:rPr>
              <a:t>Cover 50 µm</a:t>
            </a:r>
          </a:p>
        </p:txBody>
      </p:sp>
      <p:sp>
        <p:nvSpPr>
          <p:cNvPr id="278" name="text 277: Slit work comparison only: other energy changes and crack coupling omi" descr="sci-ppt:obj-0277"/>
          <p:cNvSpPr txBox="1"/>
          <p:nvPr/>
        </p:nvSpPr>
        <p:spPr>
          <a:xfrm>
            <a:off x="2723925" y="84206"/>
            <a:ext cx="7661523" cy="2346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68" b="0" i="0">
                <a:solidFill>
                  <a:srgbClr val="000000"/>
                </a:solidFill>
                <a:latin typeface="Arial"/>
              </a:rPr>
              <a:t>Slit work comparison only: other energy changes and crack coupling omitted</a:t>
            </a:r>
          </a:p>
        </p:txBody>
      </p:sp>
      <p:sp>
        <p:nvSpPr>
          <p:cNvPr id="279" name="text 278: * Infinite-host trajectory intersects the initial free-surface plane" descr="sci-ppt:obj-0278"/>
          <p:cNvSpPr txBox="1"/>
          <p:nvPr/>
        </p:nvSpPr>
        <p:spPr>
          <a:xfrm>
            <a:off x="3312707" y="292821"/>
            <a:ext cx="7046249" cy="2346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68" b="0" i="0">
                <a:solidFill>
                  <a:srgbClr val="000000"/>
                </a:solidFill>
                <a:latin typeface="Arial"/>
              </a:rPr>
              <a:t>* Infinite-host trajectory intersects the initial free-surface plane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