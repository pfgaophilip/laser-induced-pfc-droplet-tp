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52337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5233784"/>
          </a:xfrm>
          <a:custGeom>
            <a:avLst/>
            <a:gdLst/>
            <a:ahLst/>
            <a:cxnLst/>
            <a:rect l="l" t="t" r="r" b="b"/>
            <a:pathLst>
              <a:path w="12191695" h="5233784">
                <a:moveTo>
                  <a:pt x="0" y="5233784"/>
                </a:moveTo>
                <a:lnTo>
                  <a:pt x="12191695" y="5233784"/>
                </a:lnTo>
                <a:lnTo>
                  <a:pt x="12191695" y="0"/>
                </a:lnTo>
                <a:lnTo>
                  <a:pt x="0" y="0"/>
                </a:lnTo>
                <a:lnTo>
                  <a:pt x="0" y="52337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758812" y="413804"/>
            <a:ext cx="5078936" cy="4111693"/>
          </a:xfrm>
          <a:custGeom>
            <a:avLst/>
            <a:gdLst/>
            <a:ahLst/>
            <a:cxnLst/>
            <a:rect l="l" t="t" r="r" b="b"/>
            <a:pathLst>
              <a:path w="5078936" h="4111693">
                <a:moveTo>
                  <a:pt x="0" y="4111693"/>
                </a:moveTo>
                <a:lnTo>
                  <a:pt x="5078936" y="4111693"/>
                </a:lnTo>
                <a:lnTo>
                  <a:pt x="5078936" y="0"/>
                </a:lnTo>
                <a:lnTo>
                  <a:pt x="0" y="0"/>
                </a:lnTo>
                <a:lnTo>
                  <a:pt x="0" y="41116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 3: plot geometry" descr="sci-ppt:obj-0003"/>
          <p:cNvCxnSpPr/>
          <p:nvPr/>
        </p:nvCxnSpPr>
        <p:spPr>
          <a:xfrm flipV="1">
            <a:off x="989673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" name="line 4: plot geometry" descr="sci-ppt:obj-0004"/>
          <p:cNvCxnSpPr/>
          <p:nvPr/>
        </p:nvCxnSpPr>
        <p:spPr>
          <a:xfrm>
            <a:off x="989673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6" name="text 5: 0" descr="sci-ppt:obj-0005"/>
          <p:cNvSpPr txBox="1"/>
          <p:nvPr/>
        </p:nvSpPr>
        <p:spPr>
          <a:xfrm>
            <a:off x="903256" y="4605180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7" name="line 6: plot geometry" descr="sci-ppt:obj-0006"/>
          <p:cNvCxnSpPr/>
          <p:nvPr/>
        </p:nvCxnSpPr>
        <p:spPr>
          <a:xfrm flipV="1">
            <a:off x="1670979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" name="line 7: plot geometry" descr="sci-ppt:obj-0007"/>
          <p:cNvCxnSpPr/>
          <p:nvPr/>
        </p:nvCxnSpPr>
        <p:spPr>
          <a:xfrm>
            <a:off x="1670979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9" name="text 8: 5" descr="sci-ppt:obj-0008"/>
          <p:cNvSpPr txBox="1"/>
          <p:nvPr/>
        </p:nvSpPr>
        <p:spPr>
          <a:xfrm>
            <a:off x="1584563" y="4605180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10" name="line 9: plot geometry" descr="sci-ppt:obj-0009"/>
          <p:cNvCxnSpPr/>
          <p:nvPr/>
        </p:nvCxnSpPr>
        <p:spPr>
          <a:xfrm flipV="1">
            <a:off x="2352286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1" name="line 10: plot geometry" descr="sci-ppt:obj-0010"/>
          <p:cNvCxnSpPr/>
          <p:nvPr/>
        </p:nvCxnSpPr>
        <p:spPr>
          <a:xfrm>
            <a:off x="2352286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2" name="text 11: 10" descr="sci-ppt:obj-0011"/>
          <p:cNvSpPr txBox="1"/>
          <p:nvPr/>
        </p:nvSpPr>
        <p:spPr>
          <a:xfrm>
            <a:off x="2206885" y="4605180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13" name="line 12: plot geometry" descr="sci-ppt:obj-0012"/>
          <p:cNvCxnSpPr/>
          <p:nvPr/>
        </p:nvCxnSpPr>
        <p:spPr>
          <a:xfrm flipV="1">
            <a:off x="3033592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4" name="line 13: plot geometry" descr="sci-ppt:obj-0013"/>
          <p:cNvCxnSpPr/>
          <p:nvPr/>
        </p:nvCxnSpPr>
        <p:spPr>
          <a:xfrm>
            <a:off x="3033592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5" name="text 14: 15" descr="sci-ppt:obj-0014"/>
          <p:cNvSpPr txBox="1"/>
          <p:nvPr/>
        </p:nvSpPr>
        <p:spPr>
          <a:xfrm>
            <a:off x="2888192" y="4605180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cxnSp>
        <p:nvCxnSpPr>
          <p:cNvPr id="16" name="line 15: plot geometry" descr="sci-ppt:obj-0015"/>
          <p:cNvCxnSpPr/>
          <p:nvPr/>
        </p:nvCxnSpPr>
        <p:spPr>
          <a:xfrm flipV="1">
            <a:off x="3714899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7" name="line 16: plot geometry" descr="sci-ppt:obj-0016"/>
          <p:cNvCxnSpPr/>
          <p:nvPr/>
        </p:nvCxnSpPr>
        <p:spPr>
          <a:xfrm>
            <a:off x="3714899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8" name="text 17: 20" descr="sci-ppt:obj-0017"/>
          <p:cNvSpPr txBox="1"/>
          <p:nvPr/>
        </p:nvSpPr>
        <p:spPr>
          <a:xfrm>
            <a:off x="3569498" y="4605180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cxnSp>
        <p:nvCxnSpPr>
          <p:cNvPr id="19" name="line 18: plot geometry" descr="sci-ppt:obj-0018"/>
          <p:cNvCxnSpPr/>
          <p:nvPr/>
        </p:nvCxnSpPr>
        <p:spPr>
          <a:xfrm flipV="1">
            <a:off x="4396205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0" name="line 19: plot geometry" descr="sci-ppt:obj-0019"/>
          <p:cNvCxnSpPr/>
          <p:nvPr/>
        </p:nvCxnSpPr>
        <p:spPr>
          <a:xfrm>
            <a:off x="4396205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21" name="text 20: 25" descr="sci-ppt:obj-0020"/>
          <p:cNvSpPr txBox="1"/>
          <p:nvPr/>
        </p:nvSpPr>
        <p:spPr>
          <a:xfrm>
            <a:off x="4250805" y="4605180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cxnSp>
        <p:nvCxnSpPr>
          <p:cNvPr id="22" name="line 21: plot geometry" descr="sci-ppt:obj-0021"/>
          <p:cNvCxnSpPr/>
          <p:nvPr/>
        </p:nvCxnSpPr>
        <p:spPr>
          <a:xfrm flipV="1">
            <a:off x="5077512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3" name="line 22: plot geometry" descr="sci-ppt:obj-0022"/>
          <p:cNvCxnSpPr/>
          <p:nvPr/>
        </p:nvCxnSpPr>
        <p:spPr>
          <a:xfrm>
            <a:off x="5077512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24" name="text 23: 30" descr="sci-ppt:obj-0023"/>
          <p:cNvSpPr txBox="1"/>
          <p:nvPr/>
        </p:nvSpPr>
        <p:spPr>
          <a:xfrm>
            <a:off x="4932112" y="4605180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cxnSp>
        <p:nvCxnSpPr>
          <p:cNvPr id="25" name="line 24: plot geometry" descr="sci-ppt:obj-0024"/>
          <p:cNvCxnSpPr/>
          <p:nvPr/>
        </p:nvCxnSpPr>
        <p:spPr>
          <a:xfrm flipV="1">
            <a:off x="5758818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6" name="line 25: plot geometry" descr="sci-ppt:obj-0025"/>
          <p:cNvCxnSpPr/>
          <p:nvPr/>
        </p:nvCxnSpPr>
        <p:spPr>
          <a:xfrm>
            <a:off x="5758818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27" name="text 26: 35" descr="sci-ppt:obj-0026"/>
          <p:cNvSpPr txBox="1"/>
          <p:nvPr/>
        </p:nvSpPr>
        <p:spPr>
          <a:xfrm>
            <a:off x="5613418" y="4605180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28" name="text 27: Time after initialization (µs)" descr="sci-ppt:obj-0027"/>
          <p:cNvSpPr txBox="1"/>
          <p:nvPr/>
        </p:nvSpPr>
        <p:spPr>
          <a:xfrm>
            <a:off x="1992926" y="4864771"/>
            <a:ext cx="3354941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Time after initialization (µs)</a:t>
            </a:r>
          </a:p>
        </p:txBody>
      </p:sp>
      <p:cxnSp>
        <p:nvCxnSpPr>
          <p:cNvPr id="29" name="line 28: plot geometry" descr="sci-ppt:obj-0028"/>
          <p:cNvCxnSpPr/>
          <p:nvPr/>
        </p:nvCxnSpPr>
        <p:spPr>
          <a:xfrm>
            <a:off x="758812" y="4338602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0" name="line 29: plot geometry" descr="sci-ppt:obj-0029"/>
          <p:cNvCxnSpPr/>
          <p:nvPr/>
        </p:nvCxnSpPr>
        <p:spPr>
          <a:xfrm flipH="1">
            <a:off x="693918" y="4338602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31" name="text 30: 0" descr="sci-ppt:obj-0030"/>
          <p:cNvSpPr txBox="1"/>
          <p:nvPr/>
        </p:nvSpPr>
        <p:spPr>
          <a:xfrm>
            <a:off x="483623" y="4218062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32" name="line 31: plot geometry" descr="sci-ppt:obj-0031"/>
          <p:cNvCxnSpPr/>
          <p:nvPr/>
        </p:nvCxnSpPr>
        <p:spPr>
          <a:xfrm>
            <a:off x="758812" y="3852405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3" name="line 32: plot geometry" descr="sci-ppt:obj-0032"/>
          <p:cNvCxnSpPr/>
          <p:nvPr/>
        </p:nvCxnSpPr>
        <p:spPr>
          <a:xfrm flipH="1">
            <a:off x="693918" y="3852405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34" name="text 33: 2" descr="sci-ppt:obj-0033"/>
          <p:cNvSpPr txBox="1"/>
          <p:nvPr/>
        </p:nvSpPr>
        <p:spPr>
          <a:xfrm>
            <a:off x="483623" y="3731865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35" name="line 34: plot geometry" descr="sci-ppt:obj-0034"/>
          <p:cNvCxnSpPr/>
          <p:nvPr/>
        </p:nvCxnSpPr>
        <p:spPr>
          <a:xfrm>
            <a:off x="758812" y="3366207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6" name="line 35: plot geometry" descr="sci-ppt:obj-0035"/>
          <p:cNvCxnSpPr/>
          <p:nvPr/>
        </p:nvCxnSpPr>
        <p:spPr>
          <a:xfrm flipH="1">
            <a:off x="693918" y="3366207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37" name="text 36: 4" descr="sci-ppt:obj-0036"/>
          <p:cNvSpPr txBox="1"/>
          <p:nvPr/>
        </p:nvSpPr>
        <p:spPr>
          <a:xfrm>
            <a:off x="483623" y="3245668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38" name="line 37: plot geometry" descr="sci-ppt:obj-0037"/>
          <p:cNvCxnSpPr/>
          <p:nvPr/>
        </p:nvCxnSpPr>
        <p:spPr>
          <a:xfrm>
            <a:off x="758812" y="2880010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9" name="line 38: plot geometry" descr="sci-ppt:obj-0038"/>
          <p:cNvCxnSpPr/>
          <p:nvPr/>
        </p:nvCxnSpPr>
        <p:spPr>
          <a:xfrm flipH="1">
            <a:off x="693918" y="2880010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40" name="text 39: 6" descr="sci-ppt:obj-0039"/>
          <p:cNvSpPr txBox="1"/>
          <p:nvPr/>
        </p:nvSpPr>
        <p:spPr>
          <a:xfrm>
            <a:off x="483623" y="2759471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41" name="line 40: plot geometry" descr="sci-ppt:obj-0040"/>
          <p:cNvCxnSpPr/>
          <p:nvPr/>
        </p:nvCxnSpPr>
        <p:spPr>
          <a:xfrm>
            <a:off x="758812" y="2393813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2" name="line 41: plot geometry" descr="sci-ppt:obj-0041"/>
          <p:cNvCxnSpPr/>
          <p:nvPr/>
        </p:nvCxnSpPr>
        <p:spPr>
          <a:xfrm flipH="1">
            <a:off x="693918" y="2393813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43" name="text 42: 8" descr="sci-ppt:obj-0042"/>
          <p:cNvSpPr txBox="1"/>
          <p:nvPr/>
        </p:nvSpPr>
        <p:spPr>
          <a:xfrm>
            <a:off x="483623" y="2273274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cxnSp>
        <p:nvCxnSpPr>
          <p:cNvPr id="44" name="line 43: plot geometry" descr="sci-ppt:obj-0043"/>
          <p:cNvCxnSpPr/>
          <p:nvPr/>
        </p:nvCxnSpPr>
        <p:spPr>
          <a:xfrm>
            <a:off x="758812" y="1907616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5" name="line 44: plot geometry" descr="sci-ppt:obj-0044"/>
          <p:cNvCxnSpPr/>
          <p:nvPr/>
        </p:nvCxnSpPr>
        <p:spPr>
          <a:xfrm flipH="1">
            <a:off x="693918" y="1907616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46" name="text 45: 10" descr="sci-ppt:obj-0045"/>
          <p:cNvSpPr txBox="1"/>
          <p:nvPr/>
        </p:nvSpPr>
        <p:spPr>
          <a:xfrm>
            <a:off x="365655" y="1787077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47" name="line 46: plot geometry" descr="sci-ppt:obj-0046"/>
          <p:cNvCxnSpPr/>
          <p:nvPr/>
        </p:nvCxnSpPr>
        <p:spPr>
          <a:xfrm>
            <a:off x="758812" y="1421419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8" name="line 47: plot geometry" descr="sci-ppt:obj-0047"/>
          <p:cNvCxnSpPr/>
          <p:nvPr/>
        </p:nvCxnSpPr>
        <p:spPr>
          <a:xfrm flipH="1">
            <a:off x="693918" y="1421419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49" name="text 48: 12" descr="sci-ppt:obj-0048"/>
          <p:cNvSpPr txBox="1"/>
          <p:nvPr/>
        </p:nvSpPr>
        <p:spPr>
          <a:xfrm>
            <a:off x="365655" y="1300879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cxnSp>
        <p:nvCxnSpPr>
          <p:cNvPr id="50" name="line 49: plot geometry" descr="sci-ppt:obj-0049"/>
          <p:cNvCxnSpPr/>
          <p:nvPr/>
        </p:nvCxnSpPr>
        <p:spPr>
          <a:xfrm>
            <a:off x="758812" y="935222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1" name="line 50: plot geometry" descr="sci-ppt:obj-0050"/>
          <p:cNvCxnSpPr/>
          <p:nvPr/>
        </p:nvCxnSpPr>
        <p:spPr>
          <a:xfrm flipH="1">
            <a:off x="693918" y="935222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52" name="text 51: 14" descr="sci-ppt:obj-0051"/>
          <p:cNvSpPr txBox="1"/>
          <p:nvPr/>
        </p:nvSpPr>
        <p:spPr>
          <a:xfrm>
            <a:off x="365655" y="814682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cxnSp>
        <p:nvCxnSpPr>
          <p:cNvPr id="53" name="line 52: plot geometry" descr="sci-ppt:obj-0052"/>
          <p:cNvCxnSpPr/>
          <p:nvPr/>
        </p:nvCxnSpPr>
        <p:spPr>
          <a:xfrm>
            <a:off x="758812" y="449025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4" name="line 53: plot geometry" descr="sci-ppt:obj-0053"/>
          <p:cNvCxnSpPr/>
          <p:nvPr/>
        </p:nvCxnSpPr>
        <p:spPr>
          <a:xfrm flipH="1">
            <a:off x="693918" y="449025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55" name="text 54: 16" descr="sci-ppt:obj-0054"/>
          <p:cNvSpPr txBox="1"/>
          <p:nvPr/>
        </p:nvSpPr>
        <p:spPr>
          <a:xfrm>
            <a:off x="365655" y="328485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56" name="text 55: Outlet speed (m/s)" descr="sci-ppt:obj-0055"/>
          <p:cNvSpPr txBox="1"/>
          <p:nvPr/>
        </p:nvSpPr>
        <p:spPr>
          <a:xfrm rot="16200000">
            <a:off x="-812799" y="2344497"/>
            <a:ext cx="1999145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Outlet speed (m/s)</a:t>
            </a:r>
          </a:p>
        </p:txBody>
      </p:sp>
      <p:sp>
        <p:nvSpPr>
          <p:cNvPr id="57" name="polygon 56: plot geometry" descr="sci-ppt:obj-0056"/>
          <p:cNvSpPr/>
          <p:nvPr/>
        </p:nvSpPr>
        <p:spPr>
          <a:xfrm>
            <a:off x="989673" y="600702"/>
            <a:ext cx="4617214" cy="3737900"/>
          </a:xfrm>
          <a:custGeom>
            <a:avLst/>
            <a:gdLst/>
            <a:ahLst/>
            <a:cxnLst/>
            <a:rect l="l" t="t" r="r" b="b"/>
            <a:pathLst>
              <a:path w="4617214" h="3737900">
                <a:moveTo>
                  <a:pt x="0" y="3737900"/>
                </a:moveTo>
                <a:lnTo>
                  <a:pt x="113778" y="2738102"/>
                </a:lnTo>
                <a:lnTo>
                  <a:pt x="174823" y="2238771"/>
                </a:lnTo>
                <a:lnTo>
                  <a:pt x="226193" y="1851499"/>
                </a:lnTo>
                <a:lnTo>
                  <a:pt x="272250" y="1534768"/>
                </a:lnTo>
                <a:lnTo>
                  <a:pt x="314763" y="1270312"/>
                </a:lnTo>
                <a:lnTo>
                  <a:pt x="354552" y="1048054"/>
                </a:lnTo>
                <a:lnTo>
                  <a:pt x="392296" y="859965"/>
                </a:lnTo>
                <a:lnTo>
                  <a:pt x="428269" y="701055"/>
                </a:lnTo>
                <a:lnTo>
                  <a:pt x="462743" y="566882"/>
                </a:lnTo>
                <a:lnTo>
                  <a:pt x="495991" y="453615"/>
                </a:lnTo>
                <a:lnTo>
                  <a:pt x="528012" y="358783"/>
                </a:lnTo>
                <a:lnTo>
                  <a:pt x="558944" y="279738"/>
                </a:lnTo>
                <a:lnTo>
                  <a:pt x="588785" y="214479"/>
                </a:lnTo>
                <a:lnTo>
                  <a:pt x="617672" y="160947"/>
                </a:lnTo>
                <a:lnTo>
                  <a:pt x="645606" y="117605"/>
                </a:lnTo>
                <a:lnTo>
                  <a:pt x="672722" y="82914"/>
                </a:lnTo>
                <a:lnTo>
                  <a:pt x="699156" y="55606"/>
                </a:lnTo>
                <a:lnTo>
                  <a:pt x="725046" y="34649"/>
                </a:lnTo>
                <a:lnTo>
                  <a:pt x="750663" y="19138"/>
                </a:lnTo>
                <a:lnTo>
                  <a:pt x="776144" y="8481"/>
                </a:lnTo>
                <a:lnTo>
                  <a:pt x="801761" y="2198"/>
                </a:lnTo>
                <a:lnTo>
                  <a:pt x="828060" y="0"/>
                </a:lnTo>
                <a:lnTo>
                  <a:pt x="855312" y="1888"/>
                </a:lnTo>
                <a:lnTo>
                  <a:pt x="884063" y="8066"/>
                </a:lnTo>
                <a:lnTo>
                  <a:pt x="914858" y="18990"/>
                </a:lnTo>
                <a:lnTo>
                  <a:pt x="948106" y="35258"/>
                </a:lnTo>
                <a:lnTo>
                  <a:pt x="984488" y="57762"/>
                </a:lnTo>
                <a:lnTo>
                  <a:pt x="1024821" y="87702"/>
                </a:lnTo>
                <a:lnTo>
                  <a:pt x="1069923" y="126472"/>
                </a:lnTo>
                <a:lnTo>
                  <a:pt x="1121158" y="176126"/>
                </a:lnTo>
                <a:lnTo>
                  <a:pt x="1180431" y="239518"/>
                </a:lnTo>
                <a:lnTo>
                  <a:pt x="1251015" y="321293"/>
                </a:lnTo>
                <a:lnTo>
                  <a:pt x="1339312" y="430233"/>
                </a:lnTo>
                <a:lnTo>
                  <a:pt x="1463991" y="591187"/>
                </a:lnTo>
                <a:lnTo>
                  <a:pt x="1877680" y="1129597"/>
                </a:lnTo>
                <a:lnTo>
                  <a:pt x="2027840" y="1315835"/>
                </a:lnTo>
                <a:lnTo>
                  <a:pt x="2171187" y="1487098"/>
                </a:lnTo>
                <a:lnTo>
                  <a:pt x="2313308" y="1650492"/>
                </a:lnTo>
                <a:lnTo>
                  <a:pt x="2457064" y="1809485"/>
                </a:lnTo>
                <a:lnTo>
                  <a:pt x="2604226" y="1966090"/>
                </a:lnTo>
                <a:lnTo>
                  <a:pt x="2756566" y="2122168"/>
                </a:lnTo>
                <a:lnTo>
                  <a:pt x="2915719" y="2279295"/>
                </a:lnTo>
                <a:lnTo>
                  <a:pt x="3083457" y="2439062"/>
                </a:lnTo>
                <a:lnTo>
                  <a:pt x="3261959" y="2603342"/>
                </a:lnTo>
                <a:lnTo>
                  <a:pt x="3454496" y="2774874"/>
                </a:lnTo>
                <a:lnTo>
                  <a:pt x="3665974" y="2957672"/>
                </a:lnTo>
                <a:lnTo>
                  <a:pt x="3905112" y="3158804"/>
                </a:lnTo>
                <a:lnTo>
                  <a:pt x="4192079" y="3394559"/>
                </a:lnTo>
                <a:lnTo>
                  <a:pt x="4617214" y="3737858"/>
                </a:lnTo>
                <a:lnTo>
                  <a:pt x="4617214" y="3737858"/>
                </a:lnTo>
              </a:path>
            </a:pathLst>
          </a:custGeom>
          <a:noFill/>
          <a:ln w="27811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olygon 57: plot geometry" descr="sci-ppt:obj-0057"/>
          <p:cNvSpPr/>
          <p:nvPr/>
        </p:nvSpPr>
        <p:spPr>
          <a:xfrm>
            <a:off x="989673" y="3943519"/>
            <a:ext cx="263938" cy="395083"/>
          </a:xfrm>
          <a:custGeom>
            <a:avLst/>
            <a:gdLst/>
            <a:ahLst/>
            <a:cxnLst/>
            <a:rect l="l" t="t" r="r" b="b"/>
            <a:pathLst>
              <a:path w="263938" h="395083">
                <a:moveTo>
                  <a:pt x="0" y="395083"/>
                </a:moveTo>
                <a:lnTo>
                  <a:pt x="25208" y="187884"/>
                </a:lnTo>
                <a:lnTo>
                  <a:pt x="39515" y="103489"/>
                </a:lnTo>
                <a:lnTo>
                  <a:pt x="51915" y="53242"/>
                </a:lnTo>
                <a:lnTo>
                  <a:pt x="62952" y="24206"/>
                </a:lnTo>
                <a:lnTo>
                  <a:pt x="72899" y="8565"/>
                </a:lnTo>
                <a:lnTo>
                  <a:pt x="81893" y="1519"/>
                </a:lnTo>
                <a:lnTo>
                  <a:pt x="90205" y="0"/>
                </a:lnTo>
                <a:lnTo>
                  <a:pt x="98925" y="2734"/>
                </a:lnTo>
                <a:lnTo>
                  <a:pt x="109009" y="10506"/>
                </a:lnTo>
                <a:lnTo>
                  <a:pt x="121545" y="25795"/>
                </a:lnTo>
                <a:lnTo>
                  <a:pt x="137351" y="52065"/>
                </a:lnTo>
                <a:lnTo>
                  <a:pt x="157654" y="94375"/>
                </a:lnTo>
                <a:lnTo>
                  <a:pt x="184089" y="159655"/>
                </a:lnTo>
                <a:lnTo>
                  <a:pt x="219380" y="258568"/>
                </a:lnTo>
                <a:lnTo>
                  <a:pt x="263938" y="394899"/>
                </a:lnTo>
                <a:lnTo>
                  <a:pt x="263938" y="394899"/>
                </a:lnTo>
              </a:path>
            </a:pathLst>
          </a:custGeom>
          <a:noFill/>
          <a:ln w="27811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olygon 58: plot geometry" descr="sci-ppt:obj-0058"/>
          <p:cNvSpPr/>
          <p:nvPr/>
        </p:nvSpPr>
        <p:spPr>
          <a:xfrm>
            <a:off x="989673" y="4338602"/>
            <a:ext cx="333976" cy="0"/>
          </a:xfrm>
          <a:custGeom>
            <a:avLst/>
            <a:gdLst/>
            <a:ahLst/>
            <a:cxnLst/>
            <a:rect l="l" t="t" r="r" b="b"/>
            <a:pathLst>
              <a:path w="333976" h="0">
                <a:moveTo>
                  <a:pt x="0" y="0"/>
                </a:moveTo>
                <a:lnTo>
                  <a:pt x="333976" y="0"/>
                </a:lnTo>
                <a:lnTo>
                  <a:pt x="333976" y="0"/>
                </a:lnTo>
              </a:path>
            </a:pathLst>
          </a:custGeom>
          <a:noFill/>
          <a:ln w="27811">
            <a:solidFill>
              <a:srgbClr val="7575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0" name="line 59: plot geometry" descr="sci-ppt:obj-0059"/>
          <p:cNvCxnSpPr/>
          <p:nvPr/>
        </p:nvCxnSpPr>
        <p:spPr>
          <a:xfrm flipV="1">
            <a:off x="758812" y="413804"/>
            <a:ext cx="0" cy="4111693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cxnSp>
        <p:nvCxnSpPr>
          <p:cNvPr id="61" name="line 60: plot geometry" descr="sci-ppt:obj-0060"/>
          <p:cNvCxnSpPr/>
          <p:nvPr/>
        </p:nvCxnSpPr>
        <p:spPr>
          <a:xfrm>
            <a:off x="758812" y="4525497"/>
            <a:ext cx="5078936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62" name="text 61: First outward ejection" descr="sci-ppt:obj-0061"/>
          <p:cNvSpPr txBox="1"/>
          <p:nvPr/>
        </p:nvSpPr>
        <p:spPr>
          <a:xfrm>
            <a:off x="2068232" y="73388"/>
            <a:ext cx="2961126" cy="3003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51" b="0" i="0">
                <a:solidFill>
                  <a:srgbClr val="000000"/>
                </a:solidFill>
                <a:latin typeface="Arial"/>
              </a:rPr>
              <a:t>First outward ejection</a:t>
            </a:r>
          </a:p>
        </p:txBody>
      </p:sp>
      <p:sp>
        <p:nvSpPr>
          <p:cNvPr id="63" name="polygon 62: plot geometry" descr="sci-ppt:obj-0062"/>
          <p:cNvSpPr/>
          <p:nvPr/>
        </p:nvSpPr>
        <p:spPr>
          <a:xfrm>
            <a:off x="3674035" y="632378"/>
            <a:ext cx="333741" cy="0"/>
          </a:xfrm>
          <a:custGeom>
            <a:avLst/>
            <a:gdLst/>
            <a:ahLst/>
            <a:cxnLst/>
            <a:rect l="l" t="t" r="r" b="b"/>
            <a:pathLst>
              <a:path w="333741" h="0">
                <a:moveTo>
                  <a:pt x="0" y="0"/>
                </a:moveTo>
                <a:lnTo>
                  <a:pt x="166871" y="0"/>
                </a:lnTo>
                <a:lnTo>
                  <a:pt x="333741" y="0"/>
                </a:lnTo>
              </a:path>
            </a:pathLst>
          </a:custGeom>
          <a:noFill/>
          <a:ln w="27811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 63: Rigid chamber" descr="sci-ppt:obj-0063"/>
          <p:cNvSpPr txBox="1"/>
          <p:nvPr/>
        </p:nvSpPr>
        <p:spPr>
          <a:xfrm>
            <a:off x="4113841" y="518906"/>
            <a:ext cx="1353049" cy="2252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13" b="0" i="0">
                <a:solidFill>
                  <a:srgbClr val="000000"/>
                </a:solidFill>
                <a:latin typeface="Arial"/>
              </a:rPr>
              <a:t>Rigid chamber</a:t>
            </a:r>
          </a:p>
        </p:txBody>
      </p:sp>
      <p:sp>
        <p:nvSpPr>
          <p:cNvPr id="65" name="polygon 64: plot geometry" descr="sci-ppt:obj-0064"/>
          <p:cNvSpPr/>
          <p:nvPr/>
        </p:nvSpPr>
        <p:spPr>
          <a:xfrm>
            <a:off x="3674035" y="882697"/>
            <a:ext cx="333741" cy="0"/>
          </a:xfrm>
          <a:custGeom>
            <a:avLst/>
            <a:gdLst/>
            <a:ahLst/>
            <a:cxnLst/>
            <a:rect l="l" t="t" r="r" b="b"/>
            <a:pathLst>
              <a:path w="333741" h="0">
                <a:moveTo>
                  <a:pt x="0" y="0"/>
                </a:moveTo>
                <a:lnTo>
                  <a:pt x="166871" y="0"/>
                </a:lnTo>
                <a:lnTo>
                  <a:pt x="333741" y="0"/>
                </a:lnTo>
              </a:path>
            </a:pathLst>
          </a:custGeom>
          <a:noFill/>
          <a:ln w="27811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 65: Open gel chamber" descr="sci-ppt:obj-0065"/>
          <p:cNvSpPr txBox="1"/>
          <p:nvPr/>
        </p:nvSpPr>
        <p:spPr>
          <a:xfrm>
            <a:off x="4113841" y="769225"/>
            <a:ext cx="1648410" cy="2252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13" b="0" i="0">
                <a:solidFill>
                  <a:srgbClr val="000000"/>
                </a:solidFill>
                <a:latin typeface="Arial"/>
              </a:rPr>
              <a:t>Open gel chamber</a:t>
            </a:r>
          </a:p>
        </p:txBody>
      </p:sp>
      <p:sp>
        <p:nvSpPr>
          <p:cNvPr id="67" name="polygon 66: plot geometry" descr="sci-ppt:obj-0066"/>
          <p:cNvSpPr/>
          <p:nvPr/>
        </p:nvSpPr>
        <p:spPr>
          <a:xfrm>
            <a:off x="3674035" y="1133016"/>
            <a:ext cx="333741" cy="0"/>
          </a:xfrm>
          <a:custGeom>
            <a:avLst/>
            <a:gdLst/>
            <a:ahLst/>
            <a:cxnLst/>
            <a:rect l="l" t="t" r="r" b="b"/>
            <a:pathLst>
              <a:path w="333741" h="0">
                <a:moveTo>
                  <a:pt x="0" y="0"/>
                </a:moveTo>
                <a:lnTo>
                  <a:pt x="166871" y="0"/>
                </a:lnTo>
                <a:lnTo>
                  <a:pt x="333741" y="0"/>
                </a:lnTo>
              </a:path>
            </a:pathLst>
          </a:custGeom>
          <a:noFill/>
          <a:ln w="27811">
            <a:solidFill>
              <a:srgbClr val="7575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 67: Sealed gel control" descr="sci-ppt:obj-0067"/>
          <p:cNvSpPr txBox="1"/>
          <p:nvPr/>
        </p:nvSpPr>
        <p:spPr>
          <a:xfrm>
            <a:off x="4113841" y="1019544"/>
            <a:ext cx="1845318" cy="2252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13" b="0" i="0">
                <a:solidFill>
                  <a:srgbClr val="000000"/>
                </a:solidFill>
                <a:latin typeface="Arial"/>
              </a:rPr>
              <a:t>Sealed gel control</a:t>
            </a:r>
          </a:p>
        </p:txBody>
      </p:sp>
      <p:sp>
        <p:nvSpPr>
          <p:cNvPr id="69" name="polygon 68: plot geometry" descr="sci-ppt:obj-0068"/>
          <p:cNvSpPr/>
          <p:nvPr/>
        </p:nvSpPr>
        <p:spPr>
          <a:xfrm>
            <a:off x="6853535" y="413804"/>
            <a:ext cx="5078936" cy="4111693"/>
          </a:xfrm>
          <a:custGeom>
            <a:avLst/>
            <a:gdLst/>
            <a:ahLst/>
            <a:cxnLst/>
            <a:rect l="l" t="t" r="r" b="b"/>
            <a:pathLst>
              <a:path w="5078936" h="4111693">
                <a:moveTo>
                  <a:pt x="0" y="4111693"/>
                </a:moveTo>
                <a:lnTo>
                  <a:pt x="5078936" y="4111693"/>
                </a:lnTo>
                <a:lnTo>
                  <a:pt x="5078936" y="0"/>
                </a:lnTo>
                <a:lnTo>
                  <a:pt x="0" y="0"/>
                </a:lnTo>
                <a:lnTo>
                  <a:pt x="0" y="41116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" name="line 69: plot geometry" descr="sci-ppt:obj-0069"/>
          <p:cNvCxnSpPr/>
          <p:nvPr/>
        </p:nvCxnSpPr>
        <p:spPr>
          <a:xfrm flipV="1">
            <a:off x="7084396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1" name="line 70: plot geometry" descr="sci-ppt:obj-0070"/>
          <p:cNvCxnSpPr/>
          <p:nvPr/>
        </p:nvCxnSpPr>
        <p:spPr>
          <a:xfrm>
            <a:off x="7084396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72" name="text 71: 0.00" descr="sci-ppt:obj-0071"/>
          <p:cNvSpPr txBox="1"/>
          <p:nvPr/>
        </p:nvSpPr>
        <p:spPr>
          <a:xfrm>
            <a:off x="6850548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cxnSp>
        <p:nvCxnSpPr>
          <p:cNvPr id="73" name="line 72: plot geometry" descr="sci-ppt:obj-0072"/>
          <p:cNvCxnSpPr/>
          <p:nvPr/>
        </p:nvCxnSpPr>
        <p:spPr>
          <a:xfrm flipV="1">
            <a:off x="7680319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4" name="line 73: plot geometry" descr="sci-ppt:obj-0073"/>
          <p:cNvCxnSpPr/>
          <p:nvPr/>
        </p:nvCxnSpPr>
        <p:spPr>
          <a:xfrm>
            <a:off x="7680319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75" name="text 74: 0.25" descr="sci-ppt:obj-0074"/>
          <p:cNvSpPr txBox="1"/>
          <p:nvPr/>
        </p:nvSpPr>
        <p:spPr>
          <a:xfrm>
            <a:off x="7446471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cxnSp>
        <p:nvCxnSpPr>
          <p:cNvPr id="76" name="line 75: plot geometry" descr="sci-ppt:obj-0075"/>
          <p:cNvCxnSpPr/>
          <p:nvPr/>
        </p:nvCxnSpPr>
        <p:spPr>
          <a:xfrm flipV="1">
            <a:off x="8276242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7" name="line 76: plot geometry" descr="sci-ppt:obj-0076"/>
          <p:cNvCxnSpPr/>
          <p:nvPr/>
        </p:nvCxnSpPr>
        <p:spPr>
          <a:xfrm>
            <a:off x="8276242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78" name="text 77: 0.50" descr="sci-ppt:obj-0077"/>
          <p:cNvSpPr txBox="1"/>
          <p:nvPr/>
        </p:nvSpPr>
        <p:spPr>
          <a:xfrm>
            <a:off x="8042395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0.50</a:t>
            </a:r>
          </a:p>
        </p:txBody>
      </p:sp>
      <p:cxnSp>
        <p:nvCxnSpPr>
          <p:cNvPr id="79" name="line 78: plot geometry" descr="sci-ppt:obj-0078"/>
          <p:cNvCxnSpPr/>
          <p:nvPr/>
        </p:nvCxnSpPr>
        <p:spPr>
          <a:xfrm flipV="1">
            <a:off x="8872166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0" name="line 79: plot geometry" descr="sci-ppt:obj-0079"/>
          <p:cNvCxnSpPr/>
          <p:nvPr/>
        </p:nvCxnSpPr>
        <p:spPr>
          <a:xfrm>
            <a:off x="8872166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81" name="text 80: 0.75" descr="sci-ppt:obj-0080"/>
          <p:cNvSpPr txBox="1"/>
          <p:nvPr/>
        </p:nvSpPr>
        <p:spPr>
          <a:xfrm>
            <a:off x="8638318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0.75</a:t>
            </a:r>
          </a:p>
        </p:txBody>
      </p:sp>
      <p:cxnSp>
        <p:nvCxnSpPr>
          <p:cNvPr id="82" name="line 81: plot geometry" descr="sci-ppt:obj-0081"/>
          <p:cNvCxnSpPr/>
          <p:nvPr/>
        </p:nvCxnSpPr>
        <p:spPr>
          <a:xfrm flipV="1">
            <a:off x="9468089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3" name="line 82: plot geometry" descr="sci-ppt:obj-0082"/>
          <p:cNvCxnSpPr/>
          <p:nvPr/>
        </p:nvCxnSpPr>
        <p:spPr>
          <a:xfrm>
            <a:off x="9468089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84" name="text 83: 1.00" descr="sci-ppt:obj-0083"/>
          <p:cNvSpPr txBox="1"/>
          <p:nvPr/>
        </p:nvSpPr>
        <p:spPr>
          <a:xfrm>
            <a:off x="9234242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cxnSp>
        <p:nvCxnSpPr>
          <p:cNvPr id="85" name="line 84: plot geometry" descr="sci-ppt:obj-0084"/>
          <p:cNvCxnSpPr/>
          <p:nvPr/>
        </p:nvCxnSpPr>
        <p:spPr>
          <a:xfrm flipV="1">
            <a:off x="10064013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6" name="line 85: plot geometry" descr="sci-ppt:obj-0085"/>
          <p:cNvCxnSpPr/>
          <p:nvPr/>
        </p:nvCxnSpPr>
        <p:spPr>
          <a:xfrm>
            <a:off x="10064013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87" name="text 86: 1.25" descr="sci-ppt:obj-0086"/>
          <p:cNvSpPr txBox="1"/>
          <p:nvPr/>
        </p:nvSpPr>
        <p:spPr>
          <a:xfrm>
            <a:off x="9830165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1.25</a:t>
            </a:r>
          </a:p>
        </p:txBody>
      </p:sp>
      <p:cxnSp>
        <p:nvCxnSpPr>
          <p:cNvPr id="88" name="line 87: plot geometry" descr="sci-ppt:obj-0087"/>
          <p:cNvCxnSpPr/>
          <p:nvPr/>
        </p:nvCxnSpPr>
        <p:spPr>
          <a:xfrm flipV="1">
            <a:off x="10659936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9" name="line 88: plot geometry" descr="sci-ppt:obj-0088"/>
          <p:cNvCxnSpPr/>
          <p:nvPr/>
        </p:nvCxnSpPr>
        <p:spPr>
          <a:xfrm>
            <a:off x="10659936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90" name="text 89: 1.50" descr="sci-ppt:obj-0089"/>
          <p:cNvSpPr txBox="1"/>
          <p:nvPr/>
        </p:nvSpPr>
        <p:spPr>
          <a:xfrm>
            <a:off x="10426088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1.50</a:t>
            </a:r>
          </a:p>
        </p:txBody>
      </p:sp>
      <p:cxnSp>
        <p:nvCxnSpPr>
          <p:cNvPr id="91" name="line 90: plot geometry" descr="sci-ppt:obj-0090"/>
          <p:cNvCxnSpPr/>
          <p:nvPr/>
        </p:nvCxnSpPr>
        <p:spPr>
          <a:xfrm flipV="1">
            <a:off x="11255859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2" name="line 91: plot geometry" descr="sci-ppt:obj-0091"/>
          <p:cNvCxnSpPr/>
          <p:nvPr/>
        </p:nvCxnSpPr>
        <p:spPr>
          <a:xfrm>
            <a:off x="11255859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93" name="text 92: 1.75" descr="sci-ppt:obj-0092"/>
          <p:cNvSpPr txBox="1"/>
          <p:nvPr/>
        </p:nvSpPr>
        <p:spPr>
          <a:xfrm>
            <a:off x="11022012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1.75</a:t>
            </a:r>
          </a:p>
        </p:txBody>
      </p:sp>
      <p:cxnSp>
        <p:nvCxnSpPr>
          <p:cNvPr id="94" name="line 93: plot geometry" descr="sci-ppt:obj-0093"/>
          <p:cNvCxnSpPr/>
          <p:nvPr/>
        </p:nvCxnSpPr>
        <p:spPr>
          <a:xfrm flipV="1">
            <a:off x="11851783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5" name="line 94: plot geometry" descr="sci-ppt:obj-0094"/>
          <p:cNvCxnSpPr/>
          <p:nvPr/>
        </p:nvCxnSpPr>
        <p:spPr>
          <a:xfrm>
            <a:off x="11851783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96" name="text 95: 2.00" descr="sci-ppt:obj-0095"/>
          <p:cNvSpPr txBox="1"/>
          <p:nvPr/>
        </p:nvSpPr>
        <p:spPr>
          <a:xfrm>
            <a:off x="11617935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2.00</a:t>
            </a:r>
          </a:p>
        </p:txBody>
      </p:sp>
      <p:sp>
        <p:nvSpPr>
          <p:cNvPr id="97" name="text 96: Time after initialization (µs)" descr="sci-ppt:obj-0096"/>
          <p:cNvSpPr txBox="1"/>
          <p:nvPr/>
        </p:nvSpPr>
        <p:spPr>
          <a:xfrm>
            <a:off x="8087649" y="4864771"/>
            <a:ext cx="3354941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Time after initialization (µs)</a:t>
            </a:r>
          </a:p>
        </p:txBody>
      </p:sp>
      <p:cxnSp>
        <p:nvCxnSpPr>
          <p:cNvPr id="98" name="line 97: plot geometry" descr="sci-ppt:obj-0097"/>
          <p:cNvCxnSpPr/>
          <p:nvPr/>
        </p:nvCxnSpPr>
        <p:spPr>
          <a:xfrm>
            <a:off x="6853535" y="4338602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9" name="line 98: plot geometry" descr="sci-ppt:obj-0098"/>
          <p:cNvCxnSpPr/>
          <p:nvPr/>
        </p:nvCxnSpPr>
        <p:spPr>
          <a:xfrm flipH="1">
            <a:off x="6788641" y="4338602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00" name="text 99: 0" descr="sci-ppt:obj-0099"/>
          <p:cNvSpPr txBox="1"/>
          <p:nvPr/>
        </p:nvSpPr>
        <p:spPr>
          <a:xfrm>
            <a:off x="6578346" y="4218062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101" name="line 100: plot geometry" descr="sci-ppt:obj-0100"/>
          <p:cNvCxnSpPr/>
          <p:nvPr/>
        </p:nvCxnSpPr>
        <p:spPr>
          <a:xfrm>
            <a:off x="6853535" y="3623398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02" name="line 101: plot geometry" descr="sci-ppt:obj-0101"/>
          <p:cNvCxnSpPr/>
          <p:nvPr/>
        </p:nvCxnSpPr>
        <p:spPr>
          <a:xfrm flipH="1">
            <a:off x="6788641" y="3623398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03" name="text 102: 2" descr="sci-ppt:obj-0102"/>
          <p:cNvSpPr txBox="1"/>
          <p:nvPr/>
        </p:nvSpPr>
        <p:spPr>
          <a:xfrm>
            <a:off x="6578346" y="3502859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04" name="line 103: plot geometry" descr="sci-ppt:obj-0103"/>
          <p:cNvCxnSpPr/>
          <p:nvPr/>
        </p:nvCxnSpPr>
        <p:spPr>
          <a:xfrm>
            <a:off x="6853535" y="2908195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05" name="line 104: plot geometry" descr="sci-ppt:obj-0104"/>
          <p:cNvCxnSpPr/>
          <p:nvPr/>
        </p:nvCxnSpPr>
        <p:spPr>
          <a:xfrm flipH="1">
            <a:off x="6788641" y="2908195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06" name="text 105: 4" descr="sci-ppt:obj-0105"/>
          <p:cNvSpPr txBox="1"/>
          <p:nvPr/>
        </p:nvSpPr>
        <p:spPr>
          <a:xfrm>
            <a:off x="6578346" y="2787656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107" name="line 106: plot geometry" descr="sci-ppt:obj-0106"/>
          <p:cNvCxnSpPr/>
          <p:nvPr/>
        </p:nvCxnSpPr>
        <p:spPr>
          <a:xfrm>
            <a:off x="6853535" y="2192992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08" name="line 107: plot geometry" descr="sci-ppt:obj-0107"/>
          <p:cNvCxnSpPr/>
          <p:nvPr/>
        </p:nvCxnSpPr>
        <p:spPr>
          <a:xfrm flipH="1">
            <a:off x="6788641" y="2192992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09" name="text 108: 6" descr="sci-ppt:obj-0108"/>
          <p:cNvSpPr txBox="1"/>
          <p:nvPr/>
        </p:nvSpPr>
        <p:spPr>
          <a:xfrm>
            <a:off x="6578346" y="2072452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110" name="line 109: plot geometry" descr="sci-ppt:obj-0109"/>
          <p:cNvCxnSpPr/>
          <p:nvPr/>
        </p:nvCxnSpPr>
        <p:spPr>
          <a:xfrm>
            <a:off x="6853535" y="1477788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11" name="line 110: plot geometry" descr="sci-ppt:obj-0110"/>
          <p:cNvCxnSpPr/>
          <p:nvPr/>
        </p:nvCxnSpPr>
        <p:spPr>
          <a:xfrm flipH="1">
            <a:off x="6788641" y="1477788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12" name="text 111: 8" descr="sci-ppt:obj-0111"/>
          <p:cNvSpPr txBox="1"/>
          <p:nvPr/>
        </p:nvSpPr>
        <p:spPr>
          <a:xfrm>
            <a:off x="6578346" y="1357249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cxnSp>
        <p:nvCxnSpPr>
          <p:cNvPr id="113" name="line 112: plot geometry" descr="sci-ppt:obj-0112"/>
          <p:cNvCxnSpPr/>
          <p:nvPr/>
        </p:nvCxnSpPr>
        <p:spPr>
          <a:xfrm>
            <a:off x="6853535" y="762585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14" name="line 113: plot geometry" descr="sci-ppt:obj-0113"/>
          <p:cNvCxnSpPr/>
          <p:nvPr/>
        </p:nvCxnSpPr>
        <p:spPr>
          <a:xfrm flipH="1">
            <a:off x="6788641" y="762585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15" name="text 114: 10" descr="sci-ppt:obj-0114"/>
          <p:cNvSpPr txBox="1"/>
          <p:nvPr/>
        </p:nvSpPr>
        <p:spPr>
          <a:xfrm>
            <a:off x="6460378" y="642046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16" name="text 115: Pressure scale (kPa)" descr="sci-ppt:obj-0115"/>
          <p:cNvSpPr txBox="1"/>
          <p:nvPr/>
        </p:nvSpPr>
        <p:spPr>
          <a:xfrm rot="16200000">
            <a:off x="5214322" y="2344497"/>
            <a:ext cx="2134348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Pressure scale (kPa)</a:t>
            </a:r>
          </a:p>
        </p:txBody>
      </p:sp>
      <p:sp>
        <p:nvSpPr>
          <p:cNvPr id="117" name="polygon 116: plot geometry" descr="sci-ppt:obj-0116"/>
          <p:cNvSpPr/>
          <p:nvPr/>
        </p:nvSpPr>
        <p:spPr>
          <a:xfrm>
            <a:off x="7084396" y="1069045"/>
            <a:ext cx="4617214" cy="3269557"/>
          </a:xfrm>
          <a:custGeom>
            <a:avLst/>
            <a:gdLst/>
            <a:ahLst/>
            <a:cxnLst/>
            <a:rect l="l" t="t" r="r" b="b"/>
            <a:pathLst>
              <a:path w="4617214" h="3269557">
                <a:moveTo>
                  <a:pt x="0" y="3269557"/>
                </a:moveTo>
                <a:lnTo>
                  <a:pt x="52441" y="3267408"/>
                </a:lnTo>
                <a:lnTo>
                  <a:pt x="104882" y="3260984"/>
                </a:lnTo>
                <a:lnTo>
                  <a:pt x="157323" y="3250347"/>
                </a:lnTo>
                <a:lnTo>
                  <a:pt x="209765" y="3235595"/>
                </a:lnTo>
                <a:lnTo>
                  <a:pt x="264590" y="3215914"/>
                </a:lnTo>
                <a:lnTo>
                  <a:pt x="321798" y="3190935"/>
                </a:lnTo>
                <a:lnTo>
                  <a:pt x="381391" y="3160348"/>
                </a:lnTo>
                <a:lnTo>
                  <a:pt x="443367" y="3123918"/>
                </a:lnTo>
                <a:lnTo>
                  <a:pt x="510110" y="3079834"/>
                </a:lnTo>
                <a:lnTo>
                  <a:pt x="581621" y="3027552"/>
                </a:lnTo>
                <a:lnTo>
                  <a:pt x="660283" y="2964702"/>
                </a:lnTo>
                <a:lnTo>
                  <a:pt x="746096" y="2890654"/>
                </a:lnTo>
                <a:lnTo>
                  <a:pt x="841443" y="2802814"/>
                </a:lnTo>
                <a:lnTo>
                  <a:pt x="953477" y="2693736"/>
                </a:lnTo>
                <a:lnTo>
                  <a:pt x="1089348" y="2555394"/>
                </a:lnTo>
                <a:lnTo>
                  <a:pt x="1284810" y="2349838"/>
                </a:lnTo>
                <a:lnTo>
                  <a:pt x="1699573" y="1912493"/>
                </a:lnTo>
                <a:lnTo>
                  <a:pt x="1880734" y="1728374"/>
                </a:lnTo>
                <a:lnTo>
                  <a:pt x="2042825" y="1569481"/>
                </a:lnTo>
                <a:lnTo>
                  <a:pt x="2192998" y="1427946"/>
                </a:lnTo>
                <a:lnTo>
                  <a:pt x="2338403" y="1296534"/>
                </a:lnTo>
                <a:lnTo>
                  <a:pt x="2479041" y="1174949"/>
                </a:lnTo>
                <a:lnTo>
                  <a:pt x="2617295" y="1060856"/>
                </a:lnTo>
                <a:lnTo>
                  <a:pt x="2753166" y="954047"/>
                </a:lnTo>
                <a:lnTo>
                  <a:pt x="2886652" y="854268"/>
                </a:lnTo>
                <a:lnTo>
                  <a:pt x="3020139" y="759589"/>
                </a:lnTo>
                <a:lnTo>
                  <a:pt x="3153626" y="669973"/>
                </a:lnTo>
                <a:lnTo>
                  <a:pt x="3287113" y="585370"/>
                </a:lnTo>
                <a:lnTo>
                  <a:pt x="3420600" y="505715"/>
                </a:lnTo>
                <a:lnTo>
                  <a:pt x="3551703" y="432227"/>
                </a:lnTo>
                <a:lnTo>
                  <a:pt x="3685190" y="362158"/>
                </a:lnTo>
                <a:lnTo>
                  <a:pt x="3818677" y="296806"/>
                </a:lnTo>
                <a:lnTo>
                  <a:pt x="3952163" y="236091"/>
                </a:lnTo>
                <a:lnTo>
                  <a:pt x="4085650" y="179932"/>
                </a:lnTo>
                <a:lnTo>
                  <a:pt x="4219137" y="128250"/>
                </a:lnTo>
                <a:lnTo>
                  <a:pt x="4352624" y="80972"/>
                </a:lnTo>
                <a:lnTo>
                  <a:pt x="4486111" y="38026"/>
                </a:lnTo>
                <a:lnTo>
                  <a:pt x="4617214" y="0"/>
                </a:lnTo>
                <a:lnTo>
                  <a:pt x="4617214" y="0"/>
                </a:lnTo>
              </a:path>
            </a:pathLst>
          </a:custGeom>
          <a:noFill/>
          <a:ln w="27811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polygon 117: plot geometry" descr="sci-ppt:obj-0117"/>
          <p:cNvSpPr/>
          <p:nvPr/>
        </p:nvSpPr>
        <p:spPr>
          <a:xfrm>
            <a:off x="7084396" y="600724"/>
            <a:ext cx="4617214" cy="3737878"/>
          </a:xfrm>
          <a:custGeom>
            <a:avLst/>
            <a:gdLst/>
            <a:ahLst/>
            <a:cxnLst/>
            <a:rect l="l" t="t" r="r" b="b"/>
            <a:pathLst>
              <a:path w="4617214" h="3737878">
                <a:moveTo>
                  <a:pt x="0" y="3737878"/>
                </a:moveTo>
                <a:lnTo>
                  <a:pt x="78661" y="3586931"/>
                </a:lnTo>
                <a:lnTo>
                  <a:pt x="178777" y="3385402"/>
                </a:lnTo>
                <a:lnTo>
                  <a:pt x="579237" y="2569147"/>
                </a:lnTo>
                <a:lnTo>
                  <a:pt x="679352" y="2379877"/>
                </a:lnTo>
                <a:lnTo>
                  <a:pt x="772316" y="2212645"/>
                </a:lnTo>
                <a:lnTo>
                  <a:pt x="862897" y="2058021"/>
                </a:lnTo>
                <a:lnTo>
                  <a:pt x="951093" y="1915446"/>
                </a:lnTo>
                <a:lnTo>
                  <a:pt x="1039290" y="1780637"/>
                </a:lnTo>
                <a:lnTo>
                  <a:pt x="1127487" y="1653367"/>
                </a:lnTo>
                <a:lnTo>
                  <a:pt x="1215683" y="1533339"/>
                </a:lnTo>
                <a:lnTo>
                  <a:pt x="1303880" y="1420218"/>
                </a:lnTo>
                <a:lnTo>
                  <a:pt x="1392077" y="1313654"/>
                </a:lnTo>
                <a:lnTo>
                  <a:pt x="1482657" y="1210671"/>
                </a:lnTo>
                <a:lnTo>
                  <a:pt x="1573237" y="1113872"/>
                </a:lnTo>
                <a:lnTo>
                  <a:pt x="1666201" y="1020594"/>
                </a:lnTo>
                <a:lnTo>
                  <a:pt x="1759165" y="933114"/>
                </a:lnTo>
                <a:lnTo>
                  <a:pt x="1854513" y="849070"/>
                </a:lnTo>
                <a:lnTo>
                  <a:pt x="1949861" y="770455"/>
                </a:lnTo>
                <a:lnTo>
                  <a:pt x="2047592" y="695196"/>
                </a:lnTo>
                <a:lnTo>
                  <a:pt x="2147707" y="623381"/>
                </a:lnTo>
                <a:lnTo>
                  <a:pt x="2247823" y="556621"/>
                </a:lnTo>
                <a:lnTo>
                  <a:pt x="2350321" y="493233"/>
                </a:lnTo>
                <a:lnTo>
                  <a:pt x="2455204" y="433298"/>
                </a:lnTo>
                <a:lnTo>
                  <a:pt x="2560086" y="378096"/>
                </a:lnTo>
                <a:lnTo>
                  <a:pt x="2667353" y="326298"/>
                </a:lnTo>
                <a:lnTo>
                  <a:pt x="2777003" y="277984"/>
                </a:lnTo>
                <a:lnTo>
                  <a:pt x="2886652" y="234143"/>
                </a:lnTo>
                <a:lnTo>
                  <a:pt x="2998686" y="193762"/>
                </a:lnTo>
                <a:lnTo>
                  <a:pt x="3113103" y="156928"/>
                </a:lnTo>
                <a:lnTo>
                  <a:pt x="3229904" y="123731"/>
                </a:lnTo>
                <a:lnTo>
                  <a:pt x="3346705" y="94805"/>
                </a:lnTo>
                <a:lnTo>
                  <a:pt x="3465890" y="69525"/>
                </a:lnTo>
                <a:lnTo>
                  <a:pt x="3587458" y="47988"/>
                </a:lnTo>
                <a:lnTo>
                  <a:pt x="3709027" y="30594"/>
                </a:lnTo>
                <a:lnTo>
                  <a:pt x="3832979" y="16987"/>
                </a:lnTo>
                <a:lnTo>
                  <a:pt x="3959315" y="7277"/>
                </a:lnTo>
                <a:lnTo>
                  <a:pt x="4088034" y="1578"/>
                </a:lnTo>
                <a:lnTo>
                  <a:pt x="4216753" y="0"/>
                </a:lnTo>
                <a:lnTo>
                  <a:pt x="4347857" y="2525"/>
                </a:lnTo>
                <a:lnTo>
                  <a:pt x="4481343" y="9285"/>
                </a:lnTo>
                <a:lnTo>
                  <a:pt x="4614830" y="20187"/>
                </a:lnTo>
                <a:lnTo>
                  <a:pt x="4617214" y="20419"/>
                </a:lnTo>
                <a:lnTo>
                  <a:pt x="4617214" y="20419"/>
                </a:lnTo>
              </a:path>
            </a:pathLst>
          </a:custGeom>
          <a:noFill/>
          <a:ln w="27811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polygon 118: plot geometry" descr="sci-ppt:obj-0118"/>
          <p:cNvSpPr/>
          <p:nvPr/>
        </p:nvSpPr>
        <p:spPr>
          <a:xfrm>
            <a:off x="7084396" y="3866573"/>
            <a:ext cx="4617214" cy="472029"/>
          </a:xfrm>
          <a:custGeom>
            <a:avLst/>
            <a:gdLst/>
            <a:ahLst/>
            <a:cxnLst/>
            <a:rect l="l" t="t" r="r" b="b"/>
            <a:pathLst>
              <a:path w="4617214" h="472029">
                <a:moveTo>
                  <a:pt x="0" y="472029"/>
                </a:moveTo>
                <a:lnTo>
                  <a:pt x="50057" y="470049"/>
                </a:lnTo>
                <a:lnTo>
                  <a:pt x="102498" y="463790"/>
                </a:lnTo>
                <a:lnTo>
                  <a:pt x="154940" y="453436"/>
                </a:lnTo>
                <a:lnTo>
                  <a:pt x="212148" y="437832"/>
                </a:lnTo>
                <a:lnTo>
                  <a:pt x="274124" y="416456"/>
                </a:lnTo>
                <a:lnTo>
                  <a:pt x="343251" y="388086"/>
                </a:lnTo>
                <a:lnTo>
                  <a:pt x="426681" y="349175"/>
                </a:lnTo>
                <a:lnTo>
                  <a:pt x="553016" y="285089"/>
                </a:lnTo>
                <a:lnTo>
                  <a:pt x="729410" y="196246"/>
                </a:lnTo>
                <a:lnTo>
                  <a:pt x="829525" y="150611"/>
                </a:lnTo>
                <a:lnTo>
                  <a:pt x="917722" y="114830"/>
                </a:lnTo>
                <a:lnTo>
                  <a:pt x="1001151" y="85339"/>
                </a:lnTo>
                <a:lnTo>
                  <a:pt x="1082196" y="60976"/>
                </a:lnTo>
                <a:lnTo>
                  <a:pt x="1163242" y="40891"/>
                </a:lnTo>
                <a:lnTo>
                  <a:pt x="1244288" y="25013"/>
                </a:lnTo>
                <a:lnTo>
                  <a:pt x="1327717" y="12899"/>
                </a:lnTo>
                <a:lnTo>
                  <a:pt x="1413530" y="4669"/>
                </a:lnTo>
                <a:lnTo>
                  <a:pt x="1501727" y="366"/>
                </a:lnTo>
                <a:lnTo>
                  <a:pt x="1594691" y="0"/>
                </a:lnTo>
                <a:lnTo>
                  <a:pt x="1692422" y="3765"/>
                </a:lnTo>
                <a:lnTo>
                  <a:pt x="1797305" y="11978"/>
                </a:lnTo>
                <a:lnTo>
                  <a:pt x="1911722" y="25181"/>
                </a:lnTo>
                <a:lnTo>
                  <a:pt x="2038058" y="44051"/>
                </a:lnTo>
                <a:lnTo>
                  <a:pt x="2181079" y="69746"/>
                </a:lnTo>
                <a:lnTo>
                  <a:pt x="2350321" y="104544"/>
                </a:lnTo>
                <a:lnTo>
                  <a:pt x="2572005" y="154639"/>
                </a:lnTo>
                <a:lnTo>
                  <a:pt x="3253741" y="311455"/>
                </a:lnTo>
                <a:lnTo>
                  <a:pt x="3458739" y="352789"/>
                </a:lnTo>
                <a:lnTo>
                  <a:pt x="3642283" y="385672"/>
                </a:lnTo>
                <a:lnTo>
                  <a:pt x="3813909" y="412290"/>
                </a:lnTo>
                <a:lnTo>
                  <a:pt x="3978384" y="433623"/>
                </a:lnTo>
                <a:lnTo>
                  <a:pt x="4135708" y="449888"/>
                </a:lnTo>
                <a:lnTo>
                  <a:pt x="4288264" y="461550"/>
                </a:lnTo>
                <a:lnTo>
                  <a:pt x="4438437" y="468884"/>
                </a:lnTo>
                <a:lnTo>
                  <a:pt x="4586226" y="471928"/>
                </a:lnTo>
                <a:lnTo>
                  <a:pt x="4617214" y="472029"/>
                </a:lnTo>
                <a:lnTo>
                  <a:pt x="4617214" y="472029"/>
                </a:lnTo>
              </a:path>
            </a:pathLst>
          </a:custGeom>
          <a:noFill/>
          <a:ln w="27811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0" name="line 119: plot geometry" descr="sci-ppt:obj-0119"/>
          <p:cNvCxnSpPr/>
          <p:nvPr/>
        </p:nvCxnSpPr>
        <p:spPr>
          <a:xfrm flipV="1">
            <a:off x="6853535" y="413804"/>
            <a:ext cx="0" cy="4111693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cxnSp>
        <p:nvCxnSpPr>
          <p:cNvPr id="121" name="line 120: plot geometry" descr="sci-ppt:obj-0120"/>
          <p:cNvCxnSpPr/>
          <p:nvPr/>
        </p:nvCxnSpPr>
        <p:spPr>
          <a:xfrm>
            <a:off x="6853535" y="4525497"/>
            <a:ext cx="5078936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22" name="text 121: Open-gel first event" descr="sci-ppt:obj-0121"/>
          <p:cNvSpPr txBox="1"/>
          <p:nvPr/>
        </p:nvSpPr>
        <p:spPr>
          <a:xfrm>
            <a:off x="8253361" y="73388"/>
            <a:ext cx="2698583" cy="3003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51" b="0" i="0">
                <a:solidFill>
                  <a:srgbClr val="000000"/>
                </a:solidFill>
                <a:latin typeface="Arial"/>
              </a:rPr>
              <a:t>Open-gel first event</a:t>
            </a:r>
          </a:p>
        </p:txBody>
      </p:sp>
      <p:sp>
        <p:nvSpPr>
          <p:cNvPr id="123" name="polygon 122: plot geometry" descr="sci-ppt:obj-0122"/>
          <p:cNvSpPr/>
          <p:nvPr/>
        </p:nvSpPr>
        <p:spPr>
          <a:xfrm>
            <a:off x="6987031" y="608092"/>
            <a:ext cx="296659" cy="0"/>
          </a:xfrm>
          <a:custGeom>
            <a:avLst/>
            <a:gdLst/>
            <a:ahLst/>
            <a:cxnLst/>
            <a:rect l="l" t="t" r="r" b="b"/>
            <a:pathLst>
              <a:path w="296659" h="0">
                <a:moveTo>
                  <a:pt x="0" y="0"/>
                </a:moveTo>
                <a:lnTo>
                  <a:pt x="148330" y="0"/>
                </a:lnTo>
                <a:lnTo>
                  <a:pt x="296659" y="0"/>
                </a:lnTo>
              </a:path>
            </a:pathLst>
          </a:custGeom>
          <a:noFill/>
          <a:ln w="27811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 123: Elastic resistance" descr="sci-ppt:obj-0123"/>
          <p:cNvSpPr txBox="1"/>
          <p:nvPr/>
        </p:nvSpPr>
        <p:spPr>
          <a:xfrm>
            <a:off x="7374922" y="507228"/>
            <a:ext cx="1648410" cy="2002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7" b="0" i="0">
                <a:solidFill>
                  <a:srgbClr val="000000"/>
                </a:solidFill>
                <a:latin typeface="Arial"/>
              </a:rPr>
              <a:t>Elastic resistance</a:t>
            </a:r>
          </a:p>
        </p:txBody>
      </p:sp>
      <p:sp>
        <p:nvSpPr>
          <p:cNvPr id="125" name="polygon 124: plot geometry" descr="sci-ppt:obj-0124"/>
          <p:cNvSpPr/>
          <p:nvPr/>
        </p:nvSpPr>
        <p:spPr>
          <a:xfrm>
            <a:off x="6987031" y="830598"/>
            <a:ext cx="296659" cy="0"/>
          </a:xfrm>
          <a:custGeom>
            <a:avLst/>
            <a:gdLst/>
            <a:ahLst/>
            <a:cxnLst/>
            <a:rect l="l" t="t" r="r" b="b"/>
            <a:pathLst>
              <a:path w="296659" h="0">
                <a:moveTo>
                  <a:pt x="0" y="0"/>
                </a:moveTo>
                <a:lnTo>
                  <a:pt x="148330" y="0"/>
                </a:lnTo>
                <a:lnTo>
                  <a:pt x="296659" y="0"/>
                </a:lnTo>
              </a:path>
            </a:pathLst>
          </a:custGeom>
          <a:noFill/>
          <a:ln w="27811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 125: Elastic + viscous resistance" descr="sci-ppt:obj-0125"/>
          <p:cNvSpPr txBox="1"/>
          <p:nvPr/>
        </p:nvSpPr>
        <p:spPr>
          <a:xfrm>
            <a:off x="7374922" y="729734"/>
            <a:ext cx="2523554" cy="2002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7" b="0" i="0">
                <a:solidFill>
                  <a:srgbClr val="000000"/>
                </a:solidFill>
                <a:latin typeface="Arial"/>
              </a:rPr>
              <a:t>Elastic + viscous resistance</a:t>
            </a:r>
          </a:p>
        </p:txBody>
      </p:sp>
      <p:sp>
        <p:nvSpPr>
          <p:cNvPr id="127" name="polygon 126: plot geometry" descr="sci-ppt:obj-0126"/>
          <p:cNvSpPr/>
          <p:nvPr/>
        </p:nvSpPr>
        <p:spPr>
          <a:xfrm>
            <a:off x="6987031" y="1053104"/>
            <a:ext cx="296659" cy="0"/>
          </a:xfrm>
          <a:custGeom>
            <a:avLst/>
            <a:gdLst/>
            <a:ahLst/>
            <a:cxnLst/>
            <a:rect l="l" t="t" r="r" b="b"/>
            <a:pathLst>
              <a:path w="296659" h="0">
                <a:moveTo>
                  <a:pt x="0" y="0"/>
                </a:moveTo>
                <a:lnTo>
                  <a:pt x="148330" y="0"/>
                </a:lnTo>
                <a:lnTo>
                  <a:pt x="296659" y="0"/>
                </a:lnTo>
              </a:path>
            </a:pathLst>
          </a:custGeom>
          <a:noFill/>
          <a:ln w="27811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 127: Outlet dynamic pressure" descr="sci-ppt:obj-0127"/>
          <p:cNvSpPr txBox="1"/>
          <p:nvPr/>
        </p:nvSpPr>
        <p:spPr>
          <a:xfrm>
            <a:off x="7374922" y="952240"/>
            <a:ext cx="2085982" cy="2002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7" b="0" i="0">
                <a:solidFill>
                  <a:srgbClr val="000000"/>
                </a:solidFill>
                <a:latin typeface="Arial"/>
              </a:rPr>
              <a:t>Outlet dynamic pressure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