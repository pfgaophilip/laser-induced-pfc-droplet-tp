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A-E19 · Separate compressibility diagnostic</a:t>
            </a:r>
          </a:p>
        </p:txBody>
      </p:sp>
      <p:cxnSp>
        <p:nvCxnSpPr>
          <p:cNvPr id="3" name="A-E19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1e+05</a:t>
            </a:r>
          </a:p>
        </p:txBody>
      </p:sp>
      <p:cxnSp>
        <p:nvCxnSpPr>
          <p:cNvPr id="8" name="A-E19 line 6" descr="sci-ppt:o006"/>
          <p:cNvCxnSpPr/>
          <p:nvPr/>
        </p:nvCxnSpPr>
        <p:spPr>
          <a:xfrm>
            <a:off x="208483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9 line 7" descr="sci-ppt:o007"/>
          <p:cNvCxnSpPr/>
          <p:nvPr/>
        </p:nvCxnSpPr>
        <p:spPr>
          <a:xfrm>
            <a:off x="208483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9 text 8" descr="sci-ppt:o008"/>
          <p:cNvSpPr txBox="1"/>
          <p:nvPr/>
        </p:nvSpPr>
        <p:spPr>
          <a:xfrm>
            <a:off x="162763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1e+06</a:t>
            </a:r>
          </a:p>
        </p:txBody>
      </p:sp>
      <p:cxnSp>
        <p:nvCxnSpPr>
          <p:cNvPr id="11" name="A-E19 line 9" descr="sci-ppt:o009"/>
          <p:cNvCxnSpPr/>
          <p:nvPr/>
        </p:nvCxnSpPr>
        <p:spPr>
          <a:xfrm>
            <a:off x="325526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9 line 10" descr="sci-ppt:o010"/>
          <p:cNvCxnSpPr/>
          <p:nvPr/>
        </p:nvCxnSpPr>
        <p:spPr>
          <a:xfrm>
            <a:off x="325526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9 text 11" descr="sci-ppt:o011"/>
          <p:cNvSpPr txBox="1"/>
          <p:nvPr/>
        </p:nvSpPr>
        <p:spPr>
          <a:xfrm>
            <a:off x="279806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1e+07</a:t>
            </a:r>
          </a:p>
        </p:txBody>
      </p:sp>
      <p:cxnSp>
        <p:nvCxnSpPr>
          <p:cNvPr id="14" name="A-E19 line 12" descr="sci-ppt:o012"/>
          <p:cNvCxnSpPr/>
          <p:nvPr/>
        </p:nvCxnSpPr>
        <p:spPr>
          <a:xfrm>
            <a:off x="442569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9 line 13" descr="sci-ppt:o013"/>
          <p:cNvCxnSpPr/>
          <p:nvPr/>
        </p:nvCxnSpPr>
        <p:spPr>
          <a:xfrm>
            <a:off x="442569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9 text 14" descr="sci-ppt:o014"/>
          <p:cNvSpPr txBox="1"/>
          <p:nvPr/>
        </p:nvSpPr>
        <p:spPr>
          <a:xfrm>
            <a:off x="396849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1e+08</a:t>
            </a:r>
          </a:p>
        </p:txBody>
      </p:sp>
      <p:cxnSp>
        <p:nvCxnSpPr>
          <p:cNvPr id="17" name="A-E19 line 15" descr="sci-ppt:o015"/>
          <p:cNvCxnSpPr/>
          <p:nvPr/>
        </p:nvCxnSpPr>
        <p:spPr>
          <a:xfrm>
            <a:off x="559612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9 line 16" descr="sci-ppt:o016"/>
          <p:cNvCxnSpPr/>
          <p:nvPr/>
        </p:nvCxnSpPr>
        <p:spPr>
          <a:xfrm>
            <a:off x="559612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9 text 17" descr="sci-ppt:o017"/>
          <p:cNvSpPr txBox="1"/>
          <p:nvPr/>
        </p:nvSpPr>
        <p:spPr>
          <a:xfrm>
            <a:off x="513892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1e+09</a:t>
            </a:r>
          </a:p>
        </p:txBody>
      </p:sp>
      <p:cxnSp>
        <p:nvCxnSpPr>
          <p:cNvPr id="20" name="A-E19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9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19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1e+10</a:t>
            </a:r>
          </a:p>
        </p:txBody>
      </p:sp>
      <p:cxnSp>
        <p:nvCxnSpPr>
          <p:cNvPr id="23" name="A-E19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19 line 22" descr="sci-ppt:o022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9 line 23" descr="sci-ppt:o023"/>
          <p:cNvCxnSpPr/>
          <p:nvPr/>
        </p:nvCxnSpPr>
        <p:spPr>
          <a:xfrm>
            <a:off x="914400" y="4114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9 text 24" descr="sci-ppt:o024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7" name="A-E19 line 25" descr="sci-ppt:o025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9 line 26" descr="sci-ppt:o026"/>
          <p:cNvCxnSpPr/>
          <p:nvPr/>
        </p:nvCxnSpPr>
        <p:spPr>
          <a:xfrm>
            <a:off x="914400" y="32004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9 text 27" descr="sci-ppt:o027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30" name="A-E19 line 28" descr="sci-ppt:o028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9 line 29" descr="sci-ppt:o029"/>
          <p:cNvCxnSpPr/>
          <p:nvPr/>
        </p:nvCxnSpPr>
        <p:spPr>
          <a:xfrm>
            <a:off x="914400" y="2286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9 text 30" descr="sci-ppt:o030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cxnSp>
        <p:nvCxnSpPr>
          <p:cNvPr id="33" name="A-E19 line 31" descr="sci-ppt:o031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19 line 32" descr="sci-ppt:o032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19 text 33" descr="sci-ppt:o033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10000</a:t>
            </a:r>
          </a:p>
        </p:txBody>
      </p:sp>
      <p:sp>
        <p:nvSpPr>
          <p:cNvPr id="36" name="A-E19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bulk modulus K_bulk  (Pa)</a:t>
            </a:r>
          </a:p>
        </p:txBody>
      </p:sp>
      <p:sp>
        <p:nvSpPr>
          <p:cNvPr id="37" name="A-E19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longitudinal speed c_L  (m/s)</a:t>
            </a:r>
          </a:p>
        </p:txBody>
      </p:sp>
      <p:sp>
        <p:nvSpPr>
          <p:cNvPr id="38" name="A-E19 polygon 36" descr="sci-ppt:o036"/>
          <p:cNvSpPr/>
          <p:nvPr/>
        </p:nvSpPr>
        <p:spPr>
          <a:xfrm>
            <a:off x="914400" y="1828799"/>
            <a:ext cx="5852160" cy="2239063"/>
          </a:xfrm>
          <a:custGeom>
            <a:avLst/>
            <a:gdLst/>
            <a:ahLst/>
            <a:cxnLst/>
            <a:rect l="l" t="t" r="r" b="b"/>
            <a:pathLst>
              <a:path w="5852160" h="2239063">
                <a:moveTo>
                  <a:pt x="0" y="2239063"/>
                </a:moveTo>
                <a:lnTo>
                  <a:pt x="29407" y="2229940"/>
                </a:lnTo>
                <a:lnTo>
                  <a:pt x="58815" y="2220709"/>
                </a:lnTo>
                <a:lnTo>
                  <a:pt x="88223" y="2211376"/>
                </a:lnTo>
                <a:lnTo>
                  <a:pt x="117631" y="2201943"/>
                </a:lnTo>
                <a:lnTo>
                  <a:pt x="147039" y="2192414"/>
                </a:lnTo>
                <a:lnTo>
                  <a:pt x="176447" y="2182793"/>
                </a:lnTo>
                <a:lnTo>
                  <a:pt x="205854" y="2173084"/>
                </a:lnTo>
                <a:lnTo>
                  <a:pt x="235262" y="2163289"/>
                </a:lnTo>
                <a:lnTo>
                  <a:pt x="264670" y="2153412"/>
                </a:lnTo>
                <a:lnTo>
                  <a:pt x="294078" y="2143457"/>
                </a:lnTo>
                <a:lnTo>
                  <a:pt x="323486" y="2133427"/>
                </a:lnTo>
                <a:lnTo>
                  <a:pt x="352894" y="2123325"/>
                </a:lnTo>
                <a:lnTo>
                  <a:pt x="382301" y="2113153"/>
                </a:lnTo>
                <a:lnTo>
                  <a:pt x="411709" y="2102916"/>
                </a:lnTo>
                <a:lnTo>
                  <a:pt x="441117" y="2092616"/>
                </a:lnTo>
                <a:lnTo>
                  <a:pt x="470525" y="2082256"/>
                </a:lnTo>
                <a:lnTo>
                  <a:pt x="499933" y="2071838"/>
                </a:lnTo>
                <a:lnTo>
                  <a:pt x="529341" y="2061365"/>
                </a:lnTo>
                <a:lnTo>
                  <a:pt x="558748" y="2050840"/>
                </a:lnTo>
                <a:lnTo>
                  <a:pt x="588156" y="2040266"/>
                </a:lnTo>
                <a:lnTo>
                  <a:pt x="617564" y="2029643"/>
                </a:lnTo>
                <a:lnTo>
                  <a:pt x="646972" y="2018976"/>
                </a:lnTo>
                <a:lnTo>
                  <a:pt x="676380" y="2008266"/>
                </a:lnTo>
                <a:lnTo>
                  <a:pt x="705788" y="1997515"/>
                </a:lnTo>
                <a:lnTo>
                  <a:pt x="735195" y="1986724"/>
                </a:lnTo>
                <a:lnTo>
                  <a:pt x="764603" y="1975897"/>
                </a:lnTo>
                <a:lnTo>
                  <a:pt x="794011" y="1965035"/>
                </a:lnTo>
                <a:lnTo>
                  <a:pt x="823419" y="1954140"/>
                </a:lnTo>
                <a:lnTo>
                  <a:pt x="852827" y="1943213"/>
                </a:lnTo>
                <a:lnTo>
                  <a:pt x="882235" y="1932256"/>
                </a:lnTo>
                <a:lnTo>
                  <a:pt x="911643" y="1921270"/>
                </a:lnTo>
                <a:lnTo>
                  <a:pt x="941050" y="1910257"/>
                </a:lnTo>
                <a:lnTo>
                  <a:pt x="970458" y="1899219"/>
                </a:lnTo>
                <a:lnTo>
                  <a:pt x="999866" y="1888156"/>
                </a:lnTo>
                <a:lnTo>
                  <a:pt x="1029274" y="1877071"/>
                </a:lnTo>
                <a:lnTo>
                  <a:pt x="1058682" y="1865963"/>
                </a:lnTo>
                <a:lnTo>
                  <a:pt x="1088090" y="1854835"/>
                </a:lnTo>
                <a:lnTo>
                  <a:pt x="1117497" y="1843687"/>
                </a:lnTo>
                <a:lnTo>
                  <a:pt x="1146905" y="1832521"/>
                </a:lnTo>
                <a:lnTo>
                  <a:pt x="1176313" y="1821337"/>
                </a:lnTo>
                <a:lnTo>
                  <a:pt x="1205721" y="1810136"/>
                </a:lnTo>
                <a:lnTo>
                  <a:pt x="1235129" y="1798920"/>
                </a:lnTo>
                <a:lnTo>
                  <a:pt x="1264537" y="1787689"/>
                </a:lnTo>
                <a:lnTo>
                  <a:pt x="1293944" y="1776443"/>
                </a:lnTo>
                <a:lnTo>
                  <a:pt x="1323352" y="1765185"/>
                </a:lnTo>
                <a:lnTo>
                  <a:pt x="1352760" y="1753913"/>
                </a:lnTo>
                <a:lnTo>
                  <a:pt x="1382168" y="1742630"/>
                </a:lnTo>
                <a:lnTo>
                  <a:pt x="1411576" y="1731336"/>
                </a:lnTo>
                <a:lnTo>
                  <a:pt x="1440984" y="1720031"/>
                </a:lnTo>
                <a:lnTo>
                  <a:pt x="1470391" y="1708715"/>
                </a:lnTo>
                <a:lnTo>
                  <a:pt x="1499799" y="1697391"/>
                </a:lnTo>
                <a:lnTo>
                  <a:pt x="1529207" y="1686057"/>
                </a:lnTo>
                <a:lnTo>
                  <a:pt x="1558615" y="1674714"/>
                </a:lnTo>
                <a:lnTo>
                  <a:pt x="1588023" y="1663364"/>
                </a:lnTo>
                <a:lnTo>
                  <a:pt x="1617431" y="1652006"/>
                </a:lnTo>
                <a:lnTo>
                  <a:pt x="1646838" y="1640641"/>
                </a:lnTo>
                <a:lnTo>
                  <a:pt x="1676246" y="1629269"/>
                </a:lnTo>
                <a:lnTo>
                  <a:pt x="1705654" y="1617890"/>
                </a:lnTo>
                <a:lnTo>
                  <a:pt x="1735062" y="1606506"/>
                </a:lnTo>
                <a:lnTo>
                  <a:pt x="1764470" y="1595115"/>
                </a:lnTo>
                <a:lnTo>
                  <a:pt x="1793878" y="1583720"/>
                </a:lnTo>
                <a:lnTo>
                  <a:pt x="1823286" y="1572319"/>
                </a:lnTo>
                <a:lnTo>
                  <a:pt x="1852693" y="1560913"/>
                </a:lnTo>
                <a:lnTo>
                  <a:pt x="1882101" y="1549503"/>
                </a:lnTo>
                <a:lnTo>
                  <a:pt x="1911509" y="1538089"/>
                </a:lnTo>
                <a:lnTo>
                  <a:pt x="1940917" y="1526670"/>
                </a:lnTo>
                <a:lnTo>
                  <a:pt x="1970325" y="1515248"/>
                </a:lnTo>
                <a:lnTo>
                  <a:pt x="1999733" y="1503822"/>
                </a:lnTo>
                <a:lnTo>
                  <a:pt x="2029140" y="1492392"/>
                </a:lnTo>
                <a:lnTo>
                  <a:pt x="2058548" y="1480959"/>
                </a:lnTo>
                <a:lnTo>
                  <a:pt x="2087956" y="1469524"/>
                </a:lnTo>
                <a:lnTo>
                  <a:pt x="2117364" y="1458085"/>
                </a:lnTo>
                <a:lnTo>
                  <a:pt x="2146772" y="1446643"/>
                </a:lnTo>
                <a:lnTo>
                  <a:pt x="2176180" y="1435199"/>
                </a:lnTo>
                <a:lnTo>
                  <a:pt x="2205587" y="1423753"/>
                </a:lnTo>
                <a:lnTo>
                  <a:pt x="2234995" y="1412304"/>
                </a:lnTo>
                <a:lnTo>
                  <a:pt x="2264403" y="1400853"/>
                </a:lnTo>
                <a:lnTo>
                  <a:pt x="2293811" y="1389400"/>
                </a:lnTo>
                <a:lnTo>
                  <a:pt x="2323219" y="1377946"/>
                </a:lnTo>
                <a:lnTo>
                  <a:pt x="2352627" y="1366489"/>
                </a:lnTo>
                <a:lnTo>
                  <a:pt x="2382034" y="1355030"/>
                </a:lnTo>
                <a:lnTo>
                  <a:pt x="2411442" y="1343570"/>
                </a:lnTo>
                <a:lnTo>
                  <a:pt x="2440850" y="1332109"/>
                </a:lnTo>
                <a:lnTo>
                  <a:pt x="2470258" y="1320646"/>
                </a:lnTo>
                <a:lnTo>
                  <a:pt x="2499666" y="1309181"/>
                </a:lnTo>
                <a:lnTo>
                  <a:pt x="2529074" y="1297716"/>
                </a:lnTo>
                <a:lnTo>
                  <a:pt x="2558482" y="1286249"/>
                </a:lnTo>
                <a:lnTo>
                  <a:pt x="2587889" y="1274781"/>
                </a:lnTo>
                <a:lnTo>
                  <a:pt x="2617297" y="1263311"/>
                </a:lnTo>
                <a:lnTo>
                  <a:pt x="2646705" y="1251841"/>
                </a:lnTo>
                <a:lnTo>
                  <a:pt x="2676113" y="1240370"/>
                </a:lnTo>
                <a:lnTo>
                  <a:pt x="2705521" y="1228898"/>
                </a:lnTo>
                <a:lnTo>
                  <a:pt x="2734929" y="1217425"/>
                </a:lnTo>
                <a:lnTo>
                  <a:pt x="2764336" y="1205951"/>
                </a:lnTo>
                <a:lnTo>
                  <a:pt x="2793744" y="1194477"/>
                </a:lnTo>
                <a:lnTo>
                  <a:pt x="2823152" y="1183002"/>
                </a:lnTo>
                <a:lnTo>
                  <a:pt x="2852560" y="1171526"/>
                </a:lnTo>
                <a:lnTo>
                  <a:pt x="2881968" y="1160049"/>
                </a:lnTo>
                <a:lnTo>
                  <a:pt x="2911376" y="1148572"/>
                </a:lnTo>
                <a:lnTo>
                  <a:pt x="2940783" y="1137094"/>
                </a:lnTo>
                <a:lnTo>
                  <a:pt x="2970191" y="1125616"/>
                </a:lnTo>
                <a:lnTo>
                  <a:pt x="2999599" y="1114137"/>
                </a:lnTo>
                <a:lnTo>
                  <a:pt x="3029007" y="1102658"/>
                </a:lnTo>
                <a:lnTo>
                  <a:pt x="3058415" y="1091178"/>
                </a:lnTo>
                <a:lnTo>
                  <a:pt x="3087823" y="1079698"/>
                </a:lnTo>
                <a:lnTo>
                  <a:pt x="3117230" y="1068217"/>
                </a:lnTo>
                <a:lnTo>
                  <a:pt x="3146638" y="1056736"/>
                </a:lnTo>
                <a:lnTo>
                  <a:pt x="3176046" y="1045255"/>
                </a:lnTo>
                <a:lnTo>
                  <a:pt x="3205454" y="1033773"/>
                </a:lnTo>
                <a:lnTo>
                  <a:pt x="3234862" y="1022291"/>
                </a:lnTo>
                <a:lnTo>
                  <a:pt x="3264270" y="1010809"/>
                </a:lnTo>
                <a:lnTo>
                  <a:pt x="3293677" y="999326"/>
                </a:lnTo>
                <a:lnTo>
                  <a:pt x="3323085" y="987843"/>
                </a:lnTo>
                <a:lnTo>
                  <a:pt x="3352493" y="976360"/>
                </a:lnTo>
                <a:lnTo>
                  <a:pt x="3381901" y="964877"/>
                </a:lnTo>
                <a:lnTo>
                  <a:pt x="3411309" y="953393"/>
                </a:lnTo>
                <a:lnTo>
                  <a:pt x="3440717" y="941910"/>
                </a:lnTo>
                <a:lnTo>
                  <a:pt x="3470125" y="930426"/>
                </a:lnTo>
                <a:lnTo>
                  <a:pt x="3499532" y="918941"/>
                </a:lnTo>
                <a:lnTo>
                  <a:pt x="3528940" y="907457"/>
                </a:lnTo>
                <a:lnTo>
                  <a:pt x="3558348" y="895972"/>
                </a:lnTo>
                <a:lnTo>
                  <a:pt x="3587756" y="884488"/>
                </a:lnTo>
                <a:lnTo>
                  <a:pt x="3617164" y="873003"/>
                </a:lnTo>
                <a:lnTo>
                  <a:pt x="3646572" y="861518"/>
                </a:lnTo>
                <a:lnTo>
                  <a:pt x="3675979" y="850033"/>
                </a:lnTo>
                <a:lnTo>
                  <a:pt x="3705387" y="838547"/>
                </a:lnTo>
                <a:lnTo>
                  <a:pt x="3734795" y="827062"/>
                </a:lnTo>
                <a:lnTo>
                  <a:pt x="3764203" y="815576"/>
                </a:lnTo>
                <a:lnTo>
                  <a:pt x="3793611" y="804091"/>
                </a:lnTo>
                <a:lnTo>
                  <a:pt x="3823019" y="792605"/>
                </a:lnTo>
                <a:lnTo>
                  <a:pt x="3852426" y="781119"/>
                </a:lnTo>
                <a:lnTo>
                  <a:pt x="3881834" y="769633"/>
                </a:lnTo>
                <a:lnTo>
                  <a:pt x="3911242" y="758147"/>
                </a:lnTo>
                <a:lnTo>
                  <a:pt x="3940650" y="746661"/>
                </a:lnTo>
                <a:lnTo>
                  <a:pt x="3970058" y="735175"/>
                </a:lnTo>
                <a:lnTo>
                  <a:pt x="3999466" y="723689"/>
                </a:lnTo>
                <a:lnTo>
                  <a:pt x="4028873" y="712202"/>
                </a:lnTo>
                <a:lnTo>
                  <a:pt x="4058281" y="700716"/>
                </a:lnTo>
                <a:lnTo>
                  <a:pt x="4087689" y="689230"/>
                </a:lnTo>
                <a:lnTo>
                  <a:pt x="4117097" y="677743"/>
                </a:lnTo>
                <a:lnTo>
                  <a:pt x="4146505" y="666257"/>
                </a:lnTo>
                <a:lnTo>
                  <a:pt x="4175913" y="654770"/>
                </a:lnTo>
                <a:lnTo>
                  <a:pt x="4205321" y="643283"/>
                </a:lnTo>
                <a:lnTo>
                  <a:pt x="4234728" y="631797"/>
                </a:lnTo>
                <a:lnTo>
                  <a:pt x="4264136" y="620310"/>
                </a:lnTo>
                <a:lnTo>
                  <a:pt x="4293544" y="608823"/>
                </a:lnTo>
                <a:lnTo>
                  <a:pt x="4322952" y="597337"/>
                </a:lnTo>
                <a:lnTo>
                  <a:pt x="4352360" y="585850"/>
                </a:lnTo>
                <a:lnTo>
                  <a:pt x="4381768" y="574363"/>
                </a:lnTo>
                <a:lnTo>
                  <a:pt x="4411175" y="562876"/>
                </a:lnTo>
                <a:lnTo>
                  <a:pt x="4440583" y="551389"/>
                </a:lnTo>
                <a:lnTo>
                  <a:pt x="4469991" y="539902"/>
                </a:lnTo>
                <a:lnTo>
                  <a:pt x="4499399" y="528415"/>
                </a:lnTo>
                <a:lnTo>
                  <a:pt x="4528807" y="516928"/>
                </a:lnTo>
                <a:lnTo>
                  <a:pt x="4558215" y="505441"/>
                </a:lnTo>
                <a:lnTo>
                  <a:pt x="4587622" y="493954"/>
                </a:lnTo>
                <a:lnTo>
                  <a:pt x="4617030" y="482467"/>
                </a:lnTo>
                <a:lnTo>
                  <a:pt x="4646438" y="470980"/>
                </a:lnTo>
                <a:lnTo>
                  <a:pt x="4675846" y="459493"/>
                </a:lnTo>
                <a:lnTo>
                  <a:pt x="4705254" y="448005"/>
                </a:lnTo>
                <a:lnTo>
                  <a:pt x="4734662" y="436518"/>
                </a:lnTo>
                <a:lnTo>
                  <a:pt x="4764069" y="425031"/>
                </a:lnTo>
                <a:lnTo>
                  <a:pt x="4793477" y="413544"/>
                </a:lnTo>
                <a:lnTo>
                  <a:pt x="4822885" y="402057"/>
                </a:lnTo>
                <a:lnTo>
                  <a:pt x="4852293" y="390570"/>
                </a:lnTo>
                <a:lnTo>
                  <a:pt x="4881701" y="379082"/>
                </a:lnTo>
                <a:lnTo>
                  <a:pt x="4911109" y="367595"/>
                </a:lnTo>
                <a:lnTo>
                  <a:pt x="4940516" y="356108"/>
                </a:lnTo>
                <a:lnTo>
                  <a:pt x="4969924" y="344621"/>
                </a:lnTo>
                <a:lnTo>
                  <a:pt x="4999332" y="333133"/>
                </a:lnTo>
                <a:lnTo>
                  <a:pt x="5028740" y="321646"/>
                </a:lnTo>
                <a:lnTo>
                  <a:pt x="5058148" y="310159"/>
                </a:lnTo>
                <a:lnTo>
                  <a:pt x="5087556" y="298671"/>
                </a:lnTo>
                <a:lnTo>
                  <a:pt x="5116964" y="287184"/>
                </a:lnTo>
                <a:lnTo>
                  <a:pt x="5146371" y="275697"/>
                </a:lnTo>
                <a:lnTo>
                  <a:pt x="5175779" y="264210"/>
                </a:lnTo>
                <a:lnTo>
                  <a:pt x="5205187" y="252722"/>
                </a:lnTo>
                <a:lnTo>
                  <a:pt x="5234595" y="241235"/>
                </a:lnTo>
                <a:lnTo>
                  <a:pt x="5264003" y="229748"/>
                </a:lnTo>
                <a:lnTo>
                  <a:pt x="5293411" y="218260"/>
                </a:lnTo>
                <a:lnTo>
                  <a:pt x="5322818" y="206773"/>
                </a:lnTo>
                <a:lnTo>
                  <a:pt x="5352226" y="195286"/>
                </a:lnTo>
                <a:lnTo>
                  <a:pt x="5381634" y="183798"/>
                </a:lnTo>
                <a:lnTo>
                  <a:pt x="5411042" y="172311"/>
                </a:lnTo>
                <a:lnTo>
                  <a:pt x="5440450" y="160823"/>
                </a:lnTo>
                <a:lnTo>
                  <a:pt x="5469858" y="149336"/>
                </a:lnTo>
                <a:lnTo>
                  <a:pt x="5499265" y="137849"/>
                </a:lnTo>
                <a:lnTo>
                  <a:pt x="5528673" y="126361"/>
                </a:lnTo>
                <a:lnTo>
                  <a:pt x="5558081" y="114874"/>
                </a:lnTo>
                <a:lnTo>
                  <a:pt x="5587489" y="103387"/>
                </a:lnTo>
                <a:lnTo>
                  <a:pt x="5616897" y="91899"/>
                </a:lnTo>
                <a:lnTo>
                  <a:pt x="5646305" y="80412"/>
                </a:lnTo>
                <a:lnTo>
                  <a:pt x="5675712" y="68924"/>
                </a:lnTo>
                <a:lnTo>
                  <a:pt x="5705120" y="57437"/>
                </a:lnTo>
                <a:lnTo>
                  <a:pt x="5734528" y="45950"/>
                </a:lnTo>
                <a:lnTo>
                  <a:pt x="5763936" y="34462"/>
                </a:lnTo>
                <a:lnTo>
                  <a:pt x="5793344" y="22975"/>
                </a:lnTo>
                <a:lnTo>
                  <a:pt x="5822752" y="11487"/>
                </a:lnTo>
                <a:lnTo>
                  <a:pt x="5852160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A-E19 line 37" descr="sci-ppt:o037"/>
          <p:cNvCxnSpPr/>
          <p:nvPr/>
        </p:nvCxnSpPr>
        <p:spPr>
          <a:xfrm>
            <a:off x="914400" y="4434369"/>
            <a:ext cx="5852160" cy="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40" name="A-E19 text 38" descr="sci-ppt:o038"/>
          <p:cNvSpPr txBox="1"/>
          <p:nvPr/>
        </p:nvSpPr>
        <p:spPr>
          <a:xfrm>
            <a:off x="1545989" y="415664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cₛ = 4.47 m/s (shear)</a:t>
            </a:r>
          </a:p>
        </p:txBody>
      </p:sp>
      <p:sp>
        <p:nvSpPr>
          <p:cNvPr id="41" name="A-E19 ellipse 39" descr="sci-ppt:o039"/>
          <p:cNvSpPr/>
          <p:nvPr/>
        </p:nvSpPr>
        <p:spPr>
          <a:xfrm>
            <a:off x="5923758" y="205628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-E19 text 40" descr="sci-ppt:o040"/>
          <p:cNvSpPr txBox="1"/>
          <p:nvPr/>
        </p:nvSpPr>
        <p:spPr>
          <a:xfrm>
            <a:off x="2613630" y="2220881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K = 2.2 GPa (assumed): c_L = 1483 m/s</a:t>
            </a:r>
          </a:p>
        </p:txBody>
      </p:sp>
      <p:sp>
        <p:nvSpPr>
          <p:cNvPr id="43" name="A-E19 round_rect 41" descr="sci-ppt:o041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-E19 text 42" descr="sci-ppt:o042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Compressional crossing</a:t>
            </a:r>
          </a:p>
        </p:txBody>
      </p:sp>
      <p:sp>
        <p:nvSpPr>
          <p:cNvPr id="45" name="A-E19 text 43" descr="sci-ppt:o043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c_L ≃ √[(K_bulk + 4G_g/3)/ρ_g]</a:t>
            </a:r>
          </a:p>
        </p:txBody>
      </p:sp>
      <p:sp>
        <p:nvSpPr>
          <p:cNvPr id="46" name="A-E19 text 44" descr="sci-ppt:o044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t_L = L_g / c_L,    M_w = |Ṙ| / c_L</a:t>
            </a:r>
          </a:p>
        </p:txBody>
      </p:sp>
      <p:sp>
        <p:nvSpPr>
          <p:cNvPr id="47" name="A-E19 text 45" descr="sci-ppt:o045"/>
          <p:cNvSpPr txBox="1"/>
          <p:nvPr/>
        </p:nvSpPr>
        <p:spPr>
          <a:xfrm>
            <a:off x="7178040" y="292608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t_L = 20.2 ns,   M_w = 0.0067  (|Ṙ| = 10 m/s)</a:t>
            </a:r>
          </a:p>
        </p:txBody>
      </p:sp>
      <p:sp>
        <p:nvSpPr>
          <p:cNvPr id="48" name="A-E19 text 46" descr="sci-ppt:o046"/>
          <p:cNvSpPr txBox="1"/>
          <p:nvPr/>
        </p:nvSpPr>
        <p:spPr>
          <a:xfrm>
            <a:off x="7178040" y="356616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K_bulk = 2.2 GPa is an assumed water-like value for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illustration; the real gel must be characterised.</a:t>
            </a:r>
          </a:p>
        </p:txBody>
      </p:sp>
      <p:sp>
        <p:nvSpPr>
          <p:cNvPr id="49" name="A-E19 text 47" descr="sci-ppt:o047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Shear and longitudinal waves differ by about 330×: a water-rich gel answers compression almost instantly and shear slowly.</a:t>
            </a:r>
          </a:p>
        </p:txBody>
      </p:sp>
      <p:sp>
        <p:nvSpPr>
          <p:cNvPr id="50" name="A-E19 text 48" descr="sci-ppt:o04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Separate compressibility diagnostic of Eq. A-E19 (L_g = 30 µm).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