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A-E15 · Signed-pressure and positive-loss check</a:t>
            </a:r>
          </a:p>
        </p:txBody>
      </p:sp>
      <p:cxnSp>
        <p:nvCxnSpPr>
          <p:cNvPr id="3" name="A-E15 line 1" descr="sci-ppt:o001"/>
          <p:cNvCxnSpPr/>
          <p:nvPr/>
        </p:nvCxnSpPr>
        <p:spPr>
          <a:xfrm>
            <a:off x="914400" y="4846320"/>
            <a:ext cx="31089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15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5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15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15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-20</a:t>
            </a:r>
          </a:p>
        </p:txBody>
      </p:sp>
      <p:cxnSp>
        <p:nvCxnSpPr>
          <p:cNvPr id="8" name="A-E15 line 6" descr="sci-ppt:o006"/>
          <p:cNvCxnSpPr/>
          <p:nvPr/>
        </p:nvCxnSpPr>
        <p:spPr>
          <a:xfrm>
            <a:off x="246888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15 line 7" descr="sci-ppt:o007"/>
          <p:cNvCxnSpPr/>
          <p:nvPr/>
        </p:nvCxnSpPr>
        <p:spPr>
          <a:xfrm>
            <a:off x="246888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15 text 8" descr="sci-ppt:o008"/>
          <p:cNvSpPr txBox="1"/>
          <p:nvPr/>
        </p:nvSpPr>
        <p:spPr>
          <a:xfrm>
            <a:off x="201168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1" name="A-E15 line 9" descr="sci-ppt:o009"/>
          <p:cNvCxnSpPr/>
          <p:nvPr/>
        </p:nvCxnSpPr>
        <p:spPr>
          <a:xfrm>
            <a:off x="402336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15 line 10" descr="sci-ppt:o010"/>
          <p:cNvCxnSpPr/>
          <p:nvPr/>
        </p:nvCxnSpPr>
        <p:spPr>
          <a:xfrm>
            <a:off x="402336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15 text 11" descr="sci-ppt:o011"/>
          <p:cNvSpPr txBox="1"/>
          <p:nvPr/>
        </p:nvSpPr>
        <p:spPr>
          <a:xfrm>
            <a:off x="356616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14" name="A-E15 line 12" descr="sci-ppt:o012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15 line 13" descr="sci-ppt:o013"/>
          <p:cNvCxnSpPr/>
          <p:nvPr/>
        </p:nvCxnSpPr>
        <p:spPr>
          <a:xfrm>
            <a:off x="850392" y="39776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A-E15 line 14" descr="sci-ppt:o014"/>
          <p:cNvCxnSpPr/>
          <p:nvPr/>
        </p:nvCxnSpPr>
        <p:spPr>
          <a:xfrm>
            <a:off x="914400" y="3977639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A-E15 text 15" descr="sci-ppt:o015"/>
          <p:cNvSpPr txBox="1"/>
          <p:nvPr/>
        </p:nvSpPr>
        <p:spPr>
          <a:xfrm>
            <a:off x="45720" y="38953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-15</a:t>
            </a:r>
          </a:p>
        </p:txBody>
      </p:sp>
      <p:cxnSp>
        <p:nvCxnSpPr>
          <p:cNvPr id="18" name="A-E15 line 16" descr="sci-ppt:o016"/>
          <p:cNvCxnSpPr/>
          <p:nvPr/>
        </p:nvCxnSpPr>
        <p:spPr>
          <a:xfrm>
            <a:off x="85039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15 line 17" descr="sci-ppt:o017"/>
          <p:cNvCxnSpPr/>
          <p:nvPr/>
        </p:nvCxnSpPr>
        <p:spPr>
          <a:xfrm>
            <a:off x="914400" y="310896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15 text 18" descr="sci-ppt:o018"/>
          <p:cNvSpPr txBox="1"/>
          <p:nvPr/>
        </p:nvSpPr>
        <p:spPr>
          <a:xfrm>
            <a:off x="45720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1" name="A-E15 line 19" descr="sci-ppt:o019"/>
          <p:cNvCxnSpPr/>
          <p:nvPr/>
        </p:nvCxnSpPr>
        <p:spPr>
          <a:xfrm>
            <a:off x="850392" y="2240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15 line 20" descr="sci-ppt:o020"/>
          <p:cNvCxnSpPr/>
          <p:nvPr/>
        </p:nvCxnSpPr>
        <p:spPr>
          <a:xfrm>
            <a:off x="914400" y="224028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15 text 21" descr="sci-ppt:o021"/>
          <p:cNvSpPr txBox="1"/>
          <p:nvPr/>
        </p:nvSpPr>
        <p:spPr>
          <a:xfrm>
            <a:off x="45720" y="2157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15</a:t>
            </a:r>
          </a:p>
        </p:txBody>
      </p:sp>
      <p:cxnSp>
        <p:nvCxnSpPr>
          <p:cNvPr id="24" name="A-E15 line 22" descr="sci-ppt:o022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15 line 23" descr="sci-ppt:o023"/>
          <p:cNvCxnSpPr/>
          <p:nvPr/>
        </p:nvCxnSpPr>
        <p:spPr>
          <a:xfrm>
            <a:off x="914400" y="137160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15 text 24" descr="sci-ppt:o024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sp>
        <p:nvSpPr>
          <p:cNvPr id="27" name="A-E15 text 25" descr="sci-ppt:o025"/>
          <p:cNvSpPr txBox="1"/>
          <p:nvPr/>
        </p:nvSpPr>
        <p:spPr>
          <a:xfrm>
            <a:off x="914400" y="5129783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wall speed Ṙ  (m/s)</a:t>
            </a:r>
          </a:p>
        </p:txBody>
      </p:sp>
      <p:sp>
        <p:nvSpPr>
          <p:cNvPr id="28" name="A-E15 text 26" descr="sci-ppt:o026"/>
          <p:cNvSpPr txBox="1"/>
          <p:nvPr/>
        </p:nvSpPr>
        <p:spPr>
          <a:xfrm>
            <a:off x="365760" y="1024128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RHS viscous term (kPa)</a:t>
            </a:r>
          </a:p>
        </p:txBody>
      </p:sp>
      <p:sp>
        <p:nvSpPr>
          <p:cNvPr id="29" name="A-E15 polygon 27" descr="sci-ppt:o027"/>
          <p:cNvSpPr/>
          <p:nvPr/>
        </p:nvSpPr>
        <p:spPr>
          <a:xfrm>
            <a:off x="914400" y="1564639"/>
            <a:ext cx="3108960" cy="3088641"/>
          </a:xfrm>
          <a:custGeom>
            <a:avLst/>
            <a:gdLst/>
            <a:ahLst/>
            <a:cxnLst/>
            <a:rect l="l" t="t" r="r" b="b"/>
            <a:pathLst>
              <a:path w="3108960" h="3088641">
                <a:moveTo>
                  <a:pt x="0" y="0"/>
                </a:moveTo>
                <a:lnTo>
                  <a:pt x="15622" y="15521"/>
                </a:lnTo>
                <a:lnTo>
                  <a:pt x="31245" y="31042"/>
                </a:lnTo>
                <a:lnTo>
                  <a:pt x="46868" y="46563"/>
                </a:lnTo>
                <a:lnTo>
                  <a:pt x="62491" y="62084"/>
                </a:lnTo>
                <a:lnTo>
                  <a:pt x="78114" y="77605"/>
                </a:lnTo>
                <a:lnTo>
                  <a:pt x="93737" y="93125"/>
                </a:lnTo>
                <a:lnTo>
                  <a:pt x="109360" y="108646"/>
                </a:lnTo>
                <a:lnTo>
                  <a:pt x="124983" y="124167"/>
                </a:lnTo>
                <a:lnTo>
                  <a:pt x="140606" y="139688"/>
                </a:lnTo>
                <a:lnTo>
                  <a:pt x="156229" y="155209"/>
                </a:lnTo>
                <a:lnTo>
                  <a:pt x="171852" y="170729"/>
                </a:lnTo>
                <a:lnTo>
                  <a:pt x="187474" y="186250"/>
                </a:lnTo>
                <a:lnTo>
                  <a:pt x="203097" y="201771"/>
                </a:lnTo>
                <a:lnTo>
                  <a:pt x="218720" y="217292"/>
                </a:lnTo>
                <a:lnTo>
                  <a:pt x="234343" y="232813"/>
                </a:lnTo>
                <a:lnTo>
                  <a:pt x="249966" y="248333"/>
                </a:lnTo>
                <a:lnTo>
                  <a:pt x="265589" y="263854"/>
                </a:lnTo>
                <a:lnTo>
                  <a:pt x="281212" y="279375"/>
                </a:lnTo>
                <a:lnTo>
                  <a:pt x="296835" y="294896"/>
                </a:lnTo>
                <a:lnTo>
                  <a:pt x="312458" y="310417"/>
                </a:lnTo>
                <a:lnTo>
                  <a:pt x="328081" y="325937"/>
                </a:lnTo>
                <a:lnTo>
                  <a:pt x="343704" y="341458"/>
                </a:lnTo>
                <a:lnTo>
                  <a:pt x="359327" y="356979"/>
                </a:lnTo>
                <a:lnTo>
                  <a:pt x="374949" y="372500"/>
                </a:lnTo>
                <a:lnTo>
                  <a:pt x="390572" y="388021"/>
                </a:lnTo>
                <a:lnTo>
                  <a:pt x="406195" y="403541"/>
                </a:lnTo>
                <a:lnTo>
                  <a:pt x="421818" y="419062"/>
                </a:lnTo>
                <a:lnTo>
                  <a:pt x="437441" y="434583"/>
                </a:lnTo>
                <a:lnTo>
                  <a:pt x="453064" y="450104"/>
                </a:lnTo>
                <a:lnTo>
                  <a:pt x="468687" y="465625"/>
                </a:lnTo>
                <a:lnTo>
                  <a:pt x="484310" y="481145"/>
                </a:lnTo>
                <a:lnTo>
                  <a:pt x="499933" y="496666"/>
                </a:lnTo>
                <a:lnTo>
                  <a:pt x="515556" y="512187"/>
                </a:lnTo>
                <a:lnTo>
                  <a:pt x="531179" y="527708"/>
                </a:lnTo>
                <a:lnTo>
                  <a:pt x="546802" y="543229"/>
                </a:lnTo>
                <a:lnTo>
                  <a:pt x="562424" y="558749"/>
                </a:lnTo>
                <a:lnTo>
                  <a:pt x="578047" y="574270"/>
                </a:lnTo>
                <a:lnTo>
                  <a:pt x="593670" y="589791"/>
                </a:lnTo>
                <a:lnTo>
                  <a:pt x="609293" y="605312"/>
                </a:lnTo>
                <a:lnTo>
                  <a:pt x="624916" y="620833"/>
                </a:lnTo>
                <a:lnTo>
                  <a:pt x="640539" y="636353"/>
                </a:lnTo>
                <a:lnTo>
                  <a:pt x="656162" y="651874"/>
                </a:lnTo>
                <a:lnTo>
                  <a:pt x="671785" y="667395"/>
                </a:lnTo>
                <a:lnTo>
                  <a:pt x="687408" y="682916"/>
                </a:lnTo>
                <a:lnTo>
                  <a:pt x="703031" y="698437"/>
                </a:lnTo>
                <a:lnTo>
                  <a:pt x="718654" y="713957"/>
                </a:lnTo>
                <a:lnTo>
                  <a:pt x="734276" y="729478"/>
                </a:lnTo>
                <a:lnTo>
                  <a:pt x="749899" y="744999"/>
                </a:lnTo>
                <a:lnTo>
                  <a:pt x="765522" y="760520"/>
                </a:lnTo>
                <a:lnTo>
                  <a:pt x="781145" y="776041"/>
                </a:lnTo>
                <a:lnTo>
                  <a:pt x="796768" y="791562"/>
                </a:lnTo>
                <a:lnTo>
                  <a:pt x="812391" y="807082"/>
                </a:lnTo>
                <a:lnTo>
                  <a:pt x="828014" y="822603"/>
                </a:lnTo>
                <a:lnTo>
                  <a:pt x="843637" y="838124"/>
                </a:lnTo>
                <a:lnTo>
                  <a:pt x="859260" y="853645"/>
                </a:lnTo>
                <a:lnTo>
                  <a:pt x="874883" y="869166"/>
                </a:lnTo>
                <a:lnTo>
                  <a:pt x="890506" y="884686"/>
                </a:lnTo>
                <a:lnTo>
                  <a:pt x="906129" y="900207"/>
                </a:lnTo>
                <a:lnTo>
                  <a:pt x="921751" y="915728"/>
                </a:lnTo>
                <a:lnTo>
                  <a:pt x="937374" y="931249"/>
                </a:lnTo>
                <a:lnTo>
                  <a:pt x="952997" y="946770"/>
                </a:lnTo>
                <a:lnTo>
                  <a:pt x="968620" y="962290"/>
                </a:lnTo>
                <a:lnTo>
                  <a:pt x="984243" y="977811"/>
                </a:lnTo>
                <a:lnTo>
                  <a:pt x="999866" y="993332"/>
                </a:lnTo>
                <a:lnTo>
                  <a:pt x="1015489" y="1008853"/>
                </a:lnTo>
                <a:lnTo>
                  <a:pt x="1031112" y="1024374"/>
                </a:lnTo>
                <a:lnTo>
                  <a:pt x="1046735" y="1039894"/>
                </a:lnTo>
                <a:lnTo>
                  <a:pt x="1062358" y="1055415"/>
                </a:lnTo>
                <a:lnTo>
                  <a:pt x="1077981" y="1070936"/>
                </a:lnTo>
                <a:lnTo>
                  <a:pt x="1093604" y="1086457"/>
                </a:lnTo>
                <a:lnTo>
                  <a:pt x="1109226" y="1101978"/>
                </a:lnTo>
                <a:lnTo>
                  <a:pt x="1124849" y="1117498"/>
                </a:lnTo>
                <a:lnTo>
                  <a:pt x="1140472" y="1133019"/>
                </a:lnTo>
                <a:lnTo>
                  <a:pt x="1156095" y="1148540"/>
                </a:lnTo>
                <a:lnTo>
                  <a:pt x="1171718" y="1164061"/>
                </a:lnTo>
                <a:lnTo>
                  <a:pt x="1187341" y="1179582"/>
                </a:lnTo>
                <a:lnTo>
                  <a:pt x="1202964" y="1195102"/>
                </a:lnTo>
                <a:lnTo>
                  <a:pt x="1218587" y="1210623"/>
                </a:lnTo>
                <a:lnTo>
                  <a:pt x="1234210" y="1226144"/>
                </a:lnTo>
                <a:lnTo>
                  <a:pt x="1249833" y="1241665"/>
                </a:lnTo>
                <a:lnTo>
                  <a:pt x="1265456" y="1257186"/>
                </a:lnTo>
                <a:lnTo>
                  <a:pt x="1281078" y="1272706"/>
                </a:lnTo>
                <a:lnTo>
                  <a:pt x="1296701" y="1288227"/>
                </a:lnTo>
                <a:lnTo>
                  <a:pt x="1312324" y="1303748"/>
                </a:lnTo>
                <a:lnTo>
                  <a:pt x="1327947" y="1319269"/>
                </a:lnTo>
                <a:lnTo>
                  <a:pt x="1343570" y="1334790"/>
                </a:lnTo>
                <a:lnTo>
                  <a:pt x="1359193" y="1350310"/>
                </a:lnTo>
                <a:lnTo>
                  <a:pt x="1374816" y="1365831"/>
                </a:lnTo>
                <a:lnTo>
                  <a:pt x="1390439" y="1381352"/>
                </a:lnTo>
                <a:lnTo>
                  <a:pt x="1406062" y="1396873"/>
                </a:lnTo>
                <a:lnTo>
                  <a:pt x="1421685" y="1412394"/>
                </a:lnTo>
                <a:lnTo>
                  <a:pt x="1437308" y="1427914"/>
                </a:lnTo>
                <a:lnTo>
                  <a:pt x="1452931" y="1443435"/>
                </a:lnTo>
                <a:lnTo>
                  <a:pt x="1468553" y="1458956"/>
                </a:lnTo>
                <a:lnTo>
                  <a:pt x="1484176" y="1474477"/>
                </a:lnTo>
                <a:lnTo>
                  <a:pt x="1499799" y="1489998"/>
                </a:lnTo>
                <a:lnTo>
                  <a:pt x="1515422" y="1505518"/>
                </a:lnTo>
                <a:lnTo>
                  <a:pt x="1531045" y="1521039"/>
                </a:lnTo>
                <a:lnTo>
                  <a:pt x="1546668" y="1536560"/>
                </a:lnTo>
                <a:lnTo>
                  <a:pt x="1562291" y="1552081"/>
                </a:lnTo>
                <a:lnTo>
                  <a:pt x="1577914" y="1567602"/>
                </a:lnTo>
                <a:lnTo>
                  <a:pt x="1593537" y="1583123"/>
                </a:lnTo>
                <a:lnTo>
                  <a:pt x="1609160" y="1598643"/>
                </a:lnTo>
                <a:lnTo>
                  <a:pt x="1624783" y="1614164"/>
                </a:lnTo>
                <a:lnTo>
                  <a:pt x="1640406" y="1629685"/>
                </a:lnTo>
                <a:lnTo>
                  <a:pt x="1656028" y="1645206"/>
                </a:lnTo>
                <a:lnTo>
                  <a:pt x="1671651" y="1660727"/>
                </a:lnTo>
                <a:lnTo>
                  <a:pt x="1687274" y="1676247"/>
                </a:lnTo>
                <a:lnTo>
                  <a:pt x="1702897" y="1691768"/>
                </a:lnTo>
                <a:lnTo>
                  <a:pt x="1718520" y="1707289"/>
                </a:lnTo>
                <a:lnTo>
                  <a:pt x="1734143" y="1722810"/>
                </a:lnTo>
                <a:lnTo>
                  <a:pt x="1749766" y="1738331"/>
                </a:lnTo>
                <a:lnTo>
                  <a:pt x="1765389" y="1753851"/>
                </a:lnTo>
                <a:lnTo>
                  <a:pt x="1781012" y="1769372"/>
                </a:lnTo>
                <a:lnTo>
                  <a:pt x="1796635" y="1784893"/>
                </a:lnTo>
                <a:lnTo>
                  <a:pt x="1812258" y="1800414"/>
                </a:lnTo>
                <a:lnTo>
                  <a:pt x="1827881" y="1815935"/>
                </a:lnTo>
                <a:lnTo>
                  <a:pt x="1843503" y="1831455"/>
                </a:lnTo>
                <a:lnTo>
                  <a:pt x="1859126" y="1846976"/>
                </a:lnTo>
                <a:lnTo>
                  <a:pt x="1874749" y="1862497"/>
                </a:lnTo>
                <a:lnTo>
                  <a:pt x="1890372" y="1878018"/>
                </a:lnTo>
                <a:lnTo>
                  <a:pt x="1905995" y="1893539"/>
                </a:lnTo>
                <a:lnTo>
                  <a:pt x="1921618" y="1909059"/>
                </a:lnTo>
                <a:lnTo>
                  <a:pt x="1937241" y="1924580"/>
                </a:lnTo>
                <a:lnTo>
                  <a:pt x="1952864" y="1940101"/>
                </a:lnTo>
                <a:lnTo>
                  <a:pt x="1968487" y="1955622"/>
                </a:lnTo>
                <a:lnTo>
                  <a:pt x="1984110" y="1971143"/>
                </a:lnTo>
                <a:lnTo>
                  <a:pt x="1999733" y="1986663"/>
                </a:lnTo>
                <a:lnTo>
                  <a:pt x="2015355" y="2002184"/>
                </a:lnTo>
                <a:lnTo>
                  <a:pt x="2030978" y="2017705"/>
                </a:lnTo>
                <a:lnTo>
                  <a:pt x="2046601" y="2033226"/>
                </a:lnTo>
                <a:lnTo>
                  <a:pt x="2062224" y="2048747"/>
                </a:lnTo>
                <a:lnTo>
                  <a:pt x="2077847" y="2064267"/>
                </a:lnTo>
                <a:lnTo>
                  <a:pt x="2093470" y="2079788"/>
                </a:lnTo>
                <a:lnTo>
                  <a:pt x="2109093" y="2095309"/>
                </a:lnTo>
                <a:lnTo>
                  <a:pt x="2124716" y="2110830"/>
                </a:lnTo>
                <a:lnTo>
                  <a:pt x="2140339" y="2126351"/>
                </a:lnTo>
                <a:lnTo>
                  <a:pt x="2155962" y="2141871"/>
                </a:lnTo>
                <a:lnTo>
                  <a:pt x="2171585" y="2157392"/>
                </a:lnTo>
                <a:lnTo>
                  <a:pt x="2187208" y="2172913"/>
                </a:lnTo>
                <a:lnTo>
                  <a:pt x="2202830" y="2188434"/>
                </a:lnTo>
                <a:lnTo>
                  <a:pt x="2218453" y="2203955"/>
                </a:lnTo>
                <a:lnTo>
                  <a:pt x="2234076" y="2219475"/>
                </a:lnTo>
                <a:lnTo>
                  <a:pt x="2249699" y="2234996"/>
                </a:lnTo>
                <a:lnTo>
                  <a:pt x="2265322" y="2250517"/>
                </a:lnTo>
                <a:lnTo>
                  <a:pt x="2280945" y="2266038"/>
                </a:lnTo>
                <a:lnTo>
                  <a:pt x="2296568" y="2281559"/>
                </a:lnTo>
                <a:lnTo>
                  <a:pt x="2312191" y="2297079"/>
                </a:lnTo>
                <a:lnTo>
                  <a:pt x="2327814" y="2312600"/>
                </a:lnTo>
                <a:lnTo>
                  <a:pt x="2343437" y="2328121"/>
                </a:lnTo>
                <a:lnTo>
                  <a:pt x="2359060" y="2343642"/>
                </a:lnTo>
                <a:lnTo>
                  <a:pt x="2374683" y="2359163"/>
                </a:lnTo>
                <a:lnTo>
                  <a:pt x="2390305" y="2374684"/>
                </a:lnTo>
                <a:lnTo>
                  <a:pt x="2405928" y="2390204"/>
                </a:lnTo>
                <a:lnTo>
                  <a:pt x="2421551" y="2405725"/>
                </a:lnTo>
                <a:lnTo>
                  <a:pt x="2437174" y="2421246"/>
                </a:lnTo>
                <a:lnTo>
                  <a:pt x="2452797" y="2436767"/>
                </a:lnTo>
                <a:lnTo>
                  <a:pt x="2468420" y="2452288"/>
                </a:lnTo>
                <a:lnTo>
                  <a:pt x="2484043" y="2467808"/>
                </a:lnTo>
                <a:lnTo>
                  <a:pt x="2499666" y="2483329"/>
                </a:lnTo>
                <a:lnTo>
                  <a:pt x="2515289" y="2498850"/>
                </a:lnTo>
                <a:lnTo>
                  <a:pt x="2530912" y="2514371"/>
                </a:lnTo>
                <a:lnTo>
                  <a:pt x="2546535" y="2529892"/>
                </a:lnTo>
                <a:lnTo>
                  <a:pt x="2562157" y="2545412"/>
                </a:lnTo>
                <a:lnTo>
                  <a:pt x="2577780" y="2560933"/>
                </a:lnTo>
                <a:lnTo>
                  <a:pt x="2593403" y="2576454"/>
                </a:lnTo>
                <a:lnTo>
                  <a:pt x="2609026" y="2591975"/>
                </a:lnTo>
                <a:lnTo>
                  <a:pt x="2624649" y="2607496"/>
                </a:lnTo>
                <a:lnTo>
                  <a:pt x="2640272" y="2623016"/>
                </a:lnTo>
                <a:lnTo>
                  <a:pt x="2655895" y="2638537"/>
                </a:lnTo>
                <a:lnTo>
                  <a:pt x="2671518" y="2654058"/>
                </a:lnTo>
                <a:lnTo>
                  <a:pt x="2687141" y="2669579"/>
                </a:lnTo>
                <a:lnTo>
                  <a:pt x="2702764" y="2685100"/>
                </a:lnTo>
                <a:lnTo>
                  <a:pt x="2718387" y="2700620"/>
                </a:lnTo>
                <a:lnTo>
                  <a:pt x="2734010" y="2716141"/>
                </a:lnTo>
                <a:lnTo>
                  <a:pt x="2749632" y="2731662"/>
                </a:lnTo>
                <a:lnTo>
                  <a:pt x="2765255" y="2747183"/>
                </a:lnTo>
                <a:lnTo>
                  <a:pt x="2780878" y="2762704"/>
                </a:lnTo>
                <a:lnTo>
                  <a:pt x="2796501" y="2778224"/>
                </a:lnTo>
                <a:lnTo>
                  <a:pt x="2812124" y="2793745"/>
                </a:lnTo>
                <a:lnTo>
                  <a:pt x="2827747" y="2809266"/>
                </a:lnTo>
                <a:lnTo>
                  <a:pt x="2843370" y="2824787"/>
                </a:lnTo>
                <a:lnTo>
                  <a:pt x="2858993" y="2840308"/>
                </a:lnTo>
                <a:lnTo>
                  <a:pt x="2874616" y="2855828"/>
                </a:lnTo>
                <a:lnTo>
                  <a:pt x="2890239" y="2871349"/>
                </a:lnTo>
                <a:lnTo>
                  <a:pt x="2905862" y="2886870"/>
                </a:lnTo>
                <a:lnTo>
                  <a:pt x="2921485" y="2902391"/>
                </a:lnTo>
                <a:lnTo>
                  <a:pt x="2937107" y="2917912"/>
                </a:lnTo>
                <a:lnTo>
                  <a:pt x="2952730" y="2933432"/>
                </a:lnTo>
                <a:lnTo>
                  <a:pt x="2968353" y="2948953"/>
                </a:lnTo>
                <a:lnTo>
                  <a:pt x="2983976" y="2964474"/>
                </a:lnTo>
                <a:lnTo>
                  <a:pt x="2999599" y="2979995"/>
                </a:lnTo>
                <a:lnTo>
                  <a:pt x="3015222" y="2995516"/>
                </a:lnTo>
                <a:lnTo>
                  <a:pt x="3030845" y="3011036"/>
                </a:lnTo>
                <a:lnTo>
                  <a:pt x="3046468" y="3026557"/>
                </a:lnTo>
                <a:lnTo>
                  <a:pt x="3062091" y="3042078"/>
                </a:lnTo>
                <a:lnTo>
                  <a:pt x="3077714" y="3057599"/>
                </a:lnTo>
                <a:lnTo>
                  <a:pt x="3093337" y="3073120"/>
                </a:lnTo>
                <a:lnTo>
                  <a:pt x="3108960" y="3088641"/>
                </a:lnTo>
              </a:path>
            </a:pathLst>
          </a:custGeom>
          <a:noFill/>
          <a:ln w="381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-E15 ellipse 28" descr="sci-ppt:o028"/>
          <p:cNvSpPr/>
          <p:nvPr/>
        </p:nvSpPr>
        <p:spPr>
          <a:xfrm>
            <a:off x="1618488" y="2263647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-E15 text 29" descr="sci-ppt:o029"/>
          <p:cNvSpPr txBox="1"/>
          <p:nvPr/>
        </p:nvSpPr>
        <p:spPr>
          <a:xfrm>
            <a:off x="1828800" y="2247290"/>
            <a:ext cx="21945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+13.33 kPa at Ṙ = −10 m/s</a:t>
            </a:r>
          </a:p>
        </p:txBody>
      </p:sp>
      <p:cxnSp>
        <p:nvCxnSpPr>
          <p:cNvPr id="32" name="A-E15 line 30" descr="sci-ppt:o030"/>
          <p:cNvCxnSpPr/>
          <p:nvPr/>
        </p:nvCxnSpPr>
        <p:spPr>
          <a:xfrm>
            <a:off x="5303520" y="4846320"/>
            <a:ext cx="31089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3" name="A-E15 line 31" descr="sci-ppt:o031"/>
          <p:cNvCxnSpPr/>
          <p:nvPr/>
        </p:nvCxnSpPr>
        <p:spPr>
          <a:xfrm>
            <a:off x="530352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4" name="A-E15 line 32" descr="sci-ppt:o032"/>
          <p:cNvCxnSpPr/>
          <p:nvPr/>
        </p:nvCxnSpPr>
        <p:spPr>
          <a:xfrm>
            <a:off x="53035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A-E15 line 33" descr="sci-ppt:o033"/>
          <p:cNvCxnSpPr/>
          <p:nvPr/>
        </p:nvCxnSpPr>
        <p:spPr>
          <a:xfrm>
            <a:off x="53035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A-E15 text 34" descr="sci-ppt:o034"/>
          <p:cNvSpPr txBox="1"/>
          <p:nvPr/>
        </p:nvSpPr>
        <p:spPr>
          <a:xfrm>
            <a:off x="48463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-20</a:t>
            </a:r>
          </a:p>
        </p:txBody>
      </p:sp>
      <p:cxnSp>
        <p:nvCxnSpPr>
          <p:cNvPr id="37" name="A-E15 line 35" descr="sci-ppt:o035"/>
          <p:cNvCxnSpPr/>
          <p:nvPr/>
        </p:nvCxnSpPr>
        <p:spPr>
          <a:xfrm>
            <a:off x="68580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A-E15 line 36" descr="sci-ppt:o036"/>
          <p:cNvCxnSpPr/>
          <p:nvPr/>
        </p:nvCxnSpPr>
        <p:spPr>
          <a:xfrm>
            <a:off x="68580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9" name="A-E15 text 37" descr="sci-ppt:o037"/>
          <p:cNvSpPr txBox="1"/>
          <p:nvPr/>
        </p:nvSpPr>
        <p:spPr>
          <a:xfrm>
            <a:off x="64008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40" name="A-E15 line 38" descr="sci-ppt:o038"/>
          <p:cNvCxnSpPr/>
          <p:nvPr/>
        </p:nvCxnSpPr>
        <p:spPr>
          <a:xfrm>
            <a:off x="841248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A-E15 line 39" descr="sci-ppt:o039"/>
          <p:cNvCxnSpPr/>
          <p:nvPr/>
        </p:nvCxnSpPr>
        <p:spPr>
          <a:xfrm>
            <a:off x="841248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2" name="A-E15 text 40" descr="sci-ppt:o040"/>
          <p:cNvSpPr txBox="1"/>
          <p:nvPr/>
        </p:nvSpPr>
        <p:spPr>
          <a:xfrm>
            <a:off x="7955279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43" name="A-E15 line 41" descr="sci-ppt:o041"/>
          <p:cNvCxnSpPr/>
          <p:nvPr/>
        </p:nvCxnSpPr>
        <p:spPr>
          <a:xfrm>
            <a:off x="523951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A-E15 line 42" descr="sci-ppt:o042"/>
          <p:cNvCxnSpPr/>
          <p:nvPr/>
        </p:nvCxnSpPr>
        <p:spPr>
          <a:xfrm>
            <a:off x="5239512" y="3688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A-E15 line 43" descr="sci-ppt:o043"/>
          <p:cNvCxnSpPr/>
          <p:nvPr/>
        </p:nvCxnSpPr>
        <p:spPr>
          <a:xfrm>
            <a:off x="5303520" y="368808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A-E15 text 44" descr="sci-ppt:o044"/>
          <p:cNvSpPr txBox="1"/>
          <p:nvPr/>
        </p:nvSpPr>
        <p:spPr>
          <a:xfrm>
            <a:off x="4434840" y="3605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7" name="A-E15 line 45" descr="sci-ppt:o045"/>
          <p:cNvCxnSpPr/>
          <p:nvPr/>
        </p:nvCxnSpPr>
        <p:spPr>
          <a:xfrm>
            <a:off x="5239512" y="25298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A-E15 line 46" descr="sci-ppt:o046"/>
          <p:cNvCxnSpPr/>
          <p:nvPr/>
        </p:nvCxnSpPr>
        <p:spPr>
          <a:xfrm>
            <a:off x="5303520" y="252984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9" name="A-E15 text 47" descr="sci-ppt:o047"/>
          <p:cNvSpPr txBox="1"/>
          <p:nvPr/>
        </p:nvSpPr>
        <p:spPr>
          <a:xfrm>
            <a:off x="4434840" y="24475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50" name="A-E15 line 48" descr="sci-ppt:o048"/>
          <p:cNvCxnSpPr/>
          <p:nvPr/>
        </p:nvCxnSpPr>
        <p:spPr>
          <a:xfrm>
            <a:off x="523951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1" name="A-E15 line 49" descr="sci-ppt:o049"/>
          <p:cNvCxnSpPr/>
          <p:nvPr/>
        </p:nvCxnSpPr>
        <p:spPr>
          <a:xfrm>
            <a:off x="5303520" y="1371600"/>
            <a:ext cx="31089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2" name="A-E15 text 50" descr="sci-ppt:o050"/>
          <p:cNvSpPr txBox="1"/>
          <p:nvPr/>
        </p:nvSpPr>
        <p:spPr>
          <a:xfrm>
            <a:off x="443484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53" name="A-E15 text 51" descr="sci-ppt:o051"/>
          <p:cNvSpPr txBox="1"/>
          <p:nvPr/>
        </p:nvSpPr>
        <p:spPr>
          <a:xfrm>
            <a:off x="5303520" y="5129783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wall speed Ṙ  (m/s)</a:t>
            </a:r>
          </a:p>
        </p:txBody>
      </p:sp>
      <p:sp>
        <p:nvSpPr>
          <p:cNvPr id="54" name="A-E15 text 52" descr="sci-ppt:o052"/>
          <p:cNvSpPr txBox="1"/>
          <p:nvPr/>
        </p:nvSpPr>
        <p:spPr>
          <a:xfrm>
            <a:off x="4754880" y="1024128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P_dis  (mW)</a:t>
            </a:r>
          </a:p>
        </p:txBody>
      </p:sp>
      <p:sp>
        <p:nvSpPr>
          <p:cNvPr id="55" name="A-E15 polygon 53" descr="sci-ppt:o053"/>
          <p:cNvSpPr/>
          <p:nvPr/>
        </p:nvSpPr>
        <p:spPr>
          <a:xfrm>
            <a:off x="5319142" y="1423012"/>
            <a:ext cx="3077715" cy="3423219"/>
          </a:xfrm>
          <a:custGeom>
            <a:avLst/>
            <a:gdLst/>
            <a:ahLst/>
            <a:cxnLst/>
            <a:rect l="l" t="t" r="r" b="b"/>
            <a:pathLst>
              <a:path w="3077715" h="3423219">
                <a:moveTo>
                  <a:pt x="0" y="0"/>
                </a:moveTo>
                <a:lnTo>
                  <a:pt x="15623" y="69156"/>
                </a:lnTo>
                <a:lnTo>
                  <a:pt x="31246" y="137606"/>
                </a:lnTo>
                <a:lnTo>
                  <a:pt x="46869" y="205350"/>
                </a:lnTo>
                <a:lnTo>
                  <a:pt x="62492" y="272389"/>
                </a:lnTo>
                <a:lnTo>
                  <a:pt x="78115" y="338723"/>
                </a:lnTo>
                <a:lnTo>
                  <a:pt x="93738" y="404350"/>
                </a:lnTo>
                <a:lnTo>
                  <a:pt x="109361" y="469272"/>
                </a:lnTo>
                <a:lnTo>
                  <a:pt x="124984" y="533488"/>
                </a:lnTo>
                <a:lnTo>
                  <a:pt x="140607" y="596999"/>
                </a:lnTo>
                <a:lnTo>
                  <a:pt x="156230" y="659804"/>
                </a:lnTo>
                <a:lnTo>
                  <a:pt x="171852" y="721903"/>
                </a:lnTo>
                <a:lnTo>
                  <a:pt x="187475" y="783297"/>
                </a:lnTo>
                <a:lnTo>
                  <a:pt x="203098" y="843984"/>
                </a:lnTo>
                <a:lnTo>
                  <a:pt x="218721" y="903967"/>
                </a:lnTo>
                <a:lnTo>
                  <a:pt x="234344" y="963243"/>
                </a:lnTo>
                <a:lnTo>
                  <a:pt x="249967" y="1021814"/>
                </a:lnTo>
                <a:lnTo>
                  <a:pt x="265590" y="1079679"/>
                </a:lnTo>
                <a:lnTo>
                  <a:pt x="281213" y="1136839"/>
                </a:lnTo>
                <a:lnTo>
                  <a:pt x="296836" y="1193293"/>
                </a:lnTo>
                <a:lnTo>
                  <a:pt x="312459" y="1249041"/>
                </a:lnTo>
                <a:lnTo>
                  <a:pt x="328082" y="1304083"/>
                </a:lnTo>
                <a:lnTo>
                  <a:pt x="343705" y="1358420"/>
                </a:lnTo>
                <a:lnTo>
                  <a:pt x="359327" y="1412051"/>
                </a:lnTo>
                <a:lnTo>
                  <a:pt x="374950" y="1464977"/>
                </a:lnTo>
                <a:lnTo>
                  <a:pt x="390573" y="1517197"/>
                </a:lnTo>
                <a:lnTo>
                  <a:pt x="406196" y="1568711"/>
                </a:lnTo>
                <a:lnTo>
                  <a:pt x="421819" y="1619519"/>
                </a:lnTo>
                <a:lnTo>
                  <a:pt x="437442" y="1669622"/>
                </a:lnTo>
                <a:lnTo>
                  <a:pt x="453065" y="1719019"/>
                </a:lnTo>
                <a:lnTo>
                  <a:pt x="468688" y="1767710"/>
                </a:lnTo>
                <a:lnTo>
                  <a:pt x="484311" y="1815696"/>
                </a:lnTo>
                <a:lnTo>
                  <a:pt x="499934" y="1862976"/>
                </a:lnTo>
                <a:lnTo>
                  <a:pt x="515557" y="1909551"/>
                </a:lnTo>
                <a:lnTo>
                  <a:pt x="531180" y="1955419"/>
                </a:lnTo>
                <a:lnTo>
                  <a:pt x="546802" y="2000583"/>
                </a:lnTo>
                <a:lnTo>
                  <a:pt x="562425" y="2045040"/>
                </a:lnTo>
                <a:lnTo>
                  <a:pt x="578048" y="2088792"/>
                </a:lnTo>
                <a:lnTo>
                  <a:pt x="593671" y="2131838"/>
                </a:lnTo>
                <a:lnTo>
                  <a:pt x="609294" y="2174178"/>
                </a:lnTo>
                <a:lnTo>
                  <a:pt x="624917" y="2215813"/>
                </a:lnTo>
                <a:lnTo>
                  <a:pt x="640540" y="2256742"/>
                </a:lnTo>
                <a:lnTo>
                  <a:pt x="656163" y="2296965"/>
                </a:lnTo>
                <a:lnTo>
                  <a:pt x="671786" y="2336483"/>
                </a:lnTo>
                <a:lnTo>
                  <a:pt x="687409" y="2375295"/>
                </a:lnTo>
                <a:lnTo>
                  <a:pt x="703032" y="2413401"/>
                </a:lnTo>
                <a:lnTo>
                  <a:pt x="718654" y="2450802"/>
                </a:lnTo>
                <a:lnTo>
                  <a:pt x="734277" y="2487497"/>
                </a:lnTo>
                <a:lnTo>
                  <a:pt x="749900" y="2523486"/>
                </a:lnTo>
                <a:lnTo>
                  <a:pt x="765523" y="2558770"/>
                </a:lnTo>
                <a:lnTo>
                  <a:pt x="781146" y="2593348"/>
                </a:lnTo>
                <a:lnTo>
                  <a:pt x="796769" y="2627220"/>
                </a:lnTo>
                <a:lnTo>
                  <a:pt x="812392" y="2660387"/>
                </a:lnTo>
                <a:lnTo>
                  <a:pt x="828015" y="2692848"/>
                </a:lnTo>
                <a:lnTo>
                  <a:pt x="843638" y="2724603"/>
                </a:lnTo>
                <a:lnTo>
                  <a:pt x="859261" y="2755653"/>
                </a:lnTo>
                <a:lnTo>
                  <a:pt x="874884" y="2785997"/>
                </a:lnTo>
                <a:lnTo>
                  <a:pt x="890507" y="2815635"/>
                </a:lnTo>
                <a:lnTo>
                  <a:pt x="906129" y="2844567"/>
                </a:lnTo>
                <a:lnTo>
                  <a:pt x="921752" y="2872794"/>
                </a:lnTo>
                <a:lnTo>
                  <a:pt x="937375" y="2900316"/>
                </a:lnTo>
                <a:lnTo>
                  <a:pt x="952998" y="2927131"/>
                </a:lnTo>
                <a:lnTo>
                  <a:pt x="968621" y="2953241"/>
                </a:lnTo>
                <a:lnTo>
                  <a:pt x="984244" y="2978645"/>
                </a:lnTo>
                <a:lnTo>
                  <a:pt x="999867" y="3003344"/>
                </a:lnTo>
                <a:lnTo>
                  <a:pt x="1015490" y="3027337"/>
                </a:lnTo>
                <a:lnTo>
                  <a:pt x="1031113" y="3050624"/>
                </a:lnTo>
                <a:lnTo>
                  <a:pt x="1046736" y="3073205"/>
                </a:lnTo>
                <a:lnTo>
                  <a:pt x="1062359" y="3095081"/>
                </a:lnTo>
                <a:lnTo>
                  <a:pt x="1077982" y="3116252"/>
                </a:lnTo>
                <a:lnTo>
                  <a:pt x="1093604" y="3136716"/>
                </a:lnTo>
                <a:lnTo>
                  <a:pt x="1109227" y="3156475"/>
                </a:lnTo>
                <a:lnTo>
                  <a:pt x="1124850" y="3175528"/>
                </a:lnTo>
                <a:lnTo>
                  <a:pt x="1140473" y="3193876"/>
                </a:lnTo>
                <a:lnTo>
                  <a:pt x="1156096" y="3211517"/>
                </a:lnTo>
                <a:lnTo>
                  <a:pt x="1171719" y="3228454"/>
                </a:lnTo>
                <a:lnTo>
                  <a:pt x="1187342" y="3244684"/>
                </a:lnTo>
                <a:lnTo>
                  <a:pt x="1202965" y="3260209"/>
                </a:lnTo>
                <a:lnTo>
                  <a:pt x="1218588" y="3275028"/>
                </a:lnTo>
                <a:lnTo>
                  <a:pt x="1234211" y="3289141"/>
                </a:lnTo>
                <a:lnTo>
                  <a:pt x="1249834" y="3302549"/>
                </a:lnTo>
                <a:lnTo>
                  <a:pt x="1265456" y="3315251"/>
                </a:lnTo>
                <a:lnTo>
                  <a:pt x="1281079" y="3327248"/>
                </a:lnTo>
                <a:lnTo>
                  <a:pt x="1296702" y="3338539"/>
                </a:lnTo>
                <a:lnTo>
                  <a:pt x="1312325" y="3349124"/>
                </a:lnTo>
                <a:lnTo>
                  <a:pt x="1327948" y="3359003"/>
                </a:lnTo>
                <a:lnTo>
                  <a:pt x="1343571" y="3368177"/>
                </a:lnTo>
                <a:lnTo>
                  <a:pt x="1359194" y="3376645"/>
                </a:lnTo>
                <a:lnTo>
                  <a:pt x="1374817" y="3384407"/>
                </a:lnTo>
                <a:lnTo>
                  <a:pt x="1390440" y="3391464"/>
                </a:lnTo>
                <a:lnTo>
                  <a:pt x="1406063" y="3397815"/>
                </a:lnTo>
                <a:lnTo>
                  <a:pt x="1421686" y="3403460"/>
                </a:lnTo>
                <a:lnTo>
                  <a:pt x="1437309" y="3408400"/>
                </a:lnTo>
                <a:lnTo>
                  <a:pt x="1452931" y="3412634"/>
                </a:lnTo>
                <a:lnTo>
                  <a:pt x="1468554" y="3416163"/>
                </a:lnTo>
                <a:lnTo>
                  <a:pt x="1484177" y="3418985"/>
                </a:lnTo>
                <a:lnTo>
                  <a:pt x="1499800" y="3421102"/>
                </a:lnTo>
                <a:lnTo>
                  <a:pt x="1515423" y="3422514"/>
                </a:lnTo>
                <a:lnTo>
                  <a:pt x="1531046" y="3423219"/>
                </a:lnTo>
                <a:lnTo>
                  <a:pt x="1546669" y="3423219"/>
                </a:lnTo>
                <a:lnTo>
                  <a:pt x="1562292" y="3422514"/>
                </a:lnTo>
                <a:lnTo>
                  <a:pt x="1577915" y="3421102"/>
                </a:lnTo>
                <a:lnTo>
                  <a:pt x="1593538" y="3418985"/>
                </a:lnTo>
                <a:lnTo>
                  <a:pt x="1609161" y="3416163"/>
                </a:lnTo>
                <a:lnTo>
                  <a:pt x="1624784" y="3412634"/>
                </a:lnTo>
                <a:lnTo>
                  <a:pt x="1640406" y="3408400"/>
                </a:lnTo>
                <a:lnTo>
                  <a:pt x="1656029" y="3403460"/>
                </a:lnTo>
                <a:lnTo>
                  <a:pt x="1671652" y="3397815"/>
                </a:lnTo>
                <a:lnTo>
                  <a:pt x="1687275" y="3391464"/>
                </a:lnTo>
                <a:lnTo>
                  <a:pt x="1702898" y="3384407"/>
                </a:lnTo>
                <a:lnTo>
                  <a:pt x="1718521" y="3376645"/>
                </a:lnTo>
                <a:lnTo>
                  <a:pt x="1734144" y="3368177"/>
                </a:lnTo>
                <a:lnTo>
                  <a:pt x="1749767" y="3359003"/>
                </a:lnTo>
                <a:lnTo>
                  <a:pt x="1765390" y="3349124"/>
                </a:lnTo>
                <a:lnTo>
                  <a:pt x="1781013" y="3338539"/>
                </a:lnTo>
                <a:lnTo>
                  <a:pt x="1796636" y="3327248"/>
                </a:lnTo>
                <a:lnTo>
                  <a:pt x="1812259" y="3315251"/>
                </a:lnTo>
                <a:lnTo>
                  <a:pt x="1827881" y="3302549"/>
                </a:lnTo>
                <a:lnTo>
                  <a:pt x="1843504" y="3289141"/>
                </a:lnTo>
                <a:lnTo>
                  <a:pt x="1859127" y="3275028"/>
                </a:lnTo>
                <a:lnTo>
                  <a:pt x="1874750" y="3260209"/>
                </a:lnTo>
                <a:lnTo>
                  <a:pt x="1890373" y="3244684"/>
                </a:lnTo>
                <a:lnTo>
                  <a:pt x="1905996" y="3228454"/>
                </a:lnTo>
                <a:lnTo>
                  <a:pt x="1921619" y="3211517"/>
                </a:lnTo>
                <a:lnTo>
                  <a:pt x="1937242" y="3193876"/>
                </a:lnTo>
                <a:lnTo>
                  <a:pt x="1952865" y="3175528"/>
                </a:lnTo>
                <a:lnTo>
                  <a:pt x="1968488" y="3156475"/>
                </a:lnTo>
                <a:lnTo>
                  <a:pt x="1984111" y="3136716"/>
                </a:lnTo>
                <a:lnTo>
                  <a:pt x="1999733" y="3116252"/>
                </a:lnTo>
                <a:lnTo>
                  <a:pt x="2015356" y="3095081"/>
                </a:lnTo>
                <a:lnTo>
                  <a:pt x="2030979" y="3073205"/>
                </a:lnTo>
                <a:lnTo>
                  <a:pt x="2046602" y="3050624"/>
                </a:lnTo>
                <a:lnTo>
                  <a:pt x="2062225" y="3027337"/>
                </a:lnTo>
                <a:lnTo>
                  <a:pt x="2077848" y="3003344"/>
                </a:lnTo>
                <a:lnTo>
                  <a:pt x="2093471" y="2978645"/>
                </a:lnTo>
                <a:lnTo>
                  <a:pt x="2109094" y="2953241"/>
                </a:lnTo>
                <a:lnTo>
                  <a:pt x="2124717" y="2927131"/>
                </a:lnTo>
                <a:lnTo>
                  <a:pt x="2140340" y="2900316"/>
                </a:lnTo>
                <a:lnTo>
                  <a:pt x="2155963" y="2872794"/>
                </a:lnTo>
                <a:lnTo>
                  <a:pt x="2171586" y="2844567"/>
                </a:lnTo>
                <a:lnTo>
                  <a:pt x="2187208" y="2815635"/>
                </a:lnTo>
                <a:lnTo>
                  <a:pt x="2202831" y="2785997"/>
                </a:lnTo>
                <a:lnTo>
                  <a:pt x="2218454" y="2755653"/>
                </a:lnTo>
                <a:lnTo>
                  <a:pt x="2234077" y="2724603"/>
                </a:lnTo>
                <a:lnTo>
                  <a:pt x="2249700" y="2692848"/>
                </a:lnTo>
                <a:lnTo>
                  <a:pt x="2265323" y="2660387"/>
                </a:lnTo>
                <a:lnTo>
                  <a:pt x="2280946" y="2627220"/>
                </a:lnTo>
                <a:lnTo>
                  <a:pt x="2296569" y="2593348"/>
                </a:lnTo>
                <a:lnTo>
                  <a:pt x="2312192" y="2558770"/>
                </a:lnTo>
                <a:lnTo>
                  <a:pt x="2327815" y="2523486"/>
                </a:lnTo>
                <a:lnTo>
                  <a:pt x="2343438" y="2487497"/>
                </a:lnTo>
                <a:lnTo>
                  <a:pt x="2359061" y="2450802"/>
                </a:lnTo>
                <a:lnTo>
                  <a:pt x="2374683" y="2413401"/>
                </a:lnTo>
                <a:lnTo>
                  <a:pt x="2390306" y="2375295"/>
                </a:lnTo>
                <a:lnTo>
                  <a:pt x="2405929" y="2336483"/>
                </a:lnTo>
                <a:lnTo>
                  <a:pt x="2421552" y="2296965"/>
                </a:lnTo>
                <a:lnTo>
                  <a:pt x="2437175" y="2256742"/>
                </a:lnTo>
                <a:lnTo>
                  <a:pt x="2452798" y="2215813"/>
                </a:lnTo>
                <a:lnTo>
                  <a:pt x="2468421" y="2174178"/>
                </a:lnTo>
                <a:lnTo>
                  <a:pt x="2484044" y="2131838"/>
                </a:lnTo>
                <a:lnTo>
                  <a:pt x="2499667" y="2088792"/>
                </a:lnTo>
                <a:lnTo>
                  <a:pt x="2515290" y="2045040"/>
                </a:lnTo>
                <a:lnTo>
                  <a:pt x="2530913" y="2000583"/>
                </a:lnTo>
                <a:lnTo>
                  <a:pt x="2546535" y="1955419"/>
                </a:lnTo>
                <a:lnTo>
                  <a:pt x="2562158" y="1909551"/>
                </a:lnTo>
                <a:lnTo>
                  <a:pt x="2577781" y="1862976"/>
                </a:lnTo>
                <a:lnTo>
                  <a:pt x="2593404" y="1815696"/>
                </a:lnTo>
                <a:lnTo>
                  <a:pt x="2609027" y="1767710"/>
                </a:lnTo>
                <a:lnTo>
                  <a:pt x="2624650" y="1719019"/>
                </a:lnTo>
                <a:lnTo>
                  <a:pt x="2640273" y="1669622"/>
                </a:lnTo>
                <a:lnTo>
                  <a:pt x="2655896" y="1619519"/>
                </a:lnTo>
                <a:lnTo>
                  <a:pt x="2671519" y="1568711"/>
                </a:lnTo>
                <a:lnTo>
                  <a:pt x="2687142" y="1517197"/>
                </a:lnTo>
                <a:lnTo>
                  <a:pt x="2702765" y="1464977"/>
                </a:lnTo>
                <a:lnTo>
                  <a:pt x="2718388" y="1412051"/>
                </a:lnTo>
                <a:lnTo>
                  <a:pt x="2734010" y="1358420"/>
                </a:lnTo>
                <a:lnTo>
                  <a:pt x="2749633" y="1304083"/>
                </a:lnTo>
                <a:lnTo>
                  <a:pt x="2765256" y="1249041"/>
                </a:lnTo>
                <a:lnTo>
                  <a:pt x="2780879" y="1193293"/>
                </a:lnTo>
                <a:lnTo>
                  <a:pt x="2796502" y="1136839"/>
                </a:lnTo>
                <a:lnTo>
                  <a:pt x="2812125" y="1079679"/>
                </a:lnTo>
                <a:lnTo>
                  <a:pt x="2827748" y="1021814"/>
                </a:lnTo>
                <a:lnTo>
                  <a:pt x="2843371" y="963243"/>
                </a:lnTo>
                <a:lnTo>
                  <a:pt x="2858994" y="903967"/>
                </a:lnTo>
                <a:lnTo>
                  <a:pt x="2874617" y="843984"/>
                </a:lnTo>
                <a:lnTo>
                  <a:pt x="2890240" y="783297"/>
                </a:lnTo>
                <a:lnTo>
                  <a:pt x="2905863" y="721903"/>
                </a:lnTo>
                <a:lnTo>
                  <a:pt x="2921485" y="659804"/>
                </a:lnTo>
                <a:lnTo>
                  <a:pt x="2937108" y="596999"/>
                </a:lnTo>
                <a:lnTo>
                  <a:pt x="2952731" y="533488"/>
                </a:lnTo>
                <a:lnTo>
                  <a:pt x="2968354" y="469272"/>
                </a:lnTo>
                <a:lnTo>
                  <a:pt x="2983977" y="404350"/>
                </a:lnTo>
                <a:lnTo>
                  <a:pt x="2999600" y="338723"/>
                </a:lnTo>
                <a:lnTo>
                  <a:pt x="3015223" y="272389"/>
                </a:lnTo>
                <a:lnTo>
                  <a:pt x="3030846" y="205350"/>
                </a:lnTo>
                <a:lnTo>
                  <a:pt x="3046469" y="137606"/>
                </a:lnTo>
                <a:lnTo>
                  <a:pt x="3062092" y="69156"/>
                </a:lnTo>
                <a:lnTo>
                  <a:pt x="3077715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A-E15 ellipse 54" descr="sci-ppt:o054"/>
          <p:cNvSpPr/>
          <p:nvPr/>
        </p:nvSpPr>
        <p:spPr>
          <a:xfrm>
            <a:off x="6007607" y="389987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A-E15 text 55" descr="sci-ppt:o055"/>
          <p:cNvSpPr txBox="1"/>
          <p:nvPr/>
        </p:nvSpPr>
        <p:spPr>
          <a:xfrm>
            <a:off x="6263640" y="3515807"/>
            <a:ext cx="164592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P_dis = 1.508 mW</a:t>
            </a:r>
          </a:p>
        </p:txBody>
      </p:sp>
      <p:sp>
        <p:nvSpPr>
          <p:cNvPr id="58" name="A-E15 round_rect 56" descr="sci-ppt:o056"/>
          <p:cNvSpPr/>
          <p:nvPr/>
        </p:nvSpPr>
        <p:spPr>
          <a:xfrm>
            <a:off x="8686800" y="1371600"/>
            <a:ext cx="3154680" cy="34747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A-E15 text 57" descr="sci-ppt:o057"/>
          <p:cNvSpPr txBox="1"/>
          <p:nvPr/>
        </p:nvSpPr>
        <p:spPr>
          <a:xfrm>
            <a:off x="8796528" y="1426464"/>
            <a:ext cx="29352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Sign and loss</a:t>
            </a:r>
          </a:p>
        </p:txBody>
      </p:sp>
      <p:sp>
        <p:nvSpPr>
          <p:cNvPr id="60" name="A-E15 text 58" descr="sci-ppt:o058"/>
          <p:cNvSpPr txBox="1"/>
          <p:nvPr/>
        </p:nvSpPr>
        <p:spPr>
          <a:xfrm>
            <a:off x="8778240" y="1828800"/>
            <a:ext cx="2971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−4η_gṘ/R = +13 333.3 Pa</a:t>
            </a:r>
          </a:p>
        </p:txBody>
      </p:sp>
      <p:sp>
        <p:nvSpPr>
          <p:cNvPr id="61" name="A-E15 text 59" descr="sci-ppt:o059"/>
          <p:cNvSpPr txBox="1"/>
          <p:nvPr/>
        </p:nvSpPr>
        <p:spPr>
          <a:xfrm>
            <a:off x="8778240" y="2331720"/>
            <a:ext cx="29718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7F0F3"/>
                </a:solidFill>
                <a:latin typeface="Arial"/>
              </a:rPr>
              <a:t>P_dis = 16πη_gRṘ² = 1.50796447×10⁻³ W</a:t>
            </a:r>
          </a:p>
        </p:txBody>
      </p:sp>
      <p:sp>
        <p:nvSpPr>
          <p:cNvPr id="62" name="A-E15 text 60" descr="sci-ppt:o060"/>
          <p:cNvSpPr txBox="1"/>
          <p:nvPr/>
        </p:nvSpPr>
        <p:spPr>
          <a:xfrm>
            <a:off x="8778240" y="3063240"/>
            <a:ext cx="29718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Inward motion flips the pressure term;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dissipated power stays positive.</a:t>
            </a:r>
          </a:p>
        </p:txBody>
      </p:sp>
      <p:sp>
        <p:nvSpPr>
          <p:cNvPr id="63" name="A-E15 text 61" descr="sci-ppt:o061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η_g = 0.010 Pa s, R = 30 µm, Ṙ = −10 m/s. The viscous term is linear in Ṙ, the dissipation is quadratic.</a:t>
            </a:r>
          </a:p>
        </p:txBody>
      </p:sp>
      <p:sp>
        <p:nvSpPr>
          <p:cNvPr id="64" name="A-E15 text 62" descr="sci-ppt:o06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Signed-pressure and positive-loss check of Eq. A-E15.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