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8096193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olygon 1: plot geometry" descr="sci-ppt:obj-0001"/>
          <p:cNvSpPr/>
          <p:nvPr/>
        </p:nvSpPr>
        <p:spPr>
          <a:xfrm>
            <a:off x="0" y="0"/>
            <a:ext cx="12191695" cy="8096193"/>
          </a:xfrm>
          <a:custGeom>
            <a:avLst/>
            <a:gdLst/>
            <a:ahLst/>
            <a:cxnLst/>
            <a:rect l="l" t="t" r="r" b="b"/>
            <a:pathLst>
              <a:path w="12191695" h="8096193">
                <a:moveTo>
                  <a:pt x="0" y="8096193"/>
                </a:moveTo>
                <a:lnTo>
                  <a:pt x="12191695" y="8096193"/>
                </a:lnTo>
                <a:lnTo>
                  <a:pt x="12191695" y="0"/>
                </a:lnTo>
                <a:lnTo>
                  <a:pt x="0" y="0"/>
                </a:lnTo>
                <a:lnTo>
                  <a:pt x="0" y="809619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polygon 2: plot geometry" descr="sci-ppt:obj-0002"/>
          <p:cNvSpPr/>
          <p:nvPr/>
        </p:nvSpPr>
        <p:spPr>
          <a:xfrm>
            <a:off x="696865" y="864678"/>
            <a:ext cx="5338687" cy="3021641"/>
          </a:xfrm>
          <a:custGeom>
            <a:avLst/>
            <a:gdLst/>
            <a:ahLst/>
            <a:cxnLst/>
            <a:rect l="l" t="t" r="r" b="b"/>
            <a:pathLst>
              <a:path w="5338687" h="3021641">
                <a:moveTo>
                  <a:pt x="0" y="3021641"/>
                </a:moveTo>
                <a:lnTo>
                  <a:pt x="5338687" y="3021641"/>
                </a:lnTo>
                <a:lnTo>
                  <a:pt x="5338687" y="0"/>
                </a:lnTo>
                <a:lnTo>
                  <a:pt x="0" y="0"/>
                </a:lnTo>
                <a:lnTo>
                  <a:pt x="0" y="302164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 3: plot geometry" descr="sci-ppt:obj-0003"/>
          <p:cNvCxnSpPr/>
          <p:nvPr/>
        </p:nvCxnSpPr>
        <p:spPr>
          <a:xfrm flipV="1">
            <a:off x="939533" y="864678"/>
            <a:ext cx="0" cy="3021641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5" name="line 4: plot geometry" descr="sci-ppt:obj-0004"/>
          <p:cNvCxnSpPr/>
          <p:nvPr/>
        </p:nvCxnSpPr>
        <p:spPr>
          <a:xfrm>
            <a:off x="939533" y="3886319"/>
            <a:ext cx="0" cy="55302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6" name="text 5: 0.0" descr="sci-ppt:obj-0005"/>
          <p:cNvSpPr txBox="1"/>
          <p:nvPr/>
        </p:nvSpPr>
        <p:spPr>
          <a:xfrm>
            <a:off x="763122" y="3954224"/>
            <a:ext cx="352821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cxnSp>
        <p:nvCxnSpPr>
          <p:cNvPr id="7" name="line 6: plot geometry" descr="sci-ppt:obj-0006"/>
          <p:cNvCxnSpPr/>
          <p:nvPr/>
        </p:nvCxnSpPr>
        <p:spPr>
          <a:xfrm flipV="1">
            <a:off x="1586647" y="864678"/>
            <a:ext cx="0" cy="3021641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8" name="line 7: plot geometry" descr="sci-ppt:obj-0007"/>
          <p:cNvCxnSpPr/>
          <p:nvPr/>
        </p:nvCxnSpPr>
        <p:spPr>
          <a:xfrm>
            <a:off x="1586647" y="3886319"/>
            <a:ext cx="0" cy="55302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9" name="text 8: 0.2" descr="sci-ppt:obj-0008"/>
          <p:cNvSpPr txBox="1"/>
          <p:nvPr/>
        </p:nvSpPr>
        <p:spPr>
          <a:xfrm>
            <a:off x="1410236" y="3954224"/>
            <a:ext cx="352821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cxnSp>
        <p:nvCxnSpPr>
          <p:cNvPr id="10" name="line 9: plot geometry" descr="sci-ppt:obj-0009"/>
          <p:cNvCxnSpPr/>
          <p:nvPr/>
        </p:nvCxnSpPr>
        <p:spPr>
          <a:xfrm flipV="1">
            <a:off x="2233760" y="864678"/>
            <a:ext cx="0" cy="3021641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11" name="line 10: plot geometry" descr="sci-ppt:obj-0010"/>
          <p:cNvCxnSpPr/>
          <p:nvPr/>
        </p:nvCxnSpPr>
        <p:spPr>
          <a:xfrm>
            <a:off x="2233760" y="3886319"/>
            <a:ext cx="0" cy="55302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2" name="text 11: 0.4" descr="sci-ppt:obj-0011"/>
          <p:cNvSpPr txBox="1"/>
          <p:nvPr/>
        </p:nvSpPr>
        <p:spPr>
          <a:xfrm>
            <a:off x="2057349" y="3954224"/>
            <a:ext cx="352821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cxnSp>
        <p:nvCxnSpPr>
          <p:cNvPr id="13" name="line 12: plot geometry" descr="sci-ppt:obj-0012"/>
          <p:cNvCxnSpPr/>
          <p:nvPr/>
        </p:nvCxnSpPr>
        <p:spPr>
          <a:xfrm flipV="1">
            <a:off x="2880874" y="864678"/>
            <a:ext cx="0" cy="3021641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14" name="line 13: plot geometry" descr="sci-ppt:obj-0013"/>
          <p:cNvCxnSpPr/>
          <p:nvPr/>
        </p:nvCxnSpPr>
        <p:spPr>
          <a:xfrm>
            <a:off x="2880874" y="3886319"/>
            <a:ext cx="0" cy="55302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5" name="text 14: 0.6" descr="sci-ppt:obj-0014"/>
          <p:cNvSpPr txBox="1"/>
          <p:nvPr/>
        </p:nvSpPr>
        <p:spPr>
          <a:xfrm>
            <a:off x="2704463" y="3954224"/>
            <a:ext cx="352821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0.6</a:t>
            </a:r>
          </a:p>
        </p:txBody>
      </p:sp>
      <p:cxnSp>
        <p:nvCxnSpPr>
          <p:cNvPr id="16" name="line 15: plot geometry" descr="sci-ppt:obj-0015"/>
          <p:cNvCxnSpPr/>
          <p:nvPr/>
        </p:nvCxnSpPr>
        <p:spPr>
          <a:xfrm flipV="1">
            <a:off x="3527987" y="864678"/>
            <a:ext cx="0" cy="3021641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17" name="line 16: plot geometry" descr="sci-ppt:obj-0016"/>
          <p:cNvCxnSpPr/>
          <p:nvPr/>
        </p:nvCxnSpPr>
        <p:spPr>
          <a:xfrm>
            <a:off x="3527987" y="3886319"/>
            <a:ext cx="0" cy="55302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8" name="text 17: 0.8" descr="sci-ppt:obj-0017"/>
          <p:cNvSpPr txBox="1"/>
          <p:nvPr/>
        </p:nvSpPr>
        <p:spPr>
          <a:xfrm>
            <a:off x="3351576" y="3954224"/>
            <a:ext cx="352821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0.8</a:t>
            </a:r>
          </a:p>
        </p:txBody>
      </p:sp>
      <p:cxnSp>
        <p:nvCxnSpPr>
          <p:cNvPr id="19" name="line 18: plot geometry" descr="sci-ppt:obj-0018"/>
          <p:cNvCxnSpPr/>
          <p:nvPr/>
        </p:nvCxnSpPr>
        <p:spPr>
          <a:xfrm flipV="1">
            <a:off x="4175101" y="864678"/>
            <a:ext cx="0" cy="3021641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20" name="line 19: plot geometry" descr="sci-ppt:obj-0019"/>
          <p:cNvCxnSpPr/>
          <p:nvPr/>
        </p:nvCxnSpPr>
        <p:spPr>
          <a:xfrm>
            <a:off x="4175101" y="3886319"/>
            <a:ext cx="0" cy="55302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21" name="text 20: 1.0" descr="sci-ppt:obj-0020"/>
          <p:cNvSpPr txBox="1"/>
          <p:nvPr/>
        </p:nvSpPr>
        <p:spPr>
          <a:xfrm>
            <a:off x="3998690" y="3954224"/>
            <a:ext cx="352821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1.0</a:t>
            </a:r>
          </a:p>
        </p:txBody>
      </p:sp>
      <p:cxnSp>
        <p:nvCxnSpPr>
          <p:cNvPr id="22" name="line 21: plot geometry" descr="sci-ppt:obj-0021"/>
          <p:cNvCxnSpPr/>
          <p:nvPr/>
        </p:nvCxnSpPr>
        <p:spPr>
          <a:xfrm flipV="1">
            <a:off x="4822214" y="864678"/>
            <a:ext cx="0" cy="3021641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23" name="line 22: plot geometry" descr="sci-ppt:obj-0022"/>
          <p:cNvCxnSpPr/>
          <p:nvPr/>
        </p:nvCxnSpPr>
        <p:spPr>
          <a:xfrm>
            <a:off x="4822214" y="3886319"/>
            <a:ext cx="0" cy="55302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24" name="text 23: 1.2" descr="sci-ppt:obj-0023"/>
          <p:cNvSpPr txBox="1"/>
          <p:nvPr/>
        </p:nvSpPr>
        <p:spPr>
          <a:xfrm>
            <a:off x="4645803" y="3954224"/>
            <a:ext cx="352821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1.2</a:t>
            </a:r>
          </a:p>
        </p:txBody>
      </p:sp>
      <p:cxnSp>
        <p:nvCxnSpPr>
          <p:cNvPr id="25" name="line 24: plot geometry" descr="sci-ppt:obj-0024"/>
          <p:cNvCxnSpPr/>
          <p:nvPr/>
        </p:nvCxnSpPr>
        <p:spPr>
          <a:xfrm flipV="1">
            <a:off x="5469328" y="864678"/>
            <a:ext cx="0" cy="3021641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26" name="line 25: plot geometry" descr="sci-ppt:obj-0025"/>
          <p:cNvCxnSpPr/>
          <p:nvPr/>
        </p:nvCxnSpPr>
        <p:spPr>
          <a:xfrm>
            <a:off x="5469328" y="3886319"/>
            <a:ext cx="0" cy="55302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27" name="text 26: 1.4" descr="sci-ppt:obj-0026"/>
          <p:cNvSpPr txBox="1"/>
          <p:nvPr/>
        </p:nvSpPr>
        <p:spPr>
          <a:xfrm>
            <a:off x="5292917" y="3954224"/>
            <a:ext cx="352821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1.4</a:t>
            </a:r>
          </a:p>
        </p:txBody>
      </p:sp>
      <p:sp>
        <p:nvSpPr>
          <p:cNvPr id="28" name="text 27: Time after prescribed seed (µs)" descr="sci-ppt:obj-0027"/>
          <p:cNvSpPr txBox="1"/>
          <p:nvPr/>
        </p:nvSpPr>
        <p:spPr>
          <a:xfrm>
            <a:off x="1884673" y="4175444"/>
            <a:ext cx="2963072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Time after prescribed seed (µs)</a:t>
            </a:r>
          </a:p>
        </p:txBody>
      </p:sp>
      <p:cxnSp>
        <p:nvCxnSpPr>
          <p:cNvPr id="29" name="line 28: plot geometry" descr="sci-ppt:obj-0028"/>
          <p:cNvCxnSpPr/>
          <p:nvPr/>
        </p:nvCxnSpPr>
        <p:spPr>
          <a:xfrm>
            <a:off x="696865" y="3748972"/>
            <a:ext cx="5338687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30" name="line 29: plot geometry" descr="sci-ppt:obj-0029"/>
          <p:cNvCxnSpPr/>
          <p:nvPr/>
        </p:nvCxnSpPr>
        <p:spPr>
          <a:xfrm flipH="1">
            <a:off x="641563" y="3748972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31" name="text 30: 0" descr="sci-ppt:obj-0030"/>
          <p:cNvSpPr txBox="1"/>
          <p:nvPr/>
        </p:nvSpPr>
        <p:spPr>
          <a:xfrm>
            <a:off x="456462" y="3646249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cxnSp>
        <p:nvCxnSpPr>
          <p:cNvPr id="32" name="line 31: plot geometry" descr="sci-ppt:obj-0031"/>
          <p:cNvCxnSpPr/>
          <p:nvPr/>
        </p:nvCxnSpPr>
        <p:spPr>
          <a:xfrm>
            <a:off x="696865" y="3297822"/>
            <a:ext cx="5338687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33" name="line 32: plot geometry" descr="sci-ppt:obj-0032"/>
          <p:cNvCxnSpPr/>
          <p:nvPr/>
        </p:nvCxnSpPr>
        <p:spPr>
          <a:xfrm flipH="1">
            <a:off x="641563" y="3297822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34" name="text 33: 1" descr="sci-ppt:obj-0033"/>
          <p:cNvSpPr txBox="1"/>
          <p:nvPr/>
        </p:nvSpPr>
        <p:spPr>
          <a:xfrm>
            <a:off x="456462" y="3195100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cxnSp>
        <p:nvCxnSpPr>
          <p:cNvPr id="35" name="line 34: plot geometry" descr="sci-ppt:obj-0034"/>
          <p:cNvCxnSpPr/>
          <p:nvPr/>
        </p:nvCxnSpPr>
        <p:spPr>
          <a:xfrm>
            <a:off x="696865" y="2846672"/>
            <a:ext cx="5338687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36" name="line 35: plot geometry" descr="sci-ppt:obj-0035"/>
          <p:cNvCxnSpPr/>
          <p:nvPr/>
        </p:nvCxnSpPr>
        <p:spPr>
          <a:xfrm flipH="1">
            <a:off x="641563" y="2846672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37" name="text 36: 2" descr="sci-ppt:obj-0036"/>
          <p:cNvSpPr txBox="1"/>
          <p:nvPr/>
        </p:nvSpPr>
        <p:spPr>
          <a:xfrm>
            <a:off x="456462" y="2743950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cxnSp>
        <p:nvCxnSpPr>
          <p:cNvPr id="38" name="line 37: plot geometry" descr="sci-ppt:obj-0037"/>
          <p:cNvCxnSpPr/>
          <p:nvPr/>
        </p:nvCxnSpPr>
        <p:spPr>
          <a:xfrm>
            <a:off x="696865" y="2395523"/>
            <a:ext cx="5338687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39" name="line 38: plot geometry" descr="sci-ppt:obj-0038"/>
          <p:cNvCxnSpPr/>
          <p:nvPr/>
        </p:nvCxnSpPr>
        <p:spPr>
          <a:xfrm flipH="1">
            <a:off x="641563" y="2395523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40" name="text 39: 3" descr="sci-ppt:obj-0039"/>
          <p:cNvSpPr txBox="1"/>
          <p:nvPr/>
        </p:nvSpPr>
        <p:spPr>
          <a:xfrm>
            <a:off x="456462" y="2292801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cxnSp>
        <p:nvCxnSpPr>
          <p:cNvPr id="41" name="line 40: plot geometry" descr="sci-ppt:obj-0040"/>
          <p:cNvCxnSpPr/>
          <p:nvPr/>
        </p:nvCxnSpPr>
        <p:spPr>
          <a:xfrm>
            <a:off x="696865" y="1944373"/>
            <a:ext cx="5338687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42" name="line 41: plot geometry" descr="sci-ppt:obj-0041"/>
          <p:cNvCxnSpPr/>
          <p:nvPr/>
        </p:nvCxnSpPr>
        <p:spPr>
          <a:xfrm flipH="1">
            <a:off x="641563" y="1944373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43" name="text 42: 4" descr="sci-ppt:obj-0042"/>
          <p:cNvSpPr txBox="1"/>
          <p:nvPr/>
        </p:nvSpPr>
        <p:spPr>
          <a:xfrm>
            <a:off x="456462" y="1841651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cxnSp>
        <p:nvCxnSpPr>
          <p:cNvPr id="44" name="line 43: plot geometry" descr="sci-ppt:obj-0043"/>
          <p:cNvCxnSpPr/>
          <p:nvPr/>
        </p:nvCxnSpPr>
        <p:spPr>
          <a:xfrm>
            <a:off x="696865" y="1493224"/>
            <a:ext cx="5338687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45" name="line 44: plot geometry" descr="sci-ppt:obj-0044"/>
          <p:cNvCxnSpPr/>
          <p:nvPr/>
        </p:nvCxnSpPr>
        <p:spPr>
          <a:xfrm flipH="1">
            <a:off x="641563" y="1493224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46" name="text 45: 5" descr="sci-ppt:obj-0045"/>
          <p:cNvSpPr txBox="1"/>
          <p:nvPr/>
        </p:nvSpPr>
        <p:spPr>
          <a:xfrm>
            <a:off x="456462" y="1390502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cxnSp>
        <p:nvCxnSpPr>
          <p:cNvPr id="47" name="line 46: plot geometry" descr="sci-ppt:obj-0046"/>
          <p:cNvCxnSpPr/>
          <p:nvPr/>
        </p:nvCxnSpPr>
        <p:spPr>
          <a:xfrm>
            <a:off x="696865" y="1042074"/>
            <a:ext cx="5338687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48" name="line 47: plot geometry" descr="sci-ppt:obj-0047"/>
          <p:cNvCxnSpPr/>
          <p:nvPr/>
        </p:nvCxnSpPr>
        <p:spPr>
          <a:xfrm flipH="1">
            <a:off x="641563" y="1042074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49" name="text 48: 6" descr="sci-ppt:obj-0048"/>
          <p:cNvSpPr txBox="1"/>
          <p:nvPr/>
        </p:nvSpPr>
        <p:spPr>
          <a:xfrm>
            <a:off x="456462" y="939352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50" name="text 49: Radial wall speed (m/s)" descr="sci-ppt:obj-0049"/>
          <p:cNvSpPr txBox="1"/>
          <p:nvPr/>
        </p:nvSpPr>
        <p:spPr>
          <a:xfrm rot="16200000">
            <a:off x="-724072" y="2212753"/>
            <a:ext cx="2217286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Radial wall speed (m/s)</a:t>
            </a:r>
          </a:p>
        </p:txBody>
      </p:sp>
      <p:sp>
        <p:nvSpPr>
          <p:cNvPr id="51" name="polygon 50: plot geometry" descr="sci-ppt:obj-0050"/>
          <p:cNvSpPr/>
          <p:nvPr/>
        </p:nvSpPr>
        <p:spPr>
          <a:xfrm>
            <a:off x="939533" y="1002290"/>
            <a:ext cx="216371" cy="2746682"/>
          </a:xfrm>
          <a:custGeom>
            <a:avLst/>
            <a:gdLst/>
            <a:ahLst/>
            <a:cxnLst/>
            <a:rect l="l" t="t" r="r" b="b"/>
            <a:pathLst>
              <a:path w="216371" h="2746682">
                <a:moveTo>
                  <a:pt x="0" y="2746682"/>
                </a:moveTo>
                <a:lnTo>
                  <a:pt x="57338" y="1602367"/>
                </a:lnTo>
                <a:lnTo>
                  <a:pt x="93310" y="904153"/>
                </a:lnTo>
                <a:lnTo>
                  <a:pt x="113865" y="571273"/>
                </a:lnTo>
                <a:lnTo>
                  <a:pt x="130634" y="353233"/>
                </a:lnTo>
                <a:lnTo>
                  <a:pt x="145239" y="206682"/>
                </a:lnTo>
                <a:lnTo>
                  <a:pt x="157951" y="112309"/>
                </a:lnTo>
                <a:lnTo>
                  <a:pt x="169040" y="54367"/>
                </a:lnTo>
                <a:lnTo>
                  <a:pt x="178506" y="21920"/>
                </a:lnTo>
                <a:lnTo>
                  <a:pt x="186350" y="6187"/>
                </a:lnTo>
                <a:lnTo>
                  <a:pt x="192571" y="465"/>
                </a:lnTo>
                <a:lnTo>
                  <a:pt x="197709" y="0"/>
                </a:lnTo>
                <a:lnTo>
                  <a:pt x="202848" y="3194"/>
                </a:lnTo>
                <a:lnTo>
                  <a:pt x="209069" y="11694"/>
                </a:lnTo>
                <a:lnTo>
                  <a:pt x="216371" y="27728"/>
                </a:lnTo>
                <a:lnTo>
                  <a:pt x="216371" y="27728"/>
                </a:lnTo>
              </a:path>
            </a:pathLst>
          </a:custGeom>
          <a:noFill/>
          <a:ln w="23700">
            <a:solidFill>
              <a:srgbClr val="B95E2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polygon 51: plot geometry" descr="sci-ppt:obj-0051"/>
          <p:cNvSpPr/>
          <p:nvPr/>
        </p:nvSpPr>
        <p:spPr>
          <a:xfrm>
            <a:off x="939533" y="3316088"/>
            <a:ext cx="1095020" cy="432884"/>
          </a:xfrm>
          <a:custGeom>
            <a:avLst/>
            <a:gdLst/>
            <a:ahLst/>
            <a:cxnLst/>
            <a:rect l="l" t="t" r="r" b="b"/>
            <a:pathLst>
              <a:path w="1095020" h="432884">
                <a:moveTo>
                  <a:pt x="0" y="432884"/>
                </a:moveTo>
                <a:lnTo>
                  <a:pt x="6397" y="340057"/>
                </a:lnTo>
                <a:lnTo>
                  <a:pt x="12795" y="289050"/>
                </a:lnTo>
                <a:lnTo>
                  <a:pt x="19602" y="258931"/>
                </a:lnTo>
                <a:lnTo>
                  <a:pt x="27375" y="239860"/>
                </a:lnTo>
                <a:lnTo>
                  <a:pt x="35588" y="228126"/>
                </a:lnTo>
                <a:lnTo>
                  <a:pt x="47907" y="217106"/>
                </a:lnTo>
                <a:lnTo>
                  <a:pt x="70489" y="202706"/>
                </a:lnTo>
                <a:lnTo>
                  <a:pt x="154672" y="155302"/>
                </a:lnTo>
                <a:lnTo>
                  <a:pt x="245011" y="107715"/>
                </a:lnTo>
                <a:lnTo>
                  <a:pt x="314818" y="74759"/>
                </a:lnTo>
                <a:lnTo>
                  <a:pt x="375044" y="50084"/>
                </a:lnTo>
                <a:lnTo>
                  <a:pt x="429795" y="31374"/>
                </a:lnTo>
                <a:lnTo>
                  <a:pt x="480440" y="17684"/>
                </a:lnTo>
                <a:lnTo>
                  <a:pt x="529716" y="8001"/>
                </a:lnTo>
                <a:lnTo>
                  <a:pt x="577623" y="2195"/>
                </a:lnTo>
                <a:lnTo>
                  <a:pt x="625530" y="0"/>
                </a:lnTo>
                <a:lnTo>
                  <a:pt x="673437" y="1358"/>
                </a:lnTo>
                <a:lnTo>
                  <a:pt x="722713" y="6291"/>
                </a:lnTo>
                <a:lnTo>
                  <a:pt x="774727" y="15084"/>
                </a:lnTo>
                <a:lnTo>
                  <a:pt x="830846" y="28221"/>
                </a:lnTo>
                <a:lnTo>
                  <a:pt x="893810" y="46722"/>
                </a:lnTo>
                <a:lnTo>
                  <a:pt x="967724" y="72295"/>
                </a:lnTo>
                <a:lnTo>
                  <a:pt x="1066276" y="110424"/>
                </a:lnTo>
                <a:lnTo>
                  <a:pt x="1095020" y="121999"/>
                </a:lnTo>
                <a:lnTo>
                  <a:pt x="1095020" y="121999"/>
                </a:lnTo>
              </a:path>
            </a:pathLst>
          </a:custGeom>
          <a:noFill/>
          <a:ln w="23700">
            <a:solidFill>
              <a:srgbClr val="176C8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polygon 52: plot geometry" descr="sci-ppt:obj-0052"/>
          <p:cNvSpPr/>
          <p:nvPr/>
        </p:nvSpPr>
        <p:spPr>
          <a:xfrm>
            <a:off x="939533" y="3705803"/>
            <a:ext cx="4853352" cy="43169"/>
          </a:xfrm>
          <a:custGeom>
            <a:avLst/>
            <a:gdLst/>
            <a:ahLst/>
            <a:cxnLst/>
            <a:rect l="l" t="t" r="r" b="b"/>
            <a:pathLst>
              <a:path w="4853352" h="43169">
                <a:moveTo>
                  <a:pt x="0" y="43169"/>
                </a:moveTo>
                <a:lnTo>
                  <a:pt x="2709" y="24394"/>
                </a:lnTo>
                <a:lnTo>
                  <a:pt x="5873" y="22920"/>
                </a:lnTo>
                <a:lnTo>
                  <a:pt x="33496" y="22679"/>
                </a:lnTo>
                <a:lnTo>
                  <a:pt x="3294212" y="4794"/>
                </a:lnTo>
                <a:lnTo>
                  <a:pt x="4847285" y="11"/>
                </a:lnTo>
                <a:lnTo>
                  <a:pt x="4853352" y="0"/>
                </a:lnTo>
                <a:lnTo>
                  <a:pt x="4853352" y="0"/>
                </a:lnTo>
              </a:path>
            </a:pathLst>
          </a:custGeom>
          <a:noFill/>
          <a:ln w="23700">
            <a:solidFill>
              <a:srgbClr val="47744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4" name="line 53: plot geometry" descr="sci-ppt:obj-0053"/>
          <p:cNvCxnSpPr/>
          <p:nvPr/>
        </p:nvCxnSpPr>
        <p:spPr>
          <a:xfrm flipV="1">
            <a:off x="696865" y="864678"/>
            <a:ext cx="0" cy="3021641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cxnSp>
        <p:nvCxnSpPr>
          <p:cNvPr id="55" name="line 54: plot geometry" descr="sci-ppt:obj-0054"/>
          <p:cNvCxnSpPr/>
          <p:nvPr/>
        </p:nvCxnSpPr>
        <p:spPr>
          <a:xfrm>
            <a:off x="696865" y="3886319"/>
            <a:ext cx="5338687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56" name="text 55: Initial diameter 0.6 µm" descr="sci-ppt:obj-0055"/>
          <p:cNvSpPr txBox="1"/>
          <p:nvPr/>
        </p:nvSpPr>
        <p:spPr>
          <a:xfrm>
            <a:off x="2043152" y="574580"/>
            <a:ext cx="2646113" cy="25596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92" b="0" i="0">
                <a:solidFill>
                  <a:srgbClr val="000000"/>
                </a:solidFill>
                <a:latin typeface="Arial"/>
              </a:rPr>
              <a:t>Initial diameter 0.6 µm</a:t>
            </a:r>
          </a:p>
        </p:txBody>
      </p:sp>
      <p:sp>
        <p:nvSpPr>
          <p:cNvPr id="57" name="polygon 56: plot geometry" descr="sci-ppt:obj-0056"/>
          <p:cNvSpPr/>
          <p:nvPr/>
        </p:nvSpPr>
        <p:spPr>
          <a:xfrm>
            <a:off x="4335191" y="943681"/>
            <a:ext cx="1621358" cy="758464"/>
          </a:xfrm>
          <a:custGeom>
            <a:avLst/>
            <a:gdLst/>
            <a:ahLst/>
            <a:cxnLst/>
            <a:rect l="l" t="t" r="r" b="b"/>
            <a:pathLst>
              <a:path w="1621358" h="758464">
                <a:moveTo>
                  <a:pt x="31601" y="758464"/>
                </a:moveTo>
                <a:lnTo>
                  <a:pt x="1589757" y="758464"/>
                </a:lnTo>
                <a:lnTo>
                  <a:pt x="1594805" y="758244"/>
                </a:lnTo>
                <a:lnTo>
                  <a:pt x="1599413" y="757586"/>
                </a:lnTo>
                <a:lnTo>
                  <a:pt x="1603583" y="756488"/>
                </a:lnTo>
                <a:lnTo>
                  <a:pt x="1607314" y="754952"/>
                </a:lnTo>
                <a:lnTo>
                  <a:pt x="1610605" y="752977"/>
                </a:lnTo>
                <a:lnTo>
                  <a:pt x="1613458" y="750563"/>
                </a:lnTo>
                <a:lnTo>
                  <a:pt x="1615872" y="747710"/>
                </a:lnTo>
                <a:lnTo>
                  <a:pt x="1617847" y="744419"/>
                </a:lnTo>
                <a:lnTo>
                  <a:pt x="1619383" y="740688"/>
                </a:lnTo>
                <a:lnTo>
                  <a:pt x="1620481" y="736518"/>
                </a:lnTo>
                <a:lnTo>
                  <a:pt x="1621139" y="731910"/>
                </a:lnTo>
                <a:lnTo>
                  <a:pt x="1621358" y="726862"/>
                </a:lnTo>
                <a:lnTo>
                  <a:pt x="1621358" y="31601"/>
                </a:lnTo>
                <a:lnTo>
                  <a:pt x="1621139" y="26554"/>
                </a:lnTo>
                <a:lnTo>
                  <a:pt x="1620481" y="21945"/>
                </a:lnTo>
                <a:lnTo>
                  <a:pt x="1619383" y="17776"/>
                </a:lnTo>
                <a:lnTo>
                  <a:pt x="1617847" y="14045"/>
                </a:lnTo>
                <a:lnTo>
                  <a:pt x="1615872" y="10753"/>
                </a:lnTo>
                <a:lnTo>
                  <a:pt x="1613458" y="7901"/>
                </a:lnTo>
                <a:lnTo>
                  <a:pt x="1610605" y="5487"/>
                </a:lnTo>
                <a:lnTo>
                  <a:pt x="1607314" y="3511"/>
                </a:lnTo>
                <a:lnTo>
                  <a:pt x="1603583" y="1975"/>
                </a:lnTo>
                <a:lnTo>
                  <a:pt x="1599413" y="878"/>
                </a:lnTo>
                <a:lnTo>
                  <a:pt x="1594805" y="220"/>
                </a:lnTo>
                <a:lnTo>
                  <a:pt x="1589757" y="0"/>
                </a:lnTo>
                <a:lnTo>
                  <a:pt x="31601" y="0"/>
                </a:lnTo>
                <a:lnTo>
                  <a:pt x="26554" y="220"/>
                </a:lnTo>
                <a:lnTo>
                  <a:pt x="21945" y="878"/>
                </a:lnTo>
                <a:lnTo>
                  <a:pt x="17776" y="1975"/>
                </a:lnTo>
                <a:lnTo>
                  <a:pt x="14045" y="3511"/>
                </a:lnTo>
                <a:lnTo>
                  <a:pt x="10753" y="5487"/>
                </a:lnTo>
                <a:lnTo>
                  <a:pt x="7900" y="7901"/>
                </a:lnTo>
                <a:lnTo>
                  <a:pt x="5486" y="10753"/>
                </a:lnTo>
                <a:lnTo>
                  <a:pt x="3511" y="14045"/>
                </a:lnTo>
                <a:lnTo>
                  <a:pt x="1975" y="17776"/>
                </a:lnTo>
                <a:lnTo>
                  <a:pt x="878" y="21945"/>
                </a:lnTo>
                <a:lnTo>
                  <a:pt x="220" y="26554"/>
                </a:lnTo>
                <a:lnTo>
                  <a:pt x="0" y="31601"/>
                </a:lnTo>
                <a:lnTo>
                  <a:pt x="0" y="726862"/>
                </a:lnTo>
                <a:lnTo>
                  <a:pt x="220" y="731910"/>
                </a:lnTo>
                <a:lnTo>
                  <a:pt x="878" y="736518"/>
                </a:lnTo>
                <a:lnTo>
                  <a:pt x="1975" y="740688"/>
                </a:lnTo>
                <a:lnTo>
                  <a:pt x="3511" y="744419"/>
                </a:lnTo>
                <a:lnTo>
                  <a:pt x="5486" y="747710"/>
                </a:lnTo>
                <a:lnTo>
                  <a:pt x="7900" y="750563"/>
                </a:lnTo>
                <a:lnTo>
                  <a:pt x="10753" y="752977"/>
                </a:lnTo>
                <a:lnTo>
                  <a:pt x="14045" y="754952"/>
                </a:lnTo>
                <a:lnTo>
                  <a:pt x="17776" y="756488"/>
                </a:lnTo>
                <a:lnTo>
                  <a:pt x="21945" y="757586"/>
                </a:lnTo>
                <a:lnTo>
                  <a:pt x="26554" y="758244"/>
                </a:lnTo>
                <a:lnTo>
                  <a:pt x="31601" y="758464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 w="15800">
            <a:solidFill>
              <a:srgbClr val="CCCCCC">
                <a:alpha val="80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polygon 57: plot geometry" descr="sci-ppt:obj-0057"/>
          <p:cNvSpPr/>
          <p:nvPr/>
        </p:nvSpPr>
        <p:spPr>
          <a:xfrm>
            <a:off x="4398393" y="1071641"/>
            <a:ext cx="316011" cy="0"/>
          </a:xfrm>
          <a:custGeom>
            <a:avLst/>
            <a:gdLst/>
            <a:ahLst/>
            <a:cxnLst/>
            <a:rect l="l" t="t" r="r" b="b"/>
            <a:pathLst>
              <a:path w="316011" h="0">
                <a:moveTo>
                  <a:pt x="0" y="0"/>
                </a:moveTo>
                <a:lnTo>
                  <a:pt x="158006" y="0"/>
                </a:lnTo>
                <a:lnTo>
                  <a:pt x="316011" y="0"/>
                </a:lnTo>
              </a:path>
            </a:pathLst>
          </a:custGeom>
          <a:noFill/>
          <a:ln w="23700">
            <a:solidFill>
              <a:srgbClr val="B95E2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 58: η = 0 Pa s" descr="sci-ppt:obj-0058"/>
          <p:cNvSpPr txBox="1"/>
          <p:nvPr/>
        </p:nvSpPr>
        <p:spPr>
          <a:xfrm>
            <a:off x="4813377" y="964197"/>
            <a:ext cx="1005384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η = 0 Pa s</a:t>
            </a:r>
          </a:p>
        </p:txBody>
      </p:sp>
      <p:sp>
        <p:nvSpPr>
          <p:cNvPr id="60" name="polygon 59: plot geometry" descr="sci-ppt:obj-0059"/>
          <p:cNvSpPr/>
          <p:nvPr/>
        </p:nvSpPr>
        <p:spPr>
          <a:xfrm>
            <a:off x="4398393" y="1308662"/>
            <a:ext cx="316011" cy="0"/>
          </a:xfrm>
          <a:custGeom>
            <a:avLst/>
            <a:gdLst/>
            <a:ahLst/>
            <a:cxnLst/>
            <a:rect l="l" t="t" r="r" b="b"/>
            <a:pathLst>
              <a:path w="316011" h="0">
                <a:moveTo>
                  <a:pt x="0" y="0"/>
                </a:moveTo>
                <a:lnTo>
                  <a:pt x="158006" y="0"/>
                </a:lnTo>
                <a:lnTo>
                  <a:pt x="316011" y="0"/>
                </a:lnTo>
              </a:path>
            </a:pathLst>
          </a:custGeom>
          <a:noFill/>
          <a:ln w="23700">
            <a:solidFill>
              <a:srgbClr val="176C8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 60: η = 0.01 Pa s" descr="sci-ppt:obj-0060"/>
          <p:cNvSpPr txBox="1"/>
          <p:nvPr/>
        </p:nvSpPr>
        <p:spPr>
          <a:xfrm>
            <a:off x="4813377" y="1201218"/>
            <a:ext cx="1285054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η = 0.01 Pa s</a:t>
            </a:r>
          </a:p>
        </p:txBody>
      </p:sp>
      <p:sp>
        <p:nvSpPr>
          <p:cNvPr id="62" name="polygon 61: plot geometry" descr="sci-ppt:obj-0061"/>
          <p:cNvSpPr/>
          <p:nvPr/>
        </p:nvSpPr>
        <p:spPr>
          <a:xfrm>
            <a:off x="4398393" y="1545682"/>
            <a:ext cx="316011" cy="0"/>
          </a:xfrm>
          <a:custGeom>
            <a:avLst/>
            <a:gdLst/>
            <a:ahLst/>
            <a:cxnLst/>
            <a:rect l="l" t="t" r="r" b="b"/>
            <a:pathLst>
              <a:path w="316011" h="0">
                <a:moveTo>
                  <a:pt x="0" y="0"/>
                </a:moveTo>
                <a:lnTo>
                  <a:pt x="158006" y="0"/>
                </a:lnTo>
                <a:lnTo>
                  <a:pt x="316011" y="0"/>
                </a:lnTo>
              </a:path>
            </a:pathLst>
          </a:custGeom>
          <a:noFill/>
          <a:ln w="23700">
            <a:solidFill>
              <a:srgbClr val="47744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 62: η = 0.1 Pa s" descr="sci-ppt:obj-0062"/>
          <p:cNvSpPr txBox="1"/>
          <p:nvPr/>
        </p:nvSpPr>
        <p:spPr>
          <a:xfrm>
            <a:off x="4813377" y="1438238"/>
            <a:ext cx="1191830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η = 0.1 Pa s</a:t>
            </a:r>
          </a:p>
        </p:txBody>
      </p:sp>
      <p:sp>
        <p:nvSpPr>
          <p:cNvPr id="64" name="polygon 63: plot geometry" descr="sci-ppt:obj-0063"/>
          <p:cNvSpPr/>
          <p:nvPr/>
        </p:nvSpPr>
        <p:spPr>
          <a:xfrm>
            <a:off x="6739244" y="864678"/>
            <a:ext cx="5338687" cy="3021641"/>
          </a:xfrm>
          <a:custGeom>
            <a:avLst/>
            <a:gdLst/>
            <a:ahLst/>
            <a:cxnLst/>
            <a:rect l="l" t="t" r="r" b="b"/>
            <a:pathLst>
              <a:path w="5338687" h="3021641">
                <a:moveTo>
                  <a:pt x="0" y="3021641"/>
                </a:moveTo>
                <a:lnTo>
                  <a:pt x="5338687" y="3021641"/>
                </a:lnTo>
                <a:lnTo>
                  <a:pt x="5338687" y="0"/>
                </a:lnTo>
                <a:lnTo>
                  <a:pt x="0" y="0"/>
                </a:lnTo>
                <a:lnTo>
                  <a:pt x="0" y="302164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5" name="line 64: plot geometry" descr="sci-ppt:obj-0064"/>
          <p:cNvCxnSpPr/>
          <p:nvPr/>
        </p:nvCxnSpPr>
        <p:spPr>
          <a:xfrm flipV="1">
            <a:off x="6981912" y="864678"/>
            <a:ext cx="0" cy="3021641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66" name="line 65: plot geometry" descr="sci-ppt:obj-0065"/>
          <p:cNvCxnSpPr/>
          <p:nvPr/>
        </p:nvCxnSpPr>
        <p:spPr>
          <a:xfrm>
            <a:off x="6981912" y="3886319"/>
            <a:ext cx="0" cy="55302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67" name="text 66: 0" descr="sci-ppt:obj-0066"/>
          <p:cNvSpPr txBox="1"/>
          <p:nvPr/>
        </p:nvSpPr>
        <p:spPr>
          <a:xfrm>
            <a:off x="6898724" y="3954224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cxnSp>
        <p:nvCxnSpPr>
          <p:cNvPr id="68" name="line 67: plot geometry" descr="sci-ppt:obj-0067"/>
          <p:cNvCxnSpPr/>
          <p:nvPr/>
        </p:nvCxnSpPr>
        <p:spPr>
          <a:xfrm flipV="1">
            <a:off x="8115607" y="864678"/>
            <a:ext cx="0" cy="3021641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69" name="line 68: plot geometry" descr="sci-ppt:obj-0068"/>
          <p:cNvCxnSpPr/>
          <p:nvPr/>
        </p:nvCxnSpPr>
        <p:spPr>
          <a:xfrm>
            <a:off x="8115607" y="3886319"/>
            <a:ext cx="0" cy="55302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70" name="text 69: 2" descr="sci-ppt:obj-0069"/>
          <p:cNvSpPr txBox="1"/>
          <p:nvPr/>
        </p:nvSpPr>
        <p:spPr>
          <a:xfrm>
            <a:off x="8032420" y="3954224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cxnSp>
        <p:nvCxnSpPr>
          <p:cNvPr id="71" name="line 70: plot geometry" descr="sci-ppt:obj-0070"/>
          <p:cNvCxnSpPr/>
          <p:nvPr/>
        </p:nvCxnSpPr>
        <p:spPr>
          <a:xfrm flipV="1">
            <a:off x="9249303" y="864678"/>
            <a:ext cx="0" cy="3021641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72" name="line 71: plot geometry" descr="sci-ppt:obj-0071"/>
          <p:cNvCxnSpPr/>
          <p:nvPr/>
        </p:nvCxnSpPr>
        <p:spPr>
          <a:xfrm>
            <a:off x="9249303" y="3886319"/>
            <a:ext cx="0" cy="55302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73" name="text 72: 4" descr="sci-ppt:obj-0072"/>
          <p:cNvSpPr txBox="1"/>
          <p:nvPr/>
        </p:nvSpPr>
        <p:spPr>
          <a:xfrm>
            <a:off x="9166115" y="3954224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cxnSp>
        <p:nvCxnSpPr>
          <p:cNvPr id="74" name="line 73: plot geometry" descr="sci-ppt:obj-0073"/>
          <p:cNvCxnSpPr/>
          <p:nvPr/>
        </p:nvCxnSpPr>
        <p:spPr>
          <a:xfrm flipV="1">
            <a:off x="10382998" y="864678"/>
            <a:ext cx="0" cy="3021641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75" name="line 74: plot geometry" descr="sci-ppt:obj-0074"/>
          <p:cNvCxnSpPr/>
          <p:nvPr/>
        </p:nvCxnSpPr>
        <p:spPr>
          <a:xfrm>
            <a:off x="10382998" y="3886319"/>
            <a:ext cx="0" cy="55302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76" name="text 75: 6" descr="sci-ppt:obj-0075"/>
          <p:cNvSpPr txBox="1"/>
          <p:nvPr/>
        </p:nvSpPr>
        <p:spPr>
          <a:xfrm>
            <a:off x="10299811" y="3954224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cxnSp>
        <p:nvCxnSpPr>
          <p:cNvPr id="77" name="line 76: plot geometry" descr="sci-ppt:obj-0076"/>
          <p:cNvCxnSpPr/>
          <p:nvPr/>
        </p:nvCxnSpPr>
        <p:spPr>
          <a:xfrm flipV="1">
            <a:off x="11516694" y="864678"/>
            <a:ext cx="0" cy="3021641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78" name="line 77: plot geometry" descr="sci-ppt:obj-0077"/>
          <p:cNvCxnSpPr/>
          <p:nvPr/>
        </p:nvCxnSpPr>
        <p:spPr>
          <a:xfrm>
            <a:off x="11516694" y="3886319"/>
            <a:ext cx="0" cy="55302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79" name="text 78: 8" descr="sci-ppt:obj-0078"/>
          <p:cNvSpPr txBox="1"/>
          <p:nvPr/>
        </p:nvSpPr>
        <p:spPr>
          <a:xfrm>
            <a:off x="11433506" y="3954224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80" name="text 79: Time after prescribed seed (µs)" descr="sci-ppt:obj-0079"/>
          <p:cNvSpPr txBox="1"/>
          <p:nvPr/>
        </p:nvSpPr>
        <p:spPr>
          <a:xfrm>
            <a:off x="7927051" y="4175444"/>
            <a:ext cx="2963072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Time after prescribed seed (µs)</a:t>
            </a:r>
          </a:p>
        </p:txBody>
      </p:sp>
      <p:cxnSp>
        <p:nvCxnSpPr>
          <p:cNvPr id="81" name="line 80: plot geometry" descr="sci-ppt:obj-0080"/>
          <p:cNvCxnSpPr/>
          <p:nvPr/>
        </p:nvCxnSpPr>
        <p:spPr>
          <a:xfrm>
            <a:off x="6739244" y="3748972"/>
            <a:ext cx="5338687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82" name="line 81: plot geometry" descr="sci-ppt:obj-0081"/>
          <p:cNvCxnSpPr/>
          <p:nvPr/>
        </p:nvCxnSpPr>
        <p:spPr>
          <a:xfrm flipH="1">
            <a:off x="6683942" y="3748972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83" name="text 82: 0" descr="sci-ppt:obj-0082"/>
          <p:cNvSpPr txBox="1"/>
          <p:nvPr/>
        </p:nvSpPr>
        <p:spPr>
          <a:xfrm>
            <a:off x="6498841" y="3646249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cxnSp>
        <p:nvCxnSpPr>
          <p:cNvPr id="84" name="line 83: plot geometry" descr="sci-ppt:obj-0083"/>
          <p:cNvCxnSpPr/>
          <p:nvPr/>
        </p:nvCxnSpPr>
        <p:spPr>
          <a:xfrm>
            <a:off x="6739244" y="3081141"/>
            <a:ext cx="5338687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85" name="line 84: plot geometry" descr="sci-ppt:obj-0084"/>
          <p:cNvCxnSpPr/>
          <p:nvPr/>
        </p:nvCxnSpPr>
        <p:spPr>
          <a:xfrm flipH="1">
            <a:off x="6683942" y="3081141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86" name="text 85: 1" descr="sci-ppt:obj-0085"/>
          <p:cNvSpPr txBox="1"/>
          <p:nvPr/>
        </p:nvSpPr>
        <p:spPr>
          <a:xfrm>
            <a:off x="6498841" y="2978419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cxnSp>
        <p:nvCxnSpPr>
          <p:cNvPr id="87" name="line 86: plot geometry" descr="sci-ppt:obj-0086"/>
          <p:cNvCxnSpPr/>
          <p:nvPr/>
        </p:nvCxnSpPr>
        <p:spPr>
          <a:xfrm>
            <a:off x="6739244" y="2413310"/>
            <a:ext cx="5338687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88" name="line 87: plot geometry" descr="sci-ppt:obj-0087"/>
          <p:cNvCxnSpPr/>
          <p:nvPr/>
        </p:nvCxnSpPr>
        <p:spPr>
          <a:xfrm flipH="1">
            <a:off x="6683942" y="2413310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89" name="text 88: 2" descr="sci-ppt:obj-0088"/>
          <p:cNvSpPr txBox="1"/>
          <p:nvPr/>
        </p:nvSpPr>
        <p:spPr>
          <a:xfrm>
            <a:off x="6498841" y="2310588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cxnSp>
        <p:nvCxnSpPr>
          <p:cNvPr id="90" name="line 89: plot geometry" descr="sci-ppt:obj-0089"/>
          <p:cNvCxnSpPr/>
          <p:nvPr/>
        </p:nvCxnSpPr>
        <p:spPr>
          <a:xfrm>
            <a:off x="6739244" y="1745479"/>
            <a:ext cx="5338687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91" name="line 90: plot geometry" descr="sci-ppt:obj-0090"/>
          <p:cNvCxnSpPr/>
          <p:nvPr/>
        </p:nvCxnSpPr>
        <p:spPr>
          <a:xfrm flipH="1">
            <a:off x="6683942" y="1745479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92" name="text 91: 3" descr="sci-ppt:obj-0091"/>
          <p:cNvSpPr txBox="1"/>
          <p:nvPr/>
        </p:nvSpPr>
        <p:spPr>
          <a:xfrm>
            <a:off x="6498841" y="1642757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cxnSp>
        <p:nvCxnSpPr>
          <p:cNvPr id="93" name="line 92: plot geometry" descr="sci-ppt:obj-0092"/>
          <p:cNvCxnSpPr/>
          <p:nvPr/>
        </p:nvCxnSpPr>
        <p:spPr>
          <a:xfrm>
            <a:off x="6739244" y="1077648"/>
            <a:ext cx="5338687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94" name="line 93: plot geometry" descr="sci-ppt:obj-0093"/>
          <p:cNvCxnSpPr/>
          <p:nvPr/>
        </p:nvCxnSpPr>
        <p:spPr>
          <a:xfrm flipH="1">
            <a:off x="6683942" y="1077648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95" name="text 94: 4" descr="sci-ppt:obj-0094"/>
          <p:cNvSpPr txBox="1"/>
          <p:nvPr/>
        </p:nvSpPr>
        <p:spPr>
          <a:xfrm>
            <a:off x="6498841" y="974926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96" name="text 95: Radial wall speed (m/s)" descr="sci-ppt:obj-0095"/>
          <p:cNvSpPr txBox="1"/>
          <p:nvPr/>
        </p:nvSpPr>
        <p:spPr>
          <a:xfrm rot="16200000">
            <a:off x="5318305" y="2212753"/>
            <a:ext cx="2217286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Radial wall speed (m/s)</a:t>
            </a:r>
          </a:p>
        </p:txBody>
      </p:sp>
      <p:sp>
        <p:nvSpPr>
          <p:cNvPr id="97" name="polygon 96: plot geometry" descr="sci-ppt:obj-0096"/>
          <p:cNvSpPr/>
          <p:nvPr/>
        </p:nvSpPr>
        <p:spPr>
          <a:xfrm>
            <a:off x="6981912" y="1002158"/>
            <a:ext cx="480112" cy="2746814"/>
          </a:xfrm>
          <a:custGeom>
            <a:avLst/>
            <a:gdLst/>
            <a:ahLst/>
            <a:cxnLst/>
            <a:rect l="l" t="t" r="r" b="b"/>
            <a:pathLst>
              <a:path w="480112" h="2746814">
                <a:moveTo>
                  <a:pt x="0" y="2746814"/>
                </a:moveTo>
                <a:lnTo>
                  <a:pt x="57013" y="1842005"/>
                </a:lnTo>
                <a:lnTo>
                  <a:pt x="88220" y="1402614"/>
                </a:lnTo>
                <a:lnTo>
                  <a:pt x="114626" y="1077966"/>
                </a:lnTo>
                <a:lnTo>
                  <a:pt x="138632" y="824240"/>
                </a:lnTo>
                <a:lnTo>
                  <a:pt x="160837" y="624978"/>
                </a:lnTo>
                <a:lnTo>
                  <a:pt x="181842" y="466683"/>
                </a:lnTo>
                <a:lnTo>
                  <a:pt x="201647" y="342661"/>
                </a:lnTo>
                <a:lnTo>
                  <a:pt x="220851" y="243995"/>
                </a:lnTo>
                <a:lnTo>
                  <a:pt x="238856" y="169181"/>
                </a:lnTo>
                <a:lnTo>
                  <a:pt x="255660" y="113449"/>
                </a:lnTo>
                <a:lnTo>
                  <a:pt x="271863" y="71469"/>
                </a:lnTo>
                <a:lnTo>
                  <a:pt x="286867" y="42018"/>
                </a:lnTo>
                <a:lnTo>
                  <a:pt x="300670" y="22265"/>
                </a:lnTo>
                <a:lnTo>
                  <a:pt x="313273" y="9904"/>
                </a:lnTo>
                <a:lnTo>
                  <a:pt x="325276" y="2806"/>
                </a:lnTo>
                <a:lnTo>
                  <a:pt x="336679" y="0"/>
                </a:lnTo>
                <a:lnTo>
                  <a:pt x="348081" y="780"/>
                </a:lnTo>
                <a:lnTo>
                  <a:pt x="360084" y="5220"/>
                </a:lnTo>
                <a:lnTo>
                  <a:pt x="373287" y="14096"/>
                </a:lnTo>
                <a:lnTo>
                  <a:pt x="387691" y="28196"/>
                </a:lnTo>
                <a:lnTo>
                  <a:pt x="403895" y="49121"/>
                </a:lnTo>
                <a:lnTo>
                  <a:pt x="422499" y="79157"/>
                </a:lnTo>
                <a:lnTo>
                  <a:pt x="443504" y="120006"/>
                </a:lnTo>
                <a:lnTo>
                  <a:pt x="467509" y="174671"/>
                </a:lnTo>
                <a:lnTo>
                  <a:pt x="480112" y="206420"/>
                </a:lnTo>
                <a:lnTo>
                  <a:pt x="480112" y="206420"/>
                </a:lnTo>
              </a:path>
            </a:pathLst>
          </a:custGeom>
          <a:noFill/>
          <a:ln w="23700">
            <a:solidFill>
              <a:srgbClr val="B95E2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polygon 97: plot geometry" descr="sci-ppt:obj-0097"/>
          <p:cNvSpPr/>
          <p:nvPr/>
        </p:nvSpPr>
        <p:spPr>
          <a:xfrm>
            <a:off x="6981912" y="1930767"/>
            <a:ext cx="681449" cy="1818205"/>
          </a:xfrm>
          <a:custGeom>
            <a:avLst/>
            <a:gdLst/>
            <a:ahLst/>
            <a:cxnLst/>
            <a:rect l="l" t="t" r="r" b="b"/>
            <a:pathLst>
              <a:path w="681449" h="1818205">
                <a:moveTo>
                  <a:pt x="0" y="1818205"/>
                </a:moveTo>
                <a:lnTo>
                  <a:pt x="24702" y="1442022"/>
                </a:lnTo>
                <a:lnTo>
                  <a:pt x="47701" y="1143293"/>
                </a:lnTo>
                <a:lnTo>
                  <a:pt x="68996" y="909725"/>
                </a:lnTo>
                <a:lnTo>
                  <a:pt x="90292" y="714237"/>
                </a:lnTo>
                <a:lnTo>
                  <a:pt x="110735" y="558495"/>
                </a:lnTo>
                <a:lnTo>
                  <a:pt x="130327" y="434876"/>
                </a:lnTo>
                <a:lnTo>
                  <a:pt x="149918" y="332938"/>
                </a:lnTo>
                <a:lnTo>
                  <a:pt x="168658" y="252883"/>
                </a:lnTo>
                <a:lnTo>
                  <a:pt x="187398" y="187477"/>
                </a:lnTo>
                <a:lnTo>
                  <a:pt x="206138" y="134659"/>
                </a:lnTo>
                <a:lnTo>
                  <a:pt x="224026" y="94366"/>
                </a:lnTo>
                <a:lnTo>
                  <a:pt x="241914" y="62643"/>
                </a:lnTo>
                <a:lnTo>
                  <a:pt x="258950" y="39392"/>
                </a:lnTo>
                <a:lnTo>
                  <a:pt x="275135" y="22847"/>
                </a:lnTo>
                <a:lnTo>
                  <a:pt x="291319" y="11104"/>
                </a:lnTo>
                <a:lnTo>
                  <a:pt x="307504" y="3660"/>
                </a:lnTo>
                <a:lnTo>
                  <a:pt x="323688" y="83"/>
                </a:lnTo>
                <a:lnTo>
                  <a:pt x="339872" y="0"/>
                </a:lnTo>
                <a:lnTo>
                  <a:pt x="356909" y="3333"/>
                </a:lnTo>
                <a:lnTo>
                  <a:pt x="375649" y="10671"/>
                </a:lnTo>
                <a:lnTo>
                  <a:pt x="396092" y="22641"/>
                </a:lnTo>
                <a:lnTo>
                  <a:pt x="418239" y="39809"/>
                </a:lnTo>
                <a:lnTo>
                  <a:pt x="442942" y="63577"/>
                </a:lnTo>
                <a:lnTo>
                  <a:pt x="470200" y="94840"/>
                </a:lnTo>
                <a:lnTo>
                  <a:pt x="500865" y="135593"/>
                </a:lnTo>
                <a:lnTo>
                  <a:pt x="534937" y="186942"/>
                </a:lnTo>
                <a:lnTo>
                  <a:pt x="573269" y="251299"/>
                </a:lnTo>
                <a:lnTo>
                  <a:pt x="616711" y="331377"/>
                </a:lnTo>
                <a:lnTo>
                  <a:pt x="666116" y="430027"/>
                </a:lnTo>
                <a:lnTo>
                  <a:pt x="681449" y="462022"/>
                </a:lnTo>
                <a:lnTo>
                  <a:pt x="681449" y="462022"/>
                </a:lnTo>
              </a:path>
            </a:pathLst>
          </a:custGeom>
          <a:noFill/>
          <a:ln w="23700">
            <a:solidFill>
              <a:srgbClr val="176C8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polygon 98: plot geometry" descr="sci-ppt:obj-0098"/>
          <p:cNvSpPr/>
          <p:nvPr/>
        </p:nvSpPr>
        <p:spPr>
          <a:xfrm>
            <a:off x="6981912" y="3448727"/>
            <a:ext cx="4853351" cy="300245"/>
          </a:xfrm>
          <a:custGeom>
            <a:avLst/>
            <a:gdLst/>
            <a:ahLst/>
            <a:cxnLst/>
            <a:rect l="l" t="t" r="r" b="b"/>
            <a:pathLst>
              <a:path w="4853351" h="300245">
                <a:moveTo>
                  <a:pt x="0" y="300245"/>
                </a:moveTo>
                <a:lnTo>
                  <a:pt x="8349" y="190511"/>
                </a:lnTo>
                <a:lnTo>
                  <a:pt x="16869" y="119942"/>
                </a:lnTo>
                <a:lnTo>
                  <a:pt x="25212" y="76450"/>
                </a:lnTo>
                <a:lnTo>
                  <a:pt x="34080" y="47587"/>
                </a:lnTo>
                <a:lnTo>
                  <a:pt x="43810" y="28507"/>
                </a:lnTo>
                <a:lnTo>
                  <a:pt x="54600" y="16369"/>
                </a:lnTo>
                <a:lnTo>
                  <a:pt x="66733" y="8984"/>
                </a:lnTo>
                <a:lnTo>
                  <a:pt x="80049" y="4846"/>
                </a:lnTo>
                <a:lnTo>
                  <a:pt x="103133" y="1919"/>
                </a:lnTo>
                <a:lnTo>
                  <a:pt x="153800" y="483"/>
                </a:lnTo>
                <a:lnTo>
                  <a:pt x="370068" y="0"/>
                </a:lnTo>
                <a:lnTo>
                  <a:pt x="661269" y="2531"/>
                </a:lnTo>
                <a:lnTo>
                  <a:pt x="964603" y="8715"/>
                </a:lnTo>
                <a:lnTo>
                  <a:pt x="1274004" y="18550"/>
                </a:lnTo>
                <a:lnTo>
                  <a:pt x="1607672" y="32748"/>
                </a:lnTo>
                <a:lnTo>
                  <a:pt x="1983807" y="52413"/>
                </a:lnTo>
                <a:lnTo>
                  <a:pt x="2463075" y="81263"/>
                </a:lnTo>
                <a:lnTo>
                  <a:pt x="3900881" y="170132"/>
                </a:lnTo>
                <a:lnTo>
                  <a:pt x="4386216" y="195255"/>
                </a:lnTo>
                <a:lnTo>
                  <a:pt x="4853351" y="215968"/>
                </a:lnTo>
                <a:lnTo>
                  <a:pt x="4853351" y="215968"/>
                </a:lnTo>
              </a:path>
            </a:pathLst>
          </a:custGeom>
          <a:noFill/>
          <a:ln w="23700">
            <a:solidFill>
              <a:srgbClr val="47744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0" name="line 99: plot geometry" descr="sci-ppt:obj-0099"/>
          <p:cNvCxnSpPr/>
          <p:nvPr/>
        </p:nvCxnSpPr>
        <p:spPr>
          <a:xfrm flipV="1">
            <a:off x="6739244" y="864678"/>
            <a:ext cx="0" cy="3021641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cxnSp>
        <p:nvCxnSpPr>
          <p:cNvPr id="101" name="line 100: plot geometry" descr="sci-ppt:obj-0100"/>
          <p:cNvCxnSpPr/>
          <p:nvPr/>
        </p:nvCxnSpPr>
        <p:spPr>
          <a:xfrm>
            <a:off x="6739244" y="3886319"/>
            <a:ext cx="5338687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02" name="text 101: Initial diameter 6 µm" descr="sci-ppt:obj-0101"/>
          <p:cNvSpPr txBox="1"/>
          <p:nvPr/>
        </p:nvSpPr>
        <p:spPr>
          <a:xfrm>
            <a:off x="8197399" y="574580"/>
            <a:ext cx="2422377" cy="25596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92" b="0" i="0">
                <a:solidFill>
                  <a:srgbClr val="000000"/>
                </a:solidFill>
                <a:latin typeface="Arial"/>
              </a:rPr>
              <a:t>Initial diameter 6 µm</a:t>
            </a:r>
          </a:p>
        </p:txBody>
      </p:sp>
      <p:sp>
        <p:nvSpPr>
          <p:cNvPr id="103" name="polygon 102: plot geometry" descr="sci-ppt:obj-0102"/>
          <p:cNvSpPr/>
          <p:nvPr/>
        </p:nvSpPr>
        <p:spPr>
          <a:xfrm>
            <a:off x="10377570" y="943681"/>
            <a:ext cx="1621358" cy="758464"/>
          </a:xfrm>
          <a:custGeom>
            <a:avLst/>
            <a:gdLst/>
            <a:ahLst/>
            <a:cxnLst/>
            <a:rect l="l" t="t" r="r" b="b"/>
            <a:pathLst>
              <a:path w="1621358" h="758464">
                <a:moveTo>
                  <a:pt x="31601" y="758464"/>
                </a:moveTo>
                <a:lnTo>
                  <a:pt x="1589757" y="758464"/>
                </a:lnTo>
                <a:lnTo>
                  <a:pt x="1594804" y="758244"/>
                </a:lnTo>
                <a:lnTo>
                  <a:pt x="1599413" y="757586"/>
                </a:lnTo>
                <a:lnTo>
                  <a:pt x="1603582" y="756488"/>
                </a:lnTo>
                <a:lnTo>
                  <a:pt x="1607313" y="754952"/>
                </a:lnTo>
                <a:lnTo>
                  <a:pt x="1610605" y="752977"/>
                </a:lnTo>
                <a:lnTo>
                  <a:pt x="1613458" y="750563"/>
                </a:lnTo>
                <a:lnTo>
                  <a:pt x="1615872" y="747710"/>
                </a:lnTo>
                <a:lnTo>
                  <a:pt x="1617847" y="744419"/>
                </a:lnTo>
                <a:lnTo>
                  <a:pt x="1619383" y="740688"/>
                </a:lnTo>
                <a:lnTo>
                  <a:pt x="1620480" y="736518"/>
                </a:lnTo>
                <a:lnTo>
                  <a:pt x="1621139" y="731910"/>
                </a:lnTo>
                <a:lnTo>
                  <a:pt x="1621358" y="726862"/>
                </a:lnTo>
                <a:lnTo>
                  <a:pt x="1621358" y="31601"/>
                </a:lnTo>
                <a:lnTo>
                  <a:pt x="1621139" y="26554"/>
                </a:lnTo>
                <a:lnTo>
                  <a:pt x="1620480" y="21945"/>
                </a:lnTo>
                <a:lnTo>
                  <a:pt x="1619383" y="17776"/>
                </a:lnTo>
                <a:lnTo>
                  <a:pt x="1617847" y="14045"/>
                </a:lnTo>
                <a:lnTo>
                  <a:pt x="1615872" y="10753"/>
                </a:lnTo>
                <a:lnTo>
                  <a:pt x="1613458" y="7901"/>
                </a:lnTo>
                <a:lnTo>
                  <a:pt x="1610605" y="5487"/>
                </a:lnTo>
                <a:lnTo>
                  <a:pt x="1607313" y="3511"/>
                </a:lnTo>
                <a:lnTo>
                  <a:pt x="1603582" y="1975"/>
                </a:lnTo>
                <a:lnTo>
                  <a:pt x="1599413" y="878"/>
                </a:lnTo>
                <a:lnTo>
                  <a:pt x="1594804" y="220"/>
                </a:lnTo>
                <a:lnTo>
                  <a:pt x="1589757" y="0"/>
                </a:lnTo>
                <a:lnTo>
                  <a:pt x="31601" y="0"/>
                </a:lnTo>
                <a:lnTo>
                  <a:pt x="26553" y="220"/>
                </a:lnTo>
                <a:lnTo>
                  <a:pt x="21945" y="878"/>
                </a:lnTo>
                <a:lnTo>
                  <a:pt x="17775" y="1975"/>
                </a:lnTo>
                <a:lnTo>
                  <a:pt x="14045" y="3511"/>
                </a:lnTo>
                <a:lnTo>
                  <a:pt x="10753" y="5487"/>
                </a:lnTo>
                <a:lnTo>
                  <a:pt x="7900" y="7901"/>
                </a:lnTo>
                <a:lnTo>
                  <a:pt x="5486" y="10753"/>
                </a:lnTo>
                <a:lnTo>
                  <a:pt x="3511" y="14045"/>
                </a:lnTo>
                <a:lnTo>
                  <a:pt x="1975" y="17776"/>
                </a:lnTo>
                <a:lnTo>
                  <a:pt x="877" y="21945"/>
                </a:lnTo>
                <a:lnTo>
                  <a:pt x="219" y="26554"/>
                </a:lnTo>
                <a:lnTo>
                  <a:pt x="0" y="31601"/>
                </a:lnTo>
                <a:lnTo>
                  <a:pt x="0" y="726862"/>
                </a:lnTo>
                <a:lnTo>
                  <a:pt x="219" y="731910"/>
                </a:lnTo>
                <a:lnTo>
                  <a:pt x="877" y="736518"/>
                </a:lnTo>
                <a:lnTo>
                  <a:pt x="1975" y="740688"/>
                </a:lnTo>
                <a:lnTo>
                  <a:pt x="3511" y="744419"/>
                </a:lnTo>
                <a:lnTo>
                  <a:pt x="5486" y="747710"/>
                </a:lnTo>
                <a:lnTo>
                  <a:pt x="7900" y="750563"/>
                </a:lnTo>
                <a:lnTo>
                  <a:pt x="10753" y="752977"/>
                </a:lnTo>
                <a:lnTo>
                  <a:pt x="14045" y="754952"/>
                </a:lnTo>
                <a:lnTo>
                  <a:pt x="17775" y="756488"/>
                </a:lnTo>
                <a:lnTo>
                  <a:pt x="21945" y="757586"/>
                </a:lnTo>
                <a:lnTo>
                  <a:pt x="26553" y="758244"/>
                </a:lnTo>
                <a:lnTo>
                  <a:pt x="31601" y="758464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 w="15800">
            <a:solidFill>
              <a:srgbClr val="CCCCCC">
                <a:alpha val="80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polygon 103: plot geometry" descr="sci-ppt:obj-0103"/>
          <p:cNvSpPr/>
          <p:nvPr/>
        </p:nvSpPr>
        <p:spPr>
          <a:xfrm>
            <a:off x="10440772" y="1071641"/>
            <a:ext cx="316011" cy="0"/>
          </a:xfrm>
          <a:custGeom>
            <a:avLst/>
            <a:gdLst/>
            <a:ahLst/>
            <a:cxnLst/>
            <a:rect l="l" t="t" r="r" b="b"/>
            <a:pathLst>
              <a:path w="316011" h="0">
                <a:moveTo>
                  <a:pt x="0" y="0"/>
                </a:moveTo>
                <a:lnTo>
                  <a:pt x="158005" y="0"/>
                </a:lnTo>
                <a:lnTo>
                  <a:pt x="316011" y="0"/>
                </a:lnTo>
              </a:path>
            </a:pathLst>
          </a:custGeom>
          <a:noFill/>
          <a:ln w="23700">
            <a:solidFill>
              <a:srgbClr val="B95E2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text 104: η = 0 Pa s" descr="sci-ppt:obj-0104"/>
          <p:cNvSpPr txBox="1"/>
          <p:nvPr/>
        </p:nvSpPr>
        <p:spPr>
          <a:xfrm>
            <a:off x="10855755" y="964197"/>
            <a:ext cx="1005384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η = 0 Pa s</a:t>
            </a:r>
          </a:p>
        </p:txBody>
      </p:sp>
      <p:sp>
        <p:nvSpPr>
          <p:cNvPr id="106" name="polygon 105: plot geometry" descr="sci-ppt:obj-0105"/>
          <p:cNvSpPr/>
          <p:nvPr/>
        </p:nvSpPr>
        <p:spPr>
          <a:xfrm>
            <a:off x="10440772" y="1308662"/>
            <a:ext cx="316011" cy="0"/>
          </a:xfrm>
          <a:custGeom>
            <a:avLst/>
            <a:gdLst/>
            <a:ahLst/>
            <a:cxnLst/>
            <a:rect l="l" t="t" r="r" b="b"/>
            <a:pathLst>
              <a:path w="316011" h="0">
                <a:moveTo>
                  <a:pt x="0" y="0"/>
                </a:moveTo>
                <a:lnTo>
                  <a:pt x="158005" y="0"/>
                </a:lnTo>
                <a:lnTo>
                  <a:pt x="316011" y="0"/>
                </a:lnTo>
              </a:path>
            </a:pathLst>
          </a:custGeom>
          <a:noFill/>
          <a:ln w="23700">
            <a:solidFill>
              <a:srgbClr val="176C8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text 106: η = 0.01 Pa s" descr="sci-ppt:obj-0106"/>
          <p:cNvSpPr txBox="1"/>
          <p:nvPr/>
        </p:nvSpPr>
        <p:spPr>
          <a:xfrm>
            <a:off x="10855755" y="1201218"/>
            <a:ext cx="1285054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η = 0.01 Pa s</a:t>
            </a:r>
          </a:p>
        </p:txBody>
      </p:sp>
      <p:sp>
        <p:nvSpPr>
          <p:cNvPr id="108" name="polygon 107: plot geometry" descr="sci-ppt:obj-0107"/>
          <p:cNvSpPr/>
          <p:nvPr/>
        </p:nvSpPr>
        <p:spPr>
          <a:xfrm>
            <a:off x="10440772" y="1545682"/>
            <a:ext cx="316011" cy="0"/>
          </a:xfrm>
          <a:custGeom>
            <a:avLst/>
            <a:gdLst/>
            <a:ahLst/>
            <a:cxnLst/>
            <a:rect l="l" t="t" r="r" b="b"/>
            <a:pathLst>
              <a:path w="316011" h="0">
                <a:moveTo>
                  <a:pt x="0" y="0"/>
                </a:moveTo>
                <a:lnTo>
                  <a:pt x="158005" y="0"/>
                </a:lnTo>
                <a:lnTo>
                  <a:pt x="316011" y="0"/>
                </a:lnTo>
              </a:path>
            </a:pathLst>
          </a:custGeom>
          <a:noFill/>
          <a:ln w="23700">
            <a:solidFill>
              <a:srgbClr val="47744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text 108: η = 0.1 Pa s" descr="sci-ppt:obj-0108"/>
          <p:cNvSpPr txBox="1"/>
          <p:nvPr/>
        </p:nvSpPr>
        <p:spPr>
          <a:xfrm>
            <a:off x="10855755" y="1438238"/>
            <a:ext cx="1191830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η = 0.1 Pa s</a:t>
            </a:r>
          </a:p>
        </p:txBody>
      </p:sp>
      <p:sp>
        <p:nvSpPr>
          <p:cNvPr id="110" name="polygon 109: plot geometry" descr="sci-ppt:obj-0109"/>
          <p:cNvSpPr/>
          <p:nvPr/>
        </p:nvSpPr>
        <p:spPr>
          <a:xfrm>
            <a:off x="696865" y="4470959"/>
            <a:ext cx="5338687" cy="3021640"/>
          </a:xfrm>
          <a:custGeom>
            <a:avLst/>
            <a:gdLst/>
            <a:ahLst/>
            <a:cxnLst/>
            <a:rect l="l" t="t" r="r" b="b"/>
            <a:pathLst>
              <a:path w="5338687" h="3021640">
                <a:moveTo>
                  <a:pt x="0" y="3021640"/>
                </a:moveTo>
                <a:lnTo>
                  <a:pt x="5338687" y="3021640"/>
                </a:lnTo>
                <a:lnTo>
                  <a:pt x="5338687" y="0"/>
                </a:lnTo>
                <a:lnTo>
                  <a:pt x="0" y="0"/>
                </a:lnTo>
                <a:lnTo>
                  <a:pt x="0" y="30216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1" name="line 110: plot geometry" descr="sci-ppt:obj-0110"/>
          <p:cNvCxnSpPr/>
          <p:nvPr/>
        </p:nvCxnSpPr>
        <p:spPr>
          <a:xfrm flipV="1">
            <a:off x="939533" y="4470959"/>
            <a:ext cx="0" cy="302164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112" name="line 111: plot geometry" descr="sci-ppt:obj-0111"/>
          <p:cNvCxnSpPr/>
          <p:nvPr/>
        </p:nvCxnSpPr>
        <p:spPr>
          <a:xfrm>
            <a:off x="939533" y="7492599"/>
            <a:ext cx="0" cy="55302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13" name="text 112: 0.0" descr="sci-ppt:obj-0112"/>
          <p:cNvSpPr txBox="1"/>
          <p:nvPr/>
        </p:nvSpPr>
        <p:spPr>
          <a:xfrm>
            <a:off x="763122" y="7560505"/>
            <a:ext cx="352821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cxnSp>
        <p:nvCxnSpPr>
          <p:cNvPr id="114" name="line 113: plot geometry" descr="sci-ppt:obj-0113"/>
          <p:cNvCxnSpPr/>
          <p:nvPr/>
        </p:nvCxnSpPr>
        <p:spPr>
          <a:xfrm flipV="1">
            <a:off x="1586647" y="4470959"/>
            <a:ext cx="0" cy="302164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115" name="line 114: plot geometry" descr="sci-ppt:obj-0114"/>
          <p:cNvCxnSpPr/>
          <p:nvPr/>
        </p:nvCxnSpPr>
        <p:spPr>
          <a:xfrm>
            <a:off x="1586647" y="7492599"/>
            <a:ext cx="0" cy="55302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16" name="text 115: 0.2" descr="sci-ppt:obj-0115"/>
          <p:cNvSpPr txBox="1"/>
          <p:nvPr/>
        </p:nvSpPr>
        <p:spPr>
          <a:xfrm>
            <a:off x="1410236" y="7560505"/>
            <a:ext cx="352821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cxnSp>
        <p:nvCxnSpPr>
          <p:cNvPr id="117" name="line 116: plot geometry" descr="sci-ppt:obj-0116"/>
          <p:cNvCxnSpPr/>
          <p:nvPr/>
        </p:nvCxnSpPr>
        <p:spPr>
          <a:xfrm flipV="1">
            <a:off x="2233760" y="4470959"/>
            <a:ext cx="0" cy="302164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118" name="line 117: plot geometry" descr="sci-ppt:obj-0117"/>
          <p:cNvCxnSpPr/>
          <p:nvPr/>
        </p:nvCxnSpPr>
        <p:spPr>
          <a:xfrm>
            <a:off x="2233760" y="7492599"/>
            <a:ext cx="0" cy="55302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19" name="text 118: 0.4" descr="sci-ppt:obj-0118"/>
          <p:cNvSpPr txBox="1"/>
          <p:nvPr/>
        </p:nvSpPr>
        <p:spPr>
          <a:xfrm>
            <a:off x="2057349" y="7560505"/>
            <a:ext cx="352821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cxnSp>
        <p:nvCxnSpPr>
          <p:cNvPr id="120" name="line 119: plot geometry" descr="sci-ppt:obj-0119"/>
          <p:cNvCxnSpPr/>
          <p:nvPr/>
        </p:nvCxnSpPr>
        <p:spPr>
          <a:xfrm flipV="1">
            <a:off x="2880874" y="4470959"/>
            <a:ext cx="0" cy="302164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121" name="line 120: plot geometry" descr="sci-ppt:obj-0120"/>
          <p:cNvCxnSpPr/>
          <p:nvPr/>
        </p:nvCxnSpPr>
        <p:spPr>
          <a:xfrm>
            <a:off x="2880874" y="7492599"/>
            <a:ext cx="0" cy="55302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22" name="text 121: 0.6" descr="sci-ppt:obj-0121"/>
          <p:cNvSpPr txBox="1"/>
          <p:nvPr/>
        </p:nvSpPr>
        <p:spPr>
          <a:xfrm>
            <a:off x="2704463" y="7560505"/>
            <a:ext cx="352821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0.6</a:t>
            </a:r>
          </a:p>
        </p:txBody>
      </p:sp>
      <p:cxnSp>
        <p:nvCxnSpPr>
          <p:cNvPr id="123" name="line 122: plot geometry" descr="sci-ppt:obj-0122"/>
          <p:cNvCxnSpPr/>
          <p:nvPr/>
        </p:nvCxnSpPr>
        <p:spPr>
          <a:xfrm flipV="1">
            <a:off x="3527987" y="4470959"/>
            <a:ext cx="0" cy="302164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124" name="line 123: plot geometry" descr="sci-ppt:obj-0123"/>
          <p:cNvCxnSpPr/>
          <p:nvPr/>
        </p:nvCxnSpPr>
        <p:spPr>
          <a:xfrm>
            <a:off x="3527987" y="7492599"/>
            <a:ext cx="0" cy="55302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25" name="text 124: 0.8" descr="sci-ppt:obj-0124"/>
          <p:cNvSpPr txBox="1"/>
          <p:nvPr/>
        </p:nvSpPr>
        <p:spPr>
          <a:xfrm>
            <a:off x="3351576" y="7560505"/>
            <a:ext cx="352821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0.8</a:t>
            </a:r>
          </a:p>
        </p:txBody>
      </p:sp>
      <p:cxnSp>
        <p:nvCxnSpPr>
          <p:cNvPr id="126" name="line 125: plot geometry" descr="sci-ppt:obj-0125"/>
          <p:cNvCxnSpPr/>
          <p:nvPr/>
        </p:nvCxnSpPr>
        <p:spPr>
          <a:xfrm flipV="1">
            <a:off x="4175101" y="4470959"/>
            <a:ext cx="0" cy="302164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127" name="line 126: plot geometry" descr="sci-ppt:obj-0126"/>
          <p:cNvCxnSpPr/>
          <p:nvPr/>
        </p:nvCxnSpPr>
        <p:spPr>
          <a:xfrm>
            <a:off x="4175101" y="7492599"/>
            <a:ext cx="0" cy="55302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28" name="text 127: 1.0" descr="sci-ppt:obj-0127"/>
          <p:cNvSpPr txBox="1"/>
          <p:nvPr/>
        </p:nvSpPr>
        <p:spPr>
          <a:xfrm>
            <a:off x="3998690" y="7560505"/>
            <a:ext cx="352821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1.0</a:t>
            </a:r>
          </a:p>
        </p:txBody>
      </p:sp>
      <p:cxnSp>
        <p:nvCxnSpPr>
          <p:cNvPr id="129" name="line 128: plot geometry" descr="sci-ppt:obj-0128"/>
          <p:cNvCxnSpPr/>
          <p:nvPr/>
        </p:nvCxnSpPr>
        <p:spPr>
          <a:xfrm flipV="1">
            <a:off x="4822214" y="4470959"/>
            <a:ext cx="0" cy="302164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130" name="line 129: plot geometry" descr="sci-ppt:obj-0129"/>
          <p:cNvCxnSpPr/>
          <p:nvPr/>
        </p:nvCxnSpPr>
        <p:spPr>
          <a:xfrm>
            <a:off x="4822214" y="7492599"/>
            <a:ext cx="0" cy="55302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31" name="text 130: 1.2" descr="sci-ppt:obj-0130"/>
          <p:cNvSpPr txBox="1"/>
          <p:nvPr/>
        </p:nvSpPr>
        <p:spPr>
          <a:xfrm>
            <a:off x="4645803" y="7560505"/>
            <a:ext cx="352821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1.2</a:t>
            </a:r>
          </a:p>
        </p:txBody>
      </p:sp>
      <p:cxnSp>
        <p:nvCxnSpPr>
          <p:cNvPr id="132" name="line 131: plot geometry" descr="sci-ppt:obj-0131"/>
          <p:cNvCxnSpPr/>
          <p:nvPr/>
        </p:nvCxnSpPr>
        <p:spPr>
          <a:xfrm flipV="1">
            <a:off x="5469328" y="4470959"/>
            <a:ext cx="0" cy="302164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133" name="line 132: plot geometry" descr="sci-ppt:obj-0132"/>
          <p:cNvCxnSpPr/>
          <p:nvPr/>
        </p:nvCxnSpPr>
        <p:spPr>
          <a:xfrm>
            <a:off x="5469328" y="7492599"/>
            <a:ext cx="0" cy="55302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34" name="text 133: 1.4" descr="sci-ppt:obj-0133"/>
          <p:cNvSpPr txBox="1"/>
          <p:nvPr/>
        </p:nvSpPr>
        <p:spPr>
          <a:xfrm>
            <a:off x="5292917" y="7560505"/>
            <a:ext cx="352821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1.4</a:t>
            </a:r>
          </a:p>
        </p:txBody>
      </p:sp>
      <p:sp>
        <p:nvSpPr>
          <p:cNvPr id="135" name="text 134: Time after prescribed seed (µs)" descr="sci-ppt:obj-0134"/>
          <p:cNvSpPr txBox="1"/>
          <p:nvPr/>
        </p:nvSpPr>
        <p:spPr>
          <a:xfrm>
            <a:off x="1884673" y="7781725"/>
            <a:ext cx="2963072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Time after prescribed seed (µs)</a:t>
            </a:r>
          </a:p>
        </p:txBody>
      </p:sp>
      <p:cxnSp>
        <p:nvCxnSpPr>
          <p:cNvPr id="136" name="line 135: plot geometry" descr="sci-ppt:obj-0135"/>
          <p:cNvCxnSpPr/>
          <p:nvPr/>
        </p:nvCxnSpPr>
        <p:spPr>
          <a:xfrm>
            <a:off x="696865" y="7355252"/>
            <a:ext cx="5338687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137" name="line 136: plot geometry" descr="sci-ppt:obj-0136"/>
          <p:cNvCxnSpPr/>
          <p:nvPr/>
        </p:nvCxnSpPr>
        <p:spPr>
          <a:xfrm flipH="1">
            <a:off x="641563" y="7355252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38" name="text 137: 1.2" descr="sci-ppt:obj-0137"/>
          <p:cNvSpPr txBox="1"/>
          <p:nvPr/>
        </p:nvSpPr>
        <p:spPr>
          <a:xfrm>
            <a:off x="270016" y="7252530"/>
            <a:ext cx="352821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1.2</a:t>
            </a:r>
          </a:p>
        </p:txBody>
      </p:sp>
      <p:cxnSp>
        <p:nvCxnSpPr>
          <p:cNvPr id="139" name="line 138: plot geometry" descr="sci-ppt:obj-0138"/>
          <p:cNvCxnSpPr/>
          <p:nvPr/>
        </p:nvCxnSpPr>
        <p:spPr>
          <a:xfrm>
            <a:off x="696865" y="6744820"/>
            <a:ext cx="5338687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140" name="line 139: plot geometry" descr="sci-ppt:obj-0139"/>
          <p:cNvCxnSpPr/>
          <p:nvPr/>
        </p:nvCxnSpPr>
        <p:spPr>
          <a:xfrm flipH="1">
            <a:off x="641563" y="6744820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41" name="text 140: 1.4" descr="sci-ppt:obj-0140"/>
          <p:cNvSpPr txBox="1"/>
          <p:nvPr/>
        </p:nvSpPr>
        <p:spPr>
          <a:xfrm>
            <a:off x="270016" y="6642098"/>
            <a:ext cx="352821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1.4</a:t>
            </a:r>
          </a:p>
        </p:txBody>
      </p:sp>
      <p:cxnSp>
        <p:nvCxnSpPr>
          <p:cNvPr id="142" name="line 141: plot geometry" descr="sci-ppt:obj-0141"/>
          <p:cNvCxnSpPr/>
          <p:nvPr/>
        </p:nvCxnSpPr>
        <p:spPr>
          <a:xfrm>
            <a:off x="696865" y="6134387"/>
            <a:ext cx="5338687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143" name="line 142: plot geometry" descr="sci-ppt:obj-0142"/>
          <p:cNvCxnSpPr/>
          <p:nvPr/>
        </p:nvCxnSpPr>
        <p:spPr>
          <a:xfrm flipH="1">
            <a:off x="641563" y="6134387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44" name="text 143: 1.6" descr="sci-ppt:obj-0143"/>
          <p:cNvSpPr txBox="1"/>
          <p:nvPr/>
        </p:nvSpPr>
        <p:spPr>
          <a:xfrm>
            <a:off x="270016" y="6031665"/>
            <a:ext cx="352821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1.6</a:t>
            </a:r>
          </a:p>
        </p:txBody>
      </p:sp>
      <p:cxnSp>
        <p:nvCxnSpPr>
          <p:cNvPr id="145" name="line 144: plot geometry" descr="sci-ppt:obj-0144"/>
          <p:cNvCxnSpPr/>
          <p:nvPr/>
        </p:nvCxnSpPr>
        <p:spPr>
          <a:xfrm>
            <a:off x="696865" y="5523955"/>
            <a:ext cx="5338687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146" name="line 145: plot geometry" descr="sci-ppt:obj-0145"/>
          <p:cNvCxnSpPr/>
          <p:nvPr/>
        </p:nvCxnSpPr>
        <p:spPr>
          <a:xfrm flipH="1">
            <a:off x="641563" y="5523955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47" name="text 146: 1.8" descr="sci-ppt:obj-0146"/>
          <p:cNvSpPr txBox="1"/>
          <p:nvPr/>
        </p:nvSpPr>
        <p:spPr>
          <a:xfrm>
            <a:off x="270016" y="5421233"/>
            <a:ext cx="352821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1.8</a:t>
            </a:r>
          </a:p>
        </p:txBody>
      </p:sp>
      <p:cxnSp>
        <p:nvCxnSpPr>
          <p:cNvPr id="148" name="line 147: plot geometry" descr="sci-ppt:obj-0147"/>
          <p:cNvCxnSpPr/>
          <p:nvPr/>
        </p:nvCxnSpPr>
        <p:spPr>
          <a:xfrm>
            <a:off x="696865" y="4913523"/>
            <a:ext cx="5338687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149" name="line 148: plot geometry" descr="sci-ppt:obj-0148"/>
          <p:cNvCxnSpPr/>
          <p:nvPr/>
        </p:nvCxnSpPr>
        <p:spPr>
          <a:xfrm flipH="1">
            <a:off x="641563" y="4913523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50" name="text 149: 2.0" descr="sci-ppt:obj-0149"/>
          <p:cNvSpPr txBox="1"/>
          <p:nvPr/>
        </p:nvSpPr>
        <p:spPr>
          <a:xfrm>
            <a:off x="270016" y="4810800"/>
            <a:ext cx="352821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2.0</a:t>
            </a:r>
          </a:p>
        </p:txBody>
      </p:sp>
      <p:sp>
        <p:nvSpPr>
          <p:cNvPr id="151" name="text 150: Outer-radius stretch" descr="sci-ppt:obj-0150"/>
          <p:cNvSpPr txBox="1"/>
          <p:nvPr/>
        </p:nvSpPr>
        <p:spPr>
          <a:xfrm rot="16200000">
            <a:off x="-734984" y="5819034"/>
            <a:ext cx="1937616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Outer-radius stretch</a:t>
            </a:r>
          </a:p>
        </p:txBody>
      </p:sp>
      <p:sp>
        <p:nvSpPr>
          <p:cNvPr id="152" name="polygon 151: plot geometry" descr="sci-ppt:obj-0151"/>
          <p:cNvSpPr/>
          <p:nvPr/>
        </p:nvSpPr>
        <p:spPr>
          <a:xfrm>
            <a:off x="939533" y="4608306"/>
            <a:ext cx="216371" cy="2746946"/>
          </a:xfrm>
          <a:custGeom>
            <a:avLst/>
            <a:gdLst/>
            <a:ahLst/>
            <a:cxnLst/>
            <a:rect l="l" t="t" r="r" b="b"/>
            <a:pathLst>
              <a:path w="216371" h="2746946">
                <a:moveTo>
                  <a:pt x="0" y="2746946"/>
                </a:moveTo>
                <a:lnTo>
                  <a:pt x="4868" y="2745346"/>
                </a:lnTo>
                <a:lnTo>
                  <a:pt x="10548" y="2739431"/>
                </a:lnTo>
                <a:lnTo>
                  <a:pt x="17310" y="2726677"/>
                </a:lnTo>
                <a:lnTo>
                  <a:pt x="25424" y="2703109"/>
                </a:lnTo>
                <a:lnTo>
                  <a:pt x="34890" y="2664074"/>
                </a:lnTo>
                <a:lnTo>
                  <a:pt x="45979" y="2602309"/>
                </a:lnTo>
                <a:lnTo>
                  <a:pt x="58691" y="2509988"/>
                </a:lnTo>
                <a:lnTo>
                  <a:pt x="73025" y="2378421"/>
                </a:lnTo>
                <a:lnTo>
                  <a:pt x="89253" y="2195526"/>
                </a:lnTo>
                <a:lnTo>
                  <a:pt x="108186" y="1940301"/>
                </a:lnTo>
                <a:lnTo>
                  <a:pt x="130905" y="1583844"/>
                </a:lnTo>
                <a:lnTo>
                  <a:pt x="160656" y="1057657"/>
                </a:lnTo>
                <a:lnTo>
                  <a:pt x="216371" y="0"/>
                </a:lnTo>
                <a:lnTo>
                  <a:pt x="216371" y="0"/>
                </a:lnTo>
              </a:path>
            </a:pathLst>
          </a:custGeom>
          <a:noFill/>
          <a:ln w="23700">
            <a:solidFill>
              <a:srgbClr val="B95E2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polygon 152: plot geometry" descr="sci-ppt:obj-0152"/>
          <p:cNvSpPr/>
          <p:nvPr/>
        </p:nvSpPr>
        <p:spPr>
          <a:xfrm>
            <a:off x="939533" y="4608306"/>
            <a:ext cx="1095020" cy="2746946"/>
          </a:xfrm>
          <a:custGeom>
            <a:avLst/>
            <a:gdLst/>
            <a:ahLst/>
            <a:cxnLst/>
            <a:rect l="l" t="t" r="r" b="b"/>
            <a:pathLst>
              <a:path w="1095020" h="2746946">
                <a:moveTo>
                  <a:pt x="0" y="2746946"/>
                </a:moveTo>
                <a:lnTo>
                  <a:pt x="5475" y="2745233"/>
                </a:lnTo>
                <a:lnTo>
                  <a:pt x="13496" y="2738569"/>
                </a:lnTo>
                <a:lnTo>
                  <a:pt x="26994" y="2722195"/>
                </a:lnTo>
                <a:lnTo>
                  <a:pt x="53382" y="2683875"/>
                </a:lnTo>
                <a:lnTo>
                  <a:pt x="92026" y="2621561"/>
                </a:lnTo>
                <a:lnTo>
                  <a:pt x="134140" y="2546875"/>
                </a:lnTo>
                <a:lnTo>
                  <a:pt x="177941" y="2461915"/>
                </a:lnTo>
                <a:lnTo>
                  <a:pt x="224479" y="2363764"/>
                </a:lnTo>
                <a:lnTo>
                  <a:pt x="273755" y="2251411"/>
                </a:lnTo>
                <a:lnTo>
                  <a:pt x="327137" y="2120604"/>
                </a:lnTo>
                <a:lnTo>
                  <a:pt x="384626" y="1970259"/>
                </a:lnTo>
                <a:lnTo>
                  <a:pt x="450327" y="1788282"/>
                </a:lnTo>
                <a:lnTo>
                  <a:pt x="529716" y="1557561"/>
                </a:lnTo>
                <a:lnTo>
                  <a:pt x="663856" y="1154776"/>
                </a:lnTo>
                <a:lnTo>
                  <a:pt x="784308" y="797491"/>
                </a:lnTo>
                <a:lnTo>
                  <a:pt x="863697" y="572746"/>
                </a:lnTo>
                <a:lnTo>
                  <a:pt x="932136" y="389250"/>
                </a:lnTo>
                <a:lnTo>
                  <a:pt x="995099" y="230386"/>
                </a:lnTo>
                <a:lnTo>
                  <a:pt x="1053957" y="91342"/>
                </a:lnTo>
                <a:lnTo>
                  <a:pt x="1095020" y="0"/>
                </a:lnTo>
                <a:lnTo>
                  <a:pt x="1095020" y="0"/>
                </a:lnTo>
              </a:path>
            </a:pathLst>
          </a:custGeom>
          <a:noFill/>
          <a:ln w="23700">
            <a:solidFill>
              <a:srgbClr val="176C8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polygon 153: plot geometry" descr="sci-ppt:obj-0153"/>
          <p:cNvSpPr/>
          <p:nvPr/>
        </p:nvSpPr>
        <p:spPr>
          <a:xfrm>
            <a:off x="939533" y="6224287"/>
            <a:ext cx="4853352" cy="1130965"/>
          </a:xfrm>
          <a:custGeom>
            <a:avLst/>
            <a:gdLst/>
            <a:ahLst/>
            <a:cxnLst/>
            <a:rect l="l" t="t" r="r" b="b"/>
            <a:pathLst>
              <a:path w="4853352" h="1130965">
                <a:moveTo>
                  <a:pt x="0" y="1130965"/>
                </a:moveTo>
                <a:lnTo>
                  <a:pt x="13364" y="1129220"/>
                </a:lnTo>
                <a:lnTo>
                  <a:pt x="303334" y="1086289"/>
                </a:lnTo>
                <a:lnTo>
                  <a:pt x="594536" y="1039620"/>
                </a:lnTo>
                <a:lnTo>
                  <a:pt x="885737" y="989399"/>
                </a:lnTo>
                <a:lnTo>
                  <a:pt x="1176938" y="935656"/>
                </a:lnTo>
                <a:lnTo>
                  <a:pt x="1474206" y="877212"/>
                </a:lnTo>
                <a:lnTo>
                  <a:pt x="1771473" y="815220"/>
                </a:lnTo>
                <a:lnTo>
                  <a:pt x="2074808" y="748404"/>
                </a:lnTo>
                <a:lnTo>
                  <a:pt x="2384209" y="676679"/>
                </a:lnTo>
                <a:lnTo>
                  <a:pt x="2705744" y="598488"/>
                </a:lnTo>
                <a:lnTo>
                  <a:pt x="3033345" y="515211"/>
                </a:lnTo>
                <a:lnTo>
                  <a:pt x="3379146" y="423643"/>
                </a:lnTo>
                <a:lnTo>
                  <a:pt x="3743147" y="323572"/>
                </a:lnTo>
                <a:lnTo>
                  <a:pt x="4137482" y="211425"/>
                </a:lnTo>
                <a:lnTo>
                  <a:pt x="4574284" y="83429"/>
                </a:lnTo>
                <a:lnTo>
                  <a:pt x="4853352" y="0"/>
                </a:lnTo>
                <a:lnTo>
                  <a:pt x="4853352" y="0"/>
                </a:lnTo>
              </a:path>
            </a:pathLst>
          </a:custGeom>
          <a:noFill/>
          <a:ln w="23700">
            <a:solidFill>
              <a:srgbClr val="47744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55" name="line 154: plot geometry" descr="sci-ppt:obj-0154"/>
          <p:cNvCxnSpPr/>
          <p:nvPr/>
        </p:nvCxnSpPr>
        <p:spPr>
          <a:xfrm>
            <a:off x="696865" y="4608306"/>
            <a:ext cx="5338687" cy="0"/>
          </a:xfrm>
          <a:prstGeom prst="line">
            <a:avLst/>
          </a:prstGeom>
          <a:ln w="12640">
            <a:solidFill>
              <a:srgbClr val="666666"/>
            </a:solidFill>
            <a:prstDash val="dash"/>
          </a:ln>
          <a:effectLst/>
        </p:spPr>
      </p:cxnSp>
      <p:cxnSp>
        <p:nvCxnSpPr>
          <p:cNvPr id="156" name="line 155: plot geometry" descr="sci-ppt:obj-0155"/>
          <p:cNvCxnSpPr/>
          <p:nvPr/>
        </p:nvCxnSpPr>
        <p:spPr>
          <a:xfrm flipV="1">
            <a:off x="696865" y="4470959"/>
            <a:ext cx="0" cy="302164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cxnSp>
        <p:nvCxnSpPr>
          <p:cNvPr id="157" name="line 156: plot geometry" descr="sci-ppt:obj-0156"/>
          <p:cNvCxnSpPr/>
          <p:nvPr/>
        </p:nvCxnSpPr>
        <p:spPr>
          <a:xfrm>
            <a:off x="696865" y="7492599"/>
            <a:ext cx="5338687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58" name="polygon 157: plot geometry" descr="sci-ppt:obj-0157"/>
          <p:cNvSpPr/>
          <p:nvPr/>
        </p:nvSpPr>
        <p:spPr>
          <a:xfrm>
            <a:off x="6739244" y="4470959"/>
            <a:ext cx="5338687" cy="3021640"/>
          </a:xfrm>
          <a:custGeom>
            <a:avLst/>
            <a:gdLst/>
            <a:ahLst/>
            <a:cxnLst/>
            <a:rect l="l" t="t" r="r" b="b"/>
            <a:pathLst>
              <a:path w="5338687" h="3021640">
                <a:moveTo>
                  <a:pt x="0" y="3021640"/>
                </a:moveTo>
                <a:lnTo>
                  <a:pt x="5338687" y="3021640"/>
                </a:lnTo>
                <a:lnTo>
                  <a:pt x="5338687" y="0"/>
                </a:lnTo>
                <a:lnTo>
                  <a:pt x="0" y="0"/>
                </a:lnTo>
                <a:lnTo>
                  <a:pt x="0" y="30216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59" name="line 158: plot geometry" descr="sci-ppt:obj-0158"/>
          <p:cNvCxnSpPr/>
          <p:nvPr/>
        </p:nvCxnSpPr>
        <p:spPr>
          <a:xfrm flipV="1">
            <a:off x="6981912" y="4470959"/>
            <a:ext cx="0" cy="302164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160" name="line 159: plot geometry" descr="sci-ppt:obj-0159"/>
          <p:cNvCxnSpPr/>
          <p:nvPr/>
        </p:nvCxnSpPr>
        <p:spPr>
          <a:xfrm>
            <a:off x="6981912" y="7492599"/>
            <a:ext cx="0" cy="55302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61" name="text 160: 0" descr="sci-ppt:obj-0160"/>
          <p:cNvSpPr txBox="1"/>
          <p:nvPr/>
        </p:nvSpPr>
        <p:spPr>
          <a:xfrm>
            <a:off x="6898724" y="7560505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cxnSp>
        <p:nvCxnSpPr>
          <p:cNvPr id="162" name="line 161: plot geometry" descr="sci-ppt:obj-0161"/>
          <p:cNvCxnSpPr/>
          <p:nvPr/>
        </p:nvCxnSpPr>
        <p:spPr>
          <a:xfrm flipV="1">
            <a:off x="8115607" y="4470959"/>
            <a:ext cx="0" cy="302164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163" name="line 162: plot geometry" descr="sci-ppt:obj-0162"/>
          <p:cNvCxnSpPr/>
          <p:nvPr/>
        </p:nvCxnSpPr>
        <p:spPr>
          <a:xfrm>
            <a:off x="8115607" y="7492599"/>
            <a:ext cx="0" cy="55302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64" name="text 163: 2" descr="sci-ppt:obj-0163"/>
          <p:cNvSpPr txBox="1"/>
          <p:nvPr/>
        </p:nvSpPr>
        <p:spPr>
          <a:xfrm>
            <a:off x="8032420" y="7560505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cxnSp>
        <p:nvCxnSpPr>
          <p:cNvPr id="165" name="line 164: plot geometry" descr="sci-ppt:obj-0164"/>
          <p:cNvCxnSpPr/>
          <p:nvPr/>
        </p:nvCxnSpPr>
        <p:spPr>
          <a:xfrm flipV="1">
            <a:off x="9249303" y="4470959"/>
            <a:ext cx="0" cy="302164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166" name="line 165: plot geometry" descr="sci-ppt:obj-0165"/>
          <p:cNvCxnSpPr/>
          <p:nvPr/>
        </p:nvCxnSpPr>
        <p:spPr>
          <a:xfrm>
            <a:off x="9249303" y="7492599"/>
            <a:ext cx="0" cy="55302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67" name="text 166: 4" descr="sci-ppt:obj-0166"/>
          <p:cNvSpPr txBox="1"/>
          <p:nvPr/>
        </p:nvSpPr>
        <p:spPr>
          <a:xfrm>
            <a:off x="9166115" y="7560505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cxnSp>
        <p:nvCxnSpPr>
          <p:cNvPr id="168" name="line 167: plot geometry" descr="sci-ppt:obj-0167"/>
          <p:cNvCxnSpPr/>
          <p:nvPr/>
        </p:nvCxnSpPr>
        <p:spPr>
          <a:xfrm flipV="1">
            <a:off x="10382998" y="4470959"/>
            <a:ext cx="0" cy="302164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169" name="line 168: plot geometry" descr="sci-ppt:obj-0168"/>
          <p:cNvCxnSpPr/>
          <p:nvPr/>
        </p:nvCxnSpPr>
        <p:spPr>
          <a:xfrm>
            <a:off x="10382998" y="7492599"/>
            <a:ext cx="0" cy="55302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70" name="text 169: 6" descr="sci-ppt:obj-0169"/>
          <p:cNvSpPr txBox="1"/>
          <p:nvPr/>
        </p:nvSpPr>
        <p:spPr>
          <a:xfrm>
            <a:off x="10299811" y="7560505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cxnSp>
        <p:nvCxnSpPr>
          <p:cNvPr id="171" name="line 170: plot geometry" descr="sci-ppt:obj-0170"/>
          <p:cNvCxnSpPr/>
          <p:nvPr/>
        </p:nvCxnSpPr>
        <p:spPr>
          <a:xfrm flipV="1">
            <a:off x="11516694" y="4470959"/>
            <a:ext cx="0" cy="302164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172" name="line 171: plot geometry" descr="sci-ppt:obj-0171"/>
          <p:cNvCxnSpPr/>
          <p:nvPr/>
        </p:nvCxnSpPr>
        <p:spPr>
          <a:xfrm>
            <a:off x="11516694" y="7492599"/>
            <a:ext cx="0" cy="55302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73" name="text 172: 8" descr="sci-ppt:obj-0172"/>
          <p:cNvSpPr txBox="1"/>
          <p:nvPr/>
        </p:nvSpPr>
        <p:spPr>
          <a:xfrm>
            <a:off x="11433506" y="7560505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174" name="text 173: Time after prescribed seed (µs)" descr="sci-ppt:obj-0173"/>
          <p:cNvSpPr txBox="1"/>
          <p:nvPr/>
        </p:nvSpPr>
        <p:spPr>
          <a:xfrm>
            <a:off x="7927051" y="7781725"/>
            <a:ext cx="2963072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Time after prescribed seed (µs)</a:t>
            </a:r>
          </a:p>
        </p:txBody>
      </p:sp>
      <p:cxnSp>
        <p:nvCxnSpPr>
          <p:cNvPr id="175" name="line 174: plot geometry" descr="sci-ppt:obj-0174"/>
          <p:cNvCxnSpPr/>
          <p:nvPr/>
        </p:nvCxnSpPr>
        <p:spPr>
          <a:xfrm>
            <a:off x="6739244" y="7355252"/>
            <a:ext cx="5338687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176" name="line 175: plot geometry" descr="sci-ppt:obj-0175"/>
          <p:cNvCxnSpPr/>
          <p:nvPr/>
        </p:nvCxnSpPr>
        <p:spPr>
          <a:xfrm flipH="1">
            <a:off x="6683942" y="7355252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77" name="text 176: 1.2" descr="sci-ppt:obj-0176"/>
          <p:cNvSpPr txBox="1"/>
          <p:nvPr/>
        </p:nvSpPr>
        <p:spPr>
          <a:xfrm>
            <a:off x="6312394" y="7252530"/>
            <a:ext cx="352821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1.2</a:t>
            </a:r>
          </a:p>
        </p:txBody>
      </p:sp>
      <p:cxnSp>
        <p:nvCxnSpPr>
          <p:cNvPr id="178" name="line 177: plot geometry" descr="sci-ppt:obj-0177"/>
          <p:cNvCxnSpPr/>
          <p:nvPr/>
        </p:nvCxnSpPr>
        <p:spPr>
          <a:xfrm>
            <a:off x="6739244" y="6744820"/>
            <a:ext cx="5338687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179" name="line 178: plot geometry" descr="sci-ppt:obj-0178"/>
          <p:cNvCxnSpPr/>
          <p:nvPr/>
        </p:nvCxnSpPr>
        <p:spPr>
          <a:xfrm flipH="1">
            <a:off x="6683942" y="6744820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80" name="text 179: 1.4" descr="sci-ppt:obj-0179"/>
          <p:cNvSpPr txBox="1"/>
          <p:nvPr/>
        </p:nvSpPr>
        <p:spPr>
          <a:xfrm>
            <a:off x="6312394" y="6642098"/>
            <a:ext cx="352821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1.4</a:t>
            </a:r>
          </a:p>
        </p:txBody>
      </p:sp>
      <p:cxnSp>
        <p:nvCxnSpPr>
          <p:cNvPr id="181" name="line 180: plot geometry" descr="sci-ppt:obj-0180"/>
          <p:cNvCxnSpPr/>
          <p:nvPr/>
        </p:nvCxnSpPr>
        <p:spPr>
          <a:xfrm>
            <a:off x="6739244" y="6134387"/>
            <a:ext cx="5338687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182" name="line 181: plot geometry" descr="sci-ppt:obj-0181"/>
          <p:cNvCxnSpPr/>
          <p:nvPr/>
        </p:nvCxnSpPr>
        <p:spPr>
          <a:xfrm flipH="1">
            <a:off x="6683942" y="6134387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83" name="text 182: 1.6" descr="sci-ppt:obj-0182"/>
          <p:cNvSpPr txBox="1"/>
          <p:nvPr/>
        </p:nvSpPr>
        <p:spPr>
          <a:xfrm>
            <a:off x="6312394" y="6031665"/>
            <a:ext cx="352821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1.6</a:t>
            </a:r>
          </a:p>
        </p:txBody>
      </p:sp>
      <p:cxnSp>
        <p:nvCxnSpPr>
          <p:cNvPr id="184" name="line 183: plot geometry" descr="sci-ppt:obj-0183"/>
          <p:cNvCxnSpPr/>
          <p:nvPr/>
        </p:nvCxnSpPr>
        <p:spPr>
          <a:xfrm>
            <a:off x="6739244" y="5523955"/>
            <a:ext cx="5338687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185" name="line 184: plot geometry" descr="sci-ppt:obj-0184"/>
          <p:cNvCxnSpPr/>
          <p:nvPr/>
        </p:nvCxnSpPr>
        <p:spPr>
          <a:xfrm flipH="1">
            <a:off x="6683942" y="5523955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86" name="text 185: 1.8" descr="sci-ppt:obj-0185"/>
          <p:cNvSpPr txBox="1"/>
          <p:nvPr/>
        </p:nvSpPr>
        <p:spPr>
          <a:xfrm>
            <a:off x="6312394" y="5421233"/>
            <a:ext cx="352821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1.8</a:t>
            </a:r>
          </a:p>
        </p:txBody>
      </p:sp>
      <p:cxnSp>
        <p:nvCxnSpPr>
          <p:cNvPr id="187" name="line 186: plot geometry" descr="sci-ppt:obj-0186"/>
          <p:cNvCxnSpPr/>
          <p:nvPr/>
        </p:nvCxnSpPr>
        <p:spPr>
          <a:xfrm>
            <a:off x="6739244" y="4913523"/>
            <a:ext cx="5338687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188" name="line 187: plot geometry" descr="sci-ppt:obj-0187"/>
          <p:cNvCxnSpPr/>
          <p:nvPr/>
        </p:nvCxnSpPr>
        <p:spPr>
          <a:xfrm flipH="1">
            <a:off x="6683942" y="4913523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89" name="text 188: 2.0" descr="sci-ppt:obj-0188"/>
          <p:cNvSpPr txBox="1"/>
          <p:nvPr/>
        </p:nvSpPr>
        <p:spPr>
          <a:xfrm>
            <a:off x="6312394" y="4810800"/>
            <a:ext cx="352821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2.0</a:t>
            </a:r>
          </a:p>
        </p:txBody>
      </p:sp>
      <p:sp>
        <p:nvSpPr>
          <p:cNvPr id="190" name="text 189: Outer-radius stretch" descr="sci-ppt:obj-0189"/>
          <p:cNvSpPr txBox="1"/>
          <p:nvPr/>
        </p:nvSpPr>
        <p:spPr>
          <a:xfrm rot="16200000">
            <a:off x="5307393" y="5819034"/>
            <a:ext cx="1937616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Outer-radius stretch</a:t>
            </a:r>
          </a:p>
        </p:txBody>
      </p:sp>
      <p:sp>
        <p:nvSpPr>
          <p:cNvPr id="191" name="polygon 190: plot geometry" descr="sci-ppt:obj-0190"/>
          <p:cNvSpPr/>
          <p:nvPr/>
        </p:nvSpPr>
        <p:spPr>
          <a:xfrm>
            <a:off x="6981912" y="4608306"/>
            <a:ext cx="480112" cy="2746946"/>
          </a:xfrm>
          <a:custGeom>
            <a:avLst/>
            <a:gdLst/>
            <a:ahLst/>
            <a:cxnLst/>
            <a:rect l="l" t="t" r="r" b="b"/>
            <a:pathLst>
              <a:path w="480112" h="2746946">
                <a:moveTo>
                  <a:pt x="0" y="2746946"/>
                </a:moveTo>
                <a:lnTo>
                  <a:pt x="8855" y="2745222"/>
                </a:lnTo>
                <a:lnTo>
                  <a:pt x="18004" y="2739830"/>
                </a:lnTo>
                <a:lnTo>
                  <a:pt x="28216" y="2729507"/>
                </a:lnTo>
                <a:lnTo>
                  <a:pt x="39946" y="2712124"/>
                </a:lnTo>
                <a:lnTo>
                  <a:pt x="52812" y="2686422"/>
                </a:lnTo>
                <a:lnTo>
                  <a:pt x="67815" y="2647982"/>
                </a:lnTo>
                <a:lnTo>
                  <a:pt x="84843" y="2593863"/>
                </a:lnTo>
                <a:lnTo>
                  <a:pt x="103824" y="2521299"/>
                </a:lnTo>
                <a:lnTo>
                  <a:pt x="126029" y="2421587"/>
                </a:lnTo>
                <a:lnTo>
                  <a:pt x="151446" y="2290316"/>
                </a:lnTo>
                <a:lnTo>
                  <a:pt x="181242" y="2117053"/>
                </a:lnTo>
                <a:lnTo>
                  <a:pt x="217251" y="1886033"/>
                </a:lnTo>
                <a:lnTo>
                  <a:pt x="264062" y="1561468"/>
                </a:lnTo>
                <a:lnTo>
                  <a:pt x="340880" y="1000264"/>
                </a:lnTo>
                <a:lnTo>
                  <a:pt x="447105" y="228956"/>
                </a:lnTo>
                <a:lnTo>
                  <a:pt x="480112" y="0"/>
                </a:lnTo>
                <a:lnTo>
                  <a:pt x="480112" y="0"/>
                </a:lnTo>
              </a:path>
            </a:pathLst>
          </a:custGeom>
          <a:noFill/>
          <a:ln w="23700">
            <a:solidFill>
              <a:srgbClr val="B95E2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polygon 191: plot geometry" descr="sci-ppt:obj-0191"/>
          <p:cNvSpPr/>
          <p:nvPr/>
        </p:nvSpPr>
        <p:spPr>
          <a:xfrm>
            <a:off x="6981912" y="4608306"/>
            <a:ext cx="681449" cy="2746946"/>
          </a:xfrm>
          <a:custGeom>
            <a:avLst/>
            <a:gdLst/>
            <a:ahLst/>
            <a:cxnLst/>
            <a:rect l="l" t="t" r="r" b="b"/>
            <a:pathLst>
              <a:path w="681449" h="2746946">
                <a:moveTo>
                  <a:pt x="0" y="2746946"/>
                </a:moveTo>
                <a:lnTo>
                  <a:pt x="8880" y="2745240"/>
                </a:lnTo>
                <a:lnTo>
                  <a:pt x="18576" y="2739619"/>
                </a:lnTo>
                <a:lnTo>
                  <a:pt x="29256" y="2729153"/>
                </a:lnTo>
                <a:lnTo>
                  <a:pt x="41738" y="2711643"/>
                </a:lnTo>
                <a:lnTo>
                  <a:pt x="56219" y="2684818"/>
                </a:lnTo>
                <a:lnTo>
                  <a:pt x="73255" y="2645264"/>
                </a:lnTo>
                <a:lnTo>
                  <a:pt x="92847" y="2590490"/>
                </a:lnTo>
                <a:lnTo>
                  <a:pt x="116698" y="2512567"/>
                </a:lnTo>
                <a:lnTo>
                  <a:pt x="144808" y="2408018"/>
                </a:lnTo>
                <a:lnTo>
                  <a:pt x="179732" y="2263703"/>
                </a:lnTo>
                <a:lnTo>
                  <a:pt x="224878" y="2060961"/>
                </a:lnTo>
                <a:lnTo>
                  <a:pt x="290467" y="1748330"/>
                </a:lnTo>
                <a:lnTo>
                  <a:pt x="476162" y="855219"/>
                </a:lnTo>
                <a:lnTo>
                  <a:pt x="542604" y="557133"/>
                </a:lnTo>
                <a:lnTo>
                  <a:pt x="600527" y="312835"/>
                </a:lnTo>
                <a:lnTo>
                  <a:pt x="654191" y="101429"/>
                </a:lnTo>
                <a:lnTo>
                  <a:pt x="681449" y="0"/>
                </a:lnTo>
                <a:lnTo>
                  <a:pt x="681449" y="0"/>
                </a:lnTo>
              </a:path>
            </a:pathLst>
          </a:custGeom>
          <a:noFill/>
          <a:ln w="23700">
            <a:solidFill>
              <a:srgbClr val="176C8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polygon 192: plot geometry" descr="sci-ppt:obj-0192"/>
          <p:cNvSpPr/>
          <p:nvPr/>
        </p:nvSpPr>
        <p:spPr>
          <a:xfrm>
            <a:off x="6981912" y="4608306"/>
            <a:ext cx="4853351" cy="2746946"/>
          </a:xfrm>
          <a:custGeom>
            <a:avLst/>
            <a:gdLst/>
            <a:ahLst/>
            <a:cxnLst/>
            <a:rect l="l" t="t" r="r" b="b"/>
            <a:pathLst>
              <a:path w="4853351" h="2746946">
                <a:moveTo>
                  <a:pt x="0" y="2746946"/>
                </a:moveTo>
                <a:lnTo>
                  <a:pt x="9707" y="2745196"/>
                </a:lnTo>
                <a:lnTo>
                  <a:pt x="22802" y="2739087"/>
                </a:lnTo>
                <a:lnTo>
                  <a:pt x="43810" y="2725087"/>
                </a:lnTo>
                <a:lnTo>
                  <a:pt x="93069" y="2686742"/>
                </a:lnTo>
                <a:lnTo>
                  <a:pt x="448935" y="2399840"/>
                </a:lnTo>
                <a:lnTo>
                  <a:pt x="837203" y="2089171"/>
                </a:lnTo>
                <a:lnTo>
                  <a:pt x="1098070" y="1884912"/>
                </a:lnTo>
                <a:lnTo>
                  <a:pt x="1316471" y="1718196"/>
                </a:lnTo>
                <a:lnTo>
                  <a:pt x="1516672" y="1569696"/>
                </a:lnTo>
                <a:lnTo>
                  <a:pt x="1704739" y="1434587"/>
                </a:lnTo>
                <a:lnTo>
                  <a:pt x="1880673" y="1312497"/>
                </a:lnTo>
                <a:lnTo>
                  <a:pt x="2050541" y="1198899"/>
                </a:lnTo>
                <a:lnTo>
                  <a:pt x="2214341" y="1093591"/>
                </a:lnTo>
                <a:lnTo>
                  <a:pt x="2372075" y="996287"/>
                </a:lnTo>
                <a:lnTo>
                  <a:pt x="2529809" y="903137"/>
                </a:lnTo>
                <a:lnTo>
                  <a:pt x="2681476" y="817568"/>
                </a:lnTo>
                <a:lnTo>
                  <a:pt x="2833144" y="735962"/>
                </a:lnTo>
                <a:lnTo>
                  <a:pt x="2984811" y="658331"/>
                </a:lnTo>
                <a:lnTo>
                  <a:pt x="3136478" y="584660"/>
                </a:lnTo>
                <a:lnTo>
                  <a:pt x="3288145" y="514907"/>
                </a:lnTo>
                <a:lnTo>
                  <a:pt x="3439812" y="449008"/>
                </a:lnTo>
                <a:lnTo>
                  <a:pt x="3591480" y="386878"/>
                </a:lnTo>
                <a:lnTo>
                  <a:pt x="3749214" y="326154"/>
                </a:lnTo>
                <a:lnTo>
                  <a:pt x="3906948" y="269267"/>
                </a:lnTo>
                <a:lnTo>
                  <a:pt x="4064682" y="216075"/>
                </a:lnTo>
                <a:lnTo>
                  <a:pt x="4228482" y="164585"/>
                </a:lnTo>
                <a:lnTo>
                  <a:pt x="4392283" y="116736"/>
                </a:lnTo>
                <a:lnTo>
                  <a:pt x="4562150" y="70763"/>
                </a:lnTo>
                <a:lnTo>
                  <a:pt x="4738084" y="26844"/>
                </a:lnTo>
                <a:lnTo>
                  <a:pt x="4853351" y="0"/>
                </a:lnTo>
                <a:lnTo>
                  <a:pt x="4853351" y="0"/>
                </a:lnTo>
              </a:path>
            </a:pathLst>
          </a:custGeom>
          <a:noFill/>
          <a:ln w="23700">
            <a:solidFill>
              <a:srgbClr val="47744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94" name="line 193: plot geometry" descr="sci-ppt:obj-0193"/>
          <p:cNvCxnSpPr/>
          <p:nvPr/>
        </p:nvCxnSpPr>
        <p:spPr>
          <a:xfrm>
            <a:off x="6739244" y="4608306"/>
            <a:ext cx="5338687" cy="0"/>
          </a:xfrm>
          <a:prstGeom prst="line">
            <a:avLst/>
          </a:prstGeom>
          <a:ln w="12640">
            <a:solidFill>
              <a:srgbClr val="666666"/>
            </a:solidFill>
            <a:prstDash val="dash"/>
          </a:ln>
          <a:effectLst/>
        </p:spPr>
      </p:cxnSp>
      <p:cxnSp>
        <p:nvCxnSpPr>
          <p:cNvPr id="195" name="line 194: plot geometry" descr="sci-ppt:obj-0194"/>
          <p:cNvCxnSpPr/>
          <p:nvPr/>
        </p:nvCxnSpPr>
        <p:spPr>
          <a:xfrm flipV="1">
            <a:off x="6739244" y="4470959"/>
            <a:ext cx="0" cy="302164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cxnSp>
        <p:nvCxnSpPr>
          <p:cNvPr id="196" name="line 195: plot geometry" descr="sci-ppt:obj-0195"/>
          <p:cNvCxnSpPr/>
          <p:nvPr/>
        </p:nvCxnSpPr>
        <p:spPr>
          <a:xfrm>
            <a:off x="6739244" y="7492599"/>
            <a:ext cx="5338687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97" name="text 196: Conditional insulated expansion; no outlet and no jet" descr="sci-ppt:obj-0196"/>
          <p:cNvSpPr txBox="1"/>
          <p:nvPr/>
        </p:nvSpPr>
        <p:spPr>
          <a:xfrm>
            <a:off x="3763801" y="84206"/>
            <a:ext cx="5508066" cy="2346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68" b="0" i="0">
                <a:solidFill>
                  <a:srgbClr val="000000"/>
                </a:solidFill>
                <a:latin typeface="Arial"/>
              </a:rPr>
              <a:t>Conditional insulated expansion; no outlet and no jet</a:t>
            </a:r>
          </a:p>
        </p:txBody>
      </p:sp>
      <p:sp>
        <p:nvSpPr>
          <p:cNvPr id="198" name="text 197: Equal retained seed energy within each size; 2.1 is a declared stoppin" descr="sci-ppt:obj-0197"/>
          <p:cNvSpPr txBox="1"/>
          <p:nvPr/>
        </p:nvSpPr>
        <p:spPr>
          <a:xfrm>
            <a:off x="2647546" y="292821"/>
            <a:ext cx="8071705" cy="2346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68" b="0" i="0">
                <a:solidFill>
                  <a:srgbClr val="000000"/>
                </a:solidFill>
                <a:latin typeface="Arial"/>
              </a:rPr>
              <a:t>Equal retained seed energy within each size; 2.1 is a declared stopping screen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