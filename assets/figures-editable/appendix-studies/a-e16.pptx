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-E1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A-E16 · Response-time definition</a:t>
            </a:r>
          </a:p>
        </p:txBody>
      </p:sp>
      <p:sp>
        <p:nvSpPr>
          <p:cNvPr id="3" name="A-E16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Deborah number: relaxation time against event duration</a:t>
            </a:r>
          </a:p>
        </p:txBody>
      </p:sp>
      <p:sp>
        <p:nvSpPr>
          <p:cNvPr id="4" name="A-E16 text 2" descr="sci-ppt:o002"/>
          <p:cNvSpPr txBox="1"/>
          <p:nvPr/>
        </p:nvSpPr>
        <p:spPr>
          <a:xfrm>
            <a:off x="457200" y="1371600"/>
            <a:ext cx="11247120" cy="38658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E7F0F3"/>
                </a:solidFill>
                <a:latin typeface="Arial"/>
              </a:rPr>
              <a:t>De = τᵣₑₗ / τₑ</a:t>
            </a:r>
          </a:p>
        </p:txBody>
      </p:sp>
      <p:cxnSp>
        <p:nvCxnSpPr>
          <p:cNvPr id="5" name="A-E16 line 3" descr="sci-ppt:o003"/>
          <p:cNvCxnSpPr/>
          <p:nvPr/>
        </p:nvCxnSpPr>
        <p:spPr>
          <a:xfrm>
            <a:off x="914400" y="4480560"/>
            <a:ext cx="67665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6" name="A-E16 line 4" descr="sci-ppt:o004"/>
          <p:cNvCxnSpPr/>
          <p:nvPr/>
        </p:nvCxnSpPr>
        <p:spPr>
          <a:xfrm>
            <a:off x="914400" y="2103120"/>
            <a:ext cx="0" cy="23774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7" name="A-E16 line 5" descr="sci-ppt:o005"/>
          <p:cNvCxnSpPr/>
          <p:nvPr/>
        </p:nvCxnSpPr>
        <p:spPr>
          <a:xfrm>
            <a:off x="914400" y="44805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8" name="A-E16 line 6" descr="sci-ppt:o006"/>
          <p:cNvCxnSpPr/>
          <p:nvPr/>
        </p:nvCxnSpPr>
        <p:spPr>
          <a:xfrm>
            <a:off x="914400" y="21031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9" name="A-E16 text 7" descr="sci-ppt:o007"/>
          <p:cNvSpPr txBox="1"/>
          <p:nvPr/>
        </p:nvSpPr>
        <p:spPr>
          <a:xfrm>
            <a:off x="457200" y="45628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0.001</a:t>
            </a:r>
          </a:p>
        </p:txBody>
      </p:sp>
      <p:cxnSp>
        <p:nvCxnSpPr>
          <p:cNvPr id="10" name="A-E16 line 8" descr="sci-ppt:o008"/>
          <p:cNvCxnSpPr/>
          <p:nvPr/>
        </p:nvCxnSpPr>
        <p:spPr>
          <a:xfrm>
            <a:off x="2042160" y="44805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1" name="A-E16 line 9" descr="sci-ppt:o009"/>
          <p:cNvCxnSpPr/>
          <p:nvPr/>
        </p:nvCxnSpPr>
        <p:spPr>
          <a:xfrm>
            <a:off x="2042160" y="21031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2" name="A-E16 text 10" descr="sci-ppt:o010"/>
          <p:cNvSpPr txBox="1"/>
          <p:nvPr/>
        </p:nvSpPr>
        <p:spPr>
          <a:xfrm>
            <a:off x="1584960" y="45628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0.01</a:t>
            </a:r>
          </a:p>
        </p:txBody>
      </p:sp>
      <p:cxnSp>
        <p:nvCxnSpPr>
          <p:cNvPr id="13" name="A-E16 line 11" descr="sci-ppt:o011"/>
          <p:cNvCxnSpPr/>
          <p:nvPr/>
        </p:nvCxnSpPr>
        <p:spPr>
          <a:xfrm>
            <a:off x="3169920" y="44805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4" name="A-E16 line 12" descr="sci-ppt:o012"/>
          <p:cNvCxnSpPr/>
          <p:nvPr/>
        </p:nvCxnSpPr>
        <p:spPr>
          <a:xfrm>
            <a:off x="3169920" y="21031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5" name="A-E16 text 13" descr="sci-ppt:o013"/>
          <p:cNvSpPr txBox="1"/>
          <p:nvPr/>
        </p:nvSpPr>
        <p:spPr>
          <a:xfrm>
            <a:off x="2712720" y="45628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16" name="A-E16 line 14" descr="sci-ppt:o014"/>
          <p:cNvCxnSpPr/>
          <p:nvPr/>
        </p:nvCxnSpPr>
        <p:spPr>
          <a:xfrm>
            <a:off x="4297680" y="44805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7" name="A-E16 line 15" descr="sci-ppt:o015"/>
          <p:cNvCxnSpPr/>
          <p:nvPr/>
        </p:nvCxnSpPr>
        <p:spPr>
          <a:xfrm>
            <a:off x="4297680" y="21031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8" name="A-E16 text 16" descr="sci-ppt:o016"/>
          <p:cNvSpPr txBox="1"/>
          <p:nvPr/>
        </p:nvSpPr>
        <p:spPr>
          <a:xfrm>
            <a:off x="3840480" y="45628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9" name="A-E16 line 17" descr="sci-ppt:o017"/>
          <p:cNvCxnSpPr/>
          <p:nvPr/>
        </p:nvCxnSpPr>
        <p:spPr>
          <a:xfrm>
            <a:off x="5425440" y="44805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0" name="A-E16 line 18" descr="sci-ppt:o018"/>
          <p:cNvCxnSpPr/>
          <p:nvPr/>
        </p:nvCxnSpPr>
        <p:spPr>
          <a:xfrm>
            <a:off x="5425440" y="21031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1" name="A-E16 text 19" descr="sci-ppt:o019"/>
          <p:cNvSpPr txBox="1"/>
          <p:nvPr/>
        </p:nvSpPr>
        <p:spPr>
          <a:xfrm>
            <a:off x="4968240" y="45628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22" name="A-E16 line 20" descr="sci-ppt:o020"/>
          <p:cNvCxnSpPr/>
          <p:nvPr/>
        </p:nvCxnSpPr>
        <p:spPr>
          <a:xfrm>
            <a:off x="6553200" y="44805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A-E16 line 21" descr="sci-ppt:o021"/>
          <p:cNvCxnSpPr/>
          <p:nvPr/>
        </p:nvCxnSpPr>
        <p:spPr>
          <a:xfrm>
            <a:off x="6553200" y="21031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4" name="A-E16 text 22" descr="sci-ppt:o022"/>
          <p:cNvSpPr txBox="1"/>
          <p:nvPr/>
        </p:nvSpPr>
        <p:spPr>
          <a:xfrm>
            <a:off x="6096000" y="45628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25" name="A-E16 line 23" descr="sci-ppt:o023"/>
          <p:cNvCxnSpPr/>
          <p:nvPr/>
        </p:nvCxnSpPr>
        <p:spPr>
          <a:xfrm>
            <a:off x="7680960" y="44805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A-E16 line 24" descr="sci-ppt:o024"/>
          <p:cNvCxnSpPr/>
          <p:nvPr/>
        </p:nvCxnSpPr>
        <p:spPr>
          <a:xfrm>
            <a:off x="7680960" y="2103120"/>
            <a:ext cx="0" cy="23774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7" name="A-E16 text 25" descr="sci-ppt:o025"/>
          <p:cNvSpPr txBox="1"/>
          <p:nvPr/>
        </p:nvSpPr>
        <p:spPr>
          <a:xfrm>
            <a:off x="7223760" y="45628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1000</a:t>
            </a:r>
          </a:p>
        </p:txBody>
      </p:sp>
      <p:cxnSp>
        <p:nvCxnSpPr>
          <p:cNvPr id="28" name="A-E16 line 26" descr="sci-ppt:o026"/>
          <p:cNvCxnSpPr/>
          <p:nvPr/>
        </p:nvCxnSpPr>
        <p:spPr>
          <a:xfrm>
            <a:off x="850392" y="44805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9" name="A-E16 line 27" descr="sci-ppt:o027"/>
          <p:cNvCxnSpPr/>
          <p:nvPr/>
        </p:nvCxnSpPr>
        <p:spPr>
          <a:xfrm>
            <a:off x="850392" y="334844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A-E16 line 28" descr="sci-ppt:o028"/>
          <p:cNvCxnSpPr/>
          <p:nvPr/>
        </p:nvCxnSpPr>
        <p:spPr>
          <a:xfrm>
            <a:off x="914400" y="3348445"/>
            <a:ext cx="67665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A-E16 text 29" descr="sci-ppt:o029"/>
          <p:cNvSpPr txBox="1"/>
          <p:nvPr/>
        </p:nvSpPr>
        <p:spPr>
          <a:xfrm>
            <a:off x="45720" y="326614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32" name="A-E16 line 30" descr="sci-ppt:o030"/>
          <p:cNvCxnSpPr/>
          <p:nvPr/>
        </p:nvCxnSpPr>
        <p:spPr>
          <a:xfrm>
            <a:off x="850392" y="221633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A-E16 line 31" descr="sci-ppt:o031"/>
          <p:cNvCxnSpPr/>
          <p:nvPr/>
        </p:nvCxnSpPr>
        <p:spPr>
          <a:xfrm>
            <a:off x="914400" y="2216331"/>
            <a:ext cx="67665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A-E16 text 32" descr="sci-ppt:o032"/>
          <p:cNvSpPr txBox="1"/>
          <p:nvPr/>
        </p:nvSpPr>
        <p:spPr>
          <a:xfrm>
            <a:off x="45720" y="213403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35" name="A-E16 text 33" descr="sci-ppt:o033"/>
          <p:cNvSpPr txBox="1"/>
          <p:nvPr/>
        </p:nvSpPr>
        <p:spPr>
          <a:xfrm>
            <a:off x="914400" y="4764024"/>
            <a:ext cx="6766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De  (log scale)</a:t>
            </a:r>
          </a:p>
        </p:txBody>
      </p:sp>
      <p:sp>
        <p:nvSpPr>
          <p:cNvPr id="36" name="A-E16 text 34" descr="sci-ppt:o034"/>
          <p:cNvSpPr txBox="1"/>
          <p:nvPr/>
        </p:nvSpPr>
        <p:spPr>
          <a:xfrm>
            <a:off x="365760" y="1755648"/>
            <a:ext cx="6766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elastic share (conventional)</a:t>
            </a:r>
          </a:p>
        </p:txBody>
      </p:sp>
      <p:sp>
        <p:nvSpPr>
          <p:cNvPr id="37" name="A-E16 polygon 35" descr="sci-ppt:o035"/>
          <p:cNvSpPr/>
          <p:nvPr/>
        </p:nvSpPr>
        <p:spPr>
          <a:xfrm>
            <a:off x="914400" y="2216331"/>
            <a:ext cx="2187170" cy="2264229"/>
          </a:xfrm>
          <a:custGeom>
            <a:avLst/>
            <a:gdLst/>
            <a:ahLst/>
            <a:cxnLst/>
            <a:rect l="l" t="t" r="r" b="b"/>
            <a:pathLst>
              <a:path w="2187170" h="2264229">
                <a:moveTo>
                  <a:pt x="0" y="0"/>
                </a:moveTo>
                <a:lnTo>
                  <a:pt x="68349" y="0"/>
                </a:lnTo>
                <a:lnTo>
                  <a:pt x="136698" y="0"/>
                </a:lnTo>
                <a:lnTo>
                  <a:pt x="205047" y="0"/>
                </a:lnTo>
                <a:lnTo>
                  <a:pt x="273396" y="0"/>
                </a:lnTo>
                <a:lnTo>
                  <a:pt x="341745" y="0"/>
                </a:lnTo>
                <a:lnTo>
                  <a:pt x="410094" y="0"/>
                </a:lnTo>
                <a:lnTo>
                  <a:pt x="478443" y="0"/>
                </a:lnTo>
                <a:lnTo>
                  <a:pt x="546792" y="0"/>
                </a:lnTo>
                <a:lnTo>
                  <a:pt x="615141" y="0"/>
                </a:lnTo>
                <a:lnTo>
                  <a:pt x="683490" y="0"/>
                </a:lnTo>
                <a:lnTo>
                  <a:pt x="751840" y="0"/>
                </a:lnTo>
                <a:lnTo>
                  <a:pt x="820189" y="0"/>
                </a:lnTo>
                <a:lnTo>
                  <a:pt x="888538" y="0"/>
                </a:lnTo>
                <a:lnTo>
                  <a:pt x="956887" y="0"/>
                </a:lnTo>
                <a:lnTo>
                  <a:pt x="1025236" y="0"/>
                </a:lnTo>
                <a:lnTo>
                  <a:pt x="1093585" y="0"/>
                </a:lnTo>
                <a:lnTo>
                  <a:pt x="1161934" y="0"/>
                </a:lnTo>
                <a:lnTo>
                  <a:pt x="1230283" y="0"/>
                </a:lnTo>
                <a:lnTo>
                  <a:pt x="1298632" y="0"/>
                </a:lnTo>
                <a:lnTo>
                  <a:pt x="1366981" y="0"/>
                </a:lnTo>
                <a:lnTo>
                  <a:pt x="1435330" y="0"/>
                </a:lnTo>
                <a:lnTo>
                  <a:pt x="1503680" y="0"/>
                </a:lnTo>
                <a:lnTo>
                  <a:pt x="1572029" y="0"/>
                </a:lnTo>
                <a:lnTo>
                  <a:pt x="1640378" y="0"/>
                </a:lnTo>
                <a:lnTo>
                  <a:pt x="1708727" y="0"/>
                </a:lnTo>
                <a:lnTo>
                  <a:pt x="1777076" y="0"/>
                </a:lnTo>
                <a:lnTo>
                  <a:pt x="1845425" y="0"/>
                </a:lnTo>
                <a:lnTo>
                  <a:pt x="1913774" y="0"/>
                </a:lnTo>
                <a:lnTo>
                  <a:pt x="1982123" y="0"/>
                </a:lnTo>
                <a:lnTo>
                  <a:pt x="2050472" y="0"/>
                </a:lnTo>
                <a:lnTo>
                  <a:pt x="2118821" y="0"/>
                </a:lnTo>
                <a:lnTo>
                  <a:pt x="2187170" y="0"/>
                </a:lnTo>
                <a:lnTo>
                  <a:pt x="2187170" y="2264229"/>
                </a:lnTo>
                <a:lnTo>
                  <a:pt x="2118821" y="2264229"/>
                </a:lnTo>
                <a:lnTo>
                  <a:pt x="2050472" y="2264229"/>
                </a:lnTo>
                <a:lnTo>
                  <a:pt x="1982123" y="2264229"/>
                </a:lnTo>
                <a:lnTo>
                  <a:pt x="1913774" y="2264229"/>
                </a:lnTo>
                <a:lnTo>
                  <a:pt x="1845425" y="2264229"/>
                </a:lnTo>
                <a:lnTo>
                  <a:pt x="1777076" y="2264229"/>
                </a:lnTo>
                <a:lnTo>
                  <a:pt x="1708727" y="2264229"/>
                </a:lnTo>
                <a:lnTo>
                  <a:pt x="1640378" y="2264229"/>
                </a:lnTo>
                <a:lnTo>
                  <a:pt x="1572029" y="2264229"/>
                </a:lnTo>
                <a:lnTo>
                  <a:pt x="1503680" y="2264229"/>
                </a:lnTo>
                <a:lnTo>
                  <a:pt x="1435330" y="2264229"/>
                </a:lnTo>
                <a:lnTo>
                  <a:pt x="1366981" y="2264229"/>
                </a:lnTo>
                <a:lnTo>
                  <a:pt x="1298632" y="2264229"/>
                </a:lnTo>
                <a:lnTo>
                  <a:pt x="1230283" y="2264229"/>
                </a:lnTo>
                <a:lnTo>
                  <a:pt x="1161934" y="2264229"/>
                </a:lnTo>
                <a:lnTo>
                  <a:pt x="1093585" y="2264229"/>
                </a:lnTo>
                <a:lnTo>
                  <a:pt x="1025236" y="2264229"/>
                </a:lnTo>
                <a:lnTo>
                  <a:pt x="956887" y="2264229"/>
                </a:lnTo>
                <a:lnTo>
                  <a:pt x="888538" y="2264229"/>
                </a:lnTo>
                <a:lnTo>
                  <a:pt x="820189" y="2264229"/>
                </a:lnTo>
                <a:lnTo>
                  <a:pt x="751840" y="2264229"/>
                </a:lnTo>
                <a:lnTo>
                  <a:pt x="683490" y="2264229"/>
                </a:lnTo>
                <a:lnTo>
                  <a:pt x="615141" y="2264229"/>
                </a:lnTo>
                <a:lnTo>
                  <a:pt x="546792" y="2264229"/>
                </a:lnTo>
                <a:lnTo>
                  <a:pt x="478443" y="2264229"/>
                </a:lnTo>
                <a:lnTo>
                  <a:pt x="410094" y="2264229"/>
                </a:lnTo>
                <a:lnTo>
                  <a:pt x="341745" y="2264229"/>
                </a:lnTo>
                <a:lnTo>
                  <a:pt x="273396" y="2264229"/>
                </a:lnTo>
                <a:lnTo>
                  <a:pt x="205047" y="2264229"/>
                </a:lnTo>
                <a:lnTo>
                  <a:pt x="136698" y="2264229"/>
                </a:lnTo>
                <a:lnTo>
                  <a:pt x="68349" y="2264229"/>
                </a:lnTo>
                <a:lnTo>
                  <a:pt x="0" y="2264229"/>
                </a:lnTo>
                <a:close/>
              </a:path>
            </a:pathLst>
          </a:custGeom>
          <a:solidFill>
            <a:srgbClr val="7FC8F8">
              <a:alpha val="15000"/>
            </a:srgbClr>
          </a:solidFill>
          <a:ln w="10160">
            <a:solidFill>
              <a:srgbClr val="7FC8F8">
                <a:alpha val="1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A-E16 polygon 36" descr="sci-ppt:o036"/>
          <p:cNvSpPr/>
          <p:nvPr/>
        </p:nvSpPr>
        <p:spPr>
          <a:xfrm>
            <a:off x="5493789" y="2216331"/>
            <a:ext cx="2187171" cy="2264229"/>
          </a:xfrm>
          <a:custGeom>
            <a:avLst/>
            <a:gdLst/>
            <a:ahLst/>
            <a:cxnLst/>
            <a:rect l="l" t="t" r="r" b="b"/>
            <a:pathLst>
              <a:path w="2187171" h="2264229">
                <a:moveTo>
                  <a:pt x="0" y="0"/>
                </a:moveTo>
                <a:lnTo>
                  <a:pt x="68349" y="0"/>
                </a:lnTo>
                <a:lnTo>
                  <a:pt x="136698" y="0"/>
                </a:lnTo>
                <a:lnTo>
                  <a:pt x="205047" y="0"/>
                </a:lnTo>
                <a:lnTo>
                  <a:pt x="273396" y="0"/>
                </a:lnTo>
                <a:lnTo>
                  <a:pt x="341745" y="0"/>
                </a:lnTo>
                <a:lnTo>
                  <a:pt x="410094" y="0"/>
                </a:lnTo>
                <a:lnTo>
                  <a:pt x="478443" y="0"/>
                </a:lnTo>
                <a:lnTo>
                  <a:pt x="546792" y="0"/>
                </a:lnTo>
                <a:lnTo>
                  <a:pt x="615141" y="0"/>
                </a:lnTo>
                <a:lnTo>
                  <a:pt x="683491" y="0"/>
                </a:lnTo>
                <a:lnTo>
                  <a:pt x="751840" y="0"/>
                </a:lnTo>
                <a:lnTo>
                  <a:pt x="820189" y="0"/>
                </a:lnTo>
                <a:lnTo>
                  <a:pt x="888538" y="0"/>
                </a:lnTo>
                <a:lnTo>
                  <a:pt x="956887" y="0"/>
                </a:lnTo>
                <a:lnTo>
                  <a:pt x="1025236" y="0"/>
                </a:lnTo>
                <a:lnTo>
                  <a:pt x="1093585" y="0"/>
                </a:lnTo>
                <a:lnTo>
                  <a:pt x="1161934" y="0"/>
                </a:lnTo>
                <a:lnTo>
                  <a:pt x="1230283" y="0"/>
                </a:lnTo>
                <a:lnTo>
                  <a:pt x="1298632" y="0"/>
                </a:lnTo>
                <a:lnTo>
                  <a:pt x="1366981" y="0"/>
                </a:lnTo>
                <a:lnTo>
                  <a:pt x="1435331" y="0"/>
                </a:lnTo>
                <a:lnTo>
                  <a:pt x="1503680" y="0"/>
                </a:lnTo>
                <a:lnTo>
                  <a:pt x="1572029" y="0"/>
                </a:lnTo>
                <a:lnTo>
                  <a:pt x="1640378" y="0"/>
                </a:lnTo>
                <a:lnTo>
                  <a:pt x="1708727" y="0"/>
                </a:lnTo>
                <a:lnTo>
                  <a:pt x="1777076" y="0"/>
                </a:lnTo>
                <a:lnTo>
                  <a:pt x="1845425" y="0"/>
                </a:lnTo>
                <a:lnTo>
                  <a:pt x="1913774" y="0"/>
                </a:lnTo>
                <a:lnTo>
                  <a:pt x="1982123" y="0"/>
                </a:lnTo>
                <a:lnTo>
                  <a:pt x="2050472" y="0"/>
                </a:lnTo>
                <a:lnTo>
                  <a:pt x="2118821" y="0"/>
                </a:lnTo>
                <a:lnTo>
                  <a:pt x="2187171" y="0"/>
                </a:lnTo>
                <a:lnTo>
                  <a:pt x="2187171" y="2264229"/>
                </a:lnTo>
                <a:lnTo>
                  <a:pt x="2118821" y="2264229"/>
                </a:lnTo>
                <a:lnTo>
                  <a:pt x="2050472" y="2264229"/>
                </a:lnTo>
                <a:lnTo>
                  <a:pt x="1982123" y="2264229"/>
                </a:lnTo>
                <a:lnTo>
                  <a:pt x="1913774" y="2264229"/>
                </a:lnTo>
                <a:lnTo>
                  <a:pt x="1845425" y="2264229"/>
                </a:lnTo>
                <a:lnTo>
                  <a:pt x="1777076" y="2264229"/>
                </a:lnTo>
                <a:lnTo>
                  <a:pt x="1708727" y="2264229"/>
                </a:lnTo>
                <a:lnTo>
                  <a:pt x="1640378" y="2264229"/>
                </a:lnTo>
                <a:lnTo>
                  <a:pt x="1572029" y="2264229"/>
                </a:lnTo>
                <a:lnTo>
                  <a:pt x="1503680" y="2264229"/>
                </a:lnTo>
                <a:lnTo>
                  <a:pt x="1435331" y="2264229"/>
                </a:lnTo>
                <a:lnTo>
                  <a:pt x="1366981" y="2264229"/>
                </a:lnTo>
                <a:lnTo>
                  <a:pt x="1298632" y="2264229"/>
                </a:lnTo>
                <a:lnTo>
                  <a:pt x="1230283" y="2264229"/>
                </a:lnTo>
                <a:lnTo>
                  <a:pt x="1161934" y="2264229"/>
                </a:lnTo>
                <a:lnTo>
                  <a:pt x="1093585" y="2264229"/>
                </a:lnTo>
                <a:lnTo>
                  <a:pt x="1025236" y="2264229"/>
                </a:lnTo>
                <a:lnTo>
                  <a:pt x="956887" y="2264229"/>
                </a:lnTo>
                <a:lnTo>
                  <a:pt x="888538" y="2264229"/>
                </a:lnTo>
                <a:lnTo>
                  <a:pt x="820189" y="2264229"/>
                </a:lnTo>
                <a:lnTo>
                  <a:pt x="751840" y="2264229"/>
                </a:lnTo>
                <a:lnTo>
                  <a:pt x="683491" y="2264229"/>
                </a:lnTo>
                <a:lnTo>
                  <a:pt x="615141" y="2264229"/>
                </a:lnTo>
                <a:lnTo>
                  <a:pt x="546792" y="2264229"/>
                </a:lnTo>
                <a:lnTo>
                  <a:pt x="478443" y="2264229"/>
                </a:lnTo>
                <a:lnTo>
                  <a:pt x="410094" y="2264229"/>
                </a:lnTo>
                <a:lnTo>
                  <a:pt x="341745" y="2264229"/>
                </a:lnTo>
                <a:lnTo>
                  <a:pt x="273396" y="2264229"/>
                </a:lnTo>
                <a:lnTo>
                  <a:pt x="205047" y="2264229"/>
                </a:lnTo>
                <a:lnTo>
                  <a:pt x="136698" y="2264229"/>
                </a:lnTo>
                <a:lnTo>
                  <a:pt x="68349" y="2264229"/>
                </a:lnTo>
                <a:lnTo>
                  <a:pt x="0" y="2264229"/>
                </a:lnTo>
                <a:close/>
              </a:path>
            </a:pathLst>
          </a:custGeom>
          <a:solidFill>
            <a:srgbClr val="F2B880">
              <a:alpha val="15000"/>
            </a:srgbClr>
          </a:solidFill>
          <a:ln w="10160">
            <a:solidFill>
              <a:srgbClr val="F2B880">
                <a:alpha val="1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A-E16 polygon 37" descr="sci-ppt:o037"/>
          <p:cNvSpPr/>
          <p:nvPr/>
        </p:nvSpPr>
        <p:spPr>
          <a:xfrm>
            <a:off x="914400" y="2218593"/>
            <a:ext cx="6766560" cy="2259705"/>
          </a:xfrm>
          <a:custGeom>
            <a:avLst/>
            <a:gdLst/>
            <a:ahLst/>
            <a:cxnLst/>
            <a:rect l="l" t="t" r="r" b="b"/>
            <a:pathLst>
              <a:path w="6766560" h="2259705">
                <a:moveTo>
                  <a:pt x="0" y="2259705"/>
                </a:moveTo>
                <a:lnTo>
                  <a:pt x="68349" y="2259366"/>
                </a:lnTo>
                <a:lnTo>
                  <a:pt x="136698" y="2258977"/>
                </a:lnTo>
                <a:lnTo>
                  <a:pt x="205047" y="2258530"/>
                </a:lnTo>
                <a:lnTo>
                  <a:pt x="273396" y="2258017"/>
                </a:lnTo>
                <a:lnTo>
                  <a:pt x="341745" y="2257426"/>
                </a:lnTo>
                <a:lnTo>
                  <a:pt x="410094" y="2256748"/>
                </a:lnTo>
                <a:lnTo>
                  <a:pt x="478443" y="2255968"/>
                </a:lnTo>
                <a:lnTo>
                  <a:pt x="546792" y="2255073"/>
                </a:lnTo>
                <a:lnTo>
                  <a:pt x="615141" y="2254044"/>
                </a:lnTo>
                <a:lnTo>
                  <a:pt x="683490" y="2252863"/>
                </a:lnTo>
                <a:lnTo>
                  <a:pt x="751840" y="2251505"/>
                </a:lnTo>
                <a:lnTo>
                  <a:pt x="820189" y="2249947"/>
                </a:lnTo>
                <a:lnTo>
                  <a:pt x="888538" y="2248158"/>
                </a:lnTo>
                <a:lnTo>
                  <a:pt x="956887" y="2246105"/>
                </a:lnTo>
                <a:lnTo>
                  <a:pt x="1025236" y="2243748"/>
                </a:lnTo>
                <a:lnTo>
                  <a:pt x="1093585" y="2241045"/>
                </a:lnTo>
                <a:lnTo>
                  <a:pt x="1161934" y="2237945"/>
                </a:lnTo>
                <a:lnTo>
                  <a:pt x="1230283" y="2234392"/>
                </a:lnTo>
                <a:lnTo>
                  <a:pt x="1298632" y="2230320"/>
                </a:lnTo>
                <a:lnTo>
                  <a:pt x="1366981" y="2225657"/>
                </a:lnTo>
                <a:lnTo>
                  <a:pt x="1435330" y="2220319"/>
                </a:lnTo>
                <a:lnTo>
                  <a:pt x="1503680" y="2214214"/>
                </a:lnTo>
                <a:lnTo>
                  <a:pt x="1572029" y="2207236"/>
                </a:lnTo>
                <a:lnTo>
                  <a:pt x="1640378" y="2199266"/>
                </a:lnTo>
                <a:lnTo>
                  <a:pt x="1708727" y="2190174"/>
                </a:lnTo>
                <a:lnTo>
                  <a:pt x="1777076" y="2179813"/>
                </a:lnTo>
                <a:lnTo>
                  <a:pt x="1845425" y="2168020"/>
                </a:lnTo>
                <a:lnTo>
                  <a:pt x="1913774" y="2154618"/>
                </a:lnTo>
                <a:lnTo>
                  <a:pt x="1982123" y="2139412"/>
                </a:lnTo>
                <a:lnTo>
                  <a:pt x="2050472" y="2122192"/>
                </a:lnTo>
                <a:lnTo>
                  <a:pt x="2118821" y="2102731"/>
                </a:lnTo>
                <a:lnTo>
                  <a:pt x="2187170" y="2080793"/>
                </a:lnTo>
                <a:lnTo>
                  <a:pt x="2255520" y="2056128"/>
                </a:lnTo>
                <a:lnTo>
                  <a:pt x="2323869" y="2028480"/>
                </a:lnTo>
                <a:lnTo>
                  <a:pt x="2392218" y="1997597"/>
                </a:lnTo>
                <a:lnTo>
                  <a:pt x="2460567" y="1963229"/>
                </a:lnTo>
                <a:lnTo>
                  <a:pt x="2528916" y="1925146"/>
                </a:lnTo>
                <a:lnTo>
                  <a:pt x="2597265" y="1883144"/>
                </a:lnTo>
                <a:lnTo>
                  <a:pt x="2665614" y="1837059"/>
                </a:lnTo>
                <a:lnTo>
                  <a:pt x="2733963" y="1786781"/>
                </a:lnTo>
                <a:lnTo>
                  <a:pt x="2802312" y="1732267"/>
                </a:lnTo>
                <a:lnTo>
                  <a:pt x="2870661" y="1673555"/>
                </a:lnTo>
                <a:lnTo>
                  <a:pt x="2939010" y="1610779"/>
                </a:lnTo>
                <a:lnTo>
                  <a:pt x="3007360" y="1544174"/>
                </a:lnTo>
                <a:lnTo>
                  <a:pt x="3075709" y="1474085"/>
                </a:lnTo>
                <a:lnTo>
                  <a:pt x="3144058" y="1400962"/>
                </a:lnTo>
                <a:lnTo>
                  <a:pt x="3212407" y="1325357"/>
                </a:lnTo>
                <a:lnTo>
                  <a:pt x="3280756" y="1247912"/>
                </a:lnTo>
                <a:lnTo>
                  <a:pt x="3349105" y="1169333"/>
                </a:lnTo>
                <a:lnTo>
                  <a:pt x="3417454" y="1090371"/>
                </a:lnTo>
                <a:lnTo>
                  <a:pt x="3485803" y="1011793"/>
                </a:lnTo>
                <a:lnTo>
                  <a:pt x="3554152" y="934347"/>
                </a:lnTo>
                <a:lnTo>
                  <a:pt x="3622501" y="858743"/>
                </a:lnTo>
                <a:lnTo>
                  <a:pt x="3690850" y="785620"/>
                </a:lnTo>
                <a:lnTo>
                  <a:pt x="3759200" y="715530"/>
                </a:lnTo>
                <a:lnTo>
                  <a:pt x="3827549" y="648925"/>
                </a:lnTo>
                <a:lnTo>
                  <a:pt x="3895898" y="586149"/>
                </a:lnTo>
                <a:lnTo>
                  <a:pt x="3964247" y="527438"/>
                </a:lnTo>
                <a:lnTo>
                  <a:pt x="4032596" y="472923"/>
                </a:lnTo>
                <a:lnTo>
                  <a:pt x="4100945" y="422645"/>
                </a:lnTo>
                <a:lnTo>
                  <a:pt x="4169294" y="376560"/>
                </a:lnTo>
                <a:lnTo>
                  <a:pt x="4237643" y="334558"/>
                </a:lnTo>
                <a:lnTo>
                  <a:pt x="4305992" y="296475"/>
                </a:lnTo>
                <a:lnTo>
                  <a:pt x="4374341" y="262108"/>
                </a:lnTo>
                <a:lnTo>
                  <a:pt x="4442690" y="231224"/>
                </a:lnTo>
                <a:lnTo>
                  <a:pt x="4511040" y="203577"/>
                </a:lnTo>
                <a:lnTo>
                  <a:pt x="4579389" y="178911"/>
                </a:lnTo>
                <a:lnTo>
                  <a:pt x="4647738" y="156973"/>
                </a:lnTo>
                <a:lnTo>
                  <a:pt x="4716087" y="137513"/>
                </a:lnTo>
                <a:lnTo>
                  <a:pt x="4784436" y="120292"/>
                </a:lnTo>
                <a:lnTo>
                  <a:pt x="4852785" y="105086"/>
                </a:lnTo>
                <a:lnTo>
                  <a:pt x="4921134" y="91684"/>
                </a:lnTo>
                <a:lnTo>
                  <a:pt x="4989483" y="79892"/>
                </a:lnTo>
                <a:lnTo>
                  <a:pt x="5057832" y="69530"/>
                </a:lnTo>
                <a:lnTo>
                  <a:pt x="5126181" y="60438"/>
                </a:lnTo>
                <a:lnTo>
                  <a:pt x="5194530" y="52469"/>
                </a:lnTo>
                <a:lnTo>
                  <a:pt x="5262880" y="45490"/>
                </a:lnTo>
                <a:lnTo>
                  <a:pt x="5331229" y="39385"/>
                </a:lnTo>
                <a:lnTo>
                  <a:pt x="5399578" y="34047"/>
                </a:lnTo>
                <a:lnTo>
                  <a:pt x="5467927" y="29384"/>
                </a:lnTo>
                <a:lnTo>
                  <a:pt x="5536276" y="25312"/>
                </a:lnTo>
                <a:lnTo>
                  <a:pt x="5604625" y="21759"/>
                </a:lnTo>
                <a:lnTo>
                  <a:pt x="5672974" y="18659"/>
                </a:lnTo>
                <a:lnTo>
                  <a:pt x="5741323" y="15956"/>
                </a:lnTo>
                <a:lnTo>
                  <a:pt x="5809672" y="13600"/>
                </a:lnTo>
                <a:lnTo>
                  <a:pt x="5878021" y="11546"/>
                </a:lnTo>
                <a:lnTo>
                  <a:pt x="5946370" y="9757"/>
                </a:lnTo>
                <a:lnTo>
                  <a:pt x="6014720" y="8199"/>
                </a:lnTo>
                <a:lnTo>
                  <a:pt x="6083069" y="6842"/>
                </a:lnTo>
                <a:lnTo>
                  <a:pt x="6151418" y="5660"/>
                </a:lnTo>
                <a:lnTo>
                  <a:pt x="6219767" y="4632"/>
                </a:lnTo>
                <a:lnTo>
                  <a:pt x="6288116" y="3736"/>
                </a:lnTo>
                <a:lnTo>
                  <a:pt x="6356465" y="2957"/>
                </a:lnTo>
                <a:lnTo>
                  <a:pt x="6424814" y="2278"/>
                </a:lnTo>
                <a:lnTo>
                  <a:pt x="6493163" y="1688"/>
                </a:lnTo>
                <a:lnTo>
                  <a:pt x="6561512" y="1174"/>
                </a:lnTo>
                <a:lnTo>
                  <a:pt x="6629861" y="727"/>
                </a:lnTo>
                <a:lnTo>
                  <a:pt x="6698210" y="338"/>
                </a:lnTo>
                <a:lnTo>
                  <a:pt x="676656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A-E16 text 38" descr="sci-ppt:o038"/>
          <p:cNvSpPr txBox="1"/>
          <p:nvPr/>
        </p:nvSpPr>
        <p:spPr>
          <a:xfrm>
            <a:off x="1327041" y="2555965"/>
            <a:ext cx="2743200" cy="38658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FC8F8"/>
                </a:solidFill>
                <a:latin typeface="Arial"/>
              </a:rPr>
              <a:t>De ≪ 1: the network relaxes during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FC8F8"/>
                </a:solidFill>
                <a:latin typeface="Arial"/>
              </a:rPr>
              <a:t>the event</a:t>
            </a:r>
          </a:p>
        </p:txBody>
      </p:sp>
      <p:sp>
        <p:nvSpPr>
          <p:cNvPr id="41" name="A-E16 text 39" descr="sci-ppt:o039"/>
          <p:cNvSpPr txBox="1"/>
          <p:nvPr/>
        </p:nvSpPr>
        <p:spPr>
          <a:xfrm>
            <a:off x="5697180" y="3461657"/>
            <a:ext cx="1463040" cy="38658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2B880"/>
                </a:solidFill>
                <a:latin typeface="Arial"/>
              </a:rPr>
              <a:t>De ≫ 1: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2B880"/>
                </a:solidFill>
                <a:latin typeface="Arial"/>
              </a:rPr>
              <a:t>solid-like</a:t>
            </a:r>
          </a:p>
        </p:txBody>
      </p:sp>
      <p:sp>
        <p:nvSpPr>
          <p:cNvPr id="42" name="A-E16 text 40" descr="sci-ppt:o040"/>
          <p:cNvSpPr txBox="1"/>
          <p:nvPr/>
        </p:nvSpPr>
        <p:spPr>
          <a:xfrm>
            <a:off x="3441660" y="4072998"/>
            <a:ext cx="201168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8EDBD4"/>
                </a:solidFill>
                <a:latin typeface="Arial"/>
              </a:rPr>
              <a:t>De ~ 1: both matter</a:t>
            </a:r>
          </a:p>
        </p:txBody>
      </p:sp>
      <p:sp>
        <p:nvSpPr>
          <p:cNvPr id="43" name="A-E16 round_rect 41" descr="sci-ppt:o041"/>
          <p:cNvSpPr/>
          <p:nvPr/>
        </p:nvSpPr>
        <p:spPr>
          <a:xfrm>
            <a:off x="7955279" y="2103120"/>
            <a:ext cx="3886200" cy="23774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A-E16 text 42" descr="sci-ppt:o042"/>
          <p:cNvSpPr txBox="1"/>
          <p:nvPr/>
        </p:nvSpPr>
        <p:spPr>
          <a:xfrm>
            <a:off x="8065007" y="2157984"/>
            <a:ext cx="36667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What decides it</a:t>
            </a:r>
          </a:p>
        </p:txBody>
      </p:sp>
      <p:sp>
        <p:nvSpPr>
          <p:cNvPr id="45" name="A-E16 text 43" descr="sci-ppt:o043"/>
          <p:cNvSpPr txBox="1"/>
          <p:nvPr/>
        </p:nvSpPr>
        <p:spPr>
          <a:xfrm>
            <a:off x="8293608" y="2560320"/>
            <a:ext cx="3456432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τᵣₑₗ: how long the network takes to relax.</a:t>
            </a:r>
          </a:p>
        </p:txBody>
      </p:sp>
      <p:sp>
        <p:nvSpPr>
          <p:cNvPr id="46" name="A-E16 ellipse 44" descr="sci-ppt:o044"/>
          <p:cNvSpPr/>
          <p:nvPr/>
        </p:nvSpPr>
        <p:spPr>
          <a:xfrm>
            <a:off x="8124444" y="2609723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A-E16 text 45" descr="sci-ppt:o045"/>
          <p:cNvSpPr txBox="1"/>
          <p:nvPr/>
        </p:nvSpPr>
        <p:spPr>
          <a:xfrm>
            <a:off x="8293608" y="2829940"/>
            <a:ext cx="3456432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τₑ: how long the jet or load lasts.</a:t>
            </a:r>
          </a:p>
        </p:txBody>
      </p:sp>
      <p:sp>
        <p:nvSpPr>
          <p:cNvPr id="48" name="A-E16 ellipse 46" descr="sci-ppt:o046"/>
          <p:cNvSpPr/>
          <p:nvPr/>
        </p:nvSpPr>
        <p:spPr>
          <a:xfrm>
            <a:off x="8124444" y="2879343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A-E16 text 47" descr="sci-ppt:o047"/>
          <p:cNvSpPr txBox="1"/>
          <p:nvPr/>
        </p:nvSpPr>
        <p:spPr>
          <a:xfrm>
            <a:off x="8293608" y="3099561"/>
            <a:ext cx="3456432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The ratio, not either time alone, sets the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behaviour.</a:t>
            </a:r>
          </a:p>
        </p:txBody>
      </p:sp>
      <p:sp>
        <p:nvSpPr>
          <p:cNvPr id="50" name="A-E16 ellipse 48" descr="sci-ppt:o048"/>
          <p:cNvSpPr/>
          <p:nvPr/>
        </p:nvSpPr>
        <p:spPr>
          <a:xfrm>
            <a:off x="8124444" y="3148964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A-E16 text 49" descr="sci-ppt:o049"/>
          <p:cNvSpPr txBox="1"/>
          <p:nvPr/>
        </p:nvSpPr>
        <p:spPr>
          <a:xfrm>
            <a:off x="457200" y="521208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event duration determines which part of the network response can act before the jet or load arrives.</a:t>
            </a:r>
          </a:p>
        </p:txBody>
      </p:sp>
      <p:sp>
        <p:nvSpPr>
          <p:cNvPr id="52" name="A-E16 text 50" descr="sci-ppt:o050"/>
          <p:cNvSpPr txBox="1"/>
          <p:nvPr/>
        </p:nvSpPr>
        <p:spPr>
          <a:xfrm>
            <a:off x="457200" y="5760720"/>
            <a:ext cx="11247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curve x/(1+x) is a conventional illustration of a Maxwell-type crossover, not a result derived from Eq. A-E16.</a:t>
            </a:r>
          </a:p>
        </p:txBody>
      </p:sp>
      <p:sp>
        <p:nvSpPr>
          <p:cNvPr id="53" name="A-E16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Definition of Eq. A-E16; the share curve is illustrative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